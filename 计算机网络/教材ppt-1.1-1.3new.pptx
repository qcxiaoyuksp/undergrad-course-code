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4"/>
  </p:notesMasterIdLst>
  <p:handoutMasterIdLst>
    <p:handoutMasterId r:id="rId65"/>
  </p:handoutMasterIdLst>
  <p:sldIdLst>
    <p:sldId id="256" r:id="rId2"/>
    <p:sldId id="257" r:id="rId3"/>
    <p:sldId id="414" r:id="rId4"/>
    <p:sldId id="415" r:id="rId5"/>
    <p:sldId id="417" r:id="rId6"/>
    <p:sldId id="418" r:id="rId7"/>
    <p:sldId id="419" r:id="rId8"/>
    <p:sldId id="420" r:id="rId9"/>
    <p:sldId id="421" r:id="rId10"/>
    <p:sldId id="270" r:id="rId11"/>
    <p:sldId id="271" r:id="rId12"/>
    <p:sldId id="272" r:id="rId13"/>
    <p:sldId id="273" r:id="rId14"/>
    <p:sldId id="274" r:id="rId15"/>
    <p:sldId id="275" r:id="rId16"/>
    <p:sldId id="422" r:id="rId17"/>
    <p:sldId id="423" r:id="rId18"/>
    <p:sldId id="424" r:id="rId19"/>
    <p:sldId id="425" r:id="rId20"/>
    <p:sldId id="426" r:id="rId21"/>
    <p:sldId id="427" r:id="rId22"/>
    <p:sldId id="289" r:id="rId23"/>
    <p:sldId id="290" r:id="rId24"/>
    <p:sldId id="291" r:id="rId25"/>
    <p:sldId id="292" r:id="rId26"/>
    <p:sldId id="293" r:id="rId27"/>
    <p:sldId id="294" r:id="rId28"/>
    <p:sldId id="295" r:id="rId29"/>
    <p:sldId id="296" r:id="rId30"/>
    <p:sldId id="297" r:id="rId31"/>
    <p:sldId id="298" r:id="rId32"/>
    <p:sldId id="299" r:id="rId33"/>
    <p:sldId id="300" r:id="rId34"/>
    <p:sldId id="301" r:id="rId35"/>
    <p:sldId id="302" r:id="rId36"/>
    <p:sldId id="303" r:id="rId37"/>
    <p:sldId id="304" r:id="rId38"/>
    <p:sldId id="305" r:id="rId39"/>
    <p:sldId id="306" r:id="rId40"/>
    <p:sldId id="307" r:id="rId41"/>
    <p:sldId id="308" r:id="rId42"/>
    <p:sldId id="309" r:id="rId43"/>
    <p:sldId id="310" r:id="rId44"/>
    <p:sldId id="311" r:id="rId45"/>
    <p:sldId id="312" r:id="rId46"/>
    <p:sldId id="313" r:id="rId47"/>
    <p:sldId id="314" r:id="rId48"/>
    <p:sldId id="315" r:id="rId49"/>
    <p:sldId id="316" r:id="rId50"/>
    <p:sldId id="317" r:id="rId51"/>
    <p:sldId id="318" r:id="rId52"/>
    <p:sldId id="319" r:id="rId53"/>
    <p:sldId id="320" r:id="rId54"/>
    <p:sldId id="321" r:id="rId55"/>
    <p:sldId id="322" r:id="rId56"/>
    <p:sldId id="323" r:id="rId57"/>
    <p:sldId id="324" r:id="rId58"/>
    <p:sldId id="325" r:id="rId59"/>
    <p:sldId id="326" r:id="rId60"/>
    <p:sldId id="327" r:id="rId61"/>
    <p:sldId id="328" r:id="rId62"/>
    <p:sldId id="329" r:id="rId63"/>
  </p:sldIdLst>
  <p:sldSz cx="9906000" cy="6858000" type="A4"/>
  <p:notesSz cx="9296400" cy="7010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CC"/>
    <a:srgbClr val="0000FF"/>
    <a:srgbClr val="FFFF66"/>
    <a:srgbClr val="66FF66"/>
    <a:srgbClr val="000099"/>
    <a:srgbClr val="00FF00"/>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498" autoAdjust="0"/>
    <p:restoredTop sz="93175" autoAdjust="0"/>
  </p:normalViewPr>
  <p:slideViewPr>
    <p:cSldViewPr>
      <p:cViewPr varScale="1">
        <p:scale>
          <a:sx n="87" d="100"/>
          <a:sy n="87" d="100"/>
        </p:scale>
        <p:origin x="309" y="60"/>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gridSpacing cx="72006" cy="72006"/>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1"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5603" name="Rectangle 3"/>
          <p:cNvSpPr>
            <a:spLocks noGrp="1" noChangeArrowheads="1"/>
          </p:cNvSpPr>
          <p:nvPr>
            <p:ph type="dt" sz="quarter" idx="1"/>
          </p:nvPr>
        </p:nvSpPr>
        <p:spPr bwMode="auto">
          <a:xfrm>
            <a:off x="5265014"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25604" name="Rectangle 4"/>
          <p:cNvSpPr>
            <a:spLocks noGrp="1" noChangeArrowheads="1"/>
          </p:cNvSpPr>
          <p:nvPr>
            <p:ph type="ftr" sz="quarter" idx="2"/>
          </p:nvPr>
        </p:nvSpPr>
        <p:spPr bwMode="auto">
          <a:xfrm>
            <a:off x="1"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5605" name="Rectangle 5"/>
          <p:cNvSpPr>
            <a:spLocks noGrp="1" noChangeArrowheads="1"/>
          </p:cNvSpPr>
          <p:nvPr>
            <p:ph type="sldNum" sz="quarter" idx="3"/>
          </p:nvPr>
        </p:nvSpPr>
        <p:spPr bwMode="auto">
          <a:xfrm>
            <a:off x="5265014"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247E18CD-0C18-4915-AB38-46FC6350B9AD}" type="slidenum">
              <a:rPr lang="zh-CN" altLang="en-US"/>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1"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3555" name="Rectangle 3"/>
          <p:cNvSpPr>
            <a:spLocks noGrp="1" noChangeArrowheads="1"/>
          </p:cNvSpPr>
          <p:nvPr>
            <p:ph type="dt" idx="1"/>
          </p:nvPr>
        </p:nvSpPr>
        <p:spPr bwMode="auto">
          <a:xfrm>
            <a:off x="5265014"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12292" name="Rectangle 4"/>
          <p:cNvSpPr>
            <a:spLocks noGrp="1" noRot="1" noChangeAspect="1" noChangeArrowheads="1" noTextEdit="1"/>
          </p:cNvSpPr>
          <p:nvPr>
            <p:ph type="sldImg" idx="4294967295"/>
          </p:nvPr>
        </p:nvSpPr>
        <p:spPr bwMode="auto">
          <a:xfrm>
            <a:off x="2749550" y="525463"/>
            <a:ext cx="3797300" cy="26289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3" name="Rectangle 5"/>
          <p:cNvSpPr>
            <a:spLocks noGrp="1" noChangeArrowheads="1"/>
          </p:cNvSpPr>
          <p:nvPr>
            <p:ph type="body" sz="quarter" idx="4294967295"/>
          </p:nvPr>
        </p:nvSpPr>
        <p:spPr bwMode="auto">
          <a:xfrm>
            <a:off x="930482" y="3330419"/>
            <a:ext cx="7435436" cy="3154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en-US" altLang="zh-CN" smtClean="0"/>
              <a:t>5656</a:t>
            </a:r>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23558" name="Rectangle 6"/>
          <p:cNvSpPr>
            <a:spLocks noGrp="1" noChangeArrowheads="1"/>
          </p:cNvSpPr>
          <p:nvPr>
            <p:ph type="ftr" sz="quarter" idx="4"/>
          </p:nvPr>
        </p:nvSpPr>
        <p:spPr bwMode="auto">
          <a:xfrm>
            <a:off x="1"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3559" name="Rectangle 7"/>
          <p:cNvSpPr>
            <a:spLocks noGrp="1" noChangeArrowheads="1"/>
          </p:cNvSpPr>
          <p:nvPr>
            <p:ph type="sldNum" sz="quarter" idx="5"/>
          </p:nvPr>
        </p:nvSpPr>
        <p:spPr bwMode="auto">
          <a:xfrm>
            <a:off x="5265014"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A143603D-CCA6-45D5-A59D-3B4CD9332246}" type="slidenum">
              <a:rPr lang="zh-CN" altLang="en-US"/>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02EEDA8-5EF7-4A6F-9A69-0FC8242B0BD6}" type="slidenum">
              <a:rPr lang="zh-CN" altLang="en-US" smtClean="0">
                <a:latin typeface="宋体" panose="02010600030101010101" pitchFamily="2" charset="-122"/>
              </a:rPr>
              <a:pPr eaLnBrk="1" hangingPunct="1"/>
              <a:t>1</a:t>
            </a:fld>
            <a:endParaRPr lang="en-US" altLang="zh-CN" smtClean="0">
              <a:latin typeface="宋体" panose="02010600030101010101" pitchFamily="2" charset="-122"/>
            </a:endParaRPr>
          </a:p>
        </p:txBody>
      </p:sp>
      <p:sp>
        <p:nvSpPr>
          <p:cNvPr id="14338" name="Rectangle 2"/>
          <p:cNvSpPr>
            <a:spLocks noGrp="1" noRot="1" noChangeAspect="1" noChangeArrowheads="1" noTextEdit="1"/>
          </p:cNvSpPr>
          <p:nvPr>
            <p:ph type="sldImg" idx="4294967295"/>
          </p:nvPr>
        </p:nvSpPr>
        <p:spPr>
          <a:ln/>
        </p:spPr>
      </p:sp>
      <p:sp>
        <p:nvSpPr>
          <p:cNvPr id="14339" name="Rectangle 3"/>
          <p:cNvSpPr>
            <a:spLocks noGrp="1" noChangeArrowheads="1"/>
          </p:cNvSpPr>
          <p:nvPr>
            <p:ph type="body" idx="4294967295"/>
          </p:nvPr>
        </p:nvSpPr>
        <p:spPr/>
        <p:txBody>
          <a:bodyPr/>
          <a:lstStyle/>
          <a:p>
            <a:endParaRPr lang="zh-CN"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18A6CA8-B80A-45B6-99B0-7206553A80A9}" type="slidenum">
              <a:rPr lang="en-US" altLang="zh-CN" smtClean="0">
                <a:latin typeface="宋体" panose="02010600030101010101" pitchFamily="2" charset="-122"/>
              </a:rPr>
              <a:pPr eaLnBrk="1" hangingPunct="1"/>
              <a:t>5</a:t>
            </a:fld>
            <a:endParaRPr lang="en-US" altLang="zh-CN" smtClean="0">
              <a:latin typeface="宋体" panose="02010600030101010101" pitchFamily="2" charset="-122"/>
            </a:endParaRPr>
          </a:p>
        </p:txBody>
      </p:sp>
      <p:sp>
        <p:nvSpPr>
          <p:cNvPr id="23554" name="Rectangle 2"/>
          <p:cNvSpPr>
            <a:spLocks noGrp="1" noRot="1" noChangeAspect="1" noChangeArrowheads="1" noTextEdit="1"/>
          </p:cNvSpPr>
          <p:nvPr>
            <p:ph type="sldImg" idx="4294967295"/>
          </p:nvPr>
        </p:nvSpPr>
        <p:spPr>
          <a:ln/>
        </p:spPr>
      </p:sp>
      <p:sp>
        <p:nvSpPr>
          <p:cNvPr id="2355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454401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ChangeArrowheads="1"/>
          </p:cNvSpPr>
          <p:nvPr>
            <p:ph type="sldImg" idx="4294967295"/>
          </p:nvPr>
        </p:nvSpPr>
        <p:spPr>
          <a:ln/>
        </p:spPr>
      </p:sp>
      <p:sp>
        <p:nvSpPr>
          <p:cNvPr id="27650" name="备注占位符 2"/>
          <p:cNvSpPr>
            <a:spLocks noGrp="1" noChangeArrowheads="1"/>
          </p:cNvSpPr>
          <p:nvPr>
            <p:ph type="body" idx="4294967295"/>
          </p:nvPr>
        </p:nvSpPr>
        <p:spPr/>
        <p:txBody>
          <a:bodyPr/>
          <a:lstStyle/>
          <a:p>
            <a:endParaRPr lang="en-US" altLang="zh-CN" smtClean="0"/>
          </a:p>
          <a:p>
            <a:endParaRPr lang="zh-CN" altLang="en-US" smtClean="0"/>
          </a:p>
        </p:txBody>
      </p:sp>
      <p:sp>
        <p:nvSpPr>
          <p:cNvPr id="27651"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4D35F2F-1485-4C00-ABF3-4D500298BA0B}" type="slidenum">
              <a:rPr lang="zh-CN" altLang="en-US" smtClean="0">
                <a:latin typeface="宋体" panose="02010600030101010101" pitchFamily="2" charset="-122"/>
              </a:rPr>
              <a:pPr eaLnBrk="1" hangingPunct="1"/>
              <a:t>8</a:t>
            </a:fld>
            <a:endParaRPr lang="en-US" altLang="zh-CN" smtClean="0">
              <a:latin typeface="宋体" panose="02010600030101010101" pitchFamily="2" charset="-122"/>
            </a:endParaRPr>
          </a:p>
        </p:txBody>
      </p:sp>
    </p:spTree>
    <p:extLst>
      <p:ext uri="{BB962C8B-B14F-4D97-AF65-F5344CB8AC3E}">
        <p14:creationId xmlns:p14="http://schemas.microsoft.com/office/powerpoint/2010/main" val="4428908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45DB843-331A-4352-A9F6-9CF4272388AA}" type="slidenum">
              <a:rPr lang="en-US" altLang="zh-CN" smtClean="0">
                <a:latin typeface="宋体" panose="02010600030101010101" pitchFamily="2" charset="-122"/>
              </a:rPr>
              <a:pPr eaLnBrk="1" hangingPunct="1"/>
              <a:t>13</a:t>
            </a:fld>
            <a:endParaRPr lang="en-US" altLang="zh-CN" smtClean="0">
              <a:latin typeface="宋体" panose="02010600030101010101" pitchFamily="2" charset="-122"/>
            </a:endParaRPr>
          </a:p>
        </p:txBody>
      </p:sp>
      <p:sp>
        <p:nvSpPr>
          <p:cNvPr id="20482" name="Rectangle 2"/>
          <p:cNvSpPr>
            <a:spLocks noGrp="1" noRot="1" noChangeAspect="1" noChangeArrowheads="1" noTextEdit="1"/>
          </p:cNvSpPr>
          <p:nvPr>
            <p:ph type="sldImg" idx="4294967295"/>
          </p:nvPr>
        </p:nvSpPr>
        <p:spPr>
          <a:ln/>
        </p:spPr>
      </p:sp>
      <p:sp>
        <p:nvSpPr>
          <p:cNvPr id="2048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554E2A0-0CB5-4C92-9B74-A0BB28316E9A}" type="slidenum">
              <a:rPr lang="en-US" altLang="zh-CN" smtClean="0">
                <a:latin typeface="宋体" panose="02010600030101010101" pitchFamily="2" charset="-122"/>
              </a:rPr>
              <a:pPr eaLnBrk="1" hangingPunct="1"/>
              <a:t>14</a:t>
            </a:fld>
            <a:endParaRPr lang="en-US" altLang="zh-CN" smtClean="0">
              <a:latin typeface="宋体" panose="02010600030101010101" pitchFamily="2" charset="-122"/>
            </a:endParaRPr>
          </a:p>
        </p:txBody>
      </p:sp>
      <p:sp>
        <p:nvSpPr>
          <p:cNvPr id="22530" name="Rectangle 2"/>
          <p:cNvSpPr>
            <a:spLocks noGrp="1" noRot="1" noChangeAspect="1" noChangeArrowheads="1" noTextEdit="1"/>
          </p:cNvSpPr>
          <p:nvPr>
            <p:ph type="sldImg" idx="4294967295"/>
          </p:nvPr>
        </p:nvSpPr>
        <p:spPr>
          <a:ln/>
        </p:spPr>
      </p:sp>
      <p:sp>
        <p:nvSpPr>
          <p:cNvPr id="2253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A890F5-4A16-49BF-83B3-9FE98EF562F4}" type="slidenum">
              <a:rPr lang="en-US" altLang="zh-CN" smtClean="0">
                <a:latin typeface="宋体" panose="02010600030101010101" pitchFamily="2" charset="-122"/>
              </a:rPr>
              <a:pPr eaLnBrk="1" hangingPunct="1"/>
              <a:t>17</a:t>
            </a:fld>
            <a:endParaRPr lang="en-US" altLang="zh-CN" smtClean="0">
              <a:latin typeface="宋体" panose="02010600030101010101" pitchFamily="2" charset="-122"/>
            </a:endParaRPr>
          </a:p>
        </p:txBody>
      </p:sp>
      <p:sp>
        <p:nvSpPr>
          <p:cNvPr id="37890" name="Rectangle 2"/>
          <p:cNvSpPr>
            <a:spLocks noGrp="1" noRot="1" noChangeAspect="1" noChangeArrowheads="1" noTextEdit="1"/>
          </p:cNvSpPr>
          <p:nvPr>
            <p:ph type="sldImg" idx="4294967295"/>
          </p:nvPr>
        </p:nvSpPr>
        <p:spPr>
          <a:ln/>
        </p:spPr>
      </p:sp>
      <p:sp>
        <p:nvSpPr>
          <p:cNvPr id="37891"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7541383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37EA43D-743B-4AD1-8C79-6D1BF61FA006}" type="slidenum">
              <a:rPr lang="en-US" altLang="zh-CN" smtClean="0">
                <a:latin typeface="宋体" panose="02010600030101010101" pitchFamily="2" charset="-122"/>
              </a:rPr>
              <a:pPr eaLnBrk="1" hangingPunct="1"/>
              <a:t>18</a:t>
            </a:fld>
            <a:endParaRPr lang="en-US" altLang="zh-CN" smtClean="0">
              <a:latin typeface="宋体" panose="02010600030101010101" pitchFamily="2" charset="-122"/>
            </a:endParaRPr>
          </a:p>
        </p:txBody>
      </p:sp>
      <p:sp>
        <p:nvSpPr>
          <p:cNvPr id="39938" name="Rectangle 2"/>
          <p:cNvSpPr>
            <a:spLocks noGrp="1" noRot="1" noChangeAspect="1" noChangeArrowheads="1" noTextEdit="1"/>
          </p:cNvSpPr>
          <p:nvPr>
            <p:ph type="sldImg" idx="4294967295"/>
          </p:nvPr>
        </p:nvSpPr>
        <p:spPr>
          <a:ln/>
        </p:spPr>
      </p:sp>
      <p:sp>
        <p:nvSpPr>
          <p:cNvPr id="3993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9524942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06461A8-C519-4F1C-820E-9CE47DA64804}" type="slidenum">
              <a:rPr lang="en-US" altLang="zh-CN" smtClean="0">
                <a:latin typeface="宋体" panose="02010600030101010101" pitchFamily="2" charset="-122"/>
              </a:rPr>
              <a:pPr eaLnBrk="1" hangingPunct="1"/>
              <a:t>19</a:t>
            </a:fld>
            <a:endParaRPr lang="en-US" altLang="zh-CN" smtClean="0">
              <a:latin typeface="宋体" panose="02010600030101010101" pitchFamily="2" charset="-122"/>
            </a:endParaRPr>
          </a:p>
        </p:txBody>
      </p:sp>
      <p:sp>
        <p:nvSpPr>
          <p:cNvPr id="41986" name="Rectangle 2"/>
          <p:cNvSpPr>
            <a:spLocks noGrp="1" noRot="1" noChangeAspect="1" noChangeArrowheads="1" noTextEdit="1"/>
          </p:cNvSpPr>
          <p:nvPr>
            <p:ph type="sldImg" idx="4294967295"/>
          </p:nvPr>
        </p:nvSpPr>
        <p:spPr>
          <a:ln/>
        </p:spPr>
      </p:sp>
      <p:sp>
        <p:nvSpPr>
          <p:cNvPr id="4198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1508700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43872F2-20D9-4F32-A25D-65673F45F5A0}" type="slidenum">
              <a:rPr lang="en-US" altLang="zh-CN" smtClean="0">
                <a:latin typeface="宋体" panose="02010600030101010101" pitchFamily="2" charset="-122"/>
              </a:rPr>
              <a:pPr eaLnBrk="1" hangingPunct="1"/>
              <a:t>20</a:t>
            </a:fld>
            <a:endParaRPr lang="en-US" altLang="zh-CN" smtClean="0">
              <a:latin typeface="宋体" panose="02010600030101010101" pitchFamily="2" charset="-122"/>
            </a:endParaRPr>
          </a:p>
        </p:txBody>
      </p:sp>
      <p:sp>
        <p:nvSpPr>
          <p:cNvPr id="44034" name="Rectangle 2"/>
          <p:cNvSpPr>
            <a:spLocks noGrp="1" noRot="1" noChangeAspect="1" noChangeArrowheads="1" noTextEdit="1"/>
          </p:cNvSpPr>
          <p:nvPr>
            <p:ph type="sldImg" idx="4294967295"/>
          </p:nvPr>
        </p:nvSpPr>
        <p:spPr>
          <a:ln/>
        </p:spPr>
      </p:sp>
      <p:sp>
        <p:nvSpPr>
          <p:cNvPr id="4403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6387564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BA53164-7B52-46A5-89B7-605A93DEF62F}" type="slidenum">
              <a:rPr lang="en-US" altLang="zh-CN" smtClean="0">
                <a:latin typeface="宋体" panose="02010600030101010101" pitchFamily="2" charset="-122"/>
              </a:rPr>
              <a:pPr eaLnBrk="1" hangingPunct="1"/>
              <a:t>21</a:t>
            </a:fld>
            <a:endParaRPr lang="en-US" altLang="zh-CN" smtClean="0">
              <a:latin typeface="宋体" panose="02010600030101010101" pitchFamily="2" charset="-122"/>
            </a:endParaRPr>
          </a:p>
        </p:txBody>
      </p:sp>
      <p:sp>
        <p:nvSpPr>
          <p:cNvPr id="46082" name="Rectangle 2"/>
          <p:cNvSpPr>
            <a:spLocks noGrp="1" noRot="1" noChangeAspect="1" noChangeArrowheads="1" noTextEdit="1"/>
          </p:cNvSpPr>
          <p:nvPr>
            <p:ph type="sldImg" idx="4294967295"/>
          </p:nvPr>
        </p:nvSpPr>
        <p:spPr>
          <a:ln/>
        </p:spPr>
      </p:sp>
      <p:sp>
        <p:nvSpPr>
          <p:cNvPr id="46083"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40237497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78FBC11-67ED-45DB-A675-E00FF85D28B7}" type="slidenum">
              <a:rPr lang="en-US" altLang="zh-CN" smtClean="0">
                <a:latin typeface="宋体" panose="02010600030101010101" pitchFamily="2" charset="-122"/>
              </a:rPr>
              <a:pPr eaLnBrk="1" hangingPunct="1"/>
              <a:t>23</a:t>
            </a:fld>
            <a:endParaRPr lang="en-US" altLang="zh-CN" smtClean="0">
              <a:latin typeface="宋体" panose="02010600030101010101" pitchFamily="2" charset="-122"/>
            </a:endParaRPr>
          </a:p>
        </p:txBody>
      </p:sp>
      <p:sp>
        <p:nvSpPr>
          <p:cNvPr id="26626" name="Rectangle 2"/>
          <p:cNvSpPr>
            <a:spLocks noGrp="1" noRot="1" noChangeAspect="1" noChangeArrowheads="1" noTextEdit="1"/>
          </p:cNvSpPr>
          <p:nvPr>
            <p:ph type="sldImg" idx="4294967295"/>
          </p:nvPr>
        </p:nvSpPr>
        <p:spPr>
          <a:ln/>
        </p:spPr>
      </p:sp>
      <p:sp>
        <p:nvSpPr>
          <p:cNvPr id="2662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D962E83-5B94-46D3-9BC0-FCE850076A79}" type="slidenum">
              <a:rPr lang="en-US" altLang="zh-CN" smtClean="0">
                <a:latin typeface="宋体" panose="02010600030101010101" pitchFamily="2" charset="-122"/>
              </a:rPr>
              <a:pPr eaLnBrk="1" hangingPunct="1"/>
              <a:t>24</a:t>
            </a:fld>
            <a:endParaRPr lang="en-US" altLang="zh-CN" smtClean="0">
              <a:latin typeface="宋体" panose="02010600030101010101" pitchFamily="2" charset="-122"/>
            </a:endParaRPr>
          </a:p>
        </p:txBody>
      </p:sp>
      <p:sp>
        <p:nvSpPr>
          <p:cNvPr id="28674" name="Rectangle 2"/>
          <p:cNvSpPr>
            <a:spLocks noGrp="1" noRot="1" noChangeAspect="1" noChangeArrowheads="1" noTextEdit="1"/>
          </p:cNvSpPr>
          <p:nvPr>
            <p:ph type="sldImg" idx="4294967295"/>
          </p:nvPr>
        </p:nvSpPr>
        <p:spPr>
          <a:ln/>
        </p:spPr>
      </p:sp>
      <p:sp>
        <p:nvSpPr>
          <p:cNvPr id="2867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99C254E-F588-400C-B0B0-7CC6FA37F2E7}" type="slidenum">
              <a:rPr lang="en-US" altLang="zh-CN" smtClean="0">
                <a:latin typeface="宋体" panose="02010600030101010101" pitchFamily="2" charset="-122"/>
              </a:rPr>
              <a:pPr eaLnBrk="1" hangingPunct="1"/>
              <a:t>25</a:t>
            </a:fld>
            <a:endParaRPr lang="en-US" altLang="zh-CN" smtClean="0">
              <a:latin typeface="宋体" panose="02010600030101010101" pitchFamily="2" charset="-122"/>
            </a:endParaRPr>
          </a:p>
        </p:txBody>
      </p:sp>
      <p:sp>
        <p:nvSpPr>
          <p:cNvPr id="30722" name="Rectangle 2"/>
          <p:cNvSpPr>
            <a:spLocks noGrp="1" noRot="1" noChangeAspect="1" noChangeArrowheads="1" noTextEdit="1"/>
          </p:cNvSpPr>
          <p:nvPr>
            <p:ph type="sldImg" idx="4294967295"/>
          </p:nvPr>
        </p:nvSpPr>
        <p:spPr>
          <a:ln/>
        </p:spPr>
      </p:sp>
      <p:sp>
        <p:nvSpPr>
          <p:cNvPr id="3072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9E623A8-5F7D-4B32-9C58-BD750074A68A}" type="slidenum">
              <a:rPr lang="en-US" altLang="zh-CN" smtClean="0">
                <a:latin typeface="宋体" panose="02010600030101010101" pitchFamily="2" charset="-122"/>
              </a:rPr>
              <a:pPr eaLnBrk="1" hangingPunct="1"/>
              <a:t>26</a:t>
            </a:fld>
            <a:endParaRPr lang="en-US" altLang="zh-CN" smtClean="0">
              <a:latin typeface="宋体" panose="02010600030101010101" pitchFamily="2" charset="-122"/>
            </a:endParaRPr>
          </a:p>
        </p:txBody>
      </p:sp>
      <p:sp>
        <p:nvSpPr>
          <p:cNvPr id="32770" name="Rectangle 2"/>
          <p:cNvSpPr>
            <a:spLocks noGrp="1" noRot="1" noChangeAspect="1" noChangeArrowheads="1" noTextEdit="1"/>
          </p:cNvSpPr>
          <p:nvPr>
            <p:ph type="sldImg" idx="4294967295"/>
          </p:nvPr>
        </p:nvSpPr>
        <p:spPr>
          <a:ln/>
        </p:spPr>
      </p:sp>
      <p:sp>
        <p:nvSpPr>
          <p:cNvPr id="3277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66280B3-717E-4F4D-8942-D71C1888810B}" type="slidenum">
              <a:rPr lang="en-US" altLang="zh-CN" smtClean="0">
                <a:latin typeface="宋体" panose="02010600030101010101" pitchFamily="2" charset="-122"/>
              </a:rPr>
              <a:pPr eaLnBrk="1" hangingPunct="1"/>
              <a:t>27</a:t>
            </a:fld>
            <a:endParaRPr lang="en-US" altLang="zh-CN" smtClean="0">
              <a:latin typeface="宋体" panose="02010600030101010101" pitchFamily="2" charset="-122"/>
            </a:endParaRPr>
          </a:p>
        </p:txBody>
      </p:sp>
      <p:sp>
        <p:nvSpPr>
          <p:cNvPr id="34818" name="Rectangle 2"/>
          <p:cNvSpPr>
            <a:spLocks noGrp="1" noRot="1" noChangeAspect="1" noChangeArrowheads="1" noTextEdit="1"/>
          </p:cNvSpPr>
          <p:nvPr>
            <p:ph type="sldImg" idx="4294967295"/>
          </p:nvPr>
        </p:nvSpPr>
        <p:spPr>
          <a:ln/>
        </p:spPr>
      </p:sp>
      <p:sp>
        <p:nvSpPr>
          <p:cNvPr id="3481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04711E3-572F-47A8-91F9-4EC2C24C06A5}" type="slidenum">
              <a:rPr lang="en-US" altLang="zh-CN" smtClean="0">
                <a:latin typeface="宋体" panose="02010600030101010101" pitchFamily="2" charset="-122"/>
              </a:rPr>
              <a:pPr eaLnBrk="1" hangingPunct="1"/>
              <a:t>28</a:t>
            </a:fld>
            <a:endParaRPr lang="en-US" altLang="zh-CN" smtClean="0">
              <a:latin typeface="宋体" panose="02010600030101010101" pitchFamily="2" charset="-122"/>
            </a:endParaRPr>
          </a:p>
        </p:txBody>
      </p:sp>
      <p:sp>
        <p:nvSpPr>
          <p:cNvPr id="36866" name="Rectangle 2"/>
          <p:cNvSpPr>
            <a:spLocks noGrp="1" noRot="1" noChangeAspect="1" noChangeArrowheads="1" noTextEdit="1"/>
          </p:cNvSpPr>
          <p:nvPr>
            <p:ph type="sldImg" idx="4294967295"/>
          </p:nvPr>
        </p:nvSpPr>
        <p:spPr>
          <a:ln/>
        </p:spPr>
      </p:sp>
      <p:sp>
        <p:nvSpPr>
          <p:cNvPr id="3686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066C812D-4A06-4F71-BA3C-EB7C9E8D1115}" type="slidenum">
              <a:rPr lang="en-US" altLang="zh-CN" smtClean="0"/>
              <a:pPr/>
              <a:t>29</a:t>
            </a:fld>
            <a:endParaRPr lang="en-US" altLang="zh-CN" smtClean="0"/>
          </a:p>
        </p:txBody>
      </p:sp>
      <p:sp>
        <p:nvSpPr>
          <p:cNvPr id="38914" name="Rectangle 2"/>
          <p:cNvSpPr>
            <a:spLocks noGrp="1" noRot="1" noChangeAspect="1" noChangeArrowheads="1" noTextEdit="1"/>
          </p:cNvSpPr>
          <p:nvPr>
            <p:ph type="sldImg" idx="4294967295"/>
          </p:nvPr>
        </p:nvSpPr>
        <p:spPr>
          <a:ln/>
        </p:spPr>
      </p:sp>
      <p:sp>
        <p:nvSpPr>
          <p:cNvPr id="3891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9743DC0-854B-435D-95E3-6AE4CD404C81}" type="slidenum">
              <a:rPr lang="en-US" altLang="zh-CN" smtClean="0">
                <a:latin typeface="宋体" panose="02010600030101010101" pitchFamily="2" charset="-122"/>
              </a:rPr>
              <a:pPr eaLnBrk="1" hangingPunct="1"/>
              <a:t>30</a:t>
            </a:fld>
            <a:endParaRPr lang="en-US" altLang="zh-CN" smtClean="0">
              <a:latin typeface="宋体" panose="02010600030101010101" pitchFamily="2" charset="-122"/>
            </a:endParaRPr>
          </a:p>
        </p:txBody>
      </p:sp>
      <p:sp>
        <p:nvSpPr>
          <p:cNvPr id="40962" name="Rectangle 2"/>
          <p:cNvSpPr>
            <a:spLocks noGrp="1" noRot="1" noChangeAspect="1" noChangeArrowheads="1" noTextEdit="1"/>
          </p:cNvSpPr>
          <p:nvPr>
            <p:ph type="sldImg" idx="4294967295"/>
          </p:nvPr>
        </p:nvSpPr>
        <p:spPr>
          <a:ln/>
        </p:spPr>
      </p:sp>
      <p:sp>
        <p:nvSpPr>
          <p:cNvPr id="4096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3193FE8-34E8-4075-822F-40183097A8FB}" type="slidenum">
              <a:rPr lang="en-US" altLang="zh-CN" smtClean="0">
                <a:latin typeface="宋体" panose="02010600030101010101" pitchFamily="2" charset="-122"/>
              </a:rPr>
              <a:pPr eaLnBrk="1" hangingPunct="1"/>
              <a:t>31</a:t>
            </a:fld>
            <a:endParaRPr lang="en-US" altLang="zh-CN" smtClean="0">
              <a:latin typeface="宋体" panose="02010600030101010101" pitchFamily="2" charset="-122"/>
            </a:endParaRPr>
          </a:p>
        </p:txBody>
      </p:sp>
      <p:sp>
        <p:nvSpPr>
          <p:cNvPr id="43010" name="Rectangle 2"/>
          <p:cNvSpPr>
            <a:spLocks noGrp="1" noRot="1" noChangeAspect="1" noChangeArrowheads="1" noTextEdit="1"/>
          </p:cNvSpPr>
          <p:nvPr>
            <p:ph type="sldImg" idx="4294967295"/>
          </p:nvPr>
        </p:nvSpPr>
        <p:spPr>
          <a:ln/>
        </p:spPr>
      </p:sp>
      <p:sp>
        <p:nvSpPr>
          <p:cNvPr id="4301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E3525C3-C320-4861-8760-9C1AA5A09AF8}" type="slidenum">
              <a:rPr lang="en-US" altLang="zh-CN" smtClean="0">
                <a:latin typeface="宋体" panose="02010600030101010101" pitchFamily="2" charset="-122"/>
              </a:rPr>
              <a:pPr eaLnBrk="1" hangingPunct="1"/>
              <a:t>32</a:t>
            </a:fld>
            <a:endParaRPr lang="en-US" altLang="zh-CN" smtClean="0">
              <a:latin typeface="宋体" panose="02010600030101010101" pitchFamily="2" charset="-122"/>
            </a:endParaRPr>
          </a:p>
        </p:txBody>
      </p:sp>
      <p:sp>
        <p:nvSpPr>
          <p:cNvPr id="45058" name="Rectangle 2"/>
          <p:cNvSpPr>
            <a:spLocks noGrp="1" noRot="1" noChangeAspect="1" noChangeArrowheads="1" noTextEdit="1"/>
          </p:cNvSpPr>
          <p:nvPr>
            <p:ph type="sldImg" idx="4294967295"/>
          </p:nvPr>
        </p:nvSpPr>
        <p:spPr>
          <a:ln/>
        </p:spPr>
      </p:sp>
      <p:sp>
        <p:nvSpPr>
          <p:cNvPr id="4505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A7FB5D9-5EBC-4C56-A814-CDF9F4CAF0C3}" type="slidenum">
              <a:rPr lang="en-US" altLang="zh-CN" smtClean="0">
                <a:latin typeface="宋体" panose="02010600030101010101" pitchFamily="2" charset="-122"/>
              </a:rPr>
              <a:pPr eaLnBrk="1" hangingPunct="1"/>
              <a:t>33</a:t>
            </a:fld>
            <a:endParaRPr lang="en-US" altLang="zh-CN" smtClean="0">
              <a:latin typeface="宋体" panose="02010600030101010101" pitchFamily="2" charset="-122"/>
            </a:endParaRPr>
          </a:p>
        </p:txBody>
      </p:sp>
      <p:sp>
        <p:nvSpPr>
          <p:cNvPr id="47106" name="Rectangle 2"/>
          <p:cNvSpPr>
            <a:spLocks noGrp="1" noRot="1" noChangeAspect="1" noChangeArrowheads="1" noTextEdit="1"/>
          </p:cNvSpPr>
          <p:nvPr>
            <p:ph type="sldImg" idx="4294967295"/>
          </p:nvPr>
        </p:nvSpPr>
        <p:spPr>
          <a:ln/>
        </p:spPr>
      </p:sp>
      <p:sp>
        <p:nvSpPr>
          <p:cNvPr id="4710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0EFECD91-2609-4360-AF4D-3C55EA0AD93A}" type="slidenum">
              <a:rPr lang="en-US" altLang="zh-CN" smtClean="0"/>
              <a:pPr/>
              <a:t>34</a:t>
            </a:fld>
            <a:endParaRPr lang="en-US" altLang="zh-CN" smtClean="0"/>
          </a:p>
        </p:txBody>
      </p:sp>
      <p:sp>
        <p:nvSpPr>
          <p:cNvPr id="49154" name="Rectangle 2"/>
          <p:cNvSpPr>
            <a:spLocks noGrp="1" noRot="1" noChangeAspect="1" noChangeArrowheads="1" noTextEdit="1"/>
          </p:cNvSpPr>
          <p:nvPr>
            <p:ph type="sldImg" idx="4294967295"/>
          </p:nvPr>
        </p:nvSpPr>
        <p:spPr>
          <a:ln/>
        </p:spPr>
      </p:sp>
      <p:sp>
        <p:nvSpPr>
          <p:cNvPr id="4915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9125076-6AFD-4453-8346-0FBB6BF2ED81}" type="slidenum">
              <a:rPr lang="en-US" altLang="zh-CN" smtClean="0">
                <a:latin typeface="宋体" panose="02010600030101010101" pitchFamily="2" charset="-122"/>
              </a:rPr>
              <a:pPr eaLnBrk="1" hangingPunct="1"/>
              <a:t>35</a:t>
            </a:fld>
            <a:endParaRPr lang="en-US" altLang="zh-CN" smtClean="0">
              <a:latin typeface="宋体" panose="02010600030101010101" pitchFamily="2" charset="-122"/>
            </a:endParaRPr>
          </a:p>
        </p:txBody>
      </p:sp>
      <p:sp>
        <p:nvSpPr>
          <p:cNvPr id="51202" name="Rectangle 2"/>
          <p:cNvSpPr>
            <a:spLocks noGrp="1" noRot="1" noChangeAspect="1" noChangeArrowheads="1" noTextEdit="1"/>
          </p:cNvSpPr>
          <p:nvPr>
            <p:ph type="sldImg" idx="4294967295"/>
          </p:nvPr>
        </p:nvSpPr>
        <p:spPr>
          <a:ln/>
        </p:spPr>
      </p:sp>
      <p:sp>
        <p:nvSpPr>
          <p:cNvPr id="5120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03EEB38-FEB3-4A14-962E-D54C1A55A2AC}" type="slidenum">
              <a:rPr lang="en-US" altLang="zh-CN" smtClean="0">
                <a:latin typeface="宋体" panose="02010600030101010101" pitchFamily="2" charset="-122"/>
              </a:rPr>
              <a:pPr eaLnBrk="1" hangingPunct="1"/>
              <a:t>36</a:t>
            </a:fld>
            <a:endParaRPr lang="en-US" altLang="zh-CN" smtClean="0">
              <a:latin typeface="宋体" panose="02010600030101010101" pitchFamily="2" charset="-122"/>
            </a:endParaRPr>
          </a:p>
        </p:txBody>
      </p:sp>
      <p:sp>
        <p:nvSpPr>
          <p:cNvPr id="53250" name="Rectangle 2"/>
          <p:cNvSpPr>
            <a:spLocks noGrp="1" noRot="1" noChangeAspect="1" noChangeArrowheads="1" noTextEdit="1"/>
          </p:cNvSpPr>
          <p:nvPr>
            <p:ph type="sldImg" idx="4294967295"/>
          </p:nvPr>
        </p:nvSpPr>
        <p:spPr>
          <a:ln/>
        </p:spPr>
      </p:sp>
      <p:sp>
        <p:nvSpPr>
          <p:cNvPr id="5325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0DAC12D-1B0E-4CCD-935D-8969E687CB99}" type="slidenum">
              <a:rPr lang="en-US" altLang="zh-CN" smtClean="0">
                <a:latin typeface="宋体" panose="02010600030101010101" pitchFamily="2" charset="-122"/>
              </a:rPr>
              <a:pPr eaLnBrk="1" hangingPunct="1"/>
              <a:t>37</a:t>
            </a:fld>
            <a:endParaRPr lang="en-US" altLang="zh-CN" smtClean="0">
              <a:latin typeface="宋体" panose="02010600030101010101" pitchFamily="2" charset="-122"/>
            </a:endParaRPr>
          </a:p>
        </p:txBody>
      </p:sp>
      <p:sp>
        <p:nvSpPr>
          <p:cNvPr id="55298" name="Rectangle 2"/>
          <p:cNvSpPr>
            <a:spLocks noGrp="1" noRot="1" noChangeAspect="1" noChangeArrowheads="1" noTextEdit="1"/>
          </p:cNvSpPr>
          <p:nvPr>
            <p:ph type="sldImg" idx="4294967295"/>
          </p:nvPr>
        </p:nvSpPr>
        <p:spPr>
          <a:ln/>
        </p:spPr>
      </p:sp>
      <p:sp>
        <p:nvSpPr>
          <p:cNvPr id="5529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F956158-EE3D-4656-8C61-9FE365B2F674}" type="slidenum">
              <a:rPr lang="en-US" altLang="zh-CN" smtClean="0">
                <a:latin typeface="宋体" panose="02010600030101010101" pitchFamily="2" charset="-122"/>
              </a:rPr>
              <a:pPr eaLnBrk="1" hangingPunct="1"/>
              <a:t>38</a:t>
            </a:fld>
            <a:endParaRPr lang="en-US" altLang="zh-CN" smtClean="0">
              <a:latin typeface="宋体" panose="02010600030101010101" pitchFamily="2" charset="-122"/>
            </a:endParaRPr>
          </a:p>
        </p:txBody>
      </p:sp>
      <p:sp>
        <p:nvSpPr>
          <p:cNvPr id="57346" name="Rectangle 2"/>
          <p:cNvSpPr>
            <a:spLocks noGrp="1" noRot="1" noChangeAspect="1" noChangeArrowheads="1" noTextEdit="1"/>
          </p:cNvSpPr>
          <p:nvPr>
            <p:ph type="sldImg" idx="4294967295"/>
          </p:nvPr>
        </p:nvSpPr>
        <p:spPr>
          <a:ln/>
        </p:spPr>
      </p:sp>
      <p:sp>
        <p:nvSpPr>
          <p:cNvPr id="5734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3F82F79-3C20-4385-88F0-8711338C4976}" type="slidenum">
              <a:rPr lang="en-US" altLang="zh-CN" smtClean="0">
                <a:latin typeface="宋体" panose="02010600030101010101" pitchFamily="2" charset="-122"/>
              </a:rPr>
              <a:pPr eaLnBrk="1" hangingPunct="1"/>
              <a:t>39</a:t>
            </a:fld>
            <a:endParaRPr lang="en-US" altLang="zh-CN" smtClean="0">
              <a:latin typeface="宋体" panose="02010600030101010101" pitchFamily="2" charset="-122"/>
            </a:endParaRPr>
          </a:p>
        </p:txBody>
      </p:sp>
      <p:sp>
        <p:nvSpPr>
          <p:cNvPr id="59394" name="Rectangle 2"/>
          <p:cNvSpPr>
            <a:spLocks noGrp="1" noRot="1" noChangeAspect="1" noChangeArrowheads="1" noTextEdit="1"/>
          </p:cNvSpPr>
          <p:nvPr>
            <p:ph type="sldImg" idx="4294967295"/>
          </p:nvPr>
        </p:nvSpPr>
        <p:spPr>
          <a:ln/>
        </p:spPr>
      </p:sp>
      <p:sp>
        <p:nvSpPr>
          <p:cNvPr id="5939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1EA86A8-1262-49F1-B3B3-C8BAE2819FE5}" type="slidenum">
              <a:rPr lang="en-US" altLang="zh-CN" smtClean="0">
                <a:latin typeface="宋体" panose="02010600030101010101" pitchFamily="2" charset="-122"/>
              </a:rPr>
              <a:pPr eaLnBrk="1" hangingPunct="1"/>
              <a:t>40</a:t>
            </a:fld>
            <a:endParaRPr lang="en-US" altLang="zh-CN" smtClean="0">
              <a:latin typeface="宋体" panose="02010600030101010101" pitchFamily="2" charset="-122"/>
            </a:endParaRPr>
          </a:p>
        </p:txBody>
      </p:sp>
      <p:sp>
        <p:nvSpPr>
          <p:cNvPr id="61442" name="Rectangle 2"/>
          <p:cNvSpPr>
            <a:spLocks noGrp="1" noRot="1" noChangeAspect="1" noChangeArrowheads="1" noTextEdit="1"/>
          </p:cNvSpPr>
          <p:nvPr>
            <p:ph type="sldImg" idx="4294967295"/>
          </p:nvPr>
        </p:nvSpPr>
        <p:spPr>
          <a:ln/>
        </p:spPr>
      </p:sp>
      <p:sp>
        <p:nvSpPr>
          <p:cNvPr id="6144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CEE81D2-B1CC-46FF-85A6-2F0B911627B7}" type="slidenum">
              <a:rPr lang="en-US" altLang="zh-CN" smtClean="0">
                <a:latin typeface="宋体" panose="02010600030101010101" pitchFamily="2" charset="-122"/>
              </a:rPr>
              <a:pPr eaLnBrk="1" hangingPunct="1"/>
              <a:t>41</a:t>
            </a:fld>
            <a:endParaRPr lang="en-US" altLang="zh-CN" smtClean="0">
              <a:latin typeface="宋体" panose="02010600030101010101" pitchFamily="2" charset="-122"/>
            </a:endParaRPr>
          </a:p>
        </p:txBody>
      </p:sp>
      <p:sp>
        <p:nvSpPr>
          <p:cNvPr id="63490" name="Rectangle 2"/>
          <p:cNvSpPr>
            <a:spLocks noGrp="1" noRot="1" noChangeAspect="1" noChangeArrowheads="1" noTextEdit="1"/>
          </p:cNvSpPr>
          <p:nvPr>
            <p:ph type="sldImg" idx="4294967295"/>
          </p:nvPr>
        </p:nvSpPr>
        <p:spPr>
          <a:ln/>
        </p:spPr>
      </p:sp>
      <p:sp>
        <p:nvSpPr>
          <p:cNvPr id="6349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694FC32-79C6-4D81-8D67-ADB5078AD0E0}" type="slidenum">
              <a:rPr lang="en-US" altLang="zh-CN" smtClean="0">
                <a:latin typeface="宋体" panose="02010600030101010101" pitchFamily="2" charset="-122"/>
              </a:rPr>
              <a:pPr eaLnBrk="1" hangingPunct="1"/>
              <a:t>42</a:t>
            </a:fld>
            <a:endParaRPr lang="en-US" altLang="zh-CN" smtClean="0">
              <a:latin typeface="宋体" panose="02010600030101010101" pitchFamily="2" charset="-122"/>
            </a:endParaRPr>
          </a:p>
        </p:txBody>
      </p:sp>
      <p:sp>
        <p:nvSpPr>
          <p:cNvPr id="65538" name="Rectangle 2"/>
          <p:cNvSpPr>
            <a:spLocks noGrp="1" noRot="1" noChangeAspect="1" noChangeArrowheads="1" noTextEdit="1"/>
          </p:cNvSpPr>
          <p:nvPr>
            <p:ph type="sldImg" idx="4294967295"/>
          </p:nvPr>
        </p:nvSpPr>
        <p:spPr>
          <a:ln/>
        </p:spPr>
      </p:sp>
      <p:sp>
        <p:nvSpPr>
          <p:cNvPr id="6553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FD2741C-7785-4064-A7C4-41B8EA495145}" type="slidenum">
              <a:rPr lang="en-US" altLang="zh-CN" smtClean="0">
                <a:latin typeface="宋体" panose="02010600030101010101" pitchFamily="2" charset="-122"/>
              </a:rPr>
              <a:pPr eaLnBrk="1" hangingPunct="1"/>
              <a:t>43</a:t>
            </a:fld>
            <a:endParaRPr lang="en-US" altLang="zh-CN" smtClean="0">
              <a:latin typeface="宋体" panose="02010600030101010101" pitchFamily="2" charset="-122"/>
            </a:endParaRPr>
          </a:p>
        </p:txBody>
      </p:sp>
      <p:sp>
        <p:nvSpPr>
          <p:cNvPr id="67586" name="Rectangle 2"/>
          <p:cNvSpPr>
            <a:spLocks noGrp="1" noRot="1" noChangeAspect="1" noChangeArrowheads="1" noTextEdit="1"/>
          </p:cNvSpPr>
          <p:nvPr>
            <p:ph type="sldImg" idx="4294967295"/>
          </p:nvPr>
        </p:nvSpPr>
        <p:spPr>
          <a:ln/>
        </p:spPr>
      </p:sp>
      <p:sp>
        <p:nvSpPr>
          <p:cNvPr id="6758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82CD930-A43E-4D42-8482-675E85635C21}" type="slidenum">
              <a:rPr lang="en-US" altLang="zh-CN" smtClean="0">
                <a:latin typeface="宋体" panose="02010600030101010101" pitchFamily="2" charset="-122"/>
              </a:rPr>
              <a:pPr eaLnBrk="1" hangingPunct="1"/>
              <a:t>44</a:t>
            </a:fld>
            <a:endParaRPr lang="en-US" altLang="zh-CN" smtClean="0">
              <a:latin typeface="宋体" panose="02010600030101010101" pitchFamily="2" charset="-122"/>
            </a:endParaRPr>
          </a:p>
        </p:txBody>
      </p:sp>
      <p:sp>
        <p:nvSpPr>
          <p:cNvPr id="69634" name="Rectangle 2"/>
          <p:cNvSpPr>
            <a:spLocks noGrp="1" noRot="1" noChangeAspect="1" noChangeArrowheads="1" noTextEdit="1"/>
          </p:cNvSpPr>
          <p:nvPr>
            <p:ph type="sldImg" idx="4294967295"/>
          </p:nvPr>
        </p:nvSpPr>
        <p:spPr>
          <a:ln/>
        </p:spPr>
      </p:sp>
      <p:sp>
        <p:nvSpPr>
          <p:cNvPr id="6963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7D9C064-13E0-41AE-A8AF-D293F599DED0}" type="slidenum">
              <a:rPr lang="en-US" altLang="zh-CN" smtClean="0">
                <a:latin typeface="宋体" panose="02010600030101010101" pitchFamily="2" charset="-122"/>
              </a:rPr>
              <a:pPr eaLnBrk="1" hangingPunct="1"/>
              <a:t>45</a:t>
            </a:fld>
            <a:endParaRPr lang="en-US" altLang="zh-CN" smtClean="0">
              <a:latin typeface="宋体" panose="02010600030101010101" pitchFamily="2" charset="-122"/>
            </a:endParaRPr>
          </a:p>
        </p:txBody>
      </p:sp>
      <p:sp>
        <p:nvSpPr>
          <p:cNvPr id="71682" name="Rectangle 2"/>
          <p:cNvSpPr>
            <a:spLocks noGrp="1" noRot="1" noChangeAspect="1" noChangeArrowheads="1" noTextEdit="1"/>
          </p:cNvSpPr>
          <p:nvPr>
            <p:ph type="sldImg" idx="4294967295"/>
          </p:nvPr>
        </p:nvSpPr>
        <p:spPr>
          <a:ln/>
        </p:spPr>
      </p:sp>
      <p:sp>
        <p:nvSpPr>
          <p:cNvPr id="7168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18D60F5-24B3-4148-8356-3CF7D7AD48AF}" type="slidenum">
              <a:rPr lang="en-US" altLang="zh-CN" smtClean="0">
                <a:latin typeface="宋体" panose="02010600030101010101" pitchFamily="2" charset="-122"/>
              </a:rPr>
              <a:pPr eaLnBrk="1" hangingPunct="1"/>
              <a:t>46</a:t>
            </a:fld>
            <a:endParaRPr lang="en-US" altLang="zh-CN" smtClean="0">
              <a:latin typeface="宋体" panose="02010600030101010101" pitchFamily="2" charset="-122"/>
            </a:endParaRPr>
          </a:p>
        </p:txBody>
      </p:sp>
      <p:sp>
        <p:nvSpPr>
          <p:cNvPr id="73730" name="Rectangle 2"/>
          <p:cNvSpPr>
            <a:spLocks noGrp="1" noRot="1" noChangeAspect="1" noChangeArrowheads="1" noTextEdit="1"/>
          </p:cNvSpPr>
          <p:nvPr>
            <p:ph type="sldImg" idx="4294967295"/>
          </p:nvPr>
        </p:nvSpPr>
        <p:spPr>
          <a:ln/>
        </p:spPr>
      </p:sp>
      <p:sp>
        <p:nvSpPr>
          <p:cNvPr id="7373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A6DE141-D566-40AD-AE1A-205B2C89FB2D}" type="slidenum">
              <a:rPr lang="en-US" altLang="zh-CN" smtClean="0">
                <a:latin typeface="宋体" panose="02010600030101010101" pitchFamily="2" charset="-122"/>
              </a:rPr>
              <a:pPr eaLnBrk="1" hangingPunct="1"/>
              <a:t>47</a:t>
            </a:fld>
            <a:endParaRPr lang="en-US" altLang="zh-CN" smtClean="0">
              <a:latin typeface="宋体" panose="02010600030101010101" pitchFamily="2" charset="-122"/>
            </a:endParaRPr>
          </a:p>
        </p:txBody>
      </p:sp>
      <p:sp>
        <p:nvSpPr>
          <p:cNvPr id="75778" name="Rectangle 2"/>
          <p:cNvSpPr>
            <a:spLocks noGrp="1" noRot="1" noChangeAspect="1" noChangeArrowheads="1" noTextEdit="1"/>
          </p:cNvSpPr>
          <p:nvPr>
            <p:ph type="sldImg" idx="4294967295"/>
          </p:nvPr>
        </p:nvSpPr>
        <p:spPr>
          <a:ln/>
        </p:spPr>
      </p:sp>
      <p:sp>
        <p:nvSpPr>
          <p:cNvPr id="7577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FA06863-819E-4062-AC01-05E280BBD508}" type="slidenum">
              <a:rPr lang="en-US" altLang="zh-CN" smtClean="0">
                <a:latin typeface="宋体" panose="02010600030101010101" pitchFamily="2" charset="-122"/>
              </a:rPr>
              <a:pPr eaLnBrk="1" hangingPunct="1"/>
              <a:t>48</a:t>
            </a:fld>
            <a:endParaRPr lang="en-US" altLang="zh-CN" smtClean="0">
              <a:latin typeface="宋体" panose="02010600030101010101" pitchFamily="2" charset="-122"/>
            </a:endParaRPr>
          </a:p>
        </p:txBody>
      </p:sp>
      <p:sp>
        <p:nvSpPr>
          <p:cNvPr id="77826" name="Rectangle 2"/>
          <p:cNvSpPr>
            <a:spLocks noGrp="1" noRot="1" noChangeAspect="1" noChangeArrowheads="1" noTextEdit="1"/>
          </p:cNvSpPr>
          <p:nvPr>
            <p:ph type="sldImg" idx="4294967295"/>
          </p:nvPr>
        </p:nvSpPr>
        <p:spPr>
          <a:ln/>
        </p:spPr>
      </p:sp>
      <p:sp>
        <p:nvSpPr>
          <p:cNvPr id="7782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504C963-3635-4754-BE81-7CAED60C7ED1}" type="slidenum">
              <a:rPr lang="en-US" altLang="zh-CN" smtClean="0">
                <a:latin typeface="宋体" panose="02010600030101010101" pitchFamily="2" charset="-122"/>
              </a:rPr>
              <a:pPr eaLnBrk="1" hangingPunct="1"/>
              <a:t>49</a:t>
            </a:fld>
            <a:endParaRPr lang="en-US" altLang="zh-CN" smtClean="0">
              <a:latin typeface="宋体" panose="02010600030101010101" pitchFamily="2" charset="-122"/>
            </a:endParaRPr>
          </a:p>
        </p:txBody>
      </p:sp>
      <p:sp>
        <p:nvSpPr>
          <p:cNvPr id="79874" name="Rectangle 2"/>
          <p:cNvSpPr>
            <a:spLocks noGrp="1" noRot="1" noChangeAspect="1" noChangeArrowheads="1" noTextEdit="1"/>
          </p:cNvSpPr>
          <p:nvPr>
            <p:ph type="sldImg" idx="4294967295"/>
          </p:nvPr>
        </p:nvSpPr>
        <p:spPr>
          <a:ln/>
        </p:spPr>
      </p:sp>
      <p:sp>
        <p:nvSpPr>
          <p:cNvPr id="7987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A3A67F7-F29F-41D2-B3FE-68DF51CCE27C}" type="slidenum">
              <a:rPr lang="en-US" altLang="zh-CN" smtClean="0">
                <a:latin typeface="宋体" panose="02010600030101010101" pitchFamily="2" charset="-122"/>
              </a:rPr>
              <a:pPr eaLnBrk="1" hangingPunct="1"/>
              <a:t>50</a:t>
            </a:fld>
            <a:endParaRPr lang="en-US" altLang="zh-CN" smtClean="0">
              <a:latin typeface="宋体" panose="02010600030101010101" pitchFamily="2" charset="-122"/>
            </a:endParaRPr>
          </a:p>
        </p:txBody>
      </p:sp>
      <p:sp>
        <p:nvSpPr>
          <p:cNvPr id="81922" name="Rectangle 2"/>
          <p:cNvSpPr>
            <a:spLocks noGrp="1" noRot="1" noChangeAspect="1" noChangeArrowheads="1" noTextEdit="1"/>
          </p:cNvSpPr>
          <p:nvPr>
            <p:ph type="sldImg" idx="4294967295"/>
          </p:nvPr>
        </p:nvSpPr>
        <p:spPr>
          <a:ln/>
        </p:spPr>
      </p:sp>
      <p:sp>
        <p:nvSpPr>
          <p:cNvPr id="8192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7C4B947-0920-4C51-9274-2404C130B85C}" type="slidenum">
              <a:rPr lang="en-US" altLang="zh-CN" smtClean="0">
                <a:latin typeface="宋体" panose="02010600030101010101" pitchFamily="2" charset="-122"/>
              </a:rPr>
              <a:pPr eaLnBrk="1" hangingPunct="1"/>
              <a:t>51</a:t>
            </a:fld>
            <a:endParaRPr lang="en-US" altLang="zh-CN" smtClean="0">
              <a:latin typeface="宋体" panose="02010600030101010101" pitchFamily="2" charset="-122"/>
            </a:endParaRPr>
          </a:p>
        </p:txBody>
      </p:sp>
      <p:sp>
        <p:nvSpPr>
          <p:cNvPr id="83970" name="Rectangle 2"/>
          <p:cNvSpPr>
            <a:spLocks noGrp="1" noRot="1" noChangeAspect="1" noChangeArrowheads="1" noTextEdit="1"/>
          </p:cNvSpPr>
          <p:nvPr>
            <p:ph type="sldImg" idx="4294967295"/>
          </p:nvPr>
        </p:nvSpPr>
        <p:spPr>
          <a:ln/>
        </p:spPr>
      </p:sp>
      <p:sp>
        <p:nvSpPr>
          <p:cNvPr id="8397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3B93BC76-74DE-4FF5-B4E6-33CFF6C5CD21}" type="slidenum">
              <a:rPr lang="en-US" altLang="zh-CN" smtClean="0"/>
              <a:pPr/>
              <a:t>52</a:t>
            </a:fld>
            <a:endParaRPr lang="en-US" altLang="zh-CN" smtClean="0"/>
          </a:p>
        </p:txBody>
      </p:sp>
      <p:sp>
        <p:nvSpPr>
          <p:cNvPr id="86018" name="Rectangle 2"/>
          <p:cNvSpPr>
            <a:spLocks noGrp="1" noRot="1" noChangeAspect="1" noChangeArrowheads="1" noTextEdit="1"/>
          </p:cNvSpPr>
          <p:nvPr>
            <p:ph type="sldImg" idx="4294967295"/>
          </p:nvPr>
        </p:nvSpPr>
        <p:spPr>
          <a:ln/>
        </p:spPr>
      </p:sp>
      <p:sp>
        <p:nvSpPr>
          <p:cNvPr id="8601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C904652E-5C91-4868-ADDA-4E1AA8389561}" type="slidenum">
              <a:rPr lang="en-US" altLang="zh-CN" smtClean="0"/>
              <a:pPr/>
              <a:t>53</a:t>
            </a:fld>
            <a:endParaRPr lang="en-US" altLang="zh-CN" smtClean="0"/>
          </a:p>
        </p:txBody>
      </p:sp>
      <p:sp>
        <p:nvSpPr>
          <p:cNvPr id="88066" name="Rectangle 2"/>
          <p:cNvSpPr>
            <a:spLocks noGrp="1" noRot="1" noChangeAspect="1" noChangeArrowheads="1" noTextEdit="1"/>
          </p:cNvSpPr>
          <p:nvPr>
            <p:ph type="sldImg" idx="4294967295"/>
          </p:nvPr>
        </p:nvSpPr>
        <p:spPr>
          <a:ln/>
        </p:spPr>
      </p:sp>
      <p:sp>
        <p:nvSpPr>
          <p:cNvPr id="8806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DCF4866-9CA8-4CAA-8163-207E29F8C18F}" type="slidenum">
              <a:rPr lang="en-US" altLang="zh-CN" smtClean="0">
                <a:latin typeface="宋体" panose="02010600030101010101" pitchFamily="2" charset="-122"/>
              </a:rPr>
              <a:pPr eaLnBrk="1" hangingPunct="1"/>
              <a:t>54</a:t>
            </a:fld>
            <a:endParaRPr lang="en-US" altLang="zh-CN" smtClean="0">
              <a:latin typeface="宋体" panose="02010600030101010101" pitchFamily="2" charset="-122"/>
            </a:endParaRPr>
          </a:p>
        </p:txBody>
      </p:sp>
      <p:sp>
        <p:nvSpPr>
          <p:cNvPr id="90114" name="Rectangle 2"/>
          <p:cNvSpPr>
            <a:spLocks noGrp="1" noRot="1" noChangeAspect="1" noChangeArrowheads="1" noTextEdit="1"/>
          </p:cNvSpPr>
          <p:nvPr>
            <p:ph type="sldImg" idx="4294967295"/>
          </p:nvPr>
        </p:nvSpPr>
        <p:spPr>
          <a:ln/>
        </p:spPr>
      </p:sp>
      <p:sp>
        <p:nvSpPr>
          <p:cNvPr id="9011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043F7E8-6BC0-4391-AF9B-AE8F62E57C96}" type="slidenum">
              <a:rPr lang="en-US" altLang="zh-CN" smtClean="0">
                <a:latin typeface="宋体" panose="02010600030101010101" pitchFamily="2" charset="-122"/>
              </a:rPr>
              <a:pPr eaLnBrk="1" hangingPunct="1"/>
              <a:t>55</a:t>
            </a:fld>
            <a:endParaRPr lang="en-US" altLang="zh-CN" smtClean="0">
              <a:latin typeface="宋体" panose="02010600030101010101" pitchFamily="2" charset="-122"/>
            </a:endParaRPr>
          </a:p>
        </p:txBody>
      </p:sp>
      <p:sp>
        <p:nvSpPr>
          <p:cNvPr id="92162" name="Rectangle 2"/>
          <p:cNvSpPr>
            <a:spLocks noGrp="1" noRot="1" noChangeAspect="1" noChangeArrowheads="1" noTextEdit="1"/>
          </p:cNvSpPr>
          <p:nvPr>
            <p:ph type="sldImg" idx="4294967295"/>
          </p:nvPr>
        </p:nvSpPr>
        <p:spPr>
          <a:ln/>
        </p:spPr>
      </p:sp>
      <p:sp>
        <p:nvSpPr>
          <p:cNvPr id="9216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1D16AC5-E69E-4E08-8F20-F19A9EEB0F62}" type="slidenum">
              <a:rPr lang="en-US" altLang="zh-CN" smtClean="0">
                <a:latin typeface="宋体" panose="02010600030101010101" pitchFamily="2" charset="-122"/>
              </a:rPr>
              <a:pPr eaLnBrk="1" hangingPunct="1"/>
              <a:t>56</a:t>
            </a:fld>
            <a:endParaRPr lang="en-US" altLang="zh-CN" smtClean="0">
              <a:latin typeface="宋体" panose="02010600030101010101" pitchFamily="2" charset="-122"/>
            </a:endParaRPr>
          </a:p>
        </p:txBody>
      </p:sp>
      <p:sp>
        <p:nvSpPr>
          <p:cNvPr id="94210" name="Rectangle 2"/>
          <p:cNvSpPr>
            <a:spLocks noGrp="1" noRot="1" noChangeAspect="1" noChangeArrowheads="1" noTextEdit="1"/>
          </p:cNvSpPr>
          <p:nvPr>
            <p:ph type="sldImg" idx="4294967295"/>
          </p:nvPr>
        </p:nvSpPr>
        <p:spPr>
          <a:ln/>
        </p:spPr>
      </p:sp>
      <p:sp>
        <p:nvSpPr>
          <p:cNvPr id="9421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D34AF27-E40A-4441-AA7D-D536A72B9FED}" type="slidenum">
              <a:rPr lang="en-US" altLang="zh-CN" smtClean="0">
                <a:latin typeface="宋体" panose="02010600030101010101" pitchFamily="2" charset="-122"/>
              </a:rPr>
              <a:pPr eaLnBrk="1" hangingPunct="1"/>
              <a:t>57</a:t>
            </a:fld>
            <a:endParaRPr lang="en-US" altLang="zh-CN" smtClean="0">
              <a:latin typeface="宋体" panose="02010600030101010101" pitchFamily="2" charset="-122"/>
            </a:endParaRPr>
          </a:p>
        </p:txBody>
      </p:sp>
      <p:sp>
        <p:nvSpPr>
          <p:cNvPr id="96258" name="Rectangle 2"/>
          <p:cNvSpPr>
            <a:spLocks noGrp="1" noRot="1" noChangeAspect="1" noChangeArrowheads="1" noTextEdit="1"/>
          </p:cNvSpPr>
          <p:nvPr>
            <p:ph type="sldImg" idx="4294967295"/>
          </p:nvPr>
        </p:nvSpPr>
        <p:spPr>
          <a:ln/>
        </p:spPr>
      </p:sp>
      <p:sp>
        <p:nvSpPr>
          <p:cNvPr id="9625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8CD9428-0999-419A-9A5D-416E060345F0}" type="slidenum">
              <a:rPr lang="en-US" altLang="zh-CN" smtClean="0">
                <a:latin typeface="宋体" panose="02010600030101010101" pitchFamily="2" charset="-122"/>
              </a:rPr>
              <a:pPr eaLnBrk="1" hangingPunct="1"/>
              <a:t>58</a:t>
            </a:fld>
            <a:endParaRPr lang="en-US" altLang="zh-CN" smtClean="0">
              <a:latin typeface="宋体" panose="02010600030101010101" pitchFamily="2" charset="-122"/>
            </a:endParaRPr>
          </a:p>
        </p:txBody>
      </p:sp>
      <p:sp>
        <p:nvSpPr>
          <p:cNvPr id="98306" name="Rectangle 2"/>
          <p:cNvSpPr>
            <a:spLocks noGrp="1" noRot="1" noChangeAspect="1" noChangeArrowheads="1" noTextEdit="1"/>
          </p:cNvSpPr>
          <p:nvPr>
            <p:ph type="sldImg" idx="4294967295"/>
          </p:nvPr>
        </p:nvSpPr>
        <p:spPr>
          <a:ln/>
        </p:spPr>
      </p:sp>
      <p:sp>
        <p:nvSpPr>
          <p:cNvPr id="9830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6EFB8AC-1EB7-42A6-B4AA-946AAB1D7D6D}" type="slidenum">
              <a:rPr lang="en-US" altLang="zh-CN" smtClean="0">
                <a:latin typeface="宋体" panose="02010600030101010101" pitchFamily="2" charset="-122"/>
              </a:rPr>
              <a:pPr eaLnBrk="1" hangingPunct="1"/>
              <a:t>59</a:t>
            </a:fld>
            <a:endParaRPr lang="en-US" altLang="zh-CN" smtClean="0">
              <a:latin typeface="宋体" panose="02010600030101010101" pitchFamily="2" charset="-122"/>
            </a:endParaRPr>
          </a:p>
        </p:txBody>
      </p:sp>
      <p:sp>
        <p:nvSpPr>
          <p:cNvPr id="100354" name="Rectangle 2"/>
          <p:cNvSpPr>
            <a:spLocks noGrp="1" noRot="1" noChangeAspect="1" noChangeArrowheads="1" noTextEdit="1"/>
          </p:cNvSpPr>
          <p:nvPr>
            <p:ph type="sldImg" idx="4294967295"/>
          </p:nvPr>
        </p:nvSpPr>
        <p:spPr>
          <a:ln/>
        </p:spPr>
      </p:sp>
      <p:sp>
        <p:nvSpPr>
          <p:cNvPr id="10035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BDB551A-D329-4857-A9F6-2E768236588B}" type="slidenum">
              <a:rPr lang="en-US" altLang="zh-CN" smtClean="0">
                <a:latin typeface="宋体" panose="02010600030101010101" pitchFamily="2" charset="-122"/>
              </a:rPr>
              <a:pPr eaLnBrk="1" hangingPunct="1"/>
              <a:t>60</a:t>
            </a:fld>
            <a:endParaRPr lang="en-US" altLang="zh-CN" smtClean="0">
              <a:latin typeface="宋体" panose="02010600030101010101" pitchFamily="2" charset="-122"/>
            </a:endParaRPr>
          </a:p>
        </p:txBody>
      </p:sp>
      <p:sp>
        <p:nvSpPr>
          <p:cNvPr id="102402" name="Rectangle 2"/>
          <p:cNvSpPr>
            <a:spLocks noGrp="1" noRot="1" noChangeAspect="1" noChangeArrowheads="1" noTextEdit="1"/>
          </p:cNvSpPr>
          <p:nvPr>
            <p:ph type="sldImg" idx="4294967295"/>
          </p:nvPr>
        </p:nvSpPr>
        <p:spPr>
          <a:ln/>
        </p:spPr>
      </p:sp>
      <p:sp>
        <p:nvSpPr>
          <p:cNvPr id="10240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18F312A6-0496-40A2-B360-BDF6182D6BFE}" type="slidenum">
              <a:rPr lang="en-US" altLang="zh-CN" smtClean="0"/>
              <a:pPr/>
              <a:t>61</a:t>
            </a:fld>
            <a:endParaRPr lang="en-US" altLang="zh-CN" smtClean="0"/>
          </a:p>
        </p:txBody>
      </p:sp>
      <p:sp>
        <p:nvSpPr>
          <p:cNvPr id="104450" name="Rectangle 2"/>
          <p:cNvSpPr>
            <a:spLocks noGrp="1" noRot="1" noChangeAspect="1" noChangeArrowheads="1" noTextEdit="1"/>
          </p:cNvSpPr>
          <p:nvPr>
            <p:ph type="sldImg" idx="4294967295"/>
          </p:nvPr>
        </p:nvSpPr>
        <p:spPr>
          <a:ln/>
        </p:spPr>
      </p:sp>
      <p:sp>
        <p:nvSpPr>
          <p:cNvPr id="10445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8" descr="Gold bar"/>
          <p:cNvSpPr>
            <a:spLocks noChangeArrowheads="1"/>
          </p:cNvSpPr>
          <p:nvPr/>
        </p:nvSpPr>
        <p:spPr bwMode="auto">
          <a:xfrm>
            <a:off x="247650" y="2889250"/>
            <a:ext cx="3109913" cy="2016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5" name="Rectangle 9" descr="Orange bar"/>
          <p:cNvSpPr>
            <a:spLocks noChangeArrowheads="1"/>
          </p:cNvSpPr>
          <p:nvPr/>
        </p:nvSpPr>
        <p:spPr bwMode="auto">
          <a:xfrm>
            <a:off x="3357563" y="2889250"/>
            <a:ext cx="3108325" cy="2016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6" name="Rectangle 10" descr="Slate bar"/>
          <p:cNvSpPr>
            <a:spLocks noChangeArrowheads="1"/>
          </p:cNvSpPr>
          <p:nvPr/>
        </p:nvSpPr>
        <p:spPr bwMode="auto">
          <a:xfrm>
            <a:off x="6465888" y="2889250"/>
            <a:ext cx="3109912" cy="201613"/>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solidFill>
                <a:srgbClr val="333399"/>
              </a:solidFill>
              <a:ea typeface="宋体" panose="02010600030101010101" pitchFamily="2" charset="-122"/>
            </a:endParaRPr>
          </a:p>
        </p:txBody>
      </p:sp>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anose="02010609060101010101" pitchFamily="2" charset="-122"/>
                <a:ea typeface="黑体" panose="02010609060101010101" pitchFamily="2" charset="-122"/>
              </a:defRPr>
            </a:lvl1pPr>
          </a:lstStyle>
          <a:p>
            <a:pPr lvl="0"/>
            <a:r>
              <a:rPr lang="zh-CN" altLang="en-US" noProof="0" dirty="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anose="05000000000000000000" pitchFamily="2" charset="2"/>
              <a:buNone/>
              <a:defRPr sz="3600" b="1">
                <a:latin typeface="黑体" panose="02010609060101010101" pitchFamily="2" charset="-122"/>
                <a:ea typeface="黑体" panose="02010609060101010101" pitchFamily="2" charset="-122"/>
              </a:defRPr>
            </a:lvl1pPr>
          </a:lstStyle>
          <a:p>
            <a:pPr lvl="0"/>
            <a:r>
              <a:rPr lang="zh-CN" altLang="en-US" noProof="0" dirty="0"/>
              <a:t>单击此处编辑母版副标题样式</a:t>
            </a:r>
            <a:endParaRPr lang="en-US" altLang="zh-CN" noProof="0" dirty="0"/>
          </a:p>
        </p:txBody>
      </p:sp>
      <p:sp>
        <p:nvSpPr>
          <p:cNvPr id="7" name="Rectangle 4"/>
          <p:cNvSpPr>
            <a:spLocks noGrp="1" noChangeArrowheads="1"/>
          </p:cNvSpPr>
          <p:nvPr>
            <p:ph type="dt" sz="half" idx="10"/>
          </p:nvPr>
        </p:nvSpPr>
        <p:spPr/>
        <p:txBody>
          <a:bodyPr/>
          <a:lstStyle>
            <a:lvl1pPr>
              <a:defRPr/>
            </a:lvl1pPr>
          </a:lstStyle>
          <a:p>
            <a:endParaRPr lang="en-US" altLang="zh-CN"/>
          </a:p>
        </p:txBody>
      </p:sp>
      <p:sp>
        <p:nvSpPr>
          <p:cNvPr id="8" name="Rectangle 5"/>
          <p:cNvSpPr>
            <a:spLocks noGrp="1" noChangeArrowheads="1"/>
          </p:cNvSpPr>
          <p:nvPr>
            <p:ph type="ftr" sz="quarter" idx="11"/>
          </p:nvPr>
        </p:nvSpPr>
        <p:spPr/>
        <p:txBody>
          <a:bodyPr/>
          <a:lstStyle>
            <a:lvl1pPr>
              <a:defRPr/>
            </a:lvl1pPr>
          </a:lstStyle>
          <a:p>
            <a:r>
              <a:rPr lang="en-US" altLang="zh-CN"/>
              <a:t>ppt课件</a:t>
            </a:r>
          </a:p>
        </p:txBody>
      </p:sp>
      <p:sp>
        <p:nvSpPr>
          <p:cNvPr id="9" name="Rectangle 6"/>
          <p:cNvSpPr>
            <a:spLocks noGrp="1" noChangeArrowheads="1"/>
          </p:cNvSpPr>
          <p:nvPr>
            <p:ph type="sldNum" sz="quarter" idx="12"/>
          </p:nvPr>
        </p:nvSpPr>
        <p:spPr/>
        <p:txBody>
          <a:bodyPr/>
          <a:lstStyle>
            <a:lvl1pPr>
              <a:defRPr/>
            </a:lvl1pPr>
          </a:lstStyle>
          <a:p>
            <a:fld id="{01D2C440-9E6A-4430-8BAD-CF78432C284C}" type="slidenum">
              <a:rPr lang="zh-CN" altLang="en-US"/>
              <a:pPr/>
              <a:t>‹#›</a:t>
            </a:fld>
            <a:endParaRPr lang="en-US" altLang="zh-CN"/>
          </a:p>
        </p:txBody>
      </p:sp>
    </p:spTree>
    <p:extLst>
      <p:ext uri="{BB962C8B-B14F-4D97-AF65-F5344CB8AC3E}">
        <p14:creationId xmlns:p14="http://schemas.microsoft.com/office/powerpoint/2010/main" val="889173260"/>
      </p:ext>
    </p:extLst>
  </p:cSld>
  <p:clrMapOvr>
    <a:masterClrMapping/>
  </p:clrMapOvr>
  <p:hf/>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idx="1"/>
          </p:nvPr>
        </p:nvSpPr>
        <p:spPr>
          <a:xfrm>
            <a:off x="495300" y="1196752"/>
            <a:ext cx="9066212" cy="4934173"/>
          </a:xfrm>
        </p:spPr>
        <p:txBody>
          <a:bodyPr/>
          <a:lstStyle>
            <a:lvl1pPr>
              <a:lnSpc>
                <a:spcPct val="110000"/>
              </a:lnSpc>
              <a:spcBef>
                <a:spcPts val="600"/>
              </a:spcBef>
              <a:defRPr sz="3200" b="1">
                <a:solidFill>
                  <a:schemeClr val="tx1"/>
                </a:solidFill>
                <a:latin typeface="+mn-lt"/>
                <a:ea typeface="黑体" panose="02010609060101010101" pitchFamily="2" charset="-122"/>
              </a:defRPr>
            </a:lvl1pPr>
            <a:lvl2pPr>
              <a:lnSpc>
                <a:spcPct val="110000"/>
              </a:lnSpc>
              <a:spcBef>
                <a:spcPts val="600"/>
              </a:spcBef>
              <a:defRPr sz="2800" b="1">
                <a:solidFill>
                  <a:schemeClr val="tx1"/>
                </a:solidFill>
                <a:latin typeface="+mn-lt"/>
                <a:ea typeface="黑体" panose="02010609060101010101" pitchFamily="2" charset="-122"/>
              </a:defRPr>
            </a:lvl2pPr>
            <a:lvl3pPr>
              <a:lnSpc>
                <a:spcPct val="110000"/>
              </a:lnSpc>
              <a:spcBef>
                <a:spcPts val="600"/>
              </a:spcBef>
              <a:defRPr sz="2400" b="1">
                <a:solidFill>
                  <a:schemeClr val="tx1"/>
                </a:solidFill>
                <a:latin typeface="+mn-lt"/>
                <a:ea typeface="黑体" panose="02010609060101010101" pitchFamily="2" charset="-122"/>
              </a:defRPr>
            </a:lvl3pPr>
            <a:lvl4pPr>
              <a:lnSpc>
                <a:spcPct val="110000"/>
              </a:lnSpc>
              <a:spcBef>
                <a:spcPts val="600"/>
              </a:spcBef>
              <a:defRPr sz="2000" b="1">
                <a:solidFill>
                  <a:schemeClr val="tx1"/>
                </a:solidFill>
                <a:latin typeface="+mn-lt"/>
                <a:ea typeface="黑体" panose="02010609060101010101" pitchFamily="2" charset="-122"/>
              </a:defRPr>
            </a:lvl4pPr>
            <a:lvl5pPr>
              <a:lnSpc>
                <a:spcPct val="110000"/>
              </a:lnSpc>
              <a:spcBef>
                <a:spcPts val="600"/>
              </a:spcBef>
              <a:defRPr sz="2000" b="1">
                <a:solidFill>
                  <a:schemeClr val="tx1"/>
                </a:solidFill>
                <a:latin typeface="+mn-lt"/>
                <a:ea typeface="黑体" panose="02010609060101010101" pitchFamily="2" charset="-122"/>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p:cNvSpPr>
            <a:spLocks noGrp="1"/>
          </p:cNvSpPr>
          <p:nvPr>
            <p:ph type="dt" sz="half" idx="10"/>
          </p:nvPr>
        </p:nvSpPr>
        <p:spPr/>
        <p:txBody>
          <a:bodyPr/>
          <a:lstStyle>
            <a:lvl1pPr>
              <a:defRPr dirty="0"/>
            </a:lvl1pPr>
          </a:lstStyle>
          <a:p>
            <a:endParaRPr lang="en-US" altLang="zh-CN"/>
          </a:p>
        </p:txBody>
      </p:sp>
      <p:sp>
        <p:nvSpPr>
          <p:cNvPr id="6" name="页脚占位符 4"/>
          <p:cNvSpPr>
            <a:spLocks noGrp="1"/>
          </p:cNvSpPr>
          <p:nvPr>
            <p:ph type="ftr" sz="quarter" idx="11"/>
          </p:nvPr>
        </p:nvSpPr>
        <p:spPr/>
        <p:txBody>
          <a:bodyPr/>
          <a:lstStyle>
            <a:lvl1pPr>
              <a:defRPr/>
            </a:lvl1pPr>
          </a:lstStyle>
          <a:p>
            <a:r>
              <a:rPr lang="en-US" altLang="zh-CN"/>
              <a:t>ppt课件</a:t>
            </a:r>
          </a:p>
        </p:txBody>
      </p:sp>
      <p:sp>
        <p:nvSpPr>
          <p:cNvPr id="7" name="灯片编号占位符 5"/>
          <p:cNvSpPr>
            <a:spLocks noGrp="1"/>
          </p:cNvSpPr>
          <p:nvPr>
            <p:ph type="sldNum" sz="quarter" idx="12"/>
          </p:nvPr>
        </p:nvSpPr>
        <p:spPr/>
        <p:txBody>
          <a:bodyPr/>
          <a:lstStyle>
            <a:lvl1pPr>
              <a:defRPr/>
            </a:lvl1pPr>
          </a:lstStyle>
          <a:p>
            <a:fld id="{B324A7B3-BB3D-430C-9416-57B4A4106B8F}" type="slidenum">
              <a:rPr lang="zh-CN" altLang="en-US"/>
              <a:pPr/>
              <a:t>‹#›</a:t>
            </a:fld>
            <a:endParaRPr lang="en-US" altLang="zh-CN"/>
          </a:p>
        </p:txBody>
      </p:sp>
    </p:spTree>
    <p:extLst>
      <p:ext uri="{BB962C8B-B14F-4D97-AF65-F5344CB8AC3E}">
        <p14:creationId xmlns:p14="http://schemas.microsoft.com/office/powerpoint/2010/main" val="1563474879"/>
      </p:ext>
    </p:extLst>
  </p:cSld>
  <p:clrMapOvr>
    <a:masterClrMapping/>
  </p:clrMapOvr>
  <p:hf/>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131B3705-864E-4D65-9C72-61CB65F1C9F1}" type="slidenum">
              <a:rPr lang="zh-CN" altLang="en-US"/>
              <a:pPr/>
              <a:t>‹#›</a:t>
            </a:fld>
            <a:endParaRPr lang="en-US" altLang="zh-CN"/>
          </a:p>
        </p:txBody>
      </p:sp>
    </p:spTree>
    <p:extLst>
      <p:ext uri="{BB962C8B-B14F-4D97-AF65-F5344CB8AC3E}">
        <p14:creationId xmlns:p14="http://schemas.microsoft.com/office/powerpoint/2010/main" val="4077824084"/>
      </p:ext>
    </p:extLst>
  </p:cSld>
  <p:clrMapOvr>
    <a:masterClrMapping/>
  </p:clrMapOvr>
  <p:hf/>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01208"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日期占位符 4"/>
          <p:cNvSpPr>
            <a:spLocks noGrp="1"/>
          </p:cNvSpPr>
          <p:nvPr>
            <p:ph type="dt" sz="half" idx="10"/>
          </p:nvPr>
        </p:nvSpPr>
        <p:spPr/>
        <p:txBody>
          <a:bodyPr/>
          <a:lstStyle>
            <a:lvl1pPr>
              <a:defRPr/>
            </a:lvl1pPr>
          </a:lstStyle>
          <a:p>
            <a:endParaRPr lang="en-US" altLang="zh-CN"/>
          </a:p>
        </p:txBody>
      </p:sp>
      <p:sp>
        <p:nvSpPr>
          <p:cNvPr id="7" name="页脚占位符 5"/>
          <p:cNvSpPr>
            <a:spLocks noGrp="1"/>
          </p:cNvSpPr>
          <p:nvPr>
            <p:ph type="ftr" sz="quarter" idx="11"/>
          </p:nvPr>
        </p:nvSpPr>
        <p:spPr/>
        <p:txBody>
          <a:bodyPr/>
          <a:lstStyle>
            <a:lvl1pPr>
              <a:defRPr/>
            </a:lvl1pPr>
          </a:lstStyle>
          <a:p>
            <a:r>
              <a:rPr lang="en-US" altLang="zh-CN"/>
              <a:t>ppt课件</a:t>
            </a:r>
          </a:p>
        </p:txBody>
      </p:sp>
      <p:sp>
        <p:nvSpPr>
          <p:cNvPr id="8" name="灯片编号占位符 6"/>
          <p:cNvSpPr>
            <a:spLocks noGrp="1"/>
          </p:cNvSpPr>
          <p:nvPr>
            <p:ph type="sldNum" sz="quarter" idx="12"/>
          </p:nvPr>
        </p:nvSpPr>
        <p:spPr/>
        <p:txBody>
          <a:bodyPr/>
          <a:lstStyle>
            <a:lvl1pPr>
              <a:defRPr/>
            </a:lvl1pPr>
          </a:lstStyle>
          <a:p>
            <a:fld id="{02D5D87F-0A7A-4AA9-BC3A-2693AF527683}" type="slidenum">
              <a:rPr lang="zh-CN" altLang="en-US"/>
              <a:pPr/>
              <a:t>‹#›</a:t>
            </a:fld>
            <a:endParaRPr lang="en-US" altLang="zh-CN"/>
          </a:p>
        </p:txBody>
      </p:sp>
    </p:spTree>
    <p:extLst>
      <p:ext uri="{BB962C8B-B14F-4D97-AF65-F5344CB8AC3E}">
        <p14:creationId xmlns:p14="http://schemas.microsoft.com/office/powerpoint/2010/main" val="2949220879"/>
      </p:ext>
    </p:extLst>
  </p:cSld>
  <p:clrMapOvr>
    <a:masterClrMapping/>
  </p:clrMapOvr>
  <p:hf/>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4455513"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422B1608-A69B-485F-95FB-95438C61343E}" type="slidenum">
              <a:rPr lang="zh-CN" altLang="en-US"/>
              <a:pPr/>
              <a:t>‹#›</a:t>
            </a:fld>
            <a:endParaRPr lang="en-US" altLang="zh-CN"/>
          </a:p>
        </p:txBody>
      </p:sp>
    </p:spTree>
    <p:extLst>
      <p:ext uri="{BB962C8B-B14F-4D97-AF65-F5344CB8AC3E}">
        <p14:creationId xmlns:p14="http://schemas.microsoft.com/office/powerpoint/2010/main" val="949984336"/>
      </p:ext>
    </p:extLst>
  </p:cSld>
  <p:clrMapOvr>
    <a:masterClrMapping/>
  </p:clrMapOvr>
  <p:hf/>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9066213" cy="639762"/>
          </a:xfrm>
        </p:spPr>
        <p:txBody>
          <a:bodyPr anchor="b"/>
          <a:lstStyle>
            <a:lvl1pPr marL="0" indent="0">
              <a:buNone/>
              <a:defRPr sz="32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82B6D876-83A9-45DC-A9A8-45B00DF3B1AF}" type="slidenum">
              <a:rPr lang="zh-CN" altLang="en-US"/>
              <a:pPr/>
              <a:t>‹#›</a:t>
            </a:fld>
            <a:endParaRPr lang="en-US" altLang="zh-CN"/>
          </a:p>
        </p:txBody>
      </p:sp>
    </p:spTree>
    <p:extLst>
      <p:ext uri="{BB962C8B-B14F-4D97-AF65-F5344CB8AC3E}">
        <p14:creationId xmlns:p14="http://schemas.microsoft.com/office/powerpoint/2010/main" val="2910569552"/>
      </p:ext>
    </p:extLst>
  </p:cSld>
  <p:clrMapOvr>
    <a:masterClrMapping/>
  </p:clrMapOvr>
  <p:hf/>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4" name="日期占位符 2"/>
          <p:cNvSpPr>
            <a:spLocks noGrp="1"/>
          </p:cNvSpPr>
          <p:nvPr>
            <p:ph type="dt" sz="half" idx="10"/>
          </p:nvPr>
        </p:nvSpPr>
        <p:spPr/>
        <p:txBody>
          <a:bodyPr/>
          <a:lstStyle>
            <a:lvl1pPr>
              <a:defRPr/>
            </a:lvl1pPr>
          </a:lstStyle>
          <a:p>
            <a:endParaRPr lang="en-US" altLang="zh-CN"/>
          </a:p>
        </p:txBody>
      </p:sp>
      <p:sp>
        <p:nvSpPr>
          <p:cNvPr id="5" name="页脚占位符 3"/>
          <p:cNvSpPr>
            <a:spLocks noGrp="1"/>
          </p:cNvSpPr>
          <p:nvPr>
            <p:ph type="ftr" sz="quarter" idx="11"/>
          </p:nvPr>
        </p:nvSpPr>
        <p:spPr/>
        <p:txBody>
          <a:bodyPr/>
          <a:lstStyle>
            <a:lvl1pPr>
              <a:defRPr/>
            </a:lvl1pPr>
          </a:lstStyle>
          <a:p>
            <a:r>
              <a:rPr lang="en-US" altLang="zh-CN"/>
              <a:t>ppt课件</a:t>
            </a:r>
          </a:p>
        </p:txBody>
      </p:sp>
      <p:sp>
        <p:nvSpPr>
          <p:cNvPr id="6" name="灯片编号占位符 4"/>
          <p:cNvSpPr>
            <a:spLocks noGrp="1"/>
          </p:cNvSpPr>
          <p:nvPr>
            <p:ph type="sldNum" sz="quarter" idx="12"/>
          </p:nvPr>
        </p:nvSpPr>
        <p:spPr/>
        <p:txBody>
          <a:bodyPr/>
          <a:lstStyle>
            <a:lvl1pPr>
              <a:defRPr/>
            </a:lvl1pPr>
          </a:lstStyle>
          <a:p>
            <a:fld id="{7C661C98-5699-4428-B37E-AF7B22049360}" type="slidenum">
              <a:rPr lang="zh-CN" altLang="en-US"/>
              <a:pPr/>
              <a:t>‹#›</a:t>
            </a:fld>
            <a:endParaRPr lang="en-US" altLang="zh-CN"/>
          </a:p>
        </p:txBody>
      </p:sp>
    </p:spTree>
    <p:extLst>
      <p:ext uri="{BB962C8B-B14F-4D97-AF65-F5344CB8AC3E}">
        <p14:creationId xmlns:p14="http://schemas.microsoft.com/office/powerpoint/2010/main" val="3963861348"/>
      </p:ext>
    </p:extLst>
  </p:cSld>
  <p:clrMapOvr>
    <a:masterClrMapping/>
  </p:clrMapOvr>
  <p:hf/>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2894119"/>
      </p:ext>
    </p:extLst>
  </p:cSld>
  <p:clrMapOvr>
    <a:masterClrMapping/>
  </p:clrMapOvr>
  <p:hf/>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E03CC55C-0818-484B-95B1-0D6AEF3A5121}" type="slidenum">
              <a:rPr lang="zh-CN" altLang="en-US"/>
              <a:pPr/>
              <a:t>‹#›</a:t>
            </a:fld>
            <a:endParaRPr lang="en-US" altLang="zh-CN"/>
          </a:p>
        </p:txBody>
      </p:sp>
    </p:spTree>
    <p:extLst>
      <p:ext uri="{BB962C8B-B14F-4D97-AF65-F5344CB8AC3E}">
        <p14:creationId xmlns:p14="http://schemas.microsoft.com/office/powerpoint/2010/main" val="3588653774"/>
      </p:ext>
    </p:extLst>
  </p:cSld>
  <p:clrMapOvr>
    <a:masterClrMapping/>
  </p:clrMapOvr>
  <p:hf/>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noProof="1"/>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3AABBE44-C760-482C-BBF4-1AD90914546D}" type="slidenum">
              <a:rPr lang="zh-CN" altLang="en-US"/>
              <a:pPr/>
              <a:t>‹#›</a:t>
            </a:fld>
            <a:endParaRPr lang="en-US" altLang="zh-CN"/>
          </a:p>
        </p:txBody>
      </p:sp>
    </p:spTree>
    <p:extLst>
      <p:ext uri="{BB962C8B-B14F-4D97-AF65-F5344CB8AC3E}">
        <p14:creationId xmlns:p14="http://schemas.microsoft.com/office/powerpoint/2010/main" val="2936825503"/>
      </p:ext>
    </p:extLst>
  </p:cSld>
  <p:clrMapOvr>
    <a:masterClrMapping/>
  </p:clrMapOvr>
  <p:hf/>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E1AE9711-D2FE-4E38-90AE-D1E297BAFE81}" type="slidenum">
              <a:rPr lang="zh-CN" altLang="en-US"/>
              <a:pPr/>
              <a:t>‹#›</a:t>
            </a:fld>
            <a:endParaRPr lang="en-US" altLang="zh-CN"/>
          </a:p>
        </p:txBody>
      </p:sp>
    </p:spTree>
    <p:extLst>
      <p:ext uri="{BB962C8B-B14F-4D97-AF65-F5344CB8AC3E}">
        <p14:creationId xmlns:p14="http://schemas.microsoft.com/office/powerpoint/2010/main" val="2473581823"/>
      </p:ext>
    </p:extLst>
  </p:cSld>
  <p:clrMapOvr>
    <a:masterClrMapping/>
  </p:clrMapOvr>
  <p:hf/>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C4B43DEA-F75B-4EB0-9B6A-B5DA8DF75583}" type="slidenum">
              <a:rPr lang="zh-CN" altLang="en-US"/>
              <a:pPr/>
              <a:t>‹#›</a:t>
            </a:fld>
            <a:endParaRPr lang="en-US" altLang="zh-CN"/>
          </a:p>
        </p:txBody>
      </p:sp>
    </p:spTree>
    <p:extLst>
      <p:ext uri="{BB962C8B-B14F-4D97-AF65-F5344CB8AC3E}">
        <p14:creationId xmlns:p14="http://schemas.microsoft.com/office/powerpoint/2010/main" val="53245461"/>
      </p:ext>
    </p:extLst>
  </p:cSld>
  <p:clrMapOvr>
    <a:masterClrMapping/>
  </p:clrMapOvr>
  <p:hf/>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88504" y="188640"/>
            <a:ext cx="8915400" cy="792088"/>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5029200" y="1196752"/>
            <a:ext cx="4381500" cy="23765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5029200" y="3754339"/>
            <a:ext cx="4381500" cy="237658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5"/>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8" name="页脚占位符 6"/>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9" name="灯片编号占位符 7"/>
          <p:cNvSpPr>
            <a:spLocks noGrp="1"/>
          </p:cNvSpPr>
          <p:nvPr>
            <p:ph type="sldNum" sz="quarter" idx="12"/>
          </p:nvPr>
        </p:nvSpPr>
        <p:spPr>
          <a:xfrm>
            <a:off x="7099300" y="6248400"/>
            <a:ext cx="2311400" cy="457200"/>
          </a:xfrm>
        </p:spPr>
        <p:txBody>
          <a:bodyPr/>
          <a:lstStyle>
            <a:lvl1pPr>
              <a:defRPr/>
            </a:lvl1pPr>
          </a:lstStyle>
          <a:p>
            <a:fld id="{81D9F3F7-388B-412F-8C50-0C2AA03CD55C}" type="slidenum">
              <a:rPr lang="zh-CN" altLang="en-US"/>
              <a:pPr/>
              <a:t>‹#›</a:t>
            </a:fld>
            <a:endParaRPr lang="en-US" altLang="zh-CN"/>
          </a:p>
        </p:txBody>
      </p:sp>
    </p:spTree>
    <p:extLst>
      <p:ext uri="{BB962C8B-B14F-4D97-AF65-F5344CB8AC3E}">
        <p14:creationId xmlns:p14="http://schemas.microsoft.com/office/powerpoint/2010/main" val="637343236"/>
      </p:ext>
    </p:extLst>
  </p:cSld>
  <p:clrMapOvr>
    <a:masterClrMapping/>
  </p:clrMapOvr>
  <p:hf/>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1"/>
            <a:ext cx="8915400" cy="792087"/>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剪贴画占位符 3"/>
          <p:cNvSpPr>
            <a:spLocks noGrp="1"/>
          </p:cNvSpPr>
          <p:nvPr>
            <p:ph type="clipArt" sz="half" idx="2" hasCustomPrompt="1"/>
          </p:nvPr>
        </p:nvSpPr>
        <p:spPr>
          <a:xfrm>
            <a:off x="5029200" y="1196752"/>
            <a:ext cx="4381500" cy="4934173"/>
          </a:xfrm>
        </p:spPr>
        <p:txBody>
          <a:bodyPr/>
          <a:lstStyle/>
          <a:p>
            <a:r>
              <a:rPr lang="zh-CN" altLang="en-US" noProof="1"/>
              <a:t>单击图标添加剪 贴画</a:t>
            </a:r>
          </a:p>
        </p:txBody>
      </p:sp>
      <p:sp>
        <p:nvSpPr>
          <p:cNvPr id="6" name="日期占位符 4"/>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7" name="页脚占位符 5"/>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8" name="灯片编号占位符 6"/>
          <p:cNvSpPr>
            <a:spLocks noGrp="1"/>
          </p:cNvSpPr>
          <p:nvPr>
            <p:ph type="sldNum" sz="quarter" idx="12"/>
          </p:nvPr>
        </p:nvSpPr>
        <p:spPr>
          <a:xfrm>
            <a:off x="7099300" y="6248400"/>
            <a:ext cx="2311400" cy="457200"/>
          </a:xfrm>
        </p:spPr>
        <p:txBody>
          <a:bodyPr/>
          <a:lstStyle>
            <a:lvl1pPr>
              <a:defRPr/>
            </a:lvl1pPr>
          </a:lstStyle>
          <a:p>
            <a:fld id="{1662586B-82D2-4BB4-820A-EB888FEA84BB}" type="slidenum">
              <a:rPr lang="zh-CN" altLang="en-US"/>
              <a:pPr/>
              <a:t>‹#›</a:t>
            </a:fld>
            <a:endParaRPr lang="en-US" altLang="zh-CN"/>
          </a:p>
        </p:txBody>
      </p:sp>
    </p:spTree>
    <p:extLst>
      <p:ext uri="{BB962C8B-B14F-4D97-AF65-F5344CB8AC3E}">
        <p14:creationId xmlns:p14="http://schemas.microsoft.com/office/powerpoint/2010/main" val="2884524900"/>
      </p:ext>
    </p:extLst>
  </p:cSld>
  <p:clrMapOvr>
    <a:masterClrMapping/>
  </p:clrMapOvr>
  <p:hf/>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495300" y="188913"/>
            <a:ext cx="906621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endParaRPr lang="en-US" altLang="zh-CN" smtClean="0"/>
          </a:p>
        </p:txBody>
      </p:sp>
      <p:sp>
        <p:nvSpPr>
          <p:cNvPr id="1027" name="Rectangle 3"/>
          <p:cNvSpPr>
            <a:spLocks noGrp="1" noChangeArrowheads="1"/>
          </p:cNvSpPr>
          <p:nvPr>
            <p:ph type="body" idx="4294967295"/>
          </p:nvPr>
        </p:nvSpPr>
        <p:spPr bwMode="auto">
          <a:xfrm>
            <a:off x="495300" y="1196975"/>
            <a:ext cx="9066213" cy="493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zh-CN" altLang="en-US" smtClean="0"/>
              <a:t>第二级</a:t>
            </a:r>
            <a:endParaRPr lang="en-US" altLang="zh-CN" smtClean="0"/>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15364" name="Rectangle 4"/>
          <p:cNvSpPr>
            <a:spLocks noGrp="1" noChangeArrowheads="1"/>
          </p:cNvSpPr>
          <p:nvPr>
            <p:ph type="dt" sz="half" idx="2"/>
          </p:nvPr>
        </p:nvSpPr>
        <p:spPr bwMode="auto">
          <a:xfrm>
            <a:off x="495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noProof="1" dirty="0">
                <a:ea typeface="宋体" panose="02010600030101010101" pitchFamily="2" charset="-122"/>
              </a:defRPr>
            </a:lvl1pPr>
          </a:lstStyle>
          <a:p>
            <a:endParaRPr lang="en-US" altLang="zh-CN"/>
          </a:p>
        </p:txBody>
      </p:sp>
      <p:sp>
        <p:nvSpPr>
          <p:cNvPr id="15365" name="Rectangle 5"/>
          <p:cNvSpPr>
            <a:spLocks noGrp="1" noChangeArrowheads="1"/>
          </p:cNvSpPr>
          <p:nvPr>
            <p:ph type="ftr" sz="quarter" idx="3"/>
          </p:nvPr>
        </p:nvSpPr>
        <p:spPr bwMode="auto">
          <a:xfrm>
            <a:off x="3384550" y="6356350"/>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noProof="1">
                <a:ea typeface="宋体" panose="02010600030101010101" pitchFamily="2" charset="-122"/>
              </a:defRPr>
            </a:lvl1pPr>
          </a:lstStyle>
          <a:p>
            <a:r>
              <a:rPr lang="en-US" altLang="zh-CN"/>
              <a:t>ppt课件</a:t>
            </a:r>
          </a:p>
        </p:txBody>
      </p:sp>
      <p:sp>
        <p:nvSpPr>
          <p:cNvPr id="15366" name="Rectangle 6"/>
          <p:cNvSpPr>
            <a:spLocks noGrp="1" noChangeArrowheads="1"/>
          </p:cNvSpPr>
          <p:nvPr>
            <p:ph type="sldNum" sz="quarter" idx="4"/>
          </p:nvPr>
        </p:nvSpPr>
        <p:spPr bwMode="auto">
          <a:xfrm>
            <a:off x="7099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noProof="1">
                <a:ea typeface="宋体" panose="02010600030101010101" pitchFamily="2" charset="-122"/>
              </a:defRPr>
            </a:lvl1pPr>
          </a:lstStyle>
          <a:p>
            <a:fld id="{64D427D7-2ECD-47CB-B1DF-7A19DDD78A9B}" type="slidenum">
              <a:rPr lang="zh-CN" altLang="en-US"/>
              <a:pPr/>
              <a:t>‹#›</a:t>
            </a:fld>
            <a:endParaRPr lang="en-US" altLang="zh-CN"/>
          </a:p>
        </p:txBody>
      </p:sp>
      <p:sp>
        <p:nvSpPr>
          <p:cNvPr id="1031" name="Rectangle 7" descr="Gold bar"/>
          <p:cNvSpPr>
            <a:spLocks noChangeArrowheads="1"/>
          </p:cNvSpPr>
          <p:nvPr/>
        </p:nvSpPr>
        <p:spPr bwMode="auto">
          <a:xfrm>
            <a:off x="0" y="0"/>
            <a:ext cx="24765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2" name="Rectangle 9" descr="Orange bar"/>
          <p:cNvSpPr>
            <a:spLocks noChangeArrowheads="1"/>
          </p:cNvSpPr>
          <p:nvPr/>
        </p:nvSpPr>
        <p:spPr bwMode="auto">
          <a:xfrm>
            <a:off x="0" y="2286000"/>
            <a:ext cx="24765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3" name="Rectangle 10" descr="Slate bar"/>
          <p:cNvSpPr>
            <a:spLocks noChangeArrowheads="1"/>
          </p:cNvSpPr>
          <p:nvPr/>
        </p:nvSpPr>
        <p:spPr bwMode="auto">
          <a:xfrm>
            <a:off x="0" y="4572000"/>
            <a:ext cx="247650" cy="2286000"/>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pic>
        <p:nvPicPr>
          <p:cNvPr id="1034" name="Picture 2" descr="computer networking 的图像结果"/>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8724900" y="188913"/>
            <a:ext cx="112395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5" name="AutoShape 5" descr="https://publicrelationssydney.com.au/wp-content/uploads/2013/01/shutterstock_80434384.jpg"/>
          <p:cNvSpPr>
            <a:spLocks noChangeAspect="1" noChangeArrowheads="1"/>
          </p:cNvSpPr>
          <p:nvPr userDrawn="1"/>
        </p:nvSpPr>
        <p:spPr bwMode="auto">
          <a:xfrm>
            <a:off x="63500" y="-1365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69" r:id="rId3"/>
    <p:sldLayoutId id="2147483672" r:id="rId4"/>
    <p:sldLayoutId id="2147483673" r:id="rId5"/>
    <p:sldLayoutId id="2147483674" r:id="rId6"/>
    <p:sldLayoutId id="2147483675" r:id="rId7"/>
    <p:sldLayoutId id="2147483668" r:id="rId8"/>
    <p:sldLayoutId id="2147483667" r:id="rId9"/>
    <p:sldLayoutId id="2147483666" r:id="rId10"/>
    <p:sldLayoutId id="2147483665" r:id="rId11"/>
    <p:sldLayoutId id="2147483664" r:id="rId12"/>
    <p:sldLayoutId id="2147483676" r:id="rId13"/>
    <p:sldLayoutId id="2147483677" r:id="rId14"/>
  </p:sldLayoutIdLst>
  <p:hf/>
  <p:txStyles>
    <p:titleStyle>
      <a:lvl1pPr algn="l" rtl="0" fontAlgn="base">
        <a:spcBef>
          <a:spcPct val="0"/>
        </a:spcBef>
        <a:spcAft>
          <a:spcPct val="0"/>
        </a:spcAft>
        <a:defRPr sz="4400" b="1">
          <a:solidFill>
            <a:srgbClr val="333399"/>
          </a:solidFill>
          <a:latin typeface="+mn-lt"/>
          <a:ea typeface="黑体" panose="02010609060101010101" pitchFamily="2" charset="-122"/>
          <a:cs typeface="+mj-cs"/>
        </a:defRPr>
      </a:lvl1pPr>
      <a:lvl2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2pPr>
      <a:lvl3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3pPr>
      <a:lvl4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4pPr>
      <a:lvl5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fontAlgn="base">
        <a:spcBef>
          <a:spcPct val="200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fontAlgn="base">
        <a:spcBef>
          <a:spcPct val="200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fontAlgn="base">
        <a:spcBef>
          <a:spcPct val="200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fontAlgn="base">
        <a:spcBef>
          <a:spcPct val="200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fontAlgn="base">
        <a:spcBef>
          <a:spcPct val="200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slideLayout" Target="../slideLayouts/slideLayout7.xml"/><Relationship Id="rId4" Type="http://schemas.openxmlformats.org/officeDocument/2006/relationships/image" Target="../media/image5.w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4.xml"/><Relationship Id="rId1" Type="http://schemas.openxmlformats.org/officeDocument/2006/relationships/vmlDrawing" Target="../drawings/vmlDrawing1.vml"/><Relationship Id="rId6" Type="http://schemas.openxmlformats.org/officeDocument/2006/relationships/image" Target="../media/image6.emf"/><Relationship Id="rId5" Type="http://schemas.openxmlformats.org/officeDocument/2006/relationships/oleObject" Target="../embeddings/oleObject1.bin"/><Relationship Id="rId4" Type="http://schemas.openxmlformats.org/officeDocument/2006/relationships/image" Target="../media/image3.wmf"/></Relationships>
</file>

<file path=ppt/slides/_rels/slide1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5.w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9.wmf"/></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8.xml"/><Relationship Id="rId1" Type="http://schemas.openxmlformats.org/officeDocument/2006/relationships/vmlDrawing" Target="../drawings/vmlDrawing2.vml"/><Relationship Id="rId6" Type="http://schemas.openxmlformats.org/officeDocument/2006/relationships/image" Target="../media/image10.wmf"/><Relationship Id="rId5" Type="http://schemas.openxmlformats.org/officeDocument/2006/relationships/oleObject" Target="../embeddings/oleObject2.bin"/><Relationship Id="rId4" Type="http://schemas.openxmlformats.org/officeDocument/2006/relationships/image" Target="../media/image3.wmf"/></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8.xml"/><Relationship Id="rId1" Type="http://schemas.openxmlformats.org/officeDocument/2006/relationships/vmlDrawing" Target="../drawings/vmlDrawing3.vml"/><Relationship Id="rId6" Type="http://schemas.openxmlformats.org/officeDocument/2006/relationships/image" Target="../media/image10.wmf"/><Relationship Id="rId5" Type="http://schemas.openxmlformats.org/officeDocument/2006/relationships/oleObject" Target="../embeddings/oleObject3.bin"/><Relationship Id="rId4" Type="http://schemas.openxmlformats.org/officeDocument/2006/relationships/image" Target="../media/image3.wmf"/></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40.xml"/><Relationship Id="rId1" Type="http://schemas.openxmlformats.org/officeDocument/2006/relationships/slideLayout" Target="../slideLayouts/slideLayout8.xml"/><Relationship Id="rId4" Type="http://schemas.openxmlformats.org/officeDocument/2006/relationships/image" Target="../media/image9.wmf"/></Relationships>
</file>

<file path=ppt/slides/_rels/slide5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41.xml"/><Relationship Id="rId1" Type="http://schemas.openxmlformats.org/officeDocument/2006/relationships/slideLayout" Target="../slideLayouts/slideLayout8.xml"/><Relationship Id="rId4" Type="http://schemas.openxmlformats.org/officeDocument/2006/relationships/image" Target="../media/image9.wmf"/></Relationships>
</file>

<file path=ppt/slides/_rels/slide54.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ChangeArrowheads="1"/>
          </p:cNvSpPr>
          <p:nvPr>
            <p:ph type="ctrTitle"/>
          </p:nvPr>
        </p:nvSpPr>
        <p:spPr/>
        <p:txBody>
          <a:bodyPr/>
          <a:lstStyle/>
          <a:p>
            <a:r>
              <a:rPr lang="zh-CN" altLang="en-US" dirty="0" smtClean="0">
                <a:latin typeface="黑体" panose="02010609060101010101" pitchFamily="49" charset="-122"/>
                <a:ea typeface="黑体" panose="02010609060101010101" pitchFamily="49" charset="-122"/>
              </a:rPr>
              <a:t>第</a:t>
            </a:r>
            <a:r>
              <a:rPr lang="zh-CN" altLang="en-US" sz="4000" dirty="0" smtClean="0">
                <a:latin typeface="黑体" panose="02010609060101010101" pitchFamily="49" charset="-122"/>
                <a:ea typeface="黑体" panose="02010609060101010101" pitchFamily="49" charset="-122"/>
              </a:rPr>
              <a:t> </a:t>
            </a:r>
            <a:r>
              <a:rPr lang="en-US" altLang="zh-CN" dirty="0" smtClean="0">
                <a:latin typeface="黑体" panose="02010609060101010101" pitchFamily="49" charset="-122"/>
                <a:ea typeface="黑体" panose="02010609060101010101" pitchFamily="49" charset="-122"/>
              </a:rPr>
              <a:t>1</a:t>
            </a:r>
            <a:r>
              <a:rPr lang="en-US" altLang="zh-CN" sz="4000" dirty="0" smtClean="0">
                <a:latin typeface="黑体" panose="02010609060101010101" pitchFamily="49" charset="-122"/>
                <a:ea typeface="黑体" panose="02010609060101010101" pitchFamily="49" charset="-122"/>
              </a:rPr>
              <a:t> </a:t>
            </a:r>
            <a:r>
              <a:rPr lang="zh-CN" altLang="en-US" dirty="0" smtClean="0">
                <a:latin typeface="黑体" panose="02010609060101010101" pitchFamily="49" charset="-122"/>
                <a:ea typeface="黑体" panose="02010609060101010101" pitchFamily="49" charset="-122"/>
              </a:rPr>
              <a:t>章   概述（</a:t>
            </a:r>
            <a:r>
              <a:rPr lang="en-US" altLang="zh-CN" smtClean="0">
                <a:latin typeface="黑体" panose="02010609060101010101" pitchFamily="49" charset="-122"/>
                <a:ea typeface="黑体" panose="02010609060101010101" pitchFamily="49" charset="-122"/>
              </a:rPr>
              <a:t>1.1-1.3</a:t>
            </a:r>
            <a:r>
              <a:rPr lang="zh-CN" altLang="en-US" smtClean="0">
                <a:latin typeface="黑体" panose="02010609060101010101" pitchFamily="49" charset="-122"/>
                <a:ea typeface="黑体" panose="02010609060101010101" pitchFamily="49" charset="-122"/>
              </a:rPr>
              <a:t>）</a:t>
            </a:r>
            <a:endParaRPr lang="zh-CN" altLang="en-US" smtClean="0">
              <a:latin typeface="黑体" panose="02010609060101010101" pitchFamily="49" charset="-122"/>
              <a:ea typeface="宋体" panose="02010600030101010101" pitchFamily="2" charset="-122"/>
            </a:endParaRPr>
          </a:p>
        </p:txBody>
      </p:sp>
      <p:sp>
        <p:nvSpPr>
          <p:cNvPr id="13314" name="Rectangle 3"/>
          <p:cNvSpPr>
            <a:spLocks noGrp="1" noChangeArrowheads="1"/>
          </p:cNvSpPr>
          <p:nvPr>
            <p:ph type="subTitle" idx="1"/>
          </p:nvPr>
        </p:nvSpPr>
        <p:spPr/>
        <p:txBody>
          <a:bodyPr/>
          <a:lstStyle/>
          <a:p>
            <a:endParaRPr lang="zh-CN" altLang="en-US" smtClean="0">
              <a:latin typeface="黑体" panose="02010609060101010101" pitchFamily="49" charset="-122"/>
              <a:ea typeface="宋体" panose="02010600030101010101" pitchFamily="2" charset="-122"/>
            </a:endParaRPr>
          </a:p>
        </p:txBody>
      </p:sp>
      <p:sp>
        <p:nvSpPr>
          <p:cNvPr id="1331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A188BD7-4C42-4ADA-B884-2730F48AB4ED}" type="slidenum">
              <a:rPr lang="zh-CN" altLang="en-US" smtClean="0"/>
              <a:pPr eaLnBrk="1" hangingPunct="1"/>
              <a:t>1</a:t>
            </a:fld>
            <a:endParaRPr lang="en-US" altLang="zh-CN" smtClean="0"/>
          </a:p>
        </p:txBody>
      </p:sp>
      <p:sp>
        <p:nvSpPr>
          <p:cNvPr id="1331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ransition spd="med">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noChangeArrowheads="1"/>
          </p:cNvSpPr>
          <p:nvPr>
            <p:ph type="title"/>
          </p:nvPr>
        </p:nvSpPr>
        <p:spPr>
          <a:xfrm>
            <a:off x="495300" y="188913"/>
            <a:ext cx="9066213" cy="792162"/>
          </a:xfrm>
        </p:spPr>
        <p:txBody>
          <a:bodyPr/>
          <a:lstStyle/>
          <a:p>
            <a:r>
              <a:rPr lang="zh-CN" altLang="en-US" smtClean="0">
                <a:ea typeface="黑体" panose="02010609060101010101" pitchFamily="49" charset="-122"/>
              </a:rPr>
              <a:t>第</a:t>
            </a:r>
            <a:r>
              <a:rPr lang="zh-CN" altLang="en-US" sz="3200" smtClean="0">
                <a:ea typeface="黑体" panose="02010609060101010101" pitchFamily="49" charset="-122"/>
              </a:rPr>
              <a:t> </a:t>
            </a:r>
            <a:r>
              <a:rPr lang="en-US" altLang="zh-CN" smtClean="0">
                <a:ea typeface="黑体" panose="02010609060101010101" pitchFamily="49" charset="-122"/>
              </a:rPr>
              <a:t>1</a:t>
            </a:r>
            <a:r>
              <a:rPr lang="en-US" altLang="zh-CN" sz="3200" smtClean="0">
                <a:ea typeface="黑体" panose="02010609060101010101" pitchFamily="49" charset="-122"/>
              </a:rPr>
              <a:t> </a:t>
            </a:r>
            <a:r>
              <a:rPr lang="zh-CN" altLang="en-US" smtClean="0">
                <a:ea typeface="黑体" panose="02010609060101010101" pitchFamily="49" charset="-122"/>
              </a:rPr>
              <a:t>章   概述</a:t>
            </a:r>
            <a:endParaRPr lang="zh-CN" altLang="en-US" smtClean="0">
              <a:ea typeface="宋体" panose="02010600030101010101" pitchFamily="2" charset="-122"/>
            </a:endParaRPr>
          </a:p>
        </p:txBody>
      </p:sp>
      <p:sp>
        <p:nvSpPr>
          <p:cNvPr id="15362" name="Rectangle 3"/>
          <p:cNvSpPr>
            <a:spLocks noGrp="1" noChangeArrowheads="1"/>
          </p:cNvSpPr>
          <p:nvPr>
            <p:ph type="body" idx="1"/>
          </p:nvPr>
        </p:nvSpPr>
        <p:spPr>
          <a:xfrm>
            <a:off x="495300" y="1196975"/>
            <a:ext cx="9066213" cy="4933950"/>
          </a:xfrm>
        </p:spPr>
        <p:txBody>
          <a:bodyPr/>
          <a:lstStyle/>
          <a:p>
            <a:pPr marL="0" indent="0">
              <a:buNone/>
            </a:pPr>
            <a:r>
              <a:rPr lang="en-US" altLang="zh-CN" dirty="0" smtClean="0">
                <a:ea typeface="黑体" panose="02010609060101010101" pitchFamily="49" charset="-122"/>
              </a:rPr>
              <a:t>1.1  </a:t>
            </a:r>
            <a:r>
              <a:rPr lang="zh-CN" altLang="zh-CN" dirty="0" smtClean="0">
                <a:ea typeface="黑体" panose="02010609060101010101" pitchFamily="49" charset="-122"/>
              </a:rPr>
              <a:t>计算机网络在信息时代中的作用</a:t>
            </a:r>
            <a:endParaRPr lang="en-US" altLang="zh-CN" dirty="0" smtClean="0">
              <a:ea typeface="黑体" panose="02010609060101010101" pitchFamily="49" charset="-122"/>
            </a:endParaRPr>
          </a:p>
          <a:p>
            <a:pPr marL="0" indent="0">
              <a:buNone/>
            </a:pPr>
            <a:r>
              <a:rPr lang="en-US" altLang="zh-CN" dirty="0" smtClean="0">
                <a:ea typeface="黑体" panose="02010609060101010101" pitchFamily="49" charset="-122"/>
              </a:rPr>
              <a:t>1.2  </a:t>
            </a:r>
            <a:r>
              <a:rPr lang="zh-CN" altLang="zh-CN" dirty="0" smtClean="0">
                <a:ea typeface="黑体" panose="02010609060101010101" pitchFamily="49" charset="-122"/>
              </a:rPr>
              <a:t>互联网概述</a:t>
            </a:r>
            <a:endParaRPr lang="en-US" altLang="zh-CN" dirty="0" smtClean="0">
              <a:ea typeface="黑体" panose="02010609060101010101" pitchFamily="49" charset="-122"/>
            </a:endParaRPr>
          </a:p>
          <a:p>
            <a:pPr marL="0" indent="0">
              <a:buNone/>
            </a:pPr>
            <a:r>
              <a:rPr lang="en-US" altLang="zh-CN" dirty="0" smtClean="0">
                <a:ea typeface="黑体" panose="02010609060101010101" pitchFamily="49" charset="-122"/>
              </a:rPr>
              <a:t>1.3  </a:t>
            </a:r>
            <a:r>
              <a:rPr lang="zh-CN" altLang="zh-CN" dirty="0" smtClean="0">
                <a:ea typeface="黑体" panose="02010609060101010101" pitchFamily="49" charset="-122"/>
              </a:rPr>
              <a:t>互联网的组成</a:t>
            </a:r>
            <a:endParaRPr lang="en-US" altLang="zh-CN" dirty="0" smtClean="0">
              <a:ea typeface="黑体" panose="02010609060101010101" pitchFamily="49" charset="-122"/>
            </a:endParaRPr>
          </a:p>
        </p:txBody>
      </p:sp>
      <p:sp>
        <p:nvSpPr>
          <p:cNvPr id="1536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8F86F1E-F536-4C43-8766-B2A677BA8076}" type="slidenum">
              <a:rPr lang="zh-CN" altLang="en-US" smtClean="0"/>
              <a:pPr eaLnBrk="1" hangingPunct="1"/>
              <a:t>2</a:t>
            </a:fld>
            <a:endParaRPr lang="en-US" altLang="zh-CN" smtClean="0"/>
          </a:p>
        </p:txBody>
      </p:sp>
      <p:sp>
        <p:nvSpPr>
          <p:cNvPr id="1536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ransition spd="med">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标题 1"/>
          <p:cNvSpPr>
            <a:spLocks noGrp="1" noChangeArrowheads="1"/>
          </p:cNvSpPr>
          <p:nvPr>
            <p:ph type="title"/>
          </p:nvPr>
        </p:nvSpPr>
        <p:spPr>
          <a:xfrm>
            <a:off x="495300" y="188913"/>
            <a:ext cx="9066213" cy="792162"/>
          </a:xfrm>
        </p:spPr>
        <p:txBody>
          <a:bodyPr/>
          <a:lstStyle/>
          <a:p>
            <a:r>
              <a:rPr lang="en-US" altLang="zh-CN" sz="4000" dirty="0" smtClean="0">
                <a:ea typeface="黑体" panose="02010609060101010101" pitchFamily="49" charset="-122"/>
              </a:rPr>
              <a:t>1.1  </a:t>
            </a:r>
            <a:r>
              <a:rPr lang="zh-CN" altLang="zh-CN" sz="4000" dirty="0" smtClean="0">
                <a:ea typeface="黑体" panose="02010609060101010101" pitchFamily="49" charset="-122"/>
              </a:rPr>
              <a:t>计算机网络在信息时代中的作用</a:t>
            </a:r>
            <a:endParaRPr lang="zh-CN" altLang="en-US" sz="4000" dirty="0" smtClean="0">
              <a:ea typeface="黑体" panose="02010609060101010101" pitchFamily="49" charset="-122"/>
            </a:endParaRPr>
          </a:p>
        </p:txBody>
      </p:sp>
      <p:sp>
        <p:nvSpPr>
          <p:cNvPr id="19458" name="内容占位符 2"/>
          <p:cNvSpPr>
            <a:spLocks noGrp="1" noChangeArrowheads="1"/>
          </p:cNvSpPr>
          <p:nvPr>
            <p:ph idx="1"/>
          </p:nvPr>
        </p:nvSpPr>
        <p:spPr>
          <a:xfrm>
            <a:off x="495300" y="1196975"/>
            <a:ext cx="9066213" cy="4933950"/>
          </a:xfrm>
        </p:spPr>
        <p:txBody>
          <a:bodyPr/>
          <a:lstStyle/>
          <a:p>
            <a:endParaRPr lang="en-US" altLang="zh-CN" dirty="0" smtClean="0">
              <a:ea typeface="黑体" panose="02010609060101010101" pitchFamily="49" charset="-122"/>
            </a:endParaRPr>
          </a:p>
          <a:p>
            <a:r>
              <a:rPr lang="en-US" altLang="zh-CN" dirty="0" smtClean="0">
                <a:ea typeface="黑体" panose="02010609060101010101" pitchFamily="49" charset="-122"/>
              </a:rPr>
              <a:t>21 </a:t>
            </a:r>
            <a:r>
              <a:rPr lang="zh-CN" altLang="en-US" dirty="0" smtClean="0">
                <a:ea typeface="黑体" panose="02010609060101010101" pitchFamily="49" charset="-122"/>
              </a:rPr>
              <a:t>世纪的时代特征：</a:t>
            </a:r>
            <a:r>
              <a:rPr lang="zh-CN" altLang="en-US" dirty="0" smtClean="0">
                <a:solidFill>
                  <a:srgbClr val="0000CC"/>
                </a:solidFill>
                <a:ea typeface="黑体" panose="02010609060101010101" pitchFamily="49" charset="-122"/>
              </a:rPr>
              <a:t>数字化</a:t>
            </a:r>
            <a:r>
              <a:rPr lang="zh-CN" altLang="en-US" dirty="0" smtClean="0">
                <a:ea typeface="黑体" panose="02010609060101010101" pitchFamily="49" charset="-122"/>
              </a:rPr>
              <a:t>、</a:t>
            </a:r>
            <a:r>
              <a:rPr lang="zh-CN" altLang="en-US" dirty="0" smtClean="0">
                <a:solidFill>
                  <a:srgbClr val="0000CC"/>
                </a:solidFill>
                <a:ea typeface="黑体" panose="02010609060101010101" pitchFamily="49" charset="-122"/>
              </a:rPr>
              <a:t>网络化、信息化。</a:t>
            </a:r>
          </a:p>
          <a:p>
            <a:endParaRPr lang="zh-CN" altLang="en-US" dirty="0" smtClean="0">
              <a:ea typeface="黑体" panose="02010609060101010101" pitchFamily="49" charset="-122"/>
            </a:endParaRPr>
          </a:p>
          <a:p>
            <a:r>
              <a:rPr lang="zh-CN" altLang="en-US" dirty="0" smtClean="0">
                <a:ea typeface="黑体" panose="02010609060101010101" pitchFamily="49" charset="-122"/>
              </a:rPr>
              <a:t>是一个以</a:t>
            </a:r>
            <a:r>
              <a:rPr lang="zh-CN" altLang="en-US" dirty="0" smtClean="0">
                <a:solidFill>
                  <a:srgbClr val="FF0000"/>
                </a:solidFill>
                <a:ea typeface="黑体" panose="02010609060101010101" pitchFamily="49" charset="-122"/>
              </a:rPr>
              <a:t>网络为核心</a:t>
            </a:r>
            <a:r>
              <a:rPr lang="zh-CN" altLang="en-US" dirty="0" smtClean="0">
                <a:ea typeface="黑体" panose="02010609060101010101" pitchFamily="49" charset="-122"/>
              </a:rPr>
              <a:t>的信息时代。</a:t>
            </a:r>
            <a:endParaRPr lang="en-US" altLang="zh-CN" dirty="0" smtClean="0">
              <a:ea typeface="黑体" panose="02010609060101010101" pitchFamily="49" charset="-122"/>
            </a:endParaRPr>
          </a:p>
          <a:p>
            <a:endParaRPr lang="zh-CN" altLang="zh-CN" dirty="0" smtClean="0">
              <a:ea typeface="黑体" panose="02010609060101010101" pitchFamily="49" charset="-122"/>
            </a:endParaRPr>
          </a:p>
          <a:p>
            <a:r>
              <a:rPr lang="zh-CN" altLang="zh-CN" dirty="0" smtClean="0">
                <a:solidFill>
                  <a:srgbClr val="FF0000"/>
                </a:solidFill>
                <a:ea typeface="黑体" panose="02010609060101010101" pitchFamily="49" charset="-122"/>
              </a:rPr>
              <a:t>网络</a:t>
            </a:r>
            <a:r>
              <a:rPr lang="zh-CN" altLang="zh-CN" dirty="0" smtClean="0">
                <a:ea typeface="黑体" panose="02010609060101010101" pitchFamily="49" charset="-122"/>
              </a:rPr>
              <a:t>现在已经成为信息社会的命脉和发展知识经济的重要基础</a:t>
            </a:r>
            <a:r>
              <a:rPr lang="zh-CN" altLang="en-US" dirty="0" smtClean="0">
                <a:ea typeface="黑体" panose="02010609060101010101" pitchFamily="49" charset="-122"/>
              </a:rPr>
              <a:t>。</a:t>
            </a:r>
            <a:endParaRPr lang="en-US" altLang="zh-CN" dirty="0" smtClean="0">
              <a:ea typeface="黑体" panose="02010609060101010101" pitchFamily="49" charset="-122"/>
            </a:endParaRPr>
          </a:p>
          <a:p>
            <a:endParaRPr lang="zh-CN" altLang="en-US" dirty="0" smtClean="0">
              <a:ea typeface="黑体" panose="02010609060101010101" pitchFamily="49" charset="-122"/>
            </a:endParaRPr>
          </a:p>
          <a:p>
            <a:endParaRPr lang="zh-CN" altLang="en-US" dirty="0" smtClean="0">
              <a:ea typeface="黑体" panose="02010609060101010101" pitchFamily="49" charset="-122"/>
            </a:endParaRPr>
          </a:p>
        </p:txBody>
      </p:sp>
    </p:spTree>
    <p:extLst>
      <p:ext uri="{BB962C8B-B14F-4D97-AF65-F5344CB8AC3E}">
        <p14:creationId xmlns:p14="http://schemas.microsoft.com/office/powerpoint/2010/main" val="125127053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标题 1"/>
          <p:cNvSpPr>
            <a:spLocks noGrp="1" noChangeArrowheads="1"/>
          </p:cNvSpPr>
          <p:nvPr>
            <p:ph type="title"/>
          </p:nvPr>
        </p:nvSpPr>
        <p:spPr>
          <a:xfrm>
            <a:off x="495300" y="188913"/>
            <a:ext cx="9066213" cy="792162"/>
          </a:xfrm>
        </p:spPr>
        <p:txBody>
          <a:bodyPr/>
          <a:lstStyle/>
          <a:p>
            <a:r>
              <a:rPr lang="en-US" altLang="zh-CN" sz="4000" smtClean="0">
                <a:ea typeface="黑体" panose="02010609060101010101" pitchFamily="49" charset="-122"/>
              </a:rPr>
              <a:t>1.1  </a:t>
            </a:r>
            <a:r>
              <a:rPr lang="zh-CN" altLang="zh-CN" sz="4000" smtClean="0">
                <a:ea typeface="黑体" panose="02010609060101010101" pitchFamily="49" charset="-122"/>
              </a:rPr>
              <a:t>计算机网络在信息时代中的作用</a:t>
            </a:r>
            <a:endParaRPr lang="zh-CN" altLang="en-US" sz="4000" smtClean="0">
              <a:ea typeface="黑体" panose="02010609060101010101" pitchFamily="49" charset="-122"/>
            </a:endParaRPr>
          </a:p>
        </p:txBody>
      </p:sp>
      <p:sp>
        <p:nvSpPr>
          <p:cNvPr id="20482" name="内容占位符 2"/>
          <p:cNvSpPr>
            <a:spLocks noGrp="1" noChangeArrowheads="1"/>
          </p:cNvSpPr>
          <p:nvPr>
            <p:ph idx="1"/>
          </p:nvPr>
        </p:nvSpPr>
        <p:spPr>
          <a:xfrm>
            <a:off x="422275" y="1196975"/>
            <a:ext cx="4705350" cy="4575175"/>
          </a:xfrm>
        </p:spPr>
        <p:txBody>
          <a:bodyPr/>
          <a:lstStyle/>
          <a:p>
            <a:r>
              <a:rPr lang="zh-CN" altLang="en-US" sz="2800" smtClean="0">
                <a:ea typeface="黑体" panose="02010609060101010101" pitchFamily="49" charset="-122"/>
              </a:rPr>
              <a:t>三大网络：                                </a:t>
            </a:r>
            <a:endParaRPr lang="en-US" altLang="zh-CN" sz="2800" smtClean="0">
              <a:ea typeface="黑体" panose="02010609060101010101" pitchFamily="49" charset="-122"/>
            </a:endParaRPr>
          </a:p>
          <a:p>
            <a:pPr lvl="1"/>
            <a:r>
              <a:rPr lang="zh-CN" altLang="en-US" smtClean="0">
                <a:solidFill>
                  <a:srgbClr val="0000CC"/>
                </a:solidFill>
                <a:ea typeface="黑体" panose="02010609060101010101" pitchFamily="49" charset="-122"/>
              </a:rPr>
              <a:t>电信网络：</a:t>
            </a:r>
            <a:r>
              <a:rPr lang="zh-CN" altLang="zh-CN" sz="2000" smtClean="0">
                <a:ea typeface="黑体" panose="02010609060101010101" pitchFamily="49" charset="-122"/>
              </a:rPr>
              <a:t>（电话、电报及传真）</a:t>
            </a:r>
            <a:endParaRPr lang="en-US" altLang="zh-CN" sz="2000" smtClean="0">
              <a:ea typeface="黑体" panose="02010609060101010101" pitchFamily="49" charset="-122"/>
            </a:endParaRPr>
          </a:p>
          <a:p>
            <a:pPr lvl="1"/>
            <a:r>
              <a:rPr lang="zh-CN" altLang="en-US" smtClean="0">
                <a:solidFill>
                  <a:srgbClr val="0000CC"/>
                </a:solidFill>
                <a:ea typeface="黑体" panose="02010609060101010101" pitchFamily="49" charset="-122"/>
              </a:rPr>
              <a:t>有线电视网络：</a:t>
            </a:r>
            <a:r>
              <a:rPr lang="zh-CN" altLang="zh-CN" sz="2000" smtClean="0">
                <a:ea typeface="黑体" panose="02010609060101010101" pitchFamily="49" charset="-122"/>
              </a:rPr>
              <a:t>（电视节目）</a:t>
            </a:r>
            <a:endParaRPr lang="en-US" altLang="zh-CN" sz="2000" smtClean="0">
              <a:ea typeface="黑体" panose="02010609060101010101" pitchFamily="49" charset="-122"/>
            </a:endParaRPr>
          </a:p>
          <a:p>
            <a:pPr lvl="1"/>
            <a:r>
              <a:rPr lang="zh-CN" altLang="en-US" smtClean="0">
                <a:solidFill>
                  <a:srgbClr val="0000CC"/>
                </a:solidFill>
                <a:ea typeface="黑体" panose="02010609060101010101" pitchFamily="49" charset="-122"/>
              </a:rPr>
              <a:t>计算机网络：</a:t>
            </a:r>
            <a:r>
              <a:rPr lang="zh-CN" altLang="zh-CN" sz="2000" smtClean="0">
                <a:ea typeface="黑体" panose="02010609060101010101" pitchFamily="49" charset="-122"/>
              </a:rPr>
              <a:t>（计算机之间传送数据文件）</a:t>
            </a:r>
            <a:endParaRPr lang="zh-CN" altLang="en-US" sz="2000" smtClean="0">
              <a:ea typeface="黑体" panose="02010609060101010101" pitchFamily="49" charset="-122"/>
            </a:endParaRPr>
          </a:p>
          <a:p>
            <a:pPr lvl="1"/>
            <a:endParaRPr lang="en-US" altLang="zh-CN" smtClean="0">
              <a:ea typeface="黑体" panose="02010609060101010101" pitchFamily="49" charset="-122"/>
            </a:endParaRPr>
          </a:p>
        </p:txBody>
      </p:sp>
      <p:sp>
        <p:nvSpPr>
          <p:cNvPr id="20483" name="内容占位符 2"/>
          <p:cNvSpPr>
            <a:spLocks noGrp="1" noChangeArrowheads="1"/>
          </p:cNvSpPr>
          <p:nvPr/>
        </p:nvSpPr>
        <p:spPr bwMode="auto">
          <a:xfrm>
            <a:off x="4908550" y="1196975"/>
            <a:ext cx="4532313" cy="356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0000"/>
              </a:lnSpc>
              <a:spcBef>
                <a:spcPts val="600"/>
              </a:spcBef>
              <a:buClr>
                <a:srgbClr val="333399"/>
              </a:buClr>
              <a:buSzPct val="75000"/>
              <a:buFont typeface="Wingdings" panose="05000000000000000000" pitchFamily="2" charset="2"/>
              <a:buChar char="n"/>
            </a:pPr>
            <a:r>
              <a:rPr lang="zh-CN" altLang="en-US" sz="2800" b="1">
                <a:ea typeface="黑体" panose="02010609060101010101" pitchFamily="49" charset="-122"/>
              </a:rPr>
              <a:t>三网融合：                                </a:t>
            </a:r>
            <a:endParaRPr lang="en-US" altLang="zh-CN" sz="2800" b="1">
              <a:ea typeface="黑体" panose="02010609060101010101" pitchFamily="49" charset="-122"/>
            </a:endParaRPr>
          </a:p>
          <a:p>
            <a:pPr lvl="1" eaLnBrk="1" hangingPunct="1">
              <a:lnSpc>
                <a:spcPct val="110000"/>
              </a:lnSpc>
              <a:spcBef>
                <a:spcPts val="600"/>
              </a:spcBef>
              <a:buClr>
                <a:schemeClr val="accent2"/>
              </a:buClr>
              <a:buSzPct val="70000"/>
              <a:buFont typeface="Wingdings" panose="05000000000000000000" pitchFamily="2" charset="2"/>
              <a:buChar char="n"/>
            </a:pPr>
            <a:r>
              <a:rPr lang="zh-CN" altLang="zh-CN" sz="2000" b="1">
                <a:ea typeface="黑体" panose="02010609060101010101" pitchFamily="49" charset="-122"/>
              </a:rPr>
              <a:t>电信网络和有线电视网络都逐渐融入了现代计算机网络</a:t>
            </a:r>
            <a:r>
              <a:rPr lang="zh-CN" altLang="en-US" sz="2000" b="1">
                <a:ea typeface="黑体" panose="02010609060101010101" pitchFamily="49" charset="-122"/>
              </a:rPr>
              <a:t>技术；</a:t>
            </a:r>
            <a:endParaRPr lang="en-US" altLang="zh-CN" sz="2000" b="1">
              <a:ea typeface="黑体" panose="02010609060101010101" pitchFamily="49" charset="-122"/>
            </a:endParaRPr>
          </a:p>
          <a:p>
            <a:pPr lvl="1" eaLnBrk="1" hangingPunct="1">
              <a:lnSpc>
                <a:spcPct val="110000"/>
              </a:lnSpc>
              <a:spcBef>
                <a:spcPts val="600"/>
              </a:spcBef>
              <a:buClr>
                <a:schemeClr val="accent2"/>
              </a:buClr>
              <a:buSzPct val="70000"/>
              <a:buFont typeface="Wingdings" panose="05000000000000000000" pitchFamily="2" charset="2"/>
              <a:buChar char="n"/>
            </a:pPr>
            <a:r>
              <a:rPr lang="zh-CN" altLang="zh-CN" sz="2000" b="1">
                <a:ea typeface="黑体" panose="02010609060101010101" pitchFamily="49" charset="-122"/>
              </a:rPr>
              <a:t>计算机网络也能够向用户提供电话通信、视频通信以及传送视频节目的服务。</a:t>
            </a:r>
            <a:endParaRPr lang="en-US" altLang="zh-CN" sz="2000" b="1">
              <a:ea typeface="黑体" panose="02010609060101010101" pitchFamily="49" charset="-122"/>
            </a:endParaRPr>
          </a:p>
        </p:txBody>
      </p:sp>
      <p:sp>
        <p:nvSpPr>
          <p:cNvPr id="20484" name="内容占位符 2"/>
          <p:cNvSpPr>
            <a:spLocks noGrp="1" noChangeArrowheads="1"/>
          </p:cNvSpPr>
          <p:nvPr/>
        </p:nvSpPr>
        <p:spPr bwMode="auto">
          <a:xfrm>
            <a:off x="5048250" y="4521200"/>
            <a:ext cx="4513263"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0000"/>
              </a:lnSpc>
              <a:spcBef>
                <a:spcPts val="600"/>
              </a:spcBef>
              <a:buClr>
                <a:srgbClr val="333399"/>
              </a:buClr>
              <a:buSzPct val="75000"/>
              <a:buFont typeface="Wingdings" panose="05000000000000000000" pitchFamily="2" charset="2"/>
              <a:buChar char=""/>
            </a:pPr>
            <a:r>
              <a:rPr lang="zh-CN" altLang="en-US" sz="2000" b="1">
                <a:ea typeface="黑体" panose="02010609060101010101" pitchFamily="49" charset="-122"/>
              </a:rPr>
              <a:t>但实现融合并不</a:t>
            </a:r>
            <a:r>
              <a:rPr lang="zh-CN" altLang="zh-CN" sz="2000" b="1">
                <a:ea typeface="黑体" panose="02010609060101010101" pitchFamily="49" charset="-122"/>
              </a:rPr>
              <a:t>简单，因为这涉及到各方面的</a:t>
            </a:r>
            <a:r>
              <a:rPr lang="zh-CN" altLang="zh-CN" sz="2000" b="1">
                <a:solidFill>
                  <a:srgbClr val="FF0000"/>
                </a:solidFill>
                <a:ea typeface="黑体" panose="02010609060101010101" pitchFamily="49" charset="-122"/>
              </a:rPr>
              <a:t>经济利益</a:t>
            </a:r>
            <a:r>
              <a:rPr lang="zh-CN" altLang="zh-CN" sz="2000" b="1">
                <a:ea typeface="黑体" panose="02010609060101010101" pitchFamily="49" charset="-122"/>
              </a:rPr>
              <a:t>和</a:t>
            </a:r>
            <a:r>
              <a:rPr lang="zh-CN" altLang="zh-CN" sz="2000" b="1">
                <a:solidFill>
                  <a:srgbClr val="FF0000"/>
                </a:solidFill>
                <a:ea typeface="黑体" panose="02010609060101010101" pitchFamily="49" charset="-122"/>
              </a:rPr>
              <a:t>行政管辖权</a:t>
            </a:r>
            <a:r>
              <a:rPr lang="zh-CN" altLang="zh-CN" sz="2000" b="1">
                <a:ea typeface="黑体" panose="02010609060101010101" pitchFamily="49" charset="-122"/>
              </a:rPr>
              <a:t>的问题。</a:t>
            </a:r>
            <a:endParaRPr lang="en-US" altLang="zh-CN" sz="2000" b="1">
              <a:ea typeface="黑体" panose="02010609060101010101" pitchFamily="49" charset="-122"/>
            </a:endParaRPr>
          </a:p>
        </p:txBody>
      </p:sp>
      <p:sp>
        <p:nvSpPr>
          <p:cNvPr id="20485" name="矩形 6"/>
          <p:cNvSpPr>
            <a:spLocks noChangeArrowheads="1"/>
          </p:cNvSpPr>
          <p:nvPr/>
        </p:nvSpPr>
        <p:spPr bwMode="auto">
          <a:xfrm>
            <a:off x="690563" y="4598988"/>
            <a:ext cx="4357687" cy="977900"/>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lnSpc>
                <a:spcPct val="90000"/>
              </a:lnSpc>
            </a:pPr>
            <a:r>
              <a:rPr lang="zh-CN" altLang="en-US" sz="3200" b="1">
                <a:ea typeface="黑体" panose="02010609060101010101" pitchFamily="49" charset="-122"/>
              </a:rPr>
              <a:t>发展最快并起到核心作用的是</a:t>
            </a:r>
            <a:r>
              <a:rPr lang="zh-CN" altLang="en-US" sz="3200" b="1">
                <a:solidFill>
                  <a:srgbClr val="FF0000"/>
                </a:solidFill>
                <a:ea typeface="黑体" panose="02010609060101010101" pitchFamily="49" charset="-122"/>
              </a:rPr>
              <a:t>计算机网络</a:t>
            </a:r>
            <a:r>
              <a:rPr lang="zh-CN" altLang="en-US" sz="3200" b="1">
                <a:ea typeface="黑体" panose="02010609060101010101" pitchFamily="49" charset="-122"/>
              </a:rPr>
              <a:t>。</a:t>
            </a:r>
            <a:endParaRPr lang="en-US" altLang="zh-CN" sz="3200" b="1">
              <a:ea typeface="黑体" panose="02010609060101010101" pitchFamily="49" charset="-122"/>
            </a:endParaRPr>
          </a:p>
        </p:txBody>
      </p:sp>
    </p:spTree>
    <p:extLst>
      <p:ext uri="{BB962C8B-B14F-4D97-AF65-F5344CB8AC3E}">
        <p14:creationId xmlns:p14="http://schemas.microsoft.com/office/powerpoint/2010/main" val="65130636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internet</a:t>
            </a:r>
            <a:r>
              <a:rPr lang="zh-CN" altLang="en-US" smtClean="0">
                <a:ea typeface="黑体" panose="02010609060101010101" pitchFamily="49" charset="-122"/>
              </a:rPr>
              <a:t>与</a:t>
            </a:r>
            <a:r>
              <a:rPr lang="en-US" altLang="zh-CN" smtClean="0">
                <a:ea typeface="黑体" panose="02010609060101010101" pitchFamily="49" charset="-122"/>
              </a:rPr>
              <a:t>Internet</a:t>
            </a:r>
            <a:r>
              <a:rPr lang="zh-CN" altLang="en-US" smtClean="0">
                <a:ea typeface="黑体" panose="02010609060101010101" pitchFamily="49" charset="-122"/>
              </a:rPr>
              <a:t>的区别</a:t>
            </a:r>
          </a:p>
        </p:txBody>
      </p:sp>
      <p:sp>
        <p:nvSpPr>
          <p:cNvPr id="22530" name="Rectangle 3"/>
          <p:cNvSpPr>
            <a:spLocks noGrp="1" noChangeArrowheads="1"/>
          </p:cNvSpPr>
          <p:nvPr>
            <p:ph idx="1"/>
          </p:nvPr>
        </p:nvSpPr>
        <p:spPr>
          <a:xfrm>
            <a:off x="495300" y="1196975"/>
            <a:ext cx="9066213" cy="3983038"/>
          </a:xfrm>
        </p:spPr>
        <p:txBody>
          <a:bodyPr/>
          <a:lstStyle/>
          <a:p>
            <a:r>
              <a:rPr lang="zh-CN" altLang="en-US" smtClean="0">
                <a:ea typeface="黑体" panose="02010609060101010101" pitchFamily="49" charset="-122"/>
              </a:rPr>
              <a:t>以</a:t>
            </a:r>
            <a:r>
              <a:rPr lang="zh-CN" altLang="en-US" smtClean="0">
                <a:solidFill>
                  <a:srgbClr val="FF0000"/>
                </a:solidFill>
                <a:ea typeface="黑体" panose="02010609060101010101" pitchFamily="49" charset="-122"/>
              </a:rPr>
              <a:t>小写字母 </a:t>
            </a:r>
            <a:r>
              <a:rPr lang="en-US" altLang="zh-CN" smtClean="0">
                <a:solidFill>
                  <a:srgbClr val="FF0000"/>
                </a:solidFill>
                <a:ea typeface="黑体" panose="02010609060101010101" pitchFamily="49" charset="-122"/>
              </a:rPr>
              <a:t>“i” </a:t>
            </a:r>
            <a:r>
              <a:rPr lang="zh-CN" altLang="en-US" smtClean="0">
                <a:ea typeface="黑体" panose="02010609060101010101" pitchFamily="49" charset="-122"/>
              </a:rPr>
              <a:t>开始的 </a:t>
            </a:r>
            <a:r>
              <a:rPr lang="en-US" altLang="zh-CN" smtClean="0">
                <a:ea typeface="黑体" panose="02010609060101010101" pitchFamily="49" charset="-122"/>
              </a:rPr>
              <a:t>internet</a:t>
            </a:r>
            <a:r>
              <a:rPr lang="zh-CN" altLang="en-US" smtClean="0">
                <a:ea typeface="黑体" panose="02010609060101010101" pitchFamily="49" charset="-122"/>
              </a:rPr>
              <a:t>（互连网）是一个</a:t>
            </a:r>
            <a:r>
              <a:rPr lang="zh-CN" altLang="en-US" smtClean="0">
                <a:solidFill>
                  <a:srgbClr val="0000FF"/>
                </a:solidFill>
                <a:ea typeface="黑体" panose="02010609060101010101" pitchFamily="49" charset="-122"/>
              </a:rPr>
              <a:t>通用名词</a:t>
            </a:r>
            <a:r>
              <a:rPr lang="zh-CN" altLang="en-US" smtClean="0">
                <a:ea typeface="黑体" panose="02010609060101010101" pitchFamily="49" charset="-122"/>
              </a:rPr>
              <a:t>，它</a:t>
            </a:r>
            <a:r>
              <a:rPr lang="zh-CN" altLang="en-US" smtClean="0">
                <a:solidFill>
                  <a:srgbClr val="0000FF"/>
                </a:solidFill>
                <a:ea typeface="黑体" panose="02010609060101010101" pitchFamily="49" charset="-122"/>
              </a:rPr>
              <a:t>泛指</a:t>
            </a:r>
            <a:r>
              <a:rPr lang="zh-CN" altLang="en-US" smtClean="0">
                <a:ea typeface="黑体" panose="02010609060101010101" pitchFamily="49" charset="-122"/>
              </a:rPr>
              <a:t>由多个计算机网络通过路由器互连而成的网络。 </a:t>
            </a:r>
          </a:p>
          <a:p>
            <a:r>
              <a:rPr lang="zh-CN" altLang="en-US" smtClean="0">
                <a:ea typeface="黑体" panose="02010609060101010101" pitchFamily="49" charset="-122"/>
              </a:rPr>
              <a:t>以</a:t>
            </a:r>
            <a:r>
              <a:rPr lang="zh-CN" altLang="en-US" smtClean="0">
                <a:solidFill>
                  <a:srgbClr val="FF0000"/>
                </a:solidFill>
                <a:ea typeface="黑体" panose="02010609060101010101" pitchFamily="49" charset="-122"/>
              </a:rPr>
              <a:t>大写字母 </a:t>
            </a:r>
            <a:r>
              <a:rPr lang="en-US" altLang="zh-CN" smtClean="0">
                <a:solidFill>
                  <a:srgbClr val="FF0000"/>
                </a:solidFill>
                <a:ea typeface="黑体" panose="02010609060101010101" pitchFamily="49" charset="-122"/>
              </a:rPr>
              <a:t>“I” </a:t>
            </a:r>
            <a:r>
              <a:rPr lang="zh-CN" altLang="en-US" smtClean="0">
                <a:ea typeface="黑体" panose="02010609060101010101" pitchFamily="49" charset="-122"/>
              </a:rPr>
              <a:t>开始的的 </a:t>
            </a:r>
            <a:r>
              <a:rPr lang="en-US" altLang="zh-CN" smtClean="0">
                <a:ea typeface="黑体" panose="02010609060101010101" pitchFamily="49" charset="-122"/>
              </a:rPr>
              <a:t>Internet</a:t>
            </a:r>
            <a:r>
              <a:rPr lang="zh-CN" altLang="en-US" smtClean="0">
                <a:ea typeface="黑体" panose="02010609060101010101" pitchFamily="49" charset="-122"/>
              </a:rPr>
              <a:t>（互联网）则是一个</a:t>
            </a:r>
            <a:r>
              <a:rPr lang="zh-CN" altLang="en-US" smtClean="0">
                <a:solidFill>
                  <a:srgbClr val="0000FF"/>
                </a:solidFill>
                <a:ea typeface="黑体" panose="02010609060101010101" pitchFamily="49" charset="-122"/>
              </a:rPr>
              <a:t>专用名词</a:t>
            </a:r>
            <a:r>
              <a:rPr lang="zh-CN" altLang="en-US" smtClean="0">
                <a:ea typeface="黑体" panose="02010609060101010101" pitchFamily="49" charset="-122"/>
              </a:rPr>
              <a:t>，它</a:t>
            </a:r>
            <a:r>
              <a:rPr lang="zh-CN" altLang="en-US" smtClean="0">
                <a:solidFill>
                  <a:srgbClr val="0000FF"/>
                </a:solidFill>
                <a:ea typeface="黑体" panose="02010609060101010101" pitchFamily="49" charset="-122"/>
              </a:rPr>
              <a:t>特指</a:t>
            </a:r>
            <a:r>
              <a:rPr lang="zh-CN" altLang="en-US" smtClean="0">
                <a:ea typeface="黑体" panose="02010609060101010101" pitchFamily="49" charset="-122"/>
              </a:rPr>
              <a:t>当前全球最大的、开放的、由众多网络相互连接而成、</a:t>
            </a:r>
            <a:r>
              <a:rPr lang="zh-CN" altLang="zh-CN" smtClean="0">
                <a:ea typeface="黑体" panose="02010609060101010101" pitchFamily="49" charset="-122"/>
              </a:rPr>
              <a:t>覆盖全球</a:t>
            </a:r>
            <a:r>
              <a:rPr lang="zh-CN" altLang="en-US" smtClean="0">
                <a:ea typeface="黑体" panose="02010609060101010101" pitchFamily="49" charset="-122"/>
              </a:rPr>
              <a:t>的特定计算机网络。</a:t>
            </a:r>
          </a:p>
        </p:txBody>
      </p:sp>
    </p:spTree>
    <p:extLst>
      <p:ext uri="{BB962C8B-B14F-4D97-AF65-F5344CB8AC3E}">
        <p14:creationId xmlns:p14="http://schemas.microsoft.com/office/powerpoint/2010/main" val="191065437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标题 1"/>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Internet </a:t>
            </a:r>
            <a:r>
              <a:rPr lang="zh-CN" altLang="en-US" smtClean="0">
                <a:ea typeface="黑体" panose="02010609060101010101" pitchFamily="49" charset="-122"/>
              </a:rPr>
              <a:t>中文译名</a:t>
            </a:r>
          </a:p>
        </p:txBody>
      </p:sp>
      <p:sp>
        <p:nvSpPr>
          <p:cNvPr id="3" name="内容占位符 2"/>
          <p:cNvSpPr>
            <a:spLocks noGrp="1"/>
          </p:cNvSpPr>
          <p:nvPr>
            <p:ph idx="1"/>
          </p:nvPr>
        </p:nvSpPr>
        <p:spPr>
          <a:xfrm>
            <a:off x="495300" y="1196975"/>
            <a:ext cx="9066213" cy="4933950"/>
          </a:xfrm>
        </p:spPr>
        <p:txBody>
          <a:bodyPr/>
          <a:lstStyle/>
          <a:p>
            <a:r>
              <a:rPr lang="en-US" altLang="zh-CN" noProof="1" smtClean="0"/>
              <a:t>Internet </a:t>
            </a:r>
            <a:r>
              <a:rPr lang="zh-CN" altLang="zh-CN" noProof="1" smtClean="0"/>
              <a:t>的</a:t>
            </a:r>
            <a:r>
              <a:rPr lang="zh-CN" altLang="zh-CN" noProof="1"/>
              <a:t>中文译名并不统一。现有</a:t>
            </a:r>
            <a:r>
              <a:rPr lang="zh-CN" altLang="zh-CN" noProof="1" smtClean="0"/>
              <a:t>的</a:t>
            </a:r>
            <a:r>
              <a:rPr lang="en-US" altLang="zh-CN" noProof="1" smtClean="0"/>
              <a:t> Internet </a:t>
            </a:r>
            <a:r>
              <a:rPr lang="zh-CN" altLang="zh-CN" noProof="1" smtClean="0"/>
              <a:t>译名</a:t>
            </a:r>
            <a:r>
              <a:rPr lang="zh-CN" altLang="zh-CN" noProof="1"/>
              <a:t>有两种</a:t>
            </a:r>
            <a:r>
              <a:rPr lang="zh-CN" altLang="zh-CN" noProof="1" smtClean="0"/>
              <a:t>：</a:t>
            </a:r>
          </a:p>
          <a:p>
            <a:pPr marL="0" indent="0">
              <a:buFont typeface="Wingdings" panose="05000000000000000000" pitchFamily="2" charset="2"/>
              <a:buNone/>
            </a:pPr>
            <a:endParaRPr lang="en-US" altLang="zh-CN" sz="1500" noProof="1" smtClean="0"/>
          </a:p>
          <a:p>
            <a:pPr lvl="1"/>
            <a:r>
              <a:rPr lang="zh-CN" altLang="en-US" noProof="1">
                <a:solidFill>
                  <a:srgbClr val="FF0000"/>
                </a:solidFill>
              </a:rPr>
              <a:t>因特</a:t>
            </a:r>
            <a:r>
              <a:rPr lang="zh-CN" altLang="en-US" noProof="1" smtClean="0">
                <a:solidFill>
                  <a:srgbClr val="FF0000"/>
                </a:solidFill>
              </a:rPr>
              <a:t>网：</a:t>
            </a:r>
            <a:r>
              <a:rPr lang="zh-CN" altLang="zh-CN" noProof="1">
                <a:solidFill>
                  <a:srgbClr val="0000CC"/>
                </a:solidFill>
                <a:cs typeface="+mn-ea"/>
              </a:rPr>
              <a:t>官方译名，</a:t>
            </a:r>
            <a:r>
              <a:rPr lang="zh-CN" altLang="zh-CN" noProof="1">
                <a:solidFill>
                  <a:srgbClr val="0000CC"/>
                </a:solidFill>
              </a:rPr>
              <a:t>但却长期未得到</a:t>
            </a:r>
            <a:r>
              <a:rPr lang="zh-CN" altLang="zh-CN" noProof="1" smtClean="0">
                <a:solidFill>
                  <a:srgbClr val="0000CC"/>
                </a:solidFill>
              </a:rPr>
              <a:t>推广</a:t>
            </a:r>
            <a:r>
              <a:rPr lang="zh-CN" altLang="en-US" noProof="1" smtClean="0">
                <a:solidFill>
                  <a:srgbClr val="0000CC"/>
                </a:solidFill>
              </a:rPr>
              <a:t>；</a:t>
            </a:r>
          </a:p>
          <a:p>
            <a:pPr marL="457200" lvl="1" indent="0">
              <a:buFont typeface="Wingdings" panose="05000000000000000000" pitchFamily="2" charset="2"/>
              <a:buNone/>
            </a:pPr>
            <a:endParaRPr lang="en-US" altLang="zh-CN" sz="1500" noProof="1" smtClean="0">
              <a:solidFill>
                <a:srgbClr val="0000CC"/>
              </a:solidFill>
            </a:endParaRPr>
          </a:p>
          <a:p>
            <a:pPr lvl="1"/>
            <a:r>
              <a:rPr lang="zh-CN" altLang="zh-CN" noProof="1">
                <a:solidFill>
                  <a:srgbClr val="FF0000"/>
                </a:solidFill>
              </a:rPr>
              <a:t>互联网：</a:t>
            </a:r>
            <a:r>
              <a:rPr lang="zh-CN" altLang="zh-CN" noProof="1">
                <a:solidFill>
                  <a:srgbClr val="0000CC"/>
                </a:solidFill>
              </a:rPr>
              <a:t>这是目前流行最广的、事实上的标准译名。</a:t>
            </a:r>
          </a:p>
          <a:p>
            <a:pPr marL="457200" lvl="1" indent="0">
              <a:buFont typeface="Wingdings" panose="05000000000000000000" pitchFamily="2" charset="2"/>
              <a:buNone/>
            </a:pPr>
            <a:r>
              <a:rPr lang="zh-CN" altLang="en-US" noProof="1"/>
              <a:t>                  </a:t>
            </a:r>
            <a:endParaRPr lang="en-US" altLang="zh-CN" noProof="1"/>
          </a:p>
        </p:txBody>
      </p:sp>
      <p:sp>
        <p:nvSpPr>
          <p:cNvPr id="24579" name="矩形 3"/>
          <p:cNvSpPr>
            <a:spLocks noChangeArrowheads="1"/>
          </p:cNvSpPr>
          <p:nvPr/>
        </p:nvSpPr>
        <p:spPr bwMode="auto">
          <a:xfrm>
            <a:off x="1068388" y="4432300"/>
            <a:ext cx="8229600" cy="1382713"/>
          </a:xfrm>
          <a:prstGeom prst="rect">
            <a:avLst/>
          </a:prstGeom>
          <a:solidFill>
            <a:srgbClr val="0000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2800" b="1">
                <a:solidFill>
                  <a:schemeClr val="bg1"/>
                </a:solidFill>
                <a:ea typeface="黑体" panose="02010609060101010101" pitchFamily="49" charset="-122"/>
              </a:rPr>
              <a:t>“</a:t>
            </a:r>
            <a:r>
              <a:rPr lang="zh-CN" altLang="en-US" sz="2800" b="1">
                <a:solidFill>
                  <a:schemeClr val="bg1"/>
                </a:solidFill>
                <a:ea typeface="黑体" panose="02010609060101010101" pitchFamily="49" charset="-122"/>
              </a:rPr>
              <a:t>互联网</a:t>
            </a:r>
            <a:r>
              <a:rPr lang="en-US" altLang="zh-CN" sz="2800" b="1">
                <a:solidFill>
                  <a:schemeClr val="bg1"/>
                </a:solidFill>
                <a:ea typeface="黑体" panose="02010609060101010101" pitchFamily="49" charset="-122"/>
              </a:rPr>
              <a:t>”</a:t>
            </a:r>
            <a:r>
              <a:rPr lang="zh-CN" altLang="en-US" sz="2800" b="1">
                <a:solidFill>
                  <a:schemeClr val="bg1"/>
                </a:solidFill>
                <a:ea typeface="黑体" panose="02010609060101010101" pitchFamily="49" charset="-122"/>
              </a:rPr>
              <a:t>中文</a:t>
            </a:r>
            <a:r>
              <a:rPr lang="zh-CN" altLang="zh-CN" sz="2800" b="1">
                <a:solidFill>
                  <a:schemeClr val="bg1"/>
                </a:solidFill>
                <a:ea typeface="黑体" panose="02010609060101010101" pitchFamily="49" charset="-122"/>
              </a:rPr>
              <a:t>译名能够体现出</a:t>
            </a:r>
            <a:r>
              <a:rPr lang="en-US" altLang="zh-CN" sz="2800" b="1">
                <a:solidFill>
                  <a:schemeClr val="bg1"/>
                </a:solidFill>
                <a:ea typeface="黑体" panose="02010609060101010101" pitchFamily="49" charset="-122"/>
              </a:rPr>
              <a:t> </a:t>
            </a:r>
            <a:r>
              <a:rPr lang="en-US" altLang="zh-CN" sz="2800" b="1">
                <a:solidFill>
                  <a:srgbClr val="FFC000"/>
                </a:solidFill>
                <a:ea typeface="黑体" panose="02010609060101010101" pitchFamily="49" charset="-122"/>
              </a:rPr>
              <a:t>Internet </a:t>
            </a:r>
            <a:r>
              <a:rPr lang="zh-CN" altLang="zh-CN" sz="2800" b="1">
                <a:solidFill>
                  <a:srgbClr val="FFC000"/>
                </a:solidFill>
                <a:ea typeface="黑体" panose="02010609060101010101" pitchFamily="49" charset="-122"/>
              </a:rPr>
              <a:t>最主要的特征</a:t>
            </a:r>
            <a:r>
              <a:rPr lang="zh-CN" altLang="en-US" sz="2800" b="1">
                <a:solidFill>
                  <a:srgbClr val="FFC000"/>
                </a:solidFill>
                <a:ea typeface="黑体" panose="02010609060101010101" pitchFamily="49" charset="-122"/>
              </a:rPr>
              <a:t>：</a:t>
            </a:r>
            <a:r>
              <a:rPr lang="zh-CN" altLang="zh-CN" sz="2800" b="1">
                <a:solidFill>
                  <a:schemeClr val="bg1"/>
                </a:solidFill>
                <a:ea typeface="黑体" panose="02010609060101010101" pitchFamily="49" charset="-122"/>
              </a:rPr>
              <a:t>由数量极大的各种计算机网络互连起来的</a:t>
            </a:r>
            <a:r>
              <a:rPr lang="zh-CN" altLang="en-US" sz="2800" b="1">
                <a:solidFill>
                  <a:schemeClr val="bg1"/>
                </a:solidFill>
                <a:ea typeface="黑体" panose="02010609060101010101" pitchFamily="49" charset="-122"/>
              </a:rPr>
              <a:t>。</a:t>
            </a:r>
          </a:p>
          <a:p>
            <a:pPr eaLnBrk="0" hangingPunct="0"/>
            <a:r>
              <a:rPr lang="zh-CN" altLang="en-US" sz="2800" b="1">
                <a:solidFill>
                  <a:schemeClr val="bg1"/>
                </a:solidFill>
                <a:ea typeface="黑体" panose="02010609060101010101" pitchFamily="49" charset="-122"/>
              </a:rPr>
              <a:t>本教材采用该译名。</a:t>
            </a:r>
            <a:endParaRPr lang="en-US" altLang="zh-CN" sz="2800" b="1">
              <a:solidFill>
                <a:schemeClr val="bg1"/>
              </a:solidFill>
              <a:ea typeface="黑体" panose="02010609060101010101" pitchFamily="49" charset="-122"/>
            </a:endParaRPr>
          </a:p>
        </p:txBody>
      </p:sp>
    </p:spTree>
    <p:extLst>
      <p:ext uri="{BB962C8B-B14F-4D97-AF65-F5344CB8AC3E}">
        <p14:creationId xmlns:p14="http://schemas.microsoft.com/office/powerpoint/2010/main" val="184432208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标题 1"/>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什么是互联网及其基本特点？</a:t>
            </a:r>
          </a:p>
        </p:txBody>
      </p:sp>
      <p:sp>
        <p:nvSpPr>
          <p:cNvPr id="25602" name="内容占位符 2"/>
          <p:cNvSpPr>
            <a:spLocks noGrp="1" noChangeArrowheads="1"/>
          </p:cNvSpPr>
          <p:nvPr>
            <p:ph idx="1"/>
          </p:nvPr>
        </p:nvSpPr>
        <p:spPr>
          <a:xfrm>
            <a:off x="563563" y="1944688"/>
            <a:ext cx="8929687" cy="1150937"/>
          </a:xfrm>
        </p:spPr>
        <p:txBody>
          <a:bodyPr/>
          <a:lstStyle/>
          <a:p>
            <a:r>
              <a:rPr lang="zh-CN" altLang="en-US" smtClean="0">
                <a:ea typeface="黑体" panose="02010609060101010101" pitchFamily="49" charset="-122"/>
              </a:rPr>
              <a:t>互联网是</a:t>
            </a:r>
            <a:r>
              <a:rPr lang="zh-CN" altLang="zh-CN" smtClean="0">
                <a:ea typeface="黑体" panose="02010609060101010101" pitchFamily="49" charset="-122"/>
              </a:rPr>
              <a:t>由数量极大的各种计算机网络互连起来</a:t>
            </a:r>
            <a:r>
              <a:rPr lang="zh-CN" altLang="en-US" smtClean="0">
                <a:ea typeface="黑体" panose="02010609060101010101" pitchFamily="49" charset="-122"/>
              </a:rPr>
              <a:t>而形成的网络。</a:t>
            </a:r>
            <a:endParaRPr lang="en-US" altLang="zh-CN" smtClean="0">
              <a:ea typeface="黑体" panose="02010609060101010101" pitchFamily="49" charset="-122"/>
            </a:endParaRPr>
          </a:p>
        </p:txBody>
      </p:sp>
      <p:sp>
        <p:nvSpPr>
          <p:cNvPr id="4" name="内容占位符 13"/>
          <p:cNvSpPr txBox="1"/>
          <p:nvPr/>
        </p:nvSpPr>
        <p:spPr>
          <a:xfrm>
            <a:off x="631825" y="4146550"/>
            <a:ext cx="4600575" cy="2276475"/>
          </a:xfrm>
          <a:prstGeom prst="rect">
            <a:avLst/>
          </a:prstGeom>
        </p:spPr>
        <p:txBody>
          <a:bodyPr/>
          <a:lstStyle>
            <a:lvl1pPr marL="342900" indent="-342900" algn="l" rtl="0" eaLnBrk="1" fontAlgn="base" hangingPunct="1">
              <a:spcBef>
                <a:spcPct val="200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eaLnBrk="1" fontAlgn="base" hangingPunct="1">
              <a:spcBef>
                <a:spcPct val="200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eaLnBrk="1" fontAlgn="base" hangingPunct="1">
              <a:spcBef>
                <a:spcPct val="200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eaLnBrk="1" fontAlgn="base" hangingPunct="1">
              <a:spcBef>
                <a:spcPct val="200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eaLnBrk="1" fontAlgn="base" hangingPunct="1">
              <a:spcBef>
                <a:spcPct val="200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a:lstStyle>
          <a:p>
            <a:pPr marL="0" indent="0">
              <a:buFont typeface="Wingdings" panose="05000000000000000000" pitchFamily="2" charset="2"/>
              <a:buNone/>
            </a:pPr>
            <a:r>
              <a:rPr lang="zh-CN" altLang="zh-CN" kern="0" noProof="1">
                <a:sym typeface="+mn-ea"/>
              </a:rPr>
              <a:t>上网玩游戏</a:t>
            </a:r>
            <a:endParaRPr lang="en-US" altLang="zh-CN" kern="0" noProof="1">
              <a:sym typeface="+mn-ea"/>
            </a:endParaRPr>
          </a:p>
          <a:p>
            <a:pPr marL="0" indent="0">
              <a:buFont typeface="Wingdings" panose="05000000000000000000" pitchFamily="2" charset="2"/>
              <a:buNone/>
            </a:pPr>
            <a:r>
              <a:rPr lang="zh-CN" altLang="zh-CN" kern="0" noProof="1">
                <a:sym typeface="+mn-ea"/>
              </a:rPr>
              <a:t>看网上视频</a:t>
            </a:r>
            <a:endParaRPr lang="en-US" altLang="zh-CN" kern="0" noProof="1">
              <a:sym typeface="+mn-ea"/>
            </a:endParaRPr>
          </a:p>
          <a:p>
            <a:pPr marL="0" indent="0">
              <a:buFont typeface="Wingdings" panose="05000000000000000000" pitchFamily="2" charset="2"/>
              <a:buNone/>
            </a:pPr>
            <a:r>
              <a:rPr lang="zh-CN" altLang="zh-CN" kern="0" noProof="1">
                <a:sym typeface="+mn-ea"/>
              </a:rPr>
              <a:t>微信聊天</a:t>
            </a:r>
            <a:endParaRPr lang="en-US" altLang="zh-CN" kern="0" noProof="1">
              <a:sym typeface="+mn-ea"/>
            </a:endParaRPr>
          </a:p>
          <a:p>
            <a:pPr marL="0" indent="0">
              <a:buFont typeface="Wingdings" panose="05000000000000000000" pitchFamily="2" charset="2"/>
              <a:buNone/>
            </a:pPr>
            <a:r>
              <a:rPr lang="en-US" altLang="zh-CN" kern="0" noProof="1">
                <a:sym typeface="+mn-ea"/>
              </a:rPr>
              <a:t>……</a:t>
            </a:r>
          </a:p>
          <a:p>
            <a:endParaRPr lang="zh-CN" altLang="en-US" kern="0" noProof="1">
              <a:sym typeface="+mn-ea"/>
            </a:endParaRPr>
          </a:p>
        </p:txBody>
      </p:sp>
      <p:sp>
        <p:nvSpPr>
          <p:cNvPr id="25604" name="内容占位符 2"/>
          <p:cNvSpPr txBox="1">
            <a:spLocks noChangeArrowheads="1"/>
          </p:cNvSpPr>
          <p:nvPr/>
        </p:nvSpPr>
        <p:spPr bwMode="auto">
          <a:xfrm>
            <a:off x="495300" y="1144588"/>
            <a:ext cx="9066213" cy="639762"/>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110000"/>
              </a:lnSpc>
              <a:spcBef>
                <a:spcPts val="600"/>
              </a:spcBef>
              <a:buClr>
                <a:srgbClr val="333399"/>
              </a:buClr>
              <a:buSzPct val="75000"/>
              <a:buFont typeface="Wingdings" panose="05000000000000000000" pitchFamily="2" charset="2"/>
              <a:buNone/>
            </a:pPr>
            <a:r>
              <a:rPr lang="zh-CN" altLang="zh-CN" sz="3200" b="1">
                <a:ea typeface="黑体" panose="02010609060101010101" pitchFamily="49" charset="-122"/>
              </a:rPr>
              <a:t>绝大多数人</a:t>
            </a:r>
            <a:r>
              <a:rPr lang="zh-CN" altLang="en-US" sz="3200" b="1">
                <a:ea typeface="黑体" panose="02010609060101010101" pitchFamily="49" charset="-122"/>
              </a:rPr>
              <a:t>通过使用互联网而</a:t>
            </a:r>
            <a:r>
              <a:rPr lang="zh-CN" altLang="zh-CN" sz="3200" b="1">
                <a:ea typeface="黑体" panose="02010609060101010101" pitchFamily="49" charset="-122"/>
              </a:rPr>
              <a:t>认识</a:t>
            </a:r>
            <a:r>
              <a:rPr lang="zh-CN" altLang="en-US" sz="3200" b="1">
                <a:ea typeface="黑体" panose="02010609060101010101" pitchFamily="49" charset="-122"/>
              </a:rPr>
              <a:t>了</a:t>
            </a:r>
            <a:r>
              <a:rPr lang="zh-CN" altLang="zh-CN" sz="3200" b="1">
                <a:ea typeface="黑体" panose="02010609060101010101" pitchFamily="49" charset="-122"/>
              </a:rPr>
              <a:t>互联网</a:t>
            </a:r>
            <a:r>
              <a:rPr lang="zh-CN" altLang="en-US" sz="3200" b="1">
                <a:ea typeface="黑体" panose="02010609060101010101" pitchFamily="49" charset="-122"/>
              </a:rPr>
              <a:t>。</a:t>
            </a:r>
            <a:endParaRPr lang="en-US" altLang="zh-CN" sz="3200" b="1">
              <a:ea typeface="黑体" panose="02010609060101010101" pitchFamily="49" charset="-122"/>
            </a:endParaRPr>
          </a:p>
        </p:txBody>
      </p:sp>
      <p:sp>
        <p:nvSpPr>
          <p:cNvPr id="25605" name="文本占位符 13"/>
          <p:cNvSpPr txBox="1">
            <a:spLocks noChangeArrowheads="1"/>
          </p:cNvSpPr>
          <p:nvPr/>
        </p:nvSpPr>
        <p:spPr bwMode="auto">
          <a:xfrm>
            <a:off x="4584700" y="3255963"/>
            <a:ext cx="5321300"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0000"/>
              </a:lnSpc>
              <a:spcBef>
                <a:spcPts val="600"/>
              </a:spcBef>
              <a:buClr>
                <a:srgbClr val="333399"/>
              </a:buClr>
              <a:buSzPct val="75000"/>
              <a:buFont typeface="Wingdings" panose="05000000000000000000" pitchFamily="2" charset="2"/>
              <a:buChar char="n"/>
            </a:pPr>
            <a:r>
              <a:rPr lang="zh-CN" altLang="zh-CN" sz="3200" b="1">
                <a:ea typeface="黑体" panose="02010609060101010101" pitchFamily="49" charset="-122"/>
              </a:rPr>
              <a:t>互联网</a:t>
            </a:r>
            <a:r>
              <a:rPr lang="zh-CN" altLang="zh-CN" sz="3200" b="1">
                <a:solidFill>
                  <a:srgbClr val="FF0000"/>
                </a:solidFill>
                <a:ea typeface="黑体" panose="02010609060101010101" pitchFamily="49" charset="-122"/>
              </a:rPr>
              <a:t>两个重要基本特点</a:t>
            </a:r>
            <a:r>
              <a:rPr lang="zh-CN" altLang="en-US" sz="3200" b="1">
                <a:solidFill>
                  <a:srgbClr val="FF0000"/>
                </a:solidFill>
                <a:ea typeface="黑体" panose="02010609060101010101" pitchFamily="49" charset="-122"/>
              </a:rPr>
              <a:t>：</a:t>
            </a:r>
            <a:endParaRPr lang="en-US" altLang="zh-CN" sz="3200" b="1">
              <a:solidFill>
                <a:srgbClr val="FF0000"/>
              </a:solidFill>
              <a:ea typeface="黑体" panose="02010609060101010101" pitchFamily="49" charset="-122"/>
            </a:endParaRPr>
          </a:p>
        </p:txBody>
      </p:sp>
      <p:sp>
        <p:nvSpPr>
          <p:cNvPr id="25606" name="文本占位符 3"/>
          <p:cNvSpPr txBox="1">
            <a:spLocks noChangeArrowheads="1"/>
          </p:cNvSpPr>
          <p:nvPr/>
        </p:nvSpPr>
        <p:spPr bwMode="auto">
          <a:xfrm>
            <a:off x="4584700" y="4146550"/>
            <a:ext cx="4832350" cy="720725"/>
          </a:xfrm>
          <a:prstGeom prst="rect">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buClr>
                <a:srgbClr val="333399"/>
              </a:buClr>
              <a:buSzPct val="75000"/>
              <a:buFont typeface="Wingdings" panose="05000000000000000000" pitchFamily="2" charset="2"/>
              <a:buNone/>
            </a:pPr>
            <a:r>
              <a:rPr lang="zh-CN" altLang="zh-CN" sz="3200" b="1">
                <a:solidFill>
                  <a:srgbClr val="0000CC"/>
                </a:solidFill>
                <a:ea typeface="黑体" panose="02010609060101010101" pitchFamily="49" charset="-122"/>
              </a:rPr>
              <a:t>连通性</a:t>
            </a:r>
            <a:r>
              <a:rPr lang="en-US" altLang="zh-CN" sz="3200" b="1">
                <a:solidFill>
                  <a:srgbClr val="0000CC"/>
                </a:solidFill>
                <a:ea typeface="黑体" panose="02010609060101010101" pitchFamily="49" charset="-122"/>
              </a:rPr>
              <a:t>(connectivity)</a:t>
            </a:r>
          </a:p>
        </p:txBody>
      </p:sp>
      <p:sp>
        <p:nvSpPr>
          <p:cNvPr id="25607" name="内容占位符 14"/>
          <p:cNvSpPr txBox="1">
            <a:spLocks noChangeArrowheads="1"/>
          </p:cNvSpPr>
          <p:nvPr/>
        </p:nvSpPr>
        <p:spPr bwMode="auto">
          <a:xfrm>
            <a:off x="4584700" y="5280025"/>
            <a:ext cx="4184650" cy="720725"/>
          </a:xfrm>
          <a:prstGeom prst="rect">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buClr>
                <a:srgbClr val="333399"/>
              </a:buClr>
              <a:buSzPct val="75000"/>
              <a:buFont typeface="Wingdings" panose="05000000000000000000" pitchFamily="2" charset="2"/>
              <a:buNone/>
            </a:pPr>
            <a:r>
              <a:rPr lang="zh-CN" altLang="zh-CN" sz="3200" b="1">
                <a:solidFill>
                  <a:srgbClr val="0000CC"/>
                </a:solidFill>
                <a:ea typeface="黑体" panose="02010609060101010101" pitchFamily="49" charset="-122"/>
              </a:rPr>
              <a:t>共享</a:t>
            </a:r>
            <a:r>
              <a:rPr lang="en-US" altLang="zh-CN" sz="3200" b="1">
                <a:solidFill>
                  <a:srgbClr val="0000CC"/>
                </a:solidFill>
                <a:ea typeface="黑体" panose="02010609060101010101" pitchFamily="49" charset="-122"/>
              </a:rPr>
              <a:t> (Sharing)</a:t>
            </a:r>
          </a:p>
        </p:txBody>
      </p:sp>
      <p:sp>
        <p:nvSpPr>
          <p:cNvPr id="25608" name="文本占位符 13"/>
          <p:cNvSpPr txBox="1">
            <a:spLocks noChangeArrowheads="1"/>
          </p:cNvSpPr>
          <p:nvPr/>
        </p:nvSpPr>
        <p:spPr bwMode="auto">
          <a:xfrm>
            <a:off x="596900" y="3292475"/>
            <a:ext cx="5321300"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0000"/>
              </a:lnSpc>
              <a:spcBef>
                <a:spcPts val="600"/>
              </a:spcBef>
              <a:buClr>
                <a:srgbClr val="333399"/>
              </a:buClr>
              <a:buSzPct val="75000"/>
              <a:buFont typeface="Wingdings" panose="05000000000000000000" pitchFamily="2" charset="2"/>
              <a:buChar char="n"/>
            </a:pPr>
            <a:r>
              <a:rPr lang="zh-CN" altLang="zh-CN" sz="3200" b="1">
                <a:ea typeface="黑体" panose="02010609060101010101" pitchFamily="49" charset="-122"/>
              </a:rPr>
              <a:t>互联网</a:t>
            </a:r>
            <a:r>
              <a:rPr lang="zh-CN" altLang="en-US" sz="3200" b="1">
                <a:solidFill>
                  <a:srgbClr val="FF0000"/>
                </a:solidFill>
                <a:ea typeface="黑体" panose="02010609060101010101" pitchFamily="49" charset="-122"/>
              </a:rPr>
              <a:t>的应用：</a:t>
            </a:r>
            <a:endParaRPr lang="en-US" altLang="zh-CN" sz="3200" b="1">
              <a:solidFill>
                <a:srgbClr val="FF0000"/>
              </a:solidFill>
              <a:ea typeface="黑体" panose="02010609060101010101" pitchFamily="49" charset="-122"/>
            </a:endParaRPr>
          </a:p>
        </p:txBody>
      </p:sp>
    </p:spTree>
    <p:extLst>
      <p:ext uri="{BB962C8B-B14F-4D97-AF65-F5344CB8AC3E}">
        <p14:creationId xmlns:p14="http://schemas.microsoft.com/office/powerpoint/2010/main" val="351563739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标题 1"/>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互联网</a:t>
            </a:r>
            <a:r>
              <a:rPr lang="en-US" altLang="zh-CN" smtClean="0">
                <a:ea typeface="黑体" panose="02010609060101010101" pitchFamily="49" charset="-122"/>
              </a:rPr>
              <a:t>+</a:t>
            </a:r>
            <a:endParaRPr lang="zh-CN" altLang="en-US" smtClean="0">
              <a:ea typeface="黑体" panose="02010609060101010101" pitchFamily="49" charset="-122"/>
            </a:endParaRPr>
          </a:p>
        </p:txBody>
      </p:sp>
      <p:sp>
        <p:nvSpPr>
          <p:cNvPr id="26626" name="内容占位符 2"/>
          <p:cNvSpPr>
            <a:spLocks noGrp="1" noChangeArrowheads="1"/>
          </p:cNvSpPr>
          <p:nvPr>
            <p:ph idx="1"/>
          </p:nvPr>
        </p:nvSpPr>
        <p:spPr>
          <a:xfrm>
            <a:off x="495300" y="4745038"/>
            <a:ext cx="9066213" cy="1657350"/>
          </a:xfrm>
        </p:spPr>
        <p:txBody>
          <a:bodyPr/>
          <a:lstStyle/>
          <a:p>
            <a:r>
              <a:rPr lang="zh-CN" altLang="en-US" sz="3000" smtClean="0">
                <a:ea typeface="黑体" panose="02010609060101010101" pitchFamily="49" charset="-122"/>
              </a:rPr>
              <a:t>特点：把互联网的创新成果深度融合于经济社会各领域中，从而大大地提升了实体经济的创新力和生产力。</a:t>
            </a:r>
          </a:p>
          <a:p>
            <a:endParaRPr lang="en-US" altLang="zh-CN" smtClean="0">
              <a:ea typeface="黑体" panose="02010609060101010101" pitchFamily="49" charset="-122"/>
            </a:endParaRPr>
          </a:p>
        </p:txBody>
      </p:sp>
      <p:pic>
        <p:nvPicPr>
          <p:cNvPr id="2662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95888" y="2222500"/>
            <a:ext cx="4202112"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内容占位符 2"/>
          <p:cNvSpPr>
            <a:spLocks noGrp="1"/>
          </p:cNvSpPr>
          <p:nvPr/>
        </p:nvSpPr>
        <p:spPr>
          <a:xfrm>
            <a:off x="392113" y="1323975"/>
            <a:ext cx="6007100" cy="1655763"/>
          </a:xfrm>
          <a:prstGeom prst="rect">
            <a:avLst/>
          </a:prstGeom>
          <a:noFill/>
          <a:ln>
            <a:noFill/>
          </a:ln>
          <a:effectLst/>
        </p:spPr>
        <p:txBody>
          <a:bodyPr/>
          <a:lstStyle>
            <a:lvl1pPr marL="342900" indent="-342900" algn="l" rtl="0" eaLnBrk="1" fontAlgn="base" hangingPunct="1">
              <a:lnSpc>
                <a:spcPct val="110000"/>
              </a:lnSpc>
              <a:spcBef>
                <a:spcPts val="6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eaLnBrk="1" fontAlgn="base" hangingPunct="1">
              <a:lnSpc>
                <a:spcPct val="110000"/>
              </a:lnSpc>
              <a:spcBef>
                <a:spcPts val="6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eaLnBrk="1" fontAlgn="base" hangingPunct="1">
              <a:lnSpc>
                <a:spcPct val="110000"/>
              </a:lnSpc>
              <a:spcBef>
                <a:spcPts val="6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eaLnBrk="1" fontAlgn="base" hangingPunct="1">
              <a:lnSpc>
                <a:spcPct val="110000"/>
              </a:lnSpc>
              <a:spcBef>
                <a:spcPts val="6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eaLnBrk="1" fontAlgn="base" hangingPunct="1">
              <a:lnSpc>
                <a:spcPct val="110000"/>
              </a:lnSpc>
              <a:spcBef>
                <a:spcPts val="6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a:lstStyle>
          <a:p>
            <a:r>
              <a:rPr lang="zh-CN" altLang="en-US" sz="3000" noProof="1">
                <a:sym typeface="+mn-ea"/>
              </a:rPr>
              <a:t>指</a:t>
            </a:r>
            <a:r>
              <a:rPr lang="zh-CN" altLang="zh-CN" sz="3000" noProof="1">
                <a:sym typeface="+mn-ea"/>
              </a:rPr>
              <a:t>“互联网</a:t>
            </a:r>
            <a:r>
              <a:rPr lang="en-US" altLang="zh-CN" sz="3000" noProof="1">
                <a:sym typeface="+mn-ea"/>
              </a:rPr>
              <a:t> + </a:t>
            </a:r>
            <a:r>
              <a:rPr lang="zh-CN" altLang="zh-CN" sz="3000" noProof="1">
                <a:sym typeface="+mn-ea"/>
              </a:rPr>
              <a:t>各个传统行业”</a:t>
            </a:r>
            <a:r>
              <a:rPr lang="zh-CN" altLang="en-US" sz="3000" noProof="1">
                <a:sym typeface="+mn-ea"/>
              </a:rPr>
              <a:t>。</a:t>
            </a:r>
            <a:endParaRPr lang="en-US" altLang="zh-CN" sz="3000" noProof="1">
              <a:sym typeface="+mn-ea"/>
            </a:endParaRPr>
          </a:p>
          <a:p>
            <a:pPr marL="0" indent="0">
              <a:buFont typeface="Wingdings" panose="05000000000000000000" pitchFamily="2" charset="2"/>
              <a:buNone/>
            </a:pPr>
            <a:r>
              <a:rPr lang="zh-CN" altLang="en-US" sz="2800" noProof="1">
                <a:sym typeface="+mn-ea"/>
              </a:rPr>
              <a:t>例：网上银行、网上办公、网上学习、网上点餐、滴滴打车等</a:t>
            </a:r>
            <a:endParaRPr lang="en-US" altLang="zh-CN" sz="2800" noProof="1">
              <a:sym typeface="+mn-ea"/>
            </a:endParaRPr>
          </a:p>
          <a:p>
            <a:pPr marL="0" indent="0">
              <a:buFont typeface="Wingdings" panose="05000000000000000000" pitchFamily="2" charset="2"/>
              <a:buNone/>
            </a:pPr>
            <a:endParaRPr lang="en-US" altLang="zh-CN" sz="2800" noProof="1">
              <a:sym typeface="+mn-ea"/>
            </a:endParaRPr>
          </a:p>
        </p:txBody>
      </p:sp>
    </p:spTree>
    <p:extLst>
      <p:ext uri="{BB962C8B-B14F-4D97-AF65-F5344CB8AC3E}">
        <p14:creationId xmlns:p14="http://schemas.microsoft.com/office/powerpoint/2010/main" val="141271680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标题 1"/>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互联网负面影响</a:t>
            </a:r>
          </a:p>
        </p:txBody>
      </p:sp>
      <p:sp>
        <p:nvSpPr>
          <p:cNvPr id="28674" name="内容占位符 2"/>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互联网也给人们带来了一些负面影响</a:t>
            </a:r>
            <a:r>
              <a:rPr lang="zh-CN" altLang="en-US" smtClean="0">
                <a:ea typeface="黑体" panose="02010609060101010101" pitchFamily="49" charset="-122"/>
              </a:rPr>
              <a:t>，例如：</a:t>
            </a:r>
            <a:endParaRPr lang="en-US" altLang="zh-CN" smtClean="0">
              <a:ea typeface="黑体" panose="02010609060101010101" pitchFamily="49" charset="-122"/>
            </a:endParaRPr>
          </a:p>
          <a:p>
            <a:pPr lvl="1"/>
            <a:r>
              <a:rPr lang="zh-CN" altLang="zh-CN" smtClean="0">
                <a:ea typeface="黑体" panose="02010609060101010101" pitchFamily="49" charset="-122"/>
              </a:rPr>
              <a:t>利用互联网传播计算机病毒</a:t>
            </a:r>
            <a:endParaRPr lang="en-US" altLang="zh-CN" smtClean="0">
              <a:ea typeface="黑体" panose="02010609060101010101" pitchFamily="49" charset="-122"/>
            </a:endParaRPr>
          </a:p>
          <a:p>
            <a:pPr lvl="1"/>
            <a:r>
              <a:rPr lang="zh-CN" altLang="zh-CN" smtClean="0">
                <a:ea typeface="黑体" panose="02010609060101010101" pitchFamily="49" charset="-122"/>
              </a:rPr>
              <a:t>利用互联网窃取国家机密和盗窃银行或储户的钱财</a:t>
            </a:r>
            <a:endParaRPr lang="en-US" altLang="zh-CN" smtClean="0">
              <a:ea typeface="黑体" panose="02010609060101010101" pitchFamily="49" charset="-122"/>
            </a:endParaRPr>
          </a:p>
          <a:p>
            <a:pPr lvl="1"/>
            <a:r>
              <a:rPr lang="zh-CN" altLang="zh-CN" smtClean="0">
                <a:ea typeface="黑体" panose="02010609060101010101" pitchFamily="49" charset="-122"/>
              </a:rPr>
              <a:t>网上欺诈</a:t>
            </a:r>
            <a:endParaRPr lang="en-US" altLang="zh-CN" smtClean="0">
              <a:ea typeface="黑体" panose="02010609060101010101" pitchFamily="49" charset="-122"/>
            </a:endParaRPr>
          </a:p>
          <a:p>
            <a:pPr lvl="1"/>
            <a:r>
              <a:rPr lang="zh-CN" altLang="zh-CN" smtClean="0">
                <a:ea typeface="黑体" panose="02010609060101010101" pitchFamily="49" charset="-122"/>
              </a:rPr>
              <a:t>在网上肆意散布谣言、不良信息和播放不健康的视频节目</a:t>
            </a:r>
            <a:endParaRPr lang="en-US" altLang="zh-CN" smtClean="0">
              <a:ea typeface="黑体" panose="02010609060101010101" pitchFamily="49" charset="-122"/>
            </a:endParaRPr>
          </a:p>
          <a:p>
            <a:pPr lvl="1"/>
            <a:r>
              <a:rPr lang="zh-CN" altLang="zh-CN" smtClean="0">
                <a:ea typeface="黑体" panose="02010609060101010101" pitchFamily="49" charset="-122"/>
              </a:rPr>
              <a:t>青少年弃学而沉溺于网络游戏</a:t>
            </a:r>
            <a:r>
              <a:rPr lang="en-US" altLang="zh-CN" smtClean="0">
                <a:ea typeface="黑体" panose="02010609060101010101" pitchFamily="49" charset="-122"/>
              </a:rPr>
              <a:t> </a:t>
            </a:r>
            <a:r>
              <a:rPr lang="zh-CN" altLang="en-US" smtClean="0">
                <a:ea typeface="黑体" panose="02010609060101010101" pitchFamily="49" charset="-122"/>
              </a:rPr>
              <a:t>等</a:t>
            </a:r>
            <a:endParaRPr lang="en-US" altLang="zh-CN" smtClean="0">
              <a:ea typeface="黑体" panose="02010609060101010101" pitchFamily="49" charset="-122"/>
            </a:endParaRPr>
          </a:p>
        </p:txBody>
      </p:sp>
      <p:sp>
        <p:nvSpPr>
          <p:cNvPr id="28675" name="矩形 3"/>
          <p:cNvSpPr>
            <a:spLocks noChangeArrowheads="1"/>
          </p:cNvSpPr>
          <p:nvPr/>
        </p:nvSpPr>
        <p:spPr bwMode="auto">
          <a:xfrm>
            <a:off x="704850" y="5157788"/>
            <a:ext cx="8712200" cy="6461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en-US" sz="3600" b="1">
                <a:solidFill>
                  <a:srgbClr val="0000FF"/>
                </a:solidFill>
                <a:ea typeface="黑体" panose="02010609060101010101" pitchFamily="49" charset="-122"/>
              </a:rPr>
              <a:t>因此，必须加强</a:t>
            </a:r>
            <a:r>
              <a:rPr lang="zh-CN" altLang="zh-CN" sz="3600" b="1">
                <a:solidFill>
                  <a:srgbClr val="0000FF"/>
                </a:solidFill>
                <a:ea typeface="黑体" panose="02010609060101010101" pitchFamily="49" charset="-122"/>
              </a:rPr>
              <a:t>对互联网的管理</a:t>
            </a:r>
            <a:r>
              <a:rPr lang="zh-CN" altLang="en-US" sz="3600" b="1">
                <a:solidFill>
                  <a:srgbClr val="0000FF"/>
                </a:solidFill>
                <a:ea typeface="黑体" panose="02010609060101010101" pitchFamily="49" charset="-122"/>
              </a:rPr>
              <a:t>。</a:t>
            </a:r>
          </a:p>
        </p:txBody>
      </p:sp>
    </p:spTree>
    <p:extLst>
      <p:ext uri="{BB962C8B-B14F-4D97-AF65-F5344CB8AC3E}">
        <p14:creationId xmlns:p14="http://schemas.microsoft.com/office/powerpoint/2010/main" val="287108925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标题 1"/>
          <p:cNvSpPr>
            <a:spLocks noGrp="1" noChangeArrowheads="1"/>
          </p:cNvSpPr>
          <p:nvPr>
            <p:ph type="title"/>
          </p:nvPr>
        </p:nvSpPr>
        <p:spPr>
          <a:xfrm>
            <a:off x="495300" y="188913"/>
            <a:ext cx="9066213" cy="792162"/>
          </a:xfrm>
        </p:spPr>
        <p:txBody>
          <a:bodyPr/>
          <a:lstStyle/>
          <a:p>
            <a:r>
              <a:rPr lang="en-US" altLang="zh-CN" sz="4000" smtClean="0">
                <a:ea typeface="黑体" panose="02010609060101010101" pitchFamily="49" charset="-122"/>
              </a:rPr>
              <a:t>1.2  </a:t>
            </a:r>
            <a:r>
              <a:rPr lang="zh-CN" altLang="zh-CN" sz="4000" smtClean="0">
                <a:ea typeface="黑体" panose="02010609060101010101" pitchFamily="49" charset="-122"/>
              </a:rPr>
              <a:t>互联网概述</a:t>
            </a:r>
            <a:endParaRPr lang="zh-CN" altLang="en-US" sz="4000" smtClean="0">
              <a:ea typeface="黑体" panose="02010609060101010101" pitchFamily="49" charset="-122"/>
            </a:endParaRPr>
          </a:p>
        </p:txBody>
      </p:sp>
      <p:sp>
        <p:nvSpPr>
          <p:cNvPr id="16386" name="内容占位符 2"/>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1.2.1  </a:t>
            </a:r>
            <a:r>
              <a:rPr lang="zh-CN" altLang="zh-CN" smtClean="0">
                <a:ea typeface="黑体" panose="02010609060101010101" pitchFamily="49" charset="-122"/>
              </a:rPr>
              <a:t>网络的网络</a:t>
            </a:r>
            <a:endParaRPr lang="en-US" altLang="zh-CN" smtClean="0">
              <a:ea typeface="黑体" panose="02010609060101010101" pitchFamily="49" charset="-122"/>
            </a:endParaRPr>
          </a:p>
          <a:p>
            <a:r>
              <a:rPr lang="en-US" altLang="zh-CN" smtClean="0">
                <a:ea typeface="黑体" panose="02010609060101010101" pitchFamily="49" charset="-122"/>
              </a:rPr>
              <a:t>1.2.2  </a:t>
            </a:r>
            <a:r>
              <a:rPr lang="zh-CN" altLang="zh-CN" smtClean="0">
                <a:ea typeface="黑体" panose="02010609060101010101" pitchFamily="49" charset="-122"/>
              </a:rPr>
              <a:t>互联网基础结构发展的三个阶段</a:t>
            </a:r>
          </a:p>
          <a:p>
            <a:r>
              <a:rPr lang="en-US" altLang="zh-CN" smtClean="0">
                <a:ea typeface="黑体" panose="02010609060101010101" pitchFamily="49" charset="-122"/>
              </a:rPr>
              <a:t>1.2.3  </a:t>
            </a:r>
            <a:r>
              <a:rPr lang="zh-CN" altLang="zh-CN" smtClean="0">
                <a:ea typeface="黑体" panose="02010609060101010101" pitchFamily="49" charset="-122"/>
              </a:rPr>
              <a:t>互联网的标准化工作</a:t>
            </a:r>
            <a:endParaRPr lang="zh-CN" altLang="en-US" smtClean="0">
              <a:ea typeface="黑体" panose="02010609060101010101" pitchFamily="49" charset="-122"/>
            </a:endParaRPr>
          </a:p>
        </p:txBody>
      </p:sp>
      <p:sp>
        <p:nvSpPr>
          <p:cNvPr id="1638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593109E-3383-4A70-8AEF-FCC42A99189A}" type="slidenum">
              <a:rPr lang="zh-CN" altLang="en-US" smtClean="0"/>
              <a:pPr eaLnBrk="1" hangingPunct="1"/>
              <a:t>10</a:t>
            </a:fld>
            <a:endParaRPr lang="en-US" altLang="zh-CN" smtClean="0"/>
          </a:p>
        </p:txBody>
      </p:sp>
      <p:sp>
        <p:nvSpPr>
          <p:cNvPr id="16388"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标题 1"/>
          <p:cNvSpPr>
            <a:spLocks noGrp="1" noChangeArrowheads="1"/>
          </p:cNvSpPr>
          <p:nvPr>
            <p:ph type="title"/>
          </p:nvPr>
        </p:nvSpPr>
        <p:spPr>
          <a:xfrm>
            <a:off x="495300" y="188913"/>
            <a:ext cx="9066213" cy="792162"/>
          </a:xfrm>
        </p:spPr>
        <p:txBody>
          <a:bodyPr/>
          <a:lstStyle/>
          <a:p>
            <a:r>
              <a:rPr lang="en-US" altLang="zh-CN" sz="4000" smtClean="0">
                <a:ea typeface="黑体" panose="02010609060101010101" pitchFamily="49" charset="-122"/>
              </a:rPr>
              <a:t>1.2.1  </a:t>
            </a:r>
            <a:r>
              <a:rPr lang="zh-CN" altLang="en-US" sz="4000" smtClean="0">
                <a:ea typeface="黑体" panose="02010609060101010101" pitchFamily="49" charset="-122"/>
              </a:rPr>
              <a:t>网络的网络</a:t>
            </a:r>
          </a:p>
        </p:txBody>
      </p:sp>
      <p:sp>
        <p:nvSpPr>
          <p:cNvPr id="17410" name="内容占位符 2"/>
          <p:cNvSpPr>
            <a:spLocks noGrp="1" noChangeArrowheads="1"/>
          </p:cNvSpPr>
          <p:nvPr>
            <p:ph idx="1"/>
          </p:nvPr>
        </p:nvSpPr>
        <p:spPr>
          <a:xfrm>
            <a:off x="495300" y="1196975"/>
            <a:ext cx="9066213" cy="4933950"/>
          </a:xfrm>
        </p:spPr>
        <p:txBody>
          <a:bodyPr/>
          <a:lstStyle/>
          <a:p>
            <a:r>
              <a:rPr lang="zh-CN" altLang="zh-CN" smtClean="0">
                <a:solidFill>
                  <a:srgbClr val="0000CC"/>
                </a:solidFill>
                <a:ea typeface="黑体" panose="02010609060101010101" pitchFamily="49" charset="-122"/>
              </a:rPr>
              <a:t>互联网</a:t>
            </a:r>
            <a:r>
              <a:rPr lang="en-US" altLang="zh-CN" smtClean="0">
                <a:solidFill>
                  <a:srgbClr val="0000CC"/>
                </a:solidFill>
                <a:ea typeface="黑体" panose="02010609060101010101" pitchFamily="49" charset="-122"/>
              </a:rPr>
              <a:t> (Internet)</a:t>
            </a:r>
          </a:p>
          <a:p>
            <a:pPr lvl="1"/>
            <a:r>
              <a:rPr lang="zh-CN" altLang="en-US" smtClean="0">
                <a:ea typeface="黑体" panose="02010609060101010101" pitchFamily="49" charset="-122"/>
              </a:rPr>
              <a:t>特指</a:t>
            </a:r>
            <a:r>
              <a:rPr lang="en-US" altLang="zh-CN" smtClean="0">
                <a:ea typeface="黑体" panose="02010609060101010101" pitchFamily="49" charset="-122"/>
              </a:rPr>
              <a:t>Internet</a:t>
            </a:r>
            <a:r>
              <a:rPr lang="zh-CN" altLang="en-US" smtClean="0">
                <a:ea typeface="黑体" panose="02010609060101010101" pitchFamily="49" charset="-122"/>
              </a:rPr>
              <a:t>，</a:t>
            </a:r>
            <a:r>
              <a:rPr lang="zh-CN" altLang="zh-CN" smtClean="0">
                <a:ea typeface="黑体" panose="02010609060101010101" pitchFamily="49" charset="-122"/>
              </a:rPr>
              <a:t>起源于美国</a:t>
            </a:r>
            <a:r>
              <a:rPr lang="zh-CN" altLang="en-US" smtClean="0">
                <a:ea typeface="黑体" panose="02010609060101010101" pitchFamily="49" charset="-122"/>
              </a:rPr>
              <a:t>，</a:t>
            </a:r>
            <a:r>
              <a:rPr lang="zh-CN" altLang="zh-CN" smtClean="0">
                <a:ea typeface="黑体" panose="02010609060101010101" pitchFamily="49" charset="-122"/>
              </a:rPr>
              <a:t>现已发展成为世界上最大的</a:t>
            </a:r>
            <a:r>
              <a:rPr lang="zh-CN" altLang="en-US" smtClean="0">
                <a:ea typeface="黑体" panose="02010609060101010101" pitchFamily="49" charset="-122"/>
              </a:rPr>
              <a:t>、</a:t>
            </a:r>
            <a:r>
              <a:rPr lang="zh-CN" altLang="zh-CN" smtClean="0">
                <a:ea typeface="黑体" panose="02010609060101010101" pitchFamily="49" charset="-122"/>
              </a:rPr>
              <a:t>覆盖全球的计算机网络</a:t>
            </a:r>
            <a:r>
              <a:rPr lang="zh-CN" altLang="en-US" smtClean="0">
                <a:ea typeface="黑体" panose="02010609060101010101" pitchFamily="49" charset="-122"/>
              </a:rPr>
              <a:t>。</a:t>
            </a:r>
            <a:endParaRPr lang="en-US" altLang="zh-CN" smtClean="0">
              <a:ea typeface="黑体" panose="02010609060101010101" pitchFamily="49" charset="-122"/>
            </a:endParaRPr>
          </a:p>
          <a:p>
            <a:r>
              <a:rPr lang="zh-CN" altLang="zh-CN" smtClean="0">
                <a:solidFill>
                  <a:srgbClr val="0000CC"/>
                </a:solidFill>
                <a:ea typeface="黑体" panose="02010609060101010101" pitchFamily="49" charset="-122"/>
              </a:rPr>
              <a:t>计算机网络</a:t>
            </a:r>
            <a:r>
              <a:rPr lang="en-US" altLang="zh-CN" smtClean="0">
                <a:solidFill>
                  <a:srgbClr val="0000CC"/>
                </a:solidFill>
                <a:ea typeface="黑体" panose="02010609060101010101" pitchFamily="49" charset="-122"/>
              </a:rPr>
              <a:t> (</a:t>
            </a:r>
            <a:r>
              <a:rPr lang="zh-CN" altLang="zh-CN" smtClean="0">
                <a:solidFill>
                  <a:srgbClr val="0000CC"/>
                </a:solidFill>
                <a:ea typeface="黑体" panose="02010609060101010101" pitchFamily="49" charset="-122"/>
              </a:rPr>
              <a:t>简称为网络</a:t>
            </a:r>
            <a:r>
              <a:rPr lang="en-US" altLang="zh-CN" smtClean="0">
                <a:solidFill>
                  <a:srgbClr val="0000CC"/>
                </a:solidFill>
                <a:ea typeface="黑体" panose="02010609060101010101" pitchFamily="49" charset="-122"/>
              </a:rPr>
              <a:t>)</a:t>
            </a:r>
          </a:p>
          <a:p>
            <a:pPr lvl="1"/>
            <a:r>
              <a:rPr lang="zh-CN" altLang="zh-CN" smtClean="0">
                <a:ea typeface="黑体" panose="02010609060101010101" pitchFamily="49" charset="-122"/>
              </a:rPr>
              <a:t>由若干结点</a:t>
            </a:r>
            <a:r>
              <a:rPr lang="en-US" altLang="zh-CN" smtClean="0">
                <a:ea typeface="黑体" panose="02010609060101010101" pitchFamily="49" charset="-122"/>
              </a:rPr>
              <a:t>(node)</a:t>
            </a:r>
            <a:r>
              <a:rPr lang="zh-CN" altLang="zh-CN" smtClean="0">
                <a:ea typeface="黑体" panose="02010609060101010101" pitchFamily="49" charset="-122"/>
              </a:rPr>
              <a:t>和连接这些结点的链路</a:t>
            </a:r>
            <a:r>
              <a:rPr lang="en-US" altLang="zh-CN" smtClean="0">
                <a:ea typeface="黑体" panose="02010609060101010101" pitchFamily="49" charset="-122"/>
              </a:rPr>
              <a:t>(link)</a:t>
            </a:r>
            <a:r>
              <a:rPr lang="zh-CN" altLang="zh-CN" smtClean="0">
                <a:ea typeface="黑体" panose="02010609060101010101" pitchFamily="49" charset="-122"/>
              </a:rPr>
              <a:t>组成</a:t>
            </a:r>
            <a:r>
              <a:rPr lang="zh-CN" altLang="en-US" smtClean="0">
                <a:ea typeface="黑体" panose="02010609060101010101" pitchFamily="49" charset="-122"/>
              </a:rPr>
              <a:t>。</a:t>
            </a:r>
            <a:endParaRPr lang="en-US" altLang="zh-CN" smtClean="0">
              <a:ea typeface="黑体" panose="02010609060101010101" pitchFamily="49" charset="-122"/>
            </a:endParaRPr>
          </a:p>
          <a:p>
            <a:r>
              <a:rPr lang="zh-CN" altLang="zh-CN" smtClean="0">
                <a:solidFill>
                  <a:srgbClr val="0000CC"/>
                </a:solidFill>
                <a:ea typeface="黑体" panose="02010609060101010101" pitchFamily="49" charset="-122"/>
              </a:rPr>
              <a:t>互连网</a:t>
            </a:r>
            <a:r>
              <a:rPr lang="en-US" altLang="zh-CN" smtClean="0">
                <a:solidFill>
                  <a:srgbClr val="0000CC"/>
                </a:solidFill>
                <a:ea typeface="黑体" panose="02010609060101010101" pitchFamily="49" charset="-122"/>
              </a:rPr>
              <a:t> (internetwork </a:t>
            </a:r>
            <a:r>
              <a:rPr lang="zh-CN" altLang="zh-CN" smtClean="0">
                <a:solidFill>
                  <a:srgbClr val="0000CC"/>
                </a:solidFill>
                <a:ea typeface="黑体" panose="02010609060101010101" pitchFamily="49" charset="-122"/>
              </a:rPr>
              <a:t>或</a:t>
            </a:r>
            <a:r>
              <a:rPr lang="en-US" altLang="zh-CN" smtClean="0">
                <a:solidFill>
                  <a:srgbClr val="0000CC"/>
                </a:solidFill>
                <a:ea typeface="黑体" panose="02010609060101010101" pitchFamily="49" charset="-122"/>
              </a:rPr>
              <a:t> internet)</a:t>
            </a:r>
          </a:p>
          <a:p>
            <a:pPr lvl="1"/>
            <a:r>
              <a:rPr lang="zh-CN" altLang="en-US" smtClean="0">
                <a:ea typeface="黑体" panose="02010609060101010101" pitchFamily="49" charset="-122"/>
              </a:rPr>
              <a:t>可以</a:t>
            </a:r>
            <a:r>
              <a:rPr lang="zh-CN" altLang="zh-CN" smtClean="0">
                <a:ea typeface="黑体" panose="02010609060101010101" pitchFamily="49" charset="-122"/>
              </a:rPr>
              <a:t>通过路由器</a:t>
            </a:r>
            <a:r>
              <a:rPr lang="zh-CN" altLang="en-US" smtClean="0">
                <a:ea typeface="黑体" panose="02010609060101010101" pitchFamily="49" charset="-122"/>
              </a:rPr>
              <a:t>把</a:t>
            </a:r>
            <a:r>
              <a:rPr lang="zh-CN" altLang="zh-CN" smtClean="0">
                <a:ea typeface="黑体" panose="02010609060101010101" pitchFamily="49" charset="-122"/>
              </a:rPr>
              <a:t>网络互连起来，这就构成了一个覆盖范围更大的计算机网络</a:t>
            </a:r>
            <a:r>
              <a:rPr lang="zh-CN" altLang="en-US" smtClean="0">
                <a:ea typeface="黑体" panose="02010609060101010101" pitchFamily="49" charset="-122"/>
              </a:rPr>
              <a:t>，称之为</a:t>
            </a:r>
            <a:r>
              <a:rPr lang="zh-CN" altLang="zh-CN" smtClean="0">
                <a:ea typeface="黑体" panose="02010609060101010101" pitchFamily="49" charset="-122"/>
              </a:rPr>
              <a:t>互连网。</a:t>
            </a:r>
            <a:endParaRPr lang="zh-CN" altLang="en-US" smtClean="0">
              <a:ea typeface="黑体" panose="02010609060101010101" pitchFamily="49" charset="-122"/>
            </a:endParaRPr>
          </a:p>
          <a:p>
            <a:pPr lvl="1"/>
            <a:r>
              <a:rPr lang="zh-CN" altLang="zh-CN" smtClean="0">
                <a:ea typeface="黑体" panose="02010609060101010101" pitchFamily="49" charset="-122"/>
              </a:rPr>
              <a:t>“网络的网络”</a:t>
            </a:r>
            <a:r>
              <a:rPr lang="en-US" altLang="zh-CN" smtClean="0">
                <a:ea typeface="黑体" panose="02010609060101010101" pitchFamily="49" charset="-122"/>
              </a:rPr>
              <a:t>(network of networks)</a:t>
            </a:r>
            <a:r>
              <a:rPr lang="zh-CN" altLang="en-US" smtClean="0">
                <a:ea typeface="黑体" panose="02010609060101010101" pitchFamily="49" charset="-122"/>
              </a:rPr>
              <a:t>。</a:t>
            </a:r>
            <a:endParaRPr lang="en-US" altLang="zh-CN" smtClean="0">
              <a:ea typeface="黑体" panose="02010609060101010101" pitchFamily="49" charset="-122"/>
            </a:endParaRPr>
          </a:p>
        </p:txBody>
      </p:sp>
      <p:sp>
        <p:nvSpPr>
          <p:cNvPr id="17411"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AB3BD12-AE03-44E0-B8B6-B5B80B38E54F}" type="slidenum">
              <a:rPr lang="zh-CN" altLang="en-US" smtClean="0"/>
              <a:pPr eaLnBrk="1" hangingPunct="1"/>
              <a:t>11</a:t>
            </a:fld>
            <a:endParaRPr lang="en-US" altLang="zh-CN" smtClean="0"/>
          </a:p>
        </p:txBody>
      </p:sp>
      <p:sp>
        <p:nvSpPr>
          <p:cNvPr id="17412"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标题 1"/>
          <p:cNvSpPr>
            <a:spLocks noGrp="1" noChangeArrowheads="1"/>
          </p:cNvSpPr>
          <p:nvPr>
            <p:ph type="title"/>
          </p:nvPr>
        </p:nvSpPr>
        <p:spPr/>
        <p:txBody>
          <a:bodyPr/>
          <a:lstStyle/>
          <a:p>
            <a:r>
              <a:rPr lang="en-US" altLang="zh-CN" sz="4000" smtClean="0">
                <a:ea typeface="黑体" panose="02010609060101010101" pitchFamily="49" charset="-122"/>
              </a:rPr>
              <a:t>1.2.1  </a:t>
            </a:r>
            <a:r>
              <a:rPr lang="zh-CN" altLang="en-US" sz="4000" smtClean="0">
                <a:ea typeface="黑体" panose="02010609060101010101" pitchFamily="49" charset="-122"/>
              </a:rPr>
              <a:t>网络的网络</a:t>
            </a:r>
          </a:p>
        </p:txBody>
      </p:sp>
      <p:grpSp>
        <p:nvGrpSpPr>
          <p:cNvPr id="18434" name="组合 206"/>
          <p:cNvGrpSpPr>
            <a:grpSpLocks/>
          </p:cNvGrpSpPr>
          <p:nvPr/>
        </p:nvGrpSpPr>
        <p:grpSpPr bwMode="auto">
          <a:xfrm>
            <a:off x="552450" y="1196975"/>
            <a:ext cx="9153525" cy="4330700"/>
            <a:chOff x="552659" y="1196752"/>
            <a:chExt cx="9152869" cy="4330933"/>
          </a:xfrm>
        </p:grpSpPr>
        <p:grpSp>
          <p:nvGrpSpPr>
            <p:cNvPr id="18435" name="组合 176"/>
            <p:cNvGrpSpPr>
              <a:grpSpLocks/>
            </p:cNvGrpSpPr>
            <p:nvPr/>
          </p:nvGrpSpPr>
          <p:grpSpPr bwMode="auto">
            <a:xfrm>
              <a:off x="2293827" y="1196752"/>
              <a:ext cx="3324001" cy="3565503"/>
              <a:chOff x="2504629" y="1635667"/>
              <a:chExt cx="2915723" cy="2907445"/>
            </a:xfrm>
          </p:grpSpPr>
          <p:sp>
            <p:nvSpPr>
              <p:cNvPr id="19" name="Text Box 1183"/>
              <p:cNvSpPr txBox="1">
                <a:spLocks noChangeArrowheads="1"/>
              </p:cNvSpPr>
              <p:nvPr/>
            </p:nvSpPr>
            <p:spPr bwMode="auto">
              <a:xfrm>
                <a:off x="3806705" y="4241651"/>
                <a:ext cx="413547" cy="301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1800" b="1" kern="0" dirty="0">
                    <a:solidFill>
                      <a:srgbClr val="000000"/>
                    </a:solidFill>
                  </a:rPr>
                  <a:t>(a)</a:t>
                </a:r>
              </a:p>
            </p:txBody>
          </p:sp>
          <p:grpSp>
            <p:nvGrpSpPr>
              <p:cNvPr id="18437" name="Group 1282"/>
              <p:cNvGrpSpPr>
                <a:grpSpLocks/>
              </p:cNvGrpSpPr>
              <p:nvPr/>
            </p:nvGrpSpPr>
            <p:grpSpPr bwMode="auto">
              <a:xfrm>
                <a:off x="2504629" y="2111400"/>
                <a:ext cx="2741613" cy="1844675"/>
                <a:chOff x="1680" y="240"/>
                <a:chExt cx="2529" cy="1270"/>
              </a:xfrm>
            </p:grpSpPr>
            <p:sp>
              <p:nvSpPr>
                <p:cNvPr id="22" name="Oval 1283"/>
                <p:cNvSpPr>
                  <a:spLocks noChangeArrowheads="1"/>
                </p:cNvSpPr>
                <p:nvPr/>
              </p:nvSpPr>
              <p:spPr bwMode="auto">
                <a:xfrm>
                  <a:off x="2554" y="240"/>
                  <a:ext cx="1089" cy="513"/>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23" name="Oval 1284"/>
                <p:cNvSpPr>
                  <a:spLocks noChangeArrowheads="1"/>
                </p:cNvSpPr>
                <p:nvPr/>
              </p:nvSpPr>
              <p:spPr bwMode="auto">
                <a:xfrm>
                  <a:off x="1941" y="381"/>
                  <a:ext cx="827" cy="513"/>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24" name="Oval 1285"/>
                <p:cNvSpPr>
                  <a:spLocks noChangeArrowheads="1"/>
                </p:cNvSpPr>
                <p:nvPr/>
              </p:nvSpPr>
              <p:spPr bwMode="auto">
                <a:xfrm>
                  <a:off x="1680" y="702"/>
                  <a:ext cx="552" cy="412"/>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25" name="Oval 1286"/>
                <p:cNvSpPr>
                  <a:spLocks noChangeArrowheads="1"/>
                </p:cNvSpPr>
                <p:nvPr/>
              </p:nvSpPr>
              <p:spPr bwMode="auto">
                <a:xfrm>
                  <a:off x="1850" y="895"/>
                  <a:ext cx="841" cy="450"/>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26" name="Oval 1287"/>
                <p:cNvSpPr>
                  <a:spLocks noChangeArrowheads="1"/>
                </p:cNvSpPr>
                <p:nvPr/>
              </p:nvSpPr>
              <p:spPr bwMode="auto">
                <a:xfrm>
                  <a:off x="2462" y="971"/>
                  <a:ext cx="1272" cy="539"/>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27" name="Oval 1288"/>
                <p:cNvSpPr>
                  <a:spLocks noChangeArrowheads="1"/>
                </p:cNvSpPr>
                <p:nvPr/>
              </p:nvSpPr>
              <p:spPr bwMode="auto">
                <a:xfrm>
                  <a:off x="3290" y="395"/>
                  <a:ext cx="796" cy="398"/>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28" name="Oval 1289"/>
                <p:cNvSpPr>
                  <a:spLocks noChangeArrowheads="1"/>
                </p:cNvSpPr>
                <p:nvPr/>
              </p:nvSpPr>
              <p:spPr bwMode="auto">
                <a:xfrm>
                  <a:off x="3412" y="664"/>
                  <a:ext cx="798" cy="398"/>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29" name="Oval 1290"/>
                <p:cNvSpPr>
                  <a:spLocks noChangeArrowheads="1"/>
                </p:cNvSpPr>
                <p:nvPr/>
              </p:nvSpPr>
              <p:spPr bwMode="auto">
                <a:xfrm>
                  <a:off x="3336" y="754"/>
                  <a:ext cx="796" cy="668"/>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30" name="Oval 1291"/>
                <p:cNvSpPr>
                  <a:spLocks noChangeArrowheads="1"/>
                </p:cNvSpPr>
                <p:nvPr/>
              </p:nvSpPr>
              <p:spPr bwMode="auto">
                <a:xfrm>
                  <a:off x="2140" y="549"/>
                  <a:ext cx="1640" cy="667"/>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grpSp>
          <p:sp>
            <p:nvSpPr>
              <p:cNvPr id="31" name="Line 1503"/>
              <p:cNvSpPr>
                <a:spLocks noChangeShapeType="1"/>
              </p:cNvSpPr>
              <p:nvPr/>
            </p:nvSpPr>
            <p:spPr bwMode="auto">
              <a:xfrm flipH="1" flipV="1">
                <a:off x="4087972" y="2398173"/>
                <a:ext cx="726839" cy="93727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32" name="Text Box 1185"/>
              <p:cNvSpPr txBox="1">
                <a:spLocks noChangeArrowheads="1"/>
              </p:cNvSpPr>
              <p:nvPr/>
            </p:nvSpPr>
            <p:spPr bwMode="auto">
              <a:xfrm>
                <a:off x="2816700" y="1635667"/>
                <a:ext cx="2603810" cy="376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b="1" kern="0" dirty="0">
                    <a:solidFill>
                      <a:srgbClr val="000000"/>
                    </a:solidFill>
                  </a:rPr>
                  <a:t>计算机网络（网络）</a:t>
                </a:r>
              </a:p>
            </p:txBody>
          </p:sp>
          <p:sp>
            <p:nvSpPr>
              <p:cNvPr id="119" name="Line 1209"/>
              <p:cNvSpPr>
                <a:spLocks noChangeShapeType="1"/>
              </p:cNvSpPr>
              <p:nvPr/>
            </p:nvSpPr>
            <p:spPr bwMode="auto">
              <a:xfrm flipV="1">
                <a:off x="2936448" y="2398173"/>
                <a:ext cx="935701" cy="64987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20" name="Line 1204"/>
              <p:cNvSpPr>
                <a:spLocks noChangeShapeType="1"/>
              </p:cNvSpPr>
              <p:nvPr/>
            </p:nvSpPr>
            <p:spPr bwMode="auto">
              <a:xfrm flipV="1">
                <a:off x="3728730" y="2398173"/>
                <a:ext cx="215824" cy="108226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000" b="1" kern="0">
                  <a:solidFill>
                    <a:sysClr val="windowText" lastClr="000000"/>
                  </a:solidFill>
                </a:endParaRPr>
              </a:p>
            </p:txBody>
          </p:sp>
          <p:pic>
            <p:nvPicPr>
              <p:cNvPr id="18451" name="Picture 126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91967" y="2903563"/>
                <a:ext cx="309562"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52" name="Picture 151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12692" y="3406800"/>
                <a:ext cx="309562"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53" name="Picture 1518"/>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36654" y="3263925"/>
                <a:ext cx="309563"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54" name="Picture 146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959483">
                <a:off x="3742879" y="2298725"/>
                <a:ext cx="434975" cy="255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 name="Oval 1520"/>
              <p:cNvSpPr>
                <a:spLocks noChangeArrowheads="1"/>
              </p:cNvSpPr>
              <p:nvPr/>
            </p:nvSpPr>
            <p:spPr bwMode="auto">
              <a:xfrm>
                <a:off x="4672785" y="3195632"/>
                <a:ext cx="431648" cy="432389"/>
              </a:xfrm>
              <a:prstGeom prst="ellipse">
                <a:avLst/>
              </a:prstGeom>
              <a:noFill/>
              <a:ln w="9525">
                <a:solidFill>
                  <a:srgbClr val="000000"/>
                </a:solidFill>
                <a:prstDash val="dash"/>
                <a:round/>
              </a:ln>
              <a:extLst>
                <a:ext uri="{909E8E84-426E-40DD-AFC4-6F175D3DCCD1}">
                  <a14:hiddenFill xmlns:a14="http://schemas.microsoft.com/office/drawing/2010/main">
                    <a:solidFill>
                      <a:srgbClr val="FFFFFF"/>
                    </a:solidFill>
                  </a14:hiddenFill>
                </a:ext>
              </a:extLst>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65" name="Text Box 1523"/>
              <p:cNvSpPr txBox="1">
                <a:spLocks noChangeArrowheads="1"/>
              </p:cNvSpPr>
              <p:nvPr/>
            </p:nvSpPr>
            <p:spPr bwMode="auto">
              <a:xfrm>
                <a:off x="4160377" y="2135374"/>
                <a:ext cx="591776" cy="3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1800" b="1" kern="0">
                    <a:solidFill>
                      <a:srgbClr val="000000"/>
                    </a:solidFill>
                  </a:rPr>
                  <a:t>结点</a:t>
                </a:r>
              </a:p>
            </p:txBody>
          </p:sp>
          <p:sp>
            <p:nvSpPr>
              <p:cNvPr id="166" name="Text Box 1524"/>
              <p:cNvSpPr txBox="1">
                <a:spLocks noChangeArrowheads="1"/>
              </p:cNvSpPr>
              <p:nvPr/>
            </p:nvSpPr>
            <p:spPr bwMode="auto">
              <a:xfrm>
                <a:off x="4433290" y="2638964"/>
                <a:ext cx="591776" cy="30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1800" b="1" kern="0">
                    <a:solidFill>
                      <a:srgbClr val="000000"/>
                    </a:solidFill>
                  </a:rPr>
                  <a:t>链路</a:t>
                </a:r>
              </a:p>
            </p:txBody>
          </p:sp>
          <p:sp>
            <p:nvSpPr>
              <p:cNvPr id="167" name="Oval 1527"/>
              <p:cNvSpPr>
                <a:spLocks noChangeArrowheads="1"/>
              </p:cNvSpPr>
              <p:nvPr/>
            </p:nvSpPr>
            <p:spPr bwMode="auto">
              <a:xfrm>
                <a:off x="3746832" y="2192335"/>
                <a:ext cx="431648" cy="432389"/>
              </a:xfrm>
              <a:prstGeom prst="ellipse">
                <a:avLst/>
              </a:prstGeom>
              <a:noFill/>
              <a:ln w="9525">
                <a:solidFill>
                  <a:srgbClr val="000000"/>
                </a:solidFill>
                <a:prstDash val="dash"/>
                <a:round/>
              </a:ln>
              <a:extLst>
                <a:ext uri="{909E8E84-426E-40DD-AFC4-6F175D3DCCD1}">
                  <a14:hiddenFill xmlns:a14="http://schemas.microsoft.com/office/drawing/2010/main">
                    <a:solidFill>
                      <a:srgbClr val="FFFFFF"/>
                    </a:solidFill>
                  </a14:hiddenFill>
                </a:ext>
              </a:extLst>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68" name="Oval 1528"/>
              <p:cNvSpPr>
                <a:spLocks noChangeArrowheads="1"/>
              </p:cNvSpPr>
              <p:nvPr/>
            </p:nvSpPr>
            <p:spPr bwMode="auto">
              <a:xfrm>
                <a:off x="2742902" y="2865515"/>
                <a:ext cx="431648" cy="432389"/>
              </a:xfrm>
              <a:prstGeom prst="ellipse">
                <a:avLst/>
              </a:prstGeom>
              <a:noFill/>
              <a:ln w="9525">
                <a:solidFill>
                  <a:srgbClr val="000000"/>
                </a:solidFill>
                <a:prstDash val="dash"/>
                <a:round/>
              </a:ln>
              <a:extLst>
                <a:ext uri="{909E8E84-426E-40DD-AFC4-6F175D3DCCD1}">
                  <a14:hiddenFill xmlns:a14="http://schemas.microsoft.com/office/drawing/2010/main">
                    <a:solidFill>
                      <a:srgbClr val="FFFFFF"/>
                    </a:solidFill>
                  </a14:hiddenFill>
                </a:ext>
              </a:extLst>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69" name="Oval 1529"/>
              <p:cNvSpPr>
                <a:spLocks noChangeArrowheads="1"/>
              </p:cNvSpPr>
              <p:nvPr/>
            </p:nvSpPr>
            <p:spPr bwMode="auto">
              <a:xfrm>
                <a:off x="3454425" y="3361338"/>
                <a:ext cx="431648" cy="431094"/>
              </a:xfrm>
              <a:prstGeom prst="ellipse">
                <a:avLst/>
              </a:prstGeom>
              <a:noFill/>
              <a:ln w="9525">
                <a:solidFill>
                  <a:srgbClr val="000000"/>
                </a:solidFill>
                <a:prstDash val="dash"/>
                <a:round/>
              </a:ln>
              <a:extLst>
                <a:ext uri="{909E8E84-426E-40DD-AFC4-6F175D3DCCD1}">
                  <a14:hiddenFill xmlns:a14="http://schemas.microsoft.com/office/drawing/2010/main">
                    <a:solidFill>
                      <a:srgbClr val="FFFFFF"/>
                    </a:solidFill>
                  </a14:hiddenFill>
                </a:ext>
              </a:extLst>
            </p:spPr>
            <p:txBody>
              <a:bodyPr wrap="none" anchor="ctr"/>
              <a:lstStyle/>
              <a:p>
                <a:pPr fontAlgn="auto">
                  <a:spcBef>
                    <a:spcPts val="0"/>
                  </a:spcBef>
                  <a:spcAft>
                    <a:spcPts val="0"/>
                  </a:spcAft>
                  <a:defRPr/>
                </a:pPr>
                <a:endParaRPr lang="zh-CN" altLang="en-US" sz="2000" b="1" kern="0">
                  <a:solidFill>
                    <a:sysClr val="windowText" lastClr="000000"/>
                  </a:solidFill>
                </a:endParaRPr>
              </a:p>
            </p:txBody>
          </p:sp>
        </p:grpSp>
        <p:grpSp>
          <p:nvGrpSpPr>
            <p:cNvPr id="18461" name="组合 177"/>
            <p:cNvGrpSpPr>
              <a:grpSpLocks/>
            </p:cNvGrpSpPr>
            <p:nvPr/>
          </p:nvGrpSpPr>
          <p:grpSpPr bwMode="auto">
            <a:xfrm>
              <a:off x="5655531" y="1196753"/>
              <a:ext cx="4049997" cy="3600399"/>
              <a:chOff x="5457379" y="1564229"/>
              <a:chExt cx="3552547" cy="2935901"/>
            </a:xfrm>
          </p:grpSpPr>
          <p:grpSp>
            <p:nvGrpSpPr>
              <p:cNvPr id="18462" name="Group 1504"/>
              <p:cNvGrpSpPr>
                <a:grpSpLocks/>
              </p:cNvGrpSpPr>
              <p:nvPr/>
            </p:nvGrpSpPr>
            <p:grpSpPr bwMode="auto">
              <a:xfrm>
                <a:off x="5457379" y="1966938"/>
                <a:ext cx="3527425" cy="2160587"/>
                <a:chOff x="109" y="1226"/>
                <a:chExt cx="2516" cy="1675"/>
              </a:xfrm>
            </p:grpSpPr>
            <p:grpSp>
              <p:nvGrpSpPr>
                <p:cNvPr id="18463" name="Group 1505"/>
                <p:cNvGrpSpPr>
                  <a:grpSpLocks/>
                </p:cNvGrpSpPr>
                <p:nvPr/>
              </p:nvGrpSpPr>
              <p:grpSpPr bwMode="auto">
                <a:xfrm>
                  <a:off x="109" y="1226"/>
                  <a:ext cx="2516" cy="1675"/>
                  <a:chOff x="109" y="1226"/>
                  <a:chExt cx="2516" cy="1675"/>
                </a:xfrm>
              </p:grpSpPr>
              <p:grpSp>
                <p:nvGrpSpPr>
                  <p:cNvPr id="18464" name="Group 1506"/>
                  <p:cNvGrpSpPr>
                    <a:grpSpLocks/>
                  </p:cNvGrpSpPr>
                  <p:nvPr/>
                </p:nvGrpSpPr>
                <p:grpSpPr bwMode="auto">
                  <a:xfrm>
                    <a:off x="109" y="1226"/>
                    <a:ext cx="2516" cy="1675"/>
                    <a:chOff x="109" y="1226"/>
                    <a:chExt cx="2516" cy="1675"/>
                  </a:xfrm>
                </p:grpSpPr>
                <p:sp>
                  <p:nvSpPr>
                    <p:cNvPr id="10" name="Oval 1507"/>
                    <p:cNvSpPr>
                      <a:spLocks noChangeArrowheads="1"/>
                    </p:cNvSpPr>
                    <p:nvPr/>
                  </p:nvSpPr>
                  <p:spPr bwMode="auto">
                    <a:xfrm>
                      <a:off x="1749" y="1896"/>
                      <a:ext cx="876" cy="829"/>
                    </a:xfrm>
                    <a:prstGeom prst="ellipse">
                      <a:avLst/>
                    </a:prstGeom>
                    <a:solidFill>
                      <a:srgbClr val="DDDDDD"/>
                    </a:solidFill>
                    <a:ln w="9525">
                      <a:solidFill>
                        <a:srgbClr val="000000"/>
                      </a:solidFill>
                      <a:prstDash val="dash"/>
                      <a:round/>
                    </a:ln>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1" name="Oval 1508"/>
                    <p:cNvSpPr>
                      <a:spLocks noChangeArrowheads="1"/>
                    </p:cNvSpPr>
                    <p:nvPr/>
                  </p:nvSpPr>
                  <p:spPr bwMode="auto">
                    <a:xfrm>
                      <a:off x="109" y="1632"/>
                      <a:ext cx="859" cy="831"/>
                    </a:xfrm>
                    <a:prstGeom prst="ellipse">
                      <a:avLst/>
                    </a:prstGeom>
                    <a:solidFill>
                      <a:srgbClr val="DDDDDD"/>
                    </a:solidFill>
                    <a:ln w="9525">
                      <a:solidFill>
                        <a:srgbClr val="000000"/>
                      </a:solidFill>
                      <a:prstDash val="dash"/>
                      <a:round/>
                    </a:ln>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2" name="Oval 1509"/>
                    <p:cNvSpPr>
                      <a:spLocks noChangeArrowheads="1"/>
                    </p:cNvSpPr>
                    <p:nvPr/>
                  </p:nvSpPr>
                  <p:spPr bwMode="auto">
                    <a:xfrm>
                      <a:off x="1612" y="1341"/>
                      <a:ext cx="874" cy="802"/>
                    </a:xfrm>
                    <a:prstGeom prst="ellipse">
                      <a:avLst/>
                    </a:prstGeom>
                    <a:solidFill>
                      <a:srgbClr val="DDDDDD"/>
                    </a:solidFill>
                    <a:ln w="9525">
                      <a:solidFill>
                        <a:srgbClr val="000000"/>
                      </a:solidFill>
                      <a:prstDash val="dash"/>
                      <a:round/>
                    </a:ln>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3" name="Oval 1510"/>
                    <p:cNvSpPr>
                      <a:spLocks noChangeArrowheads="1"/>
                    </p:cNvSpPr>
                    <p:nvPr/>
                  </p:nvSpPr>
                  <p:spPr bwMode="auto">
                    <a:xfrm>
                      <a:off x="1152" y="2055"/>
                      <a:ext cx="875" cy="846"/>
                    </a:xfrm>
                    <a:prstGeom prst="ellipse">
                      <a:avLst/>
                    </a:prstGeom>
                    <a:solidFill>
                      <a:srgbClr val="DDDDDD"/>
                    </a:solidFill>
                    <a:ln w="9525">
                      <a:solidFill>
                        <a:srgbClr val="000000"/>
                      </a:solidFill>
                      <a:prstDash val="dash"/>
                      <a:round/>
                    </a:ln>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4" name="Oval 1511"/>
                    <p:cNvSpPr>
                      <a:spLocks noChangeArrowheads="1"/>
                    </p:cNvSpPr>
                    <p:nvPr/>
                  </p:nvSpPr>
                  <p:spPr bwMode="auto">
                    <a:xfrm>
                      <a:off x="400" y="1982"/>
                      <a:ext cx="874" cy="802"/>
                    </a:xfrm>
                    <a:prstGeom prst="ellipse">
                      <a:avLst/>
                    </a:prstGeom>
                    <a:solidFill>
                      <a:srgbClr val="DDDDDD"/>
                    </a:solidFill>
                    <a:ln w="9525">
                      <a:solidFill>
                        <a:srgbClr val="000000"/>
                      </a:solidFill>
                      <a:prstDash val="dash"/>
                      <a:round/>
                    </a:ln>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5" name="Oval 1512"/>
                    <p:cNvSpPr>
                      <a:spLocks noChangeArrowheads="1"/>
                    </p:cNvSpPr>
                    <p:nvPr/>
                  </p:nvSpPr>
                  <p:spPr bwMode="auto">
                    <a:xfrm>
                      <a:off x="1076" y="1226"/>
                      <a:ext cx="858" cy="829"/>
                    </a:xfrm>
                    <a:prstGeom prst="ellipse">
                      <a:avLst/>
                    </a:prstGeom>
                    <a:solidFill>
                      <a:srgbClr val="DDDDDD"/>
                    </a:solidFill>
                    <a:ln w="9525">
                      <a:solidFill>
                        <a:srgbClr val="000000"/>
                      </a:solidFill>
                      <a:prstDash val="dash"/>
                      <a:round/>
                    </a:ln>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6" name="Oval 1513"/>
                    <p:cNvSpPr>
                      <a:spLocks noChangeArrowheads="1"/>
                    </p:cNvSpPr>
                    <p:nvPr/>
                  </p:nvSpPr>
                  <p:spPr bwMode="auto">
                    <a:xfrm>
                      <a:off x="524" y="1226"/>
                      <a:ext cx="859" cy="799"/>
                    </a:xfrm>
                    <a:prstGeom prst="ellipse">
                      <a:avLst/>
                    </a:prstGeom>
                    <a:solidFill>
                      <a:srgbClr val="DDDDDD"/>
                    </a:solidFill>
                    <a:ln w="9525">
                      <a:solidFill>
                        <a:srgbClr val="000000"/>
                      </a:solidFill>
                      <a:prstDash val="dash"/>
                      <a:round/>
                    </a:ln>
                  </p:spPr>
                  <p:txBody>
                    <a:bodyPr/>
                    <a:lstStyle/>
                    <a:p>
                      <a:pPr fontAlgn="auto">
                        <a:spcBef>
                          <a:spcPts val="0"/>
                        </a:spcBef>
                        <a:spcAft>
                          <a:spcPts val="0"/>
                        </a:spcAft>
                        <a:defRPr/>
                      </a:pPr>
                      <a:endParaRPr lang="zh-CN" altLang="en-US" sz="2000" b="1" kern="0">
                        <a:solidFill>
                          <a:sysClr val="windowText" lastClr="000000"/>
                        </a:solidFill>
                      </a:endParaRPr>
                    </a:p>
                  </p:txBody>
                </p:sp>
              </p:grpSp>
              <p:sp>
                <p:nvSpPr>
                  <p:cNvPr id="9" name="Oval 1514"/>
                  <p:cNvSpPr>
                    <a:spLocks noChangeArrowheads="1"/>
                  </p:cNvSpPr>
                  <p:nvPr/>
                </p:nvSpPr>
                <p:spPr bwMode="auto">
                  <a:xfrm>
                    <a:off x="340" y="1414"/>
                    <a:ext cx="2085" cy="1152"/>
                  </a:xfrm>
                  <a:prstGeom prst="ellipse">
                    <a:avLst/>
                  </a:prstGeom>
                  <a:solidFill>
                    <a:srgbClr val="DDDDDD"/>
                  </a:solidFill>
                  <a:ln>
                    <a:noFill/>
                  </a:ln>
                  <a:extLst>
                    <a:ext uri="{91240B29-F687-4F45-9708-019B960494DF}">
                      <a14:hiddenLine xmlns:a14="http://schemas.microsoft.com/office/drawing/2010/main" w="9525">
                        <a:solidFill>
                          <a:srgbClr val="000000"/>
                        </a:solidFill>
                        <a:prstDash val="dash"/>
                        <a:roun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grpSp>
            <p:sp>
              <p:nvSpPr>
                <p:cNvPr id="7" name="Freeform 1515"/>
                <p:cNvSpPr/>
                <p:nvPr/>
              </p:nvSpPr>
              <p:spPr bwMode="auto">
                <a:xfrm>
                  <a:off x="349" y="2192"/>
                  <a:ext cx="125" cy="224"/>
                </a:xfrm>
                <a:custGeom>
                  <a:avLst/>
                  <a:gdLst>
                    <a:gd name="T0" fmla="*/ 68 w 126"/>
                    <a:gd name="T1" fmla="*/ 0 h 224"/>
                    <a:gd name="T2" fmla="*/ 92 w 126"/>
                    <a:gd name="T3" fmla="*/ 24 h 224"/>
                    <a:gd name="T4" fmla="*/ 116 w 126"/>
                    <a:gd name="T5" fmla="*/ 40 h 224"/>
                    <a:gd name="T6" fmla="*/ 76 w 126"/>
                    <a:gd name="T7" fmla="*/ 216 h 224"/>
                    <a:gd name="T8" fmla="*/ 52 w 126"/>
                    <a:gd name="T9" fmla="*/ 224 h 224"/>
                    <a:gd name="T10" fmla="*/ 36 w 126"/>
                    <a:gd name="T11" fmla="*/ 128 h 224"/>
                    <a:gd name="T12" fmla="*/ 68 w 126"/>
                    <a:gd name="T13" fmla="*/ 0 h 224"/>
                    <a:gd name="T14" fmla="*/ 0 60000 65536"/>
                    <a:gd name="T15" fmla="*/ 0 60000 65536"/>
                    <a:gd name="T16" fmla="*/ 0 60000 65536"/>
                    <a:gd name="T17" fmla="*/ 0 60000 65536"/>
                    <a:gd name="T18" fmla="*/ 0 60000 65536"/>
                    <a:gd name="T19" fmla="*/ 0 60000 65536"/>
                    <a:gd name="T20" fmla="*/ 0 60000 65536"/>
                    <a:gd name="T21" fmla="*/ 0 w 126"/>
                    <a:gd name="T22" fmla="*/ 0 h 224"/>
                    <a:gd name="T23" fmla="*/ 126 w 126"/>
                    <a:gd name="T24" fmla="*/ 224 h 2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6" h="224">
                      <a:moveTo>
                        <a:pt x="68" y="0"/>
                      </a:moveTo>
                      <a:cubicBezTo>
                        <a:pt x="76" y="8"/>
                        <a:pt x="83" y="17"/>
                        <a:pt x="92" y="24"/>
                      </a:cubicBezTo>
                      <a:cubicBezTo>
                        <a:pt x="99" y="30"/>
                        <a:pt x="114" y="31"/>
                        <a:pt x="116" y="40"/>
                      </a:cubicBezTo>
                      <a:cubicBezTo>
                        <a:pt x="126" y="99"/>
                        <a:pt x="94" y="162"/>
                        <a:pt x="76" y="216"/>
                      </a:cubicBezTo>
                      <a:cubicBezTo>
                        <a:pt x="73" y="224"/>
                        <a:pt x="60" y="221"/>
                        <a:pt x="52" y="224"/>
                      </a:cubicBezTo>
                      <a:cubicBezTo>
                        <a:pt x="0" y="207"/>
                        <a:pt x="22" y="170"/>
                        <a:pt x="36" y="128"/>
                      </a:cubicBezTo>
                      <a:cubicBezTo>
                        <a:pt x="41" y="74"/>
                        <a:pt x="32" y="36"/>
                        <a:pt x="68" y="0"/>
                      </a:cubicBez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fontAlgn="auto">
                    <a:spcBef>
                      <a:spcPts val="0"/>
                    </a:spcBef>
                    <a:spcAft>
                      <a:spcPts val="0"/>
                    </a:spcAft>
                    <a:defRPr/>
                  </a:pPr>
                  <a:endParaRPr lang="zh-CN" altLang="en-US" sz="2000" b="1" kern="0">
                    <a:solidFill>
                      <a:sysClr val="windowText" lastClr="000000"/>
                    </a:solidFill>
                  </a:endParaRPr>
                </a:p>
              </p:txBody>
            </p:sp>
          </p:grpSp>
          <p:sp>
            <p:nvSpPr>
              <p:cNvPr id="17" name="Line 1481"/>
              <p:cNvSpPr>
                <a:spLocks noChangeShapeType="1"/>
              </p:cNvSpPr>
              <p:nvPr/>
            </p:nvSpPr>
            <p:spPr bwMode="auto">
              <a:xfrm flipH="1">
                <a:off x="7184474" y="3119016"/>
                <a:ext cx="72405" cy="57738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8" name="Line 1480"/>
              <p:cNvSpPr>
                <a:spLocks noChangeShapeType="1"/>
              </p:cNvSpPr>
              <p:nvPr/>
            </p:nvSpPr>
            <p:spPr bwMode="auto">
              <a:xfrm flipH="1" flipV="1">
                <a:off x="6740294" y="2823852"/>
                <a:ext cx="444180" cy="22396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20" name="Text Box 1184"/>
              <p:cNvSpPr txBox="1">
                <a:spLocks noChangeArrowheads="1"/>
              </p:cNvSpPr>
              <p:nvPr/>
            </p:nvSpPr>
            <p:spPr bwMode="auto">
              <a:xfrm>
                <a:off x="7268019" y="4198693"/>
                <a:ext cx="424685" cy="301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1800" b="1" kern="0">
                    <a:solidFill>
                      <a:srgbClr val="000000"/>
                    </a:solidFill>
                  </a:rPr>
                  <a:t>(b)</a:t>
                </a:r>
              </a:p>
            </p:txBody>
          </p:sp>
          <p:sp>
            <p:nvSpPr>
              <p:cNvPr id="33" name="Line 1296"/>
              <p:cNvSpPr>
                <a:spLocks noChangeShapeType="1"/>
              </p:cNvSpPr>
              <p:nvPr/>
            </p:nvSpPr>
            <p:spPr bwMode="auto">
              <a:xfrm flipH="1" flipV="1">
                <a:off x="6527256" y="3578590"/>
                <a:ext cx="1162664" cy="18900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34" name="Line 1297"/>
              <p:cNvSpPr>
                <a:spLocks noChangeShapeType="1"/>
              </p:cNvSpPr>
              <p:nvPr/>
            </p:nvSpPr>
            <p:spPr bwMode="auto">
              <a:xfrm flipV="1">
                <a:off x="6752827" y="2255532"/>
                <a:ext cx="359242" cy="712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35" name="Text Box 1318"/>
              <p:cNvSpPr txBox="1">
                <a:spLocks noChangeArrowheads="1"/>
              </p:cNvSpPr>
              <p:nvPr/>
            </p:nvSpPr>
            <p:spPr bwMode="auto">
              <a:xfrm>
                <a:off x="5911810" y="1564228"/>
                <a:ext cx="2875330" cy="376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b="1" kern="0" dirty="0">
                    <a:solidFill>
                      <a:srgbClr val="000000"/>
                    </a:solidFill>
                  </a:rPr>
                  <a:t>互连网（网络的网络）</a:t>
                </a:r>
              </a:p>
            </p:txBody>
          </p:sp>
          <p:sp>
            <p:nvSpPr>
              <p:cNvPr id="36" name="Line 1440"/>
              <p:cNvSpPr>
                <a:spLocks noChangeShapeType="1"/>
              </p:cNvSpPr>
              <p:nvPr/>
            </p:nvSpPr>
            <p:spPr bwMode="auto">
              <a:xfrm flipH="1">
                <a:off x="6105354" y="2831620"/>
                <a:ext cx="647472" cy="7249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37" name="Line 1443"/>
              <p:cNvSpPr>
                <a:spLocks noChangeShapeType="1"/>
              </p:cNvSpPr>
              <p:nvPr/>
            </p:nvSpPr>
            <p:spPr bwMode="auto">
              <a:xfrm>
                <a:off x="7400298" y="2255532"/>
                <a:ext cx="431648" cy="14369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38" name="Line 1444"/>
              <p:cNvSpPr>
                <a:spLocks noChangeShapeType="1"/>
              </p:cNvSpPr>
              <p:nvPr/>
            </p:nvSpPr>
            <p:spPr bwMode="auto">
              <a:xfrm>
                <a:off x="7976756" y="2471727"/>
                <a:ext cx="647472" cy="64728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39" name="Line 1446"/>
              <p:cNvSpPr>
                <a:spLocks noChangeShapeType="1"/>
              </p:cNvSpPr>
              <p:nvPr/>
            </p:nvSpPr>
            <p:spPr bwMode="auto">
              <a:xfrm flipH="1">
                <a:off x="7831945" y="2542928"/>
                <a:ext cx="73798" cy="43238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40" name="Line 1447"/>
              <p:cNvSpPr>
                <a:spLocks noChangeShapeType="1"/>
              </p:cNvSpPr>
              <p:nvPr/>
            </p:nvSpPr>
            <p:spPr bwMode="auto">
              <a:xfrm flipV="1">
                <a:off x="6740294" y="2471727"/>
                <a:ext cx="949625" cy="33788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41" name="Line 1448"/>
              <p:cNvSpPr>
                <a:spLocks noChangeShapeType="1"/>
              </p:cNvSpPr>
              <p:nvPr/>
            </p:nvSpPr>
            <p:spPr bwMode="auto">
              <a:xfrm>
                <a:off x="6537002" y="2399231"/>
                <a:ext cx="144811" cy="43109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42" name="Line 1449"/>
              <p:cNvSpPr>
                <a:spLocks noChangeShapeType="1"/>
              </p:cNvSpPr>
              <p:nvPr/>
            </p:nvSpPr>
            <p:spPr bwMode="auto">
              <a:xfrm flipV="1">
                <a:off x="7258272" y="3047814"/>
                <a:ext cx="502661" cy="14369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43" name="Line 1452"/>
              <p:cNvSpPr>
                <a:spLocks noChangeShapeType="1"/>
              </p:cNvSpPr>
              <p:nvPr/>
            </p:nvSpPr>
            <p:spPr bwMode="auto">
              <a:xfrm>
                <a:off x="7905744" y="3047814"/>
                <a:ext cx="647471" cy="712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44" name="Line 1453"/>
              <p:cNvSpPr>
                <a:spLocks noChangeShapeType="1"/>
              </p:cNvSpPr>
              <p:nvPr/>
            </p:nvSpPr>
            <p:spPr bwMode="auto">
              <a:xfrm flipH="1">
                <a:off x="6446496" y="2940364"/>
                <a:ext cx="215823" cy="50359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45" name="Line 1456"/>
              <p:cNvSpPr>
                <a:spLocks noChangeShapeType="1"/>
              </p:cNvSpPr>
              <p:nvPr/>
            </p:nvSpPr>
            <p:spPr bwMode="auto">
              <a:xfrm>
                <a:off x="7831945" y="3119016"/>
                <a:ext cx="0" cy="50359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000" b="1" kern="0">
                  <a:solidFill>
                    <a:sysClr val="windowText" lastClr="000000"/>
                  </a:solidFill>
                </a:endParaRPr>
              </a:p>
            </p:txBody>
          </p:sp>
          <p:grpSp>
            <p:nvGrpSpPr>
              <p:cNvPr id="18490" name="Group 1320"/>
              <p:cNvGrpSpPr>
                <a:grpSpLocks/>
              </p:cNvGrpSpPr>
              <p:nvPr/>
            </p:nvGrpSpPr>
            <p:grpSpPr bwMode="auto">
              <a:xfrm>
                <a:off x="6176517" y="2182838"/>
                <a:ext cx="647700" cy="360362"/>
                <a:chOff x="2949" y="196"/>
                <a:chExt cx="941" cy="598"/>
              </a:xfrm>
            </p:grpSpPr>
            <p:sp>
              <p:nvSpPr>
                <p:cNvPr id="47" name="Oval 1321"/>
                <p:cNvSpPr>
                  <a:spLocks noChangeArrowheads="1"/>
                </p:cNvSpPr>
                <p:nvPr/>
              </p:nvSpPr>
              <p:spPr bwMode="auto">
                <a:xfrm>
                  <a:off x="3167" y="196"/>
                  <a:ext cx="407" cy="161"/>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48" name="Oval 1322"/>
                <p:cNvSpPr>
                  <a:spLocks noChangeArrowheads="1"/>
                </p:cNvSpPr>
                <p:nvPr/>
              </p:nvSpPr>
              <p:spPr bwMode="auto">
                <a:xfrm rot="900000">
                  <a:off x="3511" y="252"/>
                  <a:ext cx="275" cy="131"/>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49" name="Oval 1323"/>
                <p:cNvSpPr>
                  <a:spLocks noChangeArrowheads="1"/>
                </p:cNvSpPr>
                <p:nvPr/>
              </p:nvSpPr>
              <p:spPr bwMode="auto">
                <a:xfrm rot="1500000">
                  <a:off x="3649" y="385"/>
                  <a:ext cx="241" cy="153"/>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50" name="Oval 1324"/>
                <p:cNvSpPr>
                  <a:spLocks noChangeArrowheads="1"/>
                </p:cNvSpPr>
                <p:nvPr/>
              </p:nvSpPr>
              <p:spPr bwMode="auto">
                <a:xfrm rot="-1560000">
                  <a:off x="3572" y="538"/>
                  <a:ext cx="291" cy="187"/>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51" name="Oval 1325"/>
                <p:cNvSpPr>
                  <a:spLocks noChangeArrowheads="1"/>
                </p:cNvSpPr>
                <p:nvPr/>
              </p:nvSpPr>
              <p:spPr bwMode="auto">
                <a:xfrm>
                  <a:off x="3216" y="555"/>
                  <a:ext cx="471" cy="238"/>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52" name="Oval 1326"/>
                <p:cNvSpPr>
                  <a:spLocks noChangeArrowheads="1"/>
                </p:cNvSpPr>
                <p:nvPr/>
              </p:nvSpPr>
              <p:spPr bwMode="auto">
                <a:xfrm rot="1080000">
                  <a:off x="3024" y="555"/>
                  <a:ext cx="265" cy="155"/>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53" name="Oval 1327"/>
                <p:cNvSpPr>
                  <a:spLocks noChangeArrowheads="1"/>
                </p:cNvSpPr>
                <p:nvPr/>
              </p:nvSpPr>
              <p:spPr bwMode="auto">
                <a:xfrm>
                  <a:off x="2949" y="433"/>
                  <a:ext cx="216" cy="155"/>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54" name="Oval 1328"/>
                <p:cNvSpPr>
                  <a:spLocks noChangeArrowheads="1"/>
                </p:cNvSpPr>
                <p:nvPr/>
              </p:nvSpPr>
              <p:spPr bwMode="auto">
                <a:xfrm rot="-1860000">
                  <a:off x="2983" y="310"/>
                  <a:ext cx="295" cy="157"/>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55" name="Freeform 1329"/>
                <p:cNvSpPr/>
                <p:nvPr/>
              </p:nvSpPr>
              <p:spPr bwMode="auto">
                <a:xfrm>
                  <a:off x="3050" y="299"/>
                  <a:ext cx="738" cy="408"/>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56" name="Freeform 1330"/>
                <p:cNvSpPr/>
                <p:nvPr/>
              </p:nvSpPr>
              <p:spPr bwMode="auto">
                <a:xfrm>
                  <a:off x="3194" y="269"/>
                  <a:ext cx="115"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57" name="Freeform 1331"/>
                <p:cNvSpPr/>
                <p:nvPr/>
              </p:nvSpPr>
              <p:spPr bwMode="auto">
                <a:xfrm>
                  <a:off x="3469" y="239"/>
                  <a:ext cx="81" cy="86"/>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grpSp>
          <p:grpSp>
            <p:nvGrpSpPr>
              <p:cNvPr id="18502" name="Group 1344"/>
              <p:cNvGrpSpPr>
                <a:grpSpLocks/>
              </p:cNvGrpSpPr>
              <p:nvPr/>
            </p:nvGrpSpPr>
            <p:grpSpPr bwMode="auto">
              <a:xfrm>
                <a:off x="7616379" y="2182838"/>
                <a:ext cx="647700" cy="503237"/>
                <a:chOff x="2949" y="196"/>
                <a:chExt cx="941" cy="598"/>
              </a:xfrm>
            </p:grpSpPr>
            <p:sp>
              <p:nvSpPr>
                <p:cNvPr id="59" name="Oval 1345"/>
                <p:cNvSpPr>
                  <a:spLocks noChangeArrowheads="1"/>
                </p:cNvSpPr>
                <p:nvPr/>
              </p:nvSpPr>
              <p:spPr bwMode="auto">
                <a:xfrm>
                  <a:off x="3167" y="196"/>
                  <a:ext cx="407" cy="162"/>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60" name="Oval 1346"/>
                <p:cNvSpPr>
                  <a:spLocks noChangeArrowheads="1"/>
                </p:cNvSpPr>
                <p:nvPr/>
              </p:nvSpPr>
              <p:spPr bwMode="auto">
                <a:xfrm rot="900000">
                  <a:off x="3511" y="252"/>
                  <a:ext cx="275" cy="132"/>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61" name="Oval 1347"/>
                <p:cNvSpPr>
                  <a:spLocks noChangeArrowheads="1"/>
                </p:cNvSpPr>
                <p:nvPr/>
              </p:nvSpPr>
              <p:spPr bwMode="auto">
                <a:xfrm rot="1500000">
                  <a:off x="3649" y="385"/>
                  <a:ext cx="241" cy="152"/>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62" name="Oval 1348"/>
                <p:cNvSpPr>
                  <a:spLocks noChangeArrowheads="1"/>
                </p:cNvSpPr>
                <p:nvPr/>
              </p:nvSpPr>
              <p:spPr bwMode="auto">
                <a:xfrm rot="-1560000">
                  <a:off x="3572" y="538"/>
                  <a:ext cx="291" cy="189"/>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63" name="Oval 1349"/>
                <p:cNvSpPr>
                  <a:spLocks noChangeArrowheads="1"/>
                </p:cNvSpPr>
                <p:nvPr/>
              </p:nvSpPr>
              <p:spPr bwMode="auto">
                <a:xfrm>
                  <a:off x="3216" y="556"/>
                  <a:ext cx="471" cy="238"/>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64" name="Oval 1350"/>
                <p:cNvSpPr>
                  <a:spLocks noChangeArrowheads="1"/>
                </p:cNvSpPr>
                <p:nvPr/>
              </p:nvSpPr>
              <p:spPr bwMode="auto">
                <a:xfrm rot="1080000">
                  <a:off x="3023" y="556"/>
                  <a:ext cx="265" cy="155"/>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65" name="Oval 1351"/>
                <p:cNvSpPr>
                  <a:spLocks noChangeArrowheads="1"/>
                </p:cNvSpPr>
                <p:nvPr/>
              </p:nvSpPr>
              <p:spPr bwMode="auto">
                <a:xfrm>
                  <a:off x="2949" y="433"/>
                  <a:ext cx="216" cy="155"/>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66" name="Oval 1352"/>
                <p:cNvSpPr>
                  <a:spLocks noChangeArrowheads="1"/>
                </p:cNvSpPr>
                <p:nvPr/>
              </p:nvSpPr>
              <p:spPr bwMode="auto">
                <a:xfrm rot="-1860000">
                  <a:off x="2983" y="310"/>
                  <a:ext cx="295" cy="157"/>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67" name="Freeform 1353"/>
                <p:cNvSpPr/>
                <p:nvPr/>
              </p:nvSpPr>
              <p:spPr bwMode="auto">
                <a:xfrm>
                  <a:off x="3050" y="301"/>
                  <a:ext cx="738" cy="406"/>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68" name="Freeform 1354"/>
                <p:cNvSpPr/>
                <p:nvPr/>
              </p:nvSpPr>
              <p:spPr bwMode="auto">
                <a:xfrm>
                  <a:off x="3193" y="270"/>
                  <a:ext cx="115"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69" name="Freeform 1355"/>
                <p:cNvSpPr/>
                <p:nvPr/>
              </p:nvSpPr>
              <p:spPr bwMode="auto">
                <a:xfrm>
                  <a:off x="3469" y="239"/>
                  <a:ext cx="81" cy="88"/>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grpSp>
          <p:grpSp>
            <p:nvGrpSpPr>
              <p:cNvPr id="18514" name="Group 1356"/>
              <p:cNvGrpSpPr>
                <a:grpSpLocks/>
              </p:cNvGrpSpPr>
              <p:nvPr/>
            </p:nvGrpSpPr>
            <p:grpSpPr bwMode="auto">
              <a:xfrm rot="-1072061">
                <a:off x="5562154" y="2732113"/>
                <a:ext cx="673100" cy="430212"/>
                <a:chOff x="2949" y="196"/>
                <a:chExt cx="941" cy="598"/>
              </a:xfrm>
            </p:grpSpPr>
            <p:sp>
              <p:nvSpPr>
                <p:cNvPr id="71" name="Oval 1357"/>
                <p:cNvSpPr>
                  <a:spLocks noChangeArrowheads="1"/>
                </p:cNvSpPr>
                <p:nvPr/>
              </p:nvSpPr>
              <p:spPr bwMode="auto">
                <a:xfrm>
                  <a:off x="3168" y="195"/>
                  <a:ext cx="407" cy="162"/>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72" name="Oval 1358"/>
                <p:cNvSpPr>
                  <a:spLocks noChangeArrowheads="1"/>
                </p:cNvSpPr>
                <p:nvPr/>
              </p:nvSpPr>
              <p:spPr bwMode="auto">
                <a:xfrm rot="900000">
                  <a:off x="3512" y="251"/>
                  <a:ext cx="274" cy="131"/>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73" name="Oval 1359"/>
                <p:cNvSpPr>
                  <a:spLocks noChangeArrowheads="1"/>
                </p:cNvSpPr>
                <p:nvPr/>
              </p:nvSpPr>
              <p:spPr bwMode="auto">
                <a:xfrm rot="1500000">
                  <a:off x="3651" y="384"/>
                  <a:ext cx="239" cy="153"/>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74" name="Oval 1360"/>
                <p:cNvSpPr>
                  <a:spLocks noChangeArrowheads="1"/>
                </p:cNvSpPr>
                <p:nvPr/>
              </p:nvSpPr>
              <p:spPr bwMode="auto">
                <a:xfrm rot="-1560000">
                  <a:off x="3572" y="537"/>
                  <a:ext cx="292" cy="189"/>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75" name="Oval 1361"/>
                <p:cNvSpPr>
                  <a:spLocks noChangeArrowheads="1"/>
                </p:cNvSpPr>
                <p:nvPr/>
              </p:nvSpPr>
              <p:spPr bwMode="auto">
                <a:xfrm>
                  <a:off x="3215" y="553"/>
                  <a:ext cx="473" cy="239"/>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76" name="Oval 1362"/>
                <p:cNvSpPr>
                  <a:spLocks noChangeArrowheads="1"/>
                </p:cNvSpPr>
                <p:nvPr/>
              </p:nvSpPr>
              <p:spPr bwMode="auto">
                <a:xfrm rot="1080000">
                  <a:off x="3023" y="556"/>
                  <a:ext cx="265" cy="157"/>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77" name="Oval 1363"/>
                <p:cNvSpPr>
                  <a:spLocks noChangeArrowheads="1"/>
                </p:cNvSpPr>
                <p:nvPr/>
              </p:nvSpPr>
              <p:spPr bwMode="auto">
                <a:xfrm>
                  <a:off x="2949" y="430"/>
                  <a:ext cx="218" cy="157"/>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78" name="Oval 1364"/>
                <p:cNvSpPr>
                  <a:spLocks noChangeArrowheads="1"/>
                </p:cNvSpPr>
                <p:nvPr/>
              </p:nvSpPr>
              <p:spPr bwMode="auto">
                <a:xfrm rot="-1860000">
                  <a:off x="2982" y="309"/>
                  <a:ext cx="296" cy="157"/>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79" name="Freeform 1365"/>
                <p:cNvSpPr/>
                <p:nvPr/>
              </p:nvSpPr>
              <p:spPr bwMode="auto">
                <a:xfrm>
                  <a:off x="3050" y="299"/>
                  <a:ext cx="740" cy="408"/>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80" name="Freeform 1366"/>
                <p:cNvSpPr/>
                <p:nvPr/>
              </p:nvSpPr>
              <p:spPr bwMode="auto">
                <a:xfrm>
                  <a:off x="3193" y="268"/>
                  <a:ext cx="117" cy="119"/>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81" name="Freeform 1367"/>
                <p:cNvSpPr/>
                <p:nvPr/>
              </p:nvSpPr>
              <p:spPr bwMode="auto">
                <a:xfrm>
                  <a:off x="3468" y="238"/>
                  <a:ext cx="84" cy="86"/>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grpSp>
          <p:grpSp>
            <p:nvGrpSpPr>
              <p:cNvPr id="18526" name="Group 1428"/>
              <p:cNvGrpSpPr>
                <a:grpSpLocks/>
              </p:cNvGrpSpPr>
              <p:nvPr/>
            </p:nvGrpSpPr>
            <p:grpSpPr bwMode="auto">
              <a:xfrm rot="-854928">
                <a:off x="6014592" y="3344888"/>
                <a:ext cx="574675" cy="503237"/>
                <a:chOff x="2949" y="196"/>
                <a:chExt cx="941" cy="598"/>
              </a:xfrm>
            </p:grpSpPr>
            <p:sp>
              <p:nvSpPr>
                <p:cNvPr id="83" name="Oval 1429"/>
                <p:cNvSpPr>
                  <a:spLocks noChangeArrowheads="1"/>
                </p:cNvSpPr>
                <p:nvPr/>
              </p:nvSpPr>
              <p:spPr bwMode="auto">
                <a:xfrm>
                  <a:off x="3167" y="196"/>
                  <a:ext cx="408" cy="162"/>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84" name="Oval 1430"/>
                <p:cNvSpPr>
                  <a:spLocks noChangeArrowheads="1"/>
                </p:cNvSpPr>
                <p:nvPr/>
              </p:nvSpPr>
              <p:spPr bwMode="auto">
                <a:xfrm rot="900000">
                  <a:off x="3512" y="251"/>
                  <a:ext cx="276" cy="131"/>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85" name="Oval 1431"/>
                <p:cNvSpPr>
                  <a:spLocks noChangeArrowheads="1"/>
                </p:cNvSpPr>
                <p:nvPr/>
              </p:nvSpPr>
              <p:spPr bwMode="auto">
                <a:xfrm rot="1500000">
                  <a:off x="3652" y="385"/>
                  <a:ext cx="239" cy="152"/>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86" name="Oval 1432"/>
                <p:cNvSpPr>
                  <a:spLocks noChangeArrowheads="1"/>
                </p:cNvSpPr>
                <p:nvPr/>
              </p:nvSpPr>
              <p:spPr bwMode="auto">
                <a:xfrm rot="-1560000">
                  <a:off x="3572" y="537"/>
                  <a:ext cx="292" cy="189"/>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87" name="Oval 1433"/>
                <p:cNvSpPr>
                  <a:spLocks noChangeArrowheads="1"/>
                </p:cNvSpPr>
                <p:nvPr/>
              </p:nvSpPr>
              <p:spPr bwMode="auto">
                <a:xfrm>
                  <a:off x="3216" y="554"/>
                  <a:ext cx="472" cy="238"/>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88" name="Oval 1434"/>
                <p:cNvSpPr>
                  <a:spLocks noChangeArrowheads="1"/>
                </p:cNvSpPr>
                <p:nvPr/>
              </p:nvSpPr>
              <p:spPr bwMode="auto">
                <a:xfrm rot="1080000">
                  <a:off x="3021" y="554"/>
                  <a:ext cx="267" cy="155"/>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89" name="Oval 1435"/>
                <p:cNvSpPr>
                  <a:spLocks noChangeArrowheads="1"/>
                </p:cNvSpPr>
                <p:nvPr/>
              </p:nvSpPr>
              <p:spPr bwMode="auto">
                <a:xfrm>
                  <a:off x="2949" y="431"/>
                  <a:ext cx="217" cy="155"/>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90" name="Oval 1436"/>
                <p:cNvSpPr>
                  <a:spLocks noChangeArrowheads="1"/>
                </p:cNvSpPr>
                <p:nvPr/>
              </p:nvSpPr>
              <p:spPr bwMode="auto">
                <a:xfrm rot="-1860000">
                  <a:off x="2981" y="311"/>
                  <a:ext cx="296" cy="155"/>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91" name="Freeform 1437"/>
                <p:cNvSpPr/>
                <p:nvPr/>
              </p:nvSpPr>
              <p:spPr bwMode="auto">
                <a:xfrm>
                  <a:off x="3052" y="299"/>
                  <a:ext cx="739" cy="408"/>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92" name="Freeform 1438"/>
                <p:cNvSpPr/>
                <p:nvPr/>
              </p:nvSpPr>
              <p:spPr bwMode="auto">
                <a:xfrm>
                  <a:off x="3192" y="270"/>
                  <a:ext cx="116"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93" name="Freeform 1439"/>
                <p:cNvSpPr/>
                <p:nvPr/>
              </p:nvSpPr>
              <p:spPr bwMode="auto">
                <a:xfrm>
                  <a:off x="3468" y="239"/>
                  <a:ext cx="82" cy="86"/>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grpSp>
          <p:sp>
            <p:nvSpPr>
              <p:cNvPr id="94" name="Line 1445"/>
              <p:cNvSpPr>
                <a:spLocks noChangeShapeType="1"/>
              </p:cNvSpPr>
              <p:nvPr/>
            </p:nvSpPr>
            <p:spPr bwMode="auto">
              <a:xfrm flipH="1">
                <a:off x="7905744" y="3191512"/>
                <a:ext cx="718485" cy="50488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000" b="1" kern="0">
                  <a:solidFill>
                    <a:sysClr val="windowText" lastClr="000000"/>
                  </a:solidFill>
                </a:endParaRPr>
              </a:p>
            </p:txBody>
          </p:sp>
          <p:grpSp>
            <p:nvGrpSpPr>
              <p:cNvPr id="18539" name="Group 1404"/>
              <p:cNvGrpSpPr>
                <a:grpSpLocks/>
              </p:cNvGrpSpPr>
              <p:nvPr/>
            </p:nvGrpSpPr>
            <p:grpSpPr bwMode="auto">
              <a:xfrm rot="-666782">
                <a:off x="7621142" y="3468713"/>
                <a:ext cx="536575" cy="427037"/>
                <a:chOff x="2949" y="196"/>
                <a:chExt cx="941" cy="598"/>
              </a:xfrm>
            </p:grpSpPr>
            <p:sp>
              <p:nvSpPr>
                <p:cNvPr id="96" name="Oval 1405"/>
                <p:cNvSpPr>
                  <a:spLocks noChangeArrowheads="1"/>
                </p:cNvSpPr>
                <p:nvPr/>
              </p:nvSpPr>
              <p:spPr bwMode="auto">
                <a:xfrm>
                  <a:off x="3169" y="196"/>
                  <a:ext cx="405" cy="161"/>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97" name="Oval 1406"/>
                <p:cNvSpPr>
                  <a:spLocks noChangeArrowheads="1"/>
                </p:cNvSpPr>
                <p:nvPr/>
              </p:nvSpPr>
              <p:spPr bwMode="auto">
                <a:xfrm rot="900000">
                  <a:off x="3511" y="251"/>
                  <a:ext cx="276" cy="131"/>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98" name="Oval 1407"/>
                <p:cNvSpPr>
                  <a:spLocks noChangeArrowheads="1"/>
                </p:cNvSpPr>
                <p:nvPr/>
              </p:nvSpPr>
              <p:spPr bwMode="auto">
                <a:xfrm rot="1500000">
                  <a:off x="3649" y="383"/>
                  <a:ext cx="239" cy="154"/>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99" name="Oval 1408"/>
                <p:cNvSpPr>
                  <a:spLocks noChangeArrowheads="1"/>
                </p:cNvSpPr>
                <p:nvPr/>
              </p:nvSpPr>
              <p:spPr bwMode="auto">
                <a:xfrm rot="-1560000">
                  <a:off x="3572" y="536"/>
                  <a:ext cx="291" cy="189"/>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00" name="Oval 1409"/>
                <p:cNvSpPr>
                  <a:spLocks noChangeArrowheads="1"/>
                </p:cNvSpPr>
                <p:nvPr/>
              </p:nvSpPr>
              <p:spPr bwMode="auto">
                <a:xfrm>
                  <a:off x="3214" y="553"/>
                  <a:ext cx="471" cy="239"/>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01" name="Oval 1410"/>
                <p:cNvSpPr>
                  <a:spLocks noChangeArrowheads="1"/>
                </p:cNvSpPr>
                <p:nvPr/>
              </p:nvSpPr>
              <p:spPr bwMode="auto">
                <a:xfrm rot="1080000">
                  <a:off x="3022" y="554"/>
                  <a:ext cx="266" cy="156"/>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02" name="Oval 1411"/>
                <p:cNvSpPr>
                  <a:spLocks noChangeArrowheads="1"/>
                </p:cNvSpPr>
                <p:nvPr/>
              </p:nvSpPr>
              <p:spPr bwMode="auto">
                <a:xfrm>
                  <a:off x="2949" y="431"/>
                  <a:ext cx="217" cy="156"/>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03" name="Oval 1412"/>
                <p:cNvSpPr>
                  <a:spLocks noChangeArrowheads="1"/>
                </p:cNvSpPr>
                <p:nvPr/>
              </p:nvSpPr>
              <p:spPr bwMode="auto">
                <a:xfrm rot="-1860000">
                  <a:off x="2983" y="308"/>
                  <a:ext cx="295" cy="156"/>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04" name="Freeform 1413"/>
                <p:cNvSpPr/>
                <p:nvPr/>
              </p:nvSpPr>
              <p:spPr bwMode="auto">
                <a:xfrm>
                  <a:off x="3051" y="297"/>
                  <a:ext cx="737" cy="408"/>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05" name="Freeform 1414"/>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06" name="Freeform 1415"/>
                <p:cNvSpPr/>
                <p:nvPr/>
              </p:nvSpPr>
              <p:spPr bwMode="auto">
                <a:xfrm>
                  <a:off x="3468" y="239"/>
                  <a:ext cx="81"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grpSp>
          <p:grpSp>
            <p:nvGrpSpPr>
              <p:cNvPr id="18551" name="Group 1416"/>
              <p:cNvGrpSpPr>
                <a:grpSpLocks/>
              </p:cNvGrpSpPr>
              <p:nvPr/>
            </p:nvGrpSpPr>
            <p:grpSpPr bwMode="auto">
              <a:xfrm rot="282232">
                <a:off x="8408542" y="2979763"/>
                <a:ext cx="565150" cy="360362"/>
                <a:chOff x="2949" y="196"/>
                <a:chExt cx="941" cy="598"/>
              </a:xfrm>
            </p:grpSpPr>
            <p:sp>
              <p:nvSpPr>
                <p:cNvPr id="108" name="Oval 1417"/>
                <p:cNvSpPr>
                  <a:spLocks noChangeArrowheads="1"/>
                </p:cNvSpPr>
                <p:nvPr/>
              </p:nvSpPr>
              <p:spPr bwMode="auto">
                <a:xfrm>
                  <a:off x="3166" y="196"/>
                  <a:ext cx="408" cy="161"/>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09" name="Oval 1418"/>
                <p:cNvSpPr>
                  <a:spLocks noChangeArrowheads="1"/>
                </p:cNvSpPr>
                <p:nvPr/>
              </p:nvSpPr>
              <p:spPr bwMode="auto">
                <a:xfrm rot="900000">
                  <a:off x="3511" y="252"/>
                  <a:ext cx="276" cy="131"/>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10" name="Oval 1419"/>
                <p:cNvSpPr>
                  <a:spLocks noChangeArrowheads="1"/>
                </p:cNvSpPr>
                <p:nvPr/>
              </p:nvSpPr>
              <p:spPr bwMode="auto">
                <a:xfrm rot="1500000">
                  <a:off x="3647" y="385"/>
                  <a:ext cx="241" cy="153"/>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11" name="Oval 1420"/>
                <p:cNvSpPr>
                  <a:spLocks noChangeArrowheads="1"/>
                </p:cNvSpPr>
                <p:nvPr/>
              </p:nvSpPr>
              <p:spPr bwMode="auto">
                <a:xfrm rot="-1560000">
                  <a:off x="3572" y="538"/>
                  <a:ext cx="292" cy="187"/>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12" name="Oval 1421"/>
                <p:cNvSpPr>
                  <a:spLocks noChangeArrowheads="1"/>
                </p:cNvSpPr>
                <p:nvPr/>
              </p:nvSpPr>
              <p:spPr bwMode="auto">
                <a:xfrm>
                  <a:off x="3215" y="554"/>
                  <a:ext cx="471" cy="238"/>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13" name="Oval 1422"/>
                <p:cNvSpPr>
                  <a:spLocks noChangeArrowheads="1"/>
                </p:cNvSpPr>
                <p:nvPr/>
              </p:nvSpPr>
              <p:spPr bwMode="auto">
                <a:xfrm rot="1080000">
                  <a:off x="3023" y="555"/>
                  <a:ext cx="264" cy="155"/>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14" name="Oval 1423"/>
                <p:cNvSpPr>
                  <a:spLocks noChangeArrowheads="1"/>
                </p:cNvSpPr>
                <p:nvPr/>
              </p:nvSpPr>
              <p:spPr bwMode="auto">
                <a:xfrm>
                  <a:off x="2947" y="433"/>
                  <a:ext cx="218" cy="155"/>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15" name="Oval 1424"/>
                <p:cNvSpPr>
                  <a:spLocks noChangeArrowheads="1"/>
                </p:cNvSpPr>
                <p:nvPr/>
              </p:nvSpPr>
              <p:spPr bwMode="auto">
                <a:xfrm rot="-1860000">
                  <a:off x="2982" y="309"/>
                  <a:ext cx="294" cy="157"/>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16" name="Freeform 1425"/>
                <p:cNvSpPr/>
                <p:nvPr/>
              </p:nvSpPr>
              <p:spPr bwMode="auto">
                <a:xfrm>
                  <a:off x="3049" y="298"/>
                  <a:ext cx="737" cy="408"/>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17" name="Freeform 1426"/>
                <p:cNvSpPr/>
                <p:nvPr/>
              </p:nvSpPr>
              <p:spPr bwMode="auto">
                <a:xfrm>
                  <a:off x="3191" y="270"/>
                  <a:ext cx="118"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18" name="Freeform 1427"/>
                <p:cNvSpPr/>
                <p:nvPr/>
              </p:nvSpPr>
              <p:spPr bwMode="auto">
                <a:xfrm>
                  <a:off x="3466" y="239"/>
                  <a:ext cx="83" cy="86"/>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grpSp>
          <p:pic>
            <p:nvPicPr>
              <p:cNvPr id="18563" name="Picture 146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65442" y="2711475"/>
                <a:ext cx="41910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564" name="Picture 146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68679" y="3622700"/>
                <a:ext cx="41910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565" name="Picture 146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16379" y="2903563"/>
                <a:ext cx="41910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566" name="Picture 146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21204" y="2687663"/>
                <a:ext cx="41910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567" name="Picture 146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40117" y="2111400"/>
                <a:ext cx="41910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568" name="Picture 146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16442" y="3302025"/>
                <a:ext cx="41910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8569" name="Group 1468"/>
              <p:cNvGrpSpPr>
                <a:grpSpLocks/>
              </p:cNvGrpSpPr>
              <p:nvPr/>
            </p:nvGrpSpPr>
            <p:grpSpPr bwMode="auto">
              <a:xfrm rot="-666782">
                <a:off x="6938517" y="2909913"/>
                <a:ext cx="636587" cy="492125"/>
                <a:chOff x="2949" y="196"/>
                <a:chExt cx="941" cy="598"/>
              </a:xfrm>
            </p:grpSpPr>
            <p:sp>
              <p:nvSpPr>
                <p:cNvPr id="130" name="Oval 1469"/>
                <p:cNvSpPr>
                  <a:spLocks noChangeArrowheads="1"/>
                </p:cNvSpPr>
                <p:nvPr/>
              </p:nvSpPr>
              <p:spPr bwMode="auto">
                <a:xfrm>
                  <a:off x="3167" y="197"/>
                  <a:ext cx="408" cy="162"/>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31" name="Oval 1470"/>
                <p:cNvSpPr>
                  <a:spLocks noChangeArrowheads="1"/>
                </p:cNvSpPr>
                <p:nvPr/>
              </p:nvSpPr>
              <p:spPr bwMode="auto">
                <a:xfrm rot="900000">
                  <a:off x="3512" y="253"/>
                  <a:ext cx="276" cy="131"/>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32" name="Oval 1471"/>
                <p:cNvSpPr>
                  <a:spLocks noChangeArrowheads="1"/>
                </p:cNvSpPr>
                <p:nvPr/>
              </p:nvSpPr>
              <p:spPr bwMode="auto">
                <a:xfrm rot="1500000">
                  <a:off x="3649" y="385"/>
                  <a:ext cx="241" cy="153"/>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33" name="Oval 1472"/>
                <p:cNvSpPr>
                  <a:spLocks noChangeArrowheads="1"/>
                </p:cNvSpPr>
                <p:nvPr/>
              </p:nvSpPr>
              <p:spPr bwMode="auto">
                <a:xfrm rot="-1560000">
                  <a:off x="3574" y="538"/>
                  <a:ext cx="290" cy="189"/>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34" name="Oval 1473"/>
                <p:cNvSpPr>
                  <a:spLocks noChangeArrowheads="1"/>
                </p:cNvSpPr>
                <p:nvPr/>
              </p:nvSpPr>
              <p:spPr bwMode="auto">
                <a:xfrm>
                  <a:off x="3217" y="554"/>
                  <a:ext cx="469" cy="239"/>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35" name="Oval 1474"/>
                <p:cNvSpPr>
                  <a:spLocks noChangeArrowheads="1"/>
                </p:cNvSpPr>
                <p:nvPr/>
              </p:nvSpPr>
              <p:spPr bwMode="auto">
                <a:xfrm rot="1080000">
                  <a:off x="3024" y="556"/>
                  <a:ext cx="266" cy="156"/>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36" name="Oval 1475"/>
                <p:cNvSpPr>
                  <a:spLocks noChangeArrowheads="1"/>
                </p:cNvSpPr>
                <p:nvPr/>
              </p:nvSpPr>
              <p:spPr bwMode="auto">
                <a:xfrm>
                  <a:off x="2950" y="432"/>
                  <a:ext cx="216" cy="156"/>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37" name="Oval 1476"/>
                <p:cNvSpPr>
                  <a:spLocks noChangeArrowheads="1"/>
                </p:cNvSpPr>
                <p:nvPr/>
              </p:nvSpPr>
              <p:spPr bwMode="auto">
                <a:xfrm rot="-1860000">
                  <a:off x="2984" y="310"/>
                  <a:ext cx="294" cy="157"/>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38" name="Freeform 1477"/>
                <p:cNvSpPr/>
                <p:nvPr/>
              </p:nvSpPr>
              <p:spPr bwMode="auto">
                <a:xfrm>
                  <a:off x="3053" y="300"/>
                  <a:ext cx="737"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39" name="Freeform 1478"/>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40" name="Freeform 1479"/>
                <p:cNvSpPr/>
                <p:nvPr/>
              </p:nvSpPr>
              <p:spPr bwMode="auto">
                <a:xfrm>
                  <a:off x="3471" y="239"/>
                  <a:ext cx="80" cy="88"/>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grpSp>
          <p:sp>
            <p:nvSpPr>
              <p:cNvPr id="170" name="Text Box 1524"/>
              <p:cNvSpPr txBox="1">
                <a:spLocks noChangeArrowheads="1"/>
              </p:cNvSpPr>
              <p:nvPr/>
            </p:nvSpPr>
            <p:spPr bwMode="auto">
              <a:xfrm>
                <a:off x="6965865" y="3024511"/>
                <a:ext cx="591776" cy="3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1800" b="1" kern="0" dirty="0">
                    <a:solidFill>
                      <a:srgbClr val="000000"/>
                    </a:solidFill>
                  </a:rPr>
                  <a:t>网络</a:t>
                </a:r>
              </a:p>
            </p:txBody>
          </p:sp>
          <p:sp>
            <p:nvSpPr>
              <p:cNvPr id="171" name="Text Box 1524"/>
              <p:cNvSpPr txBox="1">
                <a:spLocks noChangeArrowheads="1"/>
              </p:cNvSpPr>
              <p:nvPr/>
            </p:nvSpPr>
            <p:spPr bwMode="auto">
              <a:xfrm>
                <a:off x="8419543" y="3001209"/>
                <a:ext cx="590383" cy="30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1800" b="1" kern="0" dirty="0">
                    <a:solidFill>
                      <a:srgbClr val="000000"/>
                    </a:solidFill>
                  </a:rPr>
                  <a:t>网络</a:t>
                </a:r>
              </a:p>
            </p:txBody>
          </p:sp>
          <p:sp>
            <p:nvSpPr>
              <p:cNvPr id="172" name="Text Box 1524"/>
              <p:cNvSpPr txBox="1">
                <a:spLocks noChangeArrowheads="1"/>
              </p:cNvSpPr>
              <p:nvPr/>
            </p:nvSpPr>
            <p:spPr bwMode="auto">
              <a:xfrm>
                <a:off x="6045481" y="3436187"/>
                <a:ext cx="591775" cy="30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1800" b="1" kern="0" dirty="0">
                    <a:solidFill>
                      <a:srgbClr val="000000"/>
                    </a:solidFill>
                  </a:rPr>
                  <a:t>网络</a:t>
                </a:r>
              </a:p>
            </p:txBody>
          </p:sp>
          <p:sp>
            <p:nvSpPr>
              <p:cNvPr id="173" name="Text Box 1524"/>
              <p:cNvSpPr txBox="1">
                <a:spLocks noChangeArrowheads="1"/>
              </p:cNvSpPr>
              <p:nvPr/>
            </p:nvSpPr>
            <p:spPr bwMode="auto">
              <a:xfrm>
                <a:off x="7675995" y="2252943"/>
                <a:ext cx="591776" cy="3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1800" b="1" kern="0">
                    <a:solidFill>
                      <a:srgbClr val="000000"/>
                    </a:solidFill>
                  </a:rPr>
                  <a:t>网络</a:t>
                </a:r>
              </a:p>
            </p:txBody>
          </p:sp>
          <p:sp>
            <p:nvSpPr>
              <p:cNvPr id="174" name="Text Box 1524"/>
              <p:cNvSpPr txBox="1">
                <a:spLocks noChangeArrowheads="1"/>
              </p:cNvSpPr>
              <p:nvPr/>
            </p:nvSpPr>
            <p:spPr bwMode="auto">
              <a:xfrm>
                <a:off x="5631934" y="2809611"/>
                <a:ext cx="590383" cy="3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1800" b="1" kern="0">
                    <a:solidFill>
                      <a:srgbClr val="000000"/>
                    </a:solidFill>
                  </a:rPr>
                  <a:t>网络</a:t>
                </a:r>
              </a:p>
            </p:txBody>
          </p:sp>
          <p:sp>
            <p:nvSpPr>
              <p:cNvPr id="175" name="Text Box 1524"/>
              <p:cNvSpPr txBox="1">
                <a:spLocks noChangeArrowheads="1"/>
              </p:cNvSpPr>
              <p:nvPr/>
            </p:nvSpPr>
            <p:spPr bwMode="auto">
              <a:xfrm>
                <a:off x="6208393" y="2202455"/>
                <a:ext cx="591776" cy="301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1800" b="1" kern="0" dirty="0">
                    <a:solidFill>
                      <a:srgbClr val="000000"/>
                    </a:solidFill>
                  </a:rPr>
                  <a:t>网络</a:t>
                </a:r>
              </a:p>
            </p:txBody>
          </p:sp>
          <p:sp>
            <p:nvSpPr>
              <p:cNvPr id="176" name="Text Box 1524"/>
              <p:cNvSpPr txBox="1">
                <a:spLocks noChangeArrowheads="1"/>
              </p:cNvSpPr>
              <p:nvPr/>
            </p:nvSpPr>
            <p:spPr bwMode="auto">
              <a:xfrm>
                <a:off x="7630046" y="3528102"/>
                <a:ext cx="590383" cy="301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1800" b="1" kern="0">
                    <a:solidFill>
                      <a:srgbClr val="000000"/>
                    </a:solidFill>
                  </a:rPr>
                  <a:t>网络</a:t>
                </a:r>
              </a:p>
            </p:txBody>
          </p:sp>
        </p:grpSp>
        <p:sp>
          <p:nvSpPr>
            <p:cNvPr id="18588" name="矩形 178"/>
            <p:cNvSpPr>
              <a:spLocks noChangeArrowheads="1"/>
            </p:cNvSpPr>
            <p:nvPr/>
          </p:nvSpPr>
          <p:spPr bwMode="auto">
            <a:xfrm>
              <a:off x="552659" y="5066020"/>
              <a:ext cx="91434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en-US" altLang="zh-CN" sz="2400" b="1">
                  <a:ea typeface="黑体" panose="02010609060101010101" pitchFamily="49" charset="-122"/>
                </a:rPr>
                <a:t>  </a:t>
              </a:r>
              <a:r>
                <a:rPr lang="zh-CN" altLang="zh-CN" sz="2400" b="1">
                  <a:ea typeface="黑体" panose="02010609060101010101" pitchFamily="49" charset="-122"/>
                </a:rPr>
                <a:t>简单的网络</a:t>
              </a:r>
              <a:r>
                <a:rPr lang="en-US" altLang="zh-CN" sz="2400" b="1">
                  <a:ea typeface="黑体" panose="02010609060101010101" pitchFamily="49" charset="-122"/>
                </a:rPr>
                <a:t>(a) </a:t>
              </a:r>
              <a:r>
                <a:rPr lang="zh-CN" altLang="zh-CN" sz="2400" b="1">
                  <a:ea typeface="黑体" panose="02010609060101010101" pitchFamily="49" charset="-122"/>
                </a:rPr>
                <a:t>和</a:t>
              </a:r>
              <a:r>
                <a:rPr lang="en-US" altLang="zh-CN" sz="2400" b="1">
                  <a:ea typeface="黑体" panose="02010609060101010101" pitchFamily="49" charset="-122"/>
                </a:rPr>
                <a:t> </a:t>
              </a:r>
              <a:r>
                <a:rPr lang="zh-CN" altLang="zh-CN" sz="2400" b="1">
                  <a:ea typeface="黑体" panose="02010609060101010101" pitchFamily="49" charset="-122"/>
                </a:rPr>
                <a:t>由网络构成的互连网</a:t>
              </a:r>
              <a:r>
                <a:rPr lang="en-US" altLang="zh-CN" sz="2400" b="1">
                  <a:ea typeface="黑体" panose="02010609060101010101" pitchFamily="49" charset="-122"/>
                </a:rPr>
                <a:t>(b)</a:t>
              </a:r>
              <a:endParaRPr lang="zh-CN" altLang="en-US" sz="2400" b="1">
                <a:ea typeface="黑体" panose="02010609060101010101" pitchFamily="49" charset="-122"/>
              </a:endParaRPr>
            </a:p>
          </p:txBody>
        </p:sp>
        <p:grpSp>
          <p:nvGrpSpPr>
            <p:cNvPr id="18589" name="组合 204"/>
            <p:cNvGrpSpPr>
              <a:grpSpLocks/>
            </p:cNvGrpSpPr>
            <p:nvPr/>
          </p:nvGrpSpPr>
          <p:grpSpPr bwMode="auto">
            <a:xfrm>
              <a:off x="560512" y="1798370"/>
              <a:ext cx="1436144" cy="2278702"/>
              <a:chOff x="609451" y="1582346"/>
              <a:chExt cx="1436144" cy="2278702"/>
            </a:xfrm>
          </p:grpSpPr>
          <p:sp>
            <p:nvSpPr>
              <p:cNvPr id="18590" name="Text Box 1271"/>
              <p:cNvSpPr txBox="1">
                <a:spLocks noChangeArrowheads="1"/>
              </p:cNvSpPr>
              <p:nvPr/>
            </p:nvSpPr>
            <p:spPr bwMode="auto">
              <a:xfrm>
                <a:off x="1113507" y="3380505"/>
                <a:ext cx="59824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600" b="1">
                    <a:latin typeface="Times New Roman" panose="02020603050405020304" pitchFamily="18" charset="0"/>
                    <a:ea typeface="宋体" panose="02010600030101010101" pitchFamily="2" charset="-122"/>
                  </a:rPr>
                  <a:t>网络</a:t>
                </a:r>
              </a:p>
            </p:txBody>
          </p:sp>
          <p:sp>
            <p:nvSpPr>
              <p:cNvPr id="18591" name="Text Box 1482"/>
              <p:cNvSpPr txBox="1">
                <a:spLocks noChangeArrowheads="1"/>
              </p:cNvSpPr>
              <p:nvPr/>
            </p:nvSpPr>
            <p:spPr bwMode="auto">
              <a:xfrm>
                <a:off x="1021269" y="1724374"/>
                <a:ext cx="432758" cy="322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600">
                    <a:latin typeface="Times New Roman" panose="02020603050405020304" pitchFamily="18" charset="0"/>
                    <a:ea typeface="宋体" panose="02010600030101010101" pitchFamily="2" charset="-122"/>
                  </a:rPr>
                  <a:t>图例</a:t>
                </a:r>
              </a:p>
            </p:txBody>
          </p:sp>
          <p:pic>
            <p:nvPicPr>
              <p:cNvPr id="18592" name="Picture 148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2340" y="2161239"/>
                <a:ext cx="214052" cy="295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593" name="Text Box 1484"/>
              <p:cNvSpPr txBox="1">
                <a:spLocks noChangeArrowheads="1"/>
              </p:cNvSpPr>
              <p:nvPr/>
            </p:nvSpPr>
            <p:spPr bwMode="auto">
              <a:xfrm>
                <a:off x="1113507" y="2161239"/>
                <a:ext cx="80502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600" b="1">
                    <a:latin typeface="Times New Roman" panose="02020603050405020304" pitchFamily="18" charset="0"/>
                    <a:ea typeface="宋体" panose="02010600030101010101" pitchFamily="2" charset="-122"/>
                  </a:rPr>
                  <a:t>计算机</a:t>
                </a:r>
              </a:p>
            </p:txBody>
          </p:sp>
          <p:pic>
            <p:nvPicPr>
              <p:cNvPr id="18594" name="Picture 148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959483">
                <a:off x="718804" y="2599627"/>
                <a:ext cx="422288" cy="325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595" name="Text Box 1486"/>
              <p:cNvSpPr txBox="1">
                <a:spLocks noChangeArrowheads="1"/>
              </p:cNvSpPr>
              <p:nvPr/>
            </p:nvSpPr>
            <p:spPr bwMode="auto">
              <a:xfrm>
                <a:off x="1113507" y="2567662"/>
                <a:ext cx="80502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600" b="1">
                    <a:latin typeface="Times New Roman" panose="02020603050405020304" pitchFamily="18" charset="0"/>
                    <a:ea typeface="宋体" panose="02010600030101010101" pitchFamily="2" charset="-122"/>
                  </a:rPr>
                  <a:t>集线器</a:t>
                </a:r>
              </a:p>
            </p:txBody>
          </p:sp>
          <p:pic>
            <p:nvPicPr>
              <p:cNvPr id="18596" name="Picture 148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3257" y="3036493"/>
                <a:ext cx="253605" cy="184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597" name="Text Box 1488"/>
              <p:cNvSpPr txBox="1">
                <a:spLocks noChangeArrowheads="1"/>
              </p:cNvSpPr>
              <p:nvPr/>
            </p:nvSpPr>
            <p:spPr bwMode="auto">
              <a:xfrm>
                <a:off x="1113507" y="2974083"/>
                <a:ext cx="80502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600" b="1">
                    <a:latin typeface="Times New Roman" panose="02020603050405020304" pitchFamily="18" charset="0"/>
                    <a:ea typeface="宋体" panose="02010600030101010101" pitchFamily="2" charset="-122"/>
                  </a:rPr>
                  <a:t>路由器</a:t>
                </a:r>
              </a:p>
            </p:txBody>
          </p:sp>
          <p:grpSp>
            <p:nvGrpSpPr>
              <p:cNvPr id="18598" name="Group 1489"/>
              <p:cNvGrpSpPr>
                <a:grpSpLocks/>
              </p:cNvGrpSpPr>
              <p:nvPr/>
            </p:nvGrpSpPr>
            <p:grpSpPr bwMode="auto">
              <a:xfrm rot="-854928">
                <a:off x="767663" y="3375938"/>
                <a:ext cx="325732" cy="328791"/>
                <a:chOff x="2949" y="196"/>
                <a:chExt cx="941" cy="598"/>
              </a:xfrm>
            </p:grpSpPr>
            <p:sp>
              <p:nvSpPr>
                <p:cNvPr id="18599" name="Oval 1490"/>
                <p:cNvSpPr>
                  <a:spLocks noChangeArrowheads="1"/>
                </p:cNvSpPr>
                <p:nvPr/>
              </p:nvSpPr>
              <p:spPr bwMode="auto">
                <a:xfrm>
                  <a:off x="3168" y="196"/>
                  <a:ext cx="407" cy="162"/>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18600" name="Oval 1491"/>
                <p:cNvSpPr>
                  <a:spLocks noChangeArrowheads="1"/>
                </p:cNvSpPr>
                <p:nvPr/>
              </p:nvSpPr>
              <p:spPr bwMode="auto">
                <a:xfrm rot="900000">
                  <a:off x="3512" y="252"/>
                  <a:ext cx="275" cy="131"/>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18601" name="Oval 1492"/>
                <p:cNvSpPr>
                  <a:spLocks noChangeArrowheads="1"/>
                </p:cNvSpPr>
                <p:nvPr/>
              </p:nvSpPr>
              <p:spPr bwMode="auto">
                <a:xfrm rot="1500000">
                  <a:off x="3650" y="385"/>
                  <a:ext cx="240" cy="153"/>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18602" name="Oval 1493"/>
                <p:cNvSpPr>
                  <a:spLocks noChangeArrowheads="1"/>
                </p:cNvSpPr>
                <p:nvPr/>
              </p:nvSpPr>
              <p:spPr bwMode="auto">
                <a:xfrm rot="-1560000">
                  <a:off x="3573" y="537"/>
                  <a:ext cx="291" cy="189"/>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18603" name="Oval 1494"/>
                <p:cNvSpPr>
                  <a:spLocks noChangeArrowheads="1"/>
                </p:cNvSpPr>
                <p:nvPr/>
              </p:nvSpPr>
              <p:spPr bwMode="auto">
                <a:xfrm>
                  <a:off x="3216" y="555"/>
                  <a:ext cx="471" cy="239"/>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18604" name="Oval 1495"/>
                <p:cNvSpPr>
                  <a:spLocks noChangeArrowheads="1"/>
                </p:cNvSpPr>
                <p:nvPr/>
              </p:nvSpPr>
              <p:spPr bwMode="auto">
                <a:xfrm rot="1080000">
                  <a:off x="3023" y="555"/>
                  <a:ext cx="265" cy="156"/>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18605" name="Oval 1496"/>
                <p:cNvSpPr>
                  <a:spLocks noChangeArrowheads="1"/>
                </p:cNvSpPr>
                <p:nvPr/>
              </p:nvSpPr>
              <p:spPr bwMode="auto">
                <a:xfrm>
                  <a:off x="2949" y="432"/>
                  <a:ext cx="217" cy="156"/>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18606" name="Oval 1497"/>
                <p:cNvSpPr>
                  <a:spLocks noChangeArrowheads="1"/>
                </p:cNvSpPr>
                <p:nvPr/>
              </p:nvSpPr>
              <p:spPr bwMode="auto">
                <a:xfrm rot="-1860000">
                  <a:off x="2984" y="310"/>
                  <a:ext cx="295" cy="156"/>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18607" name="Freeform 1498"/>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sp>
              <p:nvSpPr>
                <p:cNvPr id="18608" name="Freeform 1499"/>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sp>
              <p:nvSpPr>
                <p:cNvPr id="18609" name="Freeform 1500"/>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grpSp>
          <p:sp>
            <p:nvSpPr>
              <p:cNvPr id="18610" name="Rectangle 1501"/>
              <p:cNvSpPr>
                <a:spLocks noChangeArrowheads="1"/>
              </p:cNvSpPr>
              <p:nvPr/>
            </p:nvSpPr>
            <p:spPr bwMode="auto">
              <a:xfrm>
                <a:off x="609451" y="1582346"/>
                <a:ext cx="1436144" cy="2278702"/>
              </a:xfrm>
              <a:prstGeom prst="rect">
                <a:avLst/>
              </a:prstGeom>
              <a:noFill/>
              <a:ln w="76200" cmpd="tri">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latin typeface="黑体" panose="02010609060101010101" pitchFamily="49" charset="-122"/>
                  <a:ea typeface="黑体" panose="02010609060101010101" pitchFamily="49" charset="-122"/>
                </a:endParaRPr>
              </a:p>
            </p:txBody>
          </p:sp>
        </p:grpSp>
      </p:grpSp>
      <p:sp>
        <p:nvSpPr>
          <p:cNvPr id="18611" name="灯片编号占位符 121"/>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7EA57AF-F299-4B91-8E20-E1DE9C137363}" type="slidenum">
              <a:rPr lang="zh-CN" altLang="en-US" smtClean="0"/>
              <a:pPr eaLnBrk="1" hangingPunct="1"/>
              <a:t>12</a:t>
            </a:fld>
            <a:endParaRPr lang="en-US" altLang="zh-CN" smtClean="0"/>
          </a:p>
        </p:txBody>
      </p:sp>
      <p:sp>
        <p:nvSpPr>
          <p:cNvPr id="18612" name="页脚占位符 140"/>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请注意名词“结点”</a:t>
            </a:r>
          </a:p>
        </p:txBody>
      </p:sp>
      <p:sp>
        <p:nvSpPr>
          <p:cNvPr id="32771"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在网络中， </a:t>
            </a:r>
            <a:r>
              <a:rPr lang="en-US" altLang="zh-CN" smtClean="0">
                <a:ea typeface="黑体" panose="02010609060101010101" pitchFamily="49" charset="-122"/>
              </a:rPr>
              <a:t>node </a:t>
            </a:r>
            <a:r>
              <a:rPr lang="zh-CN" altLang="en-US" smtClean="0">
                <a:ea typeface="黑体" panose="02010609060101010101" pitchFamily="49" charset="-122"/>
              </a:rPr>
              <a:t>的标准译名是“</a:t>
            </a:r>
            <a:r>
              <a:rPr lang="zh-CN" altLang="en-US" smtClean="0">
                <a:solidFill>
                  <a:srgbClr val="FF0000"/>
                </a:solidFill>
                <a:ea typeface="黑体" panose="02010609060101010101" pitchFamily="49" charset="-122"/>
              </a:rPr>
              <a:t>结点</a:t>
            </a:r>
            <a:r>
              <a:rPr lang="zh-CN" altLang="en-US" smtClean="0">
                <a:ea typeface="黑体" panose="02010609060101010101" pitchFamily="49" charset="-122"/>
              </a:rPr>
              <a:t>”而不是“</a:t>
            </a:r>
            <a:r>
              <a:rPr lang="zh-CN" altLang="en-US" smtClean="0">
                <a:solidFill>
                  <a:srgbClr val="0000CC"/>
                </a:solidFill>
                <a:ea typeface="黑体" panose="02010609060101010101" pitchFamily="49" charset="-122"/>
              </a:rPr>
              <a:t>节点</a:t>
            </a:r>
            <a:r>
              <a:rPr lang="zh-CN" altLang="en-US" smtClean="0">
                <a:ea typeface="黑体" panose="02010609060101010101" pitchFamily="49" charset="-122"/>
              </a:rPr>
              <a:t>”。</a:t>
            </a:r>
          </a:p>
          <a:p>
            <a:r>
              <a:rPr lang="zh-CN" altLang="en-US" smtClean="0">
                <a:ea typeface="黑体" panose="02010609060101010101" pitchFamily="49" charset="-122"/>
              </a:rPr>
              <a:t>虽然 </a:t>
            </a:r>
            <a:r>
              <a:rPr lang="en-US" altLang="zh-CN" smtClean="0">
                <a:ea typeface="黑体" panose="02010609060101010101" pitchFamily="49" charset="-122"/>
              </a:rPr>
              <a:t>node </a:t>
            </a:r>
            <a:r>
              <a:rPr lang="zh-CN" altLang="en-US" smtClean="0">
                <a:ea typeface="黑体" panose="02010609060101010101" pitchFamily="49" charset="-122"/>
              </a:rPr>
              <a:t>有时也可译为“节点”，但这是指像天线上的驻波的节点，这种节点很像竹竿上的“节”。</a:t>
            </a:r>
          </a:p>
          <a:p>
            <a:r>
              <a:rPr lang="zh-CN" altLang="en-US" smtClean="0">
                <a:ea typeface="黑体" panose="02010609060101010101" pitchFamily="49" charset="-122"/>
              </a:rPr>
              <a:t>数据结构的树 </a:t>
            </a:r>
            <a:r>
              <a:rPr lang="en-US" altLang="zh-CN" smtClean="0">
                <a:ea typeface="黑体" panose="02010609060101010101" pitchFamily="49" charset="-122"/>
              </a:rPr>
              <a:t>(tree) </a:t>
            </a:r>
            <a:r>
              <a:rPr lang="zh-CN" altLang="en-US" smtClean="0">
                <a:ea typeface="黑体" panose="02010609060101010101" pitchFamily="49" charset="-122"/>
              </a:rPr>
              <a:t>中的 </a:t>
            </a:r>
            <a:r>
              <a:rPr lang="en-US" altLang="zh-CN" smtClean="0">
                <a:ea typeface="黑体" panose="02010609060101010101" pitchFamily="49" charset="-122"/>
              </a:rPr>
              <a:t>node </a:t>
            </a:r>
            <a:r>
              <a:rPr lang="zh-CN" altLang="en-US" smtClean="0">
                <a:ea typeface="黑体" panose="02010609060101010101" pitchFamily="49" charset="-122"/>
              </a:rPr>
              <a:t>应当译为“节点”。</a:t>
            </a:r>
          </a:p>
        </p:txBody>
      </p:sp>
      <p:sp>
        <p:nvSpPr>
          <p:cNvPr id="1945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072A0A3-BB23-4C30-86AA-D13A1E373FE8}" type="slidenum">
              <a:rPr lang="zh-CN" altLang="en-US" smtClean="0"/>
              <a:pPr eaLnBrk="1" hangingPunct="1"/>
              <a:t>13</a:t>
            </a:fld>
            <a:endParaRPr lang="en-US" altLang="zh-CN" smtClean="0"/>
          </a:p>
        </p:txBody>
      </p:sp>
      <p:sp>
        <p:nvSpPr>
          <p:cNvPr id="1946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77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77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495300" y="188913"/>
            <a:ext cx="8915400" cy="792162"/>
          </a:xfrm>
        </p:spPr>
        <p:txBody>
          <a:bodyPr/>
          <a:lstStyle/>
          <a:p>
            <a:pPr algn="ctr"/>
            <a:r>
              <a:rPr lang="zh-CN" altLang="en-US" smtClean="0">
                <a:ea typeface="黑体" panose="02010609060101010101" pitchFamily="49" charset="-122"/>
              </a:rPr>
              <a:t>关于“云”</a:t>
            </a:r>
          </a:p>
        </p:txBody>
      </p:sp>
      <p:sp>
        <p:nvSpPr>
          <p:cNvPr id="32771" name="Rectangle 3"/>
          <p:cNvSpPr>
            <a:spLocks noGrp="1" noChangeArrowheads="1"/>
          </p:cNvSpPr>
          <p:nvPr>
            <p:ph type="body" sz="half" idx="1"/>
          </p:nvPr>
        </p:nvSpPr>
        <p:spPr>
          <a:xfrm>
            <a:off x="495300" y="1196975"/>
            <a:ext cx="4745038" cy="4933950"/>
          </a:xfrm>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zh-CN" sz="2800" noProof="1"/>
              <a:t>当使用一朵</a:t>
            </a:r>
            <a:r>
              <a:rPr lang="zh-CN" altLang="en-US" sz="2800" noProof="1"/>
              <a:t>“</a:t>
            </a:r>
            <a:r>
              <a:rPr lang="zh-CN" altLang="zh-CN" sz="2800" noProof="1"/>
              <a:t>云</a:t>
            </a:r>
            <a:r>
              <a:rPr lang="zh-CN" altLang="en-US" sz="2800" noProof="1"/>
              <a:t>”</a:t>
            </a:r>
            <a:r>
              <a:rPr lang="zh-CN" altLang="zh-CN" sz="2800" noProof="1"/>
              <a:t>来表示网络时，可能会有两种不同的情况</a:t>
            </a:r>
            <a:r>
              <a:rPr lang="zh-CN" altLang="en-US" sz="2800" noProof="1"/>
              <a:t>：</a:t>
            </a:r>
            <a:endParaRPr lang="en-US" altLang="zh-CN" sz="2800" noProof="1"/>
          </a:p>
          <a:p>
            <a:pPr marL="360680" indent="-360680">
              <a:buClr>
                <a:srgbClr val="C00000"/>
              </a:buClr>
              <a:buSzPct val="90000"/>
              <a:buFont typeface="+mj-lt"/>
              <a:buAutoNum type="arabicPeriod"/>
            </a:pPr>
            <a:r>
              <a:rPr lang="zh-CN" altLang="zh-CN" sz="2800" noProof="1"/>
              <a:t>云表示的网络已经包含了和网络相连的计算机</a:t>
            </a:r>
            <a:r>
              <a:rPr lang="zh-CN" altLang="en-US" sz="2800" noProof="1"/>
              <a:t>。</a:t>
            </a:r>
            <a:endParaRPr lang="en-US" altLang="zh-CN" sz="2800" noProof="1"/>
          </a:p>
          <a:p>
            <a:pPr marL="360680" indent="-360680">
              <a:buClr>
                <a:srgbClr val="C00000"/>
              </a:buClr>
              <a:buSzPct val="90000"/>
              <a:buFont typeface="+mj-lt"/>
              <a:buAutoNum type="arabicPeriod"/>
            </a:pPr>
            <a:r>
              <a:rPr lang="zh-CN" altLang="zh-CN" sz="2800" noProof="1"/>
              <a:t>云表示的</a:t>
            </a:r>
            <a:r>
              <a:rPr lang="zh-CN" altLang="en-US" sz="2800" noProof="1"/>
              <a:t>网络</a:t>
            </a:r>
            <a:r>
              <a:rPr lang="zh-CN" altLang="zh-CN" sz="2800" noProof="1"/>
              <a:t>里面就只剩下许多路由器和连接这些路由器的链路</a:t>
            </a:r>
            <a:r>
              <a:rPr lang="zh-CN" altLang="en-US" sz="2800" noProof="1"/>
              <a:t>，</a:t>
            </a:r>
            <a:r>
              <a:rPr lang="zh-CN" altLang="zh-CN" sz="2800" noProof="1"/>
              <a:t>把有关的计算机画在云的外面</a:t>
            </a:r>
            <a:r>
              <a:rPr lang="zh-CN" altLang="en-US" sz="2800" noProof="1"/>
              <a:t>。</a:t>
            </a:r>
            <a:r>
              <a:rPr lang="zh-CN" altLang="zh-CN" sz="2800" noProof="1">
                <a:solidFill>
                  <a:srgbClr val="0000CC"/>
                </a:solidFill>
              </a:rPr>
              <a:t>习惯上，与网络相连的计算机常称为</a:t>
            </a:r>
            <a:r>
              <a:rPr lang="zh-CN" altLang="zh-CN" sz="2800" noProof="1">
                <a:solidFill>
                  <a:srgbClr val="FF0000"/>
                </a:solidFill>
              </a:rPr>
              <a:t>主机</a:t>
            </a:r>
            <a:r>
              <a:rPr lang="en-US" altLang="zh-CN" sz="2800" noProof="1">
                <a:solidFill>
                  <a:srgbClr val="FF0000"/>
                </a:solidFill>
              </a:rPr>
              <a:t> </a:t>
            </a:r>
            <a:r>
              <a:rPr lang="en-US" altLang="zh-CN" sz="2800" noProof="1">
                <a:solidFill>
                  <a:srgbClr val="0000CC"/>
                </a:solidFill>
              </a:rPr>
              <a:t>(host)</a:t>
            </a:r>
            <a:r>
              <a:rPr lang="zh-CN" altLang="en-US" sz="2800" noProof="1">
                <a:solidFill>
                  <a:srgbClr val="0000CC"/>
                </a:solidFill>
              </a:rPr>
              <a:t>。</a:t>
            </a:r>
          </a:p>
        </p:txBody>
      </p:sp>
      <p:grpSp>
        <p:nvGrpSpPr>
          <p:cNvPr id="21507" name="组合 22"/>
          <p:cNvGrpSpPr>
            <a:grpSpLocks/>
          </p:cNvGrpSpPr>
          <p:nvPr/>
        </p:nvGrpSpPr>
        <p:grpSpPr bwMode="auto">
          <a:xfrm>
            <a:off x="5384800" y="1887538"/>
            <a:ext cx="4305300" cy="3773487"/>
            <a:chOff x="5385048" y="1844824"/>
            <a:chExt cx="4305002" cy="3774033"/>
          </a:xfrm>
        </p:grpSpPr>
        <p:grpSp>
          <p:nvGrpSpPr>
            <p:cNvPr id="21508" name="组合 3"/>
            <p:cNvGrpSpPr>
              <a:grpSpLocks/>
            </p:cNvGrpSpPr>
            <p:nvPr/>
          </p:nvGrpSpPr>
          <p:grpSpPr bwMode="auto">
            <a:xfrm>
              <a:off x="5385048" y="1844824"/>
              <a:ext cx="4305002" cy="2946676"/>
              <a:chOff x="5600998" y="2477535"/>
              <a:chExt cx="3892550" cy="2601997"/>
            </a:xfrm>
          </p:grpSpPr>
          <p:sp>
            <p:nvSpPr>
              <p:cNvPr id="6" name="Line 1280"/>
              <p:cNvSpPr>
                <a:spLocks noChangeShapeType="1"/>
              </p:cNvSpPr>
              <p:nvPr/>
            </p:nvSpPr>
            <p:spPr bwMode="auto">
              <a:xfrm flipH="1" flipV="1">
                <a:off x="5685682" y="3412675"/>
                <a:ext cx="1067868" cy="20749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latin typeface="+mn-lt"/>
                  <a:ea typeface="黑体" panose="02010609060101010101" pitchFamily="2" charset="-122"/>
                </a:endParaRPr>
              </a:p>
            </p:txBody>
          </p:sp>
          <p:sp>
            <p:nvSpPr>
              <p:cNvPr id="7" name="Line 1269"/>
              <p:cNvSpPr>
                <a:spLocks noChangeShapeType="1"/>
              </p:cNvSpPr>
              <p:nvPr/>
            </p:nvSpPr>
            <p:spPr bwMode="auto">
              <a:xfrm flipH="1">
                <a:off x="8553423" y="3691675"/>
                <a:ext cx="686076"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latin typeface="+mn-lt"/>
                  <a:ea typeface="黑体" panose="02010609060101010101" pitchFamily="2" charset="-122"/>
                </a:endParaRPr>
              </a:p>
            </p:txBody>
          </p:sp>
          <p:sp>
            <p:nvSpPr>
              <p:cNvPr id="8" name="Line 1206"/>
              <p:cNvSpPr>
                <a:spLocks noChangeShapeType="1"/>
              </p:cNvSpPr>
              <p:nvPr/>
            </p:nvSpPr>
            <p:spPr bwMode="auto">
              <a:xfrm flipH="1">
                <a:off x="8049630" y="2899539"/>
                <a:ext cx="360262" cy="43181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latin typeface="+mn-lt"/>
                  <a:ea typeface="黑体" panose="02010609060101010101" pitchFamily="2" charset="-122"/>
                </a:endParaRPr>
              </a:p>
            </p:txBody>
          </p:sp>
          <p:sp>
            <p:nvSpPr>
              <p:cNvPr id="9" name="Line 1205"/>
              <p:cNvSpPr>
                <a:spLocks noChangeShapeType="1"/>
              </p:cNvSpPr>
              <p:nvPr/>
            </p:nvSpPr>
            <p:spPr bwMode="auto">
              <a:xfrm flipH="1" flipV="1">
                <a:off x="7977865" y="4267901"/>
                <a:ext cx="380357" cy="45705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latin typeface="+mn-lt"/>
                  <a:ea typeface="黑体" panose="02010609060101010101" pitchFamily="2" charset="-122"/>
                </a:endParaRPr>
              </a:p>
            </p:txBody>
          </p:sp>
          <p:sp>
            <p:nvSpPr>
              <p:cNvPr id="10" name="Line 1209"/>
              <p:cNvSpPr>
                <a:spLocks noChangeShapeType="1"/>
              </p:cNvSpPr>
              <p:nvPr/>
            </p:nvSpPr>
            <p:spPr bwMode="auto">
              <a:xfrm>
                <a:off x="6753549" y="2899539"/>
                <a:ext cx="287061" cy="504723"/>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latin typeface="+mn-lt"/>
                  <a:ea typeface="黑体" panose="02010609060101010101" pitchFamily="2" charset="-122"/>
                </a:endParaRPr>
              </a:p>
            </p:txBody>
          </p:sp>
          <p:sp>
            <p:nvSpPr>
              <p:cNvPr id="11" name="Line 1204"/>
              <p:cNvSpPr>
                <a:spLocks noChangeShapeType="1"/>
              </p:cNvSpPr>
              <p:nvPr/>
            </p:nvSpPr>
            <p:spPr bwMode="auto">
              <a:xfrm flipV="1">
                <a:off x="6897080" y="4196399"/>
                <a:ext cx="143531" cy="52855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latin typeface="+mn-lt"/>
                  <a:ea typeface="黑体" panose="02010609060101010101" pitchFamily="2" charset="-122"/>
                </a:endParaRPr>
              </a:p>
            </p:txBody>
          </p:sp>
          <p:sp>
            <p:nvSpPr>
              <p:cNvPr id="12" name="Line 1237"/>
              <p:cNvSpPr>
                <a:spLocks noChangeShapeType="1"/>
              </p:cNvSpPr>
              <p:nvPr/>
            </p:nvSpPr>
            <p:spPr bwMode="auto">
              <a:xfrm flipV="1">
                <a:off x="6142109" y="4022549"/>
                <a:ext cx="533934" cy="30423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latin typeface="+mn-lt"/>
                  <a:ea typeface="黑体" panose="02010609060101010101" pitchFamily="2" charset="-122"/>
                </a:endParaRPr>
              </a:p>
            </p:txBody>
          </p:sp>
          <p:pic>
            <p:nvPicPr>
              <p:cNvPr id="21516" name="Picture 126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64823" y="2612557"/>
                <a:ext cx="436562"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7" name="Picture 126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32860" y="2612557"/>
                <a:ext cx="436563"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8" name="Picture 126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056985" y="3331695"/>
                <a:ext cx="436563"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9" name="Picture 126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3385" y="4628682"/>
                <a:ext cx="436563"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20" name="Picture 126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80498" y="4628682"/>
                <a:ext cx="436562"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21" name="Picture 126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37535" y="4022257"/>
                <a:ext cx="436563"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 Box 1271"/>
              <p:cNvSpPr txBox="1">
                <a:spLocks noChangeArrowheads="1"/>
              </p:cNvSpPr>
              <p:nvPr/>
            </p:nvSpPr>
            <p:spPr bwMode="auto">
              <a:xfrm>
                <a:off x="6957363" y="2477535"/>
                <a:ext cx="727700" cy="407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b="1" kern="0" dirty="0">
                    <a:solidFill>
                      <a:srgbClr val="000000"/>
                    </a:solidFill>
                    <a:latin typeface="+mn-lt"/>
                    <a:ea typeface="黑体" panose="02010609060101010101" pitchFamily="2" charset="-122"/>
                  </a:rPr>
                  <a:t>主机</a:t>
                </a:r>
              </a:p>
            </p:txBody>
          </p:sp>
          <p:pic>
            <p:nvPicPr>
              <p:cNvPr id="21523" name="Picture 127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00998" y="3188820"/>
                <a:ext cx="436562"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1524" name="Object 1461"/>
              <p:cNvGraphicFramePr>
                <a:graphicFrameLocks noChangeAspect="1"/>
              </p:cNvGraphicFramePr>
              <p:nvPr/>
            </p:nvGraphicFramePr>
            <p:xfrm>
              <a:off x="6393118" y="3045136"/>
              <a:ext cx="2447367" cy="1727026"/>
            </p:xfrm>
            <a:graphic>
              <a:graphicData uri="http://schemas.openxmlformats.org/presentationml/2006/ole">
                <mc:AlternateContent xmlns:mc="http://schemas.openxmlformats.org/markup-compatibility/2006">
                  <mc:Choice xmlns:v="urn:schemas-microsoft-com:vml" Requires="v">
                    <p:oleObj spid="_x0000_s21550" r:id="rId5" imgW="1646640" imgH="938520" progId="">
                      <p:embed/>
                    </p:oleObj>
                  </mc:Choice>
                  <mc:Fallback>
                    <p:oleObj r:id="rId5" imgW="1646640" imgH="938520" progId="">
                      <p:embed/>
                      <p:pic>
                        <p:nvPicPr>
                          <p:cNvPr id="0" name="Object 146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93118" y="3045136"/>
                            <a:ext cx="2447367" cy="172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 name="Text Box 1185"/>
              <p:cNvSpPr txBox="1">
                <a:spLocks noChangeArrowheads="1"/>
              </p:cNvSpPr>
              <p:nvPr/>
            </p:nvSpPr>
            <p:spPr bwMode="auto">
              <a:xfrm>
                <a:off x="7060705" y="3631388"/>
                <a:ext cx="1145374" cy="462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zh-CN" altLang="en-US" sz="2800" b="1" kern="0" dirty="0">
                    <a:solidFill>
                      <a:srgbClr val="000000"/>
                    </a:solidFill>
                    <a:latin typeface="+mn-lt"/>
                    <a:ea typeface="黑体" panose="02010609060101010101" pitchFamily="2" charset="-122"/>
                  </a:rPr>
                  <a:t>互连网</a:t>
                </a:r>
              </a:p>
            </p:txBody>
          </p:sp>
        </p:grpSp>
        <p:sp>
          <p:nvSpPr>
            <p:cNvPr id="21526" name="矩形 4"/>
            <p:cNvSpPr>
              <a:spLocks noChangeArrowheads="1"/>
            </p:cNvSpPr>
            <p:nvPr/>
          </p:nvSpPr>
          <p:spPr bwMode="auto">
            <a:xfrm>
              <a:off x="5915514" y="5157192"/>
              <a:ext cx="34483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400" b="1">
                  <a:ea typeface="黑体" panose="02010609060101010101" pitchFamily="49" charset="-122"/>
                </a:rPr>
                <a:t> </a:t>
              </a:r>
              <a:r>
                <a:rPr lang="zh-CN" altLang="zh-CN" sz="2400" b="1">
                  <a:ea typeface="黑体" panose="02010609060101010101" pitchFamily="49" charset="-122"/>
                </a:rPr>
                <a:t>互连网与所连接的主机</a:t>
              </a:r>
              <a:endParaRPr lang="zh-CN" altLang="en-US" sz="2400" b="1">
                <a:ea typeface="黑体" panose="02010609060101010101" pitchFamily="49" charset="-122"/>
              </a:endParaRPr>
            </a:p>
          </p:txBody>
        </p:sp>
      </p:grpSp>
      <p:sp>
        <p:nvSpPr>
          <p:cNvPr id="21527" name="灯片编号占位符 2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F8C36DA-592F-465F-B1D8-6285B23D8C39}" type="slidenum">
              <a:rPr lang="zh-CN" altLang="en-US" smtClean="0"/>
              <a:pPr eaLnBrk="1" hangingPunct="1"/>
              <a:t>14</a:t>
            </a:fld>
            <a:endParaRPr lang="en-US" altLang="zh-CN" smtClean="0"/>
          </a:p>
        </p:txBody>
      </p:sp>
      <p:sp>
        <p:nvSpPr>
          <p:cNvPr id="21528" name="页脚占位符 2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77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77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标题 4"/>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基本概念要清楚</a:t>
            </a:r>
          </a:p>
        </p:txBody>
      </p:sp>
      <p:sp>
        <p:nvSpPr>
          <p:cNvPr id="23554" name="内容占位符 5"/>
          <p:cNvSpPr>
            <a:spLocks noGrp="1" noChangeArrowheads="1"/>
          </p:cNvSpPr>
          <p:nvPr>
            <p:ph idx="1"/>
          </p:nvPr>
        </p:nvSpPr>
        <p:spPr>
          <a:xfrm>
            <a:off x="495300" y="1196975"/>
            <a:ext cx="9066213" cy="4933950"/>
          </a:xfrm>
        </p:spPr>
        <p:txBody>
          <a:bodyPr/>
          <a:lstStyle/>
          <a:p>
            <a:r>
              <a:rPr lang="zh-CN" altLang="zh-CN" smtClean="0">
                <a:solidFill>
                  <a:srgbClr val="FF0000"/>
                </a:solidFill>
                <a:ea typeface="黑体" panose="02010609060101010101" pitchFamily="49" charset="-122"/>
              </a:rPr>
              <a:t>网络</a:t>
            </a:r>
            <a:r>
              <a:rPr lang="zh-CN" altLang="zh-CN" smtClean="0">
                <a:ea typeface="黑体" panose="02010609060101010101" pitchFamily="49" charset="-122"/>
              </a:rPr>
              <a:t>把许多计算机连接在一起</a:t>
            </a:r>
            <a:r>
              <a:rPr lang="zh-CN" altLang="en-US" smtClean="0">
                <a:ea typeface="黑体" panose="02010609060101010101" pitchFamily="49" charset="-122"/>
              </a:rPr>
              <a:t>。</a:t>
            </a:r>
            <a:endParaRPr lang="en-US" altLang="zh-CN" smtClean="0">
              <a:ea typeface="黑体" panose="02010609060101010101" pitchFamily="49" charset="-122"/>
            </a:endParaRPr>
          </a:p>
          <a:p>
            <a:r>
              <a:rPr lang="zh-CN" altLang="zh-CN" smtClean="0">
                <a:solidFill>
                  <a:srgbClr val="FF0000"/>
                </a:solidFill>
                <a:ea typeface="黑体" panose="02010609060101010101" pitchFamily="49" charset="-122"/>
              </a:rPr>
              <a:t>互连网</a:t>
            </a:r>
            <a:r>
              <a:rPr lang="zh-CN" altLang="zh-CN" smtClean="0">
                <a:ea typeface="黑体" panose="02010609060101010101" pitchFamily="49" charset="-122"/>
              </a:rPr>
              <a:t>则把许多网络通过路由器连接在一起</a:t>
            </a:r>
            <a:r>
              <a:rPr lang="zh-CN" altLang="en-US" smtClean="0">
                <a:ea typeface="黑体" panose="02010609060101010101" pitchFamily="49" charset="-122"/>
              </a:rPr>
              <a:t>。</a:t>
            </a:r>
            <a:endParaRPr lang="en-US" altLang="zh-CN" smtClean="0">
              <a:ea typeface="黑体" panose="02010609060101010101" pitchFamily="49" charset="-122"/>
            </a:endParaRPr>
          </a:p>
          <a:p>
            <a:r>
              <a:rPr lang="zh-CN" altLang="zh-CN" smtClean="0">
                <a:ea typeface="黑体" panose="02010609060101010101" pitchFamily="49" charset="-122"/>
              </a:rPr>
              <a:t>与网络相连的计算机常称为</a:t>
            </a:r>
            <a:r>
              <a:rPr lang="zh-CN" altLang="zh-CN" smtClean="0">
                <a:solidFill>
                  <a:srgbClr val="0000CC"/>
                </a:solidFill>
                <a:ea typeface="黑体" panose="02010609060101010101" pitchFamily="49" charset="-122"/>
              </a:rPr>
              <a:t>主机</a:t>
            </a:r>
            <a:r>
              <a:rPr lang="zh-CN" altLang="en-US" smtClean="0">
                <a:ea typeface="黑体" panose="02010609060101010101" pitchFamily="49" charset="-122"/>
              </a:rPr>
              <a:t>。</a:t>
            </a:r>
          </a:p>
        </p:txBody>
      </p:sp>
      <p:grpSp>
        <p:nvGrpSpPr>
          <p:cNvPr id="23555" name="组合 177"/>
          <p:cNvGrpSpPr>
            <a:grpSpLocks/>
          </p:cNvGrpSpPr>
          <p:nvPr/>
        </p:nvGrpSpPr>
        <p:grpSpPr bwMode="auto">
          <a:xfrm>
            <a:off x="1497013" y="3068638"/>
            <a:ext cx="7848600" cy="3143250"/>
            <a:chOff x="1496616" y="3068960"/>
            <a:chExt cx="7848871" cy="3143460"/>
          </a:xfrm>
        </p:grpSpPr>
        <p:grpSp>
          <p:nvGrpSpPr>
            <p:cNvPr id="23556" name="组合 175"/>
            <p:cNvGrpSpPr>
              <a:grpSpLocks/>
            </p:cNvGrpSpPr>
            <p:nvPr/>
          </p:nvGrpSpPr>
          <p:grpSpPr bwMode="auto">
            <a:xfrm>
              <a:off x="1496616" y="3068960"/>
              <a:ext cx="5625654" cy="3143460"/>
              <a:chOff x="2068165" y="2996953"/>
              <a:chExt cx="5625654" cy="3143460"/>
            </a:xfrm>
          </p:grpSpPr>
          <p:grpSp>
            <p:nvGrpSpPr>
              <p:cNvPr id="23557" name="Group 1504"/>
              <p:cNvGrpSpPr>
                <a:grpSpLocks/>
              </p:cNvGrpSpPr>
              <p:nvPr/>
            </p:nvGrpSpPr>
            <p:grpSpPr bwMode="auto">
              <a:xfrm>
                <a:off x="2775211" y="3490809"/>
                <a:ext cx="4021357" cy="2649604"/>
                <a:chOff x="109" y="1226"/>
                <a:chExt cx="2516" cy="1675"/>
              </a:xfrm>
            </p:grpSpPr>
            <p:grpSp>
              <p:nvGrpSpPr>
                <p:cNvPr id="23558" name="Group 1505"/>
                <p:cNvGrpSpPr>
                  <a:grpSpLocks/>
                </p:cNvGrpSpPr>
                <p:nvPr/>
              </p:nvGrpSpPr>
              <p:grpSpPr bwMode="auto">
                <a:xfrm>
                  <a:off x="109" y="1226"/>
                  <a:ext cx="2516" cy="1675"/>
                  <a:chOff x="109" y="1226"/>
                  <a:chExt cx="2516" cy="1675"/>
                </a:xfrm>
              </p:grpSpPr>
              <p:grpSp>
                <p:nvGrpSpPr>
                  <p:cNvPr id="23559" name="Group 1506"/>
                  <p:cNvGrpSpPr>
                    <a:grpSpLocks/>
                  </p:cNvGrpSpPr>
                  <p:nvPr/>
                </p:nvGrpSpPr>
                <p:grpSpPr bwMode="auto">
                  <a:xfrm>
                    <a:off x="109" y="1226"/>
                    <a:ext cx="2516" cy="1675"/>
                    <a:chOff x="109" y="1226"/>
                    <a:chExt cx="2516" cy="1675"/>
                  </a:xfrm>
                </p:grpSpPr>
                <p:sp>
                  <p:nvSpPr>
                    <p:cNvPr id="127" name="Oval 1507"/>
                    <p:cNvSpPr>
                      <a:spLocks noChangeArrowheads="1"/>
                    </p:cNvSpPr>
                    <p:nvPr/>
                  </p:nvSpPr>
                  <p:spPr bwMode="auto">
                    <a:xfrm>
                      <a:off x="1750" y="1896"/>
                      <a:ext cx="876" cy="829"/>
                    </a:xfrm>
                    <a:prstGeom prst="ellipse">
                      <a:avLst/>
                    </a:prstGeom>
                    <a:solidFill>
                      <a:srgbClr val="DDDDDD"/>
                    </a:solidFill>
                    <a:ln w="9525">
                      <a:solidFill>
                        <a:srgbClr val="000000"/>
                      </a:solidFill>
                      <a:prstDash val="dash"/>
                      <a:round/>
                    </a:ln>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28" name="Oval 1508"/>
                    <p:cNvSpPr>
                      <a:spLocks noChangeArrowheads="1"/>
                    </p:cNvSpPr>
                    <p:nvPr/>
                  </p:nvSpPr>
                  <p:spPr bwMode="auto">
                    <a:xfrm>
                      <a:off x="109" y="1632"/>
                      <a:ext cx="859" cy="831"/>
                    </a:xfrm>
                    <a:prstGeom prst="ellipse">
                      <a:avLst/>
                    </a:prstGeom>
                    <a:solidFill>
                      <a:srgbClr val="DDDDDD"/>
                    </a:solidFill>
                    <a:ln w="9525">
                      <a:solidFill>
                        <a:srgbClr val="000000"/>
                      </a:solidFill>
                      <a:prstDash val="dash"/>
                      <a:round/>
                    </a:ln>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29" name="Oval 1509"/>
                    <p:cNvSpPr>
                      <a:spLocks noChangeArrowheads="1"/>
                    </p:cNvSpPr>
                    <p:nvPr/>
                  </p:nvSpPr>
                  <p:spPr bwMode="auto">
                    <a:xfrm>
                      <a:off x="1612" y="1341"/>
                      <a:ext cx="874" cy="802"/>
                    </a:xfrm>
                    <a:prstGeom prst="ellipse">
                      <a:avLst/>
                    </a:prstGeom>
                    <a:solidFill>
                      <a:srgbClr val="DDDDDD"/>
                    </a:solidFill>
                    <a:ln w="9525">
                      <a:solidFill>
                        <a:srgbClr val="000000"/>
                      </a:solidFill>
                      <a:prstDash val="dash"/>
                      <a:round/>
                    </a:ln>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30" name="Oval 1510"/>
                    <p:cNvSpPr>
                      <a:spLocks noChangeArrowheads="1"/>
                    </p:cNvSpPr>
                    <p:nvPr/>
                  </p:nvSpPr>
                  <p:spPr bwMode="auto">
                    <a:xfrm>
                      <a:off x="1152" y="2055"/>
                      <a:ext cx="876" cy="846"/>
                    </a:xfrm>
                    <a:prstGeom prst="ellipse">
                      <a:avLst/>
                    </a:prstGeom>
                    <a:solidFill>
                      <a:srgbClr val="DDDDDD"/>
                    </a:solidFill>
                    <a:ln w="9525">
                      <a:solidFill>
                        <a:srgbClr val="000000"/>
                      </a:solidFill>
                      <a:prstDash val="dash"/>
                      <a:round/>
                    </a:ln>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31" name="Oval 1511"/>
                    <p:cNvSpPr>
                      <a:spLocks noChangeArrowheads="1"/>
                    </p:cNvSpPr>
                    <p:nvPr/>
                  </p:nvSpPr>
                  <p:spPr bwMode="auto">
                    <a:xfrm>
                      <a:off x="400" y="1982"/>
                      <a:ext cx="874" cy="802"/>
                    </a:xfrm>
                    <a:prstGeom prst="ellipse">
                      <a:avLst/>
                    </a:prstGeom>
                    <a:solidFill>
                      <a:srgbClr val="DDDDDD"/>
                    </a:solidFill>
                    <a:ln w="9525">
                      <a:solidFill>
                        <a:srgbClr val="000000"/>
                      </a:solidFill>
                      <a:prstDash val="dash"/>
                      <a:round/>
                    </a:ln>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32" name="Oval 1512"/>
                    <p:cNvSpPr>
                      <a:spLocks noChangeArrowheads="1"/>
                    </p:cNvSpPr>
                    <p:nvPr/>
                  </p:nvSpPr>
                  <p:spPr bwMode="auto">
                    <a:xfrm>
                      <a:off x="1075" y="1226"/>
                      <a:ext cx="859" cy="829"/>
                    </a:xfrm>
                    <a:prstGeom prst="ellipse">
                      <a:avLst/>
                    </a:prstGeom>
                    <a:solidFill>
                      <a:srgbClr val="DDDDDD"/>
                    </a:solidFill>
                    <a:ln w="9525">
                      <a:solidFill>
                        <a:srgbClr val="000000"/>
                      </a:solidFill>
                      <a:prstDash val="dash"/>
                      <a:round/>
                    </a:ln>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33" name="Oval 1513"/>
                    <p:cNvSpPr>
                      <a:spLocks noChangeArrowheads="1"/>
                    </p:cNvSpPr>
                    <p:nvPr/>
                  </p:nvSpPr>
                  <p:spPr bwMode="auto">
                    <a:xfrm>
                      <a:off x="523" y="1226"/>
                      <a:ext cx="859" cy="799"/>
                    </a:xfrm>
                    <a:prstGeom prst="ellipse">
                      <a:avLst/>
                    </a:prstGeom>
                    <a:solidFill>
                      <a:srgbClr val="DDDDDD"/>
                    </a:solidFill>
                    <a:ln w="9525">
                      <a:solidFill>
                        <a:srgbClr val="000000"/>
                      </a:solidFill>
                      <a:prstDash val="dash"/>
                      <a:round/>
                    </a:ln>
                  </p:spPr>
                  <p:txBody>
                    <a:bodyPr/>
                    <a:lstStyle/>
                    <a:p>
                      <a:pPr fontAlgn="auto">
                        <a:spcBef>
                          <a:spcPts val="0"/>
                        </a:spcBef>
                        <a:spcAft>
                          <a:spcPts val="0"/>
                        </a:spcAft>
                        <a:defRPr/>
                      </a:pPr>
                      <a:endParaRPr lang="zh-CN" altLang="en-US" sz="2000" b="1" kern="0">
                        <a:solidFill>
                          <a:sysClr val="windowText" lastClr="000000"/>
                        </a:solidFill>
                      </a:endParaRPr>
                    </a:p>
                  </p:txBody>
                </p:sp>
              </p:grpSp>
              <p:sp>
                <p:nvSpPr>
                  <p:cNvPr id="126" name="Oval 1514"/>
                  <p:cNvSpPr>
                    <a:spLocks noChangeArrowheads="1"/>
                  </p:cNvSpPr>
                  <p:nvPr/>
                </p:nvSpPr>
                <p:spPr bwMode="auto">
                  <a:xfrm>
                    <a:off x="339" y="1414"/>
                    <a:ext cx="2086" cy="1152"/>
                  </a:xfrm>
                  <a:prstGeom prst="ellipse">
                    <a:avLst/>
                  </a:prstGeom>
                  <a:solidFill>
                    <a:srgbClr val="DDDDDD"/>
                  </a:solidFill>
                  <a:ln>
                    <a:noFill/>
                  </a:ln>
                  <a:extLst>
                    <a:ext uri="{91240B29-F687-4F45-9708-019B960494DF}">
                      <a14:hiddenLine xmlns:a14="http://schemas.microsoft.com/office/drawing/2010/main" w="9525">
                        <a:solidFill>
                          <a:srgbClr val="000000"/>
                        </a:solidFill>
                        <a:prstDash val="dash"/>
                        <a:roun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grpSp>
            <p:sp>
              <p:nvSpPr>
                <p:cNvPr id="124" name="Freeform 1515"/>
                <p:cNvSpPr/>
                <p:nvPr/>
              </p:nvSpPr>
              <p:spPr bwMode="auto">
                <a:xfrm>
                  <a:off x="348" y="2192"/>
                  <a:ext cx="126" cy="224"/>
                </a:xfrm>
                <a:custGeom>
                  <a:avLst/>
                  <a:gdLst>
                    <a:gd name="T0" fmla="*/ 68 w 126"/>
                    <a:gd name="T1" fmla="*/ 0 h 224"/>
                    <a:gd name="T2" fmla="*/ 92 w 126"/>
                    <a:gd name="T3" fmla="*/ 24 h 224"/>
                    <a:gd name="T4" fmla="*/ 116 w 126"/>
                    <a:gd name="T5" fmla="*/ 40 h 224"/>
                    <a:gd name="T6" fmla="*/ 76 w 126"/>
                    <a:gd name="T7" fmla="*/ 216 h 224"/>
                    <a:gd name="T8" fmla="*/ 52 w 126"/>
                    <a:gd name="T9" fmla="*/ 224 h 224"/>
                    <a:gd name="T10" fmla="*/ 36 w 126"/>
                    <a:gd name="T11" fmla="*/ 128 h 224"/>
                    <a:gd name="T12" fmla="*/ 68 w 126"/>
                    <a:gd name="T13" fmla="*/ 0 h 224"/>
                    <a:gd name="T14" fmla="*/ 0 60000 65536"/>
                    <a:gd name="T15" fmla="*/ 0 60000 65536"/>
                    <a:gd name="T16" fmla="*/ 0 60000 65536"/>
                    <a:gd name="T17" fmla="*/ 0 60000 65536"/>
                    <a:gd name="T18" fmla="*/ 0 60000 65536"/>
                    <a:gd name="T19" fmla="*/ 0 60000 65536"/>
                    <a:gd name="T20" fmla="*/ 0 60000 65536"/>
                    <a:gd name="T21" fmla="*/ 0 w 126"/>
                    <a:gd name="T22" fmla="*/ 0 h 224"/>
                    <a:gd name="T23" fmla="*/ 126 w 126"/>
                    <a:gd name="T24" fmla="*/ 224 h 2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6" h="224">
                      <a:moveTo>
                        <a:pt x="68" y="0"/>
                      </a:moveTo>
                      <a:cubicBezTo>
                        <a:pt x="76" y="8"/>
                        <a:pt x="83" y="17"/>
                        <a:pt x="92" y="24"/>
                      </a:cubicBezTo>
                      <a:cubicBezTo>
                        <a:pt x="99" y="30"/>
                        <a:pt x="114" y="31"/>
                        <a:pt x="116" y="40"/>
                      </a:cubicBezTo>
                      <a:cubicBezTo>
                        <a:pt x="126" y="99"/>
                        <a:pt x="94" y="162"/>
                        <a:pt x="76" y="216"/>
                      </a:cubicBezTo>
                      <a:cubicBezTo>
                        <a:pt x="73" y="224"/>
                        <a:pt x="60" y="221"/>
                        <a:pt x="52" y="224"/>
                      </a:cubicBezTo>
                      <a:cubicBezTo>
                        <a:pt x="0" y="207"/>
                        <a:pt x="22" y="170"/>
                        <a:pt x="36" y="128"/>
                      </a:cubicBezTo>
                      <a:cubicBezTo>
                        <a:pt x="41" y="74"/>
                        <a:pt x="32" y="36"/>
                        <a:pt x="68" y="0"/>
                      </a:cubicBez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fontAlgn="auto">
                    <a:spcBef>
                      <a:spcPts val="0"/>
                    </a:spcBef>
                    <a:spcAft>
                      <a:spcPts val="0"/>
                    </a:spcAft>
                    <a:defRPr/>
                  </a:pPr>
                  <a:endParaRPr lang="zh-CN" altLang="en-US" sz="2000" b="1" kern="0">
                    <a:solidFill>
                      <a:sysClr val="windowText" lastClr="000000"/>
                    </a:solidFill>
                  </a:endParaRPr>
                </a:p>
              </p:txBody>
            </p:sp>
          </p:grpSp>
          <p:sp>
            <p:nvSpPr>
              <p:cNvPr id="9" name="Line 1481"/>
              <p:cNvSpPr>
                <a:spLocks noChangeShapeType="1"/>
              </p:cNvSpPr>
              <p:nvPr/>
            </p:nvSpPr>
            <p:spPr bwMode="auto">
              <a:xfrm flipH="1">
                <a:off x="4744782" y="4903667"/>
                <a:ext cx="80965" cy="70648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0" name="Line 1480"/>
              <p:cNvSpPr>
                <a:spLocks noChangeShapeType="1"/>
              </p:cNvSpPr>
              <p:nvPr/>
            </p:nvSpPr>
            <p:spPr bwMode="auto">
              <a:xfrm flipH="1" flipV="1">
                <a:off x="4238352" y="4541693"/>
                <a:ext cx="506430" cy="27465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2" name="Line 1296"/>
              <p:cNvSpPr>
                <a:spLocks noChangeShapeType="1"/>
              </p:cNvSpPr>
              <p:nvPr/>
            </p:nvSpPr>
            <p:spPr bwMode="auto">
              <a:xfrm flipH="1" flipV="1">
                <a:off x="3995456" y="5467268"/>
                <a:ext cx="1324021" cy="23179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3" name="Line 1297"/>
              <p:cNvSpPr>
                <a:spLocks noChangeShapeType="1"/>
              </p:cNvSpPr>
              <p:nvPr/>
            </p:nvSpPr>
            <p:spPr bwMode="auto">
              <a:xfrm flipV="1">
                <a:off x="4252640" y="3844735"/>
                <a:ext cx="408001" cy="8731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4" name="Text Box 1318"/>
              <p:cNvSpPr txBox="1">
                <a:spLocks noChangeArrowheads="1"/>
              </p:cNvSpPr>
              <p:nvPr/>
            </p:nvSpPr>
            <p:spPr bwMode="auto">
              <a:xfrm>
                <a:off x="3225492" y="2996953"/>
                <a:ext cx="3278301" cy="46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b="1" kern="0" dirty="0">
                    <a:solidFill>
                      <a:srgbClr val="000000"/>
                    </a:solidFill>
                  </a:rPr>
                  <a:t>互连网（网络的网络）</a:t>
                </a:r>
              </a:p>
            </p:txBody>
          </p:sp>
          <p:sp>
            <p:nvSpPr>
              <p:cNvPr id="15" name="Line 1440"/>
              <p:cNvSpPr>
                <a:spLocks noChangeShapeType="1"/>
              </p:cNvSpPr>
              <p:nvPr/>
            </p:nvSpPr>
            <p:spPr bwMode="auto">
              <a:xfrm flipH="1">
                <a:off x="3514427" y="4551219"/>
                <a:ext cx="738213" cy="8890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6" name="Line 1443"/>
              <p:cNvSpPr>
                <a:spLocks noChangeShapeType="1"/>
              </p:cNvSpPr>
              <p:nvPr/>
            </p:nvSpPr>
            <p:spPr bwMode="auto">
              <a:xfrm>
                <a:off x="4990853" y="3844735"/>
                <a:ext cx="492142" cy="17622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7" name="Line 1444"/>
              <p:cNvSpPr>
                <a:spLocks noChangeShapeType="1"/>
              </p:cNvSpPr>
              <p:nvPr/>
            </p:nvSpPr>
            <p:spPr bwMode="auto">
              <a:xfrm>
                <a:off x="5648100" y="4109864"/>
                <a:ext cx="738213" cy="793803"/>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8" name="Line 1446"/>
              <p:cNvSpPr>
                <a:spLocks noChangeShapeType="1"/>
              </p:cNvSpPr>
              <p:nvPr/>
            </p:nvSpPr>
            <p:spPr bwMode="auto">
              <a:xfrm flipH="1">
                <a:off x="5482995" y="4197183"/>
                <a:ext cx="82553" cy="53026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9" name="Line 1447"/>
              <p:cNvSpPr>
                <a:spLocks noChangeShapeType="1"/>
              </p:cNvSpPr>
              <p:nvPr/>
            </p:nvSpPr>
            <p:spPr bwMode="auto">
              <a:xfrm flipV="1">
                <a:off x="4238352" y="4109864"/>
                <a:ext cx="1081125" cy="41436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20" name="Line 1448"/>
              <p:cNvSpPr>
                <a:spLocks noChangeShapeType="1"/>
              </p:cNvSpPr>
              <p:nvPr/>
            </p:nvSpPr>
            <p:spPr bwMode="auto">
              <a:xfrm>
                <a:off x="4006569" y="4020958"/>
                <a:ext cx="163519" cy="528673"/>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21" name="Line 1449"/>
              <p:cNvSpPr>
                <a:spLocks noChangeShapeType="1"/>
              </p:cNvSpPr>
              <p:nvPr/>
            </p:nvSpPr>
            <p:spPr bwMode="auto">
              <a:xfrm flipV="1">
                <a:off x="4827335" y="4816350"/>
                <a:ext cx="574695" cy="17622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22" name="Line 1452"/>
              <p:cNvSpPr>
                <a:spLocks noChangeShapeType="1"/>
              </p:cNvSpPr>
              <p:nvPr/>
            </p:nvSpPr>
            <p:spPr bwMode="auto">
              <a:xfrm>
                <a:off x="5565548" y="4816350"/>
                <a:ext cx="739801" cy="8731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23" name="Line 1453"/>
              <p:cNvSpPr>
                <a:spLocks noChangeShapeType="1"/>
              </p:cNvSpPr>
              <p:nvPr/>
            </p:nvSpPr>
            <p:spPr bwMode="auto">
              <a:xfrm flipH="1">
                <a:off x="3903378" y="4684578"/>
                <a:ext cx="246070" cy="61599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24" name="Line 1456"/>
              <p:cNvSpPr>
                <a:spLocks noChangeShapeType="1"/>
              </p:cNvSpPr>
              <p:nvPr/>
            </p:nvSpPr>
            <p:spPr bwMode="auto">
              <a:xfrm>
                <a:off x="5482995" y="4903667"/>
                <a:ext cx="0" cy="61757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29" name="Line 1445"/>
              <p:cNvSpPr>
                <a:spLocks noChangeShapeType="1"/>
              </p:cNvSpPr>
              <p:nvPr/>
            </p:nvSpPr>
            <p:spPr bwMode="auto">
              <a:xfrm flipH="1">
                <a:off x="5565548" y="4992573"/>
                <a:ext cx="820766" cy="61757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000" b="1" kern="0">
                  <a:solidFill>
                    <a:sysClr val="windowText" lastClr="000000"/>
                  </a:solidFill>
                </a:endParaRPr>
              </a:p>
            </p:txBody>
          </p:sp>
          <p:pic>
            <p:nvPicPr>
              <p:cNvPr id="23585" name="Picture 146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24429" y="4403861"/>
                <a:ext cx="477785" cy="323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86" name="Picture 146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98133" y="5521328"/>
                <a:ext cx="477785" cy="323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87" name="Picture 146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36528" y="4639425"/>
                <a:ext cx="477785" cy="323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88" name="Picture 146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12042" y="4374660"/>
                <a:ext cx="477785" cy="323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89" name="Picture 146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9574" y="3667968"/>
                <a:ext cx="477785" cy="323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90" name="Picture 1467"/>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06613" y="5128073"/>
                <a:ext cx="477785" cy="323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3591" name="直接连接符 140"/>
              <p:cNvCxnSpPr>
                <a:cxnSpLocks noChangeShapeType="1"/>
              </p:cNvCxnSpPr>
              <p:nvPr/>
            </p:nvCxnSpPr>
            <p:spPr bwMode="auto">
              <a:xfrm>
                <a:off x="2718495" y="3951781"/>
                <a:ext cx="1026618" cy="93484"/>
              </a:xfrm>
              <a:prstGeom prst="line">
                <a:avLst/>
              </a:prstGeom>
              <a:noFill/>
              <a:ln w="9525">
                <a:solidFill>
                  <a:schemeClr val="tx1"/>
                </a:solidFill>
                <a:round/>
                <a:headEnd/>
                <a:tailEnd/>
              </a:ln>
            </p:spPr>
          </p:cxnSp>
          <p:cxnSp>
            <p:nvCxnSpPr>
              <p:cNvPr id="23592" name="直接连接符 142"/>
              <p:cNvCxnSpPr>
                <a:cxnSpLocks noChangeShapeType="1"/>
              </p:cNvCxnSpPr>
              <p:nvPr/>
            </p:nvCxnSpPr>
            <p:spPr bwMode="auto">
              <a:xfrm flipV="1">
                <a:off x="2376444" y="4766530"/>
                <a:ext cx="726563" cy="29600"/>
              </a:xfrm>
              <a:prstGeom prst="line">
                <a:avLst/>
              </a:prstGeom>
              <a:noFill/>
              <a:ln w="9525">
                <a:solidFill>
                  <a:schemeClr val="tx1"/>
                </a:solidFill>
                <a:round/>
                <a:headEnd/>
                <a:tailEnd/>
              </a:ln>
            </p:spPr>
          </p:cxnSp>
          <p:cxnSp>
            <p:nvCxnSpPr>
              <p:cNvPr id="23593" name="直接连接符 144"/>
              <p:cNvCxnSpPr>
                <a:cxnSpLocks noChangeShapeType="1"/>
                <a:endCxn id="85" idx="2"/>
              </p:cNvCxnSpPr>
              <p:nvPr/>
            </p:nvCxnSpPr>
            <p:spPr bwMode="auto">
              <a:xfrm flipV="1">
                <a:off x="2594725" y="5584837"/>
                <a:ext cx="829611" cy="159734"/>
              </a:xfrm>
              <a:prstGeom prst="line">
                <a:avLst/>
              </a:prstGeom>
              <a:noFill/>
              <a:ln w="9525">
                <a:solidFill>
                  <a:schemeClr val="tx1"/>
                </a:solidFill>
                <a:round/>
                <a:headEnd/>
                <a:tailEnd/>
              </a:ln>
            </p:spPr>
          </p:cxnSp>
          <p:cxnSp>
            <p:nvCxnSpPr>
              <p:cNvPr id="23594" name="直接连接符 147"/>
              <p:cNvCxnSpPr>
                <a:cxnSpLocks noChangeShapeType="1"/>
                <a:endCxn id="85" idx="2"/>
              </p:cNvCxnSpPr>
              <p:nvPr/>
            </p:nvCxnSpPr>
            <p:spPr bwMode="auto">
              <a:xfrm flipH="1" flipV="1">
                <a:off x="5636218" y="5589627"/>
                <a:ext cx="1407271" cy="169213"/>
              </a:xfrm>
              <a:prstGeom prst="line">
                <a:avLst/>
              </a:prstGeom>
              <a:noFill/>
              <a:ln w="9525">
                <a:solidFill>
                  <a:schemeClr val="tx1"/>
                </a:solidFill>
                <a:round/>
                <a:headEnd/>
                <a:tailEnd/>
              </a:ln>
            </p:spPr>
          </p:cxnSp>
          <p:cxnSp>
            <p:nvCxnSpPr>
              <p:cNvPr id="23595" name="直接连接符 149"/>
              <p:cNvCxnSpPr>
                <a:cxnSpLocks noChangeShapeType="1"/>
                <a:endCxn id="85" idx="2"/>
              </p:cNvCxnSpPr>
              <p:nvPr/>
            </p:nvCxnSpPr>
            <p:spPr bwMode="auto">
              <a:xfrm flipH="1">
                <a:off x="6603581" y="4858856"/>
                <a:ext cx="871957" cy="89985"/>
              </a:xfrm>
              <a:prstGeom prst="line">
                <a:avLst/>
              </a:prstGeom>
              <a:noFill/>
              <a:ln w="9525">
                <a:solidFill>
                  <a:schemeClr val="tx1"/>
                </a:solidFill>
                <a:round/>
                <a:headEnd/>
                <a:tailEnd/>
              </a:ln>
            </p:spPr>
          </p:cxnSp>
          <p:cxnSp>
            <p:nvCxnSpPr>
              <p:cNvPr id="23596" name="直接连接符 153"/>
              <p:cNvCxnSpPr>
                <a:cxnSpLocks noChangeShapeType="1"/>
                <a:endCxn id="85" idx="2"/>
              </p:cNvCxnSpPr>
              <p:nvPr/>
            </p:nvCxnSpPr>
            <p:spPr bwMode="auto">
              <a:xfrm flipH="1">
                <a:off x="5768914" y="3897464"/>
                <a:ext cx="1270645" cy="200410"/>
              </a:xfrm>
              <a:prstGeom prst="line">
                <a:avLst/>
              </a:prstGeom>
              <a:noFill/>
              <a:ln w="9525">
                <a:solidFill>
                  <a:schemeClr val="tx1"/>
                </a:solidFill>
                <a:round/>
                <a:headEnd/>
                <a:tailEnd/>
              </a:ln>
            </p:spPr>
          </p:cxnSp>
          <p:pic>
            <p:nvPicPr>
              <p:cNvPr id="23597" name="Picture 12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25208" y="3698230"/>
                <a:ext cx="436562"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98" name="Picture 12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57256" y="4562326"/>
                <a:ext cx="436563"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99" name="Picture 126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76444" y="5498430"/>
                <a:ext cx="436562"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600" name="Picture 126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68165" y="4562326"/>
                <a:ext cx="436563"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601" name="Picture 12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97216" y="5498430"/>
                <a:ext cx="436563"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602" name="Picture 127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00214" y="3698230"/>
                <a:ext cx="436562"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603" name="Group 1320"/>
              <p:cNvGrpSpPr>
                <a:grpSpLocks/>
              </p:cNvGrpSpPr>
              <p:nvPr/>
            </p:nvGrpSpPr>
            <p:grpSpPr bwMode="auto">
              <a:xfrm>
                <a:off x="3595047" y="3755575"/>
                <a:ext cx="738395" cy="441925"/>
                <a:chOff x="2949" y="196"/>
                <a:chExt cx="941" cy="598"/>
              </a:xfrm>
            </p:grpSpPr>
            <p:sp>
              <p:nvSpPr>
                <p:cNvPr id="112" name="Oval 1321"/>
                <p:cNvSpPr>
                  <a:spLocks noChangeArrowheads="1"/>
                </p:cNvSpPr>
                <p:nvPr/>
              </p:nvSpPr>
              <p:spPr bwMode="auto">
                <a:xfrm>
                  <a:off x="3168" y="196"/>
                  <a:ext cx="407" cy="161"/>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13" name="Oval 1322"/>
                <p:cNvSpPr>
                  <a:spLocks noChangeArrowheads="1"/>
                </p:cNvSpPr>
                <p:nvPr/>
              </p:nvSpPr>
              <p:spPr bwMode="auto">
                <a:xfrm rot="900000">
                  <a:off x="3512" y="252"/>
                  <a:ext cx="275" cy="131"/>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14" name="Oval 1323"/>
                <p:cNvSpPr>
                  <a:spLocks noChangeArrowheads="1"/>
                </p:cNvSpPr>
                <p:nvPr/>
              </p:nvSpPr>
              <p:spPr bwMode="auto">
                <a:xfrm rot="1500000">
                  <a:off x="3649" y="385"/>
                  <a:ext cx="241" cy="153"/>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15" name="Oval 1324"/>
                <p:cNvSpPr>
                  <a:spLocks noChangeArrowheads="1"/>
                </p:cNvSpPr>
                <p:nvPr/>
              </p:nvSpPr>
              <p:spPr bwMode="auto">
                <a:xfrm rot="-1560000">
                  <a:off x="3573" y="538"/>
                  <a:ext cx="291" cy="187"/>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16" name="Oval 1325"/>
                <p:cNvSpPr>
                  <a:spLocks noChangeArrowheads="1"/>
                </p:cNvSpPr>
                <p:nvPr/>
              </p:nvSpPr>
              <p:spPr bwMode="auto">
                <a:xfrm>
                  <a:off x="3216" y="555"/>
                  <a:ext cx="471" cy="238"/>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17" name="Oval 1326"/>
                <p:cNvSpPr>
                  <a:spLocks noChangeArrowheads="1"/>
                </p:cNvSpPr>
                <p:nvPr/>
              </p:nvSpPr>
              <p:spPr bwMode="auto">
                <a:xfrm rot="1080000">
                  <a:off x="3024" y="555"/>
                  <a:ext cx="265" cy="155"/>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18" name="Oval 1327"/>
                <p:cNvSpPr>
                  <a:spLocks noChangeArrowheads="1"/>
                </p:cNvSpPr>
                <p:nvPr/>
              </p:nvSpPr>
              <p:spPr bwMode="auto">
                <a:xfrm>
                  <a:off x="2949" y="433"/>
                  <a:ext cx="216" cy="155"/>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19" name="Oval 1328"/>
                <p:cNvSpPr>
                  <a:spLocks noChangeArrowheads="1"/>
                </p:cNvSpPr>
                <p:nvPr/>
              </p:nvSpPr>
              <p:spPr bwMode="auto">
                <a:xfrm rot="-1860000">
                  <a:off x="2984" y="310"/>
                  <a:ext cx="295" cy="157"/>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20" name="Freeform 1329"/>
                <p:cNvSpPr/>
                <p:nvPr/>
              </p:nvSpPr>
              <p:spPr bwMode="auto">
                <a:xfrm>
                  <a:off x="3051" y="299"/>
                  <a:ext cx="738" cy="408"/>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21" name="Freeform 1330"/>
                <p:cNvSpPr/>
                <p:nvPr/>
              </p:nvSpPr>
              <p:spPr bwMode="auto">
                <a:xfrm>
                  <a:off x="3194" y="269"/>
                  <a:ext cx="115"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22" name="Freeform 1331"/>
                <p:cNvSpPr/>
                <p:nvPr/>
              </p:nvSpPr>
              <p:spPr bwMode="auto">
                <a:xfrm>
                  <a:off x="3469" y="239"/>
                  <a:ext cx="81" cy="86"/>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grpSp>
          <p:grpSp>
            <p:nvGrpSpPr>
              <p:cNvPr id="23615" name="Group 1344"/>
              <p:cNvGrpSpPr>
                <a:grpSpLocks/>
              </p:cNvGrpSpPr>
              <p:nvPr/>
            </p:nvGrpSpPr>
            <p:grpSpPr bwMode="auto">
              <a:xfrm>
                <a:off x="5236528" y="3755575"/>
                <a:ext cx="738395" cy="617137"/>
                <a:chOff x="2949" y="196"/>
                <a:chExt cx="941" cy="598"/>
              </a:xfrm>
            </p:grpSpPr>
            <p:sp>
              <p:nvSpPr>
                <p:cNvPr id="101" name="Oval 1345"/>
                <p:cNvSpPr>
                  <a:spLocks noChangeArrowheads="1"/>
                </p:cNvSpPr>
                <p:nvPr/>
              </p:nvSpPr>
              <p:spPr bwMode="auto">
                <a:xfrm>
                  <a:off x="3168" y="196"/>
                  <a:ext cx="407" cy="162"/>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02" name="Oval 1346"/>
                <p:cNvSpPr>
                  <a:spLocks noChangeArrowheads="1"/>
                </p:cNvSpPr>
                <p:nvPr/>
              </p:nvSpPr>
              <p:spPr bwMode="auto">
                <a:xfrm rot="900000">
                  <a:off x="3512" y="252"/>
                  <a:ext cx="275" cy="132"/>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03" name="Oval 1347"/>
                <p:cNvSpPr>
                  <a:spLocks noChangeArrowheads="1"/>
                </p:cNvSpPr>
                <p:nvPr/>
              </p:nvSpPr>
              <p:spPr bwMode="auto">
                <a:xfrm rot="1500000">
                  <a:off x="3650" y="385"/>
                  <a:ext cx="241" cy="152"/>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04" name="Oval 1348"/>
                <p:cNvSpPr>
                  <a:spLocks noChangeArrowheads="1"/>
                </p:cNvSpPr>
                <p:nvPr/>
              </p:nvSpPr>
              <p:spPr bwMode="auto">
                <a:xfrm rot="-1560000">
                  <a:off x="3573" y="538"/>
                  <a:ext cx="291" cy="189"/>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05" name="Oval 1349"/>
                <p:cNvSpPr>
                  <a:spLocks noChangeArrowheads="1"/>
                </p:cNvSpPr>
                <p:nvPr/>
              </p:nvSpPr>
              <p:spPr bwMode="auto">
                <a:xfrm>
                  <a:off x="3217" y="556"/>
                  <a:ext cx="471" cy="238"/>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06" name="Oval 1350"/>
                <p:cNvSpPr>
                  <a:spLocks noChangeArrowheads="1"/>
                </p:cNvSpPr>
                <p:nvPr/>
              </p:nvSpPr>
              <p:spPr bwMode="auto">
                <a:xfrm rot="1080000">
                  <a:off x="3024" y="556"/>
                  <a:ext cx="265" cy="155"/>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07" name="Oval 1351"/>
                <p:cNvSpPr>
                  <a:spLocks noChangeArrowheads="1"/>
                </p:cNvSpPr>
                <p:nvPr/>
              </p:nvSpPr>
              <p:spPr bwMode="auto">
                <a:xfrm>
                  <a:off x="2950" y="433"/>
                  <a:ext cx="216" cy="155"/>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08" name="Oval 1352"/>
                <p:cNvSpPr>
                  <a:spLocks noChangeArrowheads="1"/>
                </p:cNvSpPr>
                <p:nvPr/>
              </p:nvSpPr>
              <p:spPr bwMode="auto">
                <a:xfrm rot="-1860000">
                  <a:off x="2984" y="310"/>
                  <a:ext cx="295" cy="157"/>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09" name="Freeform 1353"/>
                <p:cNvSpPr/>
                <p:nvPr/>
              </p:nvSpPr>
              <p:spPr bwMode="auto">
                <a:xfrm>
                  <a:off x="3051" y="301"/>
                  <a:ext cx="738" cy="406"/>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10" name="Freeform 1354"/>
                <p:cNvSpPr/>
                <p:nvPr/>
              </p:nvSpPr>
              <p:spPr bwMode="auto">
                <a:xfrm>
                  <a:off x="3194" y="270"/>
                  <a:ext cx="115"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11" name="Freeform 1355"/>
                <p:cNvSpPr/>
                <p:nvPr/>
              </p:nvSpPr>
              <p:spPr bwMode="auto">
                <a:xfrm>
                  <a:off x="3469" y="239"/>
                  <a:ext cx="81" cy="88"/>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grpSp>
          <p:grpSp>
            <p:nvGrpSpPr>
              <p:cNvPr id="23627" name="Group 1356"/>
              <p:cNvGrpSpPr>
                <a:grpSpLocks/>
              </p:cNvGrpSpPr>
              <p:nvPr/>
            </p:nvGrpSpPr>
            <p:grpSpPr bwMode="auto">
              <a:xfrm rot="-1072061">
                <a:off x="2894657" y="4429170"/>
                <a:ext cx="767352" cy="527584"/>
                <a:chOff x="2949" y="196"/>
                <a:chExt cx="941" cy="598"/>
              </a:xfrm>
            </p:grpSpPr>
            <p:sp>
              <p:nvSpPr>
                <p:cNvPr id="90" name="Oval 1357"/>
                <p:cNvSpPr>
                  <a:spLocks noChangeArrowheads="1"/>
                </p:cNvSpPr>
                <p:nvPr/>
              </p:nvSpPr>
              <p:spPr bwMode="auto">
                <a:xfrm>
                  <a:off x="3168" y="195"/>
                  <a:ext cx="407" cy="162"/>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91" name="Oval 1358"/>
                <p:cNvSpPr>
                  <a:spLocks noChangeArrowheads="1"/>
                </p:cNvSpPr>
                <p:nvPr/>
              </p:nvSpPr>
              <p:spPr bwMode="auto">
                <a:xfrm rot="900000">
                  <a:off x="3513" y="251"/>
                  <a:ext cx="274" cy="131"/>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92" name="Oval 1359"/>
                <p:cNvSpPr>
                  <a:spLocks noChangeArrowheads="1"/>
                </p:cNvSpPr>
                <p:nvPr/>
              </p:nvSpPr>
              <p:spPr bwMode="auto">
                <a:xfrm rot="1500000">
                  <a:off x="3650" y="383"/>
                  <a:ext cx="239" cy="153"/>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93" name="Oval 1360"/>
                <p:cNvSpPr>
                  <a:spLocks noChangeArrowheads="1"/>
                </p:cNvSpPr>
                <p:nvPr/>
              </p:nvSpPr>
              <p:spPr bwMode="auto">
                <a:xfrm rot="-1560000">
                  <a:off x="3572" y="535"/>
                  <a:ext cx="292" cy="189"/>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94" name="Oval 1361"/>
                <p:cNvSpPr>
                  <a:spLocks noChangeArrowheads="1"/>
                </p:cNvSpPr>
                <p:nvPr/>
              </p:nvSpPr>
              <p:spPr bwMode="auto">
                <a:xfrm>
                  <a:off x="3215" y="553"/>
                  <a:ext cx="471" cy="239"/>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95" name="Oval 1362"/>
                <p:cNvSpPr>
                  <a:spLocks noChangeArrowheads="1"/>
                </p:cNvSpPr>
                <p:nvPr/>
              </p:nvSpPr>
              <p:spPr bwMode="auto">
                <a:xfrm rot="1080000">
                  <a:off x="3024" y="554"/>
                  <a:ext cx="265" cy="157"/>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96" name="Oval 1363"/>
                <p:cNvSpPr>
                  <a:spLocks noChangeArrowheads="1"/>
                </p:cNvSpPr>
                <p:nvPr/>
              </p:nvSpPr>
              <p:spPr bwMode="auto">
                <a:xfrm>
                  <a:off x="2949" y="430"/>
                  <a:ext cx="216" cy="157"/>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97" name="Oval 1364"/>
                <p:cNvSpPr>
                  <a:spLocks noChangeArrowheads="1"/>
                </p:cNvSpPr>
                <p:nvPr/>
              </p:nvSpPr>
              <p:spPr bwMode="auto">
                <a:xfrm rot="-1860000">
                  <a:off x="2985" y="309"/>
                  <a:ext cx="294" cy="157"/>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98" name="Freeform 1365"/>
                <p:cNvSpPr/>
                <p:nvPr/>
              </p:nvSpPr>
              <p:spPr bwMode="auto">
                <a:xfrm>
                  <a:off x="3051" y="299"/>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99" name="Freeform 1366"/>
                <p:cNvSpPr/>
                <p:nvPr/>
              </p:nvSpPr>
              <p:spPr bwMode="auto">
                <a:xfrm>
                  <a:off x="3191" y="269"/>
                  <a:ext cx="117" cy="119"/>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00" name="Freeform 1367"/>
                <p:cNvSpPr/>
                <p:nvPr/>
              </p:nvSpPr>
              <p:spPr bwMode="auto">
                <a:xfrm>
                  <a:off x="3469" y="238"/>
                  <a:ext cx="82" cy="86"/>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grpSp>
          <p:grpSp>
            <p:nvGrpSpPr>
              <p:cNvPr id="23639" name="Group 1428"/>
              <p:cNvGrpSpPr>
                <a:grpSpLocks/>
              </p:cNvGrpSpPr>
              <p:nvPr/>
            </p:nvGrpSpPr>
            <p:grpSpPr bwMode="auto">
              <a:xfrm rot="-854928">
                <a:off x="3410448" y="5180638"/>
                <a:ext cx="655145" cy="617137"/>
                <a:chOff x="2949" y="196"/>
                <a:chExt cx="941" cy="598"/>
              </a:xfrm>
            </p:grpSpPr>
            <p:sp>
              <p:nvSpPr>
                <p:cNvPr id="79" name="Oval 1429"/>
                <p:cNvSpPr>
                  <a:spLocks noChangeArrowheads="1"/>
                </p:cNvSpPr>
                <p:nvPr/>
              </p:nvSpPr>
              <p:spPr bwMode="auto">
                <a:xfrm>
                  <a:off x="3168" y="194"/>
                  <a:ext cx="406" cy="162"/>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80" name="Oval 1430"/>
                <p:cNvSpPr>
                  <a:spLocks noChangeArrowheads="1"/>
                </p:cNvSpPr>
                <p:nvPr/>
              </p:nvSpPr>
              <p:spPr bwMode="auto">
                <a:xfrm rot="900000">
                  <a:off x="3511" y="249"/>
                  <a:ext cx="276" cy="132"/>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81" name="Oval 1431"/>
                <p:cNvSpPr>
                  <a:spLocks noChangeArrowheads="1"/>
                </p:cNvSpPr>
                <p:nvPr/>
              </p:nvSpPr>
              <p:spPr bwMode="auto">
                <a:xfrm rot="1500000">
                  <a:off x="3649" y="383"/>
                  <a:ext cx="239" cy="152"/>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82" name="Oval 1432"/>
                <p:cNvSpPr>
                  <a:spLocks noChangeArrowheads="1"/>
                </p:cNvSpPr>
                <p:nvPr/>
              </p:nvSpPr>
              <p:spPr bwMode="auto">
                <a:xfrm rot="-1560000">
                  <a:off x="3571" y="537"/>
                  <a:ext cx="292" cy="189"/>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83" name="Oval 1433"/>
                <p:cNvSpPr>
                  <a:spLocks noChangeArrowheads="1"/>
                </p:cNvSpPr>
                <p:nvPr/>
              </p:nvSpPr>
              <p:spPr bwMode="auto">
                <a:xfrm>
                  <a:off x="3217" y="554"/>
                  <a:ext cx="470" cy="238"/>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84" name="Oval 1434"/>
                <p:cNvSpPr>
                  <a:spLocks noChangeArrowheads="1"/>
                </p:cNvSpPr>
                <p:nvPr/>
              </p:nvSpPr>
              <p:spPr bwMode="auto">
                <a:xfrm rot="1080000">
                  <a:off x="3022" y="554"/>
                  <a:ext cx="265" cy="155"/>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85" name="Oval 1435"/>
                <p:cNvSpPr>
                  <a:spLocks noChangeArrowheads="1"/>
                </p:cNvSpPr>
                <p:nvPr/>
              </p:nvSpPr>
              <p:spPr bwMode="auto">
                <a:xfrm>
                  <a:off x="2950" y="431"/>
                  <a:ext cx="217" cy="155"/>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86" name="Oval 1436"/>
                <p:cNvSpPr>
                  <a:spLocks noChangeArrowheads="1"/>
                </p:cNvSpPr>
                <p:nvPr/>
              </p:nvSpPr>
              <p:spPr bwMode="auto">
                <a:xfrm rot="-1860000">
                  <a:off x="2984" y="308"/>
                  <a:ext cx="294" cy="157"/>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87" name="Freeform 1437"/>
                <p:cNvSpPr/>
                <p:nvPr/>
              </p:nvSpPr>
              <p:spPr bwMode="auto">
                <a:xfrm>
                  <a:off x="3053" y="299"/>
                  <a:ext cx="737" cy="406"/>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88" name="Freeform 1438"/>
                <p:cNvSpPr/>
                <p:nvPr/>
              </p:nvSpPr>
              <p:spPr bwMode="auto">
                <a:xfrm>
                  <a:off x="3193" y="268"/>
                  <a:ext cx="116"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89" name="Freeform 1439"/>
                <p:cNvSpPr/>
                <p:nvPr/>
              </p:nvSpPr>
              <p:spPr bwMode="auto">
                <a:xfrm>
                  <a:off x="3469" y="238"/>
                  <a:ext cx="82" cy="88"/>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grpSp>
          <p:grpSp>
            <p:nvGrpSpPr>
              <p:cNvPr id="23651" name="Group 1404"/>
              <p:cNvGrpSpPr>
                <a:grpSpLocks/>
              </p:cNvGrpSpPr>
              <p:nvPr/>
            </p:nvGrpSpPr>
            <p:grpSpPr bwMode="auto">
              <a:xfrm rot="-666782">
                <a:off x="5241958" y="5332489"/>
                <a:ext cx="611710" cy="523690"/>
                <a:chOff x="2949" y="196"/>
                <a:chExt cx="941" cy="598"/>
              </a:xfrm>
            </p:grpSpPr>
            <p:sp>
              <p:nvSpPr>
                <p:cNvPr id="68" name="Oval 1405"/>
                <p:cNvSpPr>
                  <a:spLocks noChangeArrowheads="1"/>
                </p:cNvSpPr>
                <p:nvPr/>
              </p:nvSpPr>
              <p:spPr bwMode="auto">
                <a:xfrm>
                  <a:off x="3169" y="194"/>
                  <a:ext cx="408" cy="161"/>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69" name="Oval 1406"/>
                <p:cNvSpPr>
                  <a:spLocks noChangeArrowheads="1"/>
                </p:cNvSpPr>
                <p:nvPr/>
              </p:nvSpPr>
              <p:spPr bwMode="auto">
                <a:xfrm rot="900000">
                  <a:off x="3512" y="251"/>
                  <a:ext cx="276" cy="131"/>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70" name="Oval 1407"/>
                <p:cNvSpPr>
                  <a:spLocks noChangeArrowheads="1"/>
                </p:cNvSpPr>
                <p:nvPr/>
              </p:nvSpPr>
              <p:spPr bwMode="auto">
                <a:xfrm rot="1500000">
                  <a:off x="3650" y="383"/>
                  <a:ext cx="239" cy="154"/>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71" name="Oval 1408"/>
                <p:cNvSpPr>
                  <a:spLocks noChangeArrowheads="1"/>
                </p:cNvSpPr>
                <p:nvPr/>
              </p:nvSpPr>
              <p:spPr bwMode="auto">
                <a:xfrm rot="-1560000">
                  <a:off x="3574" y="535"/>
                  <a:ext cx="291" cy="189"/>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72" name="Oval 1409"/>
                <p:cNvSpPr>
                  <a:spLocks noChangeArrowheads="1"/>
                </p:cNvSpPr>
                <p:nvPr/>
              </p:nvSpPr>
              <p:spPr bwMode="auto">
                <a:xfrm>
                  <a:off x="3215" y="554"/>
                  <a:ext cx="471" cy="239"/>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73" name="Oval 1410"/>
                <p:cNvSpPr>
                  <a:spLocks noChangeArrowheads="1"/>
                </p:cNvSpPr>
                <p:nvPr/>
              </p:nvSpPr>
              <p:spPr bwMode="auto">
                <a:xfrm rot="1080000">
                  <a:off x="3020" y="554"/>
                  <a:ext cx="266" cy="156"/>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74" name="Oval 1411"/>
                <p:cNvSpPr>
                  <a:spLocks noChangeArrowheads="1"/>
                </p:cNvSpPr>
                <p:nvPr/>
              </p:nvSpPr>
              <p:spPr bwMode="auto">
                <a:xfrm>
                  <a:off x="2948" y="431"/>
                  <a:ext cx="217" cy="156"/>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75" name="Oval 1412"/>
                <p:cNvSpPr>
                  <a:spLocks noChangeArrowheads="1"/>
                </p:cNvSpPr>
                <p:nvPr/>
              </p:nvSpPr>
              <p:spPr bwMode="auto">
                <a:xfrm rot="-1860000">
                  <a:off x="2981" y="308"/>
                  <a:ext cx="296" cy="156"/>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76" name="Freeform 1413"/>
                <p:cNvSpPr/>
                <p:nvPr/>
              </p:nvSpPr>
              <p:spPr bwMode="auto">
                <a:xfrm>
                  <a:off x="3049" y="297"/>
                  <a:ext cx="740" cy="408"/>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77" name="Freeform 1414"/>
                <p:cNvSpPr/>
                <p:nvPr/>
              </p:nvSpPr>
              <p:spPr bwMode="auto">
                <a:xfrm>
                  <a:off x="3191"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78" name="Freeform 1415"/>
                <p:cNvSpPr/>
                <p:nvPr/>
              </p:nvSpPr>
              <p:spPr bwMode="auto">
                <a:xfrm>
                  <a:off x="3467" y="239"/>
                  <a:ext cx="83"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grpSp>
          <p:grpSp>
            <p:nvGrpSpPr>
              <p:cNvPr id="23663" name="Group 1416"/>
              <p:cNvGrpSpPr>
                <a:grpSpLocks/>
              </p:cNvGrpSpPr>
              <p:nvPr/>
            </p:nvGrpSpPr>
            <p:grpSpPr bwMode="auto">
              <a:xfrm rot="282232">
                <a:off x="6139614" y="4732872"/>
                <a:ext cx="644286" cy="441925"/>
                <a:chOff x="2949" y="196"/>
                <a:chExt cx="941" cy="598"/>
              </a:xfrm>
            </p:grpSpPr>
            <p:sp>
              <p:nvSpPr>
                <p:cNvPr id="57" name="Oval 1417"/>
                <p:cNvSpPr>
                  <a:spLocks noChangeArrowheads="1"/>
                </p:cNvSpPr>
                <p:nvPr/>
              </p:nvSpPr>
              <p:spPr bwMode="auto">
                <a:xfrm>
                  <a:off x="3167" y="194"/>
                  <a:ext cx="408" cy="163"/>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58" name="Oval 1418"/>
                <p:cNvSpPr>
                  <a:spLocks noChangeArrowheads="1"/>
                </p:cNvSpPr>
                <p:nvPr/>
              </p:nvSpPr>
              <p:spPr bwMode="auto">
                <a:xfrm rot="900000">
                  <a:off x="3512" y="250"/>
                  <a:ext cx="276" cy="131"/>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59" name="Oval 1419"/>
                <p:cNvSpPr>
                  <a:spLocks noChangeArrowheads="1"/>
                </p:cNvSpPr>
                <p:nvPr/>
              </p:nvSpPr>
              <p:spPr bwMode="auto">
                <a:xfrm rot="1500000">
                  <a:off x="3648" y="383"/>
                  <a:ext cx="241" cy="155"/>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60" name="Oval 1420"/>
                <p:cNvSpPr>
                  <a:spLocks noChangeArrowheads="1"/>
                </p:cNvSpPr>
                <p:nvPr/>
              </p:nvSpPr>
              <p:spPr bwMode="auto">
                <a:xfrm rot="-1560000">
                  <a:off x="3573" y="536"/>
                  <a:ext cx="292" cy="189"/>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61" name="Oval 1421"/>
                <p:cNvSpPr>
                  <a:spLocks noChangeArrowheads="1"/>
                </p:cNvSpPr>
                <p:nvPr/>
              </p:nvSpPr>
              <p:spPr bwMode="auto">
                <a:xfrm>
                  <a:off x="3216" y="552"/>
                  <a:ext cx="471" cy="241"/>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62" name="Oval 1422"/>
                <p:cNvSpPr>
                  <a:spLocks noChangeArrowheads="1"/>
                </p:cNvSpPr>
                <p:nvPr/>
              </p:nvSpPr>
              <p:spPr bwMode="auto">
                <a:xfrm rot="1080000">
                  <a:off x="3024" y="553"/>
                  <a:ext cx="264" cy="157"/>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63" name="Oval 1423"/>
                <p:cNvSpPr>
                  <a:spLocks noChangeArrowheads="1"/>
                </p:cNvSpPr>
                <p:nvPr/>
              </p:nvSpPr>
              <p:spPr bwMode="auto">
                <a:xfrm>
                  <a:off x="2948" y="431"/>
                  <a:ext cx="218" cy="157"/>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64" name="Oval 1424"/>
                <p:cNvSpPr>
                  <a:spLocks noChangeArrowheads="1"/>
                </p:cNvSpPr>
                <p:nvPr/>
              </p:nvSpPr>
              <p:spPr bwMode="auto">
                <a:xfrm rot="-1860000">
                  <a:off x="2983" y="307"/>
                  <a:ext cx="294" cy="157"/>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65" name="Freeform 1425"/>
                <p:cNvSpPr/>
                <p:nvPr/>
              </p:nvSpPr>
              <p:spPr bwMode="auto">
                <a:xfrm>
                  <a:off x="3050" y="298"/>
                  <a:ext cx="737" cy="406"/>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66" name="Freeform 1426"/>
                <p:cNvSpPr/>
                <p:nvPr/>
              </p:nvSpPr>
              <p:spPr bwMode="auto">
                <a:xfrm>
                  <a:off x="3192" y="270"/>
                  <a:ext cx="118"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67" name="Freeform 1427"/>
                <p:cNvSpPr/>
                <p:nvPr/>
              </p:nvSpPr>
              <p:spPr bwMode="auto">
                <a:xfrm>
                  <a:off x="3467" y="237"/>
                  <a:ext cx="83" cy="88"/>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grpSp>
          <p:grpSp>
            <p:nvGrpSpPr>
              <p:cNvPr id="23675" name="Group 1468"/>
              <p:cNvGrpSpPr>
                <a:grpSpLocks/>
              </p:cNvGrpSpPr>
              <p:nvPr/>
            </p:nvGrpSpPr>
            <p:grpSpPr bwMode="auto">
              <a:xfrm rot="-666782">
                <a:off x="4463747" y="4647213"/>
                <a:ext cx="725726" cy="603510"/>
                <a:chOff x="2949" y="196"/>
                <a:chExt cx="941" cy="598"/>
              </a:xfrm>
            </p:grpSpPr>
            <p:sp>
              <p:nvSpPr>
                <p:cNvPr id="46" name="Oval 1469"/>
                <p:cNvSpPr>
                  <a:spLocks noChangeArrowheads="1"/>
                </p:cNvSpPr>
                <p:nvPr/>
              </p:nvSpPr>
              <p:spPr bwMode="auto">
                <a:xfrm>
                  <a:off x="3166" y="195"/>
                  <a:ext cx="408" cy="162"/>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47" name="Oval 1470"/>
                <p:cNvSpPr>
                  <a:spLocks noChangeArrowheads="1"/>
                </p:cNvSpPr>
                <p:nvPr/>
              </p:nvSpPr>
              <p:spPr bwMode="auto">
                <a:xfrm rot="900000">
                  <a:off x="3511" y="251"/>
                  <a:ext cx="276" cy="131"/>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48" name="Oval 1471"/>
                <p:cNvSpPr>
                  <a:spLocks noChangeArrowheads="1"/>
                </p:cNvSpPr>
                <p:nvPr/>
              </p:nvSpPr>
              <p:spPr bwMode="auto">
                <a:xfrm rot="1500000">
                  <a:off x="3648" y="383"/>
                  <a:ext cx="241" cy="154"/>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49" name="Oval 1472"/>
                <p:cNvSpPr>
                  <a:spLocks noChangeArrowheads="1"/>
                </p:cNvSpPr>
                <p:nvPr/>
              </p:nvSpPr>
              <p:spPr bwMode="auto">
                <a:xfrm rot="-1560000">
                  <a:off x="3573" y="536"/>
                  <a:ext cx="290" cy="190"/>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50" name="Oval 1473"/>
                <p:cNvSpPr>
                  <a:spLocks noChangeArrowheads="1"/>
                </p:cNvSpPr>
                <p:nvPr/>
              </p:nvSpPr>
              <p:spPr bwMode="auto">
                <a:xfrm>
                  <a:off x="3215" y="554"/>
                  <a:ext cx="469" cy="239"/>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51" name="Oval 1474"/>
                <p:cNvSpPr>
                  <a:spLocks noChangeArrowheads="1"/>
                </p:cNvSpPr>
                <p:nvPr/>
              </p:nvSpPr>
              <p:spPr bwMode="auto">
                <a:xfrm rot="1080000">
                  <a:off x="3022" y="555"/>
                  <a:ext cx="266" cy="156"/>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52" name="Oval 1475"/>
                <p:cNvSpPr>
                  <a:spLocks noChangeArrowheads="1"/>
                </p:cNvSpPr>
                <p:nvPr/>
              </p:nvSpPr>
              <p:spPr bwMode="auto">
                <a:xfrm>
                  <a:off x="2949" y="430"/>
                  <a:ext cx="216" cy="157"/>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53" name="Oval 1476"/>
                <p:cNvSpPr>
                  <a:spLocks noChangeArrowheads="1"/>
                </p:cNvSpPr>
                <p:nvPr/>
              </p:nvSpPr>
              <p:spPr bwMode="auto">
                <a:xfrm rot="-1860000">
                  <a:off x="2983" y="310"/>
                  <a:ext cx="294" cy="156"/>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54" name="Freeform 1477"/>
                <p:cNvSpPr/>
                <p:nvPr/>
              </p:nvSpPr>
              <p:spPr bwMode="auto">
                <a:xfrm>
                  <a:off x="3050" y="298"/>
                  <a:ext cx="737" cy="409"/>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55" name="Freeform 1478"/>
                <p:cNvSpPr/>
                <p:nvPr/>
              </p:nvSpPr>
              <p:spPr bwMode="auto">
                <a:xfrm>
                  <a:off x="3192" y="268"/>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56" name="Freeform 1479"/>
                <p:cNvSpPr/>
                <p:nvPr/>
              </p:nvSpPr>
              <p:spPr bwMode="auto">
                <a:xfrm>
                  <a:off x="3468" y="237"/>
                  <a:ext cx="80" cy="88"/>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grpSp>
          <p:sp>
            <p:nvSpPr>
              <p:cNvPr id="39" name="Text Box 1524"/>
              <p:cNvSpPr txBox="1">
                <a:spLocks noChangeArrowheads="1"/>
              </p:cNvSpPr>
              <p:nvPr/>
            </p:nvSpPr>
            <p:spPr bwMode="auto">
              <a:xfrm>
                <a:off x="4495536" y="4787773"/>
                <a:ext cx="673123" cy="3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1800" b="1" kern="0" dirty="0">
                    <a:solidFill>
                      <a:srgbClr val="000000"/>
                    </a:solidFill>
                  </a:rPr>
                  <a:t>网络</a:t>
                </a:r>
              </a:p>
            </p:txBody>
          </p:sp>
          <p:sp>
            <p:nvSpPr>
              <p:cNvPr id="40" name="Text Box 1524"/>
              <p:cNvSpPr txBox="1">
                <a:spLocks noChangeArrowheads="1"/>
              </p:cNvSpPr>
              <p:nvPr/>
            </p:nvSpPr>
            <p:spPr bwMode="auto">
              <a:xfrm>
                <a:off x="6151356" y="4759196"/>
                <a:ext cx="674710" cy="3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1800" b="1" kern="0" dirty="0">
                    <a:solidFill>
                      <a:srgbClr val="000000"/>
                    </a:solidFill>
                  </a:rPr>
                  <a:t>网络</a:t>
                </a:r>
              </a:p>
            </p:txBody>
          </p:sp>
          <p:sp>
            <p:nvSpPr>
              <p:cNvPr id="41" name="Text Box 1524"/>
              <p:cNvSpPr txBox="1">
                <a:spLocks noChangeArrowheads="1"/>
              </p:cNvSpPr>
              <p:nvPr/>
            </p:nvSpPr>
            <p:spPr bwMode="auto">
              <a:xfrm>
                <a:off x="3446163" y="5276755"/>
                <a:ext cx="673123" cy="3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1800" b="1" kern="0" dirty="0">
                    <a:solidFill>
                      <a:srgbClr val="000000"/>
                    </a:solidFill>
                  </a:rPr>
                  <a:t>网络</a:t>
                </a:r>
              </a:p>
            </p:txBody>
          </p:sp>
          <p:sp>
            <p:nvSpPr>
              <p:cNvPr id="42" name="Text Box 1524"/>
              <p:cNvSpPr txBox="1">
                <a:spLocks noChangeArrowheads="1"/>
              </p:cNvSpPr>
              <p:nvPr/>
            </p:nvSpPr>
            <p:spPr bwMode="auto">
              <a:xfrm>
                <a:off x="5305189" y="3841559"/>
                <a:ext cx="673123" cy="3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1800" b="1" kern="0" dirty="0">
                    <a:solidFill>
                      <a:srgbClr val="000000"/>
                    </a:solidFill>
                  </a:rPr>
                  <a:t>网络</a:t>
                </a:r>
              </a:p>
            </p:txBody>
          </p:sp>
          <p:sp>
            <p:nvSpPr>
              <p:cNvPr id="43" name="Text Box 1524"/>
              <p:cNvSpPr txBox="1">
                <a:spLocks noChangeArrowheads="1"/>
              </p:cNvSpPr>
              <p:nvPr/>
            </p:nvSpPr>
            <p:spPr bwMode="auto">
              <a:xfrm>
                <a:off x="2973071" y="4524230"/>
                <a:ext cx="674710" cy="3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1800" b="1" kern="0">
                    <a:solidFill>
                      <a:srgbClr val="000000"/>
                    </a:solidFill>
                  </a:rPr>
                  <a:t>网络</a:t>
                </a:r>
              </a:p>
            </p:txBody>
          </p:sp>
          <p:sp>
            <p:nvSpPr>
              <p:cNvPr id="44" name="Text Box 1524"/>
              <p:cNvSpPr txBox="1">
                <a:spLocks noChangeArrowheads="1"/>
              </p:cNvSpPr>
              <p:nvPr/>
            </p:nvSpPr>
            <p:spPr bwMode="auto">
              <a:xfrm>
                <a:off x="3657307" y="3779642"/>
                <a:ext cx="673123" cy="3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1800" b="1" kern="0" dirty="0">
                    <a:solidFill>
                      <a:srgbClr val="000000"/>
                    </a:solidFill>
                  </a:rPr>
                  <a:t>网络</a:t>
                </a:r>
              </a:p>
            </p:txBody>
          </p:sp>
          <p:sp>
            <p:nvSpPr>
              <p:cNvPr id="45" name="Text Box 1524"/>
              <p:cNvSpPr txBox="1">
                <a:spLocks noChangeArrowheads="1"/>
              </p:cNvSpPr>
              <p:nvPr/>
            </p:nvSpPr>
            <p:spPr bwMode="auto">
              <a:xfrm>
                <a:off x="5252800" y="5405351"/>
                <a:ext cx="673123" cy="3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1800" b="1" kern="0">
                    <a:solidFill>
                      <a:srgbClr val="000000"/>
                    </a:solidFill>
                  </a:rPr>
                  <a:t>网络</a:t>
                </a:r>
              </a:p>
            </p:txBody>
          </p:sp>
          <p:sp>
            <p:nvSpPr>
              <p:cNvPr id="23694" name="矩形 174"/>
              <p:cNvSpPr>
                <a:spLocks noChangeArrowheads="1"/>
              </p:cNvSpPr>
              <p:nvPr/>
            </p:nvSpPr>
            <p:spPr bwMode="auto">
              <a:xfrm>
                <a:off x="6702960" y="3356992"/>
                <a:ext cx="6495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b="1">
                    <a:solidFill>
                      <a:srgbClr val="000000"/>
                    </a:solidFill>
                    <a:ea typeface="黑体" panose="02010609060101010101" pitchFamily="49" charset="-122"/>
                  </a:rPr>
                  <a:t>主机</a:t>
                </a:r>
              </a:p>
            </p:txBody>
          </p:sp>
        </p:grpSp>
        <p:sp>
          <p:nvSpPr>
            <p:cNvPr id="23695" name="矩形 176"/>
            <p:cNvSpPr>
              <a:spLocks noChangeArrowheads="1"/>
            </p:cNvSpPr>
            <p:nvPr/>
          </p:nvSpPr>
          <p:spPr bwMode="auto">
            <a:xfrm>
              <a:off x="7290080" y="3704975"/>
              <a:ext cx="2055407" cy="1569660"/>
            </a:xfrm>
            <a:prstGeom prst="rect">
              <a:avLst/>
            </a:prstGeom>
            <a:solidFill>
              <a:srgbClr val="FFFF00"/>
            </a:solidFill>
            <a:ln w="9525">
              <a:solidFill>
                <a:srgbClr val="000099"/>
              </a:solidFill>
              <a:round/>
              <a:headEnd/>
              <a:tailEnd/>
            </a:ln>
          </p:spPr>
          <p:txBody>
            <a:bodyPr>
              <a:spAutoFit/>
            </a:bodyPr>
            <a:lstStyle/>
            <a:p>
              <a:pPr eaLnBrk="0" hangingPunct="0"/>
              <a:r>
                <a:rPr lang="zh-CN" altLang="zh-CN" sz="2400" b="1">
                  <a:ea typeface="黑体" panose="02010609060101010101" pitchFamily="49" charset="-122"/>
                </a:rPr>
                <a:t>主机</a:t>
              </a:r>
              <a:r>
                <a:rPr lang="zh-CN" altLang="en-US" sz="2400" b="1">
                  <a:ea typeface="黑体" panose="02010609060101010101" pitchFamily="49" charset="-122"/>
                </a:rPr>
                <a:t>可以是计算机，也可以是</a:t>
              </a:r>
              <a:r>
                <a:rPr lang="zh-CN" altLang="zh-CN" sz="2400" b="1">
                  <a:ea typeface="黑体" panose="02010609060101010101" pitchFamily="49" charset="-122"/>
                </a:rPr>
                <a:t>智能手机</a:t>
              </a:r>
              <a:r>
                <a:rPr lang="zh-CN" altLang="en-US" sz="2400" b="1">
                  <a:ea typeface="黑体" panose="02010609060101010101" pitchFamily="49" charset="-122"/>
                </a:rPr>
                <a:t>等</a:t>
              </a:r>
              <a:r>
                <a:rPr lang="zh-CN" altLang="zh-CN" sz="2400" b="1">
                  <a:ea typeface="黑体" panose="02010609060101010101" pitchFamily="49" charset="-122"/>
                </a:rPr>
                <a:t>智能机器。</a:t>
              </a:r>
              <a:endParaRPr lang="zh-CN" altLang="en-US" sz="2400" b="1">
                <a:ea typeface="黑体" panose="02010609060101010101" pitchFamily="49" charset="-122"/>
              </a:endParaRPr>
            </a:p>
          </p:txBody>
        </p:sp>
      </p:grpSp>
      <p:sp>
        <p:nvSpPr>
          <p:cNvPr id="23696"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DC02244-BE46-4E39-83CB-A151E45ED3E9}" type="slidenum">
              <a:rPr lang="zh-CN" altLang="en-US" smtClean="0"/>
              <a:pPr eaLnBrk="1" hangingPunct="1"/>
              <a:t>15</a:t>
            </a:fld>
            <a:endParaRPr lang="en-US" altLang="zh-CN" smtClean="0"/>
          </a:p>
        </p:txBody>
      </p:sp>
      <p:sp>
        <p:nvSpPr>
          <p:cNvPr id="23697"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标题 1"/>
          <p:cNvSpPr>
            <a:spLocks noGrp="1" noChangeArrowheads="1"/>
          </p:cNvSpPr>
          <p:nvPr>
            <p:ph type="title"/>
          </p:nvPr>
        </p:nvSpPr>
        <p:spPr>
          <a:xfrm>
            <a:off x="495300" y="188913"/>
            <a:ext cx="9066213" cy="792162"/>
          </a:xfrm>
        </p:spPr>
        <p:txBody>
          <a:bodyPr/>
          <a:lstStyle/>
          <a:p>
            <a:r>
              <a:rPr lang="en-US" altLang="zh-CN" sz="3600" smtClean="0">
                <a:ea typeface="黑体" panose="02010609060101010101" pitchFamily="49" charset="-122"/>
              </a:rPr>
              <a:t>1.2.2  </a:t>
            </a:r>
            <a:r>
              <a:rPr lang="zh-CN" altLang="zh-CN" sz="3600" smtClean="0">
                <a:ea typeface="黑体" panose="02010609060101010101" pitchFamily="49" charset="-122"/>
              </a:rPr>
              <a:t>互联网基础结构发展的三个阶段</a:t>
            </a:r>
            <a:endParaRPr lang="zh-CN" altLang="en-US" sz="3600" smtClean="0">
              <a:ea typeface="黑体" panose="02010609060101010101" pitchFamily="49" charset="-122"/>
            </a:endParaRPr>
          </a:p>
        </p:txBody>
      </p:sp>
      <p:sp>
        <p:nvSpPr>
          <p:cNvPr id="3" name="内容占位符 2"/>
          <p:cNvSpPr>
            <a:spLocks noGrp="1"/>
          </p:cNvSpPr>
          <p:nvPr>
            <p:ph idx="1"/>
          </p:nvPr>
        </p:nvSpPr>
        <p:spPr>
          <a:xfrm>
            <a:off x="495300" y="1196975"/>
            <a:ext cx="9066213" cy="4933950"/>
          </a:xfrm>
        </p:spPr>
        <p:txBody>
          <a:bodyPr/>
          <a:lstStyle/>
          <a:p>
            <a:r>
              <a:rPr lang="zh-CN" altLang="en-US" noProof="1">
                <a:solidFill>
                  <a:srgbClr val="FF0000"/>
                </a:solidFill>
              </a:rPr>
              <a:t>第一</a:t>
            </a:r>
            <a:r>
              <a:rPr lang="zh-CN" altLang="en-US" noProof="1" smtClean="0">
                <a:solidFill>
                  <a:srgbClr val="FF0000"/>
                </a:solidFill>
              </a:rPr>
              <a:t>阶段：</a:t>
            </a:r>
            <a:r>
              <a:rPr lang="zh-CN" altLang="en-US" noProof="1" smtClean="0"/>
              <a:t>从</a:t>
            </a:r>
            <a:r>
              <a:rPr lang="zh-CN" altLang="en-US" noProof="1"/>
              <a:t>单个网络 </a:t>
            </a:r>
            <a:r>
              <a:rPr lang="en-US" altLang="zh-CN" noProof="1"/>
              <a:t>ARPANET </a:t>
            </a:r>
            <a:r>
              <a:rPr lang="zh-CN" altLang="en-US" noProof="1"/>
              <a:t>（阿帕网）向互联网发展的过程。 </a:t>
            </a:r>
          </a:p>
          <a:p>
            <a:r>
              <a:rPr lang="en-US" altLang="zh-CN" noProof="1"/>
              <a:t>1983 </a:t>
            </a:r>
            <a:r>
              <a:rPr lang="zh-CN" altLang="en-US" noProof="1" smtClean="0"/>
              <a:t>年， </a:t>
            </a:r>
            <a:r>
              <a:rPr lang="en-US" altLang="zh-CN" noProof="1"/>
              <a:t>TCP/IP </a:t>
            </a:r>
            <a:r>
              <a:rPr lang="zh-CN" altLang="en-US" noProof="1"/>
              <a:t>协议成为 </a:t>
            </a:r>
            <a:r>
              <a:rPr lang="en-US" altLang="zh-CN" noProof="1"/>
              <a:t>ARPANET </a:t>
            </a:r>
            <a:r>
              <a:rPr lang="zh-CN" altLang="en-US" noProof="1"/>
              <a:t>上的标准</a:t>
            </a:r>
            <a:r>
              <a:rPr lang="zh-CN" altLang="en-US" noProof="1" smtClean="0"/>
              <a:t>协议，</a:t>
            </a:r>
            <a:r>
              <a:rPr lang="zh-CN" altLang="zh-CN" noProof="1"/>
              <a:t>使得所有</a:t>
            </a:r>
            <a:r>
              <a:rPr lang="zh-CN" altLang="zh-CN" noProof="1" smtClean="0"/>
              <a:t>使用</a:t>
            </a:r>
            <a:r>
              <a:rPr lang="en-US" altLang="zh-CN" noProof="1" smtClean="0"/>
              <a:t> TCP/IP </a:t>
            </a:r>
            <a:r>
              <a:rPr lang="zh-CN" altLang="zh-CN" noProof="1" smtClean="0"/>
              <a:t>协议</a:t>
            </a:r>
            <a:r>
              <a:rPr lang="zh-CN" altLang="zh-CN" noProof="1"/>
              <a:t>的计算机都能利用互连网相互</a:t>
            </a:r>
            <a:r>
              <a:rPr lang="zh-CN" altLang="zh-CN" noProof="1" smtClean="0"/>
              <a:t>通信</a:t>
            </a:r>
            <a:r>
              <a:rPr lang="zh-CN" altLang="en-US" noProof="1" smtClean="0"/>
              <a:t>。</a:t>
            </a:r>
            <a:endParaRPr lang="zh-CN" altLang="en-US" noProof="1"/>
          </a:p>
          <a:p>
            <a:r>
              <a:rPr lang="zh-CN" altLang="en-US" noProof="1"/>
              <a:t>人们把 </a:t>
            </a:r>
            <a:r>
              <a:rPr lang="en-US" altLang="zh-CN" noProof="1"/>
              <a:t>1983 </a:t>
            </a:r>
            <a:r>
              <a:rPr lang="zh-CN" altLang="en-US" noProof="1"/>
              <a:t>年作为互联网的诞生时间</a:t>
            </a:r>
            <a:r>
              <a:rPr lang="zh-CN" altLang="en-US" noProof="1" smtClean="0"/>
              <a:t>。</a:t>
            </a:r>
            <a:endParaRPr lang="en-US" altLang="zh-CN" noProof="1" smtClean="0"/>
          </a:p>
          <a:p>
            <a:r>
              <a:rPr lang="en-US" altLang="zh-CN" noProof="1"/>
              <a:t>1990</a:t>
            </a:r>
            <a:r>
              <a:rPr lang="zh-CN" altLang="zh-CN" noProof="1" smtClean="0"/>
              <a:t>年</a:t>
            </a:r>
            <a:r>
              <a:rPr lang="zh-CN" altLang="en-US" noProof="1" smtClean="0"/>
              <a:t>，</a:t>
            </a:r>
            <a:r>
              <a:rPr lang="en-US" altLang="zh-CN" noProof="1" smtClean="0"/>
              <a:t>ARPANET </a:t>
            </a:r>
            <a:r>
              <a:rPr lang="zh-CN" altLang="zh-CN" noProof="1" smtClean="0"/>
              <a:t>正式</a:t>
            </a:r>
            <a:r>
              <a:rPr lang="zh-CN" altLang="zh-CN" noProof="1"/>
              <a:t>宣布</a:t>
            </a:r>
            <a:r>
              <a:rPr lang="zh-CN" altLang="zh-CN" noProof="1" smtClean="0"/>
              <a:t>关闭</a:t>
            </a:r>
            <a:r>
              <a:rPr lang="zh-CN" altLang="en-US" noProof="1" smtClean="0"/>
              <a:t>。</a:t>
            </a:r>
            <a:endParaRPr lang="zh-CN" altLang="en-US" noProof="1"/>
          </a:p>
          <a:p>
            <a:pPr marL="0" indent="0">
              <a:buFont typeface="Wingdings" panose="05000000000000000000" pitchFamily="2" charset="2"/>
              <a:buNone/>
            </a:pPr>
            <a:endParaRPr lang="en-US" altLang="zh-CN" noProof="1" smtClean="0"/>
          </a:p>
        </p:txBody>
      </p:sp>
    </p:spTree>
    <p:extLst>
      <p:ext uri="{BB962C8B-B14F-4D97-AF65-F5344CB8AC3E}">
        <p14:creationId xmlns:p14="http://schemas.microsoft.com/office/powerpoint/2010/main" val="75326295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ChangeArrowheads="1"/>
          </p:cNvSpPr>
          <p:nvPr>
            <p:ph type="title"/>
          </p:nvPr>
        </p:nvSpPr>
        <p:spPr>
          <a:xfrm>
            <a:off x="495300" y="188913"/>
            <a:ext cx="9066213" cy="792162"/>
          </a:xfrm>
        </p:spPr>
        <p:txBody>
          <a:bodyPr/>
          <a:lstStyle/>
          <a:p>
            <a:r>
              <a:rPr lang="en-US" altLang="zh-CN" sz="3600" smtClean="0">
                <a:ea typeface="黑体" panose="02010609060101010101" pitchFamily="49" charset="-122"/>
              </a:rPr>
              <a:t>1.2.2  </a:t>
            </a:r>
            <a:r>
              <a:rPr lang="zh-CN" altLang="zh-CN" sz="3600" smtClean="0">
                <a:ea typeface="黑体" panose="02010609060101010101" pitchFamily="49" charset="-122"/>
              </a:rPr>
              <a:t>互联网基础结构发展的三个阶段</a:t>
            </a:r>
            <a:endParaRPr lang="zh-CN" altLang="en-US" sz="3600" smtClean="0">
              <a:ea typeface="黑体" panose="02010609060101010101" pitchFamily="49" charset="-122"/>
            </a:endParaRPr>
          </a:p>
        </p:txBody>
      </p:sp>
      <p:sp>
        <p:nvSpPr>
          <p:cNvPr id="36866" name="Rectangle 3"/>
          <p:cNvSpPr>
            <a:spLocks noGrp="1" noChangeArrowheads="1"/>
          </p:cNvSpPr>
          <p:nvPr>
            <p:ph idx="1"/>
          </p:nvPr>
        </p:nvSpPr>
        <p:spPr>
          <a:xfrm>
            <a:off x="495300" y="1196975"/>
            <a:ext cx="9066213" cy="4933950"/>
          </a:xfrm>
        </p:spPr>
        <p:txBody>
          <a:bodyPr/>
          <a:lstStyle/>
          <a:p>
            <a:r>
              <a:rPr lang="zh-CN" altLang="en-US" dirty="0" smtClean="0">
                <a:solidFill>
                  <a:srgbClr val="FF0000"/>
                </a:solidFill>
                <a:ea typeface="黑体" panose="02010609060101010101" pitchFamily="49" charset="-122"/>
              </a:rPr>
              <a:t>第二阶段：</a:t>
            </a:r>
            <a:r>
              <a:rPr lang="zh-CN" altLang="en-US" dirty="0" smtClean="0">
                <a:ea typeface="黑体" panose="02010609060101010101" pitchFamily="49" charset="-122"/>
              </a:rPr>
              <a:t>建成了三级结构的互联网</a:t>
            </a:r>
            <a:r>
              <a:rPr lang="zh-CN" altLang="en-US" dirty="0" smtClean="0">
                <a:ea typeface="黑体" panose="02010609060101010101" pitchFamily="49" charset="-122"/>
              </a:rPr>
              <a:t>。</a:t>
            </a:r>
            <a:endParaRPr lang="en-US" altLang="zh-CN" dirty="0" smtClean="0">
              <a:ea typeface="黑体" panose="02010609060101010101" pitchFamily="49" charset="-122"/>
            </a:endParaRPr>
          </a:p>
          <a:p>
            <a:pPr marL="0" indent="0">
              <a:buNone/>
            </a:pPr>
            <a:r>
              <a:rPr lang="zh-CN" altLang="en-US" dirty="0" smtClean="0">
                <a:ea typeface="黑体" panose="02010609060101010101" pitchFamily="49" charset="-122"/>
              </a:rPr>
              <a:t>    </a:t>
            </a:r>
            <a:r>
              <a:rPr lang="zh-CN" altLang="en-US" dirty="0" smtClean="0">
                <a:solidFill>
                  <a:srgbClr val="C00000"/>
                </a:solidFill>
                <a:ea typeface="黑体" panose="02010609060101010101" pitchFamily="49" charset="-122"/>
              </a:rPr>
              <a:t>一开始就使用</a:t>
            </a:r>
            <a:r>
              <a:rPr lang="en-US" altLang="zh-CN" dirty="0" smtClean="0">
                <a:solidFill>
                  <a:srgbClr val="C00000"/>
                </a:solidFill>
                <a:ea typeface="黑体" panose="02010609060101010101" pitchFamily="49" charset="-122"/>
              </a:rPr>
              <a:t>TCP/IP</a:t>
            </a:r>
            <a:r>
              <a:rPr lang="zh-CN" altLang="en-US" dirty="0" smtClean="0">
                <a:solidFill>
                  <a:srgbClr val="C00000"/>
                </a:solidFill>
                <a:ea typeface="黑体" panose="02010609060101010101" pitchFamily="49" charset="-122"/>
              </a:rPr>
              <a:t>协议</a:t>
            </a:r>
            <a:r>
              <a:rPr lang="zh-CN" altLang="en-US" dirty="0" smtClean="0">
                <a:solidFill>
                  <a:srgbClr val="C00000"/>
                </a:solidFill>
                <a:ea typeface="黑体" panose="02010609060101010101" pitchFamily="49" charset="-122"/>
              </a:rPr>
              <a:t> </a:t>
            </a:r>
            <a:endParaRPr lang="zh-CN" altLang="en-US" dirty="0" smtClean="0">
              <a:solidFill>
                <a:srgbClr val="C00000"/>
              </a:solidFill>
              <a:ea typeface="黑体" panose="02010609060101010101" pitchFamily="49" charset="-122"/>
            </a:endParaRPr>
          </a:p>
          <a:p>
            <a:r>
              <a:rPr lang="zh-CN" altLang="en-US" dirty="0" smtClean="0">
                <a:ea typeface="黑体" panose="02010609060101010101" pitchFamily="49" charset="-122"/>
              </a:rPr>
              <a:t>它是一个三级计算机网络，分为主干网、地区网和校园网（或企业网）。</a:t>
            </a:r>
            <a:endParaRPr lang="en-US" altLang="zh-CN" dirty="0" smtClean="0">
              <a:ea typeface="黑体" panose="02010609060101010101" pitchFamily="49" charset="-122"/>
            </a:endParaRPr>
          </a:p>
        </p:txBody>
      </p:sp>
      <p:grpSp>
        <p:nvGrpSpPr>
          <p:cNvPr id="36867" name="组合 4"/>
          <p:cNvGrpSpPr>
            <a:grpSpLocks/>
          </p:cNvGrpSpPr>
          <p:nvPr/>
        </p:nvGrpSpPr>
        <p:grpSpPr bwMode="auto">
          <a:xfrm>
            <a:off x="747713" y="3716520"/>
            <a:ext cx="8669337" cy="2952750"/>
            <a:chOff x="776536" y="3068960"/>
            <a:chExt cx="8669712" cy="2952328"/>
          </a:xfrm>
        </p:grpSpPr>
        <p:cxnSp>
          <p:nvCxnSpPr>
            <p:cNvPr id="36868" name="直接连接符 5"/>
            <p:cNvCxnSpPr>
              <a:cxnSpLocks noChangeShapeType="1"/>
              <a:endCxn id="36943" idx="7"/>
            </p:cNvCxnSpPr>
            <p:nvPr/>
          </p:nvCxnSpPr>
          <p:spPr bwMode="auto">
            <a:xfrm flipH="1">
              <a:off x="3013901" y="3392996"/>
              <a:ext cx="1522291" cy="840447"/>
            </a:xfrm>
            <a:prstGeom prst="line">
              <a:avLst/>
            </a:prstGeom>
            <a:noFill/>
            <a:ln w="57150">
              <a:solidFill>
                <a:schemeClr val="tx1"/>
              </a:solidFill>
              <a:round/>
              <a:headEnd/>
              <a:tailEnd/>
            </a:ln>
          </p:spPr>
        </p:cxnSp>
        <p:cxnSp>
          <p:nvCxnSpPr>
            <p:cNvPr id="36869" name="直接连接符 6"/>
            <p:cNvCxnSpPr>
              <a:cxnSpLocks noChangeShapeType="1"/>
              <a:endCxn id="36943" idx="7"/>
            </p:cNvCxnSpPr>
            <p:nvPr/>
          </p:nvCxnSpPr>
          <p:spPr bwMode="auto">
            <a:xfrm flipH="1">
              <a:off x="4536192" y="3622124"/>
              <a:ext cx="419100" cy="611319"/>
            </a:xfrm>
            <a:prstGeom prst="line">
              <a:avLst/>
            </a:prstGeom>
            <a:noFill/>
            <a:ln w="57150">
              <a:solidFill>
                <a:schemeClr val="tx1"/>
              </a:solidFill>
              <a:round/>
              <a:headEnd/>
              <a:tailEnd/>
            </a:ln>
          </p:spPr>
        </p:cxnSp>
        <p:cxnSp>
          <p:nvCxnSpPr>
            <p:cNvPr id="36870" name="直接连接符 7"/>
            <p:cNvCxnSpPr>
              <a:cxnSpLocks noChangeShapeType="1"/>
              <a:endCxn id="36942" idx="1"/>
            </p:cNvCxnSpPr>
            <p:nvPr/>
          </p:nvCxnSpPr>
          <p:spPr bwMode="auto">
            <a:xfrm>
              <a:off x="5769487" y="3392996"/>
              <a:ext cx="1770684" cy="840447"/>
            </a:xfrm>
            <a:prstGeom prst="line">
              <a:avLst/>
            </a:prstGeom>
            <a:noFill/>
            <a:ln w="57150">
              <a:solidFill>
                <a:schemeClr val="tx1"/>
              </a:solidFill>
              <a:round/>
              <a:headEnd/>
              <a:tailEnd/>
            </a:ln>
          </p:spPr>
        </p:cxnSp>
        <p:pic>
          <p:nvPicPr>
            <p:cNvPr id="36871"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78374" y="3645024"/>
              <a:ext cx="419100" cy="34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2"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36192" y="3786053"/>
              <a:ext cx="419100" cy="34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3"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78116" y="3717032"/>
              <a:ext cx="419100" cy="34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4" name="椭圆 11"/>
            <p:cNvSpPr>
              <a:spLocks noChangeArrowheads="1"/>
            </p:cNvSpPr>
            <p:nvPr/>
          </p:nvSpPr>
          <p:spPr bwMode="auto">
            <a:xfrm>
              <a:off x="4232920" y="3068960"/>
              <a:ext cx="1800200" cy="648072"/>
            </a:xfrm>
            <a:prstGeom prst="ellipse">
              <a:avLst/>
            </a:prstGeom>
            <a:solidFill>
              <a:schemeClr val="accent1"/>
            </a:solidFill>
            <a:ln w="9525">
              <a:solidFill>
                <a:schemeClr val="tx1"/>
              </a:solidFill>
              <a:round/>
              <a:headEnd/>
              <a:tailEnd/>
            </a:ln>
          </p:spPr>
          <p:txBody>
            <a:bodyPr anchor="ct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400" b="1">
                  <a:ea typeface="黑体" panose="02010609060101010101" pitchFamily="49" charset="-122"/>
                </a:rPr>
                <a:t>主干网</a:t>
              </a:r>
            </a:p>
          </p:txBody>
        </p:sp>
        <p:grpSp>
          <p:nvGrpSpPr>
            <p:cNvPr id="36875" name="组合 12"/>
            <p:cNvGrpSpPr>
              <a:grpSpLocks/>
            </p:cNvGrpSpPr>
            <p:nvPr/>
          </p:nvGrpSpPr>
          <p:grpSpPr bwMode="auto">
            <a:xfrm>
              <a:off x="776536" y="4581128"/>
              <a:ext cx="1354983" cy="1440160"/>
              <a:chOff x="776536" y="4581128"/>
              <a:chExt cx="1354983" cy="1440160"/>
            </a:xfrm>
          </p:grpSpPr>
          <p:cxnSp>
            <p:nvCxnSpPr>
              <p:cNvPr id="36876" name="直接连接符 83"/>
              <p:cNvCxnSpPr>
                <a:cxnSpLocks noChangeShapeType="1"/>
                <a:endCxn id="36890" idx="2"/>
              </p:cNvCxnSpPr>
              <p:nvPr/>
            </p:nvCxnSpPr>
            <p:spPr bwMode="auto">
              <a:xfrm flipH="1">
                <a:off x="1495726" y="4581128"/>
                <a:ext cx="635793" cy="832396"/>
              </a:xfrm>
              <a:prstGeom prst="line">
                <a:avLst/>
              </a:prstGeom>
              <a:noFill/>
              <a:ln w="57150">
                <a:solidFill>
                  <a:schemeClr val="tx1"/>
                </a:solidFill>
                <a:round/>
                <a:headEnd/>
                <a:tailEnd/>
              </a:ln>
            </p:spPr>
          </p:cxnSp>
          <p:pic>
            <p:nvPicPr>
              <p:cNvPr id="36877"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08503" y="4774473"/>
                <a:ext cx="419100" cy="34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6878" name="组合 85"/>
              <p:cNvGrpSpPr>
                <a:grpSpLocks/>
              </p:cNvGrpSpPr>
              <p:nvPr/>
            </p:nvGrpSpPr>
            <p:grpSpPr bwMode="auto">
              <a:xfrm>
                <a:off x="776536" y="5341956"/>
                <a:ext cx="1249522" cy="679332"/>
                <a:chOff x="776536" y="5341956"/>
                <a:chExt cx="1249522" cy="679332"/>
              </a:xfrm>
            </p:grpSpPr>
            <p:grpSp>
              <p:nvGrpSpPr>
                <p:cNvPr id="36879" name="Group 1428"/>
                <p:cNvGrpSpPr>
                  <a:grpSpLocks/>
                </p:cNvGrpSpPr>
                <p:nvPr/>
              </p:nvGrpSpPr>
              <p:grpSpPr bwMode="auto">
                <a:xfrm>
                  <a:off x="776536" y="5341956"/>
                  <a:ext cx="1226011" cy="679332"/>
                  <a:chOff x="2949" y="196"/>
                  <a:chExt cx="941" cy="598"/>
                </a:xfrm>
              </p:grpSpPr>
              <p:sp>
                <p:nvSpPr>
                  <p:cNvPr id="36880" name="Oval 1429"/>
                  <p:cNvSpPr>
                    <a:spLocks noChangeArrowheads="1"/>
                  </p:cNvSpPr>
                  <p:nvPr/>
                </p:nvSpPr>
                <p:spPr bwMode="auto">
                  <a:xfrm>
                    <a:off x="3168" y="196"/>
                    <a:ext cx="407" cy="162"/>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881" name="Oval 1430"/>
                  <p:cNvSpPr>
                    <a:spLocks noChangeArrowheads="1"/>
                  </p:cNvSpPr>
                  <p:nvPr/>
                </p:nvSpPr>
                <p:spPr bwMode="auto">
                  <a:xfrm rot="900000">
                    <a:off x="3512" y="252"/>
                    <a:ext cx="275" cy="131"/>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882" name="Oval 1431"/>
                  <p:cNvSpPr>
                    <a:spLocks noChangeArrowheads="1"/>
                  </p:cNvSpPr>
                  <p:nvPr/>
                </p:nvSpPr>
                <p:spPr bwMode="auto">
                  <a:xfrm rot="1500000">
                    <a:off x="3650" y="385"/>
                    <a:ext cx="240" cy="153"/>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883" name="Oval 1432"/>
                  <p:cNvSpPr>
                    <a:spLocks noChangeArrowheads="1"/>
                  </p:cNvSpPr>
                  <p:nvPr/>
                </p:nvSpPr>
                <p:spPr bwMode="auto">
                  <a:xfrm rot="-1560000">
                    <a:off x="3573" y="537"/>
                    <a:ext cx="291" cy="189"/>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884" name="Oval 1433"/>
                  <p:cNvSpPr>
                    <a:spLocks noChangeArrowheads="1"/>
                  </p:cNvSpPr>
                  <p:nvPr/>
                </p:nvSpPr>
                <p:spPr bwMode="auto">
                  <a:xfrm>
                    <a:off x="3216" y="555"/>
                    <a:ext cx="471" cy="239"/>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885" name="Oval 1434"/>
                  <p:cNvSpPr>
                    <a:spLocks noChangeArrowheads="1"/>
                  </p:cNvSpPr>
                  <p:nvPr/>
                </p:nvSpPr>
                <p:spPr bwMode="auto">
                  <a:xfrm rot="1080000">
                    <a:off x="3023" y="555"/>
                    <a:ext cx="265" cy="156"/>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886" name="Oval 1435"/>
                  <p:cNvSpPr>
                    <a:spLocks noChangeArrowheads="1"/>
                  </p:cNvSpPr>
                  <p:nvPr/>
                </p:nvSpPr>
                <p:spPr bwMode="auto">
                  <a:xfrm>
                    <a:off x="2949" y="432"/>
                    <a:ext cx="217" cy="156"/>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887" name="Oval 1436"/>
                  <p:cNvSpPr>
                    <a:spLocks noChangeArrowheads="1"/>
                  </p:cNvSpPr>
                  <p:nvPr/>
                </p:nvSpPr>
                <p:spPr bwMode="auto">
                  <a:xfrm rot="-1860000">
                    <a:off x="2984" y="310"/>
                    <a:ext cx="295" cy="156"/>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888" name="Freeform 1437"/>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sp>
                <p:nvSpPr>
                  <p:cNvPr id="36889" name="Freeform 1438"/>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sp>
                <p:nvSpPr>
                  <p:cNvPr id="36890" name="Freeform 1439"/>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grpSp>
            <p:sp>
              <p:nvSpPr>
                <p:cNvPr id="36891" name="Text Box 1524"/>
                <p:cNvSpPr txBox="1">
                  <a:spLocks noChangeArrowheads="1"/>
                </p:cNvSpPr>
                <p:nvPr/>
              </p:nvSpPr>
              <p:spPr bwMode="auto">
                <a:xfrm>
                  <a:off x="801922" y="5476873"/>
                  <a:ext cx="12241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2000" b="1">
                      <a:ea typeface="黑体" panose="02010609060101010101" pitchFamily="49" charset="-122"/>
                    </a:rPr>
                    <a:t>校园网</a:t>
                  </a:r>
                </a:p>
              </p:txBody>
            </p:sp>
          </p:grpSp>
        </p:grpSp>
        <p:grpSp>
          <p:nvGrpSpPr>
            <p:cNvPr id="36892" name="组合 13"/>
            <p:cNvGrpSpPr>
              <a:grpSpLocks/>
            </p:cNvGrpSpPr>
            <p:nvPr/>
          </p:nvGrpSpPr>
          <p:grpSpPr bwMode="auto">
            <a:xfrm>
              <a:off x="2328852" y="4581128"/>
              <a:ext cx="1249522" cy="1440160"/>
              <a:chOff x="2328852" y="4581128"/>
              <a:chExt cx="1249522" cy="1440160"/>
            </a:xfrm>
          </p:grpSpPr>
          <p:cxnSp>
            <p:nvCxnSpPr>
              <p:cNvPr id="36893" name="直接连接符 67"/>
              <p:cNvCxnSpPr>
                <a:cxnSpLocks noChangeShapeType="1"/>
                <a:endCxn id="36897" idx="4"/>
              </p:cNvCxnSpPr>
              <p:nvPr/>
            </p:nvCxnSpPr>
            <p:spPr bwMode="auto">
              <a:xfrm>
                <a:off x="2722973" y="4581128"/>
                <a:ext cx="156347" cy="944861"/>
              </a:xfrm>
              <a:prstGeom prst="line">
                <a:avLst/>
              </a:prstGeom>
              <a:noFill/>
              <a:ln w="57150">
                <a:solidFill>
                  <a:schemeClr val="tx1"/>
                </a:solidFill>
                <a:round/>
                <a:headEnd/>
                <a:tailEnd/>
              </a:ln>
            </p:spPr>
          </p:cxnSp>
          <p:pic>
            <p:nvPicPr>
              <p:cNvPr id="36894"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76736" y="4823432"/>
                <a:ext cx="419100" cy="34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6895" name="组合 69"/>
              <p:cNvGrpSpPr>
                <a:grpSpLocks/>
              </p:cNvGrpSpPr>
              <p:nvPr/>
            </p:nvGrpSpPr>
            <p:grpSpPr bwMode="auto">
              <a:xfrm>
                <a:off x="2328852" y="5341956"/>
                <a:ext cx="1249522" cy="679332"/>
                <a:chOff x="776536" y="5341956"/>
                <a:chExt cx="1249522" cy="679332"/>
              </a:xfrm>
            </p:grpSpPr>
            <p:grpSp>
              <p:nvGrpSpPr>
                <p:cNvPr id="36896" name="Group 1428"/>
                <p:cNvGrpSpPr>
                  <a:grpSpLocks/>
                </p:cNvGrpSpPr>
                <p:nvPr/>
              </p:nvGrpSpPr>
              <p:grpSpPr bwMode="auto">
                <a:xfrm>
                  <a:off x="776536" y="5341956"/>
                  <a:ext cx="1226011" cy="679332"/>
                  <a:chOff x="2949" y="196"/>
                  <a:chExt cx="941" cy="598"/>
                </a:xfrm>
              </p:grpSpPr>
              <p:sp>
                <p:nvSpPr>
                  <p:cNvPr id="36897" name="Oval 1429"/>
                  <p:cNvSpPr>
                    <a:spLocks noChangeArrowheads="1"/>
                  </p:cNvSpPr>
                  <p:nvPr/>
                </p:nvSpPr>
                <p:spPr bwMode="auto">
                  <a:xfrm>
                    <a:off x="3168" y="196"/>
                    <a:ext cx="407" cy="162"/>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898" name="Oval 1430"/>
                  <p:cNvSpPr>
                    <a:spLocks noChangeArrowheads="1"/>
                  </p:cNvSpPr>
                  <p:nvPr/>
                </p:nvSpPr>
                <p:spPr bwMode="auto">
                  <a:xfrm rot="900000">
                    <a:off x="3512" y="252"/>
                    <a:ext cx="275" cy="131"/>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899" name="Oval 1431"/>
                  <p:cNvSpPr>
                    <a:spLocks noChangeArrowheads="1"/>
                  </p:cNvSpPr>
                  <p:nvPr/>
                </p:nvSpPr>
                <p:spPr bwMode="auto">
                  <a:xfrm rot="1500000">
                    <a:off x="3650" y="385"/>
                    <a:ext cx="240" cy="153"/>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00" name="Oval 1432"/>
                  <p:cNvSpPr>
                    <a:spLocks noChangeArrowheads="1"/>
                  </p:cNvSpPr>
                  <p:nvPr/>
                </p:nvSpPr>
                <p:spPr bwMode="auto">
                  <a:xfrm rot="-1560000">
                    <a:off x="3573" y="537"/>
                    <a:ext cx="291" cy="189"/>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01" name="Oval 1433"/>
                  <p:cNvSpPr>
                    <a:spLocks noChangeArrowheads="1"/>
                  </p:cNvSpPr>
                  <p:nvPr/>
                </p:nvSpPr>
                <p:spPr bwMode="auto">
                  <a:xfrm>
                    <a:off x="3216" y="555"/>
                    <a:ext cx="471" cy="239"/>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02" name="Oval 1434"/>
                  <p:cNvSpPr>
                    <a:spLocks noChangeArrowheads="1"/>
                  </p:cNvSpPr>
                  <p:nvPr/>
                </p:nvSpPr>
                <p:spPr bwMode="auto">
                  <a:xfrm rot="1080000">
                    <a:off x="3023" y="555"/>
                    <a:ext cx="265" cy="156"/>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03" name="Oval 1435"/>
                  <p:cNvSpPr>
                    <a:spLocks noChangeArrowheads="1"/>
                  </p:cNvSpPr>
                  <p:nvPr/>
                </p:nvSpPr>
                <p:spPr bwMode="auto">
                  <a:xfrm>
                    <a:off x="2949" y="432"/>
                    <a:ext cx="217" cy="156"/>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04" name="Oval 1436"/>
                  <p:cNvSpPr>
                    <a:spLocks noChangeArrowheads="1"/>
                  </p:cNvSpPr>
                  <p:nvPr/>
                </p:nvSpPr>
                <p:spPr bwMode="auto">
                  <a:xfrm rot="-1860000">
                    <a:off x="2984" y="310"/>
                    <a:ext cx="295" cy="156"/>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05" name="Freeform 1437"/>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sp>
                <p:nvSpPr>
                  <p:cNvPr id="36906" name="Freeform 1438"/>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sp>
                <p:nvSpPr>
                  <p:cNvPr id="36907" name="Freeform 1439"/>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grpSp>
            <p:sp>
              <p:nvSpPr>
                <p:cNvPr id="36908" name="Text Box 1524"/>
                <p:cNvSpPr txBox="1">
                  <a:spLocks noChangeArrowheads="1"/>
                </p:cNvSpPr>
                <p:nvPr/>
              </p:nvSpPr>
              <p:spPr bwMode="auto">
                <a:xfrm>
                  <a:off x="801922" y="5476873"/>
                  <a:ext cx="12241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2000" b="1">
                      <a:ea typeface="黑体" panose="02010609060101010101" pitchFamily="49" charset="-122"/>
                    </a:rPr>
                    <a:t>校园网</a:t>
                  </a:r>
                </a:p>
              </p:txBody>
            </p:sp>
          </p:grpSp>
        </p:grpSp>
        <p:grpSp>
          <p:nvGrpSpPr>
            <p:cNvPr id="36909" name="组合 14"/>
            <p:cNvGrpSpPr>
              <a:grpSpLocks/>
            </p:cNvGrpSpPr>
            <p:nvPr/>
          </p:nvGrpSpPr>
          <p:grpSpPr bwMode="auto">
            <a:xfrm>
              <a:off x="6644410" y="4581128"/>
              <a:ext cx="2801838" cy="1440160"/>
              <a:chOff x="776536" y="4581128"/>
              <a:chExt cx="2801838" cy="1440160"/>
            </a:xfrm>
          </p:grpSpPr>
          <p:cxnSp>
            <p:nvCxnSpPr>
              <p:cNvPr id="36910" name="直接连接符 35"/>
              <p:cNvCxnSpPr>
                <a:cxnSpLocks noChangeShapeType="1"/>
                <a:endCxn id="36926" idx="2"/>
              </p:cNvCxnSpPr>
              <p:nvPr/>
            </p:nvCxnSpPr>
            <p:spPr bwMode="auto">
              <a:xfrm flipH="1">
                <a:off x="1495726" y="4581128"/>
                <a:ext cx="635793" cy="832396"/>
              </a:xfrm>
              <a:prstGeom prst="line">
                <a:avLst/>
              </a:prstGeom>
              <a:noFill/>
              <a:ln w="57150">
                <a:solidFill>
                  <a:schemeClr val="tx1"/>
                </a:solidFill>
                <a:round/>
                <a:headEnd/>
                <a:tailEnd/>
              </a:ln>
            </p:spPr>
          </p:cxnSp>
          <p:pic>
            <p:nvPicPr>
              <p:cNvPr id="36911"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08503" y="4774473"/>
                <a:ext cx="419100" cy="34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6912" name="直接连接符 37"/>
              <p:cNvCxnSpPr>
                <a:cxnSpLocks noChangeShapeType="1"/>
                <a:endCxn id="36930" idx="4"/>
              </p:cNvCxnSpPr>
              <p:nvPr/>
            </p:nvCxnSpPr>
            <p:spPr bwMode="auto">
              <a:xfrm>
                <a:off x="2722973" y="4581128"/>
                <a:ext cx="156347" cy="944861"/>
              </a:xfrm>
              <a:prstGeom prst="line">
                <a:avLst/>
              </a:prstGeom>
              <a:noFill/>
              <a:ln w="57150">
                <a:solidFill>
                  <a:schemeClr val="tx1"/>
                </a:solidFill>
                <a:round/>
                <a:headEnd/>
                <a:tailEnd/>
              </a:ln>
            </p:spPr>
          </p:cxnSp>
          <p:pic>
            <p:nvPicPr>
              <p:cNvPr id="36913"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76736" y="4823432"/>
                <a:ext cx="419100" cy="34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6914" name="组合 39"/>
              <p:cNvGrpSpPr>
                <a:grpSpLocks/>
              </p:cNvGrpSpPr>
              <p:nvPr/>
            </p:nvGrpSpPr>
            <p:grpSpPr bwMode="auto">
              <a:xfrm>
                <a:off x="776536" y="5341956"/>
                <a:ext cx="1249522" cy="679332"/>
                <a:chOff x="776536" y="5341956"/>
                <a:chExt cx="1249522" cy="679332"/>
              </a:xfrm>
            </p:grpSpPr>
            <p:grpSp>
              <p:nvGrpSpPr>
                <p:cNvPr id="36915" name="Group 1428"/>
                <p:cNvGrpSpPr>
                  <a:grpSpLocks/>
                </p:cNvGrpSpPr>
                <p:nvPr/>
              </p:nvGrpSpPr>
              <p:grpSpPr bwMode="auto">
                <a:xfrm>
                  <a:off x="776536" y="5341956"/>
                  <a:ext cx="1226011" cy="679332"/>
                  <a:chOff x="2949" y="196"/>
                  <a:chExt cx="941" cy="598"/>
                </a:xfrm>
              </p:grpSpPr>
              <p:sp>
                <p:nvSpPr>
                  <p:cNvPr id="36916" name="Oval 1429"/>
                  <p:cNvSpPr>
                    <a:spLocks noChangeArrowheads="1"/>
                  </p:cNvSpPr>
                  <p:nvPr/>
                </p:nvSpPr>
                <p:spPr bwMode="auto">
                  <a:xfrm>
                    <a:off x="3168" y="196"/>
                    <a:ext cx="407" cy="162"/>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17" name="Oval 1430"/>
                  <p:cNvSpPr>
                    <a:spLocks noChangeArrowheads="1"/>
                  </p:cNvSpPr>
                  <p:nvPr/>
                </p:nvSpPr>
                <p:spPr bwMode="auto">
                  <a:xfrm rot="900000">
                    <a:off x="3512" y="252"/>
                    <a:ext cx="275" cy="131"/>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18" name="Oval 1431"/>
                  <p:cNvSpPr>
                    <a:spLocks noChangeArrowheads="1"/>
                  </p:cNvSpPr>
                  <p:nvPr/>
                </p:nvSpPr>
                <p:spPr bwMode="auto">
                  <a:xfrm rot="1500000">
                    <a:off x="3650" y="385"/>
                    <a:ext cx="240" cy="153"/>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19" name="Oval 1432"/>
                  <p:cNvSpPr>
                    <a:spLocks noChangeArrowheads="1"/>
                  </p:cNvSpPr>
                  <p:nvPr/>
                </p:nvSpPr>
                <p:spPr bwMode="auto">
                  <a:xfrm rot="-1560000">
                    <a:off x="3573" y="537"/>
                    <a:ext cx="291" cy="189"/>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20" name="Oval 1433"/>
                  <p:cNvSpPr>
                    <a:spLocks noChangeArrowheads="1"/>
                  </p:cNvSpPr>
                  <p:nvPr/>
                </p:nvSpPr>
                <p:spPr bwMode="auto">
                  <a:xfrm>
                    <a:off x="3216" y="555"/>
                    <a:ext cx="471" cy="239"/>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21" name="Oval 1434"/>
                  <p:cNvSpPr>
                    <a:spLocks noChangeArrowheads="1"/>
                  </p:cNvSpPr>
                  <p:nvPr/>
                </p:nvSpPr>
                <p:spPr bwMode="auto">
                  <a:xfrm rot="1080000">
                    <a:off x="3023" y="555"/>
                    <a:ext cx="265" cy="156"/>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22" name="Oval 1435"/>
                  <p:cNvSpPr>
                    <a:spLocks noChangeArrowheads="1"/>
                  </p:cNvSpPr>
                  <p:nvPr/>
                </p:nvSpPr>
                <p:spPr bwMode="auto">
                  <a:xfrm>
                    <a:off x="2949" y="432"/>
                    <a:ext cx="217" cy="156"/>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23" name="Oval 1436"/>
                  <p:cNvSpPr>
                    <a:spLocks noChangeArrowheads="1"/>
                  </p:cNvSpPr>
                  <p:nvPr/>
                </p:nvSpPr>
                <p:spPr bwMode="auto">
                  <a:xfrm rot="-1860000">
                    <a:off x="2984" y="310"/>
                    <a:ext cx="295" cy="156"/>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24" name="Freeform 1437"/>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sp>
                <p:nvSpPr>
                  <p:cNvPr id="36925" name="Freeform 1438"/>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sp>
                <p:nvSpPr>
                  <p:cNvPr id="36926" name="Freeform 1439"/>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grpSp>
            <p:sp>
              <p:nvSpPr>
                <p:cNvPr id="36927" name="Text Box 1524"/>
                <p:cNvSpPr txBox="1">
                  <a:spLocks noChangeArrowheads="1"/>
                </p:cNvSpPr>
                <p:nvPr/>
              </p:nvSpPr>
              <p:spPr bwMode="auto">
                <a:xfrm>
                  <a:off x="801922" y="5476873"/>
                  <a:ext cx="12241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2000" b="1">
                      <a:ea typeface="黑体" panose="02010609060101010101" pitchFamily="49" charset="-122"/>
                    </a:rPr>
                    <a:t>校园网</a:t>
                  </a:r>
                </a:p>
              </p:txBody>
            </p:sp>
          </p:grpSp>
          <p:grpSp>
            <p:nvGrpSpPr>
              <p:cNvPr id="36928" name="组合 40"/>
              <p:cNvGrpSpPr>
                <a:grpSpLocks/>
              </p:cNvGrpSpPr>
              <p:nvPr/>
            </p:nvGrpSpPr>
            <p:grpSpPr bwMode="auto">
              <a:xfrm>
                <a:off x="2328852" y="5341956"/>
                <a:ext cx="1249522" cy="679332"/>
                <a:chOff x="776536" y="5341956"/>
                <a:chExt cx="1249522" cy="679332"/>
              </a:xfrm>
            </p:grpSpPr>
            <p:grpSp>
              <p:nvGrpSpPr>
                <p:cNvPr id="36929" name="Group 1428"/>
                <p:cNvGrpSpPr>
                  <a:grpSpLocks/>
                </p:cNvGrpSpPr>
                <p:nvPr/>
              </p:nvGrpSpPr>
              <p:grpSpPr bwMode="auto">
                <a:xfrm>
                  <a:off x="776536" y="5341956"/>
                  <a:ext cx="1226011" cy="679332"/>
                  <a:chOff x="2949" y="196"/>
                  <a:chExt cx="941" cy="598"/>
                </a:xfrm>
              </p:grpSpPr>
              <p:sp>
                <p:nvSpPr>
                  <p:cNvPr id="36930" name="Oval 1429"/>
                  <p:cNvSpPr>
                    <a:spLocks noChangeArrowheads="1"/>
                  </p:cNvSpPr>
                  <p:nvPr/>
                </p:nvSpPr>
                <p:spPr bwMode="auto">
                  <a:xfrm>
                    <a:off x="3168" y="196"/>
                    <a:ext cx="407" cy="162"/>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31" name="Oval 1430"/>
                  <p:cNvSpPr>
                    <a:spLocks noChangeArrowheads="1"/>
                  </p:cNvSpPr>
                  <p:nvPr/>
                </p:nvSpPr>
                <p:spPr bwMode="auto">
                  <a:xfrm rot="900000">
                    <a:off x="3512" y="252"/>
                    <a:ext cx="275" cy="131"/>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32" name="Oval 1431"/>
                  <p:cNvSpPr>
                    <a:spLocks noChangeArrowheads="1"/>
                  </p:cNvSpPr>
                  <p:nvPr/>
                </p:nvSpPr>
                <p:spPr bwMode="auto">
                  <a:xfrm rot="1500000">
                    <a:off x="3650" y="385"/>
                    <a:ext cx="240" cy="153"/>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33" name="Oval 1432"/>
                  <p:cNvSpPr>
                    <a:spLocks noChangeArrowheads="1"/>
                  </p:cNvSpPr>
                  <p:nvPr/>
                </p:nvSpPr>
                <p:spPr bwMode="auto">
                  <a:xfrm rot="-1560000">
                    <a:off x="3573" y="537"/>
                    <a:ext cx="291" cy="189"/>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34" name="Oval 1433"/>
                  <p:cNvSpPr>
                    <a:spLocks noChangeArrowheads="1"/>
                  </p:cNvSpPr>
                  <p:nvPr/>
                </p:nvSpPr>
                <p:spPr bwMode="auto">
                  <a:xfrm>
                    <a:off x="3216" y="555"/>
                    <a:ext cx="471" cy="239"/>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35" name="Oval 1434"/>
                  <p:cNvSpPr>
                    <a:spLocks noChangeArrowheads="1"/>
                  </p:cNvSpPr>
                  <p:nvPr/>
                </p:nvSpPr>
                <p:spPr bwMode="auto">
                  <a:xfrm rot="1080000">
                    <a:off x="3023" y="555"/>
                    <a:ext cx="265" cy="156"/>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36" name="Oval 1435"/>
                  <p:cNvSpPr>
                    <a:spLocks noChangeArrowheads="1"/>
                  </p:cNvSpPr>
                  <p:nvPr/>
                </p:nvSpPr>
                <p:spPr bwMode="auto">
                  <a:xfrm>
                    <a:off x="2949" y="432"/>
                    <a:ext cx="217" cy="156"/>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37" name="Oval 1436"/>
                  <p:cNvSpPr>
                    <a:spLocks noChangeArrowheads="1"/>
                  </p:cNvSpPr>
                  <p:nvPr/>
                </p:nvSpPr>
                <p:spPr bwMode="auto">
                  <a:xfrm rot="-1860000">
                    <a:off x="2984" y="310"/>
                    <a:ext cx="295" cy="156"/>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38" name="Freeform 1437"/>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sp>
                <p:nvSpPr>
                  <p:cNvPr id="36939" name="Freeform 1438"/>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sp>
                <p:nvSpPr>
                  <p:cNvPr id="36940" name="Freeform 1439"/>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grpSp>
            <p:sp>
              <p:nvSpPr>
                <p:cNvPr id="36941" name="Text Box 1524"/>
                <p:cNvSpPr txBox="1">
                  <a:spLocks noChangeArrowheads="1"/>
                </p:cNvSpPr>
                <p:nvPr/>
              </p:nvSpPr>
              <p:spPr bwMode="auto">
                <a:xfrm>
                  <a:off x="801922" y="5476873"/>
                  <a:ext cx="12241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2000" b="1">
                      <a:ea typeface="黑体" panose="02010609060101010101" pitchFamily="49" charset="-122"/>
                    </a:rPr>
                    <a:t>校园网</a:t>
                  </a:r>
                </a:p>
              </p:txBody>
            </p:sp>
          </p:grpSp>
        </p:grpSp>
        <p:sp>
          <p:nvSpPr>
            <p:cNvPr id="36942" name="椭圆 15"/>
            <p:cNvSpPr>
              <a:spLocks noChangeArrowheads="1"/>
            </p:cNvSpPr>
            <p:nvPr/>
          </p:nvSpPr>
          <p:spPr bwMode="auto">
            <a:xfrm>
              <a:off x="7329264" y="4149080"/>
              <a:ext cx="1440160" cy="576064"/>
            </a:xfrm>
            <a:prstGeom prst="ellipse">
              <a:avLst/>
            </a:prstGeom>
            <a:solidFill>
              <a:srgbClr val="FFFF00"/>
            </a:solidFill>
            <a:ln w="9525">
              <a:solidFill>
                <a:schemeClr val="tx1"/>
              </a:solidFill>
              <a:round/>
              <a:headEnd/>
              <a:tailEnd/>
            </a:ln>
          </p:spPr>
          <p:txBody>
            <a:bodyPr anchor="ct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000" b="1" dirty="0">
                  <a:ea typeface="黑体" panose="02010609060101010101" pitchFamily="49" charset="-122"/>
                </a:rPr>
                <a:t>地区网</a:t>
              </a:r>
            </a:p>
          </p:txBody>
        </p:sp>
        <p:sp>
          <p:nvSpPr>
            <p:cNvPr id="36943" name="椭圆 16"/>
            <p:cNvSpPr>
              <a:spLocks noChangeArrowheads="1"/>
            </p:cNvSpPr>
            <p:nvPr/>
          </p:nvSpPr>
          <p:spPr bwMode="auto">
            <a:xfrm>
              <a:off x="1784648" y="4149080"/>
              <a:ext cx="1440160" cy="576064"/>
            </a:xfrm>
            <a:prstGeom prst="ellipse">
              <a:avLst/>
            </a:prstGeom>
            <a:solidFill>
              <a:srgbClr val="FFFF00"/>
            </a:solidFill>
            <a:ln w="9525">
              <a:solidFill>
                <a:schemeClr val="tx1"/>
              </a:solidFill>
              <a:round/>
              <a:headEnd/>
              <a:tailEnd/>
            </a:ln>
          </p:spPr>
          <p:txBody>
            <a:bodyPr anchor="ct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000" b="1">
                  <a:ea typeface="黑体" panose="02010609060101010101" pitchFamily="49" charset="-122"/>
                </a:rPr>
                <a:t>地区网</a:t>
              </a:r>
            </a:p>
          </p:txBody>
        </p:sp>
        <p:grpSp>
          <p:nvGrpSpPr>
            <p:cNvPr id="36944" name="组合 17"/>
            <p:cNvGrpSpPr>
              <a:grpSpLocks/>
            </p:cNvGrpSpPr>
            <p:nvPr/>
          </p:nvGrpSpPr>
          <p:grpSpPr bwMode="auto">
            <a:xfrm>
              <a:off x="4330531" y="4581128"/>
              <a:ext cx="1249522" cy="1440160"/>
              <a:chOff x="4330531" y="4581128"/>
              <a:chExt cx="1249522" cy="1440160"/>
            </a:xfrm>
          </p:grpSpPr>
          <p:cxnSp>
            <p:nvCxnSpPr>
              <p:cNvPr id="36945" name="直接连接符 19"/>
              <p:cNvCxnSpPr>
                <a:cxnSpLocks noChangeShapeType="1"/>
                <a:endCxn id="36949" idx="4"/>
              </p:cNvCxnSpPr>
              <p:nvPr/>
            </p:nvCxnSpPr>
            <p:spPr bwMode="auto">
              <a:xfrm>
                <a:off x="4724652" y="4581128"/>
                <a:ext cx="156347" cy="944861"/>
              </a:xfrm>
              <a:prstGeom prst="line">
                <a:avLst/>
              </a:prstGeom>
              <a:noFill/>
              <a:ln w="57150">
                <a:solidFill>
                  <a:schemeClr val="tx1"/>
                </a:solidFill>
                <a:round/>
                <a:headEnd/>
                <a:tailEnd/>
              </a:ln>
            </p:spPr>
          </p:cxnSp>
          <p:pic>
            <p:nvPicPr>
              <p:cNvPr id="36946"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8415" y="4823432"/>
                <a:ext cx="419100" cy="34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6947" name="组合 21"/>
              <p:cNvGrpSpPr>
                <a:grpSpLocks/>
              </p:cNvGrpSpPr>
              <p:nvPr/>
            </p:nvGrpSpPr>
            <p:grpSpPr bwMode="auto">
              <a:xfrm>
                <a:off x="4330531" y="5341956"/>
                <a:ext cx="1249522" cy="679332"/>
                <a:chOff x="776536" y="5341956"/>
                <a:chExt cx="1249522" cy="679332"/>
              </a:xfrm>
            </p:grpSpPr>
            <p:grpSp>
              <p:nvGrpSpPr>
                <p:cNvPr id="36948" name="Group 1428"/>
                <p:cNvGrpSpPr>
                  <a:grpSpLocks/>
                </p:cNvGrpSpPr>
                <p:nvPr/>
              </p:nvGrpSpPr>
              <p:grpSpPr bwMode="auto">
                <a:xfrm>
                  <a:off x="776536" y="5341956"/>
                  <a:ext cx="1226011" cy="679332"/>
                  <a:chOff x="2949" y="196"/>
                  <a:chExt cx="941" cy="598"/>
                </a:xfrm>
              </p:grpSpPr>
              <p:sp>
                <p:nvSpPr>
                  <p:cNvPr id="36949" name="Oval 1429"/>
                  <p:cNvSpPr>
                    <a:spLocks noChangeArrowheads="1"/>
                  </p:cNvSpPr>
                  <p:nvPr/>
                </p:nvSpPr>
                <p:spPr bwMode="auto">
                  <a:xfrm>
                    <a:off x="3168" y="196"/>
                    <a:ext cx="407" cy="162"/>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50" name="Oval 1430"/>
                  <p:cNvSpPr>
                    <a:spLocks noChangeArrowheads="1"/>
                  </p:cNvSpPr>
                  <p:nvPr/>
                </p:nvSpPr>
                <p:spPr bwMode="auto">
                  <a:xfrm rot="900000">
                    <a:off x="3512" y="252"/>
                    <a:ext cx="275" cy="131"/>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51" name="Oval 1431"/>
                  <p:cNvSpPr>
                    <a:spLocks noChangeArrowheads="1"/>
                  </p:cNvSpPr>
                  <p:nvPr/>
                </p:nvSpPr>
                <p:spPr bwMode="auto">
                  <a:xfrm rot="1500000">
                    <a:off x="3650" y="385"/>
                    <a:ext cx="240" cy="153"/>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52" name="Oval 1432"/>
                  <p:cNvSpPr>
                    <a:spLocks noChangeArrowheads="1"/>
                  </p:cNvSpPr>
                  <p:nvPr/>
                </p:nvSpPr>
                <p:spPr bwMode="auto">
                  <a:xfrm rot="-1560000">
                    <a:off x="3573" y="537"/>
                    <a:ext cx="291" cy="189"/>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53" name="Oval 1433"/>
                  <p:cNvSpPr>
                    <a:spLocks noChangeArrowheads="1"/>
                  </p:cNvSpPr>
                  <p:nvPr/>
                </p:nvSpPr>
                <p:spPr bwMode="auto">
                  <a:xfrm>
                    <a:off x="3216" y="555"/>
                    <a:ext cx="471" cy="239"/>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54" name="Oval 1434"/>
                  <p:cNvSpPr>
                    <a:spLocks noChangeArrowheads="1"/>
                  </p:cNvSpPr>
                  <p:nvPr/>
                </p:nvSpPr>
                <p:spPr bwMode="auto">
                  <a:xfrm rot="1080000">
                    <a:off x="3023" y="555"/>
                    <a:ext cx="265" cy="156"/>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55" name="Oval 1435"/>
                  <p:cNvSpPr>
                    <a:spLocks noChangeArrowheads="1"/>
                  </p:cNvSpPr>
                  <p:nvPr/>
                </p:nvSpPr>
                <p:spPr bwMode="auto">
                  <a:xfrm>
                    <a:off x="2949" y="432"/>
                    <a:ext cx="217" cy="156"/>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56" name="Oval 1436"/>
                  <p:cNvSpPr>
                    <a:spLocks noChangeArrowheads="1"/>
                  </p:cNvSpPr>
                  <p:nvPr/>
                </p:nvSpPr>
                <p:spPr bwMode="auto">
                  <a:xfrm rot="-1860000">
                    <a:off x="2984" y="310"/>
                    <a:ext cx="295" cy="156"/>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57" name="Freeform 1437"/>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sp>
                <p:nvSpPr>
                  <p:cNvPr id="36958" name="Freeform 1438"/>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sp>
                <p:nvSpPr>
                  <p:cNvPr id="36959" name="Freeform 1439"/>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grpSp>
            <p:sp>
              <p:nvSpPr>
                <p:cNvPr id="36960" name="Text Box 1524"/>
                <p:cNvSpPr txBox="1">
                  <a:spLocks noChangeArrowheads="1"/>
                </p:cNvSpPr>
                <p:nvPr/>
              </p:nvSpPr>
              <p:spPr bwMode="auto">
                <a:xfrm>
                  <a:off x="801922" y="5476873"/>
                  <a:ext cx="12241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2000" b="1">
                      <a:ea typeface="黑体" panose="02010609060101010101" pitchFamily="49" charset="-122"/>
                    </a:rPr>
                    <a:t>校园网</a:t>
                  </a:r>
                </a:p>
              </p:txBody>
            </p:sp>
          </p:grpSp>
        </p:grpSp>
        <p:sp>
          <p:nvSpPr>
            <p:cNvPr id="36961" name="椭圆 18"/>
            <p:cNvSpPr>
              <a:spLocks noChangeArrowheads="1"/>
            </p:cNvSpPr>
            <p:nvPr/>
          </p:nvSpPr>
          <p:spPr bwMode="auto">
            <a:xfrm>
              <a:off x="3728864" y="4149080"/>
              <a:ext cx="1440160" cy="576064"/>
            </a:xfrm>
            <a:prstGeom prst="ellipse">
              <a:avLst/>
            </a:prstGeom>
            <a:solidFill>
              <a:srgbClr val="FFFF00"/>
            </a:solidFill>
            <a:ln w="9525">
              <a:solidFill>
                <a:schemeClr val="tx1"/>
              </a:solidFill>
              <a:round/>
              <a:headEnd/>
              <a:tailEnd/>
            </a:ln>
          </p:spPr>
          <p:txBody>
            <a:bodyPr anchor="ct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000" b="1">
                  <a:ea typeface="黑体" panose="02010609060101010101" pitchFamily="49" charset="-122"/>
                </a:rPr>
                <a:t>地区网</a:t>
              </a:r>
            </a:p>
          </p:txBody>
        </p:sp>
      </p:grpSp>
    </p:spTree>
    <p:extLst>
      <p:ext uri="{BB962C8B-B14F-4D97-AF65-F5344CB8AC3E}">
        <p14:creationId xmlns:p14="http://schemas.microsoft.com/office/powerpoint/2010/main" val="153518684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p:cNvSpPr>
            <a:spLocks noGrp="1" noChangeArrowheads="1"/>
          </p:cNvSpPr>
          <p:nvPr>
            <p:ph type="title"/>
          </p:nvPr>
        </p:nvSpPr>
        <p:spPr>
          <a:xfrm>
            <a:off x="495300" y="188913"/>
            <a:ext cx="9066213" cy="792162"/>
          </a:xfrm>
        </p:spPr>
        <p:txBody>
          <a:bodyPr/>
          <a:lstStyle/>
          <a:p>
            <a:r>
              <a:rPr lang="en-US" altLang="zh-CN" sz="3600" smtClean="0">
                <a:ea typeface="黑体" panose="02010609060101010101" pitchFamily="49" charset="-122"/>
              </a:rPr>
              <a:t>1.2.2  </a:t>
            </a:r>
            <a:r>
              <a:rPr lang="zh-CN" altLang="zh-CN" sz="3600" smtClean="0">
                <a:ea typeface="黑体" panose="02010609060101010101" pitchFamily="49" charset="-122"/>
              </a:rPr>
              <a:t>互联网基础结构发展的三个阶段</a:t>
            </a:r>
            <a:endParaRPr lang="zh-CN" altLang="en-US" sz="3600" smtClean="0">
              <a:ea typeface="黑体" panose="02010609060101010101" pitchFamily="49" charset="-122"/>
            </a:endParaRPr>
          </a:p>
        </p:txBody>
      </p:sp>
      <p:sp>
        <p:nvSpPr>
          <p:cNvPr id="303107" name="Rectangle 3"/>
          <p:cNvSpPr>
            <a:spLocks noGrp="1" noChangeArrowheads="1"/>
          </p:cNvSpPr>
          <p:nvPr>
            <p:ph idx="1"/>
          </p:nvPr>
        </p:nvSpPr>
        <p:spPr>
          <a:xfrm>
            <a:off x="495300" y="1196975"/>
            <a:ext cx="9066213" cy="1584325"/>
          </a:xfrm>
        </p:spPr>
        <p:txBody>
          <a:bodyPr/>
          <a:lstStyle/>
          <a:p>
            <a:r>
              <a:rPr lang="zh-CN" altLang="en-US" sz="2800" smtClean="0">
                <a:solidFill>
                  <a:srgbClr val="FF0000"/>
                </a:solidFill>
                <a:ea typeface="黑体" panose="02010609060101010101" pitchFamily="49" charset="-122"/>
              </a:rPr>
              <a:t>第三阶段：</a:t>
            </a:r>
            <a:r>
              <a:rPr lang="zh-CN" altLang="en-US" sz="2800" smtClean="0">
                <a:ea typeface="黑体" panose="02010609060101010101" pitchFamily="49" charset="-122"/>
              </a:rPr>
              <a:t>逐渐形成了多层次 </a:t>
            </a:r>
            <a:r>
              <a:rPr lang="en-US" altLang="zh-CN" sz="2800" smtClean="0">
                <a:ea typeface="黑体" panose="02010609060101010101" pitchFamily="49" charset="-122"/>
              </a:rPr>
              <a:t>ISP </a:t>
            </a:r>
            <a:r>
              <a:rPr lang="zh-CN" altLang="en-US" sz="2800" smtClean="0">
                <a:ea typeface="黑体" panose="02010609060101010101" pitchFamily="49" charset="-122"/>
              </a:rPr>
              <a:t>结构的互联网。 </a:t>
            </a:r>
            <a:endParaRPr lang="en-US" altLang="zh-CN" sz="2800" smtClean="0">
              <a:ea typeface="黑体" panose="02010609060101010101" pitchFamily="49" charset="-122"/>
            </a:endParaRPr>
          </a:p>
          <a:p>
            <a:pPr>
              <a:buFont typeface="Wingdings" panose="05000000000000000000" pitchFamily="2" charset="2"/>
              <a:buNone/>
            </a:pPr>
            <a:r>
              <a:rPr lang="zh-CN" altLang="en-US" sz="2800" smtClean="0">
                <a:solidFill>
                  <a:srgbClr val="0000CC"/>
                </a:solidFill>
                <a:ea typeface="黑体" panose="02010609060101010101" pitchFamily="49" charset="-122"/>
              </a:rPr>
              <a:t>    </a:t>
            </a:r>
            <a:r>
              <a:rPr lang="en-US" altLang="zh-CN" sz="2800" smtClean="0">
                <a:solidFill>
                  <a:srgbClr val="0000CC"/>
                </a:solidFill>
                <a:ea typeface="黑体" panose="02010609060101010101" pitchFamily="49" charset="-122"/>
              </a:rPr>
              <a:t>ISP</a:t>
            </a:r>
            <a:r>
              <a:rPr lang="zh-CN" altLang="en-US" sz="2800" smtClean="0">
                <a:solidFill>
                  <a:srgbClr val="0000CC"/>
                </a:solidFill>
                <a:ea typeface="黑体" panose="02010609060101010101" pitchFamily="49" charset="-122"/>
              </a:rPr>
              <a:t>：互联网服务提供者</a:t>
            </a:r>
            <a:r>
              <a:rPr lang="en-US" altLang="zh-CN" sz="2800" smtClean="0">
                <a:ea typeface="黑体" panose="02010609060101010101" pitchFamily="49" charset="-122"/>
              </a:rPr>
              <a:t> (Internet Service Provider)</a:t>
            </a:r>
            <a:r>
              <a:rPr lang="zh-CN" altLang="en-US" sz="2800" smtClean="0">
                <a:ea typeface="黑体" panose="02010609060101010101" pitchFamily="49" charset="-122"/>
              </a:rPr>
              <a:t>。</a:t>
            </a:r>
            <a:endParaRPr lang="en-US" altLang="zh-CN" sz="2800" smtClean="0">
              <a:ea typeface="黑体" panose="02010609060101010101" pitchFamily="49" charset="-122"/>
            </a:endParaRPr>
          </a:p>
          <a:p>
            <a:endParaRPr lang="zh-CN" altLang="en-US" sz="2800" smtClean="0">
              <a:ea typeface="黑体" panose="02010609060101010101" pitchFamily="49" charset="-122"/>
            </a:endParaRPr>
          </a:p>
        </p:txBody>
      </p:sp>
      <p:pic>
        <p:nvPicPr>
          <p:cNvPr id="38915" name="图片 1" descr="QQ截图201709031009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5738" y="2247900"/>
            <a:ext cx="6840537" cy="440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8280232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互联网的发展情况概况</a:t>
            </a:r>
          </a:p>
        </p:txBody>
      </p:sp>
      <p:sp>
        <p:nvSpPr>
          <p:cNvPr id="40962" name="内容占位符 7"/>
          <p:cNvSpPr>
            <a:spLocks noGrp="1" noChangeArrowheads="1"/>
          </p:cNvSpPr>
          <p:nvPr>
            <p:ph sz="half" idx="1"/>
          </p:nvPr>
        </p:nvSpPr>
        <p:spPr>
          <a:xfrm>
            <a:off x="415925" y="1196975"/>
            <a:ext cx="3976688" cy="4933950"/>
          </a:xfrm>
        </p:spPr>
        <p:txBody>
          <a:bodyPr/>
          <a:lstStyle/>
          <a:p>
            <a:pPr>
              <a:lnSpc>
                <a:spcPct val="110000"/>
              </a:lnSpc>
              <a:spcBef>
                <a:spcPts val="600"/>
              </a:spcBef>
            </a:pPr>
            <a:r>
              <a:rPr lang="zh-CN" altLang="zh-CN" smtClean="0">
                <a:ea typeface="黑体" panose="02010609060101010101" pitchFamily="49" charset="-122"/>
              </a:rPr>
              <a:t>从</a:t>
            </a:r>
            <a:r>
              <a:rPr lang="en-US" altLang="zh-CN" smtClean="0">
                <a:ea typeface="黑体" panose="02010609060101010101" pitchFamily="49" charset="-122"/>
              </a:rPr>
              <a:t> 1993 </a:t>
            </a:r>
            <a:r>
              <a:rPr lang="zh-CN" altLang="zh-CN" smtClean="0">
                <a:ea typeface="黑体" panose="02010609060101010101" pitchFamily="49" charset="-122"/>
              </a:rPr>
              <a:t>年至</a:t>
            </a:r>
            <a:r>
              <a:rPr lang="en-US" altLang="zh-CN" smtClean="0">
                <a:ea typeface="黑体" panose="02010609060101010101" pitchFamily="49" charset="-122"/>
              </a:rPr>
              <a:t> 2016 </a:t>
            </a:r>
            <a:r>
              <a:rPr lang="zh-CN" altLang="zh-CN" smtClean="0">
                <a:ea typeface="黑体" panose="02010609060101010101" pitchFamily="49" charset="-122"/>
              </a:rPr>
              <a:t>年互联网用户数的增长情况</a:t>
            </a:r>
            <a:r>
              <a:rPr lang="zh-CN" altLang="en-US" smtClean="0">
                <a:ea typeface="黑体" panose="02010609060101010101" pitchFamily="49" charset="-122"/>
              </a:rPr>
              <a:t>如图所示</a:t>
            </a:r>
            <a:r>
              <a:rPr lang="zh-CN" altLang="zh-CN" smtClean="0">
                <a:ea typeface="黑体" panose="02010609060101010101" pitchFamily="49" charset="-122"/>
              </a:rPr>
              <a:t>。</a:t>
            </a:r>
          </a:p>
          <a:p>
            <a:pPr>
              <a:lnSpc>
                <a:spcPct val="110000"/>
              </a:lnSpc>
              <a:spcBef>
                <a:spcPts val="600"/>
              </a:spcBef>
            </a:pPr>
            <a:r>
              <a:rPr lang="zh-CN" altLang="zh-CN" smtClean="0">
                <a:ea typeface="黑体" panose="02010609060101010101" pitchFamily="49" charset="-122"/>
              </a:rPr>
              <a:t>在</a:t>
            </a:r>
            <a:r>
              <a:rPr lang="en-US" altLang="zh-CN" smtClean="0">
                <a:ea typeface="黑体" panose="02010609060101010101" pitchFamily="49" charset="-122"/>
              </a:rPr>
              <a:t> 2005 </a:t>
            </a:r>
            <a:r>
              <a:rPr lang="zh-CN" altLang="zh-CN" smtClean="0">
                <a:ea typeface="黑体" panose="02010609060101010101" pitchFamily="49" charset="-122"/>
              </a:rPr>
              <a:t>年互联网的用户数超过了</a:t>
            </a:r>
            <a:r>
              <a:rPr lang="en-US" altLang="zh-CN" smtClean="0">
                <a:ea typeface="黑体" panose="02010609060101010101" pitchFamily="49" charset="-122"/>
              </a:rPr>
              <a:t> 10 </a:t>
            </a:r>
            <a:r>
              <a:rPr lang="zh-CN" altLang="zh-CN" smtClean="0">
                <a:ea typeface="黑体" panose="02010609060101010101" pitchFamily="49" charset="-122"/>
              </a:rPr>
              <a:t>亿，在</a:t>
            </a:r>
            <a:r>
              <a:rPr lang="en-US" altLang="zh-CN" smtClean="0">
                <a:ea typeface="黑体" panose="02010609060101010101" pitchFamily="49" charset="-122"/>
              </a:rPr>
              <a:t> 2010 </a:t>
            </a:r>
            <a:r>
              <a:rPr lang="zh-CN" altLang="zh-CN" smtClean="0">
                <a:ea typeface="黑体" panose="02010609060101010101" pitchFamily="49" charset="-122"/>
              </a:rPr>
              <a:t>年超过了</a:t>
            </a:r>
            <a:r>
              <a:rPr lang="en-US" altLang="zh-CN" smtClean="0">
                <a:ea typeface="黑体" panose="02010609060101010101" pitchFamily="49" charset="-122"/>
              </a:rPr>
              <a:t> 20 </a:t>
            </a:r>
            <a:r>
              <a:rPr lang="zh-CN" altLang="zh-CN" smtClean="0">
                <a:ea typeface="黑体" panose="02010609060101010101" pitchFamily="49" charset="-122"/>
              </a:rPr>
              <a:t>亿，而在</a:t>
            </a:r>
            <a:r>
              <a:rPr lang="en-US" altLang="zh-CN" smtClean="0">
                <a:ea typeface="黑体" panose="02010609060101010101" pitchFamily="49" charset="-122"/>
              </a:rPr>
              <a:t>2014</a:t>
            </a:r>
            <a:r>
              <a:rPr lang="zh-CN" altLang="zh-CN" smtClean="0">
                <a:ea typeface="黑体" panose="02010609060101010101" pitchFamily="49" charset="-122"/>
              </a:rPr>
              <a:t>年</a:t>
            </a:r>
            <a:r>
              <a:rPr lang="en-US" altLang="zh-CN" smtClean="0">
                <a:ea typeface="黑体" panose="02010609060101010101" pitchFamily="49" charset="-122"/>
              </a:rPr>
              <a:t> </a:t>
            </a:r>
            <a:r>
              <a:rPr lang="zh-CN" altLang="zh-CN" smtClean="0">
                <a:ea typeface="黑体" panose="02010609060101010101" pitchFamily="49" charset="-122"/>
              </a:rPr>
              <a:t>已接近了</a:t>
            </a:r>
            <a:r>
              <a:rPr lang="en-US" altLang="zh-CN" smtClean="0">
                <a:ea typeface="黑体" panose="02010609060101010101" pitchFamily="49" charset="-122"/>
              </a:rPr>
              <a:t> 30</a:t>
            </a:r>
            <a:r>
              <a:rPr lang="zh-CN" altLang="zh-CN" smtClean="0">
                <a:ea typeface="黑体" panose="02010609060101010101" pitchFamily="49" charset="-122"/>
              </a:rPr>
              <a:t>亿。</a:t>
            </a:r>
            <a:endParaRPr lang="zh-CN" altLang="en-US" smtClean="0">
              <a:ea typeface="黑体" panose="02010609060101010101" pitchFamily="49" charset="-122"/>
            </a:endParaRPr>
          </a:p>
        </p:txBody>
      </p:sp>
      <p:sp>
        <p:nvSpPr>
          <p:cNvPr id="40963" name="Rectangle 2"/>
          <p:cNvSpPr>
            <a:spLocks noChangeArrowheads="1"/>
          </p:cNvSpPr>
          <p:nvPr/>
        </p:nvSpPr>
        <p:spPr bwMode="auto">
          <a:xfrm>
            <a:off x="0" y="0"/>
            <a:ext cx="9906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zh-CN" altLang="en-US">
              <a:ea typeface="宋体" panose="02010600030101010101" pitchFamily="2" charset="-122"/>
            </a:endParaRPr>
          </a:p>
        </p:txBody>
      </p:sp>
      <p:pic>
        <p:nvPicPr>
          <p:cNvPr id="40964" name="图片 9" descr="Internet.jpg"/>
          <p:cNvPicPr>
            <a:picLocks noChangeAspect="1" noChangeArrowheads="1"/>
          </p:cNvPicPr>
          <p:nvPr/>
        </p:nvPicPr>
        <p:blipFill>
          <a:blip r:embed="rId3">
            <a:extLst>
              <a:ext uri="{28A0092B-C50C-407E-A947-70E740481C1C}">
                <a14:useLocalDpi xmlns:a14="http://schemas.microsoft.com/office/drawing/2010/main" val="0"/>
              </a:ext>
            </a:extLst>
          </a:blip>
          <a:srcRect t="3773" r="14465" b="7547"/>
          <a:stretch>
            <a:fillRect/>
          </a:stretch>
        </p:blipFill>
        <p:spPr bwMode="auto">
          <a:xfrm>
            <a:off x="5138738" y="1484313"/>
            <a:ext cx="4470400" cy="346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5" name="矩形 10"/>
          <p:cNvSpPr>
            <a:spLocks noChangeArrowheads="1"/>
          </p:cNvSpPr>
          <p:nvPr/>
        </p:nvSpPr>
        <p:spPr bwMode="auto">
          <a:xfrm>
            <a:off x="4716463" y="5200650"/>
            <a:ext cx="4892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ea typeface="黑体" panose="02010609060101010101" pitchFamily="49" charset="-122"/>
              </a:rPr>
              <a:t>1993 </a:t>
            </a:r>
            <a:r>
              <a:rPr lang="zh-CN" altLang="zh-CN" sz="2000" b="1">
                <a:ea typeface="黑体" panose="02010609060101010101" pitchFamily="49" charset="-122"/>
              </a:rPr>
              <a:t>年至</a:t>
            </a:r>
            <a:r>
              <a:rPr lang="en-US" altLang="zh-CN" sz="2000" b="1">
                <a:ea typeface="黑体" panose="02010609060101010101" pitchFamily="49" charset="-122"/>
              </a:rPr>
              <a:t> 2016 </a:t>
            </a:r>
            <a:r>
              <a:rPr lang="zh-CN" altLang="zh-CN" sz="2000" b="1">
                <a:ea typeface="黑体" panose="02010609060101010101" pitchFamily="49" charset="-122"/>
              </a:rPr>
              <a:t>年互联网用户的增长情况</a:t>
            </a:r>
            <a:endParaRPr lang="zh-CN" altLang="en-US" sz="2000" b="1">
              <a:ea typeface="黑体" panose="02010609060101010101" pitchFamily="49" charset="-122"/>
            </a:endParaRPr>
          </a:p>
        </p:txBody>
      </p:sp>
    </p:spTree>
    <p:extLst>
      <p:ext uri="{BB962C8B-B14F-4D97-AF65-F5344CB8AC3E}">
        <p14:creationId xmlns:p14="http://schemas.microsoft.com/office/powerpoint/2010/main" val="11526702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a:spLocks noGrp="1" noChangeArrowheads="1"/>
          </p:cNvSpPr>
          <p:nvPr>
            <p:ph type="title"/>
          </p:nvPr>
        </p:nvSpPr>
        <p:spPr/>
        <p:txBody>
          <a:bodyPr/>
          <a:lstStyle/>
          <a:p>
            <a:r>
              <a:rPr lang="en-US" altLang="zh-CN" smtClean="0">
                <a:ea typeface="黑体" panose="02010609060101010101" pitchFamily="49" charset="-122"/>
              </a:rPr>
              <a:t>1.2.3  </a:t>
            </a:r>
            <a:r>
              <a:rPr lang="zh-CN" altLang="zh-CN" smtClean="0">
                <a:ea typeface="黑体" panose="02010609060101010101" pitchFamily="49" charset="-122"/>
              </a:rPr>
              <a:t>互联网的标准化工作</a:t>
            </a:r>
            <a:endParaRPr lang="zh-CN" altLang="en-US" smtClean="0">
              <a:ea typeface="黑体" panose="02010609060101010101" pitchFamily="49" charset="-122"/>
            </a:endParaRPr>
          </a:p>
        </p:txBody>
      </p:sp>
      <p:grpSp>
        <p:nvGrpSpPr>
          <p:cNvPr id="43010" name="组合 2"/>
          <p:cNvGrpSpPr>
            <a:grpSpLocks/>
          </p:cNvGrpSpPr>
          <p:nvPr/>
        </p:nvGrpSpPr>
        <p:grpSpPr bwMode="auto">
          <a:xfrm>
            <a:off x="415925" y="2262188"/>
            <a:ext cx="9283700" cy="3614737"/>
            <a:chOff x="350837" y="2262188"/>
            <a:chExt cx="9283437" cy="3614738"/>
          </a:xfrm>
        </p:grpSpPr>
        <p:sp>
          <p:nvSpPr>
            <p:cNvPr id="43011" name="Rectangle 3"/>
            <p:cNvSpPr>
              <a:spLocks noChangeArrowheads="1"/>
            </p:cNvSpPr>
            <p:nvPr/>
          </p:nvSpPr>
          <p:spPr bwMode="auto">
            <a:xfrm>
              <a:off x="350837" y="3576639"/>
              <a:ext cx="3198813" cy="2300287"/>
            </a:xfrm>
            <a:prstGeom prst="rect">
              <a:avLst/>
            </a:prstGeom>
            <a:solidFill>
              <a:srgbClr val="CCECFF"/>
            </a:solidFill>
            <a:ln w="9525">
              <a:solidFill>
                <a:schemeClr val="tx1"/>
              </a:solidFill>
              <a:prstDash val="sysDot"/>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43012" name="Freeform 4"/>
            <p:cNvSpPr>
              <a:spLocks noChangeArrowheads="1"/>
            </p:cNvSpPr>
            <p:nvPr/>
          </p:nvSpPr>
          <p:spPr bwMode="auto">
            <a:xfrm>
              <a:off x="3408627" y="2755901"/>
              <a:ext cx="2744788" cy="246063"/>
            </a:xfrm>
            <a:custGeom>
              <a:avLst/>
              <a:gdLst>
                <a:gd name="T0" fmla="*/ 0 w 1584"/>
                <a:gd name="T1" fmla="*/ 0 h 336"/>
                <a:gd name="T2" fmla="*/ 1584 w 1584"/>
                <a:gd name="T3" fmla="*/ 0 h 336"/>
                <a:gd name="T4" fmla="*/ 1344 w 1584"/>
                <a:gd name="T5" fmla="*/ 336 h 336"/>
                <a:gd name="T6" fmla="*/ 240 w 1584"/>
                <a:gd name="T7" fmla="*/ 336 h 336"/>
                <a:gd name="T8" fmla="*/ 0 w 1584"/>
                <a:gd name="T9" fmla="*/ 0 h 336"/>
              </a:gdLst>
              <a:ahLst/>
              <a:cxnLst>
                <a:cxn ang="0">
                  <a:pos x="T0" y="T1"/>
                </a:cxn>
                <a:cxn ang="0">
                  <a:pos x="T2" y="T3"/>
                </a:cxn>
                <a:cxn ang="0">
                  <a:pos x="T4" y="T5"/>
                </a:cxn>
                <a:cxn ang="0">
                  <a:pos x="T6" y="T7"/>
                </a:cxn>
                <a:cxn ang="0">
                  <a:pos x="T8" y="T9"/>
                </a:cxn>
              </a:cxnLst>
              <a:rect l="0" t="0" r="r" b="b"/>
              <a:pathLst>
                <a:path w="1584" h="336">
                  <a:moveTo>
                    <a:pt x="0" y="0"/>
                  </a:moveTo>
                  <a:lnTo>
                    <a:pt x="1584" y="0"/>
                  </a:lnTo>
                  <a:lnTo>
                    <a:pt x="1344" y="336"/>
                  </a:lnTo>
                  <a:lnTo>
                    <a:pt x="240" y="336"/>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43013" name="Rectangle 5"/>
            <p:cNvSpPr>
              <a:spLocks noChangeArrowheads="1"/>
            </p:cNvSpPr>
            <p:nvPr/>
          </p:nvSpPr>
          <p:spPr bwMode="auto">
            <a:xfrm>
              <a:off x="3408627" y="2262188"/>
              <a:ext cx="2744788" cy="493712"/>
            </a:xfrm>
            <a:prstGeom prst="rect">
              <a:avLst/>
            </a:prstGeom>
            <a:solidFill>
              <a:srgbClr val="FFFF99"/>
            </a:solidFill>
            <a:ln w="9525">
              <a:solidFill>
                <a:schemeClr val="tx1"/>
              </a:solidFill>
              <a:miter lim="800000"/>
              <a:headEnd/>
              <a:tailEnd/>
            </a:ln>
          </p:spPr>
          <p:txBody>
            <a:bodyPr wrap="none" anchor="ctr"/>
            <a:lstStyle/>
            <a:p>
              <a:pPr algn="ctr" eaLnBrk="0" hangingPunct="0"/>
              <a:r>
                <a:rPr lang="zh-CN" altLang="en-US" sz="2000" b="1">
                  <a:solidFill>
                    <a:srgbClr val="000099"/>
                  </a:solidFill>
                  <a:ea typeface="黑体" panose="02010609060101010101" pitchFamily="49" charset="-122"/>
                </a:rPr>
                <a:t>互联网协会 </a:t>
              </a:r>
              <a:r>
                <a:rPr lang="en-US" altLang="zh-CN" sz="2000" b="1">
                  <a:solidFill>
                    <a:srgbClr val="000099"/>
                  </a:solidFill>
                  <a:ea typeface="黑体" panose="02010609060101010101" pitchFamily="49" charset="-122"/>
                </a:rPr>
                <a:t>ISOC</a:t>
              </a:r>
            </a:p>
          </p:txBody>
        </p:sp>
        <p:sp>
          <p:nvSpPr>
            <p:cNvPr id="43014" name="Line 6"/>
            <p:cNvSpPr>
              <a:spLocks noChangeShapeType="1"/>
            </p:cNvSpPr>
            <p:nvPr/>
          </p:nvSpPr>
          <p:spPr bwMode="auto">
            <a:xfrm>
              <a:off x="2240889" y="4727576"/>
              <a:ext cx="667279" cy="5746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43015" name="Line 7"/>
            <p:cNvSpPr>
              <a:spLocks noChangeShapeType="1"/>
            </p:cNvSpPr>
            <p:nvPr/>
          </p:nvSpPr>
          <p:spPr bwMode="auto">
            <a:xfrm>
              <a:off x="3408627" y="2755900"/>
              <a:ext cx="295804" cy="2413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43016" name="Line 8"/>
            <p:cNvSpPr>
              <a:spLocks noChangeShapeType="1"/>
            </p:cNvSpPr>
            <p:nvPr/>
          </p:nvSpPr>
          <p:spPr bwMode="auto">
            <a:xfrm flipH="1">
              <a:off x="1076590" y="4727576"/>
              <a:ext cx="665560" cy="5746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43017" name="Line 9"/>
            <p:cNvSpPr>
              <a:spLocks noChangeShapeType="1"/>
            </p:cNvSpPr>
            <p:nvPr/>
          </p:nvSpPr>
          <p:spPr bwMode="auto">
            <a:xfrm flipH="1">
              <a:off x="5811177" y="2755900"/>
              <a:ext cx="342238" cy="2413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43018" name="Rectangle 10"/>
            <p:cNvSpPr>
              <a:spLocks noChangeArrowheads="1"/>
            </p:cNvSpPr>
            <p:nvPr/>
          </p:nvSpPr>
          <p:spPr bwMode="auto">
            <a:xfrm>
              <a:off x="584729" y="4140201"/>
              <a:ext cx="2731029" cy="657225"/>
            </a:xfrm>
            <a:prstGeom prst="rect">
              <a:avLst/>
            </a:prstGeom>
            <a:solidFill>
              <a:schemeClr val="bg1"/>
            </a:solidFill>
            <a:ln w="9525">
              <a:solidFill>
                <a:schemeClr val="tx1"/>
              </a:solidFill>
              <a:miter lim="800000"/>
              <a:headEnd/>
              <a:tailEnd/>
            </a:ln>
          </p:spPr>
          <p:txBody>
            <a:bodyPr wrap="none" anchor="ctr"/>
            <a:lstStyle/>
            <a:p>
              <a:pPr algn="ctr" eaLnBrk="0" hangingPunct="0"/>
              <a:r>
                <a:rPr lang="zh-CN" altLang="en-US" sz="2000" b="1">
                  <a:solidFill>
                    <a:srgbClr val="000099"/>
                  </a:solidFill>
                  <a:ea typeface="黑体" panose="02010609060101010101" pitchFamily="49" charset="-122"/>
                </a:rPr>
                <a:t>互联网</a:t>
              </a:r>
              <a:r>
                <a:rPr lang="zh-CN" altLang="en-US" sz="2000" b="1">
                  <a:solidFill>
                    <a:srgbClr val="FF0000"/>
                  </a:solidFill>
                  <a:ea typeface="黑体" panose="02010609060101010101" pitchFamily="49" charset="-122"/>
                </a:rPr>
                <a:t>研究</a:t>
              </a:r>
              <a:r>
                <a:rPr lang="zh-CN" altLang="en-US" sz="2000" b="1">
                  <a:solidFill>
                    <a:srgbClr val="000099"/>
                  </a:solidFill>
                  <a:ea typeface="黑体" panose="02010609060101010101" pitchFamily="49" charset="-122"/>
                </a:rPr>
                <a:t>指导小组</a:t>
              </a:r>
            </a:p>
            <a:p>
              <a:pPr algn="ctr" eaLnBrk="0" hangingPunct="0"/>
              <a:r>
                <a:rPr lang="en-US" altLang="zh-CN" sz="2000" b="1">
                  <a:solidFill>
                    <a:srgbClr val="000099"/>
                  </a:solidFill>
                  <a:ea typeface="黑体" panose="02010609060101010101" pitchFamily="49" charset="-122"/>
                </a:rPr>
                <a:t>IRSG </a:t>
              </a:r>
            </a:p>
          </p:txBody>
        </p:sp>
        <p:sp>
          <p:nvSpPr>
            <p:cNvPr id="43019" name="Rectangle 11"/>
            <p:cNvSpPr>
              <a:spLocks noChangeArrowheads="1"/>
            </p:cNvSpPr>
            <p:nvPr/>
          </p:nvSpPr>
          <p:spPr bwMode="auto">
            <a:xfrm>
              <a:off x="5904046" y="3576639"/>
              <a:ext cx="3730228" cy="2300287"/>
            </a:xfrm>
            <a:prstGeom prst="rect">
              <a:avLst/>
            </a:prstGeom>
            <a:solidFill>
              <a:srgbClr val="FFCC99"/>
            </a:solidFill>
            <a:ln w="9525">
              <a:solidFill>
                <a:schemeClr val="tx1"/>
              </a:solidFill>
              <a:prstDash val="sysDot"/>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43020" name="Text Box 12"/>
            <p:cNvSpPr txBox="1">
              <a:spLocks noChangeArrowheads="1"/>
            </p:cNvSpPr>
            <p:nvPr/>
          </p:nvSpPr>
          <p:spPr bwMode="auto">
            <a:xfrm>
              <a:off x="741231" y="3606801"/>
              <a:ext cx="2444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互联网研究部 </a:t>
              </a:r>
              <a:r>
                <a:rPr lang="en-US" altLang="zh-CN" sz="2000" b="1">
                  <a:solidFill>
                    <a:srgbClr val="000099"/>
                  </a:solidFill>
                  <a:ea typeface="黑体" panose="02010609060101010101" pitchFamily="49" charset="-122"/>
                </a:rPr>
                <a:t>IRTF </a:t>
              </a:r>
            </a:p>
          </p:txBody>
        </p:sp>
        <p:sp>
          <p:nvSpPr>
            <p:cNvPr id="43021" name="Text Box 13"/>
            <p:cNvSpPr txBox="1">
              <a:spLocks noChangeArrowheads="1"/>
            </p:cNvSpPr>
            <p:nvPr/>
          </p:nvSpPr>
          <p:spPr bwMode="auto">
            <a:xfrm>
              <a:off x="6485335" y="3560763"/>
              <a:ext cx="24304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互联网工程部 </a:t>
              </a:r>
              <a:r>
                <a:rPr lang="en-US" altLang="zh-CN" sz="2000" b="1">
                  <a:solidFill>
                    <a:srgbClr val="000099"/>
                  </a:solidFill>
                  <a:ea typeface="黑体" panose="02010609060101010101" pitchFamily="49" charset="-122"/>
                </a:rPr>
                <a:t>IETF </a:t>
              </a:r>
            </a:p>
          </p:txBody>
        </p:sp>
        <p:sp>
          <p:nvSpPr>
            <p:cNvPr id="43022" name="Line 14"/>
            <p:cNvSpPr>
              <a:spLocks noChangeShapeType="1"/>
            </p:cNvSpPr>
            <p:nvPr/>
          </p:nvSpPr>
          <p:spPr bwMode="auto">
            <a:xfrm flipV="1">
              <a:off x="2067189" y="3716339"/>
              <a:ext cx="1637242" cy="4333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43023" name="Line 15"/>
            <p:cNvSpPr>
              <a:spLocks noChangeShapeType="1"/>
            </p:cNvSpPr>
            <p:nvPr/>
          </p:nvSpPr>
          <p:spPr bwMode="auto">
            <a:xfrm flipH="1" flipV="1">
              <a:off x="5238486" y="3659188"/>
              <a:ext cx="2445544" cy="4175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43024" name="Rectangle 16"/>
            <p:cNvSpPr>
              <a:spLocks noChangeArrowheads="1"/>
            </p:cNvSpPr>
            <p:nvPr/>
          </p:nvSpPr>
          <p:spPr bwMode="auto">
            <a:xfrm>
              <a:off x="6356350" y="4070351"/>
              <a:ext cx="2887531" cy="657225"/>
            </a:xfrm>
            <a:prstGeom prst="rect">
              <a:avLst/>
            </a:prstGeom>
            <a:solidFill>
              <a:schemeClr val="bg1"/>
            </a:solidFill>
            <a:ln w="9525">
              <a:solidFill>
                <a:schemeClr val="tx1"/>
              </a:solidFill>
              <a:miter lim="800000"/>
              <a:headEnd/>
              <a:tailEnd/>
            </a:ln>
          </p:spPr>
          <p:txBody>
            <a:bodyPr wrap="none" anchor="ctr"/>
            <a:lstStyle/>
            <a:p>
              <a:pPr algn="ctr" eaLnBrk="0" hangingPunct="0"/>
              <a:r>
                <a:rPr lang="zh-CN" altLang="en-US" sz="2000" b="1">
                  <a:solidFill>
                    <a:srgbClr val="000099"/>
                  </a:solidFill>
                  <a:ea typeface="黑体" panose="02010609060101010101" pitchFamily="49" charset="-122"/>
                </a:rPr>
                <a:t>互联网</a:t>
              </a:r>
              <a:r>
                <a:rPr lang="zh-CN" altLang="en-US" sz="2000" b="1">
                  <a:solidFill>
                    <a:srgbClr val="FF0000"/>
                  </a:solidFill>
                  <a:ea typeface="黑体" panose="02010609060101010101" pitchFamily="49" charset="-122"/>
                </a:rPr>
                <a:t>工程</a:t>
              </a:r>
              <a:r>
                <a:rPr lang="zh-CN" altLang="en-US" sz="2000" b="1">
                  <a:solidFill>
                    <a:srgbClr val="000099"/>
                  </a:solidFill>
                  <a:ea typeface="黑体" panose="02010609060101010101" pitchFamily="49" charset="-122"/>
                </a:rPr>
                <a:t>指导小组</a:t>
              </a:r>
            </a:p>
            <a:p>
              <a:pPr algn="ctr" eaLnBrk="0" hangingPunct="0"/>
              <a:r>
                <a:rPr lang="en-US" altLang="zh-CN" sz="2000" b="1">
                  <a:solidFill>
                    <a:srgbClr val="000099"/>
                  </a:solidFill>
                  <a:ea typeface="黑体" panose="02010609060101010101" pitchFamily="49" charset="-122"/>
                </a:rPr>
                <a:t>IESG </a:t>
              </a:r>
            </a:p>
          </p:txBody>
        </p:sp>
        <p:sp>
          <p:nvSpPr>
            <p:cNvPr id="43025" name="Text Box 17"/>
            <p:cNvSpPr txBox="1">
              <a:spLocks noChangeArrowheads="1"/>
            </p:cNvSpPr>
            <p:nvPr/>
          </p:nvSpPr>
          <p:spPr bwMode="auto">
            <a:xfrm>
              <a:off x="7371027" y="4754563"/>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a:t>
              </a:r>
            </a:p>
          </p:txBody>
        </p:sp>
        <p:sp>
          <p:nvSpPr>
            <p:cNvPr id="43026" name="Line 18"/>
            <p:cNvSpPr>
              <a:spLocks noChangeShapeType="1"/>
            </p:cNvSpPr>
            <p:nvPr/>
          </p:nvSpPr>
          <p:spPr bwMode="auto">
            <a:xfrm flipV="1">
              <a:off x="6825854" y="4727576"/>
              <a:ext cx="158221" cy="2143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43027" name="Line 19"/>
            <p:cNvSpPr>
              <a:spLocks noChangeShapeType="1"/>
            </p:cNvSpPr>
            <p:nvPr/>
          </p:nvSpPr>
          <p:spPr bwMode="auto">
            <a:xfrm>
              <a:off x="8306594" y="4724401"/>
              <a:ext cx="259689" cy="1682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43028" name="Rectangle 20"/>
            <p:cNvSpPr>
              <a:spLocks noChangeArrowheads="1"/>
            </p:cNvSpPr>
            <p:nvPr/>
          </p:nvSpPr>
          <p:spPr bwMode="auto">
            <a:xfrm>
              <a:off x="827221" y="5302251"/>
              <a:ext cx="498740" cy="409575"/>
            </a:xfrm>
            <a:prstGeom prst="rect">
              <a:avLst/>
            </a:prstGeom>
            <a:solidFill>
              <a:schemeClr val="bg1"/>
            </a:solidFill>
            <a:ln w="9525">
              <a:solidFill>
                <a:schemeClr val="tx1"/>
              </a:solidFill>
              <a:miter lim="800000"/>
              <a:headEnd/>
              <a:tailEnd/>
            </a:ln>
          </p:spPr>
          <p:txBody>
            <a:bodyPr wrap="none" anchor="ctr"/>
            <a:lstStyle/>
            <a:p>
              <a:pPr algn="ctr" eaLnBrk="0" hangingPunct="0"/>
              <a:r>
                <a:rPr lang="en-US" altLang="zh-CN" sz="2000" b="1">
                  <a:solidFill>
                    <a:srgbClr val="000099"/>
                  </a:solidFill>
                  <a:ea typeface="黑体" panose="02010609060101010101" pitchFamily="49" charset="-122"/>
                </a:rPr>
                <a:t>RG</a:t>
              </a:r>
            </a:p>
          </p:txBody>
        </p:sp>
        <p:sp>
          <p:nvSpPr>
            <p:cNvPr id="43029" name="Rectangle 21"/>
            <p:cNvSpPr>
              <a:spLocks noChangeArrowheads="1"/>
            </p:cNvSpPr>
            <p:nvPr/>
          </p:nvSpPr>
          <p:spPr bwMode="auto">
            <a:xfrm>
              <a:off x="8972154" y="5373688"/>
              <a:ext cx="583009" cy="412750"/>
            </a:xfrm>
            <a:prstGeom prst="rect">
              <a:avLst/>
            </a:prstGeom>
            <a:solidFill>
              <a:schemeClr val="bg1"/>
            </a:solidFill>
            <a:ln w="9525">
              <a:solidFill>
                <a:schemeClr val="tx1"/>
              </a:solidFill>
              <a:miter lim="800000"/>
              <a:headEnd/>
              <a:tailEnd/>
            </a:ln>
          </p:spPr>
          <p:txBody>
            <a:bodyPr wrap="none" anchor="ctr"/>
            <a:lstStyle/>
            <a:p>
              <a:pPr algn="ctr" eaLnBrk="0" hangingPunct="0"/>
              <a:r>
                <a:rPr lang="en-US" altLang="zh-CN" sz="2000" b="1">
                  <a:solidFill>
                    <a:srgbClr val="000099"/>
                  </a:solidFill>
                  <a:ea typeface="黑体" panose="02010609060101010101" pitchFamily="49" charset="-122"/>
                </a:rPr>
                <a:t>WG</a:t>
              </a:r>
            </a:p>
          </p:txBody>
        </p:sp>
        <p:sp>
          <p:nvSpPr>
            <p:cNvPr id="43030" name="Text Box 22"/>
            <p:cNvSpPr txBox="1">
              <a:spLocks noChangeArrowheads="1"/>
            </p:cNvSpPr>
            <p:nvPr/>
          </p:nvSpPr>
          <p:spPr bwMode="auto">
            <a:xfrm>
              <a:off x="6561006" y="5264151"/>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a:t>
              </a:r>
            </a:p>
          </p:txBody>
        </p:sp>
        <p:sp>
          <p:nvSpPr>
            <p:cNvPr id="43031" name="Text Box 23"/>
            <p:cNvSpPr txBox="1">
              <a:spLocks noChangeArrowheads="1"/>
            </p:cNvSpPr>
            <p:nvPr/>
          </p:nvSpPr>
          <p:spPr bwMode="auto">
            <a:xfrm>
              <a:off x="8456216" y="5264151"/>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a:t>
              </a:r>
            </a:p>
          </p:txBody>
        </p:sp>
        <p:sp>
          <p:nvSpPr>
            <p:cNvPr id="43032" name="Line 24"/>
            <p:cNvSpPr>
              <a:spLocks noChangeShapeType="1"/>
            </p:cNvSpPr>
            <p:nvPr/>
          </p:nvSpPr>
          <p:spPr bwMode="auto">
            <a:xfrm flipH="1">
              <a:off x="6235965" y="5219701"/>
              <a:ext cx="331920" cy="1635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43033" name="Line 25"/>
            <p:cNvSpPr>
              <a:spLocks noChangeShapeType="1"/>
            </p:cNvSpPr>
            <p:nvPr/>
          </p:nvSpPr>
          <p:spPr bwMode="auto">
            <a:xfrm>
              <a:off x="6818974" y="5219701"/>
              <a:ext cx="500459" cy="1635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43034" name="Line 26"/>
            <p:cNvSpPr>
              <a:spLocks noChangeShapeType="1"/>
            </p:cNvSpPr>
            <p:nvPr/>
          </p:nvSpPr>
          <p:spPr bwMode="auto">
            <a:xfrm flipH="1">
              <a:off x="7984994" y="5219701"/>
              <a:ext cx="416190" cy="1635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43035" name="Line 27"/>
            <p:cNvSpPr>
              <a:spLocks noChangeShapeType="1"/>
            </p:cNvSpPr>
            <p:nvPr/>
          </p:nvSpPr>
          <p:spPr bwMode="auto">
            <a:xfrm>
              <a:off x="8650552" y="5219701"/>
              <a:ext cx="416190" cy="1635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43036" name="Rectangle 28"/>
            <p:cNvSpPr>
              <a:spLocks noChangeArrowheads="1"/>
            </p:cNvSpPr>
            <p:nvPr/>
          </p:nvSpPr>
          <p:spPr bwMode="auto">
            <a:xfrm>
              <a:off x="2657079" y="5302251"/>
              <a:ext cx="500459" cy="409575"/>
            </a:xfrm>
            <a:prstGeom prst="rect">
              <a:avLst/>
            </a:prstGeom>
            <a:solidFill>
              <a:schemeClr val="bg1"/>
            </a:solidFill>
            <a:ln w="9525">
              <a:solidFill>
                <a:schemeClr val="tx1"/>
              </a:solidFill>
              <a:miter lim="800000"/>
              <a:headEnd/>
              <a:tailEnd/>
            </a:ln>
          </p:spPr>
          <p:txBody>
            <a:bodyPr wrap="none" anchor="ctr"/>
            <a:lstStyle/>
            <a:p>
              <a:pPr algn="ctr" eaLnBrk="0" hangingPunct="0"/>
              <a:r>
                <a:rPr lang="en-US" altLang="zh-CN" sz="2000" b="1">
                  <a:solidFill>
                    <a:srgbClr val="000099"/>
                  </a:solidFill>
                  <a:ea typeface="黑体" panose="02010609060101010101" pitchFamily="49" charset="-122"/>
                </a:rPr>
                <a:t>RG</a:t>
              </a:r>
            </a:p>
          </p:txBody>
        </p:sp>
        <p:sp>
          <p:nvSpPr>
            <p:cNvPr id="43037" name="Text Box 29"/>
            <p:cNvSpPr txBox="1">
              <a:spLocks noChangeArrowheads="1"/>
            </p:cNvSpPr>
            <p:nvPr/>
          </p:nvSpPr>
          <p:spPr bwMode="auto">
            <a:xfrm>
              <a:off x="1676797" y="5264151"/>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a:t>
              </a:r>
            </a:p>
          </p:txBody>
        </p:sp>
        <p:sp>
          <p:nvSpPr>
            <p:cNvPr id="43038" name="Rectangle 30"/>
            <p:cNvSpPr>
              <a:spLocks noChangeArrowheads="1"/>
            </p:cNvSpPr>
            <p:nvPr/>
          </p:nvSpPr>
          <p:spPr bwMode="auto">
            <a:xfrm>
              <a:off x="6493933" y="4892675"/>
              <a:ext cx="627725" cy="388938"/>
            </a:xfrm>
            <a:prstGeom prst="rect">
              <a:avLst/>
            </a:prstGeom>
            <a:solidFill>
              <a:schemeClr val="bg1"/>
            </a:solidFill>
            <a:ln w="9525">
              <a:solidFill>
                <a:schemeClr val="tx1"/>
              </a:solidFill>
              <a:miter lim="800000"/>
              <a:headEnd/>
              <a:tailEnd/>
            </a:ln>
          </p:spPr>
          <p:txBody>
            <a:bodyPr wrap="none" anchor="ctr"/>
            <a:lstStyle/>
            <a:p>
              <a:pPr algn="ctr" eaLnBrk="0" hangingPunct="0"/>
              <a:r>
                <a:rPr lang="zh-CN" altLang="en-US" sz="2000" b="1">
                  <a:solidFill>
                    <a:srgbClr val="000099"/>
                  </a:solidFill>
                  <a:ea typeface="黑体" panose="02010609060101010101" pitchFamily="49" charset="-122"/>
                </a:rPr>
                <a:t>领域</a:t>
              </a:r>
            </a:p>
          </p:txBody>
        </p:sp>
        <p:sp>
          <p:nvSpPr>
            <p:cNvPr id="43039" name="Rectangle 31"/>
            <p:cNvSpPr>
              <a:spLocks noChangeArrowheads="1"/>
            </p:cNvSpPr>
            <p:nvPr/>
          </p:nvSpPr>
          <p:spPr bwMode="auto">
            <a:xfrm>
              <a:off x="8382264" y="4892675"/>
              <a:ext cx="627725" cy="388938"/>
            </a:xfrm>
            <a:prstGeom prst="rect">
              <a:avLst/>
            </a:prstGeom>
            <a:solidFill>
              <a:schemeClr val="bg1"/>
            </a:solidFill>
            <a:ln w="9525">
              <a:solidFill>
                <a:schemeClr val="tx1"/>
              </a:solidFill>
              <a:miter lim="800000"/>
              <a:headEnd/>
              <a:tailEnd/>
            </a:ln>
          </p:spPr>
          <p:txBody>
            <a:bodyPr wrap="none" anchor="ctr"/>
            <a:lstStyle/>
            <a:p>
              <a:pPr algn="ctr" eaLnBrk="0" hangingPunct="0"/>
              <a:r>
                <a:rPr lang="zh-CN" altLang="en-US" sz="2000" b="1">
                  <a:solidFill>
                    <a:srgbClr val="000099"/>
                  </a:solidFill>
                  <a:ea typeface="黑体" panose="02010609060101010101" pitchFamily="49" charset="-122"/>
                </a:rPr>
                <a:t>领域</a:t>
              </a:r>
            </a:p>
          </p:txBody>
        </p:sp>
        <p:sp>
          <p:nvSpPr>
            <p:cNvPr id="43040" name="Rectangle 32"/>
            <p:cNvSpPr>
              <a:spLocks noChangeArrowheads="1"/>
            </p:cNvSpPr>
            <p:nvPr/>
          </p:nvSpPr>
          <p:spPr bwMode="auto">
            <a:xfrm>
              <a:off x="3704431" y="3001964"/>
              <a:ext cx="2106745" cy="752475"/>
            </a:xfrm>
            <a:prstGeom prst="rect">
              <a:avLst/>
            </a:prstGeom>
            <a:solidFill>
              <a:schemeClr val="accent2"/>
            </a:solidFill>
            <a:ln w="9525">
              <a:solidFill>
                <a:schemeClr val="tx1"/>
              </a:solidFill>
              <a:miter lim="800000"/>
              <a:headEnd/>
              <a:tailEnd/>
            </a:ln>
          </p:spPr>
          <p:txBody>
            <a:bodyPr wrap="none" anchor="ctr"/>
            <a:lstStyle/>
            <a:p>
              <a:pPr algn="ctr" eaLnBrk="0" hangingPunct="0"/>
              <a:r>
                <a:rPr lang="zh-CN" altLang="en-US" sz="2000" b="1">
                  <a:solidFill>
                    <a:srgbClr val="000099"/>
                  </a:solidFill>
                  <a:ea typeface="黑体" panose="02010609060101010101" pitchFamily="49" charset="-122"/>
                </a:rPr>
                <a:t>互联网体系结构</a:t>
              </a:r>
            </a:p>
            <a:p>
              <a:pPr algn="ctr" eaLnBrk="0" hangingPunct="0"/>
              <a:r>
                <a:rPr lang="zh-CN" altLang="en-US" sz="2000" b="1">
                  <a:solidFill>
                    <a:srgbClr val="000099"/>
                  </a:solidFill>
                  <a:ea typeface="黑体" panose="02010609060101010101" pitchFamily="49" charset="-122"/>
                </a:rPr>
                <a:t>研究委员会 </a:t>
              </a:r>
              <a:r>
                <a:rPr lang="en-US" altLang="zh-CN" sz="2000" b="1">
                  <a:solidFill>
                    <a:srgbClr val="000099"/>
                  </a:solidFill>
                  <a:ea typeface="黑体" panose="02010609060101010101" pitchFamily="49" charset="-122"/>
                </a:rPr>
                <a:t>IAB </a:t>
              </a:r>
            </a:p>
          </p:txBody>
        </p:sp>
        <p:sp>
          <p:nvSpPr>
            <p:cNvPr id="43041" name="Rectangle 33"/>
            <p:cNvSpPr>
              <a:spLocks noChangeArrowheads="1"/>
            </p:cNvSpPr>
            <p:nvPr/>
          </p:nvSpPr>
          <p:spPr bwMode="auto">
            <a:xfrm>
              <a:off x="7802695" y="5373688"/>
              <a:ext cx="583009" cy="412750"/>
            </a:xfrm>
            <a:prstGeom prst="rect">
              <a:avLst/>
            </a:prstGeom>
            <a:solidFill>
              <a:schemeClr val="bg1"/>
            </a:solidFill>
            <a:ln w="9525">
              <a:solidFill>
                <a:schemeClr val="tx1"/>
              </a:solidFill>
              <a:miter lim="800000"/>
              <a:headEnd/>
              <a:tailEnd/>
            </a:ln>
          </p:spPr>
          <p:txBody>
            <a:bodyPr wrap="none" anchor="ctr"/>
            <a:lstStyle/>
            <a:p>
              <a:pPr algn="ctr" eaLnBrk="0" hangingPunct="0"/>
              <a:r>
                <a:rPr lang="en-US" altLang="zh-CN" sz="2000" b="1">
                  <a:solidFill>
                    <a:srgbClr val="000099"/>
                  </a:solidFill>
                  <a:ea typeface="黑体" panose="02010609060101010101" pitchFamily="49" charset="-122"/>
                </a:rPr>
                <a:t>WG</a:t>
              </a:r>
            </a:p>
          </p:txBody>
        </p:sp>
        <p:sp>
          <p:nvSpPr>
            <p:cNvPr id="43042" name="Rectangle 34"/>
            <p:cNvSpPr>
              <a:spLocks noChangeArrowheads="1"/>
            </p:cNvSpPr>
            <p:nvPr/>
          </p:nvSpPr>
          <p:spPr bwMode="auto">
            <a:xfrm>
              <a:off x="7021910" y="5373688"/>
              <a:ext cx="583009" cy="412750"/>
            </a:xfrm>
            <a:prstGeom prst="rect">
              <a:avLst/>
            </a:prstGeom>
            <a:solidFill>
              <a:schemeClr val="bg1"/>
            </a:solidFill>
            <a:ln w="9525">
              <a:solidFill>
                <a:schemeClr val="tx1"/>
              </a:solidFill>
              <a:miter lim="800000"/>
              <a:headEnd/>
              <a:tailEnd/>
            </a:ln>
          </p:spPr>
          <p:txBody>
            <a:bodyPr wrap="none" anchor="ctr"/>
            <a:lstStyle/>
            <a:p>
              <a:pPr algn="ctr" eaLnBrk="0" hangingPunct="0"/>
              <a:r>
                <a:rPr lang="en-US" altLang="zh-CN" sz="2000" b="1">
                  <a:solidFill>
                    <a:srgbClr val="000099"/>
                  </a:solidFill>
                  <a:ea typeface="黑体" panose="02010609060101010101" pitchFamily="49" charset="-122"/>
                </a:rPr>
                <a:t>WG</a:t>
              </a:r>
            </a:p>
          </p:txBody>
        </p:sp>
        <p:sp>
          <p:nvSpPr>
            <p:cNvPr id="43043" name="Rectangle 35"/>
            <p:cNvSpPr>
              <a:spLocks noChangeArrowheads="1"/>
            </p:cNvSpPr>
            <p:nvPr/>
          </p:nvSpPr>
          <p:spPr bwMode="auto">
            <a:xfrm>
              <a:off x="5967678" y="5373688"/>
              <a:ext cx="583010" cy="412750"/>
            </a:xfrm>
            <a:prstGeom prst="rect">
              <a:avLst/>
            </a:prstGeom>
            <a:solidFill>
              <a:schemeClr val="bg1"/>
            </a:solidFill>
            <a:ln w="9525">
              <a:solidFill>
                <a:schemeClr val="tx1"/>
              </a:solidFill>
              <a:miter lim="800000"/>
              <a:headEnd/>
              <a:tailEnd/>
            </a:ln>
          </p:spPr>
          <p:txBody>
            <a:bodyPr wrap="none" anchor="ctr"/>
            <a:lstStyle/>
            <a:p>
              <a:pPr algn="ctr" eaLnBrk="0" hangingPunct="0"/>
              <a:r>
                <a:rPr lang="en-US" altLang="zh-CN" sz="2000" b="1">
                  <a:solidFill>
                    <a:srgbClr val="000099"/>
                  </a:solidFill>
                  <a:ea typeface="黑体" panose="02010609060101010101" pitchFamily="49" charset="-122"/>
                </a:rPr>
                <a:t>WG</a:t>
              </a:r>
            </a:p>
          </p:txBody>
        </p:sp>
      </p:grpSp>
      <p:sp>
        <p:nvSpPr>
          <p:cNvPr id="43044" name="矩形 1"/>
          <p:cNvSpPr>
            <a:spLocks noChangeArrowheads="1"/>
          </p:cNvSpPr>
          <p:nvPr/>
        </p:nvSpPr>
        <p:spPr bwMode="auto">
          <a:xfrm>
            <a:off x="584200" y="1184275"/>
            <a:ext cx="8832850" cy="113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10000"/>
              </a:lnSpc>
            </a:pPr>
            <a:r>
              <a:rPr lang="zh-CN" altLang="zh-CN" sz="3200" b="1">
                <a:ea typeface="黑体" panose="02010609060101010101" pitchFamily="49" charset="-122"/>
              </a:rPr>
              <a:t>互联网的标准化工作对互联网的发展起到了非常重要的作用</a:t>
            </a:r>
            <a:r>
              <a:rPr lang="zh-CN" altLang="en-US" sz="3200" b="1">
                <a:ea typeface="黑体" panose="02010609060101010101" pitchFamily="49" charset="-122"/>
              </a:rPr>
              <a:t>。</a:t>
            </a:r>
          </a:p>
        </p:txBody>
      </p:sp>
    </p:spTree>
    <p:extLst>
      <p:ext uri="{BB962C8B-B14F-4D97-AF65-F5344CB8AC3E}">
        <p14:creationId xmlns:p14="http://schemas.microsoft.com/office/powerpoint/2010/main" val="232075974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a:spLocks noGrp="1" noChangeArrowheads="1"/>
          </p:cNvSpPr>
          <p:nvPr>
            <p:ph type="title"/>
          </p:nvPr>
        </p:nvSpPr>
        <p:spPr>
          <a:xfrm>
            <a:off x="495300" y="188913"/>
            <a:ext cx="9066213" cy="792162"/>
          </a:xfrm>
        </p:spPr>
        <p:txBody>
          <a:bodyPr/>
          <a:lstStyle/>
          <a:p>
            <a:pPr algn="ctr"/>
            <a:r>
              <a:rPr lang="zh-CN" altLang="en-US" sz="3600" smtClean="0">
                <a:ea typeface="黑体" panose="02010609060101010101" pitchFamily="49" charset="-122"/>
              </a:rPr>
              <a:t>成为</a:t>
            </a:r>
            <a:r>
              <a:rPr lang="zh-CN" altLang="zh-CN" sz="3600" smtClean="0">
                <a:ea typeface="黑体" panose="02010609060101010101" pitchFamily="49" charset="-122"/>
              </a:rPr>
              <a:t>互联网正式标准要经过三个阶段</a:t>
            </a:r>
            <a:endParaRPr lang="zh-CN" altLang="en-US" sz="3600" smtClean="0">
              <a:ea typeface="黑体" panose="02010609060101010101" pitchFamily="49" charset="-122"/>
            </a:endParaRPr>
          </a:p>
        </p:txBody>
      </p:sp>
      <p:sp>
        <p:nvSpPr>
          <p:cNvPr id="45058" name="Rectangle 3"/>
          <p:cNvSpPr>
            <a:spLocks noGrp="1" noChangeArrowheads="1"/>
          </p:cNvSpPr>
          <p:nvPr>
            <p:ph idx="1"/>
          </p:nvPr>
        </p:nvSpPr>
        <p:spPr>
          <a:xfrm>
            <a:off x="420688" y="2262188"/>
            <a:ext cx="9066212" cy="4141787"/>
          </a:xfrm>
        </p:spPr>
        <p:txBody>
          <a:bodyPr/>
          <a:lstStyle/>
          <a:p>
            <a:r>
              <a:rPr lang="zh-CN" altLang="en-US" dirty="0" smtClean="0">
                <a:solidFill>
                  <a:srgbClr val="0000CC"/>
                </a:solidFill>
                <a:ea typeface="黑体" panose="02010609060101010101" pitchFamily="49" charset="-122"/>
              </a:rPr>
              <a:t>互联网草案 </a:t>
            </a:r>
            <a:r>
              <a:rPr lang="en-US" altLang="zh-CN" dirty="0" smtClean="0">
                <a:ea typeface="黑体" panose="02010609060101010101" pitchFamily="49" charset="-122"/>
              </a:rPr>
              <a:t>(Internet Draft) ——</a:t>
            </a:r>
            <a:r>
              <a:rPr lang="zh-CN" altLang="zh-CN" dirty="0" smtClean="0">
                <a:ea typeface="黑体" panose="02010609060101010101" pitchFamily="49" charset="-122"/>
              </a:rPr>
              <a:t>有效期只有六个月</a:t>
            </a:r>
            <a:r>
              <a:rPr lang="zh-CN" altLang="en-US" dirty="0" smtClean="0">
                <a:ea typeface="黑体" panose="02010609060101010101" pitchFamily="49" charset="-122"/>
              </a:rPr>
              <a:t>。在这个阶段还</a:t>
            </a:r>
            <a:r>
              <a:rPr lang="zh-CN" altLang="en-US" dirty="0" smtClean="0">
                <a:solidFill>
                  <a:srgbClr val="FF0000"/>
                </a:solidFill>
                <a:ea typeface="黑体" panose="02010609060101010101" pitchFamily="49" charset="-122"/>
              </a:rPr>
              <a:t>不是</a:t>
            </a:r>
            <a:r>
              <a:rPr lang="zh-CN" altLang="en-US" dirty="0" smtClean="0">
                <a:ea typeface="黑体" panose="02010609060101010101" pitchFamily="49" charset="-122"/>
              </a:rPr>
              <a:t> </a:t>
            </a:r>
            <a:r>
              <a:rPr lang="en-US" altLang="zh-CN" dirty="0" smtClean="0">
                <a:ea typeface="黑体" panose="02010609060101010101" pitchFamily="49" charset="-122"/>
              </a:rPr>
              <a:t>RFC </a:t>
            </a:r>
            <a:r>
              <a:rPr lang="zh-CN" altLang="en-US" dirty="0" smtClean="0">
                <a:ea typeface="黑体" panose="02010609060101010101" pitchFamily="49" charset="-122"/>
              </a:rPr>
              <a:t>文档。</a:t>
            </a:r>
          </a:p>
          <a:p>
            <a:r>
              <a:rPr lang="zh-CN" altLang="en-US" dirty="0" smtClean="0">
                <a:solidFill>
                  <a:srgbClr val="0000CC"/>
                </a:solidFill>
                <a:ea typeface="黑体" panose="02010609060101010101" pitchFamily="49" charset="-122"/>
              </a:rPr>
              <a:t>建议标准 </a:t>
            </a:r>
            <a:r>
              <a:rPr lang="en-US" altLang="zh-CN" dirty="0" smtClean="0">
                <a:ea typeface="黑体" panose="02010609060101010101" pitchFamily="49" charset="-122"/>
              </a:rPr>
              <a:t>(Proposed Standard) ——</a:t>
            </a:r>
            <a:r>
              <a:rPr lang="zh-CN" altLang="en-US" dirty="0" smtClean="0">
                <a:ea typeface="黑体" panose="02010609060101010101" pitchFamily="49" charset="-122"/>
              </a:rPr>
              <a:t>从这个阶段开始就成为 </a:t>
            </a:r>
            <a:r>
              <a:rPr lang="en-US" altLang="zh-CN" dirty="0" smtClean="0">
                <a:ea typeface="黑体" panose="02010609060101010101" pitchFamily="49" charset="-122"/>
              </a:rPr>
              <a:t>RFC </a:t>
            </a:r>
            <a:r>
              <a:rPr lang="zh-CN" altLang="en-US" dirty="0" smtClean="0">
                <a:ea typeface="黑体" panose="02010609060101010101" pitchFamily="49" charset="-122"/>
              </a:rPr>
              <a:t>文档。</a:t>
            </a:r>
          </a:p>
          <a:p>
            <a:r>
              <a:rPr lang="zh-CN" altLang="en-US" dirty="0" smtClean="0">
                <a:solidFill>
                  <a:srgbClr val="0000CC"/>
                </a:solidFill>
                <a:ea typeface="黑体" panose="02010609060101010101" pitchFamily="49" charset="-122"/>
              </a:rPr>
              <a:t>互联网标准 </a:t>
            </a:r>
            <a:r>
              <a:rPr lang="en-US" altLang="zh-CN" dirty="0" smtClean="0">
                <a:ea typeface="黑体" panose="02010609060101010101" pitchFamily="49" charset="-122"/>
              </a:rPr>
              <a:t>(Internet Standard) ——</a:t>
            </a:r>
            <a:r>
              <a:rPr lang="zh-CN" altLang="zh-CN" dirty="0" smtClean="0">
                <a:ea typeface="黑体" panose="02010609060101010101" pitchFamily="49" charset="-122"/>
              </a:rPr>
              <a:t>达到正式标准后，每个标准就分配到一个编号</a:t>
            </a:r>
            <a:r>
              <a:rPr lang="en-US" altLang="zh-CN" dirty="0" smtClean="0">
                <a:ea typeface="黑体" panose="02010609060101010101" pitchFamily="49" charset="-122"/>
              </a:rPr>
              <a:t> STD xx</a:t>
            </a:r>
            <a:r>
              <a:rPr lang="zh-CN" altLang="zh-CN" dirty="0" smtClean="0">
                <a:ea typeface="黑体" panose="02010609060101010101" pitchFamily="49" charset="-122"/>
              </a:rPr>
              <a:t>。</a:t>
            </a:r>
            <a:r>
              <a:rPr lang="en-US" altLang="zh-CN" dirty="0" smtClean="0">
                <a:ea typeface="黑体" panose="02010609060101010101" pitchFamily="49" charset="-122"/>
              </a:rPr>
              <a:t> </a:t>
            </a:r>
            <a:r>
              <a:rPr lang="zh-CN" altLang="zh-CN" dirty="0" smtClean="0">
                <a:ea typeface="黑体" panose="02010609060101010101" pitchFamily="49" charset="-122"/>
              </a:rPr>
              <a:t>一个标准可以和多个</a:t>
            </a:r>
            <a:r>
              <a:rPr lang="en-US" altLang="zh-CN" dirty="0" smtClean="0">
                <a:ea typeface="黑体" panose="02010609060101010101" pitchFamily="49" charset="-122"/>
              </a:rPr>
              <a:t> RFC </a:t>
            </a:r>
            <a:r>
              <a:rPr lang="zh-CN" altLang="zh-CN" dirty="0" smtClean="0">
                <a:ea typeface="黑体" panose="02010609060101010101" pitchFamily="49" charset="-122"/>
              </a:rPr>
              <a:t>文档关联。</a:t>
            </a:r>
            <a:endParaRPr lang="en-US" altLang="zh-CN" dirty="0" smtClean="0">
              <a:ea typeface="黑体" panose="02010609060101010101" pitchFamily="49" charset="-122"/>
            </a:endParaRPr>
          </a:p>
        </p:txBody>
      </p:sp>
      <p:sp>
        <p:nvSpPr>
          <p:cNvPr id="45059" name="矩形 1"/>
          <p:cNvSpPr>
            <a:spLocks noChangeArrowheads="1"/>
          </p:cNvSpPr>
          <p:nvPr/>
        </p:nvSpPr>
        <p:spPr bwMode="auto">
          <a:xfrm>
            <a:off x="344488" y="1260475"/>
            <a:ext cx="9490075" cy="936625"/>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3200" b="1">
                <a:ea typeface="黑体" panose="02010609060101010101" pitchFamily="49" charset="-122"/>
              </a:rPr>
              <a:t>所有互联网标准都以</a:t>
            </a:r>
            <a:r>
              <a:rPr lang="en-US" altLang="zh-CN" sz="3200" b="1">
                <a:ea typeface="黑体" panose="02010609060101010101" pitchFamily="49" charset="-122"/>
              </a:rPr>
              <a:t> RFC </a:t>
            </a:r>
            <a:r>
              <a:rPr lang="zh-CN" altLang="zh-CN" sz="3200" b="1">
                <a:ea typeface="黑体" panose="02010609060101010101" pitchFamily="49" charset="-122"/>
              </a:rPr>
              <a:t>的形式在互联网上发表</a:t>
            </a:r>
            <a:r>
              <a:rPr lang="zh-CN" altLang="en-US" sz="3200" b="1">
                <a:ea typeface="黑体" panose="02010609060101010101" pitchFamily="49" charset="-122"/>
              </a:rPr>
              <a:t>。</a:t>
            </a:r>
          </a:p>
          <a:p>
            <a:pPr eaLnBrk="0" hangingPunct="0"/>
            <a:r>
              <a:rPr lang="zh-CN" altLang="en-US" sz="2300" b="1">
                <a:ea typeface="黑体" panose="02010609060101010101" pitchFamily="49" charset="-122"/>
              </a:rPr>
              <a:t>RFC（Request For Comments），是一系列以编号排定的文件。</a:t>
            </a:r>
          </a:p>
        </p:txBody>
      </p:sp>
    </p:spTree>
    <p:extLst>
      <p:ext uri="{BB962C8B-B14F-4D97-AF65-F5344CB8AC3E}">
        <p14:creationId xmlns:p14="http://schemas.microsoft.com/office/powerpoint/2010/main" val="166737791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1.3  </a:t>
            </a:r>
            <a:r>
              <a:rPr lang="zh-CN" altLang="zh-CN" smtClean="0">
                <a:ea typeface="黑体" panose="02010609060101010101" pitchFamily="49" charset="-122"/>
              </a:rPr>
              <a:t>互联网</a:t>
            </a:r>
            <a:r>
              <a:rPr lang="zh-CN" altLang="en-US" smtClean="0">
                <a:ea typeface="黑体" panose="02010609060101010101" pitchFamily="49" charset="-122"/>
              </a:rPr>
              <a:t>的组成</a:t>
            </a:r>
          </a:p>
        </p:txBody>
      </p:sp>
      <p:sp>
        <p:nvSpPr>
          <p:cNvPr id="24578" name="内容占位符 2"/>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1.3.1  </a:t>
            </a:r>
            <a:r>
              <a:rPr lang="zh-CN" altLang="zh-CN" smtClean="0">
                <a:ea typeface="黑体" panose="02010609060101010101" pitchFamily="49" charset="-122"/>
              </a:rPr>
              <a:t>互联网的边缘部分</a:t>
            </a:r>
          </a:p>
          <a:p>
            <a:r>
              <a:rPr lang="en-US" altLang="zh-CN" smtClean="0">
                <a:ea typeface="黑体" panose="02010609060101010101" pitchFamily="49" charset="-122"/>
              </a:rPr>
              <a:t>1.3.2  </a:t>
            </a:r>
            <a:r>
              <a:rPr lang="zh-CN" altLang="zh-CN" smtClean="0">
                <a:ea typeface="黑体" panose="02010609060101010101" pitchFamily="49" charset="-122"/>
              </a:rPr>
              <a:t>互联网的核心部分</a:t>
            </a:r>
          </a:p>
          <a:p>
            <a:endParaRPr lang="zh-CN" altLang="en-US" smtClean="0">
              <a:ea typeface="黑体" panose="02010609060101010101" pitchFamily="49" charset="-122"/>
            </a:endParaRPr>
          </a:p>
        </p:txBody>
      </p:sp>
      <p:sp>
        <p:nvSpPr>
          <p:cNvPr id="24579"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1C56E16-2CC6-4896-B90B-909E3ED08B55}" type="slidenum">
              <a:rPr lang="zh-CN" altLang="en-US" smtClean="0"/>
              <a:pPr eaLnBrk="1" hangingPunct="1"/>
              <a:t>22</a:t>
            </a:fld>
            <a:endParaRPr lang="en-US" altLang="zh-CN" smtClean="0"/>
          </a:p>
        </p:txBody>
      </p:sp>
      <p:sp>
        <p:nvSpPr>
          <p:cNvPr id="24580"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1.3  </a:t>
            </a:r>
            <a:r>
              <a:rPr lang="zh-CN" altLang="zh-CN" smtClean="0">
                <a:ea typeface="黑体" panose="02010609060101010101" pitchFamily="49" charset="-122"/>
              </a:rPr>
              <a:t>互联网</a:t>
            </a:r>
            <a:r>
              <a:rPr lang="zh-CN" altLang="en-US" smtClean="0">
                <a:ea typeface="黑体" panose="02010609060101010101" pitchFamily="49" charset="-122"/>
              </a:rPr>
              <a:t>的组成</a:t>
            </a:r>
          </a:p>
        </p:txBody>
      </p:sp>
      <p:sp>
        <p:nvSpPr>
          <p:cNvPr id="25602" name="Rectangle 3"/>
          <p:cNvSpPr>
            <a:spLocks noGrp="1" noChangeArrowheads="1"/>
          </p:cNvSpPr>
          <p:nvPr>
            <p:ph idx="1"/>
          </p:nvPr>
        </p:nvSpPr>
        <p:spPr>
          <a:xfrm>
            <a:off x="495300" y="1196975"/>
            <a:ext cx="9066213" cy="4933950"/>
          </a:xfrm>
        </p:spPr>
        <p:txBody>
          <a:bodyPr/>
          <a:lstStyle/>
          <a:p>
            <a:pPr>
              <a:buFont typeface="Wingdings" panose="05000000000000000000" pitchFamily="2" charset="2"/>
              <a:buNone/>
            </a:pPr>
            <a:r>
              <a:rPr lang="zh-CN" altLang="en-US" smtClean="0">
                <a:ea typeface="黑体" panose="02010609060101010101" pitchFamily="49" charset="-122"/>
              </a:rPr>
              <a:t>从互联网的工作方式上看，可以划分为两大块：</a:t>
            </a:r>
          </a:p>
          <a:p>
            <a:pPr>
              <a:buFont typeface="Wingdings" panose="05000000000000000000" pitchFamily="2" charset="2"/>
              <a:buNone/>
            </a:pPr>
            <a:r>
              <a:rPr lang="en-US" altLang="zh-CN" smtClean="0">
                <a:ea typeface="黑体" panose="02010609060101010101" pitchFamily="49" charset="-122"/>
              </a:rPr>
              <a:t>(1) </a:t>
            </a:r>
            <a:r>
              <a:rPr lang="zh-CN" altLang="en-US" smtClean="0">
                <a:solidFill>
                  <a:srgbClr val="FF0000"/>
                </a:solidFill>
                <a:ea typeface="黑体" panose="02010609060101010101" pitchFamily="49" charset="-122"/>
              </a:rPr>
              <a:t>边缘部分：</a:t>
            </a:r>
            <a:r>
              <a:rPr lang="zh-CN" altLang="en-US" smtClean="0">
                <a:ea typeface="黑体" panose="02010609060101010101" pitchFamily="49" charset="-122"/>
              </a:rPr>
              <a:t> 由所有连接在互联网上的主机组成。这部分是用户直接使用的，用来进行通信（传送数据、音频或视频）和资源共享。</a:t>
            </a:r>
          </a:p>
          <a:p>
            <a:pPr>
              <a:buFont typeface="Wingdings" panose="05000000000000000000" pitchFamily="2" charset="2"/>
              <a:buNone/>
            </a:pPr>
            <a:r>
              <a:rPr lang="en-US" altLang="zh-CN" smtClean="0">
                <a:ea typeface="黑体" panose="02010609060101010101" pitchFamily="49" charset="-122"/>
              </a:rPr>
              <a:t>(2) </a:t>
            </a:r>
            <a:r>
              <a:rPr lang="zh-CN" altLang="en-US" smtClean="0">
                <a:solidFill>
                  <a:srgbClr val="FF0000"/>
                </a:solidFill>
                <a:ea typeface="黑体" panose="02010609060101010101" pitchFamily="49" charset="-122"/>
              </a:rPr>
              <a:t>核心部分：</a:t>
            </a:r>
            <a:r>
              <a:rPr lang="zh-CN" altLang="en-US" smtClean="0">
                <a:ea typeface="黑体" panose="02010609060101010101" pitchFamily="49" charset="-122"/>
              </a:rPr>
              <a:t>由大量网络和连接这些网络的路由器组成。这部分是为边缘部分提供服务的（提供连通性和交换）。</a:t>
            </a:r>
          </a:p>
        </p:txBody>
      </p:sp>
      <p:sp>
        <p:nvSpPr>
          <p:cNvPr id="2560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EE5EC8B-8037-4BA4-B0C7-7EB650CA284A}" type="slidenum">
              <a:rPr lang="zh-CN" altLang="en-US" smtClean="0"/>
              <a:pPr eaLnBrk="1" hangingPunct="1"/>
              <a:t>23</a:t>
            </a:fld>
            <a:endParaRPr lang="en-US" altLang="zh-CN" smtClean="0"/>
          </a:p>
        </p:txBody>
      </p:sp>
      <p:sp>
        <p:nvSpPr>
          <p:cNvPr id="2560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649" name="组合 3"/>
          <p:cNvGrpSpPr>
            <a:grpSpLocks/>
          </p:cNvGrpSpPr>
          <p:nvPr/>
        </p:nvGrpSpPr>
        <p:grpSpPr bwMode="auto">
          <a:xfrm>
            <a:off x="631825" y="1268413"/>
            <a:ext cx="8929688" cy="4537075"/>
            <a:chOff x="560511" y="1484784"/>
            <a:chExt cx="8928993" cy="4536504"/>
          </a:xfrm>
        </p:grpSpPr>
        <p:sp>
          <p:nvSpPr>
            <p:cNvPr id="27650" name="Oval 4"/>
            <p:cNvSpPr>
              <a:spLocks noChangeArrowheads="1"/>
            </p:cNvSpPr>
            <p:nvPr/>
          </p:nvSpPr>
          <p:spPr bwMode="auto">
            <a:xfrm>
              <a:off x="560511" y="1484784"/>
              <a:ext cx="8928993" cy="4536504"/>
            </a:xfrm>
            <a:prstGeom prst="ellipse">
              <a:avLst/>
            </a:prstGeom>
            <a:solidFill>
              <a:srgbClr val="99CCFF"/>
            </a:solidFill>
            <a:ln w="9525">
              <a:solidFill>
                <a:schemeClr val="tx1"/>
              </a:solidFill>
              <a:prstDash val="dash"/>
              <a:round/>
              <a:headEnd/>
              <a:tailEnd/>
            </a:ln>
          </p:spPr>
          <p:txBody>
            <a:bodyPr wrap="none" anchor="ctr"/>
            <a:lstStyle/>
            <a:p>
              <a:pPr eaLnBrk="0" hangingPunct="0"/>
              <a:endParaRPr lang="zh-CN" altLang="en-US">
                <a:ea typeface="宋体" panose="02010600030101010101" pitchFamily="2" charset="-122"/>
              </a:endParaRPr>
            </a:p>
          </p:txBody>
        </p:sp>
        <p:sp>
          <p:nvSpPr>
            <p:cNvPr id="27651" name="Oval 5"/>
            <p:cNvSpPr>
              <a:spLocks noChangeArrowheads="1"/>
            </p:cNvSpPr>
            <p:nvPr/>
          </p:nvSpPr>
          <p:spPr bwMode="auto">
            <a:xfrm>
              <a:off x="2000672" y="2569395"/>
              <a:ext cx="6264696" cy="2416968"/>
            </a:xfrm>
            <a:prstGeom prst="ellipse">
              <a:avLst/>
            </a:prstGeom>
            <a:solidFill>
              <a:schemeClr val="bg1"/>
            </a:solidFill>
            <a:ln w="9525">
              <a:solidFill>
                <a:schemeClr val="tx1"/>
              </a:solidFill>
              <a:prstDash val="dash"/>
              <a:round/>
              <a:headEnd/>
              <a:tailEnd/>
            </a:ln>
          </p:spPr>
          <p:txBody>
            <a:bodyPr wrap="none" anchor="ctr"/>
            <a:lstStyle/>
            <a:p>
              <a:pPr eaLnBrk="0" hangingPunct="0"/>
              <a:endParaRPr lang="zh-CN" altLang="en-US">
                <a:ea typeface="宋体" panose="02010600030101010101" pitchFamily="2" charset="-122"/>
              </a:endParaRPr>
            </a:p>
          </p:txBody>
        </p:sp>
        <p:pic>
          <p:nvPicPr>
            <p:cNvPr id="27652"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58649" y="2517801"/>
              <a:ext cx="507338"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3" name="Picture 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99078" y="3203600"/>
              <a:ext cx="536575"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7654" name="Group 8"/>
            <p:cNvGrpSpPr>
              <a:grpSpLocks/>
            </p:cNvGrpSpPr>
            <p:nvPr/>
          </p:nvGrpSpPr>
          <p:grpSpPr bwMode="auto">
            <a:xfrm rot="-448665">
              <a:off x="2355844" y="3421516"/>
              <a:ext cx="1056180" cy="583958"/>
              <a:chOff x="2949" y="196"/>
              <a:chExt cx="941" cy="598"/>
            </a:xfrm>
          </p:grpSpPr>
          <p:sp>
            <p:nvSpPr>
              <p:cNvPr id="27655" name="Oval 9"/>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56" name="Oval 10"/>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57" name="Oval 11"/>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58" name="Oval 12"/>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59" name="Oval 13"/>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60" name="Oval 14"/>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61" name="Oval 15"/>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62" name="Oval 16"/>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63" name="Freeform 17"/>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sp>
            <p:nvSpPr>
              <p:cNvPr id="27664" name="Freeform 18"/>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sp>
            <p:nvSpPr>
              <p:cNvPr id="27665" name="Freeform 19"/>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grpSp>
        <p:grpSp>
          <p:nvGrpSpPr>
            <p:cNvPr id="27666" name="Group 20"/>
            <p:cNvGrpSpPr>
              <a:grpSpLocks/>
            </p:cNvGrpSpPr>
            <p:nvPr/>
          </p:nvGrpSpPr>
          <p:grpSpPr bwMode="auto">
            <a:xfrm rot="-448665">
              <a:off x="7012926" y="3365998"/>
              <a:ext cx="1083171" cy="654849"/>
              <a:chOff x="2949" y="196"/>
              <a:chExt cx="941" cy="598"/>
            </a:xfrm>
          </p:grpSpPr>
          <p:sp>
            <p:nvSpPr>
              <p:cNvPr id="27667" name="Oval 21"/>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68" name="Oval 22"/>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69" name="Oval 23"/>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70" name="Oval 24"/>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71" name="Oval 25"/>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72" name="Oval 26"/>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73" name="Oval 27"/>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74" name="Oval 28"/>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75" name="Freeform 29"/>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sp>
            <p:nvSpPr>
              <p:cNvPr id="27676" name="Freeform 30"/>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sp>
            <p:nvSpPr>
              <p:cNvPr id="27677" name="Freeform 31"/>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grpSp>
        <p:grpSp>
          <p:nvGrpSpPr>
            <p:cNvPr id="27678" name="Group 32"/>
            <p:cNvGrpSpPr>
              <a:grpSpLocks/>
            </p:cNvGrpSpPr>
            <p:nvPr/>
          </p:nvGrpSpPr>
          <p:grpSpPr bwMode="auto">
            <a:xfrm rot="-448665">
              <a:off x="3879465" y="4175623"/>
              <a:ext cx="1083171" cy="654849"/>
              <a:chOff x="2949" y="196"/>
              <a:chExt cx="941" cy="598"/>
            </a:xfrm>
          </p:grpSpPr>
          <p:sp>
            <p:nvSpPr>
              <p:cNvPr id="27679" name="Oval 33"/>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80" name="Oval 34"/>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81" name="Oval 35"/>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82" name="Oval 36"/>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83" name="Oval 37"/>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84" name="Oval 38"/>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85" name="Oval 39"/>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86" name="Oval 40"/>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87" name="Freeform 41"/>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sp>
            <p:nvSpPr>
              <p:cNvPr id="27688" name="Freeform 42"/>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sp>
            <p:nvSpPr>
              <p:cNvPr id="27689" name="Freeform 43"/>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grpSp>
        <p:grpSp>
          <p:nvGrpSpPr>
            <p:cNvPr id="27690" name="Group 44"/>
            <p:cNvGrpSpPr>
              <a:grpSpLocks/>
            </p:cNvGrpSpPr>
            <p:nvPr/>
          </p:nvGrpSpPr>
          <p:grpSpPr bwMode="auto">
            <a:xfrm rot="-448665">
              <a:off x="5881305" y="4175666"/>
              <a:ext cx="1080797" cy="654849"/>
              <a:chOff x="2949" y="196"/>
              <a:chExt cx="941" cy="598"/>
            </a:xfrm>
          </p:grpSpPr>
          <p:sp>
            <p:nvSpPr>
              <p:cNvPr id="27691" name="Oval 45"/>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92" name="Oval 46"/>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93" name="Oval 47"/>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94" name="Oval 48"/>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95" name="Oval 49"/>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96" name="Oval 50"/>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97" name="Oval 51"/>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98" name="Oval 52"/>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99" name="Freeform 53"/>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sp>
            <p:nvSpPr>
              <p:cNvPr id="27700" name="Freeform 54"/>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sp>
            <p:nvSpPr>
              <p:cNvPr id="27701" name="Freeform 55"/>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grpSp>
        <p:grpSp>
          <p:nvGrpSpPr>
            <p:cNvPr id="27702" name="Group 56"/>
            <p:cNvGrpSpPr>
              <a:grpSpLocks/>
            </p:cNvGrpSpPr>
            <p:nvPr/>
          </p:nvGrpSpPr>
          <p:grpSpPr bwMode="auto">
            <a:xfrm rot="-448665">
              <a:off x="4749647" y="2881856"/>
              <a:ext cx="1080797" cy="652715"/>
              <a:chOff x="2949" y="196"/>
              <a:chExt cx="941" cy="598"/>
            </a:xfrm>
          </p:grpSpPr>
          <p:sp>
            <p:nvSpPr>
              <p:cNvPr id="27703" name="Oval 57"/>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704" name="Oval 58"/>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705" name="Oval 59"/>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706" name="Oval 60"/>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707" name="Oval 61"/>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708" name="Oval 62"/>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709" name="Oval 63"/>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710" name="Oval 64"/>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711" name="Freeform 65"/>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sp>
            <p:nvSpPr>
              <p:cNvPr id="27712" name="Freeform 66"/>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sp>
            <p:nvSpPr>
              <p:cNvPr id="27713" name="Freeform 67"/>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grpSp>
        <p:pic>
          <p:nvPicPr>
            <p:cNvPr id="27714" name="Picture 6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50212" y="4035450"/>
              <a:ext cx="534856"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15" name="Picture 6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53770" y="4357713"/>
              <a:ext cx="534855"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16" name="Picture 7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3947" y="4010050"/>
              <a:ext cx="534855"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17" name="Picture 7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11694" y="3040088"/>
              <a:ext cx="534856"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18" name="Picture 7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16764" y="4600601"/>
              <a:ext cx="505619"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19" name="Picture 7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58957" y="3487762"/>
              <a:ext cx="507338"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20" name="Picture 7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30522" y="2336826"/>
              <a:ext cx="507338"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21" name="Picture 7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86491" y="5107012"/>
              <a:ext cx="505619"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22" name="Picture 7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06047" y="4519638"/>
              <a:ext cx="507338"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23" name="Picture 7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03912" y="3327426"/>
              <a:ext cx="505619"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724" name="Text Box 78"/>
            <p:cNvSpPr txBox="1">
              <a:spLocks noChangeArrowheads="1"/>
            </p:cNvSpPr>
            <p:nvPr/>
          </p:nvSpPr>
          <p:spPr bwMode="auto">
            <a:xfrm>
              <a:off x="3818290" y="3615407"/>
              <a:ext cx="2646878" cy="461665"/>
            </a:xfrm>
            <a:prstGeom prst="rect">
              <a:avLst/>
            </a:prstGeom>
            <a:solidFill>
              <a:srgbClr val="FFFF00"/>
            </a:solidFill>
            <a:ln w="9525">
              <a:solidFill>
                <a:schemeClr val="tx1"/>
              </a:solidFill>
              <a:miter lim="800000"/>
              <a:headEnd/>
              <a:tailEnd/>
            </a:ln>
          </p:spPr>
          <p:txBody>
            <a:bodyPr wrap="none">
              <a:spAutoFit/>
            </a:bodyPr>
            <a:lstStyle/>
            <a:p>
              <a:pPr eaLnBrk="0" hangingPunct="0"/>
              <a:r>
                <a:rPr lang="zh-CN" altLang="en-US" sz="2400">
                  <a:solidFill>
                    <a:srgbClr val="333399"/>
                  </a:solidFill>
                  <a:ea typeface="黑体" panose="02010609060101010101" pitchFamily="49" charset="-122"/>
                </a:rPr>
                <a:t>互联网的核心部分</a:t>
              </a:r>
            </a:p>
          </p:txBody>
        </p:sp>
        <p:sp>
          <p:nvSpPr>
            <p:cNvPr id="27725" name="Text Box 79"/>
            <p:cNvSpPr txBox="1">
              <a:spLocks noChangeArrowheads="1"/>
            </p:cNvSpPr>
            <p:nvPr/>
          </p:nvSpPr>
          <p:spPr bwMode="auto">
            <a:xfrm>
              <a:off x="3818290" y="1844824"/>
              <a:ext cx="2646878" cy="461665"/>
            </a:xfrm>
            <a:prstGeom prst="rect">
              <a:avLst/>
            </a:prstGeom>
            <a:solidFill>
              <a:srgbClr val="FFFF00"/>
            </a:solidFill>
            <a:ln w="9525">
              <a:solidFill>
                <a:schemeClr val="tx1"/>
              </a:solidFill>
              <a:miter lim="800000"/>
              <a:headEnd/>
              <a:tailEnd/>
            </a:ln>
          </p:spPr>
          <p:txBody>
            <a:bodyPr wrap="none">
              <a:spAutoFit/>
            </a:bodyPr>
            <a:lstStyle/>
            <a:p>
              <a:pPr eaLnBrk="0" hangingPunct="0"/>
              <a:r>
                <a:rPr lang="zh-CN" altLang="en-US" sz="2400">
                  <a:solidFill>
                    <a:srgbClr val="333399"/>
                  </a:solidFill>
                  <a:ea typeface="黑体" panose="02010609060101010101" pitchFamily="49" charset="-122"/>
                </a:rPr>
                <a:t>互联网的边缘部分</a:t>
              </a:r>
            </a:p>
          </p:txBody>
        </p:sp>
        <p:sp>
          <p:nvSpPr>
            <p:cNvPr id="27726" name="Text Box 80"/>
            <p:cNvSpPr txBox="1">
              <a:spLocks noChangeArrowheads="1"/>
            </p:cNvSpPr>
            <p:nvPr/>
          </p:nvSpPr>
          <p:spPr bwMode="auto">
            <a:xfrm>
              <a:off x="1712640" y="2132856"/>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a:solidFill>
                    <a:srgbClr val="333399"/>
                  </a:solidFill>
                  <a:ea typeface="黑体" panose="02010609060101010101" pitchFamily="49" charset="-122"/>
                </a:rPr>
                <a:t>主机</a:t>
              </a:r>
            </a:p>
          </p:txBody>
        </p:sp>
        <p:sp>
          <p:nvSpPr>
            <p:cNvPr id="27727" name="Text Box 81"/>
            <p:cNvSpPr txBox="1">
              <a:spLocks noChangeArrowheads="1"/>
            </p:cNvSpPr>
            <p:nvPr/>
          </p:nvSpPr>
          <p:spPr bwMode="auto">
            <a:xfrm>
              <a:off x="2496597" y="3039343"/>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a:solidFill>
                    <a:srgbClr val="333399"/>
                  </a:solidFill>
                  <a:ea typeface="黑体" panose="02010609060101010101" pitchFamily="49" charset="-122"/>
                </a:rPr>
                <a:t>网络</a:t>
              </a:r>
            </a:p>
          </p:txBody>
        </p:sp>
        <p:sp>
          <p:nvSpPr>
            <p:cNvPr id="27728" name="Text Box 82"/>
            <p:cNvSpPr txBox="1">
              <a:spLocks noChangeArrowheads="1"/>
            </p:cNvSpPr>
            <p:nvPr/>
          </p:nvSpPr>
          <p:spPr bwMode="auto">
            <a:xfrm>
              <a:off x="3296816" y="2823319"/>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a:solidFill>
                    <a:srgbClr val="333399"/>
                  </a:solidFill>
                  <a:ea typeface="黑体" panose="02010609060101010101" pitchFamily="49" charset="-122"/>
                </a:rPr>
                <a:t>路由器</a:t>
              </a:r>
            </a:p>
          </p:txBody>
        </p:sp>
      </p:grpSp>
      <p:sp>
        <p:nvSpPr>
          <p:cNvPr id="27729" name="标题 2"/>
          <p:cNvSpPr>
            <a:spLocks noGrp="1" noChangeArrowheads="1"/>
          </p:cNvSpPr>
          <p:nvPr>
            <p:ph type="title"/>
          </p:nvPr>
        </p:nvSpPr>
        <p:spPr/>
        <p:txBody>
          <a:bodyPr/>
          <a:lstStyle/>
          <a:p>
            <a:pPr algn="ctr"/>
            <a:r>
              <a:rPr lang="zh-CN" altLang="en-US" smtClean="0">
                <a:ea typeface="黑体" panose="02010609060101010101" pitchFamily="49" charset="-122"/>
              </a:rPr>
              <a:t>互联网的边缘部分与核心部分</a:t>
            </a:r>
          </a:p>
        </p:txBody>
      </p:sp>
      <p:sp>
        <p:nvSpPr>
          <p:cNvPr id="27730" name="矩形 5"/>
          <p:cNvSpPr>
            <a:spLocks noChangeArrowheads="1"/>
          </p:cNvSpPr>
          <p:nvPr/>
        </p:nvSpPr>
        <p:spPr bwMode="auto">
          <a:xfrm>
            <a:off x="2701925" y="5919788"/>
            <a:ext cx="5130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互联网的边缘部分与核心部分</a:t>
            </a:r>
            <a:endParaRPr lang="zh-CN" altLang="en-US" sz="2400" b="1">
              <a:ea typeface="黑体" panose="02010609060101010101" pitchFamily="49" charset="-122"/>
            </a:endParaRPr>
          </a:p>
        </p:txBody>
      </p:sp>
      <p:sp>
        <p:nvSpPr>
          <p:cNvPr id="27731" name="灯片编号占位符 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91FE2CC-893A-4C4F-BBAC-7B305392AA10}" type="slidenum">
              <a:rPr lang="zh-CN" altLang="en-US" smtClean="0"/>
              <a:pPr eaLnBrk="1" hangingPunct="1"/>
              <a:t>24</a:t>
            </a:fld>
            <a:endParaRPr lang="en-US" altLang="zh-CN" smtClean="0"/>
          </a:p>
        </p:txBody>
      </p:sp>
      <p:sp>
        <p:nvSpPr>
          <p:cNvPr id="27732" name="页脚占位符 7"/>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1.3.1  </a:t>
            </a:r>
            <a:r>
              <a:rPr lang="zh-CN" altLang="en-US" smtClean="0">
                <a:ea typeface="黑体" panose="02010609060101010101" pitchFamily="49" charset="-122"/>
              </a:rPr>
              <a:t>互联网的边缘部分</a:t>
            </a:r>
          </a:p>
        </p:txBody>
      </p:sp>
      <p:sp>
        <p:nvSpPr>
          <p:cNvPr id="29698"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处在互联网边缘的部分就是连接在互联网上的所有的主机。这些主机又称为</a:t>
            </a:r>
            <a:r>
              <a:rPr lang="zh-CN" altLang="en-US" smtClean="0">
                <a:solidFill>
                  <a:srgbClr val="FF0000"/>
                </a:solidFill>
                <a:ea typeface="黑体" panose="02010609060101010101" pitchFamily="49" charset="-122"/>
              </a:rPr>
              <a:t>端系统 </a:t>
            </a:r>
            <a:r>
              <a:rPr lang="en-US" altLang="zh-CN" smtClean="0">
                <a:ea typeface="黑体" panose="02010609060101010101" pitchFamily="49" charset="-122"/>
              </a:rPr>
              <a:t>(end system)</a:t>
            </a:r>
            <a:r>
              <a:rPr lang="zh-CN" altLang="en-US" smtClean="0">
                <a:ea typeface="黑体" panose="02010609060101010101" pitchFamily="49" charset="-122"/>
              </a:rPr>
              <a:t>。</a:t>
            </a:r>
          </a:p>
          <a:p>
            <a:r>
              <a:rPr lang="zh-CN" altLang="zh-CN" smtClean="0">
                <a:solidFill>
                  <a:srgbClr val="FF0000"/>
                </a:solidFill>
                <a:ea typeface="黑体" panose="02010609060101010101" pitchFamily="49" charset="-122"/>
              </a:rPr>
              <a:t>端系统在功能上可能有很大的差别</a:t>
            </a:r>
            <a:endParaRPr lang="en-US" altLang="zh-CN" smtClean="0">
              <a:solidFill>
                <a:srgbClr val="FF0000"/>
              </a:solidFill>
              <a:ea typeface="黑体" panose="02010609060101010101" pitchFamily="49" charset="-122"/>
            </a:endParaRPr>
          </a:p>
          <a:p>
            <a:pPr lvl="1"/>
            <a:r>
              <a:rPr lang="zh-CN" altLang="zh-CN" smtClean="0">
                <a:ea typeface="黑体" panose="02010609060101010101" pitchFamily="49" charset="-122"/>
              </a:rPr>
              <a:t>小的端系统可以是一台普通个人电脑</a:t>
            </a:r>
            <a:r>
              <a:rPr lang="zh-CN" altLang="en-US" smtClean="0">
                <a:ea typeface="黑体" panose="02010609060101010101" pitchFamily="49" charset="-122"/>
              </a:rPr>
              <a:t>，</a:t>
            </a:r>
            <a:r>
              <a:rPr lang="zh-CN" altLang="zh-CN" smtClean="0">
                <a:ea typeface="黑体" panose="02010609060101010101" pitchFamily="49" charset="-122"/>
              </a:rPr>
              <a:t>具有上网功能的智能手机，甚至是一个很小的网络摄像头</a:t>
            </a:r>
            <a:r>
              <a:rPr lang="zh-CN" altLang="en-US" smtClean="0">
                <a:ea typeface="黑体" panose="02010609060101010101" pitchFamily="49" charset="-122"/>
              </a:rPr>
              <a:t>。</a:t>
            </a:r>
            <a:endParaRPr lang="en-US" altLang="zh-CN" smtClean="0">
              <a:ea typeface="黑体" panose="02010609060101010101" pitchFamily="49" charset="-122"/>
            </a:endParaRPr>
          </a:p>
          <a:p>
            <a:pPr lvl="1"/>
            <a:r>
              <a:rPr lang="zh-CN" altLang="zh-CN" smtClean="0">
                <a:ea typeface="黑体" panose="02010609060101010101" pitchFamily="49" charset="-122"/>
              </a:rPr>
              <a:t>大的端系统则可以是一台非常昂贵的大型计算机。</a:t>
            </a:r>
            <a:endParaRPr lang="en-US" altLang="zh-CN" smtClean="0">
              <a:ea typeface="黑体" panose="02010609060101010101" pitchFamily="49" charset="-122"/>
            </a:endParaRPr>
          </a:p>
          <a:p>
            <a:pPr lvl="1"/>
            <a:r>
              <a:rPr lang="zh-CN" altLang="zh-CN" smtClean="0">
                <a:ea typeface="黑体" panose="02010609060101010101" pitchFamily="49" charset="-122"/>
              </a:rPr>
              <a:t>端系统的拥有者可以是个人，也可以是单位（如学校、企业、政府机关等），当然也可以是某个</a:t>
            </a:r>
            <a:r>
              <a:rPr lang="en-US" altLang="zh-CN" smtClean="0">
                <a:ea typeface="黑体" panose="02010609060101010101" pitchFamily="49" charset="-122"/>
              </a:rPr>
              <a:t> ISP</a:t>
            </a:r>
            <a:r>
              <a:rPr lang="zh-CN" altLang="en-US" smtClean="0">
                <a:ea typeface="黑体" panose="02010609060101010101" pitchFamily="49" charset="-122"/>
              </a:rPr>
              <a:t>。</a:t>
            </a:r>
          </a:p>
        </p:txBody>
      </p:sp>
      <p:sp>
        <p:nvSpPr>
          <p:cNvPr id="2969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2DF9CD2-0C7E-4F2A-9769-B2114D8A30E9}" type="slidenum">
              <a:rPr lang="zh-CN" altLang="en-US" smtClean="0"/>
              <a:pPr eaLnBrk="1" hangingPunct="1"/>
              <a:t>25</a:t>
            </a:fld>
            <a:endParaRPr lang="en-US" altLang="zh-CN" smtClean="0"/>
          </a:p>
        </p:txBody>
      </p:sp>
      <p:sp>
        <p:nvSpPr>
          <p:cNvPr id="2970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端系统之间通信的含义</a:t>
            </a:r>
          </a:p>
        </p:txBody>
      </p:sp>
      <p:sp>
        <p:nvSpPr>
          <p:cNvPr id="31746"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 “主机 </a:t>
            </a:r>
            <a:r>
              <a:rPr lang="en-US" altLang="zh-CN" smtClean="0">
                <a:ea typeface="黑体" panose="02010609060101010101" pitchFamily="49" charset="-122"/>
              </a:rPr>
              <a:t>A </a:t>
            </a:r>
            <a:r>
              <a:rPr lang="zh-CN" altLang="en-US" smtClean="0">
                <a:ea typeface="黑体" panose="02010609060101010101" pitchFamily="49" charset="-122"/>
              </a:rPr>
              <a:t>和主机 </a:t>
            </a:r>
            <a:r>
              <a:rPr lang="en-US" altLang="zh-CN" smtClean="0">
                <a:ea typeface="黑体" panose="02010609060101010101" pitchFamily="49" charset="-122"/>
              </a:rPr>
              <a:t>B </a:t>
            </a:r>
            <a:r>
              <a:rPr lang="zh-CN" altLang="en-US" smtClean="0">
                <a:ea typeface="黑体" panose="02010609060101010101" pitchFamily="49" charset="-122"/>
              </a:rPr>
              <a:t>进行通信”实际上是指：</a:t>
            </a:r>
            <a:r>
              <a:rPr lang="zh-CN" altLang="en-US" smtClean="0">
                <a:solidFill>
                  <a:srgbClr val="FF0000"/>
                </a:solidFill>
                <a:ea typeface="黑体" panose="02010609060101010101" pitchFamily="49" charset="-122"/>
              </a:rPr>
              <a:t>“运行在主机 </a:t>
            </a:r>
            <a:r>
              <a:rPr lang="en-US" altLang="zh-CN" smtClean="0">
                <a:solidFill>
                  <a:srgbClr val="FF0000"/>
                </a:solidFill>
                <a:ea typeface="黑体" panose="02010609060101010101" pitchFamily="49" charset="-122"/>
              </a:rPr>
              <a:t>A </a:t>
            </a:r>
            <a:r>
              <a:rPr lang="zh-CN" altLang="en-US" smtClean="0">
                <a:solidFill>
                  <a:srgbClr val="FF0000"/>
                </a:solidFill>
                <a:ea typeface="黑体" panose="02010609060101010101" pitchFamily="49" charset="-122"/>
              </a:rPr>
              <a:t>上的某个程序和运行在主机 </a:t>
            </a:r>
            <a:r>
              <a:rPr lang="en-US" altLang="zh-CN" smtClean="0">
                <a:solidFill>
                  <a:srgbClr val="FF0000"/>
                </a:solidFill>
                <a:ea typeface="黑体" panose="02010609060101010101" pitchFamily="49" charset="-122"/>
              </a:rPr>
              <a:t>B </a:t>
            </a:r>
            <a:r>
              <a:rPr lang="zh-CN" altLang="en-US" smtClean="0">
                <a:solidFill>
                  <a:srgbClr val="FF0000"/>
                </a:solidFill>
                <a:ea typeface="黑体" panose="02010609060101010101" pitchFamily="49" charset="-122"/>
              </a:rPr>
              <a:t>上的另一个程序进行通信”</a:t>
            </a:r>
            <a:r>
              <a:rPr lang="zh-CN" altLang="en-US" smtClean="0">
                <a:ea typeface="黑体" panose="02010609060101010101" pitchFamily="49" charset="-122"/>
              </a:rPr>
              <a:t>。</a:t>
            </a:r>
          </a:p>
        </p:txBody>
      </p:sp>
      <p:sp>
        <p:nvSpPr>
          <p:cNvPr id="31747" name="矩形 1"/>
          <p:cNvSpPr>
            <a:spLocks noChangeArrowheads="1"/>
          </p:cNvSpPr>
          <p:nvPr/>
        </p:nvSpPr>
        <p:spPr bwMode="auto">
          <a:xfrm>
            <a:off x="992188" y="2924175"/>
            <a:ext cx="8208962" cy="1570038"/>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3200" b="1">
                <a:solidFill>
                  <a:schemeClr val="bg1"/>
                </a:solidFill>
                <a:ea typeface="黑体" panose="02010609060101010101" pitchFamily="49" charset="-122"/>
              </a:rPr>
              <a:t>即“主机 </a:t>
            </a:r>
            <a:r>
              <a:rPr lang="en-US" altLang="zh-CN" sz="3200" b="1">
                <a:solidFill>
                  <a:schemeClr val="bg1"/>
                </a:solidFill>
                <a:ea typeface="黑体" panose="02010609060101010101" pitchFamily="49" charset="-122"/>
              </a:rPr>
              <a:t>A </a:t>
            </a:r>
            <a:r>
              <a:rPr lang="zh-CN" altLang="en-US" sz="3200" b="1">
                <a:solidFill>
                  <a:schemeClr val="bg1"/>
                </a:solidFill>
                <a:ea typeface="黑体" panose="02010609060101010101" pitchFamily="49" charset="-122"/>
              </a:rPr>
              <a:t>的某个进程和主机 </a:t>
            </a:r>
            <a:r>
              <a:rPr lang="en-US" altLang="zh-CN" sz="3200" b="1">
                <a:solidFill>
                  <a:schemeClr val="bg1"/>
                </a:solidFill>
                <a:ea typeface="黑体" panose="02010609060101010101" pitchFamily="49" charset="-122"/>
              </a:rPr>
              <a:t>B </a:t>
            </a:r>
            <a:r>
              <a:rPr lang="zh-CN" altLang="en-US" sz="3200" b="1">
                <a:solidFill>
                  <a:schemeClr val="bg1"/>
                </a:solidFill>
                <a:ea typeface="黑体" panose="02010609060101010101" pitchFamily="49" charset="-122"/>
              </a:rPr>
              <a:t>上的另一个进程进行通信”。</a:t>
            </a:r>
            <a:endParaRPr lang="en-US" altLang="zh-CN" sz="3200" b="1">
              <a:solidFill>
                <a:schemeClr val="bg1"/>
              </a:solidFill>
              <a:ea typeface="黑体" panose="02010609060101010101" pitchFamily="49" charset="-122"/>
            </a:endParaRPr>
          </a:p>
          <a:p>
            <a:pPr eaLnBrk="0" hangingPunct="0"/>
            <a:r>
              <a:rPr lang="zh-CN" altLang="en-US" sz="3200" b="1">
                <a:solidFill>
                  <a:schemeClr val="bg1"/>
                </a:solidFill>
                <a:ea typeface="黑体" panose="02010609060101010101" pitchFamily="49" charset="-122"/>
              </a:rPr>
              <a:t>简称为“计算机之间通信”。 </a:t>
            </a:r>
          </a:p>
        </p:txBody>
      </p:sp>
      <p:sp>
        <p:nvSpPr>
          <p:cNvPr id="31748"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7095177-425B-416F-A187-562569F2F77D}" type="slidenum">
              <a:rPr lang="zh-CN" altLang="en-US" smtClean="0"/>
              <a:pPr eaLnBrk="1" hangingPunct="1"/>
              <a:t>26</a:t>
            </a:fld>
            <a:endParaRPr lang="en-US" altLang="zh-CN" smtClean="0"/>
          </a:p>
        </p:txBody>
      </p:sp>
      <p:sp>
        <p:nvSpPr>
          <p:cNvPr id="31749"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端系统之间的两种通信方式</a:t>
            </a:r>
          </a:p>
        </p:txBody>
      </p:sp>
      <p:sp>
        <p:nvSpPr>
          <p:cNvPr id="33794" name="Rectangle 3"/>
          <p:cNvSpPr>
            <a:spLocks noGrp="1" noChangeArrowheads="1"/>
          </p:cNvSpPr>
          <p:nvPr>
            <p:ph idx="1"/>
          </p:nvPr>
        </p:nvSpPr>
        <p:spPr>
          <a:xfrm>
            <a:off x="495300" y="1196975"/>
            <a:ext cx="9066213" cy="4933950"/>
          </a:xfrm>
        </p:spPr>
        <p:txBody>
          <a:bodyPr/>
          <a:lstStyle/>
          <a:p>
            <a:pPr>
              <a:buFont typeface="Wingdings" panose="05000000000000000000" pitchFamily="2" charset="2"/>
              <a:buNone/>
            </a:pPr>
            <a:r>
              <a:rPr lang="en-US" altLang="zh-CN" smtClean="0">
                <a:ea typeface="黑体" panose="02010609060101010101" pitchFamily="49" charset="-122"/>
              </a:rPr>
              <a:t>	</a:t>
            </a:r>
            <a:r>
              <a:rPr lang="zh-CN" altLang="zh-CN" smtClean="0">
                <a:ea typeface="黑体" panose="02010609060101010101" pitchFamily="49" charset="-122"/>
              </a:rPr>
              <a:t>端系统之间的通信方式</a:t>
            </a:r>
            <a:r>
              <a:rPr lang="zh-CN" altLang="en-US" smtClean="0">
                <a:ea typeface="黑体" panose="02010609060101010101" pitchFamily="49" charset="-122"/>
              </a:rPr>
              <a:t>通常可划分为两大类：</a:t>
            </a:r>
          </a:p>
          <a:p>
            <a:r>
              <a:rPr lang="zh-CN" altLang="en-US" smtClean="0">
                <a:solidFill>
                  <a:srgbClr val="FF0000"/>
                </a:solidFill>
                <a:ea typeface="黑体" panose="02010609060101010101" pitchFamily="49" charset="-122"/>
              </a:rPr>
              <a:t>客户</a:t>
            </a:r>
            <a:r>
              <a:rPr lang="zh-CN" altLang="en-US" smtClean="0">
                <a:solidFill>
                  <a:srgbClr val="FF0000"/>
                </a:solidFill>
                <a:ea typeface="黑体" panose="02010609060101010101" pitchFamily="49" charset="-122"/>
                <a:sym typeface="Symbol" panose="05050102010706020507" pitchFamily="18" charset="2"/>
              </a:rPr>
              <a:t></a:t>
            </a:r>
            <a:r>
              <a:rPr lang="zh-CN" altLang="en-US" smtClean="0">
                <a:solidFill>
                  <a:srgbClr val="FF0000"/>
                </a:solidFill>
                <a:ea typeface="黑体" panose="02010609060101010101" pitchFamily="49" charset="-122"/>
              </a:rPr>
              <a:t>服务器方式</a:t>
            </a:r>
            <a:r>
              <a:rPr lang="zh-CN" altLang="en-US" smtClean="0">
                <a:ea typeface="黑体" panose="02010609060101010101" pitchFamily="49" charset="-122"/>
              </a:rPr>
              <a:t>（</a:t>
            </a:r>
            <a:r>
              <a:rPr lang="en-US" altLang="zh-CN" smtClean="0">
                <a:ea typeface="黑体" panose="02010609060101010101" pitchFamily="49" charset="-122"/>
              </a:rPr>
              <a:t>C/S </a:t>
            </a:r>
            <a:r>
              <a:rPr lang="zh-CN" altLang="en-US" smtClean="0">
                <a:ea typeface="黑体" panose="02010609060101010101" pitchFamily="49" charset="-122"/>
              </a:rPr>
              <a:t>方式）</a:t>
            </a:r>
          </a:p>
          <a:p>
            <a:pPr>
              <a:buFont typeface="Wingdings" panose="05000000000000000000" pitchFamily="2" charset="2"/>
              <a:buNone/>
            </a:pPr>
            <a:r>
              <a:rPr lang="en-US" altLang="zh-CN" smtClean="0">
                <a:ea typeface="黑体" panose="02010609060101010101" pitchFamily="49" charset="-122"/>
              </a:rPr>
              <a:t>	</a:t>
            </a:r>
            <a:r>
              <a:rPr lang="zh-CN" altLang="en-US" smtClean="0">
                <a:ea typeface="黑体" panose="02010609060101010101" pitchFamily="49" charset="-122"/>
              </a:rPr>
              <a:t>即</a:t>
            </a:r>
            <a:r>
              <a:rPr lang="en-US" altLang="zh-CN" smtClean="0">
                <a:ea typeface="黑体" panose="02010609060101010101" pitchFamily="49" charset="-122"/>
              </a:rPr>
              <a:t>Client/Server</a:t>
            </a:r>
            <a:r>
              <a:rPr lang="zh-CN" altLang="en-US" smtClean="0">
                <a:ea typeface="黑体" panose="02010609060101010101" pitchFamily="49" charset="-122"/>
              </a:rPr>
              <a:t>方式，简称为 </a:t>
            </a:r>
            <a:r>
              <a:rPr lang="en-US" altLang="zh-CN" smtClean="0">
                <a:ea typeface="黑体" panose="02010609060101010101" pitchFamily="49" charset="-122"/>
              </a:rPr>
              <a:t>C/S </a:t>
            </a:r>
            <a:r>
              <a:rPr lang="zh-CN" altLang="en-US" smtClean="0">
                <a:ea typeface="黑体" panose="02010609060101010101" pitchFamily="49" charset="-122"/>
              </a:rPr>
              <a:t>方式。 </a:t>
            </a:r>
          </a:p>
          <a:p>
            <a:r>
              <a:rPr lang="zh-CN" altLang="en-US" smtClean="0">
                <a:solidFill>
                  <a:srgbClr val="FF0000"/>
                </a:solidFill>
                <a:ea typeface="黑体" panose="02010609060101010101" pitchFamily="49" charset="-122"/>
              </a:rPr>
              <a:t>对等方式</a:t>
            </a:r>
            <a:r>
              <a:rPr lang="zh-CN" altLang="en-US" smtClean="0">
                <a:ea typeface="黑体" panose="02010609060101010101" pitchFamily="49" charset="-122"/>
              </a:rPr>
              <a:t>（</a:t>
            </a:r>
            <a:r>
              <a:rPr lang="en-US" altLang="zh-CN" smtClean="0">
                <a:ea typeface="黑体" panose="02010609060101010101" pitchFamily="49" charset="-122"/>
              </a:rPr>
              <a:t>P2P </a:t>
            </a:r>
            <a:r>
              <a:rPr lang="zh-CN" altLang="en-US" smtClean="0">
                <a:ea typeface="黑体" panose="02010609060101010101" pitchFamily="49" charset="-122"/>
              </a:rPr>
              <a:t>方式）</a:t>
            </a:r>
          </a:p>
          <a:p>
            <a:pPr>
              <a:buFont typeface="Wingdings" panose="05000000000000000000" pitchFamily="2" charset="2"/>
              <a:buNone/>
            </a:pPr>
            <a:r>
              <a:rPr lang="zh-CN" altLang="en-US" smtClean="0">
                <a:ea typeface="黑体" panose="02010609060101010101" pitchFamily="49" charset="-122"/>
              </a:rPr>
              <a:t>   即 </a:t>
            </a:r>
            <a:r>
              <a:rPr lang="en-US" altLang="zh-CN" smtClean="0">
                <a:ea typeface="黑体" panose="02010609060101010101" pitchFamily="49" charset="-122"/>
              </a:rPr>
              <a:t>Peer-to-Peer</a:t>
            </a:r>
            <a:r>
              <a:rPr lang="zh-CN" altLang="en-US" smtClean="0">
                <a:ea typeface="黑体" panose="02010609060101010101" pitchFamily="49" charset="-122"/>
              </a:rPr>
              <a:t>方式 ，简称为 </a:t>
            </a:r>
            <a:r>
              <a:rPr lang="en-US" altLang="zh-CN" smtClean="0">
                <a:ea typeface="黑体" panose="02010609060101010101" pitchFamily="49" charset="-122"/>
              </a:rPr>
              <a:t>P2P </a:t>
            </a:r>
            <a:r>
              <a:rPr lang="zh-CN" altLang="en-US" smtClean="0">
                <a:ea typeface="黑体" panose="02010609060101010101" pitchFamily="49" charset="-122"/>
              </a:rPr>
              <a:t>方式。</a:t>
            </a:r>
          </a:p>
        </p:txBody>
      </p:sp>
      <p:sp>
        <p:nvSpPr>
          <p:cNvPr id="3379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B0881EB-207A-4B22-9BC3-2FD6CD6337B2}" type="slidenum">
              <a:rPr lang="zh-CN" altLang="en-US" smtClean="0"/>
              <a:pPr eaLnBrk="1" hangingPunct="1"/>
              <a:t>27</a:t>
            </a:fld>
            <a:endParaRPr lang="en-US" altLang="zh-CN" smtClean="0"/>
          </a:p>
        </p:txBody>
      </p:sp>
      <p:sp>
        <p:nvSpPr>
          <p:cNvPr id="3379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noChangeArrowheads="1"/>
          </p:cNvSpPr>
          <p:nvPr>
            <p:ph type="title"/>
          </p:nvPr>
        </p:nvSpPr>
        <p:spPr>
          <a:xfrm>
            <a:off x="495300" y="188913"/>
            <a:ext cx="9066213" cy="792162"/>
          </a:xfrm>
        </p:spPr>
        <p:txBody>
          <a:bodyPr/>
          <a:lstStyle/>
          <a:p>
            <a:pPr marL="838200" indent="-838200"/>
            <a:r>
              <a:rPr lang="en-US" altLang="zh-CN" smtClean="0">
                <a:ea typeface="黑体" panose="02010609060101010101" pitchFamily="49" charset="-122"/>
              </a:rPr>
              <a:t>1.  </a:t>
            </a:r>
            <a:r>
              <a:rPr lang="zh-CN" altLang="en-US" smtClean="0">
                <a:ea typeface="黑体" panose="02010609060101010101" pitchFamily="49" charset="-122"/>
              </a:rPr>
              <a:t>客户服务器方式</a:t>
            </a:r>
          </a:p>
        </p:txBody>
      </p:sp>
      <p:sp>
        <p:nvSpPr>
          <p:cNvPr id="35842" name="Rectangle 3"/>
          <p:cNvSpPr>
            <a:spLocks noGrp="1" noChangeArrowheads="1"/>
          </p:cNvSpPr>
          <p:nvPr>
            <p:ph idx="1"/>
          </p:nvPr>
        </p:nvSpPr>
        <p:spPr>
          <a:xfrm>
            <a:off x="495300" y="1196975"/>
            <a:ext cx="9066213" cy="4933950"/>
          </a:xfrm>
        </p:spPr>
        <p:txBody>
          <a:bodyPr/>
          <a:lstStyle/>
          <a:p>
            <a:r>
              <a:rPr lang="zh-CN" altLang="en-US" smtClean="0">
                <a:solidFill>
                  <a:srgbClr val="FF0000"/>
                </a:solidFill>
                <a:ea typeface="黑体" panose="02010609060101010101" pitchFamily="49" charset="-122"/>
              </a:rPr>
              <a:t>客户 </a:t>
            </a:r>
            <a:r>
              <a:rPr lang="en-US" altLang="zh-CN" smtClean="0">
                <a:ea typeface="黑体" panose="02010609060101010101" pitchFamily="49" charset="-122"/>
              </a:rPr>
              <a:t>(client) </a:t>
            </a:r>
            <a:r>
              <a:rPr lang="zh-CN" altLang="en-US" smtClean="0">
                <a:ea typeface="黑体" panose="02010609060101010101" pitchFamily="49" charset="-122"/>
              </a:rPr>
              <a:t>和</a:t>
            </a:r>
            <a:r>
              <a:rPr lang="zh-CN" altLang="en-US" smtClean="0">
                <a:solidFill>
                  <a:srgbClr val="FF0000"/>
                </a:solidFill>
                <a:ea typeface="黑体" panose="02010609060101010101" pitchFamily="49" charset="-122"/>
              </a:rPr>
              <a:t>服务器 </a:t>
            </a:r>
            <a:r>
              <a:rPr lang="en-US" altLang="zh-CN" smtClean="0">
                <a:ea typeface="黑体" panose="02010609060101010101" pitchFamily="49" charset="-122"/>
              </a:rPr>
              <a:t>(server) </a:t>
            </a:r>
            <a:r>
              <a:rPr lang="zh-CN" altLang="en-US" smtClean="0">
                <a:ea typeface="黑体" panose="02010609060101010101" pitchFamily="49" charset="-122"/>
              </a:rPr>
              <a:t>都是指通信中所涉及的两个应用进程。</a:t>
            </a:r>
          </a:p>
          <a:p>
            <a:r>
              <a:rPr lang="zh-CN" altLang="en-US" smtClean="0">
                <a:ea typeface="黑体" panose="02010609060101010101" pitchFamily="49" charset="-122"/>
              </a:rPr>
              <a:t>客户</a:t>
            </a:r>
            <a:r>
              <a:rPr lang="en-US" altLang="zh-CN" smtClean="0">
                <a:ea typeface="黑体" panose="02010609060101010101" pitchFamily="49" charset="-122"/>
              </a:rPr>
              <a:t>—</a:t>
            </a:r>
            <a:r>
              <a:rPr lang="zh-CN" altLang="en-US" smtClean="0">
                <a:ea typeface="黑体" panose="02010609060101010101" pitchFamily="49" charset="-122"/>
              </a:rPr>
              <a:t>服务器方式所描述的是进程之间服务和被服务的关系。</a:t>
            </a:r>
          </a:p>
          <a:p>
            <a:r>
              <a:rPr lang="zh-CN" altLang="en-US" smtClean="0">
                <a:ea typeface="黑体" panose="02010609060101010101" pitchFamily="49" charset="-122"/>
              </a:rPr>
              <a:t>客户是</a:t>
            </a:r>
            <a:r>
              <a:rPr lang="zh-CN" altLang="en-US" smtClean="0">
                <a:solidFill>
                  <a:srgbClr val="0000CC"/>
                </a:solidFill>
                <a:ea typeface="黑体" panose="02010609060101010101" pitchFamily="49" charset="-122"/>
              </a:rPr>
              <a:t>服务的请求方</a:t>
            </a:r>
            <a:r>
              <a:rPr lang="zh-CN" altLang="en-US" smtClean="0">
                <a:ea typeface="黑体" panose="02010609060101010101" pitchFamily="49" charset="-122"/>
              </a:rPr>
              <a:t>，服务器是</a:t>
            </a:r>
            <a:r>
              <a:rPr lang="zh-CN" altLang="en-US" smtClean="0">
                <a:solidFill>
                  <a:srgbClr val="0000CC"/>
                </a:solidFill>
                <a:ea typeface="黑体" panose="02010609060101010101" pitchFamily="49" charset="-122"/>
              </a:rPr>
              <a:t>服务的提供方</a:t>
            </a:r>
            <a:r>
              <a:rPr lang="zh-CN" altLang="en-US" smtClean="0">
                <a:ea typeface="黑体" panose="02010609060101010101" pitchFamily="49" charset="-122"/>
              </a:rPr>
              <a:t>。</a:t>
            </a:r>
            <a:endParaRPr lang="en-US" altLang="zh-CN" smtClean="0">
              <a:ea typeface="黑体" panose="02010609060101010101" pitchFamily="49" charset="-122"/>
            </a:endParaRPr>
          </a:p>
        </p:txBody>
      </p:sp>
      <p:sp>
        <p:nvSpPr>
          <p:cNvPr id="35843" name="矩形 1"/>
          <p:cNvSpPr>
            <a:spLocks noChangeArrowheads="1"/>
          </p:cNvSpPr>
          <p:nvPr/>
        </p:nvSpPr>
        <p:spPr bwMode="auto">
          <a:xfrm>
            <a:off x="631825" y="4292600"/>
            <a:ext cx="8858250" cy="1077913"/>
          </a:xfrm>
          <a:prstGeom prst="rect">
            <a:avLst/>
          </a:prstGeom>
          <a:solidFill>
            <a:srgbClr val="FFFF66"/>
          </a:solidFill>
          <a:ln w="9525">
            <a:solidFill>
              <a:srgbClr val="000099"/>
            </a:solidFill>
            <a:round/>
            <a:headEnd/>
            <a:tailEnd/>
          </a:ln>
        </p:spPr>
        <p:txBody>
          <a:bodyPr>
            <a:spAutoFit/>
          </a:bodyPr>
          <a:lstStyle/>
          <a:p>
            <a:pPr eaLnBrk="0" hangingPunct="0"/>
            <a:r>
              <a:rPr lang="zh-CN" altLang="zh-CN" sz="3200" b="1">
                <a:solidFill>
                  <a:srgbClr val="000099"/>
                </a:solidFill>
                <a:ea typeface="黑体" panose="02010609060101010101" pitchFamily="49" charset="-122"/>
              </a:rPr>
              <a:t>服务请求方和服务提供方都要使用网络核心部分所提供的服务。</a:t>
            </a:r>
            <a:endParaRPr lang="zh-CN" altLang="en-US" sz="3200" b="1">
              <a:solidFill>
                <a:srgbClr val="000099"/>
              </a:solidFill>
              <a:ea typeface="黑体" panose="02010609060101010101" pitchFamily="49" charset="-122"/>
            </a:endParaRPr>
          </a:p>
        </p:txBody>
      </p:sp>
      <p:sp>
        <p:nvSpPr>
          <p:cNvPr id="35844"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A0E20FF-5AFB-435A-B1B2-55DFB9E42760}" type="slidenum">
              <a:rPr lang="zh-CN" altLang="en-US" smtClean="0"/>
              <a:pPr eaLnBrk="1" hangingPunct="1"/>
              <a:t>28</a:t>
            </a:fld>
            <a:endParaRPr lang="en-US" altLang="zh-CN" smtClean="0"/>
          </a:p>
        </p:txBody>
      </p:sp>
      <p:sp>
        <p:nvSpPr>
          <p:cNvPr id="35845"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Oval 4"/>
          <p:cNvSpPr>
            <a:spLocks noChangeArrowheads="1"/>
          </p:cNvSpPr>
          <p:nvPr/>
        </p:nvSpPr>
        <p:spPr bwMode="auto">
          <a:xfrm>
            <a:off x="984250" y="1057275"/>
            <a:ext cx="7599363" cy="5035550"/>
          </a:xfrm>
          <a:prstGeom prst="ellipse">
            <a:avLst/>
          </a:prstGeom>
          <a:solidFill>
            <a:srgbClr val="FF99CC"/>
          </a:solidFill>
          <a:ln w="9525">
            <a:solidFill>
              <a:schemeClr val="tx1"/>
            </a:solidFill>
            <a:prstDash val="dash"/>
            <a:round/>
            <a:headEnd/>
            <a:tailEnd/>
          </a:ln>
        </p:spPr>
        <p:txBody>
          <a:bodyPr wrap="none" anchor="ctr"/>
          <a:lstStyle/>
          <a:p>
            <a:pPr eaLnBrk="0" hangingPunct="0"/>
            <a:endParaRPr lang="zh-CN" altLang="en-US" b="1">
              <a:ea typeface="黑体" panose="02010609060101010101" pitchFamily="49" charset="-122"/>
            </a:endParaRPr>
          </a:p>
        </p:txBody>
      </p:sp>
      <p:sp>
        <p:nvSpPr>
          <p:cNvPr id="37890" name="Line 5"/>
          <p:cNvSpPr>
            <a:spLocks noChangeShapeType="1"/>
          </p:cNvSpPr>
          <p:nvPr/>
        </p:nvSpPr>
        <p:spPr bwMode="auto">
          <a:xfrm flipV="1">
            <a:off x="2603500" y="4281488"/>
            <a:ext cx="852488" cy="4667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sp>
        <p:nvSpPr>
          <p:cNvPr id="37891" name="Line 6"/>
          <p:cNvSpPr>
            <a:spLocks noChangeShapeType="1"/>
          </p:cNvSpPr>
          <p:nvPr/>
        </p:nvSpPr>
        <p:spPr bwMode="auto">
          <a:xfrm flipH="1" flipV="1">
            <a:off x="2197100" y="3224213"/>
            <a:ext cx="922338" cy="2206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sp>
        <p:nvSpPr>
          <p:cNvPr id="37892" name="Line 7"/>
          <p:cNvSpPr>
            <a:spLocks noChangeShapeType="1"/>
          </p:cNvSpPr>
          <p:nvPr/>
        </p:nvSpPr>
        <p:spPr bwMode="auto">
          <a:xfrm flipH="1">
            <a:off x="6461125" y="3776663"/>
            <a:ext cx="10953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sp>
        <p:nvSpPr>
          <p:cNvPr id="37893" name="Line 8"/>
          <p:cNvSpPr>
            <a:spLocks noChangeShapeType="1"/>
          </p:cNvSpPr>
          <p:nvPr/>
        </p:nvSpPr>
        <p:spPr bwMode="auto">
          <a:xfrm flipH="1">
            <a:off x="5653088" y="2122488"/>
            <a:ext cx="808037" cy="11017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sp>
        <p:nvSpPr>
          <p:cNvPr id="37894" name="Line 9"/>
          <p:cNvSpPr>
            <a:spLocks noChangeShapeType="1"/>
          </p:cNvSpPr>
          <p:nvPr/>
        </p:nvSpPr>
        <p:spPr bwMode="auto">
          <a:xfrm flipH="1" flipV="1">
            <a:off x="5538788" y="4659313"/>
            <a:ext cx="609600" cy="7000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sp>
        <p:nvSpPr>
          <p:cNvPr id="37895" name="Line 10"/>
          <p:cNvSpPr>
            <a:spLocks noChangeShapeType="1"/>
          </p:cNvSpPr>
          <p:nvPr/>
        </p:nvSpPr>
        <p:spPr bwMode="auto">
          <a:xfrm>
            <a:off x="3463925" y="2232025"/>
            <a:ext cx="515938" cy="8048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sp>
        <p:nvSpPr>
          <p:cNvPr id="37896" name="Line 11"/>
          <p:cNvSpPr>
            <a:spLocks noChangeShapeType="1"/>
          </p:cNvSpPr>
          <p:nvPr/>
        </p:nvSpPr>
        <p:spPr bwMode="auto">
          <a:xfrm flipV="1">
            <a:off x="3808413" y="4549775"/>
            <a:ext cx="231775" cy="809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pic>
        <p:nvPicPr>
          <p:cNvPr id="37897" name="Picture 1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99163" y="1679575"/>
            <a:ext cx="696912"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8" name="Picture 1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19438" y="1679575"/>
            <a:ext cx="698500"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9" name="Picture 1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83275" y="5211763"/>
            <a:ext cx="698500" cy="69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900" name="Picture 1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63925" y="5211763"/>
            <a:ext cx="698500" cy="69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901" name="Text Box 16"/>
          <p:cNvSpPr txBox="1">
            <a:spLocks noChangeArrowheads="1"/>
          </p:cNvSpPr>
          <p:nvPr/>
        </p:nvSpPr>
        <p:spPr bwMode="auto">
          <a:xfrm>
            <a:off x="560388" y="903288"/>
            <a:ext cx="903287" cy="138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ea typeface="黑体" panose="02010609060101010101" pitchFamily="49" charset="-122"/>
              </a:rPr>
              <a:t>运行</a:t>
            </a:r>
          </a:p>
          <a:p>
            <a:pPr eaLnBrk="0" hangingPunct="0"/>
            <a:r>
              <a:rPr lang="zh-CN" altLang="en-US" sz="2800" b="1">
                <a:ea typeface="黑体" panose="02010609060101010101" pitchFamily="49" charset="-122"/>
              </a:rPr>
              <a:t>客户</a:t>
            </a:r>
          </a:p>
          <a:p>
            <a:pPr eaLnBrk="0" hangingPunct="0"/>
            <a:r>
              <a:rPr lang="zh-CN" altLang="en-US" sz="2800" b="1">
                <a:ea typeface="黑体" panose="02010609060101010101" pitchFamily="49" charset="-122"/>
              </a:rPr>
              <a:t>程序</a:t>
            </a:r>
          </a:p>
        </p:txBody>
      </p:sp>
      <p:pic>
        <p:nvPicPr>
          <p:cNvPr id="37902" name="Picture 1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19250" y="2562225"/>
            <a:ext cx="698500"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44082" name="Group 18"/>
          <p:cNvGrpSpPr/>
          <p:nvPr/>
        </p:nvGrpSpPr>
        <p:grpSpPr bwMode="auto">
          <a:xfrm>
            <a:off x="2658659" y="2232522"/>
            <a:ext cx="4385469" cy="3046413"/>
            <a:chOff x="1680" y="240"/>
            <a:chExt cx="2529" cy="1270"/>
          </a:xfrm>
          <a:solidFill>
            <a:schemeClr val="bg1">
              <a:lumMod val="65000"/>
            </a:schemeClr>
          </a:solidFill>
        </p:grpSpPr>
        <p:sp>
          <p:nvSpPr>
            <p:cNvPr id="344083" name="Oval 19"/>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noProof="1">
                <a:latin typeface="+mn-lt"/>
                <a:ea typeface="黑体" panose="02010609060101010101" pitchFamily="2" charset="-122"/>
              </a:endParaRPr>
            </a:p>
          </p:txBody>
        </p:sp>
        <p:sp>
          <p:nvSpPr>
            <p:cNvPr id="344084" name="Oval 20"/>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noProof="1">
                <a:latin typeface="+mn-lt"/>
                <a:ea typeface="黑体" panose="02010609060101010101" pitchFamily="2" charset="-122"/>
              </a:endParaRPr>
            </a:p>
          </p:txBody>
        </p:sp>
        <p:sp>
          <p:nvSpPr>
            <p:cNvPr id="344085" name="Oval 21"/>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noProof="1">
                <a:latin typeface="+mn-lt"/>
                <a:ea typeface="黑体" panose="02010609060101010101" pitchFamily="2" charset="-122"/>
              </a:endParaRPr>
            </a:p>
          </p:txBody>
        </p:sp>
        <p:sp>
          <p:nvSpPr>
            <p:cNvPr id="344086" name="Oval 22"/>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noProof="1">
                <a:latin typeface="+mn-lt"/>
                <a:ea typeface="黑体" panose="02010609060101010101" pitchFamily="2" charset="-122"/>
              </a:endParaRPr>
            </a:p>
          </p:txBody>
        </p:sp>
        <p:sp>
          <p:nvSpPr>
            <p:cNvPr id="344087" name="Oval 23"/>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noProof="1">
                <a:latin typeface="+mn-lt"/>
                <a:ea typeface="黑体" panose="02010609060101010101" pitchFamily="2" charset="-122"/>
              </a:endParaRPr>
            </a:p>
          </p:txBody>
        </p:sp>
        <p:sp>
          <p:nvSpPr>
            <p:cNvPr id="344088" name="Oval 24"/>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noProof="1">
                <a:latin typeface="+mn-lt"/>
                <a:ea typeface="黑体" panose="02010609060101010101" pitchFamily="2" charset="-122"/>
              </a:endParaRPr>
            </a:p>
          </p:txBody>
        </p:sp>
        <p:sp>
          <p:nvSpPr>
            <p:cNvPr id="344089" name="Oval 25"/>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noProof="1">
                <a:latin typeface="+mn-lt"/>
                <a:ea typeface="黑体" panose="02010609060101010101" pitchFamily="2" charset="-122"/>
              </a:endParaRPr>
            </a:p>
          </p:txBody>
        </p:sp>
        <p:sp>
          <p:nvSpPr>
            <p:cNvPr id="344090" name="Oval 26"/>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noProof="1">
                <a:latin typeface="+mn-lt"/>
                <a:ea typeface="黑体" panose="02010609060101010101" pitchFamily="2" charset="-122"/>
              </a:endParaRPr>
            </a:p>
          </p:txBody>
        </p:sp>
        <p:sp>
          <p:nvSpPr>
            <p:cNvPr id="344091" name="Oval 27"/>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noProof="1">
                <a:latin typeface="+mn-lt"/>
                <a:ea typeface="黑体" panose="02010609060101010101" pitchFamily="2" charset="-122"/>
              </a:endParaRPr>
            </a:p>
          </p:txBody>
        </p:sp>
      </p:grpSp>
      <p:sp>
        <p:nvSpPr>
          <p:cNvPr id="37904" name="Text Box 28"/>
          <p:cNvSpPr txBox="1">
            <a:spLocks noChangeArrowheads="1"/>
          </p:cNvSpPr>
          <p:nvPr/>
        </p:nvSpPr>
        <p:spPr bwMode="auto">
          <a:xfrm>
            <a:off x="4040188" y="1190625"/>
            <a:ext cx="1620837" cy="523875"/>
          </a:xfrm>
          <a:prstGeom prst="rect">
            <a:avLst/>
          </a:prstGeom>
          <a:solidFill>
            <a:schemeClr val="bg1"/>
          </a:solidFill>
          <a:ln w="9525">
            <a:solidFill>
              <a:srgbClr val="000000"/>
            </a:solidFill>
            <a:miter lim="800000"/>
            <a:headEnd/>
            <a:tailEnd/>
          </a:ln>
        </p:spPr>
        <p:txBody>
          <a:bodyPr wrap="none">
            <a:spAutoFit/>
          </a:bodyPr>
          <a:lstStyle/>
          <a:p>
            <a:pPr eaLnBrk="0" hangingPunct="0"/>
            <a:r>
              <a:rPr lang="zh-CN" altLang="en-US" sz="2800" b="1">
                <a:ea typeface="黑体" panose="02010609060101010101" pitchFamily="49" charset="-122"/>
              </a:rPr>
              <a:t>网络边缘</a:t>
            </a:r>
          </a:p>
        </p:txBody>
      </p:sp>
      <p:sp>
        <p:nvSpPr>
          <p:cNvPr id="37905" name="Text Box 29"/>
          <p:cNvSpPr txBox="1">
            <a:spLocks noChangeArrowheads="1"/>
          </p:cNvSpPr>
          <p:nvPr/>
        </p:nvSpPr>
        <p:spPr bwMode="auto">
          <a:xfrm>
            <a:off x="4154488" y="4127500"/>
            <a:ext cx="1620837" cy="523875"/>
          </a:xfrm>
          <a:prstGeom prst="rect">
            <a:avLst/>
          </a:prstGeom>
          <a:solidFill>
            <a:schemeClr val="bg1"/>
          </a:solidFill>
          <a:ln w="9525">
            <a:solidFill>
              <a:srgbClr val="000000"/>
            </a:solidFill>
            <a:miter lim="800000"/>
            <a:headEnd/>
            <a:tailEnd/>
          </a:ln>
        </p:spPr>
        <p:txBody>
          <a:bodyPr wrap="none">
            <a:spAutoFit/>
          </a:bodyPr>
          <a:lstStyle/>
          <a:p>
            <a:pPr eaLnBrk="0" hangingPunct="0"/>
            <a:r>
              <a:rPr lang="zh-CN" altLang="en-US" sz="2800" b="1">
                <a:ea typeface="黑体" panose="02010609060101010101" pitchFamily="49" charset="-122"/>
              </a:rPr>
              <a:t>网络核心</a:t>
            </a:r>
          </a:p>
        </p:txBody>
      </p:sp>
      <p:graphicFrame>
        <p:nvGraphicFramePr>
          <p:cNvPr id="37906" name="Object 30">
            <a:hlinkClick r:id="" action="ppaction://ole?verb=1"/>
          </p:cNvPr>
          <p:cNvGraphicFramePr>
            <a:graphicFrameLocks/>
          </p:cNvGraphicFramePr>
          <p:nvPr/>
        </p:nvGraphicFramePr>
        <p:xfrm>
          <a:off x="7378700" y="3225800"/>
          <a:ext cx="812800" cy="1049338"/>
        </p:xfrm>
        <a:graphic>
          <a:graphicData uri="http://schemas.openxmlformats.org/presentationml/2006/ole">
            <mc:AlternateContent xmlns:mc="http://schemas.openxmlformats.org/markup-compatibility/2006">
              <mc:Choice xmlns:v="urn:schemas-microsoft-com:vml" Requires="v">
                <p:oleObj spid="_x0000_s37946" r:id="rId5" imgW="0" imgH="0" progId="">
                  <p:embed/>
                </p:oleObj>
              </mc:Choice>
              <mc:Fallback>
                <p:oleObj r:id="rId5" imgW="0" imgH="0" progId="">
                  <p:embed/>
                  <p:pic>
                    <p:nvPicPr>
                      <p:cNvPr id="0" name="Object 30"/>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78700" y="3225800"/>
                        <a:ext cx="812800" cy="104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7907" name="Text Box 31"/>
          <p:cNvSpPr txBox="1">
            <a:spLocks noChangeArrowheads="1"/>
          </p:cNvSpPr>
          <p:nvPr/>
        </p:nvSpPr>
        <p:spPr bwMode="auto">
          <a:xfrm>
            <a:off x="7866063" y="981075"/>
            <a:ext cx="1262062"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800" b="1">
                <a:ea typeface="黑体" panose="02010609060101010101" pitchFamily="49" charset="-122"/>
              </a:rPr>
              <a:t>运行</a:t>
            </a:r>
          </a:p>
          <a:p>
            <a:pPr algn="ctr" eaLnBrk="0" hangingPunct="0"/>
            <a:r>
              <a:rPr lang="zh-CN" altLang="en-US" sz="2800" b="1">
                <a:ea typeface="黑体" panose="02010609060101010101" pitchFamily="49" charset="-122"/>
              </a:rPr>
              <a:t>服务器</a:t>
            </a:r>
          </a:p>
          <a:p>
            <a:pPr algn="ctr" eaLnBrk="0" hangingPunct="0"/>
            <a:r>
              <a:rPr lang="zh-CN" altLang="en-US" sz="2800" b="1">
                <a:ea typeface="黑体" panose="02010609060101010101" pitchFamily="49" charset="-122"/>
              </a:rPr>
              <a:t>程序</a:t>
            </a:r>
          </a:p>
        </p:txBody>
      </p:sp>
      <p:sp>
        <p:nvSpPr>
          <p:cNvPr id="37908" name="Line 33"/>
          <p:cNvSpPr>
            <a:spLocks noChangeShapeType="1"/>
          </p:cNvSpPr>
          <p:nvPr/>
        </p:nvSpPr>
        <p:spPr bwMode="auto">
          <a:xfrm>
            <a:off x="1217613" y="2276475"/>
            <a:ext cx="623887" cy="5762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37909" name="Line 34"/>
          <p:cNvSpPr>
            <a:spLocks noChangeShapeType="1"/>
          </p:cNvSpPr>
          <p:nvPr/>
        </p:nvSpPr>
        <p:spPr bwMode="auto">
          <a:xfrm flipH="1">
            <a:off x="7937500" y="2371725"/>
            <a:ext cx="473075" cy="11049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37910" name="Text Box 35"/>
          <p:cNvSpPr txBox="1">
            <a:spLocks noChangeArrowheads="1"/>
          </p:cNvSpPr>
          <p:nvPr/>
        </p:nvSpPr>
        <p:spPr bwMode="auto">
          <a:xfrm>
            <a:off x="1852613" y="2109788"/>
            <a:ext cx="444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ea typeface="黑体" panose="02010609060101010101" pitchFamily="49" charset="-122"/>
              </a:rPr>
              <a:t>A</a:t>
            </a:r>
          </a:p>
        </p:txBody>
      </p:sp>
      <p:sp>
        <p:nvSpPr>
          <p:cNvPr id="37911" name="Text Box 36"/>
          <p:cNvSpPr txBox="1">
            <a:spLocks noChangeArrowheads="1"/>
          </p:cNvSpPr>
          <p:nvPr/>
        </p:nvSpPr>
        <p:spPr bwMode="auto">
          <a:xfrm>
            <a:off x="7493000" y="2770188"/>
            <a:ext cx="444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ea typeface="黑体" panose="02010609060101010101" pitchFamily="49" charset="-122"/>
              </a:rPr>
              <a:t>B</a:t>
            </a:r>
          </a:p>
        </p:txBody>
      </p:sp>
      <p:pic>
        <p:nvPicPr>
          <p:cNvPr id="37912" name="Picture 3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81213" y="4549775"/>
            <a:ext cx="698500"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44108" name="Group 44"/>
          <p:cNvGrpSpPr>
            <a:grpSpLocks/>
          </p:cNvGrpSpPr>
          <p:nvPr/>
        </p:nvGrpSpPr>
        <p:grpSpPr bwMode="auto">
          <a:xfrm>
            <a:off x="2311400" y="2481263"/>
            <a:ext cx="5067300" cy="854075"/>
            <a:chOff x="1157" y="1197"/>
            <a:chExt cx="2947" cy="538"/>
          </a:xfrm>
        </p:grpSpPr>
        <p:sp>
          <p:nvSpPr>
            <p:cNvPr id="37914" name="Freeform 32"/>
            <p:cNvSpPr>
              <a:spLocks noChangeArrowheads="1"/>
            </p:cNvSpPr>
            <p:nvPr/>
          </p:nvSpPr>
          <p:spPr bwMode="auto">
            <a:xfrm>
              <a:off x="1157" y="1319"/>
              <a:ext cx="2947" cy="416"/>
            </a:xfrm>
            <a:custGeom>
              <a:avLst/>
              <a:gdLst>
                <a:gd name="T0" fmla="*/ 0 w 2112"/>
                <a:gd name="T1" fmla="*/ 0 h 192"/>
                <a:gd name="T2" fmla="*/ 2112 w 2112"/>
                <a:gd name="T3" fmla="*/ 192 h 192"/>
              </a:gdLst>
              <a:ahLst/>
              <a:cxnLst>
                <a:cxn ang="0">
                  <a:pos x="T0" y="T1"/>
                </a:cxn>
                <a:cxn ang="0">
                  <a:pos x="T2" y="T3"/>
                </a:cxn>
              </a:cxnLst>
              <a:rect l="0" t="0" r="r" b="b"/>
              <a:pathLst>
                <a:path w="2112" h="192">
                  <a:moveTo>
                    <a:pt x="0" y="0"/>
                  </a:moveTo>
                  <a:lnTo>
                    <a:pt x="2112" y="192"/>
                  </a:lnTo>
                </a:path>
              </a:pathLst>
            </a:custGeom>
            <a:noFill/>
            <a:ln w="57150">
              <a:solidFill>
                <a:srgbClr val="000099">
                  <a:alpha val="79999"/>
                </a:srgbClr>
              </a:solidFill>
              <a:prstDash val="sysDot"/>
              <a:round/>
              <a:headEnd type="none" w="med" len="lg"/>
              <a:tailEnd type="triangle" w="med" len="me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黑体" panose="02010609060101010101" pitchFamily="49" charset="-122"/>
              </a:endParaRPr>
            </a:p>
          </p:txBody>
        </p:sp>
        <p:sp>
          <p:nvSpPr>
            <p:cNvPr id="37915" name="Text Box 39"/>
            <p:cNvSpPr txBox="1">
              <a:spLocks noChangeArrowheads="1"/>
            </p:cNvSpPr>
            <p:nvPr/>
          </p:nvSpPr>
          <p:spPr bwMode="auto">
            <a:xfrm rot="455053">
              <a:off x="2141" y="1197"/>
              <a:ext cx="125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ea typeface="黑体" panose="02010609060101010101" pitchFamily="49" charset="-122"/>
                </a:rPr>
                <a:t>① </a:t>
              </a:r>
              <a:r>
                <a:rPr lang="zh-CN" altLang="en-US" sz="2800" b="1">
                  <a:ea typeface="黑体" panose="02010609060101010101" pitchFamily="49" charset="-122"/>
                </a:rPr>
                <a:t>请求服务</a:t>
              </a:r>
            </a:p>
          </p:txBody>
        </p:sp>
      </p:grpSp>
      <p:grpSp>
        <p:nvGrpSpPr>
          <p:cNvPr id="344109" name="Group 45"/>
          <p:cNvGrpSpPr>
            <a:grpSpLocks/>
          </p:cNvGrpSpPr>
          <p:nvPr/>
        </p:nvGrpSpPr>
        <p:grpSpPr bwMode="auto">
          <a:xfrm>
            <a:off x="2197100" y="2894013"/>
            <a:ext cx="5068888" cy="831850"/>
            <a:chOff x="1091" y="1457"/>
            <a:chExt cx="2947" cy="524"/>
          </a:xfrm>
        </p:grpSpPr>
        <p:sp>
          <p:nvSpPr>
            <p:cNvPr id="37917" name="Freeform 38"/>
            <p:cNvSpPr>
              <a:spLocks noChangeArrowheads="1"/>
            </p:cNvSpPr>
            <p:nvPr/>
          </p:nvSpPr>
          <p:spPr bwMode="auto">
            <a:xfrm rot="10800000">
              <a:off x="1091" y="1457"/>
              <a:ext cx="2947" cy="416"/>
            </a:xfrm>
            <a:custGeom>
              <a:avLst/>
              <a:gdLst>
                <a:gd name="T0" fmla="*/ 0 w 2112"/>
                <a:gd name="T1" fmla="*/ 0 h 192"/>
                <a:gd name="T2" fmla="*/ 2112 w 2112"/>
                <a:gd name="T3" fmla="*/ 192 h 192"/>
              </a:gdLst>
              <a:ahLst/>
              <a:cxnLst>
                <a:cxn ang="0">
                  <a:pos x="T0" y="T1"/>
                </a:cxn>
                <a:cxn ang="0">
                  <a:pos x="T2" y="T3"/>
                </a:cxn>
              </a:cxnLst>
              <a:rect l="0" t="0" r="r" b="b"/>
              <a:pathLst>
                <a:path w="2112" h="192">
                  <a:moveTo>
                    <a:pt x="0" y="0"/>
                  </a:moveTo>
                  <a:lnTo>
                    <a:pt x="2112" y="192"/>
                  </a:lnTo>
                </a:path>
              </a:pathLst>
            </a:custGeom>
            <a:noFill/>
            <a:ln w="57150">
              <a:solidFill>
                <a:srgbClr val="000099">
                  <a:alpha val="79999"/>
                </a:srgbClr>
              </a:solidFill>
              <a:prstDash val="sysDot"/>
              <a:round/>
              <a:headEnd type="none" w="med" len="lg"/>
              <a:tailEnd type="triangle" w="med" len="me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黑体" panose="02010609060101010101" pitchFamily="49" charset="-122"/>
              </a:endParaRPr>
            </a:p>
          </p:txBody>
        </p:sp>
        <p:sp>
          <p:nvSpPr>
            <p:cNvPr id="37918" name="Text Box 40"/>
            <p:cNvSpPr txBox="1">
              <a:spLocks noChangeArrowheads="1"/>
            </p:cNvSpPr>
            <p:nvPr/>
          </p:nvSpPr>
          <p:spPr bwMode="auto">
            <a:xfrm rot="499003">
              <a:off x="2021" y="1651"/>
              <a:ext cx="125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ea typeface="黑体" panose="02010609060101010101" pitchFamily="49" charset="-122"/>
                </a:rPr>
                <a:t>② </a:t>
              </a:r>
              <a:r>
                <a:rPr lang="zh-CN" altLang="en-US" sz="2800" b="1">
                  <a:ea typeface="黑体" panose="02010609060101010101" pitchFamily="49" charset="-122"/>
                </a:rPr>
                <a:t>得到服务</a:t>
              </a:r>
            </a:p>
          </p:txBody>
        </p:sp>
      </p:grpSp>
      <p:sp>
        <p:nvSpPr>
          <p:cNvPr id="37919" name="Text Box 41"/>
          <p:cNvSpPr txBox="1">
            <a:spLocks noChangeArrowheads="1"/>
          </p:cNvSpPr>
          <p:nvPr/>
        </p:nvSpPr>
        <p:spPr bwMode="auto">
          <a:xfrm>
            <a:off x="1506538" y="3214688"/>
            <a:ext cx="9032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ea typeface="黑体" panose="02010609060101010101" pitchFamily="49" charset="-122"/>
              </a:rPr>
              <a:t>客户</a:t>
            </a:r>
          </a:p>
        </p:txBody>
      </p:sp>
      <p:sp>
        <p:nvSpPr>
          <p:cNvPr id="37920" name="Text Box 42"/>
          <p:cNvSpPr txBox="1">
            <a:spLocks noChangeArrowheads="1"/>
          </p:cNvSpPr>
          <p:nvPr/>
        </p:nvSpPr>
        <p:spPr bwMode="auto">
          <a:xfrm>
            <a:off x="7148513" y="4211638"/>
            <a:ext cx="12620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ea typeface="黑体" panose="02010609060101010101" pitchFamily="49" charset="-122"/>
              </a:rPr>
              <a:t>服务器</a:t>
            </a:r>
          </a:p>
        </p:txBody>
      </p:sp>
      <p:sp>
        <p:nvSpPr>
          <p:cNvPr id="37921" name="Text Box 46"/>
          <p:cNvSpPr txBox="1">
            <a:spLocks noChangeArrowheads="1"/>
          </p:cNvSpPr>
          <p:nvPr/>
        </p:nvSpPr>
        <p:spPr bwMode="auto">
          <a:xfrm>
            <a:off x="560388" y="6135688"/>
            <a:ext cx="92154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en-US" sz="2400" b="1">
                <a:solidFill>
                  <a:srgbClr val="000099"/>
                </a:solidFill>
                <a:ea typeface="黑体" panose="02010609060101010101" pitchFamily="49" charset="-122"/>
              </a:rPr>
              <a:t>客户 </a:t>
            </a:r>
            <a:r>
              <a:rPr lang="en-US" altLang="zh-CN" sz="2400" b="1">
                <a:solidFill>
                  <a:srgbClr val="000099"/>
                </a:solidFill>
                <a:ea typeface="黑体" panose="02010609060101010101" pitchFamily="49" charset="-122"/>
              </a:rPr>
              <a:t>A </a:t>
            </a:r>
            <a:r>
              <a:rPr lang="zh-CN" altLang="en-US" sz="2400" b="1">
                <a:solidFill>
                  <a:srgbClr val="000099"/>
                </a:solidFill>
                <a:ea typeface="黑体" panose="02010609060101010101" pitchFamily="49" charset="-122"/>
              </a:rPr>
              <a:t>向服务器 </a:t>
            </a:r>
            <a:r>
              <a:rPr lang="en-US" altLang="zh-CN" sz="2400" b="1">
                <a:solidFill>
                  <a:srgbClr val="000099"/>
                </a:solidFill>
                <a:ea typeface="黑体" panose="02010609060101010101" pitchFamily="49" charset="-122"/>
              </a:rPr>
              <a:t>B </a:t>
            </a:r>
            <a:r>
              <a:rPr lang="zh-CN" altLang="en-US" sz="2400" b="1">
                <a:solidFill>
                  <a:srgbClr val="000099"/>
                </a:solidFill>
                <a:ea typeface="黑体" panose="02010609060101010101" pitchFamily="49" charset="-122"/>
              </a:rPr>
              <a:t>发出请求服务，服务器 </a:t>
            </a:r>
            <a:r>
              <a:rPr lang="en-US" altLang="zh-CN" sz="2400" b="1">
                <a:solidFill>
                  <a:srgbClr val="000099"/>
                </a:solidFill>
                <a:ea typeface="黑体" panose="02010609060101010101" pitchFamily="49" charset="-122"/>
              </a:rPr>
              <a:t>B </a:t>
            </a:r>
            <a:r>
              <a:rPr lang="zh-CN" altLang="en-US" sz="2400" b="1">
                <a:solidFill>
                  <a:srgbClr val="000099"/>
                </a:solidFill>
                <a:ea typeface="黑体" panose="02010609060101010101" pitchFamily="49" charset="-122"/>
              </a:rPr>
              <a:t>向客户 </a:t>
            </a:r>
            <a:r>
              <a:rPr lang="en-US" altLang="zh-CN" sz="2400" b="1">
                <a:solidFill>
                  <a:srgbClr val="000099"/>
                </a:solidFill>
                <a:ea typeface="黑体" panose="02010609060101010101" pitchFamily="49" charset="-122"/>
              </a:rPr>
              <a:t>A </a:t>
            </a:r>
            <a:r>
              <a:rPr lang="zh-CN" altLang="en-US" sz="2400" b="1">
                <a:solidFill>
                  <a:srgbClr val="000099"/>
                </a:solidFill>
                <a:ea typeface="黑体" panose="02010609060101010101" pitchFamily="49" charset="-122"/>
              </a:rPr>
              <a:t>提供服务</a:t>
            </a:r>
          </a:p>
        </p:txBody>
      </p:sp>
      <p:sp>
        <p:nvSpPr>
          <p:cNvPr id="37922" name="矩形 1"/>
          <p:cNvSpPr>
            <a:spLocks noChangeArrowheads="1"/>
          </p:cNvSpPr>
          <p:nvPr/>
        </p:nvSpPr>
        <p:spPr bwMode="auto">
          <a:xfrm>
            <a:off x="2289175" y="260350"/>
            <a:ext cx="4827588" cy="585788"/>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3200" b="1">
                <a:ea typeface="黑体" panose="02010609060101010101" pitchFamily="49" charset="-122"/>
              </a:rPr>
              <a:t>客户</a:t>
            </a:r>
            <a:r>
              <a:rPr lang="en-US" altLang="zh-CN" sz="3200" b="1">
                <a:ea typeface="黑体" panose="02010609060101010101" pitchFamily="49" charset="-122"/>
              </a:rPr>
              <a:t>-</a:t>
            </a:r>
            <a:r>
              <a:rPr lang="zh-CN" altLang="zh-CN" sz="3200" b="1">
                <a:ea typeface="黑体" panose="02010609060101010101" pitchFamily="49" charset="-122"/>
              </a:rPr>
              <a:t>服务器工作方式</a:t>
            </a:r>
            <a:endParaRPr lang="zh-CN" altLang="en-US" sz="3200" b="1">
              <a:ea typeface="黑体" panose="02010609060101010101" pitchFamily="49" charset="-122"/>
            </a:endParaRPr>
          </a:p>
        </p:txBody>
      </p:sp>
      <p:sp>
        <p:nvSpPr>
          <p:cNvPr id="37923" name="灯片编号占位符 4"/>
          <p:cNvSpPr>
            <a:spLocks noGrp="1" noChangeArrowheads="1"/>
          </p:cNvSpPr>
          <p:nvPr>
            <p:ph type="sldNum" sz="quarter" idx="4294967295"/>
          </p:nvPr>
        </p:nvSpPr>
        <p:spPr>
          <a:xfrm>
            <a:off x="7099300" y="6356350"/>
            <a:ext cx="23114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68289050-077B-4AC5-A501-9B4F91F410E0}" type="slidenum">
              <a:rPr lang="zh-CN" altLang="en-US" smtClean="0"/>
              <a:pPr/>
              <a:t>29</a:t>
            </a:fld>
            <a:endParaRPr lang="en-US" altLang="zh-CN" smtClean="0"/>
          </a:p>
        </p:txBody>
      </p:sp>
      <p:sp>
        <p:nvSpPr>
          <p:cNvPr id="37924" name="页脚占位符 5"/>
          <p:cNvSpPr>
            <a:spLocks noGrp="1" noChangeArrowheads="1"/>
          </p:cNvSpPr>
          <p:nvPr>
            <p:ph type="ftr" sz="quarter" idx="4294967295"/>
          </p:nvPr>
        </p:nvSpPr>
        <p:spPr>
          <a:xfrm>
            <a:off x="3384550" y="6356350"/>
            <a:ext cx="31369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44108"/>
                                        </p:tgtEl>
                                        <p:attrNameLst>
                                          <p:attrName>style.visibility</p:attrName>
                                        </p:attrNameLst>
                                      </p:cBhvr>
                                      <p:to>
                                        <p:strVal val="visible"/>
                                      </p:to>
                                    </p:set>
                                    <p:animEffect transition="in" filter="wipe(left)">
                                      <p:cBhvr>
                                        <p:cTn id="7" dur="2000"/>
                                        <p:tgtEl>
                                          <p:spTgt spid="344108"/>
                                        </p:tgtEl>
                                      </p:cBhvr>
                                    </p:animEffect>
                                  </p:childTnLst>
                                </p:cTn>
                              </p:par>
                            </p:childTnLst>
                          </p:cTn>
                        </p:par>
                        <p:par>
                          <p:cTn id="8" fill="hold" nodeType="afterGroup">
                            <p:stCondLst>
                              <p:cond delay="2000"/>
                            </p:stCondLst>
                            <p:childTnLst>
                              <p:par>
                                <p:cTn id="9" presetID="22" presetClass="entr" presetSubtype="2" fill="hold" nodeType="afterEffect">
                                  <p:stCondLst>
                                    <p:cond delay="500"/>
                                  </p:stCondLst>
                                  <p:childTnLst>
                                    <p:set>
                                      <p:cBhvr>
                                        <p:cTn id="10" dur="1" fill="hold">
                                          <p:stCondLst>
                                            <p:cond delay="0"/>
                                          </p:stCondLst>
                                        </p:cTn>
                                        <p:tgtEl>
                                          <p:spTgt spid="344109"/>
                                        </p:tgtEl>
                                        <p:attrNameLst>
                                          <p:attrName>style.visibility</p:attrName>
                                        </p:attrNameLst>
                                      </p:cBhvr>
                                      <p:to>
                                        <p:strVal val="visible"/>
                                      </p:to>
                                    </p:set>
                                    <p:animEffect transition="in" filter="wipe(right)">
                                      <p:cBhvr>
                                        <p:cTn id="11" dur="2000"/>
                                        <p:tgtEl>
                                          <p:spTgt spid="344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客户软件的特点 </a:t>
            </a:r>
          </a:p>
        </p:txBody>
      </p:sp>
      <p:sp>
        <p:nvSpPr>
          <p:cNvPr id="338947" name="Rectangle 3"/>
          <p:cNvSpPr>
            <a:spLocks noGrp="1" noChangeArrowheads="1"/>
          </p:cNvSpPr>
          <p:nvPr>
            <p:ph idx="1"/>
          </p:nvPr>
        </p:nvSpPr>
        <p:spPr>
          <a:xfrm>
            <a:off x="495300" y="1196975"/>
            <a:ext cx="9066213" cy="4933950"/>
          </a:xfrm>
        </p:spPr>
        <p:txBody>
          <a:bodyPr/>
          <a:lstStyle/>
          <a:p>
            <a:r>
              <a:rPr lang="zh-CN" altLang="en-US" smtClean="0">
                <a:solidFill>
                  <a:srgbClr val="FF0000"/>
                </a:solidFill>
                <a:ea typeface="黑体" panose="02010609060101010101" pitchFamily="49" charset="-122"/>
              </a:rPr>
              <a:t>被用户调用后运行，</a:t>
            </a:r>
            <a:r>
              <a:rPr lang="zh-CN" altLang="en-US" smtClean="0">
                <a:ea typeface="黑体" panose="02010609060101010101" pitchFamily="49" charset="-122"/>
              </a:rPr>
              <a:t>在打算通信时主动向远地服务器发起通信（请求服务）。</a:t>
            </a:r>
            <a:r>
              <a:rPr lang="zh-CN" altLang="en-US" smtClean="0">
                <a:solidFill>
                  <a:srgbClr val="0000CC"/>
                </a:solidFill>
                <a:ea typeface="黑体" panose="02010609060101010101" pitchFamily="49" charset="-122"/>
              </a:rPr>
              <a:t>因此，客户程序必须知道服务器程序的地址。</a:t>
            </a:r>
          </a:p>
          <a:p>
            <a:r>
              <a:rPr lang="zh-CN" altLang="en-US" smtClean="0">
                <a:ea typeface="黑体" panose="02010609060101010101" pitchFamily="49" charset="-122"/>
              </a:rPr>
              <a:t>不需要特殊的硬件和很复杂的操作系统。 </a:t>
            </a:r>
          </a:p>
        </p:txBody>
      </p:sp>
      <p:sp>
        <p:nvSpPr>
          <p:cNvPr id="3993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65E25BB-0A0C-47DA-81E0-6FAED371AC43}" type="slidenum">
              <a:rPr lang="zh-CN" altLang="en-US" smtClean="0"/>
              <a:pPr eaLnBrk="1" hangingPunct="1"/>
              <a:t>30</a:t>
            </a:fld>
            <a:endParaRPr lang="en-US" altLang="zh-CN" smtClean="0"/>
          </a:p>
        </p:txBody>
      </p:sp>
      <p:sp>
        <p:nvSpPr>
          <p:cNvPr id="3994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894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894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947"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服务器软件的特点 </a:t>
            </a:r>
          </a:p>
        </p:txBody>
      </p:sp>
      <p:sp>
        <p:nvSpPr>
          <p:cNvPr id="340995"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一种专门用来提供某种服务的程序，可同时处理多个远地或本地客户的请求。</a:t>
            </a:r>
          </a:p>
          <a:p>
            <a:r>
              <a:rPr lang="zh-CN" altLang="en-US" smtClean="0">
                <a:ea typeface="黑体" panose="02010609060101010101" pitchFamily="49" charset="-122"/>
              </a:rPr>
              <a:t>系统启动后即自动调用并</a:t>
            </a:r>
            <a:r>
              <a:rPr lang="zh-CN" altLang="en-US" smtClean="0">
                <a:solidFill>
                  <a:srgbClr val="FF0000"/>
                </a:solidFill>
                <a:ea typeface="黑体" panose="02010609060101010101" pitchFamily="49" charset="-122"/>
              </a:rPr>
              <a:t>一直不断地运行着，被动地等待</a:t>
            </a:r>
            <a:r>
              <a:rPr lang="zh-CN" altLang="en-US" smtClean="0">
                <a:ea typeface="黑体" panose="02010609060101010101" pitchFamily="49" charset="-122"/>
              </a:rPr>
              <a:t>并接受来自各地的客户的通信请求。</a:t>
            </a:r>
            <a:r>
              <a:rPr lang="zh-CN" altLang="en-US" smtClean="0">
                <a:solidFill>
                  <a:srgbClr val="0000CC"/>
                </a:solidFill>
                <a:ea typeface="黑体" panose="02010609060101010101" pitchFamily="49" charset="-122"/>
              </a:rPr>
              <a:t>因此，服务器程序不需要知道客户程序的地址</a:t>
            </a:r>
            <a:r>
              <a:rPr lang="zh-CN" altLang="en-US" smtClean="0">
                <a:ea typeface="黑体" panose="02010609060101010101" pitchFamily="49" charset="-122"/>
              </a:rPr>
              <a:t>。</a:t>
            </a:r>
          </a:p>
          <a:p>
            <a:r>
              <a:rPr lang="zh-CN" altLang="en-US" smtClean="0">
                <a:ea typeface="黑体" panose="02010609060101010101" pitchFamily="49" charset="-122"/>
              </a:rPr>
              <a:t>一般需要强大的硬件和高级的操作系统支持。</a:t>
            </a:r>
          </a:p>
        </p:txBody>
      </p:sp>
      <p:sp>
        <p:nvSpPr>
          <p:cNvPr id="41987" name="矩形 1"/>
          <p:cNvSpPr>
            <a:spLocks noChangeArrowheads="1"/>
          </p:cNvSpPr>
          <p:nvPr/>
        </p:nvSpPr>
        <p:spPr bwMode="auto">
          <a:xfrm>
            <a:off x="631825" y="4797425"/>
            <a:ext cx="8858250" cy="1076325"/>
          </a:xfrm>
          <a:prstGeom prst="rect">
            <a:avLst/>
          </a:prstGeom>
          <a:solidFill>
            <a:srgbClr val="FFFF66"/>
          </a:solidFill>
          <a:ln w="9525">
            <a:solidFill>
              <a:srgbClr val="000099"/>
            </a:solidFill>
            <a:round/>
            <a:headEnd/>
            <a:tailEnd/>
          </a:ln>
        </p:spPr>
        <p:txBody>
          <a:bodyPr>
            <a:spAutoFit/>
          </a:bodyPr>
          <a:lstStyle/>
          <a:p>
            <a:pPr eaLnBrk="0" hangingPunct="0"/>
            <a:r>
              <a:rPr lang="zh-CN" altLang="zh-CN" sz="3200" b="1">
                <a:solidFill>
                  <a:srgbClr val="000099"/>
                </a:solidFill>
                <a:ea typeface="黑体" panose="02010609060101010101" pitchFamily="49" charset="-122"/>
              </a:rPr>
              <a:t>客户与服务器的通信关系建立后，</a:t>
            </a:r>
            <a:r>
              <a:rPr lang="zh-CN" altLang="zh-CN" sz="3200" b="1">
                <a:solidFill>
                  <a:srgbClr val="FF0000"/>
                </a:solidFill>
                <a:ea typeface="黑体" panose="02010609060101010101" pitchFamily="49" charset="-122"/>
              </a:rPr>
              <a:t>通信可以是双向的，</a:t>
            </a:r>
            <a:r>
              <a:rPr lang="zh-CN" altLang="zh-CN" sz="3200" b="1">
                <a:solidFill>
                  <a:srgbClr val="000099"/>
                </a:solidFill>
                <a:ea typeface="黑体" panose="02010609060101010101" pitchFamily="49" charset="-122"/>
              </a:rPr>
              <a:t>客户和服务器都可发送和接收数据。</a:t>
            </a:r>
            <a:endParaRPr lang="zh-CN" altLang="en-US" sz="3200" b="1">
              <a:solidFill>
                <a:srgbClr val="000099"/>
              </a:solidFill>
              <a:ea typeface="黑体" panose="02010609060101010101" pitchFamily="49" charset="-122"/>
            </a:endParaRPr>
          </a:p>
        </p:txBody>
      </p:sp>
      <p:sp>
        <p:nvSpPr>
          <p:cNvPr id="41988"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AA69A25-FE3C-4154-A903-D29BAA231927}" type="slidenum">
              <a:rPr lang="zh-CN" altLang="en-US" smtClean="0"/>
              <a:pPr eaLnBrk="1" hangingPunct="1"/>
              <a:t>31</a:t>
            </a:fld>
            <a:endParaRPr lang="en-US" altLang="zh-CN" smtClean="0"/>
          </a:p>
        </p:txBody>
      </p:sp>
      <p:sp>
        <p:nvSpPr>
          <p:cNvPr id="41989"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09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099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09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0995"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 </a:t>
            </a:r>
            <a:r>
              <a:rPr lang="zh-CN" altLang="en-US" smtClean="0">
                <a:ea typeface="黑体" panose="02010609060101010101" pitchFamily="49" charset="-122"/>
              </a:rPr>
              <a:t>对等连接方式 </a:t>
            </a:r>
          </a:p>
        </p:txBody>
      </p:sp>
      <p:sp>
        <p:nvSpPr>
          <p:cNvPr id="44034" name="Rectangle 3"/>
          <p:cNvSpPr>
            <a:spLocks noGrp="1" noChangeArrowheads="1"/>
          </p:cNvSpPr>
          <p:nvPr>
            <p:ph idx="1"/>
          </p:nvPr>
        </p:nvSpPr>
        <p:spPr>
          <a:xfrm>
            <a:off x="495300" y="1196975"/>
            <a:ext cx="9066213" cy="4933950"/>
          </a:xfrm>
        </p:spPr>
        <p:txBody>
          <a:bodyPr/>
          <a:lstStyle/>
          <a:p>
            <a:r>
              <a:rPr lang="zh-CN" altLang="en-US" smtClean="0">
                <a:solidFill>
                  <a:srgbClr val="FF0000"/>
                </a:solidFill>
                <a:ea typeface="黑体" panose="02010609060101010101" pitchFamily="49" charset="-122"/>
              </a:rPr>
              <a:t>对等连接 </a:t>
            </a:r>
            <a:r>
              <a:rPr lang="en-US" altLang="zh-CN" smtClean="0">
                <a:ea typeface="黑体" panose="02010609060101010101" pitchFamily="49" charset="-122"/>
              </a:rPr>
              <a:t>(peer-to-peer</a:t>
            </a:r>
            <a:r>
              <a:rPr lang="zh-CN" altLang="en-US" smtClean="0">
                <a:ea typeface="黑体" panose="02010609060101010101" pitchFamily="49" charset="-122"/>
              </a:rPr>
              <a:t>，简写为 </a:t>
            </a:r>
            <a:r>
              <a:rPr lang="en-US" altLang="zh-CN" smtClean="0">
                <a:solidFill>
                  <a:srgbClr val="FF0000"/>
                </a:solidFill>
                <a:ea typeface="黑体" panose="02010609060101010101" pitchFamily="49" charset="-122"/>
              </a:rPr>
              <a:t>P2P</a:t>
            </a:r>
            <a:r>
              <a:rPr lang="en-US" altLang="zh-CN" smtClean="0">
                <a:ea typeface="黑体" panose="02010609060101010101" pitchFamily="49" charset="-122"/>
              </a:rPr>
              <a:t>) </a:t>
            </a:r>
            <a:r>
              <a:rPr lang="zh-CN" altLang="en-US" smtClean="0">
                <a:ea typeface="黑体" panose="02010609060101010101" pitchFamily="49" charset="-122"/>
              </a:rPr>
              <a:t>是指两个主机在通信时并不区分哪一个是服务请求方还是服务提供方。</a:t>
            </a:r>
          </a:p>
          <a:p>
            <a:r>
              <a:rPr lang="zh-CN" altLang="en-US" smtClean="0">
                <a:ea typeface="黑体" panose="02010609060101010101" pitchFamily="49" charset="-122"/>
              </a:rPr>
              <a:t>只要两个主机都运行了对等连接软件 </a:t>
            </a:r>
            <a:r>
              <a:rPr lang="en-US" altLang="zh-CN" smtClean="0">
                <a:ea typeface="黑体" panose="02010609060101010101" pitchFamily="49" charset="-122"/>
              </a:rPr>
              <a:t>(P2P </a:t>
            </a:r>
            <a:r>
              <a:rPr lang="zh-CN" altLang="en-US" smtClean="0">
                <a:ea typeface="黑体" panose="02010609060101010101" pitchFamily="49" charset="-122"/>
              </a:rPr>
              <a:t>软件</a:t>
            </a:r>
            <a:r>
              <a:rPr lang="en-US" altLang="zh-CN" smtClean="0">
                <a:ea typeface="黑体" panose="02010609060101010101" pitchFamily="49" charset="-122"/>
              </a:rPr>
              <a:t>) </a:t>
            </a:r>
            <a:r>
              <a:rPr lang="zh-CN" altLang="en-US" smtClean="0">
                <a:ea typeface="黑体" panose="02010609060101010101" pitchFamily="49" charset="-122"/>
              </a:rPr>
              <a:t>，它们就可以进行</a:t>
            </a:r>
            <a:r>
              <a:rPr lang="zh-CN" altLang="en-US" smtClean="0">
                <a:solidFill>
                  <a:srgbClr val="FF0000"/>
                </a:solidFill>
                <a:ea typeface="黑体" panose="02010609060101010101" pitchFamily="49" charset="-122"/>
              </a:rPr>
              <a:t>平等的、对等连接通信。</a:t>
            </a:r>
          </a:p>
          <a:p>
            <a:r>
              <a:rPr lang="zh-CN" altLang="en-US" smtClean="0">
                <a:ea typeface="黑体" panose="02010609060101010101" pitchFamily="49" charset="-122"/>
              </a:rPr>
              <a:t>双方都可以下载对方已经存储在硬盘中的共享文档。 </a:t>
            </a:r>
          </a:p>
        </p:txBody>
      </p:sp>
      <p:sp>
        <p:nvSpPr>
          <p:cNvPr id="4403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6308F3C-916A-4F07-BC9C-834ABEB5D7C3}" type="slidenum">
              <a:rPr lang="zh-CN" altLang="en-US" smtClean="0"/>
              <a:pPr eaLnBrk="1" hangingPunct="1"/>
              <a:t>32</a:t>
            </a:fld>
            <a:endParaRPr lang="en-US" altLang="zh-CN" smtClean="0"/>
          </a:p>
        </p:txBody>
      </p:sp>
      <p:sp>
        <p:nvSpPr>
          <p:cNvPr id="4403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对等连接方式的特点</a:t>
            </a:r>
          </a:p>
        </p:txBody>
      </p:sp>
      <p:sp>
        <p:nvSpPr>
          <p:cNvPr id="46082"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对等连接方式从本质上看仍然是使用客户服务器方式，只是对等连接中的</a:t>
            </a:r>
            <a:r>
              <a:rPr lang="zh-CN" altLang="en-US" smtClean="0">
                <a:solidFill>
                  <a:srgbClr val="FF0000"/>
                </a:solidFill>
                <a:ea typeface="黑体" panose="02010609060101010101" pitchFamily="49" charset="-122"/>
              </a:rPr>
              <a:t>每一个主机既是客户又是服务器</a:t>
            </a:r>
            <a:r>
              <a:rPr lang="zh-CN" altLang="en-US" smtClean="0">
                <a:ea typeface="黑体" panose="02010609060101010101" pitchFamily="49" charset="-122"/>
              </a:rPr>
              <a:t>。</a:t>
            </a:r>
          </a:p>
          <a:p>
            <a:r>
              <a:rPr lang="zh-CN" altLang="en-US" smtClean="0">
                <a:ea typeface="黑体" panose="02010609060101010101" pitchFamily="49" charset="-122"/>
              </a:rPr>
              <a:t>例如主机 </a:t>
            </a:r>
            <a:r>
              <a:rPr lang="en-US" altLang="zh-CN" smtClean="0">
                <a:ea typeface="黑体" panose="02010609060101010101" pitchFamily="49" charset="-122"/>
              </a:rPr>
              <a:t>C </a:t>
            </a:r>
            <a:r>
              <a:rPr lang="zh-CN" altLang="en-US" smtClean="0">
                <a:ea typeface="黑体" panose="02010609060101010101" pitchFamily="49" charset="-122"/>
              </a:rPr>
              <a:t>请求 </a:t>
            </a:r>
            <a:r>
              <a:rPr lang="en-US" altLang="zh-CN" smtClean="0">
                <a:ea typeface="黑体" panose="02010609060101010101" pitchFamily="49" charset="-122"/>
              </a:rPr>
              <a:t>D </a:t>
            </a:r>
            <a:r>
              <a:rPr lang="zh-CN" altLang="en-US" smtClean="0">
                <a:ea typeface="黑体" panose="02010609060101010101" pitchFamily="49" charset="-122"/>
              </a:rPr>
              <a:t>的服务时，</a:t>
            </a:r>
            <a:r>
              <a:rPr lang="en-US" altLang="zh-CN" smtClean="0">
                <a:ea typeface="黑体" panose="02010609060101010101" pitchFamily="49" charset="-122"/>
              </a:rPr>
              <a:t>C </a:t>
            </a:r>
            <a:r>
              <a:rPr lang="zh-CN" altLang="en-US" smtClean="0">
                <a:ea typeface="黑体" panose="02010609060101010101" pitchFamily="49" charset="-122"/>
              </a:rPr>
              <a:t>是客户，</a:t>
            </a:r>
            <a:r>
              <a:rPr lang="en-US" altLang="zh-CN" smtClean="0">
                <a:ea typeface="黑体" panose="02010609060101010101" pitchFamily="49" charset="-122"/>
              </a:rPr>
              <a:t>D </a:t>
            </a:r>
            <a:r>
              <a:rPr lang="zh-CN" altLang="en-US" smtClean="0">
                <a:ea typeface="黑体" panose="02010609060101010101" pitchFamily="49" charset="-122"/>
              </a:rPr>
              <a:t>是服务器。但如果 </a:t>
            </a:r>
            <a:r>
              <a:rPr lang="en-US" altLang="zh-CN" smtClean="0">
                <a:ea typeface="黑体" panose="02010609060101010101" pitchFamily="49" charset="-122"/>
              </a:rPr>
              <a:t>C </a:t>
            </a:r>
            <a:r>
              <a:rPr lang="zh-CN" altLang="en-US" smtClean="0">
                <a:ea typeface="黑体" panose="02010609060101010101" pitchFamily="49" charset="-122"/>
              </a:rPr>
              <a:t>又同时向 </a:t>
            </a:r>
            <a:r>
              <a:rPr lang="en-US" altLang="zh-CN" smtClean="0">
                <a:ea typeface="黑体" panose="02010609060101010101" pitchFamily="49" charset="-122"/>
              </a:rPr>
              <a:t>F</a:t>
            </a:r>
            <a:r>
              <a:rPr lang="zh-CN" altLang="en-US" smtClean="0">
                <a:ea typeface="黑体" panose="02010609060101010101" pitchFamily="49" charset="-122"/>
              </a:rPr>
              <a:t>提供服务，那么 </a:t>
            </a:r>
            <a:r>
              <a:rPr lang="en-US" altLang="zh-CN" smtClean="0">
                <a:ea typeface="黑体" panose="02010609060101010101" pitchFamily="49" charset="-122"/>
              </a:rPr>
              <a:t>C </a:t>
            </a:r>
            <a:r>
              <a:rPr lang="zh-CN" altLang="en-US" smtClean="0">
                <a:ea typeface="黑体" panose="02010609060101010101" pitchFamily="49" charset="-122"/>
              </a:rPr>
              <a:t>又同时起着服务器的作用。</a:t>
            </a:r>
          </a:p>
        </p:txBody>
      </p:sp>
      <p:sp>
        <p:nvSpPr>
          <p:cNvPr id="46083" name="矩形 1"/>
          <p:cNvSpPr>
            <a:spLocks noChangeArrowheads="1"/>
          </p:cNvSpPr>
          <p:nvPr/>
        </p:nvSpPr>
        <p:spPr bwMode="auto">
          <a:xfrm>
            <a:off x="992188" y="4724400"/>
            <a:ext cx="8353425" cy="1077913"/>
          </a:xfrm>
          <a:prstGeom prst="rect">
            <a:avLst/>
          </a:prstGeom>
          <a:solidFill>
            <a:srgbClr val="FFFF66"/>
          </a:solidFill>
          <a:ln w="9525">
            <a:solidFill>
              <a:srgbClr val="000099"/>
            </a:solidFill>
            <a:round/>
            <a:headEnd/>
            <a:tailEnd/>
          </a:ln>
        </p:spPr>
        <p:txBody>
          <a:bodyPr>
            <a:spAutoFit/>
          </a:bodyPr>
          <a:lstStyle/>
          <a:p>
            <a:pPr eaLnBrk="0" hangingPunct="0"/>
            <a:r>
              <a:rPr lang="zh-CN" altLang="zh-CN" sz="3200" b="1">
                <a:solidFill>
                  <a:srgbClr val="000099"/>
                </a:solidFill>
                <a:ea typeface="黑体" panose="02010609060101010101" pitchFamily="49" charset="-122"/>
              </a:rPr>
              <a:t>对等连接工作方式可支持大量对等用户（如上百万个）同时工作。</a:t>
            </a:r>
            <a:endParaRPr lang="zh-CN" altLang="en-US" sz="3200" b="1">
              <a:solidFill>
                <a:srgbClr val="000099"/>
              </a:solidFill>
              <a:ea typeface="黑体" panose="02010609060101010101" pitchFamily="49" charset="-122"/>
            </a:endParaRPr>
          </a:p>
        </p:txBody>
      </p:sp>
      <p:sp>
        <p:nvSpPr>
          <p:cNvPr id="46084"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07956DC-1765-40C6-B422-FE238E6DCF76}" type="slidenum">
              <a:rPr lang="zh-CN" altLang="en-US" smtClean="0"/>
              <a:pPr eaLnBrk="1" hangingPunct="1"/>
              <a:t>33</a:t>
            </a:fld>
            <a:endParaRPr lang="en-US" altLang="zh-CN" smtClean="0"/>
          </a:p>
        </p:txBody>
      </p:sp>
      <p:sp>
        <p:nvSpPr>
          <p:cNvPr id="46085"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Oval 4"/>
          <p:cNvSpPr>
            <a:spLocks noChangeArrowheads="1"/>
          </p:cNvSpPr>
          <p:nvPr/>
        </p:nvSpPr>
        <p:spPr bwMode="auto">
          <a:xfrm>
            <a:off x="1593850" y="1474788"/>
            <a:ext cx="6624638" cy="4402137"/>
          </a:xfrm>
          <a:prstGeom prst="ellipse">
            <a:avLst/>
          </a:prstGeom>
          <a:solidFill>
            <a:srgbClr val="FF99CC"/>
          </a:solidFill>
          <a:ln w="9525">
            <a:solidFill>
              <a:schemeClr val="tx1"/>
            </a:solidFill>
            <a:prstDash val="dash"/>
            <a:round/>
            <a:headEnd/>
            <a:tailEnd/>
          </a:ln>
        </p:spPr>
        <p:txBody>
          <a:bodyPr wrap="none" anchor="ctr"/>
          <a:lstStyle/>
          <a:p>
            <a:pPr eaLnBrk="0" hangingPunct="0"/>
            <a:endParaRPr lang="zh-CN" altLang="en-US" b="1">
              <a:ea typeface="黑体" panose="02010609060101010101" pitchFamily="49" charset="-122"/>
            </a:endParaRPr>
          </a:p>
        </p:txBody>
      </p:sp>
      <p:sp>
        <p:nvSpPr>
          <p:cNvPr id="48130" name="Line 5"/>
          <p:cNvSpPr>
            <a:spLocks noChangeShapeType="1"/>
          </p:cNvSpPr>
          <p:nvPr/>
        </p:nvSpPr>
        <p:spPr bwMode="auto">
          <a:xfrm flipV="1">
            <a:off x="3052763" y="4211638"/>
            <a:ext cx="744537" cy="3825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sp>
        <p:nvSpPr>
          <p:cNvPr id="48131" name="Line 6"/>
          <p:cNvSpPr>
            <a:spLocks noChangeShapeType="1"/>
          </p:cNvSpPr>
          <p:nvPr/>
        </p:nvSpPr>
        <p:spPr bwMode="auto">
          <a:xfrm flipH="1" flipV="1">
            <a:off x="2698750" y="3344863"/>
            <a:ext cx="803275" cy="1825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sp>
        <p:nvSpPr>
          <p:cNvPr id="48132" name="Line 7"/>
          <p:cNvSpPr>
            <a:spLocks noChangeShapeType="1"/>
          </p:cNvSpPr>
          <p:nvPr/>
        </p:nvSpPr>
        <p:spPr bwMode="auto">
          <a:xfrm flipH="1">
            <a:off x="6415088" y="3797300"/>
            <a:ext cx="9556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sp>
        <p:nvSpPr>
          <p:cNvPr id="48133" name="Line 8"/>
          <p:cNvSpPr>
            <a:spLocks noChangeShapeType="1"/>
          </p:cNvSpPr>
          <p:nvPr/>
        </p:nvSpPr>
        <p:spPr bwMode="auto">
          <a:xfrm flipH="1">
            <a:off x="5610225" y="2443163"/>
            <a:ext cx="703263" cy="9017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sp>
        <p:nvSpPr>
          <p:cNvPr id="48134" name="Line 9"/>
          <p:cNvSpPr>
            <a:spLocks noChangeShapeType="1"/>
          </p:cNvSpPr>
          <p:nvPr/>
        </p:nvSpPr>
        <p:spPr bwMode="auto">
          <a:xfrm flipH="1" flipV="1">
            <a:off x="5611813" y="4521200"/>
            <a:ext cx="531812" cy="5730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sp>
        <p:nvSpPr>
          <p:cNvPr id="48135" name="Line 10"/>
          <p:cNvSpPr>
            <a:spLocks noChangeShapeType="1"/>
          </p:cNvSpPr>
          <p:nvPr/>
        </p:nvSpPr>
        <p:spPr bwMode="auto">
          <a:xfrm>
            <a:off x="3802063" y="2533650"/>
            <a:ext cx="450850" cy="6588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sp>
        <p:nvSpPr>
          <p:cNvPr id="48136" name="Line 11"/>
          <p:cNvSpPr>
            <a:spLocks noChangeShapeType="1"/>
          </p:cNvSpPr>
          <p:nvPr/>
        </p:nvSpPr>
        <p:spPr bwMode="auto">
          <a:xfrm flipV="1">
            <a:off x="4103688" y="4430713"/>
            <a:ext cx="203200" cy="6635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pic>
        <p:nvPicPr>
          <p:cNvPr id="48137" name="Picture 1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13450" y="2081213"/>
            <a:ext cx="608013"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8" name="Picture 1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02025" y="2081213"/>
            <a:ext cx="608013"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9" name="Picture 1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13438" y="4972050"/>
            <a:ext cx="608012"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40" name="Picture 1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802063" y="4972050"/>
            <a:ext cx="609600"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41" name="Picture 1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97100" y="2803525"/>
            <a:ext cx="608013"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48177" name="Group 17"/>
          <p:cNvGrpSpPr/>
          <p:nvPr/>
        </p:nvGrpSpPr>
        <p:grpSpPr bwMode="auto">
          <a:xfrm>
            <a:off x="3101087" y="2533997"/>
            <a:ext cx="3823097" cy="2495550"/>
            <a:chOff x="1680" y="240"/>
            <a:chExt cx="2529" cy="1270"/>
          </a:xfrm>
          <a:solidFill>
            <a:schemeClr val="bg1">
              <a:lumMod val="75000"/>
            </a:schemeClr>
          </a:solidFill>
        </p:grpSpPr>
        <p:sp>
          <p:nvSpPr>
            <p:cNvPr id="348178" name="Oval 18"/>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noProof="1">
                <a:latin typeface="+mn-lt"/>
                <a:ea typeface="黑体" panose="02010609060101010101" pitchFamily="2" charset="-122"/>
              </a:endParaRPr>
            </a:p>
          </p:txBody>
        </p:sp>
        <p:sp>
          <p:nvSpPr>
            <p:cNvPr id="348179" name="Oval 19"/>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noProof="1">
                <a:latin typeface="+mn-lt"/>
                <a:ea typeface="黑体" panose="02010609060101010101" pitchFamily="2" charset="-122"/>
              </a:endParaRPr>
            </a:p>
          </p:txBody>
        </p:sp>
        <p:sp>
          <p:nvSpPr>
            <p:cNvPr id="348180" name="Oval 20"/>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noProof="1">
                <a:latin typeface="+mn-lt"/>
                <a:ea typeface="黑体" panose="02010609060101010101" pitchFamily="2" charset="-122"/>
              </a:endParaRPr>
            </a:p>
          </p:txBody>
        </p:sp>
        <p:sp>
          <p:nvSpPr>
            <p:cNvPr id="348181" name="Oval 21"/>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noProof="1">
                <a:latin typeface="+mn-lt"/>
                <a:ea typeface="黑体" panose="02010609060101010101" pitchFamily="2" charset="-122"/>
              </a:endParaRPr>
            </a:p>
          </p:txBody>
        </p:sp>
        <p:sp>
          <p:nvSpPr>
            <p:cNvPr id="348182" name="Oval 22"/>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noProof="1">
                <a:latin typeface="+mn-lt"/>
                <a:ea typeface="黑体" panose="02010609060101010101" pitchFamily="2" charset="-122"/>
              </a:endParaRPr>
            </a:p>
          </p:txBody>
        </p:sp>
        <p:sp>
          <p:nvSpPr>
            <p:cNvPr id="348183" name="Oval 23"/>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noProof="1">
                <a:latin typeface="+mn-lt"/>
                <a:ea typeface="黑体" panose="02010609060101010101" pitchFamily="2" charset="-122"/>
              </a:endParaRPr>
            </a:p>
          </p:txBody>
        </p:sp>
        <p:sp>
          <p:nvSpPr>
            <p:cNvPr id="348184" name="Oval 24"/>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noProof="1">
                <a:latin typeface="+mn-lt"/>
                <a:ea typeface="黑体" panose="02010609060101010101" pitchFamily="2" charset="-122"/>
              </a:endParaRPr>
            </a:p>
          </p:txBody>
        </p:sp>
        <p:sp>
          <p:nvSpPr>
            <p:cNvPr id="348185" name="Oval 25"/>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noProof="1">
                <a:latin typeface="+mn-lt"/>
                <a:ea typeface="黑体" panose="02010609060101010101" pitchFamily="2" charset="-122"/>
              </a:endParaRPr>
            </a:p>
          </p:txBody>
        </p:sp>
        <p:sp>
          <p:nvSpPr>
            <p:cNvPr id="348186" name="Oval 26"/>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noProof="1">
                <a:latin typeface="+mn-lt"/>
                <a:ea typeface="黑体" panose="02010609060101010101" pitchFamily="2" charset="-122"/>
              </a:endParaRPr>
            </a:p>
          </p:txBody>
        </p:sp>
      </p:grpSp>
      <p:sp>
        <p:nvSpPr>
          <p:cNvPr id="48143" name="Text Box 27"/>
          <p:cNvSpPr txBox="1">
            <a:spLocks noChangeArrowheads="1"/>
          </p:cNvSpPr>
          <p:nvPr/>
        </p:nvSpPr>
        <p:spPr bwMode="auto">
          <a:xfrm>
            <a:off x="4146550" y="1819275"/>
            <a:ext cx="1620838" cy="523875"/>
          </a:xfrm>
          <a:prstGeom prst="rect">
            <a:avLst/>
          </a:prstGeom>
          <a:solidFill>
            <a:schemeClr val="bg1"/>
          </a:solidFill>
          <a:ln w="9525">
            <a:solidFill>
              <a:srgbClr val="000000"/>
            </a:solidFill>
            <a:miter lim="800000"/>
            <a:headEnd/>
            <a:tailEnd/>
          </a:ln>
        </p:spPr>
        <p:txBody>
          <a:bodyPr wrap="none">
            <a:spAutoFit/>
          </a:bodyPr>
          <a:lstStyle/>
          <a:p>
            <a:pPr eaLnBrk="0" hangingPunct="0"/>
            <a:r>
              <a:rPr lang="zh-CN" altLang="en-US" sz="2800" b="1">
                <a:ea typeface="黑体" panose="02010609060101010101" pitchFamily="49" charset="-122"/>
              </a:rPr>
              <a:t>网络边缘</a:t>
            </a:r>
          </a:p>
        </p:txBody>
      </p:sp>
      <p:sp>
        <p:nvSpPr>
          <p:cNvPr id="48144" name="Text Box 28"/>
          <p:cNvSpPr txBox="1">
            <a:spLocks noChangeArrowheads="1"/>
          </p:cNvSpPr>
          <p:nvPr/>
        </p:nvSpPr>
        <p:spPr bwMode="auto">
          <a:xfrm>
            <a:off x="4146550" y="3979863"/>
            <a:ext cx="1620838" cy="523875"/>
          </a:xfrm>
          <a:prstGeom prst="rect">
            <a:avLst/>
          </a:prstGeom>
          <a:solidFill>
            <a:schemeClr val="bg1"/>
          </a:solidFill>
          <a:ln w="9525">
            <a:solidFill>
              <a:srgbClr val="000000"/>
            </a:solidFill>
            <a:miter lim="800000"/>
            <a:headEnd/>
            <a:tailEnd/>
          </a:ln>
        </p:spPr>
        <p:txBody>
          <a:bodyPr wrap="none">
            <a:spAutoFit/>
          </a:bodyPr>
          <a:lstStyle/>
          <a:p>
            <a:pPr eaLnBrk="0" hangingPunct="0"/>
            <a:r>
              <a:rPr lang="zh-CN" altLang="en-US" sz="2800" b="1">
                <a:ea typeface="黑体" panose="02010609060101010101" pitchFamily="49" charset="-122"/>
              </a:rPr>
              <a:t>网络核心</a:t>
            </a:r>
          </a:p>
        </p:txBody>
      </p:sp>
      <p:graphicFrame>
        <p:nvGraphicFramePr>
          <p:cNvPr id="48145" name="Object 29">
            <a:hlinkClick r:id="" action="ppaction://ole?verb=1"/>
          </p:cNvPr>
          <p:cNvGraphicFramePr>
            <a:graphicFrameLocks/>
          </p:cNvGraphicFramePr>
          <p:nvPr/>
        </p:nvGraphicFramePr>
        <p:xfrm>
          <a:off x="7216775" y="3348038"/>
          <a:ext cx="708025" cy="857250"/>
        </p:xfrm>
        <a:graphic>
          <a:graphicData uri="http://schemas.openxmlformats.org/presentationml/2006/ole">
            <mc:AlternateContent xmlns:mc="http://schemas.openxmlformats.org/markup-compatibility/2006">
              <mc:Choice xmlns:v="urn:schemas-microsoft-com:vml" Requires="v">
                <p:oleObj spid="_x0000_s48186" r:id="rId5" imgW="0" imgH="0" progId="">
                  <p:embed/>
                </p:oleObj>
              </mc:Choice>
              <mc:Fallback>
                <p:oleObj r:id="rId5" imgW="0" imgH="0" progId="">
                  <p:embed/>
                  <p:pic>
                    <p:nvPicPr>
                      <p:cNvPr id="0" name="Object 2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16775" y="3348038"/>
                        <a:ext cx="708025"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8146" name="Text Box 30"/>
          <p:cNvSpPr txBox="1">
            <a:spLocks noChangeArrowheads="1"/>
          </p:cNvSpPr>
          <p:nvPr/>
        </p:nvSpPr>
        <p:spPr bwMode="auto">
          <a:xfrm>
            <a:off x="7556500" y="1474788"/>
            <a:ext cx="1674813"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800" b="1">
                <a:ea typeface="黑体" panose="02010609060101010101" pitchFamily="49" charset="-122"/>
              </a:rPr>
              <a:t>运行</a:t>
            </a:r>
          </a:p>
          <a:p>
            <a:pPr algn="ctr" eaLnBrk="0" hangingPunct="0"/>
            <a:r>
              <a:rPr lang="en-US" altLang="zh-CN" sz="2800" b="1">
                <a:ea typeface="黑体" panose="02010609060101010101" pitchFamily="49" charset="-122"/>
              </a:rPr>
              <a:t>P2P </a:t>
            </a:r>
            <a:r>
              <a:rPr lang="zh-CN" altLang="en-US" sz="2800" b="1">
                <a:ea typeface="黑体" panose="02010609060101010101" pitchFamily="49" charset="-122"/>
              </a:rPr>
              <a:t>程序</a:t>
            </a:r>
          </a:p>
        </p:txBody>
      </p:sp>
      <p:sp>
        <p:nvSpPr>
          <p:cNvPr id="48147" name="Text Box 31"/>
          <p:cNvSpPr txBox="1">
            <a:spLocks noChangeArrowheads="1"/>
          </p:cNvSpPr>
          <p:nvPr/>
        </p:nvSpPr>
        <p:spPr bwMode="auto">
          <a:xfrm>
            <a:off x="8104188" y="4802188"/>
            <a:ext cx="1673225"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800" b="1">
                <a:ea typeface="黑体" panose="02010609060101010101" pitchFamily="49" charset="-122"/>
              </a:rPr>
              <a:t>运行</a:t>
            </a:r>
          </a:p>
          <a:p>
            <a:pPr algn="ctr" eaLnBrk="0" hangingPunct="0"/>
            <a:r>
              <a:rPr lang="en-US" altLang="zh-CN" sz="2800" b="1">
                <a:ea typeface="黑体" panose="02010609060101010101" pitchFamily="49" charset="-122"/>
              </a:rPr>
              <a:t>P2P </a:t>
            </a:r>
            <a:r>
              <a:rPr lang="zh-CN" altLang="en-US" sz="2800" b="1">
                <a:ea typeface="黑体" panose="02010609060101010101" pitchFamily="49" charset="-122"/>
              </a:rPr>
              <a:t>程序</a:t>
            </a:r>
          </a:p>
        </p:txBody>
      </p:sp>
      <p:sp>
        <p:nvSpPr>
          <p:cNvPr id="348192" name="Line 32"/>
          <p:cNvSpPr>
            <a:spLocks noChangeShapeType="1"/>
          </p:cNvSpPr>
          <p:nvPr/>
        </p:nvSpPr>
        <p:spPr bwMode="auto">
          <a:xfrm flipH="1">
            <a:off x="6211888" y="2262188"/>
            <a:ext cx="101600" cy="2981325"/>
          </a:xfrm>
          <a:prstGeom prst="line">
            <a:avLst/>
          </a:prstGeom>
          <a:noFill/>
          <a:ln w="76200">
            <a:solidFill>
              <a:srgbClr val="000099">
                <a:alpha val="79999"/>
              </a:srgbClr>
            </a:solidFill>
            <a:prstDash val="dash"/>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48149" name="Line 33"/>
          <p:cNvSpPr>
            <a:spLocks noChangeShapeType="1"/>
          </p:cNvSpPr>
          <p:nvPr/>
        </p:nvSpPr>
        <p:spPr bwMode="auto">
          <a:xfrm flipH="1">
            <a:off x="6513513" y="1990725"/>
            <a:ext cx="904875" cy="2714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48150" name="Line 34"/>
          <p:cNvSpPr>
            <a:spLocks noChangeShapeType="1"/>
          </p:cNvSpPr>
          <p:nvPr/>
        </p:nvSpPr>
        <p:spPr bwMode="auto">
          <a:xfrm flipH="1" flipV="1">
            <a:off x="6413500" y="5154613"/>
            <a:ext cx="2024063" cy="746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48151" name="Text Box 35"/>
          <p:cNvSpPr txBox="1">
            <a:spLocks noChangeArrowheads="1"/>
          </p:cNvSpPr>
          <p:nvPr/>
        </p:nvSpPr>
        <p:spPr bwMode="auto">
          <a:xfrm>
            <a:off x="5607050" y="4822825"/>
            <a:ext cx="444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ea typeface="黑体" panose="02010609060101010101" pitchFamily="49" charset="-122"/>
              </a:rPr>
              <a:t>D</a:t>
            </a:r>
          </a:p>
        </p:txBody>
      </p:sp>
      <p:sp>
        <p:nvSpPr>
          <p:cNvPr id="48152" name="Text Box 36"/>
          <p:cNvSpPr txBox="1">
            <a:spLocks noChangeArrowheads="1"/>
          </p:cNvSpPr>
          <p:nvPr/>
        </p:nvSpPr>
        <p:spPr bwMode="auto">
          <a:xfrm>
            <a:off x="6013450" y="1598613"/>
            <a:ext cx="4429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ea typeface="黑体" panose="02010609060101010101" pitchFamily="49" charset="-122"/>
              </a:rPr>
              <a:t>C</a:t>
            </a:r>
          </a:p>
        </p:txBody>
      </p:sp>
      <p:pic>
        <p:nvPicPr>
          <p:cNvPr id="48153" name="Picture 3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597150" y="4430713"/>
            <a:ext cx="609600"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198" name="Line 38"/>
          <p:cNvSpPr>
            <a:spLocks noChangeShapeType="1"/>
          </p:cNvSpPr>
          <p:nvPr/>
        </p:nvSpPr>
        <p:spPr bwMode="auto">
          <a:xfrm flipH="1">
            <a:off x="2898775" y="2262188"/>
            <a:ext cx="903288" cy="2439987"/>
          </a:xfrm>
          <a:prstGeom prst="line">
            <a:avLst/>
          </a:prstGeom>
          <a:noFill/>
          <a:ln w="76200">
            <a:solidFill>
              <a:srgbClr val="000099">
                <a:alpha val="79999"/>
              </a:srgbClr>
            </a:solidFill>
            <a:prstDash val="dash"/>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48155" name="Text Box 39"/>
          <p:cNvSpPr txBox="1">
            <a:spLocks noChangeArrowheads="1"/>
          </p:cNvSpPr>
          <p:nvPr/>
        </p:nvSpPr>
        <p:spPr bwMode="auto">
          <a:xfrm>
            <a:off x="3573463" y="1568450"/>
            <a:ext cx="4238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ea typeface="黑体" panose="02010609060101010101" pitchFamily="49" charset="-122"/>
              </a:rPr>
              <a:t>E</a:t>
            </a:r>
          </a:p>
        </p:txBody>
      </p:sp>
      <p:sp>
        <p:nvSpPr>
          <p:cNvPr id="48156" name="Text Box 40"/>
          <p:cNvSpPr txBox="1">
            <a:spLocks noChangeArrowheads="1"/>
          </p:cNvSpPr>
          <p:nvPr/>
        </p:nvSpPr>
        <p:spPr bwMode="auto">
          <a:xfrm>
            <a:off x="2238375" y="4189413"/>
            <a:ext cx="4032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ea typeface="黑体" panose="02010609060101010101" pitchFamily="49" charset="-122"/>
              </a:rPr>
              <a:t>F</a:t>
            </a:r>
          </a:p>
        </p:txBody>
      </p:sp>
      <p:sp>
        <p:nvSpPr>
          <p:cNvPr id="48157" name="Text Box 41"/>
          <p:cNvSpPr txBox="1">
            <a:spLocks noChangeArrowheads="1"/>
          </p:cNvSpPr>
          <p:nvPr/>
        </p:nvSpPr>
        <p:spPr bwMode="auto">
          <a:xfrm>
            <a:off x="468313" y="1547813"/>
            <a:ext cx="1673225"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800" b="1">
                <a:ea typeface="黑体" panose="02010609060101010101" pitchFamily="49" charset="-122"/>
              </a:rPr>
              <a:t>运行</a:t>
            </a:r>
          </a:p>
          <a:p>
            <a:pPr algn="ctr" eaLnBrk="0" hangingPunct="0"/>
            <a:r>
              <a:rPr lang="en-US" altLang="zh-CN" sz="2800" b="1">
                <a:ea typeface="黑体" panose="02010609060101010101" pitchFamily="49" charset="-122"/>
              </a:rPr>
              <a:t>P2P </a:t>
            </a:r>
            <a:r>
              <a:rPr lang="zh-CN" altLang="en-US" sz="2800" b="1">
                <a:ea typeface="黑体" panose="02010609060101010101" pitchFamily="49" charset="-122"/>
              </a:rPr>
              <a:t>程序</a:t>
            </a:r>
          </a:p>
        </p:txBody>
      </p:sp>
      <p:sp>
        <p:nvSpPr>
          <p:cNvPr id="48158" name="Text Box 42"/>
          <p:cNvSpPr txBox="1">
            <a:spLocks noChangeArrowheads="1"/>
          </p:cNvSpPr>
          <p:nvPr/>
        </p:nvSpPr>
        <p:spPr bwMode="auto">
          <a:xfrm>
            <a:off x="692150" y="4857750"/>
            <a:ext cx="1673225"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800" b="1">
                <a:ea typeface="黑体" panose="02010609060101010101" pitchFamily="49" charset="-122"/>
              </a:rPr>
              <a:t>运行</a:t>
            </a:r>
          </a:p>
          <a:p>
            <a:pPr algn="ctr" eaLnBrk="0" hangingPunct="0"/>
            <a:r>
              <a:rPr lang="en-US" altLang="zh-CN" sz="2800" b="1">
                <a:ea typeface="黑体" panose="02010609060101010101" pitchFamily="49" charset="-122"/>
              </a:rPr>
              <a:t>P2P </a:t>
            </a:r>
            <a:r>
              <a:rPr lang="zh-CN" altLang="en-US" sz="2800" b="1">
                <a:ea typeface="黑体" panose="02010609060101010101" pitchFamily="49" charset="-122"/>
              </a:rPr>
              <a:t>程序</a:t>
            </a:r>
          </a:p>
        </p:txBody>
      </p:sp>
      <p:sp>
        <p:nvSpPr>
          <p:cNvPr id="48159" name="Line 43"/>
          <p:cNvSpPr>
            <a:spLocks noChangeShapeType="1"/>
          </p:cNvSpPr>
          <p:nvPr/>
        </p:nvSpPr>
        <p:spPr bwMode="auto">
          <a:xfrm>
            <a:off x="1728788" y="1987550"/>
            <a:ext cx="1873250" cy="2746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48160" name="Line 44"/>
          <p:cNvSpPr>
            <a:spLocks noChangeShapeType="1"/>
          </p:cNvSpPr>
          <p:nvPr/>
        </p:nvSpPr>
        <p:spPr bwMode="auto">
          <a:xfrm flipV="1">
            <a:off x="2097088" y="4972050"/>
            <a:ext cx="601662" cy="1825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348205" name="Line 45"/>
          <p:cNvSpPr>
            <a:spLocks noChangeShapeType="1"/>
          </p:cNvSpPr>
          <p:nvPr/>
        </p:nvSpPr>
        <p:spPr bwMode="auto">
          <a:xfrm flipH="1">
            <a:off x="3198813" y="2262188"/>
            <a:ext cx="3013075" cy="2528887"/>
          </a:xfrm>
          <a:prstGeom prst="line">
            <a:avLst/>
          </a:prstGeom>
          <a:noFill/>
          <a:ln w="76200">
            <a:solidFill>
              <a:srgbClr val="000099">
                <a:alpha val="79999"/>
              </a:srgbClr>
            </a:solidFill>
            <a:prstDash val="dash"/>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48162" name="矩形 1"/>
          <p:cNvSpPr>
            <a:spLocks noChangeArrowheads="1"/>
          </p:cNvSpPr>
          <p:nvPr/>
        </p:nvSpPr>
        <p:spPr bwMode="auto">
          <a:xfrm>
            <a:off x="1928813" y="303213"/>
            <a:ext cx="6289675" cy="584200"/>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3200" b="1">
                <a:ea typeface="黑体" panose="02010609060101010101" pitchFamily="49" charset="-122"/>
              </a:rPr>
              <a:t>对等连接工作方式（</a:t>
            </a:r>
            <a:r>
              <a:rPr lang="en-US" altLang="zh-CN" sz="3200" b="1">
                <a:ea typeface="黑体" panose="02010609060101010101" pitchFamily="49" charset="-122"/>
              </a:rPr>
              <a:t>P2P</a:t>
            </a:r>
            <a:r>
              <a:rPr lang="zh-CN" altLang="zh-CN" sz="3200" b="1">
                <a:ea typeface="黑体" panose="02010609060101010101" pitchFamily="49" charset="-122"/>
              </a:rPr>
              <a:t>方式）</a:t>
            </a:r>
            <a:endParaRPr lang="zh-CN" altLang="en-US" sz="3200" b="1">
              <a:ea typeface="黑体" panose="02010609060101010101" pitchFamily="49" charset="-122"/>
            </a:endParaRPr>
          </a:p>
        </p:txBody>
      </p:sp>
      <p:sp>
        <p:nvSpPr>
          <p:cNvPr id="48163" name="灯片编号占位符 4"/>
          <p:cNvSpPr>
            <a:spLocks noGrp="1" noChangeArrowheads="1"/>
          </p:cNvSpPr>
          <p:nvPr>
            <p:ph type="sldNum" sz="quarter" idx="4294967295"/>
          </p:nvPr>
        </p:nvSpPr>
        <p:spPr>
          <a:xfrm>
            <a:off x="7099300" y="6356350"/>
            <a:ext cx="23114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56A4703E-DD52-49AB-97EB-CC1424BB8A9D}" type="slidenum">
              <a:rPr lang="zh-CN" altLang="en-US" smtClean="0"/>
              <a:pPr/>
              <a:t>34</a:t>
            </a:fld>
            <a:endParaRPr lang="en-US" altLang="zh-CN" smtClean="0"/>
          </a:p>
        </p:txBody>
      </p:sp>
      <p:sp>
        <p:nvSpPr>
          <p:cNvPr id="48164" name="页脚占位符 5"/>
          <p:cNvSpPr>
            <a:spLocks noGrp="1" noChangeArrowheads="1"/>
          </p:cNvSpPr>
          <p:nvPr>
            <p:ph type="ftr" sz="quarter" idx="4294967295"/>
          </p:nvPr>
        </p:nvSpPr>
        <p:spPr>
          <a:xfrm>
            <a:off x="3384550" y="6356350"/>
            <a:ext cx="31369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48192"/>
                                        </p:tgtEl>
                                        <p:attrNameLst>
                                          <p:attrName>style.visibility</p:attrName>
                                        </p:attrNameLst>
                                      </p:cBhvr>
                                      <p:to>
                                        <p:strVal val="visible"/>
                                      </p:to>
                                    </p:set>
                                    <p:animEffect transition="in" filter="wipe(up)">
                                      <p:cBhvr>
                                        <p:cTn id="7" dur="1000"/>
                                        <p:tgtEl>
                                          <p:spTgt spid="348192"/>
                                        </p:tgtEl>
                                      </p:cBhvr>
                                    </p:animEffect>
                                  </p:childTnLst>
                                </p:cTn>
                              </p:par>
                            </p:childTnLst>
                          </p:cTn>
                        </p:par>
                        <p:par>
                          <p:cTn id="8" fill="hold" nodeType="afterGroup">
                            <p:stCondLst>
                              <p:cond delay="1000"/>
                            </p:stCondLst>
                            <p:childTnLst>
                              <p:par>
                                <p:cTn id="9" presetID="22" presetClass="entr" presetSubtype="1" fill="hold" grpId="0" nodeType="afterEffect">
                                  <p:stCondLst>
                                    <p:cond delay="500"/>
                                  </p:stCondLst>
                                  <p:childTnLst>
                                    <p:set>
                                      <p:cBhvr>
                                        <p:cTn id="10" dur="1" fill="hold">
                                          <p:stCondLst>
                                            <p:cond delay="0"/>
                                          </p:stCondLst>
                                        </p:cTn>
                                        <p:tgtEl>
                                          <p:spTgt spid="348205"/>
                                        </p:tgtEl>
                                        <p:attrNameLst>
                                          <p:attrName>style.visibility</p:attrName>
                                        </p:attrNameLst>
                                      </p:cBhvr>
                                      <p:to>
                                        <p:strVal val="visible"/>
                                      </p:to>
                                    </p:set>
                                    <p:animEffect transition="in" filter="wipe(up)">
                                      <p:cBhvr>
                                        <p:cTn id="11" dur="1000"/>
                                        <p:tgtEl>
                                          <p:spTgt spid="348205"/>
                                        </p:tgtEl>
                                      </p:cBhvr>
                                    </p:animEffect>
                                  </p:childTnLst>
                                </p:cTn>
                              </p:par>
                            </p:childTnLst>
                          </p:cTn>
                        </p:par>
                        <p:par>
                          <p:cTn id="12" fill="hold" nodeType="afterGroup">
                            <p:stCondLst>
                              <p:cond delay="2500"/>
                            </p:stCondLst>
                            <p:childTnLst>
                              <p:par>
                                <p:cTn id="13" presetID="22" presetClass="entr" presetSubtype="4" fill="hold" grpId="0" nodeType="afterEffect">
                                  <p:stCondLst>
                                    <p:cond delay="500"/>
                                  </p:stCondLst>
                                  <p:childTnLst>
                                    <p:set>
                                      <p:cBhvr>
                                        <p:cTn id="14" dur="1" fill="hold">
                                          <p:stCondLst>
                                            <p:cond delay="0"/>
                                          </p:stCondLst>
                                        </p:cTn>
                                        <p:tgtEl>
                                          <p:spTgt spid="348198"/>
                                        </p:tgtEl>
                                        <p:attrNameLst>
                                          <p:attrName>style.visibility</p:attrName>
                                        </p:attrNameLst>
                                      </p:cBhvr>
                                      <p:to>
                                        <p:strVal val="visible"/>
                                      </p:to>
                                    </p:set>
                                    <p:animEffect transition="in" filter="wipe(down)">
                                      <p:cBhvr>
                                        <p:cTn id="15" dur="1000"/>
                                        <p:tgtEl>
                                          <p:spTgt spid="3481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2" grpId="0" animBg="1"/>
      <p:bldP spid="348198" grpId="0" animBg="1"/>
      <p:bldP spid="34820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1.3.2  </a:t>
            </a:r>
            <a:r>
              <a:rPr lang="zh-CN" altLang="en-US" smtClean="0">
                <a:ea typeface="黑体" panose="02010609060101010101" pitchFamily="49" charset="-122"/>
              </a:rPr>
              <a:t>互联网的核心部分</a:t>
            </a:r>
          </a:p>
        </p:txBody>
      </p:sp>
      <p:sp>
        <p:nvSpPr>
          <p:cNvPr id="50178"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网络核心部分是互联网中最复杂的部分。</a:t>
            </a:r>
          </a:p>
          <a:p>
            <a:r>
              <a:rPr lang="zh-CN" altLang="en-US" smtClean="0">
                <a:ea typeface="黑体" panose="02010609060101010101" pitchFamily="49" charset="-122"/>
              </a:rPr>
              <a:t>网络中的核心部分要向网络边缘中的大量主机提供连通性，使边缘部分中的任何一个主机都能够向其他主机通信（即传送或接收各种形式的数据）。</a:t>
            </a:r>
          </a:p>
          <a:p>
            <a:r>
              <a:rPr lang="zh-CN" altLang="en-US" smtClean="0">
                <a:ea typeface="黑体" panose="02010609060101010101" pitchFamily="49" charset="-122"/>
              </a:rPr>
              <a:t>在网络核心部分起特殊作用的是</a:t>
            </a:r>
            <a:r>
              <a:rPr lang="zh-CN" altLang="en-US" smtClean="0">
                <a:solidFill>
                  <a:srgbClr val="FF0000"/>
                </a:solidFill>
                <a:ea typeface="黑体" panose="02010609060101010101" pitchFamily="49" charset="-122"/>
              </a:rPr>
              <a:t>路由器 </a:t>
            </a:r>
            <a:r>
              <a:rPr lang="en-US" altLang="zh-CN" smtClean="0">
                <a:ea typeface="黑体" panose="02010609060101010101" pitchFamily="49" charset="-122"/>
              </a:rPr>
              <a:t>(router)</a:t>
            </a:r>
            <a:r>
              <a:rPr lang="zh-CN" altLang="en-US" smtClean="0">
                <a:ea typeface="黑体" panose="02010609060101010101" pitchFamily="49" charset="-122"/>
              </a:rPr>
              <a:t>。 </a:t>
            </a:r>
          </a:p>
        </p:txBody>
      </p:sp>
      <p:sp>
        <p:nvSpPr>
          <p:cNvPr id="5017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9094E22-50AD-4E21-9E86-DBA22DE79E2A}" type="slidenum">
              <a:rPr lang="zh-CN" altLang="en-US" smtClean="0"/>
              <a:pPr eaLnBrk="1" hangingPunct="1"/>
              <a:t>35</a:t>
            </a:fld>
            <a:endParaRPr lang="en-US" altLang="zh-CN" smtClean="0"/>
          </a:p>
        </p:txBody>
      </p:sp>
      <p:sp>
        <p:nvSpPr>
          <p:cNvPr id="5018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1.3.2  </a:t>
            </a:r>
            <a:r>
              <a:rPr lang="zh-CN" altLang="en-US" smtClean="0">
                <a:ea typeface="黑体" panose="02010609060101010101" pitchFamily="49" charset="-122"/>
              </a:rPr>
              <a:t>互联网的核心部分</a:t>
            </a:r>
          </a:p>
        </p:txBody>
      </p:sp>
      <p:sp>
        <p:nvSpPr>
          <p:cNvPr id="52226"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路由器是实现</a:t>
            </a:r>
            <a:r>
              <a:rPr lang="zh-CN" altLang="en-US" smtClean="0">
                <a:solidFill>
                  <a:srgbClr val="FF0000"/>
                </a:solidFill>
                <a:ea typeface="黑体" panose="02010609060101010101" pitchFamily="49" charset="-122"/>
              </a:rPr>
              <a:t>分组交换 </a:t>
            </a:r>
            <a:r>
              <a:rPr lang="en-US" altLang="zh-CN" smtClean="0">
                <a:ea typeface="黑体" panose="02010609060101010101" pitchFamily="49" charset="-122"/>
              </a:rPr>
              <a:t>(packet switching) </a:t>
            </a:r>
            <a:r>
              <a:rPr lang="zh-CN" altLang="en-US" smtClean="0">
                <a:ea typeface="黑体" panose="02010609060101010101" pitchFamily="49" charset="-122"/>
              </a:rPr>
              <a:t>的关键构件，其任务是</a:t>
            </a:r>
            <a:r>
              <a:rPr lang="zh-CN" altLang="en-US" smtClean="0">
                <a:solidFill>
                  <a:srgbClr val="FF0000"/>
                </a:solidFill>
                <a:ea typeface="黑体" panose="02010609060101010101" pitchFamily="49" charset="-122"/>
              </a:rPr>
              <a:t>转发</a:t>
            </a:r>
            <a:r>
              <a:rPr lang="zh-CN" altLang="en-US" smtClean="0">
                <a:ea typeface="黑体" panose="02010609060101010101" pitchFamily="49" charset="-122"/>
              </a:rPr>
              <a:t>收到的分组，这是网络核心部分最重要的功能。</a:t>
            </a:r>
            <a:endParaRPr lang="en-US" altLang="zh-CN" smtClean="0">
              <a:ea typeface="黑体" panose="02010609060101010101" pitchFamily="49" charset="-122"/>
            </a:endParaRPr>
          </a:p>
          <a:p>
            <a:r>
              <a:rPr lang="zh-CN" altLang="en-US" smtClean="0">
                <a:ea typeface="黑体" panose="02010609060101010101" pitchFamily="49" charset="-122"/>
              </a:rPr>
              <a:t>为了理解</a:t>
            </a:r>
            <a:r>
              <a:rPr lang="zh-CN" altLang="zh-CN" smtClean="0">
                <a:ea typeface="黑体" panose="02010609060101010101" pitchFamily="49" charset="-122"/>
              </a:rPr>
              <a:t>分组交换，</a:t>
            </a:r>
            <a:r>
              <a:rPr lang="zh-CN" altLang="en-US" smtClean="0">
                <a:ea typeface="黑体" panose="02010609060101010101" pitchFamily="49" charset="-122"/>
              </a:rPr>
              <a:t>首先了解</a:t>
            </a:r>
            <a:r>
              <a:rPr lang="zh-CN" altLang="zh-CN" smtClean="0">
                <a:solidFill>
                  <a:srgbClr val="FF0000"/>
                </a:solidFill>
                <a:ea typeface="黑体" panose="02010609060101010101" pitchFamily="49" charset="-122"/>
              </a:rPr>
              <a:t>电路交换</a:t>
            </a:r>
            <a:r>
              <a:rPr lang="zh-CN" altLang="zh-CN" smtClean="0">
                <a:ea typeface="黑体" panose="02010609060101010101" pitchFamily="49" charset="-122"/>
              </a:rPr>
              <a:t>的基本概念</a:t>
            </a:r>
            <a:r>
              <a:rPr lang="zh-CN" altLang="en-US" smtClean="0">
                <a:ea typeface="黑体" panose="02010609060101010101" pitchFamily="49" charset="-122"/>
              </a:rPr>
              <a:t>。</a:t>
            </a:r>
          </a:p>
        </p:txBody>
      </p:sp>
      <p:sp>
        <p:nvSpPr>
          <p:cNvPr id="5222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D87C7EC-039F-4C08-A9F9-723A69E17A4F}" type="slidenum">
              <a:rPr lang="zh-CN" altLang="en-US" smtClean="0"/>
              <a:pPr eaLnBrk="1" hangingPunct="1"/>
              <a:t>36</a:t>
            </a:fld>
            <a:endParaRPr lang="en-US" altLang="zh-CN" smtClean="0"/>
          </a:p>
        </p:txBody>
      </p:sp>
      <p:sp>
        <p:nvSpPr>
          <p:cNvPr id="5222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a:spLocks noGrp="1" noChangeArrowheads="1"/>
          </p:cNvSpPr>
          <p:nvPr>
            <p:ph type="title"/>
          </p:nvPr>
        </p:nvSpPr>
        <p:spPr/>
        <p:txBody>
          <a:bodyPr/>
          <a:lstStyle/>
          <a:p>
            <a:r>
              <a:rPr lang="en-US" altLang="zh-CN" smtClean="0">
                <a:ea typeface="黑体" panose="02010609060101010101" pitchFamily="49" charset="-122"/>
              </a:rPr>
              <a:t>1. </a:t>
            </a:r>
            <a:r>
              <a:rPr lang="zh-CN" altLang="en-US" smtClean="0">
                <a:ea typeface="黑体" panose="02010609060101010101" pitchFamily="49" charset="-122"/>
              </a:rPr>
              <a:t>电路交换的主要特点</a:t>
            </a:r>
          </a:p>
        </p:txBody>
      </p:sp>
      <p:sp>
        <p:nvSpPr>
          <p:cNvPr id="54274" name="Text Box 4"/>
          <p:cNvSpPr txBox="1">
            <a:spLocks noChangeArrowheads="1"/>
          </p:cNvSpPr>
          <p:nvPr/>
        </p:nvSpPr>
        <p:spPr bwMode="auto">
          <a:xfrm>
            <a:off x="6046788" y="3398838"/>
            <a:ext cx="86836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4000">
                <a:latin typeface="Times New Roman" panose="02020603050405020304" pitchFamily="18" charset="0"/>
                <a:ea typeface="宋体" panose="02010600030101010101" pitchFamily="2" charset="-122"/>
                <a:sym typeface="Wingdings" panose="05000000000000000000" pitchFamily="2" charset="2"/>
              </a:rPr>
              <a:t></a:t>
            </a:r>
            <a:r>
              <a:rPr lang="en-US" altLang="zh-CN" sz="4000">
                <a:latin typeface="Times New Roman" panose="02020603050405020304" pitchFamily="18" charset="0"/>
                <a:ea typeface="宋体" panose="02010600030101010101" pitchFamily="2" charset="-122"/>
              </a:rPr>
              <a:t> </a:t>
            </a:r>
          </a:p>
        </p:txBody>
      </p:sp>
      <p:sp>
        <p:nvSpPr>
          <p:cNvPr id="54275" name="Text Box 5"/>
          <p:cNvSpPr txBox="1">
            <a:spLocks noChangeArrowheads="1"/>
          </p:cNvSpPr>
          <p:nvPr/>
        </p:nvSpPr>
        <p:spPr bwMode="auto">
          <a:xfrm>
            <a:off x="3368675" y="3398838"/>
            <a:ext cx="8699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4000">
                <a:latin typeface="Times New Roman" panose="02020603050405020304" pitchFamily="18" charset="0"/>
                <a:ea typeface="宋体" panose="02010600030101010101" pitchFamily="2" charset="-122"/>
                <a:sym typeface="Wingdings" panose="05000000000000000000" pitchFamily="2" charset="2"/>
              </a:rPr>
              <a:t></a:t>
            </a:r>
            <a:r>
              <a:rPr lang="en-US" altLang="zh-CN" sz="4000">
                <a:latin typeface="Times New Roman" panose="02020603050405020304" pitchFamily="18" charset="0"/>
                <a:ea typeface="宋体" panose="02010600030101010101" pitchFamily="2" charset="-122"/>
              </a:rPr>
              <a:t> </a:t>
            </a:r>
          </a:p>
        </p:txBody>
      </p:sp>
      <p:sp>
        <p:nvSpPr>
          <p:cNvPr id="54276" name="Line 6"/>
          <p:cNvSpPr>
            <a:spLocks noChangeShapeType="1"/>
          </p:cNvSpPr>
          <p:nvPr/>
        </p:nvSpPr>
        <p:spPr bwMode="auto">
          <a:xfrm flipV="1">
            <a:off x="3698875" y="3849688"/>
            <a:ext cx="2659063" cy="15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54277" name="矩形 1"/>
          <p:cNvSpPr>
            <a:spLocks noChangeArrowheads="1"/>
          </p:cNvSpPr>
          <p:nvPr/>
        </p:nvSpPr>
        <p:spPr bwMode="auto">
          <a:xfrm>
            <a:off x="704850" y="1268413"/>
            <a:ext cx="8640763" cy="1077912"/>
          </a:xfrm>
          <a:prstGeom prst="rect">
            <a:avLst/>
          </a:prstGeom>
          <a:solidFill>
            <a:srgbClr val="66FF66"/>
          </a:solidFill>
          <a:ln w="9525">
            <a:solidFill>
              <a:schemeClr val="tx1"/>
            </a:solidFill>
            <a:round/>
            <a:headEnd/>
            <a:tailEnd/>
          </a:ln>
        </p:spPr>
        <p:txBody>
          <a:bodyPr>
            <a:spAutoFit/>
          </a:bodyPr>
          <a:lstStyle/>
          <a:p>
            <a:pPr algn="ctr" eaLnBrk="0" hangingPunct="0"/>
            <a:r>
              <a:rPr lang="en-US" altLang="zh-CN" sz="3200" b="1">
                <a:ea typeface="黑体" panose="02010609060101010101" pitchFamily="49" charset="-122"/>
              </a:rPr>
              <a:t>2 </a:t>
            </a:r>
            <a:r>
              <a:rPr lang="zh-CN" altLang="en-US" sz="3200" b="1">
                <a:ea typeface="黑体" panose="02010609060101010101" pitchFamily="49" charset="-122"/>
              </a:rPr>
              <a:t>部电话机只需要用 </a:t>
            </a:r>
            <a:r>
              <a:rPr lang="en-US" altLang="zh-CN" sz="3200" b="1">
                <a:ea typeface="黑体" panose="02010609060101010101" pitchFamily="49" charset="-122"/>
              </a:rPr>
              <a:t>1 </a:t>
            </a:r>
            <a:r>
              <a:rPr lang="zh-CN" altLang="en-US" sz="3200" b="1">
                <a:ea typeface="黑体" panose="02010609060101010101" pitchFamily="49" charset="-122"/>
              </a:rPr>
              <a:t>对电线直接连接就能够互相通话。 </a:t>
            </a:r>
          </a:p>
        </p:txBody>
      </p:sp>
      <p:sp>
        <p:nvSpPr>
          <p:cNvPr id="54278" name="矩形 2"/>
          <p:cNvSpPr>
            <a:spLocks noChangeArrowheads="1"/>
          </p:cNvSpPr>
          <p:nvPr/>
        </p:nvSpPr>
        <p:spPr bwMode="auto">
          <a:xfrm>
            <a:off x="2144713" y="5272088"/>
            <a:ext cx="597693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电话机的不同连接方法</a:t>
            </a:r>
            <a:endParaRPr lang="zh-CN" altLang="en-US" sz="2400" b="1">
              <a:ea typeface="黑体" panose="02010609060101010101" pitchFamily="49" charset="-122"/>
            </a:endParaRPr>
          </a:p>
        </p:txBody>
      </p:sp>
      <p:sp>
        <p:nvSpPr>
          <p:cNvPr id="54279" name="矩形 3"/>
          <p:cNvSpPr>
            <a:spLocks noChangeArrowheads="1"/>
          </p:cNvSpPr>
          <p:nvPr/>
        </p:nvSpPr>
        <p:spPr bwMode="auto">
          <a:xfrm>
            <a:off x="3440113" y="4684713"/>
            <a:ext cx="31861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en-US" altLang="zh-CN" sz="2000" b="1">
                <a:ea typeface="黑体" panose="02010609060101010101" pitchFamily="49" charset="-122"/>
              </a:rPr>
              <a:t> (a) </a:t>
            </a:r>
            <a:r>
              <a:rPr lang="zh-CN" altLang="zh-CN" sz="2000" b="1">
                <a:ea typeface="黑体" panose="02010609060101010101" pitchFamily="49" charset="-122"/>
              </a:rPr>
              <a:t>两部电话直接相</a:t>
            </a:r>
            <a:r>
              <a:rPr lang="zh-CN" altLang="en-US" sz="2000" b="1">
                <a:ea typeface="黑体" panose="02010609060101010101" pitchFamily="49" charset="-122"/>
              </a:rPr>
              <a:t>连</a:t>
            </a:r>
          </a:p>
        </p:txBody>
      </p:sp>
      <p:sp>
        <p:nvSpPr>
          <p:cNvPr id="54280" name="灯片编号占位符 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F072454-B039-4D87-8E1E-C20F472898E2}" type="slidenum">
              <a:rPr lang="zh-CN" altLang="en-US" smtClean="0"/>
              <a:pPr eaLnBrk="1" hangingPunct="1"/>
              <a:t>37</a:t>
            </a:fld>
            <a:endParaRPr lang="en-US" altLang="zh-CN" smtClean="0"/>
          </a:p>
        </p:txBody>
      </p:sp>
      <p:sp>
        <p:nvSpPr>
          <p:cNvPr id="54281" name="页脚占位符 7"/>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p:txBody>
          <a:bodyPr/>
          <a:lstStyle/>
          <a:p>
            <a:r>
              <a:rPr lang="en-US" altLang="zh-CN" smtClean="0">
                <a:ea typeface="黑体" panose="02010609060101010101" pitchFamily="49" charset="-122"/>
              </a:rPr>
              <a:t>1. </a:t>
            </a:r>
            <a:r>
              <a:rPr lang="zh-CN" altLang="en-US" smtClean="0">
                <a:ea typeface="黑体" panose="02010609060101010101" pitchFamily="49" charset="-122"/>
              </a:rPr>
              <a:t>电路交换的主要特点</a:t>
            </a:r>
          </a:p>
        </p:txBody>
      </p:sp>
      <p:sp>
        <p:nvSpPr>
          <p:cNvPr id="56322" name="矩形 1"/>
          <p:cNvSpPr>
            <a:spLocks noChangeArrowheads="1"/>
          </p:cNvSpPr>
          <p:nvPr/>
        </p:nvSpPr>
        <p:spPr bwMode="auto">
          <a:xfrm>
            <a:off x="704850" y="1268413"/>
            <a:ext cx="8640763" cy="585787"/>
          </a:xfrm>
          <a:prstGeom prst="rect">
            <a:avLst/>
          </a:prstGeom>
          <a:solidFill>
            <a:srgbClr val="66FF66"/>
          </a:solidFill>
          <a:ln w="9525">
            <a:solidFill>
              <a:schemeClr val="tx1"/>
            </a:solidFill>
            <a:round/>
            <a:headEnd/>
            <a:tailEnd/>
          </a:ln>
        </p:spPr>
        <p:txBody>
          <a:bodyPr>
            <a:spAutoFit/>
          </a:bodyPr>
          <a:lstStyle/>
          <a:p>
            <a:pPr algn="ctr" eaLnBrk="0" hangingPunct="0"/>
            <a:r>
              <a:rPr lang="en-US" altLang="zh-CN" sz="3200" b="1">
                <a:ea typeface="黑体" panose="02010609060101010101" pitchFamily="49" charset="-122"/>
              </a:rPr>
              <a:t>5 </a:t>
            </a:r>
            <a:r>
              <a:rPr lang="zh-CN" altLang="en-US" sz="3200" b="1">
                <a:ea typeface="黑体" panose="02010609060101010101" pitchFamily="49" charset="-122"/>
              </a:rPr>
              <a:t>部电话机两两直接相连，需 </a:t>
            </a:r>
            <a:r>
              <a:rPr lang="en-US" altLang="zh-CN" sz="3200" b="1">
                <a:ea typeface="黑体" panose="02010609060101010101" pitchFamily="49" charset="-122"/>
              </a:rPr>
              <a:t>10 </a:t>
            </a:r>
            <a:r>
              <a:rPr lang="zh-CN" altLang="en-US" sz="3200" b="1">
                <a:ea typeface="黑体" panose="02010609060101010101" pitchFamily="49" charset="-122"/>
              </a:rPr>
              <a:t>对电线。</a:t>
            </a:r>
          </a:p>
        </p:txBody>
      </p:sp>
      <p:sp>
        <p:nvSpPr>
          <p:cNvPr id="56323" name="矩形 2"/>
          <p:cNvSpPr>
            <a:spLocks noChangeArrowheads="1"/>
          </p:cNvSpPr>
          <p:nvPr/>
        </p:nvSpPr>
        <p:spPr bwMode="auto">
          <a:xfrm>
            <a:off x="2144713" y="5272088"/>
            <a:ext cx="58324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电话机的不同连接方法</a:t>
            </a:r>
            <a:endParaRPr lang="zh-CN" altLang="en-US" sz="2400" b="1">
              <a:ea typeface="黑体" panose="02010609060101010101" pitchFamily="49" charset="-122"/>
            </a:endParaRPr>
          </a:p>
        </p:txBody>
      </p:sp>
      <p:sp>
        <p:nvSpPr>
          <p:cNvPr id="56324" name="矩形 3"/>
          <p:cNvSpPr>
            <a:spLocks noChangeArrowheads="1"/>
          </p:cNvSpPr>
          <p:nvPr/>
        </p:nvSpPr>
        <p:spPr bwMode="auto">
          <a:xfrm>
            <a:off x="3238500" y="4684713"/>
            <a:ext cx="3571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en-US" altLang="zh-CN" sz="2000" b="1">
                <a:ea typeface="黑体" panose="02010609060101010101" pitchFamily="49" charset="-122"/>
              </a:rPr>
              <a:t> (b) 5 </a:t>
            </a:r>
            <a:r>
              <a:rPr lang="zh-CN" altLang="zh-CN" sz="2000" b="1">
                <a:ea typeface="黑体" panose="02010609060101010101" pitchFamily="49" charset="-122"/>
              </a:rPr>
              <a:t>部电话</a:t>
            </a:r>
            <a:r>
              <a:rPr lang="zh-CN" altLang="en-US" sz="2000" b="1">
                <a:ea typeface="黑体" panose="02010609060101010101" pitchFamily="49" charset="-122"/>
              </a:rPr>
              <a:t>机两两直接</a:t>
            </a:r>
            <a:r>
              <a:rPr lang="zh-CN" altLang="zh-CN" sz="2000" b="1">
                <a:ea typeface="黑体" panose="02010609060101010101" pitchFamily="49" charset="-122"/>
              </a:rPr>
              <a:t>相</a:t>
            </a:r>
            <a:r>
              <a:rPr lang="zh-CN" altLang="en-US" sz="2000" b="1">
                <a:ea typeface="黑体" panose="02010609060101010101" pitchFamily="49" charset="-122"/>
              </a:rPr>
              <a:t>连</a:t>
            </a:r>
          </a:p>
        </p:txBody>
      </p:sp>
      <p:sp>
        <p:nvSpPr>
          <p:cNvPr id="16" name="Line 9"/>
          <p:cNvSpPr>
            <a:spLocks noChangeShapeType="1"/>
          </p:cNvSpPr>
          <p:nvPr/>
        </p:nvSpPr>
        <p:spPr bwMode="auto">
          <a:xfrm flipV="1">
            <a:off x="3463925" y="2609850"/>
            <a:ext cx="1498600" cy="7334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17" name="Line 10"/>
          <p:cNvSpPr>
            <a:spLocks noChangeShapeType="1"/>
          </p:cNvSpPr>
          <p:nvPr/>
        </p:nvSpPr>
        <p:spPr bwMode="auto">
          <a:xfrm>
            <a:off x="5113338" y="2647950"/>
            <a:ext cx="1663700" cy="7731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18" name="Line 11"/>
          <p:cNvSpPr>
            <a:spLocks noChangeShapeType="1"/>
          </p:cNvSpPr>
          <p:nvPr/>
        </p:nvSpPr>
        <p:spPr bwMode="auto">
          <a:xfrm>
            <a:off x="3309938" y="3392488"/>
            <a:ext cx="928687" cy="9540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19" name="Line 12"/>
          <p:cNvSpPr>
            <a:spLocks noChangeShapeType="1"/>
          </p:cNvSpPr>
          <p:nvPr/>
        </p:nvSpPr>
        <p:spPr bwMode="auto">
          <a:xfrm flipV="1">
            <a:off x="4362450" y="4416425"/>
            <a:ext cx="135890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0" name="Line 13"/>
          <p:cNvSpPr>
            <a:spLocks noChangeShapeType="1"/>
          </p:cNvSpPr>
          <p:nvPr/>
        </p:nvSpPr>
        <p:spPr bwMode="auto">
          <a:xfrm flipV="1">
            <a:off x="5811838" y="3387725"/>
            <a:ext cx="969962" cy="9398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1" name="Line 14"/>
          <p:cNvSpPr>
            <a:spLocks noChangeShapeType="1"/>
          </p:cNvSpPr>
          <p:nvPr/>
        </p:nvSpPr>
        <p:spPr bwMode="auto">
          <a:xfrm>
            <a:off x="5019675" y="2646363"/>
            <a:ext cx="679450" cy="177006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2" name="Line 15"/>
          <p:cNvSpPr>
            <a:spLocks noChangeShapeType="1"/>
          </p:cNvSpPr>
          <p:nvPr/>
        </p:nvSpPr>
        <p:spPr bwMode="auto">
          <a:xfrm flipH="1">
            <a:off x="4346575" y="2663825"/>
            <a:ext cx="527050" cy="17414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3" name="Line 16"/>
          <p:cNvSpPr>
            <a:spLocks noChangeShapeType="1"/>
          </p:cNvSpPr>
          <p:nvPr/>
        </p:nvSpPr>
        <p:spPr bwMode="auto">
          <a:xfrm>
            <a:off x="3492500" y="3384550"/>
            <a:ext cx="32321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4" name="Line 17"/>
          <p:cNvSpPr>
            <a:spLocks noChangeShapeType="1"/>
          </p:cNvSpPr>
          <p:nvPr/>
        </p:nvSpPr>
        <p:spPr bwMode="auto">
          <a:xfrm>
            <a:off x="3311525" y="3387725"/>
            <a:ext cx="2387600" cy="100965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5" name="Line 18"/>
          <p:cNvSpPr>
            <a:spLocks noChangeShapeType="1"/>
          </p:cNvSpPr>
          <p:nvPr/>
        </p:nvSpPr>
        <p:spPr bwMode="auto">
          <a:xfrm flipV="1">
            <a:off x="4397375" y="3435350"/>
            <a:ext cx="2303463" cy="9667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grpSp>
        <p:nvGrpSpPr>
          <p:cNvPr id="10" name="Group 20"/>
          <p:cNvGrpSpPr>
            <a:grpSpLocks/>
          </p:cNvGrpSpPr>
          <p:nvPr/>
        </p:nvGrpSpPr>
        <p:grpSpPr bwMode="auto">
          <a:xfrm>
            <a:off x="2946400" y="2206625"/>
            <a:ext cx="4238625" cy="2416175"/>
            <a:chOff x="1824" y="1570"/>
            <a:chExt cx="2465" cy="1522"/>
          </a:xfrm>
        </p:grpSpPr>
        <p:sp>
          <p:nvSpPr>
            <p:cNvPr id="56336" name="Text Box 4"/>
            <p:cNvSpPr txBox="1">
              <a:spLocks noChangeArrowheads="1"/>
            </p:cNvSpPr>
            <p:nvPr/>
          </p:nvSpPr>
          <p:spPr bwMode="auto">
            <a:xfrm>
              <a:off x="2792" y="1570"/>
              <a:ext cx="465"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3600">
                  <a:latin typeface="Times New Roman" panose="02020603050405020304" pitchFamily="18" charset="0"/>
                  <a:ea typeface="宋体" panose="02010600030101010101" pitchFamily="2" charset="-122"/>
                  <a:sym typeface="Wingdings" panose="05000000000000000000" pitchFamily="2" charset="2"/>
                </a:rPr>
                <a:t></a:t>
              </a:r>
              <a:r>
                <a:rPr lang="en-US" altLang="zh-CN" sz="3600">
                  <a:latin typeface="Times New Roman" panose="02020603050405020304" pitchFamily="18" charset="0"/>
                  <a:ea typeface="宋体" panose="02010600030101010101" pitchFamily="2" charset="-122"/>
                </a:rPr>
                <a:t> </a:t>
              </a:r>
            </a:p>
          </p:txBody>
        </p:sp>
        <p:sp>
          <p:nvSpPr>
            <p:cNvPr id="56337" name="Text Box 5"/>
            <p:cNvSpPr txBox="1">
              <a:spLocks noChangeArrowheads="1"/>
            </p:cNvSpPr>
            <p:nvPr/>
          </p:nvSpPr>
          <p:spPr bwMode="auto">
            <a:xfrm>
              <a:off x="1824" y="2058"/>
              <a:ext cx="465"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3600">
                  <a:latin typeface="Times New Roman" panose="02020603050405020304" pitchFamily="18" charset="0"/>
                  <a:ea typeface="宋体" panose="02010600030101010101" pitchFamily="2" charset="-122"/>
                  <a:sym typeface="Wingdings" panose="05000000000000000000" pitchFamily="2" charset="2"/>
                </a:rPr>
                <a:t></a:t>
              </a:r>
              <a:r>
                <a:rPr lang="en-US" altLang="zh-CN" sz="3600">
                  <a:latin typeface="Times New Roman" panose="02020603050405020304" pitchFamily="18" charset="0"/>
                  <a:ea typeface="宋体" panose="02010600030101010101" pitchFamily="2" charset="-122"/>
                </a:rPr>
                <a:t> </a:t>
              </a:r>
            </a:p>
          </p:txBody>
        </p:sp>
        <p:sp>
          <p:nvSpPr>
            <p:cNvPr id="56338" name="Text Box 7"/>
            <p:cNvSpPr txBox="1">
              <a:spLocks noChangeArrowheads="1"/>
            </p:cNvSpPr>
            <p:nvPr/>
          </p:nvSpPr>
          <p:spPr bwMode="auto">
            <a:xfrm>
              <a:off x="3824" y="2058"/>
              <a:ext cx="465"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3600">
                  <a:latin typeface="Times New Roman" panose="02020603050405020304" pitchFamily="18" charset="0"/>
                  <a:ea typeface="宋体" panose="02010600030101010101" pitchFamily="2" charset="-122"/>
                  <a:sym typeface="Wingdings" panose="05000000000000000000" pitchFamily="2" charset="2"/>
                </a:rPr>
                <a:t></a:t>
              </a:r>
              <a:r>
                <a:rPr lang="en-US" altLang="zh-CN" sz="3600">
                  <a:latin typeface="Times New Roman" panose="02020603050405020304" pitchFamily="18" charset="0"/>
                  <a:ea typeface="宋体" panose="02010600030101010101" pitchFamily="2" charset="-122"/>
                </a:rPr>
                <a:t> </a:t>
              </a:r>
            </a:p>
          </p:txBody>
        </p:sp>
        <p:sp>
          <p:nvSpPr>
            <p:cNvPr id="56339" name="Text Box 8"/>
            <p:cNvSpPr txBox="1">
              <a:spLocks noChangeArrowheads="1"/>
            </p:cNvSpPr>
            <p:nvPr/>
          </p:nvSpPr>
          <p:spPr bwMode="auto">
            <a:xfrm>
              <a:off x="3244" y="2685"/>
              <a:ext cx="465"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3600">
                  <a:latin typeface="Times New Roman" panose="02020603050405020304" pitchFamily="18" charset="0"/>
                  <a:ea typeface="宋体" panose="02010600030101010101" pitchFamily="2" charset="-122"/>
                  <a:sym typeface="Wingdings" panose="05000000000000000000" pitchFamily="2" charset="2"/>
                </a:rPr>
                <a:t></a:t>
              </a:r>
              <a:r>
                <a:rPr lang="en-US" altLang="zh-CN" sz="3600">
                  <a:latin typeface="Times New Roman" panose="02020603050405020304" pitchFamily="18" charset="0"/>
                  <a:ea typeface="宋体" panose="02010600030101010101" pitchFamily="2" charset="-122"/>
                </a:rPr>
                <a:t> </a:t>
              </a:r>
            </a:p>
          </p:txBody>
        </p:sp>
        <p:sp>
          <p:nvSpPr>
            <p:cNvPr id="56340" name="Text Box 6"/>
            <p:cNvSpPr txBox="1">
              <a:spLocks noChangeArrowheads="1"/>
            </p:cNvSpPr>
            <p:nvPr/>
          </p:nvSpPr>
          <p:spPr bwMode="auto">
            <a:xfrm>
              <a:off x="2405" y="2685"/>
              <a:ext cx="465"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3600">
                  <a:latin typeface="Times New Roman" panose="02020603050405020304" pitchFamily="18" charset="0"/>
                  <a:ea typeface="宋体" panose="02010600030101010101" pitchFamily="2" charset="-122"/>
                  <a:sym typeface="Wingdings" panose="05000000000000000000" pitchFamily="2" charset="2"/>
                </a:rPr>
                <a:t></a:t>
              </a:r>
              <a:r>
                <a:rPr lang="en-US" altLang="zh-CN" sz="3600">
                  <a:latin typeface="Times New Roman" panose="02020603050405020304" pitchFamily="18" charset="0"/>
                  <a:ea typeface="宋体" panose="02010600030101010101" pitchFamily="2" charset="-122"/>
                </a:rPr>
                <a:t> </a:t>
              </a:r>
            </a:p>
          </p:txBody>
        </p:sp>
      </p:grpSp>
      <p:sp>
        <p:nvSpPr>
          <p:cNvPr id="56341" name="灯片编号占位符 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56A86DD-6258-4047-B6C2-BF86D0D164AA}" type="slidenum">
              <a:rPr lang="zh-CN" altLang="en-US" smtClean="0"/>
              <a:pPr eaLnBrk="1" hangingPunct="1"/>
              <a:t>38</a:t>
            </a:fld>
            <a:endParaRPr lang="en-US" altLang="zh-CN" smtClean="0"/>
          </a:p>
        </p:txBody>
      </p:sp>
      <p:sp>
        <p:nvSpPr>
          <p:cNvPr id="56342" name="页脚占位符 7"/>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par>
                          <p:cTn id="7" fill="hold" nodeType="afterGroup">
                            <p:stCondLst>
                              <p:cond delay="1"/>
                            </p:stCondLst>
                            <p:childTnLst>
                              <p:par>
                                <p:cTn id="8" presetID="1" presetClass="entr" presetSubtype="0" fill="hold" grpId="0" nodeType="afterEffect">
                                  <p:stCondLst>
                                    <p:cond delay="300"/>
                                  </p:stCondLst>
                                  <p:childTnLst>
                                    <p:set>
                                      <p:cBhvr>
                                        <p:cTn id="9" dur="1" fill="hold">
                                          <p:stCondLst>
                                            <p:cond delay="0"/>
                                          </p:stCondLst>
                                        </p:cTn>
                                        <p:tgtEl>
                                          <p:spTgt spid="16"/>
                                        </p:tgtEl>
                                        <p:attrNameLst>
                                          <p:attrName>style.visibility</p:attrName>
                                        </p:attrNameLst>
                                      </p:cBhvr>
                                      <p:to>
                                        <p:strVal val="visible"/>
                                      </p:to>
                                    </p:set>
                                  </p:childTnLst>
                                </p:cTn>
                              </p:par>
                            </p:childTnLst>
                          </p:cTn>
                        </p:par>
                        <p:par>
                          <p:cTn id="10" fill="hold" nodeType="afterGroup">
                            <p:stCondLst>
                              <p:cond delay="302"/>
                            </p:stCondLst>
                            <p:childTnLst>
                              <p:par>
                                <p:cTn id="11" presetID="1" presetClass="entr" presetSubtype="0" fill="hold" grpId="0" nodeType="afterEffect">
                                  <p:stCondLst>
                                    <p:cond delay="300"/>
                                  </p:stCondLst>
                                  <p:childTnLst>
                                    <p:set>
                                      <p:cBhvr>
                                        <p:cTn id="12" dur="1" fill="hold">
                                          <p:stCondLst>
                                            <p:cond delay="0"/>
                                          </p:stCondLst>
                                        </p:cTn>
                                        <p:tgtEl>
                                          <p:spTgt spid="23"/>
                                        </p:tgtEl>
                                        <p:attrNameLst>
                                          <p:attrName>style.visibility</p:attrName>
                                        </p:attrNameLst>
                                      </p:cBhvr>
                                      <p:to>
                                        <p:strVal val="visible"/>
                                      </p:to>
                                    </p:set>
                                  </p:childTnLst>
                                </p:cTn>
                              </p:par>
                            </p:childTnLst>
                          </p:cTn>
                        </p:par>
                        <p:par>
                          <p:cTn id="13" fill="hold" nodeType="afterGroup">
                            <p:stCondLst>
                              <p:cond delay="603"/>
                            </p:stCondLst>
                            <p:childTnLst>
                              <p:par>
                                <p:cTn id="14" presetID="1" presetClass="entr" presetSubtype="0" fill="hold" grpId="0" nodeType="afterEffect">
                                  <p:stCondLst>
                                    <p:cond delay="300"/>
                                  </p:stCondLst>
                                  <p:childTnLst>
                                    <p:set>
                                      <p:cBhvr>
                                        <p:cTn id="15" dur="1" fill="hold">
                                          <p:stCondLst>
                                            <p:cond delay="0"/>
                                          </p:stCondLst>
                                        </p:cTn>
                                        <p:tgtEl>
                                          <p:spTgt spid="24"/>
                                        </p:tgtEl>
                                        <p:attrNameLst>
                                          <p:attrName>style.visibility</p:attrName>
                                        </p:attrNameLst>
                                      </p:cBhvr>
                                      <p:to>
                                        <p:strVal val="visible"/>
                                      </p:to>
                                    </p:set>
                                  </p:childTnLst>
                                </p:cTn>
                              </p:par>
                            </p:childTnLst>
                          </p:cTn>
                        </p:par>
                        <p:par>
                          <p:cTn id="16" fill="hold" nodeType="afterGroup">
                            <p:stCondLst>
                              <p:cond delay="904"/>
                            </p:stCondLst>
                            <p:childTnLst>
                              <p:par>
                                <p:cTn id="17" presetID="1" presetClass="entr" presetSubtype="0" fill="hold" grpId="0" nodeType="afterEffect">
                                  <p:stCondLst>
                                    <p:cond delay="300"/>
                                  </p:stCondLst>
                                  <p:childTnLst>
                                    <p:set>
                                      <p:cBhvr>
                                        <p:cTn id="18" dur="1" fill="hold">
                                          <p:stCondLst>
                                            <p:cond delay="0"/>
                                          </p:stCondLst>
                                        </p:cTn>
                                        <p:tgtEl>
                                          <p:spTgt spid="18"/>
                                        </p:tgtEl>
                                        <p:attrNameLst>
                                          <p:attrName>style.visibility</p:attrName>
                                        </p:attrNameLst>
                                      </p:cBhvr>
                                      <p:to>
                                        <p:strVal val="visible"/>
                                      </p:to>
                                    </p:set>
                                  </p:childTnLst>
                                </p:cTn>
                              </p:par>
                            </p:childTnLst>
                          </p:cTn>
                        </p:par>
                        <p:par>
                          <p:cTn id="19" fill="hold" nodeType="afterGroup">
                            <p:stCondLst>
                              <p:cond delay="1205"/>
                            </p:stCondLst>
                            <p:childTnLst>
                              <p:par>
                                <p:cTn id="20" presetID="1" presetClass="entr" presetSubtype="0" fill="hold" grpId="0" nodeType="afterEffect">
                                  <p:stCondLst>
                                    <p:cond delay="300"/>
                                  </p:stCondLst>
                                  <p:childTnLst>
                                    <p:set>
                                      <p:cBhvr>
                                        <p:cTn id="21" dur="1" fill="hold">
                                          <p:stCondLst>
                                            <p:cond delay="0"/>
                                          </p:stCondLst>
                                        </p:cTn>
                                        <p:tgtEl>
                                          <p:spTgt spid="22"/>
                                        </p:tgtEl>
                                        <p:attrNameLst>
                                          <p:attrName>style.visibility</p:attrName>
                                        </p:attrNameLst>
                                      </p:cBhvr>
                                      <p:to>
                                        <p:strVal val="visible"/>
                                      </p:to>
                                    </p:set>
                                  </p:childTnLst>
                                </p:cTn>
                              </p:par>
                            </p:childTnLst>
                          </p:cTn>
                        </p:par>
                        <p:par>
                          <p:cTn id="22" fill="hold" nodeType="afterGroup">
                            <p:stCondLst>
                              <p:cond delay="1506"/>
                            </p:stCondLst>
                            <p:childTnLst>
                              <p:par>
                                <p:cTn id="23" presetID="1" presetClass="entr" presetSubtype="0" fill="hold" grpId="0" nodeType="afterEffect">
                                  <p:stCondLst>
                                    <p:cond delay="300"/>
                                  </p:stCondLst>
                                  <p:childTnLst>
                                    <p:set>
                                      <p:cBhvr>
                                        <p:cTn id="24" dur="1" fill="hold">
                                          <p:stCondLst>
                                            <p:cond delay="0"/>
                                          </p:stCondLst>
                                        </p:cTn>
                                        <p:tgtEl>
                                          <p:spTgt spid="21"/>
                                        </p:tgtEl>
                                        <p:attrNameLst>
                                          <p:attrName>style.visibility</p:attrName>
                                        </p:attrNameLst>
                                      </p:cBhvr>
                                      <p:to>
                                        <p:strVal val="visible"/>
                                      </p:to>
                                    </p:set>
                                  </p:childTnLst>
                                </p:cTn>
                              </p:par>
                            </p:childTnLst>
                          </p:cTn>
                        </p:par>
                        <p:par>
                          <p:cTn id="25" fill="hold" nodeType="afterGroup">
                            <p:stCondLst>
                              <p:cond delay="1807"/>
                            </p:stCondLst>
                            <p:childTnLst>
                              <p:par>
                                <p:cTn id="26" presetID="1" presetClass="entr" presetSubtype="0" fill="hold" grpId="0" nodeType="afterEffect">
                                  <p:stCondLst>
                                    <p:cond delay="300"/>
                                  </p:stCondLst>
                                  <p:childTnLst>
                                    <p:set>
                                      <p:cBhvr>
                                        <p:cTn id="27" dur="1" fill="hold">
                                          <p:stCondLst>
                                            <p:cond delay="0"/>
                                          </p:stCondLst>
                                        </p:cTn>
                                        <p:tgtEl>
                                          <p:spTgt spid="17"/>
                                        </p:tgtEl>
                                        <p:attrNameLst>
                                          <p:attrName>style.visibility</p:attrName>
                                        </p:attrNameLst>
                                      </p:cBhvr>
                                      <p:to>
                                        <p:strVal val="visible"/>
                                      </p:to>
                                    </p:set>
                                  </p:childTnLst>
                                </p:cTn>
                              </p:par>
                            </p:childTnLst>
                          </p:cTn>
                        </p:par>
                        <p:par>
                          <p:cTn id="28" fill="hold" nodeType="afterGroup">
                            <p:stCondLst>
                              <p:cond delay="2108"/>
                            </p:stCondLst>
                            <p:childTnLst>
                              <p:par>
                                <p:cTn id="29" presetID="1" presetClass="entr" presetSubtype="0" fill="hold" grpId="0" nodeType="afterEffect">
                                  <p:stCondLst>
                                    <p:cond delay="300"/>
                                  </p:stCondLst>
                                  <p:childTnLst>
                                    <p:set>
                                      <p:cBhvr>
                                        <p:cTn id="30" dur="1" fill="hold">
                                          <p:stCondLst>
                                            <p:cond delay="0"/>
                                          </p:stCondLst>
                                        </p:cTn>
                                        <p:tgtEl>
                                          <p:spTgt spid="25"/>
                                        </p:tgtEl>
                                        <p:attrNameLst>
                                          <p:attrName>style.visibility</p:attrName>
                                        </p:attrNameLst>
                                      </p:cBhvr>
                                      <p:to>
                                        <p:strVal val="visible"/>
                                      </p:to>
                                    </p:set>
                                  </p:childTnLst>
                                </p:cTn>
                              </p:par>
                            </p:childTnLst>
                          </p:cTn>
                        </p:par>
                        <p:par>
                          <p:cTn id="31" fill="hold" nodeType="afterGroup">
                            <p:stCondLst>
                              <p:cond delay="2409"/>
                            </p:stCondLst>
                            <p:childTnLst>
                              <p:par>
                                <p:cTn id="32" presetID="1" presetClass="entr" presetSubtype="0" fill="hold" grpId="0" nodeType="afterEffect">
                                  <p:stCondLst>
                                    <p:cond delay="300"/>
                                  </p:stCondLst>
                                  <p:childTnLst>
                                    <p:set>
                                      <p:cBhvr>
                                        <p:cTn id="33" dur="1" fill="hold">
                                          <p:stCondLst>
                                            <p:cond delay="0"/>
                                          </p:stCondLst>
                                        </p:cTn>
                                        <p:tgtEl>
                                          <p:spTgt spid="19"/>
                                        </p:tgtEl>
                                        <p:attrNameLst>
                                          <p:attrName>style.visibility</p:attrName>
                                        </p:attrNameLst>
                                      </p:cBhvr>
                                      <p:to>
                                        <p:strVal val="visible"/>
                                      </p:to>
                                    </p:set>
                                  </p:childTnLst>
                                </p:cTn>
                              </p:par>
                            </p:childTnLst>
                          </p:cTn>
                        </p:par>
                        <p:par>
                          <p:cTn id="34" fill="hold" nodeType="afterGroup">
                            <p:stCondLst>
                              <p:cond delay="2710"/>
                            </p:stCondLst>
                            <p:childTnLst>
                              <p:par>
                                <p:cTn id="35" presetID="1" presetClass="entr" presetSubtype="0" fill="hold" grpId="0" nodeType="afterEffect">
                                  <p:stCondLst>
                                    <p:cond delay="300"/>
                                  </p:stCondLst>
                                  <p:childTnLst>
                                    <p:set>
                                      <p:cBhvr>
                                        <p:cTn id="3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p:cNvSpPr>
            <a:spLocks noGrp="1" noChangeArrowheads="1"/>
          </p:cNvSpPr>
          <p:nvPr>
            <p:ph type="title"/>
          </p:nvPr>
        </p:nvSpPr>
        <p:spPr/>
        <p:txBody>
          <a:bodyPr/>
          <a:lstStyle/>
          <a:p>
            <a:r>
              <a:rPr lang="en-US" altLang="zh-CN" smtClean="0">
                <a:ea typeface="黑体" panose="02010609060101010101" pitchFamily="49" charset="-122"/>
              </a:rPr>
              <a:t>1. </a:t>
            </a:r>
            <a:r>
              <a:rPr lang="zh-CN" altLang="en-US" smtClean="0">
                <a:ea typeface="黑体" panose="02010609060101010101" pitchFamily="49" charset="-122"/>
              </a:rPr>
              <a:t>电路交换的主要特点</a:t>
            </a:r>
          </a:p>
        </p:txBody>
      </p:sp>
      <p:sp>
        <p:nvSpPr>
          <p:cNvPr id="58370" name="矩形 1"/>
          <p:cNvSpPr>
            <a:spLocks noChangeArrowheads="1"/>
          </p:cNvSpPr>
          <p:nvPr/>
        </p:nvSpPr>
        <p:spPr bwMode="auto">
          <a:xfrm>
            <a:off x="704850" y="1268413"/>
            <a:ext cx="8640763" cy="1570037"/>
          </a:xfrm>
          <a:prstGeom prst="rect">
            <a:avLst/>
          </a:prstGeom>
          <a:solidFill>
            <a:srgbClr val="66FF66"/>
          </a:solidFill>
          <a:ln w="9525">
            <a:solidFill>
              <a:schemeClr val="tx1"/>
            </a:solidFill>
            <a:round/>
            <a:headEnd/>
            <a:tailEnd/>
          </a:ln>
        </p:spPr>
        <p:txBody>
          <a:bodyPr>
            <a:spAutoFit/>
          </a:bodyPr>
          <a:lstStyle/>
          <a:p>
            <a:pPr eaLnBrk="0" hangingPunct="0"/>
            <a:r>
              <a:rPr lang="en-US" altLang="zh-CN" sz="3200" b="1">
                <a:ea typeface="黑体" panose="02010609060101010101" pitchFamily="49" charset="-122"/>
              </a:rPr>
              <a:t>N </a:t>
            </a:r>
            <a:r>
              <a:rPr lang="zh-CN" altLang="en-US" sz="3200" b="1">
                <a:ea typeface="黑体" panose="02010609060101010101" pitchFamily="49" charset="-122"/>
              </a:rPr>
              <a:t>部电话机两两直接相连，需 </a:t>
            </a:r>
            <a:r>
              <a:rPr lang="en-US" altLang="zh-CN" sz="3200" b="1">
                <a:solidFill>
                  <a:srgbClr val="FF0000"/>
                </a:solidFill>
                <a:ea typeface="黑体" panose="02010609060101010101" pitchFamily="49" charset="-122"/>
              </a:rPr>
              <a:t>N(N – 1)/2 </a:t>
            </a:r>
            <a:r>
              <a:rPr lang="zh-CN" altLang="en-US" sz="3200" b="1">
                <a:ea typeface="黑体" panose="02010609060101010101" pitchFamily="49" charset="-122"/>
              </a:rPr>
              <a:t>对电线。这种直接连接方法所需要的电线对的数量与电话机数量的平方</a:t>
            </a:r>
            <a:r>
              <a:rPr lang="zh-CN" altLang="en-US" sz="3200" b="1">
                <a:solidFill>
                  <a:srgbClr val="FF0000"/>
                </a:solidFill>
                <a:ea typeface="黑体" panose="02010609060101010101" pitchFamily="49" charset="-122"/>
              </a:rPr>
              <a:t>（ </a:t>
            </a:r>
            <a:r>
              <a:rPr lang="en-US" altLang="zh-CN" sz="3200" b="1">
                <a:solidFill>
                  <a:srgbClr val="FF0000"/>
                </a:solidFill>
                <a:ea typeface="黑体" panose="02010609060101010101" pitchFamily="49" charset="-122"/>
              </a:rPr>
              <a:t>N</a:t>
            </a:r>
            <a:r>
              <a:rPr lang="en-US" altLang="zh-CN" sz="3200" b="1" baseline="30000">
                <a:solidFill>
                  <a:srgbClr val="FF0000"/>
                </a:solidFill>
                <a:ea typeface="黑体" panose="02010609060101010101" pitchFamily="49" charset="-122"/>
              </a:rPr>
              <a:t>2</a:t>
            </a:r>
            <a:r>
              <a:rPr lang="en-US" altLang="zh-CN" sz="3200" b="1">
                <a:solidFill>
                  <a:srgbClr val="FF0000"/>
                </a:solidFill>
                <a:ea typeface="黑体" panose="02010609060101010101" pitchFamily="49" charset="-122"/>
              </a:rPr>
              <a:t> </a:t>
            </a:r>
            <a:r>
              <a:rPr lang="zh-CN" altLang="en-US" sz="3200" b="1">
                <a:solidFill>
                  <a:srgbClr val="FF0000"/>
                </a:solidFill>
                <a:ea typeface="黑体" panose="02010609060101010101" pitchFamily="49" charset="-122"/>
              </a:rPr>
              <a:t>）</a:t>
            </a:r>
            <a:r>
              <a:rPr lang="zh-CN" altLang="en-US" sz="3200" b="1">
                <a:ea typeface="黑体" panose="02010609060101010101" pitchFamily="49" charset="-122"/>
              </a:rPr>
              <a:t>成正比。</a:t>
            </a:r>
            <a:endParaRPr lang="en-US" altLang="zh-CN" sz="3200" b="1">
              <a:ea typeface="黑体" panose="02010609060101010101" pitchFamily="49" charset="-122"/>
            </a:endParaRPr>
          </a:p>
        </p:txBody>
      </p:sp>
      <p:sp>
        <p:nvSpPr>
          <p:cNvPr id="58371" name="AutoShape 2" descr="N 部话机两两直接相连 的图像结果"/>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pic>
        <p:nvPicPr>
          <p:cNvPr id="58372" name="图片 5"/>
          <p:cNvPicPr>
            <a:picLocks noChangeAspect="1" noChangeArrowheads="1"/>
          </p:cNvPicPr>
          <p:nvPr/>
        </p:nvPicPr>
        <p:blipFill>
          <a:blip r:embed="rId3">
            <a:extLst>
              <a:ext uri="{28A0092B-C50C-407E-A947-70E740481C1C}">
                <a14:useLocalDpi xmlns:a14="http://schemas.microsoft.com/office/drawing/2010/main" val="0"/>
              </a:ext>
            </a:extLst>
          </a:blip>
          <a:srcRect l="53340" t="21761" b="5148"/>
          <a:stretch>
            <a:fillRect/>
          </a:stretch>
        </p:blipFill>
        <p:spPr bwMode="auto">
          <a:xfrm>
            <a:off x="3602038" y="2997200"/>
            <a:ext cx="2844800" cy="313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3" name="灯片编号占位符 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86E947E-594C-48CD-B93A-D27D2D080745}" type="slidenum">
              <a:rPr lang="zh-CN" altLang="en-US" smtClean="0"/>
              <a:pPr eaLnBrk="1" hangingPunct="1"/>
              <a:t>39</a:t>
            </a:fld>
            <a:endParaRPr lang="en-US" altLang="zh-CN" smtClean="0"/>
          </a:p>
        </p:txBody>
      </p:sp>
      <p:sp>
        <p:nvSpPr>
          <p:cNvPr id="58374" name="页脚占位符 7"/>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使用交换机</a:t>
            </a:r>
          </a:p>
        </p:txBody>
      </p:sp>
      <p:sp>
        <p:nvSpPr>
          <p:cNvPr id="60418"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当电话机的数量增多时，就要使用</a:t>
            </a:r>
            <a:r>
              <a:rPr lang="zh-CN" altLang="en-US" smtClean="0">
                <a:solidFill>
                  <a:srgbClr val="FF0000"/>
                </a:solidFill>
                <a:ea typeface="黑体" panose="02010609060101010101" pitchFamily="49" charset="-122"/>
              </a:rPr>
              <a:t>交换机</a:t>
            </a:r>
            <a:r>
              <a:rPr lang="zh-CN" altLang="en-US" smtClean="0">
                <a:ea typeface="黑体" panose="02010609060101010101" pitchFamily="49" charset="-122"/>
              </a:rPr>
              <a:t>来完成全网的交换任务。</a:t>
            </a:r>
            <a:endParaRPr lang="en-US" altLang="zh-CN" smtClean="0">
              <a:ea typeface="黑体" panose="02010609060101010101" pitchFamily="49" charset="-122"/>
            </a:endParaRPr>
          </a:p>
        </p:txBody>
      </p:sp>
      <p:sp>
        <p:nvSpPr>
          <p:cNvPr id="60419" name="Text Box 19"/>
          <p:cNvSpPr txBox="1">
            <a:spLocks noChangeArrowheads="1"/>
          </p:cNvSpPr>
          <p:nvPr/>
        </p:nvSpPr>
        <p:spPr bwMode="auto">
          <a:xfrm rot="1458061">
            <a:off x="4171950" y="2547938"/>
            <a:ext cx="801688"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4800" b="1">
                <a:solidFill>
                  <a:srgbClr val="333399"/>
                </a:solidFill>
                <a:latin typeface="Times New Roman" panose="02020603050405020304" pitchFamily="18" charset="0"/>
                <a:ea typeface="宋体" panose="02010600030101010101" pitchFamily="2" charset="-122"/>
              </a:rPr>
              <a:t>…</a:t>
            </a:r>
          </a:p>
        </p:txBody>
      </p:sp>
      <p:sp>
        <p:nvSpPr>
          <p:cNvPr id="35844" name="Line 4"/>
          <p:cNvSpPr>
            <a:spLocks noChangeShapeType="1"/>
          </p:cNvSpPr>
          <p:nvPr/>
        </p:nvSpPr>
        <p:spPr bwMode="auto">
          <a:xfrm flipH="1" flipV="1">
            <a:off x="3673475" y="4206875"/>
            <a:ext cx="1371600" cy="4937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35845" name="Line 5"/>
          <p:cNvSpPr>
            <a:spLocks noChangeShapeType="1"/>
          </p:cNvSpPr>
          <p:nvPr/>
        </p:nvSpPr>
        <p:spPr bwMode="auto">
          <a:xfrm flipV="1">
            <a:off x="3284538" y="4206875"/>
            <a:ext cx="77787" cy="10064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35846" name="Line 6"/>
          <p:cNvSpPr>
            <a:spLocks noChangeShapeType="1"/>
          </p:cNvSpPr>
          <p:nvPr/>
        </p:nvSpPr>
        <p:spPr bwMode="auto">
          <a:xfrm flipV="1">
            <a:off x="1412875" y="4206875"/>
            <a:ext cx="1716088" cy="2603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35847" name="Line 7"/>
          <p:cNvSpPr>
            <a:spLocks noChangeShapeType="1"/>
          </p:cNvSpPr>
          <p:nvPr/>
        </p:nvSpPr>
        <p:spPr bwMode="auto">
          <a:xfrm>
            <a:off x="2347913" y="2911475"/>
            <a:ext cx="668337" cy="9080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60424" name="Text Box 8"/>
          <p:cNvSpPr txBox="1">
            <a:spLocks noChangeArrowheads="1"/>
          </p:cNvSpPr>
          <p:nvPr/>
        </p:nvSpPr>
        <p:spPr bwMode="auto">
          <a:xfrm>
            <a:off x="3087688" y="2424113"/>
            <a:ext cx="8001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3600">
                <a:latin typeface="Times New Roman" panose="02020603050405020304" pitchFamily="18" charset="0"/>
                <a:ea typeface="宋体" panose="02010600030101010101" pitchFamily="2" charset="-122"/>
                <a:sym typeface="Wingdings" panose="05000000000000000000" pitchFamily="2" charset="2"/>
              </a:rPr>
              <a:t></a:t>
            </a:r>
            <a:r>
              <a:rPr lang="en-US" altLang="zh-CN" sz="3600">
                <a:latin typeface="Times New Roman" panose="02020603050405020304" pitchFamily="18" charset="0"/>
                <a:ea typeface="宋体" panose="02010600030101010101" pitchFamily="2" charset="-122"/>
              </a:rPr>
              <a:t> </a:t>
            </a:r>
          </a:p>
        </p:txBody>
      </p:sp>
      <p:sp>
        <p:nvSpPr>
          <p:cNvPr id="60425" name="Text Box 9"/>
          <p:cNvSpPr txBox="1">
            <a:spLocks noChangeArrowheads="1"/>
          </p:cNvSpPr>
          <p:nvPr/>
        </p:nvSpPr>
        <p:spPr bwMode="auto">
          <a:xfrm>
            <a:off x="1066800" y="3127375"/>
            <a:ext cx="8001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3600">
                <a:latin typeface="Times New Roman" panose="02020603050405020304" pitchFamily="18" charset="0"/>
                <a:ea typeface="宋体" panose="02010600030101010101" pitchFamily="2" charset="-122"/>
                <a:sym typeface="Wingdings" panose="05000000000000000000" pitchFamily="2" charset="2"/>
              </a:rPr>
              <a:t></a:t>
            </a:r>
            <a:r>
              <a:rPr lang="en-US" altLang="zh-CN" sz="3600">
                <a:latin typeface="Times New Roman" panose="02020603050405020304" pitchFamily="18" charset="0"/>
                <a:ea typeface="宋体" panose="02010600030101010101" pitchFamily="2" charset="-122"/>
              </a:rPr>
              <a:t> </a:t>
            </a:r>
          </a:p>
        </p:txBody>
      </p:sp>
      <p:sp>
        <p:nvSpPr>
          <p:cNvPr id="60426" name="Text Box 10"/>
          <p:cNvSpPr txBox="1">
            <a:spLocks noChangeArrowheads="1"/>
          </p:cNvSpPr>
          <p:nvPr/>
        </p:nvSpPr>
        <p:spPr bwMode="auto">
          <a:xfrm>
            <a:off x="1785938" y="4710113"/>
            <a:ext cx="8001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3600">
                <a:latin typeface="Times New Roman" panose="02020603050405020304" pitchFamily="18" charset="0"/>
                <a:ea typeface="宋体" panose="02010600030101010101" pitchFamily="2" charset="-122"/>
                <a:sym typeface="Wingdings" panose="05000000000000000000" pitchFamily="2" charset="2"/>
              </a:rPr>
              <a:t></a:t>
            </a:r>
            <a:r>
              <a:rPr lang="en-US" altLang="zh-CN" sz="3600">
                <a:latin typeface="Times New Roman" panose="02020603050405020304" pitchFamily="18" charset="0"/>
                <a:ea typeface="宋体" panose="02010600030101010101" pitchFamily="2" charset="-122"/>
              </a:rPr>
              <a:t> </a:t>
            </a:r>
          </a:p>
        </p:txBody>
      </p:sp>
      <p:sp>
        <p:nvSpPr>
          <p:cNvPr id="60427" name="Text Box 11"/>
          <p:cNvSpPr txBox="1">
            <a:spLocks noChangeArrowheads="1"/>
          </p:cNvSpPr>
          <p:nvPr/>
        </p:nvSpPr>
        <p:spPr bwMode="auto">
          <a:xfrm>
            <a:off x="5006975" y="3406775"/>
            <a:ext cx="8001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3600">
                <a:latin typeface="Times New Roman" panose="02020603050405020304" pitchFamily="18" charset="0"/>
                <a:ea typeface="宋体" panose="02010600030101010101" pitchFamily="2" charset="-122"/>
                <a:sym typeface="Wingdings" panose="05000000000000000000" pitchFamily="2" charset="2"/>
              </a:rPr>
              <a:t></a:t>
            </a:r>
            <a:r>
              <a:rPr lang="en-US" altLang="zh-CN" sz="3600">
                <a:latin typeface="Times New Roman" panose="02020603050405020304" pitchFamily="18" charset="0"/>
                <a:ea typeface="宋体" panose="02010600030101010101" pitchFamily="2" charset="-122"/>
              </a:rPr>
              <a:t> </a:t>
            </a:r>
          </a:p>
        </p:txBody>
      </p:sp>
      <p:sp>
        <p:nvSpPr>
          <p:cNvPr id="60428" name="Text Box 12"/>
          <p:cNvSpPr txBox="1">
            <a:spLocks noChangeArrowheads="1"/>
          </p:cNvSpPr>
          <p:nvPr/>
        </p:nvSpPr>
        <p:spPr bwMode="auto">
          <a:xfrm>
            <a:off x="3908425" y="4646613"/>
            <a:ext cx="8001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3600">
                <a:latin typeface="Times New Roman" panose="02020603050405020304" pitchFamily="18" charset="0"/>
                <a:ea typeface="宋体" panose="02010600030101010101" pitchFamily="2" charset="-122"/>
                <a:sym typeface="Wingdings" panose="05000000000000000000" pitchFamily="2" charset="2"/>
              </a:rPr>
              <a:t></a:t>
            </a:r>
            <a:r>
              <a:rPr lang="en-US" altLang="zh-CN" sz="3600">
                <a:latin typeface="Times New Roman" panose="02020603050405020304" pitchFamily="18" charset="0"/>
                <a:ea typeface="宋体" panose="02010600030101010101" pitchFamily="2" charset="-122"/>
              </a:rPr>
              <a:t> </a:t>
            </a:r>
          </a:p>
        </p:txBody>
      </p:sp>
      <p:sp>
        <p:nvSpPr>
          <p:cNvPr id="35853" name="Line 13"/>
          <p:cNvSpPr>
            <a:spLocks noChangeShapeType="1"/>
          </p:cNvSpPr>
          <p:nvPr/>
        </p:nvSpPr>
        <p:spPr bwMode="auto">
          <a:xfrm flipH="1" flipV="1">
            <a:off x="3440113" y="2767013"/>
            <a:ext cx="14287" cy="11557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35854" name="Line 14"/>
          <p:cNvSpPr>
            <a:spLocks noChangeShapeType="1"/>
          </p:cNvSpPr>
          <p:nvPr/>
        </p:nvSpPr>
        <p:spPr bwMode="auto">
          <a:xfrm flipV="1">
            <a:off x="3830638" y="3775075"/>
            <a:ext cx="1544637" cy="257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35855" name="Line 15"/>
          <p:cNvSpPr>
            <a:spLocks noChangeShapeType="1"/>
          </p:cNvSpPr>
          <p:nvPr/>
        </p:nvSpPr>
        <p:spPr bwMode="auto">
          <a:xfrm>
            <a:off x="1490663" y="3559175"/>
            <a:ext cx="1589087" cy="4619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35856" name="Line 16"/>
          <p:cNvSpPr>
            <a:spLocks noChangeShapeType="1"/>
          </p:cNvSpPr>
          <p:nvPr/>
        </p:nvSpPr>
        <p:spPr bwMode="auto">
          <a:xfrm flipV="1">
            <a:off x="2192338" y="4279900"/>
            <a:ext cx="1014412" cy="8636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35857" name="Line 17"/>
          <p:cNvSpPr>
            <a:spLocks noChangeShapeType="1"/>
          </p:cNvSpPr>
          <p:nvPr/>
        </p:nvSpPr>
        <p:spPr bwMode="auto">
          <a:xfrm flipH="1" flipV="1">
            <a:off x="3362325" y="4062413"/>
            <a:ext cx="922338" cy="9350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60434" name="Text Box 20"/>
          <p:cNvSpPr txBox="1">
            <a:spLocks noChangeArrowheads="1"/>
          </p:cNvSpPr>
          <p:nvPr/>
        </p:nvSpPr>
        <p:spPr bwMode="auto">
          <a:xfrm>
            <a:off x="944563" y="4046538"/>
            <a:ext cx="8001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3600">
                <a:latin typeface="Times New Roman" panose="02020603050405020304" pitchFamily="18" charset="0"/>
                <a:ea typeface="宋体" panose="02010600030101010101" pitchFamily="2" charset="-122"/>
                <a:sym typeface="Wingdings" panose="05000000000000000000" pitchFamily="2" charset="2"/>
              </a:rPr>
              <a:t></a:t>
            </a:r>
            <a:r>
              <a:rPr lang="en-US" altLang="zh-CN" sz="3600">
                <a:latin typeface="Times New Roman" panose="02020603050405020304" pitchFamily="18" charset="0"/>
                <a:ea typeface="宋体" panose="02010600030101010101" pitchFamily="2" charset="-122"/>
              </a:rPr>
              <a:t> </a:t>
            </a:r>
          </a:p>
        </p:txBody>
      </p:sp>
      <p:sp>
        <p:nvSpPr>
          <p:cNvPr id="60435" name="Text Box 21"/>
          <p:cNvSpPr txBox="1">
            <a:spLocks noChangeArrowheads="1"/>
          </p:cNvSpPr>
          <p:nvPr/>
        </p:nvSpPr>
        <p:spPr bwMode="auto">
          <a:xfrm>
            <a:off x="2008188" y="2565400"/>
            <a:ext cx="8001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3600">
                <a:latin typeface="Times New Roman" panose="02020603050405020304" pitchFamily="18" charset="0"/>
                <a:ea typeface="宋体" panose="02010600030101010101" pitchFamily="2" charset="-122"/>
                <a:sym typeface="Wingdings" panose="05000000000000000000" pitchFamily="2" charset="2"/>
              </a:rPr>
              <a:t></a:t>
            </a:r>
            <a:r>
              <a:rPr lang="en-US" altLang="zh-CN" sz="3600">
                <a:latin typeface="Times New Roman" panose="02020603050405020304" pitchFamily="18" charset="0"/>
                <a:ea typeface="宋体" panose="02010600030101010101" pitchFamily="2" charset="-122"/>
              </a:rPr>
              <a:t> </a:t>
            </a:r>
          </a:p>
        </p:txBody>
      </p:sp>
      <p:sp>
        <p:nvSpPr>
          <p:cNvPr id="60436" name="Text Box 22"/>
          <p:cNvSpPr txBox="1">
            <a:spLocks noChangeArrowheads="1"/>
          </p:cNvSpPr>
          <p:nvPr/>
        </p:nvSpPr>
        <p:spPr bwMode="auto">
          <a:xfrm>
            <a:off x="2882900" y="4835525"/>
            <a:ext cx="8001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3600">
                <a:latin typeface="Times New Roman" panose="02020603050405020304" pitchFamily="18" charset="0"/>
                <a:ea typeface="宋体" panose="02010600030101010101" pitchFamily="2" charset="-122"/>
                <a:sym typeface="Wingdings" panose="05000000000000000000" pitchFamily="2" charset="2"/>
              </a:rPr>
              <a:t></a:t>
            </a:r>
            <a:r>
              <a:rPr lang="en-US" altLang="zh-CN" sz="3600">
                <a:latin typeface="Times New Roman" panose="02020603050405020304" pitchFamily="18" charset="0"/>
                <a:ea typeface="宋体" panose="02010600030101010101" pitchFamily="2" charset="-122"/>
              </a:rPr>
              <a:t> </a:t>
            </a:r>
          </a:p>
        </p:txBody>
      </p:sp>
      <p:sp>
        <p:nvSpPr>
          <p:cNvPr id="60437" name="Text Box 23"/>
          <p:cNvSpPr txBox="1">
            <a:spLocks noChangeArrowheads="1"/>
          </p:cNvSpPr>
          <p:nvPr/>
        </p:nvSpPr>
        <p:spPr bwMode="auto">
          <a:xfrm>
            <a:off x="4648200" y="4311650"/>
            <a:ext cx="8001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3600">
                <a:latin typeface="Times New Roman" panose="02020603050405020304" pitchFamily="18" charset="0"/>
                <a:ea typeface="宋体" panose="02010600030101010101" pitchFamily="2" charset="-122"/>
                <a:sym typeface="Wingdings" panose="05000000000000000000" pitchFamily="2" charset="2"/>
              </a:rPr>
              <a:t></a:t>
            </a:r>
            <a:r>
              <a:rPr lang="en-US" altLang="zh-CN" sz="3600">
                <a:latin typeface="Times New Roman" panose="02020603050405020304" pitchFamily="18" charset="0"/>
                <a:ea typeface="宋体" panose="02010600030101010101" pitchFamily="2" charset="-122"/>
              </a:rPr>
              <a:t> </a:t>
            </a:r>
          </a:p>
        </p:txBody>
      </p:sp>
      <p:sp>
        <p:nvSpPr>
          <p:cNvPr id="60438" name="AutoShape 18"/>
          <p:cNvSpPr>
            <a:spLocks noChangeArrowheads="1"/>
          </p:cNvSpPr>
          <p:nvPr/>
        </p:nvSpPr>
        <p:spPr bwMode="auto">
          <a:xfrm>
            <a:off x="2857500" y="3630613"/>
            <a:ext cx="1284288" cy="730250"/>
          </a:xfrm>
          <a:prstGeom prst="cube">
            <a:avLst>
              <a:gd name="adj" fmla="val 25000"/>
            </a:avLst>
          </a:prstGeom>
          <a:solidFill>
            <a:schemeClr val="accent2"/>
          </a:solidFill>
          <a:ln w="9525">
            <a:solidFill>
              <a:schemeClr val="tx1"/>
            </a:solidFill>
            <a:miter lim="800000"/>
            <a:headEnd/>
            <a:tailEnd/>
          </a:ln>
        </p:spPr>
        <p:txBody>
          <a:bodyPr wrap="none" anchor="ctr"/>
          <a:lstStyle/>
          <a:p>
            <a:pPr algn="ctr" eaLnBrk="0" hangingPunct="0"/>
            <a:endParaRPr lang="zh-CN" altLang="zh-CN" sz="2400">
              <a:solidFill>
                <a:srgbClr val="333399"/>
              </a:solidFill>
              <a:latin typeface="Times New Roman" panose="02020603050405020304" pitchFamily="18" charset="0"/>
              <a:ea typeface="宋体" panose="02010600030101010101" pitchFamily="2" charset="-122"/>
            </a:endParaRPr>
          </a:p>
        </p:txBody>
      </p:sp>
      <p:sp>
        <p:nvSpPr>
          <p:cNvPr id="60439" name="Text Box 24"/>
          <p:cNvSpPr txBox="1">
            <a:spLocks noChangeArrowheads="1"/>
          </p:cNvSpPr>
          <p:nvPr/>
        </p:nvSpPr>
        <p:spPr bwMode="auto">
          <a:xfrm>
            <a:off x="2843213" y="3824288"/>
            <a:ext cx="11080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latin typeface="Times New Roman" panose="02020603050405020304" pitchFamily="18" charset="0"/>
                <a:ea typeface="黑体" panose="02010609060101010101" pitchFamily="49" charset="-122"/>
              </a:rPr>
              <a:t>交换机</a:t>
            </a:r>
          </a:p>
        </p:txBody>
      </p:sp>
      <p:sp>
        <p:nvSpPr>
          <p:cNvPr id="60440" name="矩形 1"/>
          <p:cNvSpPr>
            <a:spLocks noChangeArrowheads="1"/>
          </p:cNvSpPr>
          <p:nvPr/>
        </p:nvSpPr>
        <p:spPr bwMode="auto">
          <a:xfrm>
            <a:off x="5816600" y="2776538"/>
            <a:ext cx="3929063" cy="2308225"/>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zh-CN" sz="2400" b="1">
                <a:ea typeface="黑体" panose="02010609060101010101" pitchFamily="49" charset="-122"/>
              </a:rPr>
              <a:t>每一部电话都</a:t>
            </a:r>
            <a:r>
              <a:rPr lang="zh-CN" altLang="en-US" sz="2400" b="1">
                <a:ea typeface="黑体" panose="02010609060101010101" pitchFamily="49" charset="-122"/>
              </a:rPr>
              <a:t>直接</a:t>
            </a:r>
            <a:r>
              <a:rPr lang="zh-CN" altLang="zh-CN" sz="2400" b="1">
                <a:ea typeface="黑体" panose="02010609060101010101" pitchFamily="49" charset="-122"/>
              </a:rPr>
              <a:t>连接到交换机上，而交换机使用交换的方法，让电话用户彼此之间可以很方便地通信。</a:t>
            </a:r>
            <a:r>
              <a:rPr lang="zh-CN" altLang="en-US" sz="2400" b="1">
                <a:ea typeface="黑体" panose="02010609060101010101" pitchFamily="49" charset="-122"/>
              </a:rPr>
              <a:t> </a:t>
            </a:r>
            <a:endParaRPr lang="en-US" altLang="zh-CN" sz="2400" b="1">
              <a:ea typeface="黑体" panose="02010609060101010101" pitchFamily="49" charset="-122"/>
            </a:endParaRPr>
          </a:p>
          <a:p>
            <a:pPr eaLnBrk="0" hangingPunct="0"/>
            <a:r>
              <a:rPr lang="zh-CN" altLang="en-US" sz="2400" b="1">
                <a:ea typeface="黑体" panose="02010609060101010101" pitchFamily="49" charset="-122"/>
              </a:rPr>
              <a:t>所采用的</a:t>
            </a:r>
            <a:r>
              <a:rPr lang="zh-CN" altLang="zh-CN" sz="2400" b="1">
                <a:ea typeface="黑体" panose="02010609060101010101" pitchFamily="49" charset="-122"/>
              </a:rPr>
              <a:t>交换方式</a:t>
            </a:r>
            <a:r>
              <a:rPr lang="zh-CN" altLang="en-US" sz="2400" b="1">
                <a:ea typeface="黑体" panose="02010609060101010101" pitchFamily="49" charset="-122"/>
              </a:rPr>
              <a:t>就</a:t>
            </a:r>
            <a:r>
              <a:rPr lang="zh-CN" altLang="zh-CN" sz="2400" b="1">
                <a:ea typeface="黑体" panose="02010609060101010101" pitchFamily="49" charset="-122"/>
              </a:rPr>
              <a:t>是</a:t>
            </a:r>
            <a:r>
              <a:rPr lang="zh-CN" altLang="zh-CN" sz="2400" b="1">
                <a:solidFill>
                  <a:srgbClr val="FF0000"/>
                </a:solidFill>
                <a:ea typeface="黑体" panose="02010609060101010101" pitchFamily="49" charset="-122"/>
              </a:rPr>
              <a:t>电路交换</a:t>
            </a:r>
            <a:r>
              <a:rPr lang="en-US" altLang="zh-CN" sz="2400" b="1">
                <a:solidFill>
                  <a:srgbClr val="FF0000"/>
                </a:solidFill>
                <a:ea typeface="黑体" panose="02010609060101010101" pitchFamily="49" charset="-122"/>
              </a:rPr>
              <a:t> (circuit switching)</a:t>
            </a:r>
            <a:r>
              <a:rPr lang="zh-CN" altLang="en-US" sz="2400" b="1">
                <a:solidFill>
                  <a:srgbClr val="FF0000"/>
                </a:solidFill>
                <a:ea typeface="黑体" panose="02010609060101010101" pitchFamily="49" charset="-122"/>
              </a:rPr>
              <a:t>。</a:t>
            </a:r>
          </a:p>
        </p:txBody>
      </p:sp>
      <p:sp>
        <p:nvSpPr>
          <p:cNvPr id="60441" name="矩形 26"/>
          <p:cNvSpPr>
            <a:spLocks noChangeArrowheads="1"/>
          </p:cNvSpPr>
          <p:nvPr/>
        </p:nvSpPr>
        <p:spPr bwMode="auto">
          <a:xfrm>
            <a:off x="479425" y="5845175"/>
            <a:ext cx="5553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电话机的不同连接方法</a:t>
            </a:r>
            <a:endParaRPr lang="zh-CN" altLang="en-US" sz="2400" b="1">
              <a:ea typeface="黑体" panose="02010609060101010101" pitchFamily="49" charset="-122"/>
            </a:endParaRPr>
          </a:p>
        </p:txBody>
      </p:sp>
      <p:sp>
        <p:nvSpPr>
          <p:cNvPr id="60442" name="矩形 27"/>
          <p:cNvSpPr>
            <a:spLocks noChangeArrowheads="1"/>
          </p:cNvSpPr>
          <p:nvPr/>
        </p:nvSpPr>
        <p:spPr bwMode="auto">
          <a:xfrm>
            <a:off x="1066800" y="5405438"/>
            <a:ext cx="41640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en-US" altLang="zh-CN" sz="2000" b="1">
                <a:ea typeface="黑体" panose="02010609060101010101" pitchFamily="49" charset="-122"/>
              </a:rPr>
              <a:t> (c) </a:t>
            </a:r>
            <a:r>
              <a:rPr lang="zh-CN" altLang="en-US" sz="2000" b="1">
                <a:ea typeface="黑体" panose="02010609060101010101" pitchFamily="49" charset="-122"/>
              </a:rPr>
              <a:t>用交换机连接许多</a:t>
            </a:r>
            <a:r>
              <a:rPr lang="zh-CN" altLang="zh-CN" sz="2000" b="1">
                <a:ea typeface="黑体" panose="02010609060101010101" pitchFamily="49" charset="-122"/>
              </a:rPr>
              <a:t>部电话</a:t>
            </a:r>
            <a:endParaRPr lang="zh-CN" altLang="en-US" sz="2000" b="1">
              <a:ea typeface="黑体" panose="02010609060101010101" pitchFamily="49" charset="-122"/>
            </a:endParaRPr>
          </a:p>
        </p:txBody>
      </p:sp>
      <p:sp>
        <p:nvSpPr>
          <p:cNvPr id="60443"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254EF2E-595A-40F7-9818-58CB1E5B1154}" type="slidenum">
              <a:rPr lang="zh-CN" altLang="en-US" smtClean="0"/>
              <a:pPr eaLnBrk="1" hangingPunct="1"/>
              <a:t>40</a:t>
            </a:fld>
            <a:endParaRPr lang="en-US" altLang="zh-CN" smtClean="0"/>
          </a:p>
        </p:txBody>
      </p:sp>
      <p:sp>
        <p:nvSpPr>
          <p:cNvPr id="60444"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300"/>
                                  </p:stCondLst>
                                  <p:childTnLst>
                                    <p:set>
                                      <p:cBhvr>
                                        <p:cTn id="6" dur="1" fill="hold">
                                          <p:stCondLst>
                                            <p:cond delay="0"/>
                                          </p:stCondLst>
                                        </p:cTn>
                                        <p:tgtEl>
                                          <p:spTgt spid="35853"/>
                                        </p:tgtEl>
                                        <p:attrNameLst>
                                          <p:attrName>style.visibility</p:attrName>
                                        </p:attrNameLst>
                                      </p:cBhvr>
                                      <p:to>
                                        <p:strVal val="visible"/>
                                      </p:to>
                                    </p:set>
                                  </p:childTnLst>
                                </p:cTn>
                              </p:par>
                            </p:childTnLst>
                          </p:cTn>
                        </p:par>
                        <p:par>
                          <p:cTn id="7" fill="hold" nodeType="afterGroup">
                            <p:stCondLst>
                              <p:cond delay="301"/>
                            </p:stCondLst>
                            <p:childTnLst>
                              <p:par>
                                <p:cTn id="8" presetID="1" presetClass="entr" presetSubtype="0" fill="hold" grpId="0" nodeType="afterEffect">
                                  <p:stCondLst>
                                    <p:cond delay="300"/>
                                  </p:stCondLst>
                                  <p:childTnLst>
                                    <p:set>
                                      <p:cBhvr>
                                        <p:cTn id="9" dur="1" fill="hold">
                                          <p:stCondLst>
                                            <p:cond delay="0"/>
                                          </p:stCondLst>
                                        </p:cTn>
                                        <p:tgtEl>
                                          <p:spTgt spid="35847"/>
                                        </p:tgtEl>
                                        <p:attrNameLst>
                                          <p:attrName>style.visibility</p:attrName>
                                        </p:attrNameLst>
                                      </p:cBhvr>
                                      <p:to>
                                        <p:strVal val="visible"/>
                                      </p:to>
                                    </p:set>
                                  </p:childTnLst>
                                </p:cTn>
                              </p:par>
                            </p:childTnLst>
                          </p:cTn>
                        </p:par>
                        <p:par>
                          <p:cTn id="10" fill="hold" nodeType="afterGroup">
                            <p:stCondLst>
                              <p:cond delay="602"/>
                            </p:stCondLst>
                            <p:childTnLst>
                              <p:par>
                                <p:cTn id="11" presetID="1" presetClass="entr" presetSubtype="0" fill="hold" grpId="0" nodeType="afterEffect">
                                  <p:stCondLst>
                                    <p:cond delay="300"/>
                                  </p:stCondLst>
                                  <p:childTnLst>
                                    <p:set>
                                      <p:cBhvr>
                                        <p:cTn id="12" dur="1" fill="hold">
                                          <p:stCondLst>
                                            <p:cond delay="0"/>
                                          </p:stCondLst>
                                        </p:cTn>
                                        <p:tgtEl>
                                          <p:spTgt spid="35855"/>
                                        </p:tgtEl>
                                        <p:attrNameLst>
                                          <p:attrName>style.visibility</p:attrName>
                                        </p:attrNameLst>
                                      </p:cBhvr>
                                      <p:to>
                                        <p:strVal val="visible"/>
                                      </p:to>
                                    </p:set>
                                  </p:childTnLst>
                                </p:cTn>
                              </p:par>
                            </p:childTnLst>
                          </p:cTn>
                        </p:par>
                        <p:par>
                          <p:cTn id="13" fill="hold" nodeType="afterGroup">
                            <p:stCondLst>
                              <p:cond delay="903"/>
                            </p:stCondLst>
                            <p:childTnLst>
                              <p:par>
                                <p:cTn id="14" presetID="1" presetClass="entr" presetSubtype="0" fill="hold" grpId="0" nodeType="afterEffect">
                                  <p:stCondLst>
                                    <p:cond delay="300"/>
                                  </p:stCondLst>
                                  <p:childTnLst>
                                    <p:set>
                                      <p:cBhvr>
                                        <p:cTn id="15" dur="1" fill="hold">
                                          <p:stCondLst>
                                            <p:cond delay="0"/>
                                          </p:stCondLst>
                                        </p:cTn>
                                        <p:tgtEl>
                                          <p:spTgt spid="35846"/>
                                        </p:tgtEl>
                                        <p:attrNameLst>
                                          <p:attrName>style.visibility</p:attrName>
                                        </p:attrNameLst>
                                      </p:cBhvr>
                                      <p:to>
                                        <p:strVal val="visible"/>
                                      </p:to>
                                    </p:set>
                                  </p:childTnLst>
                                </p:cTn>
                              </p:par>
                            </p:childTnLst>
                          </p:cTn>
                        </p:par>
                        <p:par>
                          <p:cTn id="16" fill="hold" nodeType="afterGroup">
                            <p:stCondLst>
                              <p:cond delay="1204"/>
                            </p:stCondLst>
                            <p:childTnLst>
                              <p:par>
                                <p:cTn id="17" presetID="1" presetClass="entr" presetSubtype="0" fill="hold" grpId="0" nodeType="afterEffect">
                                  <p:stCondLst>
                                    <p:cond delay="300"/>
                                  </p:stCondLst>
                                  <p:childTnLst>
                                    <p:set>
                                      <p:cBhvr>
                                        <p:cTn id="18" dur="1" fill="hold">
                                          <p:stCondLst>
                                            <p:cond delay="0"/>
                                          </p:stCondLst>
                                        </p:cTn>
                                        <p:tgtEl>
                                          <p:spTgt spid="35856"/>
                                        </p:tgtEl>
                                        <p:attrNameLst>
                                          <p:attrName>style.visibility</p:attrName>
                                        </p:attrNameLst>
                                      </p:cBhvr>
                                      <p:to>
                                        <p:strVal val="visible"/>
                                      </p:to>
                                    </p:set>
                                  </p:childTnLst>
                                </p:cTn>
                              </p:par>
                            </p:childTnLst>
                          </p:cTn>
                        </p:par>
                        <p:par>
                          <p:cTn id="19" fill="hold" nodeType="afterGroup">
                            <p:stCondLst>
                              <p:cond delay="1505"/>
                            </p:stCondLst>
                            <p:childTnLst>
                              <p:par>
                                <p:cTn id="20" presetID="1" presetClass="entr" presetSubtype="0" fill="hold" grpId="0" nodeType="afterEffect">
                                  <p:stCondLst>
                                    <p:cond delay="300"/>
                                  </p:stCondLst>
                                  <p:childTnLst>
                                    <p:set>
                                      <p:cBhvr>
                                        <p:cTn id="21" dur="1" fill="hold">
                                          <p:stCondLst>
                                            <p:cond delay="0"/>
                                          </p:stCondLst>
                                        </p:cTn>
                                        <p:tgtEl>
                                          <p:spTgt spid="35845"/>
                                        </p:tgtEl>
                                        <p:attrNameLst>
                                          <p:attrName>style.visibility</p:attrName>
                                        </p:attrNameLst>
                                      </p:cBhvr>
                                      <p:to>
                                        <p:strVal val="visible"/>
                                      </p:to>
                                    </p:set>
                                  </p:childTnLst>
                                </p:cTn>
                              </p:par>
                            </p:childTnLst>
                          </p:cTn>
                        </p:par>
                        <p:par>
                          <p:cTn id="22" fill="hold" nodeType="afterGroup">
                            <p:stCondLst>
                              <p:cond delay="1806"/>
                            </p:stCondLst>
                            <p:childTnLst>
                              <p:par>
                                <p:cTn id="23" presetID="1" presetClass="entr" presetSubtype="0" fill="hold" grpId="0" nodeType="afterEffect">
                                  <p:stCondLst>
                                    <p:cond delay="300"/>
                                  </p:stCondLst>
                                  <p:childTnLst>
                                    <p:set>
                                      <p:cBhvr>
                                        <p:cTn id="24" dur="1" fill="hold">
                                          <p:stCondLst>
                                            <p:cond delay="0"/>
                                          </p:stCondLst>
                                        </p:cTn>
                                        <p:tgtEl>
                                          <p:spTgt spid="35857"/>
                                        </p:tgtEl>
                                        <p:attrNameLst>
                                          <p:attrName>style.visibility</p:attrName>
                                        </p:attrNameLst>
                                      </p:cBhvr>
                                      <p:to>
                                        <p:strVal val="visible"/>
                                      </p:to>
                                    </p:set>
                                  </p:childTnLst>
                                </p:cTn>
                              </p:par>
                            </p:childTnLst>
                          </p:cTn>
                        </p:par>
                        <p:par>
                          <p:cTn id="25" fill="hold" nodeType="afterGroup">
                            <p:stCondLst>
                              <p:cond delay="2107"/>
                            </p:stCondLst>
                            <p:childTnLst>
                              <p:par>
                                <p:cTn id="26" presetID="1" presetClass="entr" presetSubtype="0" fill="hold" grpId="0" nodeType="afterEffect">
                                  <p:stCondLst>
                                    <p:cond delay="300"/>
                                  </p:stCondLst>
                                  <p:childTnLst>
                                    <p:set>
                                      <p:cBhvr>
                                        <p:cTn id="27" dur="1" fill="hold">
                                          <p:stCondLst>
                                            <p:cond delay="0"/>
                                          </p:stCondLst>
                                        </p:cTn>
                                        <p:tgtEl>
                                          <p:spTgt spid="35844"/>
                                        </p:tgtEl>
                                        <p:attrNameLst>
                                          <p:attrName>style.visibility</p:attrName>
                                        </p:attrNameLst>
                                      </p:cBhvr>
                                      <p:to>
                                        <p:strVal val="visible"/>
                                      </p:to>
                                    </p:set>
                                  </p:childTnLst>
                                </p:cTn>
                              </p:par>
                            </p:childTnLst>
                          </p:cTn>
                        </p:par>
                        <p:par>
                          <p:cTn id="28" fill="hold" nodeType="afterGroup">
                            <p:stCondLst>
                              <p:cond delay="2408"/>
                            </p:stCondLst>
                            <p:childTnLst>
                              <p:par>
                                <p:cTn id="29" presetID="1" presetClass="entr" presetSubtype="0" fill="hold" grpId="0" nodeType="afterEffect">
                                  <p:stCondLst>
                                    <p:cond delay="300"/>
                                  </p:stCondLst>
                                  <p:childTnLst>
                                    <p:set>
                                      <p:cBhvr>
                                        <p:cTn id="30" dur="1" fill="hold">
                                          <p:stCondLst>
                                            <p:cond delay="0"/>
                                          </p:stCondLst>
                                        </p:cTn>
                                        <p:tgtEl>
                                          <p:spTgt spid="358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4" grpId="0" animBg="1"/>
      <p:bldP spid="35845" grpId="0" animBg="1"/>
      <p:bldP spid="35846" grpId="0" animBg="1"/>
      <p:bldP spid="35847" grpId="0" animBg="1"/>
      <p:bldP spid="35853" grpId="0" animBg="1"/>
      <p:bldP spid="35854" grpId="0" animBg="1"/>
      <p:bldP spid="35855" grpId="0" animBg="1"/>
      <p:bldP spid="35856" grpId="0" animBg="1"/>
      <p:bldP spid="3585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a:t>
            </a:r>
            <a:r>
              <a:rPr lang="zh-CN" altLang="en-US" smtClean="0">
                <a:ea typeface="黑体" panose="02010609060101010101" pitchFamily="49" charset="-122"/>
              </a:rPr>
              <a:t>交换”的含义</a:t>
            </a:r>
          </a:p>
        </p:txBody>
      </p:sp>
      <p:sp>
        <p:nvSpPr>
          <p:cNvPr id="40963"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在这里，“</a:t>
            </a:r>
            <a:r>
              <a:rPr lang="zh-CN" altLang="en-US" smtClean="0">
                <a:solidFill>
                  <a:srgbClr val="FF0000"/>
                </a:solidFill>
                <a:ea typeface="黑体" panose="02010609060101010101" pitchFamily="49" charset="-122"/>
              </a:rPr>
              <a:t>交换</a:t>
            </a:r>
            <a:r>
              <a:rPr lang="zh-CN" altLang="en-US" smtClean="0">
                <a:ea typeface="黑体" panose="02010609060101010101" pitchFamily="49" charset="-122"/>
              </a:rPr>
              <a:t>”</a:t>
            </a:r>
            <a:r>
              <a:rPr lang="en-US" altLang="zh-CN" smtClean="0">
                <a:ea typeface="黑体" panose="02010609060101010101" pitchFamily="49" charset="-122"/>
              </a:rPr>
              <a:t>(switching)</a:t>
            </a:r>
            <a:r>
              <a:rPr lang="zh-CN" altLang="en-US" smtClean="0">
                <a:ea typeface="黑体" panose="02010609060101010101" pitchFamily="49" charset="-122"/>
              </a:rPr>
              <a:t>的含义就是</a:t>
            </a:r>
            <a:r>
              <a:rPr lang="zh-CN" altLang="en-US" smtClean="0">
                <a:solidFill>
                  <a:srgbClr val="FF0000"/>
                </a:solidFill>
                <a:ea typeface="黑体" panose="02010609060101010101" pitchFamily="49" charset="-122"/>
              </a:rPr>
              <a:t>转接 </a:t>
            </a:r>
            <a:r>
              <a:rPr lang="en-US" altLang="zh-CN" smtClean="0">
                <a:ea typeface="黑体" panose="02010609060101010101" pitchFamily="49" charset="-122"/>
              </a:rPr>
              <a:t>—— </a:t>
            </a:r>
            <a:r>
              <a:rPr lang="zh-CN" altLang="en-US" smtClean="0">
                <a:ea typeface="黑体" panose="02010609060101010101" pitchFamily="49" charset="-122"/>
              </a:rPr>
              <a:t>把一条电话线转接到另一条电话线，使它们连通起来。</a:t>
            </a:r>
          </a:p>
          <a:p>
            <a:r>
              <a:rPr lang="zh-CN" altLang="en-US" smtClean="0">
                <a:ea typeface="黑体" panose="02010609060101010101" pitchFamily="49" charset="-122"/>
              </a:rPr>
              <a:t>从通信资源的分配角度来看，“交换”就是按照某种方式</a:t>
            </a:r>
            <a:r>
              <a:rPr lang="zh-CN" altLang="en-US" smtClean="0">
                <a:solidFill>
                  <a:srgbClr val="FF0000"/>
                </a:solidFill>
                <a:ea typeface="黑体" panose="02010609060101010101" pitchFamily="49" charset="-122"/>
              </a:rPr>
              <a:t>动态地分配</a:t>
            </a:r>
            <a:r>
              <a:rPr lang="zh-CN" altLang="en-US" smtClean="0">
                <a:ea typeface="黑体" panose="02010609060101010101" pitchFamily="49" charset="-122"/>
              </a:rPr>
              <a:t>传输线路的资源。 </a:t>
            </a:r>
          </a:p>
        </p:txBody>
      </p:sp>
      <p:sp>
        <p:nvSpPr>
          <p:cNvPr id="6246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306CA32-19AB-46C9-BB00-CE5EF09ED689}" type="slidenum">
              <a:rPr lang="zh-CN" altLang="en-US" smtClean="0"/>
              <a:pPr eaLnBrk="1" hangingPunct="1"/>
              <a:t>41</a:t>
            </a:fld>
            <a:endParaRPr lang="en-US" altLang="zh-CN" smtClean="0"/>
          </a:p>
        </p:txBody>
      </p:sp>
      <p:sp>
        <p:nvSpPr>
          <p:cNvPr id="6246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96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电路交换特点</a:t>
            </a:r>
          </a:p>
        </p:txBody>
      </p:sp>
      <p:sp>
        <p:nvSpPr>
          <p:cNvPr id="41987"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电路交换必定是</a:t>
            </a:r>
            <a:r>
              <a:rPr lang="zh-CN" altLang="en-US" smtClean="0">
                <a:solidFill>
                  <a:srgbClr val="FF0000"/>
                </a:solidFill>
                <a:ea typeface="黑体" panose="02010609060101010101" pitchFamily="49" charset="-122"/>
              </a:rPr>
              <a:t>面向连接</a:t>
            </a:r>
            <a:r>
              <a:rPr lang="zh-CN" altLang="en-US" smtClean="0">
                <a:ea typeface="黑体" panose="02010609060101010101" pitchFamily="49" charset="-122"/>
              </a:rPr>
              <a:t>的。 </a:t>
            </a:r>
          </a:p>
          <a:p>
            <a:r>
              <a:rPr lang="zh-CN" altLang="en-US" smtClean="0">
                <a:ea typeface="黑体" panose="02010609060101010101" pitchFamily="49" charset="-122"/>
              </a:rPr>
              <a:t>电路交换分为三个阶段：</a:t>
            </a:r>
          </a:p>
          <a:p>
            <a:pPr lvl="1"/>
            <a:r>
              <a:rPr lang="zh-CN" altLang="en-US" smtClean="0">
                <a:solidFill>
                  <a:srgbClr val="FF0000"/>
                </a:solidFill>
                <a:ea typeface="黑体" panose="02010609060101010101" pitchFamily="49" charset="-122"/>
              </a:rPr>
              <a:t>建立连接：</a:t>
            </a:r>
            <a:r>
              <a:rPr lang="zh-CN" altLang="en-US" smtClean="0">
                <a:ea typeface="黑体" panose="02010609060101010101" pitchFamily="49" charset="-122"/>
              </a:rPr>
              <a:t>建立</a:t>
            </a:r>
            <a:r>
              <a:rPr lang="zh-CN" altLang="zh-CN" smtClean="0">
                <a:ea typeface="黑体" panose="02010609060101010101" pitchFamily="49" charset="-122"/>
              </a:rPr>
              <a:t>一条专用的物理通路</a:t>
            </a:r>
            <a:r>
              <a:rPr lang="zh-CN" altLang="en-US" smtClean="0">
                <a:ea typeface="黑体" panose="02010609060101010101" pitchFamily="49" charset="-122"/>
              </a:rPr>
              <a:t>，以</a:t>
            </a:r>
            <a:r>
              <a:rPr lang="zh-CN" altLang="zh-CN" smtClean="0">
                <a:ea typeface="黑体" panose="02010609060101010101" pitchFamily="49" charset="-122"/>
              </a:rPr>
              <a:t>保证双方通话时所需的通信资源在通信时不会被其他用户占用</a:t>
            </a:r>
            <a:r>
              <a:rPr lang="zh-CN" altLang="en-US" smtClean="0">
                <a:ea typeface="黑体" panose="02010609060101010101" pitchFamily="49" charset="-122"/>
              </a:rPr>
              <a:t>；</a:t>
            </a:r>
            <a:endParaRPr lang="zh-CN" altLang="en-US" smtClean="0">
              <a:solidFill>
                <a:srgbClr val="0000CC"/>
              </a:solidFill>
              <a:ea typeface="黑体" panose="02010609060101010101" pitchFamily="49" charset="-122"/>
            </a:endParaRPr>
          </a:p>
          <a:p>
            <a:pPr lvl="1"/>
            <a:r>
              <a:rPr lang="zh-CN" altLang="en-US" smtClean="0">
                <a:solidFill>
                  <a:srgbClr val="FF0000"/>
                </a:solidFill>
                <a:ea typeface="黑体" panose="02010609060101010101" pitchFamily="49" charset="-122"/>
              </a:rPr>
              <a:t>通信：</a:t>
            </a:r>
            <a:r>
              <a:rPr lang="zh-CN" altLang="zh-CN" smtClean="0">
                <a:ea typeface="黑体" panose="02010609060101010101" pitchFamily="49" charset="-122"/>
              </a:rPr>
              <a:t>主叫和被叫双方就能互相通电话</a:t>
            </a:r>
            <a:r>
              <a:rPr lang="zh-CN" altLang="en-US" smtClean="0">
                <a:ea typeface="黑体" panose="02010609060101010101" pitchFamily="49" charset="-122"/>
              </a:rPr>
              <a:t>；</a:t>
            </a:r>
            <a:endParaRPr lang="zh-CN" altLang="en-US" smtClean="0">
              <a:solidFill>
                <a:srgbClr val="0000CC"/>
              </a:solidFill>
              <a:ea typeface="黑体" panose="02010609060101010101" pitchFamily="49" charset="-122"/>
            </a:endParaRPr>
          </a:p>
          <a:p>
            <a:pPr lvl="1"/>
            <a:r>
              <a:rPr lang="zh-CN" altLang="en-US" smtClean="0">
                <a:solidFill>
                  <a:srgbClr val="FF0000"/>
                </a:solidFill>
                <a:ea typeface="黑体" panose="02010609060101010101" pitchFamily="49" charset="-122"/>
              </a:rPr>
              <a:t>释放连接：</a:t>
            </a:r>
            <a:r>
              <a:rPr lang="zh-CN" altLang="zh-CN" smtClean="0">
                <a:ea typeface="黑体" panose="02010609060101010101" pitchFamily="49" charset="-122"/>
              </a:rPr>
              <a:t>释放刚才使用的这条专用的物理通路（</a:t>
            </a:r>
            <a:r>
              <a:rPr lang="zh-CN" altLang="en-US" smtClean="0">
                <a:ea typeface="黑体" panose="02010609060101010101" pitchFamily="49" charset="-122"/>
              </a:rPr>
              <a:t>释放</a:t>
            </a:r>
            <a:r>
              <a:rPr lang="zh-CN" altLang="zh-CN" smtClean="0">
                <a:ea typeface="黑体" panose="02010609060101010101" pitchFamily="49" charset="-122"/>
              </a:rPr>
              <a:t>刚才占用的所有通信资源</a:t>
            </a:r>
            <a:r>
              <a:rPr lang="zh-CN" altLang="en-US" smtClean="0">
                <a:ea typeface="黑体" panose="02010609060101010101" pitchFamily="49" charset="-122"/>
              </a:rPr>
              <a:t>）。</a:t>
            </a:r>
            <a:endParaRPr lang="zh-CN" altLang="en-US" smtClean="0">
              <a:solidFill>
                <a:srgbClr val="0000CC"/>
              </a:solidFill>
              <a:ea typeface="黑体" panose="02010609060101010101" pitchFamily="49" charset="-122"/>
            </a:endParaRPr>
          </a:p>
        </p:txBody>
      </p:sp>
      <p:sp>
        <p:nvSpPr>
          <p:cNvPr id="6451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B47230A-857A-419D-84D7-0FCE809AEF32}" type="slidenum">
              <a:rPr lang="zh-CN" altLang="en-US" smtClean="0"/>
              <a:pPr eaLnBrk="1" hangingPunct="1"/>
              <a:t>42</a:t>
            </a:fld>
            <a:endParaRPr lang="en-US" altLang="zh-CN" smtClean="0"/>
          </a:p>
        </p:txBody>
      </p:sp>
      <p:sp>
        <p:nvSpPr>
          <p:cNvPr id="6451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98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98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198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198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电路交换举例</a:t>
            </a:r>
          </a:p>
        </p:txBody>
      </p:sp>
      <p:sp>
        <p:nvSpPr>
          <p:cNvPr id="43011" name="Rectangle 3"/>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A </a:t>
            </a:r>
            <a:r>
              <a:rPr lang="zh-CN" altLang="en-US" smtClean="0">
                <a:ea typeface="黑体" panose="02010609060101010101" pitchFamily="49" charset="-122"/>
              </a:rPr>
              <a:t>和 </a:t>
            </a:r>
            <a:r>
              <a:rPr lang="en-US" altLang="zh-CN" smtClean="0">
                <a:ea typeface="黑体" panose="02010609060101010101" pitchFamily="49" charset="-122"/>
              </a:rPr>
              <a:t>B </a:t>
            </a:r>
            <a:r>
              <a:rPr lang="zh-CN" altLang="en-US" smtClean="0">
                <a:ea typeface="黑体" panose="02010609060101010101" pitchFamily="49" charset="-122"/>
              </a:rPr>
              <a:t>通话经过四个交换机</a:t>
            </a:r>
          </a:p>
          <a:p>
            <a:r>
              <a:rPr lang="zh-CN" altLang="en-US" smtClean="0">
                <a:ea typeface="黑体" panose="02010609060101010101" pitchFamily="49" charset="-122"/>
              </a:rPr>
              <a:t>通话在 </a:t>
            </a:r>
            <a:r>
              <a:rPr lang="en-US" altLang="zh-CN" smtClean="0">
                <a:ea typeface="黑体" panose="02010609060101010101" pitchFamily="49" charset="-122"/>
              </a:rPr>
              <a:t>A </a:t>
            </a:r>
            <a:r>
              <a:rPr lang="zh-CN" altLang="en-US" smtClean="0">
                <a:ea typeface="黑体" panose="02010609060101010101" pitchFamily="49" charset="-122"/>
              </a:rPr>
              <a:t>到 </a:t>
            </a:r>
            <a:r>
              <a:rPr lang="en-US" altLang="zh-CN" smtClean="0">
                <a:ea typeface="黑体" panose="02010609060101010101" pitchFamily="49" charset="-122"/>
              </a:rPr>
              <a:t>B </a:t>
            </a:r>
            <a:r>
              <a:rPr lang="zh-CN" altLang="en-US" smtClean="0">
                <a:ea typeface="黑体" panose="02010609060101010101" pitchFamily="49" charset="-122"/>
              </a:rPr>
              <a:t>的连接上进行</a:t>
            </a:r>
          </a:p>
        </p:txBody>
      </p:sp>
      <p:sp>
        <p:nvSpPr>
          <p:cNvPr id="66563" name="Rectangle 80"/>
          <p:cNvSpPr>
            <a:spLocks noChangeArrowheads="1"/>
          </p:cNvSpPr>
          <p:nvPr/>
        </p:nvSpPr>
        <p:spPr bwMode="auto">
          <a:xfrm>
            <a:off x="0" y="2659063"/>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zh-CN" altLang="en-US">
              <a:ea typeface="宋体" panose="02010600030101010101" pitchFamily="2" charset="-122"/>
            </a:endParaRPr>
          </a:p>
        </p:txBody>
      </p:sp>
      <p:grpSp>
        <p:nvGrpSpPr>
          <p:cNvPr id="66564" name="组合 1"/>
          <p:cNvGrpSpPr>
            <a:grpSpLocks/>
          </p:cNvGrpSpPr>
          <p:nvPr/>
        </p:nvGrpSpPr>
        <p:grpSpPr bwMode="auto">
          <a:xfrm>
            <a:off x="1063625" y="2563813"/>
            <a:ext cx="8137525" cy="2378075"/>
            <a:chOff x="1064270" y="2564557"/>
            <a:chExt cx="7777162" cy="2160587"/>
          </a:xfrm>
        </p:grpSpPr>
        <p:grpSp>
          <p:nvGrpSpPr>
            <p:cNvPr id="66565" name="Group 6"/>
            <p:cNvGrpSpPr>
              <a:grpSpLocks/>
            </p:cNvGrpSpPr>
            <p:nvPr/>
          </p:nvGrpSpPr>
          <p:grpSpPr bwMode="auto">
            <a:xfrm>
              <a:off x="2743845" y="2564557"/>
              <a:ext cx="4535487" cy="2160587"/>
              <a:chOff x="1680" y="240"/>
              <a:chExt cx="2529" cy="1270"/>
            </a:xfrm>
          </p:grpSpPr>
          <p:sp>
            <p:nvSpPr>
              <p:cNvPr id="66566" name="Oval 7"/>
              <p:cNvSpPr>
                <a:spLocks noChangeArrowheads="1"/>
              </p:cNvSpPr>
              <p:nvPr/>
            </p:nvSpPr>
            <p:spPr bwMode="auto">
              <a:xfrm>
                <a:off x="2554" y="240"/>
                <a:ext cx="1088" cy="513"/>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宋体" panose="02010600030101010101" pitchFamily="2" charset="-122"/>
                </a:endParaRPr>
              </a:p>
            </p:txBody>
          </p:sp>
          <p:sp>
            <p:nvSpPr>
              <p:cNvPr id="66567" name="Oval 8"/>
              <p:cNvSpPr>
                <a:spLocks noChangeArrowheads="1"/>
              </p:cNvSpPr>
              <p:nvPr/>
            </p:nvSpPr>
            <p:spPr bwMode="auto">
              <a:xfrm>
                <a:off x="1941" y="381"/>
                <a:ext cx="827" cy="513"/>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宋体" panose="02010600030101010101" pitchFamily="2" charset="-122"/>
                </a:endParaRPr>
              </a:p>
            </p:txBody>
          </p:sp>
          <p:sp>
            <p:nvSpPr>
              <p:cNvPr id="66568" name="Oval 9"/>
              <p:cNvSpPr>
                <a:spLocks noChangeArrowheads="1"/>
              </p:cNvSpPr>
              <p:nvPr/>
            </p:nvSpPr>
            <p:spPr bwMode="auto">
              <a:xfrm>
                <a:off x="1680" y="702"/>
                <a:ext cx="552" cy="41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宋体" panose="02010600030101010101" pitchFamily="2" charset="-122"/>
                </a:endParaRPr>
              </a:p>
            </p:txBody>
          </p:sp>
          <p:sp>
            <p:nvSpPr>
              <p:cNvPr id="66569" name="Oval 10"/>
              <p:cNvSpPr>
                <a:spLocks noChangeArrowheads="1"/>
              </p:cNvSpPr>
              <p:nvPr/>
            </p:nvSpPr>
            <p:spPr bwMode="auto">
              <a:xfrm>
                <a:off x="1849" y="894"/>
                <a:ext cx="842" cy="450"/>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宋体" panose="02010600030101010101" pitchFamily="2" charset="-122"/>
                </a:endParaRPr>
              </a:p>
            </p:txBody>
          </p:sp>
          <p:sp>
            <p:nvSpPr>
              <p:cNvPr id="66570" name="Oval 11"/>
              <p:cNvSpPr>
                <a:spLocks noChangeArrowheads="1"/>
              </p:cNvSpPr>
              <p:nvPr/>
            </p:nvSpPr>
            <p:spPr bwMode="auto">
              <a:xfrm>
                <a:off x="2462" y="971"/>
                <a:ext cx="1272" cy="53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宋体" panose="02010600030101010101" pitchFamily="2" charset="-122"/>
                </a:endParaRPr>
              </a:p>
            </p:txBody>
          </p:sp>
          <p:sp>
            <p:nvSpPr>
              <p:cNvPr id="66571" name="Oval 12"/>
              <p:cNvSpPr>
                <a:spLocks noChangeArrowheads="1"/>
              </p:cNvSpPr>
              <p:nvPr/>
            </p:nvSpPr>
            <p:spPr bwMode="auto">
              <a:xfrm>
                <a:off x="3289" y="394"/>
                <a:ext cx="797" cy="398"/>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宋体" panose="02010600030101010101" pitchFamily="2" charset="-122"/>
                </a:endParaRPr>
              </a:p>
            </p:txBody>
          </p:sp>
          <p:sp>
            <p:nvSpPr>
              <p:cNvPr id="66572" name="Oval 13"/>
              <p:cNvSpPr>
                <a:spLocks noChangeArrowheads="1"/>
              </p:cNvSpPr>
              <p:nvPr/>
            </p:nvSpPr>
            <p:spPr bwMode="auto">
              <a:xfrm>
                <a:off x="3412" y="663"/>
                <a:ext cx="797" cy="398"/>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宋体" panose="02010600030101010101" pitchFamily="2" charset="-122"/>
                </a:endParaRPr>
              </a:p>
            </p:txBody>
          </p:sp>
          <p:sp>
            <p:nvSpPr>
              <p:cNvPr id="66573" name="Oval 14"/>
              <p:cNvSpPr>
                <a:spLocks noChangeArrowheads="1"/>
              </p:cNvSpPr>
              <p:nvPr/>
            </p:nvSpPr>
            <p:spPr bwMode="auto">
              <a:xfrm>
                <a:off x="3335" y="753"/>
                <a:ext cx="797" cy="668"/>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宋体" panose="02010600030101010101" pitchFamily="2" charset="-122"/>
                </a:endParaRPr>
              </a:p>
            </p:txBody>
          </p:sp>
          <p:sp>
            <p:nvSpPr>
              <p:cNvPr id="66574" name="Oval 15"/>
              <p:cNvSpPr>
                <a:spLocks noChangeArrowheads="1"/>
              </p:cNvSpPr>
              <p:nvPr/>
            </p:nvSpPr>
            <p:spPr bwMode="auto">
              <a:xfrm>
                <a:off x="2140" y="548"/>
                <a:ext cx="1640" cy="66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宋体" panose="02010600030101010101" pitchFamily="2" charset="-122"/>
                </a:endParaRPr>
              </a:p>
            </p:txBody>
          </p:sp>
        </p:grpSp>
        <p:sp>
          <p:nvSpPr>
            <p:cNvPr id="66575" name="Line 23"/>
            <p:cNvSpPr>
              <a:spLocks noChangeShapeType="1"/>
            </p:cNvSpPr>
            <p:nvPr/>
          </p:nvSpPr>
          <p:spPr bwMode="auto">
            <a:xfrm>
              <a:off x="3175645" y="3717082"/>
              <a:ext cx="3527425" cy="0"/>
            </a:xfrm>
            <a:prstGeom prst="line">
              <a:avLst/>
            </a:prstGeom>
            <a:noFill/>
            <a:ln w="38100" cmpd="dbl">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66576" name="Text Box 4"/>
            <p:cNvSpPr txBox="1">
              <a:spLocks noChangeArrowheads="1"/>
            </p:cNvSpPr>
            <p:nvPr/>
          </p:nvSpPr>
          <p:spPr bwMode="auto">
            <a:xfrm>
              <a:off x="1064270" y="3352008"/>
              <a:ext cx="698500" cy="587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r>
                <a:rPr lang="en-US" altLang="zh-CN" sz="3600" b="1">
                  <a:solidFill>
                    <a:srgbClr val="000000"/>
                  </a:solidFill>
                  <a:latin typeface="Times New Roman" panose="02020603050405020304" pitchFamily="18" charset="0"/>
                  <a:ea typeface="宋体" panose="02010600030101010101" pitchFamily="2" charset="-122"/>
                  <a:sym typeface="Wingdings" panose="05000000000000000000" pitchFamily="2" charset="2"/>
                </a:rPr>
                <a:t></a:t>
              </a:r>
              <a:r>
                <a:rPr lang="en-US" altLang="zh-CN" sz="3600" b="1">
                  <a:solidFill>
                    <a:srgbClr val="000000"/>
                  </a:solidFill>
                  <a:latin typeface="Times New Roman" panose="02020603050405020304" pitchFamily="18" charset="0"/>
                  <a:ea typeface="宋体" panose="02010600030101010101" pitchFamily="2" charset="-122"/>
                </a:rPr>
                <a:t> </a:t>
              </a:r>
              <a:endParaRPr lang="en-US" altLang="zh-CN" sz="3200" b="1">
                <a:latin typeface="Times New Roman" panose="02020603050405020304" pitchFamily="18" charset="0"/>
                <a:ea typeface="宋体" panose="02010600030101010101" pitchFamily="2" charset="-122"/>
              </a:endParaRPr>
            </a:p>
          </p:txBody>
        </p:sp>
        <p:sp>
          <p:nvSpPr>
            <p:cNvPr id="66577" name="Text Box 5"/>
            <p:cNvSpPr txBox="1">
              <a:spLocks noChangeArrowheads="1"/>
            </p:cNvSpPr>
            <p:nvPr/>
          </p:nvSpPr>
          <p:spPr bwMode="auto">
            <a:xfrm>
              <a:off x="8142932" y="3352008"/>
              <a:ext cx="698500" cy="587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r>
                <a:rPr lang="en-US" altLang="zh-CN" sz="3600" b="1">
                  <a:solidFill>
                    <a:srgbClr val="000000"/>
                  </a:solidFill>
                  <a:latin typeface="Times New Roman" panose="02020603050405020304" pitchFamily="18" charset="0"/>
                  <a:ea typeface="宋体" panose="02010600030101010101" pitchFamily="2" charset="-122"/>
                  <a:sym typeface="Wingdings" panose="05000000000000000000" pitchFamily="2" charset="2"/>
                </a:rPr>
                <a:t></a:t>
              </a:r>
              <a:r>
                <a:rPr lang="en-US" altLang="zh-CN" sz="3600" b="1">
                  <a:solidFill>
                    <a:srgbClr val="000000"/>
                  </a:solidFill>
                  <a:latin typeface="Times New Roman" panose="02020603050405020304" pitchFamily="18" charset="0"/>
                  <a:ea typeface="宋体" panose="02010600030101010101" pitchFamily="2" charset="-122"/>
                </a:rPr>
                <a:t> </a:t>
              </a:r>
              <a:endParaRPr lang="en-US" altLang="zh-CN" sz="3200" b="1">
                <a:latin typeface="Times New Roman" panose="02020603050405020304" pitchFamily="18" charset="0"/>
                <a:ea typeface="宋体" panose="02010600030101010101" pitchFamily="2" charset="-122"/>
              </a:endParaRPr>
            </a:p>
          </p:txBody>
        </p:sp>
        <p:sp>
          <p:nvSpPr>
            <p:cNvPr id="66578" name="Text Box 24"/>
            <p:cNvSpPr txBox="1">
              <a:spLocks noChangeArrowheads="1"/>
            </p:cNvSpPr>
            <p:nvPr/>
          </p:nvSpPr>
          <p:spPr bwMode="auto">
            <a:xfrm>
              <a:off x="1238895" y="3140819"/>
              <a:ext cx="317446" cy="307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600" b="1">
                  <a:latin typeface="Times New Roman" panose="02020603050405020304" pitchFamily="18" charset="0"/>
                  <a:ea typeface="宋体" panose="02010600030101010101" pitchFamily="2" charset="-122"/>
                </a:rPr>
                <a:t>A</a:t>
              </a:r>
            </a:p>
          </p:txBody>
        </p:sp>
        <p:sp>
          <p:nvSpPr>
            <p:cNvPr id="66579" name="Text Box 25"/>
            <p:cNvSpPr txBox="1">
              <a:spLocks noChangeArrowheads="1"/>
            </p:cNvSpPr>
            <p:nvPr/>
          </p:nvSpPr>
          <p:spPr bwMode="auto">
            <a:xfrm>
              <a:off x="8328670" y="3140819"/>
              <a:ext cx="306722" cy="307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600" b="1">
                  <a:latin typeface="Times New Roman" panose="02020603050405020304" pitchFamily="18" charset="0"/>
                  <a:ea typeface="宋体" panose="02010600030101010101" pitchFamily="2" charset="-122"/>
                </a:rPr>
                <a:t>B</a:t>
              </a:r>
            </a:p>
          </p:txBody>
        </p:sp>
        <p:sp>
          <p:nvSpPr>
            <p:cNvPr id="66580" name="Line 26"/>
            <p:cNvSpPr>
              <a:spLocks noChangeShapeType="1"/>
            </p:cNvSpPr>
            <p:nvPr/>
          </p:nvSpPr>
          <p:spPr bwMode="auto">
            <a:xfrm>
              <a:off x="1496070" y="3717082"/>
              <a:ext cx="15351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66581" name="Line 27"/>
            <p:cNvSpPr>
              <a:spLocks noChangeShapeType="1"/>
            </p:cNvSpPr>
            <p:nvPr/>
          </p:nvSpPr>
          <p:spPr bwMode="auto">
            <a:xfrm>
              <a:off x="6776095" y="3717082"/>
              <a:ext cx="16335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66582" name="AutoShape 16"/>
            <p:cNvSpPr>
              <a:spLocks noChangeArrowheads="1"/>
            </p:cNvSpPr>
            <p:nvPr/>
          </p:nvSpPr>
          <p:spPr bwMode="auto">
            <a:xfrm>
              <a:off x="2959745" y="3501182"/>
              <a:ext cx="431800" cy="431800"/>
            </a:xfrm>
            <a:prstGeom prst="cube">
              <a:avLst>
                <a:gd name="adj" fmla="val 25000"/>
              </a:avLst>
            </a:prstGeom>
            <a:solidFill>
              <a:srgbClr val="DDDDDD"/>
            </a:solidFill>
            <a:ln w="9525">
              <a:solidFill>
                <a:schemeClr val="tx1"/>
              </a:solidFill>
              <a:miter lim="800000"/>
              <a:headEnd/>
              <a:tailEnd/>
            </a:ln>
          </p:spPr>
          <p:txBody>
            <a:bodyPr wrap="none" anchor="ctr"/>
            <a:lstStyle/>
            <a:p>
              <a:pPr algn="ctr" eaLnBrk="0" hangingPunct="0"/>
              <a:r>
                <a:rPr lang="en-US" altLang="zh-CN" sz="1600" b="1">
                  <a:latin typeface="Times New Roman" panose="02020603050405020304" pitchFamily="18" charset="0"/>
                  <a:ea typeface="宋体" panose="02010600030101010101" pitchFamily="2" charset="-122"/>
                </a:rPr>
                <a:t>C</a:t>
              </a:r>
            </a:p>
          </p:txBody>
        </p:sp>
        <p:sp>
          <p:nvSpPr>
            <p:cNvPr id="66583" name="AutoShape 20"/>
            <p:cNvSpPr>
              <a:spLocks noChangeArrowheads="1"/>
            </p:cNvSpPr>
            <p:nvPr/>
          </p:nvSpPr>
          <p:spPr bwMode="auto">
            <a:xfrm>
              <a:off x="4159895" y="3501182"/>
              <a:ext cx="431800" cy="431800"/>
            </a:xfrm>
            <a:prstGeom prst="cube">
              <a:avLst>
                <a:gd name="adj" fmla="val 25000"/>
              </a:avLst>
            </a:prstGeom>
            <a:solidFill>
              <a:srgbClr val="DDDDDD"/>
            </a:solidFill>
            <a:ln w="9525">
              <a:solidFill>
                <a:schemeClr val="tx1"/>
              </a:solidFill>
              <a:miter lim="800000"/>
              <a:headEnd/>
              <a:tailEnd/>
            </a:ln>
          </p:spPr>
          <p:txBody>
            <a:bodyPr wrap="none" anchor="ctr"/>
            <a:lstStyle/>
            <a:p>
              <a:pPr algn="ctr" eaLnBrk="0" hangingPunct="0"/>
              <a:r>
                <a:rPr lang="en-US" altLang="zh-CN" sz="1600" b="1">
                  <a:latin typeface="Times New Roman" panose="02020603050405020304" pitchFamily="18" charset="0"/>
                  <a:ea typeface="宋体" panose="02010600030101010101" pitchFamily="2" charset="-122"/>
                </a:rPr>
                <a:t>D</a:t>
              </a:r>
            </a:p>
          </p:txBody>
        </p:sp>
        <p:sp>
          <p:nvSpPr>
            <p:cNvPr id="66584" name="AutoShape 21"/>
            <p:cNvSpPr>
              <a:spLocks noChangeArrowheads="1"/>
            </p:cNvSpPr>
            <p:nvPr/>
          </p:nvSpPr>
          <p:spPr bwMode="auto">
            <a:xfrm>
              <a:off x="5360045" y="3501182"/>
              <a:ext cx="431800" cy="431800"/>
            </a:xfrm>
            <a:prstGeom prst="cube">
              <a:avLst>
                <a:gd name="adj" fmla="val 25000"/>
              </a:avLst>
            </a:prstGeom>
            <a:solidFill>
              <a:srgbClr val="DDDDDD"/>
            </a:solidFill>
            <a:ln w="9525">
              <a:solidFill>
                <a:schemeClr val="tx1"/>
              </a:solidFill>
              <a:miter lim="800000"/>
              <a:headEnd/>
              <a:tailEnd/>
            </a:ln>
          </p:spPr>
          <p:txBody>
            <a:bodyPr wrap="none" anchor="ctr"/>
            <a:lstStyle/>
            <a:p>
              <a:pPr algn="ctr" eaLnBrk="0" hangingPunct="0"/>
              <a:r>
                <a:rPr lang="en-US" altLang="zh-CN" sz="1600" b="1">
                  <a:latin typeface="Times New Roman" panose="02020603050405020304" pitchFamily="18" charset="0"/>
                  <a:ea typeface="宋体" panose="02010600030101010101" pitchFamily="2" charset="-122"/>
                </a:rPr>
                <a:t>E</a:t>
              </a:r>
            </a:p>
          </p:txBody>
        </p:sp>
        <p:sp>
          <p:nvSpPr>
            <p:cNvPr id="66585" name="AutoShape 22"/>
            <p:cNvSpPr>
              <a:spLocks noChangeArrowheads="1"/>
            </p:cNvSpPr>
            <p:nvPr/>
          </p:nvSpPr>
          <p:spPr bwMode="auto">
            <a:xfrm>
              <a:off x="6560195" y="3501182"/>
              <a:ext cx="431800" cy="431800"/>
            </a:xfrm>
            <a:prstGeom prst="cube">
              <a:avLst>
                <a:gd name="adj" fmla="val 25000"/>
              </a:avLst>
            </a:prstGeom>
            <a:solidFill>
              <a:srgbClr val="DDDDDD"/>
            </a:solidFill>
            <a:ln w="9525">
              <a:solidFill>
                <a:schemeClr val="tx1"/>
              </a:solidFill>
              <a:miter lim="800000"/>
              <a:headEnd/>
              <a:tailEnd/>
            </a:ln>
          </p:spPr>
          <p:txBody>
            <a:bodyPr wrap="none" anchor="ctr"/>
            <a:lstStyle/>
            <a:p>
              <a:pPr algn="ctr" eaLnBrk="0" hangingPunct="0"/>
              <a:r>
                <a:rPr lang="en-US" altLang="zh-CN" sz="1600" b="1">
                  <a:latin typeface="Times New Roman" panose="02020603050405020304" pitchFamily="18" charset="0"/>
                  <a:ea typeface="宋体" panose="02010600030101010101" pitchFamily="2" charset="-122"/>
                </a:rPr>
                <a:t>F</a:t>
              </a:r>
            </a:p>
          </p:txBody>
        </p:sp>
        <p:sp>
          <p:nvSpPr>
            <p:cNvPr id="66586" name="Text Box 28"/>
            <p:cNvSpPr txBox="1">
              <a:spLocks noChangeArrowheads="1"/>
            </p:cNvSpPr>
            <p:nvPr/>
          </p:nvSpPr>
          <p:spPr bwMode="auto">
            <a:xfrm>
              <a:off x="4831407" y="2564557"/>
              <a:ext cx="769410" cy="307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600" b="1">
                  <a:latin typeface="Times New Roman" panose="02020603050405020304" pitchFamily="18" charset="0"/>
                  <a:ea typeface="宋体" panose="02010600030101010101" pitchFamily="2" charset="-122"/>
                </a:rPr>
                <a:t>电信网</a:t>
              </a:r>
            </a:p>
          </p:txBody>
        </p:sp>
        <p:sp>
          <p:nvSpPr>
            <p:cNvPr id="66587" name="Text Box 29"/>
            <p:cNvSpPr txBox="1">
              <a:spLocks noChangeArrowheads="1"/>
            </p:cNvSpPr>
            <p:nvPr/>
          </p:nvSpPr>
          <p:spPr bwMode="auto">
            <a:xfrm>
              <a:off x="2815282" y="3140819"/>
              <a:ext cx="769410" cy="307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600" b="1">
                  <a:latin typeface="Times New Roman" panose="02020603050405020304" pitchFamily="18" charset="0"/>
                  <a:ea typeface="宋体" panose="02010600030101010101" pitchFamily="2" charset="-122"/>
                </a:rPr>
                <a:t>交换机</a:t>
              </a:r>
            </a:p>
          </p:txBody>
        </p:sp>
        <p:sp>
          <p:nvSpPr>
            <p:cNvPr id="66588" name="Text Box 30"/>
            <p:cNvSpPr txBox="1">
              <a:spLocks noChangeArrowheads="1"/>
            </p:cNvSpPr>
            <p:nvPr/>
          </p:nvSpPr>
          <p:spPr bwMode="auto">
            <a:xfrm>
              <a:off x="3966220" y="3140819"/>
              <a:ext cx="769410" cy="307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600" b="1">
                  <a:latin typeface="Times New Roman" panose="02020603050405020304" pitchFamily="18" charset="0"/>
                  <a:ea typeface="宋体" panose="02010600030101010101" pitchFamily="2" charset="-122"/>
                </a:rPr>
                <a:t>交换机</a:t>
              </a:r>
            </a:p>
          </p:txBody>
        </p:sp>
        <p:sp>
          <p:nvSpPr>
            <p:cNvPr id="66589" name="Text Box 31"/>
            <p:cNvSpPr txBox="1">
              <a:spLocks noChangeArrowheads="1"/>
            </p:cNvSpPr>
            <p:nvPr/>
          </p:nvSpPr>
          <p:spPr bwMode="auto">
            <a:xfrm>
              <a:off x="5190182" y="3140819"/>
              <a:ext cx="769410" cy="307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600" b="1">
                  <a:latin typeface="Times New Roman" panose="02020603050405020304" pitchFamily="18" charset="0"/>
                  <a:ea typeface="宋体" panose="02010600030101010101" pitchFamily="2" charset="-122"/>
                </a:rPr>
                <a:t>交换机</a:t>
              </a:r>
            </a:p>
          </p:txBody>
        </p:sp>
        <p:sp>
          <p:nvSpPr>
            <p:cNvPr id="66590" name="Text Box 32"/>
            <p:cNvSpPr txBox="1">
              <a:spLocks noChangeArrowheads="1"/>
            </p:cNvSpPr>
            <p:nvPr/>
          </p:nvSpPr>
          <p:spPr bwMode="auto">
            <a:xfrm>
              <a:off x="6414145" y="3140819"/>
              <a:ext cx="769410" cy="307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600" b="1">
                  <a:latin typeface="Times New Roman" panose="02020603050405020304" pitchFamily="18" charset="0"/>
                  <a:ea typeface="宋体" panose="02010600030101010101" pitchFamily="2" charset="-122"/>
                </a:rPr>
                <a:t>交换机</a:t>
              </a:r>
            </a:p>
          </p:txBody>
        </p:sp>
        <p:sp>
          <p:nvSpPr>
            <p:cNvPr id="66591" name="Text Box 34"/>
            <p:cNvSpPr txBox="1">
              <a:spLocks noChangeArrowheads="1"/>
            </p:cNvSpPr>
            <p:nvPr/>
          </p:nvSpPr>
          <p:spPr bwMode="auto">
            <a:xfrm>
              <a:off x="4615507" y="4364782"/>
              <a:ext cx="769410" cy="307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600" b="1">
                  <a:latin typeface="Times New Roman" panose="02020603050405020304" pitchFamily="18" charset="0"/>
                  <a:ea typeface="宋体" panose="02010600030101010101" pitchFamily="2" charset="-122"/>
                </a:rPr>
                <a:t>中继线</a:t>
              </a:r>
            </a:p>
          </p:txBody>
        </p:sp>
        <p:sp>
          <p:nvSpPr>
            <p:cNvPr id="66592" name="Line 35"/>
            <p:cNvSpPr>
              <a:spLocks noChangeShapeType="1"/>
            </p:cNvSpPr>
            <p:nvPr/>
          </p:nvSpPr>
          <p:spPr bwMode="auto">
            <a:xfrm>
              <a:off x="3691582" y="3739307"/>
              <a:ext cx="966788" cy="7096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66593" name="Line 36"/>
            <p:cNvSpPr>
              <a:spLocks noChangeShapeType="1"/>
            </p:cNvSpPr>
            <p:nvPr/>
          </p:nvSpPr>
          <p:spPr bwMode="auto">
            <a:xfrm>
              <a:off x="5006032" y="3753594"/>
              <a:ext cx="0" cy="6429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66594" name="Line 37"/>
            <p:cNvSpPr>
              <a:spLocks noChangeShapeType="1"/>
            </p:cNvSpPr>
            <p:nvPr/>
          </p:nvSpPr>
          <p:spPr bwMode="auto">
            <a:xfrm flipH="1">
              <a:off x="5198120" y="3753594"/>
              <a:ext cx="1030287" cy="6429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66595" name="Line 38"/>
            <p:cNvSpPr>
              <a:spLocks noChangeShapeType="1"/>
            </p:cNvSpPr>
            <p:nvPr/>
          </p:nvSpPr>
          <p:spPr bwMode="auto">
            <a:xfrm>
              <a:off x="2467620" y="3726607"/>
              <a:ext cx="65087" cy="4778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66596" name="Line 39"/>
            <p:cNvSpPr>
              <a:spLocks noChangeShapeType="1"/>
            </p:cNvSpPr>
            <p:nvPr/>
          </p:nvSpPr>
          <p:spPr bwMode="auto">
            <a:xfrm>
              <a:off x="7478298" y="3725584"/>
              <a:ext cx="133350" cy="4349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66597" name="Text Box 40"/>
            <p:cNvSpPr txBox="1">
              <a:spLocks noChangeArrowheads="1"/>
            </p:cNvSpPr>
            <p:nvPr/>
          </p:nvSpPr>
          <p:spPr bwMode="auto">
            <a:xfrm>
              <a:off x="2167582" y="4148882"/>
              <a:ext cx="769410" cy="307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600" b="1">
                  <a:latin typeface="Times New Roman" panose="02020603050405020304" pitchFamily="18" charset="0"/>
                  <a:ea typeface="宋体" panose="02010600030101010101" pitchFamily="2" charset="-122"/>
                </a:rPr>
                <a:t>用户线</a:t>
              </a:r>
            </a:p>
          </p:txBody>
        </p:sp>
        <p:sp>
          <p:nvSpPr>
            <p:cNvPr id="66598" name="Text Box 41"/>
            <p:cNvSpPr txBox="1">
              <a:spLocks noChangeArrowheads="1"/>
            </p:cNvSpPr>
            <p:nvPr/>
          </p:nvSpPr>
          <p:spPr bwMode="auto">
            <a:xfrm>
              <a:off x="7134870" y="4148882"/>
              <a:ext cx="769410" cy="307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600" b="1">
                  <a:latin typeface="Times New Roman" panose="02020603050405020304" pitchFamily="18" charset="0"/>
                  <a:ea typeface="宋体" panose="02010600030101010101" pitchFamily="2" charset="-122"/>
                </a:rPr>
                <a:t>用户线</a:t>
              </a:r>
            </a:p>
          </p:txBody>
        </p:sp>
        <p:grpSp>
          <p:nvGrpSpPr>
            <p:cNvPr id="66599" name="Group 56"/>
            <p:cNvGrpSpPr>
              <a:grpSpLocks/>
            </p:cNvGrpSpPr>
            <p:nvPr/>
          </p:nvGrpSpPr>
          <p:grpSpPr bwMode="auto">
            <a:xfrm flipH="1">
              <a:off x="7185670" y="3528169"/>
              <a:ext cx="1008062" cy="146050"/>
              <a:chOff x="1519" y="2160"/>
              <a:chExt cx="953" cy="227"/>
            </a:xfrm>
          </p:grpSpPr>
          <p:sp>
            <p:nvSpPr>
              <p:cNvPr id="66600" name="Freeform 57"/>
              <p:cNvSpPr>
                <a:spLocks noChangeArrowheads="1"/>
              </p:cNvSpPr>
              <p:nvPr/>
            </p:nvSpPr>
            <p:spPr bwMode="auto">
              <a:xfrm>
                <a:off x="1519" y="2237"/>
                <a:ext cx="104" cy="79"/>
              </a:xfrm>
              <a:custGeom>
                <a:avLst/>
                <a:gdLst>
                  <a:gd name="T0" fmla="*/ 0 w 552"/>
                  <a:gd name="T1" fmla="*/ 255 h 535"/>
                  <a:gd name="T2" fmla="*/ 7 w 552"/>
                  <a:gd name="T3" fmla="*/ 209 h 535"/>
                  <a:gd name="T4" fmla="*/ 18 w 552"/>
                  <a:gd name="T5" fmla="*/ 164 h 535"/>
                  <a:gd name="T6" fmla="*/ 26 w 552"/>
                  <a:gd name="T7" fmla="*/ 131 h 535"/>
                  <a:gd name="T8" fmla="*/ 39 w 552"/>
                  <a:gd name="T9" fmla="*/ 115 h 535"/>
                  <a:gd name="T10" fmla="*/ 52 w 552"/>
                  <a:gd name="T11" fmla="*/ 104 h 535"/>
                  <a:gd name="T12" fmla="*/ 67 w 552"/>
                  <a:gd name="T13" fmla="*/ 103 h 535"/>
                  <a:gd name="T14" fmla="*/ 83 w 552"/>
                  <a:gd name="T15" fmla="*/ 107 h 535"/>
                  <a:gd name="T16" fmla="*/ 98 w 552"/>
                  <a:gd name="T17" fmla="*/ 121 h 535"/>
                  <a:gd name="T18" fmla="*/ 106 w 552"/>
                  <a:gd name="T19" fmla="*/ 140 h 535"/>
                  <a:gd name="T20" fmla="*/ 112 w 552"/>
                  <a:gd name="T21" fmla="*/ 165 h 535"/>
                  <a:gd name="T22" fmla="*/ 141 w 552"/>
                  <a:gd name="T23" fmla="*/ 331 h 535"/>
                  <a:gd name="T24" fmla="*/ 148 w 552"/>
                  <a:gd name="T25" fmla="*/ 356 h 535"/>
                  <a:gd name="T26" fmla="*/ 154 w 552"/>
                  <a:gd name="T27" fmla="*/ 373 h 535"/>
                  <a:gd name="T28" fmla="*/ 172 w 552"/>
                  <a:gd name="T29" fmla="*/ 385 h 535"/>
                  <a:gd name="T30" fmla="*/ 188 w 552"/>
                  <a:gd name="T31" fmla="*/ 386 h 535"/>
                  <a:gd name="T32" fmla="*/ 203 w 552"/>
                  <a:gd name="T33" fmla="*/ 378 h 535"/>
                  <a:gd name="T34" fmla="*/ 212 w 552"/>
                  <a:gd name="T35" fmla="*/ 359 h 535"/>
                  <a:gd name="T36" fmla="*/ 219 w 552"/>
                  <a:gd name="T37" fmla="*/ 331 h 535"/>
                  <a:gd name="T38" fmla="*/ 258 w 552"/>
                  <a:gd name="T39" fmla="*/ 88 h 535"/>
                  <a:gd name="T40" fmla="*/ 264 w 552"/>
                  <a:gd name="T41" fmla="*/ 52 h 535"/>
                  <a:gd name="T42" fmla="*/ 271 w 552"/>
                  <a:gd name="T43" fmla="*/ 29 h 535"/>
                  <a:gd name="T44" fmla="*/ 280 w 552"/>
                  <a:gd name="T45" fmla="*/ 12 h 535"/>
                  <a:gd name="T46" fmla="*/ 291 w 552"/>
                  <a:gd name="T47" fmla="*/ 4 h 535"/>
                  <a:gd name="T48" fmla="*/ 308 w 552"/>
                  <a:gd name="T49" fmla="*/ 0 h 535"/>
                  <a:gd name="T50" fmla="*/ 327 w 552"/>
                  <a:gd name="T51" fmla="*/ 5 h 535"/>
                  <a:gd name="T52" fmla="*/ 340 w 552"/>
                  <a:gd name="T53" fmla="*/ 26 h 535"/>
                  <a:gd name="T54" fmla="*/ 347 w 552"/>
                  <a:gd name="T55" fmla="*/ 43 h 535"/>
                  <a:gd name="T56" fmla="*/ 353 w 552"/>
                  <a:gd name="T57" fmla="*/ 68 h 535"/>
                  <a:gd name="T58" fmla="*/ 412 w 552"/>
                  <a:gd name="T59" fmla="*/ 460 h 535"/>
                  <a:gd name="T60" fmla="*/ 419 w 552"/>
                  <a:gd name="T61" fmla="*/ 492 h 535"/>
                  <a:gd name="T62" fmla="*/ 429 w 552"/>
                  <a:gd name="T63" fmla="*/ 520 h 535"/>
                  <a:gd name="T64" fmla="*/ 441 w 552"/>
                  <a:gd name="T65" fmla="*/ 530 h 535"/>
                  <a:gd name="T66" fmla="*/ 462 w 552"/>
                  <a:gd name="T67" fmla="*/ 535 h 535"/>
                  <a:gd name="T68" fmla="*/ 478 w 552"/>
                  <a:gd name="T69" fmla="*/ 518 h 535"/>
                  <a:gd name="T70" fmla="*/ 488 w 552"/>
                  <a:gd name="T71" fmla="*/ 495 h 535"/>
                  <a:gd name="T72" fmla="*/ 496 w 552"/>
                  <a:gd name="T73" fmla="*/ 461 h 535"/>
                  <a:gd name="T74" fmla="*/ 552 w 552"/>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4763">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宋体" panose="02010600030101010101" pitchFamily="2" charset="-122"/>
                </a:endParaRPr>
              </a:p>
            </p:txBody>
          </p:sp>
          <p:sp>
            <p:nvSpPr>
              <p:cNvPr id="66601" name="Freeform 58"/>
              <p:cNvSpPr>
                <a:spLocks noChangeArrowheads="1"/>
              </p:cNvSpPr>
              <p:nvPr/>
            </p:nvSpPr>
            <p:spPr bwMode="auto">
              <a:xfrm>
                <a:off x="1623" y="2160"/>
                <a:ext cx="179" cy="227"/>
              </a:xfrm>
              <a:custGeom>
                <a:avLst/>
                <a:gdLst>
                  <a:gd name="T0" fmla="*/ 0 w 943"/>
                  <a:gd name="T1" fmla="*/ 622 h 1524"/>
                  <a:gd name="T2" fmla="*/ 49 w 943"/>
                  <a:gd name="T3" fmla="*/ 336 h 1524"/>
                  <a:gd name="T4" fmla="*/ 55 w 943"/>
                  <a:gd name="T5" fmla="*/ 313 h 1524"/>
                  <a:gd name="T6" fmla="*/ 71 w 943"/>
                  <a:gd name="T7" fmla="*/ 301 h 1524"/>
                  <a:gd name="T8" fmla="*/ 84 w 943"/>
                  <a:gd name="T9" fmla="*/ 297 h 1524"/>
                  <a:gd name="T10" fmla="*/ 105 w 943"/>
                  <a:gd name="T11" fmla="*/ 301 h 1524"/>
                  <a:gd name="T12" fmla="*/ 116 w 943"/>
                  <a:gd name="T13" fmla="*/ 314 h 1524"/>
                  <a:gd name="T14" fmla="*/ 122 w 943"/>
                  <a:gd name="T15" fmla="*/ 336 h 1524"/>
                  <a:gd name="T16" fmla="*/ 236 w 943"/>
                  <a:gd name="T17" fmla="*/ 1164 h 1524"/>
                  <a:gd name="T18" fmla="*/ 247 w 943"/>
                  <a:gd name="T19" fmla="*/ 1207 h 1524"/>
                  <a:gd name="T20" fmla="*/ 258 w 943"/>
                  <a:gd name="T21" fmla="*/ 1222 h 1524"/>
                  <a:gd name="T22" fmla="*/ 276 w 943"/>
                  <a:gd name="T23" fmla="*/ 1230 h 1524"/>
                  <a:gd name="T24" fmla="*/ 290 w 943"/>
                  <a:gd name="T25" fmla="*/ 1234 h 1524"/>
                  <a:gd name="T26" fmla="*/ 309 w 943"/>
                  <a:gd name="T27" fmla="*/ 1227 h 1524"/>
                  <a:gd name="T28" fmla="*/ 324 w 943"/>
                  <a:gd name="T29" fmla="*/ 1209 h 1524"/>
                  <a:gd name="T30" fmla="*/ 335 w 943"/>
                  <a:gd name="T31" fmla="*/ 1164 h 1524"/>
                  <a:gd name="T32" fmla="*/ 448 w 943"/>
                  <a:gd name="T33" fmla="*/ 204 h 1524"/>
                  <a:gd name="T34" fmla="*/ 455 w 943"/>
                  <a:gd name="T35" fmla="*/ 158 h 1524"/>
                  <a:gd name="T36" fmla="*/ 462 w 943"/>
                  <a:gd name="T37" fmla="*/ 143 h 1524"/>
                  <a:gd name="T38" fmla="*/ 470 w 943"/>
                  <a:gd name="T39" fmla="*/ 129 h 1524"/>
                  <a:gd name="T40" fmla="*/ 483 w 943"/>
                  <a:gd name="T41" fmla="*/ 118 h 1524"/>
                  <a:gd name="T42" fmla="*/ 499 w 943"/>
                  <a:gd name="T43" fmla="*/ 116 h 1524"/>
                  <a:gd name="T44" fmla="*/ 517 w 943"/>
                  <a:gd name="T45" fmla="*/ 122 h 1524"/>
                  <a:gd name="T46" fmla="*/ 531 w 943"/>
                  <a:gd name="T47" fmla="*/ 132 h 1524"/>
                  <a:gd name="T48" fmla="*/ 539 w 943"/>
                  <a:gd name="T49" fmla="*/ 143 h 1524"/>
                  <a:gd name="T50" fmla="*/ 548 w 943"/>
                  <a:gd name="T51" fmla="*/ 158 h 1524"/>
                  <a:gd name="T52" fmla="*/ 555 w 943"/>
                  <a:gd name="T53" fmla="*/ 197 h 1524"/>
                  <a:gd name="T54" fmla="*/ 658 w 943"/>
                  <a:gd name="T55" fmla="*/ 1428 h 1524"/>
                  <a:gd name="T56" fmla="*/ 665 w 943"/>
                  <a:gd name="T57" fmla="*/ 1480 h 1524"/>
                  <a:gd name="T58" fmla="*/ 674 w 943"/>
                  <a:gd name="T59" fmla="*/ 1505 h 1524"/>
                  <a:gd name="T60" fmla="*/ 692 w 943"/>
                  <a:gd name="T61" fmla="*/ 1517 h 1524"/>
                  <a:gd name="T62" fmla="*/ 710 w 943"/>
                  <a:gd name="T63" fmla="*/ 1524 h 1524"/>
                  <a:gd name="T64" fmla="*/ 727 w 943"/>
                  <a:gd name="T65" fmla="*/ 1517 h 1524"/>
                  <a:gd name="T66" fmla="*/ 736 w 943"/>
                  <a:gd name="T67" fmla="*/ 1505 h 1524"/>
                  <a:gd name="T68" fmla="*/ 742 w 943"/>
                  <a:gd name="T69" fmla="*/ 1484 h 1524"/>
                  <a:gd name="T70" fmla="*/ 748 w 943"/>
                  <a:gd name="T71" fmla="*/ 1432 h 1524"/>
                  <a:gd name="T72" fmla="*/ 882 w 943"/>
                  <a:gd name="T73" fmla="*/ 87 h 1524"/>
                  <a:gd name="T74" fmla="*/ 888 w 943"/>
                  <a:gd name="T75" fmla="*/ 59 h 1524"/>
                  <a:gd name="T76" fmla="*/ 897 w 943"/>
                  <a:gd name="T77" fmla="*/ 34 h 1524"/>
                  <a:gd name="T78" fmla="*/ 908 w 943"/>
                  <a:gd name="T79" fmla="*/ 17 h 1524"/>
                  <a:gd name="T80" fmla="*/ 919 w 943"/>
                  <a:gd name="T81" fmla="*/ 5 h 1524"/>
                  <a:gd name="T82" fmla="*/ 931 w 943"/>
                  <a:gd name="T83" fmla="*/ 0 h 1524"/>
                  <a:gd name="T84" fmla="*/ 943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4763">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宋体" panose="02010600030101010101" pitchFamily="2" charset="-122"/>
                </a:endParaRPr>
              </a:p>
            </p:txBody>
          </p:sp>
          <p:sp>
            <p:nvSpPr>
              <p:cNvPr id="66602" name="Freeform 59"/>
              <p:cNvSpPr>
                <a:spLocks noChangeArrowheads="1"/>
              </p:cNvSpPr>
              <p:nvPr/>
            </p:nvSpPr>
            <p:spPr bwMode="auto">
              <a:xfrm>
                <a:off x="1978" y="2237"/>
                <a:ext cx="104" cy="79"/>
              </a:xfrm>
              <a:custGeom>
                <a:avLst/>
                <a:gdLst>
                  <a:gd name="T0" fmla="*/ 551 w 551"/>
                  <a:gd name="T1" fmla="*/ 255 h 535"/>
                  <a:gd name="T2" fmla="*/ 544 w 551"/>
                  <a:gd name="T3" fmla="*/ 209 h 535"/>
                  <a:gd name="T4" fmla="*/ 534 w 551"/>
                  <a:gd name="T5" fmla="*/ 164 h 535"/>
                  <a:gd name="T6" fmla="*/ 525 w 551"/>
                  <a:gd name="T7" fmla="*/ 131 h 535"/>
                  <a:gd name="T8" fmla="*/ 514 w 551"/>
                  <a:gd name="T9" fmla="*/ 115 h 535"/>
                  <a:gd name="T10" fmla="*/ 499 w 551"/>
                  <a:gd name="T11" fmla="*/ 104 h 535"/>
                  <a:gd name="T12" fmla="*/ 486 w 551"/>
                  <a:gd name="T13" fmla="*/ 103 h 535"/>
                  <a:gd name="T14" fmla="*/ 468 w 551"/>
                  <a:gd name="T15" fmla="*/ 107 h 535"/>
                  <a:gd name="T16" fmla="*/ 455 w 551"/>
                  <a:gd name="T17" fmla="*/ 121 h 535"/>
                  <a:gd name="T18" fmla="*/ 446 w 551"/>
                  <a:gd name="T19" fmla="*/ 140 h 535"/>
                  <a:gd name="T20" fmla="*/ 439 w 551"/>
                  <a:gd name="T21" fmla="*/ 165 h 535"/>
                  <a:gd name="T22" fmla="*/ 411 w 551"/>
                  <a:gd name="T23" fmla="*/ 331 h 535"/>
                  <a:gd name="T24" fmla="*/ 404 w 551"/>
                  <a:gd name="T25" fmla="*/ 356 h 535"/>
                  <a:gd name="T26" fmla="*/ 398 w 551"/>
                  <a:gd name="T27" fmla="*/ 373 h 535"/>
                  <a:gd name="T28" fmla="*/ 381 w 551"/>
                  <a:gd name="T29" fmla="*/ 385 h 535"/>
                  <a:gd name="T30" fmla="*/ 364 w 551"/>
                  <a:gd name="T31" fmla="*/ 386 h 535"/>
                  <a:gd name="T32" fmla="*/ 349 w 551"/>
                  <a:gd name="T33" fmla="*/ 378 h 535"/>
                  <a:gd name="T34" fmla="*/ 341 w 551"/>
                  <a:gd name="T35" fmla="*/ 359 h 535"/>
                  <a:gd name="T36" fmla="*/ 333 w 551"/>
                  <a:gd name="T37" fmla="*/ 331 h 535"/>
                  <a:gd name="T38" fmla="*/ 295 w 551"/>
                  <a:gd name="T39" fmla="*/ 88 h 535"/>
                  <a:gd name="T40" fmla="*/ 288 w 551"/>
                  <a:gd name="T41" fmla="*/ 52 h 535"/>
                  <a:gd name="T42" fmla="*/ 281 w 551"/>
                  <a:gd name="T43" fmla="*/ 29 h 535"/>
                  <a:gd name="T44" fmla="*/ 271 w 551"/>
                  <a:gd name="T45" fmla="*/ 12 h 535"/>
                  <a:gd name="T46" fmla="*/ 260 w 551"/>
                  <a:gd name="T47" fmla="*/ 4 h 535"/>
                  <a:gd name="T48" fmla="*/ 242 w 551"/>
                  <a:gd name="T49" fmla="*/ 0 h 535"/>
                  <a:gd name="T50" fmla="*/ 225 w 551"/>
                  <a:gd name="T51" fmla="*/ 5 h 535"/>
                  <a:gd name="T52" fmla="*/ 210 w 551"/>
                  <a:gd name="T53" fmla="*/ 26 h 535"/>
                  <a:gd name="T54" fmla="*/ 204 w 551"/>
                  <a:gd name="T55" fmla="*/ 43 h 535"/>
                  <a:gd name="T56" fmla="*/ 199 w 551"/>
                  <a:gd name="T57" fmla="*/ 68 h 535"/>
                  <a:gd name="T58" fmla="*/ 141 w 551"/>
                  <a:gd name="T59" fmla="*/ 460 h 535"/>
                  <a:gd name="T60" fmla="*/ 134 w 551"/>
                  <a:gd name="T61" fmla="*/ 492 h 535"/>
                  <a:gd name="T62" fmla="*/ 123 w 551"/>
                  <a:gd name="T63" fmla="*/ 520 h 535"/>
                  <a:gd name="T64" fmla="*/ 111 w 551"/>
                  <a:gd name="T65" fmla="*/ 530 h 535"/>
                  <a:gd name="T66" fmla="*/ 90 w 551"/>
                  <a:gd name="T67" fmla="*/ 535 h 535"/>
                  <a:gd name="T68" fmla="*/ 73 w 551"/>
                  <a:gd name="T69" fmla="*/ 518 h 535"/>
                  <a:gd name="T70" fmla="*/ 63 w 551"/>
                  <a:gd name="T71" fmla="*/ 495 h 535"/>
                  <a:gd name="T72" fmla="*/ 56 w 551"/>
                  <a:gd name="T73" fmla="*/ 461 h 535"/>
                  <a:gd name="T74" fmla="*/ 0 w 551"/>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4763">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宋体" panose="02010600030101010101" pitchFamily="2" charset="-122"/>
                </a:endParaRPr>
              </a:p>
            </p:txBody>
          </p:sp>
          <p:sp>
            <p:nvSpPr>
              <p:cNvPr id="66603" name="Freeform 60"/>
              <p:cNvSpPr>
                <a:spLocks noChangeArrowheads="1"/>
              </p:cNvSpPr>
              <p:nvPr/>
            </p:nvSpPr>
            <p:spPr bwMode="auto">
              <a:xfrm>
                <a:off x="1799" y="2160"/>
                <a:ext cx="179" cy="227"/>
              </a:xfrm>
              <a:custGeom>
                <a:avLst/>
                <a:gdLst>
                  <a:gd name="T0" fmla="*/ 943 w 943"/>
                  <a:gd name="T1" fmla="*/ 626 h 1524"/>
                  <a:gd name="T2" fmla="*/ 895 w 943"/>
                  <a:gd name="T3" fmla="*/ 336 h 1524"/>
                  <a:gd name="T4" fmla="*/ 887 w 943"/>
                  <a:gd name="T5" fmla="*/ 313 h 1524"/>
                  <a:gd name="T6" fmla="*/ 873 w 943"/>
                  <a:gd name="T7" fmla="*/ 301 h 1524"/>
                  <a:gd name="T8" fmla="*/ 859 w 943"/>
                  <a:gd name="T9" fmla="*/ 297 h 1524"/>
                  <a:gd name="T10" fmla="*/ 837 w 943"/>
                  <a:gd name="T11" fmla="*/ 301 h 1524"/>
                  <a:gd name="T12" fmla="*/ 828 w 943"/>
                  <a:gd name="T13" fmla="*/ 314 h 1524"/>
                  <a:gd name="T14" fmla="*/ 819 w 943"/>
                  <a:gd name="T15" fmla="*/ 336 h 1524"/>
                  <a:gd name="T16" fmla="*/ 706 w 943"/>
                  <a:gd name="T17" fmla="*/ 1164 h 1524"/>
                  <a:gd name="T18" fmla="*/ 695 w 943"/>
                  <a:gd name="T19" fmla="*/ 1207 h 1524"/>
                  <a:gd name="T20" fmla="*/ 686 w 943"/>
                  <a:gd name="T21" fmla="*/ 1222 h 1524"/>
                  <a:gd name="T22" fmla="*/ 667 w 943"/>
                  <a:gd name="T23" fmla="*/ 1230 h 1524"/>
                  <a:gd name="T24" fmla="*/ 652 w 943"/>
                  <a:gd name="T25" fmla="*/ 1234 h 1524"/>
                  <a:gd name="T26" fmla="*/ 633 w 943"/>
                  <a:gd name="T27" fmla="*/ 1227 h 1524"/>
                  <a:gd name="T28" fmla="*/ 619 w 943"/>
                  <a:gd name="T29" fmla="*/ 1209 h 1524"/>
                  <a:gd name="T30" fmla="*/ 608 w 943"/>
                  <a:gd name="T31" fmla="*/ 1164 h 1524"/>
                  <a:gd name="T32" fmla="*/ 495 w 943"/>
                  <a:gd name="T33" fmla="*/ 204 h 1524"/>
                  <a:gd name="T34" fmla="*/ 486 w 943"/>
                  <a:gd name="T35" fmla="*/ 158 h 1524"/>
                  <a:gd name="T36" fmla="*/ 482 w 943"/>
                  <a:gd name="T37" fmla="*/ 143 h 1524"/>
                  <a:gd name="T38" fmla="*/ 473 w 943"/>
                  <a:gd name="T39" fmla="*/ 129 h 1524"/>
                  <a:gd name="T40" fmla="*/ 459 w 943"/>
                  <a:gd name="T41" fmla="*/ 118 h 1524"/>
                  <a:gd name="T42" fmla="*/ 446 w 943"/>
                  <a:gd name="T43" fmla="*/ 116 h 1524"/>
                  <a:gd name="T44" fmla="*/ 427 w 943"/>
                  <a:gd name="T45" fmla="*/ 122 h 1524"/>
                  <a:gd name="T46" fmla="*/ 411 w 943"/>
                  <a:gd name="T47" fmla="*/ 132 h 1524"/>
                  <a:gd name="T48" fmla="*/ 403 w 943"/>
                  <a:gd name="T49" fmla="*/ 143 h 1524"/>
                  <a:gd name="T50" fmla="*/ 396 w 943"/>
                  <a:gd name="T51" fmla="*/ 158 h 1524"/>
                  <a:gd name="T52" fmla="*/ 389 w 943"/>
                  <a:gd name="T53" fmla="*/ 197 h 1524"/>
                  <a:gd name="T54" fmla="*/ 285 w 943"/>
                  <a:gd name="T55" fmla="*/ 1428 h 1524"/>
                  <a:gd name="T56" fmla="*/ 278 w 943"/>
                  <a:gd name="T57" fmla="*/ 1480 h 1524"/>
                  <a:gd name="T58" fmla="*/ 268 w 943"/>
                  <a:gd name="T59" fmla="*/ 1505 h 1524"/>
                  <a:gd name="T60" fmla="*/ 250 w 943"/>
                  <a:gd name="T61" fmla="*/ 1517 h 1524"/>
                  <a:gd name="T62" fmla="*/ 233 w 943"/>
                  <a:gd name="T63" fmla="*/ 1524 h 1524"/>
                  <a:gd name="T64" fmla="*/ 217 w 943"/>
                  <a:gd name="T65" fmla="*/ 1517 h 1524"/>
                  <a:gd name="T66" fmla="*/ 207 w 943"/>
                  <a:gd name="T67" fmla="*/ 1505 h 1524"/>
                  <a:gd name="T68" fmla="*/ 200 w 943"/>
                  <a:gd name="T69" fmla="*/ 1484 h 1524"/>
                  <a:gd name="T70" fmla="*/ 194 w 943"/>
                  <a:gd name="T71" fmla="*/ 1432 h 1524"/>
                  <a:gd name="T72" fmla="*/ 60 w 943"/>
                  <a:gd name="T73" fmla="*/ 87 h 1524"/>
                  <a:gd name="T74" fmla="*/ 56 w 943"/>
                  <a:gd name="T75" fmla="*/ 59 h 1524"/>
                  <a:gd name="T76" fmla="*/ 46 w 943"/>
                  <a:gd name="T77" fmla="*/ 34 h 1524"/>
                  <a:gd name="T78" fmla="*/ 35 w 943"/>
                  <a:gd name="T79" fmla="*/ 17 h 1524"/>
                  <a:gd name="T80" fmla="*/ 25 w 943"/>
                  <a:gd name="T81" fmla="*/ 5 h 1524"/>
                  <a:gd name="T82" fmla="*/ 12 w 943"/>
                  <a:gd name="T83" fmla="*/ 0 h 1524"/>
                  <a:gd name="T84" fmla="*/ 0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4763">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宋体" panose="02010600030101010101" pitchFamily="2" charset="-122"/>
                </a:endParaRPr>
              </a:p>
            </p:txBody>
          </p:sp>
          <p:sp>
            <p:nvSpPr>
              <p:cNvPr id="66604" name="Line 61"/>
              <p:cNvSpPr>
                <a:spLocks noChangeShapeType="1"/>
              </p:cNvSpPr>
              <p:nvPr/>
            </p:nvSpPr>
            <p:spPr bwMode="auto">
              <a:xfrm>
                <a:off x="2109" y="2259"/>
                <a:ext cx="363"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grpSp>
        <p:grpSp>
          <p:nvGrpSpPr>
            <p:cNvPr id="66605" name="Group 64"/>
            <p:cNvGrpSpPr>
              <a:grpSpLocks/>
            </p:cNvGrpSpPr>
            <p:nvPr/>
          </p:nvGrpSpPr>
          <p:grpSpPr bwMode="auto">
            <a:xfrm>
              <a:off x="1713557" y="3501182"/>
              <a:ext cx="1008063" cy="146050"/>
              <a:chOff x="1519" y="2160"/>
              <a:chExt cx="953" cy="227"/>
            </a:xfrm>
          </p:grpSpPr>
          <p:sp>
            <p:nvSpPr>
              <p:cNvPr id="66606" name="Freeform 65"/>
              <p:cNvSpPr>
                <a:spLocks noChangeArrowheads="1"/>
              </p:cNvSpPr>
              <p:nvPr/>
            </p:nvSpPr>
            <p:spPr bwMode="auto">
              <a:xfrm>
                <a:off x="1519" y="2237"/>
                <a:ext cx="104" cy="79"/>
              </a:xfrm>
              <a:custGeom>
                <a:avLst/>
                <a:gdLst>
                  <a:gd name="T0" fmla="*/ 0 w 552"/>
                  <a:gd name="T1" fmla="*/ 255 h 535"/>
                  <a:gd name="T2" fmla="*/ 7 w 552"/>
                  <a:gd name="T3" fmla="*/ 209 h 535"/>
                  <a:gd name="T4" fmla="*/ 18 w 552"/>
                  <a:gd name="T5" fmla="*/ 164 h 535"/>
                  <a:gd name="T6" fmla="*/ 26 w 552"/>
                  <a:gd name="T7" fmla="*/ 131 h 535"/>
                  <a:gd name="T8" fmla="*/ 39 w 552"/>
                  <a:gd name="T9" fmla="*/ 115 h 535"/>
                  <a:gd name="T10" fmla="*/ 52 w 552"/>
                  <a:gd name="T11" fmla="*/ 104 h 535"/>
                  <a:gd name="T12" fmla="*/ 67 w 552"/>
                  <a:gd name="T13" fmla="*/ 103 h 535"/>
                  <a:gd name="T14" fmla="*/ 83 w 552"/>
                  <a:gd name="T15" fmla="*/ 107 h 535"/>
                  <a:gd name="T16" fmla="*/ 98 w 552"/>
                  <a:gd name="T17" fmla="*/ 121 h 535"/>
                  <a:gd name="T18" fmla="*/ 106 w 552"/>
                  <a:gd name="T19" fmla="*/ 140 h 535"/>
                  <a:gd name="T20" fmla="*/ 112 w 552"/>
                  <a:gd name="T21" fmla="*/ 165 h 535"/>
                  <a:gd name="T22" fmla="*/ 141 w 552"/>
                  <a:gd name="T23" fmla="*/ 331 h 535"/>
                  <a:gd name="T24" fmla="*/ 148 w 552"/>
                  <a:gd name="T25" fmla="*/ 356 h 535"/>
                  <a:gd name="T26" fmla="*/ 154 w 552"/>
                  <a:gd name="T27" fmla="*/ 373 h 535"/>
                  <a:gd name="T28" fmla="*/ 172 w 552"/>
                  <a:gd name="T29" fmla="*/ 385 h 535"/>
                  <a:gd name="T30" fmla="*/ 188 w 552"/>
                  <a:gd name="T31" fmla="*/ 386 h 535"/>
                  <a:gd name="T32" fmla="*/ 203 w 552"/>
                  <a:gd name="T33" fmla="*/ 378 h 535"/>
                  <a:gd name="T34" fmla="*/ 212 w 552"/>
                  <a:gd name="T35" fmla="*/ 359 h 535"/>
                  <a:gd name="T36" fmla="*/ 219 w 552"/>
                  <a:gd name="T37" fmla="*/ 331 h 535"/>
                  <a:gd name="T38" fmla="*/ 258 w 552"/>
                  <a:gd name="T39" fmla="*/ 88 h 535"/>
                  <a:gd name="T40" fmla="*/ 264 w 552"/>
                  <a:gd name="T41" fmla="*/ 52 h 535"/>
                  <a:gd name="T42" fmla="*/ 271 w 552"/>
                  <a:gd name="T43" fmla="*/ 29 h 535"/>
                  <a:gd name="T44" fmla="*/ 280 w 552"/>
                  <a:gd name="T45" fmla="*/ 12 h 535"/>
                  <a:gd name="T46" fmla="*/ 291 w 552"/>
                  <a:gd name="T47" fmla="*/ 4 h 535"/>
                  <a:gd name="T48" fmla="*/ 308 w 552"/>
                  <a:gd name="T49" fmla="*/ 0 h 535"/>
                  <a:gd name="T50" fmla="*/ 327 w 552"/>
                  <a:gd name="T51" fmla="*/ 5 h 535"/>
                  <a:gd name="T52" fmla="*/ 340 w 552"/>
                  <a:gd name="T53" fmla="*/ 26 h 535"/>
                  <a:gd name="T54" fmla="*/ 347 w 552"/>
                  <a:gd name="T55" fmla="*/ 43 h 535"/>
                  <a:gd name="T56" fmla="*/ 353 w 552"/>
                  <a:gd name="T57" fmla="*/ 68 h 535"/>
                  <a:gd name="T58" fmla="*/ 412 w 552"/>
                  <a:gd name="T59" fmla="*/ 460 h 535"/>
                  <a:gd name="T60" fmla="*/ 419 w 552"/>
                  <a:gd name="T61" fmla="*/ 492 h 535"/>
                  <a:gd name="T62" fmla="*/ 429 w 552"/>
                  <a:gd name="T63" fmla="*/ 520 h 535"/>
                  <a:gd name="T64" fmla="*/ 441 w 552"/>
                  <a:gd name="T65" fmla="*/ 530 h 535"/>
                  <a:gd name="T66" fmla="*/ 462 w 552"/>
                  <a:gd name="T67" fmla="*/ 535 h 535"/>
                  <a:gd name="T68" fmla="*/ 478 w 552"/>
                  <a:gd name="T69" fmla="*/ 518 h 535"/>
                  <a:gd name="T70" fmla="*/ 488 w 552"/>
                  <a:gd name="T71" fmla="*/ 495 h 535"/>
                  <a:gd name="T72" fmla="*/ 496 w 552"/>
                  <a:gd name="T73" fmla="*/ 461 h 535"/>
                  <a:gd name="T74" fmla="*/ 552 w 552"/>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4763">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宋体" panose="02010600030101010101" pitchFamily="2" charset="-122"/>
                </a:endParaRPr>
              </a:p>
            </p:txBody>
          </p:sp>
          <p:sp>
            <p:nvSpPr>
              <p:cNvPr id="66607" name="Freeform 66"/>
              <p:cNvSpPr>
                <a:spLocks noChangeArrowheads="1"/>
              </p:cNvSpPr>
              <p:nvPr/>
            </p:nvSpPr>
            <p:spPr bwMode="auto">
              <a:xfrm>
                <a:off x="1623" y="2160"/>
                <a:ext cx="179" cy="227"/>
              </a:xfrm>
              <a:custGeom>
                <a:avLst/>
                <a:gdLst>
                  <a:gd name="T0" fmla="*/ 0 w 943"/>
                  <a:gd name="T1" fmla="*/ 622 h 1524"/>
                  <a:gd name="T2" fmla="*/ 49 w 943"/>
                  <a:gd name="T3" fmla="*/ 336 h 1524"/>
                  <a:gd name="T4" fmla="*/ 55 w 943"/>
                  <a:gd name="T5" fmla="*/ 313 h 1524"/>
                  <a:gd name="T6" fmla="*/ 71 w 943"/>
                  <a:gd name="T7" fmla="*/ 301 h 1524"/>
                  <a:gd name="T8" fmla="*/ 84 w 943"/>
                  <a:gd name="T9" fmla="*/ 297 h 1524"/>
                  <a:gd name="T10" fmla="*/ 105 w 943"/>
                  <a:gd name="T11" fmla="*/ 301 h 1524"/>
                  <a:gd name="T12" fmla="*/ 116 w 943"/>
                  <a:gd name="T13" fmla="*/ 314 h 1524"/>
                  <a:gd name="T14" fmla="*/ 122 w 943"/>
                  <a:gd name="T15" fmla="*/ 336 h 1524"/>
                  <a:gd name="T16" fmla="*/ 236 w 943"/>
                  <a:gd name="T17" fmla="*/ 1164 h 1524"/>
                  <a:gd name="T18" fmla="*/ 247 w 943"/>
                  <a:gd name="T19" fmla="*/ 1207 h 1524"/>
                  <a:gd name="T20" fmla="*/ 258 w 943"/>
                  <a:gd name="T21" fmla="*/ 1222 h 1524"/>
                  <a:gd name="T22" fmla="*/ 276 w 943"/>
                  <a:gd name="T23" fmla="*/ 1230 h 1524"/>
                  <a:gd name="T24" fmla="*/ 290 w 943"/>
                  <a:gd name="T25" fmla="*/ 1234 h 1524"/>
                  <a:gd name="T26" fmla="*/ 309 w 943"/>
                  <a:gd name="T27" fmla="*/ 1227 h 1524"/>
                  <a:gd name="T28" fmla="*/ 324 w 943"/>
                  <a:gd name="T29" fmla="*/ 1209 h 1524"/>
                  <a:gd name="T30" fmla="*/ 335 w 943"/>
                  <a:gd name="T31" fmla="*/ 1164 h 1524"/>
                  <a:gd name="T32" fmla="*/ 448 w 943"/>
                  <a:gd name="T33" fmla="*/ 204 h 1524"/>
                  <a:gd name="T34" fmla="*/ 455 w 943"/>
                  <a:gd name="T35" fmla="*/ 158 h 1524"/>
                  <a:gd name="T36" fmla="*/ 462 w 943"/>
                  <a:gd name="T37" fmla="*/ 143 h 1524"/>
                  <a:gd name="T38" fmla="*/ 470 w 943"/>
                  <a:gd name="T39" fmla="*/ 129 h 1524"/>
                  <a:gd name="T40" fmla="*/ 483 w 943"/>
                  <a:gd name="T41" fmla="*/ 118 h 1524"/>
                  <a:gd name="T42" fmla="*/ 499 w 943"/>
                  <a:gd name="T43" fmla="*/ 116 h 1524"/>
                  <a:gd name="T44" fmla="*/ 517 w 943"/>
                  <a:gd name="T45" fmla="*/ 122 h 1524"/>
                  <a:gd name="T46" fmla="*/ 531 w 943"/>
                  <a:gd name="T47" fmla="*/ 132 h 1524"/>
                  <a:gd name="T48" fmla="*/ 539 w 943"/>
                  <a:gd name="T49" fmla="*/ 143 h 1524"/>
                  <a:gd name="T50" fmla="*/ 548 w 943"/>
                  <a:gd name="T51" fmla="*/ 158 h 1524"/>
                  <a:gd name="T52" fmla="*/ 555 w 943"/>
                  <a:gd name="T53" fmla="*/ 197 h 1524"/>
                  <a:gd name="T54" fmla="*/ 658 w 943"/>
                  <a:gd name="T55" fmla="*/ 1428 h 1524"/>
                  <a:gd name="T56" fmla="*/ 665 w 943"/>
                  <a:gd name="T57" fmla="*/ 1480 h 1524"/>
                  <a:gd name="T58" fmla="*/ 674 w 943"/>
                  <a:gd name="T59" fmla="*/ 1505 h 1524"/>
                  <a:gd name="T60" fmla="*/ 692 w 943"/>
                  <a:gd name="T61" fmla="*/ 1517 h 1524"/>
                  <a:gd name="T62" fmla="*/ 710 w 943"/>
                  <a:gd name="T63" fmla="*/ 1524 h 1524"/>
                  <a:gd name="T64" fmla="*/ 727 w 943"/>
                  <a:gd name="T65" fmla="*/ 1517 h 1524"/>
                  <a:gd name="T66" fmla="*/ 736 w 943"/>
                  <a:gd name="T67" fmla="*/ 1505 h 1524"/>
                  <a:gd name="T68" fmla="*/ 742 w 943"/>
                  <a:gd name="T69" fmla="*/ 1484 h 1524"/>
                  <a:gd name="T70" fmla="*/ 748 w 943"/>
                  <a:gd name="T71" fmla="*/ 1432 h 1524"/>
                  <a:gd name="T72" fmla="*/ 882 w 943"/>
                  <a:gd name="T73" fmla="*/ 87 h 1524"/>
                  <a:gd name="T74" fmla="*/ 888 w 943"/>
                  <a:gd name="T75" fmla="*/ 59 h 1524"/>
                  <a:gd name="T76" fmla="*/ 897 w 943"/>
                  <a:gd name="T77" fmla="*/ 34 h 1524"/>
                  <a:gd name="T78" fmla="*/ 908 w 943"/>
                  <a:gd name="T79" fmla="*/ 17 h 1524"/>
                  <a:gd name="T80" fmla="*/ 919 w 943"/>
                  <a:gd name="T81" fmla="*/ 5 h 1524"/>
                  <a:gd name="T82" fmla="*/ 931 w 943"/>
                  <a:gd name="T83" fmla="*/ 0 h 1524"/>
                  <a:gd name="T84" fmla="*/ 943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4763">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宋体" panose="02010600030101010101" pitchFamily="2" charset="-122"/>
                </a:endParaRPr>
              </a:p>
            </p:txBody>
          </p:sp>
          <p:sp>
            <p:nvSpPr>
              <p:cNvPr id="66608" name="Freeform 67"/>
              <p:cNvSpPr>
                <a:spLocks noChangeArrowheads="1"/>
              </p:cNvSpPr>
              <p:nvPr/>
            </p:nvSpPr>
            <p:spPr bwMode="auto">
              <a:xfrm>
                <a:off x="1978" y="2237"/>
                <a:ext cx="104" cy="79"/>
              </a:xfrm>
              <a:custGeom>
                <a:avLst/>
                <a:gdLst>
                  <a:gd name="T0" fmla="*/ 551 w 551"/>
                  <a:gd name="T1" fmla="*/ 255 h 535"/>
                  <a:gd name="T2" fmla="*/ 544 w 551"/>
                  <a:gd name="T3" fmla="*/ 209 h 535"/>
                  <a:gd name="T4" fmla="*/ 534 w 551"/>
                  <a:gd name="T5" fmla="*/ 164 h 535"/>
                  <a:gd name="T6" fmla="*/ 525 w 551"/>
                  <a:gd name="T7" fmla="*/ 131 h 535"/>
                  <a:gd name="T8" fmla="*/ 514 w 551"/>
                  <a:gd name="T9" fmla="*/ 115 h 535"/>
                  <a:gd name="T10" fmla="*/ 499 w 551"/>
                  <a:gd name="T11" fmla="*/ 104 h 535"/>
                  <a:gd name="T12" fmla="*/ 486 w 551"/>
                  <a:gd name="T13" fmla="*/ 103 h 535"/>
                  <a:gd name="T14" fmla="*/ 468 w 551"/>
                  <a:gd name="T15" fmla="*/ 107 h 535"/>
                  <a:gd name="T16" fmla="*/ 455 w 551"/>
                  <a:gd name="T17" fmla="*/ 121 h 535"/>
                  <a:gd name="T18" fmla="*/ 446 w 551"/>
                  <a:gd name="T19" fmla="*/ 140 h 535"/>
                  <a:gd name="T20" fmla="*/ 439 w 551"/>
                  <a:gd name="T21" fmla="*/ 165 h 535"/>
                  <a:gd name="T22" fmla="*/ 411 w 551"/>
                  <a:gd name="T23" fmla="*/ 331 h 535"/>
                  <a:gd name="T24" fmla="*/ 404 w 551"/>
                  <a:gd name="T25" fmla="*/ 356 h 535"/>
                  <a:gd name="T26" fmla="*/ 398 w 551"/>
                  <a:gd name="T27" fmla="*/ 373 h 535"/>
                  <a:gd name="T28" fmla="*/ 381 w 551"/>
                  <a:gd name="T29" fmla="*/ 385 h 535"/>
                  <a:gd name="T30" fmla="*/ 364 w 551"/>
                  <a:gd name="T31" fmla="*/ 386 h 535"/>
                  <a:gd name="T32" fmla="*/ 349 w 551"/>
                  <a:gd name="T33" fmla="*/ 378 h 535"/>
                  <a:gd name="T34" fmla="*/ 341 w 551"/>
                  <a:gd name="T35" fmla="*/ 359 h 535"/>
                  <a:gd name="T36" fmla="*/ 333 w 551"/>
                  <a:gd name="T37" fmla="*/ 331 h 535"/>
                  <a:gd name="T38" fmla="*/ 295 w 551"/>
                  <a:gd name="T39" fmla="*/ 88 h 535"/>
                  <a:gd name="T40" fmla="*/ 288 w 551"/>
                  <a:gd name="T41" fmla="*/ 52 h 535"/>
                  <a:gd name="T42" fmla="*/ 281 w 551"/>
                  <a:gd name="T43" fmla="*/ 29 h 535"/>
                  <a:gd name="T44" fmla="*/ 271 w 551"/>
                  <a:gd name="T45" fmla="*/ 12 h 535"/>
                  <a:gd name="T46" fmla="*/ 260 w 551"/>
                  <a:gd name="T47" fmla="*/ 4 h 535"/>
                  <a:gd name="T48" fmla="*/ 242 w 551"/>
                  <a:gd name="T49" fmla="*/ 0 h 535"/>
                  <a:gd name="T50" fmla="*/ 225 w 551"/>
                  <a:gd name="T51" fmla="*/ 5 h 535"/>
                  <a:gd name="T52" fmla="*/ 210 w 551"/>
                  <a:gd name="T53" fmla="*/ 26 h 535"/>
                  <a:gd name="T54" fmla="*/ 204 w 551"/>
                  <a:gd name="T55" fmla="*/ 43 h 535"/>
                  <a:gd name="T56" fmla="*/ 199 w 551"/>
                  <a:gd name="T57" fmla="*/ 68 h 535"/>
                  <a:gd name="T58" fmla="*/ 141 w 551"/>
                  <a:gd name="T59" fmla="*/ 460 h 535"/>
                  <a:gd name="T60" fmla="*/ 134 w 551"/>
                  <a:gd name="T61" fmla="*/ 492 h 535"/>
                  <a:gd name="T62" fmla="*/ 123 w 551"/>
                  <a:gd name="T63" fmla="*/ 520 h 535"/>
                  <a:gd name="T64" fmla="*/ 111 w 551"/>
                  <a:gd name="T65" fmla="*/ 530 h 535"/>
                  <a:gd name="T66" fmla="*/ 90 w 551"/>
                  <a:gd name="T67" fmla="*/ 535 h 535"/>
                  <a:gd name="T68" fmla="*/ 73 w 551"/>
                  <a:gd name="T69" fmla="*/ 518 h 535"/>
                  <a:gd name="T70" fmla="*/ 63 w 551"/>
                  <a:gd name="T71" fmla="*/ 495 h 535"/>
                  <a:gd name="T72" fmla="*/ 56 w 551"/>
                  <a:gd name="T73" fmla="*/ 461 h 535"/>
                  <a:gd name="T74" fmla="*/ 0 w 551"/>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4763">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宋体" panose="02010600030101010101" pitchFamily="2" charset="-122"/>
                </a:endParaRPr>
              </a:p>
            </p:txBody>
          </p:sp>
          <p:sp>
            <p:nvSpPr>
              <p:cNvPr id="66609" name="Freeform 68"/>
              <p:cNvSpPr>
                <a:spLocks noChangeArrowheads="1"/>
              </p:cNvSpPr>
              <p:nvPr/>
            </p:nvSpPr>
            <p:spPr bwMode="auto">
              <a:xfrm>
                <a:off x="1799" y="2160"/>
                <a:ext cx="179" cy="227"/>
              </a:xfrm>
              <a:custGeom>
                <a:avLst/>
                <a:gdLst>
                  <a:gd name="T0" fmla="*/ 943 w 943"/>
                  <a:gd name="T1" fmla="*/ 626 h 1524"/>
                  <a:gd name="T2" fmla="*/ 895 w 943"/>
                  <a:gd name="T3" fmla="*/ 336 h 1524"/>
                  <a:gd name="T4" fmla="*/ 887 w 943"/>
                  <a:gd name="T5" fmla="*/ 313 h 1524"/>
                  <a:gd name="T6" fmla="*/ 873 w 943"/>
                  <a:gd name="T7" fmla="*/ 301 h 1524"/>
                  <a:gd name="T8" fmla="*/ 859 w 943"/>
                  <a:gd name="T9" fmla="*/ 297 h 1524"/>
                  <a:gd name="T10" fmla="*/ 837 w 943"/>
                  <a:gd name="T11" fmla="*/ 301 h 1524"/>
                  <a:gd name="T12" fmla="*/ 828 w 943"/>
                  <a:gd name="T13" fmla="*/ 314 h 1524"/>
                  <a:gd name="T14" fmla="*/ 819 w 943"/>
                  <a:gd name="T15" fmla="*/ 336 h 1524"/>
                  <a:gd name="T16" fmla="*/ 706 w 943"/>
                  <a:gd name="T17" fmla="*/ 1164 h 1524"/>
                  <a:gd name="T18" fmla="*/ 695 w 943"/>
                  <a:gd name="T19" fmla="*/ 1207 h 1524"/>
                  <a:gd name="T20" fmla="*/ 686 w 943"/>
                  <a:gd name="T21" fmla="*/ 1222 h 1524"/>
                  <a:gd name="T22" fmla="*/ 667 w 943"/>
                  <a:gd name="T23" fmla="*/ 1230 h 1524"/>
                  <a:gd name="T24" fmla="*/ 652 w 943"/>
                  <a:gd name="T25" fmla="*/ 1234 h 1524"/>
                  <a:gd name="T26" fmla="*/ 633 w 943"/>
                  <a:gd name="T27" fmla="*/ 1227 h 1524"/>
                  <a:gd name="T28" fmla="*/ 619 w 943"/>
                  <a:gd name="T29" fmla="*/ 1209 h 1524"/>
                  <a:gd name="T30" fmla="*/ 608 w 943"/>
                  <a:gd name="T31" fmla="*/ 1164 h 1524"/>
                  <a:gd name="T32" fmla="*/ 495 w 943"/>
                  <a:gd name="T33" fmla="*/ 204 h 1524"/>
                  <a:gd name="T34" fmla="*/ 486 w 943"/>
                  <a:gd name="T35" fmla="*/ 158 h 1524"/>
                  <a:gd name="T36" fmla="*/ 482 w 943"/>
                  <a:gd name="T37" fmla="*/ 143 h 1524"/>
                  <a:gd name="T38" fmla="*/ 473 w 943"/>
                  <a:gd name="T39" fmla="*/ 129 h 1524"/>
                  <a:gd name="T40" fmla="*/ 459 w 943"/>
                  <a:gd name="T41" fmla="*/ 118 h 1524"/>
                  <a:gd name="T42" fmla="*/ 446 w 943"/>
                  <a:gd name="T43" fmla="*/ 116 h 1524"/>
                  <a:gd name="T44" fmla="*/ 427 w 943"/>
                  <a:gd name="T45" fmla="*/ 122 h 1524"/>
                  <a:gd name="T46" fmla="*/ 411 w 943"/>
                  <a:gd name="T47" fmla="*/ 132 h 1524"/>
                  <a:gd name="T48" fmla="*/ 403 w 943"/>
                  <a:gd name="T49" fmla="*/ 143 h 1524"/>
                  <a:gd name="T50" fmla="*/ 396 w 943"/>
                  <a:gd name="T51" fmla="*/ 158 h 1524"/>
                  <a:gd name="T52" fmla="*/ 389 w 943"/>
                  <a:gd name="T53" fmla="*/ 197 h 1524"/>
                  <a:gd name="T54" fmla="*/ 285 w 943"/>
                  <a:gd name="T55" fmla="*/ 1428 h 1524"/>
                  <a:gd name="T56" fmla="*/ 278 w 943"/>
                  <a:gd name="T57" fmla="*/ 1480 h 1524"/>
                  <a:gd name="T58" fmla="*/ 268 w 943"/>
                  <a:gd name="T59" fmla="*/ 1505 h 1524"/>
                  <a:gd name="T60" fmla="*/ 250 w 943"/>
                  <a:gd name="T61" fmla="*/ 1517 h 1524"/>
                  <a:gd name="T62" fmla="*/ 233 w 943"/>
                  <a:gd name="T63" fmla="*/ 1524 h 1524"/>
                  <a:gd name="T64" fmla="*/ 217 w 943"/>
                  <a:gd name="T65" fmla="*/ 1517 h 1524"/>
                  <a:gd name="T66" fmla="*/ 207 w 943"/>
                  <a:gd name="T67" fmla="*/ 1505 h 1524"/>
                  <a:gd name="T68" fmla="*/ 200 w 943"/>
                  <a:gd name="T69" fmla="*/ 1484 h 1524"/>
                  <a:gd name="T70" fmla="*/ 194 w 943"/>
                  <a:gd name="T71" fmla="*/ 1432 h 1524"/>
                  <a:gd name="T72" fmla="*/ 60 w 943"/>
                  <a:gd name="T73" fmla="*/ 87 h 1524"/>
                  <a:gd name="T74" fmla="*/ 56 w 943"/>
                  <a:gd name="T75" fmla="*/ 59 h 1524"/>
                  <a:gd name="T76" fmla="*/ 46 w 943"/>
                  <a:gd name="T77" fmla="*/ 34 h 1524"/>
                  <a:gd name="T78" fmla="*/ 35 w 943"/>
                  <a:gd name="T79" fmla="*/ 17 h 1524"/>
                  <a:gd name="T80" fmla="*/ 25 w 943"/>
                  <a:gd name="T81" fmla="*/ 5 h 1524"/>
                  <a:gd name="T82" fmla="*/ 12 w 943"/>
                  <a:gd name="T83" fmla="*/ 0 h 1524"/>
                  <a:gd name="T84" fmla="*/ 0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4763">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宋体" panose="02010600030101010101" pitchFamily="2" charset="-122"/>
                </a:endParaRPr>
              </a:p>
            </p:txBody>
          </p:sp>
          <p:sp>
            <p:nvSpPr>
              <p:cNvPr id="66610" name="Line 69"/>
              <p:cNvSpPr>
                <a:spLocks noChangeShapeType="1"/>
              </p:cNvSpPr>
              <p:nvPr/>
            </p:nvSpPr>
            <p:spPr bwMode="auto">
              <a:xfrm>
                <a:off x="2109" y="2259"/>
                <a:ext cx="363"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grpSp>
        <p:sp>
          <p:nvSpPr>
            <p:cNvPr id="66611" name="Freeform 71"/>
            <p:cNvSpPr>
              <a:spLocks noChangeArrowheads="1"/>
            </p:cNvSpPr>
            <p:nvPr/>
          </p:nvSpPr>
          <p:spPr bwMode="auto">
            <a:xfrm>
              <a:off x="3440757" y="3572619"/>
              <a:ext cx="719138" cy="71438"/>
            </a:xfrm>
            <a:custGeom>
              <a:avLst/>
              <a:gdLst>
                <a:gd name="T0" fmla="*/ 0 w 680"/>
                <a:gd name="T1" fmla="*/ 90 h 90"/>
                <a:gd name="T2" fmla="*/ 45 w 680"/>
                <a:gd name="T3" fmla="*/ 90 h 90"/>
                <a:gd name="T4" fmla="*/ 45 w 680"/>
                <a:gd name="T5" fmla="*/ 0 h 90"/>
                <a:gd name="T6" fmla="*/ 91 w 680"/>
                <a:gd name="T7" fmla="*/ 0 h 90"/>
                <a:gd name="T8" fmla="*/ 91 w 680"/>
                <a:gd name="T9" fmla="*/ 90 h 90"/>
                <a:gd name="T10" fmla="*/ 136 w 680"/>
                <a:gd name="T11" fmla="*/ 90 h 90"/>
                <a:gd name="T12" fmla="*/ 136 w 680"/>
                <a:gd name="T13" fmla="*/ 0 h 90"/>
                <a:gd name="T14" fmla="*/ 181 w 680"/>
                <a:gd name="T15" fmla="*/ 0 h 90"/>
                <a:gd name="T16" fmla="*/ 181 w 680"/>
                <a:gd name="T17" fmla="*/ 90 h 90"/>
                <a:gd name="T18" fmla="*/ 227 w 680"/>
                <a:gd name="T19" fmla="*/ 90 h 90"/>
                <a:gd name="T20" fmla="*/ 227 w 680"/>
                <a:gd name="T21" fmla="*/ 0 h 90"/>
                <a:gd name="T22" fmla="*/ 317 w 680"/>
                <a:gd name="T23" fmla="*/ 0 h 90"/>
                <a:gd name="T24" fmla="*/ 317 w 680"/>
                <a:gd name="T25" fmla="*/ 90 h 90"/>
                <a:gd name="T26" fmla="*/ 363 w 680"/>
                <a:gd name="T27" fmla="*/ 90 h 90"/>
                <a:gd name="T28" fmla="*/ 363 w 680"/>
                <a:gd name="T29" fmla="*/ 0 h 90"/>
                <a:gd name="T30" fmla="*/ 408 w 680"/>
                <a:gd name="T31" fmla="*/ 0 h 90"/>
                <a:gd name="T32" fmla="*/ 408 w 680"/>
                <a:gd name="T33" fmla="*/ 90 h 90"/>
                <a:gd name="T34" fmla="*/ 499 w 680"/>
                <a:gd name="T35" fmla="*/ 90 h 90"/>
                <a:gd name="T36" fmla="*/ 499 w 680"/>
                <a:gd name="T37" fmla="*/ 0 h 90"/>
                <a:gd name="T38" fmla="*/ 544 w 680"/>
                <a:gd name="T39" fmla="*/ 0 h 90"/>
                <a:gd name="T40" fmla="*/ 544 w 680"/>
                <a:gd name="T41" fmla="*/ 90 h 90"/>
                <a:gd name="T42" fmla="*/ 589 w 680"/>
                <a:gd name="T43" fmla="*/ 90 h 90"/>
                <a:gd name="T44" fmla="*/ 589 w 680"/>
                <a:gd name="T45" fmla="*/ 0 h 90"/>
                <a:gd name="T46" fmla="*/ 635 w 680"/>
                <a:gd name="T47" fmla="*/ 0 h 90"/>
                <a:gd name="T48" fmla="*/ 635 w 680"/>
                <a:gd name="T49" fmla="*/ 90 h 90"/>
                <a:gd name="T50" fmla="*/ 680 w 680"/>
                <a:gd name="T51"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80" h="90">
                  <a:moveTo>
                    <a:pt x="0" y="90"/>
                  </a:moveTo>
                  <a:lnTo>
                    <a:pt x="45" y="90"/>
                  </a:lnTo>
                  <a:lnTo>
                    <a:pt x="45" y="0"/>
                  </a:lnTo>
                  <a:lnTo>
                    <a:pt x="91" y="0"/>
                  </a:lnTo>
                  <a:lnTo>
                    <a:pt x="91" y="90"/>
                  </a:lnTo>
                  <a:lnTo>
                    <a:pt x="136" y="90"/>
                  </a:lnTo>
                  <a:lnTo>
                    <a:pt x="136" y="0"/>
                  </a:lnTo>
                  <a:lnTo>
                    <a:pt x="181" y="0"/>
                  </a:lnTo>
                  <a:lnTo>
                    <a:pt x="181" y="90"/>
                  </a:lnTo>
                  <a:lnTo>
                    <a:pt x="227" y="90"/>
                  </a:lnTo>
                  <a:lnTo>
                    <a:pt x="227" y="0"/>
                  </a:lnTo>
                  <a:lnTo>
                    <a:pt x="317" y="0"/>
                  </a:lnTo>
                  <a:lnTo>
                    <a:pt x="317" y="90"/>
                  </a:lnTo>
                  <a:lnTo>
                    <a:pt x="363" y="90"/>
                  </a:lnTo>
                  <a:lnTo>
                    <a:pt x="363" y="0"/>
                  </a:lnTo>
                  <a:lnTo>
                    <a:pt x="408" y="0"/>
                  </a:lnTo>
                  <a:lnTo>
                    <a:pt x="408" y="90"/>
                  </a:lnTo>
                  <a:lnTo>
                    <a:pt x="499" y="90"/>
                  </a:lnTo>
                  <a:lnTo>
                    <a:pt x="499" y="0"/>
                  </a:lnTo>
                  <a:lnTo>
                    <a:pt x="544" y="0"/>
                  </a:lnTo>
                  <a:lnTo>
                    <a:pt x="544" y="90"/>
                  </a:lnTo>
                  <a:lnTo>
                    <a:pt x="589" y="90"/>
                  </a:lnTo>
                  <a:lnTo>
                    <a:pt x="589" y="0"/>
                  </a:lnTo>
                  <a:lnTo>
                    <a:pt x="635" y="0"/>
                  </a:lnTo>
                  <a:lnTo>
                    <a:pt x="635" y="90"/>
                  </a:lnTo>
                  <a:lnTo>
                    <a:pt x="680" y="9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宋体" panose="02010600030101010101" pitchFamily="2" charset="-122"/>
              </a:endParaRPr>
            </a:p>
          </p:txBody>
        </p:sp>
        <p:sp>
          <p:nvSpPr>
            <p:cNvPr id="66612" name="Freeform 72"/>
            <p:cNvSpPr>
              <a:spLocks noChangeArrowheads="1"/>
            </p:cNvSpPr>
            <p:nvPr/>
          </p:nvSpPr>
          <p:spPr bwMode="auto">
            <a:xfrm>
              <a:off x="4664720" y="3572619"/>
              <a:ext cx="719137" cy="71438"/>
            </a:xfrm>
            <a:custGeom>
              <a:avLst/>
              <a:gdLst>
                <a:gd name="T0" fmla="*/ 0 w 680"/>
                <a:gd name="T1" fmla="*/ 90 h 90"/>
                <a:gd name="T2" fmla="*/ 45 w 680"/>
                <a:gd name="T3" fmla="*/ 90 h 90"/>
                <a:gd name="T4" fmla="*/ 45 w 680"/>
                <a:gd name="T5" fmla="*/ 0 h 90"/>
                <a:gd name="T6" fmla="*/ 91 w 680"/>
                <a:gd name="T7" fmla="*/ 0 h 90"/>
                <a:gd name="T8" fmla="*/ 91 w 680"/>
                <a:gd name="T9" fmla="*/ 90 h 90"/>
                <a:gd name="T10" fmla="*/ 136 w 680"/>
                <a:gd name="T11" fmla="*/ 90 h 90"/>
                <a:gd name="T12" fmla="*/ 136 w 680"/>
                <a:gd name="T13" fmla="*/ 0 h 90"/>
                <a:gd name="T14" fmla="*/ 181 w 680"/>
                <a:gd name="T15" fmla="*/ 0 h 90"/>
                <a:gd name="T16" fmla="*/ 181 w 680"/>
                <a:gd name="T17" fmla="*/ 90 h 90"/>
                <a:gd name="T18" fmla="*/ 227 w 680"/>
                <a:gd name="T19" fmla="*/ 90 h 90"/>
                <a:gd name="T20" fmla="*/ 227 w 680"/>
                <a:gd name="T21" fmla="*/ 0 h 90"/>
                <a:gd name="T22" fmla="*/ 317 w 680"/>
                <a:gd name="T23" fmla="*/ 0 h 90"/>
                <a:gd name="T24" fmla="*/ 317 w 680"/>
                <a:gd name="T25" fmla="*/ 90 h 90"/>
                <a:gd name="T26" fmla="*/ 363 w 680"/>
                <a:gd name="T27" fmla="*/ 90 h 90"/>
                <a:gd name="T28" fmla="*/ 363 w 680"/>
                <a:gd name="T29" fmla="*/ 0 h 90"/>
                <a:gd name="T30" fmla="*/ 408 w 680"/>
                <a:gd name="T31" fmla="*/ 0 h 90"/>
                <a:gd name="T32" fmla="*/ 408 w 680"/>
                <a:gd name="T33" fmla="*/ 90 h 90"/>
                <a:gd name="T34" fmla="*/ 499 w 680"/>
                <a:gd name="T35" fmla="*/ 90 h 90"/>
                <a:gd name="T36" fmla="*/ 499 w 680"/>
                <a:gd name="T37" fmla="*/ 0 h 90"/>
                <a:gd name="T38" fmla="*/ 544 w 680"/>
                <a:gd name="T39" fmla="*/ 0 h 90"/>
                <a:gd name="T40" fmla="*/ 544 w 680"/>
                <a:gd name="T41" fmla="*/ 90 h 90"/>
                <a:gd name="T42" fmla="*/ 589 w 680"/>
                <a:gd name="T43" fmla="*/ 90 h 90"/>
                <a:gd name="T44" fmla="*/ 589 w 680"/>
                <a:gd name="T45" fmla="*/ 0 h 90"/>
                <a:gd name="T46" fmla="*/ 635 w 680"/>
                <a:gd name="T47" fmla="*/ 0 h 90"/>
                <a:gd name="T48" fmla="*/ 635 w 680"/>
                <a:gd name="T49" fmla="*/ 90 h 90"/>
                <a:gd name="T50" fmla="*/ 680 w 680"/>
                <a:gd name="T51"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80" h="90">
                  <a:moveTo>
                    <a:pt x="0" y="90"/>
                  </a:moveTo>
                  <a:lnTo>
                    <a:pt x="45" y="90"/>
                  </a:lnTo>
                  <a:lnTo>
                    <a:pt x="45" y="0"/>
                  </a:lnTo>
                  <a:lnTo>
                    <a:pt x="91" y="0"/>
                  </a:lnTo>
                  <a:lnTo>
                    <a:pt x="91" y="90"/>
                  </a:lnTo>
                  <a:lnTo>
                    <a:pt x="136" y="90"/>
                  </a:lnTo>
                  <a:lnTo>
                    <a:pt x="136" y="0"/>
                  </a:lnTo>
                  <a:lnTo>
                    <a:pt x="181" y="0"/>
                  </a:lnTo>
                  <a:lnTo>
                    <a:pt x="181" y="90"/>
                  </a:lnTo>
                  <a:lnTo>
                    <a:pt x="227" y="90"/>
                  </a:lnTo>
                  <a:lnTo>
                    <a:pt x="227" y="0"/>
                  </a:lnTo>
                  <a:lnTo>
                    <a:pt x="317" y="0"/>
                  </a:lnTo>
                  <a:lnTo>
                    <a:pt x="317" y="90"/>
                  </a:lnTo>
                  <a:lnTo>
                    <a:pt x="363" y="90"/>
                  </a:lnTo>
                  <a:lnTo>
                    <a:pt x="363" y="0"/>
                  </a:lnTo>
                  <a:lnTo>
                    <a:pt x="408" y="0"/>
                  </a:lnTo>
                  <a:lnTo>
                    <a:pt x="408" y="90"/>
                  </a:lnTo>
                  <a:lnTo>
                    <a:pt x="499" y="90"/>
                  </a:lnTo>
                  <a:lnTo>
                    <a:pt x="499" y="0"/>
                  </a:lnTo>
                  <a:lnTo>
                    <a:pt x="544" y="0"/>
                  </a:lnTo>
                  <a:lnTo>
                    <a:pt x="544" y="90"/>
                  </a:lnTo>
                  <a:lnTo>
                    <a:pt x="589" y="90"/>
                  </a:lnTo>
                  <a:lnTo>
                    <a:pt x="589" y="0"/>
                  </a:lnTo>
                  <a:lnTo>
                    <a:pt x="635" y="0"/>
                  </a:lnTo>
                  <a:lnTo>
                    <a:pt x="635" y="90"/>
                  </a:lnTo>
                  <a:lnTo>
                    <a:pt x="680" y="9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宋体" panose="02010600030101010101" pitchFamily="2" charset="-122"/>
              </a:endParaRPr>
            </a:p>
          </p:txBody>
        </p:sp>
        <p:sp>
          <p:nvSpPr>
            <p:cNvPr id="66613" name="Freeform 73"/>
            <p:cNvSpPr>
              <a:spLocks noChangeArrowheads="1"/>
            </p:cNvSpPr>
            <p:nvPr/>
          </p:nvSpPr>
          <p:spPr bwMode="auto">
            <a:xfrm>
              <a:off x="5817245" y="3572619"/>
              <a:ext cx="719137" cy="71438"/>
            </a:xfrm>
            <a:custGeom>
              <a:avLst/>
              <a:gdLst>
                <a:gd name="T0" fmla="*/ 0 w 680"/>
                <a:gd name="T1" fmla="*/ 90 h 90"/>
                <a:gd name="T2" fmla="*/ 45 w 680"/>
                <a:gd name="T3" fmla="*/ 90 h 90"/>
                <a:gd name="T4" fmla="*/ 45 w 680"/>
                <a:gd name="T5" fmla="*/ 0 h 90"/>
                <a:gd name="T6" fmla="*/ 91 w 680"/>
                <a:gd name="T7" fmla="*/ 0 h 90"/>
                <a:gd name="T8" fmla="*/ 91 w 680"/>
                <a:gd name="T9" fmla="*/ 90 h 90"/>
                <a:gd name="T10" fmla="*/ 136 w 680"/>
                <a:gd name="T11" fmla="*/ 90 h 90"/>
                <a:gd name="T12" fmla="*/ 136 w 680"/>
                <a:gd name="T13" fmla="*/ 0 h 90"/>
                <a:gd name="T14" fmla="*/ 181 w 680"/>
                <a:gd name="T15" fmla="*/ 0 h 90"/>
                <a:gd name="T16" fmla="*/ 181 w 680"/>
                <a:gd name="T17" fmla="*/ 90 h 90"/>
                <a:gd name="T18" fmla="*/ 227 w 680"/>
                <a:gd name="T19" fmla="*/ 90 h 90"/>
                <a:gd name="T20" fmla="*/ 227 w 680"/>
                <a:gd name="T21" fmla="*/ 0 h 90"/>
                <a:gd name="T22" fmla="*/ 317 w 680"/>
                <a:gd name="T23" fmla="*/ 0 h 90"/>
                <a:gd name="T24" fmla="*/ 317 w 680"/>
                <a:gd name="T25" fmla="*/ 90 h 90"/>
                <a:gd name="T26" fmla="*/ 363 w 680"/>
                <a:gd name="T27" fmla="*/ 90 h 90"/>
                <a:gd name="T28" fmla="*/ 363 w 680"/>
                <a:gd name="T29" fmla="*/ 0 h 90"/>
                <a:gd name="T30" fmla="*/ 408 w 680"/>
                <a:gd name="T31" fmla="*/ 0 h 90"/>
                <a:gd name="T32" fmla="*/ 408 w 680"/>
                <a:gd name="T33" fmla="*/ 90 h 90"/>
                <a:gd name="T34" fmla="*/ 499 w 680"/>
                <a:gd name="T35" fmla="*/ 90 h 90"/>
                <a:gd name="T36" fmla="*/ 499 w 680"/>
                <a:gd name="T37" fmla="*/ 0 h 90"/>
                <a:gd name="T38" fmla="*/ 544 w 680"/>
                <a:gd name="T39" fmla="*/ 0 h 90"/>
                <a:gd name="T40" fmla="*/ 544 w 680"/>
                <a:gd name="T41" fmla="*/ 90 h 90"/>
                <a:gd name="T42" fmla="*/ 589 w 680"/>
                <a:gd name="T43" fmla="*/ 90 h 90"/>
                <a:gd name="T44" fmla="*/ 589 w 680"/>
                <a:gd name="T45" fmla="*/ 0 h 90"/>
                <a:gd name="T46" fmla="*/ 635 w 680"/>
                <a:gd name="T47" fmla="*/ 0 h 90"/>
                <a:gd name="T48" fmla="*/ 635 w 680"/>
                <a:gd name="T49" fmla="*/ 90 h 90"/>
                <a:gd name="T50" fmla="*/ 680 w 680"/>
                <a:gd name="T51"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80" h="90">
                  <a:moveTo>
                    <a:pt x="0" y="90"/>
                  </a:moveTo>
                  <a:lnTo>
                    <a:pt x="45" y="90"/>
                  </a:lnTo>
                  <a:lnTo>
                    <a:pt x="45" y="0"/>
                  </a:lnTo>
                  <a:lnTo>
                    <a:pt x="91" y="0"/>
                  </a:lnTo>
                  <a:lnTo>
                    <a:pt x="91" y="90"/>
                  </a:lnTo>
                  <a:lnTo>
                    <a:pt x="136" y="90"/>
                  </a:lnTo>
                  <a:lnTo>
                    <a:pt x="136" y="0"/>
                  </a:lnTo>
                  <a:lnTo>
                    <a:pt x="181" y="0"/>
                  </a:lnTo>
                  <a:lnTo>
                    <a:pt x="181" y="90"/>
                  </a:lnTo>
                  <a:lnTo>
                    <a:pt x="227" y="90"/>
                  </a:lnTo>
                  <a:lnTo>
                    <a:pt x="227" y="0"/>
                  </a:lnTo>
                  <a:lnTo>
                    <a:pt x="317" y="0"/>
                  </a:lnTo>
                  <a:lnTo>
                    <a:pt x="317" y="90"/>
                  </a:lnTo>
                  <a:lnTo>
                    <a:pt x="363" y="90"/>
                  </a:lnTo>
                  <a:lnTo>
                    <a:pt x="363" y="0"/>
                  </a:lnTo>
                  <a:lnTo>
                    <a:pt x="408" y="0"/>
                  </a:lnTo>
                  <a:lnTo>
                    <a:pt x="408" y="90"/>
                  </a:lnTo>
                  <a:lnTo>
                    <a:pt x="499" y="90"/>
                  </a:lnTo>
                  <a:lnTo>
                    <a:pt x="499" y="0"/>
                  </a:lnTo>
                  <a:lnTo>
                    <a:pt x="544" y="0"/>
                  </a:lnTo>
                  <a:lnTo>
                    <a:pt x="544" y="90"/>
                  </a:lnTo>
                  <a:lnTo>
                    <a:pt x="589" y="90"/>
                  </a:lnTo>
                  <a:lnTo>
                    <a:pt x="589" y="0"/>
                  </a:lnTo>
                  <a:lnTo>
                    <a:pt x="635" y="0"/>
                  </a:lnTo>
                  <a:lnTo>
                    <a:pt x="635" y="90"/>
                  </a:lnTo>
                  <a:lnTo>
                    <a:pt x="680" y="9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宋体" panose="02010600030101010101" pitchFamily="2" charset="-122"/>
              </a:endParaRPr>
            </a:p>
          </p:txBody>
        </p:sp>
      </p:grpSp>
      <p:sp>
        <p:nvSpPr>
          <p:cNvPr id="66614" name="矩形 2"/>
          <p:cNvSpPr>
            <a:spLocks noChangeArrowheads="1"/>
          </p:cNvSpPr>
          <p:nvPr/>
        </p:nvSpPr>
        <p:spPr bwMode="auto">
          <a:xfrm>
            <a:off x="1246188" y="5300663"/>
            <a:ext cx="77390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电路交换的用户始终占用端到端的通信资源</a:t>
            </a:r>
            <a:endParaRPr lang="zh-CN" altLang="en-US" sz="2400" b="1">
              <a:ea typeface="黑体" panose="02010609060101010101" pitchFamily="49" charset="-122"/>
            </a:endParaRPr>
          </a:p>
        </p:txBody>
      </p:sp>
      <p:sp>
        <p:nvSpPr>
          <p:cNvPr id="6661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B1BC64C-2FC9-48F1-9E67-CC5DC8FB6DBB}" type="slidenum">
              <a:rPr lang="zh-CN" altLang="en-US" smtClean="0"/>
              <a:pPr eaLnBrk="1" hangingPunct="1"/>
              <a:t>43</a:t>
            </a:fld>
            <a:endParaRPr lang="en-US" altLang="zh-CN" smtClean="0"/>
          </a:p>
        </p:txBody>
      </p:sp>
      <p:sp>
        <p:nvSpPr>
          <p:cNvPr id="66616"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0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电路交换缺点</a:t>
            </a:r>
          </a:p>
        </p:txBody>
      </p:sp>
      <p:sp>
        <p:nvSpPr>
          <p:cNvPr id="47107"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计算机数据具有突发性。</a:t>
            </a:r>
          </a:p>
          <a:p>
            <a:r>
              <a:rPr lang="zh-CN" altLang="en-US" smtClean="0">
                <a:ea typeface="黑体" panose="02010609060101010101" pitchFamily="49" charset="-122"/>
              </a:rPr>
              <a:t>这导致在传送计算机数据时，通信线路的利用率很低（</a:t>
            </a:r>
            <a:r>
              <a:rPr lang="zh-CN" altLang="zh-CN" smtClean="0">
                <a:ea typeface="黑体" panose="02010609060101010101" pitchFamily="49" charset="-122"/>
              </a:rPr>
              <a:t>用来传送数据的时间往往不到</a:t>
            </a:r>
            <a:r>
              <a:rPr lang="en-US" altLang="zh-CN" smtClean="0">
                <a:ea typeface="黑体" panose="02010609060101010101" pitchFamily="49" charset="-122"/>
              </a:rPr>
              <a:t>10%</a:t>
            </a:r>
            <a:r>
              <a:rPr lang="zh-CN" altLang="zh-CN" smtClean="0">
                <a:ea typeface="黑体" panose="02010609060101010101" pitchFamily="49" charset="-122"/>
              </a:rPr>
              <a:t>甚至</a:t>
            </a:r>
            <a:r>
              <a:rPr lang="en-US" altLang="zh-CN" smtClean="0">
                <a:ea typeface="黑体" panose="02010609060101010101" pitchFamily="49" charset="-122"/>
              </a:rPr>
              <a:t>1% </a:t>
            </a:r>
            <a:r>
              <a:rPr lang="zh-CN" altLang="en-US" smtClean="0">
                <a:ea typeface="黑体" panose="02010609060101010101" pitchFamily="49" charset="-122"/>
              </a:rPr>
              <a:t>）。</a:t>
            </a:r>
          </a:p>
        </p:txBody>
      </p:sp>
      <p:sp>
        <p:nvSpPr>
          <p:cNvPr id="6861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E7FAEC0-6AFD-4FDA-829F-3CBFEE087969}" type="slidenum">
              <a:rPr lang="zh-CN" altLang="en-US" smtClean="0"/>
              <a:pPr eaLnBrk="1" hangingPunct="1"/>
              <a:t>44</a:t>
            </a:fld>
            <a:endParaRPr lang="en-US" altLang="zh-CN" smtClean="0"/>
          </a:p>
        </p:txBody>
      </p:sp>
      <p:sp>
        <p:nvSpPr>
          <p:cNvPr id="6861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10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 </a:t>
            </a:r>
            <a:r>
              <a:rPr lang="zh-CN" altLang="en-US" smtClean="0">
                <a:ea typeface="黑体" panose="02010609060101010101" pitchFamily="49" charset="-122"/>
              </a:rPr>
              <a:t>分组交换的主要特点 </a:t>
            </a:r>
          </a:p>
        </p:txBody>
      </p:sp>
      <p:sp>
        <p:nvSpPr>
          <p:cNvPr id="70658" name="Rectangle 3"/>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分组交换则采用</a:t>
            </a:r>
            <a:r>
              <a:rPr lang="zh-CN" altLang="zh-CN" smtClean="0">
                <a:solidFill>
                  <a:srgbClr val="FF0000"/>
                </a:solidFill>
                <a:ea typeface="黑体" panose="02010609060101010101" pitchFamily="49" charset="-122"/>
              </a:rPr>
              <a:t>存储转发</a:t>
            </a:r>
            <a:r>
              <a:rPr lang="zh-CN" altLang="zh-CN" smtClean="0">
                <a:ea typeface="黑体" panose="02010609060101010101" pitchFamily="49" charset="-122"/>
              </a:rPr>
              <a:t>技术</a:t>
            </a:r>
            <a:r>
              <a:rPr lang="zh-CN" altLang="en-US" smtClean="0">
                <a:ea typeface="黑体" panose="02010609060101010101" pitchFamily="49" charset="-122"/>
              </a:rPr>
              <a:t>。</a:t>
            </a:r>
            <a:endParaRPr lang="en-US" altLang="zh-CN" smtClean="0">
              <a:ea typeface="黑体" panose="02010609060101010101" pitchFamily="49" charset="-122"/>
            </a:endParaRPr>
          </a:p>
          <a:p>
            <a:r>
              <a:rPr lang="zh-CN" altLang="en-US" smtClean="0">
                <a:ea typeface="黑体" panose="02010609060101010101" pitchFamily="49" charset="-122"/>
              </a:rPr>
              <a:t>在发送端，先把较长的报文</a:t>
            </a:r>
            <a:r>
              <a:rPr lang="zh-CN" altLang="en-US" smtClean="0">
                <a:solidFill>
                  <a:srgbClr val="FF0000"/>
                </a:solidFill>
                <a:ea typeface="黑体" panose="02010609060101010101" pitchFamily="49" charset="-122"/>
              </a:rPr>
              <a:t>划分成较短的、固定长度的数据段。 </a:t>
            </a:r>
          </a:p>
        </p:txBody>
      </p:sp>
      <p:sp>
        <p:nvSpPr>
          <p:cNvPr id="70659" name="Line 8"/>
          <p:cNvSpPr>
            <a:spLocks noChangeShapeType="1"/>
          </p:cNvSpPr>
          <p:nvPr/>
        </p:nvSpPr>
        <p:spPr bwMode="auto">
          <a:xfrm>
            <a:off x="2144713" y="3286125"/>
            <a:ext cx="5616575" cy="0"/>
          </a:xfrm>
          <a:prstGeom prst="line">
            <a:avLst/>
          </a:prstGeom>
          <a:noFill/>
          <a:ln w="9525">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0660" name="Text Box 9"/>
          <p:cNvSpPr txBox="1">
            <a:spLocks noChangeArrowheads="1"/>
          </p:cNvSpPr>
          <p:nvPr/>
        </p:nvSpPr>
        <p:spPr bwMode="auto">
          <a:xfrm>
            <a:off x="4641850" y="3046413"/>
            <a:ext cx="696913"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Times New Roman" panose="02020603050405020304" pitchFamily="18" charset="0"/>
                <a:ea typeface="黑体" panose="02010609060101010101" pitchFamily="49" charset="-122"/>
              </a:rPr>
              <a:t>报文</a:t>
            </a:r>
          </a:p>
        </p:txBody>
      </p:sp>
      <p:grpSp>
        <p:nvGrpSpPr>
          <p:cNvPr id="70661" name="Group 77"/>
          <p:cNvGrpSpPr>
            <a:grpSpLocks/>
          </p:cNvGrpSpPr>
          <p:nvPr/>
        </p:nvGrpSpPr>
        <p:grpSpPr bwMode="auto">
          <a:xfrm>
            <a:off x="2066925" y="3502025"/>
            <a:ext cx="5805488" cy="431800"/>
            <a:chOff x="1202" y="2206"/>
            <a:chExt cx="3376" cy="272"/>
          </a:xfrm>
        </p:grpSpPr>
        <p:grpSp>
          <p:nvGrpSpPr>
            <p:cNvPr id="70662" name="Group 75"/>
            <p:cNvGrpSpPr>
              <a:grpSpLocks/>
            </p:cNvGrpSpPr>
            <p:nvPr/>
          </p:nvGrpSpPr>
          <p:grpSpPr bwMode="auto">
            <a:xfrm>
              <a:off x="1247" y="2206"/>
              <a:ext cx="3266" cy="272"/>
              <a:chOff x="1247" y="2931"/>
              <a:chExt cx="3266" cy="272"/>
            </a:xfrm>
          </p:grpSpPr>
          <p:sp>
            <p:nvSpPr>
              <p:cNvPr id="70663" name="Rectangle 70"/>
              <p:cNvSpPr>
                <a:spLocks noChangeArrowheads="1"/>
              </p:cNvSpPr>
              <p:nvPr/>
            </p:nvSpPr>
            <p:spPr bwMode="auto">
              <a:xfrm>
                <a:off x="1248" y="2931"/>
                <a:ext cx="1088" cy="27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000" b="1">
                  <a:solidFill>
                    <a:srgbClr val="000099"/>
                  </a:solidFill>
                  <a:ea typeface="黑体" panose="02010609060101010101" pitchFamily="49" charset="-122"/>
                </a:endParaRPr>
              </a:p>
            </p:txBody>
          </p:sp>
          <p:sp>
            <p:nvSpPr>
              <p:cNvPr id="70664" name="Rectangle 71"/>
              <p:cNvSpPr>
                <a:spLocks noChangeArrowheads="1"/>
              </p:cNvSpPr>
              <p:nvPr/>
            </p:nvSpPr>
            <p:spPr bwMode="auto">
              <a:xfrm>
                <a:off x="2336" y="2931"/>
                <a:ext cx="1088" cy="27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000" b="1">
                  <a:solidFill>
                    <a:srgbClr val="000099"/>
                  </a:solidFill>
                  <a:latin typeface="Tahoma" panose="020B0604030504040204" pitchFamily="34" charset="0"/>
                  <a:ea typeface="黑体" panose="02010609060101010101" pitchFamily="49" charset="-122"/>
                </a:endParaRPr>
              </a:p>
            </p:txBody>
          </p:sp>
          <p:sp>
            <p:nvSpPr>
              <p:cNvPr id="70665" name="Rectangle 72"/>
              <p:cNvSpPr>
                <a:spLocks noChangeArrowheads="1"/>
              </p:cNvSpPr>
              <p:nvPr/>
            </p:nvSpPr>
            <p:spPr bwMode="auto">
              <a:xfrm>
                <a:off x="3425" y="2931"/>
                <a:ext cx="1088" cy="27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000" b="1">
                  <a:solidFill>
                    <a:srgbClr val="000099"/>
                  </a:solidFill>
                  <a:ea typeface="黑体" panose="02010609060101010101" pitchFamily="49" charset="-122"/>
                </a:endParaRPr>
              </a:p>
            </p:txBody>
          </p:sp>
          <p:sp>
            <p:nvSpPr>
              <p:cNvPr id="70666" name="Rectangle 74"/>
              <p:cNvSpPr>
                <a:spLocks noChangeArrowheads="1"/>
              </p:cNvSpPr>
              <p:nvPr/>
            </p:nvSpPr>
            <p:spPr bwMode="auto">
              <a:xfrm>
                <a:off x="1247" y="2931"/>
                <a:ext cx="3266" cy="27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grpSp>
        <p:sp>
          <p:nvSpPr>
            <p:cNvPr id="70667" name="Text Box 76"/>
            <p:cNvSpPr txBox="1">
              <a:spLocks noChangeArrowheads="1"/>
            </p:cNvSpPr>
            <p:nvPr/>
          </p:nvSpPr>
          <p:spPr bwMode="auto">
            <a:xfrm>
              <a:off x="1202" y="2219"/>
              <a:ext cx="337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宋体" panose="02010600030101010101" pitchFamily="2" charset="-122"/>
                </a:rPr>
                <a:t>1101000110101010110101011100010011010010</a:t>
              </a:r>
            </a:p>
          </p:txBody>
        </p:sp>
      </p:grpSp>
      <p:grpSp>
        <p:nvGrpSpPr>
          <p:cNvPr id="49233" name="Group 81"/>
          <p:cNvGrpSpPr>
            <a:grpSpLocks/>
          </p:cNvGrpSpPr>
          <p:nvPr/>
        </p:nvGrpSpPr>
        <p:grpSpPr bwMode="auto">
          <a:xfrm>
            <a:off x="3389313" y="3933825"/>
            <a:ext cx="3057525" cy="1423988"/>
            <a:chOff x="1971" y="2478"/>
            <a:chExt cx="1778" cy="897"/>
          </a:xfrm>
        </p:grpSpPr>
        <p:sp>
          <p:nvSpPr>
            <p:cNvPr id="70669" name="Text Box 78"/>
            <p:cNvSpPr txBox="1">
              <a:spLocks noChangeArrowheads="1"/>
            </p:cNvSpPr>
            <p:nvPr/>
          </p:nvSpPr>
          <p:spPr bwMode="auto">
            <a:xfrm>
              <a:off x="1971" y="2774"/>
              <a:ext cx="1778"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800" b="1">
                  <a:solidFill>
                    <a:srgbClr val="000099"/>
                  </a:solidFill>
                  <a:latin typeface="Tahoma" panose="020B0604030504040204" pitchFamily="34" charset="0"/>
                  <a:ea typeface="黑体" panose="02010609060101010101" pitchFamily="49" charset="-122"/>
                </a:rPr>
                <a:t>假定这个报文较长</a:t>
              </a:r>
            </a:p>
            <a:p>
              <a:pPr algn="ctr" eaLnBrk="0" hangingPunct="0"/>
              <a:r>
                <a:rPr lang="zh-CN" altLang="en-US" sz="2800" b="1">
                  <a:solidFill>
                    <a:srgbClr val="000099"/>
                  </a:solidFill>
                  <a:latin typeface="Tahoma" panose="020B0604030504040204" pitchFamily="34" charset="0"/>
                  <a:ea typeface="黑体" panose="02010609060101010101" pitchFamily="49" charset="-122"/>
                </a:rPr>
                <a:t>不便于传输</a:t>
              </a:r>
            </a:p>
          </p:txBody>
        </p:sp>
        <p:sp>
          <p:nvSpPr>
            <p:cNvPr id="70670" name="Line 79"/>
            <p:cNvSpPr>
              <a:spLocks noChangeShapeType="1"/>
            </p:cNvSpPr>
            <p:nvPr/>
          </p:nvSpPr>
          <p:spPr bwMode="auto">
            <a:xfrm flipV="1">
              <a:off x="2789" y="2478"/>
              <a:ext cx="91" cy="362"/>
            </a:xfrm>
            <a:prstGeom prst="line">
              <a:avLst/>
            </a:prstGeom>
            <a:noFill/>
            <a:ln w="28575">
              <a:solidFill>
                <a:srgbClr val="333399"/>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cxnSp>
        <p:nvCxnSpPr>
          <p:cNvPr id="70671" name="直接连接符 2"/>
          <p:cNvCxnSpPr>
            <a:cxnSpLocks noChangeShapeType="1"/>
          </p:cNvCxnSpPr>
          <p:nvPr/>
        </p:nvCxnSpPr>
        <p:spPr bwMode="auto">
          <a:xfrm>
            <a:off x="2146300" y="3046413"/>
            <a:ext cx="0" cy="400050"/>
          </a:xfrm>
          <a:prstGeom prst="line">
            <a:avLst/>
          </a:prstGeom>
          <a:noFill/>
          <a:ln w="9525">
            <a:solidFill>
              <a:schemeClr val="tx1"/>
            </a:solidFill>
            <a:round/>
            <a:headEnd/>
            <a:tailEnd/>
          </a:ln>
        </p:spPr>
      </p:cxnSp>
      <p:cxnSp>
        <p:nvCxnSpPr>
          <p:cNvPr id="70672" name="直接连接符 18"/>
          <p:cNvCxnSpPr>
            <a:cxnSpLocks noChangeShapeType="1"/>
          </p:cNvCxnSpPr>
          <p:nvPr/>
        </p:nvCxnSpPr>
        <p:spPr bwMode="auto">
          <a:xfrm>
            <a:off x="7747000" y="3046413"/>
            <a:ext cx="0" cy="400050"/>
          </a:xfrm>
          <a:prstGeom prst="line">
            <a:avLst/>
          </a:prstGeom>
          <a:noFill/>
          <a:ln w="9525">
            <a:solidFill>
              <a:schemeClr val="tx1"/>
            </a:solidFill>
            <a:round/>
            <a:headEnd/>
            <a:tailEnd/>
          </a:ln>
        </p:spPr>
      </p:cxnSp>
      <p:sp>
        <p:nvSpPr>
          <p:cNvPr id="70673"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9449F4D-0448-487C-85B7-FBA0E9C5E3C3}" type="slidenum">
              <a:rPr lang="zh-CN" altLang="en-US" smtClean="0"/>
              <a:pPr eaLnBrk="1" hangingPunct="1"/>
              <a:t>45</a:t>
            </a:fld>
            <a:endParaRPr lang="en-US" altLang="zh-CN" smtClean="0"/>
          </a:p>
        </p:txBody>
      </p:sp>
      <p:sp>
        <p:nvSpPr>
          <p:cNvPr id="70674"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92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4"/>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添加首部构成分组</a:t>
            </a:r>
          </a:p>
        </p:txBody>
      </p:sp>
      <p:sp>
        <p:nvSpPr>
          <p:cNvPr id="72706" name="Rectangle 5"/>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每一个数据段前面添加上</a:t>
            </a:r>
            <a:r>
              <a:rPr lang="zh-CN" altLang="en-US" smtClean="0">
                <a:solidFill>
                  <a:srgbClr val="FF0000"/>
                </a:solidFill>
                <a:ea typeface="黑体" panose="02010609060101010101" pitchFamily="49" charset="-122"/>
              </a:rPr>
              <a:t>首部</a:t>
            </a:r>
            <a:r>
              <a:rPr lang="zh-CN" altLang="en-US" smtClean="0">
                <a:ea typeface="黑体" panose="02010609060101010101" pitchFamily="49" charset="-122"/>
              </a:rPr>
              <a:t>构成</a:t>
            </a:r>
            <a:r>
              <a:rPr lang="zh-CN" altLang="en-US" smtClean="0">
                <a:solidFill>
                  <a:srgbClr val="FF0000"/>
                </a:solidFill>
                <a:ea typeface="黑体" panose="02010609060101010101" pitchFamily="49" charset="-122"/>
              </a:rPr>
              <a:t>分组</a:t>
            </a:r>
            <a:r>
              <a:rPr lang="en-US" altLang="zh-CN" smtClean="0">
                <a:ea typeface="黑体" panose="02010609060101010101" pitchFamily="49" charset="-122"/>
              </a:rPr>
              <a:t>(packet)</a:t>
            </a:r>
            <a:r>
              <a:rPr lang="zh-CN" altLang="en-US" smtClean="0">
                <a:ea typeface="黑体" panose="02010609060101010101" pitchFamily="49" charset="-122"/>
              </a:rPr>
              <a:t>。</a:t>
            </a:r>
          </a:p>
        </p:txBody>
      </p:sp>
      <p:sp>
        <p:nvSpPr>
          <p:cNvPr id="53260" name="Rectangle 12"/>
          <p:cNvSpPr>
            <a:spLocks noChangeArrowheads="1"/>
          </p:cNvSpPr>
          <p:nvPr/>
        </p:nvSpPr>
        <p:spPr bwMode="auto">
          <a:xfrm>
            <a:off x="2144713" y="2228850"/>
            <a:ext cx="1871662" cy="431800"/>
          </a:xfrm>
          <a:prstGeom prst="rect">
            <a:avLst/>
          </a:prstGeom>
          <a:solidFill>
            <a:srgbClr val="CCECFF"/>
          </a:solidFill>
          <a:ln w="28575">
            <a:solidFill>
              <a:schemeClr val="tx1"/>
            </a:solidFill>
            <a:miter lim="800000"/>
            <a:headEnd/>
            <a:tailEnd/>
          </a:ln>
        </p:spPr>
        <p:txBody>
          <a:bodyPr wrap="none" anchor="ctr"/>
          <a:lstStyle/>
          <a:p>
            <a:pPr algn="ctr" eaLnBrk="0" hangingPunct="0"/>
            <a:r>
              <a:rPr lang="zh-CN" altLang="en-US" sz="2000" b="1">
                <a:solidFill>
                  <a:srgbClr val="000099"/>
                </a:solidFill>
                <a:latin typeface="Tahoma" panose="020B0604030504040204" pitchFamily="34" charset="0"/>
                <a:ea typeface="黑体" panose="02010609060101010101" pitchFamily="49" charset="-122"/>
              </a:rPr>
              <a:t>数     据</a:t>
            </a:r>
          </a:p>
        </p:txBody>
      </p:sp>
      <p:sp>
        <p:nvSpPr>
          <p:cNvPr id="53261" name="Rectangle 13"/>
          <p:cNvSpPr>
            <a:spLocks noChangeArrowheads="1"/>
          </p:cNvSpPr>
          <p:nvPr/>
        </p:nvSpPr>
        <p:spPr bwMode="auto">
          <a:xfrm>
            <a:off x="4017963" y="2228850"/>
            <a:ext cx="1870075" cy="431800"/>
          </a:xfrm>
          <a:prstGeom prst="rect">
            <a:avLst/>
          </a:prstGeom>
          <a:solidFill>
            <a:srgbClr val="CCECFF"/>
          </a:solidFill>
          <a:ln w="28575">
            <a:solidFill>
              <a:schemeClr val="tx1"/>
            </a:solidFill>
            <a:miter lim="800000"/>
            <a:headEnd/>
            <a:tailEnd/>
          </a:ln>
        </p:spPr>
        <p:txBody>
          <a:bodyPr wrap="none" anchor="ctr"/>
          <a:lstStyle/>
          <a:p>
            <a:pPr algn="ctr" eaLnBrk="0" hangingPunct="0"/>
            <a:r>
              <a:rPr lang="zh-CN" altLang="en-US" sz="2000" b="1">
                <a:solidFill>
                  <a:srgbClr val="000099"/>
                </a:solidFill>
                <a:latin typeface="Tahoma" panose="020B0604030504040204" pitchFamily="34" charset="0"/>
                <a:ea typeface="黑体" panose="02010609060101010101" pitchFamily="49" charset="-122"/>
              </a:rPr>
              <a:t>数     据</a:t>
            </a:r>
          </a:p>
        </p:txBody>
      </p:sp>
      <p:sp>
        <p:nvSpPr>
          <p:cNvPr id="53262" name="Rectangle 14"/>
          <p:cNvSpPr>
            <a:spLocks noChangeArrowheads="1"/>
          </p:cNvSpPr>
          <p:nvPr/>
        </p:nvSpPr>
        <p:spPr bwMode="auto">
          <a:xfrm>
            <a:off x="5889625" y="2228850"/>
            <a:ext cx="1871663" cy="431800"/>
          </a:xfrm>
          <a:prstGeom prst="rect">
            <a:avLst/>
          </a:prstGeom>
          <a:solidFill>
            <a:srgbClr val="CCECFF"/>
          </a:solidFill>
          <a:ln w="28575">
            <a:solidFill>
              <a:schemeClr val="tx1"/>
            </a:solidFill>
            <a:miter lim="800000"/>
            <a:headEnd/>
            <a:tailEnd/>
          </a:ln>
        </p:spPr>
        <p:txBody>
          <a:bodyPr wrap="none" anchor="ctr"/>
          <a:lstStyle/>
          <a:p>
            <a:pPr algn="ctr" eaLnBrk="0" hangingPunct="0"/>
            <a:r>
              <a:rPr lang="zh-CN" altLang="en-US" sz="2000" b="1">
                <a:solidFill>
                  <a:srgbClr val="000099"/>
                </a:solidFill>
                <a:latin typeface="Tahoma" panose="020B0604030504040204" pitchFamily="34" charset="0"/>
                <a:ea typeface="黑体" panose="02010609060101010101" pitchFamily="49" charset="-122"/>
              </a:rPr>
              <a:t>数     据</a:t>
            </a:r>
          </a:p>
        </p:txBody>
      </p:sp>
      <p:grpSp>
        <p:nvGrpSpPr>
          <p:cNvPr id="53263" name="Group 15"/>
          <p:cNvGrpSpPr>
            <a:grpSpLocks/>
          </p:cNvGrpSpPr>
          <p:nvPr/>
        </p:nvGrpSpPr>
        <p:grpSpPr bwMode="auto">
          <a:xfrm>
            <a:off x="2144713" y="1773238"/>
            <a:ext cx="5616575" cy="400050"/>
            <a:chOff x="1247" y="1737"/>
            <a:chExt cx="3266" cy="252"/>
          </a:xfrm>
        </p:grpSpPr>
        <p:sp>
          <p:nvSpPr>
            <p:cNvPr id="72711" name="Line 2"/>
            <p:cNvSpPr>
              <a:spLocks noChangeShapeType="1"/>
            </p:cNvSpPr>
            <p:nvPr/>
          </p:nvSpPr>
          <p:spPr bwMode="auto">
            <a:xfrm>
              <a:off x="1247" y="1888"/>
              <a:ext cx="3266" cy="0"/>
            </a:xfrm>
            <a:prstGeom prst="line">
              <a:avLst/>
            </a:prstGeom>
            <a:noFill/>
            <a:ln w="9525">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2712" name="Text Box 3"/>
            <p:cNvSpPr txBox="1">
              <a:spLocks noChangeArrowheads="1"/>
            </p:cNvSpPr>
            <p:nvPr/>
          </p:nvSpPr>
          <p:spPr bwMode="auto">
            <a:xfrm>
              <a:off x="2699" y="1737"/>
              <a:ext cx="406" cy="25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Times New Roman" panose="02020603050405020304" pitchFamily="18" charset="0"/>
                  <a:ea typeface="黑体" panose="02010609060101010101" pitchFamily="49" charset="-122"/>
                </a:rPr>
                <a:t>报文</a:t>
              </a:r>
            </a:p>
          </p:txBody>
        </p:sp>
      </p:grpSp>
      <p:sp>
        <p:nvSpPr>
          <p:cNvPr id="53264" name="Rectangle 16"/>
          <p:cNvSpPr>
            <a:spLocks noChangeArrowheads="1"/>
          </p:cNvSpPr>
          <p:nvPr/>
        </p:nvSpPr>
        <p:spPr bwMode="auto">
          <a:xfrm>
            <a:off x="1520825" y="3322134"/>
            <a:ext cx="623888" cy="431800"/>
          </a:xfrm>
          <a:prstGeom prst="rect">
            <a:avLst/>
          </a:prstGeom>
          <a:solidFill>
            <a:schemeClr val="accent2"/>
          </a:solidFill>
          <a:ln w="28575">
            <a:solidFill>
              <a:schemeClr val="tx1"/>
            </a:solidFill>
            <a:miter lim="800000"/>
            <a:headEnd/>
            <a:tailEnd/>
          </a:ln>
        </p:spPr>
        <p:txBody>
          <a:bodyPr wrap="none" anchor="ctr"/>
          <a:lstStyle/>
          <a:p>
            <a:pPr algn="ctr" eaLnBrk="0" hangingPunct="0"/>
            <a:r>
              <a:rPr lang="zh-CN" altLang="en-US" sz="2000" b="1">
                <a:solidFill>
                  <a:srgbClr val="000099"/>
                </a:solidFill>
                <a:latin typeface="Tahoma" panose="020B0604030504040204" pitchFamily="34" charset="0"/>
                <a:ea typeface="黑体" panose="02010609060101010101" pitchFamily="49" charset="-122"/>
              </a:rPr>
              <a:t>首部</a:t>
            </a:r>
          </a:p>
        </p:txBody>
      </p:sp>
      <p:sp>
        <p:nvSpPr>
          <p:cNvPr id="53267" name="Rectangle 19"/>
          <p:cNvSpPr>
            <a:spLocks noChangeArrowheads="1"/>
          </p:cNvSpPr>
          <p:nvPr/>
        </p:nvSpPr>
        <p:spPr bwMode="auto">
          <a:xfrm>
            <a:off x="3392488" y="4173034"/>
            <a:ext cx="625475" cy="431800"/>
          </a:xfrm>
          <a:prstGeom prst="rect">
            <a:avLst/>
          </a:prstGeom>
          <a:solidFill>
            <a:schemeClr val="accent2"/>
          </a:solidFill>
          <a:ln w="28575">
            <a:solidFill>
              <a:schemeClr val="tx1"/>
            </a:solidFill>
            <a:miter lim="800000"/>
            <a:headEnd/>
            <a:tailEnd/>
          </a:ln>
        </p:spPr>
        <p:txBody>
          <a:bodyPr wrap="none" anchor="ctr"/>
          <a:lstStyle/>
          <a:p>
            <a:pPr algn="ctr" eaLnBrk="0" hangingPunct="0"/>
            <a:r>
              <a:rPr lang="zh-CN" altLang="en-US" sz="2000" b="1">
                <a:solidFill>
                  <a:srgbClr val="000099"/>
                </a:solidFill>
                <a:latin typeface="Tahoma" panose="020B0604030504040204" pitchFamily="34" charset="0"/>
                <a:ea typeface="黑体" panose="02010609060101010101" pitchFamily="49" charset="-122"/>
              </a:rPr>
              <a:t>首部</a:t>
            </a:r>
          </a:p>
        </p:txBody>
      </p:sp>
      <p:sp>
        <p:nvSpPr>
          <p:cNvPr id="53268" name="Rectangle 20"/>
          <p:cNvSpPr>
            <a:spLocks noChangeArrowheads="1"/>
          </p:cNvSpPr>
          <p:nvPr/>
        </p:nvSpPr>
        <p:spPr bwMode="auto">
          <a:xfrm>
            <a:off x="5264150" y="5036634"/>
            <a:ext cx="623888" cy="431800"/>
          </a:xfrm>
          <a:prstGeom prst="rect">
            <a:avLst/>
          </a:prstGeom>
          <a:solidFill>
            <a:schemeClr val="accent2"/>
          </a:solidFill>
          <a:ln w="28575">
            <a:solidFill>
              <a:schemeClr val="tx1"/>
            </a:solidFill>
            <a:miter lim="800000"/>
            <a:headEnd/>
            <a:tailEnd/>
          </a:ln>
        </p:spPr>
        <p:txBody>
          <a:bodyPr wrap="none" anchor="ctr"/>
          <a:lstStyle/>
          <a:p>
            <a:pPr algn="ctr" eaLnBrk="0" hangingPunct="0"/>
            <a:r>
              <a:rPr lang="zh-CN" altLang="en-US" sz="2000" b="1">
                <a:solidFill>
                  <a:srgbClr val="000099"/>
                </a:solidFill>
                <a:latin typeface="Tahoma" panose="020B0604030504040204" pitchFamily="34" charset="0"/>
                <a:ea typeface="黑体" panose="02010609060101010101" pitchFamily="49" charset="-122"/>
              </a:rPr>
              <a:t>首部</a:t>
            </a:r>
          </a:p>
        </p:txBody>
      </p:sp>
      <p:grpSp>
        <p:nvGrpSpPr>
          <p:cNvPr id="53273" name="Group 25"/>
          <p:cNvGrpSpPr>
            <a:grpSpLocks/>
          </p:cNvGrpSpPr>
          <p:nvPr/>
        </p:nvGrpSpPr>
        <p:grpSpPr bwMode="auto">
          <a:xfrm>
            <a:off x="1522413" y="2652026"/>
            <a:ext cx="2495550" cy="488950"/>
            <a:chOff x="1973" y="2532"/>
            <a:chExt cx="1451" cy="308"/>
          </a:xfrm>
        </p:grpSpPr>
        <p:sp>
          <p:nvSpPr>
            <p:cNvPr id="72717" name="AutoShape 21"/>
            <p:cNvSpPr>
              <a:spLocks/>
            </p:cNvSpPr>
            <p:nvPr/>
          </p:nvSpPr>
          <p:spPr bwMode="auto">
            <a:xfrm rot="5400000">
              <a:off x="2654" y="2068"/>
              <a:ext cx="90" cy="1451"/>
            </a:xfrm>
            <a:prstGeom prst="leftBrace">
              <a:avLst>
                <a:gd name="adj1" fmla="val 134352"/>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2718" name="Text Box 24"/>
            <p:cNvSpPr txBox="1">
              <a:spLocks noChangeArrowheads="1"/>
            </p:cNvSpPr>
            <p:nvPr/>
          </p:nvSpPr>
          <p:spPr bwMode="auto">
            <a:xfrm>
              <a:off x="2489" y="2532"/>
              <a:ext cx="50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Tahoma" panose="020B0604030504040204" pitchFamily="34" charset="0"/>
                  <a:ea typeface="黑体" panose="02010609060101010101" pitchFamily="49" charset="-122"/>
                </a:rPr>
                <a:t>分组</a:t>
              </a:r>
              <a:r>
                <a:rPr lang="zh-CN" altLang="en-US"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p>
          </p:txBody>
        </p:sp>
      </p:grpSp>
      <p:grpSp>
        <p:nvGrpSpPr>
          <p:cNvPr id="53274" name="Group 26"/>
          <p:cNvGrpSpPr>
            <a:grpSpLocks/>
          </p:cNvGrpSpPr>
          <p:nvPr/>
        </p:nvGrpSpPr>
        <p:grpSpPr bwMode="auto">
          <a:xfrm>
            <a:off x="3392488" y="3611059"/>
            <a:ext cx="2495550" cy="488950"/>
            <a:chOff x="1973" y="2532"/>
            <a:chExt cx="1451" cy="308"/>
          </a:xfrm>
        </p:grpSpPr>
        <p:sp>
          <p:nvSpPr>
            <p:cNvPr id="72720" name="AutoShape 27"/>
            <p:cNvSpPr>
              <a:spLocks/>
            </p:cNvSpPr>
            <p:nvPr/>
          </p:nvSpPr>
          <p:spPr bwMode="auto">
            <a:xfrm rot="5400000">
              <a:off x="2654" y="2068"/>
              <a:ext cx="90" cy="1451"/>
            </a:xfrm>
            <a:prstGeom prst="leftBrace">
              <a:avLst>
                <a:gd name="adj1" fmla="val 134352"/>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2721" name="Text Box 28"/>
            <p:cNvSpPr txBox="1">
              <a:spLocks noChangeArrowheads="1"/>
            </p:cNvSpPr>
            <p:nvPr/>
          </p:nvSpPr>
          <p:spPr bwMode="auto">
            <a:xfrm>
              <a:off x="2489" y="2532"/>
              <a:ext cx="50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Tahoma" panose="020B0604030504040204" pitchFamily="34" charset="0"/>
                  <a:ea typeface="黑体" panose="02010609060101010101" pitchFamily="49" charset="-122"/>
                </a:rPr>
                <a:t>分组</a:t>
              </a:r>
              <a:r>
                <a:rPr lang="zh-CN" altLang="en-US"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2</a:t>
              </a:r>
            </a:p>
          </p:txBody>
        </p:sp>
      </p:grpSp>
      <p:grpSp>
        <p:nvGrpSpPr>
          <p:cNvPr id="53277" name="Group 29"/>
          <p:cNvGrpSpPr>
            <a:grpSpLocks/>
          </p:cNvGrpSpPr>
          <p:nvPr/>
        </p:nvGrpSpPr>
        <p:grpSpPr bwMode="auto">
          <a:xfrm>
            <a:off x="5264150" y="4474659"/>
            <a:ext cx="2495550" cy="488950"/>
            <a:chOff x="1973" y="2532"/>
            <a:chExt cx="1451" cy="308"/>
          </a:xfrm>
        </p:grpSpPr>
        <p:sp>
          <p:nvSpPr>
            <p:cNvPr id="72723" name="AutoShape 30"/>
            <p:cNvSpPr>
              <a:spLocks/>
            </p:cNvSpPr>
            <p:nvPr/>
          </p:nvSpPr>
          <p:spPr bwMode="auto">
            <a:xfrm rot="5400000">
              <a:off x="2654" y="2068"/>
              <a:ext cx="90" cy="1451"/>
            </a:xfrm>
            <a:prstGeom prst="leftBrace">
              <a:avLst>
                <a:gd name="adj1" fmla="val 134352"/>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2724" name="Text Box 31"/>
            <p:cNvSpPr txBox="1">
              <a:spLocks noChangeArrowheads="1"/>
            </p:cNvSpPr>
            <p:nvPr/>
          </p:nvSpPr>
          <p:spPr bwMode="auto">
            <a:xfrm>
              <a:off x="2489" y="2532"/>
              <a:ext cx="50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Tahoma" panose="020B0604030504040204" pitchFamily="34" charset="0"/>
                  <a:ea typeface="黑体" panose="02010609060101010101" pitchFamily="49" charset="-122"/>
                </a:rPr>
                <a:t>分组</a:t>
              </a:r>
              <a:r>
                <a:rPr lang="zh-CN" altLang="en-US"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3</a:t>
              </a:r>
            </a:p>
          </p:txBody>
        </p:sp>
      </p:grpSp>
      <p:sp>
        <p:nvSpPr>
          <p:cNvPr id="53281" name="Text Box 33"/>
          <p:cNvSpPr txBox="1">
            <a:spLocks noChangeArrowheads="1"/>
          </p:cNvSpPr>
          <p:nvPr/>
        </p:nvSpPr>
        <p:spPr bwMode="auto">
          <a:xfrm>
            <a:off x="1468438" y="5857371"/>
            <a:ext cx="48529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C00000"/>
                </a:solidFill>
                <a:latin typeface="Tahoma" panose="020B0604030504040204" pitchFamily="34" charset="0"/>
                <a:ea typeface="黑体" panose="02010609060101010101" pitchFamily="49" charset="-122"/>
              </a:rPr>
              <a:t>请注意：现在左边是</a:t>
            </a:r>
            <a:r>
              <a:rPr lang="zh-CN" altLang="en-US" sz="2800" b="1">
                <a:solidFill>
                  <a:srgbClr val="C00000"/>
                </a:solidFill>
                <a:ea typeface="黑体" panose="02010609060101010101" pitchFamily="49" charset="-122"/>
              </a:rPr>
              <a:t>“</a:t>
            </a:r>
            <a:r>
              <a:rPr lang="zh-CN" altLang="en-US" sz="2800" b="1">
                <a:solidFill>
                  <a:srgbClr val="C00000"/>
                </a:solidFill>
                <a:latin typeface="Tahoma" panose="020B0604030504040204" pitchFamily="34" charset="0"/>
                <a:ea typeface="黑体" panose="02010609060101010101" pitchFamily="49" charset="-122"/>
              </a:rPr>
              <a:t>前面</a:t>
            </a:r>
            <a:r>
              <a:rPr lang="zh-CN" altLang="en-US" sz="2800" b="1">
                <a:solidFill>
                  <a:srgbClr val="C00000"/>
                </a:solidFill>
                <a:ea typeface="黑体" panose="02010609060101010101" pitchFamily="49" charset="-122"/>
              </a:rPr>
              <a:t>”</a:t>
            </a:r>
            <a:endParaRPr lang="zh-CN" altLang="en-US" sz="2800" b="1">
              <a:solidFill>
                <a:srgbClr val="C00000"/>
              </a:solidFill>
              <a:latin typeface="Tahoma" panose="020B0604030504040204" pitchFamily="34" charset="0"/>
              <a:ea typeface="黑体" panose="02010609060101010101" pitchFamily="49" charset="-122"/>
            </a:endParaRPr>
          </a:p>
        </p:txBody>
      </p:sp>
      <p:cxnSp>
        <p:nvCxnSpPr>
          <p:cNvPr id="72726" name="直接连接符 24"/>
          <p:cNvCxnSpPr>
            <a:cxnSpLocks noChangeShapeType="1"/>
          </p:cNvCxnSpPr>
          <p:nvPr/>
        </p:nvCxnSpPr>
        <p:spPr bwMode="auto">
          <a:xfrm>
            <a:off x="2146300" y="1773238"/>
            <a:ext cx="0" cy="400050"/>
          </a:xfrm>
          <a:prstGeom prst="line">
            <a:avLst/>
          </a:prstGeom>
          <a:noFill/>
          <a:ln w="9525">
            <a:solidFill>
              <a:schemeClr val="tx1"/>
            </a:solidFill>
            <a:round/>
            <a:headEnd/>
            <a:tailEnd/>
          </a:ln>
        </p:spPr>
      </p:cxnSp>
      <p:cxnSp>
        <p:nvCxnSpPr>
          <p:cNvPr id="72727" name="直接连接符 25"/>
          <p:cNvCxnSpPr>
            <a:cxnSpLocks noChangeShapeType="1"/>
          </p:cNvCxnSpPr>
          <p:nvPr/>
        </p:nvCxnSpPr>
        <p:spPr bwMode="auto">
          <a:xfrm>
            <a:off x="7747000" y="1773238"/>
            <a:ext cx="0" cy="400050"/>
          </a:xfrm>
          <a:prstGeom prst="line">
            <a:avLst/>
          </a:prstGeom>
          <a:noFill/>
          <a:ln w="9525">
            <a:solidFill>
              <a:schemeClr val="tx1"/>
            </a:solidFill>
            <a:round/>
            <a:headEnd/>
            <a:tailEnd/>
          </a:ln>
        </p:spPr>
      </p:cxnSp>
      <p:sp>
        <p:nvSpPr>
          <p:cNvPr id="72728"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92C1BB6-0786-491D-8206-C560B5402EB1}" type="slidenum">
              <a:rPr lang="zh-CN" altLang="en-US" smtClean="0"/>
              <a:pPr eaLnBrk="1" hangingPunct="1"/>
              <a:t>46</a:t>
            </a:fld>
            <a:endParaRPr lang="en-US" altLang="zh-CN" smtClean="0"/>
          </a:p>
        </p:txBody>
      </p:sp>
      <p:sp>
        <p:nvSpPr>
          <p:cNvPr id="72729"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nodeType="clickEffect">
                                  <p:stCondLst>
                                    <p:cond delay="0"/>
                                  </p:stCondLst>
                                  <p:childTnLst>
                                    <p:set>
                                      <p:cBhvr>
                                        <p:cTn id="6" dur="1" fill="hold">
                                          <p:stCondLst>
                                            <p:cond delay="0"/>
                                          </p:stCondLst>
                                        </p:cTn>
                                        <p:tgtEl>
                                          <p:spTgt spid="53263"/>
                                        </p:tgtEl>
                                        <p:attrNameLst>
                                          <p:attrName>style.visibility</p:attrName>
                                        </p:attrNameLst>
                                      </p:cBhvr>
                                      <p:to>
                                        <p:strVal val="hidden"/>
                                      </p:to>
                                    </p:set>
                                  </p:childTnLst>
                                </p:cTn>
                              </p:par>
                            </p:childTnLst>
                          </p:cTn>
                        </p:par>
                        <p:par>
                          <p:cTn id="7" fill="hold" nodeType="afterGroup">
                            <p:stCondLst>
                              <p:cond delay="1"/>
                            </p:stCondLst>
                            <p:childTnLst>
                              <p:par>
                                <p:cTn id="8" presetID="42" presetClass="path" presetSubtype="0" accel="50000" decel="50000" fill="hold" grpId="0" nodeType="afterEffect">
                                  <p:stCondLst>
                                    <p:cond delay="0"/>
                                  </p:stCondLst>
                                  <p:childTnLst>
                                    <p:animMotion origin="layout" path="M 2.5E-6 0.0 L 2.5E-6 0.09653 " pathEditMode="relative" rAng="0" ptsTypes="AA">
                                      <p:cBhvr>
                                        <p:cTn id="9" dur="1000" fill="hold"/>
                                        <p:tgtEl>
                                          <p:spTgt spid="53260"/>
                                        </p:tgtEl>
                                        <p:attrNameLst>
                                          <p:attrName>ppt_x,ppt_y</p:attrName>
                                        </p:attrNameLst>
                                      </p:cBhvr>
                                      <p:rCtr x="0" y="4800"/>
                                    </p:animMotion>
                                  </p:childTnLst>
                                </p:cTn>
                              </p:par>
                            </p:childTnLst>
                          </p:cTn>
                        </p:par>
                        <p:par>
                          <p:cTn id="10" fill="hold" nodeType="afterGroup">
                            <p:stCondLst>
                              <p:cond delay="1001"/>
                            </p:stCondLst>
                            <p:childTnLst>
                              <p:par>
                                <p:cTn id="11" presetID="1" presetClass="entr" presetSubtype="0" fill="hold" grpId="0" nodeType="afterEffect">
                                  <p:stCondLst>
                                    <p:cond delay="500"/>
                                  </p:stCondLst>
                                  <p:childTnLst>
                                    <p:set>
                                      <p:cBhvr>
                                        <p:cTn id="12" dur="1" fill="hold">
                                          <p:stCondLst>
                                            <p:cond delay="0"/>
                                          </p:stCondLst>
                                        </p:cTn>
                                        <p:tgtEl>
                                          <p:spTgt spid="53264"/>
                                        </p:tgtEl>
                                        <p:attrNameLst>
                                          <p:attrName>style.visibility</p:attrName>
                                        </p:attrNameLst>
                                      </p:cBhvr>
                                      <p:to>
                                        <p:strVal val="visible"/>
                                      </p:to>
                                    </p:set>
                                  </p:childTnLst>
                                </p:cTn>
                              </p:par>
                            </p:childTnLst>
                          </p:cTn>
                        </p:par>
                        <p:par>
                          <p:cTn id="13" fill="hold" nodeType="afterGroup">
                            <p:stCondLst>
                              <p:cond delay="1502"/>
                            </p:stCondLst>
                            <p:childTnLst>
                              <p:par>
                                <p:cTn id="14" presetID="1" presetClass="entr" presetSubtype="0" fill="hold" nodeType="afterEffect">
                                  <p:stCondLst>
                                    <p:cond delay="500"/>
                                  </p:stCondLst>
                                  <p:childTnLst>
                                    <p:set>
                                      <p:cBhvr>
                                        <p:cTn id="15" dur="1" fill="hold">
                                          <p:stCondLst>
                                            <p:cond delay="0"/>
                                          </p:stCondLst>
                                        </p:cTn>
                                        <p:tgtEl>
                                          <p:spTgt spid="53273"/>
                                        </p:tgtEl>
                                        <p:attrNameLst>
                                          <p:attrName>style.visibility</p:attrName>
                                        </p:attrNameLst>
                                      </p:cBhvr>
                                      <p:to>
                                        <p:strVal val="visible"/>
                                      </p:to>
                                    </p:set>
                                  </p:childTnLst>
                                </p:cTn>
                              </p:par>
                            </p:childTnLst>
                          </p:cTn>
                        </p:par>
                        <p:par>
                          <p:cTn id="16" fill="hold" nodeType="afterGroup">
                            <p:stCondLst>
                              <p:cond delay="2003"/>
                            </p:stCondLst>
                            <p:childTnLst>
                              <p:par>
                                <p:cTn id="17" presetID="42" presetClass="path" presetSubtype="0" accel="50000" decel="50000" fill="hold" grpId="0" nodeType="afterEffect">
                                  <p:stCondLst>
                                    <p:cond delay="500"/>
                                  </p:stCondLst>
                                  <p:childTnLst>
                                    <p:animMotion origin="layout" path="M 0.0 -1.96532E-6 L 0.0 0.22035 " pathEditMode="relative" rAng="0" ptsTypes="AA">
                                      <p:cBhvr>
                                        <p:cTn id="18" dur="1000" fill="hold"/>
                                        <p:tgtEl>
                                          <p:spTgt spid="53261"/>
                                        </p:tgtEl>
                                        <p:attrNameLst>
                                          <p:attrName>ppt_x,ppt_y</p:attrName>
                                        </p:attrNameLst>
                                      </p:cBhvr>
                                      <p:rCtr x="0" y="11000"/>
                                    </p:animMotion>
                                  </p:childTnLst>
                                </p:cTn>
                              </p:par>
                            </p:childTnLst>
                          </p:cTn>
                        </p:par>
                        <p:par>
                          <p:cTn id="19" fill="hold" nodeType="afterGroup">
                            <p:stCondLst>
                              <p:cond delay="3503"/>
                            </p:stCondLst>
                            <p:childTnLst>
                              <p:par>
                                <p:cTn id="20" presetID="1" presetClass="entr" presetSubtype="0" fill="hold" grpId="0" nodeType="afterEffect">
                                  <p:stCondLst>
                                    <p:cond delay="500"/>
                                  </p:stCondLst>
                                  <p:childTnLst>
                                    <p:set>
                                      <p:cBhvr>
                                        <p:cTn id="21" dur="1" fill="hold">
                                          <p:stCondLst>
                                            <p:cond delay="0"/>
                                          </p:stCondLst>
                                        </p:cTn>
                                        <p:tgtEl>
                                          <p:spTgt spid="53267"/>
                                        </p:tgtEl>
                                        <p:attrNameLst>
                                          <p:attrName>style.visibility</p:attrName>
                                        </p:attrNameLst>
                                      </p:cBhvr>
                                      <p:to>
                                        <p:strVal val="visible"/>
                                      </p:to>
                                    </p:set>
                                  </p:childTnLst>
                                </p:cTn>
                              </p:par>
                            </p:childTnLst>
                          </p:cTn>
                        </p:par>
                        <p:par>
                          <p:cTn id="22" fill="hold" nodeType="afterGroup">
                            <p:stCondLst>
                              <p:cond delay="4004"/>
                            </p:stCondLst>
                            <p:childTnLst>
                              <p:par>
                                <p:cTn id="23" presetID="1" presetClass="entr" presetSubtype="0" fill="hold" nodeType="afterEffect">
                                  <p:stCondLst>
                                    <p:cond delay="500"/>
                                  </p:stCondLst>
                                  <p:childTnLst>
                                    <p:set>
                                      <p:cBhvr>
                                        <p:cTn id="24" dur="1" fill="hold">
                                          <p:stCondLst>
                                            <p:cond delay="0"/>
                                          </p:stCondLst>
                                        </p:cTn>
                                        <p:tgtEl>
                                          <p:spTgt spid="53274"/>
                                        </p:tgtEl>
                                        <p:attrNameLst>
                                          <p:attrName>style.visibility</p:attrName>
                                        </p:attrNameLst>
                                      </p:cBhvr>
                                      <p:to>
                                        <p:strVal val="visible"/>
                                      </p:to>
                                    </p:set>
                                  </p:childTnLst>
                                </p:cTn>
                              </p:par>
                            </p:childTnLst>
                          </p:cTn>
                        </p:par>
                        <p:par>
                          <p:cTn id="25" fill="hold" nodeType="afterGroup">
                            <p:stCondLst>
                              <p:cond delay="4505"/>
                            </p:stCondLst>
                            <p:childTnLst>
                              <p:par>
                                <p:cTn id="26" presetID="42" presetClass="path" presetSubtype="0" accel="50000" decel="50000" fill="hold" grpId="0" nodeType="afterEffect">
                                  <p:stCondLst>
                                    <p:cond delay="500"/>
                                  </p:stCondLst>
                                  <p:childTnLst>
                                    <p:animMotion origin="layout" path="M -2.5E-6 -1.96532E-6 L -2.5E-6 0.34613 " pathEditMode="relative" rAng="0" ptsTypes="AA">
                                      <p:cBhvr>
                                        <p:cTn id="27" dur="1000" fill="hold"/>
                                        <p:tgtEl>
                                          <p:spTgt spid="53262"/>
                                        </p:tgtEl>
                                        <p:attrNameLst>
                                          <p:attrName>ppt_x,ppt_y</p:attrName>
                                        </p:attrNameLst>
                                      </p:cBhvr>
                                      <p:rCtr x="0" y="17200"/>
                                    </p:animMotion>
                                  </p:childTnLst>
                                </p:cTn>
                              </p:par>
                            </p:childTnLst>
                          </p:cTn>
                        </p:par>
                        <p:par>
                          <p:cTn id="28" fill="hold" nodeType="afterGroup">
                            <p:stCondLst>
                              <p:cond delay="6005"/>
                            </p:stCondLst>
                            <p:childTnLst>
                              <p:par>
                                <p:cTn id="29" presetID="1" presetClass="entr" presetSubtype="0" fill="hold" grpId="0" nodeType="afterEffect">
                                  <p:stCondLst>
                                    <p:cond delay="500"/>
                                  </p:stCondLst>
                                  <p:childTnLst>
                                    <p:set>
                                      <p:cBhvr>
                                        <p:cTn id="30" dur="1" fill="hold">
                                          <p:stCondLst>
                                            <p:cond delay="0"/>
                                          </p:stCondLst>
                                        </p:cTn>
                                        <p:tgtEl>
                                          <p:spTgt spid="53268"/>
                                        </p:tgtEl>
                                        <p:attrNameLst>
                                          <p:attrName>style.visibility</p:attrName>
                                        </p:attrNameLst>
                                      </p:cBhvr>
                                      <p:to>
                                        <p:strVal val="visible"/>
                                      </p:to>
                                    </p:set>
                                  </p:childTnLst>
                                </p:cTn>
                              </p:par>
                            </p:childTnLst>
                          </p:cTn>
                        </p:par>
                        <p:par>
                          <p:cTn id="31" fill="hold" nodeType="afterGroup">
                            <p:stCondLst>
                              <p:cond delay="6506"/>
                            </p:stCondLst>
                            <p:childTnLst>
                              <p:par>
                                <p:cTn id="32" presetID="1" presetClass="entr" presetSubtype="0" fill="hold" nodeType="afterEffect">
                                  <p:stCondLst>
                                    <p:cond delay="500"/>
                                  </p:stCondLst>
                                  <p:childTnLst>
                                    <p:set>
                                      <p:cBhvr>
                                        <p:cTn id="33" dur="1" fill="hold">
                                          <p:stCondLst>
                                            <p:cond delay="0"/>
                                          </p:stCondLst>
                                        </p:cTn>
                                        <p:tgtEl>
                                          <p:spTgt spid="53277"/>
                                        </p:tgtEl>
                                        <p:attrNameLst>
                                          <p:attrName>style.visibility</p:attrName>
                                        </p:attrNameLst>
                                      </p:cBhvr>
                                      <p:to>
                                        <p:strVal val="visible"/>
                                      </p:to>
                                    </p:set>
                                  </p:childTnLst>
                                </p:cTn>
                              </p:par>
                            </p:childTnLst>
                          </p:cTn>
                        </p:par>
                        <p:par>
                          <p:cTn id="34" fill="hold" nodeType="afterGroup">
                            <p:stCondLst>
                              <p:cond delay="7007"/>
                            </p:stCondLst>
                            <p:childTnLst>
                              <p:par>
                                <p:cTn id="35" presetID="1" presetClass="entr" presetSubtype="0" fill="hold" grpId="0" nodeType="afterEffect">
                                  <p:stCondLst>
                                    <p:cond delay="0"/>
                                  </p:stCondLst>
                                  <p:childTnLst>
                                    <p:set>
                                      <p:cBhvr>
                                        <p:cTn id="36" dur="1" fill="hold">
                                          <p:stCondLst>
                                            <p:cond delay="0"/>
                                          </p:stCondLst>
                                        </p:cTn>
                                        <p:tgtEl>
                                          <p:spTgt spid="53281"/>
                                        </p:tgtEl>
                                        <p:attrNameLst>
                                          <p:attrName>style.visibility</p:attrName>
                                        </p:attrNameLst>
                                      </p:cBhvr>
                                      <p:to>
                                        <p:strVal val="visible"/>
                                      </p:to>
                                    </p:set>
                                  </p:childTnLst>
                                </p:cTn>
                              </p:par>
                            </p:childTnLst>
                          </p:cTn>
                        </p:par>
                        <p:par>
                          <p:cTn id="37" fill="hold" nodeType="afterGroup">
                            <p:stCondLst>
                              <p:cond delay="7008"/>
                            </p:stCondLst>
                            <p:childTnLst>
                              <p:par>
                                <p:cTn id="38" presetID="35" presetClass="emph" presetSubtype="0" repeatCount="3000" fill="hold" grpId="1" nodeType="afterEffect">
                                  <p:stCondLst>
                                    <p:cond delay="0"/>
                                  </p:stCondLst>
                                  <p:childTnLst>
                                    <p:anim calcmode="discrete" valueType="str">
                                      <p:cBhvr>
                                        <p:cTn id="39" dur="1000" fill="hold"/>
                                        <p:tgtEl>
                                          <p:spTgt spid="5328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60" grpId="0" animBg="1"/>
      <p:bldP spid="53261" grpId="0" animBg="1"/>
      <p:bldP spid="53262" grpId="0" animBg="1"/>
      <p:bldP spid="53264" grpId="0" animBg="1"/>
      <p:bldP spid="53267" grpId="0" animBg="1"/>
      <p:bldP spid="53268" grpId="0" animBg="1"/>
      <p:bldP spid="53281" grpId="0"/>
      <p:bldP spid="53281" grpId="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8"/>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分组交换的传输单元</a:t>
            </a:r>
          </a:p>
        </p:txBody>
      </p:sp>
      <p:sp>
        <p:nvSpPr>
          <p:cNvPr id="57353" name="Rectangle 9"/>
          <p:cNvSpPr>
            <a:spLocks noGrp="1" noChangeArrowheads="1"/>
          </p:cNvSpPr>
          <p:nvPr>
            <p:ph idx="1"/>
          </p:nvPr>
        </p:nvSpPr>
        <p:spPr>
          <a:xfrm>
            <a:off x="495300" y="1196975"/>
            <a:ext cx="9066213" cy="4933950"/>
          </a:xfrm>
        </p:spPr>
        <p:txBody>
          <a:bodyPr/>
          <a:lstStyle/>
          <a:p>
            <a:pPr>
              <a:spcBef>
                <a:spcPct val="10000"/>
              </a:spcBef>
            </a:pPr>
            <a:r>
              <a:rPr lang="zh-CN" altLang="en-US" smtClean="0">
                <a:ea typeface="黑体" panose="02010609060101010101" pitchFamily="49" charset="-122"/>
              </a:rPr>
              <a:t>分组交换网以“</a:t>
            </a:r>
            <a:r>
              <a:rPr lang="zh-CN" altLang="en-US" smtClean="0">
                <a:solidFill>
                  <a:srgbClr val="FF0000"/>
                </a:solidFill>
                <a:ea typeface="黑体" panose="02010609060101010101" pitchFamily="49" charset="-122"/>
              </a:rPr>
              <a:t>分组</a:t>
            </a:r>
            <a:r>
              <a:rPr lang="zh-CN" altLang="en-US" smtClean="0">
                <a:ea typeface="黑体" panose="02010609060101010101" pitchFamily="49" charset="-122"/>
              </a:rPr>
              <a:t>”作为数据传输单元。</a:t>
            </a:r>
          </a:p>
          <a:p>
            <a:pPr>
              <a:spcBef>
                <a:spcPct val="10000"/>
              </a:spcBef>
            </a:pPr>
            <a:r>
              <a:rPr lang="zh-CN" altLang="en-US" smtClean="0">
                <a:solidFill>
                  <a:srgbClr val="FF0000"/>
                </a:solidFill>
                <a:ea typeface="黑体" panose="02010609060101010101" pitchFamily="49" charset="-122"/>
              </a:rPr>
              <a:t>依次</a:t>
            </a:r>
            <a:r>
              <a:rPr lang="zh-CN" altLang="en-US" smtClean="0">
                <a:ea typeface="黑体" panose="02010609060101010101" pitchFamily="49" charset="-122"/>
              </a:rPr>
              <a:t>把各分组发送到接收端（假定接收端在左边）。</a:t>
            </a:r>
          </a:p>
        </p:txBody>
      </p:sp>
      <p:grpSp>
        <p:nvGrpSpPr>
          <p:cNvPr id="57366" name="Group 22"/>
          <p:cNvGrpSpPr>
            <a:grpSpLocks/>
          </p:cNvGrpSpPr>
          <p:nvPr/>
        </p:nvGrpSpPr>
        <p:grpSpPr bwMode="auto">
          <a:xfrm>
            <a:off x="1803400" y="2924175"/>
            <a:ext cx="2497138" cy="993775"/>
            <a:chOff x="884" y="2078"/>
            <a:chExt cx="1452" cy="626"/>
          </a:xfrm>
        </p:grpSpPr>
        <p:sp>
          <p:nvSpPr>
            <p:cNvPr id="74756" name="Rectangle 2"/>
            <p:cNvSpPr>
              <a:spLocks noChangeArrowheads="1"/>
            </p:cNvSpPr>
            <p:nvPr/>
          </p:nvSpPr>
          <p:spPr bwMode="auto">
            <a:xfrm>
              <a:off x="1247" y="2432"/>
              <a:ext cx="1088" cy="272"/>
            </a:xfrm>
            <a:prstGeom prst="rect">
              <a:avLst/>
            </a:prstGeom>
            <a:solidFill>
              <a:srgbClr val="CCECFF"/>
            </a:solidFill>
            <a:ln w="28575">
              <a:solidFill>
                <a:schemeClr val="tx1"/>
              </a:solidFill>
              <a:miter lim="800000"/>
              <a:headEnd/>
              <a:tailEnd/>
            </a:ln>
          </p:spPr>
          <p:txBody>
            <a:bodyPr wrap="none" anchor="ctr"/>
            <a:lstStyle/>
            <a:p>
              <a:pPr algn="ctr" eaLnBrk="0" hangingPunct="0"/>
              <a:r>
                <a:rPr lang="zh-CN" altLang="en-US" sz="2000" b="1">
                  <a:solidFill>
                    <a:srgbClr val="000099"/>
                  </a:solidFill>
                  <a:latin typeface="Tahoma" panose="020B0604030504040204" pitchFamily="34" charset="0"/>
                  <a:ea typeface="黑体" panose="02010609060101010101" pitchFamily="49" charset="-122"/>
                </a:rPr>
                <a:t>数     据</a:t>
              </a:r>
            </a:p>
          </p:txBody>
        </p:sp>
        <p:sp>
          <p:nvSpPr>
            <p:cNvPr id="74757" name="Rectangle 10"/>
            <p:cNvSpPr>
              <a:spLocks noChangeArrowheads="1"/>
            </p:cNvSpPr>
            <p:nvPr/>
          </p:nvSpPr>
          <p:spPr bwMode="auto">
            <a:xfrm>
              <a:off x="884" y="2432"/>
              <a:ext cx="363" cy="272"/>
            </a:xfrm>
            <a:prstGeom prst="rect">
              <a:avLst/>
            </a:prstGeom>
            <a:solidFill>
              <a:schemeClr val="accent2"/>
            </a:solidFill>
            <a:ln w="28575">
              <a:solidFill>
                <a:schemeClr val="tx1"/>
              </a:solidFill>
              <a:miter lim="800000"/>
              <a:headEnd/>
              <a:tailEnd/>
            </a:ln>
          </p:spPr>
          <p:txBody>
            <a:bodyPr wrap="none" anchor="ctr"/>
            <a:lstStyle/>
            <a:p>
              <a:pPr algn="ctr" eaLnBrk="0" hangingPunct="0"/>
              <a:r>
                <a:rPr lang="zh-CN" altLang="en-US" sz="2000" b="1">
                  <a:solidFill>
                    <a:srgbClr val="000099"/>
                  </a:solidFill>
                  <a:latin typeface="Tahoma" panose="020B0604030504040204" pitchFamily="34" charset="0"/>
                  <a:ea typeface="黑体" panose="02010609060101010101" pitchFamily="49" charset="-122"/>
                </a:rPr>
                <a:t>首部</a:t>
              </a:r>
            </a:p>
          </p:txBody>
        </p:sp>
        <p:grpSp>
          <p:nvGrpSpPr>
            <p:cNvPr id="74758" name="Group 13"/>
            <p:cNvGrpSpPr>
              <a:grpSpLocks/>
            </p:cNvGrpSpPr>
            <p:nvPr/>
          </p:nvGrpSpPr>
          <p:grpSpPr bwMode="auto">
            <a:xfrm>
              <a:off x="885" y="2078"/>
              <a:ext cx="1451" cy="308"/>
              <a:chOff x="1973" y="2532"/>
              <a:chExt cx="1451" cy="308"/>
            </a:xfrm>
          </p:grpSpPr>
          <p:sp>
            <p:nvSpPr>
              <p:cNvPr id="74759" name="AutoShape 14"/>
              <p:cNvSpPr>
                <a:spLocks/>
              </p:cNvSpPr>
              <p:nvPr/>
            </p:nvSpPr>
            <p:spPr bwMode="auto">
              <a:xfrm rot="5400000">
                <a:off x="2654" y="2068"/>
                <a:ext cx="90" cy="1451"/>
              </a:xfrm>
              <a:prstGeom prst="leftBrace">
                <a:avLst>
                  <a:gd name="adj1" fmla="val 134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760" name="Text Box 15"/>
              <p:cNvSpPr txBox="1">
                <a:spLocks noChangeArrowheads="1"/>
              </p:cNvSpPr>
              <p:nvPr/>
            </p:nvSpPr>
            <p:spPr bwMode="auto">
              <a:xfrm>
                <a:off x="2489" y="2532"/>
                <a:ext cx="52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Tahoma" panose="020B0604030504040204" pitchFamily="34" charset="0"/>
                    <a:ea typeface="黑体" panose="02010609060101010101" pitchFamily="49" charset="-122"/>
                  </a:rPr>
                  <a:t>分组</a:t>
                </a:r>
                <a:r>
                  <a:rPr lang="zh-CN" altLang="en-US" sz="1400" b="1">
                    <a:solidFill>
                      <a:srgbClr val="000099"/>
                    </a:solidFill>
                    <a:latin typeface="Tahoma" panose="020B0604030504040204" pitchFamily="34" charset="0"/>
                    <a:ea typeface="黑体" panose="02010609060101010101" pitchFamily="49" charset="-122"/>
                  </a:rPr>
                  <a:t> </a:t>
                </a:r>
                <a:r>
                  <a:rPr lang="en-US" altLang="zh-CN" sz="2000" b="1">
                    <a:solidFill>
                      <a:srgbClr val="000099"/>
                    </a:solidFill>
                    <a:ea typeface="黑体" panose="02010609060101010101" pitchFamily="49" charset="-122"/>
                  </a:rPr>
                  <a:t>1</a:t>
                </a:r>
              </a:p>
            </p:txBody>
          </p:sp>
        </p:grpSp>
      </p:grpSp>
      <p:grpSp>
        <p:nvGrpSpPr>
          <p:cNvPr id="57367" name="Group 23"/>
          <p:cNvGrpSpPr>
            <a:grpSpLocks/>
          </p:cNvGrpSpPr>
          <p:nvPr/>
        </p:nvGrpSpPr>
        <p:grpSpPr bwMode="auto">
          <a:xfrm>
            <a:off x="3676650" y="3789363"/>
            <a:ext cx="2493963" cy="993775"/>
            <a:chOff x="1973" y="2623"/>
            <a:chExt cx="1451" cy="626"/>
          </a:xfrm>
        </p:grpSpPr>
        <p:sp>
          <p:nvSpPr>
            <p:cNvPr id="74762" name="Rectangle 3"/>
            <p:cNvSpPr>
              <a:spLocks noChangeArrowheads="1"/>
            </p:cNvSpPr>
            <p:nvPr/>
          </p:nvSpPr>
          <p:spPr bwMode="auto">
            <a:xfrm>
              <a:off x="2336" y="2977"/>
              <a:ext cx="1088" cy="272"/>
            </a:xfrm>
            <a:prstGeom prst="rect">
              <a:avLst/>
            </a:prstGeom>
            <a:solidFill>
              <a:srgbClr val="CCECFF"/>
            </a:solidFill>
            <a:ln w="28575">
              <a:solidFill>
                <a:schemeClr val="tx1"/>
              </a:solidFill>
              <a:miter lim="800000"/>
              <a:headEnd/>
              <a:tailEnd/>
            </a:ln>
          </p:spPr>
          <p:txBody>
            <a:bodyPr wrap="none" anchor="ctr"/>
            <a:lstStyle/>
            <a:p>
              <a:pPr algn="ctr" eaLnBrk="0" hangingPunct="0"/>
              <a:r>
                <a:rPr lang="zh-CN" altLang="en-US" sz="2000" b="1">
                  <a:solidFill>
                    <a:srgbClr val="000099"/>
                  </a:solidFill>
                  <a:latin typeface="Tahoma" panose="020B0604030504040204" pitchFamily="34" charset="0"/>
                  <a:ea typeface="黑体" panose="02010609060101010101" pitchFamily="49" charset="-122"/>
                </a:rPr>
                <a:t>数     据</a:t>
              </a:r>
            </a:p>
          </p:txBody>
        </p:sp>
        <p:sp>
          <p:nvSpPr>
            <p:cNvPr id="74763" name="Rectangle 11"/>
            <p:cNvSpPr>
              <a:spLocks noChangeArrowheads="1"/>
            </p:cNvSpPr>
            <p:nvPr/>
          </p:nvSpPr>
          <p:spPr bwMode="auto">
            <a:xfrm>
              <a:off x="1973" y="2977"/>
              <a:ext cx="363" cy="272"/>
            </a:xfrm>
            <a:prstGeom prst="rect">
              <a:avLst/>
            </a:prstGeom>
            <a:solidFill>
              <a:schemeClr val="accent2"/>
            </a:solidFill>
            <a:ln w="28575">
              <a:solidFill>
                <a:schemeClr val="tx1"/>
              </a:solidFill>
              <a:miter lim="800000"/>
              <a:headEnd/>
              <a:tailEnd/>
            </a:ln>
          </p:spPr>
          <p:txBody>
            <a:bodyPr wrap="none" anchor="ctr"/>
            <a:lstStyle/>
            <a:p>
              <a:pPr algn="ctr" eaLnBrk="0" hangingPunct="0"/>
              <a:r>
                <a:rPr lang="zh-CN" altLang="en-US" sz="2000" b="1">
                  <a:solidFill>
                    <a:srgbClr val="000099"/>
                  </a:solidFill>
                  <a:latin typeface="Tahoma" panose="020B0604030504040204" pitchFamily="34" charset="0"/>
                  <a:ea typeface="黑体" panose="02010609060101010101" pitchFamily="49" charset="-122"/>
                </a:rPr>
                <a:t>首部</a:t>
              </a:r>
            </a:p>
          </p:txBody>
        </p:sp>
        <p:grpSp>
          <p:nvGrpSpPr>
            <p:cNvPr id="74764" name="Group 16"/>
            <p:cNvGrpSpPr>
              <a:grpSpLocks/>
            </p:cNvGrpSpPr>
            <p:nvPr/>
          </p:nvGrpSpPr>
          <p:grpSpPr bwMode="auto">
            <a:xfrm>
              <a:off x="1973" y="2623"/>
              <a:ext cx="1451" cy="308"/>
              <a:chOff x="1973" y="2532"/>
              <a:chExt cx="1451" cy="308"/>
            </a:xfrm>
          </p:grpSpPr>
          <p:sp>
            <p:nvSpPr>
              <p:cNvPr id="74765" name="AutoShape 17"/>
              <p:cNvSpPr>
                <a:spLocks/>
              </p:cNvSpPr>
              <p:nvPr/>
            </p:nvSpPr>
            <p:spPr bwMode="auto">
              <a:xfrm rot="5400000">
                <a:off x="2654" y="2068"/>
                <a:ext cx="90" cy="1451"/>
              </a:xfrm>
              <a:prstGeom prst="leftBrace">
                <a:avLst>
                  <a:gd name="adj1" fmla="val 134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766" name="Text Box 18"/>
              <p:cNvSpPr txBox="1">
                <a:spLocks noChangeArrowheads="1"/>
              </p:cNvSpPr>
              <p:nvPr/>
            </p:nvSpPr>
            <p:spPr bwMode="auto">
              <a:xfrm>
                <a:off x="2489" y="2532"/>
                <a:ext cx="50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Tahoma" panose="020B0604030504040204" pitchFamily="34" charset="0"/>
                    <a:ea typeface="黑体" panose="02010609060101010101" pitchFamily="49" charset="-122"/>
                  </a:rPr>
                  <a:t>分组</a:t>
                </a:r>
                <a:r>
                  <a:rPr lang="zh-CN" altLang="en-US"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2</a:t>
                </a:r>
              </a:p>
            </p:txBody>
          </p:sp>
        </p:grpSp>
      </p:grpSp>
      <p:grpSp>
        <p:nvGrpSpPr>
          <p:cNvPr id="57368" name="Group 24"/>
          <p:cNvGrpSpPr>
            <a:grpSpLocks/>
          </p:cNvGrpSpPr>
          <p:nvPr/>
        </p:nvGrpSpPr>
        <p:grpSpPr bwMode="auto">
          <a:xfrm>
            <a:off x="5546725" y="4652963"/>
            <a:ext cx="2501900" cy="981075"/>
            <a:chOff x="3061" y="3167"/>
            <a:chExt cx="1455" cy="618"/>
          </a:xfrm>
        </p:grpSpPr>
        <p:sp>
          <p:nvSpPr>
            <p:cNvPr id="74768" name="Rectangle 4"/>
            <p:cNvSpPr>
              <a:spLocks noChangeArrowheads="1"/>
            </p:cNvSpPr>
            <p:nvPr/>
          </p:nvSpPr>
          <p:spPr bwMode="auto">
            <a:xfrm>
              <a:off x="3428" y="3513"/>
              <a:ext cx="1088" cy="272"/>
            </a:xfrm>
            <a:prstGeom prst="rect">
              <a:avLst/>
            </a:prstGeom>
            <a:solidFill>
              <a:srgbClr val="CCECFF"/>
            </a:solidFill>
            <a:ln w="28575">
              <a:solidFill>
                <a:schemeClr val="tx1"/>
              </a:solidFill>
              <a:miter lim="800000"/>
              <a:headEnd/>
              <a:tailEnd/>
            </a:ln>
          </p:spPr>
          <p:txBody>
            <a:bodyPr wrap="none" anchor="ctr"/>
            <a:lstStyle/>
            <a:p>
              <a:pPr algn="ctr" eaLnBrk="0" hangingPunct="0"/>
              <a:r>
                <a:rPr lang="zh-CN" altLang="en-US" sz="2000" b="1">
                  <a:solidFill>
                    <a:srgbClr val="000099"/>
                  </a:solidFill>
                  <a:latin typeface="Tahoma" panose="020B0604030504040204" pitchFamily="34" charset="0"/>
                  <a:ea typeface="黑体" panose="02010609060101010101" pitchFamily="49" charset="-122"/>
                </a:rPr>
                <a:t>数     据</a:t>
              </a:r>
            </a:p>
          </p:txBody>
        </p:sp>
        <p:sp>
          <p:nvSpPr>
            <p:cNvPr id="74769" name="Rectangle 12"/>
            <p:cNvSpPr>
              <a:spLocks noChangeArrowheads="1"/>
            </p:cNvSpPr>
            <p:nvPr/>
          </p:nvSpPr>
          <p:spPr bwMode="auto">
            <a:xfrm>
              <a:off x="3061" y="3512"/>
              <a:ext cx="363" cy="273"/>
            </a:xfrm>
            <a:prstGeom prst="rect">
              <a:avLst/>
            </a:prstGeom>
            <a:solidFill>
              <a:schemeClr val="accent2"/>
            </a:solidFill>
            <a:ln w="28575">
              <a:solidFill>
                <a:schemeClr val="tx1"/>
              </a:solidFill>
              <a:miter lim="800000"/>
              <a:headEnd/>
              <a:tailEnd/>
            </a:ln>
          </p:spPr>
          <p:txBody>
            <a:bodyPr wrap="none" anchor="ctr"/>
            <a:lstStyle/>
            <a:p>
              <a:pPr algn="ctr" eaLnBrk="0" hangingPunct="0"/>
              <a:r>
                <a:rPr lang="zh-CN" altLang="en-US" sz="2000" b="1">
                  <a:solidFill>
                    <a:srgbClr val="000099"/>
                  </a:solidFill>
                  <a:latin typeface="Tahoma" panose="020B0604030504040204" pitchFamily="34" charset="0"/>
                  <a:ea typeface="黑体" panose="02010609060101010101" pitchFamily="49" charset="-122"/>
                </a:rPr>
                <a:t>首部</a:t>
              </a:r>
            </a:p>
          </p:txBody>
        </p:sp>
        <p:grpSp>
          <p:nvGrpSpPr>
            <p:cNvPr id="74770" name="Group 19"/>
            <p:cNvGrpSpPr>
              <a:grpSpLocks/>
            </p:cNvGrpSpPr>
            <p:nvPr/>
          </p:nvGrpSpPr>
          <p:grpSpPr bwMode="auto">
            <a:xfrm>
              <a:off x="3061" y="3167"/>
              <a:ext cx="1451" cy="308"/>
              <a:chOff x="1973" y="2532"/>
              <a:chExt cx="1451" cy="308"/>
            </a:xfrm>
          </p:grpSpPr>
          <p:sp>
            <p:nvSpPr>
              <p:cNvPr id="74771" name="AutoShape 20"/>
              <p:cNvSpPr>
                <a:spLocks/>
              </p:cNvSpPr>
              <p:nvPr/>
            </p:nvSpPr>
            <p:spPr bwMode="auto">
              <a:xfrm rot="5400000">
                <a:off x="2654" y="2068"/>
                <a:ext cx="90" cy="1451"/>
              </a:xfrm>
              <a:prstGeom prst="leftBrace">
                <a:avLst>
                  <a:gd name="adj1" fmla="val 134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772" name="Text Box 21"/>
              <p:cNvSpPr txBox="1">
                <a:spLocks noChangeArrowheads="1"/>
              </p:cNvSpPr>
              <p:nvPr/>
            </p:nvSpPr>
            <p:spPr bwMode="auto">
              <a:xfrm>
                <a:off x="2489" y="2532"/>
                <a:ext cx="51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Tahoma" panose="020B0604030504040204" pitchFamily="34" charset="0"/>
                    <a:ea typeface="黑体" panose="02010609060101010101" pitchFamily="49" charset="-122"/>
                  </a:rPr>
                  <a:t>分组</a:t>
                </a:r>
                <a:r>
                  <a:rPr lang="zh-CN" altLang="en-US" sz="12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3</a:t>
                </a:r>
              </a:p>
            </p:txBody>
          </p:sp>
        </p:grpSp>
      </p:grpSp>
      <p:sp>
        <p:nvSpPr>
          <p:cNvPr id="74773" name="矩形 1"/>
          <p:cNvSpPr>
            <a:spLocks noChangeArrowheads="1"/>
          </p:cNvSpPr>
          <p:nvPr/>
        </p:nvSpPr>
        <p:spPr bwMode="auto">
          <a:xfrm>
            <a:off x="1803400" y="5805488"/>
            <a:ext cx="653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以分组为基本单位在网络中传送</a:t>
            </a:r>
            <a:endParaRPr lang="zh-CN" altLang="en-US" sz="2400" b="1">
              <a:ea typeface="黑体" panose="02010609060101010101" pitchFamily="49" charset="-122"/>
            </a:endParaRPr>
          </a:p>
        </p:txBody>
      </p:sp>
      <p:sp>
        <p:nvSpPr>
          <p:cNvPr id="74774"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3875395-6225-4D8C-8878-B0D0338EF8BC}" type="slidenum">
              <a:rPr lang="zh-CN" altLang="en-US" smtClean="0"/>
              <a:pPr eaLnBrk="1" hangingPunct="1"/>
              <a:t>47</a:t>
            </a:fld>
            <a:endParaRPr lang="en-US" altLang="zh-CN" smtClean="0"/>
          </a:p>
        </p:txBody>
      </p:sp>
      <p:sp>
        <p:nvSpPr>
          <p:cNvPr id="74775"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7366"/>
                                        </p:tgtEl>
                                        <p:attrNameLst>
                                          <p:attrName>style.visibility</p:attrName>
                                        </p:attrNameLst>
                                      </p:cBhvr>
                                      <p:to>
                                        <p:strVal val="visible"/>
                                      </p:to>
                                    </p:set>
                                  </p:childTnLst>
                                </p:cTn>
                              </p:par>
                            </p:childTnLst>
                          </p:cTn>
                        </p:par>
                        <p:par>
                          <p:cTn id="7" fill="hold" nodeType="afterGroup">
                            <p:stCondLst>
                              <p:cond delay="1"/>
                            </p:stCondLst>
                            <p:childTnLst>
                              <p:par>
                                <p:cTn id="8" presetID="1" presetClass="entr" presetSubtype="0" fill="hold" nodeType="afterEffect">
                                  <p:stCondLst>
                                    <p:cond delay="500"/>
                                  </p:stCondLst>
                                  <p:childTnLst>
                                    <p:set>
                                      <p:cBhvr>
                                        <p:cTn id="9" dur="1" fill="hold">
                                          <p:stCondLst>
                                            <p:cond delay="0"/>
                                          </p:stCondLst>
                                        </p:cTn>
                                        <p:tgtEl>
                                          <p:spTgt spid="57367"/>
                                        </p:tgtEl>
                                        <p:attrNameLst>
                                          <p:attrName>style.visibility</p:attrName>
                                        </p:attrNameLst>
                                      </p:cBhvr>
                                      <p:to>
                                        <p:strVal val="visible"/>
                                      </p:to>
                                    </p:set>
                                  </p:childTnLst>
                                </p:cTn>
                              </p:par>
                            </p:childTnLst>
                          </p:cTn>
                        </p:par>
                        <p:par>
                          <p:cTn id="10" fill="hold" nodeType="afterGroup">
                            <p:stCondLst>
                              <p:cond delay="502"/>
                            </p:stCondLst>
                            <p:childTnLst>
                              <p:par>
                                <p:cTn id="11" presetID="1" presetClass="entr" presetSubtype="0" fill="hold" nodeType="afterEffect">
                                  <p:stCondLst>
                                    <p:cond delay="500"/>
                                  </p:stCondLst>
                                  <p:childTnLst>
                                    <p:set>
                                      <p:cBhvr>
                                        <p:cTn id="12" dur="1" fill="hold">
                                          <p:stCondLst>
                                            <p:cond delay="0"/>
                                          </p:stCondLst>
                                        </p:cTn>
                                        <p:tgtEl>
                                          <p:spTgt spid="57368"/>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7353">
                                            <p:txEl>
                                              <p:pRg st="1" end="1"/>
                                            </p:txEl>
                                          </p:spTgt>
                                        </p:tgtEl>
                                        <p:attrNameLst>
                                          <p:attrName>style.visibility</p:attrName>
                                        </p:attrNameLst>
                                      </p:cBhvr>
                                      <p:to>
                                        <p:strVal val="visible"/>
                                      </p:to>
                                    </p:set>
                                  </p:childTnLst>
                                </p:cTn>
                              </p:par>
                            </p:childTnLst>
                          </p:cTn>
                        </p:par>
                        <p:par>
                          <p:cTn id="17" fill="hold" nodeType="afterGroup">
                            <p:stCondLst>
                              <p:cond delay="1"/>
                            </p:stCondLst>
                            <p:childTnLst>
                              <p:par>
                                <p:cTn id="18" presetID="2" presetClass="exit" presetSubtype="8" fill="hold" nodeType="afterEffect">
                                  <p:stCondLst>
                                    <p:cond delay="500"/>
                                  </p:stCondLst>
                                  <p:childTnLst>
                                    <p:anim calcmode="lin" valueType="num">
                                      <p:cBhvr>
                                        <p:cTn id="19" dur="2000"/>
                                        <p:tgtEl>
                                          <p:spTgt spid="57366"/>
                                        </p:tgtEl>
                                        <p:attrNameLst>
                                          <p:attrName>ppt_x</p:attrName>
                                        </p:attrNameLst>
                                      </p:cBhvr>
                                      <p:tavLst>
                                        <p:tav tm="0">
                                          <p:val>
                                            <p:strVal val="ppt_x"/>
                                          </p:val>
                                        </p:tav>
                                        <p:tav tm="100000">
                                          <p:val>
                                            <p:strVal val="0-ppt_w/2"/>
                                          </p:val>
                                        </p:tav>
                                      </p:tavLst>
                                    </p:anim>
                                    <p:anim calcmode="lin" valueType="num">
                                      <p:cBhvr>
                                        <p:cTn id="20" dur="2000"/>
                                        <p:tgtEl>
                                          <p:spTgt spid="57366"/>
                                        </p:tgtEl>
                                        <p:attrNameLst>
                                          <p:attrName>ppt_y</p:attrName>
                                        </p:attrNameLst>
                                      </p:cBhvr>
                                      <p:tavLst>
                                        <p:tav tm="0">
                                          <p:val>
                                            <p:strVal val="ppt_y"/>
                                          </p:val>
                                        </p:tav>
                                        <p:tav tm="100000">
                                          <p:val>
                                            <p:strVal val="ppt_y"/>
                                          </p:val>
                                        </p:tav>
                                      </p:tavLst>
                                    </p:anim>
                                    <p:set>
                                      <p:cBhvr>
                                        <p:cTn id="21" dur="1" fill="hold">
                                          <p:stCondLst>
                                            <p:cond delay="1999"/>
                                          </p:stCondLst>
                                        </p:cTn>
                                        <p:tgtEl>
                                          <p:spTgt spid="57366"/>
                                        </p:tgtEl>
                                        <p:attrNameLst>
                                          <p:attrName>style.visibility</p:attrName>
                                        </p:attrNameLst>
                                      </p:cBhvr>
                                      <p:to>
                                        <p:strVal val="hidden"/>
                                      </p:to>
                                    </p:set>
                                  </p:childTnLst>
                                </p:cTn>
                              </p:par>
                            </p:childTnLst>
                          </p:cTn>
                        </p:par>
                        <p:par>
                          <p:cTn id="22" fill="hold" nodeType="afterGroup">
                            <p:stCondLst>
                              <p:cond delay="2501"/>
                            </p:stCondLst>
                            <p:childTnLst>
                              <p:par>
                                <p:cTn id="23" presetID="2" presetClass="exit" presetSubtype="8" fill="hold" nodeType="afterEffect">
                                  <p:stCondLst>
                                    <p:cond delay="500"/>
                                  </p:stCondLst>
                                  <p:childTnLst>
                                    <p:anim calcmode="lin" valueType="num">
                                      <p:cBhvr>
                                        <p:cTn id="24" dur="2000"/>
                                        <p:tgtEl>
                                          <p:spTgt spid="57367"/>
                                        </p:tgtEl>
                                        <p:attrNameLst>
                                          <p:attrName>ppt_x</p:attrName>
                                        </p:attrNameLst>
                                      </p:cBhvr>
                                      <p:tavLst>
                                        <p:tav tm="0">
                                          <p:val>
                                            <p:strVal val="ppt_x"/>
                                          </p:val>
                                        </p:tav>
                                        <p:tav tm="100000">
                                          <p:val>
                                            <p:strVal val="0-ppt_w/2"/>
                                          </p:val>
                                        </p:tav>
                                      </p:tavLst>
                                    </p:anim>
                                    <p:anim calcmode="lin" valueType="num">
                                      <p:cBhvr>
                                        <p:cTn id="25" dur="2000"/>
                                        <p:tgtEl>
                                          <p:spTgt spid="57367"/>
                                        </p:tgtEl>
                                        <p:attrNameLst>
                                          <p:attrName>ppt_y</p:attrName>
                                        </p:attrNameLst>
                                      </p:cBhvr>
                                      <p:tavLst>
                                        <p:tav tm="0">
                                          <p:val>
                                            <p:strVal val="ppt_y"/>
                                          </p:val>
                                        </p:tav>
                                        <p:tav tm="100000">
                                          <p:val>
                                            <p:strVal val="ppt_y"/>
                                          </p:val>
                                        </p:tav>
                                      </p:tavLst>
                                    </p:anim>
                                    <p:set>
                                      <p:cBhvr>
                                        <p:cTn id="26" dur="1" fill="hold">
                                          <p:stCondLst>
                                            <p:cond delay="1999"/>
                                          </p:stCondLst>
                                        </p:cTn>
                                        <p:tgtEl>
                                          <p:spTgt spid="57367"/>
                                        </p:tgtEl>
                                        <p:attrNameLst>
                                          <p:attrName>style.visibility</p:attrName>
                                        </p:attrNameLst>
                                      </p:cBhvr>
                                      <p:to>
                                        <p:strVal val="hidden"/>
                                      </p:to>
                                    </p:set>
                                  </p:childTnLst>
                                </p:cTn>
                              </p:par>
                            </p:childTnLst>
                          </p:cTn>
                        </p:par>
                        <p:par>
                          <p:cTn id="27" fill="hold" nodeType="afterGroup">
                            <p:stCondLst>
                              <p:cond delay="5001"/>
                            </p:stCondLst>
                            <p:childTnLst>
                              <p:par>
                                <p:cTn id="28" presetID="2" presetClass="exit" presetSubtype="8" fill="hold" nodeType="afterEffect">
                                  <p:stCondLst>
                                    <p:cond delay="500"/>
                                  </p:stCondLst>
                                  <p:childTnLst>
                                    <p:anim calcmode="lin" valueType="num">
                                      <p:cBhvr>
                                        <p:cTn id="29" dur="2000"/>
                                        <p:tgtEl>
                                          <p:spTgt spid="57368"/>
                                        </p:tgtEl>
                                        <p:attrNameLst>
                                          <p:attrName>ppt_x</p:attrName>
                                        </p:attrNameLst>
                                      </p:cBhvr>
                                      <p:tavLst>
                                        <p:tav tm="0">
                                          <p:val>
                                            <p:strVal val="ppt_x"/>
                                          </p:val>
                                        </p:tav>
                                        <p:tav tm="100000">
                                          <p:val>
                                            <p:strVal val="0-ppt_w/2"/>
                                          </p:val>
                                        </p:tav>
                                      </p:tavLst>
                                    </p:anim>
                                    <p:anim calcmode="lin" valueType="num">
                                      <p:cBhvr>
                                        <p:cTn id="30" dur="2000"/>
                                        <p:tgtEl>
                                          <p:spTgt spid="57368"/>
                                        </p:tgtEl>
                                        <p:attrNameLst>
                                          <p:attrName>ppt_y</p:attrName>
                                        </p:attrNameLst>
                                      </p:cBhvr>
                                      <p:tavLst>
                                        <p:tav tm="0">
                                          <p:val>
                                            <p:strVal val="ppt_y"/>
                                          </p:val>
                                        </p:tav>
                                        <p:tav tm="100000">
                                          <p:val>
                                            <p:strVal val="ppt_y"/>
                                          </p:val>
                                        </p:tav>
                                      </p:tavLst>
                                    </p:anim>
                                    <p:set>
                                      <p:cBhvr>
                                        <p:cTn id="31" dur="1" fill="hold">
                                          <p:stCondLst>
                                            <p:cond delay="1999"/>
                                          </p:stCondLst>
                                        </p:cTn>
                                        <p:tgtEl>
                                          <p:spTgt spid="5736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5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分组首部的重要性</a:t>
            </a:r>
          </a:p>
        </p:txBody>
      </p:sp>
      <p:sp>
        <p:nvSpPr>
          <p:cNvPr id="58371" name="Rectangle 3"/>
          <p:cNvSpPr>
            <a:spLocks noGrp="1" noChangeArrowheads="1"/>
          </p:cNvSpPr>
          <p:nvPr>
            <p:ph idx="1"/>
          </p:nvPr>
        </p:nvSpPr>
        <p:spPr>
          <a:xfrm>
            <a:off x="495300" y="1196975"/>
            <a:ext cx="9066213" cy="4933950"/>
          </a:xfrm>
        </p:spPr>
        <p:txBody>
          <a:bodyPr/>
          <a:lstStyle/>
          <a:p>
            <a:r>
              <a:rPr lang="zh-CN" altLang="en-US" smtClean="0">
                <a:solidFill>
                  <a:srgbClr val="FF0000"/>
                </a:solidFill>
                <a:ea typeface="黑体" panose="02010609060101010101" pitchFamily="49" charset="-122"/>
              </a:rPr>
              <a:t>每一个</a:t>
            </a:r>
            <a:r>
              <a:rPr lang="zh-CN" altLang="en-US" smtClean="0">
                <a:ea typeface="黑体" panose="02010609060101010101" pitchFamily="49" charset="-122"/>
              </a:rPr>
              <a:t>分组的首部都含有</a:t>
            </a:r>
            <a:r>
              <a:rPr lang="zh-CN" altLang="en-US" smtClean="0">
                <a:solidFill>
                  <a:srgbClr val="FF0000"/>
                </a:solidFill>
                <a:ea typeface="黑体" panose="02010609060101010101" pitchFamily="49" charset="-122"/>
              </a:rPr>
              <a:t>地址</a:t>
            </a:r>
            <a:r>
              <a:rPr lang="zh-CN" altLang="en-US" smtClean="0">
                <a:ea typeface="黑体" panose="02010609060101010101" pitchFamily="49" charset="-122"/>
              </a:rPr>
              <a:t>（</a:t>
            </a:r>
            <a:r>
              <a:rPr lang="zh-CN" altLang="zh-CN" smtClean="0">
                <a:ea typeface="黑体" panose="02010609060101010101" pitchFamily="49" charset="-122"/>
              </a:rPr>
              <a:t>诸如目的地址和源地址</a:t>
            </a:r>
            <a:r>
              <a:rPr lang="zh-CN" altLang="en-US" smtClean="0">
                <a:ea typeface="黑体" panose="02010609060101010101" pitchFamily="49" charset="-122"/>
              </a:rPr>
              <a:t>）等控制信息。</a:t>
            </a:r>
          </a:p>
          <a:p>
            <a:r>
              <a:rPr lang="zh-CN" altLang="en-US" smtClean="0">
                <a:ea typeface="黑体" panose="02010609060101010101" pitchFamily="49" charset="-122"/>
              </a:rPr>
              <a:t>分组交换网中的结点交换机根据收到的分组首部中的</a:t>
            </a:r>
            <a:r>
              <a:rPr lang="zh-CN" altLang="en-US" smtClean="0">
                <a:solidFill>
                  <a:srgbClr val="FF0000"/>
                </a:solidFill>
                <a:ea typeface="黑体" panose="02010609060101010101" pitchFamily="49" charset="-122"/>
              </a:rPr>
              <a:t>地址信息，</a:t>
            </a:r>
            <a:r>
              <a:rPr lang="zh-CN" altLang="en-US" smtClean="0">
                <a:ea typeface="黑体" panose="02010609060101010101" pitchFamily="49" charset="-122"/>
              </a:rPr>
              <a:t>把分组</a:t>
            </a:r>
            <a:r>
              <a:rPr lang="zh-CN" altLang="en-US" smtClean="0">
                <a:solidFill>
                  <a:srgbClr val="FF0000"/>
                </a:solidFill>
                <a:ea typeface="黑体" panose="02010609060101010101" pitchFamily="49" charset="-122"/>
              </a:rPr>
              <a:t>转发</a:t>
            </a:r>
            <a:r>
              <a:rPr lang="zh-CN" altLang="en-US" smtClean="0">
                <a:ea typeface="黑体" panose="02010609060101010101" pitchFamily="49" charset="-122"/>
              </a:rPr>
              <a:t>到下一个结点交换机。</a:t>
            </a:r>
            <a:endParaRPr lang="en-US" altLang="zh-CN" smtClean="0">
              <a:ea typeface="黑体" panose="02010609060101010101" pitchFamily="49" charset="-122"/>
            </a:endParaRPr>
          </a:p>
          <a:p>
            <a:r>
              <a:rPr lang="zh-CN" altLang="zh-CN" smtClean="0">
                <a:ea typeface="黑体" panose="02010609060101010101" pitchFamily="49" charset="-122"/>
              </a:rPr>
              <a:t>每个分组在互联网中</a:t>
            </a:r>
            <a:r>
              <a:rPr lang="zh-CN" altLang="zh-CN" smtClean="0">
                <a:solidFill>
                  <a:srgbClr val="FF0000"/>
                </a:solidFill>
                <a:ea typeface="黑体" panose="02010609060101010101" pitchFamily="49" charset="-122"/>
              </a:rPr>
              <a:t>独立地选择传输路径</a:t>
            </a:r>
            <a:r>
              <a:rPr lang="zh-CN" altLang="en-US" smtClean="0">
                <a:solidFill>
                  <a:srgbClr val="FF0000"/>
                </a:solidFill>
                <a:ea typeface="黑体" panose="02010609060101010101" pitchFamily="49" charset="-122"/>
              </a:rPr>
              <a:t>。</a:t>
            </a:r>
            <a:endParaRPr lang="en-US" altLang="zh-CN" smtClean="0">
              <a:solidFill>
                <a:srgbClr val="FF0000"/>
              </a:solidFill>
              <a:ea typeface="黑体" panose="02010609060101010101" pitchFamily="49" charset="-122"/>
            </a:endParaRPr>
          </a:p>
          <a:p>
            <a:r>
              <a:rPr lang="zh-CN" altLang="en-US" smtClean="0">
                <a:ea typeface="黑体" panose="02010609060101010101" pitchFamily="49" charset="-122"/>
              </a:rPr>
              <a:t>用这样的</a:t>
            </a:r>
            <a:r>
              <a:rPr lang="zh-CN" altLang="en-US" smtClean="0">
                <a:solidFill>
                  <a:srgbClr val="FF0000"/>
                </a:solidFill>
                <a:ea typeface="黑体" panose="02010609060101010101" pitchFamily="49" charset="-122"/>
              </a:rPr>
              <a:t>存储转发</a:t>
            </a:r>
            <a:r>
              <a:rPr lang="zh-CN" altLang="en-US" smtClean="0">
                <a:ea typeface="黑体" panose="02010609060101010101" pitchFamily="49" charset="-122"/>
              </a:rPr>
              <a:t>方式，最后分组就能到达</a:t>
            </a:r>
            <a:r>
              <a:rPr lang="zh-CN" altLang="en-US" smtClean="0">
                <a:solidFill>
                  <a:srgbClr val="FF0000"/>
                </a:solidFill>
                <a:ea typeface="黑体" panose="02010609060101010101" pitchFamily="49" charset="-122"/>
              </a:rPr>
              <a:t>最终目的地。</a:t>
            </a:r>
          </a:p>
        </p:txBody>
      </p:sp>
      <p:sp>
        <p:nvSpPr>
          <p:cNvPr id="7680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8AA43EB-9D33-44BC-8A22-27F6BD67FAAB}" type="slidenum">
              <a:rPr lang="zh-CN" altLang="en-US" smtClean="0"/>
              <a:pPr eaLnBrk="1" hangingPunct="1"/>
              <a:t>48</a:t>
            </a:fld>
            <a:endParaRPr lang="en-US" altLang="zh-CN" smtClean="0"/>
          </a:p>
        </p:txBody>
      </p:sp>
      <p:sp>
        <p:nvSpPr>
          <p:cNvPr id="7680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3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37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837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837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收到分组后剥去首部</a:t>
            </a:r>
          </a:p>
        </p:txBody>
      </p:sp>
      <p:sp>
        <p:nvSpPr>
          <p:cNvPr id="78850"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接收端收到分组后</a:t>
            </a:r>
            <a:r>
              <a:rPr lang="zh-CN" altLang="en-US" smtClean="0">
                <a:solidFill>
                  <a:srgbClr val="FF0000"/>
                </a:solidFill>
                <a:ea typeface="黑体" panose="02010609060101010101" pitchFamily="49" charset="-122"/>
              </a:rPr>
              <a:t>剥去</a:t>
            </a:r>
            <a:r>
              <a:rPr lang="zh-CN" altLang="en-US" smtClean="0">
                <a:ea typeface="黑体" panose="02010609060101010101" pitchFamily="49" charset="-122"/>
              </a:rPr>
              <a:t>首部还原成报文。</a:t>
            </a:r>
          </a:p>
        </p:txBody>
      </p:sp>
      <p:sp>
        <p:nvSpPr>
          <p:cNvPr id="59397" name="Rectangle 5"/>
          <p:cNvSpPr>
            <a:spLocks noChangeArrowheads="1"/>
          </p:cNvSpPr>
          <p:nvPr/>
        </p:nvSpPr>
        <p:spPr bwMode="auto">
          <a:xfrm>
            <a:off x="2919413" y="2551113"/>
            <a:ext cx="1871662" cy="431800"/>
          </a:xfrm>
          <a:prstGeom prst="rect">
            <a:avLst/>
          </a:prstGeom>
          <a:solidFill>
            <a:srgbClr val="CCECFF"/>
          </a:solidFill>
          <a:ln w="28575">
            <a:solidFill>
              <a:schemeClr val="tx1"/>
            </a:solidFill>
            <a:miter lim="800000"/>
            <a:headEnd/>
            <a:tailEnd/>
          </a:ln>
        </p:spPr>
        <p:txBody>
          <a:bodyPr wrap="none" anchor="ctr"/>
          <a:lstStyle/>
          <a:p>
            <a:pPr algn="ctr" eaLnBrk="0" hangingPunct="0"/>
            <a:r>
              <a:rPr lang="zh-CN" altLang="en-US" sz="2000" b="1">
                <a:solidFill>
                  <a:srgbClr val="000099"/>
                </a:solidFill>
                <a:latin typeface="Tahoma" panose="020B0604030504040204" pitchFamily="34" charset="0"/>
                <a:ea typeface="黑体" panose="02010609060101010101" pitchFamily="49" charset="-122"/>
              </a:rPr>
              <a:t>数     据</a:t>
            </a:r>
          </a:p>
        </p:txBody>
      </p:sp>
      <p:sp>
        <p:nvSpPr>
          <p:cNvPr id="59398" name="Rectangle 6"/>
          <p:cNvSpPr>
            <a:spLocks noChangeArrowheads="1"/>
          </p:cNvSpPr>
          <p:nvPr/>
        </p:nvSpPr>
        <p:spPr bwMode="auto">
          <a:xfrm>
            <a:off x="2295525" y="2551113"/>
            <a:ext cx="623888" cy="431800"/>
          </a:xfrm>
          <a:prstGeom prst="rect">
            <a:avLst/>
          </a:prstGeom>
          <a:solidFill>
            <a:schemeClr val="accent2"/>
          </a:solidFill>
          <a:ln w="28575">
            <a:solidFill>
              <a:schemeClr val="tx1"/>
            </a:solidFill>
            <a:miter lim="800000"/>
            <a:headEnd/>
            <a:tailEnd/>
          </a:ln>
        </p:spPr>
        <p:txBody>
          <a:bodyPr wrap="none" anchor="ctr"/>
          <a:lstStyle/>
          <a:p>
            <a:pPr algn="ctr" eaLnBrk="0" hangingPunct="0"/>
            <a:r>
              <a:rPr lang="zh-CN" altLang="en-US" sz="2000" b="1">
                <a:solidFill>
                  <a:srgbClr val="000099"/>
                </a:solidFill>
                <a:latin typeface="Tahoma" panose="020B0604030504040204" pitchFamily="34" charset="0"/>
                <a:ea typeface="黑体" panose="02010609060101010101" pitchFamily="49" charset="-122"/>
              </a:rPr>
              <a:t>首部</a:t>
            </a:r>
          </a:p>
        </p:txBody>
      </p:sp>
      <p:grpSp>
        <p:nvGrpSpPr>
          <p:cNvPr id="59399" name="Group 7"/>
          <p:cNvGrpSpPr>
            <a:grpSpLocks/>
          </p:cNvGrpSpPr>
          <p:nvPr/>
        </p:nvGrpSpPr>
        <p:grpSpPr bwMode="auto">
          <a:xfrm>
            <a:off x="2297113" y="1989138"/>
            <a:ext cx="2495550" cy="488950"/>
            <a:chOff x="1973" y="2532"/>
            <a:chExt cx="1451" cy="308"/>
          </a:xfrm>
        </p:grpSpPr>
        <p:sp>
          <p:nvSpPr>
            <p:cNvPr id="78854" name="AutoShape 8"/>
            <p:cNvSpPr>
              <a:spLocks/>
            </p:cNvSpPr>
            <p:nvPr/>
          </p:nvSpPr>
          <p:spPr bwMode="auto">
            <a:xfrm rot="5400000">
              <a:off x="2654" y="2068"/>
              <a:ext cx="90" cy="1451"/>
            </a:xfrm>
            <a:prstGeom prst="leftBrace">
              <a:avLst>
                <a:gd name="adj1" fmla="val 134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8855" name="Text Box 9"/>
            <p:cNvSpPr txBox="1">
              <a:spLocks noChangeArrowheads="1"/>
            </p:cNvSpPr>
            <p:nvPr/>
          </p:nvSpPr>
          <p:spPr bwMode="auto">
            <a:xfrm>
              <a:off x="2489" y="2532"/>
              <a:ext cx="50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Tahoma" panose="020B0604030504040204" pitchFamily="34" charset="0"/>
                  <a:ea typeface="黑体" panose="02010609060101010101" pitchFamily="49" charset="-122"/>
                </a:rPr>
                <a:t>分组</a:t>
              </a:r>
              <a:r>
                <a:rPr lang="zh-CN" altLang="en-US"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p>
          </p:txBody>
        </p:sp>
      </p:grpSp>
      <p:sp>
        <p:nvSpPr>
          <p:cNvPr id="59403" name="Rectangle 11"/>
          <p:cNvSpPr>
            <a:spLocks noChangeArrowheads="1"/>
          </p:cNvSpPr>
          <p:nvPr/>
        </p:nvSpPr>
        <p:spPr bwMode="auto">
          <a:xfrm>
            <a:off x="4792663" y="3416300"/>
            <a:ext cx="1871662" cy="431800"/>
          </a:xfrm>
          <a:prstGeom prst="rect">
            <a:avLst/>
          </a:prstGeom>
          <a:solidFill>
            <a:srgbClr val="CCECFF"/>
          </a:solidFill>
          <a:ln w="28575">
            <a:solidFill>
              <a:schemeClr val="tx1"/>
            </a:solidFill>
            <a:miter lim="800000"/>
            <a:headEnd/>
            <a:tailEnd/>
          </a:ln>
        </p:spPr>
        <p:txBody>
          <a:bodyPr wrap="none" anchor="ctr"/>
          <a:lstStyle/>
          <a:p>
            <a:pPr algn="ctr" eaLnBrk="0" hangingPunct="0"/>
            <a:r>
              <a:rPr lang="zh-CN" altLang="en-US" sz="2000" b="1">
                <a:solidFill>
                  <a:srgbClr val="000099"/>
                </a:solidFill>
                <a:latin typeface="Tahoma" panose="020B0604030504040204" pitchFamily="34" charset="0"/>
                <a:ea typeface="黑体" panose="02010609060101010101" pitchFamily="49" charset="-122"/>
              </a:rPr>
              <a:t>数     据</a:t>
            </a:r>
          </a:p>
        </p:txBody>
      </p:sp>
      <p:sp>
        <p:nvSpPr>
          <p:cNvPr id="59404" name="Rectangle 12"/>
          <p:cNvSpPr>
            <a:spLocks noChangeArrowheads="1"/>
          </p:cNvSpPr>
          <p:nvPr/>
        </p:nvSpPr>
        <p:spPr bwMode="auto">
          <a:xfrm>
            <a:off x="4168775" y="3416300"/>
            <a:ext cx="623888" cy="431800"/>
          </a:xfrm>
          <a:prstGeom prst="rect">
            <a:avLst/>
          </a:prstGeom>
          <a:solidFill>
            <a:schemeClr val="accent2"/>
          </a:solidFill>
          <a:ln w="28575">
            <a:solidFill>
              <a:schemeClr val="tx1"/>
            </a:solidFill>
            <a:miter lim="800000"/>
            <a:headEnd/>
            <a:tailEnd/>
          </a:ln>
        </p:spPr>
        <p:txBody>
          <a:bodyPr wrap="none" anchor="ctr"/>
          <a:lstStyle/>
          <a:p>
            <a:pPr algn="ctr" eaLnBrk="0" hangingPunct="0"/>
            <a:r>
              <a:rPr lang="zh-CN" altLang="en-US" sz="2000" b="1">
                <a:solidFill>
                  <a:srgbClr val="000099"/>
                </a:solidFill>
                <a:latin typeface="Tahoma" panose="020B0604030504040204" pitchFamily="34" charset="0"/>
                <a:ea typeface="黑体" panose="02010609060101010101" pitchFamily="49" charset="-122"/>
              </a:rPr>
              <a:t>首部</a:t>
            </a:r>
          </a:p>
        </p:txBody>
      </p:sp>
      <p:grpSp>
        <p:nvGrpSpPr>
          <p:cNvPr id="59405" name="Group 13"/>
          <p:cNvGrpSpPr>
            <a:grpSpLocks/>
          </p:cNvGrpSpPr>
          <p:nvPr/>
        </p:nvGrpSpPr>
        <p:grpSpPr bwMode="auto">
          <a:xfrm>
            <a:off x="4168775" y="2854325"/>
            <a:ext cx="2495550" cy="488950"/>
            <a:chOff x="1973" y="2532"/>
            <a:chExt cx="1451" cy="308"/>
          </a:xfrm>
        </p:grpSpPr>
        <p:sp>
          <p:nvSpPr>
            <p:cNvPr id="78859" name="AutoShape 14"/>
            <p:cNvSpPr>
              <a:spLocks/>
            </p:cNvSpPr>
            <p:nvPr/>
          </p:nvSpPr>
          <p:spPr bwMode="auto">
            <a:xfrm rot="5400000">
              <a:off x="2654" y="2068"/>
              <a:ext cx="90" cy="1451"/>
            </a:xfrm>
            <a:prstGeom prst="leftBrace">
              <a:avLst>
                <a:gd name="adj1" fmla="val 134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8860" name="Text Box 15"/>
            <p:cNvSpPr txBox="1">
              <a:spLocks noChangeArrowheads="1"/>
            </p:cNvSpPr>
            <p:nvPr/>
          </p:nvSpPr>
          <p:spPr bwMode="auto">
            <a:xfrm>
              <a:off x="2489" y="2532"/>
              <a:ext cx="50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Tahoma" panose="020B0604030504040204" pitchFamily="34" charset="0"/>
                  <a:ea typeface="黑体" panose="02010609060101010101" pitchFamily="49" charset="-122"/>
                </a:rPr>
                <a:t>分组</a:t>
              </a:r>
              <a:r>
                <a:rPr lang="zh-CN" altLang="en-US"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2</a:t>
              </a:r>
            </a:p>
          </p:txBody>
        </p:sp>
      </p:grpSp>
      <p:sp>
        <p:nvSpPr>
          <p:cNvPr id="59409" name="Rectangle 17"/>
          <p:cNvSpPr>
            <a:spLocks noChangeArrowheads="1"/>
          </p:cNvSpPr>
          <p:nvPr/>
        </p:nvSpPr>
        <p:spPr bwMode="auto">
          <a:xfrm>
            <a:off x="6670675" y="4267200"/>
            <a:ext cx="1871663" cy="431800"/>
          </a:xfrm>
          <a:prstGeom prst="rect">
            <a:avLst/>
          </a:prstGeom>
          <a:solidFill>
            <a:srgbClr val="CCECFF"/>
          </a:solidFill>
          <a:ln w="28575">
            <a:solidFill>
              <a:schemeClr val="tx1"/>
            </a:solidFill>
            <a:miter lim="800000"/>
            <a:headEnd/>
            <a:tailEnd/>
          </a:ln>
        </p:spPr>
        <p:txBody>
          <a:bodyPr wrap="none" anchor="ctr"/>
          <a:lstStyle/>
          <a:p>
            <a:pPr algn="ctr" eaLnBrk="0" hangingPunct="0"/>
            <a:r>
              <a:rPr lang="zh-CN" altLang="en-US" sz="2000" b="1">
                <a:solidFill>
                  <a:srgbClr val="000099"/>
                </a:solidFill>
                <a:latin typeface="Tahoma" panose="020B0604030504040204" pitchFamily="34" charset="0"/>
                <a:ea typeface="黑体" panose="02010609060101010101" pitchFamily="49" charset="-122"/>
              </a:rPr>
              <a:t>数     据</a:t>
            </a:r>
          </a:p>
        </p:txBody>
      </p:sp>
      <p:sp>
        <p:nvSpPr>
          <p:cNvPr id="59410" name="Rectangle 18"/>
          <p:cNvSpPr>
            <a:spLocks noChangeArrowheads="1"/>
          </p:cNvSpPr>
          <p:nvPr/>
        </p:nvSpPr>
        <p:spPr bwMode="auto">
          <a:xfrm>
            <a:off x="6040438" y="4265613"/>
            <a:ext cx="623887" cy="431800"/>
          </a:xfrm>
          <a:prstGeom prst="rect">
            <a:avLst/>
          </a:prstGeom>
          <a:solidFill>
            <a:schemeClr val="accent2"/>
          </a:solidFill>
          <a:ln w="28575">
            <a:solidFill>
              <a:schemeClr val="tx1"/>
            </a:solidFill>
            <a:miter lim="800000"/>
            <a:headEnd/>
            <a:tailEnd/>
          </a:ln>
        </p:spPr>
        <p:txBody>
          <a:bodyPr wrap="none" anchor="ctr"/>
          <a:lstStyle/>
          <a:p>
            <a:pPr algn="ctr" eaLnBrk="0" hangingPunct="0"/>
            <a:r>
              <a:rPr lang="zh-CN" altLang="en-US" sz="2000" b="1">
                <a:solidFill>
                  <a:srgbClr val="000099"/>
                </a:solidFill>
                <a:latin typeface="Tahoma" panose="020B0604030504040204" pitchFamily="34" charset="0"/>
                <a:ea typeface="黑体" panose="02010609060101010101" pitchFamily="49" charset="-122"/>
              </a:rPr>
              <a:t>首部</a:t>
            </a:r>
          </a:p>
        </p:txBody>
      </p:sp>
      <p:grpSp>
        <p:nvGrpSpPr>
          <p:cNvPr id="59423" name="Group 31"/>
          <p:cNvGrpSpPr>
            <a:grpSpLocks/>
          </p:cNvGrpSpPr>
          <p:nvPr/>
        </p:nvGrpSpPr>
        <p:grpSpPr bwMode="auto">
          <a:xfrm>
            <a:off x="6040438" y="3717925"/>
            <a:ext cx="2495550" cy="488950"/>
            <a:chOff x="3061" y="2668"/>
            <a:chExt cx="1451" cy="308"/>
          </a:xfrm>
        </p:grpSpPr>
        <p:sp>
          <p:nvSpPr>
            <p:cNvPr id="78864" name="AutoShape 20"/>
            <p:cNvSpPr>
              <a:spLocks/>
            </p:cNvSpPr>
            <p:nvPr/>
          </p:nvSpPr>
          <p:spPr bwMode="auto">
            <a:xfrm rot="5400000">
              <a:off x="3742" y="2204"/>
              <a:ext cx="90" cy="1451"/>
            </a:xfrm>
            <a:prstGeom prst="leftBrace">
              <a:avLst>
                <a:gd name="adj1" fmla="val 134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8865" name="Text Box 21"/>
            <p:cNvSpPr txBox="1">
              <a:spLocks noChangeArrowheads="1"/>
            </p:cNvSpPr>
            <p:nvPr/>
          </p:nvSpPr>
          <p:spPr bwMode="auto">
            <a:xfrm>
              <a:off x="3577" y="2668"/>
              <a:ext cx="50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Tahoma" panose="020B0604030504040204" pitchFamily="34" charset="0"/>
                  <a:ea typeface="黑体" panose="02010609060101010101" pitchFamily="49" charset="-122"/>
                </a:rPr>
                <a:t>分组</a:t>
              </a:r>
              <a:r>
                <a:rPr lang="zh-CN" altLang="en-US"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3</a:t>
              </a:r>
            </a:p>
          </p:txBody>
        </p:sp>
      </p:grpSp>
      <p:sp>
        <p:nvSpPr>
          <p:cNvPr id="59424" name="Text Box 32"/>
          <p:cNvSpPr txBox="1">
            <a:spLocks noChangeArrowheads="1"/>
          </p:cNvSpPr>
          <p:nvPr/>
        </p:nvSpPr>
        <p:spPr bwMode="auto">
          <a:xfrm>
            <a:off x="271463" y="5072063"/>
            <a:ext cx="2184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zh-CN" altLang="en-US" sz="2800" b="1">
                <a:solidFill>
                  <a:srgbClr val="000099"/>
                </a:solidFill>
                <a:latin typeface="Tahoma" panose="020B0604030504040204" pitchFamily="34" charset="0"/>
                <a:ea typeface="黑体" panose="02010609060101010101" pitchFamily="49" charset="-122"/>
              </a:rPr>
              <a:t>收到的数据</a:t>
            </a:r>
          </a:p>
        </p:txBody>
      </p:sp>
      <p:sp>
        <p:nvSpPr>
          <p:cNvPr id="7886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276CD37-7833-4074-B10D-44717B0A283F}" type="slidenum">
              <a:rPr lang="zh-CN" altLang="en-US" smtClean="0"/>
              <a:pPr eaLnBrk="1" hangingPunct="1"/>
              <a:t>49</a:t>
            </a:fld>
            <a:endParaRPr lang="en-US" altLang="zh-CN" smtClean="0"/>
          </a:p>
        </p:txBody>
      </p:sp>
      <p:sp>
        <p:nvSpPr>
          <p:cNvPr id="7886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nodeType="clickEffect">
                                  <p:stCondLst>
                                    <p:cond delay="0"/>
                                  </p:stCondLst>
                                  <p:childTnLst>
                                    <p:set>
                                      <p:cBhvr>
                                        <p:cTn id="6" dur="1" fill="hold">
                                          <p:stCondLst>
                                            <p:cond delay="0"/>
                                          </p:stCondLst>
                                        </p:cTn>
                                        <p:tgtEl>
                                          <p:spTgt spid="59399"/>
                                        </p:tgtEl>
                                        <p:attrNameLst>
                                          <p:attrName>style.visibility</p:attrName>
                                        </p:attrNameLst>
                                      </p:cBhvr>
                                      <p:to>
                                        <p:strVal val="hidden"/>
                                      </p:to>
                                    </p:set>
                                  </p:childTnLst>
                                </p:cTn>
                              </p:par>
                            </p:childTnLst>
                          </p:cTn>
                        </p:par>
                        <p:par>
                          <p:cTn id="7" fill="hold" nodeType="afterGroup">
                            <p:stCondLst>
                              <p:cond delay="1"/>
                            </p:stCondLst>
                            <p:childTnLst>
                              <p:par>
                                <p:cTn id="8" presetID="29" presetClass="exit" presetSubtype="0" fill="hold" grpId="0" nodeType="afterEffect">
                                  <p:stCondLst>
                                    <p:cond delay="500"/>
                                  </p:stCondLst>
                                  <p:childTnLst>
                                    <p:anim calcmode="lin" valueType="num">
                                      <p:cBhvr>
                                        <p:cTn id="9" dur="1000"/>
                                        <p:tgtEl>
                                          <p:spTgt spid="59398"/>
                                        </p:tgtEl>
                                        <p:attrNameLst>
                                          <p:attrName>ppt_x</p:attrName>
                                        </p:attrNameLst>
                                      </p:cBhvr>
                                      <p:tavLst>
                                        <p:tav tm="0">
                                          <p:val>
                                            <p:strVal val="ppt_x"/>
                                          </p:val>
                                        </p:tav>
                                        <p:tav tm="100000">
                                          <p:val>
                                            <p:strVal val="ppt_x-.2"/>
                                          </p:val>
                                        </p:tav>
                                      </p:tavLst>
                                    </p:anim>
                                    <p:anim calcmode="lin" valueType="num">
                                      <p:cBhvr>
                                        <p:cTn id="10" dur="1000"/>
                                        <p:tgtEl>
                                          <p:spTgt spid="59398"/>
                                        </p:tgtEl>
                                        <p:attrNameLst>
                                          <p:attrName>ppt_y</p:attrName>
                                        </p:attrNameLst>
                                      </p:cBhvr>
                                      <p:tavLst>
                                        <p:tav tm="0">
                                          <p:val>
                                            <p:strVal val="ppt_y"/>
                                          </p:val>
                                        </p:tav>
                                        <p:tav tm="100000">
                                          <p:val>
                                            <p:strVal val="ppt_y"/>
                                          </p:val>
                                        </p:tav>
                                      </p:tavLst>
                                    </p:anim>
                                    <p:animEffect transition="out" filter="fade">
                                      <p:cBhvr>
                                        <p:cTn id="11" dur="1000"/>
                                        <p:tgtEl>
                                          <p:spTgt spid="59398"/>
                                        </p:tgtEl>
                                      </p:cBhvr>
                                    </p:animEffect>
                                    <p:set>
                                      <p:cBhvr>
                                        <p:cTn id="12" dur="1" fill="hold">
                                          <p:stCondLst>
                                            <p:cond delay="999"/>
                                          </p:stCondLst>
                                        </p:cTn>
                                        <p:tgtEl>
                                          <p:spTgt spid="59398"/>
                                        </p:tgtEl>
                                        <p:attrNameLst>
                                          <p:attrName>style.visibility</p:attrName>
                                        </p:attrNameLst>
                                      </p:cBhvr>
                                      <p:to>
                                        <p:strVal val="hidden"/>
                                      </p:to>
                                    </p:set>
                                  </p:childTnLst>
                                </p:cTn>
                              </p:par>
                            </p:childTnLst>
                          </p:cTn>
                        </p:par>
                        <p:par>
                          <p:cTn id="13" fill="hold" nodeType="afterGroup">
                            <p:stCondLst>
                              <p:cond delay="1501"/>
                            </p:stCondLst>
                            <p:childTnLst>
                              <p:par>
                                <p:cTn id="14" presetID="42" presetClass="path" presetSubtype="0" accel="50000" decel="50000" fill="hold" grpId="0" nodeType="afterEffect">
                                  <p:stCondLst>
                                    <p:cond delay="0"/>
                                  </p:stCondLst>
                                  <p:childTnLst>
                                    <p:animMotion origin="layout" path="M 2.5E-6 -1.50289E-6 L 2.5E-6 0.37757 " pathEditMode="relative" rAng="0" ptsTypes="AA">
                                      <p:cBhvr>
                                        <p:cTn id="15" dur="1000" fill="hold"/>
                                        <p:tgtEl>
                                          <p:spTgt spid="59397"/>
                                        </p:tgtEl>
                                        <p:attrNameLst>
                                          <p:attrName>ppt_x,ppt_y</p:attrName>
                                        </p:attrNameLst>
                                      </p:cBhvr>
                                      <p:rCtr x="0" y="18800"/>
                                    </p:animMotion>
                                  </p:childTnLst>
                                </p:cTn>
                              </p:par>
                            </p:childTnLst>
                          </p:cTn>
                        </p:par>
                        <p:par>
                          <p:cTn id="16" fill="hold" nodeType="afterGroup">
                            <p:stCondLst>
                              <p:cond delay="2501"/>
                            </p:stCondLst>
                            <p:childTnLst>
                              <p:par>
                                <p:cTn id="17" presetID="1" presetClass="exit" presetSubtype="0" fill="hold" nodeType="afterEffect">
                                  <p:stCondLst>
                                    <p:cond delay="500"/>
                                  </p:stCondLst>
                                  <p:childTnLst>
                                    <p:set>
                                      <p:cBhvr>
                                        <p:cTn id="18" dur="1" fill="hold">
                                          <p:stCondLst>
                                            <p:cond delay="0"/>
                                          </p:stCondLst>
                                        </p:cTn>
                                        <p:tgtEl>
                                          <p:spTgt spid="59405"/>
                                        </p:tgtEl>
                                        <p:attrNameLst>
                                          <p:attrName>style.visibility</p:attrName>
                                        </p:attrNameLst>
                                      </p:cBhvr>
                                      <p:to>
                                        <p:strVal val="hidden"/>
                                      </p:to>
                                    </p:set>
                                  </p:childTnLst>
                                </p:cTn>
                              </p:par>
                            </p:childTnLst>
                          </p:cTn>
                        </p:par>
                        <p:par>
                          <p:cTn id="19" fill="hold" nodeType="afterGroup">
                            <p:stCondLst>
                              <p:cond delay="3002"/>
                            </p:stCondLst>
                            <p:childTnLst>
                              <p:par>
                                <p:cTn id="20" presetID="29" presetClass="exit" presetSubtype="0" fill="hold" grpId="0" nodeType="afterEffect">
                                  <p:stCondLst>
                                    <p:cond delay="500"/>
                                  </p:stCondLst>
                                  <p:childTnLst>
                                    <p:anim calcmode="lin" valueType="num">
                                      <p:cBhvr>
                                        <p:cTn id="21" dur="500"/>
                                        <p:tgtEl>
                                          <p:spTgt spid="59404"/>
                                        </p:tgtEl>
                                        <p:attrNameLst>
                                          <p:attrName>ppt_x</p:attrName>
                                        </p:attrNameLst>
                                      </p:cBhvr>
                                      <p:tavLst>
                                        <p:tav tm="0">
                                          <p:val>
                                            <p:strVal val="ppt_x"/>
                                          </p:val>
                                        </p:tav>
                                        <p:tav tm="100000">
                                          <p:val>
                                            <p:strVal val="ppt_x-.2"/>
                                          </p:val>
                                        </p:tav>
                                      </p:tavLst>
                                    </p:anim>
                                    <p:anim calcmode="lin" valueType="num">
                                      <p:cBhvr>
                                        <p:cTn id="22" dur="500"/>
                                        <p:tgtEl>
                                          <p:spTgt spid="59404"/>
                                        </p:tgtEl>
                                        <p:attrNameLst>
                                          <p:attrName>ppt_y</p:attrName>
                                        </p:attrNameLst>
                                      </p:cBhvr>
                                      <p:tavLst>
                                        <p:tav tm="0">
                                          <p:val>
                                            <p:strVal val="ppt_y"/>
                                          </p:val>
                                        </p:tav>
                                        <p:tav tm="100000">
                                          <p:val>
                                            <p:strVal val="ppt_y"/>
                                          </p:val>
                                        </p:tav>
                                      </p:tavLst>
                                    </p:anim>
                                    <p:animEffect transition="out" filter="fade">
                                      <p:cBhvr>
                                        <p:cTn id="23" dur="500"/>
                                        <p:tgtEl>
                                          <p:spTgt spid="59404"/>
                                        </p:tgtEl>
                                      </p:cBhvr>
                                    </p:animEffect>
                                    <p:set>
                                      <p:cBhvr>
                                        <p:cTn id="24" dur="1" fill="hold">
                                          <p:stCondLst>
                                            <p:cond delay="499"/>
                                          </p:stCondLst>
                                        </p:cTn>
                                        <p:tgtEl>
                                          <p:spTgt spid="59404"/>
                                        </p:tgtEl>
                                        <p:attrNameLst>
                                          <p:attrName>style.visibility</p:attrName>
                                        </p:attrNameLst>
                                      </p:cBhvr>
                                      <p:to>
                                        <p:strVal val="hidden"/>
                                      </p:to>
                                    </p:set>
                                  </p:childTnLst>
                                </p:cTn>
                              </p:par>
                            </p:childTnLst>
                          </p:cTn>
                        </p:par>
                        <p:par>
                          <p:cTn id="25" fill="hold" nodeType="afterGroup">
                            <p:stCondLst>
                              <p:cond delay="4002"/>
                            </p:stCondLst>
                            <p:childTnLst>
                              <p:par>
                                <p:cTn id="26" presetID="42" presetClass="path" presetSubtype="0" accel="50000" decel="50000" fill="hold" grpId="0" nodeType="afterEffect">
                                  <p:stCondLst>
                                    <p:cond delay="0"/>
                                  </p:stCondLst>
                                  <p:childTnLst>
                                    <p:animMotion origin="layout" path="M 0.0 -3.06358E-6 L 0.0 0.25156 " pathEditMode="relative" rAng="0" ptsTypes="AA">
                                      <p:cBhvr>
                                        <p:cTn id="27" dur="1000" fill="hold"/>
                                        <p:tgtEl>
                                          <p:spTgt spid="59403"/>
                                        </p:tgtEl>
                                        <p:attrNameLst>
                                          <p:attrName>ppt_x,ppt_y</p:attrName>
                                        </p:attrNameLst>
                                      </p:cBhvr>
                                      <p:rCtr x="0" y="12500"/>
                                    </p:animMotion>
                                  </p:childTnLst>
                                </p:cTn>
                              </p:par>
                            </p:childTnLst>
                          </p:cTn>
                        </p:par>
                        <p:par>
                          <p:cTn id="28" fill="hold" nodeType="afterGroup">
                            <p:stCondLst>
                              <p:cond delay="5002"/>
                            </p:stCondLst>
                            <p:childTnLst>
                              <p:par>
                                <p:cTn id="29" presetID="1" presetClass="exit" presetSubtype="0" fill="hold" nodeType="afterEffect">
                                  <p:stCondLst>
                                    <p:cond delay="500"/>
                                  </p:stCondLst>
                                  <p:childTnLst>
                                    <p:set>
                                      <p:cBhvr>
                                        <p:cTn id="30" dur="1" fill="hold">
                                          <p:stCondLst>
                                            <p:cond delay="0"/>
                                          </p:stCondLst>
                                        </p:cTn>
                                        <p:tgtEl>
                                          <p:spTgt spid="59423"/>
                                        </p:tgtEl>
                                        <p:attrNameLst>
                                          <p:attrName>style.visibility</p:attrName>
                                        </p:attrNameLst>
                                      </p:cBhvr>
                                      <p:to>
                                        <p:strVal val="hidden"/>
                                      </p:to>
                                    </p:set>
                                  </p:childTnLst>
                                </p:cTn>
                              </p:par>
                            </p:childTnLst>
                          </p:cTn>
                        </p:par>
                        <p:par>
                          <p:cTn id="31" fill="hold" nodeType="afterGroup">
                            <p:stCondLst>
                              <p:cond delay="5503"/>
                            </p:stCondLst>
                            <p:childTnLst>
                              <p:par>
                                <p:cTn id="32" presetID="29" presetClass="exit" presetSubtype="0" fill="hold" grpId="0" nodeType="afterEffect">
                                  <p:stCondLst>
                                    <p:cond delay="500"/>
                                  </p:stCondLst>
                                  <p:childTnLst>
                                    <p:anim calcmode="lin" valueType="num">
                                      <p:cBhvr>
                                        <p:cTn id="33" dur="500"/>
                                        <p:tgtEl>
                                          <p:spTgt spid="59410"/>
                                        </p:tgtEl>
                                        <p:attrNameLst>
                                          <p:attrName>ppt_x</p:attrName>
                                        </p:attrNameLst>
                                      </p:cBhvr>
                                      <p:tavLst>
                                        <p:tav tm="0">
                                          <p:val>
                                            <p:strVal val="ppt_x"/>
                                          </p:val>
                                        </p:tav>
                                        <p:tav tm="100000">
                                          <p:val>
                                            <p:strVal val="ppt_x-.2"/>
                                          </p:val>
                                        </p:tav>
                                      </p:tavLst>
                                    </p:anim>
                                    <p:anim calcmode="lin" valueType="num">
                                      <p:cBhvr>
                                        <p:cTn id="34" dur="500"/>
                                        <p:tgtEl>
                                          <p:spTgt spid="59410"/>
                                        </p:tgtEl>
                                        <p:attrNameLst>
                                          <p:attrName>ppt_y</p:attrName>
                                        </p:attrNameLst>
                                      </p:cBhvr>
                                      <p:tavLst>
                                        <p:tav tm="0">
                                          <p:val>
                                            <p:strVal val="ppt_y"/>
                                          </p:val>
                                        </p:tav>
                                        <p:tav tm="100000">
                                          <p:val>
                                            <p:strVal val="ppt_y"/>
                                          </p:val>
                                        </p:tav>
                                      </p:tavLst>
                                    </p:anim>
                                    <p:animEffect transition="out" filter="fade">
                                      <p:cBhvr>
                                        <p:cTn id="35" dur="500"/>
                                        <p:tgtEl>
                                          <p:spTgt spid="59410"/>
                                        </p:tgtEl>
                                      </p:cBhvr>
                                    </p:animEffect>
                                    <p:set>
                                      <p:cBhvr>
                                        <p:cTn id="36" dur="1" fill="hold">
                                          <p:stCondLst>
                                            <p:cond delay="499"/>
                                          </p:stCondLst>
                                        </p:cTn>
                                        <p:tgtEl>
                                          <p:spTgt spid="59410"/>
                                        </p:tgtEl>
                                        <p:attrNameLst>
                                          <p:attrName>style.visibility</p:attrName>
                                        </p:attrNameLst>
                                      </p:cBhvr>
                                      <p:to>
                                        <p:strVal val="hidden"/>
                                      </p:to>
                                    </p:set>
                                  </p:childTnLst>
                                </p:cTn>
                              </p:par>
                            </p:childTnLst>
                          </p:cTn>
                        </p:par>
                        <p:par>
                          <p:cTn id="37" fill="hold" nodeType="afterGroup">
                            <p:stCondLst>
                              <p:cond delay="6503"/>
                            </p:stCondLst>
                            <p:childTnLst>
                              <p:par>
                                <p:cTn id="38" presetID="42" presetClass="path" presetSubtype="0" accel="50000" decel="50000" fill="hold" grpId="0" nodeType="afterEffect">
                                  <p:stCondLst>
                                    <p:cond delay="0"/>
                                  </p:stCondLst>
                                  <p:childTnLst>
                                    <p:animMotion origin="layout" path="M -3.33333E-6 -3.69942E-6 L -0.00052 0.12763 " pathEditMode="relative" rAng="0" ptsTypes="AA">
                                      <p:cBhvr>
                                        <p:cTn id="39" dur="1000" fill="hold"/>
                                        <p:tgtEl>
                                          <p:spTgt spid="59409"/>
                                        </p:tgtEl>
                                        <p:attrNameLst>
                                          <p:attrName>ppt_x,ppt_y</p:attrName>
                                        </p:attrNameLst>
                                      </p:cBhvr>
                                      <p:rCtr x="0" y="6300"/>
                                    </p:animMotion>
                                  </p:childTnLst>
                                </p:cTn>
                              </p:par>
                            </p:childTnLst>
                          </p:cTn>
                        </p:par>
                        <p:par>
                          <p:cTn id="40" fill="hold" nodeType="afterGroup">
                            <p:stCondLst>
                              <p:cond delay="7503"/>
                            </p:stCondLst>
                            <p:childTnLst>
                              <p:par>
                                <p:cTn id="41" presetID="1" presetClass="entr" presetSubtype="0" fill="hold" grpId="0" nodeType="afterEffect">
                                  <p:stCondLst>
                                    <p:cond delay="0"/>
                                  </p:stCondLst>
                                  <p:childTnLst>
                                    <p:set>
                                      <p:cBhvr>
                                        <p:cTn id="42" dur="1" fill="hold">
                                          <p:stCondLst>
                                            <p:cond delay="0"/>
                                          </p:stCondLst>
                                        </p:cTn>
                                        <p:tgtEl>
                                          <p:spTgt spid="594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7" grpId="0" animBg="1"/>
      <p:bldP spid="59398" grpId="0" animBg="1"/>
      <p:bldP spid="59403" grpId="0" animBg="1"/>
      <p:bldP spid="59404" grpId="0" animBg="1"/>
      <p:bldP spid="59409" grpId="0" animBg="1"/>
      <p:bldP spid="59410" grpId="0" animBg="1"/>
      <p:bldP spid="59424"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8"/>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最后还原成原来的报文</a:t>
            </a:r>
          </a:p>
        </p:txBody>
      </p:sp>
      <p:sp>
        <p:nvSpPr>
          <p:cNvPr id="60425" name="Rectangle 9"/>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最后，在接收端把收到的数据</a:t>
            </a:r>
            <a:r>
              <a:rPr lang="zh-CN" altLang="en-US" smtClean="0">
                <a:solidFill>
                  <a:srgbClr val="FF0000"/>
                </a:solidFill>
                <a:ea typeface="黑体" panose="02010609060101010101" pitchFamily="49" charset="-122"/>
              </a:rPr>
              <a:t>恢复成为原来的报文。</a:t>
            </a:r>
          </a:p>
          <a:p>
            <a:endParaRPr lang="zh-CN" altLang="en-US" smtClean="0">
              <a:ea typeface="黑体" panose="02010609060101010101" pitchFamily="49" charset="-122"/>
            </a:endParaRPr>
          </a:p>
          <a:p>
            <a:endParaRPr lang="zh-CN" altLang="en-US" smtClean="0">
              <a:ea typeface="黑体" panose="02010609060101010101" pitchFamily="49" charset="-122"/>
            </a:endParaRPr>
          </a:p>
          <a:p>
            <a:r>
              <a:rPr lang="zh-CN" altLang="en-US" smtClean="0">
                <a:ea typeface="黑体" panose="02010609060101010101" pitchFamily="49" charset="-122"/>
              </a:rPr>
              <a:t>这里我们假定分组在传输过程中没有出现差错，在转发时也没有被丢弃。</a:t>
            </a:r>
          </a:p>
        </p:txBody>
      </p:sp>
      <p:sp>
        <p:nvSpPr>
          <p:cNvPr id="80899" name="Rectangle 2"/>
          <p:cNvSpPr>
            <a:spLocks noChangeArrowheads="1"/>
          </p:cNvSpPr>
          <p:nvPr/>
        </p:nvSpPr>
        <p:spPr bwMode="auto">
          <a:xfrm>
            <a:off x="2144713" y="2781300"/>
            <a:ext cx="1871662" cy="431800"/>
          </a:xfrm>
          <a:prstGeom prst="rect">
            <a:avLst/>
          </a:prstGeom>
          <a:solidFill>
            <a:srgbClr val="CCECFF"/>
          </a:solidFill>
          <a:ln w="28575">
            <a:solidFill>
              <a:schemeClr val="tx1"/>
            </a:solidFill>
            <a:miter lim="800000"/>
            <a:headEnd/>
            <a:tailEnd/>
          </a:ln>
        </p:spPr>
        <p:txBody>
          <a:bodyPr wrap="none" anchor="ctr"/>
          <a:lstStyle/>
          <a:p>
            <a:pPr algn="ctr" eaLnBrk="0" hangingPunct="0"/>
            <a:r>
              <a:rPr lang="zh-CN" altLang="en-US" sz="2000" b="1">
                <a:solidFill>
                  <a:srgbClr val="000099"/>
                </a:solidFill>
                <a:latin typeface="Tahoma" panose="020B0604030504040204" pitchFamily="34" charset="0"/>
                <a:ea typeface="黑体" panose="02010609060101010101" pitchFamily="49" charset="-122"/>
              </a:rPr>
              <a:t>数     据</a:t>
            </a:r>
          </a:p>
        </p:txBody>
      </p:sp>
      <p:sp>
        <p:nvSpPr>
          <p:cNvPr id="80900" name="Rectangle 3"/>
          <p:cNvSpPr>
            <a:spLocks noChangeArrowheads="1"/>
          </p:cNvSpPr>
          <p:nvPr/>
        </p:nvSpPr>
        <p:spPr bwMode="auto">
          <a:xfrm>
            <a:off x="4017963" y="2781300"/>
            <a:ext cx="1870075" cy="431800"/>
          </a:xfrm>
          <a:prstGeom prst="rect">
            <a:avLst/>
          </a:prstGeom>
          <a:solidFill>
            <a:srgbClr val="CCECFF"/>
          </a:solidFill>
          <a:ln w="28575">
            <a:solidFill>
              <a:schemeClr val="tx1"/>
            </a:solidFill>
            <a:miter lim="800000"/>
            <a:headEnd/>
            <a:tailEnd/>
          </a:ln>
        </p:spPr>
        <p:txBody>
          <a:bodyPr wrap="none" anchor="ctr"/>
          <a:lstStyle/>
          <a:p>
            <a:pPr algn="ctr" eaLnBrk="0" hangingPunct="0"/>
            <a:r>
              <a:rPr lang="zh-CN" altLang="en-US" sz="2000" b="1">
                <a:solidFill>
                  <a:srgbClr val="000099"/>
                </a:solidFill>
                <a:latin typeface="Tahoma" panose="020B0604030504040204" pitchFamily="34" charset="0"/>
                <a:ea typeface="黑体" panose="02010609060101010101" pitchFamily="49" charset="-122"/>
              </a:rPr>
              <a:t>数     据</a:t>
            </a:r>
          </a:p>
        </p:txBody>
      </p:sp>
      <p:sp>
        <p:nvSpPr>
          <p:cNvPr id="80901" name="Rectangle 4"/>
          <p:cNvSpPr>
            <a:spLocks noChangeArrowheads="1"/>
          </p:cNvSpPr>
          <p:nvPr/>
        </p:nvSpPr>
        <p:spPr bwMode="auto">
          <a:xfrm>
            <a:off x="5889625" y="2781300"/>
            <a:ext cx="1871663" cy="431800"/>
          </a:xfrm>
          <a:prstGeom prst="rect">
            <a:avLst/>
          </a:prstGeom>
          <a:solidFill>
            <a:srgbClr val="CCECFF"/>
          </a:solidFill>
          <a:ln w="28575">
            <a:solidFill>
              <a:schemeClr val="tx1"/>
            </a:solidFill>
            <a:miter lim="800000"/>
            <a:headEnd/>
            <a:tailEnd/>
          </a:ln>
        </p:spPr>
        <p:txBody>
          <a:bodyPr wrap="none" anchor="ctr"/>
          <a:lstStyle/>
          <a:p>
            <a:pPr algn="ctr" eaLnBrk="0" hangingPunct="0"/>
            <a:r>
              <a:rPr lang="zh-CN" altLang="en-US" sz="2000" b="1">
                <a:solidFill>
                  <a:srgbClr val="000099"/>
                </a:solidFill>
                <a:latin typeface="Tahoma" panose="020B0604030504040204" pitchFamily="34" charset="0"/>
                <a:ea typeface="黑体" panose="02010609060101010101" pitchFamily="49" charset="-122"/>
              </a:rPr>
              <a:t>数     据</a:t>
            </a:r>
          </a:p>
        </p:txBody>
      </p:sp>
      <p:grpSp>
        <p:nvGrpSpPr>
          <p:cNvPr id="60446" name="Group 30"/>
          <p:cNvGrpSpPr>
            <a:grpSpLocks/>
          </p:cNvGrpSpPr>
          <p:nvPr/>
        </p:nvGrpSpPr>
        <p:grpSpPr bwMode="auto">
          <a:xfrm>
            <a:off x="2066925" y="2325688"/>
            <a:ext cx="5805488" cy="887412"/>
            <a:chOff x="1202" y="1919"/>
            <a:chExt cx="3376" cy="559"/>
          </a:xfrm>
        </p:grpSpPr>
        <p:grpSp>
          <p:nvGrpSpPr>
            <p:cNvPr id="80903" name="Group 5"/>
            <p:cNvGrpSpPr>
              <a:grpSpLocks/>
            </p:cNvGrpSpPr>
            <p:nvPr/>
          </p:nvGrpSpPr>
          <p:grpSpPr bwMode="auto">
            <a:xfrm>
              <a:off x="1247" y="1919"/>
              <a:ext cx="3266" cy="252"/>
              <a:chOff x="1247" y="1737"/>
              <a:chExt cx="3266" cy="252"/>
            </a:xfrm>
          </p:grpSpPr>
          <p:sp>
            <p:nvSpPr>
              <p:cNvPr id="80904" name="Line 6"/>
              <p:cNvSpPr>
                <a:spLocks noChangeShapeType="1"/>
              </p:cNvSpPr>
              <p:nvPr/>
            </p:nvSpPr>
            <p:spPr bwMode="auto">
              <a:xfrm>
                <a:off x="1247" y="1888"/>
                <a:ext cx="3266" cy="0"/>
              </a:xfrm>
              <a:prstGeom prst="line">
                <a:avLst/>
              </a:prstGeom>
              <a:noFill/>
              <a:ln w="9525">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0905" name="Text Box 7"/>
              <p:cNvSpPr txBox="1">
                <a:spLocks noChangeArrowheads="1"/>
              </p:cNvSpPr>
              <p:nvPr/>
            </p:nvSpPr>
            <p:spPr bwMode="auto">
              <a:xfrm>
                <a:off x="2699" y="1737"/>
                <a:ext cx="406" cy="25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Times New Roman" panose="02020603050405020304" pitchFamily="18" charset="0"/>
                    <a:ea typeface="黑体" panose="02010609060101010101" pitchFamily="49" charset="-122"/>
                  </a:rPr>
                  <a:t>报文</a:t>
                </a:r>
              </a:p>
            </p:txBody>
          </p:sp>
        </p:grpSp>
        <p:grpSp>
          <p:nvGrpSpPr>
            <p:cNvPr id="80906" name="Group 23"/>
            <p:cNvGrpSpPr>
              <a:grpSpLocks/>
            </p:cNvGrpSpPr>
            <p:nvPr/>
          </p:nvGrpSpPr>
          <p:grpSpPr bwMode="auto">
            <a:xfrm>
              <a:off x="1202" y="2206"/>
              <a:ext cx="3376" cy="272"/>
              <a:chOff x="1202" y="2206"/>
              <a:chExt cx="3376" cy="272"/>
            </a:xfrm>
          </p:grpSpPr>
          <p:grpSp>
            <p:nvGrpSpPr>
              <p:cNvPr id="80907" name="Group 24"/>
              <p:cNvGrpSpPr>
                <a:grpSpLocks/>
              </p:cNvGrpSpPr>
              <p:nvPr/>
            </p:nvGrpSpPr>
            <p:grpSpPr bwMode="auto">
              <a:xfrm>
                <a:off x="1247" y="2206"/>
                <a:ext cx="3266" cy="272"/>
                <a:chOff x="1247" y="2931"/>
                <a:chExt cx="3266" cy="272"/>
              </a:xfrm>
            </p:grpSpPr>
            <p:sp>
              <p:nvSpPr>
                <p:cNvPr id="80908" name="Rectangle 25"/>
                <p:cNvSpPr>
                  <a:spLocks noChangeArrowheads="1"/>
                </p:cNvSpPr>
                <p:nvPr/>
              </p:nvSpPr>
              <p:spPr bwMode="auto">
                <a:xfrm>
                  <a:off x="1248" y="2931"/>
                  <a:ext cx="1088" cy="27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000" b="1">
                    <a:solidFill>
                      <a:srgbClr val="000099"/>
                    </a:solidFill>
                    <a:ea typeface="黑体" panose="02010609060101010101" pitchFamily="49" charset="-122"/>
                  </a:endParaRPr>
                </a:p>
              </p:txBody>
            </p:sp>
            <p:sp>
              <p:nvSpPr>
                <p:cNvPr id="80909" name="Rectangle 26"/>
                <p:cNvSpPr>
                  <a:spLocks noChangeArrowheads="1"/>
                </p:cNvSpPr>
                <p:nvPr/>
              </p:nvSpPr>
              <p:spPr bwMode="auto">
                <a:xfrm>
                  <a:off x="2336" y="2931"/>
                  <a:ext cx="1088" cy="27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000" b="1">
                    <a:solidFill>
                      <a:srgbClr val="000099"/>
                    </a:solidFill>
                    <a:latin typeface="Tahoma" panose="020B0604030504040204" pitchFamily="34" charset="0"/>
                    <a:ea typeface="黑体" panose="02010609060101010101" pitchFamily="49" charset="-122"/>
                  </a:endParaRPr>
                </a:p>
              </p:txBody>
            </p:sp>
            <p:sp>
              <p:nvSpPr>
                <p:cNvPr id="80910" name="Rectangle 27"/>
                <p:cNvSpPr>
                  <a:spLocks noChangeArrowheads="1"/>
                </p:cNvSpPr>
                <p:nvPr/>
              </p:nvSpPr>
              <p:spPr bwMode="auto">
                <a:xfrm>
                  <a:off x="3425" y="2931"/>
                  <a:ext cx="1088" cy="27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000" b="1">
                    <a:solidFill>
                      <a:srgbClr val="000099"/>
                    </a:solidFill>
                    <a:ea typeface="黑体" panose="02010609060101010101" pitchFamily="49" charset="-122"/>
                  </a:endParaRPr>
                </a:p>
              </p:txBody>
            </p:sp>
            <p:sp>
              <p:nvSpPr>
                <p:cNvPr id="80911" name="Rectangle 28"/>
                <p:cNvSpPr>
                  <a:spLocks noChangeArrowheads="1"/>
                </p:cNvSpPr>
                <p:nvPr/>
              </p:nvSpPr>
              <p:spPr bwMode="auto">
                <a:xfrm>
                  <a:off x="1247" y="2931"/>
                  <a:ext cx="3266" cy="27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grpSp>
          <p:sp>
            <p:nvSpPr>
              <p:cNvPr id="80912" name="Text Box 29"/>
              <p:cNvSpPr txBox="1">
                <a:spLocks noChangeArrowheads="1"/>
              </p:cNvSpPr>
              <p:nvPr/>
            </p:nvSpPr>
            <p:spPr bwMode="auto">
              <a:xfrm>
                <a:off x="1202" y="2219"/>
                <a:ext cx="337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宋体" panose="02010600030101010101" pitchFamily="2" charset="-122"/>
                  </a:rPr>
                  <a:t>1101000110101010110101011100010011010010</a:t>
                </a:r>
              </a:p>
            </p:txBody>
          </p:sp>
        </p:grpSp>
      </p:grpSp>
      <p:cxnSp>
        <p:nvCxnSpPr>
          <p:cNvPr id="80913" name="直接连接符 19"/>
          <p:cNvCxnSpPr>
            <a:cxnSpLocks noChangeShapeType="1"/>
          </p:cNvCxnSpPr>
          <p:nvPr/>
        </p:nvCxnSpPr>
        <p:spPr bwMode="auto">
          <a:xfrm>
            <a:off x="2146300" y="2349500"/>
            <a:ext cx="0" cy="400050"/>
          </a:xfrm>
          <a:prstGeom prst="line">
            <a:avLst/>
          </a:prstGeom>
          <a:noFill/>
          <a:ln w="9525">
            <a:solidFill>
              <a:schemeClr val="tx1"/>
            </a:solidFill>
            <a:round/>
            <a:headEnd/>
            <a:tailEnd/>
          </a:ln>
        </p:spPr>
      </p:cxnSp>
      <p:cxnSp>
        <p:nvCxnSpPr>
          <p:cNvPr id="80914" name="直接连接符 20"/>
          <p:cNvCxnSpPr>
            <a:cxnSpLocks noChangeShapeType="1"/>
          </p:cNvCxnSpPr>
          <p:nvPr/>
        </p:nvCxnSpPr>
        <p:spPr bwMode="auto">
          <a:xfrm>
            <a:off x="7747000" y="2349500"/>
            <a:ext cx="0" cy="400050"/>
          </a:xfrm>
          <a:prstGeom prst="line">
            <a:avLst/>
          </a:prstGeom>
          <a:noFill/>
          <a:ln w="9525">
            <a:solidFill>
              <a:schemeClr val="tx1"/>
            </a:solidFill>
            <a:round/>
            <a:headEnd/>
            <a:tailEnd/>
          </a:ln>
        </p:spPr>
      </p:cxnSp>
      <p:sp>
        <p:nvSpPr>
          <p:cNvPr id="8091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F95B7FE-F61D-4F86-928D-0C6E020007FE}" type="slidenum">
              <a:rPr lang="zh-CN" altLang="en-US" smtClean="0"/>
              <a:pPr eaLnBrk="1" hangingPunct="1"/>
              <a:t>50</a:t>
            </a:fld>
            <a:endParaRPr lang="en-US" altLang="zh-CN" smtClean="0"/>
          </a:p>
        </p:txBody>
      </p:sp>
      <p:sp>
        <p:nvSpPr>
          <p:cNvPr id="8091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6042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0" presetClass="entr" presetSubtype="0" fill="hold" nodeType="clickEffect">
                                  <p:stCondLst>
                                    <p:cond delay="0"/>
                                  </p:stCondLst>
                                  <p:childTnLst>
                                    <p:set>
                                      <p:cBhvr>
                                        <p:cTn id="10" dur="1" fill="hold">
                                          <p:stCondLst>
                                            <p:cond delay="0"/>
                                          </p:stCondLst>
                                        </p:cTn>
                                        <p:tgtEl>
                                          <p:spTgt spid="60446"/>
                                        </p:tgtEl>
                                        <p:attrNameLst>
                                          <p:attrName>style.visibility</p:attrName>
                                        </p:attrNameLst>
                                      </p:cBhvr>
                                      <p:to>
                                        <p:strVal val="visible"/>
                                      </p:to>
                                    </p:set>
                                    <p:animEffect transition="in" filter="fade">
                                      <p:cBhvr>
                                        <p:cTn id="11" dur="1000"/>
                                        <p:tgtEl>
                                          <p:spTgt spid="6044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6042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5"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1.3.2  </a:t>
            </a:r>
            <a:r>
              <a:rPr lang="zh-CN" altLang="en-US" smtClean="0">
                <a:ea typeface="黑体" panose="02010609060101010101" pitchFamily="49" charset="-122"/>
              </a:rPr>
              <a:t>互联网的核心部分</a:t>
            </a:r>
          </a:p>
        </p:txBody>
      </p:sp>
      <p:sp>
        <p:nvSpPr>
          <p:cNvPr id="82946"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互联网的核心部分是由</a:t>
            </a:r>
            <a:r>
              <a:rPr lang="zh-CN" altLang="en-US" smtClean="0">
                <a:solidFill>
                  <a:srgbClr val="FF0000"/>
                </a:solidFill>
                <a:ea typeface="黑体" panose="02010609060101010101" pitchFamily="49" charset="-122"/>
              </a:rPr>
              <a:t>许多网络</a:t>
            </a:r>
            <a:r>
              <a:rPr lang="zh-CN" altLang="en-US" smtClean="0">
                <a:ea typeface="黑体" panose="02010609060101010101" pitchFamily="49" charset="-122"/>
              </a:rPr>
              <a:t>和把它们互连起来的</a:t>
            </a:r>
            <a:r>
              <a:rPr lang="zh-CN" altLang="en-US" smtClean="0">
                <a:solidFill>
                  <a:srgbClr val="FF0000"/>
                </a:solidFill>
                <a:ea typeface="黑体" panose="02010609060101010101" pitchFamily="49" charset="-122"/>
              </a:rPr>
              <a:t>路由器</a:t>
            </a:r>
            <a:r>
              <a:rPr lang="zh-CN" altLang="en-US" smtClean="0">
                <a:ea typeface="黑体" panose="02010609060101010101" pitchFamily="49" charset="-122"/>
              </a:rPr>
              <a:t>组成，而</a:t>
            </a:r>
            <a:r>
              <a:rPr lang="zh-CN" altLang="en-US" smtClean="0">
                <a:solidFill>
                  <a:srgbClr val="FF0000"/>
                </a:solidFill>
                <a:ea typeface="黑体" panose="02010609060101010101" pitchFamily="49" charset="-122"/>
              </a:rPr>
              <a:t>主机处在互联网的边缘部分。</a:t>
            </a:r>
          </a:p>
          <a:p>
            <a:r>
              <a:rPr lang="zh-CN" altLang="en-US" smtClean="0">
                <a:ea typeface="黑体" panose="02010609060101010101" pitchFamily="49" charset="-122"/>
              </a:rPr>
              <a:t>互联网核心部分中的路由器之间一般都用</a:t>
            </a:r>
            <a:r>
              <a:rPr lang="zh-CN" altLang="en-US" smtClean="0">
                <a:solidFill>
                  <a:srgbClr val="FF0000"/>
                </a:solidFill>
                <a:ea typeface="黑体" panose="02010609060101010101" pitchFamily="49" charset="-122"/>
              </a:rPr>
              <a:t>高速链路</a:t>
            </a:r>
            <a:r>
              <a:rPr lang="zh-CN" altLang="en-US" smtClean="0">
                <a:ea typeface="黑体" panose="02010609060101010101" pitchFamily="49" charset="-122"/>
              </a:rPr>
              <a:t>相连接，而在网络边缘的主机接入到核心部分则通常以相对</a:t>
            </a:r>
            <a:r>
              <a:rPr lang="zh-CN" altLang="en-US" smtClean="0">
                <a:solidFill>
                  <a:srgbClr val="FF0000"/>
                </a:solidFill>
                <a:ea typeface="黑体" panose="02010609060101010101" pitchFamily="49" charset="-122"/>
              </a:rPr>
              <a:t>较低速率</a:t>
            </a:r>
            <a:r>
              <a:rPr lang="zh-CN" altLang="en-US" smtClean="0">
                <a:ea typeface="黑体" panose="02010609060101010101" pitchFamily="49" charset="-122"/>
              </a:rPr>
              <a:t>的链路相连接。</a:t>
            </a:r>
          </a:p>
          <a:p>
            <a:r>
              <a:rPr lang="zh-CN" altLang="en-US" smtClean="0">
                <a:solidFill>
                  <a:srgbClr val="FF0000"/>
                </a:solidFill>
                <a:ea typeface="黑体" panose="02010609060101010101" pitchFamily="49" charset="-122"/>
              </a:rPr>
              <a:t>主机</a:t>
            </a:r>
            <a:r>
              <a:rPr lang="zh-CN" altLang="en-US" smtClean="0">
                <a:ea typeface="黑体" panose="02010609060101010101" pitchFamily="49" charset="-122"/>
              </a:rPr>
              <a:t>的用途是为用户进行信息处理的，并且可以和其他主机通过网络交换信息。</a:t>
            </a:r>
            <a:r>
              <a:rPr lang="zh-CN" altLang="en-US" smtClean="0">
                <a:solidFill>
                  <a:srgbClr val="FF0000"/>
                </a:solidFill>
                <a:ea typeface="黑体" panose="02010609060101010101" pitchFamily="49" charset="-122"/>
              </a:rPr>
              <a:t>路由器</a:t>
            </a:r>
            <a:r>
              <a:rPr lang="zh-CN" altLang="en-US" smtClean="0">
                <a:ea typeface="黑体" panose="02010609060101010101" pitchFamily="49" charset="-122"/>
              </a:rPr>
              <a:t>的用途则是用来转发分组的，即进行分组交换的。 </a:t>
            </a:r>
          </a:p>
        </p:txBody>
      </p:sp>
      <p:sp>
        <p:nvSpPr>
          <p:cNvPr id="8294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CC02813-6601-4B45-A9FA-6E7B77C7F398}" type="slidenum">
              <a:rPr lang="zh-CN" altLang="en-US" smtClean="0"/>
              <a:pPr eaLnBrk="1" hangingPunct="1"/>
              <a:t>51</a:t>
            </a:fld>
            <a:endParaRPr lang="en-US" altLang="zh-CN" smtClean="0"/>
          </a:p>
        </p:txBody>
      </p:sp>
      <p:sp>
        <p:nvSpPr>
          <p:cNvPr id="8294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Text Box 204"/>
          <p:cNvSpPr txBox="1">
            <a:spLocks noChangeArrowheads="1"/>
          </p:cNvSpPr>
          <p:nvPr/>
        </p:nvSpPr>
        <p:spPr bwMode="auto">
          <a:xfrm>
            <a:off x="3521075" y="36513"/>
            <a:ext cx="26558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3200" b="1">
                <a:solidFill>
                  <a:srgbClr val="C00000"/>
                </a:solidFill>
                <a:ea typeface="黑体" panose="02010609060101010101" pitchFamily="49" charset="-122"/>
              </a:rPr>
              <a:t>网络核心部分</a:t>
            </a:r>
          </a:p>
        </p:txBody>
      </p:sp>
      <p:grpSp>
        <p:nvGrpSpPr>
          <p:cNvPr id="84994" name="组合 3"/>
          <p:cNvGrpSpPr>
            <a:grpSpLocks/>
          </p:cNvGrpSpPr>
          <p:nvPr/>
        </p:nvGrpSpPr>
        <p:grpSpPr bwMode="auto">
          <a:xfrm>
            <a:off x="560388" y="263525"/>
            <a:ext cx="7943850" cy="5326063"/>
            <a:chOff x="488504" y="235124"/>
            <a:chExt cx="8544166" cy="6118225"/>
          </a:xfrm>
        </p:grpSpPr>
        <p:sp>
          <p:nvSpPr>
            <p:cNvPr id="84995" name="Oval 4"/>
            <p:cNvSpPr>
              <a:spLocks noChangeArrowheads="1"/>
            </p:cNvSpPr>
            <p:nvPr/>
          </p:nvSpPr>
          <p:spPr bwMode="auto">
            <a:xfrm rot="-1674972">
              <a:off x="2504099" y="1500362"/>
              <a:ext cx="2567650" cy="1584325"/>
            </a:xfrm>
            <a:prstGeom prst="ellipse">
              <a:avLst/>
            </a:prstGeom>
            <a:solidFill>
              <a:schemeClr val="bg1"/>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4996" name="Oval 5"/>
            <p:cNvSpPr>
              <a:spLocks noChangeArrowheads="1"/>
            </p:cNvSpPr>
            <p:nvPr/>
          </p:nvSpPr>
          <p:spPr bwMode="auto">
            <a:xfrm rot="-774972">
              <a:off x="4223891" y="1179686"/>
              <a:ext cx="2242608" cy="1471612"/>
            </a:xfrm>
            <a:prstGeom prst="ellipse">
              <a:avLst/>
            </a:prstGeom>
            <a:solidFill>
              <a:schemeClr val="bg1"/>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4997" name="Oval 6"/>
            <p:cNvSpPr>
              <a:spLocks noChangeArrowheads="1"/>
            </p:cNvSpPr>
            <p:nvPr/>
          </p:nvSpPr>
          <p:spPr bwMode="auto">
            <a:xfrm rot="-174972">
              <a:off x="5862853" y="1716261"/>
              <a:ext cx="1656159" cy="1903412"/>
            </a:xfrm>
            <a:prstGeom prst="ellipse">
              <a:avLst/>
            </a:prstGeom>
            <a:solidFill>
              <a:schemeClr val="bg1"/>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4998" name="Oval 7"/>
            <p:cNvSpPr>
              <a:spLocks noChangeArrowheads="1"/>
            </p:cNvSpPr>
            <p:nvPr/>
          </p:nvSpPr>
          <p:spPr bwMode="auto">
            <a:xfrm rot="-3234972">
              <a:off x="6151050" y="2757859"/>
              <a:ext cx="1571625" cy="1542653"/>
            </a:xfrm>
            <a:prstGeom prst="ellipse">
              <a:avLst/>
            </a:prstGeom>
            <a:solidFill>
              <a:schemeClr val="bg1"/>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4999" name="Oval 8"/>
            <p:cNvSpPr>
              <a:spLocks noChangeArrowheads="1"/>
            </p:cNvSpPr>
            <p:nvPr/>
          </p:nvSpPr>
          <p:spPr bwMode="auto">
            <a:xfrm rot="-1674972">
              <a:off x="4290964" y="3603798"/>
              <a:ext cx="2808419" cy="1766888"/>
            </a:xfrm>
            <a:prstGeom prst="ellipse">
              <a:avLst/>
            </a:prstGeom>
            <a:solidFill>
              <a:schemeClr val="bg1"/>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00" name="Oval 9"/>
            <p:cNvSpPr>
              <a:spLocks noChangeArrowheads="1"/>
            </p:cNvSpPr>
            <p:nvPr/>
          </p:nvSpPr>
          <p:spPr bwMode="auto">
            <a:xfrm rot="-594972">
              <a:off x="3188577" y="4349924"/>
              <a:ext cx="2006997" cy="1222375"/>
            </a:xfrm>
            <a:prstGeom prst="ellipse">
              <a:avLst/>
            </a:prstGeom>
            <a:solidFill>
              <a:schemeClr val="bg1"/>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01" name="Oval 10"/>
            <p:cNvSpPr>
              <a:spLocks noChangeArrowheads="1"/>
            </p:cNvSpPr>
            <p:nvPr/>
          </p:nvSpPr>
          <p:spPr bwMode="auto">
            <a:xfrm rot="-1674972">
              <a:off x="2418110" y="3818112"/>
              <a:ext cx="1270927" cy="1444625"/>
            </a:xfrm>
            <a:prstGeom prst="ellipse">
              <a:avLst/>
            </a:prstGeom>
            <a:solidFill>
              <a:schemeClr val="bg1"/>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02" name="Oval 11"/>
            <p:cNvSpPr>
              <a:spLocks noChangeArrowheads="1"/>
            </p:cNvSpPr>
            <p:nvPr/>
          </p:nvSpPr>
          <p:spPr bwMode="auto">
            <a:xfrm rot="-3534972">
              <a:off x="2120652" y="2784053"/>
              <a:ext cx="1590675" cy="1274365"/>
            </a:xfrm>
            <a:prstGeom prst="ellipse">
              <a:avLst/>
            </a:prstGeom>
            <a:solidFill>
              <a:schemeClr val="bg1"/>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03" name="Freeform 12"/>
            <p:cNvSpPr>
              <a:spLocks noChangeArrowheads="1"/>
            </p:cNvSpPr>
            <p:nvPr/>
          </p:nvSpPr>
          <p:spPr bwMode="auto">
            <a:xfrm>
              <a:off x="2536776" y="1455911"/>
              <a:ext cx="4884208" cy="3852862"/>
            </a:xfrm>
            <a:custGeom>
              <a:avLst/>
              <a:gdLst>
                <a:gd name="T0" fmla="*/ 579 w 1931"/>
                <a:gd name="T1" fmla="*/ 263 h 1684"/>
                <a:gd name="T2" fmla="*/ 632 w 1931"/>
                <a:gd name="T3" fmla="*/ 168 h 1684"/>
                <a:gd name="T4" fmla="*/ 695 w 1931"/>
                <a:gd name="T5" fmla="*/ 126 h 1684"/>
                <a:gd name="T6" fmla="*/ 916 w 1931"/>
                <a:gd name="T7" fmla="*/ 115 h 1684"/>
                <a:gd name="T8" fmla="*/ 1095 w 1931"/>
                <a:gd name="T9" fmla="*/ 52 h 1684"/>
                <a:gd name="T10" fmla="*/ 1158 w 1931"/>
                <a:gd name="T11" fmla="*/ 21 h 1684"/>
                <a:gd name="T12" fmla="*/ 1221 w 1931"/>
                <a:gd name="T13" fmla="*/ 0 h 1684"/>
                <a:gd name="T14" fmla="*/ 1337 w 1931"/>
                <a:gd name="T15" fmla="*/ 42 h 1684"/>
                <a:gd name="T16" fmla="*/ 1400 w 1931"/>
                <a:gd name="T17" fmla="*/ 84 h 1684"/>
                <a:gd name="T18" fmla="*/ 1432 w 1931"/>
                <a:gd name="T19" fmla="*/ 105 h 1684"/>
                <a:gd name="T20" fmla="*/ 1505 w 1931"/>
                <a:gd name="T21" fmla="*/ 158 h 1684"/>
                <a:gd name="T22" fmla="*/ 1526 w 1931"/>
                <a:gd name="T23" fmla="*/ 189 h 1684"/>
                <a:gd name="T24" fmla="*/ 1558 w 1931"/>
                <a:gd name="T25" fmla="*/ 210 h 1684"/>
                <a:gd name="T26" fmla="*/ 1653 w 1931"/>
                <a:gd name="T27" fmla="*/ 294 h 1684"/>
                <a:gd name="T28" fmla="*/ 1737 w 1931"/>
                <a:gd name="T29" fmla="*/ 368 h 1684"/>
                <a:gd name="T30" fmla="*/ 1800 w 1931"/>
                <a:gd name="T31" fmla="*/ 389 h 1684"/>
                <a:gd name="T32" fmla="*/ 1832 w 1931"/>
                <a:gd name="T33" fmla="*/ 410 h 1684"/>
                <a:gd name="T34" fmla="*/ 1916 w 1931"/>
                <a:gd name="T35" fmla="*/ 589 h 1684"/>
                <a:gd name="T36" fmla="*/ 1842 w 1931"/>
                <a:gd name="T37" fmla="*/ 1084 h 1684"/>
                <a:gd name="T38" fmla="*/ 1769 w 1931"/>
                <a:gd name="T39" fmla="*/ 1168 h 1684"/>
                <a:gd name="T40" fmla="*/ 1653 w 1931"/>
                <a:gd name="T41" fmla="*/ 1284 h 1684"/>
                <a:gd name="T42" fmla="*/ 1590 w 1931"/>
                <a:gd name="T43" fmla="*/ 1347 h 1684"/>
                <a:gd name="T44" fmla="*/ 1558 w 1931"/>
                <a:gd name="T45" fmla="*/ 1368 h 1684"/>
                <a:gd name="T46" fmla="*/ 1474 w 1931"/>
                <a:gd name="T47" fmla="*/ 1431 h 1684"/>
                <a:gd name="T48" fmla="*/ 1411 w 1931"/>
                <a:gd name="T49" fmla="*/ 1453 h 1684"/>
                <a:gd name="T50" fmla="*/ 1253 w 1931"/>
                <a:gd name="T51" fmla="*/ 1579 h 1684"/>
                <a:gd name="T52" fmla="*/ 1190 w 1931"/>
                <a:gd name="T53" fmla="*/ 1621 h 1684"/>
                <a:gd name="T54" fmla="*/ 1000 w 1931"/>
                <a:gd name="T55" fmla="*/ 1684 h 1684"/>
                <a:gd name="T56" fmla="*/ 432 w 1931"/>
                <a:gd name="T57" fmla="*/ 1653 h 1684"/>
                <a:gd name="T58" fmla="*/ 337 w 1931"/>
                <a:gd name="T59" fmla="*/ 1621 h 1684"/>
                <a:gd name="T60" fmla="*/ 242 w 1931"/>
                <a:gd name="T61" fmla="*/ 1558 h 1684"/>
                <a:gd name="T62" fmla="*/ 168 w 1931"/>
                <a:gd name="T63" fmla="*/ 1463 h 1684"/>
                <a:gd name="T64" fmla="*/ 126 w 1931"/>
                <a:gd name="T65" fmla="*/ 1400 h 1684"/>
                <a:gd name="T66" fmla="*/ 105 w 1931"/>
                <a:gd name="T67" fmla="*/ 1368 h 1684"/>
                <a:gd name="T68" fmla="*/ 21 w 1931"/>
                <a:gd name="T69" fmla="*/ 1242 h 1684"/>
                <a:gd name="T70" fmla="*/ 32 w 1931"/>
                <a:gd name="T71" fmla="*/ 1031 h 1684"/>
                <a:gd name="T72" fmla="*/ 42 w 1931"/>
                <a:gd name="T73" fmla="*/ 821 h 1684"/>
                <a:gd name="T74" fmla="*/ 84 w 1931"/>
                <a:gd name="T75" fmla="*/ 631 h 1684"/>
                <a:gd name="T76" fmla="*/ 200 w 1931"/>
                <a:gd name="T77" fmla="*/ 337 h 1684"/>
                <a:gd name="T78" fmla="*/ 242 w 1931"/>
                <a:gd name="T79" fmla="*/ 263 h 1684"/>
                <a:gd name="T80" fmla="*/ 305 w 1931"/>
                <a:gd name="T81" fmla="*/ 252 h 1684"/>
                <a:gd name="T82" fmla="*/ 326 w 1931"/>
                <a:gd name="T83" fmla="*/ 189 h 1684"/>
                <a:gd name="T84" fmla="*/ 400 w 1931"/>
                <a:gd name="T85" fmla="*/ 147 h 1684"/>
                <a:gd name="T86" fmla="*/ 432 w 1931"/>
                <a:gd name="T87" fmla="*/ 168 h 1684"/>
                <a:gd name="T88" fmla="*/ 453 w 1931"/>
                <a:gd name="T89" fmla="*/ 200 h 1684"/>
                <a:gd name="T90" fmla="*/ 537 w 1931"/>
                <a:gd name="T91" fmla="*/ 210 h 1684"/>
                <a:gd name="T92" fmla="*/ 558 w 1931"/>
                <a:gd name="T93" fmla="*/ 242 h 1684"/>
                <a:gd name="T94" fmla="*/ 579 w 1931"/>
                <a:gd name="T95" fmla="*/ 263 h 16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04" name="Line 13"/>
            <p:cNvSpPr>
              <a:spLocks noChangeShapeType="1"/>
            </p:cNvSpPr>
            <p:nvPr/>
          </p:nvSpPr>
          <p:spPr bwMode="auto">
            <a:xfrm flipV="1">
              <a:off x="3780185" y="1462261"/>
              <a:ext cx="1699154" cy="66516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05" name="Line 14"/>
            <p:cNvSpPr>
              <a:spLocks noChangeShapeType="1"/>
            </p:cNvSpPr>
            <p:nvPr/>
          </p:nvSpPr>
          <p:spPr bwMode="auto">
            <a:xfrm>
              <a:off x="5689154" y="1551162"/>
              <a:ext cx="1004358" cy="167163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06" name="Line 15"/>
            <p:cNvSpPr>
              <a:spLocks noChangeShapeType="1"/>
            </p:cNvSpPr>
            <p:nvPr/>
          </p:nvSpPr>
          <p:spPr bwMode="auto">
            <a:xfrm flipH="1">
              <a:off x="2779266" y="2235373"/>
              <a:ext cx="882254" cy="15065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07" name="Line 16"/>
            <p:cNvSpPr>
              <a:spLocks noChangeShapeType="1"/>
            </p:cNvSpPr>
            <p:nvPr/>
          </p:nvSpPr>
          <p:spPr bwMode="auto">
            <a:xfrm>
              <a:off x="2832580" y="3951461"/>
              <a:ext cx="2013876" cy="105886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08" name="Line 17"/>
            <p:cNvSpPr>
              <a:spLocks noChangeShapeType="1"/>
            </p:cNvSpPr>
            <p:nvPr/>
          </p:nvSpPr>
          <p:spPr bwMode="auto">
            <a:xfrm flipV="1">
              <a:off x="4932445" y="3554587"/>
              <a:ext cx="1761067" cy="156368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09" name="Line 18"/>
            <p:cNvSpPr>
              <a:spLocks noChangeShapeType="1"/>
            </p:cNvSpPr>
            <p:nvPr/>
          </p:nvSpPr>
          <p:spPr bwMode="auto">
            <a:xfrm>
              <a:off x="3848977" y="2243311"/>
              <a:ext cx="2823898" cy="113506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10" name="Line 19"/>
            <p:cNvSpPr>
              <a:spLocks noChangeShapeType="1"/>
            </p:cNvSpPr>
            <p:nvPr/>
          </p:nvSpPr>
          <p:spPr bwMode="auto">
            <a:xfrm>
              <a:off x="3714833" y="2051223"/>
              <a:ext cx="1327679" cy="29591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11" name="Line 20"/>
            <p:cNvSpPr>
              <a:spLocks noChangeShapeType="1"/>
            </p:cNvSpPr>
            <p:nvPr/>
          </p:nvSpPr>
          <p:spPr bwMode="auto">
            <a:xfrm flipV="1">
              <a:off x="4143062" y="5094462"/>
              <a:ext cx="849577" cy="6556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12" name="Line 21"/>
            <p:cNvSpPr>
              <a:spLocks noChangeShapeType="1"/>
            </p:cNvSpPr>
            <p:nvPr/>
          </p:nvSpPr>
          <p:spPr bwMode="auto">
            <a:xfrm rot="-5400000">
              <a:off x="5896321" y="767730"/>
              <a:ext cx="493713" cy="10731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13" name="Line 22"/>
            <p:cNvSpPr>
              <a:spLocks noChangeShapeType="1"/>
            </p:cNvSpPr>
            <p:nvPr/>
          </p:nvSpPr>
          <p:spPr bwMode="auto">
            <a:xfrm>
              <a:off x="6817337" y="3554587"/>
              <a:ext cx="849577" cy="12080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14" name="Line 23"/>
            <p:cNvSpPr>
              <a:spLocks noChangeShapeType="1"/>
            </p:cNvSpPr>
            <p:nvPr/>
          </p:nvSpPr>
          <p:spPr bwMode="auto">
            <a:xfrm>
              <a:off x="1608089" y="3872086"/>
              <a:ext cx="1181496" cy="190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15" name="Line 24"/>
            <p:cNvSpPr>
              <a:spLocks noChangeShapeType="1"/>
            </p:cNvSpPr>
            <p:nvPr/>
          </p:nvSpPr>
          <p:spPr bwMode="auto">
            <a:xfrm rot="5400000" flipH="1">
              <a:off x="3201277" y="1598654"/>
              <a:ext cx="923925" cy="344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16" name="Text Box 25"/>
            <p:cNvSpPr txBox="1">
              <a:spLocks noChangeArrowheads="1"/>
            </p:cNvSpPr>
            <p:nvPr/>
          </p:nvSpPr>
          <p:spPr bwMode="auto">
            <a:xfrm>
              <a:off x="488504" y="3540299"/>
              <a:ext cx="5774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99"/>
                  </a:solidFill>
                  <a:ea typeface="黑体" panose="02010609060101010101" pitchFamily="49" charset="-122"/>
                </a:rPr>
                <a:t>H</a:t>
              </a:r>
              <a:r>
                <a:rPr lang="en-US" altLang="zh-CN" sz="2800" b="1" baseline="-25000">
                  <a:solidFill>
                    <a:srgbClr val="000099"/>
                  </a:solidFill>
                  <a:ea typeface="黑体" panose="02010609060101010101" pitchFamily="49" charset="-122"/>
                </a:rPr>
                <a:t>1</a:t>
              </a:r>
              <a:endParaRPr lang="en-US" altLang="zh-CN" sz="2800" b="1">
                <a:solidFill>
                  <a:srgbClr val="000099"/>
                </a:solidFill>
                <a:ea typeface="黑体" panose="02010609060101010101" pitchFamily="49" charset="-122"/>
              </a:endParaRPr>
            </a:p>
          </p:txBody>
        </p:sp>
        <p:sp>
          <p:nvSpPr>
            <p:cNvPr id="85017" name="Text Box 26"/>
            <p:cNvSpPr txBox="1">
              <a:spLocks noChangeArrowheads="1"/>
            </p:cNvSpPr>
            <p:nvPr/>
          </p:nvSpPr>
          <p:spPr bwMode="auto">
            <a:xfrm>
              <a:off x="8158775" y="4468986"/>
              <a:ext cx="5774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99"/>
                  </a:solidFill>
                  <a:ea typeface="黑体" panose="02010609060101010101" pitchFamily="49" charset="-122"/>
                </a:rPr>
                <a:t>H</a:t>
              </a:r>
              <a:r>
                <a:rPr lang="en-US" altLang="zh-CN" sz="2800" b="1" baseline="-25000">
                  <a:solidFill>
                    <a:srgbClr val="000099"/>
                  </a:solidFill>
                  <a:ea typeface="黑体" panose="02010609060101010101" pitchFamily="49" charset="-122"/>
                </a:rPr>
                <a:t>5</a:t>
              </a:r>
              <a:endParaRPr lang="en-US" altLang="zh-CN" sz="2800" b="1">
                <a:solidFill>
                  <a:srgbClr val="000099"/>
                </a:solidFill>
                <a:ea typeface="黑体" panose="02010609060101010101" pitchFamily="49" charset="-122"/>
              </a:endParaRPr>
            </a:p>
          </p:txBody>
        </p:sp>
        <p:sp>
          <p:nvSpPr>
            <p:cNvPr id="85018" name="Text Box 27"/>
            <p:cNvSpPr txBox="1">
              <a:spLocks noChangeArrowheads="1"/>
            </p:cNvSpPr>
            <p:nvPr/>
          </p:nvSpPr>
          <p:spPr bwMode="auto">
            <a:xfrm>
              <a:off x="2787866" y="578024"/>
              <a:ext cx="5774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99"/>
                  </a:solidFill>
                  <a:ea typeface="黑体" panose="02010609060101010101" pitchFamily="49" charset="-122"/>
                </a:rPr>
                <a:t>H</a:t>
              </a:r>
              <a:r>
                <a:rPr lang="en-US" altLang="zh-CN" sz="2800" b="1" baseline="-25000">
                  <a:solidFill>
                    <a:srgbClr val="000099"/>
                  </a:solidFill>
                  <a:ea typeface="黑体" panose="02010609060101010101" pitchFamily="49" charset="-122"/>
                </a:rPr>
                <a:t>2</a:t>
              </a:r>
              <a:endParaRPr lang="en-US" altLang="zh-CN" sz="2800" b="1">
                <a:solidFill>
                  <a:srgbClr val="000099"/>
                </a:solidFill>
                <a:ea typeface="黑体" panose="02010609060101010101" pitchFamily="49" charset="-122"/>
              </a:endParaRPr>
            </a:p>
          </p:txBody>
        </p:sp>
        <p:sp>
          <p:nvSpPr>
            <p:cNvPr id="85019" name="Text Box 28"/>
            <p:cNvSpPr txBox="1">
              <a:spLocks noChangeArrowheads="1"/>
            </p:cNvSpPr>
            <p:nvPr/>
          </p:nvSpPr>
          <p:spPr bwMode="auto">
            <a:xfrm>
              <a:off x="7004795" y="235124"/>
              <a:ext cx="5774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99"/>
                  </a:solidFill>
                  <a:ea typeface="黑体" panose="02010609060101010101" pitchFamily="49" charset="-122"/>
                </a:rPr>
                <a:t>H</a:t>
              </a:r>
              <a:r>
                <a:rPr lang="en-US" altLang="zh-CN" sz="2800" b="1" baseline="-25000">
                  <a:solidFill>
                    <a:srgbClr val="000099"/>
                  </a:solidFill>
                  <a:ea typeface="黑体" panose="02010609060101010101" pitchFamily="49" charset="-122"/>
                </a:rPr>
                <a:t>4</a:t>
              </a:r>
              <a:endParaRPr lang="en-US" altLang="zh-CN" sz="2800" b="1">
                <a:solidFill>
                  <a:srgbClr val="000099"/>
                </a:solidFill>
                <a:ea typeface="黑体" panose="02010609060101010101" pitchFamily="49" charset="-122"/>
              </a:endParaRPr>
            </a:p>
          </p:txBody>
        </p:sp>
        <p:sp>
          <p:nvSpPr>
            <p:cNvPr id="85020" name="Text Box 29"/>
            <p:cNvSpPr txBox="1">
              <a:spLocks noChangeArrowheads="1"/>
            </p:cNvSpPr>
            <p:nvPr/>
          </p:nvSpPr>
          <p:spPr bwMode="auto">
            <a:xfrm>
              <a:off x="3142143" y="5618336"/>
              <a:ext cx="5774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99"/>
                  </a:solidFill>
                  <a:ea typeface="黑体" panose="02010609060101010101" pitchFamily="49" charset="-122"/>
                </a:rPr>
                <a:t>H</a:t>
              </a:r>
              <a:r>
                <a:rPr lang="en-US" altLang="zh-CN" sz="2800" b="1" baseline="-25000">
                  <a:solidFill>
                    <a:srgbClr val="000099"/>
                  </a:solidFill>
                  <a:ea typeface="黑体" panose="02010609060101010101" pitchFamily="49" charset="-122"/>
                </a:rPr>
                <a:t>3</a:t>
              </a:r>
              <a:endParaRPr lang="en-US" altLang="zh-CN" sz="2800" b="1">
                <a:solidFill>
                  <a:srgbClr val="000099"/>
                </a:solidFill>
                <a:ea typeface="黑体" panose="02010609060101010101" pitchFamily="49" charset="-122"/>
              </a:endParaRPr>
            </a:p>
          </p:txBody>
        </p:sp>
        <p:sp>
          <p:nvSpPr>
            <p:cNvPr id="85021" name="Line 30"/>
            <p:cNvSpPr>
              <a:spLocks noChangeShapeType="1"/>
            </p:cNvSpPr>
            <p:nvPr/>
          </p:nvSpPr>
          <p:spPr bwMode="auto">
            <a:xfrm flipV="1">
              <a:off x="6817337" y="2536999"/>
              <a:ext cx="1200415" cy="796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22" name="Text Box 31"/>
            <p:cNvSpPr txBox="1">
              <a:spLocks noChangeArrowheads="1"/>
            </p:cNvSpPr>
            <p:nvPr/>
          </p:nvSpPr>
          <p:spPr bwMode="auto">
            <a:xfrm>
              <a:off x="8455268" y="1811878"/>
              <a:ext cx="5774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99"/>
                  </a:solidFill>
                  <a:ea typeface="黑体" panose="02010609060101010101" pitchFamily="49" charset="-122"/>
                </a:rPr>
                <a:t>H</a:t>
              </a:r>
              <a:r>
                <a:rPr lang="en-US" altLang="zh-CN" sz="2800" b="1" baseline="-25000">
                  <a:solidFill>
                    <a:srgbClr val="000099"/>
                  </a:solidFill>
                  <a:ea typeface="黑体" panose="02010609060101010101" pitchFamily="49" charset="-122"/>
                </a:rPr>
                <a:t>6</a:t>
              </a:r>
              <a:endParaRPr lang="en-US" altLang="zh-CN" sz="2800" b="1">
                <a:solidFill>
                  <a:srgbClr val="000099"/>
                </a:solidFill>
                <a:ea typeface="黑体" panose="02010609060101010101" pitchFamily="49" charset="-122"/>
              </a:endParaRPr>
            </a:p>
          </p:txBody>
        </p:sp>
        <p:pic>
          <p:nvPicPr>
            <p:cNvPr id="85023" name="Picture 3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42675" y="351012"/>
              <a:ext cx="773906"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24" name="Picture 3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33987" y="1944862"/>
              <a:ext cx="780785"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25" name="Picture 3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474" y="3554586"/>
              <a:ext cx="777346"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26" name="Picture 3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61520" y="5638974"/>
              <a:ext cx="777346"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27" name="Picture 3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20985" y="4545187"/>
              <a:ext cx="78078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28"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95204" y="590724"/>
              <a:ext cx="78078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29" name="Picture 3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27880" y="1921048"/>
              <a:ext cx="825500"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30" name="Picture 3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04172" y="1303512"/>
              <a:ext cx="8255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31" name="Picture 4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73883" y="3149774"/>
              <a:ext cx="8255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32" name="Picture 4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33454" y="4629324"/>
              <a:ext cx="8255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33" name="Picture 4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521297" y="3519662"/>
              <a:ext cx="825500" cy="52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5034" name="Group 43"/>
            <p:cNvGrpSpPr>
              <a:grpSpLocks/>
            </p:cNvGrpSpPr>
            <p:nvPr/>
          </p:nvGrpSpPr>
          <p:grpSpPr bwMode="auto">
            <a:xfrm>
              <a:off x="4265167" y="1425748"/>
              <a:ext cx="803143" cy="617538"/>
              <a:chOff x="2949" y="196"/>
              <a:chExt cx="941" cy="598"/>
            </a:xfrm>
          </p:grpSpPr>
          <p:sp>
            <p:nvSpPr>
              <p:cNvPr id="85035" name="Oval 44"/>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36" name="Oval 45"/>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37" name="Oval 46"/>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38" name="Oval 47"/>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39" name="Oval 48"/>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40" name="Oval 49"/>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41" name="Oval 50"/>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42" name="Oval 51"/>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43" name="Freeform 52"/>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044" name="Freeform 53"/>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045" name="Freeform 54"/>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85046" name="Group 55"/>
            <p:cNvGrpSpPr>
              <a:grpSpLocks/>
            </p:cNvGrpSpPr>
            <p:nvPr/>
          </p:nvGrpSpPr>
          <p:grpSpPr bwMode="auto">
            <a:xfrm rot="867730">
              <a:off x="4533453" y="2411586"/>
              <a:ext cx="1205575" cy="741362"/>
              <a:chOff x="2949" y="196"/>
              <a:chExt cx="941" cy="598"/>
            </a:xfrm>
          </p:grpSpPr>
          <p:sp>
            <p:nvSpPr>
              <p:cNvPr id="85047" name="Oval 56"/>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48" name="Oval 57"/>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49" name="Oval 58"/>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50" name="Oval 59"/>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51" name="Oval 60"/>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52" name="Oval 61"/>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53" name="Oval 62"/>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54" name="Oval 63"/>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55" name="Freeform 64"/>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056" name="Freeform 65"/>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057" name="Freeform 66"/>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85058" name="Group 67"/>
            <p:cNvGrpSpPr>
              <a:grpSpLocks/>
            </p:cNvGrpSpPr>
            <p:nvPr/>
          </p:nvGrpSpPr>
          <p:grpSpPr bwMode="auto">
            <a:xfrm>
              <a:off x="6944601" y="2659236"/>
              <a:ext cx="804863" cy="615950"/>
              <a:chOff x="2949" y="196"/>
              <a:chExt cx="941" cy="598"/>
            </a:xfrm>
          </p:grpSpPr>
          <p:sp>
            <p:nvSpPr>
              <p:cNvPr id="85059" name="Oval 68"/>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60" name="Oval 69"/>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61" name="Oval 70"/>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62" name="Oval 71"/>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63" name="Oval 72"/>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64" name="Oval 73"/>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65" name="Oval 74"/>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66" name="Oval 75"/>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67" name="Freeform 76"/>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068" name="Freeform 77"/>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069" name="Freeform 78"/>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85070" name="Group 79"/>
            <p:cNvGrpSpPr>
              <a:grpSpLocks/>
            </p:cNvGrpSpPr>
            <p:nvPr/>
          </p:nvGrpSpPr>
          <p:grpSpPr bwMode="auto">
            <a:xfrm rot="-448665">
              <a:off x="5739029" y="2043287"/>
              <a:ext cx="1205573" cy="739775"/>
              <a:chOff x="2949" y="196"/>
              <a:chExt cx="941" cy="598"/>
            </a:xfrm>
          </p:grpSpPr>
          <p:sp>
            <p:nvSpPr>
              <p:cNvPr id="85071" name="Oval 80"/>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72" name="Oval 81"/>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73" name="Oval 82"/>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74" name="Oval 83"/>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75" name="Oval 84"/>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76" name="Oval 85"/>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77" name="Oval 86"/>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78" name="Oval 87"/>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79" name="Freeform 88"/>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080" name="Freeform 89"/>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081" name="Freeform 90"/>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85082" name="Group 91"/>
            <p:cNvGrpSpPr>
              <a:grpSpLocks/>
            </p:cNvGrpSpPr>
            <p:nvPr/>
          </p:nvGrpSpPr>
          <p:grpSpPr bwMode="auto">
            <a:xfrm>
              <a:off x="3730312" y="3149773"/>
              <a:ext cx="1337998" cy="863600"/>
              <a:chOff x="2949" y="196"/>
              <a:chExt cx="941" cy="598"/>
            </a:xfrm>
          </p:grpSpPr>
          <p:sp>
            <p:nvSpPr>
              <p:cNvPr id="85083" name="Oval 92"/>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84" name="Oval 93"/>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85" name="Oval 94"/>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86" name="Oval 95"/>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87" name="Oval 96"/>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88" name="Oval 97"/>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89" name="Oval 98"/>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90" name="Oval 99"/>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91" name="Freeform 100"/>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092" name="Freeform 101"/>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093" name="Freeform 102"/>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85094" name="Group 103"/>
            <p:cNvGrpSpPr>
              <a:grpSpLocks/>
            </p:cNvGrpSpPr>
            <p:nvPr/>
          </p:nvGrpSpPr>
          <p:grpSpPr bwMode="auto">
            <a:xfrm rot="-485573">
              <a:off x="5338316" y="3765724"/>
              <a:ext cx="1205575" cy="741363"/>
              <a:chOff x="2949" y="196"/>
              <a:chExt cx="941" cy="598"/>
            </a:xfrm>
          </p:grpSpPr>
          <p:sp>
            <p:nvSpPr>
              <p:cNvPr id="85095" name="Oval 104"/>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96" name="Oval 105"/>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97" name="Oval 106"/>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98" name="Oval 107"/>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99" name="Oval 108"/>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00" name="Oval 109"/>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01" name="Oval 110"/>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02" name="Oval 111"/>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03" name="Freeform 112"/>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104" name="Freeform 113"/>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105" name="Freeform 114"/>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85106" name="Group 115"/>
            <p:cNvGrpSpPr>
              <a:grpSpLocks/>
            </p:cNvGrpSpPr>
            <p:nvPr/>
          </p:nvGrpSpPr>
          <p:grpSpPr bwMode="auto">
            <a:xfrm rot="-2399024">
              <a:off x="6812178" y="3891136"/>
              <a:ext cx="803142" cy="615950"/>
              <a:chOff x="2949" y="196"/>
              <a:chExt cx="941" cy="598"/>
            </a:xfrm>
          </p:grpSpPr>
          <p:sp>
            <p:nvSpPr>
              <p:cNvPr id="85107" name="Oval 116"/>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08" name="Oval 117"/>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09" name="Oval 118"/>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10" name="Oval 119"/>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11" name="Oval 120"/>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12" name="Oval 121"/>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13" name="Oval 122"/>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14" name="Oval 123"/>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15" name="Freeform 124"/>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116" name="Freeform 125"/>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117" name="Freeform 126"/>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85118" name="Group 127"/>
            <p:cNvGrpSpPr>
              <a:grpSpLocks/>
            </p:cNvGrpSpPr>
            <p:nvPr/>
          </p:nvGrpSpPr>
          <p:grpSpPr bwMode="auto">
            <a:xfrm rot="651098">
              <a:off x="4191216" y="5188123"/>
              <a:ext cx="803142" cy="495300"/>
              <a:chOff x="2949" y="196"/>
              <a:chExt cx="941" cy="598"/>
            </a:xfrm>
          </p:grpSpPr>
          <p:sp>
            <p:nvSpPr>
              <p:cNvPr id="85119" name="Oval 128"/>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20" name="Oval 129"/>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21" name="Oval 130"/>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22" name="Oval 131"/>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23" name="Oval 132"/>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24" name="Oval 133"/>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25" name="Oval 134"/>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26" name="Oval 135"/>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27" name="Freeform 136"/>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128" name="Freeform 137"/>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129" name="Freeform 138"/>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85130" name="Group 139"/>
            <p:cNvGrpSpPr>
              <a:grpSpLocks/>
            </p:cNvGrpSpPr>
            <p:nvPr/>
          </p:nvGrpSpPr>
          <p:grpSpPr bwMode="auto">
            <a:xfrm rot="-564615">
              <a:off x="3192016" y="4135611"/>
              <a:ext cx="804863" cy="615950"/>
              <a:chOff x="2949" y="196"/>
              <a:chExt cx="941" cy="598"/>
            </a:xfrm>
          </p:grpSpPr>
          <p:sp>
            <p:nvSpPr>
              <p:cNvPr id="85131" name="Oval 140"/>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32" name="Oval 141"/>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33" name="Oval 142"/>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34" name="Oval 143"/>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35" name="Oval 144"/>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36" name="Oval 145"/>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37" name="Oval 146"/>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38" name="Oval 147"/>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39" name="Freeform 148"/>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140" name="Freeform 149"/>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141" name="Freeform 150"/>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85142" name="Group 151"/>
            <p:cNvGrpSpPr>
              <a:grpSpLocks/>
            </p:cNvGrpSpPr>
            <p:nvPr/>
          </p:nvGrpSpPr>
          <p:grpSpPr bwMode="auto">
            <a:xfrm rot="1237793">
              <a:off x="5960880" y="1097137"/>
              <a:ext cx="593329" cy="388937"/>
              <a:chOff x="2949" y="196"/>
              <a:chExt cx="941" cy="598"/>
            </a:xfrm>
          </p:grpSpPr>
          <p:sp>
            <p:nvSpPr>
              <p:cNvPr id="85143" name="Oval 152"/>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44" name="Oval 153"/>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45" name="Oval 154"/>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46" name="Oval 155"/>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47" name="Oval 156"/>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48" name="Oval 157"/>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49" name="Oval 158"/>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50" name="Oval 159"/>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51" name="Freeform 160"/>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152" name="Freeform 161"/>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153" name="Freeform 162"/>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85154" name="Group 163"/>
            <p:cNvGrpSpPr>
              <a:grpSpLocks/>
            </p:cNvGrpSpPr>
            <p:nvPr/>
          </p:nvGrpSpPr>
          <p:grpSpPr bwMode="auto">
            <a:xfrm rot="1582351">
              <a:off x="2789585" y="2659236"/>
              <a:ext cx="804863" cy="615950"/>
              <a:chOff x="2949" y="196"/>
              <a:chExt cx="941" cy="598"/>
            </a:xfrm>
          </p:grpSpPr>
          <p:sp>
            <p:nvSpPr>
              <p:cNvPr id="85155" name="Oval 164"/>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56" name="Oval 165"/>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57" name="Oval 166"/>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58" name="Oval 167"/>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59" name="Oval 168"/>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60" name="Oval 169"/>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61" name="Oval 170"/>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62" name="Oval 171"/>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63" name="Freeform 172"/>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164" name="Freeform 173"/>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165" name="Freeform 174"/>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85166" name="Group 175"/>
            <p:cNvGrpSpPr>
              <a:grpSpLocks/>
            </p:cNvGrpSpPr>
            <p:nvPr/>
          </p:nvGrpSpPr>
          <p:grpSpPr bwMode="auto">
            <a:xfrm rot="-311414">
              <a:off x="3377754" y="1416223"/>
              <a:ext cx="595048" cy="387350"/>
              <a:chOff x="2949" y="196"/>
              <a:chExt cx="941" cy="598"/>
            </a:xfrm>
          </p:grpSpPr>
          <p:sp>
            <p:nvSpPr>
              <p:cNvPr id="85167" name="Oval 176"/>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68" name="Oval 177"/>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69" name="Oval 178"/>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70" name="Oval 179"/>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71" name="Oval 180"/>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72" name="Oval 181"/>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73" name="Oval 182"/>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74" name="Oval 183"/>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75" name="Freeform 184"/>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176" name="Freeform 185"/>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177" name="Freeform 186"/>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85178" name="Group 187"/>
            <p:cNvGrpSpPr>
              <a:grpSpLocks/>
            </p:cNvGrpSpPr>
            <p:nvPr/>
          </p:nvGrpSpPr>
          <p:grpSpPr bwMode="auto">
            <a:xfrm rot="5241567">
              <a:off x="1752882" y="3622384"/>
              <a:ext cx="730250" cy="527977"/>
              <a:chOff x="2949" y="196"/>
              <a:chExt cx="941" cy="598"/>
            </a:xfrm>
          </p:grpSpPr>
          <p:sp>
            <p:nvSpPr>
              <p:cNvPr id="85179" name="Oval 188"/>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80" name="Oval 189"/>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81" name="Oval 190"/>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82" name="Oval 191"/>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83" name="Oval 192"/>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84" name="Oval 193"/>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85" name="Oval 194"/>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86" name="Oval 195"/>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87" name="Freeform 196"/>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188" name="Freeform 197"/>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189" name="Freeform 198"/>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85190" name="Text Box 200"/>
            <p:cNvSpPr txBox="1">
              <a:spLocks noChangeArrowheads="1"/>
            </p:cNvSpPr>
            <p:nvPr/>
          </p:nvSpPr>
          <p:spPr bwMode="auto">
            <a:xfrm>
              <a:off x="1047436" y="1082849"/>
              <a:ext cx="126188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000099"/>
                  </a:solidFill>
                  <a:ea typeface="黑体" panose="02010609060101010101" pitchFamily="49" charset="-122"/>
                </a:rPr>
                <a:t>路由器</a:t>
              </a:r>
            </a:p>
          </p:txBody>
        </p:sp>
        <p:sp>
          <p:nvSpPr>
            <p:cNvPr id="85191" name="Line 201"/>
            <p:cNvSpPr>
              <a:spLocks noChangeShapeType="1"/>
            </p:cNvSpPr>
            <p:nvPr/>
          </p:nvSpPr>
          <p:spPr bwMode="auto">
            <a:xfrm>
              <a:off x="2254730" y="1551162"/>
              <a:ext cx="1073150" cy="4921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85192" name="Text Box 202"/>
            <p:cNvSpPr txBox="1">
              <a:spLocks noChangeArrowheads="1"/>
            </p:cNvSpPr>
            <p:nvPr/>
          </p:nvSpPr>
          <p:spPr bwMode="auto">
            <a:xfrm>
              <a:off x="1236614" y="1801986"/>
              <a:ext cx="90281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000099"/>
                  </a:solidFill>
                  <a:ea typeface="黑体" panose="02010609060101010101" pitchFamily="49" charset="-122"/>
                </a:rPr>
                <a:t>网络</a:t>
              </a:r>
            </a:p>
          </p:txBody>
        </p:sp>
        <p:sp>
          <p:nvSpPr>
            <p:cNvPr id="85193" name="Line 203"/>
            <p:cNvSpPr>
              <a:spLocks noChangeShapeType="1"/>
            </p:cNvSpPr>
            <p:nvPr/>
          </p:nvSpPr>
          <p:spPr bwMode="auto">
            <a:xfrm>
              <a:off x="2118866" y="2289349"/>
              <a:ext cx="804863" cy="4921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85194" name="Line 205"/>
            <p:cNvSpPr>
              <a:spLocks noChangeShapeType="1"/>
            </p:cNvSpPr>
            <p:nvPr/>
          </p:nvSpPr>
          <p:spPr bwMode="auto">
            <a:xfrm>
              <a:off x="5145700" y="638349"/>
              <a:ext cx="58473" cy="542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85195" name="Text Box 206"/>
            <p:cNvSpPr txBox="1">
              <a:spLocks noChangeArrowheads="1"/>
            </p:cNvSpPr>
            <p:nvPr/>
          </p:nvSpPr>
          <p:spPr bwMode="auto">
            <a:xfrm>
              <a:off x="512581" y="2792586"/>
              <a:ext cx="90281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000099"/>
                  </a:solidFill>
                  <a:ea typeface="黑体" panose="02010609060101010101" pitchFamily="49" charset="-122"/>
                </a:rPr>
                <a:t>主机</a:t>
              </a:r>
            </a:p>
          </p:txBody>
        </p:sp>
      </p:grpSp>
      <p:sp>
        <p:nvSpPr>
          <p:cNvPr id="85196" name="矩形 1"/>
          <p:cNvSpPr>
            <a:spLocks noChangeArrowheads="1"/>
          </p:cNvSpPr>
          <p:nvPr/>
        </p:nvSpPr>
        <p:spPr bwMode="auto">
          <a:xfrm>
            <a:off x="2847975" y="6064250"/>
            <a:ext cx="42275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分组交换的示意图</a:t>
            </a:r>
            <a:endParaRPr lang="zh-CN" altLang="en-US" sz="2400" b="1">
              <a:ea typeface="黑体" panose="02010609060101010101" pitchFamily="49" charset="-122"/>
            </a:endParaRPr>
          </a:p>
        </p:txBody>
      </p:sp>
      <p:sp>
        <p:nvSpPr>
          <p:cNvPr id="85197" name="矩形 2"/>
          <p:cNvSpPr>
            <a:spLocks noChangeArrowheads="1"/>
          </p:cNvSpPr>
          <p:nvPr/>
        </p:nvSpPr>
        <p:spPr bwMode="auto">
          <a:xfrm>
            <a:off x="2681288" y="5637213"/>
            <a:ext cx="45751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ea typeface="黑体" panose="02010609060101010101" pitchFamily="49" charset="-122"/>
              </a:rPr>
              <a:t>(a) </a:t>
            </a:r>
            <a:r>
              <a:rPr lang="zh-CN" altLang="zh-CN" sz="2000" b="1">
                <a:ea typeface="黑体" panose="02010609060101010101" pitchFamily="49" charset="-122"/>
              </a:rPr>
              <a:t>核心部分的路由器把网络互连起来</a:t>
            </a:r>
            <a:endParaRPr lang="zh-CN" altLang="en-US" sz="2000" b="1">
              <a:ea typeface="黑体" panose="02010609060101010101" pitchFamily="49" charset="-122"/>
            </a:endParaRPr>
          </a:p>
        </p:txBody>
      </p:sp>
      <p:sp>
        <p:nvSpPr>
          <p:cNvPr id="85198" name="灯片编号占位符 6"/>
          <p:cNvSpPr>
            <a:spLocks noGrp="1" noChangeArrowheads="1"/>
          </p:cNvSpPr>
          <p:nvPr>
            <p:ph type="sldNum" sz="quarter" idx="4294967295"/>
          </p:nvPr>
        </p:nvSpPr>
        <p:spPr>
          <a:xfrm>
            <a:off x="7099300" y="6356350"/>
            <a:ext cx="23114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68618A41-170E-426E-9CC7-58A94EF6917E}" type="slidenum">
              <a:rPr lang="zh-CN" altLang="en-US" smtClean="0"/>
              <a:pPr/>
              <a:t>52</a:t>
            </a:fld>
            <a:endParaRPr lang="en-US" altLang="zh-CN" smtClean="0"/>
          </a:p>
        </p:txBody>
      </p:sp>
      <p:sp>
        <p:nvSpPr>
          <p:cNvPr id="85199" name="页脚占位符 7"/>
          <p:cNvSpPr>
            <a:spLocks noGrp="1" noChangeArrowheads="1"/>
          </p:cNvSpPr>
          <p:nvPr>
            <p:ph type="ftr" sz="quarter" idx="4294967295"/>
          </p:nvPr>
        </p:nvSpPr>
        <p:spPr>
          <a:xfrm>
            <a:off x="3384550" y="6356350"/>
            <a:ext cx="31369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Text Box 72"/>
          <p:cNvSpPr txBox="1">
            <a:spLocks noChangeArrowheads="1"/>
          </p:cNvSpPr>
          <p:nvPr/>
        </p:nvSpPr>
        <p:spPr bwMode="auto">
          <a:xfrm>
            <a:off x="3513138" y="44450"/>
            <a:ext cx="26463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3200" b="1">
                <a:solidFill>
                  <a:srgbClr val="C00000"/>
                </a:solidFill>
                <a:ea typeface="黑体" panose="02010609060101010101" pitchFamily="49" charset="-122"/>
              </a:rPr>
              <a:t>网络核心部分</a:t>
            </a:r>
          </a:p>
        </p:txBody>
      </p:sp>
      <p:grpSp>
        <p:nvGrpSpPr>
          <p:cNvPr id="87042" name="组合 1"/>
          <p:cNvGrpSpPr>
            <a:grpSpLocks/>
          </p:cNvGrpSpPr>
          <p:nvPr/>
        </p:nvGrpSpPr>
        <p:grpSpPr bwMode="auto">
          <a:xfrm>
            <a:off x="498475" y="401638"/>
            <a:ext cx="8199438" cy="5259387"/>
            <a:chOff x="384146" y="401639"/>
            <a:chExt cx="8809861" cy="5764211"/>
          </a:xfrm>
        </p:grpSpPr>
        <p:sp>
          <p:nvSpPr>
            <p:cNvPr id="87043" name="Oval 4"/>
            <p:cNvSpPr>
              <a:spLocks noChangeArrowheads="1"/>
            </p:cNvSpPr>
            <p:nvPr/>
          </p:nvSpPr>
          <p:spPr bwMode="auto">
            <a:xfrm rot="-1674972">
              <a:off x="2477133" y="1514475"/>
              <a:ext cx="2665677" cy="1519238"/>
            </a:xfrm>
            <a:prstGeom prst="ellipse">
              <a:avLst/>
            </a:prstGeom>
            <a:solidFill>
              <a:schemeClr val="bg1"/>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44" name="Oval 5"/>
            <p:cNvSpPr>
              <a:spLocks noChangeArrowheads="1"/>
            </p:cNvSpPr>
            <p:nvPr/>
          </p:nvSpPr>
          <p:spPr bwMode="auto">
            <a:xfrm rot="-774972">
              <a:off x="4262276" y="1208088"/>
              <a:ext cx="2328598" cy="1409700"/>
            </a:xfrm>
            <a:prstGeom prst="ellipse">
              <a:avLst/>
            </a:prstGeom>
            <a:solidFill>
              <a:schemeClr val="bg1"/>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45" name="Oval 6"/>
            <p:cNvSpPr>
              <a:spLocks noChangeArrowheads="1"/>
            </p:cNvSpPr>
            <p:nvPr/>
          </p:nvSpPr>
          <p:spPr bwMode="auto">
            <a:xfrm rot="-174972">
              <a:off x="5964870" y="1722439"/>
              <a:ext cx="1718071" cy="1824037"/>
            </a:xfrm>
            <a:prstGeom prst="ellipse">
              <a:avLst/>
            </a:prstGeom>
            <a:solidFill>
              <a:schemeClr val="bg1"/>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46" name="Oval 7"/>
            <p:cNvSpPr>
              <a:spLocks noChangeArrowheads="1"/>
            </p:cNvSpPr>
            <p:nvPr/>
          </p:nvSpPr>
          <p:spPr bwMode="auto">
            <a:xfrm rot="-3234972">
              <a:off x="6326025" y="2658534"/>
              <a:ext cx="1506537" cy="1602846"/>
            </a:xfrm>
            <a:prstGeom prst="ellipse">
              <a:avLst/>
            </a:prstGeom>
            <a:solidFill>
              <a:schemeClr val="bg1"/>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47" name="Oval 8"/>
            <p:cNvSpPr>
              <a:spLocks noChangeArrowheads="1"/>
            </p:cNvSpPr>
            <p:nvPr/>
          </p:nvSpPr>
          <p:spPr bwMode="auto">
            <a:xfrm rot="-1674972">
              <a:off x="4332788" y="3530601"/>
              <a:ext cx="2915047" cy="1693863"/>
            </a:xfrm>
            <a:prstGeom prst="ellipse">
              <a:avLst/>
            </a:prstGeom>
            <a:solidFill>
              <a:schemeClr val="bg1"/>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48" name="Oval 9"/>
            <p:cNvSpPr>
              <a:spLocks noChangeArrowheads="1"/>
            </p:cNvSpPr>
            <p:nvPr/>
          </p:nvSpPr>
          <p:spPr bwMode="auto">
            <a:xfrm rot="-594972">
              <a:off x="3187405" y="4246564"/>
              <a:ext cx="2084388" cy="1169987"/>
            </a:xfrm>
            <a:prstGeom prst="ellipse">
              <a:avLst/>
            </a:prstGeom>
            <a:solidFill>
              <a:schemeClr val="bg1"/>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49" name="Oval 10"/>
            <p:cNvSpPr>
              <a:spLocks noChangeArrowheads="1"/>
            </p:cNvSpPr>
            <p:nvPr/>
          </p:nvSpPr>
          <p:spPr bwMode="auto">
            <a:xfrm rot="-1674972">
              <a:off x="2387703" y="3736975"/>
              <a:ext cx="1319080" cy="1384300"/>
            </a:xfrm>
            <a:prstGeom prst="ellipse">
              <a:avLst/>
            </a:prstGeom>
            <a:solidFill>
              <a:schemeClr val="bg1"/>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50" name="Oval 11"/>
            <p:cNvSpPr>
              <a:spLocks noChangeArrowheads="1"/>
            </p:cNvSpPr>
            <p:nvPr/>
          </p:nvSpPr>
          <p:spPr bwMode="auto">
            <a:xfrm rot="-3534972">
              <a:off x="2141707" y="2695509"/>
              <a:ext cx="1525588" cy="1322519"/>
            </a:xfrm>
            <a:prstGeom prst="ellipse">
              <a:avLst/>
            </a:prstGeom>
            <a:solidFill>
              <a:schemeClr val="bg1"/>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51" name="Freeform 12"/>
            <p:cNvSpPr>
              <a:spLocks noChangeArrowheads="1"/>
            </p:cNvSpPr>
            <p:nvPr/>
          </p:nvSpPr>
          <p:spPr bwMode="auto">
            <a:xfrm>
              <a:off x="2509808" y="1473200"/>
              <a:ext cx="5071666" cy="3690938"/>
            </a:xfrm>
            <a:custGeom>
              <a:avLst/>
              <a:gdLst>
                <a:gd name="T0" fmla="*/ 579 w 1931"/>
                <a:gd name="T1" fmla="*/ 263 h 1684"/>
                <a:gd name="T2" fmla="*/ 632 w 1931"/>
                <a:gd name="T3" fmla="*/ 168 h 1684"/>
                <a:gd name="T4" fmla="*/ 695 w 1931"/>
                <a:gd name="T5" fmla="*/ 126 h 1684"/>
                <a:gd name="T6" fmla="*/ 916 w 1931"/>
                <a:gd name="T7" fmla="*/ 115 h 1684"/>
                <a:gd name="T8" fmla="*/ 1095 w 1931"/>
                <a:gd name="T9" fmla="*/ 52 h 1684"/>
                <a:gd name="T10" fmla="*/ 1158 w 1931"/>
                <a:gd name="T11" fmla="*/ 21 h 1684"/>
                <a:gd name="T12" fmla="*/ 1221 w 1931"/>
                <a:gd name="T13" fmla="*/ 0 h 1684"/>
                <a:gd name="T14" fmla="*/ 1337 w 1931"/>
                <a:gd name="T15" fmla="*/ 42 h 1684"/>
                <a:gd name="T16" fmla="*/ 1400 w 1931"/>
                <a:gd name="T17" fmla="*/ 84 h 1684"/>
                <a:gd name="T18" fmla="*/ 1432 w 1931"/>
                <a:gd name="T19" fmla="*/ 105 h 1684"/>
                <a:gd name="T20" fmla="*/ 1505 w 1931"/>
                <a:gd name="T21" fmla="*/ 158 h 1684"/>
                <a:gd name="T22" fmla="*/ 1526 w 1931"/>
                <a:gd name="T23" fmla="*/ 189 h 1684"/>
                <a:gd name="T24" fmla="*/ 1558 w 1931"/>
                <a:gd name="T25" fmla="*/ 210 h 1684"/>
                <a:gd name="T26" fmla="*/ 1653 w 1931"/>
                <a:gd name="T27" fmla="*/ 294 h 1684"/>
                <a:gd name="T28" fmla="*/ 1737 w 1931"/>
                <a:gd name="T29" fmla="*/ 368 h 1684"/>
                <a:gd name="T30" fmla="*/ 1800 w 1931"/>
                <a:gd name="T31" fmla="*/ 389 h 1684"/>
                <a:gd name="T32" fmla="*/ 1832 w 1931"/>
                <a:gd name="T33" fmla="*/ 410 h 1684"/>
                <a:gd name="T34" fmla="*/ 1916 w 1931"/>
                <a:gd name="T35" fmla="*/ 589 h 1684"/>
                <a:gd name="T36" fmla="*/ 1842 w 1931"/>
                <a:gd name="T37" fmla="*/ 1084 h 1684"/>
                <a:gd name="T38" fmla="*/ 1769 w 1931"/>
                <a:gd name="T39" fmla="*/ 1168 h 1684"/>
                <a:gd name="T40" fmla="*/ 1653 w 1931"/>
                <a:gd name="T41" fmla="*/ 1284 h 1684"/>
                <a:gd name="T42" fmla="*/ 1590 w 1931"/>
                <a:gd name="T43" fmla="*/ 1347 h 1684"/>
                <a:gd name="T44" fmla="*/ 1558 w 1931"/>
                <a:gd name="T45" fmla="*/ 1368 h 1684"/>
                <a:gd name="T46" fmla="*/ 1474 w 1931"/>
                <a:gd name="T47" fmla="*/ 1431 h 1684"/>
                <a:gd name="T48" fmla="*/ 1411 w 1931"/>
                <a:gd name="T49" fmla="*/ 1453 h 1684"/>
                <a:gd name="T50" fmla="*/ 1253 w 1931"/>
                <a:gd name="T51" fmla="*/ 1579 h 1684"/>
                <a:gd name="T52" fmla="*/ 1190 w 1931"/>
                <a:gd name="T53" fmla="*/ 1621 h 1684"/>
                <a:gd name="T54" fmla="*/ 1000 w 1931"/>
                <a:gd name="T55" fmla="*/ 1684 h 1684"/>
                <a:gd name="T56" fmla="*/ 432 w 1931"/>
                <a:gd name="T57" fmla="*/ 1653 h 1684"/>
                <a:gd name="T58" fmla="*/ 337 w 1931"/>
                <a:gd name="T59" fmla="*/ 1621 h 1684"/>
                <a:gd name="T60" fmla="*/ 242 w 1931"/>
                <a:gd name="T61" fmla="*/ 1558 h 1684"/>
                <a:gd name="T62" fmla="*/ 168 w 1931"/>
                <a:gd name="T63" fmla="*/ 1463 h 1684"/>
                <a:gd name="T64" fmla="*/ 126 w 1931"/>
                <a:gd name="T65" fmla="*/ 1400 h 1684"/>
                <a:gd name="T66" fmla="*/ 105 w 1931"/>
                <a:gd name="T67" fmla="*/ 1368 h 1684"/>
                <a:gd name="T68" fmla="*/ 21 w 1931"/>
                <a:gd name="T69" fmla="*/ 1242 h 1684"/>
                <a:gd name="T70" fmla="*/ 32 w 1931"/>
                <a:gd name="T71" fmla="*/ 1031 h 1684"/>
                <a:gd name="T72" fmla="*/ 42 w 1931"/>
                <a:gd name="T73" fmla="*/ 821 h 1684"/>
                <a:gd name="T74" fmla="*/ 84 w 1931"/>
                <a:gd name="T75" fmla="*/ 631 h 1684"/>
                <a:gd name="T76" fmla="*/ 200 w 1931"/>
                <a:gd name="T77" fmla="*/ 337 h 1684"/>
                <a:gd name="T78" fmla="*/ 242 w 1931"/>
                <a:gd name="T79" fmla="*/ 263 h 1684"/>
                <a:gd name="T80" fmla="*/ 305 w 1931"/>
                <a:gd name="T81" fmla="*/ 252 h 1684"/>
                <a:gd name="T82" fmla="*/ 326 w 1931"/>
                <a:gd name="T83" fmla="*/ 189 h 1684"/>
                <a:gd name="T84" fmla="*/ 400 w 1931"/>
                <a:gd name="T85" fmla="*/ 147 h 1684"/>
                <a:gd name="T86" fmla="*/ 432 w 1931"/>
                <a:gd name="T87" fmla="*/ 168 h 1684"/>
                <a:gd name="T88" fmla="*/ 453 w 1931"/>
                <a:gd name="T89" fmla="*/ 200 h 1684"/>
                <a:gd name="T90" fmla="*/ 537 w 1931"/>
                <a:gd name="T91" fmla="*/ 210 h 1684"/>
                <a:gd name="T92" fmla="*/ 558 w 1931"/>
                <a:gd name="T93" fmla="*/ 242 h 1684"/>
                <a:gd name="T94" fmla="*/ 579 w 1931"/>
                <a:gd name="T95" fmla="*/ 263 h 16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52" name="Line 13"/>
            <p:cNvSpPr>
              <a:spLocks noChangeShapeType="1"/>
            </p:cNvSpPr>
            <p:nvPr/>
          </p:nvSpPr>
          <p:spPr bwMode="auto">
            <a:xfrm flipV="1">
              <a:off x="3801372" y="1477964"/>
              <a:ext cx="1764506" cy="63817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53" name="Line 14"/>
            <p:cNvSpPr>
              <a:spLocks noChangeShapeType="1"/>
            </p:cNvSpPr>
            <p:nvPr/>
          </p:nvSpPr>
          <p:spPr bwMode="auto">
            <a:xfrm>
              <a:off x="5784291" y="1563689"/>
              <a:ext cx="1042194" cy="160337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54" name="Line 15"/>
            <p:cNvSpPr>
              <a:spLocks noChangeShapeType="1"/>
            </p:cNvSpPr>
            <p:nvPr/>
          </p:nvSpPr>
          <p:spPr bwMode="auto">
            <a:xfrm flipH="1">
              <a:off x="2760898" y="2219326"/>
              <a:ext cx="918369" cy="144462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55" name="Line 16"/>
            <p:cNvSpPr>
              <a:spLocks noChangeShapeType="1"/>
            </p:cNvSpPr>
            <p:nvPr/>
          </p:nvSpPr>
          <p:spPr bwMode="auto">
            <a:xfrm>
              <a:off x="2817651" y="3863976"/>
              <a:ext cx="2091267" cy="10144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56" name="Line 17"/>
            <p:cNvSpPr>
              <a:spLocks noChangeShapeType="1"/>
            </p:cNvSpPr>
            <p:nvPr/>
          </p:nvSpPr>
          <p:spPr bwMode="auto">
            <a:xfrm flipV="1">
              <a:off x="4998347" y="3484563"/>
              <a:ext cx="1828138" cy="1498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57" name="Line 18"/>
            <p:cNvSpPr>
              <a:spLocks noChangeShapeType="1"/>
            </p:cNvSpPr>
            <p:nvPr/>
          </p:nvSpPr>
          <p:spPr bwMode="auto">
            <a:xfrm>
              <a:off x="3871883" y="2227264"/>
              <a:ext cx="2933965" cy="108743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58" name="Line 19"/>
            <p:cNvSpPr>
              <a:spLocks noChangeShapeType="1"/>
            </p:cNvSpPr>
            <p:nvPr/>
          </p:nvSpPr>
          <p:spPr bwMode="auto">
            <a:xfrm>
              <a:off x="3734299" y="2043114"/>
              <a:ext cx="1377554" cy="283527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59" name="Line 20"/>
            <p:cNvSpPr>
              <a:spLocks noChangeShapeType="1"/>
            </p:cNvSpPr>
            <p:nvPr/>
          </p:nvSpPr>
          <p:spPr bwMode="auto">
            <a:xfrm flipV="1">
              <a:off x="4179726" y="4959350"/>
              <a:ext cx="880533" cy="63023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60" name="Line 21"/>
            <p:cNvSpPr>
              <a:spLocks noChangeShapeType="1"/>
            </p:cNvSpPr>
            <p:nvPr/>
          </p:nvSpPr>
          <p:spPr bwMode="auto">
            <a:xfrm rot="-5400000">
              <a:off x="6018116" y="770798"/>
              <a:ext cx="473075" cy="111270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61" name="Line 22"/>
            <p:cNvSpPr>
              <a:spLocks noChangeShapeType="1"/>
            </p:cNvSpPr>
            <p:nvPr/>
          </p:nvSpPr>
          <p:spPr bwMode="auto">
            <a:xfrm>
              <a:off x="6955470" y="3484564"/>
              <a:ext cx="880533" cy="11572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62" name="Line 23"/>
            <p:cNvSpPr>
              <a:spLocks noChangeShapeType="1"/>
            </p:cNvSpPr>
            <p:nvPr/>
          </p:nvSpPr>
          <p:spPr bwMode="auto">
            <a:xfrm>
              <a:off x="1546725" y="3787775"/>
              <a:ext cx="1227931" cy="190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63" name="Line 24"/>
            <p:cNvSpPr>
              <a:spLocks noChangeShapeType="1"/>
            </p:cNvSpPr>
            <p:nvPr/>
          </p:nvSpPr>
          <p:spPr bwMode="auto">
            <a:xfrm rot="5400000" flipH="1">
              <a:off x="3238867" y="1608799"/>
              <a:ext cx="884238" cy="344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64" name="Text Box 25"/>
            <p:cNvSpPr txBox="1">
              <a:spLocks noChangeArrowheads="1"/>
            </p:cNvSpPr>
            <p:nvPr/>
          </p:nvSpPr>
          <p:spPr bwMode="auto">
            <a:xfrm>
              <a:off x="384146" y="3411539"/>
              <a:ext cx="5774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99"/>
                  </a:solidFill>
                  <a:ea typeface="黑体" panose="02010609060101010101" pitchFamily="49" charset="-122"/>
                </a:rPr>
                <a:t>H</a:t>
              </a:r>
              <a:r>
                <a:rPr lang="en-US" altLang="zh-CN" sz="2800" b="1" baseline="-25000">
                  <a:solidFill>
                    <a:srgbClr val="000099"/>
                  </a:solidFill>
                  <a:ea typeface="黑体" panose="02010609060101010101" pitchFamily="49" charset="-122"/>
                </a:rPr>
                <a:t>1</a:t>
              </a:r>
              <a:endParaRPr lang="en-US" altLang="zh-CN" sz="2800" b="1">
                <a:solidFill>
                  <a:srgbClr val="000099"/>
                </a:solidFill>
                <a:ea typeface="黑体" panose="02010609060101010101" pitchFamily="49" charset="-122"/>
              </a:endParaRPr>
            </a:p>
          </p:txBody>
        </p:sp>
        <p:sp>
          <p:nvSpPr>
            <p:cNvPr id="87065" name="Text Box 26"/>
            <p:cNvSpPr txBox="1">
              <a:spLocks noChangeArrowheads="1"/>
            </p:cNvSpPr>
            <p:nvPr/>
          </p:nvSpPr>
          <p:spPr bwMode="auto">
            <a:xfrm>
              <a:off x="8351941" y="4300539"/>
              <a:ext cx="5774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99"/>
                  </a:solidFill>
                  <a:ea typeface="黑体" panose="02010609060101010101" pitchFamily="49" charset="-122"/>
                </a:rPr>
                <a:t>H</a:t>
              </a:r>
              <a:r>
                <a:rPr lang="en-US" altLang="zh-CN" sz="2800" b="1" baseline="-25000">
                  <a:solidFill>
                    <a:srgbClr val="000099"/>
                  </a:solidFill>
                  <a:ea typeface="黑体" panose="02010609060101010101" pitchFamily="49" charset="-122"/>
                </a:rPr>
                <a:t>5</a:t>
              </a:r>
              <a:endParaRPr lang="en-US" altLang="zh-CN" sz="2800" b="1">
                <a:solidFill>
                  <a:srgbClr val="000099"/>
                </a:solidFill>
                <a:ea typeface="黑体" panose="02010609060101010101" pitchFamily="49" charset="-122"/>
              </a:endParaRPr>
            </a:p>
          </p:txBody>
        </p:sp>
        <p:sp>
          <p:nvSpPr>
            <p:cNvPr id="87066" name="Text Box 27"/>
            <p:cNvSpPr txBox="1">
              <a:spLocks noChangeArrowheads="1"/>
            </p:cNvSpPr>
            <p:nvPr/>
          </p:nvSpPr>
          <p:spPr bwMode="auto">
            <a:xfrm>
              <a:off x="2771216" y="617539"/>
              <a:ext cx="5774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99"/>
                  </a:solidFill>
                  <a:ea typeface="黑体" panose="02010609060101010101" pitchFamily="49" charset="-122"/>
                </a:rPr>
                <a:t>H</a:t>
              </a:r>
              <a:r>
                <a:rPr lang="en-US" altLang="zh-CN" sz="2800" b="1" baseline="-25000">
                  <a:solidFill>
                    <a:srgbClr val="000099"/>
                  </a:solidFill>
                  <a:ea typeface="黑体" panose="02010609060101010101" pitchFamily="49" charset="-122"/>
                </a:rPr>
                <a:t>2</a:t>
              </a:r>
              <a:endParaRPr lang="en-US" altLang="zh-CN" sz="2800" b="1">
                <a:solidFill>
                  <a:srgbClr val="000099"/>
                </a:solidFill>
                <a:ea typeface="黑体" panose="02010609060101010101" pitchFamily="49" charset="-122"/>
              </a:endParaRPr>
            </a:p>
          </p:txBody>
        </p:sp>
        <p:sp>
          <p:nvSpPr>
            <p:cNvPr id="87067" name="Text Box 28"/>
            <p:cNvSpPr txBox="1">
              <a:spLocks noChangeArrowheads="1"/>
            </p:cNvSpPr>
            <p:nvPr/>
          </p:nvSpPr>
          <p:spPr bwMode="auto">
            <a:xfrm>
              <a:off x="7149806" y="401639"/>
              <a:ext cx="5774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99"/>
                  </a:solidFill>
                  <a:ea typeface="黑体" panose="02010609060101010101" pitchFamily="49" charset="-122"/>
                </a:rPr>
                <a:t>H</a:t>
              </a:r>
              <a:r>
                <a:rPr lang="en-US" altLang="zh-CN" sz="2800" b="1" baseline="-25000">
                  <a:solidFill>
                    <a:srgbClr val="000099"/>
                  </a:solidFill>
                  <a:ea typeface="黑体" panose="02010609060101010101" pitchFamily="49" charset="-122"/>
                </a:rPr>
                <a:t>4</a:t>
              </a:r>
              <a:endParaRPr lang="en-US" altLang="zh-CN" sz="2800" b="1">
                <a:solidFill>
                  <a:srgbClr val="000099"/>
                </a:solidFill>
                <a:ea typeface="黑体" panose="02010609060101010101" pitchFamily="49" charset="-122"/>
              </a:endParaRPr>
            </a:p>
          </p:txBody>
        </p:sp>
        <p:sp>
          <p:nvSpPr>
            <p:cNvPr id="87068" name="Text Box 29"/>
            <p:cNvSpPr txBox="1">
              <a:spLocks noChangeArrowheads="1"/>
            </p:cNvSpPr>
            <p:nvPr/>
          </p:nvSpPr>
          <p:spPr bwMode="auto">
            <a:xfrm>
              <a:off x="3173648" y="5297489"/>
              <a:ext cx="5774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99"/>
                  </a:solidFill>
                  <a:ea typeface="黑体" panose="02010609060101010101" pitchFamily="49" charset="-122"/>
                </a:rPr>
                <a:t>H</a:t>
              </a:r>
              <a:r>
                <a:rPr lang="en-US" altLang="zh-CN" sz="2800" b="1" baseline="-25000">
                  <a:solidFill>
                    <a:srgbClr val="000099"/>
                  </a:solidFill>
                  <a:ea typeface="黑体" panose="02010609060101010101" pitchFamily="49" charset="-122"/>
                </a:rPr>
                <a:t>3</a:t>
              </a:r>
              <a:endParaRPr lang="en-US" altLang="zh-CN" sz="2800" b="1">
                <a:solidFill>
                  <a:srgbClr val="000099"/>
                </a:solidFill>
                <a:ea typeface="黑体" panose="02010609060101010101" pitchFamily="49" charset="-122"/>
              </a:endParaRPr>
            </a:p>
          </p:txBody>
        </p:sp>
        <p:sp>
          <p:nvSpPr>
            <p:cNvPr id="87069" name="Line 30"/>
            <p:cNvSpPr>
              <a:spLocks noChangeShapeType="1"/>
            </p:cNvSpPr>
            <p:nvPr/>
          </p:nvSpPr>
          <p:spPr bwMode="auto">
            <a:xfrm flipV="1">
              <a:off x="6955470" y="2508251"/>
              <a:ext cx="1246848" cy="7651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70" name="Text Box 31"/>
            <p:cNvSpPr txBox="1">
              <a:spLocks noChangeArrowheads="1"/>
            </p:cNvSpPr>
            <p:nvPr/>
          </p:nvSpPr>
          <p:spPr bwMode="auto">
            <a:xfrm>
              <a:off x="8616604" y="1775727"/>
              <a:ext cx="57740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99"/>
                  </a:solidFill>
                  <a:ea typeface="黑体" panose="02010609060101010101" pitchFamily="49" charset="-122"/>
                </a:rPr>
                <a:t>H</a:t>
              </a:r>
              <a:r>
                <a:rPr lang="en-US" altLang="zh-CN" sz="2800" b="1" baseline="-25000">
                  <a:solidFill>
                    <a:srgbClr val="000099"/>
                  </a:solidFill>
                  <a:ea typeface="黑体" panose="02010609060101010101" pitchFamily="49" charset="-122"/>
                </a:rPr>
                <a:t>6</a:t>
              </a:r>
              <a:endParaRPr lang="en-US" altLang="zh-CN" sz="2800" b="1">
                <a:solidFill>
                  <a:srgbClr val="000099"/>
                </a:solidFill>
                <a:ea typeface="黑体" panose="02010609060101010101" pitchFamily="49" charset="-122"/>
              </a:endParaRPr>
            </a:p>
          </p:txBody>
        </p:sp>
        <p:pic>
          <p:nvPicPr>
            <p:cNvPr id="87071" name="Picture 3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61889" y="414338"/>
              <a:ext cx="804863"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72" name="Picture 3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06515" y="1941513"/>
              <a:ext cx="810022"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73" name="Picture 3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5754" y="3484564"/>
              <a:ext cx="808302"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74" name="Picture 3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79266" y="5481638"/>
              <a:ext cx="806583"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75" name="Picture 3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81474" y="4433888"/>
              <a:ext cx="810021"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76"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99193" y="642938"/>
              <a:ext cx="810021"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77" name="Text Box 38"/>
            <p:cNvSpPr txBox="1">
              <a:spLocks noChangeArrowheads="1"/>
            </p:cNvSpPr>
            <p:nvPr/>
          </p:nvSpPr>
          <p:spPr bwMode="auto">
            <a:xfrm>
              <a:off x="1343325" y="4738688"/>
              <a:ext cx="1266693"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800" b="1">
                  <a:solidFill>
                    <a:srgbClr val="000099"/>
                  </a:solidFill>
                  <a:ea typeface="黑体" panose="02010609060101010101" pitchFamily="49" charset="-122"/>
                </a:rPr>
                <a:t>发送的</a:t>
              </a:r>
            </a:p>
            <a:p>
              <a:pPr algn="ctr" eaLnBrk="0" hangingPunct="0"/>
              <a:r>
                <a:rPr lang="zh-CN" altLang="en-US" sz="2800" b="1">
                  <a:solidFill>
                    <a:srgbClr val="000099"/>
                  </a:solidFill>
                  <a:ea typeface="黑体" panose="02010609060101010101" pitchFamily="49" charset="-122"/>
                </a:rPr>
                <a:t>分组</a:t>
              </a:r>
            </a:p>
          </p:txBody>
        </p:sp>
        <p:pic>
          <p:nvPicPr>
            <p:cNvPr id="87078" name="Picture 3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33589" y="1917700"/>
              <a:ext cx="854736"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79" name="Picture 4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80393" y="1327150"/>
              <a:ext cx="856456"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80" name="Picture 4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91379" y="3097213"/>
              <a:ext cx="856456"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81" name="Picture 4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83877" y="4514851"/>
              <a:ext cx="856456"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82" name="Picture 4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94331" y="3449638"/>
              <a:ext cx="856456"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83" name="Text Box 45"/>
            <p:cNvSpPr txBox="1">
              <a:spLocks noChangeArrowheads="1"/>
            </p:cNvSpPr>
            <p:nvPr/>
          </p:nvSpPr>
          <p:spPr bwMode="auto">
            <a:xfrm>
              <a:off x="963715" y="977900"/>
              <a:ext cx="126669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000099"/>
                  </a:solidFill>
                  <a:ea typeface="黑体" panose="02010609060101010101" pitchFamily="49" charset="-122"/>
                </a:rPr>
                <a:t>路由器</a:t>
              </a:r>
            </a:p>
          </p:txBody>
        </p:sp>
        <p:sp>
          <p:nvSpPr>
            <p:cNvPr id="87084" name="Line 46"/>
            <p:cNvSpPr>
              <a:spLocks noChangeShapeType="1"/>
            </p:cNvSpPr>
            <p:nvPr/>
          </p:nvSpPr>
          <p:spPr bwMode="auto">
            <a:xfrm>
              <a:off x="2219163" y="1563689"/>
              <a:ext cx="1114425" cy="4714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87085" name="Text Box 47"/>
            <p:cNvSpPr txBox="1">
              <a:spLocks noChangeArrowheads="1"/>
            </p:cNvSpPr>
            <p:nvPr/>
          </p:nvSpPr>
          <p:spPr bwMode="auto">
            <a:xfrm>
              <a:off x="2465093" y="2921000"/>
              <a:ext cx="44435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99"/>
                  </a:solidFill>
                  <a:ea typeface="黑体" panose="02010609060101010101" pitchFamily="49" charset="-122"/>
                </a:rPr>
                <a:t>A</a:t>
              </a:r>
            </a:p>
          </p:txBody>
        </p:sp>
        <p:sp>
          <p:nvSpPr>
            <p:cNvPr id="87086" name="Text Box 48"/>
            <p:cNvSpPr txBox="1">
              <a:spLocks noChangeArrowheads="1"/>
            </p:cNvSpPr>
            <p:nvPr/>
          </p:nvSpPr>
          <p:spPr bwMode="auto">
            <a:xfrm>
              <a:off x="6723298" y="2562225"/>
              <a:ext cx="42351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99"/>
                  </a:solidFill>
                  <a:ea typeface="黑体" panose="02010609060101010101" pitchFamily="49" charset="-122"/>
                </a:rPr>
                <a:t>E</a:t>
              </a:r>
            </a:p>
          </p:txBody>
        </p:sp>
        <p:sp>
          <p:nvSpPr>
            <p:cNvPr id="87087" name="Text Box 49"/>
            <p:cNvSpPr txBox="1">
              <a:spLocks noChangeArrowheads="1"/>
            </p:cNvSpPr>
            <p:nvPr/>
          </p:nvSpPr>
          <p:spPr bwMode="auto">
            <a:xfrm>
              <a:off x="5376701" y="1697039"/>
              <a:ext cx="44435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99"/>
                  </a:solidFill>
                  <a:ea typeface="黑体" panose="02010609060101010101" pitchFamily="49" charset="-122"/>
                </a:rPr>
                <a:t>D</a:t>
              </a:r>
            </a:p>
          </p:txBody>
        </p:sp>
        <p:sp>
          <p:nvSpPr>
            <p:cNvPr id="87088" name="Text Box 50"/>
            <p:cNvSpPr txBox="1">
              <a:spLocks noChangeArrowheads="1"/>
            </p:cNvSpPr>
            <p:nvPr/>
          </p:nvSpPr>
          <p:spPr bwMode="auto">
            <a:xfrm>
              <a:off x="3766976" y="1412875"/>
              <a:ext cx="44435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99"/>
                  </a:solidFill>
                  <a:ea typeface="黑体" panose="02010609060101010101" pitchFamily="49" charset="-122"/>
                </a:rPr>
                <a:t>B</a:t>
              </a:r>
            </a:p>
          </p:txBody>
        </p:sp>
        <p:sp>
          <p:nvSpPr>
            <p:cNvPr id="87089" name="Text Box 51"/>
            <p:cNvSpPr txBox="1">
              <a:spLocks noChangeArrowheads="1"/>
            </p:cNvSpPr>
            <p:nvPr/>
          </p:nvSpPr>
          <p:spPr bwMode="auto">
            <a:xfrm>
              <a:off x="5405937" y="4578350"/>
              <a:ext cx="44435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99"/>
                  </a:solidFill>
                  <a:ea typeface="黑体" panose="02010609060101010101" pitchFamily="49" charset="-122"/>
                </a:rPr>
                <a:t>C</a:t>
              </a:r>
            </a:p>
          </p:txBody>
        </p:sp>
        <p:sp>
          <p:nvSpPr>
            <p:cNvPr id="87090" name="Line 52"/>
            <p:cNvSpPr>
              <a:spLocks noChangeShapeType="1"/>
            </p:cNvSpPr>
            <p:nvPr/>
          </p:nvSpPr>
          <p:spPr bwMode="auto">
            <a:xfrm flipV="1">
              <a:off x="1768579" y="4121150"/>
              <a:ext cx="278606" cy="8255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87091" name="Rectangle 53"/>
            <p:cNvSpPr>
              <a:spLocks noChangeArrowheads="1"/>
            </p:cNvSpPr>
            <p:nvPr/>
          </p:nvSpPr>
          <p:spPr bwMode="auto">
            <a:xfrm>
              <a:off x="1854568" y="3884614"/>
              <a:ext cx="278606" cy="236537"/>
            </a:xfrm>
            <a:prstGeom prst="rect">
              <a:avLst/>
            </a:prstGeom>
            <a:solidFill>
              <a:schemeClr val="accent2"/>
            </a:solidFill>
            <a:ln w="9525">
              <a:solidFill>
                <a:schemeClr val="accent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92" name="Rectangle 54"/>
            <p:cNvSpPr>
              <a:spLocks noChangeArrowheads="1"/>
            </p:cNvSpPr>
            <p:nvPr/>
          </p:nvSpPr>
          <p:spPr bwMode="auto">
            <a:xfrm>
              <a:off x="2267317" y="3884614"/>
              <a:ext cx="280326" cy="236537"/>
            </a:xfrm>
            <a:prstGeom prst="rect">
              <a:avLst/>
            </a:prstGeom>
            <a:solidFill>
              <a:schemeClr val="accent2"/>
            </a:solidFill>
            <a:ln w="9525">
              <a:solidFill>
                <a:schemeClr val="accent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93" name="Rectangle 55"/>
            <p:cNvSpPr>
              <a:spLocks noChangeArrowheads="1"/>
            </p:cNvSpPr>
            <p:nvPr/>
          </p:nvSpPr>
          <p:spPr bwMode="auto">
            <a:xfrm>
              <a:off x="3436777" y="3884614"/>
              <a:ext cx="278606" cy="236537"/>
            </a:xfrm>
            <a:prstGeom prst="rect">
              <a:avLst/>
            </a:prstGeom>
            <a:solidFill>
              <a:schemeClr val="accent2"/>
            </a:solidFill>
            <a:ln w="9525">
              <a:solidFill>
                <a:schemeClr val="accent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94" name="Rectangle 56"/>
            <p:cNvSpPr>
              <a:spLocks noChangeArrowheads="1"/>
            </p:cNvSpPr>
            <p:nvPr/>
          </p:nvSpPr>
          <p:spPr bwMode="auto">
            <a:xfrm>
              <a:off x="4133292" y="4238625"/>
              <a:ext cx="278606" cy="236538"/>
            </a:xfrm>
            <a:prstGeom prst="rect">
              <a:avLst/>
            </a:prstGeom>
            <a:solidFill>
              <a:schemeClr val="accent2"/>
            </a:solidFill>
            <a:ln w="9525">
              <a:solidFill>
                <a:schemeClr val="accent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95" name="Rectangle 57"/>
            <p:cNvSpPr>
              <a:spLocks noChangeArrowheads="1"/>
            </p:cNvSpPr>
            <p:nvPr/>
          </p:nvSpPr>
          <p:spPr bwMode="auto">
            <a:xfrm>
              <a:off x="5283832" y="4198939"/>
              <a:ext cx="280326" cy="238125"/>
            </a:xfrm>
            <a:prstGeom prst="rect">
              <a:avLst/>
            </a:prstGeom>
            <a:solidFill>
              <a:schemeClr val="accent2"/>
            </a:solidFill>
            <a:ln w="9525">
              <a:solidFill>
                <a:schemeClr val="accent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96" name="Rectangle 58"/>
            <p:cNvSpPr>
              <a:spLocks noChangeArrowheads="1"/>
            </p:cNvSpPr>
            <p:nvPr/>
          </p:nvSpPr>
          <p:spPr bwMode="auto">
            <a:xfrm>
              <a:off x="5682824" y="3846514"/>
              <a:ext cx="278606" cy="236537"/>
            </a:xfrm>
            <a:prstGeom prst="rect">
              <a:avLst/>
            </a:prstGeom>
            <a:solidFill>
              <a:schemeClr val="accent2"/>
            </a:solidFill>
            <a:ln w="9525">
              <a:solidFill>
                <a:schemeClr val="accent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97" name="Rectangle 59"/>
            <p:cNvSpPr>
              <a:spLocks noChangeArrowheads="1"/>
            </p:cNvSpPr>
            <p:nvPr/>
          </p:nvSpPr>
          <p:spPr bwMode="auto">
            <a:xfrm>
              <a:off x="6841964" y="3775075"/>
              <a:ext cx="278606" cy="236538"/>
            </a:xfrm>
            <a:prstGeom prst="rect">
              <a:avLst/>
            </a:prstGeom>
            <a:solidFill>
              <a:schemeClr val="accent2"/>
            </a:solidFill>
            <a:ln w="9525">
              <a:solidFill>
                <a:schemeClr val="accent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98" name="Rectangle 60"/>
            <p:cNvSpPr>
              <a:spLocks noChangeArrowheads="1"/>
            </p:cNvSpPr>
            <p:nvPr/>
          </p:nvSpPr>
          <p:spPr bwMode="auto">
            <a:xfrm>
              <a:off x="6062898" y="3521075"/>
              <a:ext cx="280327" cy="236538"/>
            </a:xfrm>
            <a:prstGeom prst="rect">
              <a:avLst/>
            </a:prstGeom>
            <a:solidFill>
              <a:schemeClr val="accent2"/>
            </a:solidFill>
            <a:ln w="9525">
              <a:solidFill>
                <a:schemeClr val="accent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99" name="Rectangle 61"/>
            <p:cNvSpPr>
              <a:spLocks noChangeArrowheads="1"/>
            </p:cNvSpPr>
            <p:nvPr/>
          </p:nvSpPr>
          <p:spPr bwMode="auto">
            <a:xfrm>
              <a:off x="7251274" y="4308475"/>
              <a:ext cx="278606" cy="236538"/>
            </a:xfrm>
            <a:prstGeom prst="rect">
              <a:avLst/>
            </a:prstGeom>
            <a:solidFill>
              <a:schemeClr val="accent2"/>
            </a:solidFill>
            <a:ln w="9525">
              <a:solidFill>
                <a:schemeClr val="accent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100" name="Rectangle 62"/>
            <p:cNvSpPr>
              <a:spLocks noChangeArrowheads="1"/>
            </p:cNvSpPr>
            <p:nvPr/>
          </p:nvSpPr>
          <p:spPr bwMode="auto">
            <a:xfrm>
              <a:off x="1713545" y="3435350"/>
              <a:ext cx="278606" cy="236538"/>
            </a:xfrm>
            <a:prstGeom prst="rect">
              <a:avLst/>
            </a:prstGeom>
            <a:solidFill>
              <a:srgbClr val="CC0000"/>
            </a:solidFill>
            <a:ln w="19050">
              <a:solidFill>
                <a:srgbClr val="CC0000"/>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101" name="Rectangle 63"/>
            <p:cNvSpPr>
              <a:spLocks noChangeArrowheads="1"/>
            </p:cNvSpPr>
            <p:nvPr/>
          </p:nvSpPr>
          <p:spPr bwMode="auto">
            <a:xfrm>
              <a:off x="3455694" y="2633664"/>
              <a:ext cx="278606" cy="236537"/>
            </a:xfrm>
            <a:prstGeom prst="rect">
              <a:avLst/>
            </a:prstGeom>
            <a:solidFill>
              <a:srgbClr val="CC0000"/>
            </a:solidFill>
            <a:ln w="19050">
              <a:solidFill>
                <a:srgbClr val="CC0000"/>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102" name="Rectangle 64"/>
            <p:cNvSpPr>
              <a:spLocks noChangeArrowheads="1"/>
            </p:cNvSpPr>
            <p:nvPr/>
          </p:nvSpPr>
          <p:spPr bwMode="auto">
            <a:xfrm>
              <a:off x="4411898" y="2116139"/>
              <a:ext cx="280327" cy="236537"/>
            </a:xfrm>
            <a:prstGeom prst="rect">
              <a:avLst/>
            </a:prstGeom>
            <a:solidFill>
              <a:srgbClr val="CC0000"/>
            </a:solidFill>
            <a:ln w="19050">
              <a:solidFill>
                <a:srgbClr val="CC0000"/>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103" name="Rectangle 65"/>
            <p:cNvSpPr>
              <a:spLocks noChangeArrowheads="1"/>
            </p:cNvSpPr>
            <p:nvPr/>
          </p:nvSpPr>
          <p:spPr bwMode="auto">
            <a:xfrm>
              <a:off x="4969110" y="2305050"/>
              <a:ext cx="276887" cy="236538"/>
            </a:xfrm>
            <a:prstGeom prst="rect">
              <a:avLst/>
            </a:prstGeom>
            <a:solidFill>
              <a:srgbClr val="CC0000"/>
            </a:solidFill>
            <a:ln w="19050">
              <a:solidFill>
                <a:srgbClr val="CC0000"/>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104" name="Rectangle 66"/>
            <p:cNvSpPr>
              <a:spLocks noChangeArrowheads="1"/>
            </p:cNvSpPr>
            <p:nvPr/>
          </p:nvSpPr>
          <p:spPr bwMode="auto">
            <a:xfrm>
              <a:off x="6081816" y="2703514"/>
              <a:ext cx="278606" cy="236537"/>
            </a:xfrm>
            <a:prstGeom prst="rect">
              <a:avLst/>
            </a:prstGeom>
            <a:solidFill>
              <a:srgbClr val="CC0000"/>
            </a:solidFill>
            <a:ln w="19050">
              <a:solidFill>
                <a:srgbClr val="CC0000"/>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105" name="Rectangle 67"/>
            <p:cNvSpPr>
              <a:spLocks noChangeArrowheads="1"/>
            </p:cNvSpPr>
            <p:nvPr/>
          </p:nvSpPr>
          <p:spPr bwMode="auto">
            <a:xfrm>
              <a:off x="3158170" y="3176589"/>
              <a:ext cx="278606" cy="236537"/>
            </a:xfrm>
            <a:prstGeom prst="rect">
              <a:avLst/>
            </a:prstGeom>
            <a:solidFill>
              <a:srgbClr val="CC0000"/>
            </a:solidFill>
            <a:ln w="19050">
              <a:solidFill>
                <a:srgbClr val="CC0000"/>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106" name="Rectangle 68"/>
            <p:cNvSpPr>
              <a:spLocks noChangeArrowheads="1"/>
            </p:cNvSpPr>
            <p:nvPr/>
          </p:nvSpPr>
          <p:spPr bwMode="auto">
            <a:xfrm>
              <a:off x="7333824" y="3600450"/>
              <a:ext cx="278606" cy="238125"/>
            </a:xfrm>
            <a:prstGeom prst="rect">
              <a:avLst/>
            </a:prstGeom>
            <a:solidFill>
              <a:srgbClr val="CC0000"/>
            </a:solidFill>
            <a:ln w="19050">
              <a:solidFill>
                <a:srgbClr val="CC0000"/>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107" name="Rectangle 69"/>
            <p:cNvSpPr>
              <a:spLocks noChangeArrowheads="1"/>
            </p:cNvSpPr>
            <p:nvPr/>
          </p:nvSpPr>
          <p:spPr bwMode="auto">
            <a:xfrm>
              <a:off x="2129735" y="3435350"/>
              <a:ext cx="278606" cy="236538"/>
            </a:xfrm>
            <a:prstGeom prst="rect">
              <a:avLst/>
            </a:prstGeom>
            <a:solidFill>
              <a:srgbClr val="CC0000"/>
            </a:solidFill>
            <a:ln w="19050">
              <a:solidFill>
                <a:srgbClr val="CC0000"/>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108" name="Rectangle 70"/>
            <p:cNvSpPr>
              <a:spLocks noChangeArrowheads="1"/>
            </p:cNvSpPr>
            <p:nvPr/>
          </p:nvSpPr>
          <p:spPr bwMode="auto">
            <a:xfrm>
              <a:off x="7639947" y="4025900"/>
              <a:ext cx="278606" cy="236538"/>
            </a:xfrm>
            <a:prstGeom prst="rect">
              <a:avLst/>
            </a:prstGeom>
            <a:solidFill>
              <a:srgbClr val="CC0000"/>
            </a:solidFill>
            <a:ln w="19050">
              <a:solidFill>
                <a:srgbClr val="CC0000"/>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109" name="Rectangle 71"/>
            <p:cNvSpPr>
              <a:spLocks noChangeArrowheads="1"/>
            </p:cNvSpPr>
            <p:nvPr/>
          </p:nvSpPr>
          <p:spPr bwMode="auto">
            <a:xfrm>
              <a:off x="5478168" y="2471739"/>
              <a:ext cx="276887" cy="236537"/>
            </a:xfrm>
            <a:prstGeom prst="rect">
              <a:avLst/>
            </a:prstGeom>
            <a:solidFill>
              <a:srgbClr val="CC0000"/>
            </a:solidFill>
            <a:ln w="19050">
              <a:solidFill>
                <a:srgbClr val="CC0000"/>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110" name="Line 73"/>
            <p:cNvSpPr>
              <a:spLocks noChangeShapeType="1"/>
            </p:cNvSpPr>
            <p:nvPr/>
          </p:nvSpPr>
          <p:spPr bwMode="auto">
            <a:xfrm>
              <a:off x="5108414" y="696913"/>
              <a:ext cx="137583" cy="4746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87111" name="Text Box 74"/>
            <p:cNvSpPr txBox="1">
              <a:spLocks noChangeArrowheads="1"/>
            </p:cNvSpPr>
            <p:nvPr/>
          </p:nvSpPr>
          <p:spPr bwMode="auto">
            <a:xfrm>
              <a:off x="765939" y="2768600"/>
              <a:ext cx="90601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000099"/>
                  </a:solidFill>
                  <a:ea typeface="黑体" panose="02010609060101010101" pitchFamily="49" charset="-122"/>
                </a:rPr>
                <a:t>主机</a:t>
              </a:r>
            </a:p>
          </p:txBody>
        </p:sp>
      </p:grpSp>
      <p:sp>
        <p:nvSpPr>
          <p:cNvPr id="87112" name="矩形 72"/>
          <p:cNvSpPr>
            <a:spLocks noChangeArrowheads="1"/>
          </p:cNvSpPr>
          <p:nvPr/>
        </p:nvSpPr>
        <p:spPr bwMode="auto">
          <a:xfrm>
            <a:off x="2847975" y="6064250"/>
            <a:ext cx="42275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分组交换的示意图</a:t>
            </a:r>
            <a:endParaRPr lang="zh-CN" altLang="en-US" sz="2400" b="1">
              <a:ea typeface="黑体" panose="02010609060101010101" pitchFamily="49" charset="-122"/>
            </a:endParaRPr>
          </a:p>
        </p:txBody>
      </p:sp>
      <p:sp>
        <p:nvSpPr>
          <p:cNvPr id="87113" name="矩形 73"/>
          <p:cNvSpPr>
            <a:spLocks noChangeArrowheads="1"/>
          </p:cNvSpPr>
          <p:nvPr/>
        </p:nvSpPr>
        <p:spPr bwMode="auto">
          <a:xfrm>
            <a:off x="2614613" y="5661025"/>
            <a:ext cx="47101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ea typeface="黑体" panose="02010609060101010101" pitchFamily="49" charset="-122"/>
              </a:rPr>
              <a:t>(b) </a:t>
            </a:r>
            <a:r>
              <a:rPr lang="zh-CN" altLang="zh-CN" sz="2000" b="1">
                <a:ea typeface="黑体" panose="02010609060101010101" pitchFamily="49" charset="-122"/>
              </a:rPr>
              <a:t>核心部分</a:t>
            </a:r>
            <a:r>
              <a:rPr lang="zh-CN" altLang="en-US" sz="2000" b="1">
                <a:ea typeface="黑体" panose="02010609060101010101" pitchFamily="49" charset="-122"/>
              </a:rPr>
              <a:t>中</a:t>
            </a:r>
            <a:r>
              <a:rPr lang="zh-CN" altLang="zh-CN" sz="2000" b="1">
                <a:ea typeface="黑体" panose="02010609060101010101" pitchFamily="49" charset="-122"/>
              </a:rPr>
              <a:t>的</a:t>
            </a:r>
            <a:r>
              <a:rPr lang="zh-CN" altLang="en-US" sz="2000" b="1">
                <a:ea typeface="黑体" panose="02010609060101010101" pitchFamily="49" charset="-122"/>
              </a:rPr>
              <a:t>网络</a:t>
            </a:r>
            <a:r>
              <a:rPr lang="zh-CN" altLang="zh-CN" sz="2000" b="1">
                <a:ea typeface="黑体" panose="02010609060101010101" pitchFamily="49" charset="-122"/>
              </a:rPr>
              <a:t>可用一条链路表示</a:t>
            </a:r>
            <a:endParaRPr lang="zh-CN" altLang="en-US" sz="2000" b="1">
              <a:ea typeface="黑体" panose="02010609060101010101" pitchFamily="49" charset="-122"/>
            </a:endParaRPr>
          </a:p>
        </p:txBody>
      </p:sp>
      <p:sp>
        <p:nvSpPr>
          <p:cNvPr id="87114" name="灯片编号占位符 4"/>
          <p:cNvSpPr>
            <a:spLocks noGrp="1" noChangeArrowheads="1"/>
          </p:cNvSpPr>
          <p:nvPr>
            <p:ph type="sldNum" sz="quarter" idx="4294967295"/>
          </p:nvPr>
        </p:nvSpPr>
        <p:spPr>
          <a:xfrm>
            <a:off x="7099300" y="6356350"/>
            <a:ext cx="23114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A329A32F-D115-4BBA-9661-A73A978FF7DD}" type="slidenum">
              <a:rPr lang="zh-CN" altLang="en-US" smtClean="0"/>
              <a:pPr/>
              <a:t>53</a:t>
            </a:fld>
            <a:endParaRPr lang="en-US" altLang="zh-CN" smtClean="0"/>
          </a:p>
        </p:txBody>
      </p:sp>
      <p:sp>
        <p:nvSpPr>
          <p:cNvPr id="87115" name="页脚占位符 5"/>
          <p:cNvSpPr>
            <a:spLocks noGrp="1" noChangeArrowheads="1"/>
          </p:cNvSpPr>
          <p:nvPr>
            <p:ph type="ftr" sz="quarter" idx="4294967295"/>
          </p:nvPr>
        </p:nvSpPr>
        <p:spPr>
          <a:xfrm>
            <a:off x="3384550" y="6356350"/>
            <a:ext cx="31369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2"/>
          <p:cNvSpPr>
            <a:spLocks noGrp="1" noChangeArrowheads="1"/>
          </p:cNvSpPr>
          <p:nvPr>
            <p:ph type="title"/>
          </p:nvPr>
        </p:nvSpPr>
        <p:spPr/>
        <p:txBody>
          <a:bodyPr/>
          <a:lstStyle/>
          <a:p>
            <a:pPr algn="ctr"/>
            <a:r>
              <a:rPr lang="zh-CN" altLang="en-US" smtClean="0">
                <a:ea typeface="黑体" panose="02010609060101010101" pitchFamily="49" charset="-122"/>
              </a:rPr>
              <a:t>分组交换网的示意图</a:t>
            </a:r>
          </a:p>
        </p:txBody>
      </p:sp>
      <p:grpSp>
        <p:nvGrpSpPr>
          <p:cNvPr id="89090" name="Group 4"/>
          <p:cNvGrpSpPr>
            <a:grpSpLocks/>
          </p:cNvGrpSpPr>
          <p:nvPr/>
        </p:nvGrpSpPr>
        <p:grpSpPr bwMode="auto">
          <a:xfrm>
            <a:off x="1990725" y="2176463"/>
            <a:ext cx="4432300" cy="3667125"/>
            <a:chOff x="2256" y="2386"/>
            <a:chExt cx="2147" cy="1919"/>
          </a:xfrm>
        </p:grpSpPr>
        <p:sp>
          <p:nvSpPr>
            <p:cNvPr id="89091" name="Oval 5"/>
            <p:cNvSpPr>
              <a:spLocks noChangeArrowheads="1"/>
            </p:cNvSpPr>
            <p:nvPr/>
          </p:nvSpPr>
          <p:spPr bwMode="auto">
            <a:xfrm rot="-1674972">
              <a:off x="2346" y="2526"/>
              <a:ext cx="1015" cy="692"/>
            </a:xfrm>
            <a:prstGeom prst="ellipse">
              <a:avLst/>
            </a:prstGeom>
            <a:solidFill>
              <a:srgbClr val="FFFF99"/>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9092" name="Oval 6"/>
            <p:cNvSpPr>
              <a:spLocks noChangeArrowheads="1"/>
            </p:cNvSpPr>
            <p:nvPr/>
          </p:nvSpPr>
          <p:spPr bwMode="auto">
            <a:xfrm rot="-774972">
              <a:off x="3025" y="2386"/>
              <a:ext cx="887" cy="642"/>
            </a:xfrm>
            <a:prstGeom prst="ellipse">
              <a:avLst/>
            </a:prstGeom>
            <a:solidFill>
              <a:srgbClr val="FFFF99"/>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9093" name="Oval 7"/>
            <p:cNvSpPr>
              <a:spLocks noChangeArrowheads="1"/>
            </p:cNvSpPr>
            <p:nvPr/>
          </p:nvSpPr>
          <p:spPr bwMode="auto">
            <a:xfrm rot="-174972">
              <a:off x="3673" y="2621"/>
              <a:ext cx="655" cy="832"/>
            </a:xfrm>
            <a:prstGeom prst="ellipse">
              <a:avLst/>
            </a:prstGeom>
            <a:solidFill>
              <a:srgbClr val="FFFF99"/>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9094" name="Oval 8"/>
            <p:cNvSpPr>
              <a:spLocks noChangeArrowheads="1"/>
            </p:cNvSpPr>
            <p:nvPr/>
          </p:nvSpPr>
          <p:spPr bwMode="auto">
            <a:xfrm rot="-3234972">
              <a:off x="3753" y="3108"/>
              <a:ext cx="687" cy="610"/>
            </a:xfrm>
            <a:prstGeom prst="ellipse">
              <a:avLst/>
            </a:prstGeom>
            <a:solidFill>
              <a:srgbClr val="FFFF99"/>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9095" name="Oval 9"/>
            <p:cNvSpPr>
              <a:spLocks noChangeArrowheads="1"/>
            </p:cNvSpPr>
            <p:nvPr/>
          </p:nvSpPr>
          <p:spPr bwMode="auto">
            <a:xfrm rot="-1674972">
              <a:off x="3052" y="3445"/>
              <a:ext cx="1110" cy="772"/>
            </a:xfrm>
            <a:prstGeom prst="ellipse">
              <a:avLst/>
            </a:prstGeom>
            <a:solidFill>
              <a:srgbClr val="FFFF99"/>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9096" name="Oval 10"/>
            <p:cNvSpPr>
              <a:spLocks noChangeArrowheads="1"/>
            </p:cNvSpPr>
            <p:nvPr/>
          </p:nvSpPr>
          <p:spPr bwMode="auto">
            <a:xfrm rot="-594972">
              <a:off x="2616" y="3772"/>
              <a:ext cx="793" cy="533"/>
            </a:xfrm>
            <a:prstGeom prst="ellipse">
              <a:avLst/>
            </a:prstGeom>
            <a:solidFill>
              <a:srgbClr val="FFFF99"/>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9097" name="Oval 11"/>
            <p:cNvSpPr>
              <a:spLocks noChangeArrowheads="1"/>
            </p:cNvSpPr>
            <p:nvPr/>
          </p:nvSpPr>
          <p:spPr bwMode="auto">
            <a:xfrm rot="-1674972">
              <a:off x="2311" y="3539"/>
              <a:ext cx="503" cy="631"/>
            </a:xfrm>
            <a:prstGeom prst="ellipse">
              <a:avLst/>
            </a:prstGeom>
            <a:solidFill>
              <a:srgbClr val="FFFF99"/>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9098" name="Oval 12"/>
            <p:cNvSpPr>
              <a:spLocks noChangeArrowheads="1"/>
            </p:cNvSpPr>
            <p:nvPr/>
          </p:nvSpPr>
          <p:spPr bwMode="auto">
            <a:xfrm rot="-3534972">
              <a:off x="2159" y="3115"/>
              <a:ext cx="695" cy="504"/>
            </a:xfrm>
            <a:prstGeom prst="ellipse">
              <a:avLst/>
            </a:prstGeom>
            <a:solidFill>
              <a:srgbClr val="FFFF99"/>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9099" name="Freeform 13"/>
            <p:cNvSpPr>
              <a:spLocks noChangeArrowheads="1"/>
            </p:cNvSpPr>
            <p:nvPr/>
          </p:nvSpPr>
          <p:spPr bwMode="auto">
            <a:xfrm>
              <a:off x="2358" y="2506"/>
              <a:ext cx="1931" cy="1684"/>
            </a:xfrm>
            <a:custGeom>
              <a:avLst/>
              <a:gdLst>
                <a:gd name="T0" fmla="*/ 579 w 1931"/>
                <a:gd name="T1" fmla="*/ 263 h 1684"/>
                <a:gd name="T2" fmla="*/ 632 w 1931"/>
                <a:gd name="T3" fmla="*/ 168 h 1684"/>
                <a:gd name="T4" fmla="*/ 695 w 1931"/>
                <a:gd name="T5" fmla="*/ 126 h 1684"/>
                <a:gd name="T6" fmla="*/ 916 w 1931"/>
                <a:gd name="T7" fmla="*/ 115 h 1684"/>
                <a:gd name="T8" fmla="*/ 1095 w 1931"/>
                <a:gd name="T9" fmla="*/ 52 h 1684"/>
                <a:gd name="T10" fmla="*/ 1158 w 1931"/>
                <a:gd name="T11" fmla="*/ 21 h 1684"/>
                <a:gd name="T12" fmla="*/ 1221 w 1931"/>
                <a:gd name="T13" fmla="*/ 0 h 1684"/>
                <a:gd name="T14" fmla="*/ 1337 w 1931"/>
                <a:gd name="T15" fmla="*/ 42 h 1684"/>
                <a:gd name="T16" fmla="*/ 1400 w 1931"/>
                <a:gd name="T17" fmla="*/ 84 h 1684"/>
                <a:gd name="T18" fmla="*/ 1432 w 1931"/>
                <a:gd name="T19" fmla="*/ 105 h 1684"/>
                <a:gd name="T20" fmla="*/ 1505 w 1931"/>
                <a:gd name="T21" fmla="*/ 158 h 1684"/>
                <a:gd name="T22" fmla="*/ 1526 w 1931"/>
                <a:gd name="T23" fmla="*/ 189 h 1684"/>
                <a:gd name="T24" fmla="*/ 1558 w 1931"/>
                <a:gd name="T25" fmla="*/ 210 h 1684"/>
                <a:gd name="T26" fmla="*/ 1653 w 1931"/>
                <a:gd name="T27" fmla="*/ 294 h 1684"/>
                <a:gd name="T28" fmla="*/ 1737 w 1931"/>
                <a:gd name="T29" fmla="*/ 368 h 1684"/>
                <a:gd name="T30" fmla="*/ 1800 w 1931"/>
                <a:gd name="T31" fmla="*/ 389 h 1684"/>
                <a:gd name="T32" fmla="*/ 1832 w 1931"/>
                <a:gd name="T33" fmla="*/ 410 h 1684"/>
                <a:gd name="T34" fmla="*/ 1916 w 1931"/>
                <a:gd name="T35" fmla="*/ 589 h 1684"/>
                <a:gd name="T36" fmla="*/ 1842 w 1931"/>
                <a:gd name="T37" fmla="*/ 1084 h 1684"/>
                <a:gd name="T38" fmla="*/ 1769 w 1931"/>
                <a:gd name="T39" fmla="*/ 1168 h 1684"/>
                <a:gd name="T40" fmla="*/ 1653 w 1931"/>
                <a:gd name="T41" fmla="*/ 1284 h 1684"/>
                <a:gd name="T42" fmla="*/ 1590 w 1931"/>
                <a:gd name="T43" fmla="*/ 1347 h 1684"/>
                <a:gd name="T44" fmla="*/ 1558 w 1931"/>
                <a:gd name="T45" fmla="*/ 1368 h 1684"/>
                <a:gd name="T46" fmla="*/ 1474 w 1931"/>
                <a:gd name="T47" fmla="*/ 1431 h 1684"/>
                <a:gd name="T48" fmla="*/ 1411 w 1931"/>
                <a:gd name="T49" fmla="*/ 1453 h 1684"/>
                <a:gd name="T50" fmla="*/ 1253 w 1931"/>
                <a:gd name="T51" fmla="*/ 1579 h 1684"/>
                <a:gd name="T52" fmla="*/ 1190 w 1931"/>
                <a:gd name="T53" fmla="*/ 1621 h 1684"/>
                <a:gd name="T54" fmla="*/ 1000 w 1931"/>
                <a:gd name="T55" fmla="*/ 1684 h 1684"/>
                <a:gd name="T56" fmla="*/ 432 w 1931"/>
                <a:gd name="T57" fmla="*/ 1653 h 1684"/>
                <a:gd name="T58" fmla="*/ 337 w 1931"/>
                <a:gd name="T59" fmla="*/ 1621 h 1684"/>
                <a:gd name="T60" fmla="*/ 242 w 1931"/>
                <a:gd name="T61" fmla="*/ 1558 h 1684"/>
                <a:gd name="T62" fmla="*/ 168 w 1931"/>
                <a:gd name="T63" fmla="*/ 1463 h 1684"/>
                <a:gd name="T64" fmla="*/ 126 w 1931"/>
                <a:gd name="T65" fmla="*/ 1400 h 1684"/>
                <a:gd name="T66" fmla="*/ 105 w 1931"/>
                <a:gd name="T67" fmla="*/ 1368 h 1684"/>
                <a:gd name="T68" fmla="*/ 21 w 1931"/>
                <a:gd name="T69" fmla="*/ 1242 h 1684"/>
                <a:gd name="T70" fmla="*/ 32 w 1931"/>
                <a:gd name="T71" fmla="*/ 1031 h 1684"/>
                <a:gd name="T72" fmla="*/ 42 w 1931"/>
                <a:gd name="T73" fmla="*/ 821 h 1684"/>
                <a:gd name="T74" fmla="*/ 84 w 1931"/>
                <a:gd name="T75" fmla="*/ 631 h 1684"/>
                <a:gd name="T76" fmla="*/ 200 w 1931"/>
                <a:gd name="T77" fmla="*/ 337 h 1684"/>
                <a:gd name="T78" fmla="*/ 242 w 1931"/>
                <a:gd name="T79" fmla="*/ 263 h 1684"/>
                <a:gd name="T80" fmla="*/ 305 w 1931"/>
                <a:gd name="T81" fmla="*/ 252 h 1684"/>
                <a:gd name="T82" fmla="*/ 326 w 1931"/>
                <a:gd name="T83" fmla="*/ 189 h 1684"/>
                <a:gd name="T84" fmla="*/ 400 w 1931"/>
                <a:gd name="T85" fmla="*/ 147 h 1684"/>
                <a:gd name="T86" fmla="*/ 432 w 1931"/>
                <a:gd name="T87" fmla="*/ 168 h 1684"/>
                <a:gd name="T88" fmla="*/ 453 w 1931"/>
                <a:gd name="T89" fmla="*/ 200 h 1684"/>
                <a:gd name="T90" fmla="*/ 537 w 1931"/>
                <a:gd name="T91" fmla="*/ 210 h 1684"/>
                <a:gd name="T92" fmla="*/ 558 w 1931"/>
                <a:gd name="T93" fmla="*/ 242 h 1684"/>
                <a:gd name="T94" fmla="*/ 579 w 1931"/>
                <a:gd name="T95" fmla="*/ 263 h 16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grpSp>
      <p:sp>
        <p:nvSpPr>
          <p:cNvPr id="89100" name="Line 14"/>
          <p:cNvSpPr>
            <a:spLocks noChangeShapeType="1"/>
          </p:cNvSpPr>
          <p:nvPr/>
        </p:nvSpPr>
        <p:spPr bwMode="auto">
          <a:xfrm flipV="1">
            <a:off x="3216275" y="2411413"/>
            <a:ext cx="1389063" cy="555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9101" name="Line 15"/>
          <p:cNvSpPr>
            <a:spLocks noChangeShapeType="1"/>
          </p:cNvSpPr>
          <p:nvPr/>
        </p:nvSpPr>
        <p:spPr bwMode="auto">
          <a:xfrm>
            <a:off x="4775200" y="2486025"/>
            <a:ext cx="820738" cy="13985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9102" name="Line 16"/>
          <p:cNvSpPr>
            <a:spLocks noChangeShapeType="1"/>
          </p:cNvSpPr>
          <p:nvPr/>
        </p:nvSpPr>
        <p:spPr bwMode="auto">
          <a:xfrm flipH="1">
            <a:off x="2398713" y="3059113"/>
            <a:ext cx="720725" cy="12557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9103" name="Line 17"/>
          <p:cNvSpPr>
            <a:spLocks noChangeShapeType="1"/>
          </p:cNvSpPr>
          <p:nvPr/>
        </p:nvSpPr>
        <p:spPr bwMode="auto">
          <a:xfrm>
            <a:off x="2443163" y="4492625"/>
            <a:ext cx="1647825" cy="882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9104" name="Line 18"/>
          <p:cNvSpPr>
            <a:spLocks noChangeShapeType="1"/>
          </p:cNvSpPr>
          <p:nvPr/>
        </p:nvSpPr>
        <p:spPr bwMode="auto">
          <a:xfrm flipV="1">
            <a:off x="4159250" y="4160838"/>
            <a:ext cx="1436688" cy="13065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9105" name="Line 19"/>
          <p:cNvSpPr>
            <a:spLocks noChangeShapeType="1"/>
          </p:cNvSpPr>
          <p:nvPr/>
        </p:nvSpPr>
        <p:spPr bwMode="auto">
          <a:xfrm>
            <a:off x="3273425" y="3065463"/>
            <a:ext cx="2303463" cy="9461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9106" name="Line 20"/>
          <p:cNvSpPr>
            <a:spLocks noChangeShapeType="1"/>
          </p:cNvSpPr>
          <p:nvPr/>
        </p:nvSpPr>
        <p:spPr bwMode="auto">
          <a:xfrm>
            <a:off x="3163888" y="2901950"/>
            <a:ext cx="1082675" cy="24717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9107" name="Line 21"/>
          <p:cNvSpPr>
            <a:spLocks noChangeShapeType="1"/>
          </p:cNvSpPr>
          <p:nvPr/>
        </p:nvSpPr>
        <p:spPr bwMode="auto">
          <a:xfrm flipV="1">
            <a:off x="3514725" y="5445125"/>
            <a:ext cx="692150" cy="5492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9108" name="Line 22"/>
          <p:cNvSpPr>
            <a:spLocks noChangeShapeType="1"/>
          </p:cNvSpPr>
          <p:nvPr/>
        </p:nvSpPr>
        <p:spPr bwMode="auto">
          <a:xfrm rot="-5400000">
            <a:off x="4529138" y="2095500"/>
            <a:ext cx="33655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9109" name="Line 23"/>
          <p:cNvSpPr>
            <a:spLocks noChangeShapeType="1"/>
          </p:cNvSpPr>
          <p:nvPr/>
        </p:nvSpPr>
        <p:spPr bwMode="auto">
          <a:xfrm>
            <a:off x="5694363" y="4160838"/>
            <a:ext cx="693737" cy="10080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9110" name="Line 24"/>
          <p:cNvSpPr>
            <a:spLocks noChangeShapeType="1"/>
          </p:cNvSpPr>
          <p:nvPr/>
        </p:nvSpPr>
        <p:spPr bwMode="auto">
          <a:xfrm flipV="1">
            <a:off x="1447800" y="4418013"/>
            <a:ext cx="696913" cy="6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9111" name="Line 25"/>
          <p:cNvSpPr>
            <a:spLocks noChangeShapeType="1"/>
          </p:cNvSpPr>
          <p:nvPr/>
        </p:nvSpPr>
        <p:spPr bwMode="auto">
          <a:xfrm rot="5400000" flipH="1">
            <a:off x="2733676" y="2527300"/>
            <a:ext cx="773112"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9112" name="Text Box 26"/>
          <p:cNvSpPr txBox="1">
            <a:spLocks noChangeArrowheads="1"/>
          </p:cNvSpPr>
          <p:nvPr/>
        </p:nvSpPr>
        <p:spPr bwMode="auto">
          <a:xfrm>
            <a:off x="1073150" y="3783013"/>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宋体" panose="02010600030101010101" pitchFamily="2" charset="-122"/>
              </a:rPr>
              <a:t>H</a:t>
            </a:r>
            <a:r>
              <a:rPr lang="en-US" altLang="zh-CN" sz="2000" b="1" baseline="-25000">
                <a:solidFill>
                  <a:srgbClr val="000099"/>
                </a:solidFill>
                <a:ea typeface="宋体" panose="02010600030101010101" pitchFamily="2" charset="-122"/>
              </a:rPr>
              <a:t>1</a:t>
            </a:r>
            <a:endParaRPr lang="en-US" altLang="zh-CN" sz="2000" b="1">
              <a:solidFill>
                <a:srgbClr val="000099"/>
              </a:solidFill>
              <a:ea typeface="宋体" panose="02010600030101010101" pitchFamily="2" charset="-122"/>
            </a:endParaRPr>
          </a:p>
        </p:txBody>
      </p:sp>
      <p:sp>
        <p:nvSpPr>
          <p:cNvPr id="89113" name="Oval 31"/>
          <p:cNvSpPr>
            <a:spLocks noChangeArrowheads="1"/>
          </p:cNvSpPr>
          <p:nvPr/>
        </p:nvSpPr>
        <p:spPr bwMode="auto">
          <a:xfrm>
            <a:off x="2128838" y="4160838"/>
            <a:ext cx="495300" cy="458787"/>
          </a:xfrm>
          <a:prstGeom prst="ellipse">
            <a:avLst/>
          </a:prstGeom>
          <a:solidFill>
            <a:srgbClr val="66FF33"/>
          </a:solidFill>
          <a:ln w="19050">
            <a:solidFill>
              <a:schemeClr val="tx1"/>
            </a:solidFill>
            <a:round/>
            <a:headEnd/>
            <a:tailEnd/>
          </a:ln>
        </p:spPr>
        <p:txBody>
          <a:bodyPr wrap="none" anchor="ctr"/>
          <a:lstStyle/>
          <a:p>
            <a:pPr algn="ctr" eaLnBrk="0" hangingPunct="0"/>
            <a:r>
              <a:rPr lang="en-US" altLang="zh-CN" sz="2000" b="1">
                <a:solidFill>
                  <a:srgbClr val="000099"/>
                </a:solidFill>
                <a:ea typeface="宋体" panose="02010600030101010101" pitchFamily="2" charset="-122"/>
              </a:rPr>
              <a:t>A</a:t>
            </a:r>
          </a:p>
        </p:txBody>
      </p:sp>
      <p:sp>
        <p:nvSpPr>
          <p:cNvPr id="89114" name="Line 39"/>
          <p:cNvSpPr>
            <a:spLocks noChangeShapeType="1"/>
          </p:cNvSpPr>
          <p:nvPr/>
        </p:nvSpPr>
        <p:spPr bwMode="auto">
          <a:xfrm flipV="1">
            <a:off x="5694363" y="3563938"/>
            <a:ext cx="874712" cy="412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9115" name="AutoShape 43"/>
          <p:cNvSpPr>
            <a:spLocks noChangeArrowheads="1"/>
          </p:cNvSpPr>
          <p:nvPr/>
        </p:nvSpPr>
        <p:spPr bwMode="auto">
          <a:xfrm flipV="1">
            <a:off x="5210175" y="5902325"/>
            <a:ext cx="1246188" cy="334963"/>
          </a:xfrm>
          <a:prstGeom prst="wedgeRoundRectCallout">
            <a:avLst>
              <a:gd name="adj1" fmla="val -65315"/>
              <a:gd name="adj2" fmla="val 160426"/>
              <a:gd name="adj3" fmla="val 16667"/>
            </a:avLst>
          </a:prstGeom>
          <a:solidFill>
            <a:schemeClr val="bg1"/>
          </a:solidFill>
          <a:ln w="9525">
            <a:solidFill>
              <a:schemeClr val="tx1"/>
            </a:solidFill>
            <a:miter lim="800000"/>
            <a:headEnd/>
            <a:tailEnd/>
          </a:ln>
        </p:spPr>
        <p:txBody>
          <a:bodyPr rot="10800000" wrap="none" anchor="ctr"/>
          <a:lstStyle/>
          <a:p>
            <a:pPr algn="ctr" eaLnBrk="0" hangingPunct="0"/>
            <a:endParaRPr lang="zh-CN" altLang="zh-CN" sz="2400" b="1">
              <a:solidFill>
                <a:srgbClr val="000099"/>
              </a:solidFill>
              <a:latin typeface="Times New Roman" panose="02020603050405020304" pitchFamily="18" charset="0"/>
              <a:ea typeface="宋体" panose="02010600030101010101" pitchFamily="2" charset="-122"/>
            </a:endParaRPr>
          </a:p>
        </p:txBody>
      </p:sp>
      <p:sp>
        <p:nvSpPr>
          <p:cNvPr id="89116" name="Text Box 44"/>
          <p:cNvSpPr txBox="1">
            <a:spLocks noChangeArrowheads="1"/>
          </p:cNvSpPr>
          <p:nvPr/>
        </p:nvSpPr>
        <p:spPr bwMode="auto">
          <a:xfrm>
            <a:off x="5321300" y="5840413"/>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Times New Roman" panose="02020603050405020304" pitchFamily="18" charset="0"/>
                <a:ea typeface="黑体" panose="02010609060101010101" pitchFamily="49" charset="-122"/>
              </a:rPr>
              <a:t>互联网</a:t>
            </a:r>
          </a:p>
        </p:txBody>
      </p:sp>
      <p:pic>
        <p:nvPicPr>
          <p:cNvPr id="89117" name="Picture 7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57688" y="1484313"/>
            <a:ext cx="633412"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118" name="Picture 7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45250" y="3198813"/>
            <a:ext cx="636588"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119" name="Picture 7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19438" y="5903913"/>
            <a:ext cx="633412"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120" name="Picture 7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89663" y="4986338"/>
            <a:ext cx="635000"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121" name="Picture 7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20988" y="1682750"/>
            <a:ext cx="636587"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122" name="Oval 80"/>
          <p:cNvSpPr>
            <a:spLocks noChangeArrowheads="1"/>
          </p:cNvSpPr>
          <p:nvPr/>
        </p:nvSpPr>
        <p:spPr bwMode="auto">
          <a:xfrm>
            <a:off x="2913063" y="2794000"/>
            <a:ext cx="495300" cy="458788"/>
          </a:xfrm>
          <a:prstGeom prst="ellipse">
            <a:avLst/>
          </a:prstGeom>
          <a:solidFill>
            <a:srgbClr val="66FF33"/>
          </a:solidFill>
          <a:ln w="19050">
            <a:solidFill>
              <a:schemeClr val="tx1"/>
            </a:solidFill>
            <a:round/>
            <a:headEnd/>
            <a:tailEnd/>
          </a:ln>
        </p:spPr>
        <p:txBody>
          <a:bodyPr wrap="none" anchor="ctr"/>
          <a:lstStyle/>
          <a:p>
            <a:pPr algn="ctr" eaLnBrk="0" hangingPunct="0"/>
            <a:r>
              <a:rPr lang="en-US" altLang="zh-CN" sz="2000" b="1">
                <a:solidFill>
                  <a:srgbClr val="000099"/>
                </a:solidFill>
                <a:ea typeface="宋体" panose="02010600030101010101" pitchFamily="2" charset="-122"/>
              </a:rPr>
              <a:t>B</a:t>
            </a:r>
          </a:p>
        </p:txBody>
      </p:sp>
      <p:sp>
        <p:nvSpPr>
          <p:cNvPr id="89123" name="Oval 81"/>
          <p:cNvSpPr>
            <a:spLocks noChangeArrowheads="1"/>
          </p:cNvSpPr>
          <p:nvPr/>
        </p:nvSpPr>
        <p:spPr bwMode="auto">
          <a:xfrm>
            <a:off x="4451350" y="2182813"/>
            <a:ext cx="495300" cy="458787"/>
          </a:xfrm>
          <a:prstGeom prst="ellipse">
            <a:avLst/>
          </a:prstGeom>
          <a:solidFill>
            <a:srgbClr val="66FF33"/>
          </a:solidFill>
          <a:ln w="19050">
            <a:solidFill>
              <a:schemeClr val="tx1"/>
            </a:solidFill>
            <a:round/>
            <a:headEnd/>
            <a:tailEnd/>
          </a:ln>
        </p:spPr>
        <p:txBody>
          <a:bodyPr wrap="none" anchor="ctr"/>
          <a:lstStyle/>
          <a:p>
            <a:pPr algn="ctr" eaLnBrk="0" hangingPunct="0"/>
            <a:r>
              <a:rPr lang="en-US" altLang="zh-CN" sz="2000" b="1">
                <a:solidFill>
                  <a:srgbClr val="000099"/>
                </a:solidFill>
                <a:ea typeface="宋体" panose="02010600030101010101" pitchFamily="2" charset="-122"/>
              </a:rPr>
              <a:t>D</a:t>
            </a:r>
          </a:p>
        </p:txBody>
      </p:sp>
      <p:sp>
        <p:nvSpPr>
          <p:cNvPr id="89124" name="Oval 82"/>
          <p:cNvSpPr>
            <a:spLocks noChangeArrowheads="1"/>
          </p:cNvSpPr>
          <p:nvPr/>
        </p:nvSpPr>
        <p:spPr bwMode="auto">
          <a:xfrm>
            <a:off x="5376863" y="3811588"/>
            <a:ext cx="495300" cy="458787"/>
          </a:xfrm>
          <a:prstGeom prst="ellipse">
            <a:avLst/>
          </a:prstGeom>
          <a:solidFill>
            <a:srgbClr val="66FF33"/>
          </a:solidFill>
          <a:ln w="19050">
            <a:solidFill>
              <a:schemeClr val="tx1"/>
            </a:solidFill>
            <a:round/>
            <a:headEnd/>
            <a:tailEnd/>
          </a:ln>
        </p:spPr>
        <p:txBody>
          <a:bodyPr wrap="none" anchor="ctr"/>
          <a:lstStyle/>
          <a:p>
            <a:pPr algn="ctr" eaLnBrk="0" hangingPunct="0"/>
            <a:r>
              <a:rPr lang="en-US" altLang="zh-CN" sz="2000" b="1">
                <a:solidFill>
                  <a:srgbClr val="000099"/>
                </a:solidFill>
                <a:ea typeface="宋体" panose="02010600030101010101" pitchFamily="2" charset="-122"/>
              </a:rPr>
              <a:t>E</a:t>
            </a:r>
          </a:p>
        </p:txBody>
      </p:sp>
      <p:sp>
        <p:nvSpPr>
          <p:cNvPr id="89125" name="Oval 83"/>
          <p:cNvSpPr>
            <a:spLocks noChangeArrowheads="1"/>
          </p:cNvSpPr>
          <p:nvPr/>
        </p:nvSpPr>
        <p:spPr bwMode="auto">
          <a:xfrm>
            <a:off x="3959225" y="5130800"/>
            <a:ext cx="495300" cy="458788"/>
          </a:xfrm>
          <a:prstGeom prst="ellipse">
            <a:avLst/>
          </a:prstGeom>
          <a:solidFill>
            <a:srgbClr val="66FF33"/>
          </a:solidFill>
          <a:ln w="19050">
            <a:solidFill>
              <a:schemeClr val="tx1"/>
            </a:solidFill>
            <a:round/>
            <a:headEnd/>
            <a:tailEnd/>
          </a:ln>
        </p:spPr>
        <p:txBody>
          <a:bodyPr wrap="none" anchor="ctr"/>
          <a:lstStyle/>
          <a:p>
            <a:pPr algn="ctr" eaLnBrk="0" hangingPunct="0"/>
            <a:r>
              <a:rPr lang="en-US" altLang="zh-CN" sz="2000" b="1">
                <a:solidFill>
                  <a:srgbClr val="000099"/>
                </a:solidFill>
                <a:ea typeface="宋体" panose="02010600030101010101" pitchFamily="2" charset="-122"/>
              </a:rPr>
              <a:t>C</a:t>
            </a:r>
          </a:p>
        </p:txBody>
      </p:sp>
      <p:sp>
        <p:nvSpPr>
          <p:cNvPr id="89126" name="Text Box 84"/>
          <p:cNvSpPr txBox="1">
            <a:spLocks noChangeArrowheads="1"/>
          </p:cNvSpPr>
          <p:nvPr/>
        </p:nvSpPr>
        <p:spPr bwMode="auto">
          <a:xfrm>
            <a:off x="5834063" y="4940300"/>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宋体" panose="02010600030101010101" pitchFamily="2" charset="-122"/>
              </a:rPr>
              <a:t>H</a:t>
            </a:r>
            <a:r>
              <a:rPr lang="en-US" altLang="zh-CN" sz="2000" b="1" baseline="-25000">
                <a:solidFill>
                  <a:srgbClr val="000099"/>
                </a:solidFill>
                <a:ea typeface="宋体" panose="02010600030101010101" pitchFamily="2" charset="-122"/>
              </a:rPr>
              <a:t>5</a:t>
            </a:r>
            <a:endParaRPr lang="en-US" altLang="zh-CN" sz="2000" b="1">
              <a:solidFill>
                <a:srgbClr val="000099"/>
              </a:solidFill>
              <a:ea typeface="宋体" panose="02010600030101010101" pitchFamily="2" charset="-122"/>
            </a:endParaRPr>
          </a:p>
        </p:txBody>
      </p:sp>
      <p:sp>
        <p:nvSpPr>
          <p:cNvPr id="89127" name="Text Box 85"/>
          <p:cNvSpPr txBox="1">
            <a:spLocks noChangeArrowheads="1"/>
          </p:cNvSpPr>
          <p:nvPr/>
        </p:nvSpPr>
        <p:spPr bwMode="auto">
          <a:xfrm>
            <a:off x="6926263" y="3140075"/>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宋体" panose="02010600030101010101" pitchFamily="2" charset="-122"/>
              </a:rPr>
              <a:t>H</a:t>
            </a:r>
            <a:r>
              <a:rPr lang="en-US" altLang="zh-CN" sz="2000" b="1" baseline="-25000">
                <a:solidFill>
                  <a:srgbClr val="000099"/>
                </a:solidFill>
                <a:ea typeface="宋体" panose="02010600030101010101" pitchFamily="2" charset="-122"/>
              </a:rPr>
              <a:t>6</a:t>
            </a:r>
            <a:endParaRPr lang="en-US" altLang="zh-CN" sz="2000" b="1">
              <a:solidFill>
                <a:srgbClr val="000099"/>
              </a:solidFill>
              <a:ea typeface="宋体" panose="02010600030101010101" pitchFamily="2" charset="-122"/>
            </a:endParaRPr>
          </a:p>
        </p:txBody>
      </p:sp>
      <p:sp>
        <p:nvSpPr>
          <p:cNvPr id="89128" name="Text Box 86"/>
          <p:cNvSpPr txBox="1">
            <a:spLocks noChangeArrowheads="1"/>
          </p:cNvSpPr>
          <p:nvPr/>
        </p:nvSpPr>
        <p:spPr bwMode="auto">
          <a:xfrm>
            <a:off x="3960813" y="1484313"/>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宋体" panose="02010600030101010101" pitchFamily="2" charset="-122"/>
              </a:rPr>
              <a:t>H</a:t>
            </a:r>
            <a:r>
              <a:rPr lang="en-US" altLang="zh-CN" sz="2000" b="1" baseline="-25000">
                <a:solidFill>
                  <a:srgbClr val="000099"/>
                </a:solidFill>
                <a:ea typeface="宋体" panose="02010600030101010101" pitchFamily="2" charset="-122"/>
              </a:rPr>
              <a:t>4</a:t>
            </a:r>
            <a:endParaRPr lang="en-US" altLang="zh-CN" sz="2000" b="1">
              <a:solidFill>
                <a:srgbClr val="000099"/>
              </a:solidFill>
              <a:ea typeface="宋体" panose="02010600030101010101" pitchFamily="2" charset="-122"/>
            </a:endParaRPr>
          </a:p>
        </p:txBody>
      </p:sp>
      <p:sp>
        <p:nvSpPr>
          <p:cNvPr id="89129" name="Text Box 87"/>
          <p:cNvSpPr txBox="1">
            <a:spLocks noChangeArrowheads="1"/>
          </p:cNvSpPr>
          <p:nvPr/>
        </p:nvSpPr>
        <p:spPr bwMode="auto">
          <a:xfrm>
            <a:off x="2479675" y="1628775"/>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宋体" panose="02010600030101010101" pitchFamily="2" charset="-122"/>
              </a:rPr>
              <a:t>H</a:t>
            </a:r>
            <a:r>
              <a:rPr lang="en-US" altLang="zh-CN" sz="2000" b="1" baseline="-25000">
                <a:solidFill>
                  <a:srgbClr val="000099"/>
                </a:solidFill>
                <a:ea typeface="宋体" panose="02010600030101010101" pitchFamily="2" charset="-122"/>
              </a:rPr>
              <a:t>2</a:t>
            </a:r>
            <a:endParaRPr lang="en-US" altLang="zh-CN" sz="2000" b="1">
              <a:solidFill>
                <a:srgbClr val="000099"/>
              </a:solidFill>
              <a:ea typeface="宋体" panose="02010600030101010101" pitchFamily="2" charset="-122"/>
            </a:endParaRPr>
          </a:p>
        </p:txBody>
      </p:sp>
      <p:sp>
        <p:nvSpPr>
          <p:cNvPr id="89130" name="Text Box 88"/>
          <p:cNvSpPr txBox="1">
            <a:spLocks noChangeArrowheads="1"/>
          </p:cNvSpPr>
          <p:nvPr/>
        </p:nvSpPr>
        <p:spPr bwMode="auto">
          <a:xfrm>
            <a:off x="2713038" y="5876925"/>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宋体" panose="02010600030101010101" pitchFamily="2" charset="-122"/>
              </a:rPr>
              <a:t>H</a:t>
            </a:r>
            <a:r>
              <a:rPr lang="en-US" altLang="zh-CN" sz="2000" b="1" baseline="-25000">
                <a:solidFill>
                  <a:srgbClr val="000099"/>
                </a:solidFill>
                <a:ea typeface="宋体" panose="02010600030101010101" pitchFamily="2" charset="-122"/>
              </a:rPr>
              <a:t>3</a:t>
            </a:r>
            <a:endParaRPr lang="en-US" altLang="zh-CN" sz="2000" b="1">
              <a:solidFill>
                <a:srgbClr val="000099"/>
              </a:solidFill>
              <a:ea typeface="宋体" panose="02010600030101010101" pitchFamily="2" charset="-122"/>
            </a:endParaRPr>
          </a:p>
        </p:txBody>
      </p:sp>
      <p:sp>
        <p:nvSpPr>
          <p:cNvPr id="61535" name="Rectangle 95"/>
          <p:cNvSpPr>
            <a:spLocks noChangeArrowheads="1"/>
          </p:cNvSpPr>
          <p:nvPr/>
        </p:nvSpPr>
        <p:spPr bwMode="auto">
          <a:xfrm>
            <a:off x="3025775" y="1844675"/>
            <a:ext cx="234950" cy="217488"/>
          </a:xfrm>
          <a:prstGeom prst="rect">
            <a:avLst/>
          </a:prstGeom>
          <a:solidFill>
            <a:srgbClr val="0000CC"/>
          </a:solidFill>
          <a:ln w="9525">
            <a:solidFill>
              <a:srgbClr val="0000CC"/>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pic>
        <p:nvPicPr>
          <p:cNvPr id="89132" name="Picture 7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6950" y="4160838"/>
            <a:ext cx="636588"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32" name="Rectangle 92"/>
          <p:cNvSpPr>
            <a:spLocks noChangeArrowheads="1"/>
          </p:cNvSpPr>
          <p:nvPr/>
        </p:nvSpPr>
        <p:spPr bwMode="auto">
          <a:xfrm>
            <a:off x="1230313" y="4292600"/>
            <a:ext cx="234950" cy="217488"/>
          </a:xfrm>
          <a:prstGeom prst="rect">
            <a:avLst/>
          </a:prstGeom>
          <a:solidFill>
            <a:srgbClr val="FF0000"/>
          </a:solidFill>
          <a:ln w="9525">
            <a:solidFill>
              <a:srgbClr val="FF0000"/>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61534" name="Rectangle 94"/>
          <p:cNvSpPr>
            <a:spLocks noChangeArrowheads="1"/>
          </p:cNvSpPr>
          <p:nvPr/>
        </p:nvSpPr>
        <p:spPr bwMode="auto">
          <a:xfrm>
            <a:off x="1230313" y="4292600"/>
            <a:ext cx="234950" cy="217488"/>
          </a:xfrm>
          <a:prstGeom prst="rect">
            <a:avLst/>
          </a:prstGeom>
          <a:solidFill>
            <a:srgbClr val="FF0000"/>
          </a:solidFill>
          <a:ln w="9525">
            <a:solidFill>
              <a:srgbClr val="FF0000"/>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9135" name="Text Box 98"/>
          <p:cNvSpPr txBox="1">
            <a:spLocks noChangeArrowheads="1"/>
          </p:cNvSpPr>
          <p:nvPr/>
        </p:nvSpPr>
        <p:spPr bwMode="auto">
          <a:xfrm>
            <a:off x="7081838" y="4797425"/>
            <a:ext cx="2624137" cy="461963"/>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eaLnBrk="0" hangingPunct="0"/>
            <a:r>
              <a:rPr lang="en-US" altLang="zh-CN" sz="2400" b="1">
                <a:solidFill>
                  <a:srgbClr val="FF0000"/>
                </a:solidFill>
                <a:ea typeface="宋体" panose="02010600030101010101" pitchFamily="2" charset="-122"/>
              </a:rPr>
              <a:t>H</a:t>
            </a:r>
            <a:r>
              <a:rPr lang="en-US" altLang="zh-CN" sz="2400" b="1" baseline="-25000">
                <a:solidFill>
                  <a:srgbClr val="FF0000"/>
                </a:solidFill>
                <a:ea typeface="宋体" panose="02010600030101010101" pitchFamily="2" charset="-122"/>
              </a:rPr>
              <a:t>1 </a:t>
            </a:r>
            <a:r>
              <a:rPr lang="zh-CN" altLang="en-US" sz="2400" b="1">
                <a:solidFill>
                  <a:srgbClr val="FF0000"/>
                </a:solidFill>
                <a:ea typeface="黑体" panose="02010609060101010101" pitchFamily="49" charset="-122"/>
              </a:rPr>
              <a:t>向 </a:t>
            </a:r>
            <a:r>
              <a:rPr lang="en-US" altLang="zh-CN" sz="2400" b="1">
                <a:solidFill>
                  <a:srgbClr val="FF0000"/>
                </a:solidFill>
                <a:ea typeface="黑体" panose="02010609060101010101" pitchFamily="49" charset="-122"/>
              </a:rPr>
              <a:t>H</a:t>
            </a:r>
            <a:r>
              <a:rPr lang="en-US" altLang="zh-CN" sz="2400" b="1" baseline="-25000">
                <a:solidFill>
                  <a:srgbClr val="FF0000"/>
                </a:solidFill>
                <a:ea typeface="黑体" panose="02010609060101010101" pitchFamily="49" charset="-122"/>
              </a:rPr>
              <a:t>5</a:t>
            </a:r>
            <a:r>
              <a:rPr lang="en-US" altLang="zh-CN" sz="2400" b="1">
                <a:solidFill>
                  <a:srgbClr val="FF0000"/>
                </a:solidFill>
                <a:ea typeface="黑体" panose="02010609060101010101" pitchFamily="49" charset="-122"/>
              </a:rPr>
              <a:t> </a:t>
            </a:r>
            <a:r>
              <a:rPr lang="zh-CN" altLang="en-US" sz="2400" b="1">
                <a:solidFill>
                  <a:srgbClr val="FF0000"/>
                </a:solidFill>
                <a:ea typeface="黑体" panose="02010609060101010101" pitchFamily="49" charset="-122"/>
              </a:rPr>
              <a:t>发送分组</a:t>
            </a:r>
          </a:p>
        </p:txBody>
      </p:sp>
      <p:sp>
        <p:nvSpPr>
          <p:cNvPr id="61539" name="Text Box 99"/>
          <p:cNvSpPr txBox="1">
            <a:spLocks noChangeArrowheads="1"/>
          </p:cNvSpPr>
          <p:nvPr/>
        </p:nvSpPr>
        <p:spPr bwMode="auto">
          <a:xfrm>
            <a:off x="7081838" y="3932238"/>
            <a:ext cx="2624137" cy="461962"/>
          </a:xfrm>
          <a:prstGeom prst="rect">
            <a:avLst/>
          </a:prstGeom>
          <a:noFill/>
          <a:ln w="952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eaLnBrk="0" hangingPunct="0"/>
            <a:r>
              <a:rPr lang="en-US" altLang="zh-CN" sz="2400" b="1">
                <a:solidFill>
                  <a:srgbClr val="0000CC"/>
                </a:solidFill>
                <a:ea typeface="宋体" panose="02010600030101010101" pitchFamily="2" charset="-122"/>
              </a:rPr>
              <a:t>H</a:t>
            </a:r>
            <a:r>
              <a:rPr lang="en-US" altLang="zh-CN" sz="2400" b="1" baseline="-25000">
                <a:solidFill>
                  <a:srgbClr val="0000CC"/>
                </a:solidFill>
                <a:ea typeface="宋体" panose="02010600030101010101" pitchFamily="2" charset="-122"/>
              </a:rPr>
              <a:t>2 </a:t>
            </a:r>
            <a:r>
              <a:rPr lang="zh-CN" altLang="en-US" sz="2400" b="1">
                <a:solidFill>
                  <a:srgbClr val="0000CC"/>
                </a:solidFill>
                <a:ea typeface="黑体" panose="02010609060101010101" pitchFamily="49" charset="-122"/>
              </a:rPr>
              <a:t>向 </a:t>
            </a:r>
            <a:r>
              <a:rPr lang="en-US" altLang="zh-CN" sz="2400" b="1">
                <a:solidFill>
                  <a:srgbClr val="0000CC"/>
                </a:solidFill>
                <a:ea typeface="黑体" panose="02010609060101010101" pitchFamily="49" charset="-122"/>
              </a:rPr>
              <a:t>H</a:t>
            </a:r>
            <a:r>
              <a:rPr lang="en-US" altLang="zh-CN" sz="2400" b="1" baseline="-25000">
                <a:solidFill>
                  <a:srgbClr val="0000CC"/>
                </a:solidFill>
                <a:ea typeface="黑体" panose="02010609060101010101" pitchFamily="49" charset="-122"/>
              </a:rPr>
              <a:t>6</a:t>
            </a:r>
            <a:r>
              <a:rPr lang="en-US" altLang="zh-CN" sz="2400" b="1">
                <a:solidFill>
                  <a:srgbClr val="0000CC"/>
                </a:solidFill>
                <a:ea typeface="黑体" panose="02010609060101010101" pitchFamily="49" charset="-122"/>
              </a:rPr>
              <a:t> </a:t>
            </a:r>
            <a:r>
              <a:rPr lang="zh-CN" altLang="en-US" sz="2400" b="1">
                <a:solidFill>
                  <a:srgbClr val="0000CC"/>
                </a:solidFill>
                <a:ea typeface="黑体" panose="02010609060101010101" pitchFamily="49" charset="-122"/>
              </a:rPr>
              <a:t>发送分组</a:t>
            </a:r>
          </a:p>
        </p:txBody>
      </p:sp>
      <p:sp>
        <p:nvSpPr>
          <p:cNvPr id="61540" name="Rectangle 100"/>
          <p:cNvSpPr>
            <a:spLocks noChangeArrowheads="1"/>
          </p:cNvSpPr>
          <p:nvPr/>
        </p:nvSpPr>
        <p:spPr bwMode="auto">
          <a:xfrm>
            <a:off x="1230313" y="4292600"/>
            <a:ext cx="234950" cy="217488"/>
          </a:xfrm>
          <a:prstGeom prst="rect">
            <a:avLst/>
          </a:prstGeom>
          <a:solidFill>
            <a:srgbClr val="FF0000"/>
          </a:solidFill>
          <a:ln w="9525">
            <a:solidFill>
              <a:srgbClr val="FF0000"/>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61541" name="Rectangle 101"/>
          <p:cNvSpPr>
            <a:spLocks noChangeArrowheads="1"/>
          </p:cNvSpPr>
          <p:nvPr/>
        </p:nvSpPr>
        <p:spPr bwMode="auto">
          <a:xfrm>
            <a:off x="3025775" y="1844675"/>
            <a:ext cx="234950" cy="217488"/>
          </a:xfrm>
          <a:prstGeom prst="rect">
            <a:avLst/>
          </a:prstGeom>
          <a:solidFill>
            <a:srgbClr val="0000CC"/>
          </a:solidFill>
          <a:ln w="9525">
            <a:solidFill>
              <a:srgbClr val="0000CC"/>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61537" name="Rectangle 97"/>
          <p:cNvSpPr>
            <a:spLocks noChangeArrowheads="1"/>
          </p:cNvSpPr>
          <p:nvPr/>
        </p:nvSpPr>
        <p:spPr bwMode="auto">
          <a:xfrm>
            <a:off x="1230313" y="4292600"/>
            <a:ext cx="234950" cy="217488"/>
          </a:xfrm>
          <a:prstGeom prst="rect">
            <a:avLst/>
          </a:prstGeom>
          <a:solidFill>
            <a:srgbClr val="FF0000"/>
          </a:solidFill>
          <a:ln w="9525">
            <a:solidFill>
              <a:srgbClr val="FF0000"/>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61536" name="Rectangle 96"/>
          <p:cNvSpPr>
            <a:spLocks noChangeArrowheads="1"/>
          </p:cNvSpPr>
          <p:nvPr/>
        </p:nvSpPr>
        <p:spPr bwMode="auto">
          <a:xfrm>
            <a:off x="3025775" y="1844675"/>
            <a:ext cx="234950" cy="217488"/>
          </a:xfrm>
          <a:prstGeom prst="rect">
            <a:avLst/>
          </a:prstGeom>
          <a:solidFill>
            <a:srgbClr val="0000CC"/>
          </a:solidFill>
          <a:ln w="9525">
            <a:solidFill>
              <a:srgbClr val="0000CC"/>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61542" name="Text Box 102"/>
          <p:cNvSpPr txBox="1">
            <a:spLocks noChangeArrowheads="1"/>
          </p:cNvSpPr>
          <p:nvPr/>
        </p:nvSpPr>
        <p:spPr bwMode="auto">
          <a:xfrm>
            <a:off x="5834063" y="1897063"/>
            <a:ext cx="3775075" cy="523875"/>
          </a:xfrm>
          <a:prstGeom prst="rect">
            <a:avLst/>
          </a:prstGeom>
          <a:solidFill>
            <a:srgbClr val="FFFF66"/>
          </a:solidFill>
          <a:ln w="76200" cmpd="tri">
            <a:solidFill>
              <a:srgbClr val="333399"/>
            </a:solidFill>
            <a:miter lim="800000"/>
            <a:headEnd/>
            <a:tailEnd/>
          </a:ln>
        </p:spPr>
        <p:txBody>
          <a:bodyPr wrap="none">
            <a:spAutoFit/>
          </a:bodyPr>
          <a:lstStyle/>
          <a:p>
            <a:pPr eaLnBrk="0" hangingPunct="0"/>
            <a:r>
              <a:rPr lang="zh-CN" altLang="en-US" sz="2800" b="1">
                <a:solidFill>
                  <a:srgbClr val="000099"/>
                </a:solidFill>
                <a:latin typeface="黑体" panose="02010609060101010101" pitchFamily="49" charset="-122"/>
                <a:ea typeface="黑体" panose="02010609060101010101" pitchFamily="49" charset="-122"/>
              </a:rPr>
              <a:t>注意分组路径的变化！</a:t>
            </a:r>
          </a:p>
        </p:txBody>
      </p:sp>
      <p:sp>
        <p:nvSpPr>
          <p:cNvPr id="89142" name="Text Box 103"/>
          <p:cNvSpPr txBox="1">
            <a:spLocks noChangeArrowheads="1"/>
          </p:cNvSpPr>
          <p:nvPr/>
        </p:nvSpPr>
        <p:spPr bwMode="auto">
          <a:xfrm>
            <a:off x="1143000" y="2420938"/>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Times New Roman" panose="02020603050405020304" pitchFamily="18" charset="0"/>
                <a:ea typeface="黑体" panose="02010609060101010101" pitchFamily="49" charset="-122"/>
              </a:rPr>
              <a:t>路由器</a:t>
            </a:r>
          </a:p>
        </p:txBody>
      </p:sp>
      <p:sp>
        <p:nvSpPr>
          <p:cNvPr id="89143" name="Text Box 105"/>
          <p:cNvSpPr txBox="1">
            <a:spLocks noChangeArrowheads="1"/>
          </p:cNvSpPr>
          <p:nvPr/>
        </p:nvSpPr>
        <p:spPr bwMode="auto">
          <a:xfrm>
            <a:off x="334963" y="3284538"/>
            <a:ext cx="6969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Times New Roman" panose="02020603050405020304" pitchFamily="18" charset="0"/>
                <a:ea typeface="黑体" panose="02010609060101010101" pitchFamily="49" charset="-122"/>
              </a:rPr>
              <a:t>主机</a:t>
            </a:r>
          </a:p>
        </p:txBody>
      </p:sp>
      <p:sp>
        <p:nvSpPr>
          <p:cNvPr id="89144" name="Line 106"/>
          <p:cNvSpPr>
            <a:spLocks noChangeShapeType="1"/>
          </p:cNvSpPr>
          <p:nvPr/>
        </p:nvSpPr>
        <p:spPr bwMode="auto">
          <a:xfrm>
            <a:off x="2089150" y="2708275"/>
            <a:ext cx="857250" cy="21590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89145" name="Line 107"/>
          <p:cNvSpPr>
            <a:spLocks noChangeShapeType="1"/>
          </p:cNvSpPr>
          <p:nvPr/>
        </p:nvSpPr>
        <p:spPr bwMode="auto">
          <a:xfrm>
            <a:off x="762000" y="3644900"/>
            <a:ext cx="390525" cy="576263"/>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89146"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E1DDC7E-B4F1-4361-A55D-6CC0615D4138}" type="slidenum">
              <a:rPr lang="zh-CN" altLang="en-US" smtClean="0"/>
              <a:pPr eaLnBrk="1" hangingPunct="1"/>
              <a:t>54</a:t>
            </a:fld>
            <a:endParaRPr lang="en-US" altLang="zh-CN" smtClean="0"/>
          </a:p>
        </p:txBody>
      </p:sp>
      <p:sp>
        <p:nvSpPr>
          <p:cNvPr id="89147"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532"/>
                                        </p:tgtEl>
                                        <p:attrNameLst>
                                          <p:attrName>style.visibility</p:attrName>
                                        </p:attrNameLst>
                                      </p:cBhvr>
                                      <p:to>
                                        <p:strVal val="visible"/>
                                      </p:to>
                                    </p:set>
                                  </p:childTnLst>
                                </p:cTn>
                              </p:par>
                            </p:childTnLst>
                          </p:cTn>
                        </p:par>
                        <p:par>
                          <p:cTn id="7" fill="hold" nodeType="afterGroup">
                            <p:stCondLst>
                              <p:cond delay="1"/>
                            </p:stCondLst>
                            <p:childTnLst>
                              <p:par>
                                <p:cTn id="8" presetID="0" presetClass="path" presetSubtype="0" accel="50000" decel="50000" fill="hold" grpId="1" nodeType="afterEffect">
                                  <p:stCondLst>
                                    <p:cond delay="0"/>
                                  </p:stCondLst>
                                  <p:childTnLst>
                                    <p:animMotion origin="layout" path="M 2.5E-6 -4.04624E-7 L 0.10468 -4.04624E-7 L 0.28889 0.15006 L 0.43802 -0.04439 L 0.52222 0.13318 " pathEditMode="relative" rAng="0" ptsTypes="AAAAA">
                                      <p:cBhvr>
                                        <p:cTn id="9" dur="2000" fill="hold"/>
                                        <p:tgtEl>
                                          <p:spTgt spid="61532"/>
                                        </p:tgtEl>
                                        <p:attrNameLst>
                                          <p:attrName>ppt_x,ppt_y</p:attrName>
                                        </p:attrNameLst>
                                      </p:cBhvr>
                                      <p:rCtr x="0" y="0"/>
                                    </p:animMotion>
                                  </p:childTnLst>
                                </p:cTn>
                              </p:par>
                            </p:childTnLst>
                          </p:cTn>
                        </p:par>
                        <p:par>
                          <p:cTn id="10" fill="hold" nodeType="afterGroup">
                            <p:stCondLst>
                              <p:cond delay="2001"/>
                            </p:stCondLst>
                            <p:childTnLst>
                              <p:par>
                                <p:cTn id="11" presetID="1" presetClass="exit" presetSubtype="0" fill="hold" grpId="2" nodeType="afterEffect">
                                  <p:stCondLst>
                                    <p:cond delay="0"/>
                                  </p:stCondLst>
                                  <p:childTnLst>
                                    <p:set>
                                      <p:cBhvr>
                                        <p:cTn id="12" dur="1" fill="hold">
                                          <p:stCondLst>
                                            <p:cond delay="0"/>
                                          </p:stCondLst>
                                        </p:cTn>
                                        <p:tgtEl>
                                          <p:spTgt spid="61532"/>
                                        </p:tgtEl>
                                        <p:attrNameLst>
                                          <p:attrName>style.visibility</p:attrName>
                                        </p:attrNameLst>
                                      </p:cBhvr>
                                      <p:to>
                                        <p:strVal val="hidden"/>
                                      </p:to>
                                    </p:set>
                                  </p:childTnLst>
                                </p:cTn>
                              </p:par>
                            </p:childTnLst>
                          </p:cTn>
                        </p:par>
                        <p:par>
                          <p:cTn id="13" fill="hold" nodeType="afterGroup">
                            <p:stCondLst>
                              <p:cond delay="2002"/>
                            </p:stCondLst>
                            <p:childTnLst>
                              <p:par>
                                <p:cTn id="14" presetID="1" presetClass="entr" presetSubtype="0" fill="hold" grpId="0" nodeType="afterEffect">
                                  <p:stCondLst>
                                    <p:cond delay="0"/>
                                  </p:stCondLst>
                                  <p:childTnLst>
                                    <p:set>
                                      <p:cBhvr>
                                        <p:cTn id="15" dur="1" fill="hold">
                                          <p:stCondLst>
                                            <p:cond delay="0"/>
                                          </p:stCondLst>
                                        </p:cTn>
                                        <p:tgtEl>
                                          <p:spTgt spid="61534"/>
                                        </p:tgtEl>
                                        <p:attrNameLst>
                                          <p:attrName>style.visibility</p:attrName>
                                        </p:attrNameLst>
                                      </p:cBhvr>
                                      <p:to>
                                        <p:strVal val="visible"/>
                                      </p:to>
                                    </p:set>
                                  </p:childTnLst>
                                </p:cTn>
                              </p:par>
                            </p:childTnLst>
                          </p:cTn>
                        </p:par>
                        <p:par>
                          <p:cTn id="16" fill="hold" nodeType="afterGroup">
                            <p:stCondLst>
                              <p:cond delay="2003"/>
                            </p:stCondLst>
                            <p:childTnLst>
                              <p:par>
                                <p:cTn id="17" presetID="0" presetClass="path" presetSubtype="0" accel="50000" decel="50000" fill="hold" grpId="1" nodeType="afterEffect">
                                  <p:stCondLst>
                                    <p:cond delay="0"/>
                                  </p:stCondLst>
                                  <p:childTnLst>
                                    <p:animMotion origin="layout" path="M -2.5E-6 -4.04624E-7 L 0.10313 0.00208 L 0.17934 -0.20717 L 0.43021 -0.05503 L 0.52535 0.14382 " pathEditMode="relative" rAng="0" ptsTypes="AAAAA">
                                      <p:cBhvr>
                                        <p:cTn id="18" dur="2000" fill="hold"/>
                                        <p:tgtEl>
                                          <p:spTgt spid="61534"/>
                                        </p:tgtEl>
                                        <p:attrNameLst>
                                          <p:attrName>ppt_x,ppt_y</p:attrName>
                                        </p:attrNameLst>
                                      </p:cBhvr>
                                      <p:rCtr x="0" y="0"/>
                                    </p:animMotion>
                                  </p:childTnLst>
                                </p:cTn>
                              </p:par>
                            </p:childTnLst>
                          </p:cTn>
                        </p:par>
                        <p:par>
                          <p:cTn id="19" fill="hold" nodeType="afterGroup">
                            <p:stCondLst>
                              <p:cond delay="4003"/>
                            </p:stCondLst>
                            <p:childTnLst>
                              <p:par>
                                <p:cTn id="20" presetID="1" presetClass="exit" presetSubtype="0" fill="hold" grpId="2" nodeType="afterEffect">
                                  <p:stCondLst>
                                    <p:cond delay="0"/>
                                  </p:stCondLst>
                                  <p:childTnLst>
                                    <p:set>
                                      <p:cBhvr>
                                        <p:cTn id="21" dur="1" fill="hold">
                                          <p:stCondLst>
                                            <p:cond delay="0"/>
                                          </p:stCondLst>
                                        </p:cTn>
                                        <p:tgtEl>
                                          <p:spTgt spid="61534"/>
                                        </p:tgtEl>
                                        <p:attrNameLst>
                                          <p:attrName>style.visibility</p:attrName>
                                        </p:attrNameLst>
                                      </p:cBhvr>
                                      <p:to>
                                        <p:strVal val="hidden"/>
                                      </p:to>
                                    </p:set>
                                  </p:childTnLst>
                                </p:cTn>
                              </p:par>
                            </p:childTnLst>
                          </p:cTn>
                        </p:par>
                        <p:par>
                          <p:cTn id="22" fill="hold" nodeType="afterGroup">
                            <p:stCondLst>
                              <p:cond delay="4004"/>
                            </p:stCondLst>
                            <p:childTnLst>
                              <p:par>
                                <p:cTn id="23" presetID="1" presetClass="entr" presetSubtype="0" fill="hold" grpId="0" nodeType="afterEffect">
                                  <p:stCondLst>
                                    <p:cond delay="0"/>
                                  </p:stCondLst>
                                  <p:childTnLst>
                                    <p:set>
                                      <p:cBhvr>
                                        <p:cTn id="24" dur="1" fill="hold">
                                          <p:stCondLst>
                                            <p:cond delay="0"/>
                                          </p:stCondLst>
                                        </p:cTn>
                                        <p:tgtEl>
                                          <p:spTgt spid="61539"/>
                                        </p:tgtEl>
                                        <p:attrNameLst>
                                          <p:attrName>style.visibility</p:attrName>
                                        </p:attrNameLst>
                                      </p:cBhvr>
                                      <p:to>
                                        <p:strVal val="visible"/>
                                      </p:to>
                                    </p:set>
                                  </p:childTnLst>
                                </p:cTn>
                              </p:par>
                            </p:childTnLst>
                          </p:cTn>
                        </p:par>
                        <p:par>
                          <p:cTn id="25" fill="hold" nodeType="afterGroup">
                            <p:stCondLst>
                              <p:cond delay="4005"/>
                            </p:stCondLst>
                            <p:childTnLst>
                              <p:par>
                                <p:cTn id="26" presetID="35" presetClass="emph" presetSubtype="0" repeatCount="3000" fill="hold" grpId="1" nodeType="afterEffect">
                                  <p:stCondLst>
                                    <p:cond delay="0"/>
                                  </p:stCondLst>
                                  <p:childTnLst>
                                    <p:anim calcmode="discrete" valueType="str">
                                      <p:cBhvr>
                                        <p:cTn id="27" dur="1000" fill="hold"/>
                                        <p:tgtEl>
                                          <p:spTgt spid="61539"/>
                                        </p:tgtEl>
                                        <p:attrNameLst>
                                          <p:attrName>style.visibility</p:attrName>
                                        </p:attrNameLst>
                                      </p:cBhvr>
                                      <p:tavLst>
                                        <p:tav tm="0">
                                          <p:val>
                                            <p:strVal val="hidden"/>
                                          </p:val>
                                        </p:tav>
                                        <p:tav tm="50000">
                                          <p:val>
                                            <p:strVal val="visible"/>
                                          </p:val>
                                        </p:tav>
                                      </p:tavLst>
                                    </p:anim>
                                  </p:childTnLst>
                                </p:cTn>
                              </p:par>
                            </p:childTnLst>
                          </p:cTn>
                        </p:par>
                        <p:par>
                          <p:cTn id="28" fill="hold" nodeType="afterGroup">
                            <p:stCondLst>
                              <p:cond delay="7005"/>
                            </p:stCondLst>
                            <p:childTnLst>
                              <p:par>
                                <p:cTn id="29" presetID="1" presetClass="entr" presetSubtype="0" fill="hold" grpId="0" nodeType="afterEffect">
                                  <p:stCondLst>
                                    <p:cond delay="0"/>
                                  </p:stCondLst>
                                  <p:childTnLst>
                                    <p:set>
                                      <p:cBhvr>
                                        <p:cTn id="30" dur="1" fill="hold">
                                          <p:stCondLst>
                                            <p:cond delay="0"/>
                                          </p:stCondLst>
                                        </p:cTn>
                                        <p:tgtEl>
                                          <p:spTgt spid="61535"/>
                                        </p:tgtEl>
                                        <p:attrNameLst>
                                          <p:attrName>style.visibility</p:attrName>
                                        </p:attrNameLst>
                                      </p:cBhvr>
                                      <p:to>
                                        <p:strVal val="visible"/>
                                      </p:to>
                                    </p:set>
                                  </p:childTnLst>
                                </p:cTn>
                              </p:par>
                            </p:childTnLst>
                          </p:cTn>
                        </p:par>
                        <p:par>
                          <p:cTn id="31" fill="hold" nodeType="afterGroup">
                            <p:stCondLst>
                              <p:cond delay="7006"/>
                            </p:stCondLst>
                            <p:childTnLst>
                              <p:par>
                                <p:cTn id="32" presetID="0" presetClass="path" presetSubtype="0" accel="50000" decel="50000" fill="hold" grpId="1" nodeType="afterEffect">
                                  <p:stCondLst>
                                    <p:cond delay="0"/>
                                  </p:stCondLst>
                                  <p:childTnLst>
                                    <p:animMotion origin="layout" path="M 2.22222E-6 1.79191E-6 L 0.00156 0.14381 L 0.25711 0.29803 L 0.36979 0.21572 " pathEditMode="relative" rAng="0" ptsTypes="AAAA">
                                      <p:cBhvr>
                                        <p:cTn id="33" dur="2000" fill="hold"/>
                                        <p:tgtEl>
                                          <p:spTgt spid="61535"/>
                                        </p:tgtEl>
                                        <p:attrNameLst>
                                          <p:attrName>ppt_x,ppt_y</p:attrName>
                                        </p:attrNameLst>
                                      </p:cBhvr>
                                      <p:rCtr x="0" y="0"/>
                                    </p:animMotion>
                                  </p:childTnLst>
                                </p:cTn>
                              </p:par>
                            </p:childTnLst>
                          </p:cTn>
                        </p:par>
                        <p:par>
                          <p:cTn id="34" fill="hold" nodeType="afterGroup">
                            <p:stCondLst>
                              <p:cond delay="9006"/>
                            </p:stCondLst>
                            <p:childTnLst>
                              <p:par>
                                <p:cTn id="35" presetID="1" presetClass="exit" presetSubtype="0" fill="hold" grpId="2" nodeType="afterEffect">
                                  <p:stCondLst>
                                    <p:cond delay="0"/>
                                  </p:stCondLst>
                                  <p:childTnLst>
                                    <p:set>
                                      <p:cBhvr>
                                        <p:cTn id="36" dur="1" fill="hold">
                                          <p:stCondLst>
                                            <p:cond delay="0"/>
                                          </p:stCondLst>
                                        </p:cTn>
                                        <p:tgtEl>
                                          <p:spTgt spid="61535"/>
                                        </p:tgtEl>
                                        <p:attrNameLst>
                                          <p:attrName>style.visibility</p:attrName>
                                        </p:attrNameLst>
                                      </p:cBhvr>
                                      <p:to>
                                        <p:strVal val="hidden"/>
                                      </p:to>
                                    </p:set>
                                  </p:childTnLst>
                                </p:cTn>
                              </p:par>
                            </p:childTnLst>
                          </p:cTn>
                        </p:par>
                        <p:par>
                          <p:cTn id="37" fill="hold" nodeType="afterGroup">
                            <p:stCondLst>
                              <p:cond delay="9007"/>
                            </p:stCondLst>
                            <p:childTnLst>
                              <p:par>
                                <p:cTn id="38" presetID="1" presetClass="entr" presetSubtype="0" fill="hold" grpId="0" nodeType="afterEffect">
                                  <p:stCondLst>
                                    <p:cond delay="0"/>
                                  </p:stCondLst>
                                  <p:childTnLst>
                                    <p:set>
                                      <p:cBhvr>
                                        <p:cTn id="39" dur="1" fill="hold">
                                          <p:stCondLst>
                                            <p:cond delay="0"/>
                                          </p:stCondLst>
                                        </p:cTn>
                                        <p:tgtEl>
                                          <p:spTgt spid="61542"/>
                                        </p:tgtEl>
                                        <p:attrNameLst>
                                          <p:attrName>style.visibility</p:attrName>
                                        </p:attrNameLst>
                                      </p:cBhvr>
                                      <p:to>
                                        <p:strVal val="visible"/>
                                      </p:to>
                                    </p:set>
                                  </p:childTnLst>
                                </p:cTn>
                              </p:par>
                            </p:childTnLst>
                          </p:cTn>
                        </p:par>
                        <p:par>
                          <p:cTn id="40" fill="hold" nodeType="afterGroup">
                            <p:stCondLst>
                              <p:cond delay="9008"/>
                            </p:stCondLst>
                            <p:childTnLst>
                              <p:par>
                                <p:cTn id="41" presetID="35" presetClass="emph" presetSubtype="0" repeatCount="2000" fill="hold" grpId="1" nodeType="afterEffect">
                                  <p:stCondLst>
                                    <p:cond delay="0"/>
                                  </p:stCondLst>
                                  <p:childTnLst>
                                    <p:anim calcmode="discrete" valueType="str">
                                      <p:cBhvr>
                                        <p:cTn id="42" dur="1000" fill="hold"/>
                                        <p:tgtEl>
                                          <p:spTgt spid="61542"/>
                                        </p:tgtEl>
                                        <p:attrNameLst>
                                          <p:attrName>style.visibility</p:attrName>
                                        </p:attrNameLst>
                                      </p:cBhvr>
                                      <p:tavLst>
                                        <p:tav tm="0">
                                          <p:val>
                                            <p:strVal val="hidden"/>
                                          </p:val>
                                        </p:tav>
                                        <p:tav tm="50000">
                                          <p:val>
                                            <p:strVal val="visible"/>
                                          </p:val>
                                        </p:tav>
                                      </p:tavLst>
                                    </p:anim>
                                  </p:childTnLst>
                                </p:cTn>
                              </p:par>
                            </p:childTnLst>
                          </p:cTn>
                        </p:par>
                        <p:par>
                          <p:cTn id="43" fill="hold" nodeType="afterGroup">
                            <p:stCondLst>
                              <p:cond delay="11008"/>
                            </p:stCondLst>
                            <p:childTnLst>
                              <p:par>
                                <p:cTn id="44" presetID="1" presetClass="entr" presetSubtype="0" fill="hold" grpId="0" nodeType="afterEffect">
                                  <p:stCondLst>
                                    <p:cond delay="0"/>
                                  </p:stCondLst>
                                  <p:childTnLst>
                                    <p:set>
                                      <p:cBhvr>
                                        <p:cTn id="45" dur="1" fill="hold">
                                          <p:stCondLst>
                                            <p:cond delay="0"/>
                                          </p:stCondLst>
                                        </p:cTn>
                                        <p:tgtEl>
                                          <p:spTgt spid="61540"/>
                                        </p:tgtEl>
                                        <p:attrNameLst>
                                          <p:attrName>style.visibility</p:attrName>
                                        </p:attrNameLst>
                                      </p:cBhvr>
                                      <p:to>
                                        <p:strVal val="visible"/>
                                      </p:to>
                                    </p:set>
                                  </p:childTnLst>
                                </p:cTn>
                              </p:par>
                            </p:childTnLst>
                          </p:cTn>
                        </p:par>
                        <p:par>
                          <p:cTn id="46" fill="hold" nodeType="afterGroup">
                            <p:stCondLst>
                              <p:cond delay="11009"/>
                            </p:stCondLst>
                            <p:childTnLst>
                              <p:par>
                                <p:cTn id="47" presetID="0" presetClass="path" presetSubtype="0" accel="50000" decel="50000" fill="hold" grpId="1" nodeType="afterEffect">
                                  <p:stCondLst>
                                    <p:cond delay="0"/>
                                  </p:stCondLst>
                                  <p:childTnLst>
                                    <p:animMotion origin="layout" path="M -2.5E-6 -4.04624E-7 L 0.10313 0.00208 L 0.17934 -0.20717 L 0.43021 -0.05503 L 0.52535 0.14382 " pathEditMode="relative" rAng="0" ptsTypes="AAAAA">
                                      <p:cBhvr>
                                        <p:cTn id="48" dur="2000" fill="hold"/>
                                        <p:tgtEl>
                                          <p:spTgt spid="61540"/>
                                        </p:tgtEl>
                                        <p:attrNameLst>
                                          <p:attrName>ppt_x,ppt_y</p:attrName>
                                        </p:attrNameLst>
                                      </p:cBhvr>
                                      <p:rCtr x="0" y="0"/>
                                    </p:animMotion>
                                  </p:childTnLst>
                                </p:cTn>
                              </p:par>
                            </p:childTnLst>
                          </p:cTn>
                        </p:par>
                        <p:par>
                          <p:cTn id="49" fill="hold" nodeType="afterGroup">
                            <p:stCondLst>
                              <p:cond delay="13009"/>
                            </p:stCondLst>
                            <p:childTnLst>
                              <p:par>
                                <p:cTn id="50" presetID="1" presetClass="exit" presetSubtype="0" fill="hold" grpId="2" nodeType="afterEffect">
                                  <p:stCondLst>
                                    <p:cond delay="0"/>
                                  </p:stCondLst>
                                  <p:childTnLst>
                                    <p:set>
                                      <p:cBhvr>
                                        <p:cTn id="51" dur="1" fill="hold">
                                          <p:stCondLst>
                                            <p:cond delay="0"/>
                                          </p:stCondLst>
                                        </p:cTn>
                                        <p:tgtEl>
                                          <p:spTgt spid="61540"/>
                                        </p:tgtEl>
                                        <p:attrNameLst>
                                          <p:attrName>style.visibility</p:attrName>
                                        </p:attrNameLst>
                                      </p:cBhvr>
                                      <p:to>
                                        <p:strVal val="hidden"/>
                                      </p:to>
                                    </p:set>
                                  </p:childTnLst>
                                </p:cTn>
                              </p:par>
                            </p:childTnLst>
                          </p:cTn>
                        </p:par>
                        <p:par>
                          <p:cTn id="52" fill="hold" nodeType="afterGroup">
                            <p:stCondLst>
                              <p:cond delay="13010"/>
                            </p:stCondLst>
                            <p:childTnLst>
                              <p:par>
                                <p:cTn id="53" presetID="1" presetClass="entr" presetSubtype="0" fill="hold" grpId="0" nodeType="afterEffect">
                                  <p:stCondLst>
                                    <p:cond delay="0"/>
                                  </p:stCondLst>
                                  <p:childTnLst>
                                    <p:set>
                                      <p:cBhvr>
                                        <p:cTn id="54" dur="1" fill="hold">
                                          <p:stCondLst>
                                            <p:cond delay="0"/>
                                          </p:stCondLst>
                                        </p:cTn>
                                        <p:tgtEl>
                                          <p:spTgt spid="61541"/>
                                        </p:tgtEl>
                                        <p:attrNameLst>
                                          <p:attrName>style.visibility</p:attrName>
                                        </p:attrNameLst>
                                      </p:cBhvr>
                                      <p:to>
                                        <p:strVal val="visible"/>
                                      </p:to>
                                    </p:set>
                                  </p:childTnLst>
                                </p:cTn>
                              </p:par>
                            </p:childTnLst>
                          </p:cTn>
                        </p:par>
                        <p:par>
                          <p:cTn id="55" fill="hold" nodeType="afterGroup">
                            <p:stCondLst>
                              <p:cond delay="13011"/>
                            </p:stCondLst>
                            <p:childTnLst>
                              <p:par>
                                <p:cTn id="56" presetID="0" presetClass="path" presetSubtype="0" accel="50000" decel="50000" fill="hold" grpId="1" nodeType="afterEffect">
                                  <p:stCondLst>
                                    <p:cond delay="0"/>
                                  </p:stCondLst>
                                  <p:childTnLst>
                                    <p:animMotion origin="layout" path="M 2.22222E-6 1.79191E-6 L 0.00156 0.14381 L 0.25711 0.29803 L 0.36979 0.21572 " pathEditMode="relative" rAng="0" ptsTypes="AAAA">
                                      <p:cBhvr>
                                        <p:cTn id="57" dur="2000" fill="hold"/>
                                        <p:tgtEl>
                                          <p:spTgt spid="61541"/>
                                        </p:tgtEl>
                                        <p:attrNameLst>
                                          <p:attrName>ppt_x,ppt_y</p:attrName>
                                        </p:attrNameLst>
                                      </p:cBhvr>
                                      <p:rCtr x="0" y="0"/>
                                    </p:animMotion>
                                  </p:childTnLst>
                                </p:cTn>
                              </p:par>
                            </p:childTnLst>
                          </p:cTn>
                        </p:par>
                        <p:par>
                          <p:cTn id="58" fill="hold" nodeType="afterGroup">
                            <p:stCondLst>
                              <p:cond delay="15011"/>
                            </p:stCondLst>
                            <p:childTnLst>
                              <p:par>
                                <p:cTn id="59" presetID="1" presetClass="exit" presetSubtype="0" fill="hold" grpId="2" nodeType="afterEffect">
                                  <p:stCondLst>
                                    <p:cond delay="0"/>
                                  </p:stCondLst>
                                  <p:childTnLst>
                                    <p:set>
                                      <p:cBhvr>
                                        <p:cTn id="60" dur="1" fill="hold">
                                          <p:stCondLst>
                                            <p:cond delay="0"/>
                                          </p:stCondLst>
                                        </p:cTn>
                                        <p:tgtEl>
                                          <p:spTgt spid="61541"/>
                                        </p:tgtEl>
                                        <p:attrNameLst>
                                          <p:attrName>style.visibility</p:attrName>
                                        </p:attrNameLst>
                                      </p:cBhvr>
                                      <p:to>
                                        <p:strVal val="hidden"/>
                                      </p:to>
                                    </p:set>
                                  </p:childTnLst>
                                </p:cTn>
                              </p:par>
                            </p:childTnLst>
                          </p:cTn>
                        </p:par>
                        <p:par>
                          <p:cTn id="61" fill="hold" nodeType="afterGroup">
                            <p:stCondLst>
                              <p:cond delay="15012"/>
                            </p:stCondLst>
                            <p:childTnLst>
                              <p:par>
                                <p:cTn id="62" presetID="1" presetClass="entr" presetSubtype="0" fill="hold" grpId="0" nodeType="afterEffect">
                                  <p:stCondLst>
                                    <p:cond delay="0"/>
                                  </p:stCondLst>
                                  <p:childTnLst>
                                    <p:set>
                                      <p:cBhvr>
                                        <p:cTn id="63" dur="1" fill="hold">
                                          <p:stCondLst>
                                            <p:cond delay="0"/>
                                          </p:stCondLst>
                                        </p:cTn>
                                        <p:tgtEl>
                                          <p:spTgt spid="61537"/>
                                        </p:tgtEl>
                                        <p:attrNameLst>
                                          <p:attrName>style.visibility</p:attrName>
                                        </p:attrNameLst>
                                      </p:cBhvr>
                                      <p:to>
                                        <p:strVal val="visible"/>
                                      </p:to>
                                    </p:set>
                                  </p:childTnLst>
                                </p:cTn>
                              </p:par>
                            </p:childTnLst>
                          </p:cTn>
                        </p:par>
                        <p:par>
                          <p:cTn id="64" fill="hold" nodeType="afterGroup">
                            <p:stCondLst>
                              <p:cond delay="15013"/>
                            </p:stCondLst>
                            <p:childTnLst>
                              <p:par>
                                <p:cTn id="65" presetID="0" presetClass="path" presetSubtype="0" accel="50000" decel="50000" fill="hold" grpId="1" nodeType="afterEffect">
                                  <p:stCondLst>
                                    <p:cond delay="0"/>
                                  </p:stCondLst>
                                  <p:childTnLst>
                                    <p:animMotion origin="layout" path="M -3.05556E-6 1.84971E-6 L 0.10469 0.00416 L 0.18733 -0.19885 L 0.29358 0.14798 L 0.43802 -0.04879 L 0.52535 0.13734 " pathEditMode="relative" rAng="0" ptsTypes="AAAAAA">
                                      <p:cBhvr>
                                        <p:cTn id="66" dur="2000" fill="hold"/>
                                        <p:tgtEl>
                                          <p:spTgt spid="61537"/>
                                        </p:tgtEl>
                                        <p:attrNameLst>
                                          <p:attrName>ppt_x,ppt_y</p:attrName>
                                        </p:attrNameLst>
                                      </p:cBhvr>
                                      <p:rCtr x="0" y="0"/>
                                    </p:animMotion>
                                  </p:childTnLst>
                                </p:cTn>
                              </p:par>
                            </p:childTnLst>
                          </p:cTn>
                        </p:par>
                        <p:par>
                          <p:cTn id="67" fill="hold" nodeType="afterGroup">
                            <p:stCondLst>
                              <p:cond delay="17013"/>
                            </p:stCondLst>
                            <p:childTnLst>
                              <p:par>
                                <p:cTn id="68" presetID="1" presetClass="exit" presetSubtype="0" fill="hold" grpId="2" nodeType="afterEffect">
                                  <p:stCondLst>
                                    <p:cond delay="0"/>
                                  </p:stCondLst>
                                  <p:childTnLst>
                                    <p:set>
                                      <p:cBhvr>
                                        <p:cTn id="69" dur="1" fill="hold">
                                          <p:stCondLst>
                                            <p:cond delay="0"/>
                                          </p:stCondLst>
                                        </p:cTn>
                                        <p:tgtEl>
                                          <p:spTgt spid="61537"/>
                                        </p:tgtEl>
                                        <p:attrNameLst>
                                          <p:attrName>style.visibility</p:attrName>
                                        </p:attrNameLst>
                                      </p:cBhvr>
                                      <p:to>
                                        <p:strVal val="hidden"/>
                                      </p:to>
                                    </p:set>
                                  </p:childTnLst>
                                </p:cTn>
                              </p:par>
                            </p:childTnLst>
                          </p:cTn>
                        </p:par>
                        <p:par>
                          <p:cTn id="70" fill="hold" nodeType="afterGroup">
                            <p:stCondLst>
                              <p:cond delay="17014"/>
                            </p:stCondLst>
                            <p:childTnLst>
                              <p:par>
                                <p:cTn id="71" presetID="1" presetClass="entr" presetSubtype="0" fill="hold" grpId="0" nodeType="afterEffect">
                                  <p:stCondLst>
                                    <p:cond delay="0"/>
                                  </p:stCondLst>
                                  <p:childTnLst>
                                    <p:set>
                                      <p:cBhvr>
                                        <p:cTn id="72" dur="1" fill="hold">
                                          <p:stCondLst>
                                            <p:cond delay="0"/>
                                          </p:stCondLst>
                                        </p:cTn>
                                        <p:tgtEl>
                                          <p:spTgt spid="61536"/>
                                        </p:tgtEl>
                                        <p:attrNameLst>
                                          <p:attrName>style.visibility</p:attrName>
                                        </p:attrNameLst>
                                      </p:cBhvr>
                                      <p:to>
                                        <p:strVal val="visible"/>
                                      </p:to>
                                    </p:set>
                                  </p:childTnLst>
                                </p:cTn>
                              </p:par>
                            </p:childTnLst>
                          </p:cTn>
                        </p:par>
                        <p:par>
                          <p:cTn id="73" fill="hold" nodeType="afterGroup">
                            <p:stCondLst>
                              <p:cond delay="17015"/>
                            </p:stCondLst>
                            <p:childTnLst>
                              <p:par>
                                <p:cTn id="74" presetID="0" presetClass="path" presetSubtype="0" accel="50000" decel="50000" fill="hold" grpId="1" nodeType="afterEffect">
                                  <p:stCondLst>
                                    <p:cond delay="0"/>
                                  </p:stCondLst>
                                  <p:childTnLst>
                                    <p:animMotion origin="layout" path="M 1.66667E-6 -5.43353E-6 L 0.00173 0.16485 L 0.15729 0.06751 L 0.25399 0.30011 L 0.36996 0.21965 " pathEditMode="relative" rAng="0" ptsTypes="AAAAA">
                                      <p:cBhvr>
                                        <p:cTn id="75" dur="2000" fill="hold"/>
                                        <p:tgtEl>
                                          <p:spTgt spid="61536"/>
                                        </p:tgtEl>
                                        <p:attrNameLst>
                                          <p:attrName>ppt_x,ppt_y</p:attrName>
                                        </p:attrNameLst>
                                      </p:cBhvr>
                                      <p:rCtr x="0" y="0"/>
                                    </p:animMotion>
                                  </p:childTnLst>
                                </p:cTn>
                              </p:par>
                            </p:childTnLst>
                          </p:cTn>
                        </p:par>
                        <p:par>
                          <p:cTn id="76" fill="hold" nodeType="afterGroup">
                            <p:stCondLst>
                              <p:cond delay="19015"/>
                            </p:stCondLst>
                            <p:childTnLst>
                              <p:par>
                                <p:cTn id="77" presetID="1" presetClass="exit" presetSubtype="0" fill="hold" grpId="2" nodeType="afterEffect">
                                  <p:stCondLst>
                                    <p:cond delay="0"/>
                                  </p:stCondLst>
                                  <p:childTnLst>
                                    <p:set>
                                      <p:cBhvr>
                                        <p:cTn id="78" dur="1" fill="hold">
                                          <p:stCondLst>
                                            <p:cond delay="0"/>
                                          </p:stCondLst>
                                        </p:cTn>
                                        <p:tgtEl>
                                          <p:spTgt spid="6153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35" grpId="0" animBg="1"/>
      <p:bldP spid="61535" grpId="1" animBg="1"/>
      <p:bldP spid="61535" grpId="2" animBg="1"/>
      <p:bldP spid="61532" grpId="0" animBg="1"/>
      <p:bldP spid="61532" grpId="1" animBg="1"/>
      <p:bldP spid="61532" grpId="2" animBg="1"/>
      <p:bldP spid="61534" grpId="0" animBg="1"/>
      <p:bldP spid="61534" grpId="1" animBg="1"/>
      <p:bldP spid="61534" grpId="2" animBg="1"/>
      <p:bldP spid="61539" grpId="0" animBg="1"/>
      <p:bldP spid="61539" grpId="1" animBg="1"/>
      <p:bldP spid="61540" grpId="0" animBg="1"/>
      <p:bldP spid="61540" grpId="1" animBg="1"/>
      <p:bldP spid="61540" grpId="2" animBg="1"/>
      <p:bldP spid="61541" grpId="0" animBg="1"/>
      <p:bldP spid="61541" grpId="1" animBg="1"/>
      <p:bldP spid="61541" grpId="2" animBg="1"/>
      <p:bldP spid="61537" grpId="0" animBg="1"/>
      <p:bldP spid="61537" grpId="1" animBg="1"/>
      <p:bldP spid="61537" grpId="2" animBg="1"/>
      <p:bldP spid="61536" grpId="0" animBg="1"/>
      <p:bldP spid="61536" grpId="1" animBg="1"/>
      <p:bldP spid="61536" grpId="2" animBg="1"/>
      <p:bldP spid="61542" grpId="0" animBg="1"/>
      <p:bldP spid="61542" grpId="1"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注意分组的</a:t>
            </a:r>
            <a:r>
              <a:rPr lang="zh-CN" altLang="en-US" smtClean="0">
                <a:solidFill>
                  <a:srgbClr val="FF0000"/>
                </a:solidFill>
                <a:ea typeface="黑体" panose="02010609060101010101" pitchFamily="49" charset="-122"/>
              </a:rPr>
              <a:t>存储转发</a:t>
            </a:r>
            <a:r>
              <a:rPr lang="zh-CN" altLang="en-US" smtClean="0">
                <a:ea typeface="黑体" panose="02010609060101010101" pitchFamily="49" charset="-122"/>
              </a:rPr>
              <a:t>过程</a:t>
            </a:r>
          </a:p>
        </p:txBody>
      </p:sp>
      <p:grpSp>
        <p:nvGrpSpPr>
          <p:cNvPr id="91138" name="Group 3"/>
          <p:cNvGrpSpPr>
            <a:grpSpLocks/>
          </p:cNvGrpSpPr>
          <p:nvPr/>
        </p:nvGrpSpPr>
        <p:grpSpPr bwMode="auto">
          <a:xfrm>
            <a:off x="1971675" y="2176463"/>
            <a:ext cx="4432300" cy="3667125"/>
            <a:chOff x="2256" y="2386"/>
            <a:chExt cx="2147" cy="1919"/>
          </a:xfrm>
        </p:grpSpPr>
        <p:sp>
          <p:nvSpPr>
            <p:cNvPr id="91139" name="Oval 4"/>
            <p:cNvSpPr>
              <a:spLocks noChangeArrowheads="1"/>
            </p:cNvSpPr>
            <p:nvPr/>
          </p:nvSpPr>
          <p:spPr bwMode="auto">
            <a:xfrm rot="-1674972">
              <a:off x="2346" y="2526"/>
              <a:ext cx="1015" cy="692"/>
            </a:xfrm>
            <a:prstGeom prst="ellipse">
              <a:avLst/>
            </a:prstGeom>
            <a:solidFill>
              <a:srgbClr val="FFFF99"/>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91140" name="Oval 5"/>
            <p:cNvSpPr>
              <a:spLocks noChangeArrowheads="1"/>
            </p:cNvSpPr>
            <p:nvPr/>
          </p:nvSpPr>
          <p:spPr bwMode="auto">
            <a:xfrm rot="-774972">
              <a:off x="3025" y="2386"/>
              <a:ext cx="887" cy="642"/>
            </a:xfrm>
            <a:prstGeom prst="ellipse">
              <a:avLst/>
            </a:prstGeom>
            <a:solidFill>
              <a:srgbClr val="FFFF99"/>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91141" name="Oval 6"/>
            <p:cNvSpPr>
              <a:spLocks noChangeArrowheads="1"/>
            </p:cNvSpPr>
            <p:nvPr/>
          </p:nvSpPr>
          <p:spPr bwMode="auto">
            <a:xfrm rot="-174972">
              <a:off x="3673" y="2621"/>
              <a:ext cx="655" cy="832"/>
            </a:xfrm>
            <a:prstGeom prst="ellipse">
              <a:avLst/>
            </a:prstGeom>
            <a:solidFill>
              <a:srgbClr val="FFFF99"/>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91142" name="Oval 7"/>
            <p:cNvSpPr>
              <a:spLocks noChangeArrowheads="1"/>
            </p:cNvSpPr>
            <p:nvPr/>
          </p:nvSpPr>
          <p:spPr bwMode="auto">
            <a:xfrm rot="-3234972">
              <a:off x="3753" y="3108"/>
              <a:ext cx="687" cy="610"/>
            </a:xfrm>
            <a:prstGeom prst="ellipse">
              <a:avLst/>
            </a:prstGeom>
            <a:solidFill>
              <a:srgbClr val="FFFF99"/>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91143" name="Oval 8"/>
            <p:cNvSpPr>
              <a:spLocks noChangeArrowheads="1"/>
            </p:cNvSpPr>
            <p:nvPr/>
          </p:nvSpPr>
          <p:spPr bwMode="auto">
            <a:xfrm rot="-1674972">
              <a:off x="3052" y="3445"/>
              <a:ext cx="1110" cy="772"/>
            </a:xfrm>
            <a:prstGeom prst="ellipse">
              <a:avLst/>
            </a:prstGeom>
            <a:solidFill>
              <a:srgbClr val="FFFF99"/>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91144" name="Oval 9"/>
            <p:cNvSpPr>
              <a:spLocks noChangeArrowheads="1"/>
            </p:cNvSpPr>
            <p:nvPr/>
          </p:nvSpPr>
          <p:spPr bwMode="auto">
            <a:xfrm rot="-594972">
              <a:off x="2616" y="3772"/>
              <a:ext cx="793" cy="533"/>
            </a:xfrm>
            <a:prstGeom prst="ellipse">
              <a:avLst/>
            </a:prstGeom>
            <a:solidFill>
              <a:srgbClr val="FFFF99"/>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91145" name="Oval 10"/>
            <p:cNvSpPr>
              <a:spLocks noChangeArrowheads="1"/>
            </p:cNvSpPr>
            <p:nvPr/>
          </p:nvSpPr>
          <p:spPr bwMode="auto">
            <a:xfrm rot="-1674972">
              <a:off x="2311" y="3539"/>
              <a:ext cx="503" cy="631"/>
            </a:xfrm>
            <a:prstGeom prst="ellipse">
              <a:avLst/>
            </a:prstGeom>
            <a:solidFill>
              <a:srgbClr val="FFFF99"/>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91146" name="Oval 11"/>
            <p:cNvSpPr>
              <a:spLocks noChangeArrowheads="1"/>
            </p:cNvSpPr>
            <p:nvPr/>
          </p:nvSpPr>
          <p:spPr bwMode="auto">
            <a:xfrm rot="-3534972">
              <a:off x="2159" y="3115"/>
              <a:ext cx="695" cy="504"/>
            </a:xfrm>
            <a:prstGeom prst="ellipse">
              <a:avLst/>
            </a:prstGeom>
            <a:solidFill>
              <a:srgbClr val="FFFF99"/>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91147" name="Freeform 12"/>
            <p:cNvSpPr>
              <a:spLocks noChangeArrowheads="1"/>
            </p:cNvSpPr>
            <p:nvPr/>
          </p:nvSpPr>
          <p:spPr bwMode="auto">
            <a:xfrm>
              <a:off x="2358" y="2506"/>
              <a:ext cx="1931" cy="1684"/>
            </a:xfrm>
            <a:custGeom>
              <a:avLst/>
              <a:gdLst>
                <a:gd name="T0" fmla="*/ 579 w 1931"/>
                <a:gd name="T1" fmla="*/ 263 h 1684"/>
                <a:gd name="T2" fmla="*/ 632 w 1931"/>
                <a:gd name="T3" fmla="*/ 168 h 1684"/>
                <a:gd name="T4" fmla="*/ 695 w 1931"/>
                <a:gd name="T5" fmla="*/ 126 h 1684"/>
                <a:gd name="T6" fmla="*/ 916 w 1931"/>
                <a:gd name="T7" fmla="*/ 115 h 1684"/>
                <a:gd name="T8" fmla="*/ 1095 w 1931"/>
                <a:gd name="T9" fmla="*/ 52 h 1684"/>
                <a:gd name="T10" fmla="*/ 1158 w 1931"/>
                <a:gd name="T11" fmla="*/ 21 h 1684"/>
                <a:gd name="T12" fmla="*/ 1221 w 1931"/>
                <a:gd name="T13" fmla="*/ 0 h 1684"/>
                <a:gd name="T14" fmla="*/ 1337 w 1931"/>
                <a:gd name="T15" fmla="*/ 42 h 1684"/>
                <a:gd name="T16" fmla="*/ 1400 w 1931"/>
                <a:gd name="T17" fmla="*/ 84 h 1684"/>
                <a:gd name="T18" fmla="*/ 1432 w 1931"/>
                <a:gd name="T19" fmla="*/ 105 h 1684"/>
                <a:gd name="T20" fmla="*/ 1505 w 1931"/>
                <a:gd name="T21" fmla="*/ 158 h 1684"/>
                <a:gd name="T22" fmla="*/ 1526 w 1931"/>
                <a:gd name="T23" fmla="*/ 189 h 1684"/>
                <a:gd name="T24" fmla="*/ 1558 w 1931"/>
                <a:gd name="T25" fmla="*/ 210 h 1684"/>
                <a:gd name="T26" fmla="*/ 1653 w 1931"/>
                <a:gd name="T27" fmla="*/ 294 h 1684"/>
                <a:gd name="T28" fmla="*/ 1737 w 1931"/>
                <a:gd name="T29" fmla="*/ 368 h 1684"/>
                <a:gd name="T30" fmla="*/ 1800 w 1931"/>
                <a:gd name="T31" fmla="*/ 389 h 1684"/>
                <a:gd name="T32" fmla="*/ 1832 w 1931"/>
                <a:gd name="T33" fmla="*/ 410 h 1684"/>
                <a:gd name="T34" fmla="*/ 1916 w 1931"/>
                <a:gd name="T35" fmla="*/ 589 h 1684"/>
                <a:gd name="T36" fmla="*/ 1842 w 1931"/>
                <a:gd name="T37" fmla="*/ 1084 h 1684"/>
                <a:gd name="T38" fmla="*/ 1769 w 1931"/>
                <a:gd name="T39" fmla="*/ 1168 h 1684"/>
                <a:gd name="T40" fmla="*/ 1653 w 1931"/>
                <a:gd name="T41" fmla="*/ 1284 h 1684"/>
                <a:gd name="T42" fmla="*/ 1590 w 1931"/>
                <a:gd name="T43" fmla="*/ 1347 h 1684"/>
                <a:gd name="T44" fmla="*/ 1558 w 1931"/>
                <a:gd name="T45" fmla="*/ 1368 h 1684"/>
                <a:gd name="T46" fmla="*/ 1474 w 1931"/>
                <a:gd name="T47" fmla="*/ 1431 h 1684"/>
                <a:gd name="T48" fmla="*/ 1411 w 1931"/>
                <a:gd name="T49" fmla="*/ 1453 h 1684"/>
                <a:gd name="T50" fmla="*/ 1253 w 1931"/>
                <a:gd name="T51" fmla="*/ 1579 h 1684"/>
                <a:gd name="T52" fmla="*/ 1190 w 1931"/>
                <a:gd name="T53" fmla="*/ 1621 h 1684"/>
                <a:gd name="T54" fmla="*/ 1000 w 1931"/>
                <a:gd name="T55" fmla="*/ 1684 h 1684"/>
                <a:gd name="T56" fmla="*/ 432 w 1931"/>
                <a:gd name="T57" fmla="*/ 1653 h 1684"/>
                <a:gd name="T58" fmla="*/ 337 w 1931"/>
                <a:gd name="T59" fmla="*/ 1621 h 1684"/>
                <a:gd name="T60" fmla="*/ 242 w 1931"/>
                <a:gd name="T61" fmla="*/ 1558 h 1684"/>
                <a:gd name="T62" fmla="*/ 168 w 1931"/>
                <a:gd name="T63" fmla="*/ 1463 h 1684"/>
                <a:gd name="T64" fmla="*/ 126 w 1931"/>
                <a:gd name="T65" fmla="*/ 1400 h 1684"/>
                <a:gd name="T66" fmla="*/ 105 w 1931"/>
                <a:gd name="T67" fmla="*/ 1368 h 1684"/>
                <a:gd name="T68" fmla="*/ 21 w 1931"/>
                <a:gd name="T69" fmla="*/ 1242 h 1684"/>
                <a:gd name="T70" fmla="*/ 32 w 1931"/>
                <a:gd name="T71" fmla="*/ 1031 h 1684"/>
                <a:gd name="T72" fmla="*/ 42 w 1931"/>
                <a:gd name="T73" fmla="*/ 821 h 1684"/>
                <a:gd name="T74" fmla="*/ 84 w 1931"/>
                <a:gd name="T75" fmla="*/ 631 h 1684"/>
                <a:gd name="T76" fmla="*/ 200 w 1931"/>
                <a:gd name="T77" fmla="*/ 337 h 1684"/>
                <a:gd name="T78" fmla="*/ 242 w 1931"/>
                <a:gd name="T79" fmla="*/ 263 h 1684"/>
                <a:gd name="T80" fmla="*/ 305 w 1931"/>
                <a:gd name="T81" fmla="*/ 252 h 1684"/>
                <a:gd name="T82" fmla="*/ 326 w 1931"/>
                <a:gd name="T83" fmla="*/ 189 h 1684"/>
                <a:gd name="T84" fmla="*/ 400 w 1931"/>
                <a:gd name="T85" fmla="*/ 147 h 1684"/>
                <a:gd name="T86" fmla="*/ 432 w 1931"/>
                <a:gd name="T87" fmla="*/ 168 h 1684"/>
                <a:gd name="T88" fmla="*/ 453 w 1931"/>
                <a:gd name="T89" fmla="*/ 200 h 1684"/>
                <a:gd name="T90" fmla="*/ 537 w 1931"/>
                <a:gd name="T91" fmla="*/ 210 h 1684"/>
                <a:gd name="T92" fmla="*/ 558 w 1931"/>
                <a:gd name="T93" fmla="*/ 242 h 1684"/>
                <a:gd name="T94" fmla="*/ 579 w 1931"/>
                <a:gd name="T95" fmla="*/ 263 h 16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grpSp>
      <p:sp>
        <p:nvSpPr>
          <p:cNvPr id="91148" name="Line 13"/>
          <p:cNvSpPr>
            <a:spLocks noChangeShapeType="1"/>
          </p:cNvSpPr>
          <p:nvPr/>
        </p:nvSpPr>
        <p:spPr bwMode="auto">
          <a:xfrm flipV="1">
            <a:off x="3197225" y="2411413"/>
            <a:ext cx="1389063" cy="555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91149" name="Line 14"/>
          <p:cNvSpPr>
            <a:spLocks noChangeShapeType="1"/>
          </p:cNvSpPr>
          <p:nvPr/>
        </p:nvSpPr>
        <p:spPr bwMode="auto">
          <a:xfrm>
            <a:off x="4756150" y="2486025"/>
            <a:ext cx="820738" cy="13985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91150" name="Line 15"/>
          <p:cNvSpPr>
            <a:spLocks noChangeShapeType="1"/>
          </p:cNvSpPr>
          <p:nvPr/>
        </p:nvSpPr>
        <p:spPr bwMode="auto">
          <a:xfrm flipH="1">
            <a:off x="2379663" y="3059113"/>
            <a:ext cx="720725" cy="12557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91151" name="Line 16"/>
          <p:cNvSpPr>
            <a:spLocks noChangeShapeType="1"/>
          </p:cNvSpPr>
          <p:nvPr/>
        </p:nvSpPr>
        <p:spPr bwMode="auto">
          <a:xfrm>
            <a:off x="2424113" y="4492625"/>
            <a:ext cx="1647825" cy="882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91152" name="Line 17"/>
          <p:cNvSpPr>
            <a:spLocks noChangeShapeType="1"/>
          </p:cNvSpPr>
          <p:nvPr/>
        </p:nvSpPr>
        <p:spPr bwMode="auto">
          <a:xfrm flipV="1">
            <a:off x="4140200" y="4160838"/>
            <a:ext cx="1436688" cy="13065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91153" name="Line 18"/>
          <p:cNvSpPr>
            <a:spLocks noChangeShapeType="1"/>
          </p:cNvSpPr>
          <p:nvPr/>
        </p:nvSpPr>
        <p:spPr bwMode="auto">
          <a:xfrm>
            <a:off x="3254375" y="3065463"/>
            <a:ext cx="2303463" cy="9461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91154" name="Line 19"/>
          <p:cNvSpPr>
            <a:spLocks noChangeShapeType="1"/>
          </p:cNvSpPr>
          <p:nvPr/>
        </p:nvSpPr>
        <p:spPr bwMode="auto">
          <a:xfrm>
            <a:off x="3144838" y="2901950"/>
            <a:ext cx="1082675" cy="24717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91155" name="Line 20"/>
          <p:cNvSpPr>
            <a:spLocks noChangeShapeType="1"/>
          </p:cNvSpPr>
          <p:nvPr/>
        </p:nvSpPr>
        <p:spPr bwMode="auto">
          <a:xfrm flipV="1">
            <a:off x="3495675" y="5445125"/>
            <a:ext cx="692150" cy="5492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91156" name="Line 21"/>
          <p:cNvSpPr>
            <a:spLocks noChangeShapeType="1"/>
          </p:cNvSpPr>
          <p:nvPr/>
        </p:nvSpPr>
        <p:spPr bwMode="auto">
          <a:xfrm rot="-5400000">
            <a:off x="4510088" y="2095500"/>
            <a:ext cx="33655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91157" name="Line 22"/>
          <p:cNvSpPr>
            <a:spLocks noChangeShapeType="1"/>
          </p:cNvSpPr>
          <p:nvPr/>
        </p:nvSpPr>
        <p:spPr bwMode="auto">
          <a:xfrm>
            <a:off x="5675313" y="4160838"/>
            <a:ext cx="693737" cy="10080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91158" name="Line 23"/>
          <p:cNvSpPr>
            <a:spLocks noChangeShapeType="1"/>
          </p:cNvSpPr>
          <p:nvPr/>
        </p:nvSpPr>
        <p:spPr bwMode="auto">
          <a:xfrm flipV="1">
            <a:off x="1428750" y="4418013"/>
            <a:ext cx="696913" cy="6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91159" name="Line 24"/>
          <p:cNvSpPr>
            <a:spLocks noChangeShapeType="1"/>
          </p:cNvSpPr>
          <p:nvPr/>
        </p:nvSpPr>
        <p:spPr bwMode="auto">
          <a:xfrm rot="5400000" flipH="1">
            <a:off x="2714626" y="2527300"/>
            <a:ext cx="773112"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91160" name="Text Box 25"/>
          <p:cNvSpPr txBox="1">
            <a:spLocks noChangeArrowheads="1"/>
          </p:cNvSpPr>
          <p:nvPr/>
        </p:nvSpPr>
        <p:spPr bwMode="auto">
          <a:xfrm>
            <a:off x="1055688" y="3783013"/>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宋体" panose="02010600030101010101" pitchFamily="2" charset="-122"/>
              </a:rPr>
              <a:t>H</a:t>
            </a:r>
            <a:r>
              <a:rPr lang="en-US" altLang="zh-CN" sz="2000" b="1" baseline="-25000">
                <a:solidFill>
                  <a:srgbClr val="000099"/>
                </a:solidFill>
                <a:ea typeface="宋体" panose="02010600030101010101" pitchFamily="2" charset="-122"/>
              </a:rPr>
              <a:t>1</a:t>
            </a:r>
            <a:endParaRPr lang="en-US" altLang="zh-CN" sz="2000" b="1">
              <a:solidFill>
                <a:srgbClr val="000099"/>
              </a:solidFill>
              <a:ea typeface="宋体" panose="02010600030101010101" pitchFamily="2" charset="-122"/>
            </a:endParaRPr>
          </a:p>
        </p:txBody>
      </p:sp>
      <p:sp>
        <p:nvSpPr>
          <p:cNvPr id="91161" name="Oval 26"/>
          <p:cNvSpPr>
            <a:spLocks noChangeArrowheads="1"/>
          </p:cNvSpPr>
          <p:nvPr/>
        </p:nvSpPr>
        <p:spPr bwMode="auto">
          <a:xfrm>
            <a:off x="2109788" y="4160838"/>
            <a:ext cx="606425" cy="561975"/>
          </a:xfrm>
          <a:prstGeom prst="ellipse">
            <a:avLst/>
          </a:prstGeom>
          <a:solidFill>
            <a:srgbClr val="66FF33"/>
          </a:solidFill>
          <a:ln w="19050">
            <a:solidFill>
              <a:schemeClr val="tx1"/>
            </a:solidFill>
            <a:round/>
            <a:headEnd/>
            <a:tailEnd/>
          </a:ln>
        </p:spPr>
        <p:txBody>
          <a:bodyPr wrap="none" anchor="ctr"/>
          <a:lstStyle/>
          <a:p>
            <a:pPr algn="ctr" eaLnBrk="0" hangingPunct="0"/>
            <a:r>
              <a:rPr lang="en-US" altLang="zh-CN" sz="2000" b="1">
                <a:solidFill>
                  <a:srgbClr val="000099"/>
                </a:solidFill>
                <a:ea typeface="宋体" panose="02010600030101010101" pitchFamily="2" charset="-122"/>
              </a:rPr>
              <a:t>A</a:t>
            </a:r>
          </a:p>
        </p:txBody>
      </p:sp>
      <p:sp>
        <p:nvSpPr>
          <p:cNvPr id="91162" name="Line 27"/>
          <p:cNvSpPr>
            <a:spLocks noChangeShapeType="1"/>
          </p:cNvSpPr>
          <p:nvPr/>
        </p:nvSpPr>
        <p:spPr bwMode="auto">
          <a:xfrm flipV="1">
            <a:off x="5675313" y="3563938"/>
            <a:ext cx="874712" cy="412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91163" name="AutoShape 28"/>
          <p:cNvSpPr>
            <a:spLocks noChangeArrowheads="1"/>
          </p:cNvSpPr>
          <p:nvPr/>
        </p:nvSpPr>
        <p:spPr bwMode="auto">
          <a:xfrm flipV="1">
            <a:off x="5191125" y="5849938"/>
            <a:ext cx="1169988" cy="387350"/>
          </a:xfrm>
          <a:prstGeom prst="wedgeRoundRectCallout">
            <a:avLst>
              <a:gd name="adj1" fmla="val -66181"/>
              <a:gd name="adj2" fmla="val 131963"/>
              <a:gd name="adj3" fmla="val 16667"/>
            </a:avLst>
          </a:prstGeom>
          <a:solidFill>
            <a:schemeClr val="bg1"/>
          </a:solidFill>
          <a:ln w="9525">
            <a:solidFill>
              <a:schemeClr val="tx1"/>
            </a:solidFill>
            <a:miter lim="800000"/>
            <a:headEnd/>
            <a:tailEnd/>
          </a:ln>
        </p:spPr>
        <p:txBody>
          <a:bodyPr rot="10800000" wrap="none" anchor="ctr"/>
          <a:lstStyle/>
          <a:p>
            <a:pPr algn="ctr" eaLnBrk="0" hangingPunct="0"/>
            <a:endParaRPr lang="zh-CN" altLang="zh-CN" sz="2400" b="1">
              <a:solidFill>
                <a:srgbClr val="000099"/>
              </a:solidFill>
              <a:latin typeface="Times New Roman" panose="02020603050405020304" pitchFamily="18" charset="0"/>
              <a:ea typeface="宋体" panose="02010600030101010101" pitchFamily="2" charset="-122"/>
            </a:endParaRPr>
          </a:p>
        </p:txBody>
      </p:sp>
      <p:sp>
        <p:nvSpPr>
          <p:cNvPr id="91164" name="Text Box 29"/>
          <p:cNvSpPr txBox="1">
            <a:spLocks noChangeArrowheads="1"/>
          </p:cNvSpPr>
          <p:nvPr/>
        </p:nvSpPr>
        <p:spPr bwMode="auto">
          <a:xfrm>
            <a:off x="5302250" y="5840413"/>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Times New Roman" panose="02020603050405020304" pitchFamily="18" charset="0"/>
                <a:ea typeface="黑体" panose="02010609060101010101" pitchFamily="49" charset="-122"/>
              </a:rPr>
              <a:t>互联网</a:t>
            </a:r>
          </a:p>
        </p:txBody>
      </p:sp>
      <p:pic>
        <p:nvPicPr>
          <p:cNvPr id="91165" name="Picture 3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38638" y="1484313"/>
            <a:ext cx="633412"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66" name="Picture 3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26200" y="3198813"/>
            <a:ext cx="636588"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67" name="Picture 3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00388" y="5903913"/>
            <a:ext cx="633412"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68" name="Picture 3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70613" y="4986338"/>
            <a:ext cx="635000"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69" name="Picture 3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01938" y="1682750"/>
            <a:ext cx="636587"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70" name="Oval 35"/>
          <p:cNvSpPr>
            <a:spLocks noChangeArrowheads="1"/>
          </p:cNvSpPr>
          <p:nvPr/>
        </p:nvSpPr>
        <p:spPr bwMode="auto">
          <a:xfrm>
            <a:off x="2894013" y="2794000"/>
            <a:ext cx="571500" cy="530225"/>
          </a:xfrm>
          <a:prstGeom prst="ellipse">
            <a:avLst/>
          </a:prstGeom>
          <a:solidFill>
            <a:srgbClr val="66FF33"/>
          </a:solidFill>
          <a:ln w="19050">
            <a:solidFill>
              <a:schemeClr val="tx1"/>
            </a:solidFill>
            <a:round/>
            <a:headEnd/>
            <a:tailEnd/>
          </a:ln>
        </p:spPr>
        <p:txBody>
          <a:bodyPr wrap="none" anchor="ctr"/>
          <a:lstStyle/>
          <a:p>
            <a:pPr algn="ctr" eaLnBrk="0" hangingPunct="0"/>
            <a:r>
              <a:rPr lang="en-US" altLang="zh-CN" sz="2000" b="1">
                <a:solidFill>
                  <a:srgbClr val="000099"/>
                </a:solidFill>
                <a:ea typeface="宋体" panose="02010600030101010101" pitchFamily="2" charset="-122"/>
              </a:rPr>
              <a:t>B</a:t>
            </a:r>
          </a:p>
        </p:txBody>
      </p:sp>
      <p:sp>
        <p:nvSpPr>
          <p:cNvPr id="91171" name="Oval 36"/>
          <p:cNvSpPr>
            <a:spLocks noChangeArrowheads="1"/>
          </p:cNvSpPr>
          <p:nvPr/>
        </p:nvSpPr>
        <p:spPr bwMode="auto">
          <a:xfrm>
            <a:off x="4432300" y="2182813"/>
            <a:ext cx="558800" cy="517525"/>
          </a:xfrm>
          <a:prstGeom prst="ellipse">
            <a:avLst/>
          </a:prstGeom>
          <a:solidFill>
            <a:srgbClr val="66FF33"/>
          </a:solidFill>
          <a:ln w="19050">
            <a:solidFill>
              <a:schemeClr val="tx1"/>
            </a:solidFill>
            <a:round/>
            <a:headEnd/>
            <a:tailEnd/>
          </a:ln>
        </p:spPr>
        <p:txBody>
          <a:bodyPr wrap="none" anchor="ctr"/>
          <a:lstStyle/>
          <a:p>
            <a:pPr algn="ctr" eaLnBrk="0" hangingPunct="0"/>
            <a:r>
              <a:rPr lang="en-US" altLang="zh-CN" sz="2000" b="1">
                <a:solidFill>
                  <a:srgbClr val="000099"/>
                </a:solidFill>
                <a:ea typeface="宋体" panose="02010600030101010101" pitchFamily="2" charset="-122"/>
              </a:rPr>
              <a:t>D</a:t>
            </a:r>
          </a:p>
        </p:txBody>
      </p:sp>
      <p:sp>
        <p:nvSpPr>
          <p:cNvPr id="91172" name="Oval 37"/>
          <p:cNvSpPr>
            <a:spLocks noChangeArrowheads="1"/>
          </p:cNvSpPr>
          <p:nvPr/>
        </p:nvSpPr>
        <p:spPr bwMode="auto">
          <a:xfrm>
            <a:off x="5327650" y="3783013"/>
            <a:ext cx="622300" cy="576262"/>
          </a:xfrm>
          <a:prstGeom prst="ellipse">
            <a:avLst/>
          </a:prstGeom>
          <a:solidFill>
            <a:srgbClr val="66FF33"/>
          </a:solidFill>
          <a:ln w="19050">
            <a:solidFill>
              <a:schemeClr val="tx1"/>
            </a:solidFill>
            <a:round/>
            <a:headEnd/>
            <a:tailEnd/>
          </a:ln>
        </p:spPr>
        <p:txBody>
          <a:bodyPr wrap="none" anchor="ctr"/>
          <a:lstStyle/>
          <a:p>
            <a:pPr algn="ctr" eaLnBrk="0" hangingPunct="0"/>
            <a:r>
              <a:rPr lang="en-US" altLang="zh-CN" sz="2000" b="1">
                <a:solidFill>
                  <a:srgbClr val="000099"/>
                </a:solidFill>
                <a:ea typeface="宋体" panose="02010600030101010101" pitchFamily="2" charset="-122"/>
              </a:rPr>
              <a:t>E</a:t>
            </a:r>
          </a:p>
        </p:txBody>
      </p:sp>
      <p:sp>
        <p:nvSpPr>
          <p:cNvPr id="91173" name="Oval 38"/>
          <p:cNvSpPr>
            <a:spLocks noChangeArrowheads="1"/>
          </p:cNvSpPr>
          <p:nvPr/>
        </p:nvSpPr>
        <p:spPr bwMode="auto">
          <a:xfrm>
            <a:off x="3940175" y="5130800"/>
            <a:ext cx="592138" cy="547688"/>
          </a:xfrm>
          <a:prstGeom prst="ellipse">
            <a:avLst/>
          </a:prstGeom>
          <a:solidFill>
            <a:srgbClr val="66FF33"/>
          </a:solidFill>
          <a:ln w="19050">
            <a:solidFill>
              <a:schemeClr val="tx1"/>
            </a:solidFill>
            <a:round/>
            <a:headEnd/>
            <a:tailEnd/>
          </a:ln>
        </p:spPr>
        <p:txBody>
          <a:bodyPr wrap="none" anchor="ctr"/>
          <a:lstStyle/>
          <a:p>
            <a:pPr algn="ctr" eaLnBrk="0" hangingPunct="0"/>
            <a:r>
              <a:rPr lang="en-US" altLang="zh-CN" sz="2000" b="1">
                <a:solidFill>
                  <a:srgbClr val="000099"/>
                </a:solidFill>
                <a:ea typeface="宋体" panose="02010600030101010101" pitchFamily="2" charset="-122"/>
              </a:rPr>
              <a:t>C</a:t>
            </a:r>
          </a:p>
        </p:txBody>
      </p:sp>
      <p:sp>
        <p:nvSpPr>
          <p:cNvPr id="91174" name="Text Box 39"/>
          <p:cNvSpPr txBox="1">
            <a:spLocks noChangeArrowheads="1"/>
          </p:cNvSpPr>
          <p:nvPr/>
        </p:nvSpPr>
        <p:spPr bwMode="auto">
          <a:xfrm>
            <a:off x="5815013" y="4940300"/>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宋体" panose="02010600030101010101" pitchFamily="2" charset="-122"/>
              </a:rPr>
              <a:t>H</a:t>
            </a:r>
            <a:r>
              <a:rPr lang="en-US" altLang="zh-CN" sz="2000" b="1" baseline="-25000">
                <a:solidFill>
                  <a:srgbClr val="000099"/>
                </a:solidFill>
                <a:ea typeface="宋体" panose="02010600030101010101" pitchFamily="2" charset="-122"/>
              </a:rPr>
              <a:t>5</a:t>
            </a:r>
            <a:endParaRPr lang="en-US" altLang="zh-CN" sz="2000" b="1">
              <a:solidFill>
                <a:srgbClr val="000099"/>
              </a:solidFill>
              <a:ea typeface="宋体" panose="02010600030101010101" pitchFamily="2" charset="-122"/>
            </a:endParaRPr>
          </a:p>
        </p:txBody>
      </p:sp>
      <p:sp>
        <p:nvSpPr>
          <p:cNvPr id="91175" name="Text Box 40"/>
          <p:cNvSpPr txBox="1">
            <a:spLocks noChangeArrowheads="1"/>
          </p:cNvSpPr>
          <p:nvPr/>
        </p:nvSpPr>
        <p:spPr bwMode="auto">
          <a:xfrm>
            <a:off x="6907213" y="3140075"/>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宋体" panose="02010600030101010101" pitchFamily="2" charset="-122"/>
              </a:rPr>
              <a:t>H</a:t>
            </a:r>
            <a:r>
              <a:rPr lang="en-US" altLang="zh-CN" sz="2000" b="1" baseline="-25000">
                <a:solidFill>
                  <a:srgbClr val="000099"/>
                </a:solidFill>
                <a:ea typeface="宋体" panose="02010600030101010101" pitchFamily="2" charset="-122"/>
              </a:rPr>
              <a:t>6</a:t>
            </a:r>
            <a:endParaRPr lang="en-US" altLang="zh-CN" sz="2000" b="1">
              <a:solidFill>
                <a:srgbClr val="000099"/>
              </a:solidFill>
              <a:ea typeface="宋体" panose="02010600030101010101" pitchFamily="2" charset="-122"/>
            </a:endParaRPr>
          </a:p>
        </p:txBody>
      </p:sp>
      <p:sp>
        <p:nvSpPr>
          <p:cNvPr id="91176" name="Text Box 41"/>
          <p:cNvSpPr txBox="1">
            <a:spLocks noChangeArrowheads="1"/>
          </p:cNvSpPr>
          <p:nvPr/>
        </p:nvSpPr>
        <p:spPr bwMode="auto">
          <a:xfrm>
            <a:off x="3941763" y="1484313"/>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宋体" panose="02010600030101010101" pitchFamily="2" charset="-122"/>
              </a:rPr>
              <a:t>H</a:t>
            </a:r>
            <a:r>
              <a:rPr lang="en-US" altLang="zh-CN" sz="2000" b="1" baseline="-25000">
                <a:solidFill>
                  <a:srgbClr val="000099"/>
                </a:solidFill>
                <a:ea typeface="宋体" panose="02010600030101010101" pitchFamily="2" charset="-122"/>
              </a:rPr>
              <a:t>4</a:t>
            </a:r>
            <a:endParaRPr lang="en-US" altLang="zh-CN" sz="2000" b="1">
              <a:solidFill>
                <a:srgbClr val="000099"/>
              </a:solidFill>
              <a:ea typeface="宋体" panose="02010600030101010101" pitchFamily="2" charset="-122"/>
            </a:endParaRPr>
          </a:p>
        </p:txBody>
      </p:sp>
      <p:sp>
        <p:nvSpPr>
          <p:cNvPr id="91177" name="Text Box 42"/>
          <p:cNvSpPr txBox="1">
            <a:spLocks noChangeArrowheads="1"/>
          </p:cNvSpPr>
          <p:nvPr/>
        </p:nvSpPr>
        <p:spPr bwMode="auto">
          <a:xfrm>
            <a:off x="2460625" y="1628775"/>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宋体" panose="02010600030101010101" pitchFamily="2" charset="-122"/>
              </a:rPr>
              <a:t>H</a:t>
            </a:r>
            <a:r>
              <a:rPr lang="en-US" altLang="zh-CN" sz="2000" b="1" baseline="-25000">
                <a:solidFill>
                  <a:srgbClr val="000099"/>
                </a:solidFill>
                <a:ea typeface="宋体" panose="02010600030101010101" pitchFamily="2" charset="-122"/>
              </a:rPr>
              <a:t>2</a:t>
            </a:r>
            <a:endParaRPr lang="en-US" altLang="zh-CN" sz="2000" b="1">
              <a:solidFill>
                <a:srgbClr val="000099"/>
              </a:solidFill>
              <a:ea typeface="宋体" panose="02010600030101010101" pitchFamily="2" charset="-122"/>
            </a:endParaRPr>
          </a:p>
        </p:txBody>
      </p:sp>
      <p:sp>
        <p:nvSpPr>
          <p:cNvPr id="91178" name="Text Box 43"/>
          <p:cNvSpPr txBox="1">
            <a:spLocks noChangeArrowheads="1"/>
          </p:cNvSpPr>
          <p:nvPr/>
        </p:nvSpPr>
        <p:spPr bwMode="auto">
          <a:xfrm>
            <a:off x="2693988" y="5876925"/>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宋体" panose="02010600030101010101" pitchFamily="2" charset="-122"/>
              </a:rPr>
              <a:t>H</a:t>
            </a:r>
            <a:r>
              <a:rPr lang="en-US" altLang="zh-CN" sz="2000" b="1" baseline="-25000">
                <a:solidFill>
                  <a:srgbClr val="000099"/>
                </a:solidFill>
                <a:ea typeface="宋体" panose="02010600030101010101" pitchFamily="2" charset="-122"/>
              </a:rPr>
              <a:t>3</a:t>
            </a:r>
            <a:endParaRPr lang="en-US" altLang="zh-CN" sz="2000" b="1">
              <a:solidFill>
                <a:srgbClr val="000099"/>
              </a:solidFill>
              <a:ea typeface="宋体" panose="02010600030101010101" pitchFamily="2" charset="-122"/>
            </a:endParaRPr>
          </a:p>
        </p:txBody>
      </p:sp>
      <p:pic>
        <p:nvPicPr>
          <p:cNvPr id="91179" name="Picture 4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7900" y="4160838"/>
            <a:ext cx="636588"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82" name="Rectangle 46"/>
          <p:cNvSpPr>
            <a:spLocks noChangeArrowheads="1"/>
          </p:cNvSpPr>
          <p:nvPr/>
        </p:nvSpPr>
        <p:spPr bwMode="auto">
          <a:xfrm>
            <a:off x="1211263" y="4292600"/>
            <a:ext cx="171450" cy="158750"/>
          </a:xfrm>
          <a:prstGeom prst="rect">
            <a:avLst/>
          </a:prstGeom>
          <a:solidFill>
            <a:srgbClr val="FF0000"/>
          </a:solidFill>
          <a:ln w="9525">
            <a:solidFill>
              <a:srgbClr val="FF0000"/>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91181" name="Text Box 48"/>
          <p:cNvSpPr txBox="1">
            <a:spLocks noChangeArrowheads="1"/>
          </p:cNvSpPr>
          <p:nvPr/>
        </p:nvSpPr>
        <p:spPr bwMode="auto">
          <a:xfrm>
            <a:off x="6497638" y="2565400"/>
            <a:ext cx="2919412" cy="522288"/>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eaLnBrk="0" hangingPunct="0"/>
            <a:r>
              <a:rPr lang="en-US" altLang="zh-CN" sz="2800" b="1">
                <a:solidFill>
                  <a:srgbClr val="FF0000"/>
                </a:solidFill>
                <a:ea typeface="宋体" panose="02010600030101010101" pitchFamily="2" charset="-122"/>
              </a:rPr>
              <a:t>H</a:t>
            </a:r>
            <a:r>
              <a:rPr lang="en-US" altLang="zh-CN" sz="2800" b="1" baseline="-25000">
                <a:solidFill>
                  <a:srgbClr val="FF0000"/>
                </a:solidFill>
                <a:ea typeface="宋体" panose="02010600030101010101" pitchFamily="2" charset="-122"/>
              </a:rPr>
              <a:t>1</a:t>
            </a:r>
            <a:r>
              <a:rPr lang="en-US" altLang="zh-CN" sz="1600" b="1" baseline="-25000">
                <a:solidFill>
                  <a:srgbClr val="FF0000"/>
                </a:solidFill>
                <a:ea typeface="宋体" panose="02010600030101010101" pitchFamily="2" charset="-122"/>
              </a:rPr>
              <a:t> </a:t>
            </a:r>
            <a:r>
              <a:rPr lang="zh-CN" altLang="en-US" sz="2800" b="1">
                <a:solidFill>
                  <a:srgbClr val="FF0000"/>
                </a:solidFill>
                <a:ea typeface="黑体" panose="02010609060101010101" pitchFamily="49" charset="-122"/>
              </a:rPr>
              <a:t>向</a:t>
            </a:r>
            <a:r>
              <a:rPr lang="zh-CN" altLang="en-US" sz="1600" b="1">
                <a:solidFill>
                  <a:srgbClr val="FF0000"/>
                </a:solidFill>
                <a:ea typeface="黑体" panose="02010609060101010101" pitchFamily="49" charset="-122"/>
              </a:rPr>
              <a:t> </a:t>
            </a:r>
            <a:r>
              <a:rPr lang="en-US" altLang="zh-CN" sz="2800" b="1">
                <a:solidFill>
                  <a:srgbClr val="FF0000"/>
                </a:solidFill>
                <a:ea typeface="黑体" panose="02010609060101010101" pitchFamily="49" charset="-122"/>
              </a:rPr>
              <a:t>H</a:t>
            </a:r>
            <a:r>
              <a:rPr lang="en-US" altLang="zh-CN" sz="2800" b="1" baseline="-25000">
                <a:solidFill>
                  <a:srgbClr val="FF0000"/>
                </a:solidFill>
                <a:ea typeface="黑体" panose="02010609060101010101" pitchFamily="49" charset="-122"/>
              </a:rPr>
              <a:t>5</a:t>
            </a:r>
            <a:r>
              <a:rPr lang="en-US" altLang="zh-CN" sz="1600" b="1">
                <a:solidFill>
                  <a:srgbClr val="FF0000"/>
                </a:solidFill>
                <a:ea typeface="黑体" panose="02010609060101010101" pitchFamily="49" charset="-122"/>
              </a:rPr>
              <a:t> </a:t>
            </a:r>
            <a:r>
              <a:rPr lang="zh-CN" altLang="en-US" sz="2800" b="1">
                <a:solidFill>
                  <a:srgbClr val="FF0000"/>
                </a:solidFill>
                <a:ea typeface="黑体" panose="02010609060101010101" pitchFamily="49" charset="-122"/>
              </a:rPr>
              <a:t>发送分组</a:t>
            </a:r>
          </a:p>
        </p:txBody>
      </p:sp>
      <p:sp>
        <p:nvSpPr>
          <p:cNvPr id="91182" name="Text Box 55"/>
          <p:cNvSpPr txBox="1">
            <a:spLocks noChangeArrowheads="1"/>
          </p:cNvSpPr>
          <p:nvPr/>
        </p:nvSpPr>
        <p:spPr bwMode="auto">
          <a:xfrm>
            <a:off x="1123950" y="2492375"/>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Times New Roman" panose="02020603050405020304" pitchFamily="18" charset="0"/>
                <a:ea typeface="黑体" panose="02010609060101010101" pitchFamily="49" charset="-122"/>
              </a:rPr>
              <a:t>路由器</a:t>
            </a:r>
          </a:p>
        </p:txBody>
      </p:sp>
      <p:sp>
        <p:nvSpPr>
          <p:cNvPr id="91183" name="Text Box 56"/>
          <p:cNvSpPr txBox="1">
            <a:spLocks noChangeArrowheads="1"/>
          </p:cNvSpPr>
          <p:nvPr/>
        </p:nvSpPr>
        <p:spPr bwMode="auto">
          <a:xfrm>
            <a:off x="315913" y="3284538"/>
            <a:ext cx="6969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Times New Roman" panose="02020603050405020304" pitchFamily="18" charset="0"/>
                <a:ea typeface="黑体" panose="02010609060101010101" pitchFamily="49" charset="-122"/>
              </a:rPr>
              <a:t>主机</a:t>
            </a:r>
          </a:p>
        </p:txBody>
      </p:sp>
      <p:sp>
        <p:nvSpPr>
          <p:cNvPr id="91184" name="Line 57"/>
          <p:cNvSpPr>
            <a:spLocks noChangeShapeType="1"/>
          </p:cNvSpPr>
          <p:nvPr/>
        </p:nvSpPr>
        <p:spPr bwMode="auto">
          <a:xfrm>
            <a:off x="2070100" y="2708275"/>
            <a:ext cx="857250" cy="21590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91185" name="Line 58"/>
          <p:cNvSpPr>
            <a:spLocks noChangeShapeType="1"/>
          </p:cNvSpPr>
          <p:nvPr/>
        </p:nvSpPr>
        <p:spPr bwMode="auto">
          <a:xfrm>
            <a:off x="742950" y="3644900"/>
            <a:ext cx="390525" cy="576263"/>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65595" name="Rectangle 59"/>
          <p:cNvSpPr>
            <a:spLocks noChangeArrowheads="1"/>
          </p:cNvSpPr>
          <p:nvPr/>
        </p:nvSpPr>
        <p:spPr bwMode="auto">
          <a:xfrm>
            <a:off x="2146300" y="4292600"/>
            <a:ext cx="173038" cy="158750"/>
          </a:xfrm>
          <a:prstGeom prst="rect">
            <a:avLst/>
          </a:prstGeom>
          <a:solidFill>
            <a:srgbClr val="FF0000"/>
          </a:solidFill>
          <a:ln w="9525">
            <a:solidFill>
              <a:srgbClr val="FF0000"/>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65597" name="Rectangle 61"/>
          <p:cNvSpPr>
            <a:spLocks noChangeArrowheads="1"/>
          </p:cNvSpPr>
          <p:nvPr/>
        </p:nvSpPr>
        <p:spPr bwMode="auto">
          <a:xfrm>
            <a:off x="4098925" y="5300663"/>
            <a:ext cx="157163" cy="144462"/>
          </a:xfrm>
          <a:prstGeom prst="rect">
            <a:avLst/>
          </a:prstGeom>
          <a:solidFill>
            <a:srgbClr val="FF0000"/>
          </a:solidFill>
          <a:ln w="9525">
            <a:solidFill>
              <a:srgbClr val="FF0000"/>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65598" name="Text Box 62"/>
          <p:cNvSpPr txBox="1">
            <a:spLocks noChangeArrowheads="1"/>
          </p:cNvSpPr>
          <p:nvPr/>
        </p:nvSpPr>
        <p:spPr bwMode="auto">
          <a:xfrm>
            <a:off x="2070100" y="1844675"/>
            <a:ext cx="3976688" cy="1385888"/>
          </a:xfrm>
          <a:prstGeom prst="rect">
            <a:avLst/>
          </a:prstGeom>
          <a:solidFill>
            <a:srgbClr val="FF99FF"/>
          </a:solidFill>
          <a:ln w="76200" cmpd="tri">
            <a:solidFill>
              <a:srgbClr val="333399"/>
            </a:solidFill>
            <a:miter lim="800000"/>
            <a:headEnd/>
            <a:tailEnd/>
          </a:ln>
        </p:spPr>
        <p:txBody>
          <a:bodyPr>
            <a:spAutoFit/>
          </a:bodyPr>
          <a:lstStyle/>
          <a:p>
            <a:pPr algn="ctr" eaLnBrk="0" hangingPunct="0"/>
            <a:r>
              <a:rPr lang="zh-CN" altLang="en-US" sz="2800" b="1">
                <a:solidFill>
                  <a:srgbClr val="000099"/>
                </a:solidFill>
                <a:latin typeface="黑体" panose="02010609060101010101" pitchFamily="49" charset="-122"/>
                <a:ea typeface="黑体" panose="02010609060101010101" pitchFamily="49" charset="-122"/>
              </a:rPr>
              <a:t>在路由器</a:t>
            </a:r>
            <a:r>
              <a:rPr lang="zh-CN" altLang="en-US" sz="1000" b="1">
                <a:solidFill>
                  <a:srgbClr val="000099"/>
                </a:solidFill>
                <a:latin typeface="黑体" panose="02010609060101010101" pitchFamily="49" charset="-122"/>
                <a:ea typeface="黑体" panose="02010609060101010101" pitchFamily="49" charset="-122"/>
              </a:rPr>
              <a:t> </a:t>
            </a:r>
            <a:r>
              <a:rPr lang="en-US" altLang="zh-CN" sz="2800" b="1">
                <a:solidFill>
                  <a:srgbClr val="000099"/>
                </a:solidFill>
                <a:ea typeface="黑体" panose="02010609060101010101" pitchFamily="49" charset="-122"/>
              </a:rPr>
              <a:t>E</a:t>
            </a:r>
            <a:r>
              <a:rPr lang="en-US" altLang="zh-CN" sz="1000" b="1">
                <a:solidFill>
                  <a:srgbClr val="000099"/>
                </a:solidFill>
                <a:latin typeface="黑体" panose="02010609060101010101" pitchFamily="49" charset="-122"/>
                <a:ea typeface="黑体" panose="02010609060101010101" pitchFamily="49" charset="-122"/>
              </a:rPr>
              <a:t> </a:t>
            </a:r>
            <a:r>
              <a:rPr lang="zh-CN" altLang="en-US" sz="2800" b="1">
                <a:solidFill>
                  <a:srgbClr val="000099"/>
                </a:solidFill>
                <a:latin typeface="黑体" panose="02010609060101010101" pitchFamily="49" charset="-122"/>
                <a:ea typeface="黑体" panose="02010609060101010101" pitchFamily="49" charset="-122"/>
              </a:rPr>
              <a:t>暂存</a:t>
            </a:r>
          </a:p>
          <a:p>
            <a:pPr algn="ctr" eaLnBrk="0" hangingPunct="0"/>
            <a:r>
              <a:rPr lang="zh-CN" altLang="en-US" sz="2800" b="1">
                <a:solidFill>
                  <a:srgbClr val="000099"/>
                </a:solidFill>
                <a:latin typeface="黑体" panose="02010609060101010101" pitchFamily="49" charset="-122"/>
                <a:ea typeface="黑体" panose="02010609060101010101" pitchFamily="49" charset="-122"/>
              </a:rPr>
              <a:t>查找转发表</a:t>
            </a:r>
          </a:p>
          <a:p>
            <a:pPr algn="ctr" eaLnBrk="0" hangingPunct="0"/>
            <a:r>
              <a:rPr lang="zh-CN" altLang="en-US" sz="2800" b="1">
                <a:solidFill>
                  <a:srgbClr val="000099"/>
                </a:solidFill>
                <a:latin typeface="黑体" panose="02010609060101010101" pitchFamily="49" charset="-122"/>
                <a:ea typeface="黑体" panose="02010609060101010101" pitchFamily="49" charset="-122"/>
              </a:rPr>
              <a:t>找到转发的端口</a:t>
            </a:r>
          </a:p>
        </p:txBody>
      </p:sp>
      <p:sp>
        <p:nvSpPr>
          <p:cNvPr id="65599" name="Rectangle 63"/>
          <p:cNvSpPr>
            <a:spLocks noChangeArrowheads="1"/>
          </p:cNvSpPr>
          <p:nvPr/>
        </p:nvSpPr>
        <p:spPr bwMode="auto">
          <a:xfrm>
            <a:off x="5502275" y="4148138"/>
            <a:ext cx="157163" cy="144462"/>
          </a:xfrm>
          <a:prstGeom prst="rect">
            <a:avLst/>
          </a:prstGeom>
          <a:solidFill>
            <a:srgbClr val="FF0000"/>
          </a:solidFill>
          <a:ln w="9525">
            <a:solidFill>
              <a:srgbClr val="FF0000"/>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65600" name="Text Box 64"/>
          <p:cNvSpPr txBox="1">
            <a:spLocks noChangeArrowheads="1"/>
          </p:cNvSpPr>
          <p:nvPr/>
        </p:nvSpPr>
        <p:spPr bwMode="auto">
          <a:xfrm>
            <a:off x="2303463" y="1844675"/>
            <a:ext cx="4133850" cy="523875"/>
          </a:xfrm>
          <a:prstGeom prst="rect">
            <a:avLst/>
          </a:prstGeom>
          <a:solidFill>
            <a:srgbClr val="FF99FF"/>
          </a:solidFill>
          <a:ln w="76200" cmpd="tri">
            <a:solidFill>
              <a:srgbClr val="333399"/>
            </a:solidFill>
            <a:miter lim="800000"/>
            <a:headEnd/>
            <a:tailEnd/>
          </a:ln>
        </p:spPr>
        <p:txBody>
          <a:bodyPr>
            <a:spAutoFit/>
          </a:bodyPr>
          <a:lstStyle/>
          <a:p>
            <a:pPr algn="ctr" eaLnBrk="0" hangingPunct="0"/>
            <a:r>
              <a:rPr lang="zh-CN" altLang="en-US" sz="2800" b="1">
                <a:solidFill>
                  <a:srgbClr val="000099"/>
                </a:solidFill>
                <a:latin typeface="黑体" panose="02010609060101010101" pitchFamily="49" charset="-122"/>
                <a:ea typeface="黑体" panose="02010609060101010101" pitchFamily="49" charset="-122"/>
              </a:rPr>
              <a:t>最后到达目的主机</a:t>
            </a:r>
            <a:r>
              <a:rPr lang="zh-CN" altLang="en-US" sz="800" b="1">
                <a:solidFill>
                  <a:srgbClr val="000099"/>
                </a:solidFill>
                <a:latin typeface="黑体" panose="02010609060101010101" pitchFamily="49" charset="-122"/>
                <a:ea typeface="黑体" panose="02010609060101010101" pitchFamily="49" charset="-122"/>
              </a:rPr>
              <a:t> </a:t>
            </a:r>
            <a:r>
              <a:rPr lang="en-US" altLang="zh-CN" sz="2800" b="1">
                <a:solidFill>
                  <a:srgbClr val="000099"/>
                </a:solidFill>
                <a:ea typeface="黑体" panose="02010609060101010101" pitchFamily="49" charset="-122"/>
              </a:rPr>
              <a:t>H</a:t>
            </a:r>
            <a:r>
              <a:rPr lang="en-US" altLang="zh-CN" sz="2800" b="1" baseline="-25000">
                <a:solidFill>
                  <a:srgbClr val="000099"/>
                </a:solidFill>
                <a:ea typeface="黑体" panose="02010609060101010101" pitchFamily="49" charset="-122"/>
              </a:rPr>
              <a:t>5</a:t>
            </a:r>
          </a:p>
        </p:txBody>
      </p:sp>
      <p:sp>
        <p:nvSpPr>
          <p:cNvPr id="65596" name="Text Box 60"/>
          <p:cNvSpPr txBox="1">
            <a:spLocks noChangeArrowheads="1"/>
          </p:cNvSpPr>
          <p:nvPr/>
        </p:nvSpPr>
        <p:spPr bwMode="auto">
          <a:xfrm flipH="1">
            <a:off x="1758950" y="1844675"/>
            <a:ext cx="3976688" cy="1385888"/>
          </a:xfrm>
          <a:prstGeom prst="rect">
            <a:avLst/>
          </a:prstGeom>
          <a:solidFill>
            <a:srgbClr val="FF99FF"/>
          </a:solidFill>
          <a:ln w="76200" cmpd="tri">
            <a:solidFill>
              <a:srgbClr val="333399"/>
            </a:solidFill>
            <a:miter lim="800000"/>
            <a:headEnd/>
            <a:tailEnd/>
          </a:ln>
        </p:spPr>
        <p:txBody>
          <a:bodyPr>
            <a:spAutoFit/>
          </a:bodyPr>
          <a:lstStyle/>
          <a:p>
            <a:pPr algn="ctr" eaLnBrk="0" hangingPunct="0"/>
            <a:r>
              <a:rPr lang="zh-CN" altLang="en-US" sz="2800" b="1">
                <a:solidFill>
                  <a:srgbClr val="000099"/>
                </a:solidFill>
                <a:latin typeface="黑体" panose="02010609060101010101" pitchFamily="49" charset="-122"/>
                <a:ea typeface="黑体" panose="02010609060101010101" pitchFamily="49" charset="-122"/>
              </a:rPr>
              <a:t>在路由器</a:t>
            </a:r>
            <a:r>
              <a:rPr lang="zh-CN" altLang="en-US" sz="1000" b="1">
                <a:solidFill>
                  <a:srgbClr val="000099"/>
                </a:solidFill>
                <a:latin typeface="黑体" panose="02010609060101010101" pitchFamily="49" charset="-122"/>
                <a:ea typeface="黑体" panose="02010609060101010101" pitchFamily="49" charset="-122"/>
              </a:rPr>
              <a:t> </a:t>
            </a:r>
            <a:r>
              <a:rPr lang="en-US" altLang="zh-CN" sz="2800" b="1">
                <a:solidFill>
                  <a:srgbClr val="000099"/>
                </a:solidFill>
                <a:ea typeface="黑体" panose="02010609060101010101" pitchFamily="49" charset="-122"/>
              </a:rPr>
              <a:t>C</a:t>
            </a:r>
            <a:r>
              <a:rPr lang="en-US" altLang="zh-CN" sz="1000" b="1">
                <a:solidFill>
                  <a:srgbClr val="000099"/>
                </a:solidFill>
                <a:latin typeface="黑体" panose="02010609060101010101" pitchFamily="49" charset="-122"/>
                <a:ea typeface="黑体" panose="02010609060101010101" pitchFamily="49" charset="-122"/>
              </a:rPr>
              <a:t> </a:t>
            </a:r>
            <a:r>
              <a:rPr lang="zh-CN" altLang="en-US" sz="2800" b="1">
                <a:solidFill>
                  <a:srgbClr val="000099"/>
                </a:solidFill>
                <a:latin typeface="黑体" panose="02010609060101010101" pitchFamily="49" charset="-122"/>
                <a:ea typeface="黑体" panose="02010609060101010101" pitchFamily="49" charset="-122"/>
              </a:rPr>
              <a:t>暂存</a:t>
            </a:r>
          </a:p>
          <a:p>
            <a:pPr algn="ctr" eaLnBrk="0" hangingPunct="0"/>
            <a:r>
              <a:rPr lang="zh-CN" altLang="en-US" sz="2800" b="1">
                <a:solidFill>
                  <a:srgbClr val="000099"/>
                </a:solidFill>
                <a:latin typeface="黑体" panose="02010609060101010101" pitchFamily="49" charset="-122"/>
                <a:ea typeface="黑体" panose="02010609060101010101" pitchFamily="49" charset="-122"/>
              </a:rPr>
              <a:t>查找转发表</a:t>
            </a:r>
          </a:p>
          <a:p>
            <a:pPr algn="ctr" eaLnBrk="0" hangingPunct="0"/>
            <a:r>
              <a:rPr lang="zh-CN" altLang="en-US" sz="2800" b="1">
                <a:solidFill>
                  <a:srgbClr val="000099"/>
                </a:solidFill>
                <a:latin typeface="黑体" panose="02010609060101010101" pitchFamily="49" charset="-122"/>
                <a:ea typeface="黑体" panose="02010609060101010101" pitchFamily="49" charset="-122"/>
              </a:rPr>
              <a:t>找到转发的端口</a:t>
            </a:r>
          </a:p>
        </p:txBody>
      </p:sp>
      <p:sp>
        <p:nvSpPr>
          <p:cNvPr id="65590" name="Text Box 54"/>
          <p:cNvSpPr txBox="1">
            <a:spLocks noChangeArrowheads="1"/>
          </p:cNvSpPr>
          <p:nvPr/>
        </p:nvSpPr>
        <p:spPr bwMode="auto">
          <a:xfrm>
            <a:off x="1524000" y="1844675"/>
            <a:ext cx="3978275" cy="1385888"/>
          </a:xfrm>
          <a:prstGeom prst="rect">
            <a:avLst/>
          </a:prstGeom>
          <a:solidFill>
            <a:srgbClr val="FF99FF"/>
          </a:solidFill>
          <a:ln w="76200" cmpd="tri">
            <a:solidFill>
              <a:srgbClr val="333399"/>
            </a:solidFill>
            <a:miter lim="800000"/>
            <a:headEnd/>
            <a:tailEnd/>
          </a:ln>
        </p:spPr>
        <p:txBody>
          <a:bodyPr>
            <a:spAutoFit/>
          </a:bodyPr>
          <a:lstStyle/>
          <a:p>
            <a:pPr algn="ctr" eaLnBrk="0" hangingPunct="0"/>
            <a:r>
              <a:rPr lang="zh-CN" altLang="en-US" sz="2800" b="1">
                <a:solidFill>
                  <a:srgbClr val="000099"/>
                </a:solidFill>
                <a:latin typeface="黑体" panose="02010609060101010101" pitchFamily="49" charset="-122"/>
                <a:ea typeface="黑体" panose="02010609060101010101" pitchFamily="49" charset="-122"/>
              </a:rPr>
              <a:t>在路由器</a:t>
            </a:r>
            <a:r>
              <a:rPr lang="zh-CN" altLang="en-US" sz="1000" b="1">
                <a:solidFill>
                  <a:srgbClr val="000099"/>
                </a:solidFill>
                <a:latin typeface="黑体" panose="02010609060101010101" pitchFamily="49" charset="-122"/>
                <a:ea typeface="黑体" panose="02010609060101010101" pitchFamily="49" charset="-122"/>
              </a:rPr>
              <a:t> </a:t>
            </a:r>
            <a:r>
              <a:rPr lang="en-US" altLang="zh-CN" sz="2800" b="1">
                <a:solidFill>
                  <a:srgbClr val="000099"/>
                </a:solidFill>
                <a:ea typeface="黑体" panose="02010609060101010101" pitchFamily="49" charset="-122"/>
              </a:rPr>
              <a:t>A</a:t>
            </a:r>
            <a:r>
              <a:rPr lang="en-US" altLang="zh-CN" sz="1000" b="1">
                <a:solidFill>
                  <a:srgbClr val="000099"/>
                </a:solidFill>
                <a:latin typeface="黑体" panose="02010609060101010101" pitchFamily="49" charset="-122"/>
                <a:ea typeface="黑体" panose="02010609060101010101" pitchFamily="49" charset="-122"/>
              </a:rPr>
              <a:t> </a:t>
            </a:r>
            <a:r>
              <a:rPr lang="zh-CN" altLang="en-US" sz="2800" b="1">
                <a:solidFill>
                  <a:srgbClr val="000099"/>
                </a:solidFill>
                <a:latin typeface="黑体" panose="02010609060101010101" pitchFamily="49" charset="-122"/>
                <a:ea typeface="黑体" panose="02010609060101010101" pitchFamily="49" charset="-122"/>
              </a:rPr>
              <a:t>暂存</a:t>
            </a:r>
          </a:p>
          <a:p>
            <a:pPr algn="ctr" eaLnBrk="0" hangingPunct="0"/>
            <a:r>
              <a:rPr lang="zh-CN" altLang="en-US" sz="2800" b="1">
                <a:solidFill>
                  <a:srgbClr val="000099"/>
                </a:solidFill>
                <a:latin typeface="黑体" panose="02010609060101010101" pitchFamily="49" charset="-122"/>
                <a:ea typeface="黑体" panose="02010609060101010101" pitchFamily="49" charset="-122"/>
              </a:rPr>
              <a:t>查找转发表</a:t>
            </a:r>
          </a:p>
          <a:p>
            <a:pPr algn="ctr" eaLnBrk="0" hangingPunct="0"/>
            <a:r>
              <a:rPr lang="zh-CN" altLang="en-US" sz="2800" b="1">
                <a:solidFill>
                  <a:srgbClr val="000099"/>
                </a:solidFill>
                <a:latin typeface="黑体" panose="02010609060101010101" pitchFamily="49" charset="-122"/>
                <a:ea typeface="黑体" panose="02010609060101010101" pitchFamily="49" charset="-122"/>
              </a:rPr>
              <a:t>找到转发的端口</a:t>
            </a:r>
          </a:p>
        </p:txBody>
      </p:sp>
      <p:sp>
        <p:nvSpPr>
          <p:cNvPr id="9119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5FFEE93-2202-4BA9-8AB7-785793FA0388}" type="slidenum">
              <a:rPr lang="zh-CN" altLang="en-US" smtClean="0"/>
              <a:pPr eaLnBrk="1" hangingPunct="1"/>
              <a:t>55</a:t>
            </a:fld>
            <a:endParaRPr lang="en-US" altLang="zh-CN" smtClean="0"/>
          </a:p>
        </p:txBody>
      </p:sp>
      <p:sp>
        <p:nvSpPr>
          <p:cNvPr id="9119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5582"/>
                                        </p:tgtEl>
                                        <p:attrNameLst>
                                          <p:attrName>style.visibility</p:attrName>
                                        </p:attrNameLst>
                                      </p:cBhvr>
                                      <p:to>
                                        <p:strVal val="visible"/>
                                      </p:to>
                                    </p:set>
                                  </p:childTnLst>
                                </p:cTn>
                              </p:par>
                            </p:childTnLst>
                          </p:cTn>
                        </p:par>
                        <p:par>
                          <p:cTn id="7" fill="hold" nodeType="afterGroup">
                            <p:stCondLst>
                              <p:cond delay="1"/>
                            </p:stCondLst>
                            <p:childTnLst>
                              <p:par>
                                <p:cTn id="8" presetID="63" presetClass="path" presetSubtype="0" accel="50000" decel="50000" fill="hold" grpId="1" nodeType="afterEffect">
                                  <p:stCondLst>
                                    <p:cond delay="0"/>
                                  </p:stCondLst>
                                  <p:childTnLst>
                                    <p:animMotion origin="layout" path="M 0.00365 -0.0074 L 0.09445 7.51445E-7 " pathEditMode="relative" rAng="0" ptsTypes="AA">
                                      <p:cBhvr>
                                        <p:cTn id="9" dur="2000" fill="hold"/>
                                        <p:tgtEl>
                                          <p:spTgt spid="65582"/>
                                        </p:tgtEl>
                                        <p:attrNameLst>
                                          <p:attrName>ppt_x,ppt_y</p:attrName>
                                        </p:attrNameLst>
                                      </p:cBhvr>
                                      <p:rCtr x="4500" y="300"/>
                                    </p:animMotion>
                                  </p:childTnLst>
                                </p:cTn>
                              </p:par>
                            </p:childTnLst>
                          </p:cTn>
                        </p:par>
                        <p:par>
                          <p:cTn id="10" fill="hold" nodeType="afterGroup">
                            <p:stCondLst>
                              <p:cond delay="2001"/>
                            </p:stCondLst>
                            <p:childTnLst>
                              <p:par>
                                <p:cTn id="11" presetID="1" presetClass="entr" presetSubtype="0" fill="hold" grpId="0" nodeType="afterEffect">
                                  <p:stCondLst>
                                    <p:cond delay="0"/>
                                  </p:stCondLst>
                                  <p:childTnLst>
                                    <p:set>
                                      <p:cBhvr>
                                        <p:cTn id="12" dur="1" fill="hold">
                                          <p:stCondLst>
                                            <p:cond delay="0"/>
                                          </p:stCondLst>
                                        </p:cTn>
                                        <p:tgtEl>
                                          <p:spTgt spid="65590"/>
                                        </p:tgtEl>
                                        <p:attrNameLst>
                                          <p:attrName>style.visibility</p:attrName>
                                        </p:attrNameLst>
                                      </p:cBhvr>
                                      <p:to>
                                        <p:strVal val="visible"/>
                                      </p:to>
                                    </p:set>
                                  </p:childTnLst>
                                </p:cTn>
                              </p:par>
                            </p:childTnLst>
                          </p:cTn>
                        </p:par>
                        <p:par>
                          <p:cTn id="13" fill="hold" nodeType="afterGroup">
                            <p:stCondLst>
                              <p:cond delay="2002"/>
                            </p:stCondLst>
                            <p:childTnLst>
                              <p:par>
                                <p:cTn id="14" presetID="6" presetClass="emph" presetSubtype="0" fill="hold" grpId="1" nodeType="afterEffect">
                                  <p:stCondLst>
                                    <p:cond delay="300"/>
                                  </p:stCondLst>
                                  <p:childTnLst>
                                    <p:animScale>
                                      <p:cBhvr>
                                        <p:cTn id="15" dur="1000" fill="hold"/>
                                        <p:tgtEl>
                                          <p:spTgt spid="65590"/>
                                        </p:tgtEl>
                                      </p:cBhvr>
                                      <p:by x="150000" y="150000"/>
                                    </p:animScale>
                                  </p:childTnLst>
                                </p:cTn>
                              </p:par>
                            </p:childTnLst>
                          </p:cTn>
                        </p:par>
                        <p:par>
                          <p:cTn id="16" fill="hold" nodeType="afterGroup">
                            <p:stCondLst>
                              <p:cond delay="3302"/>
                            </p:stCondLst>
                            <p:childTnLst>
                              <p:par>
                                <p:cTn id="17" presetID="1" presetClass="exit" presetSubtype="0" fill="hold" grpId="2" nodeType="afterEffect">
                                  <p:stCondLst>
                                    <p:cond delay="2000"/>
                                  </p:stCondLst>
                                  <p:childTnLst>
                                    <p:set>
                                      <p:cBhvr>
                                        <p:cTn id="18" dur="1" fill="hold">
                                          <p:stCondLst>
                                            <p:cond delay="0"/>
                                          </p:stCondLst>
                                        </p:cTn>
                                        <p:tgtEl>
                                          <p:spTgt spid="65590"/>
                                        </p:tgtEl>
                                        <p:attrNameLst>
                                          <p:attrName>style.visibility</p:attrName>
                                        </p:attrNameLst>
                                      </p:cBhvr>
                                      <p:to>
                                        <p:strVal val="hidden"/>
                                      </p:to>
                                    </p:set>
                                  </p:childTnLst>
                                </p:cTn>
                              </p:par>
                            </p:childTnLst>
                          </p:cTn>
                        </p:par>
                        <p:par>
                          <p:cTn id="19" fill="hold" nodeType="afterGroup">
                            <p:stCondLst>
                              <p:cond delay="5303"/>
                            </p:stCondLst>
                            <p:childTnLst>
                              <p:par>
                                <p:cTn id="20" presetID="1" presetClass="exit" presetSubtype="0" fill="hold" grpId="2" nodeType="afterEffect">
                                  <p:stCondLst>
                                    <p:cond delay="0"/>
                                  </p:stCondLst>
                                  <p:childTnLst>
                                    <p:set>
                                      <p:cBhvr>
                                        <p:cTn id="21" dur="1" fill="hold">
                                          <p:stCondLst>
                                            <p:cond delay="0"/>
                                          </p:stCondLst>
                                        </p:cTn>
                                        <p:tgtEl>
                                          <p:spTgt spid="65582"/>
                                        </p:tgtEl>
                                        <p:attrNameLst>
                                          <p:attrName>style.visibility</p:attrName>
                                        </p:attrNameLst>
                                      </p:cBhvr>
                                      <p:to>
                                        <p:strVal val="hidden"/>
                                      </p:to>
                                    </p:set>
                                  </p:childTnLst>
                                </p:cTn>
                              </p:par>
                            </p:childTnLst>
                          </p:cTn>
                        </p:par>
                        <p:par>
                          <p:cTn id="22" fill="hold" nodeType="afterGroup">
                            <p:stCondLst>
                              <p:cond delay="5304"/>
                            </p:stCondLst>
                            <p:childTnLst>
                              <p:par>
                                <p:cTn id="23" presetID="1" presetClass="entr" presetSubtype="0" fill="hold" grpId="0" nodeType="afterEffect">
                                  <p:stCondLst>
                                    <p:cond delay="0"/>
                                  </p:stCondLst>
                                  <p:childTnLst>
                                    <p:set>
                                      <p:cBhvr>
                                        <p:cTn id="24" dur="1" fill="hold">
                                          <p:stCondLst>
                                            <p:cond delay="0"/>
                                          </p:stCondLst>
                                        </p:cTn>
                                        <p:tgtEl>
                                          <p:spTgt spid="65595"/>
                                        </p:tgtEl>
                                        <p:attrNameLst>
                                          <p:attrName>style.visibility</p:attrName>
                                        </p:attrNameLst>
                                      </p:cBhvr>
                                      <p:to>
                                        <p:strVal val="visible"/>
                                      </p:to>
                                    </p:set>
                                  </p:childTnLst>
                                </p:cTn>
                              </p:par>
                            </p:childTnLst>
                          </p:cTn>
                        </p:par>
                        <p:par>
                          <p:cTn id="25" fill="hold" nodeType="afterGroup">
                            <p:stCondLst>
                              <p:cond delay="5305"/>
                            </p:stCondLst>
                            <p:childTnLst>
                              <p:par>
                                <p:cTn id="26" presetID="63" presetClass="path" presetSubtype="0" accel="50000" decel="50000" fill="hold" grpId="1" nodeType="afterEffect">
                                  <p:stCondLst>
                                    <p:cond delay="0"/>
                                  </p:stCondLst>
                                  <p:childTnLst>
                                    <p:animMotion origin="layout" path="M 3.61111E-6 1.44509E-6 L 0.18264 0.14381 " pathEditMode="relative" rAng="0" ptsTypes="AA">
                                      <p:cBhvr>
                                        <p:cTn id="27" dur="2000" fill="hold"/>
                                        <p:tgtEl>
                                          <p:spTgt spid="65595"/>
                                        </p:tgtEl>
                                        <p:attrNameLst>
                                          <p:attrName>ppt_x,ppt_y</p:attrName>
                                        </p:attrNameLst>
                                      </p:cBhvr>
                                      <p:rCtr x="9100" y="7100"/>
                                    </p:animMotion>
                                  </p:childTnLst>
                                </p:cTn>
                              </p:par>
                            </p:childTnLst>
                          </p:cTn>
                        </p:par>
                        <p:par>
                          <p:cTn id="28" fill="hold" nodeType="afterGroup">
                            <p:stCondLst>
                              <p:cond delay="7305"/>
                            </p:stCondLst>
                            <p:childTnLst>
                              <p:par>
                                <p:cTn id="29" presetID="1" presetClass="entr" presetSubtype="0" fill="hold" grpId="0" nodeType="afterEffect">
                                  <p:stCondLst>
                                    <p:cond delay="0"/>
                                  </p:stCondLst>
                                  <p:childTnLst>
                                    <p:set>
                                      <p:cBhvr>
                                        <p:cTn id="30" dur="1" fill="hold">
                                          <p:stCondLst>
                                            <p:cond delay="0"/>
                                          </p:stCondLst>
                                        </p:cTn>
                                        <p:tgtEl>
                                          <p:spTgt spid="65596"/>
                                        </p:tgtEl>
                                        <p:attrNameLst>
                                          <p:attrName>style.visibility</p:attrName>
                                        </p:attrNameLst>
                                      </p:cBhvr>
                                      <p:to>
                                        <p:strVal val="visible"/>
                                      </p:to>
                                    </p:set>
                                  </p:childTnLst>
                                </p:cTn>
                              </p:par>
                            </p:childTnLst>
                          </p:cTn>
                        </p:par>
                        <p:par>
                          <p:cTn id="31" fill="hold" nodeType="afterGroup">
                            <p:stCondLst>
                              <p:cond delay="7306"/>
                            </p:stCondLst>
                            <p:childTnLst>
                              <p:par>
                                <p:cTn id="32" presetID="6" presetClass="emph" presetSubtype="0" fill="hold" grpId="1" nodeType="afterEffect">
                                  <p:stCondLst>
                                    <p:cond delay="0"/>
                                  </p:stCondLst>
                                  <p:childTnLst>
                                    <p:animScale>
                                      <p:cBhvr>
                                        <p:cTn id="33" dur="1000" fill="hold"/>
                                        <p:tgtEl>
                                          <p:spTgt spid="65596"/>
                                        </p:tgtEl>
                                      </p:cBhvr>
                                      <p:by x="150000" y="150000"/>
                                    </p:animScale>
                                  </p:childTnLst>
                                </p:cTn>
                              </p:par>
                            </p:childTnLst>
                          </p:cTn>
                        </p:par>
                        <p:par>
                          <p:cTn id="34" fill="hold" nodeType="afterGroup">
                            <p:stCondLst>
                              <p:cond delay="8306"/>
                            </p:stCondLst>
                            <p:childTnLst>
                              <p:par>
                                <p:cTn id="35" presetID="1" presetClass="exit" presetSubtype="0" fill="hold" grpId="2" nodeType="afterEffect">
                                  <p:stCondLst>
                                    <p:cond delay="2000"/>
                                  </p:stCondLst>
                                  <p:childTnLst>
                                    <p:set>
                                      <p:cBhvr>
                                        <p:cTn id="36" dur="1" fill="hold">
                                          <p:stCondLst>
                                            <p:cond delay="0"/>
                                          </p:stCondLst>
                                        </p:cTn>
                                        <p:tgtEl>
                                          <p:spTgt spid="65596"/>
                                        </p:tgtEl>
                                        <p:attrNameLst>
                                          <p:attrName>style.visibility</p:attrName>
                                        </p:attrNameLst>
                                      </p:cBhvr>
                                      <p:to>
                                        <p:strVal val="hidden"/>
                                      </p:to>
                                    </p:set>
                                  </p:childTnLst>
                                </p:cTn>
                              </p:par>
                            </p:childTnLst>
                          </p:cTn>
                        </p:par>
                        <p:par>
                          <p:cTn id="37" fill="hold" nodeType="afterGroup">
                            <p:stCondLst>
                              <p:cond delay="10307"/>
                            </p:stCondLst>
                            <p:childTnLst>
                              <p:par>
                                <p:cTn id="38" presetID="1" presetClass="exit" presetSubtype="0" fill="hold" grpId="2" nodeType="afterEffect">
                                  <p:stCondLst>
                                    <p:cond delay="0"/>
                                  </p:stCondLst>
                                  <p:childTnLst>
                                    <p:set>
                                      <p:cBhvr>
                                        <p:cTn id="39" dur="1" fill="hold">
                                          <p:stCondLst>
                                            <p:cond delay="0"/>
                                          </p:stCondLst>
                                        </p:cTn>
                                        <p:tgtEl>
                                          <p:spTgt spid="65595"/>
                                        </p:tgtEl>
                                        <p:attrNameLst>
                                          <p:attrName>style.visibility</p:attrName>
                                        </p:attrNameLst>
                                      </p:cBhvr>
                                      <p:to>
                                        <p:strVal val="hidden"/>
                                      </p:to>
                                    </p:set>
                                  </p:childTnLst>
                                </p:cTn>
                              </p:par>
                            </p:childTnLst>
                          </p:cTn>
                        </p:par>
                        <p:par>
                          <p:cTn id="40" fill="hold" nodeType="afterGroup">
                            <p:stCondLst>
                              <p:cond delay="10308"/>
                            </p:stCondLst>
                            <p:childTnLst>
                              <p:par>
                                <p:cTn id="41" presetID="1" presetClass="entr" presetSubtype="0" fill="hold" grpId="0" nodeType="afterEffect">
                                  <p:stCondLst>
                                    <p:cond delay="0"/>
                                  </p:stCondLst>
                                  <p:childTnLst>
                                    <p:set>
                                      <p:cBhvr>
                                        <p:cTn id="42" dur="1" fill="hold">
                                          <p:stCondLst>
                                            <p:cond delay="0"/>
                                          </p:stCondLst>
                                        </p:cTn>
                                        <p:tgtEl>
                                          <p:spTgt spid="65597"/>
                                        </p:tgtEl>
                                        <p:attrNameLst>
                                          <p:attrName>style.visibility</p:attrName>
                                        </p:attrNameLst>
                                      </p:cBhvr>
                                      <p:to>
                                        <p:strVal val="visible"/>
                                      </p:to>
                                    </p:set>
                                  </p:childTnLst>
                                </p:cTn>
                              </p:par>
                            </p:childTnLst>
                          </p:cTn>
                        </p:par>
                        <p:par>
                          <p:cTn id="43" fill="hold" nodeType="afterGroup">
                            <p:stCondLst>
                              <p:cond delay="10309"/>
                            </p:stCondLst>
                            <p:childTnLst>
                              <p:par>
                                <p:cTn id="44" presetID="63" presetClass="path" presetSubtype="0" accel="50000" decel="50000" fill="hold" grpId="1" nodeType="afterEffect">
                                  <p:stCondLst>
                                    <p:cond delay="0"/>
                                  </p:stCondLst>
                                  <p:childTnLst>
                                    <p:animMotion origin="layout" path="M 0.00729 -0.00185 L 0.14166 -0.17803 " pathEditMode="relative" rAng="0" ptsTypes="AA">
                                      <p:cBhvr>
                                        <p:cTn id="45" dur="2000" fill="hold"/>
                                        <p:tgtEl>
                                          <p:spTgt spid="65597"/>
                                        </p:tgtEl>
                                        <p:attrNameLst>
                                          <p:attrName>ppt_x,ppt_y</p:attrName>
                                        </p:attrNameLst>
                                      </p:cBhvr>
                                      <p:rCtr x="6700" y="-8800"/>
                                    </p:animMotion>
                                  </p:childTnLst>
                                </p:cTn>
                              </p:par>
                            </p:childTnLst>
                          </p:cTn>
                        </p:par>
                        <p:par>
                          <p:cTn id="46" fill="hold" nodeType="afterGroup">
                            <p:stCondLst>
                              <p:cond delay="12309"/>
                            </p:stCondLst>
                            <p:childTnLst>
                              <p:par>
                                <p:cTn id="47" presetID="1" presetClass="entr" presetSubtype="0" fill="hold" grpId="0" nodeType="afterEffect">
                                  <p:stCondLst>
                                    <p:cond delay="0"/>
                                  </p:stCondLst>
                                  <p:childTnLst>
                                    <p:set>
                                      <p:cBhvr>
                                        <p:cTn id="48" dur="1" fill="hold">
                                          <p:stCondLst>
                                            <p:cond delay="0"/>
                                          </p:stCondLst>
                                        </p:cTn>
                                        <p:tgtEl>
                                          <p:spTgt spid="65598"/>
                                        </p:tgtEl>
                                        <p:attrNameLst>
                                          <p:attrName>style.visibility</p:attrName>
                                        </p:attrNameLst>
                                      </p:cBhvr>
                                      <p:to>
                                        <p:strVal val="visible"/>
                                      </p:to>
                                    </p:set>
                                  </p:childTnLst>
                                </p:cTn>
                              </p:par>
                            </p:childTnLst>
                          </p:cTn>
                        </p:par>
                        <p:par>
                          <p:cTn id="49" fill="hold" nodeType="afterGroup">
                            <p:stCondLst>
                              <p:cond delay="12310"/>
                            </p:stCondLst>
                            <p:childTnLst>
                              <p:par>
                                <p:cTn id="50" presetID="6" presetClass="emph" presetSubtype="0" fill="hold" grpId="1" nodeType="afterEffect">
                                  <p:stCondLst>
                                    <p:cond delay="0"/>
                                  </p:stCondLst>
                                  <p:childTnLst>
                                    <p:animScale>
                                      <p:cBhvr>
                                        <p:cTn id="51" dur="1000" fill="hold"/>
                                        <p:tgtEl>
                                          <p:spTgt spid="65598"/>
                                        </p:tgtEl>
                                      </p:cBhvr>
                                      <p:by x="150000" y="150000"/>
                                    </p:animScale>
                                  </p:childTnLst>
                                </p:cTn>
                              </p:par>
                            </p:childTnLst>
                          </p:cTn>
                        </p:par>
                        <p:par>
                          <p:cTn id="52" fill="hold" nodeType="afterGroup">
                            <p:stCondLst>
                              <p:cond delay="13310"/>
                            </p:stCondLst>
                            <p:childTnLst>
                              <p:par>
                                <p:cTn id="53" presetID="1" presetClass="exit" presetSubtype="0" fill="hold" grpId="2" nodeType="afterEffect">
                                  <p:stCondLst>
                                    <p:cond delay="2000"/>
                                  </p:stCondLst>
                                  <p:childTnLst>
                                    <p:set>
                                      <p:cBhvr>
                                        <p:cTn id="54" dur="1" fill="hold">
                                          <p:stCondLst>
                                            <p:cond delay="0"/>
                                          </p:stCondLst>
                                        </p:cTn>
                                        <p:tgtEl>
                                          <p:spTgt spid="65598"/>
                                        </p:tgtEl>
                                        <p:attrNameLst>
                                          <p:attrName>style.visibility</p:attrName>
                                        </p:attrNameLst>
                                      </p:cBhvr>
                                      <p:to>
                                        <p:strVal val="hidden"/>
                                      </p:to>
                                    </p:set>
                                  </p:childTnLst>
                                </p:cTn>
                              </p:par>
                            </p:childTnLst>
                          </p:cTn>
                        </p:par>
                        <p:par>
                          <p:cTn id="55" fill="hold" nodeType="afterGroup">
                            <p:stCondLst>
                              <p:cond delay="15311"/>
                            </p:stCondLst>
                            <p:childTnLst>
                              <p:par>
                                <p:cTn id="56" presetID="1" presetClass="exit" presetSubtype="0" fill="hold" grpId="2" nodeType="afterEffect">
                                  <p:stCondLst>
                                    <p:cond delay="0"/>
                                  </p:stCondLst>
                                  <p:childTnLst>
                                    <p:set>
                                      <p:cBhvr>
                                        <p:cTn id="57" dur="1" fill="hold">
                                          <p:stCondLst>
                                            <p:cond delay="0"/>
                                          </p:stCondLst>
                                        </p:cTn>
                                        <p:tgtEl>
                                          <p:spTgt spid="65597"/>
                                        </p:tgtEl>
                                        <p:attrNameLst>
                                          <p:attrName>style.visibility</p:attrName>
                                        </p:attrNameLst>
                                      </p:cBhvr>
                                      <p:to>
                                        <p:strVal val="hidden"/>
                                      </p:to>
                                    </p:set>
                                  </p:childTnLst>
                                </p:cTn>
                              </p:par>
                            </p:childTnLst>
                          </p:cTn>
                        </p:par>
                        <p:par>
                          <p:cTn id="58" fill="hold" nodeType="afterGroup">
                            <p:stCondLst>
                              <p:cond delay="15312"/>
                            </p:stCondLst>
                            <p:childTnLst>
                              <p:par>
                                <p:cTn id="59" presetID="1" presetClass="entr" presetSubtype="0" fill="hold" grpId="0" nodeType="afterEffect">
                                  <p:stCondLst>
                                    <p:cond delay="0"/>
                                  </p:stCondLst>
                                  <p:childTnLst>
                                    <p:set>
                                      <p:cBhvr>
                                        <p:cTn id="60" dur="1" fill="hold">
                                          <p:stCondLst>
                                            <p:cond delay="0"/>
                                          </p:stCondLst>
                                        </p:cTn>
                                        <p:tgtEl>
                                          <p:spTgt spid="65599"/>
                                        </p:tgtEl>
                                        <p:attrNameLst>
                                          <p:attrName>style.visibility</p:attrName>
                                        </p:attrNameLst>
                                      </p:cBhvr>
                                      <p:to>
                                        <p:strVal val="visible"/>
                                      </p:to>
                                    </p:set>
                                  </p:childTnLst>
                                </p:cTn>
                              </p:par>
                            </p:childTnLst>
                          </p:cTn>
                        </p:par>
                        <p:par>
                          <p:cTn id="61" fill="hold" nodeType="afterGroup">
                            <p:stCondLst>
                              <p:cond delay="15313"/>
                            </p:stCondLst>
                            <p:childTnLst>
                              <p:par>
                                <p:cTn id="62" presetID="63" presetClass="path" presetSubtype="0" accel="50000" decel="50000" fill="hold" grpId="1" nodeType="afterEffect">
                                  <p:stCondLst>
                                    <p:cond delay="0"/>
                                  </p:stCondLst>
                                  <p:childTnLst>
                                    <p:animMotion origin="layout" path="M 0.02205 0.00671 L 0.08664 0.14705 " pathEditMode="relative" rAng="0" ptsTypes="AA">
                                      <p:cBhvr>
                                        <p:cTn id="63" dur="2000" fill="hold"/>
                                        <p:tgtEl>
                                          <p:spTgt spid="65599"/>
                                        </p:tgtEl>
                                        <p:attrNameLst>
                                          <p:attrName>ppt_x,ppt_y</p:attrName>
                                        </p:attrNameLst>
                                      </p:cBhvr>
                                      <p:rCtr x="3200" y="7000"/>
                                    </p:animMotion>
                                  </p:childTnLst>
                                </p:cTn>
                              </p:par>
                            </p:childTnLst>
                          </p:cTn>
                        </p:par>
                        <p:par>
                          <p:cTn id="64" fill="hold" nodeType="afterGroup">
                            <p:stCondLst>
                              <p:cond delay="17313"/>
                            </p:stCondLst>
                            <p:childTnLst>
                              <p:par>
                                <p:cTn id="65" presetID="1" presetClass="entr" presetSubtype="0" fill="hold" grpId="0" nodeType="afterEffect">
                                  <p:stCondLst>
                                    <p:cond delay="0"/>
                                  </p:stCondLst>
                                  <p:childTnLst>
                                    <p:set>
                                      <p:cBhvr>
                                        <p:cTn id="66" dur="1" fill="hold">
                                          <p:stCondLst>
                                            <p:cond delay="0"/>
                                          </p:stCondLst>
                                        </p:cTn>
                                        <p:tgtEl>
                                          <p:spTgt spid="65600"/>
                                        </p:tgtEl>
                                        <p:attrNameLst>
                                          <p:attrName>style.visibility</p:attrName>
                                        </p:attrNameLst>
                                      </p:cBhvr>
                                      <p:to>
                                        <p:strVal val="visible"/>
                                      </p:to>
                                    </p:set>
                                  </p:childTnLst>
                                </p:cTn>
                              </p:par>
                            </p:childTnLst>
                          </p:cTn>
                        </p:par>
                        <p:par>
                          <p:cTn id="67" fill="hold" nodeType="afterGroup">
                            <p:stCondLst>
                              <p:cond delay="17314"/>
                            </p:stCondLst>
                            <p:childTnLst>
                              <p:par>
                                <p:cTn id="68" presetID="6" presetClass="emph" presetSubtype="0" fill="hold" grpId="1" nodeType="afterEffect">
                                  <p:stCondLst>
                                    <p:cond delay="0"/>
                                  </p:stCondLst>
                                  <p:childTnLst>
                                    <p:animScale>
                                      <p:cBhvr>
                                        <p:cTn id="69" dur="1000" fill="hold"/>
                                        <p:tgtEl>
                                          <p:spTgt spid="65600"/>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82" grpId="0" animBg="1"/>
      <p:bldP spid="65582" grpId="1" animBg="1"/>
      <p:bldP spid="65582" grpId="2" animBg="1"/>
      <p:bldP spid="65595" grpId="0" animBg="1"/>
      <p:bldP spid="65595" grpId="1" animBg="1"/>
      <p:bldP spid="65595" grpId="2" animBg="1"/>
      <p:bldP spid="65597" grpId="0" animBg="1"/>
      <p:bldP spid="65597" grpId="1" animBg="1"/>
      <p:bldP spid="65597" grpId="2" animBg="1"/>
      <p:bldP spid="65598" grpId="0" animBg="1"/>
      <p:bldP spid="65598" grpId="1" animBg="1"/>
      <p:bldP spid="65598" grpId="2" animBg="1"/>
      <p:bldP spid="65599" grpId="0" animBg="1"/>
      <p:bldP spid="65599" grpId="1" animBg="1"/>
      <p:bldP spid="65600" grpId="0" animBg="1"/>
      <p:bldP spid="65600" grpId="1" animBg="1"/>
      <p:bldP spid="65596" grpId="0" animBg="1"/>
      <p:bldP spid="65596" grpId="1" animBg="1"/>
      <p:bldP spid="65596" grpId="2" animBg="1"/>
      <p:bldP spid="65590" grpId="0" animBg="1"/>
      <p:bldP spid="65590" grpId="1" animBg="1"/>
      <p:bldP spid="65590" grpId="2"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路由器</a:t>
            </a:r>
          </a:p>
        </p:txBody>
      </p:sp>
      <p:sp>
        <p:nvSpPr>
          <p:cNvPr id="63491"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在路由器中的输入和输出端口之间</a:t>
            </a:r>
            <a:r>
              <a:rPr lang="zh-CN" altLang="en-US" smtClean="0">
                <a:solidFill>
                  <a:srgbClr val="FF0000"/>
                </a:solidFill>
                <a:ea typeface="黑体" panose="02010609060101010101" pitchFamily="49" charset="-122"/>
              </a:rPr>
              <a:t>没有直接连线。</a:t>
            </a:r>
          </a:p>
          <a:p>
            <a:r>
              <a:rPr lang="zh-CN" altLang="en-US" smtClean="0">
                <a:ea typeface="黑体" panose="02010609060101010101" pitchFamily="49" charset="-122"/>
              </a:rPr>
              <a:t>路由器处理分组的过程是：</a:t>
            </a:r>
          </a:p>
          <a:p>
            <a:pPr lvl="1"/>
            <a:r>
              <a:rPr lang="zh-CN" altLang="en-US" smtClean="0">
                <a:ea typeface="黑体" panose="02010609060101010101" pitchFamily="49" charset="-122"/>
              </a:rPr>
              <a:t>把收到的分组先</a:t>
            </a:r>
            <a:r>
              <a:rPr lang="zh-CN" altLang="en-US" smtClean="0">
                <a:solidFill>
                  <a:srgbClr val="FF0000"/>
                </a:solidFill>
                <a:ea typeface="黑体" panose="02010609060101010101" pitchFamily="49" charset="-122"/>
              </a:rPr>
              <a:t>放入缓存（暂时存储）；</a:t>
            </a:r>
          </a:p>
          <a:p>
            <a:pPr lvl="1"/>
            <a:r>
              <a:rPr lang="zh-CN" altLang="en-US" smtClean="0">
                <a:solidFill>
                  <a:srgbClr val="FF0000"/>
                </a:solidFill>
                <a:ea typeface="黑体" panose="02010609060101010101" pitchFamily="49" charset="-122"/>
              </a:rPr>
              <a:t>查找转发表，</a:t>
            </a:r>
            <a:r>
              <a:rPr lang="zh-CN" altLang="en-US" smtClean="0">
                <a:ea typeface="黑体" panose="02010609060101010101" pitchFamily="49" charset="-122"/>
              </a:rPr>
              <a:t>找出到某个目的地址应从哪个端口转发；</a:t>
            </a:r>
          </a:p>
          <a:p>
            <a:pPr lvl="1"/>
            <a:r>
              <a:rPr lang="zh-CN" altLang="en-US" smtClean="0">
                <a:ea typeface="黑体" panose="02010609060101010101" pitchFamily="49" charset="-122"/>
              </a:rPr>
              <a:t>把分组送到适当的端口</a:t>
            </a:r>
            <a:r>
              <a:rPr lang="zh-CN" altLang="en-US" smtClean="0">
                <a:solidFill>
                  <a:srgbClr val="FF0000"/>
                </a:solidFill>
                <a:ea typeface="黑体" panose="02010609060101010101" pitchFamily="49" charset="-122"/>
              </a:rPr>
              <a:t>转发</a:t>
            </a:r>
            <a:r>
              <a:rPr lang="zh-CN" altLang="en-US" smtClean="0">
                <a:ea typeface="黑体" panose="02010609060101010101" pitchFamily="49" charset="-122"/>
              </a:rPr>
              <a:t>出去。 </a:t>
            </a:r>
          </a:p>
        </p:txBody>
      </p:sp>
      <p:sp>
        <p:nvSpPr>
          <p:cNvPr id="9318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6918B84-226B-4469-A6AE-2F8A56E87BD9}" type="slidenum">
              <a:rPr lang="zh-CN" altLang="en-US" smtClean="0"/>
              <a:pPr eaLnBrk="1" hangingPunct="1"/>
              <a:t>56</a:t>
            </a:fld>
            <a:endParaRPr lang="en-US" altLang="zh-CN" smtClean="0"/>
          </a:p>
        </p:txBody>
      </p:sp>
      <p:sp>
        <p:nvSpPr>
          <p:cNvPr id="9318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49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3491">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3491">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3491">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349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主机和路由器的作用不同</a:t>
            </a:r>
          </a:p>
        </p:txBody>
      </p:sp>
      <p:sp>
        <p:nvSpPr>
          <p:cNvPr id="62467"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主机是</a:t>
            </a:r>
            <a:r>
              <a:rPr lang="zh-CN" altLang="en-US" smtClean="0">
                <a:solidFill>
                  <a:srgbClr val="FF0000"/>
                </a:solidFill>
                <a:ea typeface="黑体" panose="02010609060101010101" pitchFamily="49" charset="-122"/>
              </a:rPr>
              <a:t>为用户进行信息处理</a:t>
            </a:r>
            <a:r>
              <a:rPr lang="zh-CN" altLang="en-US" smtClean="0">
                <a:ea typeface="黑体" panose="02010609060101010101" pitchFamily="49" charset="-122"/>
              </a:rPr>
              <a:t>的，并向网络发送分组，从网络接收分组。</a:t>
            </a:r>
          </a:p>
          <a:p>
            <a:r>
              <a:rPr lang="zh-CN" altLang="en-US" smtClean="0">
                <a:ea typeface="黑体" panose="02010609060101010101" pitchFamily="49" charset="-122"/>
              </a:rPr>
              <a:t>路由器对分组进行</a:t>
            </a:r>
            <a:r>
              <a:rPr lang="zh-CN" altLang="en-US" smtClean="0">
                <a:solidFill>
                  <a:srgbClr val="FF0000"/>
                </a:solidFill>
                <a:ea typeface="黑体" panose="02010609060101010101" pitchFamily="49" charset="-122"/>
              </a:rPr>
              <a:t>存储转发，</a:t>
            </a:r>
            <a:r>
              <a:rPr lang="zh-CN" altLang="en-US" smtClean="0">
                <a:ea typeface="黑体" panose="02010609060101010101" pitchFamily="49" charset="-122"/>
              </a:rPr>
              <a:t>最后把分组交付目的主机。</a:t>
            </a:r>
          </a:p>
        </p:txBody>
      </p:sp>
      <p:sp>
        <p:nvSpPr>
          <p:cNvPr id="9523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28EA485-CB2C-4FBC-9DC3-0DCEA0D8A4CC}" type="slidenum">
              <a:rPr lang="zh-CN" altLang="en-US" smtClean="0"/>
              <a:pPr eaLnBrk="1" hangingPunct="1"/>
              <a:t>57</a:t>
            </a:fld>
            <a:endParaRPr lang="en-US" altLang="zh-CN" smtClean="0"/>
          </a:p>
        </p:txBody>
      </p:sp>
      <p:sp>
        <p:nvSpPr>
          <p:cNvPr id="9523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46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246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分组交换的优点</a:t>
            </a:r>
          </a:p>
        </p:txBody>
      </p:sp>
      <p:graphicFrame>
        <p:nvGraphicFramePr>
          <p:cNvPr id="3" name="内容占位符 2"/>
          <p:cNvGraphicFramePr>
            <a:graphicFrameLocks noGrp="1"/>
          </p:cNvGraphicFramePr>
          <p:nvPr>
            <p:ph idx="1"/>
          </p:nvPr>
        </p:nvGraphicFramePr>
        <p:xfrm>
          <a:off x="684213" y="1268413"/>
          <a:ext cx="8712200" cy="4627562"/>
        </p:xfrm>
        <a:graphic>
          <a:graphicData uri="http://schemas.openxmlformats.org/drawingml/2006/table">
            <a:tbl>
              <a:tblPr firstRow="1" firstCol="1" bandRow="1" bandCol="1">
                <a:tableStyleId>{073A0DAA-6AF3-43AB-8588-CEC1D06C72B9}</a:tableStyleId>
              </a:tblPr>
              <a:tblGrid>
                <a:gridCol w="1100551">
                  <a:extLst>
                    <a:ext uri="{9D8B030D-6E8A-4147-A177-3AD203B41FA5}">
                      <a16:colId xmlns:a16="http://schemas.microsoft.com/office/drawing/2014/main" val="20000"/>
                    </a:ext>
                  </a:extLst>
                </a:gridCol>
                <a:gridCol w="7611649">
                  <a:extLst>
                    <a:ext uri="{9D8B030D-6E8A-4147-A177-3AD203B41FA5}">
                      <a16:colId xmlns:a16="http://schemas.microsoft.com/office/drawing/2014/main" val="20001"/>
                    </a:ext>
                  </a:extLst>
                </a:gridCol>
              </a:tblGrid>
              <a:tr h="893023">
                <a:tc>
                  <a:txBody>
                    <a:bodyPr/>
                    <a:lstStyle/>
                    <a:p>
                      <a:pPr algn="ctr">
                        <a:lnSpc>
                          <a:spcPct val="100000"/>
                        </a:lnSpc>
                        <a:spcAft>
                          <a:spcPts val="0"/>
                        </a:spcAft>
                      </a:pPr>
                      <a:r>
                        <a:rPr lang="zh-CN" sz="2800" b="1" kern="100" cap="none" spc="0" dirty="0">
                          <a:ln>
                            <a:noFill/>
                          </a:ln>
                          <a:effectLst/>
                          <a:latin typeface="+mn-lt"/>
                          <a:ea typeface="黑体" panose="02010609060101010101" pitchFamily="2" charset="-122"/>
                        </a:rPr>
                        <a:t>优点</a:t>
                      </a:r>
                      <a:endParaRPr lang="zh-CN" sz="2800" b="1" kern="100" cap="none" spc="0" dirty="0">
                        <a:ln>
                          <a:noFill/>
                        </a:ln>
                        <a:solidFill>
                          <a:schemeClr val="tx1"/>
                        </a:solidFill>
                        <a:effectLst/>
                        <a:latin typeface="+mn-lt"/>
                        <a:ea typeface="黑体" panose="02010609060101010101" pitchFamily="2" charset="-122"/>
                      </a:endParaRPr>
                    </a:p>
                  </a:txBody>
                  <a:tcPr marL="107990" marR="107990" marT="72010" marB="72010" anchor="ctr"/>
                </a:tc>
                <a:tc>
                  <a:txBody>
                    <a:bodyPr/>
                    <a:lstStyle/>
                    <a:p>
                      <a:pPr algn="ctr">
                        <a:lnSpc>
                          <a:spcPct val="100000"/>
                        </a:lnSpc>
                        <a:spcAft>
                          <a:spcPts val="0"/>
                        </a:spcAft>
                      </a:pPr>
                      <a:r>
                        <a:rPr lang="zh-CN" sz="2800" b="1" kern="100" cap="none" spc="0" dirty="0">
                          <a:ln>
                            <a:noFill/>
                          </a:ln>
                          <a:effectLst/>
                          <a:latin typeface="+mn-lt"/>
                          <a:ea typeface="黑体" panose="02010609060101010101" pitchFamily="2" charset="-122"/>
                        </a:rPr>
                        <a:t>所采用的手段</a:t>
                      </a:r>
                      <a:endParaRPr lang="zh-CN" sz="2800" b="1" kern="100" cap="none" spc="0" dirty="0">
                        <a:ln>
                          <a:noFill/>
                        </a:ln>
                        <a:solidFill>
                          <a:schemeClr val="tx1"/>
                        </a:solidFill>
                        <a:effectLst/>
                        <a:latin typeface="+mn-lt"/>
                        <a:ea typeface="黑体" panose="02010609060101010101" pitchFamily="2" charset="-122"/>
                      </a:endParaRPr>
                    </a:p>
                  </a:txBody>
                  <a:tcPr marL="89992" marR="89992" marT="46807" marB="46807" anchor="ctr"/>
                </a:tc>
                <a:extLst>
                  <a:ext uri="{0D108BD9-81ED-4DB2-BD59-A6C34878D82A}">
                    <a16:rowId xmlns:a16="http://schemas.microsoft.com/office/drawing/2014/main" val="10000"/>
                  </a:ext>
                </a:extLst>
              </a:tr>
              <a:tr h="947172">
                <a:tc>
                  <a:txBody>
                    <a:bodyPr/>
                    <a:lstStyle/>
                    <a:p>
                      <a:pPr algn="ctr">
                        <a:lnSpc>
                          <a:spcPct val="100000"/>
                        </a:lnSpc>
                        <a:spcAft>
                          <a:spcPts val="0"/>
                        </a:spcAft>
                      </a:pPr>
                      <a:r>
                        <a:rPr lang="zh-CN" sz="2800" b="1" kern="100" cap="none" spc="0">
                          <a:ln>
                            <a:noFill/>
                          </a:ln>
                          <a:effectLst/>
                          <a:latin typeface="+mn-lt"/>
                          <a:ea typeface="黑体" panose="02010609060101010101" pitchFamily="2" charset="-122"/>
                        </a:rPr>
                        <a:t>高效</a:t>
                      </a:r>
                      <a:endParaRPr lang="zh-CN" sz="2800" b="1" kern="100" cap="none" spc="0">
                        <a:ln>
                          <a:noFill/>
                        </a:ln>
                        <a:solidFill>
                          <a:schemeClr val="tx1"/>
                        </a:solidFill>
                        <a:effectLst/>
                        <a:latin typeface="+mn-lt"/>
                        <a:ea typeface="黑体" panose="02010609060101010101" pitchFamily="2" charset="-122"/>
                      </a:endParaRPr>
                    </a:p>
                  </a:txBody>
                  <a:tcPr marL="89992" marR="89992" marT="46807" marB="46807" anchor="ctr"/>
                </a:tc>
                <a:tc>
                  <a:txBody>
                    <a:bodyPr/>
                    <a:lstStyle/>
                    <a:p>
                      <a:pPr algn="just">
                        <a:lnSpc>
                          <a:spcPct val="100000"/>
                        </a:lnSpc>
                        <a:spcAft>
                          <a:spcPts val="0"/>
                        </a:spcAft>
                      </a:pPr>
                      <a:r>
                        <a:rPr lang="zh-CN" sz="2800" b="1" kern="100" cap="none" spc="0" dirty="0">
                          <a:ln>
                            <a:noFill/>
                          </a:ln>
                          <a:effectLst/>
                          <a:latin typeface="+mn-lt"/>
                          <a:ea typeface="黑体" panose="02010609060101010101" pitchFamily="2" charset="-122"/>
                        </a:rPr>
                        <a:t>在分组传输的过程中</a:t>
                      </a:r>
                      <a:r>
                        <a:rPr lang="zh-CN" sz="2800" b="1" kern="100" cap="none" spc="0" dirty="0">
                          <a:ln>
                            <a:noFill/>
                          </a:ln>
                          <a:solidFill>
                            <a:srgbClr val="FF0000"/>
                          </a:solidFill>
                          <a:effectLst/>
                          <a:latin typeface="+mn-lt"/>
                          <a:ea typeface="黑体" panose="02010609060101010101" pitchFamily="2" charset="-122"/>
                        </a:rPr>
                        <a:t>动态分配</a:t>
                      </a:r>
                      <a:r>
                        <a:rPr lang="zh-CN" sz="2800" b="1" kern="100" cap="none" spc="0" dirty="0">
                          <a:ln>
                            <a:noFill/>
                          </a:ln>
                          <a:effectLst/>
                          <a:latin typeface="+mn-lt"/>
                          <a:ea typeface="黑体" panose="02010609060101010101" pitchFamily="2" charset="-122"/>
                        </a:rPr>
                        <a:t>传输带宽，对通信链路是逐段占用</a:t>
                      </a:r>
                      <a:r>
                        <a:rPr lang="zh-CN" altLang="en-US" sz="2800" b="1" kern="100" cap="none" spc="0" dirty="0">
                          <a:ln>
                            <a:noFill/>
                          </a:ln>
                          <a:effectLst/>
                          <a:latin typeface="+mn-lt"/>
                          <a:ea typeface="黑体" panose="02010609060101010101" pitchFamily="2" charset="-122"/>
                        </a:rPr>
                        <a:t>。</a:t>
                      </a:r>
                      <a:endParaRPr lang="zh-CN" sz="2800" b="1" kern="100" cap="none" spc="0" dirty="0">
                        <a:ln>
                          <a:noFill/>
                        </a:ln>
                        <a:solidFill>
                          <a:schemeClr val="tx1"/>
                        </a:solidFill>
                        <a:effectLst/>
                        <a:latin typeface="+mn-lt"/>
                        <a:ea typeface="黑体" panose="02010609060101010101" pitchFamily="2" charset="-122"/>
                      </a:endParaRPr>
                    </a:p>
                  </a:txBody>
                  <a:tcPr marL="89992" marR="89992" marT="46807" marB="46807" anchor="ctr"/>
                </a:tc>
                <a:extLst>
                  <a:ext uri="{0D108BD9-81ED-4DB2-BD59-A6C34878D82A}">
                    <a16:rowId xmlns:a16="http://schemas.microsoft.com/office/drawing/2014/main" val="10001"/>
                  </a:ext>
                </a:extLst>
              </a:tr>
              <a:tr h="893023">
                <a:tc>
                  <a:txBody>
                    <a:bodyPr/>
                    <a:lstStyle/>
                    <a:p>
                      <a:pPr algn="ctr">
                        <a:lnSpc>
                          <a:spcPct val="100000"/>
                        </a:lnSpc>
                        <a:spcAft>
                          <a:spcPts val="0"/>
                        </a:spcAft>
                      </a:pPr>
                      <a:r>
                        <a:rPr lang="zh-CN" sz="2800" b="1" kern="100" cap="none" spc="0">
                          <a:ln>
                            <a:noFill/>
                          </a:ln>
                          <a:effectLst/>
                          <a:latin typeface="+mn-lt"/>
                          <a:ea typeface="黑体" panose="02010609060101010101" pitchFamily="2" charset="-122"/>
                        </a:rPr>
                        <a:t>灵活</a:t>
                      </a:r>
                      <a:endParaRPr lang="zh-CN" sz="2800" b="1" kern="100" cap="none" spc="0">
                        <a:ln>
                          <a:noFill/>
                        </a:ln>
                        <a:solidFill>
                          <a:schemeClr val="tx1"/>
                        </a:solidFill>
                        <a:effectLst/>
                        <a:latin typeface="+mn-lt"/>
                        <a:ea typeface="黑体" panose="02010609060101010101" pitchFamily="2" charset="-122"/>
                      </a:endParaRPr>
                    </a:p>
                  </a:txBody>
                  <a:tcPr marL="89992" marR="89992" marT="46807" marB="46807" anchor="ctr"/>
                </a:tc>
                <a:tc>
                  <a:txBody>
                    <a:bodyPr/>
                    <a:lstStyle/>
                    <a:p>
                      <a:pPr algn="just">
                        <a:lnSpc>
                          <a:spcPct val="100000"/>
                        </a:lnSpc>
                        <a:spcAft>
                          <a:spcPts val="0"/>
                        </a:spcAft>
                      </a:pPr>
                      <a:r>
                        <a:rPr lang="zh-CN" sz="2800" b="1" kern="100" cap="none" spc="0" dirty="0">
                          <a:ln>
                            <a:noFill/>
                          </a:ln>
                          <a:effectLst/>
                          <a:latin typeface="+mn-lt"/>
                          <a:ea typeface="黑体" panose="02010609060101010101" pitchFamily="2" charset="-122"/>
                        </a:rPr>
                        <a:t>为每一个分组</a:t>
                      </a:r>
                      <a:r>
                        <a:rPr lang="zh-CN" sz="2800" b="1" kern="100" cap="none" spc="0" dirty="0">
                          <a:ln>
                            <a:noFill/>
                          </a:ln>
                          <a:solidFill>
                            <a:srgbClr val="FF0000"/>
                          </a:solidFill>
                          <a:effectLst/>
                          <a:latin typeface="+mn-lt"/>
                          <a:ea typeface="黑体" panose="02010609060101010101" pitchFamily="2" charset="-122"/>
                        </a:rPr>
                        <a:t>独立</a:t>
                      </a:r>
                      <a:r>
                        <a:rPr lang="zh-CN" sz="2800" b="1" kern="100" cap="none" spc="0" dirty="0">
                          <a:ln>
                            <a:noFill/>
                          </a:ln>
                          <a:effectLst/>
                          <a:latin typeface="+mn-lt"/>
                          <a:ea typeface="黑体" panose="02010609060101010101" pitchFamily="2" charset="-122"/>
                        </a:rPr>
                        <a:t>地选择最合适的转发路由</a:t>
                      </a:r>
                      <a:r>
                        <a:rPr lang="zh-CN" altLang="en-US" sz="2800" b="1" kern="100" cap="none" spc="0" dirty="0">
                          <a:ln>
                            <a:noFill/>
                          </a:ln>
                          <a:effectLst/>
                          <a:latin typeface="+mn-lt"/>
                          <a:ea typeface="黑体" panose="02010609060101010101" pitchFamily="2" charset="-122"/>
                        </a:rPr>
                        <a:t>。</a:t>
                      </a:r>
                      <a:endParaRPr lang="zh-CN" sz="2800" b="1" kern="100" cap="none" spc="0" dirty="0">
                        <a:ln>
                          <a:noFill/>
                        </a:ln>
                        <a:solidFill>
                          <a:schemeClr val="tx1"/>
                        </a:solidFill>
                        <a:effectLst/>
                        <a:latin typeface="+mn-lt"/>
                        <a:ea typeface="黑体" panose="02010609060101010101" pitchFamily="2" charset="-122"/>
                      </a:endParaRPr>
                    </a:p>
                  </a:txBody>
                  <a:tcPr marL="89992" marR="89992" marT="46807" marB="46807" anchor="ctr"/>
                </a:tc>
                <a:extLst>
                  <a:ext uri="{0D108BD9-81ED-4DB2-BD59-A6C34878D82A}">
                    <a16:rowId xmlns:a16="http://schemas.microsoft.com/office/drawing/2014/main" val="10002"/>
                  </a:ext>
                </a:extLst>
              </a:tr>
              <a:tr h="947172">
                <a:tc>
                  <a:txBody>
                    <a:bodyPr/>
                    <a:lstStyle/>
                    <a:p>
                      <a:pPr algn="ctr">
                        <a:lnSpc>
                          <a:spcPct val="100000"/>
                        </a:lnSpc>
                        <a:spcAft>
                          <a:spcPts val="0"/>
                        </a:spcAft>
                      </a:pPr>
                      <a:r>
                        <a:rPr lang="zh-CN" sz="2800" b="1" kern="100" cap="none" spc="0">
                          <a:ln>
                            <a:noFill/>
                          </a:ln>
                          <a:effectLst/>
                          <a:latin typeface="+mn-lt"/>
                          <a:ea typeface="黑体" panose="02010609060101010101" pitchFamily="2" charset="-122"/>
                        </a:rPr>
                        <a:t>迅速</a:t>
                      </a:r>
                      <a:endParaRPr lang="zh-CN" sz="2800" b="1" kern="100" cap="none" spc="0">
                        <a:ln>
                          <a:noFill/>
                        </a:ln>
                        <a:solidFill>
                          <a:schemeClr val="tx1"/>
                        </a:solidFill>
                        <a:effectLst/>
                        <a:latin typeface="+mn-lt"/>
                        <a:ea typeface="黑体" panose="02010609060101010101" pitchFamily="2" charset="-122"/>
                      </a:endParaRPr>
                    </a:p>
                  </a:txBody>
                  <a:tcPr marL="89992" marR="89992" marT="46807" marB="46807" anchor="ctr"/>
                </a:tc>
                <a:tc>
                  <a:txBody>
                    <a:bodyPr/>
                    <a:lstStyle/>
                    <a:p>
                      <a:pPr algn="just">
                        <a:lnSpc>
                          <a:spcPct val="100000"/>
                        </a:lnSpc>
                        <a:spcAft>
                          <a:spcPts val="0"/>
                        </a:spcAft>
                      </a:pPr>
                      <a:r>
                        <a:rPr lang="zh-CN" sz="2800" b="1" kern="100" cap="none" spc="0" dirty="0">
                          <a:ln>
                            <a:noFill/>
                          </a:ln>
                          <a:effectLst/>
                          <a:latin typeface="+mn-lt"/>
                          <a:ea typeface="黑体" panose="02010609060101010101" pitchFamily="2" charset="-122"/>
                        </a:rPr>
                        <a:t>以分组作为传送单位，可以</a:t>
                      </a:r>
                      <a:r>
                        <a:rPr lang="zh-CN" sz="2800" b="1" kern="100" cap="none" spc="0" dirty="0">
                          <a:ln>
                            <a:noFill/>
                          </a:ln>
                          <a:solidFill>
                            <a:srgbClr val="FF0000"/>
                          </a:solidFill>
                          <a:effectLst/>
                          <a:latin typeface="+mn-lt"/>
                          <a:ea typeface="黑体" panose="02010609060101010101" pitchFamily="2" charset="-122"/>
                        </a:rPr>
                        <a:t>不先建立连接</a:t>
                      </a:r>
                      <a:r>
                        <a:rPr lang="zh-CN" sz="2800" b="1" kern="100" cap="none" spc="0" dirty="0">
                          <a:ln>
                            <a:noFill/>
                          </a:ln>
                          <a:effectLst/>
                          <a:latin typeface="+mn-lt"/>
                          <a:ea typeface="黑体" panose="02010609060101010101" pitchFamily="2" charset="-122"/>
                        </a:rPr>
                        <a:t>就能向其他主机发送分组</a:t>
                      </a:r>
                      <a:r>
                        <a:rPr lang="zh-CN" altLang="en-US" sz="2800" b="1" kern="100" cap="none" spc="0" dirty="0">
                          <a:ln>
                            <a:noFill/>
                          </a:ln>
                          <a:effectLst/>
                          <a:latin typeface="+mn-lt"/>
                          <a:ea typeface="黑体" panose="02010609060101010101" pitchFamily="2" charset="-122"/>
                        </a:rPr>
                        <a:t>。</a:t>
                      </a:r>
                      <a:endParaRPr lang="zh-CN" sz="2800" b="1" kern="100" cap="none" spc="0" dirty="0">
                        <a:ln>
                          <a:noFill/>
                        </a:ln>
                        <a:solidFill>
                          <a:schemeClr val="tx1"/>
                        </a:solidFill>
                        <a:effectLst/>
                        <a:latin typeface="+mn-lt"/>
                        <a:ea typeface="黑体" panose="02010609060101010101" pitchFamily="2" charset="-122"/>
                      </a:endParaRPr>
                    </a:p>
                  </a:txBody>
                  <a:tcPr marL="89992" marR="89992" marT="46807" marB="46807" anchor="ctr"/>
                </a:tc>
                <a:extLst>
                  <a:ext uri="{0D108BD9-81ED-4DB2-BD59-A6C34878D82A}">
                    <a16:rowId xmlns:a16="http://schemas.microsoft.com/office/drawing/2014/main" val="10003"/>
                  </a:ext>
                </a:extLst>
              </a:tr>
              <a:tr h="947172">
                <a:tc>
                  <a:txBody>
                    <a:bodyPr/>
                    <a:lstStyle/>
                    <a:p>
                      <a:pPr algn="ctr">
                        <a:lnSpc>
                          <a:spcPct val="100000"/>
                        </a:lnSpc>
                        <a:spcAft>
                          <a:spcPts val="0"/>
                        </a:spcAft>
                      </a:pPr>
                      <a:r>
                        <a:rPr lang="zh-CN" sz="2800" b="1" kern="100" cap="none" spc="0">
                          <a:ln>
                            <a:noFill/>
                          </a:ln>
                          <a:effectLst/>
                          <a:latin typeface="+mn-lt"/>
                          <a:ea typeface="黑体" panose="02010609060101010101" pitchFamily="2" charset="-122"/>
                        </a:rPr>
                        <a:t>可靠</a:t>
                      </a:r>
                      <a:endParaRPr lang="zh-CN" sz="2800" b="1" kern="100" cap="none" spc="0">
                        <a:ln>
                          <a:noFill/>
                        </a:ln>
                        <a:solidFill>
                          <a:schemeClr val="tx1"/>
                        </a:solidFill>
                        <a:effectLst/>
                        <a:latin typeface="+mn-lt"/>
                        <a:ea typeface="黑体" panose="02010609060101010101" pitchFamily="2" charset="-122"/>
                      </a:endParaRPr>
                    </a:p>
                  </a:txBody>
                  <a:tcPr marL="89992" marR="89992" marT="46807" marB="46807" anchor="ctr"/>
                </a:tc>
                <a:tc>
                  <a:txBody>
                    <a:bodyPr/>
                    <a:lstStyle/>
                    <a:p>
                      <a:pPr algn="just">
                        <a:lnSpc>
                          <a:spcPct val="100000"/>
                        </a:lnSpc>
                        <a:spcAft>
                          <a:spcPts val="0"/>
                        </a:spcAft>
                      </a:pPr>
                      <a:r>
                        <a:rPr lang="zh-CN" sz="2800" b="1" kern="100" cap="none" spc="0" dirty="0">
                          <a:ln>
                            <a:noFill/>
                          </a:ln>
                          <a:effectLst/>
                          <a:latin typeface="+mn-lt"/>
                          <a:ea typeface="黑体" panose="02010609060101010101" pitchFamily="2" charset="-122"/>
                        </a:rPr>
                        <a:t>保证可靠性的网络协议；分布式多路由的分组交换网，使网络有很好的生存性</a:t>
                      </a:r>
                      <a:r>
                        <a:rPr lang="zh-CN" altLang="en-US" sz="2800" b="1" kern="100" cap="none" spc="0" dirty="0">
                          <a:ln>
                            <a:noFill/>
                          </a:ln>
                          <a:effectLst/>
                          <a:latin typeface="+mn-lt"/>
                          <a:ea typeface="黑体" panose="02010609060101010101" pitchFamily="2" charset="-122"/>
                        </a:rPr>
                        <a:t>。</a:t>
                      </a:r>
                      <a:endParaRPr lang="zh-CN" sz="2800" b="1" kern="100" cap="none" spc="0" dirty="0">
                        <a:ln>
                          <a:noFill/>
                        </a:ln>
                        <a:solidFill>
                          <a:schemeClr val="tx1"/>
                        </a:solidFill>
                        <a:effectLst/>
                        <a:latin typeface="+mn-lt"/>
                        <a:ea typeface="黑体" panose="02010609060101010101" pitchFamily="2" charset="-122"/>
                      </a:endParaRPr>
                    </a:p>
                  </a:txBody>
                  <a:tcPr marL="89992" marR="89992" marT="46807" marB="46807" anchor="ctr"/>
                </a:tc>
                <a:extLst>
                  <a:ext uri="{0D108BD9-81ED-4DB2-BD59-A6C34878D82A}">
                    <a16:rowId xmlns:a16="http://schemas.microsoft.com/office/drawing/2014/main" val="10004"/>
                  </a:ext>
                </a:extLst>
              </a:tr>
            </a:tbl>
          </a:graphicData>
        </a:graphic>
      </p:graphicFrame>
      <p:sp>
        <p:nvSpPr>
          <p:cNvPr id="97302"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381C216-BBDA-4762-858B-D7A92EF3D265}" type="slidenum">
              <a:rPr lang="zh-CN" altLang="en-US" smtClean="0"/>
              <a:pPr eaLnBrk="1" hangingPunct="1"/>
              <a:t>58</a:t>
            </a:fld>
            <a:endParaRPr lang="en-US" altLang="zh-CN" smtClean="0"/>
          </a:p>
        </p:txBody>
      </p:sp>
      <p:sp>
        <p:nvSpPr>
          <p:cNvPr id="97303"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分组交换带来的问题</a:t>
            </a:r>
          </a:p>
        </p:txBody>
      </p:sp>
      <p:sp>
        <p:nvSpPr>
          <p:cNvPr id="67587"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分组在各结点存储转发时需要</a:t>
            </a:r>
            <a:r>
              <a:rPr lang="zh-CN" altLang="en-US" smtClean="0">
                <a:solidFill>
                  <a:srgbClr val="FF0000"/>
                </a:solidFill>
                <a:ea typeface="黑体" panose="02010609060101010101" pitchFamily="49" charset="-122"/>
              </a:rPr>
              <a:t>排队，</a:t>
            </a:r>
            <a:r>
              <a:rPr lang="zh-CN" altLang="en-US" smtClean="0">
                <a:ea typeface="黑体" panose="02010609060101010101" pitchFamily="49" charset="-122"/>
              </a:rPr>
              <a:t>这就会造成一定的</a:t>
            </a:r>
            <a:r>
              <a:rPr lang="zh-CN" altLang="en-US" smtClean="0">
                <a:solidFill>
                  <a:srgbClr val="FF0000"/>
                </a:solidFill>
                <a:ea typeface="黑体" panose="02010609060101010101" pitchFamily="49" charset="-122"/>
              </a:rPr>
              <a:t>时延。</a:t>
            </a:r>
            <a:r>
              <a:rPr lang="zh-CN" altLang="en-US" smtClean="0">
                <a:ea typeface="黑体" panose="02010609060101010101" pitchFamily="49" charset="-122"/>
              </a:rPr>
              <a:t> </a:t>
            </a:r>
          </a:p>
          <a:p>
            <a:r>
              <a:rPr lang="zh-CN" altLang="en-US" smtClean="0">
                <a:ea typeface="黑体" panose="02010609060101010101" pitchFamily="49" charset="-122"/>
              </a:rPr>
              <a:t>分组必须携带的首部（里面有必不可少的控制信息）也造成了一定的</a:t>
            </a:r>
            <a:r>
              <a:rPr lang="zh-CN" altLang="en-US" smtClean="0">
                <a:solidFill>
                  <a:srgbClr val="FF0000"/>
                </a:solidFill>
                <a:ea typeface="黑体" panose="02010609060101010101" pitchFamily="49" charset="-122"/>
              </a:rPr>
              <a:t>开销。</a:t>
            </a:r>
            <a:r>
              <a:rPr lang="zh-CN" altLang="en-US" smtClean="0">
                <a:ea typeface="黑体" panose="02010609060101010101" pitchFamily="49" charset="-122"/>
              </a:rPr>
              <a:t> </a:t>
            </a:r>
          </a:p>
        </p:txBody>
      </p:sp>
      <p:sp>
        <p:nvSpPr>
          <p:cNvPr id="9933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BCDBD29-5EF4-4D6B-A8D0-0206CC115435}" type="slidenum">
              <a:rPr lang="zh-CN" altLang="en-US" smtClean="0"/>
              <a:pPr eaLnBrk="1" hangingPunct="1"/>
              <a:t>59</a:t>
            </a:fld>
            <a:endParaRPr lang="en-US" altLang="zh-CN" smtClean="0"/>
          </a:p>
        </p:txBody>
      </p:sp>
      <p:sp>
        <p:nvSpPr>
          <p:cNvPr id="9933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58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758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7"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2"/>
          <p:cNvSpPr>
            <a:spLocks noGrp="1" noChangeArrowheads="1"/>
          </p:cNvSpPr>
          <p:nvPr>
            <p:ph type="title"/>
          </p:nvPr>
        </p:nvSpPr>
        <p:spPr>
          <a:xfrm>
            <a:off x="495300" y="188913"/>
            <a:ext cx="9066213" cy="792162"/>
          </a:xfrm>
        </p:spPr>
        <p:txBody>
          <a:bodyPr/>
          <a:lstStyle/>
          <a:p>
            <a:pPr algn="ctr"/>
            <a:r>
              <a:rPr lang="zh-CN" altLang="en-US" sz="4000" smtClean="0">
                <a:ea typeface="黑体" panose="02010609060101010101" pitchFamily="49" charset="-122"/>
              </a:rPr>
              <a:t>存储转发原理并非完全新的概念 </a:t>
            </a:r>
          </a:p>
        </p:txBody>
      </p:sp>
      <p:sp>
        <p:nvSpPr>
          <p:cNvPr id="153603"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在 </a:t>
            </a:r>
            <a:r>
              <a:rPr lang="en-US" altLang="zh-CN" smtClean="0">
                <a:ea typeface="黑体" panose="02010609060101010101" pitchFamily="49" charset="-122"/>
              </a:rPr>
              <a:t>20 </a:t>
            </a:r>
            <a:r>
              <a:rPr lang="zh-CN" altLang="en-US" smtClean="0">
                <a:ea typeface="黑体" panose="02010609060101010101" pitchFamily="49" charset="-122"/>
              </a:rPr>
              <a:t>世纪 </a:t>
            </a:r>
            <a:r>
              <a:rPr lang="en-US" altLang="zh-CN" smtClean="0">
                <a:ea typeface="黑体" panose="02010609060101010101" pitchFamily="49" charset="-122"/>
              </a:rPr>
              <a:t>40 </a:t>
            </a:r>
            <a:r>
              <a:rPr lang="zh-CN" altLang="en-US" smtClean="0">
                <a:ea typeface="黑体" panose="02010609060101010101" pitchFamily="49" charset="-122"/>
              </a:rPr>
              <a:t>年代，电报通信也采用了基于存储转发原理的</a:t>
            </a:r>
            <a:r>
              <a:rPr lang="zh-CN" altLang="en-US" smtClean="0">
                <a:solidFill>
                  <a:srgbClr val="FF0000"/>
                </a:solidFill>
                <a:ea typeface="黑体" panose="02010609060101010101" pitchFamily="49" charset="-122"/>
              </a:rPr>
              <a:t>报文交换 </a:t>
            </a:r>
            <a:r>
              <a:rPr lang="en-US" altLang="zh-CN" smtClean="0">
                <a:ea typeface="黑体" panose="02010609060101010101" pitchFamily="49" charset="-122"/>
              </a:rPr>
              <a:t>(message switching)</a:t>
            </a:r>
            <a:r>
              <a:rPr lang="zh-CN" altLang="en-US" smtClean="0">
                <a:ea typeface="黑体" panose="02010609060101010101" pitchFamily="49" charset="-122"/>
              </a:rPr>
              <a:t>。 </a:t>
            </a:r>
          </a:p>
          <a:p>
            <a:r>
              <a:rPr lang="zh-CN" altLang="en-US" smtClean="0">
                <a:ea typeface="黑体" panose="02010609060101010101" pitchFamily="49" charset="-122"/>
              </a:rPr>
              <a:t>报文交换的时延较长，从几分钟到几小时不等。现在报文交换已经很少有人使用了。 </a:t>
            </a:r>
          </a:p>
        </p:txBody>
      </p:sp>
      <p:sp>
        <p:nvSpPr>
          <p:cNvPr id="10137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3BD2C8B-A3BA-4B3D-96EB-FEA03DA3894B}" type="slidenum">
              <a:rPr lang="zh-CN" altLang="en-US" smtClean="0"/>
              <a:pPr eaLnBrk="1" hangingPunct="1"/>
              <a:t>60</a:t>
            </a:fld>
            <a:endParaRPr lang="en-US" altLang="zh-CN" smtClean="0"/>
          </a:p>
        </p:txBody>
      </p:sp>
      <p:sp>
        <p:nvSpPr>
          <p:cNvPr id="10138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60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360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noChangeArrowheads="1"/>
          </p:cNvSpPr>
          <p:nvPr>
            <p:ph type="title" idx="4294967295"/>
          </p:nvPr>
        </p:nvSpPr>
        <p:spPr>
          <a:xfrm>
            <a:off x="476250" y="0"/>
            <a:ext cx="9156700" cy="692150"/>
          </a:xfrm>
        </p:spPr>
        <p:txBody>
          <a:bodyPr/>
          <a:lstStyle/>
          <a:p>
            <a:pPr algn="ctr"/>
            <a:r>
              <a:rPr lang="zh-CN" altLang="en-US" sz="4000" smtClean="0">
                <a:ea typeface="黑体" panose="02010609060101010101" pitchFamily="49" charset="-122"/>
              </a:rPr>
              <a:t>三种交换的比较 </a:t>
            </a:r>
          </a:p>
        </p:txBody>
      </p:sp>
      <p:grpSp>
        <p:nvGrpSpPr>
          <p:cNvPr id="154758" name="Group 134"/>
          <p:cNvGrpSpPr>
            <a:grpSpLocks/>
          </p:cNvGrpSpPr>
          <p:nvPr/>
        </p:nvGrpSpPr>
        <p:grpSpPr bwMode="auto">
          <a:xfrm>
            <a:off x="8002588" y="1458913"/>
            <a:ext cx="628650" cy="396875"/>
            <a:chOff x="4653" y="1614"/>
            <a:chExt cx="366" cy="250"/>
          </a:xfrm>
        </p:grpSpPr>
        <p:sp>
          <p:nvSpPr>
            <p:cNvPr id="103427" name="AutoShape 4"/>
            <p:cNvSpPr>
              <a:spLocks noChangeArrowheads="1"/>
            </p:cNvSpPr>
            <p:nvPr/>
          </p:nvSpPr>
          <p:spPr bwMode="auto">
            <a:xfrm rot="5400000">
              <a:off x="4732" y="1578"/>
              <a:ext cx="211"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103428" name="Text Box 5"/>
            <p:cNvSpPr txBox="1">
              <a:spLocks noChangeArrowheads="1"/>
            </p:cNvSpPr>
            <p:nvPr/>
          </p:nvSpPr>
          <p:spPr bwMode="auto">
            <a:xfrm rot="626605">
              <a:off x="4671" y="1614"/>
              <a:ext cx="24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a:solidFill>
                    <a:srgbClr val="333399"/>
                  </a:solidFill>
                  <a:ea typeface="黑体" panose="02010609060101010101" pitchFamily="49" charset="-122"/>
                </a:rPr>
                <a:t>P</a:t>
              </a:r>
              <a:r>
                <a:rPr lang="en-US" altLang="zh-CN" baseline="-25000">
                  <a:solidFill>
                    <a:srgbClr val="333399"/>
                  </a:solidFill>
                  <a:ea typeface="黑体" panose="02010609060101010101" pitchFamily="49" charset="-122"/>
                </a:rPr>
                <a:t>1</a:t>
              </a:r>
              <a:endParaRPr lang="en-US" altLang="zh-CN">
                <a:solidFill>
                  <a:srgbClr val="333399"/>
                </a:solidFill>
                <a:ea typeface="黑体" panose="02010609060101010101" pitchFamily="49" charset="-122"/>
              </a:endParaRPr>
            </a:p>
          </p:txBody>
        </p:sp>
        <p:sp>
          <p:nvSpPr>
            <p:cNvPr id="103429" name="Line 6"/>
            <p:cNvSpPr>
              <a:spLocks noChangeShapeType="1"/>
            </p:cNvSpPr>
            <p:nvPr/>
          </p:nvSpPr>
          <p:spPr bwMode="auto">
            <a:xfrm>
              <a:off x="4656" y="1650"/>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430" name="Line 7"/>
            <p:cNvSpPr>
              <a:spLocks noChangeShapeType="1"/>
            </p:cNvSpPr>
            <p:nvPr/>
          </p:nvSpPr>
          <p:spPr bwMode="auto">
            <a:xfrm>
              <a:off x="4653" y="1801"/>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431" name="AutoShape 8"/>
            <p:cNvSpPr>
              <a:spLocks noChangeArrowheads="1"/>
            </p:cNvSpPr>
            <p:nvPr/>
          </p:nvSpPr>
          <p:spPr bwMode="auto">
            <a:xfrm rot="746037">
              <a:off x="4847" y="1715"/>
              <a:ext cx="133" cy="126"/>
            </a:xfrm>
            <a:prstGeom prst="rightArrow">
              <a:avLst>
                <a:gd name="adj1" fmla="val 50000"/>
                <a:gd name="adj2" fmla="val 26389"/>
              </a:avLst>
            </a:prstGeom>
            <a:solidFill>
              <a:schemeClr val="bg1"/>
            </a:solidFill>
            <a:ln w="9525">
              <a:solidFill>
                <a:srgbClr val="333399"/>
              </a:solidFill>
              <a:miter lim="800000"/>
              <a:headEnd/>
              <a:tailEnd/>
            </a:ln>
          </p:spPr>
          <p:txBody>
            <a:bodyPr wrap="none" anchor="ctr"/>
            <a:lstStyle/>
            <a:p>
              <a:pPr eaLnBrk="0" hangingPunct="0"/>
              <a:endParaRPr lang="zh-CN" altLang="en-US">
                <a:ea typeface="宋体" panose="02010600030101010101" pitchFamily="2" charset="-122"/>
              </a:endParaRPr>
            </a:p>
          </p:txBody>
        </p:sp>
      </p:grpSp>
      <p:grpSp>
        <p:nvGrpSpPr>
          <p:cNvPr id="154759" name="Group 135"/>
          <p:cNvGrpSpPr>
            <a:grpSpLocks/>
          </p:cNvGrpSpPr>
          <p:nvPr/>
        </p:nvGrpSpPr>
        <p:grpSpPr bwMode="auto">
          <a:xfrm>
            <a:off x="7993063" y="1743075"/>
            <a:ext cx="631825" cy="396875"/>
            <a:chOff x="4648" y="1793"/>
            <a:chExt cx="367" cy="250"/>
          </a:xfrm>
        </p:grpSpPr>
        <p:sp>
          <p:nvSpPr>
            <p:cNvPr id="103433" name="AutoShape 9"/>
            <p:cNvSpPr>
              <a:spLocks noChangeArrowheads="1"/>
            </p:cNvSpPr>
            <p:nvPr/>
          </p:nvSpPr>
          <p:spPr bwMode="auto">
            <a:xfrm rot="5400000">
              <a:off x="4728" y="1757"/>
              <a:ext cx="211"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103434" name="Text Box 10"/>
            <p:cNvSpPr txBox="1">
              <a:spLocks noChangeArrowheads="1"/>
            </p:cNvSpPr>
            <p:nvPr/>
          </p:nvSpPr>
          <p:spPr bwMode="auto">
            <a:xfrm rot="626605">
              <a:off x="4660" y="1793"/>
              <a:ext cx="24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a:solidFill>
                    <a:srgbClr val="333399"/>
                  </a:solidFill>
                  <a:ea typeface="黑体" panose="02010609060101010101" pitchFamily="49" charset="-122"/>
                </a:rPr>
                <a:t>P</a:t>
              </a:r>
              <a:r>
                <a:rPr lang="en-US" altLang="zh-CN" baseline="-25000">
                  <a:solidFill>
                    <a:srgbClr val="333399"/>
                  </a:solidFill>
                  <a:ea typeface="黑体" panose="02010609060101010101" pitchFamily="49" charset="-122"/>
                </a:rPr>
                <a:t>2</a:t>
              </a:r>
              <a:endParaRPr lang="en-US" altLang="zh-CN">
                <a:solidFill>
                  <a:srgbClr val="333399"/>
                </a:solidFill>
                <a:ea typeface="黑体" panose="02010609060101010101" pitchFamily="49" charset="-122"/>
              </a:endParaRPr>
            </a:p>
          </p:txBody>
        </p:sp>
        <p:sp>
          <p:nvSpPr>
            <p:cNvPr id="103435" name="Line 11"/>
            <p:cNvSpPr>
              <a:spLocks noChangeShapeType="1"/>
            </p:cNvSpPr>
            <p:nvPr/>
          </p:nvSpPr>
          <p:spPr bwMode="auto">
            <a:xfrm>
              <a:off x="4652" y="1829"/>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436" name="Line 12"/>
            <p:cNvSpPr>
              <a:spLocks noChangeShapeType="1"/>
            </p:cNvSpPr>
            <p:nvPr/>
          </p:nvSpPr>
          <p:spPr bwMode="auto">
            <a:xfrm>
              <a:off x="4648" y="1980"/>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437" name="AutoShape 13"/>
            <p:cNvSpPr>
              <a:spLocks noChangeArrowheads="1"/>
            </p:cNvSpPr>
            <p:nvPr/>
          </p:nvSpPr>
          <p:spPr bwMode="auto">
            <a:xfrm rot="746037">
              <a:off x="4843" y="1894"/>
              <a:ext cx="132" cy="126"/>
            </a:xfrm>
            <a:prstGeom prst="rightArrow">
              <a:avLst>
                <a:gd name="adj1" fmla="val 50000"/>
                <a:gd name="adj2" fmla="val 26186"/>
              </a:avLst>
            </a:prstGeom>
            <a:solidFill>
              <a:schemeClr val="bg1"/>
            </a:solidFill>
            <a:ln w="9525">
              <a:solidFill>
                <a:srgbClr val="333399"/>
              </a:solidFill>
              <a:miter lim="800000"/>
              <a:headEnd/>
              <a:tailEnd/>
            </a:ln>
          </p:spPr>
          <p:txBody>
            <a:bodyPr wrap="none" anchor="ctr"/>
            <a:lstStyle/>
            <a:p>
              <a:pPr eaLnBrk="0" hangingPunct="0"/>
              <a:endParaRPr lang="zh-CN" altLang="en-US">
                <a:ea typeface="宋体" panose="02010600030101010101" pitchFamily="2" charset="-122"/>
              </a:endParaRPr>
            </a:p>
          </p:txBody>
        </p:sp>
      </p:grpSp>
      <p:grpSp>
        <p:nvGrpSpPr>
          <p:cNvPr id="154760" name="Group 136"/>
          <p:cNvGrpSpPr>
            <a:grpSpLocks/>
          </p:cNvGrpSpPr>
          <p:nvPr/>
        </p:nvGrpSpPr>
        <p:grpSpPr bwMode="auto">
          <a:xfrm>
            <a:off x="8001000" y="2032000"/>
            <a:ext cx="628650" cy="387350"/>
            <a:chOff x="4652" y="1975"/>
            <a:chExt cx="366" cy="244"/>
          </a:xfrm>
        </p:grpSpPr>
        <p:sp>
          <p:nvSpPr>
            <p:cNvPr id="103439" name="AutoShape 14"/>
            <p:cNvSpPr>
              <a:spLocks noChangeArrowheads="1"/>
            </p:cNvSpPr>
            <p:nvPr/>
          </p:nvSpPr>
          <p:spPr bwMode="auto">
            <a:xfrm rot="5400000">
              <a:off x="4731" y="1933"/>
              <a:ext cx="211"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103440" name="Text Box 15"/>
            <p:cNvSpPr txBox="1">
              <a:spLocks noChangeArrowheads="1"/>
            </p:cNvSpPr>
            <p:nvPr/>
          </p:nvSpPr>
          <p:spPr bwMode="auto">
            <a:xfrm rot="626605">
              <a:off x="4664" y="1975"/>
              <a:ext cx="24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a:solidFill>
                    <a:srgbClr val="333399"/>
                  </a:solidFill>
                  <a:ea typeface="黑体" panose="02010609060101010101" pitchFamily="49" charset="-122"/>
                </a:rPr>
                <a:t>P</a:t>
              </a:r>
              <a:r>
                <a:rPr lang="en-US" altLang="zh-CN" baseline="-25000">
                  <a:solidFill>
                    <a:srgbClr val="333399"/>
                  </a:solidFill>
                  <a:ea typeface="黑体" panose="02010609060101010101" pitchFamily="49" charset="-122"/>
                </a:rPr>
                <a:t>3</a:t>
              </a:r>
              <a:endParaRPr lang="en-US" altLang="zh-CN">
                <a:solidFill>
                  <a:srgbClr val="333399"/>
                </a:solidFill>
                <a:ea typeface="黑体" panose="02010609060101010101" pitchFamily="49" charset="-122"/>
              </a:endParaRPr>
            </a:p>
          </p:txBody>
        </p:sp>
        <p:sp>
          <p:nvSpPr>
            <p:cNvPr id="103441" name="Line 16"/>
            <p:cNvSpPr>
              <a:spLocks noChangeShapeType="1"/>
            </p:cNvSpPr>
            <p:nvPr/>
          </p:nvSpPr>
          <p:spPr bwMode="auto">
            <a:xfrm>
              <a:off x="4656" y="2004"/>
              <a:ext cx="362" cy="64"/>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442" name="Line 17"/>
            <p:cNvSpPr>
              <a:spLocks noChangeShapeType="1"/>
            </p:cNvSpPr>
            <p:nvPr/>
          </p:nvSpPr>
          <p:spPr bwMode="auto">
            <a:xfrm>
              <a:off x="4652" y="2155"/>
              <a:ext cx="363" cy="64"/>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443" name="AutoShape 18"/>
            <p:cNvSpPr>
              <a:spLocks noChangeArrowheads="1"/>
            </p:cNvSpPr>
            <p:nvPr/>
          </p:nvSpPr>
          <p:spPr bwMode="auto">
            <a:xfrm rot="746037">
              <a:off x="4846" y="2069"/>
              <a:ext cx="133" cy="127"/>
            </a:xfrm>
            <a:prstGeom prst="rightArrow">
              <a:avLst>
                <a:gd name="adj1" fmla="val 50000"/>
                <a:gd name="adj2" fmla="val 26176"/>
              </a:avLst>
            </a:prstGeom>
            <a:solidFill>
              <a:schemeClr val="bg1"/>
            </a:solidFill>
            <a:ln w="9525">
              <a:solidFill>
                <a:srgbClr val="333399"/>
              </a:solidFill>
              <a:miter lim="800000"/>
              <a:headEnd/>
              <a:tailEnd/>
            </a:ln>
          </p:spPr>
          <p:txBody>
            <a:bodyPr wrap="none" anchor="ctr"/>
            <a:lstStyle/>
            <a:p>
              <a:pPr eaLnBrk="0" hangingPunct="0"/>
              <a:endParaRPr lang="zh-CN" altLang="en-US">
                <a:ea typeface="宋体" panose="02010600030101010101" pitchFamily="2" charset="-122"/>
              </a:endParaRPr>
            </a:p>
          </p:txBody>
        </p:sp>
      </p:grpSp>
      <p:grpSp>
        <p:nvGrpSpPr>
          <p:cNvPr id="154761" name="Group 137"/>
          <p:cNvGrpSpPr>
            <a:grpSpLocks/>
          </p:cNvGrpSpPr>
          <p:nvPr/>
        </p:nvGrpSpPr>
        <p:grpSpPr bwMode="auto">
          <a:xfrm>
            <a:off x="8007350" y="2301875"/>
            <a:ext cx="630238" cy="395288"/>
            <a:chOff x="4656" y="2145"/>
            <a:chExt cx="366" cy="249"/>
          </a:xfrm>
        </p:grpSpPr>
        <p:sp>
          <p:nvSpPr>
            <p:cNvPr id="103445" name="AutoShape 19"/>
            <p:cNvSpPr>
              <a:spLocks noChangeArrowheads="1"/>
            </p:cNvSpPr>
            <p:nvPr/>
          </p:nvSpPr>
          <p:spPr bwMode="auto">
            <a:xfrm rot="5400000">
              <a:off x="4737" y="2108"/>
              <a:ext cx="210"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103446" name="Text Box 20"/>
            <p:cNvSpPr txBox="1">
              <a:spLocks noChangeArrowheads="1"/>
            </p:cNvSpPr>
            <p:nvPr/>
          </p:nvSpPr>
          <p:spPr bwMode="auto">
            <a:xfrm rot="626605">
              <a:off x="4668" y="2145"/>
              <a:ext cx="24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a:solidFill>
                    <a:srgbClr val="333399"/>
                  </a:solidFill>
                  <a:ea typeface="黑体" panose="02010609060101010101" pitchFamily="49" charset="-122"/>
                </a:rPr>
                <a:t>P</a:t>
              </a:r>
              <a:r>
                <a:rPr lang="en-US" altLang="zh-CN" baseline="-25000">
                  <a:solidFill>
                    <a:srgbClr val="333399"/>
                  </a:solidFill>
                  <a:ea typeface="黑体" panose="02010609060101010101" pitchFamily="49" charset="-122"/>
                </a:rPr>
                <a:t>4</a:t>
              </a:r>
              <a:endParaRPr lang="en-US" altLang="zh-CN">
                <a:solidFill>
                  <a:srgbClr val="333399"/>
                </a:solidFill>
                <a:ea typeface="黑体" panose="02010609060101010101" pitchFamily="49" charset="-122"/>
              </a:endParaRPr>
            </a:p>
          </p:txBody>
        </p:sp>
        <p:sp>
          <p:nvSpPr>
            <p:cNvPr id="103447" name="Line 21"/>
            <p:cNvSpPr>
              <a:spLocks noChangeShapeType="1"/>
            </p:cNvSpPr>
            <p:nvPr/>
          </p:nvSpPr>
          <p:spPr bwMode="auto">
            <a:xfrm>
              <a:off x="4659" y="2180"/>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448" name="Line 22"/>
            <p:cNvSpPr>
              <a:spLocks noChangeShapeType="1"/>
            </p:cNvSpPr>
            <p:nvPr/>
          </p:nvSpPr>
          <p:spPr bwMode="auto">
            <a:xfrm>
              <a:off x="4656" y="2331"/>
              <a:ext cx="362"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449" name="AutoShape 23"/>
            <p:cNvSpPr>
              <a:spLocks noChangeArrowheads="1"/>
            </p:cNvSpPr>
            <p:nvPr/>
          </p:nvSpPr>
          <p:spPr bwMode="auto">
            <a:xfrm rot="746037">
              <a:off x="4850" y="2245"/>
              <a:ext cx="132" cy="126"/>
            </a:xfrm>
            <a:prstGeom prst="rightArrow">
              <a:avLst>
                <a:gd name="adj1" fmla="val 50000"/>
                <a:gd name="adj2" fmla="val 26186"/>
              </a:avLst>
            </a:prstGeom>
            <a:solidFill>
              <a:schemeClr val="bg1"/>
            </a:solidFill>
            <a:ln w="9525">
              <a:solidFill>
                <a:srgbClr val="333399"/>
              </a:solidFill>
              <a:miter lim="800000"/>
              <a:headEnd/>
              <a:tailEnd/>
            </a:ln>
          </p:spPr>
          <p:txBody>
            <a:bodyPr wrap="none" anchor="ctr"/>
            <a:lstStyle/>
            <a:p>
              <a:pPr eaLnBrk="0" hangingPunct="0"/>
              <a:endParaRPr lang="zh-CN" altLang="en-US">
                <a:ea typeface="宋体" panose="02010600030101010101" pitchFamily="2" charset="-122"/>
              </a:endParaRPr>
            </a:p>
          </p:txBody>
        </p:sp>
      </p:grpSp>
      <p:grpSp>
        <p:nvGrpSpPr>
          <p:cNvPr id="154763" name="Group 139"/>
          <p:cNvGrpSpPr>
            <a:grpSpLocks/>
          </p:cNvGrpSpPr>
          <p:nvPr/>
        </p:nvGrpSpPr>
        <p:grpSpPr bwMode="auto">
          <a:xfrm>
            <a:off x="8624888" y="1854200"/>
            <a:ext cx="628650" cy="385763"/>
            <a:chOff x="5015" y="1863"/>
            <a:chExt cx="366" cy="243"/>
          </a:xfrm>
        </p:grpSpPr>
        <p:sp>
          <p:nvSpPr>
            <p:cNvPr id="103451" name="AutoShape 24"/>
            <p:cNvSpPr>
              <a:spLocks noChangeArrowheads="1"/>
            </p:cNvSpPr>
            <p:nvPr/>
          </p:nvSpPr>
          <p:spPr bwMode="auto">
            <a:xfrm rot="5400000">
              <a:off x="5096" y="1820"/>
              <a:ext cx="210"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103452" name="Text Box 25"/>
            <p:cNvSpPr txBox="1">
              <a:spLocks noChangeArrowheads="1"/>
            </p:cNvSpPr>
            <p:nvPr/>
          </p:nvSpPr>
          <p:spPr bwMode="auto">
            <a:xfrm rot="626605">
              <a:off x="5021" y="1863"/>
              <a:ext cx="24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a:solidFill>
                    <a:srgbClr val="333399"/>
                  </a:solidFill>
                  <a:ea typeface="黑体" panose="02010609060101010101" pitchFamily="49" charset="-122"/>
                </a:rPr>
                <a:t>P</a:t>
              </a:r>
              <a:r>
                <a:rPr lang="en-US" altLang="zh-CN" baseline="-25000">
                  <a:solidFill>
                    <a:srgbClr val="333399"/>
                  </a:solidFill>
                  <a:ea typeface="黑体" panose="02010609060101010101" pitchFamily="49" charset="-122"/>
                </a:rPr>
                <a:t>1</a:t>
              </a:r>
              <a:endParaRPr lang="en-US" altLang="zh-CN">
                <a:solidFill>
                  <a:srgbClr val="333399"/>
                </a:solidFill>
                <a:ea typeface="黑体" panose="02010609060101010101" pitchFamily="49" charset="-122"/>
              </a:endParaRPr>
            </a:p>
          </p:txBody>
        </p:sp>
        <p:sp>
          <p:nvSpPr>
            <p:cNvPr id="103453" name="Line 26"/>
            <p:cNvSpPr>
              <a:spLocks noChangeShapeType="1"/>
            </p:cNvSpPr>
            <p:nvPr/>
          </p:nvSpPr>
          <p:spPr bwMode="auto">
            <a:xfrm>
              <a:off x="5018" y="1892"/>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454" name="Line 27"/>
            <p:cNvSpPr>
              <a:spLocks noChangeShapeType="1"/>
            </p:cNvSpPr>
            <p:nvPr/>
          </p:nvSpPr>
          <p:spPr bwMode="auto">
            <a:xfrm>
              <a:off x="5015" y="2043"/>
              <a:ext cx="362"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455" name="AutoShape 28"/>
            <p:cNvSpPr>
              <a:spLocks noChangeArrowheads="1"/>
            </p:cNvSpPr>
            <p:nvPr/>
          </p:nvSpPr>
          <p:spPr bwMode="auto">
            <a:xfrm rot="746037">
              <a:off x="5209" y="1957"/>
              <a:ext cx="132" cy="126"/>
            </a:xfrm>
            <a:prstGeom prst="rightArrow">
              <a:avLst>
                <a:gd name="adj1" fmla="val 50000"/>
                <a:gd name="adj2" fmla="val 26186"/>
              </a:avLst>
            </a:prstGeom>
            <a:solidFill>
              <a:schemeClr val="bg1"/>
            </a:solidFill>
            <a:ln w="9525">
              <a:solidFill>
                <a:srgbClr val="333399"/>
              </a:solidFill>
              <a:miter lim="800000"/>
              <a:headEnd/>
              <a:tailEnd/>
            </a:ln>
          </p:spPr>
          <p:txBody>
            <a:bodyPr wrap="none" anchor="ctr"/>
            <a:lstStyle/>
            <a:p>
              <a:pPr eaLnBrk="0" hangingPunct="0"/>
              <a:endParaRPr lang="zh-CN" altLang="en-US">
                <a:ea typeface="宋体" panose="02010600030101010101" pitchFamily="2" charset="-122"/>
              </a:endParaRPr>
            </a:p>
          </p:txBody>
        </p:sp>
      </p:grpSp>
      <p:grpSp>
        <p:nvGrpSpPr>
          <p:cNvPr id="154764" name="Group 140"/>
          <p:cNvGrpSpPr>
            <a:grpSpLocks/>
          </p:cNvGrpSpPr>
          <p:nvPr/>
        </p:nvGrpSpPr>
        <p:grpSpPr bwMode="auto">
          <a:xfrm>
            <a:off x="8616950" y="2119313"/>
            <a:ext cx="628650" cy="404812"/>
            <a:chOff x="5010" y="2030"/>
            <a:chExt cx="366" cy="255"/>
          </a:xfrm>
        </p:grpSpPr>
        <p:sp>
          <p:nvSpPr>
            <p:cNvPr id="103457" name="AutoShape 29"/>
            <p:cNvSpPr>
              <a:spLocks noChangeArrowheads="1"/>
            </p:cNvSpPr>
            <p:nvPr/>
          </p:nvSpPr>
          <p:spPr bwMode="auto">
            <a:xfrm rot="5400000">
              <a:off x="5091" y="1999"/>
              <a:ext cx="210"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103458" name="Text Box 30"/>
            <p:cNvSpPr txBox="1">
              <a:spLocks noChangeArrowheads="1"/>
            </p:cNvSpPr>
            <p:nvPr/>
          </p:nvSpPr>
          <p:spPr bwMode="auto">
            <a:xfrm rot="626605">
              <a:off x="5016" y="2030"/>
              <a:ext cx="24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a:solidFill>
                    <a:srgbClr val="333399"/>
                  </a:solidFill>
                  <a:ea typeface="黑体" panose="02010609060101010101" pitchFamily="49" charset="-122"/>
                </a:rPr>
                <a:t>P</a:t>
              </a:r>
              <a:r>
                <a:rPr lang="en-US" altLang="zh-CN" baseline="-25000">
                  <a:solidFill>
                    <a:srgbClr val="333399"/>
                  </a:solidFill>
                  <a:ea typeface="黑体" panose="02010609060101010101" pitchFamily="49" charset="-122"/>
                </a:rPr>
                <a:t>2</a:t>
              </a:r>
              <a:endParaRPr lang="en-US" altLang="zh-CN">
                <a:solidFill>
                  <a:srgbClr val="333399"/>
                </a:solidFill>
                <a:ea typeface="黑体" panose="02010609060101010101" pitchFamily="49" charset="-122"/>
              </a:endParaRPr>
            </a:p>
          </p:txBody>
        </p:sp>
        <p:sp>
          <p:nvSpPr>
            <p:cNvPr id="103459" name="Line 31"/>
            <p:cNvSpPr>
              <a:spLocks noChangeShapeType="1"/>
            </p:cNvSpPr>
            <p:nvPr/>
          </p:nvSpPr>
          <p:spPr bwMode="auto">
            <a:xfrm>
              <a:off x="5014" y="2071"/>
              <a:ext cx="362"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460" name="Line 32"/>
            <p:cNvSpPr>
              <a:spLocks noChangeShapeType="1"/>
            </p:cNvSpPr>
            <p:nvPr/>
          </p:nvSpPr>
          <p:spPr bwMode="auto">
            <a:xfrm>
              <a:off x="5010" y="2222"/>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461" name="AutoShape 33"/>
            <p:cNvSpPr>
              <a:spLocks noChangeArrowheads="1"/>
            </p:cNvSpPr>
            <p:nvPr/>
          </p:nvSpPr>
          <p:spPr bwMode="auto">
            <a:xfrm rot="746037">
              <a:off x="5204" y="2136"/>
              <a:ext cx="133" cy="127"/>
            </a:xfrm>
            <a:prstGeom prst="rightArrow">
              <a:avLst>
                <a:gd name="adj1" fmla="val 50000"/>
                <a:gd name="adj2" fmla="val 26176"/>
              </a:avLst>
            </a:prstGeom>
            <a:solidFill>
              <a:schemeClr val="bg1"/>
            </a:solidFill>
            <a:ln w="9525">
              <a:solidFill>
                <a:srgbClr val="333399"/>
              </a:solidFill>
              <a:miter lim="800000"/>
              <a:headEnd/>
              <a:tailEnd/>
            </a:ln>
          </p:spPr>
          <p:txBody>
            <a:bodyPr wrap="none" anchor="ctr"/>
            <a:lstStyle/>
            <a:p>
              <a:pPr eaLnBrk="0" hangingPunct="0"/>
              <a:endParaRPr lang="zh-CN" altLang="en-US">
                <a:ea typeface="宋体" panose="02010600030101010101" pitchFamily="2" charset="-122"/>
              </a:endParaRPr>
            </a:p>
          </p:txBody>
        </p:sp>
      </p:grpSp>
      <p:grpSp>
        <p:nvGrpSpPr>
          <p:cNvPr id="154765" name="Group 141"/>
          <p:cNvGrpSpPr>
            <a:grpSpLocks/>
          </p:cNvGrpSpPr>
          <p:nvPr/>
        </p:nvGrpSpPr>
        <p:grpSpPr bwMode="auto">
          <a:xfrm>
            <a:off x="8623300" y="2406650"/>
            <a:ext cx="628650" cy="396875"/>
            <a:chOff x="5014" y="2211"/>
            <a:chExt cx="366" cy="250"/>
          </a:xfrm>
        </p:grpSpPr>
        <p:sp>
          <p:nvSpPr>
            <p:cNvPr id="103463" name="AutoShape 34"/>
            <p:cNvSpPr>
              <a:spLocks noChangeArrowheads="1"/>
            </p:cNvSpPr>
            <p:nvPr/>
          </p:nvSpPr>
          <p:spPr bwMode="auto">
            <a:xfrm rot="5400000">
              <a:off x="5093" y="2175"/>
              <a:ext cx="211"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103464" name="Text Box 35"/>
            <p:cNvSpPr txBox="1">
              <a:spLocks noChangeArrowheads="1"/>
            </p:cNvSpPr>
            <p:nvPr/>
          </p:nvSpPr>
          <p:spPr bwMode="auto">
            <a:xfrm rot="626605">
              <a:off x="5026" y="2211"/>
              <a:ext cx="24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a:solidFill>
                    <a:srgbClr val="333399"/>
                  </a:solidFill>
                  <a:ea typeface="黑体" panose="02010609060101010101" pitchFamily="49" charset="-122"/>
                </a:rPr>
                <a:t>P</a:t>
              </a:r>
              <a:r>
                <a:rPr lang="en-US" altLang="zh-CN" baseline="-25000">
                  <a:solidFill>
                    <a:srgbClr val="333399"/>
                  </a:solidFill>
                  <a:ea typeface="黑体" panose="02010609060101010101" pitchFamily="49" charset="-122"/>
                </a:rPr>
                <a:t>3</a:t>
              </a:r>
              <a:endParaRPr lang="en-US" altLang="zh-CN">
                <a:solidFill>
                  <a:srgbClr val="333399"/>
                </a:solidFill>
                <a:ea typeface="黑体" panose="02010609060101010101" pitchFamily="49" charset="-122"/>
              </a:endParaRPr>
            </a:p>
          </p:txBody>
        </p:sp>
        <p:sp>
          <p:nvSpPr>
            <p:cNvPr id="103465" name="Line 36"/>
            <p:cNvSpPr>
              <a:spLocks noChangeShapeType="1"/>
            </p:cNvSpPr>
            <p:nvPr/>
          </p:nvSpPr>
          <p:spPr bwMode="auto">
            <a:xfrm>
              <a:off x="5017" y="2247"/>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466" name="Line 37"/>
            <p:cNvSpPr>
              <a:spLocks noChangeShapeType="1"/>
            </p:cNvSpPr>
            <p:nvPr/>
          </p:nvSpPr>
          <p:spPr bwMode="auto">
            <a:xfrm>
              <a:off x="5014" y="2398"/>
              <a:ext cx="362"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467" name="AutoShape 38"/>
            <p:cNvSpPr>
              <a:spLocks noChangeArrowheads="1"/>
            </p:cNvSpPr>
            <p:nvPr/>
          </p:nvSpPr>
          <p:spPr bwMode="auto">
            <a:xfrm rot="746037">
              <a:off x="5208" y="2312"/>
              <a:ext cx="133" cy="126"/>
            </a:xfrm>
            <a:prstGeom prst="rightArrow">
              <a:avLst>
                <a:gd name="adj1" fmla="val 50000"/>
                <a:gd name="adj2" fmla="val 26389"/>
              </a:avLst>
            </a:prstGeom>
            <a:solidFill>
              <a:schemeClr val="bg1"/>
            </a:solidFill>
            <a:ln w="9525">
              <a:solidFill>
                <a:srgbClr val="333399"/>
              </a:solidFill>
              <a:miter lim="800000"/>
              <a:headEnd/>
              <a:tailEnd/>
            </a:ln>
          </p:spPr>
          <p:txBody>
            <a:bodyPr wrap="none" anchor="ctr"/>
            <a:lstStyle/>
            <a:p>
              <a:pPr eaLnBrk="0" hangingPunct="0"/>
              <a:endParaRPr lang="zh-CN" altLang="en-US">
                <a:ea typeface="宋体" panose="02010600030101010101" pitchFamily="2" charset="-122"/>
              </a:endParaRPr>
            </a:p>
          </p:txBody>
        </p:sp>
      </p:grpSp>
      <p:grpSp>
        <p:nvGrpSpPr>
          <p:cNvPr id="154766" name="Group 142"/>
          <p:cNvGrpSpPr>
            <a:grpSpLocks/>
          </p:cNvGrpSpPr>
          <p:nvPr/>
        </p:nvGrpSpPr>
        <p:grpSpPr bwMode="auto">
          <a:xfrm>
            <a:off x="8628063" y="2676525"/>
            <a:ext cx="631825" cy="406400"/>
            <a:chOff x="5017" y="2381"/>
            <a:chExt cx="367" cy="256"/>
          </a:xfrm>
        </p:grpSpPr>
        <p:sp>
          <p:nvSpPr>
            <p:cNvPr id="103469" name="AutoShape 39"/>
            <p:cNvSpPr>
              <a:spLocks noChangeArrowheads="1"/>
            </p:cNvSpPr>
            <p:nvPr/>
          </p:nvSpPr>
          <p:spPr bwMode="auto">
            <a:xfrm rot="5400000">
              <a:off x="5097" y="2351"/>
              <a:ext cx="211"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103470" name="Text Box 40"/>
            <p:cNvSpPr txBox="1">
              <a:spLocks noChangeArrowheads="1"/>
            </p:cNvSpPr>
            <p:nvPr/>
          </p:nvSpPr>
          <p:spPr bwMode="auto">
            <a:xfrm rot="626605">
              <a:off x="5023" y="2381"/>
              <a:ext cx="24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a:solidFill>
                    <a:srgbClr val="333399"/>
                  </a:solidFill>
                  <a:ea typeface="黑体" panose="02010609060101010101" pitchFamily="49" charset="-122"/>
                </a:rPr>
                <a:t>P</a:t>
              </a:r>
              <a:r>
                <a:rPr lang="en-US" altLang="zh-CN" baseline="-25000">
                  <a:solidFill>
                    <a:srgbClr val="333399"/>
                  </a:solidFill>
                  <a:ea typeface="黑体" panose="02010609060101010101" pitchFamily="49" charset="-122"/>
                </a:rPr>
                <a:t>4</a:t>
              </a:r>
              <a:endParaRPr lang="en-US" altLang="zh-CN">
                <a:solidFill>
                  <a:srgbClr val="333399"/>
                </a:solidFill>
                <a:ea typeface="黑体" panose="02010609060101010101" pitchFamily="49" charset="-122"/>
              </a:endParaRPr>
            </a:p>
          </p:txBody>
        </p:sp>
        <p:sp>
          <p:nvSpPr>
            <p:cNvPr id="103471" name="Line 41"/>
            <p:cNvSpPr>
              <a:spLocks noChangeShapeType="1"/>
            </p:cNvSpPr>
            <p:nvPr/>
          </p:nvSpPr>
          <p:spPr bwMode="auto">
            <a:xfrm>
              <a:off x="5021" y="2422"/>
              <a:ext cx="363" cy="64"/>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472" name="Line 42"/>
            <p:cNvSpPr>
              <a:spLocks noChangeShapeType="1"/>
            </p:cNvSpPr>
            <p:nvPr/>
          </p:nvSpPr>
          <p:spPr bwMode="auto">
            <a:xfrm>
              <a:off x="5017" y="2573"/>
              <a:ext cx="363" cy="64"/>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473" name="AutoShape 43"/>
            <p:cNvSpPr>
              <a:spLocks noChangeArrowheads="1"/>
            </p:cNvSpPr>
            <p:nvPr/>
          </p:nvSpPr>
          <p:spPr bwMode="auto">
            <a:xfrm rot="746037">
              <a:off x="5212" y="2487"/>
              <a:ext cx="132" cy="127"/>
            </a:xfrm>
            <a:prstGeom prst="rightArrow">
              <a:avLst>
                <a:gd name="adj1" fmla="val 50000"/>
                <a:gd name="adj2" fmla="val 25979"/>
              </a:avLst>
            </a:prstGeom>
            <a:solidFill>
              <a:schemeClr val="bg1"/>
            </a:solidFill>
            <a:ln w="9525">
              <a:solidFill>
                <a:srgbClr val="333399"/>
              </a:solidFill>
              <a:miter lim="800000"/>
              <a:headEnd/>
              <a:tailEnd/>
            </a:ln>
          </p:spPr>
          <p:txBody>
            <a:bodyPr wrap="none" anchor="ctr"/>
            <a:lstStyle/>
            <a:p>
              <a:pPr eaLnBrk="0" hangingPunct="0"/>
              <a:endParaRPr lang="zh-CN" altLang="en-US">
                <a:ea typeface="宋体" panose="02010600030101010101" pitchFamily="2" charset="-122"/>
              </a:endParaRPr>
            </a:p>
          </p:txBody>
        </p:sp>
      </p:grpSp>
      <p:grpSp>
        <p:nvGrpSpPr>
          <p:cNvPr id="154756" name="Group 132"/>
          <p:cNvGrpSpPr>
            <a:grpSpLocks/>
          </p:cNvGrpSpPr>
          <p:nvPr/>
        </p:nvGrpSpPr>
        <p:grpSpPr bwMode="auto">
          <a:xfrm>
            <a:off x="7378700" y="1638300"/>
            <a:ext cx="628650" cy="395288"/>
            <a:chOff x="4290" y="1727"/>
            <a:chExt cx="366" cy="249"/>
          </a:xfrm>
        </p:grpSpPr>
        <p:sp>
          <p:nvSpPr>
            <p:cNvPr id="103475" name="AutoShape 49"/>
            <p:cNvSpPr>
              <a:spLocks noChangeArrowheads="1"/>
            </p:cNvSpPr>
            <p:nvPr/>
          </p:nvSpPr>
          <p:spPr bwMode="auto">
            <a:xfrm rot="5400000">
              <a:off x="4371" y="1691"/>
              <a:ext cx="210" cy="360"/>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103476" name="Text Box 50"/>
            <p:cNvSpPr txBox="1">
              <a:spLocks noChangeArrowheads="1"/>
            </p:cNvSpPr>
            <p:nvPr/>
          </p:nvSpPr>
          <p:spPr bwMode="auto">
            <a:xfrm rot="626605">
              <a:off x="4296" y="1727"/>
              <a:ext cx="24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a:solidFill>
                    <a:srgbClr val="333399"/>
                  </a:solidFill>
                  <a:ea typeface="黑体" panose="02010609060101010101" pitchFamily="49" charset="-122"/>
                </a:rPr>
                <a:t>P</a:t>
              </a:r>
              <a:r>
                <a:rPr lang="en-US" altLang="zh-CN" baseline="-25000">
                  <a:solidFill>
                    <a:srgbClr val="333399"/>
                  </a:solidFill>
                  <a:ea typeface="黑体" panose="02010609060101010101" pitchFamily="49" charset="-122"/>
                </a:rPr>
                <a:t>3</a:t>
              </a:r>
              <a:endParaRPr lang="en-US" altLang="zh-CN">
                <a:solidFill>
                  <a:srgbClr val="333399"/>
                </a:solidFill>
                <a:ea typeface="黑体" panose="02010609060101010101" pitchFamily="49" charset="-122"/>
              </a:endParaRPr>
            </a:p>
          </p:txBody>
        </p:sp>
        <p:sp>
          <p:nvSpPr>
            <p:cNvPr id="103477" name="Line 51"/>
            <p:cNvSpPr>
              <a:spLocks noChangeShapeType="1"/>
            </p:cNvSpPr>
            <p:nvPr/>
          </p:nvSpPr>
          <p:spPr bwMode="auto">
            <a:xfrm>
              <a:off x="4294" y="1762"/>
              <a:ext cx="362"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478" name="Line 52"/>
            <p:cNvSpPr>
              <a:spLocks noChangeShapeType="1"/>
            </p:cNvSpPr>
            <p:nvPr/>
          </p:nvSpPr>
          <p:spPr bwMode="auto">
            <a:xfrm>
              <a:off x="4290" y="1913"/>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479" name="AutoShape 53"/>
            <p:cNvSpPr>
              <a:spLocks noChangeArrowheads="1"/>
            </p:cNvSpPr>
            <p:nvPr/>
          </p:nvSpPr>
          <p:spPr bwMode="auto">
            <a:xfrm rot="746037">
              <a:off x="4484" y="1827"/>
              <a:ext cx="133" cy="127"/>
            </a:xfrm>
            <a:prstGeom prst="rightArrow">
              <a:avLst>
                <a:gd name="adj1" fmla="val 50000"/>
                <a:gd name="adj2" fmla="val 26176"/>
              </a:avLst>
            </a:prstGeom>
            <a:solidFill>
              <a:schemeClr val="bg1"/>
            </a:solidFill>
            <a:ln w="9525">
              <a:solidFill>
                <a:srgbClr val="333399"/>
              </a:solidFill>
              <a:miter lim="800000"/>
              <a:headEnd/>
              <a:tailEnd/>
            </a:ln>
          </p:spPr>
          <p:txBody>
            <a:bodyPr wrap="none" anchor="ctr"/>
            <a:lstStyle/>
            <a:p>
              <a:pPr eaLnBrk="0" hangingPunct="0"/>
              <a:endParaRPr lang="zh-CN" altLang="en-US">
                <a:ea typeface="宋体" panose="02010600030101010101" pitchFamily="2" charset="-122"/>
              </a:endParaRPr>
            </a:p>
          </p:txBody>
        </p:sp>
      </p:grpSp>
      <p:grpSp>
        <p:nvGrpSpPr>
          <p:cNvPr id="154757" name="Group 133"/>
          <p:cNvGrpSpPr>
            <a:grpSpLocks/>
          </p:cNvGrpSpPr>
          <p:nvPr/>
        </p:nvGrpSpPr>
        <p:grpSpPr bwMode="auto">
          <a:xfrm>
            <a:off x="7385050" y="1916113"/>
            <a:ext cx="628650" cy="396875"/>
            <a:chOff x="4294" y="1902"/>
            <a:chExt cx="366" cy="250"/>
          </a:xfrm>
        </p:grpSpPr>
        <p:sp>
          <p:nvSpPr>
            <p:cNvPr id="103481" name="AutoShape 54"/>
            <p:cNvSpPr>
              <a:spLocks noChangeArrowheads="1"/>
            </p:cNvSpPr>
            <p:nvPr/>
          </p:nvSpPr>
          <p:spPr bwMode="auto">
            <a:xfrm rot="5400000">
              <a:off x="4373" y="1866"/>
              <a:ext cx="211"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103482" name="Text Box 55"/>
            <p:cNvSpPr txBox="1">
              <a:spLocks noChangeArrowheads="1"/>
            </p:cNvSpPr>
            <p:nvPr/>
          </p:nvSpPr>
          <p:spPr bwMode="auto">
            <a:xfrm rot="626605">
              <a:off x="4306" y="1902"/>
              <a:ext cx="24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a:solidFill>
                    <a:srgbClr val="333399"/>
                  </a:solidFill>
                  <a:ea typeface="黑体" panose="02010609060101010101" pitchFamily="49" charset="-122"/>
                </a:rPr>
                <a:t>P</a:t>
              </a:r>
              <a:r>
                <a:rPr lang="en-US" altLang="zh-CN" baseline="-25000">
                  <a:solidFill>
                    <a:srgbClr val="333399"/>
                  </a:solidFill>
                  <a:ea typeface="黑体" panose="02010609060101010101" pitchFamily="49" charset="-122"/>
                </a:rPr>
                <a:t>4</a:t>
              </a:r>
              <a:endParaRPr lang="en-US" altLang="zh-CN">
                <a:solidFill>
                  <a:srgbClr val="333399"/>
                </a:solidFill>
                <a:ea typeface="黑体" panose="02010609060101010101" pitchFamily="49" charset="-122"/>
              </a:endParaRPr>
            </a:p>
          </p:txBody>
        </p:sp>
        <p:sp>
          <p:nvSpPr>
            <p:cNvPr id="103483" name="Line 56"/>
            <p:cNvSpPr>
              <a:spLocks noChangeShapeType="1"/>
            </p:cNvSpPr>
            <p:nvPr/>
          </p:nvSpPr>
          <p:spPr bwMode="auto">
            <a:xfrm>
              <a:off x="4297" y="1938"/>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484" name="Line 57"/>
            <p:cNvSpPr>
              <a:spLocks noChangeShapeType="1"/>
            </p:cNvSpPr>
            <p:nvPr/>
          </p:nvSpPr>
          <p:spPr bwMode="auto">
            <a:xfrm>
              <a:off x="4294" y="2089"/>
              <a:ext cx="362"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485" name="AutoShape 58"/>
            <p:cNvSpPr>
              <a:spLocks noChangeArrowheads="1"/>
            </p:cNvSpPr>
            <p:nvPr/>
          </p:nvSpPr>
          <p:spPr bwMode="auto">
            <a:xfrm rot="746037">
              <a:off x="4488" y="2003"/>
              <a:ext cx="133" cy="126"/>
            </a:xfrm>
            <a:prstGeom prst="rightArrow">
              <a:avLst>
                <a:gd name="adj1" fmla="val 50000"/>
                <a:gd name="adj2" fmla="val 26389"/>
              </a:avLst>
            </a:prstGeom>
            <a:solidFill>
              <a:schemeClr val="bg1"/>
            </a:solidFill>
            <a:ln w="9525">
              <a:solidFill>
                <a:srgbClr val="333399"/>
              </a:solidFill>
              <a:miter lim="800000"/>
              <a:headEnd/>
              <a:tailEnd/>
            </a:ln>
          </p:spPr>
          <p:txBody>
            <a:bodyPr wrap="none" anchor="ctr"/>
            <a:lstStyle/>
            <a:p>
              <a:pPr eaLnBrk="0" hangingPunct="0"/>
              <a:endParaRPr lang="zh-CN" altLang="en-US">
                <a:ea typeface="宋体" panose="02010600030101010101" pitchFamily="2" charset="-122"/>
              </a:endParaRPr>
            </a:p>
          </p:txBody>
        </p:sp>
      </p:grpSp>
      <p:grpSp>
        <p:nvGrpSpPr>
          <p:cNvPr id="154751" name="Group 127"/>
          <p:cNvGrpSpPr>
            <a:grpSpLocks/>
          </p:cNvGrpSpPr>
          <p:nvPr/>
        </p:nvGrpSpPr>
        <p:grpSpPr bwMode="auto">
          <a:xfrm>
            <a:off x="4946650" y="2374900"/>
            <a:ext cx="630238" cy="1069975"/>
            <a:chOff x="2876" y="2191"/>
            <a:chExt cx="367" cy="674"/>
          </a:xfrm>
        </p:grpSpPr>
        <p:sp>
          <p:nvSpPr>
            <p:cNvPr id="103487" name="AutoShape 59"/>
            <p:cNvSpPr>
              <a:spLocks noChangeArrowheads="1"/>
            </p:cNvSpPr>
            <p:nvPr/>
          </p:nvSpPr>
          <p:spPr bwMode="auto">
            <a:xfrm rot="5400000">
              <a:off x="2729" y="2349"/>
              <a:ext cx="674" cy="355"/>
            </a:xfrm>
            <a:prstGeom prst="parallelogram">
              <a:avLst>
                <a:gd name="adj" fmla="val 18265"/>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103488" name="AutoShape 60"/>
            <p:cNvSpPr>
              <a:spLocks noChangeArrowheads="1"/>
            </p:cNvSpPr>
            <p:nvPr/>
          </p:nvSpPr>
          <p:spPr bwMode="auto">
            <a:xfrm rot="746037">
              <a:off x="2925" y="2654"/>
              <a:ext cx="227" cy="127"/>
            </a:xfrm>
            <a:prstGeom prst="rightArrow">
              <a:avLst>
                <a:gd name="adj1" fmla="val 50000"/>
                <a:gd name="adj2" fmla="val 44677"/>
              </a:avLst>
            </a:prstGeom>
            <a:solidFill>
              <a:schemeClr val="bg1"/>
            </a:solidFill>
            <a:ln w="9525">
              <a:solidFill>
                <a:srgbClr val="333399"/>
              </a:solidFill>
              <a:miter lim="800000"/>
              <a:headEnd/>
              <a:tailEnd/>
            </a:ln>
          </p:spPr>
          <p:txBody>
            <a:bodyPr wrap="none" anchor="ctr"/>
            <a:lstStyle/>
            <a:p>
              <a:pPr eaLnBrk="0" hangingPunct="0"/>
              <a:endParaRPr lang="zh-CN" altLang="en-US">
                <a:ea typeface="宋体" panose="02010600030101010101" pitchFamily="2" charset="-122"/>
              </a:endParaRPr>
            </a:p>
          </p:txBody>
        </p:sp>
        <p:sp>
          <p:nvSpPr>
            <p:cNvPr id="103489" name="Text Box 61"/>
            <p:cNvSpPr txBox="1">
              <a:spLocks noChangeArrowheads="1"/>
            </p:cNvSpPr>
            <p:nvPr/>
          </p:nvSpPr>
          <p:spPr bwMode="auto">
            <a:xfrm>
              <a:off x="2919" y="2300"/>
              <a:ext cx="242"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80000"/>
                </a:lnSpc>
              </a:pPr>
              <a:r>
                <a:rPr lang="zh-CN" altLang="en-US" b="1">
                  <a:solidFill>
                    <a:srgbClr val="333399"/>
                  </a:solidFill>
                  <a:ea typeface="黑体" panose="02010609060101010101" pitchFamily="49" charset="-122"/>
                </a:rPr>
                <a:t>报</a:t>
              </a:r>
            </a:p>
            <a:p>
              <a:pPr eaLnBrk="0" hangingPunct="0">
                <a:lnSpc>
                  <a:spcPct val="80000"/>
                </a:lnSpc>
              </a:pPr>
              <a:r>
                <a:rPr lang="zh-CN" altLang="en-US" b="1">
                  <a:solidFill>
                    <a:srgbClr val="333399"/>
                  </a:solidFill>
                  <a:ea typeface="黑体" panose="02010609060101010101" pitchFamily="49" charset="-122"/>
                </a:rPr>
                <a:t>文</a:t>
              </a:r>
            </a:p>
          </p:txBody>
        </p:sp>
        <p:sp>
          <p:nvSpPr>
            <p:cNvPr id="103490" name="Line 62"/>
            <p:cNvSpPr>
              <a:spLocks noChangeShapeType="1"/>
            </p:cNvSpPr>
            <p:nvPr/>
          </p:nvSpPr>
          <p:spPr bwMode="auto">
            <a:xfrm>
              <a:off x="2876" y="2191"/>
              <a:ext cx="363" cy="57"/>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491" name="Line 63"/>
            <p:cNvSpPr>
              <a:spLocks noChangeShapeType="1"/>
            </p:cNvSpPr>
            <p:nvPr/>
          </p:nvSpPr>
          <p:spPr bwMode="auto">
            <a:xfrm>
              <a:off x="2876" y="2807"/>
              <a:ext cx="363" cy="58"/>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grpSp>
      <p:grpSp>
        <p:nvGrpSpPr>
          <p:cNvPr id="154752" name="Group 128"/>
          <p:cNvGrpSpPr>
            <a:grpSpLocks/>
          </p:cNvGrpSpPr>
          <p:nvPr/>
        </p:nvGrpSpPr>
        <p:grpSpPr bwMode="auto">
          <a:xfrm>
            <a:off x="5591175" y="3711575"/>
            <a:ext cx="628650" cy="1071563"/>
            <a:chOff x="3251" y="3033"/>
            <a:chExt cx="366" cy="675"/>
          </a:xfrm>
        </p:grpSpPr>
        <p:sp>
          <p:nvSpPr>
            <p:cNvPr id="103493" name="AutoShape 64"/>
            <p:cNvSpPr>
              <a:spLocks noChangeArrowheads="1"/>
            </p:cNvSpPr>
            <p:nvPr/>
          </p:nvSpPr>
          <p:spPr bwMode="auto">
            <a:xfrm rot="5400000">
              <a:off x="3101" y="3192"/>
              <a:ext cx="675" cy="355"/>
            </a:xfrm>
            <a:prstGeom prst="parallelogram">
              <a:avLst>
                <a:gd name="adj" fmla="val 1829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103494" name="AutoShape 65"/>
            <p:cNvSpPr>
              <a:spLocks noChangeArrowheads="1"/>
            </p:cNvSpPr>
            <p:nvPr/>
          </p:nvSpPr>
          <p:spPr bwMode="auto">
            <a:xfrm rot="746037">
              <a:off x="3300" y="3497"/>
              <a:ext cx="226" cy="126"/>
            </a:xfrm>
            <a:prstGeom prst="rightArrow">
              <a:avLst>
                <a:gd name="adj1" fmla="val 50000"/>
                <a:gd name="adj2" fmla="val 44833"/>
              </a:avLst>
            </a:prstGeom>
            <a:solidFill>
              <a:schemeClr val="bg1"/>
            </a:solidFill>
            <a:ln w="9525">
              <a:solidFill>
                <a:srgbClr val="333399"/>
              </a:solidFill>
              <a:miter lim="800000"/>
              <a:headEnd/>
              <a:tailEnd/>
            </a:ln>
          </p:spPr>
          <p:txBody>
            <a:bodyPr wrap="none" anchor="ctr"/>
            <a:lstStyle/>
            <a:p>
              <a:pPr eaLnBrk="0" hangingPunct="0"/>
              <a:endParaRPr lang="zh-CN" altLang="en-US">
                <a:ea typeface="宋体" panose="02010600030101010101" pitchFamily="2" charset="-122"/>
              </a:endParaRPr>
            </a:p>
          </p:txBody>
        </p:sp>
        <p:sp>
          <p:nvSpPr>
            <p:cNvPr id="103495" name="Text Box 66"/>
            <p:cNvSpPr txBox="1">
              <a:spLocks noChangeArrowheads="1"/>
            </p:cNvSpPr>
            <p:nvPr/>
          </p:nvSpPr>
          <p:spPr bwMode="auto">
            <a:xfrm>
              <a:off x="3293" y="3143"/>
              <a:ext cx="242"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80000"/>
                </a:lnSpc>
              </a:pPr>
              <a:r>
                <a:rPr lang="zh-CN" altLang="en-US" b="1">
                  <a:solidFill>
                    <a:srgbClr val="333399"/>
                  </a:solidFill>
                  <a:ea typeface="黑体" panose="02010609060101010101" pitchFamily="49" charset="-122"/>
                </a:rPr>
                <a:t>报</a:t>
              </a:r>
            </a:p>
            <a:p>
              <a:pPr eaLnBrk="0" hangingPunct="0">
                <a:lnSpc>
                  <a:spcPct val="80000"/>
                </a:lnSpc>
              </a:pPr>
              <a:r>
                <a:rPr lang="zh-CN" altLang="en-US" b="1">
                  <a:solidFill>
                    <a:srgbClr val="333399"/>
                  </a:solidFill>
                  <a:ea typeface="黑体" panose="02010609060101010101" pitchFamily="49" charset="-122"/>
                </a:rPr>
                <a:t>文</a:t>
              </a:r>
            </a:p>
          </p:txBody>
        </p:sp>
        <p:sp>
          <p:nvSpPr>
            <p:cNvPr id="103496" name="Line 67"/>
            <p:cNvSpPr>
              <a:spLocks noChangeShapeType="1"/>
            </p:cNvSpPr>
            <p:nvPr/>
          </p:nvSpPr>
          <p:spPr bwMode="auto">
            <a:xfrm>
              <a:off x="3251" y="3033"/>
              <a:ext cx="362" cy="58"/>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497" name="Line 68"/>
            <p:cNvSpPr>
              <a:spLocks noChangeShapeType="1"/>
            </p:cNvSpPr>
            <p:nvPr/>
          </p:nvSpPr>
          <p:spPr bwMode="auto">
            <a:xfrm>
              <a:off x="3251" y="3650"/>
              <a:ext cx="362" cy="58"/>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grpSp>
      <p:grpSp>
        <p:nvGrpSpPr>
          <p:cNvPr id="154750" name="Group 126"/>
          <p:cNvGrpSpPr>
            <a:grpSpLocks/>
          </p:cNvGrpSpPr>
          <p:nvPr/>
        </p:nvGrpSpPr>
        <p:grpSpPr bwMode="auto">
          <a:xfrm>
            <a:off x="4332288" y="1103313"/>
            <a:ext cx="620712" cy="1069975"/>
            <a:chOff x="2519" y="1390"/>
            <a:chExt cx="361" cy="674"/>
          </a:xfrm>
        </p:grpSpPr>
        <p:sp>
          <p:nvSpPr>
            <p:cNvPr id="103499" name="AutoShape 69"/>
            <p:cNvSpPr>
              <a:spLocks noChangeArrowheads="1"/>
            </p:cNvSpPr>
            <p:nvPr/>
          </p:nvSpPr>
          <p:spPr bwMode="auto">
            <a:xfrm rot="5400000">
              <a:off x="2366" y="1548"/>
              <a:ext cx="674" cy="355"/>
            </a:xfrm>
            <a:prstGeom prst="parallelogram">
              <a:avLst>
                <a:gd name="adj" fmla="val 18265"/>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103500" name="AutoShape 70"/>
            <p:cNvSpPr>
              <a:spLocks noChangeArrowheads="1"/>
            </p:cNvSpPr>
            <p:nvPr/>
          </p:nvSpPr>
          <p:spPr bwMode="auto">
            <a:xfrm rot="746037">
              <a:off x="2563" y="1853"/>
              <a:ext cx="226" cy="127"/>
            </a:xfrm>
            <a:prstGeom prst="rightArrow">
              <a:avLst>
                <a:gd name="adj1" fmla="val 50000"/>
                <a:gd name="adj2" fmla="val 44480"/>
              </a:avLst>
            </a:prstGeom>
            <a:solidFill>
              <a:schemeClr val="bg1"/>
            </a:solidFill>
            <a:ln w="9525">
              <a:solidFill>
                <a:srgbClr val="333399"/>
              </a:solidFill>
              <a:miter lim="800000"/>
              <a:headEnd/>
              <a:tailEnd/>
            </a:ln>
          </p:spPr>
          <p:txBody>
            <a:bodyPr wrap="none" anchor="ctr"/>
            <a:lstStyle/>
            <a:p>
              <a:pPr eaLnBrk="0" hangingPunct="0"/>
              <a:endParaRPr lang="zh-CN" altLang="en-US">
                <a:ea typeface="宋体" panose="02010600030101010101" pitchFamily="2" charset="-122"/>
              </a:endParaRPr>
            </a:p>
          </p:txBody>
        </p:sp>
        <p:sp>
          <p:nvSpPr>
            <p:cNvPr id="103501" name="Text Box 71"/>
            <p:cNvSpPr txBox="1">
              <a:spLocks noChangeArrowheads="1"/>
            </p:cNvSpPr>
            <p:nvPr/>
          </p:nvSpPr>
          <p:spPr bwMode="auto">
            <a:xfrm>
              <a:off x="2567" y="1500"/>
              <a:ext cx="242"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80000"/>
                </a:lnSpc>
              </a:pPr>
              <a:r>
                <a:rPr lang="zh-CN" altLang="en-US" b="1">
                  <a:solidFill>
                    <a:srgbClr val="333399"/>
                  </a:solidFill>
                  <a:ea typeface="黑体" panose="02010609060101010101" pitchFamily="49" charset="-122"/>
                </a:rPr>
                <a:t>报</a:t>
              </a:r>
            </a:p>
            <a:p>
              <a:pPr eaLnBrk="0" hangingPunct="0">
                <a:lnSpc>
                  <a:spcPct val="80000"/>
                </a:lnSpc>
              </a:pPr>
              <a:r>
                <a:rPr lang="zh-CN" altLang="en-US" b="1">
                  <a:solidFill>
                    <a:srgbClr val="333399"/>
                  </a:solidFill>
                  <a:ea typeface="黑体" panose="02010609060101010101" pitchFamily="49" charset="-122"/>
                </a:rPr>
                <a:t>文</a:t>
              </a:r>
            </a:p>
          </p:txBody>
        </p:sp>
        <p:sp>
          <p:nvSpPr>
            <p:cNvPr id="103502" name="Line 72"/>
            <p:cNvSpPr>
              <a:spLocks noChangeShapeType="1"/>
            </p:cNvSpPr>
            <p:nvPr/>
          </p:nvSpPr>
          <p:spPr bwMode="auto">
            <a:xfrm>
              <a:off x="2519" y="1395"/>
              <a:ext cx="357" cy="5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503" name="Line 73"/>
            <p:cNvSpPr>
              <a:spLocks noChangeShapeType="1"/>
            </p:cNvSpPr>
            <p:nvPr/>
          </p:nvSpPr>
          <p:spPr bwMode="auto">
            <a:xfrm>
              <a:off x="2519" y="2001"/>
              <a:ext cx="357"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grpSp>
      <p:sp>
        <p:nvSpPr>
          <p:cNvPr id="103504" name="Line 74"/>
          <p:cNvSpPr>
            <a:spLocks noChangeShapeType="1"/>
          </p:cNvSpPr>
          <p:nvPr/>
        </p:nvSpPr>
        <p:spPr bwMode="auto">
          <a:xfrm>
            <a:off x="2044700" y="1103313"/>
            <a:ext cx="0" cy="3813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505" name="Line 75"/>
          <p:cNvSpPr>
            <a:spLocks noChangeShapeType="1"/>
          </p:cNvSpPr>
          <p:nvPr/>
        </p:nvSpPr>
        <p:spPr bwMode="auto">
          <a:xfrm>
            <a:off x="2668588" y="1103313"/>
            <a:ext cx="0" cy="3813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506" name="Text Box 76"/>
          <p:cNvSpPr txBox="1">
            <a:spLocks noChangeArrowheads="1"/>
          </p:cNvSpPr>
          <p:nvPr/>
        </p:nvSpPr>
        <p:spPr bwMode="auto">
          <a:xfrm>
            <a:off x="1265238" y="4891088"/>
            <a:ext cx="21875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黑体" panose="02010609060101010101" pitchFamily="49" charset="-122"/>
              </a:rPr>
              <a:t>A      B      C     D </a:t>
            </a:r>
          </a:p>
        </p:txBody>
      </p:sp>
      <p:sp>
        <p:nvSpPr>
          <p:cNvPr id="103507" name="Text Box 77"/>
          <p:cNvSpPr txBox="1">
            <a:spLocks noChangeArrowheads="1"/>
          </p:cNvSpPr>
          <p:nvPr/>
        </p:nvSpPr>
        <p:spPr bwMode="auto">
          <a:xfrm>
            <a:off x="4186238" y="4891088"/>
            <a:ext cx="21891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黑体" panose="02010609060101010101" pitchFamily="49" charset="-122"/>
              </a:rPr>
              <a:t>A      B      C      D</a:t>
            </a:r>
          </a:p>
        </p:txBody>
      </p:sp>
      <p:sp>
        <p:nvSpPr>
          <p:cNvPr id="103508" name="Text Box 78"/>
          <p:cNvSpPr txBox="1">
            <a:spLocks noChangeArrowheads="1"/>
          </p:cNvSpPr>
          <p:nvPr/>
        </p:nvSpPr>
        <p:spPr bwMode="auto">
          <a:xfrm>
            <a:off x="7229475" y="4891088"/>
            <a:ext cx="21875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黑体" panose="02010609060101010101" pitchFamily="49" charset="-122"/>
              </a:rPr>
              <a:t>A      B      C      D</a:t>
            </a:r>
          </a:p>
        </p:txBody>
      </p:sp>
      <p:sp>
        <p:nvSpPr>
          <p:cNvPr id="154703" name="Line 79"/>
          <p:cNvSpPr>
            <a:spLocks noChangeShapeType="1"/>
          </p:cNvSpPr>
          <p:nvPr/>
        </p:nvSpPr>
        <p:spPr bwMode="auto">
          <a:xfrm>
            <a:off x="1420813" y="1236663"/>
            <a:ext cx="623887" cy="66675"/>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54704" name="Line 80"/>
          <p:cNvSpPr>
            <a:spLocks noChangeShapeType="1"/>
          </p:cNvSpPr>
          <p:nvPr/>
        </p:nvSpPr>
        <p:spPr bwMode="auto">
          <a:xfrm>
            <a:off x="2044700" y="1504950"/>
            <a:ext cx="623888" cy="66675"/>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54705" name="Line 81"/>
          <p:cNvSpPr>
            <a:spLocks noChangeShapeType="1"/>
          </p:cNvSpPr>
          <p:nvPr/>
        </p:nvSpPr>
        <p:spPr bwMode="auto">
          <a:xfrm>
            <a:off x="2668588" y="1771650"/>
            <a:ext cx="623887" cy="66675"/>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54706" name="Line 82"/>
          <p:cNvSpPr>
            <a:spLocks noChangeShapeType="1"/>
          </p:cNvSpPr>
          <p:nvPr/>
        </p:nvSpPr>
        <p:spPr bwMode="auto">
          <a:xfrm flipH="1">
            <a:off x="1420813" y="2173288"/>
            <a:ext cx="1870075" cy="268287"/>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54711" name="Text Box 87"/>
          <p:cNvSpPr txBox="1">
            <a:spLocks noChangeArrowheads="1"/>
          </p:cNvSpPr>
          <p:nvPr/>
        </p:nvSpPr>
        <p:spPr bwMode="auto">
          <a:xfrm>
            <a:off x="4665663" y="660400"/>
            <a:ext cx="1416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a:solidFill>
                  <a:srgbClr val="C00000"/>
                </a:solidFill>
                <a:ea typeface="黑体" panose="02010609060101010101" pitchFamily="49" charset="-122"/>
              </a:rPr>
              <a:t>报文交换</a:t>
            </a:r>
          </a:p>
        </p:txBody>
      </p:sp>
      <p:sp>
        <p:nvSpPr>
          <p:cNvPr id="103514" name="Text Box 88"/>
          <p:cNvSpPr txBox="1">
            <a:spLocks noChangeArrowheads="1"/>
          </p:cNvSpPr>
          <p:nvPr/>
        </p:nvSpPr>
        <p:spPr bwMode="auto">
          <a:xfrm>
            <a:off x="1676400" y="660400"/>
            <a:ext cx="1416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a:solidFill>
                  <a:srgbClr val="C00000"/>
                </a:solidFill>
                <a:ea typeface="黑体" panose="02010609060101010101" pitchFamily="49" charset="-122"/>
              </a:rPr>
              <a:t>电路交换</a:t>
            </a:r>
          </a:p>
        </p:txBody>
      </p:sp>
      <p:sp>
        <p:nvSpPr>
          <p:cNvPr id="154713" name="Text Box 89"/>
          <p:cNvSpPr txBox="1">
            <a:spLocks noChangeArrowheads="1"/>
          </p:cNvSpPr>
          <p:nvPr/>
        </p:nvSpPr>
        <p:spPr bwMode="auto">
          <a:xfrm>
            <a:off x="7646988" y="660400"/>
            <a:ext cx="14144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a:solidFill>
                  <a:srgbClr val="C00000"/>
                </a:solidFill>
                <a:ea typeface="黑体" panose="02010609060101010101" pitchFamily="49" charset="-122"/>
              </a:rPr>
              <a:t>分组交换</a:t>
            </a:r>
          </a:p>
        </p:txBody>
      </p:sp>
      <p:sp>
        <p:nvSpPr>
          <p:cNvPr id="103516" name="Line 90"/>
          <p:cNvSpPr>
            <a:spLocks noChangeShapeType="1"/>
          </p:cNvSpPr>
          <p:nvPr/>
        </p:nvSpPr>
        <p:spPr bwMode="auto">
          <a:xfrm>
            <a:off x="3803650" y="1571625"/>
            <a:ext cx="0" cy="2743200"/>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517" name="Text Box 91"/>
          <p:cNvSpPr txBox="1">
            <a:spLocks noChangeArrowheads="1"/>
          </p:cNvSpPr>
          <p:nvPr/>
        </p:nvSpPr>
        <p:spPr bwMode="auto">
          <a:xfrm>
            <a:off x="3694113" y="4330700"/>
            <a:ext cx="2492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a:solidFill>
                  <a:srgbClr val="333399"/>
                </a:solidFill>
                <a:ea typeface="黑体" panose="02010609060101010101" pitchFamily="49" charset="-122"/>
              </a:rPr>
              <a:t>t</a:t>
            </a:r>
          </a:p>
        </p:txBody>
      </p:sp>
      <p:grpSp>
        <p:nvGrpSpPr>
          <p:cNvPr id="154746" name="Group 122"/>
          <p:cNvGrpSpPr>
            <a:grpSpLocks/>
          </p:cNvGrpSpPr>
          <p:nvPr/>
        </p:nvGrpSpPr>
        <p:grpSpPr bwMode="auto">
          <a:xfrm>
            <a:off x="193675" y="1235075"/>
            <a:ext cx="1203325" cy="1230313"/>
            <a:chOff x="113" y="1473"/>
            <a:chExt cx="699" cy="775"/>
          </a:xfrm>
        </p:grpSpPr>
        <p:sp>
          <p:nvSpPr>
            <p:cNvPr id="103519" name="Line 92"/>
            <p:cNvSpPr>
              <a:spLocks noChangeShapeType="1"/>
            </p:cNvSpPr>
            <p:nvPr/>
          </p:nvSpPr>
          <p:spPr bwMode="auto">
            <a:xfrm>
              <a:off x="630" y="1474"/>
              <a:ext cx="182"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03520" name="Line 94"/>
            <p:cNvSpPr>
              <a:spLocks noChangeShapeType="1"/>
            </p:cNvSpPr>
            <p:nvPr/>
          </p:nvSpPr>
          <p:spPr bwMode="auto">
            <a:xfrm>
              <a:off x="622" y="2248"/>
              <a:ext cx="181"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03521" name="Text Box 95"/>
            <p:cNvSpPr txBox="1">
              <a:spLocks noChangeArrowheads="1"/>
            </p:cNvSpPr>
            <p:nvPr/>
          </p:nvSpPr>
          <p:spPr bwMode="auto">
            <a:xfrm>
              <a:off x="113" y="1733"/>
              <a:ext cx="644"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b="1">
                  <a:solidFill>
                    <a:srgbClr val="333399"/>
                  </a:solidFill>
                  <a:ea typeface="黑体" panose="02010609060101010101" pitchFamily="49" charset="-122"/>
                </a:rPr>
                <a:t>连接建立</a:t>
              </a:r>
            </a:p>
          </p:txBody>
        </p:sp>
        <p:sp>
          <p:nvSpPr>
            <p:cNvPr id="103522" name="Line 97"/>
            <p:cNvSpPr>
              <a:spLocks noChangeShapeType="1"/>
            </p:cNvSpPr>
            <p:nvPr/>
          </p:nvSpPr>
          <p:spPr bwMode="auto">
            <a:xfrm>
              <a:off x="720" y="1473"/>
              <a:ext cx="0" cy="759"/>
            </a:xfrm>
            <a:prstGeom prst="line">
              <a:avLst/>
            </a:prstGeom>
            <a:noFill/>
            <a:ln w="9525">
              <a:solidFill>
                <a:srgbClr val="333399"/>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grpSp>
      <p:grpSp>
        <p:nvGrpSpPr>
          <p:cNvPr id="154747" name="Group 123"/>
          <p:cNvGrpSpPr>
            <a:grpSpLocks/>
          </p:cNvGrpSpPr>
          <p:nvPr/>
        </p:nvGrpSpPr>
        <p:grpSpPr bwMode="auto">
          <a:xfrm>
            <a:off x="193675" y="2462213"/>
            <a:ext cx="1203325" cy="1011237"/>
            <a:chOff x="113" y="2246"/>
            <a:chExt cx="699" cy="637"/>
          </a:xfrm>
        </p:grpSpPr>
        <p:sp>
          <p:nvSpPr>
            <p:cNvPr id="103524" name="Line 93"/>
            <p:cNvSpPr>
              <a:spLocks noChangeShapeType="1"/>
            </p:cNvSpPr>
            <p:nvPr/>
          </p:nvSpPr>
          <p:spPr bwMode="auto">
            <a:xfrm>
              <a:off x="630" y="2881"/>
              <a:ext cx="182"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03525" name="Text Box 96"/>
            <p:cNvSpPr txBox="1">
              <a:spLocks noChangeArrowheads="1"/>
            </p:cNvSpPr>
            <p:nvPr/>
          </p:nvSpPr>
          <p:spPr bwMode="auto">
            <a:xfrm>
              <a:off x="113" y="2405"/>
              <a:ext cx="644"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b="1">
                  <a:solidFill>
                    <a:srgbClr val="333399"/>
                  </a:solidFill>
                  <a:ea typeface="黑体" panose="02010609060101010101" pitchFamily="49" charset="-122"/>
                </a:rPr>
                <a:t>数据传送</a:t>
              </a:r>
            </a:p>
          </p:txBody>
        </p:sp>
        <p:sp>
          <p:nvSpPr>
            <p:cNvPr id="103526" name="Line 98"/>
            <p:cNvSpPr>
              <a:spLocks noChangeShapeType="1"/>
            </p:cNvSpPr>
            <p:nvPr/>
          </p:nvSpPr>
          <p:spPr bwMode="auto">
            <a:xfrm>
              <a:off x="721" y="2246"/>
              <a:ext cx="0" cy="637"/>
            </a:xfrm>
            <a:prstGeom prst="line">
              <a:avLst/>
            </a:prstGeom>
            <a:noFill/>
            <a:ln w="9525">
              <a:solidFill>
                <a:srgbClr val="333399"/>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grpSp>
      <p:sp>
        <p:nvSpPr>
          <p:cNvPr id="103527" name="Freeform 99"/>
          <p:cNvSpPr>
            <a:spLocks noChangeArrowheads="1"/>
          </p:cNvSpPr>
          <p:nvPr/>
        </p:nvSpPr>
        <p:spPr bwMode="auto">
          <a:xfrm>
            <a:off x="1416050" y="1103313"/>
            <a:ext cx="4763" cy="3821112"/>
          </a:xfrm>
          <a:custGeom>
            <a:avLst/>
            <a:gdLst>
              <a:gd name="T0" fmla="*/ 3 w 3"/>
              <a:gd name="T1" fmla="*/ 0 h 2742"/>
              <a:gd name="T2" fmla="*/ 0 w 3"/>
              <a:gd name="T3" fmla="*/ 2742 h 2742"/>
            </a:gdLst>
            <a:ahLst/>
            <a:cxnLst>
              <a:cxn ang="0">
                <a:pos x="T0" y="T1"/>
              </a:cxn>
              <a:cxn ang="0">
                <a:pos x="T2" y="T3"/>
              </a:cxn>
            </a:cxnLst>
            <a:rect l="0" t="0" r="r" b="b"/>
            <a:pathLst>
              <a:path w="3" h="2742">
                <a:moveTo>
                  <a:pt x="3" y="0"/>
                </a:moveTo>
                <a:lnTo>
                  <a:pt x="0" y="2742"/>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03528" name="Freeform 100"/>
          <p:cNvSpPr>
            <a:spLocks noChangeArrowheads="1"/>
          </p:cNvSpPr>
          <p:nvPr/>
        </p:nvSpPr>
        <p:spPr bwMode="auto">
          <a:xfrm>
            <a:off x="6215063" y="1081088"/>
            <a:ext cx="4762" cy="3813175"/>
          </a:xfrm>
          <a:custGeom>
            <a:avLst/>
            <a:gdLst>
              <a:gd name="T0" fmla="*/ 3 w 3"/>
              <a:gd name="T1" fmla="*/ 0 h 2736"/>
              <a:gd name="T2" fmla="*/ 0 w 3"/>
              <a:gd name="T3" fmla="*/ 2736 h 2736"/>
            </a:gdLst>
            <a:ahLst/>
            <a:cxnLst>
              <a:cxn ang="0">
                <a:pos x="T0" y="T1"/>
              </a:cxn>
              <a:cxn ang="0">
                <a:pos x="T2" y="T3"/>
              </a:cxn>
            </a:cxnLst>
            <a:rect l="0" t="0" r="r" b="b"/>
            <a:pathLst>
              <a:path w="3" h="2736">
                <a:moveTo>
                  <a:pt x="3" y="0"/>
                </a:moveTo>
                <a:lnTo>
                  <a:pt x="0" y="2736"/>
                </a:lnTo>
              </a:path>
            </a:pathLst>
          </a:custGeom>
          <a:noFill/>
          <a:ln w="1270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03529" name="Line 101"/>
          <p:cNvSpPr>
            <a:spLocks noChangeShapeType="1"/>
          </p:cNvSpPr>
          <p:nvPr/>
        </p:nvSpPr>
        <p:spPr bwMode="auto">
          <a:xfrm>
            <a:off x="9250363" y="1130300"/>
            <a:ext cx="0" cy="3813175"/>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530" name="Line 102"/>
          <p:cNvSpPr>
            <a:spLocks noChangeShapeType="1"/>
          </p:cNvSpPr>
          <p:nvPr/>
        </p:nvSpPr>
        <p:spPr bwMode="auto">
          <a:xfrm>
            <a:off x="8624888" y="1116013"/>
            <a:ext cx="0" cy="3813175"/>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531" name="Line 103"/>
          <p:cNvSpPr>
            <a:spLocks noChangeShapeType="1"/>
          </p:cNvSpPr>
          <p:nvPr/>
        </p:nvSpPr>
        <p:spPr bwMode="auto">
          <a:xfrm>
            <a:off x="8008938" y="1103313"/>
            <a:ext cx="0" cy="3813175"/>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532" name="Line 104"/>
          <p:cNvSpPr>
            <a:spLocks noChangeShapeType="1"/>
          </p:cNvSpPr>
          <p:nvPr/>
        </p:nvSpPr>
        <p:spPr bwMode="auto">
          <a:xfrm>
            <a:off x="4329113" y="1081088"/>
            <a:ext cx="0" cy="3813175"/>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533" name="Line 105"/>
          <p:cNvSpPr>
            <a:spLocks noChangeShapeType="1"/>
          </p:cNvSpPr>
          <p:nvPr/>
        </p:nvSpPr>
        <p:spPr bwMode="auto">
          <a:xfrm>
            <a:off x="4946650" y="1081088"/>
            <a:ext cx="0" cy="3813175"/>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534" name="Line 106"/>
          <p:cNvSpPr>
            <a:spLocks noChangeShapeType="1"/>
          </p:cNvSpPr>
          <p:nvPr/>
        </p:nvSpPr>
        <p:spPr bwMode="auto">
          <a:xfrm>
            <a:off x="5589588" y="1081088"/>
            <a:ext cx="0" cy="3813175"/>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grpSp>
        <p:nvGrpSpPr>
          <p:cNvPr id="154749" name="Group 125"/>
          <p:cNvGrpSpPr>
            <a:grpSpLocks/>
          </p:cNvGrpSpPr>
          <p:nvPr/>
        </p:nvGrpSpPr>
        <p:grpSpPr bwMode="auto">
          <a:xfrm>
            <a:off x="1404938" y="2449513"/>
            <a:ext cx="1914525" cy="1279525"/>
            <a:chOff x="817" y="2238"/>
            <a:chExt cx="1113" cy="806"/>
          </a:xfrm>
        </p:grpSpPr>
        <p:sp>
          <p:nvSpPr>
            <p:cNvPr id="103536" name="Line 83"/>
            <p:cNvSpPr>
              <a:spLocks noChangeShapeType="1"/>
            </p:cNvSpPr>
            <p:nvPr/>
          </p:nvSpPr>
          <p:spPr bwMode="auto">
            <a:xfrm>
              <a:off x="841" y="2268"/>
              <a:ext cx="1089" cy="16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a:ea typeface="宋体" panose="02010600030101010101" pitchFamily="2" charset="-122"/>
              </a:endParaRPr>
            </a:p>
          </p:txBody>
        </p:sp>
        <p:sp>
          <p:nvSpPr>
            <p:cNvPr id="103537" name="AutoShape 84"/>
            <p:cNvSpPr>
              <a:spLocks noChangeArrowheads="1"/>
            </p:cNvSpPr>
            <p:nvPr/>
          </p:nvSpPr>
          <p:spPr bwMode="auto">
            <a:xfrm rot="5400000">
              <a:off x="975" y="2091"/>
              <a:ext cx="793" cy="1092"/>
            </a:xfrm>
            <a:prstGeom prst="parallelogram">
              <a:avLst>
                <a:gd name="adj" fmla="val 21176"/>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103538" name="Text Box 85"/>
            <p:cNvSpPr txBox="1">
              <a:spLocks noChangeArrowheads="1"/>
            </p:cNvSpPr>
            <p:nvPr/>
          </p:nvSpPr>
          <p:spPr bwMode="auto">
            <a:xfrm>
              <a:off x="1113" y="2429"/>
              <a:ext cx="37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333399"/>
                  </a:solidFill>
                  <a:ea typeface="黑体" panose="02010609060101010101" pitchFamily="49" charset="-122"/>
                </a:rPr>
                <a:t>报文</a:t>
              </a:r>
            </a:p>
          </p:txBody>
        </p:sp>
        <p:sp>
          <p:nvSpPr>
            <p:cNvPr id="103539" name="AutoShape 86"/>
            <p:cNvSpPr>
              <a:spLocks noChangeArrowheads="1"/>
            </p:cNvSpPr>
            <p:nvPr/>
          </p:nvSpPr>
          <p:spPr bwMode="auto">
            <a:xfrm rot="746037">
              <a:off x="1174" y="2745"/>
              <a:ext cx="408" cy="127"/>
            </a:xfrm>
            <a:prstGeom prst="rightArrow">
              <a:avLst>
                <a:gd name="adj1" fmla="val 50000"/>
                <a:gd name="adj2" fmla="val 80315"/>
              </a:avLst>
            </a:prstGeom>
            <a:solidFill>
              <a:schemeClr val="bg1"/>
            </a:solidFill>
            <a:ln w="9525">
              <a:solidFill>
                <a:srgbClr val="333399"/>
              </a:solidFill>
              <a:miter lim="800000"/>
              <a:headEnd/>
              <a:tailEnd/>
            </a:ln>
          </p:spPr>
          <p:txBody>
            <a:bodyPr wrap="none" anchor="ctr"/>
            <a:lstStyle/>
            <a:p>
              <a:pPr eaLnBrk="0" hangingPunct="0"/>
              <a:endParaRPr lang="zh-CN" altLang="en-US">
                <a:ea typeface="宋体" panose="02010600030101010101" pitchFamily="2" charset="-122"/>
              </a:endParaRPr>
            </a:p>
          </p:txBody>
        </p:sp>
        <p:sp>
          <p:nvSpPr>
            <p:cNvPr id="103540" name="Line 108"/>
            <p:cNvSpPr>
              <a:spLocks noChangeShapeType="1"/>
            </p:cNvSpPr>
            <p:nvPr/>
          </p:nvSpPr>
          <p:spPr bwMode="auto">
            <a:xfrm>
              <a:off x="823" y="2238"/>
              <a:ext cx="1094" cy="174"/>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541" name="Line 109"/>
            <p:cNvSpPr>
              <a:spLocks noChangeShapeType="1"/>
            </p:cNvSpPr>
            <p:nvPr/>
          </p:nvSpPr>
          <p:spPr bwMode="auto">
            <a:xfrm>
              <a:off x="817" y="2865"/>
              <a:ext cx="1100" cy="179"/>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grpSp>
      <p:grpSp>
        <p:nvGrpSpPr>
          <p:cNvPr id="154755" name="Group 131"/>
          <p:cNvGrpSpPr>
            <a:grpSpLocks/>
          </p:cNvGrpSpPr>
          <p:nvPr/>
        </p:nvGrpSpPr>
        <p:grpSpPr bwMode="auto">
          <a:xfrm>
            <a:off x="7370763" y="1368425"/>
            <a:ext cx="631825" cy="387350"/>
            <a:chOff x="4286" y="1557"/>
            <a:chExt cx="367" cy="244"/>
          </a:xfrm>
        </p:grpSpPr>
        <p:sp>
          <p:nvSpPr>
            <p:cNvPr id="103543" name="AutoShape 44"/>
            <p:cNvSpPr>
              <a:spLocks noChangeArrowheads="1"/>
            </p:cNvSpPr>
            <p:nvPr/>
          </p:nvSpPr>
          <p:spPr bwMode="auto">
            <a:xfrm rot="5400000">
              <a:off x="4366" y="1515"/>
              <a:ext cx="211"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103544" name="Text Box 45"/>
            <p:cNvSpPr txBox="1">
              <a:spLocks noChangeArrowheads="1"/>
            </p:cNvSpPr>
            <p:nvPr/>
          </p:nvSpPr>
          <p:spPr bwMode="auto">
            <a:xfrm rot="626605">
              <a:off x="4304" y="1557"/>
              <a:ext cx="24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a:solidFill>
                    <a:srgbClr val="333399"/>
                  </a:solidFill>
                  <a:ea typeface="黑体" panose="02010609060101010101" pitchFamily="49" charset="-122"/>
                </a:rPr>
                <a:t>P</a:t>
              </a:r>
              <a:r>
                <a:rPr lang="en-US" altLang="zh-CN" baseline="-25000">
                  <a:solidFill>
                    <a:srgbClr val="333399"/>
                  </a:solidFill>
                  <a:ea typeface="黑体" panose="02010609060101010101" pitchFamily="49" charset="-122"/>
                </a:rPr>
                <a:t>2</a:t>
              </a:r>
              <a:endParaRPr lang="en-US" altLang="zh-CN">
                <a:solidFill>
                  <a:srgbClr val="333399"/>
                </a:solidFill>
                <a:ea typeface="黑体" panose="02010609060101010101" pitchFamily="49" charset="-122"/>
              </a:endParaRPr>
            </a:p>
          </p:txBody>
        </p:sp>
        <p:sp>
          <p:nvSpPr>
            <p:cNvPr id="103545" name="Line 47"/>
            <p:cNvSpPr>
              <a:spLocks noChangeShapeType="1"/>
            </p:cNvSpPr>
            <p:nvPr/>
          </p:nvSpPr>
          <p:spPr bwMode="auto">
            <a:xfrm>
              <a:off x="4286" y="1738"/>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546" name="AutoShape 48"/>
            <p:cNvSpPr>
              <a:spLocks noChangeArrowheads="1"/>
            </p:cNvSpPr>
            <p:nvPr/>
          </p:nvSpPr>
          <p:spPr bwMode="auto">
            <a:xfrm rot="746037">
              <a:off x="4481" y="1652"/>
              <a:ext cx="132" cy="126"/>
            </a:xfrm>
            <a:prstGeom prst="rightArrow">
              <a:avLst>
                <a:gd name="adj1" fmla="val 50000"/>
                <a:gd name="adj2" fmla="val 26186"/>
              </a:avLst>
            </a:prstGeom>
            <a:solidFill>
              <a:schemeClr val="bg1"/>
            </a:solidFill>
            <a:ln w="9525">
              <a:solidFill>
                <a:srgbClr val="333399"/>
              </a:solidFill>
              <a:miter lim="800000"/>
              <a:headEnd/>
              <a:tailEnd/>
            </a:ln>
          </p:spPr>
          <p:txBody>
            <a:bodyPr wrap="none" anchor="ctr"/>
            <a:lstStyle/>
            <a:p>
              <a:pPr eaLnBrk="0" hangingPunct="0"/>
              <a:endParaRPr lang="zh-CN" altLang="en-US">
                <a:ea typeface="宋体" panose="02010600030101010101" pitchFamily="2" charset="-122"/>
              </a:endParaRPr>
            </a:p>
          </p:txBody>
        </p:sp>
        <p:sp>
          <p:nvSpPr>
            <p:cNvPr id="103547" name="Line 46"/>
            <p:cNvSpPr>
              <a:spLocks noChangeShapeType="1"/>
            </p:cNvSpPr>
            <p:nvPr/>
          </p:nvSpPr>
          <p:spPr bwMode="auto">
            <a:xfrm>
              <a:off x="4290" y="1587"/>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grpSp>
      <p:grpSp>
        <p:nvGrpSpPr>
          <p:cNvPr id="154754" name="Group 130"/>
          <p:cNvGrpSpPr>
            <a:grpSpLocks/>
          </p:cNvGrpSpPr>
          <p:nvPr/>
        </p:nvGrpSpPr>
        <p:grpSpPr bwMode="auto">
          <a:xfrm>
            <a:off x="7380288" y="1074738"/>
            <a:ext cx="628650" cy="396875"/>
            <a:chOff x="4291" y="1372"/>
            <a:chExt cx="366" cy="250"/>
          </a:xfrm>
        </p:grpSpPr>
        <p:sp>
          <p:nvSpPr>
            <p:cNvPr id="103549" name="AutoShape 110"/>
            <p:cNvSpPr>
              <a:spLocks noChangeArrowheads="1"/>
            </p:cNvSpPr>
            <p:nvPr/>
          </p:nvSpPr>
          <p:spPr bwMode="auto">
            <a:xfrm rot="5400000">
              <a:off x="4370" y="1336"/>
              <a:ext cx="211"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103550" name="Text Box 111"/>
            <p:cNvSpPr txBox="1">
              <a:spLocks noChangeArrowheads="1"/>
            </p:cNvSpPr>
            <p:nvPr/>
          </p:nvSpPr>
          <p:spPr bwMode="auto">
            <a:xfrm rot="626605">
              <a:off x="4303" y="1372"/>
              <a:ext cx="24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a:solidFill>
                    <a:srgbClr val="333399"/>
                  </a:solidFill>
                  <a:ea typeface="黑体" panose="02010609060101010101" pitchFamily="49" charset="-122"/>
                </a:rPr>
                <a:t>P</a:t>
              </a:r>
              <a:r>
                <a:rPr lang="en-US" altLang="zh-CN" baseline="-25000">
                  <a:solidFill>
                    <a:srgbClr val="333399"/>
                  </a:solidFill>
                  <a:ea typeface="黑体" panose="02010609060101010101" pitchFamily="49" charset="-122"/>
                </a:rPr>
                <a:t>1</a:t>
              </a:r>
              <a:endParaRPr lang="en-US" altLang="zh-CN">
                <a:solidFill>
                  <a:srgbClr val="333399"/>
                </a:solidFill>
                <a:ea typeface="黑体" panose="02010609060101010101" pitchFamily="49" charset="-122"/>
              </a:endParaRPr>
            </a:p>
          </p:txBody>
        </p:sp>
        <p:sp>
          <p:nvSpPr>
            <p:cNvPr id="103551" name="Line 112"/>
            <p:cNvSpPr>
              <a:spLocks noChangeShapeType="1"/>
            </p:cNvSpPr>
            <p:nvPr/>
          </p:nvSpPr>
          <p:spPr bwMode="auto">
            <a:xfrm>
              <a:off x="4295" y="1407"/>
              <a:ext cx="362" cy="64"/>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552" name="Line 113"/>
            <p:cNvSpPr>
              <a:spLocks noChangeShapeType="1"/>
            </p:cNvSpPr>
            <p:nvPr/>
          </p:nvSpPr>
          <p:spPr bwMode="auto">
            <a:xfrm>
              <a:off x="4291" y="1558"/>
              <a:ext cx="363" cy="64"/>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553" name="AutoShape 114"/>
            <p:cNvSpPr>
              <a:spLocks noChangeArrowheads="1"/>
            </p:cNvSpPr>
            <p:nvPr/>
          </p:nvSpPr>
          <p:spPr bwMode="auto">
            <a:xfrm rot="746037">
              <a:off x="4485" y="1472"/>
              <a:ext cx="133" cy="127"/>
            </a:xfrm>
            <a:prstGeom prst="rightArrow">
              <a:avLst>
                <a:gd name="adj1" fmla="val 50000"/>
                <a:gd name="adj2" fmla="val 26176"/>
              </a:avLst>
            </a:prstGeom>
            <a:solidFill>
              <a:schemeClr val="bg1"/>
            </a:solidFill>
            <a:ln w="9525">
              <a:solidFill>
                <a:srgbClr val="333399"/>
              </a:solidFill>
              <a:miter lim="800000"/>
              <a:headEnd/>
              <a:tailEnd/>
            </a:ln>
          </p:spPr>
          <p:txBody>
            <a:bodyPr wrap="none" anchor="ctr"/>
            <a:lstStyle/>
            <a:p>
              <a:pPr eaLnBrk="0" hangingPunct="0"/>
              <a:endParaRPr lang="zh-CN" altLang="en-US">
                <a:ea typeface="宋体" panose="02010600030101010101" pitchFamily="2" charset="-122"/>
              </a:endParaRPr>
            </a:p>
          </p:txBody>
        </p:sp>
      </p:grpSp>
      <p:sp>
        <p:nvSpPr>
          <p:cNvPr id="103554" name="Line 115"/>
          <p:cNvSpPr>
            <a:spLocks noChangeShapeType="1"/>
          </p:cNvSpPr>
          <p:nvPr/>
        </p:nvSpPr>
        <p:spPr bwMode="auto">
          <a:xfrm>
            <a:off x="7375525" y="1090613"/>
            <a:ext cx="0" cy="3813175"/>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54740" name="Line 116"/>
          <p:cNvSpPr>
            <a:spLocks noChangeShapeType="1"/>
          </p:cNvSpPr>
          <p:nvPr/>
        </p:nvSpPr>
        <p:spPr bwMode="auto">
          <a:xfrm>
            <a:off x="1416050" y="3556000"/>
            <a:ext cx="623888" cy="95250"/>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54741" name="Line 117"/>
          <p:cNvSpPr>
            <a:spLocks noChangeShapeType="1"/>
          </p:cNvSpPr>
          <p:nvPr/>
        </p:nvSpPr>
        <p:spPr bwMode="auto">
          <a:xfrm>
            <a:off x="2049463" y="3736975"/>
            <a:ext cx="614362" cy="95250"/>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54742" name="Line 118"/>
          <p:cNvSpPr>
            <a:spLocks noChangeShapeType="1"/>
          </p:cNvSpPr>
          <p:nvPr/>
        </p:nvSpPr>
        <p:spPr bwMode="auto">
          <a:xfrm>
            <a:off x="2663825" y="3927475"/>
            <a:ext cx="622300" cy="85725"/>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grpSp>
        <p:nvGrpSpPr>
          <p:cNvPr id="154748" name="Group 124"/>
          <p:cNvGrpSpPr>
            <a:grpSpLocks/>
          </p:cNvGrpSpPr>
          <p:nvPr/>
        </p:nvGrpSpPr>
        <p:grpSpPr bwMode="auto">
          <a:xfrm>
            <a:off x="193675" y="3451225"/>
            <a:ext cx="1176338" cy="592138"/>
            <a:chOff x="113" y="2869"/>
            <a:chExt cx="684" cy="373"/>
          </a:xfrm>
        </p:grpSpPr>
        <p:sp>
          <p:nvSpPr>
            <p:cNvPr id="103559" name="Line 119"/>
            <p:cNvSpPr>
              <a:spLocks noChangeShapeType="1"/>
            </p:cNvSpPr>
            <p:nvPr/>
          </p:nvSpPr>
          <p:spPr bwMode="auto">
            <a:xfrm>
              <a:off x="615" y="3241"/>
              <a:ext cx="182"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03560" name="Line 120"/>
            <p:cNvSpPr>
              <a:spLocks noChangeShapeType="1"/>
            </p:cNvSpPr>
            <p:nvPr/>
          </p:nvSpPr>
          <p:spPr bwMode="auto">
            <a:xfrm>
              <a:off x="721" y="2869"/>
              <a:ext cx="0" cy="373"/>
            </a:xfrm>
            <a:prstGeom prst="line">
              <a:avLst/>
            </a:prstGeom>
            <a:noFill/>
            <a:ln w="9525">
              <a:solidFill>
                <a:srgbClr val="333399"/>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03561" name="Text Box 121"/>
            <p:cNvSpPr txBox="1">
              <a:spLocks noChangeArrowheads="1"/>
            </p:cNvSpPr>
            <p:nvPr/>
          </p:nvSpPr>
          <p:spPr bwMode="auto">
            <a:xfrm>
              <a:off x="113" y="2933"/>
              <a:ext cx="644"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b="1">
                  <a:solidFill>
                    <a:srgbClr val="333399"/>
                  </a:solidFill>
                  <a:ea typeface="黑体" panose="02010609060101010101" pitchFamily="49" charset="-122"/>
                </a:rPr>
                <a:t>连接释放</a:t>
              </a:r>
            </a:p>
          </p:txBody>
        </p:sp>
      </p:grpSp>
      <p:sp>
        <p:nvSpPr>
          <p:cNvPr id="103562" name="Freeform 107"/>
          <p:cNvSpPr>
            <a:spLocks noChangeArrowheads="1"/>
          </p:cNvSpPr>
          <p:nvPr/>
        </p:nvSpPr>
        <p:spPr bwMode="auto">
          <a:xfrm>
            <a:off x="3294063" y="1125538"/>
            <a:ext cx="4762" cy="3813175"/>
          </a:xfrm>
          <a:custGeom>
            <a:avLst/>
            <a:gdLst>
              <a:gd name="T0" fmla="*/ 3 w 3"/>
              <a:gd name="T1" fmla="*/ 0 h 2736"/>
              <a:gd name="T2" fmla="*/ 0 w 3"/>
              <a:gd name="T3" fmla="*/ 2736 h 2736"/>
            </a:gdLst>
            <a:ahLst/>
            <a:cxnLst>
              <a:cxn ang="0">
                <a:pos x="T0" y="T1"/>
              </a:cxn>
              <a:cxn ang="0">
                <a:pos x="T2" y="T3"/>
              </a:cxn>
            </a:cxnLst>
            <a:rect l="0" t="0" r="r" b="b"/>
            <a:pathLst>
              <a:path w="3" h="2736">
                <a:moveTo>
                  <a:pt x="3" y="0"/>
                </a:moveTo>
                <a:lnTo>
                  <a:pt x="0" y="2736"/>
                </a:lnTo>
              </a:path>
            </a:pathLst>
          </a:custGeom>
          <a:noFill/>
          <a:ln w="1270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03563" name="AutoShape 143"/>
          <p:cNvSpPr>
            <a:spLocks noChangeArrowheads="1"/>
          </p:cNvSpPr>
          <p:nvPr/>
        </p:nvSpPr>
        <p:spPr bwMode="auto">
          <a:xfrm>
            <a:off x="415925" y="5365750"/>
            <a:ext cx="9221788" cy="1447800"/>
          </a:xfrm>
          <a:prstGeom prst="roundRect">
            <a:avLst>
              <a:gd name="adj" fmla="val 16667"/>
            </a:avLst>
          </a:prstGeom>
          <a:noFill/>
          <a:ln w="9525">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03564" name="Line 144"/>
          <p:cNvSpPr>
            <a:spLocks noChangeShapeType="1"/>
          </p:cNvSpPr>
          <p:nvPr/>
        </p:nvSpPr>
        <p:spPr bwMode="auto">
          <a:xfrm>
            <a:off x="7326313" y="6203950"/>
            <a:ext cx="1816100" cy="0"/>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103565" name="Line 145"/>
          <p:cNvSpPr>
            <a:spLocks noChangeShapeType="1"/>
          </p:cNvSpPr>
          <p:nvPr/>
        </p:nvSpPr>
        <p:spPr bwMode="auto">
          <a:xfrm>
            <a:off x="4271963" y="6203950"/>
            <a:ext cx="1816100" cy="0"/>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103566" name="Line 146"/>
          <p:cNvSpPr>
            <a:spLocks noChangeShapeType="1"/>
          </p:cNvSpPr>
          <p:nvPr/>
        </p:nvSpPr>
        <p:spPr bwMode="auto">
          <a:xfrm>
            <a:off x="1382713" y="6203950"/>
            <a:ext cx="1816100" cy="0"/>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grpSp>
        <p:nvGrpSpPr>
          <p:cNvPr id="103567" name="Group 147"/>
          <p:cNvGrpSpPr>
            <a:grpSpLocks/>
          </p:cNvGrpSpPr>
          <p:nvPr/>
        </p:nvGrpSpPr>
        <p:grpSpPr bwMode="auto">
          <a:xfrm>
            <a:off x="1300163" y="6051550"/>
            <a:ext cx="2063750" cy="228600"/>
            <a:chOff x="768" y="2544"/>
            <a:chExt cx="1200" cy="144"/>
          </a:xfrm>
        </p:grpSpPr>
        <p:sp>
          <p:nvSpPr>
            <p:cNvPr id="103568" name="AutoShape 148"/>
            <p:cNvSpPr>
              <a:spLocks noChangeArrowheads="1"/>
            </p:cNvSpPr>
            <p:nvPr/>
          </p:nvSpPr>
          <p:spPr bwMode="auto">
            <a:xfrm>
              <a:off x="768"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p>
              <a:pPr eaLnBrk="0" hangingPunct="0"/>
              <a:endParaRPr lang="zh-CN" altLang="en-US">
                <a:ea typeface="宋体" panose="02010600030101010101" pitchFamily="2" charset="-122"/>
              </a:endParaRPr>
            </a:p>
          </p:txBody>
        </p:sp>
        <p:sp>
          <p:nvSpPr>
            <p:cNvPr id="103569" name="AutoShape 149"/>
            <p:cNvSpPr>
              <a:spLocks noChangeArrowheads="1"/>
            </p:cNvSpPr>
            <p:nvPr/>
          </p:nvSpPr>
          <p:spPr bwMode="auto">
            <a:xfrm>
              <a:off x="1120"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p>
              <a:pPr eaLnBrk="0" hangingPunct="0"/>
              <a:endParaRPr lang="zh-CN" altLang="en-US">
                <a:ea typeface="宋体" panose="02010600030101010101" pitchFamily="2" charset="-122"/>
              </a:endParaRPr>
            </a:p>
          </p:txBody>
        </p:sp>
        <p:sp>
          <p:nvSpPr>
            <p:cNvPr id="103570" name="AutoShape 150"/>
            <p:cNvSpPr>
              <a:spLocks noChangeArrowheads="1"/>
            </p:cNvSpPr>
            <p:nvPr/>
          </p:nvSpPr>
          <p:spPr bwMode="auto">
            <a:xfrm>
              <a:off x="1472"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p>
              <a:pPr eaLnBrk="0" hangingPunct="0"/>
              <a:endParaRPr lang="zh-CN" altLang="en-US">
                <a:ea typeface="宋体" panose="02010600030101010101" pitchFamily="2" charset="-122"/>
              </a:endParaRPr>
            </a:p>
          </p:txBody>
        </p:sp>
        <p:sp>
          <p:nvSpPr>
            <p:cNvPr id="103571" name="AutoShape 151"/>
            <p:cNvSpPr>
              <a:spLocks noChangeArrowheads="1"/>
            </p:cNvSpPr>
            <p:nvPr/>
          </p:nvSpPr>
          <p:spPr bwMode="auto">
            <a:xfrm>
              <a:off x="1824"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p>
              <a:pPr eaLnBrk="0" hangingPunct="0"/>
              <a:endParaRPr lang="zh-CN" altLang="en-US">
                <a:ea typeface="宋体" panose="02010600030101010101" pitchFamily="2" charset="-122"/>
              </a:endParaRPr>
            </a:p>
          </p:txBody>
        </p:sp>
      </p:grpSp>
      <p:grpSp>
        <p:nvGrpSpPr>
          <p:cNvPr id="103572" name="Group 152"/>
          <p:cNvGrpSpPr>
            <a:grpSpLocks/>
          </p:cNvGrpSpPr>
          <p:nvPr/>
        </p:nvGrpSpPr>
        <p:grpSpPr bwMode="auto">
          <a:xfrm>
            <a:off x="4189413" y="6051550"/>
            <a:ext cx="2063750" cy="228600"/>
            <a:chOff x="768" y="2544"/>
            <a:chExt cx="1200" cy="144"/>
          </a:xfrm>
        </p:grpSpPr>
        <p:sp>
          <p:nvSpPr>
            <p:cNvPr id="103573" name="AutoShape 153"/>
            <p:cNvSpPr>
              <a:spLocks noChangeArrowheads="1"/>
            </p:cNvSpPr>
            <p:nvPr/>
          </p:nvSpPr>
          <p:spPr bwMode="auto">
            <a:xfrm>
              <a:off x="768"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p>
              <a:pPr eaLnBrk="0" hangingPunct="0"/>
              <a:endParaRPr lang="zh-CN" altLang="en-US">
                <a:ea typeface="宋体" panose="02010600030101010101" pitchFamily="2" charset="-122"/>
              </a:endParaRPr>
            </a:p>
          </p:txBody>
        </p:sp>
        <p:sp>
          <p:nvSpPr>
            <p:cNvPr id="103574" name="AutoShape 154"/>
            <p:cNvSpPr>
              <a:spLocks noChangeArrowheads="1"/>
            </p:cNvSpPr>
            <p:nvPr/>
          </p:nvSpPr>
          <p:spPr bwMode="auto">
            <a:xfrm>
              <a:off x="1120"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p>
              <a:pPr eaLnBrk="0" hangingPunct="0"/>
              <a:endParaRPr lang="zh-CN" altLang="en-US">
                <a:ea typeface="宋体" panose="02010600030101010101" pitchFamily="2" charset="-122"/>
              </a:endParaRPr>
            </a:p>
          </p:txBody>
        </p:sp>
        <p:sp>
          <p:nvSpPr>
            <p:cNvPr id="103575" name="AutoShape 155"/>
            <p:cNvSpPr>
              <a:spLocks noChangeArrowheads="1"/>
            </p:cNvSpPr>
            <p:nvPr/>
          </p:nvSpPr>
          <p:spPr bwMode="auto">
            <a:xfrm>
              <a:off x="1472"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p>
              <a:pPr eaLnBrk="0" hangingPunct="0"/>
              <a:endParaRPr lang="zh-CN" altLang="en-US">
                <a:ea typeface="宋体" panose="02010600030101010101" pitchFamily="2" charset="-122"/>
              </a:endParaRPr>
            </a:p>
          </p:txBody>
        </p:sp>
        <p:sp>
          <p:nvSpPr>
            <p:cNvPr id="103576" name="AutoShape 156"/>
            <p:cNvSpPr>
              <a:spLocks noChangeArrowheads="1"/>
            </p:cNvSpPr>
            <p:nvPr/>
          </p:nvSpPr>
          <p:spPr bwMode="auto">
            <a:xfrm>
              <a:off x="1824"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p>
              <a:pPr eaLnBrk="0" hangingPunct="0"/>
              <a:endParaRPr lang="zh-CN" altLang="en-US">
                <a:ea typeface="宋体" panose="02010600030101010101" pitchFamily="2" charset="-122"/>
              </a:endParaRPr>
            </a:p>
          </p:txBody>
        </p:sp>
      </p:grpSp>
      <p:grpSp>
        <p:nvGrpSpPr>
          <p:cNvPr id="103577" name="Group 157"/>
          <p:cNvGrpSpPr>
            <a:grpSpLocks/>
          </p:cNvGrpSpPr>
          <p:nvPr/>
        </p:nvGrpSpPr>
        <p:grpSpPr bwMode="auto">
          <a:xfrm>
            <a:off x="7243763" y="6051550"/>
            <a:ext cx="2063750" cy="228600"/>
            <a:chOff x="768" y="2544"/>
            <a:chExt cx="1200" cy="144"/>
          </a:xfrm>
        </p:grpSpPr>
        <p:sp>
          <p:nvSpPr>
            <p:cNvPr id="103578" name="AutoShape 158"/>
            <p:cNvSpPr>
              <a:spLocks noChangeArrowheads="1"/>
            </p:cNvSpPr>
            <p:nvPr/>
          </p:nvSpPr>
          <p:spPr bwMode="auto">
            <a:xfrm>
              <a:off x="768"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p>
              <a:pPr eaLnBrk="0" hangingPunct="0"/>
              <a:endParaRPr lang="zh-CN" altLang="en-US">
                <a:ea typeface="宋体" panose="02010600030101010101" pitchFamily="2" charset="-122"/>
              </a:endParaRPr>
            </a:p>
          </p:txBody>
        </p:sp>
        <p:sp>
          <p:nvSpPr>
            <p:cNvPr id="103579" name="AutoShape 159"/>
            <p:cNvSpPr>
              <a:spLocks noChangeArrowheads="1"/>
            </p:cNvSpPr>
            <p:nvPr/>
          </p:nvSpPr>
          <p:spPr bwMode="auto">
            <a:xfrm>
              <a:off x="1120"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p>
              <a:pPr eaLnBrk="0" hangingPunct="0"/>
              <a:endParaRPr lang="zh-CN" altLang="en-US">
                <a:ea typeface="宋体" panose="02010600030101010101" pitchFamily="2" charset="-122"/>
              </a:endParaRPr>
            </a:p>
          </p:txBody>
        </p:sp>
        <p:sp>
          <p:nvSpPr>
            <p:cNvPr id="103580" name="AutoShape 160"/>
            <p:cNvSpPr>
              <a:spLocks noChangeArrowheads="1"/>
            </p:cNvSpPr>
            <p:nvPr/>
          </p:nvSpPr>
          <p:spPr bwMode="auto">
            <a:xfrm>
              <a:off x="1472"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p>
              <a:pPr eaLnBrk="0" hangingPunct="0"/>
              <a:endParaRPr lang="zh-CN" altLang="en-US">
                <a:ea typeface="宋体" panose="02010600030101010101" pitchFamily="2" charset="-122"/>
              </a:endParaRPr>
            </a:p>
          </p:txBody>
        </p:sp>
        <p:sp>
          <p:nvSpPr>
            <p:cNvPr id="103581" name="AutoShape 161"/>
            <p:cNvSpPr>
              <a:spLocks noChangeArrowheads="1"/>
            </p:cNvSpPr>
            <p:nvPr/>
          </p:nvSpPr>
          <p:spPr bwMode="auto">
            <a:xfrm>
              <a:off x="1824"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p>
              <a:pPr eaLnBrk="0" hangingPunct="0"/>
              <a:endParaRPr lang="zh-CN" altLang="en-US">
                <a:ea typeface="宋体" panose="02010600030101010101" pitchFamily="2" charset="-122"/>
              </a:endParaRPr>
            </a:p>
          </p:txBody>
        </p:sp>
      </p:grpSp>
      <p:sp>
        <p:nvSpPr>
          <p:cNvPr id="103582" name="AutoShape 162"/>
          <p:cNvSpPr>
            <a:spLocks noChangeArrowheads="1"/>
          </p:cNvSpPr>
          <p:nvPr/>
        </p:nvSpPr>
        <p:spPr bwMode="auto">
          <a:xfrm>
            <a:off x="4189413" y="5670550"/>
            <a:ext cx="742950" cy="304800"/>
          </a:xfrm>
          <a:prstGeom prst="curvedDownArrow">
            <a:avLst>
              <a:gd name="adj1" fmla="val 49269"/>
              <a:gd name="adj2" fmla="val 94273"/>
              <a:gd name="adj3" fmla="val 52602"/>
            </a:avLst>
          </a:prstGeom>
          <a:solidFill>
            <a:srgbClr val="DDDDDD"/>
          </a:solidFill>
          <a:ln w="9525">
            <a:solidFill>
              <a:schemeClr val="tx1"/>
            </a:solidFill>
            <a:miter lim="800000"/>
            <a:headEnd type="none" w="sm" len="lg"/>
            <a:tailEnd type="none" w="sm" len="lg"/>
          </a:ln>
        </p:spPr>
        <p:txBody>
          <a:bodyPr wrap="none" anchor="ctr"/>
          <a:lstStyle/>
          <a:p>
            <a:pPr eaLnBrk="0" hangingPunct="0"/>
            <a:endParaRPr lang="zh-CN" altLang="en-US">
              <a:ea typeface="宋体" panose="02010600030101010101" pitchFamily="2" charset="-122"/>
            </a:endParaRPr>
          </a:p>
        </p:txBody>
      </p:sp>
      <p:sp>
        <p:nvSpPr>
          <p:cNvPr id="103583" name="AutoShape 163"/>
          <p:cNvSpPr>
            <a:spLocks noChangeArrowheads="1"/>
          </p:cNvSpPr>
          <p:nvPr/>
        </p:nvSpPr>
        <p:spPr bwMode="auto">
          <a:xfrm>
            <a:off x="4891088" y="5670550"/>
            <a:ext cx="742950" cy="304800"/>
          </a:xfrm>
          <a:prstGeom prst="curvedDownArrow">
            <a:avLst>
              <a:gd name="adj1" fmla="val 49269"/>
              <a:gd name="adj2" fmla="val 94273"/>
              <a:gd name="adj3" fmla="val 52602"/>
            </a:avLst>
          </a:prstGeom>
          <a:solidFill>
            <a:srgbClr val="DDDDDD"/>
          </a:solidFill>
          <a:ln w="9525">
            <a:solidFill>
              <a:schemeClr val="tx1"/>
            </a:solidFill>
            <a:miter lim="800000"/>
            <a:headEnd type="none" w="sm" len="lg"/>
            <a:tailEnd type="none" w="sm" len="lg"/>
          </a:ln>
        </p:spPr>
        <p:txBody>
          <a:bodyPr wrap="none" anchor="ctr"/>
          <a:lstStyle/>
          <a:p>
            <a:pPr eaLnBrk="0" hangingPunct="0"/>
            <a:endParaRPr lang="zh-CN" altLang="en-US">
              <a:ea typeface="宋体" panose="02010600030101010101" pitchFamily="2" charset="-122"/>
            </a:endParaRPr>
          </a:p>
        </p:txBody>
      </p:sp>
      <p:sp>
        <p:nvSpPr>
          <p:cNvPr id="103584" name="AutoShape 164"/>
          <p:cNvSpPr>
            <a:spLocks noChangeArrowheads="1"/>
          </p:cNvSpPr>
          <p:nvPr/>
        </p:nvSpPr>
        <p:spPr bwMode="auto">
          <a:xfrm>
            <a:off x="5592763" y="5670550"/>
            <a:ext cx="742950" cy="304800"/>
          </a:xfrm>
          <a:prstGeom prst="curvedDownArrow">
            <a:avLst>
              <a:gd name="adj1" fmla="val 49269"/>
              <a:gd name="adj2" fmla="val 94273"/>
              <a:gd name="adj3" fmla="val 52602"/>
            </a:avLst>
          </a:prstGeom>
          <a:solidFill>
            <a:srgbClr val="DDDDDD"/>
          </a:solidFill>
          <a:ln w="9525">
            <a:solidFill>
              <a:schemeClr val="tx1"/>
            </a:solidFill>
            <a:miter lim="800000"/>
            <a:headEnd type="none" w="sm" len="lg"/>
            <a:tailEnd type="none" w="sm" len="lg"/>
          </a:ln>
        </p:spPr>
        <p:txBody>
          <a:bodyPr wrap="none" anchor="ctr"/>
          <a:lstStyle/>
          <a:p>
            <a:pPr eaLnBrk="0" hangingPunct="0"/>
            <a:endParaRPr lang="zh-CN" altLang="en-US">
              <a:ea typeface="宋体" panose="02010600030101010101" pitchFamily="2" charset="-122"/>
            </a:endParaRPr>
          </a:p>
        </p:txBody>
      </p:sp>
      <p:sp>
        <p:nvSpPr>
          <p:cNvPr id="103585" name="AutoShape 165"/>
          <p:cNvSpPr>
            <a:spLocks noChangeArrowheads="1"/>
          </p:cNvSpPr>
          <p:nvPr/>
        </p:nvSpPr>
        <p:spPr bwMode="auto">
          <a:xfrm>
            <a:off x="1382713" y="5746750"/>
            <a:ext cx="2063750" cy="304800"/>
          </a:xfrm>
          <a:prstGeom prst="rightArrow">
            <a:avLst>
              <a:gd name="adj1" fmla="val 58333"/>
              <a:gd name="adj2" fmla="val 109368"/>
            </a:avLst>
          </a:prstGeom>
          <a:solidFill>
            <a:srgbClr val="969696"/>
          </a:solidFill>
          <a:ln w="9525">
            <a:solidFill>
              <a:schemeClr val="tx1"/>
            </a:solidFill>
            <a:miter lim="800000"/>
            <a:headEnd type="none" w="sm" len="lg"/>
            <a:tailEnd type="none" w="sm" len="lg"/>
          </a:ln>
        </p:spPr>
        <p:txBody>
          <a:bodyPr wrap="none" anchor="ctr"/>
          <a:lstStyle/>
          <a:p>
            <a:pPr eaLnBrk="0" hangingPunct="0"/>
            <a:endParaRPr lang="zh-CN" altLang="en-US">
              <a:ea typeface="宋体" panose="02010600030101010101" pitchFamily="2" charset="-122"/>
            </a:endParaRPr>
          </a:p>
        </p:txBody>
      </p:sp>
      <p:sp>
        <p:nvSpPr>
          <p:cNvPr id="103586" name="AutoShape 166"/>
          <p:cNvSpPr>
            <a:spLocks noChangeArrowheads="1"/>
          </p:cNvSpPr>
          <p:nvPr/>
        </p:nvSpPr>
        <p:spPr bwMode="auto">
          <a:xfrm>
            <a:off x="7243763" y="5670550"/>
            <a:ext cx="742950" cy="304800"/>
          </a:xfrm>
          <a:prstGeom prst="curvedDownArrow">
            <a:avLst>
              <a:gd name="adj1" fmla="val 13542"/>
              <a:gd name="adj2" fmla="val 66670"/>
              <a:gd name="adj3" fmla="val 36977"/>
            </a:avLst>
          </a:prstGeom>
          <a:solidFill>
            <a:srgbClr val="DDDDDD"/>
          </a:solidFill>
          <a:ln w="9525">
            <a:solidFill>
              <a:schemeClr val="tx1"/>
            </a:solidFill>
            <a:miter lim="800000"/>
            <a:headEnd type="none" w="sm" len="lg"/>
            <a:tailEnd type="none" w="sm" len="lg"/>
          </a:ln>
        </p:spPr>
        <p:txBody>
          <a:bodyPr wrap="none" anchor="ctr"/>
          <a:lstStyle/>
          <a:p>
            <a:pPr eaLnBrk="0" hangingPunct="0"/>
            <a:endParaRPr lang="zh-CN" altLang="en-US">
              <a:ea typeface="宋体" panose="02010600030101010101" pitchFamily="2" charset="-122"/>
            </a:endParaRPr>
          </a:p>
        </p:txBody>
      </p:sp>
      <p:sp>
        <p:nvSpPr>
          <p:cNvPr id="103587" name="AutoShape 167"/>
          <p:cNvSpPr>
            <a:spLocks noChangeArrowheads="1"/>
          </p:cNvSpPr>
          <p:nvPr/>
        </p:nvSpPr>
        <p:spPr bwMode="auto">
          <a:xfrm>
            <a:off x="7904163" y="5670550"/>
            <a:ext cx="742950" cy="304800"/>
          </a:xfrm>
          <a:prstGeom prst="curvedDownArrow">
            <a:avLst>
              <a:gd name="adj1" fmla="val 13542"/>
              <a:gd name="adj2" fmla="val 66670"/>
              <a:gd name="adj3" fmla="val 36977"/>
            </a:avLst>
          </a:prstGeom>
          <a:solidFill>
            <a:srgbClr val="DDDDDD"/>
          </a:solidFill>
          <a:ln w="9525">
            <a:solidFill>
              <a:schemeClr val="tx1"/>
            </a:solidFill>
            <a:miter lim="800000"/>
            <a:headEnd type="none" w="sm" len="lg"/>
            <a:tailEnd type="none" w="sm" len="lg"/>
          </a:ln>
        </p:spPr>
        <p:txBody>
          <a:bodyPr wrap="none" anchor="ctr"/>
          <a:lstStyle/>
          <a:p>
            <a:pPr eaLnBrk="0" hangingPunct="0"/>
            <a:endParaRPr lang="zh-CN" altLang="en-US">
              <a:ea typeface="宋体" panose="02010600030101010101" pitchFamily="2" charset="-122"/>
            </a:endParaRPr>
          </a:p>
        </p:txBody>
      </p:sp>
      <p:sp>
        <p:nvSpPr>
          <p:cNvPr id="103588" name="AutoShape 168"/>
          <p:cNvSpPr>
            <a:spLocks noChangeArrowheads="1"/>
          </p:cNvSpPr>
          <p:nvPr/>
        </p:nvSpPr>
        <p:spPr bwMode="auto">
          <a:xfrm>
            <a:off x="8564563" y="5670550"/>
            <a:ext cx="742950" cy="304800"/>
          </a:xfrm>
          <a:prstGeom prst="curvedDownArrow">
            <a:avLst>
              <a:gd name="adj1" fmla="val 13542"/>
              <a:gd name="adj2" fmla="val 66670"/>
              <a:gd name="adj3" fmla="val 36977"/>
            </a:avLst>
          </a:prstGeom>
          <a:solidFill>
            <a:srgbClr val="DDDDDD"/>
          </a:solidFill>
          <a:ln w="9525">
            <a:solidFill>
              <a:schemeClr val="tx1"/>
            </a:solidFill>
            <a:miter lim="800000"/>
            <a:headEnd type="none" w="sm" len="lg"/>
            <a:tailEnd type="none" w="sm" len="lg"/>
          </a:ln>
        </p:spPr>
        <p:txBody>
          <a:bodyPr wrap="none" anchor="ctr"/>
          <a:lstStyle/>
          <a:p>
            <a:pPr eaLnBrk="0" hangingPunct="0"/>
            <a:endParaRPr lang="zh-CN" altLang="en-US">
              <a:ea typeface="宋体" panose="02010600030101010101" pitchFamily="2" charset="-122"/>
            </a:endParaRPr>
          </a:p>
        </p:txBody>
      </p:sp>
      <p:sp>
        <p:nvSpPr>
          <p:cNvPr id="103589" name="Text Box 169"/>
          <p:cNvSpPr txBox="1">
            <a:spLocks noChangeArrowheads="1"/>
          </p:cNvSpPr>
          <p:nvPr/>
        </p:nvSpPr>
        <p:spPr bwMode="auto">
          <a:xfrm>
            <a:off x="561975" y="5613400"/>
            <a:ext cx="646113" cy="83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90000"/>
              </a:lnSpc>
            </a:pPr>
            <a:r>
              <a:rPr lang="zh-CN" altLang="en-US" b="1">
                <a:solidFill>
                  <a:srgbClr val="FF0000"/>
                </a:solidFill>
                <a:latin typeface="Times New Roman" panose="02020603050405020304" pitchFamily="18" charset="0"/>
                <a:ea typeface="宋体" panose="02010600030101010101" pitchFamily="2" charset="-122"/>
              </a:rPr>
              <a:t>数据</a:t>
            </a:r>
            <a:endParaRPr lang="en-US" altLang="zh-CN" b="1">
              <a:solidFill>
                <a:srgbClr val="FF0000"/>
              </a:solidFill>
              <a:latin typeface="Times New Roman" panose="02020603050405020304" pitchFamily="18" charset="0"/>
              <a:ea typeface="宋体" panose="02010600030101010101" pitchFamily="2" charset="-122"/>
            </a:endParaRPr>
          </a:p>
          <a:p>
            <a:pPr algn="ctr" eaLnBrk="0" hangingPunct="0">
              <a:lnSpc>
                <a:spcPct val="90000"/>
              </a:lnSpc>
            </a:pPr>
            <a:r>
              <a:rPr lang="zh-CN" altLang="en-US" b="1">
                <a:solidFill>
                  <a:srgbClr val="FF0000"/>
                </a:solidFill>
                <a:latin typeface="Times New Roman" panose="02020603050405020304" pitchFamily="18" charset="0"/>
                <a:ea typeface="宋体" panose="02010600030101010101" pitchFamily="2" charset="-122"/>
              </a:rPr>
              <a:t>传送</a:t>
            </a:r>
          </a:p>
          <a:p>
            <a:pPr algn="ctr" eaLnBrk="0" hangingPunct="0">
              <a:lnSpc>
                <a:spcPct val="90000"/>
              </a:lnSpc>
            </a:pPr>
            <a:r>
              <a:rPr lang="zh-CN" altLang="en-US" b="1">
                <a:solidFill>
                  <a:srgbClr val="FF0000"/>
                </a:solidFill>
                <a:latin typeface="Times New Roman" panose="02020603050405020304" pitchFamily="18" charset="0"/>
                <a:ea typeface="宋体" panose="02010600030101010101" pitchFamily="2" charset="-122"/>
              </a:rPr>
              <a:t>特点</a:t>
            </a:r>
          </a:p>
        </p:txBody>
      </p:sp>
      <p:sp>
        <p:nvSpPr>
          <p:cNvPr id="103590" name="Text Box 170"/>
          <p:cNvSpPr txBox="1">
            <a:spLocks noChangeArrowheads="1"/>
          </p:cNvSpPr>
          <p:nvPr/>
        </p:nvSpPr>
        <p:spPr bwMode="auto">
          <a:xfrm>
            <a:off x="1343025" y="5465763"/>
            <a:ext cx="1800225"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b="1">
                <a:solidFill>
                  <a:srgbClr val="FF0000"/>
                </a:solidFill>
                <a:latin typeface="Times New Roman" panose="02020603050405020304" pitchFamily="18" charset="0"/>
                <a:ea typeface="宋体" panose="02010600030101010101" pitchFamily="2" charset="-122"/>
              </a:rPr>
              <a:t>比特流直达终点</a:t>
            </a:r>
          </a:p>
        </p:txBody>
      </p:sp>
      <p:sp>
        <p:nvSpPr>
          <p:cNvPr id="103591" name="Text Box 171"/>
          <p:cNvSpPr txBox="1">
            <a:spLocks noChangeArrowheads="1"/>
          </p:cNvSpPr>
          <p:nvPr/>
        </p:nvSpPr>
        <p:spPr bwMode="auto">
          <a:xfrm>
            <a:off x="4189413" y="5341938"/>
            <a:ext cx="646112"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b="1">
                <a:solidFill>
                  <a:srgbClr val="FF0000"/>
                </a:solidFill>
                <a:latin typeface="Times New Roman" panose="02020603050405020304" pitchFamily="18" charset="0"/>
                <a:ea typeface="宋体" panose="02010600030101010101" pitchFamily="2" charset="-122"/>
              </a:rPr>
              <a:t>报文</a:t>
            </a:r>
          </a:p>
        </p:txBody>
      </p:sp>
      <p:sp>
        <p:nvSpPr>
          <p:cNvPr id="103592" name="Text Box 172"/>
          <p:cNvSpPr txBox="1">
            <a:spLocks noChangeArrowheads="1"/>
          </p:cNvSpPr>
          <p:nvPr/>
        </p:nvSpPr>
        <p:spPr bwMode="auto">
          <a:xfrm>
            <a:off x="4900613" y="5341938"/>
            <a:ext cx="646112"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b="1">
                <a:solidFill>
                  <a:srgbClr val="FF0000"/>
                </a:solidFill>
                <a:latin typeface="Times New Roman" panose="02020603050405020304" pitchFamily="18" charset="0"/>
                <a:ea typeface="宋体" panose="02010600030101010101" pitchFamily="2" charset="-122"/>
              </a:rPr>
              <a:t>报文</a:t>
            </a:r>
          </a:p>
        </p:txBody>
      </p:sp>
      <p:sp>
        <p:nvSpPr>
          <p:cNvPr id="103593" name="Text Box 173"/>
          <p:cNvSpPr txBox="1">
            <a:spLocks noChangeArrowheads="1"/>
          </p:cNvSpPr>
          <p:nvPr/>
        </p:nvSpPr>
        <p:spPr bwMode="auto">
          <a:xfrm>
            <a:off x="5613400" y="5341938"/>
            <a:ext cx="646113"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b="1">
                <a:solidFill>
                  <a:srgbClr val="FF0000"/>
                </a:solidFill>
                <a:latin typeface="Times New Roman" panose="02020603050405020304" pitchFamily="18" charset="0"/>
                <a:ea typeface="宋体" panose="02010600030101010101" pitchFamily="2" charset="-122"/>
              </a:rPr>
              <a:t>报文</a:t>
            </a:r>
          </a:p>
        </p:txBody>
      </p:sp>
      <p:sp>
        <p:nvSpPr>
          <p:cNvPr id="103594" name="Text Box 174"/>
          <p:cNvSpPr txBox="1">
            <a:spLocks noChangeArrowheads="1"/>
          </p:cNvSpPr>
          <p:nvPr/>
        </p:nvSpPr>
        <p:spPr bwMode="auto">
          <a:xfrm>
            <a:off x="7243763" y="5341938"/>
            <a:ext cx="646112"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b="1">
                <a:solidFill>
                  <a:srgbClr val="FF0000"/>
                </a:solidFill>
                <a:latin typeface="Times New Roman" panose="02020603050405020304" pitchFamily="18" charset="0"/>
                <a:ea typeface="宋体" panose="02010600030101010101" pitchFamily="2" charset="-122"/>
              </a:rPr>
              <a:t>分组</a:t>
            </a:r>
          </a:p>
        </p:txBody>
      </p:sp>
      <p:sp>
        <p:nvSpPr>
          <p:cNvPr id="103595" name="Text Box 175"/>
          <p:cNvSpPr txBox="1">
            <a:spLocks noChangeArrowheads="1"/>
          </p:cNvSpPr>
          <p:nvPr/>
        </p:nvSpPr>
        <p:spPr bwMode="auto">
          <a:xfrm>
            <a:off x="7913688" y="5341938"/>
            <a:ext cx="646112"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b="1">
                <a:solidFill>
                  <a:srgbClr val="FF0000"/>
                </a:solidFill>
                <a:latin typeface="Times New Roman" panose="02020603050405020304" pitchFamily="18" charset="0"/>
                <a:ea typeface="宋体" panose="02010600030101010101" pitchFamily="2" charset="-122"/>
              </a:rPr>
              <a:t>分组</a:t>
            </a:r>
          </a:p>
        </p:txBody>
      </p:sp>
      <p:sp>
        <p:nvSpPr>
          <p:cNvPr id="103596" name="Text Box 176"/>
          <p:cNvSpPr txBox="1">
            <a:spLocks noChangeArrowheads="1"/>
          </p:cNvSpPr>
          <p:nvPr/>
        </p:nvSpPr>
        <p:spPr bwMode="auto">
          <a:xfrm>
            <a:off x="8585200" y="5341938"/>
            <a:ext cx="646113"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b="1">
                <a:solidFill>
                  <a:srgbClr val="FF0000"/>
                </a:solidFill>
                <a:latin typeface="Times New Roman" panose="02020603050405020304" pitchFamily="18" charset="0"/>
                <a:ea typeface="宋体" panose="02010600030101010101" pitchFamily="2" charset="-122"/>
              </a:rPr>
              <a:t>分组</a:t>
            </a:r>
          </a:p>
        </p:txBody>
      </p:sp>
      <p:sp>
        <p:nvSpPr>
          <p:cNvPr id="103597" name="Text Box 177"/>
          <p:cNvSpPr txBox="1">
            <a:spLocks noChangeArrowheads="1"/>
          </p:cNvSpPr>
          <p:nvPr/>
        </p:nvSpPr>
        <p:spPr bwMode="auto">
          <a:xfrm>
            <a:off x="4568825" y="6280150"/>
            <a:ext cx="595313"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sz="1600" b="1">
                <a:latin typeface="Times New Roman" panose="02020603050405020304" pitchFamily="18" charset="0"/>
                <a:ea typeface="宋体" panose="02010600030101010101" pitchFamily="2" charset="-122"/>
              </a:rPr>
              <a:t>存储</a:t>
            </a:r>
          </a:p>
          <a:p>
            <a:pPr eaLnBrk="0" hangingPunct="0">
              <a:lnSpc>
                <a:spcPct val="90000"/>
              </a:lnSpc>
            </a:pPr>
            <a:r>
              <a:rPr lang="zh-CN" altLang="en-US" sz="1600" b="1">
                <a:latin typeface="Times New Roman" panose="02020603050405020304" pitchFamily="18" charset="0"/>
                <a:ea typeface="宋体" panose="02010600030101010101" pitchFamily="2" charset="-122"/>
              </a:rPr>
              <a:t>转发</a:t>
            </a:r>
          </a:p>
        </p:txBody>
      </p:sp>
      <p:sp>
        <p:nvSpPr>
          <p:cNvPr id="103598" name="Text Box 178"/>
          <p:cNvSpPr txBox="1">
            <a:spLocks noChangeArrowheads="1"/>
          </p:cNvSpPr>
          <p:nvPr/>
        </p:nvSpPr>
        <p:spPr bwMode="auto">
          <a:xfrm>
            <a:off x="5200650" y="6280150"/>
            <a:ext cx="595313"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sz="1600" b="1">
                <a:latin typeface="Times New Roman" panose="02020603050405020304" pitchFamily="18" charset="0"/>
                <a:ea typeface="宋体" panose="02010600030101010101" pitchFamily="2" charset="-122"/>
              </a:rPr>
              <a:t>存储</a:t>
            </a:r>
          </a:p>
          <a:p>
            <a:pPr eaLnBrk="0" hangingPunct="0">
              <a:lnSpc>
                <a:spcPct val="90000"/>
              </a:lnSpc>
            </a:pPr>
            <a:r>
              <a:rPr lang="zh-CN" altLang="en-US" sz="1600" b="1">
                <a:latin typeface="Times New Roman" panose="02020603050405020304" pitchFamily="18" charset="0"/>
                <a:ea typeface="宋体" panose="02010600030101010101" pitchFamily="2" charset="-122"/>
              </a:rPr>
              <a:t>转发</a:t>
            </a:r>
          </a:p>
        </p:txBody>
      </p:sp>
      <p:sp>
        <p:nvSpPr>
          <p:cNvPr id="103599" name="Text Box 179"/>
          <p:cNvSpPr txBox="1">
            <a:spLocks noChangeArrowheads="1"/>
          </p:cNvSpPr>
          <p:nvPr/>
        </p:nvSpPr>
        <p:spPr bwMode="auto">
          <a:xfrm>
            <a:off x="7642225" y="6267450"/>
            <a:ext cx="595313"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sz="1600" b="1">
                <a:latin typeface="Times New Roman" panose="02020603050405020304" pitchFamily="18" charset="0"/>
                <a:ea typeface="宋体" panose="02010600030101010101" pitchFamily="2" charset="-122"/>
              </a:rPr>
              <a:t>存储</a:t>
            </a:r>
          </a:p>
          <a:p>
            <a:pPr eaLnBrk="0" hangingPunct="0">
              <a:lnSpc>
                <a:spcPct val="90000"/>
              </a:lnSpc>
            </a:pPr>
            <a:r>
              <a:rPr lang="zh-CN" altLang="en-US" sz="1600" b="1">
                <a:latin typeface="Times New Roman" panose="02020603050405020304" pitchFamily="18" charset="0"/>
                <a:ea typeface="宋体" panose="02010600030101010101" pitchFamily="2" charset="-122"/>
              </a:rPr>
              <a:t>转发</a:t>
            </a:r>
          </a:p>
        </p:txBody>
      </p:sp>
      <p:sp>
        <p:nvSpPr>
          <p:cNvPr id="103600" name="Text Box 180"/>
          <p:cNvSpPr txBox="1">
            <a:spLocks noChangeArrowheads="1"/>
          </p:cNvSpPr>
          <p:nvPr/>
        </p:nvSpPr>
        <p:spPr bwMode="auto">
          <a:xfrm>
            <a:off x="8255000" y="6280150"/>
            <a:ext cx="595313"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sz="1600" b="1">
                <a:latin typeface="Times New Roman" panose="02020603050405020304" pitchFamily="18" charset="0"/>
                <a:ea typeface="宋体" panose="02010600030101010101" pitchFamily="2" charset="-122"/>
              </a:rPr>
              <a:t>存储</a:t>
            </a:r>
          </a:p>
          <a:p>
            <a:pPr eaLnBrk="0" hangingPunct="0">
              <a:lnSpc>
                <a:spcPct val="90000"/>
              </a:lnSpc>
            </a:pPr>
            <a:r>
              <a:rPr lang="zh-CN" altLang="en-US" sz="1600" b="1">
                <a:latin typeface="Times New Roman" panose="02020603050405020304" pitchFamily="18" charset="0"/>
                <a:ea typeface="宋体" panose="02010600030101010101" pitchFamily="2" charset="-122"/>
              </a:rPr>
              <a:t>转发</a:t>
            </a:r>
          </a:p>
        </p:txBody>
      </p:sp>
      <p:sp>
        <p:nvSpPr>
          <p:cNvPr id="103601" name="灯片编号占位符 3"/>
          <p:cNvSpPr>
            <a:spLocks noGrp="1" noChangeArrowheads="1"/>
          </p:cNvSpPr>
          <p:nvPr>
            <p:ph type="sldNum" sz="quarter" idx="4294967295"/>
          </p:nvPr>
        </p:nvSpPr>
        <p:spPr>
          <a:xfrm>
            <a:off x="7099300" y="6356350"/>
            <a:ext cx="23114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8369EFE2-04EF-4C52-A7C7-E95A48B13DDC}" type="slidenum">
              <a:rPr lang="zh-CN" altLang="en-US" smtClean="0"/>
              <a:pPr/>
              <a:t>61</a:t>
            </a:fld>
            <a:endParaRPr lang="en-US" altLang="zh-CN" smtClean="0"/>
          </a:p>
        </p:txBody>
      </p:sp>
      <p:sp>
        <p:nvSpPr>
          <p:cNvPr id="103602" name="页脚占位符 4"/>
          <p:cNvSpPr>
            <a:spLocks noGrp="1" noChangeArrowheads="1"/>
          </p:cNvSpPr>
          <p:nvPr>
            <p:ph type="ftr" sz="quarter" idx="4294967295"/>
          </p:nvPr>
        </p:nvSpPr>
        <p:spPr>
          <a:xfrm>
            <a:off x="3384550" y="6356350"/>
            <a:ext cx="31369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4746"/>
                                        </p:tgtEl>
                                        <p:attrNameLst>
                                          <p:attrName>style.visibility</p:attrName>
                                        </p:attrNameLst>
                                      </p:cBhvr>
                                      <p:to>
                                        <p:strVal val="visible"/>
                                      </p:to>
                                    </p:set>
                                  </p:childTnLst>
                                </p:cTn>
                              </p:par>
                            </p:childTnLst>
                          </p:cTn>
                        </p:par>
                        <p:par>
                          <p:cTn id="7" fill="hold" nodeType="afterGroup">
                            <p:stCondLst>
                              <p:cond delay="1"/>
                            </p:stCondLst>
                            <p:childTnLst>
                              <p:par>
                                <p:cTn id="8" presetID="22" presetClass="entr" presetSubtype="8" fill="hold" grpId="0" nodeType="afterEffect">
                                  <p:stCondLst>
                                    <p:cond delay="0"/>
                                  </p:stCondLst>
                                  <p:childTnLst>
                                    <p:set>
                                      <p:cBhvr>
                                        <p:cTn id="9" dur="1" fill="hold">
                                          <p:stCondLst>
                                            <p:cond delay="0"/>
                                          </p:stCondLst>
                                        </p:cTn>
                                        <p:tgtEl>
                                          <p:spTgt spid="154703"/>
                                        </p:tgtEl>
                                        <p:attrNameLst>
                                          <p:attrName>style.visibility</p:attrName>
                                        </p:attrNameLst>
                                      </p:cBhvr>
                                      <p:to>
                                        <p:strVal val="visible"/>
                                      </p:to>
                                    </p:set>
                                    <p:animEffect transition="in" filter="wipe(left)">
                                      <p:cBhvr>
                                        <p:cTn id="10" dur="500"/>
                                        <p:tgtEl>
                                          <p:spTgt spid="154703"/>
                                        </p:tgtEl>
                                      </p:cBhvr>
                                    </p:animEffect>
                                  </p:childTnLst>
                                </p:cTn>
                              </p:par>
                            </p:childTnLst>
                          </p:cTn>
                        </p:par>
                        <p:par>
                          <p:cTn id="11" fill="hold" nodeType="afterGroup">
                            <p:stCondLst>
                              <p:cond delay="501"/>
                            </p:stCondLst>
                            <p:childTnLst>
                              <p:par>
                                <p:cTn id="12" presetID="22" presetClass="entr" presetSubtype="8" fill="hold" grpId="0" nodeType="afterEffect">
                                  <p:stCondLst>
                                    <p:cond delay="0"/>
                                  </p:stCondLst>
                                  <p:childTnLst>
                                    <p:set>
                                      <p:cBhvr>
                                        <p:cTn id="13" dur="1" fill="hold">
                                          <p:stCondLst>
                                            <p:cond delay="0"/>
                                          </p:stCondLst>
                                        </p:cTn>
                                        <p:tgtEl>
                                          <p:spTgt spid="154704"/>
                                        </p:tgtEl>
                                        <p:attrNameLst>
                                          <p:attrName>style.visibility</p:attrName>
                                        </p:attrNameLst>
                                      </p:cBhvr>
                                      <p:to>
                                        <p:strVal val="visible"/>
                                      </p:to>
                                    </p:set>
                                    <p:animEffect transition="in" filter="wipe(left)">
                                      <p:cBhvr>
                                        <p:cTn id="14" dur="500"/>
                                        <p:tgtEl>
                                          <p:spTgt spid="154704"/>
                                        </p:tgtEl>
                                      </p:cBhvr>
                                    </p:animEffect>
                                  </p:childTnLst>
                                </p:cTn>
                              </p:par>
                            </p:childTnLst>
                          </p:cTn>
                        </p:par>
                        <p:par>
                          <p:cTn id="15" fill="hold" nodeType="afterGroup">
                            <p:stCondLst>
                              <p:cond delay="1001"/>
                            </p:stCondLst>
                            <p:childTnLst>
                              <p:par>
                                <p:cTn id="16" presetID="22" presetClass="entr" presetSubtype="8" fill="hold" grpId="0" nodeType="afterEffect">
                                  <p:stCondLst>
                                    <p:cond delay="0"/>
                                  </p:stCondLst>
                                  <p:childTnLst>
                                    <p:set>
                                      <p:cBhvr>
                                        <p:cTn id="17" dur="1" fill="hold">
                                          <p:stCondLst>
                                            <p:cond delay="0"/>
                                          </p:stCondLst>
                                        </p:cTn>
                                        <p:tgtEl>
                                          <p:spTgt spid="154705"/>
                                        </p:tgtEl>
                                        <p:attrNameLst>
                                          <p:attrName>style.visibility</p:attrName>
                                        </p:attrNameLst>
                                      </p:cBhvr>
                                      <p:to>
                                        <p:strVal val="visible"/>
                                      </p:to>
                                    </p:set>
                                    <p:animEffect transition="in" filter="wipe(left)">
                                      <p:cBhvr>
                                        <p:cTn id="18" dur="500"/>
                                        <p:tgtEl>
                                          <p:spTgt spid="154705"/>
                                        </p:tgtEl>
                                      </p:cBhvr>
                                    </p:animEffect>
                                  </p:childTnLst>
                                </p:cTn>
                              </p:par>
                            </p:childTnLst>
                          </p:cTn>
                        </p:par>
                        <p:par>
                          <p:cTn id="19" fill="hold" nodeType="afterGroup">
                            <p:stCondLst>
                              <p:cond delay="1501"/>
                            </p:stCondLst>
                            <p:childTnLst>
                              <p:par>
                                <p:cTn id="20" presetID="22" presetClass="entr" presetSubtype="2" fill="hold" grpId="0" nodeType="afterEffect">
                                  <p:stCondLst>
                                    <p:cond delay="0"/>
                                  </p:stCondLst>
                                  <p:childTnLst>
                                    <p:set>
                                      <p:cBhvr>
                                        <p:cTn id="21" dur="1" fill="hold">
                                          <p:stCondLst>
                                            <p:cond delay="0"/>
                                          </p:stCondLst>
                                        </p:cTn>
                                        <p:tgtEl>
                                          <p:spTgt spid="154706"/>
                                        </p:tgtEl>
                                        <p:attrNameLst>
                                          <p:attrName>style.visibility</p:attrName>
                                        </p:attrNameLst>
                                      </p:cBhvr>
                                      <p:to>
                                        <p:strVal val="visible"/>
                                      </p:to>
                                    </p:set>
                                    <p:animEffect transition="in" filter="wipe(right)">
                                      <p:cBhvr>
                                        <p:cTn id="22" dur="500"/>
                                        <p:tgtEl>
                                          <p:spTgt spid="154706"/>
                                        </p:tgtEl>
                                      </p:cBhvr>
                                    </p:animEffect>
                                  </p:childTnLst>
                                </p:cTn>
                              </p:par>
                            </p:childTnLst>
                          </p:cTn>
                        </p:par>
                        <p:par>
                          <p:cTn id="23" fill="hold" nodeType="afterGroup">
                            <p:stCondLst>
                              <p:cond delay="2001"/>
                            </p:stCondLst>
                            <p:childTnLst>
                              <p:par>
                                <p:cTn id="24" presetID="1" presetClass="entr" presetSubtype="0" fill="hold" nodeType="afterEffect">
                                  <p:stCondLst>
                                    <p:cond delay="500"/>
                                  </p:stCondLst>
                                  <p:childTnLst>
                                    <p:set>
                                      <p:cBhvr>
                                        <p:cTn id="25" dur="1" fill="hold">
                                          <p:stCondLst>
                                            <p:cond delay="0"/>
                                          </p:stCondLst>
                                        </p:cTn>
                                        <p:tgtEl>
                                          <p:spTgt spid="154747"/>
                                        </p:tgtEl>
                                        <p:attrNameLst>
                                          <p:attrName>style.visibility</p:attrName>
                                        </p:attrNameLst>
                                      </p:cBhvr>
                                      <p:to>
                                        <p:strVal val="visible"/>
                                      </p:to>
                                    </p:set>
                                  </p:childTnLst>
                                </p:cTn>
                              </p:par>
                            </p:childTnLst>
                          </p:cTn>
                        </p:par>
                        <p:par>
                          <p:cTn id="26" fill="hold" nodeType="afterGroup">
                            <p:stCondLst>
                              <p:cond delay="2502"/>
                            </p:stCondLst>
                            <p:childTnLst>
                              <p:par>
                                <p:cTn id="27" presetID="22" presetClass="entr" presetSubtype="8" fill="hold" nodeType="afterEffect">
                                  <p:stCondLst>
                                    <p:cond delay="0"/>
                                  </p:stCondLst>
                                  <p:childTnLst>
                                    <p:set>
                                      <p:cBhvr>
                                        <p:cTn id="28" dur="1" fill="hold">
                                          <p:stCondLst>
                                            <p:cond delay="0"/>
                                          </p:stCondLst>
                                        </p:cTn>
                                        <p:tgtEl>
                                          <p:spTgt spid="154749"/>
                                        </p:tgtEl>
                                        <p:attrNameLst>
                                          <p:attrName>style.visibility</p:attrName>
                                        </p:attrNameLst>
                                      </p:cBhvr>
                                      <p:to>
                                        <p:strVal val="visible"/>
                                      </p:to>
                                    </p:set>
                                    <p:animEffect transition="in" filter="wipe(left)">
                                      <p:cBhvr>
                                        <p:cTn id="29" dur="500"/>
                                        <p:tgtEl>
                                          <p:spTgt spid="154749"/>
                                        </p:tgtEl>
                                      </p:cBhvr>
                                    </p:animEffect>
                                  </p:childTnLst>
                                </p:cTn>
                              </p:par>
                            </p:childTnLst>
                          </p:cTn>
                        </p:par>
                        <p:par>
                          <p:cTn id="30" fill="hold" nodeType="afterGroup">
                            <p:stCondLst>
                              <p:cond delay="3002"/>
                            </p:stCondLst>
                            <p:childTnLst>
                              <p:par>
                                <p:cTn id="31" presetID="1" presetClass="entr" presetSubtype="0" fill="hold" nodeType="afterEffect">
                                  <p:stCondLst>
                                    <p:cond delay="500"/>
                                  </p:stCondLst>
                                  <p:childTnLst>
                                    <p:set>
                                      <p:cBhvr>
                                        <p:cTn id="32" dur="1" fill="hold">
                                          <p:stCondLst>
                                            <p:cond delay="0"/>
                                          </p:stCondLst>
                                        </p:cTn>
                                        <p:tgtEl>
                                          <p:spTgt spid="154748"/>
                                        </p:tgtEl>
                                        <p:attrNameLst>
                                          <p:attrName>style.visibility</p:attrName>
                                        </p:attrNameLst>
                                      </p:cBhvr>
                                      <p:to>
                                        <p:strVal val="visible"/>
                                      </p:to>
                                    </p:set>
                                  </p:childTnLst>
                                </p:cTn>
                              </p:par>
                            </p:childTnLst>
                          </p:cTn>
                        </p:par>
                        <p:par>
                          <p:cTn id="33" fill="hold" nodeType="afterGroup">
                            <p:stCondLst>
                              <p:cond delay="3503"/>
                            </p:stCondLst>
                            <p:childTnLst>
                              <p:par>
                                <p:cTn id="34" presetID="22" presetClass="entr" presetSubtype="8" fill="hold" grpId="0" nodeType="afterEffect">
                                  <p:stCondLst>
                                    <p:cond delay="0"/>
                                  </p:stCondLst>
                                  <p:childTnLst>
                                    <p:set>
                                      <p:cBhvr>
                                        <p:cTn id="35" dur="1" fill="hold">
                                          <p:stCondLst>
                                            <p:cond delay="0"/>
                                          </p:stCondLst>
                                        </p:cTn>
                                        <p:tgtEl>
                                          <p:spTgt spid="154740"/>
                                        </p:tgtEl>
                                        <p:attrNameLst>
                                          <p:attrName>style.visibility</p:attrName>
                                        </p:attrNameLst>
                                      </p:cBhvr>
                                      <p:to>
                                        <p:strVal val="visible"/>
                                      </p:to>
                                    </p:set>
                                    <p:animEffect transition="in" filter="wipe(left)">
                                      <p:cBhvr>
                                        <p:cTn id="36" dur="500"/>
                                        <p:tgtEl>
                                          <p:spTgt spid="154740"/>
                                        </p:tgtEl>
                                      </p:cBhvr>
                                    </p:animEffect>
                                  </p:childTnLst>
                                </p:cTn>
                              </p:par>
                            </p:childTnLst>
                          </p:cTn>
                        </p:par>
                        <p:par>
                          <p:cTn id="37" fill="hold" nodeType="afterGroup">
                            <p:stCondLst>
                              <p:cond delay="4003"/>
                            </p:stCondLst>
                            <p:childTnLst>
                              <p:par>
                                <p:cTn id="38" presetID="22" presetClass="entr" presetSubtype="8" fill="hold" grpId="0" nodeType="afterEffect">
                                  <p:stCondLst>
                                    <p:cond delay="0"/>
                                  </p:stCondLst>
                                  <p:childTnLst>
                                    <p:set>
                                      <p:cBhvr>
                                        <p:cTn id="39" dur="1" fill="hold">
                                          <p:stCondLst>
                                            <p:cond delay="0"/>
                                          </p:stCondLst>
                                        </p:cTn>
                                        <p:tgtEl>
                                          <p:spTgt spid="154741"/>
                                        </p:tgtEl>
                                        <p:attrNameLst>
                                          <p:attrName>style.visibility</p:attrName>
                                        </p:attrNameLst>
                                      </p:cBhvr>
                                      <p:to>
                                        <p:strVal val="visible"/>
                                      </p:to>
                                    </p:set>
                                    <p:animEffect transition="in" filter="wipe(left)">
                                      <p:cBhvr>
                                        <p:cTn id="40" dur="500"/>
                                        <p:tgtEl>
                                          <p:spTgt spid="154741"/>
                                        </p:tgtEl>
                                      </p:cBhvr>
                                    </p:animEffect>
                                  </p:childTnLst>
                                </p:cTn>
                              </p:par>
                            </p:childTnLst>
                          </p:cTn>
                        </p:par>
                        <p:par>
                          <p:cTn id="41" fill="hold" nodeType="afterGroup">
                            <p:stCondLst>
                              <p:cond delay="4503"/>
                            </p:stCondLst>
                            <p:childTnLst>
                              <p:par>
                                <p:cTn id="42" presetID="22" presetClass="entr" presetSubtype="8" fill="hold" grpId="0" nodeType="afterEffect">
                                  <p:stCondLst>
                                    <p:cond delay="0"/>
                                  </p:stCondLst>
                                  <p:childTnLst>
                                    <p:set>
                                      <p:cBhvr>
                                        <p:cTn id="43" dur="1" fill="hold">
                                          <p:stCondLst>
                                            <p:cond delay="0"/>
                                          </p:stCondLst>
                                        </p:cTn>
                                        <p:tgtEl>
                                          <p:spTgt spid="154742"/>
                                        </p:tgtEl>
                                        <p:attrNameLst>
                                          <p:attrName>style.visibility</p:attrName>
                                        </p:attrNameLst>
                                      </p:cBhvr>
                                      <p:to>
                                        <p:strVal val="visible"/>
                                      </p:to>
                                    </p:set>
                                    <p:animEffect transition="in" filter="wipe(left)">
                                      <p:cBhvr>
                                        <p:cTn id="44" dur="500"/>
                                        <p:tgtEl>
                                          <p:spTgt spid="154742"/>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54711"/>
                                        </p:tgtEl>
                                        <p:attrNameLst>
                                          <p:attrName>style.visibility</p:attrName>
                                        </p:attrNameLst>
                                      </p:cBhvr>
                                      <p:to>
                                        <p:strVal val="visible"/>
                                      </p:to>
                                    </p:set>
                                  </p:childTnLst>
                                </p:cTn>
                              </p:par>
                            </p:childTnLst>
                          </p:cTn>
                        </p:par>
                        <p:par>
                          <p:cTn id="49" fill="hold" nodeType="afterGroup">
                            <p:stCondLst>
                              <p:cond delay="1"/>
                            </p:stCondLst>
                            <p:childTnLst>
                              <p:par>
                                <p:cTn id="50" presetID="22" presetClass="entr" presetSubtype="8" fill="hold" nodeType="afterEffect">
                                  <p:stCondLst>
                                    <p:cond delay="0"/>
                                  </p:stCondLst>
                                  <p:childTnLst>
                                    <p:set>
                                      <p:cBhvr>
                                        <p:cTn id="51" dur="1" fill="hold">
                                          <p:stCondLst>
                                            <p:cond delay="0"/>
                                          </p:stCondLst>
                                        </p:cTn>
                                        <p:tgtEl>
                                          <p:spTgt spid="154750"/>
                                        </p:tgtEl>
                                        <p:attrNameLst>
                                          <p:attrName>style.visibility</p:attrName>
                                        </p:attrNameLst>
                                      </p:cBhvr>
                                      <p:to>
                                        <p:strVal val="visible"/>
                                      </p:to>
                                    </p:set>
                                    <p:animEffect transition="in" filter="wipe(left)">
                                      <p:cBhvr>
                                        <p:cTn id="52" dur="2000"/>
                                        <p:tgtEl>
                                          <p:spTgt spid="154750"/>
                                        </p:tgtEl>
                                      </p:cBhvr>
                                    </p:animEffect>
                                  </p:childTnLst>
                                </p:cTn>
                              </p:par>
                            </p:childTnLst>
                          </p:cTn>
                        </p:par>
                        <p:par>
                          <p:cTn id="53" fill="hold" nodeType="afterGroup">
                            <p:stCondLst>
                              <p:cond delay="2001"/>
                            </p:stCondLst>
                            <p:childTnLst>
                              <p:par>
                                <p:cTn id="54" presetID="22" presetClass="entr" presetSubtype="8" fill="hold" nodeType="afterEffect">
                                  <p:stCondLst>
                                    <p:cond delay="1000"/>
                                  </p:stCondLst>
                                  <p:childTnLst>
                                    <p:set>
                                      <p:cBhvr>
                                        <p:cTn id="55" dur="1" fill="hold">
                                          <p:stCondLst>
                                            <p:cond delay="0"/>
                                          </p:stCondLst>
                                        </p:cTn>
                                        <p:tgtEl>
                                          <p:spTgt spid="154751"/>
                                        </p:tgtEl>
                                        <p:attrNameLst>
                                          <p:attrName>style.visibility</p:attrName>
                                        </p:attrNameLst>
                                      </p:cBhvr>
                                      <p:to>
                                        <p:strVal val="visible"/>
                                      </p:to>
                                    </p:set>
                                    <p:animEffect transition="in" filter="wipe(left)">
                                      <p:cBhvr>
                                        <p:cTn id="56" dur="2000"/>
                                        <p:tgtEl>
                                          <p:spTgt spid="154751"/>
                                        </p:tgtEl>
                                      </p:cBhvr>
                                    </p:animEffect>
                                  </p:childTnLst>
                                </p:cTn>
                              </p:par>
                            </p:childTnLst>
                          </p:cTn>
                        </p:par>
                        <p:par>
                          <p:cTn id="57" fill="hold" nodeType="afterGroup">
                            <p:stCondLst>
                              <p:cond delay="5001"/>
                            </p:stCondLst>
                            <p:childTnLst>
                              <p:par>
                                <p:cTn id="58" presetID="22" presetClass="entr" presetSubtype="8" fill="hold" nodeType="afterEffect">
                                  <p:stCondLst>
                                    <p:cond delay="1000"/>
                                  </p:stCondLst>
                                  <p:childTnLst>
                                    <p:set>
                                      <p:cBhvr>
                                        <p:cTn id="59" dur="1" fill="hold">
                                          <p:stCondLst>
                                            <p:cond delay="0"/>
                                          </p:stCondLst>
                                        </p:cTn>
                                        <p:tgtEl>
                                          <p:spTgt spid="154752"/>
                                        </p:tgtEl>
                                        <p:attrNameLst>
                                          <p:attrName>style.visibility</p:attrName>
                                        </p:attrNameLst>
                                      </p:cBhvr>
                                      <p:to>
                                        <p:strVal val="visible"/>
                                      </p:to>
                                    </p:set>
                                    <p:animEffect transition="in" filter="wipe(left)">
                                      <p:cBhvr>
                                        <p:cTn id="60" dur="2000"/>
                                        <p:tgtEl>
                                          <p:spTgt spid="154752"/>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54713"/>
                                        </p:tgtEl>
                                        <p:attrNameLst>
                                          <p:attrName>style.visibility</p:attrName>
                                        </p:attrNameLst>
                                      </p:cBhvr>
                                      <p:to>
                                        <p:strVal val="visible"/>
                                      </p:to>
                                    </p:set>
                                  </p:childTnLst>
                                </p:cTn>
                              </p:par>
                            </p:childTnLst>
                          </p:cTn>
                        </p:par>
                        <p:par>
                          <p:cTn id="65" fill="hold" nodeType="afterGroup">
                            <p:stCondLst>
                              <p:cond delay="1"/>
                            </p:stCondLst>
                            <p:childTnLst>
                              <p:par>
                                <p:cTn id="66" presetID="22" presetClass="entr" presetSubtype="8" fill="hold" nodeType="afterEffect">
                                  <p:stCondLst>
                                    <p:cond delay="0"/>
                                  </p:stCondLst>
                                  <p:childTnLst>
                                    <p:set>
                                      <p:cBhvr>
                                        <p:cTn id="67" dur="1" fill="hold">
                                          <p:stCondLst>
                                            <p:cond delay="0"/>
                                          </p:stCondLst>
                                        </p:cTn>
                                        <p:tgtEl>
                                          <p:spTgt spid="154754"/>
                                        </p:tgtEl>
                                        <p:attrNameLst>
                                          <p:attrName>style.visibility</p:attrName>
                                        </p:attrNameLst>
                                      </p:cBhvr>
                                      <p:to>
                                        <p:strVal val="visible"/>
                                      </p:to>
                                    </p:set>
                                    <p:animEffect transition="in" filter="wipe(left)">
                                      <p:cBhvr>
                                        <p:cTn id="68" dur="500"/>
                                        <p:tgtEl>
                                          <p:spTgt spid="154754"/>
                                        </p:tgtEl>
                                      </p:cBhvr>
                                    </p:animEffect>
                                  </p:childTnLst>
                                </p:cTn>
                              </p:par>
                            </p:childTnLst>
                          </p:cTn>
                        </p:par>
                        <p:par>
                          <p:cTn id="69" fill="hold" nodeType="afterGroup">
                            <p:stCondLst>
                              <p:cond delay="501"/>
                            </p:stCondLst>
                            <p:childTnLst>
                              <p:par>
                                <p:cTn id="70" presetID="22" presetClass="entr" presetSubtype="8" fill="hold" nodeType="afterEffect">
                                  <p:stCondLst>
                                    <p:cond delay="0"/>
                                  </p:stCondLst>
                                  <p:childTnLst>
                                    <p:set>
                                      <p:cBhvr>
                                        <p:cTn id="71" dur="1" fill="hold">
                                          <p:stCondLst>
                                            <p:cond delay="0"/>
                                          </p:stCondLst>
                                        </p:cTn>
                                        <p:tgtEl>
                                          <p:spTgt spid="154755"/>
                                        </p:tgtEl>
                                        <p:attrNameLst>
                                          <p:attrName>style.visibility</p:attrName>
                                        </p:attrNameLst>
                                      </p:cBhvr>
                                      <p:to>
                                        <p:strVal val="visible"/>
                                      </p:to>
                                    </p:set>
                                    <p:animEffect transition="in" filter="wipe(left)">
                                      <p:cBhvr>
                                        <p:cTn id="72" dur="500"/>
                                        <p:tgtEl>
                                          <p:spTgt spid="154755"/>
                                        </p:tgtEl>
                                      </p:cBhvr>
                                    </p:animEffect>
                                  </p:childTnLst>
                                </p:cTn>
                              </p:par>
                              <p:par>
                                <p:cTn id="73" presetID="22" presetClass="entr" presetSubtype="8" fill="hold" nodeType="withEffect">
                                  <p:stCondLst>
                                    <p:cond delay="0"/>
                                  </p:stCondLst>
                                  <p:childTnLst>
                                    <p:set>
                                      <p:cBhvr>
                                        <p:cTn id="74" dur="1" fill="hold">
                                          <p:stCondLst>
                                            <p:cond delay="0"/>
                                          </p:stCondLst>
                                        </p:cTn>
                                        <p:tgtEl>
                                          <p:spTgt spid="154758"/>
                                        </p:tgtEl>
                                        <p:attrNameLst>
                                          <p:attrName>style.visibility</p:attrName>
                                        </p:attrNameLst>
                                      </p:cBhvr>
                                      <p:to>
                                        <p:strVal val="visible"/>
                                      </p:to>
                                    </p:set>
                                    <p:animEffect transition="in" filter="wipe(left)">
                                      <p:cBhvr>
                                        <p:cTn id="75" dur="500"/>
                                        <p:tgtEl>
                                          <p:spTgt spid="154758"/>
                                        </p:tgtEl>
                                      </p:cBhvr>
                                    </p:animEffect>
                                  </p:childTnLst>
                                </p:cTn>
                              </p:par>
                            </p:childTnLst>
                          </p:cTn>
                        </p:par>
                        <p:par>
                          <p:cTn id="76" fill="hold" nodeType="afterGroup">
                            <p:stCondLst>
                              <p:cond delay="1001"/>
                            </p:stCondLst>
                            <p:childTnLst>
                              <p:par>
                                <p:cTn id="77" presetID="22" presetClass="entr" presetSubtype="8" fill="hold" nodeType="afterEffect">
                                  <p:stCondLst>
                                    <p:cond delay="0"/>
                                  </p:stCondLst>
                                  <p:childTnLst>
                                    <p:set>
                                      <p:cBhvr>
                                        <p:cTn id="78" dur="1" fill="hold">
                                          <p:stCondLst>
                                            <p:cond delay="0"/>
                                          </p:stCondLst>
                                        </p:cTn>
                                        <p:tgtEl>
                                          <p:spTgt spid="154756"/>
                                        </p:tgtEl>
                                        <p:attrNameLst>
                                          <p:attrName>style.visibility</p:attrName>
                                        </p:attrNameLst>
                                      </p:cBhvr>
                                      <p:to>
                                        <p:strVal val="visible"/>
                                      </p:to>
                                    </p:set>
                                    <p:animEffect transition="in" filter="wipe(left)">
                                      <p:cBhvr>
                                        <p:cTn id="79" dur="500"/>
                                        <p:tgtEl>
                                          <p:spTgt spid="154756"/>
                                        </p:tgtEl>
                                      </p:cBhvr>
                                    </p:animEffect>
                                  </p:childTnLst>
                                </p:cTn>
                              </p:par>
                              <p:par>
                                <p:cTn id="80" presetID="22" presetClass="entr" presetSubtype="8" fill="hold" nodeType="withEffect">
                                  <p:stCondLst>
                                    <p:cond delay="0"/>
                                  </p:stCondLst>
                                  <p:childTnLst>
                                    <p:set>
                                      <p:cBhvr>
                                        <p:cTn id="81" dur="1" fill="hold">
                                          <p:stCondLst>
                                            <p:cond delay="0"/>
                                          </p:stCondLst>
                                        </p:cTn>
                                        <p:tgtEl>
                                          <p:spTgt spid="154759"/>
                                        </p:tgtEl>
                                        <p:attrNameLst>
                                          <p:attrName>style.visibility</p:attrName>
                                        </p:attrNameLst>
                                      </p:cBhvr>
                                      <p:to>
                                        <p:strVal val="visible"/>
                                      </p:to>
                                    </p:set>
                                    <p:animEffect transition="in" filter="wipe(left)">
                                      <p:cBhvr>
                                        <p:cTn id="82" dur="500"/>
                                        <p:tgtEl>
                                          <p:spTgt spid="154759"/>
                                        </p:tgtEl>
                                      </p:cBhvr>
                                    </p:animEffect>
                                  </p:childTnLst>
                                </p:cTn>
                              </p:par>
                              <p:par>
                                <p:cTn id="83" presetID="22" presetClass="entr" presetSubtype="8" fill="hold" nodeType="withEffect">
                                  <p:stCondLst>
                                    <p:cond delay="0"/>
                                  </p:stCondLst>
                                  <p:childTnLst>
                                    <p:set>
                                      <p:cBhvr>
                                        <p:cTn id="84" dur="1" fill="hold">
                                          <p:stCondLst>
                                            <p:cond delay="0"/>
                                          </p:stCondLst>
                                        </p:cTn>
                                        <p:tgtEl>
                                          <p:spTgt spid="154763"/>
                                        </p:tgtEl>
                                        <p:attrNameLst>
                                          <p:attrName>style.visibility</p:attrName>
                                        </p:attrNameLst>
                                      </p:cBhvr>
                                      <p:to>
                                        <p:strVal val="visible"/>
                                      </p:to>
                                    </p:set>
                                    <p:animEffect transition="in" filter="wipe(left)">
                                      <p:cBhvr>
                                        <p:cTn id="85" dur="500"/>
                                        <p:tgtEl>
                                          <p:spTgt spid="154763"/>
                                        </p:tgtEl>
                                      </p:cBhvr>
                                    </p:animEffect>
                                  </p:childTnLst>
                                </p:cTn>
                              </p:par>
                            </p:childTnLst>
                          </p:cTn>
                        </p:par>
                        <p:par>
                          <p:cTn id="86" fill="hold" nodeType="afterGroup">
                            <p:stCondLst>
                              <p:cond delay="1501"/>
                            </p:stCondLst>
                            <p:childTnLst>
                              <p:par>
                                <p:cTn id="87" presetID="22" presetClass="entr" presetSubtype="8" fill="hold" nodeType="afterEffect">
                                  <p:stCondLst>
                                    <p:cond delay="0"/>
                                  </p:stCondLst>
                                  <p:childTnLst>
                                    <p:set>
                                      <p:cBhvr>
                                        <p:cTn id="88" dur="1" fill="hold">
                                          <p:stCondLst>
                                            <p:cond delay="0"/>
                                          </p:stCondLst>
                                        </p:cTn>
                                        <p:tgtEl>
                                          <p:spTgt spid="154764"/>
                                        </p:tgtEl>
                                        <p:attrNameLst>
                                          <p:attrName>style.visibility</p:attrName>
                                        </p:attrNameLst>
                                      </p:cBhvr>
                                      <p:to>
                                        <p:strVal val="visible"/>
                                      </p:to>
                                    </p:set>
                                    <p:animEffect transition="in" filter="wipe(left)">
                                      <p:cBhvr>
                                        <p:cTn id="89" dur="500"/>
                                        <p:tgtEl>
                                          <p:spTgt spid="154764"/>
                                        </p:tgtEl>
                                      </p:cBhvr>
                                    </p:animEffect>
                                  </p:childTnLst>
                                </p:cTn>
                              </p:par>
                              <p:par>
                                <p:cTn id="90" presetID="22" presetClass="entr" presetSubtype="8" fill="hold" nodeType="withEffect">
                                  <p:stCondLst>
                                    <p:cond delay="0"/>
                                  </p:stCondLst>
                                  <p:childTnLst>
                                    <p:set>
                                      <p:cBhvr>
                                        <p:cTn id="91" dur="1" fill="hold">
                                          <p:stCondLst>
                                            <p:cond delay="0"/>
                                          </p:stCondLst>
                                        </p:cTn>
                                        <p:tgtEl>
                                          <p:spTgt spid="154760"/>
                                        </p:tgtEl>
                                        <p:attrNameLst>
                                          <p:attrName>style.visibility</p:attrName>
                                        </p:attrNameLst>
                                      </p:cBhvr>
                                      <p:to>
                                        <p:strVal val="visible"/>
                                      </p:to>
                                    </p:set>
                                    <p:animEffect transition="in" filter="wipe(left)">
                                      <p:cBhvr>
                                        <p:cTn id="92" dur="500"/>
                                        <p:tgtEl>
                                          <p:spTgt spid="154760"/>
                                        </p:tgtEl>
                                      </p:cBhvr>
                                    </p:animEffect>
                                  </p:childTnLst>
                                </p:cTn>
                              </p:par>
                              <p:par>
                                <p:cTn id="93" presetID="22" presetClass="entr" presetSubtype="8" fill="hold" nodeType="withEffect">
                                  <p:stCondLst>
                                    <p:cond delay="0"/>
                                  </p:stCondLst>
                                  <p:childTnLst>
                                    <p:set>
                                      <p:cBhvr>
                                        <p:cTn id="94" dur="1" fill="hold">
                                          <p:stCondLst>
                                            <p:cond delay="0"/>
                                          </p:stCondLst>
                                        </p:cTn>
                                        <p:tgtEl>
                                          <p:spTgt spid="154757"/>
                                        </p:tgtEl>
                                        <p:attrNameLst>
                                          <p:attrName>style.visibility</p:attrName>
                                        </p:attrNameLst>
                                      </p:cBhvr>
                                      <p:to>
                                        <p:strVal val="visible"/>
                                      </p:to>
                                    </p:set>
                                    <p:animEffect transition="in" filter="wipe(left)">
                                      <p:cBhvr>
                                        <p:cTn id="95" dur="500"/>
                                        <p:tgtEl>
                                          <p:spTgt spid="154757"/>
                                        </p:tgtEl>
                                      </p:cBhvr>
                                    </p:animEffect>
                                  </p:childTnLst>
                                </p:cTn>
                              </p:par>
                            </p:childTnLst>
                          </p:cTn>
                        </p:par>
                        <p:par>
                          <p:cTn id="96" fill="hold" nodeType="afterGroup">
                            <p:stCondLst>
                              <p:cond delay="2001"/>
                            </p:stCondLst>
                            <p:childTnLst>
                              <p:par>
                                <p:cTn id="97" presetID="22" presetClass="entr" presetSubtype="8" fill="hold" nodeType="afterEffect">
                                  <p:stCondLst>
                                    <p:cond delay="0"/>
                                  </p:stCondLst>
                                  <p:childTnLst>
                                    <p:set>
                                      <p:cBhvr>
                                        <p:cTn id="98" dur="1" fill="hold">
                                          <p:stCondLst>
                                            <p:cond delay="0"/>
                                          </p:stCondLst>
                                        </p:cTn>
                                        <p:tgtEl>
                                          <p:spTgt spid="154761"/>
                                        </p:tgtEl>
                                        <p:attrNameLst>
                                          <p:attrName>style.visibility</p:attrName>
                                        </p:attrNameLst>
                                      </p:cBhvr>
                                      <p:to>
                                        <p:strVal val="visible"/>
                                      </p:to>
                                    </p:set>
                                    <p:animEffect transition="in" filter="wipe(left)">
                                      <p:cBhvr>
                                        <p:cTn id="99" dur="500"/>
                                        <p:tgtEl>
                                          <p:spTgt spid="154761"/>
                                        </p:tgtEl>
                                      </p:cBhvr>
                                    </p:animEffect>
                                  </p:childTnLst>
                                </p:cTn>
                              </p:par>
                              <p:par>
                                <p:cTn id="100" presetID="22" presetClass="entr" presetSubtype="8" fill="hold" nodeType="withEffect">
                                  <p:stCondLst>
                                    <p:cond delay="0"/>
                                  </p:stCondLst>
                                  <p:childTnLst>
                                    <p:set>
                                      <p:cBhvr>
                                        <p:cTn id="101" dur="1" fill="hold">
                                          <p:stCondLst>
                                            <p:cond delay="0"/>
                                          </p:stCondLst>
                                        </p:cTn>
                                        <p:tgtEl>
                                          <p:spTgt spid="154765"/>
                                        </p:tgtEl>
                                        <p:attrNameLst>
                                          <p:attrName>style.visibility</p:attrName>
                                        </p:attrNameLst>
                                      </p:cBhvr>
                                      <p:to>
                                        <p:strVal val="visible"/>
                                      </p:to>
                                    </p:set>
                                    <p:animEffect transition="in" filter="wipe(left)">
                                      <p:cBhvr>
                                        <p:cTn id="102" dur="500"/>
                                        <p:tgtEl>
                                          <p:spTgt spid="154765"/>
                                        </p:tgtEl>
                                      </p:cBhvr>
                                    </p:animEffect>
                                  </p:childTnLst>
                                </p:cTn>
                              </p:par>
                            </p:childTnLst>
                          </p:cTn>
                        </p:par>
                        <p:par>
                          <p:cTn id="103" fill="hold" nodeType="afterGroup">
                            <p:stCondLst>
                              <p:cond delay="2501"/>
                            </p:stCondLst>
                            <p:childTnLst>
                              <p:par>
                                <p:cTn id="104" presetID="22" presetClass="entr" presetSubtype="8" fill="hold" nodeType="afterEffect">
                                  <p:stCondLst>
                                    <p:cond delay="0"/>
                                  </p:stCondLst>
                                  <p:childTnLst>
                                    <p:set>
                                      <p:cBhvr>
                                        <p:cTn id="105" dur="1" fill="hold">
                                          <p:stCondLst>
                                            <p:cond delay="0"/>
                                          </p:stCondLst>
                                        </p:cTn>
                                        <p:tgtEl>
                                          <p:spTgt spid="154766"/>
                                        </p:tgtEl>
                                        <p:attrNameLst>
                                          <p:attrName>style.visibility</p:attrName>
                                        </p:attrNameLst>
                                      </p:cBhvr>
                                      <p:to>
                                        <p:strVal val="visible"/>
                                      </p:to>
                                    </p:set>
                                    <p:animEffect transition="in" filter="wipe(left)">
                                      <p:cBhvr>
                                        <p:cTn id="106" dur="500"/>
                                        <p:tgtEl>
                                          <p:spTgt spid="1547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703" grpId="0" animBg="1"/>
      <p:bldP spid="154704" grpId="0" animBg="1"/>
      <p:bldP spid="154705" grpId="0" animBg="1"/>
      <p:bldP spid="154706" grpId="0" animBg="1"/>
      <p:bldP spid="154711" grpId="0"/>
      <p:bldP spid="154713" grpId="0"/>
      <p:bldP spid="154740" grpId="0" animBg="1"/>
      <p:bldP spid="154741" grpId="0" animBg="1"/>
      <p:bldP spid="154742"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标题 1"/>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三种交换的比较</a:t>
            </a:r>
          </a:p>
        </p:txBody>
      </p:sp>
      <p:sp>
        <p:nvSpPr>
          <p:cNvPr id="105474" name="内容占位符 2"/>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若要连续传送大量的数据，且其传送时间远大于连接建立时间，则电路交换的传输速率较快。</a:t>
            </a:r>
            <a:endParaRPr lang="en-US" altLang="zh-CN" smtClean="0">
              <a:ea typeface="黑体" panose="02010609060101010101" pitchFamily="49" charset="-122"/>
            </a:endParaRPr>
          </a:p>
          <a:p>
            <a:r>
              <a:rPr lang="zh-CN" altLang="zh-CN" smtClean="0">
                <a:ea typeface="黑体" panose="02010609060101010101" pitchFamily="49" charset="-122"/>
              </a:rPr>
              <a:t>报文交换和分组交换不需要预先分配传输带宽，在传送突发数据时可提高整个网络的信道利用率。</a:t>
            </a:r>
            <a:endParaRPr lang="en-US" altLang="zh-CN" smtClean="0">
              <a:ea typeface="黑体" panose="02010609060101010101" pitchFamily="49" charset="-122"/>
            </a:endParaRPr>
          </a:p>
          <a:p>
            <a:r>
              <a:rPr lang="zh-CN" altLang="zh-CN" smtClean="0">
                <a:ea typeface="黑体" panose="02010609060101010101" pitchFamily="49" charset="-122"/>
              </a:rPr>
              <a:t>由于一个分组的长度往往远小于整个报文的长度，因此分组交换比报文交换的时延小，同时也具有更好的灵活性</a:t>
            </a:r>
            <a:r>
              <a:rPr lang="zh-CN" altLang="en-US" smtClean="0">
                <a:ea typeface="黑体" panose="02010609060101010101" pitchFamily="49" charset="-122"/>
              </a:rPr>
              <a:t>。</a:t>
            </a:r>
          </a:p>
        </p:txBody>
      </p:sp>
      <p:sp>
        <p:nvSpPr>
          <p:cNvPr id="10547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9F55BA8-449C-4FF4-B6A8-AD1466991633}" type="slidenum">
              <a:rPr lang="zh-CN" altLang="en-US" smtClean="0"/>
              <a:pPr eaLnBrk="1" hangingPunct="1"/>
              <a:t>62</a:t>
            </a:fld>
            <a:endParaRPr lang="en-US" altLang="zh-CN" smtClean="0"/>
          </a:p>
        </p:txBody>
      </p:sp>
      <p:sp>
        <p:nvSpPr>
          <p:cNvPr id="105476"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Presentati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382</TotalTime>
  <Words>3783</Words>
  <Application>Microsoft Office PowerPoint</Application>
  <PresentationFormat>A4 纸张(210x297 毫米)</PresentationFormat>
  <Paragraphs>686</Paragraphs>
  <Slides>62</Slides>
  <Notes>49</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0</vt:i4>
      </vt:variant>
      <vt:variant>
        <vt:lpstr>幻灯片标题</vt:lpstr>
      </vt:variant>
      <vt:variant>
        <vt:i4>62</vt:i4>
      </vt:variant>
    </vt:vector>
  </HeadingPairs>
  <TitlesOfParts>
    <vt:vector size="70" baseType="lpstr">
      <vt:lpstr>黑体</vt:lpstr>
      <vt:lpstr>宋体</vt:lpstr>
      <vt:lpstr>Arial</vt:lpstr>
      <vt:lpstr>Symbol</vt:lpstr>
      <vt:lpstr>Tahoma</vt:lpstr>
      <vt:lpstr>Times New Roman</vt:lpstr>
      <vt:lpstr>Wingdings</vt:lpstr>
      <vt:lpstr>Presentation</vt:lpstr>
      <vt:lpstr>第 1 章   概述（1.1-1.3）</vt:lpstr>
      <vt:lpstr>第 1 章   概述</vt:lpstr>
      <vt:lpstr>1.1  计算机网络在信息时代中的作用</vt:lpstr>
      <vt:lpstr>1.1  计算机网络在信息时代中的作用</vt:lpstr>
      <vt:lpstr>internet与Internet的区别</vt:lpstr>
      <vt:lpstr>Internet 中文译名</vt:lpstr>
      <vt:lpstr>什么是互联网及其基本特点？</vt:lpstr>
      <vt:lpstr>互联网+</vt:lpstr>
      <vt:lpstr>互联网负面影响</vt:lpstr>
      <vt:lpstr>1.2  互联网概述</vt:lpstr>
      <vt:lpstr>1.2.1  网络的网络</vt:lpstr>
      <vt:lpstr>1.2.1  网络的网络</vt:lpstr>
      <vt:lpstr>请注意名词“结点”</vt:lpstr>
      <vt:lpstr>关于“云”</vt:lpstr>
      <vt:lpstr>基本概念要清楚</vt:lpstr>
      <vt:lpstr>1.2.2  互联网基础结构发展的三个阶段</vt:lpstr>
      <vt:lpstr>1.2.2  互联网基础结构发展的三个阶段</vt:lpstr>
      <vt:lpstr>1.2.2  互联网基础结构发展的三个阶段</vt:lpstr>
      <vt:lpstr>互联网的发展情况概况</vt:lpstr>
      <vt:lpstr>1.2.3  互联网的标准化工作</vt:lpstr>
      <vt:lpstr>成为互联网正式标准要经过三个阶段</vt:lpstr>
      <vt:lpstr>1.3  互联网的组成</vt:lpstr>
      <vt:lpstr>1.3  互联网的组成</vt:lpstr>
      <vt:lpstr>互联网的边缘部分与核心部分</vt:lpstr>
      <vt:lpstr>1.3.1  互联网的边缘部分</vt:lpstr>
      <vt:lpstr>端系统之间通信的含义</vt:lpstr>
      <vt:lpstr>端系统之间的两种通信方式</vt:lpstr>
      <vt:lpstr>1.  客户服务器方式</vt:lpstr>
      <vt:lpstr>PowerPoint 演示文稿</vt:lpstr>
      <vt:lpstr>客户软件的特点 </vt:lpstr>
      <vt:lpstr>服务器软件的特点 </vt:lpstr>
      <vt:lpstr>2. 对等连接方式 </vt:lpstr>
      <vt:lpstr>对等连接方式的特点</vt:lpstr>
      <vt:lpstr>PowerPoint 演示文稿</vt:lpstr>
      <vt:lpstr>1.3.2  互联网的核心部分</vt:lpstr>
      <vt:lpstr>1.3.2  互联网的核心部分</vt:lpstr>
      <vt:lpstr>1. 电路交换的主要特点</vt:lpstr>
      <vt:lpstr>1. 电路交换的主要特点</vt:lpstr>
      <vt:lpstr>1. 电路交换的主要特点</vt:lpstr>
      <vt:lpstr>使用交换机</vt:lpstr>
      <vt:lpstr>“交换”的含义</vt:lpstr>
      <vt:lpstr>电路交换特点</vt:lpstr>
      <vt:lpstr>电路交换举例</vt:lpstr>
      <vt:lpstr>电路交换缺点</vt:lpstr>
      <vt:lpstr>2. 分组交换的主要特点 </vt:lpstr>
      <vt:lpstr>添加首部构成分组</vt:lpstr>
      <vt:lpstr>分组交换的传输单元</vt:lpstr>
      <vt:lpstr>分组首部的重要性</vt:lpstr>
      <vt:lpstr>收到分组后剥去首部</vt:lpstr>
      <vt:lpstr>最后还原成原来的报文</vt:lpstr>
      <vt:lpstr>1.3.2  互联网的核心部分</vt:lpstr>
      <vt:lpstr>PowerPoint 演示文稿</vt:lpstr>
      <vt:lpstr>PowerPoint 演示文稿</vt:lpstr>
      <vt:lpstr>分组交换网的示意图</vt:lpstr>
      <vt:lpstr>注意分组的存储转发过程</vt:lpstr>
      <vt:lpstr>路由器</vt:lpstr>
      <vt:lpstr>主机和路由器的作用不同</vt:lpstr>
      <vt:lpstr>分组交换的优点</vt:lpstr>
      <vt:lpstr>分组交换带来的问题</vt:lpstr>
      <vt:lpstr>存储转发原理并非完全新的概念 </vt:lpstr>
      <vt:lpstr>三种交换的比较 </vt:lpstr>
      <vt:lpstr>三种交换的比较</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920</dc:creator>
  <cp:lastModifiedBy>a</cp:lastModifiedBy>
  <cp:revision>64</cp:revision>
  <cp:lastPrinted>2020-02-24T11:35:59Z</cp:lastPrinted>
  <dcterms:created xsi:type="dcterms:W3CDTF">2016-10-01T05:27:00Z</dcterms:created>
  <dcterms:modified xsi:type="dcterms:W3CDTF">2024-02-25T14:09:15Z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y fmtid="{D5CDD505-2E9C-101B-9397-08002B2CF9AE}" pid="3" name="KSOProductBuildVer">
    <vt:lpwstr>2052-11.3.0.8513</vt:lpwstr>
  </property>
</Properties>
</file>
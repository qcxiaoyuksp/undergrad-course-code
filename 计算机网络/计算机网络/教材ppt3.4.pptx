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1809" r:id="rId2"/>
    <p:sldId id="1911" r:id="rId3"/>
    <p:sldId id="1912" r:id="rId4"/>
    <p:sldId id="1913" r:id="rId5"/>
    <p:sldId id="1914" r:id="rId6"/>
    <p:sldId id="1915" r:id="rId7"/>
    <p:sldId id="1916" r:id="rId8"/>
    <p:sldId id="1917" r:id="rId9"/>
    <p:sldId id="1918" r:id="rId10"/>
    <p:sldId id="1919" r:id="rId11"/>
    <p:sldId id="1920" r:id="rId12"/>
    <p:sldId id="1921" r:id="rId13"/>
    <p:sldId id="1922" r:id="rId14"/>
    <p:sldId id="1923" r:id="rId15"/>
    <p:sldId id="1924" r:id="rId16"/>
    <p:sldId id="1925" r:id="rId17"/>
    <p:sldId id="1926" r:id="rId18"/>
    <p:sldId id="1927" r:id="rId19"/>
    <p:sldId id="1928" r:id="rId20"/>
    <p:sldId id="1929" r:id="rId21"/>
    <p:sldId id="1930" r:id="rId22"/>
    <p:sldId id="1931" r:id="rId23"/>
    <p:sldId id="1932" r:id="rId24"/>
    <p:sldId id="1933" r:id="rId25"/>
    <p:sldId id="1934" r:id="rId26"/>
    <p:sldId id="1935" r:id="rId27"/>
    <p:sldId id="1936" r:id="rId28"/>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6"/>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75F774-3321-4549-95AE-E3BF1D666832}"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612354" name="Rectangle 2"/>
          <p:cNvSpPr>
            <a:spLocks noGrp="1" noRot="1" noChangeAspect="1" noChangeArrowheads="1" noTextEdit="1"/>
          </p:cNvSpPr>
          <p:nvPr>
            <p:ph type="sldImg" idx="4294967295"/>
          </p:nvPr>
        </p:nvSpPr>
        <p:spPr>
          <a:ln/>
        </p:spPr>
      </p:sp>
      <p:sp>
        <p:nvSpPr>
          <p:cNvPr id="612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E8FB5C8-CCD5-448F-B7A8-A2DB3BD7FE41}" type="slidenum">
              <a:rPr lang="en-US" altLang="zh-CN" smtClean="0"/>
              <a:pPr/>
              <a:t>5</a:t>
            </a:fld>
            <a:endParaRPr lang="en-US" altLang="zh-CN" smtClean="0"/>
          </a:p>
        </p:txBody>
      </p:sp>
      <p:sp>
        <p:nvSpPr>
          <p:cNvPr id="614402" name="Rectangle 2"/>
          <p:cNvSpPr>
            <a:spLocks noGrp="1" noRot="1" noChangeAspect="1" noChangeArrowheads="1" noTextEdit="1"/>
          </p:cNvSpPr>
          <p:nvPr>
            <p:ph type="sldImg" idx="4294967295"/>
          </p:nvPr>
        </p:nvSpPr>
        <p:spPr>
          <a:ln/>
        </p:spPr>
      </p:sp>
      <p:sp>
        <p:nvSpPr>
          <p:cNvPr id="614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56B64D-1DAC-46AD-92CB-C24CB8C90AE8}"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616450" name="Rectangle 2"/>
          <p:cNvSpPr>
            <a:spLocks noGrp="1" noRot="1" noChangeAspect="1" noChangeArrowheads="1" noTextEdit="1"/>
          </p:cNvSpPr>
          <p:nvPr>
            <p:ph type="sldImg" idx="4294967295"/>
          </p:nvPr>
        </p:nvSpPr>
        <p:spPr>
          <a:ln/>
        </p:spPr>
      </p:sp>
      <p:sp>
        <p:nvSpPr>
          <p:cNvPr id="616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ED610D-701A-40C8-A2BC-0A8E6384ECDF}"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618498" name="Rectangle 2"/>
          <p:cNvSpPr>
            <a:spLocks noGrp="1" noRot="1" noChangeAspect="1" noChangeArrowheads="1" noTextEdit="1"/>
          </p:cNvSpPr>
          <p:nvPr>
            <p:ph type="sldImg" idx="4294967295"/>
          </p:nvPr>
        </p:nvSpPr>
        <p:spPr>
          <a:ln/>
        </p:spPr>
      </p:sp>
      <p:sp>
        <p:nvSpPr>
          <p:cNvPr id="618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25A8CE-1797-4292-B746-BF973319B88F}"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629762" name="Rectangle 2"/>
          <p:cNvSpPr>
            <a:spLocks noGrp="1" noRot="1" noChangeAspect="1" noChangeArrowheads="1" noTextEdit="1"/>
          </p:cNvSpPr>
          <p:nvPr>
            <p:ph type="sldImg" idx="4294967295"/>
          </p:nvPr>
        </p:nvSpPr>
        <p:spPr>
          <a:ln/>
        </p:spPr>
      </p:sp>
      <p:sp>
        <p:nvSpPr>
          <p:cNvPr id="6297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86C209-56C6-43DC-A4A7-103E1B7E066B}"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631810" name="Rectangle 2"/>
          <p:cNvSpPr>
            <a:spLocks noGrp="1" noRot="1" noChangeAspect="1" noChangeArrowheads="1" noTextEdit="1"/>
          </p:cNvSpPr>
          <p:nvPr>
            <p:ph type="sldImg" idx="4294967295"/>
          </p:nvPr>
        </p:nvSpPr>
        <p:spPr>
          <a:ln/>
        </p:spPr>
      </p:sp>
      <p:sp>
        <p:nvSpPr>
          <p:cNvPr id="6318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4F7D8A-6F05-4C84-B14F-8184C5FB17BD}"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633858" name="Rectangle 2"/>
          <p:cNvSpPr>
            <a:spLocks noGrp="1" noRot="1" noChangeAspect="1" noChangeArrowheads="1" noTextEdit="1"/>
          </p:cNvSpPr>
          <p:nvPr>
            <p:ph type="sldImg" idx="4294967295"/>
          </p:nvPr>
        </p:nvSpPr>
        <p:spPr>
          <a:ln/>
        </p:spPr>
      </p:sp>
      <p:sp>
        <p:nvSpPr>
          <p:cNvPr id="6338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917866D-F58A-4D6B-830A-B0CA1791E0C3}" type="slidenum">
              <a:rPr lang="en-US" altLang="zh-CN" smtClean="0"/>
              <a:pPr/>
              <a:t>22</a:t>
            </a:fld>
            <a:endParaRPr lang="en-US" altLang="zh-CN" smtClean="0"/>
          </a:p>
        </p:txBody>
      </p:sp>
      <p:sp>
        <p:nvSpPr>
          <p:cNvPr id="637954" name="Rectangle 2"/>
          <p:cNvSpPr>
            <a:spLocks noGrp="1" noRot="1" noChangeAspect="1" noChangeArrowheads="1" noTextEdit="1"/>
          </p:cNvSpPr>
          <p:nvPr>
            <p:ph type="sldImg" idx="4294967295"/>
          </p:nvPr>
        </p:nvSpPr>
        <p:spPr>
          <a:ln/>
        </p:spPr>
      </p:sp>
      <p:sp>
        <p:nvSpPr>
          <p:cNvPr id="6379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3C938FC-3080-46B0-A156-64C3BD2F6FBB}" type="slidenum">
              <a:rPr lang="en-US" altLang="zh-CN" smtClean="0"/>
              <a:pPr/>
              <a:t>23</a:t>
            </a:fld>
            <a:endParaRPr lang="en-US" altLang="zh-CN" smtClean="0"/>
          </a:p>
        </p:txBody>
      </p:sp>
      <p:sp>
        <p:nvSpPr>
          <p:cNvPr id="640002" name="Rectangle 2"/>
          <p:cNvSpPr>
            <a:spLocks noGrp="1" noRot="1" noChangeAspect="1" noChangeArrowheads="1" noTextEdit="1"/>
          </p:cNvSpPr>
          <p:nvPr>
            <p:ph type="sldImg" idx="4294967295"/>
          </p:nvPr>
        </p:nvSpPr>
        <p:spPr>
          <a:ln/>
        </p:spPr>
      </p:sp>
      <p:sp>
        <p:nvSpPr>
          <p:cNvPr id="6400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115C5D8-6CDE-401B-8E76-F26EB290DA5B}" type="slidenum">
              <a:rPr lang="en-US" altLang="zh-CN" smtClean="0"/>
              <a:pPr/>
              <a:t>24</a:t>
            </a:fld>
            <a:endParaRPr lang="en-US" altLang="zh-CN" smtClean="0"/>
          </a:p>
        </p:txBody>
      </p:sp>
      <p:sp>
        <p:nvSpPr>
          <p:cNvPr id="642050" name="Rectangle 2"/>
          <p:cNvSpPr>
            <a:spLocks noGrp="1" noRot="1" noChangeAspect="1" noChangeArrowheads="1" noTextEdit="1"/>
          </p:cNvSpPr>
          <p:nvPr>
            <p:ph type="sldImg" idx="4294967295"/>
          </p:nvPr>
        </p:nvSpPr>
        <p:spPr>
          <a:ln/>
        </p:spPr>
      </p:sp>
      <p:sp>
        <p:nvSpPr>
          <p:cNvPr id="642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7BDBDE9-6BA6-4097-8156-DD9DDD15544C}" type="slidenum">
              <a:rPr lang="en-US" altLang="zh-CN" smtClean="0"/>
              <a:pPr/>
              <a:t>25</a:t>
            </a:fld>
            <a:endParaRPr lang="en-US" altLang="zh-CN" smtClean="0"/>
          </a:p>
        </p:txBody>
      </p:sp>
      <p:sp>
        <p:nvSpPr>
          <p:cNvPr id="644098" name="Rectangle 2"/>
          <p:cNvSpPr>
            <a:spLocks noGrp="1" noRot="1" noChangeAspect="1" noChangeArrowheads="1" noTextEdit="1"/>
          </p:cNvSpPr>
          <p:nvPr>
            <p:ph type="sldImg" idx="4294967295"/>
          </p:nvPr>
        </p:nvSpPr>
        <p:spPr>
          <a:ln/>
        </p:spPr>
      </p:sp>
      <p:sp>
        <p:nvSpPr>
          <p:cNvPr id="6440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7C80D1-201F-4AB3-B09A-FEEA0288FADE}"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647170" name="Rectangle 2"/>
          <p:cNvSpPr>
            <a:spLocks noGrp="1" noRot="1" noChangeAspect="1" noChangeArrowheads="1" noTextEdit="1"/>
          </p:cNvSpPr>
          <p:nvPr>
            <p:ph type="sldImg" idx="4294967295"/>
          </p:nvPr>
        </p:nvSpPr>
        <p:spPr>
          <a:ln/>
        </p:spPr>
      </p:sp>
      <p:sp>
        <p:nvSpPr>
          <p:cNvPr id="6471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smtClean="0">
                <a:latin typeface="黑体" panose="02010609060101010101" pitchFamily="49" charset="-122"/>
                <a:ea typeface="宋体" panose="02010600030101010101" pitchFamily="2" charset="-122"/>
              </a:rPr>
              <a:t>3.3-3.4</a:t>
            </a:r>
            <a:endParaRPr lang="zh-CN" altLang="en-US" dirty="0"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  </a:t>
            </a:r>
            <a:r>
              <a:rPr lang="zh-CN" altLang="zh-CN" smtClean="0">
                <a:ea typeface="黑体" panose="02010609060101010101" pitchFamily="49" charset="-122"/>
              </a:rPr>
              <a:t>扩展的以太网</a:t>
            </a:r>
            <a:endParaRPr lang="zh-CN" altLang="en-US" smtClean="0">
              <a:ea typeface="黑体" panose="02010609060101010101" pitchFamily="49" charset="-122"/>
            </a:endParaRPr>
          </a:p>
        </p:txBody>
      </p:sp>
      <p:sp>
        <p:nvSpPr>
          <p:cNvPr id="609282"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3.4.1  </a:t>
            </a:r>
            <a:r>
              <a:rPr lang="zh-CN" altLang="zh-CN" smtClean="0">
                <a:ea typeface="黑体" panose="02010609060101010101" pitchFamily="49" charset="-122"/>
              </a:rPr>
              <a:t>在物理层扩展以太网</a:t>
            </a:r>
          </a:p>
          <a:p>
            <a:r>
              <a:rPr lang="en-US" altLang="zh-CN" smtClean="0">
                <a:ea typeface="黑体" panose="02010609060101010101" pitchFamily="49" charset="-122"/>
              </a:rPr>
              <a:t>3.4.2  </a:t>
            </a:r>
            <a:r>
              <a:rPr lang="zh-CN" altLang="zh-CN" smtClean="0">
                <a:ea typeface="黑体" panose="02010609060101010101" pitchFamily="49" charset="-122"/>
              </a:rPr>
              <a:t>在数据链路层扩展以太网</a:t>
            </a:r>
          </a:p>
          <a:p>
            <a:r>
              <a:rPr lang="en-US" altLang="zh-CN" smtClean="0">
                <a:ea typeface="黑体" panose="02010609060101010101" pitchFamily="49" charset="-122"/>
              </a:rPr>
              <a:t>3.4.3  </a:t>
            </a:r>
            <a:r>
              <a:rPr lang="zh-CN" altLang="zh-CN" smtClean="0">
                <a:ea typeface="黑体" panose="02010609060101010101" pitchFamily="49" charset="-122"/>
              </a:rPr>
              <a:t>虚拟局域网</a:t>
            </a:r>
          </a:p>
        </p:txBody>
      </p:sp>
      <p:sp>
        <p:nvSpPr>
          <p:cNvPr id="6092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B0F5BF-594E-4095-93BF-22C2D27DB467}" type="slidenum">
              <a:rPr lang="zh-CN" altLang="en-US" smtClean="0"/>
              <a:pPr eaLnBrk="1" hangingPunct="1"/>
              <a:t>2</a:t>
            </a:fld>
            <a:endParaRPr lang="en-US" altLang="zh-CN" smtClean="0"/>
          </a:p>
        </p:txBody>
      </p:sp>
      <p:sp>
        <p:nvSpPr>
          <p:cNvPr id="6092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3.4.1  </a:t>
            </a:r>
            <a:r>
              <a:rPr lang="zh-CN" altLang="en-US" smtClean="0">
                <a:ea typeface="黑体" panose="02010609060101010101" pitchFamily="49" charset="-122"/>
              </a:rPr>
              <a:t>在物理层扩展以太网</a:t>
            </a:r>
          </a:p>
        </p:txBody>
      </p:sp>
      <p:sp>
        <p:nvSpPr>
          <p:cNvPr id="610306" name="Rectangle 4"/>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使用光纤扩展</a:t>
            </a:r>
            <a:endParaRPr lang="en-US" altLang="zh-CN"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主机使用光纤</a:t>
            </a:r>
            <a:r>
              <a:rPr lang="zh-CN" altLang="zh-CN" dirty="0" smtClean="0">
                <a:ea typeface="黑体" panose="02010609060101010101" pitchFamily="49" charset="-122"/>
              </a:rPr>
              <a:t>（通常是一对光纤）</a:t>
            </a:r>
            <a:r>
              <a:rPr lang="zh-CN" altLang="en-US" dirty="0" smtClean="0">
                <a:ea typeface="黑体" panose="02010609060101010101" pitchFamily="49" charset="-122"/>
              </a:rPr>
              <a:t>和一对光纤调制解调器连接到集线器。 </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很容易使主机和几公里以外的集线器相连接</a:t>
            </a:r>
            <a:r>
              <a:rPr lang="zh-CN" altLang="en-US" dirty="0" smtClean="0">
                <a:ea typeface="黑体" panose="02010609060101010101" pitchFamily="49" charset="-122"/>
              </a:rPr>
              <a:t>。</a:t>
            </a:r>
          </a:p>
        </p:txBody>
      </p:sp>
      <p:sp>
        <p:nvSpPr>
          <p:cNvPr id="610307" name="Text Box 6"/>
          <p:cNvSpPr txBox="1">
            <a:spLocks noChangeArrowheads="1"/>
          </p:cNvSpPr>
          <p:nvPr/>
        </p:nvSpPr>
        <p:spPr bwMode="auto">
          <a:xfrm>
            <a:off x="8045450" y="2716213"/>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800">
              <a:solidFill>
                <a:schemeClr val="folHlink"/>
              </a:solidFill>
              <a:ea typeface="黑体" panose="02010609060101010101" pitchFamily="49" charset="-122"/>
            </a:endParaRPr>
          </a:p>
        </p:txBody>
      </p:sp>
      <p:sp>
        <p:nvSpPr>
          <p:cNvPr id="610308" name="矩形 2"/>
          <p:cNvSpPr>
            <a:spLocks noChangeArrowheads="1"/>
          </p:cNvSpPr>
          <p:nvPr/>
        </p:nvSpPr>
        <p:spPr bwMode="auto">
          <a:xfrm>
            <a:off x="1128713" y="5630863"/>
            <a:ext cx="821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主机使用光纤和一对光纤调制解调器连接到集线器</a:t>
            </a:r>
            <a:endParaRPr lang="zh-CN" altLang="en-US" sz="2400" b="1">
              <a:ea typeface="黑体" panose="02010609060101010101" pitchFamily="49" charset="-122"/>
            </a:endParaRPr>
          </a:p>
        </p:txBody>
      </p:sp>
      <p:grpSp>
        <p:nvGrpSpPr>
          <p:cNvPr id="610309" name="组合 4"/>
          <p:cNvGrpSpPr>
            <a:grpSpLocks/>
          </p:cNvGrpSpPr>
          <p:nvPr/>
        </p:nvGrpSpPr>
        <p:grpSpPr bwMode="auto">
          <a:xfrm>
            <a:off x="1208088" y="3398838"/>
            <a:ext cx="8129587" cy="2168525"/>
            <a:chOff x="1414830" y="3421145"/>
            <a:chExt cx="8128345" cy="2168095"/>
          </a:xfrm>
        </p:grpSpPr>
        <p:pic>
          <p:nvPicPr>
            <p:cNvPr id="61031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448914">
              <a:off x="8299293" y="4124085"/>
              <a:ext cx="124388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11" name="Text Box 7"/>
            <p:cNvSpPr txBox="1">
              <a:spLocks noChangeArrowheads="1"/>
            </p:cNvSpPr>
            <p:nvPr/>
          </p:nvSpPr>
          <p:spPr bwMode="auto">
            <a:xfrm>
              <a:off x="8378631" y="3421145"/>
              <a:ext cx="1068876"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a:solidFill>
                    <a:srgbClr val="000099"/>
                  </a:solidFill>
                  <a:ea typeface="黑体" panose="02010609060101010101" pitchFamily="49" charset="-122"/>
                </a:rPr>
                <a:t>以太网</a:t>
              </a:r>
            </a:p>
            <a:p>
              <a:pPr eaLnBrk="0" hangingPunct="0">
                <a:lnSpc>
                  <a:spcPct val="90000"/>
                </a:lnSpc>
              </a:pPr>
              <a:r>
                <a:rPr lang="zh-CN" altLang="en-US" sz="2400" b="1">
                  <a:solidFill>
                    <a:srgbClr val="000099"/>
                  </a:solidFill>
                  <a:ea typeface="黑体" panose="02010609060101010101" pitchFamily="49" charset="-122"/>
                </a:rPr>
                <a:t>集线器</a:t>
              </a:r>
            </a:p>
          </p:txBody>
        </p:sp>
        <p:sp>
          <p:nvSpPr>
            <p:cNvPr id="610312" name="Line 8"/>
            <p:cNvSpPr>
              <a:spLocks noChangeShapeType="1"/>
            </p:cNvSpPr>
            <p:nvPr/>
          </p:nvSpPr>
          <p:spPr bwMode="auto">
            <a:xfrm>
              <a:off x="1844248" y="4598748"/>
              <a:ext cx="676725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10313" name="Text Box 9"/>
            <p:cNvSpPr txBox="1">
              <a:spLocks noChangeArrowheads="1"/>
            </p:cNvSpPr>
            <p:nvPr/>
          </p:nvSpPr>
          <p:spPr bwMode="auto">
            <a:xfrm>
              <a:off x="4733900" y="4054236"/>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FF0000"/>
                  </a:solidFill>
                  <a:ea typeface="黑体" panose="02010609060101010101" pitchFamily="49" charset="-122"/>
                </a:rPr>
                <a:t>光纤</a:t>
              </a:r>
            </a:p>
          </p:txBody>
        </p:sp>
        <p:sp>
          <p:nvSpPr>
            <p:cNvPr id="610314" name="Text Box 10"/>
            <p:cNvSpPr txBox="1">
              <a:spLocks noChangeArrowheads="1"/>
            </p:cNvSpPr>
            <p:nvPr/>
          </p:nvSpPr>
          <p:spPr bwMode="auto">
            <a:xfrm>
              <a:off x="6977073" y="4832110"/>
              <a:ext cx="166320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400" b="1">
                  <a:solidFill>
                    <a:srgbClr val="000099"/>
                  </a:solidFill>
                  <a:ea typeface="黑体" panose="02010609060101010101" pitchFamily="49" charset="-122"/>
                </a:rPr>
                <a:t>光纤</a:t>
              </a:r>
            </a:p>
            <a:p>
              <a:pPr algn="ctr" eaLnBrk="0" hangingPunct="0">
                <a:lnSpc>
                  <a:spcPct val="90000"/>
                </a:lnSpc>
              </a:pPr>
              <a:r>
                <a:rPr lang="zh-CN" altLang="en-US" sz="2400" b="1">
                  <a:solidFill>
                    <a:srgbClr val="000099"/>
                  </a:solidFill>
                  <a:ea typeface="黑体" panose="02010609060101010101" pitchFamily="49" charset="-122"/>
                </a:rPr>
                <a:t>调制解调器</a:t>
              </a:r>
            </a:p>
          </p:txBody>
        </p:sp>
        <p:pic>
          <p:nvPicPr>
            <p:cNvPr id="610315"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8175" y="4027249"/>
              <a:ext cx="692147"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6"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9701" y="4400311"/>
              <a:ext cx="62607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7"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74109" y="4400311"/>
              <a:ext cx="62441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18" name="Text Box 14"/>
            <p:cNvSpPr txBox="1">
              <a:spLocks noChangeArrowheads="1"/>
            </p:cNvSpPr>
            <p:nvPr/>
          </p:nvSpPr>
          <p:spPr bwMode="auto">
            <a:xfrm>
              <a:off x="1705615" y="4789248"/>
              <a:ext cx="166320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400" b="1">
                  <a:solidFill>
                    <a:srgbClr val="000099"/>
                  </a:solidFill>
                  <a:ea typeface="黑体" panose="02010609060101010101" pitchFamily="49" charset="-122"/>
                </a:rPr>
                <a:t>光纤</a:t>
              </a:r>
            </a:p>
            <a:p>
              <a:pPr algn="ctr" eaLnBrk="0" hangingPunct="0">
                <a:lnSpc>
                  <a:spcPct val="90000"/>
                </a:lnSpc>
              </a:pPr>
              <a:r>
                <a:rPr lang="zh-CN" altLang="en-US" sz="2400" b="1">
                  <a:solidFill>
                    <a:srgbClr val="000099"/>
                  </a:solidFill>
                  <a:ea typeface="黑体" panose="02010609060101010101" pitchFamily="49" charset="-122"/>
                </a:rPr>
                <a:t>调制解调器</a:t>
              </a:r>
            </a:p>
          </p:txBody>
        </p:sp>
        <p:sp>
          <p:nvSpPr>
            <p:cNvPr id="610319" name="Text Box 7"/>
            <p:cNvSpPr txBox="1">
              <a:spLocks noChangeArrowheads="1"/>
            </p:cNvSpPr>
            <p:nvPr/>
          </p:nvSpPr>
          <p:spPr bwMode="auto">
            <a:xfrm>
              <a:off x="1414830" y="3580332"/>
              <a:ext cx="8034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a:solidFill>
                    <a:srgbClr val="000099"/>
                  </a:solidFill>
                  <a:ea typeface="黑体" panose="02010609060101010101" pitchFamily="49" charset="-122"/>
                </a:rPr>
                <a:t>主机</a:t>
              </a:r>
            </a:p>
          </p:txBody>
        </p:sp>
      </p:grpSp>
      <p:sp>
        <p:nvSpPr>
          <p:cNvPr id="61032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F49303-81EB-4F44-B9FF-9E37F8C77C02}" type="slidenum">
              <a:rPr lang="zh-CN" altLang="en-US" smtClean="0"/>
              <a:pPr eaLnBrk="1" hangingPunct="1"/>
              <a:t>3</a:t>
            </a:fld>
            <a:endParaRPr lang="en-US" altLang="zh-CN" smtClean="0"/>
          </a:p>
        </p:txBody>
      </p:sp>
      <p:sp>
        <p:nvSpPr>
          <p:cNvPr id="61032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29" name="Rectangle 5"/>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3.4.1  </a:t>
            </a:r>
            <a:r>
              <a:rPr lang="zh-CN" altLang="en-US" smtClean="0">
                <a:ea typeface="黑体" panose="02010609060101010101" pitchFamily="49" charset="-122"/>
              </a:rPr>
              <a:t>在物理层扩展以太网</a:t>
            </a:r>
          </a:p>
        </p:txBody>
      </p:sp>
      <p:sp>
        <p:nvSpPr>
          <p:cNvPr id="611330" name="Rectangle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使用集线器扩展</a:t>
            </a:r>
            <a:endParaRPr lang="en-US" altLang="zh-CN" smtClean="0">
              <a:solidFill>
                <a:srgbClr val="FF0000"/>
              </a:solidFill>
              <a:ea typeface="黑体" panose="02010609060101010101" pitchFamily="49" charset="-122"/>
            </a:endParaRPr>
          </a:p>
          <a:p>
            <a:pPr lvl="1"/>
            <a:r>
              <a:rPr lang="zh-CN" altLang="en-US" smtClean="0">
                <a:ea typeface="黑体" panose="02010609060101010101" pitchFamily="49" charset="-122"/>
              </a:rPr>
              <a:t>使用多个集线器可连成更大的、</a:t>
            </a:r>
            <a:r>
              <a:rPr lang="zh-CN" altLang="zh-CN" smtClean="0">
                <a:ea typeface="黑体" panose="02010609060101010101" pitchFamily="49" charset="-122"/>
              </a:rPr>
              <a:t>多级</a:t>
            </a:r>
            <a:r>
              <a:rPr lang="zh-CN" altLang="en-US" smtClean="0">
                <a:ea typeface="黑体" panose="02010609060101010101" pitchFamily="49" charset="-122"/>
              </a:rPr>
              <a:t>星形</a:t>
            </a:r>
            <a:r>
              <a:rPr lang="zh-CN" altLang="zh-CN" smtClean="0">
                <a:ea typeface="黑体" panose="02010609060101010101" pitchFamily="49" charset="-122"/>
              </a:rPr>
              <a:t>结构的以太网</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例如，一个学院的三个系各有一个</a:t>
            </a:r>
            <a:r>
              <a:rPr lang="en-US" altLang="zh-CN" smtClean="0">
                <a:ea typeface="黑体" panose="02010609060101010101" pitchFamily="49" charset="-122"/>
              </a:rPr>
              <a:t> 10BASE-T </a:t>
            </a:r>
            <a:r>
              <a:rPr lang="zh-CN" altLang="zh-CN" smtClean="0">
                <a:ea typeface="黑体" panose="02010609060101010101" pitchFamily="49" charset="-122"/>
              </a:rPr>
              <a:t>以太网</a:t>
            </a:r>
            <a:r>
              <a:rPr lang="zh-CN" altLang="en-US" smtClean="0">
                <a:ea typeface="黑体" panose="02010609060101010101" pitchFamily="49" charset="-122"/>
              </a:rPr>
              <a:t>，</a:t>
            </a:r>
            <a:r>
              <a:rPr lang="zh-CN" altLang="zh-CN" smtClean="0">
                <a:ea typeface="黑体" panose="02010609060101010101" pitchFamily="49" charset="-122"/>
              </a:rPr>
              <a:t>可通过一个主干集线器把各系的以太网连接起来，成为一个更大的以太网</a:t>
            </a:r>
            <a:r>
              <a:rPr lang="zh-CN" altLang="en-US" smtClean="0">
                <a:ea typeface="黑体" panose="02010609060101010101" pitchFamily="49" charset="-122"/>
              </a:rPr>
              <a:t>。</a:t>
            </a:r>
            <a:endParaRPr lang="zh-CN" altLang="en-US" smtClean="0">
              <a:solidFill>
                <a:srgbClr val="0000FF"/>
              </a:solidFill>
              <a:ea typeface="黑体" panose="02010609060101010101" pitchFamily="49" charset="-122"/>
            </a:endParaRPr>
          </a:p>
        </p:txBody>
      </p:sp>
      <p:sp>
        <p:nvSpPr>
          <p:cNvPr id="611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AFF2B8-3697-484D-93F6-EAABA76BE425}" type="slidenum">
              <a:rPr lang="zh-CN" altLang="en-US" smtClean="0"/>
              <a:pPr eaLnBrk="1" hangingPunct="1"/>
              <a:t>4</a:t>
            </a:fld>
            <a:endParaRPr lang="en-US" altLang="zh-CN" smtClean="0"/>
          </a:p>
        </p:txBody>
      </p:sp>
      <p:sp>
        <p:nvSpPr>
          <p:cNvPr id="611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3377" name="组合 44"/>
          <p:cNvGrpSpPr>
            <a:grpSpLocks/>
          </p:cNvGrpSpPr>
          <p:nvPr/>
        </p:nvGrpSpPr>
        <p:grpSpPr bwMode="auto">
          <a:xfrm>
            <a:off x="1352550" y="115888"/>
            <a:ext cx="7416800" cy="2736850"/>
            <a:chOff x="1162682" y="1927687"/>
            <a:chExt cx="7819909" cy="3403695"/>
          </a:xfrm>
        </p:grpSpPr>
        <p:sp>
          <p:nvSpPr>
            <p:cNvPr id="613378" name="Text Box 43"/>
            <p:cNvSpPr txBox="1">
              <a:spLocks noChangeArrowheads="1"/>
            </p:cNvSpPr>
            <p:nvPr/>
          </p:nvSpPr>
          <p:spPr bwMode="auto">
            <a:xfrm>
              <a:off x="3620302" y="1927687"/>
              <a:ext cx="2659702"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latin typeface="Times New Roman" panose="02020603050405020304" pitchFamily="18" charset="0"/>
                  <a:ea typeface="黑体" panose="02010609060101010101" pitchFamily="49" charset="-122"/>
                </a:rPr>
                <a:t>三个独立的碰撞域</a:t>
              </a:r>
            </a:p>
          </p:txBody>
        </p:sp>
        <p:sp>
          <p:nvSpPr>
            <p:cNvPr id="613379" name="AutoShape 77"/>
            <p:cNvSpPr>
              <a:spLocks/>
            </p:cNvSpPr>
            <p:nvPr/>
          </p:nvSpPr>
          <p:spPr bwMode="auto">
            <a:xfrm rot="5400000" flipV="1">
              <a:off x="4872442" y="-442163"/>
              <a:ext cx="415925" cy="6163733"/>
            </a:xfrm>
            <a:prstGeom prst="leftBrace">
              <a:avLst>
                <a:gd name="adj1" fmla="val 11395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nvGrpSpPr>
            <p:cNvPr id="613380" name="组合 47"/>
            <p:cNvGrpSpPr>
              <a:grpSpLocks/>
            </p:cNvGrpSpPr>
            <p:nvPr/>
          </p:nvGrpSpPr>
          <p:grpSpPr bwMode="auto">
            <a:xfrm>
              <a:off x="1162682" y="2787352"/>
              <a:ext cx="7819909" cy="2544030"/>
              <a:chOff x="1012116" y="2787352"/>
              <a:chExt cx="8333372" cy="2730585"/>
            </a:xfrm>
          </p:grpSpPr>
          <p:sp>
            <p:nvSpPr>
              <p:cNvPr id="613381" name="AutoShape 44"/>
              <p:cNvSpPr>
                <a:spLocks noChangeArrowheads="1"/>
              </p:cNvSpPr>
              <p:nvPr/>
            </p:nvSpPr>
            <p:spPr bwMode="auto">
              <a:xfrm>
                <a:off x="1012116" y="2787352"/>
                <a:ext cx="2672844" cy="2730585"/>
              </a:xfrm>
              <a:prstGeom prst="roundRect">
                <a:avLst>
                  <a:gd name="adj" fmla="val 166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2" name="Line 45"/>
              <p:cNvSpPr>
                <a:spLocks noChangeShapeType="1"/>
              </p:cNvSpPr>
              <p:nvPr/>
            </p:nvSpPr>
            <p:spPr bwMode="auto">
              <a:xfrm flipH="1">
                <a:off x="1431354" y="4102593"/>
                <a:ext cx="667796"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83"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9538" y="4685321"/>
                <a:ext cx="502089"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84" name="Line 47"/>
              <p:cNvSpPr>
                <a:spLocks noChangeShapeType="1"/>
              </p:cNvSpPr>
              <p:nvPr/>
            </p:nvSpPr>
            <p:spPr bwMode="auto">
              <a:xfrm>
                <a:off x="2476960" y="4249542"/>
                <a:ext cx="18559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5" name="Line 48"/>
              <p:cNvSpPr>
                <a:spLocks noChangeShapeType="1"/>
              </p:cNvSpPr>
              <p:nvPr/>
            </p:nvSpPr>
            <p:spPr bwMode="auto">
              <a:xfrm>
                <a:off x="2662552" y="4224207"/>
                <a:ext cx="657855"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6" name="Line 49"/>
              <p:cNvSpPr>
                <a:spLocks noChangeShapeType="1"/>
              </p:cNvSpPr>
              <p:nvPr/>
            </p:nvSpPr>
            <p:spPr bwMode="auto">
              <a:xfrm flipH="1">
                <a:off x="2054410" y="4114416"/>
                <a:ext cx="178963"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87"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9223"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88"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249"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89"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5276" y="4685321"/>
                <a:ext cx="502089"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0" name="Text Box 53"/>
              <p:cNvSpPr txBox="1">
                <a:spLocks noChangeArrowheads="1"/>
              </p:cNvSpPr>
              <p:nvPr/>
            </p:nvSpPr>
            <p:spPr bwMode="auto">
              <a:xfrm>
                <a:off x="2000672" y="2996952"/>
                <a:ext cx="927010"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一系 </a:t>
                </a:r>
              </a:p>
            </p:txBody>
          </p:sp>
          <p:pic>
            <p:nvPicPr>
              <p:cNvPr id="613391"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850590" y="3719176"/>
                <a:ext cx="1156631"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2" name="AutoShape 55"/>
              <p:cNvSpPr>
                <a:spLocks noChangeArrowheads="1"/>
              </p:cNvSpPr>
              <p:nvPr/>
            </p:nvSpPr>
            <p:spPr bwMode="auto">
              <a:xfrm>
                <a:off x="3842381" y="2787352"/>
                <a:ext cx="2671186" cy="2730585"/>
              </a:xfrm>
              <a:prstGeom prst="roundRect">
                <a:avLst>
                  <a:gd name="adj" fmla="val 16667"/>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3" name="Line 56"/>
              <p:cNvSpPr>
                <a:spLocks noChangeShapeType="1"/>
              </p:cNvSpPr>
              <p:nvPr/>
            </p:nvSpPr>
            <p:spPr bwMode="auto">
              <a:xfrm flipH="1">
                <a:off x="4259960" y="4102593"/>
                <a:ext cx="669454"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9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8145"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5" name="Line 58"/>
              <p:cNvSpPr>
                <a:spLocks noChangeShapeType="1"/>
              </p:cNvSpPr>
              <p:nvPr/>
            </p:nvSpPr>
            <p:spPr bwMode="auto">
              <a:xfrm>
                <a:off x="5305568" y="4249542"/>
                <a:ext cx="18559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6" name="Line 59"/>
              <p:cNvSpPr>
                <a:spLocks noChangeShapeType="1"/>
              </p:cNvSpPr>
              <p:nvPr/>
            </p:nvSpPr>
            <p:spPr bwMode="auto">
              <a:xfrm>
                <a:off x="5491160" y="4224207"/>
                <a:ext cx="65951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7" name="Line 60"/>
              <p:cNvSpPr>
                <a:spLocks noChangeShapeType="1"/>
              </p:cNvSpPr>
              <p:nvPr/>
            </p:nvSpPr>
            <p:spPr bwMode="auto">
              <a:xfrm flipH="1">
                <a:off x="4883017" y="4114416"/>
                <a:ext cx="180621"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98"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830"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99"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5857"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00"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884"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01" name="Text Box 64"/>
              <p:cNvSpPr txBox="1">
                <a:spLocks noChangeArrowheads="1"/>
              </p:cNvSpPr>
              <p:nvPr/>
            </p:nvSpPr>
            <p:spPr bwMode="auto">
              <a:xfrm>
                <a:off x="4849891" y="2996952"/>
                <a:ext cx="922225"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二系 </a:t>
                </a:r>
              </a:p>
            </p:txBody>
          </p:sp>
          <p:pic>
            <p:nvPicPr>
              <p:cNvPr id="613402"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679198" y="3719176"/>
                <a:ext cx="1156631"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AutoShape 66"/>
              <p:cNvSpPr>
                <a:spLocks noChangeArrowheads="1"/>
              </p:cNvSpPr>
              <p:nvPr/>
            </p:nvSpPr>
            <p:spPr bwMode="auto">
              <a:xfrm>
                <a:off x="6673529" y="2786446"/>
                <a:ext cx="2671959" cy="2731491"/>
              </a:xfrm>
              <a:prstGeom prst="roundRect">
                <a:avLst>
                  <a:gd name="adj" fmla="val 16667"/>
                </a:avLst>
              </a:prstGeom>
              <a:solidFill>
                <a:schemeClr val="accent6">
                  <a:lumMod val="60000"/>
                  <a:lumOff val="40000"/>
                </a:schemeClr>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noProof="1">
                  <a:solidFill>
                    <a:srgbClr val="0000CC"/>
                  </a:solidFill>
                  <a:latin typeface="+mn-lt"/>
                  <a:ea typeface="黑体" panose="02010609060101010101" pitchFamily="2" charset="-122"/>
                </a:endParaRPr>
              </a:p>
            </p:txBody>
          </p:sp>
          <p:sp>
            <p:nvSpPr>
              <p:cNvPr id="613404" name="Line 67"/>
              <p:cNvSpPr>
                <a:spLocks noChangeShapeType="1"/>
              </p:cNvSpPr>
              <p:nvPr/>
            </p:nvSpPr>
            <p:spPr bwMode="auto">
              <a:xfrm flipH="1">
                <a:off x="7093539" y="4102593"/>
                <a:ext cx="667797"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405"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1723"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06" name="Line 69"/>
              <p:cNvSpPr>
                <a:spLocks noChangeShapeType="1"/>
              </p:cNvSpPr>
              <p:nvPr/>
            </p:nvSpPr>
            <p:spPr bwMode="auto">
              <a:xfrm>
                <a:off x="8137489" y="4249542"/>
                <a:ext cx="187249"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407" name="Line 70"/>
              <p:cNvSpPr>
                <a:spLocks noChangeShapeType="1"/>
              </p:cNvSpPr>
              <p:nvPr/>
            </p:nvSpPr>
            <p:spPr bwMode="auto">
              <a:xfrm>
                <a:off x="8324738" y="4224207"/>
                <a:ext cx="657854"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408" name="Line 71"/>
              <p:cNvSpPr>
                <a:spLocks noChangeShapeType="1"/>
              </p:cNvSpPr>
              <p:nvPr/>
            </p:nvSpPr>
            <p:spPr bwMode="auto">
              <a:xfrm flipH="1">
                <a:off x="7714939" y="4114416"/>
                <a:ext cx="180620"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409"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751"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10"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87778"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11"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7461"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12" name="Text Box 75"/>
              <p:cNvSpPr txBox="1">
                <a:spLocks noChangeArrowheads="1"/>
              </p:cNvSpPr>
              <p:nvPr/>
            </p:nvSpPr>
            <p:spPr bwMode="auto">
              <a:xfrm>
                <a:off x="7630443" y="2996952"/>
                <a:ext cx="959426"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三系 </a:t>
                </a:r>
              </a:p>
            </p:txBody>
          </p:sp>
          <p:pic>
            <p:nvPicPr>
              <p:cNvPr id="613413" name="Picture 7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12777" y="3719176"/>
                <a:ext cx="1154972"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613414" name="组合 4"/>
          <p:cNvGrpSpPr>
            <a:grpSpLocks/>
          </p:cNvGrpSpPr>
          <p:nvPr/>
        </p:nvGrpSpPr>
        <p:grpSpPr bwMode="auto">
          <a:xfrm>
            <a:off x="1281113" y="3398838"/>
            <a:ext cx="7488237" cy="2776537"/>
            <a:chOff x="1280592" y="3399383"/>
            <a:chExt cx="7488831" cy="2776373"/>
          </a:xfrm>
        </p:grpSpPr>
        <p:grpSp>
          <p:nvGrpSpPr>
            <p:cNvPr id="613415" name="组合 2"/>
            <p:cNvGrpSpPr>
              <a:grpSpLocks/>
            </p:cNvGrpSpPr>
            <p:nvPr/>
          </p:nvGrpSpPr>
          <p:grpSpPr bwMode="auto">
            <a:xfrm>
              <a:off x="1280592" y="3823082"/>
              <a:ext cx="7488831" cy="2352674"/>
              <a:chOff x="53314" y="2681288"/>
              <a:chExt cx="9658350" cy="3078162"/>
            </a:xfrm>
          </p:grpSpPr>
          <p:sp>
            <p:nvSpPr>
              <p:cNvPr id="613416" name="AutoShape 42"/>
              <p:cNvSpPr>
                <a:spLocks noChangeArrowheads="1"/>
              </p:cNvSpPr>
              <p:nvPr/>
            </p:nvSpPr>
            <p:spPr bwMode="auto">
              <a:xfrm>
                <a:off x="53314" y="2681288"/>
                <a:ext cx="9658350" cy="3078162"/>
              </a:xfrm>
              <a:prstGeom prst="roundRect">
                <a:avLst>
                  <a:gd name="adj" fmla="val 16667"/>
                </a:avLst>
              </a:prstGeom>
              <a:solidFill>
                <a:srgbClr val="66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613417" name="Line 43"/>
              <p:cNvSpPr>
                <a:spLocks noChangeShapeType="1"/>
              </p:cNvSpPr>
              <p:nvPr/>
            </p:nvSpPr>
            <p:spPr bwMode="auto">
              <a:xfrm flipH="1">
                <a:off x="2135981" y="3351214"/>
                <a:ext cx="2326879" cy="9620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18" name="Line 44"/>
              <p:cNvSpPr>
                <a:spLocks noChangeShapeType="1"/>
              </p:cNvSpPr>
              <p:nvPr/>
            </p:nvSpPr>
            <p:spPr bwMode="auto">
              <a:xfrm>
                <a:off x="5207530" y="3359151"/>
                <a:ext cx="2894410" cy="919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19" name="Line 45"/>
              <p:cNvSpPr>
                <a:spLocks noChangeShapeType="1"/>
              </p:cNvSpPr>
              <p:nvPr/>
            </p:nvSpPr>
            <p:spPr bwMode="auto">
              <a:xfrm>
                <a:off x="4825735" y="3406776"/>
                <a:ext cx="227013" cy="892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0" name="Text Box 46"/>
              <p:cNvSpPr txBox="1">
                <a:spLocks noChangeArrowheads="1"/>
              </p:cNvSpPr>
              <p:nvPr/>
            </p:nvSpPr>
            <p:spPr bwMode="auto">
              <a:xfrm>
                <a:off x="662120"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一系</a:t>
                </a:r>
              </a:p>
            </p:txBody>
          </p:sp>
          <p:sp>
            <p:nvSpPr>
              <p:cNvPr id="613421" name="Text Box 47"/>
              <p:cNvSpPr txBox="1">
                <a:spLocks noChangeArrowheads="1"/>
              </p:cNvSpPr>
              <p:nvPr/>
            </p:nvSpPr>
            <p:spPr bwMode="auto">
              <a:xfrm>
                <a:off x="6822415"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三系</a:t>
                </a:r>
              </a:p>
            </p:txBody>
          </p:sp>
          <p:sp>
            <p:nvSpPr>
              <p:cNvPr id="613422" name="Text Box 48"/>
              <p:cNvSpPr txBox="1">
                <a:spLocks noChangeArrowheads="1"/>
              </p:cNvSpPr>
              <p:nvPr/>
            </p:nvSpPr>
            <p:spPr bwMode="auto">
              <a:xfrm>
                <a:off x="3702712"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二系</a:t>
                </a:r>
              </a:p>
            </p:txBody>
          </p:sp>
          <p:sp>
            <p:nvSpPr>
              <p:cNvPr id="613423" name="Text Box 49"/>
              <p:cNvSpPr txBox="1">
                <a:spLocks noChangeArrowheads="1"/>
              </p:cNvSpPr>
              <p:nvPr/>
            </p:nvSpPr>
            <p:spPr bwMode="auto">
              <a:xfrm>
                <a:off x="1857726" y="2825174"/>
                <a:ext cx="2281813" cy="60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0000CC"/>
                    </a:solidFill>
                    <a:ea typeface="黑体" panose="02010609060101010101" pitchFamily="49" charset="-122"/>
                  </a:rPr>
                  <a:t>主干集线器</a:t>
                </a:r>
              </a:p>
            </p:txBody>
          </p:sp>
          <p:sp>
            <p:nvSpPr>
              <p:cNvPr id="613424" name="Line 51"/>
              <p:cNvSpPr>
                <a:spLocks noChangeShapeType="1"/>
              </p:cNvSpPr>
              <p:nvPr/>
            </p:nvSpPr>
            <p:spPr bwMode="auto">
              <a:xfrm flipH="1">
                <a:off x="945886" y="4446589"/>
                <a:ext cx="720593"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25"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840"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26" name="Line 53"/>
              <p:cNvSpPr>
                <a:spLocks noChangeShapeType="1"/>
              </p:cNvSpPr>
              <p:nvPr/>
            </p:nvSpPr>
            <p:spPr bwMode="auto">
              <a:xfrm>
                <a:off x="2072350" y="4575176"/>
                <a:ext cx="20121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7" name="Line 54"/>
              <p:cNvSpPr>
                <a:spLocks noChangeShapeType="1"/>
              </p:cNvSpPr>
              <p:nvPr/>
            </p:nvSpPr>
            <p:spPr bwMode="auto">
              <a:xfrm>
                <a:off x="2273564" y="4552951"/>
                <a:ext cx="71027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8" name="Line 55"/>
              <p:cNvSpPr>
                <a:spLocks noChangeShapeType="1"/>
              </p:cNvSpPr>
              <p:nvPr/>
            </p:nvSpPr>
            <p:spPr bwMode="auto">
              <a:xfrm flipH="1">
                <a:off x="1616604" y="4457700"/>
                <a:ext cx="194337"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29"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1438"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0"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036"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1"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6634"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2" name="Picture 5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398192" y="4114800"/>
                <a:ext cx="124684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33" name="Line 60"/>
              <p:cNvSpPr>
                <a:spLocks noChangeShapeType="1"/>
              </p:cNvSpPr>
              <p:nvPr/>
            </p:nvSpPr>
            <p:spPr bwMode="auto">
              <a:xfrm flipH="1">
                <a:off x="3996797" y="4446589"/>
                <a:ext cx="720593"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34"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4750"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35" name="Line 62"/>
              <p:cNvSpPr>
                <a:spLocks noChangeShapeType="1"/>
              </p:cNvSpPr>
              <p:nvPr/>
            </p:nvSpPr>
            <p:spPr bwMode="auto">
              <a:xfrm>
                <a:off x="5123260" y="4575176"/>
                <a:ext cx="20121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36" name="Line 63"/>
              <p:cNvSpPr>
                <a:spLocks noChangeShapeType="1"/>
              </p:cNvSpPr>
              <p:nvPr/>
            </p:nvSpPr>
            <p:spPr bwMode="auto">
              <a:xfrm>
                <a:off x="5324475" y="4552951"/>
                <a:ext cx="708554"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37" name="Line 64"/>
              <p:cNvSpPr>
                <a:spLocks noChangeShapeType="1"/>
              </p:cNvSpPr>
              <p:nvPr/>
            </p:nvSpPr>
            <p:spPr bwMode="auto">
              <a:xfrm flipH="1">
                <a:off x="4667515" y="4457700"/>
                <a:ext cx="194337"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38"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2348"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9" name="Picture 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9946"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0" name="Picture 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7544"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1" name="Picture 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449102" y="4114800"/>
                <a:ext cx="1245129"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42" name="Line 69"/>
              <p:cNvSpPr>
                <a:spLocks noChangeShapeType="1"/>
              </p:cNvSpPr>
              <p:nvPr/>
            </p:nvSpPr>
            <p:spPr bwMode="auto">
              <a:xfrm flipH="1">
                <a:off x="7049427" y="4446589"/>
                <a:ext cx="720592"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43"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7381"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44" name="Line 71"/>
              <p:cNvSpPr>
                <a:spLocks noChangeShapeType="1"/>
              </p:cNvSpPr>
              <p:nvPr/>
            </p:nvSpPr>
            <p:spPr bwMode="auto">
              <a:xfrm>
                <a:off x="8175890" y="4575176"/>
                <a:ext cx="201216"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45" name="Line 72"/>
              <p:cNvSpPr>
                <a:spLocks noChangeShapeType="1"/>
              </p:cNvSpPr>
              <p:nvPr/>
            </p:nvSpPr>
            <p:spPr bwMode="auto">
              <a:xfrm>
                <a:off x="8377107" y="4552951"/>
                <a:ext cx="710273"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46" name="Line 73"/>
              <p:cNvSpPr>
                <a:spLocks noChangeShapeType="1"/>
              </p:cNvSpPr>
              <p:nvPr/>
            </p:nvSpPr>
            <p:spPr bwMode="auto">
              <a:xfrm flipH="1">
                <a:off x="7720146" y="4457700"/>
                <a:ext cx="194336"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47"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979"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8"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2577"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9"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0175"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50" name="Picture 7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01731" y="4114800"/>
                <a:ext cx="12468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51" name="Picture 7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081067" y="2840039"/>
                <a:ext cx="1666478"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3452" name="Text Box 50"/>
            <p:cNvSpPr txBox="1">
              <a:spLocks noChangeArrowheads="1"/>
            </p:cNvSpPr>
            <p:nvPr/>
          </p:nvSpPr>
          <p:spPr bwMode="auto">
            <a:xfrm>
              <a:off x="3621403" y="3399383"/>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一个更大的碰撞域</a:t>
              </a:r>
            </a:p>
          </p:txBody>
        </p:sp>
      </p:grpSp>
      <p:sp>
        <p:nvSpPr>
          <p:cNvPr id="613453" name="矩形 5"/>
          <p:cNvSpPr>
            <a:spLocks noChangeArrowheads="1"/>
          </p:cNvSpPr>
          <p:nvPr/>
        </p:nvSpPr>
        <p:spPr bwMode="auto">
          <a:xfrm>
            <a:off x="3392488" y="2852738"/>
            <a:ext cx="3121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三个独立的以太网</a:t>
            </a:r>
            <a:endParaRPr lang="en-US" altLang="zh-CN" sz="2400" b="1">
              <a:ea typeface="黑体" panose="02010609060101010101" pitchFamily="49" charset="-122"/>
            </a:endParaRPr>
          </a:p>
        </p:txBody>
      </p:sp>
      <p:sp>
        <p:nvSpPr>
          <p:cNvPr id="613454" name="矩形 84"/>
          <p:cNvSpPr>
            <a:spLocks noChangeArrowheads="1"/>
          </p:cNvSpPr>
          <p:nvPr/>
        </p:nvSpPr>
        <p:spPr bwMode="auto">
          <a:xfrm>
            <a:off x="3381375" y="6135688"/>
            <a:ext cx="313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一个扩展的以太网</a:t>
            </a:r>
            <a:endParaRPr lang="zh-CN" altLang="en-US" sz="2400" b="1">
              <a:ea typeface="黑体" panose="02010609060101010101" pitchFamily="49" charset="-122"/>
            </a:endParaRPr>
          </a:p>
        </p:txBody>
      </p:sp>
      <p:sp>
        <p:nvSpPr>
          <p:cNvPr id="613455"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D9D10A5-33D0-4D33-96C7-B631DA5C8CB2}" type="slidenum">
              <a:rPr lang="zh-CN" altLang="en-US" smtClean="0"/>
              <a:pPr/>
              <a:t>5</a:t>
            </a:fld>
            <a:endParaRPr lang="en-US" altLang="zh-CN" smtClean="0"/>
          </a:p>
        </p:txBody>
      </p:sp>
      <p:sp>
        <p:nvSpPr>
          <p:cNvPr id="613456"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用集线器扩展以太网 </a:t>
            </a:r>
          </a:p>
        </p:txBody>
      </p:sp>
      <p:sp>
        <p:nvSpPr>
          <p:cNvPr id="456706" name="Rectangle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p>
          <a:p>
            <a:pPr lvl="1"/>
            <a:r>
              <a:rPr lang="zh-CN" altLang="en-US" smtClean="0">
                <a:ea typeface="黑体" panose="02010609060101010101" pitchFamily="49" charset="-122"/>
              </a:rPr>
              <a:t>使原来属于不同碰撞域的以太网上的计算机能够进行跨碰撞域的通信。</a:t>
            </a:r>
          </a:p>
          <a:p>
            <a:pPr lvl="1"/>
            <a:r>
              <a:rPr lang="zh-CN" altLang="en-US" smtClean="0">
                <a:ea typeface="黑体" panose="02010609060101010101" pitchFamily="49" charset="-122"/>
              </a:rPr>
              <a:t>扩大了以太网覆盖的地理范围。</a:t>
            </a:r>
          </a:p>
          <a:p>
            <a:r>
              <a:rPr lang="zh-CN" altLang="en-US" smtClean="0">
                <a:solidFill>
                  <a:srgbClr val="0000FF"/>
                </a:solidFill>
                <a:ea typeface="黑体" panose="02010609060101010101" pitchFamily="49" charset="-122"/>
              </a:rPr>
              <a:t>缺点</a:t>
            </a:r>
          </a:p>
          <a:p>
            <a:pPr lvl="1"/>
            <a:r>
              <a:rPr lang="zh-CN" altLang="en-US" smtClean="0">
                <a:ea typeface="黑体" panose="02010609060101010101" pitchFamily="49" charset="-122"/>
              </a:rPr>
              <a:t>碰撞域增大了，但总的吞吐量并未提高。</a:t>
            </a:r>
          </a:p>
          <a:p>
            <a:pPr lvl="1"/>
            <a:r>
              <a:rPr lang="zh-CN" altLang="en-US" smtClean="0">
                <a:ea typeface="黑体" panose="02010609060101010101" pitchFamily="49" charset="-122"/>
              </a:rPr>
              <a:t>如果不同的碰撞域使用不同的数据率，那么就不能用集线器将它们互连起来。   </a:t>
            </a:r>
          </a:p>
        </p:txBody>
      </p:sp>
      <p:sp>
        <p:nvSpPr>
          <p:cNvPr id="6154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BAF8CE-6C6E-4525-A613-E5B36F292954}" type="slidenum">
              <a:rPr lang="zh-CN" altLang="en-US" smtClean="0"/>
              <a:pPr eaLnBrk="1" hangingPunct="1"/>
              <a:t>6</a:t>
            </a:fld>
            <a:endParaRPr lang="en-US" altLang="zh-CN" smtClean="0"/>
          </a:p>
        </p:txBody>
      </p:sp>
      <p:sp>
        <p:nvSpPr>
          <p:cNvPr id="6154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3"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3.4.2  </a:t>
            </a:r>
            <a:r>
              <a:rPr lang="zh-CN" altLang="en-US" smtClean="0">
                <a:ea typeface="黑体" panose="02010609060101010101" pitchFamily="49" charset="-122"/>
              </a:rPr>
              <a:t>在数据链路层扩展以太网 </a:t>
            </a:r>
          </a:p>
        </p:txBody>
      </p:sp>
      <p:sp>
        <p:nvSpPr>
          <p:cNvPr id="617474" name="Rectangle 2"/>
          <p:cNvSpPr>
            <a:spLocks noGrp="1" noChangeArrowheads="1"/>
          </p:cNvSpPr>
          <p:nvPr>
            <p:ph idx="1"/>
          </p:nvPr>
        </p:nvSpPr>
        <p:spPr>
          <a:xfrm>
            <a:off x="495300" y="1196975"/>
            <a:ext cx="9066213" cy="4933950"/>
          </a:xfrm>
        </p:spPr>
        <p:txBody>
          <a:bodyPr/>
          <a:lstStyle/>
          <a:p>
            <a:r>
              <a:rPr lang="zh-CN" altLang="zh-CN" sz="2800" smtClean="0">
                <a:ea typeface="黑体" panose="02010609060101010101" pitchFamily="49" charset="-122"/>
              </a:rPr>
              <a:t>扩展以太网更常用的方法是在数据链路层进行</a:t>
            </a:r>
            <a:r>
              <a:rPr lang="zh-CN" altLang="en-US" sz="2800" smtClean="0">
                <a:ea typeface="黑体" panose="02010609060101010101" pitchFamily="49" charset="-122"/>
              </a:rPr>
              <a:t>。</a:t>
            </a:r>
            <a:endParaRPr lang="en-US" altLang="zh-CN" sz="2800" smtClean="0">
              <a:ea typeface="黑体" panose="02010609060101010101" pitchFamily="49" charset="-122"/>
            </a:endParaRPr>
          </a:p>
          <a:p>
            <a:r>
              <a:rPr lang="zh-CN" altLang="en-US" sz="2800" smtClean="0">
                <a:ea typeface="黑体" panose="02010609060101010101" pitchFamily="49" charset="-122"/>
              </a:rPr>
              <a:t>早期使用</a:t>
            </a:r>
            <a:r>
              <a:rPr lang="zh-CN" altLang="en-US" sz="2800" smtClean="0">
                <a:solidFill>
                  <a:srgbClr val="FF0000"/>
                </a:solidFill>
                <a:ea typeface="黑体" panose="02010609060101010101" pitchFamily="49" charset="-122"/>
              </a:rPr>
              <a:t>网桥，</a:t>
            </a:r>
            <a:r>
              <a:rPr lang="zh-CN" altLang="en-US" sz="2800" smtClean="0">
                <a:ea typeface="黑体" panose="02010609060101010101" pitchFamily="49" charset="-122"/>
              </a:rPr>
              <a:t>现在使用以太网</a:t>
            </a:r>
            <a:r>
              <a:rPr lang="zh-CN" altLang="en-US" sz="2800" smtClean="0">
                <a:solidFill>
                  <a:srgbClr val="FF0000"/>
                </a:solidFill>
                <a:ea typeface="黑体" panose="02010609060101010101" pitchFamily="49" charset="-122"/>
              </a:rPr>
              <a:t>交换机。</a:t>
            </a:r>
            <a:endParaRPr lang="en-US" altLang="zh-CN" sz="2800" smtClean="0">
              <a:solidFill>
                <a:srgbClr val="FF0000"/>
              </a:solidFill>
              <a:ea typeface="黑体" panose="02010609060101010101" pitchFamily="49" charset="-122"/>
            </a:endParaRPr>
          </a:p>
        </p:txBody>
      </p:sp>
      <p:sp>
        <p:nvSpPr>
          <p:cNvPr id="617475" name="矩形 1"/>
          <p:cNvSpPr>
            <a:spLocks noChangeArrowheads="1"/>
          </p:cNvSpPr>
          <p:nvPr/>
        </p:nvSpPr>
        <p:spPr bwMode="auto">
          <a:xfrm>
            <a:off x="849313" y="2349500"/>
            <a:ext cx="8640762" cy="2122488"/>
          </a:xfrm>
          <a:prstGeom prst="rect">
            <a:avLst/>
          </a:prstGeom>
          <a:solidFill>
            <a:srgbClr val="FFFF66"/>
          </a:solidFill>
          <a:ln w="9525">
            <a:solidFill>
              <a:srgbClr val="000066"/>
            </a:solidFill>
            <a:round/>
            <a:headEnd/>
            <a:tailEnd/>
          </a:ln>
        </p:spPr>
        <p:txBody>
          <a:bodyPr>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SzPct val="80000"/>
              <a:buFont typeface="Wingdings" panose="05000000000000000000" pitchFamily="2" charset="2"/>
              <a:buChar char="l"/>
            </a:pPr>
            <a:r>
              <a:rPr lang="zh-CN" altLang="en-US" sz="2400" b="1">
                <a:solidFill>
                  <a:srgbClr val="C00000"/>
                </a:solidFill>
                <a:ea typeface="黑体" panose="02010609060101010101" pitchFamily="49" charset="-122"/>
              </a:rPr>
              <a:t>网桥</a:t>
            </a:r>
            <a:r>
              <a:rPr lang="zh-CN" altLang="en-US" sz="2400" b="1">
                <a:solidFill>
                  <a:srgbClr val="000099"/>
                </a:solidFill>
                <a:ea typeface="黑体" panose="02010609060101010101" pitchFamily="49" charset="-122"/>
              </a:rPr>
              <a:t>工作在数据链路层。</a:t>
            </a:r>
            <a:endParaRPr lang="en-US" altLang="zh-CN" sz="2400" b="1">
              <a:solidFill>
                <a:srgbClr val="000099"/>
              </a:solidFill>
              <a:ea typeface="黑体" panose="02010609060101010101" pitchFamily="49" charset="-122"/>
            </a:endParaRPr>
          </a:p>
          <a:p>
            <a:pPr>
              <a:lnSpc>
                <a:spcPct val="110000"/>
              </a:lnSpc>
              <a:buSzPct val="80000"/>
              <a:buFont typeface="Wingdings" panose="05000000000000000000" pitchFamily="2" charset="2"/>
              <a:buChar char="l"/>
            </a:pPr>
            <a:r>
              <a:rPr lang="zh-CN" altLang="en-US" sz="2400" b="1">
                <a:solidFill>
                  <a:srgbClr val="C00000"/>
                </a:solidFill>
                <a:ea typeface="黑体" panose="02010609060101010101" pitchFamily="49" charset="-122"/>
              </a:rPr>
              <a:t>它根据 </a:t>
            </a:r>
            <a:r>
              <a:rPr lang="en-US" altLang="zh-CN" sz="2400" b="1">
                <a:solidFill>
                  <a:srgbClr val="C00000"/>
                </a:solidFill>
                <a:ea typeface="黑体" panose="02010609060101010101" pitchFamily="49" charset="-122"/>
              </a:rPr>
              <a:t>MAC </a:t>
            </a:r>
            <a:r>
              <a:rPr lang="zh-CN" altLang="en-US" sz="2400" b="1">
                <a:solidFill>
                  <a:srgbClr val="C00000"/>
                </a:solidFill>
                <a:ea typeface="黑体" panose="02010609060101010101" pitchFamily="49" charset="-122"/>
              </a:rPr>
              <a:t>帧的目的地址对收到的帧进行</a:t>
            </a:r>
            <a:r>
              <a:rPr lang="zh-CN" altLang="zh-CN" sz="2400" b="1">
                <a:solidFill>
                  <a:srgbClr val="C00000"/>
                </a:solidFill>
                <a:ea typeface="黑体" panose="02010609060101010101" pitchFamily="49" charset="-122"/>
              </a:rPr>
              <a:t>转发和过滤</a:t>
            </a:r>
            <a:r>
              <a:rPr lang="zh-CN" altLang="en-US" sz="2400" b="1">
                <a:solidFill>
                  <a:srgbClr val="C00000"/>
                </a:solidFill>
                <a:ea typeface="黑体" panose="02010609060101010101" pitchFamily="49" charset="-122"/>
              </a:rPr>
              <a:t>。</a:t>
            </a:r>
          </a:p>
          <a:p>
            <a:pPr>
              <a:lnSpc>
                <a:spcPct val="110000"/>
              </a:lnSpc>
              <a:buSzPct val="80000"/>
              <a:buFont typeface="Wingdings" panose="05000000000000000000" pitchFamily="2" charset="2"/>
              <a:buChar char="l"/>
            </a:pPr>
            <a:r>
              <a:rPr lang="zh-CN" altLang="en-US" sz="2400" b="1">
                <a:solidFill>
                  <a:srgbClr val="000099"/>
                </a:solidFill>
                <a:ea typeface="黑体" panose="02010609060101010101" pitchFamily="49" charset="-122"/>
              </a:rPr>
              <a:t>当网桥收到一个帧时，并不是向所有的接口转发此帧，而是先检查此帧的目的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地址，然后再确定将该帧转发到哪一个接口，或</a:t>
            </a:r>
            <a:r>
              <a:rPr lang="zh-CN" altLang="zh-CN" sz="2400" b="1">
                <a:solidFill>
                  <a:srgbClr val="000099"/>
                </a:solidFill>
                <a:ea typeface="黑体" panose="02010609060101010101" pitchFamily="49" charset="-122"/>
              </a:rPr>
              <a:t>把它</a:t>
            </a:r>
            <a:r>
              <a:rPr lang="zh-CN" altLang="en-US" sz="2400" b="1">
                <a:solidFill>
                  <a:srgbClr val="000099"/>
                </a:solidFill>
                <a:ea typeface="黑体" panose="02010609060101010101" pitchFamily="49" charset="-122"/>
              </a:rPr>
              <a:t>丢弃。 </a:t>
            </a:r>
          </a:p>
        </p:txBody>
      </p:sp>
      <p:sp>
        <p:nvSpPr>
          <p:cNvPr id="617476" name="矩形 2"/>
          <p:cNvSpPr>
            <a:spLocks noChangeArrowheads="1"/>
          </p:cNvSpPr>
          <p:nvPr/>
        </p:nvSpPr>
        <p:spPr bwMode="auto">
          <a:xfrm>
            <a:off x="849313" y="4508500"/>
            <a:ext cx="8640762" cy="1717675"/>
          </a:xfrm>
          <a:prstGeom prst="rect">
            <a:avLst/>
          </a:prstGeom>
          <a:solidFill>
            <a:srgbClr val="66FF66"/>
          </a:solidFill>
          <a:ln w="9525">
            <a:solidFill>
              <a:srgbClr val="000066"/>
            </a:solidFill>
            <a:round/>
            <a:headEnd/>
            <a:tailEnd/>
          </a:ln>
        </p:spPr>
        <p:txBody>
          <a:bodyPr>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SzPct val="80000"/>
              <a:buFont typeface="Wingdings" panose="05000000000000000000" pitchFamily="2" charset="2"/>
              <a:buChar char="l"/>
            </a:pPr>
            <a:r>
              <a:rPr lang="en-US" altLang="zh-CN" sz="2400" b="1">
                <a:solidFill>
                  <a:srgbClr val="000099"/>
                </a:solidFill>
                <a:ea typeface="黑体" panose="02010609060101010101" pitchFamily="49" charset="-122"/>
              </a:rPr>
              <a:t>1990 </a:t>
            </a:r>
            <a:r>
              <a:rPr lang="zh-CN" altLang="en-US" sz="2400" b="1">
                <a:solidFill>
                  <a:srgbClr val="000099"/>
                </a:solidFill>
                <a:ea typeface="黑体" panose="02010609060101010101" pitchFamily="49" charset="-122"/>
              </a:rPr>
              <a:t>年问世的</a:t>
            </a:r>
            <a:r>
              <a:rPr lang="zh-CN" altLang="en-US" sz="2400" b="1">
                <a:solidFill>
                  <a:srgbClr val="C00000"/>
                </a:solidFill>
                <a:ea typeface="黑体" panose="02010609060101010101" pitchFamily="49" charset="-122"/>
              </a:rPr>
              <a:t>交换式集线器 </a:t>
            </a:r>
            <a:r>
              <a:rPr lang="en-US" altLang="zh-CN" sz="2400" b="1">
                <a:solidFill>
                  <a:srgbClr val="000099"/>
                </a:solidFill>
                <a:ea typeface="黑体" panose="02010609060101010101" pitchFamily="49" charset="-122"/>
              </a:rPr>
              <a:t>(switching hub) </a:t>
            </a:r>
            <a:r>
              <a:rPr lang="zh-CN" altLang="en-US" sz="2400" b="1">
                <a:solidFill>
                  <a:srgbClr val="000099"/>
                </a:solidFill>
                <a:ea typeface="黑体" panose="02010609060101010101" pitchFamily="49" charset="-122"/>
              </a:rPr>
              <a:t>可明显地提高以太网的性能。</a:t>
            </a:r>
            <a:endParaRPr lang="en-US" altLang="zh-CN" sz="2400" b="1">
              <a:solidFill>
                <a:srgbClr val="000099"/>
              </a:solidFill>
              <a:ea typeface="黑体" panose="02010609060101010101" pitchFamily="49" charset="-122"/>
            </a:endParaRPr>
          </a:p>
          <a:p>
            <a:pPr>
              <a:lnSpc>
                <a:spcPct val="110000"/>
              </a:lnSpc>
              <a:buSzPct val="80000"/>
              <a:buFont typeface="Wingdings" panose="05000000000000000000" pitchFamily="2" charset="2"/>
              <a:buChar char="l"/>
            </a:pPr>
            <a:r>
              <a:rPr lang="zh-CN" altLang="zh-CN" sz="2400" b="1">
                <a:solidFill>
                  <a:srgbClr val="C00000"/>
                </a:solidFill>
                <a:ea typeface="黑体" panose="02010609060101010101" pitchFamily="49" charset="-122"/>
              </a:rPr>
              <a:t>交换式集线器</a:t>
            </a:r>
            <a:r>
              <a:rPr lang="zh-CN" altLang="zh-CN" sz="2400" b="1">
                <a:solidFill>
                  <a:srgbClr val="000099"/>
                </a:solidFill>
                <a:ea typeface="黑体" panose="02010609060101010101" pitchFamily="49" charset="-122"/>
              </a:rPr>
              <a:t>常称为</a:t>
            </a:r>
            <a:r>
              <a:rPr lang="zh-CN" altLang="zh-CN" sz="2400" b="1">
                <a:solidFill>
                  <a:srgbClr val="C00000"/>
                </a:solidFill>
                <a:ea typeface="黑体" panose="02010609060101010101" pitchFamily="49" charset="-122"/>
              </a:rPr>
              <a:t>以太网交换机</a:t>
            </a:r>
            <a:r>
              <a:rPr lang="en-US" altLang="zh-CN" sz="2400" b="1">
                <a:solidFill>
                  <a:srgbClr val="C00000"/>
                </a:solidFill>
                <a:ea typeface="黑体" panose="02010609060101010101" pitchFamily="49" charset="-122"/>
              </a:rPr>
              <a:t> </a:t>
            </a:r>
            <a:r>
              <a:rPr lang="en-US" altLang="zh-CN" sz="2400" b="1">
                <a:solidFill>
                  <a:srgbClr val="000099"/>
                </a:solidFill>
                <a:ea typeface="黑体" panose="02010609060101010101" pitchFamily="49" charset="-122"/>
              </a:rPr>
              <a:t>(switch) </a:t>
            </a:r>
            <a:r>
              <a:rPr lang="zh-CN" altLang="zh-CN" sz="2400" b="1">
                <a:solidFill>
                  <a:srgbClr val="000099"/>
                </a:solidFill>
                <a:ea typeface="黑体" panose="02010609060101010101" pitchFamily="49" charset="-122"/>
              </a:rPr>
              <a:t>或</a:t>
            </a:r>
            <a:r>
              <a:rPr lang="zh-CN" altLang="zh-CN" sz="2400" b="1">
                <a:solidFill>
                  <a:srgbClr val="C00000"/>
                </a:solidFill>
                <a:ea typeface="黑体" panose="02010609060101010101" pitchFamily="49" charset="-122"/>
              </a:rPr>
              <a:t>第二层交换机</a:t>
            </a:r>
            <a:r>
              <a:rPr lang="en-US" altLang="zh-CN" sz="2400" b="1">
                <a:solidFill>
                  <a:srgbClr val="C00000"/>
                </a:solidFill>
                <a:ea typeface="黑体" panose="02010609060101010101" pitchFamily="49" charset="-122"/>
              </a:rPr>
              <a:t> </a:t>
            </a:r>
            <a:r>
              <a:rPr lang="en-US" altLang="zh-CN" sz="2400" b="1">
                <a:solidFill>
                  <a:srgbClr val="000099"/>
                </a:solidFill>
                <a:ea typeface="黑体" panose="02010609060101010101" pitchFamily="49" charset="-122"/>
              </a:rPr>
              <a:t>(L2 switch)</a:t>
            </a:r>
            <a:r>
              <a:rPr lang="zh-CN" altLang="zh-CN" sz="2400" b="1">
                <a:solidFill>
                  <a:srgbClr val="000099"/>
                </a:solidFill>
                <a:ea typeface="黑体" panose="02010609060101010101" pitchFamily="49" charset="-122"/>
              </a:rPr>
              <a:t>，强调这种交换机工作在数据链路层</a:t>
            </a:r>
            <a:r>
              <a:rPr lang="zh-CN" altLang="en-US" sz="2400" b="1">
                <a:solidFill>
                  <a:srgbClr val="000099"/>
                </a:solidFill>
                <a:ea typeface="黑体" panose="02010609060101010101" pitchFamily="49" charset="-122"/>
              </a:rPr>
              <a:t>。</a:t>
            </a:r>
          </a:p>
        </p:txBody>
      </p:sp>
      <p:sp>
        <p:nvSpPr>
          <p:cNvPr id="61747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6A2D11-70DC-409C-9D18-5C4F963A1E1D}" type="slidenum">
              <a:rPr lang="zh-CN" altLang="en-US" smtClean="0"/>
              <a:pPr eaLnBrk="1" hangingPunct="1"/>
              <a:t>7</a:t>
            </a:fld>
            <a:endParaRPr lang="en-US" altLang="zh-CN" smtClean="0"/>
          </a:p>
        </p:txBody>
      </p:sp>
      <p:sp>
        <p:nvSpPr>
          <p:cNvPr id="61747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zh-CN" smtClean="0">
                <a:ea typeface="黑体" panose="02010609060101010101" pitchFamily="49" charset="-122"/>
              </a:rPr>
              <a:t>以太网交换机的特点</a:t>
            </a:r>
            <a:endParaRPr lang="zh-CN" altLang="en-US" smtClean="0">
              <a:ea typeface="黑体" panose="02010609060101010101" pitchFamily="49" charset="-122"/>
            </a:endParaRPr>
          </a:p>
        </p:txBody>
      </p:sp>
      <p:sp>
        <p:nvSpPr>
          <p:cNvPr id="61952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以太网交换机实质上就是一个</a:t>
            </a:r>
            <a:r>
              <a:rPr lang="zh-CN" altLang="zh-CN" dirty="0" smtClean="0">
                <a:solidFill>
                  <a:srgbClr val="FF0000"/>
                </a:solidFill>
                <a:ea typeface="黑体" panose="02010609060101010101" pitchFamily="49" charset="-122"/>
              </a:rPr>
              <a:t>多接口的网桥</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通常都有十几个或更多的接口</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每个接口都直接与一个单台主机或另一个以太网交换机相连，并且一般都</a:t>
            </a:r>
            <a:r>
              <a:rPr lang="zh-CN" altLang="zh-CN" dirty="0" smtClean="0">
                <a:solidFill>
                  <a:srgbClr val="FF0000"/>
                </a:solidFill>
                <a:ea typeface="黑体" panose="02010609060101010101" pitchFamily="49" charset="-122"/>
              </a:rPr>
              <a:t>工作在全双工方式。</a:t>
            </a:r>
            <a:endParaRPr lang="en-US" altLang="zh-CN" dirty="0" smtClean="0">
              <a:solidFill>
                <a:srgbClr val="FF0000"/>
              </a:solidFill>
              <a:ea typeface="黑体" panose="02010609060101010101" pitchFamily="49" charset="-122"/>
            </a:endParaRPr>
          </a:p>
          <a:p>
            <a:r>
              <a:rPr lang="zh-CN" altLang="zh-CN" dirty="0" smtClean="0">
                <a:solidFill>
                  <a:srgbClr val="FF0000"/>
                </a:solidFill>
                <a:ea typeface="黑体" panose="02010609060101010101" pitchFamily="49" charset="-122"/>
              </a:rPr>
              <a:t>以太网交换机具有并行性</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能同时连通多对接口，使多对主机能同时通信</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solidFill>
                  <a:srgbClr val="0000FF"/>
                </a:solidFill>
                <a:ea typeface="黑体" panose="02010609060101010101" pitchFamily="49" charset="-122"/>
              </a:rPr>
              <a:t>相互通信的主机都是独占传输媒体，无碰撞地传输数据。</a:t>
            </a:r>
            <a:endParaRPr lang="en-US" altLang="zh-CN" dirty="0" smtClean="0">
              <a:solidFill>
                <a:srgbClr val="0000FF"/>
              </a:solidFill>
              <a:ea typeface="黑体" panose="02010609060101010101" pitchFamily="49" charset="-122"/>
            </a:endParaRPr>
          </a:p>
          <a:p>
            <a:endParaRPr lang="zh-CN" altLang="en-US" dirty="0" smtClean="0">
              <a:ea typeface="黑体" panose="02010609060101010101" pitchFamily="49" charset="-122"/>
            </a:endParaRPr>
          </a:p>
        </p:txBody>
      </p:sp>
      <p:sp>
        <p:nvSpPr>
          <p:cNvPr id="6195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3100EB-439A-41AF-9F1B-9C79ABD1D860}" type="slidenum">
              <a:rPr lang="zh-CN" altLang="en-US" smtClean="0"/>
              <a:pPr eaLnBrk="1" hangingPunct="1"/>
              <a:t>8</a:t>
            </a:fld>
            <a:endParaRPr lang="en-US" altLang="zh-CN" smtClean="0"/>
          </a:p>
        </p:txBody>
      </p:sp>
      <p:sp>
        <p:nvSpPr>
          <p:cNvPr id="6195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zh-CN" smtClean="0">
                <a:ea typeface="黑体" panose="02010609060101010101" pitchFamily="49" charset="-122"/>
              </a:rPr>
              <a:t>以太网交换机的特点</a:t>
            </a:r>
            <a:endParaRPr lang="zh-CN" altLang="en-US" smtClean="0">
              <a:ea typeface="黑体" panose="02010609060101010101" pitchFamily="49" charset="-122"/>
            </a:endParaRPr>
          </a:p>
        </p:txBody>
      </p:sp>
      <p:sp>
        <p:nvSpPr>
          <p:cNvPr id="62054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以太网交换机的</a:t>
            </a:r>
            <a:r>
              <a:rPr lang="zh-CN" altLang="zh-CN" smtClean="0">
                <a:solidFill>
                  <a:srgbClr val="FF0000"/>
                </a:solidFill>
                <a:ea typeface="黑体" panose="02010609060101010101" pitchFamily="49" charset="-122"/>
              </a:rPr>
              <a:t>接口有存储器，</a:t>
            </a:r>
            <a:r>
              <a:rPr lang="zh-CN" altLang="zh-CN" smtClean="0">
                <a:ea typeface="黑体" panose="02010609060101010101" pitchFamily="49" charset="-122"/>
              </a:rPr>
              <a:t>能在输出端口繁忙时把到来的帧进行缓存</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以太网交换机是一种</a:t>
            </a:r>
            <a:r>
              <a:rPr lang="zh-CN" altLang="zh-CN" smtClean="0">
                <a:solidFill>
                  <a:srgbClr val="FF0000"/>
                </a:solidFill>
                <a:ea typeface="黑体" panose="02010609060101010101" pitchFamily="49" charset="-122"/>
              </a:rPr>
              <a:t>即插即用</a:t>
            </a:r>
            <a:r>
              <a:rPr lang="zh-CN" altLang="zh-CN" smtClean="0">
                <a:ea typeface="黑体" panose="02010609060101010101" pitchFamily="49" charset="-122"/>
              </a:rPr>
              <a:t>设备，其内部的帧</a:t>
            </a:r>
            <a:r>
              <a:rPr lang="zh-CN" altLang="zh-CN" smtClean="0">
                <a:solidFill>
                  <a:srgbClr val="0000FF"/>
                </a:solidFill>
                <a:ea typeface="黑体" panose="02010609060101010101" pitchFamily="49" charset="-122"/>
              </a:rPr>
              <a:t>交换表</a:t>
            </a:r>
            <a:r>
              <a:rPr lang="zh-CN" altLang="zh-CN" smtClean="0">
                <a:ea typeface="黑体" panose="02010609060101010101" pitchFamily="49" charset="-122"/>
              </a:rPr>
              <a:t>（又称为</a:t>
            </a:r>
            <a:r>
              <a:rPr lang="zh-CN" altLang="zh-CN" smtClean="0">
                <a:solidFill>
                  <a:srgbClr val="0000FF"/>
                </a:solidFill>
                <a:ea typeface="黑体" panose="02010609060101010101" pitchFamily="49" charset="-122"/>
              </a:rPr>
              <a:t>地址表</a:t>
            </a:r>
            <a:r>
              <a:rPr lang="zh-CN" altLang="zh-CN" smtClean="0">
                <a:ea typeface="黑体" panose="02010609060101010101" pitchFamily="49" charset="-122"/>
              </a:rPr>
              <a:t>）是通过</a:t>
            </a:r>
            <a:r>
              <a:rPr lang="zh-CN" altLang="zh-CN" smtClean="0">
                <a:solidFill>
                  <a:srgbClr val="0000FF"/>
                </a:solidFill>
                <a:ea typeface="黑体" panose="02010609060101010101" pitchFamily="49" charset="-122"/>
              </a:rPr>
              <a:t>自学习算法</a:t>
            </a:r>
            <a:r>
              <a:rPr lang="zh-CN" altLang="zh-CN" smtClean="0">
                <a:ea typeface="黑体" panose="02010609060101010101" pitchFamily="49" charset="-122"/>
              </a:rPr>
              <a:t>自动地逐渐建立起来的。</a:t>
            </a:r>
            <a:endParaRPr lang="en-US" altLang="zh-CN" smtClean="0">
              <a:ea typeface="黑体" panose="02010609060101010101" pitchFamily="49" charset="-122"/>
            </a:endParaRPr>
          </a:p>
          <a:p>
            <a:r>
              <a:rPr lang="zh-CN" altLang="zh-CN" smtClean="0">
                <a:ea typeface="黑体" panose="02010609060101010101" pitchFamily="49" charset="-122"/>
              </a:rPr>
              <a:t>以太网交换机使用了</a:t>
            </a:r>
            <a:r>
              <a:rPr lang="zh-CN" altLang="zh-CN" smtClean="0">
                <a:solidFill>
                  <a:srgbClr val="FF0000"/>
                </a:solidFill>
                <a:ea typeface="黑体" panose="02010609060101010101" pitchFamily="49" charset="-122"/>
              </a:rPr>
              <a:t>专用的交换结构芯片，</a:t>
            </a:r>
            <a:r>
              <a:rPr lang="zh-CN" altLang="zh-CN" smtClean="0">
                <a:ea typeface="黑体" panose="02010609060101010101" pitchFamily="49" charset="-122"/>
              </a:rPr>
              <a:t>用硬件转发，其转发速率要比使用软件转发的网桥快很多。</a:t>
            </a:r>
            <a:endParaRPr lang="en-US" altLang="zh-CN" smtClean="0">
              <a:ea typeface="黑体" panose="02010609060101010101" pitchFamily="49" charset="-122"/>
            </a:endParaRPr>
          </a:p>
        </p:txBody>
      </p:sp>
      <p:sp>
        <p:nvSpPr>
          <p:cNvPr id="6205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DF4AB6-EC9E-4B95-8EEC-308CE2ED711D}" type="slidenum">
              <a:rPr lang="zh-CN" altLang="en-US" smtClean="0"/>
              <a:pPr eaLnBrk="1" hangingPunct="1"/>
              <a:t>9</a:t>
            </a:fld>
            <a:endParaRPr lang="en-US" altLang="zh-CN" smtClean="0"/>
          </a:p>
        </p:txBody>
      </p:sp>
      <p:sp>
        <p:nvSpPr>
          <p:cNvPr id="6205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69"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以太网交换机的</a:t>
            </a:r>
            <a:r>
              <a:rPr lang="zh-CN" altLang="en-US" smtClean="0">
                <a:ea typeface="黑体" panose="02010609060101010101" pitchFamily="49" charset="-122"/>
              </a:rPr>
              <a:t>优点</a:t>
            </a:r>
          </a:p>
        </p:txBody>
      </p:sp>
      <p:sp>
        <p:nvSpPr>
          <p:cNvPr id="621570" name="内容占位符 2"/>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用户独享带宽，增加了总容量。</a:t>
            </a:r>
            <a:endParaRPr lang="en-US" altLang="zh-CN" sz="2800" smtClean="0">
              <a:ea typeface="黑体" panose="02010609060101010101" pitchFamily="49" charset="-122"/>
            </a:endParaRPr>
          </a:p>
          <a:p>
            <a:pPr lvl="1"/>
            <a:r>
              <a:rPr lang="zh-CN" altLang="en-US" sz="2400" smtClean="0">
                <a:ea typeface="黑体" panose="02010609060101010101" pitchFamily="49" charset="-122"/>
              </a:rPr>
              <a:t>对于普通 </a:t>
            </a:r>
            <a:r>
              <a:rPr lang="en-US" altLang="zh-CN" sz="2400" smtClean="0">
                <a:ea typeface="黑体" panose="02010609060101010101" pitchFamily="49" charset="-122"/>
              </a:rPr>
              <a:t>10 Mbit/s </a:t>
            </a:r>
            <a:r>
              <a:rPr lang="zh-CN" altLang="en-US" sz="2400" smtClean="0">
                <a:ea typeface="黑体" panose="02010609060101010101" pitchFamily="49" charset="-122"/>
              </a:rPr>
              <a:t>的共享式以太网，若共有 </a:t>
            </a:r>
            <a:r>
              <a:rPr lang="en-US" altLang="zh-CN" sz="2400" i="1" smtClean="0">
                <a:ea typeface="黑体" panose="02010609060101010101" pitchFamily="49" charset="-122"/>
              </a:rPr>
              <a:t>N </a:t>
            </a:r>
            <a:r>
              <a:rPr lang="zh-CN" altLang="en-US" sz="2400" smtClean="0">
                <a:ea typeface="黑体" panose="02010609060101010101" pitchFamily="49" charset="-122"/>
              </a:rPr>
              <a:t>个用户，则每个用户占有的平均带宽只有总带宽 </a:t>
            </a:r>
            <a:r>
              <a:rPr lang="en-US" altLang="zh-CN" sz="2400" smtClean="0">
                <a:ea typeface="黑体" panose="02010609060101010101" pitchFamily="49" charset="-122"/>
              </a:rPr>
              <a:t>(10 Mbit/s)</a:t>
            </a:r>
            <a:r>
              <a:rPr lang="zh-CN" altLang="en-US" sz="2400" smtClean="0">
                <a:ea typeface="黑体" panose="02010609060101010101" pitchFamily="49" charset="-122"/>
              </a:rPr>
              <a:t>的 </a:t>
            </a:r>
            <a:r>
              <a:rPr lang="en-US" altLang="zh-CN" sz="2400" i="1" smtClean="0">
                <a:ea typeface="黑体" panose="02010609060101010101" pitchFamily="49" charset="-122"/>
              </a:rPr>
              <a:t>N </a:t>
            </a:r>
            <a:r>
              <a:rPr lang="zh-CN" altLang="en-US" sz="2400" smtClean="0">
                <a:ea typeface="黑体" panose="02010609060101010101" pitchFamily="49" charset="-122"/>
              </a:rPr>
              <a:t>分之一。</a:t>
            </a:r>
            <a:endParaRPr lang="en-US" altLang="zh-CN" sz="2400" smtClean="0">
              <a:ea typeface="黑体" panose="02010609060101010101" pitchFamily="49" charset="-122"/>
            </a:endParaRPr>
          </a:p>
          <a:p>
            <a:pPr lvl="1"/>
            <a:r>
              <a:rPr lang="zh-CN" altLang="en-US" sz="2400" smtClean="0">
                <a:ea typeface="黑体" panose="02010609060101010101" pitchFamily="49" charset="-122"/>
              </a:rPr>
              <a:t>使用以太网交换机时，虽然在每个接口到主机的带宽还是 </a:t>
            </a:r>
            <a:r>
              <a:rPr lang="en-US" altLang="zh-CN" sz="2400" smtClean="0">
                <a:ea typeface="黑体" panose="02010609060101010101" pitchFamily="49" charset="-122"/>
              </a:rPr>
              <a:t>10 Mbit/s</a:t>
            </a:r>
            <a:r>
              <a:rPr lang="zh-CN" altLang="en-US" sz="2400" smtClean="0">
                <a:ea typeface="黑体" panose="02010609060101010101" pitchFamily="49" charset="-122"/>
              </a:rPr>
              <a:t>，但由于一个用户在通信时是独占而不是和其他网络用户共享传输媒体的带宽，因此对于拥有 </a:t>
            </a:r>
            <a:r>
              <a:rPr lang="en-US" altLang="zh-CN" sz="2400" i="1" smtClean="0">
                <a:ea typeface="黑体" panose="02010609060101010101" pitchFamily="49" charset="-122"/>
              </a:rPr>
              <a:t>N </a:t>
            </a:r>
            <a:r>
              <a:rPr lang="zh-CN" altLang="en-US" sz="2400" smtClean="0">
                <a:ea typeface="黑体" panose="02010609060101010101" pitchFamily="49" charset="-122"/>
              </a:rPr>
              <a:t>个接口的交换机的总容量为 </a:t>
            </a:r>
            <a:r>
              <a:rPr lang="en-US" altLang="zh-CN" sz="2400" i="1" smtClean="0">
                <a:ea typeface="黑体" panose="02010609060101010101" pitchFamily="49" charset="-122"/>
              </a:rPr>
              <a:t>N</a:t>
            </a:r>
            <a:r>
              <a:rPr lang="en-US" altLang="zh-CN" sz="2400" smtClean="0">
                <a:ea typeface="黑体" panose="02010609060101010101" pitchFamily="49" charset="-122"/>
                <a:sym typeface="Symbol" panose="05050102010706020507" pitchFamily="18" charset="2"/>
              </a:rPr>
              <a:t></a:t>
            </a:r>
            <a:r>
              <a:rPr lang="en-US" altLang="zh-CN" sz="2400" smtClean="0">
                <a:ea typeface="黑体" panose="02010609060101010101" pitchFamily="49" charset="-122"/>
              </a:rPr>
              <a:t>10 Mbit/s</a:t>
            </a:r>
            <a:r>
              <a:rPr lang="zh-CN" altLang="en-US" sz="2400" smtClean="0">
                <a:ea typeface="黑体" panose="02010609060101010101" pitchFamily="49" charset="-122"/>
              </a:rPr>
              <a:t>。</a:t>
            </a:r>
            <a:endParaRPr lang="en-US" altLang="zh-CN" sz="2000" smtClean="0">
              <a:ea typeface="黑体" panose="02010609060101010101" pitchFamily="49" charset="-122"/>
            </a:endParaRPr>
          </a:p>
          <a:p>
            <a:r>
              <a:rPr lang="zh-CN" altLang="zh-CN" sz="2800" smtClean="0">
                <a:ea typeface="黑体" panose="02010609060101010101" pitchFamily="49" charset="-122"/>
              </a:rPr>
              <a:t>从共享总线以太网转到交换式以太网时，所有接入设备的软件和硬件、适配器等都不需要</a:t>
            </a:r>
            <a:r>
              <a:rPr lang="zh-CN" altLang="en-US" sz="2800" smtClean="0">
                <a:ea typeface="黑体" panose="02010609060101010101" pitchFamily="49" charset="-122"/>
              </a:rPr>
              <a:t>做</a:t>
            </a:r>
            <a:r>
              <a:rPr lang="zh-CN" altLang="zh-CN" sz="2800" smtClean="0">
                <a:ea typeface="黑体" panose="02010609060101010101" pitchFamily="49" charset="-122"/>
              </a:rPr>
              <a:t>任何改动。</a:t>
            </a:r>
          </a:p>
          <a:p>
            <a:r>
              <a:rPr lang="zh-CN" altLang="zh-CN" sz="2800" smtClean="0">
                <a:ea typeface="黑体" panose="02010609060101010101" pitchFamily="49" charset="-122"/>
              </a:rPr>
              <a:t>以太网交换机一般都具有多种速率的接口，方便了各种不同情况的用户。</a:t>
            </a:r>
          </a:p>
          <a:p>
            <a:endParaRPr lang="zh-CN" altLang="en-US" sz="2800" smtClean="0">
              <a:ea typeface="黑体" panose="02010609060101010101" pitchFamily="49" charset="-122"/>
            </a:endParaRPr>
          </a:p>
        </p:txBody>
      </p:sp>
      <p:sp>
        <p:nvSpPr>
          <p:cNvPr id="6215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3DB0A7-D96F-4EAA-97F7-7303CE822F54}" type="slidenum">
              <a:rPr lang="zh-CN" altLang="en-US" smtClean="0"/>
              <a:pPr eaLnBrk="1" hangingPunct="1"/>
              <a:t>10</a:t>
            </a:fld>
            <a:endParaRPr lang="en-US" altLang="zh-CN" smtClean="0"/>
          </a:p>
        </p:txBody>
      </p:sp>
      <p:sp>
        <p:nvSpPr>
          <p:cNvPr id="6215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以太网交换机</a:t>
            </a:r>
            <a:r>
              <a:rPr lang="zh-CN" altLang="en-US" smtClean="0">
                <a:ea typeface="黑体" panose="02010609060101010101" pitchFamily="49" charset="-122"/>
              </a:rPr>
              <a:t>的交换方式</a:t>
            </a:r>
          </a:p>
        </p:txBody>
      </p:sp>
      <p:sp>
        <p:nvSpPr>
          <p:cNvPr id="622594" name="内容占位符 2"/>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存储转发方式</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把整个数据帧先缓存后再进行处理</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直通</a:t>
            </a:r>
            <a:r>
              <a:rPr lang="en-US" altLang="zh-CN" smtClean="0">
                <a:solidFill>
                  <a:srgbClr val="FF0000"/>
                </a:solidFill>
                <a:ea typeface="黑体" panose="02010609060101010101" pitchFamily="49" charset="-122"/>
              </a:rPr>
              <a:t> (cut-through) </a:t>
            </a:r>
            <a:r>
              <a:rPr lang="zh-CN" altLang="zh-CN" smtClean="0">
                <a:solidFill>
                  <a:srgbClr val="FF0000"/>
                </a:solidFill>
                <a:ea typeface="黑体" panose="02010609060101010101" pitchFamily="49" charset="-122"/>
              </a:rPr>
              <a:t>方式</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接收数据帧的同时就</a:t>
            </a:r>
            <a:r>
              <a:rPr lang="zh-CN" altLang="zh-CN" smtClean="0">
                <a:solidFill>
                  <a:srgbClr val="0000FF"/>
                </a:solidFill>
                <a:ea typeface="黑体" panose="02010609060101010101" pitchFamily="49" charset="-122"/>
              </a:rPr>
              <a:t>立即按数据帧的目的</a:t>
            </a:r>
            <a:r>
              <a:rPr lang="en-US" altLang="zh-CN" smtClean="0">
                <a:solidFill>
                  <a:srgbClr val="0000FF"/>
                </a:solidFill>
                <a:ea typeface="黑体" panose="02010609060101010101" pitchFamily="49" charset="-122"/>
              </a:rPr>
              <a:t> MAC </a:t>
            </a:r>
            <a:r>
              <a:rPr lang="zh-CN" altLang="zh-CN" smtClean="0">
                <a:solidFill>
                  <a:srgbClr val="0000FF"/>
                </a:solidFill>
                <a:ea typeface="黑体" panose="02010609060101010101" pitchFamily="49" charset="-122"/>
              </a:rPr>
              <a:t>地址</a:t>
            </a:r>
            <a:r>
              <a:rPr lang="zh-CN" altLang="zh-CN" smtClean="0">
                <a:ea typeface="黑体" panose="02010609060101010101" pitchFamily="49" charset="-122"/>
              </a:rPr>
              <a:t>决定该帧的转发接口，因而提高了帧的转发速度</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solidFill>
                  <a:srgbClr val="FF0000"/>
                </a:solidFill>
                <a:ea typeface="黑体" panose="02010609060101010101" pitchFamily="49" charset="-122"/>
              </a:rPr>
              <a:t>缺点</a:t>
            </a:r>
            <a:r>
              <a:rPr lang="zh-CN" altLang="zh-CN" smtClean="0">
                <a:ea typeface="黑体" panose="02010609060101010101" pitchFamily="49" charset="-122"/>
              </a:rPr>
              <a:t>是它不检查差错就直接将帧转发出去，因此有可能也将一些无效帧转发给其他的站</a:t>
            </a:r>
            <a:r>
              <a:rPr lang="zh-CN" altLang="en-US" smtClean="0">
                <a:ea typeface="黑体" panose="02010609060101010101" pitchFamily="49" charset="-122"/>
              </a:rPr>
              <a:t>。</a:t>
            </a:r>
          </a:p>
        </p:txBody>
      </p:sp>
      <p:sp>
        <p:nvSpPr>
          <p:cNvPr id="622595" name="矩形 3"/>
          <p:cNvSpPr>
            <a:spLocks noChangeArrowheads="1"/>
          </p:cNvSpPr>
          <p:nvPr/>
        </p:nvSpPr>
        <p:spPr bwMode="auto">
          <a:xfrm>
            <a:off x="704850" y="5080000"/>
            <a:ext cx="8785225" cy="869950"/>
          </a:xfrm>
          <a:prstGeom prst="rect">
            <a:avLst/>
          </a:prstGeom>
          <a:solidFill>
            <a:srgbClr val="FFFF66"/>
          </a:solidFill>
          <a:ln w="9525">
            <a:solidFill>
              <a:schemeClr val="tx1"/>
            </a:solidFill>
            <a:round/>
            <a:headEnd/>
            <a:tailEnd/>
          </a:ln>
        </p:spPr>
        <p:txBody>
          <a:bodyPr>
            <a:spAutoFit/>
          </a:bodyPr>
          <a:lstStyle/>
          <a:p>
            <a:pPr eaLnBrk="0" hangingPunct="0">
              <a:lnSpc>
                <a:spcPct val="110000"/>
              </a:lnSpc>
              <a:buSzPct val="80000"/>
            </a:pPr>
            <a:r>
              <a:rPr lang="zh-CN" altLang="zh-CN" sz="2400" b="1">
                <a:solidFill>
                  <a:srgbClr val="000066"/>
                </a:solidFill>
                <a:ea typeface="黑体" panose="02010609060101010101" pitchFamily="49" charset="-122"/>
              </a:rPr>
              <a:t>在某些情况下，仍需要采用基于软件的存储转发方式进行交换，例如，当需要进行线路速率匹配、协议转换或差错检测时</a:t>
            </a:r>
            <a:r>
              <a:rPr lang="zh-CN" altLang="en-US" sz="2400" b="1">
                <a:solidFill>
                  <a:srgbClr val="000066"/>
                </a:solidFill>
                <a:ea typeface="黑体" panose="02010609060101010101" pitchFamily="49" charset="-122"/>
              </a:rPr>
              <a:t>。</a:t>
            </a:r>
          </a:p>
        </p:txBody>
      </p:sp>
      <p:sp>
        <p:nvSpPr>
          <p:cNvPr id="622596"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F06E98-FFF0-4591-8E24-E475E4F78561}" type="slidenum">
              <a:rPr lang="zh-CN" altLang="en-US" smtClean="0"/>
              <a:pPr eaLnBrk="1" hangingPunct="1"/>
              <a:t>11</a:t>
            </a:fld>
            <a:endParaRPr lang="en-US" altLang="zh-CN" smtClean="0"/>
          </a:p>
        </p:txBody>
      </p:sp>
      <p:sp>
        <p:nvSpPr>
          <p:cNvPr id="622597"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以太网交换机的自学习功能</a:t>
            </a:r>
            <a:endParaRPr lang="zh-CN" altLang="en-US" smtClean="0">
              <a:ea typeface="黑体" panose="02010609060101010101" pitchFamily="49" charset="-122"/>
            </a:endParaRPr>
          </a:p>
        </p:txBody>
      </p:sp>
      <p:sp>
        <p:nvSpPr>
          <p:cNvPr id="623618"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以太网交换机</a:t>
            </a:r>
            <a:r>
              <a:rPr lang="zh-CN" altLang="en-US" smtClean="0">
                <a:ea typeface="黑体" panose="02010609060101010101" pitchFamily="49" charset="-122"/>
              </a:rPr>
              <a:t>运行自学习算法自动维护</a:t>
            </a:r>
            <a:r>
              <a:rPr lang="zh-CN" altLang="en-US" smtClean="0">
                <a:solidFill>
                  <a:srgbClr val="FF0000"/>
                </a:solidFill>
                <a:ea typeface="黑体" panose="02010609060101010101" pitchFamily="49" charset="-122"/>
              </a:rPr>
              <a:t>交换表。</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开始</a:t>
            </a:r>
            <a:r>
              <a:rPr lang="zh-CN" altLang="en-US" smtClean="0">
                <a:ea typeface="黑体" panose="02010609060101010101" pitchFamily="49" charset="-122"/>
              </a:rPr>
              <a:t>时</a:t>
            </a:r>
            <a:r>
              <a:rPr lang="zh-CN" altLang="zh-CN" smtClean="0">
                <a:ea typeface="黑体" panose="02010609060101010101" pitchFamily="49" charset="-122"/>
              </a:rPr>
              <a:t>，以太网交换机里面的交换表是空的</a:t>
            </a:r>
            <a:r>
              <a:rPr lang="zh-CN" altLang="en-US" smtClean="0">
                <a:ea typeface="黑体" panose="02010609060101010101" pitchFamily="49" charset="-122"/>
              </a:rPr>
              <a:t>。</a:t>
            </a:r>
          </a:p>
        </p:txBody>
      </p:sp>
      <p:grpSp>
        <p:nvGrpSpPr>
          <p:cNvPr id="623619" name="组合 40"/>
          <p:cNvGrpSpPr>
            <a:grpSpLocks/>
          </p:cNvGrpSpPr>
          <p:nvPr/>
        </p:nvGrpSpPr>
        <p:grpSpPr bwMode="auto">
          <a:xfrm>
            <a:off x="2390775" y="2565400"/>
            <a:ext cx="4908550" cy="3702050"/>
            <a:chOff x="2390532" y="2564904"/>
            <a:chExt cx="4908912" cy="3702025"/>
          </a:xfrm>
        </p:grpSpPr>
        <p:sp>
          <p:nvSpPr>
            <p:cNvPr id="4" name="矩形 3"/>
            <p:cNvSpPr/>
            <p:nvPr/>
          </p:nvSpPr>
          <p:spPr>
            <a:xfrm>
              <a:off x="3452648" y="2996701"/>
              <a:ext cx="2868824" cy="2663807"/>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noProof="1"/>
                <a:t> </a:t>
              </a:r>
              <a:endParaRPr lang="zh-CN" altLang="en-US" noProof="1"/>
            </a:p>
          </p:txBody>
        </p:sp>
        <p:sp>
          <p:nvSpPr>
            <p:cNvPr id="623621" name="Rectangle 44"/>
            <p:cNvSpPr>
              <a:spLocks noChangeArrowheads="1"/>
            </p:cNvSpPr>
            <p:nvPr/>
          </p:nvSpPr>
          <p:spPr bwMode="auto">
            <a:xfrm>
              <a:off x="3575141" y="4149960"/>
              <a:ext cx="2601995" cy="1439863"/>
            </a:xfrm>
            <a:prstGeom prst="rect">
              <a:avLst/>
            </a:prstGeom>
            <a:solidFill>
              <a:schemeClr val="bg1"/>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cxnSp>
          <p:nvCxnSpPr>
            <p:cNvPr id="6" name="直接连接符 5"/>
            <p:cNvCxnSpPr>
              <a:stCxn id="623644" idx="3"/>
            </p:cNvCxnSpPr>
            <p:nvPr/>
          </p:nvCxnSpPr>
          <p:spPr>
            <a:xfrm>
              <a:off x="6329410" y="3623760"/>
              <a:ext cx="423893"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23644" idx="3"/>
              <a:endCxn id="623641" idx="1"/>
            </p:cNvCxnSpPr>
            <p:nvPr/>
          </p:nvCxnSpPr>
          <p:spPr>
            <a:xfrm flipV="1">
              <a:off x="2947786" y="3623760"/>
              <a:ext cx="504862"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23647" idx="3"/>
              <a:endCxn id="623641" idx="1"/>
            </p:cNvCxnSpPr>
            <p:nvPr/>
          </p:nvCxnSpPr>
          <p:spPr>
            <a:xfrm flipV="1">
              <a:off x="6329410" y="3141163"/>
              <a:ext cx="495337"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23647" idx="3"/>
              <a:endCxn id="623638" idx="1"/>
            </p:cNvCxnSpPr>
            <p:nvPr/>
          </p:nvCxnSpPr>
          <p:spPr>
            <a:xfrm>
              <a:off x="3019228" y="3141163"/>
              <a:ext cx="433420"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3626" name="Rectangle 49"/>
            <p:cNvSpPr>
              <a:spLocks noChangeArrowheads="1"/>
            </p:cNvSpPr>
            <p:nvPr/>
          </p:nvSpPr>
          <p:spPr bwMode="auto">
            <a:xfrm>
              <a:off x="3524341" y="4146785"/>
              <a:ext cx="2652795" cy="65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1600" b="1">
                  <a:ea typeface="黑体" panose="02010609060101010101" pitchFamily="49" charset="-122"/>
                </a:rPr>
                <a:t>MAC</a:t>
              </a:r>
              <a:r>
                <a:rPr lang="zh-CN" altLang="en-US" sz="1600" b="1">
                  <a:ea typeface="黑体" panose="02010609060101010101" pitchFamily="49" charset="-122"/>
                </a:rPr>
                <a:t>地址  接口   有效时间</a:t>
              </a:r>
            </a:p>
            <a:p>
              <a:pPr>
                <a:lnSpc>
                  <a:spcPct val="115000"/>
                </a:lnSpc>
              </a:pPr>
              <a:r>
                <a:rPr lang="zh-CN" altLang="en-US" sz="1600" b="1">
                  <a:ea typeface="黑体" panose="02010609060101010101" pitchFamily="49" charset="-122"/>
                </a:rPr>
                <a:t>   </a:t>
              </a:r>
              <a:endParaRPr lang="en-US" altLang="zh-CN" sz="1600" b="1" baseline="-25000">
                <a:ea typeface="黑体" panose="02010609060101010101" pitchFamily="49" charset="-122"/>
              </a:endParaRPr>
            </a:p>
          </p:txBody>
        </p:sp>
        <p:sp>
          <p:nvSpPr>
            <p:cNvPr id="623627" name="Rectangle 24"/>
            <p:cNvSpPr>
              <a:spLocks noChangeArrowheads="1"/>
            </p:cNvSpPr>
            <p:nvPr/>
          </p:nvSpPr>
          <p:spPr bwMode="auto">
            <a:xfrm>
              <a:off x="3944888" y="25649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latin typeface="黑体" panose="02010609060101010101" pitchFamily="49" charset="-122"/>
                  <a:ea typeface="黑体" panose="02010609060101010101" pitchFamily="49" charset="-122"/>
                </a:rPr>
                <a:t>以太网交换机</a:t>
              </a:r>
              <a:endParaRPr lang="en-US" altLang="zh-CN" sz="2400" b="1">
                <a:latin typeface="黑体" panose="02010609060101010101" pitchFamily="49" charset="-122"/>
                <a:ea typeface="黑体" panose="02010609060101010101" pitchFamily="49" charset="-122"/>
              </a:endParaRPr>
            </a:p>
          </p:txBody>
        </p:sp>
        <p:pic>
          <p:nvPicPr>
            <p:cNvPr id="623628"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8529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29" name="Rectangle 34"/>
            <p:cNvSpPr>
              <a:spLocks noChangeArrowheads="1"/>
            </p:cNvSpPr>
            <p:nvPr/>
          </p:nvSpPr>
          <p:spPr bwMode="auto">
            <a:xfrm>
              <a:off x="2390532"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endParaRPr lang="en-US" altLang="zh-CN" sz="1600" b="1" baseline="-25000">
                <a:ea typeface="黑体" panose="02010609060101010101" pitchFamily="49" charset="-122"/>
              </a:endParaRPr>
            </a:p>
          </p:txBody>
        </p:sp>
        <p:sp>
          <p:nvSpPr>
            <p:cNvPr id="623630" name="Line 50"/>
            <p:cNvSpPr>
              <a:spLocks noChangeShapeType="1"/>
            </p:cNvSpPr>
            <p:nvPr/>
          </p:nvSpPr>
          <p:spPr bwMode="auto">
            <a:xfrm>
              <a:off x="4510179"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623631" name="组合 36"/>
            <p:cNvGrpSpPr>
              <a:grpSpLocks/>
            </p:cNvGrpSpPr>
            <p:nvPr/>
          </p:nvGrpSpPr>
          <p:grpSpPr bwMode="auto">
            <a:xfrm>
              <a:off x="3575141" y="4437298"/>
              <a:ext cx="2601995" cy="863600"/>
              <a:chOff x="3575141" y="4437298"/>
              <a:chExt cx="1439863" cy="863600"/>
            </a:xfrm>
          </p:grpSpPr>
          <p:sp>
            <p:nvSpPr>
              <p:cNvPr id="623632"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3"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4"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5"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623636" name="组合 57"/>
            <p:cNvGrpSpPr>
              <a:grpSpLocks/>
            </p:cNvGrpSpPr>
            <p:nvPr/>
          </p:nvGrpSpPr>
          <p:grpSpPr bwMode="auto">
            <a:xfrm>
              <a:off x="3452906" y="3068873"/>
              <a:ext cx="296557" cy="335989"/>
              <a:chOff x="2267744" y="1268760"/>
              <a:chExt cx="297274" cy="335989"/>
            </a:xfrm>
          </p:grpSpPr>
          <p:sp>
            <p:nvSpPr>
              <p:cNvPr id="20" name="矩形 19"/>
              <p:cNvSpPr/>
              <p:nvPr/>
            </p:nvSpPr>
            <p:spPr>
              <a:xfrm>
                <a:off x="2267485" y="1339463"/>
                <a:ext cx="288053" cy="21589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38"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1</a:t>
                </a:r>
                <a:endParaRPr lang="en-US" altLang="zh-CN" sz="1600" b="1" baseline="-25000">
                  <a:ea typeface="黑体" panose="02010609060101010101" pitchFamily="49" charset="-122"/>
                </a:endParaRPr>
              </a:p>
            </p:txBody>
          </p:sp>
        </p:grpSp>
        <p:grpSp>
          <p:nvGrpSpPr>
            <p:cNvPr id="623639" name="组合 58"/>
            <p:cNvGrpSpPr>
              <a:grpSpLocks/>
            </p:cNvGrpSpPr>
            <p:nvPr/>
          </p:nvGrpSpPr>
          <p:grpSpPr bwMode="auto">
            <a:xfrm>
              <a:off x="3452906" y="3456224"/>
              <a:ext cx="296557" cy="335989"/>
              <a:chOff x="2267744" y="1268760"/>
              <a:chExt cx="297274" cy="337019"/>
            </a:xfrm>
          </p:grpSpPr>
          <p:sp>
            <p:nvSpPr>
              <p:cNvPr id="23" name="矩形 22"/>
              <p:cNvSpPr/>
              <p:nvPr/>
            </p:nvSpPr>
            <p:spPr>
              <a:xfrm>
                <a:off x="2267485" y="1339675"/>
                <a:ext cx="28805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1"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2</a:t>
                </a:r>
                <a:endParaRPr lang="en-US" altLang="zh-CN" sz="1600" b="1" baseline="-25000">
                  <a:ea typeface="黑体" panose="02010609060101010101" pitchFamily="49" charset="-122"/>
                </a:endParaRPr>
              </a:p>
            </p:txBody>
          </p:sp>
        </p:grpSp>
        <p:grpSp>
          <p:nvGrpSpPr>
            <p:cNvPr id="623642" name="组合 61"/>
            <p:cNvGrpSpPr>
              <a:grpSpLocks/>
            </p:cNvGrpSpPr>
            <p:nvPr/>
          </p:nvGrpSpPr>
          <p:grpSpPr bwMode="auto">
            <a:xfrm>
              <a:off x="6033123" y="3456224"/>
              <a:ext cx="296557" cy="335989"/>
              <a:chOff x="2267744" y="1268760"/>
              <a:chExt cx="295640" cy="337019"/>
            </a:xfrm>
          </p:grpSpPr>
          <p:sp>
            <p:nvSpPr>
              <p:cNvPr id="26" name="矩形 25"/>
              <p:cNvSpPr/>
              <p:nvPr/>
            </p:nvSpPr>
            <p:spPr>
              <a:xfrm>
                <a:off x="2267149" y="1339675"/>
                <a:ext cx="28805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4"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4</a:t>
                </a:r>
                <a:endParaRPr lang="en-US" altLang="zh-CN" sz="1600" b="1" baseline="-25000">
                  <a:ea typeface="黑体" panose="02010609060101010101" pitchFamily="49" charset="-122"/>
                </a:endParaRPr>
              </a:p>
            </p:txBody>
          </p:sp>
        </p:grpSp>
        <p:grpSp>
          <p:nvGrpSpPr>
            <p:cNvPr id="623645" name="组合 64"/>
            <p:cNvGrpSpPr>
              <a:grpSpLocks/>
            </p:cNvGrpSpPr>
            <p:nvPr/>
          </p:nvGrpSpPr>
          <p:grpSpPr bwMode="auto">
            <a:xfrm>
              <a:off x="6033123" y="3068873"/>
              <a:ext cx="296557" cy="335989"/>
              <a:chOff x="2267744" y="1268760"/>
              <a:chExt cx="295640" cy="335429"/>
            </a:xfrm>
          </p:grpSpPr>
          <p:sp>
            <p:nvSpPr>
              <p:cNvPr id="29" name="矩形 28"/>
              <p:cNvSpPr/>
              <p:nvPr/>
            </p:nvSpPr>
            <p:spPr>
              <a:xfrm>
                <a:off x="2267149" y="1339345"/>
                <a:ext cx="288053" cy="21712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7"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3</a:t>
                </a:r>
                <a:endParaRPr lang="en-US" altLang="zh-CN" sz="1600" b="1" baseline="-25000">
                  <a:ea typeface="黑体" panose="02010609060101010101" pitchFamily="49" charset="-122"/>
                </a:endParaRPr>
              </a:p>
            </p:txBody>
          </p:sp>
        </p:grpSp>
        <p:sp>
          <p:nvSpPr>
            <p:cNvPr id="623648" name="Rectangle 24"/>
            <p:cNvSpPr>
              <a:spLocks noChangeArrowheads="1"/>
            </p:cNvSpPr>
            <p:nvPr/>
          </p:nvSpPr>
          <p:spPr bwMode="auto">
            <a:xfrm>
              <a:off x="4586536" y="38181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ea typeface="黑体" panose="02010609060101010101" pitchFamily="49" charset="-122"/>
                </a:rPr>
                <a:t>交换表</a:t>
              </a:r>
              <a:endParaRPr lang="en-US" altLang="zh-CN" b="1">
                <a:ea typeface="黑体" panose="02010609060101010101" pitchFamily="49" charset="-122"/>
              </a:endParaRPr>
            </a:p>
          </p:txBody>
        </p:sp>
        <p:pic>
          <p:nvPicPr>
            <p:cNvPr id="62364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5006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0" name="Rectangle 34"/>
            <p:cNvSpPr>
              <a:spLocks noChangeArrowheads="1"/>
            </p:cNvSpPr>
            <p:nvPr/>
          </p:nvSpPr>
          <p:spPr bwMode="auto">
            <a:xfrm>
              <a:off x="6969224" y="34530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D</a:t>
              </a:r>
              <a:endParaRPr lang="en-US" altLang="zh-CN" sz="1600" b="1" baseline="-25000">
                <a:ea typeface="黑体" panose="02010609060101010101" pitchFamily="49" charset="-122"/>
              </a:endParaRPr>
            </a:p>
          </p:txBody>
        </p:sp>
        <p:pic>
          <p:nvPicPr>
            <p:cNvPr id="623651"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5006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365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8529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3" name="Rectangle 34"/>
            <p:cNvSpPr>
              <a:spLocks noChangeArrowheads="1"/>
            </p:cNvSpPr>
            <p:nvPr/>
          </p:nvSpPr>
          <p:spPr bwMode="auto">
            <a:xfrm>
              <a:off x="6969224"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endParaRPr lang="en-US" altLang="zh-CN" sz="1600" b="1" baseline="-25000">
                <a:ea typeface="黑体" panose="02010609060101010101" pitchFamily="49" charset="-122"/>
              </a:endParaRPr>
            </a:p>
          </p:txBody>
        </p:sp>
        <p:sp>
          <p:nvSpPr>
            <p:cNvPr id="623654" name="Line 50"/>
            <p:cNvSpPr>
              <a:spLocks noChangeShapeType="1"/>
            </p:cNvSpPr>
            <p:nvPr/>
          </p:nvSpPr>
          <p:spPr bwMode="auto">
            <a:xfrm>
              <a:off x="5097554"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55" name="Rectangle 34"/>
            <p:cNvSpPr>
              <a:spLocks noChangeArrowheads="1"/>
            </p:cNvSpPr>
            <p:nvPr/>
          </p:nvSpPr>
          <p:spPr bwMode="auto">
            <a:xfrm>
              <a:off x="2403252" y="35010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endParaRPr lang="en-US" altLang="zh-CN" sz="1600" b="1" baseline="-25000">
                <a:ea typeface="黑体" panose="02010609060101010101" pitchFamily="49" charset="-122"/>
              </a:endParaRPr>
            </a:p>
          </p:txBody>
        </p:sp>
        <p:sp>
          <p:nvSpPr>
            <p:cNvPr id="623656" name="矩形 39"/>
            <p:cNvSpPr>
              <a:spLocks noChangeArrowheads="1"/>
            </p:cNvSpPr>
            <p:nvPr/>
          </p:nvSpPr>
          <p:spPr bwMode="auto">
            <a:xfrm>
              <a:off x="3417503" y="5805264"/>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交换表一开始是空的</a:t>
              </a:r>
            </a:p>
          </p:txBody>
        </p:sp>
      </p:grpSp>
      <p:sp>
        <p:nvSpPr>
          <p:cNvPr id="623657" name="灯片编号占位符 4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B57885-6DF7-4E9E-98D2-D4B9DC45A2A7}" type="slidenum">
              <a:rPr lang="zh-CN" altLang="en-US" smtClean="0"/>
              <a:pPr eaLnBrk="1" hangingPunct="1"/>
              <a:t>12</a:t>
            </a:fld>
            <a:endParaRPr lang="en-US" altLang="zh-CN" smtClean="0"/>
          </a:p>
        </p:txBody>
      </p:sp>
      <p:sp>
        <p:nvSpPr>
          <p:cNvPr id="623658" name="页脚占位符 4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1" name="标题 1"/>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sp>
        <p:nvSpPr>
          <p:cNvPr id="624642" name="内容占位符 2"/>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A </a:t>
            </a:r>
            <a:r>
              <a:rPr lang="zh-CN" altLang="zh-CN" sz="2800" smtClean="0">
                <a:ea typeface="黑体" panose="02010609060101010101" pitchFamily="49" charset="-122"/>
              </a:rPr>
              <a:t>先向</a:t>
            </a:r>
            <a:r>
              <a:rPr lang="en-US" altLang="zh-CN" sz="2800" smtClean="0">
                <a:ea typeface="黑体" panose="02010609060101010101" pitchFamily="49" charset="-122"/>
              </a:rPr>
              <a:t> B </a:t>
            </a:r>
            <a:r>
              <a:rPr lang="zh-CN" altLang="zh-CN" sz="2800" smtClean="0">
                <a:ea typeface="黑体" panose="02010609060101010101" pitchFamily="49" charset="-122"/>
              </a:rPr>
              <a:t>发送一帧，从接口</a:t>
            </a:r>
            <a:r>
              <a:rPr lang="en-US" altLang="zh-CN" sz="2800" smtClean="0">
                <a:ea typeface="黑体" panose="02010609060101010101" pitchFamily="49" charset="-122"/>
              </a:rPr>
              <a:t> 1 </a:t>
            </a:r>
            <a:r>
              <a:rPr lang="zh-CN" altLang="zh-CN" sz="2800" smtClean="0">
                <a:ea typeface="黑体" panose="02010609060101010101" pitchFamily="49" charset="-122"/>
              </a:rPr>
              <a:t>进入到交换机。</a:t>
            </a:r>
            <a:endParaRPr lang="en-US" altLang="zh-CN" sz="2800" smtClean="0">
              <a:ea typeface="黑体" panose="02010609060101010101" pitchFamily="49" charset="-122"/>
            </a:endParaRPr>
          </a:p>
          <a:p>
            <a:r>
              <a:rPr lang="zh-CN" altLang="zh-CN" sz="2800" smtClean="0">
                <a:ea typeface="黑体" panose="02010609060101010101" pitchFamily="49" charset="-122"/>
              </a:rPr>
              <a:t>交换机收到帧后，</a:t>
            </a:r>
            <a:r>
              <a:rPr lang="zh-CN" altLang="zh-CN" sz="2800" smtClean="0">
                <a:solidFill>
                  <a:srgbClr val="FF0000"/>
                </a:solidFill>
                <a:ea typeface="黑体" panose="02010609060101010101" pitchFamily="49" charset="-122"/>
              </a:rPr>
              <a:t>先查找交换表，</a:t>
            </a:r>
            <a:r>
              <a:rPr lang="zh-CN" altLang="zh-CN" sz="2800" smtClean="0">
                <a:solidFill>
                  <a:srgbClr val="0000FF"/>
                </a:solidFill>
                <a:ea typeface="黑体" panose="02010609060101010101" pitchFamily="49" charset="-122"/>
              </a:rPr>
              <a:t>没有查到应从哪个接口转发这个帧。</a:t>
            </a:r>
            <a:endParaRPr lang="en-US" altLang="zh-CN" sz="2800" smtClean="0">
              <a:solidFill>
                <a:srgbClr val="0000FF"/>
              </a:solidFill>
              <a:ea typeface="黑体" panose="02010609060101010101" pitchFamily="49" charset="-122"/>
            </a:endParaRPr>
          </a:p>
          <a:p>
            <a:r>
              <a:rPr lang="zh-CN" altLang="zh-CN" sz="2800" smtClean="0">
                <a:solidFill>
                  <a:srgbClr val="0000FF"/>
                </a:solidFill>
                <a:ea typeface="黑体" panose="02010609060101010101" pitchFamily="49" charset="-122"/>
              </a:rPr>
              <a:t>交换机把这个帧的</a:t>
            </a:r>
            <a:r>
              <a:rPr lang="zh-CN" altLang="zh-CN" sz="2800" smtClean="0">
                <a:solidFill>
                  <a:srgbClr val="FF0000"/>
                </a:solidFill>
                <a:ea typeface="黑体" panose="02010609060101010101" pitchFamily="49" charset="-122"/>
              </a:rPr>
              <a:t>源地址</a:t>
            </a:r>
            <a:r>
              <a:rPr lang="en-US" altLang="zh-CN" sz="2800" smtClean="0">
                <a:solidFill>
                  <a:srgbClr val="FF0000"/>
                </a:solidFill>
                <a:ea typeface="黑体" panose="02010609060101010101" pitchFamily="49" charset="-122"/>
              </a:rPr>
              <a:t> A </a:t>
            </a:r>
            <a:r>
              <a:rPr lang="zh-CN" altLang="zh-CN" sz="2800" smtClean="0">
                <a:solidFill>
                  <a:srgbClr val="0000FF"/>
                </a:solidFill>
                <a:ea typeface="黑体" panose="02010609060101010101" pitchFamily="49" charset="-122"/>
              </a:rPr>
              <a:t>和</a:t>
            </a:r>
            <a:r>
              <a:rPr lang="zh-CN" altLang="zh-CN" sz="2800" smtClean="0">
                <a:solidFill>
                  <a:srgbClr val="FF0000"/>
                </a:solidFill>
                <a:ea typeface="黑体" panose="02010609060101010101" pitchFamily="49" charset="-122"/>
              </a:rPr>
              <a:t>接口</a:t>
            </a:r>
            <a:r>
              <a:rPr lang="en-US" altLang="zh-CN" sz="2800" smtClean="0">
                <a:solidFill>
                  <a:srgbClr val="FF0000"/>
                </a:solidFill>
                <a:ea typeface="黑体" panose="02010609060101010101" pitchFamily="49" charset="-122"/>
              </a:rPr>
              <a:t> 1 </a:t>
            </a:r>
            <a:r>
              <a:rPr lang="zh-CN" altLang="zh-CN" sz="2800" smtClean="0">
                <a:solidFill>
                  <a:srgbClr val="FF0000"/>
                </a:solidFill>
                <a:ea typeface="黑体" panose="02010609060101010101" pitchFamily="49" charset="-122"/>
              </a:rPr>
              <a:t>写入交换表</a:t>
            </a:r>
            <a:r>
              <a:rPr lang="zh-CN" altLang="zh-CN" sz="2800" smtClean="0">
                <a:solidFill>
                  <a:srgbClr val="0000FF"/>
                </a:solidFill>
                <a:ea typeface="黑体" panose="02010609060101010101" pitchFamily="49" charset="-122"/>
              </a:rPr>
              <a:t>中，并向除接口</a:t>
            </a:r>
            <a:r>
              <a:rPr lang="en-US" altLang="zh-CN" sz="2800" smtClean="0">
                <a:solidFill>
                  <a:srgbClr val="0000FF"/>
                </a:solidFill>
                <a:ea typeface="黑体" panose="02010609060101010101" pitchFamily="49" charset="-122"/>
              </a:rPr>
              <a:t>1</a:t>
            </a:r>
            <a:r>
              <a:rPr lang="zh-CN" altLang="zh-CN" sz="2800" smtClean="0">
                <a:solidFill>
                  <a:srgbClr val="0000FF"/>
                </a:solidFill>
                <a:ea typeface="黑体" panose="02010609060101010101" pitchFamily="49" charset="-122"/>
              </a:rPr>
              <a:t>以外的所有的接口</a:t>
            </a:r>
            <a:r>
              <a:rPr lang="zh-CN" altLang="zh-CN" sz="2800" smtClean="0">
                <a:solidFill>
                  <a:srgbClr val="FF0000"/>
                </a:solidFill>
                <a:ea typeface="黑体" panose="02010609060101010101" pitchFamily="49" charset="-122"/>
              </a:rPr>
              <a:t>广播这个帧。</a:t>
            </a:r>
          </a:p>
          <a:p>
            <a:r>
              <a:rPr lang="en-US" altLang="zh-CN" sz="2800" smtClean="0">
                <a:ea typeface="黑体" panose="02010609060101010101" pitchFamily="49" charset="-122"/>
              </a:rPr>
              <a:t>C </a:t>
            </a:r>
            <a:r>
              <a:rPr lang="zh-CN" altLang="zh-CN" sz="2800" smtClean="0">
                <a:ea typeface="黑体" panose="02010609060101010101" pitchFamily="49" charset="-122"/>
              </a:rPr>
              <a:t>和</a:t>
            </a:r>
            <a:r>
              <a:rPr lang="en-US" altLang="zh-CN" sz="2800" smtClean="0">
                <a:ea typeface="黑体" panose="02010609060101010101" pitchFamily="49" charset="-122"/>
              </a:rPr>
              <a:t> D </a:t>
            </a:r>
            <a:r>
              <a:rPr lang="zh-CN" altLang="zh-CN" sz="2800" smtClean="0">
                <a:ea typeface="黑体" panose="02010609060101010101" pitchFamily="49" charset="-122"/>
              </a:rPr>
              <a:t>将丢弃这个帧，因为目的地址不对。只</a:t>
            </a:r>
            <a:r>
              <a:rPr lang="en-US" altLang="zh-CN" sz="2800" smtClean="0">
                <a:ea typeface="黑体" panose="02010609060101010101" pitchFamily="49" charset="-122"/>
              </a:rPr>
              <a:t> B </a:t>
            </a:r>
            <a:r>
              <a:rPr lang="zh-CN" altLang="zh-CN" sz="2800" smtClean="0">
                <a:ea typeface="黑体" panose="02010609060101010101" pitchFamily="49" charset="-122"/>
              </a:rPr>
              <a:t>才收下这个目的地址正确的帧。这也称为</a:t>
            </a:r>
            <a:r>
              <a:rPr lang="zh-CN" altLang="zh-CN" sz="2800" smtClean="0">
                <a:solidFill>
                  <a:srgbClr val="FF0000"/>
                </a:solidFill>
                <a:ea typeface="黑体" panose="02010609060101010101" pitchFamily="49" charset="-122"/>
              </a:rPr>
              <a:t>过滤。</a:t>
            </a:r>
          </a:p>
          <a:p>
            <a:r>
              <a:rPr lang="zh-CN" altLang="zh-CN" sz="2800" smtClean="0">
                <a:ea typeface="黑体" panose="02010609060101010101" pitchFamily="49" charset="-122"/>
              </a:rPr>
              <a:t>从新写入交换表的项目</a:t>
            </a:r>
            <a:r>
              <a:rPr lang="en-US" altLang="zh-CN" sz="2800" smtClean="0">
                <a:ea typeface="黑体" panose="02010609060101010101" pitchFamily="49" charset="-122"/>
              </a:rPr>
              <a:t> (A, 1) </a:t>
            </a:r>
            <a:r>
              <a:rPr lang="zh-CN" altLang="zh-CN" sz="2800" smtClean="0">
                <a:ea typeface="黑体" panose="02010609060101010101" pitchFamily="49" charset="-122"/>
              </a:rPr>
              <a:t>可以看出，以后不管从哪一个接口收到帧，只要其目的地址是</a:t>
            </a:r>
            <a:r>
              <a:rPr lang="en-US" altLang="zh-CN" sz="2800" smtClean="0">
                <a:ea typeface="黑体" panose="02010609060101010101" pitchFamily="49" charset="-122"/>
              </a:rPr>
              <a:t>A</a:t>
            </a:r>
            <a:r>
              <a:rPr lang="zh-CN" altLang="zh-CN" sz="2800" smtClean="0">
                <a:ea typeface="黑体" panose="02010609060101010101" pitchFamily="49" charset="-122"/>
              </a:rPr>
              <a:t>，就应当把收到的帧从接口</a:t>
            </a:r>
            <a:r>
              <a:rPr lang="en-US" altLang="zh-CN" sz="2800" smtClean="0">
                <a:ea typeface="黑体" panose="02010609060101010101" pitchFamily="49" charset="-122"/>
              </a:rPr>
              <a:t>1</a:t>
            </a:r>
            <a:r>
              <a:rPr lang="zh-CN" altLang="zh-CN" sz="2800" smtClean="0">
                <a:ea typeface="黑体" panose="02010609060101010101" pitchFamily="49" charset="-122"/>
              </a:rPr>
              <a:t>转发出去。</a:t>
            </a:r>
          </a:p>
          <a:p>
            <a:endParaRPr lang="zh-CN" altLang="en-US" sz="2800" smtClean="0">
              <a:ea typeface="黑体" panose="02010609060101010101" pitchFamily="49" charset="-122"/>
            </a:endParaRPr>
          </a:p>
        </p:txBody>
      </p:sp>
      <p:sp>
        <p:nvSpPr>
          <p:cNvPr id="6246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EFE08C-DDFE-4A40-A8CC-4E9DB650692A}" type="slidenum">
              <a:rPr lang="zh-CN" altLang="en-US" smtClean="0"/>
              <a:pPr eaLnBrk="1" hangingPunct="1"/>
              <a:t>13</a:t>
            </a:fld>
            <a:endParaRPr lang="en-US" altLang="zh-CN" smtClean="0"/>
          </a:p>
        </p:txBody>
      </p:sp>
      <p:sp>
        <p:nvSpPr>
          <p:cNvPr id="6246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5" name="标题 1"/>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sp>
        <p:nvSpPr>
          <p:cNvPr id="625666" name="内容占位符 2"/>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B </a:t>
            </a:r>
            <a:r>
              <a:rPr lang="zh-CN" altLang="zh-CN" sz="2800" smtClean="0">
                <a:ea typeface="黑体" panose="02010609060101010101" pitchFamily="49" charset="-122"/>
              </a:rPr>
              <a:t>通过接口</a:t>
            </a:r>
            <a:r>
              <a:rPr lang="en-US" altLang="zh-CN" sz="2800" smtClean="0">
                <a:ea typeface="黑体" panose="02010609060101010101" pitchFamily="49" charset="-122"/>
              </a:rPr>
              <a:t> 3 </a:t>
            </a:r>
            <a:r>
              <a:rPr lang="zh-CN" altLang="zh-CN" sz="2800" smtClean="0">
                <a:ea typeface="黑体" panose="02010609060101010101" pitchFamily="49" charset="-122"/>
              </a:rPr>
              <a:t>向</a:t>
            </a:r>
            <a:r>
              <a:rPr lang="en-US" altLang="zh-CN" sz="2800" smtClean="0">
                <a:ea typeface="黑体" panose="02010609060101010101" pitchFamily="49" charset="-122"/>
              </a:rPr>
              <a:t> A </a:t>
            </a:r>
            <a:r>
              <a:rPr lang="zh-CN" altLang="zh-CN" sz="2800" smtClean="0">
                <a:ea typeface="黑体" panose="02010609060101010101" pitchFamily="49" charset="-122"/>
              </a:rPr>
              <a:t>发送一帧。</a:t>
            </a:r>
            <a:endParaRPr lang="en-US" altLang="zh-CN" sz="2800" smtClean="0">
              <a:ea typeface="黑体" panose="02010609060101010101" pitchFamily="49" charset="-122"/>
            </a:endParaRPr>
          </a:p>
          <a:p>
            <a:r>
              <a:rPr lang="zh-CN" altLang="zh-CN" sz="2800" smtClean="0">
                <a:ea typeface="黑体" panose="02010609060101010101" pitchFamily="49" charset="-122"/>
              </a:rPr>
              <a:t>交换机查找交换表，</a:t>
            </a:r>
            <a:r>
              <a:rPr lang="zh-CN" altLang="zh-CN" sz="2800" smtClean="0">
                <a:solidFill>
                  <a:srgbClr val="0000FF"/>
                </a:solidFill>
                <a:ea typeface="黑体" panose="02010609060101010101" pitchFamily="49" charset="-122"/>
              </a:rPr>
              <a:t>发现交换表中的</a:t>
            </a:r>
            <a:r>
              <a:rPr lang="en-US" altLang="zh-CN" sz="2800" smtClean="0">
                <a:solidFill>
                  <a:srgbClr val="0000FF"/>
                </a:solidFill>
                <a:ea typeface="黑体" panose="02010609060101010101" pitchFamily="49" charset="-122"/>
              </a:rPr>
              <a:t> MAC </a:t>
            </a:r>
            <a:r>
              <a:rPr lang="zh-CN" altLang="zh-CN" sz="2800" smtClean="0">
                <a:solidFill>
                  <a:srgbClr val="0000FF"/>
                </a:solidFill>
                <a:ea typeface="黑体" panose="02010609060101010101" pitchFamily="49" charset="-122"/>
              </a:rPr>
              <a:t>地址有</a:t>
            </a:r>
            <a:r>
              <a:rPr lang="en-US" altLang="zh-CN" sz="2800" smtClean="0">
                <a:solidFill>
                  <a:srgbClr val="0000FF"/>
                </a:solidFill>
                <a:ea typeface="黑体" panose="02010609060101010101" pitchFamily="49" charset="-122"/>
              </a:rPr>
              <a:t> A</a:t>
            </a:r>
            <a:r>
              <a:rPr lang="zh-CN" altLang="zh-CN" sz="2800" smtClean="0">
                <a:solidFill>
                  <a:srgbClr val="0000FF"/>
                </a:solidFill>
                <a:ea typeface="黑体" panose="02010609060101010101" pitchFamily="49" charset="-122"/>
              </a:rPr>
              <a:t>。</a:t>
            </a:r>
            <a:r>
              <a:rPr lang="zh-CN" altLang="zh-CN" sz="2800" smtClean="0">
                <a:ea typeface="黑体" panose="02010609060101010101" pitchFamily="49" charset="-122"/>
              </a:rPr>
              <a:t>表明要发送给</a:t>
            </a:r>
            <a:r>
              <a:rPr lang="en-US" altLang="zh-CN" sz="2800" smtClean="0">
                <a:ea typeface="黑体" panose="02010609060101010101" pitchFamily="49" charset="-122"/>
              </a:rPr>
              <a:t>A</a:t>
            </a:r>
            <a:r>
              <a:rPr lang="zh-CN" altLang="zh-CN" sz="2800" smtClean="0">
                <a:ea typeface="黑体" panose="02010609060101010101" pitchFamily="49" charset="-122"/>
              </a:rPr>
              <a:t>的帧（即目的地址为</a:t>
            </a:r>
            <a:r>
              <a:rPr lang="en-US" altLang="zh-CN" sz="2800" smtClean="0">
                <a:ea typeface="黑体" panose="02010609060101010101" pitchFamily="49" charset="-122"/>
              </a:rPr>
              <a:t> A </a:t>
            </a:r>
            <a:r>
              <a:rPr lang="zh-CN" altLang="zh-CN" sz="2800" smtClean="0">
                <a:ea typeface="黑体" panose="02010609060101010101" pitchFamily="49" charset="-122"/>
              </a:rPr>
              <a:t>的帧）应从接口</a:t>
            </a:r>
            <a:r>
              <a:rPr lang="en-US" altLang="zh-CN" sz="2800" smtClean="0">
                <a:ea typeface="黑体" panose="02010609060101010101" pitchFamily="49" charset="-122"/>
              </a:rPr>
              <a:t>1</a:t>
            </a:r>
            <a:r>
              <a:rPr lang="zh-CN" altLang="zh-CN" sz="2800" smtClean="0">
                <a:ea typeface="黑体" panose="02010609060101010101" pitchFamily="49" charset="-122"/>
              </a:rPr>
              <a:t>转发。</a:t>
            </a:r>
            <a:r>
              <a:rPr lang="zh-CN" altLang="zh-CN" sz="2800" smtClean="0">
                <a:solidFill>
                  <a:srgbClr val="0000FF"/>
                </a:solidFill>
                <a:ea typeface="黑体" panose="02010609060101010101" pitchFamily="49" charset="-122"/>
              </a:rPr>
              <a:t>于是就把这个帧传送到接口</a:t>
            </a:r>
            <a:r>
              <a:rPr lang="en-US" altLang="zh-CN" sz="2800" smtClean="0">
                <a:solidFill>
                  <a:srgbClr val="0000FF"/>
                </a:solidFill>
                <a:ea typeface="黑体" panose="02010609060101010101" pitchFamily="49" charset="-122"/>
              </a:rPr>
              <a:t> 1 </a:t>
            </a:r>
            <a:r>
              <a:rPr lang="zh-CN" altLang="zh-CN" sz="2800" smtClean="0">
                <a:solidFill>
                  <a:srgbClr val="0000FF"/>
                </a:solidFill>
                <a:ea typeface="黑体" panose="02010609060101010101" pitchFamily="49" charset="-122"/>
              </a:rPr>
              <a:t>转发给</a:t>
            </a:r>
            <a:r>
              <a:rPr lang="en-US" altLang="zh-CN" sz="2800" smtClean="0">
                <a:solidFill>
                  <a:srgbClr val="0000FF"/>
                </a:solidFill>
                <a:ea typeface="黑体" panose="02010609060101010101" pitchFamily="49" charset="-122"/>
              </a:rPr>
              <a:t> A</a:t>
            </a:r>
            <a:r>
              <a:rPr lang="zh-CN" altLang="zh-CN" sz="2800" smtClean="0">
                <a:solidFill>
                  <a:srgbClr val="0000FF"/>
                </a:solidFill>
                <a:ea typeface="黑体" panose="02010609060101010101" pitchFamily="49" charset="-122"/>
              </a:rPr>
              <a:t>。</a:t>
            </a:r>
            <a:r>
              <a:rPr lang="zh-CN" altLang="zh-CN" sz="2800" smtClean="0">
                <a:ea typeface="黑体" panose="02010609060101010101" pitchFamily="49" charset="-122"/>
              </a:rPr>
              <a:t>显然，现在已经没有必要再广播收到的帧。</a:t>
            </a:r>
            <a:endParaRPr lang="en-US" altLang="zh-CN" sz="2800" smtClean="0">
              <a:ea typeface="黑体" panose="02010609060101010101" pitchFamily="49" charset="-122"/>
            </a:endParaRPr>
          </a:p>
          <a:p>
            <a:r>
              <a:rPr lang="zh-CN" altLang="zh-CN" sz="2800" smtClean="0">
                <a:ea typeface="黑体" panose="02010609060101010101" pitchFamily="49" charset="-122"/>
              </a:rPr>
              <a:t>交换表这时新增加的项目</a:t>
            </a:r>
            <a:r>
              <a:rPr lang="en-US" altLang="zh-CN" sz="2800" smtClean="0">
                <a:ea typeface="黑体" panose="02010609060101010101" pitchFamily="49" charset="-122"/>
              </a:rPr>
              <a:t> (B, 3)</a:t>
            </a:r>
            <a:r>
              <a:rPr lang="zh-CN" altLang="zh-CN" sz="2800" smtClean="0">
                <a:ea typeface="黑体" panose="02010609060101010101" pitchFamily="49" charset="-122"/>
              </a:rPr>
              <a:t>，表明今后如有发送给</a:t>
            </a:r>
            <a:r>
              <a:rPr lang="en-US" altLang="zh-CN" sz="2800" smtClean="0">
                <a:ea typeface="黑体" panose="02010609060101010101" pitchFamily="49" charset="-122"/>
              </a:rPr>
              <a:t> B </a:t>
            </a:r>
            <a:r>
              <a:rPr lang="zh-CN" altLang="zh-CN" sz="2800" smtClean="0">
                <a:ea typeface="黑体" panose="02010609060101010101" pitchFamily="49" charset="-122"/>
              </a:rPr>
              <a:t>的帧，就应当从接口</a:t>
            </a:r>
            <a:r>
              <a:rPr lang="en-US" altLang="zh-CN" sz="2800" smtClean="0">
                <a:ea typeface="黑体" panose="02010609060101010101" pitchFamily="49" charset="-122"/>
              </a:rPr>
              <a:t> 3 </a:t>
            </a:r>
            <a:r>
              <a:rPr lang="zh-CN" altLang="zh-CN" sz="2800" smtClean="0">
                <a:ea typeface="黑体" panose="02010609060101010101" pitchFamily="49" charset="-122"/>
              </a:rPr>
              <a:t>转发出去。</a:t>
            </a:r>
            <a:endParaRPr lang="en-US" altLang="zh-CN" sz="2800" smtClean="0">
              <a:ea typeface="黑体" panose="02010609060101010101" pitchFamily="49" charset="-122"/>
            </a:endParaRPr>
          </a:p>
          <a:p>
            <a:r>
              <a:rPr lang="zh-CN" altLang="zh-CN" sz="2800" smtClean="0">
                <a:ea typeface="黑体" panose="02010609060101010101" pitchFamily="49" charset="-122"/>
              </a:rPr>
              <a:t>经过一段时间后，</a:t>
            </a:r>
            <a:r>
              <a:rPr lang="zh-CN" altLang="zh-CN" sz="2800" smtClean="0">
                <a:solidFill>
                  <a:srgbClr val="0000FF"/>
                </a:solidFill>
                <a:ea typeface="黑体" panose="02010609060101010101" pitchFamily="49" charset="-122"/>
              </a:rPr>
              <a:t>只要主机</a:t>
            </a:r>
            <a:r>
              <a:rPr lang="en-US" altLang="zh-CN" sz="2800" smtClean="0">
                <a:solidFill>
                  <a:srgbClr val="0000FF"/>
                </a:solidFill>
                <a:ea typeface="黑体" panose="02010609060101010101" pitchFamily="49" charset="-122"/>
              </a:rPr>
              <a:t> C </a:t>
            </a:r>
            <a:r>
              <a:rPr lang="zh-CN" altLang="zh-CN" sz="2800" smtClean="0">
                <a:solidFill>
                  <a:srgbClr val="0000FF"/>
                </a:solidFill>
                <a:ea typeface="黑体" panose="02010609060101010101" pitchFamily="49" charset="-122"/>
              </a:rPr>
              <a:t>和</a:t>
            </a:r>
            <a:r>
              <a:rPr lang="en-US" altLang="zh-CN" sz="2800" smtClean="0">
                <a:solidFill>
                  <a:srgbClr val="0000FF"/>
                </a:solidFill>
                <a:ea typeface="黑体" panose="02010609060101010101" pitchFamily="49" charset="-122"/>
              </a:rPr>
              <a:t> D </a:t>
            </a:r>
            <a:r>
              <a:rPr lang="zh-CN" altLang="zh-CN" sz="2800" smtClean="0">
                <a:solidFill>
                  <a:srgbClr val="0000FF"/>
                </a:solidFill>
                <a:ea typeface="黑体" panose="02010609060101010101" pitchFamily="49" charset="-122"/>
              </a:rPr>
              <a:t>也向其他主机发送帧，</a:t>
            </a:r>
            <a:r>
              <a:rPr lang="zh-CN" altLang="zh-CN" sz="2800" smtClean="0">
                <a:ea typeface="黑体" panose="02010609060101010101" pitchFamily="49" charset="-122"/>
              </a:rPr>
              <a:t>以太网交换机中的交换表就会把转发到</a:t>
            </a:r>
            <a:r>
              <a:rPr lang="en-US" altLang="zh-CN" sz="2800" smtClean="0">
                <a:ea typeface="黑体" panose="02010609060101010101" pitchFamily="49" charset="-122"/>
              </a:rPr>
              <a:t> C </a:t>
            </a:r>
            <a:r>
              <a:rPr lang="zh-CN" altLang="zh-CN" sz="2800" smtClean="0">
                <a:ea typeface="黑体" panose="02010609060101010101" pitchFamily="49" charset="-122"/>
              </a:rPr>
              <a:t>或</a:t>
            </a:r>
            <a:r>
              <a:rPr lang="en-US" altLang="zh-CN" sz="2800" smtClean="0">
                <a:ea typeface="黑体" panose="02010609060101010101" pitchFamily="49" charset="-122"/>
              </a:rPr>
              <a:t> D </a:t>
            </a:r>
            <a:r>
              <a:rPr lang="zh-CN" altLang="zh-CN" sz="2800" smtClean="0">
                <a:ea typeface="黑体" panose="02010609060101010101" pitchFamily="49" charset="-122"/>
              </a:rPr>
              <a:t>应当经过的接口号（</a:t>
            </a:r>
            <a:r>
              <a:rPr lang="en-US" altLang="zh-CN" sz="2800" smtClean="0">
                <a:ea typeface="黑体" panose="02010609060101010101" pitchFamily="49" charset="-122"/>
              </a:rPr>
              <a:t>2 </a:t>
            </a:r>
            <a:r>
              <a:rPr lang="zh-CN" altLang="zh-CN" sz="2800" smtClean="0">
                <a:ea typeface="黑体" panose="02010609060101010101" pitchFamily="49" charset="-122"/>
              </a:rPr>
              <a:t>或</a:t>
            </a:r>
            <a:r>
              <a:rPr lang="en-US" altLang="zh-CN" sz="2800" smtClean="0">
                <a:ea typeface="黑体" panose="02010609060101010101" pitchFamily="49" charset="-122"/>
              </a:rPr>
              <a:t> 4</a:t>
            </a:r>
            <a:r>
              <a:rPr lang="zh-CN" altLang="zh-CN" sz="2800" smtClean="0">
                <a:ea typeface="黑体" panose="02010609060101010101" pitchFamily="49" charset="-122"/>
              </a:rPr>
              <a:t>）写入到交换表中</a:t>
            </a:r>
            <a:r>
              <a:rPr lang="zh-CN" altLang="en-US" sz="2800" smtClean="0">
                <a:ea typeface="黑体" panose="02010609060101010101" pitchFamily="49" charset="-122"/>
              </a:rPr>
              <a:t>。</a:t>
            </a:r>
          </a:p>
        </p:txBody>
      </p:sp>
      <p:sp>
        <p:nvSpPr>
          <p:cNvPr id="6256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C777B6-DFEA-49F8-B53E-3BB3FC8FA1DB}" type="slidenum">
              <a:rPr lang="zh-CN" altLang="en-US" smtClean="0"/>
              <a:pPr eaLnBrk="1" hangingPunct="1"/>
              <a:t>14</a:t>
            </a:fld>
            <a:endParaRPr lang="en-US" altLang="zh-CN" smtClean="0"/>
          </a:p>
        </p:txBody>
      </p:sp>
      <p:sp>
        <p:nvSpPr>
          <p:cNvPr id="6256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89" name="标题 1"/>
          <p:cNvSpPr>
            <a:spLocks noGrp="1" noChangeArrowheads="1"/>
          </p:cNvSpPr>
          <p:nvPr>
            <p:ph type="title"/>
          </p:nvPr>
        </p:nvSpPr>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grpSp>
        <p:nvGrpSpPr>
          <p:cNvPr id="626690" name="组合 44"/>
          <p:cNvGrpSpPr>
            <a:grpSpLocks/>
          </p:cNvGrpSpPr>
          <p:nvPr/>
        </p:nvGrpSpPr>
        <p:grpSpPr bwMode="auto">
          <a:xfrm>
            <a:off x="415925" y="1279525"/>
            <a:ext cx="6016625" cy="3702050"/>
            <a:chOff x="1282798" y="2105804"/>
            <a:chExt cx="6016646" cy="3702025"/>
          </a:xfrm>
        </p:grpSpPr>
        <p:sp>
          <p:nvSpPr>
            <p:cNvPr id="4" name="矩形 3"/>
            <p:cNvSpPr/>
            <p:nvPr/>
          </p:nvSpPr>
          <p:spPr>
            <a:xfrm>
              <a:off x="3452919" y="2537601"/>
              <a:ext cx="2868622" cy="2663807"/>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noProof="1"/>
                <a:t> </a:t>
              </a:r>
              <a:endParaRPr lang="zh-CN" altLang="en-US" noProof="1"/>
            </a:p>
          </p:txBody>
        </p:sp>
        <p:sp>
          <p:nvSpPr>
            <p:cNvPr id="626692" name="Rectangle 44"/>
            <p:cNvSpPr>
              <a:spLocks noChangeArrowheads="1"/>
            </p:cNvSpPr>
            <p:nvPr/>
          </p:nvSpPr>
          <p:spPr bwMode="auto">
            <a:xfrm>
              <a:off x="3575141" y="3690860"/>
              <a:ext cx="2601995" cy="1439863"/>
            </a:xfrm>
            <a:prstGeom prst="rect">
              <a:avLst/>
            </a:prstGeom>
            <a:solidFill>
              <a:schemeClr val="bg1"/>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cxnSp>
          <p:nvCxnSpPr>
            <p:cNvPr id="6" name="直接连接符 5"/>
            <p:cNvCxnSpPr>
              <a:stCxn id="626715" idx="3"/>
            </p:cNvCxnSpPr>
            <p:nvPr/>
          </p:nvCxnSpPr>
          <p:spPr>
            <a:xfrm>
              <a:off x="6329479" y="3164660"/>
              <a:ext cx="423863"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26715" idx="3"/>
              <a:endCxn id="626712" idx="1"/>
            </p:cNvCxnSpPr>
            <p:nvPr/>
          </p:nvCxnSpPr>
          <p:spPr>
            <a:xfrm flipV="1">
              <a:off x="2948092" y="3164660"/>
              <a:ext cx="504827"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26718" idx="3"/>
              <a:endCxn id="626712" idx="1"/>
            </p:cNvCxnSpPr>
            <p:nvPr/>
          </p:nvCxnSpPr>
          <p:spPr>
            <a:xfrm flipV="1">
              <a:off x="6329479" y="2682063"/>
              <a:ext cx="495302"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26718" idx="3"/>
              <a:endCxn id="626709" idx="1"/>
            </p:cNvCxnSpPr>
            <p:nvPr/>
          </p:nvCxnSpPr>
          <p:spPr>
            <a:xfrm>
              <a:off x="3019529" y="2682063"/>
              <a:ext cx="433390"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6697" name="Rectangle 49"/>
            <p:cNvSpPr>
              <a:spLocks noChangeArrowheads="1"/>
            </p:cNvSpPr>
            <p:nvPr/>
          </p:nvSpPr>
          <p:spPr bwMode="auto">
            <a:xfrm>
              <a:off x="3524341" y="3687685"/>
              <a:ext cx="2652795" cy="9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1600" b="1">
                  <a:ea typeface="黑体" panose="02010609060101010101" pitchFamily="49" charset="-122"/>
                </a:rPr>
                <a:t>MAC</a:t>
              </a:r>
              <a:r>
                <a:rPr lang="zh-CN" altLang="en-US" sz="1600" b="1">
                  <a:ea typeface="黑体" panose="02010609060101010101" pitchFamily="49" charset="-122"/>
                </a:rPr>
                <a:t>地址  接口   有效时间</a:t>
              </a:r>
            </a:p>
            <a:p>
              <a:pPr>
                <a:lnSpc>
                  <a:spcPct val="115000"/>
                </a:lnSpc>
              </a:pPr>
              <a:r>
                <a:rPr lang="zh-CN" altLang="en-US" sz="1600" b="1">
                  <a:ea typeface="黑体" panose="02010609060101010101" pitchFamily="49" charset="-122"/>
                </a:rPr>
                <a:t>       </a:t>
              </a:r>
              <a:r>
                <a:rPr lang="en-US" altLang="zh-CN" sz="1600" b="1">
                  <a:ea typeface="黑体" panose="02010609060101010101" pitchFamily="49" charset="-122"/>
                </a:rPr>
                <a:t>A           1</a:t>
              </a:r>
            </a:p>
            <a:p>
              <a:pPr>
                <a:lnSpc>
                  <a:spcPct val="115000"/>
                </a:lnSpc>
              </a:pPr>
              <a:r>
                <a:rPr lang="en-US" altLang="zh-CN" sz="1600" b="1">
                  <a:ea typeface="黑体" panose="02010609060101010101" pitchFamily="49" charset="-122"/>
                </a:rPr>
                <a:t>       B           3</a:t>
              </a:r>
            </a:p>
          </p:txBody>
        </p:sp>
        <p:sp>
          <p:nvSpPr>
            <p:cNvPr id="626698" name="Rectangle 24"/>
            <p:cNvSpPr>
              <a:spLocks noChangeArrowheads="1"/>
            </p:cNvSpPr>
            <p:nvPr/>
          </p:nvSpPr>
          <p:spPr bwMode="auto">
            <a:xfrm>
              <a:off x="3944888" y="21058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latin typeface="黑体" panose="02010609060101010101" pitchFamily="49" charset="-122"/>
                  <a:ea typeface="黑体" panose="02010609060101010101" pitchFamily="49" charset="-122"/>
                </a:rPr>
                <a:t>以太网交换机</a:t>
              </a:r>
              <a:endParaRPr lang="en-US" altLang="zh-CN" sz="2400" b="1">
                <a:latin typeface="黑体" panose="02010609060101010101" pitchFamily="49" charset="-122"/>
                <a:ea typeface="黑体" panose="02010609060101010101" pitchFamily="49" charset="-122"/>
              </a:endParaRPr>
            </a:p>
          </p:txBody>
        </p:sp>
        <p:pic>
          <p:nvPicPr>
            <p:cNvPr id="62669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3938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00" name="Rectangle 34"/>
            <p:cNvSpPr>
              <a:spLocks noChangeArrowheads="1"/>
            </p:cNvSpPr>
            <p:nvPr/>
          </p:nvSpPr>
          <p:spPr bwMode="auto">
            <a:xfrm>
              <a:off x="2390532"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endParaRPr lang="en-US" altLang="zh-CN" sz="1600" b="1" baseline="-25000">
                <a:ea typeface="黑体" panose="02010609060101010101" pitchFamily="49" charset="-122"/>
              </a:endParaRPr>
            </a:p>
          </p:txBody>
        </p:sp>
        <p:sp>
          <p:nvSpPr>
            <p:cNvPr id="626701" name="Line 50"/>
            <p:cNvSpPr>
              <a:spLocks noChangeShapeType="1"/>
            </p:cNvSpPr>
            <p:nvPr/>
          </p:nvSpPr>
          <p:spPr bwMode="auto">
            <a:xfrm>
              <a:off x="4510179"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626702" name="组合 14"/>
            <p:cNvGrpSpPr>
              <a:grpSpLocks/>
            </p:cNvGrpSpPr>
            <p:nvPr/>
          </p:nvGrpSpPr>
          <p:grpSpPr bwMode="auto">
            <a:xfrm>
              <a:off x="3575141" y="3978198"/>
              <a:ext cx="2601995" cy="863600"/>
              <a:chOff x="3575141" y="4437298"/>
              <a:chExt cx="1439863" cy="863600"/>
            </a:xfrm>
          </p:grpSpPr>
          <p:sp>
            <p:nvSpPr>
              <p:cNvPr id="626703"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4"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5"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6"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626707" name="组合 57"/>
            <p:cNvGrpSpPr>
              <a:grpSpLocks/>
            </p:cNvGrpSpPr>
            <p:nvPr/>
          </p:nvGrpSpPr>
          <p:grpSpPr bwMode="auto">
            <a:xfrm>
              <a:off x="3452906" y="2609773"/>
              <a:ext cx="296557" cy="335989"/>
              <a:chOff x="2267744" y="1268760"/>
              <a:chExt cx="297274" cy="335989"/>
            </a:xfrm>
          </p:grpSpPr>
          <p:sp>
            <p:nvSpPr>
              <p:cNvPr id="21" name="矩形 20"/>
              <p:cNvSpPr/>
              <p:nvPr/>
            </p:nvSpPr>
            <p:spPr>
              <a:xfrm>
                <a:off x="2267757" y="1339463"/>
                <a:ext cx="288033" cy="21589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09"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1</a:t>
                </a:r>
                <a:endParaRPr lang="en-US" altLang="zh-CN" sz="1600" b="1" baseline="-25000">
                  <a:ea typeface="黑体" panose="02010609060101010101" pitchFamily="49" charset="-122"/>
                </a:endParaRPr>
              </a:p>
            </p:txBody>
          </p:sp>
        </p:grpSp>
        <p:grpSp>
          <p:nvGrpSpPr>
            <p:cNvPr id="626710" name="组合 58"/>
            <p:cNvGrpSpPr>
              <a:grpSpLocks/>
            </p:cNvGrpSpPr>
            <p:nvPr/>
          </p:nvGrpSpPr>
          <p:grpSpPr bwMode="auto">
            <a:xfrm>
              <a:off x="3452906" y="2997124"/>
              <a:ext cx="296557" cy="335989"/>
              <a:chOff x="2267744" y="1268760"/>
              <a:chExt cx="297274" cy="337019"/>
            </a:xfrm>
          </p:grpSpPr>
          <p:sp>
            <p:nvSpPr>
              <p:cNvPr id="24" name="矩形 23"/>
              <p:cNvSpPr/>
              <p:nvPr/>
            </p:nvSpPr>
            <p:spPr>
              <a:xfrm>
                <a:off x="2267757" y="1339675"/>
                <a:ext cx="28803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2"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2</a:t>
                </a:r>
                <a:endParaRPr lang="en-US" altLang="zh-CN" sz="1600" b="1" baseline="-25000">
                  <a:ea typeface="黑体" panose="02010609060101010101" pitchFamily="49" charset="-122"/>
                </a:endParaRPr>
              </a:p>
            </p:txBody>
          </p:sp>
        </p:grpSp>
        <p:grpSp>
          <p:nvGrpSpPr>
            <p:cNvPr id="626713" name="组合 61"/>
            <p:cNvGrpSpPr>
              <a:grpSpLocks/>
            </p:cNvGrpSpPr>
            <p:nvPr/>
          </p:nvGrpSpPr>
          <p:grpSpPr bwMode="auto">
            <a:xfrm>
              <a:off x="6033123" y="2997124"/>
              <a:ext cx="296557" cy="335989"/>
              <a:chOff x="2267744" y="1268760"/>
              <a:chExt cx="295640" cy="337019"/>
            </a:xfrm>
          </p:grpSpPr>
          <p:sp>
            <p:nvSpPr>
              <p:cNvPr id="27" name="矩形 26"/>
              <p:cNvSpPr/>
              <p:nvPr/>
            </p:nvSpPr>
            <p:spPr>
              <a:xfrm>
                <a:off x="2267238" y="1339675"/>
                <a:ext cx="28803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5"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4</a:t>
                </a:r>
                <a:endParaRPr lang="en-US" altLang="zh-CN" sz="1600" b="1" baseline="-25000">
                  <a:ea typeface="黑体" panose="02010609060101010101" pitchFamily="49" charset="-122"/>
                </a:endParaRPr>
              </a:p>
            </p:txBody>
          </p:sp>
        </p:grpSp>
        <p:grpSp>
          <p:nvGrpSpPr>
            <p:cNvPr id="626716" name="组合 64"/>
            <p:cNvGrpSpPr>
              <a:grpSpLocks/>
            </p:cNvGrpSpPr>
            <p:nvPr/>
          </p:nvGrpSpPr>
          <p:grpSpPr bwMode="auto">
            <a:xfrm>
              <a:off x="6033123" y="2609773"/>
              <a:ext cx="296557" cy="335989"/>
              <a:chOff x="2267744" y="1268760"/>
              <a:chExt cx="295640" cy="335429"/>
            </a:xfrm>
          </p:grpSpPr>
          <p:sp>
            <p:nvSpPr>
              <p:cNvPr id="30" name="矩形 29"/>
              <p:cNvSpPr/>
              <p:nvPr/>
            </p:nvSpPr>
            <p:spPr>
              <a:xfrm>
                <a:off x="2267238" y="1339345"/>
                <a:ext cx="288033" cy="21712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8"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3</a:t>
                </a:r>
                <a:endParaRPr lang="en-US" altLang="zh-CN" sz="1600" b="1" baseline="-25000">
                  <a:ea typeface="黑体" panose="02010609060101010101" pitchFamily="49" charset="-122"/>
                </a:endParaRPr>
              </a:p>
            </p:txBody>
          </p:sp>
        </p:grpSp>
        <p:sp>
          <p:nvSpPr>
            <p:cNvPr id="626719" name="Rectangle 24"/>
            <p:cNvSpPr>
              <a:spLocks noChangeArrowheads="1"/>
            </p:cNvSpPr>
            <p:nvPr/>
          </p:nvSpPr>
          <p:spPr bwMode="auto">
            <a:xfrm>
              <a:off x="4586536" y="33590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ea typeface="黑体" panose="02010609060101010101" pitchFamily="49" charset="-122"/>
                </a:rPr>
                <a:t>交换表</a:t>
              </a:r>
              <a:endParaRPr lang="en-US" altLang="zh-CN" b="1">
                <a:ea typeface="黑体" panose="02010609060101010101" pitchFamily="49" charset="-122"/>
              </a:endParaRPr>
            </a:p>
          </p:txBody>
        </p:sp>
        <p:pic>
          <p:nvPicPr>
            <p:cNvPr id="62672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0415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1" name="Rectangle 34"/>
            <p:cNvSpPr>
              <a:spLocks noChangeArrowheads="1"/>
            </p:cNvSpPr>
            <p:nvPr/>
          </p:nvSpPr>
          <p:spPr bwMode="auto">
            <a:xfrm>
              <a:off x="6969224" y="29939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D</a:t>
              </a:r>
              <a:endParaRPr lang="en-US" altLang="zh-CN" sz="1600" b="1" baseline="-25000">
                <a:ea typeface="黑体" panose="02010609060101010101" pitchFamily="49" charset="-122"/>
              </a:endParaRPr>
            </a:p>
          </p:txBody>
        </p:sp>
        <p:pic>
          <p:nvPicPr>
            <p:cNvPr id="62672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0415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672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3938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4" name="Rectangle 34"/>
            <p:cNvSpPr>
              <a:spLocks noChangeArrowheads="1"/>
            </p:cNvSpPr>
            <p:nvPr/>
          </p:nvSpPr>
          <p:spPr bwMode="auto">
            <a:xfrm>
              <a:off x="6969224"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endParaRPr lang="en-US" altLang="zh-CN" sz="1600" b="1" baseline="-25000">
                <a:ea typeface="黑体" panose="02010609060101010101" pitchFamily="49" charset="-122"/>
              </a:endParaRPr>
            </a:p>
          </p:txBody>
        </p:sp>
        <p:sp>
          <p:nvSpPr>
            <p:cNvPr id="626725" name="Line 50"/>
            <p:cNvSpPr>
              <a:spLocks noChangeShapeType="1"/>
            </p:cNvSpPr>
            <p:nvPr/>
          </p:nvSpPr>
          <p:spPr bwMode="auto">
            <a:xfrm>
              <a:off x="5097554"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26" name="Rectangle 34"/>
            <p:cNvSpPr>
              <a:spLocks noChangeArrowheads="1"/>
            </p:cNvSpPr>
            <p:nvPr/>
          </p:nvSpPr>
          <p:spPr bwMode="auto">
            <a:xfrm>
              <a:off x="2403252" y="30419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endParaRPr lang="en-US" altLang="zh-CN" sz="1600" b="1" baseline="-25000">
                <a:ea typeface="黑体" panose="02010609060101010101" pitchFamily="49" charset="-122"/>
              </a:endParaRPr>
            </a:p>
          </p:txBody>
        </p:sp>
        <p:sp>
          <p:nvSpPr>
            <p:cNvPr id="626727" name="矩形 39"/>
            <p:cNvSpPr>
              <a:spLocks noChangeArrowheads="1"/>
            </p:cNvSpPr>
            <p:nvPr/>
          </p:nvSpPr>
          <p:spPr bwMode="auto">
            <a:xfrm>
              <a:off x="2660740" y="5346164"/>
              <a:ext cx="44735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交换了两帧后的交换表</a:t>
              </a:r>
              <a:endParaRPr lang="en-US" altLang="zh-CN" sz="2400" b="1">
                <a:ea typeface="黑体" panose="02010609060101010101" pitchFamily="49" charset="-122"/>
              </a:endParaRPr>
            </a:p>
          </p:txBody>
        </p:sp>
        <p:sp>
          <p:nvSpPr>
            <p:cNvPr id="626728" name="Rectangle 24"/>
            <p:cNvSpPr>
              <a:spLocks noChangeArrowheads="1"/>
            </p:cNvSpPr>
            <p:nvPr/>
          </p:nvSpPr>
          <p:spPr bwMode="auto">
            <a:xfrm>
              <a:off x="1282798" y="3933056"/>
              <a:ext cx="2086026" cy="68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spcBef>
                  <a:spcPts val="300"/>
                </a:spcBef>
              </a:pPr>
              <a:r>
                <a:rPr lang="en-US" altLang="zh-CN" b="1">
                  <a:ea typeface="黑体" panose="02010609060101010101" pitchFamily="49" charset="-122"/>
                </a:rPr>
                <a:t>A </a:t>
              </a:r>
              <a:r>
                <a:rPr lang="zh-CN" altLang="en-US" b="1">
                  <a:ea typeface="黑体" panose="02010609060101010101" pitchFamily="49" charset="-122"/>
                </a:rPr>
                <a:t>发送一帧给 </a:t>
              </a:r>
              <a:r>
                <a:rPr lang="en-US" altLang="zh-CN" b="1">
                  <a:ea typeface="黑体" panose="02010609060101010101" pitchFamily="49" charset="-122"/>
                </a:rPr>
                <a:t>B</a:t>
              </a:r>
            </a:p>
            <a:p>
              <a:pPr>
                <a:spcBef>
                  <a:spcPts val="300"/>
                </a:spcBef>
              </a:pPr>
              <a:r>
                <a:rPr lang="en-US" altLang="zh-CN" b="1">
                  <a:ea typeface="黑体" panose="02010609060101010101" pitchFamily="49" charset="-122"/>
                </a:rPr>
                <a:t>B </a:t>
              </a:r>
              <a:r>
                <a:rPr lang="zh-CN" altLang="en-US" b="1">
                  <a:ea typeface="黑体" panose="02010609060101010101" pitchFamily="49" charset="-122"/>
                </a:rPr>
                <a:t>发送一帧给 </a:t>
              </a:r>
              <a:r>
                <a:rPr lang="en-US" altLang="zh-CN" b="1">
                  <a:ea typeface="黑体" panose="02010609060101010101" pitchFamily="49" charset="-122"/>
                </a:rPr>
                <a:t>A</a:t>
              </a:r>
            </a:p>
          </p:txBody>
        </p:sp>
        <p:sp>
          <p:nvSpPr>
            <p:cNvPr id="42" name="右箭头 41"/>
            <p:cNvSpPr/>
            <p:nvPr/>
          </p:nvSpPr>
          <p:spPr>
            <a:xfrm>
              <a:off x="3097317" y="4107628"/>
              <a:ext cx="487364" cy="101599"/>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43" name="右箭头 42"/>
            <p:cNvSpPr/>
            <p:nvPr/>
          </p:nvSpPr>
          <p:spPr>
            <a:xfrm>
              <a:off x="3103667" y="4379089"/>
              <a:ext cx="487364" cy="101599"/>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grpSp>
      <p:sp>
        <p:nvSpPr>
          <p:cNvPr id="626731" name="矩形 45"/>
          <p:cNvSpPr>
            <a:spLocks noChangeArrowheads="1"/>
          </p:cNvSpPr>
          <p:nvPr/>
        </p:nvSpPr>
        <p:spPr bwMode="auto">
          <a:xfrm>
            <a:off x="5907088" y="2767013"/>
            <a:ext cx="3941762" cy="26765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eaLnBrk="0" hangingPunct="0"/>
            <a:r>
              <a:rPr lang="zh-CN" altLang="zh-CN" sz="2400" b="1">
                <a:ea typeface="黑体" panose="02010609060101010101" pitchFamily="49" charset="-122"/>
              </a:rPr>
              <a:t>考虑到可能有时要在交换机的接口更换主机，或者主机要更换其网络适配器，这就需要更改交换表中的项目。为此，在交换表中每个项目都设有一定的</a:t>
            </a:r>
            <a:r>
              <a:rPr lang="zh-CN" altLang="zh-CN" sz="2400" b="1">
                <a:solidFill>
                  <a:srgbClr val="FF0000"/>
                </a:solidFill>
                <a:ea typeface="黑体" panose="02010609060101010101" pitchFamily="49" charset="-122"/>
              </a:rPr>
              <a:t>有效时间。</a:t>
            </a:r>
            <a:r>
              <a:rPr lang="zh-CN" altLang="zh-CN" sz="2400" b="1">
                <a:solidFill>
                  <a:srgbClr val="0000FF"/>
                </a:solidFill>
                <a:ea typeface="黑体" panose="02010609060101010101" pitchFamily="49" charset="-122"/>
              </a:rPr>
              <a:t>过期的项目就自动被删除。</a:t>
            </a:r>
            <a:endParaRPr lang="zh-CN" altLang="en-US" sz="2400" b="1">
              <a:solidFill>
                <a:srgbClr val="0000FF"/>
              </a:solidFill>
              <a:ea typeface="黑体" panose="02010609060101010101" pitchFamily="49" charset="-122"/>
            </a:endParaRPr>
          </a:p>
        </p:txBody>
      </p:sp>
      <p:cxnSp>
        <p:nvCxnSpPr>
          <p:cNvPr id="626732" name="直接箭头连接符 47"/>
          <p:cNvCxnSpPr>
            <a:cxnSpLocks noChangeShapeType="1"/>
            <a:stCxn id="626718" idx="3"/>
            <a:endCxn id="626709" idx="1"/>
          </p:cNvCxnSpPr>
          <p:nvPr/>
        </p:nvCxnSpPr>
        <p:spPr bwMode="auto">
          <a:xfrm flipH="1" flipV="1">
            <a:off x="5167313" y="3043238"/>
            <a:ext cx="792162" cy="339725"/>
          </a:xfrm>
          <a:prstGeom prst="straightConnector1">
            <a:avLst/>
          </a:prstGeom>
          <a:noFill/>
          <a:ln w="19050">
            <a:solidFill>
              <a:schemeClr val="tx1"/>
            </a:solidFill>
            <a:round/>
            <a:headEnd/>
            <a:tailEnd type="arrow" w="med" len="med"/>
          </a:ln>
        </p:spPr>
      </p:cxnSp>
      <p:sp>
        <p:nvSpPr>
          <p:cNvPr id="626733" name="矩形 48"/>
          <p:cNvSpPr>
            <a:spLocks noChangeArrowheads="1"/>
          </p:cNvSpPr>
          <p:nvPr/>
        </p:nvSpPr>
        <p:spPr bwMode="auto">
          <a:xfrm>
            <a:off x="849313" y="5589588"/>
            <a:ext cx="8640762" cy="869950"/>
          </a:xfrm>
          <a:prstGeom prst="rect">
            <a:avLst/>
          </a:prstGeom>
          <a:solidFill>
            <a:srgbClr val="FFFF66"/>
          </a:solidFill>
          <a:ln w="9525">
            <a:solidFill>
              <a:schemeClr val="tx1"/>
            </a:solidFill>
            <a:round/>
            <a:headEnd/>
            <a:tailEnd/>
          </a:ln>
        </p:spPr>
        <p:txBody>
          <a:bodyPr>
            <a:spAutoFit/>
          </a:bodyPr>
          <a:lstStyle/>
          <a:p>
            <a:pPr eaLnBrk="0" hangingPunct="0">
              <a:lnSpc>
                <a:spcPct val="110000"/>
              </a:lnSpc>
              <a:buSzPct val="80000"/>
            </a:pPr>
            <a:r>
              <a:rPr lang="zh-CN" altLang="zh-CN" sz="2400" b="1">
                <a:solidFill>
                  <a:srgbClr val="000066"/>
                </a:solidFill>
                <a:ea typeface="黑体" panose="02010609060101010101" pitchFamily="49" charset="-122"/>
              </a:rPr>
              <a:t>以太网交换机的这种自学习方法使得以太网交换机能够即插即用，不必人工进行配置，因此非常方便。</a:t>
            </a:r>
          </a:p>
        </p:txBody>
      </p:sp>
      <p:sp>
        <p:nvSpPr>
          <p:cNvPr id="626734" name="灯片编号占位符 4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EAF6B3-17A3-43D5-88BF-2A186565427F}" type="slidenum">
              <a:rPr lang="zh-CN" altLang="en-US" smtClean="0"/>
              <a:pPr eaLnBrk="1" hangingPunct="1"/>
              <a:t>15</a:t>
            </a:fld>
            <a:endParaRPr lang="en-US" altLang="zh-CN" smtClean="0"/>
          </a:p>
        </p:txBody>
      </p:sp>
      <p:sp>
        <p:nvSpPr>
          <p:cNvPr id="626735" name="页脚占位符 49"/>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3"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交换机自学习和转发帧的步骤归纳 </a:t>
            </a:r>
          </a:p>
        </p:txBody>
      </p:sp>
      <p:sp>
        <p:nvSpPr>
          <p:cNvPr id="62771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交换机收到一帧后先进行</a:t>
            </a:r>
            <a:r>
              <a:rPr lang="zh-CN" altLang="en-US" sz="2800" smtClean="0">
                <a:solidFill>
                  <a:srgbClr val="FF0000"/>
                </a:solidFill>
                <a:ea typeface="黑体" panose="02010609060101010101" pitchFamily="49" charset="-122"/>
              </a:rPr>
              <a:t>自学习。</a:t>
            </a:r>
            <a:r>
              <a:rPr lang="zh-CN" altLang="en-US" sz="2800" smtClean="0">
                <a:ea typeface="黑体" panose="02010609060101010101" pitchFamily="49" charset="-122"/>
              </a:rPr>
              <a:t>查找交换表中与收到帧的</a:t>
            </a:r>
            <a:r>
              <a:rPr lang="zh-CN" altLang="en-US" sz="2800" smtClean="0">
                <a:solidFill>
                  <a:srgbClr val="FF0000"/>
                </a:solidFill>
                <a:ea typeface="黑体" panose="02010609060101010101" pitchFamily="49" charset="-122"/>
              </a:rPr>
              <a:t>源地址有无相匹配</a:t>
            </a:r>
            <a:r>
              <a:rPr lang="zh-CN" altLang="en-US" sz="2800" smtClean="0">
                <a:ea typeface="黑体" panose="02010609060101010101" pitchFamily="49" charset="-122"/>
              </a:rPr>
              <a:t>的项目。</a:t>
            </a:r>
            <a:endParaRPr lang="en-US" altLang="zh-CN" sz="2800" smtClean="0">
              <a:ea typeface="黑体" panose="02010609060101010101" pitchFamily="49" charset="-122"/>
            </a:endParaRPr>
          </a:p>
          <a:p>
            <a:pPr lvl="1"/>
            <a:r>
              <a:rPr lang="zh-CN" altLang="en-US" sz="2400" smtClean="0">
                <a:ea typeface="黑体" panose="02010609060101010101" pitchFamily="49" charset="-122"/>
              </a:rPr>
              <a:t>如没有，就在交换表中增加一个项目（源地址、进入的接口和有效时间）。</a:t>
            </a:r>
            <a:endParaRPr lang="en-US" altLang="zh-CN" sz="2400" smtClean="0">
              <a:ea typeface="黑体" panose="02010609060101010101" pitchFamily="49" charset="-122"/>
            </a:endParaRPr>
          </a:p>
          <a:p>
            <a:pPr lvl="1"/>
            <a:r>
              <a:rPr lang="zh-CN" altLang="en-US" sz="2400" smtClean="0">
                <a:ea typeface="黑体" panose="02010609060101010101" pitchFamily="49" charset="-122"/>
              </a:rPr>
              <a:t>如有，则把原有的项目进行更新（进入的接口或有效时间）。</a:t>
            </a:r>
          </a:p>
          <a:p>
            <a:r>
              <a:rPr lang="zh-CN" altLang="en-US" sz="2800" smtClean="0">
                <a:solidFill>
                  <a:srgbClr val="FF0000"/>
                </a:solidFill>
                <a:ea typeface="黑体" panose="02010609060101010101" pitchFamily="49" charset="-122"/>
              </a:rPr>
              <a:t>转发帧。</a:t>
            </a:r>
            <a:r>
              <a:rPr lang="zh-CN" altLang="en-US" sz="2800" smtClean="0">
                <a:ea typeface="黑体" panose="02010609060101010101" pitchFamily="49" charset="-122"/>
              </a:rPr>
              <a:t>查找交换表中与收到帧的</a:t>
            </a:r>
            <a:r>
              <a:rPr lang="zh-CN" altLang="en-US" sz="2800" smtClean="0">
                <a:solidFill>
                  <a:srgbClr val="FF0000"/>
                </a:solidFill>
                <a:ea typeface="黑体" panose="02010609060101010101" pitchFamily="49" charset="-122"/>
              </a:rPr>
              <a:t>目的地址有无相匹配</a:t>
            </a:r>
            <a:r>
              <a:rPr lang="zh-CN" altLang="en-US" sz="2800" smtClean="0">
                <a:ea typeface="黑体" panose="02010609060101010101" pitchFamily="49" charset="-122"/>
              </a:rPr>
              <a:t>的项目。</a:t>
            </a:r>
          </a:p>
          <a:p>
            <a:pPr lvl="1"/>
            <a:r>
              <a:rPr lang="zh-CN" altLang="en-US" sz="2400" smtClean="0">
                <a:ea typeface="黑体" panose="02010609060101010101" pitchFamily="49" charset="-122"/>
              </a:rPr>
              <a:t>如没有，则向所有其他接口（进入的接口除外）转发。</a:t>
            </a:r>
          </a:p>
          <a:p>
            <a:pPr lvl="1"/>
            <a:r>
              <a:rPr lang="zh-CN" altLang="en-US" sz="2400" smtClean="0">
                <a:ea typeface="黑体" panose="02010609060101010101" pitchFamily="49" charset="-122"/>
              </a:rPr>
              <a:t>如有，则按交换表中给出的接口进行转发。</a:t>
            </a:r>
          </a:p>
          <a:p>
            <a:pPr lvl="1"/>
            <a:r>
              <a:rPr lang="zh-CN" altLang="en-US" sz="2400" smtClean="0">
                <a:ea typeface="黑体" panose="02010609060101010101" pitchFamily="49" charset="-122"/>
              </a:rPr>
              <a:t>若交换表中给出的接口就是该帧进入交换机的接口，则应丢弃这个帧（因为这时不需要经过交换机进行转发）。</a:t>
            </a:r>
          </a:p>
        </p:txBody>
      </p:sp>
      <p:sp>
        <p:nvSpPr>
          <p:cNvPr id="627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37D29E-FA88-42FE-9127-7B9391DA9794}" type="slidenum">
              <a:rPr lang="zh-CN" altLang="en-US" smtClean="0"/>
              <a:pPr eaLnBrk="1" hangingPunct="1"/>
              <a:t>16</a:t>
            </a:fld>
            <a:endParaRPr lang="en-US" altLang="zh-CN" smtClean="0"/>
          </a:p>
        </p:txBody>
      </p:sp>
      <p:sp>
        <p:nvSpPr>
          <p:cNvPr id="627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28738" name="Rectangle 2"/>
          <p:cNvSpPr>
            <a:spLocks noGrp="1" noChangeArrowheads="1"/>
          </p:cNvSpPr>
          <p:nvPr>
            <p:ph idx="1"/>
          </p:nvPr>
        </p:nvSpPr>
        <p:spPr>
          <a:xfrm>
            <a:off x="495300" y="1196975"/>
            <a:ext cx="9066213" cy="4933950"/>
          </a:xfrm>
        </p:spPr>
        <p:txBody>
          <a:bodyPr/>
          <a:lstStyle/>
          <a:p>
            <a:r>
              <a:rPr lang="zh-CN" altLang="en-US" sz="2800" smtClean="0">
                <a:solidFill>
                  <a:srgbClr val="FF0000"/>
                </a:solidFill>
                <a:ea typeface="黑体" panose="02010609060101010101" pitchFamily="49" charset="-122"/>
              </a:rPr>
              <a:t>增加冗余链路时，</a:t>
            </a:r>
            <a:r>
              <a:rPr lang="zh-CN" altLang="zh-CN" sz="2800" smtClean="0">
                <a:solidFill>
                  <a:srgbClr val="FF0000"/>
                </a:solidFill>
                <a:ea typeface="黑体" panose="02010609060101010101" pitchFamily="49" charset="-122"/>
              </a:rPr>
              <a:t>自学习的过程就可能导致以太网帧在网络的某个环路中无限制地兜圈子</a:t>
            </a:r>
            <a:r>
              <a:rPr lang="zh-CN" altLang="en-US" sz="2800" smtClean="0">
                <a:solidFill>
                  <a:srgbClr val="FF0000"/>
                </a:solidFill>
                <a:ea typeface="黑体" panose="02010609060101010101" pitchFamily="49" charset="-122"/>
              </a:rPr>
              <a:t>。</a:t>
            </a:r>
            <a:endParaRPr lang="en-US" altLang="zh-CN" sz="2800" smtClean="0">
              <a:solidFill>
                <a:srgbClr val="FF0000"/>
              </a:solidFill>
              <a:ea typeface="黑体" panose="02010609060101010101" pitchFamily="49" charset="-122"/>
            </a:endParaRPr>
          </a:p>
          <a:p>
            <a:r>
              <a:rPr lang="zh-CN" altLang="en-US" sz="2800" smtClean="0">
                <a:ea typeface="黑体" panose="02010609060101010101" pitchFamily="49" charset="-122"/>
              </a:rPr>
              <a:t>如图，</a:t>
            </a:r>
            <a:r>
              <a:rPr lang="zh-CN" altLang="zh-CN" sz="2800" smtClean="0">
                <a:ea typeface="黑体" panose="02010609060101010101" pitchFamily="49" charset="-122"/>
              </a:rPr>
              <a:t>假定开始</a:t>
            </a:r>
            <a:r>
              <a:rPr lang="zh-CN" altLang="en-US" sz="2800" smtClean="0">
                <a:ea typeface="黑体" panose="02010609060101010101" pitchFamily="49" charset="-122"/>
              </a:rPr>
              <a:t>时，</a:t>
            </a:r>
            <a:r>
              <a:rPr lang="zh-CN" altLang="zh-CN" sz="2800" smtClean="0">
                <a:ea typeface="黑体" panose="02010609060101010101" pitchFamily="49" charset="-122"/>
              </a:rPr>
              <a:t>交换机</a:t>
            </a:r>
            <a:r>
              <a:rPr lang="en-US" altLang="zh-CN" sz="2800" smtClean="0">
                <a:ea typeface="黑体" panose="02010609060101010101" pitchFamily="49" charset="-122"/>
              </a:rPr>
              <a:t> #1 </a:t>
            </a:r>
            <a:r>
              <a:rPr lang="zh-CN" altLang="en-US" sz="2800" smtClean="0">
                <a:ea typeface="黑体" panose="02010609060101010101" pitchFamily="49" charset="-122"/>
              </a:rPr>
              <a:t>和 </a:t>
            </a:r>
            <a:r>
              <a:rPr lang="en-US" altLang="zh-CN" sz="2800" smtClean="0">
                <a:ea typeface="黑体" panose="02010609060101010101" pitchFamily="49" charset="-122"/>
              </a:rPr>
              <a:t>#2 </a:t>
            </a:r>
            <a:r>
              <a:rPr lang="zh-CN" altLang="en-US" sz="2800" smtClean="0">
                <a:ea typeface="黑体" panose="02010609060101010101" pitchFamily="49" charset="-122"/>
              </a:rPr>
              <a:t>的交换表都是空的，</a:t>
            </a:r>
            <a:r>
              <a:rPr lang="zh-CN" altLang="zh-CN" sz="2800" smtClean="0">
                <a:ea typeface="黑体" panose="02010609060101010101" pitchFamily="49" charset="-122"/>
              </a:rPr>
              <a:t>主机</a:t>
            </a:r>
            <a:r>
              <a:rPr lang="en-US" altLang="zh-CN" sz="2800" smtClean="0">
                <a:ea typeface="黑体" panose="02010609060101010101" pitchFamily="49" charset="-122"/>
              </a:rPr>
              <a:t> A </a:t>
            </a:r>
            <a:r>
              <a:rPr lang="zh-CN" altLang="zh-CN" sz="2800" smtClean="0">
                <a:ea typeface="黑体" panose="02010609060101010101" pitchFamily="49" charset="-122"/>
              </a:rPr>
              <a:t>通过接口交换机</a:t>
            </a:r>
            <a:r>
              <a:rPr lang="en-US" altLang="zh-CN" sz="2800" smtClean="0">
                <a:ea typeface="黑体" panose="02010609060101010101" pitchFamily="49" charset="-122"/>
              </a:rPr>
              <a:t> #1 </a:t>
            </a:r>
            <a:r>
              <a:rPr lang="zh-CN" altLang="zh-CN" sz="2800" smtClean="0">
                <a:ea typeface="黑体" panose="02010609060101010101" pitchFamily="49" charset="-122"/>
              </a:rPr>
              <a:t>向主机</a:t>
            </a:r>
            <a:r>
              <a:rPr lang="en-US" altLang="zh-CN" sz="2800" smtClean="0">
                <a:ea typeface="黑体" panose="02010609060101010101" pitchFamily="49" charset="-122"/>
              </a:rPr>
              <a:t> B </a:t>
            </a:r>
            <a:r>
              <a:rPr lang="zh-CN" altLang="zh-CN" sz="2800" smtClean="0">
                <a:ea typeface="黑体" panose="02010609060101010101" pitchFamily="49" charset="-122"/>
              </a:rPr>
              <a:t>发送一帧。</a:t>
            </a:r>
            <a:endParaRPr lang="zh-CN" altLang="en-US" sz="2800" smtClean="0">
              <a:ea typeface="黑体" panose="02010609060101010101" pitchFamily="49" charset="-122"/>
            </a:endParaRPr>
          </a:p>
        </p:txBody>
      </p:sp>
      <p:grpSp>
        <p:nvGrpSpPr>
          <p:cNvPr id="628739" name="组合 6"/>
          <p:cNvGrpSpPr>
            <a:grpSpLocks/>
          </p:cNvGrpSpPr>
          <p:nvPr/>
        </p:nvGrpSpPr>
        <p:grpSpPr bwMode="auto">
          <a:xfrm>
            <a:off x="1047750" y="3463925"/>
            <a:ext cx="8412163" cy="2486025"/>
            <a:chOff x="1048542" y="3464664"/>
            <a:chExt cx="8411257" cy="2484616"/>
          </a:xfrm>
        </p:grpSpPr>
        <p:sp>
          <p:nvSpPr>
            <p:cNvPr id="52" name="矩形 51"/>
            <p:cNvSpPr/>
            <p:nvPr/>
          </p:nvSpPr>
          <p:spPr>
            <a:xfrm>
              <a:off x="2627935" y="4330948"/>
              <a:ext cx="1627012" cy="1535829"/>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53" name="直接连接符 52"/>
            <p:cNvCxnSpPr>
              <a:stCxn id="67" idx="3"/>
              <a:endCxn id="82" idx="1"/>
            </p:cNvCxnSpPr>
            <p:nvPr/>
          </p:nvCxnSpPr>
          <p:spPr>
            <a:xfrm>
              <a:off x="4254947" y="5409836"/>
              <a:ext cx="19730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7" idx="3"/>
              <a:endCxn id="628753" idx="1"/>
            </p:cNvCxnSpPr>
            <p:nvPr/>
          </p:nvCxnSpPr>
          <p:spPr>
            <a:xfrm flipV="1">
              <a:off x="1834270" y="5408250"/>
              <a:ext cx="814299" cy="334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28759" idx="3"/>
              <a:endCxn id="628768" idx="1"/>
            </p:cNvCxnSpPr>
            <p:nvPr/>
          </p:nvCxnSpPr>
          <p:spPr>
            <a:xfrm>
              <a:off x="4142247" y="4760917"/>
              <a:ext cx="20857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28759" idx="3"/>
              <a:endCxn id="628750" idx="1"/>
            </p:cNvCxnSpPr>
            <p:nvPr/>
          </p:nvCxnSpPr>
          <p:spPr>
            <a:xfrm>
              <a:off x="1954907" y="4654614"/>
              <a:ext cx="700012" cy="1063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8745" name="Rectangle 24"/>
            <p:cNvSpPr>
              <a:spLocks noChangeArrowheads="1"/>
            </p:cNvSpPr>
            <p:nvPr/>
          </p:nvSpPr>
          <p:spPr bwMode="auto">
            <a:xfrm>
              <a:off x="2668272"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#1</a:t>
              </a:r>
            </a:p>
          </p:txBody>
        </p:sp>
        <p:pic>
          <p:nvPicPr>
            <p:cNvPr id="628746"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47" name="Rectangle 34"/>
            <p:cNvSpPr>
              <a:spLocks noChangeArrowheads="1"/>
            </p:cNvSpPr>
            <p:nvPr/>
          </p:nvSpPr>
          <p:spPr bwMode="auto">
            <a:xfrm>
              <a:off x="1048542" y="4035261"/>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endParaRPr lang="en-US" altLang="zh-CN" sz="2400" b="1" baseline="-25000">
                <a:solidFill>
                  <a:srgbClr val="000099"/>
                </a:solidFill>
                <a:ea typeface="黑体" panose="02010609060101010101" pitchFamily="49" charset="-122"/>
              </a:endParaRPr>
            </a:p>
          </p:txBody>
        </p:sp>
        <p:grpSp>
          <p:nvGrpSpPr>
            <p:cNvPr id="628748" name="组合 57"/>
            <p:cNvGrpSpPr>
              <a:grpSpLocks/>
            </p:cNvGrpSpPr>
            <p:nvPr/>
          </p:nvGrpSpPr>
          <p:grpSpPr bwMode="auto">
            <a:xfrm>
              <a:off x="2628520" y="4531164"/>
              <a:ext cx="463493" cy="459101"/>
              <a:chOff x="2267744" y="1315667"/>
              <a:chExt cx="288032" cy="271591"/>
            </a:xfrm>
          </p:grpSpPr>
          <p:sp>
            <p:nvSpPr>
              <p:cNvPr id="61" name="矩形 60"/>
              <p:cNvSpPr/>
              <p:nvPr/>
            </p:nvSpPr>
            <p:spPr>
              <a:xfrm>
                <a:off x="2267380" y="1339890"/>
                <a:ext cx="288036" cy="2168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0" name="Rectangle 40"/>
              <p:cNvSpPr>
                <a:spLocks noChangeArrowheads="1"/>
              </p:cNvSpPr>
              <p:nvPr/>
            </p:nvSpPr>
            <p:spPr bwMode="auto">
              <a:xfrm>
                <a:off x="2283900" y="1315667"/>
                <a:ext cx="220154"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28751" name="组合 58"/>
            <p:cNvGrpSpPr>
              <a:grpSpLocks/>
            </p:cNvGrpSpPr>
            <p:nvPr/>
          </p:nvGrpSpPr>
          <p:grpSpPr bwMode="auto">
            <a:xfrm>
              <a:off x="2628520" y="5179237"/>
              <a:ext cx="463493" cy="459100"/>
              <a:chOff x="2267744" y="1311829"/>
              <a:chExt cx="288032" cy="272423"/>
            </a:xfrm>
          </p:grpSpPr>
          <p:sp>
            <p:nvSpPr>
              <p:cNvPr id="64" name="矩形 63"/>
              <p:cNvSpPr/>
              <p:nvPr/>
            </p:nvSpPr>
            <p:spPr>
              <a:xfrm>
                <a:off x="2267380" y="1340395"/>
                <a:ext cx="288036"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3" name="Rectangle 40"/>
              <p:cNvSpPr>
                <a:spLocks noChangeArrowheads="1"/>
              </p:cNvSpPr>
              <p:nvPr/>
            </p:nvSpPr>
            <p:spPr bwMode="auto">
              <a:xfrm>
                <a:off x="2280312" y="1311829"/>
                <a:ext cx="220154"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28754" name="组合 61"/>
            <p:cNvGrpSpPr>
              <a:grpSpLocks/>
            </p:cNvGrpSpPr>
            <p:nvPr/>
          </p:nvGrpSpPr>
          <p:grpSpPr bwMode="auto">
            <a:xfrm>
              <a:off x="3788534" y="5179237"/>
              <a:ext cx="466055" cy="459100"/>
              <a:chOff x="2267744" y="1311829"/>
              <a:chExt cx="288032" cy="272423"/>
            </a:xfrm>
          </p:grpSpPr>
          <p:sp>
            <p:nvSpPr>
              <p:cNvPr id="67" name="矩形 66"/>
              <p:cNvSpPr/>
              <p:nvPr/>
            </p:nvSpPr>
            <p:spPr>
              <a:xfrm>
                <a:off x="2267582" y="1340395"/>
                <a:ext cx="28841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6"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28757" name="组合 64"/>
            <p:cNvGrpSpPr>
              <a:grpSpLocks/>
            </p:cNvGrpSpPr>
            <p:nvPr/>
          </p:nvGrpSpPr>
          <p:grpSpPr bwMode="auto">
            <a:xfrm>
              <a:off x="3788534" y="4531164"/>
              <a:ext cx="466055" cy="459101"/>
              <a:chOff x="2267744" y="1315586"/>
              <a:chExt cx="288032" cy="271138"/>
            </a:xfrm>
          </p:grpSpPr>
          <p:sp>
            <p:nvSpPr>
              <p:cNvPr id="70" name="矩形 69"/>
              <p:cNvSpPr/>
              <p:nvPr/>
            </p:nvSpPr>
            <p:spPr>
              <a:xfrm>
                <a:off x="2267582" y="1339769"/>
                <a:ext cx="288415" cy="21738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9"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2876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61" name="Rectangle 34"/>
            <p:cNvSpPr>
              <a:spLocks noChangeArrowheads="1"/>
            </p:cNvSpPr>
            <p:nvPr/>
          </p:nvSpPr>
          <p:spPr bwMode="auto">
            <a:xfrm>
              <a:off x="1048542" y="5130140"/>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endParaRPr lang="en-US" altLang="zh-CN" sz="2400" b="1" baseline="-25000">
                <a:solidFill>
                  <a:srgbClr val="000099"/>
                </a:solidFill>
                <a:ea typeface="黑体" panose="02010609060101010101" pitchFamily="49" charset="-122"/>
              </a:endParaRPr>
            </a:p>
          </p:txBody>
        </p:sp>
        <p:sp>
          <p:nvSpPr>
            <p:cNvPr id="74" name="矩形 73"/>
            <p:cNvSpPr/>
            <p:nvPr/>
          </p:nvSpPr>
          <p:spPr>
            <a:xfrm>
              <a:off x="6227997" y="4330948"/>
              <a:ext cx="1627012" cy="1535829"/>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75" name="直接连接符 74"/>
            <p:cNvCxnSpPr>
              <a:stCxn id="628774" idx="3"/>
              <a:endCxn id="628750" idx="1"/>
            </p:cNvCxnSpPr>
            <p:nvPr/>
          </p:nvCxnSpPr>
          <p:spPr>
            <a:xfrm>
              <a:off x="7742309" y="5408250"/>
              <a:ext cx="807950" cy="334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28777" idx="3"/>
              <a:endCxn id="628750" idx="1"/>
            </p:cNvCxnSpPr>
            <p:nvPr/>
          </p:nvCxnSpPr>
          <p:spPr>
            <a:xfrm flipV="1">
              <a:off x="7742309" y="4654614"/>
              <a:ext cx="923825" cy="1063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8765" name="Rectangle 24"/>
            <p:cNvSpPr>
              <a:spLocks noChangeArrowheads="1"/>
            </p:cNvSpPr>
            <p:nvPr/>
          </p:nvSpPr>
          <p:spPr bwMode="auto">
            <a:xfrm>
              <a:off x="6267897"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#2</a:t>
              </a:r>
            </a:p>
          </p:txBody>
        </p:sp>
        <p:grpSp>
          <p:nvGrpSpPr>
            <p:cNvPr id="628766" name="组合 57"/>
            <p:cNvGrpSpPr>
              <a:grpSpLocks/>
            </p:cNvGrpSpPr>
            <p:nvPr/>
          </p:nvGrpSpPr>
          <p:grpSpPr bwMode="auto">
            <a:xfrm>
              <a:off x="6228145" y="4531164"/>
              <a:ext cx="463495" cy="459101"/>
              <a:chOff x="2267744" y="1315667"/>
              <a:chExt cx="288032" cy="271591"/>
            </a:xfrm>
          </p:grpSpPr>
          <p:sp>
            <p:nvSpPr>
              <p:cNvPr id="79" name="矩形 78"/>
              <p:cNvSpPr/>
              <p:nvPr/>
            </p:nvSpPr>
            <p:spPr>
              <a:xfrm>
                <a:off x="2267652" y="1339890"/>
                <a:ext cx="288035" cy="2168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68" name="Rectangle 40"/>
              <p:cNvSpPr>
                <a:spLocks noChangeArrowheads="1"/>
              </p:cNvSpPr>
              <p:nvPr/>
            </p:nvSpPr>
            <p:spPr bwMode="auto">
              <a:xfrm>
                <a:off x="2267744" y="1315667"/>
                <a:ext cx="220153"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28769" name="组合 58"/>
            <p:cNvGrpSpPr>
              <a:grpSpLocks/>
            </p:cNvGrpSpPr>
            <p:nvPr/>
          </p:nvGrpSpPr>
          <p:grpSpPr bwMode="auto">
            <a:xfrm>
              <a:off x="6228145" y="5179237"/>
              <a:ext cx="463495" cy="459100"/>
              <a:chOff x="2267744" y="1311829"/>
              <a:chExt cx="288032" cy="272423"/>
            </a:xfrm>
          </p:grpSpPr>
          <p:sp>
            <p:nvSpPr>
              <p:cNvPr id="82" name="矩形 81"/>
              <p:cNvSpPr/>
              <p:nvPr/>
            </p:nvSpPr>
            <p:spPr>
              <a:xfrm>
                <a:off x="2267652" y="1340395"/>
                <a:ext cx="28803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1" name="Rectangle 40"/>
              <p:cNvSpPr>
                <a:spLocks noChangeArrowheads="1"/>
              </p:cNvSpPr>
              <p:nvPr/>
            </p:nvSpPr>
            <p:spPr bwMode="auto">
              <a:xfrm>
                <a:off x="2267744" y="1311829"/>
                <a:ext cx="22015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28772" name="组合 61"/>
            <p:cNvGrpSpPr>
              <a:grpSpLocks/>
            </p:cNvGrpSpPr>
            <p:nvPr/>
          </p:nvGrpSpPr>
          <p:grpSpPr bwMode="auto">
            <a:xfrm>
              <a:off x="7388161" y="5179237"/>
              <a:ext cx="466055" cy="459100"/>
              <a:chOff x="2267744" y="1311829"/>
              <a:chExt cx="288032" cy="272423"/>
            </a:xfrm>
          </p:grpSpPr>
          <p:sp>
            <p:nvSpPr>
              <p:cNvPr id="85" name="矩形 84"/>
              <p:cNvSpPr/>
              <p:nvPr/>
            </p:nvSpPr>
            <p:spPr>
              <a:xfrm>
                <a:off x="2267851" y="1340395"/>
                <a:ext cx="28841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4"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28775" name="组合 64"/>
            <p:cNvGrpSpPr>
              <a:grpSpLocks/>
            </p:cNvGrpSpPr>
            <p:nvPr/>
          </p:nvGrpSpPr>
          <p:grpSpPr bwMode="auto">
            <a:xfrm>
              <a:off x="7388161" y="4531164"/>
              <a:ext cx="466055" cy="459101"/>
              <a:chOff x="2267744" y="1315586"/>
              <a:chExt cx="288032" cy="271138"/>
            </a:xfrm>
          </p:grpSpPr>
          <p:sp>
            <p:nvSpPr>
              <p:cNvPr id="88" name="矩形 87"/>
              <p:cNvSpPr/>
              <p:nvPr/>
            </p:nvSpPr>
            <p:spPr>
              <a:xfrm>
                <a:off x="2267851" y="1339769"/>
                <a:ext cx="288415" cy="21738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7"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2877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79" name="Rectangle 34"/>
            <p:cNvSpPr>
              <a:spLocks noChangeArrowheads="1"/>
            </p:cNvSpPr>
            <p:nvPr/>
          </p:nvSpPr>
          <p:spPr bwMode="auto">
            <a:xfrm>
              <a:off x="9054237" y="5130140"/>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endParaRPr lang="en-US" altLang="zh-CN" sz="2400" b="1" baseline="-25000">
                <a:solidFill>
                  <a:srgbClr val="000099"/>
                </a:solidFill>
                <a:ea typeface="黑体" panose="02010609060101010101" pitchFamily="49" charset="-122"/>
              </a:endParaRPr>
            </a:p>
          </p:txBody>
        </p:sp>
        <p:pic>
          <p:nvPicPr>
            <p:cNvPr id="62878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81" name="Rectangle 34"/>
            <p:cNvSpPr>
              <a:spLocks noChangeArrowheads="1"/>
            </p:cNvSpPr>
            <p:nvPr/>
          </p:nvSpPr>
          <p:spPr bwMode="auto">
            <a:xfrm>
              <a:off x="9054237" y="4035261"/>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endParaRPr lang="en-US" altLang="zh-CN" sz="2400" b="1" baseline="-25000">
                <a:solidFill>
                  <a:srgbClr val="000099"/>
                </a:solidFill>
                <a:ea typeface="黑体" panose="02010609060101010101" pitchFamily="49" charset="-122"/>
              </a:endParaRPr>
            </a:p>
          </p:txBody>
        </p:sp>
      </p:grpSp>
      <p:sp>
        <p:nvSpPr>
          <p:cNvPr id="62878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E8F043-B849-411F-ADCA-A18B3CA5B482}" type="slidenum">
              <a:rPr lang="zh-CN" altLang="en-US" smtClean="0"/>
              <a:pPr eaLnBrk="1" hangingPunct="1"/>
              <a:t>17</a:t>
            </a:fld>
            <a:endParaRPr lang="en-US" altLang="zh-CN" smtClean="0"/>
          </a:p>
        </p:txBody>
      </p:sp>
      <p:sp>
        <p:nvSpPr>
          <p:cNvPr id="62878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30786" name="Rectangle 2"/>
          <p:cNvSpPr>
            <a:spLocks noGrp="1" noChangeArrowheads="1"/>
          </p:cNvSpPr>
          <p:nvPr>
            <p:ph idx="1"/>
          </p:nvPr>
        </p:nvSpPr>
        <p:spPr>
          <a:xfrm>
            <a:off x="495300" y="1196975"/>
            <a:ext cx="9066213" cy="4933950"/>
          </a:xfrm>
        </p:spPr>
        <p:txBody>
          <a:bodyPr/>
          <a:lstStyle/>
          <a:p>
            <a:r>
              <a:rPr lang="zh-CN" altLang="en-US" sz="2600" smtClean="0">
                <a:ea typeface="黑体" panose="02010609060101010101" pitchFamily="49" charset="-122"/>
              </a:rPr>
              <a:t>按交换机自学习和转发方法，该</a:t>
            </a:r>
            <a:r>
              <a:rPr lang="zh-CN" altLang="zh-CN" sz="2600" smtClean="0">
                <a:ea typeface="黑体" panose="02010609060101010101" pitchFamily="49" charset="-122"/>
              </a:rPr>
              <a:t>帧的</a:t>
            </a:r>
            <a:r>
              <a:rPr lang="zh-CN" altLang="en-US" sz="2600" smtClean="0">
                <a:ea typeface="黑体" panose="02010609060101010101" pitchFamily="49" charset="-122"/>
              </a:rPr>
              <a:t>某个</a:t>
            </a:r>
            <a:r>
              <a:rPr lang="zh-CN" altLang="zh-CN" sz="2600" smtClean="0">
                <a:ea typeface="黑体" panose="02010609060101010101" pitchFamily="49" charset="-122"/>
              </a:rPr>
              <a:t>走向</a:t>
            </a:r>
            <a:r>
              <a:rPr lang="zh-CN" altLang="en-US" sz="2600" smtClean="0">
                <a:ea typeface="黑体" panose="02010609060101010101" pitchFamily="49" charset="-122"/>
              </a:rPr>
              <a:t>如下</a:t>
            </a:r>
            <a:r>
              <a:rPr lang="zh-CN" altLang="zh-CN" sz="2600" smtClean="0">
                <a:ea typeface="黑体" panose="02010609060101010101" pitchFamily="49" charset="-122"/>
              </a:rPr>
              <a:t>：离开交换机</a:t>
            </a:r>
            <a:r>
              <a:rPr lang="en-US" altLang="zh-CN" sz="2600" smtClean="0">
                <a:ea typeface="黑体" panose="02010609060101010101" pitchFamily="49" charset="-122"/>
              </a:rPr>
              <a:t> #1 </a:t>
            </a:r>
            <a:r>
              <a:rPr lang="zh-CN" altLang="zh-CN" sz="2600" smtClean="0">
                <a:ea typeface="黑体" panose="02010609060101010101" pitchFamily="49" charset="-122"/>
              </a:rPr>
              <a:t>的接口</a:t>
            </a:r>
            <a:r>
              <a:rPr lang="en-US" altLang="zh-CN" sz="2600" smtClean="0">
                <a:ea typeface="黑体" panose="02010609060101010101" pitchFamily="49" charset="-122"/>
              </a:rPr>
              <a:t> 3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#2 </a:t>
            </a:r>
            <a:r>
              <a:rPr lang="zh-CN" altLang="zh-CN" sz="2600" smtClean="0">
                <a:ea typeface="黑体" panose="02010609060101010101" pitchFamily="49" charset="-122"/>
              </a:rPr>
              <a:t>的接口</a:t>
            </a:r>
            <a:r>
              <a:rPr lang="en-US" altLang="zh-CN" sz="2600" smtClean="0">
                <a:ea typeface="黑体" panose="02010609060101010101" pitchFamily="49" charset="-122"/>
              </a:rPr>
              <a:t> 1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接口</a:t>
            </a:r>
            <a:r>
              <a:rPr lang="en-US" altLang="zh-CN" sz="2600" smtClean="0">
                <a:ea typeface="黑体" panose="02010609060101010101" pitchFamily="49" charset="-122"/>
              </a:rPr>
              <a:t> 2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#1 </a:t>
            </a:r>
            <a:r>
              <a:rPr lang="zh-CN" altLang="zh-CN" sz="2600" smtClean="0">
                <a:ea typeface="黑体" panose="02010609060101010101" pitchFamily="49" charset="-122"/>
              </a:rPr>
              <a:t>的接口</a:t>
            </a:r>
            <a:r>
              <a:rPr lang="en-US" altLang="zh-CN" sz="2600" smtClean="0">
                <a:ea typeface="黑体" panose="02010609060101010101" pitchFamily="49" charset="-122"/>
              </a:rPr>
              <a:t> 4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接口</a:t>
            </a:r>
            <a:r>
              <a:rPr lang="en-US" altLang="zh-CN" sz="2600" smtClean="0">
                <a:ea typeface="黑体" panose="02010609060101010101" pitchFamily="49" charset="-122"/>
              </a:rPr>
              <a:t> 3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#2 </a:t>
            </a:r>
            <a:r>
              <a:rPr lang="zh-CN" altLang="zh-CN" sz="2600" smtClean="0">
                <a:ea typeface="黑体" panose="02010609060101010101" pitchFamily="49" charset="-122"/>
              </a:rPr>
              <a:t>的接口</a:t>
            </a:r>
            <a:r>
              <a:rPr lang="en-US" altLang="zh-CN" sz="2600" smtClean="0">
                <a:ea typeface="黑体" panose="02010609060101010101" pitchFamily="49" charset="-122"/>
              </a:rPr>
              <a:t> 1 </a:t>
            </a:r>
            <a:r>
              <a:rPr lang="zh-CN" altLang="zh-CN" sz="2600" smtClean="0">
                <a:ea typeface="黑体" panose="02010609060101010101" pitchFamily="49" charset="-122"/>
              </a:rPr>
              <a:t>→</a:t>
            </a:r>
            <a:r>
              <a:rPr lang="en-US" altLang="zh-CN" sz="2600" smtClean="0">
                <a:ea typeface="黑体" panose="02010609060101010101" pitchFamily="49" charset="-122"/>
              </a:rPr>
              <a:t>……</a:t>
            </a:r>
            <a:r>
              <a:rPr lang="zh-CN" altLang="zh-CN" sz="2600" smtClean="0">
                <a:ea typeface="黑体" panose="02010609060101010101" pitchFamily="49" charset="-122"/>
              </a:rPr>
              <a:t>。</a:t>
            </a:r>
            <a:r>
              <a:rPr lang="zh-CN" altLang="zh-CN" sz="2600" smtClean="0">
                <a:solidFill>
                  <a:srgbClr val="FF0000"/>
                </a:solidFill>
                <a:ea typeface="黑体" panose="02010609060101010101" pitchFamily="49" charset="-122"/>
              </a:rPr>
              <a:t>这样就无限制地循环兜圈子下去，白白消耗了网络资源。</a:t>
            </a:r>
            <a:endParaRPr lang="zh-CN" altLang="en-US" sz="2600" smtClean="0">
              <a:solidFill>
                <a:srgbClr val="FF0000"/>
              </a:solidFill>
              <a:ea typeface="黑体" panose="02010609060101010101" pitchFamily="49" charset="-122"/>
            </a:endParaRPr>
          </a:p>
        </p:txBody>
      </p:sp>
      <p:grpSp>
        <p:nvGrpSpPr>
          <p:cNvPr id="630787" name="组合 1"/>
          <p:cNvGrpSpPr>
            <a:grpSpLocks/>
          </p:cNvGrpSpPr>
          <p:nvPr/>
        </p:nvGrpSpPr>
        <p:grpSpPr bwMode="auto">
          <a:xfrm>
            <a:off x="920750" y="3068638"/>
            <a:ext cx="8410575" cy="2484437"/>
            <a:chOff x="1048542" y="3464664"/>
            <a:chExt cx="8411257" cy="2484616"/>
          </a:xfrm>
        </p:grpSpPr>
        <p:sp>
          <p:nvSpPr>
            <p:cNvPr id="52" name="矩形 51"/>
            <p:cNvSpPr/>
            <p:nvPr/>
          </p:nvSpPr>
          <p:spPr>
            <a:xfrm>
              <a:off x="2628233" y="4331501"/>
              <a:ext cx="1625732" cy="153522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53" name="直接连接符 52"/>
            <p:cNvCxnSpPr>
              <a:stCxn id="67" idx="3"/>
              <a:endCxn id="82" idx="1"/>
            </p:cNvCxnSpPr>
            <p:nvPr/>
          </p:nvCxnSpPr>
          <p:spPr>
            <a:xfrm>
              <a:off x="4253965" y="5409491"/>
              <a:ext cx="19734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7" idx="3"/>
              <a:endCxn id="630801" idx="1"/>
            </p:cNvCxnSpPr>
            <p:nvPr/>
          </p:nvCxnSpPr>
          <p:spPr>
            <a:xfrm flipV="1">
              <a:off x="1834419" y="5409491"/>
              <a:ext cx="814453" cy="333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30807" idx="3"/>
              <a:endCxn id="630816" idx="1"/>
            </p:cNvCxnSpPr>
            <p:nvPr/>
          </p:nvCxnSpPr>
          <p:spPr>
            <a:xfrm>
              <a:off x="4142831" y="4760157"/>
              <a:ext cx="2084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30807" idx="3"/>
              <a:endCxn id="630798" idx="1"/>
            </p:cNvCxnSpPr>
            <p:nvPr/>
          </p:nvCxnSpPr>
          <p:spPr>
            <a:xfrm>
              <a:off x="1955079" y="4655375"/>
              <a:ext cx="700144" cy="104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793" name="Rectangle 24"/>
            <p:cNvSpPr>
              <a:spLocks noChangeArrowheads="1"/>
            </p:cNvSpPr>
            <p:nvPr/>
          </p:nvSpPr>
          <p:spPr bwMode="auto">
            <a:xfrm>
              <a:off x="2668272"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#1</a:t>
              </a:r>
            </a:p>
          </p:txBody>
        </p:sp>
        <p:pic>
          <p:nvPicPr>
            <p:cNvPr id="630794"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795" name="Rectangle 34"/>
            <p:cNvSpPr>
              <a:spLocks noChangeArrowheads="1"/>
            </p:cNvSpPr>
            <p:nvPr/>
          </p:nvSpPr>
          <p:spPr bwMode="auto">
            <a:xfrm>
              <a:off x="1048542" y="4057306"/>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endParaRPr lang="en-US" altLang="zh-CN" sz="2400" b="1" baseline="-25000">
                <a:solidFill>
                  <a:srgbClr val="000099"/>
                </a:solidFill>
                <a:ea typeface="黑体" panose="02010609060101010101" pitchFamily="49" charset="-122"/>
              </a:endParaRPr>
            </a:p>
          </p:txBody>
        </p:sp>
        <p:grpSp>
          <p:nvGrpSpPr>
            <p:cNvPr id="630796" name="组合 57"/>
            <p:cNvGrpSpPr>
              <a:grpSpLocks/>
            </p:cNvGrpSpPr>
            <p:nvPr/>
          </p:nvGrpSpPr>
          <p:grpSpPr bwMode="auto">
            <a:xfrm>
              <a:off x="2628520" y="4531164"/>
              <a:ext cx="463493" cy="459101"/>
              <a:chOff x="2267744" y="1315667"/>
              <a:chExt cx="288032" cy="271591"/>
            </a:xfrm>
          </p:grpSpPr>
          <p:sp>
            <p:nvSpPr>
              <p:cNvPr id="61" name="矩形 60"/>
              <p:cNvSpPr/>
              <p:nvPr/>
            </p:nvSpPr>
            <p:spPr>
              <a:xfrm>
                <a:off x="2267566" y="1340309"/>
                <a:ext cx="288091" cy="21601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798" name="Rectangle 40"/>
              <p:cNvSpPr>
                <a:spLocks noChangeArrowheads="1"/>
              </p:cNvSpPr>
              <p:nvPr/>
            </p:nvSpPr>
            <p:spPr bwMode="auto">
              <a:xfrm>
                <a:off x="2283900" y="1315667"/>
                <a:ext cx="220154"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30799" name="组合 58"/>
            <p:cNvGrpSpPr>
              <a:grpSpLocks/>
            </p:cNvGrpSpPr>
            <p:nvPr/>
          </p:nvGrpSpPr>
          <p:grpSpPr bwMode="auto">
            <a:xfrm>
              <a:off x="2628520" y="5179237"/>
              <a:ext cx="463493" cy="459100"/>
              <a:chOff x="2267744" y="1311829"/>
              <a:chExt cx="288032" cy="272423"/>
            </a:xfrm>
          </p:grpSpPr>
          <p:sp>
            <p:nvSpPr>
              <p:cNvPr id="64" name="矩形 63"/>
              <p:cNvSpPr/>
              <p:nvPr/>
            </p:nvSpPr>
            <p:spPr>
              <a:xfrm>
                <a:off x="2267566" y="1340121"/>
                <a:ext cx="288091"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1" name="Rectangle 40"/>
              <p:cNvSpPr>
                <a:spLocks noChangeArrowheads="1"/>
              </p:cNvSpPr>
              <p:nvPr/>
            </p:nvSpPr>
            <p:spPr bwMode="auto">
              <a:xfrm>
                <a:off x="2280312" y="1311829"/>
                <a:ext cx="220154"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30802" name="组合 61"/>
            <p:cNvGrpSpPr>
              <a:grpSpLocks/>
            </p:cNvGrpSpPr>
            <p:nvPr/>
          </p:nvGrpSpPr>
          <p:grpSpPr bwMode="auto">
            <a:xfrm>
              <a:off x="3788534" y="5179237"/>
              <a:ext cx="466055" cy="459100"/>
              <a:chOff x="2267744" y="1311829"/>
              <a:chExt cx="288032" cy="272423"/>
            </a:xfrm>
          </p:grpSpPr>
          <p:sp>
            <p:nvSpPr>
              <p:cNvPr id="67" name="矩形 66"/>
              <p:cNvSpPr/>
              <p:nvPr/>
            </p:nvSpPr>
            <p:spPr>
              <a:xfrm>
                <a:off x="2267902" y="1340121"/>
                <a:ext cx="287489"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4"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30805" name="组合 64"/>
            <p:cNvGrpSpPr>
              <a:grpSpLocks/>
            </p:cNvGrpSpPr>
            <p:nvPr/>
          </p:nvGrpSpPr>
          <p:grpSpPr bwMode="auto">
            <a:xfrm>
              <a:off x="3788534" y="4531164"/>
              <a:ext cx="466055" cy="459101"/>
              <a:chOff x="2267744" y="1315586"/>
              <a:chExt cx="288032" cy="271138"/>
            </a:xfrm>
          </p:grpSpPr>
          <p:sp>
            <p:nvSpPr>
              <p:cNvPr id="70" name="矩形 69"/>
              <p:cNvSpPr/>
              <p:nvPr/>
            </p:nvSpPr>
            <p:spPr>
              <a:xfrm>
                <a:off x="2267902" y="1340187"/>
                <a:ext cx="287489" cy="21752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7"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3080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09" name="Rectangle 34"/>
            <p:cNvSpPr>
              <a:spLocks noChangeArrowheads="1"/>
            </p:cNvSpPr>
            <p:nvPr/>
          </p:nvSpPr>
          <p:spPr bwMode="auto">
            <a:xfrm>
              <a:off x="1048542" y="5152185"/>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endParaRPr lang="en-US" altLang="zh-CN" sz="2400" b="1" baseline="-25000">
                <a:solidFill>
                  <a:srgbClr val="000099"/>
                </a:solidFill>
                <a:ea typeface="黑体" panose="02010609060101010101" pitchFamily="49" charset="-122"/>
              </a:endParaRPr>
            </a:p>
          </p:txBody>
        </p:sp>
        <p:sp>
          <p:nvSpPr>
            <p:cNvPr id="74" name="矩形 73"/>
            <p:cNvSpPr/>
            <p:nvPr/>
          </p:nvSpPr>
          <p:spPr>
            <a:xfrm>
              <a:off x="6227387" y="4331501"/>
              <a:ext cx="1627320" cy="153522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75" name="直接连接符 74"/>
            <p:cNvCxnSpPr>
              <a:stCxn id="630822" idx="3"/>
              <a:endCxn id="630798" idx="1"/>
            </p:cNvCxnSpPr>
            <p:nvPr/>
          </p:nvCxnSpPr>
          <p:spPr>
            <a:xfrm>
              <a:off x="7741985" y="5409491"/>
              <a:ext cx="808104" cy="333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30825" idx="3"/>
              <a:endCxn id="630798" idx="1"/>
            </p:cNvCxnSpPr>
            <p:nvPr/>
          </p:nvCxnSpPr>
          <p:spPr>
            <a:xfrm flipV="1">
              <a:off x="7741985" y="4655375"/>
              <a:ext cx="924000" cy="104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813" name="Rectangle 24"/>
            <p:cNvSpPr>
              <a:spLocks noChangeArrowheads="1"/>
            </p:cNvSpPr>
            <p:nvPr/>
          </p:nvSpPr>
          <p:spPr bwMode="auto">
            <a:xfrm>
              <a:off x="6267897"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#2</a:t>
              </a:r>
            </a:p>
          </p:txBody>
        </p:sp>
        <p:grpSp>
          <p:nvGrpSpPr>
            <p:cNvPr id="630814" name="组合 57"/>
            <p:cNvGrpSpPr>
              <a:grpSpLocks/>
            </p:cNvGrpSpPr>
            <p:nvPr/>
          </p:nvGrpSpPr>
          <p:grpSpPr bwMode="auto">
            <a:xfrm>
              <a:off x="6228145" y="4531164"/>
              <a:ext cx="463495" cy="459101"/>
              <a:chOff x="2267744" y="1315667"/>
              <a:chExt cx="288032" cy="271591"/>
            </a:xfrm>
          </p:grpSpPr>
          <p:sp>
            <p:nvSpPr>
              <p:cNvPr id="79" name="矩形 78"/>
              <p:cNvSpPr/>
              <p:nvPr/>
            </p:nvSpPr>
            <p:spPr>
              <a:xfrm>
                <a:off x="2267273" y="1340309"/>
                <a:ext cx="288090" cy="21601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16" name="Rectangle 40"/>
              <p:cNvSpPr>
                <a:spLocks noChangeArrowheads="1"/>
              </p:cNvSpPr>
              <p:nvPr/>
            </p:nvSpPr>
            <p:spPr bwMode="auto">
              <a:xfrm>
                <a:off x="2267744" y="1315667"/>
                <a:ext cx="220153"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30817" name="组合 58"/>
            <p:cNvGrpSpPr>
              <a:grpSpLocks/>
            </p:cNvGrpSpPr>
            <p:nvPr/>
          </p:nvGrpSpPr>
          <p:grpSpPr bwMode="auto">
            <a:xfrm>
              <a:off x="6228145" y="5179237"/>
              <a:ext cx="463495" cy="459100"/>
              <a:chOff x="2267744" y="1311829"/>
              <a:chExt cx="288032" cy="272423"/>
            </a:xfrm>
          </p:grpSpPr>
          <p:sp>
            <p:nvSpPr>
              <p:cNvPr id="82" name="矩形 81"/>
              <p:cNvSpPr/>
              <p:nvPr/>
            </p:nvSpPr>
            <p:spPr>
              <a:xfrm>
                <a:off x="2267273" y="1340121"/>
                <a:ext cx="288090"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19" name="Rectangle 40"/>
              <p:cNvSpPr>
                <a:spLocks noChangeArrowheads="1"/>
              </p:cNvSpPr>
              <p:nvPr/>
            </p:nvSpPr>
            <p:spPr bwMode="auto">
              <a:xfrm>
                <a:off x="2267744" y="1311829"/>
                <a:ext cx="22015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30820" name="组合 61"/>
            <p:cNvGrpSpPr>
              <a:grpSpLocks/>
            </p:cNvGrpSpPr>
            <p:nvPr/>
          </p:nvGrpSpPr>
          <p:grpSpPr bwMode="auto">
            <a:xfrm>
              <a:off x="7388161" y="5179237"/>
              <a:ext cx="466055" cy="459100"/>
              <a:chOff x="2267744" y="1311829"/>
              <a:chExt cx="288032" cy="272423"/>
            </a:xfrm>
          </p:grpSpPr>
          <p:sp>
            <p:nvSpPr>
              <p:cNvPr id="85" name="矩形 84"/>
              <p:cNvSpPr/>
              <p:nvPr/>
            </p:nvSpPr>
            <p:spPr>
              <a:xfrm>
                <a:off x="2267610" y="1340121"/>
                <a:ext cx="288470"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22"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30823" name="组合 64"/>
            <p:cNvGrpSpPr>
              <a:grpSpLocks/>
            </p:cNvGrpSpPr>
            <p:nvPr/>
          </p:nvGrpSpPr>
          <p:grpSpPr bwMode="auto">
            <a:xfrm>
              <a:off x="7388161" y="4531164"/>
              <a:ext cx="466055" cy="459101"/>
              <a:chOff x="2267744" y="1315586"/>
              <a:chExt cx="288032" cy="271138"/>
            </a:xfrm>
          </p:grpSpPr>
          <p:sp>
            <p:nvSpPr>
              <p:cNvPr id="88" name="矩形 87"/>
              <p:cNvSpPr/>
              <p:nvPr/>
            </p:nvSpPr>
            <p:spPr>
              <a:xfrm>
                <a:off x="2267610" y="1340187"/>
                <a:ext cx="288470" cy="21752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25"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30826"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27" name="Rectangle 34"/>
            <p:cNvSpPr>
              <a:spLocks noChangeArrowheads="1"/>
            </p:cNvSpPr>
            <p:nvPr/>
          </p:nvSpPr>
          <p:spPr bwMode="auto">
            <a:xfrm>
              <a:off x="9054237" y="5101285"/>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endParaRPr lang="en-US" altLang="zh-CN" sz="2400" b="1" baseline="-25000">
                <a:solidFill>
                  <a:srgbClr val="000099"/>
                </a:solidFill>
                <a:ea typeface="黑体" panose="02010609060101010101" pitchFamily="49" charset="-122"/>
              </a:endParaRPr>
            </a:p>
          </p:txBody>
        </p:sp>
        <p:pic>
          <p:nvPicPr>
            <p:cNvPr id="63082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29" name="Rectangle 34"/>
            <p:cNvSpPr>
              <a:spLocks noChangeArrowheads="1"/>
            </p:cNvSpPr>
            <p:nvPr/>
          </p:nvSpPr>
          <p:spPr bwMode="auto">
            <a:xfrm>
              <a:off x="9054237" y="4006406"/>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endParaRPr lang="en-US" altLang="zh-CN" sz="2400" b="1" baseline="-25000">
                <a:solidFill>
                  <a:srgbClr val="000099"/>
                </a:solidFill>
                <a:ea typeface="黑体" panose="02010609060101010101" pitchFamily="49" charset="-122"/>
              </a:endParaRPr>
            </a:p>
          </p:txBody>
        </p:sp>
        <p:cxnSp>
          <p:nvCxnSpPr>
            <p:cNvPr id="630830" name="直接箭头连接符 55"/>
            <p:cNvCxnSpPr>
              <a:cxnSpLocks noChangeShapeType="1"/>
              <a:stCxn id="630825" idx="3"/>
              <a:endCxn id="630798" idx="1"/>
            </p:cNvCxnSpPr>
            <p:nvPr/>
          </p:nvCxnSpPr>
          <p:spPr bwMode="auto">
            <a:xfrm>
              <a:off x="4592960" y="4607516"/>
              <a:ext cx="1275146" cy="0"/>
            </a:xfrm>
            <a:prstGeom prst="straightConnector1">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cxnSp>
        <p:cxnSp>
          <p:nvCxnSpPr>
            <p:cNvPr id="630831" name="直接箭头连接符 55"/>
            <p:cNvCxnSpPr>
              <a:cxnSpLocks noChangeShapeType="1"/>
              <a:stCxn id="630825" idx="3"/>
              <a:endCxn id="630798" idx="1"/>
            </p:cNvCxnSpPr>
            <p:nvPr/>
          </p:nvCxnSpPr>
          <p:spPr bwMode="auto">
            <a:xfrm flipH="1">
              <a:off x="4592960" y="5546751"/>
              <a:ext cx="1275146" cy="0"/>
            </a:xfrm>
            <a:prstGeom prst="straightConnector1">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cxnSp>
        <p:sp>
          <p:nvSpPr>
            <p:cNvPr id="96" name="弧形 95"/>
            <p:cNvSpPr/>
            <p:nvPr/>
          </p:nvSpPr>
          <p:spPr>
            <a:xfrm rot="13631864">
              <a:off x="3405382" y="4724432"/>
              <a:ext cx="1047825" cy="855731"/>
            </a:xfrm>
            <a:prstGeom prst="arc">
              <a:avLst>
                <a:gd name="adj1" fmla="val 16200000"/>
                <a:gd name="adj2" fmla="val 602015"/>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b="1" noProof="1">
                <a:solidFill>
                  <a:srgbClr val="000099"/>
                </a:solidFill>
                <a:ea typeface="黑体" panose="02010609060101010101" pitchFamily="2" charset="-122"/>
              </a:endParaRPr>
            </a:p>
          </p:txBody>
        </p:sp>
        <p:sp>
          <p:nvSpPr>
            <p:cNvPr id="97" name="弧形 96"/>
            <p:cNvSpPr/>
            <p:nvPr/>
          </p:nvSpPr>
          <p:spPr>
            <a:xfrm rot="2831864">
              <a:off x="6035289" y="4629968"/>
              <a:ext cx="1004960" cy="855732"/>
            </a:xfrm>
            <a:prstGeom prst="arc">
              <a:avLst>
                <a:gd name="adj1" fmla="val 16200000"/>
                <a:gd name="adj2" fmla="val 422187"/>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b="1" noProof="1">
                <a:solidFill>
                  <a:srgbClr val="000099"/>
                </a:solidFill>
                <a:ea typeface="黑体" panose="02010609060101010101" pitchFamily="2" charset="-122"/>
              </a:endParaRPr>
            </a:p>
          </p:txBody>
        </p:sp>
      </p:grpSp>
      <p:sp>
        <p:nvSpPr>
          <p:cNvPr id="630834" name="矩形 2"/>
          <p:cNvSpPr>
            <a:spLocks noChangeArrowheads="1"/>
          </p:cNvSpPr>
          <p:nvPr/>
        </p:nvSpPr>
        <p:spPr bwMode="auto">
          <a:xfrm>
            <a:off x="2312988" y="5554663"/>
            <a:ext cx="55927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在两个交换机之间兜圈子的帧</a:t>
            </a:r>
            <a:endParaRPr lang="zh-CN" altLang="en-US" sz="2400" b="1">
              <a:ea typeface="黑体" panose="02010609060101010101" pitchFamily="49" charset="-122"/>
            </a:endParaRPr>
          </a:p>
        </p:txBody>
      </p:sp>
      <p:sp>
        <p:nvSpPr>
          <p:cNvPr id="6308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DB3C18-E358-47FF-9005-3738267FC8BF}" type="slidenum">
              <a:rPr lang="zh-CN" altLang="en-US" smtClean="0"/>
              <a:pPr eaLnBrk="1" hangingPunct="1"/>
              <a:t>18</a:t>
            </a:fld>
            <a:endParaRPr lang="en-US" altLang="zh-CN" smtClean="0"/>
          </a:p>
        </p:txBody>
      </p:sp>
      <p:sp>
        <p:nvSpPr>
          <p:cNvPr id="6308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32834" name="Rectangle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802.1D </a:t>
            </a:r>
            <a:r>
              <a:rPr lang="zh-CN" altLang="zh-CN" dirty="0" smtClean="0">
                <a:ea typeface="黑体" panose="02010609060101010101" pitchFamily="49" charset="-122"/>
              </a:rPr>
              <a:t>标准制定了一个</a:t>
            </a:r>
            <a:r>
              <a:rPr lang="zh-CN" altLang="zh-CN" u="sng" dirty="0" smtClean="0">
                <a:solidFill>
                  <a:srgbClr val="FF0000"/>
                </a:solidFill>
                <a:ea typeface="黑体" panose="02010609060101010101" pitchFamily="49" charset="-122"/>
              </a:rPr>
              <a:t>生成树协议</a:t>
            </a:r>
            <a:r>
              <a:rPr lang="en-US" altLang="zh-CN" u="sng" dirty="0" smtClean="0">
                <a:solidFill>
                  <a:srgbClr val="FF0000"/>
                </a:solidFill>
                <a:ea typeface="黑体" panose="02010609060101010101" pitchFamily="49" charset="-122"/>
              </a:rPr>
              <a:t> STP  </a:t>
            </a:r>
            <a:r>
              <a:rPr lang="en-US" altLang="zh-CN" u="sng" dirty="0" smtClean="0">
                <a:ea typeface="黑体" panose="02010609060101010101" pitchFamily="49" charset="-122"/>
              </a:rPr>
              <a:t>(Spanning Tree Protocol)</a:t>
            </a:r>
            <a:r>
              <a:rPr lang="zh-CN" altLang="zh-CN" u="sng" dirty="0" smtClean="0">
                <a:ea typeface="黑体" panose="02010609060101010101" pitchFamily="49" charset="-122"/>
              </a:rPr>
              <a:t>。</a:t>
            </a:r>
            <a:endParaRPr lang="en-US" altLang="zh-CN" u="sng" dirty="0" smtClean="0">
              <a:ea typeface="黑体" panose="02010609060101010101" pitchFamily="49" charset="-122"/>
            </a:endParaRPr>
          </a:p>
          <a:p>
            <a:r>
              <a:rPr lang="zh-CN" altLang="zh-CN" dirty="0" smtClean="0">
                <a:ea typeface="黑体" panose="02010609060101010101" pitchFamily="49" charset="-122"/>
              </a:rPr>
              <a:t>其要点是</a:t>
            </a:r>
            <a:r>
              <a:rPr lang="zh-CN" altLang="en-US" dirty="0" smtClean="0">
                <a:ea typeface="黑体" panose="02010609060101010101" pitchFamily="49" charset="-122"/>
              </a:rPr>
              <a:t>：</a:t>
            </a:r>
            <a:r>
              <a:rPr lang="zh-CN" altLang="zh-CN" dirty="0" smtClean="0">
                <a:solidFill>
                  <a:srgbClr val="0000FF"/>
                </a:solidFill>
                <a:ea typeface="黑体" panose="02010609060101010101" pitchFamily="49" charset="-122"/>
              </a:rPr>
              <a:t>不改变网络的实际拓扑，但在逻辑上则切断某些链路，使得从一台主机到所有其他主机的路径是</a:t>
            </a:r>
            <a:r>
              <a:rPr lang="zh-CN" altLang="zh-CN" dirty="0" smtClean="0">
                <a:solidFill>
                  <a:srgbClr val="FF0000"/>
                </a:solidFill>
                <a:ea typeface="黑体" panose="02010609060101010101" pitchFamily="49" charset="-122"/>
              </a:rPr>
              <a:t>无环路的树状结构，</a:t>
            </a:r>
            <a:r>
              <a:rPr lang="zh-CN" altLang="zh-CN" dirty="0" smtClean="0">
                <a:solidFill>
                  <a:srgbClr val="0000FF"/>
                </a:solidFill>
                <a:ea typeface="黑体" panose="02010609060101010101" pitchFamily="49" charset="-122"/>
              </a:rPr>
              <a:t>从而消除了兜圈子现象。</a:t>
            </a:r>
            <a:endParaRPr lang="en-US" altLang="zh-CN" dirty="0" smtClean="0">
              <a:solidFill>
                <a:srgbClr val="0000FF"/>
              </a:solidFill>
              <a:ea typeface="黑体" panose="02010609060101010101" pitchFamily="49" charset="-122"/>
            </a:endParaRPr>
          </a:p>
          <a:p>
            <a:r>
              <a:rPr lang="zh-CN" altLang="en-US" dirty="0" smtClean="0">
                <a:ea typeface="黑体" panose="02010609060101010101" pitchFamily="49" charset="-122"/>
              </a:rPr>
              <a:t>基本思路：</a:t>
            </a:r>
            <a:r>
              <a:rPr lang="zh-CN" altLang="en-US" dirty="0" smtClean="0">
                <a:solidFill>
                  <a:srgbClr val="0000FF"/>
                </a:solidFill>
                <a:ea typeface="黑体" panose="02010609060101010101" pitchFamily="49" charset="-122"/>
              </a:rPr>
              <a:t>从根网桥开始，为其他网桥和链路设置优先级或权值，并按照优先级选择分支形成树状结构。</a:t>
            </a:r>
          </a:p>
        </p:txBody>
      </p:sp>
      <p:sp>
        <p:nvSpPr>
          <p:cNvPr id="632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723165-F45E-410C-BA09-84AAEA3467EC}" type="slidenum">
              <a:rPr lang="zh-CN" altLang="en-US" smtClean="0"/>
              <a:pPr eaLnBrk="1" hangingPunct="1"/>
              <a:t>19</a:t>
            </a:fld>
            <a:endParaRPr lang="en-US" altLang="zh-CN" smtClean="0"/>
          </a:p>
        </p:txBody>
      </p:sp>
      <p:sp>
        <p:nvSpPr>
          <p:cNvPr id="632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zh-CN" smtClean="0">
                <a:ea typeface="黑体" panose="02010609060101010101" pitchFamily="49" charset="-122"/>
              </a:rPr>
              <a:t>从总线以太网到星</a:t>
            </a:r>
            <a:r>
              <a:rPr lang="zh-CN" altLang="en-US" smtClean="0">
                <a:ea typeface="黑体" panose="02010609060101010101" pitchFamily="49" charset="-122"/>
              </a:rPr>
              <a:t>形</a:t>
            </a:r>
            <a:r>
              <a:rPr lang="zh-CN" altLang="zh-CN" smtClean="0">
                <a:ea typeface="黑体" panose="02010609060101010101" pitchFamily="49" charset="-122"/>
              </a:rPr>
              <a:t>以太网</a:t>
            </a:r>
            <a:endParaRPr lang="zh-CN" altLang="en-US" smtClean="0">
              <a:ea typeface="黑体" panose="02010609060101010101" pitchFamily="49" charset="-122"/>
            </a:endParaRPr>
          </a:p>
        </p:txBody>
      </p:sp>
      <p:sp>
        <p:nvSpPr>
          <p:cNvPr id="634882" name="内容占位符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早期，</a:t>
            </a:r>
            <a:r>
              <a:rPr lang="zh-CN" altLang="zh-CN" dirty="0" smtClean="0">
                <a:ea typeface="黑体" panose="02010609060101010101" pitchFamily="49" charset="-122"/>
              </a:rPr>
              <a:t>以太网采用无源的总线结构。</a:t>
            </a:r>
            <a:endParaRPr lang="en-US" altLang="zh-CN" dirty="0" smtClean="0">
              <a:ea typeface="黑体" panose="02010609060101010101" pitchFamily="49" charset="-122"/>
            </a:endParaRPr>
          </a:p>
          <a:p>
            <a:r>
              <a:rPr lang="zh-CN" altLang="en-US" dirty="0" smtClean="0">
                <a:ea typeface="黑体" panose="02010609060101010101" pitchFamily="49" charset="-122"/>
              </a:rPr>
              <a:t>现在，</a:t>
            </a:r>
            <a:r>
              <a:rPr lang="zh-CN" altLang="zh-CN" dirty="0" smtClean="0">
                <a:solidFill>
                  <a:srgbClr val="0000CC"/>
                </a:solidFill>
                <a:ea typeface="黑体" panose="02010609060101010101" pitchFamily="49" charset="-122"/>
              </a:rPr>
              <a:t>采用以太网交换机的星形结构成为以太网的首选拓扑</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总线以太网使用</a:t>
            </a:r>
            <a:r>
              <a:rPr lang="en-US" altLang="zh-CN" dirty="0" smtClean="0">
                <a:ea typeface="黑体" panose="02010609060101010101" pitchFamily="49" charset="-122"/>
              </a:rPr>
              <a:t> CSMA/CD </a:t>
            </a:r>
            <a:r>
              <a:rPr lang="zh-CN" altLang="zh-CN" dirty="0" smtClean="0">
                <a:ea typeface="黑体" panose="02010609060101010101" pitchFamily="49" charset="-122"/>
              </a:rPr>
              <a:t>协议，以半双工方式工作。</a:t>
            </a:r>
            <a:endParaRPr lang="en-US" altLang="zh-CN" dirty="0" smtClean="0">
              <a:ea typeface="黑体" panose="02010609060101010101" pitchFamily="49" charset="-122"/>
            </a:endParaRPr>
          </a:p>
          <a:p>
            <a:r>
              <a:rPr lang="zh-CN" altLang="zh-CN" dirty="0" smtClean="0">
                <a:ea typeface="黑体" panose="02010609060101010101" pitchFamily="49" charset="-122"/>
              </a:rPr>
              <a:t>以太网交换机不使用共享总线，没有碰撞问题，因此</a:t>
            </a:r>
            <a:r>
              <a:rPr lang="zh-CN" altLang="zh-CN" dirty="0" smtClean="0">
                <a:solidFill>
                  <a:srgbClr val="0000CC"/>
                </a:solidFill>
                <a:ea typeface="黑体" panose="02010609060101010101" pitchFamily="49" charset="-122"/>
              </a:rPr>
              <a:t>不使用</a:t>
            </a:r>
            <a:r>
              <a:rPr lang="en-US" altLang="zh-CN" dirty="0" smtClean="0">
                <a:solidFill>
                  <a:srgbClr val="0000CC"/>
                </a:solidFill>
                <a:ea typeface="黑体" panose="02010609060101010101" pitchFamily="49" charset="-122"/>
              </a:rPr>
              <a:t> CSMA/CD </a:t>
            </a:r>
            <a:r>
              <a:rPr lang="zh-CN" altLang="zh-CN" dirty="0" smtClean="0">
                <a:solidFill>
                  <a:srgbClr val="0000CC"/>
                </a:solidFill>
                <a:ea typeface="黑体" panose="02010609060101010101" pitchFamily="49" charset="-122"/>
              </a:rPr>
              <a:t>协议</a:t>
            </a:r>
            <a:r>
              <a:rPr lang="zh-CN" altLang="zh-CN" dirty="0" smtClean="0">
                <a:ea typeface="黑体" panose="02010609060101010101" pitchFamily="49" charset="-122"/>
              </a:rPr>
              <a:t>，而是以全双工方式工作。</a:t>
            </a:r>
            <a:r>
              <a:rPr lang="zh-CN" altLang="en-US" dirty="0" smtClean="0">
                <a:solidFill>
                  <a:srgbClr val="FF0000"/>
                </a:solidFill>
                <a:ea typeface="黑体" panose="02010609060101010101" pitchFamily="49" charset="-122"/>
              </a:rPr>
              <a:t>但</a:t>
            </a:r>
            <a:r>
              <a:rPr lang="zh-CN" altLang="zh-CN" dirty="0" smtClean="0">
                <a:solidFill>
                  <a:srgbClr val="FF0000"/>
                </a:solidFill>
                <a:ea typeface="黑体" panose="02010609060101010101" pitchFamily="49" charset="-122"/>
              </a:rPr>
              <a:t>仍然采用以太网的帧结构。</a:t>
            </a:r>
          </a:p>
          <a:p>
            <a:endParaRPr lang="en-US" altLang="zh-CN" dirty="0" smtClean="0">
              <a:ea typeface="黑体" panose="02010609060101010101" pitchFamily="49" charset="-122"/>
            </a:endParaRPr>
          </a:p>
        </p:txBody>
      </p:sp>
      <p:sp>
        <p:nvSpPr>
          <p:cNvPr id="6348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8CA3F3-634F-4C94-9CC9-7777A0A0FCC5}" type="slidenum">
              <a:rPr lang="zh-CN" altLang="en-US" smtClean="0"/>
              <a:pPr eaLnBrk="1" hangingPunct="1"/>
              <a:t>20</a:t>
            </a:fld>
            <a:endParaRPr lang="en-US" altLang="zh-CN" smtClean="0"/>
          </a:p>
        </p:txBody>
      </p:sp>
      <p:sp>
        <p:nvSpPr>
          <p:cNvPr id="6348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3.4.3  </a:t>
            </a:r>
            <a:r>
              <a:rPr lang="zh-CN" altLang="zh-CN" smtClean="0">
                <a:ea typeface="黑体" panose="02010609060101010101" pitchFamily="49" charset="-122"/>
              </a:rPr>
              <a:t>虚拟局域网</a:t>
            </a:r>
            <a:endParaRPr lang="zh-CN" altLang="en-US" smtClean="0">
              <a:ea typeface="黑体" panose="02010609060101010101" pitchFamily="49" charset="-122"/>
            </a:endParaRPr>
          </a:p>
        </p:txBody>
      </p:sp>
      <p:sp>
        <p:nvSpPr>
          <p:cNvPr id="635906" name="内容占位符 2"/>
          <p:cNvSpPr>
            <a:spLocks noGrp="1" noChangeArrowheads="1"/>
          </p:cNvSpPr>
          <p:nvPr>
            <p:ph idx="1"/>
          </p:nvPr>
        </p:nvSpPr>
        <p:spPr>
          <a:xfrm>
            <a:off x="495300" y="1196975"/>
            <a:ext cx="9066213" cy="4933950"/>
          </a:xfrm>
        </p:spPr>
        <p:txBody>
          <a:bodyPr/>
          <a:lstStyle/>
          <a:p>
            <a:pPr>
              <a:lnSpc>
                <a:spcPct val="100000"/>
              </a:lnSpc>
            </a:pPr>
            <a:r>
              <a:rPr lang="zh-CN" altLang="zh-CN" sz="2800" dirty="0" smtClean="0">
                <a:ea typeface="黑体" panose="02010609060101010101" pitchFamily="49" charset="-122"/>
              </a:rPr>
              <a:t>利用以太网交换机可以很方便地实现</a:t>
            </a:r>
            <a:r>
              <a:rPr lang="zh-CN" altLang="zh-CN" sz="2800" u="sng" dirty="0" smtClean="0">
                <a:solidFill>
                  <a:srgbClr val="FF0000"/>
                </a:solidFill>
                <a:ea typeface="黑体" panose="02010609060101010101" pitchFamily="49" charset="-122"/>
              </a:rPr>
              <a:t>虚拟局域网</a:t>
            </a:r>
            <a:r>
              <a:rPr lang="en-US" altLang="zh-CN" sz="2800" u="sng" dirty="0" smtClean="0">
                <a:solidFill>
                  <a:srgbClr val="FF0000"/>
                </a:solidFill>
                <a:ea typeface="黑体" panose="02010609060101010101" pitchFamily="49" charset="-122"/>
              </a:rPr>
              <a:t> VLAN (Virtual LAN)</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pPr>
              <a:lnSpc>
                <a:spcPct val="100000"/>
              </a:lnSpc>
            </a:pPr>
            <a:r>
              <a:rPr lang="zh-CN" altLang="zh-CN" sz="2800" dirty="0" smtClean="0">
                <a:solidFill>
                  <a:srgbClr val="FF0000"/>
                </a:solidFill>
                <a:ea typeface="黑体" panose="02010609060101010101" pitchFamily="49" charset="-122"/>
              </a:rPr>
              <a:t>虚拟局域网</a:t>
            </a:r>
            <a:r>
              <a:rPr lang="en-US" altLang="zh-CN" sz="2800" dirty="0" smtClean="0">
                <a:solidFill>
                  <a:srgbClr val="FF0000"/>
                </a:solidFill>
                <a:ea typeface="黑体" panose="02010609060101010101" pitchFamily="49" charset="-122"/>
              </a:rPr>
              <a:t> VLAN </a:t>
            </a:r>
            <a:r>
              <a:rPr lang="zh-CN" altLang="zh-CN" sz="2800" dirty="0" smtClean="0">
                <a:ea typeface="黑体" panose="02010609060101010101" pitchFamily="49" charset="-122"/>
              </a:rPr>
              <a:t>是由一些局域网网段构成的</a:t>
            </a:r>
            <a:r>
              <a:rPr lang="zh-CN" altLang="zh-CN" sz="2800" dirty="0" smtClean="0">
                <a:solidFill>
                  <a:srgbClr val="0000FF"/>
                </a:solidFill>
                <a:ea typeface="黑体" panose="02010609060101010101" pitchFamily="49" charset="-122"/>
              </a:rPr>
              <a:t>与物理位置无关的逻辑组，</a:t>
            </a:r>
            <a:r>
              <a:rPr lang="zh-CN" altLang="zh-CN" sz="2800" dirty="0" smtClean="0">
                <a:ea typeface="黑体" panose="02010609060101010101" pitchFamily="49" charset="-122"/>
              </a:rPr>
              <a:t>而这些网段具有某些共同的需求。每一个</a:t>
            </a:r>
            <a:r>
              <a:rPr lang="en-US" altLang="zh-CN" sz="2800" dirty="0" smtClean="0">
                <a:ea typeface="黑体" panose="02010609060101010101" pitchFamily="49" charset="-122"/>
              </a:rPr>
              <a:t> VLAN </a:t>
            </a:r>
            <a:r>
              <a:rPr lang="zh-CN" altLang="zh-CN" sz="2800" dirty="0" smtClean="0">
                <a:ea typeface="黑体" panose="02010609060101010101" pitchFamily="49" charset="-122"/>
              </a:rPr>
              <a:t>的帧都有一个明确的标识符，指明发送这个帧的计算机是属于哪一个</a:t>
            </a:r>
            <a:r>
              <a:rPr lang="en-US" altLang="zh-CN" sz="2800" dirty="0" smtClean="0">
                <a:ea typeface="黑体" panose="02010609060101010101" pitchFamily="49" charset="-122"/>
              </a:rPr>
              <a:t> VLAN</a:t>
            </a:r>
            <a:r>
              <a:rPr lang="zh-CN" altLang="zh-CN" sz="2800" dirty="0" smtClean="0">
                <a:ea typeface="黑体" panose="02010609060101010101" pitchFamily="49" charset="-122"/>
              </a:rPr>
              <a:t>。</a:t>
            </a:r>
          </a:p>
          <a:p>
            <a:pPr>
              <a:lnSpc>
                <a:spcPct val="100000"/>
              </a:lnSpc>
            </a:pPr>
            <a:r>
              <a:rPr lang="zh-CN" altLang="zh-CN" sz="2800" dirty="0" smtClean="0">
                <a:solidFill>
                  <a:srgbClr val="FF0000"/>
                </a:solidFill>
                <a:ea typeface="黑体" panose="02010609060101010101" pitchFamily="49" charset="-122"/>
              </a:rPr>
              <a:t>虚拟局域网其实只是局域网给用户提供的一种服务，而并不是一种新型局域网。</a:t>
            </a:r>
            <a:endParaRPr lang="en-US" altLang="zh-CN" sz="2800" dirty="0" smtClean="0">
              <a:solidFill>
                <a:srgbClr val="FF0000"/>
              </a:solidFill>
              <a:ea typeface="黑体" panose="02010609060101010101" pitchFamily="49" charset="-122"/>
            </a:endParaRPr>
          </a:p>
          <a:p>
            <a:pPr>
              <a:lnSpc>
                <a:spcPct val="100000"/>
              </a:lnSpc>
            </a:pPr>
            <a:r>
              <a:rPr lang="zh-CN" altLang="zh-CN" sz="2800" dirty="0" smtClean="0">
                <a:ea typeface="黑体" panose="02010609060101010101" pitchFamily="49" charset="-122"/>
              </a:rPr>
              <a:t>由于虚拟局域网是用户和网络资源的</a:t>
            </a:r>
            <a:r>
              <a:rPr lang="zh-CN" altLang="zh-CN" sz="2800" dirty="0" smtClean="0">
                <a:solidFill>
                  <a:srgbClr val="0000CC"/>
                </a:solidFill>
                <a:ea typeface="黑体" panose="02010609060101010101" pitchFamily="49" charset="-122"/>
              </a:rPr>
              <a:t>逻辑组合</a:t>
            </a:r>
            <a:r>
              <a:rPr lang="zh-CN" altLang="zh-CN" sz="2800" dirty="0" smtClean="0">
                <a:ea typeface="黑体" panose="02010609060101010101" pitchFamily="49" charset="-122"/>
              </a:rPr>
              <a:t>，因此可按照需要将有关设备和资源非常方便地重新组合，使用户从不同的服务器或数据库中存取所需的资源。</a:t>
            </a:r>
            <a:endParaRPr lang="zh-CN" altLang="zh-CN" sz="2800" dirty="0" smtClean="0">
              <a:solidFill>
                <a:srgbClr val="FF0000"/>
              </a:solidFill>
              <a:ea typeface="黑体" panose="02010609060101010101" pitchFamily="49" charset="-122"/>
            </a:endParaRPr>
          </a:p>
          <a:p>
            <a:pPr>
              <a:lnSpc>
                <a:spcPct val="100000"/>
              </a:lnSpc>
            </a:pPr>
            <a:endParaRPr lang="en-US" altLang="zh-CN" sz="2800" dirty="0" smtClean="0">
              <a:ea typeface="黑体" panose="02010609060101010101" pitchFamily="49" charset="-122"/>
            </a:endParaRPr>
          </a:p>
          <a:p>
            <a:pPr>
              <a:lnSpc>
                <a:spcPct val="100000"/>
              </a:lnSpc>
            </a:pPr>
            <a:endParaRPr lang="zh-CN" altLang="en-US" sz="2800" dirty="0" smtClean="0">
              <a:ea typeface="黑体" panose="02010609060101010101" pitchFamily="49" charset="-122"/>
            </a:endParaRPr>
          </a:p>
        </p:txBody>
      </p:sp>
      <p:sp>
        <p:nvSpPr>
          <p:cNvPr id="63590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AB641E-2467-4952-B50B-A87BF62D9FBE}" type="slidenum">
              <a:rPr lang="zh-CN" altLang="en-US" smtClean="0"/>
              <a:pPr eaLnBrk="1" hangingPunct="1"/>
              <a:t>21</a:t>
            </a:fld>
            <a:endParaRPr lang="en-US" altLang="zh-CN" smtClean="0"/>
          </a:p>
        </p:txBody>
      </p:sp>
      <p:sp>
        <p:nvSpPr>
          <p:cNvPr id="63590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6929" name="组合 1"/>
          <p:cNvGrpSpPr>
            <a:grpSpLocks/>
          </p:cNvGrpSpPr>
          <p:nvPr/>
        </p:nvGrpSpPr>
        <p:grpSpPr bwMode="auto">
          <a:xfrm>
            <a:off x="895350" y="304800"/>
            <a:ext cx="8191500" cy="6292850"/>
            <a:chOff x="896012" y="304800"/>
            <a:chExt cx="8191367" cy="6292850"/>
          </a:xfrm>
        </p:grpSpPr>
        <p:sp>
          <p:nvSpPr>
            <p:cNvPr id="636930"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1"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2"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3"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4"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5"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6"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7"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8"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9"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0"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1"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2"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3"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4"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45"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6"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7"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36948"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49"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0"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51"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2"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3"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4"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5"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6"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57"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58"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59"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60"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61"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62"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63"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36964"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6"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7"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8"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9"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0"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1"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2"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3"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6974"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75"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6"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7"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8"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9"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36980" name="Text Box 52"/>
          <p:cNvSpPr txBox="1">
            <a:spLocks noChangeArrowheads="1"/>
          </p:cNvSpPr>
          <p:nvPr/>
        </p:nvSpPr>
        <p:spPr bwMode="auto">
          <a:xfrm>
            <a:off x="4394200" y="5805488"/>
            <a:ext cx="5253038" cy="830262"/>
          </a:xfrm>
          <a:prstGeom prst="rect">
            <a:avLst/>
          </a:prstGeom>
          <a:solidFill>
            <a:srgbClr val="FFCC66"/>
          </a:solidFill>
          <a:ln w="9525">
            <a:solidFill>
              <a:srgbClr val="000099"/>
            </a:solidFill>
            <a:round/>
            <a:headEnd/>
            <a:tailEnd/>
          </a:ln>
        </p:spPr>
        <p:txBody>
          <a:bodyPr wrap="none">
            <a:spAutoFit/>
          </a:bodyPr>
          <a:lstStyle/>
          <a:p>
            <a:pPr algn="ctr" eaLnBrk="0" hangingPunct="0"/>
            <a:r>
              <a:rPr lang="en-US" altLang="zh-CN" sz="2400" b="1">
                <a:solidFill>
                  <a:srgbClr val="000099"/>
                </a:solidFill>
                <a:ea typeface="黑体" panose="02010609060101010101" pitchFamily="49" charset="-122"/>
              </a:rPr>
              <a:t>10 </a:t>
            </a:r>
            <a:r>
              <a:rPr lang="zh-CN" altLang="en-US" sz="2400" b="1">
                <a:solidFill>
                  <a:srgbClr val="000099"/>
                </a:solidFill>
                <a:ea typeface="黑体" panose="02010609060101010101" pitchFamily="49" charset="-122"/>
              </a:rPr>
              <a:t>台计算机划分为三个虚拟局域网：</a:t>
            </a:r>
            <a:endParaRPr lang="en-US" altLang="zh-CN" sz="2400" b="1">
              <a:solidFill>
                <a:srgbClr val="000099"/>
              </a:solidFill>
              <a:ea typeface="黑体" panose="02010609060101010101" pitchFamily="49" charset="-122"/>
            </a:endParaRPr>
          </a:p>
          <a:p>
            <a:pPr algn="ctr" eaLnBrk="0" hangingPunct="0"/>
            <a:r>
              <a:rPr lang="en-US" altLang="zh-CN" sz="2400" b="1">
                <a:solidFill>
                  <a:srgbClr val="000099"/>
                </a:solidFill>
                <a:ea typeface="黑体" panose="02010609060101010101" pitchFamily="49" charset="-122"/>
              </a:rPr>
              <a:t> VLAN</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VLAN</a:t>
            </a:r>
            <a:r>
              <a:rPr lang="en-US" altLang="zh-CN" sz="2400" b="1" baseline="-25000">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和 </a:t>
            </a:r>
            <a:r>
              <a:rPr lang="en-US" altLang="zh-CN" sz="2400" b="1">
                <a:solidFill>
                  <a:srgbClr val="000099"/>
                </a:solidFill>
                <a:ea typeface="黑体" panose="02010609060101010101" pitchFamily="49" charset="-122"/>
              </a:rPr>
              <a:t>VLAN</a:t>
            </a:r>
            <a:r>
              <a:rPr lang="en-US" altLang="zh-CN" sz="2400" b="1" baseline="-25000">
                <a:solidFill>
                  <a:srgbClr val="000099"/>
                </a:solidFill>
                <a:ea typeface="黑体" panose="02010609060101010101" pitchFamily="49" charset="-122"/>
              </a:rPr>
              <a:t>3</a:t>
            </a:r>
            <a:endParaRPr lang="en-US" altLang="zh-CN" sz="2400" b="1">
              <a:solidFill>
                <a:srgbClr val="000099"/>
              </a:solidFill>
              <a:ea typeface="黑体" panose="02010609060101010101" pitchFamily="49" charset="-122"/>
            </a:endParaRPr>
          </a:p>
        </p:txBody>
      </p:sp>
      <p:sp>
        <p:nvSpPr>
          <p:cNvPr id="63698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65F8F53-0AC2-422D-B993-8DF5AFE1C566}" type="slidenum">
              <a:rPr lang="zh-CN" altLang="en-US" smtClean="0"/>
              <a:pPr/>
              <a:t>22</a:t>
            </a:fld>
            <a:endParaRPr lang="en-US" altLang="zh-CN" smtClean="0"/>
          </a:p>
        </p:txBody>
      </p:sp>
      <p:sp>
        <p:nvSpPr>
          <p:cNvPr id="63698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213" name="Text Box 53"/>
          <p:cNvSpPr txBox="1">
            <a:spLocks noChangeArrowheads="1"/>
          </p:cNvSpPr>
          <p:nvPr/>
        </p:nvSpPr>
        <p:spPr bwMode="auto">
          <a:xfrm>
            <a:off x="3546475" y="5765800"/>
            <a:ext cx="6245225" cy="831850"/>
          </a:xfrm>
          <a:prstGeom prst="rect">
            <a:avLst/>
          </a:prstGeom>
          <a:solidFill>
            <a:srgbClr val="FFCC66"/>
          </a:solidFill>
          <a:ln w="9525">
            <a:solidFill>
              <a:srgbClr val="000099"/>
            </a:solidFill>
            <a:round/>
            <a:headEnd/>
            <a:tailEnd/>
          </a:ln>
        </p:spPr>
        <p:txBody>
          <a:bodyPr>
            <a:spAutoFit/>
          </a:bodyPr>
          <a:lstStyle/>
          <a:p>
            <a:pPr eaLnBrk="0" hangingPunct="0"/>
            <a:r>
              <a:rPr lang="zh-CN" altLang="en-US" sz="2400" b="1">
                <a:solidFill>
                  <a:srgbClr val="000099"/>
                </a:solidFill>
                <a:ea typeface="黑体" panose="02010609060101010101" pitchFamily="49" charset="-122"/>
              </a:rPr>
              <a:t>当 </a:t>
            </a:r>
            <a:r>
              <a:rPr lang="en-US" altLang="zh-CN" sz="2400" b="1">
                <a:solidFill>
                  <a:srgbClr val="000099"/>
                </a:solidFill>
                <a:ea typeface="黑体" panose="02010609060101010101" pitchFamily="49" charset="-122"/>
              </a:rPr>
              <a:t>B</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向 </a:t>
            </a:r>
            <a:r>
              <a:rPr lang="en-US" altLang="zh-CN" sz="2400" b="1">
                <a:solidFill>
                  <a:srgbClr val="000099"/>
                </a:solidFill>
                <a:ea typeface="黑体" panose="02010609060101010101" pitchFamily="49" charset="-122"/>
              </a:rPr>
              <a:t>VLAN</a:t>
            </a:r>
            <a:r>
              <a:rPr lang="en-US" altLang="zh-CN" sz="2400" b="1" baseline="-25000">
                <a:solidFill>
                  <a:srgbClr val="000099"/>
                </a:solidFill>
                <a:ea typeface="黑体" panose="02010609060101010101" pitchFamily="49" charset="-122"/>
              </a:rPr>
              <a:t>2</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工作组内成员发送数据时，</a:t>
            </a:r>
          </a:p>
          <a:p>
            <a:pPr eaLnBrk="0" hangingPunct="0"/>
            <a:r>
              <a:rPr lang="zh-CN" altLang="en-US" sz="2400" b="1">
                <a:solidFill>
                  <a:srgbClr val="0000FF"/>
                </a:solidFill>
                <a:ea typeface="黑体" panose="02010609060101010101" pitchFamily="49" charset="-122"/>
              </a:rPr>
              <a:t>工作站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2</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和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3</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将会收到广播的信息。</a:t>
            </a:r>
          </a:p>
        </p:txBody>
      </p:sp>
      <p:grpSp>
        <p:nvGrpSpPr>
          <p:cNvPr id="638978" name="组合 156"/>
          <p:cNvGrpSpPr>
            <a:grpSpLocks/>
          </p:cNvGrpSpPr>
          <p:nvPr/>
        </p:nvGrpSpPr>
        <p:grpSpPr bwMode="auto">
          <a:xfrm>
            <a:off x="895350" y="304800"/>
            <a:ext cx="8191500" cy="6292850"/>
            <a:chOff x="896012" y="304800"/>
            <a:chExt cx="8191367" cy="6292850"/>
          </a:xfrm>
        </p:grpSpPr>
        <p:sp>
          <p:nvSpPr>
            <p:cNvPr id="638979"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0"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1"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2"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3"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4"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5"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6"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7"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8"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9"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0"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1"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2"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3"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8994"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5"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6"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38997"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8998"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9"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9000"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01"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02"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3"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4"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5"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06"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07"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08"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09"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10"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11"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12"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39013"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5"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6"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7"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8"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9"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0"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1"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2"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9023"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9024"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5"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6"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7"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8"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390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70FEFE-6FE8-4176-A261-4279D794A9B5}" type="slidenum">
              <a:rPr lang="zh-CN" altLang="en-US" smtClean="0"/>
              <a:pPr/>
              <a:t>23</a:t>
            </a:fld>
            <a:endParaRPr lang="en-US" altLang="zh-CN" smtClean="0"/>
          </a:p>
        </p:txBody>
      </p:sp>
      <p:sp>
        <p:nvSpPr>
          <p:cNvPr id="6390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237" name="Text Box 53"/>
          <p:cNvSpPr txBox="1">
            <a:spLocks noChangeArrowheads="1"/>
          </p:cNvSpPr>
          <p:nvPr/>
        </p:nvSpPr>
        <p:spPr bwMode="auto">
          <a:xfrm>
            <a:off x="3546475" y="5765800"/>
            <a:ext cx="6159500" cy="831850"/>
          </a:xfrm>
          <a:prstGeom prst="rect">
            <a:avLst/>
          </a:prstGeom>
          <a:solidFill>
            <a:srgbClr val="FFCC66"/>
          </a:solidFill>
          <a:ln w="9525">
            <a:solidFill>
              <a:srgbClr val="000099"/>
            </a:solidFill>
            <a:round/>
            <a:headEnd/>
            <a:tailEnd/>
          </a:ln>
        </p:spPr>
        <p:txBody>
          <a:bodyPr>
            <a:spAutoFit/>
          </a:bodyPr>
          <a:lstStyle/>
          <a:p>
            <a:pPr eaLnBrk="0" hangingPunct="0"/>
            <a:r>
              <a:rPr lang="en-US" altLang="zh-CN" sz="2400" b="1">
                <a:solidFill>
                  <a:srgbClr val="000099"/>
                </a:solidFill>
                <a:ea typeface="黑体" panose="02010609060101010101" pitchFamily="49" charset="-122"/>
              </a:rPr>
              <a:t>B</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发送数据时，</a:t>
            </a:r>
            <a:r>
              <a:rPr lang="zh-CN" altLang="en-US" sz="2400" b="1">
                <a:solidFill>
                  <a:srgbClr val="0000FF"/>
                </a:solidFill>
                <a:ea typeface="黑体" panose="02010609060101010101" pitchFamily="49" charset="-122"/>
              </a:rPr>
              <a:t>工作站 </a:t>
            </a:r>
            <a:r>
              <a:rPr lang="en-US" altLang="zh-CN" sz="2400" b="1">
                <a:solidFill>
                  <a:srgbClr val="0000FF"/>
                </a:solidFill>
                <a:ea typeface="黑体" panose="02010609060101010101" pitchFamily="49" charset="-122"/>
              </a:rPr>
              <a:t>A</a:t>
            </a:r>
            <a:r>
              <a:rPr lang="en-US" altLang="zh-CN" sz="2400" b="1" baseline="-25000">
                <a:solidFill>
                  <a:srgbClr val="0000FF"/>
                </a:solidFill>
                <a:ea typeface="黑体" panose="02010609060101010101" pitchFamily="49" charset="-122"/>
              </a:rPr>
              <a:t>1</a:t>
            </a:r>
            <a:r>
              <a:rPr lang="zh-CN" altLang="en-US" sz="2400" b="1">
                <a:solidFill>
                  <a:srgbClr val="0000FF"/>
                </a:solidFill>
                <a:ea typeface="黑体" panose="02010609060101010101" pitchFamily="49" charset="-122"/>
              </a:rPr>
              <a:t>，</a:t>
            </a:r>
            <a:r>
              <a:rPr lang="en-US" altLang="zh-CN" sz="2400" b="1">
                <a:solidFill>
                  <a:srgbClr val="0000FF"/>
                </a:solidFill>
                <a:ea typeface="黑体" panose="02010609060101010101" pitchFamily="49" charset="-122"/>
              </a:rPr>
              <a:t>A</a:t>
            </a:r>
            <a:r>
              <a:rPr lang="en-US" altLang="zh-CN" sz="2400" b="1" baseline="-25000">
                <a:solidFill>
                  <a:srgbClr val="0000FF"/>
                </a:solidFill>
                <a:ea typeface="黑体" panose="02010609060101010101" pitchFamily="49" charset="-122"/>
              </a:rPr>
              <a:t>2</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和 </a:t>
            </a:r>
            <a:r>
              <a:rPr lang="en-US" altLang="zh-CN" sz="2400" b="1">
                <a:solidFill>
                  <a:srgbClr val="0000FF"/>
                </a:solidFill>
                <a:ea typeface="黑体" panose="02010609060101010101" pitchFamily="49" charset="-122"/>
              </a:rPr>
              <a:t>C</a:t>
            </a:r>
            <a:r>
              <a:rPr lang="en-US" altLang="zh-CN" sz="2400" b="1" baseline="-25000">
                <a:solidFill>
                  <a:srgbClr val="0000FF"/>
                </a:solidFill>
                <a:ea typeface="黑体" panose="02010609060101010101" pitchFamily="49" charset="-122"/>
              </a:rPr>
              <a:t>1</a:t>
            </a:r>
          </a:p>
          <a:p>
            <a:pPr eaLnBrk="0" hangingPunct="0"/>
            <a:r>
              <a:rPr lang="zh-CN" altLang="en-US" sz="2400" b="1">
                <a:solidFill>
                  <a:srgbClr val="0000FF"/>
                </a:solidFill>
                <a:ea typeface="黑体" panose="02010609060101010101" pitchFamily="49" charset="-122"/>
              </a:rPr>
              <a:t>都不会收到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1</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发出的广播信息。 </a:t>
            </a:r>
          </a:p>
        </p:txBody>
      </p:sp>
      <p:grpSp>
        <p:nvGrpSpPr>
          <p:cNvPr id="641026" name="组合 53"/>
          <p:cNvGrpSpPr>
            <a:grpSpLocks/>
          </p:cNvGrpSpPr>
          <p:nvPr/>
        </p:nvGrpSpPr>
        <p:grpSpPr bwMode="auto">
          <a:xfrm>
            <a:off x="895350" y="304800"/>
            <a:ext cx="8191500" cy="6292850"/>
            <a:chOff x="896012" y="304800"/>
            <a:chExt cx="8191367" cy="6292850"/>
          </a:xfrm>
        </p:grpSpPr>
        <p:sp>
          <p:nvSpPr>
            <p:cNvPr id="641027"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28"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29"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0"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1"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2"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3"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4"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5"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6"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7"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8"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9"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0"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1"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42"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3"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4"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41045"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46"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7"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48"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9"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50"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1"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2"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3"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4"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55"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6"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57"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8"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9"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60"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41061"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3"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4"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5"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7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1071"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72"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3"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4"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5"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6"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4107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89AA56F-AB8C-47AA-ABFF-153DE0FCBC9E}" type="slidenum">
              <a:rPr lang="zh-CN" altLang="en-US" smtClean="0"/>
              <a:pPr/>
              <a:t>24</a:t>
            </a:fld>
            <a:endParaRPr lang="en-US" altLang="zh-CN" smtClean="0"/>
          </a:p>
        </p:txBody>
      </p:sp>
      <p:sp>
        <p:nvSpPr>
          <p:cNvPr id="64107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61" name="Text Box 53"/>
          <p:cNvSpPr txBox="1">
            <a:spLocks noChangeArrowheads="1"/>
          </p:cNvSpPr>
          <p:nvPr/>
        </p:nvSpPr>
        <p:spPr bwMode="auto">
          <a:xfrm>
            <a:off x="3546475" y="5692775"/>
            <a:ext cx="6230938" cy="1016000"/>
          </a:xfrm>
          <a:prstGeom prst="rect">
            <a:avLst/>
          </a:prstGeom>
          <a:solidFill>
            <a:srgbClr val="FFCC66"/>
          </a:solidFill>
          <a:ln w="9525">
            <a:solidFill>
              <a:srgbClr val="000099"/>
            </a:solidFill>
            <a:round/>
            <a:headEnd/>
            <a:tailEnd/>
          </a:ln>
        </p:spPr>
        <p:txBody>
          <a:bodyPr>
            <a:spAutoFit/>
          </a:bodyPr>
          <a:lstStyle/>
          <a:p>
            <a:pPr eaLnBrk="0" hangingPunct="0"/>
            <a:r>
              <a:rPr lang="zh-CN" altLang="en-US" sz="2000" b="1">
                <a:solidFill>
                  <a:srgbClr val="000099"/>
                </a:solidFill>
                <a:ea typeface="黑体" panose="02010609060101010101" pitchFamily="49" charset="-122"/>
              </a:rPr>
              <a:t>虚拟局域网限制了接收广播信息的工作站数，使得网络</a:t>
            </a:r>
            <a:r>
              <a:rPr lang="zh-CN" altLang="en-US" sz="2000" b="1">
                <a:solidFill>
                  <a:srgbClr val="0000FF"/>
                </a:solidFill>
                <a:ea typeface="黑体" panose="02010609060101010101" pitchFamily="49" charset="-122"/>
              </a:rPr>
              <a:t>不会因传播过多的广播信息</a:t>
            </a:r>
            <a:r>
              <a:rPr lang="en-US" altLang="zh-CN" sz="2000" b="1">
                <a:solidFill>
                  <a:srgbClr val="0000FF"/>
                </a:solidFill>
                <a:ea typeface="黑体" panose="02010609060101010101" pitchFamily="49" charset="-122"/>
              </a:rPr>
              <a:t>(</a:t>
            </a:r>
            <a:r>
              <a:rPr lang="zh-CN" altLang="en-US" sz="2000" b="1">
                <a:solidFill>
                  <a:srgbClr val="0000FF"/>
                </a:solidFill>
                <a:ea typeface="黑体" panose="02010609060101010101" pitchFamily="49" charset="-122"/>
              </a:rPr>
              <a:t>即“</a:t>
            </a:r>
            <a:r>
              <a:rPr lang="zh-CN" altLang="en-US" sz="2000" b="1">
                <a:solidFill>
                  <a:srgbClr val="C00000"/>
                </a:solidFill>
                <a:ea typeface="黑体" panose="02010609060101010101" pitchFamily="49" charset="-122"/>
              </a:rPr>
              <a:t>广播风暴</a:t>
            </a:r>
            <a:r>
              <a:rPr lang="zh-CN" altLang="en-US" sz="2000" b="1">
                <a:solidFill>
                  <a:srgbClr val="0000FF"/>
                </a:solidFill>
                <a:ea typeface="黑体" panose="02010609060101010101" pitchFamily="49" charset="-122"/>
              </a:rPr>
              <a:t>”</a:t>
            </a:r>
            <a:r>
              <a:rPr lang="en-US" altLang="zh-CN" sz="2000" b="1">
                <a:solidFill>
                  <a:srgbClr val="0000FF"/>
                </a:solidFill>
                <a:ea typeface="黑体" panose="02010609060101010101" pitchFamily="49" charset="-122"/>
              </a:rPr>
              <a:t>)</a:t>
            </a:r>
            <a:r>
              <a:rPr lang="zh-CN" altLang="en-US" sz="2000" b="1">
                <a:solidFill>
                  <a:srgbClr val="000099"/>
                </a:solidFill>
                <a:ea typeface="黑体" panose="02010609060101010101" pitchFamily="49" charset="-122"/>
              </a:rPr>
              <a:t>而引起性能恶化。 </a:t>
            </a:r>
          </a:p>
        </p:txBody>
      </p:sp>
      <p:grpSp>
        <p:nvGrpSpPr>
          <p:cNvPr id="643074" name="组合 53"/>
          <p:cNvGrpSpPr>
            <a:grpSpLocks/>
          </p:cNvGrpSpPr>
          <p:nvPr/>
        </p:nvGrpSpPr>
        <p:grpSpPr bwMode="auto">
          <a:xfrm>
            <a:off x="895350" y="304800"/>
            <a:ext cx="8191500" cy="6292850"/>
            <a:chOff x="896012" y="304800"/>
            <a:chExt cx="8191367" cy="6292850"/>
          </a:xfrm>
        </p:grpSpPr>
        <p:sp>
          <p:nvSpPr>
            <p:cNvPr id="643075"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6"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7"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8"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9"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0"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1"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2"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3"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4"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5"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6"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7"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8"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9"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090"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1"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2"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43093"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094"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5"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096"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7"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8"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099"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0"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1"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2"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3"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4"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5"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6"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7"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8"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43109"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0"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1"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2"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3"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4"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5"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6"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7"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8"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3119"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120"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1"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2"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3"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4"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431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B7E3EA4-2D11-4B41-B8DC-45ECB79DDA7E}" type="slidenum">
              <a:rPr lang="zh-CN" altLang="en-US" smtClean="0"/>
              <a:pPr/>
              <a:t>25</a:t>
            </a:fld>
            <a:endParaRPr lang="en-US" altLang="zh-CN" smtClean="0"/>
          </a:p>
        </p:txBody>
      </p:sp>
      <p:sp>
        <p:nvSpPr>
          <p:cNvPr id="6431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1" name="标题 1"/>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虚拟局域网使用的以太网帧格式</a:t>
            </a:r>
          </a:p>
        </p:txBody>
      </p:sp>
      <p:sp>
        <p:nvSpPr>
          <p:cNvPr id="64512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a:t>
            </a:r>
            <a:r>
              <a:rPr lang="zh-CN" altLang="zh-CN" dirty="0" smtClean="0">
                <a:ea typeface="黑体" panose="02010609060101010101" pitchFamily="49" charset="-122"/>
              </a:rPr>
              <a:t>批准了</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802.3ac</a:t>
            </a:r>
            <a:r>
              <a:rPr lang="en-US" altLang="zh-CN" dirty="0" smtClean="0">
                <a:ea typeface="黑体" panose="02010609060101010101" pitchFamily="49" charset="-122"/>
              </a:rPr>
              <a:t> </a:t>
            </a:r>
            <a:r>
              <a:rPr lang="zh-CN" altLang="zh-CN" dirty="0" smtClean="0">
                <a:ea typeface="黑体" panose="02010609060101010101" pitchFamily="49" charset="-122"/>
              </a:rPr>
              <a:t>标准，</a:t>
            </a:r>
            <a:r>
              <a:rPr lang="zh-CN" altLang="en-US" dirty="0" smtClean="0">
                <a:ea typeface="黑体" panose="02010609060101010101" pitchFamily="49" charset="-122"/>
              </a:rPr>
              <a:t>该</a:t>
            </a:r>
            <a:r>
              <a:rPr lang="zh-CN" altLang="zh-CN" dirty="0" smtClean="0">
                <a:ea typeface="黑体" panose="02010609060101010101" pitchFamily="49" charset="-122"/>
              </a:rPr>
              <a:t>标准定义了</a:t>
            </a:r>
            <a:r>
              <a:rPr lang="zh-CN" altLang="zh-CN" dirty="0" smtClean="0">
                <a:solidFill>
                  <a:srgbClr val="0000CC"/>
                </a:solidFill>
                <a:ea typeface="黑体" panose="02010609060101010101" pitchFamily="49" charset="-122"/>
              </a:rPr>
              <a:t>以太网的帧格式的扩展</a:t>
            </a:r>
            <a:r>
              <a:rPr lang="zh-CN" altLang="zh-CN" dirty="0" smtClean="0">
                <a:ea typeface="黑体" panose="02010609060101010101" pitchFamily="49" charset="-122"/>
              </a:rPr>
              <a:t>，</a:t>
            </a:r>
            <a:r>
              <a:rPr lang="zh-CN" altLang="en-US" dirty="0" smtClean="0">
                <a:ea typeface="黑体" panose="02010609060101010101" pitchFamily="49" charset="-122"/>
              </a:rPr>
              <a:t>以</a:t>
            </a:r>
            <a:r>
              <a:rPr lang="zh-CN" altLang="zh-CN" dirty="0" smtClean="0">
                <a:ea typeface="黑体" panose="02010609060101010101" pitchFamily="49" charset="-122"/>
              </a:rPr>
              <a:t>支持虚拟局域网</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虚拟局域网协议允许在以太网的帧格式中插入一个</a:t>
            </a:r>
            <a:r>
              <a:rPr lang="en-US" altLang="zh-CN" dirty="0" smtClean="0">
                <a:solidFill>
                  <a:srgbClr val="0000CC"/>
                </a:solidFill>
                <a:ea typeface="黑体" panose="02010609060101010101" pitchFamily="49" charset="-122"/>
              </a:rPr>
              <a:t>4</a:t>
            </a:r>
            <a:r>
              <a:rPr lang="zh-CN" altLang="zh-CN" dirty="0" smtClean="0">
                <a:solidFill>
                  <a:srgbClr val="0000CC"/>
                </a:solidFill>
                <a:ea typeface="黑体" panose="02010609060101010101" pitchFamily="49" charset="-122"/>
              </a:rPr>
              <a:t>字节的标识符</a:t>
            </a:r>
            <a:r>
              <a:rPr lang="zh-CN" altLang="zh-CN" dirty="0" smtClean="0">
                <a:ea typeface="黑体" panose="02010609060101010101" pitchFamily="49" charset="-122"/>
              </a:rPr>
              <a:t>，称为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VLAN </a:t>
            </a:r>
            <a:r>
              <a:rPr lang="zh-CN" altLang="zh-CN" dirty="0" smtClean="0">
                <a:solidFill>
                  <a:srgbClr val="FF0000"/>
                </a:solidFill>
                <a:ea typeface="黑体" panose="02010609060101010101" pitchFamily="49" charset="-122"/>
              </a:rPr>
              <a:t>标记</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(tag)</a:t>
            </a:r>
            <a:r>
              <a:rPr lang="zh-CN" altLang="zh-CN" dirty="0" smtClean="0">
                <a:ea typeface="黑体" panose="02010609060101010101" pitchFamily="49" charset="-122"/>
              </a:rPr>
              <a:t>，用来指明发送该帧的计算机属于哪一个虚拟局域网。</a:t>
            </a:r>
            <a:endParaRPr lang="en-US" altLang="zh-CN" dirty="0" smtClean="0">
              <a:ea typeface="黑体" panose="02010609060101010101" pitchFamily="49" charset="-122"/>
            </a:endParaRPr>
          </a:p>
          <a:p>
            <a:r>
              <a:rPr lang="zh-CN" altLang="zh-CN" dirty="0" smtClean="0">
                <a:ea typeface="黑体" panose="02010609060101010101" pitchFamily="49" charset="-122"/>
              </a:rPr>
              <a:t>插入</a:t>
            </a:r>
            <a:r>
              <a:rPr lang="en-US" altLang="zh-CN" dirty="0" smtClean="0">
                <a:ea typeface="黑体" panose="02010609060101010101" pitchFamily="49" charset="-122"/>
              </a:rPr>
              <a:t> VLAN </a:t>
            </a:r>
            <a:r>
              <a:rPr lang="zh-CN" altLang="zh-CN" dirty="0" smtClean="0">
                <a:ea typeface="黑体" panose="02010609060101010101" pitchFamily="49" charset="-122"/>
              </a:rPr>
              <a:t>标记得出的帧称为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802.1Q </a:t>
            </a:r>
            <a:r>
              <a:rPr lang="zh-CN" altLang="zh-CN" dirty="0" smtClean="0">
                <a:solidFill>
                  <a:srgbClr val="FF0000"/>
                </a:solidFill>
                <a:ea typeface="黑体" panose="02010609060101010101" pitchFamily="49" charset="-122"/>
              </a:rPr>
              <a:t>帧</a:t>
            </a:r>
            <a:r>
              <a:rPr lang="en-US" altLang="zh-CN" dirty="0" smtClean="0">
                <a:ea typeface="黑体" panose="02010609060101010101" pitchFamily="49" charset="-122"/>
              </a:rPr>
              <a:t> </a:t>
            </a:r>
            <a:r>
              <a:rPr lang="zh-CN" altLang="en-US" dirty="0" smtClean="0">
                <a:ea typeface="黑体" panose="02010609060101010101" pitchFamily="49" charset="-122"/>
              </a:rPr>
              <a:t>或 </a:t>
            </a:r>
            <a:r>
              <a:rPr lang="zh-CN" altLang="en-US" dirty="0" smtClean="0">
                <a:solidFill>
                  <a:srgbClr val="FF0000"/>
                </a:solidFill>
                <a:ea typeface="黑体" panose="02010609060101010101" pitchFamily="49" charset="-122"/>
              </a:rPr>
              <a:t>带标记的以太网帧</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6451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1AF83A-FEE3-4CED-B7FA-728BDA3E6A87}" type="slidenum">
              <a:rPr lang="zh-CN" altLang="en-US" smtClean="0"/>
              <a:pPr eaLnBrk="1" hangingPunct="1"/>
              <a:t>26</a:t>
            </a:fld>
            <a:endParaRPr lang="en-US" altLang="zh-CN" smtClean="0"/>
          </a:p>
        </p:txBody>
      </p:sp>
      <p:sp>
        <p:nvSpPr>
          <p:cNvPr id="6451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5" name="Rectangle 3"/>
          <p:cNvSpPr>
            <a:spLocks noGrp="1" noChangeArrowheads="1"/>
          </p:cNvSpPr>
          <p:nvPr>
            <p:ph type="title"/>
          </p:nvPr>
        </p:nvSpPr>
        <p:spPr/>
        <p:txBody>
          <a:bodyPr/>
          <a:lstStyle/>
          <a:p>
            <a:pPr algn="ctr"/>
            <a:r>
              <a:rPr lang="zh-CN" altLang="en-US" sz="4000" smtClean="0">
                <a:ea typeface="黑体" panose="02010609060101010101" pitchFamily="49" charset="-122"/>
              </a:rPr>
              <a:t>虚拟局域网使用的以太网帧格式</a:t>
            </a:r>
          </a:p>
        </p:txBody>
      </p:sp>
      <p:sp>
        <p:nvSpPr>
          <p:cNvPr id="646146" name="矩形 4"/>
          <p:cNvSpPr>
            <a:spLocks noChangeArrowheads="1"/>
          </p:cNvSpPr>
          <p:nvPr/>
        </p:nvSpPr>
        <p:spPr bwMode="auto">
          <a:xfrm>
            <a:off x="1919288" y="5805488"/>
            <a:ext cx="5913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插入</a:t>
            </a:r>
            <a:r>
              <a:rPr lang="en-US" altLang="zh-CN" sz="2400" b="1">
                <a:ea typeface="黑体" panose="02010609060101010101" pitchFamily="49" charset="-122"/>
              </a:rPr>
              <a:t> VLAN </a:t>
            </a:r>
            <a:r>
              <a:rPr lang="zh-CN" altLang="zh-CN" sz="2400" b="1">
                <a:ea typeface="黑体" panose="02010609060101010101" pitchFamily="49" charset="-122"/>
              </a:rPr>
              <a:t>标记后变成了</a:t>
            </a:r>
            <a:r>
              <a:rPr lang="en-US" altLang="zh-CN" sz="2400" b="1">
                <a:ea typeface="黑体" panose="02010609060101010101" pitchFamily="49" charset="-122"/>
              </a:rPr>
              <a:t> 802.1Q </a:t>
            </a:r>
            <a:r>
              <a:rPr lang="zh-CN" altLang="zh-CN" sz="2400" b="1">
                <a:ea typeface="黑体" panose="02010609060101010101" pitchFamily="49" charset="-122"/>
              </a:rPr>
              <a:t>帧</a:t>
            </a:r>
            <a:endParaRPr lang="zh-CN" altLang="en-US" sz="2400" b="1">
              <a:ea typeface="黑体" panose="02010609060101010101" pitchFamily="49" charset="-122"/>
            </a:endParaRPr>
          </a:p>
        </p:txBody>
      </p:sp>
      <p:grpSp>
        <p:nvGrpSpPr>
          <p:cNvPr id="646147" name="组合 7"/>
          <p:cNvGrpSpPr>
            <a:grpSpLocks/>
          </p:cNvGrpSpPr>
          <p:nvPr/>
        </p:nvGrpSpPr>
        <p:grpSpPr bwMode="auto">
          <a:xfrm>
            <a:off x="344488" y="1096963"/>
            <a:ext cx="8929687" cy="4632325"/>
            <a:chOff x="560512" y="1097692"/>
            <a:chExt cx="8928992" cy="4631258"/>
          </a:xfrm>
        </p:grpSpPr>
        <p:grpSp>
          <p:nvGrpSpPr>
            <p:cNvPr id="646148" name="组合 3"/>
            <p:cNvGrpSpPr>
              <a:grpSpLocks/>
            </p:cNvGrpSpPr>
            <p:nvPr/>
          </p:nvGrpSpPr>
          <p:grpSpPr bwMode="auto">
            <a:xfrm>
              <a:off x="560512" y="1546339"/>
              <a:ext cx="8928992" cy="4182611"/>
              <a:chOff x="560512" y="1484784"/>
              <a:chExt cx="8928992" cy="4182611"/>
            </a:xfrm>
          </p:grpSpPr>
          <p:sp>
            <p:nvSpPr>
              <p:cNvPr id="646149" name="Rectangle 4"/>
              <p:cNvSpPr>
                <a:spLocks noChangeArrowheads="1"/>
              </p:cNvSpPr>
              <p:nvPr/>
            </p:nvSpPr>
            <p:spPr bwMode="auto">
              <a:xfrm>
                <a:off x="560512" y="2030884"/>
                <a:ext cx="102592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80000"/>
                  </a:lnSpc>
                </a:pPr>
                <a:r>
                  <a:rPr lang="zh-CN" altLang="en-US" sz="2000" b="1">
                    <a:solidFill>
                      <a:srgbClr val="0000CC"/>
                    </a:solidFill>
                    <a:ea typeface="黑体" panose="02010609060101010101" pitchFamily="49" charset="-122"/>
                  </a:rPr>
                  <a:t>以太网</a:t>
                </a:r>
                <a:endParaRPr lang="en-US" altLang="zh-CN" sz="2000" b="1">
                  <a:solidFill>
                    <a:srgbClr val="0000CC"/>
                  </a:solidFill>
                  <a:ea typeface="黑体" panose="02010609060101010101" pitchFamily="49" charset="-122"/>
                </a:endParaRPr>
              </a:p>
              <a:p>
                <a:pPr algn="ctr">
                  <a:lnSpc>
                    <a:spcPct val="80000"/>
                  </a:lnSpc>
                </a:pPr>
                <a:r>
                  <a:rPr lang="en-US" altLang="zh-CN" sz="2000" b="1">
                    <a:solidFill>
                      <a:srgbClr val="0000CC"/>
                    </a:solidFill>
                    <a:ea typeface="黑体" panose="02010609060101010101" pitchFamily="49" charset="-122"/>
                  </a:rPr>
                  <a:t>MAC</a:t>
                </a:r>
                <a:r>
                  <a:rPr lang="zh-CN" altLang="en-US" sz="2000" b="1">
                    <a:solidFill>
                      <a:srgbClr val="0000CC"/>
                    </a:solidFill>
                    <a:ea typeface="黑体" panose="02010609060101010101" pitchFamily="49" charset="-122"/>
                  </a:rPr>
                  <a:t>帧</a:t>
                </a:r>
              </a:p>
            </p:txBody>
          </p:sp>
          <p:sp>
            <p:nvSpPr>
              <p:cNvPr id="646150" name="Rectangle 5"/>
              <p:cNvSpPr>
                <a:spLocks noChangeArrowheads="1"/>
              </p:cNvSpPr>
              <p:nvPr/>
            </p:nvSpPr>
            <p:spPr bwMode="auto">
              <a:xfrm>
                <a:off x="887526" y="1495237"/>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字节</a:t>
                </a:r>
                <a:endParaRPr lang="en-US" altLang="zh-CN" sz="2000" b="1">
                  <a:solidFill>
                    <a:srgbClr val="0000CC"/>
                  </a:solidFill>
                  <a:ea typeface="黑体" panose="02010609060101010101" pitchFamily="49" charset="-122"/>
                </a:endParaRPr>
              </a:p>
            </p:txBody>
          </p:sp>
          <p:sp>
            <p:nvSpPr>
              <p:cNvPr id="646151" name="Rectangle 6"/>
              <p:cNvSpPr>
                <a:spLocks noChangeArrowheads="1"/>
              </p:cNvSpPr>
              <p:nvPr/>
            </p:nvSpPr>
            <p:spPr bwMode="auto">
              <a:xfrm>
                <a:off x="1963963"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6</a:t>
                </a:r>
              </a:p>
            </p:txBody>
          </p:sp>
          <p:sp>
            <p:nvSpPr>
              <p:cNvPr id="646152" name="Rectangle 7"/>
              <p:cNvSpPr>
                <a:spLocks noChangeArrowheads="1"/>
              </p:cNvSpPr>
              <p:nvPr/>
            </p:nvSpPr>
            <p:spPr bwMode="auto">
              <a:xfrm>
                <a:off x="3175446"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6</a:t>
                </a:r>
              </a:p>
            </p:txBody>
          </p:sp>
          <p:sp>
            <p:nvSpPr>
              <p:cNvPr id="646153" name="Rectangle 8"/>
              <p:cNvSpPr>
                <a:spLocks noChangeArrowheads="1"/>
              </p:cNvSpPr>
              <p:nvPr/>
            </p:nvSpPr>
            <p:spPr bwMode="auto">
              <a:xfrm>
                <a:off x="5537646"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2</a:t>
                </a:r>
              </a:p>
            </p:txBody>
          </p:sp>
          <p:sp>
            <p:nvSpPr>
              <p:cNvPr id="646154" name="Rectangle 9"/>
              <p:cNvSpPr>
                <a:spLocks noChangeArrowheads="1"/>
              </p:cNvSpPr>
              <p:nvPr/>
            </p:nvSpPr>
            <p:spPr bwMode="auto">
              <a:xfrm>
                <a:off x="6596895" y="1487959"/>
                <a:ext cx="152445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46 ~ 1500</a:t>
                </a:r>
              </a:p>
            </p:txBody>
          </p:sp>
          <p:sp>
            <p:nvSpPr>
              <p:cNvPr id="646155" name="Rectangle 10"/>
              <p:cNvSpPr>
                <a:spLocks noChangeArrowheads="1"/>
              </p:cNvSpPr>
              <p:nvPr/>
            </p:nvSpPr>
            <p:spPr bwMode="auto">
              <a:xfrm>
                <a:off x="8657654"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a:t>
                </a:r>
              </a:p>
            </p:txBody>
          </p:sp>
          <p:sp>
            <p:nvSpPr>
              <p:cNvPr id="646156" name="Freeform 11"/>
              <p:cNvSpPr>
                <a:spLocks noChangeArrowheads="1"/>
              </p:cNvSpPr>
              <p:nvPr/>
            </p:nvSpPr>
            <p:spPr bwMode="auto">
              <a:xfrm>
                <a:off x="1564134" y="2555776"/>
                <a:ext cx="6302375" cy="604838"/>
              </a:xfrm>
              <a:custGeom>
                <a:avLst/>
                <a:gdLst>
                  <a:gd name="T0" fmla="*/ 1543 w 3970"/>
                  <a:gd name="T1" fmla="*/ 4 h 381"/>
                  <a:gd name="T2" fmla="*/ 2242 w 3970"/>
                  <a:gd name="T3" fmla="*/ 0 h 381"/>
                  <a:gd name="T4" fmla="*/ 3970 w 3970"/>
                  <a:gd name="T5" fmla="*/ 381 h 381"/>
                  <a:gd name="T6" fmla="*/ 0 w 3970"/>
                  <a:gd name="T7" fmla="*/ 381 h 381"/>
                  <a:gd name="T8" fmla="*/ 1543 w 3970"/>
                  <a:gd name="T9" fmla="*/ 4 h 381"/>
                </a:gdLst>
                <a:ahLst/>
                <a:cxnLst>
                  <a:cxn ang="0">
                    <a:pos x="T0" y="T1"/>
                  </a:cxn>
                  <a:cxn ang="0">
                    <a:pos x="T2" y="T3"/>
                  </a:cxn>
                  <a:cxn ang="0">
                    <a:pos x="T4" y="T5"/>
                  </a:cxn>
                  <a:cxn ang="0">
                    <a:pos x="T6" y="T7"/>
                  </a:cxn>
                  <a:cxn ang="0">
                    <a:pos x="T8" y="T9"/>
                  </a:cxn>
                </a:cxnLst>
                <a:rect l="0" t="0" r="r" b="b"/>
                <a:pathLst>
                  <a:path w="3970" h="381">
                    <a:moveTo>
                      <a:pt x="1543" y="4"/>
                    </a:moveTo>
                    <a:lnTo>
                      <a:pt x="2242" y="0"/>
                    </a:lnTo>
                    <a:lnTo>
                      <a:pt x="3970" y="381"/>
                    </a:lnTo>
                    <a:lnTo>
                      <a:pt x="0" y="381"/>
                    </a:lnTo>
                    <a:lnTo>
                      <a:pt x="1543" y="4"/>
                    </a:lnTo>
                    <a:close/>
                  </a:path>
                </a:pathLst>
              </a:custGeom>
              <a:gradFill rotWithShape="1">
                <a:gsLst>
                  <a:gs pos="0">
                    <a:srgbClr val="FFFF00"/>
                  </a:gs>
                  <a:gs pos="100000">
                    <a:srgbClr val="CC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646157" name="Rectangle 13"/>
              <p:cNvSpPr>
                <a:spLocks noChangeArrowheads="1"/>
              </p:cNvSpPr>
              <p:nvPr/>
            </p:nvSpPr>
            <p:spPr bwMode="auto">
              <a:xfrm>
                <a:off x="6329238" y="4519573"/>
                <a:ext cx="301625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CC"/>
                    </a:solidFill>
                    <a:ea typeface="黑体" panose="02010609060101010101" pitchFamily="49" charset="-122"/>
                  </a:rPr>
                  <a:t>VLAN </a:t>
                </a:r>
                <a:r>
                  <a:rPr lang="zh-CN" altLang="zh-CN" b="1">
                    <a:solidFill>
                      <a:srgbClr val="0000CC"/>
                    </a:solidFill>
                    <a:ea typeface="黑体" panose="02010609060101010101" pitchFamily="49" charset="-122"/>
                  </a:rPr>
                  <a:t>标识符</a:t>
                </a:r>
                <a:endParaRPr lang="en-US" altLang="zh-CN" b="1">
                  <a:solidFill>
                    <a:srgbClr val="0000CC"/>
                  </a:solidFill>
                  <a:ea typeface="黑体" panose="02010609060101010101" pitchFamily="49" charset="-122"/>
                </a:endParaRPr>
              </a:p>
              <a:p>
                <a:pPr algn="ctr"/>
                <a:r>
                  <a:rPr lang="en-US" altLang="zh-CN" b="1">
                    <a:solidFill>
                      <a:srgbClr val="0000CC"/>
                    </a:solidFill>
                    <a:ea typeface="黑体" panose="02010609060101010101" pitchFamily="49" charset="-122"/>
                  </a:rPr>
                  <a:t>12 </a:t>
                </a:r>
                <a:r>
                  <a:rPr lang="zh-CN" altLang="en-US" b="1">
                    <a:solidFill>
                      <a:srgbClr val="0000CC"/>
                    </a:solidFill>
                    <a:ea typeface="黑体" panose="02010609060101010101" pitchFamily="49" charset="-122"/>
                  </a:rPr>
                  <a:t>位</a:t>
                </a:r>
                <a:r>
                  <a:rPr lang="en-US" altLang="zh-CN" b="1">
                    <a:solidFill>
                      <a:srgbClr val="0000CC"/>
                    </a:solidFill>
                    <a:ea typeface="黑体" panose="02010609060101010101" pitchFamily="49" charset="-122"/>
                  </a:rPr>
                  <a:t> (4096</a:t>
                </a:r>
                <a:r>
                  <a:rPr lang="zh-CN" altLang="en-US" b="1">
                    <a:solidFill>
                      <a:srgbClr val="0000CC"/>
                    </a:solidFill>
                    <a:ea typeface="黑体" panose="02010609060101010101" pitchFamily="49" charset="-122"/>
                  </a:rPr>
                  <a:t>个</a:t>
                </a:r>
                <a:r>
                  <a:rPr lang="en-US" altLang="zh-CN" b="1">
                    <a:solidFill>
                      <a:srgbClr val="0000CC"/>
                    </a:solidFill>
                    <a:ea typeface="黑体" panose="02010609060101010101" pitchFamily="49" charset="-122"/>
                  </a:rPr>
                  <a:t>VLAN)</a:t>
                </a:r>
              </a:p>
            </p:txBody>
          </p:sp>
          <p:sp>
            <p:nvSpPr>
              <p:cNvPr id="646158" name="Rectangle 14"/>
              <p:cNvSpPr>
                <a:spLocks noChangeArrowheads="1"/>
              </p:cNvSpPr>
              <p:nvPr/>
            </p:nvSpPr>
            <p:spPr bwMode="auto">
              <a:xfrm>
                <a:off x="4318446" y="1484784"/>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a:t>
                </a:r>
              </a:p>
            </p:txBody>
          </p:sp>
          <p:sp>
            <p:nvSpPr>
              <p:cNvPr id="646159" name="Rectangle 18"/>
              <p:cNvSpPr>
                <a:spLocks noChangeArrowheads="1"/>
              </p:cNvSpPr>
              <p:nvPr/>
            </p:nvSpPr>
            <p:spPr bwMode="auto">
              <a:xfrm>
                <a:off x="3296816" y="4447565"/>
                <a:ext cx="13449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CC"/>
                    </a:solidFill>
                    <a:ea typeface="黑体" panose="02010609060101010101" pitchFamily="49" charset="-122"/>
                  </a:rPr>
                  <a:t>用户优先级</a:t>
                </a:r>
                <a:endParaRPr lang="en-US" altLang="zh-CN" b="1">
                  <a:solidFill>
                    <a:srgbClr val="0000CC"/>
                  </a:solidFill>
                  <a:ea typeface="黑体" panose="02010609060101010101" pitchFamily="49" charset="-122"/>
                </a:endParaRPr>
              </a:p>
              <a:p>
                <a:pPr algn="ctr"/>
                <a:r>
                  <a:rPr lang="en-US" altLang="zh-CN" b="1">
                    <a:solidFill>
                      <a:srgbClr val="0000CC"/>
                    </a:solidFill>
                    <a:ea typeface="黑体" panose="02010609060101010101" pitchFamily="49" charset="-122"/>
                  </a:rPr>
                  <a:t>3 </a:t>
                </a:r>
                <a:r>
                  <a:rPr lang="zh-CN" altLang="en-US" b="1">
                    <a:solidFill>
                      <a:srgbClr val="0000CC"/>
                    </a:solidFill>
                    <a:ea typeface="黑体" panose="02010609060101010101" pitchFamily="49" charset="-122"/>
                  </a:rPr>
                  <a:t>位</a:t>
                </a:r>
                <a:endParaRPr lang="en-US" altLang="zh-CN" b="1">
                  <a:solidFill>
                    <a:srgbClr val="0000CC"/>
                  </a:solidFill>
                  <a:ea typeface="黑体" panose="02010609060101010101" pitchFamily="49" charset="-122"/>
                </a:endParaRPr>
              </a:p>
            </p:txBody>
          </p:sp>
          <p:sp>
            <p:nvSpPr>
              <p:cNvPr id="646160" name="Rectangle 21"/>
              <p:cNvSpPr>
                <a:spLocks noChangeArrowheads="1"/>
              </p:cNvSpPr>
              <p:nvPr/>
            </p:nvSpPr>
            <p:spPr bwMode="auto">
              <a:xfrm>
                <a:off x="4145367" y="5023629"/>
                <a:ext cx="2463817"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b="1">
                    <a:solidFill>
                      <a:srgbClr val="0000CC"/>
                    </a:solidFill>
                    <a:ea typeface="黑体" panose="02010609060101010101" pitchFamily="49" charset="-122"/>
                  </a:rPr>
                  <a:t>规范格式指示符</a:t>
                </a:r>
                <a:r>
                  <a:rPr lang="en-US" altLang="zh-CN" b="1">
                    <a:solidFill>
                      <a:srgbClr val="0000CC"/>
                    </a:solidFill>
                    <a:ea typeface="黑体" panose="02010609060101010101" pitchFamily="49" charset="-122"/>
                  </a:rPr>
                  <a:t>( CFI )</a:t>
                </a:r>
              </a:p>
              <a:p>
                <a:pPr algn="ctr"/>
                <a:r>
                  <a:rPr lang="en-US" altLang="zh-CN" b="1">
                    <a:solidFill>
                      <a:srgbClr val="0000CC"/>
                    </a:solidFill>
                    <a:ea typeface="黑体" panose="02010609060101010101" pitchFamily="49" charset="-122"/>
                  </a:rPr>
                  <a:t>1 </a:t>
                </a:r>
                <a:r>
                  <a:rPr lang="zh-CN" altLang="en-US" b="1">
                    <a:solidFill>
                      <a:srgbClr val="0000CC"/>
                    </a:solidFill>
                    <a:ea typeface="黑体" panose="02010609060101010101" pitchFamily="49" charset="-122"/>
                  </a:rPr>
                  <a:t>位</a:t>
                </a:r>
                <a:r>
                  <a:rPr lang="en-US" altLang="zh-CN" b="1">
                    <a:solidFill>
                      <a:srgbClr val="0000CC"/>
                    </a:solidFill>
                    <a:ea typeface="黑体" panose="02010609060101010101" pitchFamily="49" charset="-122"/>
                  </a:rPr>
                  <a:t> </a:t>
                </a:r>
              </a:p>
            </p:txBody>
          </p:sp>
          <p:sp>
            <p:nvSpPr>
              <p:cNvPr id="646161" name="Rectangle 22"/>
              <p:cNvSpPr>
                <a:spLocks noChangeArrowheads="1"/>
              </p:cNvSpPr>
              <p:nvPr/>
            </p:nvSpPr>
            <p:spPr bwMode="auto">
              <a:xfrm>
                <a:off x="1590900" y="1869976"/>
                <a:ext cx="1197196"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目地地址</a:t>
                </a:r>
              </a:p>
            </p:txBody>
          </p:sp>
          <p:sp>
            <p:nvSpPr>
              <p:cNvPr id="646162" name="Rectangle 23"/>
              <p:cNvSpPr>
                <a:spLocks noChangeArrowheads="1"/>
              </p:cNvSpPr>
              <p:nvPr/>
            </p:nvSpPr>
            <p:spPr bwMode="auto">
              <a:xfrm>
                <a:off x="2788096" y="1869976"/>
                <a:ext cx="1143000"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源地址</a:t>
                </a:r>
              </a:p>
            </p:txBody>
          </p:sp>
          <p:sp>
            <p:nvSpPr>
              <p:cNvPr id="646163" name="Rectangle 24"/>
              <p:cNvSpPr>
                <a:spLocks noChangeArrowheads="1"/>
              </p:cNvSpPr>
              <p:nvPr/>
            </p:nvSpPr>
            <p:spPr bwMode="auto">
              <a:xfrm>
                <a:off x="3931096" y="1869976"/>
                <a:ext cx="1219200" cy="685800"/>
              </a:xfrm>
              <a:prstGeom prst="rect">
                <a:avLst/>
              </a:prstGeom>
              <a:solidFill>
                <a:srgbClr val="FFFF00"/>
              </a:solidFill>
              <a:ln w="19050">
                <a:solidFill>
                  <a:schemeClr val="tx1"/>
                </a:solidFill>
                <a:miter lim="800000"/>
                <a:headEnd/>
                <a:tailEnd/>
              </a:ln>
            </p:spPr>
            <p:txBody>
              <a:bodyPr wrap="none" anchor="ctr"/>
              <a:lstStyle/>
              <a:p>
                <a:pPr algn="ctr" eaLnBrk="0" hangingPunct="0"/>
                <a:r>
                  <a:rPr lang="en-US" altLang="zh-CN" b="1">
                    <a:ea typeface="宋体" panose="02010600030101010101" pitchFamily="2" charset="-122"/>
                  </a:rPr>
                  <a:t>802.1Q</a:t>
                </a:r>
              </a:p>
              <a:p>
                <a:pPr algn="ctr" eaLnBrk="0" hangingPunct="0"/>
                <a:r>
                  <a:rPr lang="zh-CN" altLang="en-US" b="1">
                    <a:ea typeface="宋体" panose="02010600030101010101" pitchFamily="2" charset="-122"/>
                  </a:rPr>
                  <a:t>标记</a:t>
                </a:r>
                <a:endParaRPr lang="en-US" altLang="zh-CN" b="1">
                  <a:ea typeface="宋体" panose="02010600030101010101" pitchFamily="2" charset="-122"/>
                </a:endParaRPr>
              </a:p>
            </p:txBody>
          </p:sp>
          <p:sp>
            <p:nvSpPr>
              <p:cNvPr id="646164" name="Rectangle 25"/>
              <p:cNvSpPr>
                <a:spLocks noChangeArrowheads="1"/>
              </p:cNvSpPr>
              <p:nvPr/>
            </p:nvSpPr>
            <p:spPr bwMode="auto">
              <a:xfrm>
                <a:off x="5150296" y="1869976"/>
                <a:ext cx="1291208"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长度</a:t>
                </a:r>
                <a:r>
                  <a:rPr lang="en-US" altLang="zh-CN" sz="2000" b="1">
                    <a:solidFill>
                      <a:srgbClr val="000099"/>
                    </a:solidFill>
                    <a:ea typeface="黑体" panose="02010609060101010101" pitchFamily="49" charset="-122"/>
                  </a:rPr>
                  <a:t>/</a:t>
                </a:r>
                <a:r>
                  <a:rPr lang="zh-CN" altLang="en-US" sz="2000" b="1">
                    <a:solidFill>
                      <a:srgbClr val="000099"/>
                    </a:solidFill>
                    <a:ea typeface="黑体" panose="02010609060101010101" pitchFamily="49" charset="-122"/>
                  </a:rPr>
                  <a:t>类型</a:t>
                </a:r>
              </a:p>
            </p:txBody>
          </p:sp>
          <p:sp>
            <p:nvSpPr>
              <p:cNvPr id="646165"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zh-CN" altLang="en-US" sz="2000" b="1">
                    <a:solidFill>
                      <a:srgbClr val="000099"/>
                    </a:solidFill>
                    <a:ea typeface="黑体" panose="02010609060101010101" pitchFamily="49" charset="-122"/>
                  </a:rPr>
                  <a:t>数      据</a:t>
                </a:r>
              </a:p>
            </p:txBody>
          </p:sp>
          <p:sp>
            <p:nvSpPr>
              <p:cNvPr id="646166" name="Rectangle 27"/>
              <p:cNvSpPr>
                <a:spLocks noChangeArrowheads="1"/>
              </p:cNvSpPr>
              <p:nvPr/>
            </p:nvSpPr>
            <p:spPr bwMode="auto">
              <a:xfrm>
                <a:off x="8270304" y="1869976"/>
                <a:ext cx="1219200" cy="685800"/>
              </a:xfrm>
              <a:prstGeom prst="rect">
                <a:avLst/>
              </a:prstGeom>
              <a:solidFill>
                <a:srgbClr val="CCFFFF"/>
              </a:solidFill>
              <a:ln w="19050">
                <a:solidFill>
                  <a:schemeClr val="tx1"/>
                </a:solidFill>
                <a:miter lim="800000"/>
                <a:headEnd/>
                <a:tailEnd/>
              </a:ln>
            </p:spPr>
            <p:txBody>
              <a:bodyPr wrap="none" anchor="ctr"/>
              <a:lstStyle/>
              <a:p>
                <a:pPr algn="ctr" eaLnBrk="0" hangingPunct="0"/>
                <a:r>
                  <a:rPr lang="en-US" altLang="zh-CN" sz="2000" b="1">
                    <a:solidFill>
                      <a:srgbClr val="000099"/>
                    </a:solidFill>
                    <a:ea typeface="宋体" panose="02010600030101010101" pitchFamily="2" charset="-122"/>
                  </a:rPr>
                  <a:t>FCS</a:t>
                </a:r>
              </a:p>
            </p:txBody>
          </p:sp>
          <p:sp>
            <p:nvSpPr>
              <p:cNvPr id="646167" name="Rectangle 33"/>
              <p:cNvSpPr>
                <a:spLocks noChangeArrowheads="1"/>
              </p:cNvSpPr>
              <p:nvPr/>
            </p:nvSpPr>
            <p:spPr bwMode="auto">
              <a:xfrm>
                <a:off x="2864768" y="2815431"/>
                <a:ext cx="93775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C0000"/>
                    </a:solidFill>
                    <a:latin typeface="Tahoma" panose="020B0604030504040204" pitchFamily="34" charset="0"/>
                    <a:ea typeface="黑体" panose="02010609060101010101" pitchFamily="49" charset="-122"/>
                  </a:rPr>
                  <a:t>2 </a:t>
                </a:r>
                <a:r>
                  <a:rPr lang="zh-CN" altLang="en-US" sz="2000" b="1">
                    <a:solidFill>
                      <a:srgbClr val="CC0000"/>
                    </a:solidFill>
                    <a:latin typeface="Tahoma" panose="020B0604030504040204" pitchFamily="34" charset="0"/>
                    <a:ea typeface="黑体" panose="02010609060101010101" pitchFamily="49" charset="-122"/>
                  </a:rPr>
                  <a:t>字节</a:t>
                </a:r>
                <a:endParaRPr lang="en-US" altLang="zh-CN" sz="2000" b="1">
                  <a:solidFill>
                    <a:srgbClr val="CC0000"/>
                  </a:solidFill>
                  <a:latin typeface="Tahoma" panose="020B0604030504040204" pitchFamily="34" charset="0"/>
                  <a:ea typeface="黑体" panose="02010609060101010101" pitchFamily="49" charset="-122"/>
                </a:endParaRPr>
              </a:p>
            </p:txBody>
          </p:sp>
          <p:sp>
            <p:nvSpPr>
              <p:cNvPr id="646168" name="Rectangle 34"/>
              <p:cNvSpPr>
                <a:spLocks noChangeArrowheads="1"/>
              </p:cNvSpPr>
              <p:nvPr/>
            </p:nvSpPr>
            <p:spPr bwMode="auto">
              <a:xfrm>
                <a:off x="5743434" y="2815431"/>
                <a:ext cx="93775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C0000"/>
                    </a:solidFill>
                    <a:latin typeface="Tahoma" panose="020B0604030504040204" pitchFamily="34" charset="0"/>
                    <a:ea typeface="黑体" panose="02010609060101010101" pitchFamily="49" charset="-122"/>
                  </a:rPr>
                  <a:t>2 </a:t>
                </a:r>
                <a:r>
                  <a:rPr lang="zh-CN" altLang="en-US" sz="2000" b="1">
                    <a:solidFill>
                      <a:srgbClr val="CC0000"/>
                    </a:solidFill>
                    <a:latin typeface="Tahoma" panose="020B0604030504040204" pitchFamily="34" charset="0"/>
                    <a:ea typeface="黑体" panose="02010609060101010101" pitchFamily="49" charset="-122"/>
                  </a:rPr>
                  <a:t>字节</a:t>
                </a:r>
                <a:endParaRPr lang="en-US" altLang="zh-CN" sz="2000" b="1">
                  <a:solidFill>
                    <a:srgbClr val="CC0000"/>
                  </a:solidFill>
                  <a:latin typeface="Tahoma" panose="020B0604030504040204" pitchFamily="34" charset="0"/>
                  <a:ea typeface="黑体" panose="02010609060101010101" pitchFamily="49" charset="-122"/>
                </a:endParaRPr>
              </a:p>
            </p:txBody>
          </p:sp>
          <p:grpSp>
            <p:nvGrpSpPr>
              <p:cNvPr id="646169" name="组合 1"/>
              <p:cNvGrpSpPr>
                <a:grpSpLocks/>
              </p:cNvGrpSpPr>
              <p:nvPr/>
            </p:nvGrpSpPr>
            <p:grpSpPr bwMode="auto">
              <a:xfrm>
                <a:off x="1568896" y="3165376"/>
                <a:ext cx="6296025" cy="1125979"/>
                <a:chOff x="1568896" y="3165376"/>
                <a:chExt cx="6296025" cy="1125979"/>
              </a:xfrm>
            </p:grpSpPr>
            <p:sp>
              <p:nvSpPr>
                <p:cNvPr id="646170" name="Rectangle 3"/>
                <p:cNvSpPr>
                  <a:spLocks noChangeArrowheads="1"/>
                </p:cNvSpPr>
                <p:nvPr/>
              </p:nvSpPr>
              <p:spPr bwMode="auto">
                <a:xfrm>
                  <a:off x="1568896" y="3165376"/>
                  <a:ext cx="6286500" cy="1066800"/>
                </a:xfrm>
                <a:prstGeom prst="rect">
                  <a:avLst/>
                </a:prstGeom>
                <a:solidFill>
                  <a:srgbClr val="CC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1600">
                    <a:ea typeface="宋体" panose="02010600030101010101" pitchFamily="2" charset="-122"/>
                  </a:endParaRPr>
                </a:p>
              </p:txBody>
            </p:sp>
            <p:sp>
              <p:nvSpPr>
                <p:cNvPr id="646171" name="Line 12"/>
                <p:cNvSpPr>
                  <a:spLocks noChangeShapeType="1"/>
                </p:cNvSpPr>
                <p:nvPr/>
              </p:nvSpPr>
              <p:spPr bwMode="auto">
                <a:xfrm>
                  <a:off x="4816921" y="3165376"/>
                  <a:ext cx="0" cy="1066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2" name="Line 15"/>
                <p:cNvSpPr>
                  <a:spLocks noChangeShapeType="1"/>
                </p:cNvSpPr>
                <p:nvPr/>
              </p:nvSpPr>
              <p:spPr bwMode="auto">
                <a:xfrm>
                  <a:off x="1568896" y="3645024"/>
                  <a:ext cx="62960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4" name="Line 17"/>
                <p:cNvSpPr>
                  <a:spLocks noChangeShapeType="1"/>
                </p:cNvSpPr>
                <p:nvPr/>
              </p:nvSpPr>
              <p:spPr bwMode="auto">
                <a:xfrm>
                  <a:off x="5321746" y="3645024"/>
                  <a:ext cx="0" cy="587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5" name="Text Box 28"/>
                <p:cNvSpPr txBox="1">
                  <a:spLocks noChangeArrowheads="1"/>
                </p:cNvSpPr>
                <p:nvPr/>
              </p:nvSpPr>
              <p:spPr bwMode="auto">
                <a:xfrm>
                  <a:off x="2288704" y="3212976"/>
                  <a:ext cx="2223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802.1Q </a:t>
                  </a:r>
                  <a:r>
                    <a:rPr lang="zh-CN" altLang="en-US" sz="2000" b="1">
                      <a:latin typeface="Tahoma" panose="020B0604030504040204" pitchFamily="34" charset="0"/>
                      <a:ea typeface="宋体" panose="02010600030101010101" pitchFamily="2" charset="-122"/>
                    </a:rPr>
                    <a:t>标记类型</a:t>
                  </a:r>
                  <a:endParaRPr lang="en-US" altLang="zh-CN" sz="2000" b="1">
                    <a:latin typeface="Tahoma" panose="020B0604030504040204" pitchFamily="34" charset="0"/>
                    <a:ea typeface="宋体" panose="02010600030101010101" pitchFamily="2" charset="-122"/>
                  </a:endParaRPr>
                </a:p>
              </p:txBody>
            </p:sp>
            <p:sp>
              <p:nvSpPr>
                <p:cNvPr id="646176" name="Text Box 29"/>
                <p:cNvSpPr txBox="1">
                  <a:spLocks noChangeArrowheads="1"/>
                </p:cNvSpPr>
                <p:nvPr/>
              </p:nvSpPr>
              <p:spPr bwMode="auto">
                <a:xfrm>
                  <a:off x="1590899" y="3645024"/>
                  <a:ext cx="32260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latin typeface="Tahoma" panose="020B0604030504040204" pitchFamily="34" charset="0"/>
                      <a:ea typeface="宋体" panose="02010600030101010101" pitchFamily="2" charset="-122"/>
                    </a:rPr>
                    <a:t>0</a:t>
                  </a:r>
                  <a:r>
                    <a:rPr lang="en-US" altLang="zh-CN" sz="1600" b="1">
                      <a:latin typeface="Tahoma" panose="020B0604030504040204" pitchFamily="34" charset="0"/>
                      <a:ea typeface="宋体" panose="02010600030101010101" pitchFamily="2" charset="-122"/>
                    </a:rPr>
                    <a:t>X</a:t>
                  </a:r>
                  <a:r>
                    <a:rPr lang="en-US" altLang="zh-CN" sz="2000" b="1">
                      <a:latin typeface="Tahoma" panose="020B0604030504040204" pitchFamily="34" charset="0"/>
                      <a:ea typeface="宋体" panose="02010600030101010101" pitchFamily="2" charset="-122"/>
                    </a:rPr>
                    <a:t>8100</a:t>
                  </a:r>
                </a:p>
                <a:p>
                  <a:pPr algn="ctr" eaLnBrk="0" hangingPunct="0"/>
                  <a:r>
                    <a:rPr lang="en-US" altLang="zh-CN" sz="1600" b="1">
                      <a:solidFill>
                        <a:srgbClr val="000099"/>
                      </a:solidFill>
                      <a:ea typeface="黑体" panose="02010609060101010101" pitchFamily="49" charset="-122"/>
                    </a:rPr>
                    <a:t>(1 0 0 0 0 0 0 1  0 0 0 0 0 0 0 0)</a:t>
                  </a:r>
                  <a:endParaRPr lang="en-US" altLang="zh-CN" sz="1600" b="1">
                    <a:latin typeface="Tahoma" panose="020B0604030504040204" pitchFamily="34" charset="0"/>
                    <a:ea typeface="宋体" panose="02010600030101010101" pitchFamily="2" charset="-122"/>
                  </a:endParaRPr>
                </a:p>
              </p:txBody>
            </p:sp>
            <p:sp>
              <p:nvSpPr>
                <p:cNvPr id="646177" name="Text Box 30"/>
                <p:cNvSpPr txBox="1">
                  <a:spLocks noChangeArrowheads="1"/>
                </p:cNvSpPr>
                <p:nvPr/>
              </p:nvSpPr>
              <p:spPr bwMode="auto">
                <a:xfrm>
                  <a:off x="4736976" y="3717032"/>
                  <a:ext cx="6623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PRI</a:t>
                  </a:r>
                </a:p>
              </p:txBody>
            </p:sp>
            <p:sp>
              <p:nvSpPr>
                <p:cNvPr id="646178" name="Text Box 31"/>
                <p:cNvSpPr txBox="1">
                  <a:spLocks noChangeArrowheads="1"/>
                </p:cNvSpPr>
                <p:nvPr/>
              </p:nvSpPr>
              <p:spPr bwMode="auto">
                <a:xfrm>
                  <a:off x="5985754" y="3717032"/>
                  <a:ext cx="12715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VLAN ID</a:t>
                  </a:r>
                </a:p>
              </p:txBody>
            </p:sp>
            <p:sp>
              <p:nvSpPr>
                <p:cNvPr id="646179" name="Text Box 35"/>
                <p:cNvSpPr txBox="1">
                  <a:spLocks noChangeArrowheads="1"/>
                </p:cNvSpPr>
                <p:nvPr/>
              </p:nvSpPr>
              <p:spPr bwMode="auto">
                <a:xfrm>
                  <a:off x="4921696" y="3212976"/>
                  <a:ext cx="269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latin typeface="Tahoma" panose="020B0604030504040204" pitchFamily="34" charset="0"/>
                      <a:ea typeface="宋体" panose="02010600030101010101" pitchFamily="2" charset="-122"/>
                    </a:rPr>
                    <a:t>TCI (</a:t>
                  </a:r>
                  <a:r>
                    <a:rPr lang="zh-CN" altLang="en-US" sz="2000" b="1">
                      <a:latin typeface="Tahoma" panose="020B0604030504040204" pitchFamily="34" charset="0"/>
                      <a:ea typeface="宋体" panose="02010600030101010101" pitchFamily="2" charset="-122"/>
                    </a:rPr>
                    <a:t>标记控制信息</a:t>
                  </a:r>
                  <a:r>
                    <a:rPr lang="en-US" altLang="zh-CN" sz="2000" b="1">
                      <a:latin typeface="Tahoma" panose="020B0604030504040204" pitchFamily="34" charset="0"/>
                      <a:ea typeface="宋体" panose="02010600030101010101" pitchFamily="2" charset="-122"/>
                    </a:rPr>
                    <a:t>)</a:t>
                  </a:r>
                </a:p>
              </p:txBody>
            </p:sp>
          </p:grpSp>
          <p:sp>
            <p:nvSpPr>
              <p:cNvPr id="646180" name="Line 20"/>
              <p:cNvSpPr>
                <a:spLocks noChangeShapeType="1"/>
              </p:cNvSpPr>
              <p:nvPr/>
            </p:nvSpPr>
            <p:spPr bwMode="auto">
              <a:xfrm flipV="1">
                <a:off x="5150296" y="4084190"/>
                <a:ext cx="286544" cy="939438"/>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46181"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46182" name="Line 19"/>
              <p:cNvSpPr>
                <a:spLocks noChangeShapeType="1"/>
              </p:cNvSpPr>
              <p:nvPr/>
            </p:nvSpPr>
            <p:spPr bwMode="auto">
              <a:xfrm flipV="1">
                <a:off x="4540696" y="4077071"/>
                <a:ext cx="439882" cy="442501"/>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grpSp>
          <p:nvGrpSpPr>
            <p:cNvPr id="646183" name="组合 6"/>
            <p:cNvGrpSpPr>
              <a:grpSpLocks/>
            </p:cNvGrpSpPr>
            <p:nvPr/>
          </p:nvGrpSpPr>
          <p:grpSpPr bwMode="auto">
            <a:xfrm>
              <a:off x="1568624" y="1097692"/>
              <a:ext cx="7920880" cy="459100"/>
              <a:chOff x="1568624" y="1097692"/>
              <a:chExt cx="7920880" cy="459100"/>
            </a:xfrm>
          </p:grpSpPr>
          <p:cxnSp>
            <p:nvCxnSpPr>
              <p:cNvPr id="646184" name="直接连接符 43"/>
              <p:cNvCxnSpPr>
                <a:cxnSpLocks noChangeShapeType="1"/>
              </p:cNvCxnSpPr>
              <p:nvPr/>
            </p:nvCxnSpPr>
            <p:spPr bwMode="auto">
              <a:xfrm>
                <a:off x="1568624" y="1313334"/>
                <a:ext cx="7920880" cy="0"/>
              </a:xfrm>
              <a:prstGeom prst="line">
                <a:avLst/>
              </a:prstGeom>
              <a:noFill/>
              <a:ln w="19050">
                <a:solidFill>
                  <a:schemeClr val="tx1"/>
                </a:solidFill>
                <a:round/>
                <a:headEnd type="triangle" w="med" len="lg"/>
                <a:tailEnd type="triangle" w="med" len="lg"/>
              </a:ln>
              <a:extLst>
                <a:ext uri="{909E8E84-426E-40DD-AFC4-6F175D3DCCD1}">
                  <a14:hiddenFill xmlns:a14="http://schemas.microsoft.com/office/drawing/2010/main">
                    <a:noFill/>
                  </a14:hiddenFill>
                </a:ext>
              </a:extLst>
            </p:spPr>
          </p:cxnSp>
          <p:sp>
            <p:nvSpPr>
              <p:cNvPr id="646185" name="Rectangle 50"/>
              <p:cNvSpPr>
                <a:spLocks noChangeArrowheads="1"/>
              </p:cNvSpPr>
              <p:nvPr/>
            </p:nvSpPr>
            <p:spPr bwMode="auto">
              <a:xfrm>
                <a:off x="4625330" y="1097692"/>
                <a:ext cx="1586974" cy="459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宋体" panose="02010600030101010101" pitchFamily="2" charset="-122"/>
                  </a:rPr>
                  <a:t>802.1Q </a:t>
                </a:r>
                <a:r>
                  <a:rPr lang="zh-CN" altLang="en-US" sz="2400" b="1">
                    <a:ea typeface="宋体" panose="02010600030101010101" pitchFamily="2" charset="-122"/>
                  </a:rPr>
                  <a:t>帧</a:t>
                </a:r>
              </a:p>
            </p:txBody>
          </p:sp>
        </p:grpSp>
      </p:grpSp>
      <p:sp>
        <p:nvSpPr>
          <p:cNvPr id="646186" name="矩形 8"/>
          <p:cNvSpPr>
            <a:spLocks noChangeArrowheads="1"/>
          </p:cNvSpPr>
          <p:nvPr/>
        </p:nvSpPr>
        <p:spPr bwMode="auto">
          <a:xfrm>
            <a:off x="7777163" y="2781300"/>
            <a:ext cx="2128837" cy="1322388"/>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000" b="1">
                <a:solidFill>
                  <a:srgbClr val="000099"/>
                </a:solidFill>
                <a:ea typeface="黑体" panose="02010609060101010101" pitchFamily="49" charset="-122"/>
              </a:rPr>
              <a:t>以太网</a:t>
            </a:r>
            <a:r>
              <a:rPr lang="en-US" altLang="zh-CN" sz="2000" b="1">
                <a:solidFill>
                  <a:srgbClr val="000099"/>
                </a:solidFill>
                <a:ea typeface="黑体" panose="02010609060101010101" pitchFamily="49" charset="-122"/>
              </a:rPr>
              <a:t> MAC </a:t>
            </a:r>
            <a:r>
              <a:rPr lang="zh-CN" altLang="en-US" sz="2000" b="1">
                <a:solidFill>
                  <a:srgbClr val="000099"/>
                </a:solidFill>
                <a:ea typeface="黑体" panose="02010609060101010101" pitchFamily="49" charset="-122"/>
              </a:rPr>
              <a:t>帧</a:t>
            </a:r>
            <a:r>
              <a:rPr lang="zh-CN" altLang="zh-CN" sz="2000" b="1">
                <a:solidFill>
                  <a:srgbClr val="000099"/>
                </a:solidFill>
                <a:ea typeface="黑体" panose="02010609060101010101" pitchFamily="49" charset="-122"/>
              </a:rPr>
              <a:t>的最大帧长从原来的</a:t>
            </a:r>
            <a:r>
              <a:rPr lang="en-US" altLang="zh-CN" sz="2000" b="1">
                <a:solidFill>
                  <a:srgbClr val="000099"/>
                </a:solidFill>
                <a:ea typeface="黑体" panose="02010609060101010101" pitchFamily="49" charset="-122"/>
              </a:rPr>
              <a:t> 1518 </a:t>
            </a:r>
            <a:r>
              <a:rPr lang="zh-CN" altLang="zh-CN" sz="2000" b="1">
                <a:solidFill>
                  <a:srgbClr val="000099"/>
                </a:solidFill>
                <a:ea typeface="黑体" panose="02010609060101010101" pitchFamily="49" charset="-122"/>
              </a:rPr>
              <a:t>字节变为</a:t>
            </a:r>
            <a:r>
              <a:rPr lang="en-US" altLang="zh-CN" sz="2000" b="1">
                <a:solidFill>
                  <a:srgbClr val="000099"/>
                </a:solidFill>
                <a:ea typeface="黑体" panose="02010609060101010101" pitchFamily="49" charset="-122"/>
              </a:rPr>
              <a:t> 1522</a:t>
            </a:r>
            <a:r>
              <a:rPr lang="zh-CN" altLang="zh-CN" sz="2000" b="1">
                <a:solidFill>
                  <a:srgbClr val="000099"/>
                </a:solidFill>
                <a:ea typeface="黑体" panose="02010609060101010101" pitchFamily="49" charset="-122"/>
              </a:rPr>
              <a:t>字节</a:t>
            </a:r>
            <a:r>
              <a:rPr lang="zh-CN" altLang="en-US" sz="2000" b="1">
                <a:solidFill>
                  <a:srgbClr val="000099"/>
                </a:solidFill>
                <a:ea typeface="黑体" panose="02010609060101010101" pitchFamily="49" charset="-122"/>
              </a:rPr>
              <a:t>。</a:t>
            </a:r>
          </a:p>
        </p:txBody>
      </p:sp>
      <p:sp>
        <p:nvSpPr>
          <p:cNvPr id="646187" name="灯片编号占位符 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CFC55D-920D-460A-91A5-030C6D76599C}" type="slidenum">
              <a:rPr lang="zh-CN" altLang="en-US" smtClean="0"/>
              <a:pPr eaLnBrk="1" hangingPunct="1"/>
              <a:t>27</a:t>
            </a:fld>
            <a:endParaRPr lang="en-US" altLang="zh-CN" smtClean="0"/>
          </a:p>
        </p:txBody>
      </p:sp>
      <p:sp>
        <p:nvSpPr>
          <p:cNvPr id="646188" name="页脚占位符 1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700</TotalTime>
  <Words>2409</Words>
  <Application>Microsoft Office PowerPoint</Application>
  <PresentationFormat>A4 纸张(210x297 毫米)</PresentationFormat>
  <Paragraphs>381</Paragraphs>
  <Slides>27</Slides>
  <Notes>13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黑体</vt:lpstr>
      <vt:lpstr>宋体</vt:lpstr>
      <vt:lpstr>Arial</vt:lpstr>
      <vt:lpstr>Symbol</vt:lpstr>
      <vt:lpstr>Tahoma</vt:lpstr>
      <vt:lpstr>Times New Roman</vt:lpstr>
      <vt:lpstr>Wingdings</vt:lpstr>
      <vt:lpstr>Presentation</vt:lpstr>
      <vt:lpstr>第 3 章  数据链路层</vt:lpstr>
      <vt:lpstr>3.4  扩展的以太网</vt:lpstr>
      <vt:lpstr>3.4.1  在物理层扩展以太网</vt:lpstr>
      <vt:lpstr>3.4.1  在物理层扩展以太网</vt:lpstr>
      <vt:lpstr>PowerPoint 演示文稿</vt:lpstr>
      <vt:lpstr>用集线器扩展以太网 </vt:lpstr>
      <vt:lpstr>3.4.2  在数据链路层扩展以太网 </vt:lpstr>
      <vt:lpstr>1. 以太网交换机的特点</vt:lpstr>
      <vt:lpstr>1. 以太网交换机的特点</vt:lpstr>
      <vt:lpstr>以太网交换机的优点</vt:lpstr>
      <vt:lpstr>以太网交换机的交换方式</vt:lpstr>
      <vt:lpstr>2. 以太网交换机的自学习功能</vt:lpstr>
      <vt:lpstr>按照以下自学习算法 处理收到的帧和建立交换表</vt:lpstr>
      <vt:lpstr>按照以下自学习算法 处理收到的帧和建立交换表</vt:lpstr>
      <vt:lpstr>按照以下自学习算法 处理收到的帧和建立交换表</vt:lpstr>
      <vt:lpstr>交换机自学习和转发帧的步骤归纳 </vt:lpstr>
      <vt:lpstr>交换机使用了生成树协议 </vt:lpstr>
      <vt:lpstr>交换机使用了生成树协议 </vt:lpstr>
      <vt:lpstr>交换机使用了生成树协议 </vt:lpstr>
      <vt:lpstr>3. 从总线以太网到星形以太网</vt:lpstr>
      <vt:lpstr>3.4.3  虚拟局域网</vt:lpstr>
      <vt:lpstr>PowerPoint 演示文稿</vt:lpstr>
      <vt:lpstr>PowerPoint 演示文稿</vt:lpstr>
      <vt:lpstr>PowerPoint 演示文稿</vt:lpstr>
      <vt:lpstr>PowerPoint 演示文稿</vt:lpstr>
      <vt:lpstr>虚拟局域网使用的以太网帧格式</vt:lpstr>
      <vt:lpstr>虚拟局域网使用的以太网帧格式</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71</cp:revision>
  <cp:lastPrinted>2020-03-19T06:41:15Z</cp:lastPrinted>
  <dcterms:created xsi:type="dcterms:W3CDTF">2016-10-01T05:27:00Z</dcterms:created>
  <dcterms:modified xsi:type="dcterms:W3CDTF">2022-03-27T13:52:50Z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
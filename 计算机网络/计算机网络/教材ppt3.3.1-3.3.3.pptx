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1809" r:id="rId2"/>
    <p:sldId id="1810" r:id="rId3"/>
    <p:sldId id="1850" r:id="rId4"/>
    <p:sldId id="1851" r:id="rId5"/>
    <p:sldId id="1852" r:id="rId6"/>
    <p:sldId id="1853" r:id="rId7"/>
    <p:sldId id="1854" r:id="rId8"/>
    <p:sldId id="1855" r:id="rId9"/>
    <p:sldId id="1856" r:id="rId10"/>
    <p:sldId id="1857" r:id="rId11"/>
    <p:sldId id="1858" r:id="rId12"/>
    <p:sldId id="1859" r:id="rId13"/>
    <p:sldId id="1860" r:id="rId14"/>
    <p:sldId id="1861" r:id="rId15"/>
    <p:sldId id="1862" r:id="rId16"/>
    <p:sldId id="1863" r:id="rId17"/>
    <p:sldId id="1864" r:id="rId18"/>
    <p:sldId id="1865" r:id="rId19"/>
    <p:sldId id="1866" r:id="rId20"/>
    <p:sldId id="1867" r:id="rId21"/>
    <p:sldId id="1868" r:id="rId22"/>
    <p:sldId id="1869" r:id="rId23"/>
    <p:sldId id="1870" r:id="rId24"/>
    <p:sldId id="1871" r:id="rId25"/>
    <p:sldId id="1872" r:id="rId26"/>
    <p:sldId id="1873" r:id="rId27"/>
    <p:sldId id="1874" r:id="rId28"/>
    <p:sldId id="1875" r:id="rId29"/>
    <p:sldId id="1876" r:id="rId30"/>
    <p:sldId id="1877" r:id="rId31"/>
    <p:sldId id="1878" r:id="rId32"/>
    <p:sldId id="1879" r:id="rId33"/>
    <p:sldId id="1880" r:id="rId34"/>
    <p:sldId id="1881" r:id="rId35"/>
    <p:sldId id="1882" r:id="rId36"/>
    <p:sldId id="1883" r:id="rId37"/>
    <p:sldId id="1884" r:id="rId38"/>
    <p:sldId id="1885" r:id="rId39"/>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58A105-5E07-446B-8990-00D69245B64F}"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418818" name="Rectangle 2"/>
          <p:cNvSpPr>
            <a:spLocks noGrp="1" noRot="1" noChangeAspect="1" noChangeArrowheads="1" noTextEdit="1"/>
          </p:cNvSpPr>
          <p:nvPr>
            <p:ph type="sldImg" idx="4294967295"/>
          </p:nvPr>
        </p:nvSpPr>
        <p:spPr>
          <a:ln/>
        </p:spPr>
      </p:sp>
      <p:sp>
        <p:nvSpPr>
          <p:cNvPr id="418819"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20639D-D7B0-44E5-B36F-47FEFE731C1E}"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499714" name="Rectangle 2"/>
          <p:cNvSpPr>
            <a:spLocks noGrp="1" noRot="1" noChangeAspect="1" noChangeArrowheads="1" noTextEdit="1"/>
          </p:cNvSpPr>
          <p:nvPr>
            <p:ph type="sldImg" idx="4294967295"/>
          </p:nvPr>
        </p:nvSpPr>
        <p:spPr>
          <a:ln/>
        </p:spPr>
      </p:sp>
      <p:sp>
        <p:nvSpPr>
          <p:cNvPr id="4997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6892FC-AFDD-43E4-B464-1624C118BB1A}"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502786" name="Rectangle 2"/>
          <p:cNvSpPr>
            <a:spLocks noGrp="1" noRot="1" noChangeAspect="1" noChangeArrowheads="1" noTextEdit="1"/>
          </p:cNvSpPr>
          <p:nvPr>
            <p:ph type="sldImg" idx="4294967295"/>
          </p:nvPr>
        </p:nvSpPr>
        <p:spPr>
          <a:ln/>
        </p:spPr>
      </p:sp>
      <p:sp>
        <p:nvSpPr>
          <p:cNvPr id="5027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5A28CF-1851-4FC0-B8D5-5840B3DDA993}"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504834" name="Rectangle 2"/>
          <p:cNvSpPr>
            <a:spLocks noGrp="1" noRot="1" noChangeAspect="1" noChangeArrowheads="1" noTextEdit="1"/>
          </p:cNvSpPr>
          <p:nvPr>
            <p:ph type="sldImg" idx="4294967295"/>
          </p:nvPr>
        </p:nvSpPr>
        <p:spPr>
          <a:ln/>
        </p:spPr>
      </p:sp>
      <p:sp>
        <p:nvSpPr>
          <p:cNvPr id="5048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62A441-0610-4426-B89B-760A39A666F2}"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506882" name="Rectangle 2"/>
          <p:cNvSpPr>
            <a:spLocks noGrp="1" noRot="1" noChangeAspect="1" noChangeArrowheads="1" noTextEdit="1"/>
          </p:cNvSpPr>
          <p:nvPr>
            <p:ph type="sldImg" idx="4294967295"/>
          </p:nvPr>
        </p:nvSpPr>
        <p:spPr>
          <a:ln/>
        </p:spPr>
      </p:sp>
      <p:sp>
        <p:nvSpPr>
          <p:cNvPr id="5068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316AB7-8D66-4CCD-8099-803E7EA46F27}"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508930" name="Rectangle 2"/>
          <p:cNvSpPr>
            <a:spLocks noGrp="1" noRot="1" noChangeAspect="1" noChangeArrowheads="1" noTextEdit="1"/>
          </p:cNvSpPr>
          <p:nvPr>
            <p:ph type="sldImg" idx="4294967295"/>
          </p:nvPr>
        </p:nvSpPr>
        <p:spPr>
          <a:ln/>
        </p:spPr>
      </p:sp>
      <p:sp>
        <p:nvSpPr>
          <p:cNvPr id="5089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41848E-201F-4777-A3F7-0CF114CCFDE3}"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510978" name="Rectangle 2"/>
          <p:cNvSpPr>
            <a:spLocks noGrp="1" noRot="1" noChangeAspect="1" noChangeArrowheads="1" noTextEdit="1"/>
          </p:cNvSpPr>
          <p:nvPr>
            <p:ph type="sldImg" idx="4294967295"/>
          </p:nvPr>
        </p:nvSpPr>
        <p:spPr>
          <a:ln/>
        </p:spPr>
      </p:sp>
      <p:sp>
        <p:nvSpPr>
          <p:cNvPr id="5109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F631245-FE19-4DEC-8D0A-5E838CD2D2FB}"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513026" name="Rectangle 2"/>
          <p:cNvSpPr>
            <a:spLocks noGrp="1" noRot="1" noChangeAspect="1" noChangeArrowheads="1" noTextEdit="1"/>
          </p:cNvSpPr>
          <p:nvPr>
            <p:ph type="sldImg" idx="4294967295"/>
          </p:nvPr>
        </p:nvSpPr>
        <p:spPr>
          <a:ln/>
        </p:spPr>
      </p:sp>
      <p:sp>
        <p:nvSpPr>
          <p:cNvPr id="5130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3258B8-1E61-46A9-BA7B-9B704A2544EB}"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515074" name="Rectangle 2"/>
          <p:cNvSpPr>
            <a:spLocks noGrp="1" noRot="1" noChangeAspect="1" noChangeArrowheads="1" noTextEdit="1"/>
          </p:cNvSpPr>
          <p:nvPr>
            <p:ph type="sldImg" idx="4294967295"/>
          </p:nvPr>
        </p:nvSpPr>
        <p:spPr>
          <a:ln/>
        </p:spPr>
      </p:sp>
      <p:sp>
        <p:nvSpPr>
          <p:cNvPr id="5150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344730-FE02-4813-94B0-96B9162221FF}"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517122" name="Rectangle 2"/>
          <p:cNvSpPr>
            <a:spLocks noGrp="1" noRot="1" noChangeAspect="1" noChangeArrowheads="1" noTextEdit="1"/>
          </p:cNvSpPr>
          <p:nvPr>
            <p:ph type="sldImg" idx="4294967295"/>
          </p:nvPr>
        </p:nvSpPr>
        <p:spPr>
          <a:ln/>
        </p:spPr>
      </p:sp>
      <p:sp>
        <p:nvSpPr>
          <p:cNvPr id="5171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3621E9-3B50-4268-A2ED-48A325F00A60}"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519170" name="Rectangle 2"/>
          <p:cNvSpPr>
            <a:spLocks noGrp="1" noRot="1" noChangeAspect="1" noChangeArrowheads="1" noTextEdit="1"/>
          </p:cNvSpPr>
          <p:nvPr>
            <p:ph type="sldImg" idx="4294967295"/>
          </p:nvPr>
        </p:nvSpPr>
        <p:spPr>
          <a:ln/>
        </p:spPr>
      </p:sp>
      <p:sp>
        <p:nvSpPr>
          <p:cNvPr id="5191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79A6EB-7130-416C-AD17-0177848529D5}"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521218" name="Rectangle 2"/>
          <p:cNvSpPr>
            <a:spLocks noGrp="1" noRot="1" noChangeAspect="1" noChangeArrowheads="1" noTextEdit="1"/>
          </p:cNvSpPr>
          <p:nvPr>
            <p:ph type="sldImg" idx="4294967295"/>
          </p:nvPr>
        </p:nvSpPr>
        <p:spPr>
          <a:ln/>
        </p:spPr>
      </p:sp>
      <p:sp>
        <p:nvSpPr>
          <p:cNvPr id="5212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FB6AB8-FDAD-48DA-B9A5-0E591ECCFE7B}"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523266" name="Rectangle 2"/>
          <p:cNvSpPr>
            <a:spLocks noGrp="1" noRot="1" noChangeAspect="1" noChangeArrowheads="1" noTextEdit="1"/>
          </p:cNvSpPr>
          <p:nvPr>
            <p:ph type="sldImg" idx="4294967295"/>
          </p:nvPr>
        </p:nvSpPr>
        <p:spPr>
          <a:ln/>
        </p:spPr>
      </p:sp>
      <p:sp>
        <p:nvSpPr>
          <p:cNvPr id="5232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CA74B85-B835-4AA3-8490-6A6FB3D37619}"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525314" name="Rectangle 2"/>
          <p:cNvSpPr>
            <a:spLocks noGrp="1" noRot="1" noChangeAspect="1" noChangeArrowheads="1" noTextEdit="1"/>
          </p:cNvSpPr>
          <p:nvPr>
            <p:ph type="sldImg" idx="4294967295"/>
          </p:nvPr>
        </p:nvSpPr>
        <p:spPr>
          <a:ln/>
        </p:spPr>
      </p:sp>
      <p:sp>
        <p:nvSpPr>
          <p:cNvPr id="5253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829281-7BE0-42ED-8B74-574CD34C274D}"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527362" name="Rectangle 2"/>
          <p:cNvSpPr>
            <a:spLocks noGrp="1" noRot="1" noChangeAspect="1" noChangeArrowheads="1" noTextEdit="1"/>
          </p:cNvSpPr>
          <p:nvPr>
            <p:ph type="sldImg" idx="4294967295"/>
          </p:nvPr>
        </p:nvSpPr>
        <p:spPr>
          <a:ln/>
        </p:spPr>
      </p:sp>
      <p:sp>
        <p:nvSpPr>
          <p:cNvPr id="5273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3DC2C5-5D45-4951-8837-313678E92576}"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529410" name="Rectangle 2"/>
          <p:cNvSpPr>
            <a:spLocks noGrp="1" noRot="1" noChangeAspect="1" noChangeArrowheads="1" noTextEdit="1"/>
          </p:cNvSpPr>
          <p:nvPr>
            <p:ph type="sldImg" idx="4294967295"/>
          </p:nvPr>
        </p:nvSpPr>
        <p:spPr>
          <a:ln/>
        </p:spPr>
      </p:sp>
      <p:sp>
        <p:nvSpPr>
          <p:cNvPr id="5294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B2B57CB-B523-48A7-9D9F-793AA288F2A8}"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531458" name="Rectangle 2"/>
          <p:cNvSpPr>
            <a:spLocks noGrp="1" noRot="1" noChangeAspect="1" noChangeArrowheads="1" noTextEdit="1"/>
          </p:cNvSpPr>
          <p:nvPr>
            <p:ph type="sldImg" idx="4294967295"/>
          </p:nvPr>
        </p:nvSpPr>
        <p:spPr>
          <a:ln/>
        </p:spPr>
      </p:sp>
      <p:sp>
        <p:nvSpPr>
          <p:cNvPr id="5314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5B5A9A-50B4-40AF-A8A0-2EEA7A842319}"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533506" name="Rectangle 2"/>
          <p:cNvSpPr>
            <a:spLocks noGrp="1" noRot="1" noChangeAspect="1" noChangeArrowheads="1" noTextEdit="1"/>
          </p:cNvSpPr>
          <p:nvPr>
            <p:ph type="sldImg" idx="4294967295"/>
          </p:nvPr>
        </p:nvSpPr>
        <p:spPr>
          <a:ln/>
        </p:spPr>
      </p:sp>
      <p:sp>
        <p:nvSpPr>
          <p:cNvPr id="5335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08568-3289-47ED-9CD9-97B6BF7EBA41}"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535554" name="Rectangle 2"/>
          <p:cNvSpPr>
            <a:spLocks noGrp="1" noRot="1" noChangeAspect="1" noChangeArrowheads="1" noTextEdit="1"/>
          </p:cNvSpPr>
          <p:nvPr>
            <p:ph type="sldImg" idx="4294967295"/>
          </p:nvPr>
        </p:nvSpPr>
        <p:spPr>
          <a:ln/>
        </p:spPr>
      </p:sp>
      <p:sp>
        <p:nvSpPr>
          <p:cNvPr id="5355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5197BA5-2687-4734-B6BC-F84884C1B2E9}" type="slidenum">
              <a:rPr lang="en-US" altLang="zh-CN" smtClean="0"/>
              <a:pPr/>
              <a:t>23</a:t>
            </a:fld>
            <a:endParaRPr lang="en-US" altLang="zh-CN" smtClean="0"/>
          </a:p>
        </p:txBody>
      </p:sp>
      <p:sp>
        <p:nvSpPr>
          <p:cNvPr id="537602" name="Rectangle 2"/>
          <p:cNvSpPr>
            <a:spLocks noGrp="1" noRot="1" noChangeAspect="1" noChangeArrowheads="1" noTextEdit="1"/>
          </p:cNvSpPr>
          <p:nvPr>
            <p:ph type="sldImg" idx="4294967295"/>
          </p:nvPr>
        </p:nvSpPr>
        <p:spPr>
          <a:ln/>
        </p:spPr>
      </p:sp>
      <p:sp>
        <p:nvSpPr>
          <p:cNvPr id="5376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7697CB-3A09-44F4-B33B-F0D9DE9F20B5}"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539650" name="Rectangle 2"/>
          <p:cNvSpPr>
            <a:spLocks noGrp="1" noRot="1" noChangeAspect="1" noChangeArrowheads="1" noTextEdit="1"/>
          </p:cNvSpPr>
          <p:nvPr>
            <p:ph type="sldImg" idx="4294967295"/>
          </p:nvPr>
        </p:nvSpPr>
        <p:spPr>
          <a:ln/>
        </p:spPr>
      </p:sp>
      <p:sp>
        <p:nvSpPr>
          <p:cNvPr id="5396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B9C9C3-2604-4C60-8D28-1E0B8CFE72DF}"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541698" name="Rectangle 2"/>
          <p:cNvSpPr>
            <a:spLocks noGrp="1" noRot="1" noChangeAspect="1" noChangeArrowheads="1" noTextEdit="1"/>
          </p:cNvSpPr>
          <p:nvPr>
            <p:ph type="sldImg" idx="4294967295"/>
          </p:nvPr>
        </p:nvSpPr>
        <p:spPr>
          <a:ln/>
        </p:spPr>
      </p:sp>
      <p:sp>
        <p:nvSpPr>
          <p:cNvPr id="5416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530D7A-C87C-46E9-A36A-2F203EC8E883}"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543746" name="Rectangle 2"/>
          <p:cNvSpPr>
            <a:spLocks noGrp="1" noRot="1" noChangeAspect="1" noChangeArrowheads="1" noTextEdit="1"/>
          </p:cNvSpPr>
          <p:nvPr>
            <p:ph type="sldImg" idx="4294967295"/>
          </p:nvPr>
        </p:nvSpPr>
        <p:spPr>
          <a:ln/>
        </p:spPr>
      </p:sp>
      <p:sp>
        <p:nvSpPr>
          <p:cNvPr id="5437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1BED0F-1AF2-4084-85F7-720082D283B8}"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545794" name="Rectangle 2"/>
          <p:cNvSpPr>
            <a:spLocks noGrp="1" noRot="1" noChangeAspect="1" noChangeArrowheads="1" noTextEdit="1"/>
          </p:cNvSpPr>
          <p:nvPr>
            <p:ph type="sldImg" idx="4294967295"/>
          </p:nvPr>
        </p:nvSpPr>
        <p:spPr>
          <a:ln/>
        </p:spPr>
      </p:sp>
      <p:sp>
        <p:nvSpPr>
          <p:cNvPr id="5457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26C421-7D36-4DF9-B718-C56DED9FEAF5}"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547842" name="Rectangle 2"/>
          <p:cNvSpPr>
            <a:spLocks noGrp="1" noRot="1" noChangeAspect="1" noChangeArrowheads="1" noTextEdit="1"/>
          </p:cNvSpPr>
          <p:nvPr>
            <p:ph type="sldImg" idx="4294967295"/>
          </p:nvPr>
        </p:nvSpPr>
        <p:spPr>
          <a:ln/>
        </p:spPr>
      </p:sp>
      <p:sp>
        <p:nvSpPr>
          <p:cNvPr id="5478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C5DEB7-5545-4D63-99FE-EDDDA612F8AD}"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549890" name="Rectangle 2"/>
          <p:cNvSpPr>
            <a:spLocks noGrp="1" noRot="1" noChangeAspect="1" noChangeArrowheads="1" noTextEdit="1"/>
          </p:cNvSpPr>
          <p:nvPr>
            <p:ph type="sldImg" idx="4294967295"/>
          </p:nvPr>
        </p:nvSpPr>
        <p:spPr>
          <a:ln/>
        </p:spPr>
      </p:sp>
      <p:sp>
        <p:nvSpPr>
          <p:cNvPr id="5498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097534-8880-431E-8E80-75BDDDCB208D}"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551938" name="Rectangle 2"/>
          <p:cNvSpPr>
            <a:spLocks noGrp="1" noRot="1" noChangeAspect="1" noChangeArrowheads="1" noTextEdit="1"/>
          </p:cNvSpPr>
          <p:nvPr>
            <p:ph type="sldImg" idx="4294967295"/>
          </p:nvPr>
        </p:nvSpPr>
        <p:spPr>
          <a:ln/>
        </p:spPr>
      </p:sp>
      <p:sp>
        <p:nvSpPr>
          <p:cNvPr id="5519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DA691B-2636-432C-85C1-00B04793803D}"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557058" name="Rectangle 2"/>
          <p:cNvSpPr>
            <a:spLocks noGrp="1" noRot="1" noChangeAspect="1" noChangeArrowheads="1" noTextEdit="1"/>
          </p:cNvSpPr>
          <p:nvPr>
            <p:ph type="sldImg" idx="4294967295"/>
          </p:nvPr>
        </p:nvSpPr>
        <p:spPr>
          <a:ln/>
        </p:spPr>
      </p:sp>
      <p:sp>
        <p:nvSpPr>
          <p:cNvPr id="557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CFD0767-2188-4302-9105-515128F2EFF5}"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559106" name="Rectangle 2"/>
          <p:cNvSpPr>
            <a:spLocks noGrp="1" noRot="1" noChangeAspect="1" noChangeArrowheads="1" noTextEdit="1"/>
          </p:cNvSpPr>
          <p:nvPr>
            <p:ph type="sldImg" idx="4294967295"/>
          </p:nvPr>
        </p:nvSpPr>
        <p:spPr>
          <a:ln/>
        </p:spPr>
      </p:sp>
      <p:sp>
        <p:nvSpPr>
          <p:cNvPr id="559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619E60-5C5B-4525-8195-FB632844A4EB}"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561154" name="Rectangle 2"/>
          <p:cNvSpPr>
            <a:spLocks noGrp="1" noRot="1" noChangeAspect="1" noChangeArrowheads="1" noTextEdit="1"/>
          </p:cNvSpPr>
          <p:nvPr>
            <p:ph type="sldImg" idx="4294967295"/>
          </p:nvPr>
        </p:nvSpPr>
        <p:spPr>
          <a:ln/>
        </p:spPr>
      </p:sp>
      <p:sp>
        <p:nvSpPr>
          <p:cNvPr id="561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5BB5B1-14BF-4496-938D-7B04B8F7B741}"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563202" name="Rectangle 2"/>
          <p:cNvSpPr>
            <a:spLocks noGrp="1" noRot="1" noChangeAspect="1" noChangeArrowheads="1" noTextEdit="1"/>
          </p:cNvSpPr>
          <p:nvPr>
            <p:ph type="sldImg" idx="4294967295"/>
          </p:nvPr>
        </p:nvSpPr>
        <p:spPr>
          <a:ln/>
        </p:spPr>
      </p:sp>
      <p:sp>
        <p:nvSpPr>
          <p:cNvPr id="563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B5845D-DC3A-4CCA-A27C-11B78C564DCE}"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565250" name="Rectangle 2"/>
          <p:cNvSpPr>
            <a:spLocks noGrp="1" noRot="1" noChangeAspect="1" noChangeArrowheads="1" noTextEdit="1"/>
          </p:cNvSpPr>
          <p:nvPr>
            <p:ph type="sldImg" idx="4294967295"/>
          </p:nvPr>
        </p:nvSpPr>
        <p:spPr>
          <a:ln/>
        </p:spPr>
      </p:sp>
      <p:sp>
        <p:nvSpPr>
          <p:cNvPr id="565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3"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3 </a:t>
            </a:r>
            <a:r>
              <a:rPr lang="zh-CN" altLang="en-US" dirty="0" smtClean="0">
                <a:latin typeface="Arial" panose="020B0604020202020204" pitchFamily="34" charset="0"/>
                <a:ea typeface="黑体" panose="02010609060101010101" pitchFamily="49" charset="-122"/>
              </a:rPr>
              <a:t>章  </a:t>
            </a:r>
            <a:r>
              <a:rPr lang="zh-CN" altLang="zh-CN" dirty="0" smtClean="0">
                <a:latin typeface="黑体" panose="02010609060101010101" pitchFamily="49" charset="-122"/>
                <a:ea typeface="黑体" panose="02010609060101010101" pitchFamily="49" charset="-122"/>
              </a:rPr>
              <a:t>数据链路层</a:t>
            </a:r>
            <a:endParaRPr lang="zh-CN" altLang="en-US" dirty="0" smtClean="0">
              <a:latin typeface="Arial" panose="020B0604020202020204" pitchFamily="34" charset="0"/>
              <a:ea typeface="黑体" panose="02010609060101010101" pitchFamily="49" charset="-122"/>
            </a:endParaRPr>
          </a:p>
        </p:txBody>
      </p:sp>
      <p:sp>
        <p:nvSpPr>
          <p:cNvPr id="417794" name="Rectangle 3"/>
          <p:cNvSpPr>
            <a:spLocks noGrp="1" noChangeArrowheads="1"/>
          </p:cNvSpPr>
          <p:nvPr>
            <p:ph type="subTitle" idx="1"/>
          </p:nvPr>
        </p:nvSpPr>
        <p:spPr/>
        <p:txBody>
          <a:bodyPr/>
          <a:lstStyle/>
          <a:p>
            <a:r>
              <a:rPr lang="en-US" altLang="zh-CN" dirty="0">
                <a:ea typeface="黑体" panose="02010609060101010101" pitchFamily="49" charset="-122"/>
              </a:rPr>
              <a:t>3.3  </a:t>
            </a:r>
            <a:r>
              <a:rPr lang="zh-CN" altLang="zh-CN" dirty="0">
                <a:ea typeface="黑体" panose="02010609060101010101" pitchFamily="49" charset="-122"/>
              </a:rPr>
              <a:t>使用广播信道的数据链路层</a:t>
            </a:r>
          </a:p>
          <a:p>
            <a:endParaRPr lang="zh-CN" altLang="en-US" dirty="0" smtClean="0">
              <a:latin typeface="黑体" panose="02010609060101010101" pitchFamily="49" charset="-122"/>
              <a:ea typeface="宋体" panose="02010600030101010101" pitchFamily="2" charset="-122"/>
            </a:endParaRPr>
          </a:p>
        </p:txBody>
      </p:sp>
      <p:sp>
        <p:nvSpPr>
          <p:cNvPr id="41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24FFEA-0416-4593-B51A-3B084525AE1E}" type="slidenum">
              <a:rPr lang="zh-CN" altLang="en-US" smtClean="0"/>
              <a:pPr eaLnBrk="1" hangingPunct="1"/>
              <a:t>1</a:t>
            </a:fld>
            <a:endParaRPr lang="en-US" altLang="zh-CN" smtClean="0"/>
          </a:p>
        </p:txBody>
      </p:sp>
      <p:sp>
        <p:nvSpPr>
          <p:cNvPr id="41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1"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3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数据链路层</a:t>
            </a:r>
            <a:endParaRPr lang="zh-CN" altLang="en-US" smtClean="0">
              <a:ea typeface="黑体" panose="02010609060101010101" pitchFamily="49" charset="-122"/>
            </a:endParaRPr>
          </a:p>
        </p:txBody>
      </p:sp>
      <p:sp>
        <p:nvSpPr>
          <p:cNvPr id="41984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3.3  </a:t>
            </a:r>
            <a:r>
              <a:rPr lang="zh-CN" altLang="zh-CN" dirty="0" smtClean="0">
                <a:ea typeface="黑体" panose="02010609060101010101" pitchFamily="49" charset="-122"/>
              </a:rPr>
              <a:t>使用广播信道的数据链路层</a:t>
            </a:r>
          </a:p>
        </p:txBody>
      </p:sp>
      <p:sp>
        <p:nvSpPr>
          <p:cNvPr id="4198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C2D96E-D724-421B-ABD3-F3FE8704E888}" type="slidenum">
              <a:rPr lang="zh-CN" altLang="en-US" smtClean="0"/>
              <a:pPr eaLnBrk="1" hangingPunct="1"/>
              <a:t>2</a:t>
            </a:fld>
            <a:endParaRPr lang="en-US" altLang="zh-CN" smtClean="0"/>
          </a:p>
        </p:txBody>
      </p:sp>
      <p:sp>
        <p:nvSpPr>
          <p:cNvPr id="4198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  </a:t>
            </a:r>
            <a:r>
              <a:rPr lang="zh-CN" altLang="zh-CN" smtClean="0">
                <a:ea typeface="黑体" panose="02010609060101010101" pitchFamily="49" charset="-122"/>
              </a:rPr>
              <a:t>使用广播信道的数据链路层</a:t>
            </a:r>
            <a:endParaRPr lang="zh-CN" altLang="en-US" smtClean="0">
              <a:ea typeface="黑体" panose="02010609060101010101" pitchFamily="49" charset="-122"/>
            </a:endParaRPr>
          </a:p>
        </p:txBody>
      </p:sp>
      <p:sp>
        <p:nvSpPr>
          <p:cNvPr id="49766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3.3.1  </a:t>
            </a:r>
            <a:r>
              <a:rPr lang="zh-CN" altLang="zh-CN" smtClean="0">
                <a:ea typeface="黑体" panose="02010609060101010101" pitchFamily="49" charset="-122"/>
              </a:rPr>
              <a:t>局域网的数据链路层</a:t>
            </a:r>
          </a:p>
          <a:p>
            <a:r>
              <a:rPr lang="en-US" altLang="zh-CN" smtClean="0">
                <a:ea typeface="黑体" panose="02010609060101010101" pitchFamily="49" charset="-122"/>
              </a:rPr>
              <a:t>3.3.2  CSMA/CD </a:t>
            </a:r>
            <a:r>
              <a:rPr lang="zh-CN" altLang="zh-CN" smtClean="0">
                <a:ea typeface="黑体" panose="02010609060101010101" pitchFamily="49" charset="-122"/>
              </a:rPr>
              <a:t>协议</a:t>
            </a:r>
          </a:p>
          <a:p>
            <a:r>
              <a:rPr lang="en-US" altLang="zh-CN" smtClean="0">
                <a:ea typeface="黑体" panose="02010609060101010101" pitchFamily="49" charset="-122"/>
              </a:rPr>
              <a:t>3.3.3  </a:t>
            </a:r>
            <a:r>
              <a:rPr lang="zh-CN" altLang="zh-CN" smtClean="0">
                <a:ea typeface="黑体" panose="02010609060101010101" pitchFamily="49" charset="-122"/>
              </a:rPr>
              <a:t>使用集线器的星形拓扑</a:t>
            </a:r>
          </a:p>
          <a:p>
            <a:r>
              <a:rPr lang="en-US" altLang="zh-CN" smtClean="0">
                <a:ea typeface="黑体" panose="02010609060101010101" pitchFamily="49" charset="-122"/>
              </a:rPr>
              <a:t>3.3.4  </a:t>
            </a:r>
            <a:r>
              <a:rPr lang="zh-CN" altLang="zh-CN" smtClean="0">
                <a:ea typeface="黑体" panose="02010609060101010101" pitchFamily="49" charset="-122"/>
              </a:rPr>
              <a:t>以太网的信道利用率</a:t>
            </a:r>
          </a:p>
          <a:p>
            <a:r>
              <a:rPr lang="en-US" altLang="zh-CN" smtClean="0">
                <a:ea typeface="黑体" panose="02010609060101010101" pitchFamily="49" charset="-122"/>
              </a:rPr>
              <a:t>3.3.5  </a:t>
            </a:r>
            <a:r>
              <a:rPr lang="zh-CN" altLang="zh-CN" smtClean="0">
                <a:ea typeface="黑体" panose="02010609060101010101" pitchFamily="49" charset="-122"/>
              </a:rPr>
              <a:t>以太网的</a:t>
            </a:r>
            <a:r>
              <a:rPr lang="en-US" altLang="zh-CN" smtClean="0">
                <a:ea typeface="黑体" panose="02010609060101010101" pitchFamily="49" charset="-122"/>
              </a:rPr>
              <a:t> MAC </a:t>
            </a:r>
            <a:r>
              <a:rPr lang="zh-CN" altLang="zh-CN" smtClean="0">
                <a:ea typeface="黑体" panose="02010609060101010101" pitchFamily="49" charset="-122"/>
              </a:rPr>
              <a:t>层</a:t>
            </a:r>
          </a:p>
        </p:txBody>
      </p:sp>
      <p:sp>
        <p:nvSpPr>
          <p:cNvPr id="49766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F45353-5876-43E0-8E50-BD334ABD3452}" type="slidenum">
              <a:rPr lang="zh-CN" altLang="en-US" smtClean="0"/>
              <a:pPr eaLnBrk="1" hangingPunct="1"/>
              <a:t>3</a:t>
            </a:fld>
            <a:endParaRPr lang="en-US" altLang="zh-CN" smtClean="0"/>
          </a:p>
        </p:txBody>
      </p:sp>
      <p:sp>
        <p:nvSpPr>
          <p:cNvPr id="49766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3.3.1  </a:t>
            </a:r>
            <a:r>
              <a:rPr lang="zh-CN" altLang="en-US" smtClean="0">
                <a:ea typeface="黑体" panose="02010609060101010101" pitchFamily="49" charset="-122"/>
              </a:rPr>
              <a:t>局域网的数据链路层 </a:t>
            </a:r>
          </a:p>
        </p:txBody>
      </p:sp>
      <p:sp>
        <p:nvSpPr>
          <p:cNvPr id="395267"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局域网最主要的</a:t>
            </a:r>
            <a:r>
              <a:rPr lang="zh-CN" altLang="en-US" sz="2800" dirty="0" smtClean="0">
                <a:solidFill>
                  <a:srgbClr val="FF0000"/>
                </a:solidFill>
                <a:ea typeface="黑体" panose="02010609060101010101" pitchFamily="49" charset="-122"/>
              </a:rPr>
              <a:t>特点</a:t>
            </a:r>
            <a:r>
              <a:rPr lang="zh-CN" altLang="en-US" sz="2800" dirty="0" smtClean="0">
                <a:ea typeface="黑体" panose="02010609060101010101" pitchFamily="49" charset="-122"/>
              </a:rPr>
              <a:t>是：</a:t>
            </a:r>
            <a:endParaRPr lang="en-US" altLang="zh-CN" sz="2800" dirty="0" smtClean="0">
              <a:ea typeface="黑体" panose="02010609060101010101" pitchFamily="49" charset="-122"/>
            </a:endParaRPr>
          </a:p>
          <a:p>
            <a:pPr lvl="1"/>
            <a:r>
              <a:rPr lang="zh-CN" altLang="en-US" sz="2400" dirty="0" smtClean="0">
                <a:ea typeface="黑体" panose="02010609060101010101" pitchFamily="49" charset="-122"/>
              </a:rPr>
              <a:t>网络为一个单位所拥有；</a:t>
            </a:r>
            <a:endParaRPr lang="en-US" altLang="zh-CN" sz="2400" dirty="0" smtClean="0">
              <a:ea typeface="黑体" panose="02010609060101010101" pitchFamily="49" charset="-122"/>
            </a:endParaRPr>
          </a:p>
          <a:p>
            <a:pPr lvl="1"/>
            <a:r>
              <a:rPr lang="zh-CN" altLang="en-US" sz="2400" dirty="0" smtClean="0">
                <a:ea typeface="黑体" panose="02010609060101010101" pitchFamily="49" charset="-122"/>
              </a:rPr>
              <a:t>地理范围和站点数目均有限。 </a:t>
            </a:r>
          </a:p>
          <a:p>
            <a:r>
              <a:rPr lang="zh-CN" altLang="en-US" sz="2800" dirty="0" smtClean="0">
                <a:ea typeface="黑体" panose="02010609060101010101" pitchFamily="49" charset="-122"/>
              </a:rPr>
              <a:t>局域网具有如下</a:t>
            </a:r>
            <a:r>
              <a:rPr lang="zh-CN" altLang="en-US" sz="2800" dirty="0" smtClean="0">
                <a:solidFill>
                  <a:srgbClr val="FF0000"/>
                </a:solidFill>
                <a:ea typeface="黑体" panose="02010609060101010101" pitchFamily="49" charset="-122"/>
              </a:rPr>
              <a:t>主要优点：</a:t>
            </a:r>
          </a:p>
          <a:p>
            <a:pPr lvl="1"/>
            <a:r>
              <a:rPr lang="zh-CN" altLang="en-US" sz="2400" dirty="0" smtClean="0">
                <a:ea typeface="黑体" panose="02010609060101010101" pitchFamily="49" charset="-122"/>
              </a:rPr>
              <a:t>具有</a:t>
            </a:r>
            <a:r>
              <a:rPr lang="zh-CN" altLang="en-US" sz="2400" dirty="0" smtClean="0">
                <a:solidFill>
                  <a:srgbClr val="0000CC"/>
                </a:solidFill>
                <a:ea typeface="黑体" panose="02010609060101010101" pitchFamily="49" charset="-122"/>
              </a:rPr>
              <a:t>广播</a:t>
            </a:r>
            <a:r>
              <a:rPr lang="zh-CN" altLang="en-US" sz="2400" dirty="0" smtClean="0">
                <a:ea typeface="黑体" panose="02010609060101010101" pitchFamily="49" charset="-122"/>
              </a:rPr>
              <a:t>功能，从一个站点可很方便地访问全网。局域网上的主机可共享连接在局域网上的各种硬件和软件资源。</a:t>
            </a:r>
            <a:r>
              <a:rPr lang="zh-CN" altLang="en-US" dirty="0" smtClean="0">
                <a:ea typeface="黑体" panose="02010609060101010101" pitchFamily="49" charset="-122"/>
              </a:rPr>
              <a:t> </a:t>
            </a:r>
            <a:endParaRPr lang="zh-CN" altLang="en-US" sz="2400" dirty="0" smtClean="0">
              <a:ea typeface="黑体" panose="02010609060101010101" pitchFamily="49" charset="-122"/>
            </a:endParaRPr>
          </a:p>
          <a:p>
            <a:pPr lvl="1"/>
            <a:r>
              <a:rPr lang="zh-CN" altLang="en-US" sz="2400" dirty="0" smtClean="0">
                <a:ea typeface="黑体" panose="02010609060101010101" pitchFamily="49" charset="-122"/>
              </a:rPr>
              <a:t>便于系统的扩展和逐渐地演变，各设备的位置可灵活调整和改变。</a:t>
            </a:r>
          </a:p>
          <a:p>
            <a:pPr lvl="1"/>
            <a:r>
              <a:rPr lang="zh-CN" altLang="en-US" sz="2400" dirty="0" smtClean="0">
                <a:ea typeface="黑体" panose="02010609060101010101" pitchFamily="49" charset="-122"/>
              </a:rPr>
              <a:t>提高了系统的可靠性、可用性和残存性。</a:t>
            </a:r>
          </a:p>
        </p:txBody>
      </p:sp>
      <p:sp>
        <p:nvSpPr>
          <p:cNvPr id="4986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CFE595-5563-4079-A97B-2BA580B88279}" type="slidenum">
              <a:rPr lang="zh-CN" altLang="en-US" smtClean="0"/>
              <a:pPr eaLnBrk="1" hangingPunct="1"/>
              <a:t>4</a:t>
            </a:fld>
            <a:endParaRPr lang="en-US" altLang="zh-CN" smtClean="0"/>
          </a:p>
        </p:txBody>
      </p:sp>
      <p:sp>
        <p:nvSpPr>
          <p:cNvPr id="4986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5267">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5267">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52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7" name="Rectangle 2"/>
          <p:cNvSpPr>
            <a:spLocks noGrp="1" noChangeArrowheads="1"/>
          </p:cNvSpPr>
          <p:nvPr>
            <p:ph type="title"/>
          </p:nvPr>
        </p:nvSpPr>
        <p:spPr/>
        <p:txBody>
          <a:bodyPr/>
          <a:lstStyle/>
          <a:p>
            <a:pPr algn="ctr"/>
            <a:r>
              <a:rPr lang="zh-CN" altLang="en-US" smtClean="0">
                <a:ea typeface="黑体" panose="02010609060101010101" pitchFamily="49" charset="-122"/>
              </a:rPr>
              <a:t>局域网拓扑结构</a:t>
            </a:r>
          </a:p>
        </p:txBody>
      </p:sp>
      <p:sp>
        <p:nvSpPr>
          <p:cNvPr id="500738" name="Rectangle 3"/>
          <p:cNvSpPr>
            <a:spLocks noGrp="1" noChangeArrowheads="1"/>
          </p:cNvSpPr>
          <p:nvPr>
            <p:ph type="body" idx="4294967295"/>
          </p:nvPr>
        </p:nvSpPr>
        <p:spPr>
          <a:xfrm>
            <a:off x="839788" y="1196975"/>
            <a:ext cx="9066212" cy="4933950"/>
          </a:xfrm>
        </p:spPr>
        <p:txBody>
          <a:bodyPr/>
          <a:lstStyle/>
          <a:p>
            <a:pPr>
              <a:buFont typeface="Wingdings" panose="05000000000000000000" pitchFamily="2" charset="2"/>
              <a:buNone/>
            </a:pPr>
            <a:r>
              <a:rPr lang="en-US" altLang="zh-CN" smtClean="0">
                <a:ea typeface="黑体" panose="02010609060101010101" pitchFamily="49" charset="-122"/>
              </a:rPr>
              <a:t> </a:t>
            </a:r>
          </a:p>
        </p:txBody>
      </p:sp>
      <p:grpSp>
        <p:nvGrpSpPr>
          <p:cNvPr id="500739" name="Group 48"/>
          <p:cNvGrpSpPr>
            <a:grpSpLocks/>
          </p:cNvGrpSpPr>
          <p:nvPr/>
        </p:nvGrpSpPr>
        <p:grpSpPr bwMode="auto">
          <a:xfrm>
            <a:off x="2792413" y="3471863"/>
            <a:ext cx="3763962" cy="2549525"/>
            <a:chOff x="2173" y="2160"/>
            <a:chExt cx="2188" cy="1606"/>
          </a:xfrm>
        </p:grpSpPr>
        <p:sp>
          <p:nvSpPr>
            <p:cNvPr id="500740" name="Line 31"/>
            <p:cNvSpPr>
              <a:spLocks noChangeShapeType="1"/>
            </p:cNvSpPr>
            <p:nvPr/>
          </p:nvSpPr>
          <p:spPr bwMode="auto">
            <a:xfrm flipH="1" flipV="1">
              <a:off x="3147" y="2357"/>
              <a:ext cx="174" cy="1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41" name="Rectangle 32"/>
            <p:cNvSpPr>
              <a:spLocks noChangeArrowheads="1"/>
            </p:cNvSpPr>
            <p:nvPr/>
          </p:nvSpPr>
          <p:spPr bwMode="auto">
            <a:xfrm>
              <a:off x="2173" y="2784"/>
              <a:ext cx="9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000" b="1">
                  <a:solidFill>
                    <a:srgbClr val="000099"/>
                  </a:solidFill>
                  <a:latin typeface="Times New Roman" panose="02020603050405020304" pitchFamily="18" charset="0"/>
                  <a:ea typeface="黑体" panose="02010609060101010101" pitchFamily="49" charset="-122"/>
                </a:rPr>
                <a:t>干线耦合器</a:t>
              </a:r>
            </a:p>
          </p:txBody>
        </p:sp>
        <p:sp>
          <p:nvSpPr>
            <p:cNvPr id="500742" name="Line 33"/>
            <p:cNvSpPr>
              <a:spLocks noChangeShapeType="1"/>
            </p:cNvSpPr>
            <p:nvPr/>
          </p:nvSpPr>
          <p:spPr bwMode="auto">
            <a:xfrm flipH="1">
              <a:off x="3925" y="2358"/>
              <a:ext cx="179" cy="1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43" name="Line 34"/>
            <p:cNvSpPr>
              <a:spLocks noChangeShapeType="1"/>
            </p:cNvSpPr>
            <p:nvPr/>
          </p:nvSpPr>
          <p:spPr bwMode="auto">
            <a:xfrm flipH="1" flipV="1">
              <a:off x="3938" y="3078"/>
              <a:ext cx="155" cy="16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44" name="Line 35"/>
            <p:cNvSpPr>
              <a:spLocks noChangeShapeType="1"/>
            </p:cNvSpPr>
            <p:nvPr/>
          </p:nvSpPr>
          <p:spPr bwMode="auto">
            <a:xfrm flipH="1">
              <a:off x="3181" y="3106"/>
              <a:ext cx="146" cy="17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45" name="Oval 36"/>
            <p:cNvSpPr>
              <a:spLocks noChangeArrowheads="1"/>
            </p:cNvSpPr>
            <p:nvPr/>
          </p:nvSpPr>
          <p:spPr bwMode="auto">
            <a:xfrm rot="-2760000">
              <a:off x="3163" y="2405"/>
              <a:ext cx="887" cy="827"/>
            </a:xfrm>
            <a:prstGeom prst="ellipse">
              <a:avLst/>
            </a:prstGeom>
            <a:solidFill>
              <a:schemeClr val="bg1"/>
            </a:solidFill>
            <a:ln w="57150">
              <a:solidFill>
                <a:schemeClr val="tx1"/>
              </a:solidFill>
              <a:round/>
              <a:headEnd/>
              <a:tailEnd/>
            </a:ln>
          </p:spPr>
          <p:txBody>
            <a:bodyPr wrap="none" anchor="ctr"/>
            <a:lstStyle/>
            <a:p>
              <a:pPr eaLnBrk="0" hangingPunct="0"/>
              <a:endParaRPr lang="zh-CN" altLang="en-US" sz="2400">
                <a:ea typeface="宋体" panose="02010600030101010101" pitchFamily="2" charset="-122"/>
              </a:endParaRPr>
            </a:p>
          </p:txBody>
        </p:sp>
        <p:sp>
          <p:nvSpPr>
            <p:cNvPr id="500746" name="Rectangle 37"/>
            <p:cNvSpPr>
              <a:spLocks noChangeArrowheads="1"/>
            </p:cNvSpPr>
            <p:nvPr/>
          </p:nvSpPr>
          <p:spPr bwMode="auto">
            <a:xfrm rot="-2760000">
              <a:off x="3285" y="2479"/>
              <a:ext cx="89" cy="84"/>
            </a:xfrm>
            <a:prstGeom prst="rect">
              <a:avLst/>
            </a:prstGeom>
            <a:solidFill>
              <a:srgbClr val="000099"/>
            </a:solidFill>
            <a:ln w="28575">
              <a:solidFill>
                <a:srgbClr val="000099"/>
              </a:solidFill>
              <a:miter lim="800000"/>
              <a:headEnd/>
              <a:tailEnd/>
            </a:ln>
          </p:spPr>
          <p:txBody>
            <a:bodyPr wrap="none" anchor="ctr"/>
            <a:lstStyle/>
            <a:p>
              <a:pPr eaLnBrk="0" hangingPunct="0"/>
              <a:endParaRPr lang="zh-CN" altLang="en-US" sz="2400">
                <a:ea typeface="宋体" panose="02010600030101010101" pitchFamily="2" charset="-122"/>
              </a:endParaRPr>
            </a:p>
          </p:txBody>
        </p:sp>
        <p:sp>
          <p:nvSpPr>
            <p:cNvPr id="500747" name="Rectangle 38"/>
            <p:cNvSpPr>
              <a:spLocks noChangeArrowheads="1"/>
            </p:cNvSpPr>
            <p:nvPr/>
          </p:nvSpPr>
          <p:spPr bwMode="auto">
            <a:xfrm rot="-2760000">
              <a:off x="3864" y="3038"/>
              <a:ext cx="117" cy="91"/>
            </a:xfrm>
            <a:prstGeom prst="rect">
              <a:avLst/>
            </a:prstGeom>
            <a:solidFill>
              <a:srgbClr val="000099"/>
            </a:solidFill>
            <a:ln w="25400">
              <a:solidFill>
                <a:srgbClr val="000099"/>
              </a:solidFill>
              <a:miter lim="800000"/>
              <a:headEnd/>
              <a:tailEnd/>
            </a:ln>
          </p:spPr>
          <p:txBody>
            <a:bodyPr wrap="none" anchor="ctr"/>
            <a:lstStyle/>
            <a:p>
              <a:pPr eaLnBrk="0" hangingPunct="0"/>
              <a:endParaRPr lang="zh-CN" altLang="en-US" sz="2400">
                <a:ea typeface="宋体" panose="02010600030101010101" pitchFamily="2" charset="-122"/>
              </a:endParaRPr>
            </a:p>
          </p:txBody>
        </p:sp>
        <p:sp>
          <p:nvSpPr>
            <p:cNvPr id="500748" name="Rectangle 39"/>
            <p:cNvSpPr>
              <a:spLocks noChangeArrowheads="1"/>
            </p:cNvSpPr>
            <p:nvPr/>
          </p:nvSpPr>
          <p:spPr bwMode="auto">
            <a:xfrm rot="-2760000">
              <a:off x="3872" y="2466"/>
              <a:ext cx="91" cy="98"/>
            </a:xfrm>
            <a:prstGeom prst="rect">
              <a:avLst/>
            </a:prstGeom>
            <a:solidFill>
              <a:srgbClr val="000099"/>
            </a:solidFill>
            <a:ln w="28575">
              <a:solidFill>
                <a:srgbClr val="000099"/>
              </a:solidFill>
              <a:miter lim="800000"/>
              <a:headEnd/>
              <a:tailEnd/>
            </a:ln>
          </p:spPr>
          <p:txBody>
            <a:bodyPr wrap="none" anchor="ctr"/>
            <a:lstStyle/>
            <a:p>
              <a:pPr eaLnBrk="0" hangingPunct="0"/>
              <a:endParaRPr lang="zh-CN" altLang="en-US" sz="2400">
                <a:ea typeface="宋体" panose="02010600030101010101" pitchFamily="2" charset="-122"/>
              </a:endParaRPr>
            </a:p>
          </p:txBody>
        </p:sp>
        <p:sp>
          <p:nvSpPr>
            <p:cNvPr id="500749" name="Line 40"/>
            <p:cNvSpPr>
              <a:spLocks noChangeShapeType="1"/>
            </p:cNvSpPr>
            <p:nvPr/>
          </p:nvSpPr>
          <p:spPr bwMode="auto">
            <a:xfrm flipH="1">
              <a:off x="2832" y="2544"/>
              <a:ext cx="432" cy="240"/>
            </a:xfrm>
            <a:prstGeom prst="line">
              <a:avLst/>
            </a:prstGeom>
            <a:noFill/>
            <a:ln w="28575">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50" name="Rectangle 41"/>
            <p:cNvSpPr>
              <a:spLocks noChangeArrowheads="1"/>
            </p:cNvSpPr>
            <p:nvPr/>
          </p:nvSpPr>
          <p:spPr bwMode="auto">
            <a:xfrm rot="-2760000">
              <a:off x="3277" y="3065"/>
              <a:ext cx="102" cy="101"/>
            </a:xfrm>
            <a:prstGeom prst="rect">
              <a:avLst/>
            </a:prstGeom>
            <a:solidFill>
              <a:srgbClr val="000099"/>
            </a:solidFill>
            <a:ln w="25400">
              <a:solidFill>
                <a:srgbClr val="000099"/>
              </a:solidFill>
              <a:miter lim="800000"/>
              <a:headEnd/>
              <a:tailEnd/>
            </a:ln>
          </p:spPr>
          <p:txBody>
            <a:bodyPr wrap="none" anchor="ctr"/>
            <a:lstStyle/>
            <a:p>
              <a:pPr eaLnBrk="0" hangingPunct="0"/>
              <a:endParaRPr lang="zh-CN" altLang="en-US" sz="2400">
                <a:ea typeface="宋体" panose="02010600030101010101" pitchFamily="2" charset="-122"/>
              </a:endParaRPr>
            </a:p>
          </p:txBody>
        </p:sp>
        <p:sp>
          <p:nvSpPr>
            <p:cNvPr id="500751" name="Arc 42"/>
            <p:cNvSpPr>
              <a:spLocks noChangeArrowheads="1"/>
            </p:cNvSpPr>
            <p:nvPr/>
          </p:nvSpPr>
          <p:spPr bwMode="auto">
            <a:xfrm flipV="1">
              <a:off x="3529" y="2647"/>
              <a:ext cx="390" cy="434"/>
            </a:xfrm>
            <a:custGeom>
              <a:avLst/>
              <a:gdLst>
                <a:gd name="T0" fmla="*/ 0 w 25403"/>
                <a:gd name="T1" fmla="*/ 337 h 30101"/>
                <a:gd name="T2" fmla="*/ 3803 w 25403"/>
                <a:gd name="T3" fmla="*/ 0 h 30101"/>
                <a:gd name="T4" fmla="*/ 25403 w 25403"/>
                <a:gd name="T5" fmla="*/ 21600 h 30101"/>
                <a:gd name="T6" fmla="*/ 23659 w 25403"/>
                <a:gd name="T7" fmla="*/ 30100 h 30101"/>
                <a:gd name="T8" fmla="*/ 0 w 25403"/>
                <a:gd name="T9" fmla="*/ 337 h 30101"/>
                <a:gd name="T10" fmla="*/ 3803 w 25403"/>
                <a:gd name="T11" fmla="*/ 0 h 30101"/>
                <a:gd name="T12" fmla="*/ 25403 w 25403"/>
                <a:gd name="T13" fmla="*/ 21600 h 30101"/>
                <a:gd name="T14" fmla="*/ 23659 w 25403"/>
                <a:gd name="T15" fmla="*/ 30100 h 30101"/>
                <a:gd name="T16" fmla="*/ 3803 w 25403"/>
                <a:gd name="T17" fmla="*/ 21600 h 30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403" h="30101" fill="none">
                  <a:moveTo>
                    <a:pt x="0" y="337"/>
                  </a:moveTo>
                  <a:cubicBezTo>
                    <a:pt x="1255" y="112"/>
                    <a:pt x="2527" y="-1"/>
                    <a:pt x="3803" y="0"/>
                  </a:cubicBezTo>
                  <a:cubicBezTo>
                    <a:pt x="15732" y="0"/>
                    <a:pt x="25403" y="9670"/>
                    <a:pt x="25403" y="21600"/>
                  </a:cubicBezTo>
                  <a:cubicBezTo>
                    <a:pt x="25403" y="24522"/>
                    <a:pt x="24809" y="27414"/>
                    <a:pt x="23659" y="30100"/>
                  </a:cubicBezTo>
                </a:path>
                <a:path w="25403" h="30101" stroke="0">
                  <a:moveTo>
                    <a:pt x="0" y="337"/>
                  </a:moveTo>
                  <a:cubicBezTo>
                    <a:pt x="1255" y="112"/>
                    <a:pt x="2527" y="-1"/>
                    <a:pt x="3803" y="0"/>
                  </a:cubicBezTo>
                  <a:cubicBezTo>
                    <a:pt x="15732" y="0"/>
                    <a:pt x="25403" y="9670"/>
                    <a:pt x="25403" y="21600"/>
                  </a:cubicBezTo>
                  <a:cubicBezTo>
                    <a:pt x="25403" y="24522"/>
                    <a:pt x="24809" y="27414"/>
                    <a:pt x="23659" y="30100"/>
                  </a:cubicBezTo>
                  <a:lnTo>
                    <a:pt x="3803" y="21600"/>
                  </a:lnTo>
                  <a:close/>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400">
                <a:ea typeface="宋体" panose="02010600030101010101" pitchFamily="2" charset="-122"/>
              </a:endParaRPr>
            </a:p>
          </p:txBody>
        </p:sp>
        <p:pic>
          <p:nvPicPr>
            <p:cNvPr id="500752" name="Picture 4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0" y="2160"/>
              <a:ext cx="2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53" name="Picture 4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8" y="2204"/>
              <a:ext cx="2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54" name="Picture 4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7" y="3220"/>
              <a:ext cx="2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55" name="Picture 4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2" y="3208"/>
              <a:ext cx="28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0756" name="Text Box 47"/>
            <p:cNvSpPr txBox="1">
              <a:spLocks noChangeArrowheads="1"/>
            </p:cNvSpPr>
            <p:nvPr/>
          </p:nvSpPr>
          <p:spPr bwMode="auto">
            <a:xfrm>
              <a:off x="3314" y="3475"/>
              <a:ext cx="6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pitchFamily="49" charset="-122"/>
                  <a:ea typeface="黑体" panose="02010609060101010101" pitchFamily="49" charset="-122"/>
                </a:rPr>
                <a:t>环形网</a:t>
              </a:r>
            </a:p>
          </p:txBody>
        </p:sp>
      </p:grpSp>
      <p:grpSp>
        <p:nvGrpSpPr>
          <p:cNvPr id="500757" name="组合 1"/>
          <p:cNvGrpSpPr>
            <a:grpSpLocks/>
          </p:cNvGrpSpPr>
          <p:nvPr/>
        </p:nvGrpSpPr>
        <p:grpSpPr bwMode="auto">
          <a:xfrm>
            <a:off x="776288" y="1268413"/>
            <a:ext cx="3530600" cy="2478087"/>
            <a:chOff x="1350593" y="1340476"/>
            <a:chExt cx="3530083" cy="2477654"/>
          </a:xfrm>
        </p:grpSpPr>
        <p:sp>
          <p:nvSpPr>
            <p:cNvPr id="500758" name="Line 18"/>
            <p:cNvSpPr>
              <a:spLocks noChangeShapeType="1"/>
            </p:cNvSpPr>
            <p:nvPr/>
          </p:nvSpPr>
          <p:spPr bwMode="auto">
            <a:xfrm flipH="1" flipV="1">
              <a:off x="1582171" y="1822681"/>
              <a:ext cx="811855" cy="543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59" name="Line 19"/>
            <p:cNvSpPr>
              <a:spLocks noChangeShapeType="1"/>
            </p:cNvSpPr>
            <p:nvPr/>
          </p:nvSpPr>
          <p:spPr bwMode="auto">
            <a:xfrm flipV="1">
              <a:off x="2626936" y="1733019"/>
              <a:ext cx="0" cy="6330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60" name="Line 20"/>
            <p:cNvSpPr>
              <a:spLocks noChangeShapeType="1"/>
            </p:cNvSpPr>
            <p:nvPr/>
          </p:nvSpPr>
          <p:spPr bwMode="auto">
            <a:xfrm flipH="1">
              <a:off x="1697961" y="2637291"/>
              <a:ext cx="648153" cy="43409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61" name="Line 21"/>
            <p:cNvSpPr>
              <a:spLocks noChangeShapeType="1"/>
            </p:cNvSpPr>
            <p:nvPr/>
          </p:nvSpPr>
          <p:spPr bwMode="auto">
            <a:xfrm>
              <a:off x="2626936" y="2637291"/>
              <a:ext cx="1023470" cy="601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62" name="Line 22"/>
            <p:cNvSpPr>
              <a:spLocks noChangeShapeType="1"/>
            </p:cNvSpPr>
            <p:nvPr/>
          </p:nvSpPr>
          <p:spPr bwMode="auto">
            <a:xfrm flipV="1">
              <a:off x="2742725" y="2004191"/>
              <a:ext cx="811855" cy="45268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63" name="Rectangle 23"/>
            <p:cNvSpPr>
              <a:spLocks noChangeArrowheads="1"/>
            </p:cNvSpPr>
            <p:nvPr/>
          </p:nvSpPr>
          <p:spPr bwMode="auto">
            <a:xfrm>
              <a:off x="2278237" y="2275364"/>
              <a:ext cx="560313" cy="437374"/>
            </a:xfrm>
            <a:prstGeom prst="rect">
              <a:avLst/>
            </a:prstGeom>
            <a:solidFill>
              <a:schemeClr val="accent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a:ea typeface="宋体" panose="02010600030101010101" pitchFamily="2" charset="-122"/>
              </a:endParaRPr>
            </a:p>
          </p:txBody>
        </p:sp>
        <p:pic>
          <p:nvPicPr>
            <p:cNvPr id="500764"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4049" y="2811147"/>
              <a:ext cx="624197"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65"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6382" y="2818801"/>
              <a:ext cx="624197"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66" name="Picture 2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0593" y="1642264"/>
              <a:ext cx="622866"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67" name="Picture 2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23002" y="1733019"/>
              <a:ext cx="622866"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68" name="Picture 2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6834" y="1340476"/>
              <a:ext cx="624197" cy="48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0769" name="Text Box 29"/>
            <p:cNvSpPr txBox="1">
              <a:spLocks noChangeArrowheads="1"/>
            </p:cNvSpPr>
            <p:nvPr/>
          </p:nvSpPr>
          <p:spPr bwMode="auto">
            <a:xfrm>
              <a:off x="2110160" y="3356700"/>
              <a:ext cx="1112641" cy="461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pitchFamily="49" charset="-122"/>
                  <a:ea typeface="黑体" panose="02010609060101010101" pitchFamily="49" charset="-122"/>
                </a:rPr>
                <a:t>星形网</a:t>
              </a:r>
            </a:p>
          </p:txBody>
        </p:sp>
        <p:sp>
          <p:nvSpPr>
            <p:cNvPr id="500770" name="Rectangle 31"/>
            <p:cNvSpPr>
              <a:spLocks noChangeArrowheads="1"/>
            </p:cNvSpPr>
            <p:nvPr/>
          </p:nvSpPr>
          <p:spPr bwMode="auto">
            <a:xfrm>
              <a:off x="3923682" y="2494051"/>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latin typeface="Times New Roman" panose="02020603050405020304" pitchFamily="18" charset="0"/>
                  <a:ea typeface="黑体" panose="02010609060101010101" pitchFamily="49" charset="-122"/>
                </a:rPr>
                <a:t>集线器</a:t>
              </a:r>
            </a:p>
          </p:txBody>
        </p:sp>
        <p:sp>
          <p:nvSpPr>
            <p:cNvPr id="500771" name="Line 64"/>
            <p:cNvSpPr>
              <a:spLocks noChangeShapeType="1"/>
            </p:cNvSpPr>
            <p:nvPr/>
          </p:nvSpPr>
          <p:spPr bwMode="auto">
            <a:xfrm>
              <a:off x="2838550" y="2546142"/>
              <a:ext cx="1107318" cy="131291"/>
            </a:xfrm>
            <a:prstGeom prst="line">
              <a:avLst/>
            </a:prstGeom>
            <a:noFill/>
            <a:ln w="28575">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500772" name="组合 3"/>
          <p:cNvGrpSpPr>
            <a:grpSpLocks/>
          </p:cNvGrpSpPr>
          <p:nvPr/>
        </p:nvGrpSpPr>
        <p:grpSpPr bwMode="auto">
          <a:xfrm>
            <a:off x="5346700" y="1341438"/>
            <a:ext cx="4143375" cy="2046287"/>
            <a:chOff x="5346141" y="1340768"/>
            <a:chExt cx="4143363" cy="2046432"/>
          </a:xfrm>
        </p:grpSpPr>
        <p:sp>
          <p:nvSpPr>
            <p:cNvPr id="500773" name="Line 5"/>
            <p:cNvSpPr>
              <a:spLocks noChangeShapeType="1"/>
            </p:cNvSpPr>
            <p:nvPr/>
          </p:nvSpPr>
          <p:spPr bwMode="auto">
            <a:xfrm>
              <a:off x="6567920" y="2052389"/>
              <a:ext cx="284984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74" name="Rectangle 6"/>
            <p:cNvSpPr>
              <a:spLocks noChangeArrowheads="1"/>
            </p:cNvSpPr>
            <p:nvPr/>
          </p:nvSpPr>
          <p:spPr bwMode="auto">
            <a:xfrm>
              <a:off x="9355285" y="1991007"/>
              <a:ext cx="134219" cy="121725"/>
            </a:xfrm>
            <a:prstGeom prst="rect">
              <a:avLst/>
            </a:prstGeom>
            <a:solidFill>
              <a:schemeClr val="bg2"/>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p>
              <a:pPr eaLnBrk="0" hangingPunct="0"/>
              <a:endParaRPr lang="zh-CN" altLang="en-US" sz="2400">
                <a:ea typeface="宋体" panose="02010600030101010101" pitchFamily="2" charset="-122"/>
              </a:endParaRPr>
            </a:p>
          </p:txBody>
        </p:sp>
        <p:sp>
          <p:nvSpPr>
            <p:cNvPr id="500775" name="Rectangle 7"/>
            <p:cNvSpPr>
              <a:spLocks noChangeArrowheads="1"/>
            </p:cNvSpPr>
            <p:nvPr/>
          </p:nvSpPr>
          <p:spPr bwMode="auto">
            <a:xfrm>
              <a:off x="6452214" y="1991007"/>
              <a:ext cx="134219" cy="121725"/>
            </a:xfrm>
            <a:prstGeom prst="rect">
              <a:avLst/>
            </a:prstGeom>
            <a:solidFill>
              <a:schemeClr val="bg2"/>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p>
              <a:pPr eaLnBrk="0" hangingPunct="0"/>
              <a:endParaRPr lang="zh-CN" altLang="en-US" sz="2400">
                <a:ea typeface="宋体" panose="02010600030101010101" pitchFamily="2" charset="-122"/>
              </a:endParaRPr>
            </a:p>
          </p:txBody>
        </p:sp>
        <p:sp>
          <p:nvSpPr>
            <p:cNvPr id="500776" name="Line 8"/>
            <p:cNvSpPr>
              <a:spLocks noChangeShapeType="1"/>
            </p:cNvSpPr>
            <p:nvPr/>
          </p:nvSpPr>
          <p:spPr bwMode="auto">
            <a:xfrm flipV="1">
              <a:off x="7130253" y="1671610"/>
              <a:ext cx="0" cy="38494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77" name="Line 9"/>
            <p:cNvSpPr>
              <a:spLocks noChangeShapeType="1"/>
            </p:cNvSpPr>
            <p:nvPr/>
          </p:nvSpPr>
          <p:spPr bwMode="auto">
            <a:xfrm>
              <a:off x="7633575" y="2066955"/>
              <a:ext cx="0" cy="415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78" name="Line 10"/>
            <p:cNvSpPr>
              <a:spLocks noChangeShapeType="1"/>
            </p:cNvSpPr>
            <p:nvPr/>
          </p:nvSpPr>
          <p:spPr bwMode="auto">
            <a:xfrm flipV="1">
              <a:off x="8264174" y="1637277"/>
              <a:ext cx="0" cy="42967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sp>
          <p:nvSpPr>
            <p:cNvPr id="500779" name="Line 11"/>
            <p:cNvSpPr>
              <a:spLocks noChangeShapeType="1"/>
            </p:cNvSpPr>
            <p:nvPr/>
          </p:nvSpPr>
          <p:spPr bwMode="auto">
            <a:xfrm>
              <a:off x="8906344" y="2066955"/>
              <a:ext cx="0" cy="4151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a:ea typeface="宋体" panose="02010600030101010101" pitchFamily="2" charset="-122"/>
              </a:endParaRPr>
            </a:p>
          </p:txBody>
        </p:sp>
        <p:pic>
          <p:nvPicPr>
            <p:cNvPr id="50078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28649" y="2254224"/>
              <a:ext cx="541505" cy="49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81"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85964" y="2268789"/>
              <a:ext cx="541505" cy="495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82"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1108" y="1356374"/>
              <a:ext cx="541505" cy="49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0783" name="Picture 1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9087" y="1340768"/>
              <a:ext cx="541505" cy="49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0784" name="Text Box 16"/>
            <p:cNvSpPr txBox="1">
              <a:spLocks noChangeArrowheads="1"/>
            </p:cNvSpPr>
            <p:nvPr/>
          </p:nvSpPr>
          <p:spPr bwMode="auto">
            <a:xfrm>
              <a:off x="7508612" y="2925270"/>
              <a:ext cx="1113094" cy="461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pitchFamily="49" charset="-122"/>
                  <a:ea typeface="黑体" panose="02010609060101010101" pitchFamily="49" charset="-122"/>
                </a:rPr>
                <a:t>总线网</a:t>
              </a:r>
            </a:p>
          </p:txBody>
        </p:sp>
        <p:sp>
          <p:nvSpPr>
            <p:cNvPr id="500785" name="Rectangle 28"/>
            <p:cNvSpPr>
              <a:spLocks noChangeArrowheads="1"/>
            </p:cNvSpPr>
            <p:nvPr/>
          </p:nvSpPr>
          <p:spPr bwMode="auto">
            <a:xfrm>
              <a:off x="5346141" y="2582212"/>
              <a:ext cx="121507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匹配电阻</a:t>
              </a:r>
            </a:p>
          </p:txBody>
        </p:sp>
        <p:sp>
          <p:nvSpPr>
            <p:cNvPr id="500786" name="Line 29"/>
            <p:cNvSpPr>
              <a:spLocks noChangeShapeType="1"/>
            </p:cNvSpPr>
            <p:nvPr/>
          </p:nvSpPr>
          <p:spPr bwMode="auto">
            <a:xfrm flipH="1">
              <a:off x="6113677" y="2113900"/>
              <a:ext cx="405645" cy="491817"/>
            </a:xfrm>
            <a:prstGeom prst="line">
              <a:avLst/>
            </a:prstGeom>
            <a:noFill/>
            <a:ln w="28575">
              <a:solidFill>
                <a:srgbClr val="0000FF"/>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sp>
        <p:nvSpPr>
          <p:cNvPr id="5007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7847C2-65D4-4BCA-91C7-FC7272268869}" type="slidenum">
              <a:rPr lang="zh-CN" altLang="en-US" smtClean="0"/>
              <a:pPr eaLnBrk="1" hangingPunct="1"/>
              <a:t>5</a:t>
            </a:fld>
            <a:endParaRPr lang="en-US" altLang="zh-CN" smtClean="0"/>
          </a:p>
        </p:txBody>
      </p:sp>
      <p:sp>
        <p:nvSpPr>
          <p:cNvPr id="5007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媒体共享技术</a:t>
            </a:r>
          </a:p>
        </p:txBody>
      </p:sp>
      <p:sp>
        <p:nvSpPr>
          <p:cNvPr id="397315"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静态划分信道</a:t>
            </a:r>
          </a:p>
          <a:p>
            <a:pPr lvl="1"/>
            <a:r>
              <a:rPr lang="zh-CN" altLang="en-US" dirty="0" smtClean="0">
                <a:ea typeface="黑体" panose="02010609060101010101" pitchFamily="49" charset="-122"/>
              </a:rPr>
              <a:t>频分复用</a:t>
            </a:r>
          </a:p>
          <a:p>
            <a:pPr lvl="1"/>
            <a:r>
              <a:rPr lang="zh-CN" altLang="en-US" dirty="0" smtClean="0">
                <a:ea typeface="黑体" panose="02010609060101010101" pitchFamily="49" charset="-122"/>
              </a:rPr>
              <a:t>时分复用</a:t>
            </a:r>
          </a:p>
          <a:p>
            <a:pPr lvl="1"/>
            <a:r>
              <a:rPr lang="zh-CN" altLang="en-US" dirty="0" smtClean="0">
                <a:ea typeface="黑体" panose="02010609060101010101" pitchFamily="49" charset="-122"/>
              </a:rPr>
              <a:t>波分复用</a:t>
            </a:r>
          </a:p>
          <a:p>
            <a:pPr lvl="1"/>
            <a:r>
              <a:rPr lang="zh-CN" altLang="en-US" dirty="0" smtClean="0">
                <a:ea typeface="黑体" panose="02010609060101010101" pitchFamily="49" charset="-122"/>
              </a:rPr>
              <a:t>码分复用 </a:t>
            </a:r>
          </a:p>
          <a:p>
            <a:r>
              <a:rPr lang="zh-CN" altLang="en-US" dirty="0" smtClean="0">
                <a:solidFill>
                  <a:srgbClr val="FF0000"/>
                </a:solidFill>
                <a:ea typeface="黑体" panose="02010609060101010101" pitchFamily="49" charset="-122"/>
              </a:rPr>
              <a:t>动态媒体接入控制（多点接入</a:t>
            </a:r>
            <a:r>
              <a:rPr lang="en-US" altLang="zh-CN" dirty="0" smtClean="0">
                <a:solidFill>
                  <a:srgbClr val="FF0000"/>
                </a:solidFill>
                <a:ea typeface="黑体" panose="02010609060101010101" pitchFamily="49" charset="-122"/>
              </a:rPr>
              <a:t>multiple access</a:t>
            </a:r>
            <a:r>
              <a:rPr lang="zh-CN" altLang="en-US" dirty="0" smtClean="0">
                <a:solidFill>
                  <a:srgbClr val="FF0000"/>
                </a:solidFill>
                <a:ea typeface="黑体" panose="02010609060101010101" pitchFamily="49" charset="-122"/>
              </a:rPr>
              <a:t>）</a:t>
            </a:r>
          </a:p>
          <a:p>
            <a:pPr lvl="1"/>
            <a:r>
              <a:rPr lang="zh-CN" altLang="en-US" dirty="0" smtClean="0">
                <a:solidFill>
                  <a:srgbClr val="0000CC"/>
                </a:solidFill>
                <a:ea typeface="黑体" panose="02010609060101010101" pitchFamily="49" charset="-122"/>
              </a:rPr>
              <a:t>随机接入</a:t>
            </a:r>
            <a:r>
              <a:rPr lang="zh-CN" altLang="en-US" dirty="0" smtClean="0">
                <a:ea typeface="黑体" panose="02010609060101010101" pitchFamily="49" charset="-122"/>
              </a:rPr>
              <a:t>，需解决多点同时发送的碰撞（或冲突）</a:t>
            </a:r>
          </a:p>
          <a:p>
            <a:pPr lvl="1"/>
            <a:r>
              <a:rPr lang="zh-CN" altLang="en-US" dirty="0" smtClean="0">
                <a:solidFill>
                  <a:srgbClr val="0000CC"/>
                </a:solidFill>
                <a:ea typeface="黑体" panose="02010609060101010101" pitchFamily="49" charset="-122"/>
              </a:rPr>
              <a:t>受控接入 </a:t>
            </a:r>
            <a:r>
              <a:rPr lang="zh-CN" altLang="en-US" dirty="0" smtClean="0">
                <a:ea typeface="黑体" panose="02010609060101010101" pitchFamily="49" charset="-122"/>
              </a:rPr>
              <a:t>，多点线路探询 </a:t>
            </a:r>
            <a:r>
              <a:rPr lang="en-US" altLang="zh-CN" dirty="0" smtClean="0">
                <a:ea typeface="黑体" panose="02010609060101010101" pitchFamily="49" charset="-122"/>
              </a:rPr>
              <a:t>(polling)</a:t>
            </a:r>
            <a:r>
              <a:rPr lang="zh-CN" altLang="en-US" dirty="0" smtClean="0">
                <a:ea typeface="黑体" panose="02010609060101010101" pitchFamily="49" charset="-122"/>
              </a:rPr>
              <a:t>，或轮询。  	</a:t>
            </a:r>
          </a:p>
        </p:txBody>
      </p:sp>
      <p:sp>
        <p:nvSpPr>
          <p:cNvPr id="5017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B260DC-99F7-46C2-A32C-EE036C32CE69}" type="slidenum">
              <a:rPr lang="zh-CN" altLang="en-US" smtClean="0"/>
              <a:pPr eaLnBrk="1" hangingPunct="1"/>
              <a:t>6</a:t>
            </a:fld>
            <a:endParaRPr lang="en-US" altLang="zh-CN" smtClean="0"/>
          </a:p>
        </p:txBody>
      </p:sp>
      <p:sp>
        <p:nvSpPr>
          <p:cNvPr id="5017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7315">
                                            <p:txEl>
                                              <p:pRg st="5" end="5"/>
                                            </p:txEl>
                                          </p:spTgt>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0"/>
                                  </p:stCondLst>
                                  <p:childTnLst>
                                    <p:set>
                                      <p:cBhvr>
                                        <p:cTn id="9" dur="1" fill="hold">
                                          <p:stCondLst>
                                            <p:cond delay="0"/>
                                          </p:stCondLst>
                                        </p:cTn>
                                        <p:tgtEl>
                                          <p:spTgt spid="397315">
                                            <p:txEl>
                                              <p:pRg st="6" end="6"/>
                                            </p:txEl>
                                          </p:spTgt>
                                        </p:tgtEl>
                                        <p:attrNameLst>
                                          <p:attrName>style.visibility</p:attrName>
                                        </p:attrNameLst>
                                      </p:cBhvr>
                                      <p:to>
                                        <p:strVal val="visible"/>
                                      </p:to>
                                    </p:set>
                                  </p:childTnLst>
                                </p:cTn>
                              </p:par>
                            </p:childTnLst>
                          </p:cTn>
                        </p:par>
                        <p:par>
                          <p:cTn id="10" fill="hold" nodeType="afterGroup">
                            <p:stCondLst>
                              <p:cond delay="2"/>
                            </p:stCondLst>
                            <p:childTnLst>
                              <p:par>
                                <p:cTn id="11" presetID="1" presetClass="entr" presetSubtype="0" fill="hold" nodeType="afterEffect">
                                  <p:stCondLst>
                                    <p:cond delay="0"/>
                                  </p:stCondLst>
                                  <p:childTnLst>
                                    <p:set>
                                      <p:cBhvr>
                                        <p:cTn id="12" dur="1" fill="hold">
                                          <p:stCondLst>
                                            <p:cond delay="0"/>
                                          </p:stCondLst>
                                        </p:cTn>
                                        <p:tgtEl>
                                          <p:spTgt spid="397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09"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1.  </a:t>
            </a:r>
            <a:r>
              <a:rPr lang="zh-CN" altLang="en-US" u="sng" dirty="0" smtClean="0">
                <a:ea typeface="黑体" panose="02010609060101010101" pitchFamily="49" charset="-122"/>
              </a:rPr>
              <a:t>以太网</a:t>
            </a:r>
            <a:r>
              <a:rPr lang="zh-CN" altLang="en-US" dirty="0" smtClean="0">
                <a:ea typeface="黑体" panose="02010609060101010101" pitchFamily="49" charset="-122"/>
              </a:rPr>
              <a:t>的两个标准  </a:t>
            </a:r>
          </a:p>
        </p:txBody>
      </p:sp>
      <p:sp>
        <p:nvSpPr>
          <p:cNvPr id="398339" name="Rectangle 3"/>
          <p:cNvSpPr>
            <a:spLocks noGrp="1" noChangeArrowheads="1"/>
          </p:cNvSpPr>
          <p:nvPr>
            <p:ph idx="1"/>
          </p:nvPr>
        </p:nvSpPr>
        <p:spPr>
          <a:xfrm>
            <a:off x="495300" y="1196975"/>
            <a:ext cx="9066213" cy="4933950"/>
          </a:xfrm>
        </p:spPr>
        <p:txBody>
          <a:bodyPr/>
          <a:lstStyle/>
          <a:p>
            <a:r>
              <a:rPr lang="en-US" altLang="zh-CN" smtClean="0">
                <a:solidFill>
                  <a:srgbClr val="FF0000"/>
                </a:solidFill>
                <a:ea typeface="黑体" panose="02010609060101010101" pitchFamily="49" charset="-122"/>
              </a:rPr>
              <a:t>DIX Ethernet V2 </a:t>
            </a:r>
            <a:r>
              <a:rPr lang="zh-CN" altLang="en-US" smtClean="0">
                <a:ea typeface="黑体" panose="02010609060101010101" pitchFamily="49" charset="-122"/>
              </a:rPr>
              <a:t>是世界上第一个局域网产品（以太网）的规约。</a:t>
            </a:r>
          </a:p>
          <a:p>
            <a:r>
              <a:rPr lang="en-US" altLang="zh-CN" smtClean="0">
                <a:solidFill>
                  <a:srgbClr val="FF0000"/>
                </a:solidFill>
                <a:ea typeface="黑体" panose="02010609060101010101" pitchFamily="49" charset="-122"/>
              </a:rPr>
              <a:t>IEEE 802.3 </a:t>
            </a:r>
            <a:r>
              <a:rPr lang="zh-CN" altLang="en-US" smtClean="0">
                <a:ea typeface="黑体" panose="02010609060101010101" pitchFamily="49" charset="-122"/>
              </a:rPr>
              <a:t>是</a:t>
            </a:r>
            <a:r>
              <a:rPr lang="zh-CN" altLang="zh-CN" smtClean="0">
                <a:ea typeface="黑体" panose="02010609060101010101" pitchFamily="49" charset="-122"/>
              </a:rPr>
              <a:t>第一个</a:t>
            </a:r>
            <a:r>
              <a:rPr lang="en-US" altLang="zh-CN" smtClean="0">
                <a:ea typeface="黑体" panose="02010609060101010101" pitchFamily="49" charset="-122"/>
              </a:rPr>
              <a:t> IEEE </a:t>
            </a:r>
            <a:r>
              <a:rPr lang="zh-CN" altLang="zh-CN" smtClean="0">
                <a:ea typeface="黑体" panose="02010609060101010101" pitchFamily="49" charset="-122"/>
              </a:rPr>
              <a:t>的以太网标准</a:t>
            </a:r>
            <a:r>
              <a:rPr lang="zh-CN" altLang="en-US" smtClean="0">
                <a:ea typeface="黑体" panose="02010609060101010101" pitchFamily="49" charset="-122"/>
              </a:rPr>
              <a:t>。</a:t>
            </a:r>
          </a:p>
          <a:p>
            <a:r>
              <a:rPr lang="en-US" altLang="zh-CN" smtClean="0">
                <a:ea typeface="黑体" panose="02010609060101010101" pitchFamily="49" charset="-122"/>
              </a:rPr>
              <a:t>DIX Ethernet V2 </a:t>
            </a:r>
            <a:r>
              <a:rPr lang="zh-CN" altLang="en-US" smtClean="0">
                <a:ea typeface="黑体" panose="02010609060101010101" pitchFamily="49" charset="-122"/>
              </a:rPr>
              <a:t>标准与 </a:t>
            </a:r>
            <a:r>
              <a:rPr lang="en-US" altLang="zh-CN" smtClean="0">
                <a:ea typeface="黑体" panose="02010609060101010101" pitchFamily="49" charset="-122"/>
              </a:rPr>
              <a:t>IEEE </a:t>
            </a:r>
            <a:r>
              <a:rPr lang="zh-CN" altLang="en-US" smtClean="0">
                <a:ea typeface="黑体" panose="02010609060101010101" pitchFamily="49" charset="-122"/>
              </a:rPr>
              <a:t>的 </a:t>
            </a:r>
            <a:r>
              <a:rPr lang="en-US" altLang="zh-CN" smtClean="0">
                <a:ea typeface="黑体" panose="02010609060101010101" pitchFamily="49" charset="-122"/>
              </a:rPr>
              <a:t>802.3 </a:t>
            </a:r>
            <a:r>
              <a:rPr lang="zh-CN" altLang="en-US" smtClean="0">
                <a:ea typeface="黑体" panose="02010609060101010101" pitchFamily="49" charset="-122"/>
              </a:rPr>
              <a:t>标准只有很小的差别，因此可以将 </a:t>
            </a:r>
            <a:r>
              <a:rPr lang="en-US" altLang="zh-CN" smtClean="0">
                <a:ea typeface="黑体" panose="02010609060101010101" pitchFamily="49" charset="-122"/>
              </a:rPr>
              <a:t>802.3 </a:t>
            </a:r>
            <a:r>
              <a:rPr lang="zh-CN" altLang="en-US" smtClean="0">
                <a:ea typeface="黑体" panose="02010609060101010101" pitchFamily="49" charset="-122"/>
              </a:rPr>
              <a:t>局域网简称为“以太网”。</a:t>
            </a:r>
          </a:p>
          <a:p>
            <a:r>
              <a:rPr lang="zh-CN" altLang="en-US" smtClean="0">
                <a:ea typeface="黑体" panose="02010609060101010101" pitchFamily="49" charset="-122"/>
              </a:rPr>
              <a:t>严格说来，“以太网”应当是指符合 </a:t>
            </a:r>
            <a:r>
              <a:rPr lang="en-US" altLang="zh-CN" smtClean="0">
                <a:ea typeface="黑体" panose="02010609060101010101" pitchFamily="49" charset="-122"/>
              </a:rPr>
              <a:t>DIX Ethernet V2 </a:t>
            </a:r>
            <a:r>
              <a:rPr lang="zh-CN" altLang="en-US" smtClean="0">
                <a:ea typeface="黑体" panose="02010609060101010101" pitchFamily="49" charset="-122"/>
              </a:rPr>
              <a:t>标准的局域网 。 </a:t>
            </a:r>
          </a:p>
        </p:txBody>
      </p:sp>
      <p:sp>
        <p:nvSpPr>
          <p:cNvPr id="503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52C94A-D3F4-4CA4-85CD-84D385DD8B3B}" type="slidenum">
              <a:rPr lang="zh-CN" altLang="en-US" smtClean="0"/>
              <a:pPr eaLnBrk="1" hangingPunct="1"/>
              <a:t>7</a:t>
            </a:fld>
            <a:endParaRPr lang="en-US" altLang="zh-CN" smtClean="0"/>
          </a:p>
        </p:txBody>
      </p:sp>
      <p:sp>
        <p:nvSpPr>
          <p:cNvPr id="503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8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8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7"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数据链路层的两个子层 </a:t>
            </a:r>
          </a:p>
        </p:txBody>
      </p:sp>
      <p:sp>
        <p:nvSpPr>
          <p:cNvPr id="399363"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为了使数据链路层能更好地适应多种局域网标准，</a:t>
            </a:r>
            <a:r>
              <a:rPr lang="en-US" altLang="zh-CN" sz="2800" dirty="0" smtClean="0">
                <a:ea typeface="黑体" panose="02010609060101010101" pitchFamily="49" charset="-122"/>
              </a:rPr>
              <a:t>IEEE 802 </a:t>
            </a:r>
            <a:r>
              <a:rPr lang="zh-CN" altLang="en-US" sz="2800" dirty="0" smtClean="0">
                <a:ea typeface="黑体" panose="02010609060101010101" pitchFamily="49" charset="-122"/>
              </a:rPr>
              <a:t>委员会就将局域网的</a:t>
            </a:r>
            <a:r>
              <a:rPr lang="zh-CN" altLang="en-US" sz="2800" dirty="0" smtClean="0">
                <a:solidFill>
                  <a:srgbClr val="0000CC"/>
                </a:solidFill>
                <a:ea typeface="黑体" panose="02010609060101010101" pitchFamily="49" charset="-122"/>
              </a:rPr>
              <a:t>数据链路层</a:t>
            </a:r>
            <a:r>
              <a:rPr lang="zh-CN" altLang="en-US" sz="2800" dirty="0" smtClean="0">
                <a:ea typeface="黑体" panose="02010609060101010101" pitchFamily="49" charset="-122"/>
              </a:rPr>
              <a:t>拆成两个子层：</a:t>
            </a:r>
          </a:p>
          <a:p>
            <a:pPr lvl="1"/>
            <a:r>
              <a:rPr lang="zh-CN" altLang="en-US" sz="2400" u="sng" dirty="0" smtClean="0">
                <a:solidFill>
                  <a:srgbClr val="FF0000"/>
                </a:solidFill>
                <a:ea typeface="黑体" panose="02010609060101010101" pitchFamily="49" charset="-122"/>
              </a:rPr>
              <a:t>逻辑链路控制 </a:t>
            </a:r>
            <a:r>
              <a:rPr lang="en-US" altLang="zh-CN" sz="2400" u="sng" dirty="0" smtClean="0">
                <a:ea typeface="黑体" panose="02010609060101010101" pitchFamily="49" charset="-122"/>
              </a:rPr>
              <a:t>LLC (Logical Link Control)</a:t>
            </a:r>
            <a:r>
              <a:rPr lang="zh-CN" altLang="en-US" sz="2400" u="sng" dirty="0" smtClean="0">
                <a:ea typeface="黑体" panose="02010609060101010101" pitchFamily="49" charset="-122"/>
              </a:rPr>
              <a:t>子层</a:t>
            </a:r>
            <a:r>
              <a:rPr lang="zh-CN" altLang="en-US" sz="2400" dirty="0" smtClean="0">
                <a:ea typeface="黑体" panose="02010609060101010101" pitchFamily="49" charset="-122"/>
              </a:rPr>
              <a:t>；</a:t>
            </a:r>
          </a:p>
          <a:p>
            <a:pPr lvl="1"/>
            <a:r>
              <a:rPr lang="zh-CN" altLang="en-US" sz="2400" u="sng" dirty="0" smtClean="0">
                <a:solidFill>
                  <a:srgbClr val="FF0000"/>
                </a:solidFill>
                <a:ea typeface="黑体" panose="02010609060101010101" pitchFamily="49" charset="-122"/>
              </a:rPr>
              <a:t>媒体接入控制 </a:t>
            </a:r>
            <a:r>
              <a:rPr lang="en-US" altLang="zh-CN" sz="2400" u="sng" dirty="0" smtClean="0">
                <a:ea typeface="黑体" panose="02010609060101010101" pitchFamily="49" charset="-122"/>
              </a:rPr>
              <a:t>MAC (Medium Access Control)</a:t>
            </a:r>
            <a:r>
              <a:rPr lang="zh-CN" altLang="en-US" sz="2400" u="sng" dirty="0" smtClean="0">
                <a:ea typeface="黑体" panose="02010609060101010101" pitchFamily="49" charset="-122"/>
              </a:rPr>
              <a:t>子层</a:t>
            </a:r>
            <a:r>
              <a:rPr lang="zh-CN" altLang="en-US" sz="2400" dirty="0" smtClean="0">
                <a:ea typeface="黑体" panose="02010609060101010101" pitchFamily="49" charset="-122"/>
              </a:rPr>
              <a:t>。</a:t>
            </a:r>
          </a:p>
          <a:p>
            <a:r>
              <a:rPr lang="zh-CN" altLang="en-US" sz="2800" dirty="0" smtClean="0">
                <a:ea typeface="黑体" panose="02010609060101010101" pitchFamily="49" charset="-122"/>
              </a:rPr>
              <a:t>与接入到传输媒体有关的内容都放在 </a:t>
            </a:r>
            <a:r>
              <a:rPr lang="en-US" altLang="zh-CN" sz="2800" dirty="0" smtClean="0">
                <a:ea typeface="黑体" panose="02010609060101010101" pitchFamily="49" charset="-122"/>
              </a:rPr>
              <a:t>MAC</a:t>
            </a:r>
            <a:r>
              <a:rPr lang="zh-CN" altLang="en-US" sz="2800" dirty="0" smtClean="0">
                <a:ea typeface="黑体" panose="02010609060101010101" pitchFamily="49" charset="-122"/>
              </a:rPr>
              <a:t>子层，而 </a:t>
            </a:r>
            <a:r>
              <a:rPr lang="en-US" altLang="zh-CN" sz="2800" dirty="0" smtClean="0">
                <a:ea typeface="黑体" panose="02010609060101010101" pitchFamily="49" charset="-122"/>
              </a:rPr>
              <a:t>LLC </a:t>
            </a:r>
            <a:r>
              <a:rPr lang="zh-CN" altLang="en-US" sz="2800" dirty="0" smtClean="0">
                <a:ea typeface="黑体" panose="02010609060101010101" pitchFamily="49" charset="-122"/>
              </a:rPr>
              <a:t>子层则与传输媒体无关。</a:t>
            </a:r>
            <a:endParaRPr lang="en-US" altLang="zh-CN" sz="2800" dirty="0" smtClean="0">
              <a:ea typeface="黑体" panose="02010609060101010101" pitchFamily="49" charset="-122"/>
            </a:endParaRPr>
          </a:p>
          <a:p>
            <a:r>
              <a:rPr lang="zh-CN" altLang="en-US" sz="2800" dirty="0" smtClean="0">
                <a:solidFill>
                  <a:srgbClr val="FF0000"/>
                </a:solidFill>
                <a:ea typeface="黑体" panose="02010609060101010101" pitchFamily="49" charset="-122"/>
              </a:rPr>
              <a:t>不管采用何种协议的局域网，对 </a:t>
            </a:r>
            <a:r>
              <a:rPr lang="en-US" altLang="zh-CN" sz="2800" dirty="0" smtClean="0">
                <a:solidFill>
                  <a:srgbClr val="FF0000"/>
                </a:solidFill>
                <a:ea typeface="黑体" panose="02010609060101010101" pitchFamily="49" charset="-122"/>
              </a:rPr>
              <a:t>LLC </a:t>
            </a:r>
            <a:r>
              <a:rPr lang="zh-CN" altLang="en-US" sz="2800" dirty="0" smtClean="0">
                <a:solidFill>
                  <a:srgbClr val="FF0000"/>
                </a:solidFill>
                <a:ea typeface="黑体" panose="02010609060101010101" pitchFamily="49" charset="-122"/>
              </a:rPr>
              <a:t>子层来说都是透明的。</a:t>
            </a:r>
          </a:p>
        </p:txBody>
      </p:sp>
      <p:sp>
        <p:nvSpPr>
          <p:cNvPr id="5058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C52B46-BDDB-4C4E-B2EC-0C1ACABAE162}" type="slidenum">
              <a:rPr lang="zh-CN" altLang="en-US" smtClean="0"/>
              <a:pPr eaLnBrk="1" hangingPunct="1"/>
              <a:t>8</a:t>
            </a:fld>
            <a:endParaRPr lang="en-US" altLang="zh-CN" smtClean="0"/>
          </a:p>
        </p:txBody>
      </p:sp>
      <p:sp>
        <p:nvSpPr>
          <p:cNvPr id="5058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6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5" name="Rectangle 14"/>
          <p:cNvSpPr>
            <a:spLocks noGrp="1" noChangeArrowheads="1"/>
          </p:cNvSpPr>
          <p:nvPr>
            <p:ph type="title"/>
          </p:nvPr>
        </p:nvSpPr>
        <p:spPr/>
        <p:txBody>
          <a:bodyPr/>
          <a:lstStyle/>
          <a:p>
            <a:pPr algn="ctr"/>
            <a:r>
              <a:rPr lang="zh-CN" altLang="en-US" smtClean="0">
                <a:ea typeface="黑体" panose="02010609060101010101" pitchFamily="49" charset="-122"/>
              </a:rPr>
              <a:t>局域网对 </a:t>
            </a:r>
            <a:r>
              <a:rPr lang="en-US" altLang="zh-CN" smtClean="0">
                <a:ea typeface="黑体" panose="02010609060101010101" pitchFamily="49" charset="-122"/>
              </a:rPr>
              <a:t>LLC </a:t>
            </a:r>
            <a:r>
              <a:rPr lang="zh-CN" altLang="en-US" smtClean="0">
                <a:ea typeface="黑体" panose="02010609060101010101" pitchFamily="49" charset="-122"/>
              </a:rPr>
              <a:t>子层是透明的 </a:t>
            </a:r>
          </a:p>
        </p:txBody>
      </p:sp>
      <p:sp>
        <p:nvSpPr>
          <p:cNvPr id="507906" name="Freeform 25"/>
          <p:cNvSpPr>
            <a:spLocks noChangeArrowheads="1"/>
          </p:cNvSpPr>
          <p:nvPr/>
        </p:nvSpPr>
        <p:spPr bwMode="auto">
          <a:xfrm>
            <a:off x="7173913" y="2606675"/>
            <a:ext cx="1474787" cy="2325688"/>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99FF"/>
          </a:solidFill>
          <a:ln w="9525" cap="rnd">
            <a:solidFill>
              <a:schemeClr val="folHlink"/>
            </a:solidFill>
            <a:round/>
            <a:headEnd/>
            <a:tailEnd/>
          </a:ln>
        </p:spPr>
        <p:txBody>
          <a:bodyPr/>
          <a:lstStyle/>
          <a:p>
            <a:pPr eaLnBrk="0" hangingPunct="0"/>
            <a:endParaRPr lang="zh-CN" altLang="en-US" sz="2000" b="1">
              <a:solidFill>
                <a:srgbClr val="000099"/>
              </a:solidFill>
              <a:ea typeface="黑体" panose="02010609060101010101" pitchFamily="49" charset="-122"/>
            </a:endParaRPr>
          </a:p>
        </p:txBody>
      </p:sp>
      <p:sp>
        <p:nvSpPr>
          <p:cNvPr id="507907" name="Freeform 18"/>
          <p:cNvSpPr>
            <a:spLocks noChangeArrowheads="1"/>
          </p:cNvSpPr>
          <p:nvPr/>
        </p:nvSpPr>
        <p:spPr bwMode="auto">
          <a:xfrm>
            <a:off x="2390775" y="2606675"/>
            <a:ext cx="1474788" cy="2325688"/>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99FF"/>
          </a:solidFill>
          <a:ln w="9525" cap="rnd">
            <a:solidFill>
              <a:schemeClr val="folHlink"/>
            </a:solidFill>
            <a:round/>
            <a:headEnd/>
            <a:tailEnd/>
          </a:ln>
        </p:spPr>
        <p:txBody>
          <a:bodyPr/>
          <a:lstStyle/>
          <a:p>
            <a:pPr eaLnBrk="0" hangingPunct="0"/>
            <a:endParaRPr lang="zh-CN" altLang="en-US" sz="2000" b="1">
              <a:solidFill>
                <a:srgbClr val="000099"/>
              </a:solidFill>
              <a:ea typeface="黑体" panose="02010609060101010101" pitchFamily="49" charset="-122"/>
            </a:endParaRPr>
          </a:p>
        </p:txBody>
      </p:sp>
      <p:sp>
        <p:nvSpPr>
          <p:cNvPr id="507908" name="Rectangle 47"/>
          <p:cNvSpPr>
            <a:spLocks noChangeArrowheads="1"/>
          </p:cNvSpPr>
          <p:nvPr/>
        </p:nvSpPr>
        <p:spPr bwMode="auto">
          <a:xfrm>
            <a:off x="7178675" y="3284538"/>
            <a:ext cx="1455738" cy="1100137"/>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09" name="Rectangle 46"/>
          <p:cNvSpPr>
            <a:spLocks noChangeArrowheads="1"/>
          </p:cNvSpPr>
          <p:nvPr/>
        </p:nvSpPr>
        <p:spPr bwMode="auto">
          <a:xfrm>
            <a:off x="2398713" y="3284538"/>
            <a:ext cx="1457325" cy="1100137"/>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nvGrpSpPr>
          <p:cNvPr id="400386" name="Group 2"/>
          <p:cNvGrpSpPr/>
          <p:nvPr/>
        </p:nvGrpSpPr>
        <p:grpSpPr bwMode="auto">
          <a:xfrm>
            <a:off x="4485217" y="3284538"/>
            <a:ext cx="2027635" cy="1657350"/>
            <a:chOff x="109" y="1226"/>
            <a:chExt cx="2516" cy="1675"/>
          </a:xfrm>
          <a:solidFill>
            <a:srgbClr val="FFFF00"/>
          </a:solidFill>
        </p:grpSpPr>
        <p:grpSp>
          <p:nvGrpSpPr>
            <p:cNvPr id="400387" name="Group 3"/>
            <p:cNvGrpSpPr/>
            <p:nvPr/>
          </p:nvGrpSpPr>
          <p:grpSpPr bwMode="auto">
            <a:xfrm>
              <a:off x="109" y="1226"/>
              <a:ext cx="2516" cy="1675"/>
              <a:chOff x="109" y="1226"/>
              <a:chExt cx="2516" cy="1675"/>
            </a:xfrm>
            <a:grpFill/>
          </p:grpSpPr>
          <p:grpSp>
            <p:nvGrpSpPr>
              <p:cNvPr id="400388" name="Group 4"/>
              <p:cNvGrpSpPr/>
              <p:nvPr/>
            </p:nvGrpSpPr>
            <p:grpSpPr bwMode="auto">
              <a:xfrm>
                <a:off x="109" y="1226"/>
                <a:ext cx="2516" cy="1675"/>
                <a:chOff x="109" y="1226"/>
                <a:chExt cx="2516" cy="1675"/>
              </a:xfrm>
              <a:grpFill/>
            </p:grpSpPr>
            <p:sp>
              <p:nvSpPr>
                <p:cNvPr id="400389" name="Oval 5"/>
                <p:cNvSpPr>
                  <a:spLocks noChangeArrowheads="1"/>
                </p:cNvSpPr>
                <p:nvPr/>
              </p:nvSpPr>
              <p:spPr bwMode="auto">
                <a:xfrm>
                  <a:off x="1749" y="1896"/>
                  <a:ext cx="876" cy="829"/>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0" name="Oval 6"/>
                <p:cNvSpPr>
                  <a:spLocks noChangeArrowheads="1"/>
                </p:cNvSpPr>
                <p:nvPr/>
              </p:nvSpPr>
              <p:spPr bwMode="auto">
                <a:xfrm>
                  <a:off x="109" y="1632"/>
                  <a:ext cx="859" cy="831"/>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1" name="Oval 7"/>
                <p:cNvSpPr>
                  <a:spLocks noChangeArrowheads="1"/>
                </p:cNvSpPr>
                <p:nvPr/>
              </p:nvSpPr>
              <p:spPr bwMode="auto">
                <a:xfrm>
                  <a:off x="1612" y="1341"/>
                  <a:ext cx="874" cy="802"/>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2" name="Oval 8"/>
                <p:cNvSpPr>
                  <a:spLocks noChangeArrowheads="1"/>
                </p:cNvSpPr>
                <p:nvPr/>
              </p:nvSpPr>
              <p:spPr bwMode="auto">
                <a:xfrm>
                  <a:off x="1152" y="2055"/>
                  <a:ext cx="875" cy="846"/>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3" name="Oval 9"/>
                <p:cNvSpPr>
                  <a:spLocks noChangeArrowheads="1"/>
                </p:cNvSpPr>
                <p:nvPr/>
              </p:nvSpPr>
              <p:spPr bwMode="auto">
                <a:xfrm>
                  <a:off x="400" y="1982"/>
                  <a:ext cx="874" cy="802"/>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4" name="Oval 10"/>
                <p:cNvSpPr>
                  <a:spLocks noChangeArrowheads="1"/>
                </p:cNvSpPr>
                <p:nvPr/>
              </p:nvSpPr>
              <p:spPr bwMode="auto">
                <a:xfrm>
                  <a:off x="1075" y="1226"/>
                  <a:ext cx="859" cy="829"/>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sp>
              <p:nvSpPr>
                <p:cNvPr id="400395" name="Oval 11"/>
                <p:cNvSpPr>
                  <a:spLocks noChangeArrowheads="1"/>
                </p:cNvSpPr>
                <p:nvPr/>
              </p:nvSpPr>
              <p:spPr bwMode="auto">
                <a:xfrm>
                  <a:off x="523" y="1226"/>
                  <a:ext cx="859" cy="799"/>
                </a:xfrm>
                <a:prstGeom prst="ellipse">
                  <a:avLst/>
                </a:prstGeom>
                <a:grpFill/>
                <a:ln w="9525">
                  <a:solidFill>
                    <a:srgbClr val="000000"/>
                  </a:solidFill>
                  <a:prstDash val="dash"/>
                  <a:round/>
                </a:ln>
              </p:spPr>
              <p:txBody>
                <a:bodyPr/>
                <a:lstStyle/>
                <a:p>
                  <a:endParaRPr lang="zh-CN" altLang="en-US" sz="2000" b="1" noProof="1">
                    <a:solidFill>
                      <a:srgbClr val="000099"/>
                    </a:solidFill>
                    <a:latin typeface="+mn-lt"/>
                    <a:ea typeface="黑体" panose="02010609060101010101" pitchFamily="2" charset="-122"/>
                  </a:endParaRPr>
                </a:p>
              </p:txBody>
            </p:sp>
          </p:grpSp>
          <p:sp>
            <p:nvSpPr>
              <p:cNvPr id="400396" name="Oval 12"/>
              <p:cNvSpPr>
                <a:spLocks noChangeArrowheads="1"/>
              </p:cNvSpPr>
              <p:nvPr/>
            </p:nvSpPr>
            <p:spPr bwMode="auto">
              <a:xfrm>
                <a:off x="339" y="1414"/>
                <a:ext cx="2085" cy="1152"/>
              </a:xfrm>
              <a:prstGeom prst="ellipse">
                <a:avLst/>
              </a:prstGeom>
              <a:grpFill/>
              <a:ln>
                <a:noFill/>
              </a:ln>
              <a:extLst>
                <a:ext uri="{91240B29-F687-4F45-9708-019B960494DF}">
                  <a14:hiddenLine xmlns:a14="http://schemas.microsoft.com/office/drawing/2010/main" w="9525">
                    <a:solidFill>
                      <a:srgbClr val="000000"/>
                    </a:solidFill>
                    <a:prstDash val="dash"/>
                    <a:round/>
                  </a14:hiddenLine>
                </a:ext>
              </a:extLst>
            </p:spPr>
            <p:txBody>
              <a:bodyPr/>
              <a:lstStyle/>
              <a:p>
                <a:endParaRPr lang="zh-CN" altLang="en-US" sz="2000" b="1" noProof="1">
                  <a:solidFill>
                    <a:srgbClr val="000099"/>
                  </a:solidFill>
                  <a:latin typeface="+mn-lt"/>
                  <a:ea typeface="黑体" panose="02010609060101010101" pitchFamily="2" charset="-122"/>
                </a:endParaRPr>
              </a:p>
            </p:txBody>
          </p:sp>
        </p:grpSp>
        <p:sp>
          <p:nvSpPr>
            <p:cNvPr id="400397" name="Freeform 13"/>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grp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noProof="1">
                <a:solidFill>
                  <a:srgbClr val="000099"/>
                </a:solidFill>
                <a:latin typeface="+mn-lt"/>
                <a:ea typeface="黑体" panose="02010609060101010101" pitchFamily="2" charset="-122"/>
              </a:endParaRPr>
            </a:p>
          </p:txBody>
        </p:sp>
      </p:grpSp>
      <p:sp>
        <p:nvSpPr>
          <p:cNvPr id="507911" name="Line 15"/>
          <p:cNvSpPr>
            <a:spLocks noChangeShapeType="1"/>
          </p:cNvSpPr>
          <p:nvPr/>
        </p:nvSpPr>
        <p:spPr bwMode="auto">
          <a:xfrm flipV="1">
            <a:off x="3871913" y="4622800"/>
            <a:ext cx="957262" cy="1111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2" name="Line 16"/>
          <p:cNvSpPr>
            <a:spLocks noChangeShapeType="1"/>
          </p:cNvSpPr>
          <p:nvPr/>
        </p:nvSpPr>
        <p:spPr bwMode="auto">
          <a:xfrm flipH="1">
            <a:off x="6434138" y="4622800"/>
            <a:ext cx="744537" cy="317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3" name="Rectangle 17"/>
          <p:cNvSpPr>
            <a:spLocks noChangeArrowheads="1"/>
          </p:cNvSpPr>
          <p:nvPr/>
        </p:nvSpPr>
        <p:spPr bwMode="auto">
          <a:xfrm>
            <a:off x="4808538" y="3903663"/>
            <a:ext cx="146367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800" b="1">
                <a:solidFill>
                  <a:srgbClr val="000099"/>
                </a:solidFill>
                <a:ea typeface="黑体" panose="02010609060101010101" pitchFamily="49" charset="-122"/>
              </a:rPr>
              <a:t>局 域 网</a:t>
            </a:r>
          </a:p>
        </p:txBody>
      </p:sp>
      <p:sp>
        <p:nvSpPr>
          <p:cNvPr id="507914" name="Line 19"/>
          <p:cNvSpPr>
            <a:spLocks noChangeShapeType="1"/>
          </p:cNvSpPr>
          <p:nvPr/>
        </p:nvSpPr>
        <p:spPr bwMode="auto">
          <a:xfrm>
            <a:off x="2397125" y="4386263"/>
            <a:ext cx="1460500"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5" name="Line 20"/>
          <p:cNvSpPr>
            <a:spLocks noChangeShapeType="1"/>
          </p:cNvSpPr>
          <p:nvPr/>
        </p:nvSpPr>
        <p:spPr bwMode="auto">
          <a:xfrm>
            <a:off x="2397125" y="3841750"/>
            <a:ext cx="1460500"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6" name="Line 21"/>
          <p:cNvSpPr>
            <a:spLocks noChangeShapeType="1"/>
          </p:cNvSpPr>
          <p:nvPr/>
        </p:nvSpPr>
        <p:spPr bwMode="auto">
          <a:xfrm>
            <a:off x="2397125" y="3292475"/>
            <a:ext cx="1460500"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17" name="Rectangle 22"/>
          <p:cNvSpPr>
            <a:spLocks noChangeArrowheads="1"/>
          </p:cNvSpPr>
          <p:nvPr/>
        </p:nvSpPr>
        <p:spPr bwMode="auto">
          <a:xfrm>
            <a:off x="2708275" y="2705100"/>
            <a:ext cx="957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网络层</a:t>
            </a:r>
          </a:p>
        </p:txBody>
      </p:sp>
      <p:sp>
        <p:nvSpPr>
          <p:cNvPr id="507918" name="Rectangle 23"/>
          <p:cNvSpPr>
            <a:spLocks noChangeArrowheads="1"/>
          </p:cNvSpPr>
          <p:nvPr/>
        </p:nvSpPr>
        <p:spPr bwMode="auto">
          <a:xfrm>
            <a:off x="2678113" y="4460875"/>
            <a:ext cx="957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物理层</a:t>
            </a:r>
          </a:p>
        </p:txBody>
      </p:sp>
      <p:sp>
        <p:nvSpPr>
          <p:cNvPr id="507919" name="Rectangle 24"/>
          <p:cNvSpPr>
            <a:spLocks noChangeArrowheads="1"/>
          </p:cNvSpPr>
          <p:nvPr/>
        </p:nvSpPr>
        <p:spPr bwMode="auto">
          <a:xfrm>
            <a:off x="2655888" y="4978400"/>
            <a:ext cx="91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站点 </a:t>
            </a:r>
            <a:r>
              <a:rPr lang="en-US" altLang="zh-CN" sz="2000" b="1">
                <a:solidFill>
                  <a:srgbClr val="000099"/>
                </a:solidFill>
                <a:ea typeface="黑体" panose="02010609060101010101" pitchFamily="49" charset="-122"/>
              </a:rPr>
              <a:t>1</a:t>
            </a:r>
          </a:p>
        </p:txBody>
      </p:sp>
      <p:sp>
        <p:nvSpPr>
          <p:cNvPr id="507920" name="Line 26"/>
          <p:cNvSpPr>
            <a:spLocks noChangeShapeType="1"/>
          </p:cNvSpPr>
          <p:nvPr/>
        </p:nvSpPr>
        <p:spPr bwMode="auto">
          <a:xfrm>
            <a:off x="7178675" y="4386263"/>
            <a:ext cx="146208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21" name="Line 27"/>
          <p:cNvSpPr>
            <a:spLocks noChangeShapeType="1"/>
          </p:cNvSpPr>
          <p:nvPr/>
        </p:nvSpPr>
        <p:spPr bwMode="auto">
          <a:xfrm>
            <a:off x="7178675" y="3841750"/>
            <a:ext cx="146208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22" name="Line 28"/>
          <p:cNvSpPr>
            <a:spLocks noChangeShapeType="1"/>
          </p:cNvSpPr>
          <p:nvPr/>
        </p:nvSpPr>
        <p:spPr bwMode="auto">
          <a:xfrm>
            <a:off x="7178675" y="3292475"/>
            <a:ext cx="146208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23" name="Rectangle 29"/>
          <p:cNvSpPr>
            <a:spLocks noChangeArrowheads="1"/>
          </p:cNvSpPr>
          <p:nvPr/>
        </p:nvSpPr>
        <p:spPr bwMode="auto">
          <a:xfrm>
            <a:off x="7445375" y="2722563"/>
            <a:ext cx="957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网络层</a:t>
            </a:r>
          </a:p>
        </p:txBody>
      </p:sp>
      <p:sp>
        <p:nvSpPr>
          <p:cNvPr id="507924" name="Rectangle 30"/>
          <p:cNvSpPr>
            <a:spLocks noChangeArrowheads="1"/>
          </p:cNvSpPr>
          <p:nvPr/>
        </p:nvSpPr>
        <p:spPr bwMode="auto">
          <a:xfrm>
            <a:off x="7458075" y="4460875"/>
            <a:ext cx="957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物理层</a:t>
            </a:r>
          </a:p>
        </p:txBody>
      </p:sp>
      <p:grpSp>
        <p:nvGrpSpPr>
          <p:cNvPr id="400415" name="Group 31"/>
          <p:cNvGrpSpPr>
            <a:grpSpLocks/>
          </p:cNvGrpSpPr>
          <p:nvPr/>
        </p:nvGrpSpPr>
        <p:grpSpPr bwMode="auto">
          <a:xfrm>
            <a:off x="428625" y="3362325"/>
            <a:ext cx="7829550" cy="442913"/>
            <a:chOff x="249" y="2118"/>
            <a:chExt cx="4553" cy="279"/>
          </a:xfrm>
        </p:grpSpPr>
        <p:sp>
          <p:nvSpPr>
            <p:cNvPr id="507926" name="Rectangle 32"/>
            <p:cNvSpPr>
              <a:spLocks noChangeArrowheads="1"/>
            </p:cNvSpPr>
            <p:nvPr/>
          </p:nvSpPr>
          <p:spPr bwMode="auto">
            <a:xfrm>
              <a:off x="249" y="2147"/>
              <a:ext cx="10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逻辑链路控制</a:t>
              </a:r>
            </a:p>
          </p:txBody>
        </p:sp>
        <p:sp>
          <p:nvSpPr>
            <p:cNvPr id="507927" name="AutoShape 33"/>
            <p:cNvSpPr>
              <a:spLocks noChangeArrowheads="1"/>
            </p:cNvSpPr>
            <p:nvPr/>
          </p:nvSpPr>
          <p:spPr bwMode="auto">
            <a:xfrm>
              <a:off x="2264" y="2135"/>
              <a:ext cx="1896" cy="228"/>
            </a:xfrm>
            <a:prstGeom prst="leftRightArrow">
              <a:avLst>
                <a:gd name="adj1" fmla="val 41676"/>
                <a:gd name="adj2" fmla="val 87393"/>
              </a:avLst>
            </a:prstGeom>
            <a:solidFill>
              <a:schemeClr val="accent1"/>
            </a:solidFill>
            <a:ln w="28575">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28" name="Rectangle 34"/>
            <p:cNvSpPr>
              <a:spLocks noChangeArrowheads="1"/>
            </p:cNvSpPr>
            <p:nvPr/>
          </p:nvSpPr>
          <p:spPr bwMode="auto">
            <a:xfrm>
              <a:off x="1623" y="2118"/>
              <a:ext cx="3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LLC</a:t>
              </a:r>
            </a:p>
          </p:txBody>
        </p:sp>
        <p:sp>
          <p:nvSpPr>
            <p:cNvPr id="507929" name="Rectangle 35"/>
            <p:cNvSpPr>
              <a:spLocks noChangeArrowheads="1"/>
            </p:cNvSpPr>
            <p:nvPr/>
          </p:nvSpPr>
          <p:spPr bwMode="auto">
            <a:xfrm>
              <a:off x="4405" y="2118"/>
              <a:ext cx="3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LLC</a:t>
              </a:r>
            </a:p>
          </p:txBody>
        </p:sp>
      </p:grpSp>
      <p:grpSp>
        <p:nvGrpSpPr>
          <p:cNvPr id="400420" name="Group 36"/>
          <p:cNvGrpSpPr>
            <a:grpSpLocks/>
          </p:cNvGrpSpPr>
          <p:nvPr/>
        </p:nvGrpSpPr>
        <p:grpSpPr bwMode="auto">
          <a:xfrm>
            <a:off x="428625" y="3917950"/>
            <a:ext cx="7883525" cy="419100"/>
            <a:chOff x="249" y="2468"/>
            <a:chExt cx="4584" cy="264"/>
          </a:xfrm>
        </p:grpSpPr>
        <p:sp>
          <p:nvSpPr>
            <p:cNvPr id="507931" name="Rectangle 37"/>
            <p:cNvSpPr>
              <a:spLocks noChangeArrowheads="1"/>
            </p:cNvSpPr>
            <p:nvPr/>
          </p:nvSpPr>
          <p:spPr bwMode="auto">
            <a:xfrm>
              <a:off x="249" y="2482"/>
              <a:ext cx="10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媒体接入控制</a:t>
              </a:r>
            </a:p>
          </p:txBody>
        </p:sp>
        <p:sp>
          <p:nvSpPr>
            <p:cNvPr id="507932" name="Line 38"/>
            <p:cNvSpPr>
              <a:spLocks noChangeShapeType="1"/>
            </p:cNvSpPr>
            <p:nvPr/>
          </p:nvSpPr>
          <p:spPr bwMode="auto">
            <a:xfrm flipV="1">
              <a:off x="2251" y="2581"/>
              <a:ext cx="383" cy="1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33" name="Line 39"/>
            <p:cNvSpPr>
              <a:spLocks noChangeShapeType="1"/>
            </p:cNvSpPr>
            <p:nvPr/>
          </p:nvSpPr>
          <p:spPr bwMode="auto">
            <a:xfrm flipH="1">
              <a:off x="3739" y="2585"/>
              <a:ext cx="435"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34" name="Rectangle 40"/>
            <p:cNvSpPr>
              <a:spLocks noChangeArrowheads="1"/>
            </p:cNvSpPr>
            <p:nvPr/>
          </p:nvSpPr>
          <p:spPr bwMode="auto">
            <a:xfrm>
              <a:off x="1607" y="2468"/>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a:t>
              </a:r>
            </a:p>
          </p:txBody>
        </p:sp>
        <p:sp>
          <p:nvSpPr>
            <p:cNvPr id="507935" name="Rectangle 41"/>
            <p:cNvSpPr>
              <a:spLocks noChangeArrowheads="1"/>
            </p:cNvSpPr>
            <p:nvPr/>
          </p:nvSpPr>
          <p:spPr bwMode="auto">
            <a:xfrm>
              <a:off x="4387" y="2468"/>
              <a:ext cx="4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a:t>
              </a:r>
            </a:p>
          </p:txBody>
        </p:sp>
      </p:grpSp>
      <p:sp>
        <p:nvSpPr>
          <p:cNvPr id="507936" name="AutoShape 42"/>
          <p:cNvSpPr>
            <a:spLocks/>
          </p:cNvSpPr>
          <p:nvPr/>
        </p:nvSpPr>
        <p:spPr bwMode="auto">
          <a:xfrm>
            <a:off x="8650288" y="3302000"/>
            <a:ext cx="128587" cy="1052513"/>
          </a:xfrm>
          <a:prstGeom prst="rightBrace">
            <a:avLst>
              <a:gd name="adj1" fmla="val 7385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07937" name="Rectangle 43"/>
          <p:cNvSpPr>
            <a:spLocks noChangeArrowheads="1"/>
          </p:cNvSpPr>
          <p:nvPr/>
        </p:nvSpPr>
        <p:spPr bwMode="auto">
          <a:xfrm>
            <a:off x="8721725" y="3522663"/>
            <a:ext cx="957263"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99"/>
                </a:solidFill>
                <a:ea typeface="黑体" panose="02010609060101010101" pitchFamily="49" charset="-122"/>
              </a:rPr>
              <a:t>数据</a:t>
            </a:r>
          </a:p>
          <a:p>
            <a:pPr algn="ctr"/>
            <a:r>
              <a:rPr lang="zh-CN" altLang="en-US" sz="2000" b="1">
                <a:solidFill>
                  <a:srgbClr val="000099"/>
                </a:solidFill>
                <a:ea typeface="黑体" panose="02010609060101010101" pitchFamily="49" charset="-122"/>
              </a:rPr>
              <a:t>链路层</a:t>
            </a:r>
          </a:p>
        </p:txBody>
      </p:sp>
      <p:sp>
        <p:nvSpPr>
          <p:cNvPr id="507938" name="Rectangle 44"/>
          <p:cNvSpPr>
            <a:spLocks noChangeArrowheads="1"/>
          </p:cNvSpPr>
          <p:nvPr/>
        </p:nvSpPr>
        <p:spPr bwMode="auto">
          <a:xfrm>
            <a:off x="7532688" y="4978400"/>
            <a:ext cx="912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站点 </a:t>
            </a:r>
            <a:r>
              <a:rPr lang="en-US" altLang="zh-CN" sz="2000" b="1">
                <a:solidFill>
                  <a:srgbClr val="000099"/>
                </a:solidFill>
                <a:ea typeface="黑体" panose="02010609060101010101" pitchFamily="49" charset="-122"/>
              </a:rPr>
              <a:t>2</a:t>
            </a:r>
          </a:p>
        </p:txBody>
      </p:sp>
      <p:sp>
        <p:nvSpPr>
          <p:cNvPr id="400429" name="Text Box 45"/>
          <p:cNvSpPr txBox="1">
            <a:spLocks noChangeArrowheads="1"/>
          </p:cNvSpPr>
          <p:nvPr/>
        </p:nvSpPr>
        <p:spPr bwMode="auto">
          <a:xfrm>
            <a:off x="4160838" y="1628775"/>
            <a:ext cx="2786062" cy="954088"/>
          </a:xfrm>
          <a:prstGeom prst="rect">
            <a:avLst/>
          </a:prstGeom>
          <a:solidFill>
            <a:srgbClr val="99FF99"/>
          </a:solidFill>
          <a:ln w="9525">
            <a:solidFill>
              <a:srgbClr val="333399"/>
            </a:solidFill>
            <a:miter lim="800000"/>
            <a:headEnd/>
            <a:tailEnd/>
          </a:ln>
        </p:spPr>
        <p:txBody>
          <a:bodyPr wrap="none">
            <a:spAutoFit/>
          </a:bodyPr>
          <a:lstStyle/>
          <a:p>
            <a:pPr algn="ctr" eaLnBrk="0" hangingPunct="0"/>
            <a:r>
              <a:rPr lang="en-US" altLang="zh-CN" sz="2800" b="1">
                <a:solidFill>
                  <a:srgbClr val="C00000"/>
                </a:solidFill>
                <a:ea typeface="黑体" panose="02010609060101010101" pitchFamily="49" charset="-122"/>
              </a:rPr>
              <a:t>LLC </a:t>
            </a:r>
            <a:r>
              <a:rPr lang="zh-CN" altLang="en-US" sz="2800" b="1">
                <a:solidFill>
                  <a:srgbClr val="C00000"/>
                </a:solidFill>
                <a:ea typeface="黑体" panose="02010609060101010101" pitchFamily="49" charset="-122"/>
              </a:rPr>
              <a:t>子层看不见</a:t>
            </a:r>
          </a:p>
          <a:p>
            <a:pPr algn="ctr" eaLnBrk="0" hangingPunct="0"/>
            <a:r>
              <a:rPr lang="zh-CN" altLang="en-US" sz="2800" b="1">
                <a:solidFill>
                  <a:srgbClr val="C00000"/>
                </a:solidFill>
                <a:ea typeface="黑体" panose="02010609060101010101" pitchFamily="49" charset="-122"/>
              </a:rPr>
              <a:t>下面的局域网</a:t>
            </a:r>
          </a:p>
        </p:txBody>
      </p:sp>
      <p:sp>
        <p:nvSpPr>
          <p:cNvPr id="5079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FDF26D-DE2D-4EC6-8CFE-DECD957E9B73}" type="slidenum">
              <a:rPr lang="zh-CN" altLang="en-US" smtClean="0"/>
              <a:pPr eaLnBrk="1" hangingPunct="1"/>
              <a:t>9</a:t>
            </a:fld>
            <a:endParaRPr lang="en-US" altLang="zh-CN" smtClean="0"/>
          </a:p>
        </p:txBody>
      </p:sp>
      <p:sp>
        <p:nvSpPr>
          <p:cNvPr id="5079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00386"/>
                                        </p:tgtEl>
                                        <p:attrNameLst>
                                          <p:attrName>style.visibility</p:attrName>
                                        </p:attrNameLst>
                                      </p:cBhvr>
                                      <p:to>
                                        <p:strVal val="visible"/>
                                      </p:to>
                                    </p:set>
                                    <p:animEffect transition="in" filter="dissolve">
                                      <p:cBhvr>
                                        <p:cTn id="7" dur="500"/>
                                        <p:tgtEl>
                                          <p:spTgt spid="400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5" presetClass="emph" presetSubtype="0" repeatCount="4000" fill="hold" nodeType="clickEffect">
                                  <p:stCondLst>
                                    <p:cond delay="500"/>
                                  </p:stCondLst>
                                  <p:childTnLst>
                                    <p:anim calcmode="discrete" valueType="str">
                                      <p:cBhvr>
                                        <p:cTn id="11" dur="500" fill="hold"/>
                                        <p:tgtEl>
                                          <p:spTgt spid="400420"/>
                                        </p:tgtEl>
                                        <p:attrNameLst>
                                          <p:attrName>style.visibility</p:attrName>
                                        </p:attrNameLst>
                                      </p:cBhvr>
                                      <p:tavLst>
                                        <p:tav tm="0">
                                          <p:val>
                                            <p:strVal val="hidden"/>
                                          </p:val>
                                        </p:tav>
                                        <p:tav tm="50000">
                                          <p:val>
                                            <p:strVal val="visible"/>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35" presetClass="emph" presetSubtype="0" repeatCount="4000" fill="hold" nodeType="clickEffect">
                                  <p:stCondLst>
                                    <p:cond delay="0"/>
                                  </p:stCondLst>
                                  <p:childTnLst>
                                    <p:anim calcmode="discrete" valueType="str">
                                      <p:cBhvr>
                                        <p:cTn id="15" dur="500" fill="hold"/>
                                        <p:tgtEl>
                                          <p:spTgt spid="400415"/>
                                        </p:tgtEl>
                                        <p:attrNameLst>
                                          <p:attrName>style.visibility</p:attrName>
                                        </p:attrNameLst>
                                      </p:cBhvr>
                                      <p:tavLst>
                                        <p:tav tm="0">
                                          <p:val>
                                            <p:strVal val="hidden"/>
                                          </p:val>
                                        </p:tav>
                                        <p:tav tm="50000">
                                          <p:val>
                                            <p:strVal val="visible"/>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400429"/>
                                        </p:tgtEl>
                                        <p:attrNameLst>
                                          <p:attrName>style.visibility</p:attrName>
                                        </p:attrNameLst>
                                      </p:cBhvr>
                                      <p:to>
                                        <p:strVal val="visible"/>
                                      </p:to>
                                    </p:set>
                                  </p:childTnLst>
                                </p:cTn>
                              </p:par>
                            </p:childTnLst>
                          </p:cTn>
                        </p:par>
                        <p:par>
                          <p:cTn id="20" fill="hold" nodeType="afterGroup">
                            <p:stCondLst>
                              <p:cond delay="1"/>
                            </p:stCondLst>
                            <p:childTnLst>
                              <p:par>
                                <p:cTn id="21" presetID="35" presetClass="emph" presetSubtype="0" repeatCount="4000" fill="hold" grpId="0" nodeType="afterEffect">
                                  <p:stCondLst>
                                    <p:cond delay="500"/>
                                  </p:stCondLst>
                                  <p:childTnLst>
                                    <p:anim calcmode="discrete" valueType="str">
                                      <p:cBhvr>
                                        <p:cTn id="22" dur="500" fill="hold"/>
                                        <p:tgtEl>
                                          <p:spTgt spid="4004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29" grpId="0" animBg="1"/>
      <p:bldP spid="40042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一般不考虑 </a:t>
            </a:r>
            <a:r>
              <a:rPr lang="en-US" altLang="zh-CN" smtClean="0">
                <a:ea typeface="黑体" panose="02010609060101010101" pitchFamily="49" charset="-122"/>
              </a:rPr>
              <a:t>LLC </a:t>
            </a:r>
            <a:r>
              <a:rPr lang="zh-CN" altLang="en-US" smtClean="0">
                <a:ea typeface="黑体" panose="02010609060101010101" pitchFamily="49" charset="-122"/>
              </a:rPr>
              <a:t>子层 </a:t>
            </a:r>
          </a:p>
        </p:txBody>
      </p:sp>
      <p:sp>
        <p:nvSpPr>
          <p:cNvPr id="401411"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由于 </a:t>
            </a:r>
            <a:r>
              <a:rPr lang="en-US" altLang="zh-CN" dirty="0" smtClean="0">
                <a:ea typeface="黑体" panose="02010609060101010101" pitchFamily="49" charset="-122"/>
              </a:rPr>
              <a:t>TCP/IP </a:t>
            </a:r>
            <a:r>
              <a:rPr lang="zh-CN" altLang="en-US" dirty="0" smtClean="0">
                <a:ea typeface="黑体" panose="02010609060101010101" pitchFamily="49" charset="-122"/>
              </a:rPr>
              <a:t>体系经常使用的局域网是</a:t>
            </a:r>
            <a:r>
              <a:rPr lang="zh-CN" altLang="en-US" dirty="0" smtClean="0">
                <a:solidFill>
                  <a:srgbClr val="0000CC"/>
                </a:solidFill>
                <a:ea typeface="黑体" panose="02010609060101010101" pitchFamily="49" charset="-122"/>
              </a:rPr>
              <a:t> </a:t>
            </a:r>
            <a:r>
              <a:rPr lang="en-US" altLang="zh-CN" dirty="0" smtClean="0">
                <a:solidFill>
                  <a:srgbClr val="0000CC"/>
                </a:solidFill>
                <a:ea typeface="黑体" panose="02010609060101010101" pitchFamily="49" charset="-122"/>
              </a:rPr>
              <a:t>DIX Ethernet V2 </a:t>
            </a:r>
            <a:r>
              <a:rPr lang="zh-CN" altLang="en-US" dirty="0" smtClean="0">
                <a:ea typeface="黑体" panose="02010609060101010101" pitchFamily="49" charset="-122"/>
              </a:rPr>
              <a:t>而不是 </a:t>
            </a:r>
            <a:r>
              <a:rPr lang="en-US" altLang="zh-CN" dirty="0" smtClean="0">
                <a:ea typeface="黑体" panose="02010609060101010101" pitchFamily="49" charset="-122"/>
              </a:rPr>
              <a:t>802.3 </a:t>
            </a:r>
            <a:r>
              <a:rPr lang="zh-CN" altLang="en-US" dirty="0" smtClean="0">
                <a:ea typeface="黑体" panose="02010609060101010101" pitchFamily="49" charset="-122"/>
              </a:rPr>
              <a:t>标准中的几种局域网，因此现在 </a:t>
            </a:r>
            <a:r>
              <a:rPr lang="en-US" altLang="zh-CN" dirty="0" smtClean="0">
                <a:ea typeface="黑体" panose="02010609060101010101" pitchFamily="49" charset="-122"/>
              </a:rPr>
              <a:t>802 </a:t>
            </a:r>
            <a:r>
              <a:rPr lang="zh-CN" altLang="en-US" dirty="0" smtClean="0">
                <a:ea typeface="黑体" panose="02010609060101010101" pitchFamily="49" charset="-122"/>
              </a:rPr>
              <a:t>委员会制定的逻辑链路控制子层 </a:t>
            </a:r>
            <a:r>
              <a:rPr lang="en-US" altLang="zh-CN" dirty="0" smtClean="0">
                <a:ea typeface="黑体" panose="02010609060101010101" pitchFamily="49" charset="-122"/>
              </a:rPr>
              <a:t>LLC</a:t>
            </a:r>
            <a:r>
              <a:rPr lang="zh-CN" altLang="en-US" dirty="0" smtClean="0">
                <a:ea typeface="黑体" panose="02010609060101010101" pitchFamily="49" charset="-122"/>
              </a:rPr>
              <a:t>（即 </a:t>
            </a:r>
            <a:r>
              <a:rPr lang="en-US" altLang="zh-CN" dirty="0" smtClean="0">
                <a:ea typeface="黑体" panose="02010609060101010101" pitchFamily="49" charset="-122"/>
              </a:rPr>
              <a:t>802.2 </a:t>
            </a:r>
            <a:r>
              <a:rPr lang="zh-CN" altLang="en-US" dirty="0" smtClean="0">
                <a:ea typeface="黑体" panose="02010609060101010101" pitchFamily="49" charset="-122"/>
              </a:rPr>
              <a:t>标准）的作用已经不大了。</a:t>
            </a:r>
          </a:p>
          <a:p>
            <a:r>
              <a:rPr lang="zh-CN" altLang="en-US" dirty="0" smtClean="0">
                <a:ea typeface="黑体" panose="02010609060101010101" pitchFamily="49" charset="-122"/>
              </a:rPr>
              <a:t>很多厂商生产的适配器上就仅装有 </a:t>
            </a:r>
            <a:r>
              <a:rPr lang="en-US" altLang="zh-CN" dirty="0" smtClean="0">
                <a:ea typeface="黑体" panose="02010609060101010101" pitchFamily="49" charset="-122"/>
              </a:rPr>
              <a:t>MAC </a:t>
            </a:r>
            <a:r>
              <a:rPr lang="zh-CN" altLang="en-US" dirty="0" smtClean="0">
                <a:ea typeface="黑体" panose="02010609060101010101" pitchFamily="49" charset="-122"/>
              </a:rPr>
              <a:t>协议而没有 </a:t>
            </a:r>
            <a:r>
              <a:rPr lang="en-US" altLang="zh-CN" dirty="0" smtClean="0">
                <a:ea typeface="黑体" panose="02010609060101010101" pitchFamily="49" charset="-122"/>
              </a:rPr>
              <a:t>LLC </a:t>
            </a:r>
            <a:r>
              <a:rPr lang="zh-CN" altLang="en-US" dirty="0" smtClean="0">
                <a:ea typeface="黑体" panose="02010609060101010101" pitchFamily="49" charset="-122"/>
              </a:rPr>
              <a:t>协议。 </a:t>
            </a:r>
          </a:p>
        </p:txBody>
      </p:sp>
      <p:sp>
        <p:nvSpPr>
          <p:cNvPr id="5099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444FCF-3F39-4E5F-B38B-E12D9BD56D47}" type="slidenum">
              <a:rPr lang="zh-CN" altLang="en-US" smtClean="0"/>
              <a:pPr eaLnBrk="1" hangingPunct="1"/>
              <a:t>10</a:t>
            </a:fld>
            <a:endParaRPr lang="en-US" altLang="zh-CN" smtClean="0"/>
          </a:p>
        </p:txBody>
      </p:sp>
      <p:sp>
        <p:nvSpPr>
          <p:cNvPr id="5099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14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适配器的作用  </a:t>
            </a:r>
          </a:p>
        </p:txBody>
      </p:sp>
      <p:sp>
        <p:nvSpPr>
          <p:cNvPr id="402435"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网络接口板又称为</a:t>
            </a:r>
            <a:r>
              <a:rPr lang="zh-CN" altLang="en-US" dirty="0" smtClean="0">
                <a:solidFill>
                  <a:srgbClr val="FF0000"/>
                </a:solidFill>
                <a:ea typeface="黑体" panose="02010609060101010101" pitchFamily="49" charset="-122"/>
              </a:rPr>
              <a:t>通信适配器 </a:t>
            </a:r>
            <a:r>
              <a:rPr lang="en-US" altLang="zh-CN" dirty="0" smtClean="0">
                <a:ea typeface="黑体" panose="02010609060101010101" pitchFamily="49" charset="-122"/>
              </a:rPr>
              <a:t>(adapter) </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网络</a:t>
            </a:r>
            <a:r>
              <a:rPr lang="zh-CN" altLang="en-US" u="sng" dirty="0" smtClean="0">
                <a:solidFill>
                  <a:srgbClr val="FF0000"/>
                </a:solidFill>
                <a:ea typeface="黑体" panose="02010609060101010101" pitchFamily="49" charset="-122"/>
              </a:rPr>
              <a:t>接口卡 </a:t>
            </a:r>
            <a:r>
              <a:rPr lang="en-US" altLang="zh-CN" u="sng" dirty="0" smtClean="0">
                <a:ea typeface="黑体" panose="02010609060101010101" pitchFamily="49" charset="-122"/>
              </a:rPr>
              <a:t>NIC (Network Interface Card)</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网卡</a:t>
            </a:r>
            <a:r>
              <a:rPr lang="zh-CN" altLang="en-US" dirty="0" smtClean="0">
                <a:ea typeface="黑体" panose="02010609060101010101" pitchFamily="49" charset="-122"/>
              </a:rPr>
              <a:t>”。 </a:t>
            </a:r>
          </a:p>
          <a:p>
            <a:r>
              <a:rPr lang="zh-CN" altLang="en-US" dirty="0" smtClean="0">
                <a:ea typeface="黑体" panose="02010609060101010101" pitchFamily="49" charset="-122"/>
              </a:rPr>
              <a:t>适配器的重要功能：</a:t>
            </a:r>
          </a:p>
          <a:p>
            <a:pPr lvl="1"/>
            <a:r>
              <a:rPr lang="zh-CN" altLang="en-US" dirty="0" smtClean="0">
                <a:solidFill>
                  <a:srgbClr val="0000FF"/>
                </a:solidFill>
                <a:latin typeface="黑体" panose="02010609060101010101" pitchFamily="49" charset="-122"/>
                <a:ea typeface="黑体" panose="02010609060101010101" pitchFamily="49" charset="-122"/>
              </a:rPr>
              <a:t>进行串行</a:t>
            </a:r>
            <a:r>
              <a:rPr lang="en-US" altLang="zh-CN" dirty="0" smtClean="0">
                <a:solidFill>
                  <a:srgbClr val="0000FF"/>
                </a:solidFill>
                <a:latin typeface="黑体" panose="02010609060101010101" pitchFamily="49" charset="-122"/>
                <a:ea typeface="黑体" panose="02010609060101010101" pitchFamily="49" charset="-122"/>
              </a:rPr>
              <a:t>/</a:t>
            </a:r>
            <a:r>
              <a:rPr lang="zh-CN" altLang="en-US" dirty="0" smtClean="0">
                <a:solidFill>
                  <a:srgbClr val="0000FF"/>
                </a:solidFill>
                <a:latin typeface="黑体" panose="02010609060101010101" pitchFamily="49" charset="-122"/>
                <a:ea typeface="黑体" panose="02010609060101010101" pitchFamily="49" charset="-122"/>
              </a:rPr>
              <a:t>并行转换。</a:t>
            </a:r>
          </a:p>
          <a:p>
            <a:pPr lvl="1"/>
            <a:r>
              <a:rPr lang="zh-CN" altLang="en-US" dirty="0" smtClean="0">
                <a:solidFill>
                  <a:srgbClr val="0000FF"/>
                </a:solidFill>
                <a:latin typeface="黑体" panose="02010609060101010101" pitchFamily="49" charset="-122"/>
                <a:ea typeface="黑体" panose="02010609060101010101" pitchFamily="49" charset="-122"/>
              </a:rPr>
              <a:t>对数据进行缓存。</a:t>
            </a:r>
          </a:p>
          <a:p>
            <a:pPr lvl="1"/>
            <a:r>
              <a:rPr lang="zh-CN" altLang="en-US" dirty="0" smtClean="0">
                <a:solidFill>
                  <a:srgbClr val="0000FF"/>
                </a:solidFill>
                <a:latin typeface="黑体" panose="02010609060101010101" pitchFamily="49" charset="-122"/>
                <a:ea typeface="黑体" panose="02010609060101010101" pitchFamily="49" charset="-122"/>
              </a:rPr>
              <a:t>在计算机的操作系统安装设备驱动程序。</a:t>
            </a:r>
          </a:p>
          <a:p>
            <a:pPr lvl="1"/>
            <a:r>
              <a:rPr lang="zh-CN" altLang="en-US" dirty="0" smtClean="0">
                <a:solidFill>
                  <a:srgbClr val="0000FF"/>
                </a:solidFill>
                <a:latin typeface="黑体" panose="02010609060101010101" pitchFamily="49" charset="-122"/>
                <a:ea typeface="黑体" panose="02010609060101010101" pitchFamily="49" charset="-122"/>
              </a:rPr>
              <a:t>实现以太网协议。</a:t>
            </a:r>
            <a:r>
              <a:rPr lang="zh-CN" altLang="en-US" dirty="0" smtClean="0">
                <a:solidFill>
                  <a:srgbClr val="0000FF"/>
                </a:solidFill>
                <a:ea typeface="黑体" panose="02010609060101010101" pitchFamily="49" charset="-122"/>
              </a:rPr>
              <a:t>  </a:t>
            </a:r>
          </a:p>
        </p:txBody>
      </p:sp>
      <p:sp>
        <p:nvSpPr>
          <p:cNvPr id="5120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9A8801-24DD-4F49-8537-7129E5C634EC}" type="slidenum">
              <a:rPr lang="zh-CN" altLang="en-US" smtClean="0"/>
              <a:pPr eaLnBrk="1" hangingPunct="1"/>
              <a:t>11</a:t>
            </a:fld>
            <a:endParaRPr lang="en-US" altLang="zh-CN" smtClean="0"/>
          </a:p>
        </p:txBody>
      </p:sp>
      <p:sp>
        <p:nvSpPr>
          <p:cNvPr id="5120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243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243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243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2435">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2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49" name="Rectangle 2"/>
          <p:cNvSpPr>
            <a:spLocks noGrp="1" noChangeArrowheads="1"/>
          </p:cNvSpPr>
          <p:nvPr>
            <p:ph type="title"/>
          </p:nvPr>
        </p:nvSpPr>
        <p:spPr/>
        <p:txBody>
          <a:bodyPr/>
          <a:lstStyle/>
          <a:p>
            <a:pPr algn="ctr"/>
            <a:r>
              <a:rPr lang="zh-CN" altLang="en-US" sz="3600" smtClean="0">
                <a:ea typeface="黑体" panose="02010609060101010101" pitchFamily="49" charset="-122"/>
              </a:rPr>
              <a:t>计算机通过适配器和局域网进行通信 </a:t>
            </a:r>
          </a:p>
        </p:txBody>
      </p:sp>
      <p:sp>
        <p:nvSpPr>
          <p:cNvPr id="514050" name="Rectangle 18"/>
          <p:cNvSpPr>
            <a:spLocks noChangeArrowheads="1"/>
          </p:cNvSpPr>
          <p:nvPr/>
        </p:nvSpPr>
        <p:spPr bwMode="auto">
          <a:xfrm>
            <a:off x="1173163" y="2093913"/>
            <a:ext cx="6375400" cy="2397125"/>
          </a:xfrm>
          <a:prstGeom prst="rect">
            <a:avLst/>
          </a:prstGeom>
          <a:solidFill>
            <a:srgbClr val="FFFF00"/>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4051" name="Line 20"/>
          <p:cNvSpPr>
            <a:spLocks noChangeShapeType="1"/>
          </p:cNvSpPr>
          <p:nvPr/>
        </p:nvSpPr>
        <p:spPr bwMode="auto">
          <a:xfrm>
            <a:off x="6773863" y="3392488"/>
            <a:ext cx="2011362" cy="0"/>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4052" name="Text Box 21"/>
          <p:cNvSpPr txBox="1">
            <a:spLocks noChangeArrowheads="1"/>
          </p:cNvSpPr>
          <p:nvPr/>
        </p:nvSpPr>
        <p:spPr bwMode="auto">
          <a:xfrm>
            <a:off x="7556500" y="2852738"/>
            <a:ext cx="14144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至局域网</a:t>
            </a:r>
          </a:p>
        </p:txBody>
      </p:sp>
      <p:sp>
        <p:nvSpPr>
          <p:cNvPr id="514053" name="Rectangle 22"/>
          <p:cNvSpPr>
            <a:spLocks noChangeArrowheads="1"/>
          </p:cNvSpPr>
          <p:nvPr/>
        </p:nvSpPr>
        <p:spPr bwMode="auto">
          <a:xfrm>
            <a:off x="4910138" y="2778125"/>
            <a:ext cx="1908175" cy="1127125"/>
          </a:xfrm>
          <a:prstGeom prst="rect">
            <a:avLst/>
          </a:prstGeom>
          <a:solidFill>
            <a:srgbClr val="CCCC00"/>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适配器</a:t>
            </a:r>
          </a:p>
          <a:p>
            <a:pPr algn="ctr" eaLnBrk="0" hangingPunct="0"/>
            <a:r>
              <a:rPr lang="zh-CN" altLang="en-US" sz="2400" b="1">
                <a:solidFill>
                  <a:srgbClr val="000099"/>
                </a:solidFill>
                <a:ea typeface="黑体" panose="02010609060101010101" pitchFamily="49" charset="-122"/>
              </a:rPr>
              <a:t>（网卡）</a:t>
            </a:r>
          </a:p>
        </p:txBody>
      </p:sp>
      <p:sp>
        <p:nvSpPr>
          <p:cNvPr id="514054" name="Text Box 23"/>
          <p:cNvSpPr txBox="1">
            <a:spLocks noChangeArrowheads="1"/>
          </p:cNvSpPr>
          <p:nvPr/>
        </p:nvSpPr>
        <p:spPr bwMode="auto">
          <a:xfrm>
            <a:off x="7569200" y="34290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串行通信</a:t>
            </a:r>
          </a:p>
        </p:txBody>
      </p:sp>
      <p:sp>
        <p:nvSpPr>
          <p:cNvPr id="514055" name="Rectangle 24"/>
          <p:cNvSpPr>
            <a:spLocks noChangeArrowheads="1"/>
          </p:cNvSpPr>
          <p:nvPr/>
        </p:nvSpPr>
        <p:spPr bwMode="auto">
          <a:xfrm>
            <a:off x="1903413" y="2778125"/>
            <a:ext cx="1906587" cy="1127125"/>
          </a:xfrm>
          <a:prstGeom prst="rect">
            <a:avLst/>
          </a:prstGeom>
          <a:solidFill>
            <a:schemeClr val="accent2"/>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400" b="1">
                <a:solidFill>
                  <a:srgbClr val="000099"/>
                </a:solidFill>
                <a:ea typeface="黑体" panose="02010609060101010101" pitchFamily="49" charset="-122"/>
              </a:rPr>
              <a:t>CPU </a:t>
            </a:r>
            <a:r>
              <a:rPr lang="zh-CN" altLang="en-US" sz="2400" b="1">
                <a:solidFill>
                  <a:srgbClr val="000099"/>
                </a:solidFill>
                <a:ea typeface="黑体" panose="02010609060101010101" pitchFamily="49" charset="-122"/>
              </a:rPr>
              <a:t>和</a:t>
            </a:r>
          </a:p>
          <a:p>
            <a:pPr algn="ctr" eaLnBrk="0" hangingPunct="0"/>
            <a:r>
              <a:rPr lang="zh-CN" altLang="en-US" sz="2400" b="1">
                <a:solidFill>
                  <a:srgbClr val="000099"/>
                </a:solidFill>
                <a:ea typeface="黑体" panose="02010609060101010101" pitchFamily="49" charset="-122"/>
              </a:rPr>
              <a:t>存储器</a:t>
            </a:r>
          </a:p>
        </p:txBody>
      </p:sp>
      <p:sp>
        <p:nvSpPr>
          <p:cNvPr id="514056" name="Line 25"/>
          <p:cNvSpPr>
            <a:spLocks noChangeShapeType="1"/>
          </p:cNvSpPr>
          <p:nvPr/>
        </p:nvSpPr>
        <p:spPr bwMode="auto">
          <a:xfrm flipV="1">
            <a:off x="2492375" y="3921125"/>
            <a:ext cx="439738" cy="909638"/>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4057" name="Text Box 26"/>
          <p:cNvSpPr txBox="1">
            <a:spLocks noChangeArrowheads="1"/>
          </p:cNvSpPr>
          <p:nvPr/>
        </p:nvSpPr>
        <p:spPr bwMode="auto">
          <a:xfrm>
            <a:off x="1282700" y="4792663"/>
            <a:ext cx="23383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生成发送的数据</a:t>
            </a:r>
          </a:p>
          <a:p>
            <a:pPr eaLnBrk="0" hangingPunct="0"/>
            <a:r>
              <a:rPr lang="zh-CN" altLang="en-US" sz="2400" b="1">
                <a:solidFill>
                  <a:srgbClr val="000099"/>
                </a:solidFill>
                <a:ea typeface="黑体" panose="02010609060101010101" pitchFamily="49" charset="-122"/>
              </a:rPr>
              <a:t>处理收到的数据</a:t>
            </a:r>
          </a:p>
        </p:txBody>
      </p:sp>
      <p:sp>
        <p:nvSpPr>
          <p:cNvPr id="514058" name="Line 27"/>
          <p:cNvSpPr>
            <a:spLocks noChangeShapeType="1"/>
          </p:cNvSpPr>
          <p:nvPr/>
        </p:nvSpPr>
        <p:spPr bwMode="auto">
          <a:xfrm flipV="1">
            <a:off x="5461000" y="3921125"/>
            <a:ext cx="438150" cy="909638"/>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4059" name="Text Box 28"/>
          <p:cNvSpPr txBox="1">
            <a:spLocks noChangeArrowheads="1"/>
          </p:cNvSpPr>
          <p:nvPr/>
        </p:nvSpPr>
        <p:spPr bwMode="auto">
          <a:xfrm>
            <a:off x="4197350" y="4792663"/>
            <a:ext cx="26463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把帧发送到局域网</a:t>
            </a:r>
          </a:p>
          <a:p>
            <a:pPr algn="ctr" eaLnBrk="0" hangingPunct="0"/>
            <a:r>
              <a:rPr lang="zh-CN" altLang="en-US" sz="2400" b="1">
                <a:solidFill>
                  <a:srgbClr val="000099"/>
                </a:solidFill>
                <a:ea typeface="黑体" panose="02010609060101010101" pitchFamily="49" charset="-122"/>
              </a:rPr>
              <a:t>从局域网接收帧</a:t>
            </a:r>
          </a:p>
        </p:txBody>
      </p:sp>
      <p:sp>
        <p:nvSpPr>
          <p:cNvPr id="514060" name="Text Box 29"/>
          <p:cNvSpPr txBox="1">
            <a:spLocks noChangeArrowheads="1"/>
          </p:cNvSpPr>
          <p:nvPr/>
        </p:nvSpPr>
        <p:spPr bwMode="auto">
          <a:xfrm>
            <a:off x="3808413" y="206057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计算机</a:t>
            </a:r>
          </a:p>
        </p:txBody>
      </p:sp>
      <p:sp>
        <p:nvSpPr>
          <p:cNvPr id="514061" name="AutoShape 31"/>
          <p:cNvSpPr>
            <a:spLocks noChangeArrowheads="1"/>
          </p:cNvSpPr>
          <p:nvPr/>
        </p:nvSpPr>
        <p:spPr bwMode="auto">
          <a:xfrm>
            <a:off x="3702050" y="3006725"/>
            <a:ext cx="1317625" cy="684213"/>
          </a:xfrm>
          <a:prstGeom prst="leftRightArrow">
            <a:avLst>
              <a:gd name="adj1" fmla="val 50000"/>
              <a:gd name="adj2" fmla="val 35546"/>
            </a:avLst>
          </a:prstGeom>
          <a:solidFill>
            <a:srgbClr val="66FF33"/>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4062" name="Text Box 32"/>
          <p:cNvSpPr txBox="1">
            <a:spLocks noChangeArrowheads="1"/>
          </p:cNvSpPr>
          <p:nvPr/>
        </p:nvSpPr>
        <p:spPr bwMode="auto">
          <a:xfrm>
            <a:off x="4008438" y="3498850"/>
            <a:ext cx="8001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5000"/>
              </a:lnSpc>
            </a:pPr>
            <a:r>
              <a:rPr lang="zh-CN" altLang="en-US" sz="2400" b="1">
                <a:solidFill>
                  <a:srgbClr val="000099"/>
                </a:solidFill>
                <a:ea typeface="黑体" panose="02010609060101010101" pitchFamily="49" charset="-122"/>
              </a:rPr>
              <a:t>并行</a:t>
            </a:r>
          </a:p>
          <a:p>
            <a:pPr eaLnBrk="0" hangingPunct="0">
              <a:lnSpc>
                <a:spcPct val="95000"/>
              </a:lnSpc>
            </a:pPr>
            <a:r>
              <a:rPr lang="zh-CN" altLang="en-US" sz="2400" b="1">
                <a:solidFill>
                  <a:srgbClr val="000099"/>
                </a:solidFill>
                <a:ea typeface="黑体" panose="02010609060101010101" pitchFamily="49" charset="-122"/>
              </a:rPr>
              <a:t>通信</a:t>
            </a:r>
          </a:p>
        </p:txBody>
      </p:sp>
      <p:sp>
        <p:nvSpPr>
          <p:cNvPr id="514063" name="Rectangle 33"/>
          <p:cNvSpPr>
            <a:spLocks noChangeArrowheads="1"/>
          </p:cNvSpPr>
          <p:nvPr/>
        </p:nvSpPr>
        <p:spPr bwMode="auto">
          <a:xfrm>
            <a:off x="2079625" y="3236913"/>
            <a:ext cx="219075" cy="169862"/>
          </a:xfrm>
          <a:prstGeom prst="rect">
            <a:avLst/>
          </a:prstGeom>
          <a:solidFill>
            <a:srgbClr val="CCFF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4064" name="Freeform 34"/>
          <p:cNvSpPr>
            <a:spLocks noChangeArrowheads="1"/>
          </p:cNvSpPr>
          <p:nvPr/>
        </p:nvSpPr>
        <p:spPr bwMode="auto">
          <a:xfrm>
            <a:off x="1576388" y="1979613"/>
            <a:ext cx="1201737" cy="1266825"/>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CCFFFF"/>
              </a:gs>
              <a:gs pos="100000">
                <a:srgbClr val="9AC1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r>
              <a:rPr lang="zh-CN" altLang="en-US" b="1" dirty="0" smtClean="0">
                <a:solidFill>
                  <a:srgbClr val="FF0000"/>
                </a:solidFill>
                <a:ea typeface="黑体" panose="02010609060101010101" pitchFamily="49" charset="-122"/>
              </a:rPr>
              <a:t>软件地址</a:t>
            </a:r>
            <a:endParaRPr lang="zh-CN" altLang="en-US" b="1" dirty="0">
              <a:solidFill>
                <a:srgbClr val="FF0000"/>
              </a:solidFill>
              <a:ea typeface="黑体" panose="02010609060101010101" pitchFamily="49" charset="-122"/>
            </a:endParaRPr>
          </a:p>
        </p:txBody>
      </p:sp>
      <p:sp>
        <p:nvSpPr>
          <p:cNvPr id="514065" name="Rectangle 35"/>
          <p:cNvSpPr>
            <a:spLocks noChangeArrowheads="1"/>
          </p:cNvSpPr>
          <p:nvPr/>
        </p:nvSpPr>
        <p:spPr bwMode="auto">
          <a:xfrm>
            <a:off x="6451600" y="3236913"/>
            <a:ext cx="219075" cy="169862"/>
          </a:xfrm>
          <a:prstGeom prst="rect">
            <a:avLst/>
          </a:prstGeom>
          <a:solidFill>
            <a:srgbClr val="FFC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4066" name="Freeform 36"/>
          <p:cNvSpPr>
            <a:spLocks noChangeArrowheads="1"/>
          </p:cNvSpPr>
          <p:nvPr/>
        </p:nvSpPr>
        <p:spPr bwMode="auto">
          <a:xfrm>
            <a:off x="5857875" y="1973263"/>
            <a:ext cx="1482725" cy="1260475"/>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rotWithShape="1">
            <a:gsLst>
              <a:gs pos="0">
                <a:srgbClr val="FFCCFF"/>
              </a:gs>
              <a:gs pos="100000">
                <a:srgbClr val="C19A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r>
              <a:rPr lang="zh-CN" altLang="en-US" b="1" dirty="0" smtClean="0">
                <a:solidFill>
                  <a:srgbClr val="FF0000"/>
                </a:solidFill>
                <a:ea typeface="黑体" panose="02010609060101010101" pitchFamily="49" charset="-122"/>
              </a:rPr>
              <a:t>网卡</a:t>
            </a:r>
            <a:r>
              <a:rPr lang="en-US" altLang="zh-CN" b="1" dirty="0" smtClean="0">
                <a:solidFill>
                  <a:srgbClr val="FF0000"/>
                </a:solidFill>
                <a:ea typeface="黑体" panose="02010609060101010101" pitchFamily="49" charset="-122"/>
              </a:rPr>
              <a:t>ROM</a:t>
            </a:r>
            <a:r>
              <a:rPr lang="zh-CN" altLang="en-US" b="1" dirty="0" smtClean="0">
                <a:solidFill>
                  <a:srgbClr val="FF0000"/>
                </a:solidFill>
                <a:ea typeface="黑体" panose="02010609060101010101" pitchFamily="49" charset="-122"/>
              </a:rPr>
              <a:t>中</a:t>
            </a:r>
            <a:endParaRPr lang="zh-CN" altLang="en-US" b="1" dirty="0">
              <a:solidFill>
                <a:srgbClr val="FF0000"/>
              </a:solidFill>
              <a:ea typeface="黑体" panose="02010609060101010101" pitchFamily="49" charset="-122"/>
            </a:endParaRPr>
          </a:p>
        </p:txBody>
      </p:sp>
      <p:sp>
        <p:nvSpPr>
          <p:cNvPr id="514067" name="Text Box 19"/>
          <p:cNvSpPr txBox="1">
            <a:spLocks noChangeArrowheads="1"/>
          </p:cNvSpPr>
          <p:nvPr/>
        </p:nvSpPr>
        <p:spPr bwMode="auto">
          <a:xfrm>
            <a:off x="5889625" y="1512888"/>
            <a:ext cx="1414463" cy="460375"/>
          </a:xfrm>
          <a:prstGeom prst="rect">
            <a:avLst/>
          </a:prstGeom>
          <a:solidFill>
            <a:srgbClr val="FFCCFF"/>
          </a:solidFill>
          <a:ln w="9525">
            <a:solidFill>
              <a:schemeClr val="tx1"/>
            </a:solidFill>
            <a:miter lim="800000"/>
            <a:headEnd/>
            <a:tailEnd/>
          </a:ln>
          <a:effectLst>
            <a:outerShdw dist="35921" sx="999" sy="999" algn="ctr" rotWithShape="0">
              <a:schemeClr val="bg2"/>
            </a:outerShdw>
          </a:effectLst>
        </p:spPr>
        <p:txBody>
          <a:bodyPr wrap="none">
            <a:spAutoFit/>
          </a:bodyPr>
          <a:lstStyle/>
          <a:p>
            <a:pPr eaLnBrk="0" hangingPunct="0"/>
            <a:r>
              <a:rPr lang="zh-CN" altLang="en-US" sz="2400" b="1">
                <a:solidFill>
                  <a:srgbClr val="000099"/>
                </a:solidFill>
                <a:ea typeface="黑体" panose="02010609060101010101" pitchFamily="49" charset="-122"/>
              </a:rPr>
              <a:t>硬件地址</a:t>
            </a:r>
          </a:p>
        </p:txBody>
      </p:sp>
      <p:sp>
        <p:nvSpPr>
          <p:cNvPr id="514068" name="Text Box 30"/>
          <p:cNvSpPr txBox="1">
            <a:spLocks noChangeArrowheads="1"/>
          </p:cNvSpPr>
          <p:nvPr/>
        </p:nvSpPr>
        <p:spPr bwMode="auto">
          <a:xfrm>
            <a:off x="1589088" y="1527175"/>
            <a:ext cx="1173162" cy="461963"/>
          </a:xfrm>
          <a:prstGeom prst="rect">
            <a:avLst/>
          </a:prstGeom>
          <a:solidFill>
            <a:srgbClr val="CCFFFF"/>
          </a:solidFill>
          <a:ln w="9525">
            <a:solidFill>
              <a:schemeClr val="tx1"/>
            </a:solidFill>
            <a:miter lim="800000"/>
            <a:headEnd/>
            <a:tailEnd/>
          </a:ln>
          <a:effectLst>
            <a:outerShdw dist="35921" sx="999" sy="999" algn="ctr" rotWithShape="0">
              <a:schemeClr val="bg2"/>
            </a:outerShdw>
          </a:effectLst>
        </p:spPr>
        <p:txBody>
          <a:bodyPr wrap="none">
            <a:spAutoFit/>
          </a:bodyPr>
          <a:lstStyle/>
          <a:p>
            <a:pPr eaLnBrk="0" hangingPunct="0"/>
            <a:r>
              <a:rPr lang="en-US" altLang="zh-CN" sz="2400" b="1">
                <a:solidFill>
                  <a:srgbClr val="000099"/>
                </a:solidFill>
                <a:ea typeface="黑体" panose="02010609060101010101" pitchFamily="49" charset="-122"/>
              </a:rPr>
              <a:t>IP </a:t>
            </a:r>
            <a:r>
              <a:rPr lang="zh-CN" altLang="en-US" sz="2400" b="1">
                <a:solidFill>
                  <a:srgbClr val="000099"/>
                </a:solidFill>
                <a:ea typeface="黑体" panose="02010609060101010101" pitchFamily="49" charset="-122"/>
              </a:rPr>
              <a:t>地址</a:t>
            </a:r>
          </a:p>
        </p:txBody>
      </p:sp>
      <p:sp>
        <p:nvSpPr>
          <p:cNvPr id="51406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BFB17B-98BC-45C8-80FC-4120A570807C}" type="slidenum">
              <a:rPr lang="zh-CN" altLang="en-US" smtClean="0"/>
              <a:pPr eaLnBrk="1" hangingPunct="1"/>
              <a:t>12</a:t>
            </a:fld>
            <a:endParaRPr lang="en-US" altLang="zh-CN" smtClean="0"/>
          </a:p>
        </p:txBody>
      </p:sp>
      <p:sp>
        <p:nvSpPr>
          <p:cNvPr id="51407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7"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3.3.2   CSMA/CD </a:t>
            </a:r>
            <a:r>
              <a:rPr lang="zh-CN" altLang="en-US" smtClean="0">
                <a:ea typeface="黑体" panose="02010609060101010101" pitchFamily="49" charset="-122"/>
              </a:rPr>
              <a:t>协议 </a:t>
            </a:r>
          </a:p>
        </p:txBody>
      </p:sp>
      <p:sp>
        <p:nvSpPr>
          <p:cNvPr id="404482" name="Rectangle 2"/>
          <p:cNvSpPr>
            <a:spLocks noGrp="1" noChangeArrowheads="1"/>
          </p:cNvSpPr>
          <p:nvPr>
            <p:ph idx="1"/>
          </p:nvPr>
        </p:nvSpPr>
        <p:spPr>
          <a:xfrm>
            <a:off x="495300" y="1196975"/>
            <a:ext cx="9066213" cy="4933950"/>
          </a:xfrm>
        </p:spPr>
        <p:txBody>
          <a:bodyPr/>
          <a:lstStyle/>
          <a:p>
            <a:r>
              <a:rPr lang="zh-CN" altLang="en-US" dirty="0" smtClean="0">
                <a:solidFill>
                  <a:srgbClr val="0000CC"/>
                </a:solidFill>
                <a:ea typeface="黑体" panose="02010609060101010101" pitchFamily="49" charset="-122"/>
              </a:rPr>
              <a:t>最初</a:t>
            </a:r>
            <a:r>
              <a:rPr lang="zh-CN" altLang="en-US" dirty="0" smtClean="0">
                <a:ea typeface="黑体" panose="02010609060101010101" pitchFamily="49" charset="-122"/>
              </a:rPr>
              <a:t>的以太网是将许多计算机都连接到一根总线上。当初认为这样的连接方法既简单又可靠，因为总线上没有有源器件。 </a:t>
            </a:r>
          </a:p>
        </p:txBody>
      </p:sp>
      <p:grpSp>
        <p:nvGrpSpPr>
          <p:cNvPr id="516099" name="Group 4"/>
          <p:cNvGrpSpPr>
            <a:grpSpLocks/>
          </p:cNvGrpSpPr>
          <p:nvPr/>
        </p:nvGrpSpPr>
        <p:grpSpPr bwMode="auto">
          <a:xfrm>
            <a:off x="4699000" y="3613150"/>
            <a:ext cx="509588" cy="1406525"/>
            <a:chOff x="1177" y="1994"/>
            <a:chExt cx="258" cy="714"/>
          </a:xfrm>
        </p:grpSpPr>
        <p:sp>
          <p:nvSpPr>
            <p:cNvPr id="516100" name="Line 5"/>
            <p:cNvSpPr>
              <a:spLocks noChangeShapeType="1"/>
            </p:cNvSpPr>
            <p:nvPr/>
          </p:nvSpPr>
          <p:spPr bwMode="auto">
            <a:xfrm rot="16200000" flipV="1">
              <a:off x="1042" y="2261"/>
              <a:ext cx="537"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01"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6102" name="Line 7"/>
          <p:cNvSpPr>
            <a:spLocks noChangeShapeType="1"/>
          </p:cNvSpPr>
          <p:nvPr/>
        </p:nvSpPr>
        <p:spPr bwMode="auto">
          <a:xfrm flipV="1">
            <a:off x="696913" y="3602038"/>
            <a:ext cx="846772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6103" name="Rectangle 8"/>
          <p:cNvSpPr>
            <a:spLocks noChangeArrowheads="1"/>
          </p:cNvSpPr>
          <p:nvPr/>
        </p:nvSpPr>
        <p:spPr bwMode="auto">
          <a:xfrm>
            <a:off x="9037638" y="3535363"/>
            <a:ext cx="127000" cy="125412"/>
          </a:xfrm>
          <a:prstGeom prst="rect">
            <a:avLst/>
          </a:prstGeom>
          <a:solidFill>
            <a:srgbClr val="0000FF"/>
          </a:solidFill>
          <a:ln w="12700">
            <a:solidFill>
              <a:srgbClr val="0000FF"/>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6104" name="Rectangle 9"/>
          <p:cNvSpPr>
            <a:spLocks noChangeArrowheads="1"/>
          </p:cNvSpPr>
          <p:nvPr/>
        </p:nvSpPr>
        <p:spPr bwMode="auto">
          <a:xfrm>
            <a:off x="584200" y="3535363"/>
            <a:ext cx="128588" cy="125412"/>
          </a:xfrm>
          <a:prstGeom prst="rect">
            <a:avLst/>
          </a:prstGeom>
          <a:solidFill>
            <a:srgbClr val="0000FF"/>
          </a:solidFill>
          <a:ln w="12700">
            <a:solidFill>
              <a:srgbClr val="0000FF"/>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6105" name="Line 10"/>
          <p:cNvSpPr>
            <a:spLocks noChangeShapeType="1"/>
          </p:cNvSpPr>
          <p:nvPr/>
        </p:nvSpPr>
        <p:spPr bwMode="auto">
          <a:xfrm>
            <a:off x="8594725" y="3357563"/>
            <a:ext cx="534988" cy="2397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16106" name="Group 11"/>
          <p:cNvGrpSpPr>
            <a:grpSpLocks/>
          </p:cNvGrpSpPr>
          <p:nvPr/>
        </p:nvGrpSpPr>
        <p:grpSpPr bwMode="auto">
          <a:xfrm>
            <a:off x="1506538" y="3613150"/>
            <a:ext cx="511175" cy="1406525"/>
            <a:chOff x="1177" y="1994"/>
            <a:chExt cx="258" cy="714"/>
          </a:xfrm>
        </p:grpSpPr>
        <p:sp>
          <p:nvSpPr>
            <p:cNvPr id="516107" name="Line 12"/>
            <p:cNvSpPr>
              <a:spLocks noChangeShapeType="1"/>
            </p:cNvSpPr>
            <p:nvPr/>
          </p:nvSpPr>
          <p:spPr bwMode="auto">
            <a:xfrm rot="16200000" flipV="1">
              <a:off x="1042" y="2261"/>
              <a:ext cx="537"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08"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6109" name="Freeform 14"/>
          <p:cNvSpPr>
            <a:spLocks noChangeArrowheads="1"/>
          </p:cNvSpPr>
          <p:nvPr/>
        </p:nvSpPr>
        <p:spPr bwMode="auto">
          <a:xfrm>
            <a:off x="3360738" y="3614738"/>
            <a:ext cx="3175" cy="1027112"/>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381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10"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1975" y="4506913"/>
            <a:ext cx="5111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6111" name="Group 16"/>
          <p:cNvGrpSpPr>
            <a:grpSpLocks/>
          </p:cNvGrpSpPr>
          <p:nvPr/>
        </p:nvGrpSpPr>
        <p:grpSpPr bwMode="auto">
          <a:xfrm>
            <a:off x="6294438" y="3613150"/>
            <a:ext cx="511175" cy="1406525"/>
            <a:chOff x="1177" y="1994"/>
            <a:chExt cx="258" cy="714"/>
          </a:xfrm>
        </p:grpSpPr>
        <p:sp>
          <p:nvSpPr>
            <p:cNvPr id="516112" name="Line 17"/>
            <p:cNvSpPr>
              <a:spLocks noChangeShapeType="1"/>
            </p:cNvSpPr>
            <p:nvPr/>
          </p:nvSpPr>
          <p:spPr bwMode="auto">
            <a:xfrm rot="16200000" flipV="1">
              <a:off x="1042" y="2261"/>
              <a:ext cx="537"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13"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6114" name="Freeform 19"/>
          <p:cNvSpPr>
            <a:spLocks noChangeArrowheads="1"/>
          </p:cNvSpPr>
          <p:nvPr/>
        </p:nvSpPr>
        <p:spPr bwMode="auto">
          <a:xfrm>
            <a:off x="8150225" y="3614738"/>
            <a:ext cx="3175" cy="1042987"/>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381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pic>
        <p:nvPicPr>
          <p:cNvPr id="516115"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1463" y="4506913"/>
            <a:ext cx="5111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4501" name="Text Box 21"/>
          <p:cNvSpPr txBox="1">
            <a:spLocks noChangeArrowheads="1"/>
          </p:cNvSpPr>
          <p:nvPr/>
        </p:nvSpPr>
        <p:spPr bwMode="auto">
          <a:xfrm>
            <a:off x="2759075" y="5384800"/>
            <a:ext cx="1216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FF0000"/>
                </a:solidFill>
                <a:ea typeface="黑体" panose="02010609060101010101" pitchFamily="49" charset="-122"/>
              </a:rPr>
              <a:t>B </a:t>
            </a:r>
            <a:r>
              <a:rPr lang="zh-CN" altLang="en-US" sz="2000" b="1">
                <a:solidFill>
                  <a:srgbClr val="FF0000"/>
                </a:solidFill>
                <a:ea typeface="黑体" panose="02010609060101010101" pitchFamily="49" charset="-122"/>
              </a:rPr>
              <a:t>向</a:t>
            </a:r>
            <a:r>
              <a:rPr lang="zh-CN" altLang="en-US" sz="1400" b="1">
                <a:solidFill>
                  <a:srgbClr val="FF0000"/>
                </a:solidFill>
                <a:ea typeface="黑体" panose="02010609060101010101" pitchFamily="49" charset="-122"/>
              </a:rPr>
              <a:t> </a:t>
            </a:r>
            <a:r>
              <a:rPr lang="en-US" altLang="zh-CN" sz="2000" b="1">
                <a:solidFill>
                  <a:srgbClr val="FF0000"/>
                </a:solidFill>
                <a:ea typeface="黑体" panose="02010609060101010101" pitchFamily="49" charset="-122"/>
              </a:rPr>
              <a:t>D</a:t>
            </a:r>
          </a:p>
          <a:p>
            <a:pPr algn="ctr" eaLnBrk="0" hangingPunct="0"/>
            <a:r>
              <a:rPr lang="zh-CN" altLang="en-US" sz="2000" b="1">
                <a:solidFill>
                  <a:srgbClr val="FF0000"/>
                </a:solidFill>
                <a:ea typeface="黑体" panose="02010609060101010101" pitchFamily="49" charset="-122"/>
              </a:rPr>
              <a:t>发送数据</a:t>
            </a:r>
          </a:p>
        </p:txBody>
      </p:sp>
      <p:sp>
        <p:nvSpPr>
          <p:cNvPr id="516117" name="Text Box 22"/>
          <p:cNvSpPr txBox="1">
            <a:spLocks noChangeArrowheads="1"/>
          </p:cNvSpPr>
          <p:nvPr/>
        </p:nvSpPr>
        <p:spPr bwMode="auto">
          <a:xfrm>
            <a:off x="4470400" y="5013325"/>
            <a:ext cx="746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    C</a:t>
            </a:r>
          </a:p>
        </p:txBody>
      </p:sp>
      <p:sp>
        <p:nvSpPr>
          <p:cNvPr id="516118" name="Text Box 23"/>
          <p:cNvSpPr txBox="1">
            <a:spLocks noChangeArrowheads="1"/>
          </p:cNvSpPr>
          <p:nvPr/>
        </p:nvSpPr>
        <p:spPr bwMode="auto">
          <a:xfrm>
            <a:off x="6138863" y="4999038"/>
            <a:ext cx="663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   D</a:t>
            </a:r>
          </a:p>
        </p:txBody>
      </p:sp>
      <p:sp>
        <p:nvSpPr>
          <p:cNvPr id="516119" name="Text Box 24"/>
          <p:cNvSpPr txBox="1">
            <a:spLocks noChangeArrowheads="1"/>
          </p:cNvSpPr>
          <p:nvPr/>
        </p:nvSpPr>
        <p:spPr bwMode="auto">
          <a:xfrm>
            <a:off x="1285875" y="4999038"/>
            <a:ext cx="736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    A</a:t>
            </a:r>
          </a:p>
        </p:txBody>
      </p:sp>
      <p:sp>
        <p:nvSpPr>
          <p:cNvPr id="516120" name="Text Box 25"/>
          <p:cNvSpPr txBox="1">
            <a:spLocks noChangeArrowheads="1"/>
          </p:cNvSpPr>
          <p:nvPr/>
        </p:nvSpPr>
        <p:spPr bwMode="auto">
          <a:xfrm>
            <a:off x="7634288" y="4995863"/>
            <a:ext cx="730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    E</a:t>
            </a:r>
          </a:p>
        </p:txBody>
      </p:sp>
      <p:sp>
        <p:nvSpPr>
          <p:cNvPr id="516121" name="Line 26"/>
          <p:cNvSpPr>
            <a:spLocks noChangeShapeType="1"/>
          </p:cNvSpPr>
          <p:nvPr/>
        </p:nvSpPr>
        <p:spPr bwMode="auto">
          <a:xfrm flipH="1">
            <a:off x="631825" y="3284538"/>
            <a:ext cx="590550" cy="280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16122" name="Text Box 27"/>
          <p:cNvSpPr txBox="1">
            <a:spLocks noChangeArrowheads="1"/>
          </p:cNvSpPr>
          <p:nvPr/>
        </p:nvSpPr>
        <p:spPr bwMode="auto">
          <a:xfrm>
            <a:off x="1139825" y="2997200"/>
            <a:ext cx="4830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匹配电阻（用来吸收总线上传播的信号）</a:t>
            </a:r>
          </a:p>
        </p:txBody>
      </p:sp>
      <p:sp>
        <p:nvSpPr>
          <p:cNvPr id="516123" name="Text Box 28"/>
          <p:cNvSpPr txBox="1">
            <a:spLocks noChangeArrowheads="1"/>
          </p:cNvSpPr>
          <p:nvPr/>
        </p:nvSpPr>
        <p:spPr bwMode="auto">
          <a:xfrm>
            <a:off x="7412038" y="2997200"/>
            <a:ext cx="1217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匹配电阻</a:t>
            </a:r>
          </a:p>
        </p:txBody>
      </p:sp>
      <p:sp>
        <p:nvSpPr>
          <p:cNvPr id="404509" name="Freeform 29"/>
          <p:cNvSpPr>
            <a:spLocks noChangeArrowheads="1"/>
          </p:cNvSpPr>
          <p:nvPr/>
        </p:nvSpPr>
        <p:spPr bwMode="auto">
          <a:xfrm>
            <a:off x="3267075" y="3702050"/>
            <a:ext cx="1714500" cy="915988"/>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0" name="Freeform 30"/>
          <p:cNvSpPr>
            <a:spLocks noChangeArrowheads="1"/>
          </p:cNvSpPr>
          <p:nvPr/>
        </p:nvSpPr>
        <p:spPr bwMode="auto">
          <a:xfrm>
            <a:off x="3314700" y="3714750"/>
            <a:ext cx="3338513" cy="998538"/>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1" name="Freeform 31"/>
          <p:cNvSpPr>
            <a:spLocks noChangeArrowheads="1"/>
          </p:cNvSpPr>
          <p:nvPr/>
        </p:nvSpPr>
        <p:spPr bwMode="auto">
          <a:xfrm>
            <a:off x="3314700" y="3717925"/>
            <a:ext cx="4800600" cy="962025"/>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2" name="Freeform 32"/>
          <p:cNvSpPr>
            <a:spLocks noChangeArrowheads="1"/>
          </p:cNvSpPr>
          <p:nvPr/>
        </p:nvSpPr>
        <p:spPr bwMode="auto">
          <a:xfrm>
            <a:off x="3314700" y="3681413"/>
            <a:ext cx="5586413" cy="84613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3" name="Freeform 33"/>
          <p:cNvSpPr>
            <a:spLocks noChangeArrowheads="1"/>
          </p:cNvSpPr>
          <p:nvPr/>
        </p:nvSpPr>
        <p:spPr bwMode="auto">
          <a:xfrm>
            <a:off x="584200" y="3681413"/>
            <a:ext cx="2827338" cy="84613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04514" name="Freeform 34"/>
          <p:cNvSpPr>
            <a:spLocks noChangeArrowheads="1"/>
          </p:cNvSpPr>
          <p:nvPr/>
        </p:nvSpPr>
        <p:spPr bwMode="auto">
          <a:xfrm flipH="1">
            <a:off x="1598613" y="3681413"/>
            <a:ext cx="1716087" cy="91598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a:solidFill>
              <a:srgbClr val="000099"/>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04515" name="Group 35"/>
          <p:cNvGrpSpPr>
            <a:grpSpLocks/>
          </p:cNvGrpSpPr>
          <p:nvPr/>
        </p:nvGrpSpPr>
        <p:grpSpPr bwMode="auto">
          <a:xfrm>
            <a:off x="7866063" y="4622800"/>
            <a:ext cx="269875" cy="268288"/>
            <a:chOff x="1474" y="3430"/>
            <a:chExt cx="136" cy="136"/>
          </a:xfrm>
        </p:grpSpPr>
        <p:sp>
          <p:nvSpPr>
            <p:cNvPr id="516131" name="Line 36"/>
            <p:cNvSpPr>
              <a:spLocks noChangeShapeType="1"/>
            </p:cNvSpPr>
            <p:nvPr/>
          </p:nvSpPr>
          <p:spPr bwMode="auto">
            <a:xfrm>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6132" name="Line 37"/>
            <p:cNvSpPr>
              <a:spLocks noChangeShapeType="1"/>
            </p:cNvSpPr>
            <p:nvPr/>
          </p:nvSpPr>
          <p:spPr bwMode="auto">
            <a:xfrm flipH="1">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04518" name="AutoShape 38"/>
          <p:cNvSpPr>
            <a:spLocks noChangeArrowheads="1"/>
          </p:cNvSpPr>
          <p:nvPr/>
        </p:nvSpPr>
        <p:spPr bwMode="auto">
          <a:xfrm>
            <a:off x="7669213" y="5392738"/>
            <a:ext cx="950912" cy="417512"/>
          </a:xfrm>
          <a:prstGeom prst="roundRect">
            <a:avLst>
              <a:gd name="adj" fmla="val 16667"/>
            </a:avLst>
          </a:prstGeom>
          <a:solidFill>
            <a:srgbClr val="FFFF00"/>
          </a:solidFill>
          <a:ln w="9525">
            <a:solidFill>
              <a:schemeClr val="tx1"/>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不接受</a:t>
            </a:r>
          </a:p>
        </p:txBody>
      </p:sp>
      <p:grpSp>
        <p:nvGrpSpPr>
          <p:cNvPr id="404519" name="Group 39"/>
          <p:cNvGrpSpPr>
            <a:grpSpLocks/>
          </p:cNvGrpSpPr>
          <p:nvPr/>
        </p:nvGrpSpPr>
        <p:grpSpPr bwMode="auto">
          <a:xfrm>
            <a:off x="4683125" y="4622800"/>
            <a:ext cx="269875" cy="268288"/>
            <a:chOff x="1474" y="3430"/>
            <a:chExt cx="136" cy="136"/>
          </a:xfrm>
        </p:grpSpPr>
        <p:sp>
          <p:nvSpPr>
            <p:cNvPr id="516135" name="Line 40"/>
            <p:cNvSpPr>
              <a:spLocks noChangeShapeType="1"/>
            </p:cNvSpPr>
            <p:nvPr/>
          </p:nvSpPr>
          <p:spPr bwMode="auto">
            <a:xfrm>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6136" name="Line 41"/>
            <p:cNvSpPr>
              <a:spLocks noChangeShapeType="1"/>
            </p:cNvSpPr>
            <p:nvPr/>
          </p:nvSpPr>
          <p:spPr bwMode="auto">
            <a:xfrm flipH="1">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04522" name="AutoShape 42"/>
          <p:cNvSpPr>
            <a:spLocks noChangeArrowheads="1"/>
          </p:cNvSpPr>
          <p:nvPr/>
        </p:nvSpPr>
        <p:spPr bwMode="auto">
          <a:xfrm>
            <a:off x="4484688" y="5392738"/>
            <a:ext cx="950912" cy="417512"/>
          </a:xfrm>
          <a:prstGeom prst="roundRect">
            <a:avLst>
              <a:gd name="adj" fmla="val 16667"/>
            </a:avLst>
          </a:prstGeom>
          <a:solidFill>
            <a:srgbClr val="FFFF00"/>
          </a:solidFill>
          <a:ln w="9525">
            <a:solidFill>
              <a:schemeClr val="tx1"/>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不接受</a:t>
            </a:r>
          </a:p>
        </p:txBody>
      </p:sp>
      <p:grpSp>
        <p:nvGrpSpPr>
          <p:cNvPr id="404523" name="Group 43"/>
          <p:cNvGrpSpPr>
            <a:grpSpLocks/>
          </p:cNvGrpSpPr>
          <p:nvPr/>
        </p:nvGrpSpPr>
        <p:grpSpPr bwMode="auto">
          <a:xfrm>
            <a:off x="1484313" y="4622800"/>
            <a:ext cx="269875" cy="268288"/>
            <a:chOff x="1474" y="3430"/>
            <a:chExt cx="136" cy="136"/>
          </a:xfrm>
        </p:grpSpPr>
        <p:sp>
          <p:nvSpPr>
            <p:cNvPr id="516139" name="Line 44"/>
            <p:cNvSpPr>
              <a:spLocks noChangeShapeType="1"/>
            </p:cNvSpPr>
            <p:nvPr/>
          </p:nvSpPr>
          <p:spPr bwMode="auto">
            <a:xfrm>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16140" name="Line 45"/>
            <p:cNvSpPr>
              <a:spLocks noChangeShapeType="1"/>
            </p:cNvSpPr>
            <p:nvPr/>
          </p:nvSpPr>
          <p:spPr bwMode="auto">
            <a:xfrm flipH="1">
              <a:off x="1474" y="3430"/>
              <a:ext cx="136" cy="136"/>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04526" name="AutoShape 46"/>
          <p:cNvSpPr>
            <a:spLocks noChangeArrowheads="1"/>
          </p:cNvSpPr>
          <p:nvPr/>
        </p:nvSpPr>
        <p:spPr bwMode="auto">
          <a:xfrm>
            <a:off x="1285875" y="5392738"/>
            <a:ext cx="950913" cy="417512"/>
          </a:xfrm>
          <a:prstGeom prst="roundRect">
            <a:avLst>
              <a:gd name="adj" fmla="val 16667"/>
            </a:avLst>
          </a:prstGeom>
          <a:solidFill>
            <a:srgbClr val="FFFF00"/>
          </a:solidFill>
          <a:ln w="9525">
            <a:solidFill>
              <a:schemeClr val="tx1"/>
            </a:solidFill>
            <a:round/>
            <a:headEnd/>
            <a:tailEnd/>
          </a:ln>
        </p:spPr>
        <p:txBody>
          <a:bodyPr wrap="none" anchor="ctr"/>
          <a:lstStyle/>
          <a:p>
            <a:pPr algn="ctr" eaLnBrk="0" hangingPunct="0"/>
            <a:r>
              <a:rPr lang="zh-CN" altLang="en-US" sz="2000" b="1">
                <a:solidFill>
                  <a:srgbClr val="000099"/>
                </a:solidFill>
                <a:ea typeface="黑体" panose="02010609060101010101" pitchFamily="49" charset="-122"/>
              </a:rPr>
              <a:t>不接受</a:t>
            </a:r>
          </a:p>
        </p:txBody>
      </p:sp>
      <p:sp>
        <p:nvSpPr>
          <p:cNvPr id="404527" name="Text Box 47"/>
          <p:cNvSpPr txBox="1">
            <a:spLocks noChangeArrowheads="1"/>
          </p:cNvSpPr>
          <p:nvPr/>
        </p:nvSpPr>
        <p:spPr bwMode="auto">
          <a:xfrm>
            <a:off x="6202363" y="5410200"/>
            <a:ext cx="700087" cy="400050"/>
          </a:xfrm>
          <a:prstGeom prst="rect">
            <a:avLst/>
          </a:prstGeom>
          <a:solidFill>
            <a:srgbClr val="FF99FF"/>
          </a:solidFill>
          <a:ln w="9525">
            <a:solidFill>
              <a:schemeClr val="tx2"/>
            </a:solidFill>
            <a:miter lim="800000"/>
            <a:headEnd/>
            <a:tailEnd/>
          </a:ln>
        </p:spPr>
        <p:txBody>
          <a:bodyPr wrap="none">
            <a:spAutoFit/>
          </a:bodyPr>
          <a:lstStyle/>
          <a:p>
            <a:pPr eaLnBrk="0" hangingPunct="0"/>
            <a:r>
              <a:rPr lang="zh-CN" altLang="en-US" sz="2000" b="1">
                <a:solidFill>
                  <a:srgbClr val="000099"/>
                </a:solidFill>
                <a:ea typeface="黑体" panose="02010609060101010101" pitchFamily="49" charset="-122"/>
              </a:rPr>
              <a:t>接受</a:t>
            </a:r>
          </a:p>
        </p:txBody>
      </p:sp>
      <p:sp>
        <p:nvSpPr>
          <p:cNvPr id="516143" name="Text Box 48"/>
          <p:cNvSpPr txBox="1">
            <a:spLocks noChangeArrowheads="1"/>
          </p:cNvSpPr>
          <p:nvPr/>
        </p:nvSpPr>
        <p:spPr bwMode="auto">
          <a:xfrm>
            <a:off x="3165475" y="4999038"/>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B</a:t>
            </a:r>
          </a:p>
        </p:txBody>
      </p:sp>
      <p:sp>
        <p:nvSpPr>
          <p:cNvPr id="404529" name="Text Box 49"/>
          <p:cNvSpPr txBox="1">
            <a:spLocks noChangeArrowheads="1"/>
          </p:cNvSpPr>
          <p:nvPr/>
        </p:nvSpPr>
        <p:spPr bwMode="auto">
          <a:xfrm>
            <a:off x="4146550" y="3970338"/>
            <a:ext cx="1731963" cy="708025"/>
          </a:xfrm>
          <a:prstGeom prst="rect">
            <a:avLst/>
          </a:prstGeom>
          <a:solidFill>
            <a:srgbClr val="FFFF00"/>
          </a:solidFill>
          <a:ln w="9525">
            <a:solidFill>
              <a:srgbClr val="333399"/>
            </a:solidFill>
            <a:miter lim="800000"/>
            <a:headEnd/>
            <a:tailEnd/>
          </a:ln>
        </p:spPr>
        <p:txBody>
          <a:bodyPr wrap="none">
            <a:spAutoFit/>
          </a:bodyPr>
          <a:lstStyle/>
          <a:p>
            <a:pPr algn="ctr" eaLnBrk="0" hangingPunct="0"/>
            <a:r>
              <a:rPr lang="zh-CN" altLang="en-US" sz="2000" b="1">
                <a:solidFill>
                  <a:srgbClr val="000099"/>
                </a:solidFill>
                <a:ea typeface="黑体" panose="02010609060101010101" pitchFamily="49" charset="-122"/>
              </a:rPr>
              <a:t>只有 </a:t>
            </a:r>
            <a:r>
              <a:rPr lang="en-US" altLang="zh-CN" sz="2000" b="1">
                <a:solidFill>
                  <a:srgbClr val="000099"/>
                </a:solidFill>
                <a:ea typeface="黑体" panose="02010609060101010101" pitchFamily="49" charset="-122"/>
              </a:rPr>
              <a:t>D </a:t>
            </a:r>
            <a:r>
              <a:rPr lang="zh-CN" altLang="en-US" sz="2000" b="1">
                <a:solidFill>
                  <a:srgbClr val="000099"/>
                </a:solidFill>
                <a:ea typeface="黑体" panose="02010609060101010101" pitchFamily="49" charset="-122"/>
              </a:rPr>
              <a:t>接受</a:t>
            </a:r>
          </a:p>
          <a:p>
            <a:pPr algn="ctr" eaLnBrk="0" hangingPunct="0"/>
            <a:r>
              <a:rPr lang="en-US" altLang="zh-CN" sz="2000" b="1">
                <a:solidFill>
                  <a:srgbClr val="000099"/>
                </a:solidFill>
                <a:ea typeface="黑体" panose="02010609060101010101" pitchFamily="49" charset="-122"/>
              </a:rPr>
              <a:t>B </a:t>
            </a:r>
            <a:r>
              <a:rPr lang="zh-CN" altLang="en-US" sz="2000" b="1">
                <a:solidFill>
                  <a:srgbClr val="000099"/>
                </a:solidFill>
                <a:ea typeface="黑体" panose="02010609060101010101" pitchFamily="49" charset="-122"/>
              </a:rPr>
              <a:t>发送的数据</a:t>
            </a:r>
          </a:p>
        </p:txBody>
      </p:sp>
      <p:sp>
        <p:nvSpPr>
          <p:cNvPr id="51614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20DBAA-EDF3-4F34-BC2E-5E35E548A8C6}" type="slidenum">
              <a:rPr lang="zh-CN" altLang="en-US" smtClean="0"/>
              <a:pPr eaLnBrk="1" hangingPunct="1"/>
              <a:t>13</a:t>
            </a:fld>
            <a:endParaRPr lang="en-US" altLang="zh-CN" smtClean="0"/>
          </a:p>
        </p:txBody>
      </p:sp>
      <p:sp>
        <p:nvSpPr>
          <p:cNvPr id="51614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44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4501"/>
                                        </p:tgtEl>
                                        <p:attrNameLst>
                                          <p:attrName>style.visibility</p:attrName>
                                        </p:attrNameLst>
                                      </p:cBhvr>
                                      <p:to>
                                        <p:strVal val="visible"/>
                                      </p:to>
                                    </p:set>
                                  </p:childTnLst>
                                </p:cTn>
                              </p:par>
                            </p:childTnLst>
                          </p:cTn>
                        </p:par>
                        <p:par>
                          <p:cTn id="11" fill="hold" nodeType="afterGroup">
                            <p:stCondLst>
                              <p:cond delay="1"/>
                            </p:stCondLst>
                            <p:childTnLst>
                              <p:par>
                                <p:cTn id="12" presetID="35" presetClass="emph" presetSubtype="0" repeatCount="4000" fill="hold" grpId="1" nodeType="afterEffect">
                                  <p:stCondLst>
                                    <p:cond delay="0"/>
                                  </p:stCondLst>
                                  <p:childTnLst>
                                    <p:anim calcmode="discrete" valueType="str">
                                      <p:cBhvr>
                                        <p:cTn id="13" dur="500" fill="hold"/>
                                        <p:tgtEl>
                                          <p:spTgt spid="40450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2001"/>
                            </p:stCondLst>
                            <p:childTnLst>
                              <p:par>
                                <p:cTn id="15" presetID="22" presetClass="entr" presetSubtype="2" fill="hold" grpId="0" nodeType="afterEffect">
                                  <p:stCondLst>
                                    <p:cond delay="0"/>
                                  </p:stCondLst>
                                  <p:childTnLst>
                                    <p:set>
                                      <p:cBhvr>
                                        <p:cTn id="16" dur="1" fill="hold">
                                          <p:stCondLst>
                                            <p:cond delay="0"/>
                                          </p:stCondLst>
                                        </p:cTn>
                                        <p:tgtEl>
                                          <p:spTgt spid="404513"/>
                                        </p:tgtEl>
                                        <p:attrNameLst>
                                          <p:attrName>style.visibility</p:attrName>
                                        </p:attrNameLst>
                                      </p:cBhvr>
                                      <p:to>
                                        <p:strVal val="visible"/>
                                      </p:to>
                                    </p:set>
                                    <p:animEffect transition="in" filter="wipe(right)">
                                      <p:cBhvr>
                                        <p:cTn id="17" dur="2000"/>
                                        <p:tgtEl>
                                          <p:spTgt spid="404513"/>
                                        </p:tgtEl>
                                      </p:cBhvr>
                                    </p:animEffect>
                                  </p:childTnLst>
                                </p:cTn>
                              </p:par>
                              <p:par>
                                <p:cTn id="18" presetID="22" presetClass="entr" presetSubtype="2" fill="hold" grpId="0" nodeType="withEffect">
                                  <p:stCondLst>
                                    <p:cond delay="0"/>
                                  </p:stCondLst>
                                  <p:childTnLst>
                                    <p:set>
                                      <p:cBhvr>
                                        <p:cTn id="19" dur="1" fill="hold">
                                          <p:stCondLst>
                                            <p:cond delay="0"/>
                                          </p:stCondLst>
                                        </p:cTn>
                                        <p:tgtEl>
                                          <p:spTgt spid="404514"/>
                                        </p:tgtEl>
                                        <p:attrNameLst>
                                          <p:attrName>style.visibility</p:attrName>
                                        </p:attrNameLst>
                                      </p:cBhvr>
                                      <p:to>
                                        <p:strVal val="visible"/>
                                      </p:to>
                                    </p:set>
                                    <p:animEffect transition="in" filter="wipe(right)">
                                      <p:cBhvr>
                                        <p:cTn id="20" dur="2000"/>
                                        <p:tgtEl>
                                          <p:spTgt spid="404514"/>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4512"/>
                                        </p:tgtEl>
                                        <p:attrNameLst>
                                          <p:attrName>style.visibility</p:attrName>
                                        </p:attrNameLst>
                                      </p:cBhvr>
                                      <p:to>
                                        <p:strVal val="visible"/>
                                      </p:to>
                                    </p:set>
                                    <p:animEffect transition="in" filter="wipe(left)">
                                      <p:cBhvr>
                                        <p:cTn id="23" dur="2000"/>
                                        <p:tgtEl>
                                          <p:spTgt spid="40451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04511"/>
                                        </p:tgtEl>
                                        <p:attrNameLst>
                                          <p:attrName>style.visibility</p:attrName>
                                        </p:attrNameLst>
                                      </p:cBhvr>
                                      <p:to>
                                        <p:strVal val="visible"/>
                                      </p:to>
                                    </p:set>
                                    <p:animEffect transition="in" filter="wipe(left)">
                                      <p:cBhvr>
                                        <p:cTn id="26" dur="2000"/>
                                        <p:tgtEl>
                                          <p:spTgt spid="40451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04510"/>
                                        </p:tgtEl>
                                        <p:attrNameLst>
                                          <p:attrName>style.visibility</p:attrName>
                                        </p:attrNameLst>
                                      </p:cBhvr>
                                      <p:to>
                                        <p:strVal val="visible"/>
                                      </p:to>
                                    </p:set>
                                    <p:animEffect transition="in" filter="wipe(left)">
                                      <p:cBhvr>
                                        <p:cTn id="29" dur="2000"/>
                                        <p:tgtEl>
                                          <p:spTgt spid="404510"/>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04509"/>
                                        </p:tgtEl>
                                        <p:attrNameLst>
                                          <p:attrName>style.visibility</p:attrName>
                                        </p:attrNameLst>
                                      </p:cBhvr>
                                      <p:to>
                                        <p:strVal val="visible"/>
                                      </p:to>
                                    </p:set>
                                    <p:animEffect transition="in" filter="wipe(left)">
                                      <p:cBhvr>
                                        <p:cTn id="32" dur="2000"/>
                                        <p:tgtEl>
                                          <p:spTgt spid="404509"/>
                                        </p:tgtEl>
                                      </p:cBhvr>
                                    </p:animEffect>
                                  </p:childTnLst>
                                </p:cTn>
                              </p:par>
                            </p:childTnLst>
                          </p:cTn>
                        </p:par>
                        <p:par>
                          <p:cTn id="33" fill="hold" nodeType="afterGroup">
                            <p:stCondLst>
                              <p:cond delay="4001"/>
                            </p:stCondLst>
                            <p:childTnLst>
                              <p:par>
                                <p:cTn id="34" presetID="1" presetClass="entr" presetSubtype="0" fill="hold" grpId="0" nodeType="afterEffect">
                                  <p:stCondLst>
                                    <p:cond delay="0"/>
                                  </p:stCondLst>
                                  <p:childTnLst>
                                    <p:set>
                                      <p:cBhvr>
                                        <p:cTn id="35" dur="1" fill="hold">
                                          <p:stCondLst>
                                            <p:cond delay="0"/>
                                          </p:stCondLst>
                                        </p:cTn>
                                        <p:tgtEl>
                                          <p:spTgt spid="4045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045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045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0451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0451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0451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04523"/>
                                        </p:tgtEl>
                                        <p:attrNameLst>
                                          <p:attrName>style.visibility</p:attrName>
                                        </p:attrNameLst>
                                      </p:cBhvr>
                                      <p:to>
                                        <p:strVal val="visible"/>
                                      </p:to>
                                    </p:set>
                                  </p:childTnLst>
                                </p:cTn>
                              </p:par>
                            </p:childTnLst>
                          </p:cTn>
                        </p:par>
                        <p:par>
                          <p:cTn id="48" fill="hold" nodeType="afterGroup">
                            <p:stCondLst>
                              <p:cond delay="4002"/>
                            </p:stCondLst>
                            <p:childTnLst>
                              <p:par>
                                <p:cTn id="49" presetID="35" presetClass="emph" presetSubtype="0" repeatCount="5000" fill="hold" grpId="1" nodeType="afterEffect">
                                  <p:stCondLst>
                                    <p:cond delay="0"/>
                                  </p:stCondLst>
                                  <p:childTnLst>
                                    <p:anim calcmode="discrete" valueType="str">
                                      <p:cBhvr>
                                        <p:cTn id="50" dur="500" fill="hold"/>
                                        <p:tgtEl>
                                          <p:spTgt spid="404526"/>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404522"/>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grpId="1" nodeType="withEffect">
                                  <p:stCondLst>
                                    <p:cond delay="0"/>
                                  </p:stCondLst>
                                  <p:childTnLst>
                                    <p:anim calcmode="discrete" valueType="str">
                                      <p:cBhvr>
                                        <p:cTn id="54" dur="500" fill="hold"/>
                                        <p:tgtEl>
                                          <p:spTgt spid="404527"/>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grpId="1" nodeType="withEffect">
                                  <p:stCondLst>
                                    <p:cond delay="0"/>
                                  </p:stCondLst>
                                  <p:childTnLst>
                                    <p:anim calcmode="discrete" valueType="str">
                                      <p:cBhvr>
                                        <p:cTn id="56" dur="500" fill="hold"/>
                                        <p:tgtEl>
                                          <p:spTgt spid="404518"/>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404515"/>
                                        </p:tgtEl>
                                        <p:attrNameLst>
                                          <p:attrName>style.visibility</p:attrName>
                                        </p:attrNameLst>
                                      </p:cBhvr>
                                      <p:tavLst>
                                        <p:tav tm="0">
                                          <p:val>
                                            <p:strVal val="hidden"/>
                                          </p:val>
                                        </p:tav>
                                        <p:tav tm="50000">
                                          <p:val>
                                            <p:strVal val="visible"/>
                                          </p:val>
                                        </p:tav>
                                      </p:tavLst>
                                    </p:anim>
                                  </p:childTnLst>
                                </p:cTn>
                              </p:par>
                              <p:par>
                                <p:cTn id="59" presetID="35" presetClass="emph" presetSubtype="0" repeatCount="5000" fill="hold" nodeType="withEffect">
                                  <p:stCondLst>
                                    <p:cond delay="0"/>
                                  </p:stCondLst>
                                  <p:childTnLst>
                                    <p:anim calcmode="discrete" valueType="str">
                                      <p:cBhvr>
                                        <p:cTn id="60" dur="500" fill="hold"/>
                                        <p:tgtEl>
                                          <p:spTgt spid="404519"/>
                                        </p:tgtEl>
                                        <p:attrNameLst>
                                          <p:attrName>style.visibility</p:attrName>
                                        </p:attrNameLst>
                                      </p:cBhvr>
                                      <p:tavLst>
                                        <p:tav tm="0">
                                          <p:val>
                                            <p:strVal val="hidden"/>
                                          </p:val>
                                        </p:tav>
                                        <p:tav tm="50000">
                                          <p:val>
                                            <p:strVal val="visible"/>
                                          </p:val>
                                        </p:tav>
                                      </p:tavLst>
                                    </p:anim>
                                  </p:childTnLst>
                                </p:cTn>
                              </p:par>
                              <p:par>
                                <p:cTn id="61" presetID="35" presetClass="emph" presetSubtype="0" repeatCount="5000" fill="hold" nodeType="withEffect">
                                  <p:stCondLst>
                                    <p:cond delay="0"/>
                                  </p:stCondLst>
                                  <p:childTnLst>
                                    <p:anim calcmode="discrete" valueType="str">
                                      <p:cBhvr>
                                        <p:cTn id="62" dur="500" fill="hold"/>
                                        <p:tgtEl>
                                          <p:spTgt spid="404523"/>
                                        </p:tgtEl>
                                        <p:attrNameLst>
                                          <p:attrName>style.visibility</p:attrName>
                                        </p:attrNameLst>
                                      </p:cBhvr>
                                      <p:tavLst>
                                        <p:tav tm="0">
                                          <p:val>
                                            <p:strVal val="hidden"/>
                                          </p:val>
                                        </p:tav>
                                        <p:tav tm="50000">
                                          <p:val>
                                            <p:strVal val="visible"/>
                                          </p:val>
                                        </p:tav>
                                      </p:tavLst>
                                    </p:anim>
                                  </p:childTnLst>
                                </p:cTn>
                              </p:par>
                            </p:childTnLst>
                          </p:cTn>
                        </p:par>
                        <p:par>
                          <p:cTn id="63" fill="hold" nodeType="afterGroup">
                            <p:stCondLst>
                              <p:cond delay="6502"/>
                            </p:stCondLst>
                            <p:childTnLst>
                              <p:par>
                                <p:cTn id="64" presetID="10" presetClass="exit" presetSubtype="0" fill="hold" grpId="1" nodeType="afterEffect">
                                  <p:stCondLst>
                                    <p:cond delay="0"/>
                                  </p:stCondLst>
                                  <p:childTnLst>
                                    <p:animEffect transition="out" filter="fade">
                                      <p:cBhvr>
                                        <p:cTn id="65" dur="2000"/>
                                        <p:tgtEl>
                                          <p:spTgt spid="404509"/>
                                        </p:tgtEl>
                                      </p:cBhvr>
                                    </p:animEffect>
                                    <p:set>
                                      <p:cBhvr>
                                        <p:cTn id="66" dur="1" fill="hold">
                                          <p:stCondLst>
                                            <p:cond delay="1999"/>
                                          </p:stCondLst>
                                        </p:cTn>
                                        <p:tgtEl>
                                          <p:spTgt spid="404509"/>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2000"/>
                                        <p:tgtEl>
                                          <p:spTgt spid="404511"/>
                                        </p:tgtEl>
                                      </p:cBhvr>
                                    </p:animEffect>
                                    <p:set>
                                      <p:cBhvr>
                                        <p:cTn id="69" dur="1" fill="hold">
                                          <p:stCondLst>
                                            <p:cond delay="1999"/>
                                          </p:stCondLst>
                                        </p:cTn>
                                        <p:tgtEl>
                                          <p:spTgt spid="404511"/>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2000"/>
                                        <p:tgtEl>
                                          <p:spTgt spid="404512"/>
                                        </p:tgtEl>
                                      </p:cBhvr>
                                    </p:animEffect>
                                    <p:set>
                                      <p:cBhvr>
                                        <p:cTn id="72" dur="1" fill="hold">
                                          <p:stCondLst>
                                            <p:cond delay="1999"/>
                                          </p:stCondLst>
                                        </p:cTn>
                                        <p:tgtEl>
                                          <p:spTgt spid="404512"/>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2000"/>
                                        <p:tgtEl>
                                          <p:spTgt spid="404514"/>
                                        </p:tgtEl>
                                      </p:cBhvr>
                                    </p:animEffect>
                                    <p:set>
                                      <p:cBhvr>
                                        <p:cTn id="75" dur="1" fill="hold">
                                          <p:stCondLst>
                                            <p:cond delay="1999"/>
                                          </p:stCondLst>
                                        </p:cTn>
                                        <p:tgtEl>
                                          <p:spTgt spid="404514"/>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2000"/>
                                        <p:tgtEl>
                                          <p:spTgt spid="404513"/>
                                        </p:tgtEl>
                                      </p:cBhvr>
                                    </p:animEffect>
                                    <p:set>
                                      <p:cBhvr>
                                        <p:cTn id="78" dur="1" fill="hold">
                                          <p:stCondLst>
                                            <p:cond delay="1999"/>
                                          </p:stCondLst>
                                        </p:cTn>
                                        <p:tgtEl>
                                          <p:spTgt spid="404513"/>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000"/>
                                        <p:tgtEl>
                                          <p:spTgt spid="404523"/>
                                        </p:tgtEl>
                                      </p:cBhvr>
                                    </p:animEffect>
                                    <p:set>
                                      <p:cBhvr>
                                        <p:cTn id="81" dur="1" fill="hold">
                                          <p:stCondLst>
                                            <p:cond delay="1999"/>
                                          </p:stCondLst>
                                        </p:cTn>
                                        <p:tgtEl>
                                          <p:spTgt spid="404523"/>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2000"/>
                                        <p:tgtEl>
                                          <p:spTgt spid="404519"/>
                                        </p:tgtEl>
                                      </p:cBhvr>
                                    </p:animEffect>
                                    <p:set>
                                      <p:cBhvr>
                                        <p:cTn id="84" dur="1" fill="hold">
                                          <p:stCondLst>
                                            <p:cond delay="1999"/>
                                          </p:stCondLst>
                                        </p:cTn>
                                        <p:tgtEl>
                                          <p:spTgt spid="40451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2000"/>
                                        <p:tgtEl>
                                          <p:spTgt spid="404515"/>
                                        </p:tgtEl>
                                      </p:cBhvr>
                                    </p:animEffect>
                                    <p:set>
                                      <p:cBhvr>
                                        <p:cTn id="87" dur="1" fill="hold">
                                          <p:stCondLst>
                                            <p:cond delay="1999"/>
                                          </p:stCondLst>
                                        </p:cTn>
                                        <p:tgtEl>
                                          <p:spTgt spid="404515"/>
                                        </p:tgtEl>
                                        <p:attrNameLst>
                                          <p:attrName>style.visibility</p:attrName>
                                        </p:attrNameLst>
                                      </p:cBhvr>
                                      <p:to>
                                        <p:strVal val="hidden"/>
                                      </p:to>
                                    </p:set>
                                  </p:childTnLst>
                                </p:cTn>
                              </p:par>
                            </p:childTnLst>
                          </p:cTn>
                        </p:par>
                        <p:par>
                          <p:cTn id="88" fill="hold" nodeType="afterGroup">
                            <p:stCondLst>
                              <p:cond delay="8502"/>
                            </p:stCondLst>
                            <p:childTnLst>
                              <p:par>
                                <p:cTn id="89" presetID="1" presetClass="entr" presetSubtype="0" fill="hold" grpId="1" nodeType="afterEffect">
                                  <p:stCondLst>
                                    <p:cond delay="0"/>
                                  </p:stCondLst>
                                  <p:childTnLst>
                                    <p:set>
                                      <p:cBhvr>
                                        <p:cTn id="90" dur="1" fill="hold">
                                          <p:stCondLst>
                                            <p:cond delay="0"/>
                                          </p:stCondLst>
                                        </p:cTn>
                                        <p:tgtEl>
                                          <p:spTgt spid="404529"/>
                                        </p:tgtEl>
                                        <p:attrNameLst>
                                          <p:attrName>style.visibility</p:attrName>
                                        </p:attrNameLst>
                                      </p:cBhvr>
                                      <p:to>
                                        <p:strVal val="visible"/>
                                      </p:to>
                                    </p:set>
                                  </p:childTnLst>
                                </p:cTn>
                              </p:par>
                            </p:childTnLst>
                          </p:cTn>
                        </p:par>
                        <p:par>
                          <p:cTn id="91" fill="hold" nodeType="afterGroup">
                            <p:stCondLst>
                              <p:cond delay="8503"/>
                            </p:stCondLst>
                            <p:childTnLst>
                              <p:par>
                                <p:cTn id="92" presetID="35" presetClass="emph" presetSubtype="0" repeatCount="3000" fill="hold" grpId="0" nodeType="afterEffect">
                                  <p:stCondLst>
                                    <p:cond delay="0"/>
                                  </p:stCondLst>
                                  <p:childTnLst>
                                    <p:anim calcmode="discrete" valueType="str">
                                      <p:cBhvr>
                                        <p:cTn id="93" dur="1000" fill="hold"/>
                                        <p:tgtEl>
                                          <p:spTgt spid="4045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build="p"/>
      <p:bldP spid="404501" grpId="0"/>
      <p:bldP spid="404501" grpId="1"/>
      <p:bldP spid="404509" grpId="0" animBg="1"/>
      <p:bldP spid="404509" grpId="1" animBg="1"/>
      <p:bldP spid="404510" grpId="0" animBg="1"/>
      <p:bldP spid="404511" grpId="0" animBg="1"/>
      <p:bldP spid="404511" grpId="1" animBg="1"/>
      <p:bldP spid="404512" grpId="0" animBg="1"/>
      <p:bldP spid="404512" grpId="1" animBg="1"/>
      <p:bldP spid="404513" grpId="0" animBg="1"/>
      <p:bldP spid="404513" grpId="1" animBg="1"/>
      <p:bldP spid="404514" grpId="0" animBg="1"/>
      <p:bldP spid="404514" grpId="1" animBg="1"/>
      <p:bldP spid="404518" grpId="0" animBg="1"/>
      <p:bldP spid="404518" grpId="1" animBg="1"/>
      <p:bldP spid="404522" grpId="0" animBg="1"/>
      <p:bldP spid="404522" grpId="1" animBg="1"/>
      <p:bldP spid="404526" grpId="0" animBg="1"/>
      <p:bldP spid="404526" grpId="1" animBg="1"/>
      <p:bldP spid="404527" grpId="0" animBg="1"/>
      <p:bldP spid="404527" grpId="1" animBg="1"/>
      <p:bldP spid="404529" grpId="0" animBg="1"/>
      <p:bldP spid="404529"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以太网采用广播方式发送 </a:t>
            </a:r>
          </a:p>
        </p:txBody>
      </p:sp>
      <p:sp>
        <p:nvSpPr>
          <p:cNvPr id="40550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总线上的每一个工作的计算机都能检测到 </a:t>
            </a:r>
            <a:r>
              <a:rPr lang="en-US" altLang="zh-CN" smtClean="0">
                <a:ea typeface="黑体" panose="02010609060101010101" pitchFamily="49" charset="-122"/>
              </a:rPr>
              <a:t>B </a:t>
            </a:r>
            <a:r>
              <a:rPr lang="zh-CN" altLang="en-US" smtClean="0">
                <a:ea typeface="黑体" panose="02010609060101010101" pitchFamily="49" charset="-122"/>
              </a:rPr>
              <a:t>发送的数据信号。 </a:t>
            </a:r>
          </a:p>
          <a:p>
            <a:r>
              <a:rPr lang="zh-CN" altLang="en-US" smtClean="0">
                <a:ea typeface="黑体" panose="02010609060101010101" pitchFamily="49" charset="-122"/>
              </a:rPr>
              <a:t>由于只有计算机 </a:t>
            </a:r>
            <a:r>
              <a:rPr lang="en-US" altLang="zh-CN" smtClean="0">
                <a:ea typeface="黑体" panose="02010609060101010101" pitchFamily="49" charset="-122"/>
              </a:rPr>
              <a:t>D </a:t>
            </a:r>
            <a:r>
              <a:rPr lang="zh-CN" altLang="en-US" smtClean="0">
                <a:ea typeface="黑体" panose="02010609060101010101" pitchFamily="49" charset="-122"/>
              </a:rPr>
              <a:t>的地址与数据帧首部写入的地址一致，因此只有 </a:t>
            </a:r>
            <a:r>
              <a:rPr lang="en-US" altLang="zh-CN" smtClean="0">
                <a:ea typeface="黑体" panose="02010609060101010101" pitchFamily="49" charset="-122"/>
              </a:rPr>
              <a:t>D </a:t>
            </a:r>
            <a:r>
              <a:rPr lang="zh-CN" altLang="en-US" smtClean="0">
                <a:ea typeface="黑体" panose="02010609060101010101" pitchFamily="49" charset="-122"/>
              </a:rPr>
              <a:t>才接收这个数据帧。 </a:t>
            </a:r>
          </a:p>
          <a:p>
            <a:r>
              <a:rPr lang="zh-CN" altLang="en-US" smtClean="0">
                <a:ea typeface="黑体" panose="02010609060101010101" pitchFamily="49" charset="-122"/>
              </a:rPr>
              <a:t>其他所有的计算机（</a:t>
            </a:r>
            <a:r>
              <a:rPr lang="en-US" altLang="zh-CN" smtClean="0">
                <a:ea typeface="黑体" panose="02010609060101010101" pitchFamily="49" charset="-122"/>
              </a:rPr>
              <a:t>A, C </a:t>
            </a:r>
            <a:r>
              <a:rPr lang="zh-CN" altLang="en-US" smtClean="0">
                <a:ea typeface="黑体" panose="02010609060101010101" pitchFamily="49" charset="-122"/>
              </a:rPr>
              <a:t>和 </a:t>
            </a:r>
            <a:r>
              <a:rPr lang="en-US" altLang="zh-CN" smtClean="0">
                <a:ea typeface="黑体" panose="02010609060101010101" pitchFamily="49" charset="-122"/>
              </a:rPr>
              <a:t>E</a:t>
            </a:r>
            <a:r>
              <a:rPr lang="zh-CN" altLang="en-US" smtClean="0">
                <a:ea typeface="黑体" panose="02010609060101010101" pitchFamily="49" charset="-122"/>
              </a:rPr>
              <a:t>）都检测到不是发送给它们的数据帧，因此就丢弃这个数据帧而不能够收下来。</a:t>
            </a:r>
          </a:p>
          <a:p>
            <a:r>
              <a:rPr lang="zh-CN" altLang="en-US" smtClean="0">
                <a:ea typeface="黑体" panose="02010609060101010101" pitchFamily="49" charset="-122"/>
              </a:rPr>
              <a:t>在具有广播特性的总线上实现了一对一的通信。  </a:t>
            </a:r>
          </a:p>
        </p:txBody>
      </p:sp>
      <p:sp>
        <p:nvSpPr>
          <p:cNvPr id="5181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BF646F-76EB-45B8-877B-5EEE2E4F68AD}" type="slidenum">
              <a:rPr lang="zh-CN" altLang="en-US" smtClean="0"/>
              <a:pPr eaLnBrk="1" hangingPunct="1"/>
              <a:t>14</a:t>
            </a:fld>
            <a:endParaRPr lang="en-US" altLang="zh-CN" smtClean="0"/>
          </a:p>
        </p:txBody>
      </p:sp>
      <p:sp>
        <p:nvSpPr>
          <p:cNvPr id="5181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5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5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5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以太网采取了两种重要的措施 </a:t>
            </a:r>
          </a:p>
        </p:txBody>
      </p:sp>
      <p:sp>
        <p:nvSpPr>
          <p:cNvPr id="406531" name="Rectangle 3"/>
          <p:cNvSpPr>
            <a:spLocks noGrp="1" noChangeArrowheads="1"/>
          </p:cNvSpPr>
          <p:nvPr>
            <p:ph type="body" idx="1"/>
          </p:nvPr>
        </p:nvSpPr>
        <p:spPr>
          <a:xfrm>
            <a:off x="495300" y="1196975"/>
            <a:ext cx="9066213" cy="4933950"/>
          </a:xfrm>
        </p:spPr>
        <p:txBody>
          <a:bodyPr/>
          <a:lstStyle/>
          <a:p>
            <a:pPr marL="57150" indent="0">
              <a:buFont typeface="Wingdings" panose="05000000000000000000" pitchFamily="2" charset="2"/>
              <a:buNone/>
            </a:pPr>
            <a:r>
              <a:rPr lang="zh-CN" altLang="en-US" noProof="1"/>
              <a:t>为了通信的简便，以太网采取了两种重要的措施：</a:t>
            </a:r>
            <a:endParaRPr lang="en-US" altLang="zh-CN" noProof="1"/>
          </a:p>
          <a:p>
            <a:pPr marL="0" indent="0">
              <a:buFont typeface="Wingdings" panose="05000000000000000000" pitchFamily="2" charset="2"/>
              <a:buNone/>
            </a:pPr>
            <a:r>
              <a:rPr lang="en-US" altLang="zh-CN" noProof="1"/>
              <a:t>(1) </a:t>
            </a:r>
            <a:r>
              <a:rPr lang="zh-CN" altLang="en-US" noProof="1"/>
              <a:t>采用较为灵活的</a:t>
            </a:r>
            <a:r>
              <a:rPr lang="zh-CN" altLang="en-US" noProof="1">
                <a:solidFill>
                  <a:srgbClr val="FF0000"/>
                </a:solidFill>
              </a:rPr>
              <a:t>无连接的工作方式</a:t>
            </a:r>
            <a:endParaRPr lang="en-US" altLang="zh-CN" noProof="1">
              <a:solidFill>
                <a:srgbClr val="FF0000"/>
              </a:solidFill>
            </a:endParaRPr>
          </a:p>
          <a:p>
            <a:pPr lvl="1"/>
            <a:r>
              <a:rPr lang="zh-CN" altLang="en-US" noProof="1">
                <a:cs typeface="+mn-ea"/>
              </a:rPr>
              <a:t>不必先建立连接就可以直接发送数据。</a:t>
            </a:r>
            <a:endParaRPr lang="en-US" altLang="zh-CN" noProof="1">
              <a:cs typeface="+mn-ea"/>
            </a:endParaRPr>
          </a:p>
          <a:p>
            <a:pPr lvl="1"/>
            <a:r>
              <a:rPr lang="zh-CN" altLang="en-US" noProof="1">
                <a:cs typeface="+mn-ea"/>
              </a:rPr>
              <a:t>对发送的数据帧不进行编号，也不要求对方发回确认。</a:t>
            </a:r>
          </a:p>
          <a:p>
            <a:pPr lvl="1"/>
            <a:r>
              <a:rPr lang="zh-CN" altLang="en-US" noProof="1">
                <a:solidFill>
                  <a:srgbClr val="0000FF"/>
                </a:solidFill>
                <a:cs typeface="+mn-ea"/>
              </a:rPr>
              <a:t>这样做的理由是局域网信道的质量很好，因信道质量产生差错的概率是很小的。 </a:t>
            </a:r>
            <a:endParaRPr lang="en-US" altLang="zh-CN" noProof="1">
              <a:solidFill>
                <a:srgbClr val="0000FF"/>
              </a:solidFill>
              <a:cs typeface="+mn-ea"/>
            </a:endParaRPr>
          </a:p>
        </p:txBody>
      </p:sp>
      <p:sp>
        <p:nvSpPr>
          <p:cNvPr id="5201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244473-B94A-4335-BD8F-262ADC3704A8}" type="slidenum">
              <a:rPr lang="zh-CN" altLang="en-US" smtClean="0"/>
              <a:pPr eaLnBrk="1" hangingPunct="1"/>
              <a:t>15</a:t>
            </a:fld>
            <a:endParaRPr lang="en-US" altLang="zh-CN" smtClean="0"/>
          </a:p>
        </p:txBody>
      </p:sp>
      <p:sp>
        <p:nvSpPr>
          <p:cNvPr id="5201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5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以太网提供的服务 </a:t>
            </a:r>
          </a:p>
        </p:txBody>
      </p:sp>
      <p:sp>
        <p:nvSpPr>
          <p:cNvPr id="407555" name="Rectangle 3"/>
          <p:cNvSpPr>
            <a:spLocks noGrp="1" noChangeArrowheads="1"/>
          </p:cNvSpPr>
          <p:nvPr>
            <p:ph type="body" idx="1"/>
          </p:nvPr>
        </p:nvSpPr>
        <p:spPr>
          <a:xfrm>
            <a:off x="415925" y="1125538"/>
            <a:ext cx="9066213" cy="4933950"/>
          </a:xfrm>
        </p:spPr>
        <p:txBody>
          <a:bodyPr/>
          <a:lstStyle/>
          <a:p>
            <a:r>
              <a:rPr lang="zh-CN" altLang="en-US" dirty="0" smtClean="0">
                <a:solidFill>
                  <a:srgbClr val="0000FF"/>
                </a:solidFill>
                <a:ea typeface="黑体" panose="02010609060101010101" pitchFamily="49" charset="-122"/>
              </a:rPr>
              <a:t>以太网提供的服务是不可靠的交付，即尽最大努力的交付。</a:t>
            </a:r>
          </a:p>
          <a:p>
            <a:r>
              <a:rPr lang="zh-CN" altLang="en-US" dirty="0" smtClean="0">
                <a:ea typeface="黑体" panose="02010609060101010101" pitchFamily="49" charset="-122"/>
              </a:rPr>
              <a:t>当目的站收到有差错的数据帧时就丢弃此帧，其他什么也不做。</a:t>
            </a:r>
            <a:r>
              <a:rPr lang="zh-CN" altLang="en-US" dirty="0" smtClean="0">
                <a:solidFill>
                  <a:srgbClr val="FF0000"/>
                </a:solidFill>
                <a:ea typeface="黑体" panose="02010609060101010101" pitchFamily="49" charset="-122"/>
              </a:rPr>
              <a:t>差错的纠正由高层来决定。</a:t>
            </a:r>
          </a:p>
          <a:p>
            <a:r>
              <a:rPr lang="zh-CN" altLang="en-US" dirty="0" smtClean="0">
                <a:ea typeface="黑体" panose="02010609060101010101" pitchFamily="49" charset="-122"/>
              </a:rPr>
              <a:t>如果高层发现丢失了一些数据而进行重传，但以太网并不知道这是一个重传的帧，而是当作一个新的数据帧来发送。  </a:t>
            </a:r>
          </a:p>
        </p:txBody>
      </p:sp>
      <p:sp>
        <p:nvSpPr>
          <p:cNvPr id="5222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5E8A34-A307-49F3-AC68-56C62FA6C78A}" type="slidenum">
              <a:rPr lang="zh-CN" altLang="en-US" smtClean="0"/>
              <a:pPr eaLnBrk="1" hangingPunct="1"/>
              <a:t>16</a:t>
            </a:fld>
            <a:endParaRPr lang="en-US" altLang="zh-CN" smtClean="0"/>
          </a:p>
        </p:txBody>
      </p:sp>
      <p:sp>
        <p:nvSpPr>
          <p:cNvPr id="5222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7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7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8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以太网采取了两种重要的措施</a:t>
            </a:r>
          </a:p>
        </p:txBody>
      </p:sp>
      <p:sp>
        <p:nvSpPr>
          <p:cNvPr id="524290" name="内容占位符 1"/>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en-US" altLang="zh-CN" dirty="0" smtClean="0">
                <a:ea typeface="黑体" panose="02010609060101010101" pitchFamily="49" charset="-122"/>
              </a:rPr>
              <a:t>(2) </a:t>
            </a:r>
            <a:r>
              <a:rPr lang="zh-CN" altLang="en-US" dirty="0" smtClean="0">
                <a:ea typeface="黑体" panose="02010609060101010101" pitchFamily="49" charset="-122"/>
              </a:rPr>
              <a:t>以太网发送的数据都</a:t>
            </a:r>
            <a:r>
              <a:rPr lang="zh-CN" altLang="en-US" dirty="0" smtClean="0">
                <a:solidFill>
                  <a:srgbClr val="FF0000"/>
                </a:solidFill>
                <a:ea typeface="黑体" panose="02010609060101010101" pitchFamily="49" charset="-122"/>
              </a:rPr>
              <a:t>使用曼彻斯特 </a:t>
            </a:r>
            <a:r>
              <a:rPr lang="en-US" altLang="zh-CN" dirty="0" smtClean="0">
                <a:ea typeface="黑体" panose="02010609060101010101" pitchFamily="49" charset="-122"/>
              </a:rPr>
              <a:t>(Manchester) </a:t>
            </a:r>
            <a:r>
              <a:rPr lang="zh-CN" altLang="en-US" dirty="0" smtClean="0">
                <a:ea typeface="黑体" panose="02010609060101010101" pitchFamily="49" charset="-122"/>
              </a:rPr>
              <a:t>编码</a:t>
            </a:r>
          </a:p>
        </p:txBody>
      </p:sp>
      <p:grpSp>
        <p:nvGrpSpPr>
          <p:cNvPr id="524291" name="组合 4"/>
          <p:cNvGrpSpPr>
            <a:grpSpLocks/>
          </p:cNvGrpSpPr>
          <p:nvPr/>
        </p:nvGrpSpPr>
        <p:grpSpPr bwMode="auto">
          <a:xfrm>
            <a:off x="617538" y="2247900"/>
            <a:ext cx="8943975" cy="2774950"/>
            <a:chOff x="617890" y="1770063"/>
            <a:chExt cx="8943622" cy="2775401"/>
          </a:xfrm>
        </p:grpSpPr>
        <p:grpSp>
          <p:nvGrpSpPr>
            <p:cNvPr id="524292" name="组合 2"/>
            <p:cNvGrpSpPr>
              <a:grpSpLocks/>
            </p:cNvGrpSpPr>
            <p:nvPr/>
          </p:nvGrpSpPr>
          <p:grpSpPr bwMode="auto">
            <a:xfrm>
              <a:off x="2050862" y="1957745"/>
              <a:ext cx="7488831" cy="2577397"/>
              <a:chOff x="2050862" y="1957745"/>
              <a:chExt cx="7488831" cy="4136632"/>
            </a:xfrm>
          </p:grpSpPr>
          <p:sp>
            <p:nvSpPr>
              <p:cNvPr id="524293" name="Rectangle 8"/>
              <p:cNvSpPr>
                <a:spLocks noChangeArrowheads="1"/>
              </p:cNvSpPr>
              <p:nvPr/>
            </p:nvSpPr>
            <p:spPr bwMode="auto">
              <a:xfrm>
                <a:off x="8082206" y="2007528"/>
                <a:ext cx="720633" cy="40703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4" name="Rectangle 9"/>
              <p:cNvSpPr>
                <a:spLocks noChangeArrowheads="1"/>
              </p:cNvSpPr>
              <p:nvPr/>
            </p:nvSpPr>
            <p:spPr bwMode="auto">
              <a:xfrm>
                <a:off x="3563030" y="2007528"/>
                <a:ext cx="751616" cy="40703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5" name="Rectangle 10"/>
              <p:cNvSpPr>
                <a:spLocks noChangeArrowheads="1"/>
              </p:cNvSpPr>
              <p:nvPr/>
            </p:nvSpPr>
            <p:spPr bwMode="auto">
              <a:xfrm>
                <a:off x="5073850" y="2002764"/>
                <a:ext cx="731598" cy="407742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6" name="Rectangle 11"/>
              <p:cNvSpPr>
                <a:spLocks noChangeArrowheads="1"/>
              </p:cNvSpPr>
              <p:nvPr/>
            </p:nvSpPr>
            <p:spPr bwMode="auto">
              <a:xfrm>
                <a:off x="6588491" y="2002764"/>
                <a:ext cx="713017" cy="407742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7" name="Rectangle 12"/>
              <p:cNvSpPr>
                <a:spLocks noChangeArrowheads="1"/>
              </p:cNvSpPr>
              <p:nvPr/>
            </p:nvSpPr>
            <p:spPr bwMode="auto">
              <a:xfrm>
                <a:off x="2077857" y="1995869"/>
                <a:ext cx="720123" cy="408200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400" b="1">
                  <a:ea typeface="宋体" panose="02010600030101010101" pitchFamily="2" charset="-122"/>
                </a:endParaRPr>
              </a:p>
            </p:txBody>
          </p:sp>
          <p:sp>
            <p:nvSpPr>
              <p:cNvPr id="524298" name="Line 32"/>
              <p:cNvSpPr>
                <a:spLocks noChangeShapeType="1"/>
              </p:cNvSpPr>
              <p:nvPr/>
            </p:nvSpPr>
            <p:spPr bwMode="auto">
              <a:xfrm flipH="1" flipV="1">
                <a:off x="2050862" y="1977021"/>
                <a:ext cx="3175"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黑体" panose="02010609060101010101" pitchFamily="49" charset="-122"/>
                </a:endParaRPr>
              </a:p>
            </p:txBody>
          </p:sp>
          <p:sp>
            <p:nvSpPr>
              <p:cNvPr id="524299" name="Line 33"/>
              <p:cNvSpPr>
                <a:spLocks noChangeShapeType="1"/>
              </p:cNvSpPr>
              <p:nvPr/>
            </p:nvSpPr>
            <p:spPr bwMode="auto">
              <a:xfrm flipV="1">
                <a:off x="2800922" y="1957745"/>
                <a:ext cx="0" cy="412265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0" name="Line 34"/>
              <p:cNvSpPr>
                <a:spLocks noChangeShapeType="1"/>
              </p:cNvSpPr>
              <p:nvPr/>
            </p:nvSpPr>
            <p:spPr bwMode="auto">
              <a:xfrm flipV="1">
                <a:off x="3548040"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1" name="Line 35"/>
              <p:cNvSpPr>
                <a:spLocks noChangeShapeType="1"/>
              </p:cNvSpPr>
              <p:nvPr/>
            </p:nvSpPr>
            <p:spPr bwMode="auto">
              <a:xfrm flipH="1" flipV="1">
                <a:off x="4310148" y="1977021"/>
                <a:ext cx="0" cy="4117356"/>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2" name="Line 36"/>
              <p:cNvSpPr>
                <a:spLocks noChangeShapeType="1"/>
              </p:cNvSpPr>
              <p:nvPr/>
            </p:nvSpPr>
            <p:spPr bwMode="auto">
              <a:xfrm flipV="1">
                <a:off x="5059563"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3" name="Line 37"/>
              <p:cNvSpPr>
                <a:spLocks noChangeShapeType="1"/>
              </p:cNvSpPr>
              <p:nvPr/>
            </p:nvSpPr>
            <p:spPr bwMode="auto">
              <a:xfrm flipV="1">
                <a:off x="5822316"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4" name="Line 38"/>
              <p:cNvSpPr>
                <a:spLocks noChangeShapeType="1"/>
              </p:cNvSpPr>
              <p:nvPr/>
            </p:nvSpPr>
            <p:spPr bwMode="auto">
              <a:xfrm flipV="1">
                <a:off x="6575318"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5" name="Line 39"/>
              <p:cNvSpPr>
                <a:spLocks noChangeShapeType="1"/>
              </p:cNvSpPr>
              <p:nvPr/>
            </p:nvSpPr>
            <p:spPr bwMode="auto">
              <a:xfrm flipV="1">
                <a:off x="7316498" y="1977021"/>
                <a:ext cx="0"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6" name="Line 40"/>
              <p:cNvSpPr>
                <a:spLocks noChangeShapeType="1"/>
              </p:cNvSpPr>
              <p:nvPr/>
            </p:nvSpPr>
            <p:spPr bwMode="auto">
              <a:xfrm flipH="1" flipV="1">
                <a:off x="8067967" y="1977021"/>
                <a:ext cx="1587" cy="4103381"/>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7" name="Line 41"/>
              <p:cNvSpPr>
                <a:spLocks noChangeShapeType="1"/>
              </p:cNvSpPr>
              <p:nvPr/>
            </p:nvSpPr>
            <p:spPr bwMode="auto">
              <a:xfrm flipV="1">
                <a:off x="8795696" y="1979430"/>
                <a:ext cx="14287" cy="410097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sp>
            <p:nvSpPr>
              <p:cNvPr id="524308" name="Line 41"/>
              <p:cNvSpPr>
                <a:spLocks noChangeShapeType="1"/>
              </p:cNvSpPr>
              <p:nvPr/>
            </p:nvSpPr>
            <p:spPr bwMode="auto">
              <a:xfrm flipV="1">
                <a:off x="9525406" y="1979430"/>
                <a:ext cx="14287" cy="410097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2400" b="1">
                  <a:ea typeface="宋体" panose="02010600030101010101" pitchFamily="2" charset="-122"/>
                </a:endParaRPr>
              </a:p>
            </p:txBody>
          </p:sp>
        </p:grpSp>
        <p:sp>
          <p:nvSpPr>
            <p:cNvPr id="524309" name="Rectangle 89"/>
            <p:cNvSpPr>
              <a:spLocks noChangeArrowheads="1"/>
            </p:cNvSpPr>
            <p:nvPr/>
          </p:nvSpPr>
          <p:spPr bwMode="auto">
            <a:xfrm>
              <a:off x="9266238" y="1770063"/>
              <a:ext cx="94589" cy="2667000"/>
            </a:xfrm>
            <a:prstGeom prst="rect">
              <a:avLst/>
            </a:prstGeom>
            <a:solidFill>
              <a:schemeClr val="bg1"/>
            </a:solidFill>
            <a:ln w="9525">
              <a:solidFill>
                <a:schemeClr val="bg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524310" name="Rectangle 7"/>
            <p:cNvSpPr>
              <a:spLocks noChangeArrowheads="1"/>
            </p:cNvSpPr>
            <p:nvPr/>
          </p:nvSpPr>
          <p:spPr bwMode="auto">
            <a:xfrm>
              <a:off x="617890" y="2914402"/>
              <a:ext cx="14202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曼彻斯特</a:t>
              </a:r>
            </a:p>
          </p:txBody>
        </p:sp>
        <p:sp>
          <p:nvSpPr>
            <p:cNvPr id="524311" name="Rectangle 13"/>
            <p:cNvSpPr>
              <a:spLocks noChangeArrowheads="1"/>
            </p:cNvSpPr>
            <p:nvPr/>
          </p:nvSpPr>
          <p:spPr bwMode="auto">
            <a:xfrm>
              <a:off x="2251036"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2" name="Rectangle 14"/>
            <p:cNvSpPr>
              <a:spLocks noChangeArrowheads="1"/>
            </p:cNvSpPr>
            <p:nvPr/>
          </p:nvSpPr>
          <p:spPr bwMode="auto">
            <a:xfrm>
              <a:off x="8988641"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3" name="Rectangle 15"/>
            <p:cNvSpPr>
              <a:spLocks noChangeArrowheads="1"/>
            </p:cNvSpPr>
            <p:nvPr/>
          </p:nvSpPr>
          <p:spPr bwMode="auto">
            <a:xfrm>
              <a:off x="5291222"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4" name="Rectangle 16"/>
            <p:cNvSpPr>
              <a:spLocks noChangeArrowheads="1"/>
            </p:cNvSpPr>
            <p:nvPr/>
          </p:nvSpPr>
          <p:spPr bwMode="auto">
            <a:xfrm>
              <a:off x="8233132" y="2067853"/>
              <a:ext cx="2984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5" name="Rectangle 17"/>
            <p:cNvSpPr>
              <a:spLocks noChangeArrowheads="1"/>
            </p:cNvSpPr>
            <p:nvPr/>
          </p:nvSpPr>
          <p:spPr bwMode="auto">
            <a:xfrm>
              <a:off x="7523470"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1</a:t>
              </a:r>
            </a:p>
          </p:txBody>
        </p:sp>
        <p:sp>
          <p:nvSpPr>
            <p:cNvPr id="524316" name="Rectangle 18"/>
            <p:cNvSpPr>
              <a:spLocks noChangeArrowheads="1"/>
            </p:cNvSpPr>
            <p:nvPr/>
          </p:nvSpPr>
          <p:spPr bwMode="auto">
            <a:xfrm>
              <a:off x="3011977"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17" name="Rectangle 19"/>
            <p:cNvSpPr>
              <a:spLocks noChangeArrowheads="1"/>
            </p:cNvSpPr>
            <p:nvPr/>
          </p:nvSpPr>
          <p:spPr bwMode="auto">
            <a:xfrm>
              <a:off x="3804065"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18" name="Rectangle 20"/>
            <p:cNvSpPr>
              <a:spLocks noChangeArrowheads="1"/>
            </p:cNvSpPr>
            <p:nvPr/>
          </p:nvSpPr>
          <p:spPr bwMode="auto">
            <a:xfrm>
              <a:off x="4524145"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19" name="Rectangle 21"/>
            <p:cNvSpPr>
              <a:spLocks noChangeArrowheads="1"/>
            </p:cNvSpPr>
            <p:nvPr/>
          </p:nvSpPr>
          <p:spPr bwMode="auto">
            <a:xfrm>
              <a:off x="6036313"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20" name="Rectangle 22"/>
            <p:cNvSpPr>
              <a:spLocks noChangeArrowheads="1"/>
            </p:cNvSpPr>
            <p:nvPr/>
          </p:nvSpPr>
          <p:spPr bwMode="auto">
            <a:xfrm>
              <a:off x="6756393" y="2067853"/>
              <a:ext cx="33502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latin typeface="Arial Rounded MT Bold" panose="020F0704030504030204" pitchFamily="34" charset="0"/>
                  <a:ea typeface="宋体" panose="02010600030101010101" pitchFamily="2" charset="-122"/>
                </a:rPr>
                <a:t>0</a:t>
              </a:r>
            </a:p>
          </p:txBody>
        </p:sp>
        <p:sp>
          <p:nvSpPr>
            <p:cNvPr id="524321" name="Freeform 30"/>
            <p:cNvSpPr>
              <a:spLocks noChangeArrowheads="1"/>
            </p:cNvSpPr>
            <p:nvPr/>
          </p:nvSpPr>
          <p:spPr bwMode="auto">
            <a:xfrm>
              <a:off x="2053076" y="2780928"/>
              <a:ext cx="7457834" cy="690711"/>
            </a:xfrm>
            <a:custGeom>
              <a:avLst/>
              <a:gdLst>
                <a:gd name="T0" fmla="*/ 0 w 10101"/>
                <a:gd name="T1" fmla="*/ 0 h 10000"/>
                <a:gd name="T2" fmla="*/ 504 w 10101"/>
                <a:gd name="T3" fmla="*/ 0 h 10000"/>
                <a:gd name="T4" fmla="*/ 504 w 10101"/>
                <a:gd name="T5" fmla="*/ 10000 h 10000"/>
                <a:gd name="T6" fmla="*/ 1536 w 10101"/>
                <a:gd name="T7" fmla="*/ 10000 h 10000"/>
                <a:gd name="T8" fmla="*/ 1536 w 10101"/>
                <a:gd name="T9" fmla="*/ 0 h 10000"/>
                <a:gd name="T10" fmla="*/ 2040 w 10101"/>
                <a:gd name="T11" fmla="*/ 0 h 10000"/>
                <a:gd name="T12" fmla="*/ 2040 w 10101"/>
                <a:gd name="T13" fmla="*/ 10000 h 10000"/>
                <a:gd name="T14" fmla="*/ 2565 w 10101"/>
                <a:gd name="T15" fmla="*/ 10000 h 10000"/>
                <a:gd name="T16" fmla="*/ 2565 w 10101"/>
                <a:gd name="T17" fmla="*/ 0 h 10000"/>
                <a:gd name="T18" fmla="*/ 3070 w 10101"/>
                <a:gd name="T19" fmla="*/ 0 h 10000"/>
                <a:gd name="T20" fmla="*/ 3070 w 10101"/>
                <a:gd name="T21" fmla="*/ 10000 h 10000"/>
                <a:gd name="T22" fmla="*/ 3574 w 10101"/>
                <a:gd name="T23" fmla="*/ 10000 h 10000"/>
                <a:gd name="T24" fmla="*/ 3574 w 10101"/>
                <a:gd name="T25" fmla="*/ 0 h 10000"/>
                <a:gd name="T26" fmla="*/ 4606 w 10101"/>
                <a:gd name="T27" fmla="*/ 0 h 10000"/>
                <a:gd name="T28" fmla="*/ 4606 w 10101"/>
                <a:gd name="T29" fmla="*/ 10000 h 10000"/>
                <a:gd name="T30" fmla="*/ 5615 w 10101"/>
                <a:gd name="T31" fmla="*/ 10000 h 10000"/>
                <a:gd name="T32" fmla="*/ 5615 w 10101"/>
                <a:gd name="T33" fmla="*/ 122 h 10000"/>
                <a:gd name="T34" fmla="*/ 6119 w 10101"/>
                <a:gd name="T35" fmla="*/ 0 h 10000"/>
                <a:gd name="T36" fmla="*/ 6119 w 10101"/>
                <a:gd name="T37" fmla="*/ 10000 h 10000"/>
                <a:gd name="T38" fmla="*/ 6623 w 10101"/>
                <a:gd name="T39" fmla="*/ 10000 h 10000"/>
                <a:gd name="T40" fmla="*/ 6623 w 10101"/>
                <a:gd name="T41" fmla="*/ 0 h 10000"/>
                <a:gd name="T42" fmla="*/ 7653 w 10101"/>
                <a:gd name="T43" fmla="*/ 0 h 10000"/>
                <a:gd name="T44" fmla="*/ 7653 w 10101"/>
                <a:gd name="T45" fmla="*/ 10000 h 10000"/>
                <a:gd name="T46" fmla="*/ 8157 w 10101"/>
                <a:gd name="T47" fmla="*/ 10000 h 10000"/>
                <a:gd name="T48" fmla="*/ 8157 w 10101"/>
                <a:gd name="T49" fmla="*/ 0 h 10000"/>
                <a:gd name="T50" fmla="*/ 8662 w 10101"/>
                <a:gd name="T51" fmla="*/ 0 h 10000"/>
                <a:gd name="T52" fmla="*/ 8662 w 10101"/>
                <a:gd name="T53" fmla="*/ 10000 h 10000"/>
                <a:gd name="T54" fmla="*/ 9166 w 10101"/>
                <a:gd name="T55" fmla="*/ 10000 h 10000"/>
                <a:gd name="T56" fmla="*/ 9166 w 10101"/>
                <a:gd name="T57" fmla="*/ 0 h 10000"/>
                <a:gd name="T58" fmla="*/ 9671 w 10101"/>
                <a:gd name="T59" fmla="*/ 0 h 10000"/>
                <a:gd name="T60" fmla="*/ 9671 w 10101"/>
                <a:gd name="T61" fmla="*/ 10000 h 10000"/>
                <a:gd name="T62" fmla="*/ 10101 w 10101"/>
                <a:gd name="T63" fmla="*/ 10000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101"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01" y="10000"/>
                  </a:lnTo>
                </a:path>
              </a:pathLst>
            </a:custGeom>
            <a:noFill/>
            <a:ln w="28575"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24322" name="Rectangle 42"/>
            <p:cNvSpPr>
              <a:spLocks noChangeArrowheads="1"/>
            </p:cNvSpPr>
            <p:nvPr/>
          </p:nvSpPr>
          <p:spPr bwMode="auto">
            <a:xfrm>
              <a:off x="681029" y="2075790"/>
              <a:ext cx="133530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比特流</a:t>
              </a:r>
            </a:p>
          </p:txBody>
        </p:sp>
        <p:grpSp>
          <p:nvGrpSpPr>
            <p:cNvPr id="524323" name="Group 65"/>
            <p:cNvGrpSpPr>
              <a:grpSpLocks/>
            </p:cNvGrpSpPr>
            <p:nvPr/>
          </p:nvGrpSpPr>
          <p:grpSpPr bwMode="auto">
            <a:xfrm>
              <a:off x="2062492" y="3766245"/>
              <a:ext cx="7483921" cy="690711"/>
              <a:chOff x="1255" y="2804"/>
              <a:chExt cx="4461" cy="258"/>
            </a:xfrm>
          </p:grpSpPr>
          <p:sp>
            <p:nvSpPr>
              <p:cNvPr id="524324" name="Freeform 63"/>
              <p:cNvSpPr>
                <a:spLocks noChangeArrowheads="1"/>
              </p:cNvSpPr>
              <p:nvPr/>
            </p:nvSpPr>
            <p:spPr bwMode="auto">
              <a:xfrm>
                <a:off x="1255"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sp>
            <p:nvSpPr>
              <p:cNvPr id="524325" name="Freeform 64"/>
              <p:cNvSpPr>
                <a:spLocks noChangeArrowheads="1"/>
              </p:cNvSpPr>
              <p:nvPr/>
            </p:nvSpPr>
            <p:spPr bwMode="auto">
              <a:xfrm>
                <a:off x="4164"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400" b="1">
                  <a:ea typeface="宋体" panose="02010600030101010101" pitchFamily="2" charset="-122"/>
                </a:endParaRPr>
              </a:p>
            </p:txBody>
          </p:sp>
        </p:grpSp>
        <p:sp>
          <p:nvSpPr>
            <p:cNvPr id="524326" name="Rectangle 68"/>
            <p:cNvSpPr>
              <a:spLocks noChangeArrowheads="1"/>
            </p:cNvSpPr>
            <p:nvPr/>
          </p:nvSpPr>
          <p:spPr bwMode="auto">
            <a:xfrm>
              <a:off x="617890" y="3717032"/>
              <a:ext cx="1420262"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zh-CN" altLang="en-US" sz="2400" b="1">
                  <a:solidFill>
                    <a:srgbClr val="000099"/>
                  </a:solidFill>
                  <a:ea typeface="黑体" panose="02010609060101010101" pitchFamily="49" charset="-122"/>
                </a:rPr>
                <a:t>差分</a:t>
              </a:r>
              <a:endParaRPr lang="en-US" altLang="zh-CN" sz="2400" b="1">
                <a:solidFill>
                  <a:srgbClr val="000099"/>
                </a:solidFill>
                <a:ea typeface="黑体" panose="02010609060101010101" pitchFamily="49" charset="-122"/>
              </a:endParaRPr>
            </a:p>
            <a:p>
              <a:pPr algn="r"/>
              <a:r>
                <a:rPr lang="zh-CN" altLang="en-US" sz="2400" b="1">
                  <a:solidFill>
                    <a:srgbClr val="000099"/>
                  </a:solidFill>
                  <a:ea typeface="黑体" panose="02010609060101010101" pitchFamily="49" charset="-122"/>
                </a:rPr>
                <a:t>曼彻斯特</a:t>
              </a:r>
            </a:p>
          </p:txBody>
        </p:sp>
        <p:cxnSp>
          <p:nvCxnSpPr>
            <p:cNvPr id="524327" name="直接连接符 108"/>
            <p:cNvCxnSpPr>
              <a:cxnSpLocks noChangeShapeType="1"/>
            </p:cNvCxnSpPr>
            <p:nvPr/>
          </p:nvCxnSpPr>
          <p:spPr bwMode="auto">
            <a:xfrm>
              <a:off x="2066413" y="4123268"/>
              <a:ext cx="7495099" cy="0"/>
            </a:xfrm>
            <a:prstGeom prst="line">
              <a:avLst/>
            </a:prstGeom>
            <a:noFill/>
            <a:ln w="12700">
              <a:solidFill>
                <a:schemeClr val="tx1"/>
              </a:solidFill>
              <a:round/>
              <a:headEnd/>
              <a:tailEnd/>
            </a:ln>
          </p:spPr>
        </p:cxnSp>
        <p:cxnSp>
          <p:nvCxnSpPr>
            <p:cNvPr id="524328" name="直接连接符 109"/>
            <p:cNvCxnSpPr>
              <a:cxnSpLocks noChangeShapeType="1"/>
            </p:cNvCxnSpPr>
            <p:nvPr/>
          </p:nvCxnSpPr>
          <p:spPr bwMode="auto">
            <a:xfrm>
              <a:off x="2066413" y="3126283"/>
              <a:ext cx="7495099" cy="0"/>
            </a:xfrm>
            <a:prstGeom prst="line">
              <a:avLst/>
            </a:prstGeom>
            <a:noFill/>
            <a:ln w="12700">
              <a:solidFill>
                <a:schemeClr val="tx1"/>
              </a:solidFill>
              <a:round/>
              <a:headEnd/>
              <a:tailEnd/>
            </a:ln>
          </p:spPr>
        </p:cxnSp>
      </p:grpSp>
      <p:sp>
        <p:nvSpPr>
          <p:cNvPr id="524329" name="矩形 3"/>
          <p:cNvSpPr>
            <a:spLocks noChangeArrowheads="1"/>
          </p:cNvSpPr>
          <p:nvPr/>
        </p:nvSpPr>
        <p:spPr bwMode="auto">
          <a:xfrm>
            <a:off x="2251075" y="5300663"/>
            <a:ext cx="6191250" cy="954087"/>
          </a:xfrm>
          <a:prstGeom prst="rect">
            <a:avLst/>
          </a:prstGeom>
          <a:solidFill>
            <a:srgbClr val="FFFF66"/>
          </a:solidFill>
          <a:ln w="9525">
            <a:solidFill>
              <a:srgbClr val="000099"/>
            </a:solidFill>
            <a:round/>
            <a:headEnd/>
            <a:tailEnd/>
          </a:ln>
        </p:spPr>
        <p:txBody>
          <a:bodyPr>
            <a:spAutoFit/>
          </a:bodyPr>
          <a:lstStyle/>
          <a:p>
            <a:pPr eaLnBrk="0" hangingPunct="0">
              <a:spcBef>
                <a:spcPts val="600"/>
              </a:spcBef>
            </a:pPr>
            <a:r>
              <a:rPr lang="zh-CN" altLang="zh-CN" sz="2800" b="1">
                <a:solidFill>
                  <a:srgbClr val="000099"/>
                </a:solidFill>
                <a:ea typeface="黑体" panose="02010609060101010101" pitchFamily="49" charset="-122"/>
              </a:rPr>
              <a:t>曼彻斯特编码</a:t>
            </a:r>
            <a:r>
              <a:rPr lang="zh-CN" altLang="zh-CN" sz="2800" b="1">
                <a:solidFill>
                  <a:srgbClr val="FF0000"/>
                </a:solidFill>
                <a:ea typeface="黑体" panose="02010609060101010101" pitchFamily="49" charset="-122"/>
              </a:rPr>
              <a:t>缺点</a:t>
            </a:r>
            <a:r>
              <a:rPr lang="zh-CN" altLang="zh-CN" sz="2800" b="1">
                <a:solidFill>
                  <a:srgbClr val="000099"/>
                </a:solidFill>
                <a:ea typeface="黑体" panose="02010609060101010101" pitchFamily="49" charset="-122"/>
              </a:rPr>
              <a:t>是</a:t>
            </a:r>
            <a:r>
              <a:rPr lang="zh-CN" altLang="en-US" sz="2800" b="1">
                <a:solidFill>
                  <a:srgbClr val="000099"/>
                </a:solidFill>
                <a:ea typeface="黑体" panose="02010609060101010101" pitchFamily="49" charset="-122"/>
              </a:rPr>
              <a:t>：</a:t>
            </a:r>
            <a:r>
              <a:rPr lang="zh-CN" altLang="zh-CN" sz="2800" b="1">
                <a:solidFill>
                  <a:srgbClr val="000099"/>
                </a:solidFill>
                <a:ea typeface="黑体" panose="02010609060101010101" pitchFamily="49" charset="-122"/>
              </a:rPr>
              <a:t>它所占的频带宽度比原始的基带信号增加了一倍</a:t>
            </a:r>
            <a:r>
              <a:rPr lang="zh-CN" altLang="en-US" sz="2800" b="1">
                <a:solidFill>
                  <a:srgbClr val="000099"/>
                </a:solidFill>
                <a:ea typeface="黑体" panose="02010609060101010101" pitchFamily="49" charset="-122"/>
              </a:rPr>
              <a:t>。</a:t>
            </a:r>
          </a:p>
        </p:txBody>
      </p:sp>
      <p:sp>
        <p:nvSpPr>
          <p:cNvPr id="524330"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6B24A6-CF4A-4A05-BB2F-31F288C1D9A1}" type="slidenum">
              <a:rPr lang="zh-CN" altLang="en-US" smtClean="0"/>
              <a:pPr eaLnBrk="1" hangingPunct="1"/>
              <a:t>17</a:t>
            </a:fld>
            <a:endParaRPr lang="en-US" altLang="zh-CN" smtClean="0"/>
          </a:p>
        </p:txBody>
      </p:sp>
      <p:sp>
        <p:nvSpPr>
          <p:cNvPr id="524331"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CSMA/CD</a:t>
            </a:r>
            <a:r>
              <a:rPr lang="zh-CN" altLang="en-US" smtClean="0">
                <a:ea typeface="黑体" panose="02010609060101010101" pitchFamily="49" charset="-122"/>
              </a:rPr>
              <a:t>协议</a:t>
            </a:r>
            <a:r>
              <a:rPr lang="en-US" altLang="zh-CN" smtClean="0">
                <a:ea typeface="黑体" panose="02010609060101010101" pitchFamily="49" charset="-122"/>
              </a:rPr>
              <a:t> </a:t>
            </a:r>
          </a:p>
        </p:txBody>
      </p:sp>
      <p:sp>
        <p:nvSpPr>
          <p:cNvPr id="408579" name="Rectangle 3"/>
          <p:cNvSpPr>
            <a:spLocks noGrp="1" noChangeArrowheads="1"/>
          </p:cNvSpPr>
          <p:nvPr>
            <p:ph idx="1"/>
          </p:nvPr>
        </p:nvSpPr>
        <p:spPr>
          <a:xfrm>
            <a:off x="495300" y="1196975"/>
            <a:ext cx="9066213" cy="4933950"/>
          </a:xfrm>
        </p:spPr>
        <p:txBody>
          <a:bodyPr/>
          <a:lstStyle/>
          <a:p>
            <a:pPr>
              <a:lnSpc>
                <a:spcPct val="100000"/>
              </a:lnSpc>
            </a:pPr>
            <a:r>
              <a:rPr lang="en-US" altLang="zh-CN" sz="2800" u="sng" dirty="0" smtClean="0">
                <a:solidFill>
                  <a:srgbClr val="FF0000"/>
                </a:solidFill>
                <a:ea typeface="黑体" panose="02010609060101010101" pitchFamily="49" charset="-122"/>
              </a:rPr>
              <a:t>CSMA/CD </a:t>
            </a:r>
            <a:r>
              <a:rPr lang="zh-CN" altLang="en-US" sz="2800" u="sng" dirty="0" smtClean="0">
                <a:solidFill>
                  <a:srgbClr val="FF0000"/>
                </a:solidFill>
                <a:ea typeface="黑体" panose="02010609060101010101" pitchFamily="49" charset="-122"/>
              </a:rPr>
              <a:t>含义：载波监听多点接入 </a:t>
            </a:r>
            <a:r>
              <a:rPr lang="en-US" altLang="zh-CN" sz="2800" u="sng" dirty="0" smtClean="0">
                <a:solidFill>
                  <a:srgbClr val="FF0000"/>
                </a:solidFill>
                <a:ea typeface="黑体" panose="02010609060101010101" pitchFamily="49" charset="-122"/>
              </a:rPr>
              <a:t>/ </a:t>
            </a:r>
            <a:r>
              <a:rPr lang="zh-CN" altLang="en-US" sz="2800" u="sng" dirty="0" smtClean="0">
                <a:solidFill>
                  <a:srgbClr val="FF0000"/>
                </a:solidFill>
                <a:ea typeface="黑体" panose="02010609060101010101" pitchFamily="49" charset="-122"/>
              </a:rPr>
              <a:t>碰撞检测  </a:t>
            </a:r>
            <a:r>
              <a:rPr lang="en-US" altLang="zh-CN" sz="2800" u="sng" dirty="0" smtClean="0">
                <a:solidFill>
                  <a:srgbClr val="FF0000"/>
                </a:solidFill>
                <a:ea typeface="黑体" panose="02010609060101010101" pitchFamily="49" charset="-122"/>
              </a:rPr>
              <a:t>(Carrier Sense Multiple Access with Collision Detection) </a:t>
            </a:r>
            <a:r>
              <a:rPr lang="zh-CN" altLang="en-US" sz="2800" u="sng" dirty="0" smtClean="0">
                <a:solidFill>
                  <a:srgbClr val="FF0000"/>
                </a:solidFill>
                <a:ea typeface="黑体" panose="02010609060101010101" pitchFamily="49" charset="-122"/>
              </a:rPr>
              <a:t>。</a:t>
            </a:r>
          </a:p>
          <a:p>
            <a:pPr>
              <a:lnSpc>
                <a:spcPct val="100000"/>
              </a:lnSpc>
            </a:pPr>
            <a:r>
              <a:rPr lang="zh-CN" altLang="en-US" sz="2800" dirty="0" smtClean="0">
                <a:ea typeface="黑体" panose="02010609060101010101" pitchFamily="49" charset="-122"/>
              </a:rPr>
              <a:t>“</a:t>
            </a:r>
            <a:r>
              <a:rPr lang="zh-CN" altLang="en-US" sz="2800" dirty="0" smtClean="0">
                <a:solidFill>
                  <a:srgbClr val="FF0000"/>
                </a:solidFill>
                <a:ea typeface="黑体" panose="02010609060101010101" pitchFamily="49" charset="-122"/>
              </a:rPr>
              <a:t>多点接入</a:t>
            </a:r>
            <a:r>
              <a:rPr lang="zh-CN" altLang="en-US" sz="2800" dirty="0" smtClean="0">
                <a:ea typeface="黑体" panose="02010609060101010101" pitchFamily="49" charset="-122"/>
              </a:rPr>
              <a:t>”表示许多计算机以多点接入的方式连接在一根总线上。</a:t>
            </a:r>
            <a:endParaRPr lang="en-US" altLang="zh-CN" sz="2800" dirty="0" smtClean="0">
              <a:ea typeface="黑体" panose="02010609060101010101" pitchFamily="49" charset="-122"/>
            </a:endParaRPr>
          </a:p>
          <a:p>
            <a:pPr>
              <a:lnSpc>
                <a:spcPct val="100000"/>
              </a:lnSpc>
            </a:pPr>
            <a:r>
              <a:rPr lang="zh-CN" altLang="en-US" sz="2800" dirty="0" smtClean="0">
                <a:ea typeface="黑体" panose="02010609060101010101" pitchFamily="49" charset="-122"/>
              </a:rPr>
              <a:t>“</a:t>
            </a:r>
            <a:r>
              <a:rPr lang="zh-CN" altLang="en-US" sz="2800" dirty="0" smtClean="0">
                <a:solidFill>
                  <a:srgbClr val="FF0000"/>
                </a:solidFill>
                <a:ea typeface="黑体" panose="02010609060101010101" pitchFamily="49" charset="-122"/>
              </a:rPr>
              <a:t>载波监听</a:t>
            </a:r>
            <a:r>
              <a:rPr lang="zh-CN" altLang="en-US" sz="2800" dirty="0" smtClean="0">
                <a:ea typeface="黑体" panose="02010609060101010101" pitchFamily="49" charset="-122"/>
              </a:rPr>
              <a:t>”是指每一个站在发送数据之前先要检测一下总线上是否有其他计算机在发送数据，如果有，则暂时不要发送数据，以免发生碰撞。 </a:t>
            </a:r>
          </a:p>
          <a:p>
            <a:pPr>
              <a:lnSpc>
                <a:spcPct val="100000"/>
              </a:lnSpc>
            </a:pPr>
            <a:r>
              <a:rPr lang="zh-CN" altLang="en-US" sz="2800" dirty="0" smtClean="0">
                <a:ea typeface="黑体" panose="02010609060101010101" pitchFamily="49" charset="-122"/>
              </a:rPr>
              <a:t>总线上并没有什么“载波”。因此， </a:t>
            </a:r>
            <a:r>
              <a:rPr lang="zh-CN" altLang="en-US" sz="2800" dirty="0" smtClean="0">
                <a:solidFill>
                  <a:srgbClr val="0000FF"/>
                </a:solidFill>
                <a:ea typeface="黑体" panose="02010609060101010101" pitchFamily="49" charset="-122"/>
              </a:rPr>
              <a:t>“载波监听”就是用电子技术检测总线上有没有其他计算机发送的数据信号。</a:t>
            </a:r>
          </a:p>
        </p:txBody>
      </p:sp>
      <p:sp>
        <p:nvSpPr>
          <p:cNvPr id="5263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CA92DA-B725-4D9A-A1C4-B1B7B6ED7109}" type="slidenum">
              <a:rPr lang="zh-CN" altLang="en-US" smtClean="0"/>
              <a:pPr eaLnBrk="1" hangingPunct="1"/>
              <a:t>18</a:t>
            </a:fld>
            <a:endParaRPr lang="en-US" altLang="zh-CN" smtClean="0"/>
          </a:p>
        </p:txBody>
      </p:sp>
      <p:sp>
        <p:nvSpPr>
          <p:cNvPr id="5263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857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8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碰撞检测</a:t>
            </a:r>
          </a:p>
        </p:txBody>
      </p:sp>
      <p:sp>
        <p:nvSpPr>
          <p:cNvPr id="409603" name="Rectangle 3"/>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a:t>
            </a:r>
            <a:r>
              <a:rPr lang="zh-CN" altLang="en-US" sz="2800" dirty="0" smtClean="0">
                <a:solidFill>
                  <a:srgbClr val="FF0000"/>
                </a:solidFill>
                <a:ea typeface="黑体" panose="02010609060101010101" pitchFamily="49" charset="-122"/>
              </a:rPr>
              <a:t>碰撞检测</a:t>
            </a:r>
            <a:r>
              <a:rPr lang="zh-CN" altLang="en-US" sz="2800" dirty="0" smtClean="0">
                <a:ea typeface="黑体" panose="02010609060101010101" pitchFamily="49" charset="-122"/>
              </a:rPr>
              <a:t>”就是计算机边发送数据边检测信道上的信号电压大小。</a:t>
            </a:r>
          </a:p>
          <a:p>
            <a:r>
              <a:rPr lang="zh-CN" altLang="en-US" sz="2800" dirty="0" smtClean="0">
                <a:ea typeface="黑体" panose="02010609060101010101" pitchFamily="49" charset="-122"/>
              </a:rPr>
              <a:t>当几个站同时在总线上发送数据时，总线上的信号电压摆动值将会增大（互相叠加）。</a:t>
            </a:r>
          </a:p>
          <a:p>
            <a:r>
              <a:rPr lang="zh-CN" altLang="en-US" sz="2800" dirty="0" smtClean="0">
                <a:ea typeface="黑体" panose="02010609060101010101" pitchFamily="49" charset="-122"/>
              </a:rPr>
              <a:t>当一个站检测到的信号电压摆动值超过一定的门限值时，就认为总线上至少有两个站同时在发送数据，表明产生了碰撞。</a:t>
            </a:r>
          </a:p>
          <a:p>
            <a:r>
              <a:rPr lang="zh-CN" altLang="en-US" sz="2800" dirty="0" smtClean="0">
                <a:solidFill>
                  <a:srgbClr val="0000FF"/>
                </a:solidFill>
                <a:ea typeface="黑体" panose="02010609060101010101" pitchFamily="49" charset="-122"/>
              </a:rPr>
              <a:t>所谓“碰撞”就是发生了冲突。因此“碰撞检测”也称为“冲突检测”</a:t>
            </a:r>
            <a:r>
              <a:rPr lang="zh-CN" altLang="en-US" sz="2800" dirty="0" smtClean="0">
                <a:solidFill>
                  <a:srgbClr val="0000CC"/>
                </a:solidFill>
                <a:ea typeface="黑体" panose="02010609060101010101" pitchFamily="49" charset="-122"/>
              </a:rPr>
              <a:t>。</a:t>
            </a:r>
          </a:p>
        </p:txBody>
      </p:sp>
      <p:sp>
        <p:nvSpPr>
          <p:cNvPr id="5283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F3FF65-80A4-405A-938E-D34EBC5B5C27}" type="slidenum">
              <a:rPr lang="zh-CN" altLang="en-US" smtClean="0"/>
              <a:pPr eaLnBrk="1" hangingPunct="1"/>
              <a:t>19</a:t>
            </a:fld>
            <a:endParaRPr lang="en-US" altLang="zh-CN" smtClean="0"/>
          </a:p>
        </p:txBody>
      </p:sp>
      <p:sp>
        <p:nvSpPr>
          <p:cNvPr id="5283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检测到碰撞后</a:t>
            </a:r>
          </a:p>
        </p:txBody>
      </p:sp>
      <p:sp>
        <p:nvSpPr>
          <p:cNvPr id="41062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在发生碰撞时，总线上传输的信号产生了严重的失真，无法从中恢复出有用的信息来。</a:t>
            </a:r>
          </a:p>
          <a:p>
            <a:r>
              <a:rPr lang="zh-CN" altLang="en-US" smtClean="0">
                <a:solidFill>
                  <a:srgbClr val="0000FF"/>
                </a:solidFill>
                <a:ea typeface="黑体" panose="02010609060101010101" pitchFamily="49" charset="-122"/>
              </a:rPr>
              <a:t>每一个正在发送数据的站，一旦发现总线上出现了碰撞，就要</a:t>
            </a:r>
            <a:r>
              <a:rPr lang="zh-CN" altLang="en-US" smtClean="0">
                <a:solidFill>
                  <a:srgbClr val="FF0000"/>
                </a:solidFill>
                <a:ea typeface="黑体" panose="02010609060101010101" pitchFamily="49" charset="-122"/>
              </a:rPr>
              <a:t>立即停止发送，</a:t>
            </a:r>
            <a:r>
              <a:rPr lang="zh-CN" altLang="en-US" smtClean="0">
                <a:solidFill>
                  <a:srgbClr val="0000FF"/>
                </a:solidFill>
                <a:ea typeface="黑体" panose="02010609060101010101" pitchFamily="49" charset="-122"/>
              </a:rPr>
              <a:t>免得继续浪费网络资源，然后</a:t>
            </a:r>
            <a:r>
              <a:rPr lang="zh-CN" altLang="en-US" smtClean="0">
                <a:solidFill>
                  <a:srgbClr val="FF0000"/>
                </a:solidFill>
                <a:ea typeface="黑体" panose="02010609060101010101" pitchFamily="49" charset="-122"/>
              </a:rPr>
              <a:t>等待一段随机</a:t>
            </a:r>
            <a:r>
              <a:rPr lang="zh-CN" altLang="en-US" smtClean="0">
                <a:solidFill>
                  <a:srgbClr val="0000FF"/>
                </a:solidFill>
                <a:ea typeface="黑体" panose="02010609060101010101" pitchFamily="49" charset="-122"/>
              </a:rPr>
              <a:t>时间后再次发送。</a:t>
            </a:r>
          </a:p>
        </p:txBody>
      </p:sp>
      <p:sp>
        <p:nvSpPr>
          <p:cNvPr id="5304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6F98A2-ECD3-4076-8F37-8215F2792A4A}" type="slidenum">
              <a:rPr lang="zh-CN" altLang="en-US" smtClean="0"/>
              <a:pPr eaLnBrk="1" hangingPunct="1"/>
              <a:t>20</a:t>
            </a:fld>
            <a:endParaRPr lang="en-US" altLang="zh-CN" smtClean="0"/>
          </a:p>
        </p:txBody>
      </p:sp>
      <p:sp>
        <p:nvSpPr>
          <p:cNvPr id="5304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0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为什么要进行碰撞检测？</a:t>
            </a:r>
          </a:p>
        </p:txBody>
      </p:sp>
      <p:sp>
        <p:nvSpPr>
          <p:cNvPr id="411651"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由于电磁波在总线上的传播速率是有限的，</a:t>
            </a:r>
            <a:r>
              <a:rPr lang="zh-CN" altLang="en-US" sz="2800" dirty="0" smtClean="0">
                <a:ea typeface="黑体" panose="02010609060101010101" pitchFamily="49" charset="-122"/>
              </a:rPr>
              <a:t>当某个站监听到总线是空闲时，也可能总线并非真正是空闲的。 </a:t>
            </a:r>
          </a:p>
          <a:p>
            <a:r>
              <a:rPr lang="en-US" altLang="zh-CN" sz="2800" dirty="0" smtClean="0">
                <a:ea typeface="黑体" panose="02010609060101010101" pitchFamily="49" charset="-122"/>
              </a:rPr>
              <a:t>A </a:t>
            </a:r>
            <a:r>
              <a:rPr lang="zh-CN" altLang="en-US" sz="2800" dirty="0" smtClean="0">
                <a:ea typeface="黑体" panose="02010609060101010101" pitchFamily="49" charset="-122"/>
              </a:rPr>
              <a:t>向 </a:t>
            </a:r>
            <a:r>
              <a:rPr lang="en-US" altLang="zh-CN" sz="2800" dirty="0" smtClean="0">
                <a:ea typeface="黑体" panose="02010609060101010101" pitchFamily="49" charset="-122"/>
              </a:rPr>
              <a:t>B </a:t>
            </a:r>
            <a:r>
              <a:rPr lang="zh-CN" altLang="en-US" sz="2800" dirty="0" smtClean="0">
                <a:ea typeface="黑体" panose="02010609060101010101" pitchFamily="49" charset="-122"/>
              </a:rPr>
              <a:t>发出的信息，要经过一定的时间后才能传送到 </a:t>
            </a:r>
            <a:r>
              <a:rPr lang="en-US" altLang="zh-CN" sz="2800" dirty="0" smtClean="0">
                <a:ea typeface="黑体" panose="02010609060101010101" pitchFamily="49" charset="-122"/>
              </a:rPr>
              <a:t>B</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B </a:t>
            </a:r>
            <a:r>
              <a:rPr lang="zh-CN" altLang="en-US" sz="2800" dirty="0" smtClean="0">
                <a:ea typeface="黑体" panose="02010609060101010101" pitchFamily="49" charset="-122"/>
              </a:rPr>
              <a:t>若在 </a:t>
            </a:r>
            <a:r>
              <a:rPr lang="en-US" altLang="zh-CN" sz="2800" dirty="0" smtClean="0">
                <a:ea typeface="黑体" panose="02010609060101010101" pitchFamily="49" charset="-122"/>
              </a:rPr>
              <a:t>A </a:t>
            </a:r>
            <a:r>
              <a:rPr lang="zh-CN" altLang="en-US" sz="2800" dirty="0" smtClean="0">
                <a:ea typeface="黑体" panose="02010609060101010101" pitchFamily="49" charset="-122"/>
              </a:rPr>
              <a:t>发送的信息到达 </a:t>
            </a:r>
            <a:r>
              <a:rPr lang="en-US" altLang="zh-CN" sz="2800" dirty="0" smtClean="0">
                <a:ea typeface="黑体" panose="02010609060101010101" pitchFamily="49" charset="-122"/>
              </a:rPr>
              <a:t>B </a:t>
            </a:r>
            <a:r>
              <a:rPr lang="zh-CN" altLang="en-US" sz="2800" dirty="0" smtClean="0">
                <a:ea typeface="黑体" panose="02010609060101010101" pitchFamily="49" charset="-122"/>
              </a:rPr>
              <a:t>之前发送自己的帧 </a:t>
            </a:r>
            <a:r>
              <a:rPr lang="en-US" altLang="zh-CN" sz="2800" dirty="0" smtClean="0">
                <a:ea typeface="黑体" panose="02010609060101010101" pitchFamily="49" charset="-122"/>
              </a:rPr>
              <a:t>(</a:t>
            </a:r>
            <a:r>
              <a:rPr lang="zh-CN" altLang="en-US" sz="2800" dirty="0" smtClean="0">
                <a:ea typeface="黑体" panose="02010609060101010101" pitchFamily="49" charset="-122"/>
              </a:rPr>
              <a:t>因为这时 </a:t>
            </a:r>
            <a:r>
              <a:rPr lang="en-US" altLang="zh-CN" sz="2800" dirty="0" smtClean="0">
                <a:ea typeface="黑体" panose="02010609060101010101" pitchFamily="49" charset="-122"/>
              </a:rPr>
              <a:t>B </a:t>
            </a:r>
            <a:r>
              <a:rPr lang="zh-CN" altLang="en-US" sz="2800" dirty="0" smtClean="0">
                <a:ea typeface="黑体" panose="02010609060101010101" pitchFamily="49" charset="-122"/>
              </a:rPr>
              <a:t>的载波监听检测不到 </a:t>
            </a:r>
            <a:r>
              <a:rPr lang="en-US" altLang="zh-CN" sz="2800" dirty="0" smtClean="0">
                <a:ea typeface="黑体" panose="02010609060101010101" pitchFamily="49" charset="-122"/>
              </a:rPr>
              <a:t>A </a:t>
            </a:r>
            <a:r>
              <a:rPr lang="zh-CN" altLang="en-US" sz="2800" dirty="0" smtClean="0">
                <a:ea typeface="黑体" panose="02010609060101010101" pitchFamily="49" charset="-122"/>
              </a:rPr>
              <a:t>所发送的信息</a:t>
            </a:r>
            <a:r>
              <a:rPr lang="en-US" altLang="zh-CN" sz="2800" dirty="0" smtClean="0">
                <a:ea typeface="黑体" panose="02010609060101010101" pitchFamily="49" charset="-122"/>
              </a:rPr>
              <a:t>)</a:t>
            </a:r>
            <a:r>
              <a:rPr lang="zh-CN" altLang="en-US" sz="2800" dirty="0" smtClean="0">
                <a:ea typeface="黑体" panose="02010609060101010101" pitchFamily="49" charset="-122"/>
              </a:rPr>
              <a:t>，则必然要在某个时间和 </a:t>
            </a:r>
            <a:r>
              <a:rPr lang="en-US" altLang="zh-CN" sz="2800" dirty="0" smtClean="0">
                <a:ea typeface="黑体" panose="02010609060101010101" pitchFamily="49" charset="-122"/>
              </a:rPr>
              <a:t>A </a:t>
            </a:r>
            <a:r>
              <a:rPr lang="zh-CN" altLang="en-US" sz="2800" dirty="0" smtClean="0">
                <a:ea typeface="黑体" panose="02010609060101010101" pitchFamily="49" charset="-122"/>
              </a:rPr>
              <a:t>发送的帧发生碰撞。</a:t>
            </a:r>
          </a:p>
          <a:p>
            <a:r>
              <a:rPr lang="zh-CN" altLang="en-US" sz="2800" dirty="0" smtClean="0">
                <a:ea typeface="黑体" panose="02010609060101010101" pitchFamily="49" charset="-122"/>
              </a:rPr>
              <a:t>碰撞的结果是两个帧都变得无用。</a:t>
            </a:r>
            <a:endParaRPr lang="en-US" altLang="zh-CN" sz="2800" dirty="0" smtClean="0">
              <a:ea typeface="黑体" panose="02010609060101010101" pitchFamily="49" charset="-122"/>
            </a:endParaRPr>
          </a:p>
          <a:p>
            <a:r>
              <a:rPr lang="zh-CN" altLang="en-US" sz="2800" dirty="0" smtClean="0">
                <a:solidFill>
                  <a:srgbClr val="FF0000"/>
                </a:solidFill>
                <a:ea typeface="黑体" panose="02010609060101010101" pitchFamily="49" charset="-122"/>
              </a:rPr>
              <a:t>所以需要在发送期间进行碰撞检测，以检测冲突。  </a:t>
            </a:r>
          </a:p>
        </p:txBody>
      </p:sp>
      <p:sp>
        <p:nvSpPr>
          <p:cNvPr id="5324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C7DC1D-0711-4E7D-A8A4-61A0A99E7D48}" type="slidenum">
              <a:rPr lang="zh-CN" altLang="en-US" smtClean="0"/>
              <a:pPr eaLnBrk="1" hangingPunct="1"/>
              <a:t>21</a:t>
            </a:fld>
            <a:endParaRPr lang="en-US" altLang="zh-CN" smtClean="0"/>
          </a:p>
        </p:txBody>
      </p:sp>
      <p:sp>
        <p:nvSpPr>
          <p:cNvPr id="5324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16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16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165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11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29" name="Line 2"/>
          <p:cNvSpPr>
            <a:spLocks noChangeShapeType="1"/>
          </p:cNvSpPr>
          <p:nvPr/>
        </p:nvSpPr>
        <p:spPr bwMode="auto">
          <a:xfrm>
            <a:off x="2181225" y="2055813"/>
            <a:ext cx="5049838" cy="0"/>
          </a:xfrm>
          <a:prstGeom prst="line">
            <a:avLst/>
          </a:prstGeom>
          <a:noFill/>
          <a:ln w="5715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30" name="Line 3"/>
          <p:cNvSpPr>
            <a:spLocks noChangeShapeType="1"/>
          </p:cNvSpPr>
          <p:nvPr/>
        </p:nvSpPr>
        <p:spPr bwMode="auto">
          <a:xfrm>
            <a:off x="2174875" y="1766888"/>
            <a:ext cx="5062538"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31" name="Rectangle 4"/>
          <p:cNvSpPr>
            <a:spLocks noChangeArrowheads="1"/>
          </p:cNvSpPr>
          <p:nvPr/>
        </p:nvSpPr>
        <p:spPr bwMode="auto">
          <a:xfrm>
            <a:off x="4198938" y="1557338"/>
            <a:ext cx="708025"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1 km</a:t>
            </a:r>
          </a:p>
        </p:txBody>
      </p:sp>
      <p:sp>
        <p:nvSpPr>
          <p:cNvPr id="534532" name="Line 5"/>
          <p:cNvSpPr>
            <a:spLocks noChangeShapeType="1"/>
          </p:cNvSpPr>
          <p:nvPr/>
        </p:nvSpPr>
        <p:spPr bwMode="auto">
          <a:xfrm>
            <a:off x="2168525" y="2060575"/>
            <a:ext cx="0" cy="18081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2678" name="Line 6"/>
          <p:cNvSpPr>
            <a:spLocks noChangeShapeType="1"/>
          </p:cNvSpPr>
          <p:nvPr/>
        </p:nvSpPr>
        <p:spPr bwMode="auto">
          <a:xfrm>
            <a:off x="2174875" y="2060575"/>
            <a:ext cx="5035550" cy="868363"/>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34" name="Rectangle 7"/>
          <p:cNvSpPr>
            <a:spLocks noChangeArrowheads="1"/>
          </p:cNvSpPr>
          <p:nvPr/>
        </p:nvSpPr>
        <p:spPr bwMode="auto">
          <a:xfrm>
            <a:off x="1790700" y="1558925"/>
            <a:ext cx="4429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000099"/>
                </a:solidFill>
                <a:ea typeface="黑体" panose="02010609060101010101" pitchFamily="49" charset="-122"/>
              </a:rPr>
              <a:t>A</a:t>
            </a:r>
          </a:p>
        </p:txBody>
      </p:sp>
      <p:sp>
        <p:nvSpPr>
          <p:cNvPr id="534535" name="Rectangle 8"/>
          <p:cNvSpPr>
            <a:spLocks noChangeArrowheads="1"/>
          </p:cNvSpPr>
          <p:nvPr/>
        </p:nvSpPr>
        <p:spPr bwMode="auto">
          <a:xfrm>
            <a:off x="7189788" y="1558925"/>
            <a:ext cx="441325"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000099"/>
                </a:solidFill>
                <a:ea typeface="黑体" panose="02010609060101010101" pitchFamily="49" charset="-122"/>
              </a:rPr>
              <a:t>B</a:t>
            </a:r>
          </a:p>
        </p:txBody>
      </p:sp>
      <p:sp>
        <p:nvSpPr>
          <p:cNvPr id="534536" name="Line 9"/>
          <p:cNvSpPr>
            <a:spLocks noChangeShapeType="1"/>
          </p:cNvSpPr>
          <p:nvPr/>
        </p:nvSpPr>
        <p:spPr bwMode="auto">
          <a:xfrm flipH="1">
            <a:off x="2041525" y="2403475"/>
            <a:ext cx="6350" cy="1090613"/>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37" name="Rectangle 10"/>
          <p:cNvSpPr>
            <a:spLocks noChangeArrowheads="1"/>
          </p:cNvSpPr>
          <p:nvPr/>
        </p:nvSpPr>
        <p:spPr bwMode="auto">
          <a:xfrm>
            <a:off x="1804988" y="2735263"/>
            <a:ext cx="2587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i="1">
                <a:solidFill>
                  <a:srgbClr val="000099"/>
                </a:solidFill>
                <a:ea typeface="黑体" panose="02010609060101010101" pitchFamily="49" charset="-122"/>
              </a:rPr>
              <a:t>t</a:t>
            </a:r>
          </a:p>
        </p:txBody>
      </p:sp>
      <p:sp>
        <p:nvSpPr>
          <p:cNvPr id="534538" name="Line 11"/>
          <p:cNvSpPr>
            <a:spLocks noChangeShapeType="1"/>
          </p:cNvSpPr>
          <p:nvPr/>
        </p:nvSpPr>
        <p:spPr bwMode="auto">
          <a:xfrm>
            <a:off x="7231063" y="2049463"/>
            <a:ext cx="0" cy="14843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2684" name="Line 12"/>
          <p:cNvSpPr>
            <a:spLocks noChangeShapeType="1"/>
          </p:cNvSpPr>
          <p:nvPr/>
        </p:nvSpPr>
        <p:spPr bwMode="auto">
          <a:xfrm flipH="1">
            <a:off x="2168525" y="2763838"/>
            <a:ext cx="5059363" cy="879475"/>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412685" name="Group 13"/>
          <p:cNvGrpSpPr>
            <a:grpSpLocks/>
          </p:cNvGrpSpPr>
          <p:nvPr/>
        </p:nvGrpSpPr>
        <p:grpSpPr bwMode="auto">
          <a:xfrm>
            <a:off x="5313030" y="1285874"/>
            <a:ext cx="1756256" cy="1563689"/>
            <a:chOff x="3364" y="411"/>
            <a:chExt cx="608" cy="500"/>
          </a:xfrm>
        </p:grpSpPr>
        <p:sp>
          <p:nvSpPr>
            <p:cNvPr id="534541" name="Line 14"/>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4542" name="AutoShape 15"/>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dirty="0" smtClean="0">
                  <a:solidFill>
                    <a:srgbClr val="000099"/>
                  </a:solidFill>
                  <a:ea typeface="黑体" panose="02010609060101010101" pitchFamily="49" charset="-122"/>
                </a:rPr>
                <a:t>碰撞</a:t>
              </a:r>
              <a:endParaRPr lang="en-US" altLang="zh-CN" b="1" dirty="0" smtClean="0">
                <a:solidFill>
                  <a:srgbClr val="000099"/>
                </a:solidFill>
                <a:ea typeface="黑体" panose="02010609060101010101" pitchFamily="49" charset="-122"/>
              </a:endParaRPr>
            </a:p>
            <a:p>
              <a:pPr algn="ctr"/>
              <a:r>
                <a:rPr lang="en-US" altLang="zh-CN" b="1" i="1" dirty="0" smtClean="0">
                  <a:solidFill>
                    <a:srgbClr val="000099"/>
                  </a:solidFill>
                  <a:ea typeface="黑体" panose="02010609060101010101" pitchFamily="49" charset="-122"/>
                </a:rPr>
                <a:t>t</a:t>
              </a:r>
              <a:r>
                <a:rPr lang="en-US" altLang="zh-CN" b="1" dirty="0" smtClean="0">
                  <a:solidFill>
                    <a:srgbClr val="000099"/>
                  </a:solidFill>
                  <a:ea typeface="黑体" panose="02010609060101010101" pitchFamily="49" charset="-122"/>
                </a:rPr>
                <a:t>= </a:t>
              </a:r>
              <a:r>
                <a:rPr lang="en-US" altLang="zh-CN" b="1" dirty="0">
                  <a:solidFill>
                    <a:srgbClr val="000099"/>
                  </a:solidFill>
                  <a:ea typeface="黑体" panose="02010609060101010101" pitchFamily="49" charset="-122"/>
                  <a:sym typeface="Symbol" panose="05050102010706020507" pitchFamily="18" charset="2"/>
                </a:rPr>
                <a:t></a:t>
              </a:r>
              <a:r>
                <a:rPr lang="en-US" altLang="zh-CN" b="1" dirty="0">
                  <a:solidFill>
                    <a:srgbClr val="000099"/>
                  </a:solidFill>
                  <a:ea typeface="黑体" panose="02010609060101010101" pitchFamily="49" charset="-122"/>
                </a:rPr>
                <a:t> </a:t>
              </a:r>
              <a:r>
                <a:rPr lang="en-US" altLang="zh-CN" b="1" dirty="0">
                  <a:solidFill>
                    <a:srgbClr val="000099"/>
                  </a:solidFill>
                  <a:ea typeface="黑体" panose="02010609060101010101" pitchFamily="49" charset="-122"/>
                  <a:sym typeface="Symbol" panose="05050102010706020507" pitchFamily="18" charset="2"/>
                </a:rPr>
                <a:t> </a:t>
              </a:r>
              <a:r>
                <a:rPr lang="en-US" altLang="zh-CN" b="1" dirty="0" smtClean="0">
                  <a:solidFill>
                    <a:srgbClr val="000099"/>
                  </a:solidFill>
                  <a:ea typeface="黑体" panose="02010609060101010101" pitchFamily="49" charset="-122"/>
                  <a:sym typeface="Symbol" panose="05050102010706020507" pitchFamily="18" charset="2"/>
                </a:rPr>
                <a:t>/2</a:t>
              </a:r>
              <a:endParaRPr lang="zh-CN" altLang="en-US" b="1" dirty="0">
                <a:solidFill>
                  <a:srgbClr val="000099"/>
                </a:solidFill>
                <a:ea typeface="黑体" panose="02010609060101010101" pitchFamily="49" charset="-122"/>
              </a:endParaRPr>
            </a:p>
          </p:txBody>
        </p:sp>
      </p:grpSp>
      <p:grpSp>
        <p:nvGrpSpPr>
          <p:cNvPr id="412688" name="Group 16"/>
          <p:cNvGrpSpPr>
            <a:grpSpLocks/>
          </p:cNvGrpSpPr>
          <p:nvPr/>
        </p:nvGrpSpPr>
        <p:grpSpPr bwMode="auto">
          <a:xfrm>
            <a:off x="385763" y="3417888"/>
            <a:ext cx="4344987" cy="1176337"/>
            <a:chOff x="158" y="1269"/>
            <a:chExt cx="2527" cy="741"/>
          </a:xfrm>
        </p:grpSpPr>
        <p:sp>
          <p:nvSpPr>
            <p:cNvPr id="534544" name="Text Box 17"/>
            <p:cNvSpPr txBox="1">
              <a:spLocks noChangeArrowheads="1"/>
            </p:cNvSpPr>
            <p:nvPr/>
          </p:nvSpPr>
          <p:spPr bwMode="auto">
            <a:xfrm>
              <a:off x="158" y="1269"/>
              <a:ext cx="65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2</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p>
          </p:txBody>
        </p:sp>
        <p:sp>
          <p:nvSpPr>
            <p:cNvPr id="534545" name="Line 18"/>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534546" name="Group 19"/>
            <p:cNvGrpSpPr>
              <a:grpSpLocks/>
            </p:cNvGrpSpPr>
            <p:nvPr/>
          </p:nvGrpSpPr>
          <p:grpSpPr bwMode="auto">
            <a:xfrm>
              <a:off x="1264" y="1738"/>
              <a:ext cx="1421" cy="272"/>
              <a:chOff x="1264" y="1738"/>
              <a:chExt cx="1421" cy="272"/>
            </a:xfrm>
          </p:grpSpPr>
          <p:sp>
            <p:nvSpPr>
              <p:cNvPr id="534547" name="AutoShape 20"/>
              <p:cNvSpPr>
                <a:spLocks noChangeArrowheads="1"/>
              </p:cNvSpPr>
              <p:nvPr/>
            </p:nvSpPr>
            <p:spPr bwMode="auto">
              <a:xfrm>
                <a:off x="1264" y="1738"/>
                <a:ext cx="1406" cy="272"/>
              </a:xfrm>
              <a:prstGeom prst="wedgeRoundRectCallout">
                <a:avLst>
                  <a:gd name="adj1" fmla="val -52986"/>
                  <a:gd name="adj2" fmla="val -161329"/>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4548" name="Text Box 21"/>
              <p:cNvSpPr txBox="1">
                <a:spLocks noChangeArrowheads="1"/>
              </p:cNvSpPr>
              <p:nvPr/>
            </p:nvSpPr>
            <p:spPr bwMode="auto">
              <a:xfrm>
                <a:off x="1298" y="1770"/>
                <a:ext cx="138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检测到发生碰撞</a:t>
                </a:r>
              </a:p>
            </p:txBody>
          </p:sp>
        </p:grpSp>
      </p:grpSp>
      <p:grpSp>
        <p:nvGrpSpPr>
          <p:cNvPr id="412694" name="Group 22"/>
          <p:cNvGrpSpPr>
            <a:grpSpLocks/>
          </p:cNvGrpSpPr>
          <p:nvPr/>
        </p:nvGrpSpPr>
        <p:grpSpPr bwMode="auto">
          <a:xfrm>
            <a:off x="7280275" y="1936750"/>
            <a:ext cx="1998663" cy="942975"/>
            <a:chOff x="4167" y="336"/>
            <a:chExt cx="1162" cy="594"/>
          </a:xfrm>
        </p:grpSpPr>
        <p:grpSp>
          <p:nvGrpSpPr>
            <p:cNvPr id="534550" name="Group 23"/>
            <p:cNvGrpSpPr>
              <a:grpSpLocks/>
            </p:cNvGrpSpPr>
            <p:nvPr/>
          </p:nvGrpSpPr>
          <p:grpSpPr bwMode="auto">
            <a:xfrm>
              <a:off x="4167" y="697"/>
              <a:ext cx="922" cy="233"/>
              <a:chOff x="4167" y="697"/>
              <a:chExt cx="922" cy="233"/>
            </a:xfrm>
          </p:grpSpPr>
          <p:sp>
            <p:nvSpPr>
              <p:cNvPr id="534551" name="Line 24"/>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4552" name="Text Box 25"/>
              <p:cNvSpPr txBox="1">
                <a:spLocks noChangeArrowheads="1"/>
              </p:cNvSpPr>
              <p:nvPr/>
            </p:nvSpPr>
            <p:spPr bwMode="auto">
              <a:xfrm>
                <a:off x="4411" y="697"/>
                <a:ext cx="67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dirty="0">
                    <a:solidFill>
                      <a:srgbClr val="000099"/>
                    </a:solidFill>
                    <a:ea typeface="黑体" panose="02010609060101010101" pitchFamily="49" charset="-122"/>
                  </a:rPr>
                  <a:t>  t</a:t>
                </a:r>
                <a:r>
                  <a:rPr lang="en-US" altLang="zh-CN" b="1" dirty="0">
                    <a:solidFill>
                      <a:srgbClr val="000099"/>
                    </a:solidFill>
                    <a:ea typeface="黑体" panose="02010609060101010101" pitchFamily="49" charset="-122"/>
                  </a:rPr>
                  <a:t> = </a:t>
                </a:r>
                <a:r>
                  <a:rPr lang="en-US" altLang="zh-CN" b="1" dirty="0">
                    <a:solidFill>
                      <a:srgbClr val="000099"/>
                    </a:solidFill>
                    <a:ea typeface="黑体" panose="02010609060101010101" pitchFamily="49" charset="-122"/>
                    <a:sym typeface="Symbol" panose="05050102010706020507" pitchFamily="18" charset="2"/>
                  </a:rPr>
                  <a:t></a:t>
                </a:r>
                <a:r>
                  <a:rPr lang="en-US" altLang="zh-CN" b="1" dirty="0">
                    <a:solidFill>
                      <a:srgbClr val="000099"/>
                    </a:solidFill>
                    <a:ea typeface="黑体" panose="02010609060101010101" pitchFamily="49" charset="-122"/>
                  </a:rPr>
                  <a:t> </a:t>
                </a:r>
                <a:r>
                  <a:rPr lang="en-US" altLang="zh-CN" b="1" dirty="0">
                    <a:solidFill>
                      <a:srgbClr val="000099"/>
                    </a:solidFill>
                    <a:ea typeface="黑体" panose="02010609060101010101" pitchFamily="49" charset="-122"/>
                    <a:sym typeface="Symbol" panose="05050102010706020507" pitchFamily="18" charset="2"/>
                  </a:rPr>
                  <a:t> </a:t>
                </a:r>
                <a:r>
                  <a:rPr lang="en-US" altLang="zh-CN" b="1" baseline="30000" dirty="0">
                    <a:solidFill>
                      <a:srgbClr val="000099"/>
                    </a:solidFill>
                    <a:ea typeface="黑体" panose="02010609060101010101" pitchFamily="49" charset="-122"/>
                  </a:rPr>
                  <a:t> </a:t>
                </a:r>
              </a:p>
            </p:txBody>
          </p:sp>
        </p:grpSp>
        <p:grpSp>
          <p:nvGrpSpPr>
            <p:cNvPr id="534553" name="Group 26"/>
            <p:cNvGrpSpPr>
              <a:grpSpLocks/>
            </p:cNvGrpSpPr>
            <p:nvPr/>
          </p:nvGrpSpPr>
          <p:grpSpPr bwMode="auto">
            <a:xfrm>
              <a:off x="4286" y="336"/>
              <a:ext cx="1043" cy="256"/>
              <a:chOff x="4286" y="336"/>
              <a:chExt cx="1043" cy="256"/>
            </a:xfrm>
          </p:grpSpPr>
          <p:sp>
            <p:nvSpPr>
              <p:cNvPr id="534554" name="AutoShape 27"/>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4555" name="Text Box 28"/>
              <p:cNvSpPr txBox="1">
                <a:spLocks noChangeArrowheads="1"/>
              </p:cNvSpPr>
              <p:nvPr/>
            </p:nvSpPr>
            <p:spPr bwMode="auto">
              <a:xfrm>
                <a:off x="4286" y="336"/>
                <a:ext cx="8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  B </a:t>
                </a:r>
                <a:r>
                  <a:rPr lang="zh-CN" altLang="en-US" b="1">
                    <a:solidFill>
                      <a:srgbClr val="000099"/>
                    </a:solidFill>
                    <a:ea typeface="黑体" panose="02010609060101010101" pitchFamily="49" charset="-122"/>
                  </a:rPr>
                  <a:t>发送数据</a:t>
                </a:r>
              </a:p>
            </p:txBody>
          </p:sp>
        </p:grpSp>
      </p:grpSp>
      <p:grpSp>
        <p:nvGrpSpPr>
          <p:cNvPr id="412701" name="Group 29"/>
          <p:cNvGrpSpPr>
            <a:grpSpLocks/>
          </p:cNvGrpSpPr>
          <p:nvPr/>
        </p:nvGrpSpPr>
        <p:grpSpPr bwMode="auto">
          <a:xfrm>
            <a:off x="4519613" y="2776538"/>
            <a:ext cx="3932237" cy="1006475"/>
            <a:chOff x="2562" y="865"/>
            <a:chExt cx="2286" cy="634"/>
          </a:xfrm>
        </p:grpSpPr>
        <p:grpSp>
          <p:nvGrpSpPr>
            <p:cNvPr id="534557" name="Group 30"/>
            <p:cNvGrpSpPr>
              <a:grpSpLocks/>
            </p:cNvGrpSpPr>
            <p:nvPr/>
          </p:nvGrpSpPr>
          <p:grpSpPr bwMode="auto">
            <a:xfrm>
              <a:off x="2562" y="1240"/>
              <a:ext cx="1546" cy="259"/>
              <a:chOff x="2562" y="1240"/>
              <a:chExt cx="1546" cy="259"/>
            </a:xfrm>
          </p:grpSpPr>
          <p:sp>
            <p:nvSpPr>
              <p:cNvPr id="534558" name="AutoShape 31"/>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4559" name="Text Box 32"/>
              <p:cNvSpPr txBox="1">
                <a:spLocks noChangeArrowheads="1"/>
              </p:cNvSpPr>
              <p:nvPr/>
            </p:nvSpPr>
            <p:spPr bwMode="auto">
              <a:xfrm>
                <a:off x="2562" y="1240"/>
                <a:ext cx="15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检测到发生碰撞</a:t>
                </a:r>
              </a:p>
            </p:txBody>
          </p:sp>
        </p:grpSp>
        <p:sp>
          <p:nvSpPr>
            <p:cNvPr id="534560" name="Line 33"/>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4561" name="Text Box 34"/>
            <p:cNvSpPr txBox="1">
              <a:spLocks noChangeArrowheads="1"/>
            </p:cNvSpPr>
            <p:nvPr/>
          </p:nvSpPr>
          <p:spPr bwMode="auto">
            <a:xfrm>
              <a:off x="4410" y="865"/>
              <a:ext cx="4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  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p>
          </p:txBody>
        </p:sp>
      </p:grpSp>
      <p:sp>
        <p:nvSpPr>
          <p:cNvPr id="534562" name="Text Box 35"/>
          <p:cNvSpPr txBox="1">
            <a:spLocks noChangeArrowheads="1"/>
          </p:cNvSpPr>
          <p:nvPr/>
        </p:nvSpPr>
        <p:spPr bwMode="auto">
          <a:xfrm>
            <a:off x="958850" y="1851025"/>
            <a:ext cx="6524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0</a:t>
            </a:r>
            <a:endParaRPr lang="en-US" altLang="zh-CN" b="1" baseline="30000">
              <a:solidFill>
                <a:srgbClr val="000099"/>
              </a:solidFill>
              <a:ea typeface="黑体" panose="02010609060101010101" pitchFamily="49" charset="-122"/>
            </a:endParaRPr>
          </a:p>
        </p:txBody>
      </p:sp>
      <p:sp>
        <p:nvSpPr>
          <p:cNvPr id="534563" name="Line 36"/>
          <p:cNvSpPr>
            <a:spLocks noChangeShapeType="1"/>
          </p:cNvSpPr>
          <p:nvPr/>
        </p:nvSpPr>
        <p:spPr bwMode="auto">
          <a:xfrm>
            <a:off x="1684338" y="2055813"/>
            <a:ext cx="446087"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4564" name="Text Box 37"/>
          <p:cNvSpPr txBox="1">
            <a:spLocks noChangeArrowheads="1"/>
          </p:cNvSpPr>
          <p:nvPr/>
        </p:nvSpPr>
        <p:spPr bwMode="auto">
          <a:xfrm>
            <a:off x="7373938" y="3184525"/>
            <a:ext cx="23320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dirty="0">
                <a:solidFill>
                  <a:srgbClr val="FF0000"/>
                </a:solidFill>
                <a:ea typeface="黑体" panose="02010609060101010101" pitchFamily="49" charset="-122"/>
              </a:rPr>
              <a:t>单程端到端</a:t>
            </a:r>
          </a:p>
          <a:p>
            <a:pPr algn="ctr" eaLnBrk="0" hangingPunct="0"/>
            <a:r>
              <a:rPr lang="zh-CN" altLang="en-US" sz="2400" b="1" dirty="0">
                <a:solidFill>
                  <a:srgbClr val="FF0000"/>
                </a:solidFill>
                <a:ea typeface="黑体" panose="02010609060101010101" pitchFamily="49" charset="-122"/>
              </a:rPr>
              <a:t>传播时延记为 </a:t>
            </a:r>
            <a:r>
              <a:rPr lang="zh-CN" altLang="en-US" sz="2400" b="1" i="1" dirty="0">
                <a:solidFill>
                  <a:srgbClr val="FF0000"/>
                </a:solidFill>
                <a:ea typeface="黑体" panose="02010609060101010101" pitchFamily="49" charset="-122"/>
                <a:sym typeface="Symbol" panose="05050102010706020507" pitchFamily="18" charset="2"/>
              </a:rPr>
              <a:t></a:t>
            </a:r>
            <a:r>
              <a:rPr lang="zh-CN" altLang="en-US" sz="2400" b="1" dirty="0">
                <a:solidFill>
                  <a:srgbClr val="FF0000"/>
                </a:solidFill>
                <a:ea typeface="黑体" panose="02010609060101010101" pitchFamily="49" charset="-122"/>
              </a:rPr>
              <a:t> </a:t>
            </a:r>
          </a:p>
        </p:txBody>
      </p:sp>
      <p:sp>
        <p:nvSpPr>
          <p:cNvPr id="534565" name="标题 1"/>
          <p:cNvSpPr>
            <a:spLocks noGrp="1" noChangeArrowheads="1"/>
          </p:cNvSpPr>
          <p:nvPr>
            <p:ph type="title"/>
          </p:nvPr>
        </p:nvSpPr>
        <p:spPr/>
        <p:txBody>
          <a:bodyPr/>
          <a:lstStyle/>
          <a:p>
            <a:pPr algn="ctr"/>
            <a:r>
              <a:rPr lang="zh-CN" altLang="en-US" sz="4000" smtClean="0">
                <a:ea typeface="黑体" panose="02010609060101010101" pitchFamily="49" charset="-122"/>
              </a:rPr>
              <a:t>信号传播时延对载波监听的影响 </a:t>
            </a:r>
          </a:p>
        </p:txBody>
      </p:sp>
      <p:sp>
        <p:nvSpPr>
          <p:cNvPr id="534566" name="TextBox 3"/>
          <p:cNvSpPr txBox="1">
            <a:spLocks noChangeArrowheads="1"/>
          </p:cNvSpPr>
          <p:nvPr/>
        </p:nvSpPr>
        <p:spPr bwMode="auto">
          <a:xfrm>
            <a:off x="1814513" y="4959350"/>
            <a:ext cx="7265987" cy="954088"/>
          </a:xfrm>
          <a:prstGeom prst="rect">
            <a:avLst/>
          </a:prstGeom>
          <a:solidFill>
            <a:srgbClr val="FFFF66"/>
          </a:solidFill>
          <a:ln w="9525">
            <a:solidFill>
              <a:srgbClr val="000099"/>
            </a:solidFill>
            <a:round/>
            <a:headEnd/>
            <a:tailEnd/>
          </a:ln>
        </p:spPr>
        <p:txBody>
          <a:bodyPr>
            <a:spAutoFit/>
          </a:bodyPr>
          <a:lstStyle/>
          <a:p>
            <a:pPr algn="ctr" eaLnBrk="0" hangingPunct="0"/>
            <a:r>
              <a:rPr lang="en-US" altLang="zh-CN" sz="2800" b="1">
                <a:solidFill>
                  <a:srgbClr val="000066"/>
                </a:solidFill>
                <a:ea typeface="黑体" panose="02010609060101010101" pitchFamily="49" charset="-122"/>
              </a:rPr>
              <a:t>A</a:t>
            </a:r>
            <a:r>
              <a:rPr lang="zh-CN" altLang="en-US" sz="2800" b="1">
                <a:solidFill>
                  <a:srgbClr val="000066"/>
                </a:solidFill>
                <a:ea typeface="黑体" panose="02010609060101010101" pitchFamily="49" charset="-122"/>
              </a:rPr>
              <a:t>需要单程传播时延的 </a:t>
            </a:r>
            <a:r>
              <a:rPr lang="en-US" altLang="zh-CN" sz="2800" b="1">
                <a:solidFill>
                  <a:srgbClr val="000066"/>
                </a:solidFill>
                <a:ea typeface="黑体" panose="02010609060101010101" pitchFamily="49" charset="-122"/>
              </a:rPr>
              <a:t>2 </a:t>
            </a:r>
            <a:r>
              <a:rPr lang="zh-CN" altLang="en-US" sz="2800" b="1">
                <a:solidFill>
                  <a:srgbClr val="000066"/>
                </a:solidFill>
                <a:ea typeface="黑体" panose="02010609060101010101" pitchFamily="49" charset="-122"/>
              </a:rPr>
              <a:t>倍的时间，</a:t>
            </a:r>
            <a:endParaRPr lang="en-US" altLang="zh-CN" sz="2800" b="1">
              <a:solidFill>
                <a:srgbClr val="000066"/>
              </a:solidFill>
              <a:ea typeface="黑体" panose="02010609060101010101" pitchFamily="49" charset="-122"/>
            </a:endParaRPr>
          </a:p>
          <a:p>
            <a:pPr algn="ctr" eaLnBrk="0" hangingPunct="0"/>
            <a:r>
              <a:rPr lang="zh-CN" altLang="en-US" sz="2800" b="1">
                <a:solidFill>
                  <a:srgbClr val="000066"/>
                </a:solidFill>
                <a:ea typeface="黑体" panose="02010609060101010101" pitchFamily="49" charset="-122"/>
              </a:rPr>
              <a:t>才能检测到与 </a:t>
            </a:r>
            <a:r>
              <a:rPr lang="en-US" altLang="zh-CN" sz="2800" b="1">
                <a:solidFill>
                  <a:srgbClr val="000066"/>
                </a:solidFill>
                <a:ea typeface="黑体" panose="02010609060101010101" pitchFamily="49" charset="-122"/>
              </a:rPr>
              <a:t>B </a:t>
            </a:r>
            <a:r>
              <a:rPr lang="zh-CN" altLang="en-US" sz="2800" b="1">
                <a:solidFill>
                  <a:srgbClr val="000066"/>
                </a:solidFill>
                <a:ea typeface="黑体" panose="02010609060101010101" pitchFamily="49" charset="-122"/>
              </a:rPr>
              <a:t>的发送产生了冲突</a:t>
            </a:r>
          </a:p>
        </p:txBody>
      </p:sp>
      <p:sp>
        <p:nvSpPr>
          <p:cNvPr id="53456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6CEF7D-BE49-48B4-865C-56551E52E6C5}" type="slidenum">
              <a:rPr lang="zh-CN" altLang="en-US" smtClean="0"/>
              <a:pPr eaLnBrk="1" hangingPunct="1"/>
              <a:t>22</a:t>
            </a:fld>
            <a:endParaRPr lang="en-US" altLang="zh-CN" smtClean="0"/>
          </a:p>
        </p:txBody>
      </p:sp>
      <p:sp>
        <p:nvSpPr>
          <p:cNvPr id="53456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2678"/>
                                        </p:tgtEl>
                                        <p:attrNameLst>
                                          <p:attrName>style.visibility</p:attrName>
                                        </p:attrNameLst>
                                      </p:cBhvr>
                                      <p:to>
                                        <p:strVal val="visible"/>
                                      </p:to>
                                    </p:set>
                                    <p:animEffect transition="in" filter="wipe(left)">
                                      <p:cBhvr>
                                        <p:cTn id="7" dur="5000"/>
                                        <p:tgtEl>
                                          <p:spTgt spid="412678"/>
                                        </p:tgtEl>
                                      </p:cBhvr>
                                    </p:animEffect>
                                  </p:childTnLst>
                                </p:cTn>
                              </p:par>
                              <p:par>
                                <p:cTn id="8" presetID="22" presetClass="entr" presetSubtype="2" fill="hold" grpId="0" nodeType="withEffect">
                                  <p:stCondLst>
                                    <p:cond delay="4000"/>
                                  </p:stCondLst>
                                  <p:childTnLst>
                                    <p:set>
                                      <p:cBhvr>
                                        <p:cTn id="9" dur="1" fill="hold">
                                          <p:stCondLst>
                                            <p:cond delay="0"/>
                                          </p:stCondLst>
                                        </p:cTn>
                                        <p:tgtEl>
                                          <p:spTgt spid="412684"/>
                                        </p:tgtEl>
                                        <p:attrNameLst>
                                          <p:attrName>style.visibility</p:attrName>
                                        </p:attrNameLst>
                                      </p:cBhvr>
                                      <p:to>
                                        <p:strVal val="visible"/>
                                      </p:to>
                                    </p:set>
                                    <p:animEffect transition="in" filter="wipe(right)">
                                      <p:cBhvr>
                                        <p:cTn id="10" dur="5000"/>
                                        <p:tgtEl>
                                          <p:spTgt spid="412684"/>
                                        </p:tgtEl>
                                      </p:cBhvr>
                                    </p:animEffect>
                                  </p:childTnLst>
                                </p:cTn>
                              </p:par>
                              <p:par>
                                <p:cTn id="11" presetID="1" presetClass="entr" presetSubtype="0" fill="hold" nodeType="withEffect">
                                  <p:stCondLst>
                                    <p:cond delay="4000"/>
                                  </p:stCondLst>
                                  <p:childTnLst>
                                    <p:set>
                                      <p:cBhvr>
                                        <p:cTn id="12" dur="1" fill="hold">
                                          <p:stCondLst>
                                            <p:cond delay="0"/>
                                          </p:stCondLst>
                                        </p:cTn>
                                        <p:tgtEl>
                                          <p:spTgt spid="412694"/>
                                        </p:tgtEl>
                                        <p:attrNameLst>
                                          <p:attrName>style.visibility</p:attrName>
                                        </p:attrNameLst>
                                      </p:cBhvr>
                                      <p:to>
                                        <p:strVal val="visible"/>
                                      </p:to>
                                    </p:set>
                                  </p:childTnLst>
                                </p:cTn>
                              </p:par>
                              <p:par>
                                <p:cTn id="13" presetID="1" presetClass="entr" presetSubtype="0" fill="hold" nodeType="withEffect">
                                  <p:stCondLst>
                                    <p:cond delay="4500"/>
                                  </p:stCondLst>
                                  <p:childTnLst>
                                    <p:set>
                                      <p:cBhvr>
                                        <p:cTn id="14" dur="1" fill="hold">
                                          <p:stCondLst>
                                            <p:cond delay="0"/>
                                          </p:stCondLst>
                                        </p:cTn>
                                        <p:tgtEl>
                                          <p:spTgt spid="412685"/>
                                        </p:tgtEl>
                                        <p:attrNameLst>
                                          <p:attrName>style.visibility</p:attrName>
                                        </p:attrNameLst>
                                      </p:cBhvr>
                                      <p:to>
                                        <p:strVal val="visible"/>
                                      </p:to>
                                    </p:set>
                                  </p:childTnLst>
                                </p:cTn>
                              </p:par>
                              <p:par>
                                <p:cTn id="15" presetID="1" presetClass="entr" presetSubtype="0" fill="hold" nodeType="withEffect">
                                  <p:stCondLst>
                                    <p:cond delay="5000"/>
                                  </p:stCondLst>
                                  <p:childTnLst>
                                    <p:set>
                                      <p:cBhvr>
                                        <p:cTn id="16" dur="1" fill="hold">
                                          <p:stCondLst>
                                            <p:cond delay="0"/>
                                          </p:stCondLst>
                                        </p:cTn>
                                        <p:tgtEl>
                                          <p:spTgt spid="412701"/>
                                        </p:tgtEl>
                                        <p:attrNameLst>
                                          <p:attrName>style.visibility</p:attrName>
                                        </p:attrNameLst>
                                      </p:cBhvr>
                                      <p:to>
                                        <p:strVal val="visible"/>
                                      </p:to>
                                    </p:set>
                                  </p:childTnLst>
                                </p:cTn>
                              </p:par>
                              <p:par>
                                <p:cTn id="17" presetID="1" presetClass="entr" presetSubtype="0" fill="hold" nodeType="withEffect">
                                  <p:stCondLst>
                                    <p:cond delay="9000"/>
                                  </p:stCondLst>
                                  <p:childTnLst>
                                    <p:set>
                                      <p:cBhvr>
                                        <p:cTn id="18" dur="1" fill="hold">
                                          <p:stCondLst>
                                            <p:cond delay="0"/>
                                          </p:stCondLst>
                                        </p:cTn>
                                        <p:tgtEl>
                                          <p:spTgt spid="412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8" grpId="0" animBg="1"/>
      <p:bldP spid="41268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5884863" y="5233988"/>
            <a:ext cx="1239837" cy="142875"/>
          </a:xfrm>
          <a:prstGeom prst="rect">
            <a:avLst/>
          </a:prstGeom>
          <a:solidFill>
            <a:srgbClr val="9966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3699" name="Rectangle 3"/>
          <p:cNvSpPr>
            <a:spLocks noChangeArrowheads="1"/>
          </p:cNvSpPr>
          <p:nvPr/>
        </p:nvSpPr>
        <p:spPr bwMode="auto">
          <a:xfrm>
            <a:off x="2373313" y="5018088"/>
            <a:ext cx="4751387" cy="142875"/>
          </a:xfrm>
          <a:prstGeom prst="rect">
            <a:avLst/>
          </a:prstGeom>
          <a:solidFill>
            <a:srgbClr val="FF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79" name="Line 4"/>
          <p:cNvSpPr>
            <a:spLocks noChangeShapeType="1"/>
          </p:cNvSpPr>
          <p:nvPr/>
        </p:nvSpPr>
        <p:spPr bwMode="auto">
          <a:xfrm>
            <a:off x="2181225" y="542925"/>
            <a:ext cx="5049838" cy="0"/>
          </a:xfrm>
          <a:prstGeom prst="line">
            <a:avLst/>
          </a:prstGeom>
          <a:noFill/>
          <a:ln w="5715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0" name="Line 5"/>
          <p:cNvSpPr>
            <a:spLocks noChangeShapeType="1"/>
          </p:cNvSpPr>
          <p:nvPr/>
        </p:nvSpPr>
        <p:spPr bwMode="auto">
          <a:xfrm>
            <a:off x="2174875" y="254000"/>
            <a:ext cx="5062538"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1" name="Rectangle 6"/>
          <p:cNvSpPr>
            <a:spLocks noChangeArrowheads="1"/>
          </p:cNvSpPr>
          <p:nvPr/>
        </p:nvSpPr>
        <p:spPr bwMode="auto">
          <a:xfrm>
            <a:off x="4198938" y="44450"/>
            <a:ext cx="708025"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1 km</a:t>
            </a:r>
          </a:p>
        </p:txBody>
      </p:sp>
      <p:sp>
        <p:nvSpPr>
          <p:cNvPr id="536582" name="Line 7"/>
          <p:cNvSpPr>
            <a:spLocks noChangeShapeType="1"/>
          </p:cNvSpPr>
          <p:nvPr/>
        </p:nvSpPr>
        <p:spPr bwMode="auto">
          <a:xfrm>
            <a:off x="2168525" y="547688"/>
            <a:ext cx="0" cy="18081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3" name="Line 8"/>
          <p:cNvSpPr>
            <a:spLocks noChangeShapeType="1"/>
          </p:cNvSpPr>
          <p:nvPr/>
        </p:nvSpPr>
        <p:spPr bwMode="auto">
          <a:xfrm>
            <a:off x="2174875" y="547688"/>
            <a:ext cx="5035550" cy="868362"/>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4" name="Rectangle 9"/>
          <p:cNvSpPr>
            <a:spLocks noChangeArrowheads="1"/>
          </p:cNvSpPr>
          <p:nvPr/>
        </p:nvSpPr>
        <p:spPr bwMode="auto">
          <a:xfrm>
            <a:off x="1892300" y="19843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A</a:t>
            </a:r>
          </a:p>
        </p:txBody>
      </p:sp>
      <p:sp>
        <p:nvSpPr>
          <p:cNvPr id="536585" name="Rectangle 10"/>
          <p:cNvSpPr>
            <a:spLocks noChangeArrowheads="1"/>
          </p:cNvSpPr>
          <p:nvPr/>
        </p:nvSpPr>
        <p:spPr bwMode="auto">
          <a:xfrm>
            <a:off x="7116763" y="19843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B</a:t>
            </a:r>
          </a:p>
        </p:txBody>
      </p:sp>
      <p:sp>
        <p:nvSpPr>
          <p:cNvPr id="536586" name="Line 11"/>
          <p:cNvSpPr>
            <a:spLocks noChangeShapeType="1"/>
          </p:cNvSpPr>
          <p:nvPr/>
        </p:nvSpPr>
        <p:spPr bwMode="auto">
          <a:xfrm flipH="1">
            <a:off x="2041525" y="890588"/>
            <a:ext cx="6350" cy="1090612"/>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7" name="Rectangle 12"/>
          <p:cNvSpPr>
            <a:spLocks noChangeArrowheads="1"/>
          </p:cNvSpPr>
          <p:nvPr/>
        </p:nvSpPr>
        <p:spPr bwMode="auto">
          <a:xfrm>
            <a:off x="1804988" y="1222375"/>
            <a:ext cx="2587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i="1">
                <a:solidFill>
                  <a:srgbClr val="000099"/>
                </a:solidFill>
                <a:ea typeface="黑体" panose="02010609060101010101" pitchFamily="49" charset="-122"/>
              </a:rPr>
              <a:t>t</a:t>
            </a:r>
          </a:p>
        </p:txBody>
      </p:sp>
      <p:sp>
        <p:nvSpPr>
          <p:cNvPr id="536588" name="Line 13"/>
          <p:cNvSpPr>
            <a:spLocks noChangeShapeType="1"/>
          </p:cNvSpPr>
          <p:nvPr/>
        </p:nvSpPr>
        <p:spPr bwMode="auto">
          <a:xfrm>
            <a:off x="7231063" y="536575"/>
            <a:ext cx="0" cy="148431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89" name="Line 14"/>
          <p:cNvSpPr>
            <a:spLocks noChangeShapeType="1"/>
          </p:cNvSpPr>
          <p:nvPr/>
        </p:nvSpPr>
        <p:spPr bwMode="auto">
          <a:xfrm flipH="1">
            <a:off x="2168525" y="1250950"/>
            <a:ext cx="5059363" cy="879475"/>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36590" name="Group 15"/>
          <p:cNvGrpSpPr>
            <a:grpSpLocks/>
          </p:cNvGrpSpPr>
          <p:nvPr/>
        </p:nvGrpSpPr>
        <p:grpSpPr bwMode="auto">
          <a:xfrm>
            <a:off x="5899150" y="542925"/>
            <a:ext cx="1046163" cy="793750"/>
            <a:chOff x="3364" y="411"/>
            <a:chExt cx="608" cy="500"/>
          </a:xfrm>
        </p:grpSpPr>
        <p:sp>
          <p:nvSpPr>
            <p:cNvPr id="536591" name="Line 16"/>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592" name="AutoShape 17"/>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99"/>
                  </a:solidFill>
                  <a:ea typeface="黑体" panose="02010609060101010101" pitchFamily="49" charset="-122"/>
                </a:rPr>
                <a:t>碰撞</a:t>
              </a:r>
            </a:p>
          </p:txBody>
        </p:sp>
      </p:grpSp>
      <p:sp>
        <p:nvSpPr>
          <p:cNvPr id="413714" name="Text Box 18"/>
          <p:cNvSpPr txBox="1">
            <a:spLocks noChangeArrowheads="1"/>
          </p:cNvSpPr>
          <p:nvPr/>
        </p:nvSpPr>
        <p:spPr bwMode="auto">
          <a:xfrm>
            <a:off x="7589838" y="3286125"/>
            <a:ext cx="2043112"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endParaRPr lang="en-US" altLang="zh-CN" b="1">
              <a:solidFill>
                <a:srgbClr val="000099"/>
              </a:solidFill>
              <a:ea typeface="黑体" panose="02010609060101010101" pitchFamily="49" charset="-122"/>
            </a:endParaRPr>
          </a:p>
          <a:p>
            <a:pPr eaLnBrk="0" hangingPunct="0">
              <a:lnSpc>
                <a:spcPct val="90000"/>
              </a:lnSpc>
            </a:pPr>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检测到信道空闲</a:t>
            </a:r>
          </a:p>
          <a:p>
            <a:pPr eaLnBrk="0" hangingPunct="0">
              <a:lnSpc>
                <a:spcPct val="90000"/>
              </a:lnSpc>
            </a:pPr>
            <a:r>
              <a:rPr lang="zh-CN" altLang="en-US" b="1">
                <a:solidFill>
                  <a:srgbClr val="000099"/>
                </a:solidFill>
                <a:ea typeface="黑体" panose="02010609060101010101" pitchFamily="49" charset="-122"/>
              </a:rPr>
              <a:t>发送数据</a:t>
            </a:r>
          </a:p>
        </p:txBody>
      </p:sp>
      <p:sp>
        <p:nvSpPr>
          <p:cNvPr id="413715" name="Text Box 19"/>
          <p:cNvSpPr txBox="1">
            <a:spLocks noChangeArrowheads="1"/>
          </p:cNvSpPr>
          <p:nvPr/>
        </p:nvSpPr>
        <p:spPr bwMode="auto">
          <a:xfrm>
            <a:off x="7589838" y="4102100"/>
            <a:ext cx="13160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 / 2</a:t>
            </a:r>
            <a:endParaRPr lang="en-US" altLang="zh-CN" b="1" baseline="30000">
              <a:solidFill>
                <a:srgbClr val="000099"/>
              </a:solidFill>
              <a:ea typeface="黑体" panose="02010609060101010101" pitchFamily="49" charset="-122"/>
            </a:endParaRPr>
          </a:p>
          <a:p>
            <a:pPr eaLnBrk="0" hangingPunct="0">
              <a:lnSpc>
                <a:spcPct val="90000"/>
              </a:lnSpc>
            </a:pPr>
            <a:r>
              <a:rPr lang="zh-CN" altLang="en-US" b="1">
                <a:solidFill>
                  <a:srgbClr val="000099"/>
                </a:solidFill>
                <a:ea typeface="黑体" panose="02010609060101010101" pitchFamily="49" charset="-122"/>
              </a:rPr>
              <a:t>发生碰撞</a:t>
            </a:r>
          </a:p>
        </p:txBody>
      </p:sp>
      <p:grpSp>
        <p:nvGrpSpPr>
          <p:cNvPr id="536595" name="Group 20"/>
          <p:cNvGrpSpPr>
            <a:grpSpLocks/>
          </p:cNvGrpSpPr>
          <p:nvPr/>
        </p:nvGrpSpPr>
        <p:grpSpPr bwMode="auto">
          <a:xfrm>
            <a:off x="385763" y="1087438"/>
            <a:ext cx="4291012" cy="1187450"/>
            <a:chOff x="158" y="754"/>
            <a:chExt cx="2495" cy="748"/>
          </a:xfrm>
        </p:grpSpPr>
        <p:sp>
          <p:nvSpPr>
            <p:cNvPr id="536596" name="Text Box 21"/>
            <p:cNvSpPr txBox="1">
              <a:spLocks noChangeArrowheads="1"/>
            </p:cNvSpPr>
            <p:nvPr/>
          </p:nvSpPr>
          <p:spPr bwMode="auto">
            <a:xfrm>
              <a:off x="158" y="1269"/>
              <a:ext cx="65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2</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p>
          </p:txBody>
        </p:sp>
        <p:sp>
          <p:nvSpPr>
            <p:cNvPr id="536597" name="Line 22"/>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536598" name="Group 23"/>
            <p:cNvGrpSpPr>
              <a:grpSpLocks/>
            </p:cNvGrpSpPr>
            <p:nvPr/>
          </p:nvGrpSpPr>
          <p:grpSpPr bwMode="auto">
            <a:xfrm>
              <a:off x="1247" y="754"/>
              <a:ext cx="1406" cy="272"/>
              <a:chOff x="1247" y="754"/>
              <a:chExt cx="1406" cy="272"/>
            </a:xfrm>
          </p:grpSpPr>
          <p:sp>
            <p:nvSpPr>
              <p:cNvPr id="536599" name="AutoShape 24"/>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6600" name="Text Box 25"/>
              <p:cNvSpPr txBox="1">
                <a:spLocks noChangeArrowheads="1"/>
              </p:cNvSpPr>
              <p:nvPr/>
            </p:nvSpPr>
            <p:spPr bwMode="auto">
              <a:xfrm>
                <a:off x="1247" y="754"/>
                <a:ext cx="138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检测到发生碰撞</a:t>
                </a:r>
              </a:p>
            </p:txBody>
          </p:sp>
        </p:grpSp>
      </p:grpSp>
      <p:grpSp>
        <p:nvGrpSpPr>
          <p:cNvPr id="536601" name="Group 26"/>
          <p:cNvGrpSpPr>
            <a:grpSpLocks/>
          </p:cNvGrpSpPr>
          <p:nvPr/>
        </p:nvGrpSpPr>
        <p:grpSpPr bwMode="auto">
          <a:xfrm>
            <a:off x="7280275" y="423863"/>
            <a:ext cx="1998663" cy="942975"/>
            <a:chOff x="4167" y="336"/>
            <a:chExt cx="1162" cy="594"/>
          </a:xfrm>
        </p:grpSpPr>
        <p:grpSp>
          <p:nvGrpSpPr>
            <p:cNvPr id="536602" name="Group 27"/>
            <p:cNvGrpSpPr>
              <a:grpSpLocks/>
            </p:cNvGrpSpPr>
            <p:nvPr/>
          </p:nvGrpSpPr>
          <p:grpSpPr bwMode="auto">
            <a:xfrm>
              <a:off x="4167" y="697"/>
              <a:ext cx="922" cy="233"/>
              <a:chOff x="4167" y="697"/>
              <a:chExt cx="922" cy="233"/>
            </a:xfrm>
          </p:grpSpPr>
          <p:sp>
            <p:nvSpPr>
              <p:cNvPr id="536603" name="Line 28"/>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6604" name="Text Box 29"/>
              <p:cNvSpPr txBox="1">
                <a:spLocks noChangeArrowheads="1"/>
              </p:cNvSpPr>
              <p:nvPr/>
            </p:nvSpPr>
            <p:spPr bwMode="auto">
              <a:xfrm>
                <a:off x="4411" y="697"/>
                <a:ext cx="67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  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r>
                  <a:rPr lang="en-US" altLang="zh-CN" b="1" baseline="30000">
                    <a:solidFill>
                      <a:srgbClr val="000099"/>
                    </a:solidFill>
                    <a:ea typeface="黑体" panose="02010609060101010101" pitchFamily="49" charset="-122"/>
                  </a:rPr>
                  <a:t> </a:t>
                </a:r>
              </a:p>
            </p:txBody>
          </p:sp>
        </p:grpSp>
        <p:grpSp>
          <p:nvGrpSpPr>
            <p:cNvPr id="536605" name="Group 30"/>
            <p:cNvGrpSpPr>
              <a:grpSpLocks/>
            </p:cNvGrpSpPr>
            <p:nvPr/>
          </p:nvGrpSpPr>
          <p:grpSpPr bwMode="auto">
            <a:xfrm>
              <a:off x="4286" y="336"/>
              <a:ext cx="1043" cy="256"/>
              <a:chOff x="4286" y="336"/>
              <a:chExt cx="1043" cy="256"/>
            </a:xfrm>
          </p:grpSpPr>
          <p:sp>
            <p:nvSpPr>
              <p:cNvPr id="536606" name="AutoShape 31"/>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6607" name="Text Box 32"/>
              <p:cNvSpPr txBox="1">
                <a:spLocks noChangeArrowheads="1"/>
              </p:cNvSpPr>
              <p:nvPr/>
            </p:nvSpPr>
            <p:spPr bwMode="auto">
              <a:xfrm>
                <a:off x="4286" y="336"/>
                <a:ext cx="85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  B </a:t>
                </a:r>
                <a:r>
                  <a:rPr lang="zh-CN" altLang="en-US" b="1">
                    <a:solidFill>
                      <a:srgbClr val="000099"/>
                    </a:solidFill>
                    <a:ea typeface="黑体" panose="02010609060101010101" pitchFamily="49" charset="-122"/>
                  </a:rPr>
                  <a:t>发送数据</a:t>
                </a:r>
              </a:p>
            </p:txBody>
          </p:sp>
        </p:grpSp>
      </p:grpSp>
      <p:grpSp>
        <p:nvGrpSpPr>
          <p:cNvPr id="536608" name="Group 33"/>
          <p:cNvGrpSpPr>
            <a:grpSpLocks/>
          </p:cNvGrpSpPr>
          <p:nvPr/>
        </p:nvGrpSpPr>
        <p:grpSpPr bwMode="auto">
          <a:xfrm>
            <a:off x="4519613" y="1263650"/>
            <a:ext cx="3932237" cy="1006475"/>
            <a:chOff x="2562" y="865"/>
            <a:chExt cx="2286" cy="634"/>
          </a:xfrm>
        </p:grpSpPr>
        <p:grpSp>
          <p:nvGrpSpPr>
            <p:cNvPr id="536609" name="Group 34"/>
            <p:cNvGrpSpPr>
              <a:grpSpLocks/>
            </p:cNvGrpSpPr>
            <p:nvPr/>
          </p:nvGrpSpPr>
          <p:grpSpPr bwMode="auto">
            <a:xfrm>
              <a:off x="2562" y="1240"/>
              <a:ext cx="1546" cy="259"/>
              <a:chOff x="2562" y="1240"/>
              <a:chExt cx="1546" cy="259"/>
            </a:xfrm>
          </p:grpSpPr>
          <p:sp>
            <p:nvSpPr>
              <p:cNvPr id="536610" name="AutoShape 35"/>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536611" name="Text Box 36"/>
              <p:cNvSpPr txBox="1">
                <a:spLocks noChangeArrowheads="1"/>
              </p:cNvSpPr>
              <p:nvPr/>
            </p:nvSpPr>
            <p:spPr bwMode="auto">
              <a:xfrm>
                <a:off x="2562" y="1240"/>
                <a:ext cx="15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检测到发生碰撞</a:t>
                </a:r>
              </a:p>
            </p:txBody>
          </p:sp>
        </p:grpSp>
        <p:sp>
          <p:nvSpPr>
            <p:cNvPr id="536612" name="Line 37"/>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36613" name="Text Box 38"/>
            <p:cNvSpPr txBox="1">
              <a:spLocks noChangeArrowheads="1"/>
            </p:cNvSpPr>
            <p:nvPr/>
          </p:nvSpPr>
          <p:spPr bwMode="auto">
            <a:xfrm>
              <a:off x="4410" y="865"/>
              <a:ext cx="4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  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p>
          </p:txBody>
        </p:sp>
      </p:grpSp>
      <p:sp>
        <p:nvSpPr>
          <p:cNvPr id="413735" name="Rectangle 39"/>
          <p:cNvSpPr>
            <a:spLocks noChangeArrowheads="1"/>
          </p:cNvSpPr>
          <p:nvPr/>
        </p:nvSpPr>
        <p:spPr bwMode="auto">
          <a:xfrm>
            <a:off x="1973263" y="4219575"/>
            <a:ext cx="433387" cy="504825"/>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413736" name="Rectangle 40"/>
          <p:cNvSpPr>
            <a:spLocks noChangeArrowheads="1"/>
          </p:cNvSpPr>
          <p:nvPr/>
        </p:nvSpPr>
        <p:spPr bwMode="auto">
          <a:xfrm>
            <a:off x="7078663" y="4946650"/>
            <a:ext cx="433387" cy="501650"/>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grpSp>
        <p:nvGrpSpPr>
          <p:cNvPr id="413737" name="Group 41"/>
          <p:cNvGrpSpPr/>
          <p:nvPr/>
        </p:nvGrpSpPr>
        <p:grpSpPr bwMode="auto">
          <a:xfrm>
            <a:off x="2406956" y="4293344"/>
            <a:ext cx="4442222" cy="142875"/>
            <a:chOff x="1318" y="2795"/>
            <a:chExt cx="2583" cy="90"/>
          </a:xfrm>
          <a:solidFill>
            <a:srgbClr val="FF0000"/>
          </a:solidFill>
        </p:grpSpPr>
        <p:sp>
          <p:nvSpPr>
            <p:cNvPr id="413738" name="Rectangle 42"/>
            <p:cNvSpPr>
              <a:spLocks noChangeArrowheads="1"/>
            </p:cNvSpPr>
            <p:nvPr/>
          </p:nvSpPr>
          <p:spPr bwMode="auto">
            <a:xfrm>
              <a:off x="1318" y="2795"/>
              <a:ext cx="2462" cy="90"/>
            </a:xfrm>
            <a:prstGeom prst="rect">
              <a:avLst/>
            </a:prstGeom>
            <a:grp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99"/>
                </a:solidFill>
                <a:latin typeface="+mn-lt"/>
                <a:ea typeface="黑体" panose="02010609060101010101" pitchFamily="2" charset="-122"/>
              </a:endParaRPr>
            </a:p>
          </p:txBody>
        </p:sp>
        <p:sp>
          <p:nvSpPr>
            <p:cNvPr id="413739" name="Line 43"/>
            <p:cNvSpPr>
              <a:spLocks noChangeShapeType="1"/>
            </p:cNvSpPr>
            <p:nvPr/>
          </p:nvSpPr>
          <p:spPr bwMode="auto">
            <a:xfrm>
              <a:off x="3780" y="2841"/>
              <a:ext cx="121" cy="0"/>
            </a:xfrm>
            <a:prstGeom prst="line">
              <a:avLst/>
            </a:prstGeom>
            <a:grpFill/>
            <a:ln w="12700">
              <a:solidFill>
                <a:srgbClr val="333399"/>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99"/>
                </a:solidFill>
                <a:latin typeface="+mn-lt"/>
                <a:ea typeface="黑体" panose="02010609060101010101" pitchFamily="2" charset="-122"/>
              </a:endParaRPr>
            </a:p>
          </p:txBody>
        </p:sp>
      </p:grpSp>
      <p:grpSp>
        <p:nvGrpSpPr>
          <p:cNvPr id="413740" name="Group 44"/>
          <p:cNvGrpSpPr>
            <a:grpSpLocks/>
          </p:cNvGrpSpPr>
          <p:nvPr/>
        </p:nvGrpSpPr>
        <p:grpSpPr bwMode="auto">
          <a:xfrm>
            <a:off x="6434138" y="4506913"/>
            <a:ext cx="690562" cy="146050"/>
            <a:chOff x="3660" y="2930"/>
            <a:chExt cx="401" cy="92"/>
          </a:xfrm>
        </p:grpSpPr>
        <p:sp>
          <p:nvSpPr>
            <p:cNvPr id="536618" name="Rectangle 45"/>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619" name="Line 46"/>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13743" name="Line 47"/>
          <p:cNvSpPr>
            <a:spLocks noChangeShapeType="1"/>
          </p:cNvSpPr>
          <p:nvPr/>
        </p:nvSpPr>
        <p:spPr bwMode="auto">
          <a:xfrm>
            <a:off x="7013575" y="5089525"/>
            <a:ext cx="2063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13744" name="Group 48"/>
          <p:cNvGrpSpPr>
            <a:grpSpLocks/>
          </p:cNvGrpSpPr>
          <p:nvPr/>
        </p:nvGrpSpPr>
        <p:grpSpPr bwMode="auto">
          <a:xfrm>
            <a:off x="1973263" y="5616575"/>
            <a:ext cx="5538787" cy="503238"/>
            <a:chOff x="1066" y="3719"/>
            <a:chExt cx="3220" cy="317"/>
          </a:xfrm>
        </p:grpSpPr>
        <p:sp>
          <p:nvSpPr>
            <p:cNvPr id="536622" name="Rectangle 49"/>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623" name="Rectangle 50"/>
            <p:cNvSpPr>
              <a:spLocks noChangeArrowheads="1"/>
            </p:cNvSpPr>
            <p:nvPr/>
          </p:nvSpPr>
          <p:spPr bwMode="auto">
            <a:xfrm>
              <a:off x="1298" y="3765"/>
              <a:ext cx="2763" cy="90"/>
            </a:xfrm>
            <a:prstGeom prst="rect">
              <a:avLst/>
            </a:prstGeom>
            <a:solidFill>
              <a:srgbClr val="FF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624" name="Rectangle 51"/>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536625" name="Rectangle 52"/>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sp>
          <p:nvSpPr>
            <p:cNvPr id="536626" name="Line 53"/>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13750" name="Rectangle 54"/>
          <p:cNvSpPr>
            <a:spLocks noChangeArrowheads="1"/>
          </p:cNvSpPr>
          <p:nvPr/>
        </p:nvSpPr>
        <p:spPr bwMode="auto">
          <a:xfrm>
            <a:off x="6986588" y="3829050"/>
            <a:ext cx="138112" cy="146050"/>
          </a:xfrm>
          <a:prstGeom prst="rect">
            <a:avLst/>
          </a:prstGeom>
          <a:solidFill>
            <a:srgbClr val="9966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3751" name="Rectangle 55"/>
          <p:cNvSpPr>
            <a:spLocks noChangeArrowheads="1"/>
          </p:cNvSpPr>
          <p:nvPr/>
        </p:nvSpPr>
        <p:spPr bwMode="auto">
          <a:xfrm>
            <a:off x="2406650" y="3613150"/>
            <a:ext cx="3684588" cy="144463"/>
          </a:xfrm>
          <a:prstGeom prst="rect">
            <a:avLst/>
          </a:prstGeom>
          <a:solidFill>
            <a:srgbClr val="FF0000"/>
          </a:solidFill>
          <a:ln w="1270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413752" name="Rectangle 56"/>
          <p:cNvSpPr>
            <a:spLocks noChangeArrowheads="1"/>
          </p:cNvSpPr>
          <p:nvPr/>
        </p:nvSpPr>
        <p:spPr bwMode="auto">
          <a:xfrm>
            <a:off x="1973263" y="3541713"/>
            <a:ext cx="433387" cy="504825"/>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413753" name="Rectangle 57"/>
          <p:cNvSpPr>
            <a:spLocks noChangeArrowheads="1"/>
          </p:cNvSpPr>
          <p:nvPr/>
        </p:nvSpPr>
        <p:spPr bwMode="auto">
          <a:xfrm>
            <a:off x="7078663" y="3541713"/>
            <a:ext cx="433387" cy="504825"/>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sp>
        <p:nvSpPr>
          <p:cNvPr id="413754" name="Line 58"/>
          <p:cNvSpPr>
            <a:spLocks noChangeShapeType="1"/>
          </p:cNvSpPr>
          <p:nvPr/>
        </p:nvSpPr>
        <p:spPr bwMode="auto">
          <a:xfrm>
            <a:off x="6091238" y="3686175"/>
            <a:ext cx="2063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13755" name="Line 59"/>
          <p:cNvSpPr>
            <a:spLocks noChangeShapeType="1"/>
          </p:cNvSpPr>
          <p:nvPr/>
        </p:nvSpPr>
        <p:spPr bwMode="auto">
          <a:xfrm flipH="1">
            <a:off x="6780213" y="3900488"/>
            <a:ext cx="2063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13756" name="Text Box 60"/>
          <p:cNvSpPr txBox="1">
            <a:spLocks noChangeArrowheads="1"/>
          </p:cNvSpPr>
          <p:nvPr/>
        </p:nvSpPr>
        <p:spPr bwMode="auto">
          <a:xfrm>
            <a:off x="565150" y="2519363"/>
            <a:ext cx="1114425"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0</a:t>
            </a:r>
            <a:endParaRPr lang="en-US" altLang="zh-CN" b="1" baseline="30000">
              <a:solidFill>
                <a:srgbClr val="000099"/>
              </a:solidFill>
              <a:ea typeface="黑体" panose="02010609060101010101" pitchFamily="49" charset="-122"/>
            </a:endParaRPr>
          </a:p>
          <a:p>
            <a:pPr eaLnBrk="0" hangingPunct="0">
              <a:lnSpc>
                <a:spcPct val="95000"/>
              </a:lnSpc>
            </a:pPr>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检测到</a:t>
            </a:r>
          </a:p>
          <a:p>
            <a:pPr eaLnBrk="0" hangingPunct="0">
              <a:lnSpc>
                <a:spcPct val="95000"/>
              </a:lnSpc>
            </a:pPr>
            <a:r>
              <a:rPr lang="zh-CN" altLang="en-US" b="1">
                <a:solidFill>
                  <a:srgbClr val="000099"/>
                </a:solidFill>
                <a:ea typeface="黑体" panose="02010609060101010101" pitchFamily="49" charset="-122"/>
              </a:rPr>
              <a:t>信道空闲</a:t>
            </a:r>
          </a:p>
          <a:p>
            <a:pPr eaLnBrk="0" hangingPunct="0">
              <a:lnSpc>
                <a:spcPct val="95000"/>
              </a:lnSpc>
            </a:pPr>
            <a:r>
              <a:rPr lang="zh-CN" altLang="en-US" b="1">
                <a:solidFill>
                  <a:srgbClr val="000099"/>
                </a:solidFill>
                <a:ea typeface="黑体" panose="02010609060101010101" pitchFamily="49" charset="-122"/>
              </a:rPr>
              <a:t>发送数据</a:t>
            </a:r>
          </a:p>
        </p:txBody>
      </p:sp>
      <p:grpSp>
        <p:nvGrpSpPr>
          <p:cNvPr id="413757" name="Group 61"/>
          <p:cNvGrpSpPr>
            <a:grpSpLocks/>
          </p:cNvGrpSpPr>
          <p:nvPr/>
        </p:nvGrpSpPr>
        <p:grpSpPr bwMode="auto">
          <a:xfrm>
            <a:off x="2301875" y="2952750"/>
            <a:ext cx="484188" cy="142875"/>
            <a:chOff x="1176" y="1872"/>
            <a:chExt cx="336" cy="96"/>
          </a:xfrm>
        </p:grpSpPr>
        <p:sp>
          <p:nvSpPr>
            <p:cNvPr id="536635" name="Rectangle 62"/>
            <p:cNvSpPr>
              <a:spLocks noChangeArrowheads="1"/>
            </p:cNvSpPr>
            <p:nvPr/>
          </p:nvSpPr>
          <p:spPr bwMode="auto">
            <a:xfrm>
              <a:off x="1176" y="1872"/>
              <a:ext cx="192" cy="96"/>
            </a:xfrm>
            <a:prstGeom prst="rect">
              <a:avLst/>
            </a:prstGeom>
            <a:solidFill>
              <a:srgbClr val="FF0000"/>
            </a:solidFill>
            <a:ln w="12700">
              <a:solidFill>
                <a:srgbClr val="0000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36636" name="Line 63"/>
            <p:cNvSpPr>
              <a:spLocks noChangeShapeType="1"/>
            </p:cNvSpPr>
            <p:nvPr/>
          </p:nvSpPr>
          <p:spPr bwMode="auto">
            <a:xfrm>
              <a:off x="1368" y="1926"/>
              <a:ext cx="144"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413760" name="Rectangle 64"/>
          <p:cNvSpPr>
            <a:spLocks noChangeArrowheads="1"/>
          </p:cNvSpPr>
          <p:nvPr/>
        </p:nvSpPr>
        <p:spPr bwMode="auto">
          <a:xfrm>
            <a:off x="1973263" y="2881313"/>
            <a:ext cx="433387" cy="503237"/>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413761" name="Rectangle 65"/>
          <p:cNvSpPr>
            <a:spLocks noChangeArrowheads="1"/>
          </p:cNvSpPr>
          <p:nvPr/>
        </p:nvSpPr>
        <p:spPr bwMode="auto">
          <a:xfrm>
            <a:off x="7078663" y="2881313"/>
            <a:ext cx="433387" cy="503237"/>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sp>
        <p:nvSpPr>
          <p:cNvPr id="536639" name="Text Box 66"/>
          <p:cNvSpPr txBox="1">
            <a:spLocks noChangeArrowheads="1"/>
          </p:cNvSpPr>
          <p:nvPr/>
        </p:nvSpPr>
        <p:spPr bwMode="auto">
          <a:xfrm>
            <a:off x="958850" y="338138"/>
            <a:ext cx="652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0</a:t>
            </a:r>
            <a:endParaRPr lang="en-US" altLang="zh-CN" b="1" baseline="30000">
              <a:solidFill>
                <a:srgbClr val="000099"/>
              </a:solidFill>
              <a:ea typeface="黑体" panose="02010609060101010101" pitchFamily="49" charset="-122"/>
            </a:endParaRPr>
          </a:p>
        </p:txBody>
      </p:sp>
      <p:sp>
        <p:nvSpPr>
          <p:cNvPr id="536640" name="Line 67"/>
          <p:cNvSpPr>
            <a:spLocks noChangeShapeType="1"/>
          </p:cNvSpPr>
          <p:nvPr/>
        </p:nvSpPr>
        <p:spPr bwMode="auto">
          <a:xfrm>
            <a:off x="1684338" y="542925"/>
            <a:ext cx="446087"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13764" name="Group 68"/>
          <p:cNvGrpSpPr>
            <a:grpSpLocks/>
          </p:cNvGrpSpPr>
          <p:nvPr/>
        </p:nvGrpSpPr>
        <p:grpSpPr bwMode="auto">
          <a:xfrm>
            <a:off x="5016500" y="4725988"/>
            <a:ext cx="4616450" cy="839787"/>
            <a:chOff x="2835" y="3100"/>
            <a:chExt cx="2685" cy="529"/>
          </a:xfrm>
        </p:grpSpPr>
        <p:sp>
          <p:nvSpPr>
            <p:cNvPr id="536642" name="Text Box 69"/>
            <p:cNvSpPr txBox="1">
              <a:spLocks noChangeArrowheads="1"/>
            </p:cNvSpPr>
            <p:nvPr/>
          </p:nvSpPr>
          <p:spPr bwMode="auto">
            <a:xfrm>
              <a:off x="4332" y="3100"/>
              <a:ext cx="1188"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a:t>
              </a:r>
              <a:r>
                <a:rPr lang="en-US" altLang="zh-CN" b="1">
                  <a:solidFill>
                    <a:srgbClr val="000099"/>
                  </a:solidFill>
                  <a:ea typeface="黑体" panose="02010609060101010101" pitchFamily="49" charset="-122"/>
                  <a:sym typeface="Symbol" panose="05050102010706020507" pitchFamily="18" charset="2"/>
                </a:rPr>
                <a:t></a:t>
              </a:r>
              <a:endParaRPr lang="en-US" altLang="zh-CN" b="1" baseline="30000">
                <a:solidFill>
                  <a:srgbClr val="000099"/>
                </a:solidFill>
                <a:ea typeface="黑体" panose="02010609060101010101" pitchFamily="49" charset="-122"/>
              </a:endParaRPr>
            </a:p>
            <a:p>
              <a:pPr eaLnBrk="0" hangingPunct="0">
                <a:lnSpc>
                  <a:spcPct val="90000"/>
                </a:lnSpc>
              </a:pPr>
              <a:r>
                <a:rPr lang="en-US" altLang="zh-CN" b="1">
                  <a:solidFill>
                    <a:srgbClr val="000099"/>
                  </a:solidFill>
                  <a:ea typeface="黑体" panose="02010609060101010101" pitchFamily="49" charset="-122"/>
                </a:rPr>
                <a:t>B </a:t>
              </a:r>
              <a:r>
                <a:rPr lang="zh-CN" altLang="en-US" b="1">
                  <a:solidFill>
                    <a:srgbClr val="000099"/>
                  </a:solidFill>
                  <a:ea typeface="黑体" panose="02010609060101010101" pitchFamily="49" charset="-122"/>
                </a:rPr>
                <a:t>检测到发生碰撞</a:t>
              </a:r>
            </a:p>
            <a:p>
              <a:pPr eaLnBrk="0" hangingPunct="0">
                <a:lnSpc>
                  <a:spcPct val="90000"/>
                </a:lnSpc>
              </a:pPr>
              <a:r>
                <a:rPr lang="zh-CN" altLang="en-US" b="1">
                  <a:solidFill>
                    <a:srgbClr val="000099"/>
                  </a:solidFill>
                  <a:ea typeface="黑体" panose="02010609060101010101" pitchFamily="49" charset="-122"/>
                </a:rPr>
                <a:t>停止发送</a:t>
              </a:r>
            </a:p>
          </p:txBody>
        </p:sp>
        <p:sp>
          <p:nvSpPr>
            <p:cNvPr id="536643" name="Text Box 70"/>
            <p:cNvSpPr txBox="1">
              <a:spLocks noChangeArrowheads="1"/>
            </p:cNvSpPr>
            <p:nvPr/>
          </p:nvSpPr>
          <p:spPr bwMode="auto">
            <a:xfrm>
              <a:off x="2835" y="3339"/>
              <a:ext cx="4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STOP</a:t>
              </a:r>
            </a:p>
          </p:txBody>
        </p:sp>
      </p:grpSp>
      <p:grpSp>
        <p:nvGrpSpPr>
          <p:cNvPr id="413767" name="Group 71"/>
          <p:cNvGrpSpPr>
            <a:grpSpLocks/>
          </p:cNvGrpSpPr>
          <p:nvPr/>
        </p:nvGrpSpPr>
        <p:grpSpPr bwMode="auto">
          <a:xfrm>
            <a:off x="490538" y="5373688"/>
            <a:ext cx="2682875" cy="863600"/>
            <a:chOff x="204" y="3566"/>
            <a:chExt cx="1560" cy="544"/>
          </a:xfrm>
        </p:grpSpPr>
        <p:sp>
          <p:nvSpPr>
            <p:cNvPr id="536645" name="Text Box 72"/>
            <p:cNvSpPr txBox="1">
              <a:spLocks noChangeArrowheads="1"/>
            </p:cNvSpPr>
            <p:nvPr/>
          </p:nvSpPr>
          <p:spPr bwMode="auto">
            <a:xfrm>
              <a:off x="204" y="3581"/>
              <a:ext cx="653" cy="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b="1" i="1">
                  <a:solidFill>
                    <a:srgbClr val="000099"/>
                  </a:solidFill>
                  <a:ea typeface="黑体" panose="02010609060101010101" pitchFamily="49" charset="-122"/>
                </a:rPr>
                <a:t>t</a:t>
              </a:r>
              <a:r>
                <a:rPr lang="en-US" altLang="zh-CN" b="1">
                  <a:solidFill>
                    <a:srgbClr val="000099"/>
                  </a:solidFill>
                  <a:ea typeface="黑体" panose="02010609060101010101" pitchFamily="49" charset="-122"/>
                </a:rPr>
                <a:t> = 2</a:t>
              </a:r>
              <a:r>
                <a:rPr lang="en-US" altLang="zh-CN" b="1">
                  <a:solidFill>
                    <a:srgbClr val="000099"/>
                  </a:solidFill>
                  <a:ea typeface="黑体" panose="02010609060101010101" pitchFamily="49" charset="-122"/>
                  <a:sym typeface="Symbol" panose="05050102010706020507" pitchFamily="18" charset="2"/>
                </a:rPr>
                <a:t></a:t>
              </a:r>
              <a:r>
                <a:rPr lang="en-US" altLang="zh-CN" b="1">
                  <a:solidFill>
                    <a:srgbClr val="000099"/>
                  </a:solidFill>
                  <a:ea typeface="黑体" panose="02010609060101010101" pitchFamily="49" charset="-122"/>
                </a:rPr>
                <a:t> </a:t>
              </a:r>
              <a:r>
                <a:rPr lang="en-US" altLang="zh-CN" b="1">
                  <a:solidFill>
                    <a:srgbClr val="000099"/>
                  </a:solidFill>
                  <a:ea typeface="黑体" panose="02010609060101010101" pitchFamily="49" charset="-122"/>
                  <a:sym typeface="Symbol" panose="05050102010706020507" pitchFamily="18" charset="2"/>
                </a:rPr>
                <a:t> </a:t>
              </a:r>
              <a:endParaRPr lang="en-US" altLang="zh-CN" b="1" baseline="30000">
                <a:solidFill>
                  <a:srgbClr val="000099"/>
                </a:solidFill>
                <a:ea typeface="黑体" panose="02010609060101010101" pitchFamily="49" charset="-122"/>
              </a:endParaRPr>
            </a:p>
            <a:p>
              <a:pPr eaLnBrk="0" hangingPunct="0">
                <a:lnSpc>
                  <a:spcPct val="90000"/>
                </a:lnSpc>
              </a:pPr>
              <a:r>
                <a:rPr lang="en-US" altLang="zh-CN" b="1">
                  <a:solidFill>
                    <a:srgbClr val="000099"/>
                  </a:solidFill>
                  <a:ea typeface="黑体" panose="02010609060101010101" pitchFamily="49" charset="-122"/>
                </a:rPr>
                <a:t>A </a:t>
              </a:r>
              <a:r>
                <a:rPr lang="zh-CN" altLang="en-US" b="1">
                  <a:solidFill>
                    <a:srgbClr val="000099"/>
                  </a:solidFill>
                  <a:ea typeface="黑体" panose="02010609060101010101" pitchFamily="49" charset="-122"/>
                </a:rPr>
                <a:t>检测到</a:t>
              </a:r>
            </a:p>
            <a:p>
              <a:pPr eaLnBrk="0" hangingPunct="0">
                <a:lnSpc>
                  <a:spcPct val="90000"/>
                </a:lnSpc>
              </a:pPr>
              <a:r>
                <a:rPr lang="zh-CN" altLang="en-US" b="1">
                  <a:solidFill>
                    <a:srgbClr val="000099"/>
                  </a:solidFill>
                  <a:ea typeface="黑体" panose="02010609060101010101" pitchFamily="49" charset="-122"/>
                </a:rPr>
                <a:t>发生碰撞</a:t>
              </a:r>
            </a:p>
          </p:txBody>
        </p:sp>
        <p:sp>
          <p:nvSpPr>
            <p:cNvPr id="536646" name="Text Box 73"/>
            <p:cNvSpPr txBox="1">
              <a:spLocks noChangeArrowheads="1"/>
            </p:cNvSpPr>
            <p:nvPr/>
          </p:nvSpPr>
          <p:spPr bwMode="auto">
            <a:xfrm>
              <a:off x="1294" y="3566"/>
              <a:ext cx="4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STOP</a:t>
              </a:r>
            </a:p>
          </p:txBody>
        </p:sp>
      </p:grpSp>
      <p:sp>
        <p:nvSpPr>
          <p:cNvPr id="413770" name="Rectangle 74"/>
          <p:cNvSpPr>
            <a:spLocks noChangeArrowheads="1"/>
          </p:cNvSpPr>
          <p:nvPr/>
        </p:nvSpPr>
        <p:spPr bwMode="auto">
          <a:xfrm>
            <a:off x="1973263" y="4946650"/>
            <a:ext cx="433387" cy="501650"/>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A</a:t>
            </a:r>
          </a:p>
        </p:txBody>
      </p:sp>
      <p:sp>
        <p:nvSpPr>
          <p:cNvPr id="413771" name="Rectangle 75"/>
          <p:cNvSpPr>
            <a:spLocks noChangeArrowheads="1"/>
          </p:cNvSpPr>
          <p:nvPr/>
        </p:nvSpPr>
        <p:spPr bwMode="auto">
          <a:xfrm>
            <a:off x="7078663" y="4219575"/>
            <a:ext cx="433387" cy="504825"/>
          </a:xfrm>
          <a:prstGeom prst="rect">
            <a:avLst/>
          </a:prstGeom>
          <a:solidFill>
            <a:srgbClr val="FFFF99"/>
          </a:solidFill>
          <a:ln w="1270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99"/>
                </a:solidFill>
                <a:ea typeface="黑体" panose="02010609060101010101" pitchFamily="49" charset="-122"/>
              </a:rPr>
              <a:t>B</a:t>
            </a:r>
          </a:p>
        </p:txBody>
      </p:sp>
      <p:sp>
        <p:nvSpPr>
          <p:cNvPr id="536649" name="Text Box 76"/>
          <p:cNvSpPr txBox="1">
            <a:spLocks noChangeArrowheads="1"/>
          </p:cNvSpPr>
          <p:nvPr/>
        </p:nvSpPr>
        <p:spPr bwMode="auto">
          <a:xfrm>
            <a:off x="7373938" y="1671638"/>
            <a:ext cx="23320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单程端到端</a:t>
            </a:r>
          </a:p>
          <a:p>
            <a:pPr algn="ctr" eaLnBrk="0" hangingPunct="0"/>
            <a:r>
              <a:rPr lang="zh-CN" altLang="en-US" sz="2400" b="1">
                <a:solidFill>
                  <a:srgbClr val="000099"/>
                </a:solidFill>
                <a:ea typeface="黑体" panose="02010609060101010101" pitchFamily="49" charset="-122"/>
              </a:rPr>
              <a:t>传播时延记为 </a:t>
            </a:r>
            <a:r>
              <a:rPr lang="zh-CN" altLang="en-US" sz="2400" b="1" i="1">
                <a:solidFill>
                  <a:srgbClr val="000099"/>
                </a:solidFill>
                <a:ea typeface="黑体" panose="02010609060101010101" pitchFamily="49" charset="-122"/>
                <a:sym typeface="Symbol" panose="05050102010706020507" pitchFamily="18" charset="2"/>
              </a:rPr>
              <a:t></a:t>
            </a:r>
            <a:r>
              <a:rPr lang="zh-CN" altLang="en-US" sz="2400" b="1">
                <a:solidFill>
                  <a:srgbClr val="000099"/>
                </a:solidFill>
                <a:ea typeface="黑体" panose="02010609060101010101" pitchFamily="49" charset="-122"/>
              </a:rPr>
              <a:t> </a:t>
            </a:r>
          </a:p>
        </p:txBody>
      </p:sp>
      <p:sp>
        <p:nvSpPr>
          <p:cNvPr id="53665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B3B88D0-7763-458D-939C-B3BCD8764CA3}" type="slidenum">
              <a:rPr lang="zh-CN" altLang="en-US" smtClean="0"/>
              <a:pPr/>
              <a:t>23</a:t>
            </a:fld>
            <a:endParaRPr lang="en-US" altLang="zh-CN" smtClean="0"/>
          </a:p>
        </p:txBody>
      </p:sp>
      <p:sp>
        <p:nvSpPr>
          <p:cNvPr id="53665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3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37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3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3761"/>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13756"/>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1375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37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37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37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37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37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37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3714"/>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1371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13750"/>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13750"/>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grpId="1" nodeType="withEffect">
                                  <p:stCondLst>
                                    <p:cond delay="500"/>
                                  </p:stCondLst>
                                  <p:childTnLst>
                                    <p:anim calcmode="discrete" valueType="str">
                                      <p:cBhvr>
                                        <p:cTn id="40" dur="1000" fill="hold"/>
                                        <p:tgtEl>
                                          <p:spTgt spid="413755"/>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37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3771"/>
                                        </p:tgtEl>
                                        <p:attrNameLst>
                                          <p:attrName>style.visibility</p:attrName>
                                        </p:attrNameLst>
                                      </p:cBhvr>
                                      <p:to>
                                        <p:strVal val="visible"/>
                                      </p:to>
                                    </p:set>
                                  </p:childTnLst>
                                </p:cTn>
                              </p:par>
                            </p:childTnLst>
                          </p:cTn>
                        </p:par>
                        <p:par>
                          <p:cTn id="47" fill="hold" nodeType="afterGroup">
                            <p:stCondLst>
                              <p:cond delay="1"/>
                            </p:stCondLst>
                            <p:childTnLst>
                              <p:par>
                                <p:cTn id="48" presetID="22" presetClass="entr" presetSubtype="8" fill="hold" nodeType="afterEffect">
                                  <p:stCondLst>
                                    <p:cond delay="0"/>
                                  </p:stCondLst>
                                  <p:childTnLst>
                                    <p:set>
                                      <p:cBhvr>
                                        <p:cTn id="49" dur="1" fill="hold">
                                          <p:stCondLst>
                                            <p:cond delay="0"/>
                                          </p:stCondLst>
                                        </p:cTn>
                                        <p:tgtEl>
                                          <p:spTgt spid="413737"/>
                                        </p:tgtEl>
                                        <p:attrNameLst>
                                          <p:attrName>style.visibility</p:attrName>
                                        </p:attrNameLst>
                                      </p:cBhvr>
                                      <p:to>
                                        <p:strVal val="visible"/>
                                      </p:to>
                                    </p:set>
                                    <p:animEffect transition="in" filter="wipe(left)">
                                      <p:cBhvr>
                                        <p:cTn id="50" dur="7000"/>
                                        <p:tgtEl>
                                          <p:spTgt spid="413737"/>
                                        </p:tgtEl>
                                      </p:cBhvr>
                                    </p:animEffect>
                                  </p:childTnLst>
                                </p:cTn>
                              </p:par>
                              <p:par>
                                <p:cTn id="51" presetID="22" presetClass="entr" presetSubtype="2" fill="hold" nodeType="withEffect">
                                  <p:stCondLst>
                                    <p:cond delay="6000"/>
                                  </p:stCondLst>
                                  <p:childTnLst>
                                    <p:set>
                                      <p:cBhvr>
                                        <p:cTn id="52" dur="1" fill="hold">
                                          <p:stCondLst>
                                            <p:cond delay="0"/>
                                          </p:stCondLst>
                                        </p:cTn>
                                        <p:tgtEl>
                                          <p:spTgt spid="413740"/>
                                        </p:tgtEl>
                                        <p:attrNameLst>
                                          <p:attrName>style.visibility</p:attrName>
                                        </p:attrNameLst>
                                      </p:cBhvr>
                                      <p:to>
                                        <p:strVal val="visible"/>
                                      </p:to>
                                    </p:set>
                                    <p:animEffect transition="in" filter="wipe(right)">
                                      <p:cBhvr>
                                        <p:cTn id="53" dur="1000"/>
                                        <p:tgtEl>
                                          <p:spTgt spid="413740"/>
                                        </p:tgtEl>
                                      </p:cBhvr>
                                    </p:animEffect>
                                  </p:childTnLst>
                                </p:cTn>
                              </p:par>
                            </p:childTnLst>
                          </p:cTn>
                        </p:par>
                        <p:par>
                          <p:cTn id="54" fill="hold" nodeType="afterGroup">
                            <p:stCondLst>
                              <p:cond delay="7001"/>
                            </p:stCondLst>
                            <p:childTnLst>
                              <p:par>
                                <p:cTn id="55" presetID="1" presetClass="entr" presetSubtype="0" fill="hold" grpId="0" nodeType="afterEffect">
                                  <p:stCondLst>
                                    <p:cond delay="0"/>
                                  </p:stCondLst>
                                  <p:childTnLst>
                                    <p:set>
                                      <p:cBhvr>
                                        <p:cTn id="56" dur="1" fill="hold">
                                          <p:stCondLst>
                                            <p:cond delay="0"/>
                                          </p:stCondLst>
                                        </p:cTn>
                                        <p:tgtEl>
                                          <p:spTgt spid="413715"/>
                                        </p:tgtEl>
                                        <p:attrNameLst>
                                          <p:attrName>style.visibility</p:attrName>
                                        </p:attrNameLst>
                                      </p:cBhvr>
                                      <p:to>
                                        <p:strVal val="visible"/>
                                      </p:to>
                                    </p:set>
                                  </p:childTnLst>
                                </p:cTn>
                              </p:par>
                            </p:childTnLst>
                          </p:cTn>
                        </p:par>
                        <p:par>
                          <p:cTn id="57" fill="hold" nodeType="afterGroup">
                            <p:stCondLst>
                              <p:cond delay="7002"/>
                            </p:stCondLst>
                            <p:childTnLst>
                              <p:par>
                                <p:cTn id="58" presetID="35" presetClass="emph" presetSubtype="0" repeatCount="4000" fill="hold" grpId="1" nodeType="afterEffect">
                                  <p:stCondLst>
                                    <p:cond delay="0"/>
                                  </p:stCondLst>
                                  <p:childTnLst>
                                    <p:anim calcmode="discrete" valueType="str">
                                      <p:cBhvr>
                                        <p:cTn id="59" dur="1000" fill="hold"/>
                                        <p:tgtEl>
                                          <p:spTgt spid="413715"/>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3770"/>
                                        </p:tgtEl>
                                        <p:attrNameLst>
                                          <p:attrName>style.visibility</p:attrName>
                                        </p:attrNameLst>
                                      </p:cBhvr>
                                      <p:to>
                                        <p:strVal val="visible"/>
                                      </p:to>
                                    </p:set>
                                  </p:childTnLst>
                                </p:cTn>
                              </p:par>
                            </p:childTnLst>
                          </p:cTn>
                        </p:par>
                        <p:par>
                          <p:cTn id="64" fill="hold" nodeType="afterGroup">
                            <p:stCondLst>
                              <p:cond delay="1"/>
                            </p:stCondLst>
                            <p:childTnLst>
                              <p:par>
                                <p:cTn id="65" presetID="1" presetClass="entr" presetSubtype="0" fill="hold" grpId="0" nodeType="afterEffect">
                                  <p:stCondLst>
                                    <p:cond delay="0"/>
                                  </p:stCondLst>
                                  <p:childTnLst>
                                    <p:set>
                                      <p:cBhvr>
                                        <p:cTn id="66" dur="1" fill="hold">
                                          <p:stCondLst>
                                            <p:cond delay="0"/>
                                          </p:stCondLst>
                                        </p:cTn>
                                        <p:tgtEl>
                                          <p:spTgt spid="413736"/>
                                        </p:tgtEl>
                                        <p:attrNameLst>
                                          <p:attrName>style.visibility</p:attrName>
                                        </p:attrNameLst>
                                      </p:cBhvr>
                                      <p:to>
                                        <p:strVal val="visible"/>
                                      </p:to>
                                    </p:set>
                                  </p:childTnLst>
                                </p:cTn>
                              </p:par>
                            </p:childTnLst>
                          </p:cTn>
                        </p:par>
                        <p:par>
                          <p:cTn id="67" fill="hold" nodeType="afterGroup">
                            <p:stCondLst>
                              <p:cond delay="2"/>
                            </p:stCondLst>
                            <p:childTnLst>
                              <p:par>
                                <p:cTn id="68" presetID="1" presetClass="entr" presetSubtype="0" fill="hold" grpId="0" nodeType="afterEffect">
                                  <p:stCondLst>
                                    <p:cond delay="0"/>
                                  </p:stCondLst>
                                  <p:childTnLst>
                                    <p:set>
                                      <p:cBhvr>
                                        <p:cTn id="69" dur="1" fill="hold">
                                          <p:stCondLst>
                                            <p:cond delay="0"/>
                                          </p:stCondLst>
                                        </p:cTn>
                                        <p:tgtEl>
                                          <p:spTgt spid="41369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1369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13743"/>
                                        </p:tgtEl>
                                        <p:attrNameLst>
                                          <p:attrName>style.visibility</p:attrName>
                                        </p:attrNameLst>
                                      </p:cBhvr>
                                      <p:to>
                                        <p:strVal val="visible"/>
                                      </p:to>
                                    </p:set>
                                  </p:childTnLst>
                                </p:cTn>
                              </p:par>
                            </p:childTnLst>
                          </p:cTn>
                        </p:par>
                        <p:par>
                          <p:cTn id="74" fill="hold" nodeType="afterGroup">
                            <p:stCondLst>
                              <p:cond delay="3"/>
                            </p:stCondLst>
                            <p:childTnLst>
                              <p:par>
                                <p:cTn id="75" presetID="1" presetClass="entr" presetSubtype="0" fill="hold" nodeType="afterEffect">
                                  <p:stCondLst>
                                    <p:cond delay="0"/>
                                  </p:stCondLst>
                                  <p:childTnLst>
                                    <p:set>
                                      <p:cBhvr>
                                        <p:cTn id="76" dur="1" fill="hold">
                                          <p:stCondLst>
                                            <p:cond delay="0"/>
                                          </p:stCondLst>
                                        </p:cTn>
                                        <p:tgtEl>
                                          <p:spTgt spid="413764"/>
                                        </p:tgtEl>
                                        <p:attrNameLst>
                                          <p:attrName>style.visibility</p:attrName>
                                        </p:attrNameLst>
                                      </p:cBhvr>
                                      <p:to>
                                        <p:strVal val="visible"/>
                                      </p:to>
                                    </p:set>
                                  </p:childTnLst>
                                </p:cTn>
                              </p:par>
                            </p:childTnLst>
                          </p:cTn>
                        </p:par>
                        <p:par>
                          <p:cTn id="77" fill="hold" nodeType="afterGroup">
                            <p:stCondLst>
                              <p:cond delay="4"/>
                            </p:stCondLst>
                            <p:childTnLst>
                              <p:par>
                                <p:cTn id="78" presetID="35" presetClass="emph" presetSubtype="0" repeatCount="3000" fill="hold" nodeType="afterEffect">
                                  <p:stCondLst>
                                    <p:cond delay="0"/>
                                  </p:stCondLst>
                                  <p:childTnLst>
                                    <p:anim calcmode="discrete" valueType="str">
                                      <p:cBhvr>
                                        <p:cTn id="79" dur="1000" fill="hold"/>
                                        <p:tgtEl>
                                          <p:spTgt spid="41376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13744"/>
                                        </p:tgtEl>
                                        <p:attrNameLst>
                                          <p:attrName>style.visibility</p:attrName>
                                        </p:attrNameLst>
                                      </p:cBhvr>
                                      <p:to>
                                        <p:strVal val="visible"/>
                                      </p:to>
                                    </p:set>
                                  </p:childTnLst>
                                </p:cTn>
                              </p:par>
                            </p:childTnLst>
                          </p:cTn>
                        </p:par>
                        <p:par>
                          <p:cTn id="84" fill="hold" nodeType="afterGroup">
                            <p:stCondLst>
                              <p:cond delay="1"/>
                            </p:stCondLst>
                            <p:childTnLst>
                              <p:par>
                                <p:cTn id="85" presetID="1" presetClass="entr" presetSubtype="0" fill="hold" nodeType="afterEffect">
                                  <p:stCondLst>
                                    <p:cond delay="0"/>
                                  </p:stCondLst>
                                  <p:childTnLst>
                                    <p:set>
                                      <p:cBhvr>
                                        <p:cTn id="86" dur="1" fill="hold">
                                          <p:stCondLst>
                                            <p:cond delay="0"/>
                                          </p:stCondLst>
                                        </p:cTn>
                                        <p:tgtEl>
                                          <p:spTgt spid="413767"/>
                                        </p:tgtEl>
                                        <p:attrNameLst>
                                          <p:attrName>style.visibility</p:attrName>
                                        </p:attrNameLst>
                                      </p:cBhvr>
                                      <p:to>
                                        <p:strVal val="visible"/>
                                      </p:to>
                                    </p:set>
                                  </p:childTnLst>
                                </p:cTn>
                              </p:par>
                            </p:childTnLst>
                          </p:cTn>
                        </p:par>
                        <p:par>
                          <p:cTn id="87" fill="hold" nodeType="afterGroup">
                            <p:stCondLst>
                              <p:cond delay="2"/>
                            </p:stCondLst>
                            <p:childTnLst>
                              <p:par>
                                <p:cTn id="88" presetID="35" presetClass="emph" presetSubtype="0" repeatCount="3000" fill="hold" nodeType="afterEffect">
                                  <p:stCondLst>
                                    <p:cond delay="0"/>
                                  </p:stCondLst>
                                  <p:childTnLst>
                                    <p:anim calcmode="discrete" valueType="str">
                                      <p:cBhvr>
                                        <p:cTn id="89" dur="1000" fill="hold"/>
                                        <p:tgtEl>
                                          <p:spTgt spid="4137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699" grpId="0" animBg="1"/>
      <p:bldP spid="413714" grpId="0"/>
      <p:bldP spid="413714" grpId="1"/>
      <p:bldP spid="413715" grpId="0"/>
      <p:bldP spid="413715" grpId="1"/>
      <p:bldP spid="413735" grpId="0" animBg="1"/>
      <p:bldP spid="413736" grpId="0" animBg="1"/>
      <p:bldP spid="413743" grpId="0" animBg="1"/>
      <p:bldP spid="413750" grpId="0" animBg="1"/>
      <p:bldP spid="413750" grpId="1" animBg="1"/>
      <p:bldP spid="413750" grpId="2" animBg="1"/>
      <p:bldP spid="413751" grpId="0" animBg="1"/>
      <p:bldP spid="413752" grpId="0" animBg="1"/>
      <p:bldP spid="413753" grpId="0" animBg="1"/>
      <p:bldP spid="413754" grpId="0" animBg="1"/>
      <p:bldP spid="413755" grpId="0" animBg="1"/>
      <p:bldP spid="413755" grpId="1" animBg="1"/>
      <p:bldP spid="413756" grpId="0"/>
      <p:bldP spid="413756" grpId="1"/>
      <p:bldP spid="413760" grpId="0" animBg="1"/>
      <p:bldP spid="413761" grpId="0" animBg="1"/>
      <p:bldP spid="413770" grpId="0" animBg="1"/>
      <p:bldP spid="41377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5" name="Rectangle 2"/>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CSMA/CD </a:t>
            </a:r>
            <a:r>
              <a:rPr lang="zh-CN" altLang="en-US" dirty="0" smtClean="0">
                <a:ea typeface="黑体" panose="02010609060101010101" pitchFamily="49" charset="-122"/>
              </a:rPr>
              <a:t>重要特性</a:t>
            </a:r>
          </a:p>
        </p:txBody>
      </p:sp>
      <p:sp>
        <p:nvSpPr>
          <p:cNvPr id="414723"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使用 </a:t>
            </a:r>
            <a:r>
              <a:rPr lang="en-US" altLang="zh-CN" dirty="0" smtClean="0">
                <a:ea typeface="黑体" panose="02010609060101010101" pitchFamily="49" charset="-122"/>
              </a:rPr>
              <a:t>CSMA/CD </a:t>
            </a:r>
            <a:r>
              <a:rPr lang="zh-CN" altLang="en-US" dirty="0" smtClean="0">
                <a:ea typeface="黑体" panose="02010609060101010101" pitchFamily="49" charset="-122"/>
              </a:rPr>
              <a:t>协议的以太网不能进行全双工通信而</a:t>
            </a:r>
            <a:r>
              <a:rPr lang="zh-CN" altLang="en-US" dirty="0" smtClean="0">
                <a:solidFill>
                  <a:srgbClr val="FF0000"/>
                </a:solidFill>
                <a:ea typeface="黑体" panose="02010609060101010101" pitchFamily="49" charset="-122"/>
              </a:rPr>
              <a:t>只能进行双向交替通信（半双工通信）。</a:t>
            </a:r>
          </a:p>
          <a:p>
            <a:r>
              <a:rPr lang="zh-CN" altLang="en-US" dirty="0" smtClean="0">
                <a:ea typeface="黑体" panose="02010609060101010101" pitchFamily="49" charset="-122"/>
              </a:rPr>
              <a:t>每个站在发送数据之后的一小段时间内，存在着遭遇碰撞的可能性。 </a:t>
            </a:r>
          </a:p>
          <a:p>
            <a:r>
              <a:rPr lang="zh-CN" altLang="en-US" dirty="0" smtClean="0">
                <a:ea typeface="黑体" panose="02010609060101010101" pitchFamily="49" charset="-122"/>
              </a:rPr>
              <a:t>这种</a:t>
            </a:r>
            <a:r>
              <a:rPr lang="zh-CN" altLang="en-US" dirty="0" smtClean="0">
                <a:solidFill>
                  <a:srgbClr val="FF0000"/>
                </a:solidFill>
                <a:ea typeface="黑体" panose="02010609060101010101" pitchFamily="49" charset="-122"/>
              </a:rPr>
              <a:t>发送的不确定性</a:t>
            </a:r>
            <a:r>
              <a:rPr lang="zh-CN" altLang="en-US" dirty="0" smtClean="0">
                <a:ea typeface="黑体" panose="02010609060101010101" pitchFamily="49" charset="-122"/>
              </a:rPr>
              <a:t>使整个以太网的平均通信量远小于以太网的最高数据率。  </a:t>
            </a:r>
          </a:p>
        </p:txBody>
      </p:sp>
      <p:sp>
        <p:nvSpPr>
          <p:cNvPr id="5386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B5D966-30D3-4D49-B6CD-9C1878A7E6B1}" type="slidenum">
              <a:rPr lang="zh-CN" altLang="en-US" smtClean="0"/>
              <a:pPr eaLnBrk="1" hangingPunct="1"/>
              <a:t>24</a:t>
            </a:fld>
            <a:endParaRPr lang="en-US" altLang="zh-CN" smtClean="0"/>
          </a:p>
        </p:txBody>
      </p:sp>
      <p:sp>
        <p:nvSpPr>
          <p:cNvPr id="5386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争用期</a:t>
            </a:r>
          </a:p>
        </p:txBody>
      </p:sp>
      <p:sp>
        <p:nvSpPr>
          <p:cNvPr id="415747"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最先发送数据帧的站，在发送数据帧后</a:t>
            </a:r>
            <a:r>
              <a:rPr lang="zh-CN" altLang="en-US" dirty="0" smtClean="0">
                <a:solidFill>
                  <a:srgbClr val="FF0000"/>
                </a:solidFill>
                <a:ea typeface="黑体" panose="02010609060101010101" pitchFamily="49" charset="-122"/>
              </a:rPr>
              <a:t>至多</a:t>
            </a:r>
            <a:r>
              <a:rPr lang="zh-CN" altLang="en-US" dirty="0" smtClean="0">
                <a:ea typeface="黑体" panose="02010609060101010101" pitchFamily="49" charset="-122"/>
              </a:rPr>
              <a:t>经过时间 </a:t>
            </a:r>
            <a:r>
              <a:rPr lang="en-US" altLang="zh-CN" dirty="0" smtClean="0">
                <a:solidFill>
                  <a:srgbClr val="FF0000"/>
                </a:solidFill>
                <a:ea typeface="黑体" panose="02010609060101010101" pitchFamily="49" charset="-122"/>
              </a:rPr>
              <a:t>2</a:t>
            </a:r>
            <a:r>
              <a:rPr lang="en-US" altLang="zh-CN" i="1" dirty="0" smtClean="0">
                <a:solidFill>
                  <a:srgbClr val="FF0000"/>
                </a:solidFill>
                <a:ea typeface="黑体" panose="02010609060101010101" pitchFamily="49" charset="-122"/>
                <a:sym typeface="Symbol" panose="05050102010706020507" pitchFamily="18" charset="2"/>
              </a:rPr>
              <a:t> </a:t>
            </a:r>
            <a:r>
              <a:rPr lang="zh-CN" altLang="en-US" dirty="0" smtClean="0">
                <a:solidFill>
                  <a:srgbClr val="FF0000"/>
                </a:solidFill>
                <a:ea typeface="黑体" panose="02010609060101010101" pitchFamily="49" charset="-122"/>
                <a:sym typeface="Symbol" panose="05050102010706020507" pitchFamily="18" charset="2"/>
              </a:rPr>
              <a:t>（两倍的端到端往返时延）</a:t>
            </a:r>
            <a:r>
              <a:rPr lang="zh-CN" altLang="en-US" dirty="0" smtClean="0">
                <a:ea typeface="黑体" panose="02010609060101010101" pitchFamily="49" charset="-122"/>
              </a:rPr>
              <a:t>就可知道发送的数据帧是否遭受了碰撞。</a:t>
            </a:r>
          </a:p>
          <a:p>
            <a:r>
              <a:rPr lang="zh-CN" altLang="en-US" dirty="0" smtClean="0">
                <a:ea typeface="黑体" panose="02010609060101010101" pitchFamily="49" charset="-122"/>
              </a:rPr>
              <a:t>以太网的端到端往返时延 </a:t>
            </a:r>
            <a:r>
              <a:rPr lang="en-US" altLang="zh-CN" dirty="0" smtClean="0">
                <a:ea typeface="黑体" panose="02010609060101010101" pitchFamily="49" charset="-122"/>
              </a:rPr>
              <a:t>2</a:t>
            </a:r>
            <a:r>
              <a:rPr lang="en-US" altLang="zh-CN" i="1"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rPr>
              <a:t>称为</a:t>
            </a:r>
            <a:r>
              <a:rPr lang="zh-CN" altLang="en-US" dirty="0" smtClean="0">
                <a:solidFill>
                  <a:srgbClr val="FF0000"/>
                </a:solidFill>
                <a:ea typeface="黑体" panose="02010609060101010101" pitchFamily="49" charset="-122"/>
              </a:rPr>
              <a:t>争用期，</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碰撞窗口。</a:t>
            </a:r>
          </a:p>
          <a:p>
            <a:r>
              <a:rPr lang="zh-CN" altLang="en-US" dirty="0" smtClean="0">
                <a:solidFill>
                  <a:srgbClr val="0000FF"/>
                </a:solidFill>
                <a:ea typeface="黑体" panose="02010609060101010101" pitchFamily="49" charset="-122"/>
              </a:rPr>
              <a:t>经过争用期这段时间还没有检测到碰撞，才能肯定这次发送不会发生碰撞。</a:t>
            </a:r>
          </a:p>
        </p:txBody>
      </p:sp>
      <p:sp>
        <p:nvSpPr>
          <p:cNvPr id="5406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180B01-D221-49A7-9DCD-1533DA7EE78B}" type="slidenum">
              <a:rPr lang="zh-CN" altLang="en-US" smtClean="0"/>
              <a:pPr eaLnBrk="1" hangingPunct="1"/>
              <a:t>25</a:t>
            </a:fld>
            <a:endParaRPr lang="en-US" altLang="zh-CN" smtClean="0"/>
          </a:p>
        </p:txBody>
      </p:sp>
      <p:sp>
        <p:nvSpPr>
          <p:cNvPr id="5406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1" name="Rectangle 2"/>
          <p:cNvSpPr>
            <a:spLocks noGrp="1" noChangeArrowheads="1"/>
          </p:cNvSpPr>
          <p:nvPr>
            <p:ph type="title"/>
          </p:nvPr>
        </p:nvSpPr>
        <p:spPr>
          <a:xfrm>
            <a:off x="495300" y="188913"/>
            <a:ext cx="9066213" cy="1439862"/>
          </a:xfrm>
        </p:spPr>
        <p:txBody>
          <a:bodyPr/>
          <a:lstStyle/>
          <a:p>
            <a:pPr algn="ctr"/>
            <a:r>
              <a:rPr lang="zh-CN" altLang="en-US" sz="4000" dirty="0" smtClean="0">
                <a:ea typeface="黑体" panose="02010609060101010101" pitchFamily="49" charset="-122"/>
              </a:rPr>
              <a:t>二进制指数类型退避算法 </a:t>
            </a:r>
            <a:r>
              <a:rPr lang="en-US" altLang="zh-CN" sz="4000" dirty="0" smtClean="0">
                <a:ea typeface="黑体" panose="02010609060101010101" pitchFamily="49" charset="-122"/>
              </a:rPr>
              <a:t/>
            </a:r>
            <a:br>
              <a:rPr lang="en-US" altLang="zh-CN" sz="4000" dirty="0" smtClean="0">
                <a:ea typeface="黑体" panose="02010609060101010101" pitchFamily="49" charset="-122"/>
              </a:rPr>
            </a:br>
            <a:r>
              <a:rPr lang="en-US" altLang="zh-CN" sz="4000" dirty="0" smtClean="0">
                <a:ea typeface="黑体" panose="02010609060101010101" pitchFamily="49" charset="-122"/>
              </a:rPr>
              <a:t>(truncated binary exponential type)</a:t>
            </a:r>
          </a:p>
        </p:txBody>
      </p:sp>
      <p:sp>
        <p:nvSpPr>
          <p:cNvPr id="416771" name="Rectangle 3"/>
          <p:cNvSpPr>
            <a:spLocks noGrp="1" noChangeArrowheads="1"/>
          </p:cNvSpPr>
          <p:nvPr>
            <p:ph idx="1"/>
          </p:nvPr>
        </p:nvSpPr>
        <p:spPr>
          <a:xfrm>
            <a:off x="495300" y="1700213"/>
            <a:ext cx="9066213" cy="4430712"/>
          </a:xfrm>
        </p:spPr>
        <p:txBody>
          <a:bodyPr/>
          <a:lstStyle/>
          <a:p>
            <a:r>
              <a:rPr lang="zh-CN" altLang="en-US" sz="2800" dirty="0" smtClean="0">
                <a:ea typeface="黑体" panose="02010609060101010101" pitchFamily="49" charset="-122"/>
              </a:rPr>
              <a:t>发生碰撞的站在停止发送数据后，要推迟（退避）一个</a:t>
            </a:r>
            <a:r>
              <a:rPr lang="zh-CN" altLang="en-US" sz="2800" dirty="0" smtClean="0">
                <a:solidFill>
                  <a:srgbClr val="FF0000"/>
                </a:solidFill>
                <a:ea typeface="黑体" panose="02010609060101010101" pitchFamily="49" charset="-122"/>
              </a:rPr>
              <a:t>随机时间</a:t>
            </a:r>
            <a:r>
              <a:rPr lang="zh-CN" altLang="en-US" sz="2800" dirty="0" smtClean="0">
                <a:ea typeface="黑体" panose="02010609060101010101" pitchFamily="49" charset="-122"/>
              </a:rPr>
              <a:t>才能再发送数据。</a:t>
            </a:r>
          </a:p>
          <a:p>
            <a:pPr lvl="1"/>
            <a:r>
              <a:rPr lang="zh-CN" altLang="en-US" sz="2400" dirty="0" smtClean="0">
                <a:solidFill>
                  <a:srgbClr val="0000FF"/>
                </a:solidFill>
                <a:ea typeface="黑体" panose="02010609060101010101" pitchFamily="49" charset="-122"/>
              </a:rPr>
              <a:t>基本退避时间取为争用期 </a:t>
            </a:r>
            <a:r>
              <a:rPr lang="en-US" altLang="zh-CN" sz="2400" dirty="0" smtClean="0">
                <a:solidFill>
                  <a:srgbClr val="0000FF"/>
                </a:solidFill>
                <a:ea typeface="黑体" panose="02010609060101010101" pitchFamily="49" charset="-122"/>
              </a:rPr>
              <a:t>2</a:t>
            </a:r>
            <a:r>
              <a:rPr lang="en-US" altLang="zh-CN" sz="2400" i="1" dirty="0" smtClean="0">
                <a:solidFill>
                  <a:srgbClr val="0000FF"/>
                </a:solidFill>
                <a:ea typeface="黑体" panose="02010609060101010101" pitchFamily="49" charset="-122"/>
                <a:sym typeface="Symbol" panose="05050102010706020507" pitchFamily="18" charset="2"/>
              </a:rPr>
              <a:t></a:t>
            </a:r>
            <a:r>
              <a:rPr lang="zh-CN" altLang="en-US" sz="2400" dirty="0" smtClean="0">
                <a:solidFill>
                  <a:srgbClr val="0000FF"/>
                </a:solidFill>
                <a:ea typeface="黑体" panose="02010609060101010101" pitchFamily="49" charset="-122"/>
              </a:rPr>
              <a:t>。</a:t>
            </a:r>
          </a:p>
          <a:p>
            <a:pPr lvl="1"/>
            <a:r>
              <a:rPr lang="zh-CN" altLang="en-US" sz="2400" dirty="0" smtClean="0">
                <a:ea typeface="黑体" panose="02010609060101010101" pitchFamily="49" charset="-122"/>
              </a:rPr>
              <a:t>从整数集合 </a:t>
            </a:r>
            <a:r>
              <a:rPr lang="en-US" altLang="zh-CN" sz="2400" dirty="0" smtClean="0">
                <a:ea typeface="黑体" panose="02010609060101010101" pitchFamily="49" charset="-122"/>
              </a:rPr>
              <a:t>[0, 1, … , (2</a:t>
            </a:r>
            <a:r>
              <a:rPr lang="en-US" altLang="zh-CN" sz="2400" i="1" baseline="30000" dirty="0" smtClean="0">
                <a:ea typeface="黑体" panose="02010609060101010101" pitchFamily="49" charset="-122"/>
              </a:rPr>
              <a:t>k</a:t>
            </a:r>
            <a:r>
              <a:rPr lang="en-US" altLang="zh-CN" sz="2400" i="1" dirty="0" smtClean="0">
                <a:ea typeface="黑体" panose="02010609060101010101" pitchFamily="49" charset="-122"/>
              </a:rPr>
              <a:t> </a:t>
            </a:r>
            <a:r>
              <a:rPr lang="en-US" altLang="zh-CN" sz="2400" dirty="0" smtClean="0">
                <a:ea typeface="黑体" panose="02010609060101010101" pitchFamily="49" charset="-122"/>
                <a:sym typeface="Symbol" panose="05050102010706020507" pitchFamily="18" charset="2"/>
              </a:rPr>
              <a:t></a:t>
            </a:r>
            <a:r>
              <a:rPr lang="en-US" altLang="zh-CN" sz="2400" dirty="0" smtClean="0">
                <a:ea typeface="黑体" panose="02010609060101010101" pitchFamily="49" charset="-122"/>
              </a:rPr>
              <a:t>1)] </a:t>
            </a:r>
            <a:r>
              <a:rPr lang="zh-CN" altLang="en-US" sz="2400" dirty="0" smtClean="0">
                <a:ea typeface="黑体" panose="02010609060101010101" pitchFamily="49" charset="-122"/>
              </a:rPr>
              <a:t>中</a:t>
            </a:r>
            <a:r>
              <a:rPr lang="zh-CN" altLang="en-US" sz="2400" dirty="0" smtClean="0">
                <a:solidFill>
                  <a:srgbClr val="FF0000"/>
                </a:solidFill>
                <a:ea typeface="黑体" panose="02010609060101010101" pitchFamily="49" charset="-122"/>
              </a:rPr>
              <a:t>随机</a:t>
            </a:r>
            <a:r>
              <a:rPr lang="zh-CN" altLang="en-US" sz="2400" dirty="0" smtClean="0">
                <a:ea typeface="黑体" panose="02010609060101010101" pitchFamily="49" charset="-122"/>
              </a:rPr>
              <a:t>地取出一个数，记为 </a:t>
            </a:r>
            <a:r>
              <a:rPr lang="en-US" altLang="zh-CN" sz="2400" i="1" dirty="0" smtClean="0">
                <a:ea typeface="黑体" panose="02010609060101010101" pitchFamily="49" charset="-122"/>
              </a:rPr>
              <a:t>r</a:t>
            </a:r>
            <a:r>
              <a:rPr lang="zh-CN" altLang="en-US" sz="2400" dirty="0" smtClean="0">
                <a:ea typeface="黑体" panose="02010609060101010101" pitchFamily="49" charset="-122"/>
              </a:rPr>
              <a:t>。重传所需的时延就是 </a:t>
            </a:r>
            <a:r>
              <a:rPr lang="en-US" altLang="zh-CN" sz="2400" i="1" dirty="0" smtClean="0">
                <a:ea typeface="黑体" panose="02010609060101010101" pitchFamily="49" charset="-122"/>
              </a:rPr>
              <a:t>r </a:t>
            </a:r>
            <a:r>
              <a:rPr lang="zh-CN" altLang="en-US" sz="2400" dirty="0" smtClean="0">
                <a:ea typeface="黑体" panose="02010609060101010101" pitchFamily="49" charset="-122"/>
              </a:rPr>
              <a:t>倍的基本退避时间。</a:t>
            </a:r>
          </a:p>
          <a:p>
            <a:pPr lvl="1"/>
            <a:r>
              <a:rPr lang="zh-CN" altLang="en-US" sz="2400" dirty="0" smtClean="0">
                <a:ea typeface="黑体" panose="02010609060101010101" pitchFamily="49" charset="-122"/>
              </a:rPr>
              <a:t>参数 </a:t>
            </a:r>
            <a:r>
              <a:rPr lang="en-US" altLang="zh-CN" sz="2400" i="1" dirty="0" smtClean="0">
                <a:ea typeface="黑体" panose="02010609060101010101" pitchFamily="49" charset="-122"/>
              </a:rPr>
              <a:t>k</a:t>
            </a:r>
            <a:r>
              <a:rPr lang="en-US" altLang="zh-CN" sz="2400" dirty="0" smtClean="0">
                <a:ea typeface="黑体" panose="02010609060101010101" pitchFamily="49" charset="-122"/>
              </a:rPr>
              <a:t> </a:t>
            </a:r>
            <a:r>
              <a:rPr lang="zh-CN" altLang="en-US" sz="2400" dirty="0" smtClean="0">
                <a:ea typeface="黑体" panose="02010609060101010101" pitchFamily="49" charset="-122"/>
              </a:rPr>
              <a:t>按下面的公式计算：</a:t>
            </a:r>
          </a:p>
          <a:p>
            <a:pPr lvl="1">
              <a:buFont typeface="Wingdings" panose="05000000000000000000" pitchFamily="2" charset="2"/>
              <a:buNone/>
            </a:pPr>
            <a:r>
              <a:rPr lang="zh-CN" altLang="en-US" dirty="0" smtClean="0">
                <a:solidFill>
                  <a:srgbClr val="0000FF"/>
                </a:solidFill>
                <a:ea typeface="黑体" panose="02010609060101010101" pitchFamily="49" charset="-122"/>
              </a:rPr>
              <a:t>                 </a:t>
            </a:r>
            <a:r>
              <a:rPr lang="en-US" altLang="zh-CN" i="1" dirty="0" smtClean="0">
                <a:solidFill>
                  <a:srgbClr val="0000FF"/>
                </a:solidFill>
                <a:ea typeface="黑体" panose="02010609060101010101" pitchFamily="49" charset="-122"/>
              </a:rPr>
              <a:t>k</a:t>
            </a:r>
            <a:r>
              <a:rPr lang="en-US" altLang="zh-CN" dirty="0" smtClean="0">
                <a:solidFill>
                  <a:srgbClr val="0000FF"/>
                </a:solidFill>
                <a:ea typeface="黑体" panose="02010609060101010101" pitchFamily="49" charset="-122"/>
              </a:rPr>
              <a:t> = Min[</a:t>
            </a:r>
            <a:r>
              <a:rPr lang="zh-CN" altLang="en-US" dirty="0" smtClean="0">
                <a:solidFill>
                  <a:srgbClr val="0000FF"/>
                </a:solidFill>
                <a:ea typeface="黑体" panose="02010609060101010101" pitchFamily="49" charset="-122"/>
              </a:rPr>
              <a:t>重传次数</a:t>
            </a:r>
            <a:r>
              <a:rPr lang="en-US" altLang="zh-CN" dirty="0" smtClean="0">
                <a:solidFill>
                  <a:srgbClr val="0000FF"/>
                </a:solidFill>
                <a:ea typeface="黑体" panose="02010609060101010101" pitchFamily="49" charset="-122"/>
              </a:rPr>
              <a:t>, 10]</a:t>
            </a:r>
          </a:p>
          <a:p>
            <a:pPr lvl="1"/>
            <a:r>
              <a:rPr lang="zh-CN" altLang="en-US" sz="2400" dirty="0" smtClean="0">
                <a:ea typeface="黑体" panose="02010609060101010101" pitchFamily="49" charset="-122"/>
              </a:rPr>
              <a:t>当 </a:t>
            </a:r>
            <a:r>
              <a:rPr lang="en-US" altLang="zh-CN" sz="2400" i="1" dirty="0" smtClean="0">
                <a:ea typeface="黑体" panose="02010609060101010101" pitchFamily="49" charset="-122"/>
              </a:rPr>
              <a:t>k </a:t>
            </a:r>
            <a:r>
              <a:rPr lang="en-US" altLang="zh-CN" sz="2400" dirty="0" smtClean="0">
                <a:ea typeface="黑体" panose="02010609060101010101" pitchFamily="49" charset="-122"/>
                <a:sym typeface="Symbol" panose="05050102010706020507" pitchFamily="18" charset="2"/>
              </a:rPr>
              <a:t> </a:t>
            </a:r>
            <a:r>
              <a:rPr lang="en-US" altLang="zh-CN" sz="2400" dirty="0" smtClean="0">
                <a:ea typeface="黑体" panose="02010609060101010101" pitchFamily="49" charset="-122"/>
              </a:rPr>
              <a:t>10 </a:t>
            </a:r>
            <a:r>
              <a:rPr lang="zh-CN" altLang="en-US" sz="2400" dirty="0" smtClean="0">
                <a:ea typeface="黑体" panose="02010609060101010101" pitchFamily="49" charset="-122"/>
              </a:rPr>
              <a:t>时，参数 </a:t>
            </a:r>
            <a:r>
              <a:rPr lang="en-US" altLang="zh-CN" sz="2400" i="1" dirty="0" smtClean="0">
                <a:ea typeface="黑体" panose="02010609060101010101" pitchFamily="49" charset="-122"/>
              </a:rPr>
              <a:t>k</a:t>
            </a:r>
            <a:r>
              <a:rPr lang="en-US" altLang="zh-CN" sz="2400" dirty="0" smtClean="0">
                <a:ea typeface="黑体" panose="02010609060101010101" pitchFamily="49" charset="-122"/>
              </a:rPr>
              <a:t> </a:t>
            </a:r>
            <a:r>
              <a:rPr lang="zh-CN" altLang="en-US" sz="2400" dirty="0" smtClean="0">
                <a:ea typeface="黑体" panose="02010609060101010101" pitchFamily="49" charset="-122"/>
              </a:rPr>
              <a:t>等于重传次数。</a:t>
            </a:r>
          </a:p>
          <a:p>
            <a:pPr lvl="1"/>
            <a:r>
              <a:rPr lang="zh-CN" altLang="en-US" sz="2400" dirty="0" smtClean="0">
                <a:ea typeface="黑体" panose="02010609060101010101" pitchFamily="49" charset="-122"/>
              </a:rPr>
              <a:t>当重传达 </a:t>
            </a:r>
            <a:r>
              <a:rPr lang="en-US" altLang="zh-CN" sz="2400" dirty="0" smtClean="0">
                <a:solidFill>
                  <a:srgbClr val="FF0000"/>
                </a:solidFill>
                <a:ea typeface="黑体" panose="02010609060101010101" pitchFamily="49" charset="-122"/>
              </a:rPr>
              <a:t>16 </a:t>
            </a:r>
            <a:r>
              <a:rPr lang="zh-CN" altLang="en-US" sz="2400" dirty="0" smtClean="0">
                <a:ea typeface="黑体" panose="02010609060101010101" pitchFamily="49" charset="-122"/>
              </a:rPr>
              <a:t>次仍不能成功时即丢弃该帧，并向高层报告。 </a:t>
            </a:r>
          </a:p>
        </p:txBody>
      </p:sp>
      <p:sp>
        <p:nvSpPr>
          <p:cNvPr id="5427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F32D96-4FB6-475B-849E-FB67CB8CCAFD}" type="slidenum">
              <a:rPr lang="zh-CN" altLang="en-US" smtClean="0"/>
              <a:pPr eaLnBrk="1" hangingPunct="1"/>
              <a:t>26</a:t>
            </a:fld>
            <a:endParaRPr lang="en-US" altLang="zh-CN" smtClean="0"/>
          </a:p>
        </p:txBody>
      </p:sp>
      <p:sp>
        <p:nvSpPr>
          <p:cNvPr id="5427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6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6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6771">
                                            <p:txEl>
                                              <p:pRg st="3" end="3"/>
                                            </p:txEl>
                                          </p:spTgt>
                                        </p:tgtEl>
                                        <p:attrNameLst>
                                          <p:attrName>style.visibility</p:attrName>
                                        </p:attrNameLst>
                                      </p:cBhvr>
                                      <p:to>
                                        <p:strVal val="visible"/>
                                      </p:to>
                                    </p:set>
                                  </p:childTnLst>
                                </p:cTn>
                              </p:par>
                            </p:childTnLst>
                          </p:cTn>
                        </p:par>
                        <p:par>
                          <p:cTn id="15" fill="hold" nodeType="afterGroup">
                            <p:stCondLst>
                              <p:cond delay="1"/>
                            </p:stCondLst>
                            <p:childTnLst>
                              <p:par>
                                <p:cTn id="16" presetID="1" presetClass="entr" presetSubtype="0" fill="hold" nodeType="afterEffect">
                                  <p:stCondLst>
                                    <p:cond delay="0"/>
                                  </p:stCondLst>
                                  <p:childTnLst>
                                    <p:set>
                                      <p:cBhvr>
                                        <p:cTn id="17" dur="1" fill="hold">
                                          <p:stCondLst>
                                            <p:cond delay="0"/>
                                          </p:stCondLst>
                                        </p:cTn>
                                        <p:tgtEl>
                                          <p:spTgt spid="416771">
                                            <p:txEl>
                                              <p:pRg st="4" end="4"/>
                                            </p:txEl>
                                          </p:spTgt>
                                        </p:tgtEl>
                                        <p:attrNameLst>
                                          <p:attrName>style.visibility</p:attrName>
                                        </p:attrNameLst>
                                      </p:cBhvr>
                                      <p:to>
                                        <p:strVal val="visible"/>
                                      </p:to>
                                    </p:set>
                                  </p:childTnLst>
                                </p:cTn>
                              </p:par>
                            </p:childTnLst>
                          </p:cTn>
                        </p:par>
                        <p:par>
                          <p:cTn id="18" fill="hold" nodeType="afterGroup">
                            <p:stCondLst>
                              <p:cond delay="2"/>
                            </p:stCondLst>
                            <p:childTnLst>
                              <p:par>
                                <p:cTn id="19" presetID="1" presetClass="entr" presetSubtype="0" fill="hold" nodeType="afterEffect">
                                  <p:stCondLst>
                                    <p:cond delay="0"/>
                                  </p:stCondLst>
                                  <p:childTnLst>
                                    <p:set>
                                      <p:cBhvr>
                                        <p:cTn id="20" dur="1" fill="hold">
                                          <p:stCondLst>
                                            <p:cond delay="0"/>
                                          </p:stCondLst>
                                        </p:cTn>
                                        <p:tgtEl>
                                          <p:spTgt spid="41677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16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69"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争用期的长度 </a:t>
            </a:r>
          </a:p>
        </p:txBody>
      </p:sp>
      <p:sp>
        <p:nvSpPr>
          <p:cNvPr id="54477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10 Mbit/s</a:t>
            </a:r>
            <a:r>
              <a:rPr lang="zh-CN" altLang="en-US" dirty="0" smtClean="0">
                <a:ea typeface="黑体" panose="02010609060101010101" pitchFamily="49" charset="-122"/>
              </a:rPr>
              <a:t>（</a:t>
            </a:r>
            <a:r>
              <a:rPr lang="en-US" altLang="zh-CN" dirty="0" smtClean="0">
                <a:ea typeface="黑体" panose="02010609060101010101" pitchFamily="49" charset="-122"/>
              </a:rPr>
              <a:t>5km</a:t>
            </a:r>
            <a:r>
              <a:rPr lang="zh-CN" altLang="en-US" dirty="0" smtClean="0">
                <a:ea typeface="黑体" panose="02010609060101010101" pitchFamily="49" charset="-122"/>
              </a:rPr>
              <a:t>，</a:t>
            </a:r>
            <a:r>
              <a:rPr lang="en-US" altLang="zh-CN" dirty="0" smtClean="0">
                <a:ea typeface="黑体" panose="02010609060101010101" pitchFamily="49" charset="-122"/>
              </a:rPr>
              <a:t>25</a:t>
            </a:r>
            <a:r>
              <a:rPr lang="en-US" altLang="zh-CN" dirty="0">
                <a:solidFill>
                  <a:srgbClr val="FF0000"/>
                </a:solidFill>
                <a:ea typeface="黑体" panose="02010609060101010101" pitchFamily="49" charset="-122"/>
                <a:sym typeface="Symbol" panose="05050102010706020507" pitchFamily="18" charset="2"/>
              </a:rPr>
              <a:t> </a:t>
            </a:r>
            <a:r>
              <a:rPr lang="en-US" altLang="zh-CN" dirty="0">
                <a:ea typeface="黑体" panose="02010609060101010101" pitchFamily="49" charset="-122"/>
                <a:sym typeface="Symbol" panose="05050102010706020507" pitchFamily="18" charset="2"/>
              </a:rPr>
              <a:t></a:t>
            </a:r>
            <a:r>
              <a:rPr lang="en-US" altLang="zh-CN" dirty="0">
                <a:ea typeface="黑体" panose="02010609060101010101" pitchFamily="49" charset="-122"/>
              </a:rPr>
              <a:t>s</a:t>
            </a:r>
            <a:r>
              <a:rPr lang="en-US" altLang="zh-CN" dirty="0">
                <a:solidFill>
                  <a:srgbClr val="FF0000"/>
                </a:solidFill>
                <a:ea typeface="黑体" panose="02010609060101010101" pitchFamily="49" charset="-122"/>
              </a:rPr>
              <a:t> </a:t>
            </a:r>
            <a:r>
              <a:rPr lang="zh-CN" altLang="en-US" dirty="0" smtClean="0">
                <a:ea typeface="黑体" panose="02010609060101010101" pitchFamily="49" charset="-122"/>
              </a:rPr>
              <a:t>）</a:t>
            </a:r>
            <a:r>
              <a:rPr lang="en-US" altLang="zh-CN" dirty="0" smtClean="0">
                <a:ea typeface="黑体" panose="02010609060101010101" pitchFamily="49" charset="-122"/>
              </a:rPr>
              <a:t> </a:t>
            </a:r>
            <a:r>
              <a:rPr lang="zh-CN" altLang="en-US" dirty="0" smtClean="0">
                <a:ea typeface="黑体" panose="02010609060101010101" pitchFamily="49" charset="-122"/>
              </a:rPr>
              <a:t>以太网取 </a:t>
            </a:r>
            <a:r>
              <a:rPr lang="en-US" altLang="zh-CN" dirty="0" smtClean="0">
                <a:solidFill>
                  <a:srgbClr val="FF0000"/>
                </a:solidFill>
                <a:ea typeface="黑体" panose="02010609060101010101" pitchFamily="49" charset="-122"/>
              </a:rPr>
              <a:t>51.2 </a:t>
            </a:r>
            <a:r>
              <a:rPr lang="en-US" altLang="zh-CN" dirty="0" smtClean="0">
                <a:solidFill>
                  <a:srgbClr val="FF0000"/>
                </a:solidFill>
                <a:ea typeface="黑体" panose="02010609060101010101" pitchFamily="49" charset="-122"/>
                <a:sym typeface="Symbol" panose="05050102010706020507" pitchFamily="18" charset="2"/>
              </a:rPr>
              <a:t></a:t>
            </a:r>
            <a:r>
              <a:rPr lang="en-US" altLang="zh-CN" dirty="0" smtClean="0">
                <a:solidFill>
                  <a:srgbClr val="FF0000"/>
                </a:solidFill>
                <a:ea typeface="黑体" panose="02010609060101010101" pitchFamily="49" charset="-122"/>
              </a:rPr>
              <a:t>s </a:t>
            </a:r>
            <a:r>
              <a:rPr lang="zh-CN" altLang="en-US" dirty="0" smtClean="0">
                <a:ea typeface="黑体" panose="02010609060101010101" pitchFamily="49" charset="-122"/>
              </a:rPr>
              <a:t>为争用期的长度。</a:t>
            </a:r>
          </a:p>
          <a:p>
            <a:r>
              <a:rPr lang="zh-CN" altLang="en-US" dirty="0" smtClean="0">
                <a:ea typeface="黑体" panose="02010609060101010101" pitchFamily="49" charset="-122"/>
              </a:rPr>
              <a:t>对于 </a:t>
            </a:r>
            <a:r>
              <a:rPr lang="en-US" altLang="zh-CN" dirty="0" smtClean="0">
                <a:ea typeface="黑体" panose="02010609060101010101" pitchFamily="49" charset="-122"/>
              </a:rPr>
              <a:t>10 Mbit/s </a:t>
            </a:r>
            <a:r>
              <a:rPr lang="zh-CN" altLang="en-US" dirty="0" smtClean="0">
                <a:ea typeface="黑体" panose="02010609060101010101" pitchFamily="49" charset="-122"/>
              </a:rPr>
              <a:t>以太网，在争用期内可发送 </a:t>
            </a:r>
            <a:r>
              <a:rPr lang="en-US" altLang="zh-CN" dirty="0" smtClean="0">
                <a:ea typeface="黑体" panose="02010609060101010101" pitchFamily="49" charset="-122"/>
              </a:rPr>
              <a:t>512 bit</a:t>
            </a:r>
            <a:r>
              <a:rPr lang="zh-CN" altLang="en-US" dirty="0" smtClean="0">
                <a:ea typeface="黑体" panose="02010609060101010101" pitchFamily="49" charset="-122"/>
              </a:rPr>
              <a:t>，即 </a:t>
            </a:r>
            <a:r>
              <a:rPr lang="en-US" altLang="zh-CN" dirty="0" smtClean="0">
                <a:ea typeface="黑体" panose="02010609060101010101" pitchFamily="49" charset="-122"/>
              </a:rPr>
              <a:t>64 </a:t>
            </a:r>
            <a:r>
              <a:rPr lang="zh-CN" altLang="en-US" dirty="0" smtClean="0">
                <a:ea typeface="黑体" panose="02010609060101010101" pitchFamily="49" charset="-122"/>
              </a:rPr>
              <a:t>字节。</a:t>
            </a:r>
          </a:p>
        </p:txBody>
      </p:sp>
      <p:sp>
        <p:nvSpPr>
          <p:cNvPr id="544771" name="矩形 1"/>
          <p:cNvSpPr>
            <a:spLocks noChangeArrowheads="1"/>
          </p:cNvSpPr>
          <p:nvPr/>
        </p:nvSpPr>
        <p:spPr bwMode="auto">
          <a:xfrm>
            <a:off x="888206" y="3888582"/>
            <a:ext cx="8280400" cy="1570037"/>
          </a:xfrm>
          <a:prstGeom prst="rect">
            <a:avLst/>
          </a:prstGeom>
          <a:solidFill>
            <a:srgbClr val="FFFF66"/>
          </a:solidFill>
          <a:ln w="9525">
            <a:solidFill>
              <a:srgbClr val="000099"/>
            </a:solidFill>
            <a:round/>
            <a:headEnd/>
            <a:tailEnd/>
          </a:ln>
        </p:spPr>
        <p:txBody>
          <a:bodyPr>
            <a:spAutoFit/>
          </a:bodyPr>
          <a:lstStyle/>
          <a:p>
            <a:pPr eaLnBrk="0" hangingPunct="0"/>
            <a:r>
              <a:rPr lang="zh-CN" altLang="en-US" sz="3200" b="1" dirty="0">
                <a:solidFill>
                  <a:srgbClr val="000099"/>
                </a:solidFill>
                <a:ea typeface="黑体" panose="02010609060101010101" pitchFamily="49" charset="-122"/>
              </a:rPr>
              <a:t>这意味着：</a:t>
            </a:r>
          </a:p>
          <a:p>
            <a:pPr eaLnBrk="0" hangingPunct="0"/>
            <a:r>
              <a:rPr lang="zh-CN" altLang="en-US" sz="3200" b="1" dirty="0">
                <a:solidFill>
                  <a:srgbClr val="0000FF"/>
                </a:solidFill>
                <a:ea typeface="黑体" panose="02010609060101010101" pitchFamily="49" charset="-122"/>
              </a:rPr>
              <a:t>以太网在发送数据时，若前 </a:t>
            </a:r>
            <a:r>
              <a:rPr lang="en-US" altLang="zh-CN" sz="3200" b="1" dirty="0">
                <a:solidFill>
                  <a:srgbClr val="0000FF"/>
                </a:solidFill>
                <a:ea typeface="黑体" panose="02010609060101010101" pitchFamily="49" charset="-122"/>
              </a:rPr>
              <a:t>64 </a:t>
            </a:r>
            <a:r>
              <a:rPr lang="zh-CN" altLang="en-US" sz="3200" b="1" dirty="0">
                <a:solidFill>
                  <a:srgbClr val="0000FF"/>
                </a:solidFill>
                <a:ea typeface="黑体" panose="02010609060101010101" pitchFamily="49" charset="-122"/>
              </a:rPr>
              <a:t>字节没有发生冲突，则后续的数据就不会发生冲突。</a:t>
            </a:r>
          </a:p>
        </p:txBody>
      </p:sp>
      <p:sp>
        <p:nvSpPr>
          <p:cNvPr id="54477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17C21E-2DB5-49AE-A681-068F69EEA4C6}" type="slidenum">
              <a:rPr lang="zh-CN" altLang="en-US" smtClean="0"/>
              <a:pPr eaLnBrk="1" hangingPunct="1"/>
              <a:t>27</a:t>
            </a:fld>
            <a:endParaRPr lang="en-US" altLang="zh-CN" smtClean="0"/>
          </a:p>
        </p:txBody>
      </p:sp>
      <p:sp>
        <p:nvSpPr>
          <p:cNvPr id="54477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最短有效帧长 </a:t>
            </a:r>
          </a:p>
        </p:txBody>
      </p:sp>
      <p:sp>
        <p:nvSpPr>
          <p:cNvPr id="5468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如果发生冲突，就一定是在发送的前 </a:t>
            </a:r>
            <a:r>
              <a:rPr lang="en-US" altLang="zh-CN" dirty="0" smtClean="0">
                <a:ea typeface="黑体" panose="02010609060101010101" pitchFamily="49" charset="-122"/>
              </a:rPr>
              <a:t>64 </a:t>
            </a:r>
            <a:r>
              <a:rPr lang="zh-CN" altLang="en-US" dirty="0" smtClean="0">
                <a:ea typeface="黑体" panose="02010609060101010101" pitchFamily="49" charset="-122"/>
              </a:rPr>
              <a:t>字节之内。 </a:t>
            </a:r>
          </a:p>
          <a:p>
            <a:r>
              <a:rPr lang="zh-CN" altLang="en-US" dirty="0" smtClean="0">
                <a:ea typeface="黑体" panose="02010609060101010101" pitchFamily="49" charset="-122"/>
              </a:rPr>
              <a:t>由于一检测到冲突就立即中止发送，这时已经发送出去的数据一定小于 </a:t>
            </a:r>
            <a:r>
              <a:rPr lang="en-US" altLang="zh-CN" dirty="0" smtClean="0">
                <a:ea typeface="黑体" panose="02010609060101010101" pitchFamily="49" charset="-122"/>
              </a:rPr>
              <a:t>64 </a:t>
            </a:r>
            <a:r>
              <a:rPr lang="zh-CN" altLang="en-US" dirty="0" smtClean="0">
                <a:ea typeface="黑体" panose="02010609060101010101" pitchFamily="49" charset="-122"/>
              </a:rPr>
              <a:t>字节。 </a:t>
            </a:r>
          </a:p>
          <a:p>
            <a:r>
              <a:rPr lang="zh-CN" altLang="en-US" dirty="0" smtClean="0">
                <a:ea typeface="黑体" panose="02010609060101010101" pitchFamily="49" charset="-122"/>
              </a:rPr>
              <a:t>以太网规定了</a:t>
            </a:r>
            <a:r>
              <a:rPr lang="zh-CN" altLang="en-US" dirty="0" smtClean="0">
                <a:solidFill>
                  <a:srgbClr val="FF0000"/>
                </a:solidFill>
                <a:ea typeface="黑体" panose="02010609060101010101" pitchFamily="49" charset="-122"/>
              </a:rPr>
              <a:t>最短有效帧长为 </a:t>
            </a:r>
            <a:r>
              <a:rPr lang="en-US" altLang="zh-CN" dirty="0" smtClean="0">
                <a:solidFill>
                  <a:srgbClr val="FF0000"/>
                </a:solidFill>
                <a:ea typeface="黑体" panose="02010609060101010101" pitchFamily="49" charset="-122"/>
              </a:rPr>
              <a:t>64 </a:t>
            </a:r>
            <a:r>
              <a:rPr lang="zh-CN" altLang="en-US" dirty="0" smtClean="0">
                <a:solidFill>
                  <a:srgbClr val="FF0000"/>
                </a:solidFill>
                <a:ea typeface="黑体" panose="02010609060101010101" pitchFamily="49" charset="-122"/>
              </a:rPr>
              <a:t>字节</a:t>
            </a:r>
            <a:r>
              <a:rPr lang="zh-CN" altLang="en-US" dirty="0" smtClean="0">
                <a:ea typeface="黑体" panose="02010609060101010101" pitchFamily="49" charset="-122"/>
              </a:rPr>
              <a:t>，凡长度小于 </a:t>
            </a:r>
            <a:r>
              <a:rPr lang="en-US" altLang="zh-CN" dirty="0" smtClean="0">
                <a:ea typeface="黑体" panose="02010609060101010101" pitchFamily="49" charset="-122"/>
              </a:rPr>
              <a:t>64 </a:t>
            </a:r>
            <a:r>
              <a:rPr lang="zh-CN" altLang="en-US" dirty="0" smtClean="0">
                <a:ea typeface="黑体" panose="02010609060101010101" pitchFamily="49" charset="-122"/>
              </a:rPr>
              <a:t>字节的帧都是由于冲突而异常中止的</a:t>
            </a:r>
            <a:r>
              <a:rPr lang="zh-CN" altLang="en-US" dirty="0" smtClean="0">
                <a:solidFill>
                  <a:srgbClr val="FF0000"/>
                </a:solidFill>
                <a:ea typeface="黑体" panose="02010609060101010101" pitchFamily="49" charset="-122"/>
              </a:rPr>
              <a:t>无效帧。</a:t>
            </a:r>
          </a:p>
        </p:txBody>
      </p:sp>
      <p:sp>
        <p:nvSpPr>
          <p:cNvPr id="5468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F7E87D-AD18-4298-8FD9-4FC105B87BB7}" type="slidenum">
              <a:rPr lang="zh-CN" altLang="en-US" smtClean="0"/>
              <a:pPr eaLnBrk="1" hangingPunct="1"/>
              <a:t>28</a:t>
            </a:fld>
            <a:endParaRPr lang="en-US" altLang="zh-CN" smtClean="0"/>
          </a:p>
        </p:txBody>
      </p:sp>
      <p:sp>
        <p:nvSpPr>
          <p:cNvPr id="5468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5"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强化碰撞 </a:t>
            </a:r>
          </a:p>
        </p:txBody>
      </p:sp>
      <p:sp>
        <p:nvSpPr>
          <p:cNvPr id="419843" name="Rectangle 3"/>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zh-CN" altLang="en-US" noProof="1"/>
              <a:t>当发送数据的站一旦发现发生了碰撞时：</a:t>
            </a:r>
          </a:p>
          <a:p>
            <a:r>
              <a:rPr lang="en-US" altLang="zh-CN" noProof="1"/>
              <a:t>(1) </a:t>
            </a:r>
            <a:r>
              <a:rPr lang="zh-CN" altLang="en-US" noProof="1"/>
              <a:t>立即停止发送数据；</a:t>
            </a:r>
          </a:p>
          <a:p>
            <a:r>
              <a:rPr lang="en-US" altLang="zh-CN" noProof="1"/>
              <a:t>(2) </a:t>
            </a:r>
            <a:r>
              <a:rPr lang="zh-CN" altLang="en-US" noProof="1"/>
              <a:t>再继续发送若干比特的</a:t>
            </a:r>
            <a:r>
              <a:rPr lang="zh-CN" altLang="en-US" noProof="1">
                <a:solidFill>
                  <a:srgbClr val="FF0000"/>
                </a:solidFill>
              </a:rPr>
              <a:t>人为干扰信号  </a:t>
            </a:r>
            <a:r>
              <a:rPr lang="en-US" altLang="zh-CN" noProof="1"/>
              <a:t>(jamming signal)</a:t>
            </a:r>
            <a:r>
              <a:rPr lang="zh-CN" altLang="en-US" noProof="1"/>
              <a:t>，以便让所有用户都知道现在已经发生了碰撞。  </a:t>
            </a:r>
          </a:p>
        </p:txBody>
      </p:sp>
      <p:sp>
        <p:nvSpPr>
          <p:cNvPr id="548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BAF259-084F-48FD-9CB8-A60AF0708552}" type="slidenum">
              <a:rPr lang="zh-CN" altLang="en-US" smtClean="0"/>
              <a:pPr eaLnBrk="1" hangingPunct="1"/>
              <a:t>29</a:t>
            </a:fld>
            <a:endParaRPr lang="en-US" altLang="zh-CN" smtClean="0"/>
          </a:p>
        </p:txBody>
      </p:sp>
      <p:sp>
        <p:nvSpPr>
          <p:cNvPr id="548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3" name="Rectangle 2"/>
          <p:cNvSpPr>
            <a:spLocks noChangeArrowheads="1"/>
          </p:cNvSpPr>
          <p:nvPr/>
        </p:nvSpPr>
        <p:spPr bwMode="auto">
          <a:xfrm>
            <a:off x="1284288" y="4462463"/>
            <a:ext cx="31750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14" name="Rectangle 3"/>
          <p:cNvSpPr>
            <a:spLocks noChangeArrowheads="1"/>
          </p:cNvSpPr>
          <p:nvPr/>
        </p:nvSpPr>
        <p:spPr bwMode="auto">
          <a:xfrm>
            <a:off x="1320800" y="3617913"/>
            <a:ext cx="228600"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420868" name="Group 4"/>
          <p:cNvGrpSpPr>
            <a:grpSpLocks/>
          </p:cNvGrpSpPr>
          <p:nvPr/>
        </p:nvGrpSpPr>
        <p:grpSpPr bwMode="auto">
          <a:xfrm>
            <a:off x="1157288" y="1849438"/>
            <a:ext cx="7091362" cy="3309937"/>
            <a:chOff x="673" y="1619"/>
            <a:chExt cx="4123" cy="2085"/>
          </a:xfrm>
        </p:grpSpPr>
        <p:grpSp>
          <p:nvGrpSpPr>
            <p:cNvPr id="550916" name="Group 5"/>
            <p:cNvGrpSpPr>
              <a:grpSpLocks/>
            </p:cNvGrpSpPr>
            <p:nvPr/>
          </p:nvGrpSpPr>
          <p:grpSpPr bwMode="auto">
            <a:xfrm>
              <a:off x="992" y="1619"/>
              <a:ext cx="3804" cy="1645"/>
              <a:chOff x="992" y="1619"/>
              <a:chExt cx="3804" cy="1645"/>
            </a:xfrm>
          </p:grpSpPr>
          <p:sp>
            <p:nvSpPr>
              <p:cNvPr id="550917" name="AutoShape 6"/>
              <p:cNvSpPr>
                <a:spLocks noChangeArrowheads="1"/>
              </p:cNvSpPr>
              <p:nvPr/>
            </p:nvSpPr>
            <p:spPr bwMode="auto">
              <a:xfrm rot="5400000">
                <a:off x="2070" y="540"/>
                <a:ext cx="1645" cy="3804"/>
              </a:xfrm>
              <a:prstGeom prst="parallelogram">
                <a:avLst>
                  <a:gd name="adj" fmla="val 37968"/>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18" name="AutoShape 7"/>
              <p:cNvSpPr>
                <a:spLocks noChangeArrowheads="1"/>
              </p:cNvSpPr>
              <p:nvPr/>
            </p:nvSpPr>
            <p:spPr bwMode="auto">
              <a:xfrm rot="601221">
                <a:off x="2228" y="2087"/>
                <a:ext cx="1066" cy="424"/>
              </a:xfrm>
              <a:prstGeom prst="rightArrow">
                <a:avLst>
                  <a:gd name="adj1" fmla="val 49370"/>
                  <a:gd name="adj2" fmla="val 80779"/>
                </a:avLst>
              </a:prstGeom>
              <a:solidFill>
                <a:srgbClr val="FFFF00"/>
              </a:solidFill>
              <a:ln w="28575">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数据帧</a:t>
                </a:r>
              </a:p>
            </p:txBody>
          </p:sp>
        </p:grpSp>
        <p:grpSp>
          <p:nvGrpSpPr>
            <p:cNvPr id="550919" name="Group 8"/>
            <p:cNvGrpSpPr>
              <a:grpSpLocks/>
            </p:cNvGrpSpPr>
            <p:nvPr/>
          </p:nvGrpSpPr>
          <p:grpSpPr bwMode="auto">
            <a:xfrm>
              <a:off x="673" y="2614"/>
              <a:ext cx="4123" cy="1090"/>
              <a:chOff x="673" y="2606"/>
              <a:chExt cx="4123" cy="1090"/>
            </a:xfrm>
          </p:grpSpPr>
          <p:grpSp>
            <p:nvGrpSpPr>
              <p:cNvPr id="550920" name="Group 9"/>
              <p:cNvGrpSpPr>
                <a:grpSpLocks/>
              </p:cNvGrpSpPr>
              <p:nvPr/>
            </p:nvGrpSpPr>
            <p:grpSpPr bwMode="auto">
              <a:xfrm>
                <a:off x="992" y="2627"/>
                <a:ext cx="3804" cy="1061"/>
                <a:chOff x="992" y="2627"/>
                <a:chExt cx="3804" cy="1061"/>
              </a:xfrm>
            </p:grpSpPr>
            <p:grpSp>
              <p:nvGrpSpPr>
                <p:cNvPr id="550921" name="Group 10"/>
                <p:cNvGrpSpPr>
                  <a:grpSpLocks/>
                </p:cNvGrpSpPr>
                <p:nvPr/>
              </p:nvGrpSpPr>
              <p:grpSpPr bwMode="auto">
                <a:xfrm>
                  <a:off x="992" y="2627"/>
                  <a:ext cx="3804" cy="1061"/>
                  <a:chOff x="992" y="2627"/>
                  <a:chExt cx="3804" cy="1061"/>
                </a:xfrm>
              </p:grpSpPr>
              <p:sp>
                <p:nvSpPr>
                  <p:cNvPr id="550922" name="AutoShape 11"/>
                  <p:cNvSpPr>
                    <a:spLocks noChangeArrowheads="1"/>
                  </p:cNvSpPr>
                  <p:nvPr/>
                </p:nvSpPr>
                <p:spPr bwMode="auto">
                  <a:xfrm rot="5400000">
                    <a:off x="2362" y="1256"/>
                    <a:ext cx="1061" cy="3804"/>
                  </a:xfrm>
                  <a:prstGeom prst="parallelogram">
                    <a:avLst>
                      <a:gd name="adj" fmla="val 59685"/>
                    </a:avLst>
                  </a:prstGeom>
                  <a:solidFill>
                    <a:srgbClr val="FF3399"/>
                  </a:solidFill>
                  <a:ln w="1270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23" name="AutoShape 12"/>
                  <p:cNvSpPr>
                    <a:spLocks noChangeArrowheads="1"/>
                  </p:cNvSpPr>
                  <p:nvPr/>
                </p:nvSpPr>
                <p:spPr bwMode="auto">
                  <a:xfrm rot="601221">
                    <a:off x="2272" y="2973"/>
                    <a:ext cx="1737" cy="469"/>
                  </a:xfrm>
                  <a:prstGeom prst="rightArrow">
                    <a:avLst>
                      <a:gd name="adj1" fmla="val 49370"/>
                      <a:gd name="adj2" fmla="val 118996"/>
                    </a:avLst>
                  </a:prstGeom>
                  <a:solidFill>
                    <a:srgbClr val="FFFF00"/>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550924" name="Text Box 13"/>
                <p:cNvSpPr txBox="1">
                  <a:spLocks noChangeArrowheads="1"/>
                </p:cNvSpPr>
                <p:nvPr/>
              </p:nvSpPr>
              <p:spPr bwMode="auto">
                <a:xfrm rot="595815">
                  <a:off x="2555" y="3034"/>
                  <a:ext cx="7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干扰信号</a:t>
                  </a:r>
                  <a:endParaRPr lang="zh-CN" altLang="en-US" b="1">
                    <a:solidFill>
                      <a:srgbClr val="0000CC"/>
                    </a:solidFill>
                    <a:ea typeface="黑体" panose="02010609060101010101" pitchFamily="49" charset="-122"/>
                  </a:endParaRPr>
                </a:p>
              </p:txBody>
            </p:sp>
          </p:grpSp>
          <p:grpSp>
            <p:nvGrpSpPr>
              <p:cNvPr id="550925" name="Group 14"/>
              <p:cNvGrpSpPr>
                <a:grpSpLocks/>
              </p:cNvGrpSpPr>
              <p:nvPr/>
            </p:nvGrpSpPr>
            <p:grpSpPr bwMode="auto">
              <a:xfrm>
                <a:off x="673" y="2606"/>
                <a:ext cx="319" cy="1090"/>
                <a:chOff x="673" y="2606"/>
                <a:chExt cx="319" cy="1090"/>
              </a:xfrm>
            </p:grpSpPr>
            <p:sp>
              <p:nvSpPr>
                <p:cNvPr id="550926" name="Line 15"/>
                <p:cNvSpPr>
                  <a:spLocks noChangeShapeType="1"/>
                </p:cNvSpPr>
                <p:nvPr/>
              </p:nvSpPr>
              <p:spPr bwMode="auto">
                <a:xfrm>
                  <a:off x="823" y="3057"/>
                  <a:ext cx="0" cy="639"/>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27" name="Line 16"/>
                <p:cNvSpPr>
                  <a:spLocks noChangeShapeType="1"/>
                </p:cNvSpPr>
                <p:nvPr/>
              </p:nvSpPr>
              <p:spPr bwMode="auto">
                <a:xfrm>
                  <a:off x="814" y="2606"/>
                  <a:ext cx="9" cy="445"/>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28" name="Rectangle 17"/>
                <p:cNvSpPr>
                  <a:spLocks noChangeArrowheads="1"/>
                </p:cNvSpPr>
                <p:nvPr/>
              </p:nvSpPr>
              <p:spPr bwMode="auto">
                <a:xfrm>
                  <a:off x="728" y="3259"/>
                  <a:ext cx="165"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CC"/>
                      </a:solidFill>
                      <a:ea typeface="黑体" panose="02010609060101010101" pitchFamily="49" charset="-122"/>
                      <a:sym typeface="Symbol" panose="05050102010706020507" pitchFamily="18" charset="2"/>
                    </a:rPr>
                    <a:t></a:t>
                  </a:r>
                </a:p>
              </p:txBody>
            </p:sp>
            <p:sp>
              <p:nvSpPr>
                <p:cNvPr id="550929" name="Line 18"/>
                <p:cNvSpPr>
                  <a:spLocks noChangeShapeType="1"/>
                </p:cNvSpPr>
                <p:nvPr/>
              </p:nvSpPr>
              <p:spPr bwMode="auto">
                <a:xfrm>
                  <a:off x="739" y="3051"/>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0" name="Line 19"/>
                <p:cNvSpPr>
                  <a:spLocks noChangeShapeType="1"/>
                </p:cNvSpPr>
                <p:nvPr/>
              </p:nvSpPr>
              <p:spPr bwMode="auto">
                <a:xfrm>
                  <a:off x="739" y="3696"/>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1" name="Text Box 20"/>
                <p:cNvSpPr txBox="1">
                  <a:spLocks noChangeArrowheads="1"/>
                </p:cNvSpPr>
                <p:nvPr/>
              </p:nvSpPr>
              <p:spPr bwMode="auto">
                <a:xfrm>
                  <a:off x="673" y="2722"/>
                  <a:ext cx="239" cy="23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CC"/>
                      </a:solidFill>
                      <a:ea typeface="黑体" panose="02010609060101010101" pitchFamily="49" charset="-122"/>
                    </a:rPr>
                    <a:t>T</a:t>
                  </a:r>
                  <a:r>
                    <a:rPr lang="en-US" altLang="zh-CN" b="1" i="1" baseline="-25000">
                      <a:solidFill>
                        <a:srgbClr val="0000CC"/>
                      </a:solidFill>
                      <a:ea typeface="黑体" panose="02010609060101010101" pitchFamily="49" charset="-122"/>
                    </a:rPr>
                    <a:t>J</a:t>
                  </a:r>
                  <a:endParaRPr lang="en-US" altLang="zh-CN" b="1">
                    <a:solidFill>
                      <a:srgbClr val="0000CC"/>
                    </a:solidFill>
                    <a:ea typeface="黑体" panose="02010609060101010101" pitchFamily="49" charset="-122"/>
                  </a:endParaRPr>
                </a:p>
              </p:txBody>
            </p:sp>
          </p:grpSp>
        </p:grpSp>
      </p:grpSp>
      <p:sp>
        <p:nvSpPr>
          <p:cNvPr id="550932" name="Rectangle 21"/>
          <p:cNvSpPr>
            <a:spLocks noGrp="1" noChangeArrowheads="1"/>
          </p:cNvSpPr>
          <p:nvPr>
            <p:ph type="title"/>
          </p:nvPr>
        </p:nvSpPr>
        <p:spPr/>
        <p:txBody>
          <a:bodyPr/>
          <a:lstStyle/>
          <a:p>
            <a:pPr algn="ctr"/>
            <a:r>
              <a:rPr lang="zh-CN" altLang="en-US" smtClean="0">
                <a:ea typeface="黑体" panose="02010609060101010101" pitchFamily="49" charset="-122"/>
              </a:rPr>
              <a:t>人为干扰信号 </a:t>
            </a:r>
          </a:p>
        </p:txBody>
      </p:sp>
      <p:sp>
        <p:nvSpPr>
          <p:cNvPr id="550933" name="Line 22"/>
          <p:cNvSpPr>
            <a:spLocks noChangeShapeType="1"/>
          </p:cNvSpPr>
          <p:nvPr/>
        </p:nvSpPr>
        <p:spPr bwMode="auto">
          <a:xfrm>
            <a:off x="1720850" y="1849438"/>
            <a:ext cx="6524625" cy="0"/>
          </a:xfrm>
          <a:prstGeom prst="line">
            <a:avLst/>
          </a:prstGeom>
          <a:noFill/>
          <a:ln w="57150" cmpd="dbl">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4" name="Line 23"/>
          <p:cNvSpPr>
            <a:spLocks noChangeShapeType="1"/>
          </p:cNvSpPr>
          <p:nvPr/>
        </p:nvSpPr>
        <p:spPr bwMode="auto">
          <a:xfrm>
            <a:off x="1706563" y="1857375"/>
            <a:ext cx="0" cy="3435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5" name="Line 24"/>
          <p:cNvSpPr>
            <a:spLocks noChangeShapeType="1"/>
          </p:cNvSpPr>
          <p:nvPr/>
        </p:nvSpPr>
        <p:spPr bwMode="auto">
          <a:xfrm>
            <a:off x="8299450" y="1849438"/>
            <a:ext cx="1022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6" name="Line 25"/>
          <p:cNvSpPr>
            <a:spLocks noChangeShapeType="1"/>
          </p:cNvSpPr>
          <p:nvPr/>
        </p:nvSpPr>
        <p:spPr bwMode="auto">
          <a:xfrm>
            <a:off x="8299450" y="2860675"/>
            <a:ext cx="4349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7" name="Line 26"/>
          <p:cNvSpPr>
            <a:spLocks noChangeShapeType="1"/>
          </p:cNvSpPr>
          <p:nvPr/>
        </p:nvSpPr>
        <p:spPr bwMode="auto">
          <a:xfrm>
            <a:off x="8502650" y="1857375"/>
            <a:ext cx="0" cy="100330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38" name="Rectangle 27"/>
          <p:cNvSpPr>
            <a:spLocks noChangeArrowheads="1"/>
          </p:cNvSpPr>
          <p:nvPr/>
        </p:nvSpPr>
        <p:spPr bwMode="auto">
          <a:xfrm>
            <a:off x="1301750" y="1411288"/>
            <a:ext cx="4429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0000CC"/>
                </a:solidFill>
                <a:ea typeface="黑体" panose="02010609060101010101" pitchFamily="49" charset="-122"/>
              </a:rPr>
              <a:t>A</a:t>
            </a:r>
          </a:p>
        </p:txBody>
      </p:sp>
      <p:sp>
        <p:nvSpPr>
          <p:cNvPr id="550939" name="Rectangle 28"/>
          <p:cNvSpPr>
            <a:spLocks noChangeArrowheads="1"/>
          </p:cNvSpPr>
          <p:nvPr/>
        </p:nvSpPr>
        <p:spPr bwMode="auto">
          <a:xfrm>
            <a:off x="8072438" y="1411288"/>
            <a:ext cx="4429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b="1">
                <a:solidFill>
                  <a:srgbClr val="0000CC"/>
                </a:solidFill>
                <a:ea typeface="黑体" panose="02010609060101010101" pitchFamily="49" charset="-122"/>
              </a:rPr>
              <a:t>B</a:t>
            </a:r>
          </a:p>
        </p:txBody>
      </p:sp>
      <p:sp>
        <p:nvSpPr>
          <p:cNvPr id="550940" name="Line 29"/>
          <p:cNvSpPr>
            <a:spLocks noChangeShapeType="1"/>
          </p:cNvSpPr>
          <p:nvPr/>
        </p:nvSpPr>
        <p:spPr bwMode="auto">
          <a:xfrm>
            <a:off x="935038" y="2054225"/>
            <a:ext cx="0" cy="232251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1" name="Line 30"/>
          <p:cNvSpPr>
            <a:spLocks noChangeShapeType="1"/>
          </p:cNvSpPr>
          <p:nvPr/>
        </p:nvSpPr>
        <p:spPr bwMode="auto">
          <a:xfrm>
            <a:off x="8243888" y="1843088"/>
            <a:ext cx="0" cy="34575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2" name="Line 31"/>
          <p:cNvSpPr>
            <a:spLocks noChangeShapeType="1"/>
          </p:cNvSpPr>
          <p:nvPr/>
        </p:nvSpPr>
        <p:spPr bwMode="auto">
          <a:xfrm>
            <a:off x="1219200" y="3432175"/>
            <a:ext cx="4333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3" name="Line 32"/>
          <p:cNvSpPr>
            <a:spLocks noChangeShapeType="1"/>
          </p:cNvSpPr>
          <p:nvPr/>
        </p:nvSpPr>
        <p:spPr bwMode="auto">
          <a:xfrm>
            <a:off x="1193800" y="1849438"/>
            <a:ext cx="4333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4" name="Line 33"/>
          <p:cNvSpPr>
            <a:spLocks noChangeShapeType="1"/>
          </p:cNvSpPr>
          <p:nvPr/>
        </p:nvSpPr>
        <p:spPr bwMode="auto">
          <a:xfrm>
            <a:off x="1416050" y="1849438"/>
            <a:ext cx="0" cy="1570037"/>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50945" name="Group 34"/>
          <p:cNvGrpSpPr>
            <a:grpSpLocks/>
          </p:cNvGrpSpPr>
          <p:nvPr/>
        </p:nvGrpSpPr>
        <p:grpSpPr bwMode="auto">
          <a:xfrm>
            <a:off x="1185863" y="2374900"/>
            <a:ext cx="441325" cy="390525"/>
            <a:chOff x="4272" y="1968"/>
            <a:chExt cx="218" cy="223"/>
          </a:xfrm>
        </p:grpSpPr>
        <p:sp>
          <p:nvSpPr>
            <p:cNvPr id="550946" name="Rectangle 35"/>
            <p:cNvSpPr>
              <a:spLocks noChangeArrowheads="1"/>
            </p:cNvSpPr>
            <p:nvPr/>
          </p:nvSpPr>
          <p:spPr bwMode="auto">
            <a:xfrm>
              <a:off x="4309" y="2009"/>
              <a:ext cx="181" cy="1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47" name="Text Box 36"/>
            <p:cNvSpPr txBox="1">
              <a:spLocks noChangeArrowheads="1"/>
            </p:cNvSpPr>
            <p:nvPr/>
          </p:nvSpPr>
          <p:spPr bwMode="auto">
            <a:xfrm>
              <a:off x="4272" y="1968"/>
              <a:ext cx="21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CC"/>
                  </a:solidFill>
                  <a:ea typeface="黑体" panose="02010609060101010101" pitchFamily="49" charset="-122"/>
                </a:rPr>
                <a:t>T</a:t>
              </a:r>
              <a:r>
                <a:rPr lang="en-US" altLang="zh-CN" b="1" i="1" baseline="-25000">
                  <a:solidFill>
                    <a:srgbClr val="0000CC"/>
                  </a:solidFill>
                  <a:ea typeface="黑体" panose="02010609060101010101" pitchFamily="49" charset="-122"/>
                </a:rPr>
                <a:t>B</a:t>
              </a:r>
              <a:endParaRPr lang="en-US" altLang="zh-CN" b="1">
                <a:solidFill>
                  <a:srgbClr val="0000CC"/>
                </a:solidFill>
                <a:ea typeface="黑体" panose="02010609060101010101" pitchFamily="49" charset="-122"/>
              </a:endParaRPr>
            </a:p>
          </p:txBody>
        </p:sp>
      </p:grpSp>
      <p:sp>
        <p:nvSpPr>
          <p:cNvPr id="550948" name="Text Box 37"/>
          <p:cNvSpPr txBox="1">
            <a:spLocks noChangeArrowheads="1"/>
          </p:cNvSpPr>
          <p:nvPr/>
        </p:nvSpPr>
        <p:spPr bwMode="auto">
          <a:xfrm>
            <a:off x="741363" y="4348163"/>
            <a:ext cx="2619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CC"/>
                </a:solidFill>
                <a:ea typeface="黑体" panose="02010609060101010101" pitchFamily="49" charset="-122"/>
              </a:rPr>
              <a:t>t</a:t>
            </a:r>
          </a:p>
        </p:txBody>
      </p:sp>
      <p:sp>
        <p:nvSpPr>
          <p:cNvPr id="550949" name="Line 38"/>
          <p:cNvSpPr>
            <a:spLocks noChangeShapeType="1"/>
          </p:cNvSpPr>
          <p:nvPr/>
        </p:nvSpPr>
        <p:spPr bwMode="auto">
          <a:xfrm>
            <a:off x="1706563" y="5146675"/>
            <a:ext cx="6554787" cy="0"/>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50" name="Rectangle 39"/>
          <p:cNvSpPr>
            <a:spLocks noChangeArrowheads="1"/>
          </p:cNvSpPr>
          <p:nvPr/>
        </p:nvSpPr>
        <p:spPr bwMode="auto">
          <a:xfrm>
            <a:off x="8366125" y="2124075"/>
            <a:ext cx="284163"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CC"/>
                </a:solidFill>
                <a:ea typeface="黑体" panose="02010609060101010101" pitchFamily="49" charset="-122"/>
                <a:sym typeface="Symbol" panose="05050102010706020507" pitchFamily="18" charset="2"/>
              </a:rPr>
              <a:t></a:t>
            </a:r>
          </a:p>
        </p:txBody>
      </p:sp>
      <p:grpSp>
        <p:nvGrpSpPr>
          <p:cNvPr id="420904" name="Group 40"/>
          <p:cNvGrpSpPr>
            <a:grpSpLocks/>
          </p:cNvGrpSpPr>
          <p:nvPr/>
        </p:nvGrpSpPr>
        <p:grpSpPr bwMode="auto">
          <a:xfrm>
            <a:off x="6640513" y="1125538"/>
            <a:ext cx="1620837" cy="1314450"/>
            <a:chOff x="3861" y="1162"/>
            <a:chExt cx="943" cy="829"/>
          </a:xfrm>
        </p:grpSpPr>
        <p:sp>
          <p:nvSpPr>
            <p:cNvPr id="550952" name="AutoShape 41"/>
            <p:cNvSpPr>
              <a:spLocks noChangeArrowheads="1"/>
            </p:cNvSpPr>
            <p:nvPr/>
          </p:nvSpPr>
          <p:spPr bwMode="auto">
            <a:xfrm flipH="1">
              <a:off x="3861" y="1171"/>
              <a:ext cx="924" cy="225"/>
            </a:xfrm>
            <a:prstGeom prst="roundRect">
              <a:avLst>
                <a:gd name="adj" fmla="val 35417"/>
              </a:avLst>
            </a:prstGeom>
            <a:solidFill>
              <a:srgbClr val="FFFF99"/>
            </a:solidFill>
            <a:ln w="1905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53" name="Text Box 42"/>
            <p:cNvSpPr txBox="1">
              <a:spLocks noChangeArrowheads="1"/>
            </p:cNvSpPr>
            <p:nvPr/>
          </p:nvSpPr>
          <p:spPr bwMode="auto">
            <a:xfrm>
              <a:off x="3878" y="1162"/>
              <a:ext cx="7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B </a:t>
              </a:r>
              <a:r>
                <a:rPr lang="zh-CN" altLang="en-US" b="1">
                  <a:solidFill>
                    <a:srgbClr val="0000CC"/>
                  </a:solidFill>
                  <a:ea typeface="黑体" panose="02010609060101010101" pitchFamily="49" charset="-122"/>
                </a:rPr>
                <a:t>发送数据</a:t>
              </a:r>
            </a:p>
          </p:txBody>
        </p:sp>
        <p:sp>
          <p:nvSpPr>
            <p:cNvPr id="550954" name="Line 43"/>
            <p:cNvSpPr>
              <a:spLocks noChangeShapeType="1"/>
            </p:cNvSpPr>
            <p:nvPr/>
          </p:nvSpPr>
          <p:spPr bwMode="auto">
            <a:xfrm>
              <a:off x="4377" y="1389"/>
              <a:ext cx="427" cy="602"/>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550955" name="Line 45"/>
          <p:cNvSpPr>
            <a:spLocks noChangeShapeType="1"/>
          </p:cNvSpPr>
          <p:nvPr/>
        </p:nvSpPr>
        <p:spPr bwMode="auto">
          <a:xfrm flipH="1">
            <a:off x="1698625" y="2862263"/>
            <a:ext cx="585788" cy="57785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56" name="AutoShape 46"/>
          <p:cNvSpPr>
            <a:spLocks noChangeArrowheads="1"/>
          </p:cNvSpPr>
          <p:nvPr/>
        </p:nvSpPr>
        <p:spPr bwMode="auto">
          <a:xfrm>
            <a:off x="1706563" y="2062163"/>
            <a:ext cx="1843087" cy="1584325"/>
          </a:xfrm>
          <a:prstGeom prst="irregularSeal1">
            <a:avLst/>
          </a:prstGeom>
          <a:solidFill>
            <a:srgbClr val="FF99FF"/>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57" name="Text Box 47"/>
          <p:cNvSpPr txBox="1">
            <a:spLocks noChangeArrowheads="1"/>
          </p:cNvSpPr>
          <p:nvPr/>
        </p:nvSpPr>
        <p:spPr bwMode="auto">
          <a:xfrm>
            <a:off x="2009775" y="2509838"/>
            <a:ext cx="110807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5000"/>
              </a:lnSpc>
            </a:pPr>
            <a:r>
              <a:rPr lang="en-US" altLang="zh-CN" sz="2400" b="1">
                <a:solidFill>
                  <a:srgbClr val="0000CC"/>
                </a:solidFill>
                <a:ea typeface="黑体" panose="02010609060101010101" pitchFamily="49" charset="-122"/>
              </a:rPr>
              <a:t>A </a:t>
            </a:r>
            <a:r>
              <a:rPr lang="zh-CN" altLang="en-US" sz="2400" b="1">
                <a:solidFill>
                  <a:srgbClr val="0000CC"/>
                </a:solidFill>
                <a:ea typeface="黑体" panose="02010609060101010101" pitchFamily="49" charset="-122"/>
              </a:rPr>
              <a:t>检测</a:t>
            </a:r>
          </a:p>
          <a:p>
            <a:pPr eaLnBrk="0" hangingPunct="0">
              <a:lnSpc>
                <a:spcPct val="85000"/>
              </a:lnSpc>
            </a:pPr>
            <a:r>
              <a:rPr lang="zh-CN" altLang="en-US" sz="2400" b="1">
                <a:solidFill>
                  <a:srgbClr val="0000CC"/>
                </a:solidFill>
                <a:ea typeface="黑体" panose="02010609060101010101" pitchFamily="49" charset="-122"/>
              </a:rPr>
              <a:t>到冲突</a:t>
            </a:r>
          </a:p>
        </p:txBody>
      </p:sp>
      <p:grpSp>
        <p:nvGrpSpPr>
          <p:cNvPr id="420912" name="Group 48"/>
          <p:cNvGrpSpPr>
            <a:grpSpLocks/>
          </p:cNvGrpSpPr>
          <p:nvPr/>
        </p:nvGrpSpPr>
        <p:grpSpPr bwMode="auto">
          <a:xfrm>
            <a:off x="5029200" y="1254125"/>
            <a:ext cx="1927225" cy="1397000"/>
            <a:chOff x="2925" y="1207"/>
            <a:chExt cx="1121" cy="880"/>
          </a:xfrm>
        </p:grpSpPr>
        <p:sp>
          <p:nvSpPr>
            <p:cNvPr id="550959" name="Line 49"/>
            <p:cNvSpPr>
              <a:spLocks noChangeShapeType="1"/>
            </p:cNvSpPr>
            <p:nvPr/>
          </p:nvSpPr>
          <p:spPr bwMode="auto">
            <a:xfrm>
              <a:off x="3787" y="1706"/>
              <a:ext cx="232" cy="381"/>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50960" name="Group 50"/>
            <p:cNvGrpSpPr>
              <a:grpSpLocks/>
            </p:cNvGrpSpPr>
            <p:nvPr/>
          </p:nvGrpSpPr>
          <p:grpSpPr bwMode="auto">
            <a:xfrm>
              <a:off x="2925" y="1207"/>
              <a:ext cx="1121" cy="681"/>
              <a:chOff x="3514" y="2256"/>
              <a:chExt cx="1121" cy="681"/>
            </a:xfrm>
          </p:grpSpPr>
          <p:sp>
            <p:nvSpPr>
              <p:cNvPr id="550961" name="AutoShape 51"/>
              <p:cNvSpPr>
                <a:spLocks noChangeArrowheads="1"/>
              </p:cNvSpPr>
              <p:nvPr/>
            </p:nvSpPr>
            <p:spPr bwMode="auto">
              <a:xfrm>
                <a:off x="3514" y="2256"/>
                <a:ext cx="1121" cy="681"/>
              </a:xfrm>
              <a:prstGeom prst="irregularSeal1">
                <a:avLst/>
              </a:prstGeom>
              <a:solidFill>
                <a:srgbClr val="FF0066"/>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62" name="Text Box 52"/>
              <p:cNvSpPr txBox="1">
                <a:spLocks noChangeArrowheads="1"/>
              </p:cNvSpPr>
              <p:nvPr/>
            </p:nvSpPr>
            <p:spPr bwMode="auto">
              <a:xfrm>
                <a:off x="3721" y="2446"/>
                <a:ext cx="6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CC"/>
                    </a:solidFill>
                    <a:ea typeface="黑体" panose="02010609060101010101" pitchFamily="49" charset="-122"/>
                  </a:rPr>
                  <a:t>开始冲突</a:t>
                </a:r>
              </a:p>
            </p:txBody>
          </p:sp>
        </p:grpSp>
      </p:grpSp>
      <p:sp>
        <p:nvSpPr>
          <p:cNvPr id="550963" name="Line 54"/>
          <p:cNvSpPr>
            <a:spLocks noChangeShapeType="1"/>
          </p:cNvSpPr>
          <p:nvPr/>
        </p:nvSpPr>
        <p:spPr bwMode="auto">
          <a:xfrm>
            <a:off x="8331200" y="5146675"/>
            <a:ext cx="990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64" name="Line 55"/>
          <p:cNvSpPr>
            <a:spLocks noChangeShapeType="1"/>
          </p:cNvSpPr>
          <p:nvPr/>
        </p:nvSpPr>
        <p:spPr bwMode="auto">
          <a:xfrm>
            <a:off x="9009063" y="1827213"/>
            <a:ext cx="0" cy="330835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65" name="Text Box 56"/>
          <p:cNvSpPr txBox="1">
            <a:spLocks noChangeArrowheads="1"/>
          </p:cNvSpPr>
          <p:nvPr/>
        </p:nvSpPr>
        <p:spPr bwMode="auto">
          <a:xfrm>
            <a:off x="8755063" y="2455863"/>
            <a:ext cx="492125" cy="23098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信</a:t>
            </a:r>
          </a:p>
          <a:p>
            <a:pPr eaLnBrk="0" hangingPunct="0"/>
            <a:r>
              <a:rPr lang="zh-CN" altLang="en-US" sz="2400" b="1">
                <a:solidFill>
                  <a:srgbClr val="0000CC"/>
                </a:solidFill>
                <a:ea typeface="黑体" panose="02010609060101010101" pitchFamily="49" charset="-122"/>
              </a:rPr>
              <a:t>道</a:t>
            </a:r>
          </a:p>
          <a:p>
            <a:pPr eaLnBrk="0" hangingPunct="0"/>
            <a:r>
              <a:rPr lang="zh-CN" altLang="en-US" sz="2400" b="1">
                <a:solidFill>
                  <a:srgbClr val="0000CC"/>
                </a:solidFill>
                <a:ea typeface="黑体" panose="02010609060101010101" pitchFamily="49" charset="-122"/>
              </a:rPr>
              <a:t>占</a:t>
            </a:r>
          </a:p>
          <a:p>
            <a:pPr eaLnBrk="0" hangingPunct="0"/>
            <a:r>
              <a:rPr lang="zh-CN" altLang="en-US" sz="2400" b="1">
                <a:solidFill>
                  <a:srgbClr val="0000CC"/>
                </a:solidFill>
                <a:ea typeface="黑体" panose="02010609060101010101" pitchFamily="49" charset="-122"/>
              </a:rPr>
              <a:t>用</a:t>
            </a:r>
          </a:p>
          <a:p>
            <a:pPr eaLnBrk="0" hangingPunct="0"/>
            <a:r>
              <a:rPr lang="zh-CN" altLang="en-US" sz="2400" b="1">
                <a:solidFill>
                  <a:srgbClr val="0000CC"/>
                </a:solidFill>
                <a:ea typeface="黑体" panose="02010609060101010101" pitchFamily="49" charset="-122"/>
              </a:rPr>
              <a:t>时</a:t>
            </a:r>
          </a:p>
          <a:p>
            <a:pPr eaLnBrk="0" hangingPunct="0"/>
            <a:r>
              <a:rPr lang="zh-CN" altLang="en-US" sz="2400" b="1">
                <a:solidFill>
                  <a:srgbClr val="0000CC"/>
                </a:solidFill>
                <a:ea typeface="黑体" panose="02010609060101010101" pitchFamily="49" charset="-122"/>
              </a:rPr>
              <a:t>间</a:t>
            </a:r>
          </a:p>
        </p:txBody>
      </p:sp>
      <p:grpSp>
        <p:nvGrpSpPr>
          <p:cNvPr id="550966" name="Group 57"/>
          <p:cNvGrpSpPr>
            <a:grpSpLocks/>
          </p:cNvGrpSpPr>
          <p:nvPr/>
        </p:nvGrpSpPr>
        <p:grpSpPr bwMode="auto">
          <a:xfrm>
            <a:off x="1754188" y="1125538"/>
            <a:ext cx="1746250" cy="720725"/>
            <a:chOff x="1020" y="1162"/>
            <a:chExt cx="1015" cy="454"/>
          </a:xfrm>
        </p:grpSpPr>
        <p:sp>
          <p:nvSpPr>
            <p:cNvPr id="550967" name="AutoShape 58"/>
            <p:cNvSpPr>
              <a:spLocks noChangeArrowheads="1"/>
            </p:cNvSpPr>
            <p:nvPr/>
          </p:nvSpPr>
          <p:spPr bwMode="auto">
            <a:xfrm flipH="1">
              <a:off x="1111" y="1171"/>
              <a:ext cx="924" cy="225"/>
            </a:xfrm>
            <a:prstGeom prst="roundRect">
              <a:avLst>
                <a:gd name="adj" fmla="val 35417"/>
              </a:avLst>
            </a:prstGeom>
            <a:solidFill>
              <a:srgbClr val="FFFF99"/>
            </a:solidFill>
            <a:ln w="1905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68" name="Text Box 59"/>
            <p:cNvSpPr txBox="1">
              <a:spLocks noChangeArrowheads="1"/>
            </p:cNvSpPr>
            <p:nvPr/>
          </p:nvSpPr>
          <p:spPr bwMode="auto">
            <a:xfrm>
              <a:off x="1111" y="1162"/>
              <a:ext cx="7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A </a:t>
              </a:r>
              <a:r>
                <a:rPr lang="zh-CN" altLang="en-US" b="1">
                  <a:solidFill>
                    <a:srgbClr val="0000CC"/>
                  </a:solidFill>
                  <a:ea typeface="黑体" panose="02010609060101010101" pitchFamily="49" charset="-122"/>
                </a:rPr>
                <a:t>发送数据</a:t>
              </a:r>
            </a:p>
          </p:txBody>
        </p:sp>
        <p:sp>
          <p:nvSpPr>
            <p:cNvPr id="550969" name="Line 60"/>
            <p:cNvSpPr>
              <a:spLocks noChangeShapeType="1"/>
            </p:cNvSpPr>
            <p:nvPr/>
          </p:nvSpPr>
          <p:spPr bwMode="auto">
            <a:xfrm flipH="1">
              <a:off x="1020" y="1389"/>
              <a:ext cx="409" cy="227"/>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420925" name="Line 61"/>
          <p:cNvSpPr>
            <a:spLocks noChangeShapeType="1"/>
          </p:cNvSpPr>
          <p:nvPr/>
        </p:nvSpPr>
        <p:spPr bwMode="auto">
          <a:xfrm flipH="1">
            <a:off x="1692275" y="2439988"/>
            <a:ext cx="6527800" cy="1009650"/>
          </a:xfrm>
          <a:prstGeom prst="line">
            <a:avLst/>
          </a:prstGeom>
          <a:noFill/>
          <a:ln w="57150">
            <a:solidFill>
              <a:srgbClr val="0000FF"/>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50971" name="Rectangle 62"/>
          <p:cNvSpPr>
            <a:spLocks noChangeArrowheads="1"/>
          </p:cNvSpPr>
          <p:nvPr/>
        </p:nvSpPr>
        <p:spPr bwMode="auto">
          <a:xfrm>
            <a:off x="1287463" y="5092700"/>
            <a:ext cx="46672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420927" name="Text Box 63"/>
          <p:cNvSpPr txBox="1">
            <a:spLocks noChangeArrowheads="1"/>
          </p:cNvSpPr>
          <p:nvPr/>
        </p:nvSpPr>
        <p:spPr bwMode="auto">
          <a:xfrm>
            <a:off x="708025" y="5445125"/>
            <a:ext cx="8915400" cy="831850"/>
          </a:xfrm>
          <a:prstGeom prst="rect">
            <a:avLst/>
          </a:prstGeom>
          <a:solidFill>
            <a:srgbClr val="00FFFF"/>
          </a:solidFill>
          <a:ln w="9525">
            <a:solidFill>
              <a:srgbClr val="333399"/>
            </a:solidFill>
            <a:miter lim="800000"/>
            <a:headEnd/>
            <a:tailEnd/>
          </a:ln>
        </p:spPr>
        <p:txBody>
          <a:bodyPr>
            <a:spAutoFit/>
          </a:bodyPr>
          <a:lstStyle/>
          <a:p>
            <a:pPr eaLnBrk="0" hangingPunct="0"/>
            <a:r>
              <a:rPr lang="en-US" altLang="zh-CN" sz="2400" b="1">
                <a:solidFill>
                  <a:srgbClr val="000066"/>
                </a:solidFill>
                <a:ea typeface="黑体" panose="02010609060101010101" pitchFamily="49" charset="-122"/>
              </a:rPr>
              <a:t>B </a:t>
            </a:r>
            <a:r>
              <a:rPr lang="zh-CN" altLang="en-US" sz="2400" b="1">
                <a:solidFill>
                  <a:srgbClr val="000066"/>
                </a:solidFill>
                <a:ea typeface="黑体" panose="02010609060101010101" pitchFamily="49" charset="-122"/>
              </a:rPr>
              <a:t>也能够检测到冲突，并立即停止发送数据帧，接着就发送干扰信号。这里为了简单起见，只画出 </a:t>
            </a:r>
            <a:r>
              <a:rPr lang="en-US" altLang="zh-CN" sz="2400" b="1">
                <a:solidFill>
                  <a:srgbClr val="000066"/>
                </a:solidFill>
                <a:ea typeface="黑体" panose="02010609060101010101" pitchFamily="49" charset="-122"/>
              </a:rPr>
              <a:t>A </a:t>
            </a:r>
            <a:r>
              <a:rPr lang="zh-CN" altLang="en-US" sz="2400" b="1">
                <a:solidFill>
                  <a:srgbClr val="000066"/>
                </a:solidFill>
                <a:ea typeface="黑体" panose="02010609060101010101" pitchFamily="49" charset="-122"/>
              </a:rPr>
              <a:t>发送干扰信号的情况。</a:t>
            </a:r>
          </a:p>
        </p:txBody>
      </p:sp>
      <p:sp>
        <p:nvSpPr>
          <p:cNvPr id="55097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F33C11-F7A9-4A0D-98A0-C3AB3D323E9C}" type="slidenum">
              <a:rPr lang="zh-CN" altLang="en-US" smtClean="0"/>
              <a:pPr eaLnBrk="1" hangingPunct="1"/>
              <a:t>30</a:t>
            </a:fld>
            <a:endParaRPr lang="en-US" altLang="zh-CN" smtClean="0"/>
          </a:p>
        </p:txBody>
      </p:sp>
      <p:sp>
        <p:nvSpPr>
          <p:cNvPr id="55097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wipe(up)">
                                      <p:cBhvr>
                                        <p:cTn id="7" dur="18000"/>
                                        <p:tgtEl>
                                          <p:spTgt spid="420868"/>
                                        </p:tgtEl>
                                      </p:cBhvr>
                                    </p:animEffect>
                                  </p:childTnLst>
                                </p:cTn>
                              </p:par>
                              <p:par>
                                <p:cTn id="8" presetID="1" presetClass="entr" presetSubtype="0" fill="hold" nodeType="withEffect">
                                  <p:stCondLst>
                                    <p:cond delay="3500"/>
                                  </p:stCondLst>
                                  <p:childTnLst>
                                    <p:set>
                                      <p:cBhvr>
                                        <p:cTn id="9" dur="1" fill="hold">
                                          <p:stCondLst>
                                            <p:cond delay="0"/>
                                          </p:stCondLst>
                                        </p:cTn>
                                        <p:tgtEl>
                                          <p:spTgt spid="420904"/>
                                        </p:tgtEl>
                                        <p:attrNameLst>
                                          <p:attrName>style.visibility</p:attrName>
                                        </p:attrNameLst>
                                      </p:cBhvr>
                                      <p:to>
                                        <p:strVal val="visible"/>
                                      </p:to>
                                    </p:set>
                                  </p:childTnLst>
                                </p:cTn>
                              </p:par>
                              <p:par>
                                <p:cTn id="10" presetID="22" presetClass="entr" presetSubtype="2" fill="hold" grpId="0" nodeType="withEffect">
                                  <p:stCondLst>
                                    <p:cond delay="3500"/>
                                  </p:stCondLst>
                                  <p:childTnLst>
                                    <p:set>
                                      <p:cBhvr>
                                        <p:cTn id="11" dur="1" fill="hold">
                                          <p:stCondLst>
                                            <p:cond delay="0"/>
                                          </p:stCondLst>
                                        </p:cTn>
                                        <p:tgtEl>
                                          <p:spTgt spid="420925"/>
                                        </p:tgtEl>
                                        <p:attrNameLst>
                                          <p:attrName>style.visibility</p:attrName>
                                        </p:attrNameLst>
                                      </p:cBhvr>
                                      <p:to>
                                        <p:strVal val="visible"/>
                                      </p:to>
                                    </p:set>
                                    <p:animEffect transition="in" filter="wipe(right)">
                                      <p:cBhvr>
                                        <p:cTn id="12" dur="5000"/>
                                        <p:tgtEl>
                                          <p:spTgt spid="420925"/>
                                        </p:tgtEl>
                                      </p:cBhvr>
                                    </p:animEffect>
                                  </p:childTnLst>
                                </p:cTn>
                              </p:par>
                              <p:par>
                                <p:cTn id="13" presetID="1" presetClass="entr" presetSubtype="0" fill="hold" nodeType="withEffect">
                                  <p:stCondLst>
                                    <p:cond delay="4000"/>
                                  </p:stCondLst>
                                  <p:childTnLst>
                                    <p:set>
                                      <p:cBhvr>
                                        <p:cTn id="14" dur="1" fill="hold">
                                          <p:stCondLst>
                                            <p:cond delay="0"/>
                                          </p:stCondLst>
                                        </p:cTn>
                                        <p:tgtEl>
                                          <p:spTgt spid="420912"/>
                                        </p:tgtEl>
                                        <p:attrNameLst>
                                          <p:attrName>style.visibility</p:attrName>
                                        </p:attrNameLst>
                                      </p:cBhvr>
                                      <p:to>
                                        <p:strVal val="visible"/>
                                      </p:to>
                                    </p:set>
                                  </p:childTnLst>
                                </p:cTn>
                              </p:par>
                              <p:par>
                                <p:cTn id="15" presetID="35" presetClass="emph" presetSubtype="0" repeatCount="4000" fill="hold" nodeType="withEffect">
                                  <p:stCondLst>
                                    <p:cond delay="4000"/>
                                  </p:stCondLst>
                                  <p:childTnLst>
                                    <p:anim calcmode="discrete" valueType="str">
                                      <p:cBhvr>
                                        <p:cTn id="16" dur="1000" fill="hold"/>
                                        <p:tgtEl>
                                          <p:spTgt spid="420912"/>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0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25" grpId="0" animBg="1"/>
      <p:bldP spid="4209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1"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CSMA/CD</a:t>
            </a:r>
            <a:r>
              <a:rPr lang="zh-CN" altLang="zh-CN" dirty="0" smtClean="0">
                <a:ea typeface="黑体" panose="02010609060101010101" pitchFamily="49" charset="-122"/>
              </a:rPr>
              <a:t>协议的要点</a:t>
            </a:r>
            <a:endParaRPr lang="zh-CN" altLang="en-US" dirty="0" smtClean="0">
              <a:ea typeface="黑体" panose="02010609060101010101" pitchFamily="49" charset="-122"/>
            </a:endParaRPr>
          </a:p>
        </p:txBody>
      </p:sp>
      <p:sp>
        <p:nvSpPr>
          <p:cNvPr id="552962" name="内容占位符 2"/>
          <p:cNvSpPr>
            <a:spLocks noGrp="1" noChangeArrowheads="1"/>
          </p:cNvSpPr>
          <p:nvPr>
            <p:ph idx="1"/>
          </p:nvPr>
        </p:nvSpPr>
        <p:spPr>
          <a:xfrm>
            <a:off x="495300" y="1196975"/>
            <a:ext cx="9066213" cy="4933950"/>
          </a:xfrm>
        </p:spPr>
        <p:txBody>
          <a:bodyPr/>
          <a:lstStyle/>
          <a:p>
            <a:pPr>
              <a:lnSpc>
                <a:spcPct val="105000"/>
              </a:lnSpc>
            </a:pPr>
            <a:r>
              <a:rPr lang="en-US" altLang="zh-CN" sz="2600" dirty="0" smtClean="0">
                <a:solidFill>
                  <a:srgbClr val="0000FF"/>
                </a:solidFill>
                <a:ea typeface="黑体" panose="02010609060101010101" pitchFamily="49" charset="-122"/>
              </a:rPr>
              <a:t>(1) </a:t>
            </a:r>
            <a:r>
              <a:rPr lang="zh-CN" altLang="zh-CN" sz="2600" dirty="0" smtClean="0">
                <a:solidFill>
                  <a:srgbClr val="0000FF"/>
                </a:solidFill>
                <a:ea typeface="黑体" panose="02010609060101010101" pitchFamily="49" charset="-122"/>
              </a:rPr>
              <a:t>准备发送</a:t>
            </a:r>
            <a:r>
              <a:rPr lang="zh-CN" altLang="en-US" sz="2600" dirty="0" smtClean="0">
                <a:solidFill>
                  <a:srgbClr val="0000FF"/>
                </a:solidFill>
                <a:ea typeface="黑体" panose="02010609060101010101" pitchFamily="49" charset="-122"/>
              </a:rPr>
              <a:t>。</a:t>
            </a:r>
            <a:r>
              <a:rPr lang="zh-CN" altLang="zh-CN" sz="2600" dirty="0" smtClean="0">
                <a:ea typeface="黑体" panose="02010609060101010101" pitchFamily="49" charset="-122"/>
              </a:rPr>
              <a:t>但在发送之前，必须先检测信道。</a:t>
            </a:r>
          </a:p>
          <a:p>
            <a:pPr>
              <a:lnSpc>
                <a:spcPct val="105000"/>
              </a:lnSpc>
            </a:pPr>
            <a:r>
              <a:rPr lang="en-US" altLang="zh-CN" sz="2600" dirty="0" smtClean="0">
                <a:solidFill>
                  <a:srgbClr val="0000FF"/>
                </a:solidFill>
                <a:ea typeface="黑体" panose="02010609060101010101" pitchFamily="49" charset="-122"/>
              </a:rPr>
              <a:t>(2) </a:t>
            </a:r>
            <a:r>
              <a:rPr lang="zh-CN" altLang="zh-CN" sz="2600" dirty="0" smtClean="0">
                <a:solidFill>
                  <a:srgbClr val="0000FF"/>
                </a:solidFill>
                <a:ea typeface="黑体" panose="02010609060101010101" pitchFamily="49" charset="-122"/>
              </a:rPr>
              <a:t>检测信道</a:t>
            </a:r>
            <a:r>
              <a:rPr lang="zh-CN" altLang="en-US" sz="2600" dirty="0" smtClean="0">
                <a:solidFill>
                  <a:srgbClr val="0000FF"/>
                </a:solidFill>
                <a:ea typeface="黑体" panose="02010609060101010101" pitchFamily="49" charset="-122"/>
              </a:rPr>
              <a:t>。</a:t>
            </a:r>
            <a:r>
              <a:rPr lang="zh-CN" altLang="zh-CN" sz="2600" dirty="0" smtClean="0">
                <a:ea typeface="黑体" panose="02010609060101010101" pitchFamily="49" charset="-122"/>
              </a:rPr>
              <a:t>若检测到信道忙，则应不停地检测，一直等待信道转为空闲。若检测到信道空闲，并在</a:t>
            </a:r>
            <a:r>
              <a:rPr lang="en-US" altLang="zh-CN" sz="2600" dirty="0" smtClean="0">
                <a:ea typeface="黑体" panose="02010609060101010101" pitchFamily="49" charset="-122"/>
              </a:rPr>
              <a:t> 96 </a:t>
            </a:r>
            <a:r>
              <a:rPr lang="zh-CN" altLang="zh-CN" sz="2600" dirty="0" smtClean="0">
                <a:solidFill>
                  <a:srgbClr val="0070C0"/>
                </a:solidFill>
                <a:ea typeface="黑体" panose="02010609060101010101" pitchFamily="49" charset="-122"/>
              </a:rPr>
              <a:t>比特时间</a:t>
            </a:r>
            <a:r>
              <a:rPr lang="zh-CN" altLang="zh-CN" sz="2600" dirty="0" smtClean="0">
                <a:ea typeface="黑体" panose="02010609060101010101" pitchFamily="49" charset="-122"/>
              </a:rPr>
              <a:t>内信道保持空闲（保证了帧间最小间隔），就发送这个帧。</a:t>
            </a:r>
          </a:p>
          <a:p>
            <a:pPr>
              <a:lnSpc>
                <a:spcPct val="105000"/>
              </a:lnSpc>
            </a:pPr>
            <a:r>
              <a:rPr lang="en-US" altLang="zh-CN" sz="2600" dirty="0" smtClean="0">
                <a:solidFill>
                  <a:srgbClr val="0000FF"/>
                </a:solidFill>
                <a:ea typeface="黑体" panose="02010609060101010101" pitchFamily="49" charset="-122"/>
              </a:rPr>
              <a:t>(3) </a:t>
            </a:r>
            <a:r>
              <a:rPr lang="zh-CN" altLang="en-US" sz="2600" dirty="0" smtClean="0">
                <a:solidFill>
                  <a:srgbClr val="0000FF"/>
                </a:solidFill>
                <a:ea typeface="黑体" panose="02010609060101010101" pitchFamily="49" charset="-122"/>
              </a:rPr>
              <a:t>检查碰撞。</a:t>
            </a:r>
            <a:r>
              <a:rPr lang="zh-CN" altLang="zh-CN" sz="2600" dirty="0" smtClean="0">
                <a:ea typeface="黑体" panose="02010609060101010101" pitchFamily="49" charset="-122"/>
              </a:rPr>
              <a:t>在发送过程中仍不停地检测信道，即网络适配器要边发送边监听。这里只有</a:t>
            </a:r>
            <a:r>
              <a:rPr lang="zh-CN" altLang="zh-CN" sz="2600" dirty="0" smtClean="0">
                <a:solidFill>
                  <a:srgbClr val="FF0000"/>
                </a:solidFill>
                <a:ea typeface="黑体" panose="02010609060101010101" pitchFamily="49" charset="-122"/>
              </a:rPr>
              <a:t>两种可能性：</a:t>
            </a:r>
            <a:endParaRPr lang="en-US" altLang="zh-CN" sz="2600" dirty="0" smtClean="0">
              <a:solidFill>
                <a:srgbClr val="FF0000"/>
              </a:solidFill>
              <a:ea typeface="黑体" panose="02010609060101010101" pitchFamily="49" charset="-122"/>
            </a:endParaRPr>
          </a:p>
          <a:p>
            <a:pPr lvl="1">
              <a:lnSpc>
                <a:spcPct val="105000"/>
              </a:lnSpc>
            </a:pPr>
            <a:r>
              <a:rPr lang="zh-CN" altLang="zh-CN" sz="2200" dirty="0" smtClean="0">
                <a:solidFill>
                  <a:srgbClr val="FF0000"/>
                </a:solidFill>
                <a:ea typeface="黑体" panose="02010609060101010101" pitchFamily="49" charset="-122"/>
              </a:rPr>
              <a:t>①发送成功：</a:t>
            </a:r>
            <a:r>
              <a:rPr lang="zh-CN" altLang="zh-CN" sz="2200" dirty="0" smtClean="0">
                <a:ea typeface="黑体" panose="02010609060101010101" pitchFamily="49" charset="-122"/>
              </a:rPr>
              <a:t>在争用期内一直未检测到碰撞。这个帧肯定能够发送成功。发送完毕后，其他什么也不做。然后回到</a:t>
            </a:r>
            <a:r>
              <a:rPr lang="en-US" altLang="zh-CN" sz="2200" dirty="0" smtClean="0">
                <a:ea typeface="黑体" panose="02010609060101010101" pitchFamily="49" charset="-122"/>
              </a:rPr>
              <a:t> (1)</a:t>
            </a:r>
            <a:r>
              <a:rPr lang="zh-CN" altLang="zh-CN" sz="2200" dirty="0" smtClean="0">
                <a:ea typeface="黑体" panose="02010609060101010101" pitchFamily="49" charset="-122"/>
              </a:rPr>
              <a:t>。</a:t>
            </a:r>
          </a:p>
          <a:p>
            <a:pPr lvl="1">
              <a:lnSpc>
                <a:spcPct val="105000"/>
              </a:lnSpc>
            </a:pPr>
            <a:r>
              <a:rPr lang="zh-CN" altLang="zh-CN" sz="2200" dirty="0" smtClean="0">
                <a:solidFill>
                  <a:srgbClr val="FF0000"/>
                </a:solidFill>
                <a:ea typeface="黑体" panose="02010609060101010101" pitchFamily="49" charset="-122"/>
              </a:rPr>
              <a:t>②发送失败：</a:t>
            </a:r>
            <a:r>
              <a:rPr lang="zh-CN" altLang="zh-CN" sz="2200" dirty="0" smtClean="0">
                <a:ea typeface="黑体" panose="02010609060101010101" pitchFamily="49" charset="-122"/>
              </a:rPr>
              <a:t>在争用期内检测到碰撞。这时立即停止发送数据，并按规定发送人为干扰信号。适配器接着就执行指数退避算法，等待</a:t>
            </a:r>
            <a:r>
              <a:rPr lang="en-US" altLang="zh-CN" sz="2200" dirty="0" smtClean="0">
                <a:ea typeface="黑体" panose="02010609060101010101" pitchFamily="49" charset="-122"/>
              </a:rPr>
              <a:t> </a:t>
            </a:r>
            <a:r>
              <a:rPr lang="en-US" altLang="zh-CN" sz="2200" i="1" dirty="0" smtClean="0">
                <a:ea typeface="黑体" panose="02010609060101010101" pitchFamily="49" charset="-122"/>
              </a:rPr>
              <a:t>r </a:t>
            </a:r>
            <a:r>
              <a:rPr lang="zh-CN" altLang="zh-CN" sz="2200" dirty="0" smtClean="0">
                <a:ea typeface="黑体" panose="02010609060101010101" pitchFamily="49" charset="-122"/>
              </a:rPr>
              <a:t>倍</a:t>
            </a:r>
            <a:r>
              <a:rPr lang="en-US" altLang="zh-CN" sz="2200" dirty="0" smtClean="0">
                <a:ea typeface="黑体" panose="02010609060101010101" pitchFamily="49" charset="-122"/>
              </a:rPr>
              <a:t> 512 </a:t>
            </a:r>
            <a:r>
              <a:rPr lang="zh-CN" altLang="zh-CN" sz="2200" dirty="0" smtClean="0">
                <a:solidFill>
                  <a:srgbClr val="0000FF"/>
                </a:solidFill>
                <a:ea typeface="黑体" panose="02010609060101010101" pitchFamily="49" charset="-122"/>
              </a:rPr>
              <a:t>比特时间</a:t>
            </a:r>
            <a:r>
              <a:rPr lang="zh-CN" altLang="zh-CN" sz="2200" dirty="0" smtClean="0">
                <a:ea typeface="黑体" panose="02010609060101010101" pitchFamily="49" charset="-122"/>
              </a:rPr>
              <a:t>后，返回到步骤</a:t>
            </a:r>
            <a:r>
              <a:rPr lang="en-US" altLang="zh-CN" sz="2200" dirty="0" smtClean="0">
                <a:ea typeface="黑体" panose="02010609060101010101" pitchFamily="49" charset="-122"/>
              </a:rPr>
              <a:t> (2)</a:t>
            </a:r>
            <a:r>
              <a:rPr lang="zh-CN" altLang="zh-CN" sz="2200" dirty="0" smtClean="0">
                <a:ea typeface="黑体" panose="02010609060101010101" pitchFamily="49" charset="-122"/>
              </a:rPr>
              <a:t>，继续检测信道。但若重传达</a:t>
            </a:r>
            <a:r>
              <a:rPr lang="en-US" altLang="zh-CN" sz="2200" dirty="0" smtClean="0">
                <a:ea typeface="黑体" panose="02010609060101010101" pitchFamily="49" charset="-122"/>
              </a:rPr>
              <a:t> 16 </a:t>
            </a:r>
            <a:r>
              <a:rPr lang="zh-CN" altLang="zh-CN" sz="2200" dirty="0" smtClean="0">
                <a:ea typeface="黑体" panose="02010609060101010101" pitchFamily="49" charset="-122"/>
              </a:rPr>
              <a:t>次仍不能成功，则停止重传而向上报错。</a:t>
            </a:r>
          </a:p>
          <a:p>
            <a:pPr>
              <a:lnSpc>
                <a:spcPct val="105000"/>
              </a:lnSpc>
            </a:pPr>
            <a:endParaRPr lang="zh-CN" altLang="zh-CN" sz="2400" dirty="0" smtClean="0">
              <a:ea typeface="黑体" panose="02010609060101010101" pitchFamily="49" charset="-122"/>
            </a:endParaRPr>
          </a:p>
          <a:p>
            <a:pPr>
              <a:lnSpc>
                <a:spcPct val="105000"/>
              </a:lnSpc>
            </a:pPr>
            <a:endParaRPr lang="zh-CN" altLang="en-US" sz="2400" dirty="0" smtClean="0">
              <a:ea typeface="黑体" panose="02010609060101010101" pitchFamily="49" charset="-122"/>
            </a:endParaRPr>
          </a:p>
        </p:txBody>
      </p:sp>
      <p:sp>
        <p:nvSpPr>
          <p:cNvPr id="55296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67CF7A-36F4-47D1-A0D5-E4D2B4A48D2E}" type="slidenum">
              <a:rPr lang="zh-CN" altLang="en-US" smtClean="0"/>
              <a:pPr eaLnBrk="1" hangingPunct="1"/>
              <a:t>31</a:t>
            </a:fld>
            <a:endParaRPr lang="en-US" altLang="zh-CN" smtClean="0"/>
          </a:p>
        </p:txBody>
      </p:sp>
      <p:sp>
        <p:nvSpPr>
          <p:cNvPr id="55296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3.3.3  </a:t>
            </a:r>
            <a:r>
              <a:rPr lang="zh-CN" altLang="zh-CN" smtClean="0">
                <a:ea typeface="黑体" panose="02010609060101010101" pitchFamily="49" charset="-122"/>
              </a:rPr>
              <a:t>使用集线器的星形拓扑</a:t>
            </a:r>
            <a:endParaRPr lang="zh-CN" altLang="en-US" smtClean="0">
              <a:ea typeface="黑体" panose="02010609060101010101" pitchFamily="49" charset="-122"/>
            </a:endParaRPr>
          </a:p>
        </p:txBody>
      </p:sp>
      <p:sp>
        <p:nvSpPr>
          <p:cNvPr id="553986"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传统以太网最初是使用粗同轴电缆，后来演进到使用比较便宜的细同轴电缆，最后发展为使用更便宜和更灵活的双绞线。</a:t>
            </a:r>
            <a:endParaRPr lang="en-US" altLang="zh-CN" smtClean="0">
              <a:ea typeface="黑体" panose="02010609060101010101" pitchFamily="49" charset="-122"/>
            </a:endParaRPr>
          </a:p>
          <a:p>
            <a:r>
              <a:rPr lang="zh-CN" altLang="en-US" smtClean="0">
                <a:ea typeface="黑体" panose="02010609060101010101" pitchFamily="49" charset="-122"/>
              </a:rPr>
              <a:t>采用</a:t>
            </a:r>
            <a:r>
              <a:rPr lang="zh-CN" altLang="zh-CN" smtClean="0">
                <a:ea typeface="黑体" panose="02010609060101010101" pitchFamily="49" charset="-122"/>
              </a:rPr>
              <a:t>双绞线</a:t>
            </a:r>
            <a:r>
              <a:rPr lang="zh-CN" altLang="en-US" smtClean="0">
                <a:ea typeface="黑体" panose="02010609060101010101" pitchFamily="49" charset="-122"/>
              </a:rPr>
              <a:t>的</a:t>
            </a:r>
            <a:r>
              <a:rPr lang="zh-CN" altLang="zh-CN" smtClean="0">
                <a:ea typeface="黑体" panose="02010609060101010101" pitchFamily="49" charset="-122"/>
              </a:rPr>
              <a:t>以太网采用星形拓扑，在星形的中心则增加了一种可靠性非常高的设备，叫做</a:t>
            </a:r>
            <a:r>
              <a:rPr lang="zh-CN" altLang="zh-CN" smtClean="0">
                <a:solidFill>
                  <a:srgbClr val="FF0000"/>
                </a:solidFill>
                <a:ea typeface="黑体" panose="02010609060101010101" pitchFamily="49" charset="-122"/>
              </a:rPr>
              <a:t>集线器</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(hub)</a:t>
            </a:r>
            <a:r>
              <a:rPr lang="zh-CN" altLang="en-US" smtClean="0">
                <a:ea typeface="黑体" panose="02010609060101010101" pitchFamily="49" charset="-122"/>
              </a:rPr>
              <a:t>。</a:t>
            </a:r>
          </a:p>
        </p:txBody>
      </p:sp>
      <p:sp>
        <p:nvSpPr>
          <p:cNvPr id="5539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9CFD46-A4F4-4C22-9DCD-99FEEE8A6B8B}" type="slidenum">
              <a:rPr lang="zh-CN" altLang="en-US" smtClean="0"/>
              <a:pPr eaLnBrk="1" hangingPunct="1"/>
              <a:t>32</a:t>
            </a:fld>
            <a:endParaRPr lang="en-US" altLang="zh-CN" smtClean="0"/>
          </a:p>
        </p:txBody>
      </p:sp>
      <p:sp>
        <p:nvSpPr>
          <p:cNvPr id="5539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09" name="Rectangle 4"/>
          <p:cNvSpPr>
            <a:spLocks noGrp="1" noChangeArrowheads="1"/>
          </p:cNvSpPr>
          <p:nvPr>
            <p:ph type="title"/>
          </p:nvPr>
        </p:nvSpPr>
        <p:spPr/>
        <p:txBody>
          <a:bodyPr/>
          <a:lstStyle/>
          <a:p>
            <a:pPr algn="ctr"/>
            <a:r>
              <a:rPr lang="zh-CN" altLang="en-US" smtClean="0">
                <a:ea typeface="黑体" panose="02010609060101010101" pitchFamily="49" charset="-122"/>
              </a:rPr>
              <a:t>使用集线器的双绞线以太网 </a:t>
            </a:r>
          </a:p>
        </p:txBody>
      </p:sp>
      <p:grpSp>
        <p:nvGrpSpPr>
          <p:cNvPr id="555010" name="组合 1"/>
          <p:cNvGrpSpPr>
            <a:grpSpLocks/>
          </p:cNvGrpSpPr>
          <p:nvPr/>
        </p:nvGrpSpPr>
        <p:grpSpPr bwMode="auto">
          <a:xfrm>
            <a:off x="1987550" y="1411288"/>
            <a:ext cx="6157913" cy="3313112"/>
            <a:chOff x="896012" y="1340768"/>
            <a:chExt cx="7255800" cy="3830637"/>
          </a:xfrm>
        </p:grpSpPr>
        <p:sp>
          <p:nvSpPr>
            <p:cNvPr id="555011" name="Text Box 5"/>
            <p:cNvSpPr txBox="1">
              <a:spLocks noChangeArrowheads="1"/>
            </p:cNvSpPr>
            <p:nvPr/>
          </p:nvSpPr>
          <p:spPr bwMode="auto">
            <a:xfrm>
              <a:off x="3860933" y="2434555"/>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集线器</a:t>
              </a:r>
            </a:p>
          </p:txBody>
        </p:sp>
        <p:sp>
          <p:nvSpPr>
            <p:cNvPr id="555012" name="Line 6"/>
            <p:cNvSpPr>
              <a:spLocks noChangeShapeType="1"/>
            </p:cNvSpPr>
            <p:nvPr/>
          </p:nvSpPr>
          <p:spPr bwMode="auto">
            <a:xfrm flipV="1">
              <a:off x="1317360" y="3272755"/>
              <a:ext cx="2806700" cy="38735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13" name="Line 7"/>
            <p:cNvSpPr>
              <a:spLocks noChangeShapeType="1"/>
            </p:cNvSpPr>
            <p:nvPr/>
          </p:nvSpPr>
          <p:spPr bwMode="auto">
            <a:xfrm>
              <a:off x="2440386" y="1986881"/>
              <a:ext cx="1824698" cy="115887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14" name="Line 8"/>
            <p:cNvSpPr>
              <a:spLocks noChangeShapeType="1"/>
            </p:cNvSpPr>
            <p:nvPr/>
          </p:nvSpPr>
          <p:spPr bwMode="auto">
            <a:xfrm flipV="1">
              <a:off x="4124061" y="3401342"/>
              <a:ext cx="423069" cy="167640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15" name="Line 9"/>
            <p:cNvSpPr>
              <a:spLocks noChangeShapeType="1"/>
            </p:cNvSpPr>
            <p:nvPr/>
          </p:nvSpPr>
          <p:spPr bwMode="auto">
            <a:xfrm flipH="1">
              <a:off x="4686433" y="1855117"/>
              <a:ext cx="1683676" cy="1417638"/>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16" name="Line 10"/>
            <p:cNvSpPr>
              <a:spLocks noChangeShapeType="1"/>
            </p:cNvSpPr>
            <p:nvPr/>
          </p:nvSpPr>
          <p:spPr bwMode="auto">
            <a:xfrm>
              <a:off x="4825735" y="3401343"/>
              <a:ext cx="2806700" cy="13017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55501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2712" y="2886993"/>
              <a:ext cx="1685396"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18"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4773" y="1597942"/>
              <a:ext cx="79798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19"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09456" y="1340768"/>
              <a:ext cx="797983"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20"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8450" y="4433217"/>
              <a:ext cx="79798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21"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829" y="3015581"/>
              <a:ext cx="79798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5022"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012" y="3145756"/>
              <a:ext cx="797983"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5023" name="Text Box 17"/>
            <p:cNvSpPr txBox="1">
              <a:spLocks noChangeArrowheads="1"/>
            </p:cNvSpPr>
            <p:nvPr/>
          </p:nvSpPr>
          <p:spPr bwMode="auto">
            <a:xfrm>
              <a:off x="5236766" y="4423692"/>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两对双绞线</a:t>
              </a:r>
            </a:p>
          </p:txBody>
        </p:sp>
        <p:sp>
          <p:nvSpPr>
            <p:cNvPr id="555024" name="Line 18"/>
            <p:cNvSpPr>
              <a:spLocks noChangeShapeType="1"/>
            </p:cNvSpPr>
            <p:nvPr/>
          </p:nvSpPr>
          <p:spPr bwMode="auto">
            <a:xfrm flipV="1">
              <a:off x="6110420" y="3531517"/>
              <a:ext cx="259688" cy="941388"/>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25" name="Text Box 19"/>
            <p:cNvSpPr txBox="1">
              <a:spLocks noChangeArrowheads="1"/>
            </p:cNvSpPr>
            <p:nvPr/>
          </p:nvSpPr>
          <p:spPr bwMode="auto">
            <a:xfrm>
              <a:off x="6512851" y="1499517"/>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站点</a:t>
              </a:r>
            </a:p>
          </p:txBody>
        </p:sp>
        <p:sp>
          <p:nvSpPr>
            <p:cNvPr id="555026" name="Text Box 20"/>
            <p:cNvSpPr txBox="1">
              <a:spLocks noChangeArrowheads="1"/>
            </p:cNvSpPr>
            <p:nvPr/>
          </p:nvSpPr>
          <p:spPr bwMode="auto">
            <a:xfrm>
              <a:off x="5616840" y="2553617"/>
              <a:ext cx="17283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RJ-45 </a:t>
              </a:r>
              <a:r>
                <a:rPr lang="zh-CN" altLang="en-US" sz="2400" b="1">
                  <a:solidFill>
                    <a:srgbClr val="000099"/>
                  </a:solidFill>
                  <a:ea typeface="黑体" panose="02010609060101010101" pitchFamily="49" charset="-122"/>
                </a:rPr>
                <a:t>插头</a:t>
              </a:r>
            </a:p>
          </p:txBody>
        </p:sp>
        <p:sp>
          <p:nvSpPr>
            <p:cNvPr id="555027" name="Line 21"/>
            <p:cNvSpPr>
              <a:spLocks noChangeShapeType="1"/>
            </p:cNvSpPr>
            <p:nvPr/>
          </p:nvSpPr>
          <p:spPr bwMode="auto">
            <a:xfrm>
              <a:off x="6753623" y="3001293"/>
              <a:ext cx="600207" cy="530225"/>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55028" name="Line 22"/>
            <p:cNvSpPr>
              <a:spLocks noChangeShapeType="1"/>
            </p:cNvSpPr>
            <p:nvPr/>
          </p:nvSpPr>
          <p:spPr bwMode="auto">
            <a:xfrm flipH="1">
              <a:off x="5388108" y="3001293"/>
              <a:ext cx="718873" cy="403225"/>
            </a:xfrm>
            <a:prstGeom prst="line">
              <a:avLst/>
            </a:prstGeom>
            <a:noFill/>
            <a:ln w="127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5502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5C81587-B585-4478-847F-B93E8D3A59C1}" type="slidenum">
              <a:rPr lang="zh-CN" altLang="en-US" smtClean="0"/>
              <a:pPr eaLnBrk="1" hangingPunct="1"/>
              <a:t>33</a:t>
            </a:fld>
            <a:endParaRPr lang="en-US" altLang="zh-CN" smtClean="0"/>
          </a:p>
        </p:txBody>
      </p:sp>
      <p:sp>
        <p:nvSpPr>
          <p:cNvPr id="55503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星形以太网 </a:t>
            </a:r>
            <a:r>
              <a:rPr lang="en-US" altLang="zh-CN" smtClean="0">
                <a:ea typeface="黑体" panose="02010609060101010101" pitchFamily="49" charset="-122"/>
              </a:rPr>
              <a:t>10BASE-T </a:t>
            </a:r>
          </a:p>
        </p:txBody>
      </p:sp>
      <p:sp>
        <p:nvSpPr>
          <p:cNvPr id="556034" name="Rectangle 3"/>
          <p:cNvSpPr>
            <a:spLocks noGrp="1" noChangeArrowheads="1"/>
          </p:cNvSpPr>
          <p:nvPr>
            <p:ph idx="1"/>
          </p:nvPr>
        </p:nvSpPr>
        <p:spPr>
          <a:xfrm>
            <a:off x="566738" y="1196975"/>
            <a:ext cx="9066212" cy="4933950"/>
          </a:xfrm>
        </p:spPr>
        <p:txBody>
          <a:bodyPr/>
          <a:lstStyle/>
          <a:p>
            <a:r>
              <a:rPr lang="en-US" altLang="zh-CN" smtClean="0">
                <a:ea typeface="黑体" panose="02010609060101010101" pitchFamily="49" charset="-122"/>
              </a:rPr>
              <a:t>1990 </a:t>
            </a:r>
            <a:r>
              <a:rPr lang="zh-CN" altLang="zh-CN" smtClean="0">
                <a:ea typeface="黑体" panose="02010609060101010101" pitchFamily="49" charset="-122"/>
              </a:rPr>
              <a:t>年</a:t>
            </a:r>
            <a:r>
              <a:rPr lang="zh-CN" altLang="en-US" smtClean="0">
                <a:ea typeface="黑体" panose="02010609060101010101" pitchFamily="49" charset="-122"/>
              </a:rPr>
              <a:t>，</a:t>
            </a:r>
            <a:r>
              <a:rPr lang="en-US" altLang="zh-CN" smtClean="0">
                <a:ea typeface="黑体" panose="02010609060101010101" pitchFamily="49" charset="-122"/>
              </a:rPr>
              <a:t>IEEE </a:t>
            </a:r>
            <a:r>
              <a:rPr lang="zh-CN" altLang="zh-CN" smtClean="0">
                <a:ea typeface="黑体" panose="02010609060101010101" pitchFamily="49" charset="-122"/>
              </a:rPr>
              <a:t>制定出星形以太网</a:t>
            </a:r>
            <a:r>
              <a:rPr lang="en-US" altLang="zh-CN" smtClean="0">
                <a:ea typeface="黑体" panose="02010609060101010101" pitchFamily="49" charset="-122"/>
              </a:rPr>
              <a:t> 10BASE-T </a:t>
            </a:r>
            <a:r>
              <a:rPr lang="zh-CN" altLang="zh-CN" smtClean="0">
                <a:ea typeface="黑体" panose="02010609060101010101" pitchFamily="49" charset="-122"/>
              </a:rPr>
              <a:t>的标准</a:t>
            </a:r>
            <a:r>
              <a:rPr lang="en-US" altLang="zh-CN" smtClean="0">
                <a:ea typeface="黑体" panose="02010609060101010101" pitchFamily="49" charset="-122"/>
              </a:rPr>
              <a:t> 802.3i</a:t>
            </a:r>
            <a:r>
              <a:rPr lang="zh-CN" altLang="en-US" smtClean="0">
                <a:ea typeface="黑体" panose="02010609060101010101" pitchFamily="49" charset="-122"/>
              </a:rPr>
              <a:t>。</a:t>
            </a:r>
            <a:endParaRPr lang="en-US" altLang="zh-CN" smtClean="0">
              <a:ea typeface="黑体" panose="02010609060101010101" pitchFamily="49" charset="-122"/>
            </a:endParaRPr>
          </a:p>
        </p:txBody>
      </p:sp>
      <p:grpSp>
        <p:nvGrpSpPr>
          <p:cNvPr id="556035" name="组合 17"/>
          <p:cNvGrpSpPr>
            <a:grpSpLocks/>
          </p:cNvGrpSpPr>
          <p:nvPr/>
        </p:nvGrpSpPr>
        <p:grpSpPr bwMode="auto">
          <a:xfrm>
            <a:off x="2505075" y="2636838"/>
            <a:ext cx="5400675" cy="2087562"/>
            <a:chOff x="2504728" y="2420888"/>
            <a:chExt cx="5400473" cy="2088232"/>
          </a:xfrm>
        </p:grpSpPr>
        <p:sp>
          <p:nvSpPr>
            <p:cNvPr id="556036" name="矩形 2"/>
            <p:cNvSpPr>
              <a:spLocks noChangeArrowheads="1"/>
            </p:cNvSpPr>
            <p:nvPr/>
          </p:nvSpPr>
          <p:spPr bwMode="auto">
            <a:xfrm>
              <a:off x="2504728" y="2420888"/>
              <a:ext cx="6399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u="sng">
                  <a:ea typeface="宋体" panose="02010600030101010101" pitchFamily="2" charset="-122"/>
                </a:rPr>
                <a:t>10</a:t>
              </a:r>
              <a:endParaRPr lang="zh-CN" altLang="en-US" sz="3200" b="1" u="sng">
                <a:ea typeface="宋体" panose="02010600030101010101" pitchFamily="2" charset="-122"/>
              </a:endParaRPr>
            </a:p>
          </p:txBody>
        </p:sp>
        <p:sp>
          <p:nvSpPr>
            <p:cNvPr id="556037" name="矩形 6"/>
            <p:cNvSpPr>
              <a:spLocks noChangeArrowheads="1"/>
            </p:cNvSpPr>
            <p:nvPr/>
          </p:nvSpPr>
          <p:spPr bwMode="auto">
            <a:xfrm>
              <a:off x="3008784" y="2420888"/>
              <a:ext cx="132600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u="sng">
                  <a:ea typeface="宋体" panose="02010600030101010101" pitchFamily="2" charset="-122"/>
                </a:rPr>
                <a:t>BASE</a:t>
              </a:r>
              <a:endParaRPr lang="zh-CN" altLang="en-US" sz="3200" b="1" u="sng">
                <a:ea typeface="宋体" panose="02010600030101010101" pitchFamily="2" charset="-122"/>
              </a:endParaRPr>
            </a:p>
          </p:txBody>
        </p:sp>
        <p:sp>
          <p:nvSpPr>
            <p:cNvPr id="556038" name="矩形 7"/>
            <p:cNvSpPr>
              <a:spLocks noChangeArrowheads="1"/>
            </p:cNvSpPr>
            <p:nvPr/>
          </p:nvSpPr>
          <p:spPr bwMode="auto">
            <a:xfrm>
              <a:off x="4205882" y="2463279"/>
              <a:ext cx="3828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b="1">
                  <a:ea typeface="宋体" panose="02010600030101010101" pitchFamily="2" charset="-122"/>
                </a:rPr>
                <a:t>—</a:t>
              </a:r>
              <a:endParaRPr lang="zh-CN" altLang="en-US" sz="2800" b="1">
                <a:ea typeface="宋体" panose="02010600030101010101" pitchFamily="2" charset="-122"/>
              </a:endParaRPr>
            </a:p>
          </p:txBody>
        </p:sp>
        <p:sp>
          <p:nvSpPr>
            <p:cNvPr id="556039" name="矩形 8"/>
            <p:cNvSpPr>
              <a:spLocks noChangeArrowheads="1"/>
            </p:cNvSpPr>
            <p:nvPr/>
          </p:nvSpPr>
          <p:spPr bwMode="auto">
            <a:xfrm>
              <a:off x="4592960" y="2420888"/>
              <a:ext cx="5485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u="sng">
                  <a:ea typeface="宋体" panose="02010600030101010101" pitchFamily="2" charset="-122"/>
                </a:rPr>
                <a:t>T </a:t>
              </a:r>
              <a:endParaRPr lang="zh-CN" altLang="en-US" sz="3200" b="1" u="sng">
                <a:ea typeface="宋体" panose="02010600030101010101" pitchFamily="2" charset="-122"/>
              </a:endParaRPr>
            </a:p>
          </p:txBody>
        </p:sp>
        <p:cxnSp>
          <p:nvCxnSpPr>
            <p:cNvPr id="556040" name="肘形连接符 9"/>
            <p:cNvCxnSpPr>
              <a:cxnSpLocks noChangeShapeType="1"/>
              <a:stCxn id="556039" idx="2"/>
            </p:cNvCxnSpPr>
            <p:nvPr/>
          </p:nvCxnSpPr>
          <p:spPr bwMode="auto">
            <a:xfrm rot="16200000" flipH="1">
              <a:off x="5634552" y="2238344"/>
              <a:ext cx="279321" cy="1813958"/>
            </a:xfrm>
            <a:prstGeom prst="bentConnector2">
              <a:avLst/>
            </a:prstGeom>
            <a:noFill/>
            <a:ln w="28575">
              <a:solidFill>
                <a:srgbClr val="000099"/>
              </a:solidFill>
              <a:round/>
              <a:headEnd/>
              <a:tailEnd type="arrow" w="med" len="med"/>
            </a:ln>
          </p:spPr>
        </p:cxnSp>
        <p:sp>
          <p:nvSpPr>
            <p:cNvPr id="556041" name="矩形 10"/>
            <p:cNvSpPr>
              <a:spLocks noChangeArrowheads="1"/>
            </p:cNvSpPr>
            <p:nvPr/>
          </p:nvSpPr>
          <p:spPr bwMode="auto">
            <a:xfrm>
              <a:off x="6638508" y="2996952"/>
              <a:ext cx="12666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800" b="1">
                  <a:solidFill>
                    <a:srgbClr val="000099"/>
                  </a:solidFill>
                  <a:ea typeface="黑体" panose="02010609060101010101" pitchFamily="49" charset="-122"/>
                </a:rPr>
                <a:t>双绞线</a:t>
              </a:r>
              <a:endParaRPr lang="zh-CN" altLang="en-US" sz="2800" b="1">
                <a:solidFill>
                  <a:srgbClr val="000099"/>
                </a:solidFill>
                <a:ea typeface="黑体" panose="02010609060101010101" pitchFamily="49" charset="-122"/>
              </a:endParaRPr>
            </a:p>
          </p:txBody>
        </p:sp>
        <p:cxnSp>
          <p:nvCxnSpPr>
            <p:cNvPr id="556042" name="肘形连接符 13"/>
            <p:cNvCxnSpPr>
              <a:cxnSpLocks noChangeShapeType="1"/>
              <a:stCxn id="556037" idx="2"/>
            </p:cNvCxnSpPr>
            <p:nvPr/>
          </p:nvCxnSpPr>
          <p:spPr bwMode="auto">
            <a:xfrm rot="16200000" flipH="1">
              <a:off x="4216966" y="2460480"/>
              <a:ext cx="737791" cy="1828153"/>
            </a:xfrm>
            <a:prstGeom prst="bentConnector2">
              <a:avLst/>
            </a:prstGeom>
            <a:noFill/>
            <a:ln w="28575">
              <a:solidFill>
                <a:srgbClr val="000099"/>
              </a:solidFill>
              <a:round/>
              <a:headEnd/>
              <a:tailEnd type="arrow" w="med" len="med"/>
            </a:ln>
          </p:spPr>
        </p:cxnSp>
        <p:sp>
          <p:nvSpPr>
            <p:cNvPr id="556043" name="矩形 14"/>
            <p:cNvSpPr>
              <a:spLocks noChangeArrowheads="1"/>
            </p:cNvSpPr>
            <p:nvPr/>
          </p:nvSpPr>
          <p:spPr bwMode="auto">
            <a:xfrm>
              <a:off x="5499939" y="3481844"/>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800" b="1">
                  <a:solidFill>
                    <a:srgbClr val="000099"/>
                  </a:solidFill>
                  <a:ea typeface="黑体" panose="02010609060101010101" pitchFamily="49" charset="-122"/>
                </a:rPr>
                <a:t>基带</a:t>
              </a:r>
              <a:endParaRPr lang="zh-CN" altLang="en-US" sz="2800" b="1">
                <a:solidFill>
                  <a:srgbClr val="000099"/>
                </a:solidFill>
                <a:ea typeface="黑体" panose="02010609060101010101" pitchFamily="49" charset="-122"/>
              </a:endParaRPr>
            </a:p>
          </p:txBody>
        </p:sp>
        <p:cxnSp>
          <p:nvCxnSpPr>
            <p:cNvPr id="556044" name="肘形连接符 18"/>
            <p:cNvCxnSpPr>
              <a:cxnSpLocks noChangeShapeType="1"/>
              <a:stCxn id="556036" idx="2"/>
            </p:cNvCxnSpPr>
            <p:nvPr/>
          </p:nvCxnSpPr>
          <p:spPr bwMode="auto">
            <a:xfrm rot="16200000" flipH="1">
              <a:off x="3130546" y="2699803"/>
              <a:ext cx="1241846" cy="1853563"/>
            </a:xfrm>
            <a:prstGeom prst="bentConnector2">
              <a:avLst/>
            </a:prstGeom>
            <a:noFill/>
            <a:ln w="28575">
              <a:solidFill>
                <a:srgbClr val="000099"/>
              </a:solidFill>
              <a:round/>
              <a:headEnd/>
              <a:tailEnd type="arrow" w="med" len="med"/>
            </a:ln>
          </p:spPr>
        </p:cxnSp>
        <p:sp>
          <p:nvSpPr>
            <p:cNvPr id="556045" name="矩形 19"/>
            <p:cNvSpPr>
              <a:spLocks noChangeArrowheads="1"/>
            </p:cNvSpPr>
            <p:nvPr/>
          </p:nvSpPr>
          <p:spPr bwMode="auto">
            <a:xfrm>
              <a:off x="4678251" y="3985900"/>
              <a:ext cx="29049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速率为</a:t>
              </a:r>
              <a:r>
                <a:rPr lang="en-US" altLang="zh-CN" sz="2800" b="1">
                  <a:solidFill>
                    <a:srgbClr val="000099"/>
                  </a:solidFill>
                  <a:ea typeface="黑体" panose="02010609060101010101" pitchFamily="49" charset="-122"/>
                </a:rPr>
                <a:t>10 Mbit/s </a:t>
              </a:r>
              <a:endParaRPr lang="zh-CN" altLang="en-US" sz="2800" b="1">
                <a:solidFill>
                  <a:srgbClr val="000099"/>
                </a:solidFill>
                <a:ea typeface="黑体" panose="02010609060101010101" pitchFamily="49" charset="-122"/>
              </a:endParaRPr>
            </a:p>
          </p:txBody>
        </p:sp>
      </p:grpSp>
      <p:sp>
        <p:nvSpPr>
          <p:cNvPr id="55604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4E704F-CB91-48A6-A8E4-CC181B8CF35C}" type="slidenum">
              <a:rPr lang="zh-CN" altLang="en-US" smtClean="0"/>
              <a:pPr eaLnBrk="1" hangingPunct="1"/>
              <a:t>34</a:t>
            </a:fld>
            <a:endParaRPr lang="en-US" altLang="zh-CN" smtClean="0"/>
          </a:p>
        </p:txBody>
      </p:sp>
      <p:sp>
        <p:nvSpPr>
          <p:cNvPr id="55604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星形以太网 </a:t>
            </a:r>
            <a:r>
              <a:rPr lang="en-US" altLang="zh-CN" smtClean="0">
                <a:ea typeface="黑体" panose="02010609060101010101" pitchFamily="49" charset="-122"/>
              </a:rPr>
              <a:t>10BASE-T </a:t>
            </a:r>
          </a:p>
        </p:txBody>
      </p:sp>
      <p:sp>
        <p:nvSpPr>
          <p:cNvPr id="42701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使用无屏蔽双绞线，采用星形拓扑。</a:t>
            </a:r>
            <a:endParaRPr lang="en-US" altLang="zh-CN" smtClean="0">
              <a:ea typeface="黑体" panose="02010609060101010101" pitchFamily="49" charset="-122"/>
            </a:endParaRPr>
          </a:p>
          <a:p>
            <a:r>
              <a:rPr lang="zh-CN" altLang="en-US" smtClean="0">
                <a:ea typeface="黑体" panose="02010609060101010101" pitchFamily="49" charset="-122"/>
              </a:rPr>
              <a:t>每个站需要用两对双绞线，分别用于发送和接收。</a:t>
            </a:r>
            <a:endParaRPr lang="en-US" altLang="zh-CN" smtClean="0">
              <a:ea typeface="黑体" panose="02010609060101010101" pitchFamily="49" charset="-122"/>
            </a:endParaRPr>
          </a:p>
          <a:p>
            <a:r>
              <a:rPr lang="zh-CN" altLang="zh-CN" smtClean="0">
                <a:ea typeface="黑体" panose="02010609060101010101" pitchFamily="49" charset="-122"/>
              </a:rPr>
              <a:t>双绞线的两端使用</a:t>
            </a:r>
            <a:r>
              <a:rPr lang="en-US" altLang="zh-CN" smtClean="0">
                <a:ea typeface="黑体" panose="02010609060101010101" pitchFamily="49" charset="-122"/>
              </a:rPr>
              <a:t> RJ-45 </a:t>
            </a:r>
            <a:r>
              <a:rPr lang="zh-CN" altLang="zh-CN" smtClean="0">
                <a:ea typeface="黑体" panose="02010609060101010101" pitchFamily="49" charset="-122"/>
              </a:rPr>
              <a:t>插头</a:t>
            </a:r>
            <a:r>
              <a:rPr lang="zh-CN" altLang="en-US" smtClean="0">
                <a:ea typeface="黑体" panose="02010609060101010101" pitchFamily="49" charset="-122"/>
              </a:rPr>
              <a:t>。</a:t>
            </a:r>
          </a:p>
          <a:p>
            <a:r>
              <a:rPr lang="zh-CN" altLang="en-US" smtClean="0">
                <a:ea typeface="黑体" panose="02010609060101010101" pitchFamily="49" charset="-122"/>
              </a:rPr>
              <a:t>集线器使用了大规模集成电路芯片，因此</a:t>
            </a:r>
            <a:r>
              <a:rPr lang="zh-CN" altLang="zh-CN" smtClean="0">
                <a:ea typeface="黑体" panose="02010609060101010101" pitchFamily="49" charset="-122"/>
              </a:rPr>
              <a:t>集线器的可靠性提高</a:t>
            </a:r>
            <a:r>
              <a:rPr lang="zh-CN" altLang="en-US" smtClean="0">
                <a:ea typeface="黑体" panose="02010609060101010101" pitchFamily="49" charset="-122"/>
              </a:rPr>
              <a:t>。 </a:t>
            </a:r>
            <a:endParaRPr lang="en-US" altLang="zh-CN" smtClean="0">
              <a:ea typeface="黑体" panose="02010609060101010101" pitchFamily="49" charset="-122"/>
            </a:endParaRPr>
          </a:p>
          <a:p>
            <a:r>
              <a:rPr lang="en-US" altLang="zh-CN" smtClean="0">
                <a:ea typeface="黑体" panose="02010609060101010101" pitchFamily="49" charset="-122"/>
              </a:rPr>
              <a:t>10BASE-T </a:t>
            </a:r>
            <a:r>
              <a:rPr lang="zh-CN" altLang="en-US" smtClean="0">
                <a:ea typeface="黑体" panose="02010609060101010101" pitchFamily="49" charset="-122"/>
              </a:rPr>
              <a:t>的通信距离稍短，每个站到集线器的距离不超过 </a:t>
            </a:r>
            <a:r>
              <a:rPr lang="en-US" altLang="zh-CN" smtClean="0">
                <a:ea typeface="黑体" panose="02010609060101010101" pitchFamily="49" charset="-122"/>
              </a:rPr>
              <a:t>100 m</a:t>
            </a:r>
            <a:r>
              <a:rPr lang="zh-CN" altLang="en-US" smtClean="0">
                <a:ea typeface="黑体" panose="02010609060101010101" pitchFamily="49" charset="-122"/>
              </a:rPr>
              <a:t>。</a:t>
            </a:r>
          </a:p>
        </p:txBody>
      </p:sp>
      <p:sp>
        <p:nvSpPr>
          <p:cNvPr id="558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C25501-CEE7-43D1-9983-170B2216413B}" type="slidenum">
              <a:rPr lang="zh-CN" altLang="en-US" smtClean="0"/>
              <a:pPr eaLnBrk="1" hangingPunct="1"/>
              <a:t>35</a:t>
            </a:fld>
            <a:endParaRPr lang="en-US" altLang="zh-CN" smtClean="0"/>
          </a:p>
        </p:txBody>
      </p:sp>
      <p:sp>
        <p:nvSpPr>
          <p:cNvPr id="558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7011">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7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29" name="Rectangle 2"/>
          <p:cNvSpPr>
            <a:spLocks noGrp="1" noChangeArrowheads="1"/>
          </p:cNvSpPr>
          <p:nvPr>
            <p:ph type="title"/>
          </p:nvPr>
        </p:nvSpPr>
        <p:spPr>
          <a:xfrm>
            <a:off x="495300" y="188913"/>
            <a:ext cx="8634413" cy="792162"/>
          </a:xfrm>
        </p:spPr>
        <p:txBody>
          <a:bodyPr/>
          <a:lstStyle/>
          <a:p>
            <a:pPr algn="ctr"/>
            <a:r>
              <a:rPr lang="en-US" altLang="zh-CN" sz="3600" smtClean="0">
                <a:ea typeface="黑体" panose="02010609060101010101" pitchFamily="49" charset="-122"/>
              </a:rPr>
              <a:t>10BASE-T </a:t>
            </a:r>
            <a:r>
              <a:rPr lang="zh-CN" altLang="en-US" sz="3600" smtClean="0">
                <a:ea typeface="黑体" panose="02010609060101010101" pitchFamily="49" charset="-122"/>
              </a:rPr>
              <a:t>以太网在局域网中的统治地位</a:t>
            </a:r>
          </a:p>
        </p:txBody>
      </p:sp>
      <p:sp>
        <p:nvSpPr>
          <p:cNvPr id="42803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这种 </a:t>
            </a:r>
            <a:r>
              <a:rPr lang="en-US" altLang="zh-CN" smtClean="0">
                <a:ea typeface="黑体" panose="02010609060101010101" pitchFamily="49" charset="-122"/>
              </a:rPr>
              <a:t>10 Mbit/s </a:t>
            </a:r>
            <a:r>
              <a:rPr lang="zh-CN" altLang="en-US" smtClean="0">
                <a:ea typeface="黑体" panose="02010609060101010101" pitchFamily="49" charset="-122"/>
              </a:rPr>
              <a:t>速率的无屏蔽双绞线星形网的出现，既降低了成本，又提高了可靠性。 具有很高的性价比。</a:t>
            </a:r>
          </a:p>
          <a:p>
            <a:r>
              <a:rPr lang="en-US" altLang="zh-CN" smtClean="0">
                <a:ea typeface="黑体" panose="02010609060101010101" pitchFamily="49" charset="-122"/>
              </a:rPr>
              <a:t>10BASE-T </a:t>
            </a:r>
            <a:r>
              <a:rPr lang="zh-CN" altLang="en-US" smtClean="0">
                <a:ea typeface="黑体" panose="02010609060101010101" pitchFamily="49" charset="-122"/>
              </a:rPr>
              <a:t>双绞线以太网的出现，是局域网发展史上的一个非常重要的里程碑，它为以太网在局域网中的统治地位奠定了牢固的基础。</a:t>
            </a:r>
            <a:endParaRPr lang="en-US" altLang="zh-CN" smtClean="0">
              <a:ea typeface="黑体" panose="02010609060101010101" pitchFamily="49" charset="-122"/>
            </a:endParaRPr>
          </a:p>
          <a:p>
            <a:r>
              <a:rPr lang="zh-CN" altLang="zh-CN" smtClean="0">
                <a:ea typeface="黑体" panose="02010609060101010101" pitchFamily="49" charset="-122"/>
              </a:rPr>
              <a:t>从此以太网的拓扑就从总线</a:t>
            </a:r>
            <a:r>
              <a:rPr lang="zh-CN" altLang="en-US" smtClean="0">
                <a:ea typeface="黑体" panose="02010609060101010101" pitchFamily="49" charset="-122"/>
              </a:rPr>
              <a:t>形</a:t>
            </a:r>
            <a:r>
              <a:rPr lang="zh-CN" altLang="zh-CN" smtClean="0">
                <a:ea typeface="黑体" panose="02010609060101010101" pitchFamily="49" charset="-122"/>
              </a:rPr>
              <a:t>变为更加方便的星</a:t>
            </a:r>
            <a:r>
              <a:rPr lang="zh-CN" altLang="en-US" smtClean="0">
                <a:ea typeface="黑体" panose="02010609060101010101" pitchFamily="49" charset="-122"/>
              </a:rPr>
              <a:t>形</a:t>
            </a:r>
            <a:r>
              <a:rPr lang="zh-CN" altLang="zh-CN" smtClean="0">
                <a:ea typeface="黑体" panose="02010609060101010101" pitchFamily="49" charset="-122"/>
              </a:rPr>
              <a:t>网络，而以太网也就在局域网中占据了统治地位。</a:t>
            </a:r>
            <a:r>
              <a:rPr lang="zh-CN" altLang="en-US" smtClean="0">
                <a:ea typeface="黑体" panose="02010609060101010101" pitchFamily="49" charset="-122"/>
              </a:rPr>
              <a:t> </a:t>
            </a:r>
          </a:p>
        </p:txBody>
      </p:sp>
      <p:sp>
        <p:nvSpPr>
          <p:cNvPr id="5601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BD42D4B-80CE-4B73-B2CC-DC185B652885}" type="slidenum">
              <a:rPr lang="zh-CN" altLang="en-US" smtClean="0"/>
              <a:pPr eaLnBrk="1" hangingPunct="1"/>
              <a:t>36</a:t>
            </a:fld>
            <a:endParaRPr lang="en-US" altLang="zh-CN" smtClean="0"/>
          </a:p>
        </p:txBody>
      </p:sp>
      <p:sp>
        <p:nvSpPr>
          <p:cNvPr id="5601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8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8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7"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集线器的一些特点 </a:t>
            </a:r>
          </a:p>
        </p:txBody>
      </p:sp>
      <p:sp>
        <p:nvSpPr>
          <p:cNvPr id="429059" name="Rectangle 3"/>
          <p:cNvSpPr>
            <a:spLocks noGrp="1" noChangeArrowheads="1"/>
          </p:cNvSpPr>
          <p:nvPr>
            <p:ph idx="1"/>
          </p:nvPr>
        </p:nvSpPr>
        <p:spPr>
          <a:xfrm>
            <a:off x="495300" y="1196975"/>
            <a:ext cx="9066213" cy="4933950"/>
          </a:xfrm>
        </p:spPr>
        <p:txBody>
          <a:bodyPr/>
          <a:lstStyle/>
          <a:p>
            <a:r>
              <a:rPr lang="en-US" altLang="zh-CN" sz="2900" dirty="0" smtClean="0">
                <a:ea typeface="黑体" panose="02010609060101010101" pitchFamily="49" charset="-122"/>
              </a:rPr>
              <a:t>(1) </a:t>
            </a:r>
            <a:r>
              <a:rPr lang="zh-CN" altLang="en-US" sz="2900" dirty="0" smtClean="0">
                <a:ea typeface="黑体" panose="02010609060101010101" pitchFamily="49" charset="-122"/>
              </a:rPr>
              <a:t>集线器是使用电子器件来模拟实际电缆线的工作，因此整个系统仍然像一个传统的以太网那样运行。 </a:t>
            </a:r>
          </a:p>
          <a:p>
            <a:r>
              <a:rPr lang="en-US" altLang="zh-CN" sz="2900" dirty="0" smtClean="0">
                <a:solidFill>
                  <a:srgbClr val="0000CC"/>
                </a:solidFill>
                <a:ea typeface="黑体" panose="02010609060101010101" pitchFamily="49" charset="-122"/>
              </a:rPr>
              <a:t>(2) </a:t>
            </a:r>
            <a:r>
              <a:rPr lang="zh-CN" altLang="en-US" sz="2900" dirty="0" smtClean="0">
                <a:solidFill>
                  <a:srgbClr val="0000CC"/>
                </a:solidFill>
                <a:ea typeface="黑体" panose="02010609060101010101" pitchFamily="49" charset="-122"/>
              </a:rPr>
              <a:t>使用集线器的以太网在</a:t>
            </a:r>
            <a:r>
              <a:rPr lang="zh-CN" altLang="en-US" sz="2900" dirty="0" smtClean="0">
                <a:solidFill>
                  <a:srgbClr val="FF0000"/>
                </a:solidFill>
                <a:ea typeface="黑体" panose="02010609060101010101" pitchFamily="49" charset="-122"/>
              </a:rPr>
              <a:t>逻辑上仍是一个总线网，</a:t>
            </a:r>
            <a:r>
              <a:rPr lang="zh-CN" altLang="en-US" sz="2900" dirty="0" smtClean="0">
                <a:solidFill>
                  <a:srgbClr val="0000CC"/>
                </a:solidFill>
                <a:ea typeface="黑体" panose="02010609060101010101" pitchFamily="49" charset="-122"/>
              </a:rPr>
              <a:t>各工作站使用的还是 </a:t>
            </a:r>
            <a:r>
              <a:rPr lang="en-US" altLang="zh-CN" sz="2900" dirty="0" smtClean="0">
                <a:solidFill>
                  <a:srgbClr val="0000CC"/>
                </a:solidFill>
                <a:ea typeface="黑体" panose="02010609060101010101" pitchFamily="49" charset="-122"/>
              </a:rPr>
              <a:t>CSMA/CD </a:t>
            </a:r>
            <a:r>
              <a:rPr lang="zh-CN" altLang="en-US" sz="2900" dirty="0" smtClean="0">
                <a:solidFill>
                  <a:srgbClr val="0000CC"/>
                </a:solidFill>
                <a:ea typeface="黑体" panose="02010609060101010101" pitchFamily="49" charset="-122"/>
              </a:rPr>
              <a:t>协议，并</a:t>
            </a:r>
            <a:r>
              <a:rPr lang="zh-CN" altLang="en-US" sz="2900" dirty="0" smtClean="0">
                <a:solidFill>
                  <a:srgbClr val="FF0000"/>
                </a:solidFill>
                <a:ea typeface="黑体" panose="02010609060101010101" pitchFamily="49" charset="-122"/>
              </a:rPr>
              <a:t>共享逻辑上的总线。</a:t>
            </a:r>
            <a:r>
              <a:rPr lang="zh-CN" altLang="en-US" sz="2900" dirty="0" smtClean="0">
                <a:solidFill>
                  <a:srgbClr val="0000CC"/>
                </a:solidFill>
                <a:ea typeface="黑体" panose="02010609060101010101" pitchFamily="49" charset="-122"/>
              </a:rPr>
              <a:t> </a:t>
            </a:r>
          </a:p>
          <a:p>
            <a:r>
              <a:rPr lang="en-US" altLang="zh-CN" sz="2900" dirty="0" smtClean="0">
                <a:ea typeface="黑体" panose="02010609060101010101" pitchFamily="49" charset="-122"/>
              </a:rPr>
              <a:t>(3) </a:t>
            </a:r>
            <a:r>
              <a:rPr lang="zh-CN" altLang="en-US" sz="2900" dirty="0" smtClean="0">
                <a:ea typeface="黑体" panose="02010609060101010101" pitchFamily="49" charset="-122"/>
              </a:rPr>
              <a:t>集线器很像一个多接口的转发器，</a:t>
            </a:r>
            <a:r>
              <a:rPr lang="zh-CN" altLang="en-US" sz="2900" dirty="0" smtClean="0">
                <a:solidFill>
                  <a:srgbClr val="FF0000"/>
                </a:solidFill>
                <a:ea typeface="黑体" panose="02010609060101010101" pitchFamily="49" charset="-122"/>
              </a:rPr>
              <a:t>工作在物理层。</a:t>
            </a:r>
            <a:endParaRPr lang="en-US" altLang="zh-CN" sz="2900" dirty="0" smtClean="0">
              <a:solidFill>
                <a:srgbClr val="FF0000"/>
              </a:solidFill>
              <a:ea typeface="黑体" panose="02010609060101010101" pitchFamily="49" charset="-122"/>
            </a:endParaRPr>
          </a:p>
          <a:p>
            <a:r>
              <a:rPr lang="en-US" altLang="zh-CN" sz="2900" dirty="0" smtClean="0">
                <a:ea typeface="黑体" panose="02010609060101010101" pitchFamily="49" charset="-122"/>
              </a:rPr>
              <a:t>(4) </a:t>
            </a:r>
            <a:r>
              <a:rPr lang="zh-CN" altLang="zh-CN" sz="2900" dirty="0" smtClean="0">
                <a:ea typeface="黑体" panose="02010609060101010101" pitchFamily="49" charset="-122"/>
              </a:rPr>
              <a:t>集线器采用了专门的芯片，进行自适应串音回波抵消</a:t>
            </a:r>
            <a:r>
              <a:rPr lang="zh-CN" altLang="en-US" sz="2900" dirty="0" smtClean="0">
                <a:ea typeface="黑体" panose="02010609060101010101" pitchFamily="49" charset="-122"/>
              </a:rPr>
              <a:t>，减少了</a:t>
            </a:r>
            <a:r>
              <a:rPr lang="zh-CN" altLang="zh-CN" sz="2900" dirty="0" smtClean="0">
                <a:ea typeface="黑体" panose="02010609060101010101" pitchFamily="49" charset="-122"/>
              </a:rPr>
              <a:t>近端串音</a:t>
            </a:r>
            <a:r>
              <a:rPr lang="zh-CN" altLang="en-US" sz="2900" dirty="0" smtClean="0">
                <a:ea typeface="黑体" panose="02010609060101010101" pitchFamily="49" charset="-122"/>
              </a:rPr>
              <a:t>。</a:t>
            </a:r>
          </a:p>
        </p:txBody>
      </p:sp>
      <p:sp>
        <p:nvSpPr>
          <p:cNvPr id="562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A9078A-451D-4A77-90E1-B09898DD8252}" type="slidenum">
              <a:rPr lang="zh-CN" altLang="en-US" smtClean="0"/>
              <a:pPr eaLnBrk="1" hangingPunct="1"/>
              <a:t>37</a:t>
            </a:fld>
            <a:endParaRPr lang="en-US" altLang="zh-CN" smtClean="0"/>
          </a:p>
        </p:txBody>
      </p:sp>
      <p:sp>
        <p:nvSpPr>
          <p:cNvPr id="562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9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90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9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5" name="Rectangle 2"/>
          <p:cNvSpPr>
            <a:spLocks noGrp="1" noChangeArrowheads="1"/>
          </p:cNvSpPr>
          <p:nvPr>
            <p:ph type="title"/>
          </p:nvPr>
        </p:nvSpPr>
        <p:spPr/>
        <p:txBody>
          <a:bodyPr/>
          <a:lstStyle/>
          <a:p>
            <a:pPr algn="ctr"/>
            <a:r>
              <a:rPr lang="zh-CN" altLang="en-US" smtClean="0">
                <a:ea typeface="黑体" panose="02010609060101010101" pitchFamily="49" charset="-122"/>
              </a:rPr>
              <a:t>具有三个接口的集线器 </a:t>
            </a:r>
          </a:p>
        </p:txBody>
      </p:sp>
      <p:grpSp>
        <p:nvGrpSpPr>
          <p:cNvPr id="564226" name="组合 1"/>
          <p:cNvGrpSpPr>
            <a:grpSpLocks/>
          </p:cNvGrpSpPr>
          <p:nvPr/>
        </p:nvGrpSpPr>
        <p:grpSpPr bwMode="auto">
          <a:xfrm>
            <a:off x="1598613" y="1801813"/>
            <a:ext cx="6710362" cy="3159125"/>
            <a:chOff x="1442906" y="2212976"/>
            <a:chExt cx="6708907" cy="3160712"/>
          </a:xfrm>
        </p:grpSpPr>
        <p:grpSp>
          <p:nvGrpSpPr>
            <p:cNvPr id="564227" name="Group 3"/>
            <p:cNvGrpSpPr>
              <a:grpSpLocks/>
            </p:cNvGrpSpPr>
            <p:nvPr/>
          </p:nvGrpSpPr>
          <p:grpSpPr bwMode="auto">
            <a:xfrm rot="-3098467">
              <a:off x="2022144" y="3956249"/>
              <a:ext cx="1127125" cy="98028"/>
              <a:chOff x="1548" y="1476"/>
              <a:chExt cx="1338" cy="120"/>
            </a:xfrm>
          </p:grpSpPr>
          <p:sp>
            <p:nvSpPr>
              <p:cNvPr id="564228" name="Freeform 4"/>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29" name="Freeform 5"/>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nvGrpSpPr>
            <p:cNvPr id="564230" name="Group 6"/>
            <p:cNvGrpSpPr>
              <a:grpSpLocks/>
            </p:cNvGrpSpPr>
            <p:nvPr/>
          </p:nvGrpSpPr>
          <p:grpSpPr bwMode="auto">
            <a:xfrm rot="-3098467">
              <a:off x="2458971" y="3956249"/>
              <a:ext cx="1127125" cy="98028"/>
              <a:chOff x="1548" y="1476"/>
              <a:chExt cx="1338" cy="120"/>
            </a:xfrm>
          </p:grpSpPr>
          <p:sp>
            <p:nvSpPr>
              <p:cNvPr id="564231" name="Freeform 7"/>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32" name="Freeform 8"/>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nvGrpSpPr>
            <p:cNvPr id="564233" name="Group 9"/>
            <p:cNvGrpSpPr>
              <a:grpSpLocks/>
            </p:cNvGrpSpPr>
            <p:nvPr/>
          </p:nvGrpSpPr>
          <p:grpSpPr bwMode="auto">
            <a:xfrm rot="3701259" flipH="1">
              <a:off x="6306079" y="3949965"/>
              <a:ext cx="1001712" cy="96308"/>
              <a:chOff x="1548" y="1476"/>
              <a:chExt cx="1338" cy="120"/>
            </a:xfrm>
          </p:grpSpPr>
          <p:sp>
            <p:nvSpPr>
              <p:cNvPr id="564234" name="Freeform 10"/>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35" name="Freeform 11"/>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nvGrpSpPr>
            <p:cNvPr id="564236" name="Group 12"/>
            <p:cNvGrpSpPr>
              <a:grpSpLocks/>
            </p:cNvGrpSpPr>
            <p:nvPr/>
          </p:nvGrpSpPr>
          <p:grpSpPr bwMode="auto">
            <a:xfrm rot="3701259" flipH="1">
              <a:off x="6817717" y="3969743"/>
              <a:ext cx="1001713" cy="98028"/>
              <a:chOff x="1548" y="1476"/>
              <a:chExt cx="1338" cy="120"/>
            </a:xfrm>
          </p:grpSpPr>
          <p:sp>
            <p:nvSpPr>
              <p:cNvPr id="564237" name="Freeform 13"/>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38" name="Freeform 14"/>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sp>
          <p:nvSpPr>
            <p:cNvPr id="564239" name="Rectangle 15"/>
            <p:cNvSpPr>
              <a:spLocks noChangeArrowheads="1"/>
            </p:cNvSpPr>
            <p:nvPr/>
          </p:nvSpPr>
          <p:spPr bwMode="auto">
            <a:xfrm>
              <a:off x="1969162" y="2212976"/>
              <a:ext cx="5969396" cy="1344613"/>
            </a:xfrm>
            <a:prstGeom prst="rect">
              <a:avLst/>
            </a:prstGeom>
            <a:solidFill>
              <a:srgbClr val="FF99FF"/>
            </a:solidFill>
            <a:ln w="25400">
              <a:solidFill>
                <a:schemeClr val="tx1"/>
              </a:solidFill>
              <a:miter lim="800000"/>
              <a:headEnd/>
              <a:tailEnd/>
            </a:ln>
            <a:effectLst>
              <a:outerShdw dist="28398" dir="3806097" algn="ctr" rotWithShape="0">
                <a:schemeClr val="bg2"/>
              </a:outerShdw>
            </a:effec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0" name="AutoShape 16"/>
            <p:cNvSpPr>
              <a:spLocks noChangeArrowheads="1"/>
            </p:cNvSpPr>
            <p:nvPr/>
          </p:nvSpPr>
          <p:spPr bwMode="auto">
            <a:xfrm>
              <a:off x="2772305" y="3189289"/>
              <a:ext cx="479822" cy="350837"/>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1" name="AutoShape 17"/>
            <p:cNvSpPr>
              <a:spLocks noChangeArrowheads="1"/>
            </p:cNvSpPr>
            <p:nvPr/>
          </p:nvSpPr>
          <p:spPr bwMode="auto">
            <a:xfrm>
              <a:off x="6213608" y="3192464"/>
              <a:ext cx="483261" cy="352425"/>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2" name="AutoShape 18"/>
            <p:cNvSpPr>
              <a:spLocks noChangeArrowheads="1"/>
            </p:cNvSpPr>
            <p:nvPr/>
          </p:nvSpPr>
          <p:spPr bwMode="auto">
            <a:xfrm>
              <a:off x="4407827" y="3189289"/>
              <a:ext cx="483261" cy="350837"/>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3" name="AutoShape 19"/>
            <p:cNvSpPr>
              <a:spLocks noChangeArrowheads="1"/>
            </p:cNvSpPr>
            <p:nvPr/>
          </p:nvSpPr>
          <p:spPr bwMode="auto">
            <a:xfrm rot="10800000" flipH="1">
              <a:off x="6702029" y="3192464"/>
              <a:ext cx="479821" cy="352425"/>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4" name="AutoShape 20"/>
            <p:cNvSpPr>
              <a:spLocks noChangeArrowheads="1"/>
            </p:cNvSpPr>
            <p:nvPr/>
          </p:nvSpPr>
          <p:spPr bwMode="auto">
            <a:xfrm rot="10800000" flipH="1">
              <a:off x="3245247" y="3189289"/>
              <a:ext cx="481542" cy="350837"/>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5" name="AutoShape 21"/>
            <p:cNvSpPr>
              <a:spLocks noChangeArrowheads="1"/>
            </p:cNvSpPr>
            <p:nvPr/>
          </p:nvSpPr>
          <p:spPr bwMode="auto">
            <a:xfrm rot="10800000" flipH="1">
              <a:off x="4903127" y="3206750"/>
              <a:ext cx="483261" cy="349250"/>
            </a:xfrm>
            <a:prstGeom prst="triangle">
              <a:avLst>
                <a:gd name="adj" fmla="val 49995"/>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46" name="Freeform 22"/>
            <p:cNvSpPr>
              <a:spLocks noChangeArrowheads="1"/>
            </p:cNvSpPr>
            <p:nvPr/>
          </p:nvSpPr>
          <p:spPr bwMode="auto">
            <a:xfrm>
              <a:off x="3609843" y="2863850"/>
              <a:ext cx="2854854" cy="325438"/>
            </a:xfrm>
            <a:custGeom>
              <a:avLst/>
              <a:gdLst>
                <a:gd name="T0" fmla="*/ 1374 w 1375"/>
                <a:gd name="T1" fmla="*/ 186 h 187"/>
                <a:gd name="T2" fmla="*/ 1374 w 1375"/>
                <a:gd name="T3" fmla="*/ 0 h 187"/>
                <a:gd name="T4" fmla="*/ 0 w 1375"/>
                <a:gd name="T5" fmla="*/ 0 h 187"/>
                <a:gd name="T6" fmla="*/ 0 w 1375"/>
                <a:gd name="T7" fmla="*/ 186 h 187"/>
              </a:gdLst>
              <a:ahLst/>
              <a:cxnLst>
                <a:cxn ang="0">
                  <a:pos x="T0" y="T1"/>
                </a:cxn>
                <a:cxn ang="0">
                  <a:pos x="T2" y="T3"/>
                </a:cxn>
                <a:cxn ang="0">
                  <a:pos x="T4" y="T5"/>
                </a:cxn>
                <a:cxn ang="0">
                  <a:pos x="T6" y="T7"/>
                </a:cxn>
              </a:cxnLst>
              <a:rect l="0" t="0" r="r" b="b"/>
              <a:pathLst>
                <a:path w="1375" h="187">
                  <a:moveTo>
                    <a:pt x="1374" y="186"/>
                  </a:moveTo>
                  <a:lnTo>
                    <a:pt x="1374" y="0"/>
                  </a:lnTo>
                  <a:lnTo>
                    <a:pt x="0" y="0"/>
                  </a:lnTo>
                  <a:lnTo>
                    <a:pt x="0" y="186"/>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564247" name="Freeform 23"/>
            <p:cNvSpPr>
              <a:spLocks noChangeArrowheads="1"/>
            </p:cNvSpPr>
            <p:nvPr/>
          </p:nvSpPr>
          <p:spPr bwMode="auto">
            <a:xfrm>
              <a:off x="4643438" y="2624139"/>
              <a:ext cx="2199614" cy="585787"/>
            </a:xfrm>
            <a:custGeom>
              <a:avLst/>
              <a:gdLst>
                <a:gd name="T0" fmla="*/ 0 w 1060"/>
                <a:gd name="T1" fmla="*/ 336 h 337"/>
                <a:gd name="T2" fmla="*/ 0 w 1060"/>
                <a:gd name="T3" fmla="*/ 0 h 337"/>
                <a:gd name="T4" fmla="*/ 1059 w 1060"/>
                <a:gd name="T5" fmla="*/ 0 h 337"/>
                <a:gd name="T6" fmla="*/ 1059 w 1060"/>
                <a:gd name="T7" fmla="*/ 330 h 337"/>
              </a:gdLst>
              <a:ahLst/>
              <a:cxnLst>
                <a:cxn ang="0">
                  <a:pos x="T0" y="T1"/>
                </a:cxn>
                <a:cxn ang="0">
                  <a:pos x="T2" y="T3"/>
                </a:cxn>
                <a:cxn ang="0">
                  <a:pos x="T4" y="T5"/>
                </a:cxn>
                <a:cxn ang="0">
                  <a:pos x="T6" y="T7"/>
                </a:cxn>
              </a:cxnLst>
              <a:rect l="0" t="0" r="r" b="b"/>
              <a:pathLst>
                <a:path w="1060" h="337">
                  <a:moveTo>
                    <a:pt x="0" y="336"/>
                  </a:moveTo>
                  <a:lnTo>
                    <a:pt x="0" y="0"/>
                  </a:lnTo>
                  <a:lnTo>
                    <a:pt x="1059" y="0"/>
                  </a:lnTo>
                  <a:lnTo>
                    <a:pt x="1059" y="33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564248" name="Freeform 24"/>
            <p:cNvSpPr>
              <a:spLocks noChangeArrowheads="1"/>
            </p:cNvSpPr>
            <p:nvPr/>
          </p:nvSpPr>
          <p:spPr bwMode="auto">
            <a:xfrm>
              <a:off x="3412067" y="2624138"/>
              <a:ext cx="1234810" cy="576262"/>
            </a:xfrm>
            <a:custGeom>
              <a:avLst/>
              <a:gdLst>
                <a:gd name="T0" fmla="*/ 594 w 595"/>
                <a:gd name="T1" fmla="*/ 0 h 331"/>
                <a:gd name="T2" fmla="*/ 0 w 595"/>
                <a:gd name="T3" fmla="*/ 0 h 331"/>
                <a:gd name="T4" fmla="*/ 0 w 595"/>
                <a:gd name="T5" fmla="*/ 330 h 331"/>
              </a:gdLst>
              <a:ahLst/>
              <a:cxnLst>
                <a:cxn ang="0">
                  <a:pos x="T0" y="T1"/>
                </a:cxn>
                <a:cxn ang="0">
                  <a:pos x="T2" y="T3"/>
                </a:cxn>
                <a:cxn ang="0">
                  <a:pos x="T4" y="T5"/>
                </a:cxn>
              </a:cxnLst>
              <a:rect l="0" t="0" r="r" b="b"/>
              <a:pathLst>
                <a:path w="595" h="331">
                  <a:moveTo>
                    <a:pt x="594" y="0"/>
                  </a:moveTo>
                  <a:lnTo>
                    <a:pt x="0" y="0"/>
                  </a:lnTo>
                  <a:lnTo>
                    <a:pt x="0" y="33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564249" name="Freeform 25"/>
            <p:cNvSpPr>
              <a:spLocks noChangeArrowheads="1"/>
            </p:cNvSpPr>
            <p:nvPr/>
          </p:nvSpPr>
          <p:spPr bwMode="auto">
            <a:xfrm>
              <a:off x="3013075" y="2416175"/>
              <a:ext cx="4048390" cy="793750"/>
            </a:xfrm>
            <a:custGeom>
              <a:avLst/>
              <a:gdLst>
                <a:gd name="T0" fmla="*/ 0 w 1951"/>
                <a:gd name="T1" fmla="*/ 456 h 457"/>
                <a:gd name="T2" fmla="*/ 0 w 1951"/>
                <a:gd name="T3" fmla="*/ 0 h 457"/>
                <a:gd name="T4" fmla="*/ 1950 w 1951"/>
                <a:gd name="T5" fmla="*/ 0 h 457"/>
                <a:gd name="T6" fmla="*/ 1950 w 1951"/>
                <a:gd name="T7" fmla="*/ 450 h 457"/>
                <a:gd name="T8" fmla="*/ 1950 w 1951"/>
                <a:gd name="T9" fmla="*/ 450 h 457"/>
              </a:gdLst>
              <a:ahLst/>
              <a:cxnLst>
                <a:cxn ang="0">
                  <a:pos x="T0" y="T1"/>
                </a:cxn>
                <a:cxn ang="0">
                  <a:pos x="T2" y="T3"/>
                </a:cxn>
                <a:cxn ang="0">
                  <a:pos x="T4" y="T5"/>
                </a:cxn>
                <a:cxn ang="0">
                  <a:pos x="T6" y="T7"/>
                </a:cxn>
                <a:cxn ang="0">
                  <a:pos x="T8" y="T9"/>
                </a:cxn>
              </a:cxnLst>
              <a:rect l="0" t="0" r="r" b="b"/>
              <a:pathLst>
                <a:path w="1951" h="457">
                  <a:moveTo>
                    <a:pt x="0" y="456"/>
                  </a:moveTo>
                  <a:lnTo>
                    <a:pt x="0" y="0"/>
                  </a:lnTo>
                  <a:lnTo>
                    <a:pt x="1950" y="0"/>
                  </a:lnTo>
                  <a:lnTo>
                    <a:pt x="1950" y="450"/>
                  </a:lnTo>
                </a:path>
              </a:pathLst>
            </a:custGeom>
            <a:noFill/>
            <a:ln w="12700" cap="rnd">
              <a:solidFill>
                <a:schemeClr val="tx1"/>
              </a:solidFill>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564250" name="Line 26"/>
            <p:cNvSpPr>
              <a:spLocks noChangeShapeType="1"/>
            </p:cNvSpPr>
            <p:nvPr/>
          </p:nvSpPr>
          <p:spPr bwMode="auto">
            <a:xfrm>
              <a:off x="5229887" y="2870201"/>
              <a:ext cx="0" cy="341313"/>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1" name="Line 27"/>
            <p:cNvSpPr>
              <a:spLocks noChangeShapeType="1"/>
            </p:cNvSpPr>
            <p:nvPr/>
          </p:nvSpPr>
          <p:spPr bwMode="auto">
            <a:xfrm>
              <a:off x="5056188" y="2433638"/>
              <a:ext cx="0" cy="78740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2" name="Rectangle 28"/>
            <p:cNvSpPr>
              <a:spLocks noChangeArrowheads="1"/>
            </p:cNvSpPr>
            <p:nvPr/>
          </p:nvSpPr>
          <p:spPr bwMode="auto">
            <a:xfrm>
              <a:off x="1442906" y="2308225"/>
              <a:ext cx="543420" cy="1253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2800" b="1">
                  <a:solidFill>
                    <a:srgbClr val="000099"/>
                  </a:solidFill>
                  <a:ea typeface="黑体" panose="02010609060101010101" pitchFamily="49" charset="-122"/>
                </a:rPr>
                <a:t>集</a:t>
              </a:r>
            </a:p>
            <a:p>
              <a:pPr>
                <a:lnSpc>
                  <a:spcPct val="90000"/>
                </a:lnSpc>
              </a:pPr>
              <a:r>
                <a:rPr lang="zh-CN" altLang="en-US" sz="2800" b="1">
                  <a:solidFill>
                    <a:srgbClr val="000099"/>
                  </a:solidFill>
                  <a:ea typeface="黑体" panose="02010609060101010101" pitchFamily="49" charset="-122"/>
                </a:rPr>
                <a:t>线</a:t>
              </a:r>
            </a:p>
            <a:p>
              <a:pPr>
                <a:lnSpc>
                  <a:spcPct val="90000"/>
                </a:lnSpc>
              </a:pPr>
              <a:r>
                <a:rPr lang="zh-CN" altLang="en-US" sz="2800" b="1">
                  <a:solidFill>
                    <a:srgbClr val="000099"/>
                  </a:solidFill>
                  <a:ea typeface="黑体" panose="02010609060101010101" pitchFamily="49" charset="-122"/>
                </a:rPr>
                <a:t>器</a:t>
              </a:r>
            </a:p>
          </p:txBody>
        </p:sp>
        <p:sp>
          <p:nvSpPr>
            <p:cNvPr id="564253" name="Rectangle 29"/>
            <p:cNvSpPr>
              <a:spLocks noChangeArrowheads="1"/>
            </p:cNvSpPr>
            <p:nvPr/>
          </p:nvSpPr>
          <p:spPr bwMode="auto">
            <a:xfrm>
              <a:off x="4063868" y="4527550"/>
              <a:ext cx="1608005" cy="846138"/>
            </a:xfrm>
            <a:prstGeom prst="rect">
              <a:avLst/>
            </a:prstGeom>
            <a:solidFill>
              <a:srgbClr val="FFFF00"/>
            </a:solidFill>
            <a:ln w="2540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4" name="Rectangle 30"/>
            <p:cNvSpPr>
              <a:spLocks noChangeArrowheads="1"/>
            </p:cNvSpPr>
            <p:nvPr/>
          </p:nvSpPr>
          <p:spPr bwMode="auto">
            <a:xfrm>
              <a:off x="4375151" y="4529138"/>
              <a:ext cx="1028435" cy="398462"/>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5" name="Rectangle 31"/>
            <p:cNvSpPr>
              <a:spLocks noChangeArrowheads="1"/>
            </p:cNvSpPr>
            <p:nvPr/>
          </p:nvSpPr>
          <p:spPr bwMode="auto">
            <a:xfrm>
              <a:off x="4515613" y="4516634"/>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网卡</a:t>
              </a:r>
            </a:p>
          </p:txBody>
        </p:sp>
        <p:sp>
          <p:nvSpPr>
            <p:cNvPr id="564256" name="Rectangle 32"/>
            <p:cNvSpPr>
              <a:spLocks noChangeArrowheads="1"/>
            </p:cNvSpPr>
            <p:nvPr/>
          </p:nvSpPr>
          <p:spPr bwMode="auto">
            <a:xfrm>
              <a:off x="4313238" y="4894263"/>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工作站</a:t>
              </a:r>
            </a:p>
          </p:txBody>
        </p:sp>
        <p:sp>
          <p:nvSpPr>
            <p:cNvPr id="564257" name="Rectangle 33"/>
            <p:cNvSpPr>
              <a:spLocks noChangeArrowheads="1"/>
            </p:cNvSpPr>
            <p:nvPr/>
          </p:nvSpPr>
          <p:spPr bwMode="auto">
            <a:xfrm>
              <a:off x="4488657" y="4435475"/>
              <a:ext cx="782506" cy="82550"/>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8" name="Rectangle 34"/>
            <p:cNvSpPr>
              <a:spLocks noChangeArrowheads="1"/>
            </p:cNvSpPr>
            <p:nvPr/>
          </p:nvSpPr>
          <p:spPr bwMode="auto">
            <a:xfrm>
              <a:off x="1571890" y="4527550"/>
              <a:ext cx="1611445" cy="846138"/>
            </a:xfrm>
            <a:prstGeom prst="rect">
              <a:avLst/>
            </a:prstGeom>
            <a:solidFill>
              <a:srgbClr val="FFFF00"/>
            </a:solidFill>
            <a:ln w="2540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59" name="Rectangle 35"/>
            <p:cNvSpPr>
              <a:spLocks noChangeArrowheads="1"/>
            </p:cNvSpPr>
            <p:nvPr/>
          </p:nvSpPr>
          <p:spPr bwMode="auto">
            <a:xfrm>
              <a:off x="1865975" y="4529138"/>
              <a:ext cx="1031875" cy="398462"/>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0" name="Rectangle 36"/>
            <p:cNvSpPr>
              <a:spLocks noChangeArrowheads="1"/>
            </p:cNvSpPr>
            <p:nvPr/>
          </p:nvSpPr>
          <p:spPr bwMode="auto">
            <a:xfrm>
              <a:off x="2042553" y="4516634"/>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网卡</a:t>
              </a:r>
            </a:p>
          </p:txBody>
        </p:sp>
        <p:sp>
          <p:nvSpPr>
            <p:cNvPr id="564261" name="Rectangle 37"/>
            <p:cNvSpPr>
              <a:spLocks noChangeArrowheads="1"/>
            </p:cNvSpPr>
            <p:nvPr/>
          </p:nvSpPr>
          <p:spPr bwMode="auto">
            <a:xfrm>
              <a:off x="1807502" y="4894263"/>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工作站</a:t>
              </a:r>
            </a:p>
          </p:txBody>
        </p:sp>
        <p:sp>
          <p:nvSpPr>
            <p:cNvPr id="564262" name="Rectangle 38"/>
            <p:cNvSpPr>
              <a:spLocks noChangeArrowheads="1"/>
            </p:cNvSpPr>
            <p:nvPr/>
          </p:nvSpPr>
          <p:spPr bwMode="auto">
            <a:xfrm>
              <a:off x="2000119" y="4435475"/>
              <a:ext cx="779065" cy="82550"/>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3" name="Rectangle 39"/>
            <p:cNvSpPr>
              <a:spLocks noChangeArrowheads="1"/>
            </p:cNvSpPr>
            <p:nvPr/>
          </p:nvSpPr>
          <p:spPr bwMode="auto">
            <a:xfrm>
              <a:off x="6540369" y="4527550"/>
              <a:ext cx="1611444" cy="846138"/>
            </a:xfrm>
            <a:prstGeom prst="rect">
              <a:avLst/>
            </a:prstGeom>
            <a:solidFill>
              <a:srgbClr val="FFFF00"/>
            </a:solidFill>
            <a:ln w="2540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4" name="Rectangle 40"/>
            <p:cNvSpPr>
              <a:spLocks noChangeArrowheads="1"/>
            </p:cNvSpPr>
            <p:nvPr/>
          </p:nvSpPr>
          <p:spPr bwMode="auto">
            <a:xfrm>
              <a:off x="6843051" y="4529138"/>
              <a:ext cx="1030155" cy="398462"/>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5" name="Rectangle 41"/>
            <p:cNvSpPr>
              <a:spLocks noChangeArrowheads="1"/>
            </p:cNvSpPr>
            <p:nvPr/>
          </p:nvSpPr>
          <p:spPr bwMode="auto">
            <a:xfrm>
              <a:off x="6990394" y="4516634"/>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网卡</a:t>
              </a:r>
            </a:p>
          </p:txBody>
        </p:sp>
        <p:sp>
          <p:nvSpPr>
            <p:cNvPr id="564266" name="Rectangle 42"/>
            <p:cNvSpPr>
              <a:spLocks noChangeArrowheads="1"/>
            </p:cNvSpPr>
            <p:nvPr/>
          </p:nvSpPr>
          <p:spPr bwMode="auto">
            <a:xfrm>
              <a:off x="6762222" y="4894263"/>
              <a:ext cx="95699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工作站</a:t>
              </a:r>
            </a:p>
          </p:txBody>
        </p:sp>
        <p:sp>
          <p:nvSpPr>
            <p:cNvPr id="564267" name="Rectangle 43"/>
            <p:cNvSpPr>
              <a:spLocks noChangeArrowheads="1"/>
            </p:cNvSpPr>
            <p:nvPr/>
          </p:nvSpPr>
          <p:spPr bwMode="auto">
            <a:xfrm>
              <a:off x="6968597" y="4435475"/>
              <a:ext cx="780785" cy="82550"/>
            </a:xfrm>
            <a:prstGeom prst="rect">
              <a:avLst/>
            </a:prstGeom>
            <a:solidFill>
              <a:schemeClr val="bg1"/>
            </a:solidFill>
            <a:ln w="12700">
              <a:solidFill>
                <a:schemeClr val="tx1"/>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8" name="Oval 44"/>
            <p:cNvSpPr>
              <a:spLocks noChangeArrowheads="1"/>
            </p:cNvSpPr>
            <p:nvPr/>
          </p:nvSpPr>
          <p:spPr bwMode="auto">
            <a:xfrm>
              <a:off x="4590125" y="2579689"/>
              <a:ext cx="94588" cy="79375"/>
            </a:xfrm>
            <a:prstGeom prst="ellipse">
              <a:avLst/>
            </a:prstGeom>
            <a:solidFill>
              <a:schemeClr val="tx1"/>
            </a:solidFill>
            <a:ln w="12700">
              <a:solidFill>
                <a:schemeClr val="tx1"/>
              </a:solidFill>
              <a:round/>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69" name="Oval 45"/>
            <p:cNvSpPr>
              <a:spLocks noChangeArrowheads="1"/>
            </p:cNvSpPr>
            <p:nvPr/>
          </p:nvSpPr>
          <p:spPr bwMode="auto">
            <a:xfrm>
              <a:off x="5013193" y="2381251"/>
              <a:ext cx="96308" cy="79375"/>
            </a:xfrm>
            <a:prstGeom prst="ellipse">
              <a:avLst/>
            </a:prstGeom>
            <a:solidFill>
              <a:schemeClr val="tx1"/>
            </a:solidFill>
            <a:ln w="12700">
              <a:solidFill>
                <a:schemeClr val="tx1"/>
              </a:solidFill>
              <a:round/>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0" name="Oval 46"/>
            <p:cNvSpPr>
              <a:spLocks noChangeArrowheads="1"/>
            </p:cNvSpPr>
            <p:nvPr/>
          </p:nvSpPr>
          <p:spPr bwMode="auto">
            <a:xfrm>
              <a:off x="5186892" y="2819401"/>
              <a:ext cx="96308" cy="79375"/>
            </a:xfrm>
            <a:prstGeom prst="ellipse">
              <a:avLst/>
            </a:prstGeom>
            <a:solidFill>
              <a:schemeClr val="tx1"/>
            </a:solidFill>
            <a:ln w="12700">
              <a:solidFill>
                <a:schemeClr val="tx1"/>
              </a:solidFill>
              <a:round/>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1" name="Line 47"/>
            <p:cNvSpPr>
              <a:spLocks noChangeShapeType="1"/>
            </p:cNvSpPr>
            <p:nvPr/>
          </p:nvSpPr>
          <p:spPr bwMode="auto">
            <a:xfrm flipV="1">
              <a:off x="4531652" y="3605213"/>
              <a:ext cx="0" cy="596900"/>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2" name="Line 48"/>
            <p:cNvSpPr>
              <a:spLocks noChangeShapeType="1"/>
            </p:cNvSpPr>
            <p:nvPr/>
          </p:nvSpPr>
          <p:spPr bwMode="auto">
            <a:xfrm>
              <a:off x="5018352" y="3616325"/>
              <a:ext cx="0" cy="592138"/>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3" name="Line 49"/>
            <p:cNvSpPr>
              <a:spLocks noChangeShapeType="1"/>
            </p:cNvSpPr>
            <p:nvPr/>
          </p:nvSpPr>
          <p:spPr bwMode="auto">
            <a:xfrm rot="236364" flipV="1">
              <a:off x="2187575" y="3729038"/>
              <a:ext cx="467783" cy="514350"/>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4" name="Line 50"/>
            <p:cNvSpPr>
              <a:spLocks noChangeShapeType="1"/>
            </p:cNvSpPr>
            <p:nvPr/>
          </p:nvSpPr>
          <p:spPr bwMode="auto">
            <a:xfrm flipH="1">
              <a:off x="2667398" y="3722688"/>
              <a:ext cx="476382" cy="474662"/>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5" name="Line 51"/>
            <p:cNvSpPr>
              <a:spLocks noChangeShapeType="1"/>
            </p:cNvSpPr>
            <p:nvPr/>
          </p:nvSpPr>
          <p:spPr bwMode="auto">
            <a:xfrm>
              <a:off x="6419983" y="3636964"/>
              <a:ext cx="433388" cy="592137"/>
            </a:xfrm>
            <a:prstGeom prst="line">
              <a:avLst/>
            </a:prstGeom>
            <a:noFill/>
            <a:ln w="12700">
              <a:solidFill>
                <a:schemeClr val="tx1"/>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6" name="Line 52"/>
            <p:cNvSpPr>
              <a:spLocks noChangeShapeType="1"/>
            </p:cNvSpPr>
            <p:nvPr/>
          </p:nvSpPr>
          <p:spPr bwMode="auto">
            <a:xfrm>
              <a:off x="6932481" y="3649664"/>
              <a:ext cx="393832" cy="547687"/>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77" name="Rectangle 53"/>
            <p:cNvSpPr>
              <a:spLocks noChangeArrowheads="1"/>
            </p:cNvSpPr>
            <p:nvPr/>
          </p:nvSpPr>
          <p:spPr bwMode="auto">
            <a:xfrm>
              <a:off x="5210269" y="3725863"/>
              <a:ext cx="111088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C00000"/>
                  </a:solidFill>
                  <a:ea typeface="黑体" panose="02010609060101010101" pitchFamily="49" charset="-122"/>
                </a:rPr>
                <a:t>双绞线</a:t>
              </a:r>
            </a:p>
          </p:txBody>
        </p:sp>
        <p:grpSp>
          <p:nvGrpSpPr>
            <p:cNvPr id="564278" name="Group 54"/>
            <p:cNvGrpSpPr>
              <a:grpSpLocks/>
            </p:cNvGrpSpPr>
            <p:nvPr/>
          </p:nvGrpSpPr>
          <p:grpSpPr bwMode="auto">
            <a:xfrm rot="5400000" flipH="1">
              <a:off x="4703168" y="3946724"/>
              <a:ext cx="876300" cy="98028"/>
              <a:chOff x="1548" y="1476"/>
              <a:chExt cx="1338" cy="120"/>
            </a:xfrm>
          </p:grpSpPr>
          <p:sp>
            <p:nvSpPr>
              <p:cNvPr id="564279" name="Freeform 55"/>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80" name="Freeform 56"/>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nvGrpSpPr>
            <p:cNvPr id="564281" name="Group 57"/>
            <p:cNvGrpSpPr>
              <a:grpSpLocks/>
            </p:cNvGrpSpPr>
            <p:nvPr/>
          </p:nvGrpSpPr>
          <p:grpSpPr bwMode="auto">
            <a:xfrm rot="5400000" flipH="1">
              <a:off x="4206942" y="3958629"/>
              <a:ext cx="874712" cy="98029"/>
              <a:chOff x="1548" y="1476"/>
              <a:chExt cx="1338" cy="120"/>
            </a:xfrm>
          </p:grpSpPr>
          <p:sp>
            <p:nvSpPr>
              <p:cNvPr id="564282" name="Freeform 58"/>
              <p:cNvSpPr>
                <a:spLocks noChangeArrowheads="1"/>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564283" name="Freeform 59"/>
              <p:cNvSpPr>
                <a:spLocks noChangeArrowheads="1"/>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黑体" panose="02010609060101010101" pitchFamily="49" charset="-122"/>
                </a:endParaRPr>
              </a:p>
            </p:txBody>
          </p:sp>
        </p:grpSp>
      </p:grpSp>
      <p:sp>
        <p:nvSpPr>
          <p:cNvPr id="5642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DC0DB6-1A22-4AD8-9191-27C7C9DBBB5C}" type="slidenum">
              <a:rPr lang="zh-CN" altLang="en-US" smtClean="0"/>
              <a:pPr eaLnBrk="1" hangingPunct="1"/>
              <a:t>38</a:t>
            </a:fld>
            <a:endParaRPr lang="en-US" altLang="zh-CN" smtClean="0"/>
          </a:p>
        </p:txBody>
      </p:sp>
      <p:sp>
        <p:nvSpPr>
          <p:cNvPr id="5642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181</TotalTime>
  <Words>2763</Words>
  <Application>Microsoft Office PowerPoint</Application>
  <PresentationFormat>A4 纸张(210x297 毫米)</PresentationFormat>
  <Paragraphs>427</Paragraphs>
  <Slides>38</Slides>
  <Notes>32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黑体</vt:lpstr>
      <vt:lpstr>宋体</vt:lpstr>
      <vt:lpstr>Arial</vt:lpstr>
      <vt:lpstr>Arial Rounded MT Bold</vt:lpstr>
      <vt:lpstr>Symbol</vt:lpstr>
      <vt:lpstr>Times New Roman</vt:lpstr>
      <vt:lpstr>Wingdings</vt:lpstr>
      <vt:lpstr>Presentation</vt:lpstr>
      <vt:lpstr>第 3 章  数据链路层</vt:lpstr>
      <vt:lpstr>第 3 章  数据链路层</vt:lpstr>
      <vt:lpstr>3.3  使用广播信道的数据链路层</vt:lpstr>
      <vt:lpstr>3.3.1  局域网的数据链路层 </vt:lpstr>
      <vt:lpstr>局域网拓扑结构</vt:lpstr>
      <vt:lpstr>媒体共享技术</vt:lpstr>
      <vt:lpstr> 1.  以太网的两个标准  </vt:lpstr>
      <vt:lpstr>数据链路层的两个子层 </vt:lpstr>
      <vt:lpstr>局域网对 LLC 子层是透明的 </vt:lpstr>
      <vt:lpstr>一般不考虑 LLC 子层 </vt:lpstr>
      <vt:lpstr>2.  适配器的作用  </vt:lpstr>
      <vt:lpstr>计算机通过适配器和局域网进行通信 </vt:lpstr>
      <vt:lpstr>3.3.2   CSMA/CD 协议 </vt:lpstr>
      <vt:lpstr>以太网采用广播方式发送 </vt:lpstr>
      <vt:lpstr>以太网采取了两种重要的措施 </vt:lpstr>
      <vt:lpstr>以太网提供的服务 </vt:lpstr>
      <vt:lpstr>以太网采取了两种重要的措施</vt:lpstr>
      <vt:lpstr>CSMA/CD协议 </vt:lpstr>
      <vt:lpstr>碰撞检测</vt:lpstr>
      <vt:lpstr>检测到碰撞后</vt:lpstr>
      <vt:lpstr>为什么要进行碰撞检测？</vt:lpstr>
      <vt:lpstr>信号传播时延对载波监听的影响 </vt:lpstr>
      <vt:lpstr>PowerPoint 演示文稿</vt:lpstr>
      <vt:lpstr>CSMA/CD 重要特性</vt:lpstr>
      <vt:lpstr>争用期</vt:lpstr>
      <vt:lpstr>二进制指数类型退避算法  (truncated binary exponential type)</vt:lpstr>
      <vt:lpstr>争用期的长度 </vt:lpstr>
      <vt:lpstr>最短有效帧长 </vt:lpstr>
      <vt:lpstr>强化碰撞 </vt:lpstr>
      <vt:lpstr>人为干扰信号 </vt:lpstr>
      <vt:lpstr>CSMA/CD协议的要点</vt:lpstr>
      <vt:lpstr>3.3.3  使用集线器的星形拓扑</vt:lpstr>
      <vt:lpstr>使用集线器的双绞线以太网 </vt:lpstr>
      <vt:lpstr>星形以太网 10BASE-T </vt:lpstr>
      <vt:lpstr>星形以太网 10BASE-T </vt:lpstr>
      <vt:lpstr>10BASE-T 以太网在局域网中的统治地位</vt:lpstr>
      <vt:lpstr>集线器的一些特点 </vt:lpstr>
      <vt:lpstr>具有三个接口的集线器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67</cp:revision>
  <dcterms:created xsi:type="dcterms:W3CDTF">2016-10-01T05:27:00Z</dcterms:created>
  <dcterms:modified xsi:type="dcterms:W3CDTF">2022-03-21T12:25:37Z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
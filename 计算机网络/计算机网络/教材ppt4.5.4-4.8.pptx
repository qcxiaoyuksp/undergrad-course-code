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1157" r:id="rId2"/>
    <p:sldId id="1080" r:id="rId3"/>
    <p:sldId id="1129" r:id="rId4"/>
    <p:sldId id="1130" r:id="rId5"/>
    <p:sldId id="1131" r:id="rId6"/>
    <p:sldId id="1132" r:id="rId7"/>
    <p:sldId id="1133" r:id="rId8"/>
    <p:sldId id="1134" r:id="rId9"/>
    <p:sldId id="1135" r:id="rId10"/>
    <p:sldId id="1136" r:id="rId11"/>
    <p:sldId id="1137" r:id="rId12"/>
    <p:sldId id="1138" r:id="rId13"/>
    <p:sldId id="1139" r:id="rId14"/>
    <p:sldId id="1140" r:id="rId15"/>
    <p:sldId id="1141" r:id="rId16"/>
    <p:sldId id="1142" r:id="rId17"/>
    <p:sldId id="1143" r:id="rId18"/>
    <p:sldId id="1144" r:id="rId19"/>
    <p:sldId id="1145" r:id="rId20"/>
    <p:sldId id="1146" r:id="rId21"/>
    <p:sldId id="1147" r:id="rId22"/>
    <p:sldId id="1148" r:id="rId23"/>
    <p:sldId id="1149" r:id="rId24"/>
    <p:sldId id="1150" r:id="rId25"/>
    <p:sldId id="1151" r:id="rId26"/>
    <p:sldId id="1152" r:id="rId27"/>
    <p:sldId id="1153" r:id="rId28"/>
    <p:sldId id="1154" r:id="rId29"/>
    <p:sldId id="1155" r:id="rId30"/>
    <p:sldId id="1156" r:id="rId31"/>
    <p:sldId id="1171" r:id="rId32"/>
    <p:sldId id="1172" r:id="rId33"/>
    <p:sldId id="1173" r:id="rId34"/>
    <p:sldId id="1174" r:id="rId35"/>
    <p:sldId id="1175" r:id="rId36"/>
    <p:sldId id="1176" r:id="rId37"/>
    <p:sldId id="1177" r:id="rId38"/>
    <p:sldId id="1178" r:id="rId39"/>
    <p:sldId id="1179" r:id="rId40"/>
    <p:sldId id="1180" r:id="rId41"/>
    <p:sldId id="1181" r:id="rId42"/>
    <p:sldId id="1182" r:id="rId43"/>
    <p:sldId id="1183" r:id="rId44"/>
    <p:sldId id="1184" r:id="rId45"/>
    <p:sldId id="1185" r:id="rId46"/>
    <p:sldId id="1186" r:id="rId47"/>
    <p:sldId id="1187" r:id="rId48"/>
    <p:sldId id="1188" r:id="rId49"/>
    <p:sldId id="1189" r:id="rId50"/>
    <p:sldId id="1190" r:id="rId51"/>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34327-42A0-4EE6-949E-80DFB8CA1CF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681986" name="Rectangle 2"/>
          <p:cNvSpPr>
            <a:spLocks noGrp="1" noRot="1" noChangeAspect="1" noChangeArrowheads="1" noTextEdit="1"/>
          </p:cNvSpPr>
          <p:nvPr>
            <p:ph type="sldImg" idx="4294967295"/>
          </p:nvPr>
        </p:nvSpPr>
        <p:spPr>
          <a:ln/>
        </p:spPr>
      </p:sp>
      <p:sp>
        <p:nvSpPr>
          <p:cNvPr id="681987"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45744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4CBB1-720D-4655-94C1-CC52DA305747}" type="slidenum">
              <a:rPr lang="en-US" altLang="zh-CN" smtClean="0">
                <a:latin typeface="宋体" panose="02010600030101010101" pitchFamily="2" charset="-122"/>
              </a:rPr>
              <a:pPr eaLnBrk="1" hangingPunct="1"/>
              <a:t>2</a:t>
            </a:fld>
            <a:endParaRPr lang="en-US" altLang="zh-CN" smtClean="0">
              <a:latin typeface="宋体" panose="02010600030101010101" pitchFamily="2" charset="-122"/>
            </a:endParaRPr>
          </a:p>
        </p:txBody>
      </p:sp>
      <p:sp>
        <p:nvSpPr>
          <p:cNvPr id="977922" name="Rectangle 2"/>
          <p:cNvSpPr>
            <a:spLocks noGrp="1" noRot="1" noChangeAspect="1" noChangeArrowheads="1" noTextEdit="1"/>
          </p:cNvSpPr>
          <p:nvPr>
            <p:ph type="sldImg" idx="4294967295"/>
          </p:nvPr>
        </p:nvSpPr>
        <p:spPr>
          <a:ln/>
        </p:spPr>
      </p:sp>
      <p:sp>
        <p:nvSpPr>
          <p:cNvPr id="977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FB47F6-CA3D-482E-B85D-1B1C3C2877E3}"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075202" name="Rectangle 2"/>
          <p:cNvSpPr>
            <a:spLocks noGrp="1" noRot="1" noChangeAspect="1" noChangeArrowheads="1" noTextEdit="1"/>
          </p:cNvSpPr>
          <p:nvPr>
            <p:ph type="sldImg" idx="4294967295"/>
          </p:nvPr>
        </p:nvSpPr>
        <p:spPr>
          <a:ln/>
        </p:spPr>
      </p:sp>
      <p:sp>
        <p:nvSpPr>
          <p:cNvPr id="1075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A20CF87-81EA-4A24-9BFE-F0B4F8BAB46D}"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077250" name="Rectangle 2"/>
          <p:cNvSpPr>
            <a:spLocks noGrp="1" noRot="1" noChangeAspect="1" noChangeArrowheads="1" noTextEdit="1"/>
          </p:cNvSpPr>
          <p:nvPr>
            <p:ph type="sldImg" idx="4294967295"/>
          </p:nvPr>
        </p:nvSpPr>
        <p:spPr>
          <a:ln/>
        </p:spPr>
      </p:sp>
      <p:sp>
        <p:nvSpPr>
          <p:cNvPr id="1077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9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25F1F5-3042-4179-933E-7D3514AC5E48}"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079298" name="Rectangle 2"/>
          <p:cNvSpPr>
            <a:spLocks noGrp="1" noRot="1" noChangeAspect="1" noChangeArrowheads="1" noTextEdit="1"/>
          </p:cNvSpPr>
          <p:nvPr>
            <p:ph type="sldImg" idx="4294967295"/>
          </p:nvPr>
        </p:nvSpPr>
        <p:spPr>
          <a:ln/>
        </p:spPr>
      </p:sp>
      <p:sp>
        <p:nvSpPr>
          <p:cNvPr id="1079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1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89CACE5-8873-47C6-8BE4-3607E17BEEAE}"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081346" name="Rectangle 2"/>
          <p:cNvSpPr>
            <a:spLocks noGrp="1" noRot="1" noChangeAspect="1" noChangeArrowheads="1" noTextEdit="1"/>
          </p:cNvSpPr>
          <p:nvPr>
            <p:ph type="sldImg" idx="4294967295"/>
          </p:nvPr>
        </p:nvSpPr>
        <p:spPr>
          <a:ln/>
        </p:spPr>
      </p:sp>
      <p:sp>
        <p:nvSpPr>
          <p:cNvPr id="1081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C590C8-0CF5-4999-8EA3-D34B6F139194}" type="slidenum">
              <a:rPr lang="en-US" altLang="zh-CN" smtClean="0">
                <a:latin typeface="宋体" panose="02010600030101010101" pitchFamily="2" charset="-122"/>
              </a:rPr>
              <a:pPr eaLnBrk="1" hangingPunct="1"/>
              <a:t>7</a:t>
            </a:fld>
            <a:endParaRPr lang="en-US" altLang="zh-CN" smtClean="0">
              <a:latin typeface="宋体" panose="02010600030101010101" pitchFamily="2" charset="-122"/>
            </a:endParaRPr>
          </a:p>
        </p:txBody>
      </p:sp>
      <p:sp>
        <p:nvSpPr>
          <p:cNvPr id="1083394" name="Rectangle 2"/>
          <p:cNvSpPr>
            <a:spLocks noGrp="1" noRot="1" noChangeAspect="1" noChangeArrowheads="1" noTextEdit="1"/>
          </p:cNvSpPr>
          <p:nvPr>
            <p:ph type="sldImg" idx="4294967295"/>
          </p:nvPr>
        </p:nvSpPr>
        <p:spPr>
          <a:ln/>
        </p:spPr>
      </p:sp>
      <p:sp>
        <p:nvSpPr>
          <p:cNvPr id="1083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5BE66F-CCC4-4208-93CE-5DF6E7CA45A2}" type="slidenum">
              <a:rPr lang="en-US" altLang="zh-CN" smtClean="0">
                <a:latin typeface="宋体" panose="02010600030101010101" pitchFamily="2" charset="-122"/>
              </a:rPr>
              <a:pPr eaLnBrk="1" hangingPunct="1"/>
              <a:t>8</a:t>
            </a:fld>
            <a:endParaRPr lang="en-US" altLang="zh-CN" smtClean="0">
              <a:latin typeface="宋体" panose="02010600030101010101" pitchFamily="2" charset="-122"/>
            </a:endParaRPr>
          </a:p>
        </p:txBody>
      </p:sp>
      <p:sp>
        <p:nvSpPr>
          <p:cNvPr id="1085442" name="Rectangle 2"/>
          <p:cNvSpPr>
            <a:spLocks noGrp="1" noRot="1" noChangeAspect="1" noChangeArrowheads="1" noTextEdit="1"/>
          </p:cNvSpPr>
          <p:nvPr>
            <p:ph type="sldImg" idx="4294967295"/>
          </p:nvPr>
        </p:nvSpPr>
        <p:spPr>
          <a:ln/>
        </p:spPr>
      </p:sp>
      <p:sp>
        <p:nvSpPr>
          <p:cNvPr id="1085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7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24E23E-1F4A-43FF-B5B5-E406D725C454}" type="slidenum">
              <a:rPr lang="en-US" altLang="zh-CN" smtClean="0">
                <a:latin typeface="宋体" panose="02010600030101010101" pitchFamily="2" charset="-122"/>
              </a:rPr>
              <a:pPr eaLnBrk="1" hangingPunct="1"/>
              <a:t>9</a:t>
            </a:fld>
            <a:endParaRPr lang="en-US" altLang="zh-CN" smtClean="0">
              <a:latin typeface="宋体" panose="02010600030101010101" pitchFamily="2" charset="-122"/>
            </a:endParaRPr>
          </a:p>
        </p:txBody>
      </p:sp>
      <p:sp>
        <p:nvSpPr>
          <p:cNvPr id="1087490" name="Rectangle 2"/>
          <p:cNvSpPr>
            <a:spLocks noGrp="1" noRot="1" noChangeAspect="1" noChangeArrowheads="1" noTextEdit="1"/>
          </p:cNvSpPr>
          <p:nvPr>
            <p:ph type="sldImg" idx="4294967295"/>
          </p:nvPr>
        </p:nvSpPr>
        <p:spPr>
          <a:ln/>
        </p:spPr>
      </p:sp>
      <p:sp>
        <p:nvSpPr>
          <p:cNvPr id="1087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6C02DC-709D-4C5E-8C46-E004863DE3B2}" type="slidenum">
              <a:rPr lang="en-US" altLang="zh-CN" smtClean="0">
                <a:latin typeface="宋体" panose="02010600030101010101" pitchFamily="2" charset="-122"/>
              </a:rPr>
              <a:pPr eaLnBrk="1" hangingPunct="1"/>
              <a:t>10</a:t>
            </a:fld>
            <a:endParaRPr lang="en-US" altLang="zh-CN" smtClean="0">
              <a:latin typeface="宋体" panose="02010600030101010101" pitchFamily="2" charset="-122"/>
            </a:endParaRPr>
          </a:p>
        </p:txBody>
      </p:sp>
      <p:sp>
        <p:nvSpPr>
          <p:cNvPr id="1089538" name="Rectangle 2"/>
          <p:cNvSpPr>
            <a:spLocks noGrp="1" noRot="1" noChangeAspect="1" noChangeArrowheads="1" noTextEdit="1"/>
          </p:cNvSpPr>
          <p:nvPr>
            <p:ph type="sldImg" idx="4294967295"/>
          </p:nvPr>
        </p:nvSpPr>
        <p:spPr>
          <a:ln/>
        </p:spPr>
      </p:sp>
      <p:sp>
        <p:nvSpPr>
          <p:cNvPr id="1089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E150F0C-A72E-416B-8EC3-F877B7BB6760}" type="slidenum">
              <a:rPr lang="en-US" altLang="zh-CN" smtClean="0">
                <a:latin typeface="宋体" panose="02010600030101010101" pitchFamily="2" charset="-122"/>
              </a:rPr>
              <a:pPr eaLnBrk="1" hangingPunct="1"/>
              <a:t>11</a:t>
            </a:fld>
            <a:endParaRPr lang="en-US" altLang="zh-CN" smtClean="0">
              <a:latin typeface="宋体" panose="02010600030101010101" pitchFamily="2" charset="-122"/>
            </a:endParaRPr>
          </a:p>
        </p:txBody>
      </p:sp>
      <p:sp>
        <p:nvSpPr>
          <p:cNvPr id="1091586" name="Rectangle 2"/>
          <p:cNvSpPr>
            <a:spLocks noGrp="1" noRot="1" noChangeAspect="1" noChangeArrowheads="1" noTextEdit="1"/>
          </p:cNvSpPr>
          <p:nvPr>
            <p:ph type="sldImg" idx="4294967295"/>
          </p:nvPr>
        </p:nvSpPr>
        <p:spPr>
          <a:ln/>
        </p:spPr>
      </p:sp>
      <p:sp>
        <p:nvSpPr>
          <p:cNvPr id="1091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F4DF326-6892-4AF0-9AF0-BA782697FAE2}" type="slidenum">
              <a:rPr lang="en-US" altLang="zh-CN" smtClean="0">
                <a:latin typeface="宋体" panose="02010600030101010101" pitchFamily="2" charset="-122"/>
              </a:rPr>
              <a:pPr eaLnBrk="1" hangingPunct="1"/>
              <a:t>12</a:t>
            </a:fld>
            <a:endParaRPr lang="en-US" altLang="zh-CN" smtClean="0">
              <a:latin typeface="宋体" panose="02010600030101010101" pitchFamily="2" charset="-122"/>
            </a:endParaRPr>
          </a:p>
        </p:txBody>
      </p:sp>
      <p:sp>
        <p:nvSpPr>
          <p:cNvPr id="1093634" name="Rectangle 2"/>
          <p:cNvSpPr>
            <a:spLocks noGrp="1" noRot="1" noChangeAspect="1" noChangeArrowheads="1" noTextEdit="1"/>
          </p:cNvSpPr>
          <p:nvPr>
            <p:ph type="sldImg" idx="4294967295"/>
          </p:nvPr>
        </p:nvSpPr>
        <p:spPr>
          <a:ln/>
        </p:spPr>
      </p:sp>
      <p:sp>
        <p:nvSpPr>
          <p:cNvPr id="1093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784EC3C-4346-477F-8F66-BB1177D62BD6}"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1095682" name="Rectangle 2"/>
          <p:cNvSpPr>
            <a:spLocks noGrp="1" noRot="1" noChangeAspect="1" noChangeArrowheads="1" noTextEdit="1"/>
          </p:cNvSpPr>
          <p:nvPr>
            <p:ph type="sldImg" idx="4294967295"/>
          </p:nvPr>
        </p:nvSpPr>
        <p:spPr>
          <a:ln/>
        </p:spPr>
      </p:sp>
      <p:sp>
        <p:nvSpPr>
          <p:cNvPr id="1095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7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AE1CE9-CB51-4BEE-B8CD-86EB6D1958B7}"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1097730" name="Rectangle 2"/>
          <p:cNvSpPr>
            <a:spLocks noGrp="1" noRot="1" noChangeAspect="1" noChangeArrowheads="1" noTextEdit="1"/>
          </p:cNvSpPr>
          <p:nvPr>
            <p:ph type="sldImg" idx="4294967295"/>
          </p:nvPr>
        </p:nvSpPr>
        <p:spPr>
          <a:ln/>
        </p:spPr>
      </p:sp>
      <p:sp>
        <p:nvSpPr>
          <p:cNvPr id="1097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08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815F24-E11E-4F9B-8E34-7253038CDC86}" type="slidenum">
              <a:rPr lang="en-US" altLang="zh-CN" smtClean="0">
                <a:latin typeface="宋体" panose="02010600030101010101" pitchFamily="2" charset="-122"/>
              </a:rPr>
              <a:pPr eaLnBrk="1" hangingPunct="1"/>
              <a:t>16</a:t>
            </a:fld>
            <a:endParaRPr lang="en-US" altLang="zh-CN" smtClean="0">
              <a:latin typeface="宋体" panose="02010600030101010101" pitchFamily="2" charset="-122"/>
            </a:endParaRPr>
          </a:p>
        </p:txBody>
      </p:sp>
      <p:sp>
        <p:nvSpPr>
          <p:cNvPr id="1100802" name="Rectangle 2"/>
          <p:cNvSpPr>
            <a:spLocks noGrp="1" noRot="1" noChangeAspect="1" noChangeArrowheads="1" noTextEdit="1"/>
          </p:cNvSpPr>
          <p:nvPr>
            <p:ph type="sldImg" idx="4294967295"/>
          </p:nvPr>
        </p:nvSpPr>
        <p:spPr>
          <a:ln/>
        </p:spPr>
      </p:sp>
      <p:sp>
        <p:nvSpPr>
          <p:cNvPr id="11008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8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96DDF8-F7A9-40A3-86F5-6C96DBC70ABC}"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1102850" name="Rectangle 2"/>
          <p:cNvSpPr>
            <a:spLocks noGrp="1" noRot="1" noChangeAspect="1" noChangeArrowheads="1" noTextEdit="1"/>
          </p:cNvSpPr>
          <p:nvPr>
            <p:ph type="sldImg" idx="4294967295"/>
          </p:nvPr>
        </p:nvSpPr>
        <p:spPr>
          <a:ln/>
        </p:spPr>
      </p:sp>
      <p:sp>
        <p:nvSpPr>
          <p:cNvPr id="11028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9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110D0D-973A-41EB-8DA0-DCB3A4253BC5}"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1106946" name="Rectangle 2"/>
          <p:cNvSpPr>
            <a:spLocks noGrp="1" noRot="1" noChangeAspect="1" noChangeArrowheads="1" noTextEdit="1"/>
          </p:cNvSpPr>
          <p:nvPr>
            <p:ph type="sldImg" idx="4294967295"/>
          </p:nvPr>
        </p:nvSpPr>
        <p:spPr>
          <a:ln/>
        </p:spPr>
      </p:sp>
      <p:sp>
        <p:nvSpPr>
          <p:cNvPr id="11069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8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5C36A25-DFC3-4B24-B185-668AF5DEFB03}"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1108994" name="Rectangle 2"/>
          <p:cNvSpPr>
            <a:spLocks noGrp="1" noRot="1" noChangeAspect="1" noChangeArrowheads="1" noTextEdit="1"/>
          </p:cNvSpPr>
          <p:nvPr>
            <p:ph type="sldImg" idx="4294967295"/>
          </p:nvPr>
        </p:nvSpPr>
        <p:spPr>
          <a:ln/>
        </p:spPr>
      </p:sp>
      <p:sp>
        <p:nvSpPr>
          <p:cNvPr id="11089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3872B3-CEAB-4464-954B-63ED6C2146DA}"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111042" name="Rectangle 2"/>
          <p:cNvSpPr>
            <a:spLocks noGrp="1" noRot="1" noChangeAspect="1" noChangeArrowheads="1" noTextEdit="1"/>
          </p:cNvSpPr>
          <p:nvPr>
            <p:ph type="sldImg" idx="4294967295"/>
          </p:nvPr>
        </p:nvSpPr>
        <p:spPr>
          <a:ln/>
        </p:spPr>
      </p:sp>
      <p:sp>
        <p:nvSpPr>
          <p:cNvPr id="11110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0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B9E5492-B392-4191-B3B2-DA96294E8480}"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113090" name="Rectangle 2"/>
          <p:cNvSpPr>
            <a:spLocks noGrp="1" noRot="1" noChangeAspect="1" noChangeArrowheads="1" noTextEdit="1"/>
          </p:cNvSpPr>
          <p:nvPr>
            <p:ph type="sldImg" idx="4294967295"/>
          </p:nvPr>
        </p:nvSpPr>
        <p:spPr>
          <a:ln/>
        </p:spPr>
      </p:sp>
      <p:sp>
        <p:nvSpPr>
          <p:cNvPr id="11130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5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0A5F40-2B1D-492B-8EE3-48F58FB999AB}"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1115138" name="Rectangle 2"/>
          <p:cNvSpPr>
            <a:spLocks noGrp="1" noRot="1" noChangeAspect="1" noChangeArrowheads="1" noTextEdit="1"/>
          </p:cNvSpPr>
          <p:nvPr>
            <p:ph type="sldImg" idx="4294967295"/>
          </p:nvPr>
        </p:nvSpPr>
        <p:spPr>
          <a:ln/>
        </p:spPr>
      </p:sp>
      <p:sp>
        <p:nvSpPr>
          <p:cNvPr id="11151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71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1D8A26-0553-49D1-B8E0-9F18CBECDA76}"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1117186" name="Rectangle 2"/>
          <p:cNvSpPr>
            <a:spLocks noGrp="1" noRot="1" noChangeAspect="1" noChangeArrowheads="1" noTextEdit="1"/>
          </p:cNvSpPr>
          <p:nvPr>
            <p:ph type="sldImg" idx="4294967295"/>
          </p:nvPr>
        </p:nvSpPr>
        <p:spPr>
          <a:ln/>
        </p:spPr>
      </p:sp>
      <p:sp>
        <p:nvSpPr>
          <p:cNvPr id="11171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8A3A77C-E0D1-4889-B001-084EBC8F394E}" type="slidenum">
              <a:rPr lang="en-US" altLang="zh-CN" smtClean="0"/>
              <a:pPr/>
              <a:t>30</a:t>
            </a:fld>
            <a:endParaRPr lang="en-US" altLang="zh-CN" smtClean="0"/>
          </a:p>
        </p:txBody>
      </p:sp>
      <p:sp>
        <p:nvSpPr>
          <p:cNvPr id="1123330" name="Rectangle 2"/>
          <p:cNvSpPr>
            <a:spLocks noGrp="1" noRot="1" noChangeAspect="1" noChangeArrowheads="1" noTextEdit="1"/>
          </p:cNvSpPr>
          <p:nvPr>
            <p:ph type="sldImg" idx="4294967295"/>
          </p:nvPr>
        </p:nvSpPr>
        <p:spPr>
          <a:ln/>
        </p:spPr>
      </p:sp>
      <p:sp>
        <p:nvSpPr>
          <p:cNvPr id="11233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1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0CE314-97DA-4964-9187-0EEA58526BFF}"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1231874" name="Rectangle 2"/>
          <p:cNvSpPr>
            <a:spLocks noGrp="1" noRot="1" noChangeAspect="1" noChangeArrowheads="1" noTextEdit="1"/>
          </p:cNvSpPr>
          <p:nvPr>
            <p:ph type="sldImg" idx="4294967295"/>
          </p:nvPr>
        </p:nvSpPr>
        <p:spPr>
          <a:ln/>
        </p:spPr>
      </p:sp>
      <p:sp>
        <p:nvSpPr>
          <p:cNvPr id="123187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380550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69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142C5B-AB2A-4FF9-8674-E8A7593024FE}"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1236994" name="Rectangle 2"/>
          <p:cNvSpPr>
            <a:spLocks noGrp="1" noRot="1" noChangeAspect="1" noChangeArrowheads="1" noTextEdit="1"/>
          </p:cNvSpPr>
          <p:nvPr>
            <p:ph type="sldImg" idx="4294967295"/>
          </p:nvPr>
        </p:nvSpPr>
        <p:spPr>
          <a:ln/>
        </p:spPr>
      </p:sp>
      <p:sp>
        <p:nvSpPr>
          <p:cNvPr id="123699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3177049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8F4F15-3C0F-4C8F-BCAF-EB44A91002C1}"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1239042" name="Rectangle 2"/>
          <p:cNvSpPr>
            <a:spLocks noGrp="1" noRot="1" noChangeAspect="1" noChangeArrowheads="1" noTextEdit="1"/>
          </p:cNvSpPr>
          <p:nvPr>
            <p:ph type="sldImg" idx="4294967295"/>
          </p:nvPr>
        </p:nvSpPr>
        <p:spPr>
          <a:ln/>
        </p:spPr>
      </p:sp>
      <p:sp>
        <p:nvSpPr>
          <p:cNvPr id="123904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964764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10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5D35DE-C6B2-4F02-875A-7C42C68728D7}"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1241090" name="Rectangle 2"/>
          <p:cNvSpPr>
            <a:spLocks noGrp="1" noRot="1" noChangeAspect="1" noChangeArrowheads="1" noTextEdit="1"/>
          </p:cNvSpPr>
          <p:nvPr>
            <p:ph type="sldImg" idx="4294967295"/>
          </p:nvPr>
        </p:nvSpPr>
        <p:spPr>
          <a:ln/>
        </p:spPr>
      </p:sp>
      <p:sp>
        <p:nvSpPr>
          <p:cNvPr id="12410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6369181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31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0CEC2FC-647B-4059-A625-EDFE5BF9CD1B}"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1243138" name="Rectangle 2"/>
          <p:cNvSpPr>
            <a:spLocks noGrp="1" noRot="1" noChangeAspect="1" noChangeArrowheads="1" noTextEdit="1"/>
          </p:cNvSpPr>
          <p:nvPr>
            <p:ph type="sldImg" idx="4294967295"/>
          </p:nvPr>
        </p:nvSpPr>
        <p:spPr>
          <a:ln/>
        </p:spPr>
      </p:sp>
      <p:sp>
        <p:nvSpPr>
          <p:cNvPr id="12431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448989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51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26BDF1-1C4F-416B-8370-29D2B27EF00C}"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1245186" name="Rectangle 2"/>
          <p:cNvSpPr>
            <a:spLocks noGrp="1" noRot="1" noChangeAspect="1" noChangeArrowheads="1" noTextEdit="1"/>
          </p:cNvSpPr>
          <p:nvPr>
            <p:ph type="sldImg" idx="4294967295"/>
          </p:nvPr>
        </p:nvSpPr>
        <p:spPr>
          <a:ln/>
        </p:spPr>
      </p:sp>
      <p:sp>
        <p:nvSpPr>
          <p:cNvPr id="12451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7532058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72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B82D381-8108-4118-A3A0-2A1F72EBF7A7}" type="slidenum">
              <a:rPr lang="en-US" altLang="zh-CN" smtClean="0"/>
              <a:pPr/>
              <a:t>40</a:t>
            </a:fld>
            <a:endParaRPr lang="en-US" altLang="zh-CN" smtClean="0"/>
          </a:p>
        </p:txBody>
      </p:sp>
      <p:sp>
        <p:nvSpPr>
          <p:cNvPr id="1247234" name="Rectangle 2"/>
          <p:cNvSpPr>
            <a:spLocks noGrp="1" noRot="1" noChangeAspect="1" noChangeArrowheads="1" noTextEdit="1"/>
          </p:cNvSpPr>
          <p:nvPr>
            <p:ph type="sldImg" idx="4294967295"/>
          </p:nvPr>
        </p:nvSpPr>
        <p:spPr>
          <a:ln/>
        </p:spPr>
      </p:sp>
      <p:sp>
        <p:nvSpPr>
          <p:cNvPr id="12472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799799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CF3612-C31D-4D44-8D32-4E65116CB0E2}"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1249282" name="Rectangle 2"/>
          <p:cNvSpPr>
            <a:spLocks noGrp="1" noRot="1" noChangeAspect="1" noChangeArrowheads="1" noTextEdit="1"/>
          </p:cNvSpPr>
          <p:nvPr>
            <p:ph type="sldImg" idx="4294967295"/>
          </p:nvPr>
        </p:nvSpPr>
        <p:spPr>
          <a:ln/>
        </p:spPr>
      </p:sp>
      <p:sp>
        <p:nvSpPr>
          <p:cNvPr id="12492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0418729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2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07387E-02E5-4D98-BFD9-5AD3447581BD}"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1252354" name="Rectangle 2"/>
          <p:cNvSpPr>
            <a:spLocks noGrp="1" noRot="1" noChangeAspect="1" noChangeArrowheads="1" noTextEdit="1"/>
          </p:cNvSpPr>
          <p:nvPr>
            <p:ph type="sldImg" idx="4294967295"/>
          </p:nvPr>
        </p:nvSpPr>
        <p:spPr>
          <a:ln/>
        </p:spPr>
      </p:sp>
      <p:sp>
        <p:nvSpPr>
          <p:cNvPr id="12523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9741994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4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3E5403-2721-4135-AD40-D8C82068ACD8}"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1254402" name="Rectangle 2"/>
          <p:cNvSpPr>
            <a:spLocks noGrp="1" noRot="1" noChangeAspect="1" noChangeArrowheads="1" noTextEdit="1"/>
          </p:cNvSpPr>
          <p:nvPr>
            <p:ph type="sldImg" idx="4294967295"/>
          </p:nvPr>
        </p:nvSpPr>
        <p:spPr>
          <a:ln/>
        </p:spPr>
      </p:sp>
      <p:sp>
        <p:nvSpPr>
          <p:cNvPr id="125440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33458980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6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B9D155-720E-4D27-968C-BE8E89402C18}"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1256450" name="Rectangle 2"/>
          <p:cNvSpPr>
            <a:spLocks noGrp="1" noRot="1" noChangeAspect="1" noChangeArrowheads="1" noTextEdit="1"/>
          </p:cNvSpPr>
          <p:nvPr>
            <p:ph type="sldImg" idx="4294967295"/>
          </p:nvPr>
        </p:nvSpPr>
        <p:spPr>
          <a:ln/>
        </p:spPr>
      </p:sp>
      <p:sp>
        <p:nvSpPr>
          <p:cNvPr id="125645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0546249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84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41810A-610B-4423-8C2A-10684736473B}"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1258498" name="Rectangle 2"/>
          <p:cNvSpPr>
            <a:spLocks noGrp="1" noRot="1" noChangeAspect="1" noChangeArrowheads="1" noTextEdit="1"/>
          </p:cNvSpPr>
          <p:nvPr>
            <p:ph type="sldImg" idx="4294967295"/>
          </p:nvPr>
        </p:nvSpPr>
        <p:spPr>
          <a:ln/>
        </p:spPr>
      </p:sp>
      <p:sp>
        <p:nvSpPr>
          <p:cNvPr id="125849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5256345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05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3881BD-6653-4497-B224-B6FBC859A2EE}"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1260546" name="Rectangle 2"/>
          <p:cNvSpPr>
            <a:spLocks noGrp="1" noRot="1" noChangeAspect="1" noChangeArrowheads="1" noTextEdit="1"/>
          </p:cNvSpPr>
          <p:nvPr>
            <p:ph type="sldImg" idx="4294967295"/>
          </p:nvPr>
        </p:nvSpPr>
        <p:spPr>
          <a:ln/>
        </p:spPr>
      </p:sp>
      <p:sp>
        <p:nvSpPr>
          <p:cNvPr id="126054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700181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1.bin"/><Relationship Id="rId4" Type="http://schemas.openxmlformats.org/officeDocument/2006/relationships/image" Target="../media/image4.wmf"/></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0.xml"/><Relationship Id="rId7" Type="http://schemas.openxmlformats.org/officeDocument/2006/relationships/image" Target="../media/image2.wmf"/><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4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4.xml"/><Relationship Id="rId7" Type="http://schemas.openxmlformats.org/officeDocument/2006/relationships/image" Target="../media/image4.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image" Target="../media/image3.wmf"/><Relationship Id="rId4" Type="http://schemas.openxmlformats.org/officeDocument/2006/relationships/oleObject" Target="../embeddings/oleObject3.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1" name="Rectangle 2"/>
          <p:cNvSpPr>
            <a:spLocks noGrp="1" noChangeArrowheads="1"/>
          </p:cNvSpPr>
          <p:nvPr>
            <p:ph type="ctrTitle"/>
          </p:nvPr>
        </p:nvSpPr>
        <p:spPr/>
        <p:txBody>
          <a:bodyPr/>
          <a:lstStyle/>
          <a:p>
            <a:r>
              <a:rPr lang="zh-CN" altLang="en-US" dirty="0" smtClean="0">
                <a:latin typeface="Arial" panose="020B0604020202020204" pitchFamily="34" charset="0"/>
                <a:ea typeface="黑体" panose="02010609060101010101" pitchFamily="49" charset="-122"/>
              </a:rPr>
              <a:t>第 </a:t>
            </a:r>
            <a:r>
              <a:rPr lang="en-US" altLang="zh-CN" dirty="0" smtClean="0">
                <a:latin typeface="Arial" panose="020B0604020202020204" pitchFamily="34" charset="0"/>
                <a:ea typeface="黑体" panose="02010609060101010101" pitchFamily="49" charset="-122"/>
              </a:rPr>
              <a:t>4 </a:t>
            </a:r>
            <a:r>
              <a:rPr lang="zh-CN" altLang="en-US" dirty="0" smtClean="0">
                <a:latin typeface="Arial" panose="020B0604020202020204" pitchFamily="34" charset="0"/>
                <a:ea typeface="黑体" panose="02010609060101010101" pitchFamily="49" charset="-122"/>
              </a:rPr>
              <a:t>章  网络层</a:t>
            </a:r>
          </a:p>
        </p:txBody>
      </p:sp>
      <p:sp>
        <p:nvSpPr>
          <p:cNvPr id="680962"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4.5.4-4.8</a:t>
            </a:r>
            <a:r>
              <a:rPr lang="zh-CN" altLang="en-US" dirty="0" smtClean="0">
                <a:latin typeface="黑体" panose="02010609060101010101" pitchFamily="49" charset="-122"/>
                <a:ea typeface="宋体" panose="02010600030101010101" pitchFamily="2" charset="-122"/>
              </a:rPr>
              <a:t>（不包括</a:t>
            </a:r>
            <a:r>
              <a:rPr lang="en-US" altLang="zh-CN" dirty="0" smtClean="0">
                <a:latin typeface="黑体" panose="02010609060101010101" pitchFamily="49" charset="-122"/>
                <a:ea typeface="宋体" panose="02010600030101010101" pitchFamily="2" charset="-122"/>
              </a:rPr>
              <a:t>4.6</a:t>
            </a:r>
            <a:r>
              <a:rPr lang="zh-CN" altLang="en-US" smtClean="0">
                <a:latin typeface="黑体" panose="02010609060101010101" pitchFamily="49" charset="-122"/>
                <a:ea typeface="宋体" panose="02010600030101010101" pitchFamily="2" charset="-122"/>
              </a:rPr>
              <a:t>和</a:t>
            </a:r>
            <a:r>
              <a:rPr lang="en-US" altLang="zh-CN" smtClean="0">
                <a:latin typeface="黑体" panose="02010609060101010101" pitchFamily="49" charset="-122"/>
                <a:ea typeface="宋体" panose="02010600030101010101" pitchFamily="2" charset="-122"/>
              </a:rPr>
              <a:t>4.7</a:t>
            </a:r>
            <a:r>
              <a:rPr lang="zh-CN" altLang="en-US" dirty="0" smtClean="0">
                <a:latin typeface="黑体" panose="02010609060101010101" pitchFamily="49" charset="-122"/>
                <a:ea typeface="宋体" panose="02010600030101010101" pitchFamily="2" charset="-122"/>
              </a:rPr>
              <a:t>）</a:t>
            </a:r>
          </a:p>
        </p:txBody>
      </p:sp>
      <p:sp>
        <p:nvSpPr>
          <p:cNvPr id="6809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03E797-DCB6-47D1-8B6D-3149BD091FE8}" type="slidenum">
              <a:rPr lang="zh-CN" altLang="en-US" smtClean="0"/>
              <a:pPr eaLnBrk="1" hangingPunct="1"/>
              <a:t>1</a:t>
            </a:fld>
            <a:endParaRPr lang="en-US" altLang="zh-CN" smtClean="0"/>
          </a:p>
        </p:txBody>
      </p:sp>
      <p:sp>
        <p:nvSpPr>
          <p:cNvPr id="6809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111854876"/>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4.5  </a:t>
            </a:r>
            <a:r>
              <a:rPr lang="zh-CN" altLang="zh-CN" smtClean="0">
                <a:ea typeface="黑体" panose="02010609060101010101" pitchFamily="49" charset="-122"/>
              </a:rPr>
              <a:t>互联网的路由选择协议</a:t>
            </a:r>
            <a:endParaRPr lang="zh-CN" altLang="en-US" smtClean="0">
              <a:ea typeface="黑体" panose="02010609060101010101" pitchFamily="49" charset="-122"/>
            </a:endParaRPr>
          </a:p>
        </p:txBody>
      </p:sp>
      <p:sp>
        <p:nvSpPr>
          <p:cNvPr id="976898" name="Rectangle 3"/>
          <p:cNvSpPr>
            <a:spLocks noGrp="1" noChangeArrowheads="1"/>
          </p:cNvSpPr>
          <p:nvPr>
            <p:ph idx="1"/>
          </p:nvPr>
        </p:nvSpPr>
        <p:spPr>
          <a:xfrm>
            <a:off x="495300" y="1196975"/>
            <a:ext cx="9066213" cy="4933950"/>
          </a:xfrm>
        </p:spPr>
        <p:txBody>
          <a:bodyPr/>
          <a:lstStyle/>
          <a:p>
            <a:r>
              <a:rPr lang="en-US" altLang="zh-CN" dirty="0" smtClean="0">
                <a:solidFill>
                  <a:schemeClr val="bg1">
                    <a:lumMod val="50000"/>
                  </a:schemeClr>
                </a:solidFill>
                <a:ea typeface="黑体" panose="02010609060101010101" pitchFamily="49" charset="-122"/>
              </a:rPr>
              <a:t>4.5.1  </a:t>
            </a:r>
            <a:r>
              <a:rPr lang="zh-CN" altLang="zh-CN" dirty="0" smtClean="0">
                <a:solidFill>
                  <a:schemeClr val="bg1">
                    <a:lumMod val="50000"/>
                  </a:schemeClr>
                </a:solidFill>
                <a:ea typeface="黑体" panose="02010609060101010101" pitchFamily="49" charset="-122"/>
              </a:rPr>
              <a:t>有关路由选择协议的几个基本概念</a:t>
            </a:r>
          </a:p>
          <a:p>
            <a:r>
              <a:rPr lang="en-US" altLang="zh-CN" dirty="0" smtClean="0">
                <a:solidFill>
                  <a:schemeClr val="bg1">
                    <a:lumMod val="50000"/>
                  </a:schemeClr>
                </a:solidFill>
                <a:ea typeface="黑体" panose="02010609060101010101" pitchFamily="49" charset="-122"/>
              </a:rPr>
              <a:t>4.5.2  </a:t>
            </a:r>
            <a:r>
              <a:rPr lang="zh-CN" altLang="zh-CN" dirty="0" smtClean="0">
                <a:solidFill>
                  <a:schemeClr val="bg1">
                    <a:lumMod val="50000"/>
                  </a:schemeClr>
                </a:solidFill>
                <a:ea typeface="黑体" panose="02010609060101010101" pitchFamily="49" charset="-122"/>
              </a:rPr>
              <a:t>内部网关协议</a:t>
            </a:r>
            <a:r>
              <a:rPr lang="en-US" altLang="zh-CN" dirty="0" smtClean="0">
                <a:solidFill>
                  <a:schemeClr val="bg1">
                    <a:lumMod val="50000"/>
                  </a:schemeClr>
                </a:solidFill>
                <a:ea typeface="黑体" panose="02010609060101010101" pitchFamily="49" charset="-122"/>
              </a:rPr>
              <a:t> RIP</a:t>
            </a:r>
            <a:endParaRPr lang="zh-CN" altLang="zh-CN" dirty="0" smtClean="0">
              <a:solidFill>
                <a:schemeClr val="bg1">
                  <a:lumMod val="50000"/>
                </a:schemeClr>
              </a:solidFill>
              <a:ea typeface="黑体" panose="02010609060101010101" pitchFamily="49" charset="-122"/>
            </a:endParaRPr>
          </a:p>
          <a:p>
            <a:r>
              <a:rPr lang="en-US" altLang="zh-CN" dirty="0" smtClean="0">
                <a:solidFill>
                  <a:schemeClr val="bg1">
                    <a:lumMod val="50000"/>
                  </a:schemeClr>
                </a:solidFill>
                <a:ea typeface="黑体" panose="02010609060101010101" pitchFamily="49" charset="-122"/>
              </a:rPr>
              <a:t>4.5.3  </a:t>
            </a:r>
            <a:r>
              <a:rPr lang="zh-CN" altLang="zh-CN" dirty="0" smtClean="0">
                <a:solidFill>
                  <a:schemeClr val="bg1">
                    <a:lumMod val="50000"/>
                  </a:schemeClr>
                </a:solidFill>
                <a:ea typeface="黑体" panose="02010609060101010101" pitchFamily="49" charset="-122"/>
              </a:rPr>
              <a:t>内部网关协议</a:t>
            </a:r>
            <a:r>
              <a:rPr lang="en-US" altLang="zh-CN" dirty="0" smtClean="0">
                <a:solidFill>
                  <a:schemeClr val="bg1">
                    <a:lumMod val="50000"/>
                  </a:schemeClr>
                </a:solidFill>
                <a:ea typeface="黑体" panose="02010609060101010101" pitchFamily="49" charset="-122"/>
              </a:rPr>
              <a:t> OSPF</a:t>
            </a:r>
            <a:endParaRPr lang="zh-CN" altLang="zh-CN" dirty="0" smtClean="0">
              <a:solidFill>
                <a:schemeClr val="bg1">
                  <a:lumMod val="50000"/>
                </a:schemeClr>
              </a:solidFill>
              <a:ea typeface="黑体" panose="02010609060101010101" pitchFamily="49" charset="-122"/>
            </a:endParaRPr>
          </a:p>
          <a:p>
            <a:r>
              <a:rPr lang="en-US" altLang="zh-CN" dirty="0" smtClean="0">
                <a:ea typeface="黑体" panose="02010609060101010101" pitchFamily="49" charset="-122"/>
              </a:rPr>
              <a:t>4.5.4  </a:t>
            </a:r>
            <a:r>
              <a:rPr lang="zh-CN" altLang="zh-CN" dirty="0" smtClean="0">
                <a:ea typeface="黑体" panose="02010609060101010101" pitchFamily="49" charset="-122"/>
              </a:rPr>
              <a:t>外部网关协议</a:t>
            </a:r>
            <a:r>
              <a:rPr lang="en-US" altLang="zh-CN" dirty="0" smtClean="0">
                <a:ea typeface="黑体" panose="02010609060101010101" pitchFamily="49" charset="-122"/>
              </a:rPr>
              <a:t> BGP</a:t>
            </a:r>
            <a:endParaRPr lang="zh-CN" altLang="zh-CN" dirty="0" smtClean="0">
              <a:ea typeface="黑体" panose="02010609060101010101" pitchFamily="49" charset="-122"/>
            </a:endParaRPr>
          </a:p>
          <a:p>
            <a:r>
              <a:rPr lang="en-US" altLang="zh-CN" dirty="0" smtClean="0">
                <a:ea typeface="黑体" panose="02010609060101010101" pitchFamily="49" charset="-122"/>
              </a:rPr>
              <a:t>4.5.5  </a:t>
            </a:r>
            <a:r>
              <a:rPr lang="zh-CN" altLang="zh-CN" dirty="0" smtClean="0">
                <a:ea typeface="黑体" panose="02010609060101010101" pitchFamily="49" charset="-122"/>
              </a:rPr>
              <a:t>路由器的构成</a:t>
            </a:r>
          </a:p>
          <a:p>
            <a:endParaRPr lang="zh-CN" altLang="en-US" dirty="0" smtClean="0">
              <a:solidFill>
                <a:srgbClr val="0000CC"/>
              </a:solidFill>
              <a:ea typeface="黑体" panose="02010609060101010101" pitchFamily="49" charset="-122"/>
            </a:endParaRPr>
          </a:p>
        </p:txBody>
      </p:sp>
      <p:sp>
        <p:nvSpPr>
          <p:cNvPr id="9768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F0B57B6-50C8-4FB7-B998-85A01101AED3}" type="slidenum">
              <a:rPr lang="zh-CN" altLang="en-US" smtClean="0"/>
              <a:pPr eaLnBrk="1" hangingPunct="1"/>
              <a:t>2</a:t>
            </a:fld>
            <a:endParaRPr lang="en-US" altLang="zh-CN" smtClean="0"/>
          </a:p>
        </p:txBody>
      </p:sp>
      <p:sp>
        <p:nvSpPr>
          <p:cNvPr id="9769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1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4.5.4  </a:t>
            </a:r>
            <a:r>
              <a:rPr lang="zh-CN" altLang="en-US" smtClean="0">
                <a:ea typeface="黑体" panose="02010609060101010101" pitchFamily="49" charset="-122"/>
              </a:rPr>
              <a:t>外部网关协议 </a:t>
            </a:r>
            <a:r>
              <a:rPr lang="en-US" altLang="zh-CN" smtClean="0">
                <a:ea typeface="黑体" panose="02010609060101010101" pitchFamily="49" charset="-122"/>
              </a:rPr>
              <a:t>BGP</a:t>
            </a:r>
          </a:p>
        </p:txBody>
      </p:sp>
      <p:sp>
        <p:nvSpPr>
          <p:cNvPr id="600067" name="Rectangle 3"/>
          <p:cNvSpPr>
            <a:spLocks noGrp="1" noChangeArrowheads="1"/>
          </p:cNvSpPr>
          <p:nvPr>
            <p:ph idx="1"/>
          </p:nvPr>
        </p:nvSpPr>
        <p:spPr>
          <a:xfrm>
            <a:off x="495300" y="1196975"/>
            <a:ext cx="9066213" cy="4933950"/>
          </a:xfrm>
        </p:spPr>
        <p:txBody>
          <a:bodyPr/>
          <a:lstStyle/>
          <a:p>
            <a:pPr>
              <a:spcBef>
                <a:spcPts val="1200"/>
              </a:spcBef>
            </a:pPr>
            <a:r>
              <a:rPr lang="en-US" altLang="zh-CN" u="sng" dirty="0" smtClean="0">
                <a:solidFill>
                  <a:srgbClr val="FF0000"/>
                </a:solidFill>
                <a:ea typeface="黑体" panose="02010609060101010101" pitchFamily="49" charset="-122"/>
              </a:rPr>
              <a:t>BGP</a:t>
            </a:r>
            <a:r>
              <a:rPr lang="zh-CN" altLang="en-US" u="sng" dirty="0" smtClean="0">
                <a:ea typeface="黑体" panose="02010609060101010101" pitchFamily="49" charset="-122"/>
              </a:rPr>
              <a:t>（</a:t>
            </a:r>
            <a:r>
              <a:rPr lang="en-US" altLang="zh-CN" u="sng" dirty="0">
                <a:ea typeface="黑体" panose="02010609060101010101" pitchFamily="49" charset="-122"/>
              </a:rPr>
              <a:t>Border Gateway Protocol </a:t>
            </a:r>
            <a:r>
              <a:rPr lang="en-US" altLang="zh-CN" u="sng" dirty="0" smtClean="0">
                <a:ea typeface="黑体" panose="02010609060101010101" pitchFamily="49" charset="-122"/>
              </a:rPr>
              <a:t>,</a:t>
            </a:r>
            <a:r>
              <a:rPr lang="zh-CN" altLang="en-US" u="sng" dirty="0" smtClean="0">
                <a:ea typeface="黑体" panose="02010609060101010101" pitchFamily="49" charset="-122"/>
              </a:rPr>
              <a:t>边界网关协议</a:t>
            </a:r>
            <a:r>
              <a:rPr lang="zh-CN" altLang="en-US" u="sng" dirty="0" smtClean="0">
                <a:ea typeface="黑体" panose="02010609060101010101" pitchFamily="49" charset="-122"/>
              </a:rPr>
              <a:t>）</a:t>
            </a:r>
            <a:r>
              <a:rPr lang="en-US" altLang="zh-CN" u="sng" dirty="0" smtClean="0">
                <a:ea typeface="黑体" panose="02010609060101010101" pitchFamily="49" charset="-122"/>
              </a:rPr>
              <a:t> </a:t>
            </a:r>
            <a:r>
              <a:rPr lang="zh-CN" altLang="en-US" dirty="0" smtClean="0">
                <a:ea typeface="黑体" panose="02010609060101010101" pitchFamily="49" charset="-122"/>
              </a:rPr>
              <a:t>是</a:t>
            </a:r>
            <a:r>
              <a:rPr lang="zh-CN" altLang="en-US" dirty="0" smtClean="0">
                <a:solidFill>
                  <a:srgbClr val="FF0000"/>
                </a:solidFill>
                <a:ea typeface="黑体" panose="02010609060101010101" pitchFamily="49" charset="-122"/>
              </a:rPr>
              <a:t>不同自治系统的路由器之间</a:t>
            </a:r>
            <a:r>
              <a:rPr lang="zh-CN" altLang="en-US" dirty="0" smtClean="0">
                <a:ea typeface="黑体" panose="02010609060101010101" pitchFamily="49" charset="-122"/>
              </a:rPr>
              <a:t>交换路由信息的协议。 </a:t>
            </a:r>
          </a:p>
          <a:p>
            <a:pPr>
              <a:spcBef>
                <a:spcPts val="1200"/>
              </a:spcBef>
            </a:pPr>
            <a:r>
              <a:rPr lang="en-US" altLang="zh-CN" dirty="0" smtClean="0">
                <a:ea typeface="黑体" panose="02010609060101010101" pitchFamily="49" charset="-122"/>
              </a:rPr>
              <a:t>BGP </a:t>
            </a:r>
            <a:r>
              <a:rPr lang="zh-CN" altLang="en-US" dirty="0" smtClean="0">
                <a:ea typeface="黑体" panose="02010609060101010101" pitchFamily="49" charset="-122"/>
              </a:rPr>
              <a:t>较新版本是 </a:t>
            </a:r>
            <a:r>
              <a:rPr lang="en-US" altLang="zh-CN" dirty="0" smtClean="0">
                <a:ea typeface="黑体" panose="02010609060101010101" pitchFamily="49" charset="-122"/>
              </a:rPr>
              <a:t>2006 </a:t>
            </a:r>
            <a:r>
              <a:rPr lang="zh-CN" altLang="en-US" dirty="0" smtClean="0">
                <a:ea typeface="黑体" panose="02010609060101010101" pitchFamily="49" charset="-122"/>
              </a:rPr>
              <a:t>年 </a:t>
            </a:r>
            <a:r>
              <a:rPr lang="en-US" altLang="zh-CN" dirty="0" smtClean="0">
                <a:ea typeface="黑体" panose="02010609060101010101" pitchFamily="49" charset="-122"/>
              </a:rPr>
              <a:t>1 </a:t>
            </a:r>
            <a:r>
              <a:rPr lang="zh-CN" altLang="en-US" dirty="0" smtClean="0">
                <a:ea typeface="黑体" panose="02010609060101010101" pitchFamily="49" charset="-122"/>
              </a:rPr>
              <a:t>月发表的 </a:t>
            </a:r>
            <a:r>
              <a:rPr lang="en-US" altLang="zh-CN" dirty="0" smtClean="0">
                <a:ea typeface="黑体" panose="02010609060101010101" pitchFamily="49" charset="-122"/>
              </a:rPr>
              <a:t>BGP-4</a:t>
            </a:r>
            <a:r>
              <a:rPr lang="zh-CN" altLang="en-US" dirty="0" smtClean="0">
                <a:ea typeface="黑体" panose="02010609060101010101" pitchFamily="49" charset="-122"/>
              </a:rPr>
              <a:t>（</a:t>
            </a:r>
            <a:r>
              <a:rPr lang="en-US" altLang="zh-CN" dirty="0" smtClean="0">
                <a:ea typeface="黑体" panose="02010609060101010101" pitchFamily="49" charset="-122"/>
              </a:rPr>
              <a:t>BGP </a:t>
            </a:r>
            <a:r>
              <a:rPr lang="zh-CN" altLang="en-US" dirty="0" smtClean="0">
                <a:ea typeface="黑体" panose="02010609060101010101" pitchFamily="49" charset="-122"/>
              </a:rPr>
              <a:t>第 </a:t>
            </a:r>
            <a:r>
              <a:rPr lang="en-US" altLang="zh-CN" dirty="0" smtClean="0">
                <a:ea typeface="黑体" panose="02010609060101010101" pitchFamily="49" charset="-122"/>
              </a:rPr>
              <a:t>4 </a:t>
            </a:r>
            <a:r>
              <a:rPr lang="zh-CN" altLang="en-US" dirty="0" smtClean="0">
                <a:ea typeface="黑体" panose="02010609060101010101" pitchFamily="49" charset="-122"/>
              </a:rPr>
              <a:t>个版本），即 </a:t>
            </a:r>
            <a:r>
              <a:rPr lang="en-US" altLang="zh-CN" dirty="0" smtClean="0">
                <a:ea typeface="黑体" panose="02010609060101010101" pitchFamily="49" charset="-122"/>
              </a:rPr>
              <a:t>RFC 4271 ~ 4278</a:t>
            </a:r>
            <a:r>
              <a:rPr lang="zh-CN" altLang="en-US" dirty="0" smtClean="0">
                <a:ea typeface="黑体" panose="02010609060101010101" pitchFamily="49" charset="-122"/>
              </a:rPr>
              <a:t>。 </a:t>
            </a:r>
          </a:p>
          <a:p>
            <a:pPr>
              <a:spcBef>
                <a:spcPts val="1200"/>
              </a:spcBef>
            </a:pPr>
            <a:r>
              <a:rPr lang="zh-CN" altLang="en-US" dirty="0" smtClean="0">
                <a:ea typeface="黑体" panose="02010609060101010101" pitchFamily="49" charset="-122"/>
              </a:rPr>
              <a:t>可以将 </a:t>
            </a:r>
            <a:r>
              <a:rPr lang="en-US" altLang="zh-CN" dirty="0" smtClean="0">
                <a:ea typeface="黑体" panose="02010609060101010101" pitchFamily="49" charset="-122"/>
              </a:rPr>
              <a:t>BGP-4 </a:t>
            </a:r>
            <a:r>
              <a:rPr lang="zh-CN" altLang="en-US" dirty="0" smtClean="0">
                <a:ea typeface="黑体" panose="02010609060101010101" pitchFamily="49" charset="-122"/>
              </a:rPr>
              <a:t>简写为 </a:t>
            </a:r>
            <a:r>
              <a:rPr lang="en-US" altLang="zh-CN" dirty="0" smtClean="0">
                <a:ea typeface="黑体" panose="02010609060101010101" pitchFamily="49" charset="-122"/>
              </a:rPr>
              <a:t>BGP</a:t>
            </a:r>
            <a:r>
              <a:rPr lang="zh-CN" altLang="en-US" dirty="0" smtClean="0">
                <a:ea typeface="黑体" panose="02010609060101010101" pitchFamily="49" charset="-122"/>
              </a:rPr>
              <a:t>。 </a:t>
            </a:r>
          </a:p>
        </p:txBody>
      </p:sp>
      <p:sp>
        <p:nvSpPr>
          <p:cNvPr id="1074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FC2CF-9564-447E-8ABA-68CFF27F9A00}" type="slidenum">
              <a:rPr lang="zh-CN" altLang="en-US" smtClean="0"/>
              <a:pPr eaLnBrk="1" hangingPunct="1"/>
              <a:t>3</a:t>
            </a:fld>
            <a:endParaRPr lang="en-US" altLang="zh-CN" smtClean="0"/>
          </a:p>
        </p:txBody>
      </p:sp>
      <p:sp>
        <p:nvSpPr>
          <p:cNvPr id="1074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006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00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6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622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使用环境不同</a:t>
            </a:r>
          </a:p>
        </p:txBody>
      </p:sp>
      <p:sp>
        <p:nvSpPr>
          <p:cNvPr id="601091"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互联网的规模太大，使得自治系统之间路由选择非常困难。对于自治系统之间的路由选择，要寻找最佳路由是很不现实的。</a:t>
            </a:r>
          </a:p>
          <a:p>
            <a:pPr lvl="1"/>
            <a:r>
              <a:rPr lang="zh-CN" altLang="en-US" smtClean="0">
                <a:ea typeface="黑体" panose="02010609060101010101" pitchFamily="49" charset="-122"/>
              </a:rPr>
              <a:t>当一条路径通过几个不同 </a:t>
            </a:r>
            <a:r>
              <a:rPr lang="en-US" altLang="zh-CN" smtClean="0">
                <a:ea typeface="黑体" panose="02010609060101010101" pitchFamily="49" charset="-122"/>
              </a:rPr>
              <a:t>AS </a:t>
            </a:r>
            <a:r>
              <a:rPr lang="zh-CN" altLang="en-US" smtClean="0">
                <a:ea typeface="黑体" panose="02010609060101010101" pitchFamily="49" charset="-122"/>
              </a:rPr>
              <a:t>时，要想对这样的路径计算出有意义的代价是不太可能的。</a:t>
            </a:r>
          </a:p>
          <a:p>
            <a:pPr lvl="1"/>
            <a:r>
              <a:rPr lang="zh-CN" altLang="en-US" smtClean="0">
                <a:solidFill>
                  <a:srgbClr val="0000FF"/>
                </a:solidFill>
                <a:ea typeface="黑体" panose="02010609060101010101" pitchFamily="49" charset="-122"/>
              </a:rPr>
              <a:t>比较合理的做法是在 </a:t>
            </a:r>
            <a:r>
              <a:rPr lang="en-US" altLang="zh-CN" smtClean="0">
                <a:solidFill>
                  <a:srgbClr val="0000FF"/>
                </a:solidFill>
                <a:ea typeface="黑体" panose="02010609060101010101" pitchFamily="49" charset="-122"/>
              </a:rPr>
              <a:t>AS </a:t>
            </a:r>
            <a:r>
              <a:rPr lang="zh-CN" altLang="en-US" smtClean="0">
                <a:solidFill>
                  <a:srgbClr val="0000FF"/>
                </a:solidFill>
                <a:ea typeface="黑体" panose="02010609060101010101" pitchFamily="49" charset="-122"/>
              </a:rPr>
              <a:t>之间交换“可达性”信息。</a:t>
            </a:r>
          </a:p>
          <a:p>
            <a:r>
              <a:rPr lang="zh-CN" altLang="en-US" sz="2800" smtClean="0">
                <a:ea typeface="黑体" panose="02010609060101010101" pitchFamily="49" charset="-122"/>
              </a:rPr>
              <a:t>自治系统之间的路由选择必须考虑有关</a:t>
            </a:r>
            <a:r>
              <a:rPr lang="zh-CN" altLang="en-US" sz="2800" smtClean="0">
                <a:solidFill>
                  <a:srgbClr val="FF0000"/>
                </a:solidFill>
                <a:ea typeface="黑体" panose="02010609060101010101" pitchFamily="49" charset="-122"/>
              </a:rPr>
              <a:t>策略。</a:t>
            </a:r>
          </a:p>
          <a:p>
            <a:r>
              <a:rPr lang="zh-CN" altLang="en-US" sz="2800" smtClean="0">
                <a:ea typeface="黑体" panose="02010609060101010101" pitchFamily="49" charset="-122"/>
              </a:rPr>
              <a:t>因此，边界网关协议 </a:t>
            </a:r>
            <a:r>
              <a:rPr lang="en-US" altLang="zh-CN" sz="2800" smtClean="0">
                <a:ea typeface="黑体" panose="02010609060101010101" pitchFamily="49" charset="-122"/>
              </a:rPr>
              <a:t>BGP </a:t>
            </a:r>
            <a:r>
              <a:rPr lang="zh-CN" altLang="en-US" sz="2800" smtClean="0">
                <a:ea typeface="黑体" panose="02010609060101010101" pitchFamily="49" charset="-122"/>
              </a:rPr>
              <a:t>只能是力求寻找一条能够到达目的网络且</a:t>
            </a:r>
            <a:r>
              <a:rPr lang="zh-CN" altLang="en-US" sz="2800" smtClean="0">
                <a:solidFill>
                  <a:srgbClr val="FF0000"/>
                </a:solidFill>
                <a:ea typeface="黑体" panose="02010609060101010101" pitchFamily="49" charset="-122"/>
              </a:rPr>
              <a:t>比较好的路由</a:t>
            </a:r>
            <a:r>
              <a:rPr lang="zh-CN" altLang="en-US" sz="2800" smtClean="0">
                <a:ea typeface="黑体" panose="02010609060101010101" pitchFamily="49" charset="-122"/>
              </a:rPr>
              <a:t>（不能兜圈子），而</a:t>
            </a:r>
            <a:r>
              <a:rPr lang="zh-CN" altLang="en-US" sz="2800" smtClean="0">
                <a:solidFill>
                  <a:srgbClr val="FF0000"/>
                </a:solidFill>
                <a:ea typeface="黑体" panose="02010609060101010101" pitchFamily="49" charset="-122"/>
              </a:rPr>
              <a:t>并非要寻找一条最佳路由。</a:t>
            </a:r>
            <a:r>
              <a:rPr lang="zh-CN" altLang="en-US" sz="2800" smtClean="0">
                <a:ea typeface="黑体" panose="02010609060101010101" pitchFamily="49" charset="-122"/>
              </a:rPr>
              <a:t>  </a:t>
            </a:r>
          </a:p>
        </p:txBody>
      </p:sp>
      <p:sp>
        <p:nvSpPr>
          <p:cNvPr id="1076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04A0F7-C2BD-4277-A6E0-955C9033910C}" type="slidenum">
              <a:rPr lang="zh-CN" altLang="en-US" smtClean="0"/>
              <a:pPr eaLnBrk="1" hangingPunct="1"/>
              <a:t>4</a:t>
            </a:fld>
            <a:endParaRPr lang="en-US" altLang="zh-CN" smtClean="0"/>
          </a:p>
        </p:txBody>
      </p:sp>
      <p:sp>
        <p:nvSpPr>
          <p:cNvPr id="1076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1091">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10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27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发言人</a:t>
            </a:r>
            <a:endParaRPr lang="en-US" altLang="zh-CN" smtClean="0">
              <a:ea typeface="黑体" panose="02010609060101010101" pitchFamily="49" charset="-122"/>
            </a:endParaRPr>
          </a:p>
        </p:txBody>
      </p:sp>
      <p:sp>
        <p:nvSpPr>
          <p:cNvPr id="602115"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每一个自治系统的管理员要选择至少一个路由器作为该自治系统的“ </a:t>
            </a:r>
            <a:r>
              <a:rPr lang="en-US" altLang="zh-CN" dirty="0" smtClean="0">
                <a:solidFill>
                  <a:srgbClr val="FF0000"/>
                </a:solidFill>
                <a:ea typeface="黑体" panose="02010609060101010101" pitchFamily="49" charset="-122"/>
              </a:rPr>
              <a:t>BGP </a:t>
            </a:r>
            <a:r>
              <a:rPr lang="zh-CN" altLang="en-US" dirty="0" smtClean="0">
                <a:solidFill>
                  <a:srgbClr val="FF0000"/>
                </a:solidFill>
                <a:ea typeface="黑体" panose="02010609060101010101" pitchFamily="49" charset="-122"/>
              </a:rPr>
              <a:t>发言人</a:t>
            </a:r>
            <a:r>
              <a:rPr lang="zh-CN" altLang="en-US" dirty="0" smtClean="0">
                <a:ea typeface="黑体" panose="02010609060101010101" pitchFamily="49" charset="-122"/>
              </a:rPr>
              <a:t>”</a:t>
            </a:r>
            <a:r>
              <a:rPr lang="en-US" altLang="zh-CN" dirty="0" smtClean="0">
                <a:ea typeface="黑体" panose="02010609060101010101" pitchFamily="49" charset="-122"/>
              </a:rPr>
              <a:t> (BGP speaker)</a:t>
            </a:r>
            <a:r>
              <a:rPr lang="zh-CN" altLang="en-US" dirty="0" smtClean="0">
                <a:ea typeface="黑体" panose="02010609060101010101" pitchFamily="49" charset="-122"/>
              </a:rPr>
              <a:t> 。</a:t>
            </a:r>
          </a:p>
          <a:p>
            <a:r>
              <a:rPr lang="zh-CN" altLang="en-US" dirty="0" smtClean="0">
                <a:ea typeface="黑体" panose="02010609060101010101" pitchFamily="49" charset="-122"/>
              </a:rPr>
              <a:t>一般说来，两个 </a:t>
            </a:r>
            <a:r>
              <a:rPr lang="en-US" altLang="zh-CN" dirty="0" smtClean="0">
                <a:ea typeface="黑体" panose="02010609060101010101" pitchFamily="49" charset="-122"/>
              </a:rPr>
              <a:t>BGP </a:t>
            </a:r>
            <a:r>
              <a:rPr lang="zh-CN" altLang="en-US" dirty="0" smtClean="0">
                <a:ea typeface="黑体" panose="02010609060101010101" pitchFamily="49" charset="-122"/>
              </a:rPr>
              <a:t>发言人都是通过一个共享网络连接在一起的，而 </a:t>
            </a:r>
            <a:r>
              <a:rPr lang="en-US" altLang="zh-CN" dirty="0" smtClean="0">
                <a:ea typeface="黑体" panose="02010609060101010101" pitchFamily="49" charset="-122"/>
              </a:rPr>
              <a:t>BGP </a:t>
            </a:r>
            <a:r>
              <a:rPr lang="zh-CN" altLang="en-US" dirty="0" smtClean="0">
                <a:ea typeface="黑体" panose="02010609060101010101" pitchFamily="49" charset="-122"/>
              </a:rPr>
              <a:t>发言人</a:t>
            </a:r>
            <a:r>
              <a:rPr lang="zh-CN" altLang="en-US" dirty="0" smtClean="0">
                <a:solidFill>
                  <a:srgbClr val="FF0000"/>
                </a:solidFill>
                <a:ea typeface="黑体" panose="02010609060101010101" pitchFamily="49" charset="-122"/>
              </a:rPr>
              <a:t>往往就是 </a:t>
            </a:r>
            <a:r>
              <a:rPr lang="en-US" altLang="zh-CN" dirty="0" smtClean="0">
                <a:solidFill>
                  <a:srgbClr val="FF0000"/>
                </a:solidFill>
                <a:ea typeface="黑体" panose="02010609060101010101" pitchFamily="49" charset="-122"/>
              </a:rPr>
              <a:t>BGP </a:t>
            </a:r>
            <a:r>
              <a:rPr lang="zh-CN" altLang="en-US" dirty="0" smtClean="0">
                <a:solidFill>
                  <a:srgbClr val="FF0000"/>
                </a:solidFill>
                <a:ea typeface="黑体" panose="02010609060101010101" pitchFamily="49" charset="-122"/>
              </a:rPr>
              <a:t>边界路由器</a:t>
            </a:r>
            <a:r>
              <a:rPr lang="zh-CN" altLang="en-US" dirty="0" smtClean="0">
                <a:ea typeface="黑体" panose="02010609060101010101" pitchFamily="49" charset="-122"/>
              </a:rPr>
              <a:t>，但也可以不是 </a:t>
            </a:r>
            <a:r>
              <a:rPr lang="en-US" altLang="zh-CN" dirty="0" smtClean="0">
                <a:ea typeface="黑体" panose="02010609060101010101" pitchFamily="49" charset="-122"/>
              </a:rPr>
              <a:t>BGP </a:t>
            </a:r>
            <a:r>
              <a:rPr lang="zh-CN" altLang="en-US" dirty="0" smtClean="0">
                <a:ea typeface="黑体" panose="02010609060101010101" pitchFamily="49" charset="-122"/>
              </a:rPr>
              <a:t>边界路由器。 </a:t>
            </a:r>
          </a:p>
        </p:txBody>
      </p:sp>
      <p:sp>
        <p:nvSpPr>
          <p:cNvPr id="1078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F793F8-A05C-4723-AC4D-C1039EC048D9}" type="slidenum">
              <a:rPr lang="zh-CN" altLang="en-US" smtClean="0"/>
              <a:pPr eaLnBrk="1" hangingPunct="1"/>
              <a:t>5</a:t>
            </a:fld>
            <a:endParaRPr lang="en-US" altLang="zh-CN" smtClean="0"/>
          </a:p>
        </p:txBody>
      </p:sp>
      <p:sp>
        <p:nvSpPr>
          <p:cNvPr id="1078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21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32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交换路由信息</a:t>
            </a:r>
          </a:p>
        </p:txBody>
      </p:sp>
      <p:sp>
        <p:nvSpPr>
          <p:cNvPr id="603139" name="Rectangle 3"/>
          <p:cNvSpPr>
            <a:spLocks noGrp="1" noChangeArrowheads="1"/>
          </p:cNvSpPr>
          <p:nvPr>
            <p:ph idx="1"/>
          </p:nvPr>
        </p:nvSpPr>
        <p:spPr>
          <a:xfrm>
            <a:off x="495300" y="1196975"/>
            <a:ext cx="9066213" cy="4933950"/>
          </a:xfrm>
        </p:spPr>
        <p:txBody>
          <a:bodyPr/>
          <a:lstStyle/>
          <a:p>
            <a:r>
              <a:rPr lang="zh-CN" altLang="en-US" sz="3000" dirty="0" smtClean="0">
                <a:ea typeface="黑体" panose="02010609060101010101" pitchFamily="49" charset="-122"/>
              </a:rPr>
              <a:t>一</a:t>
            </a:r>
            <a:r>
              <a:rPr lang="zh-CN" altLang="en-US" sz="3000" dirty="0" smtClean="0">
                <a:solidFill>
                  <a:srgbClr val="FF0000"/>
                </a:solidFill>
                <a:ea typeface="黑体" panose="02010609060101010101" pitchFamily="49" charset="-122"/>
              </a:rPr>
              <a:t>个 </a:t>
            </a:r>
            <a:r>
              <a:rPr lang="en-US" altLang="zh-CN" sz="3000" dirty="0" smtClean="0">
                <a:solidFill>
                  <a:srgbClr val="FF0000"/>
                </a:solidFill>
                <a:ea typeface="黑体" panose="02010609060101010101" pitchFamily="49" charset="-122"/>
              </a:rPr>
              <a:t>BGP </a:t>
            </a:r>
            <a:r>
              <a:rPr lang="zh-CN" altLang="en-US" sz="3000" dirty="0" smtClean="0">
                <a:solidFill>
                  <a:srgbClr val="FF0000"/>
                </a:solidFill>
                <a:ea typeface="黑体" panose="02010609060101010101" pitchFamily="49" charset="-122"/>
              </a:rPr>
              <a:t>发言人</a:t>
            </a:r>
            <a:r>
              <a:rPr lang="zh-CN" altLang="en-US" sz="3000" dirty="0" smtClean="0">
                <a:ea typeface="黑体" panose="02010609060101010101" pitchFamily="49" charset="-122"/>
              </a:rPr>
              <a:t>与其他自治系统中的 </a:t>
            </a:r>
            <a:r>
              <a:rPr lang="en-US" altLang="zh-CN" sz="3000" dirty="0" smtClean="0">
                <a:ea typeface="黑体" panose="02010609060101010101" pitchFamily="49" charset="-122"/>
              </a:rPr>
              <a:t>BGP </a:t>
            </a:r>
            <a:r>
              <a:rPr lang="zh-CN" altLang="en-US" sz="3000" dirty="0" smtClean="0">
                <a:ea typeface="黑体" panose="02010609060101010101" pitchFamily="49" charset="-122"/>
              </a:rPr>
              <a:t>发言人要交换路由信息，就要先建立 </a:t>
            </a:r>
            <a:r>
              <a:rPr lang="en-US" altLang="zh-CN" sz="3000" dirty="0" smtClean="0">
                <a:solidFill>
                  <a:srgbClr val="FF0000"/>
                </a:solidFill>
                <a:ea typeface="黑体" panose="02010609060101010101" pitchFamily="49" charset="-122"/>
              </a:rPr>
              <a:t>TCP </a:t>
            </a:r>
            <a:r>
              <a:rPr lang="zh-CN" altLang="en-US" sz="3000" dirty="0" smtClean="0">
                <a:solidFill>
                  <a:srgbClr val="FF0000"/>
                </a:solidFill>
                <a:ea typeface="黑体" panose="02010609060101010101" pitchFamily="49" charset="-122"/>
              </a:rPr>
              <a:t>连接，</a:t>
            </a:r>
            <a:r>
              <a:rPr lang="zh-CN" altLang="en-US" sz="3000" dirty="0" smtClean="0">
                <a:ea typeface="黑体" panose="02010609060101010101" pitchFamily="49" charset="-122"/>
              </a:rPr>
              <a:t>然后在此连接上交换 </a:t>
            </a:r>
            <a:r>
              <a:rPr lang="en-US" altLang="zh-CN" sz="3000" dirty="0" smtClean="0">
                <a:ea typeface="黑体" panose="02010609060101010101" pitchFamily="49" charset="-122"/>
              </a:rPr>
              <a:t>BGP </a:t>
            </a:r>
            <a:r>
              <a:rPr lang="zh-CN" altLang="en-US" sz="3000" dirty="0" smtClean="0">
                <a:ea typeface="黑体" panose="02010609060101010101" pitchFamily="49" charset="-122"/>
              </a:rPr>
              <a:t>报文以建立 </a:t>
            </a:r>
            <a:r>
              <a:rPr lang="en-US" altLang="zh-CN" sz="3000" dirty="0" smtClean="0">
                <a:ea typeface="黑体" panose="02010609060101010101" pitchFamily="49" charset="-122"/>
              </a:rPr>
              <a:t>BGP </a:t>
            </a:r>
            <a:r>
              <a:rPr lang="zh-CN" altLang="en-US" sz="3000" dirty="0" smtClean="0">
                <a:solidFill>
                  <a:srgbClr val="FF0000"/>
                </a:solidFill>
                <a:ea typeface="黑体" panose="02010609060101010101" pitchFamily="49" charset="-122"/>
              </a:rPr>
              <a:t>会话</a:t>
            </a:r>
            <a:r>
              <a:rPr lang="en-US" altLang="zh-CN" sz="3000" dirty="0" smtClean="0">
                <a:ea typeface="黑体" panose="02010609060101010101" pitchFamily="49" charset="-122"/>
              </a:rPr>
              <a:t>(session)</a:t>
            </a:r>
            <a:r>
              <a:rPr lang="zh-CN" altLang="en-US" sz="3000" dirty="0" smtClean="0">
                <a:ea typeface="黑体" panose="02010609060101010101" pitchFamily="49" charset="-122"/>
              </a:rPr>
              <a:t>，利用 </a:t>
            </a:r>
            <a:r>
              <a:rPr lang="en-US" altLang="zh-CN" sz="3000" dirty="0" smtClean="0">
                <a:ea typeface="黑体" panose="02010609060101010101" pitchFamily="49" charset="-122"/>
              </a:rPr>
              <a:t>BGP </a:t>
            </a:r>
            <a:r>
              <a:rPr lang="zh-CN" altLang="en-US" sz="3000" dirty="0" smtClean="0">
                <a:ea typeface="黑体" panose="02010609060101010101" pitchFamily="49" charset="-122"/>
              </a:rPr>
              <a:t>会话交换路由信息。</a:t>
            </a:r>
          </a:p>
          <a:p>
            <a:r>
              <a:rPr lang="zh-CN" altLang="en-US" sz="3000" dirty="0" smtClean="0">
                <a:ea typeface="黑体" panose="02010609060101010101" pitchFamily="49" charset="-122"/>
              </a:rPr>
              <a:t>使用 </a:t>
            </a:r>
            <a:r>
              <a:rPr lang="en-US" altLang="zh-CN" sz="3000" dirty="0" smtClean="0">
                <a:solidFill>
                  <a:srgbClr val="0000FF"/>
                </a:solidFill>
                <a:ea typeface="黑体" panose="02010609060101010101" pitchFamily="49" charset="-122"/>
              </a:rPr>
              <a:t>TCP </a:t>
            </a:r>
            <a:r>
              <a:rPr lang="zh-CN" altLang="en-US" sz="3000" dirty="0" smtClean="0">
                <a:solidFill>
                  <a:srgbClr val="0000FF"/>
                </a:solidFill>
                <a:ea typeface="黑体" panose="02010609060101010101" pitchFamily="49" charset="-122"/>
              </a:rPr>
              <a:t>连接能提供可靠的服务</a:t>
            </a:r>
            <a:r>
              <a:rPr lang="zh-CN" altLang="en-US" sz="3000" dirty="0" smtClean="0">
                <a:ea typeface="黑体" panose="02010609060101010101" pitchFamily="49" charset="-122"/>
              </a:rPr>
              <a:t>，也</a:t>
            </a:r>
            <a:r>
              <a:rPr lang="zh-CN" altLang="en-US" sz="3000" dirty="0" smtClean="0">
                <a:solidFill>
                  <a:srgbClr val="0000FF"/>
                </a:solidFill>
                <a:ea typeface="黑体" panose="02010609060101010101" pitchFamily="49" charset="-122"/>
              </a:rPr>
              <a:t>简化</a:t>
            </a:r>
            <a:r>
              <a:rPr lang="zh-CN" altLang="en-US" sz="3000" dirty="0" smtClean="0">
                <a:ea typeface="黑体" panose="02010609060101010101" pitchFamily="49" charset="-122"/>
              </a:rPr>
              <a:t>了路由选择协议。</a:t>
            </a:r>
          </a:p>
          <a:p>
            <a:r>
              <a:rPr lang="zh-CN" altLang="en-US" sz="3000" dirty="0" smtClean="0">
                <a:ea typeface="黑体" panose="02010609060101010101" pitchFamily="49" charset="-122"/>
              </a:rPr>
              <a:t>使用 </a:t>
            </a:r>
            <a:r>
              <a:rPr lang="en-US" altLang="zh-CN" sz="3000" dirty="0" smtClean="0">
                <a:ea typeface="黑体" panose="02010609060101010101" pitchFamily="49" charset="-122"/>
              </a:rPr>
              <a:t>TCP </a:t>
            </a:r>
            <a:r>
              <a:rPr lang="zh-CN" altLang="en-US" sz="3000" dirty="0" smtClean="0">
                <a:ea typeface="黑体" panose="02010609060101010101" pitchFamily="49" charset="-122"/>
              </a:rPr>
              <a:t>连接交换路由信息的两个 </a:t>
            </a:r>
            <a:r>
              <a:rPr lang="en-US" altLang="zh-CN" sz="3000" dirty="0" smtClean="0">
                <a:ea typeface="黑体" panose="02010609060101010101" pitchFamily="49" charset="-122"/>
              </a:rPr>
              <a:t>BGP </a:t>
            </a:r>
            <a:r>
              <a:rPr lang="zh-CN" altLang="en-US" sz="3000" dirty="0" smtClean="0">
                <a:ea typeface="黑体" panose="02010609060101010101" pitchFamily="49" charset="-122"/>
              </a:rPr>
              <a:t>发言人，彼此成为对方的</a:t>
            </a:r>
            <a:r>
              <a:rPr lang="zh-CN" altLang="zh-CN" sz="3000" dirty="0" smtClean="0">
                <a:solidFill>
                  <a:srgbClr val="FF0000"/>
                </a:solidFill>
                <a:ea typeface="黑体" panose="02010609060101010101" pitchFamily="49" charset="-122"/>
              </a:rPr>
              <a:t>邻站</a:t>
            </a:r>
            <a:r>
              <a:rPr lang="en-US" altLang="zh-CN" sz="3000" dirty="0" smtClean="0">
                <a:ea typeface="黑体" panose="02010609060101010101" pitchFamily="49" charset="-122"/>
              </a:rPr>
              <a:t>(neighbor)</a:t>
            </a:r>
            <a:r>
              <a:rPr lang="zh-CN" altLang="zh-CN" sz="3000" dirty="0" smtClean="0">
                <a:ea typeface="黑体" panose="02010609060101010101" pitchFamily="49" charset="-122"/>
              </a:rPr>
              <a:t>或</a:t>
            </a:r>
            <a:r>
              <a:rPr lang="zh-CN" altLang="zh-CN" sz="3000" dirty="0" smtClean="0">
                <a:solidFill>
                  <a:srgbClr val="FF0000"/>
                </a:solidFill>
                <a:ea typeface="黑体" panose="02010609060101010101" pitchFamily="49" charset="-122"/>
              </a:rPr>
              <a:t>对等站</a:t>
            </a:r>
            <a:r>
              <a:rPr lang="en-US" altLang="zh-CN" sz="3000" dirty="0" smtClean="0">
                <a:ea typeface="黑体" panose="02010609060101010101" pitchFamily="49" charset="-122"/>
              </a:rPr>
              <a:t>(peer) </a:t>
            </a:r>
            <a:r>
              <a:rPr lang="zh-CN" altLang="en-US" sz="3000" dirty="0" smtClean="0">
                <a:ea typeface="黑体" panose="02010609060101010101" pitchFamily="49" charset="-122"/>
              </a:rPr>
              <a:t>。</a:t>
            </a:r>
          </a:p>
        </p:txBody>
      </p:sp>
      <p:sp>
        <p:nvSpPr>
          <p:cNvPr id="10803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4168E0-2E2D-4AAA-B4B3-87653FD67247}" type="slidenum">
              <a:rPr lang="zh-CN" altLang="en-US" smtClean="0"/>
              <a:pPr eaLnBrk="1" hangingPunct="1"/>
              <a:t>6</a:t>
            </a:fld>
            <a:endParaRPr lang="en-US" altLang="zh-CN" smtClean="0"/>
          </a:p>
        </p:txBody>
      </p:sp>
      <p:sp>
        <p:nvSpPr>
          <p:cNvPr id="10803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31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031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69" name="Rectangle 2"/>
          <p:cNvSpPr>
            <a:spLocks noGrp="1" noChangeArrowheads="1"/>
          </p:cNvSpPr>
          <p:nvPr>
            <p:ph type="title"/>
          </p:nvPr>
        </p:nvSpPr>
        <p:spPr>
          <a:xfrm>
            <a:off x="495300" y="188913"/>
            <a:ext cx="8713788" cy="792162"/>
          </a:xfrm>
        </p:spPr>
        <p:txBody>
          <a:bodyPr/>
          <a:lstStyle/>
          <a:p>
            <a:pPr algn="ctr"/>
            <a:r>
              <a:rPr lang="en-US" altLang="zh-CN" sz="4000" smtClean="0">
                <a:ea typeface="黑体" panose="02010609060101010101" pitchFamily="49" charset="-122"/>
              </a:rPr>
              <a:t>BGP </a:t>
            </a:r>
            <a:r>
              <a:rPr lang="zh-CN" altLang="en-US" sz="4000" smtClean="0">
                <a:ea typeface="黑体" panose="02010609060101010101" pitchFamily="49" charset="-122"/>
              </a:rPr>
              <a:t>发言人和自治系统 </a:t>
            </a:r>
            <a:r>
              <a:rPr lang="en-US" altLang="zh-CN" sz="4000" smtClean="0">
                <a:ea typeface="黑体" panose="02010609060101010101" pitchFamily="49" charset="-122"/>
              </a:rPr>
              <a:t>AS </a:t>
            </a:r>
            <a:r>
              <a:rPr lang="zh-CN" altLang="en-US" sz="4000" smtClean="0">
                <a:ea typeface="黑体" panose="02010609060101010101" pitchFamily="49" charset="-122"/>
              </a:rPr>
              <a:t>的关系 </a:t>
            </a:r>
          </a:p>
        </p:txBody>
      </p:sp>
      <p:sp>
        <p:nvSpPr>
          <p:cNvPr id="1082370" name="Oval 3"/>
          <p:cNvSpPr>
            <a:spLocks noChangeArrowheads="1"/>
          </p:cNvSpPr>
          <p:nvPr/>
        </p:nvSpPr>
        <p:spPr bwMode="auto">
          <a:xfrm>
            <a:off x="5727700" y="1557338"/>
            <a:ext cx="4049713" cy="1985962"/>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371" name="Oval 4"/>
          <p:cNvSpPr>
            <a:spLocks noChangeArrowheads="1"/>
          </p:cNvSpPr>
          <p:nvPr/>
        </p:nvSpPr>
        <p:spPr bwMode="auto">
          <a:xfrm>
            <a:off x="414338" y="1557338"/>
            <a:ext cx="3281362" cy="1985962"/>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372" name="Line 5"/>
          <p:cNvSpPr>
            <a:spLocks noChangeShapeType="1"/>
          </p:cNvSpPr>
          <p:nvPr/>
        </p:nvSpPr>
        <p:spPr bwMode="auto">
          <a:xfrm flipV="1">
            <a:off x="5870575" y="2259013"/>
            <a:ext cx="361950" cy="4746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73" name="Oval 6"/>
          <p:cNvSpPr>
            <a:spLocks noChangeArrowheads="1"/>
          </p:cNvSpPr>
          <p:nvPr/>
        </p:nvSpPr>
        <p:spPr bwMode="auto">
          <a:xfrm>
            <a:off x="688975" y="4078288"/>
            <a:ext cx="725488" cy="723900"/>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374" name="Oval 7"/>
          <p:cNvSpPr>
            <a:spLocks noChangeArrowheads="1"/>
          </p:cNvSpPr>
          <p:nvPr/>
        </p:nvSpPr>
        <p:spPr bwMode="auto">
          <a:xfrm>
            <a:off x="7689850" y="4706938"/>
            <a:ext cx="725488" cy="723900"/>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375" name="Line 8"/>
          <p:cNvSpPr>
            <a:spLocks noChangeShapeType="1"/>
          </p:cNvSpPr>
          <p:nvPr/>
        </p:nvSpPr>
        <p:spPr bwMode="auto">
          <a:xfrm>
            <a:off x="3695700" y="2874963"/>
            <a:ext cx="727075" cy="668337"/>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76" name="Line 9"/>
          <p:cNvSpPr>
            <a:spLocks noChangeShapeType="1"/>
          </p:cNvSpPr>
          <p:nvPr/>
        </p:nvSpPr>
        <p:spPr bwMode="auto">
          <a:xfrm flipH="1">
            <a:off x="4856163" y="2874963"/>
            <a:ext cx="871537" cy="668337"/>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77" name="Line 10"/>
          <p:cNvSpPr>
            <a:spLocks noChangeShapeType="1"/>
          </p:cNvSpPr>
          <p:nvPr/>
        </p:nvSpPr>
        <p:spPr bwMode="auto">
          <a:xfrm flipH="1">
            <a:off x="1233488" y="3657600"/>
            <a:ext cx="636587" cy="477838"/>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78" name="Line 11"/>
          <p:cNvSpPr>
            <a:spLocks noChangeShapeType="1"/>
          </p:cNvSpPr>
          <p:nvPr/>
        </p:nvSpPr>
        <p:spPr bwMode="auto">
          <a:xfrm>
            <a:off x="3806825" y="2765425"/>
            <a:ext cx="1760538" cy="0"/>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79" name="Line 12"/>
          <p:cNvSpPr>
            <a:spLocks noChangeShapeType="1"/>
          </p:cNvSpPr>
          <p:nvPr/>
        </p:nvSpPr>
        <p:spPr bwMode="auto">
          <a:xfrm>
            <a:off x="6869113" y="4706938"/>
            <a:ext cx="819150" cy="192087"/>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80" name="Line 13"/>
          <p:cNvSpPr>
            <a:spLocks noChangeShapeType="1"/>
          </p:cNvSpPr>
          <p:nvPr/>
        </p:nvSpPr>
        <p:spPr bwMode="auto">
          <a:xfrm>
            <a:off x="1416050" y="4516438"/>
            <a:ext cx="815975" cy="668337"/>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81" name="Line 14"/>
          <p:cNvSpPr>
            <a:spLocks noChangeShapeType="1"/>
          </p:cNvSpPr>
          <p:nvPr/>
        </p:nvSpPr>
        <p:spPr bwMode="auto">
          <a:xfrm flipH="1">
            <a:off x="330200" y="4797425"/>
            <a:ext cx="661988" cy="719138"/>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82" name="Line 15"/>
          <p:cNvSpPr>
            <a:spLocks noChangeShapeType="1"/>
          </p:cNvSpPr>
          <p:nvPr/>
        </p:nvSpPr>
        <p:spPr bwMode="auto">
          <a:xfrm flipV="1">
            <a:off x="7050088" y="5280025"/>
            <a:ext cx="708025" cy="381000"/>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83" name="Line 16"/>
          <p:cNvSpPr>
            <a:spLocks noChangeShapeType="1"/>
          </p:cNvSpPr>
          <p:nvPr/>
        </p:nvSpPr>
        <p:spPr bwMode="auto">
          <a:xfrm>
            <a:off x="8415338" y="5087938"/>
            <a:ext cx="817562" cy="192087"/>
          </a:xfrm>
          <a:prstGeom prst="line">
            <a:avLst/>
          </a:prstGeom>
          <a:noFill/>
          <a:ln w="57150">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84" name="Text Box 17"/>
          <p:cNvSpPr txBox="1">
            <a:spLocks noChangeArrowheads="1"/>
          </p:cNvSpPr>
          <p:nvPr/>
        </p:nvSpPr>
        <p:spPr bwMode="auto">
          <a:xfrm>
            <a:off x="1819275" y="3646488"/>
            <a:ext cx="158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发言人</a:t>
            </a:r>
          </a:p>
        </p:txBody>
      </p:sp>
      <p:sp>
        <p:nvSpPr>
          <p:cNvPr id="1082385" name="Text Box 18"/>
          <p:cNvSpPr txBox="1">
            <a:spLocks noChangeArrowheads="1"/>
          </p:cNvSpPr>
          <p:nvPr/>
        </p:nvSpPr>
        <p:spPr bwMode="auto">
          <a:xfrm>
            <a:off x="3794125" y="2068513"/>
            <a:ext cx="9540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CC"/>
                </a:solidFill>
                <a:ea typeface="黑体" panose="02010609060101010101" pitchFamily="49" charset="-122"/>
              </a:rPr>
              <a:t>BGP</a:t>
            </a:r>
          </a:p>
          <a:p>
            <a:pPr algn="ctr" eaLnBrk="0" hangingPunct="0">
              <a:lnSpc>
                <a:spcPct val="90000"/>
              </a:lnSpc>
            </a:pPr>
            <a:r>
              <a:rPr lang="zh-CN" altLang="en-US" sz="2000" b="1">
                <a:solidFill>
                  <a:srgbClr val="0000CC"/>
                </a:solidFill>
                <a:ea typeface="黑体" panose="02010609060101010101" pitchFamily="49" charset="-122"/>
              </a:rPr>
              <a:t>发言人</a:t>
            </a:r>
          </a:p>
        </p:txBody>
      </p:sp>
      <p:sp>
        <p:nvSpPr>
          <p:cNvPr id="1082386" name="Text Box 19"/>
          <p:cNvSpPr txBox="1">
            <a:spLocks noChangeArrowheads="1"/>
          </p:cNvSpPr>
          <p:nvPr/>
        </p:nvSpPr>
        <p:spPr bwMode="auto">
          <a:xfrm>
            <a:off x="5049838" y="3286125"/>
            <a:ext cx="158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发言人</a:t>
            </a:r>
          </a:p>
        </p:txBody>
      </p:sp>
      <p:sp>
        <p:nvSpPr>
          <p:cNvPr id="1082387" name="Text Box 20"/>
          <p:cNvSpPr txBox="1">
            <a:spLocks noChangeArrowheads="1"/>
          </p:cNvSpPr>
          <p:nvPr/>
        </p:nvSpPr>
        <p:spPr bwMode="auto">
          <a:xfrm>
            <a:off x="6656388" y="4078288"/>
            <a:ext cx="158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发言人</a:t>
            </a:r>
          </a:p>
        </p:txBody>
      </p:sp>
      <p:sp>
        <p:nvSpPr>
          <p:cNvPr id="1082388" name="Text Box 21"/>
          <p:cNvSpPr txBox="1">
            <a:spLocks noChangeArrowheads="1"/>
          </p:cNvSpPr>
          <p:nvPr/>
        </p:nvSpPr>
        <p:spPr bwMode="auto">
          <a:xfrm>
            <a:off x="4792663" y="1925638"/>
            <a:ext cx="9540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CC"/>
                </a:solidFill>
                <a:ea typeface="黑体" panose="02010609060101010101" pitchFamily="49" charset="-122"/>
              </a:rPr>
              <a:t>BGP</a:t>
            </a:r>
          </a:p>
          <a:p>
            <a:pPr algn="ctr" eaLnBrk="0" hangingPunct="0">
              <a:lnSpc>
                <a:spcPct val="90000"/>
              </a:lnSpc>
            </a:pPr>
            <a:r>
              <a:rPr lang="zh-CN" altLang="en-US" sz="2000" b="1">
                <a:solidFill>
                  <a:srgbClr val="0000CC"/>
                </a:solidFill>
                <a:ea typeface="黑体" panose="02010609060101010101" pitchFamily="49" charset="-122"/>
              </a:rPr>
              <a:t>发言人</a:t>
            </a:r>
          </a:p>
        </p:txBody>
      </p:sp>
      <p:sp>
        <p:nvSpPr>
          <p:cNvPr id="1082389" name="Line 22"/>
          <p:cNvSpPr>
            <a:spLocks noChangeShapeType="1"/>
          </p:cNvSpPr>
          <p:nvPr/>
        </p:nvSpPr>
        <p:spPr bwMode="auto">
          <a:xfrm>
            <a:off x="5945188" y="2757488"/>
            <a:ext cx="1016000" cy="358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0" name="Line 23"/>
          <p:cNvSpPr>
            <a:spLocks noChangeShapeType="1"/>
          </p:cNvSpPr>
          <p:nvPr/>
        </p:nvSpPr>
        <p:spPr bwMode="auto">
          <a:xfrm>
            <a:off x="4713288" y="3692525"/>
            <a:ext cx="433387" cy="669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1" name="Oval 24"/>
          <p:cNvSpPr>
            <a:spLocks noChangeArrowheads="1"/>
          </p:cNvSpPr>
          <p:nvPr/>
        </p:nvSpPr>
        <p:spPr bwMode="auto">
          <a:xfrm>
            <a:off x="2960688" y="3619500"/>
            <a:ext cx="3725862" cy="2043113"/>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392" name="Line 25"/>
          <p:cNvSpPr>
            <a:spLocks noChangeShapeType="1"/>
          </p:cNvSpPr>
          <p:nvPr/>
        </p:nvSpPr>
        <p:spPr bwMode="auto">
          <a:xfrm>
            <a:off x="5688013" y="4135438"/>
            <a:ext cx="908050" cy="3810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3" name="Line 26"/>
          <p:cNvSpPr>
            <a:spLocks noChangeShapeType="1"/>
          </p:cNvSpPr>
          <p:nvPr/>
        </p:nvSpPr>
        <p:spPr bwMode="auto">
          <a:xfrm flipH="1">
            <a:off x="5688013" y="4516438"/>
            <a:ext cx="1090612" cy="763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4" name="Line 27"/>
          <p:cNvSpPr>
            <a:spLocks noChangeShapeType="1"/>
          </p:cNvSpPr>
          <p:nvPr/>
        </p:nvSpPr>
        <p:spPr bwMode="auto">
          <a:xfrm>
            <a:off x="4778375" y="4421188"/>
            <a:ext cx="727075" cy="6667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5" name="Line 28"/>
          <p:cNvSpPr>
            <a:spLocks noChangeShapeType="1"/>
          </p:cNvSpPr>
          <p:nvPr/>
        </p:nvSpPr>
        <p:spPr bwMode="auto">
          <a:xfrm flipV="1">
            <a:off x="4870450" y="4229100"/>
            <a:ext cx="723900" cy="192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6" name="Line 29"/>
          <p:cNvSpPr>
            <a:spLocks noChangeShapeType="1"/>
          </p:cNvSpPr>
          <p:nvPr/>
        </p:nvSpPr>
        <p:spPr bwMode="auto">
          <a:xfrm flipH="1">
            <a:off x="3598863" y="4421188"/>
            <a:ext cx="1179512" cy="1492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7" name="Line 30"/>
          <p:cNvSpPr>
            <a:spLocks noChangeShapeType="1"/>
          </p:cNvSpPr>
          <p:nvPr/>
        </p:nvSpPr>
        <p:spPr bwMode="auto">
          <a:xfrm>
            <a:off x="3598863" y="4613275"/>
            <a:ext cx="723900" cy="763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8" name="Line 31"/>
          <p:cNvSpPr>
            <a:spLocks noChangeShapeType="1"/>
          </p:cNvSpPr>
          <p:nvPr/>
        </p:nvSpPr>
        <p:spPr bwMode="auto">
          <a:xfrm flipV="1">
            <a:off x="4414838" y="5280025"/>
            <a:ext cx="1090612" cy="968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399" name="Line 32"/>
          <p:cNvSpPr>
            <a:spLocks noChangeShapeType="1"/>
          </p:cNvSpPr>
          <p:nvPr/>
        </p:nvSpPr>
        <p:spPr bwMode="auto">
          <a:xfrm>
            <a:off x="7688263" y="2066925"/>
            <a:ext cx="414337" cy="12096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0" name="Line 33"/>
          <p:cNvSpPr>
            <a:spLocks noChangeShapeType="1"/>
          </p:cNvSpPr>
          <p:nvPr/>
        </p:nvSpPr>
        <p:spPr bwMode="auto">
          <a:xfrm>
            <a:off x="7050088" y="3116263"/>
            <a:ext cx="1000125" cy="1920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1" name="Line 34"/>
          <p:cNvSpPr>
            <a:spLocks noChangeShapeType="1"/>
          </p:cNvSpPr>
          <p:nvPr/>
        </p:nvSpPr>
        <p:spPr bwMode="auto">
          <a:xfrm>
            <a:off x="7777163" y="1843088"/>
            <a:ext cx="819150" cy="968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2" name="Line 35"/>
          <p:cNvSpPr>
            <a:spLocks noChangeShapeType="1"/>
          </p:cNvSpPr>
          <p:nvPr/>
        </p:nvSpPr>
        <p:spPr bwMode="auto">
          <a:xfrm>
            <a:off x="3051175" y="2130425"/>
            <a:ext cx="427038" cy="446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3" name="Line 36"/>
          <p:cNvSpPr>
            <a:spLocks noChangeShapeType="1"/>
          </p:cNvSpPr>
          <p:nvPr/>
        </p:nvSpPr>
        <p:spPr bwMode="auto">
          <a:xfrm flipV="1">
            <a:off x="2414588" y="2725738"/>
            <a:ext cx="1063625" cy="3587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4" name="Line 37"/>
          <p:cNvSpPr>
            <a:spLocks noChangeShapeType="1"/>
          </p:cNvSpPr>
          <p:nvPr/>
        </p:nvSpPr>
        <p:spPr bwMode="auto">
          <a:xfrm flipH="1">
            <a:off x="2052638" y="3084513"/>
            <a:ext cx="361950"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5" name="Line 38"/>
          <p:cNvSpPr>
            <a:spLocks noChangeShapeType="1"/>
          </p:cNvSpPr>
          <p:nvPr/>
        </p:nvSpPr>
        <p:spPr bwMode="auto">
          <a:xfrm flipV="1">
            <a:off x="1143000" y="3084513"/>
            <a:ext cx="1182688"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6" name="Line 39"/>
          <p:cNvSpPr>
            <a:spLocks noChangeShapeType="1"/>
          </p:cNvSpPr>
          <p:nvPr/>
        </p:nvSpPr>
        <p:spPr bwMode="auto">
          <a:xfrm>
            <a:off x="960438" y="2416175"/>
            <a:ext cx="144462" cy="5953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7" name="Line 40"/>
          <p:cNvSpPr>
            <a:spLocks noChangeShapeType="1"/>
          </p:cNvSpPr>
          <p:nvPr/>
        </p:nvSpPr>
        <p:spPr bwMode="auto">
          <a:xfrm flipV="1">
            <a:off x="960438" y="1843088"/>
            <a:ext cx="1000125" cy="4778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8" name="Line 41"/>
          <p:cNvSpPr>
            <a:spLocks noChangeShapeType="1"/>
          </p:cNvSpPr>
          <p:nvPr/>
        </p:nvSpPr>
        <p:spPr bwMode="auto">
          <a:xfrm>
            <a:off x="1960563" y="1843088"/>
            <a:ext cx="909637" cy="28733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09" name="Line 42"/>
          <p:cNvSpPr>
            <a:spLocks noChangeShapeType="1"/>
          </p:cNvSpPr>
          <p:nvPr/>
        </p:nvSpPr>
        <p:spPr bwMode="auto">
          <a:xfrm flipV="1">
            <a:off x="6778625" y="1874838"/>
            <a:ext cx="815975" cy="1920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410" name="Line 43"/>
          <p:cNvSpPr>
            <a:spLocks noChangeShapeType="1"/>
          </p:cNvSpPr>
          <p:nvPr/>
        </p:nvSpPr>
        <p:spPr bwMode="auto">
          <a:xfrm>
            <a:off x="6778625" y="2162175"/>
            <a:ext cx="363538" cy="860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82411" name="Picture 4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8000" y="3371850"/>
            <a:ext cx="4984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2412"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3238" y="2576513"/>
            <a:ext cx="4953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2413" name="Picture 4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33750" y="2576513"/>
            <a:ext cx="4953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2414"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43375" y="5280025"/>
            <a:ext cx="37465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2415" name="Picture 4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0438" y="2990850"/>
            <a:ext cx="374650"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16" name="Group 49"/>
          <p:cNvGrpSpPr>
            <a:grpSpLocks/>
          </p:cNvGrpSpPr>
          <p:nvPr/>
        </p:nvGrpSpPr>
        <p:grpSpPr bwMode="auto">
          <a:xfrm>
            <a:off x="2597150" y="1843088"/>
            <a:ext cx="654050" cy="522287"/>
            <a:chOff x="2949" y="196"/>
            <a:chExt cx="941" cy="598"/>
          </a:xfrm>
        </p:grpSpPr>
        <p:sp>
          <p:nvSpPr>
            <p:cNvPr id="1082417" name="Oval 50"/>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18" name="Oval 51"/>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19" name="Oval 52"/>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20" name="Oval 53"/>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21" name="Oval 54"/>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22" name="Oval 55"/>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23" name="Oval 56"/>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24" name="Oval 57"/>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25" name="Freeform 5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26" name="Freeform 5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27" name="Freeform 6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82428" name="Group 61"/>
          <p:cNvGrpSpPr>
            <a:grpSpLocks/>
          </p:cNvGrpSpPr>
          <p:nvPr/>
        </p:nvGrpSpPr>
        <p:grpSpPr bwMode="auto">
          <a:xfrm>
            <a:off x="596900" y="2130425"/>
            <a:ext cx="654050" cy="520700"/>
            <a:chOff x="2949" y="196"/>
            <a:chExt cx="941" cy="598"/>
          </a:xfrm>
        </p:grpSpPr>
        <p:sp>
          <p:nvSpPr>
            <p:cNvPr id="1082429" name="Oval 6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0" name="Oval 6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1" name="Oval 6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2" name="Oval 6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3" name="Oval 6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4" name="Oval 6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5" name="Oval 6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6" name="Oval 6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37" name="Freeform 7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38" name="Freeform 7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39" name="Freeform 7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82440" name="Group 73"/>
          <p:cNvGrpSpPr>
            <a:grpSpLocks/>
          </p:cNvGrpSpPr>
          <p:nvPr/>
        </p:nvGrpSpPr>
        <p:grpSpPr bwMode="auto">
          <a:xfrm>
            <a:off x="5232400" y="4992688"/>
            <a:ext cx="655638" cy="522287"/>
            <a:chOff x="2949" y="196"/>
            <a:chExt cx="941" cy="598"/>
          </a:xfrm>
        </p:grpSpPr>
        <p:sp>
          <p:nvSpPr>
            <p:cNvPr id="1082441" name="Oval 7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2" name="Oval 7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3" name="Oval 7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4" name="Oval 7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5" name="Oval 7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6" name="Oval 7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7" name="Oval 8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8" name="Oval 8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49" name="Freeform 8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50" name="Freeform 8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51" name="Freeform 8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82452" name="Group 85"/>
          <p:cNvGrpSpPr>
            <a:grpSpLocks/>
          </p:cNvGrpSpPr>
          <p:nvPr/>
        </p:nvGrpSpPr>
        <p:grpSpPr bwMode="auto">
          <a:xfrm>
            <a:off x="7323138" y="1654175"/>
            <a:ext cx="654050" cy="522288"/>
            <a:chOff x="2949" y="196"/>
            <a:chExt cx="941" cy="598"/>
          </a:xfrm>
        </p:grpSpPr>
        <p:sp>
          <p:nvSpPr>
            <p:cNvPr id="1082453" name="Oval 86"/>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54" name="Oval 87"/>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55" name="Oval 88"/>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56" name="Oval 89"/>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57" name="Oval 90"/>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58" name="Oval 91"/>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59" name="Oval 92"/>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60" name="Oval 93"/>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61" name="Freeform 9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62" name="Freeform 9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63" name="Freeform 9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82464" name="Group 97"/>
          <p:cNvGrpSpPr>
            <a:grpSpLocks/>
          </p:cNvGrpSpPr>
          <p:nvPr/>
        </p:nvGrpSpPr>
        <p:grpSpPr bwMode="auto">
          <a:xfrm>
            <a:off x="6778625" y="2798763"/>
            <a:ext cx="652463" cy="522287"/>
            <a:chOff x="2949" y="196"/>
            <a:chExt cx="941" cy="598"/>
          </a:xfrm>
        </p:grpSpPr>
        <p:sp>
          <p:nvSpPr>
            <p:cNvPr id="1082465" name="Oval 98"/>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66" name="Oval 99"/>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67" name="Oval 100"/>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68" name="Oval 101"/>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69" name="Oval 102"/>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70" name="Oval 103"/>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71" name="Oval 104"/>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72" name="Oval 105"/>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73" name="Freeform 10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74" name="Freeform 10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75" name="Freeform 10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82476" name="Text Box 109"/>
          <p:cNvSpPr txBox="1">
            <a:spLocks noChangeArrowheads="1"/>
          </p:cNvSpPr>
          <p:nvPr/>
        </p:nvSpPr>
        <p:spPr bwMode="auto">
          <a:xfrm>
            <a:off x="1416050" y="2111375"/>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1</a:t>
            </a:r>
          </a:p>
        </p:txBody>
      </p:sp>
      <p:sp>
        <p:nvSpPr>
          <p:cNvPr id="1082477" name="Text Box 110"/>
          <p:cNvSpPr txBox="1">
            <a:spLocks noChangeArrowheads="1"/>
          </p:cNvSpPr>
          <p:nvPr/>
        </p:nvSpPr>
        <p:spPr bwMode="auto">
          <a:xfrm>
            <a:off x="4040188" y="3924300"/>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3</a:t>
            </a:r>
          </a:p>
        </p:txBody>
      </p:sp>
      <p:sp>
        <p:nvSpPr>
          <p:cNvPr id="1082478" name="Text Box 111"/>
          <p:cNvSpPr txBox="1">
            <a:spLocks noChangeArrowheads="1"/>
          </p:cNvSpPr>
          <p:nvPr/>
        </p:nvSpPr>
        <p:spPr bwMode="auto">
          <a:xfrm>
            <a:off x="7959725" y="2176463"/>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2</a:t>
            </a:r>
          </a:p>
        </p:txBody>
      </p:sp>
      <p:sp>
        <p:nvSpPr>
          <p:cNvPr id="1082479" name="Text Box 112"/>
          <p:cNvSpPr txBox="1">
            <a:spLocks noChangeArrowheads="1"/>
          </p:cNvSpPr>
          <p:nvPr/>
        </p:nvSpPr>
        <p:spPr bwMode="auto">
          <a:xfrm>
            <a:off x="7781925" y="4870450"/>
            <a:ext cx="636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5</a:t>
            </a:r>
          </a:p>
        </p:txBody>
      </p:sp>
      <p:sp>
        <p:nvSpPr>
          <p:cNvPr id="1082480" name="Text Box 113"/>
          <p:cNvSpPr txBox="1">
            <a:spLocks noChangeArrowheads="1"/>
          </p:cNvSpPr>
          <p:nvPr/>
        </p:nvSpPr>
        <p:spPr bwMode="auto">
          <a:xfrm>
            <a:off x="760413" y="4259263"/>
            <a:ext cx="6365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4</a:t>
            </a:r>
          </a:p>
        </p:txBody>
      </p:sp>
      <p:pic>
        <p:nvPicPr>
          <p:cNvPr id="1082481" name="Picture 11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15088" y="4421188"/>
            <a:ext cx="496887"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2482" name="Line 115"/>
          <p:cNvSpPr>
            <a:spLocks noChangeShapeType="1"/>
          </p:cNvSpPr>
          <p:nvPr/>
        </p:nvSpPr>
        <p:spPr bwMode="auto">
          <a:xfrm>
            <a:off x="4713288" y="3692525"/>
            <a:ext cx="885825" cy="3460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nvGrpSpPr>
          <p:cNvPr id="1082483" name="Group 116"/>
          <p:cNvGrpSpPr>
            <a:grpSpLocks/>
          </p:cNvGrpSpPr>
          <p:nvPr/>
        </p:nvGrpSpPr>
        <p:grpSpPr bwMode="auto">
          <a:xfrm>
            <a:off x="5322888" y="3848100"/>
            <a:ext cx="654050" cy="520700"/>
            <a:chOff x="2949" y="196"/>
            <a:chExt cx="941" cy="598"/>
          </a:xfrm>
        </p:grpSpPr>
        <p:sp>
          <p:nvSpPr>
            <p:cNvPr id="1082484" name="Oval 117"/>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85" name="Oval 118"/>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86" name="Oval 119"/>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87" name="Oval 120"/>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88" name="Oval 121"/>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89" name="Oval 122"/>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90" name="Oval 123"/>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91" name="Oval 124"/>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92" name="Freeform 12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93" name="Freeform 12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494" name="Freeform 12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82495" name="Picture 12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2775" y="3470275"/>
            <a:ext cx="4968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2496" name="Picture 1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7400" y="4325938"/>
            <a:ext cx="374650" cy="21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497" name="Group 130"/>
          <p:cNvGrpSpPr>
            <a:grpSpLocks/>
          </p:cNvGrpSpPr>
          <p:nvPr/>
        </p:nvGrpSpPr>
        <p:grpSpPr bwMode="auto">
          <a:xfrm>
            <a:off x="3143250" y="4325938"/>
            <a:ext cx="652463" cy="522287"/>
            <a:chOff x="2949" y="196"/>
            <a:chExt cx="941" cy="598"/>
          </a:xfrm>
        </p:grpSpPr>
        <p:sp>
          <p:nvSpPr>
            <p:cNvPr id="1082498" name="Oval 131"/>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499" name="Oval 132"/>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00" name="Oval 133"/>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01" name="Oval 134"/>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02" name="Oval 135"/>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03" name="Oval 136"/>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04" name="Oval 137"/>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05" name="Oval 138"/>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06" name="Freeform 13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07" name="Freeform 14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08" name="Freeform 14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82509" name="Line 142"/>
          <p:cNvSpPr>
            <a:spLocks noChangeShapeType="1"/>
          </p:cNvSpPr>
          <p:nvPr/>
        </p:nvSpPr>
        <p:spPr bwMode="auto">
          <a:xfrm>
            <a:off x="1960563" y="1843088"/>
            <a:ext cx="546100" cy="11477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82510" name="Picture 14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8000" y="1749425"/>
            <a:ext cx="376238" cy="21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511" name="Group 144"/>
          <p:cNvGrpSpPr>
            <a:grpSpLocks/>
          </p:cNvGrpSpPr>
          <p:nvPr/>
        </p:nvGrpSpPr>
        <p:grpSpPr bwMode="auto">
          <a:xfrm>
            <a:off x="2143125" y="2798763"/>
            <a:ext cx="654050" cy="519112"/>
            <a:chOff x="2949" y="196"/>
            <a:chExt cx="941" cy="598"/>
          </a:xfrm>
        </p:grpSpPr>
        <p:sp>
          <p:nvSpPr>
            <p:cNvPr id="1082512" name="Oval 145"/>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13" name="Oval 146"/>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14" name="Oval 147"/>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15" name="Oval 148"/>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16" name="Oval 149"/>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17" name="Oval 150"/>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18" name="Oval 151"/>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19" name="Oval 152"/>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20" name="Freeform 15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21" name="Freeform 15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22" name="Freeform 15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82523" name="Line 156"/>
          <p:cNvSpPr>
            <a:spLocks noChangeShapeType="1"/>
          </p:cNvSpPr>
          <p:nvPr/>
        </p:nvSpPr>
        <p:spPr bwMode="auto">
          <a:xfrm>
            <a:off x="8686800" y="2035175"/>
            <a:ext cx="636588" cy="5715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524" name="Line 157"/>
          <p:cNvSpPr>
            <a:spLocks noChangeShapeType="1"/>
          </p:cNvSpPr>
          <p:nvPr/>
        </p:nvSpPr>
        <p:spPr bwMode="auto">
          <a:xfrm flipH="1">
            <a:off x="8139113" y="2638425"/>
            <a:ext cx="1089025" cy="6699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2525" name="Line 158"/>
          <p:cNvSpPr>
            <a:spLocks noChangeShapeType="1"/>
          </p:cNvSpPr>
          <p:nvPr/>
        </p:nvSpPr>
        <p:spPr bwMode="auto">
          <a:xfrm flipV="1">
            <a:off x="6323013" y="2066925"/>
            <a:ext cx="455612" cy="1920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pic>
        <p:nvPicPr>
          <p:cNvPr id="1082526" name="Picture 1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58125" y="3179763"/>
            <a:ext cx="37465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2527" name="Picture 16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15338" y="1843088"/>
            <a:ext cx="376237"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82528" name="Group 161"/>
          <p:cNvGrpSpPr>
            <a:grpSpLocks/>
          </p:cNvGrpSpPr>
          <p:nvPr/>
        </p:nvGrpSpPr>
        <p:grpSpPr bwMode="auto">
          <a:xfrm>
            <a:off x="8959850" y="2320925"/>
            <a:ext cx="652463" cy="520700"/>
            <a:chOff x="2949" y="196"/>
            <a:chExt cx="941" cy="598"/>
          </a:xfrm>
        </p:grpSpPr>
        <p:sp>
          <p:nvSpPr>
            <p:cNvPr id="1082529" name="Oval 162"/>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0" name="Oval 163"/>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1" name="Oval 164"/>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2" name="Oval 165"/>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3" name="Oval 166"/>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4" name="Oval 167"/>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5" name="Oval 168"/>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6" name="Oval 169"/>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37" name="Freeform 17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38" name="Freeform 17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39" name="Freeform 17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grpSp>
        <p:nvGrpSpPr>
          <p:cNvPr id="1082540" name="Group 173"/>
          <p:cNvGrpSpPr>
            <a:grpSpLocks/>
          </p:cNvGrpSpPr>
          <p:nvPr/>
        </p:nvGrpSpPr>
        <p:grpSpPr bwMode="auto">
          <a:xfrm>
            <a:off x="5870575" y="1939925"/>
            <a:ext cx="652463" cy="522288"/>
            <a:chOff x="2949" y="196"/>
            <a:chExt cx="941" cy="598"/>
          </a:xfrm>
        </p:grpSpPr>
        <p:sp>
          <p:nvSpPr>
            <p:cNvPr id="1082541" name="Oval 174"/>
            <p:cNvSpPr>
              <a:spLocks noChangeArrowheads="1"/>
            </p:cNvSpPr>
            <p:nvPr/>
          </p:nvSpPr>
          <p:spPr bwMode="auto">
            <a:xfrm>
              <a:off x="3168" y="196"/>
              <a:ext cx="407" cy="162"/>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2" name="Oval 175"/>
            <p:cNvSpPr>
              <a:spLocks noChangeArrowheads="1"/>
            </p:cNvSpPr>
            <p:nvPr/>
          </p:nvSpPr>
          <p:spPr bwMode="auto">
            <a:xfrm rot="900000">
              <a:off x="3512" y="252"/>
              <a:ext cx="275" cy="131"/>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3" name="Oval 176"/>
            <p:cNvSpPr>
              <a:spLocks noChangeArrowheads="1"/>
            </p:cNvSpPr>
            <p:nvPr/>
          </p:nvSpPr>
          <p:spPr bwMode="auto">
            <a:xfrm rot="1500000">
              <a:off x="3650" y="385"/>
              <a:ext cx="240" cy="153"/>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4" name="Oval 177"/>
            <p:cNvSpPr>
              <a:spLocks noChangeArrowheads="1"/>
            </p:cNvSpPr>
            <p:nvPr/>
          </p:nvSpPr>
          <p:spPr bwMode="auto">
            <a:xfrm rot="-1560000">
              <a:off x="3573" y="537"/>
              <a:ext cx="291" cy="18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5" name="Oval 178"/>
            <p:cNvSpPr>
              <a:spLocks noChangeArrowheads="1"/>
            </p:cNvSpPr>
            <p:nvPr/>
          </p:nvSpPr>
          <p:spPr bwMode="auto">
            <a:xfrm>
              <a:off x="3216" y="555"/>
              <a:ext cx="471" cy="239"/>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6" name="Oval 179"/>
            <p:cNvSpPr>
              <a:spLocks noChangeArrowheads="1"/>
            </p:cNvSpPr>
            <p:nvPr/>
          </p:nvSpPr>
          <p:spPr bwMode="auto">
            <a:xfrm rot="1080000">
              <a:off x="3023" y="555"/>
              <a:ext cx="26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7" name="Oval 180"/>
            <p:cNvSpPr>
              <a:spLocks noChangeArrowheads="1"/>
            </p:cNvSpPr>
            <p:nvPr/>
          </p:nvSpPr>
          <p:spPr bwMode="auto">
            <a:xfrm>
              <a:off x="2949" y="432"/>
              <a:ext cx="217"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8" name="Oval 181"/>
            <p:cNvSpPr>
              <a:spLocks noChangeArrowheads="1"/>
            </p:cNvSpPr>
            <p:nvPr/>
          </p:nvSpPr>
          <p:spPr bwMode="auto">
            <a:xfrm rot="-1860000">
              <a:off x="2984" y="310"/>
              <a:ext cx="295" cy="156"/>
            </a:xfrm>
            <a:prstGeom prst="ellipse">
              <a:avLst/>
            </a:prstGeom>
            <a:solidFill>
              <a:srgbClr val="EAEAEA"/>
            </a:solidFill>
            <a:ln w="12700">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2549" name="Freeform 18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50" name="Freeform 18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82551" name="Freeform 18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grpSp>
      <p:pic>
        <p:nvPicPr>
          <p:cNvPr id="1082552" name="Picture 18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96063" y="1939925"/>
            <a:ext cx="374650"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255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2A519C-AC98-4D56-9417-9B4AFDACB387}" type="slidenum">
              <a:rPr lang="zh-CN" altLang="en-US" smtClean="0"/>
              <a:pPr eaLnBrk="1" hangingPunct="1"/>
              <a:t>7</a:t>
            </a:fld>
            <a:endParaRPr lang="en-US" altLang="zh-CN" smtClean="0"/>
          </a:p>
        </p:txBody>
      </p:sp>
      <p:sp>
        <p:nvSpPr>
          <p:cNvPr id="108255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441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AS </a:t>
            </a:r>
            <a:r>
              <a:rPr lang="zh-CN" altLang="en-US" smtClean="0">
                <a:ea typeface="黑体" panose="02010609060101010101" pitchFamily="49" charset="-122"/>
              </a:rPr>
              <a:t>的连通图举例 </a:t>
            </a:r>
          </a:p>
        </p:txBody>
      </p:sp>
      <p:sp>
        <p:nvSpPr>
          <p:cNvPr id="1084418" name="Rectangle 3"/>
          <p:cNvSpPr>
            <a:spLocks noGrp="1" noChangeArrowheads="1"/>
          </p:cNvSpPr>
          <p:nvPr>
            <p:ph idx="1"/>
          </p:nvPr>
        </p:nvSpPr>
        <p:spPr>
          <a:xfrm>
            <a:off x="495300" y="1196975"/>
            <a:ext cx="9066213" cy="4933950"/>
          </a:xfrm>
        </p:spPr>
        <p:txBody>
          <a:bodyPr/>
          <a:lstStyle/>
          <a:p>
            <a:r>
              <a:rPr lang="en-US" altLang="zh-CN" sz="2800" smtClean="0">
                <a:ea typeface="黑体" panose="02010609060101010101" pitchFamily="49" charset="-122"/>
              </a:rPr>
              <a:t>BGP </a:t>
            </a:r>
            <a:r>
              <a:rPr lang="zh-CN" altLang="en-US" sz="2800" smtClean="0">
                <a:ea typeface="黑体" panose="02010609060101010101" pitchFamily="49" charset="-122"/>
              </a:rPr>
              <a:t>所交换的网络可达性的信息就是</a:t>
            </a:r>
            <a:r>
              <a:rPr lang="zh-CN" altLang="en-US" sz="2800" smtClean="0">
                <a:solidFill>
                  <a:srgbClr val="FF0000"/>
                </a:solidFill>
                <a:ea typeface="黑体" panose="02010609060101010101" pitchFamily="49" charset="-122"/>
              </a:rPr>
              <a:t>要到达某个网络所要经过的一系列 </a:t>
            </a:r>
            <a:r>
              <a:rPr lang="en-US" altLang="zh-CN" sz="2800" smtClean="0">
                <a:solidFill>
                  <a:srgbClr val="FF0000"/>
                </a:solidFill>
                <a:ea typeface="黑体" panose="02010609060101010101" pitchFamily="49" charset="-122"/>
              </a:rPr>
              <a:t>AS</a:t>
            </a:r>
            <a:r>
              <a:rPr lang="zh-CN" altLang="en-US" sz="2800" smtClean="0">
                <a:solidFill>
                  <a:srgbClr val="FF0000"/>
                </a:solidFill>
                <a:ea typeface="黑体" panose="02010609060101010101" pitchFamily="49" charset="-122"/>
              </a:rPr>
              <a:t>。</a:t>
            </a:r>
          </a:p>
          <a:p>
            <a:r>
              <a:rPr lang="zh-CN" altLang="en-US" sz="2800" smtClean="0">
                <a:ea typeface="黑体" panose="02010609060101010101" pitchFamily="49" charset="-122"/>
              </a:rPr>
              <a:t>当 </a:t>
            </a:r>
            <a:r>
              <a:rPr lang="en-US" altLang="zh-CN" sz="2800" smtClean="0">
                <a:ea typeface="黑体" panose="02010609060101010101" pitchFamily="49" charset="-122"/>
              </a:rPr>
              <a:t>BGP </a:t>
            </a:r>
            <a:r>
              <a:rPr lang="zh-CN" altLang="en-US" sz="2800" smtClean="0">
                <a:ea typeface="黑体" panose="02010609060101010101" pitchFamily="49" charset="-122"/>
              </a:rPr>
              <a:t>发言人互相交换了网络可达性的信息后，各 </a:t>
            </a:r>
            <a:r>
              <a:rPr lang="en-US" altLang="zh-CN" sz="2800" smtClean="0">
                <a:ea typeface="黑体" panose="02010609060101010101" pitchFamily="49" charset="-122"/>
              </a:rPr>
              <a:t>BGP </a:t>
            </a:r>
            <a:r>
              <a:rPr lang="zh-CN" altLang="en-US" sz="2800" smtClean="0">
                <a:ea typeface="黑体" panose="02010609060101010101" pitchFamily="49" charset="-122"/>
              </a:rPr>
              <a:t>发言人就根据所采用的策略从收到的路由信息中找出到达各 </a:t>
            </a:r>
            <a:r>
              <a:rPr lang="en-US" altLang="zh-CN" sz="2800" smtClean="0">
                <a:ea typeface="黑体" panose="02010609060101010101" pitchFamily="49" charset="-122"/>
              </a:rPr>
              <a:t>AS </a:t>
            </a:r>
            <a:r>
              <a:rPr lang="zh-CN" altLang="en-US" sz="2800" smtClean="0">
                <a:ea typeface="黑体" panose="02010609060101010101" pitchFamily="49" charset="-122"/>
              </a:rPr>
              <a:t>的较好路由。 </a:t>
            </a:r>
          </a:p>
        </p:txBody>
      </p:sp>
      <p:grpSp>
        <p:nvGrpSpPr>
          <p:cNvPr id="605217" name="Group 33"/>
          <p:cNvGrpSpPr/>
          <p:nvPr/>
        </p:nvGrpSpPr>
        <p:grpSpPr bwMode="auto">
          <a:xfrm>
            <a:off x="2455863" y="3645024"/>
            <a:ext cx="5382948" cy="2117725"/>
            <a:chOff x="1791" y="2822"/>
            <a:chExt cx="2495" cy="1062"/>
          </a:xfrm>
          <a:solidFill>
            <a:srgbClr val="FF66FF"/>
          </a:solidFill>
        </p:grpSpPr>
        <p:sp>
          <p:nvSpPr>
            <p:cNvPr id="605203" name="Line 19"/>
            <p:cNvSpPr>
              <a:spLocks noChangeShapeType="1"/>
            </p:cNvSpPr>
            <p:nvPr/>
          </p:nvSpPr>
          <p:spPr bwMode="auto">
            <a:xfrm>
              <a:off x="2154" y="3566"/>
              <a:ext cx="363" cy="227"/>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04" name="Line 20"/>
            <p:cNvSpPr>
              <a:spLocks noChangeShapeType="1"/>
            </p:cNvSpPr>
            <p:nvPr/>
          </p:nvSpPr>
          <p:spPr bwMode="auto">
            <a:xfrm flipH="1">
              <a:off x="1791" y="3612"/>
              <a:ext cx="273" cy="227"/>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05" name="Line 21"/>
            <p:cNvSpPr>
              <a:spLocks noChangeShapeType="1"/>
            </p:cNvSpPr>
            <p:nvPr/>
          </p:nvSpPr>
          <p:spPr bwMode="auto">
            <a:xfrm flipH="1">
              <a:off x="3469" y="3657"/>
              <a:ext cx="273" cy="227"/>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06" name="Line 22"/>
            <p:cNvSpPr>
              <a:spLocks noChangeShapeType="1"/>
            </p:cNvSpPr>
            <p:nvPr/>
          </p:nvSpPr>
          <p:spPr bwMode="auto">
            <a:xfrm flipV="1">
              <a:off x="2410" y="2977"/>
              <a:ext cx="1059" cy="36"/>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07" name="Line 23"/>
            <p:cNvSpPr>
              <a:spLocks noChangeShapeType="1"/>
            </p:cNvSpPr>
            <p:nvPr/>
          </p:nvSpPr>
          <p:spPr bwMode="auto">
            <a:xfrm>
              <a:off x="3560" y="2977"/>
              <a:ext cx="544" cy="181"/>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08" name="Line 24"/>
            <p:cNvSpPr>
              <a:spLocks noChangeShapeType="1"/>
            </p:cNvSpPr>
            <p:nvPr/>
          </p:nvSpPr>
          <p:spPr bwMode="auto">
            <a:xfrm>
              <a:off x="2387" y="3044"/>
              <a:ext cx="538" cy="295"/>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09" name="Line 25"/>
            <p:cNvSpPr>
              <a:spLocks noChangeShapeType="1"/>
            </p:cNvSpPr>
            <p:nvPr/>
          </p:nvSpPr>
          <p:spPr bwMode="auto">
            <a:xfrm>
              <a:off x="3016" y="3385"/>
              <a:ext cx="726" cy="227"/>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10" name="Line 26"/>
            <p:cNvSpPr>
              <a:spLocks noChangeShapeType="1"/>
            </p:cNvSpPr>
            <p:nvPr/>
          </p:nvSpPr>
          <p:spPr bwMode="auto">
            <a:xfrm>
              <a:off x="3878" y="3612"/>
              <a:ext cx="408" cy="46"/>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11" name="Line 27"/>
            <p:cNvSpPr>
              <a:spLocks noChangeShapeType="1"/>
            </p:cNvSpPr>
            <p:nvPr/>
          </p:nvSpPr>
          <p:spPr bwMode="auto">
            <a:xfrm flipV="1">
              <a:off x="2109" y="3067"/>
              <a:ext cx="226" cy="454"/>
            </a:xfrm>
            <a:prstGeom prst="line">
              <a:avLst/>
            </a:prstGeom>
            <a:grpFill/>
            <a:ln w="2857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noProof="1">
                <a:solidFill>
                  <a:srgbClr val="0000CC"/>
                </a:solidFill>
                <a:latin typeface="+mn-lt"/>
                <a:ea typeface="黑体" panose="02010609060101010101" pitchFamily="2" charset="-122"/>
              </a:endParaRPr>
            </a:p>
          </p:txBody>
        </p:sp>
        <p:sp>
          <p:nvSpPr>
            <p:cNvPr id="605212" name="Oval 28"/>
            <p:cNvSpPr>
              <a:spLocks noChangeArrowheads="1"/>
            </p:cNvSpPr>
            <p:nvPr/>
          </p:nvSpPr>
          <p:spPr bwMode="auto">
            <a:xfrm>
              <a:off x="2199" y="2841"/>
              <a:ext cx="336" cy="336"/>
            </a:xfrm>
            <a:prstGeom prst="ellipse">
              <a:avLst/>
            </a:prstGeom>
            <a:grpFill/>
            <a:ln w="19050">
              <a:solidFill>
                <a:schemeClr val="tx1"/>
              </a:solidFill>
              <a:round/>
            </a:ln>
            <a:effectLst>
              <a:outerShdw dist="35921" dir="2700000" algn="ctr" rotWithShape="0">
                <a:schemeClr val="bg2"/>
              </a:outerShdw>
            </a:effectLst>
          </p:spPr>
          <p:txBody>
            <a:bodyPr wrap="none" anchor="ctr"/>
            <a:lstStyle/>
            <a:p>
              <a:pPr algn="ctr"/>
              <a:r>
                <a:rPr kumimoji="1" lang="en-US" altLang="zh-CN" sz="2400" b="1" noProof="1">
                  <a:solidFill>
                    <a:srgbClr val="0000CC"/>
                  </a:solidFill>
                  <a:latin typeface="+mn-lt"/>
                  <a:ea typeface="黑体" panose="02010609060101010101" pitchFamily="2" charset="-122"/>
                </a:rPr>
                <a:t>AS</a:t>
              </a:r>
              <a:r>
                <a:rPr kumimoji="1" lang="en-US" altLang="zh-CN" sz="2400" b="1" baseline="-25000" noProof="1">
                  <a:solidFill>
                    <a:srgbClr val="0000CC"/>
                  </a:solidFill>
                  <a:latin typeface="+mn-lt"/>
                  <a:ea typeface="黑体" panose="02010609060101010101" pitchFamily="2" charset="-122"/>
                </a:rPr>
                <a:t>1</a:t>
              </a:r>
            </a:p>
          </p:txBody>
        </p:sp>
        <p:sp>
          <p:nvSpPr>
            <p:cNvPr id="605213" name="Oval 29"/>
            <p:cNvSpPr>
              <a:spLocks noChangeArrowheads="1"/>
            </p:cNvSpPr>
            <p:nvPr/>
          </p:nvSpPr>
          <p:spPr bwMode="auto">
            <a:xfrm>
              <a:off x="3360" y="2822"/>
              <a:ext cx="336" cy="336"/>
            </a:xfrm>
            <a:prstGeom prst="ellipse">
              <a:avLst/>
            </a:prstGeom>
            <a:grpFill/>
            <a:ln w="19050">
              <a:solidFill>
                <a:schemeClr val="tx1"/>
              </a:solidFill>
              <a:round/>
            </a:ln>
            <a:effectLst>
              <a:outerShdw dist="35921" dir="2700000" algn="ctr" rotWithShape="0">
                <a:schemeClr val="bg2"/>
              </a:outerShdw>
            </a:effectLst>
          </p:spPr>
          <p:txBody>
            <a:bodyPr wrap="none" anchor="ctr"/>
            <a:lstStyle/>
            <a:p>
              <a:pPr algn="ctr"/>
              <a:r>
                <a:rPr kumimoji="1" lang="en-US" altLang="zh-CN" sz="2400" b="1" noProof="1">
                  <a:solidFill>
                    <a:srgbClr val="0000CC"/>
                  </a:solidFill>
                  <a:latin typeface="+mn-lt"/>
                  <a:ea typeface="黑体" panose="02010609060101010101" pitchFamily="2" charset="-122"/>
                </a:rPr>
                <a:t>AS</a:t>
              </a:r>
              <a:r>
                <a:rPr kumimoji="1" lang="en-US" altLang="zh-CN" sz="2400" b="1" baseline="-25000" noProof="1">
                  <a:solidFill>
                    <a:srgbClr val="0000CC"/>
                  </a:solidFill>
                  <a:latin typeface="+mn-lt"/>
                  <a:ea typeface="黑体" panose="02010609060101010101" pitchFamily="2" charset="-122"/>
                </a:rPr>
                <a:t>2</a:t>
              </a:r>
            </a:p>
          </p:txBody>
        </p:sp>
        <p:sp>
          <p:nvSpPr>
            <p:cNvPr id="605214" name="Oval 30"/>
            <p:cNvSpPr>
              <a:spLocks noChangeArrowheads="1"/>
            </p:cNvSpPr>
            <p:nvPr/>
          </p:nvSpPr>
          <p:spPr bwMode="auto">
            <a:xfrm>
              <a:off x="2819" y="3203"/>
              <a:ext cx="336" cy="336"/>
            </a:xfrm>
            <a:prstGeom prst="ellipse">
              <a:avLst/>
            </a:prstGeom>
            <a:grpFill/>
            <a:ln w="19050">
              <a:solidFill>
                <a:schemeClr val="tx1"/>
              </a:solidFill>
              <a:round/>
            </a:ln>
            <a:effectLst>
              <a:outerShdw dist="35921" dir="2700000" algn="ctr" rotWithShape="0">
                <a:schemeClr val="bg2"/>
              </a:outerShdw>
            </a:effectLst>
          </p:spPr>
          <p:txBody>
            <a:bodyPr wrap="none" anchor="ctr"/>
            <a:lstStyle/>
            <a:p>
              <a:pPr algn="ctr"/>
              <a:r>
                <a:rPr kumimoji="1" lang="en-US" altLang="zh-CN" sz="2400" b="1" noProof="1">
                  <a:solidFill>
                    <a:srgbClr val="0000CC"/>
                  </a:solidFill>
                  <a:latin typeface="+mn-lt"/>
                  <a:ea typeface="黑体" panose="02010609060101010101" pitchFamily="2" charset="-122"/>
                </a:rPr>
                <a:t>AS</a:t>
              </a:r>
              <a:r>
                <a:rPr kumimoji="1" lang="en-US" altLang="zh-CN" sz="2400" b="1" baseline="-25000" noProof="1">
                  <a:solidFill>
                    <a:srgbClr val="0000CC"/>
                  </a:solidFill>
                  <a:latin typeface="+mn-lt"/>
                  <a:ea typeface="黑体" panose="02010609060101010101" pitchFamily="2" charset="-122"/>
                </a:rPr>
                <a:t>3</a:t>
              </a:r>
            </a:p>
          </p:txBody>
        </p:sp>
        <p:sp>
          <p:nvSpPr>
            <p:cNvPr id="605215" name="Oval 31"/>
            <p:cNvSpPr>
              <a:spLocks noChangeArrowheads="1"/>
            </p:cNvSpPr>
            <p:nvPr/>
          </p:nvSpPr>
          <p:spPr bwMode="auto">
            <a:xfrm>
              <a:off x="1927" y="3385"/>
              <a:ext cx="336" cy="336"/>
            </a:xfrm>
            <a:prstGeom prst="ellipse">
              <a:avLst/>
            </a:prstGeom>
            <a:grpFill/>
            <a:ln w="19050">
              <a:solidFill>
                <a:schemeClr val="tx1"/>
              </a:solidFill>
              <a:round/>
            </a:ln>
            <a:effectLst>
              <a:outerShdw dist="35921" dir="2700000" algn="ctr" rotWithShape="0">
                <a:schemeClr val="bg2"/>
              </a:outerShdw>
            </a:effectLst>
          </p:spPr>
          <p:txBody>
            <a:bodyPr wrap="none" anchor="ctr"/>
            <a:lstStyle/>
            <a:p>
              <a:pPr algn="ctr"/>
              <a:r>
                <a:rPr kumimoji="1" lang="en-US" altLang="zh-CN" sz="2400" b="1" noProof="1">
                  <a:solidFill>
                    <a:srgbClr val="0000CC"/>
                  </a:solidFill>
                  <a:latin typeface="+mn-lt"/>
                  <a:ea typeface="黑体" panose="02010609060101010101" pitchFamily="2" charset="-122"/>
                </a:rPr>
                <a:t>AS</a:t>
              </a:r>
              <a:r>
                <a:rPr kumimoji="1" lang="en-US" altLang="zh-CN" sz="2400" b="1" baseline="-25000" noProof="1">
                  <a:solidFill>
                    <a:srgbClr val="0000CC"/>
                  </a:solidFill>
                  <a:latin typeface="+mn-lt"/>
                  <a:ea typeface="黑体" panose="02010609060101010101" pitchFamily="2" charset="-122"/>
                </a:rPr>
                <a:t>4</a:t>
              </a:r>
            </a:p>
          </p:txBody>
        </p:sp>
        <p:sp>
          <p:nvSpPr>
            <p:cNvPr id="605216" name="Oval 32"/>
            <p:cNvSpPr>
              <a:spLocks noChangeArrowheads="1"/>
            </p:cNvSpPr>
            <p:nvPr/>
          </p:nvSpPr>
          <p:spPr bwMode="auto">
            <a:xfrm>
              <a:off x="3632" y="3430"/>
              <a:ext cx="336" cy="336"/>
            </a:xfrm>
            <a:prstGeom prst="ellipse">
              <a:avLst/>
            </a:prstGeom>
            <a:grpFill/>
            <a:ln w="19050">
              <a:solidFill>
                <a:schemeClr val="tx1"/>
              </a:solidFill>
              <a:round/>
            </a:ln>
            <a:effectLst>
              <a:outerShdw dist="35921" dir="2700000" algn="ctr" rotWithShape="0">
                <a:schemeClr val="bg2"/>
              </a:outerShdw>
            </a:effectLst>
          </p:spPr>
          <p:txBody>
            <a:bodyPr wrap="none" anchor="ctr"/>
            <a:lstStyle/>
            <a:p>
              <a:pPr algn="ctr"/>
              <a:r>
                <a:rPr kumimoji="1" lang="en-US" altLang="zh-CN" sz="2400" b="1" noProof="1">
                  <a:solidFill>
                    <a:srgbClr val="0000CC"/>
                  </a:solidFill>
                  <a:latin typeface="+mn-lt"/>
                  <a:ea typeface="黑体" panose="02010609060101010101" pitchFamily="2" charset="-122"/>
                </a:rPr>
                <a:t>AS</a:t>
              </a:r>
              <a:r>
                <a:rPr kumimoji="1" lang="en-US" altLang="zh-CN" sz="2400" b="1" baseline="-25000" noProof="1">
                  <a:solidFill>
                    <a:srgbClr val="0000CC"/>
                  </a:solidFill>
                  <a:latin typeface="+mn-lt"/>
                  <a:ea typeface="黑体" panose="02010609060101010101" pitchFamily="2" charset="-122"/>
                </a:rPr>
                <a:t>5</a:t>
              </a:r>
            </a:p>
          </p:txBody>
        </p:sp>
      </p:grpSp>
      <p:sp>
        <p:nvSpPr>
          <p:cNvPr id="108442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9E3AA9-9429-4921-9123-4A87E67BEAE6}" type="slidenum">
              <a:rPr lang="zh-CN" altLang="en-US" smtClean="0"/>
              <a:pPr eaLnBrk="1" hangingPunct="1"/>
              <a:t>8</a:t>
            </a:fld>
            <a:endParaRPr lang="en-US" altLang="zh-CN" smtClean="0"/>
          </a:p>
        </p:txBody>
      </p:sp>
      <p:sp>
        <p:nvSpPr>
          <p:cNvPr id="108442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465" name="Rectangle 2"/>
          <p:cNvSpPr>
            <a:spLocks noGrp="1" noChangeArrowheads="1"/>
          </p:cNvSpPr>
          <p:nvPr>
            <p:ph type="title"/>
          </p:nvPr>
        </p:nvSpPr>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发言人交换</a:t>
            </a:r>
            <a:r>
              <a:rPr lang="zh-CN" altLang="en-US" smtClean="0">
                <a:solidFill>
                  <a:srgbClr val="FF0000"/>
                </a:solidFill>
                <a:ea typeface="黑体" panose="02010609060101010101" pitchFamily="49" charset="-122"/>
              </a:rPr>
              <a:t>路径向量 </a:t>
            </a:r>
          </a:p>
        </p:txBody>
      </p:sp>
      <p:sp>
        <p:nvSpPr>
          <p:cNvPr id="1086466" name="Line 3"/>
          <p:cNvSpPr>
            <a:spLocks noChangeShapeType="1"/>
          </p:cNvSpPr>
          <p:nvPr/>
        </p:nvSpPr>
        <p:spPr bwMode="auto">
          <a:xfrm flipV="1">
            <a:off x="2019300" y="3121025"/>
            <a:ext cx="1327150" cy="5349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6467" name="Line 4"/>
          <p:cNvSpPr>
            <a:spLocks noChangeShapeType="1"/>
          </p:cNvSpPr>
          <p:nvPr/>
        </p:nvSpPr>
        <p:spPr bwMode="auto">
          <a:xfrm>
            <a:off x="2019300" y="4194175"/>
            <a:ext cx="1239838" cy="765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6468" name="Line 5"/>
          <p:cNvSpPr>
            <a:spLocks noChangeShapeType="1"/>
          </p:cNvSpPr>
          <p:nvPr/>
        </p:nvSpPr>
        <p:spPr bwMode="auto">
          <a:xfrm flipV="1">
            <a:off x="5203825" y="2586038"/>
            <a:ext cx="1150938" cy="382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6469" name="Line 6"/>
          <p:cNvSpPr>
            <a:spLocks noChangeShapeType="1"/>
          </p:cNvSpPr>
          <p:nvPr/>
        </p:nvSpPr>
        <p:spPr bwMode="auto">
          <a:xfrm>
            <a:off x="5116513" y="3121025"/>
            <a:ext cx="1150937" cy="4603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6470" name="Line 7"/>
          <p:cNvSpPr>
            <a:spLocks noChangeShapeType="1"/>
          </p:cNvSpPr>
          <p:nvPr/>
        </p:nvSpPr>
        <p:spPr bwMode="auto">
          <a:xfrm flipV="1">
            <a:off x="5203825" y="4498975"/>
            <a:ext cx="1150938" cy="382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6471" name="Line 8"/>
          <p:cNvSpPr>
            <a:spLocks noChangeShapeType="1"/>
          </p:cNvSpPr>
          <p:nvPr/>
        </p:nvSpPr>
        <p:spPr bwMode="auto">
          <a:xfrm>
            <a:off x="5381625" y="5033963"/>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6472" name="Line 9"/>
          <p:cNvSpPr>
            <a:spLocks noChangeShapeType="1"/>
          </p:cNvSpPr>
          <p:nvPr/>
        </p:nvSpPr>
        <p:spPr bwMode="auto">
          <a:xfrm>
            <a:off x="5203825" y="5189538"/>
            <a:ext cx="1150938" cy="304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6473" name="Oval 10"/>
          <p:cNvSpPr>
            <a:spLocks noChangeArrowheads="1"/>
          </p:cNvSpPr>
          <p:nvPr/>
        </p:nvSpPr>
        <p:spPr bwMode="auto">
          <a:xfrm>
            <a:off x="2725738" y="2670175"/>
            <a:ext cx="2833687" cy="688975"/>
          </a:xfrm>
          <a:prstGeom prst="ellipse">
            <a:avLst/>
          </a:prstGeom>
          <a:solidFill>
            <a:srgbClr val="66FFFF"/>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6474" name="Oval 11"/>
          <p:cNvSpPr>
            <a:spLocks noChangeArrowheads="1"/>
          </p:cNvSpPr>
          <p:nvPr/>
        </p:nvSpPr>
        <p:spPr bwMode="auto">
          <a:xfrm>
            <a:off x="2725738" y="4646613"/>
            <a:ext cx="2833687" cy="688975"/>
          </a:xfrm>
          <a:prstGeom prst="ellipse">
            <a:avLst/>
          </a:prstGeom>
          <a:solidFill>
            <a:srgbClr val="66FFFF"/>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6475" name="Oval 12"/>
          <p:cNvSpPr>
            <a:spLocks noChangeArrowheads="1"/>
          </p:cNvSpPr>
          <p:nvPr/>
        </p:nvSpPr>
        <p:spPr bwMode="auto">
          <a:xfrm>
            <a:off x="247650" y="3429000"/>
            <a:ext cx="2565400" cy="1147763"/>
          </a:xfrm>
          <a:prstGeom prst="ellipse">
            <a:avLst/>
          </a:prstGeom>
          <a:solidFill>
            <a:srgbClr val="FF99FF"/>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6476" name="Oval 13"/>
          <p:cNvSpPr>
            <a:spLocks noChangeArrowheads="1"/>
          </p:cNvSpPr>
          <p:nvPr/>
        </p:nvSpPr>
        <p:spPr bwMode="auto">
          <a:xfrm>
            <a:off x="5937250" y="2203450"/>
            <a:ext cx="3540125" cy="842963"/>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baseline="-25000">
              <a:solidFill>
                <a:srgbClr val="0000CC"/>
              </a:solidFill>
              <a:ea typeface="黑体" panose="02010609060101010101" pitchFamily="49" charset="-122"/>
            </a:endParaRPr>
          </a:p>
        </p:txBody>
      </p:sp>
      <p:sp>
        <p:nvSpPr>
          <p:cNvPr id="1086477" name="Oval 14"/>
          <p:cNvSpPr>
            <a:spLocks noChangeArrowheads="1"/>
          </p:cNvSpPr>
          <p:nvPr/>
        </p:nvSpPr>
        <p:spPr bwMode="auto">
          <a:xfrm>
            <a:off x="5913438" y="3148013"/>
            <a:ext cx="3540125" cy="839787"/>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baseline="-25000">
              <a:solidFill>
                <a:srgbClr val="0000CC"/>
              </a:solidFill>
              <a:ea typeface="黑体" panose="02010609060101010101" pitchFamily="49" charset="-122"/>
            </a:endParaRPr>
          </a:p>
        </p:txBody>
      </p:sp>
      <p:sp>
        <p:nvSpPr>
          <p:cNvPr id="1086478" name="Oval 15"/>
          <p:cNvSpPr>
            <a:spLocks noChangeArrowheads="1"/>
          </p:cNvSpPr>
          <p:nvPr/>
        </p:nvSpPr>
        <p:spPr bwMode="auto">
          <a:xfrm>
            <a:off x="5913438" y="4092575"/>
            <a:ext cx="3540125" cy="839788"/>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6479" name="Oval 16"/>
          <p:cNvSpPr>
            <a:spLocks noChangeArrowheads="1"/>
          </p:cNvSpPr>
          <p:nvPr/>
        </p:nvSpPr>
        <p:spPr bwMode="auto">
          <a:xfrm>
            <a:off x="5913438" y="5033963"/>
            <a:ext cx="3540125" cy="842962"/>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6480" name="Text Box 17"/>
          <p:cNvSpPr txBox="1">
            <a:spLocks noChangeArrowheads="1"/>
          </p:cNvSpPr>
          <p:nvPr/>
        </p:nvSpPr>
        <p:spPr bwMode="auto">
          <a:xfrm>
            <a:off x="895350" y="3644900"/>
            <a:ext cx="11541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主干网</a:t>
            </a:r>
          </a:p>
          <a:p>
            <a:pPr eaLnBrk="0" hangingPunct="0"/>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a:t>
            </a:r>
          </a:p>
        </p:txBody>
      </p:sp>
      <p:sp>
        <p:nvSpPr>
          <p:cNvPr id="1086481" name="Text Box 18"/>
          <p:cNvSpPr txBox="1">
            <a:spLocks noChangeArrowheads="1"/>
          </p:cNvSpPr>
          <p:nvPr/>
        </p:nvSpPr>
        <p:spPr bwMode="auto">
          <a:xfrm>
            <a:off x="3536950" y="2663825"/>
            <a:ext cx="12207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地区 </a:t>
            </a:r>
            <a:r>
              <a:rPr lang="en-US" altLang="zh-CN" sz="2000" b="1">
                <a:solidFill>
                  <a:srgbClr val="0000CC"/>
                </a:solidFill>
                <a:ea typeface="黑体" panose="02010609060101010101" pitchFamily="49" charset="-122"/>
              </a:rPr>
              <a:t>ISP</a:t>
            </a:r>
          </a:p>
          <a:p>
            <a:pPr algn="ctr" eaLnBrk="0" hangingPunct="0"/>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2</a:t>
            </a:r>
            <a:r>
              <a:rPr lang="zh-CN" altLang="en-US" sz="2000" b="1">
                <a:solidFill>
                  <a:srgbClr val="0000CC"/>
                </a:solidFill>
                <a:ea typeface="黑体" panose="02010609060101010101" pitchFamily="49" charset="-122"/>
              </a:rPr>
              <a:t>）</a:t>
            </a:r>
          </a:p>
        </p:txBody>
      </p:sp>
      <p:sp>
        <p:nvSpPr>
          <p:cNvPr id="1086482" name="Text Box 19"/>
          <p:cNvSpPr txBox="1">
            <a:spLocks noChangeArrowheads="1"/>
          </p:cNvSpPr>
          <p:nvPr/>
        </p:nvSpPr>
        <p:spPr bwMode="auto">
          <a:xfrm>
            <a:off x="3536950" y="4640263"/>
            <a:ext cx="12207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地区 </a:t>
            </a:r>
            <a:r>
              <a:rPr lang="en-US" altLang="zh-CN" sz="2000" b="1">
                <a:solidFill>
                  <a:srgbClr val="0000CC"/>
                </a:solidFill>
                <a:ea typeface="黑体" panose="02010609060101010101" pitchFamily="49" charset="-122"/>
              </a:rPr>
              <a:t>ISP</a:t>
            </a:r>
          </a:p>
          <a:p>
            <a:pPr algn="ctr" eaLnBrk="0" hangingPunct="0"/>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3</a:t>
            </a:r>
            <a:r>
              <a:rPr lang="zh-CN" altLang="en-US" sz="2000" b="1">
                <a:solidFill>
                  <a:srgbClr val="0000CC"/>
                </a:solidFill>
                <a:ea typeface="黑体" panose="02010609060101010101" pitchFamily="49" charset="-122"/>
              </a:rPr>
              <a:t>）</a:t>
            </a:r>
          </a:p>
        </p:txBody>
      </p:sp>
      <p:grpSp>
        <p:nvGrpSpPr>
          <p:cNvPr id="606228" name="Group 20"/>
          <p:cNvGrpSpPr>
            <a:grpSpLocks/>
          </p:cNvGrpSpPr>
          <p:nvPr/>
        </p:nvGrpSpPr>
        <p:grpSpPr bwMode="auto">
          <a:xfrm>
            <a:off x="6618288" y="2257425"/>
            <a:ext cx="2157412" cy="1666875"/>
            <a:chOff x="3848" y="1740"/>
            <a:chExt cx="1255" cy="1050"/>
          </a:xfrm>
        </p:grpSpPr>
        <p:sp>
          <p:nvSpPr>
            <p:cNvPr id="1086484" name="Text Box 21"/>
            <p:cNvSpPr txBox="1">
              <a:spLocks noChangeArrowheads="1"/>
            </p:cNvSpPr>
            <p:nvPr/>
          </p:nvSpPr>
          <p:spPr bwMode="auto">
            <a:xfrm>
              <a:off x="3863" y="1740"/>
              <a:ext cx="124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4</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86485" name="Text Box 22"/>
            <p:cNvSpPr txBox="1">
              <a:spLocks noChangeArrowheads="1"/>
            </p:cNvSpPr>
            <p:nvPr/>
          </p:nvSpPr>
          <p:spPr bwMode="auto">
            <a:xfrm>
              <a:off x="3848" y="2344"/>
              <a:ext cx="124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5</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3</a:t>
              </a:r>
              <a:r>
                <a:rPr lang="zh-CN" altLang="en-US" sz="2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4</a:t>
              </a:r>
              <a:endParaRPr lang="en-US" altLang="zh-CN" sz="2000" b="1">
                <a:solidFill>
                  <a:srgbClr val="0000CC"/>
                </a:solidFill>
                <a:ea typeface="黑体" panose="02010609060101010101" pitchFamily="49" charset="-122"/>
              </a:endParaRPr>
            </a:p>
          </p:txBody>
        </p:sp>
      </p:grpSp>
      <p:sp>
        <p:nvSpPr>
          <p:cNvPr id="1086486" name="Text Box 23"/>
          <p:cNvSpPr txBox="1">
            <a:spLocks noChangeArrowheads="1"/>
          </p:cNvSpPr>
          <p:nvPr/>
        </p:nvSpPr>
        <p:spPr bwMode="auto">
          <a:xfrm>
            <a:off x="6607175" y="4141788"/>
            <a:ext cx="2152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6</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5</a:t>
            </a:r>
            <a:endParaRPr lang="en-US" altLang="zh-CN" sz="2000" b="1">
              <a:solidFill>
                <a:srgbClr val="0000CC"/>
              </a:solidFill>
              <a:ea typeface="黑体" panose="02010609060101010101" pitchFamily="49" charset="-122"/>
            </a:endParaRPr>
          </a:p>
        </p:txBody>
      </p:sp>
      <p:sp>
        <p:nvSpPr>
          <p:cNvPr id="1086487" name="Text Box 24"/>
          <p:cNvSpPr txBox="1">
            <a:spLocks noChangeArrowheads="1"/>
          </p:cNvSpPr>
          <p:nvPr/>
        </p:nvSpPr>
        <p:spPr bwMode="auto">
          <a:xfrm>
            <a:off x="6626225" y="5122863"/>
            <a:ext cx="2152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7</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6</a:t>
            </a:r>
            <a:r>
              <a:rPr lang="zh-CN" altLang="en-US" sz="2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7</a:t>
            </a:r>
            <a:endParaRPr lang="en-US" altLang="zh-CN" sz="2000" b="1">
              <a:solidFill>
                <a:srgbClr val="0000CC"/>
              </a:solidFill>
              <a:ea typeface="黑体" panose="02010609060101010101" pitchFamily="49" charset="-122"/>
            </a:endParaRPr>
          </a:p>
        </p:txBody>
      </p:sp>
      <p:sp>
        <p:nvSpPr>
          <p:cNvPr id="1086488" name="Text Box 25"/>
          <p:cNvSpPr txBox="1">
            <a:spLocks noChangeArrowheads="1"/>
          </p:cNvSpPr>
          <p:nvPr/>
        </p:nvSpPr>
        <p:spPr bwMode="auto">
          <a:xfrm>
            <a:off x="661988" y="1125538"/>
            <a:ext cx="8915400" cy="830262"/>
          </a:xfrm>
          <a:prstGeom prst="rect">
            <a:avLst/>
          </a:prstGeom>
          <a:solidFill>
            <a:srgbClr val="66FF66"/>
          </a:solidFill>
          <a:ln w="9525">
            <a:solidFill>
              <a:srgbClr val="333399"/>
            </a:solidFill>
            <a:miter lim="800000"/>
            <a:headEnd/>
            <a:tailEnd/>
          </a:ln>
        </p:spPr>
        <p:txBody>
          <a:bodyPr>
            <a:spAutoFit/>
          </a:bodyPr>
          <a:lstStyle/>
          <a:p>
            <a:pPr eaLnBrk="0" hangingPunct="0"/>
            <a:r>
              <a:rPr lang="zh-CN" altLang="en-US" sz="2400" b="1">
                <a:solidFill>
                  <a:srgbClr val="000066"/>
                </a:solidFill>
                <a:ea typeface="黑体" panose="02010609060101010101" pitchFamily="49" charset="-122"/>
              </a:rPr>
              <a:t>自治系统 </a:t>
            </a:r>
            <a:r>
              <a:rPr lang="en-US" altLang="zh-CN" sz="2400" b="1">
                <a:solidFill>
                  <a:srgbClr val="000066"/>
                </a:solidFill>
                <a:ea typeface="黑体" panose="02010609060101010101" pitchFamily="49" charset="-122"/>
              </a:rPr>
              <a:t>AS</a:t>
            </a:r>
            <a:r>
              <a:rPr lang="en-US" altLang="zh-CN" sz="2400" b="1" baseline="-25000">
                <a:solidFill>
                  <a:srgbClr val="000066"/>
                </a:solidFill>
                <a:ea typeface="黑体" panose="02010609060101010101" pitchFamily="49" charset="-122"/>
              </a:rPr>
              <a:t>2</a:t>
            </a:r>
            <a:r>
              <a:rPr lang="en-US" altLang="zh-CN" sz="2400" b="1">
                <a:solidFill>
                  <a:srgbClr val="000066"/>
                </a:solidFill>
                <a:ea typeface="黑体" panose="02010609060101010101" pitchFamily="49" charset="-122"/>
              </a:rPr>
              <a:t> </a:t>
            </a:r>
            <a:r>
              <a:rPr lang="zh-CN" altLang="en-US" sz="2400" b="1">
                <a:solidFill>
                  <a:srgbClr val="000066"/>
                </a:solidFill>
                <a:ea typeface="黑体" panose="02010609060101010101" pitchFamily="49" charset="-122"/>
              </a:rPr>
              <a:t>的 </a:t>
            </a:r>
            <a:r>
              <a:rPr lang="en-US" altLang="zh-CN" sz="2400" b="1">
                <a:solidFill>
                  <a:srgbClr val="000066"/>
                </a:solidFill>
                <a:ea typeface="黑体" panose="02010609060101010101" pitchFamily="49" charset="-122"/>
              </a:rPr>
              <a:t>BGP </a:t>
            </a:r>
            <a:r>
              <a:rPr lang="zh-CN" altLang="en-US" sz="2400" b="1">
                <a:solidFill>
                  <a:srgbClr val="000066"/>
                </a:solidFill>
                <a:ea typeface="黑体" panose="02010609060101010101" pitchFamily="49" charset="-122"/>
              </a:rPr>
              <a:t>发言人通知主干网 </a:t>
            </a:r>
            <a:r>
              <a:rPr lang="en-US" altLang="zh-CN" sz="2400" b="1">
                <a:solidFill>
                  <a:srgbClr val="000066"/>
                </a:solidFill>
                <a:ea typeface="黑体" panose="02010609060101010101" pitchFamily="49" charset="-122"/>
              </a:rPr>
              <a:t>AS</a:t>
            </a:r>
            <a:r>
              <a:rPr lang="en-US" altLang="zh-CN" sz="2400" b="1" baseline="-25000">
                <a:solidFill>
                  <a:srgbClr val="000066"/>
                </a:solidFill>
                <a:ea typeface="黑体" panose="02010609060101010101" pitchFamily="49" charset="-122"/>
              </a:rPr>
              <a:t>1</a:t>
            </a:r>
            <a:r>
              <a:rPr lang="en-US" altLang="zh-CN" sz="2400" b="1">
                <a:solidFill>
                  <a:srgbClr val="000066"/>
                </a:solidFill>
                <a:ea typeface="黑体" panose="02010609060101010101" pitchFamily="49" charset="-122"/>
              </a:rPr>
              <a:t> </a:t>
            </a:r>
            <a:r>
              <a:rPr lang="zh-CN" altLang="en-US" sz="2400" b="1">
                <a:solidFill>
                  <a:srgbClr val="000066"/>
                </a:solidFill>
                <a:ea typeface="黑体" panose="02010609060101010101" pitchFamily="49" charset="-122"/>
              </a:rPr>
              <a:t>的 </a:t>
            </a:r>
            <a:r>
              <a:rPr lang="en-US" altLang="zh-CN" sz="2400" b="1">
                <a:solidFill>
                  <a:srgbClr val="000066"/>
                </a:solidFill>
                <a:ea typeface="黑体" panose="02010609060101010101" pitchFamily="49" charset="-122"/>
              </a:rPr>
              <a:t>BGP </a:t>
            </a:r>
            <a:r>
              <a:rPr lang="zh-CN" altLang="en-US" sz="2400" b="1">
                <a:solidFill>
                  <a:srgbClr val="000066"/>
                </a:solidFill>
                <a:ea typeface="黑体" panose="02010609060101010101" pitchFamily="49" charset="-122"/>
              </a:rPr>
              <a:t>发言人：“要到达网络 </a:t>
            </a:r>
            <a:r>
              <a:rPr lang="en-US" altLang="zh-CN" sz="2400" b="1">
                <a:solidFill>
                  <a:srgbClr val="000066"/>
                </a:solidFill>
                <a:ea typeface="黑体" panose="02010609060101010101" pitchFamily="49" charset="-122"/>
              </a:rPr>
              <a:t>N</a:t>
            </a:r>
            <a:r>
              <a:rPr lang="en-US" altLang="zh-CN" sz="2400" b="1" baseline="-25000">
                <a:solidFill>
                  <a:srgbClr val="000066"/>
                </a:solidFill>
                <a:ea typeface="黑体" panose="02010609060101010101" pitchFamily="49" charset="-122"/>
              </a:rPr>
              <a:t>1</a:t>
            </a:r>
            <a:r>
              <a:rPr lang="zh-CN" altLang="en-US" sz="2400" b="1" baseline="-25000">
                <a:solidFill>
                  <a:srgbClr val="000066"/>
                </a:solidFill>
                <a:ea typeface="黑体" panose="02010609060101010101" pitchFamily="49" charset="-122"/>
              </a:rPr>
              <a:t>、</a:t>
            </a:r>
            <a:r>
              <a:rPr lang="en-US" altLang="zh-CN" sz="2400" b="1">
                <a:solidFill>
                  <a:srgbClr val="000066"/>
                </a:solidFill>
                <a:ea typeface="黑体" panose="02010609060101010101" pitchFamily="49" charset="-122"/>
              </a:rPr>
              <a:t> N</a:t>
            </a:r>
            <a:r>
              <a:rPr lang="en-US" altLang="zh-CN" sz="2400" b="1" baseline="-25000">
                <a:solidFill>
                  <a:srgbClr val="000066"/>
                </a:solidFill>
                <a:ea typeface="黑体" panose="02010609060101010101" pitchFamily="49" charset="-122"/>
              </a:rPr>
              <a:t>2</a:t>
            </a:r>
            <a:r>
              <a:rPr lang="zh-CN" altLang="en-US" sz="2400" b="1" baseline="-25000">
                <a:solidFill>
                  <a:srgbClr val="000066"/>
                </a:solidFill>
                <a:ea typeface="黑体" panose="02010609060101010101" pitchFamily="49" charset="-122"/>
              </a:rPr>
              <a:t>、</a:t>
            </a:r>
            <a:r>
              <a:rPr lang="en-US" altLang="zh-CN" sz="2400" b="1">
                <a:solidFill>
                  <a:srgbClr val="000066"/>
                </a:solidFill>
                <a:ea typeface="黑体" panose="02010609060101010101" pitchFamily="49" charset="-122"/>
              </a:rPr>
              <a:t>N</a:t>
            </a:r>
            <a:r>
              <a:rPr lang="en-US" altLang="zh-CN" sz="2400" b="1" baseline="-25000">
                <a:solidFill>
                  <a:srgbClr val="000066"/>
                </a:solidFill>
                <a:ea typeface="黑体" panose="02010609060101010101" pitchFamily="49" charset="-122"/>
              </a:rPr>
              <a:t>3 </a:t>
            </a:r>
            <a:r>
              <a:rPr lang="zh-CN" altLang="en-US" sz="2400" b="1">
                <a:solidFill>
                  <a:srgbClr val="000066"/>
                </a:solidFill>
                <a:ea typeface="黑体" panose="02010609060101010101" pitchFamily="49" charset="-122"/>
              </a:rPr>
              <a:t>和 </a:t>
            </a:r>
            <a:r>
              <a:rPr lang="en-US" altLang="zh-CN" sz="2400" b="1">
                <a:solidFill>
                  <a:srgbClr val="000066"/>
                </a:solidFill>
                <a:ea typeface="黑体" panose="02010609060101010101" pitchFamily="49" charset="-122"/>
              </a:rPr>
              <a:t>N</a:t>
            </a:r>
            <a:r>
              <a:rPr lang="en-US" altLang="zh-CN" sz="2400" b="1" baseline="-25000">
                <a:solidFill>
                  <a:srgbClr val="000066"/>
                </a:solidFill>
                <a:ea typeface="黑体" panose="02010609060101010101" pitchFamily="49" charset="-122"/>
              </a:rPr>
              <a:t>4 </a:t>
            </a:r>
            <a:r>
              <a:rPr lang="zh-CN" altLang="en-US" sz="2400" b="1">
                <a:solidFill>
                  <a:srgbClr val="000066"/>
                </a:solidFill>
                <a:ea typeface="黑体" panose="02010609060101010101" pitchFamily="49" charset="-122"/>
              </a:rPr>
              <a:t>可经过 </a:t>
            </a:r>
            <a:r>
              <a:rPr lang="en-US" altLang="zh-CN" sz="2400" b="1">
                <a:solidFill>
                  <a:srgbClr val="000066"/>
                </a:solidFill>
                <a:ea typeface="黑体" panose="02010609060101010101" pitchFamily="49" charset="-122"/>
              </a:rPr>
              <a:t>AS</a:t>
            </a:r>
            <a:r>
              <a:rPr lang="en-US" altLang="zh-CN" sz="2400" b="1" baseline="-25000">
                <a:solidFill>
                  <a:srgbClr val="000066"/>
                </a:solidFill>
                <a:ea typeface="黑体" panose="02010609060101010101" pitchFamily="49" charset="-122"/>
              </a:rPr>
              <a:t>2</a:t>
            </a:r>
            <a:r>
              <a:rPr lang="zh-CN" altLang="en-US" sz="2400" b="1">
                <a:solidFill>
                  <a:srgbClr val="000066"/>
                </a:solidFill>
                <a:ea typeface="黑体" panose="02010609060101010101" pitchFamily="49" charset="-122"/>
              </a:rPr>
              <a:t>。” </a:t>
            </a:r>
          </a:p>
        </p:txBody>
      </p:sp>
      <p:sp>
        <p:nvSpPr>
          <p:cNvPr id="606235" name="AutoShape 27"/>
          <p:cNvSpPr>
            <a:spLocks noChangeArrowheads="1"/>
          </p:cNvSpPr>
          <p:nvPr/>
        </p:nvSpPr>
        <p:spPr bwMode="auto">
          <a:xfrm rot="9284754">
            <a:off x="1833563" y="2995613"/>
            <a:ext cx="1793875" cy="720725"/>
          </a:xfrm>
          <a:custGeom>
            <a:avLst/>
            <a:gdLst>
              <a:gd name="T0" fmla="*/ 13627 w 21600"/>
              <a:gd name="T1" fmla="*/ 0 h 21600"/>
              <a:gd name="T2" fmla="*/ 13627 w 21600"/>
              <a:gd name="T3" fmla="*/ 4853 h 21600"/>
              <a:gd name="T4" fmla="*/ 3375 w 21600"/>
              <a:gd name="T5" fmla="*/ 4853 h 21600"/>
              <a:gd name="T6" fmla="*/ 3375 w 21600"/>
              <a:gd name="T7" fmla="*/ 16747 h 21600"/>
              <a:gd name="T8" fmla="*/ 13627 w 21600"/>
              <a:gd name="T9" fmla="*/ 16747 h 21600"/>
              <a:gd name="T10" fmla="*/ 13627 w 21600"/>
              <a:gd name="T11" fmla="*/ 21600 h 21600"/>
              <a:gd name="T12" fmla="*/ 21600 w 21600"/>
              <a:gd name="T13" fmla="*/ 10800 h 21600"/>
              <a:gd name="T14" fmla="*/ 1350 w 21600"/>
              <a:gd name="T15" fmla="*/ 4853 h 21600"/>
              <a:gd name="T16" fmla="*/ 1350 w 21600"/>
              <a:gd name="T17" fmla="*/ 16747 h 21600"/>
              <a:gd name="T18" fmla="*/ 2700 w 21600"/>
              <a:gd name="T19" fmla="*/ 16747 h 21600"/>
              <a:gd name="T20" fmla="*/ 2700 w 21600"/>
              <a:gd name="T21" fmla="*/ 4853 h 21600"/>
              <a:gd name="T22" fmla="*/ 0 w 21600"/>
              <a:gd name="T23" fmla="*/ 4853 h 21600"/>
              <a:gd name="T24" fmla="*/ 0 w 21600"/>
              <a:gd name="T25" fmla="*/ 16747 h 21600"/>
              <a:gd name="T26" fmla="*/ 675 w 21600"/>
              <a:gd name="T27" fmla="*/ 16747 h 21600"/>
              <a:gd name="T28" fmla="*/ 675 w 21600"/>
              <a:gd name="T29" fmla="*/ 4853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600" h="21600">
                <a:moveTo>
                  <a:pt x="13627" y="0"/>
                </a:moveTo>
                <a:lnTo>
                  <a:pt x="13627" y="4853"/>
                </a:lnTo>
                <a:lnTo>
                  <a:pt x="3375" y="4853"/>
                </a:lnTo>
                <a:lnTo>
                  <a:pt x="3375" y="16747"/>
                </a:lnTo>
                <a:lnTo>
                  <a:pt x="13627" y="16747"/>
                </a:lnTo>
                <a:lnTo>
                  <a:pt x="13627" y="21600"/>
                </a:lnTo>
                <a:lnTo>
                  <a:pt x="21600" y="10800"/>
                </a:lnTo>
                <a:close/>
              </a:path>
              <a:path w="21600" h="21600">
                <a:moveTo>
                  <a:pt x="1350" y="4853"/>
                </a:moveTo>
                <a:lnTo>
                  <a:pt x="1350" y="16747"/>
                </a:lnTo>
                <a:lnTo>
                  <a:pt x="2700" y="16747"/>
                </a:lnTo>
                <a:lnTo>
                  <a:pt x="2700" y="4853"/>
                </a:lnTo>
                <a:close/>
              </a:path>
              <a:path w="21600" h="21600">
                <a:moveTo>
                  <a:pt x="0" y="4853"/>
                </a:moveTo>
                <a:lnTo>
                  <a:pt x="0" y="16747"/>
                </a:lnTo>
                <a:lnTo>
                  <a:pt x="675" y="16747"/>
                </a:lnTo>
                <a:lnTo>
                  <a:pt x="675" y="4853"/>
                </a:lnTo>
                <a:close/>
              </a:path>
            </a:pathLst>
          </a:cu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8649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6B6ADE-F6F9-4368-9DA8-6C71B6E01F22}" type="slidenum">
              <a:rPr lang="zh-CN" altLang="en-US" smtClean="0"/>
              <a:pPr eaLnBrk="1" hangingPunct="1"/>
              <a:t>9</a:t>
            </a:fld>
            <a:endParaRPr lang="en-US" altLang="zh-CN" smtClean="0"/>
          </a:p>
        </p:txBody>
      </p:sp>
      <p:sp>
        <p:nvSpPr>
          <p:cNvPr id="108649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500"/>
                                  </p:stCondLst>
                                  <p:childTnLst>
                                    <p:anim calcmode="discrete" valueType="str">
                                      <p:cBhvr>
                                        <p:cTn id="6" dur="1000" fill="hold"/>
                                        <p:tgtEl>
                                          <p:spTgt spid="606228"/>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22" presetClass="entr" presetSubtype="2" repeatCount="3000" fill="hold" grpId="0" nodeType="afterEffect">
                                  <p:stCondLst>
                                    <p:cond delay="0"/>
                                  </p:stCondLst>
                                  <p:childTnLst>
                                    <p:set>
                                      <p:cBhvr>
                                        <p:cTn id="9" dur="1" fill="hold">
                                          <p:stCondLst>
                                            <p:cond delay="0"/>
                                          </p:stCondLst>
                                        </p:cTn>
                                        <p:tgtEl>
                                          <p:spTgt spid="606235"/>
                                        </p:tgtEl>
                                        <p:attrNameLst>
                                          <p:attrName>style.visibility</p:attrName>
                                        </p:attrNameLst>
                                      </p:cBhvr>
                                      <p:to>
                                        <p:strVal val="visible"/>
                                      </p:to>
                                    </p:set>
                                    <p:animEffect transition="in" filter="wipe(right)">
                                      <p:cBhvr>
                                        <p:cTn id="10" dur="1000"/>
                                        <p:tgtEl>
                                          <p:spTgt spid="6062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623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513" name="Rectangle 2"/>
          <p:cNvSpPr>
            <a:spLocks noGrp="1" noChangeArrowheads="1"/>
          </p:cNvSpPr>
          <p:nvPr>
            <p:ph type="title"/>
          </p:nvPr>
        </p:nvSpPr>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发言人交换</a:t>
            </a:r>
            <a:r>
              <a:rPr lang="zh-CN" altLang="en-US" smtClean="0">
                <a:solidFill>
                  <a:srgbClr val="FF0000"/>
                </a:solidFill>
                <a:ea typeface="黑体" panose="02010609060101010101" pitchFamily="49" charset="-122"/>
              </a:rPr>
              <a:t>路径向量 </a:t>
            </a:r>
            <a:endParaRPr lang="zh-CN" altLang="en-US" smtClean="0">
              <a:ea typeface="黑体" panose="02010609060101010101" pitchFamily="49" charset="-122"/>
            </a:endParaRPr>
          </a:p>
        </p:txBody>
      </p:sp>
      <p:sp>
        <p:nvSpPr>
          <p:cNvPr id="1088514" name="Line 3"/>
          <p:cNvSpPr>
            <a:spLocks noChangeShapeType="1"/>
          </p:cNvSpPr>
          <p:nvPr/>
        </p:nvSpPr>
        <p:spPr bwMode="auto">
          <a:xfrm flipV="1">
            <a:off x="2019300" y="3049588"/>
            <a:ext cx="1327150" cy="5349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15" name="Line 4"/>
          <p:cNvSpPr>
            <a:spLocks noChangeShapeType="1"/>
          </p:cNvSpPr>
          <p:nvPr/>
        </p:nvSpPr>
        <p:spPr bwMode="auto">
          <a:xfrm>
            <a:off x="2019300" y="4122738"/>
            <a:ext cx="1239838" cy="7651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16" name="Line 5"/>
          <p:cNvSpPr>
            <a:spLocks noChangeShapeType="1"/>
          </p:cNvSpPr>
          <p:nvPr/>
        </p:nvSpPr>
        <p:spPr bwMode="auto">
          <a:xfrm flipV="1">
            <a:off x="5203825" y="2514600"/>
            <a:ext cx="1150938" cy="3825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17" name="Line 6"/>
          <p:cNvSpPr>
            <a:spLocks noChangeShapeType="1"/>
          </p:cNvSpPr>
          <p:nvPr/>
        </p:nvSpPr>
        <p:spPr bwMode="auto">
          <a:xfrm>
            <a:off x="5116513" y="3049588"/>
            <a:ext cx="1150937" cy="4603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18" name="Line 7"/>
          <p:cNvSpPr>
            <a:spLocks noChangeShapeType="1"/>
          </p:cNvSpPr>
          <p:nvPr/>
        </p:nvSpPr>
        <p:spPr bwMode="auto">
          <a:xfrm flipV="1">
            <a:off x="5203825" y="4427538"/>
            <a:ext cx="1150938" cy="3825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19" name="Line 8"/>
          <p:cNvSpPr>
            <a:spLocks noChangeShapeType="1"/>
          </p:cNvSpPr>
          <p:nvPr/>
        </p:nvSpPr>
        <p:spPr bwMode="auto">
          <a:xfrm>
            <a:off x="5381625" y="4962525"/>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20" name="Line 9"/>
          <p:cNvSpPr>
            <a:spLocks noChangeShapeType="1"/>
          </p:cNvSpPr>
          <p:nvPr/>
        </p:nvSpPr>
        <p:spPr bwMode="auto">
          <a:xfrm>
            <a:off x="5203825" y="5118100"/>
            <a:ext cx="1150938" cy="304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21" name="Oval 10"/>
          <p:cNvSpPr>
            <a:spLocks noChangeArrowheads="1"/>
          </p:cNvSpPr>
          <p:nvPr/>
        </p:nvSpPr>
        <p:spPr bwMode="auto">
          <a:xfrm>
            <a:off x="2725738" y="2598738"/>
            <a:ext cx="2833687" cy="688975"/>
          </a:xfrm>
          <a:prstGeom prst="ellipse">
            <a:avLst/>
          </a:prstGeom>
          <a:solidFill>
            <a:srgbClr val="66FFFF"/>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8522" name="Oval 11"/>
          <p:cNvSpPr>
            <a:spLocks noChangeArrowheads="1"/>
          </p:cNvSpPr>
          <p:nvPr/>
        </p:nvSpPr>
        <p:spPr bwMode="auto">
          <a:xfrm>
            <a:off x="2725738" y="4575175"/>
            <a:ext cx="2833687" cy="688975"/>
          </a:xfrm>
          <a:prstGeom prst="ellipse">
            <a:avLst/>
          </a:prstGeom>
          <a:solidFill>
            <a:srgbClr val="66FFFF"/>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8523" name="Oval 12"/>
          <p:cNvSpPr>
            <a:spLocks noChangeArrowheads="1"/>
          </p:cNvSpPr>
          <p:nvPr/>
        </p:nvSpPr>
        <p:spPr bwMode="auto">
          <a:xfrm>
            <a:off x="247650" y="3357563"/>
            <a:ext cx="2565400" cy="1147762"/>
          </a:xfrm>
          <a:prstGeom prst="ellipse">
            <a:avLst/>
          </a:prstGeom>
          <a:solidFill>
            <a:srgbClr val="FF99FF"/>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grpSp>
        <p:nvGrpSpPr>
          <p:cNvPr id="1088524" name="Group 13"/>
          <p:cNvGrpSpPr>
            <a:grpSpLocks/>
          </p:cNvGrpSpPr>
          <p:nvPr/>
        </p:nvGrpSpPr>
        <p:grpSpPr bwMode="auto">
          <a:xfrm>
            <a:off x="5913438" y="2132013"/>
            <a:ext cx="3563937" cy="1784350"/>
            <a:chOff x="3438" y="1706"/>
            <a:chExt cx="2073" cy="1124"/>
          </a:xfrm>
        </p:grpSpPr>
        <p:sp>
          <p:nvSpPr>
            <p:cNvPr id="1088525" name="Oval 14"/>
            <p:cNvSpPr>
              <a:spLocks noChangeArrowheads="1"/>
            </p:cNvSpPr>
            <p:nvPr/>
          </p:nvSpPr>
          <p:spPr bwMode="auto">
            <a:xfrm>
              <a:off x="3452" y="1706"/>
              <a:ext cx="2059" cy="531"/>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baseline="-25000">
                <a:solidFill>
                  <a:srgbClr val="0000CC"/>
                </a:solidFill>
                <a:ea typeface="黑体" panose="02010609060101010101" pitchFamily="49" charset="-122"/>
              </a:endParaRPr>
            </a:p>
          </p:txBody>
        </p:sp>
        <p:sp>
          <p:nvSpPr>
            <p:cNvPr id="1088526" name="Oval 15"/>
            <p:cNvSpPr>
              <a:spLocks noChangeArrowheads="1"/>
            </p:cNvSpPr>
            <p:nvPr/>
          </p:nvSpPr>
          <p:spPr bwMode="auto">
            <a:xfrm>
              <a:off x="3438" y="2301"/>
              <a:ext cx="2059" cy="529"/>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baseline="-25000">
                <a:solidFill>
                  <a:srgbClr val="0000CC"/>
                </a:solidFill>
                <a:ea typeface="黑体" panose="02010609060101010101" pitchFamily="49" charset="-122"/>
              </a:endParaRPr>
            </a:p>
          </p:txBody>
        </p:sp>
      </p:grpSp>
      <p:sp>
        <p:nvSpPr>
          <p:cNvPr id="1088527" name="Oval 16"/>
          <p:cNvSpPr>
            <a:spLocks noChangeArrowheads="1"/>
          </p:cNvSpPr>
          <p:nvPr/>
        </p:nvSpPr>
        <p:spPr bwMode="auto">
          <a:xfrm>
            <a:off x="5913438" y="4021138"/>
            <a:ext cx="3540125" cy="839787"/>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8528" name="Oval 17"/>
          <p:cNvSpPr>
            <a:spLocks noChangeArrowheads="1"/>
          </p:cNvSpPr>
          <p:nvPr/>
        </p:nvSpPr>
        <p:spPr bwMode="auto">
          <a:xfrm>
            <a:off x="5913438" y="4962525"/>
            <a:ext cx="3540125" cy="842963"/>
          </a:xfrm>
          <a:prstGeom prst="ellipse">
            <a:avLst/>
          </a:prstGeom>
          <a:solidFill>
            <a:srgbClr val="FFFF66"/>
          </a:solidFill>
          <a:ln w="9525">
            <a:solidFill>
              <a:schemeClr val="tx1"/>
            </a:solidFill>
            <a:round/>
            <a:headEnd/>
            <a:tailEnd/>
          </a:ln>
          <a:effectLst>
            <a:outerShdw dist="35921"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088529" name="Text Box 18"/>
          <p:cNvSpPr txBox="1">
            <a:spLocks noChangeArrowheads="1"/>
          </p:cNvSpPr>
          <p:nvPr/>
        </p:nvSpPr>
        <p:spPr bwMode="auto">
          <a:xfrm>
            <a:off x="895350" y="3573463"/>
            <a:ext cx="11541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主干网</a:t>
            </a:r>
          </a:p>
          <a:p>
            <a:pPr eaLnBrk="0" hangingPunct="0"/>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a:t>
            </a:r>
          </a:p>
        </p:txBody>
      </p:sp>
      <p:sp>
        <p:nvSpPr>
          <p:cNvPr id="1088530" name="Text Box 19"/>
          <p:cNvSpPr txBox="1">
            <a:spLocks noChangeArrowheads="1"/>
          </p:cNvSpPr>
          <p:nvPr/>
        </p:nvSpPr>
        <p:spPr bwMode="auto">
          <a:xfrm>
            <a:off x="3536950" y="2592388"/>
            <a:ext cx="12207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地区 </a:t>
            </a:r>
            <a:r>
              <a:rPr lang="en-US" altLang="zh-CN" sz="2000" b="1">
                <a:solidFill>
                  <a:srgbClr val="0000CC"/>
                </a:solidFill>
                <a:ea typeface="黑体" panose="02010609060101010101" pitchFamily="49" charset="-122"/>
              </a:rPr>
              <a:t>ISP</a:t>
            </a:r>
          </a:p>
          <a:p>
            <a:pPr algn="ctr" eaLnBrk="0" hangingPunct="0"/>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2</a:t>
            </a:r>
            <a:r>
              <a:rPr lang="zh-CN" altLang="en-US" sz="2000" b="1">
                <a:solidFill>
                  <a:srgbClr val="0000CC"/>
                </a:solidFill>
                <a:ea typeface="黑体" panose="02010609060101010101" pitchFamily="49" charset="-122"/>
              </a:rPr>
              <a:t>）</a:t>
            </a:r>
          </a:p>
        </p:txBody>
      </p:sp>
      <p:sp>
        <p:nvSpPr>
          <p:cNvPr id="1088531" name="Text Box 20"/>
          <p:cNvSpPr txBox="1">
            <a:spLocks noChangeArrowheads="1"/>
          </p:cNvSpPr>
          <p:nvPr/>
        </p:nvSpPr>
        <p:spPr bwMode="auto">
          <a:xfrm>
            <a:off x="3536950" y="4568825"/>
            <a:ext cx="12207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地区 </a:t>
            </a:r>
            <a:r>
              <a:rPr lang="en-US" altLang="zh-CN" sz="2000" b="1">
                <a:solidFill>
                  <a:srgbClr val="0000CC"/>
                </a:solidFill>
                <a:ea typeface="黑体" panose="02010609060101010101" pitchFamily="49" charset="-122"/>
              </a:rPr>
              <a:t>ISP</a:t>
            </a:r>
          </a:p>
          <a:p>
            <a:pPr algn="ctr" eaLnBrk="0" hangingPunct="0"/>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3</a:t>
            </a:r>
            <a:r>
              <a:rPr lang="zh-CN" altLang="en-US" sz="2000" b="1">
                <a:solidFill>
                  <a:srgbClr val="0000CC"/>
                </a:solidFill>
                <a:ea typeface="黑体" panose="02010609060101010101" pitchFamily="49" charset="-122"/>
              </a:rPr>
              <a:t>）</a:t>
            </a:r>
          </a:p>
        </p:txBody>
      </p:sp>
      <p:sp>
        <p:nvSpPr>
          <p:cNvPr id="1088532" name="Text Box 21"/>
          <p:cNvSpPr txBox="1">
            <a:spLocks noChangeArrowheads="1"/>
          </p:cNvSpPr>
          <p:nvPr/>
        </p:nvSpPr>
        <p:spPr bwMode="auto">
          <a:xfrm>
            <a:off x="6632575" y="2185988"/>
            <a:ext cx="2152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4</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2</a:t>
            </a:r>
            <a:endParaRPr lang="en-US" altLang="zh-CN" sz="2000" b="1">
              <a:solidFill>
                <a:srgbClr val="0000CC"/>
              </a:solidFill>
              <a:ea typeface="黑体" panose="02010609060101010101" pitchFamily="49" charset="-122"/>
            </a:endParaRPr>
          </a:p>
        </p:txBody>
      </p:sp>
      <p:sp>
        <p:nvSpPr>
          <p:cNvPr id="1088533" name="Text Box 22"/>
          <p:cNvSpPr txBox="1">
            <a:spLocks noChangeArrowheads="1"/>
          </p:cNvSpPr>
          <p:nvPr/>
        </p:nvSpPr>
        <p:spPr bwMode="auto">
          <a:xfrm>
            <a:off x="6607175" y="3144838"/>
            <a:ext cx="2152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5</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3</a:t>
            </a:r>
            <a:r>
              <a:rPr lang="zh-CN" altLang="en-US" sz="2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4</a:t>
            </a:r>
            <a:endParaRPr lang="en-US" altLang="zh-CN" sz="2000" b="1">
              <a:solidFill>
                <a:srgbClr val="0000CC"/>
              </a:solidFill>
              <a:ea typeface="黑体" panose="02010609060101010101" pitchFamily="49" charset="-122"/>
            </a:endParaRPr>
          </a:p>
        </p:txBody>
      </p:sp>
      <p:grpSp>
        <p:nvGrpSpPr>
          <p:cNvPr id="607255" name="Group 23"/>
          <p:cNvGrpSpPr>
            <a:grpSpLocks/>
          </p:cNvGrpSpPr>
          <p:nvPr/>
        </p:nvGrpSpPr>
        <p:grpSpPr bwMode="auto">
          <a:xfrm>
            <a:off x="6618288" y="4070350"/>
            <a:ext cx="2151062" cy="1689100"/>
            <a:chOff x="3848" y="2927"/>
            <a:chExt cx="1251" cy="1064"/>
          </a:xfrm>
        </p:grpSpPr>
        <p:sp>
          <p:nvSpPr>
            <p:cNvPr id="1088535" name="Text Box 24"/>
            <p:cNvSpPr txBox="1">
              <a:spLocks noChangeArrowheads="1"/>
            </p:cNvSpPr>
            <p:nvPr/>
          </p:nvSpPr>
          <p:spPr bwMode="auto">
            <a:xfrm>
              <a:off x="3848" y="2927"/>
              <a:ext cx="124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6</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5</a:t>
              </a:r>
              <a:endParaRPr lang="en-US" altLang="zh-CN" sz="2000" b="1">
                <a:solidFill>
                  <a:srgbClr val="0000CC"/>
                </a:solidFill>
                <a:ea typeface="黑体" panose="02010609060101010101" pitchFamily="49" charset="-122"/>
              </a:endParaRPr>
            </a:p>
          </p:txBody>
        </p:sp>
        <p:sp>
          <p:nvSpPr>
            <p:cNvPr id="1088536" name="Text Box 25"/>
            <p:cNvSpPr txBox="1">
              <a:spLocks noChangeArrowheads="1"/>
            </p:cNvSpPr>
            <p:nvPr/>
          </p:nvSpPr>
          <p:spPr bwMode="auto">
            <a:xfrm>
              <a:off x="3859" y="3545"/>
              <a:ext cx="1240"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CC"/>
                  </a:solidFill>
                  <a:ea typeface="黑体" panose="02010609060101010101" pitchFamily="49" charset="-122"/>
                </a:rPr>
                <a:t>本地 </a:t>
              </a:r>
              <a:r>
                <a:rPr lang="en-US" altLang="zh-CN" sz="2000" b="1">
                  <a:solidFill>
                    <a:srgbClr val="0000CC"/>
                  </a:solidFill>
                  <a:ea typeface="黑体" panose="02010609060101010101" pitchFamily="49" charset="-122"/>
                </a:rPr>
                <a:t>ISP</a:t>
              </a:r>
              <a:r>
                <a:rPr lang="zh-CN" altLang="en-US" sz="2000" b="1">
                  <a:solidFill>
                    <a:srgbClr val="0000CC"/>
                  </a:solidFill>
                  <a:ea typeface="黑体" panose="02010609060101010101" pitchFamily="49" charset="-122"/>
                </a:rPr>
                <a:t>（</a:t>
              </a:r>
              <a:r>
                <a:rPr lang="en-US" altLang="zh-CN" sz="2000" b="1">
                  <a:solidFill>
                    <a:srgbClr val="0000CC"/>
                  </a:solidFill>
                  <a:ea typeface="黑体" panose="02010609060101010101" pitchFamily="49" charset="-122"/>
                </a:rPr>
                <a:t>AS</a:t>
              </a:r>
              <a:r>
                <a:rPr lang="en-US" altLang="zh-CN" sz="2000" b="1" baseline="-25000">
                  <a:solidFill>
                    <a:srgbClr val="0000CC"/>
                  </a:solidFill>
                  <a:ea typeface="黑体" panose="02010609060101010101" pitchFamily="49" charset="-122"/>
                </a:rPr>
                <a:t>7</a:t>
              </a:r>
              <a:r>
                <a:rPr lang="zh-CN" altLang="en-US" sz="2000" b="1">
                  <a:solidFill>
                    <a:srgbClr val="0000CC"/>
                  </a:solidFill>
                  <a:ea typeface="黑体" panose="02010609060101010101" pitchFamily="49" charset="-122"/>
                </a:rPr>
                <a:t>）</a:t>
              </a:r>
            </a:p>
            <a:p>
              <a:pPr algn="ctr" eaLnBrk="0" hangingPunct="0"/>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6</a:t>
              </a:r>
              <a:r>
                <a:rPr lang="zh-CN" altLang="en-US" sz="2000" b="1">
                  <a:solidFill>
                    <a:srgbClr val="0000CC"/>
                  </a:solidFill>
                  <a:ea typeface="黑体" panose="02010609060101010101" pitchFamily="49" charset="-122"/>
                </a:rPr>
                <a:t>， </a:t>
              </a:r>
              <a:r>
                <a:rPr lang="en-US" altLang="zh-CN" sz="2000" b="1">
                  <a:solidFill>
                    <a:srgbClr val="0000CC"/>
                  </a:solidFill>
                  <a:ea typeface="黑体" panose="02010609060101010101" pitchFamily="49" charset="-122"/>
                </a:rPr>
                <a:t>N</a:t>
              </a:r>
              <a:r>
                <a:rPr lang="en-US" altLang="zh-CN" sz="2000" b="1" baseline="-25000">
                  <a:solidFill>
                    <a:srgbClr val="0000CC"/>
                  </a:solidFill>
                  <a:ea typeface="黑体" panose="02010609060101010101" pitchFamily="49" charset="-122"/>
                </a:rPr>
                <a:t>7</a:t>
              </a:r>
              <a:endParaRPr lang="en-US" altLang="zh-CN" sz="2000" b="1">
                <a:solidFill>
                  <a:srgbClr val="0000CC"/>
                </a:solidFill>
                <a:ea typeface="黑体" panose="02010609060101010101" pitchFamily="49" charset="-122"/>
              </a:endParaRPr>
            </a:p>
          </p:txBody>
        </p:sp>
      </p:grpSp>
      <p:sp>
        <p:nvSpPr>
          <p:cNvPr id="1088537" name="Text Box 26"/>
          <p:cNvSpPr txBox="1">
            <a:spLocks noChangeArrowheads="1"/>
          </p:cNvSpPr>
          <p:nvPr/>
        </p:nvSpPr>
        <p:spPr bwMode="auto">
          <a:xfrm>
            <a:off x="661988" y="1125538"/>
            <a:ext cx="8915400" cy="830262"/>
          </a:xfrm>
          <a:prstGeom prst="rect">
            <a:avLst/>
          </a:prstGeom>
          <a:solidFill>
            <a:srgbClr val="66FF66"/>
          </a:solidFill>
          <a:ln w="9525">
            <a:solidFill>
              <a:srgbClr val="333399"/>
            </a:solidFill>
            <a:miter lim="800000"/>
            <a:headEnd/>
            <a:tailEnd/>
          </a:ln>
        </p:spPr>
        <p:txBody>
          <a:bodyPr>
            <a:spAutoFit/>
          </a:bodyPr>
          <a:lstStyle/>
          <a:p>
            <a:pPr eaLnBrk="0" hangingPunct="0"/>
            <a:r>
              <a:rPr lang="zh-CN" altLang="en-US" sz="2400" b="1">
                <a:solidFill>
                  <a:srgbClr val="000066"/>
                </a:solidFill>
                <a:ea typeface="黑体" panose="02010609060101010101" pitchFamily="49" charset="-122"/>
              </a:rPr>
              <a:t>主干网还可发出通知：“要到达网络 </a:t>
            </a:r>
            <a:r>
              <a:rPr lang="en-US" altLang="zh-CN" sz="2400" b="1">
                <a:solidFill>
                  <a:srgbClr val="000066"/>
                </a:solidFill>
                <a:ea typeface="黑体" panose="02010609060101010101" pitchFamily="49" charset="-122"/>
              </a:rPr>
              <a:t>N5</a:t>
            </a:r>
            <a:r>
              <a:rPr lang="zh-CN" altLang="en-US" sz="2400" b="1">
                <a:solidFill>
                  <a:srgbClr val="000066"/>
                </a:solidFill>
                <a:ea typeface="黑体" panose="02010609060101010101" pitchFamily="49" charset="-122"/>
              </a:rPr>
              <a:t>、</a:t>
            </a:r>
            <a:r>
              <a:rPr lang="en-US" altLang="zh-CN" sz="2400" b="1">
                <a:solidFill>
                  <a:srgbClr val="000066"/>
                </a:solidFill>
                <a:ea typeface="黑体" panose="02010609060101010101" pitchFamily="49" charset="-122"/>
              </a:rPr>
              <a:t>N6 </a:t>
            </a:r>
            <a:r>
              <a:rPr lang="zh-CN" altLang="en-US" sz="2400" b="1">
                <a:solidFill>
                  <a:srgbClr val="000066"/>
                </a:solidFill>
                <a:ea typeface="黑体" panose="02010609060101010101" pitchFamily="49" charset="-122"/>
              </a:rPr>
              <a:t>和 </a:t>
            </a:r>
            <a:r>
              <a:rPr lang="en-US" altLang="zh-CN" sz="2400" b="1">
                <a:solidFill>
                  <a:srgbClr val="000066"/>
                </a:solidFill>
                <a:ea typeface="黑体" panose="02010609060101010101" pitchFamily="49" charset="-122"/>
              </a:rPr>
              <a:t>N7 </a:t>
            </a:r>
            <a:r>
              <a:rPr lang="zh-CN" altLang="en-US" sz="2400" b="1">
                <a:solidFill>
                  <a:srgbClr val="000066"/>
                </a:solidFill>
                <a:ea typeface="黑体" panose="02010609060101010101" pitchFamily="49" charset="-122"/>
              </a:rPr>
              <a:t>可沿路径（</a:t>
            </a:r>
            <a:r>
              <a:rPr lang="en-US" altLang="zh-CN" sz="2400" b="1">
                <a:solidFill>
                  <a:srgbClr val="000066"/>
                </a:solidFill>
                <a:ea typeface="黑体" panose="02010609060101010101" pitchFamily="49" charset="-122"/>
              </a:rPr>
              <a:t>AS1, AS3</a:t>
            </a:r>
            <a:r>
              <a:rPr lang="zh-CN" altLang="en-US" sz="2400" b="1">
                <a:solidFill>
                  <a:srgbClr val="000066"/>
                </a:solidFill>
                <a:ea typeface="黑体" panose="02010609060101010101" pitchFamily="49" charset="-122"/>
              </a:rPr>
              <a:t>）。” </a:t>
            </a:r>
          </a:p>
        </p:txBody>
      </p:sp>
      <p:grpSp>
        <p:nvGrpSpPr>
          <p:cNvPr id="607260" name="Group 28"/>
          <p:cNvGrpSpPr>
            <a:grpSpLocks/>
          </p:cNvGrpSpPr>
          <p:nvPr/>
        </p:nvGrpSpPr>
        <p:grpSpPr bwMode="auto">
          <a:xfrm>
            <a:off x="1911350" y="3068638"/>
            <a:ext cx="1716088" cy="1966912"/>
            <a:chOff x="1111" y="2296"/>
            <a:chExt cx="998" cy="1239"/>
          </a:xfrm>
        </p:grpSpPr>
        <p:sp>
          <p:nvSpPr>
            <p:cNvPr id="1088539" name="Line 29"/>
            <p:cNvSpPr>
              <a:spLocks noChangeShapeType="1"/>
            </p:cNvSpPr>
            <p:nvPr/>
          </p:nvSpPr>
          <p:spPr bwMode="auto">
            <a:xfrm rot="10800000" flipH="1">
              <a:off x="1156" y="2296"/>
              <a:ext cx="953" cy="408"/>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88540" name="Line 30"/>
            <p:cNvSpPr>
              <a:spLocks noChangeShapeType="1"/>
            </p:cNvSpPr>
            <p:nvPr/>
          </p:nvSpPr>
          <p:spPr bwMode="auto">
            <a:xfrm rot="10800000" flipH="1" flipV="1">
              <a:off x="1111" y="2976"/>
              <a:ext cx="843" cy="559"/>
            </a:xfrm>
            <a:prstGeom prst="line">
              <a:avLst/>
            </a:prstGeom>
            <a:noFill/>
            <a:ln w="7620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08854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45F65E-F59E-49BE-8A26-9D107D9BE49B}" type="slidenum">
              <a:rPr lang="zh-CN" altLang="en-US" smtClean="0"/>
              <a:pPr eaLnBrk="1" hangingPunct="1"/>
              <a:t>10</a:t>
            </a:fld>
            <a:endParaRPr lang="en-US" altLang="zh-CN" smtClean="0"/>
          </a:p>
        </p:txBody>
      </p:sp>
      <p:sp>
        <p:nvSpPr>
          <p:cNvPr id="108854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607255"/>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000"/>
                            </p:stCondLst>
                            <p:childTnLst>
                              <p:par>
                                <p:cTn id="8" presetID="22" presetClass="entr" presetSubtype="8" fill="hold" nodeType="afterEffect">
                                  <p:stCondLst>
                                    <p:cond delay="0"/>
                                  </p:stCondLst>
                                  <p:childTnLst>
                                    <p:set>
                                      <p:cBhvr>
                                        <p:cTn id="9" dur="1" fill="hold">
                                          <p:stCondLst>
                                            <p:cond delay="0"/>
                                          </p:stCondLst>
                                        </p:cTn>
                                        <p:tgtEl>
                                          <p:spTgt spid="607260"/>
                                        </p:tgtEl>
                                        <p:attrNameLst>
                                          <p:attrName>style.visibility</p:attrName>
                                        </p:attrNameLst>
                                      </p:cBhvr>
                                      <p:to>
                                        <p:strVal val="visible"/>
                                      </p:to>
                                    </p:set>
                                    <p:animEffect transition="in" filter="wipe(left)">
                                      <p:cBhvr>
                                        <p:cTn id="10" dur="1000"/>
                                        <p:tgtEl>
                                          <p:spTgt spid="607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056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协议的特点</a:t>
            </a:r>
          </a:p>
        </p:txBody>
      </p:sp>
      <p:sp>
        <p:nvSpPr>
          <p:cNvPr id="608259" name="Rectangle 3"/>
          <p:cNvSpPr>
            <a:spLocks noGrp="1" noChangeArrowheads="1"/>
          </p:cNvSpPr>
          <p:nvPr>
            <p:ph idx="1"/>
          </p:nvPr>
        </p:nvSpPr>
        <p:spPr>
          <a:xfrm>
            <a:off x="495300" y="1196975"/>
            <a:ext cx="9066213" cy="4933950"/>
          </a:xfrm>
        </p:spPr>
        <p:txBody>
          <a:bodyPr/>
          <a:lstStyle/>
          <a:p>
            <a:pPr>
              <a:spcBef>
                <a:spcPts val="1200"/>
              </a:spcBef>
            </a:pPr>
            <a:r>
              <a:rPr lang="en-US" altLang="zh-CN" smtClean="0">
                <a:ea typeface="黑体" panose="02010609060101010101" pitchFamily="49" charset="-122"/>
              </a:rPr>
              <a:t>BGP </a:t>
            </a:r>
            <a:r>
              <a:rPr lang="zh-CN" altLang="en-US" smtClean="0">
                <a:ea typeface="黑体" panose="02010609060101010101" pitchFamily="49" charset="-122"/>
              </a:rPr>
              <a:t>协议交换路由信息的结点数量级是</a:t>
            </a:r>
            <a:r>
              <a:rPr lang="zh-CN" altLang="en-US" smtClean="0">
                <a:solidFill>
                  <a:srgbClr val="FF0000"/>
                </a:solidFill>
                <a:ea typeface="黑体" panose="02010609060101010101" pitchFamily="49" charset="-122"/>
              </a:rPr>
              <a:t>自治系统数的量级，</a:t>
            </a:r>
            <a:r>
              <a:rPr lang="zh-CN" altLang="en-US" smtClean="0">
                <a:ea typeface="黑体" panose="02010609060101010101" pitchFamily="49" charset="-122"/>
              </a:rPr>
              <a:t>这要比这些自治系统中的网络数少很多。</a:t>
            </a:r>
          </a:p>
          <a:p>
            <a:pPr>
              <a:spcBef>
                <a:spcPts val="1200"/>
              </a:spcBef>
            </a:pPr>
            <a:r>
              <a:rPr lang="zh-CN" altLang="en-US" smtClean="0">
                <a:ea typeface="黑体" panose="02010609060101010101" pitchFamily="49" charset="-122"/>
              </a:rPr>
              <a:t>每一个自治系统中 </a:t>
            </a:r>
            <a:r>
              <a:rPr lang="en-US" altLang="zh-CN" smtClean="0">
                <a:ea typeface="黑体" panose="02010609060101010101" pitchFamily="49" charset="-122"/>
              </a:rPr>
              <a:t>BGP </a:t>
            </a:r>
            <a:r>
              <a:rPr lang="zh-CN" altLang="en-US" smtClean="0">
                <a:ea typeface="黑体" panose="02010609060101010101" pitchFamily="49" charset="-122"/>
              </a:rPr>
              <a:t>发言人（或边界路由器）的数目是很少的。这样就使得自治系统之间的路由选择不致过分复杂。  </a:t>
            </a:r>
          </a:p>
        </p:txBody>
      </p:sp>
      <p:sp>
        <p:nvSpPr>
          <p:cNvPr id="10905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3E89CC0-AEE7-447E-ADBC-B3AD997C5B27}" type="slidenum">
              <a:rPr lang="zh-CN" altLang="en-US" smtClean="0"/>
              <a:pPr eaLnBrk="1" hangingPunct="1"/>
              <a:t>11</a:t>
            </a:fld>
            <a:endParaRPr lang="en-US" altLang="zh-CN" smtClean="0"/>
          </a:p>
        </p:txBody>
      </p:sp>
      <p:sp>
        <p:nvSpPr>
          <p:cNvPr id="10905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82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60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协议的特点</a:t>
            </a:r>
          </a:p>
        </p:txBody>
      </p:sp>
      <p:sp>
        <p:nvSpPr>
          <p:cNvPr id="609283" name="Rectangle 3"/>
          <p:cNvSpPr>
            <a:spLocks noGrp="1" noChangeArrowheads="1"/>
          </p:cNvSpPr>
          <p:nvPr>
            <p:ph idx="1"/>
          </p:nvPr>
        </p:nvSpPr>
        <p:spPr>
          <a:xfrm>
            <a:off x="495300" y="1196975"/>
            <a:ext cx="9066213" cy="4933950"/>
          </a:xfrm>
        </p:spPr>
        <p:txBody>
          <a:bodyPr/>
          <a:lstStyle/>
          <a:p>
            <a:pPr>
              <a:spcBef>
                <a:spcPts val="1200"/>
              </a:spcBef>
            </a:pPr>
            <a:r>
              <a:rPr lang="en-US" altLang="zh-CN" dirty="0" smtClean="0">
                <a:solidFill>
                  <a:srgbClr val="FF0000"/>
                </a:solidFill>
                <a:ea typeface="黑体" panose="02010609060101010101" pitchFamily="49" charset="-122"/>
              </a:rPr>
              <a:t>BGP </a:t>
            </a:r>
            <a:r>
              <a:rPr lang="zh-CN" altLang="en-US" dirty="0" smtClean="0">
                <a:solidFill>
                  <a:srgbClr val="FF0000"/>
                </a:solidFill>
                <a:ea typeface="黑体" panose="02010609060101010101" pitchFamily="49" charset="-122"/>
              </a:rPr>
              <a:t>支持 </a:t>
            </a:r>
            <a:r>
              <a:rPr lang="en-US" altLang="zh-CN" dirty="0" smtClean="0">
                <a:solidFill>
                  <a:srgbClr val="FF0000"/>
                </a:solidFill>
                <a:ea typeface="黑体" panose="02010609060101010101" pitchFamily="49" charset="-122"/>
              </a:rPr>
              <a:t>CIDR</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因此 </a:t>
            </a:r>
            <a:r>
              <a:rPr lang="en-US" altLang="zh-CN" dirty="0" smtClean="0">
                <a:ea typeface="黑体" panose="02010609060101010101" pitchFamily="49" charset="-122"/>
              </a:rPr>
              <a:t>BGP </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路由表</a:t>
            </a:r>
            <a:r>
              <a:rPr lang="zh-CN" altLang="en-US" dirty="0" smtClean="0">
                <a:ea typeface="黑体" panose="02010609060101010101" pitchFamily="49" charset="-122"/>
              </a:rPr>
              <a:t>也就应当包括</a:t>
            </a:r>
            <a:r>
              <a:rPr lang="zh-CN" altLang="en-US" dirty="0" smtClean="0">
                <a:solidFill>
                  <a:srgbClr val="0000FF"/>
                </a:solidFill>
                <a:ea typeface="黑体" panose="02010609060101010101" pitchFamily="49" charset="-122"/>
              </a:rPr>
              <a:t>目的网络前缀、下一跳路由器</a:t>
            </a:r>
            <a:r>
              <a:rPr lang="zh-CN" altLang="en-US" dirty="0" smtClean="0">
                <a:ea typeface="黑体" panose="02010609060101010101" pitchFamily="49" charset="-122"/>
              </a:rPr>
              <a:t>，以及到达该目的网络所要</a:t>
            </a:r>
            <a:r>
              <a:rPr lang="zh-CN" altLang="en-US" dirty="0" smtClean="0">
                <a:solidFill>
                  <a:srgbClr val="0000FF"/>
                </a:solidFill>
                <a:ea typeface="黑体" panose="02010609060101010101" pitchFamily="49" charset="-122"/>
              </a:rPr>
              <a:t>经过的</a:t>
            </a:r>
            <a:r>
              <a:rPr lang="zh-CN" altLang="en-US" dirty="0" smtClean="0">
                <a:ea typeface="黑体" panose="02010609060101010101" pitchFamily="49" charset="-122"/>
              </a:rPr>
              <a:t>各个</a:t>
            </a:r>
            <a:r>
              <a:rPr lang="zh-CN" altLang="en-US" dirty="0" smtClean="0">
                <a:solidFill>
                  <a:srgbClr val="0000FF"/>
                </a:solidFill>
                <a:ea typeface="黑体" panose="02010609060101010101" pitchFamily="49" charset="-122"/>
              </a:rPr>
              <a:t>自治系统序列</a:t>
            </a:r>
            <a:r>
              <a:rPr lang="zh-CN" altLang="en-US" dirty="0" smtClean="0">
                <a:ea typeface="黑体" panose="02010609060101010101" pitchFamily="49" charset="-122"/>
              </a:rPr>
              <a:t>。</a:t>
            </a:r>
          </a:p>
          <a:p>
            <a:pPr>
              <a:spcBef>
                <a:spcPts val="1200"/>
              </a:spcBef>
            </a:pPr>
            <a:r>
              <a:rPr lang="zh-CN" altLang="en-US" dirty="0" smtClean="0">
                <a:ea typeface="黑体" panose="02010609060101010101" pitchFamily="49" charset="-122"/>
              </a:rPr>
              <a:t>在</a:t>
            </a:r>
            <a:r>
              <a:rPr lang="en-US" altLang="zh-CN" dirty="0" smtClean="0">
                <a:ea typeface="黑体" panose="02010609060101010101" pitchFamily="49" charset="-122"/>
              </a:rPr>
              <a:t>BGP </a:t>
            </a:r>
            <a:r>
              <a:rPr lang="zh-CN" altLang="en-US" dirty="0" smtClean="0">
                <a:solidFill>
                  <a:srgbClr val="0000FF"/>
                </a:solidFill>
                <a:ea typeface="黑体" panose="02010609060101010101" pitchFamily="49" charset="-122"/>
              </a:rPr>
              <a:t>刚刚运行</a:t>
            </a:r>
            <a:r>
              <a:rPr lang="zh-CN" altLang="en-US" dirty="0" smtClean="0">
                <a:ea typeface="黑体" panose="02010609060101010101" pitchFamily="49" charset="-122"/>
              </a:rPr>
              <a:t>时，</a:t>
            </a:r>
            <a:r>
              <a:rPr lang="en-US" altLang="zh-CN" dirty="0" smtClean="0">
                <a:ea typeface="黑体" panose="02010609060101010101" pitchFamily="49" charset="-122"/>
              </a:rPr>
              <a:t>BGP </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邻站是交换整个</a:t>
            </a:r>
            <a:r>
              <a:rPr lang="zh-CN" altLang="en-US" dirty="0" smtClean="0">
                <a:ea typeface="黑体" panose="02010609060101010101" pitchFamily="49" charset="-122"/>
              </a:rPr>
              <a:t>的 </a:t>
            </a:r>
            <a:r>
              <a:rPr lang="en-US" altLang="zh-CN" dirty="0" smtClean="0">
                <a:ea typeface="黑体" panose="02010609060101010101" pitchFamily="49" charset="-122"/>
              </a:rPr>
              <a:t>BGP </a:t>
            </a:r>
            <a:r>
              <a:rPr lang="zh-CN" altLang="en-US" dirty="0" smtClean="0">
                <a:solidFill>
                  <a:srgbClr val="0000FF"/>
                </a:solidFill>
                <a:ea typeface="黑体" panose="02010609060101010101" pitchFamily="49" charset="-122"/>
              </a:rPr>
              <a:t>路由表</a:t>
            </a:r>
            <a:r>
              <a:rPr lang="zh-CN" altLang="en-US" dirty="0" smtClean="0">
                <a:ea typeface="黑体" panose="02010609060101010101" pitchFamily="49" charset="-122"/>
              </a:rPr>
              <a:t>。但以后只需要在</a:t>
            </a:r>
            <a:r>
              <a:rPr lang="zh-CN" altLang="en-US" dirty="0" smtClean="0">
                <a:solidFill>
                  <a:srgbClr val="0000FF"/>
                </a:solidFill>
                <a:ea typeface="黑体" panose="02010609060101010101" pitchFamily="49" charset="-122"/>
              </a:rPr>
              <a:t>发生变化时</a:t>
            </a:r>
            <a:r>
              <a:rPr lang="zh-CN" altLang="en-US" dirty="0" smtClean="0">
                <a:solidFill>
                  <a:srgbClr val="FF0000"/>
                </a:solidFill>
                <a:ea typeface="黑体" panose="02010609060101010101" pitchFamily="49" charset="-122"/>
              </a:rPr>
              <a:t>更新有变化的部分。这样做对节省网络带宽和减少路由器的处理开销都有好处。</a:t>
            </a:r>
            <a:r>
              <a:rPr lang="zh-CN" altLang="en-US" dirty="0" smtClean="0">
                <a:ea typeface="黑体" panose="02010609060101010101" pitchFamily="49" charset="-122"/>
              </a:rPr>
              <a:t> </a:t>
            </a:r>
          </a:p>
        </p:txBody>
      </p:sp>
      <p:sp>
        <p:nvSpPr>
          <p:cNvPr id="1092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35BC7E-6C4C-4B35-9346-758B3CAC96BB}" type="slidenum">
              <a:rPr lang="zh-CN" altLang="en-US" smtClean="0"/>
              <a:pPr eaLnBrk="1" hangingPunct="1"/>
              <a:t>12</a:t>
            </a:fld>
            <a:endParaRPr lang="en-US" altLang="zh-CN" smtClean="0"/>
          </a:p>
        </p:txBody>
      </p:sp>
      <p:sp>
        <p:nvSpPr>
          <p:cNvPr id="1092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0928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4657"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BGP-4 </a:t>
            </a:r>
            <a:r>
              <a:rPr lang="zh-CN" altLang="en-US" smtClean="0">
                <a:ea typeface="黑体" panose="02010609060101010101" pitchFamily="49" charset="-122"/>
              </a:rPr>
              <a:t>共使用</a:t>
            </a:r>
            <a:r>
              <a:rPr lang="zh-CN" altLang="en-US" smtClean="0">
                <a:solidFill>
                  <a:srgbClr val="FF0000"/>
                </a:solidFill>
                <a:ea typeface="黑体" panose="02010609060101010101" pitchFamily="49" charset="-122"/>
              </a:rPr>
              <a:t>四种报文 </a:t>
            </a:r>
          </a:p>
        </p:txBody>
      </p:sp>
      <p:sp>
        <p:nvSpPr>
          <p:cNvPr id="1094658"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 </a:t>
            </a:r>
            <a:r>
              <a:rPr lang="zh-CN" altLang="en-US" smtClean="0">
                <a:solidFill>
                  <a:srgbClr val="FF0000"/>
                </a:solidFill>
                <a:ea typeface="黑体" panose="02010609060101010101" pitchFamily="49" charset="-122"/>
              </a:rPr>
              <a:t>打开 </a:t>
            </a:r>
            <a:r>
              <a:rPr lang="en-US" altLang="zh-CN" smtClean="0">
                <a:ea typeface="黑体" panose="02010609060101010101" pitchFamily="49" charset="-122"/>
              </a:rPr>
              <a:t>(OPEN) </a:t>
            </a:r>
            <a:r>
              <a:rPr lang="zh-CN" altLang="en-US" smtClean="0">
                <a:ea typeface="黑体" panose="02010609060101010101" pitchFamily="49" charset="-122"/>
              </a:rPr>
              <a:t>报文，用来与相邻的另一个</a:t>
            </a:r>
            <a:r>
              <a:rPr lang="en-US" altLang="zh-CN" smtClean="0">
                <a:ea typeface="黑体" panose="02010609060101010101" pitchFamily="49" charset="-122"/>
              </a:rPr>
              <a:t>BGP</a:t>
            </a:r>
            <a:r>
              <a:rPr lang="zh-CN" altLang="en-US" smtClean="0">
                <a:ea typeface="黑体" panose="02010609060101010101" pitchFamily="49" charset="-122"/>
              </a:rPr>
              <a:t>发言人建立关系。</a:t>
            </a:r>
          </a:p>
          <a:p>
            <a:r>
              <a:rPr lang="en-US" altLang="zh-CN" smtClean="0">
                <a:ea typeface="黑体" panose="02010609060101010101" pitchFamily="49" charset="-122"/>
              </a:rPr>
              <a:t>(2) </a:t>
            </a:r>
            <a:r>
              <a:rPr lang="zh-CN" altLang="en-US" smtClean="0">
                <a:solidFill>
                  <a:srgbClr val="FF0000"/>
                </a:solidFill>
                <a:ea typeface="黑体" panose="02010609060101010101" pitchFamily="49" charset="-122"/>
              </a:rPr>
              <a:t>更新</a:t>
            </a:r>
            <a:r>
              <a:rPr lang="zh-CN" altLang="en-US" smtClean="0">
                <a:ea typeface="黑体" panose="02010609060101010101" pitchFamily="49" charset="-122"/>
              </a:rPr>
              <a:t> </a:t>
            </a:r>
            <a:r>
              <a:rPr lang="en-US" altLang="zh-CN" smtClean="0">
                <a:ea typeface="黑体" panose="02010609060101010101" pitchFamily="49" charset="-122"/>
              </a:rPr>
              <a:t>(UPDATE) </a:t>
            </a:r>
            <a:r>
              <a:rPr lang="zh-CN" altLang="en-US" smtClean="0">
                <a:ea typeface="黑体" panose="02010609060101010101" pitchFamily="49" charset="-122"/>
              </a:rPr>
              <a:t>报文，用来发送某一路由的信息，以及列出要撤消的多条路由。</a:t>
            </a:r>
          </a:p>
          <a:p>
            <a:r>
              <a:rPr lang="en-US" altLang="zh-CN" smtClean="0">
                <a:ea typeface="黑体" panose="02010609060101010101" pitchFamily="49" charset="-122"/>
              </a:rPr>
              <a:t>(3) </a:t>
            </a:r>
            <a:r>
              <a:rPr lang="zh-CN" altLang="en-US" smtClean="0">
                <a:solidFill>
                  <a:srgbClr val="FF0000"/>
                </a:solidFill>
                <a:ea typeface="黑体" panose="02010609060101010101" pitchFamily="49" charset="-122"/>
              </a:rPr>
              <a:t>保活</a:t>
            </a:r>
            <a:r>
              <a:rPr lang="zh-CN" altLang="en-US" smtClean="0">
                <a:ea typeface="黑体" panose="02010609060101010101" pitchFamily="49" charset="-122"/>
              </a:rPr>
              <a:t> </a:t>
            </a:r>
            <a:r>
              <a:rPr lang="en-US" altLang="zh-CN" smtClean="0">
                <a:ea typeface="黑体" panose="02010609060101010101" pitchFamily="49" charset="-122"/>
              </a:rPr>
              <a:t>(KEEPALIVE) </a:t>
            </a:r>
            <a:r>
              <a:rPr lang="zh-CN" altLang="en-US" smtClean="0">
                <a:ea typeface="黑体" panose="02010609060101010101" pitchFamily="49" charset="-122"/>
              </a:rPr>
              <a:t>报文，用来确认打开报文和周期性地证实邻站关系。</a:t>
            </a:r>
          </a:p>
          <a:p>
            <a:r>
              <a:rPr lang="en-US" altLang="zh-CN" smtClean="0">
                <a:ea typeface="黑体" panose="02010609060101010101" pitchFamily="49" charset="-122"/>
              </a:rPr>
              <a:t>(4) </a:t>
            </a:r>
            <a:r>
              <a:rPr lang="zh-CN" altLang="en-US" smtClean="0">
                <a:solidFill>
                  <a:srgbClr val="FF0000"/>
                </a:solidFill>
                <a:ea typeface="黑体" panose="02010609060101010101" pitchFamily="49" charset="-122"/>
              </a:rPr>
              <a:t>通知</a:t>
            </a:r>
            <a:r>
              <a:rPr lang="zh-CN" altLang="en-US" smtClean="0">
                <a:ea typeface="黑体" panose="02010609060101010101" pitchFamily="49" charset="-122"/>
              </a:rPr>
              <a:t> </a:t>
            </a:r>
            <a:r>
              <a:rPr lang="en-US" altLang="zh-CN" smtClean="0">
                <a:ea typeface="黑体" panose="02010609060101010101" pitchFamily="49" charset="-122"/>
              </a:rPr>
              <a:t>(NOTIFICATION) </a:t>
            </a:r>
            <a:r>
              <a:rPr lang="zh-CN" altLang="en-US" smtClean="0">
                <a:ea typeface="黑体" panose="02010609060101010101" pitchFamily="49" charset="-122"/>
              </a:rPr>
              <a:t>报文，用来发送检测到的差错。</a:t>
            </a:r>
          </a:p>
        </p:txBody>
      </p:sp>
      <p:sp>
        <p:nvSpPr>
          <p:cNvPr id="1094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8811726-61F1-4AC8-B8A9-138EF3DDAFBB}" type="slidenum">
              <a:rPr lang="zh-CN" altLang="en-US" smtClean="0"/>
              <a:pPr eaLnBrk="1" hangingPunct="1"/>
              <a:t>13</a:t>
            </a:fld>
            <a:endParaRPr lang="en-US" altLang="zh-CN" smtClean="0"/>
          </a:p>
        </p:txBody>
      </p:sp>
      <p:sp>
        <p:nvSpPr>
          <p:cNvPr id="1094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6705" name="Rectangle 78"/>
          <p:cNvSpPr>
            <a:spLocks noGrp="1" noChangeArrowheads="1"/>
          </p:cNvSpPr>
          <p:nvPr>
            <p:ph type="title"/>
          </p:nvPr>
        </p:nvSpPr>
        <p:spPr/>
        <p:txBody>
          <a:bodyPr/>
          <a:lstStyle/>
          <a:p>
            <a:pPr algn="ctr"/>
            <a:r>
              <a:rPr lang="en-US" altLang="zh-CN" smtClean="0">
                <a:ea typeface="黑体" panose="02010609060101010101" pitchFamily="49" charset="-122"/>
              </a:rPr>
              <a:t>BGP </a:t>
            </a:r>
            <a:r>
              <a:rPr lang="zh-CN" altLang="en-US" smtClean="0">
                <a:ea typeface="黑体" panose="02010609060101010101" pitchFamily="49" charset="-122"/>
              </a:rPr>
              <a:t>报文具有</a:t>
            </a:r>
            <a:r>
              <a:rPr lang="zh-CN" altLang="en-US" smtClean="0">
                <a:solidFill>
                  <a:srgbClr val="FF0000"/>
                </a:solidFill>
                <a:ea typeface="黑体" panose="02010609060101010101" pitchFamily="49" charset="-122"/>
              </a:rPr>
              <a:t>通用首部</a:t>
            </a:r>
          </a:p>
        </p:txBody>
      </p:sp>
      <p:sp>
        <p:nvSpPr>
          <p:cNvPr id="1096706" name="Rectangle 41"/>
          <p:cNvSpPr>
            <a:spLocks noChangeArrowheads="1"/>
          </p:cNvSpPr>
          <p:nvPr/>
        </p:nvSpPr>
        <p:spPr bwMode="auto">
          <a:xfrm>
            <a:off x="3289300" y="2832100"/>
            <a:ext cx="2332038" cy="46513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07" name="Rectangle 42"/>
          <p:cNvSpPr>
            <a:spLocks noChangeArrowheads="1"/>
          </p:cNvSpPr>
          <p:nvPr/>
        </p:nvSpPr>
        <p:spPr bwMode="auto">
          <a:xfrm>
            <a:off x="3222625" y="2854325"/>
            <a:ext cx="23542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报文通用首部</a:t>
            </a:r>
          </a:p>
        </p:txBody>
      </p:sp>
      <p:sp>
        <p:nvSpPr>
          <p:cNvPr id="1096708" name="AutoShape 37"/>
          <p:cNvSpPr>
            <a:spLocks noChangeArrowheads="1"/>
          </p:cNvSpPr>
          <p:nvPr/>
        </p:nvSpPr>
        <p:spPr bwMode="auto">
          <a:xfrm rot="5400000">
            <a:off x="547688" y="4700588"/>
            <a:ext cx="295275" cy="631825"/>
          </a:xfrm>
          <a:prstGeom prst="downArrow">
            <a:avLst>
              <a:gd name="adj1" fmla="val 50000"/>
              <a:gd name="adj2" fmla="val 49374"/>
            </a:avLst>
          </a:prstGeom>
          <a:solidFill>
            <a:srgbClr val="C00000"/>
          </a:solidFill>
          <a:ln w="9525">
            <a:solidFill>
              <a:srgbClr val="C00000"/>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96709" name="Freeform 38"/>
          <p:cNvSpPr>
            <a:spLocks noChangeArrowheads="1"/>
          </p:cNvSpPr>
          <p:nvPr/>
        </p:nvSpPr>
        <p:spPr bwMode="auto">
          <a:xfrm>
            <a:off x="2278063" y="2216150"/>
            <a:ext cx="4606925" cy="588963"/>
          </a:xfrm>
          <a:custGeom>
            <a:avLst/>
            <a:gdLst>
              <a:gd name="T0" fmla="*/ 45 w 2313"/>
              <a:gd name="T1" fmla="*/ 0 h 272"/>
              <a:gd name="T2" fmla="*/ 2313 w 2313"/>
              <a:gd name="T3" fmla="*/ 0 h 272"/>
              <a:gd name="T4" fmla="*/ 1723 w 2313"/>
              <a:gd name="T5" fmla="*/ 272 h 272"/>
              <a:gd name="T6" fmla="*/ 499 w 2313"/>
              <a:gd name="T7" fmla="*/ 272 h 272"/>
              <a:gd name="T8" fmla="*/ 0 w 2313"/>
              <a:gd name="T9" fmla="*/ 0 h 272"/>
            </a:gdLst>
            <a:ahLst/>
            <a:cxnLst>
              <a:cxn ang="0">
                <a:pos x="T0" y="T1"/>
              </a:cxn>
              <a:cxn ang="0">
                <a:pos x="T2" y="T3"/>
              </a:cxn>
              <a:cxn ang="0">
                <a:pos x="T4" y="T5"/>
              </a:cxn>
              <a:cxn ang="0">
                <a:pos x="T6" y="T7"/>
              </a:cxn>
              <a:cxn ang="0">
                <a:pos x="T8" y="T9"/>
              </a:cxn>
            </a:cxnLst>
            <a:rect l="0" t="0" r="r" b="b"/>
            <a:pathLst>
              <a:path w="2313" h="272">
                <a:moveTo>
                  <a:pt x="45" y="0"/>
                </a:moveTo>
                <a:lnTo>
                  <a:pt x="2313" y="0"/>
                </a:lnTo>
                <a:lnTo>
                  <a:pt x="1723" y="272"/>
                </a:lnTo>
                <a:lnTo>
                  <a:pt x="499" y="272"/>
                </a:lnTo>
                <a:lnTo>
                  <a:pt x="0" y="0"/>
                </a:lnTo>
              </a:path>
            </a:pathLst>
          </a:custGeom>
          <a:gradFill rotWithShape="1">
            <a:gsLst>
              <a:gs pos="0">
                <a:srgbClr val="B2B26B"/>
              </a:gs>
              <a:gs pos="100000">
                <a:srgbClr val="FFFF66"/>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CC"/>
              </a:solidFill>
              <a:ea typeface="黑体" panose="02010609060101010101" pitchFamily="49" charset="-122"/>
            </a:endParaRPr>
          </a:p>
        </p:txBody>
      </p:sp>
      <p:sp>
        <p:nvSpPr>
          <p:cNvPr id="1096710" name="Rectangle 39"/>
          <p:cNvSpPr>
            <a:spLocks noChangeArrowheads="1"/>
          </p:cNvSpPr>
          <p:nvPr/>
        </p:nvSpPr>
        <p:spPr bwMode="auto">
          <a:xfrm>
            <a:off x="1430338" y="1341438"/>
            <a:ext cx="48656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字节               </a:t>
            </a:r>
            <a:r>
              <a:rPr lang="en-US" altLang="zh-CN" sz="2000" b="1">
                <a:solidFill>
                  <a:srgbClr val="0000CC"/>
                </a:solidFill>
                <a:ea typeface="黑体" panose="02010609060101010101" pitchFamily="49" charset="-122"/>
              </a:rPr>
              <a:t>16                       2             1</a:t>
            </a:r>
          </a:p>
        </p:txBody>
      </p:sp>
      <p:sp>
        <p:nvSpPr>
          <p:cNvPr id="1096711" name="Rectangle 40"/>
          <p:cNvSpPr>
            <a:spLocks noChangeArrowheads="1"/>
          </p:cNvSpPr>
          <p:nvPr/>
        </p:nvSpPr>
        <p:spPr bwMode="auto">
          <a:xfrm>
            <a:off x="3271838" y="2808288"/>
            <a:ext cx="6505575" cy="488950"/>
          </a:xfrm>
          <a:prstGeom prst="rect">
            <a:avLst/>
          </a:prstGeom>
          <a:noFill/>
          <a:ln w="9525">
            <a:solidFill>
              <a:schemeClr val="tx1"/>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12" name="Rectangle 43"/>
          <p:cNvSpPr>
            <a:spLocks noChangeArrowheads="1"/>
          </p:cNvSpPr>
          <p:nvPr/>
        </p:nvSpPr>
        <p:spPr bwMode="auto">
          <a:xfrm>
            <a:off x="6376988" y="2854325"/>
            <a:ext cx="2354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报文主体部分</a:t>
            </a:r>
          </a:p>
        </p:txBody>
      </p:sp>
      <p:sp>
        <p:nvSpPr>
          <p:cNvPr id="1096713" name="Line 44"/>
          <p:cNvSpPr>
            <a:spLocks noChangeShapeType="1"/>
          </p:cNvSpPr>
          <p:nvPr/>
        </p:nvSpPr>
        <p:spPr bwMode="auto">
          <a:xfrm>
            <a:off x="5621338" y="2805113"/>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14" name="Rectangle 45"/>
          <p:cNvSpPr>
            <a:spLocks noChangeArrowheads="1"/>
          </p:cNvSpPr>
          <p:nvPr/>
        </p:nvSpPr>
        <p:spPr bwMode="auto">
          <a:xfrm>
            <a:off x="2278063" y="1724025"/>
            <a:ext cx="4606925" cy="490538"/>
          </a:xfrm>
          <a:prstGeom prst="rect">
            <a:avLst/>
          </a:prstGeom>
          <a:solidFill>
            <a:srgbClr val="FFFF66"/>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15" name="Rectangle 46"/>
          <p:cNvSpPr>
            <a:spLocks noChangeArrowheads="1"/>
          </p:cNvSpPr>
          <p:nvPr/>
        </p:nvSpPr>
        <p:spPr bwMode="auto">
          <a:xfrm>
            <a:off x="6073775" y="1741488"/>
            <a:ext cx="768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类 型</a:t>
            </a:r>
          </a:p>
        </p:txBody>
      </p:sp>
      <p:sp>
        <p:nvSpPr>
          <p:cNvPr id="1096716" name="Rectangle 47"/>
          <p:cNvSpPr>
            <a:spLocks noChangeArrowheads="1"/>
          </p:cNvSpPr>
          <p:nvPr/>
        </p:nvSpPr>
        <p:spPr bwMode="auto">
          <a:xfrm>
            <a:off x="4897438" y="1741488"/>
            <a:ext cx="839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长  度</a:t>
            </a:r>
          </a:p>
        </p:txBody>
      </p:sp>
      <p:sp>
        <p:nvSpPr>
          <p:cNvPr id="1096717" name="Line 48"/>
          <p:cNvSpPr>
            <a:spLocks noChangeShapeType="1"/>
          </p:cNvSpPr>
          <p:nvPr/>
        </p:nvSpPr>
        <p:spPr bwMode="auto">
          <a:xfrm>
            <a:off x="6073775" y="172402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18" name="Line 49"/>
          <p:cNvSpPr>
            <a:spLocks noChangeShapeType="1"/>
          </p:cNvSpPr>
          <p:nvPr/>
        </p:nvSpPr>
        <p:spPr bwMode="auto">
          <a:xfrm>
            <a:off x="4625975" y="172402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19" name="Rectangle 50"/>
          <p:cNvSpPr>
            <a:spLocks noChangeArrowheads="1"/>
          </p:cNvSpPr>
          <p:nvPr/>
        </p:nvSpPr>
        <p:spPr bwMode="auto">
          <a:xfrm>
            <a:off x="2819400" y="1741488"/>
            <a:ext cx="1263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CC"/>
                </a:solidFill>
                <a:ea typeface="黑体" panose="02010609060101010101" pitchFamily="49" charset="-122"/>
              </a:rPr>
              <a:t>标        记</a:t>
            </a:r>
          </a:p>
        </p:txBody>
      </p:sp>
      <p:grpSp>
        <p:nvGrpSpPr>
          <p:cNvPr id="1096720" name="Group 51"/>
          <p:cNvGrpSpPr>
            <a:grpSpLocks/>
          </p:cNvGrpSpPr>
          <p:nvPr/>
        </p:nvGrpSpPr>
        <p:grpSpPr bwMode="auto">
          <a:xfrm rot="5400000">
            <a:off x="3302794" y="1675607"/>
            <a:ext cx="192087" cy="95250"/>
            <a:chOff x="1008" y="2046"/>
            <a:chExt cx="102" cy="60"/>
          </a:xfrm>
        </p:grpSpPr>
        <p:sp>
          <p:nvSpPr>
            <p:cNvPr id="1096721" name="Rectangle 52"/>
            <p:cNvSpPr>
              <a:spLocks noChangeArrowheads="1"/>
            </p:cNvSpPr>
            <p:nvPr/>
          </p:nvSpPr>
          <p:spPr bwMode="auto">
            <a:xfrm>
              <a:off x="1008" y="2052"/>
              <a:ext cx="102" cy="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1096722" name="Group 53"/>
            <p:cNvGrpSpPr>
              <a:grpSpLocks/>
            </p:cNvGrpSpPr>
            <p:nvPr/>
          </p:nvGrpSpPr>
          <p:grpSpPr bwMode="auto">
            <a:xfrm>
              <a:off x="1026" y="2046"/>
              <a:ext cx="72" cy="48"/>
              <a:chOff x="1440" y="2016"/>
              <a:chExt cx="72" cy="48"/>
            </a:xfrm>
          </p:grpSpPr>
          <p:sp>
            <p:nvSpPr>
              <p:cNvPr id="1096723" name="Line 54"/>
              <p:cNvSpPr>
                <a:spLocks noChangeShapeType="1"/>
              </p:cNvSpPr>
              <p:nvPr/>
            </p:nvSpPr>
            <p:spPr bwMode="auto">
              <a:xfrm>
                <a:off x="1440" y="2016"/>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24" name="Line 55"/>
              <p:cNvSpPr>
                <a:spLocks noChangeShapeType="1"/>
              </p:cNvSpPr>
              <p:nvPr/>
            </p:nvSpPr>
            <p:spPr bwMode="auto">
              <a:xfrm>
                <a:off x="1440" y="2064"/>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grpSp>
        <p:nvGrpSpPr>
          <p:cNvPr id="1096725" name="Group 56"/>
          <p:cNvGrpSpPr>
            <a:grpSpLocks/>
          </p:cNvGrpSpPr>
          <p:nvPr/>
        </p:nvGrpSpPr>
        <p:grpSpPr bwMode="auto">
          <a:xfrm rot="5400000">
            <a:off x="3313113" y="2166938"/>
            <a:ext cx="192087" cy="96837"/>
            <a:chOff x="1008" y="2046"/>
            <a:chExt cx="102" cy="60"/>
          </a:xfrm>
        </p:grpSpPr>
        <p:sp>
          <p:nvSpPr>
            <p:cNvPr id="1096726" name="Rectangle 57"/>
            <p:cNvSpPr>
              <a:spLocks noChangeArrowheads="1"/>
            </p:cNvSpPr>
            <p:nvPr/>
          </p:nvSpPr>
          <p:spPr bwMode="auto">
            <a:xfrm>
              <a:off x="1008" y="2052"/>
              <a:ext cx="102" cy="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grpSp>
          <p:nvGrpSpPr>
            <p:cNvPr id="1096727" name="Group 58"/>
            <p:cNvGrpSpPr>
              <a:grpSpLocks/>
            </p:cNvGrpSpPr>
            <p:nvPr/>
          </p:nvGrpSpPr>
          <p:grpSpPr bwMode="auto">
            <a:xfrm>
              <a:off x="1026" y="2046"/>
              <a:ext cx="72" cy="48"/>
              <a:chOff x="1440" y="2016"/>
              <a:chExt cx="72" cy="48"/>
            </a:xfrm>
          </p:grpSpPr>
          <p:sp>
            <p:nvSpPr>
              <p:cNvPr id="1096728" name="Line 59"/>
              <p:cNvSpPr>
                <a:spLocks noChangeShapeType="1"/>
              </p:cNvSpPr>
              <p:nvPr/>
            </p:nvSpPr>
            <p:spPr bwMode="auto">
              <a:xfrm>
                <a:off x="1440" y="2016"/>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29" name="Line 60"/>
              <p:cNvSpPr>
                <a:spLocks noChangeShapeType="1"/>
              </p:cNvSpPr>
              <p:nvPr/>
            </p:nvSpPr>
            <p:spPr bwMode="auto">
              <a:xfrm>
                <a:off x="1440" y="2064"/>
                <a:ext cx="7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grpSp>
      <p:sp>
        <p:nvSpPr>
          <p:cNvPr id="1096730" name="Rectangle 63"/>
          <p:cNvSpPr>
            <a:spLocks noChangeArrowheads="1"/>
          </p:cNvSpPr>
          <p:nvPr/>
        </p:nvSpPr>
        <p:spPr bwMode="auto">
          <a:xfrm>
            <a:off x="2095500" y="3789363"/>
            <a:ext cx="7681913" cy="490537"/>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31" name="Line 64"/>
          <p:cNvSpPr>
            <a:spLocks noChangeShapeType="1"/>
          </p:cNvSpPr>
          <p:nvPr/>
        </p:nvSpPr>
        <p:spPr bwMode="auto">
          <a:xfrm>
            <a:off x="3271838" y="378777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32" name="Rectangle 65"/>
          <p:cNvSpPr>
            <a:spLocks noChangeArrowheads="1"/>
          </p:cNvSpPr>
          <p:nvPr/>
        </p:nvSpPr>
        <p:spPr bwMode="auto">
          <a:xfrm>
            <a:off x="2082800" y="3862388"/>
            <a:ext cx="1214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TCP</a:t>
            </a:r>
            <a:r>
              <a:rPr lang="zh-CN" altLang="en-US" sz="2000" b="1">
                <a:solidFill>
                  <a:srgbClr val="0000CC"/>
                </a:solidFill>
                <a:ea typeface="黑体" panose="02010609060101010101" pitchFamily="49" charset="-122"/>
              </a:rPr>
              <a:t>首部</a:t>
            </a:r>
          </a:p>
        </p:txBody>
      </p:sp>
      <p:sp>
        <p:nvSpPr>
          <p:cNvPr id="1096733" name="AutoShape 66"/>
          <p:cNvSpPr>
            <a:spLocks noChangeArrowheads="1"/>
          </p:cNvSpPr>
          <p:nvPr/>
        </p:nvSpPr>
        <p:spPr bwMode="auto">
          <a:xfrm>
            <a:off x="6162675" y="3198813"/>
            <a:ext cx="269875" cy="688975"/>
          </a:xfrm>
          <a:prstGeom prst="downArrow">
            <a:avLst>
              <a:gd name="adj1" fmla="val 50000"/>
              <a:gd name="adj2" fmla="val 69130"/>
            </a:avLst>
          </a:prstGeom>
          <a:solidFill>
            <a:schemeClr val="accent1"/>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96734" name="Rectangle 67"/>
          <p:cNvSpPr>
            <a:spLocks noChangeArrowheads="1"/>
          </p:cNvSpPr>
          <p:nvPr/>
        </p:nvSpPr>
        <p:spPr bwMode="auto">
          <a:xfrm>
            <a:off x="920750" y="4773613"/>
            <a:ext cx="8856663" cy="490537"/>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096735" name="Rectangle 68"/>
          <p:cNvSpPr>
            <a:spLocks noChangeArrowheads="1"/>
          </p:cNvSpPr>
          <p:nvPr/>
        </p:nvSpPr>
        <p:spPr bwMode="auto">
          <a:xfrm>
            <a:off x="979488" y="4808538"/>
            <a:ext cx="1006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IP </a:t>
            </a:r>
            <a:r>
              <a:rPr lang="zh-CN" altLang="en-US" sz="2000" b="1">
                <a:solidFill>
                  <a:srgbClr val="0000CC"/>
                </a:solidFill>
                <a:ea typeface="黑体" panose="02010609060101010101" pitchFamily="49" charset="-122"/>
              </a:rPr>
              <a:t>首部</a:t>
            </a:r>
          </a:p>
        </p:txBody>
      </p:sp>
      <p:sp>
        <p:nvSpPr>
          <p:cNvPr id="1096736" name="Line 69"/>
          <p:cNvSpPr>
            <a:spLocks noChangeShapeType="1"/>
          </p:cNvSpPr>
          <p:nvPr/>
        </p:nvSpPr>
        <p:spPr bwMode="auto">
          <a:xfrm>
            <a:off x="2095500" y="4772025"/>
            <a:ext cx="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096737" name="AutoShape 70"/>
          <p:cNvSpPr>
            <a:spLocks noChangeArrowheads="1"/>
          </p:cNvSpPr>
          <p:nvPr/>
        </p:nvSpPr>
        <p:spPr bwMode="auto">
          <a:xfrm>
            <a:off x="5800725" y="4183063"/>
            <a:ext cx="273050" cy="688975"/>
          </a:xfrm>
          <a:prstGeom prst="downArrow">
            <a:avLst>
              <a:gd name="adj1" fmla="val 50000"/>
              <a:gd name="adj2" fmla="val 68338"/>
            </a:avLst>
          </a:prstGeom>
          <a:solidFill>
            <a:srgbClr val="993366"/>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096738" name="Rectangle 71"/>
          <p:cNvSpPr>
            <a:spLocks noChangeArrowheads="1"/>
          </p:cNvSpPr>
          <p:nvPr/>
        </p:nvSpPr>
        <p:spPr bwMode="auto">
          <a:xfrm>
            <a:off x="5678488" y="3824288"/>
            <a:ext cx="13223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BGP </a:t>
            </a:r>
            <a:r>
              <a:rPr lang="zh-CN" altLang="en-US" sz="2000" b="1">
                <a:solidFill>
                  <a:srgbClr val="0000CC"/>
                </a:solidFill>
                <a:ea typeface="黑体" panose="02010609060101010101" pitchFamily="49" charset="-122"/>
              </a:rPr>
              <a:t>报文</a:t>
            </a:r>
          </a:p>
        </p:txBody>
      </p:sp>
      <p:sp>
        <p:nvSpPr>
          <p:cNvPr id="1096739" name="Rectangle 72"/>
          <p:cNvSpPr>
            <a:spLocks noChangeArrowheads="1"/>
          </p:cNvSpPr>
          <p:nvPr/>
        </p:nvSpPr>
        <p:spPr bwMode="auto">
          <a:xfrm>
            <a:off x="5348288" y="4808538"/>
            <a:ext cx="12795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CC"/>
                </a:solidFill>
                <a:ea typeface="黑体" panose="02010609060101010101" pitchFamily="49" charset="-122"/>
              </a:rPr>
              <a:t>TCP </a:t>
            </a:r>
            <a:r>
              <a:rPr lang="zh-CN" altLang="en-US" sz="2000" b="1">
                <a:solidFill>
                  <a:srgbClr val="0000CC"/>
                </a:solidFill>
                <a:ea typeface="黑体" panose="02010609060101010101" pitchFamily="49" charset="-122"/>
              </a:rPr>
              <a:t>报文</a:t>
            </a:r>
          </a:p>
        </p:txBody>
      </p:sp>
      <p:cxnSp>
        <p:nvCxnSpPr>
          <p:cNvPr id="1096740" name="直接连接符 2"/>
          <p:cNvCxnSpPr>
            <a:cxnSpLocks noChangeShapeType="1"/>
          </p:cNvCxnSpPr>
          <p:nvPr/>
        </p:nvCxnSpPr>
        <p:spPr bwMode="auto">
          <a:xfrm>
            <a:off x="3289300" y="3297238"/>
            <a:ext cx="0" cy="490537"/>
          </a:xfrm>
          <a:prstGeom prst="line">
            <a:avLst/>
          </a:prstGeom>
          <a:noFill/>
          <a:ln w="19050">
            <a:solidFill>
              <a:schemeClr val="tx1"/>
            </a:solidFill>
            <a:prstDash val="dash"/>
            <a:round/>
            <a:headEnd/>
            <a:tailEnd/>
          </a:ln>
        </p:spPr>
      </p:cxnSp>
      <p:cxnSp>
        <p:nvCxnSpPr>
          <p:cNvPr id="1096741" name="直接连接符 41"/>
          <p:cNvCxnSpPr>
            <a:cxnSpLocks noChangeShapeType="1"/>
          </p:cNvCxnSpPr>
          <p:nvPr/>
        </p:nvCxnSpPr>
        <p:spPr bwMode="auto">
          <a:xfrm>
            <a:off x="9777413" y="3297238"/>
            <a:ext cx="0" cy="490537"/>
          </a:xfrm>
          <a:prstGeom prst="line">
            <a:avLst/>
          </a:prstGeom>
          <a:noFill/>
          <a:ln w="19050">
            <a:solidFill>
              <a:schemeClr val="tx1"/>
            </a:solidFill>
            <a:prstDash val="dash"/>
            <a:round/>
            <a:headEnd/>
            <a:tailEnd/>
          </a:ln>
        </p:spPr>
      </p:cxnSp>
      <p:cxnSp>
        <p:nvCxnSpPr>
          <p:cNvPr id="1096742" name="直接连接符 42"/>
          <p:cNvCxnSpPr>
            <a:cxnSpLocks noChangeShapeType="1"/>
          </p:cNvCxnSpPr>
          <p:nvPr/>
        </p:nvCxnSpPr>
        <p:spPr bwMode="auto">
          <a:xfrm>
            <a:off x="3289300" y="4318000"/>
            <a:ext cx="0" cy="490538"/>
          </a:xfrm>
          <a:prstGeom prst="line">
            <a:avLst/>
          </a:prstGeom>
          <a:noFill/>
          <a:ln w="19050">
            <a:solidFill>
              <a:schemeClr val="tx1"/>
            </a:solidFill>
            <a:prstDash val="dash"/>
            <a:round/>
            <a:headEnd/>
            <a:tailEnd/>
          </a:ln>
        </p:spPr>
      </p:cxnSp>
      <p:cxnSp>
        <p:nvCxnSpPr>
          <p:cNvPr id="1096743" name="直接连接符 43"/>
          <p:cNvCxnSpPr>
            <a:cxnSpLocks noChangeShapeType="1"/>
          </p:cNvCxnSpPr>
          <p:nvPr/>
        </p:nvCxnSpPr>
        <p:spPr bwMode="auto">
          <a:xfrm>
            <a:off x="9777413" y="4318000"/>
            <a:ext cx="0" cy="490538"/>
          </a:xfrm>
          <a:prstGeom prst="line">
            <a:avLst/>
          </a:prstGeom>
          <a:noFill/>
          <a:ln w="19050">
            <a:solidFill>
              <a:schemeClr val="tx1"/>
            </a:solidFill>
            <a:prstDash val="dash"/>
            <a:round/>
            <a:headEnd/>
            <a:tailEnd/>
          </a:ln>
        </p:spPr>
      </p:cxnSp>
      <p:cxnSp>
        <p:nvCxnSpPr>
          <p:cNvPr id="1096744" name="直接连接符 44"/>
          <p:cNvCxnSpPr>
            <a:cxnSpLocks noChangeShapeType="1"/>
          </p:cNvCxnSpPr>
          <p:nvPr/>
        </p:nvCxnSpPr>
        <p:spPr bwMode="auto">
          <a:xfrm>
            <a:off x="2108200" y="4318000"/>
            <a:ext cx="0" cy="490538"/>
          </a:xfrm>
          <a:prstGeom prst="line">
            <a:avLst/>
          </a:prstGeom>
          <a:noFill/>
          <a:ln w="19050">
            <a:solidFill>
              <a:schemeClr val="tx1"/>
            </a:solidFill>
            <a:prstDash val="dash"/>
            <a:round/>
            <a:headEnd/>
            <a:tailEnd/>
          </a:ln>
        </p:spPr>
      </p:cxnSp>
      <p:sp>
        <p:nvSpPr>
          <p:cNvPr id="10967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E45CE3-B8FC-4C2A-9A19-BF8AA7E0F94C}" type="slidenum">
              <a:rPr lang="zh-CN" altLang="en-US" smtClean="0"/>
              <a:pPr eaLnBrk="1" hangingPunct="1"/>
              <a:t>14</a:t>
            </a:fld>
            <a:endParaRPr lang="en-US" altLang="zh-CN" smtClean="0"/>
          </a:p>
        </p:txBody>
      </p:sp>
      <p:sp>
        <p:nvSpPr>
          <p:cNvPr id="10967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75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4.5.5  </a:t>
            </a:r>
            <a:r>
              <a:rPr lang="zh-CN" altLang="zh-CN" smtClean="0">
                <a:ea typeface="黑体" panose="02010609060101010101" pitchFamily="49" charset="-122"/>
              </a:rPr>
              <a:t>路由器的构成</a:t>
            </a:r>
            <a:endParaRPr lang="zh-CN" altLang="en-US" smtClean="0">
              <a:ea typeface="黑体" panose="02010609060101010101" pitchFamily="49" charset="-122"/>
            </a:endParaRPr>
          </a:p>
        </p:txBody>
      </p:sp>
      <p:sp>
        <p:nvSpPr>
          <p:cNvPr id="1098754" name="内容占位符 2"/>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路由器是一种典型的</a:t>
            </a:r>
            <a:r>
              <a:rPr lang="zh-CN" altLang="en-US" dirty="0" smtClean="0">
                <a:solidFill>
                  <a:srgbClr val="FF0000"/>
                </a:solidFill>
                <a:ea typeface="黑体" panose="02010609060101010101" pitchFamily="49" charset="-122"/>
              </a:rPr>
              <a:t>网络层设备</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路由器是互联网中的</a:t>
            </a:r>
            <a:r>
              <a:rPr lang="zh-CN" altLang="en-US" dirty="0" smtClean="0">
                <a:solidFill>
                  <a:srgbClr val="FF0000"/>
                </a:solidFill>
                <a:ea typeface="黑体" panose="02010609060101010101" pitchFamily="49" charset="-122"/>
              </a:rPr>
              <a:t>关键设备</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路由器的主要作用是：</a:t>
            </a:r>
            <a:endParaRPr lang="en-US" altLang="zh-CN" dirty="0" smtClean="0">
              <a:ea typeface="黑体" panose="02010609060101010101" pitchFamily="49" charset="-122"/>
            </a:endParaRPr>
          </a:p>
          <a:p>
            <a:pPr lvl="1"/>
            <a:r>
              <a:rPr lang="zh-CN" altLang="en-US" dirty="0" smtClean="0">
                <a:solidFill>
                  <a:srgbClr val="0000FF"/>
                </a:solidFill>
                <a:ea typeface="黑体" panose="02010609060101010101" pitchFamily="49" charset="-122"/>
              </a:rPr>
              <a:t>连通</a:t>
            </a:r>
            <a:r>
              <a:rPr lang="zh-CN" altLang="en-US" dirty="0" smtClean="0">
                <a:ea typeface="黑体" panose="02010609060101010101" pitchFamily="49" charset="-122"/>
              </a:rPr>
              <a:t>不同的网络。</a:t>
            </a:r>
            <a:endParaRPr lang="en-US" altLang="zh-CN" dirty="0" smtClean="0">
              <a:ea typeface="黑体" panose="02010609060101010101" pitchFamily="49" charset="-122"/>
            </a:endParaRPr>
          </a:p>
          <a:p>
            <a:pPr lvl="1"/>
            <a:r>
              <a:rPr lang="zh-CN" altLang="en-US" dirty="0" smtClean="0">
                <a:ea typeface="黑体" panose="02010609060101010101" pitchFamily="49" charset="-122"/>
              </a:rPr>
              <a:t>选择信息</a:t>
            </a:r>
            <a:r>
              <a:rPr lang="zh-CN" altLang="en-US" dirty="0" smtClean="0">
                <a:solidFill>
                  <a:srgbClr val="0000FF"/>
                </a:solidFill>
                <a:ea typeface="黑体" panose="02010609060101010101" pitchFamily="49" charset="-122"/>
              </a:rPr>
              <a:t>传送</a:t>
            </a:r>
            <a:r>
              <a:rPr lang="zh-CN" altLang="en-US" dirty="0" smtClean="0">
                <a:ea typeface="黑体" panose="02010609060101010101" pitchFamily="49" charset="-122"/>
              </a:rPr>
              <a:t>的线路。选择通畅快捷的近路，能大大提高通信速度，减轻网络系统通信负荷，节约网络系统资源，提高网络系统畅通率，从而让网络系统发挥出更大的效益来。</a:t>
            </a:r>
          </a:p>
        </p:txBody>
      </p:sp>
      <p:sp>
        <p:nvSpPr>
          <p:cNvPr id="109875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324B7C-A772-4419-9D02-3DF66BD641D8}" type="slidenum">
              <a:rPr lang="zh-CN" altLang="en-US" smtClean="0"/>
              <a:pPr eaLnBrk="1" hangingPunct="1"/>
              <a:t>15</a:t>
            </a:fld>
            <a:endParaRPr lang="en-US" altLang="zh-CN" smtClean="0"/>
          </a:p>
        </p:txBody>
      </p:sp>
      <p:sp>
        <p:nvSpPr>
          <p:cNvPr id="109875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777" name="Rectangle 2"/>
          <p:cNvSpPr>
            <a:spLocks noGrp="1" noChangeArrowheads="1"/>
          </p:cNvSpPr>
          <p:nvPr>
            <p:ph type="title"/>
          </p:nvPr>
        </p:nvSpPr>
        <p:spPr>
          <a:xfrm>
            <a:off x="495300" y="188913"/>
            <a:ext cx="9066213" cy="792162"/>
          </a:xfrm>
        </p:spPr>
        <p:txBody>
          <a:bodyPr/>
          <a:lstStyle/>
          <a:p>
            <a:pPr>
              <a:spcAft>
                <a:spcPct val="15000"/>
              </a:spcAft>
            </a:pPr>
            <a:r>
              <a:rPr lang="en-US" altLang="zh-CN" smtClean="0">
                <a:ea typeface="黑体" panose="02010609060101010101" pitchFamily="49" charset="-122"/>
              </a:rPr>
              <a:t>1. </a:t>
            </a:r>
            <a:r>
              <a:rPr lang="zh-CN" altLang="en-US" smtClean="0">
                <a:ea typeface="黑体" panose="02010609060101010101" pitchFamily="49" charset="-122"/>
              </a:rPr>
              <a:t>路由器的结构</a:t>
            </a:r>
          </a:p>
        </p:txBody>
      </p:sp>
      <p:sp>
        <p:nvSpPr>
          <p:cNvPr id="950275" name="Rectangle 3"/>
          <p:cNvSpPr>
            <a:spLocks noGrp="1" noChangeArrowheads="1"/>
          </p:cNvSpPr>
          <p:nvPr>
            <p:ph idx="1"/>
          </p:nvPr>
        </p:nvSpPr>
        <p:spPr>
          <a:xfrm>
            <a:off x="495300" y="1196975"/>
            <a:ext cx="9066213" cy="4933950"/>
          </a:xfrm>
        </p:spPr>
        <p:txBody>
          <a:bodyPr/>
          <a:lstStyle/>
          <a:p>
            <a:pPr algn="just"/>
            <a:r>
              <a:rPr lang="zh-CN" altLang="en-US" dirty="0" smtClean="0">
                <a:solidFill>
                  <a:srgbClr val="FF0000"/>
                </a:solidFill>
                <a:ea typeface="黑体" panose="02010609060101010101" pitchFamily="49" charset="-122"/>
              </a:rPr>
              <a:t>路由器</a:t>
            </a:r>
            <a:r>
              <a:rPr lang="zh-CN" altLang="en-US" dirty="0" smtClean="0">
                <a:ea typeface="黑体" panose="02010609060101010101" pitchFamily="49" charset="-122"/>
              </a:rPr>
              <a:t>是一种具有</a:t>
            </a:r>
            <a:r>
              <a:rPr lang="zh-CN" altLang="en-US" dirty="0" smtClean="0">
                <a:solidFill>
                  <a:srgbClr val="0000FF"/>
                </a:solidFill>
                <a:ea typeface="黑体" panose="02010609060101010101" pitchFamily="49" charset="-122"/>
              </a:rPr>
              <a:t>多个输入端口</a:t>
            </a:r>
            <a:r>
              <a:rPr lang="zh-CN" altLang="en-US" dirty="0" smtClean="0">
                <a:ea typeface="黑体" panose="02010609060101010101" pitchFamily="49" charset="-122"/>
              </a:rPr>
              <a:t>和</a:t>
            </a:r>
            <a:r>
              <a:rPr lang="zh-CN" altLang="en-US" dirty="0" smtClean="0">
                <a:solidFill>
                  <a:srgbClr val="0000FF"/>
                </a:solidFill>
                <a:ea typeface="黑体" panose="02010609060101010101" pitchFamily="49" charset="-122"/>
              </a:rPr>
              <a:t>多个输出端口</a:t>
            </a:r>
            <a:r>
              <a:rPr lang="zh-CN" altLang="en-US" dirty="0" smtClean="0">
                <a:ea typeface="黑体" panose="02010609060101010101" pitchFamily="49" charset="-122"/>
              </a:rPr>
              <a:t>的</a:t>
            </a:r>
            <a:r>
              <a:rPr lang="zh-CN" altLang="en-US" dirty="0" smtClean="0">
                <a:solidFill>
                  <a:srgbClr val="FF0000"/>
                </a:solidFill>
                <a:ea typeface="黑体" panose="02010609060101010101" pitchFamily="49" charset="-122"/>
              </a:rPr>
              <a:t>专用计算机</a:t>
            </a:r>
            <a:r>
              <a:rPr lang="zh-CN" altLang="en-US" dirty="0" smtClean="0">
                <a:ea typeface="黑体" panose="02010609060101010101" pitchFamily="49" charset="-122"/>
              </a:rPr>
              <a:t>，其任务是</a:t>
            </a:r>
            <a:r>
              <a:rPr lang="zh-CN" altLang="en-US" dirty="0" smtClean="0">
                <a:solidFill>
                  <a:srgbClr val="0000FF"/>
                </a:solidFill>
                <a:ea typeface="黑体" panose="02010609060101010101" pitchFamily="49" charset="-122"/>
              </a:rPr>
              <a:t>转发分组</a:t>
            </a:r>
            <a:r>
              <a:rPr lang="zh-CN" altLang="en-US" dirty="0" smtClean="0">
                <a:ea typeface="黑体" panose="02010609060101010101" pitchFamily="49" charset="-122"/>
              </a:rPr>
              <a:t>。也就是说，将路由器某个输入端口收到的分组，按照分组要去的目的地（即目的网络），把该分组从路由器的某个合适的输出端口转发给下一跳路由器</a:t>
            </a:r>
            <a:r>
              <a:rPr lang="zh-CN" altLang="en-US" dirty="0" smtClean="0">
                <a:ea typeface="黑体" panose="02010609060101010101" pitchFamily="49" charset="-122"/>
              </a:rPr>
              <a:t>。下</a:t>
            </a:r>
            <a:r>
              <a:rPr lang="zh-CN" altLang="en-US" dirty="0" smtClean="0">
                <a:ea typeface="黑体" panose="02010609060101010101" pitchFamily="49" charset="-122"/>
              </a:rPr>
              <a:t>一跳路由器也按照这种方法处理分组，直到该分组到达终点为止。 </a:t>
            </a:r>
            <a:endParaRPr lang="en-US" altLang="zh-CN" dirty="0" smtClean="0">
              <a:ea typeface="黑体" panose="02010609060101010101" pitchFamily="49" charset="-122"/>
            </a:endParaRPr>
          </a:p>
          <a:p>
            <a:pPr algn="just"/>
            <a:r>
              <a:rPr lang="zh-CN" altLang="zh-CN" dirty="0" smtClean="0">
                <a:ea typeface="黑体" panose="02010609060101010101" pitchFamily="49" charset="-122"/>
              </a:rPr>
              <a:t>路由器的转发分组正是网络层的主要工作</a:t>
            </a:r>
            <a:r>
              <a:rPr lang="zh-CN" altLang="en-US" dirty="0" smtClean="0">
                <a:ea typeface="黑体" panose="02010609060101010101" pitchFamily="49" charset="-122"/>
              </a:rPr>
              <a:t>。</a:t>
            </a:r>
          </a:p>
        </p:txBody>
      </p:sp>
      <p:sp>
        <p:nvSpPr>
          <p:cNvPr id="10997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8ED816-C18F-4526-88A7-BAC27132B977}" type="slidenum">
              <a:rPr lang="zh-CN" altLang="en-US" smtClean="0"/>
              <a:pPr eaLnBrk="1" hangingPunct="1"/>
              <a:t>16</a:t>
            </a:fld>
            <a:endParaRPr lang="en-US" altLang="zh-CN" smtClean="0"/>
          </a:p>
        </p:txBody>
      </p:sp>
      <p:sp>
        <p:nvSpPr>
          <p:cNvPr id="10997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0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02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27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825" name="Rectangle 2"/>
          <p:cNvSpPr>
            <a:spLocks noGrp="1" noChangeArrowheads="1"/>
          </p:cNvSpPr>
          <p:nvPr>
            <p:ph type="title"/>
          </p:nvPr>
        </p:nvSpPr>
        <p:spPr/>
        <p:txBody>
          <a:bodyPr/>
          <a:lstStyle/>
          <a:p>
            <a:pPr algn="ctr"/>
            <a:r>
              <a:rPr lang="zh-CN" altLang="en-US" smtClean="0">
                <a:ea typeface="黑体" panose="02010609060101010101" pitchFamily="49" charset="-122"/>
              </a:rPr>
              <a:t>典型的路由器的结构 </a:t>
            </a:r>
          </a:p>
        </p:txBody>
      </p:sp>
      <p:sp>
        <p:nvSpPr>
          <p:cNvPr id="1101826" name="Rectangle 60"/>
          <p:cNvSpPr>
            <a:spLocks noChangeArrowheads="1"/>
          </p:cNvSpPr>
          <p:nvPr/>
        </p:nvSpPr>
        <p:spPr bwMode="auto">
          <a:xfrm>
            <a:off x="344488" y="3097213"/>
            <a:ext cx="8712200" cy="3068637"/>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27" name="Rectangle 3"/>
          <p:cNvSpPr>
            <a:spLocks noChangeArrowheads="1"/>
          </p:cNvSpPr>
          <p:nvPr/>
        </p:nvSpPr>
        <p:spPr bwMode="auto">
          <a:xfrm>
            <a:off x="3444875" y="1212850"/>
            <a:ext cx="2598738" cy="1597025"/>
          </a:xfrm>
          <a:prstGeom prst="rect">
            <a:avLst/>
          </a:prstGeom>
          <a:solidFill>
            <a:srgbClr val="FFFF66"/>
          </a:solidFill>
          <a:ln w="12700">
            <a:solidFill>
              <a:schemeClr val="tx1"/>
            </a:solidFill>
            <a:miter lim="800000"/>
            <a:headEnd/>
            <a:tailEnd/>
          </a:ln>
          <a:effectLst>
            <a:outerShdw dist="53882" dir="2700000" algn="ctr" rotWithShape="0">
              <a:schemeClr val="bg2"/>
            </a:outerShdw>
          </a:effectLst>
        </p:spPr>
        <p:txBody>
          <a:bodyPr wrap="none" anchor="ctr"/>
          <a:lstStyle/>
          <a:p>
            <a:pPr algn="ctr" eaLnBrk="0" hangingPunct="0"/>
            <a:endParaRPr lang="zh-CN" altLang="zh-CN" sz="2000" b="1">
              <a:solidFill>
                <a:srgbClr val="0000CC"/>
              </a:solidFill>
              <a:ea typeface="黑体" panose="02010609060101010101" pitchFamily="49" charset="-122"/>
            </a:endParaRPr>
          </a:p>
        </p:txBody>
      </p:sp>
      <p:sp>
        <p:nvSpPr>
          <p:cNvPr id="1101828" name="Line 5"/>
          <p:cNvSpPr>
            <a:spLocks noChangeShapeType="1"/>
          </p:cNvSpPr>
          <p:nvPr/>
        </p:nvSpPr>
        <p:spPr bwMode="auto">
          <a:xfrm>
            <a:off x="9515475" y="1152525"/>
            <a:ext cx="0" cy="1954213"/>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29" name="Text Box 6"/>
          <p:cNvSpPr txBox="1">
            <a:spLocks noChangeArrowheads="1"/>
          </p:cNvSpPr>
          <p:nvPr/>
        </p:nvSpPr>
        <p:spPr bwMode="auto">
          <a:xfrm>
            <a:off x="8883650" y="1879600"/>
            <a:ext cx="800100" cy="757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dirty="0">
                <a:solidFill>
                  <a:srgbClr val="FF0000"/>
                </a:solidFill>
                <a:ea typeface="黑体" panose="02010609060101010101" pitchFamily="49" charset="-122"/>
              </a:rPr>
              <a:t>路由</a:t>
            </a:r>
          </a:p>
          <a:p>
            <a:pPr eaLnBrk="0" hangingPunct="0">
              <a:lnSpc>
                <a:spcPct val="90000"/>
              </a:lnSpc>
            </a:pPr>
            <a:r>
              <a:rPr lang="zh-CN" altLang="en-US" sz="2400" b="1" dirty="0">
                <a:solidFill>
                  <a:srgbClr val="FF0000"/>
                </a:solidFill>
                <a:ea typeface="黑体" panose="02010609060101010101" pitchFamily="49" charset="-122"/>
              </a:rPr>
              <a:t>选择</a:t>
            </a:r>
          </a:p>
        </p:txBody>
      </p:sp>
      <p:sp>
        <p:nvSpPr>
          <p:cNvPr id="1101830" name="Text Box 7"/>
          <p:cNvSpPr txBox="1">
            <a:spLocks noChangeArrowheads="1"/>
          </p:cNvSpPr>
          <p:nvPr/>
        </p:nvSpPr>
        <p:spPr bwMode="auto">
          <a:xfrm>
            <a:off x="3503613" y="1162050"/>
            <a:ext cx="2339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dirty="0">
                <a:solidFill>
                  <a:srgbClr val="FF0000"/>
                </a:solidFill>
                <a:ea typeface="黑体" panose="02010609060101010101" pitchFamily="49" charset="-122"/>
              </a:rPr>
              <a:t>路由选择处理机</a:t>
            </a:r>
          </a:p>
        </p:txBody>
      </p:sp>
      <p:sp>
        <p:nvSpPr>
          <p:cNvPr id="1101831" name="Line 8"/>
          <p:cNvSpPr>
            <a:spLocks noChangeShapeType="1"/>
          </p:cNvSpPr>
          <p:nvPr/>
        </p:nvSpPr>
        <p:spPr bwMode="auto">
          <a:xfrm>
            <a:off x="4743450" y="1979613"/>
            <a:ext cx="0" cy="2365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2" name="Rectangle 9"/>
          <p:cNvSpPr>
            <a:spLocks noChangeArrowheads="1"/>
          </p:cNvSpPr>
          <p:nvPr/>
        </p:nvSpPr>
        <p:spPr bwMode="auto">
          <a:xfrm>
            <a:off x="3822700" y="1685925"/>
            <a:ext cx="1843088" cy="390525"/>
          </a:xfrm>
          <a:prstGeom prst="rect">
            <a:avLst/>
          </a:prstGeom>
          <a:solidFill>
            <a:srgbClr val="FFCC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路由选择协议</a:t>
            </a:r>
          </a:p>
        </p:txBody>
      </p:sp>
      <p:sp>
        <p:nvSpPr>
          <p:cNvPr id="1101833" name="Rectangle 10"/>
          <p:cNvSpPr>
            <a:spLocks noChangeArrowheads="1"/>
          </p:cNvSpPr>
          <p:nvPr/>
        </p:nvSpPr>
        <p:spPr bwMode="auto">
          <a:xfrm>
            <a:off x="4116388" y="2219325"/>
            <a:ext cx="1257300" cy="412750"/>
          </a:xfrm>
          <a:prstGeom prst="rect">
            <a:avLst/>
          </a:prstGeom>
          <a:solidFill>
            <a:srgbClr val="99FF33"/>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路由表</a:t>
            </a:r>
          </a:p>
        </p:txBody>
      </p:sp>
      <p:sp>
        <p:nvSpPr>
          <p:cNvPr id="1101834" name="Rectangle 11"/>
          <p:cNvSpPr>
            <a:spLocks noChangeArrowheads="1"/>
          </p:cNvSpPr>
          <p:nvPr/>
        </p:nvSpPr>
        <p:spPr bwMode="auto">
          <a:xfrm>
            <a:off x="762000" y="3530600"/>
            <a:ext cx="2514600" cy="725488"/>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35" name="Rectangle 12"/>
          <p:cNvSpPr>
            <a:spLocks noChangeArrowheads="1"/>
          </p:cNvSpPr>
          <p:nvPr/>
        </p:nvSpPr>
        <p:spPr bwMode="auto">
          <a:xfrm>
            <a:off x="2606675" y="3694113"/>
            <a:ext cx="504825" cy="39528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36" name="Line 13"/>
          <p:cNvSpPr>
            <a:spLocks noChangeShapeType="1"/>
          </p:cNvSpPr>
          <p:nvPr/>
        </p:nvSpPr>
        <p:spPr bwMode="auto">
          <a:xfrm flipV="1">
            <a:off x="596900" y="3892550"/>
            <a:ext cx="3857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7" name="Line 14"/>
          <p:cNvSpPr>
            <a:spLocks noChangeShapeType="1"/>
          </p:cNvSpPr>
          <p:nvPr/>
        </p:nvSpPr>
        <p:spPr bwMode="auto">
          <a:xfrm>
            <a:off x="1433513" y="3892550"/>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8" name="Line 15"/>
          <p:cNvSpPr>
            <a:spLocks noChangeShapeType="1"/>
          </p:cNvSpPr>
          <p:nvPr/>
        </p:nvSpPr>
        <p:spPr bwMode="auto">
          <a:xfrm>
            <a:off x="2271713" y="3892550"/>
            <a:ext cx="3349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39" name="Line 16"/>
          <p:cNvSpPr>
            <a:spLocks noChangeShapeType="1"/>
          </p:cNvSpPr>
          <p:nvPr/>
        </p:nvSpPr>
        <p:spPr bwMode="auto">
          <a:xfrm>
            <a:off x="3111500" y="3892550"/>
            <a:ext cx="3333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0" name="Text Box 17"/>
          <p:cNvSpPr txBox="1">
            <a:spLocks noChangeArrowheads="1"/>
          </p:cNvSpPr>
          <p:nvPr/>
        </p:nvSpPr>
        <p:spPr bwMode="auto">
          <a:xfrm>
            <a:off x="1433513" y="31416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输入端口</a:t>
            </a:r>
          </a:p>
        </p:txBody>
      </p:sp>
      <p:sp>
        <p:nvSpPr>
          <p:cNvPr id="1101841" name="Rectangle 18"/>
          <p:cNvSpPr>
            <a:spLocks noChangeArrowheads="1"/>
          </p:cNvSpPr>
          <p:nvPr/>
        </p:nvSpPr>
        <p:spPr bwMode="auto">
          <a:xfrm>
            <a:off x="762000" y="5103813"/>
            <a:ext cx="2514600" cy="725487"/>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42" name="Rectangle 19"/>
          <p:cNvSpPr>
            <a:spLocks noChangeArrowheads="1"/>
          </p:cNvSpPr>
          <p:nvPr/>
        </p:nvSpPr>
        <p:spPr bwMode="auto">
          <a:xfrm>
            <a:off x="2606675" y="5267325"/>
            <a:ext cx="504825"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43" name="Line 20"/>
          <p:cNvSpPr>
            <a:spLocks noChangeShapeType="1"/>
          </p:cNvSpPr>
          <p:nvPr/>
        </p:nvSpPr>
        <p:spPr bwMode="auto">
          <a:xfrm flipV="1">
            <a:off x="596900" y="5465763"/>
            <a:ext cx="385763"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4" name="Line 21"/>
          <p:cNvSpPr>
            <a:spLocks noChangeShapeType="1"/>
          </p:cNvSpPr>
          <p:nvPr/>
        </p:nvSpPr>
        <p:spPr bwMode="auto">
          <a:xfrm>
            <a:off x="1433513" y="5465763"/>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5" name="Line 22"/>
          <p:cNvSpPr>
            <a:spLocks noChangeShapeType="1"/>
          </p:cNvSpPr>
          <p:nvPr/>
        </p:nvSpPr>
        <p:spPr bwMode="auto">
          <a:xfrm>
            <a:off x="2271713" y="5465763"/>
            <a:ext cx="334962"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6" name="Line 23"/>
          <p:cNvSpPr>
            <a:spLocks noChangeShapeType="1"/>
          </p:cNvSpPr>
          <p:nvPr/>
        </p:nvSpPr>
        <p:spPr bwMode="auto">
          <a:xfrm>
            <a:off x="3111500" y="5465763"/>
            <a:ext cx="3333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47" name="Rectangle 24"/>
          <p:cNvSpPr>
            <a:spLocks noChangeArrowheads="1"/>
          </p:cNvSpPr>
          <p:nvPr/>
        </p:nvSpPr>
        <p:spPr bwMode="auto">
          <a:xfrm>
            <a:off x="3444875" y="3530600"/>
            <a:ext cx="2598738" cy="2311400"/>
          </a:xfrm>
          <a:prstGeom prst="rect">
            <a:avLst/>
          </a:prstGeom>
          <a:solidFill>
            <a:srgbClr val="66FFFF"/>
          </a:solidFill>
          <a:ln w="12700">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48" name="Rectangle 25"/>
          <p:cNvSpPr>
            <a:spLocks noChangeArrowheads="1"/>
          </p:cNvSpPr>
          <p:nvPr/>
        </p:nvSpPr>
        <p:spPr bwMode="auto">
          <a:xfrm flipH="1">
            <a:off x="6211888" y="3530600"/>
            <a:ext cx="2511425" cy="725488"/>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49" name="Line 26"/>
          <p:cNvSpPr>
            <a:spLocks noChangeShapeType="1"/>
          </p:cNvSpPr>
          <p:nvPr/>
        </p:nvSpPr>
        <p:spPr bwMode="auto">
          <a:xfrm flipV="1">
            <a:off x="8545513" y="3892550"/>
            <a:ext cx="3460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0" name="Line 27"/>
          <p:cNvSpPr>
            <a:spLocks noChangeShapeType="1"/>
          </p:cNvSpPr>
          <p:nvPr/>
        </p:nvSpPr>
        <p:spPr bwMode="auto">
          <a:xfrm rot="10800000" flipH="1">
            <a:off x="7718425" y="3892550"/>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1" name="Line 28"/>
          <p:cNvSpPr>
            <a:spLocks noChangeShapeType="1"/>
          </p:cNvSpPr>
          <p:nvPr/>
        </p:nvSpPr>
        <p:spPr bwMode="auto">
          <a:xfrm>
            <a:off x="6880225" y="3892550"/>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2" name="Line 29"/>
          <p:cNvSpPr>
            <a:spLocks noChangeShapeType="1"/>
          </p:cNvSpPr>
          <p:nvPr/>
        </p:nvSpPr>
        <p:spPr bwMode="auto">
          <a:xfrm>
            <a:off x="6043613" y="3892550"/>
            <a:ext cx="401637"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3" name="Rectangle 30"/>
          <p:cNvSpPr>
            <a:spLocks noChangeArrowheads="1"/>
          </p:cNvSpPr>
          <p:nvPr/>
        </p:nvSpPr>
        <p:spPr bwMode="auto">
          <a:xfrm flipH="1">
            <a:off x="6211888" y="5103813"/>
            <a:ext cx="2511425" cy="725487"/>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54" name="Line 31"/>
          <p:cNvSpPr>
            <a:spLocks noChangeShapeType="1"/>
          </p:cNvSpPr>
          <p:nvPr/>
        </p:nvSpPr>
        <p:spPr bwMode="auto">
          <a:xfrm flipV="1">
            <a:off x="8545513" y="5465763"/>
            <a:ext cx="346075"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5" name="Line 32"/>
          <p:cNvSpPr>
            <a:spLocks noChangeShapeType="1"/>
          </p:cNvSpPr>
          <p:nvPr/>
        </p:nvSpPr>
        <p:spPr bwMode="auto">
          <a:xfrm>
            <a:off x="7718425" y="5465763"/>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6" name="Line 33"/>
          <p:cNvSpPr>
            <a:spLocks noChangeShapeType="1"/>
          </p:cNvSpPr>
          <p:nvPr/>
        </p:nvSpPr>
        <p:spPr bwMode="auto">
          <a:xfrm>
            <a:off x="6880225" y="5465763"/>
            <a:ext cx="3365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7" name="Line 34"/>
          <p:cNvSpPr>
            <a:spLocks noChangeShapeType="1"/>
          </p:cNvSpPr>
          <p:nvPr/>
        </p:nvSpPr>
        <p:spPr bwMode="auto">
          <a:xfrm flipV="1">
            <a:off x="6043613" y="5465763"/>
            <a:ext cx="387350" cy="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58" name="Text Box 35"/>
          <p:cNvSpPr txBox="1">
            <a:spLocks noChangeArrowheads="1"/>
          </p:cNvSpPr>
          <p:nvPr/>
        </p:nvSpPr>
        <p:spPr bwMode="auto">
          <a:xfrm>
            <a:off x="3971925" y="5265738"/>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dirty="0">
                <a:solidFill>
                  <a:srgbClr val="FF0000"/>
                </a:solidFill>
                <a:ea typeface="黑体" panose="02010609060101010101" pitchFamily="49" charset="-122"/>
              </a:rPr>
              <a:t>交换结构</a:t>
            </a:r>
          </a:p>
        </p:txBody>
      </p:sp>
      <p:sp>
        <p:nvSpPr>
          <p:cNvPr id="1101859" name="Text Box 36"/>
          <p:cNvSpPr txBox="1">
            <a:spLocks noChangeArrowheads="1"/>
          </p:cNvSpPr>
          <p:nvPr/>
        </p:nvSpPr>
        <p:spPr bwMode="auto">
          <a:xfrm>
            <a:off x="1433513" y="466090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输入端口</a:t>
            </a:r>
          </a:p>
        </p:txBody>
      </p:sp>
      <p:sp>
        <p:nvSpPr>
          <p:cNvPr id="1101860" name="Text Box 37"/>
          <p:cNvSpPr txBox="1">
            <a:spLocks noChangeArrowheads="1"/>
          </p:cNvSpPr>
          <p:nvPr/>
        </p:nvSpPr>
        <p:spPr bwMode="auto">
          <a:xfrm>
            <a:off x="6880225" y="31416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输出端口</a:t>
            </a:r>
          </a:p>
        </p:txBody>
      </p:sp>
      <p:sp>
        <p:nvSpPr>
          <p:cNvPr id="1101861" name="Line 38"/>
          <p:cNvSpPr>
            <a:spLocks noChangeShapeType="1"/>
          </p:cNvSpPr>
          <p:nvPr/>
        </p:nvSpPr>
        <p:spPr bwMode="auto">
          <a:xfrm>
            <a:off x="344488" y="3119438"/>
            <a:ext cx="9553575" cy="0"/>
          </a:xfrm>
          <a:prstGeom prst="line">
            <a:avLst/>
          </a:prstGeom>
          <a:noFill/>
          <a:ln w="28575">
            <a:solidFill>
              <a:srgbClr val="333399"/>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62" name="Line 39"/>
          <p:cNvSpPr>
            <a:spLocks noChangeShapeType="1"/>
          </p:cNvSpPr>
          <p:nvPr/>
        </p:nvSpPr>
        <p:spPr bwMode="auto">
          <a:xfrm>
            <a:off x="9515475" y="3119438"/>
            <a:ext cx="0" cy="2641600"/>
          </a:xfrm>
          <a:prstGeom prst="line">
            <a:avLst/>
          </a:prstGeom>
          <a:noFill/>
          <a:ln w="28575">
            <a:solidFill>
              <a:srgbClr val="333399"/>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63" name="Text Box 40"/>
          <p:cNvSpPr txBox="1">
            <a:spLocks noChangeArrowheads="1"/>
          </p:cNvSpPr>
          <p:nvPr/>
        </p:nvSpPr>
        <p:spPr bwMode="auto">
          <a:xfrm>
            <a:off x="9048750" y="4327525"/>
            <a:ext cx="800100" cy="7572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400" b="1" dirty="0">
                <a:solidFill>
                  <a:srgbClr val="FF0000"/>
                </a:solidFill>
                <a:ea typeface="黑体" panose="02010609060101010101" pitchFamily="49" charset="-122"/>
              </a:rPr>
              <a:t>分组</a:t>
            </a:r>
          </a:p>
          <a:p>
            <a:pPr eaLnBrk="0" hangingPunct="0">
              <a:lnSpc>
                <a:spcPct val="90000"/>
              </a:lnSpc>
            </a:pPr>
            <a:r>
              <a:rPr lang="zh-CN" altLang="en-US" sz="2400" b="1" dirty="0">
                <a:solidFill>
                  <a:srgbClr val="FF0000"/>
                </a:solidFill>
                <a:ea typeface="黑体" panose="02010609060101010101" pitchFamily="49" charset="-122"/>
              </a:rPr>
              <a:t>转发</a:t>
            </a:r>
          </a:p>
        </p:txBody>
      </p:sp>
      <p:sp>
        <p:nvSpPr>
          <p:cNvPr id="1101864" name="Rectangle 41"/>
          <p:cNvSpPr>
            <a:spLocks noChangeArrowheads="1"/>
          </p:cNvSpPr>
          <p:nvPr/>
        </p:nvSpPr>
        <p:spPr bwMode="auto">
          <a:xfrm>
            <a:off x="3778250" y="3729038"/>
            <a:ext cx="1928813" cy="1385887"/>
          </a:xfrm>
          <a:prstGeom prst="rect">
            <a:avLst/>
          </a:prstGeom>
          <a:solidFill>
            <a:srgbClr val="FF99FF"/>
          </a:solidFill>
          <a:ln w="9525">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65" name="Rectangle 42"/>
          <p:cNvSpPr>
            <a:spLocks noChangeArrowheads="1"/>
          </p:cNvSpPr>
          <p:nvPr/>
        </p:nvSpPr>
        <p:spPr bwMode="auto">
          <a:xfrm>
            <a:off x="4116388" y="4454525"/>
            <a:ext cx="1257300" cy="465138"/>
          </a:xfrm>
          <a:prstGeom prst="rect">
            <a:avLst/>
          </a:prstGeom>
          <a:solidFill>
            <a:srgbClr val="66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转发表</a:t>
            </a:r>
          </a:p>
        </p:txBody>
      </p:sp>
      <p:sp>
        <p:nvSpPr>
          <p:cNvPr id="1101866" name="Text Box 43"/>
          <p:cNvSpPr txBox="1">
            <a:spLocks noChangeArrowheads="1"/>
          </p:cNvSpPr>
          <p:nvPr/>
        </p:nvSpPr>
        <p:spPr bwMode="auto">
          <a:xfrm>
            <a:off x="4116388" y="3825875"/>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分组处理</a:t>
            </a:r>
          </a:p>
        </p:txBody>
      </p:sp>
      <p:sp>
        <p:nvSpPr>
          <p:cNvPr id="1101867" name="Text Box 44"/>
          <p:cNvSpPr txBox="1">
            <a:spLocks noChangeArrowheads="1"/>
          </p:cNvSpPr>
          <p:nvPr/>
        </p:nvSpPr>
        <p:spPr bwMode="auto">
          <a:xfrm>
            <a:off x="6880225" y="4660900"/>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输出端口</a:t>
            </a:r>
          </a:p>
        </p:txBody>
      </p:sp>
      <p:sp>
        <p:nvSpPr>
          <p:cNvPr id="1101868" name="Text Box 45"/>
          <p:cNvSpPr txBox="1">
            <a:spLocks noChangeArrowheads="1"/>
          </p:cNvSpPr>
          <p:nvPr/>
        </p:nvSpPr>
        <p:spPr bwMode="auto">
          <a:xfrm rot="5400000">
            <a:off x="1985962" y="434498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1101869" name="Text Box 46"/>
          <p:cNvSpPr txBox="1">
            <a:spLocks noChangeArrowheads="1"/>
          </p:cNvSpPr>
          <p:nvPr/>
        </p:nvSpPr>
        <p:spPr bwMode="auto">
          <a:xfrm rot="5400000">
            <a:off x="7407275" y="4344988"/>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a:t>
            </a:r>
          </a:p>
        </p:txBody>
      </p:sp>
      <p:sp>
        <p:nvSpPr>
          <p:cNvPr id="1101870" name="Line 47"/>
          <p:cNvSpPr>
            <a:spLocks noChangeShapeType="1"/>
          </p:cNvSpPr>
          <p:nvPr/>
        </p:nvSpPr>
        <p:spPr bwMode="auto">
          <a:xfrm flipH="1" flipV="1">
            <a:off x="2943225" y="3992563"/>
            <a:ext cx="1173163" cy="595312"/>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71" name="Line 48"/>
          <p:cNvSpPr>
            <a:spLocks noChangeShapeType="1"/>
          </p:cNvSpPr>
          <p:nvPr/>
        </p:nvSpPr>
        <p:spPr bwMode="auto">
          <a:xfrm flipH="1">
            <a:off x="2943225" y="4784725"/>
            <a:ext cx="1173163" cy="595313"/>
          </a:xfrm>
          <a:prstGeom prst="line">
            <a:avLst/>
          </a:prstGeom>
          <a:noFill/>
          <a:ln w="28575">
            <a:solidFill>
              <a:srgbClr val="333399"/>
            </a:solidFill>
            <a:prstDash val="dash"/>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01872" name="Rectangle 49"/>
          <p:cNvSpPr>
            <a:spLocks noChangeArrowheads="1"/>
          </p:cNvSpPr>
          <p:nvPr/>
        </p:nvSpPr>
        <p:spPr bwMode="auto">
          <a:xfrm>
            <a:off x="8048625" y="3762375"/>
            <a:ext cx="503238"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3" name="Rectangle 50"/>
          <p:cNvSpPr>
            <a:spLocks noChangeArrowheads="1"/>
          </p:cNvSpPr>
          <p:nvPr/>
        </p:nvSpPr>
        <p:spPr bwMode="auto">
          <a:xfrm>
            <a:off x="8075613" y="5321300"/>
            <a:ext cx="501650"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4" name="Rectangle 51"/>
          <p:cNvSpPr>
            <a:spLocks noChangeArrowheads="1"/>
          </p:cNvSpPr>
          <p:nvPr/>
        </p:nvSpPr>
        <p:spPr bwMode="auto">
          <a:xfrm>
            <a:off x="1009650" y="5321300"/>
            <a:ext cx="503238" cy="28575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5" name="Rectangle 52"/>
          <p:cNvSpPr>
            <a:spLocks noChangeArrowheads="1"/>
          </p:cNvSpPr>
          <p:nvPr/>
        </p:nvSpPr>
        <p:spPr bwMode="auto">
          <a:xfrm flipH="1">
            <a:off x="6429375" y="3694113"/>
            <a:ext cx="501650" cy="395287"/>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76" name="Rectangle 53"/>
          <p:cNvSpPr>
            <a:spLocks noChangeArrowheads="1"/>
          </p:cNvSpPr>
          <p:nvPr/>
        </p:nvSpPr>
        <p:spPr bwMode="auto">
          <a:xfrm flipH="1">
            <a:off x="6429375" y="5267325"/>
            <a:ext cx="501650" cy="3968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3</a:t>
            </a:r>
          </a:p>
        </p:txBody>
      </p:sp>
      <p:sp>
        <p:nvSpPr>
          <p:cNvPr id="1101877" name="Rectangle 54"/>
          <p:cNvSpPr>
            <a:spLocks noChangeArrowheads="1"/>
          </p:cNvSpPr>
          <p:nvPr/>
        </p:nvSpPr>
        <p:spPr bwMode="auto">
          <a:xfrm>
            <a:off x="1009650" y="3762375"/>
            <a:ext cx="503238" cy="282575"/>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1</a:t>
            </a:r>
          </a:p>
        </p:txBody>
      </p:sp>
      <p:sp>
        <p:nvSpPr>
          <p:cNvPr id="1101878" name="Rectangle 55"/>
          <p:cNvSpPr>
            <a:spLocks noChangeArrowheads="1"/>
          </p:cNvSpPr>
          <p:nvPr/>
        </p:nvSpPr>
        <p:spPr bwMode="auto">
          <a:xfrm>
            <a:off x="1808163" y="3729038"/>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79" name="Rectangle 56"/>
          <p:cNvSpPr>
            <a:spLocks noChangeArrowheads="1"/>
          </p:cNvSpPr>
          <p:nvPr/>
        </p:nvSpPr>
        <p:spPr bwMode="auto">
          <a:xfrm>
            <a:off x="1808163" y="5300663"/>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80" name="Rectangle 57"/>
          <p:cNvSpPr>
            <a:spLocks noChangeArrowheads="1"/>
          </p:cNvSpPr>
          <p:nvPr/>
        </p:nvSpPr>
        <p:spPr bwMode="auto">
          <a:xfrm flipH="1">
            <a:off x="7239000" y="3729038"/>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81" name="Rectangle 58"/>
          <p:cNvSpPr>
            <a:spLocks noChangeArrowheads="1"/>
          </p:cNvSpPr>
          <p:nvPr/>
        </p:nvSpPr>
        <p:spPr bwMode="auto">
          <a:xfrm flipH="1">
            <a:off x="7251700" y="5300663"/>
            <a:ext cx="501650" cy="330200"/>
          </a:xfrm>
          <a:prstGeom prst="rect">
            <a:avLst/>
          </a:prstGeom>
          <a:solidFill>
            <a:srgbClr val="FFFF99"/>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altLang="zh-CN" sz="2000" b="1">
                <a:solidFill>
                  <a:srgbClr val="0000CC"/>
                </a:solidFill>
                <a:ea typeface="黑体" panose="02010609060101010101" pitchFamily="49" charset="-122"/>
              </a:rPr>
              <a:t>2</a:t>
            </a:r>
          </a:p>
        </p:txBody>
      </p:sp>
      <p:sp>
        <p:nvSpPr>
          <p:cNvPr id="1101882" name="AutoShape 4"/>
          <p:cNvSpPr>
            <a:spLocks noChangeArrowheads="1"/>
          </p:cNvSpPr>
          <p:nvPr/>
        </p:nvSpPr>
        <p:spPr bwMode="auto">
          <a:xfrm>
            <a:off x="4492625" y="2736850"/>
            <a:ext cx="501650" cy="792163"/>
          </a:xfrm>
          <a:prstGeom prst="upDownArrow">
            <a:avLst>
              <a:gd name="adj1" fmla="val 50000"/>
              <a:gd name="adj2" fmla="val 34207"/>
            </a:avLst>
          </a:prstGeom>
          <a:solidFill>
            <a:srgbClr val="CC0099"/>
          </a:solidFill>
          <a:ln w="28575">
            <a:solidFill>
              <a:srgbClr val="CC0099"/>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01883" name="Text Box 59"/>
          <p:cNvSpPr txBox="1">
            <a:spLocks noChangeArrowheads="1"/>
          </p:cNvSpPr>
          <p:nvPr/>
        </p:nvSpPr>
        <p:spPr bwMode="auto">
          <a:xfrm>
            <a:off x="415925" y="1196975"/>
            <a:ext cx="2779713" cy="1630363"/>
          </a:xfrm>
          <a:prstGeom prst="rect">
            <a:avLst/>
          </a:prstGeom>
          <a:solidFill>
            <a:srgbClr val="CCECFF"/>
          </a:solidFill>
          <a:ln w="28575">
            <a:solidFill>
              <a:srgbClr val="333399"/>
            </a:solidFill>
            <a:miter lim="800000"/>
            <a:headEnd/>
            <a:tailEnd/>
          </a:ln>
        </p:spPr>
        <p:txBody>
          <a:bodyPr>
            <a:spAutoFit/>
          </a:bodyPr>
          <a:lstStyle/>
          <a:p>
            <a:pPr eaLnBrk="0" hangingPunct="0"/>
            <a:r>
              <a:rPr lang="zh-CN" altLang="en-US" sz="2000" b="1">
                <a:solidFill>
                  <a:srgbClr val="0000CC"/>
                </a:solidFill>
                <a:ea typeface="黑体" panose="02010609060101010101" pitchFamily="49" charset="-122"/>
              </a:rPr>
              <a:t>图中数字</a:t>
            </a:r>
            <a:r>
              <a:rPr lang="zh-CN" altLang="zh-CN" sz="2000" b="1">
                <a:solidFill>
                  <a:srgbClr val="0000CC"/>
                </a:solidFill>
                <a:ea typeface="黑体" panose="02010609060101010101" pitchFamily="49" charset="-122"/>
              </a:rPr>
              <a:t>表示相应层次的构件</a:t>
            </a:r>
            <a:r>
              <a:rPr lang="zh-CN" altLang="en-US" sz="2000" b="1">
                <a:solidFill>
                  <a:srgbClr val="0000CC"/>
                </a:solidFill>
                <a:ea typeface="黑体" panose="02010609060101010101" pitchFamily="49" charset="-122"/>
              </a:rPr>
              <a:t>：</a:t>
            </a:r>
            <a:endParaRPr lang="en-US" altLang="zh-CN" sz="2000" b="1">
              <a:solidFill>
                <a:srgbClr val="0000CC"/>
              </a:solidFill>
              <a:ea typeface="黑体" panose="02010609060101010101" pitchFamily="49" charset="-122"/>
            </a:endParaRPr>
          </a:p>
          <a:p>
            <a:pPr eaLnBrk="0" hangingPunct="0"/>
            <a:r>
              <a:rPr lang="en-US" altLang="zh-CN" sz="2000" b="1">
                <a:solidFill>
                  <a:srgbClr val="0000CC"/>
                </a:solidFill>
                <a:ea typeface="黑体" panose="02010609060101010101" pitchFamily="49" charset="-122"/>
              </a:rPr>
              <a:t>3——</a:t>
            </a:r>
            <a:r>
              <a:rPr lang="zh-CN" altLang="en-US" sz="2000" b="1">
                <a:solidFill>
                  <a:srgbClr val="0000CC"/>
                </a:solidFill>
                <a:ea typeface="黑体" panose="02010609060101010101" pitchFamily="49" charset="-122"/>
              </a:rPr>
              <a:t>网络层</a:t>
            </a:r>
          </a:p>
          <a:p>
            <a:pPr eaLnBrk="0" hangingPunct="0"/>
            <a:r>
              <a:rPr lang="en-US" altLang="zh-CN" sz="2000" b="1">
                <a:solidFill>
                  <a:srgbClr val="0000CC"/>
                </a:solidFill>
                <a:ea typeface="黑体" panose="02010609060101010101" pitchFamily="49" charset="-122"/>
              </a:rPr>
              <a:t>2——</a:t>
            </a:r>
            <a:r>
              <a:rPr lang="zh-CN" altLang="en-US" sz="2000" b="1">
                <a:solidFill>
                  <a:srgbClr val="0000CC"/>
                </a:solidFill>
                <a:ea typeface="黑体" panose="02010609060101010101" pitchFamily="49" charset="-122"/>
              </a:rPr>
              <a:t>数据链路层</a:t>
            </a:r>
          </a:p>
          <a:p>
            <a:pPr eaLnBrk="0" hangingPunct="0"/>
            <a:r>
              <a:rPr lang="en-US" altLang="zh-CN" sz="2000" b="1">
                <a:solidFill>
                  <a:srgbClr val="0000CC"/>
                </a:solidFill>
                <a:ea typeface="黑体" panose="02010609060101010101" pitchFamily="49" charset="-122"/>
              </a:rPr>
              <a:t>1——</a:t>
            </a:r>
            <a:r>
              <a:rPr lang="zh-CN" altLang="en-US" sz="2000" b="1">
                <a:solidFill>
                  <a:srgbClr val="0000CC"/>
                </a:solidFill>
                <a:ea typeface="黑体" panose="02010609060101010101" pitchFamily="49" charset="-122"/>
              </a:rPr>
              <a:t>物理层</a:t>
            </a:r>
          </a:p>
        </p:txBody>
      </p:sp>
      <p:sp>
        <p:nvSpPr>
          <p:cNvPr id="1101884" name="灯片编号占位符 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EA1811-017A-402E-B4D0-9D0D45CC35AC}" type="slidenum">
              <a:rPr lang="zh-CN" altLang="en-US" smtClean="0"/>
              <a:pPr eaLnBrk="1" hangingPunct="1"/>
              <a:t>17</a:t>
            </a:fld>
            <a:endParaRPr lang="en-US" altLang="zh-CN" smtClean="0"/>
          </a:p>
        </p:txBody>
      </p:sp>
      <p:sp>
        <p:nvSpPr>
          <p:cNvPr id="1101885" name="页脚占位符 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8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典型的路由器的结构 </a:t>
            </a:r>
          </a:p>
        </p:txBody>
      </p:sp>
      <p:sp>
        <p:nvSpPr>
          <p:cNvPr id="1103874"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整个的路由器结构可划分为两大部分：</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路由选择部分</a:t>
            </a:r>
            <a:endParaRPr lang="en-US" altLang="zh-CN" dirty="0" smtClean="0">
              <a:ea typeface="黑体" panose="02010609060101010101" pitchFamily="49" charset="-122"/>
            </a:endParaRPr>
          </a:p>
          <a:p>
            <a:pPr lvl="1"/>
            <a:r>
              <a:rPr lang="zh-CN" altLang="zh-CN" dirty="0" smtClean="0">
                <a:ea typeface="黑体" panose="02010609060101010101" pitchFamily="49" charset="-122"/>
              </a:rPr>
              <a:t>分组转发部分</a:t>
            </a:r>
          </a:p>
          <a:p>
            <a:r>
              <a:rPr lang="zh-CN" altLang="zh-CN" dirty="0" smtClean="0">
                <a:solidFill>
                  <a:srgbClr val="FF0000"/>
                </a:solidFill>
                <a:ea typeface="黑体" panose="02010609060101010101" pitchFamily="49" charset="-122"/>
              </a:rPr>
              <a:t>路由选择部分</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也叫</a:t>
            </a:r>
            <a:r>
              <a:rPr lang="zh-CN" altLang="en-US" dirty="0" smtClean="0">
                <a:ea typeface="黑体" panose="02010609060101010101" pitchFamily="49" charset="-122"/>
              </a:rPr>
              <a:t>作</a:t>
            </a:r>
            <a:r>
              <a:rPr lang="zh-CN" altLang="zh-CN" dirty="0" smtClean="0">
                <a:solidFill>
                  <a:srgbClr val="0000FF"/>
                </a:solidFill>
                <a:ea typeface="黑体" panose="02010609060101010101" pitchFamily="49" charset="-122"/>
              </a:rPr>
              <a:t>控制部分</a:t>
            </a:r>
            <a:r>
              <a:rPr lang="zh-CN" altLang="zh-CN" dirty="0" smtClean="0">
                <a:ea typeface="黑体" panose="02010609060101010101" pitchFamily="49" charset="-122"/>
              </a:rPr>
              <a:t>，其核心构件是路由选择处理机。</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路由选择处理机的任务是根据所选定的路由选择协议构造出路由表，同时经常或定期地和相邻路由器交换路由信息而不断地更新和维护路由表。</a:t>
            </a:r>
            <a:endParaRPr lang="zh-CN" altLang="en-US" dirty="0" smtClean="0">
              <a:ea typeface="黑体" panose="02010609060101010101" pitchFamily="49" charset="-122"/>
            </a:endParaRPr>
          </a:p>
        </p:txBody>
      </p:sp>
      <p:sp>
        <p:nvSpPr>
          <p:cNvPr id="11038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7D53D0-2D70-42F0-B542-A392DE19A837}" type="slidenum">
              <a:rPr lang="zh-CN" altLang="en-US" smtClean="0"/>
              <a:pPr eaLnBrk="1" hangingPunct="1"/>
              <a:t>18</a:t>
            </a:fld>
            <a:endParaRPr lang="en-US" altLang="zh-CN" smtClean="0"/>
          </a:p>
        </p:txBody>
      </p:sp>
      <p:sp>
        <p:nvSpPr>
          <p:cNvPr id="11038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897"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典型的路由器的结构 </a:t>
            </a:r>
          </a:p>
        </p:txBody>
      </p:sp>
      <p:sp>
        <p:nvSpPr>
          <p:cNvPr id="3" name="内容占位符 2"/>
          <p:cNvSpPr>
            <a:spLocks noGrp="1"/>
          </p:cNvSpPr>
          <p:nvPr>
            <p:ph idx="1"/>
          </p:nvPr>
        </p:nvSpPr>
        <p:spPr>
          <a:xfrm>
            <a:off x="495300" y="1196975"/>
            <a:ext cx="9066213" cy="4933950"/>
          </a:xfrm>
        </p:spPr>
        <p:txBody>
          <a:bodyPr/>
          <a:lstStyle/>
          <a:p>
            <a:r>
              <a:rPr lang="zh-CN" altLang="zh-CN" noProof="1">
                <a:solidFill>
                  <a:srgbClr val="FF0000"/>
                </a:solidFill>
              </a:rPr>
              <a:t>分组转发部分</a:t>
            </a:r>
            <a:r>
              <a:rPr lang="zh-CN" altLang="zh-CN" noProof="1"/>
              <a:t>由三部分组成：</a:t>
            </a:r>
            <a:endParaRPr lang="en-US" altLang="zh-CN" noProof="1"/>
          </a:p>
          <a:p>
            <a:pPr lvl="1"/>
            <a:r>
              <a:rPr lang="zh-CN" altLang="zh-CN" noProof="1">
                <a:solidFill>
                  <a:srgbClr val="0000FF"/>
                </a:solidFill>
                <a:cs typeface="+mn-ea"/>
              </a:rPr>
              <a:t>交换结构 </a:t>
            </a:r>
            <a:r>
              <a:rPr lang="en-US" altLang="zh-CN" noProof="1">
                <a:cs typeface="+mn-ea"/>
              </a:rPr>
              <a:t>(switching fabric)</a:t>
            </a:r>
            <a:r>
              <a:rPr lang="zh-CN" altLang="en-US" noProof="1">
                <a:cs typeface="+mn-ea"/>
              </a:rPr>
              <a:t>：</a:t>
            </a:r>
            <a:r>
              <a:rPr lang="zh-CN" altLang="zh-CN" noProof="1">
                <a:cs typeface="+mn-ea"/>
              </a:rPr>
              <a:t>又称为交换组织，</a:t>
            </a:r>
            <a:r>
              <a:rPr lang="zh-CN" altLang="en-US" noProof="1">
                <a:cs typeface="+mn-ea"/>
              </a:rPr>
              <a:t>其</a:t>
            </a:r>
            <a:r>
              <a:rPr lang="zh-CN" altLang="zh-CN" noProof="1">
                <a:cs typeface="+mn-ea"/>
              </a:rPr>
              <a:t>作用是根据</a:t>
            </a:r>
            <a:r>
              <a:rPr lang="zh-CN" altLang="zh-CN" noProof="1">
                <a:solidFill>
                  <a:srgbClr val="0000FF"/>
                </a:solidFill>
                <a:cs typeface="+mn-ea"/>
              </a:rPr>
              <a:t>转发表</a:t>
            </a:r>
            <a:r>
              <a:rPr lang="en-US" altLang="zh-CN" noProof="1">
                <a:cs typeface="+mn-ea"/>
              </a:rPr>
              <a:t> (forwarding table) </a:t>
            </a:r>
            <a:r>
              <a:rPr lang="zh-CN" altLang="zh-CN" noProof="1">
                <a:cs typeface="+mn-ea"/>
              </a:rPr>
              <a:t>对分组进行处理</a:t>
            </a:r>
            <a:r>
              <a:rPr lang="zh-CN" altLang="en-US" noProof="1">
                <a:cs typeface="+mn-ea"/>
              </a:rPr>
              <a:t>。</a:t>
            </a:r>
            <a:endParaRPr lang="en-US" altLang="zh-CN" noProof="1">
              <a:cs typeface="+mn-ea"/>
            </a:endParaRPr>
          </a:p>
          <a:p>
            <a:pPr lvl="1"/>
            <a:r>
              <a:rPr lang="zh-CN" altLang="zh-CN" noProof="1">
                <a:cs typeface="+mn-ea"/>
              </a:rPr>
              <a:t>一组</a:t>
            </a:r>
            <a:r>
              <a:rPr lang="zh-CN" altLang="zh-CN" noProof="1">
                <a:solidFill>
                  <a:srgbClr val="0000FF"/>
                </a:solidFill>
                <a:cs typeface="+mn-ea"/>
              </a:rPr>
              <a:t>输入端口</a:t>
            </a:r>
            <a:endParaRPr lang="en-US" altLang="zh-CN" noProof="1">
              <a:solidFill>
                <a:srgbClr val="0000FF"/>
              </a:solidFill>
              <a:cs typeface="+mn-ea"/>
            </a:endParaRPr>
          </a:p>
          <a:p>
            <a:pPr lvl="1"/>
            <a:r>
              <a:rPr lang="zh-CN" altLang="zh-CN" noProof="1">
                <a:cs typeface="+mn-ea"/>
              </a:rPr>
              <a:t>一组</a:t>
            </a:r>
            <a:r>
              <a:rPr lang="zh-CN" altLang="zh-CN" noProof="1">
                <a:solidFill>
                  <a:srgbClr val="0000FF"/>
                </a:solidFill>
                <a:cs typeface="+mn-ea"/>
              </a:rPr>
              <a:t>输出端口</a:t>
            </a:r>
            <a:endParaRPr lang="en-US" altLang="zh-CN" noProof="1">
              <a:solidFill>
                <a:srgbClr val="0000FF"/>
              </a:solidFill>
              <a:cs typeface="+mn-ea"/>
            </a:endParaRPr>
          </a:p>
          <a:p>
            <a:pPr marL="457200" lvl="1" indent="0">
              <a:buFont typeface="Wingdings" panose="05000000000000000000" pitchFamily="2" charset="2"/>
              <a:buNone/>
            </a:pPr>
            <a:r>
              <a:rPr lang="zh-CN" altLang="en-US" noProof="1">
                <a:cs typeface="+mn-ea"/>
              </a:rPr>
              <a:t>（</a:t>
            </a:r>
            <a:r>
              <a:rPr lang="zh-CN" altLang="zh-CN" noProof="1">
                <a:cs typeface="+mn-ea"/>
              </a:rPr>
              <a:t>请注意：这里的端口就是硬件接口）</a:t>
            </a:r>
            <a:endParaRPr lang="zh-CN" altLang="en-US" noProof="1">
              <a:cs typeface="+mn-ea"/>
            </a:endParaRPr>
          </a:p>
        </p:txBody>
      </p:sp>
      <p:sp>
        <p:nvSpPr>
          <p:cNvPr id="110489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994782-14DC-457B-8C5D-0D2427C8EA32}" type="slidenum">
              <a:rPr lang="zh-CN" altLang="en-US" smtClean="0"/>
              <a:pPr eaLnBrk="1" hangingPunct="1"/>
              <a:t>19</a:t>
            </a:fld>
            <a:endParaRPr lang="en-US" altLang="zh-CN" smtClean="0"/>
          </a:p>
        </p:txBody>
      </p:sp>
      <p:sp>
        <p:nvSpPr>
          <p:cNvPr id="110490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2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转发”和“路由选择”的区别 </a:t>
            </a:r>
          </a:p>
        </p:txBody>
      </p:sp>
      <p:sp>
        <p:nvSpPr>
          <p:cNvPr id="956419" name="Rectangle 3"/>
          <p:cNvSpPr>
            <a:spLocks noGrp="1" noChangeArrowheads="1"/>
          </p:cNvSpPr>
          <p:nvPr>
            <p:ph idx="1"/>
          </p:nvPr>
        </p:nvSpPr>
        <p:spPr>
          <a:xfrm>
            <a:off x="495300" y="1196975"/>
            <a:ext cx="9066213" cy="4933950"/>
          </a:xfrm>
        </p:spPr>
        <p:txBody>
          <a:bodyPr/>
          <a:lstStyle/>
          <a:p>
            <a:pPr algn="just"/>
            <a:r>
              <a:rPr lang="en-US" altLang="zh-CN" sz="2800" smtClean="0">
                <a:ea typeface="黑体" panose="02010609060101010101" pitchFamily="49" charset="-122"/>
              </a:rPr>
              <a:t>“</a:t>
            </a:r>
            <a:r>
              <a:rPr lang="zh-CN" altLang="en-US" sz="2800" smtClean="0">
                <a:solidFill>
                  <a:srgbClr val="FF0000"/>
                </a:solidFill>
                <a:ea typeface="黑体" panose="02010609060101010101" pitchFamily="49" charset="-122"/>
              </a:rPr>
              <a:t>转发</a:t>
            </a:r>
            <a:r>
              <a:rPr lang="zh-CN" altLang="en-US" sz="2800" smtClean="0">
                <a:ea typeface="黑体" panose="02010609060101010101" pitchFamily="49" charset="-122"/>
              </a:rPr>
              <a:t>”</a:t>
            </a:r>
            <a:r>
              <a:rPr lang="en-US" altLang="zh-CN" sz="2800" smtClean="0">
                <a:ea typeface="黑体" panose="02010609060101010101" pitchFamily="49" charset="-122"/>
              </a:rPr>
              <a:t>(forwarding) </a:t>
            </a:r>
            <a:r>
              <a:rPr lang="zh-CN" altLang="en-US" sz="2800" smtClean="0">
                <a:ea typeface="黑体" panose="02010609060101010101" pitchFamily="49" charset="-122"/>
              </a:rPr>
              <a:t>就是路由器根据转发表将用户的 </a:t>
            </a:r>
            <a:r>
              <a:rPr lang="en-US" altLang="zh-CN" sz="2800" smtClean="0">
                <a:ea typeface="黑体" panose="02010609060101010101" pitchFamily="49" charset="-122"/>
              </a:rPr>
              <a:t>IP </a:t>
            </a:r>
            <a:r>
              <a:rPr lang="zh-CN" altLang="en-US" sz="2800" smtClean="0">
                <a:ea typeface="黑体" panose="02010609060101010101" pitchFamily="49" charset="-122"/>
              </a:rPr>
              <a:t>数据报从合适的端口转发出去。</a:t>
            </a:r>
          </a:p>
          <a:p>
            <a:pPr algn="just"/>
            <a:r>
              <a:rPr lang="zh-CN" altLang="en-US" sz="2800" smtClean="0">
                <a:ea typeface="黑体" panose="02010609060101010101" pitchFamily="49" charset="-122"/>
              </a:rPr>
              <a:t>“</a:t>
            </a:r>
            <a:r>
              <a:rPr lang="zh-CN" altLang="en-US" sz="2800" smtClean="0">
                <a:solidFill>
                  <a:srgbClr val="FF0000"/>
                </a:solidFill>
                <a:ea typeface="黑体" panose="02010609060101010101" pitchFamily="49" charset="-122"/>
              </a:rPr>
              <a:t>路由选择</a:t>
            </a:r>
            <a:r>
              <a:rPr lang="zh-CN" altLang="en-US" sz="2800" smtClean="0">
                <a:ea typeface="黑体" panose="02010609060101010101" pitchFamily="49" charset="-122"/>
              </a:rPr>
              <a:t>”</a:t>
            </a:r>
            <a:r>
              <a:rPr lang="en-US" altLang="zh-CN" sz="2800" smtClean="0">
                <a:ea typeface="黑体" panose="02010609060101010101" pitchFamily="49" charset="-122"/>
              </a:rPr>
              <a:t>(routing) </a:t>
            </a:r>
            <a:r>
              <a:rPr lang="zh-CN" altLang="en-US" sz="2800" smtClean="0">
                <a:ea typeface="黑体" panose="02010609060101010101" pitchFamily="49" charset="-122"/>
              </a:rPr>
              <a:t>则是按照分布式算法，根据从各相邻路由器得到的关于网络拓扑的变化情况，动态地改变所选择的路由。</a:t>
            </a:r>
          </a:p>
          <a:p>
            <a:pPr algn="just"/>
            <a:r>
              <a:rPr lang="zh-CN" altLang="en-US" sz="2800" smtClean="0">
                <a:solidFill>
                  <a:srgbClr val="0000FF"/>
                </a:solidFill>
                <a:ea typeface="黑体" panose="02010609060101010101" pitchFamily="49" charset="-122"/>
              </a:rPr>
              <a:t>路由表是根据路由选择算法得出的。而转发表是从路由表得出的。</a:t>
            </a:r>
          </a:p>
          <a:p>
            <a:pPr algn="just"/>
            <a:r>
              <a:rPr lang="zh-CN" altLang="en-US" sz="2800" smtClean="0">
                <a:ea typeface="黑体" panose="02010609060101010101" pitchFamily="49" charset="-122"/>
              </a:rPr>
              <a:t>在讨论路由选择的原理时，往往不去区分转发表和路由表的区别。</a:t>
            </a:r>
          </a:p>
        </p:txBody>
      </p:sp>
      <p:sp>
        <p:nvSpPr>
          <p:cNvPr id="11059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3E285A-47E3-4024-8E99-80A1260C345F}" type="slidenum">
              <a:rPr lang="zh-CN" altLang="en-US" smtClean="0"/>
              <a:pPr eaLnBrk="1" hangingPunct="1"/>
              <a:t>20</a:t>
            </a:fld>
            <a:endParaRPr lang="en-US" altLang="zh-CN" smtClean="0"/>
          </a:p>
        </p:txBody>
      </p:sp>
      <p:sp>
        <p:nvSpPr>
          <p:cNvPr id="11059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64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64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564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641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969"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输入端口对线路上收到的分组的处理 </a:t>
            </a:r>
          </a:p>
        </p:txBody>
      </p:sp>
      <p:sp>
        <p:nvSpPr>
          <p:cNvPr id="1107970" name="Rectangle 3"/>
          <p:cNvSpPr>
            <a:spLocks noGrp="1" noChangeArrowheads="1"/>
          </p:cNvSpPr>
          <p:nvPr>
            <p:ph idx="1"/>
          </p:nvPr>
        </p:nvSpPr>
        <p:spPr>
          <a:xfrm>
            <a:off x="495300" y="1196975"/>
            <a:ext cx="9066213" cy="4933950"/>
          </a:xfrm>
        </p:spPr>
        <p:txBody>
          <a:bodyPr/>
          <a:lstStyle/>
          <a:p>
            <a:pPr algn="just"/>
            <a:r>
              <a:rPr lang="zh-CN" altLang="zh-CN" smtClean="0">
                <a:ea typeface="黑体" panose="02010609060101010101" pitchFamily="49" charset="-122"/>
              </a:rPr>
              <a:t>路由器的输入端口里面</a:t>
            </a:r>
            <a:r>
              <a:rPr lang="zh-CN" altLang="en-US" smtClean="0">
                <a:ea typeface="黑体" panose="02010609060101010101" pitchFamily="49" charset="-122"/>
              </a:rPr>
              <a:t>装有</a:t>
            </a:r>
            <a:r>
              <a:rPr lang="zh-CN" altLang="zh-CN" smtClean="0">
                <a:ea typeface="黑体" panose="02010609060101010101" pitchFamily="49" charset="-122"/>
              </a:rPr>
              <a:t>物理层、数据链路层和网络层的处理模块。</a:t>
            </a:r>
            <a:endParaRPr lang="en-US" altLang="zh-CN" smtClean="0">
              <a:ea typeface="黑体" panose="02010609060101010101" pitchFamily="49" charset="-122"/>
            </a:endParaRPr>
          </a:p>
          <a:p>
            <a:pPr algn="just"/>
            <a:r>
              <a:rPr lang="zh-CN" altLang="en-US" smtClean="0">
                <a:ea typeface="黑体" panose="02010609060101010101" pitchFamily="49" charset="-122"/>
              </a:rPr>
              <a:t>数据链路层剥去帧首部和尾部后，将分组送到网络层的队列中排队等待处理。这会产生一定的时延。 </a:t>
            </a:r>
            <a:endParaRPr lang="en-US" altLang="zh-CN" smtClean="0">
              <a:ea typeface="黑体" panose="02010609060101010101" pitchFamily="49" charset="-122"/>
            </a:endParaRPr>
          </a:p>
          <a:p>
            <a:pPr algn="just"/>
            <a:r>
              <a:rPr lang="zh-CN" altLang="zh-CN" smtClean="0">
                <a:solidFill>
                  <a:srgbClr val="FF0000"/>
                </a:solidFill>
                <a:ea typeface="黑体" panose="02010609060101010101" pitchFamily="49" charset="-122"/>
              </a:rPr>
              <a:t>输入端口中的查找和转发功能在路由器的交换功能中是最重要的。</a:t>
            </a:r>
            <a:endParaRPr lang="en-US" altLang="zh-CN" smtClean="0">
              <a:solidFill>
                <a:srgbClr val="FF0000"/>
              </a:solidFill>
              <a:ea typeface="黑体" panose="02010609060101010101" pitchFamily="49" charset="-122"/>
            </a:endParaRPr>
          </a:p>
        </p:txBody>
      </p:sp>
      <p:sp>
        <p:nvSpPr>
          <p:cNvPr id="1107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78B4F8-A91B-4C99-89E9-AC368E535E25}" type="slidenum">
              <a:rPr lang="zh-CN" altLang="en-US" smtClean="0"/>
              <a:pPr eaLnBrk="1" hangingPunct="1"/>
              <a:t>21</a:t>
            </a:fld>
            <a:endParaRPr lang="en-US" altLang="zh-CN" smtClean="0"/>
          </a:p>
        </p:txBody>
      </p:sp>
      <p:sp>
        <p:nvSpPr>
          <p:cNvPr id="1107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017" name="Rectangle 2"/>
          <p:cNvSpPr>
            <a:spLocks noGrp="1" noChangeArrowheads="1"/>
          </p:cNvSpPr>
          <p:nvPr>
            <p:ph type="title"/>
          </p:nvPr>
        </p:nvSpPr>
        <p:spPr/>
        <p:txBody>
          <a:bodyPr/>
          <a:lstStyle/>
          <a:p>
            <a:pPr algn="ctr"/>
            <a:r>
              <a:rPr lang="zh-CN" altLang="en-US" sz="3600" smtClean="0">
                <a:ea typeface="黑体" panose="02010609060101010101" pitchFamily="49" charset="-122"/>
              </a:rPr>
              <a:t>输入端口对线路上收到的分组的处理 </a:t>
            </a:r>
          </a:p>
        </p:txBody>
      </p:sp>
      <p:sp>
        <p:nvSpPr>
          <p:cNvPr id="1110018" name="Rectangle 4"/>
          <p:cNvSpPr>
            <a:spLocks noChangeArrowheads="1"/>
          </p:cNvSpPr>
          <p:nvPr/>
        </p:nvSpPr>
        <p:spPr bwMode="auto">
          <a:xfrm>
            <a:off x="1724025" y="2073275"/>
            <a:ext cx="6691313" cy="2662238"/>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0019" name="Rectangle 5"/>
          <p:cNvSpPr>
            <a:spLocks noChangeArrowheads="1"/>
          </p:cNvSpPr>
          <p:nvPr/>
        </p:nvSpPr>
        <p:spPr bwMode="auto">
          <a:xfrm>
            <a:off x="2168525" y="3133725"/>
            <a:ext cx="1339850" cy="798513"/>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物理层处理</a:t>
            </a:r>
          </a:p>
        </p:txBody>
      </p:sp>
      <p:sp>
        <p:nvSpPr>
          <p:cNvPr id="1110020" name="Rectangle 6"/>
          <p:cNvSpPr>
            <a:spLocks noChangeArrowheads="1"/>
          </p:cNvSpPr>
          <p:nvPr/>
        </p:nvSpPr>
        <p:spPr bwMode="auto">
          <a:xfrm>
            <a:off x="4070350" y="2870200"/>
            <a:ext cx="1338263" cy="1327150"/>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数据链路层</a:t>
            </a:r>
          </a:p>
          <a:p>
            <a:pPr algn="ctr" eaLnBrk="0" hangingPunct="0"/>
            <a:r>
              <a:rPr lang="zh-CN" altLang="en-US" sz="2000" b="1">
                <a:solidFill>
                  <a:srgbClr val="0000CC"/>
                </a:solidFill>
                <a:ea typeface="黑体" panose="02010609060101010101" pitchFamily="49" charset="-122"/>
              </a:rPr>
              <a:t>处理</a:t>
            </a:r>
          </a:p>
        </p:txBody>
      </p:sp>
      <p:sp>
        <p:nvSpPr>
          <p:cNvPr id="1110021" name="Rectangle 7"/>
          <p:cNvSpPr>
            <a:spLocks noChangeArrowheads="1"/>
          </p:cNvSpPr>
          <p:nvPr/>
        </p:nvSpPr>
        <p:spPr bwMode="auto">
          <a:xfrm>
            <a:off x="6067425" y="2330450"/>
            <a:ext cx="1901825" cy="2060575"/>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0022" name="Line 8"/>
          <p:cNvSpPr>
            <a:spLocks noChangeShapeType="1"/>
          </p:cNvSpPr>
          <p:nvPr/>
        </p:nvSpPr>
        <p:spPr bwMode="auto">
          <a:xfrm flipV="1">
            <a:off x="1482725" y="3533775"/>
            <a:ext cx="712788" cy="4763"/>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3" name="Line 9"/>
          <p:cNvSpPr>
            <a:spLocks noChangeShapeType="1"/>
          </p:cNvSpPr>
          <p:nvPr/>
        </p:nvSpPr>
        <p:spPr bwMode="auto">
          <a:xfrm>
            <a:off x="3508375" y="3533775"/>
            <a:ext cx="561975"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4" name="Line 10"/>
          <p:cNvSpPr>
            <a:spLocks noChangeShapeType="1"/>
          </p:cNvSpPr>
          <p:nvPr/>
        </p:nvSpPr>
        <p:spPr bwMode="auto">
          <a:xfrm>
            <a:off x="5429250" y="3533775"/>
            <a:ext cx="647700"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5" name="Line 11"/>
          <p:cNvSpPr>
            <a:spLocks noChangeShapeType="1"/>
          </p:cNvSpPr>
          <p:nvPr/>
        </p:nvSpPr>
        <p:spPr bwMode="auto">
          <a:xfrm>
            <a:off x="7969250" y="3533775"/>
            <a:ext cx="892175"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6" name="Line 12"/>
          <p:cNvSpPr>
            <a:spLocks noChangeShapeType="1"/>
          </p:cNvSpPr>
          <p:nvPr/>
        </p:nvSpPr>
        <p:spPr bwMode="auto">
          <a:xfrm>
            <a:off x="8861425" y="1901825"/>
            <a:ext cx="0" cy="3005138"/>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7" name="Freeform 13"/>
          <p:cNvSpPr>
            <a:spLocks noChangeArrowheads="1"/>
          </p:cNvSpPr>
          <p:nvPr/>
        </p:nvSpPr>
        <p:spPr bwMode="auto">
          <a:xfrm>
            <a:off x="6384925" y="3189288"/>
            <a:ext cx="1358900" cy="687387"/>
          </a:xfrm>
          <a:custGeom>
            <a:avLst/>
            <a:gdLst>
              <a:gd name="T0" fmla="*/ 0 w 816"/>
              <a:gd name="T1" fmla="*/ 0 h 336"/>
              <a:gd name="T2" fmla="*/ 816 w 816"/>
              <a:gd name="T3" fmla="*/ 0 h 336"/>
              <a:gd name="T4" fmla="*/ 816 w 816"/>
              <a:gd name="T5" fmla="*/ 336 h 336"/>
              <a:gd name="T6" fmla="*/ 0 w 816"/>
              <a:gd name="T7" fmla="*/ 336 h 336"/>
            </a:gdLst>
            <a:ahLst/>
            <a:cxnLst>
              <a:cxn ang="0">
                <a:pos x="T0" y="T1"/>
              </a:cxn>
              <a:cxn ang="0">
                <a:pos x="T2" y="T3"/>
              </a:cxn>
              <a:cxn ang="0">
                <a:pos x="T4" y="T5"/>
              </a:cxn>
              <a:cxn ang="0">
                <a:pos x="T6" y="T7"/>
              </a:cxn>
            </a:cxnLst>
            <a:rect l="0" t="0" r="r" b="b"/>
            <a:pathLst>
              <a:path w="816" h="336">
                <a:moveTo>
                  <a:pt x="0" y="0"/>
                </a:moveTo>
                <a:lnTo>
                  <a:pt x="816" y="0"/>
                </a:lnTo>
                <a:lnTo>
                  <a:pt x="816" y="336"/>
                </a:lnTo>
                <a:lnTo>
                  <a:pt x="0" y="336"/>
                </a:lnTo>
              </a:path>
            </a:pathLst>
          </a:custGeom>
          <a:solidFill>
            <a:srgbClr val="FFFF99"/>
          </a:solidFill>
          <a:ln w="28575">
            <a:solidFill>
              <a:srgbClr val="333399"/>
            </a:solidFill>
            <a:round/>
            <a:headEnd/>
            <a:tailEnd/>
          </a:ln>
        </p:spPr>
        <p:txBody>
          <a:bodyPr/>
          <a:lstStyle/>
          <a:p>
            <a:pPr eaLnBrk="0" hangingPunct="0"/>
            <a:endParaRPr lang="zh-CN" altLang="en-US" b="1">
              <a:solidFill>
                <a:srgbClr val="0000CC"/>
              </a:solidFill>
              <a:ea typeface="黑体" panose="02010609060101010101" pitchFamily="49" charset="-122"/>
            </a:endParaRPr>
          </a:p>
        </p:txBody>
      </p:sp>
      <p:sp>
        <p:nvSpPr>
          <p:cNvPr id="1110028" name="Line 14"/>
          <p:cNvSpPr>
            <a:spLocks noChangeShapeType="1"/>
          </p:cNvSpPr>
          <p:nvPr/>
        </p:nvSpPr>
        <p:spPr bwMode="auto">
          <a:xfrm>
            <a:off x="7583488"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29" name="Line 15"/>
          <p:cNvSpPr>
            <a:spLocks noChangeShapeType="1"/>
          </p:cNvSpPr>
          <p:nvPr/>
        </p:nvSpPr>
        <p:spPr bwMode="auto">
          <a:xfrm>
            <a:off x="7424738"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0" name="Line 16"/>
          <p:cNvSpPr>
            <a:spLocks noChangeShapeType="1"/>
          </p:cNvSpPr>
          <p:nvPr/>
        </p:nvSpPr>
        <p:spPr bwMode="auto">
          <a:xfrm>
            <a:off x="7262813"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1" name="Line 17"/>
          <p:cNvSpPr>
            <a:spLocks noChangeShapeType="1"/>
          </p:cNvSpPr>
          <p:nvPr/>
        </p:nvSpPr>
        <p:spPr bwMode="auto">
          <a:xfrm>
            <a:off x="7104063"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2" name="Line 18"/>
          <p:cNvSpPr>
            <a:spLocks noChangeShapeType="1"/>
          </p:cNvSpPr>
          <p:nvPr/>
        </p:nvSpPr>
        <p:spPr bwMode="auto">
          <a:xfrm>
            <a:off x="6945313"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3" name="Line 19"/>
          <p:cNvSpPr>
            <a:spLocks noChangeShapeType="1"/>
          </p:cNvSpPr>
          <p:nvPr/>
        </p:nvSpPr>
        <p:spPr bwMode="auto">
          <a:xfrm>
            <a:off x="6784975" y="3189288"/>
            <a:ext cx="0" cy="687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0034" name="Text Box 20"/>
          <p:cNvSpPr txBox="1">
            <a:spLocks noChangeArrowheads="1"/>
          </p:cNvSpPr>
          <p:nvPr/>
        </p:nvSpPr>
        <p:spPr bwMode="auto">
          <a:xfrm>
            <a:off x="6346825" y="2405063"/>
            <a:ext cx="14747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网络层处理</a:t>
            </a:r>
          </a:p>
          <a:p>
            <a:pPr eaLnBrk="0" hangingPunct="0"/>
            <a:r>
              <a:rPr lang="zh-CN" altLang="en-US" sz="2000" b="1">
                <a:solidFill>
                  <a:srgbClr val="0000CC"/>
                </a:solidFill>
                <a:ea typeface="黑体" panose="02010609060101010101" pitchFamily="49" charset="-122"/>
              </a:rPr>
              <a:t>  分组排队</a:t>
            </a:r>
          </a:p>
        </p:txBody>
      </p:sp>
      <p:sp>
        <p:nvSpPr>
          <p:cNvPr id="1110035" name="Text Box 21"/>
          <p:cNvSpPr txBox="1">
            <a:spLocks noChangeArrowheads="1"/>
          </p:cNvSpPr>
          <p:nvPr/>
        </p:nvSpPr>
        <p:spPr bwMode="auto">
          <a:xfrm>
            <a:off x="6465888" y="3870325"/>
            <a:ext cx="325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  </a:t>
            </a:r>
          </a:p>
        </p:txBody>
      </p:sp>
      <p:sp>
        <p:nvSpPr>
          <p:cNvPr id="1110036" name="Text Box 22"/>
          <p:cNvSpPr txBox="1">
            <a:spLocks noChangeArrowheads="1"/>
          </p:cNvSpPr>
          <p:nvPr/>
        </p:nvSpPr>
        <p:spPr bwMode="auto">
          <a:xfrm>
            <a:off x="8929688" y="2825750"/>
            <a:ext cx="4413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交</a:t>
            </a:r>
          </a:p>
          <a:p>
            <a:pPr eaLnBrk="0" hangingPunct="0"/>
            <a:r>
              <a:rPr lang="zh-CN" altLang="en-US" sz="2000" b="1">
                <a:solidFill>
                  <a:srgbClr val="0000CC"/>
                </a:solidFill>
                <a:ea typeface="黑体" panose="02010609060101010101" pitchFamily="49" charset="-122"/>
              </a:rPr>
              <a:t>换</a:t>
            </a:r>
          </a:p>
          <a:p>
            <a:pPr eaLnBrk="0" hangingPunct="0"/>
            <a:r>
              <a:rPr lang="zh-CN" altLang="en-US" sz="2000" b="1">
                <a:solidFill>
                  <a:srgbClr val="0000CC"/>
                </a:solidFill>
                <a:ea typeface="黑体" panose="02010609060101010101" pitchFamily="49" charset="-122"/>
              </a:rPr>
              <a:t>结</a:t>
            </a:r>
          </a:p>
          <a:p>
            <a:pPr eaLnBrk="0" hangingPunct="0"/>
            <a:r>
              <a:rPr lang="zh-CN" altLang="en-US" sz="2000" b="1">
                <a:solidFill>
                  <a:srgbClr val="0000CC"/>
                </a:solidFill>
                <a:ea typeface="黑体" panose="02010609060101010101" pitchFamily="49" charset="-122"/>
              </a:rPr>
              <a:t>构</a:t>
            </a:r>
          </a:p>
        </p:txBody>
      </p:sp>
      <p:sp>
        <p:nvSpPr>
          <p:cNvPr id="1110037" name="Text Box 23"/>
          <p:cNvSpPr txBox="1">
            <a:spLocks noChangeArrowheads="1"/>
          </p:cNvSpPr>
          <p:nvPr/>
        </p:nvSpPr>
        <p:spPr bwMode="auto">
          <a:xfrm>
            <a:off x="3729038" y="1557338"/>
            <a:ext cx="25193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输入端口的处理</a:t>
            </a:r>
          </a:p>
        </p:txBody>
      </p:sp>
      <p:sp>
        <p:nvSpPr>
          <p:cNvPr id="1110038" name="Text Box 24"/>
          <p:cNvSpPr txBox="1">
            <a:spLocks noChangeArrowheads="1"/>
          </p:cNvSpPr>
          <p:nvPr/>
        </p:nvSpPr>
        <p:spPr bwMode="auto">
          <a:xfrm>
            <a:off x="1065213" y="2549525"/>
            <a:ext cx="4413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从</a:t>
            </a:r>
          </a:p>
          <a:p>
            <a:pPr eaLnBrk="0" hangingPunct="0">
              <a:lnSpc>
                <a:spcPct val="90000"/>
              </a:lnSpc>
            </a:pPr>
            <a:r>
              <a:rPr lang="zh-CN" altLang="en-US" sz="2000" b="1">
                <a:solidFill>
                  <a:srgbClr val="0000CC"/>
                </a:solidFill>
                <a:ea typeface="黑体" panose="02010609060101010101" pitchFamily="49" charset="-122"/>
              </a:rPr>
              <a:t>线</a:t>
            </a:r>
          </a:p>
          <a:p>
            <a:pPr eaLnBrk="0" hangingPunct="0">
              <a:lnSpc>
                <a:spcPct val="90000"/>
              </a:lnSpc>
            </a:pPr>
            <a:r>
              <a:rPr lang="zh-CN" altLang="en-US" sz="2000" b="1">
                <a:solidFill>
                  <a:srgbClr val="0000CC"/>
                </a:solidFill>
                <a:ea typeface="黑体" panose="02010609060101010101" pitchFamily="49" charset="-122"/>
              </a:rPr>
              <a:t>路</a:t>
            </a:r>
          </a:p>
          <a:p>
            <a:pPr eaLnBrk="0" hangingPunct="0">
              <a:lnSpc>
                <a:spcPct val="90000"/>
              </a:lnSpc>
            </a:pPr>
            <a:r>
              <a:rPr lang="zh-CN" altLang="en-US" sz="2000" b="1">
                <a:solidFill>
                  <a:srgbClr val="0000CC"/>
                </a:solidFill>
                <a:ea typeface="黑体" panose="02010609060101010101" pitchFamily="49" charset="-122"/>
              </a:rPr>
              <a:t>接</a:t>
            </a:r>
          </a:p>
          <a:p>
            <a:pPr eaLnBrk="0" hangingPunct="0">
              <a:lnSpc>
                <a:spcPct val="90000"/>
              </a:lnSpc>
            </a:pPr>
            <a:r>
              <a:rPr lang="zh-CN" altLang="en-US" sz="2000" b="1">
                <a:solidFill>
                  <a:srgbClr val="0000CC"/>
                </a:solidFill>
                <a:ea typeface="黑体" panose="02010609060101010101" pitchFamily="49" charset="-122"/>
              </a:rPr>
              <a:t>收</a:t>
            </a:r>
          </a:p>
          <a:p>
            <a:pPr eaLnBrk="0" hangingPunct="0">
              <a:lnSpc>
                <a:spcPct val="90000"/>
              </a:lnSpc>
            </a:pPr>
            <a:r>
              <a:rPr lang="zh-CN" altLang="en-US" sz="2000" b="1">
                <a:solidFill>
                  <a:srgbClr val="0000CC"/>
                </a:solidFill>
                <a:ea typeface="黑体" panose="02010609060101010101" pitchFamily="49" charset="-122"/>
              </a:rPr>
              <a:t>分</a:t>
            </a:r>
          </a:p>
          <a:p>
            <a:pPr eaLnBrk="0" hangingPunct="0">
              <a:lnSpc>
                <a:spcPct val="90000"/>
              </a:lnSpc>
            </a:pPr>
            <a:r>
              <a:rPr lang="zh-CN" altLang="en-US" sz="2000" b="1">
                <a:solidFill>
                  <a:srgbClr val="0000CC"/>
                </a:solidFill>
                <a:ea typeface="黑体" panose="02010609060101010101" pitchFamily="49" charset="-122"/>
              </a:rPr>
              <a:t>组</a:t>
            </a:r>
          </a:p>
        </p:txBody>
      </p:sp>
      <p:sp>
        <p:nvSpPr>
          <p:cNvPr id="1110039" name="Text Box 25"/>
          <p:cNvSpPr txBox="1">
            <a:spLocks noChangeArrowheads="1"/>
          </p:cNvSpPr>
          <p:nvPr/>
        </p:nvSpPr>
        <p:spPr bwMode="auto">
          <a:xfrm>
            <a:off x="6397625" y="3898900"/>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查表和转发</a:t>
            </a:r>
          </a:p>
        </p:txBody>
      </p:sp>
      <p:sp>
        <p:nvSpPr>
          <p:cNvPr id="111004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9830D45-810D-4D8F-9BBD-2CF264195B9A}" type="slidenum">
              <a:rPr lang="zh-CN" altLang="en-US" smtClean="0"/>
              <a:pPr eaLnBrk="1" hangingPunct="1"/>
              <a:t>22</a:t>
            </a:fld>
            <a:endParaRPr lang="en-US" altLang="zh-CN" smtClean="0"/>
          </a:p>
        </p:txBody>
      </p:sp>
      <p:sp>
        <p:nvSpPr>
          <p:cNvPr id="111004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065" name="Rectangle 2"/>
          <p:cNvSpPr>
            <a:spLocks noGrp="1" noChangeArrowheads="1"/>
          </p:cNvSpPr>
          <p:nvPr>
            <p:ph type="title"/>
          </p:nvPr>
        </p:nvSpPr>
        <p:spPr>
          <a:xfrm>
            <a:off x="495300" y="260350"/>
            <a:ext cx="9066213" cy="792163"/>
          </a:xfrm>
        </p:spPr>
        <p:txBody>
          <a:bodyPr/>
          <a:lstStyle/>
          <a:p>
            <a:pPr algn="ctr"/>
            <a:r>
              <a:rPr lang="zh-CN" altLang="en-US" sz="3600" smtClean="0">
                <a:ea typeface="黑体" panose="02010609060101010101" pitchFamily="49" charset="-122"/>
              </a:rPr>
              <a:t>输出端口将交换结构传送来的分组</a:t>
            </a:r>
            <a:r>
              <a:rPr lang="en-US" altLang="zh-CN" sz="3600" smtClean="0">
                <a:ea typeface="黑体" panose="02010609060101010101" pitchFamily="49" charset="-122"/>
              </a:rPr>
              <a:t/>
            </a:r>
            <a:br>
              <a:rPr lang="en-US" altLang="zh-CN" sz="3600" smtClean="0">
                <a:ea typeface="黑体" panose="02010609060101010101" pitchFamily="49" charset="-122"/>
              </a:rPr>
            </a:br>
            <a:r>
              <a:rPr lang="zh-CN" altLang="en-US" sz="3600" smtClean="0">
                <a:ea typeface="黑体" panose="02010609060101010101" pitchFamily="49" charset="-122"/>
              </a:rPr>
              <a:t>发送到线路 </a:t>
            </a:r>
          </a:p>
        </p:txBody>
      </p:sp>
      <p:sp>
        <p:nvSpPr>
          <p:cNvPr id="1112066" name="Rectangle 3"/>
          <p:cNvSpPr>
            <a:spLocks noGrp="1" noChangeArrowheads="1"/>
          </p:cNvSpPr>
          <p:nvPr>
            <p:ph idx="1"/>
          </p:nvPr>
        </p:nvSpPr>
        <p:spPr>
          <a:xfrm>
            <a:off x="495300" y="1196975"/>
            <a:ext cx="9066213" cy="4933950"/>
          </a:xfrm>
        </p:spPr>
        <p:txBody>
          <a:bodyPr/>
          <a:lstStyle/>
          <a:p>
            <a:pPr algn="just"/>
            <a:r>
              <a:rPr lang="zh-CN" altLang="zh-CN" sz="2800" dirty="0" smtClean="0">
                <a:ea typeface="黑体" panose="02010609060101010101" pitchFamily="49" charset="-122"/>
              </a:rPr>
              <a:t>输出端口里面</a:t>
            </a:r>
            <a:r>
              <a:rPr lang="zh-CN" altLang="en-US" sz="2800" dirty="0" smtClean="0">
                <a:ea typeface="黑体" panose="02010609060101010101" pitchFamily="49" charset="-122"/>
              </a:rPr>
              <a:t>装有</a:t>
            </a:r>
            <a:r>
              <a:rPr lang="zh-CN" altLang="zh-CN" sz="2800" dirty="0" smtClean="0">
                <a:ea typeface="黑体" panose="02010609060101010101" pitchFamily="49" charset="-122"/>
              </a:rPr>
              <a:t>物理层、数据链路层和网络层的处理模块。</a:t>
            </a:r>
            <a:endParaRPr lang="en-US" altLang="zh-CN" sz="2800" dirty="0" smtClean="0">
              <a:ea typeface="黑体" panose="02010609060101010101" pitchFamily="49" charset="-122"/>
            </a:endParaRPr>
          </a:p>
          <a:p>
            <a:pPr algn="just"/>
            <a:r>
              <a:rPr lang="zh-CN" altLang="zh-CN" sz="2800" dirty="0" smtClean="0">
                <a:ea typeface="黑体" panose="02010609060101010101" pitchFamily="49" charset="-122"/>
              </a:rPr>
              <a:t>输出端口从交换结构接收分组，然后把它们发送到路由器外面的线路上。</a:t>
            </a:r>
            <a:endParaRPr lang="en-US" altLang="zh-CN" sz="2800" dirty="0" smtClean="0">
              <a:ea typeface="黑体" panose="02010609060101010101" pitchFamily="49" charset="-122"/>
            </a:endParaRPr>
          </a:p>
          <a:p>
            <a:pPr algn="just"/>
            <a:r>
              <a:rPr lang="zh-CN" altLang="zh-CN" sz="2800" dirty="0" smtClean="0">
                <a:ea typeface="黑体" panose="02010609060101010101" pitchFamily="49" charset="-122"/>
              </a:rPr>
              <a:t>在网络层的处理模块中设有一个</a:t>
            </a:r>
            <a:r>
              <a:rPr lang="zh-CN" altLang="zh-CN" sz="2800" dirty="0" smtClean="0">
                <a:solidFill>
                  <a:srgbClr val="0000FF"/>
                </a:solidFill>
                <a:ea typeface="黑体" panose="02010609060101010101" pitchFamily="49" charset="-122"/>
              </a:rPr>
              <a:t>缓冲区</a:t>
            </a:r>
            <a:r>
              <a:rPr lang="zh-CN" altLang="en-US" sz="2800" dirty="0" smtClean="0">
                <a:ea typeface="黑体" panose="02010609060101010101" pitchFamily="49" charset="-122"/>
              </a:rPr>
              <a:t>（</a:t>
            </a:r>
            <a:r>
              <a:rPr lang="zh-CN" altLang="zh-CN" sz="2800" dirty="0" smtClean="0">
                <a:ea typeface="黑体" panose="02010609060101010101" pitchFamily="49" charset="-122"/>
              </a:rPr>
              <a:t>队列</a:t>
            </a:r>
            <a:r>
              <a:rPr lang="zh-CN" altLang="en-US" sz="2800" dirty="0" smtClean="0">
                <a:ea typeface="黑体" panose="02010609060101010101" pitchFamily="49" charset="-122"/>
              </a:rPr>
              <a:t>）</a:t>
            </a:r>
            <a:r>
              <a:rPr lang="zh-CN" altLang="zh-CN" sz="2800" dirty="0" smtClean="0">
                <a:ea typeface="黑体" panose="02010609060101010101" pitchFamily="49" charset="-122"/>
              </a:rPr>
              <a:t>。当交换结构传送过来的分组的速率超过输出链路的发送速率时，来不及发送的分组就必须暂时存放在这个队列中。</a:t>
            </a:r>
            <a:endParaRPr lang="en-US" altLang="zh-CN" sz="2800" dirty="0" smtClean="0">
              <a:ea typeface="黑体" panose="02010609060101010101" pitchFamily="49" charset="-122"/>
            </a:endParaRPr>
          </a:p>
          <a:p>
            <a:pPr algn="just"/>
            <a:r>
              <a:rPr lang="zh-CN" altLang="en-US" sz="2800" dirty="0" smtClean="0">
                <a:ea typeface="黑体" panose="02010609060101010101" pitchFamily="49" charset="-122"/>
              </a:rPr>
              <a:t>数据链路层处理模块将分组加上链路层的首部和尾部，交给物理层后发送到外部线路。 </a:t>
            </a:r>
          </a:p>
        </p:txBody>
      </p:sp>
      <p:sp>
        <p:nvSpPr>
          <p:cNvPr id="11120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7CB695-74E4-4CB7-ACA7-1D7D9F713BED}" type="slidenum">
              <a:rPr lang="zh-CN" altLang="en-US" smtClean="0"/>
              <a:pPr eaLnBrk="1" hangingPunct="1"/>
              <a:t>23</a:t>
            </a:fld>
            <a:endParaRPr lang="en-US" altLang="zh-CN" smtClean="0"/>
          </a:p>
        </p:txBody>
      </p:sp>
      <p:sp>
        <p:nvSpPr>
          <p:cNvPr id="11120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4113" name="Rectangle 2"/>
          <p:cNvSpPr>
            <a:spLocks noGrp="1" noChangeArrowheads="1"/>
          </p:cNvSpPr>
          <p:nvPr>
            <p:ph type="title"/>
          </p:nvPr>
        </p:nvSpPr>
        <p:spPr>
          <a:xfrm>
            <a:off x="495300" y="260350"/>
            <a:ext cx="9066213" cy="792163"/>
          </a:xfrm>
        </p:spPr>
        <p:txBody>
          <a:bodyPr/>
          <a:lstStyle/>
          <a:p>
            <a:pPr algn="ctr"/>
            <a:r>
              <a:rPr lang="zh-CN" altLang="en-US" sz="3600" smtClean="0">
                <a:ea typeface="黑体" panose="02010609060101010101" pitchFamily="49" charset="-122"/>
              </a:rPr>
              <a:t>输出端口将交换结构传送来的分组</a:t>
            </a:r>
            <a:r>
              <a:rPr lang="en-US" altLang="zh-CN" sz="3600" smtClean="0">
                <a:ea typeface="黑体" panose="02010609060101010101" pitchFamily="49" charset="-122"/>
              </a:rPr>
              <a:t/>
            </a:r>
            <a:br>
              <a:rPr lang="en-US" altLang="zh-CN" sz="3600" smtClean="0">
                <a:ea typeface="黑体" panose="02010609060101010101" pitchFamily="49" charset="-122"/>
              </a:rPr>
            </a:br>
            <a:r>
              <a:rPr lang="zh-CN" altLang="en-US" sz="3600" smtClean="0">
                <a:ea typeface="黑体" panose="02010609060101010101" pitchFamily="49" charset="-122"/>
              </a:rPr>
              <a:t>发送到线路 </a:t>
            </a:r>
          </a:p>
        </p:txBody>
      </p:sp>
      <p:sp>
        <p:nvSpPr>
          <p:cNvPr id="1114114" name="Rectangle 4"/>
          <p:cNvSpPr>
            <a:spLocks noChangeArrowheads="1"/>
          </p:cNvSpPr>
          <p:nvPr/>
        </p:nvSpPr>
        <p:spPr bwMode="auto">
          <a:xfrm>
            <a:off x="1582738" y="1998663"/>
            <a:ext cx="7242175" cy="2670175"/>
          </a:xfrm>
          <a:prstGeom prst="rect">
            <a:avLst/>
          </a:prstGeom>
          <a:solidFill>
            <a:srgbClr val="66FFFF"/>
          </a:solidFill>
          <a:ln w="38100" cmpd="dbl">
            <a:solidFill>
              <a:schemeClr val="tx1"/>
            </a:solidFill>
            <a:miter lim="800000"/>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4115" name="Rectangle 5"/>
          <p:cNvSpPr>
            <a:spLocks noChangeArrowheads="1"/>
          </p:cNvSpPr>
          <p:nvPr/>
        </p:nvSpPr>
        <p:spPr bwMode="auto">
          <a:xfrm>
            <a:off x="6894513" y="3062288"/>
            <a:ext cx="1447800" cy="800100"/>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物理层处理</a:t>
            </a:r>
          </a:p>
        </p:txBody>
      </p:sp>
      <p:sp>
        <p:nvSpPr>
          <p:cNvPr id="1114116" name="Rectangle 6"/>
          <p:cNvSpPr>
            <a:spLocks noChangeArrowheads="1"/>
          </p:cNvSpPr>
          <p:nvPr/>
        </p:nvSpPr>
        <p:spPr bwMode="auto">
          <a:xfrm>
            <a:off x="4838700" y="2798763"/>
            <a:ext cx="1446213" cy="1330325"/>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CC"/>
                </a:solidFill>
                <a:ea typeface="黑体" panose="02010609060101010101" pitchFamily="49" charset="-122"/>
              </a:rPr>
              <a:t>数据链路层</a:t>
            </a:r>
          </a:p>
          <a:p>
            <a:pPr algn="ctr" eaLnBrk="0" hangingPunct="0"/>
            <a:r>
              <a:rPr lang="zh-CN" altLang="en-US" sz="2000" b="1">
                <a:solidFill>
                  <a:srgbClr val="0000CC"/>
                </a:solidFill>
                <a:ea typeface="黑体" panose="02010609060101010101" pitchFamily="49" charset="-122"/>
              </a:rPr>
              <a:t>处理</a:t>
            </a:r>
          </a:p>
        </p:txBody>
      </p:sp>
      <p:sp>
        <p:nvSpPr>
          <p:cNvPr id="1114117" name="Rectangle 7"/>
          <p:cNvSpPr>
            <a:spLocks noChangeArrowheads="1"/>
          </p:cNvSpPr>
          <p:nvPr/>
        </p:nvSpPr>
        <p:spPr bwMode="auto">
          <a:xfrm>
            <a:off x="2065338" y="2255838"/>
            <a:ext cx="2058987" cy="2066925"/>
          </a:xfrm>
          <a:prstGeom prst="rect">
            <a:avLst/>
          </a:prstGeom>
          <a:solidFill>
            <a:srgbClr val="FFFF66"/>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14118" name="Line 8"/>
          <p:cNvSpPr>
            <a:spLocks noChangeShapeType="1"/>
          </p:cNvSpPr>
          <p:nvPr/>
        </p:nvSpPr>
        <p:spPr bwMode="auto">
          <a:xfrm flipV="1">
            <a:off x="8312150" y="3463925"/>
            <a:ext cx="736600"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19" name="Line 9"/>
          <p:cNvSpPr>
            <a:spLocks noChangeShapeType="1"/>
          </p:cNvSpPr>
          <p:nvPr/>
        </p:nvSpPr>
        <p:spPr bwMode="auto">
          <a:xfrm>
            <a:off x="6284913" y="3463925"/>
            <a:ext cx="609600"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0" name="Line 10"/>
          <p:cNvSpPr>
            <a:spLocks noChangeShapeType="1"/>
          </p:cNvSpPr>
          <p:nvPr/>
        </p:nvSpPr>
        <p:spPr bwMode="auto">
          <a:xfrm>
            <a:off x="4114800" y="3463925"/>
            <a:ext cx="701675"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1" name="Line 11"/>
          <p:cNvSpPr>
            <a:spLocks noChangeShapeType="1"/>
          </p:cNvSpPr>
          <p:nvPr/>
        </p:nvSpPr>
        <p:spPr bwMode="auto">
          <a:xfrm>
            <a:off x="1101725" y="3463925"/>
            <a:ext cx="963613"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2" name="Line 12"/>
          <p:cNvSpPr>
            <a:spLocks noChangeShapeType="1"/>
          </p:cNvSpPr>
          <p:nvPr/>
        </p:nvSpPr>
        <p:spPr bwMode="auto">
          <a:xfrm>
            <a:off x="1101725" y="1827213"/>
            <a:ext cx="0" cy="3013075"/>
          </a:xfrm>
          <a:prstGeom prst="line">
            <a:avLst/>
          </a:prstGeom>
          <a:noFill/>
          <a:ln w="57150">
            <a:solidFill>
              <a:srgbClr val="0000FF"/>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3" name="Freeform 13"/>
          <p:cNvSpPr>
            <a:spLocks noChangeArrowheads="1"/>
          </p:cNvSpPr>
          <p:nvPr/>
        </p:nvSpPr>
        <p:spPr bwMode="auto">
          <a:xfrm>
            <a:off x="2309813" y="3117850"/>
            <a:ext cx="1468437" cy="688975"/>
          </a:xfrm>
          <a:custGeom>
            <a:avLst/>
            <a:gdLst>
              <a:gd name="T0" fmla="*/ 0 w 816"/>
              <a:gd name="T1" fmla="*/ 0 h 336"/>
              <a:gd name="T2" fmla="*/ 816 w 816"/>
              <a:gd name="T3" fmla="*/ 0 h 336"/>
              <a:gd name="T4" fmla="*/ 816 w 816"/>
              <a:gd name="T5" fmla="*/ 336 h 336"/>
              <a:gd name="T6" fmla="*/ 0 w 816"/>
              <a:gd name="T7" fmla="*/ 336 h 336"/>
            </a:gdLst>
            <a:ahLst/>
            <a:cxnLst>
              <a:cxn ang="0">
                <a:pos x="T0" y="T1"/>
              </a:cxn>
              <a:cxn ang="0">
                <a:pos x="T2" y="T3"/>
              </a:cxn>
              <a:cxn ang="0">
                <a:pos x="T4" y="T5"/>
              </a:cxn>
              <a:cxn ang="0">
                <a:pos x="T6" y="T7"/>
              </a:cxn>
            </a:cxnLst>
            <a:rect l="0" t="0" r="r" b="b"/>
            <a:pathLst>
              <a:path w="816" h="336">
                <a:moveTo>
                  <a:pt x="0" y="0"/>
                </a:moveTo>
                <a:lnTo>
                  <a:pt x="816" y="0"/>
                </a:lnTo>
                <a:lnTo>
                  <a:pt x="816" y="336"/>
                </a:lnTo>
                <a:lnTo>
                  <a:pt x="0" y="336"/>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4" name="Line 14"/>
          <p:cNvSpPr>
            <a:spLocks noChangeShapeType="1"/>
          </p:cNvSpPr>
          <p:nvPr/>
        </p:nvSpPr>
        <p:spPr bwMode="auto">
          <a:xfrm>
            <a:off x="2751138"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5" name="Line 15"/>
          <p:cNvSpPr>
            <a:spLocks noChangeShapeType="1"/>
          </p:cNvSpPr>
          <p:nvPr/>
        </p:nvSpPr>
        <p:spPr bwMode="auto">
          <a:xfrm>
            <a:off x="2922588"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6" name="Line 16"/>
          <p:cNvSpPr>
            <a:spLocks noChangeShapeType="1"/>
          </p:cNvSpPr>
          <p:nvPr/>
        </p:nvSpPr>
        <p:spPr bwMode="auto">
          <a:xfrm>
            <a:off x="3095625"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7" name="Line 17"/>
          <p:cNvSpPr>
            <a:spLocks noChangeShapeType="1"/>
          </p:cNvSpPr>
          <p:nvPr/>
        </p:nvSpPr>
        <p:spPr bwMode="auto">
          <a:xfrm>
            <a:off x="3270250"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8" name="Line 18"/>
          <p:cNvSpPr>
            <a:spLocks noChangeShapeType="1"/>
          </p:cNvSpPr>
          <p:nvPr/>
        </p:nvSpPr>
        <p:spPr bwMode="auto">
          <a:xfrm>
            <a:off x="3440113"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29" name="Line 19"/>
          <p:cNvSpPr>
            <a:spLocks noChangeShapeType="1"/>
          </p:cNvSpPr>
          <p:nvPr/>
        </p:nvSpPr>
        <p:spPr bwMode="auto">
          <a:xfrm>
            <a:off x="3613150" y="3117850"/>
            <a:ext cx="0" cy="688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14130" name="Text Box 20"/>
          <p:cNvSpPr txBox="1">
            <a:spLocks noChangeArrowheads="1"/>
          </p:cNvSpPr>
          <p:nvPr/>
        </p:nvSpPr>
        <p:spPr bwMode="auto">
          <a:xfrm>
            <a:off x="2300288" y="2370138"/>
            <a:ext cx="1474787"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5000"/>
              </a:lnSpc>
            </a:pPr>
            <a:r>
              <a:rPr lang="zh-CN" altLang="en-US" sz="2000" b="1">
                <a:solidFill>
                  <a:srgbClr val="0000CC"/>
                </a:solidFill>
                <a:ea typeface="黑体" panose="02010609060101010101" pitchFamily="49" charset="-122"/>
              </a:rPr>
              <a:t>网络层处理</a:t>
            </a:r>
          </a:p>
          <a:p>
            <a:pPr eaLnBrk="0" hangingPunct="0">
              <a:lnSpc>
                <a:spcPct val="95000"/>
              </a:lnSpc>
            </a:pPr>
            <a:r>
              <a:rPr lang="zh-CN" altLang="en-US" sz="2000" b="1">
                <a:solidFill>
                  <a:srgbClr val="0000CC"/>
                </a:solidFill>
                <a:ea typeface="黑体" panose="02010609060101010101" pitchFamily="49" charset="-122"/>
              </a:rPr>
              <a:t>  分组排队 </a:t>
            </a:r>
          </a:p>
        </p:txBody>
      </p:sp>
      <p:sp>
        <p:nvSpPr>
          <p:cNvPr id="1114131" name="Text Box 21"/>
          <p:cNvSpPr txBox="1">
            <a:spLocks noChangeArrowheads="1"/>
          </p:cNvSpPr>
          <p:nvPr/>
        </p:nvSpPr>
        <p:spPr bwMode="auto">
          <a:xfrm>
            <a:off x="4016375" y="1484313"/>
            <a:ext cx="2519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输出端口的处理</a:t>
            </a:r>
          </a:p>
        </p:txBody>
      </p:sp>
      <p:sp>
        <p:nvSpPr>
          <p:cNvPr id="1114132" name="Text Box 22"/>
          <p:cNvSpPr txBox="1">
            <a:spLocks noChangeArrowheads="1"/>
          </p:cNvSpPr>
          <p:nvPr/>
        </p:nvSpPr>
        <p:spPr bwMode="auto">
          <a:xfrm>
            <a:off x="9048750" y="2447925"/>
            <a:ext cx="44132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2000" b="1">
                <a:solidFill>
                  <a:srgbClr val="0000CC"/>
                </a:solidFill>
                <a:ea typeface="黑体" panose="02010609060101010101" pitchFamily="49" charset="-122"/>
              </a:rPr>
              <a:t>向</a:t>
            </a:r>
          </a:p>
          <a:p>
            <a:pPr eaLnBrk="0" hangingPunct="0">
              <a:lnSpc>
                <a:spcPct val="90000"/>
              </a:lnSpc>
            </a:pPr>
            <a:r>
              <a:rPr lang="zh-CN" altLang="en-US" sz="2000" b="1">
                <a:solidFill>
                  <a:srgbClr val="0000CC"/>
                </a:solidFill>
                <a:ea typeface="黑体" panose="02010609060101010101" pitchFamily="49" charset="-122"/>
              </a:rPr>
              <a:t>线</a:t>
            </a:r>
          </a:p>
          <a:p>
            <a:pPr eaLnBrk="0" hangingPunct="0">
              <a:lnSpc>
                <a:spcPct val="90000"/>
              </a:lnSpc>
            </a:pPr>
            <a:r>
              <a:rPr lang="zh-CN" altLang="en-US" sz="2000" b="1">
                <a:solidFill>
                  <a:srgbClr val="0000CC"/>
                </a:solidFill>
                <a:ea typeface="黑体" panose="02010609060101010101" pitchFamily="49" charset="-122"/>
              </a:rPr>
              <a:t>路</a:t>
            </a:r>
          </a:p>
          <a:p>
            <a:pPr eaLnBrk="0" hangingPunct="0">
              <a:lnSpc>
                <a:spcPct val="90000"/>
              </a:lnSpc>
            </a:pPr>
            <a:r>
              <a:rPr lang="zh-CN" altLang="en-US" sz="2000" b="1">
                <a:solidFill>
                  <a:srgbClr val="0000CC"/>
                </a:solidFill>
                <a:ea typeface="黑体" panose="02010609060101010101" pitchFamily="49" charset="-122"/>
              </a:rPr>
              <a:t>发</a:t>
            </a:r>
          </a:p>
          <a:p>
            <a:pPr eaLnBrk="0" hangingPunct="0">
              <a:lnSpc>
                <a:spcPct val="90000"/>
              </a:lnSpc>
            </a:pPr>
            <a:r>
              <a:rPr lang="zh-CN" altLang="en-US" sz="2000" b="1">
                <a:solidFill>
                  <a:srgbClr val="0000CC"/>
                </a:solidFill>
                <a:ea typeface="黑体" panose="02010609060101010101" pitchFamily="49" charset="-122"/>
              </a:rPr>
              <a:t>送</a:t>
            </a:r>
          </a:p>
          <a:p>
            <a:pPr eaLnBrk="0" hangingPunct="0">
              <a:lnSpc>
                <a:spcPct val="90000"/>
              </a:lnSpc>
            </a:pPr>
            <a:r>
              <a:rPr lang="zh-CN" altLang="en-US" sz="2000" b="1">
                <a:solidFill>
                  <a:srgbClr val="0000CC"/>
                </a:solidFill>
                <a:ea typeface="黑体" panose="02010609060101010101" pitchFamily="49" charset="-122"/>
              </a:rPr>
              <a:t>分</a:t>
            </a:r>
          </a:p>
          <a:p>
            <a:pPr eaLnBrk="0" hangingPunct="0">
              <a:lnSpc>
                <a:spcPct val="90000"/>
              </a:lnSpc>
            </a:pPr>
            <a:r>
              <a:rPr lang="zh-CN" altLang="en-US" sz="2000" b="1">
                <a:solidFill>
                  <a:srgbClr val="0000CC"/>
                </a:solidFill>
                <a:ea typeface="黑体" panose="02010609060101010101" pitchFamily="49" charset="-122"/>
              </a:rPr>
              <a:t>组</a:t>
            </a:r>
          </a:p>
        </p:txBody>
      </p:sp>
      <p:sp>
        <p:nvSpPr>
          <p:cNvPr id="1114133" name="Text Box 23"/>
          <p:cNvSpPr txBox="1">
            <a:spLocks noChangeArrowheads="1"/>
          </p:cNvSpPr>
          <p:nvPr/>
        </p:nvSpPr>
        <p:spPr bwMode="auto">
          <a:xfrm>
            <a:off x="2484438" y="3800475"/>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缓存管理</a:t>
            </a:r>
          </a:p>
        </p:txBody>
      </p:sp>
      <p:sp>
        <p:nvSpPr>
          <p:cNvPr id="1114134" name="Text Box 24"/>
          <p:cNvSpPr txBox="1">
            <a:spLocks noChangeArrowheads="1"/>
          </p:cNvSpPr>
          <p:nvPr/>
        </p:nvSpPr>
        <p:spPr bwMode="auto">
          <a:xfrm>
            <a:off x="584200" y="2795588"/>
            <a:ext cx="439738"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交</a:t>
            </a:r>
          </a:p>
          <a:p>
            <a:pPr eaLnBrk="0" hangingPunct="0"/>
            <a:r>
              <a:rPr lang="zh-CN" altLang="en-US" sz="2000" b="1">
                <a:solidFill>
                  <a:srgbClr val="0000CC"/>
                </a:solidFill>
                <a:ea typeface="黑体" panose="02010609060101010101" pitchFamily="49" charset="-122"/>
              </a:rPr>
              <a:t>换</a:t>
            </a:r>
          </a:p>
          <a:p>
            <a:pPr eaLnBrk="0" hangingPunct="0"/>
            <a:r>
              <a:rPr lang="zh-CN" altLang="en-US" sz="2000" b="1">
                <a:solidFill>
                  <a:srgbClr val="0000CC"/>
                </a:solidFill>
                <a:ea typeface="黑体" panose="02010609060101010101" pitchFamily="49" charset="-122"/>
              </a:rPr>
              <a:t>结</a:t>
            </a:r>
          </a:p>
          <a:p>
            <a:pPr eaLnBrk="0" hangingPunct="0"/>
            <a:r>
              <a:rPr lang="zh-CN" altLang="en-US" sz="2000" b="1">
                <a:solidFill>
                  <a:srgbClr val="0000CC"/>
                </a:solidFill>
                <a:ea typeface="黑体" panose="02010609060101010101" pitchFamily="49" charset="-122"/>
              </a:rPr>
              <a:t>构</a:t>
            </a:r>
          </a:p>
        </p:txBody>
      </p:sp>
      <p:sp>
        <p:nvSpPr>
          <p:cNvPr id="11141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8D1B8D-B8F0-4BF2-8B53-EC532FA85728}" type="slidenum">
              <a:rPr lang="zh-CN" altLang="en-US" smtClean="0"/>
              <a:pPr eaLnBrk="1" hangingPunct="1"/>
              <a:t>24</a:t>
            </a:fld>
            <a:endParaRPr lang="en-US" altLang="zh-CN" smtClean="0"/>
          </a:p>
        </p:txBody>
      </p:sp>
      <p:sp>
        <p:nvSpPr>
          <p:cNvPr id="1114136" name="页脚占位符 2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分组丢弃 </a:t>
            </a:r>
          </a:p>
        </p:txBody>
      </p:sp>
      <p:sp>
        <p:nvSpPr>
          <p:cNvPr id="96256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若路由器处理分组的速率赶不上分组进入队列的速率，则队列的存储空间最终必定减少到零，这就使后面再进入队列的分组由于没有存储空间而只能被丢弃。</a:t>
            </a:r>
          </a:p>
          <a:p>
            <a:r>
              <a:rPr lang="zh-CN" altLang="en-US" smtClean="0">
                <a:solidFill>
                  <a:srgbClr val="FF0000"/>
                </a:solidFill>
                <a:ea typeface="黑体" panose="02010609060101010101" pitchFamily="49" charset="-122"/>
              </a:rPr>
              <a:t>路由器中的输入或输出队列产生溢出是造成分组丢失的重要原因。</a:t>
            </a:r>
          </a:p>
        </p:txBody>
      </p:sp>
      <p:sp>
        <p:nvSpPr>
          <p:cNvPr id="11161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2A0571-0B82-42B8-B0E7-4D191E9E14E9}" type="slidenum">
              <a:rPr lang="zh-CN" altLang="en-US" smtClean="0"/>
              <a:pPr eaLnBrk="1" hangingPunct="1"/>
              <a:t>25</a:t>
            </a:fld>
            <a:endParaRPr lang="en-US" altLang="zh-CN" smtClean="0"/>
          </a:p>
        </p:txBody>
      </p:sp>
      <p:sp>
        <p:nvSpPr>
          <p:cNvPr id="11161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25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6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20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18210"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交换结构</a:t>
            </a:r>
            <a:r>
              <a:rPr lang="zh-CN" altLang="zh-CN" dirty="0" smtClean="0">
                <a:ea typeface="黑体" panose="02010609060101010101" pitchFamily="49" charset="-122"/>
              </a:rPr>
              <a:t>是路由器的关键构件。</a:t>
            </a:r>
            <a:endParaRPr lang="en-US" altLang="zh-CN" dirty="0" smtClean="0">
              <a:ea typeface="黑体" panose="02010609060101010101" pitchFamily="49" charset="-122"/>
            </a:endParaRPr>
          </a:p>
          <a:p>
            <a:r>
              <a:rPr lang="zh-CN" altLang="zh-CN" dirty="0" smtClean="0">
                <a:ea typeface="黑体" panose="02010609060101010101" pitchFamily="49" charset="-122"/>
              </a:rPr>
              <a:t>正是这个交换结构把分组从一个输入端口转移到某个合适的输出端口。</a:t>
            </a:r>
            <a:endParaRPr lang="en-US" altLang="zh-CN" dirty="0" smtClean="0">
              <a:ea typeface="黑体" panose="02010609060101010101" pitchFamily="49" charset="-122"/>
            </a:endParaRPr>
          </a:p>
          <a:p>
            <a:r>
              <a:rPr lang="zh-CN" altLang="zh-CN" dirty="0" smtClean="0">
                <a:ea typeface="黑体" panose="02010609060101010101" pitchFamily="49" charset="-122"/>
              </a:rPr>
              <a:t>实现交换有多种方法</a:t>
            </a:r>
            <a:r>
              <a:rPr lang="zh-CN" altLang="en-US" dirty="0" smtClean="0">
                <a:ea typeface="黑体" panose="02010609060101010101" pitchFamily="49" charset="-122"/>
              </a:rPr>
              <a:t>。</a:t>
            </a:r>
            <a:r>
              <a:rPr lang="zh-CN" altLang="zh-CN" dirty="0" smtClean="0">
                <a:solidFill>
                  <a:srgbClr val="0000FF"/>
                </a:solidFill>
                <a:ea typeface="黑体" panose="02010609060101010101" pitchFamily="49" charset="-122"/>
              </a:rPr>
              <a:t>常用交换方法</a:t>
            </a:r>
            <a:r>
              <a:rPr lang="zh-CN" altLang="en-US" dirty="0" smtClean="0">
                <a:ea typeface="黑体" panose="02010609060101010101" pitchFamily="49" charset="-122"/>
              </a:rPr>
              <a:t>有三种：</a:t>
            </a:r>
            <a:endParaRPr lang="en-US" altLang="zh-CN" dirty="0" smtClean="0">
              <a:ea typeface="黑体" panose="02010609060101010101" pitchFamily="49" charset="-122"/>
            </a:endParaRPr>
          </a:p>
          <a:p>
            <a:pPr lvl="1"/>
            <a:r>
              <a:rPr lang="zh-CN" altLang="zh-CN" dirty="0" smtClean="0">
                <a:ea typeface="黑体" panose="02010609060101010101" pitchFamily="49" charset="-122"/>
              </a:rPr>
              <a:t>通过存储器</a:t>
            </a:r>
            <a:endParaRPr lang="en-US" altLang="zh-CN" dirty="0" smtClean="0">
              <a:ea typeface="黑体" panose="02010609060101010101" pitchFamily="49" charset="-122"/>
            </a:endParaRPr>
          </a:p>
          <a:p>
            <a:pPr lvl="1"/>
            <a:r>
              <a:rPr lang="zh-CN" altLang="zh-CN" dirty="0" smtClean="0">
                <a:ea typeface="黑体" panose="02010609060101010101" pitchFamily="49" charset="-122"/>
              </a:rPr>
              <a:t>通过总线</a:t>
            </a:r>
            <a:endParaRPr lang="en-US" altLang="zh-CN" dirty="0" smtClean="0">
              <a:ea typeface="黑体" panose="02010609060101010101" pitchFamily="49" charset="-122"/>
            </a:endParaRPr>
          </a:p>
          <a:p>
            <a:pPr lvl="1"/>
            <a:r>
              <a:rPr lang="zh-CN" altLang="zh-CN" dirty="0" smtClean="0">
                <a:ea typeface="黑体" panose="02010609060101010101" pitchFamily="49" charset="-122"/>
              </a:rPr>
              <a:t>通过纵横交换结构</a:t>
            </a:r>
            <a:endParaRPr lang="en-US" altLang="zh-CN" dirty="0" smtClean="0">
              <a:ea typeface="黑体" panose="02010609060101010101" pitchFamily="49" charset="-122"/>
            </a:endParaRPr>
          </a:p>
          <a:p>
            <a:pPr lvl="1"/>
            <a:endParaRPr lang="en-US" altLang="zh-CN" dirty="0" smtClean="0">
              <a:ea typeface="黑体" panose="02010609060101010101" pitchFamily="49" charset="-122"/>
            </a:endParaRPr>
          </a:p>
        </p:txBody>
      </p:sp>
      <p:sp>
        <p:nvSpPr>
          <p:cNvPr id="11182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DB2BC9-4072-4A18-9F2F-075FE33CCAD9}" type="slidenum">
              <a:rPr lang="zh-CN" altLang="en-US" smtClean="0"/>
              <a:pPr eaLnBrk="1" hangingPunct="1"/>
              <a:t>26</a:t>
            </a:fld>
            <a:endParaRPr lang="en-US" altLang="zh-CN" smtClean="0"/>
          </a:p>
        </p:txBody>
      </p:sp>
      <p:sp>
        <p:nvSpPr>
          <p:cNvPr id="11182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23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19234"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通过存储器</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当路由器的某个输入端口收到一个分组时，就用中断方式通知路由选择处理机。然后分组就从输入端口</a:t>
            </a:r>
            <a:r>
              <a:rPr lang="zh-CN" altLang="zh-CN" dirty="0" smtClean="0">
                <a:solidFill>
                  <a:srgbClr val="0000FF"/>
                </a:solidFill>
                <a:ea typeface="黑体" panose="02010609060101010101" pitchFamily="49" charset="-122"/>
              </a:rPr>
              <a:t>复制到存储器</a:t>
            </a:r>
            <a:r>
              <a:rPr lang="zh-CN" altLang="zh-CN" dirty="0" smtClean="0">
                <a:ea typeface="黑体" panose="02010609060101010101" pitchFamily="49" charset="-122"/>
              </a:rPr>
              <a:t>中。</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路由器处理机从分组首部提取目的地址，</a:t>
            </a:r>
            <a:r>
              <a:rPr lang="zh-CN" altLang="zh-CN" dirty="0" smtClean="0">
                <a:solidFill>
                  <a:srgbClr val="0000FF"/>
                </a:solidFill>
                <a:ea typeface="黑体" panose="02010609060101010101" pitchFamily="49" charset="-122"/>
              </a:rPr>
              <a:t>查找路由表</a:t>
            </a:r>
            <a:r>
              <a:rPr lang="zh-CN" altLang="zh-CN" dirty="0" smtClean="0">
                <a:ea typeface="黑体" panose="02010609060101010101" pitchFamily="49" charset="-122"/>
              </a:rPr>
              <a:t>，再将分组</a:t>
            </a:r>
            <a:r>
              <a:rPr lang="zh-CN" altLang="zh-CN" dirty="0" smtClean="0">
                <a:solidFill>
                  <a:srgbClr val="0000FF"/>
                </a:solidFill>
                <a:ea typeface="黑体" panose="02010609060101010101" pitchFamily="49" charset="-122"/>
              </a:rPr>
              <a:t>复制到</a:t>
            </a:r>
            <a:r>
              <a:rPr lang="zh-CN" altLang="zh-CN" dirty="0" smtClean="0">
                <a:ea typeface="黑体" panose="02010609060101010101" pitchFamily="49" charset="-122"/>
              </a:rPr>
              <a:t>合适的</a:t>
            </a:r>
            <a:r>
              <a:rPr lang="zh-CN" altLang="zh-CN" dirty="0" smtClean="0">
                <a:solidFill>
                  <a:srgbClr val="0000FF"/>
                </a:solidFill>
                <a:ea typeface="黑体" panose="02010609060101010101" pitchFamily="49" charset="-122"/>
              </a:rPr>
              <a:t>输出端口</a:t>
            </a:r>
            <a:r>
              <a:rPr lang="zh-CN" altLang="zh-CN" dirty="0" smtClean="0">
                <a:ea typeface="黑体" panose="02010609060101010101" pitchFamily="49" charset="-122"/>
              </a:rPr>
              <a:t>的</a:t>
            </a:r>
            <a:r>
              <a:rPr lang="zh-CN" altLang="zh-CN" dirty="0" smtClean="0">
                <a:solidFill>
                  <a:srgbClr val="0000FF"/>
                </a:solidFill>
                <a:ea typeface="黑体" panose="02010609060101010101" pitchFamily="49" charset="-122"/>
              </a:rPr>
              <a:t>缓存</a:t>
            </a:r>
            <a:r>
              <a:rPr lang="zh-CN" altLang="zh-CN" dirty="0" smtClean="0">
                <a:ea typeface="黑体" panose="02010609060101010101" pitchFamily="49" charset="-122"/>
              </a:rPr>
              <a:t>中。</a:t>
            </a:r>
            <a:endParaRPr lang="en-US" altLang="zh-CN" dirty="0" smtClean="0">
              <a:ea typeface="黑体" panose="02010609060101010101" pitchFamily="49" charset="-122"/>
            </a:endParaRPr>
          </a:p>
          <a:p>
            <a:pPr lvl="1"/>
            <a:r>
              <a:rPr lang="zh-CN" altLang="zh-CN" dirty="0" smtClean="0">
                <a:ea typeface="黑体" panose="02010609060101010101" pitchFamily="49" charset="-122"/>
              </a:rPr>
              <a:t>若存储器的带宽（读或写）为每秒</a:t>
            </a:r>
            <a:r>
              <a:rPr lang="en-US" altLang="zh-CN" dirty="0" smtClean="0">
                <a:ea typeface="黑体" panose="02010609060101010101" pitchFamily="49" charset="-122"/>
              </a:rPr>
              <a:t> </a:t>
            </a:r>
            <a:r>
              <a:rPr lang="en-US" altLang="zh-CN" i="1" dirty="0" smtClean="0">
                <a:ea typeface="黑体" panose="02010609060101010101" pitchFamily="49" charset="-122"/>
              </a:rPr>
              <a:t>M </a:t>
            </a:r>
            <a:r>
              <a:rPr lang="zh-CN" altLang="zh-CN" dirty="0" smtClean="0">
                <a:ea typeface="黑体" panose="02010609060101010101" pitchFamily="49" charset="-122"/>
              </a:rPr>
              <a:t>个分组，那么路由器的交换速率（即分组从输入端口传送到输出端口的速率）一定小于</a:t>
            </a:r>
            <a:r>
              <a:rPr lang="en-US" altLang="zh-CN" dirty="0" smtClean="0">
                <a:ea typeface="黑体" panose="02010609060101010101" pitchFamily="49" charset="-122"/>
              </a:rPr>
              <a:t> </a:t>
            </a:r>
            <a:r>
              <a:rPr lang="en-US" altLang="zh-CN" i="1" dirty="0" smtClean="0">
                <a:ea typeface="黑体" panose="02010609060101010101" pitchFamily="49" charset="-122"/>
              </a:rPr>
              <a:t>M</a:t>
            </a:r>
            <a:r>
              <a:rPr lang="en-US" altLang="zh-CN" dirty="0" smtClean="0">
                <a:ea typeface="黑体" panose="02010609060101010101" pitchFamily="49" charset="-122"/>
              </a:rPr>
              <a:t>/2</a:t>
            </a:r>
            <a:r>
              <a:rPr lang="zh-CN" altLang="zh-CN" dirty="0" smtClean="0">
                <a:ea typeface="黑体" panose="02010609060101010101" pitchFamily="49" charset="-122"/>
              </a:rPr>
              <a:t>。</a:t>
            </a:r>
            <a:endParaRPr lang="en-US" altLang="zh-CN" dirty="0" smtClean="0">
              <a:ea typeface="黑体" panose="02010609060101010101" pitchFamily="49" charset="-122"/>
            </a:endParaRPr>
          </a:p>
        </p:txBody>
      </p:sp>
      <p:sp>
        <p:nvSpPr>
          <p:cNvPr id="111923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8F1000F-3284-477C-B4B2-29FE9BBEBBC2}" type="slidenum">
              <a:rPr lang="zh-CN" altLang="en-US" smtClean="0"/>
              <a:pPr eaLnBrk="1" hangingPunct="1"/>
              <a:t>27</a:t>
            </a:fld>
            <a:endParaRPr lang="en-US" altLang="zh-CN" smtClean="0"/>
          </a:p>
        </p:txBody>
      </p:sp>
      <p:sp>
        <p:nvSpPr>
          <p:cNvPr id="111923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025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20258" name="内容占位符 2"/>
          <p:cNvSpPr>
            <a:spLocks noGrp="1" noChangeArrowheads="1"/>
          </p:cNvSpPr>
          <p:nvPr>
            <p:ph idx="1"/>
          </p:nvPr>
        </p:nvSpPr>
        <p:spPr>
          <a:xfrm>
            <a:off x="495300" y="1196975"/>
            <a:ext cx="9066213" cy="4933950"/>
          </a:xfrm>
        </p:spPr>
        <p:txBody>
          <a:bodyPr/>
          <a:lstStyle/>
          <a:p>
            <a:r>
              <a:rPr lang="zh-CN" altLang="zh-CN" dirty="0" smtClean="0">
                <a:solidFill>
                  <a:srgbClr val="FF0000"/>
                </a:solidFill>
                <a:ea typeface="黑体" panose="02010609060101010101" pitchFamily="49" charset="-122"/>
              </a:rPr>
              <a:t>通过总线</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数据报从输入端口通过</a:t>
            </a:r>
            <a:r>
              <a:rPr lang="zh-CN" altLang="zh-CN" dirty="0" smtClean="0">
                <a:solidFill>
                  <a:srgbClr val="0000FF"/>
                </a:solidFill>
                <a:ea typeface="黑体" panose="02010609060101010101" pitchFamily="49" charset="-122"/>
              </a:rPr>
              <a:t>共享的总线</a:t>
            </a:r>
            <a:r>
              <a:rPr lang="zh-CN" altLang="zh-CN" dirty="0" smtClean="0">
                <a:ea typeface="黑体" panose="02010609060101010101" pitchFamily="49" charset="-122"/>
              </a:rPr>
              <a:t>直接传送到合适的输出端口，而</a:t>
            </a:r>
            <a:r>
              <a:rPr lang="zh-CN" altLang="zh-CN" dirty="0" smtClean="0">
                <a:solidFill>
                  <a:srgbClr val="0000FF"/>
                </a:solidFill>
                <a:ea typeface="黑体" panose="02010609060101010101" pitchFamily="49" charset="-122"/>
              </a:rPr>
              <a:t>不需要路由选择处理机的干预</a:t>
            </a:r>
            <a:r>
              <a:rPr lang="zh-CN" altLang="zh-CN"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pPr lvl="1"/>
            <a:r>
              <a:rPr lang="zh-CN" altLang="zh-CN" dirty="0" smtClean="0">
                <a:ea typeface="黑体" panose="02010609060101010101" pitchFamily="49" charset="-122"/>
              </a:rPr>
              <a:t>因为每一个要转发的分组都要通过这一条总线，因此路由器的转发带宽就受</a:t>
            </a:r>
            <a:r>
              <a:rPr lang="zh-CN" altLang="zh-CN" dirty="0" smtClean="0">
                <a:solidFill>
                  <a:srgbClr val="0000FF"/>
                </a:solidFill>
                <a:ea typeface="黑体" panose="02010609060101010101" pitchFamily="49" charset="-122"/>
              </a:rPr>
              <a:t>总线速率的限制</a:t>
            </a:r>
            <a:r>
              <a:rPr lang="zh-CN" altLang="zh-CN" dirty="0" smtClean="0">
                <a:ea typeface="黑体" panose="02010609060101010101" pitchFamily="49" charset="-122"/>
              </a:rPr>
              <a:t>。</a:t>
            </a:r>
            <a:endParaRPr lang="en-US" altLang="zh-CN" dirty="0" smtClean="0">
              <a:ea typeface="黑体" panose="02010609060101010101" pitchFamily="49" charset="-122"/>
            </a:endParaRPr>
          </a:p>
          <a:p>
            <a:pPr lvl="1"/>
            <a:r>
              <a:rPr lang="zh-CN" altLang="zh-CN" dirty="0" smtClean="0">
                <a:ea typeface="黑体" panose="02010609060101010101" pitchFamily="49" charset="-122"/>
              </a:rPr>
              <a:t>现代的技术已经可以将总线的带宽提高到每秒吉比特的速率，因此许多的路由器产品都采用这种通过总线的交换方式。</a:t>
            </a:r>
            <a:endParaRPr lang="en-US" altLang="zh-CN" dirty="0" smtClean="0">
              <a:ea typeface="黑体" panose="02010609060101010101" pitchFamily="49" charset="-122"/>
            </a:endParaRPr>
          </a:p>
        </p:txBody>
      </p:sp>
      <p:sp>
        <p:nvSpPr>
          <p:cNvPr id="112025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533704-4141-4AFF-8921-3D40006D9B6F}" type="slidenum">
              <a:rPr lang="zh-CN" altLang="en-US" smtClean="0"/>
              <a:pPr eaLnBrk="1" hangingPunct="1"/>
              <a:t>28</a:t>
            </a:fld>
            <a:endParaRPr lang="en-US" altLang="zh-CN" smtClean="0"/>
          </a:p>
        </p:txBody>
      </p:sp>
      <p:sp>
        <p:nvSpPr>
          <p:cNvPr id="112026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28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交换结构</a:t>
            </a:r>
            <a:endParaRPr lang="zh-CN" altLang="en-US" smtClean="0">
              <a:ea typeface="黑体" panose="02010609060101010101" pitchFamily="49" charset="-122"/>
            </a:endParaRPr>
          </a:p>
        </p:txBody>
      </p:sp>
      <p:sp>
        <p:nvSpPr>
          <p:cNvPr id="1121282" name="内容占位符 2"/>
          <p:cNvSpPr>
            <a:spLocks noGrp="1" noChangeArrowheads="1"/>
          </p:cNvSpPr>
          <p:nvPr>
            <p:ph idx="1"/>
          </p:nvPr>
        </p:nvSpPr>
        <p:spPr>
          <a:xfrm>
            <a:off x="495300" y="1196975"/>
            <a:ext cx="9066213" cy="4933950"/>
          </a:xfrm>
        </p:spPr>
        <p:txBody>
          <a:bodyPr/>
          <a:lstStyle/>
          <a:p>
            <a:r>
              <a:rPr lang="zh-CN" altLang="zh-CN" sz="2800" dirty="0" smtClean="0">
                <a:solidFill>
                  <a:srgbClr val="FF0000"/>
                </a:solidFill>
                <a:ea typeface="黑体" panose="02010609060101010101" pitchFamily="49" charset="-122"/>
              </a:rPr>
              <a:t>通过纵横交换结构</a:t>
            </a:r>
            <a:r>
              <a:rPr lang="en-US" altLang="zh-CN" sz="2800" dirty="0" smtClean="0">
                <a:solidFill>
                  <a:srgbClr val="0000FF"/>
                </a:solidFill>
                <a:ea typeface="黑体" panose="02010609060101010101" pitchFamily="49" charset="-122"/>
              </a:rPr>
              <a:t> </a:t>
            </a:r>
            <a:r>
              <a:rPr lang="en-US" altLang="zh-CN" sz="2800" dirty="0" smtClean="0">
                <a:ea typeface="黑体" panose="02010609060101010101" pitchFamily="49" charset="-122"/>
              </a:rPr>
              <a:t>( crossbar switch fabric)</a:t>
            </a:r>
          </a:p>
          <a:p>
            <a:pPr lvl="1"/>
            <a:r>
              <a:rPr lang="zh-CN" altLang="zh-CN" sz="2400" dirty="0" smtClean="0">
                <a:ea typeface="黑体" panose="02010609060101010101" pitchFamily="49" charset="-122"/>
              </a:rPr>
              <a:t>这种交换</a:t>
            </a:r>
            <a:r>
              <a:rPr lang="zh-CN" altLang="en-US" sz="2400" dirty="0" smtClean="0">
                <a:ea typeface="黑体" panose="02010609060101010101" pitchFamily="49" charset="-122"/>
              </a:rPr>
              <a:t>结</a:t>
            </a:r>
            <a:r>
              <a:rPr lang="zh-CN" altLang="zh-CN" sz="2400" dirty="0" smtClean="0">
                <a:ea typeface="黑体" panose="02010609060101010101" pitchFamily="49" charset="-122"/>
              </a:rPr>
              <a:t>构常称为</a:t>
            </a:r>
            <a:r>
              <a:rPr lang="zh-CN" altLang="zh-CN" sz="2400" dirty="0" smtClean="0">
                <a:solidFill>
                  <a:srgbClr val="FF0000"/>
                </a:solidFill>
                <a:ea typeface="黑体" panose="02010609060101010101" pitchFamily="49" charset="-122"/>
              </a:rPr>
              <a:t>互连网络</a:t>
            </a:r>
            <a:r>
              <a:rPr lang="en-US" altLang="zh-CN" sz="2400" dirty="0" smtClean="0">
                <a:solidFill>
                  <a:srgbClr val="FF0000"/>
                </a:solidFill>
                <a:ea typeface="黑体" panose="02010609060101010101" pitchFamily="49" charset="-122"/>
              </a:rPr>
              <a:t> </a:t>
            </a:r>
            <a:r>
              <a:rPr lang="en-US" altLang="zh-CN" sz="2400" dirty="0" smtClean="0">
                <a:ea typeface="黑体" panose="02010609060101010101" pitchFamily="49" charset="-122"/>
              </a:rPr>
              <a:t>(interconnection network)</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它有</a:t>
            </a:r>
            <a:r>
              <a:rPr lang="en-US" altLang="zh-CN" sz="2400" dirty="0" smtClean="0">
                <a:ea typeface="黑体" panose="02010609060101010101" pitchFamily="49" charset="-122"/>
              </a:rPr>
              <a:t>2</a:t>
            </a:r>
            <a:r>
              <a:rPr lang="en-US" altLang="zh-CN" sz="2400" i="1" dirty="0" smtClean="0">
                <a:ea typeface="黑体" panose="02010609060101010101" pitchFamily="49" charset="-122"/>
              </a:rPr>
              <a:t>N</a:t>
            </a:r>
            <a:r>
              <a:rPr lang="zh-CN" altLang="zh-CN" sz="2400" dirty="0" smtClean="0">
                <a:ea typeface="黑体" panose="02010609060101010101" pitchFamily="49" charset="-122"/>
              </a:rPr>
              <a:t>条总线，可以使</a:t>
            </a:r>
            <a:r>
              <a:rPr lang="en-US" altLang="zh-CN" sz="2400" i="1" dirty="0" smtClean="0">
                <a:solidFill>
                  <a:srgbClr val="0000FF"/>
                </a:solidFill>
                <a:ea typeface="黑体" panose="02010609060101010101" pitchFamily="49" charset="-122"/>
              </a:rPr>
              <a:t>N</a:t>
            </a:r>
            <a:r>
              <a:rPr lang="zh-CN" altLang="zh-CN" sz="2400" dirty="0" smtClean="0">
                <a:solidFill>
                  <a:srgbClr val="0000FF"/>
                </a:solidFill>
                <a:ea typeface="黑体" panose="02010609060101010101" pitchFamily="49" charset="-122"/>
              </a:rPr>
              <a:t>个输入端口和</a:t>
            </a:r>
            <a:r>
              <a:rPr lang="en-US" altLang="zh-CN" sz="2400" i="1" dirty="0" smtClean="0">
                <a:solidFill>
                  <a:srgbClr val="0000FF"/>
                </a:solidFill>
                <a:ea typeface="黑体" panose="02010609060101010101" pitchFamily="49" charset="-122"/>
              </a:rPr>
              <a:t>N</a:t>
            </a:r>
            <a:r>
              <a:rPr lang="zh-CN" altLang="zh-CN" sz="2400" dirty="0" smtClean="0">
                <a:solidFill>
                  <a:srgbClr val="0000FF"/>
                </a:solidFill>
                <a:ea typeface="黑体" panose="02010609060101010101" pitchFamily="49" charset="-122"/>
              </a:rPr>
              <a:t>个输出端口相连接</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当输入端口收到一个分组时，就将它发送到与该输入端口相连的水平总线上。</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若通向所要转发的</a:t>
            </a:r>
            <a:r>
              <a:rPr lang="zh-CN" altLang="zh-CN" sz="2400" dirty="0" smtClean="0">
                <a:solidFill>
                  <a:srgbClr val="0000FF"/>
                </a:solidFill>
                <a:ea typeface="黑体" panose="02010609060101010101" pitchFamily="49" charset="-122"/>
              </a:rPr>
              <a:t>输出端口的垂直总线是空闲</a:t>
            </a:r>
            <a:r>
              <a:rPr lang="zh-CN" altLang="zh-CN" sz="2400" dirty="0" smtClean="0">
                <a:ea typeface="黑体" panose="02010609060101010101" pitchFamily="49" charset="-122"/>
              </a:rPr>
              <a:t>的，则在这个结点将</a:t>
            </a:r>
            <a:r>
              <a:rPr lang="zh-CN" altLang="zh-CN" sz="2400" dirty="0" smtClean="0">
                <a:solidFill>
                  <a:srgbClr val="0000FF"/>
                </a:solidFill>
                <a:ea typeface="黑体" panose="02010609060101010101" pitchFamily="49" charset="-122"/>
              </a:rPr>
              <a:t>垂直总线与水平总线接通</a:t>
            </a:r>
            <a:r>
              <a:rPr lang="zh-CN" altLang="zh-CN" sz="2400" dirty="0" smtClean="0">
                <a:ea typeface="黑体" panose="02010609060101010101" pitchFamily="49" charset="-122"/>
              </a:rPr>
              <a:t>，然后将该分组转发到这个输出端口。</a:t>
            </a:r>
            <a:endParaRPr lang="en-US" altLang="zh-CN" sz="2400" dirty="0" smtClean="0">
              <a:ea typeface="黑体" panose="02010609060101010101" pitchFamily="49" charset="-122"/>
            </a:endParaRPr>
          </a:p>
          <a:p>
            <a:pPr lvl="1"/>
            <a:r>
              <a:rPr lang="zh-CN" altLang="zh-CN" sz="2400" dirty="0" smtClean="0">
                <a:ea typeface="黑体" panose="02010609060101010101" pitchFamily="49" charset="-122"/>
              </a:rPr>
              <a:t>但若该</a:t>
            </a:r>
            <a:r>
              <a:rPr lang="zh-CN" altLang="zh-CN" sz="2400" dirty="0" smtClean="0">
                <a:solidFill>
                  <a:srgbClr val="0000FF"/>
                </a:solidFill>
                <a:ea typeface="黑体" panose="02010609060101010101" pitchFamily="49" charset="-122"/>
              </a:rPr>
              <a:t>垂直总线已被占用</a:t>
            </a:r>
            <a:r>
              <a:rPr lang="zh-CN" altLang="zh-CN" sz="2400" dirty="0" smtClean="0">
                <a:ea typeface="黑体" panose="02010609060101010101" pitchFamily="49" charset="-122"/>
              </a:rPr>
              <a:t>（有另一个分组正在转发到同一个输出端口），则后到达的分组就被</a:t>
            </a:r>
            <a:r>
              <a:rPr lang="zh-CN" altLang="zh-CN" sz="2400" dirty="0" smtClean="0">
                <a:solidFill>
                  <a:srgbClr val="0000FF"/>
                </a:solidFill>
                <a:ea typeface="黑体" panose="02010609060101010101" pitchFamily="49" charset="-122"/>
              </a:rPr>
              <a:t>阻塞</a:t>
            </a:r>
            <a:r>
              <a:rPr lang="zh-CN" altLang="zh-CN" sz="2400" dirty="0" smtClean="0">
                <a:ea typeface="黑体" panose="02010609060101010101" pitchFamily="49" charset="-122"/>
              </a:rPr>
              <a:t>，必须在输入端口</a:t>
            </a:r>
            <a:r>
              <a:rPr lang="zh-CN" altLang="zh-CN" sz="2400" dirty="0" smtClean="0">
                <a:solidFill>
                  <a:srgbClr val="0000FF"/>
                </a:solidFill>
                <a:ea typeface="黑体" panose="02010609060101010101" pitchFamily="49" charset="-122"/>
              </a:rPr>
              <a:t>排队</a:t>
            </a:r>
            <a:r>
              <a:rPr lang="zh-CN" altLang="zh-CN" sz="2400" dirty="0" smtClean="0">
                <a:ea typeface="黑体" panose="02010609060101010101" pitchFamily="49" charset="-122"/>
              </a:rPr>
              <a:t>。</a:t>
            </a:r>
            <a:endParaRPr lang="zh-CN" altLang="en-US" sz="2400" dirty="0" smtClean="0">
              <a:ea typeface="黑体" panose="02010609060101010101" pitchFamily="49" charset="-122"/>
            </a:endParaRPr>
          </a:p>
        </p:txBody>
      </p:sp>
      <p:sp>
        <p:nvSpPr>
          <p:cNvPr id="112128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CD005B-CE3C-4C87-B8FD-8A34DD025120}" type="slidenum">
              <a:rPr lang="zh-CN" altLang="en-US" smtClean="0"/>
              <a:pPr eaLnBrk="1" hangingPunct="1"/>
              <a:t>29</a:t>
            </a:fld>
            <a:endParaRPr lang="en-US" altLang="zh-CN" smtClean="0"/>
          </a:p>
        </p:txBody>
      </p:sp>
      <p:sp>
        <p:nvSpPr>
          <p:cNvPr id="112128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2305" name="Rectangle 3"/>
          <p:cNvSpPr>
            <a:spLocks noChangeArrowheads="1"/>
          </p:cNvSpPr>
          <p:nvPr/>
        </p:nvSpPr>
        <p:spPr bwMode="auto">
          <a:xfrm>
            <a:off x="712788" y="7731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06" name="Rectangle 4"/>
          <p:cNvSpPr>
            <a:spLocks noChangeArrowheads="1"/>
          </p:cNvSpPr>
          <p:nvPr/>
        </p:nvSpPr>
        <p:spPr bwMode="auto">
          <a:xfrm>
            <a:off x="1225550" y="725488"/>
            <a:ext cx="309563"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07" name="Rectangle 5"/>
          <p:cNvSpPr>
            <a:spLocks noChangeArrowheads="1"/>
          </p:cNvSpPr>
          <p:nvPr/>
        </p:nvSpPr>
        <p:spPr bwMode="auto">
          <a:xfrm>
            <a:off x="1741488" y="703263"/>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08" name="Line 6"/>
          <p:cNvSpPr>
            <a:spLocks noChangeShapeType="1"/>
          </p:cNvSpPr>
          <p:nvPr/>
        </p:nvSpPr>
        <p:spPr bwMode="auto">
          <a:xfrm flipV="1">
            <a:off x="504825" y="846138"/>
            <a:ext cx="21431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09" name="Line 7"/>
          <p:cNvSpPr>
            <a:spLocks noChangeShapeType="1"/>
          </p:cNvSpPr>
          <p:nvPr/>
        </p:nvSpPr>
        <p:spPr bwMode="auto">
          <a:xfrm>
            <a:off x="1020763" y="846138"/>
            <a:ext cx="2047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0" name="Line 8"/>
          <p:cNvSpPr>
            <a:spLocks noChangeShapeType="1"/>
          </p:cNvSpPr>
          <p:nvPr/>
        </p:nvSpPr>
        <p:spPr bwMode="auto">
          <a:xfrm>
            <a:off x="1535113" y="8461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1" name="Line 9"/>
          <p:cNvSpPr>
            <a:spLocks noChangeShapeType="1"/>
          </p:cNvSpPr>
          <p:nvPr/>
        </p:nvSpPr>
        <p:spPr bwMode="auto">
          <a:xfrm>
            <a:off x="2049463" y="8461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2" name="Rectangle 10"/>
          <p:cNvSpPr>
            <a:spLocks noChangeArrowheads="1"/>
          </p:cNvSpPr>
          <p:nvPr/>
        </p:nvSpPr>
        <p:spPr bwMode="auto">
          <a:xfrm>
            <a:off x="712788" y="19415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13" name="Rectangle 11"/>
          <p:cNvSpPr>
            <a:spLocks noChangeArrowheads="1"/>
          </p:cNvSpPr>
          <p:nvPr/>
        </p:nvSpPr>
        <p:spPr bwMode="auto">
          <a:xfrm>
            <a:off x="1225550" y="1893888"/>
            <a:ext cx="309563"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14" name="Rectangle 12"/>
          <p:cNvSpPr>
            <a:spLocks noChangeArrowheads="1"/>
          </p:cNvSpPr>
          <p:nvPr/>
        </p:nvSpPr>
        <p:spPr bwMode="auto">
          <a:xfrm>
            <a:off x="1741488" y="1868488"/>
            <a:ext cx="307975" cy="287337"/>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15" name="Line 13"/>
          <p:cNvSpPr>
            <a:spLocks noChangeShapeType="1"/>
          </p:cNvSpPr>
          <p:nvPr/>
        </p:nvSpPr>
        <p:spPr bwMode="auto">
          <a:xfrm flipV="1">
            <a:off x="504825" y="2012950"/>
            <a:ext cx="21431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6" name="Line 14"/>
          <p:cNvSpPr>
            <a:spLocks noChangeShapeType="1"/>
          </p:cNvSpPr>
          <p:nvPr/>
        </p:nvSpPr>
        <p:spPr bwMode="auto">
          <a:xfrm>
            <a:off x="1020763" y="2012950"/>
            <a:ext cx="2047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7" name="Line 15"/>
          <p:cNvSpPr>
            <a:spLocks noChangeShapeType="1"/>
          </p:cNvSpPr>
          <p:nvPr/>
        </p:nvSpPr>
        <p:spPr bwMode="auto">
          <a:xfrm>
            <a:off x="1535113" y="201295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8" name="Line 16"/>
          <p:cNvSpPr>
            <a:spLocks noChangeShapeType="1"/>
          </p:cNvSpPr>
          <p:nvPr/>
        </p:nvSpPr>
        <p:spPr bwMode="auto">
          <a:xfrm>
            <a:off x="2049463" y="201295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19" name="Rectangle 17"/>
          <p:cNvSpPr>
            <a:spLocks noChangeArrowheads="1"/>
          </p:cNvSpPr>
          <p:nvPr/>
        </p:nvSpPr>
        <p:spPr bwMode="auto">
          <a:xfrm>
            <a:off x="2255838" y="558800"/>
            <a:ext cx="744537" cy="1717675"/>
          </a:xfrm>
          <a:prstGeom prst="rect">
            <a:avLst/>
          </a:prstGeom>
          <a:solidFill>
            <a:srgbClr val="FFCCFF"/>
          </a:solidFill>
          <a:ln w="28575">
            <a:solidFill>
              <a:schemeClr val="tx1"/>
            </a:solidFill>
            <a:miter lim="800000"/>
            <a:headEnd/>
            <a:tailEnd/>
          </a:ln>
          <a:effectLst>
            <a:outerShdw dist="53882"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0" name="Rectangle 18"/>
          <p:cNvSpPr>
            <a:spLocks noChangeArrowheads="1"/>
          </p:cNvSpPr>
          <p:nvPr/>
        </p:nvSpPr>
        <p:spPr bwMode="auto">
          <a:xfrm flipH="1">
            <a:off x="4233863" y="7731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1" name="Rectangle 19"/>
          <p:cNvSpPr>
            <a:spLocks noChangeArrowheads="1"/>
          </p:cNvSpPr>
          <p:nvPr/>
        </p:nvSpPr>
        <p:spPr bwMode="auto">
          <a:xfrm flipH="1">
            <a:off x="3721100" y="725488"/>
            <a:ext cx="307975"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2" name="Rectangle 20"/>
          <p:cNvSpPr>
            <a:spLocks noChangeArrowheads="1"/>
          </p:cNvSpPr>
          <p:nvPr/>
        </p:nvSpPr>
        <p:spPr bwMode="auto">
          <a:xfrm flipH="1">
            <a:off x="3203575" y="703263"/>
            <a:ext cx="309563"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3" name="Line 21"/>
          <p:cNvSpPr>
            <a:spLocks noChangeShapeType="1"/>
          </p:cNvSpPr>
          <p:nvPr/>
        </p:nvSpPr>
        <p:spPr bwMode="auto">
          <a:xfrm flipV="1">
            <a:off x="4537075" y="846138"/>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4" name="Line 22"/>
          <p:cNvSpPr>
            <a:spLocks noChangeShapeType="1"/>
          </p:cNvSpPr>
          <p:nvPr/>
        </p:nvSpPr>
        <p:spPr bwMode="auto">
          <a:xfrm rot="10800000" flipH="1">
            <a:off x="4029075" y="846138"/>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5" name="Line 23"/>
          <p:cNvSpPr>
            <a:spLocks noChangeShapeType="1"/>
          </p:cNvSpPr>
          <p:nvPr/>
        </p:nvSpPr>
        <p:spPr bwMode="auto">
          <a:xfrm>
            <a:off x="3513138" y="846138"/>
            <a:ext cx="2079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6" name="Line 24"/>
          <p:cNvSpPr>
            <a:spLocks noChangeShapeType="1"/>
          </p:cNvSpPr>
          <p:nvPr/>
        </p:nvSpPr>
        <p:spPr bwMode="auto">
          <a:xfrm>
            <a:off x="3000375" y="846138"/>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27" name="Rectangle 25"/>
          <p:cNvSpPr>
            <a:spLocks noChangeArrowheads="1"/>
          </p:cNvSpPr>
          <p:nvPr/>
        </p:nvSpPr>
        <p:spPr bwMode="auto">
          <a:xfrm flipH="1">
            <a:off x="4233863" y="1941513"/>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8" name="Rectangle 26"/>
          <p:cNvSpPr>
            <a:spLocks noChangeArrowheads="1"/>
          </p:cNvSpPr>
          <p:nvPr/>
        </p:nvSpPr>
        <p:spPr bwMode="auto">
          <a:xfrm flipH="1">
            <a:off x="3721100" y="1893888"/>
            <a:ext cx="307975"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29" name="Rectangle 27"/>
          <p:cNvSpPr>
            <a:spLocks noChangeArrowheads="1"/>
          </p:cNvSpPr>
          <p:nvPr/>
        </p:nvSpPr>
        <p:spPr bwMode="auto">
          <a:xfrm flipH="1">
            <a:off x="3203575" y="1868488"/>
            <a:ext cx="309563" cy="287337"/>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0" name="Line 28"/>
          <p:cNvSpPr>
            <a:spLocks noChangeShapeType="1"/>
          </p:cNvSpPr>
          <p:nvPr/>
        </p:nvSpPr>
        <p:spPr bwMode="auto">
          <a:xfrm flipV="1">
            <a:off x="4537075" y="2012950"/>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1" name="Line 29"/>
          <p:cNvSpPr>
            <a:spLocks noChangeShapeType="1"/>
          </p:cNvSpPr>
          <p:nvPr/>
        </p:nvSpPr>
        <p:spPr bwMode="auto">
          <a:xfrm>
            <a:off x="4029075" y="201295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2" name="Line 30"/>
          <p:cNvSpPr>
            <a:spLocks noChangeShapeType="1"/>
          </p:cNvSpPr>
          <p:nvPr/>
        </p:nvSpPr>
        <p:spPr bwMode="auto">
          <a:xfrm>
            <a:off x="3513138" y="2012950"/>
            <a:ext cx="2079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3" name="Line 31"/>
          <p:cNvSpPr>
            <a:spLocks noChangeShapeType="1"/>
          </p:cNvSpPr>
          <p:nvPr/>
        </p:nvSpPr>
        <p:spPr bwMode="auto">
          <a:xfrm>
            <a:off x="3000375" y="2012950"/>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4" name="Rectangle 32"/>
          <p:cNvSpPr>
            <a:spLocks noChangeArrowheads="1"/>
          </p:cNvSpPr>
          <p:nvPr/>
        </p:nvSpPr>
        <p:spPr bwMode="auto">
          <a:xfrm>
            <a:off x="712788" y="1344613"/>
            <a:ext cx="307975" cy="14446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5" name="Rectangle 33"/>
          <p:cNvSpPr>
            <a:spLocks noChangeArrowheads="1"/>
          </p:cNvSpPr>
          <p:nvPr/>
        </p:nvSpPr>
        <p:spPr bwMode="auto">
          <a:xfrm>
            <a:off x="1225550" y="1296988"/>
            <a:ext cx="309563"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6" name="Rectangle 34"/>
          <p:cNvSpPr>
            <a:spLocks noChangeArrowheads="1"/>
          </p:cNvSpPr>
          <p:nvPr/>
        </p:nvSpPr>
        <p:spPr bwMode="auto">
          <a:xfrm>
            <a:off x="1741488" y="1274763"/>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37" name="Line 35"/>
          <p:cNvSpPr>
            <a:spLocks noChangeShapeType="1"/>
          </p:cNvSpPr>
          <p:nvPr/>
        </p:nvSpPr>
        <p:spPr bwMode="auto">
          <a:xfrm flipV="1">
            <a:off x="504825" y="1417638"/>
            <a:ext cx="21431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8" name="Line 36"/>
          <p:cNvSpPr>
            <a:spLocks noChangeShapeType="1"/>
          </p:cNvSpPr>
          <p:nvPr/>
        </p:nvSpPr>
        <p:spPr bwMode="auto">
          <a:xfrm>
            <a:off x="1020763" y="1417638"/>
            <a:ext cx="20478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39" name="Line 37"/>
          <p:cNvSpPr>
            <a:spLocks noChangeShapeType="1"/>
          </p:cNvSpPr>
          <p:nvPr/>
        </p:nvSpPr>
        <p:spPr bwMode="auto">
          <a:xfrm>
            <a:off x="1535113" y="14176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0" name="Line 38"/>
          <p:cNvSpPr>
            <a:spLocks noChangeShapeType="1"/>
          </p:cNvSpPr>
          <p:nvPr/>
        </p:nvSpPr>
        <p:spPr bwMode="auto">
          <a:xfrm>
            <a:off x="2049463" y="1417638"/>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1" name="Rectangle 39"/>
          <p:cNvSpPr>
            <a:spLocks noChangeArrowheads="1"/>
          </p:cNvSpPr>
          <p:nvPr/>
        </p:nvSpPr>
        <p:spPr bwMode="auto">
          <a:xfrm flipH="1">
            <a:off x="4233863" y="1344613"/>
            <a:ext cx="307975" cy="14446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42" name="Rectangle 40"/>
          <p:cNvSpPr>
            <a:spLocks noChangeArrowheads="1"/>
          </p:cNvSpPr>
          <p:nvPr/>
        </p:nvSpPr>
        <p:spPr bwMode="auto">
          <a:xfrm flipH="1">
            <a:off x="3721100" y="1296988"/>
            <a:ext cx="307975" cy="23971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43" name="Rectangle 41"/>
          <p:cNvSpPr>
            <a:spLocks noChangeArrowheads="1"/>
          </p:cNvSpPr>
          <p:nvPr/>
        </p:nvSpPr>
        <p:spPr bwMode="auto">
          <a:xfrm flipH="1">
            <a:off x="3203575" y="1274763"/>
            <a:ext cx="309563"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44" name="Line 42"/>
          <p:cNvSpPr>
            <a:spLocks noChangeShapeType="1"/>
          </p:cNvSpPr>
          <p:nvPr/>
        </p:nvSpPr>
        <p:spPr bwMode="auto">
          <a:xfrm flipV="1">
            <a:off x="4537075" y="1417638"/>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5" name="Line 43"/>
          <p:cNvSpPr>
            <a:spLocks noChangeShapeType="1"/>
          </p:cNvSpPr>
          <p:nvPr/>
        </p:nvSpPr>
        <p:spPr bwMode="auto">
          <a:xfrm rot="10800000" flipH="1">
            <a:off x="4029075" y="1417638"/>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6" name="Line 44"/>
          <p:cNvSpPr>
            <a:spLocks noChangeShapeType="1"/>
          </p:cNvSpPr>
          <p:nvPr/>
        </p:nvSpPr>
        <p:spPr bwMode="auto">
          <a:xfrm>
            <a:off x="3513138" y="1417638"/>
            <a:ext cx="2079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7" name="Line 45"/>
          <p:cNvSpPr>
            <a:spLocks noChangeShapeType="1"/>
          </p:cNvSpPr>
          <p:nvPr/>
        </p:nvSpPr>
        <p:spPr bwMode="auto">
          <a:xfrm>
            <a:off x="3000375" y="1417638"/>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48" name="Text Box 46"/>
          <p:cNvSpPr txBox="1">
            <a:spLocks noChangeArrowheads="1"/>
          </p:cNvSpPr>
          <p:nvPr/>
        </p:nvSpPr>
        <p:spPr bwMode="auto">
          <a:xfrm>
            <a:off x="349250" y="404813"/>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1</a:t>
            </a:r>
          </a:p>
        </p:txBody>
      </p:sp>
      <p:sp>
        <p:nvSpPr>
          <p:cNvPr id="1122349" name="Text Box 47"/>
          <p:cNvSpPr txBox="1">
            <a:spLocks noChangeArrowheads="1"/>
          </p:cNvSpPr>
          <p:nvPr/>
        </p:nvSpPr>
        <p:spPr bwMode="auto">
          <a:xfrm>
            <a:off x="347663" y="156368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3</a:t>
            </a:r>
          </a:p>
        </p:txBody>
      </p:sp>
      <p:sp>
        <p:nvSpPr>
          <p:cNvPr id="1122350" name="Text Box 48"/>
          <p:cNvSpPr txBox="1">
            <a:spLocks noChangeArrowheads="1"/>
          </p:cNvSpPr>
          <p:nvPr/>
        </p:nvSpPr>
        <p:spPr bwMode="auto">
          <a:xfrm>
            <a:off x="347663" y="96043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2</a:t>
            </a:r>
          </a:p>
        </p:txBody>
      </p:sp>
      <p:sp>
        <p:nvSpPr>
          <p:cNvPr id="1122351" name="Text Box 49"/>
          <p:cNvSpPr txBox="1">
            <a:spLocks noChangeArrowheads="1"/>
          </p:cNvSpPr>
          <p:nvPr/>
        </p:nvSpPr>
        <p:spPr bwMode="auto">
          <a:xfrm>
            <a:off x="4519613" y="455613"/>
            <a:ext cx="47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1</a:t>
            </a:r>
          </a:p>
        </p:txBody>
      </p:sp>
      <p:sp>
        <p:nvSpPr>
          <p:cNvPr id="1122352" name="Text Box 50"/>
          <p:cNvSpPr txBox="1">
            <a:spLocks noChangeArrowheads="1"/>
          </p:cNvSpPr>
          <p:nvPr/>
        </p:nvSpPr>
        <p:spPr bwMode="auto">
          <a:xfrm>
            <a:off x="4519613" y="1060450"/>
            <a:ext cx="47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2</a:t>
            </a:r>
          </a:p>
        </p:txBody>
      </p:sp>
      <p:sp>
        <p:nvSpPr>
          <p:cNvPr id="1122353" name="Freeform 51"/>
          <p:cNvSpPr>
            <a:spLocks noChangeArrowheads="1"/>
          </p:cNvSpPr>
          <p:nvPr/>
        </p:nvSpPr>
        <p:spPr bwMode="auto">
          <a:xfrm>
            <a:off x="909638" y="630238"/>
            <a:ext cx="3538537" cy="571500"/>
          </a:xfrm>
          <a:custGeom>
            <a:avLst/>
            <a:gdLst>
              <a:gd name="T0" fmla="*/ 0 w 2064"/>
              <a:gd name="T1" fmla="*/ 0 h 384"/>
              <a:gd name="T2" fmla="*/ 816 w 2064"/>
              <a:gd name="T3" fmla="*/ 0 h 384"/>
              <a:gd name="T4" fmla="*/ 1248 w 2064"/>
              <a:gd name="T5" fmla="*/ 384 h 384"/>
              <a:gd name="T6" fmla="*/ 2064 w 2064"/>
              <a:gd name="T7" fmla="*/ 384 h 384"/>
            </a:gdLst>
            <a:ahLst/>
            <a:cxnLst>
              <a:cxn ang="0">
                <a:pos x="T0" y="T1"/>
              </a:cxn>
              <a:cxn ang="0">
                <a:pos x="T2" y="T3"/>
              </a:cxn>
              <a:cxn ang="0">
                <a:pos x="T4" y="T5"/>
              </a:cxn>
              <a:cxn ang="0">
                <a:pos x="T6" y="T7"/>
              </a:cxn>
            </a:cxnLst>
            <a:rect l="0" t="0" r="r" b="b"/>
            <a:pathLst>
              <a:path w="2064" h="384">
                <a:moveTo>
                  <a:pt x="0" y="0"/>
                </a:moveTo>
                <a:lnTo>
                  <a:pt x="816" y="0"/>
                </a:lnTo>
                <a:lnTo>
                  <a:pt x="1248" y="384"/>
                </a:lnTo>
                <a:lnTo>
                  <a:pt x="2064" y="384"/>
                </a:lnTo>
              </a:path>
            </a:pathLst>
          </a:custGeom>
          <a:noFill/>
          <a:ln w="76200">
            <a:solidFill>
              <a:srgbClr val="9966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54" name="Text Box 52"/>
          <p:cNvSpPr txBox="1">
            <a:spLocks noChangeArrowheads="1"/>
          </p:cNvSpPr>
          <p:nvPr/>
        </p:nvSpPr>
        <p:spPr bwMode="auto">
          <a:xfrm>
            <a:off x="2424113" y="958850"/>
            <a:ext cx="4413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存</a:t>
            </a:r>
          </a:p>
          <a:p>
            <a:pPr eaLnBrk="0" hangingPunct="0"/>
            <a:r>
              <a:rPr lang="zh-CN" altLang="en-US" sz="2000" b="1">
                <a:solidFill>
                  <a:srgbClr val="0000CC"/>
                </a:solidFill>
                <a:ea typeface="黑体" panose="02010609060101010101" pitchFamily="49" charset="-122"/>
              </a:rPr>
              <a:t>储</a:t>
            </a:r>
          </a:p>
          <a:p>
            <a:pPr eaLnBrk="0" hangingPunct="0"/>
            <a:r>
              <a:rPr lang="zh-CN" altLang="en-US" sz="2000" b="1">
                <a:solidFill>
                  <a:srgbClr val="0000CC"/>
                </a:solidFill>
                <a:ea typeface="黑体" panose="02010609060101010101" pitchFamily="49" charset="-122"/>
              </a:rPr>
              <a:t>器</a:t>
            </a:r>
          </a:p>
        </p:txBody>
      </p:sp>
      <p:sp>
        <p:nvSpPr>
          <p:cNvPr id="1122355" name="Rectangle 53"/>
          <p:cNvSpPr>
            <a:spLocks noChangeArrowheads="1"/>
          </p:cNvSpPr>
          <p:nvPr/>
        </p:nvSpPr>
        <p:spPr bwMode="auto">
          <a:xfrm>
            <a:off x="5835650" y="1196975"/>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56" name="Rectangle 54"/>
          <p:cNvSpPr>
            <a:spLocks noChangeArrowheads="1"/>
          </p:cNvSpPr>
          <p:nvPr/>
        </p:nvSpPr>
        <p:spPr bwMode="auto">
          <a:xfrm>
            <a:off x="6348413" y="1149350"/>
            <a:ext cx="309562"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57" name="Rectangle 55"/>
          <p:cNvSpPr>
            <a:spLocks noChangeArrowheads="1"/>
          </p:cNvSpPr>
          <p:nvPr/>
        </p:nvSpPr>
        <p:spPr bwMode="auto">
          <a:xfrm>
            <a:off x="6864350" y="1127125"/>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58" name="Line 56"/>
          <p:cNvSpPr>
            <a:spLocks noChangeShapeType="1"/>
          </p:cNvSpPr>
          <p:nvPr/>
        </p:nvSpPr>
        <p:spPr bwMode="auto">
          <a:xfrm flipV="1">
            <a:off x="5627688" y="1270000"/>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59" name="Line 57"/>
          <p:cNvSpPr>
            <a:spLocks noChangeShapeType="1"/>
          </p:cNvSpPr>
          <p:nvPr/>
        </p:nvSpPr>
        <p:spPr bwMode="auto">
          <a:xfrm>
            <a:off x="6143625" y="12700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0" name="Line 58"/>
          <p:cNvSpPr>
            <a:spLocks noChangeShapeType="1"/>
          </p:cNvSpPr>
          <p:nvPr/>
        </p:nvSpPr>
        <p:spPr bwMode="auto">
          <a:xfrm>
            <a:off x="6657975" y="12700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1" name="Line 59"/>
          <p:cNvSpPr>
            <a:spLocks noChangeShapeType="1"/>
          </p:cNvSpPr>
          <p:nvPr/>
        </p:nvSpPr>
        <p:spPr bwMode="auto">
          <a:xfrm>
            <a:off x="7172325" y="12700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2" name="Rectangle 60"/>
          <p:cNvSpPr>
            <a:spLocks noChangeArrowheads="1"/>
          </p:cNvSpPr>
          <p:nvPr/>
        </p:nvSpPr>
        <p:spPr bwMode="auto">
          <a:xfrm>
            <a:off x="5835650" y="2365375"/>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63" name="Rectangle 61"/>
          <p:cNvSpPr>
            <a:spLocks noChangeArrowheads="1"/>
          </p:cNvSpPr>
          <p:nvPr/>
        </p:nvSpPr>
        <p:spPr bwMode="auto">
          <a:xfrm>
            <a:off x="6348413" y="2317750"/>
            <a:ext cx="309562"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64" name="Rectangle 62"/>
          <p:cNvSpPr>
            <a:spLocks noChangeArrowheads="1"/>
          </p:cNvSpPr>
          <p:nvPr/>
        </p:nvSpPr>
        <p:spPr bwMode="auto">
          <a:xfrm>
            <a:off x="6864350" y="2292350"/>
            <a:ext cx="307975" cy="287338"/>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65" name="Line 63"/>
          <p:cNvSpPr>
            <a:spLocks noChangeShapeType="1"/>
          </p:cNvSpPr>
          <p:nvPr/>
        </p:nvSpPr>
        <p:spPr bwMode="auto">
          <a:xfrm flipV="1">
            <a:off x="5627688" y="2436813"/>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6" name="Line 64"/>
          <p:cNvSpPr>
            <a:spLocks noChangeShapeType="1"/>
          </p:cNvSpPr>
          <p:nvPr/>
        </p:nvSpPr>
        <p:spPr bwMode="auto">
          <a:xfrm>
            <a:off x="6143625" y="243681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7" name="Line 65"/>
          <p:cNvSpPr>
            <a:spLocks noChangeShapeType="1"/>
          </p:cNvSpPr>
          <p:nvPr/>
        </p:nvSpPr>
        <p:spPr bwMode="auto">
          <a:xfrm>
            <a:off x="6657975" y="243681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8" name="Line 66"/>
          <p:cNvSpPr>
            <a:spLocks noChangeShapeType="1"/>
          </p:cNvSpPr>
          <p:nvPr/>
        </p:nvSpPr>
        <p:spPr bwMode="auto">
          <a:xfrm>
            <a:off x="7172325" y="243681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69" name="Rectangle 67"/>
          <p:cNvSpPr>
            <a:spLocks noChangeArrowheads="1"/>
          </p:cNvSpPr>
          <p:nvPr/>
        </p:nvSpPr>
        <p:spPr bwMode="auto">
          <a:xfrm flipH="1">
            <a:off x="8742363" y="1196975"/>
            <a:ext cx="309562"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0" name="Rectangle 68"/>
          <p:cNvSpPr>
            <a:spLocks noChangeArrowheads="1"/>
          </p:cNvSpPr>
          <p:nvPr/>
        </p:nvSpPr>
        <p:spPr bwMode="auto">
          <a:xfrm flipH="1">
            <a:off x="8229600" y="1149350"/>
            <a:ext cx="307975"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1" name="Rectangle 69"/>
          <p:cNvSpPr>
            <a:spLocks noChangeArrowheads="1"/>
          </p:cNvSpPr>
          <p:nvPr/>
        </p:nvSpPr>
        <p:spPr bwMode="auto">
          <a:xfrm flipH="1">
            <a:off x="7712075" y="1127125"/>
            <a:ext cx="311150"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2" name="Line 70"/>
          <p:cNvSpPr>
            <a:spLocks noChangeShapeType="1"/>
          </p:cNvSpPr>
          <p:nvPr/>
        </p:nvSpPr>
        <p:spPr bwMode="auto">
          <a:xfrm flipV="1">
            <a:off x="9043988" y="1270000"/>
            <a:ext cx="21431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3" name="Line 71"/>
          <p:cNvSpPr>
            <a:spLocks noChangeShapeType="1"/>
          </p:cNvSpPr>
          <p:nvPr/>
        </p:nvSpPr>
        <p:spPr bwMode="auto">
          <a:xfrm rot="10800000" flipH="1">
            <a:off x="8537575" y="12700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4" name="Line 72"/>
          <p:cNvSpPr>
            <a:spLocks noChangeShapeType="1"/>
          </p:cNvSpPr>
          <p:nvPr/>
        </p:nvSpPr>
        <p:spPr bwMode="auto">
          <a:xfrm>
            <a:off x="8023225" y="12700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5" name="Line 73"/>
          <p:cNvSpPr>
            <a:spLocks noChangeShapeType="1"/>
          </p:cNvSpPr>
          <p:nvPr/>
        </p:nvSpPr>
        <p:spPr bwMode="auto">
          <a:xfrm>
            <a:off x="7508875" y="1270000"/>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76" name="Rectangle 74"/>
          <p:cNvSpPr>
            <a:spLocks noChangeArrowheads="1"/>
          </p:cNvSpPr>
          <p:nvPr/>
        </p:nvSpPr>
        <p:spPr bwMode="auto">
          <a:xfrm flipH="1">
            <a:off x="8742363" y="2365375"/>
            <a:ext cx="309562"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7" name="Rectangle 75"/>
          <p:cNvSpPr>
            <a:spLocks noChangeArrowheads="1"/>
          </p:cNvSpPr>
          <p:nvPr/>
        </p:nvSpPr>
        <p:spPr bwMode="auto">
          <a:xfrm flipH="1">
            <a:off x="8229600" y="2317750"/>
            <a:ext cx="307975"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8" name="Rectangle 76"/>
          <p:cNvSpPr>
            <a:spLocks noChangeArrowheads="1"/>
          </p:cNvSpPr>
          <p:nvPr/>
        </p:nvSpPr>
        <p:spPr bwMode="auto">
          <a:xfrm flipH="1">
            <a:off x="7712075" y="2292350"/>
            <a:ext cx="311150" cy="287338"/>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79" name="Line 77"/>
          <p:cNvSpPr>
            <a:spLocks noChangeShapeType="1"/>
          </p:cNvSpPr>
          <p:nvPr/>
        </p:nvSpPr>
        <p:spPr bwMode="auto">
          <a:xfrm flipV="1">
            <a:off x="9043988" y="2436813"/>
            <a:ext cx="21431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0" name="Line 78"/>
          <p:cNvSpPr>
            <a:spLocks noChangeShapeType="1"/>
          </p:cNvSpPr>
          <p:nvPr/>
        </p:nvSpPr>
        <p:spPr bwMode="auto">
          <a:xfrm>
            <a:off x="8537575" y="243681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1" name="Line 79"/>
          <p:cNvSpPr>
            <a:spLocks noChangeShapeType="1"/>
          </p:cNvSpPr>
          <p:nvPr/>
        </p:nvSpPr>
        <p:spPr bwMode="auto">
          <a:xfrm>
            <a:off x="8023225" y="243681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2" name="Line 80"/>
          <p:cNvSpPr>
            <a:spLocks noChangeShapeType="1"/>
          </p:cNvSpPr>
          <p:nvPr/>
        </p:nvSpPr>
        <p:spPr bwMode="auto">
          <a:xfrm>
            <a:off x="7508875" y="2436813"/>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3" name="Rectangle 81"/>
          <p:cNvSpPr>
            <a:spLocks noChangeArrowheads="1"/>
          </p:cNvSpPr>
          <p:nvPr/>
        </p:nvSpPr>
        <p:spPr bwMode="auto">
          <a:xfrm>
            <a:off x="5835650" y="1768475"/>
            <a:ext cx="307975" cy="14446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84" name="Rectangle 82"/>
          <p:cNvSpPr>
            <a:spLocks noChangeArrowheads="1"/>
          </p:cNvSpPr>
          <p:nvPr/>
        </p:nvSpPr>
        <p:spPr bwMode="auto">
          <a:xfrm>
            <a:off x="6348413" y="1720850"/>
            <a:ext cx="309562"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85" name="Rectangle 83"/>
          <p:cNvSpPr>
            <a:spLocks noChangeArrowheads="1"/>
          </p:cNvSpPr>
          <p:nvPr/>
        </p:nvSpPr>
        <p:spPr bwMode="auto">
          <a:xfrm>
            <a:off x="6864350" y="1698625"/>
            <a:ext cx="307975"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86" name="Line 84"/>
          <p:cNvSpPr>
            <a:spLocks noChangeShapeType="1"/>
          </p:cNvSpPr>
          <p:nvPr/>
        </p:nvSpPr>
        <p:spPr bwMode="auto">
          <a:xfrm flipV="1">
            <a:off x="5627688" y="1841500"/>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7" name="Line 85"/>
          <p:cNvSpPr>
            <a:spLocks noChangeShapeType="1"/>
          </p:cNvSpPr>
          <p:nvPr/>
        </p:nvSpPr>
        <p:spPr bwMode="auto">
          <a:xfrm>
            <a:off x="6143625" y="18415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8" name="Line 86"/>
          <p:cNvSpPr>
            <a:spLocks noChangeShapeType="1"/>
          </p:cNvSpPr>
          <p:nvPr/>
        </p:nvSpPr>
        <p:spPr bwMode="auto">
          <a:xfrm>
            <a:off x="6657975" y="18415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89" name="Line 87"/>
          <p:cNvSpPr>
            <a:spLocks noChangeShapeType="1"/>
          </p:cNvSpPr>
          <p:nvPr/>
        </p:nvSpPr>
        <p:spPr bwMode="auto">
          <a:xfrm>
            <a:off x="7172325" y="18415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0" name="Rectangle 88"/>
          <p:cNvSpPr>
            <a:spLocks noChangeArrowheads="1"/>
          </p:cNvSpPr>
          <p:nvPr/>
        </p:nvSpPr>
        <p:spPr bwMode="auto">
          <a:xfrm flipH="1">
            <a:off x="8742363" y="1768475"/>
            <a:ext cx="309562" cy="14446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91" name="Rectangle 89"/>
          <p:cNvSpPr>
            <a:spLocks noChangeArrowheads="1"/>
          </p:cNvSpPr>
          <p:nvPr/>
        </p:nvSpPr>
        <p:spPr bwMode="auto">
          <a:xfrm flipH="1">
            <a:off x="8229600" y="1720850"/>
            <a:ext cx="307975" cy="239713"/>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92" name="Rectangle 90"/>
          <p:cNvSpPr>
            <a:spLocks noChangeArrowheads="1"/>
          </p:cNvSpPr>
          <p:nvPr/>
        </p:nvSpPr>
        <p:spPr bwMode="auto">
          <a:xfrm flipH="1">
            <a:off x="7712075" y="1698625"/>
            <a:ext cx="311150"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393" name="Line 91"/>
          <p:cNvSpPr>
            <a:spLocks noChangeShapeType="1"/>
          </p:cNvSpPr>
          <p:nvPr/>
        </p:nvSpPr>
        <p:spPr bwMode="auto">
          <a:xfrm flipV="1">
            <a:off x="9043988" y="1841500"/>
            <a:ext cx="21431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4" name="Line 92"/>
          <p:cNvSpPr>
            <a:spLocks noChangeShapeType="1"/>
          </p:cNvSpPr>
          <p:nvPr/>
        </p:nvSpPr>
        <p:spPr bwMode="auto">
          <a:xfrm rot="10800000" flipH="1">
            <a:off x="8537575" y="1841500"/>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5" name="Line 93"/>
          <p:cNvSpPr>
            <a:spLocks noChangeShapeType="1"/>
          </p:cNvSpPr>
          <p:nvPr/>
        </p:nvSpPr>
        <p:spPr bwMode="auto">
          <a:xfrm>
            <a:off x="8023225" y="1841500"/>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6" name="Line 94"/>
          <p:cNvSpPr>
            <a:spLocks noChangeShapeType="1"/>
          </p:cNvSpPr>
          <p:nvPr/>
        </p:nvSpPr>
        <p:spPr bwMode="auto">
          <a:xfrm>
            <a:off x="7508875" y="1841500"/>
            <a:ext cx="2032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397" name="Text Box 95"/>
          <p:cNvSpPr txBox="1">
            <a:spLocks noChangeArrowheads="1"/>
          </p:cNvSpPr>
          <p:nvPr/>
        </p:nvSpPr>
        <p:spPr bwMode="auto">
          <a:xfrm>
            <a:off x="5459413" y="85883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1</a:t>
            </a:r>
          </a:p>
        </p:txBody>
      </p:sp>
      <p:sp>
        <p:nvSpPr>
          <p:cNvPr id="1122398" name="Text Box 96"/>
          <p:cNvSpPr txBox="1">
            <a:spLocks noChangeArrowheads="1"/>
          </p:cNvSpPr>
          <p:nvPr/>
        </p:nvSpPr>
        <p:spPr bwMode="auto">
          <a:xfrm>
            <a:off x="5457825" y="2016125"/>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3</a:t>
            </a:r>
          </a:p>
        </p:txBody>
      </p:sp>
      <p:sp>
        <p:nvSpPr>
          <p:cNvPr id="1122399" name="Text Box 97"/>
          <p:cNvSpPr txBox="1">
            <a:spLocks noChangeArrowheads="1"/>
          </p:cNvSpPr>
          <p:nvPr/>
        </p:nvSpPr>
        <p:spPr bwMode="auto">
          <a:xfrm>
            <a:off x="5457825" y="1412875"/>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2</a:t>
            </a:r>
          </a:p>
        </p:txBody>
      </p:sp>
      <p:sp>
        <p:nvSpPr>
          <p:cNvPr id="1122400" name="Text Box 98"/>
          <p:cNvSpPr txBox="1">
            <a:spLocks noChangeArrowheads="1"/>
          </p:cNvSpPr>
          <p:nvPr/>
        </p:nvSpPr>
        <p:spPr bwMode="auto">
          <a:xfrm>
            <a:off x="8997950" y="879475"/>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1</a:t>
            </a:r>
          </a:p>
        </p:txBody>
      </p:sp>
      <p:sp>
        <p:nvSpPr>
          <p:cNvPr id="1122401" name="Text Box 99"/>
          <p:cNvSpPr txBox="1">
            <a:spLocks noChangeArrowheads="1"/>
          </p:cNvSpPr>
          <p:nvPr/>
        </p:nvSpPr>
        <p:spPr bwMode="auto">
          <a:xfrm>
            <a:off x="8999538" y="1484313"/>
            <a:ext cx="4778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2</a:t>
            </a:r>
          </a:p>
        </p:txBody>
      </p:sp>
      <p:sp>
        <p:nvSpPr>
          <p:cNvPr id="1122402" name="AutoShape 100"/>
          <p:cNvSpPr>
            <a:spLocks noChangeArrowheads="1"/>
          </p:cNvSpPr>
          <p:nvPr/>
        </p:nvSpPr>
        <p:spPr bwMode="auto">
          <a:xfrm>
            <a:off x="7239000" y="768350"/>
            <a:ext cx="395288" cy="2001838"/>
          </a:xfrm>
          <a:prstGeom prst="upDownArrow">
            <a:avLst>
              <a:gd name="adj1" fmla="val 50000"/>
              <a:gd name="adj2" fmla="val 56293"/>
            </a:avLst>
          </a:prstGeom>
          <a:solidFill>
            <a:srgbClr val="FFCCFF"/>
          </a:solidFill>
          <a:ln w="9525">
            <a:solidFill>
              <a:schemeClr val="tx1"/>
            </a:solidFill>
            <a:miter lim="800000"/>
            <a:headEnd/>
            <a:tailEnd/>
          </a:ln>
        </p:spPr>
        <p:txBody>
          <a:bodyPr vert="eaVert" wrap="none" anchor="ctr"/>
          <a:lstStyle/>
          <a:p>
            <a:pPr eaLnBrk="0" hangingPunct="0"/>
            <a:endParaRPr lang="zh-CN" altLang="en-US" b="1">
              <a:solidFill>
                <a:srgbClr val="0000CC"/>
              </a:solidFill>
              <a:ea typeface="黑体" panose="02010609060101010101" pitchFamily="49" charset="-122"/>
            </a:endParaRPr>
          </a:p>
        </p:txBody>
      </p:sp>
      <p:sp>
        <p:nvSpPr>
          <p:cNvPr id="1122403" name="Freeform 101"/>
          <p:cNvSpPr>
            <a:spLocks noChangeArrowheads="1"/>
          </p:cNvSpPr>
          <p:nvPr/>
        </p:nvSpPr>
        <p:spPr bwMode="auto">
          <a:xfrm>
            <a:off x="6029325" y="1046163"/>
            <a:ext cx="2817813" cy="579437"/>
          </a:xfrm>
          <a:custGeom>
            <a:avLst/>
            <a:gdLst>
              <a:gd name="T0" fmla="*/ 0 w 1680"/>
              <a:gd name="T1" fmla="*/ 6 h 390"/>
              <a:gd name="T2" fmla="*/ 840 w 1680"/>
              <a:gd name="T3" fmla="*/ 0 h 390"/>
              <a:gd name="T4" fmla="*/ 840 w 1680"/>
              <a:gd name="T5" fmla="*/ 390 h 390"/>
              <a:gd name="T6" fmla="*/ 1680 w 1680"/>
              <a:gd name="T7" fmla="*/ 390 h 390"/>
            </a:gdLst>
            <a:ahLst/>
            <a:cxnLst>
              <a:cxn ang="0">
                <a:pos x="T0" y="T1"/>
              </a:cxn>
              <a:cxn ang="0">
                <a:pos x="T2" y="T3"/>
              </a:cxn>
              <a:cxn ang="0">
                <a:pos x="T4" y="T5"/>
              </a:cxn>
              <a:cxn ang="0">
                <a:pos x="T6" y="T7"/>
              </a:cxn>
            </a:cxnLst>
            <a:rect l="0" t="0" r="r" b="b"/>
            <a:pathLst>
              <a:path w="1680" h="390">
                <a:moveTo>
                  <a:pt x="0" y="6"/>
                </a:moveTo>
                <a:lnTo>
                  <a:pt x="840" y="0"/>
                </a:lnTo>
                <a:lnTo>
                  <a:pt x="840" y="390"/>
                </a:lnTo>
                <a:lnTo>
                  <a:pt x="1680" y="390"/>
                </a:lnTo>
              </a:path>
            </a:pathLst>
          </a:custGeom>
          <a:noFill/>
          <a:ln w="76200">
            <a:solidFill>
              <a:srgbClr val="9966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04" name="Rectangle 102"/>
          <p:cNvSpPr>
            <a:spLocks noChangeArrowheads="1"/>
          </p:cNvSpPr>
          <p:nvPr/>
        </p:nvSpPr>
        <p:spPr bwMode="auto">
          <a:xfrm>
            <a:off x="3063875" y="3270250"/>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05" name="Rectangle 103"/>
          <p:cNvSpPr>
            <a:spLocks noChangeArrowheads="1"/>
          </p:cNvSpPr>
          <p:nvPr/>
        </p:nvSpPr>
        <p:spPr bwMode="auto">
          <a:xfrm>
            <a:off x="3578225" y="3224213"/>
            <a:ext cx="306388" cy="23812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06" name="Rectangle 104"/>
          <p:cNvSpPr>
            <a:spLocks noChangeArrowheads="1"/>
          </p:cNvSpPr>
          <p:nvPr/>
        </p:nvSpPr>
        <p:spPr bwMode="auto">
          <a:xfrm>
            <a:off x="4090988" y="3200400"/>
            <a:ext cx="309562"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07" name="Line 105"/>
          <p:cNvSpPr>
            <a:spLocks noChangeShapeType="1"/>
          </p:cNvSpPr>
          <p:nvPr/>
        </p:nvSpPr>
        <p:spPr bwMode="auto">
          <a:xfrm flipV="1">
            <a:off x="2857500" y="3343275"/>
            <a:ext cx="2111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08" name="Line 106"/>
          <p:cNvSpPr>
            <a:spLocks noChangeShapeType="1"/>
          </p:cNvSpPr>
          <p:nvPr/>
        </p:nvSpPr>
        <p:spPr bwMode="auto">
          <a:xfrm>
            <a:off x="3371850" y="33432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09" name="Line 107"/>
          <p:cNvSpPr>
            <a:spLocks noChangeShapeType="1"/>
          </p:cNvSpPr>
          <p:nvPr/>
        </p:nvSpPr>
        <p:spPr bwMode="auto">
          <a:xfrm>
            <a:off x="3884613" y="33432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0" name="Line 108"/>
          <p:cNvSpPr>
            <a:spLocks noChangeShapeType="1"/>
          </p:cNvSpPr>
          <p:nvPr/>
        </p:nvSpPr>
        <p:spPr bwMode="auto">
          <a:xfrm>
            <a:off x="4400550" y="3343275"/>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1" name="Text Box 109"/>
          <p:cNvSpPr txBox="1">
            <a:spLocks noChangeArrowheads="1"/>
          </p:cNvSpPr>
          <p:nvPr/>
        </p:nvSpPr>
        <p:spPr bwMode="auto">
          <a:xfrm>
            <a:off x="2673350" y="2932113"/>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1</a:t>
            </a:r>
          </a:p>
        </p:txBody>
      </p:sp>
      <p:sp>
        <p:nvSpPr>
          <p:cNvPr id="1122412" name="Rectangle 110"/>
          <p:cNvSpPr>
            <a:spLocks noChangeArrowheads="1"/>
          </p:cNvSpPr>
          <p:nvPr/>
        </p:nvSpPr>
        <p:spPr bwMode="auto">
          <a:xfrm>
            <a:off x="3068638" y="4402138"/>
            <a:ext cx="309562" cy="144462"/>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13" name="Rectangle 111"/>
          <p:cNvSpPr>
            <a:spLocks noChangeArrowheads="1"/>
          </p:cNvSpPr>
          <p:nvPr/>
        </p:nvSpPr>
        <p:spPr bwMode="auto">
          <a:xfrm>
            <a:off x="3584575" y="4356100"/>
            <a:ext cx="307975" cy="23812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14" name="Rectangle 112"/>
          <p:cNvSpPr>
            <a:spLocks noChangeArrowheads="1"/>
          </p:cNvSpPr>
          <p:nvPr/>
        </p:nvSpPr>
        <p:spPr bwMode="auto">
          <a:xfrm>
            <a:off x="4097338" y="4332288"/>
            <a:ext cx="309562"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15" name="Line 113"/>
          <p:cNvSpPr>
            <a:spLocks noChangeShapeType="1"/>
          </p:cNvSpPr>
          <p:nvPr/>
        </p:nvSpPr>
        <p:spPr bwMode="auto">
          <a:xfrm flipV="1">
            <a:off x="2863850" y="4475163"/>
            <a:ext cx="21272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6" name="Line 114"/>
          <p:cNvSpPr>
            <a:spLocks noChangeShapeType="1"/>
          </p:cNvSpPr>
          <p:nvPr/>
        </p:nvSpPr>
        <p:spPr bwMode="auto">
          <a:xfrm>
            <a:off x="3378200" y="447516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7" name="Line 115"/>
          <p:cNvSpPr>
            <a:spLocks noChangeShapeType="1"/>
          </p:cNvSpPr>
          <p:nvPr/>
        </p:nvSpPr>
        <p:spPr bwMode="auto">
          <a:xfrm>
            <a:off x="3892550" y="4475163"/>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8" name="Line 116"/>
          <p:cNvSpPr>
            <a:spLocks noChangeShapeType="1"/>
          </p:cNvSpPr>
          <p:nvPr/>
        </p:nvSpPr>
        <p:spPr bwMode="auto">
          <a:xfrm>
            <a:off x="4406900" y="4475163"/>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19" name="Text Box 117"/>
          <p:cNvSpPr txBox="1">
            <a:spLocks noChangeArrowheads="1"/>
          </p:cNvSpPr>
          <p:nvPr/>
        </p:nvSpPr>
        <p:spPr bwMode="auto">
          <a:xfrm>
            <a:off x="2660650" y="4090988"/>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3</a:t>
            </a:r>
          </a:p>
        </p:txBody>
      </p:sp>
      <p:sp>
        <p:nvSpPr>
          <p:cNvPr id="1122420" name="Rectangle 118"/>
          <p:cNvSpPr>
            <a:spLocks noChangeArrowheads="1"/>
          </p:cNvSpPr>
          <p:nvPr/>
        </p:nvSpPr>
        <p:spPr bwMode="auto">
          <a:xfrm>
            <a:off x="3063875" y="3843338"/>
            <a:ext cx="307975" cy="142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21" name="Rectangle 119"/>
          <p:cNvSpPr>
            <a:spLocks noChangeArrowheads="1"/>
          </p:cNvSpPr>
          <p:nvPr/>
        </p:nvSpPr>
        <p:spPr bwMode="auto">
          <a:xfrm>
            <a:off x="3578225" y="3795713"/>
            <a:ext cx="306388" cy="23812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22" name="Rectangle 120"/>
          <p:cNvSpPr>
            <a:spLocks noChangeArrowheads="1"/>
          </p:cNvSpPr>
          <p:nvPr/>
        </p:nvSpPr>
        <p:spPr bwMode="auto">
          <a:xfrm>
            <a:off x="4090988" y="3771900"/>
            <a:ext cx="309562" cy="285750"/>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23" name="Line 121"/>
          <p:cNvSpPr>
            <a:spLocks noChangeShapeType="1"/>
          </p:cNvSpPr>
          <p:nvPr/>
        </p:nvSpPr>
        <p:spPr bwMode="auto">
          <a:xfrm flipV="1">
            <a:off x="2857500" y="3914775"/>
            <a:ext cx="21113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4" name="Line 122"/>
          <p:cNvSpPr>
            <a:spLocks noChangeShapeType="1"/>
          </p:cNvSpPr>
          <p:nvPr/>
        </p:nvSpPr>
        <p:spPr bwMode="auto">
          <a:xfrm>
            <a:off x="3371850" y="39147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5" name="Line 123"/>
          <p:cNvSpPr>
            <a:spLocks noChangeShapeType="1"/>
          </p:cNvSpPr>
          <p:nvPr/>
        </p:nvSpPr>
        <p:spPr bwMode="auto">
          <a:xfrm>
            <a:off x="3884613" y="3914775"/>
            <a:ext cx="2063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6" name="Line 124"/>
          <p:cNvSpPr>
            <a:spLocks noChangeShapeType="1"/>
          </p:cNvSpPr>
          <p:nvPr/>
        </p:nvSpPr>
        <p:spPr bwMode="auto">
          <a:xfrm>
            <a:off x="4400550" y="3914775"/>
            <a:ext cx="204788"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27" name="Text Box 125"/>
          <p:cNvSpPr txBox="1">
            <a:spLocks noChangeArrowheads="1"/>
          </p:cNvSpPr>
          <p:nvPr/>
        </p:nvSpPr>
        <p:spPr bwMode="auto">
          <a:xfrm>
            <a:off x="2670175" y="3489325"/>
            <a:ext cx="3492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I</a:t>
            </a:r>
            <a:r>
              <a:rPr lang="en-US" altLang="zh-CN" sz="2000" b="1" baseline="-25000">
                <a:solidFill>
                  <a:srgbClr val="0000CC"/>
                </a:solidFill>
                <a:ea typeface="黑体" panose="02010609060101010101" pitchFamily="49" charset="-122"/>
              </a:rPr>
              <a:t>2</a:t>
            </a:r>
          </a:p>
        </p:txBody>
      </p:sp>
      <p:grpSp>
        <p:nvGrpSpPr>
          <p:cNvPr id="1122428" name="Group 126"/>
          <p:cNvGrpSpPr>
            <a:grpSpLocks/>
          </p:cNvGrpSpPr>
          <p:nvPr/>
        </p:nvGrpSpPr>
        <p:grpSpPr bwMode="auto">
          <a:xfrm>
            <a:off x="4932363" y="4689475"/>
            <a:ext cx="322262" cy="1554163"/>
            <a:chOff x="2919" y="2867"/>
            <a:chExt cx="192" cy="1044"/>
          </a:xfrm>
        </p:grpSpPr>
        <p:sp>
          <p:nvSpPr>
            <p:cNvPr id="1122429" name="Rectangle 127"/>
            <p:cNvSpPr>
              <a:spLocks noChangeArrowheads="1"/>
            </p:cNvSpPr>
            <p:nvPr/>
          </p:nvSpPr>
          <p:spPr bwMode="auto">
            <a:xfrm rot="5400000" flipH="1">
              <a:off x="2923" y="3648"/>
              <a:ext cx="184" cy="96"/>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0" name="Rectangle 128"/>
            <p:cNvSpPr>
              <a:spLocks noChangeArrowheads="1"/>
            </p:cNvSpPr>
            <p:nvPr/>
          </p:nvSpPr>
          <p:spPr bwMode="auto">
            <a:xfrm rot="5400000" flipH="1">
              <a:off x="2923" y="3309"/>
              <a:ext cx="184" cy="160"/>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1" name="Rectangle 129"/>
            <p:cNvSpPr>
              <a:spLocks noChangeArrowheads="1"/>
            </p:cNvSpPr>
            <p:nvPr/>
          </p:nvSpPr>
          <p:spPr bwMode="auto">
            <a:xfrm rot="5400000" flipH="1">
              <a:off x="2921" y="2986"/>
              <a:ext cx="185" cy="192"/>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2" name="Line 130"/>
            <p:cNvSpPr>
              <a:spLocks noChangeShapeType="1"/>
            </p:cNvSpPr>
            <p:nvPr/>
          </p:nvSpPr>
          <p:spPr bwMode="auto">
            <a:xfrm rot="5400000" flipV="1">
              <a:off x="2950" y="3848"/>
              <a:ext cx="12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33" name="Line 131"/>
            <p:cNvSpPr>
              <a:spLocks noChangeShapeType="1"/>
            </p:cNvSpPr>
            <p:nvPr/>
          </p:nvSpPr>
          <p:spPr bwMode="auto">
            <a:xfrm rot="5400000">
              <a:off x="2952" y="3543"/>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34" name="Line 132"/>
            <p:cNvSpPr>
              <a:spLocks noChangeShapeType="1"/>
            </p:cNvSpPr>
            <p:nvPr/>
          </p:nvSpPr>
          <p:spPr bwMode="auto">
            <a:xfrm rot="5400000">
              <a:off x="2952" y="3236"/>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35" name="Line 133"/>
            <p:cNvSpPr>
              <a:spLocks noChangeShapeType="1"/>
            </p:cNvSpPr>
            <p:nvPr/>
          </p:nvSpPr>
          <p:spPr bwMode="auto">
            <a:xfrm rot="5400000">
              <a:off x="2954" y="2928"/>
              <a:ext cx="12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grpSp>
      <p:sp>
        <p:nvSpPr>
          <p:cNvPr id="1122436" name="Text Box 134"/>
          <p:cNvSpPr txBox="1">
            <a:spLocks noChangeArrowheads="1"/>
          </p:cNvSpPr>
          <p:nvPr/>
        </p:nvSpPr>
        <p:spPr bwMode="auto">
          <a:xfrm>
            <a:off x="5159375" y="5908675"/>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1</a:t>
            </a:r>
          </a:p>
        </p:txBody>
      </p:sp>
      <p:grpSp>
        <p:nvGrpSpPr>
          <p:cNvPr id="1122437" name="Group 135"/>
          <p:cNvGrpSpPr>
            <a:grpSpLocks/>
          </p:cNvGrpSpPr>
          <p:nvPr/>
        </p:nvGrpSpPr>
        <p:grpSpPr bwMode="auto">
          <a:xfrm>
            <a:off x="5667375" y="4689475"/>
            <a:ext cx="717550" cy="1609725"/>
            <a:chOff x="3357" y="2859"/>
            <a:chExt cx="429" cy="1080"/>
          </a:xfrm>
        </p:grpSpPr>
        <p:sp>
          <p:nvSpPr>
            <p:cNvPr id="1122438" name="Rectangle 136"/>
            <p:cNvSpPr>
              <a:spLocks noChangeArrowheads="1"/>
            </p:cNvSpPr>
            <p:nvPr/>
          </p:nvSpPr>
          <p:spPr bwMode="auto">
            <a:xfrm rot="5400000" flipH="1">
              <a:off x="3361" y="3640"/>
              <a:ext cx="184" cy="96"/>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39" name="Rectangle 137"/>
            <p:cNvSpPr>
              <a:spLocks noChangeArrowheads="1"/>
            </p:cNvSpPr>
            <p:nvPr/>
          </p:nvSpPr>
          <p:spPr bwMode="auto">
            <a:xfrm rot="5400000" flipH="1">
              <a:off x="3361" y="3301"/>
              <a:ext cx="184" cy="160"/>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0" name="Rectangle 138"/>
            <p:cNvSpPr>
              <a:spLocks noChangeArrowheads="1"/>
            </p:cNvSpPr>
            <p:nvPr/>
          </p:nvSpPr>
          <p:spPr bwMode="auto">
            <a:xfrm rot="5400000" flipH="1">
              <a:off x="3359" y="2978"/>
              <a:ext cx="185" cy="192"/>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1" name="Line 139"/>
            <p:cNvSpPr>
              <a:spLocks noChangeShapeType="1"/>
            </p:cNvSpPr>
            <p:nvPr/>
          </p:nvSpPr>
          <p:spPr bwMode="auto">
            <a:xfrm rot="5400000" flipV="1">
              <a:off x="3388" y="3840"/>
              <a:ext cx="127"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2" name="Line 140"/>
            <p:cNvSpPr>
              <a:spLocks noChangeShapeType="1"/>
            </p:cNvSpPr>
            <p:nvPr/>
          </p:nvSpPr>
          <p:spPr bwMode="auto">
            <a:xfrm rot="16200000" flipH="1">
              <a:off x="3390" y="3535"/>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3" name="Line 141"/>
            <p:cNvSpPr>
              <a:spLocks noChangeShapeType="1"/>
            </p:cNvSpPr>
            <p:nvPr/>
          </p:nvSpPr>
          <p:spPr bwMode="auto">
            <a:xfrm rot="5400000">
              <a:off x="3390" y="3228"/>
              <a:ext cx="12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4" name="Line 142"/>
            <p:cNvSpPr>
              <a:spLocks noChangeShapeType="1"/>
            </p:cNvSpPr>
            <p:nvPr/>
          </p:nvSpPr>
          <p:spPr bwMode="auto">
            <a:xfrm rot="5400000">
              <a:off x="3392" y="2920"/>
              <a:ext cx="12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45" name="Text Box 143"/>
            <p:cNvSpPr txBox="1">
              <a:spLocks noChangeArrowheads="1"/>
            </p:cNvSpPr>
            <p:nvPr/>
          </p:nvSpPr>
          <p:spPr bwMode="auto">
            <a:xfrm>
              <a:off x="3500" y="3671"/>
              <a:ext cx="286"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2</a:t>
              </a:r>
            </a:p>
          </p:txBody>
        </p:sp>
      </p:grpSp>
      <p:sp>
        <p:nvSpPr>
          <p:cNvPr id="1122446" name="Rectangle 144"/>
          <p:cNvSpPr>
            <a:spLocks noChangeArrowheads="1"/>
          </p:cNvSpPr>
          <p:nvPr/>
        </p:nvSpPr>
        <p:spPr bwMode="auto">
          <a:xfrm rot="5400000" flipH="1">
            <a:off x="6418263" y="5843588"/>
            <a:ext cx="274637" cy="160337"/>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7" name="Rectangle 145"/>
          <p:cNvSpPr>
            <a:spLocks noChangeArrowheads="1"/>
          </p:cNvSpPr>
          <p:nvPr/>
        </p:nvSpPr>
        <p:spPr bwMode="auto">
          <a:xfrm rot="5400000" flipH="1">
            <a:off x="6417469" y="5330031"/>
            <a:ext cx="274638" cy="269875"/>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8" name="Rectangle 146"/>
          <p:cNvSpPr>
            <a:spLocks noChangeArrowheads="1"/>
          </p:cNvSpPr>
          <p:nvPr/>
        </p:nvSpPr>
        <p:spPr bwMode="auto">
          <a:xfrm rot="5400000" flipH="1">
            <a:off x="6418263" y="4846637"/>
            <a:ext cx="274638" cy="322263"/>
          </a:xfrm>
          <a:prstGeom prst="rect">
            <a:avLst/>
          </a:prstGeom>
          <a:solidFill>
            <a:srgbClr val="EAEAEA"/>
          </a:solidFill>
          <a:ln w="19050">
            <a:solidFill>
              <a:schemeClr val="tx1"/>
            </a:solidFill>
            <a:miter lim="800000"/>
            <a:headEnd/>
            <a:tailEnd/>
          </a:ln>
          <a:effectLst>
            <a:outerShdw dist="35921" dir="2700000" algn="ctr" rotWithShape="0">
              <a:schemeClr val="bg2"/>
            </a:outerShdw>
          </a:effectLst>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49" name="Line 147"/>
          <p:cNvSpPr>
            <a:spLocks noChangeShapeType="1"/>
          </p:cNvSpPr>
          <p:nvPr/>
        </p:nvSpPr>
        <p:spPr bwMode="auto">
          <a:xfrm rot="5400000" flipV="1">
            <a:off x="6461125" y="6148388"/>
            <a:ext cx="19050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0" name="Line 148"/>
          <p:cNvSpPr>
            <a:spLocks noChangeShapeType="1"/>
          </p:cNvSpPr>
          <p:nvPr/>
        </p:nvSpPr>
        <p:spPr bwMode="auto">
          <a:xfrm rot="16200000" flipH="1">
            <a:off x="6464300" y="5694363"/>
            <a:ext cx="184150"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1" name="Line 149"/>
          <p:cNvSpPr>
            <a:spLocks noChangeShapeType="1"/>
          </p:cNvSpPr>
          <p:nvPr/>
        </p:nvSpPr>
        <p:spPr bwMode="auto">
          <a:xfrm rot="5400000">
            <a:off x="6465094" y="5236369"/>
            <a:ext cx="182562"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2" name="Line 150"/>
          <p:cNvSpPr>
            <a:spLocks noChangeShapeType="1"/>
          </p:cNvSpPr>
          <p:nvPr/>
        </p:nvSpPr>
        <p:spPr bwMode="auto">
          <a:xfrm rot="5400000">
            <a:off x="6465887" y="4779963"/>
            <a:ext cx="180975"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3" name="Text Box 151"/>
          <p:cNvSpPr txBox="1">
            <a:spLocks noChangeArrowheads="1"/>
          </p:cNvSpPr>
          <p:nvPr/>
        </p:nvSpPr>
        <p:spPr bwMode="auto">
          <a:xfrm>
            <a:off x="6670675" y="5908675"/>
            <a:ext cx="479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3</a:t>
            </a:r>
          </a:p>
        </p:txBody>
      </p:sp>
      <p:sp>
        <p:nvSpPr>
          <p:cNvPr id="1122454" name="Freeform 152"/>
          <p:cNvSpPr>
            <a:spLocks noChangeArrowheads="1"/>
          </p:cNvSpPr>
          <p:nvPr/>
        </p:nvSpPr>
        <p:spPr bwMode="auto">
          <a:xfrm>
            <a:off x="3259138" y="3119438"/>
            <a:ext cx="2816225" cy="2735262"/>
          </a:xfrm>
          <a:custGeom>
            <a:avLst/>
            <a:gdLst>
              <a:gd name="T0" fmla="*/ 0 w 1680"/>
              <a:gd name="T1" fmla="*/ 0 h 1836"/>
              <a:gd name="T2" fmla="*/ 1680 w 1680"/>
              <a:gd name="T3" fmla="*/ 6 h 1836"/>
              <a:gd name="T4" fmla="*/ 1680 w 1680"/>
              <a:gd name="T5" fmla="*/ 1836 h 1836"/>
            </a:gdLst>
            <a:ahLst/>
            <a:cxnLst>
              <a:cxn ang="0">
                <a:pos x="T0" y="T1"/>
              </a:cxn>
              <a:cxn ang="0">
                <a:pos x="T2" y="T3"/>
              </a:cxn>
              <a:cxn ang="0">
                <a:pos x="T4" y="T5"/>
              </a:cxn>
            </a:cxnLst>
            <a:rect l="0" t="0" r="r" b="b"/>
            <a:pathLst>
              <a:path w="1680" h="1836">
                <a:moveTo>
                  <a:pt x="0" y="0"/>
                </a:moveTo>
                <a:lnTo>
                  <a:pt x="1680" y="6"/>
                </a:lnTo>
                <a:lnTo>
                  <a:pt x="1680" y="1836"/>
                </a:lnTo>
              </a:path>
            </a:pathLst>
          </a:custGeom>
          <a:noFill/>
          <a:ln w="76200">
            <a:solidFill>
              <a:srgbClr val="9966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61" name="Text Box 153"/>
          <p:cNvSpPr txBox="1">
            <a:spLocks noChangeArrowheads="1"/>
          </p:cNvSpPr>
          <p:nvPr/>
        </p:nvSpPr>
        <p:spPr bwMode="auto">
          <a:xfrm>
            <a:off x="1516063" y="2390775"/>
            <a:ext cx="1858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(a) </a:t>
            </a:r>
            <a:r>
              <a:rPr lang="zh-CN" altLang="en-US" sz="2000" b="1">
                <a:ea typeface="黑体" panose="02010609060101010101" pitchFamily="49" charset="-122"/>
              </a:rPr>
              <a:t>通过存储器</a:t>
            </a:r>
          </a:p>
        </p:txBody>
      </p:sp>
      <p:sp>
        <p:nvSpPr>
          <p:cNvPr id="964762" name="Text Box 154"/>
          <p:cNvSpPr txBox="1">
            <a:spLocks noChangeArrowheads="1"/>
          </p:cNvSpPr>
          <p:nvPr/>
        </p:nvSpPr>
        <p:spPr bwMode="auto">
          <a:xfrm>
            <a:off x="2724150" y="5641975"/>
            <a:ext cx="2116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(c) </a:t>
            </a:r>
            <a:r>
              <a:rPr lang="zh-CN" altLang="en-US" sz="2000" b="1">
                <a:ea typeface="黑体" panose="02010609060101010101" pitchFamily="49" charset="-122"/>
              </a:rPr>
              <a:t>通过互连网络</a:t>
            </a:r>
          </a:p>
        </p:txBody>
      </p:sp>
      <p:sp>
        <p:nvSpPr>
          <p:cNvPr id="964763" name="Text Box 155"/>
          <p:cNvSpPr txBox="1">
            <a:spLocks noChangeArrowheads="1"/>
          </p:cNvSpPr>
          <p:nvPr/>
        </p:nvSpPr>
        <p:spPr bwMode="auto">
          <a:xfrm>
            <a:off x="6743700" y="2781300"/>
            <a:ext cx="1614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ea typeface="黑体" panose="02010609060101010101" pitchFamily="49" charset="-122"/>
              </a:rPr>
              <a:t>(b) </a:t>
            </a:r>
            <a:r>
              <a:rPr lang="zh-CN" altLang="en-US" sz="2000" b="1">
                <a:ea typeface="黑体" panose="02010609060101010101" pitchFamily="49" charset="-122"/>
              </a:rPr>
              <a:t>通过总线</a:t>
            </a:r>
          </a:p>
        </p:txBody>
      </p:sp>
      <p:sp>
        <p:nvSpPr>
          <p:cNvPr id="1122458" name="Line 156"/>
          <p:cNvSpPr>
            <a:spLocks noChangeShapeType="1"/>
          </p:cNvSpPr>
          <p:nvPr/>
        </p:nvSpPr>
        <p:spPr bwMode="auto">
          <a:xfrm>
            <a:off x="4706938" y="3343275"/>
            <a:ext cx="1851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59" name="Line 157"/>
          <p:cNvSpPr>
            <a:spLocks noChangeShapeType="1"/>
          </p:cNvSpPr>
          <p:nvPr/>
        </p:nvSpPr>
        <p:spPr bwMode="auto">
          <a:xfrm>
            <a:off x="4706938" y="3914775"/>
            <a:ext cx="1851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0" name="Line 158"/>
          <p:cNvSpPr>
            <a:spLocks noChangeShapeType="1"/>
          </p:cNvSpPr>
          <p:nvPr/>
        </p:nvSpPr>
        <p:spPr bwMode="auto">
          <a:xfrm>
            <a:off x="4706938" y="4487863"/>
            <a:ext cx="18510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1" name="Line 159"/>
          <p:cNvSpPr>
            <a:spLocks noChangeShapeType="1"/>
          </p:cNvSpPr>
          <p:nvPr/>
        </p:nvSpPr>
        <p:spPr bwMode="auto">
          <a:xfrm rot="-5400000">
            <a:off x="4466431" y="3987007"/>
            <a:ext cx="1287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2" name="Line 160"/>
          <p:cNvSpPr>
            <a:spLocks noChangeShapeType="1"/>
          </p:cNvSpPr>
          <p:nvPr/>
        </p:nvSpPr>
        <p:spPr bwMode="auto">
          <a:xfrm rot="-5400000">
            <a:off x="5190331" y="3987007"/>
            <a:ext cx="1287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3" name="Line 161"/>
          <p:cNvSpPr>
            <a:spLocks noChangeShapeType="1"/>
          </p:cNvSpPr>
          <p:nvPr/>
        </p:nvSpPr>
        <p:spPr bwMode="auto">
          <a:xfrm rot="-5400000">
            <a:off x="5914231" y="3987007"/>
            <a:ext cx="12874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64" name="Oval 162"/>
          <p:cNvSpPr>
            <a:spLocks noChangeArrowheads="1"/>
          </p:cNvSpPr>
          <p:nvPr/>
        </p:nvSpPr>
        <p:spPr bwMode="auto">
          <a:xfrm>
            <a:off x="6484938" y="3856038"/>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5" name="Oval 163"/>
          <p:cNvSpPr>
            <a:spLocks noChangeArrowheads="1"/>
          </p:cNvSpPr>
          <p:nvPr/>
        </p:nvSpPr>
        <p:spPr bwMode="auto">
          <a:xfrm>
            <a:off x="6484938" y="4429125"/>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6" name="Oval 164"/>
          <p:cNvSpPr>
            <a:spLocks noChangeArrowheads="1"/>
          </p:cNvSpPr>
          <p:nvPr/>
        </p:nvSpPr>
        <p:spPr bwMode="auto">
          <a:xfrm>
            <a:off x="6484938" y="3289300"/>
            <a:ext cx="133350" cy="115888"/>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7" name="Oval 165"/>
          <p:cNvSpPr>
            <a:spLocks noChangeArrowheads="1"/>
          </p:cNvSpPr>
          <p:nvPr/>
        </p:nvSpPr>
        <p:spPr bwMode="auto">
          <a:xfrm>
            <a:off x="5761038" y="4429125"/>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8" name="Oval 166"/>
          <p:cNvSpPr>
            <a:spLocks noChangeArrowheads="1"/>
          </p:cNvSpPr>
          <p:nvPr/>
        </p:nvSpPr>
        <p:spPr bwMode="auto">
          <a:xfrm>
            <a:off x="5761038" y="3856038"/>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69" name="Oval 167"/>
          <p:cNvSpPr>
            <a:spLocks noChangeArrowheads="1"/>
          </p:cNvSpPr>
          <p:nvPr/>
        </p:nvSpPr>
        <p:spPr bwMode="auto">
          <a:xfrm>
            <a:off x="5761038" y="3289300"/>
            <a:ext cx="133350" cy="115888"/>
          </a:xfrm>
          <a:prstGeom prst="ellipse">
            <a:avLst/>
          </a:prstGeom>
          <a:solidFill>
            <a:srgbClr val="66FF33"/>
          </a:solidFill>
          <a:ln w="9525">
            <a:solidFill>
              <a:schemeClr val="hlink"/>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0" name="Oval 168"/>
          <p:cNvSpPr>
            <a:spLocks noChangeArrowheads="1"/>
          </p:cNvSpPr>
          <p:nvPr/>
        </p:nvSpPr>
        <p:spPr bwMode="auto">
          <a:xfrm>
            <a:off x="5037138" y="4429125"/>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1" name="Oval 169"/>
          <p:cNvSpPr>
            <a:spLocks noChangeArrowheads="1"/>
          </p:cNvSpPr>
          <p:nvPr/>
        </p:nvSpPr>
        <p:spPr bwMode="auto">
          <a:xfrm>
            <a:off x="5037138" y="3856038"/>
            <a:ext cx="133350" cy="117475"/>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2" name="Oval 170"/>
          <p:cNvSpPr>
            <a:spLocks noChangeArrowheads="1"/>
          </p:cNvSpPr>
          <p:nvPr/>
        </p:nvSpPr>
        <p:spPr bwMode="auto">
          <a:xfrm>
            <a:off x="5037138" y="3289300"/>
            <a:ext cx="133350" cy="115888"/>
          </a:xfrm>
          <a:prstGeom prst="ellipse">
            <a:avLst/>
          </a:prstGeom>
          <a:solidFill>
            <a:schemeClr val="tx1"/>
          </a:solidFill>
          <a:ln w="9525">
            <a:solidFill>
              <a:schemeClr val="tx1"/>
            </a:solidFill>
            <a:round/>
            <a:headEnd/>
            <a:tailEnd/>
          </a:ln>
        </p:spPr>
        <p:txBody>
          <a:bodyPr wrap="none" anchor="ctr"/>
          <a:lstStyle/>
          <a:p>
            <a:pPr eaLnBrk="0" hangingPunct="0"/>
            <a:endParaRPr lang="zh-CN" altLang="en-US" b="1">
              <a:solidFill>
                <a:srgbClr val="0000CC"/>
              </a:solidFill>
              <a:ea typeface="黑体" panose="02010609060101010101" pitchFamily="49" charset="-122"/>
            </a:endParaRPr>
          </a:p>
        </p:txBody>
      </p:sp>
      <p:sp>
        <p:nvSpPr>
          <p:cNvPr id="1122473" name="Text Box 171"/>
          <p:cNvSpPr txBox="1">
            <a:spLocks noChangeArrowheads="1"/>
          </p:cNvSpPr>
          <p:nvPr/>
        </p:nvSpPr>
        <p:spPr bwMode="auto">
          <a:xfrm>
            <a:off x="7910513" y="508000"/>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总线</a:t>
            </a:r>
          </a:p>
        </p:txBody>
      </p:sp>
      <p:sp>
        <p:nvSpPr>
          <p:cNvPr id="1122474" name="Line 172"/>
          <p:cNvSpPr>
            <a:spLocks noChangeShapeType="1"/>
          </p:cNvSpPr>
          <p:nvPr/>
        </p:nvSpPr>
        <p:spPr bwMode="auto">
          <a:xfrm flipV="1">
            <a:off x="7427913" y="773113"/>
            <a:ext cx="506412" cy="138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75" name="Text Box 173"/>
          <p:cNvSpPr txBox="1">
            <a:spLocks noChangeArrowheads="1"/>
          </p:cNvSpPr>
          <p:nvPr/>
        </p:nvSpPr>
        <p:spPr bwMode="auto">
          <a:xfrm>
            <a:off x="6937375" y="441801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CC"/>
                </a:solidFill>
                <a:ea typeface="黑体" panose="02010609060101010101" pitchFamily="49" charset="-122"/>
              </a:rPr>
              <a:t>互连网络</a:t>
            </a:r>
          </a:p>
        </p:txBody>
      </p:sp>
      <p:sp>
        <p:nvSpPr>
          <p:cNvPr id="1122476" name="Line 174"/>
          <p:cNvSpPr>
            <a:spLocks noChangeShapeType="1"/>
          </p:cNvSpPr>
          <p:nvPr/>
        </p:nvSpPr>
        <p:spPr bwMode="auto">
          <a:xfrm>
            <a:off x="6419850" y="4090988"/>
            <a:ext cx="819150" cy="311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77" name="Text Box 175"/>
          <p:cNvSpPr txBox="1">
            <a:spLocks noChangeArrowheads="1"/>
          </p:cNvSpPr>
          <p:nvPr/>
        </p:nvSpPr>
        <p:spPr bwMode="auto">
          <a:xfrm>
            <a:off x="9023350" y="2087563"/>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3</a:t>
            </a:r>
          </a:p>
        </p:txBody>
      </p:sp>
      <p:sp>
        <p:nvSpPr>
          <p:cNvPr id="1122478" name="Text Box 176"/>
          <p:cNvSpPr txBox="1">
            <a:spLocks noChangeArrowheads="1"/>
          </p:cNvSpPr>
          <p:nvPr/>
        </p:nvSpPr>
        <p:spPr bwMode="auto">
          <a:xfrm>
            <a:off x="4546600" y="1663700"/>
            <a:ext cx="477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CC"/>
                </a:solidFill>
                <a:ea typeface="黑体" panose="02010609060101010101" pitchFamily="49" charset="-122"/>
              </a:rPr>
              <a:t>O</a:t>
            </a:r>
            <a:r>
              <a:rPr lang="en-US" altLang="zh-CN" sz="2000" b="1" baseline="-25000">
                <a:solidFill>
                  <a:srgbClr val="0000CC"/>
                </a:solidFill>
                <a:ea typeface="黑体" panose="02010609060101010101" pitchFamily="49" charset="-122"/>
              </a:rPr>
              <a:t>3</a:t>
            </a:r>
          </a:p>
        </p:txBody>
      </p:sp>
      <p:sp>
        <p:nvSpPr>
          <p:cNvPr id="964785" name="Freeform 177"/>
          <p:cNvSpPr>
            <a:spLocks noChangeArrowheads="1"/>
          </p:cNvSpPr>
          <p:nvPr/>
        </p:nvSpPr>
        <p:spPr bwMode="auto">
          <a:xfrm>
            <a:off x="347663" y="836613"/>
            <a:ext cx="4367212" cy="576262"/>
          </a:xfrm>
          <a:custGeom>
            <a:avLst/>
            <a:gdLst>
              <a:gd name="T0" fmla="*/ 0 w 2540"/>
              <a:gd name="T1" fmla="*/ 0 h 363"/>
              <a:gd name="T2" fmla="*/ 1134 w 2540"/>
              <a:gd name="T3" fmla="*/ 0 h 363"/>
              <a:gd name="T4" fmla="*/ 1587 w 2540"/>
              <a:gd name="T5" fmla="*/ 363 h 363"/>
              <a:gd name="T6" fmla="*/ 2540 w 2540"/>
              <a:gd name="T7" fmla="*/ 363 h 363"/>
            </a:gdLst>
            <a:ahLst/>
            <a:cxnLst>
              <a:cxn ang="0">
                <a:pos x="T0" y="T1"/>
              </a:cxn>
              <a:cxn ang="0">
                <a:pos x="T2" y="T3"/>
              </a:cxn>
              <a:cxn ang="0">
                <a:pos x="T4" y="T5"/>
              </a:cxn>
              <a:cxn ang="0">
                <a:pos x="T6" y="T7"/>
              </a:cxn>
            </a:cxnLst>
            <a:rect l="0" t="0" r="r" b="b"/>
            <a:pathLst>
              <a:path w="2540" h="363">
                <a:moveTo>
                  <a:pt x="0" y="0"/>
                </a:moveTo>
                <a:lnTo>
                  <a:pt x="1134" y="0"/>
                </a:lnTo>
                <a:lnTo>
                  <a:pt x="1587" y="363"/>
                </a:lnTo>
                <a:lnTo>
                  <a:pt x="2540" y="363"/>
                </a:lnTo>
              </a:path>
            </a:pathLst>
          </a:custGeom>
          <a:noFill/>
          <a:ln w="76200">
            <a:solidFill>
              <a:srgbClr val="FF0000">
                <a:alpha val="70000"/>
              </a:srgbClr>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86" name="Freeform 178"/>
          <p:cNvSpPr>
            <a:spLocks noChangeArrowheads="1"/>
          </p:cNvSpPr>
          <p:nvPr/>
        </p:nvSpPr>
        <p:spPr bwMode="auto">
          <a:xfrm>
            <a:off x="5721350" y="1260475"/>
            <a:ext cx="3509963" cy="576263"/>
          </a:xfrm>
          <a:custGeom>
            <a:avLst/>
            <a:gdLst>
              <a:gd name="T0" fmla="*/ 0 w 2041"/>
              <a:gd name="T1" fmla="*/ 0 h 363"/>
              <a:gd name="T2" fmla="*/ 998 w 2041"/>
              <a:gd name="T3" fmla="*/ 0 h 363"/>
              <a:gd name="T4" fmla="*/ 998 w 2041"/>
              <a:gd name="T5" fmla="*/ 363 h 363"/>
              <a:gd name="T6" fmla="*/ 2041 w 2041"/>
              <a:gd name="T7" fmla="*/ 363 h 363"/>
            </a:gdLst>
            <a:ahLst/>
            <a:cxnLst>
              <a:cxn ang="0">
                <a:pos x="T0" y="T1"/>
              </a:cxn>
              <a:cxn ang="0">
                <a:pos x="T2" y="T3"/>
              </a:cxn>
              <a:cxn ang="0">
                <a:pos x="T4" y="T5"/>
              </a:cxn>
              <a:cxn ang="0">
                <a:pos x="T6" y="T7"/>
              </a:cxn>
            </a:cxnLst>
            <a:rect l="0" t="0" r="r" b="b"/>
            <a:pathLst>
              <a:path w="2041" h="363">
                <a:moveTo>
                  <a:pt x="0" y="0"/>
                </a:moveTo>
                <a:lnTo>
                  <a:pt x="998" y="0"/>
                </a:lnTo>
                <a:lnTo>
                  <a:pt x="998" y="363"/>
                </a:lnTo>
                <a:lnTo>
                  <a:pt x="2041" y="363"/>
                </a:lnTo>
              </a:path>
            </a:pathLst>
          </a:custGeom>
          <a:noFill/>
          <a:ln w="76200">
            <a:solidFill>
              <a:srgbClr val="FF0000">
                <a:alpha val="70000"/>
              </a:srgbClr>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87" name="Line 179"/>
          <p:cNvSpPr>
            <a:spLocks noChangeShapeType="1"/>
          </p:cNvSpPr>
          <p:nvPr/>
        </p:nvSpPr>
        <p:spPr bwMode="auto">
          <a:xfrm>
            <a:off x="2851150" y="3332163"/>
            <a:ext cx="2963863" cy="36512"/>
          </a:xfrm>
          <a:prstGeom prst="line">
            <a:avLst/>
          </a:prstGeom>
          <a:noFill/>
          <a:ln w="76200">
            <a:solidFill>
              <a:srgbClr val="FF0000">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964788" name="Line 180"/>
          <p:cNvSpPr>
            <a:spLocks noChangeShapeType="1"/>
          </p:cNvSpPr>
          <p:nvPr/>
        </p:nvSpPr>
        <p:spPr bwMode="auto">
          <a:xfrm rot="16200000" flipH="1">
            <a:off x="4482306" y="4749007"/>
            <a:ext cx="2735263" cy="38100"/>
          </a:xfrm>
          <a:prstGeom prst="line">
            <a:avLst/>
          </a:prstGeom>
          <a:noFill/>
          <a:ln w="76200">
            <a:solidFill>
              <a:srgbClr val="FF0000">
                <a:alpha val="70000"/>
              </a:srgbClr>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CC"/>
              </a:solidFill>
              <a:ea typeface="黑体" panose="02010609060101010101" pitchFamily="49" charset="-122"/>
            </a:endParaRPr>
          </a:p>
        </p:txBody>
      </p:sp>
      <p:sp>
        <p:nvSpPr>
          <p:cNvPr id="1122483" name="矩形 1"/>
          <p:cNvSpPr>
            <a:spLocks noChangeArrowheads="1"/>
          </p:cNvSpPr>
          <p:nvPr/>
        </p:nvSpPr>
        <p:spPr bwMode="auto">
          <a:xfrm>
            <a:off x="2835275" y="6345238"/>
            <a:ext cx="4600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三种常用的交换方法</a:t>
            </a:r>
            <a:endParaRPr lang="zh-CN" altLang="en-US" sz="2400" b="1">
              <a:ea typeface="黑体" panose="02010609060101010101" pitchFamily="49" charset="-122"/>
            </a:endParaRPr>
          </a:p>
        </p:txBody>
      </p:sp>
      <p:sp>
        <p:nvSpPr>
          <p:cNvPr id="11224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70DAC06-B8C0-4F8D-9398-552054CF4690}" type="slidenum">
              <a:rPr lang="zh-CN" altLang="en-US" smtClean="0"/>
              <a:pPr/>
              <a:t>30</a:t>
            </a:fld>
            <a:endParaRPr lang="en-US" altLang="zh-CN" smtClean="0"/>
          </a:p>
        </p:txBody>
      </p:sp>
      <p:sp>
        <p:nvSpPr>
          <p:cNvPr id="11224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964761"/>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000"/>
                            </p:stCondLst>
                            <p:childTnLst>
                              <p:par>
                                <p:cTn id="8" presetID="22" presetClass="entr" presetSubtype="8" fill="hold" grpId="0" nodeType="afterEffect">
                                  <p:stCondLst>
                                    <p:cond delay="0"/>
                                  </p:stCondLst>
                                  <p:childTnLst>
                                    <p:set>
                                      <p:cBhvr>
                                        <p:cTn id="9" dur="1" fill="hold">
                                          <p:stCondLst>
                                            <p:cond delay="0"/>
                                          </p:stCondLst>
                                        </p:cTn>
                                        <p:tgtEl>
                                          <p:spTgt spid="964785"/>
                                        </p:tgtEl>
                                        <p:attrNameLst>
                                          <p:attrName>style.visibility</p:attrName>
                                        </p:attrNameLst>
                                      </p:cBhvr>
                                      <p:to>
                                        <p:strVal val="visible"/>
                                      </p:to>
                                    </p:set>
                                    <p:animEffect transition="in" filter="wipe(left)">
                                      <p:cBhvr>
                                        <p:cTn id="10" dur="2000"/>
                                        <p:tgtEl>
                                          <p:spTgt spid="964785"/>
                                        </p:tgtEl>
                                      </p:cBhvr>
                                    </p:animEffect>
                                  </p:childTnLst>
                                </p:cTn>
                              </p:par>
                            </p:childTnLst>
                          </p:cTn>
                        </p:par>
                        <p:par>
                          <p:cTn id="11" fill="hold" nodeType="afterGroup">
                            <p:stCondLst>
                              <p:cond delay="5000"/>
                            </p:stCondLst>
                            <p:childTnLst>
                              <p:par>
                                <p:cTn id="12" presetID="10" presetClass="exit" presetSubtype="0" fill="hold" grpId="1" nodeType="afterEffect">
                                  <p:stCondLst>
                                    <p:cond delay="0"/>
                                  </p:stCondLst>
                                  <p:childTnLst>
                                    <p:animEffect transition="out" filter="fade">
                                      <p:cBhvr>
                                        <p:cTn id="13" dur="2000"/>
                                        <p:tgtEl>
                                          <p:spTgt spid="964785"/>
                                        </p:tgtEl>
                                      </p:cBhvr>
                                    </p:animEffect>
                                    <p:set>
                                      <p:cBhvr>
                                        <p:cTn id="14" dur="1" fill="hold">
                                          <p:stCondLst>
                                            <p:cond delay="1999"/>
                                          </p:stCondLst>
                                        </p:cTn>
                                        <p:tgtEl>
                                          <p:spTgt spid="964785"/>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3000" fill="hold" grpId="0" nodeType="clickEffect">
                                  <p:stCondLst>
                                    <p:cond delay="0"/>
                                  </p:stCondLst>
                                  <p:childTnLst>
                                    <p:anim calcmode="discrete" valueType="str">
                                      <p:cBhvr>
                                        <p:cTn id="18" dur="1000" fill="hold"/>
                                        <p:tgtEl>
                                          <p:spTgt spid="964763"/>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3000"/>
                            </p:stCondLst>
                            <p:childTnLst>
                              <p:par>
                                <p:cTn id="20" presetID="22" presetClass="entr" presetSubtype="8" fill="hold" grpId="0" nodeType="afterEffect">
                                  <p:stCondLst>
                                    <p:cond delay="0"/>
                                  </p:stCondLst>
                                  <p:childTnLst>
                                    <p:set>
                                      <p:cBhvr>
                                        <p:cTn id="21" dur="1" fill="hold">
                                          <p:stCondLst>
                                            <p:cond delay="0"/>
                                          </p:stCondLst>
                                        </p:cTn>
                                        <p:tgtEl>
                                          <p:spTgt spid="964786"/>
                                        </p:tgtEl>
                                        <p:attrNameLst>
                                          <p:attrName>style.visibility</p:attrName>
                                        </p:attrNameLst>
                                      </p:cBhvr>
                                      <p:to>
                                        <p:strVal val="visible"/>
                                      </p:to>
                                    </p:set>
                                    <p:animEffect transition="in" filter="wipe(left)">
                                      <p:cBhvr>
                                        <p:cTn id="22" dur="2000"/>
                                        <p:tgtEl>
                                          <p:spTgt spid="964786"/>
                                        </p:tgtEl>
                                      </p:cBhvr>
                                    </p:animEffect>
                                  </p:childTnLst>
                                </p:cTn>
                              </p:par>
                            </p:childTnLst>
                          </p:cTn>
                        </p:par>
                        <p:par>
                          <p:cTn id="23" fill="hold" nodeType="afterGroup">
                            <p:stCondLst>
                              <p:cond delay="5000"/>
                            </p:stCondLst>
                            <p:childTnLst>
                              <p:par>
                                <p:cTn id="24" presetID="10" presetClass="exit" presetSubtype="0" fill="hold" grpId="1" nodeType="afterEffect">
                                  <p:stCondLst>
                                    <p:cond delay="0"/>
                                  </p:stCondLst>
                                  <p:childTnLst>
                                    <p:animEffect transition="out" filter="fade">
                                      <p:cBhvr>
                                        <p:cTn id="25" dur="2000"/>
                                        <p:tgtEl>
                                          <p:spTgt spid="964786"/>
                                        </p:tgtEl>
                                      </p:cBhvr>
                                    </p:animEffect>
                                    <p:set>
                                      <p:cBhvr>
                                        <p:cTn id="26" dur="1" fill="hold">
                                          <p:stCondLst>
                                            <p:cond delay="1999"/>
                                          </p:stCondLst>
                                        </p:cTn>
                                        <p:tgtEl>
                                          <p:spTgt spid="964786"/>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35" presetClass="emph" presetSubtype="0" repeatCount="3000" fill="hold" grpId="0" nodeType="clickEffect">
                                  <p:stCondLst>
                                    <p:cond delay="0"/>
                                  </p:stCondLst>
                                  <p:childTnLst>
                                    <p:anim calcmode="discrete" valueType="str">
                                      <p:cBhvr>
                                        <p:cTn id="30" dur="1000" fill="hold"/>
                                        <p:tgtEl>
                                          <p:spTgt spid="964762"/>
                                        </p:tgtEl>
                                        <p:attrNameLst>
                                          <p:attrName>style.visibility</p:attrName>
                                        </p:attrNameLst>
                                      </p:cBhvr>
                                      <p:tavLst>
                                        <p:tav tm="0">
                                          <p:val>
                                            <p:strVal val="hidden"/>
                                          </p:val>
                                        </p:tav>
                                        <p:tav tm="50000">
                                          <p:val>
                                            <p:strVal val="visible"/>
                                          </p:val>
                                        </p:tav>
                                      </p:tavLst>
                                    </p:anim>
                                  </p:childTnLst>
                                </p:cTn>
                              </p:par>
                            </p:childTnLst>
                          </p:cTn>
                        </p:par>
                        <p:par>
                          <p:cTn id="31" fill="hold" nodeType="afterGroup">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964787"/>
                                        </p:tgtEl>
                                        <p:attrNameLst>
                                          <p:attrName>style.visibility</p:attrName>
                                        </p:attrNameLst>
                                      </p:cBhvr>
                                      <p:to>
                                        <p:strVal val="visible"/>
                                      </p:to>
                                    </p:set>
                                    <p:animEffect transition="in" filter="wipe(left)">
                                      <p:cBhvr>
                                        <p:cTn id="34" dur="2000"/>
                                        <p:tgtEl>
                                          <p:spTgt spid="964787"/>
                                        </p:tgtEl>
                                      </p:cBhvr>
                                    </p:animEffect>
                                  </p:childTnLst>
                                </p:cTn>
                              </p:par>
                            </p:childTnLst>
                          </p:cTn>
                        </p:par>
                        <p:par>
                          <p:cTn id="35" fill="hold" nodeType="afterGroup">
                            <p:stCondLst>
                              <p:cond delay="5000"/>
                            </p:stCondLst>
                            <p:childTnLst>
                              <p:par>
                                <p:cTn id="36" presetID="22" presetClass="entr" presetSubtype="1" fill="hold" grpId="0" nodeType="afterEffect">
                                  <p:stCondLst>
                                    <p:cond delay="0"/>
                                  </p:stCondLst>
                                  <p:childTnLst>
                                    <p:set>
                                      <p:cBhvr>
                                        <p:cTn id="37" dur="1" fill="hold">
                                          <p:stCondLst>
                                            <p:cond delay="0"/>
                                          </p:stCondLst>
                                        </p:cTn>
                                        <p:tgtEl>
                                          <p:spTgt spid="964788"/>
                                        </p:tgtEl>
                                        <p:attrNameLst>
                                          <p:attrName>style.visibility</p:attrName>
                                        </p:attrNameLst>
                                      </p:cBhvr>
                                      <p:to>
                                        <p:strVal val="visible"/>
                                      </p:to>
                                    </p:set>
                                    <p:animEffect transition="in" filter="wipe(up)">
                                      <p:cBhvr>
                                        <p:cTn id="38" dur="2000"/>
                                        <p:tgtEl>
                                          <p:spTgt spid="964788"/>
                                        </p:tgtEl>
                                      </p:cBhvr>
                                    </p:animEffect>
                                  </p:childTnLst>
                                </p:cTn>
                              </p:par>
                            </p:childTnLst>
                          </p:cTn>
                        </p:par>
                        <p:par>
                          <p:cTn id="39" fill="hold" nodeType="afterGroup">
                            <p:stCondLst>
                              <p:cond delay="7000"/>
                            </p:stCondLst>
                            <p:childTnLst>
                              <p:par>
                                <p:cTn id="40" presetID="10" presetClass="exit" presetSubtype="0" fill="hold" grpId="1" nodeType="afterEffect">
                                  <p:stCondLst>
                                    <p:cond delay="0"/>
                                  </p:stCondLst>
                                  <p:childTnLst>
                                    <p:animEffect transition="out" filter="fade">
                                      <p:cBhvr>
                                        <p:cTn id="41" dur="2000"/>
                                        <p:tgtEl>
                                          <p:spTgt spid="964787"/>
                                        </p:tgtEl>
                                      </p:cBhvr>
                                    </p:animEffect>
                                    <p:set>
                                      <p:cBhvr>
                                        <p:cTn id="42" dur="1" fill="hold">
                                          <p:stCondLst>
                                            <p:cond delay="1999"/>
                                          </p:stCondLst>
                                        </p:cTn>
                                        <p:tgtEl>
                                          <p:spTgt spid="964787"/>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2000"/>
                                        <p:tgtEl>
                                          <p:spTgt spid="964788"/>
                                        </p:tgtEl>
                                      </p:cBhvr>
                                    </p:animEffect>
                                    <p:set>
                                      <p:cBhvr>
                                        <p:cTn id="45" dur="1" fill="hold">
                                          <p:stCondLst>
                                            <p:cond delay="1999"/>
                                          </p:stCondLst>
                                        </p:cTn>
                                        <p:tgtEl>
                                          <p:spTgt spid="96478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4761" grpId="0"/>
      <p:bldP spid="964762" grpId="0"/>
      <p:bldP spid="964763" grpId="0"/>
      <p:bldP spid="964785" grpId="0" animBg="1"/>
      <p:bldP spid="964785" grpId="1" animBg="1"/>
      <p:bldP spid="964786" grpId="0" animBg="1"/>
      <p:bldP spid="964786" grpId="1" animBg="1"/>
      <p:bldP spid="964787" grpId="0" animBg="1"/>
      <p:bldP spid="964787" grpId="1" animBg="1"/>
      <p:bldP spid="964788" grpId="0" animBg="1"/>
      <p:bldP spid="964788"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0849" name="Rectangle 2"/>
          <p:cNvSpPr>
            <a:spLocks noGrp="1" noChangeArrowheads="1"/>
          </p:cNvSpPr>
          <p:nvPr>
            <p:ph type="title"/>
          </p:nvPr>
        </p:nvSpPr>
        <p:spPr>
          <a:xfrm>
            <a:off x="495300" y="188913"/>
            <a:ext cx="9066213" cy="792162"/>
          </a:xfrm>
        </p:spPr>
        <p:txBody>
          <a:bodyPr/>
          <a:lstStyle/>
          <a:p>
            <a:r>
              <a:rPr lang="en-US" altLang="zh-CN" sz="3400" smtClean="0">
                <a:ea typeface="黑体" panose="02010609060101010101" pitchFamily="49" charset="-122"/>
              </a:rPr>
              <a:t>4.8  </a:t>
            </a:r>
            <a:r>
              <a:rPr lang="zh-CN" altLang="zh-CN" sz="3400" smtClean="0">
                <a:ea typeface="黑体" panose="02010609060101010101" pitchFamily="49" charset="-122"/>
              </a:rPr>
              <a:t>虚拟专用网</a:t>
            </a:r>
            <a:r>
              <a:rPr lang="en-US" altLang="zh-CN" sz="3400" smtClean="0">
                <a:ea typeface="黑体" panose="02010609060101010101" pitchFamily="49" charset="-122"/>
              </a:rPr>
              <a:t> VPN</a:t>
            </a:r>
            <a:r>
              <a:rPr lang="zh-CN" altLang="zh-CN" sz="3400" smtClean="0">
                <a:ea typeface="黑体" panose="02010609060101010101" pitchFamily="49" charset="-122"/>
              </a:rPr>
              <a:t>和网络地址转换</a:t>
            </a:r>
            <a:r>
              <a:rPr lang="en-US" altLang="zh-CN" sz="3400" smtClean="0">
                <a:ea typeface="黑体" panose="02010609060101010101" pitchFamily="49" charset="-122"/>
              </a:rPr>
              <a:t> NAT</a:t>
            </a:r>
            <a:endParaRPr lang="zh-CN" altLang="zh-CN" sz="3400" smtClean="0">
              <a:ea typeface="黑体" panose="02010609060101010101" pitchFamily="49" charset="-122"/>
            </a:endParaRPr>
          </a:p>
        </p:txBody>
      </p:sp>
      <p:sp>
        <p:nvSpPr>
          <p:cNvPr id="123085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4.8.1  </a:t>
            </a:r>
            <a:r>
              <a:rPr lang="zh-CN" altLang="zh-CN" dirty="0" smtClean="0">
                <a:ea typeface="黑体" panose="02010609060101010101" pitchFamily="49" charset="-122"/>
              </a:rPr>
              <a:t>虚拟专用网</a:t>
            </a:r>
            <a:r>
              <a:rPr lang="en-US" altLang="zh-CN" dirty="0" smtClean="0">
                <a:ea typeface="黑体" panose="02010609060101010101" pitchFamily="49" charset="-122"/>
              </a:rPr>
              <a:t> VPN</a:t>
            </a:r>
            <a:endParaRPr lang="zh-CN" altLang="zh-CN" dirty="0" smtClean="0">
              <a:ea typeface="黑体" panose="02010609060101010101" pitchFamily="49" charset="-122"/>
            </a:endParaRPr>
          </a:p>
          <a:p>
            <a:r>
              <a:rPr lang="en-US" altLang="zh-CN" dirty="0" smtClean="0">
                <a:ea typeface="黑体" panose="02010609060101010101" pitchFamily="49" charset="-122"/>
              </a:rPr>
              <a:t>4.8.2  </a:t>
            </a:r>
            <a:r>
              <a:rPr lang="zh-CN" altLang="zh-CN" dirty="0" smtClean="0">
                <a:ea typeface="黑体" panose="02010609060101010101" pitchFamily="49" charset="-122"/>
              </a:rPr>
              <a:t>网络地址转换</a:t>
            </a:r>
            <a:r>
              <a:rPr lang="en-US" altLang="zh-CN" dirty="0" smtClean="0">
                <a:ea typeface="黑体" panose="02010609060101010101" pitchFamily="49" charset="-122"/>
              </a:rPr>
              <a:t> NAT</a:t>
            </a:r>
            <a:endParaRPr lang="zh-CN" altLang="zh-CN" dirty="0" smtClean="0">
              <a:ea typeface="黑体" panose="02010609060101010101" pitchFamily="49" charset="-122"/>
            </a:endParaRPr>
          </a:p>
        </p:txBody>
      </p:sp>
      <p:sp>
        <p:nvSpPr>
          <p:cNvPr id="1230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68861D5-8CDA-46CA-A63E-DD33B32BD722}" type="slidenum">
              <a:rPr lang="zh-CN" altLang="en-US" smtClean="0"/>
              <a:pPr eaLnBrk="1" hangingPunct="1"/>
              <a:t>31</a:t>
            </a:fld>
            <a:endParaRPr lang="en-US" altLang="zh-CN" smtClean="0"/>
          </a:p>
        </p:txBody>
      </p:sp>
      <p:sp>
        <p:nvSpPr>
          <p:cNvPr id="1230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257174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89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4.8.1  </a:t>
            </a:r>
            <a:r>
              <a:rPr lang="zh-CN" altLang="zh-CN" smtClean="0">
                <a:ea typeface="黑体" panose="02010609060101010101" pitchFamily="49" charset="-122"/>
              </a:rPr>
              <a:t>虚拟专用网</a:t>
            </a:r>
            <a:r>
              <a:rPr lang="en-US" altLang="zh-CN" smtClean="0">
                <a:ea typeface="黑体" panose="02010609060101010101" pitchFamily="49" charset="-122"/>
              </a:rPr>
              <a:t> VPN</a:t>
            </a:r>
            <a:endParaRPr lang="zh-CN" altLang="en-US" smtClean="0">
              <a:ea typeface="黑体" panose="02010609060101010101" pitchFamily="49" charset="-122"/>
            </a:endParaRPr>
          </a:p>
        </p:txBody>
      </p:sp>
      <p:sp>
        <p:nvSpPr>
          <p:cNvPr id="1232898"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由于</a:t>
            </a:r>
            <a:r>
              <a:rPr lang="en-US" altLang="zh-CN" smtClean="0">
                <a:ea typeface="黑体" panose="02010609060101010101" pitchFamily="49" charset="-122"/>
              </a:rPr>
              <a:t> </a:t>
            </a:r>
            <a:r>
              <a:rPr lang="en-US" altLang="zh-CN" smtClean="0">
                <a:solidFill>
                  <a:srgbClr val="FF0000"/>
                </a:solidFill>
                <a:ea typeface="黑体" panose="02010609060101010101" pitchFamily="49" charset="-122"/>
              </a:rPr>
              <a:t>IP </a:t>
            </a:r>
            <a:r>
              <a:rPr lang="zh-CN" altLang="zh-CN" smtClean="0">
                <a:solidFill>
                  <a:srgbClr val="FF0000"/>
                </a:solidFill>
                <a:ea typeface="黑体" panose="02010609060101010101" pitchFamily="49" charset="-122"/>
              </a:rPr>
              <a:t>地址的紧缺，</a:t>
            </a:r>
            <a:r>
              <a:rPr lang="zh-CN" altLang="zh-CN" smtClean="0">
                <a:ea typeface="黑体" panose="02010609060101010101" pitchFamily="49" charset="-122"/>
              </a:rPr>
              <a:t>一个机构能够申请到的</a:t>
            </a:r>
            <a:r>
              <a:rPr lang="en-US" altLang="zh-CN" smtClean="0">
                <a:ea typeface="黑体" panose="02010609060101010101" pitchFamily="49" charset="-122"/>
              </a:rPr>
              <a:t>IP</a:t>
            </a:r>
            <a:r>
              <a:rPr lang="zh-CN" altLang="zh-CN" smtClean="0">
                <a:ea typeface="黑体" panose="02010609060101010101" pitchFamily="49" charset="-122"/>
              </a:rPr>
              <a:t>地址数往往远小于本机构所拥有的主机数。</a:t>
            </a:r>
            <a:endParaRPr lang="en-US" altLang="zh-CN" smtClean="0">
              <a:ea typeface="黑体" panose="02010609060101010101" pitchFamily="49" charset="-122"/>
            </a:endParaRPr>
          </a:p>
          <a:p>
            <a:r>
              <a:rPr lang="zh-CN" altLang="zh-CN" smtClean="0">
                <a:ea typeface="黑体" panose="02010609060101010101" pitchFamily="49" charset="-122"/>
              </a:rPr>
              <a:t>考虑到</a:t>
            </a:r>
            <a:r>
              <a:rPr lang="zh-CN" altLang="zh-CN" smtClean="0">
                <a:solidFill>
                  <a:srgbClr val="FF0000"/>
                </a:solidFill>
                <a:ea typeface="黑体" panose="02010609060101010101" pitchFamily="49" charset="-122"/>
              </a:rPr>
              <a:t>互联网并不很安全，</a:t>
            </a:r>
            <a:r>
              <a:rPr lang="zh-CN" altLang="zh-CN" smtClean="0">
                <a:ea typeface="黑体" panose="02010609060101010101" pitchFamily="49" charset="-122"/>
              </a:rPr>
              <a:t>一个机构内也并不需要把所有的主机接入到外部的互联网。</a:t>
            </a:r>
            <a:endParaRPr lang="en-US" altLang="zh-CN" smtClean="0">
              <a:ea typeface="黑体" panose="02010609060101010101" pitchFamily="49" charset="-122"/>
            </a:endParaRPr>
          </a:p>
          <a:p>
            <a:r>
              <a:rPr lang="zh-CN" altLang="zh-CN" smtClean="0">
                <a:ea typeface="黑体" panose="02010609060101010101" pitchFamily="49" charset="-122"/>
              </a:rPr>
              <a:t>假定在一个机构内部的计算机通信也是采用</a:t>
            </a:r>
            <a:r>
              <a:rPr lang="en-US" altLang="zh-CN" smtClean="0">
                <a:ea typeface="黑体" panose="02010609060101010101" pitchFamily="49" charset="-122"/>
              </a:rPr>
              <a:t> TCP/IP </a:t>
            </a:r>
            <a:r>
              <a:rPr lang="zh-CN" altLang="zh-CN" smtClean="0">
                <a:ea typeface="黑体" panose="02010609060101010101" pitchFamily="49" charset="-122"/>
              </a:rPr>
              <a:t>协议，那么从原则上讲，对于这些仅在</a:t>
            </a:r>
            <a:r>
              <a:rPr lang="zh-CN" altLang="zh-CN" smtClean="0">
                <a:solidFill>
                  <a:srgbClr val="FF0000"/>
                </a:solidFill>
                <a:ea typeface="黑体" panose="02010609060101010101" pitchFamily="49" charset="-122"/>
              </a:rPr>
              <a:t>机构内部使用</a:t>
            </a:r>
            <a:r>
              <a:rPr lang="zh-CN" altLang="zh-CN" smtClean="0">
                <a:ea typeface="黑体" panose="02010609060101010101" pitchFamily="49" charset="-122"/>
              </a:rPr>
              <a:t>的计算机就可以由本机构</a:t>
            </a:r>
            <a:r>
              <a:rPr lang="zh-CN" altLang="zh-CN" smtClean="0">
                <a:solidFill>
                  <a:srgbClr val="FF0000"/>
                </a:solidFill>
                <a:ea typeface="黑体" panose="02010609060101010101" pitchFamily="49" charset="-122"/>
              </a:rPr>
              <a:t>自行分配其</a:t>
            </a:r>
            <a:r>
              <a:rPr lang="en-US" altLang="zh-CN" smtClean="0">
                <a:solidFill>
                  <a:srgbClr val="FF0000"/>
                </a:solidFill>
                <a:ea typeface="黑体" panose="02010609060101010101" pitchFamily="49" charset="-122"/>
              </a:rPr>
              <a:t> IP </a:t>
            </a:r>
            <a:r>
              <a:rPr lang="zh-CN" altLang="zh-CN" smtClean="0">
                <a:solidFill>
                  <a:srgbClr val="FF0000"/>
                </a:solidFill>
                <a:ea typeface="黑体" panose="02010609060101010101" pitchFamily="49" charset="-122"/>
              </a:rPr>
              <a:t>地址。</a:t>
            </a:r>
            <a:endParaRPr lang="zh-CN" altLang="en-US" smtClean="0">
              <a:solidFill>
                <a:srgbClr val="FF0000"/>
              </a:solidFill>
              <a:ea typeface="黑体" panose="02010609060101010101" pitchFamily="49" charset="-122"/>
            </a:endParaRPr>
          </a:p>
        </p:txBody>
      </p:sp>
      <p:sp>
        <p:nvSpPr>
          <p:cNvPr id="123289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C4885D-29F2-40FE-AEFB-3D6E950515E1}" type="slidenum">
              <a:rPr lang="zh-CN" altLang="en-US" smtClean="0"/>
              <a:pPr eaLnBrk="1" hangingPunct="1"/>
              <a:t>32</a:t>
            </a:fld>
            <a:endParaRPr lang="en-US" altLang="zh-CN" smtClean="0"/>
          </a:p>
        </p:txBody>
      </p:sp>
      <p:sp>
        <p:nvSpPr>
          <p:cNvPr id="123290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741283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21" name="标题 1"/>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本地地址与全球地址</a:t>
            </a:r>
          </a:p>
        </p:txBody>
      </p:sp>
      <p:sp>
        <p:nvSpPr>
          <p:cNvPr id="1233922" name="内容占位符 2"/>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本地地址</a:t>
            </a:r>
            <a:r>
              <a:rPr lang="en-US" altLang="zh-CN" dirty="0" smtClean="0">
                <a:ea typeface="黑体" panose="02010609060101010101" pitchFamily="49" charset="-122"/>
              </a:rPr>
              <a:t>——</a:t>
            </a:r>
            <a:r>
              <a:rPr lang="zh-CN" altLang="en-US" dirty="0" smtClean="0">
                <a:ea typeface="黑体" panose="02010609060101010101" pitchFamily="49" charset="-122"/>
              </a:rPr>
              <a:t>仅在机构内部使用的 </a:t>
            </a:r>
            <a:r>
              <a:rPr lang="en-US" altLang="zh-CN" dirty="0" smtClean="0">
                <a:ea typeface="黑体" panose="02010609060101010101" pitchFamily="49" charset="-122"/>
              </a:rPr>
              <a:t>IP </a:t>
            </a:r>
            <a:r>
              <a:rPr lang="zh-CN" altLang="en-US" dirty="0" smtClean="0">
                <a:ea typeface="黑体" panose="02010609060101010101" pitchFamily="49" charset="-122"/>
              </a:rPr>
              <a:t>地址，可以由本机构自行分配，而不需要向互联网的管理机构申请。</a:t>
            </a:r>
          </a:p>
          <a:p>
            <a:r>
              <a:rPr lang="zh-CN" altLang="en-US" dirty="0" smtClean="0">
                <a:solidFill>
                  <a:srgbClr val="FF0000"/>
                </a:solidFill>
                <a:ea typeface="黑体" panose="02010609060101010101" pitchFamily="49" charset="-122"/>
              </a:rPr>
              <a:t>全球地址</a:t>
            </a:r>
            <a:r>
              <a:rPr lang="en-US" altLang="zh-CN" dirty="0" smtClean="0">
                <a:ea typeface="黑体" panose="02010609060101010101" pitchFamily="49" charset="-122"/>
              </a:rPr>
              <a:t>——</a:t>
            </a:r>
            <a:r>
              <a:rPr lang="zh-CN" altLang="en-US" dirty="0" smtClean="0">
                <a:ea typeface="黑体" panose="02010609060101010101" pitchFamily="49" charset="-122"/>
              </a:rPr>
              <a:t>全球唯一的 </a:t>
            </a:r>
            <a:r>
              <a:rPr lang="en-US" altLang="zh-CN" dirty="0" smtClean="0">
                <a:ea typeface="黑体" panose="02010609060101010101" pitchFamily="49" charset="-122"/>
              </a:rPr>
              <a:t>IP </a:t>
            </a:r>
            <a:r>
              <a:rPr lang="zh-CN" altLang="en-US" dirty="0" smtClean="0">
                <a:ea typeface="黑体" panose="02010609060101010101" pitchFamily="49" charset="-122"/>
              </a:rPr>
              <a:t>地址，必须向互联网的管理机构申请。 </a:t>
            </a:r>
            <a:endParaRPr lang="en-US"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123392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DD5BF62-DE10-4EAD-85BB-06CA9C369F33}" type="slidenum">
              <a:rPr lang="zh-CN" altLang="en-US" smtClean="0"/>
              <a:pPr eaLnBrk="1" hangingPunct="1"/>
              <a:t>33</a:t>
            </a:fld>
            <a:endParaRPr lang="en-US" altLang="zh-CN" smtClean="0"/>
          </a:p>
        </p:txBody>
      </p:sp>
      <p:sp>
        <p:nvSpPr>
          <p:cNvPr id="123392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4035781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4945"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本地地址与全球地址</a:t>
            </a:r>
          </a:p>
        </p:txBody>
      </p:sp>
      <p:sp>
        <p:nvSpPr>
          <p:cNvPr id="1234946" name="内容占位符 2"/>
          <p:cNvSpPr>
            <a:spLocks noGrp="1" noChangeArrowheads="1"/>
          </p:cNvSpPr>
          <p:nvPr>
            <p:ph idx="1"/>
          </p:nvPr>
        </p:nvSpPr>
        <p:spPr>
          <a:xfrm>
            <a:off x="495300" y="1196975"/>
            <a:ext cx="9066213" cy="4933950"/>
          </a:xfrm>
        </p:spPr>
        <p:txBody>
          <a:bodyPr/>
          <a:lstStyle/>
          <a:p>
            <a:pPr>
              <a:spcBef>
                <a:spcPts val="1200"/>
              </a:spcBef>
            </a:pPr>
            <a:r>
              <a:rPr lang="zh-CN" altLang="en-US" smtClean="0">
                <a:solidFill>
                  <a:srgbClr val="FF0000"/>
                </a:solidFill>
                <a:ea typeface="黑体" panose="02010609060101010101" pitchFamily="49" charset="-122"/>
              </a:rPr>
              <a:t>问题：</a:t>
            </a:r>
            <a:r>
              <a:rPr lang="zh-CN" altLang="zh-CN" smtClean="0">
                <a:ea typeface="黑体" panose="02010609060101010101" pitchFamily="49" charset="-122"/>
              </a:rPr>
              <a:t>在内部使用的本地地址就有可能和互联网中某个</a:t>
            </a:r>
            <a:r>
              <a:rPr lang="en-US" altLang="zh-CN" smtClean="0">
                <a:ea typeface="黑体" panose="02010609060101010101" pitchFamily="49" charset="-122"/>
              </a:rPr>
              <a:t> IP </a:t>
            </a:r>
            <a:r>
              <a:rPr lang="zh-CN" altLang="zh-CN" smtClean="0">
                <a:ea typeface="黑体" panose="02010609060101010101" pitchFamily="49" charset="-122"/>
              </a:rPr>
              <a:t>地址重合，这样就会出现地址的</a:t>
            </a:r>
            <a:r>
              <a:rPr lang="zh-CN" altLang="zh-CN" smtClean="0">
                <a:solidFill>
                  <a:srgbClr val="FF0000"/>
                </a:solidFill>
                <a:ea typeface="黑体" panose="02010609060101010101" pitchFamily="49" charset="-122"/>
              </a:rPr>
              <a:t>二义性</a:t>
            </a:r>
            <a:r>
              <a:rPr lang="zh-CN" altLang="zh-CN" smtClean="0">
                <a:ea typeface="黑体" panose="02010609060101010101" pitchFamily="49" charset="-122"/>
              </a:rPr>
              <a:t>问题。</a:t>
            </a:r>
            <a:endParaRPr lang="en-US" altLang="zh-CN" smtClean="0">
              <a:ea typeface="黑体" panose="02010609060101010101" pitchFamily="49" charset="-122"/>
            </a:endParaRPr>
          </a:p>
          <a:p>
            <a:pPr>
              <a:spcBef>
                <a:spcPts val="1200"/>
              </a:spcBef>
            </a:pPr>
            <a:r>
              <a:rPr lang="zh-CN" altLang="en-US" smtClean="0">
                <a:solidFill>
                  <a:srgbClr val="0000FF"/>
                </a:solidFill>
                <a:ea typeface="黑体" panose="02010609060101010101" pitchFamily="49" charset="-122"/>
              </a:rPr>
              <a:t>解决：</a:t>
            </a:r>
            <a:r>
              <a:rPr lang="en-US" altLang="zh-CN" smtClean="0">
                <a:ea typeface="黑体" panose="02010609060101010101" pitchFamily="49" charset="-122"/>
              </a:rPr>
              <a:t>RFC 1918</a:t>
            </a:r>
            <a:r>
              <a:rPr lang="zh-CN" altLang="zh-CN" smtClean="0">
                <a:ea typeface="黑体" panose="02010609060101010101" pitchFamily="49" charset="-122"/>
              </a:rPr>
              <a:t>指明了一些</a:t>
            </a:r>
            <a:r>
              <a:rPr lang="zh-CN" altLang="zh-CN" smtClean="0">
                <a:solidFill>
                  <a:srgbClr val="FF0000"/>
                </a:solidFill>
                <a:ea typeface="黑体" panose="02010609060101010101" pitchFamily="49" charset="-122"/>
              </a:rPr>
              <a:t>专用地址</a:t>
            </a:r>
            <a:r>
              <a:rPr lang="en-US" altLang="zh-CN" smtClean="0">
                <a:solidFill>
                  <a:srgbClr val="FF0000"/>
                </a:solidFill>
                <a:ea typeface="黑体" panose="02010609060101010101" pitchFamily="49" charset="-122"/>
              </a:rPr>
              <a:t> </a:t>
            </a:r>
            <a:r>
              <a:rPr lang="en-US" altLang="zh-CN" smtClean="0">
                <a:ea typeface="黑体" panose="02010609060101010101" pitchFamily="49" charset="-122"/>
              </a:rPr>
              <a:t>(private address)</a:t>
            </a:r>
            <a:r>
              <a:rPr lang="zh-CN" altLang="zh-CN" smtClean="0">
                <a:ea typeface="黑体" panose="02010609060101010101" pitchFamily="49" charset="-122"/>
              </a:rPr>
              <a:t>。</a:t>
            </a:r>
            <a:r>
              <a:rPr lang="zh-CN" altLang="zh-CN" smtClean="0">
                <a:solidFill>
                  <a:srgbClr val="0000FF"/>
                </a:solidFill>
                <a:ea typeface="黑体" panose="02010609060101010101" pitchFamily="49" charset="-122"/>
              </a:rPr>
              <a:t>专用地址只能用作本地地址</a:t>
            </a:r>
            <a:r>
              <a:rPr lang="zh-CN" altLang="zh-CN" smtClean="0">
                <a:ea typeface="黑体" panose="02010609060101010101" pitchFamily="49" charset="-122"/>
              </a:rPr>
              <a:t>而不能用作全球地址。</a:t>
            </a:r>
            <a:r>
              <a:rPr lang="zh-CN" altLang="zh-CN" smtClean="0">
                <a:solidFill>
                  <a:srgbClr val="FF0000"/>
                </a:solidFill>
                <a:ea typeface="黑体" panose="02010609060101010101" pitchFamily="49" charset="-122"/>
              </a:rPr>
              <a:t>在互联网中的所有路由器，对目的地址是专用地址的数据报一律不进行转发。</a:t>
            </a:r>
            <a:endParaRPr lang="zh-CN" altLang="en-US" smtClean="0">
              <a:solidFill>
                <a:srgbClr val="FF0000"/>
              </a:solidFill>
              <a:ea typeface="黑体" panose="02010609060101010101" pitchFamily="49" charset="-122"/>
            </a:endParaRPr>
          </a:p>
          <a:p>
            <a:pPr>
              <a:spcBef>
                <a:spcPts val="1200"/>
              </a:spcBef>
            </a:pPr>
            <a:endParaRPr lang="zh-CN" altLang="en-US" smtClean="0">
              <a:ea typeface="黑体" panose="02010609060101010101" pitchFamily="49" charset="-122"/>
            </a:endParaRPr>
          </a:p>
        </p:txBody>
      </p:sp>
      <p:sp>
        <p:nvSpPr>
          <p:cNvPr id="123494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02AA09-90AF-429B-984D-A1707E12C456}" type="slidenum">
              <a:rPr lang="zh-CN" altLang="en-US" smtClean="0"/>
              <a:pPr eaLnBrk="1" hangingPunct="1"/>
              <a:t>34</a:t>
            </a:fld>
            <a:endParaRPr lang="en-US" altLang="zh-CN" smtClean="0"/>
          </a:p>
        </p:txBody>
      </p:sp>
      <p:sp>
        <p:nvSpPr>
          <p:cNvPr id="123494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0360637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5969" name="Rectangle 2"/>
          <p:cNvSpPr>
            <a:spLocks noGrp="1" noChangeArrowheads="1"/>
          </p:cNvSpPr>
          <p:nvPr>
            <p:ph type="title"/>
          </p:nvPr>
        </p:nvSpPr>
        <p:spPr/>
        <p:txBody>
          <a:bodyPr/>
          <a:lstStyle/>
          <a:p>
            <a:pPr algn="ctr"/>
            <a:r>
              <a:rPr lang="en-US" altLang="zh-CN" smtClean="0">
                <a:ea typeface="黑体" panose="02010609060101010101" pitchFamily="49" charset="-122"/>
              </a:rPr>
              <a:t>RFC 1918 </a:t>
            </a:r>
            <a:r>
              <a:rPr lang="zh-CN" altLang="en-US" smtClean="0">
                <a:ea typeface="黑体" panose="02010609060101010101" pitchFamily="49" charset="-122"/>
              </a:rPr>
              <a:t>指明的专用 </a:t>
            </a:r>
            <a:r>
              <a:rPr lang="en-US" altLang="zh-CN" smtClean="0">
                <a:ea typeface="黑体" panose="02010609060101010101" pitchFamily="49" charset="-122"/>
              </a:rPr>
              <a:t>IP </a:t>
            </a:r>
            <a:r>
              <a:rPr lang="zh-CN" altLang="en-US" smtClean="0">
                <a:ea typeface="黑体" panose="02010609060101010101" pitchFamily="49" charset="-122"/>
              </a:rPr>
              <a:t>地址</a:t>
            </a:r>
            <a:endParaRPr lang="en-US" altLang="zh-CN" smtClean="0">
              <a:ea typeface="黑体" panose="02010609060101010101" pitchFamily="49" charset="-122"/>
            </a:endParaRPr>
          </a:p>
        </p:txBody>
      </p:sp>
      <p:sp>
        <p:nvSpPr>
          <p:cNvPr id="1235970" name="矩形 2"/>
          <p:cNvSpPr>
            <a:spLocks noChangeArrowheads="1"/>
          </p:cNvSpPr>
          <p:nvPr/>
        </p:nvSpPr>
        <p:spPr bwMode="auto">
          <a:xfrm>
            <a:off x="631825" y="1196975"/>
            <a:ext cx="40894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60363" indent="-360363"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zh-CN" altLang="zh-CN" sz="3200" b="1">
                <a:solidFill>
                  <a:srgbClr val="0000FF"/>
                </a:solidFill>
                <a:ea typeface="黑体" panose="02010609060101010101" pitchFamily="49" charset="-122"/>
              </a:rPr>
              <a:t>三个专用</a:t>
            </a:r>
            <a:r>
              <a:rPr lang="en-US" altLang="zh-CN" sz="3200" b="1">
                <a:solidFill>
                  <a:srgbClr val="0000FF"/>
                </a:solidFill>
                <a:ea typeface="黑体" panose="02010609060101010101" pitchFamily="49" charset="-122"/>
              </a:rPr>
              <a:t> IP </a:t>
            </a:r>
            <a:r>
              <a:rPr lang="zh-CN" altLang="zh-CN" sz="3200" b="1">
                <a:solidFill>
                  <a:srgbClr val="0000FF"/>
                </a:solidFill>
                <a:ea typeface="黑体" panose="02010609060101010101" pitchFamily="49" charset="-122"/>
              </a:rPr>
              <a:t>地址块</a:t>
            </a:r>
            <a:r>
              <a:rPr lang="zh-CN" altLang="en-US" sz="3200" b="1">
                <a:solidFill>
                  <a:srgbClr val="0000FF"/>
                </a:solidFill>
                <a:ea typeface="黑体" panose="02010609060101010101" pitchFamily="49" charset="-122"/>
              </a:rPr>
              <a:t>：</a:t>
            </a:r>
            <a:endParaRPr lang="en-US" altLang="zh-CN" sz="3200" b="1">
              <a:solidFill>
                <a:srgbClr val="0000FF"/>
              </a:solidFill>
              <a:ea typeface="黑体" panose="02010609060101010101" pitchFamily="49" charset="-122"/>
            </a:endParaRPr>
          </a:p>
        </p:txBody>
      </p:sp>
      <p:sp>
        <p:nvSpPr>
          <p:cNvPr id="1235971" name="矩形 3"/>
          <p:cNvSpPr>
            <a:spLocks noChangeArrowheads="1"/>
          </p:cNvSpPr>
          <p:nvPr/>
        </p:nvSpPr>
        <p:spPr bwMode="auto">
          <a:xfrm>
            <a:off x="560388" y="1844675"/>
            <a:ext cx="8999537" cy="584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a:ea typeface="黑体" panose="02010609060101010101" pitchFamily="49" charset="-122"/>
              </a:rPr>
              <a:t>(1) 10.0.0.0 </a:t>
            </a:r>
            <a:r>
              <a:rPr lang="zh-CN" altLang="en-US" sz="3200" b="1">
                <a:ea typeface="黑体" panose="02010609060101010101" pitchFamily="49" charset="-122"/>
              </a:rPr>
              <a:t>到 </a:t>
            </a:r>
            <a:r>
              <a:rPr lang="en-US" altLang="zh-CN" sz="3200" b="1">
                <a:ea typeface="黑体" panose="02010609060101010101" pitchFamily="49" charset="-122"/>
              </a:rPr>
              <a:t>10.255.255.255</a:t>
            </a:r>
          </a:p>
        </p:txBody>
      </p:sp>
      <p:sp>
        <p:nvSpPr>
          <p:cNvPr id="1235972" name="矩形 5"/>
          <p:cNvSpPr>
            <a:spLocks noChangeArrowheads="1"/>
          </p:cNvSpPr>
          <p:nvPr/>
        </p:nvSpPr>
        <p:spPr bwMode="auto">
          <a:xfrm>
            <a:off x="560388" y="3143250"/>
            <a:ext cx="8999537" cy="584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a:ea typeface="黑体" panose="02010609060101010101" pitchFamily="49" charset="-122"/>
              </a:rPr>
              <a:t>(2) 172.16.0.0 </a:t>
            </a:r>
            <a:r>
              <a:rPr lang="zh-CN" altLang="en-US" sz="3200" b="1">
                <a:ea typeface="黑体" panose="02010609060101010101" pitchFamily="49" charset="-122"/>
              </a:rPr>
              <a:t>到 </a:t>
            </a:r>
            <a:r>
              <a:rPr lang="en-US" altLang="zh-CN" sz="3200" b="1">
                <a:ea typeface="黑体" panose="02010609060101010101" pitchFamily="49" charset="-122"/>
              </a:rPr>
              <a:t>172.31.255.255</a:t>
            </a:r>
          </a:p>
        </p:txBody>
      </p:sp>
      <p:sp>
        <p:nvSpPr>
          <p:cNvPr id="1235973" name="矩形 6"/>
          <p:cNvSpPr>
            <a:spLocks noChangeArrowheads="1"/>
          </p:cNvSpPr>
          <p:nvPr/>
        </p:nvSpPr>
        <p:spPr bwMode="auto">
          <a:xfrm>
            <a:off x="560388" y="4405313"/>
            <a:ext cx="8999537" cy="585787"/>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3200" b="1">
                <a:ea typeface="黑体" panose="02010609060101010101" pitchFamily="49" charset="-122"/>
              </a:rPr>
              <a:t>(3) 192.168.0.0 </a:t>
            </a:r>
            <a:r>
              <a:rPr lang="zh-CN" altLang="en-US" sz="3200" b="1">
                <a:ea typeface="黑体" panose="02010609060101010101" pitchFamily="49" charset="-122"/>
              </a:rPr>
              <a:t>到 </a:t>
            </a:r>
            <a:r>
              <a:rPr lang="en-US" altLang="zh-CN" sz="3200" b="1">
                <a:ea typeface="黑体" panose="02010609060101010101" pitchFamily="49" charset="-122"/>
              </a:rPr>
              <a:t>192.168.255.255</a:t>
            </a:r>
          </a:p>
        </p:txBody>
      </p:sp>
      <p:sp>
        <p:nvSpPr>
          <p:cNvPr id="1235974" name="矩形 7"/>
          <p:cNvSpPr>
            <a:spLocks noChangeArrowheads="1"/>
          </p:cNvSpPr>
          <p:nvPr/>
        </p:nvSpPr>
        <p:spPr bwMode="auto">
          <a:xfrm>
            <a:off x="1712913" y="2443163"/>
            <a:ext cx="67722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A</a:t>
            </a:r>
            <a:r>
              <a:rPr lang="zh-CN" altLang="en-US" sz="2800" b="1">
                <a:ea typeface="黑体" panose="02010609060101010101" pitchFamily="49" charset="-122"/>
              </a:rPr>
              <a:t>类，</a:t>
            </a:r>
            <a:r>
              <a:rPr lang="zh-CN" altLang="zh-CN" sz="2800" b="1">
                <a:ea typeface="黑体" panose="02010609060101010101" pitchFamily="49" charset="-122"/>
              </a:rPr>
              <a:t>或记为</a:t>
            </a:r>
            <a:r>
              <a:rPr lang="en-US" altLang="zh-CN" sz="2800" b="1">
                <a:ea typeface="黑体" panose="02010609060101010101" pitchFamily="49" charset="-122"/>
              </a:rPr>
              <a:t>10.0.0.0/8</a:t>
            </a:r>
            <a:r>
              <a:rPr lang="zh-CN" altLang="zh-CN" sz="2800" b="1">
                <a:ea typeface="黑体" panose="02010609060101010101" pitchFamily="49" charset="-122"/>
              </a:rPr>
              <a:t>，它又称为</a:t>
            </a:r>
            <a:r>
              <a:rPr lang="en-US" altLang="zh-CN" sz="2800" b="1">
                <a:ea typeface="黑体" panose="02010609060101010101" pitchFamily="49" charset="-122"/>
              </a:rPr>
              <a:t>24</a:t>
            </a:r>
            <a:r>
              <a:rPr lang="zh-CN" altLang="zh-CN" sz="2800" b="1">
                <a:ea typeface="黑体" panose="02010609060101010101" pitchFamily="49" charset="-122"/>
              </a:rPr>
              <a:t>位块</a:t>
            </a:r>
            <a:endParaRPr lang="zh-CN" altLang="en-US" sz="2800" b="1">
              <a:ea typeface="黑体" panose="02010609060101010101" pitchFamily="49" charset="-122"/>
            </a:endParaRPr>
          </a:p>
        </p:txBody>
      </p:sp>
      <p:sp>
        <p:nvSpPr>
          <p:cNvPr id="1235975" name="矩形 8"/>
          <p:cNvSpPr>
            <a:spLocks noChangeArrowheads="1"/>
          </p:cNvSpPr>
          <p:nvPr/>
        </p:nvSpPr>
        <p:spPr bwMode="auto">
          <a:xfrm>
            <a:off x="1712913" y="3738563"/>
            <a:ext cx="7373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B</a:t>
            </a:r>
            <a:r>
              <a:rPr lang="zh-CN" altLang="en-US" sz="2800" b="1">
                <a:ea typeface="黑体" panose="02010609060101010101" pitchFamily="49" charset="-122"/>
              </a:rPr>
              <a:t>类，</a:t>
            </a:r>
            <a:r>
              <a:rPr lang="zh-CN" altLang="zh-CN" sz="2800" b="1">
                <a:ea typeface="黑体" panose="02010609060101010101" pitchFamily="49" charset="-122"/>
              </a:rPr>
              <a:t>或记为</a:t>
            </a:r>
            <a:r>
              <a:rPr lang="en-US" altLang="zh-CN" sz="2800" b="1">
                <a:ea typeface="黑体" panose="02010609060101010101" pitchFamily="49" charset="-122"/>
              </a:rPr>
              <a:t>172.16.0.0/12</a:t>
            </a:r>
            <a:r>
              <a:rPr lang="zh-CN" altLang="zh-CN" sz="2800" b="1">
                <a:ea typeface="黑体" panose="02010609060101010101" pitchFamily="49" charset="-122"/>
              </a:rPr>
              <a:t>，它又称为</a:t>
            </a:r>
            <a:r>
              <a:rPr lang="en-US" altLang="zh-CN" sz="2800" b="1">
                <a:ea typeface="黑体" panose="02010609060101010101" pitchFamily="49" charset="-122"/>
              </a:rPr>
              <a:t>20</a:t>
            </a:r>
            <a:r>
              <a:rPr lang="zh-CN" altLang="zh-CN" sz="2800" b="1">
                <a:ea typeface="黑体" panose="02010609060101010101" pitchFamily="49" charset="-122"/>
              </a:rPr>
              <a:t>位块</a:t>
            </a:r>
            <a:endParaRPr lang="zh-CN" altLang="en-US" sz="2800" b="1">
              <a:ea typeface="黑体" panose="02010609060101010101" pitchFamily="49" charset="-122"/>
            </a:endParaRPr>
          </a:p>
        </p:txBody>
      </p:sp>
      <p:sp>
        <p:nvSpPr>
          <p:cNvPr id="1235976" name="矩形 9"/>
          <p:cNvSpPr>
            <a:spLocks noChangeArrowheads="1"/>
          </p:cNvSpPr>
          <p:nvPr/>
        </p:nvSpPr>
        <p:spPr bwMode="auto">
          <a:xfrm>
            <a:off x="1738313" y="4981575"/>
            <a:ext cx="75739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C</a:t>
            </a:r>
            <a:r>
              <a:rPr lang="zh-CN" altLang="en-US" sz="2800" b="1">
                <a:ea typeface="黑体" panose="02010609060101010101" pitchFamily="49" charset="-122"/>
              </a:rPr>
              <a:t>类，</a:t>
            </a:r>
            <a:r>
              <a:rPr lang="zh-CN" altLang="zh-CN" sz="2800" b="1">
                <a:ea typeface="黑体" panose="02010609060101010101" pitchFamily="49" charset="-122"/>
              </a:rPr>
              <a:t>或记为</a:t>
            </a:r>
            <a:r>
              <a:rPr lang="en-US" altLang="zh-CN" sz="2800" b="1">
                <a:ea typeface="黑体" panose="02010609060101010101" pitchFamily="49" charset="-122"/>
              </a:rPr>
              <a:t>192.168.0.0/16</a:t>
            </a:r>
            <a:r>
              <a:rPr lang="zh-CN" altLang="zh-CN" sz="2800" b="1">
                <a:ea typeface="黑体" panose="02010609060101010101" pitchFamily="49" charset="-122"/>
              </a:rPr>
              <a:t>，它又称为</a:t>
            </a:r>
            <a:r>
              <a:rPr lang="en-US" altLang="zh-CN" sz="2800" b="1">
                <a:ea typeface="黑体" panose="02010609060101010101" pitchFamily="49" charset="-122"/>
              </a:rPr>
              <a:t>16</a:t>
            </a:r>
            <a:r>
              <a:rPr lang="zh-CN" altLang="zh-CN" sz="2800" b="1">
                <a:ea typeface="黑体" panose="02010609060101010101" pitchFamily="49" charset="-122"/>
              </a:rPr>
              <a:t>位块</a:t>
            </a:r>
            <a:endParaRPr lang="zh-CN" altLang="en-US" sz="2800" b="1">
              <a:ea typeface="黑体" panose="02010609060101010101" pitchFamily="49" charset="-122"/>
            </a:endParaRPr>
          </a:p>
        </p:txBody>
      </p:sp>
      <p:sp>
        <p:nvSpPr>
          <p:cNvPr id="1235977" name="灯片编号占位符 10"/>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61EBC2-574F-449C-ADE9-55F0EE3A5D93}" type="slidenum">
              <a:rPr lang="zh-CN" altLang="en-US" smtClean="0"/>
              <a:pPr eaLnBrk="1" hangingPunct="1"/>
              <a:t>35</a:t>
            </a:fld>
            <a:endParaRPr lang="en-US" altLang="zh-CN" smtClean="0"/>
          </a:p>
        </p:txBody>
      </p:sp>
      <p:sp>
        <p:nvSpPr>
          <p:cNvPr id="1235978" name="页脚占位符 1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1159785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80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专用网</a:t>
            </a:r>
            <a:endParaRPr lang="en-US" altLang="zh-CN" smtClean="0">
              <a:ea typeface="黑体" panose="02010609060101010101" pitchFamily="49" charset="-122"/>
            </a:endParaRPr>
          </a:p>
        </p:txBody>
      </p:sp>
      <p:sp>
        <p:nvSpPr>
          <p:cNvPr id="1238018"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采用这样的专用</a:t>
            </a:r>
            <a:r>
              <a:rPr lang="en-US" altLang="zh-CN" smtClean="0">
                <a:ea typeface="黑体" panose="02010609060101010101" pitchFamily="49" charset="-122"/>
              </a:rPr>
              <a:t> IP </a:t>
            </a:r>
            <a:r>
              <a:rPr lang="zh-CN" altLang="zh-CN" smtClean="0">
                <a:ea typeface="黑体" panose="02010609060101010101" pitchFamily="49" charset="-122"/>
              </a:rPr>
              <a:t>地址的互连网络称为</a:t>
            </a:r>
            <a:r>
              <a:rPr lang="zh-CN" altLang="zh-CN" smtClean="0">
                <a:solidFill>
                  <a:srgbClr val="FF0000"/>
                </a:solidFill>
                <a:ea typeface="黑体" panose="02010609060101010101" pitchFamily="49" charset="-122"/>
              </a:rPr>
              <a:t>专用互联网</a:t>
            </a:r>
            <a:r>
              <a:rPr lang="zh-CN" altLang="zh-CN" smtClean="0">
                <a:ea typeface="黑体" panose="02010609060101010101" pitchFamily="49" charset="-122"/>
              </a:rPr>
              <a:t>或</a:t>
            </a:r>
            <a:r>
              <a:rPr lang="zh-CN" altLang="zh-CN" smtClean="0">
                <a:solidFill>
                  <a:srgbClr val="FF0000"/>
                </a:solidFill>
                <a:ea typeface="黑体" panose="02010609060101010101" pitchFamily="49" charset="-122"/>
              </a:rPr>
              <a:t>本地互联网，</a:t>
            </a:r>
            <a:r>
              <a:rPr lang="zh-CN" altLang="zh-CN" smtClean="0">
                <a:ea typeface="黑体" panose="02010609060101010101" pitchFamily="49" charset="-122"/>
              </a:rPr>
              <a:t>或更简单些，就叫</a:t>
            </a:r>
            <a:r>
              <a:rPr lang="zh-CN" altLang="en-US" smtClean="0">
                <a:ea typeface="黑体" panose="02010609060101010101" pitchFamily="49" charset="-122"/>
              </a:rPr>
              <a:t>作</a:t>
            </a:r>
            <a:r>
              <a:rPr lang="zh-CN" altLang="zh-CN" smtClean="0">
                <a:solidFill>
                  <a:srgbClr val="FF0000"/>
                </a:solidFill>
                <a:ea typeface="黑体" panose="02010609060101010101" pitchFamily="49" charset="-122"/>
              </a:rPr>
              <a:t>专用网。</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因为这些专用地址仅在本机构内部使用。专用</a:t>
            </a:r>
            <a:r>
              <a:rPr lang="en-US" altLang="zh-CN" smtClean="0">
                <a:ea typeface="黑体" panose="02010609060101010101" pitchFamily="49" charset="-122"/>
              </a:rPr>
              <a:t>IP</a:t>
            </a:r>
            <a:r>
              <a:rPr lang="zh-CN" altLang="zh-CN" smtClean="0">
                <a:ea typeface="黑体" panose="02010609060101010101" pitchFamily="49" charset="-122"/>
              </a:rPr>
              <a:t>地址也叫</a:t>
            </a:r>
            <a:r>
              <a:rPr lang="zh-CN" altLang="en-US" smtClean="0">
                <a:ea typeface="黑体" panose="02010609060101010101" pitchFamily="49" charset="-122"/>
              </a:rPr>
              <a:t>作</a:t>
            </a:r>
            <a:r>
              <a:rPr lang="zh-CN" altLang="zh-CN" smtClean="0">
                <a:solidFill>
                  <a:srgbClr val="FF0000"/>
                </a:solidFill>
                <a:ea typeface="黑体" panose="02010609060101010101" pitchFamily="49" charset="-122"/>
              </a:rPr>
              <a:t>可重用地址</a:t>
            </a:r>
            <a:r>
              <a:rPr lang="en-US" altLang="zh-CN" smtClean="0">
                <a:ea typeface="黑体" panose="02010609060101010101" pitchFamily="49" charset="-122"/>
              </a:rPr>
              <a:t>(reusable address)</a:t>
            </a:r>
            <a:r>
              <a:rPr lang="zh-CN" altLang="zh-CN" smtClean="0">
                <a:ea typeface="黑体" panose="02010609060101010101" pitchFamily="49" charset="-122"/>
              </a:rPr>
              <a:t>。</a:t>
            </a:r>
            <a:endParaRPr lang="zh-CN" altLang="en-US" smtClean="0">
              <a:ea typeface="黑体" panose="02010609060101010101" pitchFamily="49" charset="-122"/>
            </a:endParaRPr>
          </a:p>
        </p:txBody>
      </p:sp>
      <p:sp>
        <p:nvSpPr>
          <p:cNvPr id="1238019"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8C1783-20CA-48E0-8AAA-AE5C3E2609BC}" type="slidenum">
              <a:rPr lang="zh-CN" altLang="en-US" smtClean="0"/>
              <a:pPr eaLnBrk="1" hangingPunct="1"/>
              <a:t>36</a:t>
            </a:fld>
            <a:endParaRPr lang="en-US" altLang="zh-CN" smtClean="0"/>
          </a:p>
        </p:txBody>
      </p:sp>
      <p:sp>
        <p:nvSpPr>
          <p:cNvPr id="1238020"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706453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06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虚拟专用网 </a:t>
            </a:r>
            <a:r>
              <a:rPr lang="en-US" altLang="zh-CN" smtClean="0">
                <a:ea typeface="黑体" panose="02010609060101010101" pitchFamily="49" charset="-122"/>
              </a:rPr>
              <a:t>VPN</a:t>
            </a:r>
          </a:p>
        </p:txBody>
      </p:sp>
      <p:sp>
        <p:nvSpPr>
          <p:cNvPr id="1240066" name="内容占位符 1"/>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利用公用的互联网作为本机构各专用网之间的通信载体，这样的专用网又称为</a:t>
            </a:r>
            <a:r>
              <a:rPr lang="zh-CN" altLang="zh-CN" u="sng" dirty="0" smtClean="0">
                <a:solidFill>
                  <a:srgbClr val="FF0000"/>
                </a:solidFill>
                <a:ea typeface="黑体" panose="02010609060101010101" pitchFamily="49" charset="-122"/>
              </a:rPr>
              <a:t>虚拟专用网</a:t>
            </a:r>
            <a:r>
              <a:rPr lang="en-US" altLang="zh-CN" u="sng" dirty="0" smtClean="0">
                <a:ea typeface="黑体" panose="02010609060101010101" pitchFamily="49" charset="-122"/>
              </a:rPr>
              <a:t>VPN (Virtual Private Network)</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a:t>
            </a:r>
            <a:r>
              <a:rPr lang="zh-CN" altLang="zh-CN" dirty="0" smtClean="0">
                <a:solidFill>
                  <a:srgbClr val="FF0000"/>
                </a:solidFill>
                <a:ea typeface="黑体" panose="02010609060101010101" pitchFamily="49" charset="-122"/>
              </a:rPr>
              <a:t>专用网</a:t>
            </a:r>
            <a:r>
              <a:rPr lang="zh-CN" altLang="zh-CN" dirty="0" smtClean="0">
                <a:ea typeface="黑体" panose="02010609060101010101" pitchFamily="49" charset="-122"/>
              </a:rPr>
              <a:t>”是因为这种网络是为本机构的主机用于</a:t>
            </a:r>
            <a:r>
              <a:rPr lang="zh-CN" altLang="zh-CN" dirty="0" smtClean="0">
                <a:solidFill>
                  <a:srgbClr val="0000FF"/>
                </a:solidFill>
                <a:ea typeface="黑体" panose="02010609060101010101" pitchFamily="49" charset="-122"/>
              </a:rPr>
              <a:t>机构内部的通信</a:t>
            </a:r>
            <a:r>
              <a:rPr lang="zh-CN" altLang="zh-CN" dirty="0" smtClean="0">
                <a:ea typeface="黑体" panose="02010609060101010101" pitchFamily="49" charset="-122"/>
              </a:rPr>
              <a:t>，而不是用于和网络外非本机构的主机通信。</a:t>
            </a:r>
            <a:endParaRPr lang="en-US" altLang="zh-CN" dirty="0" smtClean="0">
              <a:ea typeface="黑体" panose="02010609060101010101" pitchFamily="49" charset="-122"/>
            </a:endParaRPr>
          </a:p>
          <a:p>
            <a:r>
              <a:rPr lang="zh-CN" altLang="zh-CN" dirty="0" smtClean="0">
                <a:ea typeface="黑体" panose="02010609060101010101" pitchFamily="49" charset="-122"/>
              </a:rPr>
              <a:t>“</a:t>
            </a:r>
            <a:r>
              <a:rPr lang="zh-CN" altLang="zh-CN" dirty="0" smtClean="0">
                <a:solidFill>
                  <a:srgbClr val="FF0000"/>
                </a:solidFill>
                <a:ea typeface="黑体" panose="02010609060101010101" pitchFamily="49" charset="-122"/>
              </a:rPr>
              <a:t>虚拟</a:t>
            </a:r>
            <a:r>
              <a:rPr lang="zh-CN" altLang="zh-CN" dirty="0" smtClean="0">
                <a:ea typeface="黑体" panose="02010609060101010101" pitchFamily="49" charset="-122"/>
              </a:rPr>
              <a:t>”表示“好像是”，但实际上并不是，因为现在并</a:t>
            </a:r>
            <a:r>
              <a:rPr lang="zh-CN" altLang="zh-CN" dirty="0" smtClean="0">
                <a:solidFill>
                  <a:srgbClr val="0000FF"/>
                </a:solidFill>
                <a:ea typeface="黑体" panose="02010609060101010101" pitchFamily="49" charset="-122"/>
              </a:rPr>
              <a:t>没有真正使用通信专线</a:t>
            </a:r>
            <a:r>
              <a:rPr lang="zh-CN" altLang="zh-CN" dirty="0" smtClean="0">
                <a:ea typeface="黑体" panose="02010609060101010101" pitchFamily="49" charset="-122"/>
              </a:rPr>
              <a:t>，而</a:t>
            </a:r>
            <a:r>
              <a:rPr lang="en-US" altLang="zh-CN" dirty="0" smtClean="0">
                <a:ea typeface="黑体" panose="02010609060101010101" pitchFamily="49" charset="-122"/>
              </a:rPr>
              <a:t>VPN</a:t>
            </a:r>
            <a:r>
              <a:rPr lang="zh-CN" altLang="zh-CN" dirty="0" smtClean="0">
                <a:ea typeface="黑体" panose="02010609060101010101" pitchFamily="49" charset="-122"/>
              </a:rPr>
              <a:t>只是在效果上和真正的专用网一样。</a:t>
            </a:r>
            <a:endParaRPr lang="en-US" altLang="zh-CN" dirty="0" smtClean="0">
              <a:ea typeface="黑体" panose="02010609060101010101" pitchFamily="49" charset="-122"/>
            </a:endParaRPr>
          </a:p>
          <a:p>
            <a:endParaRPr lang="zh-CN" altLang="en-US" dirty="0" smtClean="0">
              <a:ea typeface="黑体" panose="02010609060101010101" pitchFamily="49" charset="-122"/>
            </a:endParaRPr>
          </a:p>
        </p:txBody>
      </p:sp>
      <p:sp>
        <p:nvSpPr>
          <p:cNvPr id="124006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EECC60-7D4A-4774-8289-586D5572B9ED}" type="slidenum">
              <a:rPr lang="zh-CN" altLang="en-US" smtClean="0"/>
              <a:pPr eaLnBrk="1" hangingPunct="1"/>
              <a:t>37</a:t>
            </a:fld>
            <a:endParaRPr lang="en-US" altLang="zh-CN" smtClean="0"/>
          </a:p>
        </p:txBody>
      </p:sp>
      <p:sp>
        <p:nvSpPr>
          <p:cNvPr id="124006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712797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21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虚拟专用网 </a:t>
            </a:r>
            <a:r>
              <a:rPr lang="en-US" altLang="zh-CN" smtClean="0">
                <a:ea typeface="黑体" panose="02010609060101010101" pitchFamily="49" charset="-122"/>
              </a:rPr>
              <a:t>VPN </a:t>
            </a:r>
            <a:r>
              <a:rPr lang="zh-CN" altLang="en-US" smtClean="0">
                <a:ea typeface="黑体" panose="02010609060101010101" pitchFamily="49" charset="-122"/>
              </a:rPr>
              <a:t>构建</a:t>
            </a:r>
            <a:endParaRPr lang="en-US" altLang="zh-CN" smtClean="0">
              <a:ea typeface="黑体" panose="02010609060101010101" pitchFamily="49" charset="-122"/>
            </a:endParaRPr>
          </a:p>
        </p:txBody>
      </p:sp>
      <p:sp>
        <p:nvSpPr>
          <p:cNvPr id="1242114" name="内容占位符 1"/>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如果专用网不同网点之间的通信必须经过公用的互联网，但又有保密的要求，那么所有通过互联网传送的</a:t>
            </a:r>
            <a:r>
              <a:rPr lang="zh-CN" altLang="zh-CN" smtClean="0">
                <a:solidFill>
                  <a:srgbClr val="FF0000"/>
                </a:solidFill>
                <a:ea typeface="黑体" panose="02010609060101010101" pitchFamily="49" charset="-122"/>
              </a:rPr>
              <a:t>数据都必须加密</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一个机构要构建自己的</a:t>
            </a:r>
            <a:r>
              <a:rPr lang="en-US" altLang="zh-CN" smtClean="0">
                <a:ea typeface="黑体" panose="02010609060101010101" pitchFamily="49" charset="-122"/>
              </a:rPr>
              <a:t> VPN </a:t>
            </a:r>
            <a:r>
              <a:rPr lang="zh-CN" altLang="zh-CN" smtClean="0">
                <a:ea typeface="黑体" panose="02010609060101010101" pitchFamily="49" charset="-122"/>
              </a:rPr>
              <a:t>就必须为它的每一个场所购买专门的硬件和软件，并进行配置，使每一个场所的</a:t>
            </a:r>
            <a:r>
              <a:rPr lang="en-US" altLang="zh-CN" smtClean="0">
                <a:ea typeface="黑体" panose="02010609060101010101" pitchFamily="49" charset="-122"/>
              </a:rPr>
              <a:t> VPN </a:t>
            </a:r>
            <a:r>
              <a:rPr lang="zh-CN" altLang="zh-CN" smtClean="0">
                <a:ea typeface="黑体" panose="02010609060101010101" pitchFamily="49" charset="-122"/>
              </a:rPr>
              <a:t>系统都知道其他场所的地址。</a:t>
            </a:r>
          </a:p>
          <a:p>
            <a:endParaRPr lang="zh-CN" altLang="en-US" smtClean="0">
              <a:ea typeface="黑体" panose="02010609060101010101" pitchFamily="49" charset="-122"/>
            </a:endParaRPr>
          </a:p>
        </p:txBody>
      </p:sp>
      <p:sp>
        <p:nvSpPr>
          <p:cNvPr id="124211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CE32BF-5BF1-460A-9267-1529A127A943}" type="slidenum">
              <a:rPr lang="zh-CN" altLang="en-US" smtClean="0"/>
              <a:pPr eaLnBrk="1" hangingPunct="1"/>
              <a:t>38</a:t>
            </a:fld>
            <a:endParaRPr lang="en-US" altLang="zh-CN" smtClean="0"/>
          </a:p>
        </p:txBody>
      </p:sp>
      <p:sp>
        <p:nvSpPr>
          <p:cNvPr id="124211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909246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4161" name="Rectangle 11"/>
          <p:cNvSpPr>
            <a:spLocks noGrp="1" noChangeArrowheads="1"/>
          </p:cNvSpPr>
          <p:nvPr>
            <p:ph type="title"/>
          </p:nvPr>
        </p:nvSpPr>
        <p:spPr/>
        <p:txBody>
          <a:bodyPr/>
          <a:lstStyle/>
          <a:p>
            <a:pPr algn="ctr"/>
            <a:r>
              <a:rPr lang="zh-CN" altLang="en-US" smtClean="0">
                <a:ea typeface="黑体" panose="02010609060101010101" pitchFamily="49" charset="-122"/>
              </a:rPr>
              <a:t>用隧道技术实现虚拟专用网 </a:t>
            </a:r>
          </a:p>
        </p:txBody>
      </p:sp>
      <p:grpSp>
        <p:nvGrpSpPr>
          <p:cNvPr id="625666" name="Group 2"/>
          <p:cNvGrpSpPr>
            <a:grpSpLocks/>
          </p:cNvGrpSpPr>
          <p:nvPr/>
        </p:nvGrpSpPr>
        <p:grpSpPr bwMode="auto">
          <a:xfrm>
            <a:off x="341313" y="2065338"/>
            <a:ext cx="1666875" cy="1789112"/>
            <a:chOff x="87" y="1384"/>
            <a:chExt cx="969" cy="1127"/>
          </a:xfrm>
        </p:grpSpPr>
        <p:sp>
          <p:nvSpPr>
            <p:cNvPr id="1244163" name="Line 3"/>
            <p:cNvSpPr>
              <a:spLocks noChangeShapeType="1"/>
            </p:cNvSpPr>
            <p:nvPr/>
          </p:nvSpPr>
          <p:spPr bwMode="auto">
            <a:xfrm flipV="1">
              <a:off x="816" y="2248"/>
              <a:ext cx="240"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164" name="Line 4"/>
            <p:cNvSpPr>
              <a:spLocks noChangeShapeType="1"/>
            </p:cNvSpPr>
            <p:nvPr/>
          </p:nvSpPr>
          <p:spPr bwMode="auto">
            <a:xfrm>
              <a:off x="624" y="1576"/>
              <a:ext cx="240" cy="144"/>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165" name="Line 5"/>
            <p:cNvSpPr>
              <a:spLocks noChangeShapeType="1"/>
            </p:cNvSpPr>
            <p:nvPr/>
          </p:nvSpPr>
          <p:spPr bwMode="auto">
            <a:xfrm flipV="1">
              <a:off x="432" y="1967"/>
              <a:ext cx="28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4166"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4167" name="Text Box 7"/>
            <p:cNvSpPr txBox="1">
              <a:spLocks noChangeArrowheads="1"/>
            </p:cNvSpPr>
            <p:nvPr/>
          </p:nvSpPr>
          <p:spPr bwMode="auto">
            <a:xfrm>
              <a:off x="113" y="1797"/>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4168" name="Text Box 8"/>
            <p:cNvSpPr txBox="1">
              <a:spLocks noChangeArrowheads="1"/>
            </p:cNvSpPr>
            <p:nvPr/>
          </p:nvSpPr>
          <p:spPr bwMode="auto">
            <a:xfrm>
              <a:off x="87" y="2031"/>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pic>
          <p:nvPicPr>
            <p:cNvPr id="1244169"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4170"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44171" name="Group 12"/>
          <p:cNvGrpSpPr>
            <a:grpSpLocks/>
          </p:cNvGrpSpPr>
          <p:nvPr/>
        </p:nvGrpSpPr>
        <p:grpSpPr bwMode="auto">
          <a:xfrm>
            <a:off x="1246188" y="2252663"/>
            <a:ext cx="1636712" cy="1225550"/>
            <a:chOff x="385" y="2795"/>
            <a:chExt cx="1769" cy="816"/>
          </a:xfrm>
        </p:grpSpPr>
        <p:sp>
          <p:nvSpPr>
            <p:cNvPr id="1244172" name="Oval 1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3" name="Oval 1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4" name="Oval 1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5" name="Oval 1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6" name="Oval 1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7" name="Oval 1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8" name="Oval 1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79" name="Oval 2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0" name="Oval 2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1"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2" name="Oval 2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3"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4"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5" name="Oval 2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6" name="Oval 2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7" name="Oval 2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88" name="Freeform 29"/>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244189" name="Group 30"/>
          <p:cNvGrpSpPr>
            <a:grpSpLocks/>
          </p:cNvGrpSpPr>
          <p:nvPr/>
        </p:nvGrpSpPr>
        <p:grpSpPr bwMode="auto">
          <a:xfrm>
            <a:off x="6938963" y="2182813"/>
            <a:ext cx="1636712" cy="1225550"/>
            <a:chOff x="385" y="2795"/>
            <a:chExt cx="1769" cy="816"/>
          </a:xfrm>
        </p:grpSpPr>
        <p:sp>
          <p:nvSpPr>
            <p:cNvPr id="1244190" name="Oval 3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1" name="Oval 3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2" name="Oval 3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3" name="Oval 3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4" name="Oval 3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5" name="Oval 3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6" name="Oval 3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7" name="Oval 3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8" name="Oval 3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199"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0" name="Oval 4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1"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2"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3" name="Oval 4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4" name="Oval 4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5" name="Oval 4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4206" name="Freeform 4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aphicFrame>
        <p:nvGraphicFramePr>
          <p:cNvPr id="1244207" name="Object 48"/>
          <p:cNvGraphicFramePr>
            <a:graphicFrameLocks noChangeAspect="1"/>
          </p:cNvGraphicFramePr>
          <p:nvPr/>
        </p:nvGraphicFramePr>
        <p:xfrm>
          <a:off x="3576638" y="2090738"/>
          <a:ext cx="2971800" cy="1703387"/>
        </p:xfrm>
        <a:graphic>
          <a:graphicData uri="http://schemas.openxmlformats.org/presentationml/2006/ole">
            <mc:AlternateContent xmlns:mc="http://schemas.openxmlformats.org/markup-compatibility/2006">
              <mc:Choice xmlns:v="urn:schemas-microsoft-com:vml" Requires="v">
                <p:oleObj spid="_x0000_s1048" r:id="rId5" imgW="1687068" imgH="964692" progId="">
                  <p:embed/>
                </p:oleObj>
              </mc:Choice>
              <mc:Fallback>
                <p:oleObj r:id="rId5" imgW="1687068" imgH="964692" progId="">
                  <p:embed/>
                  <p:pic>
                    <p:nvPicPr>
                      <p:cNvPr id="1244207"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76638" y="2090738"/>
                        <a:ext cx="2971800" cy="170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44208"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37338" y="2625725"/>
            <a:ext cx="563562"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4209"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17800" y="2627313"/>
            <a:ext cx="563563"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4210" name="Text Box 51"/>
          <p:cNvSpPr txBox="1">
            <a:spLocks noChangeArrowheads="1"/>
          </p:cNvSpPr>
          <p:nvPr/>
        </p:nvSpPr>
        <p:spPr bwMode="auto">
          <a:xfrm>
            <a:off x="1568450" y="2565400"/>
            <a:ext cx="9477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FF"/>
                </a:solidFill>
                <a:ea typeface="黑体" panose="02010609060101010101" pitchFamily="49" charset="-122"/>
              </a:rPr>
              <a:t>部门 </a:t>
            </a:r>
            <a:r>
              <a:rPr lang="en-US" altLang="zh-CN" sz="2000" b="1">
                <a:solidFill>
                  <a:srgbClr val="0000FF"/>
                </a:solidFill>
                <a:ea typeface="黑体" panose="02010609060101010101" pitchFamily="49" charset="-122"/>
              </a:rPr>
              <a:t>A</a:t>
            </a:r>
          </a:p>
          <a:p>
            <a:pPr eaLnBrk="0" hangingPunct="0"/>
            <a:r>
              <a:rPr lang="zh-CN" altLang="en-US" sz="2000" b="1">
                <a:solidFill>
                  <a:srgbClr val="0000FF"/>
                </a:solidFill>
                <a:ea typeface="黑体" panose="02010609060101010101" pitchFamily="49" charset="-122"/>
              </a:rPr>
              <a:t>网络</a:t>
            </a:r>
            <a:endParaRPr lang="en-US" altLang="zh-CN" sz="2000" b="1">
              <a:solidFill>
                <a:srgbClr val="0000FF"/>
              </a:solidFill>
              <a:ea typeface="黑体" panose="02010609060101010101" pitchFamily="49" charset="-122"/>
            </a:endParaRPr>
          </a:p>
        </p:txBody>
      </p:sp>
      <p:sp>
        <p:nvSpPr>
          <p:cNvPr id="1244211" name="AutoShape 52"/>
          <p:cNvSpPr>
            <a:spLocks noChangeArrowheads="1"/>
          </p:cNvSpPr>
          <p:nvPr/>
        </p:nvSpPr>
        <p:spPr bwMode="auto">
          <a:xfrm rot="-5400000">
            <a:off x="4737894" y="1394619"/>
            <a:ext cx="360362" cy="2724150"/>
          </a:xfrm>
          <a:prstGeom prst="can">
            <a:avLst>
              <a:gd name="adj" fmla="val 25513"/>
            </a:avLst>
          </a:prstGeom>
          <a:gradFill rotWithShape="1">
            <a:gsLst>
              <a:gs pos="0">
                <a:srgbClr val="185E76"/>
              </a:gs>
              <a:gs pos="50000">
                <a:srgbClr val="33CCFF"/>
              </a:gs>
              <a:gs pos="100000">
                <a:srgbClr val="185E76"/>
              </a:gs>
            </a:gsLst>
            <a:lin ang="0" scaled="1"/>
          </a:gra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4212" name="Text Box 53"/>
          <p:cNvSpPr txBox="1">
            <a:spLocks noChangeArrowheads="1"/>
          </p:cNvSpPr>
          <p:nvPr/>
        </p:nvSpPr>
        <p:spPr bwMode="auto">
          <a:xfrm>
            <a:off x="4521200" y="2997200"/>
            <a:ext cx="1112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ea typeface="黑体" panose="02010609060101010101" pitchFamily="49" charset="-122"/>
              </a:rPr>
              <a:t>互联网</a:t>
            </a:r>
          </a:p>
        </p:txBody>
      </p:sp>
      <p:sp>
        <p:nvSpPr>
          <p:cNvPr id="1244213" name="Text Box 54"/>
          <p:cNvSpPr txBox="1">
            <a:spLocks noChangeArrowheads="1"/>
          </p:cNvSpPr>
          <p:nvPr/>
        </p:nvSpPr>
        <p:spPr bwMode="auto">
          <a:xfrm>
            <a:off x="7329488" y="2492375"/>
            <a:ext cx="9572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FF"/>
                </a:solidFill>
                <a:ea typeface="黑体" panose="02010609060101010101" pitchFamily="49" charset="-122"/>
              </a:rPr>
              <a:t>部门 </a:t>
            </a:r>
            <a:r>
              <a:rPr lang="en-US" altLang="zh-CN" sz="2000" b="1">
                <a:solidFill>
                  <a:srgbClr val="0000FF"/>
                </a:solidFill>
                <a:ea typeface="黑体" panose="02010609060101010101" pitchFamily="49" charset="-122"/>
              </a:rPr>
              <a:t>B</a:t>
            </a:r>
          </a:p>
          <a:p>
            <a:pPr eaLnBrk="0" hangingPunct="0"/>
            <a:r>
              <a:rPr lang="zh-CN" altLang="en-US" sz="2000" b="1">
                <a:solidFill>
                  <a:srgbClr val="0000FF"/>
                </a:solidFill>
                <a:ea typeface="黑体" panose="02010609060101010101" pitchFamily="49" charset="-122"/>
              </a:rPr>
              <a:t>网络</a:t>
            </a:r>
            <a:endParaRPr lang="en-US" altLang="zh-CN" sz="2000" b="1">
              <a:solidFill>
                <a:srgbClr val="0000FF"/>
              </a:solidFill>
              <a:ea typeface="黑体" panose="02010609060101010101" pitchFamily="49" charset="-122"/>
            </a:endParaRPr>
          </a:p>
        </p:txBody>
      </p:sp>
      <p:sp>
        <p:nvSpPr>
          <p:cNvPr id="1244214" name="Text Box 55"/>
          <p:cNvSpPr txBox="1">
            <a:spLocks noChangeArrowheads="1"/>
          </p:cNvSpPr>
          <p:nvPr/>
        </p:nvSpPr>
        <p:spPr bwMode="auto">
          <a:xfrm>
            <a:off x="2868613" y="2930525"/>
            <a:ext cx="465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4215" name="Text Box 56"/>
          <p:cNvSpPr txBox="1">
            <a:spLocks noChangeArrowheads="1"/>
          </p:cNvSpPr>
          <p:nvPr/>
        </p:nvSpPr>
        <p:spPr bwMode="auto">
          <a:xfrm>
            <a:off x="6643688" y="2859088"/>
            <a:ext cx="4651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4216" name="Text Box 57"/>
          <p:cNvSpPr txBox="1">
            <a:spLocks noChangeArrowheads="1"/>
          </p:cNvSpPr>
          <p:nvPr/>
        </p:nvSpPr>
        <p:spPr bwMode="auto">
          <a:xfrm>
            <a:off x="4664075" y="2533650"/>
            <a:ext cx="696913"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chemeClr val="bg1"/>
                </a:solidFill>
                <a:ea typeface="黑体" panose="02010609060101010101" pitchFamily="49" charset="-122"/>
              </a:rPr>
              <a:t>隧道</a:t>
            </a:r>
          </a:p>
        </p:txBody>
      </p:sp>
      <p:sp>
        <p:nvSpPr>
          <p:cNvPr id="1244217" name="Line 58"/>
          <p:cNvSpPr>
            <a:spLocks noChangeShapeType="1"/>
          </p:cNvSpPr>
          <p:nvPr/>
        </p:nvSpPr>
        <p:spPr bwMode="auto">
          <a:xfrm>
            <a:off x="3225800" y="2751138"/>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18" name="Line 59"/>
          <p:cNvSpPr>
            <a:spLocks noChangeShapeType="1"/>
          </p:cNvSpPr>
          <p:nvPr/>
        </p:nvSpPr>
        <p:spPr bwMode="auto">
          <a:xfrm>
            <a:off x="6280150" y="2751138"/>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625724" name="Group 60"/>
          <p:cNvGrpSpPr>
            <a:grpSpLocks/>
          </p:cNvGrpSpPr>
          <p:nvPr/>
        </p:nvGrpSpPr>
        <p:grpSpPr bwMode="auto">
          <a:xfrm>
            <a:off x="2616200" y="2108200"/>
            <a:ext cx="4589463" cy="642938"/>
            <a:chOff x="1410" y="1411"/>
            <a:chExt cx="2668" cy="405"/>
          </a:xfrm>
        </p:grpSpPr>
        <p:sp>
          <p:nvSpPr>
            <p:cNvPr id="1244220" name="Text Box 61"/>
            <p:cNvSpPr txBox="1">
              <a:spLocks noChangeArrowheads="1"/>
            </p:cNvSpPr>
            <p:nvPr/>
          </p:nvSpPr>
          <p:spPr bwMode="auto">
            <a:xfrm>
              <a:off x="1410" y="1411"/>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4221" name="Line 62"/>
            <p:cNvSpPr>
              <a:spLocks noChangeShapeType="1"/>
            </p:cNvSpPr>
            <p:nvPr/>
          </p:nvSpPr>
          <p:spPr bwMode="auto">
            <a:xfrm>
              <a:off x="1837" y="1616"/>
              <a:ext cx="23"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22" name="Text Box 63"/>
            <p:cNvSpPr txBox="1">
              <a:spLocks noChangeArrowheads="1"/>
            </p:cNvSpPr>
            <p:nvPr/>
          </p:nvSpPr>
          <p:spPr bwMode="auto">
            <a:xfrm>
              <a:off x="3350" y="1430"/>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194.4.5.6</a:t>
              </a:r>
            </a:p>
          </p:txBody>
        </p:sp>
        <p:sp>
          <p:nvSpPr>
            <p:cNvPr id="1244223" name="Line 64"/>
            <p:cNvSpPr>
              <a:spLocks noChangeShapeType="1"/>
            </p:cNvSpPr>
            <p:nvPr/>
          </p:nvSpPr>
          <p:spPr bwMode="auto">
            <a:xfrm flipH="1">
              <a:off x="3636" y="1616"/>
              <a:ext cx="60"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625729" name="Group 65"/>
          <p:cNvGrpSpPr>
            <a:grpSpLocks/>
          </p:cNvGrpSpPr>
          <p:nvPr/>
        </p:nvGrpSpPr>
        <p:grpSpPr bwMode="auto">
          <a:xfrm>
            <a:off x="8199438" y="1989138"/>
            <a:ext cx="1506537" cy="1712912"/>
            <a:chOff x="4656" y="1336"/>
            <a:chExt cx="876" cy="1079"/>
          </a:xfrm>
        </p:grpSpPr>
        <p:sp>
          <p:nvSpPr>
            <p:cNvPr id="1244225" name="Line 66"/>
            <p:cNvSpPr>
              <a:spLocks noChangeShapeType="1"/>
            </p:cNvSpPr>
            <p:nvPr/>
          </p:nvSpPr>
          <p:spPr bwMode="auto">
            <a:xfrm flipH="1" flipV="1">
              <a:off x="4800" y="1912"/>
              <a:ext cx="34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26" name="Line 67"/>
            <p:cNvSpPr>
              <a:spLocks noChangeShapeType="1"/>
            </p:cNvSpPr>
            <p:nvPr/>
          </p:nvSpPr>
          <p:spPr bwMode="auto">
            <a:xfrm flipH="1" flipV="1">
              <a:off x="4656" y="2152"/>
              <a:ext cx="336"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4227" name="Line 68"/>
            <p:cNvSpPr>
              <a:spLocks noChangeShapeType="1"/>
            </p:cNvSpPr>
            <p:nvPr/>
          </p:nvSpPr>
          <p:spPr bwMode="auto">
            <a:xfrm flipH="1">
              <a:off x="4800" y="1528"/>
              <a:ext cx="240" cy="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4228"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17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4229" name="Text Box 70"/>
            <p:cNvSpPr txBox="1">
              <a:spLocks noChangeArrowheads="1"/>
            </p:cNvSpPr>
            <p:nvPr/>
          </p:nvSpPr>
          <p:spPr bwMode="auto">
            <a:xfrm>
              <a:off x="5284" y="1729"/>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4230" name="Text Box 71"/>
            <p:cNvSpPr txBox="1">
              <a:spLocks noChangeArrowheads="1"/>
            </p:cNvSpPr>
            <p:nvPr/>
          </p:nvSpPr>
          <p:spPr bwMode="auto">
            <a:xfrm>
              <a:off x="4887" y="195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4231"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133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4232"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220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44233" name="Text Box 74"/>
          <p:cNvSpPr txBox="1">
            <a:spLocks noChangeArrowheads="1"/>
          </p:cNvSpPr>
          <p:nvPr/>
        </p:nvSpPr>
        <p:spPr bwMode="auto">
          <a:xfrm>
            <a:off x="4089400" y="3714750"/>
            <a:ext cx="2039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使用隧道技术</a:t>
            </a:r>
          </a:p>
        </p:txBody>
      </p:sp>
      <p:sp>
        <p:nvSpPr>
          <p:cNvPr id="625739" name="Text Box 75"/>
          <p:cNvSpPr txBox="1">
            <a:spLocks noChangeArrowheads="1"/>
          </p:cNvSpPr>
          <p:nvPr/>
        </p:nvSpPr>
        <p:spPr bwMode="auto">
          <a:xfrm>
            <a:off x="1065213" y="1365250"/>
            <a:ext cx="1414462" cy="461963"/>
          </a:xfrm>
          <a:prstGeom prst="rect">
            <a:avLst/>
          </a:prstGeom>
          <a:solidFill>
            <a:srgbClr val="FFFF99"/>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本地地址</a:t>
            </a:r>
          </a:p>
        </p:txBody>
      </p:sp>
      <p:sp>
        <p:nvSpPr>
          <p:cNvPr id="625740" name="Text Box 76"/>
          <p:cNvSpPr txBox="1">
            <a:spLocks noChangeArrowheads="1"/>
          </p:cNvSpPr>
          <p:nvPr/>
        </p:nvSpPr>
        <p:spPr bwMode="auto">
          <a:xfrm>
            <a:off x="7096125" y="1382713"/>
            <a:ext cx="1416050" cy="461962"/>
          </a:xfrm>
          <a:prstGeom prst="rect">
            <a:avLst/>
          </a:prstGeom>
          <a:solidFill>
            <a:srgbClr val="FFFF99"/>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本地地址</a:t>
            </a:r>
          </a:p>
        </p:txBody>
      </p:sp>
      <p:sp>
        <p:nvSpPr>
          <p:cNvPr id="625741" name="Text Box 77"/>
          <p:cNvSpPr txBox="1">
            <a:spLocks noChangeArrowheads="1"/>
          </p:cNvSpPr>
          <p:nvPr/>
        </p:nvSpPr>
        <p:spPr bwMode="auto">
          <a:xfrm>
            <a:off x="4305300" y="1382713"/>
            <a:ext cx="1416050" cy="461962"/>
          </a:xfrm>
          <a:prstGeom prst="rect">
            <a:avLst/>
          </a:prstGeom>
          <a:solidFill>
            <a:srgbClr val="FF99FF"/>
          </a:solidFill>
          <a:ln w="9525">
            <a:solidFill>
              <a:srgbClr val="333399"/>
            </a:solidFill>
            <a:miter lim="800000"/>
            <a:headEnd/>
            <a:tailEnd/>
          </a:ln>
        </p:spPr>
        <p:txBody>
          <a:bodyPr wrap="none">
            <a:spAutoFit/>
          </a:bodyPr>
          <a:lstStyle/>
          <a:p>
            <a:pPr algn="ctr" eaLnBrk="0" hangingPunct="0"/>
            <a:r>
              <a:rPr lang="zh-CN" altLang="en-US" sz="2400" b="1">
                <a:solidFill>
                  <a:srgbClr val="000099"/>
                </a:solidFill>
                <a:ea typeface="黑体" panose="02010609060101010101" pitchFamily="49" charset="-122"/>
              </a:rPr>
              <a:t>全球地址</a:t>
            </a:r>
          </a:p>
        </p:txBody>
      </p:sp>
      <p:sp>
        <p:nvSpPr>
          <p:cNvPr id="1244237" name="AutoShape 78"/>
          <p:cNvSpPr>
            <a:spLocks noChangeArrowheads="1"/>
          </p:cNvSpPr>
          <p:nvPr/>
        </p:nvSpPr>
        <p:spPr bwMode="auto">
          <a:xfrm>
            <a:off x="1166813" y="4449763"/>
            <a:ext cx="3821112" cy="855662"/>
          </a:xfrm>
          <a:prstGeom prst="wedgeRoundRectCallout">
            <a:avLst>
              <a:gd name="adj1" fmla="val -24394"/>
              <a:gd name="adj2" fmla="val -166065"/>
              <a:gd name="adj3" fmla="val 16667"/>
            </a:avLst>
          </a:prstGeom>
          <a:solidFill>
            <a:srgbClr val="FFFF66"/>
          </a:solidFill>
          <a:ln w="9525">
            <a:solidFill>
              <a:schemeClr val="tx1"/>
            </a:solidFill>
            <a:miter lim="800000"/>
            <a:headEnd/>
            <a:tailEnd/>
          </a:ln>
        </p:spPr>
        <p:txBody>
          <a:bodyPr/>
          <a:lstStyle/>
          <a:p>
            <a:pPr algn="ctr" eaLnBrk="0" hangingPunct="0"/>
            <a:endParaRPr lang="zh-CN" altLang="zh-CN" sz="2400" b="1">
              <a:solidFill>
                <a:srgbClr val="000099"/>
              </a:solidFill>
              <a:ea typeface="黑体" panose="02010609060101010101" pitchFamily="49" charset="-122"/>
            </a:endParaRPr>
          </a:p>
        </p:txBody>
      </p:sp>
      <p:sp>
        <p:nvSpPr>
          <p:cNvPr id="1244238" name="Text Box 81"/>
          <p:cNvSpPr txBox="1">
            <a:spLocks noChangeArrowheads="1"/>
          </p:cNvSpPr>
          <p:nvPr/>
        </p:nvSpPr>
        <p:spPr bwMode="auto">
          <a:xfrm>
            <a:off x="1625600" y="4475163"/>
            <a:ext cx="28829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网络地址 </a:t>
            </a:r>
            <a:r>
              <a:rPr lang="en-US" altLang="zh-CN" sz="2400" b="1">
                <a:solidFill>
                  <a:srgbClr val="000099"/>
                </a:solidFill>
                <a:ea typeface="黑体" panose="02010609060101010101" pitchFamily="49" charset="-122"/>
              </a:rPr>
              <a:t>= 10.1.0.0</a:t>
            </a:r>
          </a:p>
          <a:p>
            <a:pPr algn="ctr" eaLnBrk="0" hangingPunct="0"/>
            <a:r>
              <a:rPr lang="zh-CN" altLang="en-US" sz="2400" b="1">
                <a:solidFill>
                  <a:srgbClr val="000099"/>
                </a:solidFill>
                <a:ea typeface="黑体" panose="02010609060101010101" pitchFamily="49" charset="-122"/>
              </a:rPr>
              <a:t>（本地地址）</a:t>
            </a:r>
          </a:p>
        </p:txBody>
      </p:sp>
      <p:sp>
        <p:nvSpPr>
          <p:cNvPr id="1244239" name="AutoShape 83"/>
          <p:cNvSpPr>
            <a:spLocks noChangeArrowheads="1"/>
          </p:cNvSpPr>
          <p:nvPr/>
        </p:nvSpPr>
        <p:spPr bwMode="auto">
          <a:xfrm>
            <a:off x="5768975" y="4449763"/>
            <a:ext cx="3821113" cy="855662"/>
          </a:xfrm>
          <a:prstGeom prst="wedgeRoundRectCallout">
            <a:avLst>
              <a:gd name="adj1" fmla="val -2116"/>
              <a:gd name="adj2" fmla="val -191574"/>
              <a:gd name="adj3" fmla="val 16667"/>
            </a:avLst>
          </a:prstGeom>
          <a:solidFill>
            <a:srgbClr val="99FF66"/>
          </a:solidFill>
          <a:ln w="9525">
            <a:solidFill>
              <a:schemeClr val="tx1"/>
            </a:solidFill>
            <a:miter lim="800000"/>
            <a:headEnd/>
            <a:tailEnd/>
          </a:ln>
        </p:spPr>
        <p:txBody>
          <a:bodyPr/>
          <a:lstStyle/>
          <a:p>
            <a:pPr algn="ctr" eaLnBrk="0" hangingPunct="0"/>
            <a:endParaRPr lang="zh-CN" altLang="zh-CN" sz="2400" b="1">
              <a:solidFill>
                <a:srgbClr val="000099"/>
              </a:solidFill>
              <a:ea typeface="黑体" panose="02010609060101010101" pitchFamily="49" charset="-122"/>
            </a:endParaRPr>
          </a:p>
        </p:txBody>
      </p:sp>
      <p:sp>
        <p:nvSpPr>
          <p:cNvPr id="1244240" name="Text Box 82"/>
          <p:cNvSpPr txBox="1">
            <a:spLocks noChangeArrowheads="1"/>
          </p:cNvSpPr>
          <p:nvPr/>
        </p:nvSpPr>
        <p:spPr bwMode="auto">
          <a:xfrm>
            <a:off x="6227763" y="4470400"/>
            <a:ext cx="28829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网络地址 </a:t>
            </a:r>
            <a:r>
              <a:rPr lang="en-US" altLang="zh-CN" sz="2400" b="1">
                <a:solidFill>
                  <a:srgbClr val="000099"/>
                </a:solidFill>
                <a:ea typeface="黑体" panose="02010609060101010101" pitchFamily="49" charset="-122"/>
              </a:rPr>
              <a:t>= 10.2.0.0</a:t>
            </a:r>
          </a:p>
          <a:p>
            <a:pPr algn="ctr" eaLnBrk="0" hangingPunct="0"/>
            <a:r>
              <a:rPr lang="zh-CN" altLang="en-US" sz="2400" b="1">
                <a:solidFill>
                  <a:srgbClr val="000099"/>
                </a:solidFill>
                <a:ea typeface="黑体" panose="02010609060101010101" pitchFamily="49" charset="-122"/>
              </a:rPr>
              <a:t>（本地地址）</a:t>
            </a:r>
          </a:p>
        </p:txBody>
      </p:sp>
      <p:sp>
        <p:nvSpPr>
          <p:cNvPr id="1244241" name="矩形 83"/>
          <p:cNvSpPr>
            <a:spLocks noChangeArrowheads="1"/>
          </p:cNvSpPr>
          <p:nvPr/>
        </p:nvSpPr>
        <p:spPr bwMode="auto">
          <a:xfrm>
            <a:off x="2557463" y="5722938"/>
            <a:ext cx="5591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隧道技术</a:t>
            </a:r>
            <a:endParaRPr lang="zh-CN" altLang="en-US" sz="2400" b="1">
              <a:ea typeface="黑体" panose="02010609060101010101" pitchFamily="49" charset="-122"/>
            </a:endParaRPr>
          </a:p>
        </p:txBody>
      </p:sp>
      <p:sp>
        <p:nvSpPr>
          <p:cNvPr id="1244242"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8FF613-F9BE-4A99-AF78-347057981AB3}" type="slidenum">
              <a:rPr lang="zh-CN" altLang="en-US" smtClean="0"/>
              <a:pPr eaLnBrk="1" hangingPunct="1"/>
              <a:t>39</a:t>
            </a:fld>
            <a:endParaRPr lang="en-US" altLang="zh-CN" smtClean="0"/>
          </a:p>
        </p:txBody>
      </p:sp>
      <p:sp>
        <p:nvSpPr>
          <p:cNvPr id="1244243"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450866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5739"/>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nodeType="afterEffect">
                                  <p:stCondLst>
                                    <p:cond delay="500"/>
                                  </p:stCondLst>
                                  <p:childTnLst>
                                    <p:anim calcmode="discrete" valueType="str">
                                      <p:cBhvr>
                                        <p:cTn id="9" dur="1000" fill="hold"/>
                                        <p:tgtEl>
                                          <p:spTgt spid="625666"/>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3501"/>
                            </p:stCondLst>
                            <p:childTnLst>
                              <p:par>
                                <p:cTn id="11" presetID="1" presetClass="entr" presetSubtype="0" fill="hold" grpId="0" nodeType="afterEffect">
                                  <p:stCondLst>
                                    <p:cond delay="500"/>
                                  </p:stCondLst>
                                  <p:childTnLst>
                                    <p:set>
                                      <p:cBhvr>
                                        <p:cTn id="12" dur="1" fill="hold">
                                          <p:stCondLst>
                                            <p:cond delay="0"/>
                                          </p:stCondLst>
                                        </p:cTn>
                                        <p:tgtEl>
                                          <p:spTgt spid="625740"/>
                                        </p:tgtEl>
                                        <p:attrNameLst>
                                          <p:attrName>style.visibility</p:attrName>
                                        </p:attrNameLst>
                                      </p:cBhvr>
                                      <p:to>
                                        <p:strVal val="visible"/>
                                      </p:to>
                                    </p:set>
                                  </p:childTnLst>
                                </p:cTn>
                              </p:par>
                            </p:childTnLst>
                          </p:cTn>
                        </p:par>
                        <p:par>
                          <p:cTn id="13" fill="hold" nodeType="afterGroup">
                            <p:stCondLst>
                              <p:cond delay="4002"/>
                            </p:stCondLst>
                            <p:childTnLst>
                              <p:par>
                                <p:cTn id="14" presetID="35" presetClass="emph" presetSubtype="0" repeatCount="3000" fill="hold" nodeType="afterEffect">
                                  <p:stCondLst>
                                    <p:cond delay="500"/>
                                  </p:stCondLst>
                                  <p:childTnLst>
                                    <p:anim calcmode="discrete" valueType="str">
                                      <p:cBhvr>
                                        <p:cTn id="15" dur="1000" fill="hold"/>
                                        <p:tgtEl>
                                          <p:spTgt spid="625729"/>
                                        </p:tgtEl>
                                        <p:attrNameLst>
                                          <p:attrName>style.visibility</p:attrName>
                                        </p:attrNameLst>
                                      </p:cBhvr>
                                      <p:tavLst>
                                        <p:tav tm="0">
                                          <p:val>
                                            <p:strVal val="hidden"/>
                                          </p:val>
                                        </p:tav>
                                        <p:tav tm="50000">
                                          <p:val>
                                            <p:strVal val="visible"/>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25741"/>
                                        </p:tgtEl>
                                        <p:attrNameLst>
                                          <p:attrName>style.visibility</p:attrName>
                                        </p:attrNameLst>
                                      </p:cBhvr>
                                      <p:to>
                                        <p:strVal val="visible"/>
                                      </p:to>
                                    </p:set>
                                  </p:childTnLst>
                                </p:cTn>
                              </p:par>
                            </p:childTnLst>
                          </p:cTn>
                        </p:par>
                        <p:par>
                          <p:cTn id="20" fill="hold" nodeType="afterGroup">
                            <p:stCondLst>
                              <p:cond delay="1"/>
                            </p:stCondLst>
                            <p:childTnLst>
                              <p:par>
                                <p:cTn id="21" presetID="35" presetClass="emph" presetSubtype="0" repeatCount="3000" fill="hold" nodeType="afterEffect">
                                  <p:stCondLst>
                                    <p:cond delay="500"/>
                                  </p:stCondLst>
                                  <p:childTnLst>
                                    <p:anim calcmode="discrete" valueType="str">
                                      <p:cBhvr>
                                        <p:cTn id="22" dur="1000" fill="hold"/>
                                        <p:tgtEl>
                                          <p:spTgt spid="62572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739" grpId="0" animBg="1"/>
      <p:bldP spid="625740" grpId="0" animBg="1"/>
      <p:bldP spid="62574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6690" name="Group 2"/>
          <p:cNvGrpSpPr>
            <a:grpSpLocks/>
          </p:cNvGrpSpPr>
          <p:nvPr/>
        </p:nvGrpSpPr>
        <p:grpSpPr bwMode="auto">
          <a:xfrm>
            <a:off x="350838" y="1552575"/>
            <a:ext cx="1666875" cy="1789113"/>
            <a:chOff x="87" y="1384"/>
            <a:chExt cx="969" cy="1127"/>
          </a:xfrm>
        </p:grpSpPr>
        <p:sp>
          <p:nvSpPr>
            <p:cNvPr id="1246210" name="Line 3"/>
            <p:cNvSpPr>
              <a:spLocks noChangeShapeType="1"/>
            </p:cNvSpPr>
            <p:nvPr/>
          </p:nvSpPr>
          <p:spPr bwMode="auto">
            <a:xfrm flipV="1">
              <a:off x="816" y="2248"/>
              <a:ext cx="240"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11" name="Line 4"/>
            <p:cNvSpPr>
              <a:spLocks noChangeShapeType="1"/>
            </p:cNvSpPr>
            <p:nvPr/>
          </p:nvSpPr>
          <p:spPr bwMode="auto">
            <a:xfrm>
              <a:off x="624" y="1576"/>
              <a:ext cx="240" cy="144"/>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12" name="Line 5"/>
            <p:cNvSpPr>
              <a:spLocks noChangeShapeType="1"/>
            </p:cNvSpPr>
            <p:nvPr/>
          </p:nvSpPr>
          <p:spPr bwMode="auto">
            <a:xfrm flipV="1">
              <a:off x="432" y="1967"/>
              <a:ext cx="28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6213" name="Picture 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1823"/>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214" name="Text Box 7"/>
            <p:cNvSpPr txBox="1">
              <a:spLocks noChangeArrowheads="1"/>
            </p:cNvSpPr>
            <p:nvPr/>
          </p:nvSpPr>
          <p:spPr bwMode="auto">
            <a:xfrm>
              <a:off x="113" y="1797"/>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6215" name="Text Box 8"/>
            <p:cNvSpPr txBox="1">
              <a:spLocks noChangeArrowheads="1"/>
            </p:cNvSpPr>
            <p:nvPr/>
          </p:nvSpPr>
          <p:spPr bwMode="auto">
            <a:xfrm>
              <a:off x="87" y="2031"/>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pic>
          <p:nvPicPr>
            <p:cNvPr id="1246216" name="Picture 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13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217" name="Picture 1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229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46218" name="Group 12"/>
          <p:cNvGrpSpPr>
            <a:grpSpLocks/>
          </p:cNvGrpSpPr>
          <p:nvPr/>
        </p:nvGrpSpPr>
        <p:grpSpPr bwMode="auto">
          <a:xfrm>
            <a:off x="1255713" y="1739900"/>
            <a:ext cx="1636712" cy="1225550"/>
            <a:chOff x="385" y="2795"/>
            <a:chExt cx="1769" cy="816"/>
          </a:xfrm>
        </p:grpSpPr>
        <p:sp>
          <p:nvSpPr>
            <p:cNvPr id="1246219" name="Oval 13"/>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0" name="Oval 14"/>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1" name="Oval 15"/>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2" name="Oval 16"/>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3" name="Oval 17"/>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4" name="Oval 18"/>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5" name="Oval 19"/>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6" name="Oval 20"/>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7" name="Oval 21"/>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8" name="Oval 22"/>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29" name="Oval 23"/>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0" name="Oval 24"/>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1" name="Oval 25"/>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2" name="Oval 26"/>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3" name="Oval 27"/>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4" name="Oval 28"/>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5" name="Freeform 29"/>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1246236" name="Group 30"/>
          <p:cNvGrpSpPr>
            <a:grpSpLocks/>
          </p:cNvGrpSpPr>
          <p:nvPr/>
        </p:nvGrpSpPr>
        <p:grpSpPr bwMode="auto">
          <a:xfrm>
            <a:off x="6948488" y="1670050"/>
            <a:ext cx="1636712" cy="1225550"/>
            <a:chOff x="385" y="2795"/>
            <a:chExt cx="1769" cy="816"/>
          </a:xfrm>
        </p:grpSpPr>
        <p:sp>
          <p:nvSpPr>
            <p:cNvPr id="1246237" name="Oval 3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8" name="Oval 3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39" name="Oval 3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0" name="Oval 3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1" name="Oval 3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2" name="Oval 3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3" name="Oval 3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4" name="Oval 3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5" name="Oval 3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6" name="Oval 4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7" name="Oval 4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8" name="Oval 4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49" name="Oval 4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0" name="Oval 4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1" name="Oval 4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2" name="Oval 4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53" name="Freeform 4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graphicFrame>
        <p:nvGraphicFramePr>
          <p:cNvPr id="1246254" name="Object 48"/>
          <p:cNvGraphicFramePr>
            <a:graphicFrameLocks noChangeAspect="1"/>
          </p:cNvGraphicFramePr>
          <p:nvPr/>
        </p:nvGraphicFramePr>
        <p:xfrm>
          <a:off x="3586163" y="1577975"/>
          <a:ext cx="2971800" cy="1703388"/>
        </p:xfrm>
        <a:graphic>
          <a:graphicData uri="http://schemas.openxmlformats.org/presentationml/2006/ole">
            <mc:AlternateContent xmlns:mc="http://schemas.openxmlformats.org/markup-compatibility/2006">
              <mc:Choice xmlns:v="urn:schemas-microsoft-com:vml" Requires="v">
                <p:oleObj spid="_x0000_s2072" r:id="rId5" imgW="1687068" imgH="964692" progId="">
                  <p:embed/>
                </p:oleObj>
              </mc:Choice>
              <mc:Fallback>
                <p:oleObj r:id="rId5" imgW="1687068" imgH="964692" progId="">
                  <p:embed/>
                  <p:pic>
                    <p:nvPicPr>
                      <p:cNvPr id="1246254"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6163" y="1577975"/>
                        <a:ext cx="2971800" cy="170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46255" name="Picture 4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646863" y="2112963"/>
            <a:ext cx="5651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256" name="Picture 5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727325" y="2114550"/>
            <a:ext cx="5651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257" name="Text Box 51"/>
          <p:cNvSpPr txBox="1">
            <a:spLocks noChangeArrowheads="1"/>
          </p:cNvSpPr>
          <p:nvPr/>
        </p:nvSpPr>
        <p:spPr bwMode="auto">
          <a:xfrm>
            <a:off x="1628775" y="1989138"/>
            <a:ext cx="9477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A</a:t>
            </a:r>
          </a:p>
          <a:p>
            <a:pPr algn="ct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6258" name="AutoShape 52"/>
          <p:cNvSpPr>
            <a:spLocks noChangeArrowheads="1"/>
          </p:cNvSpPr>
          <p:nvPr/>
        </p:nvSpPr>
        <p:spPr bwMode="auto">
          <a:xfrm rot="-5400000">
            <a:off x="4747418" y="881857"/>
            <a:ext cx="360363" cy="2724150"/>
          </a:xfrm>
          <a:prstGeom prst="can">
            <a:avLst>
              <a:gd name="adj" fmla="val 25513"/>
            </a:avLst>
          </a:prstGeom>
          <a:gradFill rotWithShape="1">
            <a:gsLst>
              <a:gs pos="0">
                <a:srgbClr val="185E76"/>
              </a:gs>
              <a:gs pos="50000">
                <a:srgbClr val="33CCFF"/>
              </a:gs>
              <a:gs pos="100000">
                <a:srgbClr val="185E76"/>
              </a:gs>
            </a:gsLst>
            <a:lin ang="0" scaled="1"/>
          </a:gradFill>
          <a:ln w="9525">
            <a:solidFill>
              <a:schemeClr val="tx1"/>
            </a:solidFill>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6259" name="Text Box 53"/>
          <p:cNvSpPr txBox="1">
            <a:spLocks noChangeArrowheads="1"/>
          </p:cNvSpPr>
          <p:nvPr/>
        </p:nvSpPr>
        <p:spPr bwMode="auto">
          <a:xfrm>
            <a:off x="4592638" y="2566988"/>
            <a:ext cx="958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互联网</a:t>
            </a:r>
          </a:p>
        </p:txBody>
      </p:sp>
      <p:sp>
        <p:nvSpPr>
          <p:cNvPr id="1246260" name="Text Box 54"/>
          <p:cNvSpPr txBox="1">
            <a:spLocks noChangeArrowheads="1"/>
          </p:cNvSpPr>
          <p:nvPr/>
        </p:nvSpPr>
        <p:spPr bwMode="auto">
          <a:xfrm>
            <a:off x="7235825" y="1916113"/>
            <a:ext cx="9572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B</a:t>
            </a:r>
          </a:p>
          <a:p>
            <a:pPr algn="ct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6261" name="Text Box 55"/>
          <p:cNvSpPr txBox="1">
            <a:spLocks noChangeArrowheads="1"/>
          </p:cNvSpPr>
          <p:nvPr/>
        </p:nvSpPr>
        <p:spPr bwMode="auto">
          <a:xfrm>
            <a:off x="2879725" y="2417763"/>
            <a:ext cx="46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6262" name="Text Box 56"/>
          <p:cNvSpPr txBox="1">
            <a:spLocks noChangeArrowheads="1"/>
          </p:cNvSpPr>
          <p:nvPr/>
        </p:nvSpPr>
        <p:spPr bwMode="auto">
          <a:xfrm>
            <a:off x="6653213" y="2346325"/>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6263" name="Text Box 57"/>
          <p:cNvSpPr txBox="1">
            <a:spLocks noChangeArrowheads="1"/>
          </p:cNvSpPr>
          <p:nvPr/>
        </p:nvSpPr>
        <p:spPr bwMode="auto">
          <a:xfrm>
            <a:off x="4692650" y="202088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chemeClr val="bg1"/>
                </a:solidFill>
                <a:ea typeface="黑体" panose="02010609060101010101" pitchFamily="49" charset="-122"/>
              </a:rPr>
              <a:t>隧道</a:t>
            </a:r>
          </a:p>
        </p:txBody>
      </p:sp>
      <p:sp>
        <p:nvSpPr>
          <p:cNvPr id="1246264" name="Line 58"/>
          <p:cNvSpPr>
            <a:spLocks noChangeShapeType="1"/>
          </p:cNvSpPr>
          <p:nvPr/>
        </p:nvSpPr>
        <p:spPr bwMode="auto">
          <a:xfrm>
            <a:off x="3235325" y="2238375"/>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65" name="Line 59"/>
          <p:cNvSpPr>
            <a:spLocks noChangeShapeType="1"/>
          </p:cNvSpPr>
          <p:nvPr/>
        </p:nvSpPr>
        <p:spPr bwMode="auto">
          <a:xfrm>
            <a:off x="6289675" y="2238375"/>
            <a:ext cx="412750" cy="0"/>
          </a:xfrm>
          <a:prstGeom prst="line">
            <a:avLst/>
          </a:prstGeom>
          <a:noFill/>
          <a:ln w="3810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626748" name="Group 60"/>
          <p:cNvGrpSpPr>
            <a:grpSpLocks/>
          </p:cNvGrpSpPr>
          <p:nvPr/>
        </p:nvGrpSpPr>
        <p:grpSpPr bwMode="auto">
          <a:xfrm>
            <a:off x="2627313" y="1595438"/>
            <a:ext cx="4587875" cy="642937"/>
            <a:chOff x="1410" y="1411"/>
            <a:chExt cx="2668" cy="405"/>
          </a:xfrm>
        </p:grpSpPr>
        <p:sp>
          <p:nvSpPr>
            <p:cNvPr id="1246267" name="Text Box 61"/>
            <p:cNvSpPr txBox="1">
              <a:spLocks noChangeArrowheads="1"/>
            </p:cNvSpPr>
            <p:nvPr/>
          </p:nvSpPr>
          <p:spPr bwMode="auto">
            <a:xfrm>
              <a:off x="1410" y="1411"/>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6268" name="Line 62"/>
            <p:cNvSpPr>
              <a:spLocks noChangeShapeType="1"/>
            </p:cNvSpPr>
            <p:nvPr/>
          </p:nvSpPr>
          <p:spPr bwMode="auto">
            <a:xfrm>
              <a:off x="1837" y="1616"/>
              <a:ext cx="23"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69" name="Text Box 63"/>
            <p:cNvSpPr txBox="1">
              <a:spLocks noChangeArrowheads="1"/>
            </p:cNvSpPr>
            <p:nvPr/>
          </p:nvSpPr>
          <p:spPr bwMode="auto">
            <a:xfrm>
              <a:off x="3350" y="1430"/>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194.4.5.6</a:t>
              </a:r>
            </a:p>
          </p:txBody>
        </p:sp>
        <p:sp>
          <p:nvSpPr>
            <p:cNvPr id="1246270" name="Line 64"/>
            <p:cNvSpPr>
              <a:spLocks noChangeShapeType="1"/>
            </p:cNvSpPr>
            <p:nvPr/>
          </p:nvSpPr>
          <p:spPr bwMode="auto">
            <a:xfrm flipH="1">
              <a:off x="3636" y="1616"/>
              <a:ext cx="60" cy="200"/>
            </a:xfrm>
            <a:prstGeom prst="line">
              <a:avLst/>
            </a:prstGeom>
            <a:noFill/>
            <a:ln w="38100">
              <a:solidFill>
                <a:srgbClr val="0000FF"/>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grpSp>
        <p:nvGrpSpPr>
          <p:cNvPr id="626753" name="Group 65"/>
          <p:cNvGrpSpPr>
            <a:grpSpLocks/>
          </p:cNvGrpSpPr>
          <p:nvPr/>
        </p:nvGrpSpPr>
        <p:grpSpPr bwMode="auto">
          <a:xfrm>
            <a:off x="8208963" y="1476375"/>
            <a:ext cx="1506537" cy="1712913"/>
            <a:chOff x="4656" y="1336"/>
            <a:chExt cx="876" cy="1079"/>
          </a:xfrm>
        </p:grpSpPr>
        <p:sp>
          <p:nvSpPr>
            <p:cNvPr id="1246272" name="Line 66"/>
            <p:cNvSpPr>
              <a:spLocks noChangeShapeType="1"/>
            </p:cNvSpPr>
            <p:nvPr/>
          </p:nvSpPr>
          <p:spPr bwMode="auto">
            <a:xfrm flipH="1" flipV="1">
              <a:off x="4800" y="1912"/>
              <a:ext cx="348" cy="0"/>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73" name="Line 67"/>
            <p:cNvSpPr>
              <a:spLocks noChangeShapeType="1"/>
            </p:cNvSpPr>
            <p:nvPr/>
          </p:nvSpPr>
          <p:spPr bwMode="auto">
            <a:xfrm flipH="1" flipV="1">
              <a:off x="4656" y="2152"/>
              <a:ext cx="336" cy="192"/>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74" name="Line 68"/>
            <p:cNvSpPr>
              <a:spLocks noChangeShapeType="1"/>
            </p:cNvSpPr>
            <p:nvPr/>
          </p:nvSpPr>
          <p:spPr bwMode="auto">
            <a:xfrm flipH="1">
              <a:off x="4800" y="1528"/>
              <a:ext cx="240" cy="96"/>
            </a:xfrm>
            <a:prstGeom prst="line">
              <a:avLst/>
            </a:prstGeom>
            <a:noFill/>
            <a:ln w="19050">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pic>
          <p:nvPicPr>
            <p:cNvPr id="1246275"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17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276" name="Text Box 70"/>
            <p:cNvSpPr txBox="1">
              <a:spLocks noChangeArrowheads="1"/>
            </p:cNvSpPr>
            <p:nvPr/>
          </p:nvSpPr>
          <p:spPr bwMode="auto">
            <a:xfrm>
              <a:off x="5284" y="1729"/>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6277" name="Text Box 71"/>
            <p:cNvSpPr txBox="1">
              <a:spLocks noChangeArrowheads="1"/>
            </p:cNvSpPr>
            <p:nvPr/>
          </p:nvSpPr>
          <p:spPr bwMode="auto">
            <a:xfrm>
              <a:off x="4887" y="195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6278" name="Picture 7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1336"/>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279" name="Picture 7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220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46280" name="Text Box 74"/>
          <p:cNvSpPr txBox="1">
            <a:spLocks noChangeArrowheads="1"/>
          </p:cNvSpPr>
          <p:nvPr/>
        </p:nvSpPr>
        <p:spPr bwMode="auto">
          <a:xfrm>
            <a:off x="4135438" y="3182938"/>
            <a:ext cx="2041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C00000"/>
                </a:solidFill>
                <a:ea typeface="黑体" panose="02010609060101010101" pitchFamily="49" charset="-122"/>
              </a:rPr>
              <a:t>使用隧道技术</a:t>
            </a:r>
          </a:p>
        </p:txBody>
      </p:sp>
      <p:sp>
        <p:nvSpPr>
          <p:cNvPr id="1246281" name="AutoShape 75"/>
          <p:cNvSpPr>
            <a:spLocks noChangeArrowheads="1"/>
          </p:cNvSpPr>
          <p:nvPr/>
        </p:nvSpPr>
        <p:spPr bwMode="auto">
          <a:xfrm>
            <a:off x="6246813" y="1108075"/>
            <a:ext cx="495300" cy="152400"/>
          </a:xfrm>
          <a:prstGeom prst="rightArrow">
            <a:avLst>
              <a:gd name="adj1" fmla="val 50000"/>
              <a:gd name="adj2" fmla="val 74991"/>
            </a:avLst>
          </a:prstGeom>
          <a:solidFill>
            <a:schemeClr val="hlink"/>
          </a:solidFill>
          <a:ln w="9525">
            <a:solidFill>
              <a:schemeClr val="tx1"/>
            </a:solidFill>
            <a:miter lim="800000"/>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6282" name="Rectangle 76"/>
          <p:cNvSpPr>
            <a:spLocks noChangeArrowheads="1"/>
          </p:cNvSpPr>
          <p:nvPr/>
        </p:nvSpPr>
        <p:spPr bwMode="auto">
          <a:xfrm>
            <a:off x="1020763" y="333375"/>
            <a:ext cx="3665537" cy="4349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C00000"/>
                </a:solidFill>
                <a:ea typeface="黑体" panose="02010609060101010101" pitchFamily="49" charset="-122"/>
              </a:rPr>
              <a:t>加密的从</a:t>
            </a:r>
            <a:r>
              <a:rPr lang="zh-CN" altLang="en-US" sz="1200" b="1">
                <a:solidFill>
                  <a:srgbClr val="C00000"/>
                </a:solidFill>
                <a:ea typeface="黑体" panose="02010609060101010101" pitchFamily="49" charset="-122"/>
              </a:rPr>
              <a:t> </a:t>
            </a:r>
            <a:r>
              <a:rPr lang="en-US" altLang="zh-CN" sz="2000" b="1">
                <a:solidFill>
                  <a:srgbClr val="C00000"/>
                </a:solidFill>
                <a:ea typeface="黑体" panose="02010609060101010101" pitchFamily="49" charset="-122"/>
              </a:rPr>
              <a:t>X</a:t>
            </a:r>
            <a:r>
              <a:rPr lang="en-US" altLang="zh-CN" sz="1000" b="1">
                <a:solidFill>
                  <a:srgbClr val="C00000"/>
                </a:solidFill>
                <a:ea typeface="黑体" panose="02010609060101010101" pitchFamily="49" charset="-122"/>
              </a:rPr>
              <a:t> </a:t>
            </a:r>
            <a:r>
              <a:rPr lang="zh-CN" altLang="en-US" sz="2000" b="1">
                <a:solidFill>
                  <a:srgbClr val="C00000"/>
                </a:solidFill>
                <a:ea typeface="黑体" panose="02010609060101010101" pitchFamily="49" charset="-122"/>
              </a:rPr>
              <a:t>到</a:t>
            </a:r>
            <a:r>
              <a:rPr lang="zh-CN" altLang="en-US" sz="1000" b="1">
                <a:solidFill>
                  <a:srgbClr val="C00000"/>
                </a:solidFill>
                <a:ea typeface="黑体" panose="02010609060101010101" pitchFamily="49" charset="-122"/>
              </a:rPr>
              <a:t> </a:t>
            </a:r>
            <a:r>
              <a:rPr lang="en-US" altLang="zh-CN" sz="2000" b="1">
                <a:solidFill>
                  <a:srgbClr val="C00000"/>
                </a:solidFill>
                <a:ea typeface="黑体" panose="02010609060101010101" pitchFamily="49" charset="-122"/>
              </a:rPr>
              <a:t>Y</a:t>
            </a:r>
            <a:r>
              <a:rPr lang="en-US" altLang="zh-CN" sz="900" b="1">
                <a:solidFill>
                  <a:srgbClr val="C00000"/>
                </a:solidFill>
                <a:ea typeface="黑体" panose="02010609060101010101" pitchFamily="49" charset="-122"/>
              </a:rPr>
              <a:t> </a:t>
            </a:r>
            <a:r>
              <a:rPr lang="zh-CN" altLang="en-US" sz="2000" b="1">
                <a:solidFill>
                  <a:srgbClr val="C00000"/>
                </a:solidFill>
                <a:ea typeface="黑体" panose="02010609060101010101" pitchFamily="49" charset="-122"/>
              </a:rPr>
              <a:t>的内部数据报</a:t>
            </a:r>
          </a:p>
        </p:txBody>
      </p:sp>
      <p:sp>
        <p:nvSpPr>
          <p:cNvPr id="1246283" name="Rectangle 77"/>
          <p:cNvSpPr>
            <a:spLocks noChangeArrowheads="1"/>
          </p:cNvSpPr>
          <p:nvPr/>
        </p:nvSpPr>
        <p:spPr bwMode="auto">
          <a:xfrm>
            <a:off x="1020763" y="984250"/>
            <a:ext cx="3708400" cy="396875"/>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99"/>
                </a:solidFill>
                <a:ea typeface="黑体" panose="02010609060101010101" pitchFamily="49" charset="-122"/>
              </a:rPr>
              <a:t>外部数据报的数据部分</a:t>
            </a:r>
          </a:p>
        </p:txBody>
      </p:sp>
      <p:sp>
        <p:nvSpPr>
          <p:cNvPr id="1246284" name="AutoShape 78"/>
          <p:cNvSpPr>
            <a:spLocks noChangeArrowheads="1"/>
          </p:cNvSpPr>
          <p:nvPr/>
        </p:nvSpPr>
        <p:spPr bwMode="auto">
          <a:xfrm>
            <a:off x="3751263" y="638175"/>
            <a:ext cx="165100" cy="457200"/>
          </a:xfrm>
          <a:prstGeom prst="downArrow">
            <a:avLst>
              <a:gd name="adj1" fmla="val 50000"/>
              <a:gd name="adj2" fmla="val 75000"/>
            </a:avLst>
          </a:prstGeom>
          <a:solidFill>
            <a:schemeClr val="bg1"/>
          </a:solidFill>
          <a:ln w="9525">
            <a:solidFill>
              <a:schemeClr val="tx1"/>
            </a:solidFill>
            <a:miter lim="800000"/>
            <a:headEnd/>
            <a:tailEnd/>
          </a:ln>
        </p:spPr>
        <p:txBody>
          <a:bodyPr vert="eaVert" wrap="none" anchor="ctr"/>
          <a:lstStyle/>
          <a:p>
            <a:pPr eaLnBrk="0" hangingPunct="0"/>
            <a:endParaRPr lang="zh-CN" altLang="en-US" b="1">
              <a:solidFill>
                <a:srgbClr val="000099"/>
              </a:solidFill>
              <a:ea typeface="黑体" panose="02010609060101010101" pitchFamily="49" charset="-122"/>
            </a:endParaRPr>
          </a:p>
        </p:txBody>
      </p:sp>
      <p:sp>
        <p:nvSpPr>
          <p:cNvPr id="1246285" name="Text Box 79"/>
          <p:cNvSpPr txBox="1">
            <a:spLocks noChangeArrowheads="1"/>
          </p:cNvSpPr>
          <p:nvPr/>
        </p:nvSpPr>
        <p:spPr bwMode="auto">
          <a:xfrm>
            <a:off x="6105525" y="188913"/>
            <a:ext cx="2643188" cy="64611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algn="r" eaLnBrk="0" hangingPunct="0">
              <a:lnSpc>
                <a:spcPct val="90000"/>
              </a:lnSpc>
            </a:pPr>
            <a:r>
              <a:rPr lang="zh-CN" altLang="en-US" sz="2000" b="1">
                <a:solidFill>
                  <a:srgbClr val="000099"/>
                </a:solidFill>
                <a:ea typeface="黑体" panose="02010609060101010101" pitchFamily="49" charset="-122"/>
              </a:rPr>
              <a:t>源地址：</a:t>
            </a:r>
            <a:r>
              <a:rPr lang="en-US" altLang="zh-CN" sz="2000" b="1">
                <a:solidFill>
                  <a:srgbClr val="000099"/>
                </a:solidFill>
                <a:ea typeface="黑体" panose="02010609060101010101" pitchFamily="49" charset="-122"/>
              </a:rPr>
              <a:t>125.1.2.3</a:t>
            </a:r>
          </a:p>
          <a:p>
            <a:pPr algn="r" eaLnBrk="0" hangingPunct="0">
              <a:lnSpc>
                <a:spcPct val="90000"/>
              </a:lnSpc>
            </a:pPr>
            <a:r>
              <a:rPr lang="zh-CN" altLang="en-US" sz="2000" b="1">
                <a:solidFill>
                  <a:srgbClr val="000099"/>
                </a:solidFill>
                <a:ea typeface="黑体" panose="02010609060101010101" pitchFamily="49" charset="-122"/>
              </a:rPr>
              <a:t>目的地址：</a:t>
            </a:r>
            <a:r>
              <a:rPr lang="en-US" altLang="zh-CN" sz="2000" b="1">
                <a:solidFill>
                  <a:srgbClr val="000099"/>
                </a:solidFill>
                <a:ea typeface="黑体" panose="02010609060101010101" pitchFamily="49" charset="-122"/>
              </a:rPr>
              <a:t>194.4.5.6</a:t>
            </a:r>
          </a:p>
        </p:txBody>
      </p:sp>
      <p:sp>
        <p:nvSpPr>
          <p:cNvPr id="1246286" name="Freeform 80"/>
          <p:cNvSpPr>
            <a:spLocks noChangeArrowheads="1"/>
          </p:cNvSpPr>
          <p:nvPr/>
        </p:nvSpPr>
        <p:spPr bwMode="auto">
          <a:xfrm>
            <a:off x="4054475" y="1489075"/>
            <a:ext cx="501650" cy="762000"/>
          </a:xfrm>
          <a:custGeom>
            <a:avLst/>
            <a:gdLst>
              <a:gd name="T0" fmla="*/ 0 w 292"/>
              <a:gd name="T1" fmla="*/ 0 h 584"/>
              <a:gd name="T2" fmla="*/ 4 w 292"/>
              <a:gd name="T3" fmla="*/ 126 h 584"/>
              <a:gd name="T4" fmla="*/ 22 w 292"/>
              <a:gd name="T5" fmla="*/ 282 h 584"/>
              <a:gd name="T6" fmla="*/ 46 w 292"/>
              <a:gd name="T7" fmla="*/ 390 h 584"/>
              <a:gd name="T8" fmla="*/ 96 w 292"/>
              <a:gd name="T9" fmla="*/ 488 h 584"/>
              <a:gd name="T10" fmla="*/ 184 w 292"/>
              <a:gd name="T11" fmla="*/ 560 h 584"/>
              <a:gd name="T12" fmla="*/ 292 w 292"/>
              <a:gd name="T13" fmla="*/ 584 h 584"/>
            </a:gdLst>
            <a:ahLst/>
            <a:cxnLst>
              <a:cxn ang="0">
                <a:pos x="T0" y="T1"/>
              </a:cxn>
              <a:cxn ang="0">
                <a:pos x="T2" y="T3"/>
              </a:cxn>
              <a:cxn ang="0">
                <a:pos x="T4" y="T5"/>
              </a:cxn>
              <a:cxn ang="0">
                <a:pos x="T6" y="T7"/>
              </a:cxn>
              <a:cxn ang="0">
                <a:pos x="T8" y="T9"/>
              </a:cxn>
              <a:cxn ang="0">
                <a:pos x="T10" y="T11"/>
              </a:cxn>
              <a:cxn ang="0">
                <a:pos x="T12" y="T13"/>
              </a:cxn>
            </a:cxnLst>
            <a:rect l="0" t="0" r="r" b="b"/>
            <a:pathLst>
              <a:path w="292" h="584">
                <a:moveTo>
                  <a:pt x="0" y="0"/>
                </a:moveTo>
                <a:cubicBezTo>
                  <a:pt x="1" y="21"/>
                  <a:pt x="0" y="79"/>
                  <a:pt x="4" y="126"/>
                </a:cubicBezTo>
                <a:cubicBezTo>
                  <a:pt x="8" y="173"/>
                  <a:pt x="15" y="238"/>
                  <a:pt x="22" y="282"/>
                </a:cubicBezTo>
                <a:cubicBezTo>
                  <a:pt x="29" y="326"/>
                  <a:pt x="34" y="356"/>
                  <a:pt x="46" y="390"/>
                </a:cubicBezTo>
                <a:cubicBezTo>
                  <a:pt x="58" y="424"/>
                  <a:pt x="73" y="460"/>
                  <a:pt x="96" y="488"/>
                </a:cubicBezTo>
                <a:cubicBezTo>
                  <a:pt x="119" y="516"/>
                  <a:pt x="151" y="544"/>
                  <a:pt x="184" y="560"/>
                </a:cubicBezTo>
                <a:cubicBezTo>
                  <a:pt x="217" y="576"/>
                  <a:pt x="270" y="579"/>
                  <a:pt x="292" y="584"/>
                </a:cubicBezTo>
              </a:path>
            </a:pathLst>
          </a:custGeom>
          <a:noFill/>
          <a:ln w="76200">
            <a:solidFill>
              <a:srgbClr val="FF0000"/>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87" name="Rectangle 81"/>
          <p:cNvSpPr>
            <a:spLocks noChangeArrowheads="1"/>
          </p:cNvSpPr>
          <p:nvPr/>
        </p:nvSpPr>
        <p:spPr bwMode="auto">
          <a:xfrm>
            <a:off x="4686300" y="984250"/>
            <a:ext cx="1560513" cy="396875"/>
          </a:xfrm>
          <a:prstGeom prst="rect">
            <a:avLst/>
          </a:prstGeom>
          <a:solidFill>
            <a:srgbClr val="FFCCFF"/>
          </a:solidFill>
          <a:ln w="9525">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zh-CN" altLang="en-US" sz="2000" b="1">
                <a:solidFill>
                  <a:srgbClr val="000099"/>
                </a:solidFill>
                <a:ea typeface="黑体" panose="02010609060101010101" pitchFamily="49" charset="-122"/>
              </a:rPr>
              <a:t>数据报首部</a:t>
            </a:r>
          </a:p>
        </p:txBody>
      </p:sp>
      <p:sp>
        <p:nvSpPr>
          <p:cNvPr id="1246288" name="Line 82"/>
          <p:cNvSpPr>
            <a:spLocks noChangeShapeType="1"/>
          </p:cNvSpPr>
          <p:nvPr/>
        </p:nvSpPr>
        <p:spPr bwMode="auto">
          <a:xfrm flipH="1">
            <a:off x="5637213" y="768350"/>
            <a:ext cx="468312" cy="28733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89" name="Line 83"/>
          <p:cNvSpPr>
            <a:spLocks noChangeShapeType="1"/>
          </p:cNvSpPr>
          <p:nvPr/>
        </p:nvSpPr>
        <p:spPr bwMode="auto">
          <a:xfrm>
            <a:off x="1020763" y="1489075"/>
            <a:ext cx="5226050" cy="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6290" name="Group 84"/>
          <p:cNvGrpSpPr>
            <a:grpSpLocks/>
          </p:cNvGrpSpPr>
          <p:nvPr/>
        </p:nvGrpSpPr>
        <p:grpSpPr bwMode="auto">
          <a:xfrm>
            <a:off x="350838" y="3813175"/>
            <a:ext cx="9426575" cy="2057400"/>
            <a:chOff x="87" y="2872"/>
            <a:chExt cx="5481" cy="1296"/>
          </a:xfrm>
        </p:grpSpPr>
        <p:sp>
          <p:nvSpPr>
            <p:cNvPr id="1246291" name="AutoShape 85"/>
            <p:cNvSpPr>
              <a:spLocks noChangeArrowheads="1"/>
            </p:cNvSpPr>
            <p:nvPr/>
          </p:nvSpPr>
          <p:spPr bwMode="auto">
            <a:xfrm>
              <a:off x="96" y="2872"/>
              <a:ext cx="5472" cy="1296"/>
            </a:xfrm>
            <a:prstGeom prst="roundRect">
              <a:avLst>
                <a:gd name="adj" fmla="val 16667"/>
              </a:avLst>
            </a:prstGeom>
            <a:solidFill>
              <a:srgbClr val="FF99FF"/>
            </a:solidFill>
            <a:ln w="9525" cap="rnd">
              <a:solidFill>
                <a:schemeClr val="tx1"/>
              </a:solidFill>
              <a:prstDash val="sysDot"/>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6292" name="Line 86"/>
            <p:cNvSpPr>
              <a:spLocks noChangeShapeType="1"/>
            </p:cNvSpPr>
            <p:nvPr/>
          </p:nvSpPr>
          <p:spPr bwMode="auto">
            <a:xfrm>
              <a:off x="1764" y="3400"/>
              <a:ext cx="2076" cy="0"/>
            </a:xfrm>
            <a:prstGeom prst="line">
              <a:avLst/>
            </a:prstGeom>
            <a:noFill/>
            <a:ln w="571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93" name="Line 87"/>
            <p:cNvSpPr>
              <a:spLocks noChangeShapeType="1"/>
            </p:cNvSpPr>
            <p:nvPr/>
          </p:nvSpPr>
          <p:spPr bwMode="auto">
            <a:xfrm flipV="1">
              <a:off x="816" y="3832"/>
              <a:ext cx="24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94" name="Line 88"/>
            <p:cNvSpPr>
              <a:spLocks noChangeShapeType="1"/>
            </p:cNvSpPr>
            <p:nvPr/>
          </p:nvSpPr>
          <p:spPr bwMode="auto">
            <a:xfrm>
              <a:off x="624" y="3160"/>
              <a:ext cx="24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295" name="Line 89"/>
            <p:cNvSpPr>
              <a:spLocks noChangeShapeType="1"/>
            </p:cNvSpPr>
            <p:nvPr/>
          </p:nvSpPr>
          <p:spPr bwMode="auto">
            <a:xfrm flipV="1">
              <a:off x="432" y="3551"/>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6296" name="Group 90"/>
            <p:cNvGrpSpPr>
              <a:grpSpLocks/>
            </p:cNvGrpSpPr>
            <p:nvPr/>
          </p:nvGrpSpPr>
          <p:grpSpPr bwMode="auto">
            <a:xfrm>
              <a:off x="657" y="3091"/>
              <a:ext cx="952" cy="772"/>
              <a:chOff x="385" y="2795"/>
              <a:chExt cx="1769" cy="816"/>
            </a:xfrm>
          </p:grpSpPr>
          <p:sp>
            <p:nvSpPr>
              <p:cNvPr id="1246297" name="Oval 9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98" name="Oval 9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299" name="Oval 9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0" name="Oval 9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1" name="Oval 9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2" name="Oval 9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3" name="Oval 9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4" name="Oval 9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5" name="Oval 9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6" name="Oval 10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7" name="Oval 10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8" name="Oval 10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09" name="Oval 10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0" name="Oval 10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1" name="Oval 10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2" name="Oval 10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3" name="Freeform 10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246314" name="Line 108"/>
            <p:cNvSpPr>
              <a:spLocks noChangeShapeType="1"/>
            </p:cNvSpPr>
            <p:nvPr/>
          </p:nvSpPr>
          <p:spPr bwMode="auto">
            <a:xfrm flipH="1">
              <a:off x="4800" y="3112"/>
              <a:ext cx="240"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15" name="Line 109"/>
            <p:cNvSpPr>
              <a:spLocks noChangeShapeType="1"/>
            </p:cNvSpPr>
            <p:nvPr/>
          </p:nvSpPr>
          <p:spPr bwMode="auto">
            <a:xfrm flipH="1" flipV="1">
              <a:off x="4656" y="3736"/>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16" name="Line 110"/>
            <p:cNvSpPr>
              <a:spLocks noChangeShapeType="1"/>
            </p:cNvSpPr>
            <p:nvPr/>
          </p:nvSpPr>
          <p:spPr bwMode="auto">
            <a:xfrm flipH="1" flipV="1">
              <a:off x="4800" y="3496"/>
              <a:ext cx="34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6317" name="Group 111"/>
            <p:cNvGrpSpPr>
              <a:grpSpLocks/>
            </p:cNvGrpSpPr>
            <p:nvPr/>
          </p:nvGrpSpPr>
          <p:grpSpPr bwMode="auto">
            <a:xfrm>
              <a:off x="3969" y="3046"/>
              <a:ext cx="952" cy="772"/>
              <a:chOff x="385" y="2795"/>
              <a:chExt cx="1769" cy="816"/>
            </a:xfrm>
          </p:grpSpPr>
          <p:sp>
            <p:nvSpPr>
              <p:cNvPr id="1246318" name="Oval 112"/>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19" name="Oval 113"/>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0" name="Oval 114"/>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1" name="Oval 115"/>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2" name="Oval 116"/>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3" name="Oval 117"/>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4" name="Oval 118"/>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5" name="Oval 119"/>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6" name="Oval 120"/>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7" name="Oval 121"/>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8" name="Oval 122"/>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29" name="Oval 123"/>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0" name="Oval 124"/>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1" name="Oval 125"/>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2" name="Oval 126"/>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3" name="Oval 127"/>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6334" name="Freeform 128"/>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pic>
          <p:nvPicPr>
            <p:cNvPr id="1246335" name="Picture 12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48" y="3321"/>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36" name="Picture 1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469" y="3322"/>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37" name="Picture 1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3407"/>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338" name="Text Box 132"/>
            <p:cNvSpPr txBox="1">
              <a:spLocks noChangeArrowheads="1"/>
            </p:cNvSpPr>
            <p:nvPr/>
          </p:nvSpPr>
          <p:spPr bwMode="auto">
            <a:xfrm>
              <a:off x="864" y="3247"/>
              <a:ext cx="55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A</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pic>
          <p:nvPicPr>
            <p:cNvPr id="1246339" name="Picture 1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3352"/>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340" name="Text Box 134"/>
            <p:cNvSpPr txBox="1">
              <a:spLocks noChangeArrowheads="1"/>
            </p:cNvSpPr>
            <p:nvPr/>
          </p:nvSpPr>
          <p:spPr bwMode="auto">
            <a:xfrm>
              <a:off x="4174" y="3201"/>
              <a:ext cx="55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B</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6341" name="Text Box 135"/>
            <p:cNvSpPr txBox="1">
              <a:spLocks noChangeArrowheads="1"/>
            </p:cNvSpPr>
            <p:nvPr/>
          </p:nvSpPr>
          <p:spPr bwMode="auto">
            <a:xfrm>
              <a:off x="309" y="3176"/>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6342" name="Text Box 136"/>
            <p:cNvSpPr txBox="1">
              <a:spLocks noChangeArrowheads="1"/>
            </p:cNvSpPr>
            <p:nvPr/>
          </p:nvSpPr>
          <p:spPr bwMode="auto">
            <a:xfrm>
              <a:off x="5072" y="3128"/>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6343" name="Text Box 137"/>
            <p:cNvSpPr txBox="1">
              <a:spLocks noChangeArrowheads="1"/>
            </p:cNvSpPr>
            <p:nvPr/>
          </p:nvSpPr>
          <p:spPr bwMode="auto">
            <a:xfrm>
              <a:off x="1523" y="3132"/>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6344" name="Text Box 138"/>
            <p:cNvSpPr txBox="1">
              <a:spLocks noChangeArrowheads="1"/>
            </p:cNvSpPr>
            <p:nvPr/>
          </p:nvSpPr>
          <p:spPr bwMode="auto">
            <a:xfrm>
              <a:off x="3815" y="3084"/>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6345" name="Text Box 139"/>
            <p:cNvSpPr txBox="1">
              <a:spLocks noChangeArrowheads="1"/>
            </p:cNvSpPr>
            <p:nvPr/>
          </p:nvSpPr>
          <p:spPr bwMode="auto">
            <a:xfrm>
              <a:off x="1410" y="2888"/>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6346" name="Line 140"/>
            <p:cNvSpPr>
              <a:spLocks noChangeShapeType="1"/>
            </p:cNvSpPr>
            <p:nvPr/>
          </p:nvSpPr>
          <p:spPr bwMode="auto">
            <a:xfrm>
              <a:off x="1812"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47" name="Text Box 141"/>
            <p:cNvSpPr txBox="1">
              <a:spLocks noChangeArrowheads="1"/>
            </p:cNvSpPr>
            <p:nvPr/>
          </p:nvSpPr>
          <p:spPr bwMode="auto">
            <a:xfrm>
              <a:off x="3186" y="2892"/>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194.4.5.6</a:t>
              </a:r>
            </a:p>
          </p:txBody>
        </p:sp>
        <p:sp>
          <p:nvSpPr>
            <p:cNvPr id="1246348" name="Line 142"/>
            <p:cNvSpPr>
              <a:spLocks noChangeShapeType="1"/>
            </p:cNvSpPr>
            <p:nvPr/>
          </p:nvSpPr>
          <p:spPr bwMode="auto">
            <a:xfrm>
              <a:off x="3588"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6349" name="Text Box 143"/>
            <p:cNvSpPr txBox="1">
              <a:spLocks noChangeArrowheads="1"/>
            </p:cNvSpPr>
            <p:nvPr/>
          </p:nvSpPr>
          <p:spPr bwMode="auto">
            <a:xfrm>
              <a:off x="87" y="361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sp>
          <p:nvSpPr>
            <p:cNvPr id="1246350" name="Text Box 144"/>
            <p:cNvSpPr txBox="1">
              <a:spLocks noChangeArrowheads="1"/>
            </p:cNvSpPr>
            <p:nvPr/>
          </p:nvSpPr>
          <p:spPr bwMode="auto">
            <a:xfrm>
              <a:off x="4887" y="3512"/>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6351" name="Picture 1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29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52" name="Picture 1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388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53" name="Picture 1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292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6354" name="Picture 1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37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6355" name="Text Box 149"/>
            <p:cNvSpPr txBox="1">
              <a:spLocks noChangeArrowheads="1"/>
            </p:cNvSpPr>
            <p:nvPr/>
          </p:nvSpPr>
          <p:spPr bwMode="auto">
            <a:xfrm>
              <a:off x="2113" y="3848"/>
              <a:ext cx="142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虚拟专用网 </a:t>
              </a:r>
              <a:r>
                <a:rPr lang="en-US" altLang="zh-CN" sz="2400" b="1">
                  <a:solidFill>
                    <a:srgbClr val="000099"/>
                  </a:solidFill>
                  <a:ea typeface="黑体" panose="02010609060101010101" pitchFamily="49" charset="-122"/>
                </a:rPr>
                <a:t>VPN</a:t>
              </a:r>
            </a:p>
          </p:txBody>
        </p:sp>
      </p:grpSp>
      <p:sp>
        <p:nvSpPr>
          <p:cNvPr id="1246356" name="矩形 1"/>
          <p:cNvSpPr>
            <a:spLocks noChangeArrowheads="1"/>
          </p:cNvSpPr>
          <p:nvPr/>
        </p:nvSpPr>
        <p:spPr bwMode="auto">
          <a:xfrm>
            <a:off x="2557463" y="6064250"/>
            <a:ext cx="55911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用隧道技术实现虚拟专用网</a:t>
            </a:r>
            <a:endParaRPr lang="zh-CN" altLang="en-US" sz="2400" b="1">
              <a:ea typeface="黑体" panose="02010609060101010101" pitchFamily="49" charset="-122"/>
            </a:endParaRPr>
          </a:p>
        </p:txBody>
      </p:sp>
      <p:sp>
        <p:nvSpPr>
          <p:cNvPr id="124635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1DA693B-341C-4F30-8B9D-C5BB31EECD8D}" type="slidenum">
              <a:rPr lang="zh-CN" altLang="en-US" smtClean="0"/>
              <a:pPr/>
              <a:t>40</a:t>
            </a:fld>
            <a:endParaRPr lang="en-US" altLang="zh-CN" smtClean="0"/>
          </a:p>
        </p:txBody>
      </p:sp>
      <p:sp>
        <p:nvSpPr>
          <p:cNvPr id="124635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extLst>
      <p:ext uri="{BB962C8B-B14F-4D97-AF65-F5344CB8AC3E}">
        <p14:creationId xmlns:p14="http://schemas.microsoft.com/office/powerpoint/2010/main" val="3018965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626690"/>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35" presetClass="emph" presetSubtype="0" repeatCount="3000" fill="hold" nodeType="afterEffect">
                                  <p:stCondLst>
                                    <p:cond delay="500"/>
                                  </p:stCondLst>
                                  <p:childTnLst>
                                    <p:anim calcmode="discrete" valueType="str">
                                      <p:cBhvr>
                                        <p:cTn id="9" dur="1000" fill="hold"/>
                                        <p:tgtEl>
                                          <p:spTgt spid="626753"/>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7000"/>
                            </p:stCondLst>
                            <p:childTnLst>
                              <p:par>
                                <p:cTn id="11" presetID="35" presetClass="emph" presetSubtype="0" repeatCount="3000" fill="hold" nodeType="afterEffect">
                                  <p:stCondLst>
                                    <p:cond delay="500"/>
                                  </p:stCondLst>
                                  <p:childTnLst>
                                    <p:anim calcmode="discrete" valueType="str">
                                      <p:cBhvr>
                                        <p:cTn id="12" dur="1000" fill="hold"/>
                                        <p:tgtEl>
                                          <p:spTgt spid="62674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8257"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内联网 </a:t>
            </a:r>
            <a:r>
              <a:rPr lang="en-US" altLang="zh-CN" sz="3600" smtClean="0">
                <a:ea typeface="黑体" panose="02010609060101010101" pitchFamily="49" charset="-122"/>
              </a:rPr>
              <a:t>intranet </a:t>
            </a:r>
            <a:r>
              <a:rPr lang="zh-CN" altLang="en-US" sz="3600" smtClean="0">
                <a:ea typeface="黑体" panose="02010609060101010101" pitchFamily="49" charset="-122"/>
              </a:rPr>
              <a:t>和外联网 </a:t>
            </a:r>
            <a:r>
              <a:rPr lang="en-US" altLang="zh-CN" sz="3600" smtClean="0">
                <a:ea typeface="黑体" panose="02010609060101010101" pitchFamily="49" charset="-122"/>
              </a:rPr>
              <a:t>extranet</a:t>
            </a:r>
            <a:endParaRPr lang="zh-CN" altLang="en-US" sz="3600" smtClean="0">
              <a:ea typeface="黑体" panose="02010609060101010101" pitchFamily="49" charset="-122"/>
            </a:endParaRPr>
          </a:p>
        </p:txBody>
      </p:sp>
      <p:sp>
        <p:nvSpPr>
          <p:cNvPr id="1248258"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它们都是基于 </a:t>
            </a:r>
            <a:r>
              <a:rPr lang="en-US" altLang="zh-CN" sz="2800" smtClean="0">
                <a:ea typeface="黑体" panose="02010609060101010101" pitchFamily="49" charset="-122"/>
              </a:rPr>
              <a:t>TCP/IP </a:t>
            </a:r>
            <a:r>
              <a:rPr lang="zh-CN" altLang="en-US" sz="2800" smtClean="0">
                <a:ea typeface="黑体" panose="02010609060101010101" pitchFamily="49" charset="-122"/>
              </a:rPr>
              <a:t>协议的。</a:t>
            </a:r>
            <a:endParaRPr lang="en-US" altLang="zh-CN" sz="2800" smtClean="0">
              <a:ea typeface="黑体" panose="02010609060101010101" pitchFamily="49" charset="-122"/>
            </a:endParaRPr>
          </a:p>
          <a:p>
            <a:r>
              <a:rPr lang="zh-CN" altLang="en-US" sz="2800" smtClean="0">
                <a:ea typeface="黑体" panose="02010609060101010101" pitchFamily="49" charset="-122"/>
              </a:rPr>
              <a:t>由部门 </a:t>
            </a:r>
            <a:r>
              <a:rPr lang="en-US" altLang="zh-CN" sz="2800" smtClean="0">
                <a:ea typeface="黑体" panose="02010609060101010101" pitchFamily="49" charset="-122"/>
              </a:rPr>
              <a:t>A </a:t>
            </a:r>
            <a:r>
              <a:rPr lang="zh-CN" altLang="en-US" sz="2800" smtClean="0">
                <a:ea typeface="黑体" panose="02010609060101010101" pitchFamily="49" charset="-122"/>
              </a:rPr>
              <a:t>和 </a:t>
            </a:r>
            <a:r>
              <a:rPr lang="en-US" altLang="zh-CN" sz="2800" smtClean="0">
                <a:ea typeface="黑体" panose="02010609060101010101" pitchFamily="49" charset="-122"/>
              </a:rPr>
              <a:t>B </a:t>
            </a:r>
            <a:r>
              <a:rPr lang="zh-CN" altLang="en-US" sz="2800" smtClean="0">
                <a:ea typeface="黑体" panose="02010609060101010101" pitchFamily="49" charset="-122"/>
              </a:rPr>
              <a:t>的内部网络所构成的虚拟专用网 </a:t>
            </a:r>
            <a:r>
              <a:rPr lang="en-US" altLang="zh-CN" sz="2800" smtClean="0">
                <a:ea typeface="黑体" panose="02010609060101010101" pitchFamily="49" charset="-122"/>
              </a:rPr>
              <a:t>VPN </a:t>
            </a:r>
            <a:r>
              <a:rPr lang="zh-CN" altLang="en-US" sz="2800" smtClean="0">
                <a:ea typeface="黑体" panose="02010609060101010101" pitchFamily="49" charset="-122"/>
              </a:rPr>
              <a:t>又称为</a:t>
            </a:r>
            <a:r>
              <a:rPr lang="zh-CN" altLang="en-US" sz="2800" smtClean="0">
                <a:solidFill>
                  <a:srgbClr val="FF0000"/>
                </a:solidFill>
                <a:ea typeface="黑体" panose="02010609060101010101" pitchFamily="49" charset="-122"/>
              </a:rPr>
              <a:t>内联网 </a:t>
            </a:r>
            <a:r>
              <a:rPr lang="en-US" altLang="zh-CN" sz="2800" smtClean="0">
                <a:ea typeface="黑体" panose="02010609060101010101" pitchFamily="49" charset="-122"/>
              </a:rPr>
              <a:t>(intranet)</a:t>
            </a:r>
            <a:r>
              <a:rPr lang="zh-CN" altLang="en-US" sz="2800" smtClean="0">
                <a:ea typeface="黑体" panose="02010609060101010101" pitchFamily="49" charset="-122"/>
              </a:rPr>
              <a:t>，表示部门 </a:t>
            </a:r>
            <a:r>
              <a:rPr lang="en-US" altLang="zh-CN" sz="2800" smtClean="0">
                <a:ea typeface="黑体" panose="02010609060101010101" pitchFamily="49" charset="-122"/>
              </a:rPr>
              <a:t>A </a:t>
            </a:r>
            <a:r>
              <a:rPr lang="zh-CN" altLang="en-US" sz="2800" smtClean="0">
                <a:ea typeface="黑体" panose="02010609060101010101" pitchFamily="49" charset="-122"/>
              </a:rPr>
              <a:t>和 </a:t>
            </a:r>
            <a:r>
              <a:rPr lang="en-US" altLang="zh-CN" sz="2800" smtClean="0">
                <a:ea typeface="黑体" panose="02010609060101010101" pitchFamily="49" charset="-122"/>
              </a:rPr>
              <a:t>B </a:t>
            </a:r>
            <a:r>
              <a:rPr lang="zh-CN" altLang="en-US" sz="2800" smtClean="0">
                <a:ea typeface="黑体" panose="02010609060101010101" pitchFamily="49" charset="-122"/>
              </a:rPr>
              <a:t>都是在</a:t>
            </a:r>
            <a:r>
              <a:rPr lang="zh-CN" altLang="en-US" sz="2800" smtClean="0">
                <a:solidFill>
                  <a:srgbClr val="FF0000"/>
                </a:solidFill>
                <a:ea typeface="黑体" panose="02010609060101010101" pitchFamily="49" charset="-122"/>
              </a:rPr>
              <a:t>同一个机构的内部。</a:t>
            </a:r>
          </a:p>
          <a:p>
            <a:r>
              <a:rPr lang="zh-CN" altLang="en-US" sz="2800" smtClean="0">
                <a:ea typeface="黑体" panose="02010609060101010101" pitchFamily="49" charset="-122"/>
              </a:rPr>
              <a:t>一个机构和某些</a:t>
            </a:r>
            <a:r>
              <a:rPr lang="zh-CN" altLang="en-US" sz="2800" smtClean="0">
                <a:solidFill>
                  <a:srgbClr val="0000FF"/>
                </a:solidFill>
                <a:ea typeface="黑体" panose="02010609060101010101" pitchFamily="49" charset="-122"/>
              </a:rPr>
              <a:t>外部机构</a:t>
            </a:r>
            <a:r>
              <a:rPr lang="zh-CN" altLang="en-US" sz="2800" smtClean="0">
                <a:ea typeface="黑体" panose="02010609060101010101" pitchFamily="49" charset="-122"/>
              </a:rPr>
              <a:t>共同建立的虚拟专用网 </a:t>
            </a:r>
            <a:r>
              <a:rPr lang="en-US" altLang="zh-CN" sz="2800" smtClean="0">
                <a:ea typeface="黑体" panose="02010609060101010101" pitchFamily="49" charset="-122"/>
              </a:rPr>
              <a:t>VPN </a:t>
            </a:r>
            <a:r>
              <a:rPr lang="zh-CN" altLang="en-US" sz="2800" smtClean="0">
                <a:ea typeface="黑体" panose="02010609060101010101" pitchFamily="49" charset="-122"/>
              </a:rPr>
              <a:t>又称为</a:t>
            </a:r>
            <a:r>
              <a:rPr lang="zh-CN" altLang="en-US" sz="2800" smtClean="0">
                <a:solidFill>
                  <a:srgbClr val="FF0000"/>
                </a:solidFill>
                <a:ea typeface="黑体" panose="02010609060101010101" pitchFamily="49" charset="-122"/>
              </a:rPr>
              <a:t>外联网 </a:t>
            </a:r>
            <a:r>
              <a:rPr lang="en-US" altLang="zh-CN" sz="2800" smtClean="0">
                <a:ea typeface="黑体" panose="02010609060101010101" pitchFamily="49" charset="-122"/>
              </a:rPr>
              <a:t>(extranet)</a:t>
            </a:r>
            <a:r>
              <a:rPr lang="zh-CN" altLang="en-US" sz="2800" smtClean="0">
                <a:ea typeface="黑体" panose="02010609060101010101" pitchFamily="49" charset="-122"/>
              </a:rPr>
              <a:t>。</a:t>
            </a:r>
            <a:r>
              <a:rPr lang="zh-CN" altLang="en-US" smtClean="0">
                <a:ea typeface="黑体" panose="02010609060101010101" pitchFamily="49" charset="-122"/>
              </a:rPr>
              <a:t> </a:t>
            </a:r>
            <a:r>
              <a:rPr lang="zh-CN" altLang="en-US" sz="2800" smtClean="0">
                <a:ea typeface="黑体" panose="02010609060101010101" pitchFamily="49" charset="-122"/>
              </a:rPr>
              <a:t> </a:t>
            </a:r>
          </a:p>
        </p:txBody>
      </p:sp>
      <p:grpSp>
        <p:nvGrpSpPr>
          <p:cNvPr id="1248259" name="Group 84"/>
          <p:cNvGrpSpPr>
            <a:grpSpLocks/>
          </p:cNvGrpSpPr>
          <p:nvPr/>
        </p:nvGrpSpPr>
        <p:grpSpPr bwMode="auto">
          <a:xfrm>
            <a:off x="350838" y="4324350"/>
            <a:ext cx="9426575" cy="2057400"/>
            <a:chOff x="87" y="2872"/>
            <a:chExt cx="5481" cy="1296"/>
          </a:xfrm>
        </p:grpSpPr>
        <p:sp>
          <p:nvSpPr>
            <p:cNvPr id="1248260" name="AutoShape 85"/>
            <p:cNvSpPr>
              <a:spLocks noChangeArrowheads="1"/>
            </p:cNvSpPr>
            <p:nvPr/>
          </p:nvSpPr>
          <p:spPr bwMode="auto">
            <a:xfrm>
              <a:off x="96" y="2872"/>
              <a:ext cx="5472" cy="1296"/>
            </a:xfrm>
            <a:prstGeom prst="roundRect">
              <a:avLst>
                <a:gd name="adj" fmla="val 16667"/>
              </a:avLst>
            </a:prstGeom>
            <a:solidFill>
              <a:srgbClr val="FF99FF"/>
            </a:solidFill>
            <a:ln w="9525" cap="rnd">
              <a:solidFill>
                <a:schemeClr val="tx1"/>
              </a:solidFill>
              <a:prstDash val="sysDot"/>
              <a:round/>
              <a:headEnd/>
              <a:tailEnd/>
            </a:ln>
          </p:spPr>
          <p:txBody>
            <a:bodyPr wrap="none" anchor="ctr"/>
            <a:lstStyle/>
            <a:p>
              <a:pPr eaLnBrk="0" hangingPunct="0"/>
              <a:endParaRPr lang="zh-CN" altLang="en-US" b="1">
                <a:solidFill>
                  <a:srgbClr val="000099"/>
                </a:solidFill>
                <a:ea typeface="黑体" panose="02010609060101010101" pitchFamily="49" charset="-122"/>
              </a:endParaRPr>
            </a:p>
          </p:txBody>
        </p:sp>
        <p:sp>
          <p:nvSpPr>
            <p:cNvPr id="1248261" name="Line 86"/>
            <p:cNvSpPr>
              <a:spLocks noChangeShapeType="1"/>
            </p:cNvSpPr>
            <p:nvPr/>
          </p:nvSpPr>
          <p:spPr bwMode="auto">
            <a:xfrm>
              <a:off x="1764" y="3400"/>
              <a:ext cx="2076" cy="0"/>
            </a:xfrm>
            <a:prstGeom prst="line">
              <a:avLst/>
            </a:prstGeom>
            <a:noFill/>
            <a:ln w="57150">
              <a:solidFill>
                <a:schemeClr val="tx1"/>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62" name="Line 87"/>
            <p:cNvSpPr>
              <a:spLocks noChangeShapeType="1"/>
            </p:cNvSpPr>
            <p:nvPr/>
          </p:nvSpPr>
          <p:spPr bwMode="auto">
            <a:xfrm flipV="1">
              <a:off x="816" y="3832"/>
              <a:ext cx="240"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63" name="Line 88"/>
            <p:cNvSpPr>
              <a:spLocks noChangeShapeType="1"/>
            </p:cNvSpPr>
            <p:nvPr/>
          </p:nvSpPr>
          <p:spPr bwMode="auto">
            <a:xfrm>
              <a:off x="624" y="3160"/>
              <a:ext cx="24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64" name="Line 89"/>
            <p:cNvSpPr>
              <a:spLocks noChangeShapeType="1"/>
            </p:cNvSpPr>
            <p:nvPr/>
          </p:nvSpPr>
          <p:spPr bwMode="auto">
            <a:xfrm flipV="1">
              <a:off x="432" y="3551"/>
              <a:ext cx="2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8265" name="Group 90"/>
            <p:cNvGrpSpPr>
              <a:grpSpLocks/>
            </p:cNvGrpSpPr>
            <p:nvPr/>
          </p:nvGrpSpPr>
          <p:grpSpPr bwMode="auto">
            <a:xfrm>
              <a:off x="657" y="3091"/>
              <a:ext cx="952" cy="772"/>
              <a:chOff x="385" y="2795"/>
              <a:chExt cx="1769" cy="816"/>
            </a:xfrm>
          </p:grpSpPr>
          <p:sp>
            <p:nvSpPr>
              <p:cNvPr id="1248266" name="Oval 91"/>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67" name="Oval 92"/>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68" name="Oval 93"/>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69" name="Oval 94"/>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0" name="Oval 95"/>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1" name="Oval 96"/>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2" name="Oval 97"/>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3" name="Oval 98"/>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4" name="Oval 99"/>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5" name="Oval 100"/>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6" name="Oval 101"/>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7" name="Oval 102"/>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8" name="Oval 103"/>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79" name="Oval 104"/>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0" name="Oval 105"/>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1" name="Oval 106"/>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2" name="Freeform 107"/>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sp>
          <p:nvSpPr>
            <p:cNvPr id="1248283" name="Line 108"/>
            <p:cNvSpPr>
              <a:spLocks noChangeShapeType="1"/>
            </p:cNvSpPr>
            <p:nvPr/>
          </p:nvSpPr>
          <p:spPr bwMode="auto">
            <a:xfrm flipH="1">
              <a:off x="4800" y="3112"/>
              <a:ext cx="240"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84" name="Line 109"/>
            <p:cNvSpPr>
              <a:spLocks noChangeShapeType="1"/>
            </p:cNvSpPr>
            <p:nvPr/>
          </p:nvSpPr>
          <p:spPr bwMode="auto">
            <a:xfrm flipH="1" flipV="1">
              <a:off x="4656" y="3736"/>
              <a:ext cx="336" cy="1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285" name="Line 110"/>
            <p:cNvSpPr>
              <a:spLocks noChangeShapeType="1"/>
            </p:cNvSpPr>
            <p:nvPr/>
          </p:nvSpPr>
          <p:spPr bwMode="auto">
            <a:xfrm flipH="1" flipV="1">
              <a:off x="4800" y="3496"/>
              <a:ext cx="34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grpSp>
          <p:nvGrpSpPr>
            <p:cNvPr id="1248286" name="Group 111"/>
            <p:cNvGrpSpPr>
              <a:grpSpLocks/>
            </p:cNvGrpSpPr>
            <p:nvPr/>
          </p:nvGrpSpPr>
          <p:grpSpPr bwMode="auto">
            <a:xfrm>
              <a:off x="3969" y="3046"/>
              <a:ext cx="952" cy="772"/>
              <a:chOff x="385" y="2795"/>
              <a:chExt cx="1769" cy="816"/>
            </a:xfrm>
          </p:grpSpPr>
          <p:sp>
            <p:nvSpPr>
              <p:cNvPr id="1248287" name="Oval 112"/>
              <p:cNvSpPr>
                <a:spLocks noChangeArrowheads="1"/>
              </p:cNvSpPr>
              <p:nvPr/>
            </p:nvSpPr>
            <p:spPr bwMode="auto">
              <a:xfrm>
                <a:off x="1589" y="3060"/>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8" name="Oval 113"/>
              <p:cNvSpPr>
                <a:spLocks noChangeArrowheads="1"/>
              </p:cNvSpPr>
              <p:nvPr/>
            </p:nvSpPr>
            <p:spPr bwMode="auto">
              <a:xfrm>
                <a:off x="928" y="3274"/>
                <a:ext cx="884" cy="337"/>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89" name="Oval 114"/>
              <p:cNvSpPr>
                <a:spLocks noChangeArrowheads="1"/>
              </p:cNvSpPr>
              <p:nvPr/>
            </p:nvSpPr>
            <p:spPr bwMode="auto">
              <a:xfrm>
                <a:off x="502" y="3204"/>
                <a:ext cx="586" cy="28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0" name="Oval 115"/>
              <p:cNvSpPr>
                <a:spLocks noChangeArrowheads="1"/>
              </p:cNvSpPr>
              <p:nvPr/>
            </p:nvSpPr>
            <p:spPr bwMode="auto">
              <a:xfrm>
                <a:off x="385" y="3084"/>
                <a:ext cx="384" cy="256"/>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1" name="Oval 116"/>
              <p:cNvSpPr>
                <a:spLocks noChangeArrowheads="1"/>
              </p:cNvSpPr>
              <p:nvPr/>
            </p:nvSpPr>
            <p:spPr bwMode="auto">
              <a:xfrm>
                <a:off x="566" y="2883"/>
                <a:ext cx="57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2" name="Oval 117"/>
              <p:cNvSpPr>
                <a:spLocks noChangeArrowheads="1"/>
              </p:cNvSpPr>
              <p:nvPr/>
            </p:nvSpPr>
            <p:spPr bwMode="auto">
              <a:xfrm>
                <a:off x="992" y="2795"/>
                <a:ext cx="757"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3" name="Oval 118"/>
              <p:cNvSpPr>
                <a:spLocks noChangeArrowheads="1"/>
              </p:cNvSpPr>
              <p:nvPr/>
            </p:nvSpPr>
            <p:spPr bwMode="auto">
              <a:xfrm>
                <a:off x="1504" y="2891"/>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4" name="Oval 119"/>
              <p:cNvSpPr>
                <a:spLocks noChangeArrowheads="1"/>
              </p:cNvSpPr>
              <p:nvPr/>
            </p:nvSpPr>
            <p:spPr bwMode="auto">
              <a:xfrm>
                <a:off x="704" y="2987"/>
                <a:ext cx="1141" cy="41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5" name="Oval 120"/>
              <p:cNvSpPr>
                <a:spLocks noChangeArrowheads="1"/>
              </p:cNvSpPr>
              <p:nvPr/>
            </p:nvSpPr>
            <p:spPr bwMode="auto">
              <a:xfrm rot="1336630">
                <a:off x="1474" y="3067"/>
                <a:ext cx="555" cy="417"/>
              </a:xfrm>
              <a:prstGeom prst="ellipse">
                <a:avLst/>
              </a:prstGeom>
              <a:solidFill>
                <a:srgbClr val="DDDDDD"/>
              </a:solidFill>
              <a:ln>
                <a:noFill/>
              </a:ln>
              <a:effectLst>
                <a:outerShdw dist="40161" dir="4293903"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6" name="Oval 121"/>
              <p:cNvSpPr>
                <a:spLocks noChangeArrowheads="1"/>
              </p:cNvSpPr>
              <p:nvPr/>
            </p:nvSpPr>
            <p:spPr bwMode="auto">
              <a:xfrm>
                <a:off x="1004" y="2811"/>
                <a:ext cx="756" cy="321"/>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7" name="Oval 122"/>
              <p:cNvSpPr>
                <a:spLocks noChangeArrowheads="1"/>
              </p:cNvSpPr>
              <p:nvPr/>
            </p:nvSpPr>
            <p:spPr bwMode="auto">
              <a:xfrm>
                <a:off x="577" y="2899"/>
                <a:ext cx="575" cy="320"/>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8" name="Oval 123"/>
              <p:cNvSpPr>
                <a:spLocks noChangeArrowheads="1"/>
              </p:cNvSpPr>
              <p:nvPr/>
            </p:nvSpPr>
            <p:spPr bwMode="auto">
              <a:xfrm>
                <a:off x="396" y="3100"/>
                <a:ext cx="383" cy="256"/>
              </a:xfrm>
              <a:prstGeom prst="ellipse">
                <a:avLst/>
              </a:prstGeom>
              <a:solidFill>
                <a:srgbClr val="DDDDDD"/>
              </a:solidFill>
              <a:ln>
                <a:noFill/>
              </a:ln>
              <a:effectLst>
                <a:outerShdw dist="63500" dir="3187806"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299" name="Oval 124"/>
              <p:cNvSpPr>
                <a:spLocks noChangeArrowheads="1"/>
              </p:cNvSpPr>
              <p:nvPr/>
            </p:nvSpPr>
            <p:spPr bwMode="auto">
              <a:xfrm>
                <a:off x="1515" y="2908"/>
                <a:ext cx="554" cy="248"/>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0" name="Oval 125"/>
              <p:cNvSpPr>
                <a:spLocks noChangeArrowheads="1"/>
              </p:cNvSpPr>
              <p:nvPr/>
            </p:nvSpPr>
            <p:spPr bwMode="auto">
              <a:xfrm>
                <a:off x="1599" y="3075"/>
                <a:ext cx="555" cy="249"/>
              </a:xfrm>
              <a:prstGeom prst="ellipse">
                <a:avLst/>
              </a:prstGeom>
              <a:solidFill>
                <a:srgbClr val="DDDDDD"/>
              </a:solidFill>
              <a:ln>
                <a:noFill/>
              </a:ln>
              <a:effectLst>
                <a:outerShdw dist="35921" dir="2700000"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1" name="Oval 126"/>
              <p:cNvSpPr>
                <a:spLocks noChangeArrowheads="1"/>
              </p:cNvSpPr>
              <p:nvPr/>
            </p:nvSpPr>
            <p:spPr bwMode="auto">
              <a:xfrm>
                <a:off x="715" y="3003"/>
                <a:ext cx="1141" cy="417"/>
              </a:xfrm>
              <a:prstGeom prst="ellipse">
                <a:avLst/>
              </a:prstGeom>
              <a:solidFill>
                <a:srgbClr val="DDDDDD"/>
              </a:solidFill>
              <a:ln>
                <a:noFill/>
              </a:ln>
              <a:effectLst>
                <a:outerShdw dist="68392" dir="4091915"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2" name="Oval 127"/>
              <p:cNvSpPr>
                <a:spLocks noChangeArrowheads="1"/>
              </p:cNvSpPr>
              <p:nvPr/>
            </p:nvSpPr>
            <p:spPr bwMode="auto">
              <a:xfrm>
                <a:off x="513" y="3219"/>
                <a:ext cx="586" cy="282"/>
              </a:xfrm>
              <a:prstGeom prst="ellipse">
                <a:avLst/>
              </a:prstGeom>
              <a:solidFill>
                <a:srgbClr val="DDDDDD"/>
              </a:solidFill>
              <a:ln>
                <a:noFill/>
              </a:ln>
              <a:effectLst>
                <a:outerShdw dist="113592" dir="20006097" algn="ctr" rotWithShape="0">
                  <a:schemeClr val="tx1"/>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sp>
            <p:nvSpPr>
              <p:cNvPr id="1248303" name="Freeform 128"/>
              <p:cNvSpPr>
                <a:spLocks noChangeArrowheads="1"/>
              </p:cNvSpPr>
              <p:nvPr/>
            </p:nvSpPr>
            <p:spPr bwMode="auto">
              <a:xfrm>
                <a:off x="567" y="2924"/>
                <a:ext cx="1451" cy="597"/>
              </a:xfrm>
              <a:custGeom>
                <a:avLst/>
                <a:gdLst>
                  <a:gd name="T0" fmla="*/ 0 w 1447"/>
                  <a:gd name="T1" fmla="*/ 488 h 1128"/>
                  <a:gd name="T2" fmla="*/ 80 w 1447"/>
                  <a:gd name="T3" fmla="*/ 392 h 1128"/>
                  <a:gd name="T4" fmla="*/ 56 w 1447"/>
                  <a:gd name="T5" fmla="*/ 384 h 1128"/>
                  <a:gd name="T6" fmla="*/ 24 w 1447"/>
                  <a:gd name="T7" fmla="*/ 400 h 1128"/>
                  <a:gd name="T8" fmla="*/ 40 w 1447"/>
                  <a:gd name="T9" fmla="*/ 376 h 1128"/>
                  <a:gd name="T10" fmla="*/ 64 w 1447"/>
                  <a:gd name="T11" fmla="*/ 352 h 1128"/>
                  <a:gd name="T12" fmla="*/ 96 w 1447"/>
                  <a:gd name="T13" fmla="*/ 304 h 1128"/>
                  <a:gd name="T14" fmla="*/ 104 w 1447"/>
                  <a:gd name="T15" fmla="*/ 280 h 1128"/>
                  <a:gd name="T16" fmla="*/ 152 w 1447"/>
                  <a:gd name="T17" fmla="*/ 208 h 1128"/>
                  <a:gd name="T18" fmla="*/ 168 w 1447"/>
                  <a:gd name="T19" fmla="*/ 184 h 1128"/>
                  <a:gd name="T20" fmla="*/ 200 w 1447"/>
                  <a:gd name="T21" fmla="*/ 176 h 1128"/>
                  <a:gd name="T22" fmla="*/ 288 w 1447"/>
                  <a:gd name="T23" fmla="*/ 112 h 1128"/>
                  <a:gd name="T24" fmla="*/ 328 w 1447"/>
                  <a:gd name="T25" fmla="*/ 80 h 1128"/>
                  <a:gd name="T26" fmla="*/ 352 w 1447"/>
                  <a:gd name="T27" fmla="*/ 56 h 1128"/>
                  <a:gd name="T28" fmla="*/ 424 w 1447"/>
                  <a:gd name="T29" fmla="*/ 40 h 1128"/>
                  <a:gd name="T30" fmla="*/ 504 w 1447"/>
                  <a:gd name="T31" fmla="*/ 0 h 1128"/>
                  <a:gd name="T32" fmla="*/ 808 w 1447"/>
                  <a:gd name="T33" fmla="*/ 40 h 1128"/>
                  <a:gd name="T34" fmla="*/ 1056 w 1447"/>
                  <a:gd name="T35" fmla="*/ 176 h 1128"/>
                  <a:gd name="T36" fmla="*/ 1080 w 1447"/>
                  <a:gd name="T37" fmla="*/ 200 h 1128"/>
                  <a:gd name="T38" fmla="*/ 1104 w 1447"/>
                  <a:gd name="T39" fmla="*/ 216 h 1128"/>
                  <a:gd name="T40" fmla="*/ 1224 w 1447"/>
                  <a:gd name="T41" fmla="*/ 304 h 1128"/>
                  <a:gd name="T42" fmla="*/ 1296 w 1447"/>
                  <a:gd name="T43" fmla="*/ 368 h 1128"/>
                  <a:gd name="T44" fmla="*/ 1344 w 1447"/>
                  <a:gd name="T45" fmla="*/ 440 h 1128"/>
                  <a:gd name="T46" fmla="*/ 1360 w 1447"/>
                  <a:gd name="T47" fmla="*/ 488 h 1128"/>
                  <a:gd name="T48" fmla="*/ 1392 w 1447"/>
                  <a:gd name="T49" fmla="*/ 536 h 1128"/>
                  <a:gd name="T50" fmla="*/ 1416 w 1447"/>
                  <a:gd name="T51" fmla="*/ 608 h 1128"/>
                  <a:gd name="T52" fmla="*/ 1432 w 1447"/>
                  <a:gd name="T53" fmla="*/ 656 h 1128"/>
                  <a:gd name="T54" fmla="*/ 1432 w 1447"/>
                  <a:gd name="T55" fmla="*/ 856 h 1128"/>
                  <a:gd name="T56" fmla="*/ 1416 w 1447"/>
                  <a:gd name="T57" fmla="*/ 904 h 1128"/>
                  <a:gd name="T58" fmla="*/ 1368 w 1447"/>
                  <a:gd name="T59" fmla="*/ 920 h 1128"/>
                  <a:gd name="T60" fmla="*/ 1352 w 1447"/>
                  <a:gd name="T61" fmla="*/ 944 h 1128"/>
                  <a:gd name="T62" fmla="*/ 1304 w 1447"/>
                  <a:gd name="T63" fmla="*/ 976 h 1128"/>
                  <a:gd name="T64" fmla="*/ 1216 w 1447"/>
                  <a:gd name="T65" fmla="*/ 1040 h 1128"/>
                  <a:gd name="T66" fmla="*/ 1168 w 1447"/>
                  <a:gd name="T67" fmla="*/ 1072 h 1128"/>
                  <a:gd name="T68" fmla="*/ 1112 w 1447"/>
                  <a:gd name="T69" fmla="*/ 1128 h 1128"/>
                  <a:gd name="T70" fmla="*/ 440 w 1447"/>
                  <a:gd name="T71" fmla="*/ 1096 h 1128"/>
                  <a:gd name="T72" fmla="*/ 360 w 1447"/>
                  <a:gd name="T73" fmla="*/ 1072 h 1128"/>
                  <a:gd name="T74" fmla="*/ 304 w 1447"/>
                  <a:gd name="T75" fmla="*/ 976 h 1128"/>
                  <a:gd name="T76" fmla="*/ 240 w 1447"/>
                  <a:gd name="T77" fmla="*/ 880 h 1128"/>
                  <a:gd name="T78" fmla="*/ 200 w 1447"/>
                  <a:gd name="T79" fmla="*/ 800 h 1128"/>
                  <a:gd name="T80" fmla="*/ 120 w 1447"/>
                  <a:gd name="T81" fmla="*/ 704 h 1128"/>
                  <a:gd name="T82" fmla="*/ 56 w 1447"/>
                  <a:gd name="T83" fmla="*/ 624 h 1128"/>
                  <a:gd name="T84" fmla="*/ 16 w 1447"/>
                  <a:gd name="T85" fmla="*/ 544 h 1128"/>
                  <a:gd name="T86" fmla="*/ 8 w 1447"/>
                  <a:gd name="T87" fmla="*/ 512 h 1128"/>
                  <a:gd name="T88" fmla="*/ 0 w 1447"/>
                  <a:gd name="T89" fmla="*/ 48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47" h="1128">
                    <a:moveTo>
                      <a:pt x="0" y="488"/>
                    </a:moveTo>
                    <a:cubicBezTo>
                      <a:pt x="24" y="453"/>
                      <a:pt x="56" y="427"/>
                      <a:pt x="80" y="392"/>
                    </a:cubicBezTo>
                    <a:cubicBezTo>
                      <a:pt x="72" y="389"/>
                      <a:pt x="64" y="383"/>
                      <a:pt x="56" y="384"/>
                    </a:cubicBezTo>
                    <a:cubicBezTo>
                      <a:pt x="44" y="386"/>
                      <a:pt x="35" y="405"/>
                      <a:pt x="24" y="400"/>
                    </a:cubicBezTo>
                    <a:cubicBezTo>
                      <a:pt x="15" y="396"/>
                      <a:pt x="34" y="383"/>
                      <a:pt x="40" y="376"/>
                    </a:cubicBezTo>
                    <a:cubicBezTo>
                      <a:pt x="47" y="367"/>
                      <a:pt x="56" y="360"/>
                      <a:pt x="64" y="352"/>
                    </a:cubicBezTo>
                    <a:cubicBezTo>
                      <a:pt x="82" y="279"/>
                      <a:pt x="56" y="354"/>
                      <a:pt x="96" y="304"/>
                    </a:cubicBezTo>
                    <a:cubicBezTo>
                      <a:pt x="101" y="297"/>
                      <a:pt x="100" y="287"/>
                      <a:pt x="104" y="280"/>
                    </a:cubicBezTo>
                    <a:cubicBezTo>
                      <a:pt x="104" y="280"/>
                      <a:pt x="144" y="220"/>
                      <a:pt x="152" y="208"/>
                    </a:cubicBezTo>
                    <a:cubicBezTo>
                      <a:pt x="157" y="200"/>
                      <a:pt x="159" y="186"/>
                      <a:pt x="168" y="184"/>
                    </a:cubicBezTo>
                    <a:cubicBezTo>
                      <a:pt x="179" y="181"/>
                      <a:pt x="189" y="179"/>
                      <a:pt x="200" y="176"/>
                    </a:cubicBezTo>
                    <a:cubicBezTo>
                      <a:pt x="228" y="148"/>
                      <a:pt x="253" y="129"/>
                      <a:pt x="288" y="112"/>
                    </a:cubicBezTo>
                    <a:cubicBezTo>
                      <a:pt x="324" y="58"/>
                      <a:pt x="282" y="111"/>
                      <a:pt x="328" y="80"/>
                    </a:cubicBezTo>
                    <a:cubicBezTo>
                      <a:pt x="337" y="74"/>
                      <a:pt x="343" y="62"/>
                      <a:pt x="352" y="56"/>
                    </a:cubicBezTo>
                    <a:cubicBezTo>
                      <a:pt x="365" y="47"/>
                      <a:pt x="418" y="41"/>
                      <a:pt x="424" y="40"/>
                    </a:cubicBezTo>
                    <a:cubicBezTo>
                      <a:pt x="450" y="23"/>
                      <a:pt x="475" y="10"/>
                      <a:pt x="504" y="0"/>
                    </a:cubicBezTo>
                    <a:cubicBezTo>
                      <a:pt x="606" y="15"/>
                      <a:pt x="705" y="31"/>
                      <a:pt x="808" y="40"/>
                    </a:cubicBezTo>
                    <a:cubicBezTo>
                      <a:pt x="913" y="66"/>
                      <a:pt x="964" y="153"/>
                      <a:pt x="1056" y="176"/>
                    </a:cubicBezTo>
                    <a:cubicBezTo>
                      <a:pt x="1064" y="184"/>
                      <a:pt x="1071" y="193"/>
                      <a:pt x="1080" y="200"/>
                    </a:cubicBezTo>
                    <a:cubicBezTo>
                      <a:pt x="1087" y="206"/>
                      <a:pt x="1097" y="210"/>
                      <a:pt x="1104" y="216"/>
                    </a:cubicBezTo>
                    <a:cubicBezTo>
                      <a:pt x="1145" y="252"/>
                      <a:pt x="1171" y="286"/>
                      <a:pt x="1224" y="304"/>
                    </a:cubicBezTo>
                    <a:cubicBezTo>
                      <a:pt x="1247" y="327"/>
                      <a:pt x="1276" y="343"/>
                      <a:pt x="1296" y="368"/>
                    </a:cubicBezTo>
                    <a:cubicBezTo>
                      <a:pt x="1314" y="391"/>
                      <a:pt x="1335" y="413"/>
                      <a:pt x="1344" y="440"/>
                    </a:cubicBezTo>
                    <a:cubicBezTo>
                      <a:pt x="1349" y="456"/>
                      <a:pt x="1351" y="474"/>
                      <a:pt x="1360" y="488"/>
                    </a:cubicBezTo>
                    <a:cubicBezTo>
                      <a:pt x="1371" y="504"/>
                      <a:pt x="1386" y="518"/>
                      <a:pt x="1392" y="536"/>
                    </a:cubicBezTo>
                    <a:cubicBezTo>
                      <a:pt x="1395" y="546"/>
                      <a:pt x="1414" y="603"/>
                      <a:pt x="1416" y="608"/>
                    </a:cubicBezTo>
                    <a:cubicBezTo>
                      <a:pt x="1421" y="624"/>
                      <a:pt x="1432" y="656"/>
                      <a:pt x="1432" y="656"/>
                    </a:cubicBezTo>
                    <a:cubicBezTo>
                      <a:pt x="1443" y="744"/>
                      <a:pt x="1447" y="743"/>
                      <a:pt x="1432" y="856"/>
                    </a:cubicBezTo>
                    <a:cubicBezTo>
                      <a:pt x="1430" y="873"/>
                      <a:pt x="1432" y="899"/>
                      <a:pt x="1416" y="904"/>
                    </a:cubicBezTo>
                    <a:cubicBezTo>
                      <a:pt x="1400" y="909"/>
                      <a:pt x="1368" y="920"/>
                      <a:pt x="1368" y="920"/>
                    </a:cubicBezTo>
                    <a:cubicBezTo>
                      <a:pt x="1363" y="928"/>
                      <a:pt x="1359" y="938"/>
                      <a:pt x="1352" y="944"/>
                    </a:cubicBezTo>
                    <a:cubicBezTo>
                      <a:pt x="1338" y="957"/>
                      <a:pt x="1304" y="976"/>
                      <a:pt x="1304" y="976"/>
                    </a:cubicBezTo>
                    <a:cubicBezTo>
                      <a:pt x="1279" y="1014"/>
                      <a:pt x="1251" y="1005"/>
                      <a:pt x="1216" y="1040"/>
                    </a:cubicBezTo>
                    <a:cubicBezTo>
                      <a:pt x="1186" y="1070"/>
                      <a:pt x="1203" y="1060"/>
                      <a:pt x="1168" y="1072"/>
                    </a:cubicBezTo>
                    <a:cubicBezTo>
                      <a:pt x="1149" y="1101"/>
                      <a:pt x="1131" y="1099"/>
                      <a:pt x="1112" y="1128"/>
                    </a:cubicBezTo>
                    <a:cubicBezTo>
                      <a:pt x="850" y="1124"/>
                      <a:pt x="672" y="1125"/>
                      <a:pt x="440" y="1096"/>
                    </a:cubicBezTo>
                    <a:cubicBezTo>
                      <a:pt x="413" y="1087"/>
                      <a:pt x="387" y="1081"/>
                      <a:pt x="360" y="1072"/>
                    </a:cubicBezTo>
                    <a:cubicBezTo>
                      <a:pt x="338" y="1038"/>
                      <a:pt x="322" y="1009"/>
                      <a:pt x="304" y="976"/>
                    </a:cubicBezTo>
                    <a:cubicBezTo>
                      <a:pt x="286" y="943"/>
                      <a:pt x="257" y="914"/>
                      <a:pt x="240" y="880"/>
                    </a:cubicBezTo>
                    <a:cubicBezTo>
                      <a:pt x="227" y="855"/>
                      <a:pt x="215" y="823"/>
                      <a:pt x="200" y="800"/>
                    </a:cubicBezTo>
                    <a:cubicBezTo>
                      <a:pt x="178" y="764"/>
                      <a:pt x="147" y="735"/>
                      <a:pt x="120" y="704"/>
                    </a:cubicBezTo>
                    <a:cubicBezTo>
                      <a:pt x="94" y="675"/>
                      <a:pt x="89" y="646"/>
                      <a:pt x="56" y="624"/>
                    </a:cubicBezTo>
                    <a:cubicBezTo>
                      <a:pt x="45" y="580"/>
                      <a:pt x="27" y="583"/>
                      <a:pt x="16" y="544"/>
                    </a:cubicBezTo>
                    <a:cubicBezTo>
                      <a:pt x="13" y="533"/>
                      <a:pt x="11" y="523"/>
                      <a:pt x="8" y="512"/>
                    </a:cubicBezTo>
                    <a:cubicBezTo>
                      <a:pt x="6" y="504"/>
                      <a:pt x="0" y="488"/>
                      <a:pt x="0" y="488"/>
                    </a:cubicBezTo>
                    <a:close/>
                  </a:path>
                </a:pathLst>
              </a:cu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黑体" panose="02010609060101010101" pitchFamily="49" charset="-122"/>
                </a:endParaRPr>
              </a:p>
            </p:txBody>
          </p:sp>
        </p:grpSp>
        <p:pic>
          <p:nvPicPr>
            <p:cNvPr id="1248304" name="Picture 12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8" y="3321"/>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05" name="Picture 1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69" y="3322"/>
              <a:ext cx="32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06" name="Picture 13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6" y="3407"/>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8307" name="Text Box 132"/>
            <p:cNvSpPr txBox="1">
              <a:spLocks noChangeArrowheads="1"/>
            </p:cNvSpPr>
            <p:nvPr/>
          </p:nvSpPr>
          <p:spPr bwMode="auto">
            <a:xfrm>
              <a:off x="864" y="3247"/>
              <a:ext cx="55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A</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pic>
          <p:nvPicPr>
            <p:cNvPr id="1248308" name="Picture 13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88" y="3352"/>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8309" name="Text Box 134"/>
            <p:cNvSpPr txBox="1">
              <a:spLocks noChangeArrowheads="1"/>
            </p:cNvSpPr>
            <p:nvPr/>
          </p:nvSpPr>
          <p:spPr bwMode="auto">
            <a:xfrm>
              <a:off x="4174" y="3201"/>
              <a:ext cx="557"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部门 </a:t>
              </a:r>
              <a:r>
                <a:rPr lang="en-US" altLang="zh-CN" sz="2000" b="1">
                  <a:solidFill>
                    <a:srgbClr val="000099"/>
                  </a:solidFill>
                  <a:ea typeface="黑体" panose="02010609060101010101" pitchFamily="49" charset="-122"/>
                </a:rPr>
                <a:t>B</a:t>
              </a:r>
            </a:p>
            <a:p>
              <a:pPr eaLnBrk="0" hangingPunct="0"/>
              <a:r>
                <a:rPr lang="zh-CN" altLang="en-US" sz="2000" b="1">
                  <a:solidFill>
                    <a:srgbClr val="000099"/>
                  </a:solidFill>
                  <a:ea typeface="黑体" panose="02010609060101010101" pitchFamily="49" charset="-122"/>
                </a:rPr>
                <a:t>网络</a:t>
              </a:r>
              <a:endParaRPr lang="en-US" altLang="zh-CN" sz="2000" b="1">
                <a:solidFill>
                  <a:srgbClr val="000099"/>
                </a:solidFill>
                <a:ea typeface="黑体" panose="02010609060101010101" pitchFamily="49" charset="-122"/>
              </a:endParaRPr>
            </a:p>
          </p:txBody>
        </p:sp>
        <p:sp>
          <p:nvSpPr>
            <p:cNvPr id="1248310" name="Text Box 135"/>
            <p:cNvSpPr txBox="1">
              <a:spLocks noChangeArrowheads="1"/>
            </p:cNvSpPr>
            <p:nvPr/>
          </p:nvSpPr>
          <p:spPr bwMode="auto">
            <a:xfrm>
              <a:off x="309" y="3176"/>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X</a:t>
              </a:r>
            </a:p>
          </p:txBody>
        </p:sp>
        <p:sp>
          <p:nvSpPr>
            <p:cNvPr id="1248311" name="Text Box 136"/>
            <p:cNvSpPr txBox="1">
              <a:spLocks noChangeArrowheads="1"/>
            </p:cNvSpPr>
            <p:nvPr/>
          </p:nvSpPr>
          <p:spPr bwMode="auto">
            <a:xfrm>
              <a:off x="5072" y="3128"/>
              <a:ext cx="20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Y</a:t>
              </a:r>
            </a:p>
          </p:txBody>
        </p:sp>
        <p:sp>
          <p:nvSpPr>
            <p:cNvPr id="1248312" name="Text Box 137"/>
            <p:cNvSpPr txBox="1">
              <a:spLocks noChangeArrowheads="1"/>
            </p:cNvSpPr>
            <p:nvPr/>
          </p:nvSpPr>
          <p:spPr bwMode="auto">
            <a:xfrm>
              <a:off x="1523" y="3132"/>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1</a:t>
              </a:r>
              <a:endParaRPr lang="en-US" altLang="zh-CN" sz="2000" b="1">
                <a:solidFill>
                  <a:srgbClr val="000099"/>
                </a:solidFill>
                <a:ea typeface="黑体" panose="02010609060101010101" pitchFamily="49" charset="-122"/>
              </a:endParaRPr>
            </a:p>
          </p:txBody>
        </p:sp>
        <p:sp>
          <p:nvSpPr>
            <p:cNvPr id="1248313" name="Text Box 138"/>
            <p:cNvSpPr txBox="1">
              <a:spLocks noChangeArrowheads="1"/>
            </p:cNvSpPr>
            <p:nvPr/>
          </p:nvSpPr>
          <p:spPr bwMode="auto">
            <a:xfrm>
              <a:off x="3815" y="3084"/>
              <a:ext cx="27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R</a:t>
              </a:r>
              <a:r>
                <a:rPr lang="en-US" altLang="zh-CN" sz="2000" b="1" baseline="-25000">
                  <a:solidFill>
                    <a:srgbClr val="000099"/>
                  </a:solidFill>
                  <a:ea typeface="黑体" panose="02010609060101010101" pitchFamily="49" charset="-122"/>
                </a:rPr>
                <a:t>2</a:t>
              </a:r>
              <a:endParaRPr lang="en-US" altLang="zh-CN" sz="2000" b="1">
                <a:solidFill>
                  <a:srgbClr val="000099"/>
                </a:solidFill>
                <a:ea typeface="黑体" panose="02010609060101010101" pitchFamily="49" charset="-122"/>
              </a:endParaRPr>
            </a:p>
          </p:txBody>
        </p:sp>
        <p:sp>
          <p:nvSpPr>
            <p:cNvPr id="1248314" name="Text Box 139"/>
            <p:cNvSpPr txBox="1">
              <a:spLocks noChangeArrowheads="1"/>
            </p:cNvSpPr>
            <p:nvPr/>
          </p:nvSpPr>
          <p:spPr bwMode="auto">
            <a:xfrm>
              <a:off x="1410" y="2888"/>
              <a:ext cx="7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125.1.2.3</a:t>
              </a:r>
            </a:p>
          </p:txBody>
        </p:sp>
        <p:sp>
          <p:nvSpPr>
            <p:cNvPr id="1248315" name="Line 140"/>
            <p:cNvSpPr>
              <a:spLocks noChangeShapeType="1"/>
            </p:cNvSpPr>
            <p:nvPr/>
          </p:nvSpPr>
          <p:spPr bwMode="auto">
            <a:xfrm>
              <a:off x="1812"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316" name="Text Box 141"/>
            <p:cNvSpPr txBox="1">
              <a:spLocks noChangeArrowheads="1"/>
            </p:cNvSpPr>
            <p:nvPr/>
          </p:nvSpPr>
          <p:spPr bwMode="auto">
            <a:xfrm>
              <a:off x="3186" y="2892"/>
              <a:ext cx="7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en-US" altLang="zh-CN" sz="2000" b="1">
                  <a:solidFill>
                    <a:srgbClr val="000099"/>
                  </a:solidFill>
                  <a:ea typeface="黑体" panose="02010609060101010101" pitchFamily="49" charset="-122"/>
                </a:rPr>
                <a:t>194.4.5.6</a:t>
              </a:r>
            </a:p>
          </p:txBody>
        </p:sp>
        <p:sp>
          <p:nvSpPr>
            <p:cNvPr id="1248317" name="Line 142"/>
            <p:cNvSpPr>
              <a:spLocks noChangeShapeType="1"/>
            </p:cNvSpPr>
            <p:nvPr/>
          </p:nvSpPr>
          <p:spPr bwMode="auto">
            <a:xfrm>
              <a:off x="3588" y="3112"/>
              <a:ext cx="48" cy="288"/>
            </a:xfrm>
            <a:prstGeom prst="line">
              <a:avLst/>
            </a:prstGeom>
            <a:noFill/>
            <a:ln w="3810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黑体" panose="02010609060101010101" pitchFamily="49" charset="-122"/>
              </a:endParaRPr>
            </a:p>
          </p:txBody>
        </p:sp>
        <p:sp>
          <p:nvSpPr>
            <p:cNvPr id="1248318" name="Text Box 143"/>
            <p:cNvSpPr txBox="1">
              <a:spLocks noChangeArrowheads="1"/>
            </p:cNvSpPr>
            <p:nvPr/>
          </p:nvSpPr>
          <p:spPr bwMode="auto">
            <a:xfrm>
              <a:off x="87" y="3615"/>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10.1.0.1</a:t>
              </a:r>
            </a:p>
          </p:txBody>
        </p:sp>
        <p:sp>
          <p:nvSpPr>
            <p:cNvPr id="1248319" name="Text Box 144"/>
            <p:cNvSpPr txBox="1">
              <a:spLocks noChangeArrowheads="1"/>
            </p:cNvSpPr>
            <p:nvPr/>
          </p:nvSpPr>
          <p:spPr bwMode="auto">
            <a:xfrm>
              <a:off x="4887" y="3512"/>
              <a:ext cx="64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solidFill>
                    <a:srgbClr val="000099"/>
                  </a:solidFill>
                  <a:ea typeface="黑体" panose="02010609060101010101" pitchFamily="49" charset="-122"/>
                </a:rPr>
                <a:t>10.2.0.3</a:t>
              </a:r>
            </a:p>
          </p:txBody>
        </p:sp>
        <p:pic>
          <p:nvPicPr>
            <p:cNvPr id="1248320" name="Picture 14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0" y="2968"/>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21" name="Picture 14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 y="388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22" name="Picture 14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 y="2920"/>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8323" name="Picture 14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4" y="3784"/>
              <a:ext cx="212"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8324" name="Text Box 149"/>
            <p:cNvSpPr txBox="1">
              <a:spLocks noChangeArrowheads="1"/>
            </p:cNvSpPr>
            <p:nvPr/>
          </p:nvSpPr>
          <p:spPr bwMode="auto">
            <a:xfrm>
              <a:off x="1757" y="3848"/>
              <a:ext cx="213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400" b="1">
                  <a:solidFill>
                    <a:srgbClr val="000099"/>
                  </a:solidFill>
                  <a:ea typeface="黑体" panose="02010609060101010101" pitchFamily="49" charset="-122"/>
                </a:rPr>
                <a:t>内联网 </a:t>
              </a:r>
              <a:r>
                <a:rPr lang="en-US" altLang="zh-CN" sz="2400" b="1">
                  <a:solidFill>
                    <a:srgbClr val="000099"/>
                  </a:solidFill>
                  <a:ea typeface="黑体" panose="02010609060101010101" pitchFamily="49" charset="-122"/>
                </a:rPr>
                <a:t>(</a:t>
              </a:r>
              <a:r>
                <a:rPr lang="zh-CN" altLang="en-US" sz="2400" b="1">
                  <a:solidFill>
                    <a:srgbClr val="000099"/>
                  </a:solidFill>
                  <a:ea typeface="黑体" panose="02010609060101010101" pitchFamily="49" charset="-122"/>
                </a:rPr>
                <a:t>虚拟专用网 </a:t>
              </a:r>
              <a:r>
                <a:rPr lang="en-US" altLang="zh-CN" sz="2400" b="1">
                  <a:solidFill>
                    <a:srgbClr val="000099"/>
                  </a:solidFill>
                  <a:ea typeface="黑体" panose="02010609060101010101" pitchFamily="49" charset="-122"/>
                </a:rPr>
                <a:t>VPN)</a:t>
              </a:r>
            </a:p>
          </p:txBody>
        </p:sp>
      </p:grpSp>
      <p:sp>
        <p:nvSpPr>
          <p:cNvPr id="124832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0731C9-E389-44BA-9D0F-8675C97C430B}" type="slidenum">
              <a:rPr lang="zh-CN" altLang="en-US" smtClean="0"/>
              <a:pPr eaLnBrk="1" hangingPunct="1"/>
              <a:t>41</a:t>
            </a:fld>
            <a:endParaRPr lang="en-US" altLang="zh-CN" smtClean="0"/>
          </a:p>
        </p:txBody>
      </p:sp>
      <p:sp>
        <p:nvSpPr>
          <p:cNvPr id="124832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97171348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030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远程接入 </a:t>
            </a:r>
            <a:r>
              <a:rPr lang="en-US" altLang="zh-CN" smtClean="0">
                <a:ea typeface="黑体" panose="02010609060101010101" pitchFamily="49" charset="-122"/>
              </a:rPr>
              <a:t>VPN</a:t>
            </a:r>
          </a:p>
        </p:txBody>
      </p:sp>
      <p:sp>
        <p:nvSpPr>
          <p:cNvPr id="125030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远程接入 </a:t>
            </a:r>
            <a:r>
              <a:rPr lang="en-US" altLang="zh-CN" dirty="0" smtClean="0">
                <a:solidFill>
                  <a:srgbClr val="FF0000"/>
                </a:solidFill>
                <a:ea typeface="黑体" panose="02010609060101010101" pitchFamily="49" charset="-122"/>
              </a:rPr>
              <a:t>VPN </a:t>
            </a:r>
            <a:r>
              <a:rPr lang="en-US" altLang="zh-CN" dirty="0" smtClean="0">
                <a:ea typeface="黑体" panose="02010609060101010101" pitchFamily="49" charset="-122"/>
              </a:rPr>
              <a:t>(remote access VPN)</a:t>
            </a:r>
            <a:r>
              <a:rPr lang="zh-CN" altLang="en-US" dirty="0" smtClean="0">
                <a:ea typeface="黑体" panose="02010609060101010101" pitchFamily="49" charset="-122"/>
              </a:rPr>
              <a:t>可以满足外部流动员工访问公司网络的需求。</a:t>
            </a:r>
          </a:p>
          <a:p>
            <a:r>
              <a:rPr lang="zh-CN" altLang="en-US" dirty="0" smtClean="0">
                <a:ea typeface="黑体" panose="02010609060101010101" pitchFamily="49" charset="-122"/>
              </a:rPr>
              <a:t>在外地工作的员工拨号接入互联网，而驻留在员工 </a:t>
            </a:r>
            <a:r>
              <a:rPr lang="en-US" altLang="zh-CN" dirty="0" smtClean="0">
                <a:ea typeface="黑体" panose="02010609060101010101" pitchFamily="49" charset="-122"/>
              </a:rPr>
              <a:t>PC </a:t>
            </a:r>
            <a:r>
              <a:rPr lang="zh-CN" altLang="en-US" dirty="0" smtClean="0">
                <a:ea typeface="黑体" panose="02010609060101010101" pitchFamily="49" charset="-122"/>
              </a:rPr>
              <a:t>机中的 </a:t>
            </a:r>
            <a:r>
              <a:rPr lang="en-US" altLang="zh-CN" dirty="0" smtClean="0">
                <a:solidFill>
                  <a:srgbClr val="0000FF"/>
                </a:solidFill>
                <a:ea typeface="黑体" panose="02010609060101010101" pitchFamily="49" charset="-122"/>
              </a:rPr>
              <a:t>VPN </a:t>
            </a:r>
            <a:r>
              <a:rPr lang="zh-CN" altLang="en-US" dirty="0" smtClean="0">
                <a:solidFill>
                  <a:srgbClr val="0000FF"/>
                </a:solidFill>
                <a:ea typeface="黑体" panose="02010609060101010101" pitchFamily="49" charset="-122"/>
              </a:rPr>
              <a:t>软件</a:t>
            </a:r>
            <a:r>
              <a:rPr lang="zh-CN" altLang="en-US" dirty="0" smtClean="0">
                <a:ea typeface="黑体" panose="02010609060101010101" pitchFamily="49" charset="-122"/>
              </a:rPr>
              <a:t>可在员工的 </a:t>
            </a:r>
            <a:r>
              <a:rPr lang="en-US" altLang="zh-CN" dirty="0" smtClean="0">
                <a:ea typeface="黑体" panose="02010609060101010101" pitchFamily="49" charset="-122"/>
              </a:rPr>
              <a:t>PC </a:t>
            </a:r>
            <a:r>
              <a:rPr lang="zh-CN" altLang="en-US" dirty="0" smtClean="0">
                <a:ea typeface="黑体" panose="02010609060101010101" pitchFamily="49" charset="-122"/>
              </a:rPr>
              <a:t>机和公司的主机之间建立 </a:t>
            </a:r>
            <a:r>
              <a:rPr lang="en-US" altLang="zh-CN" dirty="0" smtClean="0">
                <a:ea typeface="黑体" panose="02010609060101010101" pitchFamily="49" charset="-122"/>
              </a:rPr>
              <a:t>VPN </a:t>
            </a:r>
            <a:r>
              <a:rPr lang="zh-CN" altLang="en-US" dirty="0" smtClean="0">
                <a:ea typeface="黑体" panose="02010609060101010101" pitchFamily="49" charset="-122"/>
              </a:rPr>
              <a:t>隧道，因而外地员工与公司通信的内容是保密的，员工们感到好像就是使用公司内部的本地网络。 </a:t>
            </a:r>
          </a:p>
        </p:txBody>
      </p:sp>
      <p:sp>
        <p:nvSpPr>
          <p:cNvPr id="12503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E78DE2-2EB5-4052-A837-9140E8B291B2}" type="slidenum">
              <a:rPr lang="zh-CN" altLang="en-US" smtClean="0"/>
              <a:pPr eaLnBrk="1" hangingPunct="1"/>
              <a:t>42</a:t>
            </a:fld>
            <a:endParaRPr lang="en-US" altLang="zh-CN" smtClean="0"/>
          </a:p>
        </p:txBody>
      </p:sp>
      <p:sp>
        <p:nvSpPr>
          <p:cNvPr id="12503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166321669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132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4.8.2   </a:t>
            </a:r>
            <a:r>
              <a:rPr lang="zh-CN" altLang="en-US" smtClean="0">
                <a:ea typeface="黑体" panose="02010609060101010101" pitchFamily="49" charset="-122"/>
              </a:rPr>
              <a:t>网络地址转换 </a:t>
            </a:r>
            <a:r>
              <a:rPr lang="en-US" altLang="zh-CN" smtClean="0">
                <a:ea typeface="黑体" panose="02010609060101010101" pitchFamily="49" charset="-122"/>
              </a:rPr>
              <a:t>NAT</a:t>
            </a:r>
            <a:endParaRPr lang="en-US" altLang="zh-CN" sz="3600" smtClean="0">
              <a:ea typeface="黑体" panose="02010609060101010101" pitchFamily="49" charset="-122"/>
            </a:endParaRPr>
          </a:p>
        </p:txBody>
      </p:sp>
      <p:sp>
        <p:nvSpPr>
          <p:cNvPr id="1251330"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问题：</a:t>
            </a:r>
            <a:r>
              <a:rPr lang="zh-CN" altLang="zh-CN" smtClean="0">
                <a:ea typeface="黑体" panose="02010609060101010101" pitchFamily="49" charset="-122"/>
              </a:rPr>
              <a:t>在专用网</a:t>
            </a:r>
            <a:r>
              <a:rPr lang="zh-CN" altLang="en-US" smtClean="0">
                <a:ea typeface="黑体" panose="02010609060101010101" pitchFamily="49" charset="-122"/>
              </a:rPr>
              <a:t>上使用</a:t>
            </a:r>
            <a:r>
              <a:rPr lang="zh-CN" altLang="zh-CN" smtClean="0">
                <a:ea typeface="黑体" panose="02010609060101010101" pitchFamily="49" charset="-122"/>
              </a:rPr>
              <a:t>专用地址</a:t>
            </a:r>
            <a:r>
              <a:rPr lang="zh-CN" altLang="en-US" smtClean="0">
                <a:ea typeface="黑体" panose="02010609060101010101" pitchFamily="49" charset="-122"/>
              </a:rPr>
              <a:t>的主机如何与</a:t>
            </a:r>
            <a:r>
              <a:rPr lang="zh-CN" altLang="zh-CN" smtClean="0">
                <a:ea typeface="黑体" panose="02010609060101010101" pitchFamily="49" charset="-122"/>
              </a:rPr>
              <a:t>互联网上的主机通信（并不需要加密）</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solidFill>
                  <a:srgbClr val="0000FF"/>
                </a:solidFill>
                <a:ea typeface="黑体" panose="02010609060101010101" pitchFamily="49" charset="-122"/>
              </a:rPr>
              <a:t>解决：</a:t>
            </a:r>
            <a:endParaRPr lang="en-US" altLang="zh-CN" smtClean="0">
              <a:solidFill>
                <a:srgbClr val="0000FF"/>
              </a:solidFill>
              <a:ea typeface="黑体" panose="02010609060101010101" pitchFamily="49" charset="-122"/>
            </a:endParaRPr>
          </a:p>
          <a:p>
            <a:pPr lvl="1"/>
            <a:r>
              <a:rPr lang="en-US" altLang="zh-CN" smtClean="0">
                <a:ea typeface="黑体" panose="02010609060101010101" pitchFamily="49" charset="-122"/>
              </a:rPr>
              <a:t>(1) </a:t>
            </a:r>
            <a:r>
              <a:rPr lang="zh-CN" altLang="zh-CN" smtClean="0">
                <a:ea typeface="黑体" panose="02010609060101010101" pitchFamily="49" charset="-122"/>
              </a:rPr>
              <a:t>再申请一些全球</a:t>
            </a:r>
            <a:r>
              <a:rPr lang="en-US" altLang="zh-CN" smtClean="0">
                <a:ea typeface="黑体" panose="02010609060101010101" pitchFamily="49" charset="-122"/>
              </a:rPr>
              <a:t> IP </a:t>
            </a:r>
            <a:r>
              <a:rPr lang="zh-CN" altLang="zh-CN" smtClean="0">
                <a:ea typeface="黑体" panose="02010609060101010101" pitchFamily="49" charset="-122"/>
              </a:rPr>
              <a:t>地址。但这在很多情况下是不容易做到</a:t>
            </a:r>
            <a:r>
              <a:rPr lang="zh-CN" altLang="en-US" smtClean="0">
                <a:ea typeface="黑体" panose="02010609060101010101" pitchFamily="49" charset="-122"/>
              </a:rPr>
              <a:t>的。</a:t>
            </a:r>
            <a:endParaRPr lang="en-US" altLang="zh-CN" smtClean="0">
              <a:ea typeface="黑体" panose="02010609060101010101" pitchFamily="49" charset="-122"/>
            </a:endParaRPr>
          </a:p>
          <a:p>
            <a:pPr lvl="1"/>
            <a:r>
              <a:rPr lang="en-US" altLang="zh-CN" smtClean="0">
                <a:ea typeface="黑体" panose="02010609060101010101" pitchFamily="49" charset="-122"/>
              </a:rPr>
              <a:t>(2)</a:t>
            </a:r>
            <a:r>
              <a:rPr lang="zh-CN" altLang="zh-CN" smtClean="0">
                <a:ea typeface="黑体" panose="02010609060101010101" pitchFamily="49" charset="-122"/>
              </a:rPr>
              <a:t>采用网络地址转换</a:t>
            </a:r>
            <a:r>
              <a:rPr lang="en-US" altLang="zh-CN" smtClean="0">
                <a:ea typeface="黑体" panose="02010609060101010101" pitchFamily="49" charset="-122"/>
              </a:rPr>
              <a:t> NAT</a:t>
            </a:r>
            <a:r>
              <a:rPr lang="zh-CN" altLang="en-US" smtClean="0">
                <a:ea typeface="黑体" panose="02010609060101010101" pitchFamily="49" charset="-122"/>
              </a:rPr>
              <a:t>。这是</a:t>
            </a:r>
            <a:r>
              <a:rPr lang="zh-CN" altLang="zh-CN" smtClean="0">
                <a:ea typeface="黑体" panose="02010609060101010101" pitchFamily="49" charset="-122"/>
              </a:rPr>
              <a:t>目前使用得最多的方法</a:t>
            </a:r>
            <a:r>
              <a:rPr lang="zh-CN" altLang="en-US" smtClean="0">
                <a:ea typeface="黑体" panose="02010609060101010101" pitchFamily="49" charset="-122"/>
              </a:rPr>
              <a:t>。</a:t>
            </a:r>
            <a:endParaRPr lang="zh-CN" altLang="zh-CN" smtClean="0">
              <a:ea typeface="黑体" panose="02010609060101010101" pitchFamily="49" charset="-122"/>
            </a:endParaRPr>
          </a:p>
          <a:p>
            <a:endParaRPr lang="en-US" altLang="zh-CN" smtClean="0">
              <a:ea typeface="黑体" panose="02010609060101010101" pitchFamily="49" charset="-122"/>
            </a:endParaRPr>
          </a:p>
        </p:txBody>
      </p:sp>
      <p:sp>
        <p:nvSpPr>
          <p:cNvPr id="1251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696D7E-F884-4CAE-8149-7A88FB3CC539}" type="slidenum">
              <a:rPr lang="zh-CN" altLang="en-US" smtClean="0"/>
              <a:pPr eaLnBrk="1" hangingPunct="1"/>
              <a:t>43</a:t>
            </a:fld>
            <a:endParaRPr lang="en-US" altLang="zh-CN" smtClean="0"/>
          </a:p>
        </p:txBody>
      </p:sp>
      <p:sp>
        <p:nvSpPr>
          <p:cNvPr id="1251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1993255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33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 </a:t>
            </a:r>
            <a:r>
              <a:rPr lang="en-US" altLang="zh-CN" smtClean="0">
                <a:ea typeface="黑体" panose="02010609060101010101" pitchFamily="49" charset="-122"/>
              </a:rPr>
              <a:t>NAT</a:t>
            </a:r>
            <a:endParaRPr lang="en-US" altLang="zh-CN" sz="3600" smtClean="0">
              <a:ea typeface="黑体" panose="02010609060101010101" pitchFamily="49" charset="-122"/>
            </a:endParaRPr>
          </a:p>
        </p:txBody>
      </p:sp>
      <p:sp>
        <p:nvSpPr>
          <p:cNvPr id="628739" name="Rectangle 3"/>
          <p:cNvSpPr>
            <a:spLocks noGrp="1" noChangeArrowheads="1"/>
          </p:cNvSpPr>
          <p:nvPr>
            <p:ph idx="1"/>
          </p:nvPr>
        </p:nvSpPr>
        <p:spPr>
          <a:xfrm>
            <a:off x="495300" y="1196975"/>
            <a:ext cx="9066213" cy="4933950"/>
          </a:xfrm>
        </p:spPr>
        <p:txBody>
          <a:bodyPr/>
          <a:lstStyle/>
          <a:p>
            <a:r>
              <a:rPr lang="zh-CN" altLang="en-US" u="sng" dirty="0" smtClean="0">
                <a:solidFill>
                  <a:srgbClr val="FF0000"/>
                </a:solidFill>
                <a:ea typeface="黑体" panose="02010609060101010101" pitchFamily="49" charset="-122"/>
              </a:rPr>
              <a:t>网络地址转换 </a:t>
            </a:r>
            <a:r>
              <a:rPr lang="en-US" altLang="zh-CN" u="sng" dirty="0" smtClean="0">
                <a:ea typeface="黑体" panose="02010609060101010101" pitchFamily="49" charset="-122"/>
              </a:rPr>
              <a:t>NAT (Network Address Translation)  </a:t>
            </a:r>
            <a:r>
              <a:rPr lang="zh-CN" altLang="en-US" dirty="0" smtClean="0">
                <a:ea typeface="黑体" panose="02010609060101010101" pitchFamily="49" charset="-122"/>
              </a:rPr>
              <a:t>方法于</a:t>
            </a:r>
            <a:r>
              <a:rPr lang="en-US" altLang="zh-CN" dirty="0" smtClean="0">
                <a:ea typeface="黑体" panose="02010609060101010101" pitchFamily="49" charset="-122"/>
              </a:rPr>
              <a:t>1994</a:t>
            </a:r>
            <a:r>
              <a:rPr lang="zh-CN" altLang="en-US" dirty="0" smtClean="0">
                <a:ea typeface="黑体" panose="02010609060101010101" pitchFamily="49" charset="-122"/>
              </a:rPr>
              <a:t>年提出。</a:t>
            </a:r>
          </a:p>
          <a:p>
            <a:r>
              <a:rPr lang="zh-CN" altLang="en-US" dirty="0" smtClean="0">
                <a:ea typeface="黑体" panose="02010609060101010101" pitchFamily="49" charset="-122"/>
              </a:rPr>
              <a:t>需要在专用网连接到互联网的路由器上安装 </a:t>
            </a:r>
            <a:r>
              <a:rPr lang="en-US" altLang="zh-CN" dirty="0" smtClean="0">
                <a:ea typeface="黑体" panose="02010609060101010101" pitchFamily="49" charset="-122"/>
              </a:rPr>
              <a:t>NAT </a:t>
            </a:r>
            <a:r>
              <a:rPr lang="zh-CN" altLang="en-US" dirty="0" smtClean="0">
                <a:ea typeface="黑体" panose="02010609060101010101" pitchFamily="49" charset="-122"/>
              </a:rPr>
              <a:t>软件。装有 </a:t>
            </a:r>
            <a:r>
              <a:rPr lang="en-US" altLang="zh-CN" dirty="0" smtClean="0">
                <a:ea typeface="黑体" panose="02010609060101010101" pitchFamily="49" charset="-122"/>
              </a:rPr>
              <a:t>NAT </a:t>
            </a:r>
            <a:r>
              <a:rPr lang="zh-CN" altLang="en-US" dirty="0" smtClean="0">
                <a:ea typeface="黑体" panose="02010609060101010101" pitchFamily="49" charset="-122"/>
              </a:rPr>
              <a:t>软件的路由器叫作 </a:t>
            </a:r>
            <a:r>
              <a:rPr lang="en-US" altLang="zh-CN" dirty="0" smtClean="0">
                <a:solidFill>
                  <a:srgbClr val="FF0000"/>
                </a:solidFill>
                <a:ea typeface="黑体" panose="02010609060101010101" pitchFamily="49" charset="-122"/>
              </a:rPr>
              <a:t>NAT</a:t>
            </a:r>
            <a:r>
              <a:rPr lang="zh-CN" altLang="en-US" dirty="0" smtClean="0">
                <a:solidFill>
                  <a:srgbClr val="FF0000"/>
                </a:solidFill>
                <a:ea typeface="黑体" panose="02010609060101010101" pitchFamily="49" charset="-122"/>
              </a:rPr>
              <a:t>路由器，</a:t>
            </a:r>
            <a:r>
              <a:rPr lang="zh-CN" altLang="en-US" dirty="0" smtClean="0">
                <a:solidFill>
                  <a:srgbClr val="0000FF"/>
                </a:solidFill>
                <a:ea typeface="黑体" panose="02010609060101010101" pitchFamily="49" charset="-122"/>
              </a:rPr>
              <a:t>它至少有一个有效的外部全球</a:t>
            </a:r>
            <a:r>
              <a:rPr lang="en-US" altLang="zh-CN" dirty="0" smtClean="0">
                <a:solidFill>
                  <a:srgbClr val="0000FF"/>
                </a:solidFill>
                <a:ea typeface="黑体" panose="02010609060101010101" pitchFamily="49" charset="-122"/>
              </a:rPr>
              <a:t>IP</a:t>
            </a:r>
            <a:r>
              <a:rPr lang="zh-CN" altLang="en-US" dirty="0" smtClean="0">
                <a:solidFill>
                  <a:srgbClr val="0000FF"/>
                </a:solidFill>
                <a:ea typeface="黑体" panose="02010609060101010101" pitchFamily="49" charset="-122"/>
              </a:rPr>
              <a:t>地址。</a:t>
            </a:r>
          </a:p>
          <a:p>
            <a:r>
              <a:rPr lang="zh-CN" altLang="en-US" dirty="0" smtClean="0">
                <a:ea typeface="黑体" panose="02010609060101010101" pitchFamily="49" charset="-122"/>
              </a:rPr>
              <a:t>所有使用本地地址的主机在和外界通信时，都要在 </a:t>
            </a:r>
            <a:r>
              <a:rPr lang="en-US" altLang="zh-CN" dirty="0" smtClean="0">
                <a:ea typeface="黑体" panose="02010609060101010101" pitchFamily="49" charset="-122"/>
              </a:rPr>
              <a:t>NAT </a:t>
            </a:r>
            <a:r>
              <a:rPr lang="zh-CN" altLang="en-US" dirty="0" smtClean="0">
                <a:ea typeface="黑体" panose="02010609060101010101" pitchFamily="49" charset="-122"/>
              </a:rPr>
              <a:t>路由器</a:t>
            </a:r>
            <a:r>
              <a:rPr lang="zh-CN" altLang="en-US" dirty="0" smtClean="0">
                <a:solidFill>
                  <a:srgbClr val="FF0000"/>
                </a:solidFill>
                <a:ea typeface="黑体" panose="02010609060101010101" pitchFamily="49" charset="-122"/>
              </a:rPr>
              <a:t>上将其本地地址转换成</a:t>
            </a:r>
            <a:r>
              <a:rPr lang="zh-CN" altLang="zh-CN" dirty="0" smtClean="0">
                <a:solidFill>
                  <a:srgbClr val="FF0000"/>
                </a:solidFill>
                <a:ea typeface="黑体" panose="02010609060101010101" pitchFamily="49" charset="-122"/>
              </a:rPr>
              <a:t>全球</a:t>
            </a:r>
            <a:r>
              <a:rPr lang="en-US" altLang="zh-CN" dirty="0" smtClean="0">
                <a:solidFill>
                  <a:srgbClr val="FF0000"/>
                </a:solidFill>
                <a:ea typeface="黑体" panose="02010609060101010101" pitchFamily="49" charset="-122"/>
              </a:rPr>
              <a:t> IP </a:t>
            </a:r>
            <a:r>
              <a:rPr lang="zh-CN" altLang="zh-CN" dirty="0" smtClean="0">
                <a:solidFill>
                  <a:srgbClr val="FF0000"/>
                </a:solidFill>
                <a:ea typeface="黑体" panose="02010609060101010101" pitchFamily="49" charset="-122"/>
              </a:rPr>
              <a:t>地址</a:t>
            </a:r>
            <a:r>
              <a:rPr lang="zh-CN" altLang="en-US" dirty="0" smtClean="0">
                <a:solidFill>
                  <a:srgbClr val="FF0000"/>
                </a:solidFill>
                <a:ea typeface="黑体" panose="02010609060101010101" pitchFamily="49" charset="-122"/>
              </a:rPr>
              <a:t>，</a:t>
            </a:r>
            <a:r>
              <a:rPr lang="zh-CN" altLang="en-US" dirty="0" smtClean="0">
                <a:ea typeface="黑体" panose="02010609060101010101" pitchFamily="49" charset="-122"/>
              </a:rPr>
              <a:t>才能和互联网连接。</a:t>
            </a:r>
            <a:r>
              <a:rPr lang="zh-CN" altLang="en-US" sz="3600" dirty="0" smtClean="0">
                <a:ea typeface="黑体" panose="02010609060101010101" pitchFamily="49" charset="-122"/>
              </a:rPr>
              <a:t> </a:t>
            </a:r>
            <a:r>
              <a:rPr lang="zh-CN" altLang="en-US" dirty="0" smtClean="0">
                <a:ea typeface="黑体" panose="02010609060101010101" pitchFamily="49" charset="-122"/>
              </a:rPr>
              <a:t> </a:t>
            </a:r>
          </a:p>
        </p:txBody>
      </p:sp>
      <p:sp>
        <p:nvSpPr>
          <p:cNvPr id="12533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A2B197-DA01-46E5-B20F-00A2C894C9AB}" type="slidenum">
              <a:rPr lang="zh-CN" altLang="en-US" smtClean="0"/>
              <a:pPr eaLnBrk="1" hangingPunct="1"/>
              <a:t>44</a:t>
            </a:fld>
            <a:endParaRPr lang="en-US" altLang="zh-CN" smtClean="0"/>
          </a:p>
        </p:txBody>
      </p:sp>
      <p:sp>
        <p:nvSpPr>
          <p:cNvPr id="12533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1564425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873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87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5425" name="Rectangle 2"/>
          <p:cNvSpPr>
            <a:spLocks noGrp="1" noChangeArrowheads="1"/>
          </p:cNvSpPr>
          <p:nvPr>
            <p:ph type="title"/>
          </p:nvPr>
        </p:nvSpPr>
        <p:spPr/>
        <p:txBody>
          <a:bodyPr/>
          <a:lstStyle/>
          <a:p>
            <a:pPr algn="ctr"/>
            <a:r>
              <a:rPr lang="zh-CN" altLang="en-US" smtClean="0">
                <a:ea typeface="黑体" panose="02010609060101010101" pitchFamily="49" charset="-122"/>
              </a:rPr>
              <a:t>网络地址转换的过程</a:t>
            </a:r>
            <a:endParaRPr lang="zh-CN" altLang="en-US" sz="3600" smtClean="0">
              <a:ea typeface="黑体" panose="02010609060101010101" pitchFamily="49" charset="-122"/>
            </a:endParaRPr>
          </a:p>
        </p:txBody>
      </p:sp>
      <p:sp>
        <p:nvSpPr>
          <p:cNvPr id="1255426" name="Line 74"/>
          <p:cNvSpPr>
            <a:spLocks noChangeShapeType="1"/>
          </p:cNvSpPr>
          <p:nvPr/>
        </p:nvSpPr>
        <p:spPr bwMode="auto">
          <a:xfrm>
            <a:off x="8826500" y="3582988"/>
            <a:ext cx="639763" cy="171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27" name="Line 73"/>
          <p:cNvSpPr>
            <a:spLocks noChangeShapeType="1"/>
          </p:cNvSpPr>
          <p:nvPr/>
        </p:nvSpPr>
        <p:spPr bwMode="auto">
          <a:xfrm>
            <a:off x="8429625" y="4184650"/>
            <a:ext cx="636588" cy="43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28" name="Line 72"/>
          <p:cNvSpPr>
            <a:spLocks noChangeShapeType="1"/>
          </p:cNvSpPr>
          <p:nvPr/>
        </p:nvSpPr>
        <p:spPr bwMode="auto">
          <a:xfrm flipV="1">
            <a:off x="8509000" y="2806700"/>
            <a:ext cx="557213" cy="344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nvGrpSpPr>
          <p:cNvPr id="1255429" name="Group 61"/>
          <p:cNvGrpSpPr>
            <a:grpSpLocks/>
          </p:cNvGrpSpPr>
          <p:nvPr/>
        </p:nvGrpSpPr>
        <p:grpSpPr bwMode="auto">
          <a:xfrm flipH="1">
            <a:off x="1722438" y="3754438"/>
            <a:ext cx="1038225" cy="258762"/>
            <a:chOff x="521" y="2478"/>
            <a:chExt cx="1044" cy="136"/>
          </a:xfrm>
        </p:grpSpPr>
        <p:sp>
          <p:nvSpPr>
            <p:cNvPr id="1255430" name="AutoShape 62"/>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31" name="Rectangle 63"/>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32" name="Rectangle 64"/>
            <p:cNvSpPr>
              <a:spLocks noChangeArrowheads="1"/>
            </p:cNvSpPr>
            <p:nvPr/>
          </p:nvSpPr>
          <p:spPr bwMode="auto">
            <a:xfrm>
              <a:off x="1156" y="2478"/>
              <a:ext cx="227" cy="136"/>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33" name="Rectangle 43"/>
          <p:cNvSpPr>
            <a:spLocks noChangeArrowheads="1"/>
          </p:cNvSpPr>
          <p:nvPr/>
        </p:nvSpPr>
        <p:spPr bwMode="auto">
          <a:xfrm>
            <a:off x="874713" y="2117725"/>
            <a:ext cx="2684462" cy="2154238"/>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34" name="Line 37"/>
          <p:cNvSpPr>
            <a:spLocks noChangeShapeType="1"/>
          </p:cNvSpPr>
          <p:nvPr/>
        </p:nvSpPr>
        <p:spPr bwMode="auto">
          <a:xfrm>
            <a:off x="1003300" y="3667125"/>
            <a:ext cx="30353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35" name="Line 34"/>
          <p:cNvSpPr>
            <a:spLocks noChangeShapeType="1"/>
          </p:cNvSpPr>
          <p:nvPr/>
        </p:nvSpPr>
        <p:spPr bwMode="auto">
          <a:xfrm>
            <a:off x="4117975" y="3667125"/>
            <a:ext cx="2155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aphicFrame>
        <p:nvGraphicFramePr>
          <p:cNvPr id="1255436" name="Object 4"/>
          <p:cNvGraphicFramePr>
            <a:graphicFrameLocks noChangeAspect="1"/>
          </p:cNvGraphicFramePr>
          <p:nvPr/>
        </p:nvGraphicFramePr>
        <p:xfrm>
          <a:off x="6113463" y="2547938"/>
          <a:ext cx="3041650" cy="2039937"/>
        </p:xfrm>
        <a:graphic>
          <a:graphicData uri="http://schemas.openxmlformats.org/presentationml/2006/ole">
            <mc:AlternateContent xmlns:mc="http://schemas.openxmlformats.org/markup-compatibility/2006">
              <mc:Choice xmlns:v="urn:schemas-microsoft-com:vml" Requires="v">
                <p:oleObj spid="_x0000_s3096" r:id="rId4" imgW="1687068" imgH="964692" progId="">
                  <p:embed/>
                </p:oleObj>
              </mc:Choice>
              <mc:Fallback>
                <p:oleObj r:id="rId4" imgW="1687068" imgH="964692" progId="">
                  <p:embed/>
                  <p:pic>
                    <p:nvPicPr>
                      <p:cNvPr id="125543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3463" y="2547938"/>
                        <a:ext cx="3041650" cy="203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55437" name="Picture 6"/>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78263" y="3540125"/>
            <a:ext cx="576262" cy="30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5438" name="Text Box 7"/>
          <p:cNvSpPr txBox="1">
            <a:spLocks noChangeArrowheads="1"/>
          </p:cNvSpPr>
          <p:nvPr/>
        </p:nvSpPr>
        <p:spPr bwMode="auto">
          <a:xfrm>
            <a:off x="3633788" y="2892425"/>
            <a:ext cx="9588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en-US" altLang="zh-CN" sz="2000" b="1">
                <a:solidFill>
                  <a:srgbClr val="FF0000"/>
                </a:solidFill>
                <a:ea typeface="宋体" panose="02010600030101010101" pitchFamily="2" charset="-122"/>
              </a:rPr>
              <a:t>NAT</a:t>
            </a:r>
          </a:p>
          <a:p>
            <a:pPr algn="ctr">
              <a:lnSpc>
                <a:spcPct val="90000"/>
              </a:lnSpc>
            </a:pPr>
            <a:r>
              <a:rPr lang="zh-CN" altLang="en-US" sz="2000" b="1">
                <a:solidFill>
                  <a:srgbClr val="FF0000"/>
                </a:solidFill>
                <a:ea typeface="宋体" panose="02010600030101010101" pitchFamily="2" charset="-122"/>
              </a:rPr>
              <a:t>路由器</a:t>
            </a:r>
          </a:p>
        </p:txBody>
      </p:sp>
      <p:pic>
        <p:nvPicPr>
          <p:cNvPr id="1255439" name="Picture 3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15400" y="2547938"/>
            <a:ext cx="37306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5440" name="Picture 3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48713" y="4271963"/>
            <a:ext cx="373062"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55441" name="Picture 3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15450" y="3497263"/>
            <a:ext cx="3730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5442" name="Text Box 35"/>
          <p:cNvSpPr txBox="1">
            <a:spLocks noChangeArrowheads="1"/>
          </p:cNvSpPr>
          <p:nvPr/>
        </p:nvSpPr>
        <p:spPr bwMode="auto">
          <a:xfrm>
            <a:off x="1065213" y="1676400"/>
            <a:ext cx="23812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a:solidFill>
                  <a:srgbClr val="0000FF"/>
                </a:solidFill>
                <a:ea typeface="宋体" panose="02010600030101010101" pitchFamily="2" charset="-122"/>
              </a:rPr>
              <a:t>专用网 </a:t>
            </a:r>
            <a:r>
              <a:rPr lang="en-US" altLang="zh-CN" sz="2000" b="1">
                <a:solidFill>
                  <a:srgbClr val="0000FF"/>
                </a:solidFill>
                <a:ea typeface="宋体" panose="02010600030101010101" pitchFamily="2" charset="-122"/>
              </a:rPr>
              <a:t>192.168.0.0</a:t>
            </a:r>
          </a:p>
        </p:txBody>
      </p:sp>
      <p:sp>
        <p:nvSpPr>
          <p:cNvPr id="1255443" name="Text Box 36"/>
          <p:cNvSpPr txBox="1">
            <a:spLocks noChangeArrowheads="1"/>
          </p:cNvSpPr>
          <p:nvPr/>
        </p:nvSpPr>
        <p:spPr bwMode="auto">
          <a:xfrm>
            <a:off x="7002463" y="2846388"/>
            <a:ext cx="958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a:solidFill>
                  <a:srgbClr val="000099"/>
                </a:solidFill>
                <a:ea typeface="宋体" panose="02010600030101010101" pitchFamily="2" charset="-122"/>
              </a:rPr>
              <a:t>互联网</a:t>
            </a:r>
          </a:p>
        </p:txBody>
      </p:sp>
      <p:sp>
        <p:nvSpPr>
          <p:cNvPr id="1255444" name="Line 38"/>
          <p:cNvSpPr>
            <a:spLocks noChangeShapeType="1"/>
          </p:cNvSpPr>
          <p:nvPr/>
        </p:nvSpPr>
        <p:spPr bwMode="auto">
          <a:xfrm rot="5400000">
            <a:off x="1156494" y="3382169"/>
            <a:ext cx="60166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pic>
        <p:nvPicPr>
          <p:cNvPr id="1255445" name="Picture 2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70000" y="2952750"/>
            <a:ext cx="37306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55446" name="Group 42"/>
          <p:cNvGrpSpPr>
            <a:grpSpLocks/>
          </p:cNvGrpSpPr>
          <p:nvPr/>
        </p:nvGrpSpPr>
        <p:grpSpPr bwMode="auto">
          <a:xfrm>
            <a:off x="2281238" y="3324225"/>
            <a:ext cx="1038225" cy="258763"/>
            <a:chOff x="521" y="2478"/>
            <a:chExt cx="1044" cy="136"/>
          </a:xfrm>
        </p:grpSpPr>
        <p:sp>
          <p:nvSpPr>
            <p:cNvPr id="1255447" name="AutoShape 41"/>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48" name="Rectangle 39"/>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49" name="Rectangle 40"/>
            <p:cNvSpPr>
              <a:spLocks noChangeArrowheads="1"/>
            </p:cNvSpPr>
            <p:nvPr/>
          </p:nvSpPr>
          <p:spPr bwMode="auto">
            <a:xfrm>
              <a:off x="1156" y="2478"/>
              <a:ext cx="227" cy="136"/>
            </a:xfrm>
            <a:prstGeom prst="rect">
              <a:avLst/>
            </a:prstGeom>
            <a:solidFill>
              <a:srgbClr val="66FF66"/>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50" name="Text Box 44"/>
          <p:cNvSpPr txBox="1">
            <a:spLocks noChangeArrowheads="1"/>
          </p:cNvSpPr>
          <p:nvPr/>
        </p:nvSpPr>
        <p:spPr bwMode="auto">
          <a:xfrm>
            <a:off x="2144713" y="2168525"/>
            <a:ext cx="14033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00"/>
                </a:solidFill>
                <a:ea typeface="宋体" panose="02010600030101010101" pitchFamily="2" charset="-122"/>
              </a:rPr>
              <a:t>源 </a:t>
            </a:r>
            <a:r>
              <a:rPr lang="en-US" altLang="zh-CN" b="1">
                <a:solidFill>
                  <a:srgbClr val="990000"/>
                </a:solidFill>
                <a:ea typeface="宋体" panose="02010600030101010101" pitchFamily="2" charset="-122"/>
              </a:rPr>
              <a:t>IP </a:t>
            </a:r>
            <a:r>
              <a:rPr lang="zh-CN" altLang="en-US" b="1">
                <a:solidFill>
                  <a:srgbClr val="990000"/>
                </a:solidFill>
                <a:ea typeface="宋体" panose="02010600030101010101" pitchFamily="2" charset="-122"/>
              </a:rPr>
              <a:t>地址</a:t>
            </a:r>
          </a:p>
          <a:p>
            <a:pPr algn="ctr">
              <a:lnSpc>
                <a:spcPct val="90000"/>
              </a:lnSpc>
            </a:pPr>
            <a:r>
              <a:rPr lang="en-US" altLang="zh-CN" b="1">
                <a:solidFill>
                  <a:srgbClr val="990000"/>
                </a:solidFill>
                <a:ea typeface="宋体" panose="02010600030101010101" pitchFamily="2" charset="-122"/>
              </a:rPr>
              <a:t>192.168.0.3</a:t>
            </a:r>
          </a:p>
        </p:txBody>
      </p:sp>
      <p:sp>
        <p:nvSpPr>
          <p:cNvPr id="1255451" name="Text Box 45"/>
          <p:cNvSpPr txBox="1">
            <a:spLocks noChangeArrowheads="1"/>
          </p:cNvSpPr>
          <p:nvPr/>
        </p:nvSpPr>
        <p:spPr bwMode="auto">
          <a:xfrm>
            <a:off x="739775" y="2389188"/>
            <a:ext cx="14033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0000FF"/>
                </a:solidFill>
                <a:ea typeface="宋体" panose="02010600030101010101" pitchFamily="2" charset="-122"/>
              </a:rPr>
              <a:t>主机 </a:t>
            </a:r>
            <a:r>
              <a:rPr lang="en-US" altLang="zh-CN" b="1">
                <a:solidFill>
                  <a:srgbClr val="0000FF"/>
                </a:solidFill>
                <a:ea typeface="宋体" panose="02010600030101010101" pitchFamily="2" charset="-122"/>
              </a:rPr>
              <a:t>A</a:t>
            </a:r>
          </a:p>
          <a:p>
            <a:pPr algn="ctr">
              <a:lnSpc>
                <a:spcPct val="90000"/>
              </a:lnSpc>
            </a:pPr>
            <a:r>
              <a:rPr lang="en-US" altLang="zh-CN" b="1">
                <a:solidFill>
                  <a:srgbClr val="0000FF"/>
                </a:solidFill>
                <a:ea typeface="宋体" panose="02010600030101010101" pitchFamily="2" charset="-122"/>
              </a:rPr>
              <a:t>192.168.0.3</a:t>
            </a:r>
          </a:p>
        </p:txBody>
      </p:sp>
      <p:grpSp>
        <p:nvGrpSpPr>
          <p:cNvPr id="1255452" name="Group 46"/>
          <p:cNvGrpSpPr>
            <a:grpSpLocks/>
          </p:cNvGrpSpPr>
          <p:nvPr/>
        </p:nvGrpSpPr>
        <p:grpSpPr bwMode="auto">
          <a:xfrm>
            <a:off x="4756150" y="3324225"/>
            <a:ext cx="1038225" cy="258763"/>
            <a:chOff x="521" y="2478"/>
            <a:chExt cx="1044" cy="136"/>
          </a:xfrm>
        </p:grpSpPr>
        <p:sp>
          <p:nvSpPr>
            <p:cNvPr id="1255453" name="AutoShape 47"/>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54" name="Rectangle 48"/>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55" name="Rectangle 49"/>
            <p:cNvSpPr>
              <a:spLocks noChangeArrowheads="1"/>
            </p:cNvSpPr>
            <p:nvPr/>
          </p:nvSpPr>
          <p:spPr bwMode="auto">
            <a:xfrm>
              <a:off x="1156" y="2478"/>
              <a:ext cx="227" cy="136"/>
            </a:xfrm>
            <a:prstGeom prst="rect">
              <a:avLst/>
            </a:prstGeom>
            <a:solidFill>
              <a:srgbClr val="FF66FF"/>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56" name="Text Box 50"/>
          <p:cNvSpPr txBox="1">
            <a:spLocks noChangeArrowheads="1"/>
          </p:cNvSpPr>
          <p:nvPr/>
        </p:nvSpPr>
        <p:spPr bwMode="auto">
          <a:xfrm>
            <a:off x="5191125" y="2339975"/>
            <a:ext cx="12747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99"/>
                </a:solidFill>
                <a:ea typeface="黑体" panose="02010609060101010101" pitchFamily="49" charset="-122"/>
              </a:rPr>
              <a:t>源 </a:t>
            </a:r>
            <a:r>
              <a:rPr lang="en-US" altLang="zh-CN" b="1">
                <a:solidFill>
                  <a:srgbClr val="990099"/>
                </a:solidFill>
                <a:ea typeface="黑体" panose="02010609060101010101" pitchFamily="49" charset="-122"/>
              </a:rPr>
              <a:t>IP </a:t>
            </a:r>
            <a:r>
              <a:rPr lang="zh-CN" altLang="en-US" b="1">
                <a:solidFill>
                  <a:srgbClr val="990099"/>
                </a:solidFill>
                <a:ea typeface="黑体" panose="02010609060101010101" pitchFamily="49" charset="-122"/>
              </a:rPr>
              <a:t>地址</a:t>
            </a:r>
          </a:p>
          <a:p>
            <a:pPr algn="ctr">
              <a:lnSpc>
                <a:spcPct val="90000"/>
              </a:lnSpc>
            </a:pPr>
            <a:r>
              <a:rPr lang="en-US" altLang="zh-CN" b="1">
                <a:solidFill>
                  <a:srgbClr val="990099"/>
                </a:solidFill>
                <a:ea typeface="黑体" panose="02010609060101010101" pitchFamily="49" charset="-122"/>
              </a:rPr>
              <a:t>172.38.1.5</a:t>
            </a:r>
          </a:p>
        </p:txBody>
      </p:sp>
      <p:sp>
        <p:nvSpPr>
          <p:cNvPr id="1255457" name="Line 51"/>
          <p:cNvSpPr>
            <a:spLocks noChangeShapeType="1"/>
          </p:cNvSpPr>
          <p:nvPr/>
        </p:nvSpPr>
        <p:spPr bwMode="auto">
          <a:xfrm>
            <a:off x="3000375" y="2719388"/>
            <a:ext cx="0" cy="7778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58" name="Text Box 52"/>
          <p:cNvSpPr txBox="1">
            <a:spLocks noChangeArrowheads="1"/>
          </p:cNvSpPr>
          <p:nvPr/>
        </p:nvSpPr>
        <p:spPr bwMode="auto">
          <a:xfrm>
            <a:off x="8486775" y="1957388"/>
            <a:ext cx="1274763"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000099"/>
                </a:solidFill>
                <a:ea typeface="宋体" panose="02010600030101010101" pitchFamily="2" charset="-122"/>
              </a:rPr>
              <a:t>主机 </a:t>
            </a:r>
            <a:r>
              <a:rPr lang="en-US" altLang="zh-CN" b="1">
                <a:solidFill>
                  <a:srgbClr val="000099"/>
                </a:solidFill>
                <a:ea typeface="宋体" panose="02010600030101010101" pitchFamily="2" charset="-122"/>
              </a:rPr>
              <a:t>B</a:t>
            </a:r>
          </a:p>
          <a:p>
            <a:pPr algn="ctr">
              <a:lnSpc>
                <a:spcPct val="90000"/>
              </a:lnSpc>
            </a:pPr>
            <a:r>
              <a:rPr lang="en-US" altLang="zh-CN" b="1">
                <a:solidFill>
                  <a:srgbClr val="000099"/>
                </a:solidFill>
                <a:ea typeface="宋体" panose="02010600030101010101" pitchFamily="2" charset="-122"/>
              </a:rPr>
              <a:t>213.18.2.4</a:t>
            </a:r>
          </a:p>
        </p:txBody>
      </p:sp>
      <p:sp>
        <p:nvSpPr>
          <p:cNvPr id="1255459" name="Line 53"/>
          <p:cNvSpPr>
            <a:spLocks noChangeShapeType="1"/>
          </p:cNvSpPr>
          <p:nvPr/>
        </p:nvSpPr>
        <p:spPr bwMode="auto">
          <a:xfrm flipH="1">
            <a:off x="5473700" y="2892425"/>
            <a:ext cx="239713" cy="60483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60" name="Freeform 54"/>
          <p:cNvSpPr>
            <a:spLocks noChangeArrowheads="1"/>
          </p:cNvSpPr>
          <p:nvPr/>
        </p:nvSpPr>
        <p:spPr bwMode="auto">
          <a:xfrm>
            <a:off x="5953125" y="2719388"/>
            <a:ext cx="2954338" cy="784225"/>
          </a:xfrm>
          <a:custGeom>
            <a:avLst/>
            <a:gdLst>
              <a:gd name="T0" fmla="*/ 0 w 1679"/>
              <a:gd name="T1" fmla="*/ 409 h 413"/>
              <a:gd name="T2" fmla="*/ 475 w 1679"/>
              <a:gd name="T3" fmla="*/ 401 h 413"/>
              <a:gd name="T4" fmla="*/ 843 w 1679"/>
              <a:gd name="T5" fmla="*/ 337 h 413"/>
              <a:gd name="T6" fmla="*/ 1147 w 1679"/>
              <a:gd name="T7" fmla="*/ 241 h 413"/>
              <a:gd name="T8" fmla="*/ 1387 w 1679"/>
              <a:gd name="T9" fmla="*/ 145 h 413"/>
              <a:gd name="T10" fmla="*/ 1679 w 1679"/>
              <a:gd name="T11" fmla="*/ 0 h 413"/>
            </a:gdLst>
            <a:ahLst/>
            <a:cxnLst>
              <a:cxn ang="0">
                <a:pos x="T0" y="T1"/>
              </a:cxn>
              <a:cxn ang="0">
                <a:pos x="T2" y="T3"/>
              </a:cxn>
              <a:cxn ang="0">
                <a:pos x="T4" y="T5"/>
              </a:cxn>
              <a:cxn ang="0">
                <a:pos x="T6" y="T7"/>
              </a:cxn>
              <a:cxn ang="0">
                <a:pos x="T8" y="T9"/>
              </a:cxn>
              <a:cxn ang="0">
                <a:pos x="T10" y="T11"/>
              </a:cxn>
            </a:cxnLst>
            <a:rect l="0" t="0" r="r" b="b"/>
            <a:pathLst>
              <a:path w="1679" h="413">
                <a:moveTo>
                  <a:pt x="0" y="409"/>
                </a:moveTo>
                <a:cubicBezTo>
                  <a:pt x="79" y="408"/>
                  <a:pt x="335" y="413"/>
                  <a:pt x="475" y="401"/>
                </a:cubicBezTo>
                <a:cubicBezTo>
                  <a:pt x="615" y="389"/>
                  <a:pt x="731" y="364"/>
                  <a:pt x="843" y="337"/>
                </a:cubicBezTo>
                <a:cubicBezTo>
                  <a:pt x="955" y="310"/>
                  <a:pt x="1056" y="273"/>
                  <a:pt x="1147" y="241"/>
                </a:cubicBezTo>
                <a:cubicBezTo>
                  <a:pt x="1238" y="209"/>
                  <a:pt x="1298" y="185"/>
                  <a:pt x="1387" y="145"/>
                </a:cubicBezTo>
                <a:cubicBezTo>
                  <a:pt x="1476" y="105"/>
                  <a:pt x="1618" y="30"/>
                  <a:pt x="1679" y="0"/>
                </a:cubicBezTo>
              </a:path>
            </a:pathLst>
          </a:custGeom>
          <a:noFill/>
          <a:ln w="38100">
            <a:solidFill>
              <a:srgbClr val="CC00CC"/>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61" name="Text Box 59"/>
          <p:cNvSpPr txBox="1">
            <a:spLocks noChangeArrowheads="1"/>
          </p:cNvSpPr>
          <p:nvPr/>
        </p:nvSpPr>
        <p:spPr bwMode="auto">
          <a:xfrm>
            <a:off x="1223963" y="4494213"/>
            <a:ext cx="145732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00"/>
                </a:solidFill>
                <a:ea typeface="宋体" panose="02010600030101010101" pitchFamily="2" charset="-122"/>
              </a:rPr>
              <a:t>目的 </a:t>
            </a:r>
            <a:r>
              <a:rPr lang="en-US" altLang="zh-CN" b="1">
                <a:solidFill>
                  <a:srgbClr val="990000"/>
                </a:solidFill>
                <a:ea typeface="宋体" panose="02010600030101010101" pitchFamily="2" charset="-122"/>
              </a:rPr>
              <a:t>IP </a:t>
            </a:r>
            <a:r>
              <a:rPr lang="zh-CN" altLang="en-US" b="1">
                <a:solidFill>
                  <a:srgbClr val="990000"/>
                </a:solidFill>
                <a:ea typeface="宋体" panose="02010600030101010101" pitchFamily="2" charset="-122"/>
              </a:rPr>
              <a:t>地址</a:t>
            </a:r>
          </a:p>
          <a:p>
            <a:pPr algn="ctr">
              <a:lnSpc>
                <a:spcPct val="90000"/>
              </a:lnSpc>
            </a:pPr>
            <a:r>
              <a:rPr lang="en-US" altLang="zh-CN" b="1">
                <a:solidFill>
                  <a:srgbClr val="990000"/>
                </a:solidFill>
                <a:ea typeface="宋体" panose="02010600030101010101" pitchFamily="2" charset="-122"/>
              </a:rPr>
              <a:t>192.168.0.3</a:t>
            </a:r>
          </a:p>
        </p:txBody>
      </p:sp>
      <p:sp>
        <p:nvSpPr>
          <p:cNvPr id="1255462" name="Line 60"/>
          <p:cNvSpPr>
            <a:spLocks noChangeShapeType="1"/>
          </p:cNvSpPr>
          <p:nvPr/>
        </p:nvSpPr>
        <p:spPr bwMode="auto">
          <a:xfrm flipH="1">
            <a:off x="2041525" y="3840163"/>
            <a:ext cx="0" cy="6540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grpSp>
        <p:nvGrpSpPr>
          <p:cNvPr id="1255463" name="Group 65"/>
          <p:cNvGrpSpPr>
            <a:grpSpLocks/>
          </p:cNvGrpSpPr>
          <p:nvPr/>
        </p:nvGrpSpPr>
        <p:grpSpPr bwMode="auto">
          <a:xfrm flipH="1">
            <a:off x="4995863" y="3754438"/>
            <a:ext cx="1038225" cy="258762"/>
            <a:chOff x="521" y="2478"/>
            <a:chExt cx="1044" cy="136"/>
          </a:xfrm>
        </p:grpSpPr>
        <p:sp>
          <p:nvSpPr>
            <p:cNvPr id="1255464" name="AutoShape 66"/>
            <p:cNvSpPr>
              <a:spLocks noChangeArrowheads="1"/>
            </p:cNvSpPr>
            <p:nvPr/>
          </p:nvSpPr>
          <p:spPr bwMode="auto">
            <a:xfrm>
              <a:off x="1383" y="2505"/>
              <a:ext cx="182" cy="91"/>
            </a:xfrm>
            <a:prstGeom prst="rightArrow">
              <a:avLst>
                <a:gd name="adj1" fmla="val 49463"/>
                <a:gd name="adj2" fmla="val 72528"/>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65" name="Rectangle 67"/>
            <p:cNvSpPr>
              <a:spLocks noChangeArrowheads="1"/>
            </p:cNvSpPr>
            <p:nvPr/>
          </p:nvSpPr>
          <p:spPr bwMode="auto">
            <a:xfrm>
              <a:off x="521" y="2478"/>
              <a:ext cx="635" cy="13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sz="2000" b="1">
                <a:solidFill>
                  <a:srgbClr val="000099"/>
                </a:solidFill>
                <a:ea typeface="宋体" panose="02010600030101010101" pitchFamily="2" charset="-122"/>
              </a:endParaRPr>
            </a:p>
          </p:txBody>
        </p:sp>
        <p:sp>
          <p:nvSpPr>
            <p:cNvPr id="1255466" name="Rectangle 68"/>
            <p:cNvSpPr>
              <a:spLocks noChangeArrowheads="1"/>
            </p:cNvSpPr>
            <p:nvPr/>
          </p:nvSpPr>
          <p:spPr bwMode="auto">
            <a:xfrm>
              <a:off x="1156" y="2478"/>
              <a:ext cx="227" cy="136"/>
            </a:xfrm>
            <a:prstGeom prst="rect">
              <a:avLst/>
            </a:prstGeom>
            <a:solidFill>
              <a:srgbClr val="FF66FF"/>
            </a:solidFill>
            <a:ln w="9525">
              <a:solidFill>
                <a:schemeClr val="tx1"/>
              </a:solidFill>
              <a:miter lim="800000"/>
              <a:headEnd/>
              <a:tailEnd/>
            </a:ln>
          </p:spPr>
          <p:txBody>
            <a:bodyPr wrap="none" anchor="ctr"/>
            <a:lstStyle/>
            <a:p>
              <a:pPr eaLnBrk="0" hangingPunct="0"/>
              <a:endParaRPr lang="zh-CN" altLang="en-US" sz="2000" b="1">
                <a:solidFill>
                  <a:srgbClr val="000099"/>
                </a:solidFill>
                <a:ea typeface="宋体" panose="02010600030101010101" pitchFamily="2" charset="-122"/>
              </a:endParaRPr>
            </a:p>
          </p:txBody>
        </p:sp>
      </p:grpSp>
      <p:sp>
        <p:nvSpPr>
          <p:cNvPr id="1255467" name="Text Box 69"/>
          <p:cNvSpPr txBox="1">
            <a:spLocks noChangeArrowheads="1"/>
          </p:cNvSpPr>
          <p:nvPr/>
        </p:nvSpPr>
        <p:spPr bwMode="auto">
          <a:xfrm>
            <a:off x="5080000" y="4494213"/>
            <a:ext cx="1457325"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b="1">
                <a:solidFill>
                  <a:srgbClr val="990099"/>
                </a:solidFill>
                <a:ea typeface="黑体" panose="02010609060101010101" pitchFamily="49" charset="-122"/>
              </a:rPr>
              <a:t>目的 </a:t>
            </a:r>
            <a:r>
              <a:rPr lang="en-US" altLang="zh-CN" b="1">
                <a:solidFill>
                  <a:srgbClr val="990099"/>
                </a:solidFill>
                <a:ea typeface="黑体" panose="02010609060101010101" pitchFamily="49" charset="-122"/>
              </a:rPr>
              <a:t>IP </a:t>
            </a:r>
            <a:r>
              <a:rPr lang="zh-CN" altLang="en-US" b="1">
                <a:solidFill>
                  <a:srgbClr val="990099"/>
                </a:solidFill>
                <a:ea typeface="黑体" panose="02010609060101010101" pitchFamily="49" charset="-122"/>
              </a:rPr>
              <a:t>地址</a:t>
            </a:r>
          </a:p>
          <a:p>
            <a:pPr algn="ctr">
              <a:lnSpc>
                <a:spcPct val="90000"/>
              </a:lnSpc>
            </a:pPr>
            <a:r>
              <a:rPr lang="en-US" altLang="zh-CN" b="1">
                <a:solidFill>
                  <a:srgbClr val="990099"/>
                </a:solidFill>
                <a:ea typeface="黑体" panose="02010609060101010101" pitchFamily="49" charset="-122"/>
              </a:rPr>
              <a:t>172.38.1.5</a:t>
            </a:r>
          </a:p>
        </p:txBody>
      </p:sp>
      <p:sp>
        <p:nvSpPr>
          <p:cNvPr id="1255468" name="Line 70"/>
          <p:cNvSpPr>
            <a:spLocks noChangeShapeType="1"/>
          </p:cNvSpPr>
          <p:nvPr/>
        </p:nvSpPr>
        <p:spPr bwMode="auto">
          <a:xfrm>
            <a:off x="5313363" y="3938588"/>
            <a:ext cx="481012" cy="5556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69" name="Freeform 71"/>
          <p:cNvSpPr>
            <a:spLocks noChangeArrowheads="1"/>
          </p:cNvSpPr>
          <p:nvPr/>
        </p:nvSpPr>
        <p:spPr bwMode="auto">
          <a:xfrm>
            <a:off x="6113463" y="3025775"/>
            <a:ext cx="2970212" cy="811213"/>
          </a:xfrm>
          <a:custGeom>
            <a:avLst/>
            <a:gdLst>
              <a:gd name="T0" fmla="*/ 0 w 1688"/>
              <a:gd name="T1" fmla="*/ 425 h 427"/>
              <a:gd name="T2" fmla="*/ 456 w 1688"/>
              <a:gd name="T3" fmla="*/ 416 h 427"/>
              <a:gd name="T4" fmla="*/ 816 w 1688"/>
              <a:gd name="T5" fmla="*/ 360 h 427"/>
              <a:gd name="T6" fmla="*/ 1080 w 1688"/>
              <a:gd name="T7" fmla="*/ 288 h 427"/>
              <a:gd name="T8" fmla="*/ 1336 w 1688"/>
              <a:gd name="T9" fmla="*/ 192 h 427"/>
              <a:gd name="T10" fmla="*/ 1688 w 1688"/>
              <a:gd name="T11" fmla="*/ 0 h 427"/>
            </a:gdLst>
            <a:ahLst/>
            <a:cxnLst>
              <a:cxn ang="0">
                <a:pos x="T0" y="T1"/>
              </a:cxn>
              <a:cxn ang="0">
                <a:pos x="T2" y="T3"/>
              </a:cxn>
              <a:cxn ang="0">
                <a:pos x="T4" y="T5"/>
              </a:cxn>
              <a:cxn ang="0">
                <a:pos x="T6" y="T7"/>
              </a:cxn>
              <a:cxn ang="0">
                <a:pos x="T8" y="T9"/>
              </a:cxn>
              <a:cxn ang="0">
                <a:pos x="T10" y="T11"/>
              </a:cxn>
            </a:cxnLst>
            <a:rect l="0" t="0" r="r" b="b"/>
            <a:pathLst>
              <a:path w="1688" h="427">
                <a:moveTo>
                  <a:pt x="0" y="425"/>
                </a:moveTo>
                <a:cubicBezTo>
                  <a:pt x="76" y="424"/>
                  <a:pt x="320" y="427"/>
                  <a:pt x="456" y="416"/>
                </a:cubicBezTo>
                <a:cubicBezTo>
                  <a:pt x="592" y="405"/>
                  <a:pt x="712" y="381"/>
                  <a:pt x="816" y="360"/>
                </a:cubicBezTo>
                <a:cubicBezTo>
                  <a:pt x="920" y="339"/>
                  <a:pt x="993" y="316"/>
                  <a:pt x="1080" y="288"/>
                </a:cubicBezTo>
                <a:cubicBezTo>
                  <a:pt x="1167" y="260"/>
                  <a:pt x="1235" y="240"/>
                  <a:pt x="1336" y="192"/>
                </a:cubicBezTo>
                <a:cubicBezTo>
                  <a:pt x="1437" y="144"/>
                  <a:pt x="1615" y="40"/>
                  <a:pt x="1688" y="0"/>
                </a:cubicBezTo>
              </a:path>
            </a:pathLst>
          </a:custGeom>
          <a:noFill/>
          <a:ln w="38100">
            <a:solidFill>
              <a:srgbClr val="CC00CC"/>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sz="2000" b="1">
              <a:solidFill>
                <a:srgbClr val="000099"/>
              </a:solidFill>
              <a:ea typeface="宋体" panose="02010600030101010101" pitchFamily="2" charset="-122"/>
            </a:endParaRPr>
          </a:p>
        </p:txBody>
      </p:sp>
      <p:sp>
        <p:nvSpPr>
          <p:cNvPr id="1255470" name="AutoShape 75"/>
          <p:cNvSpPr>
            <a:spLocks noChangeArrowheads="1"/>
          </p:cNvSpPr>
          <p:nvPr/>
        </p:nvSpPr>
        <p:spPr bwMode="auto">
          <a:xfrm>
            <a:off x="4676775" y="1244600"/>
            <a:ext cx="1860550" cy="747713"/>
          </a:xfrm>
          <a:prstGeom prst="wedgeRoundRectCallout">
            <a:avLst>
              <a:gd name="adj1" fmla="val -61991"/>
              <a:gd name="adj2" fmla="val 265088"/>
              <a:gd name="adj3" fmla="val 16667"/>
            </a:avLst>
          </a:prstGeom>
          <a:solidFill>
            <a:srgbClr val="FFFF66"/>
          </a:solidFill>
          <a:ln w="9525">
            <a:solidFill>
              <a:schemeClr val="tx1"/>
            </a:solidFill>
            <a:miter lim="800000"/>
            <a:headEnd/>
            <a:tailEnd/>
          </a:ln>
        </p:spPr>
        <p:txBody>
          <a:bodyPr/>
          <a:lstStyle/>
          <a:p>
            <a:pPr algn="ctr" eaLnBrk="0" hangingPunct="0"/>
            <a:endParaRPr lang="zh-CN" altLang="zh-CN" sz="2000" b="1">
              <a:solidFill>
                <a:srgbClr val="000099"/>
              </a:solidFill>
              <a:ea typeface="宋体" panose="02010600030101010101" pitchFamily="2" charset="-122"/>
            </a:endParaRPr>
          </a:p>
        </p:txBody>
      </p:sp>
      <p:sp>
        <p:nvSpPr>
          <p:cNvPr id="1255471" name="Text Box 76"/>
          <p:cNvSpPr txBox="1">
            <a:spLocks noChangeArrowheads="1"/>
          </p:cNvSpPr>
          <p:nvPr/>
        </p:nvSpPr>
        <p:spPr bwMode="auto">
          <a:xfrm>
            <a:off x="4797425" y="1316038"/>
            <a:ext cx="15954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b="1">
                <a:solidFill>
                  <a:srgbClr val="000099"/>
                </a:solidFill>
                <a:ea typeface="宋体" panose="02010600030101010101" pitchFamily="2" charset="-122"/>
              </a:rPr>
              <a:t>全球 </a:t>
            </a:r>
            <a:r>
              <a:rPr lang="en-US" altLang="zh-CN" sz="2000" b="1">
                <a:solidFill>
                  <a:srgbClr val="000099"/>
                </a:solidFill>
                <a:ea typeface="宋体" panose="02010600030101010101" pitchFamily="2" charset="-122"/>
              </a:rPr>
              <a:t>IP </a:t>
            </a:r>
            <a:r>
              <a:rPr lang="zh-CN" altLang="en-US" sz="2000" b="1">
                <a:solidFill>
                  <a:srgbClr val="000099"/>
                </a:solidFill>
                <a:ea typeface="宋体" panose="02010600030101010101" pitchFamily="2" charset="-122"/>
              </a:rPr>
              <a:t>地址</a:t>
            </a:r>
          </a:p>
          <a:p>
            <a:pPr algn="ctr">
              <a:lnSpc>
                <a:spcPct val="90000"/>
              </a:lnSpc>
            </a:pPr>
            <a:r>
              <a:rPr lang="en-US" altLang="zh-CN" sz="2000" b="1">
                <a:solidFill>
                  <a:srgbClr val="000099"/>
                </a:solidFill>
                <a:ea typeface="宋体" panose="02010600030101010101" pitchFamily="2" charset="-122"/>
              </a:rPr>
              <a:t>172.38.1.5</a:t>
            </a:r>
          </a:p>
        </p:txBody>
      </p:sp>
      <p:sp>
        <p:nvSpPr>
          <p:cNvPr id="1255472" name="矩形 3"/>
          <p:cNvSpPr>
            <a:spLocks noChangeArrowheads="1"/>
          </p:cNvSpPr>
          <p:nvPr/>
        </p:nvSpPr>
        <p:spPr bwMode="auto">
          <a:xfrm>
            <a:off x="2520950" y="5373688"/>
            <a:ext cx="5600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NAT </a:t>
            </a:r>
            <a:r>
              <a:rPr lang="zh-CN" altLang="zh-CN" sz="2400" b="1">
                <a:ea typeface="黑体" panose="02010609060101010101" pitchFamily="49" charset="-122"/>
              </a:rPr>
              <a:t>路由器的工作原理</a:t>
            </a:r>
            <a:endParaRPr lang="zh-CN" altLang="en-US" sz="2400" b="1">
              <a:ea typeface="黑体" panose="02010609060101010101" pitchFamily="49" charset="-122"/>
            </a:endParaRPr>
          </a:p>
        </p:txBody>
      </p:sp>
      <p:sp>
        <p:nvSpPr>
          <p:cNvPr id="125547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F9045FA-9AD4-48A8-B563-67721AA57047}" type="slidenum">
              <a:rPr lang="zh-CN" altLang="en-US" smtClean="0"/>
              <a:pPr eaLnBrk="1" hangingPunct="1"/>
              <a:t>45</a:t>
            </a:fld>
            <a:endParaRPr lang="en-US" altLang="zh-CN" smtClean="0"/>
          </a:p>
        </p:txBody>
      </p:sp>
      <p:sp>
        <p:nvSpPr>
          <p:cNvPr id="1255474" name="页脚占位符 5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8780675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74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网络地址转换的过程</a:t>
            </a:r>
            <a:endParaRPr lang="zh-CN" altLang="en-US" sz="3600" smtClean="0">
              <a:ea typeface="黑体" panose="02010609060101010101" pitchFamily="49" charset="-122"/>
            </a:endParaRPr>
          </a:p>
        </p:txBody>
      </p:sp>
      <p:sp>
        <p:nvSpPr>
          <p:cNvPr id="629763" name="Rectangle 3"/>
          <p:cNvSpPr>
            <a:spLocks noGrp="1" noChangeArrowheads="1"/>
          </p:cNvSpPr>
          <p:nvPr>
            <p:ph idx="1"/>
          </p:nvPr>
        </p:nvSpPr>
        <p:spPr>
          <a:xfrm>
            <a:off x="495300" y="1196975"/>
            <a:ext cx="9066213" cy="4933950"/>
          </a:xfrm>
        </p:spPr>
        <p:txBody>
          <a:bodyPr/>
          <a:lstStyle/>
          <a:p>
            <a:pPr>
              <a:lnSpc>
                <a:spcPct val="120000"/>
              </a:lnSpc>
            </a:pPr>
            <a:r>
              <a:rPr lang="zh-CN" altLang="en-US" sz="2800" smtClean="0">
                <a:ea typeface="黑体" panose="02010609060101010101" pitchFamily="49" charset="-122"/>
              </a:rPr>
              <a:t>内部主机 </a:t>
            </a:r>
            <a:r>
              <a:rPr lang="en-US" altLang="zh-CN" sz="2800" smtClean="0">
                <a:ea typeface="黑体" panose="02010609060101010101" pitchFamily="49" charset="-122"/>
              </a:rPr>
              <a:t>A </a:t>
            </a:r>
            <a:r>
              <a:rPr lang="zh-CN" altLang="en-US" sz="2800" smtClean="0">
                <a:ea typeface="黑体" panose="02010609060101010101" pitchFamily="49" charset="-122"/>
              </a:rPr>
              <a:t>用</a:t>
            </a:r>
            <a:r>
              <a:rPr lang="zh-CN" altLang="en-US" sz="2800" smtClean="0">
                <a:solidFill>
                  <a:srgbClr val="FF0000"/>
                </a:solidFill>
                <a:ea typeface="黑体" panose="02010609060101010101" pitchFamily="49" charset="-122"/>
              </a:rPr>
              <a:t>本地地址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A </a:t>
            </a:r>
            <a:r>
              <a:rPr lang="zh-CN" altLang="en-US" sz="2800" smtClean="0">
                <a:ea typeface="黑体" panose="02010609060101010101" pitchFamily="49" charset="-122"/>
              </a:rPr>
              <a:t>和互联网上主机 </a:t>
            </a:r>
            <a:r>
              <a:rPr lang="en-US" altLang="zh-CN" sz="2800" smtClean="0">
                <a:ea typeface="黑体" panose="02010609060101010101" pitchFamily="49" charset="-122"/>
              </a:rPr>
              <a:t>B </a:t>
            </a:r>
            <a:r>
              <a:rPr lang="zh-CN" altLang="en-US" sz="2800" smtClean="0">
                <a:ea typeface="黑体" panose="02010609060101010101" pitchFamily="49" charset="-122"/>
              </a:rPr>
              <a:t>通信所发送的数据报必须经过 </a:t>
            </a:r>
            <a:r>
              <a:rPr lang="en-US" altLang="zh-CN" sz="2800" smtClean="0">
                <a:ea typeface="黑体" panose="02010609060101010101" pitchFamily="49" charset="-122"/>
              </a:rPr>
              <a:t>NAT </a:t>
            </a:r>
            <a:r>
              <a:rPr lang="zh-CN" altLang="en-US" sz="2800" smtClean="0">
                <a:ea typeface="黑体" panose="02010609060101010101" pitchFamily="49" charset="-122"/>
              </a:rPr>
              <a:t>路由器。</a:t>
            </a:r>
          </a:p>
          <a:p>
            <a:pPr>
              <a:lnSpc>
                <a:spcPct val="120000"/>
              </a:lnSpc>
            </a:pPr>
            <a:r>
              <a:rPr lang="en-US" altLang="zh-CN" sz="2800" smtClean="0">
                <a:ea typeface="黑体" panose="02010609060101010101" pitchFamily="49" charset="-122"/>
              </a:rPr>
              <a:t>NAT </a:t>
            </a:r>
            <a:r>
              <a:rPr lang="zh-CN" altLang="en-US" sz="2800" smtClean="0">
                <a:ea typeface="黑体" panose="02010609060101010101" pitchFamily="49" charset="-122"/>
              </a:rPr>
              <a:t>路由器</a:t>
            </a:r>
            <a:r>
              <a:rPr lang="zh-CN" altLang="en-US" sz="2800" smtClean="0">
                <a:solidFill>
                  <a:srgbClr val="FF0000"/>
                </a:solidFill>
                <a:ea typeface="黑体" panose="02010609060101010101" pitchFamily="49" charset="-122"/>
              </a:rPr>
              <a:t>将数据报的源地址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A </a:t>
            </a:r>
            <a:r>
              <a:rPr lang="zh-CN" altLang="en-US" sz="2800" smtClean="0">
                <a:solidFill>
                  <a:srgbClr val="FF0000"/>
                </a:solidFill>
                <a:ea typeface="黑体" panose="02010609060101010101" pitchFamily="49" charset="-122"/>
              </a:rPr>
              <a:t>转换成全球地址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G</a:t>
            </a:r>
            <a:r>
              <a:rPr lang="zh-CN" altLang="en-US" sz="2800" smtClean="0">
                <a:solidFill>
                  <a:srgbClr val="FF0000"/>
                </a:solidFill>
                <a:ea typeface="黑体" panose="02010609060101010101" pitchFamily="49" charset="-122"/>
              </a:rPr>
              <a:t>，</a:t>
            </a:r>
            <a:r>
              <a:rPr lang="zh-CN" altLang="en-US" sz="2800" smtClean="0">
                <a:ea typeface="黑体" panose="02010609060101010101" pitchFamily="49" charset="-122"/>
              </a:rPr>
              <a:t>并把转换结果记录到</a:t>
            </a:r>
            <a:r>
              <a:rPr lang="en-US" altLang="zh-CN" sz="2800" smtClean="0">
                <a:solidFill>
                  <a:srgbClr val="FF0000"/>
                </a:solidFill>
                <a:ea typeface="黑体" panose="02010609060101010101" pitchFamily="49" charset="-122"/>
              </a:rPr>
              <a:t>NAT</a:t>
            </a:r>
            <a:r>
              <a:rPr lang="zh-CN" altLang="en-US" sz="2800" smtClean="0">
                <a:solidFill>
                  <a:srgbClr val="FF0000"/>
                </a:solidFill>
                <a:ea typeface="黑体" panose="02010609060101010101" pitchFamily="49" charset="-122"/>
              </a:rPr>
              <a:t>地址转换表</a:t>
            </a:r>
            <a:r>
              <a:rPr lang="zh-CN" altLang="en-US" sz="2800" smtClean="0">
                <a:ea typeface="黑体" panose="02010609060101010101" pitchFamily="49" charset="-122"/>
              </a:rPr>
              <a:t>中，目的地址 </a:t>
            </a:r>
            <a:r>
              <a:rPr lang="en-US" altLang="zh-CN" sz="2800" smtClean="0">
                <a:ea typeface="黑体" panose="02010609060101010101" pitchFamily="49" charset="-122"/>
              </a:rPr>
              <a:t>IP</a:t>
            </a:r>
            <a:r>
              <a:rPr lang="en-US" altLang="zh-CN" sz="2800" i="1" baseline="-25000" smtClean="0">
                <a:ea typeface="黑体" panose="02010609060101010101" pitchFamily="49" charset="-122"/>
              </a:rPr>
              <a:t>B </a:t>
            </a:r>
            <a:r>
              <a:rPr lang="zh-CN" altLang="en-US" sz="2800" smtClean="0">
                <a:ea typeface="黑体" panose="02010609060101010101" pitchFamily="49" charset="-122"/>
              </a:rPr>
              <a:t>保持不变，然后发送到互联网。</a:t>
            </a:r>
          </a:p>
          <a:p>
            <a:pPr>
              <a:lnSpc>
                <a:spcPct val="120000"/>
              </a:lnSpc>
            </a:pPr>
            <a:r>
              <a:rPr lang="en-US" altLang="zh-CN" sz="2800" smtClean="0">
                <a:ea typeface="黑体" panose="02010609060101010101" pitchFamily="49" charset="-122"/>
              </a:rPr>
              <a:t>NAT </a:t>
            </a:r>
            <a:r>
              <a:rPr lang="zh-CN" altLang="en-US" sz="2800" smtClean="0">
                <a:ea typeface="黑体" panose="02010609060101010101" pitchFamily="49" charset="-122"/>
              </a:rPr>
              <a:t>路由器收到主机 </a:t>
            </a:r>
            <a:r>
              <a:rPr lang="en-US" altLang="zh-CN" sz="2800" smtClean="0">
                <a:ea typeface="黑体" panose="02010609060101010101" pitchFamily="49" charset="-122"/>
              </a:rPr>
              <a:t>B </a:t>
            </a:r>
            <a:r>
              <a:rPr lang="zh-CN" altLang="en-US" sz="2800" smtClean="0">
                <a:ea typeface="黑体" panose="02010609060101010101" pitchFamily="49" charset="-122"/>
              </a:rPr>
              <a:t>发回的数据报时，知道数据报中的源地址是 </a:t>
            </a:r>
            <a:r>
              <a:rPr lang="en-US" altLang="zh-CN" sz="2800" smtClean="0">
                <a:ea typeface="黑体" panose="02010609060101010101" pitchFamily="49" charset="-122"/>
              </a:rPr>
              <a:t>IP</a:t>
            </a:r>
            <a:r>
              <a:rPr lang="en-US" altLang="zh-CN" sz="2800" i="1" baseline="-25000" smtClean="0">
                <a:ea typeface="黑体" panose="02010609060101010101" pitchFamily="49" charset="-122"/>
              </a:rPr>
              <a:t>B </a:t>
            </a:r>
            <a:r>
              <a:rPr lang="zh-CN" altLang="en-US" sz="2800" smtClean="0">
                <a:ea typeface="黑体" panose="02010609060101010101" pitchFamily="49" charset="-122"/>
              </a:rPr>
              <a:t>而目的地址是 </a:t>
            </a:r>
            <a:r>
              <a:rPr lang="en-US" altLang="zh-CN" sz="2800" smtClean="0">
                <a:ea typeface="黑体" panose="02010609060101010101" pitchFamily="49" charset="-122"/>
              </a:rPr>
              <a:t>IP</a:t>
            </a:r>
            <a:r>
              <a:rPr lang="en-US" altLang="zh-CN" sz="2800" i="1" baseline="-25000" smtClean="0">
                <a:ea typeface="黑体" panose="02010609060101010101" pitchFamily="49" charset="-122"/>
              </a:rPr>
              <a:t>G</a:t>
            </a:r>
            <a:r>
              <a:rPr lang="zh-CN" altLang="en-US" sz="2800" smtClean="0">
                <a:ea typeface="黑体" panose="02010609060101010101" pitchFamily="49" charset="-122"/>
              </a:rPr>
              <a:t>。</a:t>
            </a:r>
          </a:p>
          <a:p>
            <a:pPr>
              <a:lnSpc>
                <a:spcPct val="120000"/>
              </a:lnSpc>
            </a:pPr>
            <a:r>
              <a:rPr lang="zh-CN" altLang="en-US" sz="2800" smtClean="0">
                <a:solidFill>
                  <a:srgbClr val="FF0000"/>
                </a:solidFill>
                <a:ea typeface="黑体" panose="02010609060101010101" pitchFamily="49" charset="-122"/>
              </a:rPr>
              <a:t>根据 </a:t>
            </a:r>
            <a:r>
              <a:rPr lang="en-US" altLang="zh-CN" sz="2800" smtClean="0">
                <a:solidFill>
                  <a:srgbClr val="FF0000"/>
                </a:solidFill>
                <a:ea typeface="黑体" panose="02010609060101010101" pitchFamily="49" charset="-122"/>
              </a:rPr>
              <a:t>NAT </a:t>
            </a:r>
            <a:r>
              <a:rPr lang="zh-CN" altLang="en-US" sz="2800" smtClean="0">
                <a:solidFill>
                  <a:srgbClr val="FF0000"/>
                </a:solidFill>
                <a:ea typeface="黑体" panose="02010609060101010101" pitchFamily="49" charset="-122"/>
              </a:rPr>
              <a:t>转换表，</a:t>
            </a:r>
            <a:r>
              <a:rPr lang="en-US" altLang="zh-CN" sz="2800" smtClean="0">
                <a:ea typeface="黑体" panose="02010609060101010101" pitchFamily="49" charset="-122"/>
              </a:rPr>
              <a:t>NAT </a:t>
            </a:r>
            <a:r>
              <a:rPr lang="zh-CN" altLang="en-US" sz="2800" smtClean="0">
                <a:ea typeface="黑体" panose="02010609060101010101" pitchFamily="49" charset="-122"/>
              </a:rPr>
              <a:t>路由器</a:t>
            </a:r>
            <a:r>
              <a:rPr lang="zh-CN" altLang="en-US" sz="2800" smtClean="0">
                <a:solidFill>
                  <a:srgbClr val="FF0000"/>
                </a:solidFill>
                <a:ea typeface="黑体" panose="02010609060101010101" pitchFamily="49" charset="-122"/>
              </a:rPr>
              <a:t>将目的地址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G </a:t>
            </a:r>
            <a:r>
              <a:rPr lang="zh-CN" altLang="en-US" sz="2800" smtClean="0">
                <a:solidFill>
                  <a:srgbClr val="FF0000"/>
                </a:solidFill>
                <a:ea typeface="黑体" panose="02010609060101010101" pitchFamily="49" charset="-122"/>
              </a:rPr>
              <a:t>转换为 </a:t>
            </a:r>
            <a:r>
              <a:rPr lang="en-US" altLang="zh-CN" sz="2800" smtClean="0">
                <a:solidFill>
                  <a:srgbClr val="FF0000"/>
                </a:solidFill>
                <a:ea typeface="黑体" panose="02010609060101010101" pitchFamily="49" charset="-122"/>
              </a:rPr>
              <a:t>IP</a:t>
            </a:r>
            <a:r>
              <a:rPr lang="en-US" altLang="zh-CN" sz="2800" i="1" baseline="-25000" smtClean="0">
                <a:solidFill>
                  <a:srgbClr val="FF0000"/>
                </a:solidFill>
                <a:ea typeface="黑体" panose="02010609060101010101" pitchFamily="49" charset="-122"/>
              </a:rPr>
              <a:t>A</a:t>
            </a:r>
            <a:r>
              <a:rPr lang="zh-CN" altLang="en-US" sz="2800" smtClean="0">
                <a:solidFill>
                  <a:srgbClr val="FF0000"/>
                </a:solidFill>
                <a:ea typeface="黑体" panose="02010609060101010101" pitchFamily="49" charset="-122"/>
              </a:rPr>
              <a:t>，</a:t>
            </a:r>
            <a:r>
              <a:rPr lang="zh-CN" altLang="en-US" sz="2800" smtClean="0">
                <a:ea typeface="黑体" panose="02010609060101010101" pitchFamily="49" charset="-122"/>
              </a:rPr>
              <a:t>转发给最终的内部主机 </a:t>
            </a:r>
            <a:r>
              <a:rPr lang="en-US" altLang="zh-CN" sz="2800" smtClean="0">
                <a:ea typeface="黑体" panose="02010609060101010101" pitchFamily="49" charset="-122"/>
              </a:rPr>
              <a:t>A</a:t>
            </a:r>
            <a:r>
              <a:rPr lang="zh-CN" altLang="en-US" sz="2800" smtClean="0">
                <a:ea typeface="黑体" panose="02010609060101010101" pitchFamily="49" charset="-122"/>
              </a:rPr>
              <a:t>。 </a:t>
            </a:r>
          </a:p>
        </p:txBody>
      </p:sp>
      <p:sp>
        <p:nvSpPr>
          <p:cNvPr id="12574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3F3F62-46E4-46D1-8401-7A906CCC5180}" type="slidenum">
              <a:rPr lang="zh-CN" altLang="en-US" smtClean="0"/>
              <a:pPr eaLnBrk="1" hangingPunct="1"/>
              <a:t>46</a:t>
            </a:fld>
            <a:endParaRPr lang="en-US" altLang="zh-CN" smtClean="0"/>
          </a:p>
        </p:txBody>
      </p:sp>
      <p:sp>
        <p:nvSpPr>
          <p:cNvPr id="12574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129947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2976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297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2976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网络地址转换的过程</a:t>
            </a:r>
            <a:endParaRPr lang="zh-CN" altLang="en-US" sz="3600" smtClean="0">
              <a:ea typeface="黑体" panose="02010609060101010101" pitchFamily="49" charset="-122"/>
            </a:endParaRPr>
          </a:p>
        </p:txBody>
      </p:sp>
      <p:sp>
        <p:nvSpPr>
          <p:cNvPr id="1259522" name="Rectangle 3"/>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可以看出，在内部主机与外部主机通信时，在</a:t>
            </a:r>
            <a:r>
              <a:rPr lang="en-US" altLang="zh-CN" sz="2800" smtClean="0">
                <a:ea typeface="黑体" panose="02010609060101010101" pitchFamily="49" charset="-122"/>
              </a:rPr>
              <a:t>NAT</a:t>
            </a:r>
            <a:r>
              <a:rPr lang="zh-CN" altLang="en-US" sz="2800" smtClean="0">
                <a:ea typeface="黑体" panose="02010609060101010101" pitchFamily="49" charset="-122"/>
              </a:rPr>
              <a:t>路由器上发生了</a:t>
            </a:r>
            <a:r>
              <a:rPr lang="zh-CN" altLang="en-US" sz="2800" smtClean="0">
                <a:solidFill>
                  <a:srgbClr val="FF0000"/>
                </a:solidFill>
                <a:ea typeface="黑体" panose="02010609060101010101" pitchFamily="49" charset="-122"/>
              </a:rPr>
              <a:t>两次地址转换：</a:t>
            </a:r>
            <a:endParaRPr lang="en-US" altLang="zh-CN" sz="2800" smtClean="0">
              <a:solidFill>
                <a:srgbClr val="FF0000"/>
              </a:solidFill>
              <a:ea typeface="黑体" panose="02010609060101010101" pitchFamily="49" charset="-122"/>
            </a:endParaRPr>
          </a:p>
          <a:p>
            <a:pPr lvl="1"/>
            <a:r>
              <a:rPr lang="zh-CN" altLang="en-US" sz="2400" smtClean="0">
                <a:solidFill>
                  <a:srgbClr val="0000FF"/>
                </a:solidFill>
                <a:ea typeface="黑体" panose="02010609060101010101" pitchFamily="49" charset="-122"/>
              </a:rPr>
              <a:t>离开专用网时：</a:t>
            </a:r>
            <a:r>
              <a:rPr lang="zh-CN" altLang="en-US" sz="2400" smtClean="0">
                <a:ea typeface="黑体" panose="02010609060101010101" pitchFamily="49" charset="-122"/>
              </a:rPr>
              <a:t>替换源地址，将内部地址替换为全球地址；</a:t>
            </a:r>
            <a:endParaRPr lang="en-US" altLang="zh-CN" sz="2400" smtClean="0">
              <a:ea typeface="黑体" panose="02010609060101010101" pitchFamily="49" charset="-122"/>
            </a:endParaRPr>
          </a:p>
          <a:p>
            <a:pPr lvl="1"/>
            <a:r>
              <a:rPr lang="zh-CN" altLang="en-US" sz="2400" smtClean="0">
                <a:solidFill>
                  <a:srgbClr val="0000FF"/>
                </a:solidFill>
                <a:ea typeface="黑体" panose="02010609060101010101" pitchFamily="49" charset="-122"/>
              </a:rPr>
              <a:t>进入专用网时：</a:t>
            </a:r>
            <a:r>
              <a:rPr lang="zh-CN" altLang="en-US" sz="2400" smtClean="0">
                <a:ea typeface="黑体" panose="02010609060101010101" pitchFamily="49" charset="-122"/>
              </a:rPr>
              <a:t>替换目的地址，将全球地址替换为内部地址；</a:t>
            </a:r>
          </a:p>
        </p:txBody>
      </p:sp>
      <p:graphicFrame>
        <p:nvGraphicFramePr>
          <p:cNvPr id="2" name="表格 1"/>
          <p:cNvGraphicFramePr>
            <a:graphicFrameLocks noGrp="1"/>
          </p:cNvGraphicFramePr>
          <p:nvPr/>
        </p:nvGraphicFramePr>
        <p:xfrm>
          <a:off x="849313" y="3789363"/>
          <a:ext cx="8496300" cy="2087560"/>
        </p:xfrm>
        <a:graphic>
          <a:graphicData uri="http://schemas.openxmlformats.org/drawingml/2006/table">
            <a:tbl>
              <a:tblPr firstRow="1" firstCol="1" lastRow="1" lastCol="1" bandRow="1" bandCol="1">
                <a:tableStyleId>{5C22544A-7EE6-4342-B048-85BDC9FD1C3A}</a:tableStyleId>
              </a:tblPr>
              <a:tblGrid>
                <a:gridCol w="1763383">
                  <a:extLst>
                    <a:ext uri="{9D8B030D-6E8A-4147-A177-3AD203B41FA5}">
                      <a16:colId xmlns:a16="http://schemas.microsoft.com/office/drawing/2014/main" val="20000"/>
                    </a:ext>
                  </a:extLst>
                </a:gridCol>
                <a:gridCol w="2545073">
                  <a:extLst>
                    <a:ext uri="{9D8B030D-6E8A-4147-A177-3AD203B41FA5}">
                      <a16:colId xmlns:a16="http://schemas.microsoft.com/office/drawing/2014/main" val="20001"/>
                    </a:ext>
                  </a:extLst>
                </a:gridCol>
                <a:gridCol w="2103846">
                  <a:extLst>
                    <a:ext uri="{9D8B030D-6E8A-4147-A177-3AD203B41FA5}">
                      <a16:colId xmlns:a16="http://schemas.microsoft.com/office/drawing/2014/main" val="20002"/>
                    </a:ext>
                  </a:extLst>
                </a:gridCol>
                <a:gridCol w="2083998">
                  <a:extLst>
                    <a:ext uri="{9D8B030D-6E8A-4147-A177-3AD203B41FA5}">
                      <a16:colId xmlns:a16="http://schemas.microsoft.com/office/drawing/2014/main" val="20003"/>
                    </a:ext>
                  </a:extLst>
                </a:gridCol>
              </a:tblGrid>
              <a:tr h="417512">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方向</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字段</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旧的</a:t>
                      </a:r>
                      <a:r>
                        <a:rPr lang="en-US" sz="2400" b="1" dirty="0">
                          <a:solidFill>
                            <a:schemeClr val="tx1"/>
                          </a:solidFill>
                          <a:effectLst/>
                          <a:latin typeface="+mn-lt"/>
                          <a:ea typeface="黑体" panose="02010609060101010101" pitchFamily="2" charset="-122"/>
                        </a:rPr>
                        <a:t>IP</a:t>
                      </a:r>
                      <a:r>
                        <a:rPr lang="zh-CN" sz="2400" b="1" dirty="0">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新的</a:t>
                      </a:r>
                      <a:r>
                        <a:rPr lang="en-US" sz="2400" b="1" dirty="0">
                          <a:solidFill>
                            <a:schemeClr val="tx1"/>
                          </a:solidFill>
                          <a:effectLst/>
                          <a:latin typeface="+mn-lt"/>
                          <a:ea typeface="黑体" panose="02010609060101010101" pitchFamily="2" charset="-122"/>
                        </a:rPr>
                        <a:t>IP</a:t>
                      </a:r>
                      <a:r>
                        <a:rPr lang="zh-CN" sz="2400" b="1" dirty="0">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出</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源</a:t>
                      </a:r>
                      <a:r>
                        <a:rPr lang="en-US" sz="2400" b="1">
                          <a:solidFill>
                            <a:schemeClr val="tx1"/>
                          </a:solidFill>
                          <a:effectLst/>
                          <a:latin typeface="+mn-lt"/>
                          <a:ea typeface="黑体" panose="02010609060101010101" pitchFamily="2" charset="-122"/>
                        </a:rPr>
                        <a:t>IP</a:t>
                      </a:r>
                      <a:r>
                        <a:rPr lang="zh-CN" sz="2400" b="1">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anose="02010609060101010101" pitchFamily="2" charset="-122"/>
                        </a:rPr>
                        <a:t>192.168.0.3</a:t>
                      </a:r>
                      <a:endParaRPr lang="zh-CN" sz="2400" b="1" dirty="0">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anose="02010609060101010101" pitchFamily="2" charset="-122"/>
                        </a:rPr>
                        <a:t>172.38.1.5</a:t>
                      </a:r>
                      <a:endParaRPr lang="zh-CN" sz="2400" b="1" dirty="0">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入</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目的</a:t>
                      </a:r>
                      <a:r>
                        <a:rPr lang="en-US" sz="2400" b="1">
                          <a:solidFill>
                            <a:schemeClr val="tx1"/>
                          </a:solidFill>
                          <a:effectLst/>
                          <a:latin typeface="+mn-lt"/>
                          <a:ea typeface="黑体" panose="02010609060101010101" pitchFamily="2" charset="-122"/>
                        </a:rPr>
                        <a:t>IP</a:t>
                      </a:r>
                      <a:r>
                        <a:rPr lang="zh-CN" sz="2400" b="1">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172.38.1.5</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192.168.0.3</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出</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源</a:t>
                      </a:r>
                      <a:r>
                        <a:rPr lang="en-US" sz="2400" b="1">
                          <a:solidFill>
                            <a:schemeClr val="tx1"/>
                          </a:solidFill>
                          <a:effectLst/>
                          <a:latin typeface="+mn-lt"/>
                          <a:ea typeface="黑体" panose="02010609060101010101" pitchFamily="2" charset="-122"/>
                        </a:rPr>
                        <a:t>IP</a:t>
                      </a:r>
                      <a:r>
                        <a:rPr lang="zh-CN" sz="2400" b="1">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192.168.0.7</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172.38.1.6</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417512">
                <a:tc>
                  <a:txBody>
                    <a:bodyPr/>
                    <a:lstStyle/>
                    <a:p>
                      <a:pPr algn="ctr">
                        <a:lnSpc>
                          <a:spcPct val="100000"/>
                        </a:lnSpc>
                        <a:spcAft>
                          <a:spcPts val="0"/>
                        </a:spcAft>
                        <a:tabLst>
                          <a:tab pos="3886200" algn="l"/>
                        </a:tabLst>
                      </a:pPr>
                      <a:r>
                        <a:rPr lang="zh-CN" sz="2400" b="1">
                          <a:solidFill>
                            <a:schemeClr val="tx1"/>
                          </a:solidFill>
                          <a:effectLst/>
                          <a:latin typeface="+mn-lt"/>
                          <a:ea typeface="黑体" panose="02010609060101010101" pitchFamily="2" charset="-122"/>
                        </a:rPr>
                        <a:t>入</a:t>
                      </a:r>
                    </a:p>
                  </a:txBody>
                  <a:tcPr marL="68575" marR="68575"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zh-CN" sz="2400" b="1" dirty="0">
                          <a:solidFill>
                            <a:schemeClr val="tx1"/>
                          </a:solidFill>
                          <a:effectLst/>
                          <a:latin typeface="+mn-lt"/>
                          <a:ea typeface="黑体" panose="02010609060101010101" pitchFamily="2" charset="-122"/>
                        </a:rPr>
                        <a:t>目的</a:t>
                      </a:r>
                      <a:r>
                        <a:rPr lang="en-US" sz="2400" b="1" dirty="0">
                          <a:solidFill>
                            <a:schemeClr val="tx1"/>
                          </a:solidFill>
                          <a:effectLst/>
                          <a:latin typeface="+mn-lt"/>
                          <a:ea typeface="黑体" panose="02010609060101010101" pitchFamily="2" charset="-122"/>
                        </a:rPr>
                        <a:t>IP</a:t>
                      </a:r>
                      <a:r>
                        <a:rPr lang="zh-CN" sz="2400" b="1" dirty="0">
                          <a:solidFill>
                            <a:schemeClr val="tx1"/>
                          </a:solidFill>
                          <a:effectLst/>
                          <a:latin typeface="+mn-lt"/>
                          <a:ea typeface="黑体" panose="02010609060101010101" pitchFamily="2" charset="-122"/>
                        </a:rPr>
                        <a:t>地址</a:t>
                      </a: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a:solidFill>
                            <a:schemeClr val="tx1"/>
                          </a:solidFill>
                          <a:effectLst/>
                          <a:latin typeface="+mn-lt"/>
                          <a:ea typeface="黑体" panose="02010609060101010101" pitchFamily="2" charset="-122"/>
                        </a:rPr>
                        <a:t>172.38.1.6</a:t>
                      </a:r>
                      <a:endParaRPr lang="zh-CN" sz="2400" b="1">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400" b="1" dirty="0">
                          <a:solidFill>
                            <a:schemeClr val="tx1"/>
                          </a:solidFill>
                          <a:effectLst/>
                          <a:latin typeface="+mn-lt"/>
                          <a:ea typeface="黑体" panose="02010609060101010101" pitchFamily="2" charset="-122"/>
                        </a:rPr>
                        <a:t>192.168.0.7</a:t>
                      </a:r>
                      <a:endParaRPr lang="zh-CN" sz="2400" b="1" dirty="0">
                        <a:solidFill>
                          <a:schemeClr val="tx1"/>
                        </a:solidFill>
                        <a:effectLst/>
                        <a:latin typeface="+mn-lt"/>
                        <a:ea typeface="黑体" panose="02010609060101010101" pitchFamily="2" charset="-122"/>
                      </a:endParaRPr>
                    </a:p>
                  </a:txBody>
                  <a:tcPr marL="68575" marR="68575"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259555" name="矩形 2"/>
          <p:cNvSpPr>
            <a:spLocks noChangeArrowheads="1"/>
          </p:cNvSpPr>
          <p:nvPr/>
        </p:nvSpPr>
        <p:spPr bwMode="auto">
          <a:xfrm>
            <a:off x="3081338" y="3284538"/>
            <a:ext cx="35274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NAT</a:t>
            </a:r>
            <a:r>
              <a:rPr lang="zh-CN" altLang="zh-CN" sz="2400" b="1">
                <a:ea typeface="黑体" panose="02010609060101010101" pitchFamily="49" charset="-122"/>
              </a:rPr>
              <a:t>地址转换表举例</a:t>
            </a:r>
            <a:endParaRPr lang="zh-CN" altLang="en-US" sz="2400" b="1">
              <a:ea typeface="黑体" panose="02010609060101010101" pitchFamily="49" charset="-122"/>
            </a:endParaRPr>
          </a:p>
        </p:txBody>
      </p:sp>
      <p:sp>
        <p:nvSpPr>
          <p:cNvPr id="1259556"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421AE2-C28F-49A9-BE3E-F15937ECE414}" type="slidenum">
              <a:rPr lang="zh-CN" altLang="en-US" smtClean="0"/>
              <a:pPr eaLnBrk="1" hangingPunct="1"/>
              <a:t>47</a:t>
            </a:fld>
            <a:endParaRPr lang="en-US" altLang="zh-CN" smtClean="0"/>
          </a:p>
        </p:txBody>
      </p:sp>
      <p:sp>
        <p:nvSpPr>
          <p:cNvPr id="125955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4885327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1569"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网络地址转换 </a:t>
            </a:r>
            <a:r>
              <a:rPr lang="en-US" altLang="zh-CN" smtClean="0">
                <a:ea typeface="黑体" panose="02010609060101010101" pitchFamily="49" charset="-122"/>
              </a:rPr>
              <a:t>NAT</a:t>
            </a:r>
            <a:endParaRPr lang="zh-CN" altLang="en-US" smtClean="0">
              <a:ea typeface="黑体" panose="02010609060101010101" pitchFamily="49" charset="-122"/>
            </a:endParaRPr>
          </a:p>
        </p:txBody>
      </p:sp>
      <p:sp>
        <p:nvSpPr>
          <p:cNvPr id="1261570"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当</a:t>
            </a:r>
            <a:r>
              <a:rPr lang="en-US" altLang="zh-CN" smtClean="0">
                <a:ea typeface="黑体" panose="02010609060101010101" pitchFamily="49" charset="-122"/>
              </a:rPr>
              <a:t> NAT </a:t>
            </a:r>
            <a:r>
              <a:rPr lang="zh-CN" altLang="zh-CN" smtClean="0">
                <a:ea typeface="黑体" panose="02010609060101010101" pitchFamily="49" charset="-122"/>
              </a:rPr>
              <a:t>路由器具有</a:t>
            </a:r>
            <a:r>
              <a:rPr lang="en-US" altLang="zh-CN" smtClean="0">
                <a:ea typeface="黑体" panose="02010609060101010101" pitchFamily="49" charset="-122"/>
              </a:rPr>
              <a:t> </a:t>
            </a:r>
            <a:r>
              <a:rPr lang="en-US" altLang="zh-CN" i="1" smtClean="0">
                <a:ea typeface="黑体" panose="02010609060101010101" pitchFamily="49" charset="-122"/>
              </a:rPr>
              <a:t>n </a:t>
            </a:r>
            <a:r>
              <a:rPr lang="zh-CN" altLang="zh-CN" smtClean="0">
                <a:ea typeface="黑体" panose="02010609060101010101" pitchFamily="49" charset="-122"/>
              </a:rPr>
              <a:t>个全球</a:t>
            </a:r>
            <a:r>
              <a:rPr lang="en-US" altLang="zh-CN" smtClean="0">
                <a:ea typeface="黑体" panose="02010609060101010101" pitchFamily="49" charset="-122"/>
              </a:rPr>
              <a:t> IP </a:t>
            </a:r>
            <a:r>
              <a:rPr lang="zh-CN" altLang="zh-CN" smtClean="0">
                <a:ea typeface="黑体" panose="02010609060101010101" pitchFamily="49" charset="-122"/>
              </a:rPr>
              <a:t>地址时，专用网内</a:t>
            </a:r>
            <a:r>
              <a:rPr lang="zh-CN" altLang="zh-CN" smtClean="0">
                <a:solidFill>
                  <a:srgbClr val="FF0000"/>
                </a:solidFill>
                <a:ea typeface="黑体" panose="02010609060101010101" pitchFamily="49" charset="-122"/>
              </a:rPr>
              <a:t>最多可以同时有</a:t>
            </a:r>
            <a:r>
              <a:rPr lang="en-US" altLang="zh-CN" smtClean="0">
                <a:solidFill>
                  <a:srgbClr val="FF0000"/>
                </a:solidFill>
                <a:ea typeface="黑体" panose="02010609060101010101" pitchFamily="49" charset="-122"/>
              </a:rPr>
              <a:t> </a:t>
            </a:r>
            <a:r>
              <a:rPr lang="en-US" altLang="zh-CN" i="1" smtClean="0">
                <a:solidFill>
                  <a:srgbClr val="FF0000"/>
                </a:solidFill>
                <a:ea typeface="黑体" panose="02010609060101010101" pitchFamily="49" charset="-122"/>
              </a:rPr>
              <a:t>n </a:t>
            </a:r>
            <a:r>
              <a:rPr lang="zh-CN" altLang="zh-CN" smtClean="0">
                <a:solidFill>
                  <a:srgbClr val="FF0000"/>
                </a:solidFill>
                <a:ea typeface="黑体" panose="02010609060101010101" pitchFamily="49" charset="-122"/>
              </a:rPr>
              <a:t>台主机接入到互联网。</a:t>
            </a:r>
            <a:r>
              <a:rPr lang="zh-CN" altLang="zh-CN" smtClean="0">
                <a:ea typeface="黑体" panose="02010609060101010101" pitchFamily="49" charset="-122"/>
              </a:rPr>
              <a:t>这样就可以使专用网内较多数量的主机，轮流使用</a:t>
            </a:r>
            <a:r>
              <a:rPr lang="en-US" altLang="zh-CN" smtClean="0">
                <a:ea typeface="黑体" panose="02010609060101010101" pitchFamily="49" charset="-122"/>
              </a:rPr>
              <a:t> NAT </a:t>
            </a:r>
            <a:r>
              <a:rPr lang="zh-CN" altLang="zh-CN" smtClean="0">
                <a:ea typeface="黑体" panose="02010609060101010101" pitchFamily="49" charset="-122"/>
              </a:rPr>
              <a:t>路由器有限数量的全球</a:t>
            </a:r>
            <a:r>
              <a:rPr lang="en-US" altLang="zh-CN" smtClean="0">
                <a:ea typeface="黑体" panose="02010609060101010101" pitchFamily="49" charset="-122"/>
              </a:rPr>
              <a:t> IP </a:t>
            </a:r>
            <a:r>
              <a:rPr lang="zh-CN" altLang="zh-CN" smtClean="0">
                <a:ea typeface="黑体" panose="02010609060101010101" pitchFamily="49" charset="-122"/>
              </a:rPr>
              <a:t>地址。</a:t>
            </a:r>
            <a:endParaRPr lang="en-US" altLang="zh-CN" smtClean="0">
              <a:ea typeface="黑体" panose="02010609060101010101" pitchFamily="49" charset="-122"/>
            </a:endParaRPr>
          </a:p>
          <a:p>
            <a:r>
              <a:rPr lang="zh-CN" altLang="zh-CN" smtClean="0">
                <a:ea typeface="黑体" panose="02010609060101010101" pitchFamily="49" charset="-122"/>
              </a:rPr>
              <a:t>通过</a:t>
            </a:r>
            <a:r>
              <a:rPr lang="en-US" altLang="zh-CN" smtClean="0">
                <a:ea typeface="黑体" panose="02010609060101010101" pitchFamily="49" charset="-122"/>
              </a:rPr>
              <a:t> NAT </a:t>
            </a:r>
            <a:r>
              <a:rPr lang="zh-CN" altLang="zh-CN" smtClean="0">
                <a:ea typeface="黑体" panose="02010609060101010101" pitchFamily="49" charset="-122"/>
              </a:rPr>
              <a:t>路由器的通信必须由专用网内的主机发起。</a:t>
            </a:r>
            <a:r>
              <a:rPr lang="zh-CN" altLang="zh-CN" smtClean="0">
                <a:solidFill>
                  <a:srgbClr val="FF0000"/>
                </a:solidFill>
                <a:ea typeface="黑体" panose="02010609060101010101" pitchFamily="49" charset="-122"/>
              </a:rPr>
              <a:t>专用网内部的主机不能充当服务器用，</a:t>
            </a:r>
            <a:r>
              <a:rPr lang="zh-CN" altLang="zh-CN" smtClean="0">
                <a:ea typeface="黑体" panose="02010609060101010101" pitchFamily="49" charset="-122"/>
              </a:rPr>
              <a:t>因为互联网上的客户无法请求专用网内的服务器提供服务。</a:t>
            </a:r>
            <a:endParaRPr lang="zh-CN" altLang="en-US" smtClean="0">
              <a:ea typeface="黑体" panose="02010609060101010101" pitchFamily="49" charset="-122"/>
            </a:endParaRPr>
          </a:p>
        </p:txBody>
      </p:sp>
      <p:sp>
        <p:nvSpPr>
          <p:cNvPr id="126157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027A2E7-F050-462D-9AFE-FBD66D496ECE}" type="slidenum">
              <a:rPr lang="zh-CN" altLang="en-US" smtClean="0"/>
              <a:pPr eaLnBrk="1" hangingPunct="1"/>
              <a:t>48</a:t>
            </a:fld>
            <a:endParaRPr lang="en-US" altLang="zh-CN" smtClean="0"/>
          </a:p>
        </p:txBody>
      </p:sp>
      <p:sp>
        <p:nvSpPr>
          <p:cNvPr id="126157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26258988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2593"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网络地址与端口号转换</a:t>
            </a:r>
            <a:r>
              <a:rPr lang="en-US" altLang="zh-CN" smtClean="0">
                <a:ea typeface="黑体" panose="02010609060101010101" pitchFamily="49" charset="-122"/>
              </a:rPr>
              <a:t> NAPT </a:t>
            </a:r>
            <a:endParaRPr lang="zh-CN" altLang="en-US" smtClean="0">
              <a:ea typeface="黑体" panose="02010609060101010101" pitchFamily="49" charset="-122"/>
            </a:endParaRPr>
          </a:p>
        </p:txBody>
      </p:sp>
      <p:sp>
        <p:nvSpPr>
          <p:cNvPr id="3" name="内容占位符 2"/>
          <p:cNvSpPr>
            <a:spLocks noGrp="1" noChangeArrowheads="1"/>
          </p:cNvSpPr>
          <p:nvPr>
            <p:ph idx="1"/>
          </p:nvPr>
        </p:nvSpPr>
        <p:spPr>
          <a:xfrm>
            <a:off x="495300" y="1196975"/>
            <a:ext cx="9066213" cy="4933950"/>
          </a:xfrm>
        </p:spPr>
        <p:txBody>
          <a:bodyPr/>
          <a:lstStyle/>
          <a:p>
            <a:r>
              <a:rPr lang="zh-CN" altLang="zh-CN" sz="3000" dirty="0" smtClean="0">
                <a:ea typeface="黑体" panose="02010609060101010101" pitchFamily="49" charset="-122"/>
              </a:rPr>
              <a:t>为了更加有效地利用</a:t>
            </a:r>
            <a:r>
              <a:rPr lang="en-US" altLang="zh-CN" sz="3000" dirty="0" smtClean="0">
                <a:ea typeface="黑体" panose="02010609060101010101" pitchFamily="49" charset="-122"/>
              </a:rPr>
              <a:t> NAT </a:t>
            </a:r>
            <a:r>
              <a:rPr lang="zh-CN" altLang="zh-CN" sz="3000" dirty="0" smtClean="0">
                <a:ea typeface="黑体" panose="02010609060101010101" pitchFamily="49" charset="-122"/>
              </a:rPr>
              <a:t>路由器上的全球</a:t>
            </a:r>
            <a:r>
              <a:rPr lang="en-US" altLang="zh-CN" sz="3000" dirty="0" smtClean="0">
                <a:ea typeface="黑体" panose="02010609060101010101" pitchFamily="49" charset="-122"/>
              </a:rPr>
              <a:t>IP</a:t>
            </a:r>
            <a:r>
              <a:rPr lang="zh-CN" altLang="zh-CN" sz="3000" dirty="0" smtClean="0">
                <a:ea typeface="黑体" panose="02010609060101010101" pitchFamily="49" charset="-122"/>
              </a:rPr>
              <a:t>地址，现在常用的</a:t>
            </a:r>
            <a:r>
              <a:rPr lang="en-US" altLang="zh-CN" sz="3000" dirty="0" smtClean="0">
                <a:ea typeface="黑体" panose="02010609060101010101" pitchFamily="49" charset="-122"/>
              </a:rPr>
              <a:t> NAT </a:t>
            </a:r>
            <a:r>
              <a:rPr lang="zh-CN" altLang="zh-CN" sz="3000" dirty="0" smtClean="0">
                <a:ea typeface="黑体" panose="02010609060101010101" pitchFamily="49" charset="-122"/>
              </a:rPr>
              <a:t>转换表</a:t>
            </a:r>
            <a:r>
              <a:rPr lang="zh-CN" altLang="zh-CN" sz="3000" dirty="0" smtClean="0">
                <a:solidFill>
                  <a:srgbClr val="FF0000"/>
                </a:solidFill>
                <a:ea typeface="黑体" panose="02010609060101010101" pitchFamily="49" charset="-122"/>
              </a:rPr>
              <a:t>把运输层的端口号也利用上。</a:t>
            </a:r>
            <a:r>
              <a:rPr lang="zh-CN" altLang="zh-CN" sz="3000" dirty="0" smtClean="0">
                <a:ea typeface="黑体" panose="02010609060101010101" pitchFamily="49" charset="-122"/>
              </a:rPr>
              <a:t>这样，就可以使多个拥有本地地址的主机，</a:t>
            </a:r>
            <a:r>
              <a:rPr lang="zh-CN" altLang="zh-CN" sz="3000" dirty="0" smtClean="0">
                <a:solidFill>
                  <a:srgbClr val="FF0000"/>
                </a:solidFill>
                <a:ea typeface="黑体" panose="02010609060101010101" pitchFamily="49" charset="-122"/>
              </a:rPr>
              <a:t>共用一个</a:t>
            </a:r>
            <a:r>
              <a:rPr lang="en-US" altLang="zh-CN" sz="3000" dirty="0" smtClean="0">
                <a:solidFill>
                  <a:srgbClr val="FF0000"/>
                </a:solidFill>
                <a:ea typeface="黑体" panose="02010609060101010101" pitchFamily="49" charset="-122"/>
              </a:rPr>
              <a:t> NAT </a:t>
            </a:r>
            <a:r>
              <a:rPr lang="zh-CN" altLang="zh-CN" sz="3000" dirty="0" smtClean="0">
                <a:solidFill>
                  <a:srgbClr val="FF0000"/>
                </a:solidFill>
                <a:ea typeface="黑体" panose="02010609060101010101" pitchFamily="49" charset="-122"/>
              </a:rPr>
              <a:t>路由器上的全球</a:t>
            </a:r>
            <a:r>
              <a:rPr lang="en-US" altLang="zh-CN" sz="3000" dirty="0" smtClean="0">
                <a:solidFill>
                  <a:srgbClr val="FF0000"/>
                </a:solidFill>
                <a:ea typeface="黑体" panose="02010609060101010101" pitchFamily="49" charset="-122"/>
              </a:rPr>
              <a:t> IP </a:t>
            </a:r>
            <a:r>
              <a:rPr lang="zh-CN" altLang="zh-CN" sz="3000" dirty="0" smtClean="0">
                <a:solidFill>
                  <a:srgbClr val="FF0000"/>
                </a:solidFill>
                <a:ea typeface="黑体" panose="02010609060101010101" pitchFamily="49" charset="-122"/>
              </a:rPr>
              <a:t>地址，</a:t>
            </a:r>
            <a:r>
              <a:rPr lang="zh-CN" altLang="zh-CN" sz="3000" dirty="0" smtClean="0">
                <a:ea typeface="黑体" panose="02010609060101010101" pitchFamily="49" charset="-122"/>
              </a:rPr>
              <a:t>因而可以同时和互联网上的不同主机进行通信</a:t>
            </a:r>
            <a:r>
              <a:rPr lang="zh-CN" altLang="en-US" sz="3000" dirty="0" smtClean="0">
                <a:ea typeface="黑体" panose="02010609060101010101" pitchFamily="49" charset="-122"/>
              </a:rPr>
              <a:t>。</a:t>
            </a:r>
            <a:endParaRPr lang="en-US" altLang="zh-CN" sz="3000" dirty="0" smtClean="0">
              <a:ea typeface="黑体" panose="02010609060101010101" pitchFamily="49" charset="-122"/>
            </a:endParaRPr>
          </a:p>
          <a:p>
            <a:r>
              <a:rPr lang="zh-CN" altLang="zh-CN" sz="3000" dirty="0" smtClean="0">
                <a:ea typeface="黑体" panose="02010609060101010101" pitchFamily="49" charset="-122"/>
              </a:rPr>
              <a:t>使用端口号的</a:t>
            </a:r>
            <a:r>
              <a:rPr lang="en-US" altLang="zh-CN" sz="3000" dirty="0" smtClean="0">
                <a:ea typeface="黑体" panose="02010609060101010101" pitchFamily="49" charset="-122"/>
              </a:rPr>
              <a:t> NAT </a:t>
            </a:r>
            <a:r>
              <a:rPr lang="zh-CN" altLang="zh-CN" sz="3000" dirty="0" smtClean="0">
                <a:ea typeface="黑体" panose="02010609060101010101" pitchFamily="49" charset="-122"/>
              </a:rPr>
              <a:t>叫</a:t>
            </a:r>
            <a:r>
              <a:rPr lang="zh-CN" altLang="en-US" sz="3000" dirty="0" smtClean="0">
                <a:ea typeface="黑体" panose="02010609060101010101" pitchFamily="49" charset="-122"/>
              </a:rPr>
              <a:t>作</a:t>
            </a:r>
            <a:r>
              <a:rPr lang="zh-CN" altLang="zh-CN" sz="3000" u="sng" dirty="0" smtClean="0">
                <a:solidFill>
                  <a:srgbClr val="FF0000"/>
                </a:solidFill>
                <a:ea typeface="黑体" panose="02010609060101010101" pitchFamily="49" charset="-122"/>
              </a:rPr>
              <a:t>网络地址与端口号转换</a:t>
            </a:r>
            <a:r>
              <a:rPr lang="en-US" altLang="zh-CN" sz="3000" u="sng" dirty="0" smtClean="0">
                <a:solidFill>
                  <a:srgbClr val="FF0000"/>
                </a:solidFill>
                <a:ea typeface="黑体" panose="02010609060101010101" pitchFamily="49" charset="-122"/>
              </a:rPr>
              <a:t>NAPT</a:t>
            </a:r>
            <a:r>
              <a:rPr lang="en-US" altLang="zh-CN" sz="3000" u="sng" dirty="0" smtClean="0">
                <a:ea typeface="黑体" panose="02010609060101010101" pitchFamily="49" charset="-122"/>
              </a:rPr>
              <a:t> (Network Address and Port Translation)</a:t>
            </a:r>
            <a:r>
              <a:rPr lang="zh-CN" altLang="zh-CN" sz="3000" dirty="0" smtClean="0">
                <a:ea typeface="黑体" panose="02010609060101010101" pitchFamily="49" charset="-122"/>
              </a:rPr>
              <a:t>，而不使用端口号的</a:t>
            </a:r>
            <a:r>
              <a:rPr lang="en-US" altLang="zh-CN" sz="3000" dirty="0" smtClean="0">
                <a:ea typeface="黑体" panose="02010609060101010101" pitchFamily="49" charset="-122"/>
              </a:rPr>
              <a:t> NAT </a:t>
            </a:r>
            <a:r>
              <a:rPr lang="zh-CN" altLang="zh-CN" sz="3000" dirty="0" smtClean="0">
                <a:ea typeface="黑体" panose="02010609060101010101" pitchFamily="49" charset="-122"/>
              </a:rPr>
              <a:t>就叫</a:t>
            </a:r>
            <a:r>
              <a:rPr lang="zh-CN" altLang="en-US" sz="3000" dirty="0" smtClean="0">
                <a:ea typeface="黑体" panose="02010609060101010101" pitchFamily="49" charset="-122"/>
              </a:rPr>
              <a:t>作</a:t>
            </a:r>
            <a:r>
              <a:rPr lang="zh-CN" altLang="zh-CN" sz="3000" dirty="0" smtClean="0">
                <a:solidFill>
                  <a:srgbClr val="FF0000"/>
                </a:solidFill>
                <a:ea typeface="黑体" panose="02010609060101010101" pitchFamily="49" charset="-122"/>
              </a:rPr>
              <a:t>传统的</a:t>
            </a:r>
            <a:r>
              <a:rPr lang="en-US" altLang="zh-CN" sz="3000" dirty="0" smtClean="0">
                <a:solidFill>
                  <a:srgbClr val="FF0000"/>
                </a:solidFill>
                <a:ea typeface="黑体" panose="02010609060101010101" pitchFamily="49" charset="-122"/>
              </a:rPr>
              <a:t> NAT </a:t>
            </a:r>
            <a:r>
              <a:rPr lang="en-US" altLang="zh-CN" sz="3000" dirty="0" smtClean="0">
                <a:ea typeface="黑体" panose="02010609060101010101" pitchFamily="49" charset="-122"/>
              </a:rPr>
              <a:t>(traditional NAT)</a:t>
            </a:r>
            <a:r>
              <a:rPr lang="zh-CN" altLang="zh-CN" sz="3000" dirty="0" smtClean="0">
                <a:ea typeface="黑体" panose="02010609060101010101" pitchFamily="49" charset="-122"/>
              </a:rPr>
              <a:t>。</a:t>
            </a:r>
            <a:endParaRPr lang="zh-CN" altLang="en-US" sz="3000" dirty="0" smtClean="0">
              <a:ea typeface="黑体" panose="02010609060101010101" pitchFamily="49" charset="-122"/>
            </a:endParaRPr>
          </a:p>
        </p:txBody>
      </p:sp>
      <p:sp>
        <p:nvSpPr>
          <p:cNvPr id="126259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CA0965-4D31-4F6A-886A-1C9D6C034D8C}" type="slidenum">
              <a:rPr lang="zh-CN" altLang="en-US" smtClean="0"/>
              <a:pPr eaLnBrk="1" hangingPunct="1"/>
              <a:t>49</a:t>
            </a:fld>
            <a:endParaRPr lang="en-US" altLang="zh-CN" smtClean="0"/>
          </a:p>
        </p:txBody>
      </p:sp>
      <p:sp>
        <p:nvSpPr>
          <p:cNvPr id="126259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245009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361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NAPT </a:t>
            </a:r>
            <a:r>
              <a:rPr lang="zh-CN" altLang="zh-CN" smtClean="0">
                <a:ea typeface="黑体" panose="02010609060101010101" pitchFamily="49" charset="-122"/>
              </a:rPr>
              <a:t>地址转换表</a:t>
            </a:r>
            <a:endParaRPr lang="zh-CN" altLang="en-US" smtClean="0">
              <a:ea typeface="黑体" panose="02010609060101010101" pitchFamily="49" charset="-122"/>
            </a:endParaRPr>
          </a:p>
        </p:txBody>
      </p:sp>
      <p:graphicFrame>
        <p:nvGraphicFramePr>
          <p:cNvPr id="4" name="内容占位符 3"/>
          <p:cNvGraphicFramePr>
            <a:graphicFrameLocks noGrp="1"/>
          </p:cNvGraphicFramePr>
          <p:nvPr>
            <p:ph idx="1"/>
          </p:nvPr>
        </p:nvGraphicFramePr>
        <p:xfrm>
          <a:off x="560388" y="1700213"/>
          <a:ext cx="9145586" cy="2520950"/>
        </p:xfrm>
        <a:graphic>
          <a:graphicData uri="http://schemas.openxmlformats.org/drawingml/2006/table">
            <a:tbl>
              <a:tblPr firstRow="1" firstCol="1" lastRow="1" lastCol="1" bandRow="1" bandCol="1">
                <a:tableStyleId>{5C22544A-7EE6-4342-B048-85BDC9FD1C3A}</a:tableStyleId>
              </a:tblPr>
              <a:tblGrid>
                <a:gridCol w="792137">
                  <a:extLst>
                    <a:ext uri="{9D8B030D-6E8A-4147-A177-3AD203B41FA5}">
                      <a16:colId xmlns:a16="http://schemas.microsoft.com/office/drawing/2014/main" val="20000"/>
                    </a:ext>
                  </a:extLst>
                </a:gridCol>
                <a:gridCol w="3106823">
                  <a:extLst>
                    <a:ext uri="{9D8B030D-6E8A-4147-A177-3AD203B41FA5}">
                      <a16:colId xmlns:a16="http://schemas.microsoft.com/office/drawing/2014/main" val="20001"/>
                    </a:ext>
                  </a:extLst>
                </a:gridCol>
                <a:gridCol w="2520737">
                  <a:extLst>
                    <a:ext uri="{9D8B030D-6E8A-4147-A177-3AD203B41FA5}">
                      <a16:colId xmlns:a16="http://schemas.microsoft.com/office/drawing/2014/main" val="20002"/>
                    </a:ext>
                  </a:extLst>
                </a:gridCol>
                <a:gridCol w="2725889">
                  <a:extLst>
                    <a:ext uri="{9D8B030D-6E8A-4147-A177-3AD203B41FA5}">
                      <a16:colId xmlns:a16="http://schemas.microsoft.com/office/drawing/2014/main" val="20003"/>
                    </a:ext>
                  </a:extLst>
                </a:gridCol>
              </a:tblGrid>
              <a:tr h="504190">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方向</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字段</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旧的</a:t>
                      </a:r>
                      <a:r>
                        <a:rPr lang="en-US" sz="2000" b="1">
                          <a:solidFill>
                            <a:schemeClr val="tx1"/>
                          </a:solidFill>
                          <a:effectLst/>
                          <a:latin typeface="+mn-lt"/>
                          <a:ea typeface="黑体" panose="02010609060101010101" pitchFamily="2" charset="-122"/>
                        </a:rPr>
                        <a:t>IP</a:t>
                      </a:r>
                      <a:r>
                        <a:rPr lang="zh-CN" sz="2000" b="1">
                          <a:solidFill>
                            <a:schemeClr val="tx1"/>
                          </a:solidFill>
                          <a:effectLst/>
                          <a:latin typeface="+mn-lt"/>
                          <a:ea typeface="黑体" panose="02010609060101010101" pitchFamily="2" charset="-122"/>
                        </a:rPr>
                        <a:t>地址和端口号</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新的</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地址和端口号</a:t>
                      </a: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504190">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出</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源</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a:t>
                      </a:r>
                      <a:r>
                        <a:rPr lang="en-US" sz="2000" b="1" dirty="0">
                          <a:solidFill>
                            <a:schemeClr val="tx1"/>
                          </a:solidFill>
                          <a:effectLst/>
                          <a:latin typeface="+mn-lt"/>
                          <a:ea typeface="黑体" panose="02010609060101010101" pitchFamily="2" charset="-122"/>
                        </a:rPr>
                        <a:t>:TCP</a:t>
                      </a:r>
                      <a:r>
                        <a:rPr lang="zh-CN" sz="2000" b="1" dirty="0">
                          <a:solidFill>
                            <a:schemeClr val="tx1"/>
                          </a:solidFill>
                          <a:effectLst/>
                          <a:latin typeface="+mn-lt"/>
                          <a:ea typeface="黑体" panose="02010609060101010101" pitchFamily="2" charset="-122"/>
                        </a:rPr>
                        <a:t>源端口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192.168.0.3:30000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172.38.1.5:40001</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04190">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出</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源</a:t>
                      </a:r>
                      <a:r>
                        <a:rPr lang="en-US" sz="2000" b="1">
                          <a:solidFill>
                            <a:schemeClr val="tx1"/>
                          </a:solidFill>
                          <a:effectLst/>
                          <a:latin typeface="+mn-lt"/>
                          <a:ea typeface="黑体" panose="02010609060101010101" pitchFamily="2" charset="-122"/>
                        </a:rPr>
                        <a:t>IP</a:t>
                      </a:r>
                      <a:r>
                        <a:rPr lang="zh-CN" sz="2000" b="1">
                          <a:solidFill>
                            <a:schemeClr val="tx1"/>
                          </a:solidFill>
                          <a:effectLst/>
                          <a:latin typeface="+mn-lt"/>
                          <a:ea typeface="黑体" panose="02010609060101010101" pitchFamily="2" charset="-122"/>
                        </a:rPr>
                        <a:t>地址</a:t>
                      </a:r>
                      <a:r>
                        <a:rPr lang="en-US" sz="2000" b="1">
                          <a:solidFill>
                            <a:schemeClr val="tx1"/>
                          </a:solidFill>
                          <a:effectLst/>
                          <a:latin typeface="+mn-lt"/>
                          <a:ea typeface="黑体" panose="02010609060101010101" pitchFamily="2" charset="-122"/>
                        </a:rPr>
                        <a:t>:TCP</a:t>
                      </a:r>
                      <a:r>
                        <a:rPr lang="zh-CN" sz="2000" b="1">
                          <a:solidFill>
                            <a:schemeClr val="tx1"/>
                          </a:solidFill>
                          <a:effectLst/>
                          <a:latin typeface="+mn-lt"/>
                          <a:ea typeface="黑体" panose="02010609060101010101" pitchFamily="2" charset="-122"/>
                        </a:rPr>
                        <a:t>源端口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anose="02010609060101010101" pitchFamily="2" charset="-122"/>
                        </a:rPr>
                        <a:t>192.168.0.4:30000</a:t>
                      </a:r>
                      <a:endParaRPr lang="zh-CN" sz="2000" b="1" dirty="0">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172.38.1.5:40002</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04190">
                <a:tc>
                  <a:txBody>
                    <a:bodyPr/>
                    <a:lstStyle/>
                    <a:p>
                      <a:pPr algn="ctr">
                        <a:lnSpc>
                          <a:spcPct val="100000"/>
                        </a:lnSpc>
                        <a:spcAft>
                          <a:spcPts val="0"/>
                        </a:spcAft>
                        <a:tabLst>
                          <a:tab pos="3886200" algn="l"/>
                        </a:tabLst>
                      </a:pPr>
                      <a:r>
                        <a:rPr lang="zh-CN" sz="2000" b="1">
                          <a:solidFill>
                            <a:schemeClr val="tx1"/>
                          </a:solidFill>
                          <a:effectLst/>
                          <a:latin typeface="+mn-lt"/>
                          <a:ea typeface="黑体" panose="02010609060101010101" pitchFamily="2" charset="-122"/>
                        </a:rPr>
                        <a:t>入</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目的</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a:t>
                      </a:r>
                      <a:r>
                        <a:rPr lang="en-US" sz="2000" b="1" dirty="0">
                          <a:solidFill>
                            <a:schemeClr val="tx1"/>
                          </a:solidFill>
                          <a:effectLst/>
                          <a:latin typeface="+mn-lt"/>
                          <a:ea typeface="黑体" panose="02010609060101010101" pitchFamily="2" charset="-122"/>
                        </a:rPr>
                        <a:t>:TCP</a:t>
                      </a:r>
                      <a:r>
                        <a:rPr lang="zh-CN" sz="2000" b="1" dirty="0">
                          <a:solidFill>
                            <a:schemeClr val="tx1"/>
                          </a:solidFill>
                          <a:effectLst/>
                          <a:latin typeface="+mn-lt"/>
                          <a:ea typeface="黑体" panose="02010609060101010101" pitchFamily="2" charset="-122"/>
                        </a:rPr>
                        <a:t>目的端口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172.38.1.5:40001</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a:solidFill>
                            <a:schemeClr val="tx1"/>
                          </a:solidFill>
                          <a:effectLst/>
                          <a:latin typeface="+mn-lt"/>
                          <a:ea typeface="黑体" panose="02010609060101010101" pitchFamily="2" charset="-122"/>
                        </a:rPr>
                        <a:t>192.168.0.3:30000</a:t>
                      </a:r>
                      <a:endParaRPr lang="zh-CN" sz="2000" b="1">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04190">
                <a:tc>
                  <a:txBody>
                    <a:bodyPr/>
                    <a:lstStyle/>
                    <a:p>
                      <a:pPr algn="ctr">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入</a:t>
                      </a:r>
                    </a:p>
                  </a:txBody>
                  <a:tcPr marL="68584" marR="68584"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just">
                        <a:lnSpc>
                          <a:spcPct val="100000"/>
                        </a:lnSpc>
                        <a:spcAft>
                          <a:spcPts val="0"/>
                        </a:spcAft>
                        <a:tabLst>
                          <a:tab pos="3886200" algn="l"/>
                        </a:tabLst>
                      </a:pPr>
                      <a:r>
                        <a:rPr lang="zh-CN" sz="2000" b="1" dirty="0">
                          <a:solidFill>
                            <a:schemeClr val="tx1"/>
                          </a:solidFill>
                          <a:effectLst/>
                          <a:latin typeface="+mn-lt"/>
                          <a:ea typeface="黑体" panose="02010609060101010101" pitchFamily="2" charset="-122"/>
                        </a:rPr>
                        <a:t>目的</a:t>
                      </a:r>
                      <a:r>
                        <a:rPr lang="en-US" sz="2000" b="1" dirty="0">
                          <a:solidFill>
                            <a:schemeClr val="tx1"/>
                          </a:solidFill>
                          <a:effectLst/>
                          <a:latin typeface="+mn-lt"/>
                          <a:ea typeface="黑体" panose="02010609060101010101" pitchFamily="2" charset="-122"/>
                        </a:rPr>
                        <a:t>IP</a:t>
                      </a:r>
                      <a:r>
                        <a:rPr lang="zh-CN" sz="2000" b="1" dirty="0">
                          <a:solidFill>
                            <a:schemeClr val="tx1"/>
                          </a:solidFill>
                          <a:effectLst/>
                          <a:latin typeface="+mn-lt"/>
                          <a:ea typeface="黑体" panose="02010609060101010101" pitchFamily="2" charset="-122"/>
                        </a:rPr>
                        <a:t>地址</a:t>
                      </a:r>
                      <a:r>
                        <a:rPr lang="en-US" sz="2000" b="1" dirty="0">
                          <a:solidFill>
                            <a:schemeClr val="tx1"/>
                          </a:solidFill>
                          <a:effectLst/>
                          <a:latin typeface="+mn-lt"/>
                          <a:ea typeface="黑体" panose="02010609060101010101" pitchFamily="2" charset="-122"/>
                        </a:rPr>
                        <a:t>:TCP</a:t>
                      </a:r>
                      <a:r>
                        <a:rPr lang="zh-CN" sz="2000" b="1" dirty="0">
                          <a:solidFill>
                            <a:schemeClr val="tx1"/>
                          </a:solidFill>
                          <a:effectLst/>
                          <a:latin typeface="+mn-lt"/>
                          <a:ea typeface="黑体" panose="02010609060101010101" pitchFamily="2" charset="-122"/>
                        </a:rPr>
                        <a:t>目的端口</a:t>
                      </a: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anose="02010609060101010101" pitchFamily="2" charset="-122"/>
                        </a:rPr>
                        <a:t>172.38.1.5:40002</a:t>
                      </a:r>
                      <a:endParaRPr lang="zh-CN" sz="2000" b="1" dirty="0">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tabLst>
                          <a:tab pos="3886200" algn="l"/>
                        </a:tabLst>
                      </a:pPr>
                      <a:r>
                        <a:rPr lang="en-US" sz="2000" b="1" dirty="0">
                          <a:solidFill>
                            <a:schemeClr val="tx1"/>
                          </a:solidFill>
                          <a:effectLst/>
                          <a:latin typeface="+mn-lt"/>
                          <a:ea typeface="黑体" panose="02010609060101010101" pitchFamily="2" charset="-122"/>
                        </a:rPr>
                        <a:t>192.168.0.4:30000</a:t>
                      </a:r>
                      <a:endParaRPr lang="zh-CN" sz="2000" b="1" dirty="0">
                        <a:solidFill>
                          <a:schemeClr val="tx1"/>
                        </a:solidFill>
                        <a:effectLst/>
                        <a:latin typeface="+mn-lt"/>
                        <a:ea typeface="黑体" panose="02010609060101010101" pitchFamily="2" charset="-122"/>
                      </a:endParaRPr>
                    </a:p>
                  </a:txBody>
                  <a:tcPr marL="68584" marR="68584"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263650" name="矩形 4"/>
          <p:cNvSpPr>
            <a:spLocks noChangeArrowheads="1"/>
          </p:cNvSpPr>
          <p:nvPr/>
        </p:nvSpPr>
        <p:spPr bwMode="auto">
          <a:xfrm>
            <a:off x="2936875" y="1196975"/>
            <a:ext cx="42481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NAPT </a:t>
            </a:r>
            <a:r>
              <a:rPr lang="zh-CN" altLang="zh-CN" sz="2400" b="1">
                <a:ea typeface="黑体" panose="02010609060101010101" pitchFamily="49" charset="-122"/>
              </a:rPr>
              <a:t>地址转换表举例</a:t>
            </a:r>
            <a:endParaRPr lang="zh-CN" altLang="en-US" sz="2400" b="1">
              <a:ea typeface="黑体" panose="02010609060101010101" pitchFamily="49" charset="-122"/>
            </a:endParaRPr>
          </a:p>
        </p:txBody>
      </p:sp>
      <p:sp>
        <p:nvSpPr>
          <p:cNvPr id="1263651" name="矩形 5"/>
          <p:cNvSpPr>
            <a:spLocks noChangeArrowheads="1"/>
          </p:cNvSpPr>
          <p:nvPr/>
        </p:nvSpPr>
        <p:spPr bwMode="auto">
          <a:xfrm>
            <a:off x="488950" y="4437063"/>
            <a:ext cx="9288463" cy="1938337"/>
          </a:xfrm>
          <a:prstGeom prst="rect">
            <a:avLst/>
          </a:prstGeom>
          <a:solidFill>
            <a:srgbClr val="66FF66"/>
          </a:solidFill>
          <a:ln w="9525">
            <a:solidFill>
              <a:srgbClr val="000066"/>
            </a:solidFill>
            <a:round/>
            <a:headEnd/>
            <a:tailEnd/>
          </a:ln>
        </p:spPr>
        <p:txBody>
          <a:bodyPr>
            <a:spAutoFit/>
          </a:bodyPr>
          <a:lstStyle/>
          <a:p>
            <a:pPr eaLnBrk="0" hangingPunct="0"/>
            <a:r>
              <a:rPr lang="en-US" altLang="zh-CN" sz="2400" b="1">
                <a:solidFill>
                  <a:srgbClr val="C00000"/>
                </a:solidFill>
                <a:ea typeface="黑体" panose="02010609060101010101" pitchFamily="49" charset="-122"/>
              </a:rPr>
              <a:t>NAPT</a:t>
            </a:r>
            <a:r>
              <a:rPr lang="zh-CN" altLang="zh-CN" sz="2400" b="1">
                <a:solidFill>
                  <a:srgbClr val="C00000"/>
                </a:solidFill>
                <a:ea typeface="黑体" panose="02010609060101010101" pitchFamily="49" charset="-122"/>
              </a:rPr>
              <a:t>把专用网内不同的源</a:t>
            </a:r>
            <a:r>
              <a:rPr lang="en-US" altLang="zh-CN" sz="2400" b="1">
                <a:solidFill>
                  <a:srgbClr val="C00000"/>
                </a:solidFill>
                <a:ea typeface="黑体" panose="02010609060101010101" pitchFamily="49" charset="-122"/>
              </a:rPr>
              <a:t> IP </a:t>
            </a:r>
            <a:r>
              <a:rPr lang="zh-CN" altLang="zh-CN" sz="2400" b="1">
                <a:solidFill>
                  <a:srgbClr val="C00000"/>
                </a:solidFill>
                <a:ea typeface="黑体" panose="02010609060101010101" pitchFamily="49" charset="-122"/>
              </a:rPr>
              <a:t>地址，都转换为同样的全球</a:t>
            </a:r>
            <a:r>
              <a:rPr lang="en-US" altLang="zh-CN" sz="2400" b="1">
                <a:solidFill>
                  <a:srgbClr val="C00000"/>
                </a:solidFill>
                <a:ea typeface="黑体" panose="02010609060101010101" pitchFamily="49" charset="-122"/>
              </a:rPr>
              <a:t> IP </a:t>
            </a:r>
            <a:r>
              <a:rPr lang="zh-CN" altLang="zh-CN" sz="2400" b="1">
                <a:solidFill>
                  <a:srgbClr val="C00000"/>
                </a:solidFill>
                <a:ea typeface="黑体" panose="02010609060101010101" pitchFamily="49" charset="-122"/>
              </a:rPr>
              <a:t>地址。</a:t>
            </a:r>
            <a:r>
              <a:rPr lang="zh-CN" altLang="zh-CN" sz="2400" b="1">
                <a:solidFill>
                  <a:srgbClr val="000066"/>
                </a:solidFill>
                <a:ea typeface="黑体" panose="02010609060101010101" pitchFamily="49" charset="-122"/>
              </a:rPr>
              <a:t>但对源主机所采用的</a:t>
            </a:r>
            <a:r>
              <a:rPr lang="en-US" altLang="zh-CN" sz="2400" b="1">
                <a:solidFill>
                  <a:srgbClr val="000066"/>
                </a:solidFill>
                <a:ea typeface="黑体" panose="02010609060101010101" pitchFamily="49" charset="-122"/>
              </a:rPr>
              <a:t> TCP </a:t>
            </a:r>
            <a:r>
              <a:rPr lang="zh-CN" altLang="zh-CN" sz="2400" b="1">
                <a:solidFill>
                  <a:srgbClr val="000066"/>
                </a:solidFill>
                <a:ea typeface="黑体" panose="02010609060101010101" pitchFamily="49" charset="-122"/>
              </a:rPr>
              <a:t>端口号（不管相同或不同），则转换为不同的新的端口号。因此，当</a:t>
            </a:r>
            <a:r>
              <a:rPr lang="en-US" altLang="zh-CN" sz="2400" b="1">
                <a:solidFill>
                  <a:srgbClr val="000066"/>
                </a:solidFill>
                <a:ea typeface="黑体" panose="02010609060101010101" pitchFamily="49" charset="-122"/>
              </a:rPr>
              <a:t> NAPT </a:t>
            </a:r>
            <a:r>
              <a:rPr lang="zh-CN" altLang="zh-CN" sz="2400" b="1">
                <a:solidFill>
                  <a:srgbClr val="000066"/>
                </a:solidFill>
                <a:ea typeface="黑体" panose="02010609060101010101" pitchFamily="49" charset="-122"/>
              </a:rPr>
              <a:t>路由器收到从互联网发来的应答时，就可以从</a:t>
            </a:r>
            <a:r>
              <a:rPr lang="en-US" altLang="zh-CN" sz="2400" b="1">
                <a:solidFill>
                  <a:srgbClr val="000066"/>
                </a:solidFill>
                <a:ea typeface="黑体" panose="02010609060101010101" pitchFamily="49" charset="-122"/>
              </a:rPr>
              <a:t> IP </a:t>
            </a:r>
            <a:r>
              <a:rPr lang="zh-CN" altLang="zh-CN" sz="2400" b="1">
                <a:solidFill>
                  <a:srgbClr val="000066"/>
                </a:solidFill>
                <a:ea typeface="黑体" panose="02010609060101010101" pitchFamily="49" charset="-122"/>
              </a:rPr>
              <a:t>数据报的数据部分找出运输层的端口号，然后根据不同的目的端口号，从</a:t>
            </a:r>
            <a:r>
              <a:rPr lang="en-US" altLang="zh-CN" sz="2400" b="1">
                <a:solidFill>
                  <a:srgbClr val="000066"/>
                </a:solidFill>
                <a:ea typeface="黑体" panose="02010609060101010101" pitchFamily="49" charset="-122"/>
              </a:rPr>
              <a:t> NAPT </a:t>
            </a:r>
            <a:r>
              <a:rPr lang="zh-CN" altLang="zh-CN" sz="2400" b="1">
                <a:solidFill>
                  <a:srgbClr val="000066"/>
                </a:solidFill>
                <a:ea typeface="黑体" panose="02010609060101010101" pitchFamily="49" charset="-122"/>
              </a:rPr>
              <a:t>转换表中找到正确的目的主机。</a:t>
            </a:r>
            <a:endParaRPr lang="zh-CN" altLang="en-US" sz="2400" b="1">
              <a:solidFill>
                <a:srgbClr val="000066"/>
              </a:solidFill>
              <a:ea typeface="黑体" panose="02010609060101010101" pitchFamily="49" charset="-122"/>
            </a:endParaRPr>
          </a:p>
        </p:txBody>
      </p:sp>
      <p:sp>
        <p:nvSpPr>
          <p:cNvPr id="1263652" name="灯片编号占位符 7"/>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A53447-AD09-4C69-B604-55D2496CAFE4}" type="slidenum">
              <a:rPr lang="zh-CN" altLang="en-US" smtClean="0"/>
              <a:pPr eaLnBrk="1" hangingPunct="1"/>
              <a:t>50</a:t>
            </a:fld>
            <a:endParaRPr lang="en-US" altLang="zh-CN" smtClean="0"/>
          </a:p>
        </p:txBody>
      </p:sp>
      <p:sp>
        <p:nvSpPr>
          <p:cNvPr id="1263653" name="页脚占位符 8"/>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732305942"/>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1600</TotalTime>
  <Words>3816</Words>
  <Application>Microsoft Office PowerPoint</Application>
  <PresentationFormat>A4 纸张(210x297 毫米)</PresentationFormat>
  <Paragraphs>595</Paragraphs>
  <Slides>50</Slides>
  <Notes>36</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0</vt:i4>
      </vt:variant>
      <vt:variant>
        <vt:lpstr>幻灯片标题</vt:lpstr>
      </vt:variant>
      <vt:variant>
        <vt:i4>50</vt:i4>
      </vt:variant>
    </vt:vector>
  </HeadingPairs>
  <TitlesOfParts>
    <vt:vector size="56" baseType="lpstr">
      <vt:lpstr>黑体</vt:lpstr>
      <vt:lpstr>宋体</vt:lpstr>
      <vt:lpstr>Arial</vt:lpstr>
      <vt:lpstr>Times New Roman</vt:lpstr>
      <vt:lpstr>Wingdings</vt:lpstr>
      <vt:lpstr>Presentation</vt:lpstr>
      <vt:lpstr>第 4 章  网络层</vt:lpstr>
      <vt:lpstr>4.5  互联网的路由选择协议</vt:lpstr>
      <vt:lpstr>4.5.4  外部网关协议 BGP</vt:lpstr>
      <vt:lpstr>BGP 使用环境不同</vt:lpstr>
      <vt:lpstr>BGP 发言人</vt:lpstr>
      <vt:lpstr>BGP 交换路由信息</vt:lpstr>
      <vt:lpstr>BGP 发言人和自治系统 AS 的关系 </vt:lpstr>
      <vt:lpstr>AS 的连通图举例 </vt:lpstr>
      <vt:lpstr>BGP 发言人交换路径向量 </vt:lpstr>
      <vt:lpstr>BGP 发言人交换路径向量 </vt:lpstr>
      <vt:lpstr>BGP 协议的特点</vt:lpstr>
      <vt:lpstr>BGP 协议的特点</vt:lpstr>
      <vt:lpstr>BGP-4 共使用四种报文 </vt:lpstr>
      <vt:lpstr>BGP 报文具有通用首部</vt:lpstr>
      <vt:lpstr>4.5.5  路由器的构成</vt:lpstr>
      <vt:lpstr>1. 路由器的结构</vt:lpstr>
      <vt:lpstr>典型的路由器的结构 </vt:lpstr>
      <vt:lpstr>典型的路由器的结构 </vt:lpstr>
      <vt:lpstr>典型的路由器的结构 </vt:lpstr>
      <vt:lpstr>“转发”和“路由选择”的区别 </vt:lpstr>
      <vt:lpstr>输入端口对线路上收到的分组的处理 </vt:lpstr>
      <vt:lpstr>输入端口对线路上收到的分组的处理 </vt:lpstr>
      <vt:lpstr>输出端口将交换结构传送来的分组 发送到线路 </vt:lpstr>
      <vt:lpstr>输出端口将交换结构传送来的分组 发送到线路 </vt:lpstr>
      <vt:lpstr>分组丢弃 </vt:lpstr>
      <vt:lpstr>2. 交换结构</vt:lpstr>
      <vt:lpstr>2. 交换结构</vt:lpstr>
      <vt:lpstr>2. 交换结构</vt:lpstr>
      <vt:lpstr>2. 交换结构</vt:lpstr>
      <vt:lpstr>PowerPoint 演示文稿</vt:lpstr>
      <vt:lpstr>4.8  虚拟专用网 VPN和网络地址转换 NAT</vt:lpstr>
      <vt:lpstr>4.8.1  虚拟专用网 VPN</vt:lpstr>
      <vt:lpstr>本地地址与全球地址</vt:lpstr>
      <vt:lpstr>本地地址与全球地址</vt:lpstr>
      <vt:lpstr>RFC 1918 指明的专用 IP 地址</vt:lpstr>
      <vt:lpstr>专用网</vt:lpstr>
      <vt:lpstr>虚拟专用网 VPN</vt:lpstr>
      <vt:lpstr>虚拟专用网 VPN 构建</vt:lpstr>
      <vt:lpstr>用隧道技术实现虚拟专用网 </vt:lpstr>
      <vt:lpstr>PowerPoint 演示文稿</vt:lpstr>
      <vt:lpstr>内联网 intranet 和外联网 extranet</vt:lpstr>
      <vt:lpstr>远程接入 VPN</vt:lpstr>
      <vt:lpstr>4.8.2   网络地址转换 NAT</vt:lpstr>
      <vt:lpstr>网络地址转换 NAT</vt:lpstr>
      <vt:lpstr>网络地址转换的过程</vt:lpstr>
      <vt:lpstr>网络地址转换的过程</vt:lpstr>
      <vt:lpstr>网络地址转换的过程</vt:lpstr>
      <vt:lpstr>网络地址转换 NAT</vt:lpstr>
      <vt:lpstr>网络地址与端口号转换 NAPT </vt:lpstr>
      <vt:lpstr>NAPT 地址转换表</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74</cp:revision>
  <cp:lastPrinted>2020-04-02T12:18:28Z</cp:lastPrinted>
  <dcterms:created xsi:type="dcterms:W3CDTF">2016-10-01T05:27:00Z</dcterms:created>
  <dcterms:modified xsi:type="dcterms:W3CDTF">2021-01-23T13:06:23Z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
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04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所有连接在互联网上的主机、用户、通信、资源共享。大量网络、连接这些网络的路由器、边缘部分、路由器、转发收到的</a:t>
            </a:r>
            <a:r>
              <a:rPr lang="zh-CN" altLang="en-US"/>
              <a:t>分组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连接、物理通路、通信、释放</a:t>
            </a:r>
            <a:r>
              <a:rPr lang="zh-CN" altLang="en-US"/>
              <a:t>连接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存储转发、报文、首部、</a:t>
            </a:r>
            <a:r>
              <a:rPr lang="zh-CN" altLang="en-US"/>
              <a:t>分组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92025-9BD3-496F-A9F0-BF01FCF515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AB02F-E7D0-42D9-AB9E-E85D7AEA00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10.xml"/><Relationship Id="rId10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0.xml"/><Relationship Id="rId10" Type="http://schemas.openxmlformats.org/officeDocument/2006/relationships/image" Target="../media/image1.png"/><Relationship Id="rId1" Type="http://schemas.openxmlformats.org/officeDocument/2006/relationships/tags" Target="../tags/tag1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30.xml"/><Relationship Id="rId10" Type="http://schemas.openxmlformats.org/officeDocument/2006/relationships/image" Target="../media/image1.png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image" Target="../media/image1.png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image" Target="../media/image1.png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image" Target="../media/image1.png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tags" Target="../tags/tag6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4.xml"/><Relationship Id="rId8" Type="http://schemas.openxmlformats.org/officeDocument/2006/relationships/tags" Target="../tags/tag83.xml"/><Relationship Id="rId7" Type="http://schemas.openxmlformats.org/officeDocument/2006/relationships/tags" Target="../tags/tag82.xml"/><Relationship Id="rId6" Type="http://schemas.openxmlformats.org/officeDocument/2006/relationships/tags" Target="../tags/tag81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90.xml"/><Relationship Id="rId15" Type="http://schemas.openxmlformats.org/officeDocument/2006/relationships/tags" Target="../tags/tag89.xml"/><Relationship Id="rId14" Type="http://schemas.openxmlformats.org/officeDocument/2006/relationships/image" Target="../media/image1.png"/><Relationship Id="rId13" Type="http://schemas.openxmlformats.org/officeDocument/2006/relationships/tags" Target="../tags/tag88.xml"/><Relationship Id="rId12" Type="http://schemas.openxmlformats.org/officeDocument/2006/relationships/tags" Target="../tags/tag87.xml"/><Relationship Id="rId11" Type="http://schemas.openxmlformats.org/officeDocument/2006/relationships/tags" Target="../tags/tag86.xml"/><Relationship Id="rId10" Type="http://schemas.openxmlformats.org/officeDocument/2006/relationships/tags" Target="../tags/tag85.xml"/><Relationship Id="rId1" Type="http://schemas.openxmlformats.org/officeDocument/2006/relationships/tags" Target="../tags/tag76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image" Target="../media/image1.png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454120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互联网从工作方式上可以划分为两大块：边缘部分：由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所有连接在互联网上的主机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组成。这部分是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用户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直接使用的，用来进行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资源共享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；核心部分：由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大量网络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和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连接这些网络的路由器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组成，这部分是为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边缘部分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提供服务的。在网络核心部分起特殊作用的是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。其任务是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转发收到的分组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9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1121117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电路交换在端和端之间建立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，必须经过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物理通路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（占用通信资源）——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（一直占用通信资源）——</a:t>
            </a:r>
            <a:r>
              <a:rPr lang="zh-CN" altLang="en-US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释放连接</a:t>
            </a:r>
            <a:r>
              <a:rPr lang="en-US" altLang="zh-CN" sz="26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（归还通信资源）三个步骤的交换方式</a:t>
            </a:r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06500" y="11861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zh-CN" altLang="zh-CN" dirty="0"/>
              <a:t>分组交换无需建立连接，采用</a:t>
            </a:r>
            <a:r>
              <a:rPr lang="zh-CN" altLang="en-US" dirty="0">
                <a:solidFill>
                  <a:srgbClr val="639EF4"/>
                </a:solidFill>
              </a:rPr>
              <a:t> </a:t>
            </a:r>
            <a:r>
              <a:rPr lang="en-US" altLang="zh-CN" dirty="0">
                <a:solidFill>
                  <a:srgbClr val="639EF4"/>
                </a:solidFill>
              </a:rPr>
              <a:t>[</a:t>
            </a:r>
            <a:r>
              <a:rPr dirty="0">
                <a:solidFill>
                  <a:srgbClr val="639EF4"/>
                </a:solidFill>
              </a:rPr>
              <a:t>存储转发</a:t>
            </a:r>
            <a:r>
              <a:rPr lang="en-US" altLang="zh-CN" dirty="0">
                <a:solidFill>
                  <a:srgbClr val="639EF4"/>
                </a:solidFill>
              </a:rPr>
              <a:t>]</a:t>
            </a:r>
            <a:r>
              <a:rPr lang="en-US" altLang="zh-CN" dirty="0"/>
              <a:t> </a:t>
            </a:r>
            <a:r>
              <a:rPr lang="zh-CN" altLang="zh-CN" dirty="0"/>
              <a:t>技术。在发送端，先把较长的</a:t>
            </a:r>
            <a:r>
              <a:rPr lang="zh-CN" altLang="en-US" dirty="0">
                <a:solidFill>
                  <a:srgbClr val="639EF4"/>
                </a:solidFill>
              </a:rPr>
              <a:t> </a:t>
            </a:r>
            <a:r>
              <a:rPr lang="en-US" altLang="zh-CN" dirty="0">
                <a:solidFill>
                  <a:srgbClr val="639EF4"/>
                </a:solidFill>
              </a:rPr>
              <a:t>[</a:t>
            </a:r>
            <a:r>
              <a:rPr dirty="0">
                <a:solidFill>
                  <a:srgbClr val="639EF4"/>
                </a:solidFill>
              </a:rPr>
              <a:t>报文</a:t>
            </a:r>
            <a:r>
              <a:rPr lang="en-US" altLang="zh-CN" dirty="0">
                <a:solidFill>
                  <a:srgbClr val="639EF4"/>
                </a:solidFill>
              </a:rPr>
              <a:t>]</a:t>
            </a:r>
            <a:r>
              <a:rPr lang="en-US" altLang="zh-CN" dirty="0"/>
              <a:t> </a:t>
            </a:r>
            <a:r>
              <a:rPr lang="zh-CN" altLang="zh-CN" dirty="0"/>
              <a:t>（要发送的整个数据块）划分成较短的、固定长度的数据段，前面添加上</a:t>
            </a:r>
            <a:r>
              <a:rPr lang="zh-CN" altLang="en-US" dirty="0">
                <a:solidFill>
                  <a:srgbClr val="639EF4"/>
                </a:solidFill>
              </a:rPr>
              <a:t> </a:t>
            </a:r>
            <a:r>
              <a:rPr lang="en-US" altLang="zh-CN" dirty="0">
                <a:solidFill>
                  <a:srgbClr val="639EF4"/>
                </a:solidFill>
              </a:rPr>
              <a:t>[</a:t>
            </a:r>
            <a:r>
              <a:rPr dirty="0">
                <a:solidFill>
                  <a:srgbClr val="639EF4"/>
                </a:solidFill>
              </a:rPr>
              <a:t>首部</a:t>
            </a:r>
            <a:r>
              <a:rPr lang="en-US" altLang="zh-CN" dirty="0">
                <a:solidFill>
                  <a:srgbClr val="639EF4"/>
                </a:solidFill>
              </a:rPr>
              <a:t>]</a:t>
            </a:r>
            <a:r>
              <a:rPr lang="en-US" altLang="zh-CN" dirty="0"/>
              <a:t> </a:t>
            </a:r>
            <a:r>
              <a:rPr lang="zh-CN" altLang="zh-CN" dirty="0"/>
              <a:t>构成</a:t>
            </a:r>
            <a:r>
              <a:rPr lang="zh-CN" altLang="en-US" dirty="0">
                <a:solidFill>
                  <a:srgbClr val="639EF4"/>
                </a:solidFill>
              </a:rPr>
              <a:t> </a:t>
            </a:r>
            <a:r>
              <a:rPr lang="en-US" altLang="zh-CN" dirty="0">
                <a:solidFill>
                  <a:srgbClr val="639EF4"/>
                </a:solidFill>
              </a:rPr>
              <a:t>[</a:t>
            </a:r>
            <a:r>
              <a:rPr dirty="0">
                <a:solidFill>
                  <a:srgbClr val="639EF4"/>
                </a:solidFill>
              </a:rPr>
              <a:t>分组</a:t>
            </a:r>
            <a:r>
              <a:rPr lang="en-US" altLang="zh-CN" dirty="0">
                <a:solidFill>
                  <a:srgbClr val="639EF4"/>
                </a:solidFill>
              </a:rPr>
              <a:t>]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4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5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4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zh-CN" altLang="zh-CN" dirty="0"/>
              <a:t>如果要连续传送大量的数据，且传输时间远大于连接建立时间，则传输速率快</a:t>
            </a:r>
            <a:r>
              <a:rPr lang="zh-CN" altLang="en-US" dirty="0"/>
              <a:t>的交换方式是：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椭圆 18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zh-CN" altLang="zh-CN" dirty="0"/>
              <a:t>需要预先分配传输带宽</a:t>
            </a:r>
            <a:r>
              <a:rPr lang="zh-CN" altLang="en-US" dirty="0"/>
              <a:t>的交换方式：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椭圆 17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zh-CN" altLang="zh-CN" dirty="0"/>
              <a:t>采用存储转发技术，整个报文作为数据传输单元，不进行拆分</a:t>
            </a:r>
            <a:r>
              <a:rPr lang="zh-CN" altLang="en-US" dirty="0"/>
              <a:t>的交换方式是：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椭圆 17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7</a:t>
            </a:r>
            <a:r>
              <a:rPr lang="zh-CN" altLang="en-US" dirty="0"/>
              <a:t>、</a:t>
            </a:r>
            <a:r>
              <a:rPr lang="zh-CN" altLang="zh-CN" dirty="0"/>
              <a:t>无需建立连接，采用存储转发技术。在发送端，先把较长的报文划分成较短的、固定长度的数据段，前面添加上首部</a:t>
            </a:r>
            <a:r>
              <a:rPr lang="zh-CN" altLang="en-US" dirty="0"/>
              <a:t>后</a:t>
            </a:r>
            <a:r>
              <a:rPr lang="zh-CN" altLang="zh-CN" dirty="0"/>
              <a:t>作为数据传输单元</a:t>
            </a:r>
            <a:r>
              <a:rPr lang="zh-CN" altLang="en-US" dirty="0"/>
              <a:t>的交换方式是：</a:t>
            </a:r>
            <a:endParaRPr lang="zh-CN" altLang="zh-CN" dirty="0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分组交换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电路交换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报文交换</a:t>
            </a:r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9" name="椭圆 18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chemeClr val="accent6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8</a:t>
            </a:r>
            <a:r>
              <a:rPr lang="zh-CN" altLang="en-US" dirty="0"/>
              <a:t>、</a:t>
            </a:r>
            <a:r>
              <a:rPr lang="zh-CN" altLang="zh-CN" dirty="0"/>
              <a:t>在网络边缘的端系统之间的通信方式</a:t>
            </a:r>
            <a:r>
              <a:rPr lang="zh-CN" altLang="en-US" dirty="0"/>
              <a:t>中，</a:t>
            </a:r>
            <a:r>
              <a:rPr lang="zh-CN" altLang="zh-CN" dirty="0"/>
              <a:t>通信时并不区分哪一个是服务请求方还是服务提供方</a:t>
            </a:r>
            <a:r>
              <a:rPr lang="zh-CN" altLang="en-US" dirty="0"/>
              <a:t>的是：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客户</a:t>
            </a:r>
            <a:r>
              <a:rPr lang="en-US" altLang="zh-CN" dirty="0"/>
              <a:t>-</a:t>
            </a:r>
            <a:r>
              <a:rPr lang="zh-CN" altLang="zh-CN" dirty="0"/>
              <a:t>服务器方式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zh-CN" dirty="0"/>
              <a:t>对等方式</a:t>
            </a:r>
            <a:endParaRPr lang="zh-CN" altLang="en-US" dirty="0">
              <a:sym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5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6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/>
          <p:nvPr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8" name="椭圆 17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chemeClr val="accent6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PRODUCTVERSIONTIP3" val="PRODUCTVERSIONTIP3"/>
</p:tagLst>
</file>

<file path=ppt/tags/tag4.xml><?xml version="1.0" encoding="utf-8"?>
<p:tagLst xmlns:p="http://schemas.openxmlformats.org/presentationml/2006/main">
  <p:tag name="RAINPROBLEMTYPE" val="ProblemTypeMarker"/>
</p:tagLst>
</file>

<file path=ppt/tags/tag5.xml><?xml version="1.0" encoding="utf-8"?>
<p:tagLst xmlns:p="http://schemas.openxmlformats.org/presentationml/2006/main">
  <p:tag name="RAINPROBLEMTYPE" val="ProblemTypeMarker"/>
</p:tagLst>
</file>

<file path=ppt/tags/tag6.xml><?xml version="1.0" encoding="utf-8"?>
<p:tagLst xmlns:p="http://schemas.openxmlformats.org/presentationml/2006/main">
  <p:tag name="RAINPROBLEMTYPE" val="ProblemTypeMarker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" val="ProblemSetting"/>
  <p:tag name="RAINPROBLEMTYPE" val="FillBlank"/>
</p:tagLst>
</file>

<file path=ppt/tags/tag10.xml><?xml version="1.0" encoding="utf-8"?>
<p:tagLst xmlns:p="http://schemas.openxmlformats.org/presentationml/2006/main">
  <p:tag name="RAINPROBLEM" val="FillBlank"/>
  <p:tag name="PROBLEMBLANKKEYWORD" val="填空"/>
  <p:tag name="PROBLEMSCORE" val="9.0"/>
  <p:tag name="PROBLEMBLANK" val="[{&quot;Num&quot;:1,&quot;Score&quot;:1.0,&quot;Answers&quot;:[&quot;所有连接在互联网上的主机&quot;],&quot;CaseSensitive&quot;:false,&quot;FuzzyMatch&quot;:false},{&quot;Num&quot;:2,&quot;Score&quot;:1.0,&quot;Answers&quot;:[&quot;用户&quot;],&quot;CaseSensitive&quot;:false,&quot;FuzzyMatch&quot;:false},{&quot;Num&quot;:3,&quot;Score&quot;:1.0,&quot;Answers&quot;:[&quot;通信&quot;],&quot;CaseSensitive&quot;:false,&quot;FuzzyMatch&quot;:false},{&quot;Num&quot;:4,&quot;Score&quot;:1.0,&quot;Answers&quot;:[&quot;资源共享&quot;],&quot;CaseSensitive&quot;:false,&quot;FuzzyMatch&quot;:false},{&quot;Num&quot;:5,&quot;Score&quot;:1.0,&quot;Answers&quot;:[&quot;大量网络&quot;],&quot;CaseSensitive&quot;:false,&quot;FuzzyMatch&quot;:false},{&quot;Num&quot;:6,&quot;Score&quot;:1.0,&quot;Answers&quot;:[&quot;连接这些网络的路由器&quot;],&quot;CaseSensitive&quot;:false,&quot;FuzzyMatch&quot;:false},{&quot;Num&quot;:7,&quot;Score&quot;:1.0,&quot;Answers&quot;:[&quot;边缘部分&quot;],&quot;CaseSensitive&quot;:false,&quot;FuzzyMatch&quot;:false},{&quot;Num&quot;:8,&quot;Score&quot;:1.0,&quot;Answers&quot;:[&quot;路由器&quot;],&quot;CaseSensitive&quot;:false,&quot;FuzzyMatch&quot;:false},{&quot;Num&quot;:9,&quot;Score&quot;:1.0,&quot;Answers&quot;:[&quot;转发收到的分组&quot;],&quot;CaseSensitive&quot;:false,&quot;FuzzyMatch&quot;:false}]"/>
</p:tagLst>
</file>

<file path=ppt/tags/tag11.xml><?xml version="1.0" encoding="utf-8"?>
<p:tagLst xmlns:p="http://schemas.openxmlformats.org/presentationml/2006/main">
  <p:tag name="RAINPROBLEM" val="ProblemBody"/>
</p:tagLst>
</file>

<file path=ppt/tags/tag12.xml><?xml version="1.0" encoding="utf-8"?>
<p:tagLst xmlns:p="http://schemas.openxmlformats.org/presentationml/2006/main">
  <p:tag name="RAINPROBLEM" val="ProblemSubmit"/>
  <p:tag name="RAINPROBLEMTYPE" val="FillBlank"/>
</p:tagLst>
</file>

<file path=ppt/tags/tag13.xml><?xml version="1.0" encoding="utf-8"?>
<p:tagLst xmlns:p="http://schemas.openxmlformats.org/presentationml/2006/main">
  <p:tag name="PRODUCTVERSIONTIP3" val="PRODUCTVERSIONTIP3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TYPE" val="ProblemTypeMarker"/>
</p:tagLst>
</file>

<file path=ppt/tags/tag18.xml><?xml version="1.0" encoding="utf-8"?>
<p:tagLst xmlns:p="http://schemas.openxmlformats.org/presentationml/2006/main">
  <p:tag name="RAINPROBLEMTYPE" val="ProblemTypeMarker"/>
</p:tagLst>
</file>

<file path=ppt/tags/tag19.xml><?xml version="1.0" encoding="utf-8"?>
<p:tagLst xmlns:p="http://schemas.openxmlformats.org/presentationml/2006/main">
  <p:tag name="RAINPROBLEM" val="ProblemSetting"/>
  <p:tag name="RAINPROBLEMTYPE" val="FillBlank"/>
</p:tagLst>
</file>

<file path=ppt/tags/tag20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专用的物理通路&quot;],&quot;CaseSensitive&quot;:false,&quot;FuzzyMatch&quot;:false},{&quot;Num&quot;:2,&quot;Score&quot;:1.0,&quot;Answers&quot;:[&quot;建立连接&quot;],&quot;CaseSensitive&quot;:false,&quot;FuzzyMatch&quot;:false},{&quot;Num&quot;:3,&quot;Score&quot;:1.0,&quot;Answers&quot;:[&quot;通话&quot;],&quot;CaseSensitive&quot;:false,&quot;FuzzyMatch&quot;:false},{&quot;Num&quot;:4,&quot;Score&quot;:1.0,&quot;Answers&quot;:[&quot;释放连接&quot;],&quot;CaseSensitive&quot;:false,&quot;FuzzyMatch&quot;:false}]"/>
</p:tagLst>
</file>

<file path=ppt/tags/tag21.xml><?xml version="1.0" encoding="utf-8"?>
<p:tagLst xmlns:p="http://schemas.openxmlformats.org/presentationml/2006/main">
  <p:tag name="RAINPROBLEM" val="ProblemBody"/>
</p:tagLst>
</file>

<file path=ppt/tags/tag22.xml><?xml version="1.0" encoding="utf-8"?>
<p:tagLst xmlns:p="http://schemas.openxmlformats.org/presentationml/2006/main">
  <p:tag name="RAINPROBLEM" val="ProblemSubmit"/>
  <p:tag name="RAINPROBLEMTYPE" val="FillBlank"/>
</p:tagLst>
</file>

<file path=ppt/tags/tag23.xml><?xml version="1.0" encoding="utf-8"?>
<p:tagLst xmlns:p="http://schemas.openxmlformats.org/presentationml/2006/main">
  <p:tag name="PRODUCTVERSIONTIP3" val="PRODUCTVERSIONTIP3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TYPE" val="ProblemTypeMarker"/>
</p:tagLst>
</file>

<file path=ppt/tags/tag26.xml><?xml version="1.0" encoding="utf-8"?>
<p:tagLst xmlns:p="http://schemas.openxmlformats.org/presentationml/2006/main">
  <p:tag name="RAINPROBLEMTYPE" val="ProblemTypeMarker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" val="ProblemSetting"/>
  <p:tag name="RAINPROBLEMTYPE" val="FillBlank"/>
</p:tagLst>
</file>

<file path=ppt/tags/tag30.xml><?xml version="1.0" encoding="utf-8"?>
<p:tagLst xmlns:p="http://schemas.openxmlformats.org/presentationml/2006/main">
  <p:tag name="RAINPROBLEM" val="FillBlank"/>
  <p:tag name="PROBLEMBLANKKEYWORD" val="填空"/>
  <p:tag name="PROBLEMSCORE" val="4.0"/>
  <p:tag name="PROBLEMBLANK" val="[{&quot;Num&quot;:1,&quot;Score&quot;:1.0,&quot;Answers&quot;:[&quot;存储转发&quot;],&quot;CaseSensitive&quot;:false,&quot;FuzzyMatch&quot;:false},{&quot;Num&quot;:2,&quot;Score&quot;:1.0,&quot;Answers&quot;:[&quot;报文&quot;],&quot;CaseSensitive&quot;:false,&quot;FuzzyMatch&quot;:false},{&quot;Num&quot;:3,&quot;Score&quot;:1.0,&quot;Answers&quot;:[&quot;首部&quot;],&quot;CaseSensitive&quot;:false,&quot;FuzzyMatch&quot;:false},{&quot;Num&quot;:4,&quot;Score&quot;:1.0,&quot;Answers&quot;:[&quot;分组&quot;],&quot;CaseSensitive&quot;:false,&quot;FuzzyMatch&quot;:false}]"/>
</p:tagLst>
</file>

<file path=ppt/tags/tag31.xml><?xml version="1.0" encoding="utf-8"?>
<p:tagLst xmlns:p="http://schemas.openxmlformats.org/presentationml/2006/main">
  <p:tag name="RAINPROBLEM" val="ProblemBody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p="http://schemas.openxmlformats.org/presentationml/2006/main">
  <p:tag name="RAINPROBLEM" val="ProblemSubmit"/>
  <p:tag name="RAINPROBLEMTYPE" val="MultipleChoice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" val="ProblemSetting"/>
  <p:tag name="RAINPROBLEMTYPE" val="MultipleChoice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MultipleChoice"/>
  <p:tag name="PROBLEMSCORE" val="1.0"/>
</p:tagLst>
</file>

<file path=ppt/tags/tag46.xml><?xml version="1.0" encoding="utf-8"?>
<p:tagLst xmlns:p="http://schemas.openxmlformats.org/presentationml/2006/main">
  <p:tag name="RAINPROBLEM" val="ProblemBody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p="http://schemas.openxmlformats.org/presentationml/2006/main">
  <p:tag name="RAINPROBLEM" val="ProblemSubmit"/>
  <p:tag name="RAINPROBLEMTYPE" val="MultipleChoice"/>
</p:tagLst>
</file>

<file path=ppt/tags/tag53.xml><?xml version="1.0" encoding="utf-8"?>
<p:tagLst xmlns:p="http://schemas.openxmlformats.org/presentationml/2006/main">
  <p:tag name="RAINPROBLEMTYPE" val="ProblemTypeMarker"/>
</p:tagLst>
</file>

<file path=ppt/tags/tag54.xml><?xml version="1.0" encoding="utf-8"?>
<p:tagLst xmlns:p="http://schemas.openxmlformats.org/presentationml/2006/main">
  <p:tag name="RAINPROBLEMTYPE" val="ProblemTypeMarker"/>
</p:tagLst>
</file>

<file path=ppt/tags/tag55.xml><?xml version="1.0" encoding="utf-8"?>
<p:tagLst xmlns:p="http://schemas.openxmlformats.org/presentationml/2006/main">
  <p:tag name="RAINPROBLEMTYPE" val="ProblemTypeMarker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" val="ProblemSetting"/>
  <p:tag name="RAINPROBLEMTYPE" val="MultipleChoice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MultipleChoice"/>
  <p:tag name="PROBLEMSCORE" val="1.0"/>
</p:tagLst>
</file>

<file path=ppt/tags/tag61.xml><?xml version="1.0" encoding="utf-8"?>
<p:tagLst xmlns:p="http://schemas.openxmlformats.org/presentationml/2006/main">
  <p:tag name="RAINPROBLEM" val="ProblemBody"/>
</p:tagLst>
</file>

<file path=ppt/tags/tag62.xml><?xml version="1.0" encoding="utf-8"?>
<p:tagLst xmlns:p="http://schemas.openxmlformats.org/presentationml/2006/main">
  <p:tag name="RAINPROBLEM" val="ProblemItem"/>
</p:tagLst>
</file>

<file path=ppt/tags/tag63.xml><?xml version="1.0" encoding="utf-8"?>
<p:tagLst xmlns:p="http://schemas.openxmlformats.org/presentationml/2006/main">
  <p:tag name="RAINPROBLEM" val="ProblemItem"/>
</p:tagLst>
</file>

<file path=ppt/tags/tag64.xml><?xml version="1.0" encoding="utf-8"?>
<p:tagLst xmlns:p="http://schemas.openxmlformats.org/presentationml/2006/main">
  <p:tag name="RAINPROBLEM" val="ProblemItem"/>
</p:tagLst>
</file>

<file path=ppt/tags/tag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p="http://schemas.openxmlformats.org/presentationml/2006/main">
  <p:tag name="RAINPROBLEM" val="ProblemSubmit"/>
  <p:tag name="RAINPROBLEMTYPE" val="MultipleChoice"/>
</p:tagLst>
</file>

<file path=ppt/tags/tag68.xml><?xml version="1.0" encoding="utf-8"?>
<p:tagLst xmlns:p="http://schemas.openxmlformats.org/presentationml/2006/main">
  <p:tag name="RAINPROBLEMTYPE" val="ProblemTypeMarker"/>
</p:tagLst>
</file>

<file path=ppt/tags/tag69.xml><?xml version="1.0" encoding="utf-8"?>
<p:tagLst xmlns:p="http://schemas.openxmlformats.org/presentationml/2006/main">
  <p:tag name="RAINPROBLEMTYPE" val="ProblemTypeMarker"/>
</p:tagLst>
</file>

<file path=ppt/tags/tag70.xml><?xml version="1.0" encoding="utf-8"?>
<p:tagLst xmlns:p="http://schemas.openxmlformats.org/presentationml/2006/main">
  <p:tag name="RAINPROBLEMTYPE" val="ProblemTypeMarker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" val="ProblemSetting"/>
  <p:tag name="RAINPROBLEMTYPE" val="MultipleChoice"/>
</p:tagLst>
</file>

<file path=ppt/tags/tag7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5.xml><?xml version="1.0" encoding="utf-8"?>
<p:tagLst xmlns:p="http://schemas.openxmlformats.org/presentationml/2006/main">
  <p:tag name="RAINPROBLEM" val="MultipleChoice"/>
  <p:tag name="PROBLEMSCORE" val="1.0"/>
</p:tagLst>
</file>

<file path=ppt/tags/tag76.xml><?xml version="1.0" encoding="utf-8"?>
<p:tagLst xmlns:p="http://schemas.openxmlformats.org/presentationml/2006/main">
  <p:tag name="RAINPROBLEM" val="ProblemBody"/>
</p:tagLst>
</file>

<file path=ppt/tags/tag77.xml><?xml version="1.0" encoding="utf-8"?>
<p:tagLst xmlns:p="http://schemas.openxmlformats.org/presentationml/2006/main">
  <p:tag name="RAINPROBLEM" val="ProblemItem"/>
</p:tagLst>
</file>

<file path=ppt/tags/tag78.xml><?xml version="1.0" encoding="utf-8"?>
<p:tagLst xmlns:p="http://schemas.openxmlformats.org/presentationml/2006/main">
  <p:tag name="RAINPROBLEM" val="ProblemItem"/>
</p:tagLst>
</file>

<file path=ppt/tags/tag79.xml><?xml version="1.0" encoding="utf-8"?>
<p:tagLst xmlns:p="http://schemas.openxmlformats.org/presentationml/2006/main">
  <p:tag name="RAINPROBLEM" val="ProblemItem"/>
</p:tagLst>
</file>

<file path=ppt/tags/tag8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2.xml><?xml version="1.0" encoding="utf-8"?>
<p:tagLst xmlns:p="http://schemas.openxmlformats.org/presentationml/2006/main">
  <p:tag name="RAINPROBLEM" val="ProblemSubmit"/>
  <p:tag name="RAINPROBLEMTYPE" val="MultipleChoice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TYPE" val="ProblemTypeMarker"/>
</p:tagLst>
</file>

<file path=ppt/tags/tag86.xml><?xml version="1.0" encoding="utf-8"?>
<p:tagLst xmlns:p="http://schemas.openxmlformats.org/presentationml/2006/main">
  <p:tag name="RAINPROBLEMTYPE" val="ProblemTypeMarker"/>
</p:tagLst>
</file>

<file path=ppt/tags/tag87.xml><?xml version="1.0" encoding="utf-8"?>
<p:tagLst xmlns:p="http://schemas.openxmlformats.org/presentationml/2006/main">
  <p:tag name="RAINPROBLEMTYPE" val="ProblemTypeMarker"/>
</p:tagLst>
</file>

<file path=ppt/tags/tag88.xml><?xml version="1.0" encoding="utf-8"?>
<p:tagLst xmlns:p="http://schemas.openxmlformats.org/presentationml/2006/main">
  <p:tag name="RAINPROBLEM" val="ProblemSetting"/>
  <p:tag name="RAINPROBLEMTYPE" val="MultipleChoice"/>
</p:tagLst>
</file>

<file path=ppt/tags/tag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p="http://schemas.openxmlformats.org/presentationml/2006/main">
  <p:tag name="RAINPROBLEM" val="MultipleChoice"/>
  <p:tag name="PROBLEMSCORE" val="1.0"/>
</p:tagLst>
</file>

<file path=ppt/tags/tag91.xml><?xml version="1.0" encoding="utf-8"?>
<p:tagLst xmlns:p="http://schemas.openxmlformats.org/presentationml/2006/main">
  <p:tag name="RAINPROBLEM" val="ProblemBody"/>
</p:tagLst>
</file>

<file path=ppt/tags/tag92.xml><?xml version="1.0" encoding="utf-8"?>
<p:tagLst xmlns:p="http://schemas.openxmlformats.org/presentationml/2006/main">
  <p:tag name="RAINPROBLEM" val="ProblemItem"/>
</p:tagLst>
</file>

<file path=ppt/tags/tag93.xml><?xml version="1.0" encoding="utf-8"?>
<p:tagLst xmlns:p="http://schemas.openxmlformats.org/presentationml/2006/main">
  <p:tag name="RAINPROBLEM" val="ProblemItem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Submit"/>
  <p:tag name="RAINPROBLEMTYPE" val="MultipleChoice"/>
</p:tagLst>
</file>

<file path=ppt/tags/tag96.xml><?xml version="1.0" encoding="utf-8"?>
<p:tagLst xmlns:p="http://schemas.openxmlformats.org/presentationml/2006/main">
  <p:tag name="RAINPROBLEMTYPE" val="ProblemTypeMarker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" val="ProblemSetting"/>
  <p:tag name="RAINPROBLEMTYPE" val="MultipleChoice"/>
</p:tagLst>
</file>

<file path=ppt/tags/tag10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3.xml><?xml version="1.0" encoding="utf-8"?>
<p:tagLst xmlns:p="http://schemas.openxmlformats.org/presentationml/2006/main">
  <p:tag name="RAINPROBLEM" val="MultipleChoice"/>
  <p:tag name="PROBLEMSCORE" val="1.0"/>
</p:tagLst>
</file>

<file path=ppt/tags/tag104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WPS 演示</Application>
  <PresentationFormat>宽屏</PresentationFormat>
  <Paragraphs>126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14</cp:revision>
  <dcterms:created xsi:type="dcterms:W3CDTF">2020-02-20T11:10:00Z</dcterms:created>
  <dcterms:modified xsi:type="dcterms:W3CDTF">2022-05-25T12:20:40Z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B7E9F42D0EB84E9AA8013809757EE635</vt:lpwstr>
  </property>
  <property fmtid="{D5CDD505-2E9C-101B-9397-08002B2CF9AE}" pid="3" name="KSOProductBuildVer">
    <vt:lpwstr>2052-11.1.0.11744</vt:lpwstr>
  </property>
</Properties>
</file>
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4" r:id="rId3"/>
    <p:sldId id="301" r:id="rId5"/>
    <p:sldId id="302" r:id="rId6"/>
    <p:sldId id="315" r:id="rId7"/>
    <p:sldId id="316" r:id="rId8"/>
    <p:sldId id="317" r:id="rId9"/>
    <p:sldId id="318" r:id="rId10"/>
    <p:sldId id="319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25" autoAdjust="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0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016BC-942B-4674-8D30-48EFB630E9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专用计算机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	</a:t>
            </a:r>
            <a:r>
              <a:rPr lang="zh-CN" altLang="zh-CN" dirty="0">
                <a:ea typeface="黑体" panose="02010609060101010101" pitchFamily="49" charset="-122"/>
              </a:rPr>
              <a:t>路由选择部分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zh-CN" noProof="1">
                <a:solidFill>
                  <a:srgbClr val="0000FF"/>
                </a:solidFill>
                <a:cs typeface="+mn-ea"/>
              </a:rPr>
              <a:t>交换结构</a:t>
            </a:r>
            <a:r>
              <a:rPr lang="en-US" altLang="zh-CN" noProof="1">
                <a:solidFill>
                  <a:srgbClr val="0000FF"/>
                </a:solidFill>
                <a:cs typeface="+mn-ea"/>
              </a:rPr>
              <a:t>	</a:t>
            </a:r>
            <a:r>
              <a:rPr lang="zh-CN" altLang="zh-CN" noProof="1">
                <a:cs typeface="+mn-ea"/>
              </a:rPr>
              <a:t>一组</a:t>
            </a:r>
            <a:r>
              <a:rPr lang="zh-CN" altLang="zh-CN" noProof="1">
                <a:solidFill>
                  <a:srgbClr val="0000FF"/>
                </a:solidFill>
                <a:cs typeface="+mn-ea"/>
              </a:rPr>
              <a:t>输入端口</a:t>
            </a:r>
            <a:r>
              <a:rPr lang="en-US" altLang="zh-CN" noProof="1">
                <a:solidFill>
                  <a:srgbClr val="0000FF"/>
                </a:solidFill>
                <a:cs typeface="+mn-ea"/>
              </a:rPr>
              <a:t>	</a:t>
            </a:r>
            <a:r>
              <a:rPr lang="zh-CN" altLang="zh-CN" noProof="1">
                <a:cs typeface="+mn-ea"/>
              </a:rPr>
              <a:t>一组</a:t>
            </a:r>
            <a:r>
              <a:rPr lang="zh-CN" altLang="zh-CN" noProof="1">
                <a:solidFill>
                  <a:srgbClr val="0000FF"/>
                </a:solidFill>
                <a:cs typeface="+mn-ea"/>
              </a:rPr>
              <a:t>输出端口</a:t>
            </a:r>
            <a:endParaRPr lang="en-US" altLang="zh-CN" noProof="1">
              <a:solidFill>
                <a:srgbClr val="0000FF"/>
              </a:solidFill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noProof="1">
              <a:solidFill>
                <a:srgbClr val="0000FF"/>
              </a:solidFill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noProof="1">
                <a:solidFill>
                  <a:srgbClr val="0000FF"/>
                </a:solidFill>
                <a:cs typeface="+mn-ea"/>
              </a:rPr>
              <a:t> </a:t>
            </a:r>
            <a:endParaRPr lang="zh-CN" altLang="zh-CN" dirty="0"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>
                <a:ea typeface="黑体" panose="02010609060101010101" pitchFamily="49" charset="-122"/>
              </a:rPr>
              <a:t>互联网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zh-CN" u="sng" dirty="0">
                <a:solidFill>
                  <a:srgbClr val="FF0000"/>
                </a:solidFill>
                <a:ea typeface="黑体" panose="02010609060101010101" pitchFamily="49" charset="-122"/>
              </a:rPr>
              <a:t>虚拟专用网</a:t>
            </a:r>
            <a:r>
              <a:rPr lang="en-US" altLang="zh-CN" u="sng" dirty="0">
                <a:ea typeface="黑体" panose="02010609060101010101" pitchFamily="49" charset="-122"/>
              </a:rPr>
              <a:t>VPN 	</a:t>
            </a:r>
            <a:r>
              <a:rPr lang="zh-CN" altLang="en-US" dirty="0">
                <a:ea typeface="黑体" panose="02010609060101010101" pitchFamily="49" charset="-122"/>
              </a:rPr>
              <a:t>隧道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EF7CC-C29D-41BE-80A0-F4AB642EF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5.xml"/><Relationship Id="rId15" Type="http://schemas.openxmlformats.org/officeDocument/2006/relationships/image" Target="../media/image1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8.xml"/><Relationship Id="rId13" Type="http://schemas.openxmlformats.org/officeDocument/2006/relationships/image" Target="../media/image1.png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3.xml"/><Relationship Id="rId15" Type="http://schemas.openxmlformats.org/officeDocument/2006/relationships/image" Target="../media/image1.png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2.xml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5.xml"/><Relationship Id="rId13" Type="http://schemas.openxmlformats.org/officeDocument/2006/relationships/image" Target="../media/image1.png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74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1.xml"/><Relationship Id="rId17" Type="http://schemas.openxmlformats.org/officeDocument/2006/relationships/image" Target="../media/image1.png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04.xml"/><Relationship Id="rId13" Type="http://schemas.openxmlformats.org/officeDocument/2006/relationships/image" Target="../media/image1.png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、（    ）是不同自治系统的路由器之间交换路由信息的协议。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BGP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BGP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只能是力求寻找一条能够到达目的网络且比较好的路由（不能兜圈子），而并非要寻找一条最佳路由。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、一个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BGP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发言人与其他自治系统中的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BGP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发言人使用 （   ）交换路由信息。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UDP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136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36320" y="942535"/>
            <a:ext cx="9753600" cy="300287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、路由器是一种具有多个输入端口和多个输出端口的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专用计算机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，其任务是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转发分组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。整个的路由器结构可划分为两大部分：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路由选择部分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和分组转发部分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。其中，分组转发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由三部分组成：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交换结构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一组输入端口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一组输出端口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、专用地址只能用作本地地址而不能用作全球地址。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、利用公用的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互联网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作为本机构各专用网之间的通信载体，这样的专用网又称为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虚拟专用网VPN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。可以用使用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隧道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技术实现。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、在专用网内部主机与外部主机通信时，在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NAT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路由器上发生了两次地址转换，分别是（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离开专用网时：替换源地址，将内部地址替换为全球地址；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离开专用网时：替换目的地址，将全球地址替换为内部地址；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进入专用网时：替换目的地址，将全球地址替换为内部地址；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进入专用网时：替换源地址，将内部地址替换为全球地址；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、专用网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内部的主机可以充当互联网服务器使用。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p="http://schemas.openxmlformats.org/presentationml/2006/main">
  <p:tag name="RAINPROBLEM" val="ProblemSubmit"/>
  <p:tag name="RAINPROBLEMTYPE" val="Polling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p="http://schemas.openxmlformats.org/presentationml/2006/main">
  <p:tag name="RAINPROBLEM" val="ProblemSetting"/>
  <p:tag name="RAINPROBLEMTYPE" val="Polling"/>
</p:tagLst>
</file>

<file path=ppt/tags/tag1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6.xml><?xml version="1.0" encoding="utf-8"?>
<p:tagLst xmlns:p="http://schemas.openxmlformats.org/presentationml/2006/main">
  <p:tag name="RAINPROBLEM" val="ProblemBody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1.xml><?xml version="1.0" encoding="utf-8"?>
<p:tagLst xmlns:p="http://schemas.openxmlformats.org/presentationml/2006/main">
  <p:tag name="RAINPROBLEM" val="ProblemSubmit"/>
  <p:tag name="RAINPROBLEMTYPE" val="Polling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  <p:tag name="RAINPROBLEM" val="PollingAnswer"/>
</p:tagLst>
</file>

<file path=ppt/tags/tag27.xml><?xml version="1.0" encoding="utf-8"?>
<p:tagLst xmlns:p="http://schemas.openxmlformats.org/presentationml/2006/main">
  <p:tag name="RAINPROBLEM" val="ProblemSetting"/>
  <p:tag name="RAINPROBLEMTYPE" val="Polling"/>
</p:tagLst>
</file>

<file path=ppt/tags/tag28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4.xml><?xml version="1.0" encoding="utf-8"?>
<p:tagLst xmlns:p="http://schemas.openxmlformats.org/presentationml/2006/main">
  <p:tag name="RAINPROBLEM" val="ProblemSubmit"/>
  <p:tag name="RAINPROBLEMTYPE" val="Polling"/>
</p:tagLst>
</file>

<file path=ppt/tags/tag35.xml><?xml version="1.0" encoding="utf-8"?>
<p:tagLst xmlns:p="http://schemas.openxmlformats.org/presentationml/2006/main">
  <p:tag name="RAINPROBLEM" val="ProblemItem"/>
</p:tagLst>
</file>

<file path=ppt/tags/tag3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  <p:tag name="RAINPROBLEM" val="PollingAnswer"/>
</p:tagLst>
</file>

<file path=ppt/tags/tag42.xml><?xml version="1.0" encoding="utf-8"?>
<p:tagLst xmlns:p="http://schemas.openxmlformats.org/presentationml/2006/main">
  <p:tag name="RAINPROBLEM" val="ProblemSetting"/>
  <p:tag name="RAINPROBLEMTYPE" val="Polling"/>
</p:tagLst>
</file>

<file path=ppt/tags/tag4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Submit"/>
  <p:tag name="RAINPROBLEMTYPE" val="FillBlank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FillBlank"/>
</p:tagLst>
</file>

<file path=ppt/tags/tag52.xml><?xml version="1.0" encoding="utf-8"?>
<p:tagLst xmlns:p="http://schemas.openxmlformats.org/presentationml/2006/main">
  <p:tag name="RAINPROBLEM" val="FillBlank"/>
  <p:tag name="PROBLEMBLANKKEYWORD" val="填空"/>
  <p:tag name="PROBLEMSCORE" val="6.0"/>
  <p:tag name="PROBLEMBLANK" val="[{&quot;Num&quot;:1,&quot;Score&quot;:1.0,&quot;Answers&quot;:[&quot;专用计算机&quot;],&quot;CaseSensitive&quot;:false,&quot;FuzzyMatch&quot;:false},{&quot;Num&quot;:2,&quot;Score&quot;:1.0,&quot;Answers&quot;:[&quot;转发分组&quot;],&quot;CaseSensitive&quot;:false,&quot;FuzzyMatch&quot;:false},{&quot;Num&quot;:3,&quot;Score&quot;:1.0,&quot;Answers&quot;:[&quot;路由选择部分&quot;],&quot;CaseSensitive&quot;:false,&quot;FuzzyMatch&quot;:false},{&quot;Num&quot;:4,&quot;Score&quot;:1.0,&quot;Answers&quot;:[&quot;交换结构&quot;],&quot;CaseSensitive&quot;:false,&quot;FuzzyMatch&quot;:false},{&quot;Num&quot;:5,&quot;Score&quot;:1.0,&quot;Answers&quot;:[&quot;一组输入端口&quot;],&quot;CaseSensitive&quot;:false,&quot;FuzzyMatch&quot;:false},{&quot;Num&quot;:6,&quot;Score&quot;:1.0,&quot;Answers&quot;:[&quot;一组输出端口&quot;],&quot;CaseSensitive&quot;:false,&quot;FuzzyMatch&quot;:false}]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8.xml><?xml version="1.0" encoding="utf-8"?>
<p:tagLst xmlns:p="http://schemas.openxmlformats.org/presentationml/2006/main">
  <p:tag name="RAINPROBLEM" val="ProblemSubmit"/>
  <p:tag name="RAINPROBLEMTYPE" val="Polling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  <p:tag name="RAINPROBLEM" val="PollingAnswer"/>
</p:tagLst>
</file>

<file path=ppt/tags/tag64.xml><?xml version="1.0" encoding="utf-8"?>
<p:tagLst xmlns:p="http://schemas.openxmlformats.org/presentationml/2006/main">
  <p:tag name="RAINPROBLEM" val="ProblemSetting"/>
  <p:tag name="RAINPROBLEMTYPE" val="Polling"/>
</p:tagLst>
</file>

<file path=ppt/tags/tag6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6.xml><?xml version="1.0" encoding="utf-8"?>
<p:tagLst xmlns:p="http://schemas.openxmlformats.org/presentationml/2006/main">
  <p:tag name="RAINPROBLEM" val="ProblemBody"/>
</p:tagLst>
</file>

<file path=ppt/tags/tag67.xml><?xml version="1.0" encoding="utf-8"?>
<p:tagLst xmlns:p="http://schemas.openxmlformats.org/presentationml/2006/main">
  <p:tag name="RAINPROBLEM" val="ProblemSubmit"/>
  <p:tag name="RAINPROBLEMTYPE" val="FillBlank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" val="ProblemSetting"/>
  <p:tag name="RAINPROBLEMTYPE" val="FillBlank"/>
</p:tagLst>
</file>

<file path=ppt/tags/tag74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互联网&quot;],&quot;CaseSensitive&quot;:false,&quot;FuzzyMatch&quot;:false},{&quot;Num&quot;:2,&quot;Score&quot;:1.0,&quot;Answers&quot;:[&quot;虚拟专用网VPN&quot;],&quot;CaseSensitive&quot;:false,&quot;FuzzyMatch&quot;:false},{&quot;Num&quot;:3,&quot;Score&quot;:1.0,&quot;Answers&quot;:[&quot;隧道&quot;],&quot;CaseSensitive&quot;:false,&quot;FuzzyMatch&quot;:false}]"/>
</p:tagLst>
</file>

<file path=ppt/tags/tag75.xml><?xml version="1.0" encoding="utf-8"?>
<p:tagLst xmlns:p="http://schemas.openxmlformats.org/presentationml/2006/main">
  <p:tag name="RAINPROBLEM" val="ProblemBody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4.xml><?xml version="1.0" encoding="utf-8"?>
<p:tagLst xmlns:p="http://schemas.openxmlformats.org/presentationml/2006/main">
  <p:tag name="RAINPROBLEM" val="ProblemSubmit"/>
  <p:tag name="RAINPROBLEMTYPE" val="Polling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TYPE" val="ProblemTypeMarker"/>
</p:tagLst>
</file>

<file path=ppt/tags/tag89.xml><?xml version="1.0" encoding="utf-8"?>
<p:tagLst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p="http://schemas.openxmlformats.org/presentationml/2006/main">
  <p:tag name="RAINPROBLEM" val="ProblemSetting"/>
  <p:tag name="RAINPROBLEMTYPE" val="Polling"/>
</p:tagLst>
</file>

<file path=ppt/tags/tag91.xml><?xml version="1.0" encoding="utf-8"?>
<p:tagLst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92.xml><?xml version="1.0" encoding="utf-8"?>
<p:tagLst xmlns:p="http://schemas.openxmlformats.org/presentationml/2006/main">
  <p:tag name="RAINPROBLEM" val="ProblemBody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Item"/>
</p:tagLst>
</file>

<file path=ppt/tags/tag9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7.xml><?xml version="1.0" encoding="utf-8"?>
<p:tagLst xmlns:p="http://schemas.openxmlformats.org/presentationml/2006/main">
  <p:tag name="RAINPROBLEM" val="ProblemSubmit"/>
  <p:tag name="RAINPROBLEMTYPE" val="Polling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  <p:tag name="RAINPROBLEM" val="PollingAnswer"/>
</p:tagLst>
</file>

<file path=ppt/tags/tag103.xml><?xml version="1.0" encoding="utf-8"?>
<p:tagLst xmlns:p="http://schemas.openxmlformats.org/presentationml/2006/main">
  <p:tag name="RAINPROBLEM" val="ProblemSetting"/>
  <p:tag name="RAINPROBLEMTYPE" val="Polling"/>
</p:tagLst>
</file>

<file path=ppt/tags/tag10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5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WPS 演示</Application>
  <PresentationFormat>宽屏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78</cp:revision>
  <dcterms:created xsi:type="dcterms:W3CDTF">2020-02-20T13:08:00Z</dcterms:created>
  <dcterms:modified xsi:type="dcterms:W3CDTF">2022-05-25T13:04:32Z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54094EDE3954457D9039121348699091</vt:lpwstr>
  </property>
  <property fmtid="{D5CDD505-2E9C-101B-9397-08002B2CF9AE}" pid="3" name="KSOProductBuildVer">
    <vt:lpwstr>2052-11.1.0.11744</vt:lpwstr>
  </property>
</Properties>
</file>
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8" r:id="rId3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20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E419D-715A-4746-94E1-4F95DB0936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AE32B-351B-4F3E-89D9-07BC25766E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AE32B-351B-4F3E-89D9-07BC25766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AE32B-351B-4F3E-89D9-07BC25766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硬件地址</a:t>
            </a:r>
            <a:r>
              <a:rPr lang="en-US" altLang="zh-CN" dirty="0">
                <a:ea typeface="黑体" panose="02010609060101010101" pitchFamily="49" charset="-122"/>
              </a:rPr>
              <a:t>	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高速缓存 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	</a:t>
            </a:r>
            <a:r>
              <a:rPr lang="en-US" altLang="zh-CN" dirty="0">
                <a:ea typeface="黑体" panose="02010609060101010101" pitchFamily="49" charset="-122"/>
              </a:rPr>
              <a:t>IP </a:t>
            </a:r>
            <a:r>
              <a:rPr lang="zh-CN" altLang="en-US" dirty="0">
                <a:ea typeface="黑体" panose="02010609060101010101" pitchFamily="49" charset="-122"/>
              </a:rPr>
              <a:t>地址  硬件地址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AE32B-351B-4F3E-89D9-07BC25766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AE32B-351B-4F3E-89D9-07BC25766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AE32B-351B-4F3E-89D9-07BC25766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数据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	</a:t>
            </a:r>
            <a:r>
              <a:rPr lang="en-US" altLang="zh-CN" dirty="0">
                <a:solidFill>
                  <a:srgbClr val="0000FF"/>
                </a:solidFill>
                <a:ea typeface="黑体" panose="02010609060101010101" pitchFamily="49" charset="-122"/>
              </a:rPr>
              <a:t>20 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字节</a:t>
            </a:r>
            <a:r>
              <a:rPr lang="en-US" altLang="zh-CN" dirty="0">
                <a:solidFill>
                  <a:srgbClr val="0000FF"/>
                </a:solidFill>
                <a:ea typeface="黑体" panose="02010609060101010101" pitchFamily="49" charset="-122"/>
              </a:rPr>
              <a:t>	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AE32B-351B-4F3E-89D9-07BC25766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AE32B-351B-4F3E-89D9-07BC25766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AE32B-351B-4F3E-89D9-07BC25766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AE32B-351B-4F3E-89D9-07BC25766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3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6.xml"/><Relationship Id="rId13" Type="http://schemas.openxmlformats.org/officeDocument/2006/relationships/image" Target="../media/image1.png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6.xml"/><Relationship Id="rId10" Type="http://schemas.openxmlformats.org/officeDocument/2006/relationships/image" Target="../media/image1.png"/><Relationship Id="rId1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49.xml"/><Relationship Id="rId13" Type="http://schemas.openxmlformats.org/officeDocument/2006/relationships/image" Target="../media/image1.png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62.xml"/><Relationship Id="rId13" Type="http://schemas.openxmlformats.org/officeDocument/2006/relationships/image" Target="../media/image1.png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72.xml"/><Relationship Id="rId10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7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9.xml"/><Relationship Id="rId17" Type="http://schemas.openxmlformats.org/officeDocument/2006/relationships/image" Target="../media/image1.png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9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06.xml"/><Relationship Id="rId17" Type="http://schemas.openxmlformats.org/officeDocument/2006/relationships/image" Target="../media/image1.png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19.xml"/><Relationship Id="rId13" Type="http://schemas.openxmlformats.org/officeDocument/2006/relationships/image" Target="../media/image1.png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、数据报经由路由器的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地址会出现在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数据报的首部中。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、每一段链路上，帧的源地址和目的地址都要发生变化。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06500" y="1142414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、不管网络层使用的是什么协议，在实际网络的链路上传送数据帧时，最终还是必须使用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硬件地址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 每一个主机都设有一个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ARP 高速缓存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，里面有所在的局域网上的各主机和路由器的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地址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到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硬件地址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的映射表。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ARP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是解决同不同局域网之间的主机或路由器的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地址和硬件地址的映射问题。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、从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地址到硬件地址的解析是自动进行的，主机的用户对这种地址解析过程是不知道的。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、一个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数据报由首部和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两部分组成。首部的前一部分是固定长度，共 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 字节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字节，是所有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数据报必须具有的。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的首部长度的最大值是 （    ）字节。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45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60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1024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数据报的最大长度为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(    )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字节。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255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16383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32767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65535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首部检验和采用的是（  ）算法。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CRC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位二进制反码求和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6.xml><?xml version="1.0" encoding="utf-8"?>
<p:tagLst xmlns:p="http://schemas.openxmlformats.org/presentationml/2006/main">
  <p:tag name="RAINPROBLEM" val="ProblemSubmit"/>
  <p:tag name="RAINPROBLEMTYPE" val="Polling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  <p:tag name="RAINPROBLEM" val="PollingAnswer"/>
</p:tagLst>
</file>

<file path=ppt/tags/tag12.xml><?xml version="1.0" encoding="utf-8"?>
<p:tagLst xmlns:p="http://schemas.openxmlformats.org/presentationml/2006/main">
  <p:tag name="RAINPROBLEM" val="ProblemSetting"/>
  <p:tag name="RAINPROBLEMTYPE" val="Polling"/>
</p:tagLst>
</file>

<file path=ppt/tags/tag1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4.xml><?xml version="1.0" encoding="utf-8"?>
<p:tagLst xmlns:p="http://schemas.openxmlformats.org/presentationml/2006/main">
  <p:tag name="RAINPROBLEM" val="ProblemBody"/>
</p:tagLst>
</file>

<file path=ppt/tags/tag15.xml><?xml version="1.0" encoding="utf-8"?>
<p:tagLst xmlns:p="http://schemas.openxmlformats.org/presentationml/2006/main">
  <p:tag name="RAINPROBLEM" val="ProblemItem"/>
</p:tagLst>
</file>

<file path=ppt/tags/tag16.xml><?xml version="1.0" encoding="utf-8"?>
<p:tagLst xmlns:p="http://schemas.openxmlformats.org/presentationml/2006/main">
  <p:tag name="RAINPROBLEM" val="ProblemItem"/>
</p:tagLst>
</file>

<file path=ppt/tags/tag17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9.xml><?xml version="1.0" encoding="utf-8"?>
<p:tagLst xmlns:p="http://schemas.openxmlformats.org/presentationml/2006/main">
  <p:tag name="RAINPROBLEM" val="ProblemSubmit"/>
  <p:tag name="RAINPROBLEMTYPE" val="Polling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  <p:tag name="RAINPROBLEM" val="PollingAnswer"/>
</p:tagLst>
</file>

<file path=ppt/tags/tag25.xml><?xml version="1.0" encoding="utf-8"?>
<p:tagLst xmlns:p="http://schemas.openxmlformats.org/presentationml/2006/main">
  <p:tag name="RAINPROBLEM" val="ProblemSetting"/>
  <p:tag name="RAINPROBLEMTYPE" val="Polling"/>
</p:tagLst>
</file>

<file path=ppt/tags/tag2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7.xml><?xml version="1.0" encoding="utf-8"?>
<p:tagLst xmlns:p="http://schemas.openxmlformats.org/presentationml/2006/main">
  <p:tag name="RAINPROBLEM" val="ProblemBody"/>
</p:tagLst>
</file>

<file path=ppt/tags/tag28.xml><?xml version="1.0" encoding="utf-8"?>
<p:tagLst xmlns:p="http://schemas.openxmlformats.org/presentationml/2006/main">
  <p:tag name="RAINPROBLEM" val="ProblemSubmit"/>
  <p:tag name="RAINPROBLEMTYPE" val="FillBlank"/>
</p:tagLst>
</file>

<file path=ppt/tags/tag29.xml><?xml version="1.0" encoding="utf-8"?>
<p:tagLst xmlns:p="http://schemas.openxmlformats.org/presentationml/2006/main">
  <p:tag name="PRODUCTVERSIONTIP3" val="PRODUCTVERSIONTIP3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" val="ProblemSetting"/>
  <p:tag name="RAINPROBLEMTYPE" val="FillBlank"/>
</p:tagLst>
</file>

<file path=ppt/tags/tag36.xml><?xml version="1.0" encoding="utf-8"?>
<p:tagLst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硬件地址&quot;],&quot;CaseSensitive&quot;:false,&quot;FuzzyMatch&quot;:false},{&quot;Num&quot;:2,&quot;Score&quot;:1.0,&quot;Answers&quot;:[&quot;ARP 高速缓存&quot;],&quot;CaseSensitive&quot;:false,&quot;FuzzyMatch&quot;:false},{&quot;Num&quot;:3,&quot;Score&quot;:1.0,&quot;Answers&quot;:[&quot;IP 地址&quot;],&quot;CaseSensitive&quot;:false,&quot;FuzzyMatch&quot;:false},{&quot;Num&quot;:4,&quot;Score&quot;:1.0,&quot;Answers&quot;:[&quot;硬件地址&quot;],&quot;CaseSensitive&quot;:false,&quot;FuzzyMatch&quot;:false}]"/>
</p:tagLst>
</file>

<file path=ppt/tags/tag37.xml><?xml version="1.0" encoding="utf-8"?>
<p:tagLst xmlns:p="http://schemas.openxmlformats.org/presentationml/2006/main">
  <p:tag name="RAINPROBLEM" val="ProblemBody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1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42.xml><?xml version="1.0" encoding="utf-8"?>
<p:tagLst xmlns:p="http://schemas.openxmlformats.org/presentationml/2006/main">
  <p:tag name="RAINPROBLEM" val="ProblemSubmit"/>
  <p:tag name="RAINPROBLEMTYPE" val="Polling"/>
</p:tagLst>
</file>

<file path=ppt/tags/tag43.xml><?xml version="1.0" encoding="utf-8"?>
<p:tagLst xmlns:p="http://schemas.openxmlformats.org/presentationml/2006/main">
  <p:tag name="RAINPROBLEMTYPE" val="ProblemTypeMarker"/>
</p:tagLst>
</file>

<file path=ppt/tags/tag44.xml><?xml version="1.0" encoding="utf-8"?>
<p:tagLst xmlns:p="http://schemas.openxmlformats.org/presentationml/2006/main">
  <p:tag name="RAINPROBLEMTYPE" val="ProblemTypeMarker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  <p:tag name="RAINPROBLEM" val="PollingAnswer"/>
</p:tagLst>
</file>

<file path=ppt/tags/tag48.xml><?xml version="1.0" encoding="utf-8"?>
<p:tagLst xmlns:p="http://schemas.openxmlformats.org/presentationml/2006/main">
  <p:tag name="RAINPROBLEM" val="ProblemSetting"/>
  <p:tag name="RAINPROBLEMTYPE" val="Polling"/>
</p:tagLst>
</file>

<file path=ppt/tags/tag49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0.xml><?xml version="1.0" encoding="utf-8"?>
<p:tagLst xmlns:p="http://schemas.openxmlformats.org/presentationml/2006/main">
  <p:tag name="RAINPROBLEM" val="ProblemBody"/>
</p:tagLst>
</file>

<file path=ppt/tags/tag51.xml><?xml version="1.0" encoding="utf-8"?>
<p:tagLst xmlns:p="http://schemas.openxmlformats.org/presentationml/2006/main">
  <p:tag name="RAINPROBLEM" val="ProblemItem"/>
</p:tagLst>
</file>

<file path=ppt/tags/tag52.xml><?xml version="1.0" encoding="utf-8"?>
<p:tagLst xmlns:p="http://schemas.openxmlformats.org/presentationml/2006/main">
  <p:tag name="RAINPROBLEM" val="ProblemItem"/>
</p:tagLst>
</file>

<file path=ppt/tags/tag53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5.xml><?xml version="1.0" encoding="utf-8"?>
<p:tagLst xmlns:p="http://schemas.openxmlformats.org/presentationml/2006/main">
  <p:tag name="RAINPROBLEM" val="ProblemSubmit"/>
  <p:tag name="RAINPROBLEMTYPE" val="Polling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  <p:tag name="RAINPROBLEM" val="PollingAnswer"/>
</p:tagLst>
</file>

<file path=ppt/tags/tag61.xml><?xml version="1.0" encoding="utf-8"?>
<p:tagLst xmlns:p="http://schemas.openxmlformats.org/presentationml/2006/main">
  <p:tag name="RAINPROBLEM" val="ProblemSetting"/>
  <p:tag name="RAINPROBLEMTYPE" val="Polling"/>
</p:tagLst>
</file>

<file path=ppt/tags/tag62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3.xml><?xml version="1.0" encoding="utf-8"?>
<p:tagLst xmlns:p="http://schemas.openxmlformats.org/presentationml/2006/main">
  <p:tag name="RAINPROBLEM" val="ProblemBody"/>
</p:tagLst>
</file>

<file path=ppt/tags/tag64.xml><?xml version="1.0" encoding="utf-8"?>
<p:tagLst xmlns:p="http://schemas.openxmlformats.org/presentationml/2006/main">
  <p:tag name="RAINPROBLEM" val="ProblemSubmit"/>
  <p:tag name="RAINPROBLEMTYPE" val="FillBlank"/>
</p:tagLst>
</file>

<file path=ppt/tags/tag65.xml><?xml version="1.0" encoding="utf-8"?>
<p:tagLst xmlns:p="http://schemas.openxmlformats.org/presentationml/2006/main">
  <p:tag name="PRODUCTVERSIONTIP3" val="PRODUCTVERSIONTIP3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TYPE" val="ProblemTypeMarker"/>
</p:tagLst>
</file>

<file path=ppt/tags/tag71.xml><?xml version="1.0" encoding="utf-8"?>
<p:tagLst xmlns:p="http://schemas.openxmlformats.org/presentationml/2006/main">
  <p:tag name="RAINPROBLEM" val="ProblemSetting"/>
  <p:tag name="RAINPROBLEMTYPE" val="FillBlank"/>
</p:tagLst>
</file>

<file path=ppt/tags/tag72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数据&quot;],&quot;CaseSensitive&quot;:false,&quot;FuzzyMatch&quot;:false},{&quot;Num&quot;:2,&quot;Score&quot;:1.0,&quot;Answers&quot;:[&quot;20&quot;],&quot;CaseSensitive&quot;:false,&quot;FuzzyMatch&quot;:false}]"/>
</p:tagLst>
</file>

<file path=ppt/tags/tag73.xml><?xml version="1.0" encoding="utf-8"?>
<p:tagLst xmlns:p="http://schemas.openxmlformats.org/presentationml/2006/main">
  <p:tag name="RAINPROBLEM" val="ProblemBody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Item"/>
</p:tagLst>
</file>

<file path=ppt/tags/tag76.xml><?xml version="1.0" encoding="utf-8"?>
<p:tagLst xmlns:p="http://schemas.openxmlformats.org/presentationml/2006/main">
  <p:tag name="RAINPROBLEM" val="ProblemItem"/>
</p:tagLst>
</file>

<file path=ppt/tags/tag77.xml><?xml version="1.0" encoding="utf-8"?>
<p:tagLst xmlns:p="http://schemas.openxmlformats.org/presentationml/2006/main">
  <p:tag name="RAINPROBLEM" val="ProblemItem"/>
</p:tagLst>
</file>

<file path=ppt/tags/tag7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0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2.xml><?xml version="1.0" encoding="utf-8"?>
<p:tagLst xmlns:p="http://schemas.openxmlformats.org/presentationml/2006/main">
  <p:tag name="RAINPROBLEM" val="ProblemSubmit"/>
  <p:tag name="RAINPROBLEMTYPE" val="Polling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TYPE" val="ProblemTypeMarker"/>
</p:tagLst>
</file>

<file path=ppt/tags/tag87.xml><?xml version="1.0" encoding="utf-8"?>
<p:tagLst xmlns:p="http://schemas.openxmlformats.org/presentationml/2006/main">
  <p:tag name="RAINPROBLEMTYPE" val="ProblemTypeMarker"/>
  <p:tag name="RAINPROBLEM" val="PollingAnswer"/>
</p:tagLst>
</file>

<file path=ppt/tags/tag88.xml><?xml version="1.0" encoding="utf-8"?>
<p:tagLst xmlns:p="http://schemas.openxmlformats.org/presentationml/2006/main">
  <p:tag name="RAINPROBLEM" val="ProblemSetting"/>
  <p:tag name="RAINPROBLEMTYPE" val="Polling"/>
</p:tagLst>
</file>

<file path=ppt/tags/tag89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0.xml><?xml version="1.0" encoding="utf-8"?>
<p:tagLst xmlns:p="http://schemas.openxmlformats.org/presentationml/2006/main">
  <p:tag name="RAINPROBLEM" val="ProblemBody"/>
</p:tagLst>
</file>

<file path=ppt/tags/tag91.xml><?xml version="1.0" encoding="utf-8"?>
<p:tagLst xmlns:p="http://schemas.openxmlformats.org/presentationml/2006/main">
  <p:tag name="RAINPROBLEM" val="ProblemItem"/>
</p:tagLst>
</file>

<file path=ppt/tags/tag92.xml><?xml version="1.0" encoding="utf-8"?>
<p:tagLst xmlns:p="http://schemas.openxmlformats.org/presentationml/2006/main">
  <p:tag name="RAINPROBLEM" val="ProblemItem"/>
</p:tagLst>
</file>

<file path=ppt/tags/tag93.xml><?xml version="1.0" encoding="utf-8"?>
<p:tagLst xmlns:p="http://schemas.openxmlformats.org/presentationml/2006/main">
  <p:tag name="RAINPROBLEM" val="ProblemItem"/>
</p:tagLst>
</file>

<file path=ppt/tags/tag94.xml><?xml version="1.0" encoding="utf-8"?>
<p:tagLst xmlns:p="http://schemas.openxmlformats.org/presentationml/2006/main">
  <p:tag name="RAINPROBLEM" val="ProblemItem"/>
</p:tagLst>
</file>

<file path=ppt/tags/tag9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99.xml><?xml version="1.0" encoding="utf-8"?>
<p:tagLst xmlns:p="http://schemas.openxmlformats.org/presentationml/2006/main">
  <p:tag name="RAINPROBLEM" val="ProblemSubmit"/>
  <p:tag name="RAINPROBLEMTYPE" val="Polling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TYPE" val="ProblemTypeMarker"/>
</p:tagLst>
</file>

<file path=ppt/tags/tag103.xml><?xml version="1.0" encoding="utf-8"?>
<p:tagLst xmlns:p="http://schemas.openxmlformats.org/presentationml/2006/main">
  <p:tag name="RAINPROBLEMTYPE" val="ProblemTypeMarker"/>
</p:tagLst>
</file>

<file path=ppt/tags/tag104.xml><?xml version="1.0" encoding="utf-8"?>
<p:tagLst xmlns:p="http://schemas.openxmlformats.org/presentationml/2006/main">
  <p:tag name="RAINPROBLEMTYPE" val="ProblemTypeMarker"/>
  <p:tag name="RAINPROBLEM" val="PollingAnswer"/>
</p:tagLst>
</file>

<file path=ppt/tags/tag105.xml><?xml version="1.0" encoding="utf-8"?>
<p:tagLst xmlns:p="http://schemas.openxmlformats.org/presentationml/2006/main">
  <p:tag name="RAINPROBLEM" val="ProblemSetting"/>
  <p:tag name="RAINPROBLEMTYPE" val="Polling"/>
</p:tagLst>
</file>

<file path=ppt/tags/tag10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7.xml><?xml version="1.0" encoding="utf-8"?>
<p:tagLst xmlns:p="http://schemas.openxmlformats.org/presentationml/2006/main">
  <p:tag name="RAINPROBLEM" val="ProblemBody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Item"/>
</p:tagLst>
</file>

<file path=ppt/tags/tag11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11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12.xml><?xml version="1.0" encoding="utf-8"?>
<p:tagLst xmlns:p="http://schemas.openxmlformats.org/presentationml/2006/main">
  <p:tag name="RAINPROBLEM" val="ProblemSubmit"/>
  <p:tag name="RAINPROBLEMTYPE" val="Polling"/>
</p:tagLst>
</file>

<file path=ppt/tags/tag113.xml><?xml version="1.0" encoding="utf-8"?>
<p:tagLst xmlns:p="http://schemas.openxmlformats.org/presentationml/2006/main">
  <p:tag name="RAINPROBLEMTYPE" val="ProblemTypeMarker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  <p:tag name="RAINPROBLEM" val="PollingAnswer"/>
</p:tagLst>
</file>

<file path=ppt/tags/tag118.xml><?xml version="1.0" encoding="utf-8"?>
<p:tagLst xmlns:p="http://schemas.openxmlformats.org/presentationml/2006/main">
  <p:tag name="RAINPROBLEM" val="ProblemSetting"/>
  <p:tag name="RAINPROBLEMTYPE" val="Polling"/>
</p:tagLst>
</file>

<file path=ppt/tags/tag119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20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</Words>
  <Application>WPS 演示</Application>
  <PresentationFormat>宽屏</PresentationFormat>
  <Paragraphs>148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黑体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50</cp:revision>
  <dcterms:created xsi:type="dcterms:W3CDTF">2020-02-20T13:08:00Z</dcterms:created>
  <dcterms:modified xsi:type="dcterms:W3CDTF">2022-05-25T13:31:29Z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B4AABA5F06434785A7B8FCF582970E7F</vt:lpwstr>
  </property>
  <property fmtid="{D5CDD505-2E9C-101B-9397-08002B2CF9AE}" pid="3" name="KSOProductBuildVer">
    <vt:lpwstr>2052-11.1.0.11744</vt:lpwstr>
  </property>
</Properties>
</file>
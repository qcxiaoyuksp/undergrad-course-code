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1809" r:id="rId2"/>
    <p:sldId id="1810" r:id="rId3"/>
    <p:sldId id="1886" r:id="rId4"/>
    <p:sldId id="1887" r:id="rId5"/>
    <p:sldId id="1888" r:id="rId6"/>
    <p:sldId id="1889" r:id="rId7"/>
    <p:sldId id="1890" r:id="rId8"/>
    <p:sldId id="1891" r:id="rId9"/>
    <p:sldId id="1892" r:id="rId10"/>
    <p:sldId id="1893" r:id="rId11"/>
    <p:sldId id="1894" r:id="rId12"/>
    <p:sldId id="1895" r:id="rId13"/>
    <p:sldId id="1896" r:id="rId14"/>
    <p:sldId id="1897" r:id="rId15"/>
    <p:sldId id="1898" r:id="rId16"/>
    <p:sldId id="1899" r:id="rId17"/>
    <p:sldId id="1900" r:id="rId18"/>
    <p:sldId id="1901" r:id="rId19"/>
    <p:sldId id="1902" r:id="rId20"/>
    <p:sldId id="1903" r:id="rId21"/>
    <p:sldId id="1904" r:id="rId22"/>
    <p:sldId id="1905" r:id="rId23"/>
    <p:sldId id="1906" r:id="rId24"/>
    <p:sldId id="1907" r:id="rId25"/>
    <p:sldId id="1908" r:id="rId26"/>
    <p:sldId id="1909" r:id="rId27"/>
    <p:sldId id="1910" r:id="rId28"/>
    <p:sldId id="1911" r:id="rId29"/>
    <p:sldId id="1912" r:id="rId30"/>
    <p:sldId id="1913" r:id="rId31"/>
    <p:sldId id="1914" r:id="rId32"/>
    <p:sldId id="1915" r:id="rId33"/>
    <p:sldId id="1916" r:id="rId34"/>
    <p:sldId id="1917" r:id="rId35"/>
    <p:sldId id="1918" r:id="rId36"/>
    <p:sldId id="1919" r:id="rId37"/>
    <p:sldId id="1920" r:id="rId38"/>
    <p:sldId id="1921" r:id="rId39"/>
    <p:sldId id="1922" r:id="rId40"/>
    <p:sldId id="1923" r:id="rId41"/>
    <p:sldId id="1924" r:id="rId42"/>
    <p:sldId id="1925" r:id="rId43"/>
    <p:sldId id="1926" r:id="rId44"/>
    <p:sldId id="1927" r:id="rId45"/>
    <p:sldId id="1928" r:id="rId46"/>
    <p:sldId id="1929" r:id="rId47"/>
    <p:sldId id="1930" r:id="rId48"/>
    <p:sldId id="1931" r:id="rId49"/>
    <p:sldId id="1932" r:id="rId50"/>
    <p:sldId id="1933" r:id="rId51"/>
    <p:sldId id="1934" r:id="rId52"/>
    <p:sldId id="1935" r:id="rId53"/>
    <p:sldId id="1936" r:id="rId54"/>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6"/>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58A105-5E07-446B-8990-00D69245B64F}"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418818" name="Rectangle 2"/>
          <p:cNvSpPr>
            <a:spLocks noGrp="1" noRot="1" noChangeAspect="1" noChangeArrowheads="1" noTextEdit="1"/>
          </p:cNvSpPr>
          <p:nvPr>
            <p:ph type="sldImg" idx="4294967295"/>
          </p:nvPr>
        </p:nvSpPr>
        <p:spPr>
          <a:ln/>
        </p:spPr>
      </p:sp>
      <p:sp>
        <p:nvSpPr>
          <p:cNvPr id="41881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E1F07B-A8D3-4741-8E4A-BB1FB920635A}"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567298" name="Rectangle 2"/>
          <p:cNvSpPr>
            <a:spLocks noGrp="1" noRot="1" noChangeAspect="1" noChangeArrowheads="1" noTextEdit="1"/>
          </p:cNvSpPr>
          <p:nvPr>
            <p:ph type="sldImg" idx="4294967295"/>
          </p:nvPr>
        </p:nvSpPr>
        <p:spPr>
          <a:ln/>
        </p:spPr>
      </p:sp>
      <p:sp>
        <p:nvSpPr>
          <p:cNvPr id="567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87E696-DEFC-40CB-9303-8A22EF20D8CD}"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569346" name="Rectangle 2"/>
          <p:cNvSpPr>
            <a:spLocks noGrp="1" noRot="1" noChangeAspect="1" noChangeArrowheads="1" noTextEdit="1"/>
          </p:cNvSpPr>
          <p:nvPr>
            <p:ph type="sldImg" idx="4294967295"/>
          </p:nvPr>
        </p:nvSpPr>
        <p:spPr>
          <a:ln/>
        </p:spPr>
      </p:sp>
      <p:sp>
        <p:nvSpPr>
          <p:cNvPr id="569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279AF0-A7A7-4DA8-B197-E38B0D314E5F}"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574466" name="Rectangle 2"/>
          <p:cNvSpPr>
            <a:spLocks noGrp="1" noRot="1" noChangeAspect="1" noChangeArrowheads="1" noTextEdit="1"/>
          </p:cNvSpPr>
          <p:nvPr>
            <p:ph type="sldImg" idx="4294967295"/>
          </p:nvPr>
        </p:nvSpPr>
        <p:spPr>
          <a:ln/>
        </p:spPr>
      </p:sp>
      <p:sp>
        <p:nvSpPr>
          <p:cNvPr id="5744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589866-8AFC-4F30-A130-FEA62926B988}"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577538" name="Rectangle 2"/>
          <p:cNvSpPr>
            <a:spLocks noGrp="1" noRot="1" noChangeAspect="1" noChangeArrowheads="1" noTextEdit="1"/>
          </p:cNvSpPr>
          <p:nvPr>
            <p:ph type="sldImg" idx="4294967295"/>
          </p:nvPr>
        </p:nvSpPr>
        <p:spPr>
          <a:ln/>
        </p:spPr>
      </p:sp>
      <p:sp>
        <p:nvSpPr>
          <p:cNvPr id="577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BE35BA-B726-4891-B3F1-001ADAB28B04}" type="slidenum">
              <a:rPr lang="en-US" altLang="zh-CN" smtClean="0">
                <a:latin typeface="宋体" panose="02010600030101010101" pitchFamily="2" charset="-122"/>
              </a:rPr>
              <a:pPr eaLnBrk="1" hangingPunct="1"/>
              <a:t>15</a:t>
            </a:fld>
            <a:endParaRPr lang="en-US" altLang="zh-CN" smtClean="0">
              <a:latin typeface="宋体" panose="02010600030101010101" pitchFamily="2" charset="-122"/>
            </a:endParaRPr>
          </a:p>
        </p:txBody>
      </p:sp>
      <p:sp>
        <p:nvSpPr>
          <p:cNvPr id="583682" name="Rectangle 2"/>
          <p:cNvSpPr>
            <a:spLocks noGrp="1" noRot="1" noChangeAspect="1" noChangeArrowheads="1" noTextEdit="1"/>
          </p:cNvSpPr>
          <p:nvPr>
            <p:ph type="sldImg" idx="4294967295"/>
          </p:nvPr>
        </p:nvSpPr>
        <p:spPr>
          <a:ln/>
        </p:spPr>
      </p:sp>
      <p:sp>
        <p:nvSpPr>
          <p:cNvPr id="583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11EDF6-301E-4427-893D-0822550B3B89}"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585730" name="Rectangle 2"/>
          <p:cNvSpPr>
            <a:spLocks noGrp="1" noRot="1" noChangeAspect="1" noChangeArrowheads="1" noTextEdit="1"/>
          </p:cNvSpPr>
          <p:nvPr>
            <p:ph type="sldImg" idx="4294967295"/>
          </p:nvPr>
        </p:nvSpPr>
        <p:spPr>
          <a:ln/>
        </p:spPr>
      </p:sp>
      <p:sp>
        <p:nvSpPr>
          <p:cNvPr id="585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C1C147-E41E-4CA6-AEDF-D3410C826C47}"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587778" name="Rectangle 2"/>
          <p:cNvSpPr>
            <a:spLocks noGrp="1" noRot="1" noChangeAspect="1" noChangeArrowheads="1" noTextEdit="1"/>
          </p:cNvSpPr>
          <p:nvPr>
            <p:ph type="sldImg" idx="4294967295"/>
          </p:nvPr>
        </p:nvSpPr>
        <p:spPr>
          <a:ln/>
        </p:spPr>
      </p:sp>
      <p:sp>
        <p:nvSpPr>
          <p:cNvPr id="587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AE9FB0-6C84-47EC-B813-CCE6297D4B6A}"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589826" name="Rectangle 2"/>
          <p:cNvSpPr>
            <a:spLocks noGrp="1" noRot="1" noChangeAspect="1" noChangeArrowheads="1" noTextEdit="1"/>
          </p:cNvSpPr>
          <p:nvPr>
            <p:ph type="sldImg" idx="4294967295"/>
          </p:nvPr>
        </p:nvSpPr>
        <p:spPr>
          <a:ln/>
        </p:spPr>
      </p:sp>
      <p:sp>
        <p:nvSpPr>
          <p:cNvPr id="589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5BDA86-4ABB-47CD-9EFB-80664904E6F0}"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591874" name="Rectangle 2"/>
          <p:cNvSpPr>
            <a:spLocks noGrp="1" noRot="1" noChangeAspect="1" noChangeArrowheads="1" noTextEdit="1"/>
          </p:cNvSpPr>
          <p:nvPr>
            <p:ph type="sldImg" idx="4294967295"/>
          </p:nvPr>
        </p:nvSpPr>
        <p:spPr>
          <a:ln/>
        </p:spPr>
      </p:sp>
      <p:sp>
        <p:nvSpPr>
          <p:cNvPr id="591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4897184-7EB9-4053-A56F-4B960EFCB42F}"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593922" name="Rectangle 2"/>
          <p:cNvSpPr>
            <a:spLocks noGrp="1" noRot="1" noChangeAspect="1" noChangeArrowheads="1" noTextEdit="1"/>
          </p:cNvSpPr>
          <p:nvPr>
            <p:ph type="sldImg" idx="4294967295"/>
          </p:nvPr>
        </p:nvSpPr>
        <p:spPr>
          <a:ln/>
        </p:spPr>
      </p:sp>
      <p:sp>
        <p:nvSpPr>
          <p:cNvPr id="593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042D33-093C-4184-B4FA-3D483718BE4D}"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595970" name="Rectangle 2"/>
          <p:cNvSpPr>
            <a:spLocks noGrp="1" noRot="1" noChangeAspect="1" noChangeArrowheads="1" noTextEdit="1"/>
          </p:cNvSpPr>
          <p:nvPr>
            <p:ph type="sldImg" idx="4294967295"/>
          </p:nvPr>
        </p:nvSpPr>
        <p:spPr>
          <a:ln/>
        </p:spPr>
      </p:sp>
      <p:sp>
        <p:nvSpPr>
          <p:cNvPr id="595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90147A-B899-4485-BAC2-9FDB555EFBBB}"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598018" name="Rectangle 2"/>
          <p:cNvSpPr>
            <a:spLocks noGrp="1" noRot="1" noChangeAspect="1" noChangeArrowheads="1" noTextEdit="1"/>
          </p:cNvSpPr>
          <p:nvPr>
            <p:ph type="sldImg" idx="4294967295"/>
          </p:nvPr>
        </p:nvSpPr>
        <p:spPr>
          <a:ln/>
        </p:spPr>
      </p:sp>
      <p:sp>
        <p:nvSpPr>
          <p:cNvPr id="598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E719FD0-E9B0-4976-AE50-D47E1AB7AA2D}"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600066" name="Rectangle 2"/>
          <p:cNvSpPr>
            <a:spLocks noGrp="1" noRot="1" noChangeAspect="1" noChangeArrowheads="1" noTextEdit="1"/>
          </p:cNvSpPr>
          <p:nvPr>
            <p:ph type="sldImg" idx="4294967295"/>
          </p:nvPr>
        </p:nvSpPr>
        <p:spPr>
          <a:ln/>
        </p:spPr>
      </p:sp>
      <p:sp>
        <p:nvSpPr>
          <p:cNvPr id="600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BCC747-D6A9-4E27-8F7C-1C3758A3C03F}"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602114" name="Rectangle 2"/>
          <p:cNvSpPr>
            <a:spLocks noGrp="1" noRot="1" noChangeAspect="1" noChangeArrowheads="1" noTextEdit="1"/>
          </p:cNvSpPr>
          <p:nvPr>
            <p:ph type="sldImg" idx="4294967295"/>
          </p:nvPr>
        </p:nvSpPr>
        <p:spPr>
          <a:ln/>
        </p:spPr>
      </p:sp>
      <p:sp>
        <p:nvSpPr>
          <p:cNvPr id="602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3440A5-FB14-405C-8118-8515BF761845}"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604162" name="Rectangle 2"/>
          <p:cNvSpPr>
            <a:spLocks noGrp="1" noRot="1" noChangeAspect="1" noChangeArrowheads="1" noTextEdit="1"/>
          </p:cNvSpPr>
          <p:nvPr>
            <p:ph type="sldImg" idx="4294967295"/>
          </p:nvPr>
        </p:nvSpPr>
        <p:spPr>
          <a:ln/>
        </p:spPr>
      </p:sp>
      <p:sp>
        <p:nvSpPr>
          <p:cNvPr id="604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13CCAC-E2B8-4191-AB7B-4681C142AB19}"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606210" name="Rectangle 2"/>
          <p:cNvSpPr>
            <a:spLocks noGrp="1" noRot="1" noChangeAspect="1" noChangeArrowheads="1" noTextEdit="1"/>
          </p:cNvSpPr>
          <p:nvPr>
            <p:ph type="sldImg" idx="4294967295"/>
          </p:nvPr>
        </p:nvSpPr>
        <p:spPr>
          <a:ln/>
        </p:spPr>
      </p:sp>
      <p:sp>
        <p:nvSpPr>
          <p:cNvPr id="6062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B5E762-2BEE-4020-BB8F-52E046935DD7}"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608258" name="Rectangle 2"/>
          <p:cNvSpPr>
            <a:spLocks noGrp="1" noRot="1" noChangeAspect="1" noChangeArrowheads="1" noTextEdit="1"/>
          </p:cNvSpPr>
          <p:nvPr>
            <p:ph type="sldImg" idx="4294967295"/>
          </p:nvPr>
        </p:nvSpPr>
        <p:spPr>
          <a:ln/>
        </p:spPr>
      </p:sp>
      <p:sp>
        <p:nvSpPr>
          <p:cNvPr id="6082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75F774-3321-4549-95AE-E3BF1D666832}"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612354" name="Rectangle 2"/>
          <p:cNvSpPr>
            <a:spLocks noGrp="1" noRot="1" noChangeAspect="1" noChangeArrowheads="1" noTextEdit="1"/>
          </p:cNvSpPr>
          <p:nvPr>
            <p:ph type="sldImg" idx="4294967295"/>
          </p:nvPr>
        </p:nvSpPr>
        <p:spPr>
          <a:ln/>
        </p:spPr>
      </p:sp>
      <p:sp>
        <p:nvSpPr>
          <p:cNvPr id="612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E8FB5C8-CCD5-448F-B7A8-A2DB3BD7FE41}" type="slidenum">
              <a:rPr lang="en-US" altLang="zh-CN" smtClean="0"/>
              <a:pPr/>
              <a:t>31</a:t>
            </a:fld>
            <a:endParaRPr lang="en-US" altLang="zh-CN" smtClean="0"/>
          </a:p>
        </p:txBody>
      </p:sp>
      <p:sp>
        <p:nvSpPr>
          <p:cNvPr id="614402" name="Rectangle 2"/>
          <p:cNvSpPr>
            <a:spLocks noGrp="1" noRot="1" noChangeAspect="1" noChangeArrowheads="1" noTextEdit="1"/>
          </p:cNvSpPr>
          <p:nvPr>
            <p:ph type="sldImg" idx="4294967295"/>
          </p:nvPr>
        </p:nvSpPr>
        <p:spPr>
          <a:ln/>
        </p:spPr>
      </p:sp>
      <p:sp>
        <p:nvSpPr>
          <p:cNvPr id="614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56B64D-1DAC-46AD-92CB-C24CB8C90AE8}"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616450" name="Rectangle 2"/>
          <p:cNvSpPr>
            <a:spLocks noGrp="1" noRot="1" noChangeAspect="1" noChangeArrowheads="1" noTextEdit="1"/>
          </p:cNvSpPr>
          <p:nvPr>
            <p:ph type="sldImg" idx="4294967295"/>
          </p:nvPr>
        </p:nvSpPr>
        <p:spPr>
          <a:ln/>
        </p:spPr>
      </p:sp>
      <p:sp>
        <p:nvSpPr>
          <p:cNvPr id="616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ED610D-701A-40C8-A2BC-0A8E6384ECDF}"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618498" name="Rectangle 2"/>
          <p:cNvSpPr>
            <a:spLocks noGrp="1" noRot="1" noChangeAspect="1" noChangeArrowheads="1" noTextEdit="1"/>
          </p:cNvSpPr>
          <p:nvPr>
            <p:ph type="sldImg" idx="4294967295"/>
          </p:nvPr>
        </p:nvSpPr>
        <p:spPr>
          <a:ln/>
        </p:spPr>
      </p:sp>
      <p:sp>
        <p:nvSpPr>
          <p:cNvPr id="618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25A8CE-1797-4292-B746-BF973319B88F}"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629762" name="Rectangle 2"/>
          <p:cNvSpPr>
            <a:spLocks noGrp="1" noRot="1" noChangeAspect="1" noChangeArrowheads="1" noTextEdit="1"/>
          </p:cNvSpPr>
          <p:nvPr>
            <p:ph type="sldImg" idx="4294967295"/>
          </p:nvPr>
        </p:nvSpPr>
        <p:spPr>
          <a:ln/>
        </p:spPr>
      </p:sp>
      <p:sp>
        <p:nvSpPr>
          <p:cNvPr id="6297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86C209-56C6-43DC-A4A7-103E1B7E066B}"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631810" name="Rectangle 2"/>
          <p:cNvSpPr>
            <a:spLocks noGrp="1" noRot="1" noChangeAspect="1" noChangeArrowheads="1" noTextEdit="1"/>
          </p:cNvSpPr>
          <p:nvPr>
            <p:ph type="sldImg" idx="4294967295"/>
          </p:nvPr>
        </p:nvSpPr>
        <p:spPr>
          <a:ln/>
        </p:spPr>
      </p:sp>
      <p:sp>
        <p:nvSpPr>
          <p:cNvPr id="6318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4F7D8A-6F05-4C84-B14F-8184C5FB17BD}"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633858" name="Rectangle 2"/>
          <p:cNvSpPr>
            <a:spLocks noGrp="1" noRot="1" noChangeAspect="1" noChangeArrowheads="1" noTextEdit="1"/>
          </p:cNvSpPr>
          <p:nvPr>
            <p:ph type="sldImg" idx="4294967295"/>
          </p:nvPr>
        </p:nvSpPr>
        <p:spPr>
          <a:ln/>
        </p:spPr>
      </p:sp>
      <p:sp>
        <p:nvSpPr>
          <p:cNvPr id="6338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917866D-F58A-4D6B-830A-B0CA1791E0C3}" type="slidenum">
              <a:rPr lang="en-US" altLang="zh-CN" smtClean="0"/>
              <a:pPr/>
              <a:t>48</a:t>
            </a:fld>
            <a:endParaRPr lang="en-US" altLang="zh-CN" smtClean="0"/>
          </a:p>
        </p:txBody>
      </p:sp>
      <p:sp>
        <p:nvSpPr>
          <p:cNvPr id="637954" name="Rectangle 2"/>
          <p:cNvSpPr>
            <a:spLocks noGrp="1" noRot="1" noChangeAspect="1" noChangeArrowheads="1" noTextEdit="1"/>
          </p:cNvSpPr>
          <p:nvPr>
            <p:ph type="sldImg" idx="4294967295"/>
          </p:nvPr>
        </p:nvSpPr>
        <p:spPr>
          <a:ln/>
        </p:spPr>
      </p:sp>
      <p:sp>
        <p:nvSpPr>
          <p:cNvPr id="6379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3C938FC-3080-46B0-A156-64C3BD2F6FBB}" type="slidenum">
              <a:rPr lang="en-US" altLang="zh-CN" smtClean="0"/>
              <a:pPr/>
              <a:t>49</a:t>
            </a:fld>
            <a:endParaRPr lang="en-US" altLang="zh-CN" smtClean="0"/>
          </a:p>
        </p:txBody>
      </p:sp>
      <p:sp>
        <p:nvSpPr>
          <p:cNvPr id="640002" name="Rectangle 2"/>
          <p:cNvSpPr>
            <a:spLocks noGrp="1" noRot="1" noChangeAspect="1" noChangeArrowheads="1" noTextEdit="1"/>
          </p:cNvSpPr>
          <p:nvPr>
            <p:ph type="sldImg" idx="4294967295"/>
          </p:nvPr>
        </p:nvSpPr>
        <p:spPr>
          <a:ln/>
        </p:spPr>
      </p:sp>
      <p:sp>
        <p:nvSpPr>
          <p:cNvPr id="6400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115C5D8-6CDE-401B-8E76-F26EB290DA5B}" type="slidenum">
              <a:rPr lang="en-US" altLang="zh-CN" smtClean="0"/>
              <a:pPr/>
              <a:t>50</a:t>
            </a:fld>
            <a:endParaRPr lang="en-US" altLang="zh-CN" smtClean="0"/>
          </a:p>
        </p:txBody>
      </p:sp>
      <p:sp>
        <p:nvSpPr>
          <p:cNvPr id="642050" name="Rectangle 2"/>
          <p:cNvSpPr>
            <a:spLocks noGrp="1" noRot="1" noChangeAspect="1" noChangeArrowheads="1" noTextEdit="1"/>
          </p:cNvSpPr>
          <p:nvPr>
            <p:ph type="sldImg" idx="4294967295"/>
          </p:nvPr>
        </p:nvSpPr>
        <p:spPr>
          <a:ln/>
        </p:spPr>
      </p:sp>
      <p:sp>
        <p:nvSpPr>
          <p:cNvPr id="6420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7BDBDE9-6BA6-4097-8156-DD9DDD15544C}" type="slidenum">
              <a:rPr lang="en-US" altLang="zh-CN" smtClean="0"/>
              <a:pPr/>
              <a:t>51</a:t>
            </a:fld>
            <a:endParaRPr lang="en-US" altLang="zh-CN" smtClean="0"/>
          </a:p>
        </p:txBody>
      </p:sp>
      <p:sp>
        <p:nvSpPr>
          <p:cNvPr id="644098" name="Rectangle 2"/>
          <p:cNvSpPr>
            <a:spLocks noGrp="1" noRot="1" noChangeAspect="1" noChangeArrowheads="1" noTextEdit="1"/>
          </p:cNvSpPr>
          <p:nvPr>
            <p:ph type="sldImg" idx="4294967295"/>
          </p:nvPr>
        </p:nvSpPr>
        <p:spPr>
          <a:ln/>
        </p:spPr>
      </p:sp>
      <p:sp>
        <p:nvSpPr>
          <p:cNvPr id="6440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7C80D1-201F-4AB3-B09A-FEEA0288FADE}" type="slidenum">
              <a:rPr lang="en-US" altLang="zh-CN" smtClean="0">
                <a:latin typeface="宋体" panose="02010600030101010101" pitchFamily="2" charset="-122"/>
              </a:rPr>
              <a:pPr eaLnBrk="1" hangingPunct="1"/>
              <a:t>53</a:t>
            </a:fld>
            <a:endParaRPr lang="en-US" altLang="zh-CN" smtClean="0">
              <a:latin typeface="宋体" panose="02010600030101010101" pitchFamily="2" charset="-122"/>
            </a:endParaRPr>
          </a:p>
        </p:txBody>
      </p:sp>
      <p:sp>
        <p:nvSpPr>
          <p:cNvPr id="647170" name="Rectangle 2"/>
          <p:cNvSpPr>
            <a:spLocks noGrp="1" noRot="1" noChangeAspect="1" noChangeArrowheads="1" noTextEdit="1"/>
          </p:cNvSpPr>
          <p:nvPr>
            <p:ph type="sldImg" idx="4294967295"/>
          </p:nvPr>
        </p:nvSpPr>
        <p:spPr>
          <a:ln/>
        </p:spPr>
      </p:sp>
      <p:sp>
        <p:nvSpPr>
          <p:cNvPr id="6471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3"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3 </a:t>
            </a:r>
            <a:r>
              <a:rPr lang="zh-CN" altLang="en-US" dirty="0" smtClean="0">
                <a:latin typeface="Arial" panose="020B0604020202020204" pitchFamily="34" charset="0"/>
                <a:ea typeface="黑体" panose="02010609060101010101" pitchFamily="49" charset="-122"/>
              </a:rPr>
              <a:t>章  </a:t>
            </a:r>
            <a:r>
              <a:rPr lang="zh-CN" altLang="zh-CN" dirty="0" smtClean="0">
                <a:latin typeface="黑体" panose="02010609060101010101" pitchFamily="49" charset="-122"/>
                <a:ea typeface="黑体" panose="02010609060101010101" pitchFamily="49" charset="-122"/>
              </a:rPr>
              <a:t>数据链路层</a:t>
            </a:r>
            <a:endParaRPr lang="zh-CN" altLang="en-US" dirty="0" smtClean="0">
              <a:latin typeface="Arial" panose="020B0604020202020204" pitchFamily="34" charset="0"/>
              <a:ea typeface="黑体" panose="02010609060101010101" pitchFamily="49" charset="-122"/>
            </a:endParaRPr>
          </a:p>
        </p:txBody>
      </p:sp>
      <p:sp>
        <p:nvSpPr>
          <p:cNvPr id="417794" name="Rectangle 3"/>
          <p:cNvSpPr>
            <a:spLocks noGrp="1" noChangeArrowheads="1"/>
          </p:cNvSpPr>
          <p:nvPr>
            <p:ph type="subTitle" idx="1"/>
          </p:nvPr>
        </p:nvSpPr>
        <p:spPr/>
        <p:txBody>
          <a:bodyPr/>
          <a:lstStyle/>
          <a:p>
            <a:r>
              <a:rPr lang="en-US" altLang="zh-CN" smtClean="0">
                <a:latin typeface="黑体" panose="02010609060101010101" pitchFamily="49" charset="-122"/>
                <a:ea typeface="宋体" panose="02010600030101010101" pitchFamily="2" charset="-122"/>
              </a:rPr>
              <a:t>3.3-3.4</a:t>
            </a:r>
            <a:endParaRPr lang="zh-CN" altLang="en-US" dirty="0" smtClean="0">
              <a:latin typeface="黑体" panose="02010609060101010101" pitchFamily="49" charset="-122"/>
              <a:ea typeface="宋体" panose="02010600030101010101" pitchFamily="2" charset="-122"/>
            </a:endParaRPr>
          </a:p>
        </p:txBody>
      </p:sp>
      <p:sp>
        <p:nvSpPr>
          <p:cNvPr id="417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24FFEA-0416-4593-B51A-3B084525AE1E}" type="slidenum">
              <a:rPr lang="zh-CN" altLang="en-US" smtClean="0"/>
              <a:pPr eaLnBrk="1" hangingPunct="1"/>
              <a:t>1</a:t>
            </a:fld>
            <a:endParaRPr lang="en-US" altLang="zh-CN" smtClean="0"/>
          </a:p>
        </p:txBody>
      </p:sp>
      <p:sp>
        <p:nvSpPr>
          <p:cNvPr id="417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3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zh-CN" smtClean="0">
                <a:ea typeface="黑体" panose="02010609060101010101" pitchFamily="49" charset="-122"/>
              </a:rPr>
              <a:t>数据链路层</a:t>
            </a:r>
            <a:endParaRPr lang="zh-CN" altLang="en-US" smtClean="0">
              <a:ea typeface="黑体" panose="02010609060101010101" pitchFamily="49" charset="-122"/>
            </a:endParaRPr>
          </a:p>
        </p:txBody>
      </p:sp>
      <p:sp>
        <p:nvSpPr>
          <p:cNvPr id="41984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3.3  </a:t>
            </a:r>
            <a:r>
              <a:rPr lang="zh-CN" altLang="zh-CN" dirty="0" smtClean="0">
                <a:ea typeface="黑体" panose="02010609060101010101" pitchFamily="49" charset="-122"/>
              </a:rPr>
              <a:t>使用广播信道的数据链路层</a:t>
            </a:r>
          </a:p>
          <a:p>
            <a:r>
              <a:rPr lang="en-US" altLang="zh-CN" dirty="0" smtClean="0">
                <a:ea typeface="黑体" panose="02010609060101010101" pitchFamily="49" charset="-122"/>
              </a:rPr>
              <a:t>3.4  </a:t>
            </a:r>
            <a:r>
              <a:rPr lang="zh-CN" altLang="zh-CN" dirty="0" smtClean="0">
                <a:ea typeface="黑体" panose="02010609060101010101" pitchFamily="49" charset="-122"/>
              </a:rPr>
              <a:t>扩展的以太网</a:t>
            </a:r>
          </a:p>
        </p:txBody>
      </p:sp>
      <p:sp>
        <p:nvSpPr>
          <p:cNvPr id="4198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C2D96E-D724-421B-ABD3-F3FE8704E888}" type="slidenum">
              <a:rPr lang="zh-CN" altLang="en-US" smtClean="0"/>
              <a:pPr eaLnBrk="1" hangingPunct="1"/>
              <a:t>2</a:t>
            </a:fld>
            <a:endParaRPr lang="en-US" altLang="zh-CN" smtClean="0"/>
          </a:p>
        </p:txBody>
      </p:sp>
      <p:sp>
        <p:nvSpPr>
          <p:cNvPr id="4198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3.3.4  </a:t>
            </a:r>
            <a:r>
              <a:rPr lang="zh-CN" altLang="en-US" smtClean="0">
                <a:ea typeface="黑体" panose="02010609060101010101" pitchFamily="49" charset="-122"/>
              </a:rPr>
              <a:t>以太网的信道利用率 </a:t>
            </a:r>
          </a:p>
        </p:txBody>
      </p:sp>
      <p:sp>
        <p:nvSpPr>
          <p:cNvPr id="431107"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多个站在以太网上同时工作就可能会发生</a:t>
            </a:r>
            <a:r>
              <a:rPr lang="zh-CN" altLang="zh-CN" dirty="0" smtClean="0">
                <a:solidFill>
                  <a:srgbClr val="FF0000"/>
                </a:solidFill>
                <a:ea typeface="黑体" panose="02010609060101010101" pitchFamily="49" charset="-122"/>
              </a:rPr>
              <a:t>碰撞</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当发生碰撞时，信道资源实际上是被浪费了。因此，当扣除碰撞所造成的信道损失后，</a:t>
            </a:r>
            <a:r>
              <a:rPr lang="zh-CN" altLang="zh-CN" dirty="0" smtClean="0">
                <a:solidFill>
                  <a:srgbClr val="FF0000"/>
                </a:solidFill>
                <a:ea typeface="黑体" panose="02010609060101010101" pitchFamily="49" charset="-122"/>
              </a:rPr>
              <a:t>以太网总的信道利用率并不能达到</a:t>
            </a:r>
            <a:r>
              <a:rPr lang="en-US" altLang="zh-CN" dirty="0" smtClean="0">
                <a:solidFill>
                  <a:srgbClr val="FF0000"/>
                </a:solidFill>
                <a:ea typeface="黑体" panose="02010609060101010101" pitchFamily="49" charset="-122"/>
              </a:rPr>
              <a:t> 100%</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r>
              <a:rPr lang="zh-CN" altLang="en-US" dirty="0" smtClean="0">
                <a:ea typeface="黑体" panose="02010609060101010101" pitchFamily="49" charset="-122"/>
                <a:sym typeface="Symbol" panose="05050102010706020507" pitchFamily="18" charset="2"/>
              </a:rPr>
              <a:t>假设</a:t>
            </a:r>
            <a:r>
              <a:rPr lang="zh-CN" altLang="en-US" i="1" dirty="0" smtClean="0">
                <a:ea typeface="黑体" panose="02010609060101010101" pitchFamily="49" charset="-122"/>
                <a:sym typeface="Symbol" panose="05050102010706020507" pitchFamily="18" charset="2"/>
              </a:rPr>
              <a:t> </a:t>
            </a:r>
            <a:r>
              <a:rPr lang="en-US" altLang="zh-CN" i="1" dirty="0" smtClean="0">
                <a:ea typeface="黑体" panose="02010609060101010101" pitchFamily="49" charset="-122"/>
                <a:sym typeface="Symbol" panose="05050102010706020507" pitchFamily="18" charset="2"/>
              </a:rPr>
              <a:t> </a:t>
            </a:r>
            <a:r>
              <a:rPr lang="zh-CN" altLang="zh-CN" dirty="0" smtClean="0">
                <a:ea typeface="黑体" panose="02010609060101010101" pitchFamily="49" charset="-122"/>
              </a:rPr>
              <a:t>是以太网单程端到端传播时延</a:t>
            </a:r>
            <a:r>
              <a:rPr lang="zh-CN" altLang="en-US" dirty="0" smtClean="0">
                <a:ea typeface="黑体" panose="02010609060101010101" pitchFamily="49" charset="-122"/>
              </a:rPr>
              <a:t>。则争用期长度为 </a:t>
            </a:r>
            <a:r>
              <a:rPr lang="en-US" altLang="zh-CN" dirty="0" smtClean="0">
                <a:solidFill>
                  <a:srgbClr val="0000CC"/>
                </a:solidFill>
                <a:ea typeface="黑体" panose="02010609060101010101" pitchFamily="49" charset="-122"/>
              </a:rPr>
              <a:t>2</a:t>
            </a:r>
            <a:r>
              <a:rPr lang="en-US" altLang="zh-CN" i="1" dirty="0" smtClean="0">
                <a:solidFill>
                  <a:srgbClr val="0000CC"/>
                </a:solidFill>
                <a:ea typeface="黑体" panose="02010609060101010101" pitchFamily="49" charset="-122"/>
                <a:sym typeface="Symbol" panose="05050102010706020507" pitchFamily="18" charset="2"/>
              </a:rPr>
              <a:t></a:t>
            </a:r>
            <a:r>
              <a:rPr lang="zh-CN" altLang="en-US" dirty="0" smtClean="0">
                <a:ea typeface="黑体" panose="02010609060101010101" pitchFamily="49" charset="-122"/>
              </a:rPr>
              <a:t>，即端到端传播时延的两倍。检测到碰撞后不发送干扰信号。</a:t>
            </a:r>
          </a:p>
          <a:p>
            <a:r>
              <a:rPr lang="zh-CN" altLang="en-US" dirty="0" smtClean="0">
                <a:ea typeface="黑体" panose="02010609060101010101" pitchFamily="49" charset="-122"/>
              </a:rPr>
              <a:t>设帧长为 </a:t>
            </a:r>
            <a:r>
              <a:rPr lang="en-US" altLang="zh-CN" i="1" dirty="0" smtClean="0">
                <a:solidFill>
                  <a:srgbClr val="0000CC"/>
                </a:solidFill>
                <a:latin typeface="Times New Roman" panose="02020603050405020304" pitchFamily="18" charset="0"/>
                <a:ea typeface="黑体" panose="02010609060101010101" pitchFamily="49" charset="-122"/>
              </a:rPr>
              <a:t>L</a:t>
            </a:r>
            <a:r>
              <a:rPr lang="en-US" altLang="zh-CN" dirty="0" smtClean="0">
                <a:solidFill>
                  <a:srgbClr val="0000CC"/>
                </a:solidFill>
                <a:ea typeface="黑体" panose="02010609060101010101" pitchFamily="49" charset="-122"/>
              </a:rPr>
              <a:t> </a:t>
            </a:r>
            <a:r>
              <a:rPr lang="en-US" altLang="zh-CN" dirty="0" smtClean="0">
                <a:latin typeface="Times New Roman" panose="02020603050405020304" pitchFamily="18" charset="0"/>
                <a:ea typeface="黑体" panose="02010609060101010101" pitchFamily="49" charset="-122"/>
              </a:rPr>
              <a:t>(bit)</a:t>
            </a:r>
            <a:r>
              <a:rPr lang="zh-CN" altLang="en-US" dirty="0" smtClean="0">
                <a:latin typeface="Times New Roman" panose="02020603050405020304" pitchFamily="18" charset="0"/>
                <a:ea typeface="黑体" panose="02010609060101010101" pitchFamily="49" charset="-122"/>
              </a:rPr>
              <a:t>，</a:t>
            </a:r>
            <a:r>
              <a:rPr lang="zh-CN" altLang="en-US" dirty="0" smtClean="0">
                <a:ea typeface="黑体" panose="02010609060101010101" pitchFamily="49" charset="-122"/>
              </a:rPr>
              <a:t>数据发送速率为 </a:t>
            </a:r>
            <a:r>
              <a:rPr lang="en-US" altLang="zh-CN" i="1" dirty="0" smtClean="0">
                <a:solidFill>
                  <a:srgbClr val="0000CC"/>
                </a:solidFill>
                <a:latin typeface="Times New Roman" panose="02020603050405020304" pitchFamily="18" charset="0"/>
                <a:ea typeface="黑体" panose="02010609060101010101" pitchFamily="49" charset="-122"/>
              </a:rPr>
              <a:t>C </a:t>
            </a:r>
            <a:r>
              <a:rPr lang="en-US" altLang="zh-CN" dirty="0" smtClean="0">
                <a:latin typeface="Times New Roman" panose="02020603050405020304" pitchFamily="18" charset="0"/>
                <a:ea typeface="黑体" panose="02010609060101010101" pitchFamily="49" charset="-122"/>
              </a:rPr>
              <a:t>(bit/s)</a:t>
            </a:r>
            <a:r>
              <a:rPr lang="zh-CN" altLang="en-US" dirty="0" smtClean="0">
                <a:latin typeface="Times New Roman" panose="02020603050405020304" pitchFamily="18" charset="0"/>
                <a:ea typeface="黑体" panose="02010609060101010101" pitchFamily="49" charset="-122"/>
              </a:rPr>
              <a:t>，则</a:t>
            </a:r>
            <a:r>
              <a:rPr lang="zh-CN" altLang="en-US" dirty="0" smtClean="0">
                <a:ea typeface="黑体" panose="02010609060101010101" pitchFamily="49" charset="-122"/>
              </a:rPr>
              <a:t>帧的发送时间为 </a:t>
            </a:r>
            <a:r>
              <a:rPr lang="en-US" altLang="zh-CN" dirty="0" smtClean="0">
                <a:latin typeface="Times New Roman" panose="02020603050405020304" pitchFamily="18" charset="0"/>
                <a:ea typeface="黑体" panose="02010609060101010101" pitchFamily="49" charset="-122"/>
              </a:rPr>
              <a:t> </a:t>
            </a:r>
            <a:r>
              <a:rPr lang="en-US" altLang="zh-CN" i="1" dirty="0" smtClean="0">
                <a:solidFill>
                  <a:srgbClr val="0000CC"/>
                </a:solidFill>
                <a:latin typeface="Times New Roman" panose="02020603050405020304" pitchFamily="18" charset="0"/>
                <a:ea typeface="黑体" panose="02010609060101010101" pitchFamily="49" charset="-122"/>
              </a:rPr>
              <a:t>T</a:t>
            </a:r>
            <a:r>
              <a:rPr lang="en-US" altLang="zh-CN" baseline="-25000" dirty="0" smtClean="0">
                <a:solidFill>
                  <a:srgbClr val="0000CC"/>
                </a:solidFill>
                <a:latin typeface="Times New Roman" panose="02020603050405020304" pitchFamily="18" charset="0"/>
                <a:ea typeface="黑体" panose="02010609060101010101" pitchFamily="49" charset="-122"/>
              </a:rPr>
              <a:t>0</a:t>
            </a:r>
            <a:r>
              <a:rPr lang="en-US" altLang="zh-CN" dirty="0" smtClean="0">
                <a:latin typeface="Times New Roman" panose="02020603050405020304" pitchFamily="18" charset="0"/>
                <a:ea typeface="黑体" panose="02010609060101010101" pitchFamily="49" charset="-122"/>
              </a:rPr>
              <a:t> = </a:t>
            </a:r>
            <a:r>
              <a:rPr lang="en-US" altLang="zh-CN" i="1" dirty="0" smtClean="0">
                <a:latin typeface="Times New Roman" panose="02020603050405020304" pitchFamily="18" charset="0"/>
                <a:ea typeface="黑体" panose="02010609060101010101" pitchFamily="49" charset="-122"/>
              </a:rPr>
              <a:t>L</a:t>
            </a:r>
            <a:r>
              <a:rPr lang="en-US" altLang="zh-CN" dirty="0" smtClean="0">
                <a:latin typeface="Times New Roman" panose="02020603050405020304" pitchFamily="18" charset="0"/>
                <a:ea typeface="黑体" panose="02010609060101010101" pitchFamily="49" charset="-122"/>
              </a:rPr>
              <a:t>/</a:t>
            </a:r>
            <a:r>
              <a:rPr lang="en-US" altLang="zh-CN" i="1" dirty="0" smtClean="0">
                <a:latin typeface="Times New Roman" panose="02020603050405020304" pitchFamily="18" charset="0"/>
                <a:ea typeface="黑体" panose="02010609060101010101" pitchFamily="49" charset="-122"/>
              </a:rPr>
              <a:t>C</a:t>
            </a:r>
            <a:r>
              <a:rPr lang="en-US" altLang="zh-CN" dirty="0" smtClean="0">
                <a:latin typeface="Times New Roman" panose="02020603050405020304" pitchFamily="18" charset="0"/>
                <a:ea typeface="黑体" panose="02010609060101010101" pitchFamily="49" charset="-122"/>
              </a:rPr>
              <a:t> (s)</a:t>
            </a:r>
            <a:r>
              <a:rPr lang="zh-CN" altLang="en-US" dirty="0" smtClean="0">
                <a:latin typeface="Times New Roman" panose="02020603050405020304" pitchFamily="18" charset="0"/>
                <a:ea typeface="黑体" panose="02010609060101010101" pitchFamily="49" charset="-122"/>
              </a:rPr>
              <a:t>。</a:t>
            </a:r>
            <a:r>
              <a:rPr lang="zh-CN" altLang="en-US" dirty="0" smtClean="0">
                <a:ea typeface="黑体" panose="02010609060101010101" pitchFamily="49" charset="-122"/>
              </a:rPr>
              <a:t> </a:t>
            </a:r>
          </a:p>
        </p:txBody>
      </p:sp>
      <p:sp>
        <p:nvSpPr>
          <p:cNvPr id="566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31D771-9897-499B-A60D-B26C73BEBB80}" type="slidenum">
              <a:rPr lang="zh-CN" altLang="en-US" smtClean="0"/>
              <a:pPr eaLnBrk="1" hangingPunct="1"/>
              <a:t>3</a:t>
            </a:fld>
            <a:endParaRPr lang="en-US" altLang="zh-CN" smtClean="0"/>
          </a:p>
        </p:txBody>
      </p:sp>
      <p:sp>
        <p:nvSpPr>
          <p:cNvPr id="566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11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110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11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以太网信道被占用的情况</a:t>
            </a:r>
          </a:p>
        </p:txBody>
      </p:sp>
      <p:sp>
        <p:nvSpPr>
          <p:cNvPr id="568322"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一个站在发送帧时出现了碰撞。经过一个争用期</a:t>
            </a:r>
            <a:r>
              <a:rPr lang="en-US" altLang="zh-CN" sz="2800" dirty="0" smtClean="0">
                <a:ea typeface="黑体" panose="02010609060101010101" pitchFamily="49" charset="-122"/>
              </a:rPr>
              <a:t> 2</a:t>
            </a:r>
            <a:r>
              <a:rPr lang="en-US" altLang="zh-CN" sz="2800" i="1" dirty="0" smtClean="0">
                <a:ea typeface="黑体" panose="02010609060101010101" pitchFamily="49" charset="-122"/>
                <a:sym typeface="Symbol" panose="05050102010706020507" pitchFamily="18" charset="2"/>
              </a:rPr>
              <a:t> </a:t>
            </a:r>
            <a:r>
              <a:rPr lang="zh-CN" altLang="zh-CN" sz="2800" dirty="0" smtClean="0">
                <a:ea typeface="黑体" panose="02010609060101010101" pitchFamily="49" charset="-122"/>
              </a:rPr>
              <a:t>后</a:t>
            </a:r>
            <a:r>
              <a:rPr lang="zh-CN" altLang="en-US" sz="2800" dirty="0" smtClean="0">
                <a:ea typeface="黑体" panose="02010609060101010101" pitchFamily="49" charset="-122"/>
              </a:rPr>
              <a:t>，</a:t>
            </a:r>
            <a:r>
              <a:rPr lang="zh-CN" altLang="zh-CN" sz="2800" dirty="0" smtClean="0">
                <a:ea typeface="黑体" panose="02010609060101010101" pitchFamily="49" charset="-122"/>
              </a:rPr>
              <a:t>可能又出现了碰撞。这样经过</a:t>
            </a:r>
            <a:r>
              <a:rPr lang="zh-CN" altLang="zh-CN" sz="2800" dirty="0" smtClean="0">
                <a:solidFill>
                  <a:srgbClr val="0000CC"/>
                </a:solidFill>
                <a:ea typeface="黑体" panose="02010609060101010101" pitchFamily="49" charset="-122"/>
              </a:rPr>
              <a:t>若干个争用期后</a:t>
            </a:r>
            <a:r>
              <a:rPr lang="zh-CN" altLang="zh-CN" sz="2800" dirty="0" smtClean="0">
                <a:ea typeface="黑体" panose="02010609060101010101" pitchFamily="49" charset="-122"/>
              </a:rPr>
              <a:t>，一个站</a:t>
            </a:r>
            <a:r>
              <a:rPr lang="zh-CN" altLang="zh-CN" sz="2800" dirty="0" smtClean="0">
                <a:solidFill>
                  <a:srgbClr val="0000CC"/>
                </a:solidFill>
                <a:ea typeface="黑体" panose="02010609060101010101" pitchFamily="49" charset="-122"/>
              </a:rPr>
              <a:t>发送成功</a:t>
            </a:r>
            <a:r>
              <a:rPr lang="zh-CN" altLang="zh-CN" sz="2800" dirty="0" smtClean="0">
                <a:ea typeface="黑体" panose="02010609060101010101" pitchFamily="49" charset="-122"/>
              </a:rPr>
              <a:t>了。假定发送帧需要的时间是</a:t>
            </a:r>
            <a:r>
              <a:rPr lang="en-US" altLang="zh-CN" sz="2800" dirty="0" smtClean="0">
                <a:ea typeface="黑体" panose="02010609060101010101" pitchFamily="49" charset="-122"/>
              </a:rPr>
              <a:t> </a:t>
            </a:r>
            <a:r>
              <a:rPr lang="en-US" altLang="zh-CN" sz="2800" i="1" dirty="0" smtClean="0">
                <a:ea typeface="黑体" panose="02010609060101010101" pitchFamily="49" charset="-122"/>
              </a:rPr>
              <a:t>T</a:t>
            </a:r>
            <a:r>
              <a:rPr lang="en-US" altLang="zh-CN" sz="2800" baseline="-25000" dirty="0" smtClean="0">
                <a:ea typeface="黑体" panose="02010609060101010101" pitchFamily="49" charset="-122"/>
              </a:rPr>
              <a:t>0</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p:txBody>
      </p:sp>
      <p:grpSp>
        <p:nvGrpSpPr>
          <p:cNvPr id="568323" name="组合 2"/>
          <p:cNvGrpSpPr>
            <a:grpSpLocks/>
          </p:cNvGrpSpPr>
          <p:nvPr/>
        </p:nvGrpSpPr>
        <p:grpSpPr bwMode="auto">
          <a:xfrm>
            <a:off x="434975" y="2981325"/>
            <a:ext cx="9271000" cy="2247900"/>
            <a:chOff x="330201" y="3284984"/>
            <a:chExt cx="9269878" cy="2247901"/>
          </a:xfrm>
        </p:grpSpPr>
        <p:grpSp>
          <p:nvGrpSpPr>
            <p:cNvPr id="568324" name="组合 1"/>
            <p:cNvGrpSpPr>
              <a:grpSpLocks/>
            </p:cNvGrpSpPr>
            <p:nvPr/>
          </p:nvGrpSpPr>
          <p:grpSpPr bwMode="auto">
            <a:xfrm>
              <a:off x="818621" y="3284984"/>
              <a:ext cx="8781458" cy="2247901"/>
              <a:chOff x="818621" y="3284984"/>
              <a:chExt cx="8781458" cy="2247901"/>
            </a:xfrm>
          </p:grpSpPr>
          <p:sp>
            <p:nvSpPr>
              <p:cNvPr id="568325" name="Line 4"/>
              <p:cNvSpPr>
                <a:spLocks noChangeShapeType="1"/>
              </p:cNvSpPr>
              <p:nvPr/>
            </p:nvSpPr>
            <p:spPr bwMode="auto">
              <a:xfrm>
                <a:off x="878815" y="5293172"/>
                <a:ext cx="8230923"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6" name="Rectangle 5"/>
              <p:cNvSpPr>
                <a:spLocks noChangeArrowheads="1"/>
              </p:cNvSpPr>
              <p:nvPr/>
            </p:nvSpPr>
            <p:spPr bwMode="auto">
              <a:xfrm>
                <a:off x="4995996" y="5134422"/>
                <a:ext cx="455744" cy="398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7" name="Line 6"/>
              <p:cNvSpPr>
                <a:spLocks noChangeShapeType="1"/>
              </p:cNvSpPr>
              <p:nvPr/>
            </p:nvSpPr>
            <p:spPr bwMode="auto">
              <a:xfrm>
                <a:off x="878814" y="3531047"/>
                <a:ext cx="4388908"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8" name="Line 7"/>
              <p:cNvSpPr>
                <a:spLocks noChangeShapeType="1"/>
              </p:cNvSpPr>
              <p:nvPr/>
            </p:nvSpPr>
            <p:spPr bwMode="auto">
              <a:xfrm>
                <a:off x="5267723" y="3531047"/>
                <a:ext cx="3842015"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29" name="Line 8"/>
              <p:cNvSpPr>
                <a:spLocks noChangeShapeType="1"/>
              </p:cNvSpPr>
              <p:nvPr/>
            </p:nvSpPr>
            <p:spPr bwMode="auto">
              <a:xfrm>
                <a:off x="8561124" y="4812159"/>
                <a:ext cx="548614" cy="0"/>
              </a:xfrm>
              <a:prstGeom prst="line">
                <a:avLst/>
              </a:prstGeom>
              <a:noFill/>
              <a:ln w="19050">
                <a:solidFill>
                  <a:srgbClr val="FF0000"/>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0" name="Rectangle 9"/>
              <p:cNvSpPr>
                <a:spLocks noChangeArrowheads="1"/>
              </p:cNvSpPr>
              <p:nvPr/>
            </p:nvSpPr>
            <p:spPr bwMode="auto">
              <a:xfrm>
                <a:off x="8757179" y="4712147"/>
                <a:ext cx="180579" cy="209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1" name="Line 10"/>
              <p:cNvSpPr>
                <a:spLocks noChangeShapeType="1"/>
              </p:cNvSpPr>
              <p:nvPr/>
            </p:nvSpPr>
            <p:spPr bwMode="auto">
              <a:xfrm>
                <a:off x="5267722" y="4812159"/>
                <a:ext cx="3293401"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2" name="Line 11"/>
              <p:cNvSpPr>
                <a:spLocks noChangeShapeType="1"/>
              </p:cNvSpPr>
              <p:nvPr/>
            </p:nvSpPr>
            <p:spPr bwMode="auto">
              <a:xfrm>
                <a:off x="4170496" y="4812159"/>
                <a:ext cx="1097227"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3" name="Rectangle 12"/>
              <p:cNvSpPr>
                <a:spLocks noChangeArrowheads="1"/>
              </p:cNvSpPr>
              <p:nvPr/>
            </p:nvSpPr>
            <p:spPr bwMode="auto">
              <a:xfrm>
                <a:off x="4490377" y="4702622"/>
                <a:ext cx="333640" cy="260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4" name="Line 13"/>
              <p:cNvSpPr>
                <a:spLocks noChangeShapeType="1"/>
              </p:cNvSpPr>
              <p:nvPr/>
            </p:nvSpPr>
            <p:spPr bwMode="auto">
              <a:xfrm>
                <a:off x="1976041" y="4812159"/>
                <a:ext cx="1098946"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5" name="Rectangle 14"/>
              <p:cNvSpPr>
                <a:spLocks noChangeArrowheads="1"/>
              </p:cNvSpPr>
              <p:nvPr/>
            </p:nvSpPr>
            <p:spPr bwMode="auto">
              <a:xfrm>
                <a:off x="2295923" y="4628009"/>
                <a:ext cx="331919" cy="2301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6" name="Line 15"/>
              <p:cNvSpPr>
                <a:spLocks noChangeShapeType="1"/>
              </p:cNvSpPr>
              <p:nvPr/>
            </p:nvSpPr>
            <p:spPr bwMode="auto">
              <a:xfrm>
                <a:off x="878815" y="4812159"/>
                <a:ext cx="1097227" cy="0"/>
              </a:xfrm>
              <a:prstGeom prst="line">
                <a:avLst/>
              </a:prstGeom>
              <a:noFill/>
              <a:ln w="19050">
                <a:solidFill>
                  <a:srgbClr val="0000FF"/>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7" name="Freeform 16"/>
              <p:cNvSpPr>
                <a:spLocks noChangeArrowheads="1"/>
              </p:cNvSpPr>
              <p:nvPr/>
            </p:nvSpPr>
            <p:spPr bwMode="auto">
              <a:xfrm>
                <a:off x="5267722" y="3851723"/>
                <a:ext cx="3293401" cy="720725"/>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FFCCFF"/>
              </a:solidFill>
              <a:ln w="28575">
                <a:solidFill>
                  <a:schemeClr val="tx2"/>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38" name="Text Box 17"/>
              <p:cNvSpPr txBox="1">
                <a:spLocks noChangeArrowheads="1"/>
              </p:cNvSpPr>
              <p:nvPr/>
            </p:nvSpPr>
            <p:spPr bwMode="auto">
              <a:xfrm>
                <a:off x="6000354" y="3978722"/>
                <a:ext cx="20168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  送  成  功 </a:t>
                </a:r>
              </a:p>
            </p:txBody>
          </p:sp>
          <p:sp>
            <p:nvSpPr>
              <p:cNvPr id="568339" name="Text Box 18"/>
              <p:cNvSpPr txBox="1">
                <a:spLocks noChangeArrowheads="1"/>
              </p:cNvSpPr>
              <p:nvPr/>
            </p:nvSpPr>
            <p:spPr bwMode="auto">
              <a:xfrm>
                <a:off x="818621" y="3954909"/>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争用期 </a:t>
                </a:r>
              </a:p>
            </p:txBody>
          </p:sp>
          <p:sp>
            <p:nvSpPr>
              <p:cNvPr id="568340" name="Text Box 19"/>
              <p:cNvSpPr txBox="1">
                <a:spLocks noChangeArrowheads="1"/>
              </p:cNvSpPr>
              <p:nvPr/>
            </p:nvSpPr>
            <p:spPr bwMode="auto">
              <a:xfrm>
                <a:off x="1910689" y="3940622"/>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争用期 </a:t>
                </a:r>
              </a:p>
            </p:txBody>
          </p:sp>
          <p:sp>
            <p:nvSpPr>
              <p:cNvPr id="568341" name="Text Box 20"/>
              <p:cNvSpPr txBox="1">
                <a:spLocks noChangeArrowheads="1"/>
              </p:cNvSpPr>
              <p:nvPr/>
            </p:nvSpPr>
            <p:spPr bwMode="auto">
              <a:xfrm>
                <a:off x="4148137" y="3954909"/>
                <a:ext cx="1197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争用期 </a:t>
                </a:r>
              </a:p>
            </p:txBody>
          </p:sp>
          <p:sp>
            <p:nvSpPr>
              <p:cNvPr id="568342" name="Line 21"/>
              <p:cNvSpPr>
                <a:spLocks noChangeShapeType="1"/>
              </p:cNvSpPr>
              <p:nvPr/>
            </p:nvSpPr>
            <p:spPr bwMode="auto">
              <a:xfrm>
                <a:off x="4170495"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3" name="Line 22"/>
              <p:cNvSpPr>
                <a:spLocks noChangeShapeType="1"/>
              </p:cNvSpPr>
              <p:nvPr/>
            </p:nvSpPr>
            <p:spPr bwMode="auto">
              <a:xfrm>
                <a:off x="3074988"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4" name="Line 23"/>
              <p:cNvSpPr>
                <a:spLocks noChangeShapeType="1"/>
              </p:cNvSpPr>
              <p:nvPr/>
            </p:nvSpPr>
            <p:spPr bwMode="auto">
              <a:xfrm>
                <a:off x="1976041"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5" name="Line 24"/>
              <p:cNvSpPr>
                <a:spLocks noChangeShapeType="1"/>
              </p:cNvSpPr>
              <p:nvPr/>
            </p:nvSpPr>
            <p:spPr bwMode="auto">
              <a:xfrm>
                <a:off x="878814" y="3851723"/>
                <a:ext cx="0" cy="720725"/>
              </a:xfrm>
              <a:prstGeom prst="line">
                <a:avLst/>
              </a:prstGeom>
              <a:noFill/>
              <a:ln w="28575">
                <a:solidFill>
                  <a:srgbClr val="000099"/>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6" name="Line 25"/>
              <p:cNvSpPr>
                <a:spLocks noChangeShapeType="1"/>
              </p:cNvSpPr>
              <p:nvPr/>
            </p:nvSpPr>
            <p:spPr bwMode="auto">
              <a:xfrm>
                <a:off x="878814" y="4572448"/>
                <a:ext cx="0" cy="960437"/>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7" name="Line 26"/>
              <p:cNvSpPr>
                <a:spLocks noChangeShapeType="1"/>
              </p:cNvSpPr>
              <p:nvPr/>
            </p:nvSpPr>
            <p:spPr bwMode="auto">
              <a:xfrm>
                <a:off x="3074988" y="4572448"/>
                <a:ext cx="0" cy="40163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8" name="Line 27"/>
              <p:cNvSpPr>
                <a:spLocks noChangeShapeType="1"/>
              </p:cNvSpPr>
              <p:nvPr/>
            </p:nvSpPr>
            <p:spPr bwMode="auto">
              <a:xfrm>
                <a:off x="4170495" y="4572448"/>
                <a:ext cx="0" cy="40163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49" name="Line 28"/>
              <p:cNvSpPr>
                <a:spLocks noChangeShapeType="1"/>
              </p:cNvSpPr>
              <p:nvPr/>
            </p:nvSpPr>
            <p:spPr bwMode="auto">
              <a:xfrm>
                <a:off x="5267722" y="4572448"/>
                <a:ext cx="0" cy="401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0" name="Line 29"/>
              <p:cNvSpPr>
                <a:spLocks noChangeShapeType="1"/>
              </p:cNvSpPr>
              <p:nvPr/>
            </p:nvSpPr>
            <p:spPr bwMode="auto">
              <a:xfrm>
                <a:off x="8561123" y="4572448"/>
                <a:ext cx="0" cy="4016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1" name="Line 30"/>
              <p:cNvSpPr>
                <a:spLocks noChangeShapeType="1"/>
              </p:cNvSpPr>
              <p:nvPr/>
            </p:nvSpPr>
            <p:spPr bwMode="auto">
              <a:xfrm>
                <a:off x="9109737" y="4572447"/>
                <a:ext cx="0" cy="881062"/>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2" name="Line 31"/>
              <p:cNvSpPr>
                <a:spLocks noChangeShapeType="1"/>
              </p:cNvSpPr>
              <p:nvPr/>
            </p:nvSpPr>
            <p:spPr bwMode="auto">
              <a:xfrm>
                <a:off x="1976041" y="4572448"/>
                <a:ext cx="0" cy="401637"/>
              </a:xfrm>
              <a:prstGeom prst="line">
                <a:avLst/>
              </a:prstGeom>
              <a:noFill/>
              <a:ln w="952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3" name="Rectangle 32"/>
              <p:cNvSpPr>
                <a:spLocks noChangeArrowheads="1"/>
              </p:cNvSpPr>
              <p:nvPr/>
            </p:nvSpPr>
            <p:spPr bwMode="auto">
              <a:xfrm>
                <a:off x="1210734" y="4580384"/>
                <a:ext cx="342239" cy="330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4" name="Text Box 34"/>
              <p:cNvSpPr txBox="1">
                <a:spLocks noChangeArrowheads="1"/>
              </p:cNvSpPr>
              <p:nvPr/>
            </p:nvSpPr>
            <p:spPr bwMode="auto">
              <a:xfrm>
                <a:off x="1173292" y="4581128"/>
                <a:ext cx="488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rgbClr val="000099"/>
                    </a:solidFill>
                    <a:ea typeface="黑体" panose="02010609060101010101" pitchFamily="49" charset="-122"/>
                  </a:rPr>
                  <a:t>2</a:t>
                </a:r>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sp>
            <p:nvSpPr>
              <p:cNvPr id="568355" name="Rectangle 39"/>
              <p:cNvSpPr>
                <a:spLocks noChangeArrowheads="1"/>
              </p:cNvSpPr>
              <p:nvPr/>
            </p:nvSpPr>
            <p:spPr bwMode="auto">
              <a:xfrm>
                <a:off x="6801777" y="4651822"/>
                <a:ext cx="273446" cy="322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56" name="Text Box 40"/>
              <p:cNvSpPr txBox="1">
                <a:spLocks noChangeArrowheads="1"/>
              </p:cNvSpPr>
              <p:nvPr/>
            </p:nvSpPr>
            <p:spPr bwMode="auto">
              <a:xfrm>
                <a:off x="6724385" y="4607373"/>
                <a:ext cx="4106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r>
                  <a:rPr lang="en-US" altLang="zh-CN" b="1" baseline="-25000">
                    <a:solidFill>
                      <a:srgbClr val="000099"/>
                    </a:solidFill>
                    <a:ea typeface="黑体" panose="02010609060101010101" pitchFamily="49" charset="-122"/>
                  </a:rPr>
                  <a:t>0</a:t>
                </a:r>
                <a:endParaRPr lang="en-US" altLang="zh-CN" b="1">
                  <a:solidFill>
                    <a:srgbClr val="000099"/>
                  </a:solidFill>
                  <a:ea typeface="黑体" panose="02010609060101010101" pitchFamily="49" charset="-122"/>
                </a:endParaRPr>
              </a:p>
            </p:txBody>
          </p:sp>
          <p:sp>
            <p:nvSpPr>
              <p:cNvPr id="568357" name="Text Box 41"/>
              <p:cNvSpPr txBox="1">
                <a:spLocks noChangeArrowheads="1"/>
              </p:cNvSpPr>
              <p:nvPr/>
            </p:nvSpPr>
            <p:spPr bwMode="auto">
              <a:xfrm>
                <a:off x="8625408" y="4581128"/>
                <a:ext cx="296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sp>
            <p:nvSpPr>
              <p:cNvPr id="568358" name="Text Box 42"/>
              <p:cNvSpPr txBox="1">
                <a:spLocks noChangeArrowheads="1"/>
              </p:cNvSpPr>
              <p:nvPr/>
            </p:nvSpPr>
            <p:spPr bwMode="auto">
              <a:xfrm>
                <a:off x="9338469" y="4199385"/>
                <a:ext cx="261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i="1">
                    <a:solidFill>
                      <a:srgbClr val="000099"/>
                    </a:solidFill>
                    <a:ea typeface="黑体" panose="02010609060101010101" pitchFamily="49" charset="-122"/>
                  </a:rPr>
                  <a:t>t</a:t>
                </a:r>
              </a:p>
            </p:txBody>
          </p:sp>
          <p:sp>
            <p:nvSpPr>
              <p:cNvPr id="568359" name="Line 43"/>
              <p:cNvSpPr>
                <a:spLocks noChangeShapeType="1"/>
              </p:cNvSpPr>
              <p:nvPr/>
            </p:nvSpPr>
            <p:spPr bwMode="auto">
              <a:xfrm>
                <a:off x="5267722" y="3370709"/>
                <a:ext cx="0" cy="40005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60" name="Line 44"/>
              <p:cNvSpPr>
                <a:spLocks noChangeShapeType="1"/>
              </p:cNvSpPr>
              <p:nvPr/>
            </p:nvSpPr>
            <p:spPr bwMode="auto">
              <a:xfrm>
                <a:off x="9109737" y="3370709"/>
                <a:ext cx="0" cy="1201738"/>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61" name="Text Box 45"/>
              <p:cNvSpPr txBox="1">
                <a:spLocks noChangeArrowheads="1"/>
              </p:cNvSpPr>
              <p:nvPr/>
            </p:nvSpPr>
            <p:spPr bwMode="auto">
              <a:xfrm>
                <a:off x="6548967" y="3284984"/>
                <a:ext cx="1197764"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占用期 </a:t>
                </a:r>
              </a:p>
            </p:txBody>
          </p:sp>
          <p:sp>
            <p:nvSpPr>
              <p:cNvPr id="568362" name="Text Box 46"/>
              <p:cNvSpPr txBox="1">
                <a:spLocks noChangeArrowheads="1"/>
              </p:cNvSpPr>
              <p:nvPr/>
            </p:nvSpPr>
            <p:spPr bwMode="auto">
              <a:xfrm>
                <a:off x="2335477" y="3284984"/>
                <a:ext cx="1507144"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发生碰撞 </a:t>
                </a:r>
              </a:p>
            </p:txBody>
          </p:sp>
          <p:sp>
            <p:nvSpPr>
              <p:cNvPr id="568363" name="Line 47"/>
              <p:cNvSpPr>
                <a:spLocks noChangeShapeType="1"/>
              </p:cNvSpPr>
              <p:nvPr/>
            </p:nvSpPr>
            <p:spPr bwMode="auto">
              <a:xfrm>
                <a:off x="878814" y="3370709"/>
                <a:ext cx="0" cy="38100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68364" name="Text Box 48"/>
              <p:cNvSpPr txBox="1">
                <a:spLocks noChangeArrowheads="1"/>
              </p:cNvSpPr>
              <p:nvPr/>
            </p:nvSpPr>
            <p:spPr bwMode="auto">
              <a:xfrm>
                <a:off x="3236648" y="5028059"/>
                <a:ext cx="3570208"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zh-CN" sz="2400" b="1">
                    <a:solidFill>
                      <a:srgbClr val="000099"/>
                    </a:solidFill>
                    <a:ea typeface="黑体" panose="02010609060101010101" pitchFamily="49" charset="-122"/>
                  </a:rPr>
                  <a:t>发送一帧所需的平均时间</a:t>
                </a:r>
                <a:endParaRPr lang="zh-CN" altLang="en-US" sz="2400" b="1">
                  <a:solidFill>
                    <a:srgbClr val="000099"/>
                  </a:solidFill>
                  <a:ea typeface="黑体" panose="02010609060101010101" pitchFamily="49" charset="-122"/>
                </a:endParaRPr>
              </a:p>
            </p:txBody>
          </p:sp>
          <p:sp>
            <p:nvSpPr>
              <p:cNvPr id="568365" name="Text Box 49"/>
              <p:cNvSpPr txBox="1">
                <a:spLocks noChangeArrowheads="1"/>
              </p:cNvSpPr>
              <p:nvPr/>
            </p:nvSpPr>
            <p:spPr bwMode="auto">
              <a:xfrm>
                <a:off x="3430985" y="3959673"/>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t>
                </a:r>
              </a:p>
            </p:txBody>
          </p:sp>
          <p:sp>
            <p:nvSpPr>
              <p:cNvPr id="568366" name="Text Box 34"/>
              <p:cNvSpPr txBox="1">
                <a:spLocks noChangeArrowheads="1"/>
              </p:cNvSpPr>
              <p:nvPr/>
            </p:nvSpPr>
            <p:spPr bwMode="auto">
              <a:xfrm>
                <a:off x="2281303" y="4581128"/>
                <a:ext cx="488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rgbClr val="000099"/>
                    </a:solidFill>
                    <a:ea typeface="黑体" panose="02010609060101010101" pitchFamily="49" charset="-122"/>
                  </a:rPr>
                  <a:t>2</a:t>
                </a:r>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sp>
            <p:nvSpPr>
              <p:cNvPr id="568367" name="Text Box 34"/>
              <p:cNvSpPr txBox="1">
                <a:spLocks noChangeArrowheads="1"/>
              </p:cNvSpPr>
              <p:nvPr/>
            </p:nvSpPr>
            <p:spPr bwMode="auto">
              <a:xfrm>
                <a:off x="4474898" y="4581128"/>
                <a:ext cx="48842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000" b="1">
                    <a:solidFill>
                      <a:srgbClr val="000099"/>
                    </a:solidFill>
                    <a:ea typeface="黑体" panose="02010609060101010101" pitchFamily="49" charset="-122"/>
                  </a:rPr>
                  <a:t>2</a:t>
                </a:r>
                <a:r>
                  <a:rPr lang="en-US" altLang="zh-CN" sz="2000" b="1" i="1">
                    <a:solidFill>
                      <a:srgbClr val="000099"/>
                    </a:solidFill>
                    <a:ea typeface="黑体" panose="02010609060101010101" pitchFamily="49" charset="-122"/>
                    <a:sym typeface="Symbol" panose="05050102010706020507" pitchFamily="18" charset="2"/>
                  </a:rPr>
                  <a:t></a:t>
                </a:r>
                <a:endParaRPr lang="en-US" altLang="zh-CN" sz="2000" b="1" i="1">
                  <a:solidFill>
                    <a:srgbClr val="000099"/>
                  </a:solidFill>
                  <a:ea typeface="黑体" panose="02010609060101010101" pitchFamily="49" charset="-122"/>
                </a:endParaRPr>
              </a:p>
            </p:txBody>
          </p:sp>
        </p:grpSp>
        <p:sp>
          <p:nvSpPr>
            <p:cNvPr id="568368" name="Line 50"/>
            <p:cNvSpPr>
              <a:spLocks noChangeShapeType="1"/>
            </p:cNvSpPr>
            <p:nvPr/>
          </p:nvSpPr>
          <p:spPr bwMode="auto">
            <a:xfrm>
              <a:off x="330201" y="4572447"/>
              <a:ext cx="9145852" cy="0"/>
            </a:xfrm>
            <a:prstGeom prst="line">
              <a:avLst/>
            </a:prstGeom>
            <a:noFill/>
            <a:ln w="28575">
              <a:solidFill>
                <a:srgbClr val="0000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56836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FF8979-4C52-4601-8B47-8CC04C60900A}" type="slidenum">
              <a:rPr lang="zh-CN" altLang="en-US" smtClean="0"/>
              <a:pPr eaLnBrk="1" hangingPunct="1"/>
              <a:t>4</a:t>
            </a:fld>
            <a:endParaRPr lang="en-US" altLang="zh-CN" smtClean="0"/>
          </a:p>
        </p:txBody>
      </p:sp>
      <p:sp>
        <p:nvSpPr>
          <p:cNvPr id="56837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6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以太网信道被占用的情况</a:t>
            </a:r>
          </a:p>
        </p:txBody>
      </p:sp>
      <p:sp>
        <p:nvSpPr>
          <p:cNvPr id="570370"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注意到，</a:t>
            </a:r>
            <a:r>
              <a:rPr lang="zh-CN" altLang="zh-CN" dirty="0" smtClean="0">
                <a:solidFill>
                  <a:srgbClr val="FF0000"/>
                </a:solidFill>
                <a:ea typeface="黑体" panose="02010609060101010101" pitchFamily="49" charset="-122"/>
              </a:rPr>
              <a:t>成功发送一个帧需要占用信道的时间是</a:t>
            </a:r>
            <a:r>
              <a:rPr lang="en-US" altLang="zh-CN" dirty="0" smtClean="0">
                <a:solidFill>
                  <a:srgbClr val="FF0000"/>
                </a:solidFill>
                <a:ea typeface="黑体" panose="02010609060101010101" pitchFamily="49" charset="-122"/>
              </a:rPr>
              <a:t> </a:t>
            </a:r>
            <a:r>
              <a:rPr lang="en-US" altLang="zh-CN" i="1" dirty="0" smtClean="0">
                <a:solidFill>
                  <a:srgbClr val="FF0000"/>
                </a:solidFill>
                <a:ea typeface="黑体" panose="02010609060101010101" pitchFamily="49" charset="-122"/>
              </a:rPr>
              <a:t>T</a:t>
            </a:r>
            <a:r>
              <a:rPr lang="en-US" altLang="zh-CN" baseline="-25000" dirty="0" smtClean="0">
                <a:solidFill>
                  <a:srgbClr val="FF0000"/>
                </a:solidFill>
                <a:ea typeface="黑体" panose="02010609060101010101" pitchFamily="49" charset="-122"/>
              </a:rPr>
              <a:t>0</a:t>
            </a:r>
            <a:r>
              <a:rPr lang="en-US" altLang="zh-CN" dirty="0" smtClean="0">
                <a:solidFill>
                  <a:srgbClr val="FF0000"/>
                </a:solidFill>
                <a:ea typeface="黑体" panose="02010609060101010101" pitchFamily="49" charset="-122"/>
              </a:rPr>
              <a:t> + </a:t>
            </a:r>
            <a:r>
              <a:rPr lang="en-US" altLang="zh-CN" i="1" dirty="0" smtClean="0">
                <a:solidFill>
                  <a:srgbClr val="FF0000"/>
                </a:solidFill>
                <a:ea typeface="黑体" panose="02010609060101010101" pitchFamily="49" charset="-122"/>
                <a:sym typeface="Symbol" panose="05050102010706020507" pitchFamily="18" charset="2"/>
              </a:rPr>
              <a:t></a:t>
            </a:r>
            <a:r>
              <a:rPr lang="zh-CN" altLang="zh-CN" dirty="0" smtClean="0">
                <a:solidFill>
                  <a:srgbClr val="FF0000"/>
                </a:solidFill>
                <a:ea typeface="黑体" panose="02010609060101010101" pitchFamily="49" charset="-122"/>
              </a:rPr>
              <a:t>，</a:t>
            </a:r>
            <a:r>
              <a:rPr lang="zh-CN" altLang="zh-CN" dirty="0" smtClean="0">
                <a:ea typeface="黑体" panose="02010609060101010101" pitchFamily="49" charset="-122"/>
              </a:rPr>
              <a:t>比这个帧的发送时间要多一个单程端到端时延</a:t>
            </a:r>
            <a:r>
              <a:rPr lang="en-US" altLang="zh-CN" i="1" dirty="0" smtClean="0">
                <a:ea typeface="黑体" panose="02010609060101010101" pitchFamily="49" charset="-122"/>
                <a:sym typeface="Symbol" panose="05050102010706020507" pitchFamily="18" charset="2"/>
              </a:rPr>
              <a:t></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这是因为当一个站发送完最后一个比特时，这个比特还要在以太网上传播。</a:t>
            </a:r>
            <a:endParaRPr lang="en-US" altLang="zh-CN" dirty="0" smtClean="0">
              <a:ea typeface="黑体" panose="02010609060101010101" pitchFamily="49" charset="-122"/>
            </a:endParaRPr>
          </a:p>
          <a:p>
            <a:r>
              <a:rPr lang="zh-CN" altLang="zh-CN" dirty="0" smtClean="0">
                <a:ea typeface="黑体" panose="02010609060101010101" pitchFamily="49" charset="-122"/>
              </a:rPr>
              <a:t>在最极端的情况下，发送站在传输媒体的一端，而比特在媒体上传输到另一端所需的时间是</a:t>
            </a:r>
            <a:r>
              <a:rPr lang="en-US" altLang="zh-CN" dirty="0" smtClean="0">
                <a:ea typeface="黑体" panose="02010609060101010101" pitchFamily="49" charset="-122"/>
              </a:rPr>
              <a:t> </a:t>
            </a:r>
            <a:r>
              <a:rPr lang="en-US" altLang="zh-CN" i="1" dirty="0" smtClean="0">
                <a:ea typeface="黑体" panose="02010609060101010101" pitchFamily="49" charset="-122"/>
                <a:sym typeface="Symbol" panose="05050102010706020507" pitchFamily="18" charset="2"/>
              </a:rPr>
              <a:t></a:t>
            </a:r>
            <a:r>
              <a:rPr lang="en-US" altLang="zh-CN"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sym typeface="Symbol" panose="05050102010706020507" pitchFamily="18" charset="2"/>
              </a:rPr>
              <a:t>。</a:t>
            </a:r>
            <a:endParaRPr lang="zh-CN" altLang="en-US" dirty="0" smtClean="0">
              <a:ea typeface="黑体" panose="02010609060101010101" pitchFamily="49" charset="-122"/>
            </a:endParaRPr>
          </a:p>
        </p:txBody>
      </p:sp>
      <p:sp>
        <p:nvSpPr>
          <p:cNvPr id="5703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624939C-5ED4-4E5B-8AF9-FEE079523E2C}" type="slidenum">
              <a:rPr lang="zh-CN" altLang="en-US" smtClean="0"/>
              <a:pPr eaLnBrk="1" hangingPunct="1"/>
              <a:t>5</a:t>
            </a:fld>
            <a:endParaRPr lang="en-US" altLang="zh-CN" smtClean="0"/>
          </a:p>
        </p:txBody>
      </p:sp>
      <p:sp>
        <p:nvSpPr>
          <p:cNvPr id="5703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参数 </a:t>
            </a:r>
            <a:r>
              <a:rPr lang="el-GR" altLang="zh-CN" i="1" smtClean="0">
                <a:ea typeface="宋体" panose="02010600030101010101" pitchFamily="2" charset="-122"/>
              </a:rPr>
              <a:t>α</a:t>
            </a:r>
            <a:r>
              <a:rPr lang="en-US" altLang="zh-CN" i="1" smtClean="0">
                <a:ea typeface="宋体" panose="02010600030101010101" pitchFamily="2" charset="-122"/>
              </a:rPr>
              <a:t> </a:t>
            </a:r>
            <a:r>
              <a:rPr lang="zh-CN" altLang="en-US" smtClean="0">
                <a:ea typeface="黑体" panose="02010609060101010101" pitchFamily="49" charset="-122"/>
              </a:rPr>
              <a:t>与利用率</a:t>
            </a:r>
            <a:endParaRPr lang="en-US" altLang="zh-CN" smtClean="0">
              <a:ea typeface="黑体" panose="02010609060101010101" pitchFamily="49" charset="-122"/>
            </a:endParaRPr>
          </a:p>
        </p:txBody>
      </p:sp>
      <p:sp>
        <p:nvSpPr>
          <p:cNvPr id="571394" name="Rectangle 3"/>
          <p:cNvSpPr>
            <a:spLocks noGrp="1" noChangeArrowheads="1"/>
          </p:cNvSpPr>
          <p:nvPr>
            <p:ph idx="1"/>
          </p:nvPr>
        </p:nvSpPr>
        <p:spPr>
          <a:xfrm>
            <a:off x="495300" y="1196975"/>
            <a:ext cx="9066213" cy="4933950"/>
          </a:xfrm>
        </p:spPr>
        <p:txBody>
          <a:bodyPr/>
          <a:lstStyle/>
          <a:p>
            <a:r>
              <a:rPr lang="zh-CN" altLang="en-US" dirty="0" smtClean="0">
                <a:solidFill>
                  <a:srgbClr val="0000CC"/>
                </a:solidFill>
                <a:ea typeface="黑体" panose="02010609060101010101" pitchFamily="49" charset="-122"/>
              </a:rPr>
              <a:t>要提高以太网的信道利用率，就必须减小 </a:t>
            </a:r>
            <a:r>
              <a:rPr lang="zh-CN" altLang="en-US" i="1" dirty="0" smtClean="0">
                <a:solidFill>
                  <a:srgbClr val="0000CC"/>
                </a:solidFill>
                <a:ea typeface="黑体" panose="02010609060101010101" pitchFamily="49" charset="-122"/>
                <a:sym typeface="Symbol" panose="05050102010706020507" pitchFamily="18" charset="2"/>
              </a:rPr>
              <a:t> </a:t>
            </a:r>
            <a:r>
              <a:rPr lang="zh-CN" altLang="en-US" dirty="0" smtClean="0">
                <a:solidFill>
                  <a:srgbClr val="0000CC"/>
                </a:solidFill>
                <a:ea typeface="黑体" panose="02010609060101010101" pitchFamily="49" charset="-122"/>
              </a:rPr>
              <a:t>与 </a:t>
            </a:r>
            <a:r>
              <a:rPr lang="en-US" altLang="zh-CN" i="1" dirty="0" smtClean="0">
                <a:solidFill>
                  <a:srgbClr val="0000CC"/>
                </a:solidFill>
                <a:ea typeface="黑体" panose="02010609060101010101" pitchFamily="49" charset="-122"/>
              </a:rPr>
              <a:t>T</a:t>
            </a:r>
            <a:r>
              <a:rPr lang="en-US" altLang="zh-CN" baseline="-25000" dirty="0" smtClean="0">
                <a:solidFill>
                  <a:srgbClr val="0000CC"/>
                </a:solidFill>
                <a:ea typeface="黑体" panose="02010609060101010101" pitchFamily="49" charset="-122"/>
              </a:rPr>
              <a:t>0 </a:t>
            </a:r>
            <a:r>
              <a:rPr lang="zh-CN" altLang="en-US" dirty="0" smtClean="0">
                <a:solidFill>
                  <a:srgbClr val="0000CC"/>
                </a:solidFill>
                <a:ea typeface="黑体" panose="02010609060101010101" pitchFamily="49" charset="-122"/>
              </a:rPr>
              <a:t>之比</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在以太网中定义了</a:t>
            </a:r>
            <a:r>
              <a:rPr lang="zh-CN" altLang="en-US" dirty="0" smtClean="0">
                <a:solidFill>
                  <a:srgbClr val="FF0000"/>
                </a:solidFill>
                <a:ea typeface="黑体" panose="02010609060101010101" pitchFamily="49" charset="-122"/>
              </a:rPr>
              <a:t>参数 </a:t>
            </a:r>
            <a:r>
              <a:rPr lang="el-GR" altLang="zh-CN" i="1" dirty="0" smtClean="0">
                <a:solidFill>
                  <a:srgbClr val="FF0000"/>
                </a:solidFill>
                <a:ea typeface="宋体" panose="02010600030101010101" pitchFamily="2" charset="-122"/>
              </a:rPr>
              <a:t>α</a:t>
            </a:r>
            <a:r>
              <a:rPr lang="zh-CN" altLang="en-US" dirty="0" smtClean="0">
                <a:ea typeface="黑体" panose="02010609060101010101" pitchFamily="49" charset="-122"/>
              </a:rPr>
              <a:t>，它是以太网单程端到端时延 </a:t>
            </a:r>
            <a:r>
              <a:rPr lang="zh-CN" altLang="en-US" i="1"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与帧的发送时间 </a:t>
            </a:r>
            <a:r>
              <a:rPr lang="en-US" altLang="zh-CN" i="1" dirty="0" smtClean="0">
                <a:ea typeface="黑体" panose="02010609060101010101" pitchFamily="49" charset="-122"/>
              </a:rPr>
              <a:t>T</a:t>
            </a:r>
            <a:r>
              <a:rPr lang="en-US" altLang="zh-CN" baseline="-25000" dirty="0" smtClean="0">
                <a:ea typeface="黑体" panose="02010609060101010101" pitchFamily="49" charset="-122"/>
              </a:rPr>
              <a:t>0 </a:t>
            </a:r>
            <a:r>
              <a:rPr lang="zh-CN" altLang="en-US" dirty="0" smtClean="0">
                <a:ea typeface="黑体" panose="02010609060101010101" pitchFamily="49" charset="-122"/>
              </a:rPr>
              <a:t>之比： </a:t>
            </a:r>
          </a:p>
        </p:txBody>
      </p:sp>
      <p:graphicFrame>
        <p:nvGraphicFramePr>
          <p:cNvPr id="571395" name="Object 6"/>
          <p:cNvGraphicFramePr>
            <a:graphicFrameLocks noChangeAspect="1"/>
          </p:cNvGraphicFramePr>
          <p:nvPr/>
        </p:nvGraphicFramePr>
        <p:xfrm>
          <a:off x="3505200" y="3500438"/>
          <a:ext cx="2046288" cy="792162"/>
        </p:xfrm>
        <a:graphic>
          <a:graphicData uri="http://schemas.openxmlformats.org/presentationml/2006/ole">
            <mc:AlternateContent xmlns:mc="http://schemas.openxmlformats.org/markup-compatibility/2006">
              <mc:Choice xmlns:v="urn:schemas-microsoft-com:vml" Requires="v">
                <p:oleObj spid="_x0000_s571432" r:id="rId3" imgW="545863" imgH="228501" progId="Equation.3">
                  <p:embed/>
                </p:oleObj>
              </mc:Choice>
              <mc:Fallback>
                <p:oleObj r:id="rId3" imgW="545863" imgH="228501"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3500438"/>
                        <a:ext cx="2046288" cy="792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1396" name="Text Box 9"/>
          <p:cNvSpPr txBox="1">
            <a:spLocks noChangeArrowheads="1"/>
          </p:cNvSpPr>
          <p:nvPr/>
        </p:nvSpPr>
        <p:spPr bwMode="auto">
          <a:xfrm>
            <a:off x="992188" y="4437063"/>
            <a:ext cx="8208962" cy="1793875"/>
          </a:xfrm>
          <a:prstGeom prst="rect">
            <a:avLst/>
          </a:prstGeom>
          <a:solidFill>
            <a:srgbClr val="FFFF66"/>
          </a:solidFill>
          <a:ln w="9525">
            <a:solidFill>
              <a:srgbClr val="000066"/>
            </a:solidFill>
            <a:round/>
            <a:headEnd/>
            <a:tailEnd/>
          </a:ln>
        </p:spPr>
        <p:txBody>
          <a:bodyPr>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spcBef>
                <a:spcPts val="600"/>
              </a:spcBef>
              <a:buSzPct val="80000"/>
              <a:buFont typeface="Wingdings" panose="05000000000000000000" pitchFamily="2" charset="2"/>
              <a:buChar char="l"/>
            </a:pPr>
            <a:r>
              <a:rPr lang="el-GR" altLang="zh-CN" sz="2400" i="1" dirty="0">
                <a:solidFill>
                  <a:srgbClr val="FF0000"/>
                </a:solidFill>
                <a:ea typeface="宋体" panose="02010600030101010101" pitchFamily="2" charset="-122"/>
              </a:rPr>
              <a:t>α </a:t>
            </a:r>
            <a:r>
              <a:rPr lang="en-US" altLang="zh-CN" sz="2400" b="1" dirty="0">
                <a:solidFill>
                  <a:srgbClr val="FF0000"/>
                </a:solidFill>
                <a:ea typeface="黑体" panose="02010609060101010101" pitchFamily="49" charset="-122"/>
              </a:rPr>
              <a:t>→0</a:t>
            </a:r>
            <a:r>
              <a:rPr lang="zh-CN" altLang="en-US" sz="2400" b="1" dirty="0">
                <a:solidFill>
                  <a:srgbClr val="000066"/>
                </a:solidFill>
                <a:ea typeface="黑体" panose="02010609060101010101" pitchFamily="49" charset="-122"/>
              </a:rPr>
              <a:t>，表示一发生碰撞就立即可以检测出来， 并立即停止发送，因而信道利用率很高。</a:t>
            </a:r>
          </a:p>
          <a:p>
            <a:pPr>
              <a:lnSpc>
                <a:spcPct val="110000"/>
              </a:lnSpc>
              <a:spcBef>
                <a:spcPts val="600"/>
              </a:spcBef>
              <a:buSzPct val="80000"/>
              <a:buFont typeface="Wingdings" panose="05000000000000000000" pitchFamily="2" charset="2"/>
              <a:buChar char="l"/>
            </a:pPr>
            <a:r>
              <a:rPr lang="el-GR" altLang="zh-CN" sz="2400" i="1" dirty="0">
                <a:solidFill>
                  <a:srgbClr val="FF0000"/>
                </a:solidFill>
                <a:ea typeface="宋体" panose="02010600030101010101" pitchFamily="2" charset="-122"/>
              </a:rPr>
              <a:t>α</a:t>
            </a:r>
            <a:r>
              <a:rPr lang="en-US" altLang="zh-CN" sz="2400" b="1" i="1" dirty="0">
                <a:solidFill>
                  <a:srgbClr val="FF0000"/>
                </a:solidFill>
                <a:ea typeface="黑体" panose="02010609060101010101" pitchFamily="49" charset="-122"/>
              </a:rPr>
              <a:t> </a:t>
            </a:r>
            <a:r>
              <a:rPr lang="zh-CN" altLang="en-US" sz="2400" b="1" dirty="0">
                <a:solidFill>
                  <a:srgbClr val="FF0000"/>
                </a:solidFill>
                <a:ea typeface="黑体" panose="02010609060101010101" pitchFamily="49" charset="-122"/>
              </a:rPr>
              <a:t>越大</a:t>
            </a:r>
            <a:r>
              <a:rPr lang="zh-CN" altLang="en-US" sz="2400" b="1" dirty="0">
                <a:solidFill>
                  <a:srgbClr val="000066"/>
                </a:solidFill>
                <a:ea typeface="黑体" panose="02010609060101010101" pitchFamily="49" charset="-122"/>
              </a:rPr>
              <a:t>，表明争用期所占的比例增大，每发生一次碰撞就浪费许多信道资源，使得信道利用率明显降低。 </a:t>
            </a:r>
          </a:p>
        </p:txBody>
      </p:sp>
      <p:sp>
        <p:nvSpPr>
          <p:cNvPr id="57139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23A6D6-32D3-4C34-B238-2F6FEBB8525A}" type="slidenum">
              <a:rPr lang="zh-CN" altLang="en-US" smtClean="0"/>
              <a:pPr eaLnBrk="1" hangingPunct="1"/>
              <a:t>6</a:t>
            </a:fld>
            <a:endParaRPr lang="en-US" altLang="zh-CN" smtClean="0"/>
          </a:p>
        </p:txBody>
      </p:sp>
      <p:sp>
        <p:nvSpPr>
          <p:cNvPr id="57139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对以太网参数 </a:t>
            </a:r>
            <a:r>
              <a:rPr lang="el-GR" altLang="zh-CN" i="1" smtClean="0">
                <a:ea typeface="宋体" panose="02010600030101010101" pitchFamily="2" charset="-122"/>
              </a:rPr>
              <a:t>α</a:t>
            </a:r>
            <a:r>
              <a:rPr lang="en-US" altLang="zh-CN" i="1" smtClean="0">
                <a:ea typeface="宋体" panose="02010600030101010101" pitchFamily="2" charset="-122"/>
              </a:rPr>
              <a:t> </a:t>
            </a:r>
            <a:r>
              <a:rPr lang="zh-CN" altLang="en-US" smtClean="0">
                <a:ea typeface="黑体" panose="02010609060101010101" pitchFamily="49" charset="-122"/>
              </a:rPr>
              <a:t>的要求</a:t>
            </a:r>
          </a:p>
        </p:txBody>
      </p:sp>
      <p:sp>
        <p:nvSpPr>
          <p:cNvPr id="57241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为提高利用率，</a:t>
            </a:r>
            <a:r>
              <a:rPr lang="zh-CN" altLang="zh-CN" dirty="0" smtClean="0">
                <a:ea typeface="黑体" panose="02010609060101010101" pitchFamily="49" charset="-122"/>
              </a:rPr>
              <a:t>以太网的参数</a:t>
            </a:r>
            <a:r>
              <a:rPr lang="en-US" altLang="zh-CN" i="1" dirty="0" smtClean="0">
                <a:ea typeface="黑体" panose="02010609060101010101" pitchFamily="49" charset="-122"/>
              </a:rPr>
              <a:t>a</a:t>
            </a:r>
            <a:r>
              <a:rPr lang="zh-CN" altLang="zh-CN" dirty="0" smtClean="0">
                <a:ea typeface="黑体" panose="02010609060101010101" pitchFamily="49" charset="-122"/>
              </a:rPr>
              <a:t>的值应当尽可能小些</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solidFill>
                  <a:srgbClr val="FF0000"/>
                </a:solidFill>
                <a:ea typeface="黑体" panose="02010609060101010101" pitchFamily="49" charset="-122"/>
              </a:rPr>
              <a:t>对以太网参数 </a:t>
            </a:r>
            <a:r>
              <a:rPr lang="el-GR" altLang="zh-CN" i="1" dirty="0" smtClean="0">
                <a:solidFill>
                  <a:srgbClr val="FF0000"/>
                </a:solidFill>
                <a:ea typeface="宋体" panose="02010600030101010101" pitchFamily="2" charset="-122"/>
              </a:rPr>
              <a:t>α</a:t>
            </a:r>
            <a:r>
              <a:rPr lang="en-US" altLang="zh-CN" i="1" dirty="0" smtClean="0">
                <a:solidFill>
                  <a:srgbClr val="FF0000"/>
                </a:solidFill>
                <a:ea typeface="宋体" panose="02010600030101010101" pitchFamily="2" charset="-122"/>
              </a:rPr>
              <a:t> </a:t>
            </a:r>
            <a:r>
              <a:rPr lang="zh-CN" altLang="en-US" dirty="0" smtClean="0">
                <a:solidFill>
                  <a:srgbClr val="FF0000"/>
                </a:solidFill>
                <a:ea typeface="黑体" panose="02010609060101010101" pitchFamily="49" charset="-122"/>
              </a:rPr>
              <a:t>的要求是：</a:t>
            </a:r>
            <a:endParaRPr lang="en-US" altLang="zh-CN"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当数据率一定时，以太网的连线的长度受到限制，否则 </a:t>
            </a:r>
            <a:r>
              <a:rPr lang="zh-CN" altLang="en-US" i="1" dirty="0" smtClean="0">
                <a:ea typeface="黑体" panose="02010609060101010101" pitchFamily="49" charset="-122"/>
                <a:sym typeface="Symbol" panose="05050102010706020507" pitchFamily="18" charset="2"/>
              </a:rPr>
              <a:t> </a:t>
            </a:r>
            <a:r>
              <a:rPr lang="zh-CN" altLang="en-US" dirty="0" smtClean="0">
                <a:ea typeface="黑体" panose="02010609060101010101" pitchFamily="49" charset="-122"/>
              </a:rPr>
              <a:t>的数值会太大。</a:t>
            </a:r>
          </a:p>
          <a:p>
            <a:pPr lvl="1"/>
            <a:r>
              <a:rPr lang="zh-CN" altLang="en-US" dirty="0" smtClean="0">
                <a:ea typeface="黑体" panose="02010609060101010101" pitchFamily="49" charset="-122"/>
              </a:rPr>
              <a:t>以太网的帧长不能太短，否则 </a:t>
            </a:r>
            <a:r>
              <a:rPr lang="en-US" altLang="zh-CN" i="1" dirty="0" smtClean="0">
                <a:ea typeface="黑体" panose="02010609060101010101" pitchFamily="49" charset="-122"/>
              </a:rPr>
              <a:t>T</a:t>
            </a:r>
            <a:r>
              <a:rPr lang="en-US" altLang="zh-CN" baseline="-25000" dirty="0" smtClean="0">
                <a:ea typeface="黑体" panose="02010609060101010101" pitchFamily="49" charset="-122"/>
              </a:rPr>
              <a:t>0 </a:t>
            </a:r>
            <a:r>
              <a:rPr lang="zh-CN" altLang="en-US" dirty="0" smtClean="0">
                <a:ea typeface="黑体" panose="02010609060101010101" pitchFamily="49" charset="-122"/>
              </a:rPr>
              <a:t>的值会太小，使 </a:t>
            </a:r>
            <a:r>
              <a:rPr lang="el-GR" altLang="zh-CN" i="1" dirty="0" smtClean="0">
                <a:ea typeface="宋体" panose="02010600030101010101" pitchFamily="2" charset="-122"/>
              </a:rPr>
              <a:t>α</a:t>
            </a:r>
            <a:r>
              <a:rPr lang="en-US" altLang="zh-CN" i="1" dirty="0" smtClean="0">
                <a:ea typeface="黑体" panose="02010609060101010101" pitchFamily="49" charset="-122"/>
              </a:rPr>
              <a:t> </a:t>
            </a:r>
            <a:r>
              <a:rPr lang="zh-CN" altLang="en-US" dirty="0" smtClean="0">
                <a:ea typeface="黑体" panose="02010609060101010101" pitchFamily="49" charset="-122"/>
              </a:rPr>
              <a:t>值太大。 </a:t>
            </a:r>
          </a:p>
        </p:txBody>
      </p:sp>
      <p:sp>
        <p:nvSpPr>
          <p:cNvPr id="5724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7105C3-4B8E-4816-8C24-AFE0A42F3935}" type="slidenum">
              <a:rPr lang="zh-CN" altLang="en-US" smtClean="0"/>
              <a:pPr eaLnBrk="1" hangingPunct="1"/>
              <a:t>7</a:t>
            </a:fld>
            <a:endParaRPr lang="en-US" altLang="zh-CN" smtClean="0"/>
          </a:p>
        </p:txBody>
      </p:sp>
      <p:sp>
        <p:nvSpPr>
          <p:cNvPr id="5724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1"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信道利用率的最大值 </a:t>
            </a:r>
            <a:r>
              <a:rPr lang="en-US" altLang="zh-CN" i="1" smtClean="0">
                <a:ea typeface="黑体" panose="02010609060101010101" pitchFamily="49" charset="-122"/>
              </a:rPr>
              <a:t>S</a:t>
            </a:r>
            <a:r>
              <a:rPr lang="en-US" altLang="zh-CN" baseline="-25000" smtClean="0">
                <a:ea typeface="黑体" panose="02010609060101010101" pitchFamily="49" charset="-122"/>
              </a:rPr>
              <a:t>max</a:t>
            </a:r>
            <a:r>
              <a:rPr lang="en-US" altLang="zh-CN" smtClean="0">
                <a:ea typeface="黑体" panose="02010609060101010101" pitchFamily="49" charset="-122"/>
              </a:rPr>
              <a:t> </a:t>
            </a:r>
          </a:p>
        </p:txBody>
      </p:sp>
      <p:sp>
        <p:nvSpPr>
          <p:cNvPr id="573442" name="Rectangle 2"/>
          <p:cNvSpPr>
            <a:spLocks noGrp="1" noChangeArrowheads="1"/>
          </p:cNvSpPr>
          <p:nvPr>
            <p:ph idx="1"/>
          </p:nvPr>
        </p:nvSpPr>
        <p:spPr>
          <a:xfrm>
            <a:off x="495300" y="1196975"/>
            <a:ext cx="9066213" cy="4933950"/>
          </a:xfrm>
        </p:spPr>
        <p:txBody>
          <a:bodyPr/>
          <a:lstStyle/>
          <a:p>
            <a:pPr algn="just"/>
            <a:r>
              <a:rPr lang="zh-CN" altLang="en-US" sz="2800" smtClean="0">
                <a:ea typeface="黑体" panose="02010609060101010101" pitchFamily="49" charset="-122"/>
              </a:rPr>
              <a:t>在</a:t>
            </a:r>
            <a:r>
              <a:rPr lang="zh-CN" altLang="en-US" sz="2800" smtClean="0">
                <a:solidFill>
                  <a:srgbClr val="FF0000"/>
                </a:solidFill>
                <a:ea typeface="黑体" panose="02010609060101010101" pitchFamily="49" charset="-122"/>
              </a:rPr>
              <a:t>理想化</a:t>
            </a:r>
            <a:r>
              <a:rPr lang="zh-CN" altLang="en-US" sz="2800" smtClean="0">
                <a:ea typeface="黑体" panose="02010609060101010101" pitchFamily="49" charset="-122"/>
              </a:rPr>
              <a:t>的情况下，以太网上的各站发送数据都不会产生碰撞（这显然已经不是 </a:t>
            </a:r>
            <a:r>
              <a:rPr lang="en-US" altLang="zh-CN" sz="2800" smtClean="0">
                <a:ea typeface="黑体" panose="02010609060101010101" pitchFamily="49" charset="-122"/>
              </a:rPr>
              <a:t>CSMA/CD</a:t>
            </a:r>
            <a:r>
              <a:rPr lang="zh-CN" altLang="en-US" sz="2800" smtClean="0">
                <a:ea typeface="黑体" panose="02010609060101010101" pitchFamily="49" charset="-122"/>
              </a:rPr>
              <a:t>，而是需要使用一种特殊的调度方法），即总线一旦空闲就有某一个站立即发送数据。</a:t>
            </a:r>
          </a:p>
          <a:p>
            <a:pPr algn="just"/>
            <a:r>
              <a:rPr lang="zh-CN" altLang="en-US" sz="2800" smtClean="0">
                <a:ea typeface="黑体" panose="02010609060101010101" pitchFamily="49" charset="-122"/>
              </a:rPr>
              <a:t>发送一帧占用线路的时间是 </a:t>
            </a:r>
            <a:r>
              <a:rPr lang="en-US" altLang="zh-CN" sz="2800" i="1" smtClean="0">
                <a:ea typeface="黑体" panose="02010609060101010101" pitchFamily="49" charset="-122"/>
              </a:rPr>
              <a:t>T</a:t>
            </a:r>
            <a:r>
              <a:rPr lang="en-US" altLang="zh-CN" sz="2800" baseline="-25000" smtClean="0">
                <a:ea typeface="黑体" panose="02010609060101010101" pitchFamily="49" charset="-122"/>
              </a:rPr>
              <a:t>0</a:t>
            </a:r>
            <a:r>
              <a:rPr lang="en-US" altLang="zh-CN" sz="2800" smtClean="0">
                <a:ea typeface="黑体" panose="02010609060101010101" pitchFamily="49" charset="-122"/>
              </a:rPr>
              <a:t> + </a:t>
            </a:r>
            <a:r>
              <a:rPr lang="en-US" altLang="zh-CN" sz="2800" i="1" smtClean="0">
                <a:ea typeface="黑体" panose="02010609060101010101" pitchFamily="49" charset="-122"/>
                <a:sym typeface="Symbol" panose="05050102010706020507" pitchFamily="18" charset="2"/>
              </a:rPr>
              <a:t></a:t>
            </a:r>
            <a:r>
              <a:rPr lang="zh-CN" altLang="en-US" sz="2800" smtClean="0">
                <a:ea typeface="黑体" panose="02010609060101010101" pitchFamily="49" charset="-122"/>
              </a:rPr>
              <a:t>，而帧本身的发送时间是 </a:t>
            </a:r>
            <a:r>
              <a:rPr lang="en-US" altLang="zh-CN" sz="2800" i="1" smtClean="0">
                <a:ea typeface="黑体" panose="02010609060101010101" pitchFamily="49" charset="-122"/>
              </a:rPr>
              <a:t>T</a:t>
            </a:r>
            <a:r>
              <a:rPr lang="en-US" altLang="zh-CN" sz="2800" baseline="-25000" smtClean="0">
                <a:ea typeface="黑体" panose="02010609060101010101" pitchFamily="49" charset="-122"/>
              </a:rPr>
              <a:t>0</a:t>
            </a:r>
            <a:r>
              <a:rPr lang="zh-CN" altLang="en-US" sz="2800" smtClean="0">
                <a:ea typeface="黑体" panose="02010609060101010101" pitchFamily="49" charset="-122"/>
              </a:rPr>
              <a:t>。于是我们可计算出</a:t>
            </a:r>
            <a:r>
              <a:rPr lang="zh-CN" altLang="en-US" sz="2800" smtClean="0">
                <a:solidFill>
                  <a:srgbClr val="FF0000"/>
                </a:solidFill>
                <a:ea typeface="黑体" panose="02010609060101010101" pitchFamily="49" charset="-122"/>
              </a:rPr>
              <a:t>理想情况下的极限信道利用率 </a:t>
            </a:r>
            <a:r>
              <a:rPr lang="en-US" altLang="zh-CN" sz="2800" i="1" smtClean="0">
                <a:solidFill>
                  <a:srgbClr val="FF0000"/>
                </a:solidFill>
                <a:ea typeface="黑体" panose="02010609060101010101" pitchFamily="49" charset="-122"/>
              </a:rPr>
              <a:t>S</a:t>
            </a:r>
            <a:r>
              <a:rPr lang="en-US" altLang="zh-CN" sz="2800" baseline="-25000" smtClean="0">
                <a:solidFill>
                  <a:srgbClr val="FF0000"/>
                </a:solidFill>
                <a:ea typeface="黑体" panose="02010609060101010101" pitchFamily="49" charset="-122"/>
              </a:rPr>
              <a:t>max</a:t>
            </a:r>
            <a:r>
              <a:rPr lang="en-US" altLang="zh-CN" sz="2800" smtClean="0">
                <a:solidFill>
                  <a:srgbClr val="FF0000"/>
                </a:solidFill>
                <a:ea typeface="黑体" panose="02010609060101010101" pitchFamily="49" charset="-122"/>
              </a:rPr>
              <a:t> </a:t>
            </a:r>
            <a:r>
              <a:rPr lang="zh-CN" altLang="en-US" sz="2800" smtClean="0">
                <a:solidFill>
                  <a:srgbClr val="FF0000"/>
                </a:solidFill>
                <a:ea typeface="黑体" panose="02010609060101010101" pitchFamily="49" charset="-122"/>
              </a:rPr>
              <a:t>为：</a:t>
            </a:r>
            <a:r>
              <a:rPr lang="zh-CN" altLang="en-US" sz="2800" smtClean="0">
                <a:ea typeface="黑体" panose="02010609060101010101" pitchFamily="49" charset="-122"/>
              </a:rPr>
              <a:t> </a:t>
            </a:r>
          </a:p>
        </p:txBody>
      </p:sp>
      <p:graphicFrame>
        <p:nvGraphicFramePr>
          <p:cNvPr id="573443" name="Object 8"/>
          <p:cNvGraphicFramePr>
            <a:graphicFrameLocks noChangeAspect="1"/>
          </p:cNvGraphicFramePr>
          <p:nvPr/>
        </p:nvGraphicFramePr>
        <p:xfrm>
          <a:off x="849313" y="4797425"/>
          <a:ext cx="3302000" cy="1008063"/>
        </p:xfrm>
        <a:graphic>
          <a:graphicData uri="http://schemas.openxmlformats.org/presentationml/2006/ole">
            <mc:AlternateContent xmlns:mc="http://schemas.openxmlformats.org/markup-compatibility/2006">
              <mc:Choice xmlns:v="urn:schemas-microsoft-com:vml" Requires="v">
                <p:oleObj spid="_x0000_s573480" r:id="rId4" imgW="1282700" imgH="431800" progId="Equation.3">
                  <p:embed/>
                </p:oleObj>
              </mc:Choice>
              <mc:Fallback>
                <p:oleObj r:id="rId4" imgW="1282700" imgH="431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313" y="4797425"/>
                        <a:ext cx="33020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444" name="矩形 1"/>
          <p:cNvSpPr>
            <a:spLocks noChangeArrowheads="1"/>
          </p:cNvSpPr>
          <p:nvPr/>
        </p:nvSpPr>
        <p:spPr bwMode="auto">
          <a:xfrm>
            <a:off x="4448175" y="4298950"/>
            <a:ext cx="5400675" cy="1938338"/>
          </a:xfrm>
          <a:prstGeom prst="rect">
            <a:avLst/>
          </a:prstGeom>
          <a:solidFill>
            <a:srgbClr val="FFFF66"/>
          </a:solidFill>
          <a:ln w="9525">
            <a:solidFill>
              <a:srgbClr val="000066"/>
            </a:solidFill>
            <a:round/>
            <a:headEnd/>
            <a:tailEnd/>
          </a:ln>
        </p:spPr>
        <p:txBody>
          <a:bodyPr>
            <a:spAutoFit/>
          </a:bodyPr>
          <a:lstStyle>
            <a:lvl1pPr marL="179388" indent="-179388"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SzPct val="80000"/>
              <a:buFont typeface="Wingdings" panose="05000000000000000000" pitchFamily="2" charset="2"/>
              <a:buChar char="l"/>
            </a:pPr>
            <a:r>
              <a:rPr lang="zh-CN" altLang="zh-CN" sz="2400" b="1">
                <a:solidFill>
                  <a:srgbClr val="000066"/>
                </a:solidFill>
                <a:ea typeface="黑体" panose="02010609060101010101" pitchFamily="49" charset="-122"/>
              </a:rPr>
              <a:t>只有当参数</a:t>
            </a:r>
            <a:r>
              <a:rPr lang="en-US" altLang="zh-CN" sz="2400" b="1">
                <a:solidFill>
                  <a:srgbClr val="000066"/>
                </a:solidFill>
                <a:ea typeface="黑体" panose="02010609060101010101" pitchFamily="49" charset="-122"/>
              </a:rPr>
              <a:t> </a:t>
            </a:r>
            <a:r>
              <a:rPr lang="en-US" altLang="zh-CN" sz="2400" b="1" i="1">
                <a:solidFill>
                  <a:srgbClr val="000066"/>
                </a:solidFill>
                <a:ea typeface="黑体" panose="02010609060101010101" pitchFamily="49" charset="-122"/>
              </a:rPr>
              <a:t>a </a:t>
            </a:r>
            <a:r>
              <a:rPr lang="zh-CN" altLang="zh-CN" sz="2400" b="1">
                <a:solidFill>
                  <a:srgbClr val="000066"/>
                </a:solidFill>
                <a:ea typeface="黑体" panose="02010609060101010101" pitchFamily="49" charset="-122"/>
              </a:rPr>
              <a:t>远小于</a:t>
            </a:r>
            <a:r>
              <a:rPr lang="en-US" altLang="zh-CN" sz="2400" b="1">
                <a:solidFill>
                  <a:srgbClr val="000066"/>
                </a:solidFill>
                <a:ea typeface="黑体" panose="02010609060101010101" pitchFamily="49" charset="-122"/>
              </a:rPr>
              <a:t> 1 </a:t>
            </a:r>
            <a:r>
              <a:rPr lang="zh-CN" altLang="zh-CN" sz="2400" b="1">
                <a:solidFill>
                  <a:srgbClr val="000066"/>
                </a:solidFill>
                <a:ea typeface="黑体" panose="02010609060101010101" pitchFamily="49" charset="-122"/>
              </a:rPr>
              <a:t>才能得到尽可能高的极限信道利用率</a:t>
            </a:r>
            <a:r>
              <a:rPr lang="zh-CN" altLang="en-US" sz="2400" b="1">
                <a:solidFill>
                  <a:srgbClr val="000066"/>
                </a:solidFill>
                <a:ea typeface="黑体" panose="02010609060101010101" pitchFamily="49" charset="-122"/>
              </a:rPr>
              <a:t>。</a:t>
            </a:r>
            <a:endParaRPr lang="en-US" altLang="zh-CN" sz="2400" b="1">
              <a:solidFill>
                <a:srgbClr val="000066"/>
              </a:solidFill>
              <a:ea typeface="黑体" panose="02010609060101010101" pitchFamily="49" charset="-122"/>
            </a:endParaRPr>
          </a:p>
          <a:p>
            <a:pPr>
              <a:buSzPct val="80000"/>
              <a:buFont typeface="Wingdings" panose="05000000000000000000" pitchFamily="2" charset="2"/>
              <a:buChar char="l"/>
            </a:pPr>
            <a:r>
              <a:rPr lang="zh-CN" altLang="zh-CN" sz="2400" b="1">
                <a:solidFill>
                  <a:srgbClr val="000066"/>
                </a:solidFill>
                <a:ea typeface="黑体" panose="02010609060101010101" pitchFamily="49" charset="-122"/>
              </a:rPr>
              <a:t>据统计，当以太网的利用率达到</a:t>
            </a:r>
            <a:r>
              <a:rPr lang="en-US" altLang="zh-CN" sz="2400" b="1">
                <a:solidFill>
                  <a:srgbClr val="000066"/>
                </a:solidFill>
                <a:ea typeface="黑体" panose="02010609060101010101" pitchFamily="49" charset="-122"/>
              </a:rPr>
              <a:t> 30%</a:t>
            </a:r>
            <a:r>
              <a:rPr lang="zh-CN" altLang="zh-CN" sz="2400" b="1">
                <a:solidFill>
                  <a:srgbClr val="000066"/>
                </a:solidFill>
                <a:ea typeface="黑体" panose="02010609060101010101" pitchFamily="49" charset="-122"/>
              </a:rPr>
              <a:t>时就已经处于重载的情况。很多的网络容量被网上的碰撞消耗掉了。</a:t>
            </a:r>
            <a:endParaRPr lang="zh-CN" altLang="en-US" sz="2400" b="1">
              <a:solidFill>
                <a:srgbClr val="000066"/>
              </a:solidFill>
              <a:ea typeface="黑体" panose="02010609060101010101" pitchFamily="49" charset="-122"/>
            </a:endParaRPr>
          </a:p>
        </p:txBody>
      </p:sp>
      <p:sp>
        <p:nvSpPr>
          <p:cNvPr id="5734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D3AF1A-AE50-42FB-82E8-F70BC7DAA0E7}" type="slidenum">
              <a:rPr lang="zh-CN" altLang="en-US" smtClean="0"/>
              <a:pPr eaLnBrk="1" hangingPunct="1"/>
              <a:t>8</a:t>
            </a:fld>
            <a:endParaRPr lang="en-US" altLang="zh-CN" smtClean="0"/>
          </a:p>
        </p:txBody>
      </p:sp>
      <p:sp>
        <p:nvSpPr>
          <p:cNvPr id="5734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8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3.3.5  </a:t>
            </a:r>
            <a:r>
              <a:rPr lang="zh-CN" altLang="zh-CN" smtClean="0">
                <a:ea typeface="黑体" panose="02010609060101010101" pitchFamily="49" charset="-122"/>
              </a:rPr>
              <a:t>以太网的</a:t>
            </a:r>
            <a:r>
              <a:rPr lang="en-US" altLang="zh-CN" smtClean="0">
                <a:ea typeface="黑体" panose="02010609060101010101" pitchFamily="49" charset="-122"/>
              </a:rPr>
              <a:t> MAC </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p:spPr>
        <p:txBody>
          <a:bodyPr/>
          <a:lstStyle/>
          <a:p>
            <a:pPr marL="0" indent="0">
              <a:buFont typeface="Wingdings" panose="05000000000000000000" pitchFamily="2" charset="2"/>
              <a:buNone/>
            </a:pPr>
            <a:r>
              <a:rPr lang="zh-CN" altLang="en-US" noProof="1"/>
              <a:t>重点介绍：</a:t>
            </a:r>
            <a:endParaRPr lang="en-US" altLang="zh-CN" noProof="1"/>
          </a:p>
          <a:p>
            <a:r>
              <a:rPr lang="en-US" altLang="zh-CN" noProof="1"/>
              <a:t>1.  MAC </a:t>
            </a:r>
            <a:r>
              <a:rPr lang="zh-CN" altLang="zh-CN" noProof="1"/>
              <a:t>层的硬件地址</a:t>
            </a:r>
            <a:endParaRPr lang="en-US" altLang="zh-CN" noProof="1"/>
          </a:p>
          <a:p>
            <a:r>
              <a:rPr lang="en-US" altLang="zh-CN" noProof="1"/>
              <a:t>2.  MAC </a:t>
            </a:r>
            <a:r>
              <a:rPr lang="zh-CN" altLang="zh-CN" noProof="1"/>
              <a:t>帧的格式</a:t>
            </a:r>
            <a:endParaRPr lang="zh-CN" altLang="en-US" noProof="1"/>
          </a:p>
        </p:txBody>
      </p:sp>
      <p:sp>
        <p:nvSpPr>
          <p:cNvPr id="57549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7A2491-98CD-4149-ADEE-82890032D7F4}" type="slidenum">
              <a:rPr lang="zh-CN" altLang="en-US" smtClean="0"/>
              <a:pPr eaLnBrk="1" hangingPunct="1"/>
              <a:t>9</a:t>
            </a:fld>
            <a:endParaRPr lang="en-US" altLang="zh-CN" smtClean="0"/>
          </a:p>
        </p:txBody>
      </p:sp>
      <p:sp>
        <p:nvSpPr>
          <p:cNvPr id="57549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MAC </a:t>
            </a:r>
            <a:r>
              <a:rPr lang="zh-CN" altLang="en-US" smtClean="0">
                <a:ea typeface="黑体" panose="02010609060101010101" pitchFamily="49" charset="-122"/>
              </a:rPr>
              <a:t>层的硬件地址 </a:t>
            </a:r>
          </a:p>
        </p:txBody>
      </p:sp>
      <p:sp>
        <p:nvSpPr>
          <p:cNvPr id="57651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在局域网中，</a:t>
            </a:r>
            <a:r>
              <a:rPr lang="zh-CN" altLang="en-US" sz="2800" smtClean="0">
                <a:solidFill>
                  <a:srgbClr val="FF0000"/>
                </a:solidFill>
                <a:ea typeface="黑体" panose="02010609060101010101" pitchFamily="49" charset="-122"/>
              </a:rPr>
              <a:t>硬件地址</a:t>
            </a:r>
            <a:r>
              <a:rPr lang="zh-CN" altLang="en-US" sz="2800" smtClean="0">
                <a:ea typeface="黑体" panose="02010609060101010101" pitchFamily="49" charset="-122"/>
              </a:rPr>
              <a:t>又称为</a:t>
            </a:r>
            <a:r>
              <a:rPr lang="zh-CN" altLang="en-US" sz="2800" smtClean="0">
                <a:solidFill>
                  <a:srgbClr val="FF0000"/>
                </a:solidFill>
                <a:ea typeface="黑体" panose="02010609060101010101" pitchFamily="49" charset="-122"/>
              </a:rPr>
              <a:t>物理地址，</a:t>
            </a:r>
            <a:r>
              <a:rPr lang="zh-CN" altLang="en-US" sz="2800" smtClean="0">
                <a:ea typeface="黑体" panose="02010609060101010101" pitchFamily="49" charset="-122"/>
              </a:rPr>
              <a:t>或 </a:t>
            </a:r>
            <a:r>
              <a:rPr lang="en-US" altLang="zh-CN" sz="2800" smtClean="0">
                <a:solidFill>
                  <a:srgbClr val="FF0000"/>
                </a:solidFill>
                <a:ea typeface="黑体" panose="02010609060101010101" pitchFamily="49" charset="-122"/>
              </a:rPr>
              <a:t>MAC </a:t>
            </a:r>
            <a:r>
              <a:rPr lang="zh-CN" altLang="en-US" sz="2800" smtClean="0">
                <a:solidFill>
                  <a:srgbClr val="FF0000"/>
                </a:solidFill>
                <a:ea typeface="黑体" panose="02010609060101010101" pitchFamily="49" charset="-122"/>
              </a:rPr>
              <a:t>地址。</a:t>
            </a:r>
            <a:r>
              <a:rPr lang="zh-CN" altLang="en-US" sz="2800" smtClean="0">
                <a:ea typeface="黑体" panose="02010609060101010101" pitchFamily="49" charset="-122"/>
              </a:rPr>
              <a:t> </a:t>
            </a:r>
          </a:p>
          <a:p>
            <a:r>
              <a:rPr lang="en-US" altLang="zh-CN" sz="2800" smtClean="0">
                <a:ea typeface="黑体" panose="02010609060101010101" pitchFamily="49" charset="-122"/>
              </a:rPr>
              <a:t>802 </a:t>
            </a:r>
            <a:r>
              <a:rPr lang="zh-CN" altLang="en-US" sz="2800" smtClean="0">
                <a:ea typeface="黑体" panose="02010609060101010101" pitchFamily="49" charset="-122"/>
              </a:rPr>
              <a:t>标准所说的“地址”严格地讲应当是每一个站的“</a:t>
            </a:r>
            <a:r>
              <a:rPr lang="zh-CN" altLang="en-US" sz="2800" smtClean="0">
                <a:solidFill>
                  <a:srgbClr val="FF0000"/>
                </a:solidFill>
                <a:ea typeface="黑体" panose="02010609060101010101" pitchFamily="49" charset="-122"/>
              </a:rPr>
              <a:t>名字</a:t>
            </a:r>
            <a:r>
              <a:rPr lang="zh-CN" altLang="en-US" sz="2800" smtClean="0">
                <a:ea typeface="黑体" panose="02010609060101010101" pitchFamily="49" charset="-122"/>
              </a:rPr>
              <a:t>”或</a:t>
            </a:r>
            <a:r>
              <a:rPr lang="zh-CN" altLang="en-US" sz="2800" smtClean="0">
                <a:solidFill>
                  <a:srgbClr val="FF0000"/>
                </a:solidFill>
                <a:ea typeface="黑体" panose="02010609060101010101" pitchFamily="49" charset="-122"/>
              </a:rPr>
              <a:t>标识符。 </a:t>
            </a:r>
          </a:p>
          <a:p>
            <a:r>
              <a:rPr lang="zh-CN" altLang="en-US" sz="2800" smtClean="0">
                <a:ea typeface="黑体" panose="02010609060101010101" pitchFamily="49" charset="-122"/>
              </a:rPr>
              <a:t>但鉴于大家都早已习惯了将这种 </a:t>
            </a:r>
            <a:r>
              <a:rPr lang="en-US" altLang="zh-CN" sz="2800" smtClean="0">
                <a:ea typeface="黑体" panose="02010609060101010101" pitchFamily="49" charset="-122"/>
              </a:rPr>
              <a:t>48 </a:t>
            </a:r>
            <a:r>
              <a:rPr lang="zh-CN" altLang="en-US" sz="2800" smtClean="0">
                <a:ea typeface="黑体" panose="02010609060101010101" pitchFamily="49" charset="-122"/>
              </a:rPr>
              <a:t>位的“名字”称为“地址”，所以本书也采用这种习惯用法，尽管这种说法并不太严格。</a:t>
            </a:r>
          </a:p>
        </p:txBody>
      </p:sp>
      <p:sp>
        <p:nvSpPr>
          <p:cNvPr id="576515" name="矩形 1"/>
          <p:cNvSpPr>
            <a:spLocks noChangeArrowheads="1"/>
          </p:cNvSpPr>
          <p:nvPr/>
        </p:nvSpPr>
        <p:spPr bwMode="auto">
          <a:xfrm>
            <a:off x="992188" y="4292600"/>
            <a:ext cx="8353425" cy="1816100"/>
          </a:xfrm>
          <a:prstGeom prst="rect">
            <a:avLst/>
          </a:prstGeom>
          <a:solidFill>
            <a:srgbClr val="FFFF66"/>
          </a:solidFill>
          <a:ln w="9525">
            <a:solidFill>
              <a:srgbClr val="000099"/>
            </a:solidFill>
            <a:round/>
            <a:headEnd/>
            <a:tailEnd/>
          </a:ln>
        </p:spPr>
        <p:txBody>
          <a:bodyPr>
            <a:spAutoFit/>
          </a:bodyPr>
          <a:lstStyle/>
          <a:p>
            <a:pPr eaLnBrk="0" hangingPunct="0"/>
            <a:r>
              <a:rPr lang="zh-CN" altLang="en-US" sz="2800" b="1">
                <a:solidFill>
                  <a:srgbClr val="000066"/>
                </a:solidFill>
                <a:ea typeface="黑体" panose="02010609060101010101" pitchFamily="49" charset="-122"/>
              </a:rPr>
              <a:t>请注意，如果连接在局域网上的主机或路由器安装有多个适配器，那么这样的主机或路由器就有多个“地址”。更准确些说，</a:t>
            </a:r>
            <a:r>
              <a:rPr lang="zh-CN" altLang="en-US" sz="2800" b="1">
                <a:solidFill>
                  <a:srgbClr val="0000FF"/>
                </a:solidFill>
                <a:ea typeface="黑体" panose="02010609060101010101" pitchFamily="49" charset="-122"/>
              </a:rPr>
              <a:t>这种 </a:t>
            </a:r>
            <a:r>
              <a:rPr lang="en-US" altLang="zh-CN" sz="2800" b="1">
                <a:solidFill>
                  <a:srgbClr val="0000FF"/>
                </a:solidFill>
                <a:ea typeface="黑体" panose="02010609060101010101" pitchFamily="49" charset="-122"/>
              </a:rPr>
              <a:t>48 </a:t>
            </a:r>
            <a:r>
              <a:rPr lang="zh-CN" altLang="en-US" sz="2800" b="1">
                <a:solidFill>
                  <a:srgbClr val="0000FF"/>
                </a:solidFill>
                <a:ea typeface="黑体" panose="02010609060101010101" pitchFamily="49" charset="-122"/>
              </a:rPr>
              <a:t>位“地址”应当是某个接口的标识符。</a:t>
            </a:r>
          </a:p>
        </p:txBody>
      </p:sp>
      <p:sp>
        <p:nvSpPr>
          <p:cNvPr id="57651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3CCD96-51C6-486E-95E0-4F7D2C5A29BD}" type="slidenum">
              <a:rPr lang="zh-CN" altLang="en-US" smtClean="0"/>
              <a:pPr eaLnBrk="1" hangingPunct="1"/>
              <a:t>10</a:t>
            </a:fld>
            <a:endParaRPr lang="en-US" altLang="zh-CN" smtClean="0"/>
          </a:p>
        </p:txBody>
      </p:sp>
      <p:sp>
        <p:nvSpPr>
          <p:cNvPr id="57651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48 </a:t>
            </a:r>
            <a:r>
              <a:rPr lang="zh-CN" altLang="en-US" smtClean="0">
                <a:ea typeface="黑体" panose="02010609060101010101" pitchFamily="49" charset="-122"/>
              </a:rPr>
              <a:t>位的 </a:t>
            </a:r>
            <a:r>
              <a:rPr lang="en-US" altLang="zh-CN" smtClean="0">
                <a:ea typeface="黑体" panose="02010609060101010101" pitchFamily="49" charset="-122"/>
              </a:rPr>
              <a:t>MAC </a:t>
            </a:r>
            <a:r>
              <a:rPr lang="zh-CN" altLang="en-US" smtClean="0">
                <a:ea typeface="黑体" panose="02010609060101010101" pitchFamily="49" charset="-122"/>
              </a:rPr>
              <a:t>地址</a:t>
            </a:r>
          </a:p>
        </p:txBody>
      </p:sp>
      <p:sp>
        <p:nvSpPr>
          <p:cNvPr id="578562" name="Rectangle 3"/>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IEEE 802 </a:t>
            </a:r>
            <a:r>
              <a:rPr lang="zh-CN" altLang="zh-CN" sz="2800" dirty="0" smtClean="0">
                <a:ea typeface="黑体" panose="02010609060101010101" pitchFamily="49" charset="-122"/>
              </a:rPr>
              <a:t>标准规定</a:t>
            </a:r>
            <a:r>
              <a:rPr lang="en-US" altLang="zh-CN" sz="2800" dirty="0" smtClean="0">
                <a:ea typeface="黑体" panose="02010609060101010101" pitchFamily="49" charset="-122"/>
              </a:rPr>
              <a:t> MAC </a:t>
            </a:r>
            <a:r>
              <a:rPr lang="zh-CN" altLang="zh-CN" sz="2800" dirty="0" smtClean="0">
                <a:ea typeface="黑体" panose="02010609060101010101" pitchFamily="49" charset="-122"/>
              </a:rPr>
              <a:t>地址字段可采用</a:t>
            </a:r>
            <a:r>
              <a:rPr lang="en-US" altLang="zh-CN" sz="2800" dirty="0" smtClean="0">
                <a:ea typeface="黑体" panose="02010609060101010101" pitchFamily="49" charset="-122"/>
              </a:rPr>
              <a:t> </a:t>
            </a:r>
            <a:r>
              <a:rPr lang="en-US" altLang="zh-CN" sz="2800" dirty="0" smtClean="0">
                <a:solidFill>
                  <a:srgbClr val="0000CC"/>
                </a:solidFill>
                <a:ea typeface="黑体" panose="02010609060101010101" pitchFamily="49" charset="-122"/>
              </a:rPr>
              <a:t>6 </a:t>
            </a:r>
            <a:r>
              <a:rPr lang="zh-CN" altLang="zh-CN" sz="2800" dirty="0" smtClean="0">
                <a:solidFill>
                  <a:srgbClr val="0000CC"/>
                </a:solidFill>
                <a:ea typeface="黑体" panose="02010609060101010101" pitchFamily="49" charset="-122"/>
              </a:rPr>
              <a:t>字节</a:t>
            </a:r>
            <a:r>
              <a:rPr lang="en-US" altLang="zh-CN" sz="2800" dirty="0" smtClean="0">
                <a:solidFill>
                  <a:srgbClr val="0000CC"/>
                </a:solidFill>
                <a:ea typeface="黑体" panose="02010609060101010101" pitchFamily="49" charset="-122"/>
              </a:rPr>
              <a:t> ( 48</a:t>
            </a:r>
            <a:r>
              <a:rPr lang="zh-CN" altLang="zh-CN" sz="2800" dirty="0" smtClean="0">
                <a:solidFill>
                  <a:srgbClr val="0000CC"/>
                </a:solidFill>
                <a:ea typeface="黑体" panose="02010609060101010101" pitchFamily="49" charset="-122"/>
              </a:rPr>
              <a:t>位</a:t>
            </a:r>
            <a:r>
              <a:rPr lang="en-US" altLang="zh-CN" sz="2800" dirty="0" smtClean="0">
                <a:solidFill>
                  <a:srgbClr val="0000CC"/>
                </a:solidFill>
                <a:ea typeface="黑体" panose="02010609060101010101" pitchFamily="49" charset="-122"/>
              </a:rPr>
              <a:t>)</a:t>
            </a:r>
            <a:r>
              <a:rPr lang="en-US" altLang="zh-CN" sz="2800" dirty="0" smtClean="0">
                <a:ea typeface="黑体" panose="02010609060101010101" pitchFamily="49" charset="-122"/>
              </a:rPr>
              <a:t> </a:t>
            </a:r>
            <a:r>
              <a:rPr lang="zh-CN" altLang="zh-CN" sz="2800" dirty="0" smtClean="0">
                <a:ea typeface="黑体" panose="02010609060101010101" pitchFamily="49" charset="-122"/>
              </a:rPr>
              <a:t>或</a:t>
            </a:r>
            <a:r>
              <a:rPr lang="en-US" altLang="zh-CN" sz="2800" dirty="0" smtClean="0">
                <a:ea typeface="黑体" panose="02010609060101010101" pitchFamily="49" charset="-122"/>
              </a:rPr>
              <a:t> 2 </a:t>
            </a:r>
            <a:r>
              <a:rPr lang="zh-CN" altLang="zh-CN" sz="2800" dirty="0" smtClean="0">
                <a:ea typeface="黑体" panose="02010609060101010101" pitchFamily="49" charset="-122"/>
              </a:rPr>
              <a:t>字节</a:t>
            </a:r>
            <a:r>
              <a:rPr lang="en-US" altLang="zh-CN" sz="2800" dirty="0" smtClean="0">
                <a:ea typeface="黑体" panose="02010609060101010101" pitchFamily="49" charset="-122"/>
              </a:rPr>
              <a:t> ( 16 </a:t>
            </a:r>
            <a:r>
              <a:rPr lang="zh-CN" altLang="zh-CN" sz="2800" dirty="0" smtClean="0">
                <a:ea typeface="黑体" panose="02010609060101010101" pitchFamily="49" charset="-122"/>
              </a:rPr>
              <a:t>位</a:t>
            </a:r>
            <a:r>
              <a:rPr lang="en-US" altLang="zh-CN" sz="2800" dirty="0" smtClean="0">
                <a:ea typeface="黑体" panose="02010609060101010101" pitchFamily="49" charset="-122"/>
              </a:rPr>
              <a:t>) </a:t>
            </a:r>
            <a:r>
              <a:rPr lang="zh-CN" altLang="zh-CN" sz="2800" dirty="0" smtClean="0">
                <a:ea typeface="黑体" panose="02010609060101010101" pitchFamily="49" charset="-122"/>
              </a:rPr>
              <a:t>这两种中的一种</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IEEE </a:t>
            </a:r>
            <a:r>
              <a:rPr lang="zh-CN" altLang="en-US" sz="2800" dirty="0" smtClean="0">
                <a:ea typeface="黑体" panose="02010609060101010101" pitchFamily="49" charset="-122"/>
              </a:rPr>
              <a:t>的注册管理机构 </a:t>
            </a:r>
            <a:r>
              <a:rPr lang="en-US" altLang="zh-CN" sz="2800" dirty="0" smtClean="0">
                <a:ea typeface="黑体" panose="02010609060101010101" pitchFamily="49" charset="-122"/>
              </a:rPr>
              <a:t>RA </a:t>
            </a:r>
            <a:r>
              <a:rPr lang="zh-CN" altLang="en-US" sz="2800" dirty="0" smtClean="0">
                <a:ea typeface="黑体" panose="02010609060101010101" pitchFamily="49" charset="-122"/>
              </a:rPr>
              <a:t>负责向厂家分配地址字段 </a:t>
            </a:r>
            <a:r>
              <a:rPr lang="en-US" altLang="zh-CN" sz="2800" dirty="0" smtClean="0">
                <a:ea typeface="黑体" panose="02010609060101010101" pitchFamily="49" charset="-122"/>
              </a:rPr>
              <a:t>6 </a:t>
            </a:r>
            <a:r>
              <a:rPr lang="zh-CN" altLang="zh-CN" sz="2800" dirty="0" smtClean="0">
                <a:ea typeface="黑体" panose="02010609060101010101" pitchFamily="49" charset="-122"/>
              </a:rPr>
              <a:t>个字节中的前三个字节</a:t>
            </a:r>
            <a:r>
              <a:rPr lang="en-US" altLang="zh-CN" sz="2800" dirty="0" smtClean="0">
                <a:ea typeface="黑体" panose="02010609060101010101" pitchFamily="49" charset="-122"/>
              </a:rPr>
              <a:t> (</a:t>
            </a:r>
            <a:r>
              <a:rPr lang="zh-CN" altLang="en-US" sz="2800" dirty="0" smtClean="0">
                <a:ea typeface="黑体" panose="02010609060101010101" pitchFamily="49" charset="-122"/>
              </a:rPr>
              <a:t>即</a:t>
            </a:r>
            <a:r>
              <a:rPr lang="zh-CN" altLang="en-US" sz="2800" dirty="0" smtClean="0">
                <a:solidFill>
                  <a:srgbClr val="0000FF"/>
                </a:solidFill>
                <a:ea typeface="黑体" panose="02010609060101010101" pitchFamily="49" charset="-122"/>
              </a:rPr>
              <a:t>高位 </a:t>
            </a:r>
            <a:r>
              <a:rPr lang="en-US" altLang="zh-CN" sz="2800" dirty="0" smtClean="0">
                <a:solidFill>
                  <a:srgbClr val="0000FF"/>
                </a:solidFill>
                <a:ea typeface="黑体" panose="02010609060101010101" pitchFamily="49" charset="-122"/>
              </a:rPr>
              <a:t>24 </a:t>
            </a:r>
            <a:r>
              <a:rPr lang="zh-CN" altLang="en-US" sz="2800" dirty="0" smtClean="0">
                <a:solidFill>
                  <a:srgbClr val="0000FF"/>
                </a:solidFill>
                <a:ea typeface="黑体" panose="02010609060101010101" pitchFamily="49" charset="-122"/>
              </a:rPr>
              <a:t>位</a:t>
            </a:r>
            <a:r>
              <a:rPr lang="en-US" altLang="zh-CN" sz="2800" dirty="0" smtClean="0">
                <a:ea typeface="黑体" panose="02010609060101010101" pitchFamily="49" charset="-122"/>
              </a:rPr>
              <a:t>)</a:t>
            </a:r>
            <a:r>
              <a:rPr lang="zh-CN" altLang="en-US" sz="2800" dirty="0" smtClean="0">
                <a:ea typeface="黑体" panose="02010609060101010101" pitchFamily="49" charset="-122"/>
              </a:rPr>
              <a:t>，称为</a:t>
            </a:r>
            <a:r>
              <a:rPr lang="zh-CN" altLang="zh-CN" sz="2800" dirty="0" smtClean="0">
                <a:solidFill>
                  <a:srgbClr val="0000FF"/>
                </a:solidFill>
                <a:ea typeface="黑体" panose="02010609060101010101" pitchFamily="49" charset="-122"/>
              </a:rPr>
              <a:t>组织唯一标识符</a:t>
            </a:r>
            <a:r>
              <a:rPr lang="zh-CN" altLang="en-US" sz="2800" dirty="0" smtClean="0">
                <a:solidFill>
                  <a:srgbClr val="0000FF"/>
                </a:solidFill>
                <a:ea typeface="黑体" panose="02010609060101010101" pitchFamily="49" charset="-122"/>
              </a:rPr>
              <a:t>。</a:t>
            </a:r>
          </a:p>
          <a:p>
            <a:r>
              <a:rPr lang="zh-CN" altLang="en-US" sz="2800" dirty="0" smtClean="0">
                <a:ea typeface="黑体" panose="02010609060101010101" pitchFamily="49" charset="-122"/>
              </a:rPr>
              <a:t>地址字段 </a:t>
            </a:r>
            <a:r>
              <a:rPr lang="en-US" altLang="zh-CN" sz="2800" dirty="0" smtClean="0">
                <a:ea typeface="黑体" panose="02010609060101010101" pitchFamily="49" charset="-122"/>
              </a:rPr>
              <a:t>6 </a:t>
            </a:r>
            <a:r>
              <a:rPr lang="zh-CN" altLang="zh-CN" sz="2800" dirty="0" smtClean="0">
                <a:ea typeface="黑体" panose="02010609060101010101" pitchFamily="49" charset="-122"/>
              </a:rPr>
              <a:t>个字节</a:t>
            </a:r>
            <a:r>
              <a:rPr lang="zh-CN" altLang="en-US" sz="2800" dirty="0" smtClean="0">
                <a:ea typeface="黑体" panose="02010609060101010101" pitchFamily="49" charset="-122"/>
              </a:rPr>
              <a:t>中的后三个字节 </a:t>
            </a:r>
            <a:r>
              <a:rPr lang="en-US" altLang="zh-CN" sz="2800" dirty="0" smtClean="0">
                <a:ea typeface="黑体" panose="02010609060101010101" pitchFamily="49" charset="-122"/>
              </a:rPr>
              <a:t>(</a:t>
            </a:r>
            <a:r>
              <a:rPr lang="zh-CN" altLang="en-US" sz="2800" dirty="0" smtClean="0">
                <a:ea typeface="黑体" panose="02010609060101010101" pitchFamily="49" charset="-122"/>
              </a:rPr>
              <a:t>即</a:t>
            </a:r>
            <a:r>
              <a:rPr lang="zh-CN" altLang="en-US" sz="2800" dirty="0" smtClean="0">
                <a:solidFill>
                  <a:srgbClr val="0000FF"/>
                </a:solidFill>
                <a:ea typeface="黑体" panose="02010609060101010101" pitchFamily="49" charset="-122"/>
              </a:rPr>
              <a:t>低位 </a:t>
            </a:r>
            <a:r>
              <a:rPr lang="en-US" altLang="zh-CN" sz="2800" dirty="0" smtClean="0">
                <a:solidFill>
                  <a:srgbClr val="0000FF"/>
                </a:solidFill>
                <a:ea typeface="黑体" panose="02010609060101010101" pitchFamily="49" charset="-122"/>
              </a:rPr>
              <a:t>24 </a:t>
            </a:r>
            <a:r>
              <a:rPr lang="zh-CN" altLang="en-US" sz="2800" dirty="0" smtClean="0">
                <a:solidFill>
                  <a:srgbClr val="0000FF"/>
                </a:solidFill>
                <a:ea typeface="黑体" panose="02010609060101010101" pitchFamily="49" charset="-122"/>
              </a:rPr>
              <a:t>位</a:t>
            </a:r>
            <a:r>
              <a:rPr lang="en-US" altLang="zh-CN" sz="2800" dirty="0" smtClean="0">
                <a:ea typeface="黑体" panose="02010609060101010101" pitchFamily="49" charset="-122"/>
              </a:rPr>
              <a:t>) </a:t>
            </a:r>
            <a:r>
              <a:rPr lang="zh-CN" altLang="en-US" sz="2800" dirty="0" smtClean="0">
                <a:ea typeface="黑体" panose="02010609060101010101" pitchFamily="49" charset="-122"/>
              </a:rPr>
              <a:t>由厂家自行指派，称为</a:t>
            </a:r>
            <a:r>
              <a:rPr lang="zh-CN" altLang="en-US" sz="2800" dirty="0" smtClean="0">
                <a:solidFill>
                  <a:srgbClr val="0000FF"/>
                </a:solidFill>
                <a:ea typeface="黑体" panose="02010609060101010101" pitchFamily="49" charset="-122"/>
              </a:rPr>
              <a:t>扩展唯一</a:t>
            </a:r>
            <a:r>
              <a:rPr lang="zh-CN" altLang="en-US" sz="2800" dirty="0" smtClean="0">
                <a:solidFill>
                  <a:srgbClr val="0000FF"/>
                </a:solidFill>
                <a:ea typeface="黑体" panose="02010609060101010101" pitchFamily="49" charset="-122"/>
              </a:rPr>
              <a:t>标识符，</a:t>
            </a:r>
            <a:r>
              <a:rPr lang="zh-CN" altLang="en-US" sz="2800" dirty="0" smtClean="0">
                <a:solidFill>
                  <a:srgbClr val="FF0000"/>
                </a:solidFill>
                <a:ea typeface="黑体" panose="02010609060101010101" pitchFamily="49" charset="-122"/>
              </a:rPr>
              <a:t>必须保证生产出的适配器没有重复地址。</a:t>
            </a:r>
          </a:p>
        </p:txBody>
      </p:sp>
      <p:grpSp>
        <p:nvGrpSpPr>
          <p:cNvPr id="578563" name="组合 7"/>
          <p:cNvGrpSpPr>
            <a:grpSpLocks/>
          </p:cNvGrpSpPr>
          <p:nvPr/>
        </p:nvGrpSpPr>
        <p:grpSpPr bwMode="auto">
          <a:xfrm>
            <a:off x="2360613" y="5157788"/>
            <a:ext cx="5184775" cy="1366837"/>
            <a:chOff x="2360712" y="5229200"/>
            <a:chExt cx="5184576" cy="1368152"/>
          </a:xfrm>
        </p:grpSpPr>
        <p:grpSp>
          <p:nvGrpSpPr>
            <p:cNvPr id="578564" name="组合 3"/>
            <p:cNvGrpSpPr>
              <a:grpSpLocks/>
            </p:cNvGrpSpPr>
            <p:nvPr/>
          </p:nvGrpSpPr>
          <p:grpSpPr bwMode="auto">
            <a:xfrm>
              <a:off x="2360712" y="5229200"/>
              <a:ext cx="5184576" cy="864096"/>
              <a:chOff x="2000672" y="5157192"/>
              <a:chExt cx="5184576" cy="864096"/>
            </a:xfrm>
          </p:grpSpPr>
          <p:sp>
            <p:nvSpPr>
              <p:cNvPr id="578565" name="矩形 1"/>
              <p:cNvSpPr>
                <a:spLocks noChangeArrowheads="1"/>
              </p:cNvSpPr>
              <p:nvPr/>
            </p:nvSpPr>
            <p:spPr bwMode="auto">
              <a:xfrm>
                <a:off x="2000672" y="5517232"/>
                <a:ext cx="2592288" cy="504056"/>
              </a:xfrm>
              <a:prstGeom prst="rect">
                <a:avLst/>
              </a:prstGeom>
              <a:solidFill>
                <a:srgbClr val="FFFF66"/>
              </a:solidFill>
              <a:ln w="19050">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CC"/>
                    </a:solidFill>
                    <a:ea typeface="黑体" panose="02010609060101010101" pitchFamily="49" charset="-122"/>
                  </a:rPr>
                  <a:t>组织唯一标识符</a:t>
                </a:r>
              </a:p>
            </p:txBody>
          </p:sp>
          <p:sp>
            <p:nvSpPr>
              <p:cNvPr id="578566" name="矩形 4"/>
              <p:cNvSpPr>
                <a:spLocks noChangeArrowheads="1"/>
              </p:cNvSpPr>
              <p:nvPr/>
            </p:nvSpPr>
            <p:spPr bwMode="auto">
              <a:xfrm>
                <a:off x="4592960" y="5517232"/>
                <a:ext cx="2592288" cy="504056"/>
              </a:xfrm>
              <a:prstGeom prst="rect">
                <a:avLst/>
              </a:prstGeom>
              <a:solidFill>
                <a:srgbClr val="FF99FF"/>
              </a:solidFill>
              <a:ln w="19050">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CC"/>
                    </a:solidFill>
                    <a:ea typeface="黑体" panose="02010609060101010101" pitchFamily="49" charset="-122"/>
                  </a:rPr>
                  <a:t>扩展唯一标识符</a:t>
                </a:r>
              </a:p>
            </p:txBody>
          </p:sp>
          <p:sp>
            <p:nvSpPr>
              <p:cNvPr id="578567" name="TextBox 2"/>
              <p:cNvSpPr txBox="1">
                <a:spLocks noChangeArrowheads="1"/>
              </p:cNvSpPr>
              <p:nvPr/>
            </p:nvSpPr>
            <p:spPr bwMode="auto">
              <a:xfrm>
                <a:off x="2269215" y="5157192"/>
                <a:ext cx="21146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3 </a:t>
                </a:r>
                <a:r>
                  <a:rPr lang="zh-CN" altLang="en-US" sz="2000" b="1">
                    <a:ea typeface="黑体" panose="02010609060101010101" pitchFamily="49" charset="-122"/>
                  </a:rPr>
                  <a:t>字节 （</a:t>
                </a:r>
                <a:r>
                  <a:rPr lang="en-US" altLang="zh-CN" sz="2000" b="1">
                    <a:ea typeface="黑体" panose="02010609060101010101" pitchFamily="49" charset="-122"/>
                  </a:rPr>
                  <a:t>24 </a:t>
                </a:r>
                <a:r>
                  <a:rPr lang="zh-CN" altLang="en-US" sz="2000" b="1">
                    <a:ea typeface="黑体" panose="02010609060101010101" pitchFamily="49" charset="-122"/>
                  </a:rPr>
                  <a:t>位）</a:t>
                </a:r>
              </a:p>
            </p:txBody>
          </p:sp>
          <p:sp>
            <p:nvSpPr>
              <p:cNvPr id="578568" name="TextBox 6"/>
              <p:cNvSpPr txBox="1">
                <a:spLocks noChangeArrowheads="1"/>
              </p:cNvSpPr>
              <p:nvPr/>
            </p:nvSpPr>
            <p:spPr bwMode="auto">
              <a:xfrm>
                <a:off x="4831764" y="5157192"/>
                <a:ext cx="211468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3 </a:t>
                </a:r>
                <a:r>
                  <a:rPr lang="zh-CN" altLang="en-US" sz="2000" b="1">
                    <a:ea typeface="黑体" panose="02010609060101010101" pitchFamily="49" charset="-122"/>
                  </a:rPr>
                  <a:t>字节 （</a:t>
                </a:r>
                <a:r>
                  <a:rPr lang="en-US" altLang="zh-CN" sz="2000" b="1">
                    <a:ea typeface="黑体" panose="02010609060101010101" pitchFamily="49" charset="-122"/>
                  </a:rPr>
                  <a:t>24 </a:t>
                </a:r>
                <a:r>
                  <a:rPr lang="zh-CN" altLang="en-US" sz="2000" b="1">
                    <a:ea typeface="黑体" panose="02010609060101010101" pitchFamily="49" charset="-122"/>
                  </a:rPr>
                  <a:t>位）</a:t>
                </a:r>
              </a:p>
            </p:txBody>
          </p:sp>
        </p:grpSp>
        <p:sp>
          <p:nvSpPr>
            <p:cNvPr id="578569" name="矩形 5"/>
            <p:cNvSpPr>
              <a:spLocks noChangeArrowheads="1"/>
            </p:cNvSpPr>
            <p:nvPr/>
          </p:nvSpPr>
          <p:spPr bwMode="auto">
            <a:xfrm>
              <a:off x="3512840" y="6135687"/>
              <a:ext cx="28012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48 </a:t>
              </a:r>
              <a:r>
                <a:rPr lang="zh-CN" altLang="en-US" sz="2400" b="1">
                  <a:ea typeface="黑体" panose="02010609060101010101" pitchFamily="49" charset="-122"/>
                </a:rPr>
                <a:t>位的 </a:t>
              </a:r>
              <a:r>
                <a:rPr lang="en-US" altLang="zh-CN" sz="2400" b="1">
                  <a:ea typeface="黑体" panose="02010609060101010101" pitchFamily="49" charset="-122"/>
                </a:rPr>
                <a:t>MAC </a:t>
              </a:r>
              <a:r>
                <a:rPr lang="zh-CN" altLang="en-US" sz="2400" b="1">
                  <a:ea typeface="黑体" panose="02010609060101010101" pitchFamily="49" charset="-122"/>
                </a:rPr>
                <a:t>地址</a:t>
              </a:r>
            </a:p>
          </p:txBody>
        </p:sp>
      </p:grpSp>
      <p:sp>
        <p:nvSpPr>
          <p:cNvPr id="578570" name="灯片编号占位符 1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1E4037-1D29-46D2-8012-512A5B49D613}" type="slidenum">
              <a:rPr lang="zh-CN" altLang="en-US" smtClean="0"/>
              <a:pPr eaLnBrk="1" hangingPunct="1"/>
              <a:t>11</a:t>
            </a:fld>
            <a:endParaRPr lang="en-US" altLang="zh-CN" smtClean="0"/>
          </a:p>
        </p:txBody>
      </p:sp>
      <p:sp>
        <p:nvSpPr>
          <p:cNvPr id="578571" name="页脚占位符 1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48 </a:t>
            </a:r>
            <a:r>
              <a:rPr lang="zh-CN" altLang="en-US" smtClean="0">
                <a:ea typeface="黑体" panose="02010609060101010101" pitchFamily="49" charset="-122"/>
              </a:rPr>
              <a:t>位的 </a:t>
            </a:r>
            <a:r>
              <a:rPr lang="en-US" altLang="zh-CN" smtClean="0">
                <a:ea typeface="黑体" panose="02010609060101010101" pitchFamily="49" charset="-122"/>
              </a:rPr>
              <a:t>MAC </a:t>
            </a:r>
            <a:r>
              <a:rPr lang="zh-CN" altLang="en-US" smtClean="0">
                <a:ea typeface="黑体" panose="02010609060101010101" pitchFamily="49" charset="-122"/>
              </a:rPr>
              <a:t>地址</a:t>
            </a:r>
          </a:p>
        </p:txBody>
      </p:sp>
      <p:sp>
        <p:nvSpPr>
          <p:cNvPr id="579586" name="Rectangle 3"/>
          <p:cNvSpPr>
            <a:spLocks noGrp="1" noChangeArrowheads="1"/>
          </p:cNvSpPr>
          <p:nvPr>
            <p:ph idx="1"/>
          </p:nvPr>
        </p:nvSpPr>
        <p:spPr>
          <a:xfrm>
            <a:off x="495300" y="1196975"/>
            <a:ext cx="9066213" cy="4933950"/>
          </a:xfrm>
        </p:spPr>
        <p:txBody>
          <a:bodyPr/>
          <a:lstStyle/>
          <a:p>
            <a:pPr>
              <a:spcBef>
                <a:spcPts val="1200"/>
              </a:spcBef>
            </a:pPr>
            <a:r>
              <a:rPr lang="zh-CN" altLang="en-US" dirty="0" smtClean="0">
                <a:ea typeface="黑体" panose="02010609060101010101" pitchFamily="49" charset="-122"/>
              </a:rPr>
              <a:t>一个地址块可以生成 </a:t>
            </a:r>
            <a:r>
              <a:rPr lang="en-US" altLang="zh-CN" dirty="0" smtClean="0">
                <a:ea typeface="黑体" panose="02010609060101010101" pitchFamily="49" charset="-122"/>
              </a:rPr>
              <a:t>2</a:t>
            </a:r>
            <a:r>
              <a:rPr lang="en-US" altLang="zh-CN" baseline="30000" dirty="0" smtClean="0">
                <a:ea typeface="黑体" panose="02010609060101010101" pitchFamily="49" charset="-122"/>
              </a:rPr>
              <a:t>24</a:t>
            </a:r>
            <a:r>
              <a:rPr lang="en-US" altLang="zh-CN" dirty="0" smtClean="0">
                <a:ea typeface="黑体" panose="02010609060101010101" pitchFamily="49" charset="-122"/>
              </a:rPr>
              <a:t> </a:t>
            </a:r>
            <a:r>
              <a:rPr lang="zh-CN" altLang="en-US" dirty="0" smtClean="0">
                <a:ea typeface="黑体" panose="02010609060101010101" pitchFamily="49" charset="-122"/>
              </a:rPr>
              <a:t>个不同的地址。这种 </a:t>
            </a:r>
            <a:r>
              <a:rPr lang="en-US" altLang="zh-CN" dirty="0" smtClean="0">
                <a:ea typeface="黑体" panose="02010609060101010101" pitchFamily="49" charset="-122"/>
              </a:rPr>
              <a:t>48 </a:t>
            </a:r>
            <a:r>
              <a:rPr lang="zh-CN" altLang="en-US" dirty="0" smtClean="0">
                <a:ea typeface="黑体" panose="02010609060101010101" pitchFamily="49" charset="-122"/>
              </a:rPr>
              <a:t>位地址称为 </a:t>
            </a:r>
            <a:r>
              <a:rPr lang="en-US" altLang="zh-CN" dirty="0" smtClean="0">
                <a:ea typeface="黑体" panose="02010609060101010101" pitchFamily="49" charset="-122"/>
              </a:rPr>
              <a:t>MAC-48</a:t>
            </a:r>
            <a:r>
              <a:rPr lang="zh-CN" altLang="en-US" dirty="0" smtClean="0">
                <a:ea typeface="黑体" panose="02010609060101010101" pitchFamily="49" charset="-122"/>
              </a:rPr>
              <a:t>，它的通用名称是 </a:t>
            </a:r>
            <a:r>
              <a:rPr lang="en-US" altLang="zh-CN" dirty="0" smtClean="0">
                <a:ea typeface="黑体" panose="02010609060101010101" pitchFamily="49" charset="-122"/>
              </a:rPr>
              <a:t>EUI-48</a:t>
            </a:r>
            <a:r>
              <a:rPr lang="zh-CN" altLang="en-US" dirty="0" smtClean="0">
                <a:ea typeface="黑体" panose="02010609060101010101" pitchFamily="49" charset="-122"/>
              </a:rPr>
              <a:t>（</a:t>
            </a:r>
            <a:r>
              <a:rPr lang="en-US" altLang="zh-CN" dirty="0" smtClean="0">
                <a:ea typeface="黑体" panose="02010609060101010101" pitchFamily="49" charset="-122"/>
              </a:rPr>
              <a:t>Extended Unique Identifier</a:t>
            </a:r>
            <a:r>
              <a:rPr lang="zh-CN" altLang="en-US" dirty="0" smtClean="0">
                <a:ea typeface="黑体" panose="02010609060101010101" pitchFamily="49" charset="-122"/>
              </a:rPr>
              <a:t>）。</a:t>
            </a:r>
            <a:endParaRPr lang="zh-CN" altLang="en-US" dirty="0" smtClean="0">
              <a:ea typeface="黑体" panose="02010609060101010101" pitchFamily="49" charset="-122"/>
            </a:endParaRPr>
          </a:p>
          <a:p>
            <a:pPr>
              <a:spcBef>
                <a:spcPts val="1200"/>
              </a:spcBef>
            </a:pPr>
            <a:r>
              <a:rPr lang="zh-CN" altLang="zh-CN" dirty="0" smtClean="0">
                <a:ea typeface="黑体" panose="02010609060101010101" pitchFamily="49" charset="-122"/>
              </a:rPr>
              <a:t>生产适配器时</a:t>
            </a:r>
            <a:r>
              <a:rPr lang="zh-CN" altLang="en-US" dirty="0" smtClean="0">
                <a:ea typeface="黑体" panose="02010609060101010101" pitchFamily="49" charset="-122"/>
              </a:rPr>
              <a:t>，</a:t>
            </a:r>
            <a:r>
              <a:rPr lang="en-US" altLang="zh-CN" dirty="0" smtClean="0">
                <a:ea typeface="黑体" panose="02010609060101010101" pitchFamily="49" charset="-122"/>
              </a:rPr>
              <a:t>6 </a:t>
            </a:r>
            <a:r>
              <a:rPr lang="zh-CN" altLang="zh-CN" dirty="0" smtClean="0">
                <a:ea typeface="黑体" panose="02010609060101010101" pitchFamily="49" charset="-122"/>
              </a:rPr>
              <a:t>字节的</a:t>
            </a:r>
            <a:r>
              <a:rPr lang="en-US" altLang="zh-CN" dirty="0" smtClean="0">
                <a:ea typeface="黑体" panose="02010609060101010101" pitchFamily="49" charset="-122"/>
              </a:rPr>
              <a:t> MAC </a:t>
            </a:r>
            <a:r>
              <a:rPr lang="zh-CN" altLang="zh-CN" dirty="0" smtClean="0">
                <a:ea typeface="黑体" panose="02010609060101010101" pitchFamily="49" charset="-122"/>
              </a:rPr>
              <a:t>地址已被</a:t>
            </a:r>
            <a:r>
              <a:rPr lang="zh-CN" altLang="zh-CN" dirty="0" smtClean="0">
                <a:solidFill>
                  <a:srgbClr val="0000CC"/>
                </a:solidFill>
                <a:ea typeface="黑体" panose="02010609060101010101" pitchFamily="49" charset="-122"/>
              </a:rPr>
              <a:t>固化在适配器的</a:t>
            </a:r>
            <a:r>
              <a:rPr lang="en-US" altLang="zh-CN" dirty="0" smtClean="0">
                <a:solidFill>
                  <a:srgbClr val="0000CC"/>
                </a:solidFill>
                <a:ea typeface="黑体" panose="02010609060101010101" pitchFamily="49" charset="-122"/>
              </a:rPr>
              <a:t> ROM</a:t>
            </a:r>
            <a:r>
              <a:rPr lang="zh-CN" altLang="en-US" dirty="0" smtClean="0">
                <a:ea typeface="黑体" panose="02010609060101010101" pitchFamily="49" charset="-122"/>
              </a:rPr>
              <a:t>，</a:t>
            </a:r>
            <a:r>
              <a:rPr lang="zh-CN" altLang="zh-CN" dirty="0" smtClean="0">
                <a:ea typeface="黑体" panose="02010609060101010101" pitchFamily="49" charset="-122"/>
              </a:rPr>
              <a:t>因此，</a:t>
            </a:r>
            <a:r>
              <a:rPr lang="en-US" altLang="zh-CN" dirty="0" smtClean="0">
                <a:ea typeface="黑体" panose="02010609060101010101" pitchFamily="49" charset="-122"/>
              </a:rPr>
              <a:t>MAC </a:t>
            </a:r>
            <a:r>
              <a:rPr lang="zh-CN" altLang="zh-CN" dirty="0" smtClean="0">
                <a:ea typeface="黑体" panose="02010609060101010101" pitchFamily="49" charset="-122"/>
              </a:rPr>
              <a:t>地址也</a:t>
            </a:r>
            <a:r>
              <a:rPr lang="zh-CN" altLang="en-US" dirty="0" smtClean="0">
                <a:ea typeface="黑体" panose="02010609060101010101" pitchFamily="49" charset="-122"/>
              </a:rPr>
              <a:t>叫做</a:t>
            </a:r>
            <a:r>
              <a:rPr lang="zh-CN" altLang="zh-CN" dirty="0" smtClean="0">
                <a:solidFill>
                  <a:srgbClr val="FF0000"/>
                </a:solidFill>
                <a:ea typeface="黑体" panose="02010609060101010101" pitchFamily="49" charset="-122"/>
              </a:rPr>
              <a:t>硬件地址</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(hardware address)</a:t>
            </a:r>
            <a:r>
              <a:rPr lang="zh-CN" altLang="zh-CN" dirty="0" smtClean="0">
                <a:ea typeface="黑体" panose="02010609060101010101" pitchFamily="49" charset="-122"/>
              </a:rPr>
              <a:t>或</a:t>
            </a:r>
            <a:r>
              <a:rPr lang="zh-CN" altLang="zh-CN" dirty="0" smtClean="0">
                <a:solidFill>
                  <a:srgbClr val="FF0000"/>
                </a:solidFill>
                <a:ea typeface="黑体" panose="02010609060101010101" pitchFamily="49" charset="-122"/>
              </a:rPr>
              <a:t>物理地址</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a:spcBef>
                <a:spcPts val="1200"/>
              </a:spcBef>
            </a:pPr>
            <a:r>
              <a:rPr lang="zh-CN" altLang="en-US" dirty="0" smtClean="0">
                <a:ea typeface="黑体" panose="02010609060101010101" pitchFamily="49" charset="-122"/>
              </a:rPr>
              <a:t>“</a:t>
            </a:r>
            <a:r>
              <a:rPr lang="en-US" altLang="zh-CN" dirty="0" smtClean="0">
                <a:ea typeface="黑体" panose="02010609060101010101" pitchFamily="49" charset="-122"/>
              </a:rPr>
              <a:t>MAC</a:t>
            </a:r>
            <a:r>
              <a:rPr lang="zh-CN" altLang="en-US" dirty="0" smtClean="0">
                <a:ea typeface="黑体" panose="02010609060101010101" pitchFamily="49" charset="-122"/>
              </a:rPr>
              <a:t>地址”实际上就是适配器地址或适配器标识符 </a:t>
            </a:r>
            <a:r>
              <a:rPr lang="en-US" altLang="zh-CN" dirty="0" smtClean="0">
                <a:ea typeface="黑体" panose="02010609060101010101" pitchFamily="49" charset="-122"/>
              </a:rPr>
              <a:t>EUI-48</a:t>
            </a:r>
            <a:r>
              <a:rPr lang="zh-CN" altLang="en-US" dirty="0" smtClean="0">
                <a:ea typeface="黑体" panose="02010609060101010101" pitchFamily="49" charset="-122"/>
              </a:rPr>
              <a:t>。</a:t>
            </a:r>
          </a:p>
        </p:txBody>
      </p:sp>
      <p:sp>
        <p:nvSpPr>
          <p:cNvPr id="5795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CB6C74-D6EC-439A-B036-CD0A155B5C88}" type="slidenum">
              <a:rPr lang="zh-CN" altLang="en-US" smtClean="0"/>
              <a:pPr eaLnBrk="1" hangingPunct="1"/>
              <a:t>12</a:t>
            </a:fld>
            <a:endParaRPr lang="en-US" altLang="zh-CN" smtClean="0"/>
          </a:p>
        </p:txBody>
      </p:sp>
      <p:sp>
        <p:nvSpPr>
          <p:cNvPr id="5795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0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单站地址，组地址，广播地址</a:t>
            </a:r>
          </a:p>
        </p:txBody>
      </p:sp>
      <p:sp>
        <p:nvSpPr>
          <p:cNvPr id="580610"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IEEE </a:t>
            </a:r>
            <a:r>
              <a:rPr lang="zh-CN" altLang="zh-CN" sz="2800" dirty="0" smtClean="0">
                <a:ea typeface="黑体" panose="02010609060101010101" pitchFamily="49" charset="-122"/>
              </a:rPr>
              <a:t>规定地址字段的第一字节的最低位为</a:t>
            </a:r>
            <a:r>
              <a:rPr lang="en-US" altLang="zh-CN" sz="2800" dirty="0" smtClean="0">
                <a:ea typeface="黑体" panose="02010609060101010101" pitchFamily="49" charset="-122"/>
              </a:rPr>
              <a:t> I/G </a:t>
            </a:r>
            <a:r>
              <a:rPr lang="zh-CN" altLang="zh-CN" sz="2800" dirty="0" smtClean="0">
                <a:ea typeface="黑体" panose="02010609060101010101" pitchFamily="49" charset="-122"/>
              </a:rPr>
              <a:t>位。</a:t>
            </a:r>
            <a:r>
              <a:rPr lang="en-US" altLang="zh-CN" sz="2800" dirty="0" smtClean="0">
                <a:ea typeface="黑体" panose="02010609060101010101" pitchFamily="49" charset="-122"/>
              </a:rPr>
              <a:t>I/G </a:t>
            </a:r>
            <a:r>
              <a:rPr lang="zh-CN" altLang="zh-CN" sz="2800" dirty="0" smtClean="0">
                <a:ea typeface="黑体" panose="02010609060101010101" pitchFamily="49" charset="-122"/>
              </a:rPr>
              <a:t>表示</a:t>
            </a:r>
            <a:r>
              <a:rPr lang="en-US" altLang="zh-CN" sz="2800" dirty="0" smtClean="0">
                <a:ea typeface="黑体" panose="02010609060101010101" pitchFamily="49" charset="-122"/>
              </a:rPr>
              <a:t> Individual / Group</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solidFill>
                  <a:srgbClr val="0000FF"/>
                </a:solidFill>
                <a:ea typeface="黑体" panose="02010609060101010101" pitchFamily="49" charset="-122"/>
              </a:rPr>
              <a:t>当</a:t>
            </a:r>
            <a:r>
              <a:rPr lang="en-US" altLang="zh-CN" sz="2800" dirty="0" smtClean="0">
                <a:solidFill>
                  <a:srgbClr val="0000FF"/>
                </a:solidFill>
                <a:ea typeface="黑体" panose="02010609060101010101" pitchFamily="49" charset="-122"/>
              </a:rPr>
              <a:t> I/G</a:t>
            </a:r>
            <a:r>
              <a:rPr lang="zh-CN" altLang="zh-CN" sz="2800" dirty="0" smtClean="0">
                <a:solidFill>
                  <a:srgbClr val="0000FF"/>
                </a:solidFill>
                <a:ea typeface="黑体" panose="02010609060101010101" pitchFamily="49" charset="-122"/>
              </a:rPr>
              <a:t>位</a:t>
            </a:r>
            <a:r>
              <a:rPr lang="en-US" altLang="zh-CN" sz="2800" dirty="0" smtClean="0">
                <a:solidFill>
                  <a:srgbClr val="0000FF"/>
                </a:solidFill>
                <a:ea typeface="黑体" panose="02010609060101010101" pitchFamily="49" charset="-122"/>
              </a:rPr>
              <a:t> = 0 </a:t>
            </a:r>
            <a:r>
              <a:rPr lang="zh-CN" altLang="zh-CN" sz="2800" dirty="0" smtClean="0">
                <a:solidFill>
                  <a:srgbClr val="0000FF"/>
                </a:solidFill>
                <a:ea typeface="黑体" panose="02010609060101010101" pitchFamily="49" charset="-122"/>
              </a:rPr>
              <a:t>时，</a:t>
            </a:r>
            <a:r>
              <a:rPr lang="zh-CN" altLang="zh-CN" sz="2800" dirty="0" smtClean="0">
                <a:ea typeface="黑体" panose="02010609060101010101" pitchFamily="49" charset="-122"/>
              </a:rPr>
              <a:t>地址字段表示一个</a:t>
            </a:r>
            <a:r>
              <a:rPr lang="zh-CN" altLang="zh-CN" sz="2800" dirty="0" smtClean="0">
                <a:solidFill>
                  <a:srgbClr val="FF0000"/>
                </a:solidFill>
                <a:ea typeface="黑体" panose="02010609060101010101" pitchFamily="49" charset="-122"/>
              </a:rPr>
              <a:t>单站地址。</a:t>
            </a:r>
            <a:endParaRPr lang="en-US" altLang="zh-CN" sz="2800" dirty="0" smtClean="0">
              <a:solidFill>
                <a:srgbClr val="FF0000"/>
              </a:solidFill>
              <a:ea typeface="黑体" panose="02010609060101010101" pitchFamily="49" charset="-122"/>
            </a:endParaRPr>
          </a:p>
          <a:p>
            <a:r>
              <a:rPr lang="zh-CN" altLang="zh-CN" sz="2800" dirty="0" smtClean="0">
                <a:solidFill>
                  <a:srgbClr val="0000FF"/>
                </a:solidFill>
                <a:ea typeface="黑体" panose="02010609060101010101" pitchFamily="49" charset="-122"/>
              </a:rPr>
              <a:t>当</a:t>
            </a:r>
            <a:r>
              <a:rPr lang="en-US" altLang="zh-CN" sz="2800" dirty="0" smtClean="0">
                <a:solidFill>
                  <a:srgbClr val="0000FF"/>
                </a:solidFill>
                <a:ea typeface="黑体" panose="02010609060101010101" pitchFamily="49" charset="-122"/>
              </a:rPr>
              <a:t> I/G</a:t>
            </a:r>
            <a:r>
              <a:rPr lang="zh-CN" altLang="zh-CN" sz="2800" dirty="0" smtClean="0">
                <a:solidFill>
                  <a:srgbClr val="0000FF"/>
                </a:solidFill>
                <a:ea typeface="黑体" panose="02010609060101010101" pitchFamily="49" charset="-122"/>
              </a:rPr>
              <a:t>位</a:t>
            </a:r>
            <a:r>
              <a:rPr lang="en-US" altLang="zh-CN" sz="2800" dirty="0" smtClean="0">
                <a:solidFill>
                  <a:srgbClr val="0000FF"/>
                </a:solidFill>
                <a:ea typeface="黑体" panose="02010609060101010101" pitchFamily="49" charset="-122"/>
              </a:rPr>
              <a:t> = 1 </a:t>
            </a:r>
            <a:r>
              <a:rPr lang="zh-CN" altLang="zh-CN" sz="2800" dirty="0" smtClean="0">
                <a:solidFill>
                  <a:srgbClr val="0000FF"/>
                </a:solidFill>
                <a:ea typeface="黑体" panose="02010609060101010101" pitchFamily="49" charset="-122"/>
              </a:rPr>
              <a:t>时</a:t>
            </a:r>
            <a:r>
              <a:rPr lang="zh-CN" altLang="en-US" sz="2800" dirty="0" smtClean="0">
                <a:solidFill>
                  <a:srgbClr val="0000FF"/>
                </a:solidFill>
                <a:ea typeface="黑体" panose="02010609060101010101" pitchFamily="49" charset="-122"/>
              </a:rPr>
              <a:t>，</a:t>
            </a:r>
            <a:r>
              <a:rPr lang="zh-CN" altLang="zh-CN" sz="2800" dirty="0" smtClean="0">
                <a:ea typeface="黑体" panose="02010609060101010101" pitchFamily="49" charset="-122"/>
              </a:rPr>
              <a:t>表示</a:t>
            </a:r>
            <a:r>
              <a:rPr lang="zh-CN" altLang="zh-CN" sz="2800" dirty="0" smtClean="0">
                <a:solidFill>
                  <a:srgbClr val="FF0000"/>
                </a:solidFill>
                <a:ea typeface="黑体" panose="02010609060101010101" pitchFamily="49" charset="-122"/>
              </a:rPr>
              <a:t>组地址，</a:t>
            </a:r>
            <a:r>
              <a:rPr lang="zh-CN" altLang="zh-CN" sz="2800" dirty="0" smtClean="0">
                <a:ea typeface="黑体" panose="02010609060101010101" pitchFamily="49" charset="-122"/>
              </a:rPr>
              <a:t>用来进行多播（以前曾译为组播）。</a:t>
            </a:r>
            <a:r>
              <a:rPr lang="zh-CN" altLang="en-US" sz="2800" dirty="0" smtClean="0">
                <a:ea typeface="黑体" panose="02010609060101010101" pitchFamily="49" charset="-122"/>
              </a:rPr>
              <a:t>此时</a:t>
            </a:r>
            <a:r>
              <a:rPr lang="zh-CN" altLang="zh-CN" sz="2800" dirty="0" smtClean="0">
                <a:ea typeface="黑体" panose="02010609060101010101" pitchFamily="49" charset="-122"/>
              </a:rPr>
              <a:t>，</a:t>
            </a:r>
            <a:r>
              <a:rPr lang="en-US" altLang="zh-CN" sz="2800" dirty="0" smtClean="0">
                <a:ea typeface="黑体" panose="02010609060101010101" pitchFamily="49" charset="-122"/>
              </a:rPr>
              <a:t>IEEE </a:t>
            </a:r>
            <a:r>
              <a:rPr lang="zh-CN" altLang="zh-CN" sz="2800" dirty="0" smtClean="0">
                <a:ea typeface="黑体" panose="02010609060101010101" pitchFamily="49" charset="-122"/>
              </a:rPr>
              <a:t>只分配地址字段前三个字节中的</a:t>
            </a:r>
            <a:r>
              <a:rPr lang="en-US" altLang="zh-CN" sz="2800" dirty="0" smtClean="0">
                <a:ea typeface="黑体" panose="02010609060101010101" pitchFamily="49" charset="-122"/>
              </a:rPr>
              <a:t> 23 </a:t>
            </a:r>
            <a:r>
              <a:rPr lang="zh-CN" altLang="zh-CN" sz="2800" dirty="0" smtClean="0">
                <a:ea typeface="黑体" panose="02010609060101010101" pitchFamily="49" charset="-122"/>
              </a:rPr>
              <a:t>位。</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当</a:t>
            </a:r>
            <a:r>
              <a:rPr lang="en-US" altLang="zh-CN" sz="2800" dirty="0" smtClean="0">
                <a:ea typeface="黑体" panose="02010609060101010101" pitchFamily="49" charset="-122"/>
              </a:rPr>
              <a:t> I/G </a:t>
            </a:r>
            <a:r>
              <a:rPr lang="zh-CN" altLang="zh-CN" sz="2800" dirty="0" smtClean="0">
                <a:ea typeface="黑体" panose="02010609060101010101" pitchFamily="49" charset="-122"/>
              </a:rPr>
              <a:t>位分别为</a:t>
            </a:r>
            <a:r>
              <a:rPr lang="en-US" altLang="zh-CN" sz="2800" dirty="0" smtClean="0">
                <a:ea typeface="黑体" panose="02010609060101010101" pitchFamily="49" charset="-122"/>
              </a:rPr>
              <a:t> 0 </a:t>
            </a:r>
            <a:r>
              <a:rPr lang="zh-CN" altLang="zh-CN" sz="2800" dirty="0" smtClean="0">
                <a:ea typeface="黑体" panose="02010609060101010101" pitchFamily="49" charset="-122"/>
              </a:rPr>
              <a:t>和</a:t>
            </a:r>
            <a:r>
              <a:rPr lang="en-US" altLang="zh-CN" sz="2800" dirty="0" smtClean="0">
                <a:ea typeface="黑体" panose="02010609060101010101" pitchFamily="49" charset="-122"/>
              </a:rPr>
              <a:t> 1 </a:t>
            </a:r>
            <a:r>
              <a:rPr lang="zh-CN" altLang="zh-CN" sz="2800" dirty="0" smtClean="0">
                <a:ea typeface="黑体" panose="02010609060101010101" pitchFamily="49" charset="-122"/>
              </a:rPr>
              <a:t>时，一个地址块可分别生成</a:t>
            </a:r>
            <a:r>
              <a:rPr lang="en-US" altLang="zh-CN" sz="2800" dirty="0" smtClean="0">
                <a:ea typeface="黑体" panose="02010609060101010101" pitchFamily="49" charset="-122"/>
              </a:rPr>
              <a:t> 2</a:t>
            </a:r>
            <a:r>
              <a:rPr lang="en-US" altLang="zh-CN" sz="2800" baseline="30000" dirty="0" smtClean="0">
                <a:ea typeface="黑体" panose="02010609060101010101" pitchFamily="49" charset="-122"/>
              </a:rPr>
              <a:t>23</a:t>
            </a:r>
            <a:r>
              <a:rPr lang="en-US" altLang="zh-CN" sz="2800" dirty="0" smtClean="0">
                <a:ea typeface="黑体" panose="02010609060101010101" pitchFamily="49" charset="-122"/>
              </a:rPr>
              <a:t> </a:t>
            </a:r>
            <a:r>
              <a:rPr lang="zh-CN" altLang="zh-CN" sz="2800" dirty="0" smtClean="0">
                <a:ea typeface="黑体" panose="02010609060101010101" pitchFamily="49" charset="-122"/>
              </a:rPr>
              <a:t>个单个站地址和</a:t>
            </a:r>
            <a:r>
              <a:rPr lang="en-US" altLang="zh-CN" sz="2800" dirty="0" smtClean="0">
                <a:ea typeface="黑体" panose="02010609060101010101" pitchFamily="49" charset="-122"/>
              </a:rPr>
              <a:t> 2</a:t>
            </a:r>
            <a:r>
              <a:rPr lang="en-US" altLang="zh-CN" sz="2800" baseline="30000" dirty="0" smtClean="0">
                <a:ea typeface="黑体" panose="02010609060101010101" pitchFamily="49" charset="-122"/>
              </a:rPr>
              <a:t>23</a:t>
            </a:r>
            <a:r>
              <a:rPr lang="en-US" altLang="zh-CN" sz="2800" dirty="0" smtClean="0">
                <a:ea typeface="黑体" panose="02010609060101010101" pitchFamily="49" charset="-122"/>
              </a:rPr>
              <a:t> </a:t>
            </a:r>
            <a:r>
              <a:rPr lang="zh-CN" altLang="zh-CN" sz="2800" dirty="0" smtClean="0">
                <a:ea typeface="黑体" panose="02010609060101010101" pitchFamily="49" charset="-122"/>
              </a:rPr>
              <a:t>个组地址。</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所有 </a:t>
            </a:r>
            <a:r>
              <a:rPr lang="en-US" altLang="zh-CN" sz="2800" dirty="0" smtClean="0">
                <a:ea typeface="黑体" panose="02010609060101010101" pitchFamily="49" charset="-122"/>
              </a:rPr>
              <a:t>48 </a:t>
            </a:r>
            <a:r>
              <a:rPr lang="zh-CN" altLang="en-US" sz="2800" dirty="0" smtClean="0">
                <a:ea typeface="黑体" panose="02010609060101010101" pitchFamily="49" charset="-122"/>
              </a:rPr>
              <a:t>位都为 </a:t>
            </a:r>
            <a:r>
              <a:rPr lang="en-US" altLang="zh-CN" sz="2800" dirty="0" smtClean="0">
                <a:ea typeface="黑体" panose="02010609060101010101" pitchFamily="49" charset="-122"/>
              </a:rPr>
              <a:t>1 </a:t>
            </a:r>
            <a:r>
              <a:rPr lang="zh-CN" altLang="en-US" sz="2800" dirty="0" smtClean="0">
                <a:ea typeface="黑体" panose="02010609060101010101" pitchFamily="49" charset="-122"/>
              </a:rPr>
              <a:t>时，为广播地址。只能作为目的地址使用。</a:t>
            </a:r>
          </a:p>
        </p:txBody>
      </p:sp>
      <p:sp>
        <p:nvSpPr>
          <p:cNvPr id="5806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F24CF9-F63A-4C6A-9EAC-312E2D6D53CD}" type="slidenum">
              <a:rPr lang="zh-CN" altLang="en-US" smtClean="0"/>
              <a:pPr eaLnBrk="1" hangingPunct="1"/>
              <a:t>13</a:t>
            </a:fld>
            <a:endParaRPr lang="en-US" altLang="zh-CN" smtClean="0"/>
          </a:p>
        </p:txBody>
      </p:sp>
      <p:sp>
        <p:nvSpPr>
          <p:cNvPr id="5806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全球管理</a:t>
            </a:r>
            <a:r>
              <a:rPr lang="zh-CN" altLang="en-US" smtClean="0">
                <a:ea typeface="黑体" panose="02010609060101010101" pitchFamily="49" charset="-122"/>
              </a:rPr>
              <a:t>与本地</a:t>
            </a:r>
            <a:r>
              <a:rPr lang="zh-CN" altLang="zh-CN" smtClean="0">
                <a:ea typeface="黑体" panose="02010609060101010101" pitchFamily="49" charset="-122"/>
              </a:rPr>
              <a:t>管理</a:t>
            </a:r>
            <a:endParaRPr lang="zh-CN" altLang="en-US" smtClean="0">
              <a:ea typeface="黑体" panose="02010609060101010101" pitchFamily="49" charset="-122"/>
            </a:endParaRPr>
          </a:p>
        </p:txBody>
      </p:sp>
      <p:sp>
        <p:nvSpPr>
          <p:cNvPr id="581634"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IEEE </a:t>
            </a:r>
            <a:r>
              <a:rPr lang="zh-CN" altLang="zh-CN" smtClean="0">
                <a:ea typeface="黑体" panose="02010609060101010101" pitchFamily="49" charset="-122"/>
              </a:rPr>
              <a:t>把地址字段第</a:t>
            </a:r>
            <a:r>
              <a:rPr lang="zh-CN" altLang="en-US" smtClean="0">
                <a:ea typeface="黑体" panose="02010609060101010101" pitchFamily="49" charset="-122"/>
              </a:rPr>
              <a:t>一</a:t>
            </a:r>
            <a:r>
              <a:rPr lang="zh-CN" altLang="zh-CN" smtClean="0">
                <a:ea typeface="黑体" panose="02010609060101010101" pitchFamily="49" charset="-122"/>
              </a:rPr>
              <a:t>字节的最低第</a:t>
            </a:r>
            <a:r>
              <a:rPr lang="en-US" altLang="zh-CN" smtClean="0">
                <a:ea typeface="黑体" panose="02010609060101010101" pitchFamily="49" charset="-122"/>
              </a:rPr>
              <a:t> 2 </a:t>
            </a:r>
            <a:r>
              <a:rPr lang="zh-CN" altLang="zh-CN" smtClean="0">
                <a:ea typeface="黑体" panose="02010609060101010101" pitchFamily="49" charset="-122"/>
              </a:rPr>
              <a:t>位规定为</a:t>
            </a:r>
            <a:r>
              <a:rPr lang="en-US" altLang="zh-CN" smtClean="0">
                <a:ea typeface="黑体" panose="02010609060101010101" pitchFamily="49" charset="-122"/>
              </a:rPr>
              <a:t> G/L </a:t>
            </a:r>
            <a:r>
              <a:rPr lang="zh-CN" altLang="zh-CN" smtClean="0">
                <a:ea typeface="黑体" panose="02010609060101010101" pitchFamily="49" charset="-122"/>
              </a:rPr>
              <a:t>位，表示</a:t>
            </a:r>
            <a:r>
              <a:rPr lang="en-US" altLang="zh-CN" smtClean="0">
                <a:ea typeface="黑体" panose="02010609060101010101" pitchFamily="49" charset="-122"/>
              </a:rPr>
              <a:t> Global / Local</a:t>
            </a:r>
            <a:r>
              <a:rPr lang="zh-CN" altLang="zh-CN" smtClean="0">
                <a:ea typeface="黑体" panose="02010609060101010101" pitchFamily="49" charset="-122"/>
              </a:rPr>
              <a:t>。</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当 </a:t>
            </a:r>
            <a:r>
              <a:rPr lang="en-US" altLang="zh-CN" smtClean="0">
                <a:solidFill>
                  <a:srgbClr val="0000FF"/>
                </a:solidFill>
                <a:ea typeface="黑体" panose="02010609060101010101" pitchFamily="49" charset="-122"/>
              </a:rPr>
              <a:t>G/L</a:t>
            </a:r>
            <a:r>
              <a:rPr lang="zh-CN" altLang="zh-CN" smtClean="0">
                <a:solidFill>
                  <a:srgbClr val="0000FF"/>
                </a:solidFill>
                <a:ea typeface="黑体" panose="02010609060101010101" pitchFamily="49" charset="-122"/>
              </a:rPr>
              <a:t>位</a:t>
            </a:r>
            <a:r>
              <a:rPr lang="en-US" altLang="zh-CN" smtClean="0">
                <a:solidFill>
                  <a:srgbClr val="0000FF"/>
                </a:solidFill>
                <a:ea typeface="黑体" panose="02010609060101010101" pitchFamily="49" charset="-122"/>
              </a:rPr>
              <a:t> = 0 </a:t>
            </a:r>
            <a:r>
              <a:rPr lang="zh-CN" altLang="zh-CN" smtClean="0">
                <a:solidFill>
                  <a:srgbClr val="0000FF"/>
                </a:solidFill>
                <a:ea typeface="黑体" panose="02010609060101010101" pitchFamily="49" charset="-122"/>
              </a:rPr>
              <a:t>时</a:t>
            </a:r>
            <a:r>
              <a:rPr lang="zh-CN" altLang="en-US" smtClean="0">
                <a:ea typeface="黑体" panose="02010609060101010101" pitchFamily="49" charset="-122"/>
              </a:rPr>
              <a:t>，</a:t>
            </a:r>
            <a:r>
              <a:rPr lang="zh-CN" altLang="zh-CN" smtClean="0">
                <a:ea typeface="黑体" panose="02010609060101010101" pitchFamily="49" charset="-122"/>
              </a:rPr>
              <a:t>是</a:t>
            </a:r>
            <a:r>
              <a:rPr lang="zh-CN" altLang="zh-CN" smtClean="0">
                <a:solidFill>
                  <a:srgbClr val="FF0000"/>
                </a:solidFill>
                <a:ea typeface="黑体" panose="02010609060101010101" pitchFamily="49" charset="-122"/>
              </a:rPr>
              <a:t>全球管理</a:t>
            </a:r>
            <a:r>
              <a:rPr lang="zh-CN" altLang="zh-CN" smtClean="0">
                <a:ea typeface="黑体" panose="02010609060101010101" pitchFamily="49" charset="-122"/>
              </a:rPr>
              <a:t>（保证在全球没有相同的地址），厂商向</a:t>
            </a:r>
            <a:r>
              <a:rPr lang="en-US" altLang="zh-CN" smtClean="0">
                <a:ea typeface="黑体" panose="02010609060101010101" pitchFamily="49" charset="-122"/>
              </a:rPr>
              <a:t>IEEE</a:t>
            </a:r>
            <a:r>
              <a:rPr lang="zh-CN" altLang="zh-CN" smtClean="0">
                <a:ea typeface="黑体" panose="02010609060101010101" pitchFamily="49" charset="-122"/>
              </a:rPr>
              <a:t>购买的</a:t>
            </a:r>
            <a:r>
              <a:rPr lang="en-US" altLang="zh-CN" smtClean="0">
                <a:ea typeface="黑体" panose="02010609060101010101" pitchFamily="49" charset="-122"/>
              </a:rPr>
              <a:t> OUI </a:t>
            </a:r>
            <a:r>
              <a:rPr lang="zh-CN" altLang="zh-CN" smtClean="0">
                <a:ea typeface="黑体" panose="02010609060101010101" pitchFamily="49" charset="-122"/>
              </a:rPr>
              <a:t>都属于全球管理。</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当 </a:t>
            </a:r>
            <a:r>
              <a:rPr lang="en-US" altLang="zh-CN" smtClean="0">
                <a:solidFill>
                  <a:srgbClr val="0000FF"/>
                </a:solidFill>
                <a:ea typeface="黑体" panose="02010609060101010101" pitchFamily="49" charset="-122"/>
              </a:rPr>
              <a:t>G/L</a:t>
            </a:r>
            <a:r>
              <a:rPr lang="zh-CN" altLang="zh-CN" smtClean="0">
                <a:solidFill>
                  <a:srgbClr val="0000FF"/>
                </a:solidFill>
                <a:ea typeface="黑体" panose="02010609060101010101" pitchFamily="49" charset="-122"/>
              </a:rPr>
              <a:t>位</a:t>
            </a:r>
            <a:r>
              <a:rPr lang="en-US" altLang="zh-CN" smtClean="0">
                <a:solidFill>
                  <a:srgbClr val="0000FF"/>
                </a:solidFill>
                <a:ea typeface="黑体" panose="02010609060101010101" pitchFamily="49" charset="-122"/>
              </a:rPr>
              <a:t> = 1 </a:t>
            </a:r>
            <a:r>
              <a:rPr lang="zh-CN" altLang="zh-CN" smtClean="0">
                <a:solidFill>
                  <a:srgbClr val="0000FF"/>
                </a:solidFill>
                <a:ea typeface="黑体" panose="02010609060101010101" pitchFamily="49" charset="-122"/>
              </a:rPr>
              <a:t>时</a:t>
            </a:r>
            <a:r>
              <a:rPr lang="zh-CN" altLang="en-US" smtClean="0">
                <a:solidFill>
                  <a:srgbClr val="0000FF"/>
                </a:solidFill>
                <a:ea typeface="黑体" panose="02010609060101010101" pitchFamily="49" charset="-122"/>
              </a:rPr>
              <a:t>，</a:t>
            </a:r>
            <a:r>
              <a:rPr lang="zh-CN" altLang="en-US" smtClean="0">
                <a:ea typeface="黑体" panose="02010609060101010101" pitchFamily="49" charset="-122"/>
              </a:rPr>
              <a:t> </a:t>
            </a:r>
            <a:r>
              <a:rPr lang="zh-CN" altLang="zh-CN" smtClean="0">
                <a:ea typeface="黑体" panose="02010609060101010101" pitchFamily="49" charset="-122"/>
              </a:rPr>
              <a:t>是</a:t>
            </a:r>
            <a:r>
              <a:rPr lang="zh-CN" altLang="zh-CN" smtClean="0">
                <a:solidFill>
                  <a:srgbClr val="FF0000"/>
                </a:solidFill>
                <a:ea typeface="黑体" panose="02010609060101010101" pitchFamily="49" charset="-122"/>
              </a:rPr>
              <a:t>本地管理，</a:t>
            </a:r>
            <a:r>
              <a:rPr lang="zh-CN" altLang="zh-CN" smtClean="0">
                <a:ea typeface="黑体" panose="02010609060101010101" pitchFamily="49" charset="-122"/>
              </a:rPr>
              <a:t>这时用户可任意分配网络上的地址。</a:t>
            </a:r>
            <a:endParaRPr lang="zh-CN" altLang="en-US" smtClean="0">
              <a:ea typeface="黑体" panose="02010609060101010101" pitchFamily="49" charset="-122"/>
            </a:endParaRPr>
          </a:p>
        </p:txBody>
      </p:sp>
      <p:sp>
        <p:nvSpPr>
          <p:cNvPr id="5816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1F58E6-4103-4815-A668-D46E3932B285}" type="slidenum">
              <a:rPr lang="zh-CN" altLang="en-US" smtClean="0"/>
              <a:pPr eaLnBrk="1" hangingPunct="1"/>
              <a:t>14</a:t>
            </a:fld>
            <a:endParaRPr lang="en-US" altLang="zh-CN" smtClean="0"/>
          </a:p>
        </p:txBody>
      </p:sp>
      <p:sp>
        <p:nvSpPr>
          <p:cNvPr id="5816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7" name="Rectangle 2"/>
          <p:cNvSpPr>
            <a:spLocks noGrp="1" noChangeArrowheads="1"/>
          </p:cNvSpPr>
          <p:nvPr>
            <p:ph type="title"/>
          </p:nvPr>
        </p:nvSpPr>
        <p:spPr>
          <a:xfrm>
            <a:off x="495300" y="188913"/>
            <a:ext cx="9066213" cy="792162"/>
          </a:xfrm>
        </p:spPr>
        <p:txBody>
          <a:bodyPr/>
          <a:lstStyle/>
          <a:p>
            <a:pPr algn="ctr"/>
            <a:r>
              <a:rPr lang="zh-CN" altLang="en-US" sz="4800" smtClean="0">
                <a:ea typeface="黑体" panose="02010609060101010101" pitchFamily="49" charset="-122"/>
              </a:rPr>
              <a:t>适配器检查 </a:t>
            </a:r>
            <a:r>
              <a:rPr lang="en-US" altLang="zh-CN" sz="4800" smtClean="0">
                <a:ea typeface="黑体" panose="02010609060101010101" pitchFamily="49" charset="-122"/>
              </a:rPr>
              <a:t>MAC </a:t>
            </a:r>
            <a:r>
              <a:rPr lang="zh-CN" altLang="en-US" sz="4800" smtClean="0">
                <a:ea typeface="黑体" panose="02010609060101010101" pitchFamily="49" charset="-122"/>
              </a:rPr>
              <a:t>地址 </a:t>
            </a:r>
          </a:p>
        </p:txBody>
      </p:sp>
      <p:sp>
        <p:nvSpPr>
          <p:cNvPr id="44339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适配器从网络上每收到一个 </a:t>
            </a:r>
            <a:r>
              <a:rPr lang="en-US" altLang="zh-CN" smtClean="0">
                <a:ea typeface="黑体" panose="02010609060101010101" pitchFamily="49" charset="-122"/>
              </a:rPr>
              <a:t>MAC </a:t>
            </a:r>
            <a:r>
              <a:rPr lang="zh-CN" altLang="en-US" smtClean="0">
                <a:ea typeface="黑体" panose="02010609060101010101" pitchFamily="49" charset="-122"/>
              </a:rPr>
              <a:t>帧就首先用硬件检查 </a:t>
            </a:r>
            <a:r>
              <a:rPr lang="en-US" altLang="zh-CN" smtClean="0">
                <a:ea typeface="黑体" panose="02010609060101010101" pitchFamily="49" charset="-122"/>
              </a:rPr>
              <a:t>MAC </a:t>
            </a:r>
            <a:r>
              <a:rPr lang="zh-CN" altLang="en-US" smtClean="0">
                <a:ea typeface="黑体" panose="02010609060101010101" pitchFamily="49" charset="-122"/>
              </a:rPr>
              <a:t>帧中的 </a:t>
            </a:r>
            <a:r>
              <a:rPr lang="en-US" altLang="zh-CN" smtClean="0">
                <a:ea typeface="黑体" panose="02010609060101010101" pitchFamily="49" charset="-122"/>
              </a:rPr>
              <a:t>MAC </a:t>
            </a:r>
            <a:r>
              <a:rPr lang="zh-CN" altLang="en-US" smtClean="0">
                <a:ea typeface="黑体" panose="02010609060101010101" pitchFamily="49" charset="-122"/>
              </a:rPr>
              <a:t>地址。</a:t>
            </a:r>
            <a:endParaRPr lang="en-US" altLang="zh-CN" smtClean="0">
              <a:ea typeface="黑体" panose="02010609060101010101" pitchFamily="49" charset="-122"/>
            </a:endParaRPr>
          </a:p>
          <a:p>
            <a:pPr lvl="1"/>
            <a:r>
              <a:rPr lang="zh-CN" altLang="en-US" smtClean="0">
                <a:ea typeface="黑体" panose="02010609060101010101" pitchFamily="49" charset="-122"/>
              </a:rPr>
              <a:t>如果是</a:t>
            </a:r>
            <a:r>
              <a:rPr lang="zh-CN" altLang="en-US" smtClean="0">
                <a:solidFill>
                  <a:srgbClr val="FF0000"/>
                </a:solidFill>
                <a:ea typeface="黑体" panose="02010609060101010101" pitchFamily="49" charset="-122"/>
              </a:rPr>
              <a:t>发往本站的帧</a:t>
            </a:r>
            <a:r>
              <a:rPr lang="zh-CN" altLang="en-US" smtClean="0">
                <a:ea typeface="黑体" panose="02010609060101010101" pitchFamily="49" charset="-122"/>
              </a:rPr>
              <a:t>则收下，然后再进行其他的处理。</a:t>
            </a:r>
          </a:p>
          <a:p>
            <a:pPr lvl="1"/>
            <a:r>
              <a:rPr lang="zh-CN" altLang="en-US" smtClean="0">
                <a:ea typeface="黑体" panose="02010609060101010101" pitchFamily="49" charset="-122"/>
              </a:rPr>
              <a:t>否则就将此帧丢弃，不再进行其他的处理。</a:t>
            </a:r>
          </a:p>
          <a:p>
            <a:r>
              <a:rPr lang="zh-CN" altLang="en-US" smtClean="0">
                <a:solidFill>
                  <a:srgbClr val="0000FF"/>
                </a:solidFill>
                <a:ea typeface="黑体" panose="02010609060101010101" pitchFamily="49" charset="-122"/>
              </a:rPr>
              <a:t>“发往本站的帧”包括以下三种帧： </a:t>
            </a:r>
          </a:p>
          <a:p>
            <a:pPr lvl="1"/>
            <a:r>
              <a:rPr lang="zh-CN" altLang="en-US" smtClean="0">
                <a:solidFill>
                  <a:srgbClr val="FF0000"/>
                </a:solidFill>
                <a:ea typeface="黑体" panose="02010609060101010101" pitchFamily="49" charset="-122"/>
              </a:rPr>
              <a:t>单播 </a:t>
            </a:r>
            <a:r>
              <a:rPr lang="en-US" altLang="zh-CN" smtClean="0">
                <a:ea typeface="黑体" panose="02010609060101010101" pitchFamily="49" charset="-122"/>
              </a:rPr>
              <a:t>(unicast) </a:t>
            </a:r>
            <a:r>
              <a:rPr lang="zh-CN" altLang="en-US" smtClean="0">
                <a:ea typeface="黑体" panose="02010609060101010101" pitchFamily="49" charset="-122"/>
              </a:rPr>
              <a:t>帧（一对一）</a:t>
            </a:r>
          </a:p>
          <a:p>
            <a:pPr lvl="1"/>
            <a:r>
              <a:rPr lang="zh-CN" altLang="en-US" smtClean="0">
                <a:solidFill>
                  <a:srgbClr val="FF0000"/>
                </a:solidFill>
                <a:ea typeface="黑体" panose="02010609060101010101" pitchFamily="49" charset="-122"/>
              </a:rPr>
              <a:t>广播 </a:t>
            </a:r>
            <a:r>
              <a:rPr lang="en-US" altLang="zh-CN" smtClean="0">
                <a:ea typeface="黑体" panose="02010609060101010101" pitchFamily="49" charset="-122"/>
              </a:rPr>
              <a:t>(broadcast) </a:t>
            </a:r>
            <a:r>
              <a:rPr lang="zh-CN" altLang="en-US" smtClean="0">
                <a:ea typeface="黑体" panose="02010609060101010101" pitchFamily="49" charset="-122"/>
              </a:rPr>
              <a:t>帧（一对全体）</a:t>
            </a:r>
          </a:p>
          <a:p>
            <a:pPr lvl="1"/>
            <a:r>
              <a:rPr lang="zh-CN" altLang="en-US" smtClean="0">
                <a:solidFill>
                  <a:srgbClr val="FF0000"/>
                </a:solidFill>
                <a:ea typeface="黑体" panose="02010609060101010101" pitchFamily="49" charset="-122"/>
              </a:rPr>
              <a:t>多播 </a:t>
            </a:r>
            <a:r>
              <a:rPr lang="en-US" altLang="zh-CN" smtClean="0">
                <a:ea typeface="黑体" panose="02010609060101010101" pitchFamily="49" charset="-122"/>
              </a:rPr>
              <a:t>(multicast) </a:t>
            </a:r>
            <a:r>
              <a:rPr lang="zh-CN" altLang="en-US" smtClean="0">
                <a:ea typeface="黑体" panose="02010609060101010101" pitchFamily="49" charset="-122"/>
              </a:rPr>
              <a:t>帧（一对多）</a:t>
            </a:r>
            <a:endParaRPr lang="en-US" altLang="zh-CN" smtClean="0">
              <a:ea typeface="黑体" panose="02010609060101010101" pitchFamily="49" charset="-122"/>
            </a:endParaRPr>
          </a:p>
        </p:txBody>
      </p:sp>
      <p:sp>
        <p:nvSpPr>
          <p:cNvPr id="582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454BA1-9358-4E51-AD38-B0809DA2324D}" type="slidenum">
              <a:rPr lang="zh-CN" altLang="en-US" smtClean="0"/>
              <a:pPr eaLnBrk="1" hangingPunct="1"/>
              <a:t>15</a:t>
            </a:fld>
            <a:endParaRPr lang="en-US" altLang="zh-CN" smtClean="0"/>
          </a:p>
        </p:txBody>
      </p:sp>
      <p:sp>
        <p:nvSpPr>
          <p:cNvPr id="582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3395">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339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339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43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339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5" name="Rectangle 2"/>
          <p:cNvSpPr>
            <a:spLocks noGrp="1" noChangeArrowheads="1"/>
          </p:cNvSpPr>
          <p:nvPr>
            <p:ph type="title"/>
          </p:nvPr>
        </p:nvSpPr>
        <p:spPr>
          <a:xfrm>
            <a:off x="495300" y="188913"/>
            <a:ext cx="9066213" cy="792162"/>
          </a:xfrm>
        </p:spPr>
        <p:txBody>
          <a:bodyPr/>
          <a:lstStyle/>
          <a:p>
            <a:pPr algn="ctr"/>
            <a:r>
              <a:rPr lang="zh-CN" altLang="en-US" sz="4800" smtClean="0">
                <a:ea typeface="黑体" panose="02010609060101010101" pitchFamily="49" charset="-122"/>
              </a:rPr>
              <a:t>适配器检查 </a:t>
            </a:r>
            <a:r>
              <a:rPr lang="en-US" altLang="zh-CN" sz="4800" smtClean="0">
                <a:ea typeface="黑体" panose="02010609060101010101" pitchFamily="49" charset="-122"/>
              </a:rPr>
              <a:t>MAC </a:t>
            </a:r>
            <a:r>
              <a:rPr lang="zh-CN" altLang="en-US" sz="4800" smtClean="0">
                <a:ea typeface="黑体" panose="02010609060101010101" pitchFamily="49" charset="-122"/>
              </a:rPr>
              <a:t>地址 </a:t>
            </a:r>
          </a:p>
        </p:txBody>
      </p:sp>
      <p:sp>
        <p:nvSpPr>
          <p:cNvPr id="584706"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所有的适配器都至少能够识别前两种帧，即</a:t>
            </a:r>
            <a:r>
              <a:rPr lang="zh-CN" altLang="zh-CN" smtClean="0">
                <a:solidFill>
                  <a:srgbClr val="FF0000"/>
                </a:solidFill>
                <a:ea typeface="黑体" panose="02010609060101010101" pitchFamily="49" charset="-122"/>
              </a:rPr>
              <a:t>能够识别单播</a:t>
            </a:r>
            <a:r>
              <a:rPr lang="zh-CN" altLang="en-US" smtClean="0">
                <a:solidFill>
                  <a:srgbClr val="FF0000"/>
                </a:solidFill>
                <a:ea typeface="黑体" panose="02010609060101010101" pitchFamily="49" charset="-122"/>
              </a:rPr>
              <a:t>地址</a:t>
            </a:r>
            <a:r>
              <a:rPr lang="zh-CN" altLang="zh-CN" smtClean="0">
                <a:solidFill>
                  <a:srgbClr val="FF0000"/>
                </a:solidFill>
                <a:ea typeface="黑体" panose="02010609060101010101" pitchFamily="49" charset="-122"/>
              </a:rPr>
              <a:t>和广播地址。</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有的适配器可用编程方法识别多播地址</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0000FF"/>
                </a:solidFill>
                <a:ea typeface="黑体" panose="02010609060101010101" pitchFamily="49" charset="-122"/>
              </a:rPr>
              <a:t>只有目的地址才能使用广播地址和多播地址。</a:t>
            </a:r>
            <a:endParaRPr lang="en-US" altLang="zh-CN" smtClean="0">
              <a:solidFill>
                <a:srgbClr val="0000FF"/>
              </a:solidFill>
              <a:ea typeface="黑体" panose="02010609060101010101" pitchFamily="49" charset="-122"/>
            </a:endParaRPr>
          </a:p>
          <a:p>
            <a:r>
              <a:rPr lang="zh-CN" altLang="en-US" smtClean="0">
                <a:ea typeface="黑体" panose="02010609060101010101" pitchFamily="49" charset="-122"/>
              </a:rPr>
              <a:t>以</a:t>
            </a:r>
            <a:r>
              <a:rPr lang="zh-CN" altLang="zh-CN" smtClean="0">
                <a:solidFill>
                  <a:srgbClr val="FF0000"/>
                </a:solidFill>
                <a:ea typeface="黑体" panose="02010609060101010101" pitchFamily="49" charset="-122"/>
              </a:rPr>
              <a:t>混杂方式</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(promiscuous mode) </a:t>
            </a:r>
            <a:r>
              <a:rPr lang="zh-CN" altLang="en-US" smtClean="0">
                <a:ea typeface="黑体" panose="02010609060101010101" pitchFamily="49" charset="-122"/>
              </a:rPr>
              <a:t>工作的</a:t>
            </a:r>
            <a:r>
              <a:rPr lang="zh-CN" altLang="zh-CN" smtClean="0">
                <a:ea typeface="黑体" panose="02010609060101010101" pitchFamily="49" charset="-122"/>
              </a:rPr>
              <a:t>以太网适配器只要“听到”有帧在以太网上传输就都接收下来</a:t>
            </a:r>
            <a:r>
              <a:rPr lang="zh-CN" altLang="en-US" smtClean="0">
                <a:ea typeface="黑体" panose="02010609060101010101" pitchFamily="49" charset="-122"/>
              </a:rPr>
              <a:t>。</a:t>
            </a:r>
          </a:p>
        </p:txBody>
      </p:sp>
      <p:sp>
        <p:nvSpPr>
          <p:cNvPr id="584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511975-E3F7-4F21-B59B-E22238EE6322}" type="slidenum">
              <a:rPr lang="zh-CN" altLang="en-US" smtClean="0"/>
              <a:pPr eaLnBrk="1" hangingPunct="1"/>
              <a:t>16</a:t>
            </a:fld>
            <a:endParaRPr lang="en-US" altLang="zh-CN" smtClean="0"/>
          </a:p>
        </p:txBody>
      </p:sp>
      <p:sp>
        <p:nvSpPr>
          <p:cNvPr id="584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MAC </a:t>
            </a:r>
            <a:r>
              <a:rPr lang="zh-CN" altLang="en-US" smtClean="0">
                <a:ea typeface="黑体" panose="02010609060101010101" pitchFamily="49" charset="-122"/>
              </a:rPr>
              <a:t>帧的格式 </a:t>
            </a:r>
          </a:p>
        </p:txBody>
      </p:sp>
      <p:sp>
        <p:nvSpPr>
          <p:cNvPr id="444419"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常用的以太网 </a:t>
            </a:r>
            <a:r>
              <a:rPr lang="en-US" altLang="zh-CN" smtClean="0">
                <a:ea typeface="黑体" panose="02010609060101010101" pitchFamily="49" charset="-122"/>
              </a:rPr>
              <a:t>MAC </a:t>
            </a:r>
            <a:r>
              <a:rPr lang="zh-CN" altLang="en-US" smtClean="0">
                <a:ea typeface="黑体" panose="02010609060101010101" pitchFamily="49" charset="-122"/>
              </a:rPr>
              <a:t>帧格式有两种标准 ：</a:t>
            </a:r>
          </a:p>
          <a:p>
            <a:pPr lvl="1"/>
            <a:r>
              <a:rPr lang="en-US" altLang="zh-CN" smtClean="0">
                <a:solidFill>
                  <a:srgbClr val="0000FF"/>
                </a:solidFill>
                <a:ea typeface="黑体" panose="02010609060101010101" pitchFamily="49" charset="-122"/>
              </a:rPr>
              <a:t>DIX Ethernet V2 </a:t>
            </a:r>
            <a:r>
              <a:rPr lang="zh-CN" altLang="en-US" smtClean="0">
                <a:solidFill>
                  <a:srgbClr val="0000FF"/>
                </a:solidFill>
                <a:ea typeface="黑体" panose="02010609060101010101" pitchFamily="49" charset="-122"/>
              </a:rPr>
              <a:t>标准</a:t>
            </a:r>
          </a:p>
          <a:p>
            <a:pPr lvl="1"/>
            <a:r>
              <a:rPr lang="en-US" altLang="zh-CN" smtClean="0">
                <a:solidFill>
                  <a:srgbClr val="0000FF"/>
                </a:solidFill>
                <a:ea typeface="黑体" panose="02010609060101010101" pitchFamily="49" charset="-122"/>
              </a:rPr>
              <a:t>IEEE </a:t>
            </a:r>
            <a:r>
              <a:rPr lang="zh-CN" altLang="en-US" smtClean="0">
                <a:solidFill>
                  <a:srgbClr val="0000FF"/>
                </a:solidFill>
                <a:ea typeface="黑体" panose="02010609060101010101" pitchFamily="49" charset="-122"/>
              </a:rPr>
              <a:t>的 </a:t>
            </a:r>
            <a:r>
              <a:rPr lang="en-US" altLang="zh-CN" smtClean="0">
                <a:solidFill>
                  <a:srgbClr val="0000FF"/>
                </a:solidFill>
                <a:ea typeface="黑体" panose="02010609060101010101" pitchFamily="49" charset="-122"/>
              </a:rPr>
              <a:t>802.3 </a:t>
            </a:r>
            <a:r>
              <a:rPr lang="zh-CN" altLang="en-US" smtClean="0">
                <a:solidFill>
                  <a:srgbClr val="0000FF"/>
                </a:solidFill>
                <a:ea typeface="黑体" panose="02010609060101010101" pitchFamily="49" charset="-122"/>
              </a:rPr>
              <a:t>标准</a:t>
            </a:r>
          </a:p>
          <a:p>
            <a:r>
              <a:rPr lang="zh-CN" altLang="en-US" smtClean="0">
                <a:ea typeface="黑体" panose="02010609060101010101" pitchFamily="49" charset="-122"/>
              </a:rPr>
              <a:t>最常用的 </a:t>
            </a:r>
            <a:r>
              <a:rPr lang="en-US" altLang="zh-CN" smtClean="0">
                <a:ea typeface="黑体" panose="02010609060101010101" pitchFamily="49" charset="-122"/>
              </a:rPr>
              <a:t>MAC </a:t>
            </a:r>
            <a:r>
              <a:rPr lang="zh-CN" altLang="en-US" smtClean="0">
                <a:ea typeface="黑体" panose="02010609060101010101" pitchFamily="49" charset="-122"/>
              </a:rPr>
              <a:t>帧是</a:t>
            </a:r>
            <a:r>
              <a:rPr lang="zh-CN" altLang="en-US" smtClean="0">
                <a:solidFill>
                  <a:srgbClr val="FF0000"/>
                </a:solidFill>
                <a:ea typeface="黑体" panose="02010609060101010101" pitchFamily="49" charset="-122"/>
              </a:rPr>
              <a:t>以太网 </a:t>
            </a:r>
            <a:r>
              <a:rPr lang="en-US" altLang="zh-CN" smtClean="0">
                <a:solidFill>
                  <a:srgbClr val="FF0000"/>
                </a:solidFill>
                <a:ea typeface="黑体" panose="02010609060101010101" pitchFamily="49" charset="-122"/>
              </a:rPr>
              <a:t>V2 </a:t>
            </a:r>
            <a:r>
              <a:rPr lang="zh-CN" altLang="en-US" smtClean="0">
                <a:solidFill>
                  <a:srgbClr val="FF0000"/>
                </a:solidFill>
                <a:ea typeface="黑体" panose="02010609060101010101" pitchFamily="49" charset="-122"/>
              </a:rPr>
              <a:t>的格式。</a:t>
            </a:r>
          </a:p>
        </p:txBody>
      </p:sp>
      <p:sp>
        <p:nvSpPr>
          <p:cNvPr id="5867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4F1608-448F-4281-8B87-681C5ECD6DFE}" type="slidenum">
              <a:rPr lang="zh-CN" altLang="en-US" smtClean="0"/>
              <a:pPr eaLnBrk="1" hangingPunct="1"/>
              <a:t>17</a:t>
            </a:fld>
            <a:endParaRPr lang="en-US" altLang="zh-CN" smtClean="0"/>
          </a:p>
        </p:txBody>
      </p:sp>
      <p:sp>
        <p:nvSpPr>
          <p:cNvPr id="5867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1" name="标题 1"/>
          <p:cNvSpPr>
            <a:spLocks noGrp="1" noChangeArrowheads="1"/>
          </p:cNvSpPr>
          <p:nvPr>
            <p:ph type="title"/>
          </p:nvPr>
        </p:nvSpPr>
        <p:spPr/>
        <p:txBody>
          <a:bodyPr/>
          <a:lstStyle/>
          <a:p>
            <a:pPr algn="ctr"/>
            <a:r>
              <a:rPr lang="zh-CN" altLang="en-US" smtClean="0">
                <a:ea typeface="黑体" panose="02010609060101010101" pitchFamily="49" charset="-122"/>
              </a:rPr>
              <a:t>以太网</a:t>
            </a:r>
            <a:r>
              <a:rPr lang="en-US" altLang="zh-CN" smtClean="0">
                <a:ea typeface="黑体" panose="02010609060101010101" pitchFamily="49" charset="-122"/>
              </a:rPr>
              <a:t>V2</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588802" name="Line 3"/>
          <p:cNvSpPr>
            <a:spLocks noChangeShapeType="1"/>
          </p:cNvSpPr>
          <p:nvPr/>
        </p:nvSpPr>
        <p:spPr bwMode="auto">
          <a:xfrm>
            <a:off x="263525" y="3343275"/>
            <a:ext cx="9658350" cy="0"/>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03" name="Rectangle 4"/>
          <p:cNvSpPr>
            <a:spLocks noChangeArrowheads="1"/>
          </p:cNvSpPr>
          <p:nvPr/>
        </p:nvSpPr>
        <p:spPr bwMode="auto">
          <a:xfrm>
            <a:off x="1781175" y="3567113"/>
            <a:ext cx="6948488" cy="495300"/>
          </a:xfrm>
          <a:prstGeom prst="rect">
            <a:avLst/>
          </a:prstGeom>
          <a:solidFill>
            <a:srgbClr val="FFCCFF"/>
          </a:solidFill>
          <a:ln w="19050">
            <a:solidFill>
              <a:srgbClr val="000099"/>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04" name="Rectangle 5"/>
          <p:cNvSpPr>
            <a:spLocks noChangeArrowheads="1"/>
          </p:cNvSpPr>
          <p:nvPr/>
        </p:nvSpPr>
        <p:spPr bwMode="auto">
          <a:xfrm>
            <a:off x="1774825" y="3578225"/>
            <a:ext cx="6954838" cy="488950"/>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05" name="Rectangle 6"/>
          <p:cNvSpPr>
            <a:spLocks noChangeArrowheads="1"/>
          </p:cNvSpPr>
          <p:nvPr/>
        </p:nvSpPr>
        <p:spPr bwMode="auto">
          <a:xfrm>
            <a:off x="4394200" y="3633788"/>
            <a:ext cx="1941513"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以太网 </a:t>
            </a:r>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88806" name="Rectangle 13"/>
          <p:cNvSpPr>
            <a:spLocks noChangeArrowheads="1"/>
          </p:cNvSpPr>
          <p:nvPr/>
        </p:nvSpPr>
        <p:spPr bwMode="auto">
          <a:xfrm>
            <a:off x="8847138" y="3644900"/>
            <a:ext cx="9572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物理层</a:t>
            </a:r>
          </a:p>
        </p:txBody>
      </p:sp>
      <p:sp>
        <p:nvSpPr>
          <p:cNvPr id="588807" name="Rectangle 26"/>
          <p:cNvSpPr>
            <a:spLocks noChangeArrowheads="1"/>
          </p:cNvSpPr>
          <p:nvPr/>
        </p:nvSpPr>
        <p:spPr bwMode="auto">
          <a:xfrm>
            <a:off x="8804275" y="2708275"/>
            <a:ext cx="10255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a:t>
            </a:r>
            <a:r>
              <a:rPr lang="zh-CN" altLang="en-US" sz="2000" b="1">
                <a:solidFill>
                  <a:srgbClr val="000099"/>
                </a:solidFill>
                <a:ea typeface="黑体" panose="02010609060101010101" pitchFamily="49" charset="-122"/>
              </a:rPr>
              <a:t>层</a:t>
            </a:r>
          </a:p>
        </p:txBody>
      </p:sp>
      <p:sp>
        <p:nvSpPr>
          <p:cNvPr id="588808" name="Line 27"/>
          <p:cNvSpPr>
            <a:spLocks noChangeShapeType="1"/>
          </p:cNvSpPr>
          <p:nvPr/>
        </p:nvSpPr>
        <p:spPr bwMode="auto">
          <a:xfrm flipH="1">
            <a:off x="1773238" y="3068638"/>
            <a:ext cx="1587"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09" name="Line 28"/>
          <p:cNvSpPr>
            <a:spLocks noChangeShapeType="1"/>
          </p:cNvSpPr>
          <p:nvPr/>
        </p:nvSpPr>
        <p:spPr bwMode="auto">
          <a:xfrm>
            <a:off x="8716963" y="3140075"/>
            <a:ext cx="12700"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0" name="Rectangle 29"/>
          <p:cNvSpPr>
            <a:spLocks noChangeArrowheads="1"/>
          </p:cNvSpPr>
          <p:nvPr/>
        </p:nvSpPr>
        <p:spPr bwMode="auto">
          <a:xfrm>
            <a:off x="309563" y="4572000"/>
            <a:ext cx="4572000" cy="415925"/>
          </a:xfrm>
          <a:prstGeom prst="rect">
            <a:avLst/>
          </a:prstGeom>
          <a:solidFill>
            <a:srgbClr val="FFFF99"/>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11" name="Rectangle 30"/>
          <p:cNvSpPr>
            <a:spLocks noChangeArrowheads="1"/>
          </p:cNvSpPr>
          <p:nvPr/>
        </p:nvSpPr>
        <p:spPr bwMode="auto">
          <a:xfrm>
            <a:off x="261938" y="4614863"/>
            <a:ext cx="48307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10101010101010           101010101010 10101011</a:t>
            </a:r>
          </a:p>
        </p:txBody>
      </p:sp>
      <p:sp>
        <p:nvSpPr>
          <p:cNvPr id="588812" name="Line 31"/>
          <p:cNvSpPr>
            <a:spLocks noChangeShapeType="1"/>
          </p:cNvSpPr>
          <p:nvPr/>
        </p:nvSpPr>
        <p:spPr bwMode="auto">
          <a:xfrm>
            <a:off x="3944938" y="4568825"/>
            <a:ext cx="0" cy="431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3" name="Rectangle 32"/>
          <p:cNvSpPr>
            <a:spLocks noChangeArrowheads="1"/>
          </p:cNvSpPr>
          <p:nvPr/>
        </p:nvSpPr>
        <p:spPr bwMode="auto">
          <a:xfrm>
            <a:off x="1544638" y="5026025"/>
            <a:ext cx="1112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前同步码</a:t>
            </a:r>
          </a:p>
        </p:txBody>
      </p:sp>
      <p:sp>
        <p:nvSpPr>
          <p:cNvPr id="588814" name="Rectangle 33"/>
          <p:cNvSpPr>
            <a:spLocks noChangeArrowheads="1"/>
          </p:cNvSpPr>
          <p:nvPr/>
        </p:nvSpPr>
        <p:spPr bwMode="auto">
          <a:xfrm>
            <a:off x="4000500" y="4997450"/>
            <a:ext cx="8810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0000"/>
              </a:lnSpc>
            </a:pPr>
            <a:r>
              <a:rPr lang="zh-CN" altLang="en-US" b="1">
                <a:solidFill>
                  <a:srgbClr val="000099"/>
                </a:solidFill>
                <a:ea typeface="黑体" panose="02010609060101010101" pitchFamily="49" charset="-122"/>
              </a:rPr>
              <a:t>帧开始</a:t>
            </a:r>
          </a:p>
          <a:p>
            <a:pPr>
              <a:lnSpc>
                <a:spcPct val="80000"/>
              </a:lnSpc>
            </a:pPr>
            <a:r>
              <a:rPr lang="zh-CN" altLang="en-US" b="1">
                <a:solidFill>
                  <a:srgbClr val="000099"/>
                </a:solidFill>
                <a:ea typeface="黑体" panose="02010609060101010101" pitchFamily="49" charset="-122"/>
              </a:rPr>
              <a:t>定界符</a:t>
            </a:r>
          </a:p>
        </p:txBody>
      </p:sp>
      <p:sp>
        <p:nvSpPr>
          <p:cNvPr id="588815" name="Rectangle 34"/>
          <p:cNvSpPr>
            <a:spLocks noChangeArrowheads="1"/>
          </p:cNvSpPr>
          <p:nvPr/>
        </p:nvSpPr>
        <p:spPr bwMode="auto">
          <a:xfrm>
            <a:off x="1617663" y="4235450"/>
            <a:ext cx="7683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7 </a:t>
            </a:r>
            <a:r>
              <a:rPr lang="zh-CN" altLang="en-US" sz="1600" b="1">
                <a:solidFill>
                  <a:srgbClr val="000099"/>
                </a:solidFill>
                <a:ea typeface="黑体" panose="02010609060101010101" pitchFamily="49" charset="-122"/>
              </a:rPr>
              <a:t>字节</a:t>
            </a:r>
          </a:p>
        </p:txBody>
      </p:sp>
      <p:sp>
        <p:nvSpPr>
          <p:cNvPr id="588816" name="Rectangle 35"/>
          <p:cNvSpPr>
            <a:spLocks noChangeArrowheads="1"/>
          </p:cNvSpPr>
          <p:nvPr/>
        </p:nvSpPr>
        <p:spPr bwMode="auto">
          <a:xfrm>
            <a:off x="4041775" y="4178300"/>
            <a:ext cx="766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1 </a:t>
            </a:r>
            <a:r>
              <a:rPr lang="zh-CN" altLang="en-US" sz="1600" b="1">
                <a:solidFill>
                  <a:srgbClr val="000099"/>
                </a:solidFill>
                <a:ea typeface="黑体" panose="02010609060101010101" pitchFamily="49" charset="-122"/>
              </a:rPr>
              <a:t>字节</a:t>
            </a:r>
          </a:p>
        </p:txBody>
      </p:sp>
      <p:sp>
        <p:nvSpPr>
          <p:cNvPr id="588817" name="Line 36"/>
          <p:cNvSpPr>
            <a:spLocks noChangeShapeType="1"/>
          </p:cNvSpPr>
          <p:nvPr/>
        </p:nvSpPr>
        <p:spPr bwMode="auto">
          <a:xfrm flipV="1">
            <a:off x="323850" y="4076700"/>
            <a:ext cx="315913" cy="492125"/>
          </a:xfrm>
          <a:prstGeom prst="line">
            <a:avLst/>
          </a:prstGeom>
          <a:noFill/>
          <a:ln w="1905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8" name="Line 37"/>
          <p:cNvSpPr>
            <a:spLocks noChangeShapeType="1"/>
          </p:cNvSpPr>
          <p:nvPr/>
        </p:nvSpPr>
        <p:spPr bwMode="auto">
          <a:xfrm>
            <a:off x="1765300" y="4089400"/>
            <a:ext cx="3116263" cy="479425"/>
          </a:xfrm>
          <a:prstGeom prst="line">
            <a:avLst/>
          </a:prstGeom>
          <a:noFill/>
          <a:ln w="1905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88819" name="Text Box 38"/>
          <p:cNvSpPr txBox="1">
            <a:spLocks noChangeArrowheads="1"/>
          </p:cNvSpPr>
          <p:nvPr/>
        </p:nvSpPr>
        <p:spPr bwMode="auto">
          <a:xfrm>
            <a:off x="2144713" y="4579938"/>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t>
            </a:r>
          </a:p>
        </p:txBody>
      </p:sp>
      <p:sp>
        <p:nvSpPr>
          <p:cNvPr id="588820" name="Rectangle 41"/>
          <p:cNvSpPr>
            <a:spLocks noChangeArrowheads="1"/>
          </p:cNvSpPr>
          <p:nvPr/>
        </p:nvSpPr>
        <p:spPr bwMode="auto">
          <a:xfrm>
            <a:off x="671513" y="3573463"/>
            <a:ext cx="1103312" cy="488950"/>
          </a:xfrm>
          <a:prstGeom prst="rect">
            <a:avLst/>
          </a:prstGeom>
          <a:solidFill>
            <a:srgbClr val="FFFF99"/>
          </a:solidFill>
          <a:ln w="19050">
            <a:solidFill>
              <a:srgbClr val="0000CC"/>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1" name="Rectangle 42"/>
          <p:cNvSpPr>
            <a:spLocks noChangeArrowheads="1"/>
          </p:cNvSpPr>
          <p:nvPr/>
        </p:nvSpPr>
        <p:spPr bwMode="auto">
          <a:xfrm>
            <a:off x="819150" y="3663950"/>
            <a:ext cx="766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solidFill>
                  <a:srgbClr val="000099"/>
                </a:solidFill>
                <a:ea typeface="黑体" panose="02010609060101010101" pitchFamily="49" charset="-122"/>
              </a:rPr>
              <a:t>8 </a:t>
            </a:r>
            <a:r>
              <a:rPr lang="zh-CN" altLang="en-US" sz="1600" b="1">
                <a:solidFill>
                  <a:srgbClr val="000099"/>
                </a:solidFill>
                <a:ea typeface="黑体" panose="02010609060101010101" pitchFamily="49" charset="-122"/>
              </a:rPr>
              <a:t>字节</a:t>
            </a:r>
          </a:p>
        </p:txBody>
      </p:sp>
      <p:sp>
        <p:nvSpPr>
          <p:cNvPr id="588822" name="AutoShape 43"/>
          <p:cNvSpPr>
            <a:spLocks noChangeArrowheads="1"/>
          </p:cNvSpPr>
          <p:nvPr/>
        </p:nvSpPr>
        <p:spPr bwMode="auto">
          <a:xfrm>
            <a:off x="392113" y="3216275"/>
            <a:ext cx="687387" cy="266700"/>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sz="1600" b="1">
              <a:solidFill>
                <a:srgbClr val="000099"/>
              </a:solidFill>
              <a:ea typeface="黑体" panose="02010609060101010101" pitchFamily="49" charset="-122"/>
            </a:endParaRPr>
          </a:p>
        </p:txBody>
      </p:sp>
      <p:sp>
        <p:nvSpPr>
          <p:cNvPr id="588823" name="Rectangle 44"/>
          <p:cNvSpPr>
            <a:spLocks noChangeArrowheads="1"/>
          </p:cNvSpPr>
          <p:nvPr/>
        </p:nvSpPr>
        <p:spPr bwMode="auto">
          <a:xfrm>
            <a:off x="419100" y="3190875"/>
            <a:ext cx="6365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1600" b="1">
                <a:solidFill>
                  <a:srgbClr val="000099"/>
                </a:solidFill>
                <a:ea typeface="黑体" panose="02010609060101010101" pitchFamily="49" charset="-122"/>
              </a:rPr>
              <a:t>插入</a:t>
            </a:r>
          </a:p>
        </p:txBody>
      </p:sp>
      <p:sp>
        <p:nvSpPr>
          <p:cNvPr id="588824" name="Rectangle 47"/>
          <p:cNvSpPr>
            <a:spLocks noChangeArrowheads="1"/>
          </p:cNvSpPr>
          <p:nvPr/>
        </p:nvSpPr>
        <p:spPr bwMode="auto">
          <a:xfrm>
            <a:off x="8959850" y="1819275"/>
            <a:ext cx="6826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a:t>
            </a:r>
            <a:r>
              <a:rPr lang="zh-CN" altLang="en-US" sz="2000" b="1">
                <a:solidFill>
                  <a:srgbClr val="000099"/>
                </a:solidFill>
                <a:ea typeface="黑体" panose="02010609060101010101" pitchFamily="49" charset="-122"/>
              </a:rPr>
              <a:t>层</a:t>
            </a:r>
          </a:p>
        </p:txBody>
      </p:sp>
      <p:sp>
        <p:nvSpPr>
          <p:cNvPr id="588825" name="Line 48"/>
          <p:cNvSpPr>
            <a:spLocks noChangeShapeType="1"/>
          </p:cNvSpPr>
          <p:nvPr/>
        </p:nvSpPr>
        <p:spPr bwMode="auto">
          <a:xfrm flipV="1">
            <a:off x="8794750" y="2352675"/>
            <a:ext cx="949325"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6" name="AutoShape 64"/>
          <p:cNvSpPr>
            <a:spLocks noChangeArrowheads="1"/>
          </p:cNvSpPr>
          <p:nvPr/>
        </p:nvSpPr>
        <p:spPr bwMode="auto">
          <a:xfrm rot="16200000" flipH="1">
            <a:off x="4990307" y="3294856"/>
            <a:ext cx="609600" cy="249237"/>
          </a:xfrm>
          <a:prstGeom prst="rightArrow">
            <a:avLst>
              <a:gd name="adj1" fmla="val 50000"/>
              <a:gd name="adj2" fmla="val 132496"/>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7" name="Rectangle 66"/>
          <p:cNvSpPr>
            <a:spLocks noChangeArrowheads="1"/>
          </p:cNvSpPr>
          <p:nvPr/>
        </p:nvSpPr>
        <p:spPr bwMode="auto">
          <a:xfrm>
            <a:off x="1773238" y="2636838"/>
            <a:ext cx="6956425" cy="457200"/>
          </a:xfrm>
          <a:prstGeom prst="rect">
            <a:avLst/>
          </a:prstGeom>
          <a:solidFill>
            <a:srgbClr val="FFCCFF"/>
          </a:solidFill>
          <a:ln w="12700">
            <a:solidFill>
              <a:srgbClr val="0000CC"/>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8" name="Line 67"/>
          <p:cNvSpPr>
            <a:spLocks noChangeShapeType="1"/>
          </p:cNvSpPr>
          <p:nvPr/>
        </p:nvSpPr>
        <p:spPr bwMode="auto">
          <a:xfrm>
            <a:off x="278606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29" name="Line 68"/>
          <p:cNvSpPr>
            <a:spLocks noChangeShapeType="1"/>
          </p:cNvSpPr>
          <p:nvPr/>
        </p:nvSpPr>
        <p:spPr bwMode="auto">
          <a:xfrm>
            <a:off x="377666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30" name="Line 69"/>
          <p:cNvSpPr>
            <a:spLocks noChangeShapeType="1"/>
          </p:cNvSpPr>
          <p:nvPr/>
        </p:nvSpPr>
        <p:spPr bwMode="auto">
          <a:xfrm>
            <a:off x="476726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31" name="Line 70"/>
          <p:cNvSpPr>
            <a:spLocks noChangeShapeType="1"/>
          </p:cNvSpPr>
          <p:nvPr/>
        </p:nvSpPr>
        <p:spPr bwMode="auto">
          <a:xfrm>
            <a:off x="8151813" y="2636838"/>
            <a:ext cx="0" cy="4572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32" name="Rectangle 71"/>
          <p:cNvSpPr>
            <a:spLocks noChangeArrowheads="1"/>
          </p:cNvSpPr>
          <p:nvPr/>
        </p:nvSpPr>
        <p:spPr bwMode="auto">
          <a:xfrm>
            <a:off x="1697038" y="2682875"/>
            <a:ext cx="11128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88833" name="Rectangle 72"/>
          <p:cNvSpPr>
            <a:spLocks noChangeArrowheads="1"/>
          </p:cNvSpPr>
          <p:nvPr/>
        </p:nvSpPr>
        <p:spPr bwMode="auto">
          <a:xfrm>
            <a:off x="2789238" y="2682875"/>
            <a:ext cx="8810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88834" name="Rectangle 73"/>
          <p:cNvSpPr>
            <a:spLocks noChangeArrowheads="1"/>
          </p:cNvSpPr>
          <p:nvPr/>
        </p:nvSpPr>
        <p:spPr bwMode="auto">
          <a:xfrm>
            <a:off x="3952875" y="2682875"/>
            <a:ext cx="6461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88835" name="Rectangle 74"/>
          <p:cNvSpPr>
            <a:spLocks noChangeArrowheads="1"/>
          </p:cNvSpPr>
          <p:nvPr/>
        </p:nvSpPr>
        <p:spPr bwMode="auto">
          <a:xfrm>
            <a:off x="5956300" y="2682875"/>
            <a:ext cx="1160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88836" name="Rectangle 75"/>
          <p:cNvSpPr>
            <a:spLocks noChangeArrowheads="1"/>
          </p:cNvSpPr>
          <p:nvPr/>
        </p:nvSpPr>
        <p:spPr bwMode="auto">
          <a:xfrm>
            <a:off x="8093075" y="2682875"/>
            <a:ext cx="644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88837" name="Rectangle 76"/>
          <p:cNvSpPr>
            <a:spLocks noChangeArrowheads="1"/>
          </p:cNvSpPr>
          <p:nvPr/>
        </p:nvSpPr>
        <p:spPr bwMode="auto">
          <a:xfrm>
            <a:off x="2149475"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88838" name="Rectangle 77"/>
          <p:cNvSpPr>
            <a:spLocks noChangeArrowheads="1"/>
          </p:cNvSpPr>
          <p:nvPr/>
        </p:nvSpPr>
        <p:spPr bwMode="auto">
          <a:xfrm>
            <a:off x="3211513"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88839" name="Rectangle 78"/>
          <p:cNvSpPr>
            <a:spLocks noChangeArrowheads="1"/>
          </p:cNvSpPr>
          <p:nvPr/>
        </p:nvSpPr>
        <p:spPr bwMode="auto">
          <a:xfrm>
            <a:off x="4189413"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88840" name="Rectangle 79"/>
          <p:cNvSpPr>
            <a:spLocks noChangeArrowheads="1"/>
          </p:cNvSpPr>
          <p:nvPr/>
        </p:nvSpPr>
        <p:spPr bwMode="auto">
          <a:xfrm>
            <a:off x="8329613" y="230981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88841" name="Rectangle 80"/>
          <p:cNvSpPr>
            <a:spLocks noChangeArrowheads="1"/>
          </p:cNvSpPr>
          <p:nvPr/>
        </p:nvSpPr>
        <p:spPr bwMode="auto">
          <a:xfrm>
            <a:off x="1231900" y="237331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p>
        </p:txBody>
      </p:sp>
      <p:sp>
        <p:nvSpPr>
          <p:cNvPr id="588842" name="Text Box 81"/>
          <p:cNvSpPr txBox="1">
            <a:spLocks noChangeArrowheads="1"/>
          </p:cNvSpPr>
          <p:nvPr/>
        </p:nvSpPr>
        <p:spPr bwMode="auto">
          <a:xfrm>
            <a:off x="6594475" y="2276475"/>
            <a:ext cx="1216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sp>
        <p:nvSpPr>
          <p:cNvPr id="445547" name="Line 107"/>
          <p:cNvSpPr>
            <a:spLocks noChangeShapeType="1"/>
          </p:cNvSpPr>
          <p:nvPr/>
        </p:nvSpPr>
        <p:spPr bwMode="auto">
          <a:xfrm flipH="1">
            <a:off x="1774825" y="1484313"/>
            <a:ext cx="0" cy="11620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445548" name="Line 108"/>
          <p:cNvSpPr>
            <a:spLocks noChangeShapeType="1"/>
          </p:cNvSpPr>
          <p:nvPr/>
        </p:nvSpPr>
        <p:spPr bwMode="auto">
          <a:xfrm>
            <a:off x="8716963" y="1484313"/>
            <a:ext cx="12700" cy="11525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445549" name="Group 109"/>
          <p:cNvGrpSpPr>
            <a:grpSpLocks/>
          </p:cNvGrpSpPr>
          <p:nvPr/>
        </p:nvGrpSpPr>
        <p:grpSpPr bwMode="auto">
          <a:xfrm>
            <a:off x="4767263" y="1819275"/>
            <a:ext cx="3384550" cy="990600"/>
            <a:chOff x="2715" y="1872"/>
            <a:chExt cx="1968" cy="624"/>
          </a:xfrm>
        </p:grpSpPr>
        <p:sp>
          <p:nvSpPr>
            <p:cNvPr id="588846" name="AutoShape 110"/>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9525">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88847" name="Rectangle 111"/>
            <p:cNvSpPr>
              <a:spLocks noChangeArrowheads="1"/>
            </p:cNvSpPr>
            <p:nvPr/>
          </p:nvSpPr>
          <p:spPr bwMode="auto">
            <a:xfrm>
              <a:off x="2715" y="1872"/>
              <a:ext cx="1968" cy="240"/>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sp>
        <p:nvSpPr>
          <p:cNvPr id="588848" name="Rectangle 112"/>
          <p:cNvSpPr>
            <a:spLocks noChangeArrowheads="1"/>
          </p:cNvSpPr>
          <p:nvPr/>
        </p:nvSpPr>
        <p:spPr bwMode="auto">
          <a:xfrm>
            <a:off x="488950" y="2674938"/>
            <a:ext cx="1095375"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00000"/>
                </a:solidFill>
                <a:ea typeface="黑体" panose="02010609060101010101" pitchFamily="49" charset="-122"/>
              </a:rPr>
              <a:t>MAC </a:t>
            </a:r>
            <a:r>
              <a:rPr lang="zh-CN" altLang="en-US" sz="2000" b="1">
                <a:solidFill>
                  <a:srgbClr val="C00000"/>
                </a:solidFill>
                <a:ea typeface="黑体" panose="02010609060101010101" pitchFamily="49" charset="-122"/>
              </a:rPr>
              <a:t>帧</a:t>
            </a:r>
          </a:p>
        </p:txBody>
      </p:sp>
      <p:sp>
        <p:nvSpPr>
          <p:cNvPr id="58884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1F6A3D-467E-4984-92C3-B726017BD253}" type="slidenum">
              <a:rPr lang="zh-CN" altLang="en-US" smtClean="0"/>
              <a:pPr eaLnBrk="1" hangingPunct="1"/>
              <a:t>18</a:t>
            </a:fld>
            <a:endParaRPr lang="en-US" altLang="zh-CN" smtClean="0"/>
          </a:p>
        </p:txBody>
      </p:sp>
      <p:sp>
        <p:nvSpPr>
          <p:cNvPr id="58885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xit" presetSubtype="0" fill="hold" grpId="0" nodeType="withEffect">
                                  <p:stCondLst>
                                    <p:cond delay="0"/>
                                  </p:stCondLst>
                                  <p:childTnLst>
                                    <p:animEffect transition="out" filter="fade">
                                      <p:cBhvr>
                                        <p:cTn id="6" dur="2000"/>
                                        <p:tgtEl>
                                          <p:spTgt spid="445547"/>
                                        </p:tgtEl>
                                      </p:cBhvr>
                                    </p:animEffect>
                                    <p:set>
                                      <p:cBhvr>
                                        <p:cTn id="7" dur="1" fill="hold">
                                          <p:stCondLst>
                                            <p:cond delay="1999"/>
                                          </p:stCondLst>
                                        </p:cTn>
                                        <p:tgtEl>
                                          <p:spTgt spid="445547"/>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2000"/>
                                        <p:tgtEl>
                                          <p:spTgt spid="445548"/>
                                        </p:tgtEl>
                                      </p:cBhvr>
                                    </p:animEffect>
                                    <p:set>
                                      <p:cBhvr>
                                        <p:cTn id="10" dur="1" fill="hold">
                                          <p:stCondLst>
                                            <p:cond delay="1999"/>
                                          </p:stCondLst>
                                        </p:cTn>
                                        <p:tgtEl>
                                          <p:spTgt spid="445548"/>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4000" fill="hold" nodeType="clickEffect">
                                  <p:stCondLst>
                                    <p:cond delay="0"/>
                                  </p:stCondLst>
                                  <p:childTnLst>
                                    <p:anim calcmode="discrete" valueType="str">
                                      <p:cBhvr>
                                        <p:cTn id="14" dur="500" fill="hold"/>
                                        <p:tgtEl>
                                          <p:spTgt spid="4455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547" grpId="0" animBg="1"/>
      <p:bldP spid="4455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49" name="Rectangle 37"/>
          <p:cNvSpPr>
            <a:spLocks noGrp="1" noChangeArrowheads="1"/>
          </p:cNvSpPr>
          <p:nvPr>
            <p:ph type="title"/>
          </p:nvPr>
        </p:nvSpPr>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grpSp>
        <p:nvGrpSpPr>
          <p:cNvPr id="590850" name="组合 1"/>
          <p:cNvGrpSpPr>
            <a:grpSpLocks/>
          </p:cNvGrpSpPr>
          <p:nvPr/>
        </p:nvGrpSpPr>
        <p:grpSpPr bwMode="auto">
          <a:xfrm>
            <a:off x="488950" y="2971800"/>
            <a:ext cx="9413875" cy="2254250"/>
            <a:chOff x="488504" y="2971800"/>
            <a:chExt cx="9414782" cy="2254250"/>
          </a:xfrm>
        </p:grpSpPr>
        <p:sp>
          <p:nvSpPr>
            <p:cNvPr id="590851"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0852"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53"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54"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0855"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0856"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0857"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0858"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0859"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0860"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0861" name="Group 15"/>
            <p:cNvGrpSpPr>
              <a:grpSpLocks/>
            </p:cNvGrpSpPr>
            <p:nvPr/>
          </p:nvGrpSpPr>
          <p:grpSpPr bwMode="auto">
            <a:xfrm>
              <a:off x="1133344" y="3490915"/>
              <a:ext cx="7565363" cy="1385888"/>
              <a:chOff x="659" y="2199"/>
              <a:chExt cx="4399" cy="873"/>
            </a:xfrm>
          </p:grpSpPr>
          <p:sp>
            <p:nvSpPr>
              <p:cNvPr id="590862"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0863" name="Group 17"/>
              <p:cNvGrpSpPr>
                <a:grpSpLocks/>
              </p:cNvGrpSpPr>
              <p:nvPr/>
            </p:nvGrpSpPr>
            <p:grpSpPr bwMode="auto">
              <a:xfrm>
                <a:off x="659" y="2199"/>
                <a:ext cx="4399" cy="489"/>
                <a:chOff x="659" y="2199"/>
                <a:chExt cx="4399" cy="489"/>
              </a:xfrm>
            </p:grpSpPr>
            <p:sp>
              <p:nvSpPr>
                <p:cNvPr id="590864"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5"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6"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7"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8"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69"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0870"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0871"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0872"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0873"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0874"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0875"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0876"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0877"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0878"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0879"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0880" name="Group 34"/>
            <p:cNvGrpSpPr>
              <a:grpSpLocks/>
            </p:cNvGrpSpPr>
            <p:nvPr/>
          </p:nvGrpSpPr>
          <p:grpSpPr bwMode="auto">
            <a:xfrm>
              <a:off x="4669235" y="2971800"/>
              <a:ext cx="3384550" cy="990600"/>
              <a:chOff x="2715" y="1872"/>
              <a:chExt cx="1968" cy="624"/>
            </a:xfrm>
          </p:grpSpPr>
          <p:sp>
            <p:nvSpPr>
              <p:cNvPr id="590881"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0882"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0883" name="AutoShape 38"/>
          <p:cNvSpPr>
            <a:spLocks noChangeArrowheads="1"/>
          </p:cNvSpPr>
          <p:nvPr/>
        </p:nvSpPr>
        <p:spPr bwMode="auto">
          <a:xfrm>
            <a:off x="3079750" y="2133600"/>
            <a:ext cx="3667125" cy="504825"/>
          </a:xfrm>
          <a:prstGeom prst="wedgeRoundRectCallout">
            <a:avLst>
              <a:gd name="adj1" fmla="val -75375"/>
              <a:gd name="adj2" fmla="val 306917"/>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目的地址字段 </a:t>
            </a:r>
            <a:r>
              <a:rPr lang="en-US" altLang="zh-CN" sz="2400" b="1">
                <a:solidFill>
                  <a:srgbClr val="000099"/>
                </a:solidFill>
                <a:ea typeface="黑体" panose="02010609060101010101" pitchFamily="49" charset="-122"/>
              </a:rPr>
              <a:t>6 </a:t>
            </a:r>
            <a:r>
              <a:rPr lang="zh-CN" altLang="en-US" sz="2400" b="1">
                <a:solidFill>
                  <a:srgbClr val="000099"/>
                </a:solidFill>
                <a:ea typeface="黑体" panose="02010609060101010101" pitchFamily="49" charset="-122"/>
              </a:rPr>
              <a:t>字节</a:t>
            </a:r>
          </a:p>
        </p:txBody>
      </p:sp>
      <p:sp>
        <p:nvSpPr>
          <p:cNvPr id="5908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DF798C-F31E-4D77-A752-A5980CE6ECDA}" type="slidenum">
              <a:rPr lang="zh-CN" altLang="en-US" smtClean="0"/>
              <a:pPr eaLnBrk="1" hangingPunct="1"/>
              <a:t>19</a:t>
            </a:fld>
            <a:endParaRPr lang="en-US" altLang="zh-CN" smtClean="0"/>
          </a:p>
        </p:txBody>
      </p:sp>
      <p:sp>
        <p:nvSpPr>
          <p:cNvPr id="5908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7"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grpSp>
        <p:nvGrpSpPr>
          <p:cNvPr id="592898" name="组合 37"/>
          <p:cNvGrpSpPr>
            <a:grpSpLocks/>
          </p:cNvGrpSpPr>
          <p:nvPr/>
        </p:nvGrpSpPr>
        <p:grpSpPr bwMode="auto">
          <a:xfrm>
            <a:off x="488950" y="2971800"/>
            <a:ext cx="9413875" cy="2254250"/>
            <a:chOff x="488504" y="2971800"/>
            <a:chExt cx="9414782" cy="2254250"/>
          </a:xfrm>
        </p:grpSpPr>
        <p:sp>
          <p:nvSpPr>
            <p:cNvPr id="592899"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2900"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01"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02"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2903"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2904"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2905"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2906"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2907"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2908"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2909" name="Group 15"/>
            <p:cNvGrpSpPr>
              <a:grpSpLocks/>
            </p:cNvGrpSpPr>
            <p:nvPr/>
          </p:nvGrpSpPr>
          <p:grpSpPr bwMode="auto">
            <a:xfrm>
              <a:off x="1133344" y="3490915"/>
              <a:ext cx="7565363" cy="1385888"/>
              <a:chOff x="659" y="2199"/>
              <a:chExt cx="4399" cy="873"/>
            </a:xfrm>
          </p:grpSpPr>
          <p:sp>
            <p:nvSpPr>
              <p:cNvPr id="592910"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2911" name="Group 17"/>
              <p:cNvGrpSpPr>
                <a:grpSpLocks/>
              </p:cNvGrpSpPr>
              <p:nvPr/>
            </p:nvGrpSpPr>
            <p:grpSpPr bwMode="auto">
              <a:xfrm>
                <a:off x="659" y="2199"/>
                <a:ext cx="4399" cy="489"/>
                <a:chOff x="659" y="2199"/>
                <a:chExt cx="4399" cy="489"/>
              </a:xfrm>
            </p:grpSpPr>
            <p:sp>
              <p:nvSpPr>
                <p:cNvPr id="592912"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3"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4"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5"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6"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17"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2918"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2919"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2920"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2921"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2922"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2923"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2924"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2925"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2926"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2927"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2928" name="Group 34"/>
            <p:cNvGrpSpPr>
              <a:grpSpLocks/>
            </p:cNvGrpSpPr>
            <p:nvPr/>
          </p:nvGrpSpPr>
          <p:grpSpPr bwMode="auto">
            <a:xfrm>
              <a:off x="4669235" y="2971800"/>
              <a:ext cx="3384550" cy="990600"/>
              <a:chOff x="2715" y="1872"/>
              <a:chExt cx="1968" cy="624"/>
            </a:xfrm>
          </p:grpSpPr>
          <p:sp>
            <p:nvSpPr>
              <p:cNvPr id="592929"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2930"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2931" name="AutoShape 38"/>
          <p:cNvSpPr>
            <a:spLocks noChangeArrowheads="1"/>
          </p:cNvSpPr>
          <p:nvPr/>
        </p:nvSpPr>
        <p:spPr bwMode="auto">
          <a:xfrm>
            <a:off x="3079750" y="2133600"/>
            <a:ext cx="3198813" cy="504825"/>
          </a:xfrm>
          <a:prstGeom prst="wedgeRoundRectCallout">
            <a:avLst>
              <a:gd name="adj1" fmla="val -43278"/>
              <a:gd name="adj2" fmla="val 314153"/>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源地址字段 </a:t>
            </a:r>
            <a:r>
              <a:rPr lang="en-US" altLang="zh-CN" sz="2400" b="1">
                <a:solidFill>
                  <a:srgbClr val="000099"/>
                </a:solidFill>
                <a:ea typeface="黑体" panose="02010609060101010101" pitchFamily="49" charset="-122"/>
              </a:rPr>
              <a:t>6 </a:t>
            </a:r>
            <a:r>
              <a:rPr lang="zh-CN" altLang="en-US" sz="2400" b="1">
                <a:solidFill>
                  <a:srgbClr val="000099"/>
                </a:solidFill>
                <a:ea typeface="黑体" panose="02010609060101010101" pitchFamily="49" charset="-122"/>
              </a:rPr>
              <a:t>字节</a:t>
            </a:r>
          </a:p>
        </p:txBody>
      </p:sp>
      <p:sp>
        <p:nvSpPr>
          <p:cNvPr id="59293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099F10-ABAF-4845-99F1-8E7DDE66FBBE}" type="slidenum">
              <a:rPr lang="zh-CN" altLang="en-US" smtClean="0"/>
              <a:pPr eaLnBrk="1" hangingPunct="1"/>
              <a:t>20</a:t>
            </a:fld>
            <a:endParaRPr lang="en-US" altLang="zh-CN" smtClean="0"/>
          </a:p>
        </p:txBody>
      </p:sp>
      <p:sp>
        <p:nvSpPr>
          <p:cNvPr id="59293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5"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48551" name="Text Box 39"/>
          <p:cNvSpPr txBox="1">
            <a:spLocks noChangeArrowheads="1"/>
          </p:cNvSpPr>
          <p:nvPr/>
        </p:nvSpPr>
        <p:spPr bwMode="auto">
          <a:xfrm>
            <a:off x="1060450" y="1123950"/>
            <a:ext cx="7894638" cy="830263"/>
          </a:xfrm>
          <a:prstGeom prst="rect">
            <a:avLst/>
          </a:prstGeom>
          <a:solidFill>
            <a:srgbClr val="66FF66"/>
          </a:solidFill>
          <a:ln w="9525">
            <a:solidFill>
              <a:srgbClr val="333399"/>
            </a:solidFill>
            <a:miter lim="800000"/>
            <a:headEnd/>
            <a:tailEnd/>
          </a:ln>
        </p:spPr>
        <p:txBody>
          <a:bodyPr wrap="none">
            <a:spAutoFit/>
          </a:bodyPr>
          <a:lstStyle/>
          <a:p>
            <a:pPr algn="ctr" eaLnBrk="0" hangingPunct="0"/>
            <a:r>
              <a:rPr lang="zh-CN" altLang="en-US" sz="2400" b="1">
                <a:solidFill>
                  <a:srgbClr val="000066"/>
                </a:solidFill>
                <a:ea typeface="黑体" panose="02010609060101010101" pitchFamily="49" charset="-122"/>
              </a:rPr>
              <a:t>类型字段用来标志</a:t>
            </a:r>
            <a:r>
              <a:rPr lang="zh-CN" altLang="en-US" sz="2400" b="1">
                <a:solidFill>
                  <a:srgbClr val="C00000"/>
                </a:solidFill>
                <a:ea typeface="黑体" panose="02010609060101010101" pitchFamily="49" charset="-122"/>
              </a:rPr>
              <a:t>上一层</a:t>
            </a:r>
            <a:r>
              <a:rPr lang="zh-CN" altLang="en-US" sz="2400" b="1">
                <a:solidFill>
                  <a:srgbClr val="000066"/>
                </a:solidFill>
                <a:ea typeface="黑体" panose="02010609060101010101" pitchFamily="49" charset="-122"/>
              </a:rPr>
              <a:t>使用的是什么协议，</a:t>
            </a:r>
          </a:p>
          <a:p>
            <a:pPr algn="ctr" eaLnBrk="0" hangingPunct="0"/>
            <a:r>
              <a:rPr lang="zh-CN" altLang="en-US" sz="2400" b="1">
                <a:solidFill>
                  <a:srgbClr val="000066"/>
                </a:solidFill>
                <a:ea typeface="黑体" panose="02010609060101010101" pitchFamily="49" charset="-122"/>
              </a:rPr>
              <a:t>以便把收到的 </a:t>
            </a:r>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帧的数据上交给上一层的这个协议。 </a:t>
            </a:r>
          </a:p>
        </p:txBody>
      </p:sp>
      <p:grpSp>
        <p:nvGrpSpPr>
          <p:cNvPr id="594947" name="组合 38"/>
          <p:cNvGrpSpPr>
            <a:grpSpLocks/>
          </p:cNvGrpSpPr>
          <p:nvPr/>
        </p:nvGrpSpPr>
        <p:grpSpPr bwMode="auto">
          <a:xfrm>
            <a:off x="488950" y="2971800"/>
            <a:ext cx="9413875" cy="2254250"/>
            <a:chOff x="488504" y="2971800"/>
            <a:chExt cx="9414782" cy="2254250"/>
          </a:xfrm>
        </p:grpSpPr>
        <p:sp>
          <p:nvSpPr>
            <p:cNvPr id="594948"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4949"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50"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51"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4952"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4953"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4954"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4955"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4956"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4957"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4958" name="Group 15"/>
            <p:cNvGrpSpPr>
              <a:grpSpLocks/>
            </p:cNvGrpSpPr>
            <p:nvPr/>
          </p:nvGrpSpPr>
          <p:grpSpPr bwMode="auto">
            <a:xfrm>
              <a:off x="1133344" y="3490915"/>
              <a:ext cx="7565363" cy="1385888"/>
              <a:chOff x="659" y="2199"/>
              <a:chExt cx="4399" cy="873"/>
            </a:xfrm>
          </p:grpSpPr>
          <p:sp>
            <p:nvSpPr>
              <p:cNvPr id="594959"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4960" name="Group 17"/>
              <p:cNvGrpSpPr>
                <a:grpSpLocks/>
              </p:cNvGrpSpPr>
              <p:nvPr/>
            </p:nvGrpSpPr>
            <p:grpSpPr bwMode="auto">
              <a:xfrm>
                <a:off x="659" y="2199"/>
                <a:ext cx="4399" cy="489"/>
                <a:chOff x="659" y="2199"/>
                <a:chExt cx="4399" cy="489"/>
              </a:xfrm>
            </p:grpSpPr>
            <p:sp>
              <p:nvSpPr>
                <p:cNvPr id="594961"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2"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3"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4"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5"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66"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4967"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4968"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4969"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4970"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4971"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4972"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4973"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4974"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4975"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4976"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4977" name="Group 34"/>
            <p:cNvGrpSpPr>
              <a:grpSpLocks/>
            </p:cNvGrpSpPr>
            <p:nvPr/>
          </p:nvGrpSpPr>
          <p:grpSpPr bwMode="auto">
            <a:xfrm>
              <a:off x="4669235" y="2971800"/>
              <a:ext cx="3384550" cy="990600"/>
              <a:chOff x="2715" y="1872"/>
              <a:chExt cx="1968" cy="624"/>
            </a:xfrm>
          </p:grpSpPr>
          <p:sp>
            <p:nvSpPr>
              <p:cNvPr id="594978"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4979"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4980" name="AutoShape 38"/>
          <p:cNvSpPr>
            <a:spLocks noChangeArrowheads="1"/>
          </p:cNvSpPr>
          <p:nvPr/>
        </p:nvSpPr>
        <p:spPr bwMode="auto">
          <a:xfrm>
            <a:off x="3236913" y="2133600"/>
            <a:ext cx="2962275" cy="504825"/>
          </a:xfrm>
          <a:prstGeom prst="wedgeRoundRectCallout">
            <a:avLst>
              <a:gd name="adj1" fmla="val -23130"/>
              <a:gd name="adj2" fmla="val 310380"/>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类型字段 </a:t>
            </a:r>
            <a:r>
              <a:rPr lang="en-US" altLang="zh-CN" sz="2400" b="1">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字节</a:t>
            </a:r>
          </a:p>
        </p:txBody>
      </p:sp>
      <p:sp>
        <p:nvSpPr>
          <p:cNvPr id="59498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4BD544-BF54-4011-8041-2424433364DD}" type="slidenum">
              <a:rPr lang="zh-CN" altLang="en-US" smtClean="0"/>
              <a:pPr eaLnBrk="1" hangingPunct="1"/>
              <a:t>21</a:t>
            </a:fld>
            <a:endParaRPr lang="en-US" altLang="zh-CN" smtClean="0"/>
          </a:p>
        </p:txBody>
      </p:sp>
      <p:sp>
        <p:nvSpPr>
          <p:cNvPr id="59498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85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3"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49575" name="Text Box 39"/>
          <p:cNvSpPr txBox="1">
            <a:spLocks noChangeArrowheads="1"/>
          </p:cNvSpPr>
          <p:nvPr/>
        </p:nvSpPr>
        <p:spPr bwMode="auto">
          <a:xfrm>
            <a:off x="474663" y="1136650"/>
            <a:ext cx="9074150" cy="769938"/>
          </a:xfrm>
          <a:prstGeom prst="rect">
            <a:avLst/>
          </a:prstGeom>
          <a:solidFill>
            <a:srgbClr val="66FF66"/>
          </a:solidFill>
          <a:ln w="9525">
            <a:solidFill>
              <a:srgbClr val="333399"/>
            </a:solidFill>
            <a:miter lim="800000"/>
            <a:headEnd/>
            <a:tailEnd/>
          </a:ln>
        </p:spPr>
        <p:txBody>
          <a:bodyPr wrap="none">
            <a:spAutoFit/>
          </a:bodyPr>
          <a:lstStyle/>
          <a:p>
            <a:pPr algn="ctr" eaLnBrk="0" hangingPunct="0"/>
            <a:r>
              <a:rPr lang="zh-CN" altLang="en-US" sz="2400" b="1">
                <a:solidFill>
                  <a:srgbClr val="000066"/>
                </a:solidFill>
                <a:ea typeface="黑体" panose="02010609060101010101" pitchFamily="49" charset="-122"/>
              </a:rPr>
              <a:t>数据字段的正式名称是 </a:t>
            </a:r>
            <a:r>
              <a:rPr lang="en-US" altLang="zh-CN" sz="2400" b="1">
                <a:solidFill>
                  <a:srgbClr val="C00000"/>
                </a:solidFill>
                <a:ea typeface="黑体" panose="02010609060101010101" pitchFamily="49" charset="-122"/>
              </a:rPr>
              <a:t>MAC </a:t>
            </a:r>
            <a:r>
              <a:rPr lang="zh-CN" altLang="en-US" sz="2400" b="1">
                <a:solidFill>
                  <a:srgbClr val="C00000"/>
                </a:solidFill>
                <a:ea typeface="黑体" panose="02010609060101010101" pitchFamily="49" charset="-122"/>
              </a:rPr>
              <a:t>客户数据字段。</a:t>
            </a:r>
          </a:p>
          <a:p>
            <a:pPr algn="ctr" eaLnBrk="0" hangingPunct="0"/>
            <a:r>
              <a:rPr lang="zh-CN" altLang="en-US" sz="2000" b="1">
                <a:solidFill>
                  <a:srgbClr val="000066"/>
                </a:solidFill>
                <a:ea typeface="黑体" panose="02010609060101010101" pitchFamily="49" charset="-122"/>
              </a:rPr>
              <a:t>最小长度 </a:t>
            </a:r>
            <a:r>
              <a:rPr lang="en-US" altLang="zh-CN" sz="2000" b="1">
                <a:solidFill>
                  <a:srgbClr val="000066"/>
                </a:solidFill>
                <a:ea typeface="黑体" panose="02010609060101010101" pitchFamily="49" charset="-122"/>
              </a:rPr>
              <a:t>64 </a:t>
            </a:r>
            <a:r>
              <a:rPr lang="zh-CN" altLang="en-US" sz="2000" b="1">
                <a:solidFill>
                  <a:srgbClr val="000066"/>
                </a:solidFill>
                <a:ea typeface="黑体" panose="02010609060101010101" pitchFamily="49" charset="-122"/>
              </a:rPr>
              <a:t>字节 </a:t>
            </a:r>
            <a:r>
              <a:rPr lang="zh-CN" altLang="en-US" sz="2000" b="1">
                <a:solidFill>
                  <a:srgbClr val="000066"/>
                </a:solidFill>
                <a:ea typeface="黑体" panose="02010609060101010101" pitchFamily="49" charset="-122"/>
                <a:sym typeface="Symbol" panose="05050102010706020507" pitchFamily="18" charset="2"/>
              </a:rPr>
              <a:t></a:t>
            </a:r>
            <a:r>
              <a:rPr lang="zh-CN" altLang="en-US" sz="2000" b="1">
                <a:solidFill>
                  <a:srgbClr val="000066"/>
                </a:solidFill>
                <a:ea typeface="黑体" panose="02010609060101010101" pitchFamily="49" charset="-122"/>
              </a:rPr>
              <a:t> </a:t>
            </a:r>
            <a:r>
              <a:rPr lang="en-US" altLang="zh-CN" sz="2000" b="1">
                <a:solidFill>
                  <a:srgbClr val="000066"/>
                </a:solidFill>
                <a:ea typeface="黑体" panose="02010609060101010101" pitchFamily="49" charset="-122"/>
              </a:rPr>
              <a:t>18 </a:t>
            </a:r>
            <a:r>
              <a:rPr lang="zh-CN" altLang="en-US" sz="2000" b="1">
                <a:solidFill>
                  <a:srgbClr val="000066"/>
                </a:solidFill>
                <a:ea typeface="黑体" panose="02010609060101010101" pitchFamily="49" charset="-122"/>
              </a:rPr>
              <a:t>字节的首部和尾部  </a:t>
            </a:r>
            <a:r>
              <a:rPr lang="en-US" altLang="zh-CN" sz="2000" b="1">
                <a:solidFill>
                  <a:srgbClr val="000066"/>
                </a:solidFill>
                <a:ea typeface="黑体" panose="02010609060101010101" pitchFamily="49" charset="-122"/>
              </a:rPr>
              <a:t>=  </a:t>
            </a:r>
            <a:r>
              <a:rPr lang="zh-CN" altLang="en-US" sz="2000" b="1">
                <a:solidFill>
                  <a:srgbClr val="000066"/>
                </a:solidFill>
                <a:ea typeface="黑体" panose="02010609060101010101" pitchFamily="49" charset="-122"/>
              </a:rPr>
              <a:t>数据字段的最小长度（</a:t>
            </a:r>
            <a:r>
              <a:rPr lang="en-US" altLang="zh-CN" sz="2000" b="1">
                <a:solidFill>
                  <a:srgbClr val="000066"/>
                </a:solidFill>
                <a:ea typeface="黑体" panose="02010609060101010101" pitchFamily="49" charset="-122"/>
              </a:rPr>
              <a:t>46</a:t>
            </a:r>
            <a:r>
              <a:rPr lang="zh-CN" altLang="en-US" sz="2000" b="1">
                <a:solidFill>
                  <a:srgbClr val="000066"/>
                </a:solidFill>
                <a:ea typeface="黑体" panose="02010609060101010101" pitchFamily="49" charset="-122"/>
              </a:rPr>
              <a:t>字节）  </a:t>
            </a:r>
          </a:p>
        </p:txBody>
      </p:sp>
      <p:grpSp>
        <p:nvGrpSpPr>
          <p:cNvPr id="596995" name="组合 38"/>
          <p:cNvGrpSpPr>
            <a:grpSpLocks/>
          </p:cNvGrpSpPr>
          <p:nvPr/>
        </p:nvGrpSpPr>
        <p:grpSpPr bwMode="auto">
          <a:xfrm>
            <a:off x="488950" y="2971800"/>
            <a:ext cx="9413875" cy="2254250"/>
            <a:chOff x="488504" y="2971800"/>
            <a:chExt cx="9414782" cy="2254250"/>
          </a:xfrm>
        </p:grpSpPr>
        <p:sp>
          <p:nvSpPr>
            <p:cNvPr id="596996"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6997"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6998"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6999"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7000"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7001"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7002"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7003"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7004"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7005"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7006" name="Group 15"/>
            <p:cNvGrpSpPr>
              <a:grpSpLocks/>
            </p:cNvGrpSpPr>
            <p:nvPr/>
          </p:nvGrpSpPr>
          <p:grpSpPr bwMode="auto">
            <a:xfrm>
              <a:off x="1133344" y="3490915"/>
              <a:ext cx="7565363" cy="1385888"/>
              <a:chOff x="659" y="2199"/>
              <a:chExt cx="4399" cy="873"/>
            </a:xfrm>
          </p:grpSpPr>
          <p:sp>
            <p:nvSpPr>
              <p:cNvPr id="597007"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7008" name="Group 17"/>
              <p:cNvGrpSpPr>
                <a:grpSpLocks/>
              </p:cNvGrpSpPr>
              <p:nvPr/>
            </p:nvGrpSpPr>
            <p:grpSpPr bwMode="auto">
              <a:xfrm>
                <a:off x="659" y="2199"/>
                <a:ext cx="4399" cy="489"/>
                <a:chOff x="659" y="2199"/>
                <a:chExt cx="4399" cy="489"/>
              </a:xfrm>
            </p:grpSpPr>
            <p:sp>
              <p:nvSpPr>
                <p:cNvPr id="597009"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0"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1"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2"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3"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14"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7015"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7016"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7017"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7018"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7019"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7020"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7021"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7022"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7023"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7024"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7025" name="Group 34"/>
            <p:cNvGrpSpPr>
              <a:grpSpLocks/>
            </p:cNvGrpSpPr>
            <p:nvPr/>
          </p:nvGrpSpPr>
          <p:grpSpPr bwMode="auto">
            <a:xfrm>
              <a:off x="4669235" y="2971800"/>
              <a:ext cx="3384550" cy="990600"/>
              <a:chOff x="2715" y="1872"/>
              <a:chExt cx="1968" cy="624"/>
            </a:xfrm>
          </p:grpSpPr>
          <p:sp>
            <p:nvSpPr>
              <p:cNvPr id="597026"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7027"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7028" name="AutoShape 38"/>
          <p:cNvSpPr>
            <a:spLocks noChangeArrowheads="1"/>
          </p:cNvSpPr>
          <p:nvPr/>
        </p:nvSpPr>
        <p:spPr bwMode="auto">
          <a:xfrm>
            <a:off x="2768600" y="2133600"/>
            <a:ext cx="3978275" cy="504825"/>
          </a:xfrm>
          <a:prstGeom prst="wedgeRoundRectCallout">
            <a:avLst>
              <a:gd name="adj1" fmla="val 12042"/>
              <a:gd name="adj2" fmla="val 310380"/>
              <a:gd name="adj3" fmla="val 16667"/>
            </a:avLst>
          </a:prstGeom>
          <a:solidFill>
            <a:srgbClr val="FFFF99"/>
          </a:solidFill>
          <a:ln w="9525">
            <a:solidFill>
              <a:schemeClr val="tx1"/>
            </a:solidFill>
            <a:miter lim="800000"/>
            <a:headEnd/>
            <a:tailEnd/>
          </a:ln>
        </p:spPr>
        <p:txBody>
          <a:bodyPr/>
          <a:lstStyle/>
          <a:p>
            <a:pPr algn="ctr" eaLnBrk="0" hangingPunct="0"/>
            <a:r>
              <a:rPr lang="zh-CN" altLang="en-US" sz="2400" b="1">
                <a:solidFill>
                  <a:srgbClr val="000099"/>
                </a:solidFill>
                <a:ea typeface="黑体" panose="02010609060101010101" pitchFamily="49" charset="-122"/>
              </a:rPr>
              <a:t>数据字段 </a:t>
            </a:r>
            <a:r>
              <a:rPr lang="en-US" altLang="zh-CN" sz="2400" b="1">
                <a:solidFill>
                  <a:srgbClr val="000099"/>
                </a:solidFill>
                <a:ea typeface="黑体" panose="02010609060101010101" pitchFamily="49" charset="-122"/>
              </a:rPr>
              <a:t>46 ~ 1500 </a:t>
            </a:r>
            <a:r>
              <a:rPr lang="zh-CN" altLang="en-US" sz="2400" b="1">
                <a:solidFill>
                  <a:srgbClr val="000099"/>
                </a:solidFill>
                <a:ea typeface="黑体" panose="02010609060101010101" pitchFamily="49" charset="-122"/>
              </a:rPr>
              <a:t>字节</a:t>
            </a:r>
          </a:p>
        </p:txBody>
      </p:sp>
      <p:sp>
        <p:nvSpPr>
          <p:cNvPr id="5970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9CAD29-B6CE-4896-85F5-0CFD5F41FB59}" type="slidenum">
              <a:rPr lang="zh-CN" altLang="en-US" smtClean="0"/>
              <a:pPr eaLnBrk="1" hangingPunct="1"/>
              <a:t>22</a:t>
            </a:fld>
            <a:endParaRPr lang="en-US" altLang="zh-CN" smtClean="0"/>
          </a:p>
        </p:txBody>
      </p:sp>
      <p:sp>
        <p:nvSpPr>
          <p:cNvPr id="5970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95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7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1" name="Rectangle 37"/>
          <p:cNvSpPr>
            <a:spLocks noGrp="1" noChangeArrowheads="1"/>
          </p:cNvSpPr>
          <p:nvPr>
            <p:ph type="title"/>
          </p:nvPr>
        </p:nvSpPr>
        <p:spPr>
          <a:xfrm>
            <a:off x="974725" y="188913"/>
            <a:ext cx="8442325" cy="768350"/>
          </a:xfrm>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50599" name="Text Box 39"/>
          <p:cNvSpPr txBox="1">
            <a:spLocks noChangeArrowheads="1"/>
          </p:cNvSpPr>
          <p:nvPr/>
        </p:nvSpPr>
        <p:spPr bwMode="auto">
          <a:xfrm>
            <a:off x="1679575" y="1138238"/>
            <a:ext cx="6667500" cy="830262"/>
          </a:xfrm>
          <a:prstGeom prst="rect">
            <a:avLst/>
          </a:prstGeom>
          <a:solidFill>
            <a:srgbClr val="66FF66"/>
          </a:solidFill>
          <a:ln w="9525">
            <a:solidFill>
              <a:srgbClr val="333399"/>
            </a:solidFill>
            <a:miter lim="800000"/>
            <a:headEnd/>
            <a:tailEnd/>
          </a:ln>
        </p:spPr>
        <p:txBody>
          <a:bodyPr wrap="none">
            <a:spAutoFit/>
          </a:bodyPr>
          <a:lstStyle/>
          <a:p>
            <a:pPr algn="ctr" eaLnBrk="0" hangingPunct="0"/>
            <a:r>
              <a:rPr lang="zh-CN" altLang="en-US" sz="2400" b="1">
                <a:solidFill>
                  <a:srgbClr val="000066"/>
                </a:solidFill>
                <a:ea typeface="黑体" panose="02010609060101010101" pitchFamily="49" charset="-122"/>
              </a:rPr>
              <a:t>当传输媒体的误码率为 </a:t>
            </a:r>
            <a:r>
              <a:rPr lang="en-US" altLang="zh-CN" sz="2400" b="1">
                <a:solidFill>
                  <a:srgbClr val="000066"/>
                </a:solidFill>
                <a:ea typeface="黑体" panose="02010609060101010101" pitchFamily="49" charset="-122"/>
              </a:rPr>
              <a:t>1</a:t>
            </a:r>
            <a:r>
              <a:rPr lang="en-US" altLang="zh-CN" sz="2400" b="1">
                <a:solidFill>
                  <a:srgbClr val="000066"/>
                </a:solidFill>
                <a:ea typeface="黑体" panose="02010609060101010101" pitchFamily="49" charset="-122"/>
                <a:sym typeface="Symbol" panose="05050102010706020507" pitchFamily="18" charset="2"/>
              </a:rPr>
              <a:t></a:t>
            </a:r>
            <a:r>
              <a:rPr lang="en-US" altLang="zh-CN" sz="2400" b="1">
                <a:solidFill>
                  <a:srgbClr val="000066"/>
                </a:solidFill>
                <a:ea typeface="黑体" panose="02010609060101010101" pitchFamily="49" charset="-122"/>
              </a:rPr>
              <a:t>10</a:t>
            </a:r>
            <a:r>
              <a:rPr lang="en-US" altLang="zh-CN" sz="2400" b="1" baseline="30000">
                <a:solidFill>
                  <a:srgbClr val="000066"/>
                </a:solidFill>
                <a:ea typeface="黑体" panose="02010609060101010101" pitchFamily="49" charset="-122"/>
                <a:sym typeface="Symbol" panose="05050102010706020507" pitchFamily="18" charset="2"/>
              </a:rPr>
              <a:t></a:t>
            </a:r>
            <a:r>
              <a:rPr lang="en-US" altLang="zh-CN" sz="2400" b="1" baseline="30000">
                <a:solidFill>
                  <a:srgbClr val="000066"/>
                </a:solidFill>
                <a:ea typeface="黑体" panose="02010609060101010101" pitchFamily="49" charset="-122"/>
              </a:rPr>
              <a:t>8</a:t>
            </a:r>
            <a:r>
              <a:rPr lang="en-US" altLang="zh-CN" sz="2400" b="1">
                <a:solidFill>
                  <a:srgbClr val="000066"/>
                </a:solidFill>
                <a:ea typeface="黑体" panose="02010609060101010101" pitchFamily="49" charset="-122"/>
              </a:rPr>
              <a:t> </a:t>
            </a:r>
            <a:r>
              <a:rPr lang="zh-CN" altLang="en-US" sz="2400" b="1">
                <a:solidFill>
                  <a:srgbClr val="000066"/>
                </a:solidFill>
                <a:ea typeface="黑体" panose="02010609060101010101" pitchFamily="49" charset="-122"/>
              </a:rPr>
              <a:t>时，</a:t>
            </a:r>
          </a:p>
          <a:p>
            <a:pPr algn="ctr" eaLnBrk="0" hangingPunct="0"/>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子层可使未检测到的差错小于 </a:t>
            </a:r>
            <a:r>
              <a:rPr lang="en-US" altLang="zh-CN" sz="2400" b="1">
                <a:solidFill>
                  <a:srgbClr val="000066"/>
                </a:solidFill>
                <a:ea typeface="黑体" panose="02010609060101010101" pitchFamily="49" charset="-122"/>
              </a:rPr>
              <a:t>1</a:t>
            </a:r>
            <a:r>
              <a:rPr lang="en-US" altLang="zh-CN" sz="2400" b="1">
                <a:solidFill>
                  <a:srgbClr val="000066"/>
                </a:solidFill>
                <a:ea typeface="黑体" panose="02010609060101010101" pitchFamily="49" charset="-122"/>
                <a:sym typeface="Symbol" panose="05050102010706020507" pitchFamily="18" charset="2"/>
              </a:rPr>
              <a:t></a:t>
            </a:r>
            <a:r>
              <a:rPr lang="en-US" altLang="zh-CN" sz="2400" b="1">
                <a:solidFill>
                  <a:srgbClr val="000066"/>
                </a:solidFill>
                <a:ea typeface="黑体" panose="02010609060101010101" pitchFamily="49" charset="-122"/>
              </a:rPr>
              <a:t>10</a:t>
            </a:r>
            <a:r>
              <a:rPr lang="en-US" altLang="zh-CN" sz="2400" b="1" baseline="30000">
                <a:solidFill>
                  <a:srgbClr val="000066"/>
                </a:solidFill>
                <a:ea typeface="黑体" panose="02010609060101010101" pitchFamily="49" charset="-122"/>
                <a:sym typeface="Symbol" panose="05050102010706020507" pitchFamily="18" charset="2"/>
              </a:rPr>
              <a:t></a:t>
            </a:r>
            <a:r>
              <a:rPr lang="en-US" altLang="zh-CN" sz="2400" b="1" baseline="30000">
                <a:solidFill>
                  <a:srgbClr val="000066"/>
                </a:solidFill>
                <a:ea typeface="黑体" panose="02010609060101010101" pitchFamily="49" charset="-122"/>
              </a:rPr>
              <a:t>14</a:t>
            </a:r>
            <a:r>
              <a:rPr lang="zh-CN" altLang="en-US" sz="2400" b="1">
                <a:solidFill>
                  <a:srgbClr val="000066"/>
                </a:solidFill>
                <a:ea typeface="黑体" panose="02010609060101010101" pitchFamily="49" charset="-122"/>
              </a:rPr>
              <a:t>。 </a:t>
            </a:r>
          </a:p>
        </p:txBody>
      </p:sp>
      <p:sp>
        <p:nvSpPr>
          <p:cNvPr id="450600" name="Text Box 40"/>
          <p:cNvSpPr txBox="1">
            <a:spLocks noChangeArrowheads="1"/>
          </p:cNvSpPr>
          <p:nvPr/>
        </p:nvSpPr>
        <p:spPr bwMode="auto">
          <a:xfrm>
            <a:off x="1847850" y="5300663"/>
            <a:ext cx="6646863" cy="1200150"/>
          </a:xfrm>
          <a:prstGeom prst="rect">
            <a:avLst/>
          </a:prstGeom>
          <a:solidFill>
            <a:srgbClr val="FFC000"/>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当数据字段的长度小于 </a:t>
            </a:r>
            <a:r>
              <a:rPr lang="en-US" altLang="zh-CN" sz="2400" b="1">
                <a:solidFill>
                  <a:srgbClr val="000099"/>
                </a:solidFill>
                <a:ea typeface="黑体" panose="02010609060101010101" pitchFamily="49" charset="-122"/>
              </a:rPr>
              <a:t>46 </a:t>
            </a:r>
            <a:r>
              <a:rPr lang="zh-CN" altLang="en-US" sz="2400" b="1">
                <a:solidFill>
                  <a:srgbClr val="000099"/>
                </a:solidFill>
                <a:ea typeface="黑体" panose="02010609060101010101" pitchFamily="49" charset="-122"/>
              </a:rPr>
              <a:t>字节时，</a:t>
            </a:r>
          </a:p>
          <a:p>
            <a:pPr algn="ctr" eaLnBrk="0" hangingPunct="0"/>
            <a:r>
              <a:rPr lang="zh-CN" altLang="en-US" sz="2400" b="1">
                <a:solidFill>
                  <a:srgbClr val="000099"/>
                </a:solidFill>
                <a:ea typeface="黑体" panose="02010609060101010101" pitchFamily="49" charset="-122"/>
              </a:rPr>
              <a:t>应在数据字段的后面加入整数字节的</a:t>
            </a:r>
            <a:r>
              <a:rPr lang="zh-CN" altLang="en-US" sz="2400" b="1">
                <a:solidFill>
                  <a:srgbClr val="FF0000"/>
                </a:solidFill>
                <a:ea typeface="黑体" panose="02010609060101010101" pitchFamily="49" charset="-122"/>
              </a:rPr>
              <a:t>填充字段，</a:t>
            </a:r>
          </a:p>
          <a:p>
            <a:pPr algn="ctr" eaLnBrk="0" hangingPunct="0"/>
            <a:r>
              <a:rPr lang="zh-CN" altLang="en-US" sz="2400" b="1">
                <a:solidFill>
                  <a:srgbClr val="000099"/>
                </a:solidFill>
                <a:ea typeface="黑体" panose="02010609060101010101" pitchFamily="49" charset="-122"/>
              </a:rPr>
              <a:t>以保证以太网的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帧长不小于 </a:t>
            </a:r>
            <a:r>
              <a:rPr lang="en-US" altLang="zh-CN" sz="2400" b="1">
                <a:solidFill>
                  <a:srgbClr val="000099"/>
                </a:solidFill>
                <a:ea typeface="黑体" panose="02010609060101010101" pitchFamily="49" charset="-122"/>
              </a:rPr>
              <a:t>64 </a:t>
            </a:r>
            <a:r>
              <a:rPr lang="zh-CN" altLang="en-US" sz="2400" b="1">
                <a:solidFill>
                  <a:srgbClr val="000099"/>
                </a:solidFill>
                <a:ea typeface="黑体" panose="02010609060101010101" pitchFamily="49" charset="-122"/>
              </a:rPr>
              <a:t>字节。 </a:t>
            </a:r>
          </a:p>
        </p:txBody>
      </p:sp>
      <p:grpSp>
        <p:nvGrpSpPr>
          <p:cNvPr id="599044" name="组合 39"/>
          <p:cNvGrpSpPr>
            <a:grpSpLocks/>
          </p:cNvGrpSpPr>
          <p:nvPr/>
        </p:nvGrpSpPr>
        <p:grpSpPr bwMode="auto">
          <a:xfrm>
            <a:off x="488950" y="2971800"/>
            <a:ext cx="9413875" cy="2254250"/>
            <a:chOff x="488504" y="2971800"/>
            <a:chExt cx="9414782" cy="2254250"/>
          </a:xfrm>
        </p:grpSpPr>
        <p:sp>
          <p:nvSpPr>
            <p:cNvPr id="599045"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9046"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47"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48"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599049"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599050"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599051"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9052"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599053"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599054"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9055" name="Group 15"/>
            <p:cNvGrpSpPr>
              <a:grpSpLocks/>
            </p:cNvGrpSpPr>
            <p:nvPr/>
          </p:nvGrpSpPr>
          <p:grpSpPr bwMode="auto">
            <a:xfrm>
              <a:off x="1133344" y="3490915"/>
              <a:ext cx="7565363" cy="1385888"/>
              <a:chOff x="659" y="2199"/>
              <a:chExt cx="4399" cy="873"/>
            </a:xfrm>
          </p:grpSpPr>
          <p:sp>
            <p:nvSpPr>
              <p:cNvPr id="599056"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599057" name="Group 17"/>
              <p:cNvGrpSpPr>
                <a:grpSpLocks/>
              </p:cNvGrpSpPr>
              <p:nvPr/>
            </p:nvGrpSpPr>
            <p:grpSpPr bwMode="auto">
              <a:xfrm>
                <a:off x="659" y="2199"/>
                <a:ext cx="4399" cy="489"/>
                <a:chOff x="659" y="2199"/>
                <a:chExt cx="4399" cy="489"/>
              </a:xfrm>
            </p:grpSpPr>
            <p:sp>
              <p:nvSpPr>
                <p:cNvPr id="599058"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59"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0"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1"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2"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63"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599064"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599065"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599066"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599067"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599068"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9069"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599070"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599071"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599072"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599073"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599074" name="Group 34"/>
            <p:cNvGrpSpPr>
              <a:grpSpLocks/>
            </p:cNvGrpSpPr>
            <p:nvPr/>
          </p:nvGrpSpPr>
          <p:grpSpPr bwMode="auto">
            <a:xfrm>
              <a:off x="4669235" y="2971800"/>
              <a:ext cx="3384550" cy="990600"/>
              <a:chOff x="2715" y="1872"/>
              <a:chExt cx="1968" cy="624"/>
            </a:xfrm>
          </p:grpSpPr>
          <p:sp>
            <p:nvSpPr>
              <p:cNvPr id="599075"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599076"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sp>
        <p:nvSpPr>
          <p:cNvPr id="599077" name="AutoShape 38"/>
          <p:cNvSpPr>
            <a:spLocks noChangeArrowheads="1"/>
          </p:cNvSpPr>
          <p:nvPr/>
        </p:nvSpPr>
        <p:spPr bwMode="auto">
          <a:xfrm>
            <a:off x="3392488" y="2133600"/>
            <a:ext cx="2963862" cy="504825"/>
          </a:xfrm>
          <a:prstGeom prst="wedgeRoundRectCallout">
            <a:avLst>
              <a:gd name="adj1" fmla="val 116454"/>
              <a:gd name="adj2" fmla="val 310380"/>
              <a:gd name="adj3" fmla="val 16667"/>
            </a:avLst>
          </a:prstGeom>
          <a:solidFill>
            <a:srgbClr val="FFFF99"/>
          </a:solidFill>
          <a:ln w="9525">
            <a:solidFill>
              <a:schemeClr val="tx1"/>
            </a:solidFill>
            <a:miter lim="800000"/>
            <a:headEnd/>
            <a:tailEnd/>
          </a:ln>
        </p:spPr>
        <p:txBody>
          <a:bodyPr/>
          <a:lstStyle/>
          <a:p>
            <a:pPr algn="ctr" eaLnBrk="0" hangingPunct="0"/>
            <a:r>
              <a:rPr lang="en-US" altLang="zh-CN" sz="2400" b="1">
                <a:solidFill>
                  <a:srgbClr val="000099"/>
                </a:solidFill>
                <a:ea typeface="黑体" panose="02010609060101010101" pitchFamily="49" charset="-122"/>
              </a:rPr>
              <a:t>FCS </a:t>
            </a:r>
            <a:r>
              <a:rPr lang="zh-CN" altLang="en-US" sz="2400" b="1">
                <a:solidFill>
                  <a:srgbClr val="000099"/>
                </a:solidFill>
                <a:ea typeface="黑体" panose="02010609060101010101" pitchFamily="49" charset="-122"/>
              </a:rPr>
              <a:t>字段 </a:t>
            </a:r>
            <a:r>
              <a:rPr lang="en-US" altLang="zh-CN" sz="2400" b="1">
                <a:solidFill>
                  <a:srgbClr val="000099"/>
                </a:solidFill>
                <a:ea typeface="黑体" panose="02010609060101010101" pitchFamily="49" charset="-122"/>
              </a:rPr>
              <a:t>4 </a:t>
            </a:r>
            <a:r>
              <a:rPr lang="zh-CN" altLang="en-US" sz="2400" b="1">
                <a:solidFill>
                  <a:srgbClr val="000099"/>
                </a:solidFill>
                <a:ea typeface="黑体" panose="02010609060101010101" pitchFamily="49" charset="-122"/>
              </a:rPr>
              <a:t>字节</a:t>
            </a:r>
          </a:p>
        </p:txBody>
      </p:sp>
      <p:sp>
        <p:nvSpPr>
          <p:cNvPr id="59907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C7E289-CA57-498E-9139-9CF67BB279BF}" type="slidenum">
              <a:rPr lang="zh-CN" altLang="en-US" smtClean="0"/>
              <a:pPr eaLnBrk="1" hangingPunct="1"/>
              <a:t>23</a:t>
            </a:fld>
            <a:endParaRPr lang="en-US" altLang="zh-CN" smtClean="0"/>
          </a:p>
        </p:txBody>
      </p:sp>
      <p:sp>
        <p:nvSpPr>
          <p:cNvPr id="59907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9" grpId="0" animBg="1"/>
      <p:bldP spid="45060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89" name="Rectangle 37"/>
          <p:cNvSpPr>
            <a:spLocks noGrp="1" noChangeArrowheads="1"/>
          </p:cNvSpPr>
          <p:nvPr>
            <p:ph type="title"/>
          </p:nvPr>
        </p:nvSpPr>
        <p:spPr/>
        <p:txBody>
          <a:bodyPr/>
          <a:lstStyle/>
          <a:p>
            <a:pPr algn="ctr"/>
            <a:r>
              <a:rPr lang="zh-CN" altLang="en-US" smtClean="0">
                <a:ea typeface="黑体" panose="02010609060101010101" pitchFamily="49" charset="-122"/>
              </a:rPr>
              <a:t>以太网 </a:t>
            </a:r>
            <a:r>
              <a:rPr lang="en-US" altLang="zh-CN" smtClean="0">
                <a:ea typeface="黑体" panose="02010609060101010101" pitchFamily="49" charset="-122"/>
              </a:rPr>
              <a:t>V2 </a:t>
            </a:r>
            <a:r>
              <a:rPr lang="zh-CN" altLang="en-US" smtClean="0">
                <a:ea typeface="黑体" panose="02010609060101010101" pitchFamily="49" charset="-122"/>
              </a:rPr>
              <a:t>的 </a:t>
            </a:r>
            <a:r>
              <a:rPr lang="en-US" altLang="zh-CN" smtClean="0">
                <a:ea typeface="黑体" panose="02010609060101010101" pitchFamily="49" charset="-122"/>
              </a:rPr>
              <a:t>MAC </a:t>
            </a:r>
            <a:r>
              <a:rPr lang="zh-CN" altLang="en-US" smtClean="0">
                <a:ea typeface="黑体" panose="02010609060101010101" pitchFamily="49" charset="-122"/>
              </a:rPr>
              <a:t>帧格式</a:t>
            </a:r>
          </a:p>
        </p:txBody>
      </p:sp>
      <p:sp>
        <p:nvSpPr>
          <p:cNvPr id="451639" name="Text Box 55"/>
          <p:cNvSpPr txBox="1">
            <a:spLocks noChangeArrowheads="1"/>
          </p:cNvSpPr>
          <p:nvPr/>
        </p:nvSpPr>
        <p:spPr bwMode="auto">
          <a:xfrm>
            <a:off x="631825" y="1211263"/>
            <a:ext cx="9017000" cy="1200150"/>
          </a:xfrm>
          <a:prstGeom prst="rect">
            <a:avLst/>
          </a:prstGeom>
          <a:solidFill>
            <a:srgbClr val="66FF66"/>
          </a:solidFill>
          <a:ln w="9525">
            <a:solidFill>
              <a:srgbClr val="333399"/>
            </a:solidFill>
            <a:miter lim="800000"/>
            <a:headEnd/>
            <a:tailEnd/>
          </a:ln>
        </p:spPr>
        <p:txBody>
          <a:bodyPr>
            <a:spAutoFit/>
          </a:bodyPr>
          <a:lstStyle/>
          <a:p>
            <a:pPr eaLnBrk="0" hangingPunct="0"/>
            <a:r>
              <a:rPr lang="zh-CN" altLang="en-US" sz="2400" b="1">
                <a:solidFill>
                  <a:srgbClr val="000066"/>
                </a:solidFill>
                <a:ea typeface="黑体" panose="02010609060101010101" pitchFamily="49" charset="-122"/>
              </a:rPr>
              <a:t>在帧的前面插入（硬件生成）的 </a:t>
            </a:r>
            <a:r>
              <a:rPr lang="en-US" altLang="zh-CN" sz="2400" b="1">
                <a:solidFill>
                  <a:srgbClr val="000066"/>
                </a:solidFill>
                <a:ea typeface="黑体" panose="02010609060101010101" pitchFamily="49" charset="-122"/>
              </a:rPr>
              <a:t>8 </a:t>
            </a:r>
            <a:r>
              <a:rPr lang="zh-CN" altLang="en-US" sz="2400" b="1">
                <a:solidFill>
                  <a:srgbClr val="000066"/>
                </a:solidFill>
                <a:ea typeface="黑体" panose="02010609060101010101" pitchFamily="49" charset="-122"/>
              </a:rPr>
              <a:t>字节中，第一个字段共 </a:t>
            </a:r>
            <a:r>
              <a:rPr lang="en-US" altLang="zh-CN" sz="2400" b="1">
                <a:solidFill>
                  <a:srgbClr val="000066"/>
                </a:solidFill>
                <a:ea typeface="黑体" panose="02010609060101010101" pitchFamily="49" charset="-122"/>
              </a:rPr>
              <a:t>7 </a:t>
            </a:r>
            <a:r>
              <a:rPr lang="zh-CN" altLang="en-US" sz="2400" b="1">
                <a:solidFill>
                  <a:srgbClr val="000066"/>
                </a:solidFill>
                <a:ea typeface="黑体" panose="02010609060101010101" pitchFamily="49" charset="-122"/>
              </a:rPr>
              <a:t>个字节，是前同步码，用来迅速实现 </a:t>
            </a:r>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帧的比特同步。第二个字段 </a:t>
            </a:r>
            <a:r>
              <a:rPr lang="en-US" altLang="zh-CN" sz="2400" b="1">
                <a:solidFill>
                  <a:srgbClr val="000066"/>
                </a:solidFill>
                <a:ea typeface="黑体" panose="02010609060101010101" pitchFamily="49" charset="-122"/>
              </a:rPr>
              <a:t>1 </a:t>
            </a:r>
            <a:r>
              <a:rPr lang="zh-CN" altLang="en-US" sz="2400" b="1">
                <a:solidFill>
                  <a:srgbClr val="000066"/>
                </a:solidFill>
                <a:ea typeface="黑体" panose="02010609060101010101" pitchFamily="49" charset="-122"/>
              </a:rPr>
              <a:t>个字节是帧开始定界符，表示后面的信息就是 </a:t>
            </a:r>
            <a:r>
              <a:rPr lang="en-US" altLang="zh-CN" sz="2400" b="1">
                <a:solidFill>
                  <a:srgbClr val="000066"/>
                </a:solidFill>
                <a:ea typeface="黑体" panose="02010609060101010101" pitchFamily="49" charset="-122"/>
              </a:rPr>
              <a:t>MAC </a:t>
            </a:r>
            <a:r>
              <a:rPr lang="zh-CN" altLang="en-US" sz="2400" b="1">
                <a:solidFill>
                  <a:srgbClr val="000066"/>
                </a:solidFill>
                <a:ea typeface="黑体" panose="02010609060101010101" pitchFamily="49" charset="-122"/>
              </a:rPr>
              <a:t>帧。 </a:t>
            </a:r>
          </a:p>
        </p:txBody>
      </p:sp>
      <p:sp>
        <p:nvSpPr>
          <p:cNvPr id="451640" name="Text Box 56"/>
          <p:cNvSpPr txBox="1">
            <a:spLocks noChangeArrowheads="1"/>
          </p:cNvSpPr>
          <p:nvPr/>
        </p:nvSpPr>
        <p:spPr bwMode="auto">
          <a:xfrm>
            <a:off x="5616575" y="5373688"/>
            <a:ext cx="4032250" cy="1200150"/>
          </a:xfrm>
          <a:prstGeom prst="rect">
            <a:avLst/>
          </a:prstGeom>
          <a:solidFill>
            <a:srgbClr val="FFFF66"/>
          </a:solidFill>
          <a:ln w="9525">
            <a:solidFill>
              <a:srgbClr val="333399"/>
            </a:solidFill>
            <a:miter lim="800000"/>
            <a:headEnd/>
            <a:tailEnd/>
          </a:ln>
        </p:spPr>
        <p:txBody>
          <a:bodyPr>
            <a:spAutoFit/>
          </a:bodyPr>
          <a:lstStyle/>
          <a:p>
            <a:pPr algn="ctr" eaLnBrk="0" hangingPunct="0"/>
            <a:r>
              <a:rPr lang="zh-CN" altLang="en-US" sz="2400" b="1">
                <a:solidFill>
                  <a:srgbClr val="000099"/>
                </a:solidFill>
                <a:ea typeface="黑体" panose="02010609060101010101" pitchFamily="49" charset="-122"/>
              </a:rPr>
              <a:t>为了达到比特同步，</a:t>
            </a:r>
          </a:p>
          <a:p>
            <a:pPr algn="ctr" eaLnBrk="0" hangingPunct="0"/>
            <a:r>
              <a:rPr lang="zh-CN" altLang="en-US" sz="2400" b="1">
                <a:solidFill>
                  <a:srgbClr val="000099"/>
                </a:solidFill>
                <a:ea typeface="黑体" panose="02010609060101010101" pitchFamily="49" charset="-122"/>
              </a:rPr>
              <a:t>在传输媒体上实际传送的</a:t>
            </a:r>
          </a:p>
          <a:p>
            <a:pPr algn="ctr" eaLnBrk="0" hangingPunct="0"/>
            <a:r>
              <a:rPr lang="zh-CN" altLang="en-US" sz="2400" b="1">
                <a:solidFill>
                  <a:srgbClr val="000099"/>
                </a:solidFill>
                <a:ea typeface="黑体" panose="02010609060101010101" pitchFamily="49" charset="-122"/>
              </a:rPr>
              <a:t>要比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帧还多 </a:t>
            </a:r>
            <a:r>
              <a:rPr lang="en-US" altLang="zh-CN" sz="2400" b="1">
                <a:solidFill>
                  <a:srgbClr val="000099"/>
                </a:solidFill>
                <a:ea typeface="黑体" panose="02010609060101010101" pitchFamily="49" charset="-122"/>
              </a:rPr>
              <a:t>8 </a:t>
            </a:r>
            <a:r>
              <a:rPr lang="zh-CN" altLang="en-US" sz="2400" b="1">
                <a:solidFill>
                  <a:srgbClr val="000099"/>
                </a:solidFill>
                <a:ea typeface="黑体" panose="02010609060101010101" pitchFamily="49" charset="-122"/>
              </a:rPr>
              <a:t>个字节</a:t>
            </a:r>
          </a:p>
        </p:txBody>
      </p:sp>
      <p:grpSp>
        <p:nvGrpSpPr>
          <p:cNvPr id="601092" name="组合 55"/>
          <p:cNvGrpSpPr>
            <a:grpSpLocks/>
          </p:cNvGrpSpPr>
          <p:nvPr/>
        </p:nvGrpSpPr>
        <p:grpSpPr bwMode="auto">
          <a:xfrm>
            <a:off x="488950" y="2971800"/>
            <a:ext cx="9413875" cy="2254250"/>
            <a:chOff x="488504" y="2971800"/>
            <a:chExt cx="9414782" cy="2254250"/>
          </a:xfrm>
        </p:grpSpPr>
        <p:sp>
          <p:nvSpPr>
            <p:cNvPr id="601093" name="Line 2"/>
            <p:cNvSpPr>
              <a:spLocks noChangeShapeType="1"/>
            </p:cNvSpPr>
            <p:nvPr/>
          </p:nvSpPr>
          <p:spPr bwMode="auto">
            <a:xfrm flipV="1">
              <a:off x="488504" y="4478338"/>
              <a:ext cx="9361040" cy="17266"/>
            </a:xfrm>
            <a:prstGeom prst="line">
              <a:avLst/>
            </a:prstGeom>
            <a:noFill/>
            <a:ln w="57150" cmpd="dbl">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01094" name="Rectangle 3"/>
            <p:cNvSpPr>
              <a:spLocks noChangeArrowheads="1"/>
            </p:cNvSpPr>
            <p:nvPr/>
          </p:nvSpPr>
          <p:spPr bwMode="auto">
            <a:xfrm>
              <a:off x="1683677" y="4730750"/>
              <a:ext cx="6947958" cy="4953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095" name="Rectangle 4"/>
            <p:cNvSpPr>
              <a:spLocks noChangeArrowheads="1"/>
            </p:cNvSpPr>
            <p:nvPr/>
          </p:nvSpPr>
          <p:spPr bwMode="auto">
            <a:xfrm>
              <a:off x="1676797" y="4730750"/>
              <a:ext cx="6954838" cy="488950"/>
            </a:xfrm>
            <a:prstGeom prst="rect">
              <a:avLst/>
            </a:prstGeom>
            <a:noFill/>
            <a:ln w="28575">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096" name="Rectangle 5"/>
            <p:cNvSpPr>
              <a:spLocks noChangeArrowheads="1"/>
            </p:cNvSpPr>
            <p:nvPr/>
          </p:nvSpPr>
          <p:spPr bwMode="auto">
            <a:xfrm>
              <a:off x="4610762" y="4759647"/>
              <a:ext cx="109645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MAC </a:t>
              </a:r>
              <a:r>
                <a:rPr lang="zh-CN" altLang="en-US" sz="2000" b="1">
                  <a:solidFill>
                    <a:srgbClr val="000099"/>
                  </a:solidFill>
                  <a:ea typeface="黑体" panose="02010609060101010101" pitchFamily="49" charset="-122"/>
                </a:rPr>
                <a:t>帧</a:t>
              </a:r>
            </a:p>
          </p:txBody>
        </p:sp>
        <p:sp>
          <p:nvSpPr>
            <p:cNvPr id="601097" name="Rectangle 6"/>
            <p:cNvSpPr>
              <a:spLocks noChangeArrowheads="1"/>
            </p:cNvSpPr>
            <p:nvPr/>
          </p:nvSpPr>
          <p:spPr bwMode="auto">
            <a:xfrm>
              <a:off x="8930879" y="4814889"/>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物理层</a:t>
              </a:r>
            </a:p>
          </p:txBody>
        </p:sp>
        <p:sp>
          <p:nvSpPr>
            <p:cNvPr id="601098" name="Rectangle 7"/>
            <p:cNvSpPr>
              <a:spLocks noChangeArrowheads="1"/>
            </p:cNvSpPr>
            <p:nvPr/>
          </p:nvSpPr>
          <p:spPr bwMode="auto">
            <a:xfrm>
              <a:off x="8898202" y="3886201"/>
              <a:ext cx="1005084" cy="36676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MAC </a:t>
              </a:r>
              <a:r>
                <a:rPr lang="zh-CN" altLang="en-US" b="1">
                  <a:solidFill>
                    <a:srgbClr val="000099"/>
                  </a:solidFill>
                  <a:ea typeface="黑体" panose="02010609060101010101" pitchFamily="49" charset="-122"/>
                </a:rPr>
                <a:t>层</a:t>
              </a:r>
            </a:p>
          </p:txBody>
        </p:sp>
        <p:sp>
          <p:nvSpPr>
            <p:cNvPr id="601099" name="Line 8"/>
            <p:cNvSpPr>
              <a:spLocks noChangeShapeType="1"/>
            </p:cNvSpPr>
            <p:nvPr/>
          </p:nvSpPr>
          <p:spPr bwMode="auto">
            <a:xfrm flipH="1">
              <a:off x="1675077" y="4221163"/>
              <a:ext cx="1720" cy="514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01100" name="Line 9"/>
            <p:cNvSpPr>
              <a:spLocks noChangeShapeType="1"/>
            </p:cNvSpPr>
            <p:nvPr/>
          </p:nvSpPr>
          <p:spPr bwMode="auto">
            <a:xfrm>
              <a:off x="8619596" y="4292600"/>
              <a:ext cx="12039" cy="4318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01101" name="Rectangle 10"/>
            <p:cNvSpPr>
              <a:spLocks noChangeArrowheads="1"/>
            </p:cNvSpPr>
            <p:nvPr/>
          </p:nvSpPr>
          <p:spPr bwMode="auto">
            <a:xfrm>
              <a:off x="9044385" y="2971801"/>
              <a:ext cx="693139"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层</a:t>
              </a:r>
            </a:p>
          </p:txBody>
        </p:sp>
        <p:sp>
          <p:nvSpPr>
            <p:cNvPr id="601102" name="Line 11"/>
            <p:cNvSpPr>
              <a:spLocks noChangeShapeType="1"/>
            </p:cNvSpPr>
            <p:nvPr/>
          </p:nvSpPr>
          <p:spPr bwMode="auto">
            <a:xfrm flipV="1">
              <a:off x="8879285" y="3505202"/>
              <a:ext cx="889132" cy="0"/>
            </a:xfrm>
            <a:prstGeom prst="line">
              <a:avLst/>
            </a:prstGeom>
            <a:noFill/>
            <a:ln w="19050">
              <a:solidFill>
                <a:srgbClr val="000099"/>
              </a:solidFill>
              <a:prstDash val="lg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601103" name="Group 15"/>
            <p:cNvGrpSpPr>
              <a:grpSpLocks/>
            </p:cNvGrpSpPr>
            <p:nvPr/>
          </p:nvGrpSpPr>
          <p:grpSpPr bwMode="auto">
            <a:xfrm>
              <a:off x="1133344" y="3490915"/>
              <a:ext cx="7565363" cy="1385888"/>
              <a:chOff x="659" y="2199"/>
              <a:chExt cx="4399" cy="873"/>
            </a:xfrm>
          </p:grpSpPr>
          <p:sp>
            <p:nvSpPr>
              <p:cNvPr id="601104" name="AutoShape 16"/>
              <p:cNvSpPr>
                <a:spLocks noChangeArrowheads="1"/>
              </p:cNvSpPr>
              <p:nvPr/>
            </p:nvSpPr>
            <p:spPr bwMode="auto">
              <a:xfrm rot="16200000" flipH="1">
                <a:off x="2830" y="2806"/>
                <a:ext cx="384" cy="145"/>
              </a:xfrm>
              <a:prstGeom prst="rightArrow">
                <a:avLst>
                  <a:gd name="adj1" fmla="val 50000"/>
                  <a:gd name="adj2" fmla="val 132414"/>
                </a:avLst>
              </a:prstGeom>
              <a:solidFill>
                <a:schemeClr val="accent1"/>
              </a:solidFill>
              <a:ln w="127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601105" name="Group 17"/>
              <p:cNvGrpSpPr>
                <a:grpSpLocks/>
              </p:cNvGrpSpPr>
              <p:nvPr/>
            </p:nvGrpSpPr>
            <p:grpSpPr bwMode="auto">
              <a:xfrm>
                <a:off x="659" y="2199"/>
                <a:ext cx="4399" cy="489"/>
                <a:chOff x="659" y="2199"/>
                <a:chExt cx="4399" cy="489"/>
              </a:xfrm>
            </p:grpSpPr>
            <p:sp>
              <p:nvSpPr>
                <p:cNvPr id="601106" name="Rectangle 18"/>
                <p:cNvSpPr>
                  <a:spLocks noChangeArrowheads="1"/>
                </p:cNvSpPr>
                <p:nvPr/>
              </p:nvSpPr>
              <p:spPr bwMode="auto">
                <a:xfrm>
                  <a:off x="974" y="2400"/>
                  <a:ext cx="4045" cy="288"/>
                </a:xfrm>
                <a:prstGeom prst="rect">
                  <a:avLst/>
                </a:prstGeom>
                <a:solidFill>
                  <a:srgbClr val="FFCCFF"/>
                </a:solidFill>
                <a:ln w="19050">
                  <a:solidFill>
                    <a:srgbClr val="000099"/>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07" name="Line 19"/>
                <p:cNvSpPr>
                  <a:spLocks noChangeShapeType="1"/>
                </p:cNvSpPr>
                <p:nvPr/>
              </p:nvSpPr>
              <p:spPr bwMode="auto">
                <a:xfrm>
                  <a:off x="156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08" name="Line 20"/>
                <p:cNvSpPr>
                  <a:spLocks noChangeShapeType="1"/>
                </p:cNvSpPr>
                <p:nvPr/>
              </p:nvSpPr>
              <p:spPr bwMode="auto">
                <a:xfrm>
                  <a:off x="2139"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09" name="Line 21"/>
                <p:cNvSpPr>
                  <a:spLocks noChangeShapeType="1"/>
                </p:cNvSpPr>
                <p:nvPr/>
              </p:nvSpPr>
              <p:spPr bwMode="auto">
                <a:xfrm>
                  <a:off x="2715"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10" name="Line 22"/>
                <p:cNvSpPr>
                  <a:spLocks noChangeShapeType="1"/>
                </p:cNvSpPr>
                <p:nvPr/>
              </p:nvSpPr>
              <p:spPr bwMode="auto">
                <a:xfrm>
                  <a:off x="4683" y="2400"/>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11" name="Rectangle 23"/>
                <p:cNvSpPr>
                  <a:spLocks noChangeArrowheads="1"/>
                </p:cNvSpPr>
                <p:nvPr/>
              </p:nvSpPr>
              <p:spPr bwMode="auto">
                <a:xfrm>
                  <a:off x="963" y="2445"/>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目的地址</a:t>
                  </a:r>
                </a:p>
              </p:txBody>
            </p:sp>
            <p:sp>
              <p:nvSpPr>
                <p:cNvPr id="601112" name="Rectangle 24"/>
                <p:cNvSpPr>
                  <a:spLocks noChangeArrowheads="1"/>
                </p:cNvSpPr>
                <p:nvPr/>
              </p:nvSpPr>
              <p:spPr bwMode="auto">
                <a:xfrm>
                  <a:off x="1609" y="2445"/>
                  <a:ext cx="5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源地址</a:t>
                  </a:r>
                </a:p>
              </p:txBody>
            </p:sp>
            <p:sp>
              <p:nvSpPr>
                <p:cNvPr id="601113" name="Rectangle 25"/>
                <p:cNvSpPr>
                  <a:spLocks noChangeArrowheads="1"/>
                </p:cNvSpPr>
                <p:nvPr/>
              </p:nvSpPr>
              <p:spPr bwMode="auto">
                <a:xfrm>
                  <a:off x="2241" y="2445"/>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类型</a:t>
                  </a:r>
                </a:p>
              </p:txBody>
            </p:sp>
            <p:sp>
              <p:nvSpPr>
                <p:cNvPr id="601114" name="Rectangle 26"/>
                <p:cNvSpPr>
                  <a:spLocks noChangeArrowheads="1"/>
                </p:cNvSpPr>
                <p:nvPr/>
              </p:nvSpPr>
              <p:spPr bwMode="auto">
                <a:xfrm>
                  <a:off x="3406" y="2445"/>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数        据</a:t>
                  </a:r>
                </a:p>
              </p:txBody>
            </p:sp>
            <p:sp>
              <p:nvSpPr>
                <p:cNvPr id="601115" name="Rectangle 27"/>
                <p:cNvSpPr>
                  <a:spLocks noChangeArrowheads="1"/>
                </p:cNvSpPr>
                <p:nvPr/>
              </p:nvSpPr>
              <p:spPr bwMode="auto">
                <a:xfrm>
                  <a:off x="4683" y="2445"/>
                  <a:ext cx="3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FCS</a:t>
                  </a:r>
                </a:p>
              </p:txBody>
            </p:sp>
            <p:sp>
              <p:nvSpPr>
                <p:cNvPr id="601116" name="Rectangle 28"/>
                <p:cNvSpPr>
                  <a:spLocks noChangeArrowheads="1"/>
                </p:cNvSpPr>
                <p:nvPr/>
              </p:nvSpPr>
              <p:spPr bwMode="auto">
                <a:xfrm>
                  <a:off x="1193"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601117" name="Rectangle 29"/>
                <p:cNvSpPr>
                  <a:spLocks noChangeArrowheads="1"/>
                </p:cNvSpPr>
                <p:nvPr/>
              </p:nvSpPr>
              <p:spPr bwMode="auto">
                <a:xfrm>
                  <a:off x="1810"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6</a:t>
                  </a:r>
                </a:p>
              </p:txBody>
            </p:sp>
            <p:sp>
              <p:nvSpPr>
                <p:cNvPr id="601118" name="Rectangle 30"/>
                <p:cNvSpPr>
                  <a:spLocks noChangeArrowheads="1"/>
                </p:cNvSpPr>
                <p:nvPr/>
              </p:nvSpPr>
              <p:spPr bwMode="auto">
                <a:xfrm>
                  <a:off x="2379"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2</a:t>
                  </a:r>
                </a:p>
              </p:txBody>
            </p:sp>
            <p:sp>
              <p:nvSpPr>
                <p:cNvPr id="601119" name="Rectangle 31"/>
                <p:cNvSpPr>
                  <a:spLocks noChangeArrowheads="1"/>
                </p:cNvSpPr>
                <p:nvPr/>
              </p:nvSpPr>
              <p:spPr bwMode="auto">
                <a:xfrm>
                  <a:off x="4786" y="2205"/>
                  <a:ext cx="1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4</a:t>
                  </a:r>
                </a:p>
              </p:txBody>
            </p:sp>
            <p:sp>
              <p:nvSpPr>
                <p:cNvPr id="601120" name="Rectangle 32"/>
                <p:cNvSpPr>
                  <a:spLocks noChangeArrowheads="1"/>
                </p:cNvSpPr>
                <p:nvPr/>
              </p:nvSpPr>
              <p:spPr bwMode="auto">
                <a:xfrm>
                  <a:off x="659" y="2220"/>
                  <a:ext cx="37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字节</a:t>
                  </a:r>
                  <a:endParaRPr lang="zh-CN" altLang="en-US" sz="1600" b="1">
                    <a:solidFill>
                      <a:srgbClr val="000099"/>
                    </a:solidFill>
                    <a:ea typeface="黑体" panose="02010609060101010101" pitchFamily="49" charset="-122"/>
                  </a:endParaRPr>
                </a:p>
              </p:txBody>
            </p:sp>
            <p:sp>
              <p:nvSpPr>
                <p:cNvPr id="601121" name="Text Box 33"/>
                <p:cNvSpPr txBox="1">
                  <a:spLocks noChangeArrowheads="1"/>
                </p:cNvSpPr>
                <p:nvPr/>
              </p:nvSpPr>
              <p:spPr bwMode="auto">
                <a:xfrm>
                  <a:off x="3777" y="2199"/>
                  <a:ext cx="7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46 ~ 1500</a:t>
                  </a:r>
                </a:p>
              </p:txBody>
            </p:sp>
          </p:grpSp>
        </p:grpSp>
        <p:grpSp>
          <p:nvGrpSpPr>
            <p:cNvPr id="601122" name="Group 34"/>
            <p:cNvGrpSpPr>
              <a:grpSpLocks/>
            </p:cNvGrpSpPr>
            <p:nvPr/>
          </p:nvGrpSpPr>
          <p:grpSpPr bwMode="auto">
            <a:xfrm>
              <a:off x="4669235" y="2971800"/>
              <a:ext cx="3384550" cy="990600"/>
              <a:chOff x="2715" y="1872"/>
              <a:chExt cx="1968" cy="624"/>
            </a:xfrm>
          </p:grpSpPr>
          <p:sp>
            <p:nvSpPr>
              <p:cNvPr id="601123" name="AutoShape 35"/>
              <p:cNvSpPr>
                <a:spLocks noChangeArrowheads="1"/>
              </p:cNvSpPr>
              <p:nvPr/>
            </p:nvSpPr>
            <p:spPr bwMode="auto">
              <a:xfrm rot="16200000" flipH="1">
                <a:off x="3508" y="2230"/>
                <a:ext cx="384" cy="145"/>
              </a:xfrm>
              <a:prstGeom prst="rightArrow">
                <a:avLst>
                  <a:gd name="adj1" fmla="val 50000"/>
                  <a:gd name="adj2" fmla="val 132414"/>
                </a:avLst>
              </a:prstGeom>
              <a:solidFill>
                <a:schemeClr val="accent1"/>
              </a:solidFill>
              <a:ln w="12700">
                <a:solidFill>
                  <a:schemeClr val="folHlink"/>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01124" name="Rectangle 36"/>
              <p:cNvSpPr>
                <a:spLocks noChangeArrowheads="1"/>
              </p:cNvSpPr>
              <p:nvPr/>
            </p:nvSpPr>
            <p:spPr bwMode="auto">
              <a:xfrm>
                <a:off x="2715" y="1872"/>
                <a:ext cx="1968" cy="240"/>
              </a:xfrm>
              <a:prstGeom prst="rect">
                <a:avLst/>
              </a:prstGeom>
              <a:solidFill>
                <a:srgbClr val="CCECFF"/>
              </a:solidFill>
              <a:ln w="19050">
                <a:solidFill>
                  <a:schemeClr val="folHlink"/>
                </a:solidFill>
                <a:miter lim="800000"/>
                <a:headEnd/>
                <a:tailEnd/>
              </a:ln>
              <a:effectLst>
                <a:outerShdw dist="35921" dir="2700000" algn="ctr" rotWithShape="0">
                  <a:schemeClr val="bg2"/>
                </a:outerShdw>
              </a:effectLst>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grpSp>
      </p:grpSp>
      <p:grpSp>
        <p:nvGrpSpPr>
          <p:cNvPr id="451622" name="Group 38"/>
          <p:cNvGrpSpPr>
            <a:grpSpLocks/>
          </p:cNvGrpSpPr>
          <p:nvPr/>
        </p:nvGrpSpPr>
        <p:grpSpPr bwMode="auto">
          <a:xfrm>
            <a:off x="128588" y="4221163"/>
            <a:ext cx="4914900" cy="2462212"/>
            <a:chOff x="75" y="2659"/>
            <a:chExt cx="2858" cy="1551"/>
          </a:xfrm>
        </p:grpSpPr>
        <p:sp>
          <p:nvSpPr>
            <p:cNvPr id="601126" name="Rectangle 39"/>
            <p:cNvSpPr>
              <a:spLocks noChangeArrowheads="1"/>
            </p:cNvSpPr>
            <p:nvPr/>
          </p:nvSpPr>
          <p:spPr bwMode="auto">
            <a:xfrm>
              <a:off x="123" y="3606"/>
              <a:ext cx="2757" cy="262"/>
            </a:xfrm>
            <a:prstGeom prst="rect">
              <a:avLst/>
            </a:prstGeom>
            <a:solidFill>
              <a:srgbClr val="FFFF99"/>
            </a:solidFill>
            <a:ln w="19050">
              <a:solidFill>
                <a:srgbClr val="000099"/>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601127" name="Rectangle 40"/>
            <p:cNvSpPr>
              <a:spLocks noChangeArrowheads="1"/>
            </p:cNvSpPr>
            <p:nvPr/>
          </p:nvSpPr>
          <p:spPr bwMode="auto">
            <a:xfrm>
              <a:off x="75" y="3633"/>
              <a:ext cx="28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10101010101010     101010101010 10101011</a:t>
              </a:r>
            </a:p>
          </p:txBody>
        </p:sp>
        <p:sp>
          <p:nvSpPr>
            <p:cNvPr id="601128" name="Line 41"/>
            <p:cNvSpPr>
              <a:spLocks noChangeShapeType="1"/>
            </p:cNvSpPr>
            <p:nvPr/>
          </p:nvSpPr>
          <p:spPr bwMode="auto">
            <a:xfrm>
              <a:off x="2252" y="3604"/>
              <a:ext cx="0"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601129" name="Rectangle 42"/>
            <p:cNvSpPr>
              <a:spLocks noChangeArrowheads="1"/>
            </p:cNvSpPr>
            <p:nvPr/>
          </p:nvSpPr>
          <p:spPr bwMode="auto">
            <a:xfrm>
              <a:off x="841" y="3892"/>
              <a:ext cx="64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solidFill>
                    <a:srgbClr val="000099"/>
                  </a:solidFill>
                  <a:ea typeface="黑体" panose="02010609060101010101" pitchFamily="49" charset="-122"/>
                </a:rPr>
                <a:t>前同步码</a:t>
              </a:r>
            </a:p>
          </p:txBody>
        </p:sp>
        <p:sp>
          <p:nvSpPr>
            <p:cNvPr id="601130" name="Rectangle 43"/>
            <p:cNvSpPr>
              <a:spLocks noChangeArrowheads="1"/>
            </p:cNvSpPr>
            <p:nvPr/>
          </p:nvSpPr>
          <p:spPr bwMode="auto">
            <a:xfrm>
              <a:off x="2294" y="3874"/>
              <a:ext cx="51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0000"/>
                </a:lnSpc>
              </a:pPr>
              <a:r>
                <a:rPr lang="zh-CN" altLang="en-US" b="1">
                  <a:solidFill>
                    <a:srgbClr val="000099"/>
                  </a:solidFill>
                  <a:ea typeface="黑体" panose="02010609060101010101" pitchFamily="49" charset="-122"/>
                </a:rPr>
                <a:t>帧开始</a:t>
              </a:r>
            </a:p>
            <a:p>
              <a:pPr>
                <a:lnSpc>
                  <a:spcPct val="80000"/>
                </a:lnSpc>
              </a:pPr>
              <a:r>
                <a:rPr lang="zh-CN" altLang="en-US" b="1">
                  <a:solidFill>
                    <a:srgbClr val="000099"/>
                  </a:solidFill>
                  <a:ea typeface="黑体" panose="02010609060101010101" pitchFamily="49" charset="-122"/>
                </a:rPr>
                <a:t>定界符</a:t>
              </a:r>
            </a:p>
          </p:txBody>
        </p:sp>
        <p:sp>
          <p:nvSpPr>
            <p:cNvPr id="601131" name="Rectangle 44"/>
            <p:cNvSpPr>
              <a:spLocks noChangeArrowheads="1"/>
            </p:cNvSpPr>
            <p:nvPr/>
          </p:nvSpPr>
          <p:spPr bwMode="auto">
            <a:xfrm>
              <a:off x="884" y="3394"/>
              <a:ext cx="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7 </a:t>
              </a:r>
              <a:r>
                <a:rPr lang="zh-CN" altLang="en-US" b="1">
                  <a:solidFill>
                    <a:srgbClr val="000099"/>
                  </a:solidFill>
                  <a:ea typeface="黑体" panose="02010609060101010101" pitchFamily="49" charset="-122"/>
                </a:rPr>
                <a:t>字节</a:t>
              </a:r>
            </a:p>
          </p:txBody>
        </p:sp>
        <p:sp>
          <p:nvSpPr>
            <p:cNvPr id="601132" name="Rectangle 45"/>
            <p:cNvSpPr>
              <a:spLocks noChangeArrowheads="1"/>
            </p:cNvSpPr>
            <p:nvPr/>
          </p:nvSpPr>
          <p:spPr bwMode="auto">
            <a:xfrm>
              <a:off x="2266" y="3380"/>
              <a:ext cx="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1 </a:t>
              </a:r>
              <a:r>
                <a:rPr lang="zh-CN" altLang="en-US" b="1">
                  <a:solidFill>
                    <a:srgbClr val="000099"/>
                  </a:solidFill>
                  <a:ea typeface="黑体" panose="02010609060101010101" pitchFamily="49" charset="-122"/>
                </a:rPr>
                <a:t>字节</a:t>
              </a:r>
            </a:p>
          </p:txBody>
        </p:sp>
        <p:sp>
          <p:nvSpPr>
            <p:cNvPr id="601133" name="Line 46"/>
            <p:cNvSpPr>
              <a:spLocks noChangeShapeType="1"/>
            </p:cNvSpPr>
            <p:nvPr/>
          </p:nvSpPr>
          <p:spPr bwMode="auto">
            <a:xfrm flipV="1">
              <a:off x="131" y="3294"/>
              <a:ext cx="184" cy="310"/>
            </a:xfrm>
            <a:prstGeom prst="line">
              <a:avLst/>
            </a:prstGeom>
            <a:noFill/>
            <a:ln w="1270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601134" name="Line 47"/>
            <p:cNvSpPr>
              <a:spLocks noChangeShapeType="1"/>
            </p:cNvSpPr>
            <p:nvPr/>
          </p:nvSpPr>
          <p:spPr bwMode="auto">
            <a:xfrm>
              <a:off x="969" y="3302"/>
              <a:ext cx="1911" cy="302"/>
            </a:xfrm>
            <a:prstGeom prst="line">
              <a:avLst/>
            </a:prstGeom>
            <a:noFill/>
            <a:ln w="12700">
              <a:solidFill>
                <a:srgbClr val="0000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黑体" panose="02010609060101010101" pitchFamily="49" charset="-122"/>
              </a:endParaRPr>
            </a:p>
          </p:txBody>
        </p:sp>
        <p:sp>
          <p:nvSpPr>
            <p:cNvPr id="601135" name="Text Box 48"/>
            <p:cNvSpPr txBox="1">
              <a:spLocks noChangeArrowheads="1"/>
            </p:cNvSpPr>
            <p:nvPr/>
          </p:nvSpPr>
          <p:spPr bwMode="auto">
            <a:xfrm>
              <a:off x="1158" y="3613"/>
              <a:ext cx="25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grpSp>
          <p:nvGrpSpPr>
            <p:cNvPr id="601136" name="Group 49"/>
            <p:cNvGrpSpPr>
              <a:grpSpLocks/>
            </p:cNvGrpSpPr>
            <p:nvPr/>
          </p:nvGrpSpPr>
          <p:grpSpPr bwMode="auto">
            <a:xfrm>
              <a:off x="158" y="2659"/>
              <a:ext cx="817" cy="625"/>
              <a:chOff x="158" y="2659"/>
              <a:chExt cx="817" cy="625"/>
            </a:xfrm>
          </p:grpSpPr>
          <p:grpSp>
            <p:nvGrpSpPr>
              <p:cNvPr id="601137" name="Group 50"/>
              <p:cNvGrpSpPr>
                <a:grpSpLocks/>
              </p:cNvGrpSpPr>
              <p:nvPr/>
            </p:nvGrpSpPr>
            <p:grpSpPr bwMode="auto">
              <a:xfrm>
                <a:off x="333" y="2976"/>
                <a:ext cx="642" cy="308"/>
                <a:chOff x="333" y="2976"/>
                <a:chExt cx="642" cy="308"/>
              </a:xfrm>
            </p:grpSpPr>
            <p:sp>
              <p:nvSpPr>
                <p:cNvPr id="601138" name="Rectangle 51"/>
                <p:cNvSpPr>
                  <a:spLocks noChangeArrowheads="1"/>
                </p:cNvSpPr>
                <p:nvPr/>
              </p:nvSpPr>
              <p:spPr bwMode="auto">
                <a:xfrm>
                  <a:off x="333" y="2976"/>
                  <a:ext cx="642" cy="308"/>
                </a:xfrm>
                <a:prstGeom prst="rect">
                  <a:avLst/>
                </a:prstGeom>
                <a:solidFill>
                  <a:srgbClr val="FFFF99"/>
                </a:solidFill>
                <a:ln w="28575">
                  <a:solidFill>
                    <a:srgbClr val="000099"/>
                  </a:solidFill>
                  <a:miter lim="800000"/>
                  <a:headEnd/>
                  <a:tailEnd/>
                </a:ln>
              </p:spPr>
              <p:txBody>
                <a:bodyPr wrap="none" anchor="ctr"/>
                <a:lstStyle/>
                <a:p>
                  <a:pPr eaLnBrk="0" hangingPunct="0"/>
                  <a:endParaRPr lang="zh-CN" altLang="en-US" sz="2000" b="1">
                    <a:solidFill>
                      <a:srgbClr val="000099"/>
                    </a:solidFill>
                    <a:ea typeface="黑体" panose="02010609060101010101" pitchFamily="49" charset="-122"/>
                  </a:endParaRPr>
                </a:p>
              </p:txBody>
            </p:sp>
            <p:sp>
              <p:nvSpPr>
                <p:cNvPr id="601139" name="Rectangle 52"/>
                <p:cNvSpPr>
                  <a:spLocks noChangeArrowheads="1"/>
                </p:cNvSpPr>
                <p:nvPr/>
              </p:nvSpPr>
              <p:spPr bwMode="auto">
                <a:xfrm>
                  <a:off x="419" y="3034"/>
                  <a:ext cx="4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b="1">
                      <a:solidFill>
                        <a:srgbClr val="000099"/>
                      </a:solidFill>
                      <a:ea typeface="黑体" panose="02010609060101010101" pitchFamily="49" charset="-122"/>
                    </a:rPr>
                    <a:t>8 </a:t>
                  </a:r>
                  <a:r>
                    <a:rPr lang="zh-CN" altLang="en-US" b="1">
                      <a:solidFill>
                        <a:srgbClr val="000099"/>
                      </a:solidFill>
                      <a:ea typeface="黑体" panose="02010609060101010101" pitchFamily="49" charset="-122"/>
                    </a:rPr>
                    <a:t>字节</a:t>
                  </a:r>
                </a:p>
              </p:txBody>
            </p:sp>
          </p:grpSp>
          <p:sp>
            <p:nvSpPr>
              <p:cNvPr id="601140" name="AutoShape 53"/>
              <p:cNvSpPr>
                <a:spLocks noChangeArrowheads="1"/>
              </p:cNvSpPr>
              <p:nvPr/>
            </p:nvSpPr>
            <p:spPr bwMode="auto">
              <a:xfrm>
                <a:off x="171" y="2679"/>
                <a:ext cx="400" cy="2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p:spPr>
            <p:txBody>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endParaRPr lang="zh-CN" altLang="zh-CN" b="1">
                  <a:solidFill>
                    <a:srgbClr val="000099"/>
                  </a:solidFill>
                  <a:ea typeface="黑体" panose="02010609060101010101" pitchFamily="49" charset="-122"/>
                </a:endParaRPr>
              </a:p>
            </p:txBody>
          </p:sp>
          <p:sp>
            <p:nvSpPr>
              <p:cNvPr id="601141" name="Rectangle 54"/>
              <p:cNvSpPr>
                <a:spLocks noChangeArrowheads="1"/>
              </p:cNvSpPr>
              <p:nvPr/>
            </p:nvSpPr>
            <p:spPr bwMode="auto">
              <a:xfrm>
                <a:off x="158" y="2659"/>
                <a:ext cx="46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插入</a:t>
                </a:r>
              </a:p>
            </p:txBody>
          </p:sp>
        </p:grpSp>
      </p:grpSp>
      <p:sp>
        <p:nvSpPr>
          <p:cNvPr id="60114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A456376-4DC8-4106-BA56-C0BB269B5D77}" type="slidenum">
              <a:rPr lang="zh-CN" altLang="en-US" smtClean="0"/>
              <a:pPr eaLnBrk="1" hangingPunct="1"/>
              <a:t>24</a:t>
            </a:fld>
            <a:endParaRPr lang="en-US" altLang="zh-CN" smtClean="0"/>
          </a:p>
        </p:txBody>
      </p:sp>
      <p:sp>
        <p:nvSpPr>
          <p:cNvPr id="60114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5164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451622"/>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3000" fill="hold" nodeType="afterEffect">
                                  <p:stCondLst>
                                    <p:cond delay="0"/>
                                  </p:stCondLst>
                                  <p:childTnLst>
                                    <p:anim calcmode="discrete" valueType="str">
                                      <p:cBhvr>
                                        <p:cTn id="12" dur="1000" fill="hold"/>
                                        <p:tgtEl>
                                          <p:spTgt spid="451622"/>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16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39" grpId="0" animBg="1"/>
      <p:bldP spid="4516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无效的 </a:t>
            </a:r>
            <a:r>
              <a:rPr lang="en-US" altLang="zh-CN" smtClean="0">
                <a:ea typeface="黑体" panose="02010609060101010101" pitchFamily="49" charset="-122"/>
              </a:rPr>
              <a:t>MAC </a:t>
            </a:r>
            <a:r>
              <a:rPr lang="zh-CN" altLang="en-US" smtClean="0">
                <a:ea typeface="黑体" panose="02010609060101010101" pitchFamily="49" charset="-122"/>
              </a:rPr>
              <a:t>帧 </a:t>
            </a:r>
          </a:p>
        </p:txBody>
      </p:sp>
      <p:sp>
        <p:nvSpPr>
          <p:cNvPr id="603138" name="Rectangle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帧的长度不是整数个字节；</a:t>
            </a:r>
          </a:p>
          <a:p>
            <a:r>
              <a:rPr lang="zh-CN" altLang="en-US" dirty="0" smtClean="0">
                <a:ea typeface="黑体" panose="02010609060101010101" pitchFamily="49" charset="-122"/>
              </a:rPr>
              <a:t>用收到的帧检验序列 </a:t>
            </a:r>
            <a:r>
              <a:rPr lang="en-US" altLang="zh-CN" dirty="0" smtClean="0">
                <a:ea typeface="黑体" panose="02010609060101010101" pitchFamily="49" charset="-122"/>
              </a:rPr>
              <a:t>FCS </a:t>
            </a:r>
            <a:r>
              <a:rPr lang="zh-CN" altLang="en-US" dirty="0" smtClean="0">
                <a:ea typeface="黑体" panose="02010609060101010101" pitchFamily="49" charset="-122"/>
              </a:rPr>
              <a:t>查出有差错；</a:t>
            </a:r>
          </a:p>
          <a:p>
            <a:r>
              <a:rPr lang="zh-CN" altLang="en-US" dirty="0" smtClean="0">
                <a:ea typeface="黑体" panose="02010609060101010101" pitchFamily="49" charset="-122"/>
              </a:rPr>
              <a:t>数据字段的长度不在 </a:t>
            </a:r>
            <a:r>
              <a:rPr lang="en-US" altLang="zh-CN" dirty="0" smtClean="0">
                <a:ea typeface="黑体" panose="02010609060101010101" pitchFamily="49" charset="-122"/>
              </a:rPr>
              <a:t>46 ~ 1500 </a:t>
            </a:r>
            <a:r>
              <a:rPr lang="zh-CN" altLang="en-US" dirty="0" smtClean="0">
                <a:ea typeface="黑体" panose="02010609060101010101" pitchFamily="49" charset="-122"/>
              </a:rPr>
              <a:t>字节</a:t>
            </a:r>
            <a:r>
              <a:rPr lang="zh-CN" altLang="en-US" smtClean="0">
                <a:ea typeface="黑体" panose="02010609060101010101" pitchFamily="49" charset="-122"/>
              </a:rPr>
              <a:t>之间。有效</a:t>
            </a:r>
            <a:r>
              <a:rPr lang="zh-CN" altLang="en-US" dirty="0" smtClean="0">
                <a:ea typeface="黑体" panose="02010609060101010101" pitchFamily="49" charset="-122"/>
              </a:rPr>
              <a:t>的 </a:t>
            </a:r>
            <a:r>
              <a:rPr lang="en-US" altLang="zh-CN" dirty="0" smtClean="0">
                <a:ea typeface="黑体" panose="02010609060101010101" pitchFamily="49" charset="-122"/>
              </a:rPr>
              <a:t>MAC </a:t>
            </a:r>
            <a:r>
              <a:rPr lang="zh-CN" altLang="en-US" dirty="0" smtClean="0">
                <a:ea typeface="黑体" panose="02010609060101010101" pitchFamily="49" charset="-122"/>
              </a:rPr>
              <a:t>帧长度为 </a:t>
            </a:r>
            <a:r>
              <a:rPr lang="en-US" altLang="zh-CN" dirty="0" smtClean="0">
                <a:ea typeface="黑体" panose="02010609060101010101" pitchFamily="49" charset="-122"/>
              </a:rPr>
              <a:t>64 ~ 1518 </a:t>
            </a:r>
            <a:r>
              <a:rPr lang="zh-CN" altLang="en-US" dirty="0" smtClean="0">
                <a:ea typeface="黑体" panose="02010609060101010101" pitchFamily="49" charset="-122"/>
              </a:rPr>
              <a:t>字节之间。</a:t>
            </a:r>
          </a:p>
        </p:txBody>
      </p:sp>
      <p:sp>
        <p:nvSpPr>
          <p:cNvPr id="603139" name="矩形 1"/>
          <p:cNvSpPr>
            <a:spLocks noChangeArrowheads="1"/>
          </p:cNvSpPr>
          <p:nvPr/>
        </p:nvSpPr>
        <p:spPr bwMode="auto">
          <a:xfrm>
            <a:off x="989013" y="4508500"/>
            <a:ext cx="8020050" cy="1077913"/>
          </a:xfrm>
          <a:prstGeom prst="rect">
            <a:avLst/>
          </a:prstGeom>
          <a:solidFill>
            <a:srgbClr val="0000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chemeClr val="bg1"/>
                </a:solidFill>
                <a:ea typeface="黑体" panose="02010609060101010101" pitchFamily="49" charset="-122"/>
              </a:rPr>
              <a:t>对于检查出的无效 </a:t>
            </a:r>
            <a:r>
              <a:rPr lang="en-US" altLang="zh-CN" sz="3200" b="1">
                <a:solidFill>
                  <a:schemeClr val="bg1"/>
                </a:solidFill>
                <a:ea typeface="黑体" panose="02010609060101010101" pitchFamily="49" charset="-122"/>
              </a:rPr>
              <a:t>MAC </a:t>
            </a:r>
            <a:r>
              <a:rPr lang="zh-CN" altLang="en-US" sz="3200" b="1">
                <a:solidFill>
                  <a:schemeClr val="bg1"/>
                </a:solidFill>
                <a:ea typeface="黑体" panose="02010609060101010101" pitchFamily="49" charset="-122"/>
              </a:rPr>
              <a:t>帧就简单地丢弃。以太网不负责重传丢弃的帧。 </a:t>
            </a:r>
          </a:p>
        </p:txBody>
      </p:sp>
      <p:sp>
        <p:nvSpPr>
          <p:cNvPr id="6031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3BD273-E192-4258-9B66-8CD5042955FB}" type="slidenum">
              <a:rPr lang="zh-CN" altLang="en-US" smtClean="0"/>
              <a:pPr eaLnBrk="1" hangingPunct="1"/>
              <a:t>25</a:t>
            </a:fld>
            <a:endParaRPr lang="en-US" altLang="zh-CN" smtClean="0"/>
          </a:p>
        </p:txBody>
      </p:sp>
      <p:sp>
        <p:nvSpPr>
          <p:cNvPr id="6031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5" name="Rectangle 3"/>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IEEE 802.3 MAC </a:t>
            </a:r>
            <a:r>
              <a:rPr lang="zh-CN" altLang="en-US" smtClean="0">
                <a:ea typeface="黑体" panose="02010609060101010101" pitchFamily="49" charset="-122"/>
              </a:rPr>
              <a:t>帧格式</a:t>
            </a:r>
          </a:p>
        </p:txBody>
      </p:sp>
      <p:sp>
        <p:nvSpPr>
          <p:cNvPr id="453634" name="Rectangle 2"/>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zh-CN" altLang="zh-CN" sz="2800" noProof="1"/>
              <a:t>与以太网</a:t>
            </a:r>
            <a:r>
              <a:rPr lang="en-US" altLang="zh-CN" sz="2800" noProof="1"/>
              <a:t>V2 MAC </a:t>
            </a:r>
            <a:r>
              <a:rPr lang="zh-CN" altLang="zh-CN" sz="2800" noProof="1"/>
              <a:t>帧格式</a:t>
            </a:r>
            <a:r>
              <a:rPr lang="zh-CN" altLang="en-US" sz="2800" noProof="1"/>
              <a:t>相似，</a:t>
            </a:r>
            <a:r>
              <a:rPr lang="zh-CN" altLang="zh-CN" sz="2800" noProof="1"/>
              <a:t>区别</a:t>
            </a:r>
            <a:r>
              <a:rPr lang="zh-CN" altLang="en-US" sz="2800" noProof="1"/>
              <a:t>在于：</a:t>
            </a:r>
            <a:endParaRPr lang="en-US" altLang="zh-CN" sz="2800" noProof="1"/>
          </a:p>
          <a:p>
            <a:r>
              <a:rPr lang="en-US" altLang="zh-CN" sz="2800" noProof="1"/>
              <a:t>(1) IEEE 802.3 </a:t>
            </a:r>
            <a:r>
              <a:rPr lang="zh-CN" altLang="zh-CN" sz="2800" noProof="1"/>
              <a:t>规定的</a:t>
            </a:r>
            <a:r>
              <a:rPr lang="en-US" altLang="zh-CN" sz="2800" noProof="1"/>
              <a:t> MAC </a:t>
            </a:r>
            <a:r>
              <a:rPr lang="zh-CN" altLang="zh-CN" sz="2800" noProof="1"/>
              <a:t>帧的第三个字段是“</a:t>
            </a:r>
            <a:r>
              <a:rPr lang="zh-CN" altLang="zh-CN" sz="2800" noProof="1">
                <a:solidFill>
                  <a:srgbClr val="FF0000"/>
                </a:solidFill>
              </a:rPr>
              <a:t>长度</a:t>
            </a:r>
            <a:r>
              <a:rPr lang="en-US" altLang="zh-CN" sz="2800" noProof="1">
                <a:solidFill>
                  <a:srgbClr val="FF0000"/>
                </a:solidFill>
              </a:rPr>
              <a:t> / </a:t>
            </a:r>
            <a:r>
              <a:rPr lang="zh-CN" altLang="zh-CN" sz="2800" noProof="1">
                <a:solidFill>
                  <a:srgbClr val="FF0000"/>
                </a:solidFill>
              </a:rPr>
              <a:t>类型</a:t>
            </a:r>
            <a:r>
              <a:rPr lang="zh-CN" altLang="zh-CN" sz="2800" noProof="1"/>
              <a:t>”。</a:t>
            </a:r>
            <a:endParaRPr lang="en-US" altLang="zh-CN" sz="2800" noProof="1"/>
          </a:p>
          <a:p>
            <a:pPr lvl="1"/>
            <a:r>
              <a:rPr lang="zh-CN" altLang="zh-CN" sz="2400" noProof="1">
                <a:cs typeface="+mn-ea"/>
              </a:rPr>
              <a:t>当这个字段值大于</a:t>
            </a:r>
            <a:r>
              <a:rPr lang="en-US" altLang="zh-CN" sz="2400" noProof="1">
                <a:cs typeface="+mn-ea"/>
              </a:rPr>
              <a:t> 0x0600 </a:t>
            </a:r>
            <a:r>
              <a:rPr lang="zh-CN" altLang="zh-CN" sz="2400" noProof="1">
                <a:cs typeface="+mn-ea"/>
              </a:rPr>
              <a:t>时（相当于十进制的</a:t>
            </a:r>
            <a:r>
              <a:rPr lang="en-US" altLang="zh-CN" sz="2400" noProof="1">
                <a:cs typeface="+mn-ea"/>
              </a:rPr>
              <a:t> 1536</a:t>
            </a:r>
            <a:r>
              <a:rPr lang="zh-CN" altLang="zh-CN" sz="2400" noProof="1">
                <a:cs typeface="+mn-ea"/>
              </a:rPr>
              <a:t>），就表示“类型”。这样的帧和以太网</a:t>
            </a:r>
            <a:r>
              <a:rPr lang="en-US" altLang="zh-CN" sz="2400" noProof="1">
                <a:cs typeface="+mn-ea"/>
              </a:rPr>
              <a:t> V2 MAC </a:t>
            </a:r>
            <a:r>
              <a:rPr lang="zh-CN" altLang="zh-CN" sz="2400" noProof="1">
                <a:cs typeface="+mn-ea"/>
              </a:rPr>
              <a:t>帧完全一样。</a:t>
            </a:r>
            <a:endParaRPr lang="en-US" altLang="zh-CN" sz="2400" noProof="1">
              <a:cs typeface="+mn-ea"/>
            </a:endParaRPr>
          </a:p>
          <a:p>
            <a:pPr lvl="1"/>
            <a:r>
              <a:rPr lang="zh-CN" altLang="zh-CN" sz="2400" noProof="1">
                <a:cs typeface="+mn-ea"/>
              </a:rPr>
              <a:t>当这个字段值小于</a:t>
            </a:r>
            <a:r>
              <a:rPr lang="en-US" altLang="zh-CN" sz="2400" noProof="1">
                <a:cs typeface="+mn-ea"/>
              </a:rPr>
              <a:t> 0x0600 </a:t>
            </a:r>
            <a:r>
              <a:rPr lang="zh-CN" altLang="zh-CN" sz="2400" noProof="1">
                <a:cs typeface="+mn-ea"/>
              </a:rPr>
              <a:t>时才表示“长度”</a:t>
            </a:r>
            <a:r>
              <a:rPr lang="zh-CN" altLang="en-US" sz="2400" noProof="1">
                <a:cs typeface="+mn-ea"/>
              </a:rPr>
              <a:t>。</a:t>
            </a:r>
            <a:endParaRPr lang="en-US" altLang="zh-CN" sz="2400" noProof="1">
              <a:cs typeface="+mn-ea"/>
            </a:endParaRPr>
          </a:p>
          <a:p>
            <a:r>
              <a:rPr lang="en-US" altLang="zh-CN" sz="2800" noProof="1"/>
              <a:t>(2) </a:t>
            </a:r>
            <a:r>
              <a:rPr lang="zh-CN" altLang="zh-CN" sz="2800" noProof="1"/>
              <a:t>当“长度</a:t>
            </a:r>
            <a:r>
              <a:rPr lang="en-US" altLang="zh-CN" sz="2800" noProof="1"/>
              <a:t>/</a:t>
            </a:r>
            <a:r>
              <a:rPr lang="zh-CN" altLang="zh-CN" sz="2800" noProof="1"/>
              <a:t>类型”字段值小于</a:t>
            </a:r>
            <a:r>
              <a:rPr lang="en-US" altLang="zh-CN" sz="2800" noProof="1"/>
              <a:t> 0x0600 </a:t>
            </a:r>
            <a:r>
              <a:rPr lang="zh-CN" altLang="zh-CN" sz="2800" noProof="1"/>
              <a:t>时，数据字段必须装入上面的逻辑链路控制</a:t>
            </a:r>
            <a:r>
              <a:rPr lang="en-US" altLang="zh-CN" sz="2800" noProof="1"/>
              <a:t> LLC </a:t>
            </a:r>
            <a:r>
              <a:rPr lang="zh-CN" altLang="zh-CN" sz="2800" noProof="1"/>
              <a:t>子层的</a:t>
            </a:r>
            <a:r>
              <a:rPr lang="en-US" altLang="zh-CN" sz="2800" noProof="1"/>
              <a:t> LLC </a:t>
            </a:r>
            <a:r>
              <a:rPr lang="zh-CN" altLang="zh-CN" sz="2800" noProof="1"/>
              <a:t>帧。</a:t>
            </a:r>
            <a:endParaRPr lang="zh-CN" altLang="en-US" sz="2800" noProof="1"/>
          </a:p>
        </p:txBody>
      </p:sp>
      <p:sp>
        <p:nvSpPr>
          <p:cNvPr id="605187" name="矩形 1"/>
          <p:cNvSpPr>
            <a:spLocks noChangeArrowheads="1"/>
          </p:cNvSpPr>
          <p:nvPr/>
        </p:nvSpPr>
        <p:spPr bwMode="auto">
          <a:xfrm>
            <a:off x="631825" y="5157788"/>
            <a:ext cx="8858250" cy="998537"/>
          </a:xfrm>
          <a:prstGeom prst="rect">
            <a:avLst/>
          </a:prstGeom>
          <a:solidFill>
            <a:srgbClr val="66FF66"/>
          </a:solidFill>
          <a:ln w="9525">
            <a:solidFill>
              <a:srgbClr val="000099"/>
            </a:solidFill>
            <a:round/>
            <a:headEnd/>
            <a:tailEnd/>
          </a:ln>
        </p:spPr>
        <p:txBody>
          <a:bodyPr>
            <a:spAutoFit/>
          </a:bodyPr>
          <a:lstStyle/>
          <a:p>
            <a:pPr eaLnBrk="0" hangingPunct="0">
              <a:lnSpc>
                <a:spcPct val="110000"/>
              </a:lnSpc>
            </a:pPr>
            <a:r>
              <a:rPr lang="zh-CN" altLang="zh-CN" sz="2800" b="1">
                <a:solidFill>
                  <a:srgbClr val="000066"/>
                </a:solidFill>
                <a:ea typeface="黑体" panose="02010609060101010101" pitchFamily="49" charset="-122"/>
              </a:rPr>
              <a:t>现在市场上流行的都是以太网</a:t>
            </a:r>
            <a:r>
              <a:rPr lang="en-US" altLang="zh-CN" sz="2800" b="1">
                <a:solidFill>
                  <a:srgbClr val="000066"/>
                </a:solidFill>
                <a:ea typeface="黑体" panose="02010609060101010101" pitchFamily="49" charset="-122"/>
              </a:rPr>
              <a:t>V2 </a:t>
            </a:r>
            <a:r>
              <a:rPr lang="zh-CN" altLang="zh-CN" sz="2800" b="1">
                <a:solidFill>
                  <a:srgbClr val="000066"/>
                </a:solidFill>
                <a:ea typeface="黑体" panose="02010609060101010101" pitchFamily="49" charset="-122"/>
              </a:rPr>
              <a:t>的</a:t>
            </a:r>
            <a:r>
              <a:rPr lang="en-US" altLang="zh-CN" sz="2800" b="1">
                <a:solidFill>
                  <a:srgbClr val="000066"/>
                </a:solidFill>
                <a:ea typeface="黑体" panose="02010609060101010101" pitchFamily="49" charset="-122"/>
              </a:rPr>
              <a:t> MAC </a:t>
            </a:r>
            <a:r>
              <a:rPr lang="zh-CN" altLang="zh-CN" sz="2800" b="1">
                <a:solidFill>
                  <a:srgbClr val="000066"/>
                </a:solidFill>
                <a:ea typeface="黑体" panose="02010609060101010101" pitchFamily="49" charset="-122"/>
              </a:rPr>
              <a:t>帧，但大家也常常把它称为</a:t>
            </a:r>
            <a:r>
              <a:rPr lang="en-US" altLang="zh-CN" sz="2800" b="1">
                <a:solidFill>
                  <a:srgbClr val="000066"/>
                </a:solidFill>
                <a:ea typeface="黑体" panose="02010609060101010101" pitchFamily="49" charset="-122"/>
              </a:rPr>
              <a:t> IEEE 802.3 </a:t>
            </a:r>
            <a:r>
              <a:rPr lang="zh-CN" altLang="zh-CN" sz="2800" b="1">
                <a:solidFill>
                  <a:srgbClr val="000066"/>
                </a:solidFill>
                <a:ea typeface="黑体" panose="02010609060101010101" pitchFamily="49" charset="-122"/>
              </a:rPr>
              <a:t>标准的</a:t>
            </a:r>
            <a:r>
              <a:rPr lang="en-US" altLang="zh-CN" sz="2800" b="1">
                <a:solidFill>
                  <a:srgbClr val="000066"/>
                </a:solidFill>
                <a:ea typeface="黑体" panose="02010609060101010101" pitchFamily="49" charset="-122"/>
              </a:rPr>
              <a:t> MAC </a:t>
            </a:r>
            <a:r>
              <a:rPr lang="zh-CN" altLang="zh-CN" sz="2800" b="1">
                <a:solidFill>
                  <a:srgbClr val="000066"/>
                </a:solidFill>
                <a:ea typeface="黑体" panose="02010609060101010101" pitchFamily="49" charset="-122"/>
              </a:rPr>
              <a:t>帧</a:t>
            </a:r>
            <a:r>
              <a:rPr lang="zh-CN" altLang="en-US" sz="2800" b="1">
                <a:solidFill>
                  <a:srgbClr val="000066"/>
                </a:solidFill>
                <a:ea typeface="黑体" panose="02010609060101010101" pitchFamily="49" charset="-122"/>
              </a:rPr>
              <a:t>。</a:t>
            </a:r>
          </a:p>
        </p:txBody>
      </p:sp>
      <p:sp>
        <p:nvSpPr>
          <p:cNvPr id="60518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718F2A-7233-4D60-BA7F-CB042663589B}" type="slidenum">
              <a:rPr lang="zh-CN" altLang="en-US" smtClean="0"/>
              <a:pPr eaLnBrk="1" hangingPunct="1"/>
              <a:t>26</a:t>
            </a:fld>
            <a:endParaRPr lang="en-US" altLang="zh-CN" smtClean="0"/>
          </a:p>
        </p:txBody>
      </p:sp>
      <p:sp>
        <p:nvSpPr>
          <p:cNvPr id="60518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帧间最小间隔 </a:t>
            </a:r>
          </a:p>
        </p:txBody>
      </p:sp>
      <p:sp>
        <p:nvSpPr>
          <p:cNvPr id="607234"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帧间最小间隔为 </a:t>
            </a:r>
            <a:r>
              <a:rPr lang="en-US" altLang="zh-CN" smtClean="0">
                <a:ea typeface="黑体" panose="02010609060101010101" pitchFamily="49" charset="-122"/>
              </a:rPr>
              <a:t>9.6 </a:t>
            </a:r>
            <a:r>
              <a:rPr lang="en-US" altLang="zh-CN" smtClean="0">
                <a:ea typeface="黑体" panose="02010609060101010101" pitchFamily="49" charset="-122"/>
                <a:sym typeface="Symbol" panose="05050102010706020507" pitchFamily="18" charset="2"/>
              </a:rPr>
              <a:t></a:t>
            </a:r>
            <a:r>
              <a:rPr lang="en-US" altLang="zh-CN" smtClean="0">
                <a:ea typeface="黑体" panose="02010609060101010101" pitchFamily="49" charset="-122"/>
              </a:rPr>
              <a:t>s</a:t>
            </a:r>
            <a:r>
              <a:rPr lang="zh-CN" altLang="en-US" smtClean="0">
                <a:ea typeface="黑体" panose="02010609060101010101" pitchFamily="49" charset="-122"/>
              </a:rPr>
              <a:t>，相当于 </a:t>
            </a:r>
            <a:r>
              <a:rPr lang="en-US" altLang="zh-CN" smtClean="0">
                <a:ea typeface="黑体" panose="02010609060101010101" pitchFamily="49" charset="-122"/>
              </a:rPr>
              <a:t>96 bit </a:t>
            </a:r>
            <a:r>
              <a:rPr lang="zh-CN" altLang="en-US" smtClean="0">
                <a:ea typeface="黑体" panose="02010609060101010101" pitchFamily="49" charset="-122"/>
              </a:rPr>
              <a:t>的发送时间。</a:t>
            </a:r>
          </a:p>
          <a:p>
            <a:r>
              <a:rPr lang="zh-CN" altLang="en-US" smtClean="0">
                <a:ea typeface="黑体" panose="02010609060101010101" pitchFamily="49" charset="-122"/>
              </a:rPr>
              <a:t>一个站在检测到总线开始空闲后，还要等待 </a:t>
            </a:r>
            <a:r>
              <a:rPr lang="en-US" altLang="zh-CN" smtClean="0">
                <a:ea typeface="黑体" panose="02010609060101010101" pitchFamily="49" charset="-122"/>
              </a:rPr>
              <a:t>9.6 </a:t>
            </a:r>
            <a:r>
              <a:rPr lang="en-US" altLang="zh-CN" smtClean="0">
                <a:ea typeface="黑体" panose="02010609060101010101" pitchFamily="49" charset="-122"/>
                <a:sym typeface="Symbol" panose="05050102010706020507" pitchFamily="18" charset="2"/>
              </a:rPr>
              <a:t></a:t>
            </a:r>
            <a:r>
              <a:rPr lang="en-US" altLang="zh-CN" smtClean="0">
                <a:ea typeface="黑体" panose="02010609060101010101" pitchFamily="49" charset="-122"/>
              </a:rPr>
              <a:t>s </a:t>
            </a:r>
            <a:r>
              <a:rPr lang="zh-CN" altLang="en-US" smtClean="0">
                <a:ea typeface="黑体" panose="02010609060101010101" pitchFamily="49" charset="-122"/>
              </a:rPr>
              <a:t>才能再次发送数据。</a:t>
            </a:r>
          </a:p>
          <a:p>
            <a:r>
              <a:rPr lang="zh-CN" altLang="en-US" smtClean="0">
                <a:ea typeface="黑体" panose="02010609060101010101" pitchFamily="49" charset="-122"/>
              </a:rPr>
              <a:t>这样做是为了使刚刚收到数据帧的站的接收缓存来得及清理，做好接收下一帧的准备。 </a:t>
            </a:r>
          </a:p>
        </p:txBody>
      </p:sp>
      <p:sp>
        <p:nvSpPr>
          <p:cNvPr id="6072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610EA9-7586-4636-A78B-B2681F4E5895}" type="slidenum">
              <a:rPr lang="zh-CN" altLang="en-US" smtClean="0"/>
              <a:pPr eaLnBrk="1" hangingPunct="1"/>
              <a:t>27</a:t>
            </a:fld>
            <a:endParaRPr lang="en-US" altLang="zh-CN" smtClean="0"/>
          </a:p>
        </p:txBody>
      </p:sp>
      <p:sp>
        <p:nvSpPr>
          <p:cNvPr id="6072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  </a:t>
            </a:r>
            <a:r>
              <a:rPr lang="zh-CN" altLang="zh-CN" smtClean="0">
                <a:ea typeface="黑体" panose="02010609060101010101" pitchFamily="49" charset="-122"/>
              </a:rPr>
              <a:t>扩展的以太网</a:t>
            </a:r>
            <a:endParaRPr lang="zh-CN" altLang="en-US" smtClean="0">
              <a:ea typeface="黑体" panose="02010609060101010101" pitchFamily="49" charset="-122"/>
            </a:endParaRPr>
          </a:p>
        </p:txBody>
      </p:sp>
      <p:sp>
        <p:nvSpPr>
          <p:cNvPr id="609282"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3.4.1  </a:t>
            </a:r>
            <a:r>
              <a:rPr lang="zh-CN" altLang="zh-CN" smtClean="0">
                <a:ea typeface="黑体" panose="02010609060101010101" pitchFamily="49" charset="-122"/>
              </a:rPr>
              <a:t>在物理层扩展以太网</a:t>
            </a:r>
          </a:p>
          <a:p>
            <a:r>
              <a:rPr lang="en-US" altLang="zh-CN" smtClean="0">
                <a:ea typeface="黑体" panose="02010609060101010101" pitchFamily="49" charset="-122"/>
              </a:rPr>
              <a:t>3.4.2  </a:t>
            </a:r>
            <a:r>
              <a:rPr lang="zh-CN" altLang="zh-CN" smtClean="0">
                <a:ea typeface="黑体" panose="02010609060101010101" pitchFamily="49" charset="-122"/>
              </a:rPr>
              <a:t>在数据链路层扩展以太网</a:t>
            </a:r>
          </a:p>
          <a:p>
            <a:r>
              <a:rPr lang="en-US" altLang="zh-CN" smtClean="0">
                <a:ea typeface="黑体" panose="02010609060101010101" pitchFamily="49" charset="-122"/>
              </a:rPr>
              <a:t>3.4.3  </a:t>
            </a:r>
            <a:r>
              <a:rPr lang="zh-CN" altLang="zh-CN" smtClean="0">
                <a:ea typeface="黑体" panose="02010609060101010101" pitchFamily="49" charset="-122"/>
              </a:rPr>
              <a:t>虚拟局域网</a:t>
            </a:r>
          </a:p>
        </p:txBody>
      </p:sp>
      <p:sp>
        <p:nvSpPr>
          <p:cNvPr id="6092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8B0F5BF-594E-4095-93BF-22C2D27DB467}" type="slidenum">
              <a:rPr lang="zh-CN" altLang="en-US" smtClean="0"/>
              <a:pPr eaLnBrk="1" hangingPunct="1"/>
              <a:t>28</a:t>
            </a:fld>
            <a:endParaRPr lang="en-US" altLang="zh-CN" smtClean="0"/>
          </a:p>
        </p:txBody>
      </p:sp>
      <p:sp>
        <p:nvSpPr>
          <p:cNvPr id="6092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3.4.1  </a:t>
            </a:r>
            <a:r>
              <a:rPr lang="zh-CN" altLang="en-US" smtClean="0">
                <a:ea typeface="黑体" panose="02010609060101010101" pitchFamily="49" charset="-122"/>
              </a:rPr>
              <a:t>在物理层扩展以太网</a:t>
            </a:r>
          </a:p>
        </p:txBody>
      </p:sp>
      <p:sp>
        <p:nvSpPr>
          <p:cNvPr id="610306" name="Rectangle 4"/>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使用光纤扩展</a:t>
            </a:r>
            <a:endParaRPr lang="en-US" altLang="zh-CN" dirty="0" smtClean="0">
              <a:solidFill>
                <a:srgbClr val="FF0000"/>
              </a:solidFill>
              <a:ea typeface="黑体" panose="02010609060101010101" pitchFamily="49" charset="-122"/>
            </a:endParaRPr>
          </a:p>
          <a:p>
            <a:pPr lvl="1"/>
            <a:r>
              <a:rPr lang="zh-CN" altLang="en-US" dirty="0" smtClean="0">
                <a:ea typeface="黑体" panose="02010609060101010101" pitchFamily="49" charset="-122"/>
              </a:rPr>
              <a:t>主机使用光纤</a:t>
            </a:r>
            <a:r>
              <a:rPr lang="zh-CN" altLang="zh-CN" dirty="0" smtClean="0">
                <a:ea typeface="黑体" panose="02010609060101010101" pitchFamily="49" charset="-122"/>
              </a:rPr>
              <a:t>（通常是一对光纤）</a:t>
            </a:r>
            <a:r>
              <a:rPr lang="zh-CN" altLang="en-US" dirty="0" smtClean="0">
                <a:ea typeface="黑体" panose="02010609060101010101" pitchFamily="49" charset="-122"/>
              </a:rPr>
              <a:t>和一对光纤调制解调器连接到集线器。 </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很容易使主机和几公里以外的集线器相连接</a:t>
            </a:r>
            <a:r>
              <a:rPr lang="zh-CN" altLang="en-US" dirty="0" smtClean="0">
                <a:ea typeface="黑体" panose="02010609060101010101" pitchFamily="49" charset="-122"/>
              </a:rPr>
              <a:t>。</a:t>
            </a:r>
          </a:p>
        </p:txBody>
      </p:sp>
      <p:sp>
        <p:nvSpPr>
          <p:cNvPr id="610307" name="Text Box 6"/>
          <p:cNvSpPr txBox="1">
            <a:spLocks noChangeArrowheads="1"/>
          </p:cNvSpPr>
          <p:nvPr/>
        </p:nvSpPr>
        <p:spPr bwMode="auto">
          <a:xfrm>
            <a:off x="8045450" y="2716213"/>
            <a:ext cx="184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zh-CN" altLang="zh-CN" sz="2800">
              <a:solidFill>
                <a:schemeClr val="folHlink"/>
              </a:solidFill>
              <a:ea typeface="黑体" panose="02010609060101010101" pitchFamily="49" charset="-122"/>
            </a:endParaRPr>
          </a:p>
        </p:txBody>
      </p:sp>
      <p:sp>
        <p:nvSpPr>
          <p:cNvPr id="610308" name="矩形 2"/>
          <p:cNvSpPr>
            <a:spLocks noChangeArrowheads="1"/>
          </p:cNvSpPr>
          <p:nvPr/>
        </p:nvSpPr>
        <p:spPr bwMode="auto">
          <a:xfrm>
            <a:off x="1128713" y="5630863"/>
            <a:ext cx="821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主机使用光纤和一对光纤调制解调器连接到集线器</a:t>
            </a:r>
            <a:endParaRPr lang="zh-CN" altLang="en-US" sz="2400" b="1">
              <a:ea typeface="黑体" panose="02010609060101010101" pitchFamily="49" charset="-122"/>
            </a:endParaRPr>
          </a:p>
        </p:txBody>
      </p:sp>
      <p:grpSp>
        <p:nvGrpSpPr>
          <p:cNvPr id="610309" name="组合 4"/>
          <p:cNvGrpSpPr>
            <a:grpSpLocks/>
          </p:cNvGrpSpPr>
          <p:nvPr/>
        </p:nvGrpSpPr>
        <p:grpSpPr bwMode="auto">
          <a:xfrm>
            <a:off x="1208088" y="3398838"/>
            <a:ext cx="8129587" cy="2168525"/>
            <a:chOff x="1414830" y="3421145"/>
            <a:chExt cx="8128345" cy="2168095"/>
          </a:xfrm>
        </p:grpSpPr>
        <p:pic>
          <p:nvPicPr>
            <p:cNvPr id="610310"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448914">
              <a:off x="8299293" y="4124085"/>
              <a:ext cx="124388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11" name="Text Box 7"/>
            <p:cNvSpPr txBox="1">
              <a:spLocks noChangeArrowheads="1"/>
            </p:cNvSpPr>
            <p:nvPr/>
          </p:nvSpPr>
          <p:spPr bwMode="auto">
            <a:xfrm>
              <a:off x="8378631" y="3421145"/>
              <a:ext cx="1068876"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a:solidFill>
                    <a:srgbClr val="000099"/>
                  </a:solidFill>
                  <a:ea typeface="黑体" panose="02010609060101010101" pitchFamily="49" charset="-122"/>
                </a:rPr>
                <a:t>以太网</a:t>
              </a:r>
            </a:p>
            <a:p>
              <a:pPr eaLnBrk="0" hangingPunct="0">
                <a:lnSpc>
                  <a:spcPct val="90000"/>
                </a:lnSpc>
              </a:pPr>
              <a:r>
                <a:rPr lang="zh-CN" altLang="en-US" sz="2400" b="1">
                  <a:solidFill>
                    <a:srgbClr val="000099"/>
                  </a:solidFill>
                  <a:ea typeface="黑体" panose="02010609060101010101" pitchFamily="49" charset="-122"/>
                </a:rPr>
                <a:t>集线器</a:t>
              </a:r>
            </a:p>
          </p:txBody>
        </p:sp>
        <p:sp>
          <p:nvSpPr>
            <p:cNvPr id="610312" name="Line 8"/>
            <p:cNvSpPr>
              <a:spLocks noChangeShapeType="1"/>
            </p:cNvSpPr>
            <p:nvPr/>
          </p:nvSpPr>
          <p:spPr bwMode="auto">
            <a:xfrm>
              <a:off x="1844248" y="4598748"/>
              <a:ext cx="676725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610313" name="Text Box 9"/>
            <p:cNvSpPr txBox="1">
              <a:spLocks noChangeArrowheads="1"/>
            </p:cNvSpPr>
            <p:nvPr/>
          </p:nvSpPr>
          <p:spPr bwMode="auto">
            <a:xfrm>
              <a:off x="4733900" y="4054236"/>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FF0000"/>
                  </a:solidFill>
                  <a:ea typeface="黑体" panose="02010609060101010101" pitchFamily="49" charset="-122"/>
                </a:rPr>
                <a:t>光纤</a:t>
              </a:r>
            </a:p>
          </p:txBody>
        </p:sp>
        <p:sp>
          <p:nvSpPr>
            <p:cNvPr id="610314" name="Text Box 10"/>
            <p:cNvSpPr txBox="1">
              <a:spLocks noChangeArrowheads="1"/>
            </p:cNvSpPr>
            <p:nvPr/>
          </p:nvSpPr>
          <p:spPr bwMode="auto">
            <a:xfrm>
              <a:off x="6977073" y="4832110"/>
              <a:ext cx="166320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400" b="1">
                  <a:solidFill>
                    <a:srgbClr val="000099"/>
                  </a:solidFill>
                  <a:ea typeface="黑体" panose="02010609060101010101" pitchFamily="49" charset="-122"/>
                </a:rPr>
                <a:t>光纤</a:t>
              </a:r>
            </a:p>
            <a:p>
              <a:pPr algn="ctr" eaLnBrk="0" hangingPunct="0">
                <a:lnSpc>
                  <a:spcPct val="90000"/>
                </a:lnSpc>
              </a:pPr>
              <a:r>
                <a:rPr lang="zh-CN" altLang="en-US" sz="2400" b="1">
                  <a:solidFill>
                    <a:srgbClr val="000099"/>
                  </a:solidFill>
                  <a:ea typeface="黑体" panose="02010609060101010101" pitchFamily="49" charset="-122"/>
                </a:rPr>
                <a:t>调制解调器</a:t>
              </a:r>
            </a:p>
          </p:txBody>
        </p:sp>
        <p:pic>
          <p:nvPicPr>
            <p:cNvPr id="610315" name="Picture 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8175" y="4027249"/>
              <a:ext cx="692147"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6"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9701" y="4400311"/>
              <a:ext cx="626070"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317"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74109" y="4400311"/>
              <a:ext cx="624418"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0318" name="Text Box 14"/>
            <p:cNvSpPr txBox="1">
              <a:spLocks noChangeArrowheads="1"/>
            </p:cNvSpPr>
            <p:nvPr/>
          </p:nvSpPr>
          <p:spPr bwMode="auto">
            <a:xfrm>
              <a:off x="1705615" y="4789248"/>
              <a:ext cx="166320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sz="2400" b="1">
                  <a:solidFill>
                    <a:srgbClr val="000099"/>
                  </a:solidFill>
                  <a:ea typeface="黑体" panose="02010609060101010101" pitchFamily="49" charset="-122"/>
                </a:rPr>
                <a:t>光纤</a:t>
              </a:r>
            </a:p>
            <a:p>
              <a:pPr algn="ctr" eaLnBrk="0" hangingPunct="0">
                <a:lnSpc>
                  <a:spcPct val="90000"/>
                </a:lnSpc>
              </a:pPr>
              <a:r>
                <a:rPr lang="zh-CN" altLang="en-US" sz="2400" b="1">
                  <a:solidFill>
                    <a:srgbClr val="000099"/>
                  </a:solidFill>
                  <a:ea typeface="黑体" panose="02010609060101010101" pitchFamily="49" charset="-122"/>
                </a:rPr>
                <a:t>调制解调器</a:t>
              </a:r>
            </a:p>
          </p:txBody>
        </p:sp>
        <p:sp>
          <p:nvSpPr>
            <p:cNvPr id="610319" name="Text Box 7"/>
            <p:cNvSpPr txBox="1">
              <a:spLocks noChangeArrowheads="1"/>
            </p:cNvSpPr>
            <p:nvPr/>
          </p:nvSpPr>
          <p:spPr bwMode="auto">
            <a:xfrm>
              <a:off x="1414830" y="3580332"/>
              <a:ext cx="803425"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a:solidFill>
                    <a:srgbClr val="000099"/>
                  </a:solidFill>
                  <a:ea typeface="黑体" panose="02010609060101010101" pitchFamily="49" charset="-122"/>
                </a:rPr>
                <a:t>主机</a:t>
              </a:r>
            </a:p>
          </p:txBody>
        </p:sp>
      </p:grpSp>
      <p:sp>
        <p:nvSpPr>
          <p:cNvPr id="610320"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F49303-81EB-4F44-B9FF-9E37F8C77C02}" type="slidenum">
              <a:rPr lang="zh-CN" altLang="en-US" smtClean="0"/>
              <a:pPr eaLnBrk="1" hangingPunct="1"/>
              <a:t>29</a:t>
            </a:fld>
            <a:endParaRPr lang="en-US" altLang="zh-CN" smtClean="0"/>
          </a:p>
        </p:txBody>
      </p:sp>
      <p:sp>
        <p:nvSpPr>
          <p:cNvPr id="610321"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29" name="Rectangle 5"/>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3.4.1  </a:t>
            </a:r>
            <a:r>
              <a:rPr lang="zh-CN" altLang="en-US" smtClean="0">
                <a:ea typeface="黑体" panose="02010609060101010101" pitchFamily="49" charset="-122"/>
              </a:rPr>
              <a:t>在物理层扩展以太网</a:t>
            </a:r>
          </a:p>
        </p:txBody>
      </p:sp>
      <p:sp>
        <p:nvSpPr>
          <p:cNvPr id="611330" name="Rectangle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使用集线器扩展</a:t>
            </a:r>
            <a:endParaRPr lang="en-US" altLang="zh-CN" smtClean="0">
              <a:solidFill>
                <a:srgbClr val="FF0000"/>
              </a:solidFill>
              <a:ea typeface="黑体" panose="02010609060101010101" pitchFamily="49" charset="-122"/>
            </a:endParaRPr>
          </a:p>
          <a:p>
            <a:pPr lvl="1"/>
            <a:r>
              <a:rPr lang="zh-CN" altLang="en-US" smtClean="0">
                <a:ea typeface="黑体" panose="02010609060101010101" pitchFamily="49" charset="-122"/>
              </a:rPr>
              <a:t>使用多个集线器可连成更大的、</a:t>
            </a:r>
            <a:r>
              <a:rPr lang="zh-CN" altLang="zh-CN" smtClean="0">
                <a:ea typeface="黑体" panose="02010609060101010101" pitchFamily="49" charset="-122"/>
              </a:rPr>
              <a:t>多级</a:t>
            </a:r>
            <a:r>
              <a:rPr lang="zh-CN" altLang="en-US" smtClean="0">
                <a:ea typeface="黑体" panose="02010609060101010101" pitchFamily="49" charset="-122"/>
              </a:rPr>
              <a:t>星形</a:t>
            </a:r>
            <a:r>
              <a:rPr lang="zh-CN" altLang="zh-CN" smtClean="0">
                <a:ea typeface="黑体" panose="02010609060101010101" pitchFamily="49" charset="-122"/>
              </a:rPr>
              <a:t>结构的以太网</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例如，一个学院的三个系各有一个</a:t>
            </a:r>
            <a:r>
              <a:rPr lang="en-US" altLang="zh-CN" smtClean="0">
                <a:ea typeface="黑体" panose="02010609060101010101" pitchFamily="49" charset="-122"/>
              </a:rPr>
              <a:t> 10BASE-T </a:t>
            </a:r>
            <a:r>
              <a:rPr lang="zh-CN" altLang="zh-CN" smtClean="0">
                <a:ea typeface="黑体" panose="02010609060101010101" pitchFamily="49" charset="-122"/>
              </a:rPr>
              <a:t>以太网</a:t>
            </a:r>
            <a:r>
              <a:rPr lang="zh-CN" altLang="en-US" smtClean="0">
                <a:ea typeface="黑体" panose="02010609060101010101" pitchFamily="49" charset="-122"/>
              </a:rPr>
              <a:t>，</a:t>
            </a:r>
            <a:r>
              <a:rPr lang="zh-CN" altLang="zh-CN" smtClean="0">
                <a:ea typeface="黑体" panose="02010609060101010101" pitchFamily="49" charset="-122"/>
              </a:rPr>
              <a:t>可通过一个主干集线器把各系的以太网连接起来，成为一个更大的以太网</a:t>
            </a:r>
            <a:r>
              <a:rPr lang="zh-CN" altLang="en-US" smtClean="0">
                <a:ea typeface="黑体" panose="02010609060101010101" pitchFamily="49" charset="-122"/>
              </a:rPr>
              <a:t>。</a:t>
            </a:r>
            <a:endParaRPr lang="zh-CN" altLang="en-US" smtClean="0">
              <a:solidFill>
                <a:srgbClr val="0000FF"/>
              </a:solidFill>
              <a:ea typeface="黑体" panose="02010609060101010101" pitchFamily="49" charset="-122"/>
            </a:endParaRPr>
          </a:p>
        </p:txBody>
      </p:sp>
      <p:sp>
        <p:nvSpPr>
          <p:cNvPr id="611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AFF2B8-3697-484D-93F6-EAABA76BE425}" type="slidenum">
              <a:rPr lang="zh-CN" altLang="en-US" smtClean="0"/>
              <a:pPr eaLnBrk="1" hangingPunct="1"/>
              <a:t>30</a:t>
            </a:fld>
            <a:endParaRPr lang="en-US" altLang="zh-CN" smtClean="0"/>
          </a:p>
        </p:txBody>
      </p:sp>
      <p:sp>
        <p:nvSpPr>
          <p:cNvPr id="611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3377" name="组合 44"/>
          <p:cNvGrpSpPr>
            <a:grpSpLocks/>
          </p:cNvGrpSpPr>
          <p:nvPr/>
        </p:nvGrpSpPr>
        <p:grpSpPr bwMode="auto">
          <a:xfrm>
            <a:off x="1352550" y="115888"/>
            <a:ext cx="7416800" cy="2736850"/>
            <a:chOff x="1162682" y="1927687"/>
            <a:chExt cx="7819909" cy="3403695"/>
          </a:xfrm>
        </p:grpSpPr>
        <p:sp>
          <p:nvSpPr>
            <p:cNvPr id="613378" name="Text Box 43"/>
            <p:cNvSpPr txBox="1">
              <a:spLocks noChangeArrowheads="1"/>
            </p:cNvSpPr>
            <p:nvPr/>
          </p:nvSpPr>
          <p:spPr bwMode="auto">
            <a:xfrm>
              <a:off x="3620302" y="1927687"/>
              <a:ext cx="2659702"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latin typeface="Times New Roman" panose="02020603050405020304" pitchFamily="18" charset="0"/>
                  <a:ea typeface="黑体" panose="02010609060101010101" pitchFamily="49" charset="-122"/>
                </a:rPr>
                <a:t>三个独立的碰撞域</a:t>
              </a:r>
            </a:p>
          </p:txBody>
        </p:sp>
        <p:sp>
          <p:nvSpPr>
            <p:cNvPr id="613379" name="AutoShape 77"/>
            <p:cNvSpPr>
              <a:spLocks/>
            </p:cNvSpPr>
            <p:nvPr/>
          </p:nvSpPr>
          <p:spPr bwMode="auto">
            <a:xfrm rot="5400000" flipV="1">
              <a:off x="4872442" y="-442163"/>
              <a:ext cx="415925" cy="6163733"/>
            </a:xfrm>
            <a:prstGeom prst="leftBrace">
              <a:avLst>
                <a:gd name="adj1" fmla="val 113958"/>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grpSp>
          <p:nvGrpSpPr>
            <p:cNvPr id="613380" name="组合 47"/>
            <p:cNvGrpSpPr>
              <a:grpSpLocks/>
            </p:cNvGrpSpPr>
            <p:nvPr/>
          </p:nvGrpSpPr>
          <p:grpSpPr bwMode="auto">
            <a:xfrm>
              <a:off x="1162682" y="2787352"/>
              <a:ext cx="7819909" cy="2544030"/>
              <a:chOff x="1012116" y="2787352"/>
              <a:chExt cx="8333372" cy="2730585"/>
            </a:xfrm>
          </p:grpSpPr>
          <p:sp>
            <p:nvSpPr>
              <p:cNvPr id="613381" name="AutoShape 44"/>
              <p:cNvSpPr>
                <a:spLocks noChangeArrowheads="1"/>
              </p:cNvSpPr>
              <p:nvPr/>
            </p:nvSpPr>
            <p:spPr bwMode="auto">
              <a:xfrm>
                <a:off x="1012116" y="2787352"/>
                <a:ext cx="2672844" cy="2730585"/>
              </a:xfrm>
              <a:prstGeom prst="roundRect">
                <a:avLst>
                  <a:gd name="adj" fmla="val 16667"/>
                </a:avLst>
              </a:prstGeom>
              <a:solidFill>
                <a:srgbClr val="FF99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2" name="Line 45"/>
              <p:cNvSpPr>
                <a:spLocks noChangeShapeType="1"/>
              </p:cNvSpPr>
              <p:nvPr/>
            </p:nvSpPr>
            <p:spPr bwMode="auto">
              <a:xfrm flipH="1">
                <a:off x="1431354" y="4102593"/>
                <a:ext cx="667796"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83"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69538" y="4685321"/>
                <a:ext cx="502089"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84" name="Line 47"/>
              <p:cNvSpPr>
                <a:spLocks noChangeShapeType="1"/>
              </p:cNvSpPr>
              <p:nvPr/>
            </p:nvSpPr>
            <p:spPr bwMode="auto">
              <a:xfrm>
                <a:off x="2476960" y="4249542"/>
                <a:ext cx="18559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5" name="Line 48"/>
              <p:cNvSpPr>
                <a:spLocks noChangeShapeType="1"/>
              </p:cNvSpPr>
              <p:nvPr/>
            </p:nvSpPr>
            <p:spPr bwMode="auto">
              <a:xfrm>
                <a:off x="2662552" y="4224207"/>
                <a:ext cx="657855"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86" name="Line 49"/>
              <p:cNvSpPr>
                <a:spLocks noChangeShapeType="1"/>
              </p:cNvSpPr>
              <p:nvPr/>
            </p:nvSpPr>
            <p:spPr bwMode="auto">
              <a:xfrm flipH="1">
                <a:off x="2054410" y="4114416"/>
                <a:ext cx="178963"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87"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9223"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88" name="Picture 5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7249"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89"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5276" y="4685321"/>
                <a:ext cx="502089"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0" name="Text Box 53"/>
              <p:cNvSpPr txBox="1">
                <a:spLocks noChangeArrowheads="1"/>
              </p:cNvSpPr>
              <p:nvPr/>
            </p:nvSpPr>
            <p:spPr bwMode="auto">
              <a:xfrm>
                <a:off x="2000672" y="2996952"/>
                <a:ext cx="927010"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一系 </a:t>
                </a:r>
              </a:p>
            </p:txBody>
          </p:sp>
          <p:pic>
            <p:nvPicPr>
              <p:cNvPr id="613391" name="Picture 5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850590" y="3719176"/>
                <a:ext cx="1156631"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2" name="AutoShape 55"/>
              <p:cNvSpPr>
                <a:spLocks noChangeArrowheads="1"/>
              </p:cNvSpPr>
              <p:nvPr/>
            </p:nvSpPr>
            <p:spPr bwMode="auto">
              <a:xfrm>
                <a:off x="3842381" y="2787352"/>
                <a:ext cx="2671186" cy="2730585"/>
              </a:xfrm>
              <a:prstGeom prst="roundRect">
                <a:avLst>
                  <a:gd name="adj" fmla="val 16667"/>
                </a:avLst>
              </a:pr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3" name="Line 56"/>
              <p:cNvSpPr>
                <a:spLocks noChangeShapeType="1"/>
              </p:cNvSpPr>
              <p:nvPr/>
            </p:nvSpPr>
            <p:spPr bwMode="auto">
              <a:xfrm flipH="1">
                <a:off x="4259960" y="4102593"/>
                <a:ext cx="669454"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94"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8145"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395" name="Line 58"/>
              <p:cNvSpPr>
                <a:spLocks noChangeShapeType="1"/>
              </p:cNvSpPr>
              <p:nvPr/>
            </p:nvSpPr>
            <p:spPr bwMode="auto">
              <a:xfrm>
                <a:off x="5305568" y="4249542"/>
                <a:ext cx="18559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6" name="Line 59"/>
              <p:cNvSpPr>
                <a:spLocks noChangeShapeType="1"/>
              </p:cNvSpPr>
              <p:nvPr/>
            </p:nvSpPr>
            <p:spPr bwMode="auto">
              <a:xfrm>
                <a:off x="5491160" y="4224207"/>
                <a:ext cx="659511"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397" name="Line 60"/>
              <p:cNvSpPr>
                <a:spLocks noChangeShapeType="1"/>
              </p:cNvSpPr>
              <p:nvPr/>
            </p:nvSpPr>
            <p:spPr bwMode="auto">
              <a:xfrm flipH="1">
                <a:off x="4883017" y="4114416"/>
                <a:ext cx="180621"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398"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830"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399" name="Picture 6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5857"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00" name="Picture 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3884"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01" name="Text Box 64"/>
              <p:cNvSpPr txBox="1">
                <a:spLocks noChangeArrowheads="1"/>
              </p:cNvSpPr>
              <p:nvPr/>
            </p:nvSpPr>
            <p:spPr bwMode="auto">
              <a:xfrm>
                <a:off x="4849891" y="2996952"/>
                <a:ext cx="922225"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二系 </a:t>
                </a:r>
              </a:p>
            </p:txBody>
          </p:sp>
          <p:pic>
            <p:nvPicPr>
              <p:cNvPr id="613402" name="Picture 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679198" y="3719176"/>
                <a:ext cx="1156631"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AutoShape 66"/>
              <p:cNvSpPr>
                <a:spLocks noChangeArrowheads="1"/>
              </p:cNvSpPr>
              <p:nvPr/>
            </p:nvSpPr>
            <p:spPr bwMode="auto">
              <a:xfrm>
                <a:off x="6673529" y="2786446"/>
                <a:ext cx="2671959" cy="2731491"/>
              </a:xfrm>
              <a:prstGeom prst="roundRect">
                <a:avLst>
                  <a:gd name="adj" fmla="val 16667"/>
                </a:avLst>
              </a:prstGeom>
              <a:solidFill>
                <a:schemeClr val="accent6">
                  <a:lumMod val="60000"/>
                  <a:lumOff val="40000"/>
                </a:schemeClr>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noProof="1">
                  <a:solidFill>
                    <a:srgbClr val="0000CC"/>
                  </a:solidFill>
                  <a:latin typeface="+mn-lt"/>
                  <a:ea typeface="黑体" panose="02010609060101010101" pitchFamily="2" charset="-122"/>
                </a:endParaRPr>
              </a:p>
            </p:txBody>
          </p:sp>
          <p:sp>
            <p:nvSpPr>
              <p:cNvPr id="613404" name="Line 67"/>
              <p:cNvSpPr>
                <a:spLocks noChangeShapeType="1"/>
              </p:cNvSpPr>
              <p:nvPr/>
            </p:nvSpPr>
            <p:spPr bwMode="auto">
              <a:xfrm flipH="1">
                <a:off x="7093539" y="4102593"/>
                <a:ext cx="667797" cy="78372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405" name="Picture 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1723"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06" name="Line 69"/>
              <p:cNvSpPr>
                <a:spLocks noChangeShapeType="1"/>
              </p:cNvSpPr>
              <p:nvPr/>
            </p:nvSpPr>
            <p:spPr bwMode="auto">
              <a:xfrm>
                <a:off x="8137489" y="4249542"/>
                <a:ext cx="187249"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407" name="Line 70"/>
              <p:cNvSpPr>
                <a:spLocks noChangeShapeType="1"/>
              </p:cNvSpPr>
              <p:nvPr/>
            </p:nvSpPr>
            <p:spPr bwMode="auto">
              <a:xfrm>
                <a:off x="8324738" y="4224207"/>
                <a:ext cx="657854" cy="61144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sp>
            <p:nvSpPr>
              <p:cNvPr id="613408" name="Line 71"/>
              <p:cNvSpPr>
                <a:spLocks noChangeShapeType="1"/>
              </p:cNvSpPr>
              <p:nvPr/>
            </p:nvSpPr>
            <p:spPr bwMode="auto">
              <a:xfrm flipH="1">
                <a:off x="7714939" y="4114416"/>
                <a:ext cx="180620" cy="79048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sz="1600" b="1">
                  <a:solidFill>
                    <a:srgbClr val="0000CC"/>
                  </a:solidFill>
                  <a:ea typeface="黑体" panose="02010609060101010101" pitchFamily="49" charset="-122"/>
                </a:endParaRPr>
              </a:p>
            </p:txBody>
          </p:sp>
          <p:pic>
            <p:nvPicPr>
              <p:cNvPr id="613409"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59751"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10"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87778" y="4685321"/>
                <a:ext cx="502090"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11"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7461" y="4685321"/>
                <a:ext cx="500433" cy="543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12" name="Text Box 75"/>
              <p:cNvSpPr txBox="1">
                <a:spLocks noChangeArrowheads="1"/>
              </p:cNvSpPr>
              <p:nvPr/>
            </p:nvSpPr>
            <p:spPr bwMode="auto">
              <a:xfrm>
                <a:off x="7630443" y="2996952"/>
                <a:ext cx="959426" cy="53419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solidFill>
                      <a:srgbClr val="0000CC"/>
                    </a:solidFill>
                    <a:ea typeface="黑体" panose="02010609060101010101" pitchFamily="49" charset="-122"/>
                  </a:rPr>
                  <a:t> 三系 </a:t>
                </a:r>
              </a:p>
            </p:txBody>
          </p:sp>
          <p:pic>
            <p:nvPicPr>
              <p:cNvPr id="613413" name="Picture 7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12777" y="3719176"/>
                <a:ext cx="1154972" cy="65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613414" name="组合 4"/>
          <p:cNvGrpSpPr>
            <a:grpSpLocks/>
          </p:cNvGrpSpPr>
          <p:nvPr/>
        </p:nvGrpSpPr>
        <p:grpSpPr bwMode="auto">
          <a:xfrm>
            <a:off x="1281113" y="3398838"/>
            <a:ext cx="7488237" cy="2776537"/>
            <a:chOff x="1280592" y="3399383"/>
            <a:chExt cx="7488831" cy="2776373"/>
          </a:xfrm>
        </p:grpSpPr>
        <p:grpSp>
          <p:nvGrpSpPr>
            <p:cNvPr id="613415" name="组合 2"/>
            <p:cNvGrpSpPr>
              <a:grpSpLocks/>
            </p:cNvGrpSpPr>
            <p:nvPr/>
          </p:nvGrpSpPr>
          <p:grpSpPr bwMode="auto">
            <a:xfrm>
              <a:off x="1280592" y="3823082"/>
              <a:ext cx="7488831" cy="2352674"/>
              <a:chOff x="53314" y="2681288"/>
              <a:chExt cx="9658350" cy="3078162"/>
            </a:xfrm>
          </p:grpSpPr>
          <p:sp>
            <p:nvSpPr>
              <p:cNvPr id="613416" name="AutoShape 42"/>
              <p:cNvSpPr>
                <a:spLocks noChangeArrowheads="1"/>
              </p:cNvSpPr>
              <p:nvPr/>
            </p:nvSpPr>
            <p:spPr bwMode="auto">
              <a:xfrm>
                <a:off x="53314" y="2681288"/>
                <a:ext cx="9658350" cy="3078162"/>
              </a:xfrm>
              <a:prstGeom prst="roundRect">
                <a:avLst>
                  <a:gd name="adj" fmla="val 16667"/>
                </a:avLst>
              </a:prstGeom>
              <a:solidFill>
                <a:srgbClr val="66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613417" name="Line 43"/>
              <p:cNvSpPr>
                <a:spLocks noChangeShapeType="1"/>
              </p:cNvSpPr>
              <p:nvPr/>
            </p:nvSpPr>
            <p:spPr bwMode="auto">
              <a:xfrm flipH="1">
                <a:off x="2135981" y="3351214"/>
                <a:ext cx="2326879" cy="9620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18" name="Line 44"/>
              <p:cNvSpPr>
                <a:spLocks noChangeShapeType="1"/>
              </p:cNvSpPr>
              <p:nvPr/>
            </p:nvSpPr>
            <p:spPr bwMode="auto">
              <a:xfrm>
                <a:off x="5207530" y="3359151"/>
                <a:ext cx="2894410" cy="9191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19" name="Line 45"/>
              <p:cNvSpPr>
                <a:spLocks noChangeShapeType="1"/>
              </p:cNvSpPr>
              <p:nvPr/>
            </p:nvSpPr>
            <p:spPr bwMode="auto">
              <a:xfrm>
                <a:off x="4825735" y="3406776"/>
                <a:ext cx="227013" cy="892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0" name="Text Box 46"/>
              <p:cNvSpPr txBox="1">
                <a:spLocks noChangeArrowheads="1"/>
              </p:cNvSpPr>
              <p:nvPr/>
            </p:nvSpPr>
            <p:spPr bwMode="auto">
              <a:xfrm>
                <a:off x="662120"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一系</a:t>
                </a:r>
              </a:p>
            </p:txBody>
          </p:sp>
          <p:sp>
            <p:nvSpPr>
              <p:cNvPr id="613421" name="Text Box 47"/>
              <p:cNvSpPr txBox="1">
                <a:spLocks noChangeArrowheads="1"/>
              </p:cNvSpPr>
              <p:nvPr/>
            </p:nvSpPr>
            <p:spPr bwMode="auto">
              <a:xfrm>
                <a:off x="6822415"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三系</a:t>
                </a:r>
              </a:p>
            </p:txBody>
          </p:sp>
          <p:sp>
            <p:nvSpPr>
              <p:cNvPr id="613422" name="Text Box 48"/>
              <p:cNvSpPr txBox="1">
                <a:spLocks noChangeArrowheads="1"/>
              </p:cNvSpPr>
              <p:nvPr/>
            </p:nvSpPr>
            <p:spPr bwMode="auto">
              <a:xfrm>
                <a:off x="3702712" y="4076700"/>
                <a:ext cx="700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二系</a:t>
                </a:r>
              </a:p>
            </p:txBody>
          </p:sp>
          <p:sp>
            <p:nvSpPr>
              <p:cNvPr id="613423" name="Text Box 49"/>
              <p:cNvSpPr txBox="1">
                <a:spLocks noChangeArrowheads="1"/>
              </p:cNvSpPr>
              <p:nvPr/>
            </p:nvSpPr>
            <p:spPr bwMode="auto">
              <a:xfrm>
                <a:off x="1857726" y="2825174"/>
                <a:ext cx="2281813" cy="60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a:solidFill>
                      <a:srgbClr val="0000CC"/>
                    </a:solidFill>
                    <a:ea typeface="黑体" panose="02010609060101010101" pitchFamily="49" charset="-122"/>
                  </a:rPr>
                  <a:t>主干集线器</a:t>
                </a:r>
              </a:p>
            </p:txBody>
          </p:sp>
          <p:sp>
            <p:nvSpPr>
              <p:cNvPr id="613424" name="Line 51"/>
              <p:cNvSpPr>
                <a:spLocks noChangeShapeType="1"/>
              </p:cNvSpPr>
              <p:nvPr/>
            </p:nvSpPr>
            <p:spPr bwMode="auto">
              <a:xfrm flipH="1">
                <a:off x="945886" y="4446589"/>
                <a:ext cx="720593"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25" name="Picture 5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840"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26" name="Line 53"/>
              <p:cNvSpPr>
                <a:spLocks noChangeShapeType="1"/>
              </p:cNvSpPr>
              <p:nvPr/>
            </p:nvSpPr>
            <p:spPr bwMode="auto">
              <a:xfrm>
                <a:off x="2072350" y="4575176"/>
                <a:ext cx="20121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7" name="Line 54"/>
              <p:cNvSpPr>
                <a:spLocks noChangeShapeType="1"/>
              </p:cNvSpPr>
              <p:nvPr/>
            </p:nvSpPr>
            <p:spPr bwMode="auto">
              <a:xfrm>
                <a:off x="2273564" y="4552951"/>
                <a:ext cx="71027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28" name="Line 55"/>
              <p:cNvSpPr>
                <a:spLocks noChangeShapeType="1"/>
              </p:cNvSpPr>
              <p:nvPr/>
            </p:nvSpPr>
            <p:spPr bwMode="auto">
              <a:xfrm flipH="1">
                <a:off x="1616604" y="4457700"/>
                <a:ext cx="194337"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29" name="Picture 5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1438"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0" name="Picture 5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036"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1" name="Picture 5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96634"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2" name="Picture 5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1398192" y="4114800"/>
                <a:ext cx="124684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33" name="Line 60"/>
              <p:cNvSpPr>
                <a:spLocks noChangeShapeType="1"/>
              </p:cNvSpPr>
              <p:nvPr/>
            </p:nvSpPr>
            <p:spPr bwMode="auto">
              <a:xfrm flipH="1">
                <a:off x="3996797" y="4446589"/>
                <a:ext cx="720593"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34" name="Picture 6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4750"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35" name="Line 62"/>
              <p:cNvSpPr>
                <a:spLocks noChangeShapeType="1"/>
              </p:cNvSpPr>
              <p:nvPr/>
            </p:nvSpPr>
            <p:spPr bwMode="auto">
              <a:xfrm>
                <a:off x="5123260" y="4575176"/>
                <a:ext cx="201215"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36" name="Line 63"/>
              <p:cNvSpPr>
                <a:spLocks noChangeShapeType="1"/>
              </p:cNvSpPr>
              <p:nvPr/>
            </p:nvSpPr>
            <p:spPr bwMode="auto">
              <a:xfrm>
                <a:off x="5324475" y="4552951"/>
                <a:ext cx="708554"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37" name="Line 64"/>
              <p:cNvSpPr>
                <a:spLocks noChangeShapeType="1"/>
              </p:cNvSpPr>
              <p:nvPr/>
            </p:nvSpPr>
            <p:spPr bwMode="auto">
              <a:xfrm flipH="1">
                <a:off x="4667515" y="4457700"/>
                <a:ext cx="194337"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38" name="Picture 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92348"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39" name="Picture 6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9946"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0" name="Picture 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47544"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1" name="Picture 6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449102" y="4114800"/>
                <a:ext cx="1245129"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42" name="Line 69"/>
              <p:cNvSpPr>
                <a:spLocks noChangeShapeType="1"/>
              </p:cNvSpPr>
              <p:nvPr/>
            </p:nvSpPr>
            <p:spPr bwMode="auto">
              <a:xfrm flipH="1">
                <a:off x="7049427" y="4446589"/>
                <a:ext cx="720592" cy="6810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43" name="Picture 7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67381"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3444" name="Line 71"/>
              <p:cNvSpPr>
                <a:spLocks noChangeShapeType="1"/>
              </p:cNvSpPr>
              <p:nvPr/>
            </p:nvSpPr>
            <p:spPr bwMode="auto">
              <a:xfrm>
                <a:off x="8175890" y="4575176"/>
                <a:ext cx="201216"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45" name="Line 72"/>
              <p:cNvSpPr>
                <a:spLocks noChangeShapeType="1"/>
              </p:cNvSpPr>
              <p:nvPr/>
            </p:nvSpPr>
            <p:spPr bwMode="auto">
              <a:xfrm>
                <a:off x="8377107" y="4552951"/>
                <a:ext cx="710273" cy="5302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613446" name="Line 73"/>
              <p:cNvSpPr>
                <a:spLocks noChangeShapeType="1"/>
              </p:cNvSpPr>
              <p:nvPr/>
            </p:nvSpPr>
            <p:spPr bwMode="auto">
              <a:xfrm flipH="1">
                <a:off x="7720146" y="4457700"/>
                <a:ext cx="194336" cy="685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pic>
            <p:nvPicPr>
              <p:cNvPr id="613447"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4979"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8"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2577"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49"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00175" y="4953000"/>
                <a:ext cx="54001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50" name="Picture 7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7501731" y="4114800"/>
                <a:ext cx="12468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3451" name="Picture 7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102812">
                <a:off x="4081067" y="2840039"/>
                <a:ext cx="1666478"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13452" name="Text Box 50"/>
            <p:cNvSpPr txBox="1">
              <a:spLocks noChangeArrowheads="1"/>
            </p:cNvSpPr>
            <p:nvPr/>
          </p:nvSpPr>
          <p:spPr bwMode="auto">
            <a:xfrm>
              <a:off x="3621403" y="3399383"/>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C00000"/>
                  </a:solidFill>
                  <a:ea typeface="黑体" panose="02010609060101010101" pitchFamily="49" charset="-122"/>
                </a:rPr>
                <a:t>一个更大的碰撞域</a:t>
              </a:r>
            </a:p>
          </p:txBody>
        </p:sp>
      </p:grpSp>
      <p:sp>
        <p:nvSpPr>
          <p:cNvPr id="613453" name="矩形 5"/>
          <p:cNvSpPr>
            <a:spLocks noChangeArrowheads="1"/>
          </p:cNvSpPr>
          <p:nvPr/>
        </p:nvSpPr>
        <p:spPr bwMode="auto">
          <a:xfrm>
            <a:off x="3392488" y="2852738"/>
            <a:ext cx="3121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三个独立的以太网</a:t>
            </a:r>
            <a:endParaRPr lang="en-US" altLang="zh-CN" sz="2400" b="1">
              <a:ea typeface="黑体" panose="02010609060101010101" pitchFamily="49" charset="-122"/>
            </a:endParaRPr>
          </a:p>
        </p:txBody>
      </p:sp>
      <p:sp>
        <p:nvSpPr>
          <p:cNvPr id="613454" name="矩形 84"/>
          <p:cNvSpPr>
            <a:spLocks noChangeArrowheads="1"/>
          </p:cNvSpPr>
          <p:nvPr/>
        </p:nvSpPr>
        <p:spPr bwMode="auto">
          <a:xfrm>
            <a:off x="3381375" y="6135688"/>
            <a:ext cx="313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一个扩展的以太网</a:t>
            </a:r>
            <a:endParaRPr lang="zh-CN" altLang="en-US" sz="2400" b="1">
              <a:ea typeface="黑体" panose="02010609060101010101" pitchFamily="49" charset="-122"/>
            </a:endParaRPr>
          </a:p>
        </p:txBody>
      </p:sp>
      <p:sp>
        <p:nvSpPr>
          <p:cNvPr id="613455"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D9D10A5-33D0-4D33-96C7-B631DA5C8CB2}" type="slidenum">
              <a:rPr lang="zh-CN" altLang="en-US" smtClean="0"/>
              <a:pPr/>
              <a:t>31</a:t>
            </a:fld>
            <a:endParaRPr lang="en-US" altLang="zh-CN" smtClean="0"/>
          </a:p>
        </p:txBody>
      </p:sp>
      <p:sp>
        <p:nvSpPr>
          <p:cNvPr id="613456"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用集线器扩展以太网 </a:t>
            </a:r>
          </a:p>
        </p:txBody>
      </p:sp>
      <p:sp>
        <p:nvSpPr>
          <p:cNvPr id="456706" name="Rectangle 2"/>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优点</a:t>
            </a:r>
          </a:p>
          <a:p>
            <a:pPr lvl="1"/>
            <a:r>
              <a:rPr lang="zh-CN" altLang="en-US" smtClean="0">
                <a:ea typeface="黑体" panose="02010609060101010101" pitchFamily="49" charset="-122"/>
              </a:rPr>
              <a:t>使原来属于不同碰撞域的以太网上的计算机能够进行跨碰撞域的通信。</a:t>
            </a:r>
          </a:p>
          <a:p>
            <a:pPr lvl="1"/>
            <a:r>
              <a:rPr lang="zh-CN" altLang="en-US" smtClean="0">
                <a:ea typeface="黑体" panose="02010609060101010101" pitchFamily="49" charset="-122"/>
              </a:rPr>
              <a:t>扩大了以太网覆盖的地理范围。</a:t>
            </a:r>
          </a:p>
          <a:p>
            <a:r>
              <a:rPr lang="zh-CN" altLang="en-US" smtClean="0">
                <a:solidFill>
                  <a:srgbClr val="0000FF"/>
                </a:solidFill>
                <a:ea typeface="黑体" panose="02010609060101010101" pitchFamily="49" charset="-122"/>
              </a:rPr>
              <a:t>缺点</a:t>
            </a:r>
          </a:p>
          <a:p>
            <a:pPr lvl="1"/>
            <a:r>
              <a:rPr lang="zh-CN" altLang="en-US" smtClean="0">
                <a:ea typeface="黑体" panose="02010609060101010101" pitchFamily="49" charset="-122"/>
              </a:rPr>
              <a:t>碰撞域增大了，但总的吞吐量并未提高。</a:t>
            </a:r>
          </a:p>
          <a:p>
            <a:pPr lvl="1"/>
            <a:r>
              <a:rPr lang="zh-CN" altLang="en-US" smtClean="0">
                <a:ea typeface="黑体" panose="02010609060101010101" pitchFamily="49" charset="-122"/>
              </a:rPr>
              <a:t>如果不同的碰撞域使用不同的数据率，那么就不能用集线器将它们互连起来。   </a:t>
            </a:r>
          </a:p>
        </p:txBody>
      </p:sp>
      <p:sp>
        <p:nvSpPr>
          <p:cNvPr id="6154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BAF8CE-6C6E-4525-A613-E5B36F292954}" type="slidenum">
              <a:rPr lang="zh-CN" altLang="en-US" smtClean="0"/>
              <a:pPr eaLnBrk="1" hangingPunct="1"/>
              <a:t>32</a:t>
            </a:fld>
            <a:endParaRPr lang="en-US" altLang="zh-CN" smtClean="0"/>
          </a:p>
        </p:txBody>
      </p:sp>
      <p:sp>
        <p:nvSpPr>
          <p:cNvPr id="6154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670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670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670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3" name="Rectangle 3"/>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3.4.2  </a:t>
            </a:r>
            <a:r>
              <a:rPr lang="zh-CN" altLang="en-US" smtClean="0">
                <a:ea typeface="黑体" panose="02010609060101010101" pitchFamily="49" charset="-122"/>
              </a:rPr>
              <a:t>在数据链路层扩展以太网 </a:t>
            </a:r>
          </a:p>
        </p:txBody>
      </p:sp>
      <p:sp>
        <p:nvSpPr>
          <p:cNvPr id="617474" name="Rectangle 2"/>
          <p:cNvSpPr>
            <a:spLocks noGrp="1" noChangeArrowheads="1"/>
          </p:cNvSpPr>
          <p:nvPr>
            <p:ph idx="1"/>
          </p:nvPr>
        </p:nvSpPr>
        <p:spPr>
          <a:xfrm>
            <a:off x="495300" y="1196975"/>
            <a:ext cx="9066213" cy="4933950"/>
          </a:xfrm>
        </p:spPr>
        <p:txBody>
          <a:bodyPr/>
          <a:lstStyle/>
          <a:p>
            <a:r>
              <a:rPr lang="zh-CN" altLang="zh-CN" sz="2800" smtClean="0">
                <a:ea typeface="黑体" panose="02010609060101010101" pitchFamily="49" charset="-122"/>
              </a:rPr>
              <a:t>扩展以太网更常用的方法是在数据链路层进行</a:t>
            </a:r>
            <a:r>
              <a:rPr lang="zh-CN" altLang="en-US" sz="2800" smtClean="0">
                <a:ea typeface="黑体" panose="02010609060101010101" pitchFamily="49" charset="-122"/>
              </a:rPr>
              <a:t>。</a:t>
            </a:r>
            <a:endParaRPr lang="en-US" altLang="zh-CN" sz="2800" smtClean="0">
              <a:ea typeface="黑体" panose="02010609060101010101" pitchFamily="49" charset="-122"/>
            </a:endParaRPr>
          </a:p>
          <a:p>
            <a:r>
              <a:rPr lang="zh-CN" altLang="en-US" sz="2800" smtClean="0">
                <a:ea typeface="黑体" panose="02010609060101010101" pitchFamily="49" charset="-122"/>
              </a:rPr>
              <a:t>早期使用</a:t>
            </a:r>
            <a:r>
              <a:rPr lang="zh-CN" altLang="en-US" sz="2800" smtClean="0">
                <a:solidFill>
                  <a:srgbClr val="FF0000"/>
                </a:solidFill>
                <a:ea typeface="黑体" panose="02010609060101010101" pitchFamily="49" charset="-122"/>
              </a:rPr>
              <a:t>网桥，</a:t>
            </a:r>
            <a:r>
              <a:rPr lang="zh-CN" altLang="en-US" sz="2800" smtClean="0">
                <a:ea typeface="黑体" panose="02010609060101010101" pitchFamily="49" charset="-122"/>
              </a:rPr>
              <a:t>现在使用以太网</a:t>
            </a:r>
            <a:r>
              <a:rPr lang="zh-CN" altLang="en-US" sz="2800" smtClean="0">
                <a:solidFill>
                  <a:srgbClr val="FF0000"/>
                </a:solidFill>
                <a:ea typeface="黑体" panose="02010609060101010101" pitchFamily="49" charset="-122"/>
              </a:rPr>
              <a:t>交换机。</a:t>
            </a:r>
            <a:endParaRPr lang="en-US" altLang="zh-CN" sz="2800" smtClean="0">
              <a:solidFill>
                <a:srgbClr val="FF0000"/>
              </a:solidFill>
              <a:ea typeface="黑体" panose="02010609060101010101" pitchFamily="49" charset="-122"/>
            </a:endParaRPr>
          </a:p>
        </p:txBody>
      </p:sp>
      <p:sp>
        <p:nvSpPr>
          <p:cNvPr id="617475" name="矩形 1"/>
          <p:cNvSpPr>
            <a:spLocks noChangeArrowheads="1"/>
          </p:cNvSpPr>
          <p:nvPr/>
        </p:nvSpPr>
        <p:spPr bwMode="auto">
          <a:xfrm>
            <a:off x="849313" y="2349500"/>
            <a:ext cx="8640762" cy="2122488"/>
          </a:xfrm>
          <a:prstGeom prst="rect">
            <a:avLst/>
          </a:prstGeom>
          <a:solidFill>
            <a:srgbClr val="FFFF66"/>
          </a:solidFill>
          <a:ln w="9525">
            <a:solidFill>
              <a:srgbClr val="000066"/>
            </a:solidFill>
            <a:round/>
            <a:headEnd/>
            <a:tailEnd/>
          </a:ln>
        </p:spPr>
        <p:txBody>
          <a:bodyPr>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SzPct val="80000"/>
              <a:buFont typeface="Wingdings" panose="05000000000000000000" pitchFamily="2" charset="2"/>
              <a:buChar char="l"/>
            </a:pPr>
            <a:r>
              <a:rPr lang="zh-CN" altLang="en-US" sz="2400" b="1">
                <a:solidFill>
                  <a:srgbClr val="C00000"/>
                </a:solidFill>
                <a:ea typeface="黑体" panose="02010609060101010101" pitchFamily="49" charset="-122"/>
              </a:rPr>
              <a:t>网桥</a:t>
            </a:r>
            <a:r>
              <a:rPr lang="zh-CN" altLang="en-US" sz="2400" b="1">
                <a:solidFill>
                  <a:srgbClr val="000099"/>
                </a:solidFill>
                <a:ea typeface="黑体" panose="02010609060101010101" pitchFamily="49" charset="-122"/>
              </a:rPr>
              <a:t>工作在数据链路层。</a:t>
            </a:r>
            <a:endParaRPr lang="en-US" altLang="zh-CN" sz="2400" b="1">
              <a:solidFill>
                <a:srgbClr val="000099"/>
              </a:solidFill>
              <a:ea typeface="黑体" panose="02010609060101010101" pitchFamily="49" charset="-122"/>
            </a:endParaRPr>
          </a:p>
          <a:p>
            <a:pPr>
              <a:lnSpc>
                <a:spcPct val="110000"/>
              </a:lnSpc>
              <a:buSzPct val="80000"/>
              <a:buFont typeface="Wingdings" panose="05000000000000000000" pitchFamily="2" charset="2"/>
              <a:buChar char="l"/>
            </a:pPr>
            <a:r>
              <a:rPr lang="zh-CN" altLang="en-US" sz="2400" b="1">
                <a:solidFill>
                  <a:srgbClr val="C00000"/>
                </a:solidFill>
                <a:ea typeface="黑体" panose="02010609060101010101" pitchFamily="49" charset="-122"/>
              </a:rPr>
              <a:t>它根据 </a:t>
            </a:r>
            <a:r>
              <a:rPr lang="en-US" altLang="zh-CN" sz="2400" b="1">
                <a:solidFill>
                  <a:srgbClr val="C00000"/>
                </a:solidFill>
                <a:ea typeface="黑体" panose="02010609060101010101" pitchFamily="49" charset="-122"/>
              </a:rPr>
              <a:t>MAC </a:t>
            </a:r>
            <a:r>
              <a:rPr lang="zh-CN" altLang="en-US" sz="2400" b="1">
                <a:solidFill>
                  <a:srgbClr val="C00000"/>
                </a:solidFill>
                <a:ea typeface="黑体" panose="02010609060101010101" pitchFamily="49" charset="-122"/>
              </a:rPr>
              <a:t>帧的目的地址对收到的帧进行</a:t>
            </a:r>
            <a:r>
              <a:rPr lang="zh-CN" altLang="zh-CN" sz="2400" b="1">
                <a:solidFill>
                  <a:srgbClr val="C00000"/>
                </a:solidFill>
                <a:ea typeface="黑体" panose="02010609060101010101" pitchFamily="49" charset="-122"/>
              </a:rPr>
              <a:t>转发和过滤</a:t>
            </a:r>
            <a:r>
              <a:rPr lang="zh-CN" altLang="en-US" sz="2400" b="1">
                <a:solidFill>
                  <a:srgbClr val="C00000"/>
                </a:solidFill>
                <a:ea typeface="黑体" panose="02010609060101010101" pitchFamily="49" charset="-122"/>
              </a:rPr>
              <a:t>。</a:t>
            </a:r>
          </a:p>
          <a:p>
            <a:pPr>
              <a:lnSpc>
                <a:spcPct val="110000"/>
              </a:lnSpc>
              <a:buSzPct val="80000"/>
              <a:buFont typeface="Wingdings" panose="05000000000000000000" pitchFamily="2" charset="2"/>
              <a:buChar char="l"/>
            </a:pPr>
            <a:r>
              <a:rPr lang="zh-CN" altLang="en-US" sz="2400" b="1">
                <a:solidFill>
                  <a:srgbClr val="000099"/>
                </a:solidFill>
                <a:ea typeface="黑体" panose="02010609060101010101" pitchFamily="49" charset="-122"/>
              </a:rPr>
              <a:t>当网桥收到一个帧时，并不是向所有的接口转发此帧，而是先检查此帧的目的 </a:t>
            </a:r>
            <a:r>
              <a:rPr lang="en-US" altLang="zh-CN" sz="2400" b="1">
                <a:solidFill>
                  <a:srgbClr val="000099"/>
                </a:solidFill>
                <a:ea typeface="黑体" panose="02010609060101010101" pitchFamily="49" charset="-122"/>
              </a:rPr>
              <a:t>MAC </a:t>
            </a:r>
            <a:r>
              <a:rPr lang="zh-CN" altLang="en-US" sz="2400" b="1">
                <a:solidFill>
                  <a:srgbClr val="000099"/>
                </a:solidFill>
                <a:ea typeface="黑体" panose="02010609060101010101" pitchFamily="49" charset="-122"/>
              </a:rPr>
              <a:t>地址，然后再确定将该帧转发到哪一个接口，或</a:t>
            </a:r>
            <a:r>
              <a:rPr lang="zh-CN" altLang="zh-CN" sz="2400" b="1">
                <a:solidFill>
                  <a:srgbClr val="000099"/>
                </a:solidFill>
                <a:ea typeface="黑体" panose="02010609060101010101" pitchFamily="49" charset="-122"/>
              </a:rPr>
              <a:t>把它</a:t>
            </a:r>
            <a:r>
              <a:rPr lang="zh-CN" altLang="en-US" sz="2400" b="1">
                <a:solidFill>
                  <a:srgbClr val="000099"/>
                </a:solidFill>
                <a:ea typeface="黑体" panose="02010609060101010101" pitchFamily="49" charset="-122"/>
              </a:rPr>
              <a:t>丢弃。 </a:t>
            </a:r>
          </a:p>
        </p:txBody>
      </p:sp>
      <p:sp>
        <p:nvSpPr>
          <p:cNvPr id="617476" name="矩形 2"/>
          <p:cNvSpPr>
            <a:spLocks noChangeArrowheads="1"/>
          </p:cNvSpPr>
          <p:nvPr/>
        </p:nvSpPr>
        <p:spPr bwMode="auto">
          <a:xfrm>
            <a:off x="849313" y="4508500"/>
            <a:ext cx="8640762" cy="1717675"/>
          </a:xfrm>
          <a:prstGeom prst="rect">
            <a:avLst/>
          </a:prstGeom>
          <a:solidFill>
            <a:srgbClr val="66FF66"/>
          </a:solidFill>
          <a:ln w="9525">
            <a:solidFill>
              <a:srgbClr val="000066"/>
            </a:solidFill>
            <a:round/>
            <a:headEnd/>
            <a:tailEnd/>
          </a:ln>
        </p:spPr>
        <p:txBody>
          <a:bodyPr>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10000"/>
              </a:lnSpc>
              <a:buSzPct val="80000"/>
              <a:buFont typeface="Wingdings" panose="05000000000000000000" pitchFamily="2" charset="2"/>
              <a:buChar char="l"/>
            </a:pPr>
            <a:r>
              <a:rPr lang="en-US" altLang="zh-CN" sz="2400" b="1">
                <a:solidFill>
                  <a:srgbClr val="000099"/>
                </a:solidFill>
                <a:ea typeface="黑体" panose="02010609060101010101" pitchFamily="49" charset="-122"/>
              </a:rPr>
              <a:t>1990 </a:t>
            </a:r>
            <a:r>
              <a:rPr lang="zh-CN" altLang="en-US" sz="2400" b="1">
                <a:solidFill>
                  <a:srgbClr val="000099"/>
                </a:solidFill>
                <a:ea typeface="黑体" panose="02010609060101010101" pitchFamily="49" charset="-122"/>
              </a:rPr>
              <a:t>年问世的</a:t>
            </a:r>
            <a:r>
              <a:rPr lang="zh-CN" altLang="en-US" sz="2400" b="1">
                <a:solidFill>
                  <a:srgbClr val="C00000"/>
                </a:solidFill>
                <a:ea typeface="黑体" panose="02010609060101010101" pitchFamily="49" charset="-122"/>
              </a:rPr>
              <a:t>交换式集线器 </a:t>
            </a:r>
            <a:r>
              <a:rPr lang="en-US" altLang="zh-CN" sz="2400" b="1">
                <a:solidFill>
                  <a:srgbClr val="000099"/>
                </a:solidFill>
                <a:ea typeface="黑体" panose="02010609060101010101" pitchFamily="49" charset="-122"/>
              </a:rPr>
              <a:t>(switching hub) </a:t>
            </a:r>
            <a:r>
              <a:rPr lang="zh-CN" altLang="en-US" sz="2400" b="1">
                <a:solidFill>
                  <a:srgbClr val="000099"/>
                </a:solidFill>
                <a:ea typeface="黑体" panose="02010609060101010101" pitchFamily="49" charset="-122"/>
              </a:rPr>
              <a:t>可明显地提高以太网的性能。</a:t>
            </a:r>
            <a:endParaRPr lang="en-US" altLang="zh-CN" sz="2400" b="1">
              <a:solidFill>
                <a:srgbClr val="000099"/>
              </a:solidFill>
              <a:ea typeface="黑体" panose="02010609060101010101" pitchFamily="49" charset="-122"/>
            </a:endParaRPr>
          </a:p>
          <a:p>
            <a:pPr>
              <a:lnSpc>
                <a:spcPct val="110000"/>
              </a:lnSpc>
              <a:buSzPct val="80000"/>
              <a:buFont typeface="Wingdings" panose="05000000000000000000" pitchFamily="2" charset="2"/>
              <a:buChar char="l"/>
            </a:pPr>
            <a:r>
              <a:rPr lang="zh-CN" altLang="zh-CN" sz="2400" b="1">
                <a:solidFill>
                  <a:srgbClr val="C00000"/>
                </a:solidFill>
                <a:ea typeface="黑体" panose="02010609060101010101" pitchFamily="49" charset="-122"/>
              </a:rPr>
              <a:t>交换式集线器</a:t>
            </a:r>
            <a:r>
              <a:rPr lang="zh-CN" altLang="zh-CN" sz="2400" b="1">
                <a:solidFill>
                  <a:srgbClr val="000099"/>
                </a:solidFill>
                <a:ea typeface="黑体" panose="02010609060101010101" pitchFamily="49" charset="-122"/>
              </a:rPr>
              <a:t>常称为</a:t>
            </a:r>
            <a:r>
              <a:rPr lang="zh-CN" altLang="zh-CN" sz="2400" b="1">
                <a:solidFill>
                  <a:srgbClr val="C00000"/>
                </a:solidFill>
                <a:ea typeface="黑体" panose="02010609060101010101" pitchFamily="49" charset="-122"/>
              </a:rPr>
              <a:t>以太网交换机</a:t>
            </a:r>
            <a:r>
              <a:rPr lang="en-US" altLang="zh-CN" sz="2400" b="1">
                <a:solidFill>
                  <a:srgbClr val="C00000"/>
                </a:solidFill>
                <a:ea typeface="黑体" panose="02010609060101010101" pitchFamily="49" charset="-122"/>
              </a:rPr>
              <a:t> </a:t>
            </a:r>
            <a:r>
              <a:rPr lang="en-US" altLang="zh-CN" sz="2400" b="1">
                <a:solidFill>
                  <a:srgbClr val="000099"/>
                </a:solidFill>
                <a:ea typeface="黑体" panose="02010609060101010101" pitchFamily="49" charset="-122"/>
              </a:rPr>
              <a:t>(switch) </a:t>
            </a:r>
            <a:r>
              <a:rPr lang="zh-CN" altLang="zh-CN" sz="2400" b="1">
                <a:solidFill>
                  <a:srgbClr val="000099"/>
                </a:solidFill>
                <a:ea typeface="黑体" panose="02010609060101010101" pitchFamily="49" charset="-122"/>
              </a:rPr>
              <a:t>或</a:t>
            </a:r>
            <a:r>
              <a:rPr lang="zh-CN" altLang="zh-CN" sz="2400" b="1">
                <a:solidFill>
                  <a:srgbClr val="C00000"/>
                </a:solidFill>
                <a:ea typeface="黑体" panose="02010609060101010101" pitchFamily="49" charset="-122"/>
              </a:rPr>
              <a:t>第二层交换机</a:t>
            </a:r>
            <a:r>
              <a:rPr lang="en-US" altLang="zh-CN" sz="2400" b="1">
                <a:solidFill>
                  <a:srgbClr val="C00000"/>
                </a:solidFill>
                <a:ea typeface="黑体" panose="02010609060101010101" pitchFamily="49" charset="-122"/>
              </a:rPr>
              <a:t> </a:t>
            </a:r>
            <a:r>
              <a:rPr lang="en-US" altLang="zh-CN" sz="2400" b="1">
                <a:solidFill>
                  <a:srgbClr val="000099"/>
                </a:solidFill>
                <a:ea typeface="黑体" panose="02010609060101010101" pitchFamily="49" charset="-122"/>
              </a:rPr>
              <a:t>(L2 switch)</a:t>
            </a:r>
            <a:r>
              <a:rPr lang="zh-CN" altLang="zh-CN" sz="2400" b="1">
                <a:solidFill>
                  <a:srgbClr val="000099"/>
                </a:solidFill>
                <a:ea typeface="黑体" panose="02010609060101010101" pitchFamily="49" charset="-122"/>
              </a:rPr>
              <a:t>，强调这种交换机工作在数据链路层</a:t>
            </a:r>
            <a:r>
              <a:rPr lang="zh-CN" altLang="en-US" sz="2400" b="1">
                <a:solidFill>
                  <a:srgbClr val="000099"/>
                </a:solidFill>
                <a:ea typeface="黑体" panose="02010609060101010101" pitchFamily="49" charset="-122"/>
              </a:rPr>
              <a:t>。</a:t>
            </a:r>
          </a:p>
        </p:txBody>
      </p:sp>
      <p:sp>
        <p:nvSpPr>
          <p:cNvPr id="61747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6A2D11-70DC-409C-9D18-5C4F963A1E1D}" type="slidenum">
              <a:rPr lang="zh-CN" altLang="en-US" smtClean="0"/>
              <a:pPr eaLnBrk="1" hangingPunct="1"/>
              <a:t>33</a:t>
            </a:fld>
            <a:endParaRPr lang="en-US" altLang="zh-CN" smtClean="0"/>
          </a:p>
        </p:txBody>
      </p:sp>
      <p:sp>
        <p:nvSpPr>
          <p:cNvPr id="61747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zh-CN" smtClean="0">
                <a:ea typeface="黑体" panose="02010609060101010101" pitchFamily="49" charset="-122"/>
              </a:rPr>
              <a:t>以太网交换机的特点</a:t>
            </a:r>
            <a:endParaRPr lang="zh-CN" altLang="en-US" smtClean="0">
              <a:ea typeface="黑体" panose="02010609060101010101" pitchFamily="49" charset="-122"/>
            </a:endParaRPr>
          </a:p>
        </p:txBody>
      </p:sp>
      <p:sp>
        <p:nvSpPr>
          <p:cNvPr id="61952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以太网交换机实质上就是一个</a:t>
            </a:r>
            <a:r>
              <a:rPr lang="zh-CN" altLang="zh-CN" dirty="0" smtClean="0">
                <a:solidFill>
                  <a:srgbClr val="FF0000"/>
                </a:solidFill>
                <a:ea typeface="黑体" panose="02010609060101010101" pitchFamily="49" charset="-122"/>
              </a:rPr>
              <a:t>多接口的网桥</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通常都有十几个或更多的接口</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每个接口都直接与一个单台主机或另一个以太网交换机相连，并且一般都</a:t>
            </a:r>
            <a:r>
              <a:rPr lang="zh-CN" altLang="zh-CN" dirty="0" smtClean="0">
                <a:solidFill>
                  <a:srgbClr val="FF0000"/>
                </a:solidFill>
                <a:ea typeface="黑体" panose="02010609060101010101" pitchFamily="49" charset="-122"/>
              </a:rPr>
              <a:t>工作在全双工方式。</a:t>
            </a:r>
            <a:endParaRPr lang="en-US" altLang="zh-CN" dirty="0" smtClean="0">
              <a:solidFill>
                <a:srgbClr val="FF0000"/>
              </a:solidFill>
              <a:ea typeface="黑体" panose="02010609060101010101" pitchFamily="49" charset="-122"/>
            </a:endParaRPr>
          </a:p>
          <a:p>
            <a:r>
              <a:rPr lang="zh-CN" altLang="zh-CN" dirty="0" smtClean="0">
                <a:solidFill>
                  <a:srgbClr val="FF0000"/>
                </a:solidFill>
                <a:ea typeface="黑体" panose="02010609060101010101" pitchFamily="49" charset="-122"/>
              </a:rPr>
              <a:t>以太网交换机具有并行性</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能同时连通多对接口，使多对主机能同时通信</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solidFill>
                  <a:srgbClr val="0000FF"/>
                </a:solidFill>
                <a:ea typeface="黑体" panose="02010609060101010101" pitchFamily="49" charset="-122"/>
              </a:rPr>
              <a:t>相互通信的主机都是独占传输媒体，无碰撞地传输数据。</a:t>
            </a:r>
            <a:endParaRPr lang="en-US" altLang="zh-CN" dirty="0" smtClean="0">
              <a:solidFill>
                <a:srgbClr val="0000FF"/>
              </a:solidFill>
              <a:ea typeface="黑体" panose="02010609060101010101" pitchFamily="49" charset="-122"/>
            </a:endParaRPr>
          </a:p>
          <a:p>
            <a:endParaRPr lang="zh-CN" altLang="en-US" dirty="0" smtClean="0">
              <a:ea typeface="黑体" panose="02010609060101010101" pitchFamily="49" charset="-122"/>
            </a:endParaRPr>
          </a:p>
        </p:txBody>
      </p:sp>
      <p:sp>
        <p:nvSpPr>
          <p:cNvPr id="6195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3100EB-439A-41AF-9F1B-9C79ABD1D860}" type="slidenum">
              <a:rPr lang="zh-CN" altLang="en-US" smtClean="0"/>
              <a:pPr eaLnBrk="1" hangingPunct="1"/>
              <a:t>34</a:t>
            </a:fld>
            <a:endParaRPr lang="en-US" altLang="zh-CN" smtClean="0"/>
          </a:p>
        </p:txBody>
      </p:sp>
      <p:sp>
        <p:nvSpPr>
          <p:cNvPr id="6195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a:t>
            </a:r>
            <a:r>
              <a:rPr lang="zh-CN" altLang="zh-CN" smtClean="0">
                <a:ea typeface="黑体" panose="02010609060101010101" pitchFamily="49" charset="-122"/>
              </a:rPr>
              <a:t>以太网交换机的特点</a:t>
            </a:r>
            <a:endParaRPr lang="zh-CN" altLang="en-US" smtClean="0">
              <a:ea typeface="黑体" panose="02010609060101010101" pitchFamily="49" charset="-122"/>
            </a:endParaRPr>
          </a:p>
        </p:txBody>
      </p:sp>
      <p:sp>
        <p:nvSpPr>
          <p:cNvPr id="620546"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以太网交换机的</a:t>
            </a:r>
            <a:r>
              <a:rPr lang="zh-CN" altLang="zh-CN" smtClean="0">
                <a:solidFill>
                  <a:srgbClr val="FF0000"/>
                </a:solidFill>
                <a:ea typeface="黑体" panose="02010609060101010101" pitchFamily="49" charset="-122"/>
              </a:rPr>
              <a:t>接口有存储器，</a:t>
            </a:r>
            <a:r>
              <a:rPr lang="zh-CN" altLang="zh-CN" smtClean="0">
                <a:ea typeface="黑体" panose="02010609060101010101" pitchFamily="49" charset="-122"/>
              </a:rPr>
              <a:t>能在输出端口繁忙时把到来的帧进行缓存</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以太网交换机是一种</a:t>
            </a:r>
            <a:r>
              <a:rPr lang="zh-CN" altLang="zh-CN" smtClean="0">
                <a:solidFill>
                  <a:srgbClr val="FF0000"/>
                </a:solidFill>
                <a:ea typeface="黑体" panose="02010609060101010101" pitchFamily="49" charset="-122"/>
              </a:rPr>
              <a:t>即插即用</a:t>
            </a:r>
            <a:r>
              <a:rPr lang="zh-CN" altLang="zh-CN" smtClean="0">
                <a:ea typeface="黑体" panose="02010609060101010101" pitchFamily="49" charset="-122"/>
              </a:rPr>
              <a:t>设备，其内部的帧</a:t>
            </a:r>
            <a:r>
              <a:rPr lang="zh-CN" altLang="zh-CN" smtClean="0">
                <a:solidFill>
                  <a:srgbClr val="0000FF"/>
                </a:solidFill>
                <a:ea typeface="黑体" panose="02010609060101010101" pitchFamily="49" charset="-122"/>
              </a:rPr>
              <a:t>交换表</a:t>
            </a:r>
            <a:r>
              <a:rPr lang="zh-CN" altLang="zh-CN" smtClean="0">
                <a:ea typeface="黑体" panose="02010609060101010101" pitchFamily="49" charset="-122"/>
              </a:rPr>
              <a:t>（又称为</a:t>
            </a:r>
            <a:r>
              <a:rPr lang="zh-CN" altLang="zh-CN" smtClean="0">
                <a:solidFill>
                  <a:srgbClr val="0000FF"/>
                </a:solidFill>
                <a:ea typeface="黑体" panose="02010609060101010101" pitchFamily="49" charset="-122"/>
              </a:rPr>
              <a:t>地址表</a:t>
            </a:r>
            <a:r>
              <a:rPr lang="zh-CN" altLang="zh-CN" smtClean="0">
                <a:ea typeface="黑体" panose="02010609060101010101" pitchFamily="49" charset="-122"/>
              </a:rPr>
              <a:t>）是通过</a:t>
            </a:r>
            <a:r>
              <a:rPr lang="zh-CN" altLang="zh-CN" smtClean="0">
                <a:solidFill>
                  <a:srgbClr val="0000FF"/>
                </a:solidFill>
                <a:ea typeface="黑体" panose="02010609060101010101" pitchFamily="49" charset="-122"/>
              </a:rPr>
              <a:t>自学习算法</a:t>
            </a:r>
            <a:r>
              <a:rPr lang="zh-CN" altLang="zh-CN" smtClean="0">
                <a:ea typeface="黑体" panose="02010609060101010101" pitchFamily="49" charset="-122"/>
              </a:rPr>
              <a:t>自动地逐渐建立起来的。</a:t>
            </a:r>
            <a:endParaRPr lang="en-US" altLang="zh-CN" smtClean="0">
              <a:ea typeface="黑体" panose="02010609060101010101" pitchFamily="49" charset="-122"/>
            </a:endParaRPr>
          </a:p>
          <a:p>
            <a:r>
              <a:rPr lang="zh-CN" altLang="zh-CN" smtClean="0">
                <a:ea typeface="黑体" panose="02010609060101010101" pitchFamily="49" charset="-122"/>
              </a:rPr>
              <a:t>以太网交换机使用了</a:t>
            </a:r>
            <a:r>
              <a:rPr lang="zh-CN" altLang="zh-CN" smtClean="0">
                <a:solidFill>
                  <a:srgbClr val="FF0000"/>
                </a:solidFill>
                <a:ea typeface="黑体" panose="02010609060101010101" pitchFamily="49" charset="-122"/>
              </a:rPr>
              <a:t>专用的交换结构芯片，</a:t>
            </a:r>
            <a:r>
              <a:rPr lang="zh-CN" altLang="zh-CN" smtClean="0">
                <a:ea typeface="黑体" panose="02010609060101010101" pitchFamily="49" charset="-122"/>
              </a:rPr>
              <a:t>用硬件转发，其转发速率要比使用软件转发的网桥快很多。</a:t>
            </a:r>
            <a:endParaRPr lang="en-US" altLang="zh-CN" smtClean="0">
              <a:ea typeface="黑体" panose="02010609060101010101" pitchFamily="49" charset="-122"/>
            </a:endParaRPr>
          </a:p>
        </p:txBody>
      </p:sp>
      <p:sp>
        <p:nvSpPr>
          <p:cNvPr id="6205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DF4AB6-EC9E-4B95-8EEC-308CE2ED711D}" type="slidenum">
              <a:rPr lang="zh-CN" altLang="en-US" smtClean="0"/>
              <a:pPr eaLnBrk="1" hangingPunct="1"/>
              <a:t>35</a:t>
            </a:fld>
            <a:endParaRPr lang="en-US" altLang="zh-CN" smtClean="0"/>
          </a:p>
        </p:txBody>
      </p:sp>
      <p:sp>
        <p:nvSpPr>
          <p:cNvPr id="6205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69"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以太网交换机的</a:t>
            </a:r>
            <a:r>
              <a:rPr lang="zh-CN" altLang="en-US" smtClean="0">
                <a:ea typeface="黑体" panose="02010609060101010101" pitchFamily="49" charset="-122"/>
              </a:rPr>
              <a:t>优点</a:t>
            </a:r>
          </a:p>
        </p:txBody>
      </p:sp>
      <p:sp>
        <p:nvSpPr>
          <p:cNvPr id="621570" name="内容占位符 2"/>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用户独享带宽，增加了总容量。</a:t>
            </a:r>
            <a:endParaRPr lang="en-US" altLang="zh-CN" sz="2800" smtClean="0">
              <a:ea typeface="黑体" panose="02010609060101010101" pitchFamily="49" charset="-122"/>
            </a:endParaRPr>
          </a:p>
          <a:p>
            <a:pPr lvl="1"/>
            <a:r>
              <a:rPr lang="zh-CN" altLang="en-US" sz="2400" smtClean="0">
                <a:ea typeface="黑体" panose="02010609060101010101" pitchFamily="49" charset="-122"/>
              </a:rPr>
              <a:t>对于普通 </a:t>
            </a:r>
            <a:r>
              <a:rPr lang="en-US" altLang="zh-CN" sz="2400" smtClean="0">
                <a:ea typeface="黑体" panose="02010609060101010101" pitchFamily="49" charset="-122"/>
              </a:rPr>
              <a:t>10 Mbit/s </a:t>
            </a:r>
            <a:r>
              <a:rPr lang="zh-CN" altLang="en-US" sz="2400" smtClean="0">
                <a:ea typeface="黑体" panose="02010609060101010101" pitchFamily="49" charset="-122"/>
              </a:rPr>
              <a:t>的共享式以太网，若共有 </a:t>
            </a:r>
            <a:r>
              <a:rPr lang="en-US" altLang="zh-CN" sz="2400" i="1" smtClean="0">
                <a:ea typeface="黑体" panose="02010609060101010101" pitchFamily="49" charset="-122"/>
              </a:rPr>
              <a:t>N </a:t>
            </a:r>
            <a:r>
              <a:rPr lang="zh-CN" altLang="en-US" sz="2400" smtClean="0">
                <a:ea typeface="黑体" panose="02010609060101010101" pitchFamily="49" charset="-122"/>
              </a:rPr>
              <a:t>个用户，则每个用户占有的平均带宽只有总带宽 </a:t>
            </a:r>
            <a:r>
              <a:rPr lang="en-US" altLang="zh-CN" sz="2400" smtClean="0">
                <a:ea typeface="黑体" panose="02010609060101010101" pitchFamily="49" charset="-122"/>
              </a:rPr>
              <a:t>(10 Mbit/s)</a:t>
            </a:r>
            <a:r>
              <a:rPr lang="zh-CN" altLang="en-US" sz="2400" smtClean="0">
                <a:ea typeface="黑体" panose="02010609060101010101" pitchFamily="49" charset="-122"/>
              </a:rPr>
              <a:t>的 </a:t>
            </a:r>
            <a:r>
              <a:rPr lang="en-US" altLang="zh-CN" sz="2400" i="1" smtClean="0">
                <a:ea typeface="黑体" panose="02010609060101010101" pitchFamily="49" charset="-122"/>
              </a:rPr>
              <a:t>N </a:t>
            </a:r>
            <a:r>
              <a:rPr lang="zh-CN" altLang="en-US" sz="2400" smtClean="0">
                <a:ea typeface="黑体" panose="02010609060101010101" pitchFamily="49" charset="-122"/>
              </a:rPr>
              <a:t>分之一。</a:t>
            </a:r>
            <a:endParaRPr lang="en-US" altLang="zh-CN" sz="2400" smtClean="0">
              <a:ea typeface="黑体" panose="02010609060101010101" pitchFamily="49" charset="-122"/>
            </a:endParaRPr>
          </a:p>
          <a:p>
            <a:pPr lvl="1"/>
            <a:r>
              <a:rPr lang="zh-CN" altLang="en-US" sz="2400" smtClean="0">
                <a:ea typeface="黑体" panose="02010609060101010101" pitchFamily="49" charset="-122"/>
              </a:rPr>
              <a:t>使用以太网交换机时，虽然在每个接口到主机的带宽还是 </a:t>
            </a:r>
            <a:r>
              <a:rPr lang="en-US" altLang="zh-CN" sz="2400" smtClean="0">
                <a:ea typeface="黑体" panose="02010609060101010101" pitchFamily="49" charset="-122"/>
              </a:rPr>
              <a:t>10 Mbit/s</a:t>
            </a:r>
            <a:r>
              <a:rPr lang="zh-CN" altLang="en-US" sz="2400" smtClean="0">
                <a:ea typeface="黑体" panose="02010609060101010101" pitchFamily="49" charset="-122"/>
              </a:rPr>
              <a:t>，但由于一个用户在通信时是独占而不是和其他网络用户共享传输媒体的带宽，因此对于拥有 </a:t>
            </a:r>
            <a:r>
              <a:rPr lang="en-US" altLang="zh-CN" sz="2400" i="1" smtClean="0">
                <a:ea typeface="黑体" panose="02010609060101010101" pitchFamily="49" charset="-122"/>
              </a:rPr>
              <a:t>N </a:t>
            </a:r>
            <a:r>
              <a:rPr lang="zh-CN" altLang="en-US" sz="2400" smtClean="0">
                <a:ea typeface="黑体" panose="02010609060101010101" pitchFamily="49" charset="-122"/>
              </a:rPr>
              <a:t>个接口的交换机的总容量为 </a:t>
            </a:r>
            <a:r>
              <a:rPr lang="en-US" altLang="zh-CN" sz="2400" i="1" smtClean="0">
                <a:ea typeface="黑体" panose="02010609060101010101" pitchFamily="49" charset="-122"/>
              </a:rPr>
              <a:t>N</a:t>
            </a:r>
            <a:r>
              <a:rPr lang="en-US" altLang="zh-CN" sz="2400" smtClean="0">
                <a:ea typeface="黑体" panose="02010609060101010101" pitchFamily="49" charset="-122"/>
                <a:sym typeface="Symbol" panose="05050102010706020507" pitchFamily="18" charset="2"/>
              </a:rPr>
              <a:t></a:t>
            </a:r>
            <a:r>
              <a:rPr lang="en-US" altLang="zh-CN" sz="2400" smtClean="0">
                <a:ea typeface="黑体" panose="02010609060101010101" pitchFamily="49" charset="-122"/>
              </a:rPr>
              <a:t>10 Mbit/s</a:t>
            </a:r>
            <a:r>
              <a:rPr lang="zh-CN" altLang="en-US" sz="2400" smtClean="0">
                <a:ea typeface="黑体" panose="02010609060101010101" pitchFamily="49" charset="-122"/>
              </a:rPr>
              <a:t>。</a:t>
            </a:r>
            <a:endParaRPr lang="en-US" altLang="zh-CN" sz="2000" smtClean="0">
              <a:ea typeface="黑体" panose="02010609060101010101" pitchFamily="49" charset="-122"/>
            </a:endParaRPr>
          </a:p>
          <a:p>
            <a:r>
              <a:rPr lang="zh-CN" altLang="zh-CN" sz="2800" smtClean="0">
                <a:ea typeface="黑体" panose="02010609060101010101" pitchFamily="49" charset="-122"/>
              </a:rPr>
              <a:t>从共享总线以太网转到交换式以太网时，所有接入设备的软件和硬件、适配器等都不需要</a:t>
            </a:r>
            <a:r>
              <a:rPr lang="zh-CN" altLang="en-US" sz="2800" smtClean="0">
                <a:ea typeface="黑体" panose="02010609060101010101" pitchFamily="49" charset="-122"/>
              </a:rPr>
              <a:t>做</a:t>
            </a:r>
            <a:r>
              <a:rPr lang="zh-CN" altLang="zh-CN" sz="2800" smtClean="0">
                <a:ea typeface="黑体" panose="02010609060101010101" pitchFamily="49" charset="-122"/>
              </a:rPr>
              <a:t>任何改动。</a:t>
            </a:r>
          </a:p>
          <a:p>
            <a:r>
              <a:rPr lang="zh-CN" altLang="zh-CN" sz="2800" smtClean="0">
                <a:ea typeface="黑体" panose="02010609060101010101" pitchFamily="49" charset="-122"/>
              </a:rPr>
              <a:t>以太网交换机一般都具有多种速率的接口，方便了各种不同情况的用户。</a:t>
            </a:r>
          </a:p>
          <a:p>
            <a:endParaRPr lang="zh-CN" altLang="en-US" sz="2800" smtClean="0">
              <a:ea typeface="黑体" panose="02010609060101010101" pitchFamily="49" charset="-122"/>
            </a:endParaRPr>
          </a:p>
        </p:txBody>
      </p:sp>
      <p:sp>
        <p:nvSpPr>
          <p:cNvPr id="6215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3DB0A7-D96F-4EAA-97F7-7303CE822F54}" type="slidenum">
              <a:rPr lang="zh-CN" altLang="en-US" smtClean="0"/>
              <a:pPr eaLnBrk="1" hangingPunct="1"/>
              <a:t>36</a:t>
            </a:fld>
            <a:endParaRPr lang="en-US" altLang="zh-CN" smtClean="0"/>
          </a:p>
        </p:txBody>
      </p:sp>
      <p:sp>
        <p:nvSpPr>
          <p:cNvPr id="6215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以太网交换机</a:t>
            </a:r>
            <a:r>
              <a:rPr lang="zh-CN" altLang="en-US" smtClean="0">
                <a:ea typeface="黑体" panose="02010609060101010101" pitchFamily="49" charset="-122"/>
              </a:rPr>
              <a:t>的交换方式</a:t>
            </a:r>
          </a:p>
        </p:txBody>
      </p:sp>
      <p:sp>
        <p:nvSpPr>
          <p:cNvPr id="622594" name="内容占位符 2"/>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存储转发方式</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把整个数据帧先缓存后再进行处理</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直通</a:t>
            </a:r>
            <a:r>
              <a:rPr lang="en-US" altLang="zh-CN" smtClean="0">
                <a:solidFill>
                  <a:srgbClr val="FF0000"/>
                </a:solidFill>
                <a:ea typeface="黑体" panose="02010609060101010101" pitchFamily="49" charset="-122"/>
              </a:rPr>
              <a:t> (cut-through) </a:t>
            </a:r>
            <a:r>
              <a:rPr lang="zh-CN" altLang="zh-CN" smtClean="0">
                <a:solidFill>
                  <a:srgbClr val="FF0000"/>
                </a:solidFill>
                <a:ea typeface="黑体" panose="02010609060101010101" pitchFamily="49" charset="-122"/>
              </a:rPr>
              <a:t>方式</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接收数据帧的同时就</a:t>
            </a:r>
            <a:r>
              <a:rPr lang="zh-CN" altLang="zh-CN" smtClean="0">
                <a:solidFill>
                  <a:srgbClr val="0000FF"/>
                </a:solidFill>
                <a:ea typeface="黑体" panose="02010609060101010101" pitchFamily="49" charset="-122"/>
              </a:rPr>
              <a:t>立即按数据帧的目的</a:t>
            </a:r>
            <a:r>
              <a:rPr lang="en-US" altLang="zh-CN" smtClean="0">
                <a:solidFill>
                  <a:srgbClr val="0000FF"/>
                </a:solidFill>
                <a:ea typeface="黑体" panose="02010609060101010101" pitchFamily="49" charset="-122"/>
              </a:rPr>
              <a:t> MAC </a:t>
            </a:r>
            <a:r>
              <a:rPr lang="zh-CN" altLang="zh-CN" smtClean="0">
                <a:solidFill>
                  <a:srgbClr val="0000FF"/>
                </a:solidFill>
                <a:ea typeface="黑体" panose="02010609060101010101" pitchFamily="49" charset="-122"/>
              </a:rPr>
              <a:t>地址</a:t>
            </a:r>
            <a:r>
              <a:rPr lang="zh-CN" altLang="zh-CN" smtClean="0">
                <a:ea typeface="黑体" panose="02010609060101010101" pitchFamily="49" charset="-122"/>
              </a:rPr>
              <a:t>决定该帧的转发接口，因而提高了帧的转发速度</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solidFill>
                  <a:srgbClr val="FF0000"/>
                </a:solidFill>
                <a:ea typeface="黑体" panose="02010609060101010101" pitchFamily="49" charset="-122"/>
              </a:rPr>
              <a:t>缺点</a:t>
            </a:r>
            <a:r>
              <a:rPr lang="zh-CN" altLang="zh-CN" smtClean="0">
                <a:ea typeface="黑体" panose="02010609060101010101" pitchFamily="49" charset="-122"/>
              </a:rPr>
              <a:t>是它不检查差错就直接将帧转发出去，因此有可能也将一些无效帧转发给其他的站</a:t>
            </a:r>
            <a:r>
              <a:rPr lang="zh-CN" altLang="en-US" smtClean="0">
                <a:ea typeface="黑体" panose="02010609060101010101" pitchFamily="49" charset="-122"/>
              </a:rPr>
              <a:t>。</a:t>
            </a:r>
          </a:p>
        </p:txBody>
      </p:sp>
      <p:sp>
        <p:nvSpPr>
          <p:cNvPr id="622595" name="矩形 3"/>
          <p:cNvSpPr>
            <a:spLocks noChangeArrowheads="1"/>
          </p:cNvSpPr>
          <p:nvPr/>
        </p:nvSpPr>
        <p:spPr bwMode="auto">
          <a:xfrm>
            <a:off x="704850" y="5080000"/>
            <a:ext cx="8785225" cy="869950"/>
          </a:xfrm>
          <a:prstGeom prst="rect">
            <a:avLst/>
          </a:prstGeom>
          <a:solidFill>
            <a:srgbClr val="FFFF66"/>
          </a:solidFill>
          <a:ln w="9525">
            <a:solidFill>
              <a:schemeClr val="tx1"/>
            </a:solidFill>
            <a:round/>
            <a:headEnd/>
            <a:tailEnd/>
          </a:ln>
        </p:spPr>
        <p:txBody>
          <a:bodyPr>
            <a:spAutoFit/>
          </a:bodyPr>
          <a:lstStyle/>
          <a:p>
            <a:pPr eaLnBrk="0" hangingPunct="0">
              <a:lnSpc>
                <a:spcPct val="110000"/>
              </a:lnSpc>
              <a:buSzPct val="80000"/>
            </a:pPr>
            <a:r>
              <a:rPr lang="zh-CN" altLang="zh-CN" sz="2400" b="1">
                <a:solidFill>
                  <a:srgbClr val="000066"/>
                </a:solidFill>
                <a:ea typeface="黑体" panose="02010609060101010101" pitchFamily="49" charset="-122"/>
              </a:rPr>
              <a:t>在某些情况下，仍需要采用基于软件的存储转发方式进行交换，例如，当需要进行线路速率匹配、协议转换或差错检测时</a:t>
            </a:r>
            <a:r>
              <a:rPr lang="zh-CN" altLang="en-US" sz="2400" b="1">
                <a:solidFill>
                  <a:srgbClr val="000066"/>
                </a:solidFill>
                <a:ea typeface="黑体" panose="02010609060101010101" pitchFamily="49" charset="-122"/>
              </a:rPr>
              <a:t>。</a:t>
            </a:r>
          </a:p>
        </p:txBody>
      </p:sp>
      <p:sp>
        <p:nvSpPr>
          <p:cNvPr id="622596"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F06E98-FFF0-4591-8E24-E475E4F78561}" type="slidenum">
              <a:rPr lang="zh-CN" altLang="en-US" smtClean="0"/>
              <a:pPr eaLnBrk="1" hangingPunct="1"/>
              <a:t>37</a:t>
            </a:fld>
            <a:endParaRPr lang="en-US" altLang="zh-CN" smtClean="0"/>
          </a:p>
        </p:txBody>
      </p:sp>
      <p:sp>
        <p:nvSpPr>
          <p:cNvPr id="622597"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以太网交换机的自学习功能</a:t>
            </a:r>
            <a:endParaRPr lang="zh-CN" altLang="en-US" smtClean="0">
              <a:ea typeface="黑体" panose="02010609060101010101" pitchFamily="49" charset="-122"/>
            </a:endParaRPr>
          </a:p>
        </p:txBody>
      </p:sp>
      <p:sp>
        <p:nvSpPr>
          <p:cNvPr id="623618"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以太网交换机</a:t>
            </a:r>
            <a:r>
              <a:rPr lang="zh-CN" altLang="en-US" smtClean="0">
                <a:ea typeface="黑体" panose="02010609060101010101" pitchFamily="49" charset="-122"/>
              </a:rPr>
              <a:t>运行自学习算法自动维护</a:t>
            </a:r>
            <a:r>
              <a:rPr lang="zh-CN" altLang="en-US" smtClean="0">
                <a:solidFill>
                  <a:srgbClr val="FF0000"/>
                </a:solidFill>
                <a:ea typeface="黑体" panose="02010609060101010101" pitchFamily="49" charset="-122"/>
              </a:rPr>
              <a:t>交换表。</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开始</a:t>
            </a:r>
            <a:r>
              <a:rPr lang="zh-CN" altLang="en-US" smtClean="0">
                <a:ea typeface="黑体" panose="02010609060101010101" pitchFamily="49" charset="-122"/>
              </a:rPr>
              <a:t>时</a:t>
            </a:r>
            <a:r>
              <a:rPr lang="zh-CN" altLang="zh-CN" smtClean="0">
                <a:ea typeface="黑体" panose="02010609060101010101" pitchFamily="49" charset="-122"/>
              </a:rPr>
              <a:t>，以太网交换机里面的交换表是空的</a:t>
            </a:r>
            <a:r>
              <a:rPr lang="zh-CN" altLang="en-US" smtClean="0">
                <a:ea typeface="黑体" panose="02010609060101010101" pitchFamily="49" charset="-122"/>
              </a:rPr>
              <a:t>。</a:t>
            </a:r>
          </a:p>
        </p:txBody>
      </p:sp>
      <p:grpSp>
        <p:nvGrpSpPr>
          <p:cNvPr id="623619" name="组合 40"/>
          <p:cNvGrpSpPr>
            <a:grpSpLocks/>
          </p:cNvGrpSpPr>
          <p:nvPr/>
        </p:nvGrpSpPr>
        <p:grpSpPr bwMode="auto">
          <a:xfrm>
            <a:off x="2390775" y="2565400"/>
            <a:ext cx="4908550" cy="3702050"/>
            <a:chOff x="2390532" y="2564904"/>
            <a:chExt cx="4908912" cy="3702025"/>
          </a:xfrm>
        </p:grpSpPr>
        <p:sp>
          <p:nvSpPr>
            <p:cNvPr id="4" name="矩形 3"/>
            <p:cNvSpPr/>
            <p:nvPr/>
          </p:nvSpPr>
          <p:spPr>
            <a:xfrm>
              <a:off x="3452648" y="2996701"/>
              <a:ext cx="2868824" cy="2663807"/>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noProof="1"/>
                <a:t> </a:t>
              </a:r>
              <a:endParaRPr lang="zh-CN" altLang="en-US" noProof="1"/>
            </a:p>
          </p:txBody>
        </p:sp>
        <p:sp>
          <p:nvSpPr>
            <p:cNvPr id="623621" name="Rectangle 44"/>
            <p:cNvSpPr>
              <a:spLocks noChangeArrowheads="1"/>
            </p:cNvSpPr>
            <p:nvPr/>
          </p:nvSpPr>
          <p:spPr bwMode="auto">
            <a:xfrm>
              <a:off x="3575141" y="4149960"/>
              <a:ext cx="2601995" cy="1439863"/>
            </a:xfrm>
            <a:prstGeom prst="rect">
              <a:avLst/>
            </a:prstGeom>
            <a:solidFill>
              <a:schemeClr val="bg1"/>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cxnSp>
          <p:nvCxnSpPr>
            <p:cNvPr id="6" name="直接连接符 5"/>
            <p:cNvCxnSpPr>
              <a:stCxn id="623644" idx="3"/>
            </p:cNvCxnSpPr>
            <p:nvPr/>
          </p:nvCxnSpPr>
          <p:spPr>
            <a:xfrm>
              <a:off x="6329410" y="3623760"/>
              <a:ext cx="423893"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23644" idx="3"/>
              <a:endCxn id="623641" idx="1"/>
            </p:cNvCxnSpPr>
            <p:nvPr/>
          </p:nvCxnSpPr>
          <p:spPr>
            <a:xfrm flipV="1">
              <a:off x="2947786" y="3623760"/>
              <a:ext cx="504862"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23647" idx="3"/>
              <a:endCxn id="623641" idx="1"/>
            </p:cNvCxnSpPr>
            <p:nvPr/>
          </p:nvCxnSpPr>
          <p:spPr>
            <a:xfrm flipV="1">
              <a:off x="6329410" y="3141163"/>
              <a:ext cx="495337"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23647" idx="3"/>
              <a:endCxn id="623638" idx="1"/>
            </p:cNvCxnSpPr>
            <p:nvPr/>
          </p:nvCxnSpPr>
          <p:spPr>
            <a:xfrm>
              <a:off x="3019228" y="3141163"/>
              <a:ext cx="433420"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3626" name="Rectangle 49"/>
            <p:cNvSpPr>
              <a:spLocks noChangeArrowheads="1"/>
            </p:cNvSpPr>
            <p:nvPr/>
          </p:nvSpPr>
          <p:spPr bwMode="auto">
            <a:xfrm>
              <a:off x="3524341" y="4146785"/>
              <a:ext cx="2652795" cy="656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1600" b="1">
                  <a:ea typeface="黑体" panose="02010609060101010101" pitchFamily="49" charset="-122"/>
                </a:rPr>
                <a:t>MAC</a:t>
              </a:r>
              <a:r>
                <a:rPr lang="zh-CN" altLang="en-US" sz="1600" b="1">
                  <a:ea typeface="黑体" panose="02010609060101010101" pitchFamily="49" charset="-122"/>
                </a:rPr>
                <a:t>地址  接口   有效时间</a:t>
              </a:r>
            </a:p>
            <a:p>
              <a:pPr>
                <a:lnSpc>
                  <a:spcPct val="115000"/>
                </a:lnSpc>
              </a:pPr>
              <a:r>
                <a:rPr lang="zh-CN" altLang="en-US" sz="1600" b="1">
                  <a:ea typeface="黑体" panose="02010609060101010101" pitchFamily="49" charset="-122"/>
                </a:rPr>
                <a:t>   </a:t>
              </a:r>
              <a:endParaRPr lang="en-US" altLang="zh-CN" sz="1600" b="1" baseline="-25000">
                <a:ea typeface="黑体" panose="02010609060101010101" pitchFamily="49" charset="-122"/>
              </a:endParaRPr>
            </a:p>
          </p:txBody>
        </p:sp>
        <p:sp>
          <p:nvSpPr>
            <p:cNvPr id="623627" name="Rectangle 24"/>
            <p:cNvSpPr>
              <a:spLocks noChangeArrowheads="1"/>
            </p:cNvSpPr>
            <p:nvPr/>
          </p:nvSpPr>
          <p:spPr bwMode="auto">
            <a:xfrm>
              <a:off x="3944888" y="25649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latin typeface="黑体" panose="02010609060101010101" pitchFamily="49" charset="-122"/>
                  <a:ea typeface="黑体" panose="02010609060101010101" pitchFamily="49" charset="-122"/>
                </a:rPr>
                <a:t>以太网交换机</a:t>
              </a:r>
              <a:endParaRPr lang="en-US" altLang="zh-CN" sz="2400" b="1">
                <a:latin typeface="黑体" panose="02010609060101010101" pitchFamily="49" charset="-122"/>
                <a:ea typeface="黑体" panose="02010609060101010101" pitchFamily="49" charset="-122"/>
              </a:endParaRPr>
            </a:p>
          </p:txBody>
        </p:sp>
        <p:pic>
          <p:nvPicPr>
            <p:cNvPr id="623628"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8529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29" name="Rectangle 34"/>
            <p:cNvSpPr>
              <a:spLocks noChangeArrowheads="1"/>
            </p:cNvSpPr>
            <p:nvPr/>
          </p:nvSpPr>
          <p:spPr bwMode="auto">
            <a:xfrm>
              <a:off x="2390532"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endParaRPr lang="en-US" altLang="zh-CN" sz="1600" b="1" baseline="-25000">
                <a:ea typeface="黑体" panose="02010609060101010101" pitchFamily="49" charset="-122"/>
              </a:endParaRPr>
            </a:p>
          </p:txBody>
        </p:sp>
        <p:sp>
          <p:nvSpPr>
            <p:cNvPr id="623630" name="Line 50"/>
            <p:cNvSpPr>
              <a:spLocks noChangeShapeType="1"/>
            </p:cNvSpPr>
            <p:nvPr/>
          </p:nvSpPr>
          <p:spPr bwMode="auto">
            <a:xfrm>
              <a:off x="4510179"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623631" name="组合 36"/>
            <p:cNvGrpSpPr>
              <a:grpSpLocks/>
            </p:cNvGrpSpPr>
            <p:nvPr/>
          </p:nvGrpSpPr>
          <p:grpSpPr bwMode="auto">
            <a:xfrm>
              <a:off x="3575141" y="4437298"/>
              <a:ext cx="2601995" cy="863600"/>
              <a:chOff x="3575141" y="4437298"/>
              <a:chExt cx="1439863" cy="863600"/>
            </a:xfrm>
          </p:grpSpPr>
          <p:sp>
            <p:nvSpPr>
              <p:cNvPr id="623632"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3"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4"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35"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623636" name="组合 57"/>
            <p:cNvGrpSpPr>
              <a:grpSpLocks/>
            </p:cNvGrpSpPr>
            <p:nvPr/>
          </p:nvGrpSpPr>
          <p:grpSpPr bwMode="auto">
            <a:xfrm>
              <a:off x="3452906" y="3068873"/>
              <a:ext cx="296557" cy="335989"/>
              <a:chOff x="2267744" y="1268760"/>
              <a:chExt cx="297274" cy="335989"/>
            </a:xfrm>
          </p:grpSpPr>
          <p:sp>
            <p:nvSpPr>
              <p:cNvPr id="20" name="矩形 19"/>
              <p:cNvSpPr/>
              <p:nvPr/>
            </p:nvSpPr>
            <p:spPr>
              <a:xfrm>
                <a:off x="2267485" y="1339463"/>
                <a:ext cx="288053" cy="21589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38"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1</a:t>
                </a:r>
                <a:endParaRPr lang="en-US" altLang="zh-CN" sz="1600" b="1" baseline="-25000">
                  <a:ea typeface="黑体" panose="02010609060101010101" pitchFamily="49" charset="-122"/>
                </a:endParaRPr>
              </a:p>
            </p:txBody>
          </p:sp>
        </p:grpSp>
        <p:grpSp>
          <p:nvGrpSpPr>
            <p:cNvPr id="623639" name="组合 58"/>
            <p:cNvGrpSpPr>
              <a:grpSpLocks/>
            </p:cNvGrpSpPr>
            <p:nvPr/>
          </p:nvGrpSpPr>
          <p:grpSpPr bwMode="auto">
            <a:xfrm>
              <a:off x="3452906" y="3456224"/>
              <a:ext cx="296557" cy="335989"/>
              <a:chOff x="2267744" y="1268760"/>
              <a:chExt cx="297274" cy="337019"/>
            </a:xfrm>
          </p:grpSpPr>
          <p:sp>
            <p:nvSpPr>
              <p:cNvPr id="23" name="矩形 22"/>
              <p:cNvSpPr/>
              <p:nvPr/>
            </p:nvSpPr>
            <p:spPr>
              <a:xfrm>
                <a:off x="2267485" y="1339675"/>
                <a:ext cx="28805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1"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2</a:t>
                </a:r>
                <a:endParaRPr lang="en-US" altLang="zh-CN" sz="1600" b="1" baseline="-25000">
                  <a:ea typeface="黑体" panose="02010609060101010101" pitchFamily="49" charset="-122"/>
                </a:endParaRPr>
              </a:p>
            </p:txBody>
          </p:sp>
        </p:grpSp>
        <p:grpSp>
          <p:nvGrpSpPr>
            <p:cNvPr id="623642" name="组合 61"/>
            <p:cNvGrpSpPr>
              <a:grpSpLocks/>
            </p:cNvGrpSpPr>
            <p:nvPr/>
          </p:nvGrpSpPr>
          <p:grpSpPr bwMode="auto">
            <a:xfrm>
              <a:off x="6033123" y="3456224"/>
              <a:ext cx="296557" cy="335989"/>
              <a:chOff x="2267744" y="1268760"/>
              <a:chExt cx="295640" cy="337019"/>
            </a:xfrm>
          </p:grpSpPr>
          <p:sp>
            <p:nvSpPr>
              <p:cNvPr id="26" name="矩形 25"/>
              <p:cNvSpPr/>
              <p:nvPr/>
            </p:nvSpPr>
            <p:spPr>
              <a:xfrm>
                <a:off x="2267149" y="1339675"/>
                <a:ext cx="28805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4"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4</a:t>
                </a:r>
                <a:endParaRPr lang="en-US" altLang="zh-CN" sz="1600" b="1" baseline="-25000">
                  <a:ea typeface="黑体" panose="02010609060101010101" pitchFamily="49" charset="-122"/>
                </a:endParaRPr>
              </a:p>
            </p:txBody>
          </p:sp>
        </p:grpSp>
        <p:grpSp>
          <p:nvGrpSpPr>
            <p:cNvPr id="623645" name="组合 64"/>
            <p:cNvGrpSpPr>
              <a:grpSpLocks/>
            </p:cNvGrpSpPr>
            <p:nvPr/>
          </p:nvGrpSpPr>
          <p:grpSpPr bwMode="auto">
            <a:xfrm>
              <a:off x="6033123" y="3068873"/>
              <a:ext cx="296557" cy="335989"/>
              <a:chOff x="2267744" y="1268760"/>
              <a:chExt cx="295640" cy="335429"/>
            </a:xfrm>
          </p:grpSpPr>
          <p:sp>
            <p:nvSpPr>
              <p:cNvPr id="29" name="矩形 28"/>
              <p:cNvSpPr/>
              <p:nvPr/>
            </p:nvSpPr>
            <p:spPr>
              <a:xfrm>
                <a:off x="2267149" y="1339345"/>
                <a:ext cx="288053" cy="21712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3647"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3</a:t>
                </a:r>
                <a:endParaRPr lang="en-US" altLang="zh-CN" sz="1600" b="1" baseline="-25000">
                  <a:ea typeface="黑体" panose="02010609060101010101" pitchFamily="49" charset="-122"/>
                </a:endParaRPr>
              </a:p>
            </p:txBody>
          </p:sp>
        </p:grpSp>
        <p:sp>
          <p:nvSpPr>
            <p:cNvPr id="623648" name="Rectangle 24"/>
            <p:cNvSpPr>
              <a:spLocks noChangeArrowheads="1"/>
            </p:cNvSpPr>
            <p:nvPr/>
          </p:nvSpPr>
          <p:spPr bwMode="auto">
            <a:xfrm>
              <a:off x="4586536" y="38181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ea typeface="黑体" panose="02010609060101010101" pitchFamily="49" charset="-122"/>
                </a:rPr>
                <a:t>交换表</a:t>
              </a:r>
              <a:endParaRPr lang="en-US" altLang="zh-CN" b="1">
                <a:ea typeface="黑体" panose="02010609060101010101" pitchFamily="49" charset="-122"/>
              </a:endParaRPr>
            </a:p>
          </p:txBody>
        </p:sp>
        <p:pic>
          <p:nvPicPr>
            <p:cNvPr id="62364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5006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0" name="Rectangle 34"/>
            <p:cNvSpPr>
              <a:spLocks noChangeArrowheads="1"/>
            </p:cNvSpPr>
            <p:nvPr/>
          </p:nvSpPr>
          <p:spPr bwMode="auto">
            <a:xfrm>
              <a:off x="6969224" y="34530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D</a:t>
              </a:r>
              <a:endParaRPr lang="en-US" altLang="zh-CN" sz="1600" b="1" baseline="-25000">
                <a:ea typeface="黑体" panose="02010609060101010101" pitchFamily="49" charset="-122"/>
              </a:endParaRPr>
            </a:p>
          </p:txBody>
        </p:sp>
        <p:pic>
          <p:nvPicPr>
            <p:cNvPr id="623651"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5006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365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8529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3653" name="Rectangle 34"/>
            <p:cNvSpPr>
              <a:spLocks noChangeArrowheads="1"/>
            </p:cNvSpPr>
            <p:nvPr/>
          </p:nvSpPr>
          <p:spPr bwMode="auto">
            <a:xfrm>
              <a:off x="6969224" y="28053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endParaRPr lang="en-US" altLang="zh-CN" sz="1600" b="1" baseline="-25000">
                <a:ea typeface="黑体" panose="02010609060101010101" pitchFamily="49" charset="-122"/>
              </a:endParaRPr>
            </a:p>
          </p:txBody>
        </p:sp>
        <p:sp>
          <p:nvSpPr>
            <p:cNvPr id="623654" name="Line 50"/>
            <p:cNvSpPr>
              <a:spLocks noChangeShapeType="1"/>
            </p:cNvSpPr>
            <p:nvPr/>
          </p:nvSpPr>
          <p:spPr bwMode="auto">
            <a:xfrm>
              <a:off x="5097554" y="41499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3655" name="Rectangle 34"/>
            <p:cNvSpPr>
              <a:spLocks noChangeArrowheads="1"/>
            </p:cNvSpPr>
            <p:nvPr/>
          </p:nvSpPr>
          <p:spPr bwMode="auto">
            <a:xfrm>
              <a:off x="2403252" y="35010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endParaRPr lang="en-US" altLang="zh-CN" sz="1600" b="1" baseline="-25000">
                <a:ea typeface="黑体" panose="02010609060101010101" pitchFamily="49" charset="-122"/>
              </a:endParaRPr>
            </a:p>
          </p:txBody>
        </p:sp>
        <p:sp>
          <p:nvSpPr>
            <p:cNvPr id="623656" name="矩形 39"/>
            <p:cNvSpPr>
              <a:spLocks noChangeArrowheads="1"/>
            </p:cNvSpPr>
            <p:nvPr/>
          </p:nvSpPr>
          <p:spPr bwMode="auto">
            <a:xfrm>
              <a:off x="3417503" y="5805264"/>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交换表一开始是空的</a:t>
              </a:r>
            </a:p>
          </p:txBody>
        </p:sp>
      </p:grpSp>
      <p:sp>
        <p:nvSpPr>
          <p:cNvPr id="623657" name="灯片编号占位符 4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B57885-6DF7-4E9E-98D2-D4B9DC45A2A7}" type="slidenum">
              <a:rPr lang="zh-CN" altLang="en-US" smtClean="0"/>
              <a:pPr eaLnBrk="1" hangingPunct="1"/>
              <a:t>38</a:t>
            </a:fld>
            <a:endParaRPr lang="en-US" altLang="zh-CN" smtClean="0"/>
          </a:p>
        </p:txBody>
      </p:sp>
      <p:sp>
        <p:nvSpPr>
          <p:cNvPr id="623658" name="页脚占位符 4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1" name="标题 1"/>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sp>
        <p:nvSpPr>
          <p:cNvPr id="624642" name="内容占位符 2"/>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A </a:t>
            </a:r>
            <a:r>
              <a:rPr lang="zh-CN" altLang="zh-CN" sz="2800" smtClean="0">
                <a:ea typeface="黑体" panose="02010609060101010101" pitchFamily="49" charset="-122"/>
              </a:rPr>
              <a:t>先向</a:t>
            </a:r>
            <a:r>
              <a:rPr lang="en-US" altLang="zh-CN" sz="2800" smtClean="0">
                <a:ea typeface="黑体" panose="02010609060101010101" pitchFamily="49" charset="-122"/>
              </a:rPr>
              <a:t> B </a:t>
            </a:r>
            <a:r>
              <a:rPr lang="zh-CN" altLang="zh-CN" sz="2800" smtClean="0">
                <a:ea typeface="黑体" panose="02010609060101010101" pitchFamily="49" charset="-122"/>
              </a:rPr>
              <a:t>发送一帧，从接口</a:t>
            </a:r>
            <a:r>
              <a:rPr lang="en-US" altLang="zh-CN" sz="2800" smtClean="0">
                <a:ea typeface="黑体" panose="02010609060101010101" pitchFamily="49" charset="-122"/>
              </a:rPr>
              <a:t> 1 </a:t>
            </a:r>
            <a:r>
              <a:rPr lang="zh-CN" altLang="zh-CN" sz="2800" smtClean="0">
                <a:ea typeface="黑体" panose="02010609060101010101" pitchFamily="49" charset="-122"/>
              </a:rPr>
              <a:t>进入到交换机。</a:t>
            </a:r>
            <a:endParaRPr lang="en-US" altLang="zh-CN" sz="2800" smtClean="0">
              <a:ea typeface="黑体" panose="02010609060101010101" pitchFamily="49" charset="-122"/>
            </a:endParaRPr>
          </a:p>
          <a:p>
            <a:r>
              <a:rPr lang="zh-CN" altLang="zh-CN" sz="2800" smtClean="0">
                <a:ea typeface="黑体" panose="02010609060101010101" pitchFamily="49" charset="-122"/>
              </a:rPr>
              <a:t>交换机收到帧后，</a:t>
            </a:r>
            <a:r>
              <a:rPr lang="zh-CN" altLang="zh-CN" sz="2800" smtClean="0">
                <a:solidFill>
                  <a:srgbClr val="FF0000"/>
                </a:solidFill>
                <a:ea typeface="黑体" panose="02010609060101010101" pitchFamily="49" charset="-122"/>
              </a:rPr>
              <a:t>先查找交换表，</a:t>
            </a:r>
            <a:r>
              <a:rPr lang="zh-CN" altLang="zh-CN" sz="2800" smtClean="0">
                <a:solidFill>
                  <a:srgbClr val="0000FF"/>
                </a:solidFill>
                <a:ea typeface="黑体" panose="02010609060101010101" pitchFamily="49" charset="-122"/>
              </a:rPr>
              <a:t>没有查到应从哪个接口转发这个帧。</a:t>
            </a:r>
            <a:endParaRPr lang="en-US" altLang="zh-CN" sz="2800" smtClean="0">
              <a:solidFill>
                <a:srgbClr val="0000FF"/>
              </a:solidFill>
              <a:ea typeface="黑体" panose="02010609060101010101" pitchFamily="49" charset="-122"/>
            </a:endParaRPr>
          </a:p>
          <a:p>
            <a:r>
              <a:rPr lang="zh-CN" altLang="zh-CN" sz="2800" smtClean="0">
                <a:solidFill>
                  <a:srgbClr val="0000FF"/>
                </a:solidFill>
                <a:ea typeface="黑体" panose="02010609060101010101" pitchFamily="49" charset="-122"/>
              </a:rPr>
              <a:t>交换机把这个帧的</a:t>
            </a:r>
            <a:r>
              <a:rPr lang="zh-CN" altLang="zh-CN" sz="2800" smtClean="0">
                <a:solidFill>
                  <a:srgbClr val="FF0000"/>
                </a:solidFill>
                <a:ea typeface="黑体" panose="02010609060101010101" pitchFamily="49" charset="-122"/>
              </a:rPr>
              <a:t>源地址</a:t>
            </a:r>
            <a:r>
              <a:rPr lang="en-US" altLang="zh-CN" sz="2800" smtClean="0">
                <a:solidFill>
                  <a:srgbClr val="FF0000"/>
                </a:solidFill>
                <a:ea typeface="黑体" panose="02010609060101010101" pitchFamily="49" charset="-122"/>
              </a:rPr>
              <a:t> A </a:t>
            </a:r>
            <a:r>
              <a:rPr lang="zh-CN" altLang="zh-CN" sz="2800" smtClean="0">
                <a:solidFill>
                  <a:srgbClr val="0000FF"/>
                </a:solidFill>
                <a:ea typeface="黑体" panose="02010609060101010101" pitchFamily="49" charset="-122"/>
              </a:rPr>
              <a:t>和</a:t>
            </a:r>
            <a:r>
              <a:rPr lang="zh-CN" altLang="zh-CN" sz="2800" smtClean="0">
                <a:solidFill>
                  <a:srgbClr val="FF0000"/>
                </a:solidFill>
                <a:ea typeface="黑体" panose="02010609060101010101" pitchFamily="49" charset="-122"/>
              </a:rPr>
              <a:t>接口</a:t>
            </a:r>
            <a:r>
              <a:rPr lang="en-US" altLang="zh-CN" sz="2800" smtClean="0">
                <a:solidFill>
                  <a:srgbClr val="FF0000"/>
                </a:solidFill>
                <a:ea typeface="黑体" panose="02010609060101010101" pitchFamily="49" charset="-122"/>
              </a:rPr>
              <a:t> 1 </a:t>
            </a:r>
            <a:r>
              <a:rPr lang="zh-CN" altLang="zh-CN" sz="2800" smtClean="0">
                <a:solidFill>
                  <a:srgbClr val="FF0000"/>
                </a:solidFill>
                <a:ea typeface="黑体" panose="02010609060101010101" pitchFamily="49" charset="-122"/>
              </a:rPr>
              <a:t>写入交换表</a:t>
            </a:r>
            <a:r>
              <a:rPr lang="zh-CN" altLang="zh-CN" sz="2800" smtClean="0">
                <a:solidFill>
                  <a:srgbClr val="0000FF"/>
                </a:solidFill>
                <a:ea typeface="黑体" panose="02010609060101010101" pitchFamily="49" charset="-122"/>
              </a:rPr>
              <a:t>中，并向除接口</a:t>
            </a:r>
            <a:r>
              <a:rPr lang="en-US" altLang="zh-CN" sz="2800" smtClean="0">
                <a:solidFill>
                  <a:srgbClr val="0000FF"/>
                </a:solidFill>
                <a:ea typeface="黑体" panose="02010609060101010101" pitchFamily="49" charset="-122"/>
              </a:rPr>
              <a:t>1</a:t>
            </a:r>
            <a:r>
              <a:rPr lang="zh-CN" altLang="zh-CN" sz="2800" smtClean="0">
                <a:solidFill>
                  <a:srgbClr val="0000FF"/>
                </a:solidFill>
                <a:ea typeface="黑体" panose="02010609060101010101" pitchFamily="49" charset="-122"/>
              </a:rPr>
              <a:t>以外的所有的接口</a:t>
            </a:r>
            <a:r>
              <a:rPr lang="zh-CN" altLang="zh-CN" sz="2800" smtClean="0">
                <a:solidFill>
                  <a:srgbClr val="FF0000"/>
                </a:solidFill>
                <a:ea typeface="黑体" panose="02010609060101010101" pitchFamily="49" charset="-122"/>
              </a:rPr>
              <a:t>广播这个帧。</a:t>
            </a:r>
          </a:p>
          <a:p>
            <a:r>
              <a:rPr lang="en-US" altLang="zh-CN" sz="2800" smtClean="0">
                <a:ea typeface="黑体" panose="02010609060101010101" pitchFamily="49" charset="-122"/>
              </a:rPr>
              <a:t>C </a:t>
            </a:r>
            <a:r>
              <a:rPr lang="zh-CN" altLang="zh-CN" sz="2800" smtClean="0">
                <a:ea typeface="黑体" panose="02010609060101010101" pitchFamily="49" charset="-122"/>
              </a:rPr>
              <a:t>和</a:t>
            </a:r>
            <a:r>
              <a:rPr lang="en-US" altLang="zh-CN" sz="2800" smtClean="0">
                <a:ea typeface="黑体" panose="02010609060101010101" pitchFamily="49" charset="-122"/>
              </a:rPr>
              <a:t> D </a:t>
            </a:r>
            <a:r>
              <a:rPr lang="zh-CN" altLang="zh-CN" sz="2800" smtClean="0">
                <a:ea typeface="黑体" panose="02010609060101010101" pitchFamily="49" charset="-122"/>
              </a:rPr>
              <a:t>将丢弃这个帧，因为目的地址不对。只</a:t>
            </a:r>
            <a:r>
              <a:rPr lang="en-US" altLang="zh-CN" sz="2800" smtClean="0">
                <a:ea typeface="黑体" panose="02010609060101010101" pitchFamily="49" charset="-122"/>
              </a:rPr>
              <a:t> B </a:t>
            </a:r>
            <a:r>
              <a:rPr lang="zh-CN" altLang="zh-CN" sz="2800" smtClean="0">
                <a:ea typeface="黑体" panose="02010609060101010101" pitchFamily="49" charset="-122"/>
              </a:rPr>
              <a:t>才收下这个目的地址正确的帧。这也称为</a:t>
            </a:r>
            <a:r>
              <a:rPr lang="zh-CN" altLang="zh-CN" sz="2800" smtClean="0">
                <a:solidFill>
                  <a:srgbClr val="FF0000"/>
                </a:solidFill>
                <a:ea typeface="黑体" panose="02010609060101010101" pitchFamily="49" charset="-122"/>
              </a:rPr>
              <a:t>过滤。</a:t>
            </a:r>
          </a:p>
          <a:p>
            <a:r>
              <a:rPr lang="zh-CN" altLang="zh-CN" sz="2800" smtClean="0">
                <a:ea typeface="黑体" panose="02010609060101010101" pitchFamily="49" charset="-122"/>
              </a:rPr>
              <a:t>从新写入交换表的项目</a:t>
            </a:r>
            <a:r>
              <a:rPr lang="en-US" altLang="zh-CN" sz="2800" smtClean="0">
                <a:ea typeface="黑体" panose="02010609060101010101" pitchFamily="49" charset="-122"/>
              </a:rPr>
              <a:t> (A, 1) </a:t>
            </a:r>
            <a:r>
              <a:rPr lang="zh-CN" altLang="zh-CN" sz="2800" smtClean="0">
                <a:ea typeface="黑体" panose="02010609060101010101" pitchFamily="49" charset="-122"/>
              </a:rPr>
              <a:t>可以看出，以后不管从哪一个接口收到帧，只要其目的地址是</a:t>
            </a:r>
            <a:r>
              <a:rPr lang="en-US" altLang="zh-CN" sz="2800" smtClean="0">
                <a:ea typeface="黑体" panose="02010609060101010101" pitchFamily="49" charset="-122"/>
              </a:rPr>
              <a:t>A</a:t>
            </a:r>
            <a:r>
              <a:rPr lang="zh-CN" altLang="zh-CN" sz="2800" smtClean="0">
                <a:ea typeface="黑体" panose="02010609060101010101" pitchFamily="49" charset="-122"/>
              </a:rPr>
              <a:t>，就应当把收到的帧从接口</a:t>
            </a:r>
            <a:r>
              <a:rPr lang="en-US" altLang="zh-CN" sz="2800" smtClean="0">
                <a:ea typeface="黑体" panose="02010609060101010101" pitchFamily="49" charset="-122"/>
              </a:rPr>
              <a:t>1</a:t>
            </a:r>
            <a:r>
              <a:rPr lang="zh-CN" altLang="zh-CN" sz="2800" smtClean="0">
                <a:ea typeface="黑体" panose="02010609060101010101" pitchFamily="49" charset="-122"/>
              </a:rPr>
              <a:t>转发出去。</a:t>
            </a:r>
          </a:p>
          <a:p>
            <a:endParaRPr lang="zh-CN" altLang="en-US" sz="2800" smtClean="0">
              <a:ea typeface="黑体" panose="02010609060101010101" pitchFamily="49" charset="-122"/>
            </a:endParaRPr>
          </a:p>
        </p:txBody>
      </p:sp>
      <p:sp>
        <p:nvSpPr>
          <p:cNvPr id="62464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EFE08C-DDFE-4A40-A8CC-4E9DB650692A}" type="slidenum">
              <a:rPr lang="zh-CN" altLang="en-US" smtClean="0"/>
              <a:pPr eaLnBrk="1" hangingPunct="1"/>
              <a:t>39</a:t>
            </a:fld>
            <a:endParaRPr lang="en-US" altLang="zh-CN" smtClean="0"/>
          </a:p>
        </p:txBody>
      </p:sp>
      <p:sp>
        <p:nvSpPr>
          <p:cNvPr id="62464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5" name="标题 1"/>
          <p:cNvSpPr>
            <a:spLocks noGrp="1" noChangeArrowheads="1"/>
          </p:cNvSpPr>
          <p:nvPr>
            <p:ph type="title"/>
          </p:nvPr>
        </p:nvSpPr>
        <p:spPr>
          <a:xfrm>
            <a:off x="495300" y="188913"/>
            <a:ext cx="9066213" cy="792162"/>
          </a:xfrm>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sp>
        <p:nvSpPr>
          <p:cNvPr id="625666" name="内容占位符 2"/>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B </a:t>
            </a:r>
            <a:r>
              <a:rPr lang="zh-CN" altLang="zh-CN" sz="2800" smtClean="0">
                <a:ea typeface="黑体" panose="02010609060101010101" pitchFamily="49" charset="-122"/>
              </a:rPr>
              <a:t>通过接口</a:t>
            </a:r>
            <a:r>
              <a:rPr lang="en-US" altLang="zh-CN" sz="2800" smtClean="0">
                <a:ea typeface="黑体" panose="02010609060101010101" pitchFamily="49" charset="-122"/>
              </a:rPr>
              <a:t> 3 </a:t>
            </a:r>
            <a:r>
              <a:rPr lang="zh-CN" altLang="zh-CN" sz="2800" smtClean="0">
                <a:ea typeface="黑体" panose="02010609060101010101" pitchFamily="49" charset="-122"/>
              </a:rPr>
              <a:t>向</a:t>
            </a:r>
            <a:r>
              <a:rPr lang="en-US" altLang="zh-CN" sz="2800" smtClean="0">
                <a:ea typeface="黑体" panose="02010609060101010101" pitchFamily="49" charset="-122"/>
              </a:rPr>
              <a:t> A </a:t>
            </a:r>
            <a:r>
              <a:rPr lang="zh-CN" altLang="zh-CN" sz="2800" smtClean="0">
                <a:ea typeface="黑体" panose="02010609060101010101" pitchFamily="49" charset="-122"/>
              </a:rPr>
              <a:t>发送一帧。</a:t>
            </a:r>
            <a:endParaRPr lang="en-US" altLang="zh-CN" sz="2800" smtClean="0">
              <a:ea typeface="黑体" panose="02010609060101010101" pitchFamily="49" charset="-122"/>
            </a:endParaRPr>
          </a:p>
          <a:p>
            <a:r>
              <a:rPr lang="zh-CN" altLang="zh-CN" sz="2800" smtClean="0">
                <a:ea typeface="黑体" panose="02010609060101010101" pitchFamily="49" charset="-122"/>
              </a:rPr>
              <a:t>交换机查找交换表，</a:t>
            </a:r>
            <a:r>
              <a:rPr lang="zh-CN" altLang="zh-CN" sz="2800" smtClean="0">
                <a:solidFill>
                  <a:srgbClr val="0000FF"/>
                </a:solidFill>
                <a:ea typeface="黑体" panose="02010609060101010101" pitchFamily="49" charset="-122"/>
              </a:rPr>
              <a:t>发现交换表中的</a:t>
            </a:r>
            <a:r>
              <a:rPr lang="en-US" altLang="zh-CN" sz="2800" smtClean="0">
                <a:solidFill>
                  <a:srgbClr val="0000FF"/>
                </a:solidFill>
                <a:ea typeface="黑体" panose="02010609060101010101" pitchFamily="49" charset="-122"/>
              </a:rPr>
              <a:t> MAC </a:t>
            </a:r>
            <a:r>
              <a:rPr lang="zh-CN" altLang="zh-CN" sz="2800" smtClean="0">
                <a:solidFill>
                  <a:srgbClr val="0000FF"/>
                </a:solidFill>
                <a:ea typeface="黑体" panose="02010609060101010101" pitchFamily="49" charset="-122"/>
              </a:rPr>
              <a:t>地址有</a:t>
            </a:r>
            <a:r>
              <a:rPr lang="en-US" altLang="zh-CN" sz="2800" smtClean="0">
                <a:solidFill>
                  <a:srgbClr val="0000FF"/>
                </a:solidFill>
                <a:ea typeface="黑体" panose="02010609060101010101" pitchFamily="49" charset="-122"/>
              </a:rPr>
              <a:t> A</a:t>
            </a:r>
            <a:r>
              <a:rPr lang="zh-CN" altLang="zh-CN" sz="2800" smtClean="0">
                <a:solidFill>
                  <a:srgbClr val="0000FF"/>
                </a:solidFill>
                <a:ea typeface="黑体" panose="02010609060101010101" pitchFamily="49" charset="-122"/>
              </a:rPr>
              <a:t>。</a:t>
            </a:r>
            <a:r>
              <a:rPr lang="zh-CN" altLang="zh-CN" sz="2800" smtClean="0">
                <a:ea typeface="黑体" panose="02010609060101010101" pitchFamily="49" charset="-122"/>
              </a:rPr>
              <a:t>表明要发送给</a:t>
            </a:r>
            <a:r>
              <a:rPr lang="en-US" altLang="zh-CN" sz="2800" smtClean="0">
                <a:ea typeface="黑体" panose="02010609060101010101" pitchFamily="49" charset="-122"/>
              </a:rPr>
              <a:t>A</a:t>
            </a:r>
            <a:r>
              <a:rPr lang="zh-CN" altLang="zh-CN" sz="2800" smtClean="0">
                <a:ea typeface="黑体" panose="02010609060101010101" pitchFamily="49" charset="-122"/>
              </a:rPr>
              <a:t>的帧（即目的地址为</a:t>
            </a:r>
            <a:r>
              <a:rPr lang="en-US" altLang="zh-CN" sz="2800" smtClean="0">
                <a:ea typeface="黑体" panose="02010609060101010101" pitchFamily="49" charset="-122"/>
              </a:rPr>
              <a:t> A </a:t>
            </a:r>
            <a:r>
              <a:rPr lang="zh-CN" altLang="zh-CN" sz="2800" smtClean="0">
                <a:ea typeface="黑体" panose="02010609060101010101" pitchFamily="49" charset="-122"/>
              </a:rPr>
              <a:t>的帧）应从接口</a:t>
            </a:r>
            <a:r>
              <a:rPr lang="en-US" altLang="zh-CN" sz="2800" smtClean="0">
                <a:ea typeface="黑体" panose="02010609060101010101" pitchFamily="49" charset="-122"/>
              </a:rPr>
              <a:t>1</a:t>
            </a:r>
            <a:r>
              <a:rPr lang="zh-CN" altLang="zh-CN" sz="2800" smtClean="0">
                <a:ea typeface="黑体" panose="02010609060101010101" pitchFamily="49" charset="-122"/>
              </a:rPr>
              <a:t>转发。</a:t>
            </a:r>
            <a:r>
              <a:rPr lang="zh-CN" altLang="zh-CN" sz="2800" smtClean="0">
                <a:solidFill>
                  <a:srgbClr val="0000FF"/>
                </a:solidFill>
                <a:ea typeface="黑体" panose="02010609060101010101" pitchFamily="49" charset="-122"/>
              </a:rPr>
              <a:t>于是就把这个帧传送到接口</a:t>
            </a:r>
            <a:r>
              <a:rPr lang="en-US" altLang="zh-CN" sz="2800" smtClean="0">
                <a:solidFill>
                  <a:srgbClr val="0000FF"/>
                </a:solidFill>
                <a:ea typeface="黑体" panose="02010609060101010101" pitchFamily="49" charset="-122"/>
              </a:rPr>
              <a:t> 1 </a:t>
            </a:r>
            <a:r>
              <a:rPr lang="zh-CN" altLang="zh-CN" sz="2800" smtClean="0">
                <a:solidFill>
                  <a:srgbClr val="0000FF"/>
                </a:solidFill>
                <a:ea typeface="黑体" panose="02010609060101010101" pitchFamily="49" charset="-122"/>
              </a:rPr>
              <a:t>转发给</a:t>
            </a:r>
            <a:r>
              <a:rPr lang="en-US" altLang="zh-CN" sz="2800" smtClean="0">
                <a:solidFill>
                  <a:srgbClr val="0000FF"/>
                </a:solidFill>
                <a:ea typeface="黑体" panose="02010609060101010101" pitchFamily="49" charset="-122"/>
              </a:rPr>
              <a:t> A</a:t>
            </a:r>
            <a:r>
              <a:rPr lang="zh-CN" altLang="zh-CN" sz="2800" smtClean="0">
                <a:solidFill>
                  <a:srgbClr val="0000FF"/>
                </a:solidFill>
                <a:ea typeface="黑体" panose="02010609060101010101" pitchFamily="49" charset="-122"/>
              </a:rPr>
              <a:t>。</a:t>
            </a:r>
            <a:r>
              <a:rPr lang="zh-CN" altLang="zh-CN" sz="2800" smtClean="0">
                <a:ea typeface="黑体" panose="02010609060101010101" pitchFamily="49" charset="-122"/>
              </a:rPr>
              <a:t>显然，现在已经没有必要再广播收到的帧。</a:t>
            </a:r>
            <a:endParaRPr lang="en-US" altLang="zh-CN" sz="2800" smtClean="0">
              <a:ea typeface="黑体" panose="02010609060101010101" pitchFamily="49" charset="-122"/>
            </a:endParaRPr>
          </a:p>
          <a:p>
            <a:r>
              <a:rPr lang="zh-CN" altLang="zh-CN" sz="2800" smtClean="0">
                <a:ea typeface="黑体" panose="02010609060101010101" pitchFamily="49" charset="-122"/>
              </a:rPr>
              <a:t>交换表这时新增加的项目</a:t>
            </a:r>
            <a:r>
              <a:rPr lang="en-US" altLang="zh-CN" sz="2800" smtClean="0">
                <a:ea typeface="黑体" panose="02010609060101010101" pitchFamily="49" charset="-122"/>
              </a:rPr>
              <a:t> (B, 3)</a:t>
            </a:r>
            <a:r>
              <a:rPr lang="zh-CN" altLang="zh-CN" sz="2800" smtClean="0">
                <a:ea typeface="黑体" panose="02010609060101010101" pitchFamily="49" charset="-122"/>
              </a:rPr>
              <a:t>，表明今后如有发送给</a:t>
            </a:r>
            <a:r>
              <a:rPr lang="en-US" altLang="zh-CN" sz="2800" smtClean="0">
                <a:ea typeface="黑体" panose="02010609060101010101" pitchFamily="49" charset="-122"/>
              </a:rPr>
              <a:t> B </a:t>
            </a:r>
            <a:r>
              <a:rPr lang="zh-CN" altLang="zh-CN" sz="2800" smtClean="0">
                <a:ea typeface="黑体" panose="02010609060101010101" pitchFamily="49" charset="-122"/>
              </a:rPr>
              <a:t>的帧，就应当从接口</a:t>
            </a:r>
            <a:r>
              <a:rPr lang="en-US" altLang="zh-CN" sz="2800" smtClean="0">
                <a:ea typeface="黑体" panose="02010609060101010101" pitchFamily="49" charset="-122"/>
              </a:rPr>
              <a:t> 3 </a:t>
            </a:r>
            <a:r>
              <a:rPr lang="zh-CN" altLang="zh-CN" sz="2800" smtClean="0">
                <a:ea typeface="黑体" panose="02010609060101010101" pitchFamily="49" charset="-122"/>
              </a:rPr>
              <a:t>转发出去。</a:t>
            </a:r>
            <a:endParaRPr lang="en-US" altLang="zh-CN" sz="2800" smtClean="0">
              <a:ea typeface="黑体" panose="02010609060101010101" pitchFamily="49" charset="-122"/>
            </a:endParaRPr>
          </a:p>
          <a:p>
            <a:r>
              <a:rPr lang="zh-CN" altLang="zh-CN" sz="2800" smtClean="0">
                <a:ea typeface="黑体" panose="02010609060101010101" pitchFamily="49" charset="-122"/>
              </a:rPr>
              <a:t>经过一段时间后，</a:t>
            </a:r>
            <a:r>
              <a:rPr lang="zh-CN" altLang="zh-CN" sz="2800" smtClean="0">
                <a:solidFill>
                  <a:srgbClr val="0000FF"/>
                </a:solidFill>
                <a:ea typeface="黑体" panose="02010609060101010101" pitchFamily="49" charset="-122"/>
              </a:rPr>
              <a:t>只要主机</a:t>
            </a:r>
            <a:r>
              <a:rPr lang="en-US" altLang="zh-CN" sz="2800" smtClean="0">
                <a:solidFill>
                  <a:srgbClr val="0000FF"/>
                </a:solidFill>
                <a:ea typeface="黑体" panose="02010609060101010101" pitchFamily="49" charset="-122"/>
              </a:rPr>
              <a:t> C </a:t>
            </a:r>
            <a:r>
              <a:rPr lang="zh-CN" altLang="zh-CN" sz="2800" smtClean="0">
                <a:solidFill>
                  <a:srgbClr val="0000FF"/>
                </a:solidFill>
                <a:ea typeface="黑体" panose="02010609060101010101" pitchFamily="49" charset="-122"/>
              </a:rPr>
              <a:t>和</a:t>
            </a:r>
            <a:r>
              <a:rPr lang="en-US" altLang="zh-CN" sz="2800" smtClean="0">
                <a:solidFill>
                  <a:srgbClr val="0000FF"/>
                </a:solidFill>
                <a:ea typeface="黑体" panose="02010609060101010101" pitchFamily="49" charset="-122"/>
              </a:rPr>
              <a:t> D </a:t>
            </a:r>
            <a:r>
              <a:rPr lang="zh-CN" altLang="zh-CN" sz="2800" smtClean="0">
                <a:solidFill>
                  <a:srgbClr val="0000FF"/>
                </a:solidFill>
                <a:ea typeface="黑体" panose="02010609060101010101" pitchFamily="49" charset="-122"/>
              </a:rPr>
              <a:t>也向其他主机发送帧，</a:t>
            </a:r>
            <a:r>
              <a:rPr lang="zh-CN" altLang="zh-CN" sz="2800" smtClean="0">
                <a:ea typeface="黑体" panose="02010609060101010101" pitchFamily="49" charset="-122"/>
              </a:rPr>
              <a:t>以太网交换机中的交换表就会把转发到</a:t>
            </a:r>
            <a:r>
              <a:rPr lang="en-US" altLang="zh-CN" sz="2800" smtClean="0">
                <a:ea typeface="黑体" panose="02010609060101010101" pitchFamily="49" charset="-122"/>
              </a:rPr>
              <a:t> C </a:t>
            </a:r>
            <a:r>
              <a:rPr lang="zh-CN" altLang="zh-CN" sz="2800" smtClean="0">
                <a:ea typeface="黑体" panose="02010609060101010101" pitchFamily="49" charset="-122"/>
              </a:rPr>
              <a:t>或</a:t>
            </a:r>
            <a:r>
              <a:rPr lang="en-US" altLang="zh-CN" sz="2800" smtClean="0">
                <a:ea typeface="黑体" panose="02010609060101010101" pitchFamily="49" charset="-122"/>
              </a:rPr>
              <a:t> D </a:t>
            </a:r>
            <a:r>
              <a:rPr lang="zh-CN" altLang="zh-CN" sz="2800" smtClean="0">
                <a:ea typeface="黑体" panose="02010609060101010101" pitchFamily="49" charset="-122"/>
              </a:rPr>
              <a:t>应当经过的接口号（</a:t>
            </a:r>
            <a:r>
              <a:rPr lang="en-US" altLang="zh-CN" sz="2800" smtClean="0">
                <a:ea typeface="黑体" panose="02010609060101010101" pitchFamily="49" charset="-122"/>
              </a:rPr>
              <a:t>2 </a:t>
            </a:r>
            <a:r>
              <a:rPr lang="zh-CN" altLang="zh-CN" sz="2800" smtClean="0">
                <a:ea typeface="黑体" panose="02010609060101010101" pitchFamily="49" charset="-122"/>
              </a:rPr>
              <a:t>或</a:t>
            </a:r>
            <a:r>
              <a:rPr lang="en-US" altLang="zh-CN" sz="2800" smtClean="0">
                <a:ea typeface="黑体" panose="02010609060101010101" pitchFamily="49" charset="-122"/>
              </a:rPr>
              <a:t> 4</a:t>
            </a:r>
            <a:r>
              <a:rPr lang="zh-CN" altLang="zh-CN" sz="2800" smtClean="0">
                <a:ea typeface="黑体" panose="02010609060101010101" pitchFamily="49" charset="-122"/>
              </a:rPr>
              <a:t>）写入到交换表中</a:t>
            </a:r>
            <a:r>
              <a:rPr lang="zh-CN" altLang="en-US" sz="2800" smtClean="0">
                <a:ea typeface="黑体" panose="02010609060101010101" pitchFamily="49" charset="-122"/>
              </a:rPr>
              <a:t>。</a:t>
            </a:r>
          </a:p>
        </p:txBody>
      </p:sp>
      <p:sp>
        <p:nvSpPr>
          <p:cNvPr id="62566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C777B6-DFEA-49F8-B53E-3BB3FC8FA1DB}" type="slidenum">
              <a:rPr lang="zh-CN" altLang="en-US" smtClean="0"/>
              <a:pPr eaLnBrk="1" hangingPunct="1"/>
              <a:t>40</a:t>
            </a:fld>
            <a:endParaRPr lang="en-US" altLang="zh-CN" smtClean="0"/>
          </a:p>
        </p:txBody>
      </p:sp>
      <p:sp>
        <p:nvSpPr>
          <p:cNvPr id="62566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89" name="标题 1"/>
          <p:cNvSpPr>
            <a:spLocks noGrp="1" noChangeArrowheads="1"/>
          </p:cNvSpPr>
          <p:nvPr>
            <p:ph type="title"/>
          </p:nvPr>
        </p:nvSpPr>
        <p:spPr/>
        <p:txBody>
          <a:bodyPr/>
          <a:lstStyle/>
          <a:p>
            <a:pPr algn="ctr"/>
            <a:r>
              <a:rPr lang="zh-CN" altLang="en-US" sz="3200" smtClean="0">
                <a:ea typeface="黑体" panose="02010609060101010101" pitchFamily="49" charset="-122"/>
              </a:rPr>
              <a:t>按照以下自学习算法</a:t>
            </a:r>
            <a:r>
              <a:rPr lang="en-US" altLang="zh-CN" sz="3200" smtClean="0">
                <a:ea typeface="黑体" panose="02010609060101010101" pitchFamily="49" charset="-122"/>
              </a:rPr>
              <a:t/>
            </a:r>
            <a:br>
              <a:rPr lang="en-US" altLang="zh-CN" sz="3200" smtClean="0">
                <a:ea typeface="黑体" panose="02010609060101010101" pitchFamily="49" charset="-122"/>
              </a:rPr>
            </a:br>
            <a:r>
              <a:rPr lang="zh-CN" altLang="en-US" sz="3200" smtClean="0">
                <a:ea typeface="黑体" panose="02010609060101010101" pitchFamily="49" charset="-122"/>
              </a:rPr>
              <a:t>处理收到的帧和建立交换表</a:t>
            </a:r>
          </a:p>
        </p:txBody>
      </p:sp>
      <p:grpSp>
        <p:nvGrpSpPr>
          <p:cNvPr id="626690" name="组合 44"/>
          <p:cNvGrpSpPr>
            <a:grpSpLocks/>
          </p:cNvGrpSpPr>
          <p:nvPr/>
        </p:nvGrpSpPr>
        <p:grpSpPr bwMode="auto">
          <a:xfrm>
            <a:off x="415925" y="1279525"/>
            <a:ext cx="6016625" cy="3702050"/>
            <a:chOff x="1282798" y="2105804"/>
            <a:chExt cx="6016646" cy="3702025"/>
          </a:xfrm>
        </p:grpSpPr>
        <p:sp>
          <p:nvSpPr>
            <p:cNvPr id="4" name="矩形 3"/>
            <p:cNvSpPr/>
            <p:nvPr/>
          </p:nvSpPr>
          <p:spPr>
            <a:xfrm>
              <a:off x="3452919" y="2537601"/>
              <a:ext cx="2868622" cy="2663807"/>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noProof="1"/>
                <a:t> </a:t>
              </a:r>
              <a:endParaRPr lang="zh-CN" altLang="en-US" noProof="1"/>
            </a:p>
          </p:txBody>
        </p:sp>
        <p:sp>
          <p:nvSpPr>
            <p:cNvPr id="626692" name="Rectangle 44"/>
            <p:cNvSpPr>
              <a:spLocks noChangeArrowheads="1"/>
            </p:cNvSpPr>
            <p:nvPr/>
          </p:nvSpPr>
          <p:spPr bwMode="auto">
            <a:xfrm>
              <a:off x="3575141" y="3690860"/>
              <a:ext cx="2601995" cy="1439863"/>
            </a:xfrm>
            <a:prstGeom prst="rect">
              <a:avLst/>
            </a:prstGeom>
            <a:solidFill>
              <a:schemeClr val="bg1"/>
            </a:solidFill>
            <a:ln w="9525">
              <a:solidFill>
                <a:schemeClr val="tx1"/>
              </a:solidFill>
              <a:miter lim="800000"/>
              <a:headEnd/>
              <a:tailEnd/>
            </a:ln>
          </p:spPr>
          <p:txBody>
            <a:bodyPr wrap="none" anchor="ctr"/>
            <a:lstStyle/>
            <a:p>
              <a:pPr eaLnBrk="0" hangingPunct="0"/>
              <a:endParaRPr lang="zh-CN" altLang="en-US" b="1">
                <a:ea typeface="黑体" panose="02010609060101010101" pitchFamily="49" charset="-122"/>
              </a:endParaRPr>
            </a:p>
          </p:txBody>
        </p:sp>
        <p:cxnSp>
          <p:nvCxnSpPr>
            <p:cNvPr id="6" name="直接连接符 5"/>
            <p:cNvCxnSpPr>
              <a:stCxn id="626715" idx="3"/>
            </p:cNvCxnSpPr>
            <p:nvPr/>
          </p:nvCxnSpPr>
          <p:spPr>
            <a:xfrm>
              <a:off x="6329479" y="3164660"/>
              <a:ext cx="423863"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626715" idx="3"/>
              <a:endCxn id="626712" idx="1"/>
            </p:cNvCxnSpPr>
            <p:nvPr/>
          </p:nvCxnSpPr>
          <p:spPr>
            <a:xfrm flipV="1">
              <a:off x="2948092" y="3164660"/>
              <a:ext cx="504827" cy="1650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stCxn id="626718" idx="3"/>
              <a:endCxn id="626712" idx="1"/>
            </p:cNvCxnSpPr>
            <p:nvPr/>
          </p:nvCxnSpPr>
          <p:spPr>
            <a:xfrm flipV="1">
              <a:off x="6329479" y="2682063"/>
              <a:ext cx="495302"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626718" idx="3"/>
              <a:endCxn id="626709" idx="1"/>
            </p:cNvCxnSpPr>
            <p:nvPr/>
          </p:nvCxnSpPr>
          <p:spPr>
            <a:xfrm>
              <a:off x="3019529" y="2682063"/>
              <a:ext cx="433390" cy="95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6697" name="Rectangle 49"/>
            <p:cNvSpPr>
              <a:spLocks noChangeArrowheads="1"/>
            </p:cNvSpPr>
            <p:nvPr/>
          </p:nvSpPr>
          <p:spPr bwMode="auto">
            <a:xfrm>
              <a:off x="3524341" y="3687685"/>
              <a:ext cx="2652795" cy="9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115000"/>
                </a:lnSpc>
              </a:pPr>
              <a:r>
                <a:rPr lang="en-US" altLang="zh-CN" sz="1600" b="1">
                  <a:ea typeface="黑体" panose="02010609060101010101" pitchFamily="49" charset="-122"/>
                </a:rPr>
                <a:t>MAC</a:t>
              </a:r>
              <a:r>
                <a:rPr lang="zh-CN" altLang="en-US" sz="1600" b="1">
                  <a:ea typeface="黑体" panose="02010609060101010101" pitchFamily="49" charset="-122"/>
                </a:rPr>
                <a:t>地址  接口   有效时间</a:t>
              </a:r>
            </a:p>
            <a:p>
              <a:pPr>
                <a:lnSpc>
                  <a:spcPct val="115000"/>
                </a:lnSpc>
              </a:pPr>
              <a:r>
                <a:rPr lang="zh-CN" altLang="en-US" sz="1600" b="1">
                  <a:ea typeface="黑体" panose="02010609060101010101" pitchFamily="49" charset="-122"/>
                </a:rPr>
                <a:t>       </a:t>
              </a:r>
              <a:r>
                <a:rPr lang="en-US" altLang="zh-CN" sz="1600" b="1">
                  <a:ea typeface="黑体" panose="02010609060101010101" pitchFamily="49" charset="-122"/>
                </a:rPr>
                <a:t>A           1</a:t>
              </a:r>
            </a:p>
            <a:p>
              <a:pPr>
                <a:lnSpc>
                  <a:spcPct val="115000"/>
                </a:lnSpc>
              </a:pPr>
              <a:r>
                <a:rPr lang="en-US" altLang="zh-CN" sz="1600" b="1">
                  <a:ea typeface="黑体" panose="02010609060101010101" pitchFamily="49" charset="-122"/>
                </a:rPr>
                <a:t>       B           3</a:t>
              </a:r>
            </a:p>
          </p:txBody>
        </p:sp>
        <p:sp>
          <p:nvSpPr>
            <p:cNvPr id="626698" name="Rectangle 24"/>
            <p:cNvSpPr>
              <a:spLocks noChangeArrowheads="1"/>
            </p:cNvSpPr>
            <p:nvPr/>
          </p:nvSpPr>
          <p:spPr bwMode="auto">
            <a:xfrm>
              <a:off x="3944888" y="2105804"/>
              <a:ext cx="2039021"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400" b="1">
                  <a:latin typeface="黑体" panose="02010609060101010101" pitchFamily="49" charset="-122"/>
                  <a:ea typeface="黑体" panose="02010609060101010101" pitchFamily="49" charset="-122"/>
                </a:rPr>
                <a:t>以太网交换机</a:t>
              </a:r>
              <a:endParaRPr lang="en-US" altLang="zh-CN" sz="2400" b="1">
                <a:latin typeface="黑体" panose="02010609060101010101" pitchFamily="49" charset="-122"/>
                <a:ea typeface="黑体" panose="02010609060101010101" pitchFamily="49" charset="-122"/>
              </a:endParaRPr>
            </a:p>
          </p:txBody>
        </p:sp>
        <p:pic>
          <p:nvPicPr>
            <p:cNvPr id="626699"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23938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00" name="Rectangle 34"/>
            <p:cNvSpPr>
              <a:spLocks noChangeArrowheads="1"/>
            </p:cNvSpPr>
            <p:nvPr/>
          </p:nvSpPr>
          <p:spPr bwMode="auto">
            <a:xfrm>
              <a:off x="2390532"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A</a:t>
              </a:r>
              <a:endParaRPr lang="en-US" altLang="zh-CN" sz="1600" b="1" baseline="-25000">
                <a:ea typeface="黑体" panose="02010609060101010101" pitchFamily="49" charset="-122"/>
              </a:endParaRPr>
            </a:p>
          </p:txBody>
        </p:sp>
        <p:sp>
          <p:nvSpPr>
            <p:cNvPr id="626701" name="Line 50"/>
            <p:cNvSpPr>
              <a:spLocks noChangeShapeType="1"/>
            </p:cNvSpPr>
            <p:nvPr/>
          </p:nvSpPr>
          <p:spPr bwMode="auto">
            <a:xfrm>
              <a:off x="4510179"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626702" name="组合 14"/>
            <p:cNvGrpSpPr>
              <a:grpSpLocks/>
            </p:cNvGrpSpPr>
            <p:nvPr/>
          </p:nvGrpSpPr>
          <p:grpSpPr bwMode="auto">
            <a:xfrm>
              <a:off x="3575141" y="3978198"/>
              <a:ext cx="2601995" cy="863600"/>
              <a:chOff x="3575141" y="4437298"/>
              <a:chExt cx="1439863" cy="863600"/>
            </a:xfrm>
          </p:grpSpPr>
          <p:sp>
            <p:nvSpPr>
              <p:cNvPr id="626703" name="Line 45"/>
              <p:cNvSpPr>
                <a:spLocks noChangeShapeType="1"/>
              </p:cNvSpPr>
              <p:nvPr/>
            </p:nvSpPr>
            <p:spPr bwMode="auto">
              <a:xfrm>
                <a:off x="3575141" y="4437298"/>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4" name="Line 46"/>
              <p:cNvSpPr>
                <a:spLocks noChangeShapeType="1"/>
              </p:cNvSpPr>
              <p:nvPr/>
            </p:nvSpPr>
            <p:spPr bwMode="auto">
              <a:xfrm>
                <a:off x="3575141" y="4724635"/>
                <a:ext cx="14398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5" name="Line 47"/>
              <p:cNvSpPr>
                <a:spLocks noChangeShapeType="1"/>
              </p:cNvSpPr>
              <p:nvPr/>
            </p:nvSpPr>
            <p:spPr bwMode="auto">
              <a:xfrm>
                <a:off x="3575141" y="5011973"/>
                <a:ext cx="1439863"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06" name="Line 66"/>
              <p:cNvSpPr>
                <a:spLocks noChangeShapeType="1"/>
              </p:cNvSpPr>
              <p:nvPr/>
            </p:nvSpPr>
            <p:spPr bwMode="auto">
              <a:xfrm>
                <a:off x="3575141" y="5299310"/>
                <a:ext cx="1439863"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626707" name="组合 57"/>
            <p:cNvGrpSpPr>
              <a:grpSpLocks/>
            </p:cNvGrpSpPr>
            <p:nvPr/>
          </p:nvGrpSpPr>
          <p:grpSpPr bwMode="auto">
            <a:xfrm>
              <a:off x="3452906" y="2609773"/>
              <a:ext cx="296557" cy="335989"/>
              <a:chOff x="2267744" y="1268760"/>
              <a:chExt cx="297274" cy="335989"/>
            </a:xfrm>
          </p:grpSpPr>
          <p:sp>
            <p:nvSpPr>
              <p:cNvPr id="21" name="矩形 20"/>
              <p:cNvSpPr/>
              <p:nvPr/>
            </p:nvSpPr>
            <p:spPr>
              <a:xfrm>
                <a:off x="2267757" y="1339463"/>
                <a:ext cx="288033" cy="21589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09" name="Rectangle 40"/>
              <p:cNvSpPr>
                <a:spLocks noChangeArrowheads="1"/>
              </p:cNvSpPr>
              <p:nvPr/>
            </p:nvSpPr>
            <p:spPr bwMode="auto">
              <a:xfrm>
                <a:off x="2267744" y="1268760"/>
                <a:ext cx="297274"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1</a:t>
                </a:r>
                <a:endParaRPr lang="en-US" altLang="zh-CN" sz="1600" b="1" baseline="-25000">
                  <a:ea typeface="黑体" panose="02010609060101010101" pitchFamily="49" charset="-122"/>
                </a:endParaRPr>
              </a:p>
            </p:txBody>
          </p:sp>
        </p:grpSp>
        <p:grpSp>
          <p:nvGrpSpPr>
            <p:cNvPr id="626710" name="组合 58"/>
            <p:cNvGrpSpPr>
              <a:grpSpLocks/>
            </p:cNvGrpSpPr>
            <p:nvPr/>
          </p:nvGrpSpPr>
          <p:grpSpPr bwMode="auto">
            <a:xfrm>
              <a:off x="3452906" y="2997124"/>
              <a:ext cx="296557" cy="335989"/>
              <a:chOff x="2267744" y="1268760"/>
              <a:chExt cx="297274" cy="337019"/>
            </a:xfrm>
          </p:grpSpPr>
          <p:sp>
            <p:nvSpPr>
              <p:cNvPr id="24" name="矩形 23"/>
              <p:cNvSpPr/>
              <p:nvPr/>
            </p:nvSpPr>
            <p:spPr>
              <a:xfrm>
                <a:off x="2267757" y="1339675"/>
                <a:ext cx="28803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2" name="Rectangle 40"/>
              <p:cNvSpPr>
                <a:spLocks noChangeArrowheads="1"/>
              </p:cNvSpPr>
              <p:nvPr/>
            </p:nvSpPr>
            <p:spPr bwMode="auto">
              <a:xfrm>
                <a:off x="2267744" y="1268760"/>
                <a:ext cx="297274"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2</a:t>
                </a:r>
                <a:endParaRPr lang="en-US" altLang="zh-CN" sz="1600" b="1" baseline="-25000">
                  <a:ea typeface="黑体" panose="02010609060101010101" pitchFamily="49" charset="-122"/>
                </a:endParaRPr>
              </a:p>
            </p:txBody>
          </p:sp>
        </p:grpSp>
        <p:grpSp>
          <p:nvGrpSpPr>
            <p:cNvPr id="626713" name="组合 61"/>
            <p:cNvGrpSpPr>
              <a:grpSpLocks/>
            </p:cNvGrpSpPr>
            <p:nvPr/>
          </p:nvGrpSpPr>
          <p:grpSpPr bwMode="auto">
            <a:xfrm>
              <a:off x="6033123" y="2997124"/>
              <a:ext cx="296557" cy="335989"/>
              <a:chOff x="2267744" y="1268760"/>
              <a:chExt cx="295640" cy="337019"/>
            </a:xfrm>
          </p:grpSpPr>
          <p:sp>
            <p:nvSpPr>
              <p:cNvPr id="27" name="矩形 26"/>
              <p:cNvSpPr/>
              <p:nvPr/>
            </p:nvSpPr>
            <p:spPr>
              <a:xfrm>
                <a:off x="2267238" y="1339675"/>
                <a:ext cx="288033" cy="216561"/>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5" name="Rectangle 40"/>
              <p:cNvSpPr>
                <a:spLocks noChangeArrowheads="1"/>
              </p:cNvSpPr>
              <p:nvPr/>
            </p:nvSpPr>
            <p:spPr bwMode="auto">
              <a:xfrm>
                <a:off x="2267744" y="1268760"/>
                <a:ext cx="295640" cy="337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4</a:t>
                </a:r>
                <a:endParaRPr lang="en-US" altLang="zh-CN" sz="1600" b="1" baseline="-25000">
                  <a:ea typeface="黑体" panose="02010609060101010101" pitchFamily="49" charset="-122"/>
                </a:endParaRPr>
              </a:p>
            </p:txBody>
          </p:sp>
        </p:grpSp>
        <p:grpSp>
          <p:nvGrpSpPr>
            <p:cNvPr id="626716" name="组合 64"/>
            <p:cNvGrpSpPr>
              <a:grpSpLocks/>
            </p:cNvGrpSpPr>
            <p:nvPr/>
          </p:nvGrpSpPr>
          <p:grpSpPr bwMode="auto">
            <a:xfrm>
              <a:off x="6033123" y="2609773"/>
              <a:ext cx="296557" cy="335989"/>
              <a:chOff x="2267744" y="1268760"/>
              <a:chExt cx="295640" cy="335429"/>
            </a:xfrm>
          </p:grpSpPr>
          <p:sp>
            <p:nvSpPr>
              <p:cNvPr id="30" name="矩形 29"/>
              <p:cNvSpPr/>
              <p:nvPr/>
            </p:nvSpPr>
            <p:spPr>
              <a:xfrm>
                <a:off x="2267238" y="1339345"/>
                <a:ext cx="288033" cy="21712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b="1" noProof="1">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6718" name="Rectangle 40"/>
              <p:cNvSpPr>
                <a:spLocks noChangeArrowheads="1"/>
              </p:cNvSpPr>
              <p:nvPr/>
            </p:nvSpPr>
            <p:spPr bwMode="auto">
              <a:xfrm>
                <a:off x="2267744" y="1268760"/>
                <a:ext cx="295640" cy="335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3</a:t>
                </a:r>
                <a:endParaRPr lang="en-US" altLang="zh-CN" sz="1600" b="1" baseline="-25000">
                  <a:ea typeface="黑体" panose="02010609060101010101" pitchFamily="49" charset="-122"/>
                </a:endParaRPr>
              </a:p>
            </p:txBody>
          </p:sp>
        </p:grpSp>
        <p:sp>
          <p:nvSpPr>
            <p:cNvPr id="626719" name="Rectangle 24"/>
            <p:cNvSpPr>
              <a:spLocks noChangeArrowheads="1"/>
            </p:cNvSpPr>
            <p:nvPr/>
          </p:nvSpPr>
          <p:spPr bwMode="auto">
            <a:xfrm>
              <a:off x="4586536" y="3359073"/>
              <a:ext cx="8800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b="1">
                  <a:ea typeface="黑体" panose="02010609060101010101" pitchFamily="49" charset="-122"/>
                </a:rPr>
                <a:t>交换表</a:t>
              </a:r>
              <a:endParaRPr lang="en-US" altLang="zh-CN" b="1">
                <a:ea typeface="黑体" panose="02010609060101010101" pitchFamily="49" charset="-122"/>
              </a:endParaRPr>
            </a:p>
          </p:txBody>
        </p:sp>
        <p:pic>
          <p:nvPicPr>
            <p:cNvPr id="626720"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30415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1" name="Rectangle 34"/>
            <p:cNvSpPr>
              <a:spLocks noChangeArrowheads="1"/>
            </p:cNvSpPr>
            <p:nvPr/>
          </p:nvSpPr>
          <p:spPr bwMode="auto">
            <a:xfrm>
              <a:off x="6969224" y="29939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D</a:t>
              </a:r>
              <a:endParaRPr lang="en-US" altLang="zh-CN" sz="1600" b="1" baseline="-25000">
                <a:ea typeface="黑体" panose="02010609060101010101" pitchFamily="49" charset="-122"/>
              </a:endParaRPr>
            </a:p>
          </p:txBody>
        </p:sp>
        <p:pic>
          <p:nvPicPr>
            <p:cNvPr id="62672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0741" y="3041573"/>
              <a:ext cx="46831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6723"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09383" y="2393873"/>
              <a:ext cx="468312"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6724" name="Rectangle 34"/>
            <p:cNvSpPr>
              <a:spLocks noChangeArrowheads="1"/>
            </p:cNvSpPr>
            <p:nvPr/>
          </p:nvSpPr>
          <p:spPr bwMode="auto">
            <a:xfrm>
              <a:off x="6969224" y="234624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B</a:t>
              </a:r>
              <a:endParaRPr lang="en-US" altLang="zh-CN" sz="1600" b="1" baseline="-25000">
                <a:ea typeface="黑体" panose="02010609060101010101" pitchFamily="49" charset="-122"/>
              </a:endParaRPr>
            </a:p>
          </p:txBody>
        </p:sp>
        <p:sp>
          <p:nvSpPr>
            <p:cNvPr id="626725" name="Line 50"/>
            <p:cNvSpPr>
              <a:spLocks noChangeShapeType="1"/>
            </p:cNvSpPr>
            <p:nvPr/>
          </p:nvSpPr>
          <p:spPr bwMode="auto">
            <a:xfrm>
              <a:off x="5097554" y="3690860"/>
              <a:ext cx="0"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626726" name="Rectangle 34"/>
            <p:cNvSpPr>
              <a:spLocks noChangeArrowheads="1"/>
            </p:cNvSpPr>
            <p:nvPr/>
          </p:nvSpPr>
          <p:spPr bwMode="auto">
            <a:xfrm>
              <a:off x="2403252" y="3041908"/>
              <a:ext cx="330220"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600" b="1">
                  <a:ea typeface="黑体" panose="02010609060101010101" pitchFamily="49" charset="-122"/>
                </a:rPr>
                <a:t>C</a:t>
              </a:r>
              <a:endParaRPr lang="en-US" altLang="zh-CN" sz="1600" b="1" baseline="-25000">
                <a:ea typeface="黑体" panose="02010609060101010101" pitchFamily="49" charset="-122"/>
              </a:endParaRPr>
            </a:p>
          </p:txBody>
        </p:sp>
        <p:sp>
          <p:nvSpPr>
            <p:cNvPr id="626727" name="矩形 39"/>
            <p:cNvSpPr>
              <a:spLocks noChangeArrowheads="1"/>
            </p:cNvSpPr>
            <p:nvPr/>
          </p:nvSpPr>
          <p:spPr bwMode="auto">
            <a:xfrm>
              <a:off x="2660740" y="5346164"/>
              <a:ext cx="44735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ea typeface="黑体" panose="02010609060101010101" pitchFamily="49" charset="-122"/>
                </a:rPr>
                <a:t>交换了两帧后的交换表</a:t>
              </a:r>
              <a:endParaRPr lang="en-US" altLang="zh-CN" sz="2400" b="1">
                <a:ea typeface="黑体" panose="02010609060101010101" pitchFamily="49" charset="-122"/>
              </a:endParaRPr>
            </a:p>
          </p:txBody>
        </p:sp>
        <p:sp>
          <p:nvSpPr>
            <p:cNvPr id="626728" name="Rectangle 24"/>
            <p:cNvSpPr>
              <a:spLocks noChangeArrowheads="1"/>
            </p:cNvSpPr>
            <p:nvPr/>
          </p:nvSpPr>
          <p:spPr bwMode="auto">
            <a:xfrm>
              <a:off x="1282798" y="3933056"/>
              <a:ext cx="2086026" cy="68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spcBef>
                  <a:spcPts val="300"/>
                </a:spcBef>
              </a:pPr>
              <a:r>
                <a:rPr lang="en-US" altLang="zh-CN" b="1">
                  <a:ea typeface="黑体" panose="02010609060101010101" pitchFamily="49" charset="-122"/>
                </a:rPr>
                <a:t>A </a:t>
              </a:r>
              <a:r>
                <a:rPr lang="zh-CN" altLang="en-US" b="1">
                  <a:ea typeface="黑体" panose="02010609060101010101" pitchFamily="49" charset="-122"/>
                </a:rPr>
                <a:t>发送一帧给 </a:t>
              </a:r>
              <a:r>
                <a:rPr lang="en-US" altLang="zh-CN" b="1">
                  <a:ea typeface="黑体" panose="02010609060101010101" pitchFamily="49" charset="-122"/>
                </a:rPr>
                <a:t>B</a:t>
              </a:r>
            </a:p>
            <a:p>
              <a:pPr>
                <a:spcBef>
                  <a:spcPts val="300"/>
                </a:spcBef>
              </a:pPr>
              <a:r>
                <a:rPr lang="en-US" altLang="zh-CN" b="1">
                  <a:ea typeface="黑体" panose="02010609060101010101" pitchFamily="49" charset="-122"/>
                </a:rPr>
                <a:t>B </a:t>
              </a:r>
              <a:r>
                <a:rPr lang="zh-CN" altLang="en-US" b="1">
                  <a:ea typeface="黑体" panose="02010609060101010101" pitchFamily="49" charset="-122"/>
                </a:rPr>
                <a:t>发送一帧给 </a:t>
              </a:r>
              <a:r>
                <a:rPr lang="en-US" altLang="zh-CN" b="1">
                  <a:ea typeface="黑体" panose="02010609060101010101" pitchFamily="49" charset="-122"/>
                </a:rPr>
                <a:t>A</a:t>
              </a:r>
            </a:p>
          </p:txBody>
        </p:sp>
        <p:sp>
          <p:nvSpPr>
            <p:cNvPr id="42" name="右箭头 41"/>
            <p:cNvSpPr/>
            <p:nvPr/>
          </p:nvSpPr>
          <p:spPr>
            <a:xfrm>
              <a:off x="3097317" y="4107628"/>
              <a:ext cx="487364" cy="101599"/>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sp>
          <p:nvSpPr>
            <p:cNvPr id="43" name="右箭头 42"/>
            <p:cNvSpPr/>
            <p:nvPr/>
          </p:nvSpPr>
          <p:spPr>
            <a:xfrm>
              <a:off x="3103667" y="4379089"/>
              <a:ext cx="487364" cy="101599"/>
            </a:xfrm>
            <a:prstGeom prst="rightArrow">
              <a:avLst>
                <a:gd name="adj1" fmla="val 50000"/>
                <a:gd name="adj2" fmla="val 127331"/>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p>
          </p:txBody>
        </p:sp>
      </p:grpSp>
      <p:sp>
        <p:nvSpPr>
          <p:cNvPr id="626731" name="矩形 45"/>
          <p:cNvSpPr>
            <a:spLocks noChangeArrowheads="1"/>
          </p:cNvSpPr>
          <p:nvPr/>
        </p:nvSpPr>
        <p:spPr bwMode="auto">
          <a:xfrm>
            <a:off x="5907088" y="2767013"/>
            <a:ext cx="3941762" cy="26765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pPr eaLnBrk="0" hangingPunct="0"/>
            <a:r>
              <a:rPr lang="zh-CN" altLang="zh-CN" sz="2400" b="1">
                <a:ea typeface="黑体" panose="02010609060101010101" pitchFamily="49" charset="-122"/>
              </a:rPr>
              <a:t>考虑到可能有时要在交换机的接口更换主机，或者主机要更换其网络适配器，这就需要更改交换表中的项目。为此，在交换表中每个项目都设有一定的</a:t>
            </a:r>
            <a:r>
              <a:rPr lang="zh-CN" altLang="zh-CN" sz="2400" b="1">
                <a:solidFill>
                  <a:srgbClr val="FF0000"/>
                </a:solidFill>
                <a:ea typeface="黑体" panose="02010609060101010101" pitchFamily="49" charset="-122"/>
              </a:rPr>
              <a:t>有效时间。</a:t>
            </a:r>
            <a:r>
              <a:rPr lang="zh-CN" altLang="zh-CN" sz="2400" b="1">
                <a:solidFill>
                  <a:srgbClr val="0000FF"/>
                </a:solidFill>
                <a:ea typeface="黑体" panose="02010609060101010101" pitchFamily="49" charset="-122"/>
              </a:rPr>
              <a:t>过期的项目就自动被删除。</a:t>
            </a:r>
            <a:endParaRPr lang="zh-CN" altLang="en-US" sz="2400" b="1">
              <a:solidFill>
                <a:srgbClr val="0000FF"/>
              </a:solidFill>
              <a:ea typeface="黑体" panose="02010609060101010101" pitchFamily="49" charset="-122"/>
            </a:endParaRPr>
          </a:p>
        </p:txBody>
      </p:sp>
      <p:cxnSp>
        <p:nvCxnSpPr>
          <p:cNvPr id="626732" name="直接箭头连接符 47"/>
          <p:cNvCxnSpPr>
            <a:cxnSpLocks noChangeShapeType="1"/>
            <a:stCxn id="626718" idx="3"/>
            <a:endCxn id="626709" idx="1"/>
          </p:cNvCxnSpPr>
          <p:nvPr/>
        </p:nvCxnSpPr>
        <p:spPr bwMode="auto">
          <a:xfrm flipH="1" flipV="1">
            <a:off x="5167313" y="3043238"/>
            <a:ext cx="792162" cy="339725"/>
          </a:xfrm>
          <a:prstGeom prst="straightConnector1">
            <a:avLst/>
          </a:prstGeom>
          <a:noFill/>
          <a:ln w="19050">
            <a:solidFill>
              <a:schemeClr val="tx1"/>
            </a:solidFill>
            <a:round/>
            <a:headEnd/>
            <a:tailEnd type="arrow" w="med" len="med"/>
          </a:ln>
        </p:spPr>
      </p:cxnSp>
      <p:sp>
        <p:nvSpPr>
          <p:cNvPr id="626733" name="矩形 48"/>
          <p:cNvSpPr>
            <a:spLocks noChangeArrowheads="1"/>
          </p:cNvSpPr>
          <p:nvPr/>
        </p:nvSpPr>
        <p:spPr bwMode="auto">
          <a:xfrm>
            <a:off x="849313" y="5589588"/>
            <a:ext cx="8640762" cy="869950"/>
          </a:xfrm>
          <a:prstGeom prst="rect">
            <a:avLst/>
          </a:prstGeom>
          <a:solidFill>
            <a:srgbClr val="FFFF66"/>
          </a:solidFill>
          <a:ln w="9525">
            <a:solidFill>
              <a:schemeClr val="tx1"/>
            </a:solidFill>
            <a:round/>
            <a:headEnd/>
            <a:tailEnd/>
          </a:ln>
        </p:spPr>
        <p:txBody>
          <a:bodyPr>
            <a:spAutoFit/>
          </a:bodyPr>
          <a:lstStyle/>
          <a:p>
            <a:pPr eaLnBrk="0" hangingPunct="0">
              <a:lnSpc>
                <a:spcPct val="110000"/>
              </a:lnSpc>
              <a:buSzPct val="80000"/>
            </a:pPr>
            <a:r>
              <a:rPr lang="zh-CN" altLang="zh-CN" sz="2400" b="1">
                <a:solidFill>
                  <a:srgbClr val="000066"/>
                </a:solidFill>
                <a:ea typeface="黑体" panose="02010609060101010101" pitchFamily="49" charset="-122"/>
              </a:rPr>
              <a:t>以太网交换机的这种自学习方法使得以太网交换机能够即插即用，不必人工进行配置，因此非常方便。</a:t>
            </a:r>
          </a:p>
        </p:txBody>
      </p:sp>
      <p:sp>
        <p:nvSpPr>
          <p:cNvPr id="626734" name="灯片编号占位符 4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EAF6B3-17A3-43D5-88BF-2A186565427F}" type="slidenum">
              <a:rPr lang="zh-CN" altLang="en-US" smtClean="0"/>
              <a:pPr eaLnBrk="1" hangingPunct="1"/>
              <a:t>41</a:t>
            </a:fld>
            <a:endParaRPr lang="en-US" altLang="zh-CN" smtClean="0"/>
          </a:p>
        </p:txBody>
      </p:sp>
      <p:sp>
        <p:nvSpPr>
          <p:cNvPr id="626735" name="页脚占位符 49"/>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3"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交换机自学习和转发帧的步骤归纳 </a:t>
            </a:r>
          </a:p>
        </p:txBody>
      </p:sp>
      <p:sp>
        <p:nvSpPr>
          <p:cNvPr id="62771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交换机收到一帧后先进行</a:t>
            </a:r>
            <a:r>
              <a:rPr lang="zh-CN" altLang="en-US" sz="2800" smtClean="0">
                <a:solidFill>
                  <a:srgbClr val="FF0000"/>
                </a:solidFill>
                <a:ea typeface="黑体" panose="02010609060101010101" pitchFamily="49" charset="-122"/>
              </a:rPr>
              <a:t>自学习。</a:t>
            </a:r>
            <a:r>
              <a:rPr lang="zh-CN" altLang="en-US" sz="2800" smtClean="0">
                <a:ea typeface="黑体" panose="02010609060101010101" pitchFamily="49" charset="-122"/>
              </a:rPr>
              <a:t>查找交换表中与收到帧的</a:t>
            </a:r>
            <a:r>
              <a:rPr lang="zh-CN" altLang="en-US" sz="2800" smtClean="0">
                <a:solidFill>
                  <a:srgbClr val="FF0000"/>
                </a:solidFill>
                <a:ea typeface="黑体" panose="02010609060101010101" pitchFamily="49" charset="-122"/>
              </a:rPr>
              <a:t>源地址有无相匹配</a:t>
            </a:r>
            <a:r>
              <a:rPr lang="zh-CN" altLang="en-US" sz="2800" smtClean="0">
                <a:ea typeface="黑体" panose="02010609060101010101" pitchFamily="49" charset="-122"/>
              </a:rPr>
              <a:t>的项目。</a:t>
            </a:r>
            <a:endParaRPr lang="en-US" altLang="zh-CN" sz="2800" smtClean="0">
              <a:ea typeface="黑体" panose="02010609060101010101" pitchFamily="49" charset="-122"/>
            </a:endParaRPr>
          </a:p>
          <a:p>
            <a:pPr lvl="1"/>
            <a:r>
              <a:rPr lang="zh-CN" altLang="en-US" sz="2400" smtClean="0">
                <a:ea typeface="黑体" panose="02010609060101010101" pitchFamily="49" charset="-122"/>
              </a:rPr>
              <a:t>如没有，就在交换表中增加一个项目（源地址、进入的接口和有效时间）。</a:t>
            </a:r>
            <a:endParaRPr lang="en-US" altLang="zh-CN" sz="2400" smtClean="0">
              <a:ea typeface="黑体" panose="02010609060101010101" pitchFamily="49" charset="-122"/>
            </a:endParaRPr>
          </a:p>
          <a:p>
            <a:pPr lvl="1"/>
            <a:r>
              <a:rPr lang="zh-CN" altLang="en-US" sz="2400" smtClean="0">
                <a:ea typeface="黑体" panose="02010609060101010101" pitchFamily="49" charset="-122"/>
              </a:rPr>
              <a:t>如有，则把原有的项目进行更新（进入的接口或有效时间）。</a:t>
            </a:r>
          </a:p>
          <a:p>
            <a:r>
              <a:rPr lang="zh-CN" altLang="en-US" sz="2800" smtClean="0">
                <a:solidFill>
                  <a:srgbClr val="FF0000"/>
                </a:solidFill>
                <a:ea typeface="黑体" panose="02010609060101010101" pitchFamily="49" charset="-122"/>
              </a:rPr>
              <a:t>转发帧。</a:t>
            </a:r>
            <a:r>
              <a:rPr lang="zh-CN" altLang="en-US" sz="2800" smtClean="0">
                <a:ea typeface="黑体" panose="02010609060101010101" pitchFamily="49" charset="-122"/>
              </a:rPr>
              <a:t>查找交换表中与收到帧的</a:t>
            </a:r>
            <a:r>
              <a:rPr lang="zh-CN" altLang="en-US" sz="2800" smtClean="0">
                <a:solidFill>
                  <a:srgbClr val="FF0000"/>
                </a:solidFill>
                <a:ea typeface="黑体" panose="02010609060101010101" pitchFamily="49" charset="-122"/>
              </a:rPr>
              <a:t>目的地址有无相匹配</a:t>
            </a:r>
            <a:r>
              <a:rPr lang="zh-CN" altLang="en-US" sz="2800" smtClean="0">
                <a:ea typeface="黑体" panose="02010609060101010101" pitchFamily="49" charset="-122"/>
              </a:rPr>
              <a:t>的项目。</a:t>
            </a:r>
          </a:p>
          <a:p>
            <a:pPr lvl="1"/>
            <a:r>
              <a:rPr lang="zh-CN" altLang="en-US" sz="2400" smtClean="0">
                <a:ea typeface="黑体" panose="02010609060101010101" pitchFamily="49" charset="-122"/>
              </a:rPr>
              <a:t>如没有，则向所有其他接口（进入的接口除外）转发。</a:t>
            </a:r>
          </a:p>
          <a:p>
            <a:pPr lvl="1"/>
            <a:r>
              <a:rPr lang="zh-CN" altLang="en-US" sz="2400" smtClean="0">
                <a:ea typeface="黑体" panose="02010609060101010101" pitchFamily="49" charset="-122"/>
              </a:rPr>
              <a:t>如有，则按交换表中给出的接口进行转发。</a:t>
            </a:r>
          </a:p>
          <a:p>
            <a:pPr lvl="1"/>
            <a:r>
              <a:rPr lang="zh-CN" altLang="en-US" sz="2400" smtClean="0">
                <a:ea typeface="黑体" panose="02010609060101010101" pitchFamily="49" charset="-122"/>
              </a:rPr>
              <a:t>若交换表中给出的接口就是该帧进入交换机的接口，则应丢弃这个帧（因为这时不需要经过交换机进行转发）。</a:t>
            </a:r>
          </a:p>
        </p:txBody>
      </p:sp>
      <p:sp>
        <p:nvSpPr>
          <p:cNvPr id="627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37D29E-FA88-42FE-9127-7B9391DA9794}" type="slidenum">
              <a:rPr lang="zh-CN" altLang="en-US" smtClean="0"/>
              <a:pPr eaLnBrk="1" hangingPunct="1"/>
              <a:t>42</a:t>
            </a:fld>
            <a:endParaRPr lang="en-US" altLang="zh-CN" smtClean="0"/>
          </a:p>
        </p:txBody>
      </p:sp>
      <p:sp>
        <p:nvSpPr>
          <p:cNvPr id="627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7"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28738" name="Rectangle 2"/>
          <p:cNvSpPr>
            <a:spLocks noGrp="1" noChangeArrowheads="1"/>
          </p:cNvSpPr>
          <p:nvPr>
            <p:ph idx="1"/>
          </p:nvPr>
        </p:nvSpPr>
        <p:spPr>
          <a:xfrm>
            <a:off x="495300" y="1196975"/>
            <a:ext cx="9066213" cy="4933950"/>
          </a:xfrm>
        </p:spPr>
        <p:txBody>
          <a:bodyPr/>
          <a:lstStyle/>
          <a:p>
            <a:r>
              <a:rPr lang="zh-CN" altLang="en-US" sz="2800" smtClean="0">
                <a:solidFill>
                  <a:srgbClr val="FF0000"/>
                </a:solidFill>
                <a:ea typeface="黑体" panose="02010609060101010101" pitchFamily="49" charset="-122"/>
              </a:rPr>
              <a:t>增加冗余链路时，</a:t>
            </a:r>
            <a:r>
              <a:rPr lang="zh-CN" altLang="zh-CN" sz="2800" smtClean="0">
                <a:solidFill>
                  <a:srgbClr val="FF0000"/>
                </a:solidFill>
                <a:ea typeface="黑体" panose="02010609060101010101" pitchFamily="49" charset="-122"/>
              </a:rPr>
              <a:t>自学习的过程就可能导致以太网帧在网络的某个环路中无限制地兜圈子</a:t>
            </a:r>
            <a:r>
              <a:rPr lang="zh-CN" altLang="en-US" sz="2800" smtClean="0">
                <a:solidFill>
                  <a:srgbClr val="FF0000"/>
                </a:solidFill>
                <a:ea typeface="黑体" panose="02010609060101010101" pitchFamily="49" charset="-122"/>
              </a:rPr>
              <a:t>。</a:t>
            </a:r>
            <a:endParaRPr lang="en-US" altLang="zh-CN" sz="2800" smtClean="0">
              <a:solidFill>
                <a:srgbClr val="FF0000"/>
              </a:solidFill>
              <a:ea typeface="黑体" panose="02010609060101010101" pitchFamily="49" charset="-122"/>
            </a:endParaRPr>
          </a:p>
          <a:p>
            <a:r>
              <a:rPr lang="zh-CN" altLang="en-US" sz="2800" smtClean="0">
                <a:ea typeface="黑体" panose="02010609060101010101" pitchFamily="49" charset="-122"/>
              </a:rPr>
              <a:t>如图，</a:t>
            </a:r>
            <a:r>
              <a:rPr lang="zh-CN" altLang="zh-CN" sz="2800" smtClean="0">
                <a:ea typeface="黑体" panose="02010609060101010101" pitchFamily="49" charset="-122"/>
              </a:rPr>
              <a:t>假定开始</a:t>
            </a:r>
            <a:r>
              <a:rPr lang="zh-CN" altLang="en-US" sz="2800" smtClean="0">
                <a:ea typeface="黑体" panose="02010609060101010101" pitchFamily="49" charset="-122"/>
              </a:rPr>
              <a:t>时，</a:t>
            </a:r>
            <a:r>
              <a:rPr lang="zh-CN" altLang="zh-CN" sz="2800" smtClean="0">
                <a:ea typeface="黑体" panose="02010609060101010101" pitchFamily="49" charset="-122"/>
              </a:rPr>
              <a:t>交换机</a:t>
            </a:r>
            <a:r>
              <a:rPr lang="en-US" altLang="zh-CN" sz="2800" smtClean="0">
                <a:ea typeface="黑体" panose="02010609060101010101" pitchFamily="49" charset="-122"/>
              </a:rPr>
              <a:t> #1 </a:t>
            </a:r>
            <a:r>
              <a:rPr lang="zh-CN" altLang="en-US" sz="2800" smtClean="0">
                <a:ea typeface="黑体" panose="02010609060101010101" pitchFamily="49" charset="-122"/>
              </a:rPr>
              <a:t>和 </a:t>
            </a:r>
            <a:r>
              <a:rPr lang="en-US" altLang="zh-CN" sz="2800" smtClean="0">
                <a:ea typeface="黑体" panose="02010609060101010101" pitchFamily="49" charset="-122"/>
              </a:rPr>
              <a:t>#2 </a:t>
            </a:r>
            <a:r>
              <a:rPr lang="zh-CN" altLang="en-US" sz="2800" smtClean="0">
                <a:ea typeface="黑体" panose="02010609060101010101" pitchFamily="49" charset="-122"/>
              </a:rPr>
              <a:t>的交换表都是空的，</a:t>
            </a:r>
            <a:r>
              <a:rPr lang="zh-CN" altLang="zh-CN" sz="2800" smtClean="0">
                <a:ea typeface="黑体" panose="02010609060101010101" pitchFamily="49" charset="-122"/>
              </a:rPr>
              <a:t>主机</a:t>
            </a:r>
            <a:r>
              <a:rPr lang="en-US" altLang="zh-CN" sz="2800" smtClean="0">
                <a:ea typeface="黑体" panose="02010609060101010101" pitchFamily="49" charset="-122"/>
              </a:rPr>
              <a:t> A </a:t>
            </a:r>
            <a:r>
              <a:rPr lang="zh-CN" altLang="zh-CN" sz="2800" smtClean="0">
                <a:ea typeface="黑体" panose="02010609060101010101" pitchFamily="49" charset="-122"/>
              </a:rPr>
              <a:t>通过接口交换机</a:t>
            </a:r>
            <a:r>
              <a:rPr lang="en-US" altLang="zh-CN" sz="2800" smtClean="0">
                <a:ea typeface="黑体" panose="02010609060101010101" pitchFamily="49" charset="-122"/>
              </a:rPr>
              <a:t> #1 </a:t>
            </a:r>
            <a:r>
              <a:rPr lang="zh-CN" altLang="zh-CN" sz="2800" smtClean="0">
                <a:ea typeface="黑体" panose="02010609060101010101" pitchFamily="49" charset="-122"/>
              </a:rPr>
              <a:t>向主机</a:t>
            </a:r>
            <a:r>
              <a:rPr lang="en-US" altLang="zh-CN" sz="2800" smtClean="0">
                <a:ea typeface="黑体" panose="02010609060101010101" pitchFamily="49" charset="-122"/>
              </a:rPr>
              <a:t> B </a:t>
            </a:r>
            <a:r>
              <a:rPr lang="zh-CN" altLang="zh-CN" sz="2800" smtClean="0">
                <a:ea typeface="黑体" panose="02010609060101010101" pitchFamily="49" charset="-122"/>
              </a:rPr>
              <a:t>发送一帧。</a:t>
            </a:r>
            <a:endParaRPr lang="zh-CN" altLang="en-US" sz="2800" smtClean="0">
              <a:ea typeface="黑体" panose="02010609060101010101" pitchFamily="49" charset="-122"/>
            </a:endParaRPr>
          </a:p>
        </p:txBody>
      </p:sp>
      <p:grpSp>
        <p:nvGrpSpPr>
          <p:cNvPr id="628739" name="组合 6"/>
          <p:cNvGrpSpPr>
            <a:grpSpLocks/>
          </p:cNvGrpSpPr>
          <p:nvPr/>
        </p:nvGrpSpPr>
        <p:grpSpPr bwMode="auto">
          <a:xfrm>
            <a:off x="1047750" y="3463925"/>
            <a:ext cx="8412163" cy="2486025"/>
            <a:chOff x="1048542" y="3464664"/>
            <a:chExt cx="8411257" cy="2484616"/>
          </a:xfrm>
        </p:grpSpPr>
        <p:sp>
          <p:nvSpPr>
            <p:cNvPr id="52" name="矩形 51"/>
            <p:cNvSpPr/>
            <p:nvPr/>
          </p:nvSpPr>
          <p:spPr>
            <a:xfrm>
              <a:off x="2627935" y="4330948"/>
              <a:ext cx="1627012" cy="1535829"/>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53" name="直接连接符 52"/>
            <p:cNvCxnSpPr>
              <a:stCxn id="67" idx="3"/>
              <a:endCxn id="82" idx="1"/>
            </p:cNvCxnSpPr>
            <p:nvPr/>
          </p:nvCxnSpPr>
          <p:spPr>
            <a:xfrm>
              <a:off x="4254947" y="5409836"/>
              <a:ext cx="19730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7" idx="3"/>
              <a:endCxn id="628753" idx="1"/>
            </p:cNvCxnSpPr>
            <p:nvPr/>
          </p:nvCxnSpPr>
          <p:spPr>
            <a:xfrm flipV="1">
              <a:off x="1834270" y="5408250"/>
              <a:ext cx="814299" cy="334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28759" idx="3"/>
              <a:endCxn id="628768" idx="1"/>
            </p:cNvCxnSpPr>
            <p:nvPr/>
          </p:nvCxnSpPr>
          <p:spPr>
            <a:xfrm>
              <a:off x="4142247" y="4760917"/>
              <a:ext cx="208575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28759" idx="3"/>
              <a:endCxn id="628750" idx="1"/>
            </p:cNvCxnSpPr>
            <p:nvPr/>
          </p:nvCxnSpPr>
          <p:spPr>
            <a:xfrm>
              <a:off x="1954907" y="4654614"/>
              <a:ext cx="700012" cy="1063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8745" name="Rectangle 24"/>
            <p:cNvSpPr>
              <a:spLocks noChangeArrowheads="1"/>
            </p:cNvSpPr>
            <p:nvPr/>
          </p:nvSpPr>
          <p:spPr bwMode="auto">
            <a:xfrm>
              <a:off x="2668272"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#1</a:t>
              </a:r>
            </a:p>
          </p:txBody>
        </p:sp>
        <p:pic>
          <p:nvPicPr>
            <p:cNvPr id="628746"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47" name="Rectangle 34"/>
            <p:cNvSpPr>
              <a:spLocks noChangeArrowheads="1"/>
            </p:cNvSpPr>
            <p:nvPr/>
          </p:nvSpPr>
          <p:spPr bwMode="auto">
            <a:xfrm>
              <a:off x="1048542" y="4035261"/>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endParaRPr lang="en-US" altLang="zh-CN" sz="2400" b="1" baseline="-25000">
                <a:solidFill>
                  <a:srgbClr val="000099"/>
                </a:solidFill>
                <a:ea typeface="黑体" panose="02010609060101010101" pitchFamily="49" charset="-122"/>
              </a:endParaRPr>
            </a:p>
          </p:txBody>
        </p:sp>
        <p:grpSp>
          <p:nvGrpSpPr>
            <p:cNvPr id="628748" name="组合 57"/>
            <p:cNvGrpSpPr>
              <a:grpSpLocks/>
            </p:cNvGrpSpPr>
            <p:nvPr/>
          </p:nvGrpSpPr>
          <p:grpSpPr bwMode="auto">
            <a:xfrm>
              <a:off x="2628520" y="4531164"/>
              <a:ext cx="463493" cy="459101"/>
              <a:chOff x="2267744" y="1315667"/>
              <a:chExt cx="288032" cy="271591"/>
            </a:xfrm>
          </p:grpSpPr>
          <p:sp>
            <p:nvSpPr>
              <p:cNvPr id="61" name="矩形 60"/>
              <p:cNvSpPr/>
              <p:nvPr/>
            </p:nvSpPr>
            <p:spPr>
              <a:xfrm>
                <a:off x="2267380" y="1339890"/>
                <a:ext cx="288036" cy="2168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0" name="Rectangle 40"/>
              <p:cNvSpPr>
                <a:spLocks noChangeArrowheads="1"/>
              </p:cNvSpPr>
              <p:nvPr/>
            </p:nvSpPr>
            <p:spPr bwMode="auto">
              <a:xfrm>
                <a:off x="2283900" y="1315667"/>
                <a:ext cx="220154"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28751" name="组合 58"/>
            <p:cNvGrpSpPr>
              <a:grpSpLocks/>
            </p:cNvGrpSpPr>
            <p:nvPr/>
          </p:nvGrpSpPr>
          <p:grpSpPr bwMode="auto">
            <a:xfrm>
              <a:off x="2628520" y="5179237"/>
              <a:ext cx="463493" cy="459100"/>
              <a:chOff x="2267744" y="1311829"/>
              <a:chExt cx="288032" cy="272423"/>
            </a:xfrm>
          </p:grpSpPr>
          <p:sp>
            <p:nvSpPr>
              <p:cNvPr id="64" name="矩形 63"/>
              <p:cNvSpPr/>
              <p:nvPr/>
            </p:nvSpPr>
            <p:spPr>
              <a:xfrm>
                <a:off x="2267380" y="1340395"/>
                <a:ext cx="288036"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3" name="Rectangle 40"/>
              <p:cNvSpPr>
                <a:spLocks noChangeArrowheads="1"/>
              </p:cNvSpPr>
              <p:nvPr/>
            </p:nvSpPr>
            <p:spPr bwMode="auto">
              <a:xfrm>
                <a:off x="2280312" y="1311829"/>
                <a:ext cx="220154"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28754" name="组合 61"/>
            <p:cNvGrpSpPr>
              <a:grpSpLocks/>
            </p:cNvGrpSpPr>
            <p:nvPr/>
          </p:nvGrpSpPr>
          <p:grpSpPr bwMode="auto">
            <a:xfrm>
              <a:off x="3788534" y="5179237"/>
              <a:ext cx="466055" cy="459100"/>
              <a:chOff x="2267744" y="1311829"/>
              <a:chExt cx="288032" cy="272423"/>
            </a:xfrm>
          </p:grpSpPr>
          <p:sp>
            <p:nvSpPr>
              <p:cNvPr id="67" name="矩形 66"/>
              <p:cNvSpPr/>
              <p:nvPr/>
            </p:nvSpPr>
            <p:spPr>
              <a:xfrm>
                <a:off x="2267582" y="1340395"/>
                <a:ext cx="28841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6"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28757" name="组合 64"/>
            <p:cNvGrpSpPr>
              <a:grpSpLocks/>
            </p:cNvGrpSpPr>
            <p:nvPr/>
          </p:nvGrpSpPr>
          <p:grpSpPr bwMode="auto">
            <a:xfrm>
              <a:off x="3788534" y="4531164"/>
              <a:ext cx="466055" cy="459101"/>
              <a:chOff x="2267744" y="1315586"/>
              <a:chExt cx="288032" cy="271138"/>
            </a:xfrm>
          </p:grpSpPr>
          <p:sp>
            <p:nvSpPr>
              <p:cNvPr id="70" name="矩形 69"/>
              <p:cNvSpPr/>
              <p:nvPr/>
            </p:nvSpPr>
            <p:spPr>
              <a:xfrm>
                <a:off x="2267582" y="1339769"/>
                <a:ext cx="288415" cy="21738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59"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2876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61" name="Rectangle 34"/>
            <p:cNvSpPr>
              <a:spLocks noChangeArrowheads="1"/>
            </p:cNvSpPr>
            <p:nvPr/>
          </p:nvSpPr>
          <p:spPr bwMode="auto">
            <a:xfrm>
              <a:off x="1048542" y="5130140"/>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endParaRPr lang="en-US" altLang="zh-CN" sz="2400" b="1" baseline="-25000">
                <a:solidFill>
                  <a:srgbClr val="000099"/>
                </a:solidFill>
                <a:ea typeface="黑体" panose="02010609060101010101" pitchFamily="49" charset="-122"/>
              </a:endParaRPr>
            </a:p>
          </p:txBody>
        </p:sp>
        <p:sp>
          <p:nvSpPr>
            <p:cNvPr id="74" name="矩形 73"/>
            <p:cNvSpPr/>
            <p:nvPr/>
          </p:nvSpPr>
          <p:spPr>
            <a:xfrm>
              <a:off x="6227997" y="4330948"/>
              <a:ext cx="1627012" cy="1535829"/>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75" name="直接连接符 74"/>
            <p:cNvCxnSpPr>
              <a:stCxn id="628774" idx="3"/>
              <a:endCxn id="628750" idx="1"/>
            </p:cNvCxnSpPr>
            <p:nvPr/>
          </p:nvCxnSpPr>
          <p:spPr>
            <a:xfrm>
              <a:off x="7742309" y="5408250"/>
              <a:ext cx="807950" cy="334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28777" idx="3"/>
              <a:endCxn id="628750" idx="1"/>
            </p:cNvCxnSpPr>
            <p:nvPr/>
          </p:nvCxnSpPr>
          <p:spPr>
            <a:xfrm flipV="1">
              <a:off x="7742309" y="4654614"/>
              <a:ext cx="923825" cy="1063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8765" name="Rectangle 24"/>
            <p:cNvSpPr>
              <a:spLocks noChangeArrowheads="1"/>
            </p:cNvSpPr>
            <p:nvPr/>
          </p:nvSpPr>
          <p:spPr bwMode="auto">
            <a:xfrm>
              <a:off x="6267897"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#2</a:t>
              </a:r>
            </a:p>
          </p:txBody>
        </p:sp>
        <p:grpSp>
          <p:nvGrpSpPr>
            <p:cNvPr id="628766" name="组合 57"/>
            <p:cNvGrpSpPr>
              <a:grpSpLocks/>
            </p:cNvGrpSpPr>
            <p:nvPr/>
          </p:nvGrpSpPr>
          <p:grpSpPr bwMode="auto">
            <a:xfrm>
              <a:off x="6228145" y="4531164"/>
              <a:ext cx="463495" cy="459101"/>
              <a:chOff x="2267744" y="1315667"/>
              <a:chExt cx="288032" cy="271591"/>
            </a:xfrm>
          </p:grpSpPr>
          <p:sp>
            <p:nvSpPr>
              <p:cNvPr id="79" name="矩形 78"/>
              <p:cNvSpPr/>
              <p:nvPr/>
            </p:nvSpPr>
            <p:spPr>
              <a:xfrm>
                <a:off x="2267652" y="1339890"/>
                <a:ext cx="288035" cy="216814"/>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68" name="Rectangle 40"/>
              <p:cNvSpPr>
                <a:spLocks noChangeArrowheads="1"/>
              </p:cNvSpPr>
              <p:nvPr/>
            </p:nvSpPr>
            <p:spPr bwMode="auto">
              <a:xfrm>
                <a:off x="2267744" y="1315667"/>
                <a:ext cx="220153"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28769" name="组合 58"/>
            <p:cNvGrpSpPr>
              <a:grpSpLocks/>
            </p:cNvGrpSpPr>
            <p:nvPr/>
          </p:nvGrpSpPr>
          <p:grpSpPr bwMode="auto">
            <a:xfrm>
              <a:off x="6228145" y="5179237"/>
              <a:ext cx="463495" cy="459100"/>
              <a:chOff x="2267744" y="1311829"/>
              <a:chExt cx="288032" cy="272423"/>
            </a:xfrm>
          </p:grpSpPr>
          <p:sp>
            <p:nvSpPr>
              <p:cNvPr id="82" name="矩形 81"/>
              <p:cNvSpPr/>
              <p:nvPr/>
            </p:nvSpPr>
            <p:spPr>
              <a:xfrm>
                <a:off x="2267652" y="1340395"/>
                <a:ext cx="28803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1" name="Rectangle 40"/>
              <p:cNvSpPr>
                <a:spLocks noChangeArrowheads="1"/>
              </p:cNvSpPr>
              <p:nvPr/>
            </p:nvSpPr>
            <p:spPr bwMode="auto">
              <a:xfrm>
                <a:off x="2267744" y="1311829"/>
                <a:ext cx="22015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28772" name="组合 61"/>
            <p:cNvGrpSpPr>
              <a:grpSpLocks/>
            </p:cNvGrpSpPr>
            <p:nvPr/>
          </p:nvGrpSpPr>
          <p:grpSpPr bwMode="auto">
            <a:xfrm>
              <a:off x="7388161" y="5179237"/>
              <a:ext cx="466055" cy="459100"/>
              <a:chOff x="2267744" y="1311829"/>
              <a:chExt cx="288032" cy="272423"/>
            </a:xfrm>
          </p:grpSpPr>
          <p:sp>
            <p:nvSpPr>
              <p:cNvPr id="85" name="矩形 84"/>
              <p:cNvSpPr/>
              <p:nvPr/>
            </p:nvSpPr>
            <p:spPr>
              <a:xfrm>
                <a:off x="2267851" y="1340395"/>
                <a:ext cx="288415" cy="216537"/>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4"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28775" name="组合 64"/>
            <p:cNvGrpSpPr>
              <a:grpSpLocks/>
            </p:cNvGrpSpPr>
            <p:nvPr/>
          </p:nvGrpSpPr>
          <p:grpSpPr bwMode="auto">
            <a:xfrm>
              <a:off x="7388161" y="4531164"/>
              <a:ext cx="466055" cy="459101"/>
              <a:chOff x="2267744" y="1315586"/>
              <a:chExt cx="288032" cy="271138"/>
            </a:xfrm>
          </p:grpSpPr>
          <p:sp>
            <p:nvSpPr>
              <p:cNvPr id="88" name="矩形 87"/>
              <p:cNvSpPr/>
              <p:nvPr/>
            </p:nvSpPr>
            <p:spPr>
              <a:xfrm>
                <a:off x="2267851" y="1339769"/>
                <a:ext cx="288415" cy="217389"/>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28777"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2877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79" name="Rectangle 34"/>
            <p:cNvSpPr>
              <a:spLocks noChangeArrowheads="1"/>
            </p:cNvSpPr>
            <p:nvPr/>
          </p:nvSpPr>
          <p:spPr bwMode="auto">
            <a:xfrm>
              <a:off x="9054237" y="5130140"/>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endParaRPr lang="en-US" altLang="zh-CN" sz="2400" b="1" baseline="-25000">
                <a:solidFill>
                  <a:srgbClr val="000099"/>
                </a:solidFill>
                <a:ea typeface="黑体" panose="02010609060101010101" pitchFamily="49" charset="-122"/>
              </a:endParaRPr>
            </a:p>
          </p:txBody>
        </p:sp>
        <p:pic>
          <p:nvPicPr>
            <p:cNvPr id="628780"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8781" name="Rectangle 34"/>
            <p:cNvSpPr>
              <a:spLocks noChangeArrowheads="1"/>
            </p:cNvSpPr>
            <p:nvPr/>
          </p:nvSpPr>
          <p:spPr bwMode="auto">
            <a:xfrm>
              <a:off x="9054237" y="4035261"/>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endParaRPr lang="en-US" altLang="zh-CN" sz="2400" b="1" baseline="-25000">
                <a:solidFill>
                  <a:srgbClr val="000099"/>
                </a:solidFill>
                <a:ea typeface="黑体" panose="02010609060101010101" pitchFamily="49" charset="-122"/>
              </a:endParaRPr>
            </a:p>
          </p:txBody>
        </p:sp>
      </p:grpSp>
      <p:sp>
        <p:nvSpPr>
          <p:cNvPr id="62878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E8F043-B849-411F-ADCA-A18B3CA5B482}" type="slidenum">
              <a:rPr lang="zh-CN" altLang="en-US" smtClean="0"/>
              <a:pPr eaLnBrk="1" hangingPunct="1"/>
              <a:t>43</a:t>
            </a:fld>
            <a:endParaRPr lang="en-US" altLang="zh-CN" smtClean="0"/>
          </a:p>
        </p:txBody>
      </p:sp>
      <p:sp>
        <p:nvSpPr>
          <p:cNvPr id="62878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30786" name="Rectangle 2"/>
          <p:cNvSpPr>
            <a:spLocks noGrp="1" noChangeArrowheads="1"/>
          </p:cNvSpPr>
          <p:nvPr>
            <p:ph idx="1"/>
          </p:nvPr>
        </p:nvSpPr>
        <p:spPr>
          <a:xfrm>
            <a:off x="495300" y="1196975"/>
            <a:ext cx="9066213" cy="4933950"/>
          </a:xfrm>
        </p:spPr>
        <p:txBody>
          <a:bodyPr/>
          <a:lstStyle/>
          <a:p>
            <a:r>
              <a:rPr lang="zh-CN" altLang="en-US" sz="2600" smtClean="0">
                <a:ea typeface="黑体" panose="02010609060101010101" pitchFamily="49" charset="-122"/>
              </a:rPr>
              <a:t>按交换机自学习和转发方法，该</a:t>
            </a:r>
            <a:r>
              <a:rPr lang="zh-CN" altLang="zh-CN" sz="2600" smtClean="0">
                <a:ea typeface="黑体" panose="02010609060101010101" pitchFamily="49" charset="-122"/>
              </a:rPr>
              <a:t>帧的</a:t>
            </a:r>
            <a:r>
              <a:rPr lang="zh-CN" altLang="en-US" sz="2600" smtClean="0">
                <a:ea typeface="黑体" panose="02010609060101010101" pitchFamily="49" charset="-122"/>
              </a:rPr>
              <a:t>某个</a:t>
            </a:r>
            <a:r>
              <a:rPr lang="zh-CN" altLang="zh-CN" sz="2600" smtClean="0">
                <a:ea typeface="黑体" panose="02010609060101010101" pitchFamily="49" charset="-122"/>
              </a:rPr>
              <a:t>走向</a:t>
            </a:r>
            <a:r>
              <a:rPr lang="zh-CN" altLang="en-US" sz="2600" smtClean="0">
                <a:ea typeface="黑体" panose="02010609060101010101" pitchFamily="49" charset="-122"/>
              </a:rPr>
              <a:t>如下</a:t>
            </a:r>
            <a:r>
              <a:rPr lang="zh-CN" altLang="zh-CN" sz="2600" smtClean="0">
                <a:ea typeface="黑体" panose="02010609060101010101" pitchFamily="49" charset="-122"/>
              </a:rPr>
              <a:t>：离开交换机</a:t>
            </a:r>
            <a:r>
              <a:rPr lang="en-US" altLang="zh-CN" sz="2600" smtClean="0">
                <a:ea typeface="黑体" panose="02010609060101010101" pitchFamily="49" charset="-122"/>
              </a:rPr>
              <a:t> #1 </a:t>
            </a:r>
            <a:r>
              <a:rPr lang="zh-CN" altLang="zh-CN" sz="2600" smtClean="0">
                <a:ea typeface="黑体" panose="02010609060101010101" pitchFamily="49" charset="-122"/>
              </a:rPr>
              <a:t>的接口</a:t>
            </a:r>
            <a:r>
              <a:rPr lang="en-US" altLang="zh-CN" sz="2600" smtClean="0">
                <a:ea typeface="黑体" panose="02010609060101010101" pitchFamily="49" charset="-122"/>
              </a:rPr>
              <a:t> 3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#2 </a:t>
            </a:r>
            <a:r>
              <a:rPr lang="zh-CN" altLang="zh-CN" sz="2600" smtClean="0">
                <a:ea typeface="黑体" panose="02010609060101010101" pitchFamily="49" charset="-122"/>
              </a:rPr>
              <a:t>的接口</a:t>
            </a:r>
            <a:r>
              <a:rPr lang="en-US" altLang="zh-CN" sz="2600" smtClean="0">
                <a:ea typeface="黑体" panose="02010609060101010101" pitchFamily="49" charset="-122"/>
              </a:rPr>
              <a:t> 1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接口</a:t>
            </a:r>
            <a:r>
              <a:rPr lang="en-US" altLang="zh-CN" sz="2600" smtClean="0">
                <a:ea typeface="黑体" panose="02010609060101010101" pitchFamily="49" charset="-122"/>
              </a:rPr>
              <a:t> 2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#1 </a:t>
            </a:r>
            <a:r>
              <a:rPr lang="zh-CN" altLang="zh-CN" sz="2600" smtClean="0">
                <a:ea typeface="黑体" panose="02010609060101010101" pitchFamily="49" charset="-122"/>
              </a:rPr>
              <a:t>的接口</a:t>
            </a:r>
            <a:r>
              <a:rPr lang="en-US" altLang="zh-CN" sz="2600" smtClean="0">
                <a:ea typeface="黑体" panose="02010609060101010101" pitchFamily="49" charset="-122"/>
              </a:rPr>
              <a:t> 4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接口</a:t>
            </a:r>
            <a:r>
              <a:rPr lang="en-US" altLang="zh-CN" sz="2600" smtClean="0">
                <a:ea typeface="黑体" panose="02010609060101010101" pitchFamily="49" charset="-122"/>
              </a:rPr>
              <a:t> 3 </a:t>
            </a:r>
            <a:r>
              <a:rPr lang="zh-CN" altLang="zh-CN" sz="2600" smtClean="0">
                <a:ea typeface="黑体" panose="02010609060101010101" pitchFamily="49" charset="-122"/>
              </a:rPr>
              <a:t>→</a:t>
            </a:r>
            <a:r>
              <a:rPr lang="en-US" altLang="zh-CN" sz="2600" smtClean="0">
                <a:ea typeface="黑体" panose="02010609060101010101" pitchFamily="49" charset="-122"/>
              </a:rPr>
              <a:t> </a:t>
            </a:r>
            <a:r>
              <a:rPr lang="zh-CN" altLang="zh-CN" sz="2600" smtClean="0">
                <a:ea typeface="黑体" panose="02010609060101010101" pitchFamily="49" charset="-122"/>
              </a:rPr>
              <a:t>交换机</a:t>
            </a:r>
            <a:r>
              <a:rPr lang="en-US" altLang="zh-CN" sz="2600" smtClean="0">
                <a:ea typeface="黑体" panose="02010609060101010101" pitchFamily="49" charset="-122"/>
              </a:rPr>
              <a:t> #2 </a:t>
            </a:r>
            <a:r>
              <a:rPr lang="zh-CN" altLang="zh-CN" sz="2600" smtClean="0">
                <a:ea typeface="黑体" panose="02010609060101010101" pitchFamily="49" charset="-122"/>
              </a:rPr>
              <a:t>的接口</a:t>
            </a:r>
            <a:r>
              <a:rPr lang="en-US" altLang="zh-CN" sz="2600" smtClean="0">
                <a:ea typeface="黑体" panose="02010609060101010101" pitchFamily="49" charset="-122"/>
              </a:rPr>
              <a:t> 1 </a:t>
            </a:r>
            <a:r>
              <a:rPr lang="zh-CN" altLang="zh-CN" sz="2600" smtClean="0">
                <a:ea typeface="黑体" panose="02010609060101010101" pitchFamily="49" charset="-122"/>
              </a:rPr>
              <a:t>→</a:t>
            </a:r>
            <a:r>
              <a:rPr lang="en-US" altLang="zh-CN" sz="2600" smtClean="0">
                <a:ea typeface="黑体" panose="02010609060101010101" pitchFamily="49" charset="-122"/>
              </a:rPr>
              <a:t>……</a:t>
            </a:r>
            <a:r>
              <a:rPr lang="zh-CN" altLang="zh-CN" sz="2600" smtClean="0">
                <a:ea typeface="黑体" panose="02010609060101010101" pitchFamily="49" charset="-122"/>
              </a:rPr>
              <a:t>。</a:t>
            </a:r>
            <a:r>
              <a:rPr lang="zh-CN" altLang="zh-CN" sz="2600" smtClean="0">
                <a:solidFill>
                  <a:srgbClr val="FF0000"/>
                </a:solidFill>
                <a:ea typeface="黑体" panose="02010609060101010101" pitchFamily="49" charset="-122"/>
              </a:rPr>
              <a:t>这样就无限制地循环兜圈子下去，白白消耗了网络资源。</a:t>
            </a:r>
            <a:endParaRPr lang="zh-CN" altLang="en-US" sz="2600" smtClean="0">
              <a:solidFill>
                <a:srgbClr val="FF0000"/>
              </a:solidFill>
              <a:ea typeface="黑体" panose="02010609060101010101" pitchFamily="49" charset="-122"/>
            </a:endParaRPr>
          </a:p>
        </p:txBody>
      </p:sp>
      <p:grpSp>
        <p:nvGrpSpPr>
          <p:cNvPr id="630787" name="组合 1"/>
          <p:cNvGrpSpPr>
            <a:grpSpLocks/>
          </p:cNvGrpSpPr>
          <p:nvPr/>
        </p:nvGrpSpPr>
        <p:grpSpPr bwMode="auto">
          <a:xfrm>
            <a:off x="920750" y="3068638"/>
            <a:ext cx="8410575" cy="2484437"/>
            <a:chOff x="1048542" y="3464664"/>
            <a:chExt cx="8411257" cy="2484616"/>
          </a:xfrm>
        </p:grpSpPr>
        <p:sp>
          <p:nvSpPr>
            <p:cNvPr id="52" name="矩形 51"/>
            <p:cNvSpPr/>
            <p:nvPr/>
          </p:nvSpPr>
          <p:spPr>
            <a:xfrm>
              <a:off x="2628233" y="4331501"/>
              <a:ext cx="1625732" cy="153522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53" name="直接连接符 52"/>
            <p:cNvCxnSpPr>
              <a:stCxn id="67" idx="3"/>
              <a:endCxn id="82" idx="1"/>
            </p:cNvCxnSpPr>
            <p:nvPr/>
          </p:nvCxnSpPr>
          <p:spPr>
            <a:xfrm>
              <a:off x="4253965" y="5409491"/>
              <a:ext cx="197342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67" idx="3"/>
              <a:endCxn id="630801" idx="1"/>
            </p:cNvCxnSpPr>
            <p:nvPr/>
          </p:nvCxnSpPr>
          <p:spPr>
            <a:xfrm flipV="1">
              <a:off x="1834419" y="5409491"/>
              <a:ext cx="814453" cy="333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630807" idx="3"/>
              <a:endCxn id="630816" idx="1"/>
            </p:cNvCxnSpPr>
            <p:nvPr/>
          </p:nvCxnSpPr>
          <p:spPr>
            <a:xfrm>
              <a:off x="4142831" y="4760157"/>
              <a:ext cx="2084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630807" idx="3"/>
              <a:endCxn id="630798" idx="1"/>
            </p:cNvCxnSpPr>
            <p:nvPr/>
          </p:nvCxnSpPr>
          <p:spPr>
            <a:xfrm>
              <a:off x="1955079" y="4655375"/>
              <a:ext cx="700144" cy="104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793" name="Rectangle 24"/>
            <p:cNvSpPr>
              <a:spLocks noChangeArrowheads="1"/>
            </p:cNvSpPr>
            <p:nvPr/>
          </p:nvSpPr>
          <p:spPr bwMode="auto">
            <a:xfrm>
              <a:off x="2668272"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#1</a:t>
              </a:r>
            </a:p>
          </p:txBody>
        </p:sp>
        <p:pic>
          <p:nvPicPr>
            <p:cNvPr id="630794"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795" name="Rectangle 34"/>
            <p:cNvSpPr>
              <a:spLocks noChangeArrowheads="1"/>
            </p:cNvSpPr>
            <p:nvPr/>
          </p:nvSpPr>
          <p:spPr bwMode="auto">
            <a:xfrm>
              <a:off x="1048542" y="4057306"/>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A</a:t>
              </a:r>
              <a:endParaRPr lang="en-US" altLang="zh-CN" sz="2400" b="1" baseline="-25000">
                <a:solidFill>
                  <a:srgbClr val="000099"/>
                </a:solidFill>
                <a:ea typeface="黑体" panose="02010609060101010101" pitchFamily="49" charset="-122"/>
              </a:endParaRPr>
            </a:p>
          </p:txBody>
        </p:sp>
        <p:grpSp>
          <p:nvGrpSpPr>
            <p:cNvPr id="630796" name="组合 57"/>
            <p:cNvGrpSpPr>
              <a:grpSpLocks/>
            </p:cNvGrpSpPr>
            <p:nvPr/>
          </p:nvGrpSpPr>
          <p:grpSpPr bwMode="auto">
            <a:xfrm>
              <a:off x="2628520" y="4531164"/>
              <a:ext cx="463493" cy="459101"/>
              <a:chOff x="2267744" y="1315667"/>
              <a:chExt cx="288032" cy="271591"/>
            </a:xfrm>
          </p:grpSpPr>
          <p:sp>
            <p:nvSpPr>
              <p:cNvPr id="61" name="矩形 60"/>
              <p:cNvSpPr/>
              <p:nvPr/>
            </p:nvSpPr>
            <p:spPr>
              <a:xfrm>
                <a:off x="2267566" y="1340309"/>
                <a:ext cx="288091" cy="21601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798" name="Rectangle 40"/>
              <p:cNvSpPr>
                <a:spLocks noChangeArrowheads="1"/>
              </p:cNvSpPr>
              <p:nvPr/>
            </p:nvSpPr>
            <p:spPr bwMode="auto">
              <a:xfrm>
                <a:off x="2283900" y="1315667"/>
                <a:ext cx="220154"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30799" name="组合 58"/>
            <p:cNvGrpSpPr>
              <a:grpSpLocks/>
            </p:cNvGrpSpPr>
            <p:nvPr/>
          </p:nvGrpSpPr>
          <p:grpSpPr bwMode="auto">
            <a:xfrm>
              <a:off x="2628520" y="5179237"/>
              <a:ext cx="463493" cy="459100"/>
              <a:chOff x="2267744" y="1311829"/>
              <a:chExt cx="288032" cy="272423"/>
            </a:xfrm>
          </p:grpSpPr>
          <p:sp>
            <p:nvSpPr>
              <p:cNvPr id="64" name="矩形 63"/>
              <p:cNvSpPr/>
              <p:nvPr/>
            </p:nvSpPr>
            <p:spPr>
              <a:xfrm>
                <a:off x="2267566" y="1340121"/>
                <a:ext cx="288091"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1" name="Rectangle 40"/>
              <p:cNvSpPr>
                <a:spLocks noChangeArrowheads="1"/>
              </p:cNvSpPr>
              <p:nvPr/>
            </p:nvSpPr>
            <p:spPr bwMode="auto">
              <a:xfrm>
                <a:off x="2280312" y="1311829"/>
                <a:ext cx="220154"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30802" name="组合 61"/>
            <p:cNvGrpSpPr>
              <a:grpSpLocks/>
            </p:cNvGrpSpPr>
            <p:nvPr/>
          </p:nvGrpSpPr>
          <p:grpSpPr bwMode="auto">
            <a:xfrm>
              <a:off x="3788534" y="5179237"/>
              <a:ext cx="466055" cy="459100"/>
              <a:chOff x="2267744" y="1311829"/>
              <a:chExt cx="288032" cy="272423"/>
            </a:xfrm>
          </p:grpSpPr>
          <p:sp>
            <p:nvSpPr>
              <p:cNvPr id="67" name="矩形 66"/>
              <p:cNvSpPr/>
              <p:nvPr/>
            </p:nvSpPr>
            <p:spPr>
              <a:xfrm>
                <a:off x="2267902" y="1340121"/>
                <a:ext cx="287489"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4"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30805" name="组合 64"/>
            <p:cNvGrpSpPr>
              <a:grpSpLocks/>
            </p:cNvGrpSpPr>
            <p:nvPr/>
          </p:nvGrpSpPr>
          <p:grpSpPr bwMode="auto">
            <a:xfrm>
              <a:off x="3788534" y="4531164"/>
              <a:ext cx="466055" cy="459101"/>
              <a:chOff x="2267744" y="1315586"/>
              <a:chExt cx="288032" cy="271138"/>
            </a:xfrm>
          </p:grpSpPr>
          <p:sp>
            <p:nvSpPr>
              <p:cNvPr id="70" name="矩形 69"/>
              <p:cNvSpPr/>
              <p:nvPr/>
            </p:nvSpPr>
            <p:spPr>
              <a:xfrm>
                <a:off x="2267902" y="1340187"/>
                <a:ext cx="287489" cy="21752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07"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3080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09" name="Rectangle 34"/>
            <p:cNvSpPr>
              <a:spLocks noChangeArrowheads="1"/>
            </p:cNvSpPr>
            <p:nvPr/>
          </p:nvSpPr>
          <p:spPr bwMode="auto">
            <a:xfrm>
              <a:off x="1048542" y="5152185"/>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C</a:t>
              </a:r>
              <a:endParaRPr lang="en-US" altLang="zh-CN" sz="2400" b="1" baseline="-25000">
                <a:solidFill>
                  <a:srgbClr val="000099"/>
                </a:solidFill>
                <a:ea typeface="黑体" panose="02010609060101010101" pitchFamily="49" charset="-122"/>
              </a:endParaRPr>
            </a:p>
          </p:txBody>
        </p:sp>
        <p:sp>
          <p:nvSpPr>
            <p:cNvPr id="74" name="矩形 73"/>
            <p:cNvSpPr/>
            <p:nvPr/>
          </p:nvSpPr>
          <p:spPr>
            <a:xfrm>
              <a:off x="6227387" y="4331501"/>
              <a:ext cx="1627320" cy="1535223"/>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r>
                <a:rPr lang="en-US" altLang="zh-CN" sz="2400" b="1" noProof="1">
                  <a:solidFill>
                    <a:srgbClr val="000099"/>
                  </a:solidFill>
                  <a:ea typeface="黑体" panose="02010609060101010101" pitchFamily="2" charset="-122"/>
                </a:rPr>
                <a:t> </a:t>
              </a:r>
              <a:endParaRPr lang="zh-CN" altLang="en-US" sz="2400" b="1" noProof="1">
                <a:solidFill>
                  <a:srgbClr val="000099"/>
                </a:solidFill>
                <a:ea typeface="黑体" panose="02010609060101010101" pitchFamily="2" charset="-122"/>
              </a:endParaRPr>
            </a:p>
          </p:txBody>
        </p:sp>
        <p:cxnSp>
          <p:nvCxnSpPr>
            <p:cNvPr id="75" name="直接连接符 74"/>
            <p:cNvCxnSpPr>
              <a:stCxn id="630822" idx="3"/>
              <a:endCxn id="630798" idx="1"/>
            </p:cNvCxnSpPr>
            <p:nvPr/>
          </p:nvCxnSpPr>
          <p:spPr>
            <a:xfrm>
              <a:off x="7741985" y="5409491"/>
              <a:ext cx="808104" cy="3333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630825" idx="3"/>
              <a:endCxn id="630798" idx="1"/>
            </p:cNvCxnSpPr>
            <p:nvPr/>
          </p:nvCxnSpPr>
          <p:spPr>
            <a:xfrm flipV="1">
              <a:off x="7741985" y="4655375"/>
              <a:ext cx="924000" cy="104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813" name="Rectangle 24"/>
            <p:cNvSpPr>
              <a:spLocks noChangeArrowheads="1"/>
            </p:cNvSpPr>
            <p:nvPr/>
          </p:nvSpPr>
          <p:spPr bwMode="auto">
            <a:xfrm>
              <a:off x="6267897" y="3464664"/>
              <a:ext cx="153888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solidFill>
                    <a:srgbClr val="000099"/>
                  </a:solidFill>
                  <a:ea typeface="黑体" panose="02010609060101010101" pitchFamily="49" charset="-122"/>
                </a:rPr>
                <a:t>以太网</a:t>
              </a:r>
              <a:endParaRPr lang="en-US" altLang="zh-CN" sz="2400" b="1">
                <a:solidFill>
                  <a:srgbClr val="000099"/>
                </a:solidFill>
                <a:ea typeface="黑体" panose="02010609060101010101" pitchFamily="49" charset="-122"/>
              </a:endParaRPr>
            </a:p>
            <a:p>
              <a:pPr algn="ctr"/>
              <a:r>
                <a:rPr lang="zh-CN" altLang="en-US" sz="2400" b="1">
                  <a:solidFill>
                    <a:srgbClr val="000099"/>
                  </a:solidFill>
                  <a:ea typeface="黑体" panose="02010609060101010101" pitchFamily="49" charset="-122"/>
                </a:rPr>
                <a:t>交换机 </a:t>
              </a:r>
              <a:r>
                <a:rPr lang="en-US" altLang="zh-CN" sz="2400" b="1">
                  <a:solidFill>
                    <a:srgbClr val="000099"/>
                  </a:solidFill>
                  <a:ea typeface="黑体" panose="02010609060101010101" pitchFamily="49" charset="-122"/>
                </a:rPr>
                <a:t>#2</a:t>
              </a:r>
            </a:p>
          </p:txBody>
        </p:sp>
        <p:grpSp>
          <p:nvGrpSpPr>
            <p:cNvPr id="630814" name="组合 57"/>
            <p:cNvGrpSpPr>
              <a:grpSpLocks/>
            </p:cNvGrpSpPr>
            <p:nvPr/>
          </p:nvGrpSpPr>
          <p:grpSpPr bwMode="auto">
            <a:xfrm>
              <a:off x="6228145" y="4531164"/>
              <a:ext cx="463495" cy="459101"/>
              <a:chOff x="2267744" y="1315667"/>
              <a:chExt cx="288032" cy="271591"/>
            </a:xfrm>
          </p:grpSpPr>
          <p:sp>
            <p:nvSpPr>
              <p:cNvPr id="79" name="矩形 78"/>
              <p:cNvSpPr/>
              <p:nvPr/>
            </p:nvSpPr>
            <p:spPr>
              <a:xfrm>
                <a:off x="2267273" y="1340309"/>
                <a:ext cx="288090" cy="216013"/>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16" name="Rectangle 40"/>
              <p:cNvSpPr>
                <a:spLocks noChangeArrowheads="1"/>
              </p:cNvSpPr>
              <p:nvPr/>
            </p:nvSpPr>
            <p:spPr bwMode="auto">
              <a:xfrm>
                <a:off x="2267744" y="1315667"/>
                <a:ext cx="220153" cy="27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1</a:t>
                </a:r>
                <a:endParaRPr lang="en-US" altLang="zh-CN" sz="2400" b="1" baseline="-25000">
                  <a:solidFill>
                    <a:srgbClr val="000099"/>
                  </a:solidFill>
                  <a:ea typeface="黑体" panose="02010609060101010101" pitchFamily="49" charset="-122"/>
                </a:endParaRPr>
              </a:p>
            </p:txBody>
          </p:sp>
        </p:grpSp>
        <p:grpSp>
          <p:nvGrpSpPr>
            <p:cNvPr id="630817" name="组合 58"/>
            <p:cNvGrpSpPr>
              <a:grpSpLocks/>
            </p:cNvGrpSpPr>
            <p:nvPr/>
          </p:nvGrpSpPr>
          <p:grpSpPr bwMode="auto">
            <a:xfrm>
              <a:off x="6228145" y="5179237"/>
              <a:ext cx="463495" cy="459100"/>
              <a:chOff x="2267744" y="1311829"/>
              <a:chExt cx="288032" cy="272423"/>
            </a:xfrm>
          </p:grpSpPr>
          <p:sp>
            <p:nvSpPr>
              <p:cNvPr id="82" name="矩形 81"/>
              <p:cNvSpPr/>
              <p:nvPr/>
            </p:nvSpPr>
            <p:spPr>
              <a:xfrm>
                <a:off x="2267273" y="1340121"/>
                <a:ext cx="288090"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19" name="Rectangle 40"/>
              <p:cNvSpPr>
                <a:spLocks noChangeArrowheads="1"/>
              </p:cNvSpPr>
              <p:nvPr/>
            </p:nvSpPr>
            <p:spPr bwMode="auto">
              <a:xfrm>
                <a:off x="2267744" y="1311829"/>
                <a:ext cx="22015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2</a:t>
                </a:r>
                <a:endParaRPr lang="en-US" altLang="zh-CN" sz="2400" b="1" baseline="-25000">
                  <a:solidFill>
                    <a:srgbClr val="000099"/>
                  </a:solidFill>
                  <a:ea typeface="黑体" panose="02010609060101010101" pitchFamily="49" charset="-122"/>
                </a:endParaRPr>
              </a:p>
            </p:txBody>
          </p:sp>
        </p:grpSp>
        <p:grpSp>
          <p:nvGrpSpPr>
            <p:cNvPr id="630820" name="组合 61"/>
            <p:cNvGrpSpPr>
              <a:grpSpLocks/>
            </p:cNvGrpSpPr>
            <p:nvPr/>
          </p:nvGrpSpPr>
          <p:grpSpPr bwMode="auto">
            <a:xfrm>
              <a:off x="7388161" y="5179237"/>
              <a:ext cx="466055" cy="459100"/>
              <a:chOff x="2267744" y="1311829"/>
              <a:chExt cx="288032" cy="272423"/>
            </a:xfrm>
          </p:grpSpPr>
          <p:sp>
            <p:nvSpPr>
              <p:cNvPr id="85" name="矩形 84"/>
              <p:cNvSpPr/>
              <p:nvPr/>
            </p:nvSpPr>
            <p:spPr>
              <a:xfrm>
                <a:off x="2267610" y="1340121"/>
                <a:ext cx="288470" cy="21667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22" name="Rectangle 40"/>
              <p:cNvSpPr>
                <a:spLocks noChangeArrowheads="1"/>
              </p:cNvSpPr>
              <p:nvPr/>
            </p:nvSpPr>
            <p:spPr bwMode="auto">
              <a:xfrm>
                <a:off x="2267744" y="1311829"/>
                <a:ext cx="218943" cy="272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4</a:t>
                </a:r>
                <a:endParaRPr lang="en-US" altLang="zh-CN" sz="2400" b="1" baseline="-25000">
                  <a:solidFill>
                    <a:srgbClr val="000099"/>
                  </a:solidFill>
                  <a:ea typeface="黑体" panose="02010609060101010101" pitchFamily="49" charset="-122"/>
                </a:endParaRPr>
              </a:p>
            </p:txBody>
          </p:sp>
        </p:grpSp>
        <p:grpSp>
          <p:nvGrpSpPr>
            <p:cNvPr id="630823" name="组合 64"/>
            <p:cNvGrpSpPr>
              <a:grpSpLocks/>
            </p:cNvGrpSpPr>
            <p:nvPr/>
          </p:nvGrpSpPr>
          <p:grpSpPr bwMode="auto">
            <a:xfrm>
              <a:off x="7388161" y="4531164"/>
              <a:ext cx="466055" cy="459101"/>
              <a:chOff x="2267744" y="1315586"/>
              <a:chExt cx="288032" cy="271138"/>
            </a:xfrm>
          </p:grpSpPr>
          <p:sp>
            <p:nvSpPr>
              <p:cNvPr id="88" name="矩形 87"/>
              <p:cNvSpPr/>
              <p:nvPr/>
            </p:nvSpPr>
            <p:spPr>
              <a:xfrm>
                <a:off x="2267610" y="1340187"/>
                <a:ext cx="288470" cy="217528"/>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2400" b="1" noProof="1">
                  <a:ln>
                    <a:prstDash val="solid"/>
                  </a:ln>
                  <a:solidFill>
                    <a:srgbClr val="000099"/>
                  </a:solidFill>
                  <a:effectLst>
                    <a:outerShdw blurRad="88000" dist="50800" dir="5040000" algn="tl">
                      <a:schemeClr val="accent4">
                        <a:tint val="80000"/>
                        <a:satMod val="250000"/>
                        <a:alpha val="45000"/>
                      </a:schemeClr>
                    </a:outerShdw>
                  </a:effectLst>
                  <a:ea typeface="黑体" panose="02010609060101010101" pitchFamily="2" charset="-122"/>
                </a:endParaRPr>
              </a:p>
            </p:txBody>
          </p:sp>
          <p:sp>
            <p:nvSpPr>
              <p:cNvPr id="630825" name="Rectangle 40"/>
              <p:cNvSpPr>
                <a:spLocks noChangeArrowheads="1"/>
              </p:cNvSpPr>
              <p:nvPr/>
            </p:nvSpPr>
            <p:spPr bwMode="auto">
              <a:xfrm>
                <a:off x="2267744" y="1315586"/>
                <a:ext cx="218943" cy="27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3</a:t>
                </a:r>
                <a:endParaRPr lang="en-US" altLang="zh-CN" sz="2400" b="1" baseline="-25000">
                  <a:solidFill>
                    <a:srgbClr val="000099"/>
                  </a:solidFill>
                  <a:ea typeface="黑体" panose="02010609060101010101" pitchFamily="49" charset="-122"/>
                </a:endParaRPr>
              </a:p>
            </p:txBody>
          </p:sp>
        </p:grpSp>
        <p:pic>
          <p:nvPicPr>
            <p:cNvPr id="630826"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27" name="Rectangle 34"/>
            <p:cNvSpPr>
              <a:spLocks noChangeArrowheads="1"/>
            </p:cNvSpPr>
            <p:nvPr/>
          </p:nvSpPr>
          <p:spPr bwMode="auto">
            <a:xfrm>
              <a:off x="9054237" y="5101285"/>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D</a:t>
              </a:r>
              <a:endParaRPr lang="en-US" altLang="zh-CN" sz="2400" b="1" baseline="-25000">
                <a:solidFill>
                  <a:srgbClr val="000099"/>
                </a:solidFill>
                <a:ea typeface="黑体" panose="02010609060101010101" pitchFamily="49" charset="-122"/>
              </a:endParaRPr>
            </a:p>
          </p:txBody>
        </p:sp>
        <p:pic>
          <p:nvPicPr>
            <p:cNvPr id="630828" name="Picture 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0829" name="Rectangle 34"/>
            <p:cNvSpPr>
              <a:spLocks noChangeArrowheads="1"/>
            </p:cNvSpPr>
            <p:nvPr/>
          </p:nvSpPr>
          <p:spPr bwMode="auto">
            <a:xfrm>
              <a:off x="9054237" y="4006406"/>
              <a:ext cx="405562"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solidFill>
                    <a:srgbClr val="000099"/>
                  </a:solidFill>
                  <a:ea typeface="黑体" panose="02010609060101010101" pitchFamily="49" charset="-122"/>
                </a:rPr>
                <a:t>B</a:t>
              </a:r>
              <a:endParaRPr lang="en-US" altLang="zh-CN" sz="2400" b="1" baseline="-25000">
                <a:solidFill>
                  <a:srgbClr val="000099"/>
                </a:solidFill>
                <a:ea typeface="黑体" panose="02010609060101010101" pitchFamily="49" charset="-122"/>
              </a:endParaRPr>
            </a:p>
          </p:txBody>
        </p:sp>
        <p:cxnSp>
          <p:nvCxnSpPr>
            <p:cNvPr id="630830" name="直接箭头连接符 55"/>
            <p:cNvCxnSpPr>
              <a:cxnSpLocks noChangeShapeType="1"/>
              <a:stCxn id="630825" idx="3"/>
              <a:endCxn id="630798" idx="1"/>
            </p:cNvCxnSpPr>
            <p:nvPr/>
          </p:nvCxnSpPr>
          <p:spPr bwMode="auto">
            <a:xfrm>
              <a:off x="4592960" y="4607516"/>
              <a:ext cx="1275146" cy="0"/>
            </a:xfrm>
            <a:prstGeom prst="straightConnector1">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cxnSp>
        <p:cxnSp>
          <p:nvCxnSpPr>
            <p:cNvPr id="630831" name="直接箭头连接符 55"/>
            <p:cNvCxnSpPr>
              <a:cxnSpLocks noChangeShapeType="1"/>
              <a:stCxn id="630825" idx="3"/>
              <a:endCxn id="630798" idx="1"/>
            </p:cNvCxnSpPr>
            <p:nvPr/>
          </p:nvCxnSpPr>
          <p:spPr bwMode="auto">
            <a:xfrm flipH="1">
              <a:off x="4592960" y="5546751"/>
              <a:ext cx="1275146" cy="0"/>
            </a:xfrm>
            <a:prstGeom prst="straightConnector1">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cxnSp>
        <p:sp>
          <p:nvSpPr>
            <p:cNvPr id="96" name="弧形 95"/>
            <p:cNvSpPr/>
            <p:nvPr/>
          </p:nvSpPr>
          <p:spPr>
            <a:xfrm rot="13631864">
              <a:off x="3405382" y="4724432"/>
              <a:ext cx="1047825" cy="855731"/>
            </a:xfrm>
            <a:prstGeom prst="arc">
              <a:avLst>
                <a:gd name="adj1" fmla="val 16200000"/>
                <a:gd name="adj2" fmla="val 602015"/>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b="1" noProof="1">
                <a:solidFill>
                  <a:srgbClr val="000099"/>
                </a:solidFill>
                <a:ea typeface="黑体" panose="02010609060101010101" pitchFamily="2" charset="-122"/>
              </a:endParaRPr>
            </a:p>
          </p:txBody>
        </p:sp>
        <p:sp>
          <p:nvSpPr>
            <p:cNvPr id="97" name="弧形 96"/>
            <p:cNvSpPr/>
            <p:nvPr/>
          </p:nvSpPr>
          <p:spPr>
            <a:xfrm rot="2831864">
              <a:off x="6035289" y="4629968"/>
              <a:ext cx="1004960" cy="855732"/>
            </a:xfrm>
            <a:prstGeom prst="arc">
              <a:avLst>
                <a:gd name="adj1" fmla="val 16200000"/>
                <a:gd name="adj2" fmla="val 422187"/>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2400" b="1" noProof="1">
                <a:solidFill>
                  <a:srgbClr val="000099"/>
                </a:solidFill>
                <a:ea typeface="黑体" panose="02010609060101010101" pitchFamily="2" charset="-122"/>
              </a:endParaRPr>
            </a:p>
          </p:txBody>
        </p:sp>
      </p:grpSp>
      <p:sp>
        <p:nvSpPr>
          <p:cNvPr id="630834" name="矩形 2"/>
          <p:cNvSpPr>
            <a:spLocks noChangeArrowheads="1"/>
          </p:cNvSpPr>
          <p:nvPr/>
        </p:nvSpPr>
        <p:spPr bwMode="auto">
          <a:xfrm>
            <a:off x="2312988" y="5554663"/>
            <a:ext cx="55927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在两个交换机之间兜圈子的帧</a:t>
            </a:r>
            <a:endParaRPr lang="zh-CN" altLang="en-US" sz="2400" b="1">
              <a:ea typeface="黑体" panose="02010609060101010101" pitchFamily="49" charset="-122"/>
            </a:endParaRPr>
          </a:p>
        </p:txBody>
      </p:sp>
      <p:sp>
        <p:nvSpPr>
          <p:cNvPr id="6308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9DB3C18-E358-47FF-9005-3738267FC8BF}" type="slidenum">
              <a:rPr lang="zh-CN" altLang="en-US" smtClean="0"/>
              <a:pPr eaLnBrk="1" hangingPunct="1"/>
              <a:t>44</a:t>
            </a:fld>
            <a:endParaRPr lang="en-US" altLang="zh-CN" smtClean="0"/>
          </a:p>
        </p:txBody>
      </p:sp>
      <p:sp>
        <p:nvSpPr>
          <p:cNvPr id="6308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交换机使用了生成树协议 </a:t>
            </a:r>
          </a:p>
        </p:txBody>
      </p:sp>
      <p:sp>
        <p:nvSpPr>
          <p:cNvPr id="632834" name="Rectangle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802.1D </a:t>
            </a:r>
            <a:r>
              <a:rPr lang="zh-CN" altLang="zh-CN" dirty="0" smtClean="0">
                <a:ea typeface="黑体" panose="02010609060101010101" pitchFamily="49" charset="-122"/>
              </a:rPr>
              <a:t>标准制定了一个</a:t>
            </a:r>
            <a:r>
              <a:rPr lang="zh-CN" altLang="zh-CN" u="sng" dirty="0" smtClean="0">
                <a:solidFill>
                  <a:srgbClr val="FF0000"/>
                </a:solidFill>
                <a:ea typeface="黑体" panose="02010609060101010101" pitchFamily="49" charset="-122"/>
              </a:rPr>
              <a:t>生成树协议</a:t>
            </a:r>
            <a:r>
              <a:rPr lang="en-US" altLang="zh-CN" u="sng" dirty="0" smtClean="0">
                <a:solidFill>
                  <a:srgbClr val="FF0000"/>
                </a:solidFill>
                <a:ea typeface="黑体" panose="02010609060101010101" pitchFamily="49" charset="-122"/>
              </a:rPr>
              <a:t> STP  </a:t>
            </a:r>
            <a:r>
              <a:rPr lang="en-US" altLang="zh-CN" u="sng" dirty="0" smtClean="0">
                <a:ea typeface="黑体" panose="02010609060101010101" pitchFamily="49" charset="-122"/>
              </a:rPr>
              <a:t>(Spanning Tree Protocol)</a:t>
            </a:r>
            <a:r>
              <a:rPr lang="zh-CN" altLang="zh-CN" u="sng" dirty="0" smtClean="0">
                <a:ea typeface="黑体" panose="02010609060101010101" pitchFamily="49" charset="-122"/>
              </a:rPr>
              <a:t>。</a:t>
            </a:r>
            <a:endParaRPr lang="en-US" altLang="zh-CN" u="sng" dirty="0" smtClean="0">
              <a:ea typeface="黑体" panose="02010609060101010101" pitchFamily="49" charset="-122"/>
            </a:endParaRPr>
          </a:p>
          <a:p>
            <a:r>
              <a:rPr lang="zh-CN" altLang="zh-CN" dirty="0" smtClean="0">
                <a:ea typeface="黑体" panose="02010609060101010101" pitchFamily="49" charset="-122"/>
              </a:rPr>
              <a:t>其要点是</a:t>
            </a:r>
            <a:r>
              <a:rPr lang="zh-CN" altLang="en-US" dirty="0" smtClean="0">
                <a:ea typeface="黑体" panose="02010609060101010101" pitchFamily="49" charset="-122"/>
              </a:rPr>
              <a:t>：</a:t>
            </a:r>
            <a:r>
              <a:rPr lang="zh-CN" altLang="zh-CN" dirty="0" smtClean="0">
                <a:solidFill>
                  <a:srgbClr val="0000FF"/>
                </a:solidFill>
                <a:ea typeface="黑体" panose="02010609060101010101" pitchFamily="49" charset="-122"/>
              </a:rPr>
              <a:t>不改变网络的实际拓扑，但在逻辑上则切断某些链路，使得从一台主机到所有其他主机的路径是</a:t>
            </a:r>
            <a:r>
              <a:rPr lang="zh-CN" altLang="zh-CN" dirty="0" smtClean="0">
                <a:solidFill>
                  <a:srgbClr val="FF0000"/>
                </a:solidFill>
                <a:ea typeface="黑体" panose="02010609060101010101" pitchFamily="49" charset="-122"/>
              </a:rPr>
              <a:t>无环路的树状结构，</a:t>
            </a:r>
            <a:r>
              <a:rPr lang="zh-CN" altLang="zh-CN" dirty="0" smtClean="0">
                <a:solidFill>
                  <a:srgbClr val="0000FF"/>
                </a:solidFill>
                <a:ea typeface="黑体" panose="02010609060101010101" pitchFamily="49" charset="-122"/>
              </a:rPr>
              <a:t>从而消除了兜圈子现象</a:t>
            </a:r>
            <a:r>
              <a:rPr lang="zh-CN" altLang="zh-CN" dirty="0" smtClean="0">
                <a:solidFill>
                  <a:srgbClr val="0000FF"/>
                </a:solidFill>
                <a:ea typeface="黑体" panose="02010609060101010101" pitchFamily="49" charset="-122"/>
              </a:rPr>
              <a:t>。</a:t>
            </a:r>
            <a:endParaRPr lang="en-US" altLang="zh-CN" dirty="0" smtClean="0">
              <a:solidFill>
                <a:srgbClr val="0000FF"/>
              </a:solidFill>
              <a:ea typeface="黑体" panose="02010609060101010101" pitchFamily="49" charset="-122"/>
            </a:endParaRPr>
          </a:p>
          <a:p>
            <a:r>
              <a:rPr lang="zh-CN" altLang="en-US" dirty="0" smtClean="0">
                <a:ea typeface="黑体" panose="02010609060101010101" pitchFamily="49" charset="-122"/>
              </a:rPr>
              <a:t>基本思路：</a:t>
            </a:r>
            <a:r>
              <a:rPr lang="zh-CN" altLang="en-US" dirty="0" smtClean="0">
                <a:solidFill>
                  <a:srgbClr val="0000FF"/>
                </a:solidFill>
                <a:ea typeface="黑体" panose="02010609060101010101" pitchFamily="49" charset="-122"/>
              </a:rPr>
              <a:t>从根网桥开始，为其他网桥和链路设置优先级或权值，并按照优先级选择分支形成树状结构。</a:t>
            </a:r>
            <a:endParaRPr lang="zh-CN" altLang="en-US" dirty="0" smtClean="0">
              <a:solidFill>
                <a:srgbClr val="0000FF"/>
              </a:solidFill>
              <a:ea typeface="黑体" panose="02010609060101010101" pitchFamily="49" charset="-122"/>
            </a:endParaRPr>
          </a:p>
        </p:txBody>
      </p:sp>
      <p:sp>
        <p:nvSpPr>
          <p:cNvPr id="6328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F723165-F45E-410C-BA09-84AAEA3467EC}" type="slidenum">
              <a:rPr lang="zh-CN" altLang="en-US" smtClean="0"/>
              <a:pPr eaLnBrk="1" hangingPunct="1"/>
              <a:t>45</a:t>
            </a:fld>
            <a:endParaRPr lang="en-US" altLang="zh-CN" smtClean="0"/>
          </a:p>
        </p:txBody>
      </p:sp>
      <p:sp>
        <p:nvSpPr>
          <p:cNvPr id="6328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 </a:t>
            </a:r>
            <a:r>
              <a:rPr lang="zh-CN" altLang="zh-CN" smtClean="0">
                <a:ea typeface="黑体" panose="02010609060101010101" pitchFamily="49" charset="-122"/>
              </a:rPr>
              <a:t>从总线以太网到星</a:t>
            </a:r>
            <a:r>
              <a:rPr lang="zh-CN" altLang="en-US" smtClean="0">
                <a:ea typeface="黑体" panose="02010609060101010101" pitchFamily="49" charset="-122"/>
              </a:rPr>
              <a:t>形</a:t>
            </a:r>
            <a:r>
              <a:rPr lang="zh-CN" altLang="zh-CN" smtClean="0">
                <a:ea typeface="黑体" panose="02010609060101010101" pitchFamily="49" charset="-122"/>
              </a:rPr>
              <a:t>以太网</a:t>
            </a:r>
            <a:endParaRPr lang="zh-CN" altLang="en-US" smtClean="0">
              <a:ea typeface="黑体" panose="02010609060101010101" pitchFamily="49" charset="-122"/>
            </a:endParaRPr>
          </a:p>
        </p:txBody>
      </p:sp>
      <p:sp>
        <p:nvSpPr>
          <p:cNvPr id="634882" name="内容占位符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早期，</a:t>
            </a:r>
            <a:r>
              <a:rPr lang="zh-CN" altLang="zh-CN" dirty="0" smtClean="0">
                <a:ea typeface="黑体" panose="02010609060101010101" pitchFamily="49" charset="-122"/>
              </a:rPr>
              <a:t>以太网采用无源的总线结构。</a:t>
            </a:r>
            <a:endParaRPr lang="en-US" altLang="zh-CN" dirty="0" smtClean="0">
              <a:ea typeface="黑体" panose="02010609060101010101" pitchFamily="49" charset="-122"/>
            </a:endParaRPr>
          </a:p>
          <a:p>
            <a:r>
              <a:rPr lang="zh-CN" altLang="en-US" dirty="0" smtClean="0">
                <a:ea typeface="黑体" panose="02010609060101010101" pitchFamily="49" charset="-122"/>
              </a:rPr>
              <a:t>现在，</a:t>
            </a:r>
            <a:r>
              <a:rPr lang="zh-CN" altLang="zh-CN" dirty="0" smtClean="0">
                <a:solidFill>
                  <a:srgbClr val="0000CC"/>
                </a:solidFill>
                <a:ea typeface="黑体" panose="02010609060101010101" pitchFamily="49" charset="-122"/>
              </a:rPr>
              <a:t>采用以太网交换机的星形结构成为以太网的首选拓扑</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总线以太网使用</a:t>
            </a:r>
            <a:r>
              <a:rPr lang="en-US" altLang="zh-CN" dirty="0" smtClean="0">
                <a:ea typeface="黑体" panose="02010609060101010101" pitchFamily="49" charset="-122"/>
              </a:rPr>
              <a:t> CSMA/CD </a:t>
            </a:r>
            <a:r>
              <a:rPr lang="zh-CN" altLang="zh-CN" dirty="0" smtClean="0">
                <a:ea typeface="黑体" panose="02010609060101010101" pitchFamily="49" charset="-122"/>
              </a:rPr>
              <a:t>协议，以半双工方式工作。</a:t>
            </a:r>
            <a:endParaRPr lang="en-US" altLang="zh-CN" dirty="0" smtClean="0">
              <a:ea typeface="黑体" panose="02010609060101010101" pitchFamily="49" charset="-122"/>
            </a:endParaRPr>
          </a:p>
          <a:p>
            <a:r>
              <a:rPr lang="zh-CN" altLang="zh-CN" dirty="0" smtClean="0">
                <a:ea typeface="黑体" panose="02010609060101010101" pitchFamily="49" charset="-122"/>
              </a:rPr>
              <a:t>以太网交换机不使用共享总线，没有碰撞问题，因此</a:t>
            </a:r>
            <a:r>
              <a:rPr lang="zh-CN" altLang="zh-CN" dirty="0" smtClean="0">
                <a:solidFill>
                  <a:srgbClr val="0000CC"/>
                </a:solidFill>
                <a:ea typeface="黑体" panose="02010609060101010101" pitchFamily="49" charset="-122"/>
              </a:rPr>
              <a:t>不使用</a:t>
            </a:r>
            <a:r>
              <a:rPr lang="en-US" altLang="zh-CN" dirty="0" smtClean="0">
                <a:solidFill>
                  <a:srgbClr val="0000CC"/>
                </a:solidFill>
                <a:ea typeface="黑体" panose="02010609060101010101" pitchFamily="49" charset="-122"/>
              </a:rPr>
              <a:t> CSMA/CD </a:t>
            </a:r>
            <a:r>
              <a:rPr lang="zh-CN" altLang="zh-CN" dirty="0" smtClean="0">
                <a:solidFill>
                  <a:srgbClr val="0000CC"/>
                </a:solidFill>
                <a:ea typeface="黑体" panose="02010609060101010101" pitchFamily="49" charset="-122"/>
              </a:rPr>
              <a:t>协议</a:t>
            </a:r>
            <a:r>
              <a:rPr lang="zh-CN" altLang="zh-CN" dirty="0" smtClean="0">
                <a:ea typeface="黑体" panose="02010609060101010101" pitchFamily="49" charset="-122"/>
              </a:rPr>
              <a:t>，而是以全双工方式工作。</a:t>
            </a:r>
            <a:r>
              <a:rPr lang="zh-CN" altLang="en-US" dirty="0" smtClean="0">
                <a:solidFill>
                  <a:srgbClr val="FF0000"/>
                </a:solidFill>
                <a:ea typeface="黑体" panose="02010609060101010101" pitchFamily="49" charset="-122"/>
              </a:rPr>
              <a:t>但</a:t>
            </a:r>
            <a:r>
              <a:rPr lang="zh-CN" altLang="zh-CN" dirty="0" smtClean="0">
                <a:solidFill>
                  <a:srgbClr val="FF0000"/>
                </a:solidFill>
                <a:ea typeface="黑体" panose="02010609060101010101" pitchFamily="49" charset="-122"/>
              </a:rPr>
              <a:t>仍然采用以太网的帧结构。</a:t>
            </a:r>
          </a:p>
          <a:p>
            <a:endParaRPr lang="en-US" altLang="zh-CN" dirty="0" smtClean="0">
              <a:ea typeface="黑体" panose="02010609060101010101" pitchFamily="49" charset="-122"/>
            </a:endParaRPr>
          </a:p>
        </p:txBody>
      </p:sp>
      <p:sp>
        <p:nvSpPr>
          <p:cNvPr id="6348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8CA3F3-634F-4C94-9CC9-7777A0A0FCC5}" type="slidenum">
              <a:rPr lang="zh-CN" altLang="en-US" smtClean="0"/>
              <a:pPr eaLnBrk="1" hangingPunct="1"/>
              <a:t>46</a:t>
            </a:fld>
            <a:endParaRPr lang="en-US" altLang="zh-CN" smtClean="0"/>
          </a:p>
        </p:txBody>
      </p:sp>
      <p:sp>
        <p:nvSpPr>
          <p:cNvPr id="6348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3.4.3  </a:t>
            </a:r>
            <a:r>
              <a:rPr lang="zh-CN" altLang="zh-CN" smtClean="0">
                <a:ea typeface="黑体" panose="02010609060101010101" pitchFamily="49" charset="-122"/>
              </a:rPr>
              <a:t>虚拟局域网</a:t>
            </a:r>
            <a:endParaRPr lang="zh-CN" altLang="en-US" smtClean="0">
              <a:ea typeface="黑体" panose="02010609060101010101" pitchFamily="49" charset="-122"/>
            </a:endParaRPr>
          </a:p>
        </p:txBody>
      </p:sp>
      <p:sp>
        <p:nvSpPr>
          <p:cNvPr id="635906" name="内容占位符 2"/>
          <p:cNvSpPr>
            <a:spLocks noGrp="1" noChangeArrowheads="1"/>
          </p:cNvSpPr>
          <p:nvPr>
            <p:ph idx="1"/>
          </p:nvPr>
        </p:nvSpPr>
        <p:spPr>
          <a:xfrm>
            <a:off x="495300" y="1196975"/>
            <a:ext cx="9066213" cy="4933950"/>
          </a:xfrm>
        </p:spPr>
        <p:txBody>
          <a:bodyPr/>
          <a:lstStyle/>
          <a:p>
            <a:pPr>
              <a:lnSpc>
                <a:spcPct val="100000"/>
              </a:lnSpc>
            </a:pPr>
            <a:r>
              <a:rPr lang="zh-CN" altLang="zh-CN" sz="2800" dirty="0" smtClean="0">
                <a:ea typeface="黑体" panose="02010609060101010101" pitchFamily="49" charset="-122"/>
              </a:rPr>
              <a:t>利用以太网交换机可以很方便地实现</a:t>
            </a:r>
            <a:r>
              <a:rPr lang="zh-CN" altLang="zh-CN" sz="2800" u="sng" dirty="0" smtClean="0">
                <a:solidFill>
                  <a:srgbClr val="FF0000"/>
                </a:solidFill>
                <a:ea typeface="黑体" panose="02010609060101010101" pitchFamily="49" charset="-122"/>
              </a:rPr>
              <a:t>虚拟局域网</a:t>
            </a:r>
            <a:r>
              <a:rPr lang="en-US" altLang="zh-CN" sz="2800" u="sng" dirty="0" smtClean="0">
                <a:solidFill>
                  <a:srgbClr val="FF0000"/>
                </a:solidFill>
                <a:ea typeface="黑体" panose="02010609060101010101" pitchFamily="49" charset="-122"/>
              </a:rPr>
              <a:t> VLAN (Virtual LAN)</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pPr>
              <a:lnSpc>
                <a:spcPct val="100000"/>
              </a:lnSpc>
            </a:pPr>
            <a:r>
              <a:rPr lang="zh-CN" altLang="zh-CN" sz="2800" dirty="0" smtClean="0">
                <a:solidFill>
                  <a:srgbClr val="FF0000"/>
                </a:solidFill>
                <a:ea typeface="黑体" panose="02010609060101010101" pitchFamily="49" charset="-122"/>
              </a:rPr>
              <a:t>虚拟局域网</a:t>
            </a:r>
            <a:r>
              <a:rPr lang="en-US" altLang="zh-CN" sz="2800" dirty="0" smtClean="0">
                <a:solidFill>
                  <a:srgbClr val="FF0000"/>
                </a:solidFill>
                <a:ea typeface="黑体" panose="02010609060101010101" pitchFamily="49" charset="-122"/>
              </a:rPr>
              <a:t> VLAN </a:t>
            </a:r>
            <a:r>
              <a:rPr lang="zh-CN" altLang="zh-CN" sz="2800" dirty="0" smtClean="0">
                <a:ea typeface="黑体" panose="02010609060101010101" pitchFamily="49" charset="-122"/>
              </a:rPr>
              <a:t>是由一些局域网网段构成的</a:t>
            </a:r>
            <a:r>
              <a:rPr lang="zh-CN" altLang="zh-CN" sz="2800" dirty="0" smtClean="0">
                <a:solidFill>
                  <a:srgbClr val="0000FF"/>
                </a:solidFill>
                <a:ea typeface="黑体" panose="02010609060101010101" pitchFamily="49" charset="-122"/>
              </a:rPr>
              <a:t>与物理位置无关的逻辑组，</a:t>
            </a:r>
            <a:r>
              <a:rPr lang="zh-CN" altLang="zh-CN" sz="2800" dirty="0" smtClean="0">
                <a:ea typeface="黑体" panose="02010609060101010101" pitchFamily="49" charset="-122"/>
              </a:rPr>
              <a:t>而这些网段具有某些共同的需求。每一个</a:t>
            </a:r>
            <a:r>
              <a:rPr lang="en-US" altLang="zh-CN" sz="2800" dirty="0" smtClean="0">
                <a:ea typeface="黑体" panose="02010609060101010101" pitchFamily="49" charset="-122"/>
              </a:rPr>
              <a:t> VLAN </a:t>
            </a:r>
            <a:r>
              <a:rPr lang="zh-CN" altLang="zh-CN" sz="2800" dirty="0" smtClean="0">
                <a:ea typeface="黑体" panose="02010609060101010101" pitchFamily="49" charset="-122"/>
              </a:rPr>
              <a:t>的帧都有一个明确的标识符，指明发送这个帧的计算机是属于哪一个</a:t>
            </a:r>
            <a:r>
              <a:rPr lang="en-US" altLang="zh-CN" sz="2800" dirty="0" smtClean="0">
                <a:ea typeface="黑体" panose="02010609060101010101" pitchFamily="49" charset="-122"/>
              </a:rPr>
              <a:t> VLAN</a:t>
            </a:r>
            <a:r>
              <a:rPr lang="zh-CN" altLang="zh-CN" sz="2800" dirty="0" smtClean="0">
                <a:ea typeface="黑体" panose="02010609060101010101" pitchFamily="49" charset="-122"/>
              </a:rPr>
              <a:t>。</a:t>
            </a:r>
          </a:p>
          <a:p>
            <a:pPr>
              <a:lnSpc>
                <a:spcPct val="100000"/>
              </a:lnSpc>
            </a:pPr>
            <a:r>
              <a:rPr lang="zh-CN" altLang="zh-CN" sz="2800" dirty="0" smtClean="0">
                <a:solidFill>
                  <a:srgbClr val="FF0000"/>
                </a:solidFill>
                <a:ea typeface="黑体" panose="02010609060101010101" pitchFamily="49" charset="-122"/>
              </a:rPr>
              <a:t>虚拟局域网其实只是局域网给用户提供的一种服务，而并不是一种新型局域网。</a:t>
            </a:r>
            <a:endParaRPr lang="en-US" altLang="zh-CN" sz="2800" dirty="0" smtClean="0">
              <a:solidFill>
                <a:srgbClr val="FF0000"/>
              </a:solidFill>
              <a:ea typeface="黑体" panose="02010609060101010101" pitchFamily="49" charset="-122"/>
            </a:endParaRPr>
          </a:p>
          <a:p>
            <a:pPr>
              <a:lnSpc>
                <a:spcPct val="100000"/>
              </a:lnSpc>
            </a:pPr>
            <a:r>
              <a:rPr lang="zh-CN" altLang="zh-CN" sz="2800" dirty="0" smtClean="0">
                <a:ea typeface="黑体" panose="02010609060101010101" pitchFamily="49" charset="-122"/>
              </a:rPr>
              <a:t>由于虚拟局域网是用户和网络资源的</a:t>
            </a:r>
            <a:r>
              <a:rPr lang="zh-CN" altLang="zh-CN" sz="2800" dirty="0" smtClean="0">
                <a:solidFill>
                  <a:srgbClr val="0000CC"/>
                </a:solidFill>
                <a:ea typeface="黑体" panose="02010609060101010101" pitchFamily="49" charset="-122"/>
              </a:rPr>
              <a:t>逻辑组合</a:t>
            </a:r>
            <a:r>
              <a:rPr lang="zh-CN" altLang="zh-CN" sz="2800" dirty="0" smtClean="0">
                <a:ea typeface="黑体" panose="02010609060101010101" pitchFamily="49" charset="-122"/>
              </a:rPr>
              <a:t>，因此可按照需要将有关设备和资源非常方便地重新组合，使用户从不同的服务器或数据库中存取所需的资源。</a:t>
            </a:r>
            <a:endParaRPr lang="zh-CN" altLang="zh-CN" sz="2800" dirty="0" smtClean="0">
              <a:solidFill>
                <a:srgbClr val="FF0000"/>
              </a:solidFill>
              <a:ea typeface="黑体" panose="02010609060101010101" pitchFamily="49" charset="-122"/>
            </a:endParaRPr>
          </a:p>
          <a:p>
            <a:pPr>
              <a:lnSpc>
                <a:spcPct val="100000"/>
              </a:lnSpc>
            </a:pPr>
            <a:endParaRPr lang="en-US" altLang="zh-CN" sz="2800" dirty="0" smtClean="0">
              <a:ea typeface="黑体" panose="02010609060101010101" pitchFamily="49" charset="-122"/>
            </a:endParaRPr>
          </a:p>
          <a:p>
            <a:pPr>
              <a:lnSpc>
                <a:spcPct val="100000"/>
              </a:lnSpc>
            </a:pPr>
            <a:endParaRPr lang="zh-CN" altLang="en-US" sz="2800" dirty="0" smtClean="0">
              <a:ea typeface="黑体" panose="02010609060101010101" pitchFamily="49" charset="-122"/>
            </a:endParaRPr>
          </a:p>
        </p:txBody>
      </p:sp>
      <p:sp>
        <p:nvSpPr>
          <p:cNvPr id="63590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AB641E-2467-4952-B50B-A87BF62D9FBE}" type="slidenum">
              <a:rPr lang="zh-CN" altLang="en-US" smtClean="0"/>
              <a:pPr eaLnBrk="1" hangingPunct="1"/>
              <a:t>47</a:t>
            </a:fld>
            <a:endParaRPr lang="en-US" altLang="zh-CN" smtClean="0"/>
          </a:p>
        </p:txBody>
      </p:sp>
      <p:sp>
        <p:nvSpPr>
          <p:cNvPr id="63590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6929" name="组合 1"/>
          <p:cNvGrpSpPr>
            <a:grpSpLocks/>
          </p:cNvGrpSpPr>
          <p:nvPr/>
        </p:nvGrpSpPr>
        <p:grpSpPr bwMode="auto">
          <a:xfrm>
            <a:off x="895350" y="304800"/>
            <a:ext cx="8191500" cy="6292850"/>
            <a:chOff x="896012" y="304800"/>
            <a:chExt cx="8191367" cy="6292850"/>
          </a:xfrm>
        </p:grpSpPr>
        <p:sp>
          <p:nvSpPr>
            <p:cNvPr id="636930"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1"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2"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3"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4"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5"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6"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7"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8"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39"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0"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1"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2"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3"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4"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45"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6"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47"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36948"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49"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0"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51"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2"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53"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4"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5"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56"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57"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58"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59"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60"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6961"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6962"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6963"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36964"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5"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6"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7"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8"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69"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0"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1"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2"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6973"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6974"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6975"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6"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7"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8"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6979"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36980" name="Text Box 52"/>
          <p:cNvSpPr txBox="1">
            <a:spLocks noChangeArrowheads="1"/>
          </p:cNvSpPr>
          <p:nvPr/>
        </p:nvSpPr>
        <p:spPr bwMode="auto">
          <a:xfrm>
            <a:off x="4394200" y="5805488"/>
            <a:ext cx="5253038" cy="830262"/>
          </a:xfrm>
          <a:prstGeom prst="rect">
            <a:avLst/>
          </a:prstGeom>
          <a:solidFill>
            <a:srgbClr val="FFCC66"/>
          </a:solidFill>
          <a:ln w="9525">
            <a:solidFill>
              <a:srgbClr val="000099"/>
            </a:solidFill>
            <a:round/>
            <a:headEnd/>
            <a:tailEnd/>
          </a:ln>
        </p:spPr>
        <p:txBody>
          <a:bodyPr wrap="none">
            <a:spAutoFit/>
          </a:bodyPr>
          <a:lstStyle/>
          <a:p>
            <a:pPr algn="ctr" eaLnBrk="0" hangingPunct="0"/>
            <a:r>
              <a:rPr lang="en-US" altLang="zh-CN" sz="2400" b="1">
                <a:solidFill>
                  <a:srgbClr val="000099"/>
                </a:solidFill>
                <a:ea typeface="黑体" panose="02010609060101010101" pitchFamily="49" charset="-122"/>
              </a:rPr>
              <a:t>10 </a:t>
            </a:r>
            <a:r>
              <a:rPr lang="zh-CN" altLang="en-US" sz="2400" b="1">
                <a:solidFill>
                  <a:srgbClr val="000099"/>
                </a:solidFill>
                <a:ea typeface="黑体" panose="02010609060101010101" pitchFamily="49" charset="-122"/>
              </a:rPr>
              <a:t>台计算机划分为三个虚拟局域网：</a:t>
            </a:r>
            <a:endParaRPr lang="en-US" altLang="zh-CN" sz="2400" b="1">
              <a:solidFill>
                <a:srgbClr val="000099"/>
              </a:solidFill>
              <a:ea typeface="黑体" panose="02010609060101010101" pitchFamily="49" charset="-122"/>
            </a:endParaRPr>
          </a:p>
          <a:p>
            <a:pPr algn="ctr" eaLnBrk="0" hangingPunct="0"/>
            <a:r>
              <a:rPr lang="en-US" altLang="zh-CN" sz="2400" b="1">
                <a:solidFill>
                  <a:srgbClr val="000099"/>
                </a:solidFill>
                <a:ea typeface="黑体" panose="02010609060101010101" pitchFamily="49" charset="-122"/>
              </a:rPr>
              <a:t> VLAN</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VLAN</a:t>
            </a:r>
            <a:r>
              <a:rPr lang="en-US" altLang="zh-CN" sz="2400" b="1" baseline="-25000">
                <a:solidFill>
                  <a:srgbClr val="000099"/>
                </a:solidFill>
                <a:ea typeface="黑体" panose="02010609060101010101" pitchFamily="49" charset="-122"/>
              </a:rPr>
              <a:t>2 </a:t>
            </a:r>
            <a:r>
              <a:rPr lang="zh-CN" altLang="en-US" sz="2400" b="1">
                <a:solidFill>
                  <a:srgbClr val="000099"/>
                </a:solidFill>
                <a:ea typeface="黑体" panose="02010609060101010101" pitchFamily="49" charset="-122"/>
              </a:rPr>
              <a:t>和 </a:t>
            </a:r>
            <a:r>
              <a:rPr lang="en-US" altLang="zh-CN" sz="2400" b="1">
                <a:solidFill>
                  <a:srgbClr val="000099"/>
                </a:solidFill>
                <a:ea typeface="黑体" panose="02010609060101010101" pitchFamily="49" charset="-122"/>
              </a:rPr>
              <a:t>VLAN</a:t>
            </a:r>
            <a:r>
              <a:rPr lang="en-US" altLang="zh-CN" sz="2400" b="1" baseline="-25000">
                <a:solidFill>
                  <a:srgbClr val="000099"/>
                </a:solidFill>
                <a:ea typeface="黑体" panose="02010609060101010101" pitchFamily="49" charset="-122"/>
              </a:rPr>
              <a:t>3</a:t>
            </a:r>
            <a:endParaRPr lang="en-US" altLang="zh-CN" sz="2400" b="1">
              <a:solidFill>
                <a:srgbClr val="000099"/>
              </a:solidFill>
              <a:ea typeface="黑体" panose="02010609060101010101" pitchFamily="49" charset="-122"/>
            </a:endParaRPr>
          </a:p>
        </p:txBody>
      </p:sp>
      <p:sp>
        <p:nvSpPr>
          <p:cNvPr id="63698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65F8F53-0AC2-422D-B993-8DF5AFE1C566}" type="slidenum">
              <a:rPr lang="zh-CN" altLang="en-US" smtClean="0"/>
              <a:pPr/>
              <a:t>48</a:t>
            </a:fld>
            <a:endParaRPr lang="en-US" altLang="zh-CN" smtClean="0"/>
          </a:p>
        </p:txBody>
      </p:sp>
      <p:sp>
        <p:nvSpPr>
          <p:cNvPr id="63698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213" name="Text Box 53"/>
          <p:cNvSpPr txBox="1">
            <a:spLocks noChangeArrowheads="1"/>
          </p:cNvSpPr>
          <p:nvPr/>
        </p:nvSpPr>
        <p:spPr bwMode="auto">
          <a:xfrm>
            <a:off x="3546475" y="5765800"/>
            <a:ext cx="6245225" cy="831850"/>
          </a:xfrm>
          <a:prstGeom prst="rect">
            <a:avLst/>
          </a:prstGeom>
          <a:solidFill>
            <a:srgbClr val="FFCC66"/>
          </a:solidFill>
          <a:ln w="9525">
            <a:solidFill>
              <a:srgbClr val="000099"/>
            </a:solidFill>
            <a:round/>
            <a:headEnd/>
            <a:tailEnd/>
          </a:ln>
        </p:spPr>
        <p:txBody>
          <a:bodyPr>
            <a:spAutoFit/>
          </a:bodyPr>
          <a:lstStyle/>
          <a:p>
            <a:pPr eaLnBrk="0" hangingPunct="0"/>
            <a:r>
              <a:rPr lang="zh-CN" altLang="en-US" sz="2400" b="1">
                <a:solidFill>
                  <a:srgbClr val="000099"/>
                </a:solidFill>
                <a:ea typeface="黑体" panose="02010609060101010101" pitchFamily="49" charset="-122"/>
              </a:rPr>
              <a:t>当 </a:t>
            </a:r>
            <a:r>
              <a:rPr lang="en-US" altLang="zh-CN" sz="2400" b="1">
                <a:solidFill>
                  <a:srgbClr val="000099"/>
                </a:solidFill>
                <a:ea typeface="黑体" panose="02010609060101010101" pitchFamily="49" charset="-122"/>
              </a:rPr>
              <a:t>B</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向 </a:t>
            </a:r>
            <a:r>
              <a:rPr lang="en-US" altLang="zh-CN" sz="2400" b="1">
                <a:solidFill>
                  <a:srgbClr val="000099"/>
                </a:solidFill>
                <a:ea typeface="黑体" panose="02010609060101010101" pitchFamily="49" charset="-122"/>
              </a:rPr>
              <a:t>VLAN</a:t>
            </a:r>
            <a:r>
              <a:rPr lang="en-US" altLang="zh-CN" sz="2400" b="1" baseline="-25000">
                <a:solidFill>
                  <a:srgbClr val="000099"/>
                </a:solidFill>
                <a:ea typeface="黑体" panose="02010609060101010101" pitchFamily="49" charset="-122"/>
              </a:rPr>
              <a:t>2</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工作组内成员发送数据时，</a:t>
            </a:r>
          </a:p>
          <a:p>
            <a:pPr eaLnBrk="0" hangingPunct="0"/>
            <a:r>
              <a:rPr lang="zh-CN" altLang="en-US" sz="2400" b="1">
                <a:solidFill>
                  <a:srgbClr val="0000FF"/>
                </a:solidFill>
                <a:ea typeface="黑体" panose="02010609060101010101" pitchFamily="49" charset="-122"/>
              </a:rPr>
              <a:t>工作站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2</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和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3</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将会收到广播的信息。</a:t>
            </a:r>
          </a:p>
        </p:txBody>
      </p:sp>
      <p:grpSp>
        <p:nvGrpSpPr>
          <p:cNvPr id="638978" name="组合 156"/>
          <p:cNvGrpSpPr>
            <a:grpSpLocks/>
          </p:cNvGrpSpPr>
          <p:nvPr/>
        </p:nvGrpSpPr>
        <p:grpSpPr bwMode="auto">
          <a:xfrm>
            <a:off x="895350" y="304800"/>
            <a:ext cx="8191500" cy="6292850"/>
            <a:chOff x="896012" y="304800"/>
            <a:chExt cx="8191367" cy="6292850"/>
          </a:xfrm>
        </p:grpSpPr>
        <p:sp>
          <p:nvSpPr>
            <p:cNvPr id="638979"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0"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1"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2"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3"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4"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5"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6"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7"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8"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89"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0"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1"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2"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3"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8994"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5"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6"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38997"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8998"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8999"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9000"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01"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02"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3"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4"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05"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06"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07"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08"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09"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39010"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39011"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39012"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39013"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4"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5"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6"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7"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8"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19"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0"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1"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9022"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9023"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39024"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5"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6"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7"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39028"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3902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70FEFE-6FE8-4176-A261-4279D794A9B5}" type="slidenum">
              <a:rPr lang="zh-CN" altLang="en-US" smtClean="0"/>
              <a:pPr/>
              <a:t>49</a:t>
            </a:fld>
            <a:endParaRPr lang="en-US" altLang="zh-CN" smtClean="0"/>
          </a:p>
        </p:txBody>
      </p:sp>
      <p:sp>
        <p:nvSpPr>
          <p:cNvPr id="63903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6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21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237" name="Text Box 53"/>
          <p:cNvSpPr txBox="1">
            <a:spLocks noChangeArrowheads="1"/>
          </p:cNvSpPr>
          <p:nvPr/>
        </p:nvSpPr>
        <p:spPr bwMode="auto">
          <a:xfrm>
            <a:off x="3546475" y="5765800"/>
            <a:ext cx="6159500" cy="831850"/>
          </a:xfrm>
          <a:prstGeom prst="rect">
            <a:avLst/>
          </a:prstGeom>
          <a:solidFill>
            <a:srgbClr val="FFCC66"/>
          </a:solidFill>
          <a:ln w="9525">
            <a:solidFill>
              <a:srgbClr val="000099"/>
            </a:solidFill>
            <a:round/>
            <a:headEnd/>
            <a:tailEnd/>
          </a:ln>
        </p:spPr>
        <p:txBody>
          <a:bodyPr>
            <a:spAutoFit/>
          </a:bodyPr>
          <a:lstStyle/>
          <a:p>
            <a:pPr eaLnBrk="0" hangingPunct="0"/>
            <a:r>
              <a:rPr lang="en-US" altLang="zh-CN" sz="2400" b="1">
                <a:solidFill>
                  <a:srgbClr val="000099"/>
                </a:solidFill>
                <a:ea typeface="黑体" panose="02010609060101010101" pitchFamily="49" charset="-122"/>
              </a:rPr>
              <a:t>B</a:t>
            </a:r>
            <a:r>
              <a:rPr lang="en-US" altLang="zh-CN" sz="2400" b="1" baseline="-25000">
                <a:solidFill>
                  <a:srgbClr val="000099"/>
                </a:solidFill>
                <a:ea typeface="黑体" panose="02010609060101010101" pitchFamily="49" charset="-122"/>
              </a:rPr>
              <a:t>1</a:t>
            </a:r>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发送数据时，</a:t>
            </a:r>
            <a:r>
              <a:rPr lang="zh-CN" altLang="en-US" sz="2400" b="1">
                <a:solidFill>
                  <a:srgbClr val="0000FF"/>
                </a:solidFill>
                <a:ea typeface="黑体" panose="02010609060101010101" pitchFamily="49" charset="-122"/>
              </a:rPr>
              <a:t>工作站 </a:t>
            </a:r>
            <a:r>
              <a:rPr lang="en-US" altLang="zh-CN" sz="2400" b="1">
                <a:solidFill>
                  <a:srgbClr val="0000FF"/>
                </a:solidFill>
                <a:ea typeface="黑体" panose="02010609060101010101" pitchFamily="49" charset="-122"/>
              </a:rPr>
              <a:t>A</a:t>
            </a:r>
            <a:r>
              <a:rPr lang="en-US" altLang="zh-CN" sz="2400" b="1" baseline="-25000">
                <a:solidFill>
                  <a:srgbClr val="0000FF"/>
                </a:solidFill>
                <a:ea typeface="黑体" panose="02010609060101010101" pitchFamily="49" charset="-122"/>
              </a:rPr>
              <a:t>1</a:t>
            </a:r>
            <a:r>
              <a:rPr lang="zh-CN" altLang="en-US" sz="2400" b="1">
                <a:solidFill>
                  <a:srgbClr val="0000FF"/>
                </a:solidFill>
                <a:ea typeface="黑体" panose="02010609060101010101" pitchFamily="49" charset="-122"/>
              </a:rPr>
              <a:t>，</a:t>
            </a:r>
            <a:r>
              <a:rPr lang="en-US" altLang="zh-CN" sz="2400" b="1">
                <a:solidFill>
                  <a:srgbClr val="0000FF"/>
                </a:solidFill>
                <a:ea typeface="黑体" panose="02010609060101010101" pitchFamily="49" charset="-122"/>
              </a:rPr>
              <a:t>A</a:t>
            </a:r>
            <a:r>
              <a:rPr lang="en-US" altLang="zh-CN" sz="2400" b="1" baseline="-25000">
                <a:solidFill>
                  <a:srgbClr val="0000FF"/>
                </a:solidFill>
                <a:ea typeface="黑体" panose="02010609060101010101" pitchFamily="49" charset="-122"/>
              </a:rPr>
              <a:t>2</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和 </a:t>
            </a:r>
            <a:r>
              <a:rPr lang="en-US" altLang="zh-CN" sz="2400" b="1">
                <a:solidFill>
                  <a:srgbClr val="0000FF"/>
                </a:solidFill>
                <a:ea typeface="黑体" panose="02010609060101010101" pitchFamily="49" charset="-122"/>
              </a:rPr>
              <a:t>C</a:t>
            </a:r>
            <a:r>
              <a:rPr lang="en-US" altLang="zh-CN" sz="2400" b="1" baseline="-25000">
                <a:solidFill>
                  <a:srgbClr val="0000FF"/>
                </a:solidFill>
                <a:ea typeface="黑体" panose="02010609060101010101" pitchFamily="49" charset="-122"/>
              </a:rPr>
              <a:t>1</a:t>
            </a:r>
          </a:p>
          <a:p>
            <a:pPr eaLnBrk="0" hangingPunct="0"/>
            <a:r>
              <a:rPr lang="zh-CN" altLang="en-US" sz="2400" b="1">
                <a:solidFill>
                  <a:srgbClr val="0000FF"/>
                </a:solidFill>
                <a:ea typeface="黑体" panose="02010609060101010101" pitchFamily="49" charset="-122"/>
              </a:rPr>
              <a:t>都不会收到 </a:t>
            </a:r>
            <a:r>
              <a:rPr lang="en-US" altLang="zh-CN" sz="2400" b="1">
                <a:solidFill>
                  <a:srgbClr val="0000FF"/>
                </a:solidFill>
                <a:ea typeface="黑体" panose="02010609060101010101" pitchFamily="49" charset="-122"/>
              </a:rPr>
              <a:t>B</a:t>
            </a:r>
            <a:r>
              <a:rPr lang="en-US" altLang="zh-CN" sz="2400" b="1" baseline="-25000">
                <a:solidFill>
                  <a:srgbClr val="0000FF"/>
                </a:solidFill>
                <a:ea typeface="黑体" panose="02010609060101010101" pitchFamily="49" charset="-122"/>
              </a:rPr>
              <a:t>1</a:t>
            </a:r>
            <a:r>
              <a:rPr lang="en-US" altLang="zh-CN" sz="2400" b="1">
                <a:solidFill>
                  <a:srgbClr val="0000FF"/>
                </a:solidFill>
                <a:ea typeface="黑体" panose="02010609060101010101" pitchFamily="49" charset="-122"/>
              </a:rPr>
              <a:t> </a:t>
            </a:r>
            <a:r>
              <a:rPr lang="zh-CN" altLang="en-US" sz="2400" b="1">
                <a:solidFill>
                  <a:srgbClr val="0000FF"/>
                </a:solidFill>
                <a:ea typeface="黑体" panose="02010609060101010101" pitchFamily="49" charset="-122"/>
              </a:rPr>
              <a:t>发出的广播信息。 </a:t>
            </a:r>
          </a:p>
        </p:txBody>
      </p:sp>
      <p:grpSp>
        <p:nvGrpSpPr>
          <p:cNvPr id="641026" name="组合 53"/>
          <p:cNvGrpSpPr>
            <a:grpSpLocks/>
          </p:cNvGrpSpPr>
          <p:nvPr/>
        </p:nvGrpSpPr>
        <p:grpSpPr bwMode="auto">
          <a:xfrm>
            <a:off x="895350" y="304800"/>
            <a:ext cx="8191500" cy="6292850"/>
            <a:chOff x="896012" y="304800"/>
            <a:chExt cx="8191367" cy="6292850"/>
          </a:xfrm>
        </p:grpSpPr>
        <p:sp>
          <p:nvSpPr>
            <p:cNvPr id="641027"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28"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29"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0"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1"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2"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3"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4"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5"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6"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7"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8"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39"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0"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1"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42"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3"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4"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41045"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46"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7"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48"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49"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50"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1"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2"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3"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4"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55"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6"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57"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1058"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1059"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1060"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41061"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2"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3"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4"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5"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6"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7"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8"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69"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1070"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1071"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1072"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3"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4"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5"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1076"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4107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89AA56F-AB8C-47AA-ABFF-153DE0FCBC9E}" type="slidenum">
              <a:rPr lang="zh-CN" altLang="en-US" smtClean="0"/>
              <a:pPr/>
              <a:t>50</a:t>
            </a:fld>
            <a:endParaRPr lang="en-US" altLang="zh-CN" smtClean="0"/>
          </a:p>
        </p:txBody>
      </p:sp>
      <p:sp>
        <p:nvSpPr>
          <p:cNvPr id="64107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72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23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61" name="Text Box 53"/>
          <p:cNvSpPr txBox="1">
            <a:spLocks noChangeArrowheads="1"/>
          </p:cNvSpPr>
          <p:nvPr/>
        </p:nvSpPr>
        <p:spPr bwMode="auto">
          <a:xfrm>
            <a:off x="3546475" y="5692775"/>
            <a:ext cx="6230938" cy="1016000"/>
          </a:xfrm>
          <a:prstGeom prst="rect">
            <a:avLst/>
          </a:prstGeom>
          <a:solidFill>
            <a:srgbClr val="FFCC66"/>
          </a:solidFill>
          <a:ln w="9525">
            <a:solidFill>
              <a:srgbClr val="000099"/>
            </a:solidFill>
            <a:round/>
            <a:headEnd/>
            <a:tailEnd/>
          </a:ln>
        </p:spPr>
        <p:txBody>
          <a:bodyPr>
            <a:spAutoFit/>
          </a:bodyPr>
          <a:lstStyle/>
          <a:p>
            <a:pPr eaLnBrk="0" hangingPunct="0"/>
            <a:r>
              <a:rPr lang="zh-CN" altLang="en-US" sz="2000" b="1">
                <a:solidFill>
                  <a:srgbClr val="000099"/>
                </a:solidFill>
                <a:ea typeface="黑体" panose="02010609060101010101" pitchFamily="49" charset="-122"/>
              </a:rPr>
              <a:t>虚拟局域网限制了接收广播信息的工作站数，使得网络</a:t>
            </a:r>
            <a:r>
              <a:rPr lang="zh-CN" altLang="en-US" sz="2000" b="1">
                <a:solidFill>
                  <a:srgbClr val="0000FF"/>
                </a:solidFill>
                <a:ea typeface="黑体" panose="02010609060101010101" pitchFamily="49" charset="-122"/>
              </a:rPr>
              <a:t>不会因传播过多的广播信息</a:t>
            </a:r>
            <a:r>
              <a:rPr lang="en-US" altLang="zh-CN" sz="2000" b="1">
                <a:solidFill>
                  <a:srgbClr val="0000FF"/>
                </a:solidFill>
                <a:ea typeface="黑体" panose="02010609060101010101" pitchFamily="49" charset="-122"/>
              </a:rPr>
              <a:t>(</a:t>
            </a:r>
            <a:r>
              <a:rPr lang="zh-CN" altLang="en-US" sz="2000" b="1">
                <a:solidFill>
                  <a:srgbClr val="0000FF"/>
                </a:solidFill>
                <a:ea typeface="黑体" panose="02010609060101010101" pitchFamily="49" charset="-122"/>
              </a:rPr>
              <a:t>即“</a:t>
            </a:r>
            <a:r>
              <a:rPr lang="zh-CN" altLang="en-US" sz="2000" b="1">
                <a:solidFill>
                  <a:srgbClr val="C00000"/>
                </a:solidFill>
                <a:ea typeface="黑体" panose="02010609060101010101" pitchFamily="49" charset="-122"/>
              </a:rPr>
              <a:t>广播风暴</a:t>
            </a:r>
            <a:r>
              <a:rPr lang="zh-CN" altLang="en-US" sz="2000" b="1">
                <a:solidFill>
                  <a:srgbClr val="0000FF"/>
                </a:solidFill>
                <a:ea typeface="黑体" panose="02010609060101010101" pitchFamily="49" charset="-122"/>
              </a:rPr>
              <a:t>”</a:t>
            </a:r>
            <a:r>
              <a:rPr lang="en-US" altLang="zh-CN" sz="2000" b="1">
                <a:solidFill>
                  <a:srgbClr val="0000FF"/>
                </a:solidFill>
                <a:ea typeface="黑体" panose="02010609060101010101" pitchFamily="49" charset="-122"/>
              </a:rPr>
              <a:t>)</a:t>
            </a:r>
            <a:r>
              <a:rPr lang="zh-CN" altLang="en-US" sz="2000" b="1">
                <a:solidFill>
                  <a:srgbClr val="000099"/>
                </a:solidFill>
                <a:ea typeface="黑体" panose="02010609060101010101" pitchFamily="49" charset="-122"/>
              </a:rPr>
              <a:t>而引起性能恶化。 </a:t>
            </a:r>
          </a:p>
        </p:txBody>
      </p:sp>
      <p:grpSp>
        <p:nvGrpSpPr>
          <p:cNvPr id="643074" name="组合 53"/>
          <p:cNvGrpSpPr>
            <a:grpSpLocks/>
          </p:cNvGrpSpPr>
          <p:nvPr/>
        </p:nvGrpSpPr>
        <p:grpSpPr bwMode="auto">
          <a:xfrm>
            <a:off x="895350" y="304800"/>
            <a:ext cx="8191500" cy="6292850"/>
            <a:chOff x="896012" y="304800"/>
            <a:chExt cx="8191367" cy="6292850"/>
          </a:xfrm>
        </p:grpSpPr>
        <p:sp>
          <p:nvSpPr>
            <p:cNvPr id="643075" name="AutoShape 2"/>
            <p:cNvSpPr>
              <a:spLocks noChangeArrowheads="1"/>
            </p:cNvSpPr>
            <p:nvPr/>
          </p:nvSpPr>
          <p:spPr bwMode="auto">
            <a:xfrm flipH="1">
              <a:off x="896012" y="4111625"/>
              <a:ext cx="8191367"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6" name="Line 3"/>
            <p:cNvSpPr>
              <a:spLocks noChangeShapeType="1"/>
            </p:cNvSpPr>
            <p:nvPr/>
          </p:nvSpPr>
          <p:spPr bwMode="auto">
            <a:xfrm>
              <a:off x="2435225" y="6208713"/>
              <a:ext cx="789385" cy="0"/>
            </a:xfrm>
            <a:prstGeom prst="line">
              <a:avLst/>
            </a:prstGeom>
            <a:noFill/>
            <a:ln w="762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7" name="AutoShape 4"/>
            <p:cNvSpPr>
              <a:spLocks noChangeArrowheads="1"/>
            </p:cNvSpPr>
            <p:nvPr/>
          </p:nvSpPr>
          <p:spPr bwMode="auto">
            <a:xfrm flipH="1">
              <a:off x="896012" y="2170113"/>
              <a:ext cx="8191367" cy="1397000"/>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8" name="AutoShape 5"/>
            <p:cNvSpPr>
              <a:spLocks noChangeArrowheads="1"/>
            </p:cNvSpPr>
            <p:nvPr/>
          </p:nvSpPr>
          <p:spPr bwMode="auto">
            <a:xfrm flipH="1">
              <a:off x="976842" y="304800"/>
              <a:ext cx="8029708" cy="1398588"/>
            </a:xfrm>
            <a:prstGeom prst="cube">
              <a:avLst>
                <a:gd name="adj" fmla="val 93745"/>
              </a:avLst>
            </a:prstGeom>
            <a:solidFill>
              <a:schemeClr val="bg1"/>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79" name="Line 6"/>
            <p:cNvSpPr>
              <a:spLocks noChangeShapeType="1"/>
            </p:cNvSpPr>
            <p:nvPr/>
          </p:nvSpPr>
          <p:spPr bwMode="auto">
            <a:xfrm>
              <a:off x="2903008" y="693738"/>
              <a:ext cx="4244446"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0" name="Line 7"/>
            <p:cNvSpPr>
              <a:spLocks noChangeShapeType="1"/>
            </p:cNvSpPr>
            <p:nvPr/>
          </p:nvSpPr>
          <p:spPr bwMode="auto">
            <a:xfrm>
              <a:off x="3064669" y="849313"/>
              <a:ext cx="25590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1" name="Line 8"/>
            <p:cNvSpPr>
              <a:spLocks noChangeShapeType="1"/>
            </p:cNvSpPr>
            <p:nvPr/>
          </p:nvSpPr>
          <p:spPr bwMode="auto">
            <a:xfrm>
              <a:off x="3224610" y="10033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2" name="Line 9"/>
            <p:cNvSpPr>
              <a:spLocks noChangeShapeType="1"/>
            </p:cNvSpPr>
            <p:nvPr/>
          </p:nvSpPr>
          <p:spPr bwMode="auto">
            <a:xfrm>
              <a:off x="3224610" y="2946400"/>
              <a:ext cx="562371"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3" name="Line 10"/>
            <p:cNvSpPr>
              <a:spLocks noChangeShapeType="1"/>
            </p:cNvSpPr>
            <p:nvPr/>
          </p:nvSpPr>
          <p:spPr bwMode="auto">
            <a:xfrm>
              <a:off x="3064669" y="2713038"/>
              <a:ext cx="2834217"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4" name="Line 11"/>
            <p:cNvSpPr>
              <a:spLocks noChangeShapeType="1"/>
            </p:cNvSpPr>
            <p:nvPr/>
          </p:nvSpPr>
          <p:spPr bwMode="auto">
            <a:xfrm>
              <a:off x="2823898" y="2479675"/>
              <a:ext cx="430979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5" name="Line 12"/>
            <p:cNvSpPr>
              <a:spLocks noChangeShapeType="1"/>
            </p:cNvSpPr>
            <p:nvPr/>
          </p:nvSpPr>
          <p:spPr bwMode="auto">
            <a:xfrm>
              <a:off x="2983839" y="4732338"/>
              <a:ext cx="152545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6" name="Line 13"/>
            <p:cNvSpPr>
              <a:spLocks noChangeShapeType="1"/>
            </p:cNvSpPr>
            <p:nvPr/>
          </p:nvSpPr>
          <p:spPr bwMode="auto">
            <a:xfrm>
              <a:off x="2983840" y="4887913"/>
              <a:ext cx="80830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7" name="Line 14"/>
            <p:cNvSpPr>
              <a:spLocks noChangeShapeType="1"/>
            </p:cNvSpPr>
            <p:nvPr/>
          </p:nvSpPr>
          <p:spPr bwMode="auto">
            <a:xfrm>
              <a:off x="2605485" y="4422775"/>
              <a:ext cx="459528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8" name="Line 15"/>
            <p:cNvSpPr>
              <a:spLocks noChangeShapeType="1"/>
            </p:cNvSpPr>
            <p:nvPr/>
          </p:nvSpPr>
          <p:spPr bwMode="auto">
            <a:xfrm>
              <a:off x="2823898" y="4578350"/>
              <a:ext cx="2863454"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89" name="AutoShape 16"/>
            <p:cNvSpPr>
              <a:spLocks noChangeArrowheads="1"/>
            </p:cNvSpPr>
            <p:nvPr/>
          </p:nvSpPr>
          <p:spPr bwMode="auto">
            <a:xfrm flipH="1">
              <a:off x="1939926" y="4189413"/>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090" name="AutoShape 17"/>
            <p:cNvSpPr>
              <a:spLocks noChangeArrowheads="1"/>
            </p:cNvSpPr>
            <p:nvPr/>
          </p:nvSpPr>
          <p:spPr bwMode="auto">
            <a:xfrm>
              <a:off x="5393267" y="538163"/>
              <a:ext cx="1203854" cy="4583112"/>
            </a:xfrm>
            <a:prstGeom prst="roundRect">
              <a:avLst>
                <a:gd name="adj" fmla="val 50000"/>
              </a:avLst>
            </a:prstGeom>
            <a:solidFill>
              <a:srgbClr val="FFFF00">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1" name="AutoShape 18"/>
            <p:cNvSpPr>
              <a:spLocks noChangeArrowheads="1"/>
            </p:cNvSpPr>
            <p:nvPr/>
          </p:nvSpPr>
          <p:spPr bwMode="auto">
            <a:xfrm>
              <a:off x="3546211" y="538164"/>
              <a:ext cx="1687116" cy="5127625"/>
            </a:xfrm>
            <a:prstGeom prst="roundRect">
              <a:avLst>
                <a:gd name="adj" fmla="val 50000"/>
              </a:avLst>
            </a:prstGeom>
            <a:solidFill>
              <a:srgbClr val="66FF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2" name="Text Box 19"/>
            <p:cNvSpPr txBox="1">
              <a:spLocks noChangeArrowheads="1"/>
            </p:cNvSpPr>
            <p:nvPr/>
          </p:nvSpPr>
          <p:spPr bwMode="auto">
            <a:xfrm>
              <a:off x="4158456" y="858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4</a:t>
              </a:r>
              <a:endParaRPr lang="en-US" altLang="zh-CN" b="1">
                <a:solidFill>
                  <a:srgbClr val="000099"/>
                </a:solidFill>
                <a:ea typeface="黑体" panose="02010609060101010101" pitchFamily="49" charset="-122"/>
              </a:endParaRPr>
            </a:p>
          </p:txBody>
        </p:sp>
        <p:sp>
          <p:nvSpPr>
            <p:cNvPr id="643093" name="Text Box 20"/>
            <p:cNvSpPr txBox="1">
              <a:spLocks noChangeArrowheads="1"/>
            </p:cNvSpPr>
            <p:nvPr/>
          </p:nvSpPr>
          <p:spPr bwMode="auto">
            <a:xfrm>
              <a:off x="6117300" y="4457701"/>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094" name="AutoShape 21"/>
            <p:cNvSpPr>
              <a:spLocks noChangeArrowheads="1"/>
            </p:cNvSpPr>
            <p:nvPr/>
          </p:nvSpPr>
          <p:spPr bwMode="auto">
            <a:xfrm>
              <a:off x="6839613" y="382588"/>
              <a:ext cx="1123023" cy="4583112"/>
            </a:xfrm>
            <a:prstGeom prst="roundRect">
              <a:avLst>
                <a:gd name="adj" fmla="val 50000"/>
              </a:avLst>
            </a:prstGeom>
            <a:solidFill>
              <a:srgbClr val="FF66FF">
                <a:alpha val="49803"/>
              </a:srgbClr>
            </a:solidFill>
            <a:ln w="19050">
              <a:solidFill>
                <a:schemeClr val="tx1"/>
              </a:solidFill>
              <a:prstDash val="dash"/>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5" name="AutoShape 22"/>
            <p:cNvSpPr>
              <a:spLocks noChangeArrowheads="1"/>
            </p:cNvSpPr>
            <p:nvPr/>
          </p:nvSpPr>
          <p:spPr bwMode="auto">
            <a:xfrm flipH="1">
              <a:off x="1939926" y="382588"/>
              <a:ext cx="1284685"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096" name="Line 23"/>
            <p:cNvSpPr>
              <a:spLocks noChangeShapeType="1"/>
            </p:cNvSpPr>
            <p:nvPr/>
          </p:nvSpPr>
          <p:spPr bwMode="auto">
            <a:xfrm>
              <a:off x="1699154" y="938214"/>
              <a:ext cx="0" cy="5037137"/>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7" name="Line 24"/>
            <p:cNvSpPr>
              <a:spLocks noChangeShapeType="1"/>
            </p:cNvSpPr>
            <p:nvPr/>
          </p:nvSpPr>
          <p:spPr bwMode="auto">
            <a:xfrm>
              <a:off x="1683677" y="927100"/>
              <a:ext cx="497019"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098" name="Text Box 25"/>
            <p:cNvSpPr txBox="1">
              <a:spLocks noChangeArrowheads="1"/>
            </p:cNvSpPr>
            <p:nvPr/>
          </p:nvSpPr>
          <p:spPr bwMode="auto">
            <a:xfrm>
              <a:off x="6875727" y="1735139"/>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099" name="Text Box 26"/>
            <p:cNvSpPr txBox="1">
              <a:spLocks noChangeArrowheads="1"/>
            </p:cNvSpPr>
            <p:nvPr/>
          </p:nvSpPr>
          <p:spPr bwMode="auto">
            <a:xfrm>
              <a:off x="7438100" y="4556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0" name="Text Box 27"/>
            <p:cNvSpPr txBox="1">
              <a:spLocks noChangeArrowheads="1"/>
            </p:cNvSpPr>
            <p:nvPr/>
          </p:nvSpPr>
          <p:spPr bwMode="auto">
            <a:xfrm>
              <a:off x="5914365" y="735014"/>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1" name="Text Box 28"/>
            <p:cNvSpPr txBox="1">
              <a:spLocks noChangeArrowheads="1"/>
            </p:cNvSpPr>
            <p:nvPr/>
          </p:nvSpPr>
          <p:spPr bwMode="auto">
            <a:xfrm>
              <a:off x="3786981"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2" name="Text Box 29"/>
            <p:cNvSpPr txBox="1">
              <a:spLocks noChangeArrowheads="1"/>
            </p:cNvSpPr>
            <p:nvPr/>
          </p:nvSpPr>
          <p:spPr bwMode="auto">
            <a:xfrm>
              <a:off x="5439702" y="1738314"/>
              <a:ext cx="8980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VLAN</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3" name="Text Box 30"/>
            <p:cNvSpPr txBox="1">
              <a:spLocks noChangeArrowheads="1"/>
            </p:cNvSpPr>
            <p:nvPr/>
          </p:nvSpPr>
          <p:spPr bwMode="auto">
            <a:xfrm>
              <a:off x="7482814" y="416083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4" name="Text Box 31"/>
            <p:cNvSpPr txBox="1">
              <a:spLocks noChangeArrowheads="1"/>
            </p:cNvSpPr>
            <p:nvPr/>
          </p:nvSpPr>
          <p:spPr bwMode="auto">
            <a:xfrm>
              <a:off x="4803379" y="45735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5" name="Text Box 32"/>
            <p:cNvSpPr txBox="1">
              <a:spLocks noChangeArrowheads="1"/>
            </p:cNvSpPr>
            <p:nvPr/>
          </p:nvSpPr>
          <p:spPr bwMode="auto">
            <a:xfrm>
              <a:off x="4108583" y="5018089"/>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1</a:t>
              </a:r>
              <a:endParaRPr lang="en-US" altLang="zh-CN" b="1">
                <a:solidFill>
                  <a:srgbClr val="000099"/>
                </a:solidFill>
                <a:ea typeface="黑体" panose="02010609060101010101" pitchFamily="49" charset="-122"/>
              </a:endParaRPr>
            </a:p>
          </p:txBody>
        </p:sp>
        <p:sp>
          <p:nvSpPr>
            <p:cNvPr id="643106" name="Text Box 33"/>
            <p:cNvSpPr txBox="1">
              <a:spLocks noChangeArrowheads="1"/>
            </p:cNvSpPr>
            <p:nvPr/>
          </p:nvSpPr>
          <p:spPr bwMode="auto">
            <a:xfrm>
              <a:off x="4141258" y="281622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A</a:t>
              </a:r>
              <a:r>
                <a:rPr lang="en-US" altLang="zh-CN" b="1" baseline="-25000">
                  <a:solidFill>
                    <a:srgbClr val="000099"/>
                  </a:solidFill>
                  <a:ea typeface="黑体" panose="02010609060101010101" pitchFamily="49" charset="-122"/>
                </a:rPr>
                <a:t>3</a:t>
              </a:r>
              <a:endParaRPr lang="en-US" altLang="zh-CN" b="1">
                <a:solidFill>
                  <a:srgbClr val="000099"/>
                </a:solidFill>
                <a:ea typeface="黑体" panose="02010609060101010101" pitchFamily="49" charset="-122"/>
              </a:endParaRPr>
            </a:p>
          </p:txBody>
        </p:sp>
        <p:sp>
          <p:nvSpPr>
            <p:cNvPr id="643107" name="Text Box 34"/>
            <p:cNvSpPr txBox="1">
              <a:spLocks noChangeArrowheads="1"/>
            </p:cNvSpPr>
            <p:nvPr/>
          </p:nvSpPr>
          <p:spPr bwMode="auto">
            <a:xfrm>
              <a:off x="7510331" y="23018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C</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sp>
          <p:nvSpPr>
            <p:cNvPr id="643108" name="Text Box 35"/>
            <p:cNvSpPr txBox="1">
              <a:spLocks noChangeArrowheads="1"/>
            </p:cNvSpPr>
            <p:nvPr/>
          </p:nvSpPr>
          <p:spPr bwMode="auto">
            <a:xfrm>
              <a:off x="6162015" y="2454276"/>
              <a:ext cx="4363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000099"/>
                  </a:solidFill>
                  <a:ea typeface="黑体" panose="02010609060101010101" pitchFamily="49" charset="-122"/>
                </a:rPr>
                <a:t>B</a:t>
              </a:r>
              <a:r>
                <a:rPr lang="en-US" altLang="zh-CN" b="1" baseline="-25000">
                  <a:solidFill>
                    <a:srgbClr val="000099"/>
                  </a:solidFill>
                  <a:ea typeface="黑体" panose="02010609060101010101" pitchFamily="49" charset="-122"/>
                </a:rPr>
                <a:t>2</a:t>
              </a:r>
              <a:endParaRPr lang="en-US" altLang="zh-CN" b="1">
                <a:solidFill>
                  <a:srgbClr val="000099"/>
                </a:solidFill>
                <a:ea typeface="黑体" panose="02010609060101010101" pitchFamily="49" charset="-122"/>
              </a:endParaRPr>
            </a:p>
          </p:txBody>
        </p:sp>
        <p:pic>
          <p:nvPicPr>
            <p:cNvPr id="643109"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92710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0"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538164"/>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1" name="Picture 3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4098" y="77152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2" name="Picture 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9871" y="2324101"/>
              <a:ext cx="552054"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3" name="Picture 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5187" y="2557463"/>
              <a:ext cx="552053"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4" name="Picture 4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2790826"/>
              <a:ext cx="552053"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5"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27042" y="47402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6"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9354" y="4578351"/>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7"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3208" y="4422776"/>
              <a:ext cx="55205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3118"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9552" y="4267201"/>
              <a:ext cx="552054"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3119" name="AutoShape 46"/>
            <p:cNvSpPr>
              <a:spLocks noChangeArrowheads="1"/>
            </p:cNvSpPr>
            <p:nvPr/>
          </p:nvSpPr>
          <p:spPr bwMode="auto">
            <a:xfrm flipH="1">
              <a:off x="1939926" y="2246313"/>
              <a:ext cx="1284685" cy="933450"/>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sp>
          <p:nvSpPr>
            <p:cNvPr id="643120" name="Line 47"/>
            <p:cNvSpPr>
              <a:spLocks noChangeShapeType="1"/>
            </p:cNvSpPr>
            <p:nvPr/>
          </p:nvSpPr>
          <p:spPr bwMode="auto">
            <a:xfrm>
              <a:off x="1859095" y="2784475"/>
              <a:ext cx="0" cy="334645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1" name="Line 48"/>
            <p:cNvSpPr>
              <a:spLocks noChangeShapeType="1"/>
            </p:cNvSpPr>
            <p:nvPr/>
          </p:nvSpPr>
          <p:spPr bwMode="auto">
            <a:xfrm>
              <a:off x="1845337" y="2790825"/>
              <a:ext cx="299244"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2" name="Line 49"/>
            <p:cNvSpPr>
              <a:spLocks noChangeShapeType="1"/>
            </p:cNvSpPr>
            <p:nvPr/>
          </p:nvSpPr>
          <p:spPr bwMode="auto">
            <a:xfrm>
              <a:off x="2020756" y="4772026"/>
              <a:ext cx="0" cy="1514475"/>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3" name="Line 50"/>
            <p:cNvSpPr>
              <a:spLocks noChangeShapeType="1"/>
            </p:cNvSpPr>
            <p:nvPr/>
          </p:nvSpPr>
          <p:spPr bwMode="auto">
            <a:xfrm>
              <a:off x="2005277" y="4772025"/>
              <a:ext cx="16510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643124" name="AutoShape 51"/>
            <p:cNvSpPr>
              <a:spLocks noChangeArrowheads="1"/>
            </p:cNvSpPr>
            <p:nvPr/>
          </p:nvSpPr>
          <p:spPr bwMode="auto">
            <a:xfrm flipH="1">
              <a:off x="1296723" y="5665788"/>
              <a:ext cx="1286404" cy="931862"/>
            </a:xfrm>
            <a:prstGeom prst="cube">
              <a:avLst>
                <a:gd name="adj" fmla="val 28329"/>
              </a:avLst>
            </a:prstGeom>
            <a:solidFill>
              <a:srgbClr val="66FF66"/>
            </a:solidFill>
            <a:ln w="9525">
              <a:solidFill>
                <a:schemeClr val="tx1"/>
              </a:solidFill>
              <a:miter lim="800000"/>
              <a:headEnd/>
              <a:tailEnd/>
            </a:ln>
          </p:spPr>
          <p:txBody>
            <a:bodyPr wrap="none" anchor="ctr"/>
            <a:lstStyle/>
            <a:p>
              <a:pPr algn="ctr" eaLnBrk="0" hangingPunct="0"/>
              <a:r>
                <a:rPr lang="zh-CN" altLang="en-US" b="1">
                  <a:solidFill>
                    <a:srgbClr val="000099"/>
                  </a:solidFill>
                  <a:ea typeface="黑体" panose="02010609060101010101" pitchFamily="49" charset="-122"/>
                </a:rPr>
                <a:t>以太网</a:t>
              </a:r>
            </a:p>
            <a:p>
              <a:pPr algn="ctr" eaLnBrk="0" hangingPunct="0"/>
              <a:r>
                <a:rPr lang="zh-CN" altLang="en-US" b="1">
                  <a:solidFill>
                    <a:srgbClr val="000099"/>
                  </a:solidFill>
                  <a:ea typeface="黑体" panose="02010609060101010101" pitchFamily="49" charset="-122"/>
                </a:rPr>
                <a:t>交换机</a:t>
              </a:r>
            </a:p>
          </p:txBody>
        </p:sp>
      </p:grpSp>
      <p:sp>
        <p:nvSpPr>
          <p:cNvPr id="6431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B7E3EA4-2D11-4B41-B8DC-45ECB79DDA7E}" type="slidenum">
              <a:rPr lang="zh-CN" altLang="en-US" smtClean="0"/>
              <a:pPr/>
              <a:t>51</a:t>
            </a:fld>
            <a:endParaRPr lang="en-US" altLang="zh-CN" smtClean="0"/>
          </a:p>
        </p:txBody>
      </p:sp>
      <p:sp>
        <p:nvSpPr>
          <p:cNvPr id="6431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78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6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1" name="标题 1"/>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虚拟局域网使用的以太网帧格式</a:t>
            </a:r>
          </a:p>
        </p:txBody>
      </p:sp>
      <p:sp>
        <p:nvSpPr>
          <p:cNvPr id="64512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IEEE </a:t>
            </a:r>
            <a:r>
              <a:rPr lang="zh-CN" altLang="zh-CN" dirty="0" smtClean="0">
                <a:ea typeface="黑体" panose="02010609060101010101" pitchFamily="49" charset="-122"/>
              </a:rPr>
              <a:t>批准了</a:t>
            </a:r>
            <a:r>
              <a:rPr lang="en-US" altLang="zh-CN" dirty="0" smtClean="0">
                <a:ea typeface="黑体" panose="02010609060101010101" pitchFamily="49" charset="-122"/>
              </a:rPr>
              <a:t> </a:t>
            </a:r>
            <a:r>
              <a:rPr lang="en-US" altLang="zh-CN" dirty="0" smtClean="0">
                <a:solidFill>
                  <a:srgbClr val="0000CC"/>
                </a:solidFill>
                <a:ea typeface="黑体" panose="02010609060101010101" pitchFamily="49" charset="-122"/>
              </a:rPr>
              <a:t>802.3ac</a:t>
            </a:r>
            <a:r>
              <a:rPr lang="en-US" altLang="zh-CN" dirty="0" smtClean="0">
                <a:ea typeface="黑体" panose="02010609060101010101" pitchFamily="49" charset="-122"/>
              </a:rPr>
              <a:t> </a:t>
            </a:r>
            <a:r>
              <a:rPr lang="zh-CN" altLang="zh-CN" dirty="0" smtClean="0">
                <a:ea typeface="黑体" panose="02010609060101010101" pitchFamily="49" charset="-122"/>
              </a:rPr>
              <a:t>标准，</a:t>
            </a:r>
            <a:r>
              <a:rPr lang="zh-CN" altLang="en-US" dirty="0" smtClean="0">
                <a:ea typeface="黑体" panose="02010609060101010101" pitchFamily="49" charset="-122"/>
              </a:rPr>
              <a:t>该</a:t>
            </a:r>
            <a:r>
              <a:rPr lang="zh-CN" altLang="zh-CN" dirty="0" smtClean="0">
                <a:ea typeface="黑体" panose="02010609060101010101" pitchFamily="49" charset="-122"/>
              </a:rPr>
              <a:t>标准定义了</a:t>
            </a:r>
            <a:r>
              <a:rPr lang="zh-CN" altLang="zh-CN" dirty="0" smtClean="0">
                <a:solidFill>
                  <a:srgbClr val="0000CC"/>
                </a:solidFill>
                <a:ea typeface="黑体" panose="02010609060101010101" pitchFamily="49" charset="-122"/>
              </a:rPr>
              <a:t>以太网的帧格式的扩展</a:t>
            </a:r>
            <a:r>
              <a:rPr lang="zh-CN" altLang="zh-CN" dirty="0" smtClean="0">
                <a:ea typeface="黑体" panose="02010609060101010101" pitchFamily="49" charset="-122"/>
              </a:rPr>
              <a:t>，</a:t>
            </a:r>
            <a:r>
              <a:rPr lang="zh-CN" altLang="en-US" dirty="0" smtClean="0">
                <a:ea typeface="黑体" panose="02010609060101010101" pitchFamily="49" charset="-122"/>
              </a:rPr>
              <a:t>以</a:t>
            </a:r>
            <a:r>
              <a:rPr lang="zh-CN" altLang="zh-CN" dirty="0" smtClean="0">
                <a:ea typeface="黑体" panose="02010609060101010101" pitchFamily="49" charset="-122"/>
              </a:rPr>
              <a:t>支持虚拟局域网</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虚拟局域网协议允许在以太网的帧格式中插入一个</a:t>
            </a:r>
            <a:r>
              <a:rPr lang="en-US" altLang="zh-CN" dirty="0" smtClean="0">
                <a:solidFill>
                  <a:srgbClr val="0000CC"/>
                </a:solidFill>
                <a:ea typeface="黑体" panose="02010609060101010101" pitchFamily="49" charset="-122"/>
              </a:rPr>
              <a:t>4</a:t>
            </a:r>
            <a:r>
              <a:rPr lang="zh-CN" altLang="zh-CN" dirty="0" smtClean="0">
                <a:solidFill>
                  <a:srgbClr val="0000CC"/>
                </a:solidFill>
                <a:ea typeface="黑体" panose="02010609060101010101" pitchFamily="49" charset="-122"/>
              </a:rPr>
              <a:t>字节的标识符</a:t>
            </a:r>
            <a:r>
              <a:rPr lang="zh-CN" altLang="zh-CN" dirty="0" smtClean="0">
                <a:ea typeface="黑体" panose="02010609060101010101" pitchFamily="49" charset="-122"/>
              </a:rPr>
              <a:t>，称为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VLAN </a:t>
            </a:r>
            <a:r>
              <a:rPr lang="zh-CN" altLang="zh-CN" dirty="0" smtClean="0">
                <a:solidFill>
                  <a:srgbClr val="FF0000"/>
                </a:solidFill>
                <a:ea typeface="黑体" panose="02010609060101010101" pitchFamily="49" charset="-122"/>
              </a:rPr>
              <a:t>标记</a:t>
            </a:r>
            <a:r>
              <a:rPr lang="en-US" altLang="zh-CN" dirty="0" smtClean="0">
                <a:solidFill>
                  <a:srgbClr val="FF0000"/>
                </a:solidFill>
                <a:ea typeface="黑体" panose="02010609060101010101" pitchFamily="49" charset="-122"/>
              </a:rPr>
              <a:t> </a:t>
            </a:r>
            <a:r>
              <a:rPr lang="en-US" altLang="zh-CN" dirty="0" smtClean="0">
                <a:ea typeface="黑体" panose="02010609060101010101" pitchFamily="49" charset="-122"/>
              </a:rPr>
              <a:t>(tag)</a:t>
            </a:r>
            <a:r>
              <a:rPr lang="zh-CN" altLang="zh-CN" dirty="0" smtClean="0">
                <a:ea typeface="黑体" panose="02010609060101010101" pitchFamily="49" charset="-122"/>
              </a:rPr>
              <a:t>，用来指明发送该帧的计算机属于哪一个虚拟局域网。</a:t>
            </a:r>
            <a:endParaRPr lang="en-US" altLang="zh-CN" dirty="0" smtClean="0">
              <a:ea typeface="黑体" panose="02010609060101010101" pitchFamily="49" charset="-122"/>
            </a:endParaRPr>
          </a:p>
          <a:p>
            <a:r>
              <a:rPr lang="zh-CN" altLang="zh-CN" dirty="0" smtClean="0">
                <a:ea typeface="黑体" panose="02010609060101010101" pitchFamily="49" charset="-122"/>
              </a:rPr>
              <a:t>插入</a:t>
            </a:r>
            <a:r>
              <a:rPr lang="en-US" altLang="zh-CN" dirty="0" smtClean="0">
                <a:ea typeface="黑体" panose="02010609060101010101" pitchFamily="49" charset="-122"/>
              </a:rPr>
              <a:t> VLAN </a:t>
            </a:r>
            <a:r>
              <a:rPr lang="zh-CN" altLang="zh-CN" dirty="0" smtClean="0">
                <a:ea typeface="黑体" panose="02010609060101010101" pitchFamily="49" charset="-122"/>
              </a:rPr>
              <a:t>标记得出的帧称为</a:t>
            </a:r>
            <a:r>
              <a:rPr lang="en-US" altLang="zh-CN" dirty="0" smtClean="0">
                <a:ea typeface="黑体" panose="02010609060101010101" pitchFamily="49" charset="-122"/>
              </a:rPr>
              <a:t> </a:t>
            </a:r>
            <a:r>
              <a:rPr lang="en-US" altLang="zh-CN" dirty="0" smtClean="0">
                <a:solidFill>
                  <a:srgbClr val="FF0000"/>
                </a:solidFill>
                <a:ea typeface="黑体" panose="02010609060101010101" pitchFamily="49" charset="-122"/>
              </a:rPr>
              <a:t>802.1Q </a:t>
            </a:r>
            <a:r>
              <a:rPr lang="zh-CN" altLang="zh-CN" dirty="0" smtClean="0">
                <a:solidFill>
                  <a:srgbClr val="FF0000"/>
                </a:solidFill>
                <a:ea typeface="黑体" panose="02010609060101010101" pitchFamily="49" charset="-122"/>
              </a:rPr>
              <a:t>帧</a:t>
            </a:r>
            <a:r>
              <a:rPr lang="en-US" altLang="zh-CN" dirty="0" smtClean="0">
                <a:ea typeface="黑体" panose="02010609060101010101" pitchFamily="49" charset="-122"/>
              </a:rPr>
              <a:t> </a:t>
            </a:r>
            <a:r>
              <a:rPr lang="zh-CN" altLang="en-US" dirty="0" smtClean="0">
                <a:ea typeface="黑体" panose="02010609060101010101" pitchFamily="49" charset="-122"/>
              </a:rPr>
              <a:t>或 </a:t>
            </a:r>
            <a:r>
              <a:rPr lang="zh-CN" altLang="en-US" dirty="0" smtClean="0">
                <a:solidFill>
                  <a:srgbClr val="FF0000"/>
                </a:solidFill>
                <a:ea typeface="黑体" panose="02010609060101010101" pitchFamily="49" charset="-122"/>
              </a:rPr>
              <a:t>带标记的以太网帧</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6451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41AF83A-FEE3-4CED-B7FA-728BDA3E6A87}" type="slidenum">
              <a:rPr lang="zh-CN" altLang="en-US" smtClean="0"/>
              <a:pPr eaLnBrk="1" hangingPunct="1"/>
              <a:t>52</a:t>
            </a:fld>
            <a:endParaRPr lang="en-US" altLang="zh-CN" smtClean="0"/>
          </a:p>
        </p:txBody>
      </p:sp>
      <p:sp>
        <p:nvSpPr>
          <p:cNvPr id="6451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5" name="Rectangle 3"/>
          <p:cNvSpPr>
            <a:spLocks noGrp="1" noChangeArrowheads="1"/>
          </p:cNvSpPr>
          <p:nvPr>
            <p:ph type="title"/>
          </p:nvPr>
        </p:nvSpPr>
        <p:spPr/>
        <p:txBody>
          <a:bodyPr/>
          <a:lstStyle/>
          <a:p>
            <a:pPr algn="ctr"/>
            <a:r>
              <a:rPr lang="zh-CN" altLang="en-US" sz="4000" smtClean="0">
                <a:ea typeface="黑体" panose="02010609060101010101" pitchFamily="49" charset="-122"/>
              </a:rPr>
              <a:t>虚拟局域网使用的以太网帧格式</a:t>
            </a:r>
          </a:p>
        </p:txBody>
      </p:sp>
      <p:sp>
        <p:nvSpPr>
          <p:cNvPr id="646146" name="矩形 4"/>
          <p:cNvSpPr>
            <a:spLocks noChangeArrowheads="1"/>
          </p:cNvSpPr>
          <p:nvPr/>
        </p:nvSpPr>
        <p:spPr bwMode="auto">
          <a:xfrm>
            <a:off x="1919288" y="5805488"/>
            <a:ext cx="5913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插入</a:t>
            </a:r>
            <a:r>
              <a:rPr lang="en-US" altLang="zh-CN" sz="2400" b="1">
                <a:ea typeface="黑体" panose="02010609060101010101" pitchFamily="49" charset="-122"/>
              </a:rPr>
              <a:t> VLAN </a:t>
            </a:r>
            <a:r>
              <a:rPr lang="zh-CN" altLang="zh-CN" sz="2400" b="1">
                <a:ea typeface="黑体" panose="02010609060101010101" pitchFamily="49" charset="-122"/>
              </a:rPr>
              <a:t>标记后变成了</a:t>
            </a:r>
            <a:r>
              <a:rPr lang="en-US" altLang="zh-CN" sz="2400" b="1">
                <a:ea typeface="黑体" panose="02010609060101010101" pitchFamily="49" charset="-122"/>
              </a:rPr>
              <a:t> 802.1Q </a:t>
            </a:r>
            <a:r>
              <a:rPr lang="zh-CN" altLang="zh-CN" sz="2400" b="1">
                <a:ea typeface="黑体" panose="02010609060101010101" pitchFamily="49" charset="-122"/>
              </a:rPr>
              <a:t>帧</a:t>
            </a:r>
            <a:endParaRPr lang="zh-CN" altLang="en-US" sz="2400" b="1">
              <a:ea typeface="黑体" panose="02010609060101010101" pitchFamily="49" charset="-122"/>
            </a:endParaRPr>
          </a:p>
        </p:txBody>
      </p:sp>
      <p:grpSp>
        <p:nvGrpSpPr>
          <p:cNvPr id="646147" name="组合 7"/>
          <p:cNvGrpSpPr>
            <a:grpSpLocks/>
          </p:cNvGrpSpPr>
          <p:nvPr/>
        </p:nvGrpSpPr>
        <p:grpSpPr bwMode="auto">
          <a:xfrm>
            <a:off x="344488" y="1096963"/>
            <a:ext cx="8929687" cy="4632325"/>
            <a:chOff x="560512" y="1097692"/>
            <a:chExt cx="8928992" cy="4631258"/>
          </a:xfrm>
        </p:grpSpPr>
        <p:grpSp>
          <p:nvGrpSpPr>
            <p:cNvPr id="646148" name="组合 3"/>
            <p:cNvGrpSpPr>
              <a:grpSpLocks/>
            </p:cNvGrpSpPr>
            <p:nvPr/>
          </p:nvGrpSpPr>
          <p:grpSpPr bwMode="auto">
            <a:xfrm>
              <a:off x="560512" y="1546339"/>
              <a:ext cx="8928992" cy="4182611"/>
              <a:chOff x="560512" y="1484784"/>
              <a:chExt cx="8928992" cy="4182611"/>
            </a:xfrm>
          </p:grpSpPr>
          <p:sp>
            <p:nvSpPr>
              <p:cNvPr id="646149" name="Rectangle 4"/>
              <p:cNvSpPr>
                <a:spLocks noChangeArrowheads="1"/>
              </p:cNvSpPr>
              <p:nvPr/>
            </p:nvSpPr>
            <p:spPr bwMode="auto">
              <a:xfrm>
                <a:off x="560512" y="2030884"/>
                <a:ext cx="102592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80000"/>
                  </a:lnSpc>
                </a:pPr>
                <a:r>
                  <a:rPr lang="zh-CN" altLang="en-US" sz="2000" b="1">
                    <a:solidFill>
                      <a:srgbClr val="0000CC"/>
                    </a:solidFill>
                    <a:ea typeface="黑体" panose="02010609060101010101" pitchFamily="49" charset="-122"/>
                  </a:rPr>
                  <a:t>以太网</a:t>
                </a:r>
                <a:endParaRPr lang="en-US" altLang="zh-CN" sz="2000" b="1">
                  <a:solidFill>
                    <a:srgbClr val="0000CC"/>
                  </a:solidFill>
                  <a:ea typeface="黑体" panose="02010609060101010101" pitchFamily="49" charset="-122"/>
                </a:endParaRPr>
              </a:p>
              <a:p>
                <a:pPr algn="ctr">
                  <a:lnSpc>
                    <a:spcPct val="80000"/>
                  </a:lnSpc>
                </a:pPr>
                <a:r>
                  <a:rPr lang="en-US" altLang="zh-CN" sz="2000" b="1">
                    <a:solidFill>
                      <a:srgbClr val="0000CC"/>
                    </a:solidFill>
                    <a:ea typeface="黑体" panose="02010609060101010101" pitchFamily="49" charset="-122"/>
                  </a:rPr>
                  <a:t>MAC</a:t>
                </a:r>
                <a:r>
                  <a:rPr lang="zh-CN" altLang="en-US" sz="2000" b="1">
                    <a:solidFill>
                      <a:srgbClr val="0000CC"/>
                    </a:solidFill>
                    <a:ea typeface="黑体" panose="02010609060101010101" pitchFamily="49" charset="-122"/>
                  </a:rPr>
                  <a:t>帧</a:t>
                </a:r>
              </a:p>
            </p:txBody>
          </p:sp>
          <p:sp>
            <p:nvSpPr>
              <p:cNvPr id="646150" name="Rectangle 5"/>
              <p:cNvSpPr>
                <a:spLocks noChangeArrowheads="1"/>
              </p:cNvSpPr>
              <p:nvPr/>
            </p:nvSpPr>
            <p:spPr bwMode="auto">
              <a:xfrm>
                <a:off x="887526" y="1495237"/>
                <a:ext cx="69891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字节</a:t>
                </a:r>
                <a:endParaRPr lang="en-US" altLang="zh-CN" sz="2000" b="1">
                  <a:solidFill>
                    <a:srgbClr val="0000CC"/>
                  </a:solidFill>
                  <a:ea typeface="黑体" panose="02010609060101010101" pitchFamily="49" charset="-122"/>
                </a:endParaRPr>
              </a:p>
            </p:txBody>
          </p:sp>
          <p:sp>
            <p:nvSpPr>
              <p:cNvPr id="646151" name="Rectangle 6"/>
              <p:cNvSpPr>
                <a:spLocks noChangeArrowheads="1"/>
              </p:cNvSpPr>
              <p:nvPr/>
            </p:nvSpPr>
            <p:spPr bwMode="auto">
              <a:xfrm>
                <a:off x="1963963"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6</a:t>
                </a:r>
              </a:p>
            </p:txBody>
          </p:sp>
          <p:sp>
            <p:nvSpPr>
              <p:cNvPr id="646152" name="Rectangle 7"/>
              <p:cNvSpPr>
                <a:spLocks noChangeArrowheads="1"/>
              </p:cNvSpPr>
              <p:nvPr/>
            </p:nvSpPr>
            <p:spPr bwMode="auto">
              <a:xfrm>
                <a:off x="3175446"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6</a:t>
                </a:r>
              </a:p>
            </p:txBody>
          </p:sp>
          <p:sp>
            <p:nvSpPr>
              <p:cNvPr id="646153" name="Rectangle 8"/>
              <p:cNvSpPr>
                <a:spLocks noChangeArrowheads="1"/>
              </p:cNvSpPr>
              <p:nvPr/>
            </p:nvSpPr>
            <p:spPr bwMode="auto">
              <a:xfrm>
                <a:off x="5537646"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2</a:t>
                </a:r>
              </a:p>
            </p:txBody>
          </p:sp>
          <p:sp>
            <p:nvSpPr>
              <p:cNvPr id="646154" name="Rectangle 9"/>
              <p:cNvSpPr>
                <a:spLocks noChangeArrowheads="1"/>
              </p:cNvSpPr>
              <p:nvPr/>
            </p:nvSpPr>
            <p:spPr bwMode="auto">
              <a:xfrm>
                <a:off x="6596895" y="1487959"/>
                <a:ext cx="1524457"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46 ~ 1500</a:t>
                </a:r>
              </a:p>
            </p:txBody>
          </p:sp>
          <p:sp>
            <p:nvSpPr>
              <p:cNvPr id="646155" name="Rectangle 10"/>
              <p:cNvSpPr>
                <a:spLocks noChangeArrowheads="1"/>
              </p:cNvSpPr>
              <p:nvPr/>
            </p:nvSpPr>
            <p:spPr bwMode="auto">
              <a:xfrm>
                <a:off x="8657654" y="1487959"/>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a:t>
                </a:r>
              </a:p>
            </p:txBody>
          </p:sp>
          <p:sp>
            <p:nvSpPr>
              <p:cNvPr id="646156" name="Freeform 11"/>
              <p:cNvSpPr>
                <a:spLocks noChangeArrowheads="1"/>
              </p:cNvSpPr>
              <p:nvPr/>
            </p:nvSpPr>
            <p:spPr bwMode="auto">
              <a:xfrm>
                <a:off x="1564134" y="2555776"/>
                <a:ext cx="6302375" cy="604838"/>
              </a:xfrm>
              <a:custGeom>
                <a:avLst/>
                <a:gdLst>
                  <a:gd name="T0" fmla="*/ 1543 w 3970"/>
                  <a:gd name="T1" fmla="*/ 4 h 381"/>
                  <a:gd name="T2" fmla="*/ 2242 w 3970"/>
                  <a:gd name="T3" fmla="*/ 0 h 381"/>
                  <a:gd name="T4" fmla="*/ 3970 w 3970"/>
                  <a:gd name="T5" fmla="*/ 381 h 381"/>
                  <a:gd name="T6" fmla="*/ 0 w 3970"/>
                  <a:gd name="T7" fmla="*/ 381 h 381"/>
                  <a:gd name="T8" fmla="*/ 1543 w 3970"/>
                  <a:gd name="T9" fmla="*/ 4 h 381"/>
                </a:gdLst>
                <a:ahLst/>
                <a:cxnLst>
                  <a:cxn ang="0">
                    <a:pos x="T0" y="T1"/>
                  </a:cxn>
                  <a:cxn ang="0">
                    <a:pos x="T2" y="T3"/>
                  </a:cxn>
                  <a:cxn ang="0">
                    <a:pos x="T4" y="T5"/>
                  </a:cxn>
                  <a:cxn ang="0">
                    <a:pos x="T6" y="T7"/>
                  </a:cxn>
                  <a:cxn ang="0">
                    <a:pos x="T8" y="T9"/>
                  </a:cxn>
                </a:cxnLst>
                <a:rect l="0" t="0" r="r" b="b"/>
                <a:pathLst>
                  <a:path w="3970" h="381">
                    <a:moveTo>
                      <a:pt x="1543" y="4"/>
                    </a:moveTo>
                    <a:lnTo>
                      <a:pt x="2242" y="0"/>
                    </a:lnTo>
                    <a:lnTo>
                      <a:pt x="3970" y="381"/>
                    </a:lnTo>
                    <a:lnTo>
                      <a:pt x="0" y="381"/>
                    </a:lnTo>
                    <a:lnTo>
                      <a:pt x="1543" y="4"/>
                    </a:lnTo>
                    <a:close/>
                  </a:path>
                </a:pathLst>
              </a:custGeom>
              <a:gradFill rotWithShape="1">
                <a:gsLst>
                  <a:gs pos="0">
                    <a:srgbClr val="FFFF00"/>
                  </a:gs>
                  <a:gs pos="100000">
                    <a:srgbClr val="CC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646157" name="Rectangle 13"/>
              <p:cNvSpPr>
                <a:spLocks noChangeArrowheads="1"/>
              </p:cNvSpPr>
              <p:nvPr/>
            </p:nvSpPr>
            <p:spPr bwMode="auto">
              <a:xfrm>
                <a:off x="6329238" y="4519573"/>
                <a:ext cx="3016250"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CC"/>
                    </a:solidFill>
                    <a:ea typeface="黑体" panose="02010609060101010101" pitchFamily="49" charset="-122"/>
                  </a:rPr>
                  <a:t>VLAN </a:t>
                </a:r>
                <a:r>
                  <a:rPr lang="zh-CN" altLang="zh-CN" b="1">
                    <a:solidFill>
                      <a:srgbClr val="0000CC"/>
                    </a:solidFill>
                    <a:ea typeface="黑体" panose="02010609060101010101" pitchFamily="49" charset="-122"/>
                  </a:rPr>
                  <a:t>标识符</a:t>
                </a:r>
                <a:endParaRPr lang="en-US" altLang="zh-CN" b="1">
                  <a:solidFill>
                    <a:srgbClr val="0000CC"/>
                  </a:solidFill>
                  <a:ea typeface="黑体" panose="02010609060101010101" pitchFamily="49" charset="-122"/>
                </a:endParaRPr>
              </a:p>
              <a:p>
                <a:pPr algn="ctr"/>
                <a:r>
                  <a:rPr lang="en-US" altLang="zh-CN" b="1">
                    <a:solidFill>
                      <a:srgbClr val="0000CC"/>
                    </a:solidFill>
                    <a:ea typeface="黑体" panose="02010609060101010101" pitchFamily="49" charset="-122"/>
                  </a:rPr>
                  <a:t>12 </a:t>
                </a:r>
                <a:r>
                  <a:rPr lang="zh-CN" altLang="en-US" b="1">
                    <a:solidFill>
                      <a:srgbClr val="0000CC"/>
                    </a:solidFill>
                    <a:ea typeface="黑体" panose="02010609060101010101" pitchFamily="49" charset="-122"/>
                  </a:rPr>
                  <a:t>位</a:t>
                </a:r>
                <a:r>
                  <a:rPr lang="en-US" altLang="zh-CN" b="1">
                    <a:solidFill>
                      <a:srgbClr val="0000CC"/>
                    </a:solidFill>
                    <a:ea typeface="黑体" panose="02010609060101010101" pitchFamily="49" charset="-122"/>
                  </a:rPr>
                  <a:t> (4096</a:t>
                </a:r>
                <a:r>
                  <a:rPr lang="zh-CN" altLang="en-US" b="1">
                    <a:solidFill>
                      <a:srgbClr val="0000CC"/>
                    </a:solidFill>
                    <a:ea typeface="黑体" panose="02010609060101010101" pitchFamily="49" charset="-122"/>
                  </a:rPr>
                  <a:t>个</a:t>
                </a:r>
                <a:r>
                  <a:rPr lang="en-US" altLang="zh-CN" b="1">
                    <a:solidFill>
                      <a:srgbClr val="0000CC"/>
                    </a:solidFill>
                    <a:ea typeface="黑体" panose="02010609060101010101" pitchFamily="49" charset="-122"/>
                  </a:rPr>
                  <a:t>VLAN)</a:t>
                </a:r>
              </a:p>
            </p:txBody>
          </p:sp>
          <p:sp>
            <p:nvSpPr>
              <p:cNvPr id="646158" name="Rectangle 14"/>
              <p:cNvSpPr>
                <a:spLocks noChangeArrowheads="1"/>
              </p:cNvSpPr>
              <p:nvPr/>
            </p:nvSpPr>
            <p:spPr bwMode="auto">
              <a:xfrm>
                <a:off x="4318446" y="1484784"/>
                <a:ext cx="346250"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latin typeface="Tahoma" panose="020B0604030504040204" pitchFamily="34" charset="0"/>
                    <a:ea typeface="黑体" panose="02010609060101010101" pitchFamily="49" charset="-122"/>
                  </a:rPr>
                  <a:t>4</a:t>
                </a:r>
              </a:p>
            </p:txBody>
          </p:sp>
          <p:sp>
            <p:nvSpPr>
              <p:cNvPr id="646159" name="Rectangle 18"/>
              <p:cNvSpPr>
                <a:spLocks noChangeArrowheads="1"/>
              </p:cNvSpPr>
              <p:nvPr/>
            </p:nvSpPr>
            <p:spPr bwMode="auto">
              <a:xfrm>
                <a:off x="3296816" y="4447565"/>
                <a:ext cx="1344921"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CC"/>
                    </a:solidFill>
                    <a:ea typeface="黑体" panose="02010609060101010101" pitchFamily="49" charset="-122"/>
                  </a:rPr>
                  <a:t>用户优先级</a:t>
                </a:r>
                <a:endParaRPr lang="en-US" altLang="zh-CN" b="1">
                  <a:solidFill>
                    <a:srgbClr val="0000CC"/>
                  </a:solidFill>
                  <a:ea typeface="黑体" panose="02010609060101010101" pitchFamily="49" charset="-122"/>
                </a:endParaRPr>
              </a:p>
              <a:p>
                <a:pPr algn="ctr"/>
                <a:r>
                  <a:rPr lang="en-US" altLang="zh-CN" b="1">
                    <a:solidFill>
                      <a:srgbClr val="0000CC"/>
                    </a:solidFill>
                    <a:ea typeface="黑体" panose="02010609060101010101" pitchFamily="49" charset="-122"/>
                  </a:rPr>
                  <a:t>3 </a:t>
                </a:r>
                <a:r>
                  <a:rPr lang="zh-CN" altLang="en-US" b="1">
                    <a:solidFill>
                      <a:srgbClr val="0000CC"/>
                    </a:solidFill>
                    <a:ea typeface="黑体" panose="02010609060101010101" pitchFamily="49" charset="-122"/>
                  </a:rPr>
                  <a:t>位</a:t>
                </a:r>
                <a:endParaRPr lang="en-US" altLang="zh-CN" b="1">
                  <a:solidFill>
                    <a:srgbClr val="0000CC"/>
                  </a:solidFill>
                  <a:ea typeface="黑体" panose="02010609060101010101" pitchFamily="49" charset="-122"/>
                </a:endParaRPr>
              </a:p>
            </p:txBody>
          </p:sp>
          <p:sp>
            <p:nvSpPr>
              <p:cNvPr id="646160" name="Rectangle 21"/>
              <p:cNvSpPr>
                <a:spLocks noChangeArrowheads="1"/>
              </p:cNvSpPr>
              <p:nvPr/>
            </p:nvSpPr>
            <p:spPr bwMode="auto">
              <a:xfrm>
                <a:off x="4145367" y="5023629"/>
                <a:ext cx="2463817" cy="64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zh-CN" b="1">
                    <a:solidFill>
                      <a:srgbClr val="0000CC"/>
                    </a:solidFill>
                    <a:ea typeface="黑体" panose="02010609060101010101" pitchFamily="49" charset="-122"/>
                  </a:rPr>
                  <a:t>规范格式指示符</a:t>
                </a:r>
                <a:r>
                  <a:rPr lang="en-US" altLang="zh-CN" b="1">
                    <a:solidFill>
                      <a:srgbClr val="0000CC"/>
                    </a:solidFill>
                    <a:ea typeface="黑体" panose="02010609060101010101" pitchFamily="49" charset="-122"/>
                  </a:rPr>
                  <a:t>( CFI )</a:t>
                </a:r>
              </a:p>
              <a:p>
                <a:pPr algn="ctr"/>
                <a:r>
                  <a:rPr lang="en-US" altLang="zh-CN" b="1">
                    <a:solidFill>
                      <a:srgbClr val="0000CC"/>
                    </a:solidFill>
                    <a:ea typeface="黑体" panose="02010609060101010101" pitchFamily="49" charset="-122"/>
                  </a:rPr>
                  <a:t>1 </a:t>
                </a:r>
                <a:r>
                  <a:rPr lang="zh-CN" altLang="en-US" b="1">
                    <a:solidFill>
                      <a:srgbClr val="0000CC"/>
                    </a:solidFill>
                    <a:ea typeface="黑体" panose="02010609060101010101" pitchFamily="49" charset="-122"/>
                  </a:rPr>
                  <a:t>位</a:t>
                </a:r>
                <a:r>
                  <a:rPr lang="en-US" altLang="zh-CN" b="1">
                    <a:solidFill>
                      <a:srgbClr val="0000CC"/>
                    </a:solidFill>
                    <a:ea typeface="黑体" panose="02010609060101010101" pitchFamily="49" charset="-122"/>
                  </a:rPr>
                  <a:t> </a:t>
                </a:r>
              </a:p>
            </p:txBody>
          </p:sp>
          <p:sp>
            <p:nvSpPr>
              <p:cNvPr id="646161" name="Rectangle 22"/>
              <p:cNvSpPr>
                <a:spLocks noChangeArrowheads="1"/>
              </p:cNvSpPr>
              <p:nvPr/>
            </p:nvSpPr>
            <p:spPr bwMode="auto">
              <a:xfrm>
                <a:off x="1590900" y="1869976"/>
                <a:ext cx="1197196"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目地地址</a:t>
                </a:r>
              </a:p>
            </p:txBody>
          </p:sp>
          <p:sp>
            <p:nvSpPr>
              <p:cNvPr id="646162" name="Rectangle 23"/>
              <p:cNvSpPr>
                <a:spLocks noChangeArrowheads="1"/>
              </p:cNvSpPr>
              <p:nvPr/>
            </p:nvSpPr>
            <p:spPr bwMode="auto">
              <a:xfrm>
                <a:off x="2788096" y="1869976"/>
                <a:ext cx="1143000"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源地址</a:t>
                </a:r>
              </a:p>
            </p:txBody>
          </p:sp>
          <p:sp>
            <p:nvSpPr>
              <p:cNvPr id="646163" name="Rectangle 24"/>
              <p:cNvSpPr>
                <a:spLocks noChangeArrowheads="1"/>
              </p:cNvSpPr>
              <p:nvPr/>
            </p:nvSpPr>
            <p:spPr bwMode="auto">
              <a:xfrm>
                <a:off x="3931096" y="1869976"/>
                <a:ext cx="1219200" cy="685800"/>
              </a:xfrm>
              <a:prstGeom prst="rect">
                <a:avLst/>
              </a:prstGeom>
              <a:solidFill>
                <a:srgbClr val="FFFF00"/>
              </a:solidFill>
              <a:ln w="19050">
                <a:solidFill>
                  <a:schemeClr val="tx1"/>
                </a:solidFill>
                <a:miter lim="800000"/>
                <a:headEnd/>
                <a:tailEnd/>
              </a:ln>
            </p:spPr>
            <p:txBody>
              <a:bodyPr wrap="none" anchor="ctr"/>
              <a:lstStyle/>
              <a:p>
                <a:pPr algn="ctr" eaLnBrk="0" hangingPunct="0"/>
                <a:r>
                  <a:rPr lang="en-US" altLang="zh-CN" b="1">
                    <a:ea typeface="宋体" panose="02010600030101010101" pitchFamily="2" charset="-122"/>
                  </a:rPr>
                  <a:t>802.1Q</a:t>
                </a:r>
              </a:p>
              <a:p>
                <a:pPr algn="ctr" eaLnBrk="0" hangingPunct="0"/>
                <a:r>
                  <a:rPr lang="zh-CN" altLang="en-US" b="1">
                    <a:ea typeface="宋体" panose="02010600030101010101" pitchFamily="2" charset="-122"/>
                  </a:rPr>
                  <a:t>标记</a:t>
                </a:r>
                <a:endParaRPr lang="en-US" altLang="zh-CN" b="1">
                  <a:ea typeface="宋体" panose="02010600030101010101" pitchFamily="2" charset="-122"/>
                </a:endParaRPr>
              </a:p>
            </p:txBody>
          </p:sp>
          <p:sp>
            <p:nvSpPr>
              <p:cNvPr id="646164" name="Rectangle 25"/>
              <p:cNvSpPr>
                <a:spLocks noChangeArrowheads="1"/>
              </p:cNvSpPr>
              <p:nvPr/>
            </p:nvSpPr>
            <p:spPr bwMode="auto">
              <a:xfrm>
                <a:off x="5150296" y="1869976"/>
                <a:ext cx="1291208" cy="685800"/>
              </a:xfrm>
              <a:prstGeom prst="rect">
                <a:avLst/>
              </a:prstGeom>
              <a:solidFill>
                <a:srgbClr val="CCFFFF"/>
              </a:solidFill>
              <a:ln w="19050">
                <a:solidFill>
                  <a:schemeClr val="tx1"/>
                </a:solidFill>
                <a:miter lim="800000"/>
                <a:headEnd/>
                <a:tailEnd/>
              </a:ln>
            </p:spPr>
            <p:txBody>
              <a:bodyPr wrap="none" anchor="ct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长度</a:t>
                </a:r>
                <a:r>
                  <a:rPr lang="en-US" altLang="zh-CN" sz="2000" b="1">
                    <a:solidFill>
                      <a:srgbClr val="000099"/>
                    </a:solidFill>
                    <a:ea typeface="黑体" panose="02010609060101010101" pitchFamily="49" charset="-122"/>
                  </a:rPr>
                  <a:t>/</a:t>
                </a:r>
                <a:r>
                  <a:rPr lang="zh-CN" altLang="en-US" sz="2000" b="1">
                    <a:solidFill>
                      <a:srgbClr val="000099"/>
                    </a:solidFill>
                    <a:ea typeface="黑体" panose="02010609060101010101" pitchFamily="49" charset="-122"/>
                  </a:rPr>
                  <a:t>类型</a:t>
                </a:r>
              </a:p>
            </p:txBody>
          </p:sp>
          <p:sp>
            <p:nvSpPr>
              <p:cNvPr id="646165"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zh-CN" altLang="en-US" sz="2000" b="1">
                    <a:solidFill>
                      <a:srgbClr val="000099"/>
                    </a:solidFill>
                    <a:ea typeface="黑体" panose="02010609060101010101" pitchFamily="49" charset="-122"/>
                  </a:rPr>
                  <a:t>数      据</a:t>
                </a:r>
              </a:p>
            </p:txBody>
          </p:sp>
          <p:sp>
            <p:nvSpPr>
              <p:cNvPr id="646166" name="Rectangle 27"/>
              <p:cNvSpPr>
                <a:spLocks noChangeArrowheads="1"/>
              </p:cNvSpPr>
              <p:nvPr/>
            </p:nvSpPr>
            <p:spPr bwMode="auto">
              <a:xfrm>
                <a:off x="8270304" y="1869976"/>
                <a:ext cx="1219200" cy="685800"/>
              </a:xfrm>
              <a:prstGeom prst="rect">
                <a:avLst/>
              </a:prstGeom>
              <a:solidFill>
                <a:srgbClr val="CCFFFF"/>
              </a:solidFill>
              <a:ln w="19050">
                <a:solidFill>
                  <a:schemeClr val="tx1"/>
                </a:solidFill>
                <a:miter lim="800000"/>
                <a:headEnd/>
                <a:tailEnd/>
              </a:ln>
            </p:spPr>
            <p:txBody>
              <a:bodyPr wrap="none" anchor="ctr"/>
              <a:lstStyle/>
              <a:p>
                <a:pPr algn="ctr" eaLnBrk="0" hangingPunct="0"/>
                <a:r>
                  <a:rPr lang="en-US" altLang="zh-CN" sz="2000" b="1">
                    <a:solidFill>
                      <a:srgbClr val="000099"/>
                    </a:solidFill>
                    <a:ea typeface="宋体" panose="02010600030101010101" pitchFamily="2" charset="-122"/>
                  </a:rPr>
                  <a:t>FCS</a:t>
                </a:r>
              </a:p>
            </p:txBody>
          </p:sp>
          <p:sp>
            <p:nvSpPr>
              <p:cNvPr id="646167" name="Rectangle 33"/>
              <p:cNvSpPr>
                <a:spLocks noChangeArrowheads="1"/>
              </p:cNvSpPr>
              <p:nvPr/>
            </p:nvSpPr>
            <p:spPr bwMode="auto">
              <a:xfrm>
                <a:off x="2864768" y="2815431"/>
                <a:ext cx="93775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C0000"/>
                    </a:solidFill>
                    <a:latin typeface="Tahoma" panose="020B0604030504040204" pitchFamily="34" charset="0"/>
                    <a:ea typeface="黑体" panose="02010609060101010101" pitchFamily="49" charset="-122"/>
                  </a:rPr>
                  <a:t>2 </a:t>
                </a:r>
                <a:r>
                  <a:rPr lang="zh-CN" altLang="en-US" sz="2000" b="1">
                    <a:solidFill>
                      <a:srgbClr val="CC0000"/>
                    </a:solidFill>
                    <a:latin typeface="Tahoma" panose="020B0604030504040204" pitchFamily="34" charset="0"/>
                    <a:ea typeface="黑体" panose="02010609060101010101" pitchFamily="49" charset="-122"/>
                  </a:rPr>
                  <a:t>字节</a:t>
                </a:r>
                <a:endParaRPr lang="en-US" altLang="zh-CN" sz="2000" b="1">
                  <a:solidFill>
                    <a:srgbClr val="CC0000"/>
                  </a:solidFill>
                  <a:latin typeface="Tahoma" panose="020B0604030504040204" pitchFamily="34" charset="0"/>
                  <a:ea typeface="黑体" panose="02010609060101010101" pitchFamily="49" charset="-122"/>
                </a:endParaRPr>
              </a:p>
            </p:txBody>
          </p:sp>
          <p:sp>
            <p:nvSpPr>
              <p:cNvPr id="646168" name="Rectangle 34"/>
              <p:cNvSpPr>
                <a:spLocks noChangeArrowheads="1"/>
              </p:cNvSpPr>
              <p:nvPr/>
            </p:nvSpPr>
            <p:spPr bwMode="auto">
              <a:xfrm>
                <a:off x="5743434" y="2815431"/>
                <a:ext cx="937758"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CC0000"/>
                    </a:solidFill>
                    <a:latin typeface="Tahoma" panose="020B0604030504040204" pitchFamily="34" charset="0"/>
                    <a:ea typeface="黑体" panose="02010609060101010101" pitchFamily="49" charset="-122"/>
                  </a:rPr>
                  <a:t>2 </a:t>
                </a:r>
                <a:r>
                  <a:rPr lang="zh-CN" altLang="en-US" sz="2000" b="1">
                    <a:solidFill>
                      <a:srgbClr val="CC0000"/>
                    </a:solidFill>
                    <a:latin typeface="Tahoma" panose="020B0604030504040204" pitchFamily="34" charset="0"/>
                    <a:ea typeface="黑体" panose="02010609060101010101" pitchFamily="49" charset="-122"/>
                  </a:rPr>
                  <a:t>字节</a:t>
                </a:r>
                <a:endParaRPr lang="en-US" altLang="zh-CN" sz="2000" b="1">
                  <a:solidFill>
                    <a:srgbClr val="CC0000"/>
                  </a:solidFill>
                  <a:latin typeface="Tahoma" panose="020B0604030504040204" pitchFamily="34" charset="0"/>
                  <a:ea typeface="黑体" panose="02010609060101010101" pitchFamily="49" charset="-122"/>
                </a:endParaRPr>
              </a:p>
            </p:txBody>
          </p:sp>
          <p:grpSp>
            <p:nvGrpSpPr>
              <p:cNvPr id="646169" name="组合 1"/>
              <p:cNvGrpSpPr>
                <a:grpSpLocks/>
              </p:cNvGrpSpPr>
              <p:nvPr/>
            </p:nvGrpSpPr>
            <p:grpSpPr bwMode="auto">
              <a:xfrm>
                <a:off x="1568896" y="3165376"/>
                <a:ext cx="6296025" cy="1125979"/>
                <a:chOff x="1568896" y="3165376"/>
                <a:chExt cx="6296025" cy="1125979"/>
              </a:xfrm>
            </p:grpSpPr>
            <p:sp>
              <p:nvSpPr>
                <p:cNvPr id="646170" name="Rectangle 3"/>
                <p:cNvSpPr>
                  <a:spLocks noChangeArrowheads="1"/>
                </p:cNvSpPr>
                <p:nvPr/>
              </p:nvSpPr>
              <p:spPr bwMode="auto">
                <a:xfrm>
                  <a:off x="1568896" y="3165376"/>
                  <a:ext cx="6286500" cy="1066800"/>
                </a:xfrm>
                <a:prstGeom prst="rect">
                  <a:avLst/>
                </a:prstGeom>
                <a:solidFill>
                  <a:srgbClr val="CCFF99"/>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sz="1600">
                    <a:ea typeface="宋体" panose="02010600030101010101" pitchFamily="2" charset="-122"/>
                  </a:endParaRPr>
                </a:p>
              </p:txBody>
            </p:sp>
            <p:sp>
              <p:nvSpPr>
                <p:cNvPr id="646171" name="Line 12"/>
                <p:cNvSpPr>
                  <a:spLocks noChangeShapeType="1"/>
                </p:cNvSpPr>
                <p:nvPr/>
              </p:nvSpPr>
              <p:spPr bwMode="auto">
                <a:xfrm>
                  <a:off x="4816921" y="3165376"/>
                  <a:ext cx="0" cy="1066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2" name="Line 15"/>
                <p:cNvSpPr>
                  <a:spLocks noChangeShapeType="1"/>
                </p:cNvSpPr>
                <p:nvPr/>
              </p:nvSpPr>
              <p:spPr bwMode="auto">
                <a:xfrm>
                  <a:off x="1568896" y="3645024"/>
                  <a:ext cx="62960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4" name="Line 17"/>
                <p:cNvSpPr>
                  <a:spLocks noChangeShapeType="1"/>
                </p:cNvSpPr>
                <p:nvPr/>
              </p:nvSpPr>
              <p:spPr bwMode="auto">
                <a:xfrm>
                  <a:off x="5321746" y="3645024"/>
                  <a:ext cx="0" cy="5871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a:ea typeface="宋体" panose="02010600030101010101" pitchFamily="2" charset="-122"/>
                  </a:endParaRPr>
                </a:p>
              </p:txBody>
            </p:sp>
            <p:sp>
              <p:nvSpPr>
                <p:cNvPr id="646175" name="Text Box 28"/>
                <p:cNvSpPr txBox="1">
                  <a:spLocks noChangeArrowheads="1"/>
                </p:cNvSpPr>
                <p:nvPr/>
              </p:nvSpPr>
              <p:spPr bwMode="auto">
                <a:xfrm>
                  <a:off x="2288704" y="3212976"/>
                  <a:ext cx="2223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802.1Q </a:t>
                  </a:r>
                  <a:r>
                    <a:rPr lang="zh-CN" altLang="en-US" sz="2000" b="1">
                      <a:latin typeface="Tahoma" panose="020B0604030504040204" pitchFamily="34" charset="0"/>
                      <a:ea typeface="宋体" panose="02010600030101010101" pitchFamily="2" charset="-122"/>
                    </a:rPr>
                    <a:t>标记类型</a:t>
                  </a:r>
                  <a:endParaRPr lang="en-US" altLang="zh-CN" sz="2000" b="1">
                    <a:latin typeface="Tahoma" panose="020B0604030504040204" pitchFamily="34" charset="0"/>
                    <a:ea typeface="宋体" panose="02010600030101010101" pitchFamily="2" charset="-122"/>
                  </a:endParaRPr>
                </a:p>
              </p:txBody>
            </p:sp>
            <p:sp>
              <p:nvSpPr>
                <p:cNvPr id="646176" name="Text Box 29"/>
                <p:cNvSpPr txBox="1">
                  <a:spLocks noChangeArrowheads="1"/>
                </p:cNvSpPr>
                <p:nvPr/>
              </p:nvSpPr>
              <p:spPr bwMode="auto">
                <a:xfrm>
                  <a:off x="1590899" y="3645024"/>
                  <a:ext cx="322602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latin typeface="Tahoma" panose="020B0604030504040204" pitchFamily="34" charset="0"/>
                      <a:ea typeface="宋体" panose="02010600030101010101" pitchFamily="2" charset="-122"/>
                    </a:rPr>
                    <a:t>0</a:t>
                  </a:r>
                  <a:r>
                    <a:rPr lang="en-US" altLang="zh-CN" sz="1600" b="1">
                      <a:latin typeface="Tahoma" panose="020B0604030504040204" pitchFamily="34" charset="0"/>
                      <a:ea typeface="宋体" panose="02010600030101010101" pitchFamily="2" charset="-122"/>
                    </a:rPr>
                    <a:t>X</a:t>
                  </a:r>
                  <a:r>
                    <a:rPr lang="en-US" altLang="zh-CN" sz="2000" b="1">
                      <a:latin typeface="Tahoma" panose="020B0604030504040204" pitchFamily="34" charset="0"/>
                      <a:ea typeface="宋体" panose="02010600030101010101" pitchFamily="2" charset="-122"/>
                    </a:rPr>
                    <a:t>8100</a:t>
                  </a:r>
                </a:p>
                <a:p>
                  <a:pPr algn="ctr" eaLnBrk="0" hangingPunct="0"/>
                  <a:r>
                    <a:rPr lang="en-US" altLang="zh-CN" sz="1600" b="1">
                      <a:solidFill>
                        <a:srgbClr val="000099"/>
                      </a:solidFill>
                      <a:ea typeface="黑体" panose="02010609060101010101" pitchFamily="49" charset="-122"/>
                    </a:rPr>
                    <a:t>(1 0 0 0 0 0 0 1  0 0 0 0 0 0 0 0)</a:t>
                  </a:r>
                  <a:endParaRPr lang="en-US" altLang="zh-CN" sz="1600" b="1">
                    <a:latin typeface="Tahoma" panose="020B0604030504040204" pitchFamily="34" charset="0"/>
                    <a:ea typeface="宋体" panose="02010600030101010101" pitchFamily="2" charset="-122"/>
                  </a:endParaRPr>
                </a:p>
              </p:txBody>
            </p:sp>
            <p:sp>
              <p:nvSpPr>
                <p:cNvPr id="646177" name="Text Box 30"/>
                <p:cNvSpPr txBox="1">
                  <a:spLocks noChangeArrowheads="1"/>
                </p:cNvSpPr>
                <p:nvPr/>
              </p:nvSpPr>
              <p:spPr bwMode="auto">
                <a:xfrm>
                  <a:off x="4736976" y="3717032"/>
                  <a:ext cx="66236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PRI</a:t>
                  </a:r>
                </a:p>
              </p:txBody>
            </p:sp>
            <p:sp>
              <p:nvSpPr>
                <p:cNvPr id="646178" name="Text Box 31"/>
                <p:cNvSpPr txBox="1">
                  <a:spLocks noChangeArrowheads="1"/>
                </p:cNvSpPr>
                <p:nvPr/>
              </p:nvSpPr>
              <p:spPr bwMode="auto">
                <a:xfrm>
                  <a:off x="5985754" y="3717032"/>
                  <a:ext cx="12715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latin typeface="Tahoma" panose="020B0604030504040204" pitchFamily="34" charset="0"/>
                      <a:ea typeface="宋体" panose="02010600030101010101" pitchFamily="2" charset="-122"/>
                    </a:rPr>
                    <a:t>VLAN ID</a:t>
                  </a:r>
                </a:p>
              </p:txBody>
            </p:sp>
            <p:sp>
              <p:nvSpPr>
                <p:cNvPr id="646179" name="Text Box 35"/>
                <p:cNvSpPr txBox="1">
                  <a:spLocks noChangeArrowheads="1"/>
                </p:cNvSpPr>
                <p:nvPr/>
              </p:nvSpPr>
              <p:spPr bwMode="auto">
                <a:xfrm>
                  <a:off x="4921696" y="3212976"/>
                  <a:ext cx="2695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latin typeface="Tahoma" panose="020B0604030504040204" pitchFamily="34" charset="0"/>
                      <a:ea typeface="宋体" panose="02010600030101010101" pitchFamily="2" charset="-122"/>
                    </a:rPr>
                    <a:t>TCI (</a:t>
                  </a:r>
                  <a:r>
                    <a:rPr lang="zh-CN" altLang="en-US" sz="2000" b="1">
                      <a:latin typeface="Tahoma" panose="020B0604030504040204" pitchFamily="34" charset="0"/>
                      <a:ea typeface="宋体" panose="02010600030101010101" pitchFamily="2" charset="-122"/>
                    </a:rPr>
                    <a:t>标记控制信息</a:t>
                  </a:r>
                  <a:r>
                    <a:rPr lang="en-US" altLang="zh-CN" sz="2000" b="1">
                      <a:latin typeface="Tahoma" panose="020B0604030504040204" pitchFamily="34" charset="0"/>
                      <a:ea typeface="宋体" panose="02010600030101010101" pitchFamily="2" charset="-122"/>
                    </a:rPr>
                    <a:t>)</a:t>
                  </a:r>
                </a:p>
              </p:txBody>
            </p:sp>
          </p:grpSp>
          <p:sp>
            <p:nvSpPr>
              <p:cNvPr id="646180" name="Line 20"/>
              <p:cNvSpPr>
                <a:spLocks noChangeShapeType="1"/>
              </p:cNvSpPr>
              <p:nvPr/>
            </p:nvSpPr>
            <p:spPr bwMode="auto">
              <a:xfrm flipV="1">
                <a:off x="5150296" y="4084190"/>
                <a:ext cx="286544" cy="939438"/>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46181"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46182" name="Line 19"/>
              <p:cNvSpPr>
                <a:spLocks noChangeShapeType="1"/>
              </p:cNvSpPr>
              <p:nvPr/>
            </p:nvSpPr>
            <p:spPr bwMode="auto">
              <a:xfrm flipV="1">
                <a:off x="4540696" y="4077071"/>
                <a:ext cx="439882" cy="442501"/>
              </a:xfrm>
              <a:prstGeom prst="line">
                <a:avLst/>
              </a:prstGeom>
              <a:noFill/>
              <a:ln w="12700">
                <a:solidFill>
                  <a:srgbClr val="0000CC"/>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grpSp>
          <p:nvGrpSpPr>
            <p:cNvPr id="646183" name="组合 6"/>
            <p:cNvGrpSpPr>
              <a:grpSpLocks/>
            </p:cNvGrpSpPr>
            <p:nvPr/>
          </p:nvGrpSpPr>
          <p:grpSpPr bwMode="auto">
            <a:xfrm>
              <a:off x="1568624" y="1097692"/>
              <a:ext cx="7920880" cy="459100"/>
              <a:chOff x="1568624" y="1097692"/>
              <a:chExt cx="7920880" cy="459100"/>
            </a:xfrm>
          </p:grpSpPr>
          <p:cxnSp>
            <p:nvCxnSpPr>
              <p:cNvPr id="646184" name="直接连接符 43"/>
              <p:cNvCxnSpPr>
                <a:cxnSpLocks noChangeShapeType="1"/>
              </p:cNvCxnSpPr>
              <p:nvPr/>
            </p:nvCxnSpPr>
            <p:spPr bwMode="auto">
              <a:xfrm>
                <a:off x="1568624" y="1313334"/>
                <a:ext cx="7920880" cy="0"/>
              </a:xfrm>
              <a:prstGeom prst="line">
                <a:avLst/>
              </a:prstGeom>
              <a:noFill/>
              <a:ln w="19050">
                <a:solidFill>
                  <a:schemeClr val="tx1"/>
                </a:solidFill>
                <a:round/>
                <a:headEnd type="triangle" w="med" len="lg"/>
                <a:tailEnd type="triangle" w="med" len="lg"/>
              </a:ln>
              <a:extLst>
                <a:ext uri="{909E8E84-426E-40DD-AFC4-6F175D3DCCD1}">
                  <a14:hiddenFill xmlns:a14="http://schemas.microsoft.com/office/drawing/2010/main">
                    <a:noFill/>
                  </a14:hiddenFill>
                </a:ext>
              </a:extLst>
            </p:spPr>
          </p:cxnSp>
          <p:sp>
            <p:nvSpPr>
              <p:cNvPr id="646185" name="Rectangle 50"/>
              <p:cNvSpPr>
                <a:spLocks noChangeArrowheads="1"/>
              </p:cNvSpPr>
              <p:nvPr/>
            </p:nvSpPr>
            <p:spPr bwMode="auto">
              <a:xfrm>
                <a:off x="4625330" y="1097692"/>
                <a:ext cx="1586974" cy="459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400" b="1">
                    <a:ea typeface="宋体" panose="02010600030101010101" pitchFamily="2" charset="-122"/>
                  </a:rPr>
                  <a:t>802.1Q </a:t>
                </a:r>
                <a:r>
                  <a:rPr lang="zh-CN" altLang="en-US" sz="2400" b="1">
                    <a:ea typeface="宋体" panose="02010600030101010101" pitchFamily="2" charset="-122"/>
                  </a:rPr>
                  <a:t>帧</a:t>
                </a:r>
              </a:p>
            </p:txBody>
          </p:sp>
        </p:grpSp>
      </p:grpSp>
      <p:sp>
        <p:nvSpPr>
          <p:cNvPr id="646186" name="矩形 8"/>
          <p:cNvSpPr>
            <a:spLocks noChangeArrowheads="1"/>
          </p:cNvSpPr>
          <p:nvPr/>
        </p:nvSpPr>
        <p:spPr bwMode="auto">
          <a:xfrm>
            <a:off x="7777163" y="2781300"/>
            <a:ext cx="2128837" cy="1322388"/>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000" b="1">
                <a:solidFill>
                  <a:srgbClr val="000099"/>
                </a:solidFill>
                <a:ea typeface="黑体" panose="02010609060101010101" pitchFamily="49" charset="-122"/>
              </a:rPr>
              <a:t>以太网</a:t>
            </a:r>
            <a:r>
              <a:rPr lang="en-US" altLang="zh-CN" sz="2000" b="1">
                <a:solidFill>
                  <a:srgbClr val="000099"/>
                </a:solidFill>
                <a:ea typeface="黑体" panose="02010609060101010101" pitchFamily="49" charset="-122"/>
              </a:rPr>
              <a:t> MAC </a:t>
            </a:r>
            <a:r>
              <a:rPr lang="zh-CN" altLang="en-US" sz="2000" b="1">
                <a:solidFill>
                  <a:srgbClr val="000099"/>
                </a:solidFill>
                <a:ea typeface="黑体" panose="02010609060101010101" pitchFamily="49" charset="-122"/>
              </a:rPr>
              <a:t>帧</a:t>
            </a:r>
            <a:r>
              <a:rPr lang="zh-CN" altLang="zh-CN" sz="2000" b="1">
                <a:solidFill>
                  <a:srgbClr val="000099"/>
                </a:solidFill>
                <a:ea typeface="黑体" panose="02010609060101010101" pitchFamily="49" charset="-122"/>
              </a:rPr>
              <a:t>的最大帧长从原来的</a:t>
            </a:r>
            <a:r>
              <a:rPr lang="en-US" altLang="zh-CN" sz="2000" b="1">
                <a:solidFill>
                  <a:srgbClr val="000099"/>
                </a:solidFill>
                <a:ea typeface="黑体" panose="02010609060101010101" pitchFamily="49" charset="-122"/>
              </a:rPr>
              <a:t> 1518 </a:t>
            </a:r>
            <a:r>
              <a:rPr lang="zh-CN" altLang="zh-CN" sz="2000" b="1">
                <a:solidFill>
                  <a:srgbClr val="000099"/>
                </a:solidFill>
                <a:ea typeface="黑体" panose="02010609060101010101" pitchFamily="49" charset="-122"/>
              </a:rPr>
              <a:t>字节变为</a:t>
            </a:r>
            <a:r>
              <a:rPr lang="en-US" altLang="zh-CN" sz="2000" b="1">
                <a:solidFill>
                  <a:srgbClr val="000099"/>
                </a:solidFill>
                <a:ea typeface="黑体" panose="02010609060101010101" pitchFamily="49" charset="-122"/>
              </a:rPr>
              <a:t> 1522</a:t>
            </a:r>
            <a:r>
              <a:rPr lang="zh-CN" altLang="zh-CN" sz="2000" b="1">
                <a:solidFill>
                  <a:srgbClr val="000099"/>
                </a:solidFill>
                <a:ea typeface="黑体" panose="02010609060101010101" pitchFamily="49" charset="-122"/>
              </a:rPr>
              <a:t>字节</a:t>
            </a:r>
            <a:r>
              <a:rPr lang="zh-CN" altLang="en-US" sz="2000" b="1">
                <a:solidFill>
                  <a:srgbClr val="000099"/>
                </a:solidFill>
                <a:ea typeface="黑体" panose="02010609060101010101" pitchFamily="49" charset="-122"/>
              </a:rPr>
              <a:t>。</a:t>
            </a:r>
          </a:p>
        </p:txBody>
      </p:sp>
      <p:sp>
        <p:nvSpPr>
          <p:cNvPr id="646187" name="灯片编号占位符 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CFC55D-920D-460A-91A5-030C6D76599C}" type="slidenum">
              <a:rPr lang="zh-CN" altLang="en-US" smtClean="0"/>
              <a:pPr eaLnBrk="1" hangingPunct="1"/>
              <a:t>53</a:t>
            </a:fld>
            <a:endParaRPr lang="en-US" altLang="zh-CN" smtClean="0"/>
          </a:p>
        </p:txBody>
      </p:sp>
      <p:sp>
        <p:nvSpPr>
          <p:cNvPr id="646188" name="页脚占位符 1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700</TotalTime>
  <Words>4579</Words>
  <Application>Microsoft Office PowerPoint</Application>
  <PresentationFormat>A4 纸张(210x297 毫米)</PresentationFormat>
  <Paragraphs>715</Paragraphs>
  <Slides>53</Slides>
  <Notes>30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2" baseType="lpstr">
      <vt:lpstr>黑体</vt:lpstr>
      <vt:lpstr>宋体</vt:lpstr>
      <vt:lpstr>Arial</vt:lpstr>
      <vt:lpstr>Symbol</vt:lpstr>
      <vt:lpstr>Tahoma</vt:lpstr>
      <vt:lpstr>Times New Roman</vt:lpstr>
      <vt:lpstr>Wingdings</vt:lpstr>
      <vt:lpstr>Presentation</vt:lpstr>
      <vt:lpstr>Equation.3</vt:lpstr>
      <vt:lpstr>第 3 章  数据链路层</vt:lpstr>
      <vt:lpstr>第 3 章  数据链路层</vt:lpstr>
      <vt:lpstr>3.3.4  以太网的信道利用率 </vt:lpstr>
      <vt:lpstr>以太网信道被占用的情况</vt:lpstr>
      <vt:lpstr>以太网信道被占用的情况</vt:lpstr>
      <vt:lpstr>参数 α 与利用率</vt:lpstr>
      <vt:lpstr>对以太网参数 α 的要求</vt:lpstr>
      <vt:lpstr>信道利用率的最大值 Smax </vt:lpstr>
      <vt:lpstr>3.3.5  以太网的 MAC 层</vt:lpstr>
      <vt:lpstr>1.  MAC 层的硬件地址 </vt:lpstr>
      <vt:lpstr>48 位的 MAC 地址</vt:lpstr>
      <vt:lpstr>48 位的 MAC 地址</vt:lpstr>
      <vt:lpstr>单站地址，组地址，广播地址</vt:lpstr>
      <vt:lpstr>全球管理与本地管理</vt:lpstr>
      <vt:lpstr>适配器检查 MAC 地址 </vt:lpstr>
      <vt:lpstr>适配器检查 MAC 地址 </vt:lpstr>
      <vt:lpstr>2. MAC 帧的格式 </vt:lpstr>
      <vt:lpstr>以太网V2的 MAC 帧格式</vt:lpstr>
      <vt:lpstr>以太网 V2 的 MAC 帧格式</vt:lpstr>
      <vt:lpstr>以太网 V2 的 MAC 帧格式</vt:lpstr>
      <vt:lpstr>以太网 V2 的 MAC 帧格式</vt:lpstr>
      <vt:lpstr>以太网 V2 的 MAC 帧格式</vt:lpstr>
      <vt:lpstr>以太网 V2 的 MAC 帧格式</vt:lpstr>
      <vt:lpstr>以太网 V2 的 MAC 帧格式</vt:lpstr>
      <vt:lpstr>无效的 MAC 帧 </vt:lpstr>
      <vt:lpstr>IEEE 802.3 MAC 帧格式</vt:lpstr>
      <vt:lpstr>帧间最小间隔 </vt:lpstr>
      <vt:lpstr>3.4  扩展的以太网</vt:lpstr>
      <vt:lpstr>3.4.1  在物理层扩展以太网</vt:lpstr>
      <vt:lpstr>3.4.1  在物理层扩展以太网</vt:lpstr>
      <vt:lpstr>PowerPoint 演示文稿</vt:lpstr>
      <vt:lpstr>用集线器扩展以太网 </vt:lpstr>
      <vt:lpstr>3.4.2  在数据链路层扩展以太网 </vt:lpstr>
      <vt:lpstr>1. 以太网交换机的特点</vt:lpstr>
      <vt:lpstr>1. 以太网交换机的特点</vt:lpstr>
      <vt:lpstr>以太网交换机的优点</vt:lpstr>
      <vt:lpstr>以太网交换机的交换方式</vt:lpstr>
      <vt:lpstr>2. 以太网交换机的自学习功能</vt:lpstr>
      <vt:lpstr>按照以下自学习算法 处理收到的帧和建立交换表</vt:lpstr>
      <vt:lpstr>按照以下自学习算法 处理收到的帧和建立交换表</vt:lpstr>
      <vt:lpstr>按照以下自学习算法 处理收到的帧和建立交换表</vt:lpstr>
      <vt:lpstr>交换机自学习和转发帧的步骤归纳 </vt:lpstr>
      <vt:lpstr>交换机使用了生成树协议 </vt:lpstr>
      <vt:lpstr>交换机使用了生成树协议 </vt:lpstr>
      <vt:lpstr>交换机使用了生成树协议 </vt:lpstr>
      <vt:lpstr>3. 从总线以太网到星形以太网</vt:lpstr>
      <vt:lpstr>3.4.3  虚拟局域网</vt:lpstr>
      <vt:lpstr>PowerPoint 演示文稿</vt:lpstr>
      <vt:lpstr>PowerPoint 演示文稿</vt:lpstr>
      <vt:lpstr>PowerPoint 演示文稿</vt:lpstr>
      <vt:lpstr>PowerPoint 演示文稿</vt:lpstr>
      <vt:lpstr>虚拟局域网使用的以太网帧格式</vt:lpstr>
      <vt:lpstr>虚拟局域网使用的以太网帧格式</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69</cp:revision>
  <cp:lastPrinted>2020-03-19T06:41:15Z</cp:lastPrinted>
  <dcterms:created xsi:type="dcterms:W3CDTF">2016-10-01T05:27:00Z</dcterms:created>
  <dcterms:modified xsi:type="dcterms:W3CDTF">2021-01-15T11:31:39Z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
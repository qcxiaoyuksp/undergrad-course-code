
<file path=[Content_Types].xml><?xml version="1.0" encoding="utf-8"?>
<Types xmlns="http://schemas.openxmlformats.org/package/2006/content-types">
  <Default Extension="png" ContentType="image/png"/>
  <Default Extension="MP3" ContentType="audio/mpe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handoutMasterIdLst>
    <p:handoutMasterId r:id="rId58"/>
  </p:handoutMasterIdLst>
  <p:sldIdLst>
    <p:sldId id="256" r:id="rId2"/>
    <p:sldId id="341" r:id="rId3"/>
    <p:sldId id="342" r:id="rId4"/>
    <p:sldId id="343" r:id="rId5"/>
    <p:sldId id="344" r:id="rId6"/>
    <p:sldId id="345" r:id="rId7"/>
    <p:sldId id="346" r:id="rId8"/>
    <p:sldId id="347" r:id="rId9"/>
    <p:sldId id="348" r:id="rId10"/>
    <p:sldId id="349" r:id="rId11"/>
    <p:sldId id="350" r:id="rId12"/>
    <p:sldId id="351" r:id="rId13"/>
    <p:sldId id="352" r:id="rId14"/>
    <p:sldId id="353" r:id="rId15"/>
    <p:sldId id="354" r:id="rId16"/>
    <p:sldId id="355" r:id="rId17"/>
    <p:sldId id="356" r:id="rId18"/>
    <p:sldId id="357" r:id="rId19"/>
    <p:sldId id="358" r:id="rId20"/>
    <p:sldId id="359" r:id="rId21"/>
    <p:sldId id="360" r:id="rId22"/>
    <p:sldId id="361" r:id="rId23"/>
    <p:sldId id="362" r:id="rId24"/>
    <p:sldId id="363" r:id="rId25"/>
    <p:sldId id="364" r:id="rId26"/>
    <p:sldId id="365" r:id="rId27"/>
    <p:sldId id="366" r:id="rId28"/>
    <p:sldId id="367" r:id="rId29"/>
    <p:sldId id="368" r:id="rId30"/>
    <p:sldId id="369" r:id="rId31"/>
    <p:sldId id="370" r:id="rId32"/>
    <p:sldId id="371" r:id="rId33"/>
    <p:sldId id="372" r:id="rId34"/>
    <p:sldId id="373" r:id="rId35"/>
    <p:sldId id="374" r:id="rId36"/>
    <p:sldId id="375" r:id="rId37"/>
    <p:sldId id="376" r:id="rId38"/>
    <p:sldId id="377" r:id="rId39"/>
    <p:sldId id="378" r:id="rId40"/>
    <p:sldId id="379" r:id="rId41"/>
    <p:sldId id="380" r:id="rId42"/>
    <p:sldId id="381" r:id="rId43"/>
    <p:sldId id="382" r:id="rId44"/>
    <p:sldId id="383" r:id="rId45"/>
    <p:sldId id="384" r:id="rId46"/>
    <p:sldId id="385" r:id="rId47"/>
    <p:sldId id="386" r:id="rId48"/>
    <p:sldId id="387" r:id="rId49"/>
    <p:sldId id="388" r:id="rId50"/>
    <p:sldId id="389" r:id="rId51"/>
    <p:sldId id="390" r:id="rId52"/>
    <p:sldId id="391" r:id="rId53"/>
    <p:sldId id="392" r:id="rId54"/>
    <p:sldId id="393" r:id="rId55"/>
    <p:sldId id="394" r:id="rId56"/>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extLst>
      <p:ext uri="{BB962C8B-B14F-4D97-AF65-F5344CB8AC3E}">
        <p14:creationId xmlns:p14="http://schemas.microsoft.com/office/powerpoint/2010/main" val="31077055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extLst>
      <p:ext uri="{BB962C8B-B14F-4D97-AF65-F5344CB8AC3E}">
        <p14:creationId xmlns:p14="http://schemas.microsoft.com/office/powerpoint/2010/main" val="381002840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2EEDA8-5EF7-4A6F-9A69-0FC8242B0BD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14338" name="Rectangle 2"/>
          <p:cNvSpPr>
            <a:spLocks noGrp="1" noRot="1" noChangeAspect="1" noChangeArrowheads="1" noTextEdit="1"/>
          </p:cNvSpPr>
          <p:nvPr>
            <p:ph type="sldImg" idx="4294967295"/>
          </p:nvPr>
        </p:nvSpPr>
        <p:spPr>
          <a:ln/>
        </p:spPr>
      </p:sp>
      <p:sp>
        <p:nvSpPr>
          <p:cNvPr id="14339" name="Rectangle 3"/>
          <p:cNvSpPr>
            <a:spLocks noGrp="1" noChangeArrowheads="1"/>
          </p:cNvSpPr>
          <p:nvPr>
            <p:ph type="body" idx="4294967295"/>
          </p:nvPr>
        </p:nvSpPr>
        <p:spPr/>
        <p:txBody>
          <a:bodyPr/>
          <a:lstStyle/>
          <a:p>
            <a:endParaRPr lang="zh-CN" altLang="en-US" smtClean="0"/>
          </a:p>
        </p:txBody>
      </p:sp>
    </p:spTree>
    <p:extLst>
      <p:ext uri="{BB962C8B-B14F-4D97-AF65-F5344CB8AC3E}">
        <p14:creationId xmlns:p14="http://schemas.microsoft.com/office/powerpoint/2010/main" val="1080693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C6C67A-56A9-4978-ABE2-241B50DE9CCC}"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156674" name="Rectangle 2"/>
          <p:cNvSpPr>
            <a:spLocks noGrp="1" noRot="1" noChangeAspect="1" noChangeArrowheads="1" noTextEdit="1"/>
          </p:cNvSpPr>
          <p:nvPr>
            <p:ph type="sldImg" idx="4294967295"/>
          </p:nvPr>
        </p:nvSpPr>
        <p:spPr>
          <a:ln/>
        </p:spPr>
      </p:sp>
      <p:sp>
        <p:nvSpPr>
          <p:cNvPr id="1566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6994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A04B8E-0EE6-47C5-80C7-32AB0CD5586E}"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158722" name="Rectangle 2"/>
          <p:cNvSpPr>
            <a:spLocks noGrp="1" noRot="1" noChangeAspect="1" noChangeArrowheads="1" noTextEdit="1"/>
          </p:cNvSpPr>
          <p:nvPr>
            <p:ph type="sldImg" idx="4294967295"/>
          </p:nvPr>
        </p:nvSpPr>
        <p:spPr>
          <a:ln/>
        </p:spPr>
      </p:sp>
      <p:sp>
        <p:nvSpPr>
          <p:cNvPr id="15872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269065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D45847-D29B-4770-80E4-0577C16E2DA3}"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160770" name="Rectangle 2"/>
          <p:cNvSpPr>
            <a:spLocks noGrp="1" noRot="1" noChangeAspect="1" noChangeArrowheads="1" noTextEdit="1"/>
          </p:cNvSpPr>
          <p:nvPr>
            <p:ph type="sldImg" idx="4294967295"/>
          </p:nvPr>
        </p:nvSpPr>
        <p:spPr>
          <a:ln/>
        </p:spPr>
      </p:sp>
      <p:sp>
        <p:nvSpPr>
          <p:cNvPr id="16077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754507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B8FDF1-4718-40FE-9281-92A73D075FE2}"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162818" name="Rectangle 2"/>
          <p:cNvSpPr>
            <a:spLocks noGrp="1" noRot="1" noChangeAspect="1" noChangeArrowheads="1" noTextEdit="1"/>
          </p:cNvSpPr>
          <p:nvPr>
            <p:ph type="sldImg" idx="4294967295"/>
          </p:nvPr>
        </p:nvSpPr>
        <p:spPr>
          <a:ln/>
        </p:spPr>
      </p:sp>
      <p:sp>
        <p:nvSpPr>
          <p:cNvPr id="16281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44874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8946C1F-9F5F-4BE2-8C97-AAB9FCDD1996}"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164866" name="Rectangle 2"/>
          <p:cNvSpPr>
            <a:spLocks noGrp="1" noRot="1" noChangeAspect="1" noChangeArrowheads="1" noTextEdit="1"/>
          </p:cNvSpPr>
          <p:nvPr>
            <p:ph type="sldImg" idx="4294967295"/>
          </p:nvPr>
        </p:nvSpPr>
        <p:spPr>
          <a:ln/>
        </p:spPr>
      </p:sp>
      <p:sp>
        <p:nvSpPr>
          <p:cNvPr id="16486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102542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736F01-776E-48CC-AD35-A46DB3527696}"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166914" name="Rectangle 2"/>
          <p:cNvSpPr>
            <a:spLocks noGrp="1" noRot="1" noChangeAspect="1" noChangeArrowheads="1" noTextEdit="1"/>
          </p:cNvSpPr>
          <p:nvPr>
            <p:ph type="sldImg" idx="4294967295"/>
          </p:nvPr>
        </p:nvSpPr>
        <p:spPr>
          <a:ln/>
        </p:spPr>
      </p:sp>
      <p:sp>
        <p:nvSpPr>
          <p:cNvPr id="16691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187540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3BE5DFA-73E3-4CE1-BDA0-AB977C0106FD}"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168962" name="Rectangle 2"/>
          <p:cNvSpPr>
            <a:spLocks noGrp="1" noRot="1" noChangeAspect="1" noChangeArrowheads="1" noTextEdit="1"/>
          </p:cNvSpPr>
          <p:nvPr>
            <p:ph type="sldImg" idx="4294967295"/>
          </p:nvPr>
        </p:nvSpPr>
        <p:spPr>
          <a:ln/>
        </p:spPr>
      </p:sp>
      <p:sp>
        <p:nvSpPr>
          <p:cNvPr id="16896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848052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08AC93-8B46-4F42-A786-3E6103D20A70}"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173058" name="Rectangle 2"/>
          <p:cNvSpPr>
            <a:spLocks noGrp="1" noRot="1" noChangeAspect="1" noChangeArrowheads="1" noTextEdit="1"/>
          </p:cNvSpPr>
          <p:nvPr>
            <p:ph type="sldImg" idx="4294967295"/>
          </p:nvPr>
        </p:nvSpPr>
        <p:spPr>
          <a:ln/>
        </p:spPr>
      </p:sp>
      <p:sp>
        <p:nvSpPr>
          <p:cNvPr id="17305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803150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035BA1-B282-4200-8A6D-CC8DD0E26A5C}"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175106" name="Rectangle 2"/>
          <p:cNvSpPr>
            <a:spLocks noGrp="1" noRot="1" noChangeAspect="1" noChangeArrowheads="1" noTextEdit="1"/>
          </p:cNvSpPr>
          <p:nvPr>
            <p:ph type="sldImg" idx="4294967295"/>
          </p:nvPr>
        </p:nvSpPr>
        <p:spPr>
          <a:ln/>
        </p:spPr>
      </p:sp>
      <p:sp>
        <p:nvSpPr>
          <p:cNvPr id="17510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580053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DD1DFC-8B00-4CEC-830E-E7AD3C05CEDA}"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177154" name="Rectangle 2"/>
          <p:cNvSpPr>
            <a:spLocks noGrp="1" noRot="1" noChangeAspect="1" noChangeArrowheads="1" noTextEdit="1"/>
          </p:cNvSpPr>
          <p:nvPr>
            <p:ph type="sldImg" idx="4294967295"/>
          </p:nvPr>
        </p:nvSpPr>
        <p:spPr>
          <a:ln/>
        </p:spPr>
      </p:sp>
      <p:sp>
        <p:nvSpPr>
          <p:cNvPr id="17715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0832605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A0628C2-8B49-4AF1-BE25-72B94091FDF1}"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179202" name="Rectangle 2"/>
          <p:cNvSpPr>
            <a:spLocks noGrp="1" noRot="1" noChangeAspect="1" noChangeArrowheads="1" noTextEdit="1"/>
          </p:cNvSpPr>
          <p:nvPr>
            <p:ph type="sldImg" idx="4294967295"/>
          </p:nvPr>
        </p:nvSpPr>
        <p:spPr>
          <a:ln/>
        </p:spPr>
      </p:sp>
      <p:sp>
        <p:nvSpPr>
          <p:cNvPr id="17920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96693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0410248-E872-4530-BEE2-4C2981AAC2F4}"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181250" name="Rectangle 2"/>
          <p:cNvSpPr>
            <a:spLocks noGrp="1" noRot="1" noChangeAspect="1" noChangeArrowheads="1" noTextEdit="1"/>
          </p:cNvSpPr>
          <p:nvPr>
            <p:ph type="sldImg" idx="4294967295"/>
          </p:nvPr>
        </p:nvSpPr>
        <p:spPr>
          <a:ln/>
        </p:spPr>
      </p:sp>
      <p:sp>
        <p:nvSpPr>
          <p:cNvPr id="18125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441750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0889FD-F842-4601-8E7D-25064D46D9B2}"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183298" name="Rectangle 2"/>
          <p:cNvSpPr>
            <a:spLocks noGrp="1" noRot="1" noChangeAspect="1" noChangeArrowheads="1" noTextEdit="1"/>
          </p:cNvSpPr>
          <p:nvPr>
            <p:ph type="sldImg" idx="4294967295"/>
          </p:nvPr>
        </p:nvSpPr>
        <p:spPr>
          <a:ln/>
        </p:spPr>
      </p:sp>
      <p:sp>
        <p:nvSpPr>
          <p:cNvPr id="18329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05128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1D036F-9110-47F3-88BC-9BA55DEB72C6}"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185346" name="Rectangle 2"/>
          <p:cNvSpPr>
            <a:spLocks noGrp="1" noRot="1" noChangeAspect="1" noChangeArrowheads="1" noTextEdit="1"/>
          </p:cNvSpPr>
          <p:nvPr>
            <p:ph type="sldImg" idx="4294967295"/>
          </p:nvPr>
        </p:nvSpPr>
        <p:spPr>
          <a:ln/>
        </p:spPr>
      </p:sp>
      <p:sp>
        <p:nvSpPr>
          <p:cNvPr id="18534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3964436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A323CF-0D07-4518-97B5-F25DF1AAA9A1}"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187394" name="Rectangle 2"/>
          <p:cNvSpPr>
            <a:spLocks noGrp="1" noRot="1" noChangeAspect="1" noChangeArrowheads="1" noTextEdit="1"/>
          </p:cNvSpPr>
          <p:nvPr>
            <p:ph type="sldImg" idx="4294967295"/>
          </p:nvPr>
        </p:nvSpPr>
        <p:spPr>
          <a:ln/>
        </p:spPr>
      </p:sp>
      <p:sp>
        <p:nvSpPr>
          <p:cNvPr id="1873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6598176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880C185-C5BF-4869-9513-D9CBE78C9CD6}"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189442" name="Rectangle 2"/>
          <p:cNvSpPr>
            <a:spLocks noGrp="1" noRot="1" noChangeAspect="1" noChangeArrowheads="1" noTextEdit="1"/>
          </p:cNvSpPr>
          <p:nvPr>
            <p:ph type="sldImg" idx="4294967295"/>
          </p:nvPr>
        </p:nvSpPr>
        <p:spPr>
          <a:ln/>
        </p:spPr>
      </p:sp>
      <p:sp>
        <p:nvSpPr>
          <p:cNvPr id="1894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5304224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A772E3B-9363-40FB-A8E0-AEE779E402A0}"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191490" name="Rectangle 2"/>
          <p:cNvSpPr>
            <a:spLocks noGrp="1" noRot="1" noChangeAspect="1" noChangeArrowheads="1" noTextEdit="1"/>
          </p:cNvSpPr>
          <p:nvPr>
            <p:ph type="sldImg" idx="4294967295"/>
          </p:nvPr>
        </p:nvSpPr>
        <p:spPr>
          <a:ln/>
        </p:spPr>
      </p:sp>
      <p:sp>
        <p:nvSpPr>
          <p:cNvPr id="1914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4786767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D42158-D3E2-476E-A39B-4F1C4A2D0553}"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193538" name="Rectangle 2"/>
          <p:cNvSpPr>
            <a:spLocks noGrp="1" noRot="1" noChangeAspect="1" noChangeArrowheads="1" noTextEdit="1"/>
          </p:cNvSpPr>
          <p:nvPr>
            <p:ph type="sldImg" idx="4294967295"/>
          </p:nvPr>
        </p:nvSpPr>
        <p:spPr>
          <a:ln/>
        </p:spPr>
      </p:sp>
      <p:sp>
        <p:nvSpPr>
          <p:cNvPr id="1935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2726484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97F62E-A3C4-4406-B3C2-70F5018CAA0C}"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195586" name="Rectangle 2"/>
          <p:cNvSpPr>
            <a:spLocks noGrp="1" noRot="1" noChangeAspect="1" noChangeArrowheads="1" noTextEdit="1"/>
          </p:cNvSpPr>
          <p:nvPr>
            <p:ph type="sldImg" idx="4294967295"/>
          </p:nvPr>
        </p:nvSpPr>
        <p:spPr>
          <a:ln/>
        </p:spPr>
      </p:sp>
      <p:sp>
        <p:nvSpPr>
          <p:cNvPr id="1955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70647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A07398-732F-40C6-9351-081DFE2ADA05}"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197634" name="Rectangle 2"/>
          <p:cNvSpPr>
            <a:spLocks noGrp="1" noRot="1" noChangeAspect="1" noChangeArrowheads="1" noTextEdit="1"/>
          </p:cNvSpPr>
          <p:nvPr>
            <p:ph type="sldImg" idx="4294967295"/>
          </p:nvPr>
        </p:nvSpPr>
        <p:spPr>
          <a:ln/>
        </p:spPr>
      </p:sp>
      <p:sp>
        <p:nvSpPr>
          <p:cNvPr id="19763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158099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A88360-1927-4F8D-B023-90B8287E2C07}"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199682" name="Rectangle 2"/>
          <p:cNvSpPr>
            <a:spLocks noGrp="1" noRot="1" noChangeAspect="1" noChangeArrowheads="1" noTextEdit="1"/>
          </p:cNvSpPr>
          <p:nvPr>
            <p:ph type="sldImg" idx="4294967295"/>
          </p:nvPr>
        </p:nvSpPr>
        <p:spPr>
          <a:ln/>
        </p:spPr>
      </p:sp>
      <p:sp>
        <p:nvSpPr>
          <p:cNvPr id="19968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257700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B12227-1183-4B8C-8EB6-05CB78993F9B}"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201730" name="Rectangle 2"/>
          <p:cNvSpPr>
            <a:spLocks noGrp="1" noRot="1" noChangeAspect="1" noChangeArrowheads="1" noTextEdit="1"/>
          </p:cNvSpPr>
          <p:nvPr>
            <p:ph type="sldImg" idx="4294967295"/>
          </p:nvPr>
        </p:nvSpPr>
        <p:spPr>
          <a:ln/>
        </p:spPr>
      </p:sp>
      <p:sp>
        <p:nvSpPr>
          <p:cNvPr id="20173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0148758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7B8A92-18A9-44D0-A6B3-3A841190F9CA}"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203778" name="Rectangle 2"/>
          <p:cNvSpPr>
            <a:spLocks noGrp="1" noRot="1" noChangeAspect="1" noChangeArrowheads="1" noTextEdit="1"/>
          </p:cNvSpPr>
          <p:nvPr>
            <p:ph type="sldImg" idx="4294967295"/>
          </p:nvPr>
        </p:nvSpPr>
        <p:spPr>
          <a:ln/>
        </p:spPr>
      </p:sp>
      <p:sp>
        <p:nvSpPr>
          <p:cNvPr id="20377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6642870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6E96377-A518-4B98-A577-BF5AC0C44E5F}"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205826" name="Rectangle 2"/>
          <p:cNvSpPr>
            <a:spLocks noGrp="1" noRot="1" noChangeAspect="1" noChangeArrowheads="1" noTextEdit="1"/>
          </p:cNvSpPr>
          <p:nvPr>
            <p:ph type="sldImg" idx="4294967295"/>
          </p:nvPr>
        </p:nvSpPr>
        <p:spPr>
          <a:ln/>
        </p:spPr>
      </p:sp>
      <p:sp>
        <p:nvSpPr>
          <p:cNvPr id="20582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4922384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D84AE7-971C-4280-B1B5-7E1C1A5C659C}"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207874" name="Rectangle 2"/>
          <p:cNvSpPr>
            <a:spLocks noGrp="1" noRot="1" noChangeAspect="1" noChangeArrowheads="1" noTextEdit="1"/>
          </p:cNvSpPr>
          <p:nvPr>
            <p:ph type="sldImg" idx="4294967295"/>
          </p:nvPr>
        </p:nvSpPr>
        <p:spPr>
          <a:ln/>
        </p:spPr>
      </p:sp>
      <p:sp>
        <p:nvSpPr>
          <p:cNvPr id="2078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6911047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E8BFF5-6102-4C9D-9513-FE68710237F5}"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209922" name="Rectangle 2"/>
          <p:cNvSpPr>
            <a:spLocks noGrp="1" noRot="1" noChangeAspect="1" noChangeArrowheads="1" noTextEdit="1"/>
          </p:cNvSpPr>
          <p:nvPr>
            <p:ph type="sldImg" idx="4294967295"/>
          </p:nvPr>
        </p:nvSpPr>
        <p:spPr>
          <a:ln/>
        </p:spPr>
      </p:sp>
      <p:sp>
        <p:nvSpPr>
          <p:cNvPr id="20992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6877621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DE87E3F-51F4-42D4-ABC3-50796DDE09FC}"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211970" name="Rectangle 2"/>
          <p:cNvSpPr>
            <a:spLocks noGrp="1" noRot="1" noChangeAspect="1" noChangeArrowheads="1" noTextEdit="1"/>
          </p:cNvSpPr>
          <p:nvPr>
            <p:ph type="sldImg" idx="4294967295"/>
          </p:nvPr>
        </p:nvSpPr>
        <p:spPr>
          <a:ln/>
        </p:spPr>
      </p:sp>
      <p:sp>
        <p:nvSpPr>
          <p:cNvPr id="21197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6263457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54CF72-672D-4888-8463-04CB04460B06}"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214018" name="Rectangle 2"/>
          <p:cNvSpPr>
            <a:spLocks noGrp="1" noRot="1" noChangeAspect="1" noChangeArrowheads="1" noTextEdit="1"/>
          </p:cNvSpPr>
          <p:nvPr>
            <p:ph type="sldImg" idx="4294967295"/>
          </p:nvPr>
        </p:nvSpPr>
        <p:spPr>
          <a:ln/>
        </p:spPr>
      </p:sp>
      <p:sp>
        <p:nvSpPr>
          <p:cNvPr id="21401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386136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1730B3-2785-4C41-8FCE-4448F72B5FAA}"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216066" name="Rectangle 2"/>
          <p:cNvSpPr>
            <a:spLocks noGrp="1" noRot="1" noChangeAspect="1" noChangeArrowheads="1" noTextEdit="1"/>
          </p:cNvSpPr>
          <p:nvPr>
            <p:ph type="sldImg" idx="4294967295"/>
          </p:nvPr>
        </p:nvSpPr>
        <p:spPr>
          <a:ln/>
        </p:spPr>
      </p:sp>
      <p:sp>
        <p:nvSpPr>
          <p:cNvPr id="21606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1581092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A2BAEA-9454-403B-8BEC-4634B1043E93}" type="slidenum">
              <a:rPr lang="en-US" altLang="zh-CN" smtClean="0">
                <a:latin typeface="宋体" panose="02010600030101010101" pitchFamily="2" charset="-122"/>
              </a:rPr>
              <a:pPr eaLnBrk="1" hangingPunct="1"/>
              <a:t>34</a:t>
            </a:fld>
            <a:endParaRPr lang="en-US" altLang="zh-CN" smtClean="0">
              <a:latin typeface="宋体" panose="02010600030101010101" pitchFamily="2" charset="-122"/>
            </a:endParaRPr>
          </a:p>
        </p:txBody>
      </p:sp>
      <p:sp>
        <p:nvSpPr>
          <p:cNvPr id="218114" name="Rectangle 2"/>
          <p:cNvSpPr>
            <a:spLocks noGrp="1" noRot="1" noChangeAspect="1" noChangeArrowheads="1" noTextEdit="1"/>
          </p:cNvSpPr>
          <p:nvPr>
            <p:ph type="sldImg" idx="4294967295"/>
          </p:nvPr>
        </p:nvSpPr>
        <p:spPr>
          <a:ln/>
        </p:spPr>
      </p:sp>
      <p:sp>
        <p:nvSpPr>
          <p:cNvPr id="21811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148152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099F92-22FD-440A-BD6B-59C181990050}"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220162" name="Rectangle 2"/>
          <p:cNvSpPr>
            <a:spLocks noGrp="1" noRot="1" noChangeAspect="1" noChangeArrowheads="1" noTextEdit="1"/>
          </p:cNvSpPr>
          <p:nvPr>
            <p:ph type="sldImg" idx="4294967295"/>
          </p:nvPr>
        </p:nvSpPr>
        <p:spPr>
          <a:ln/>
        </p:spPr>
      </p:sp>
      <p:sp>
        <p:nvSpPr>
          <p:cNvPr id="22016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780351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02BF23-C026-415B-8C4E-62510709F154}"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222210" name="Rectangle 2"/>
          <p:cNvSpPr>
            <a:spLocks noGrp="1" noRot="1" noChangeAspect="1" noChangeArrowheads="1" noTextEdit="1"/>
          </p:cNvSpPr>
          <p:nvPr>
            <p:ph type="sldImg" idx="4294967295"/>
          </p:nvPr>
        </p:nvSpPr>
        <p:spPr>
          <a:ln/>
        </p:spPr>
      </p:sp>
      <p:sp>
        <p:nvSpPr>
          <p:cNvPr id="22221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8151786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F5B142-1DC9-4E31-B75B-8245CEBBBC98}"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224258" name="Rectangle 2"/>
          <p:cNvSpPr>
            <a:spLocks noGrp="1" noRot="1" noChangeAspect="1" noChangeArrowheads="1" noTextEdit="1"/>
          </p:cNvSpPr>
          <p:nvPr>
            <p:ph type="sldImg" idx="4294967295"/>
          </p:nvPr>
        </p:nvSpPr>
        <p:spPr>
          <a:ln/>
        </p:spPr>
      </p:sp>
      <p:sp>
        <p:nvSpPr>
          <p:cNvPr id="22425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1370661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778221A-D073-4802-AA93-15FB90E92A73}"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226306" name="Rectangle 2"/>
          <p:cNvSpPr>
            <a:spLocks noGrp="1" noRot="1" noChangeAspect="1" noChangeArrowheads="1" noTextEdit="1"/>
          </p:cNvSpPr>
          <p:nvPr>
            <p:ph type="sldImg" idx="4294967295"/>
          </p:nvPr>
        </p:nvSpPr>
        <p:spPr>
          <a:ln/>
        </p:spPr>
      </p:sp>
      <p:sp>
        <p:nvSpPr>
          <p:cNvPr id="22630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2624071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58D86E-4830-4D52-A27D-6FA94933BE7B}" type="slidenum">
              <a:rPr lang="en-US" altLang="zh-CN" smtClean="0">
                <a:latin typeface="宋体" panose="02010600030101010101" pitchFamily="2" charset="-122"/>
              </a:rPr>
              <a:pPr eaLnBrk="1" hangingPunct="1"/>
              <a:t>39</a:t>
            </a:fld>
            <a:endParaRPr lang="en-US" altLang="zh-CN" smtClean="0">
              <a:latin typeface="宋体" panose="02010600030101010101" pitchFamily="2" charset="-122"/>
            </a:endParaRPr>
          </a:p>
        </p:txBody>
      </p:sp>
      <p:sp>
        <p:nvSpPr>
          <p:cNvPr id="228354" name="Rectangle 2"/>
          <p:cNvSpPr>
            <a:spLocks noGrp="1" noRot="1" noChangeAspect="1" noChangeArrowheads="1" noTextEdit="1"/>
          </p:cNvSpPr>
          <p:nvPr>
            <p:ph type="sldImg" idx="4294967295"/>
          </p:nvPr>
        </p:nvSpPr>
        <p:spPr>
          <a:ln/>
        </p:spPr>
      </p:sp>
      <p:sp>
        <p:nvSpPr>
          <p:cNvPr id="22835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4327078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AD4ED5-CA6B-44DE-B750-DD2EF87E1B77}"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230402" name="Rectangle 2"/>
          <p:cNvSpPr>
            <a:spLocks noGrp="1" noRot="1" noChangeAspect="1" noChangeArrowheads="1" noTextEdit="1"/>
          </p:cNvSpPr>
          <p:nvPr>
            <p:ph type="sldImg" idx="4294967295"/>
          </p:nvPr>
        </p:nvSpPr>
        <p:spPr>
          <a:ln/>
        </p:spPr>
      </p:sp>
      <p:sp>
        <p:nvSpPr>
          <p:cNvPr id="23040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0995607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D6D909-AEA0-4310-8F3B-7156A6D5CB11}"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232450" name="Rectangle 2"/>
          <p:cNvSpPr>
            <a:spLocks noGrp="1" noRot="1" noChangeAspect="1" noChangeArrowheads="1" noTextEdit="1"/>
          </p:cNvSpPr>
          <p:nvPr>
            <p:ph type="sldImg" idx="4294967295"/>
          </p:nvPr>
        </p:nvSpPr>
        <p:spPr>
          <a:ln/>
        </p:spPr>
      </p:sp>
      <p:sp>
        <p:nvSpPr>
          <p:cNvPr id="23245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722231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13C5C8-FFF9-406D-8BE3-71EFBA5DDD5C}"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235522" name="Rectangle 2"/>
          <p:cNvSpPr>
            <a:spLocks noGrp="1" noRot="1" noChangeAspect="1" noChangeArrowheads="1" noTextEdit="1"/>
          </p:cNvSpPr>
          <p:nvPr>
            <p:ph type="sldImg" idx="4294967295"/>
          </p:nvPr>
        </p:nvSpPr>
        <p:spPr>
          <a:ln/>
        </p:spPr>
      </p:sp>
      <p:sp>
        <p:nvSpPr>
          <p:cNvPr id="23552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0331470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3D4626-30A7-4C3D-8BE7-0BD6B6782EA9}" type="slidenum">
              <a:rPr lang="en-US" altLang="zh-CN" smtClean="0">
                <a:latin typeface="宋体" panose="02010600030101010101" pitchFamily="2" charset="-122"/>
              </a:rPr>
              <a:pPr eaLnBrk="1" hangingPunct="1"/>
              <a:t>44</a:t>
            </a:fld>
            <a:endParaRPr lang="en-US" altLang="zh-CN" smtClean="0">
              <a:latin typeface="宋体" panose="02010600030101010101" pitchFamily="2" charset="-122"/>
            </a:endParaRPr>
          </a:p>
        </p:txBody>
      </p:sp>
      <p:sp>
        <p:nvSpPr>
          <p:cNvPr id="237570" name="Rectangle 2"/>
          <p:cNvSpPr>
            <a:spLocks noGrp="1" noRot="1" noChangeAspect="1" noChangeArrowheads="1" noTextEdit="1"/>
          </p:cNvSpPr>
          <p:nvPr>
            <p:ph type="sldImg" idx="4294967295"/>
          </p:nvPr>
        </p:nvSpPr>
        <p:spPr>
          <a:ln/>
        </p:spPr>
      </p:sp>
      <p:sp>
        <p:nvSpPr>
          <p:cNvPr id="23757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747581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B43458-9478-4416-874B-846144EE8143}"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239618" name="Rectangle 2"/>
          <p:cNvSpPr>
            <a:spLocks noGrp="1" noRot="1" noChangeAspect="1" noChangeArrowheads="1" noTextEdit="1"/>
          </p:cNvSpPr>
          <p:nvPr>
            <p:ph type="sldImg" idx="4294967295"/>
          </p:nvPr>
        </p:nvSpPr>
        <p:spPr>
          <a:ln/>
        </p:spPr>
      </p:sp>
      <p:sp>
        <p:nvSpPr>
          <p:cNvPr id="23961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0776965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E2BF5A-6319-4AD5-86E9-FBB88569BD15}" type="slidenum">
              <a:rPr lang="en-US" altLang="zh-CN" smtClean="0">
                <a:latin typeface="宋体" panose="02010600030101010101" pitchFamily="2" charset="-122"/>
              </a:rPr>
              <a:pPr eaLnBrk="1" hangingPunct="1"/>
              <a:t>46</a:t>
            </a:fld>
            <a:endParaRPr lang="en-US" altLang="zh-CN" smtClean="0">
              <a:latin typeface="宋体" panose="02010600030101010101" pitchFamily="2" charset="-122"/>
            </a:endParaRPr>
          </a:p>
        </p:txBody>
      </p:sp>
      <p:sp>
        <p:nvSpPr>
          <p:cNvPr id="241666" name="Rectangle 2"/>
          <p:cNvSpPr>
            <a:spLocks noGrp="1" noRot="1" noChangeAspect="1" noChangeArrowheads="1" noTextEdit="1"/>
          </p:cNvSpPr>
          <p:nvPr>
            <p:ph type="sldImg" idx="4294967295"/>
          </p:nvPr>
        </p:nvSpPr>
        <p:spPr>
          <a:ln/>
        </p:spPr>
      </p:sp>
      <p:sp>
        <p:nvSpPr>
          <p:cNvPr id="24166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003869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6AF5E3-111D-4AC9-BCC6-4D10B8B1425A}" type="slidenum">
              <a:rPr lang="en-US" altLang="zh-CN" smtClean="0">
                <a:latin typeface="宋体" panose="02010600030101010101" pitchFamily="2" charset="-122"/>
              </a:rPr>
              <a:pPr eaLnBrk="1" hangingPunct="1"/>
              <a:t>47</a:t>
            </a:fld>
            <a:endParaRPr lang="en-US" altLang="zh-CN" smtClean="0">
              <a:latin typeface="宋体" panose="02010600030101010101" pitchFamily="2" charset="-122"/>
            </a:endParaRPr>
          </a:p>
        </p:txBody>
      </p:sp>
      <p:sp>
        <p:nvSpPr>
          <p:cNvPr id="243714" name="Rectangle 2"/>
          <p:cNvSpPr>
            <a:spLocks noGrp="1" noRot="1" noChangeAspect="1" noChangeArrowheads="1" noTextEdit="1"/>
          </p:cNvSpPr>
          <p:nvPr>
            <p:ph type="sldImg" idx="4294967295"/>
          </p:nvPr>
        </p:nvSpPr>
        <p:spPr>
          <a:ln/>
        </p:spPr>
      </p:sp>
      <p:sp>
        <p:nvSpPr>
          <p:cNvPr id="24371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6203004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336DA5-DDEF-4CE6-AFFD-CAA36E19F8EB}" type="slidenum">
              <a:rPr lang="en-US" altLang="zh-CN" smtClean="0">
                <a:latin typeface="宋体" panose="02010600030101010101" pitchFamily="2" charset="-122"/>
              </a:rPr>
              <a:pPr eaLnBrk="1" hangingPunct="1"/>
              <a:t>48</a:t>
            </a:fld>
            <a:endParaRPr lang="en-US" altLang="zh-CN" smtClean="0">
              <a:latin typeface="宋体" panose="02010600030101010101" pitchFamily="2" charset="-122"/>
            </a:endParaRPr>
          </a:p>
        </p:txBody>
      </p:sp>
      <p:sp>
        <p:nvSpPr>
          <p:cNvPr id="245762" name="Rectangle 2"/>
          <p:cNvSpPr>
            <a:spLocks noGrp="1" noRot="1" noChangeAspect="1" noChangeArrowheads="1" noTextEdit="1"/>
          </p:cNvSpPr>
          <p:nvPr>
            <p:ph type="sldImg" idx="4294967295"/>
          </p:nvPr>
        </p:nvSpPr>
        <p:spPr>
          <a:ln/>
        </p:spPr>
      </p:sp>
      <p:sp>
        <p:nvSpPr>
          <p:cNvPr id="24576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8729810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2AC8E95-D6DF-4810-BDCA-1936623217CA}" type="slidenum">
              <a:rPr lang="en-US" altLang="zh-CN" smtClean="0"/>
              <a:pPr/>
              <a:t>49</a:t>
            </a:fld>
            <a:endParaRPr lang="en-US" altLang="zh-CN" smtClean="0"/>
          </a:p>
        </p:txBody>
      </p:sp>
      <p:sp>
        <p:nvSpPr>
          <p:cNvPr id="247810" name="Rectangle 2"/>
          <p:cNvSpPr>
            <a:spLocks noGrp="1" noRot="1" noChangeAspect="1" noChangeArrowheads="1" noTextEdit="1"/>
          </p:cNvSpPr>
          <p:nvPr>
            <p:ph type="sldImg" idx="4294967295"/>
          </p:nvPr>
        </p:nvSpPr>
        <p:spPr>
          <a:ln/>
        </p:spPr>
      </p:sp>
      <p:sp>
        <p:nvSpPr>
          <p:cNvPr id="24781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1070693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7B2143C-F705-4127-8308-33625A4139F5}" type="slidenum">
              <a:rPr lang="en-US" altLang="zh-CN" smtClean="0">
                <a:latin typeface="宋体" panose="02010600030101010101" pitchFamily="2" charset="-122"/>
              </a:rPr>
              <a:pPr eaLnBrk="1" hangingPunct="1"/>
              <a:t>50</a:t>
            </a:fld>
            <a:endParaRPr lang="en-US" altLang="zh-CN" smtClean="0">
              <a:latin typeface="宋体" panose="02010600030101010101" pitchFamily="2" charset="-122"/>
            </a:endParaRPr>
          </a:p>
        </p:txBody>
      </p:sp>
      <p:sp>
        <p:nvSpPr>
          <p:cNvPr id="249858" name="Rectangle 2"/>
          <p:cNvSpPr>
            <a:spLocks noGrp="1" noRot="1" noChangeAspect="1" noChangeArrowheads="1" noTextEdit="1"/>
          </p:cNvSpPr>
          <p:nvPr>
            <p:ph type="sldImg" idx="4294967295"/>
          </p:nvPr>
        </p:nvSpPr>
        <p:spPr>
          <a:ln/>
        </p:spPr>
      </p:sp>
      <p:sp>
        <p:nvSpPr>
          <p:cNvPr id="24985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8283578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DE2118-7943-47C7-8D8B-660DA8E1DFA8}" type="slidenum">
              <a:rPr lang="en-US" altLang="zh-CN" smtClean="0">
                <a:latin typeface="宋体" panose="02010600030101010101" pitchFamily="2" charset="-122"/>
              </a:rPr>
              <a:pPr eaLnBrk="1" hangingPunct="1"/>
              <a:t>51</a:t>
            </a:fld>
            <a:endParaRPr lang="en-US" altLang="zh-CN" smtClean="0">
              <a:latin typeface="宋体" panose="02010600030101010101" pitchFamily="2" charset="-122"/>
            </a:endParaRPr>
          </a:p>
        </p:txBody>
      </p:sp>
      <p:sp>
        <p:nvSpPr>
          <p:cNvPr id="251906" name="Rectangle 2"/>
          <p:cNvSpPr>
            <a:spLocks noGrp="1" noRot="1" noChangeAspect="1" noChangeArrowheads="1" noTextEdit="1"/>
          </p:cNvSpPr>
          <p:nvPr>
            <p:ph type="sldImg" idx="4294967295"/>
          </p:nvPr>
        </p:nvSpPr>
        <p:spPr>
          <a:ln/>
        </p:spPr>
      </p:sp>
      <p:sp>
        <p:nvSpPr>
          <p:cNvPr id="25190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7379901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5F7F6F-3186-4C8D-890F-000134768213}" type="slidenum">
              <a:rPr lang="en-US" altLang="zh-CN" smtClean="0">
                <a:latin typeface="宋体" panose="02010600030101010101" pitchFamily="2" charset="-122"/>
              </a:rPr>
              <a:pPr eaLnBrk="1" hangingPunct="1"/>
              <a:t>53</a:t>
            </a:fld>
            <a:endParaRPr lang="en-US" altLang="zh-CN" smtClean="0">
              <a:latin typeface="宋体" panose="02010600030101010101" pitchFamily="2" charset="-122"/>
            </a:endParaRPr>
          </a:p>
        </p:txBody>
      </p:sp>
      <p:sp>
        <p:nvSpPr>
          <p:cNvPr id="254978" name="Rectangle 2"/>
          <p:cNvSpPr>
            <a:spLocks noGrp="1" noRot="1" noChangeAspect="1" noChangeArrowheads="1" noTextEdit="1"/>
          </p:cNvSpPr>
          <p:nvPr>
            <p:ph type="sldImg" idx="4294967295"/>
          </p:nvPr>
        </p:nvSpPr>
        <p:spPr>
          <a:ln/>
        </p:spPr>
      </p:sp>
      <p:sp>
        <p:nvSpPr>
          <p:cNvPr id="25497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7442740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29734F-AD0C-4272-B0F5-D5DED004FCA0}" type="slidenum">
              <a:rPr lang="en-US" altLang="zh-CN" smtClean="0">
                <a:latin typeface="宋体" panose="02010600030101010101" pitchFamily="2" charset="-122"/>
              </a:rPr>
              <a:pPr eaLnBrk="1" hangingPunct="1"/>
              <a:t>54</a:t>
            </a:fld>
            <a:endParaRPr lang="en-US" altLang="zh-CN" smtClean="0">
              <a:latin typeface="宋体" panose="02010600030101010101" pitchFamily="2" charset="-122"/>
            </a:endParaRPr>
          </a:p>
        </p:txBody>
      </p:sp>
      <p:sp>
        <p:nvSpPr>
          <p:cNvPr id="257026" name="Rectangle 2"/>
          <p:cNvSpPr>
            <a:spLocks noGrp="1" noRot="1" noChangeAspect="1" noChangeArrowheads="1" noTextEdit="1"/>
          </p:cNvSpPr>
          <p:nvPr>
            <p:ph type="sldImg" idx="4294967295"/>
          </p:nvPr>
        </p:nvSpPr>
        <p:spPr>
          <a:ln/>
        </p:spPr>
      </p:sp>
      <p:sp>
        <p:nvSpPr>
          <p:cNvPr id="25702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0277218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B9949D-65F4-430E-9FB4-1F6FA189E436}" type="slidenum">
              <a:rPr lang="en-US" altLang="zh-CN" smtClean="0">
                <a:latin typeface="宋体" panose="02010600030101010101" pitchFamily="2" charset="-122"/>
              </a:rPr>
              <a:pPr eaLnBrk="1" hangingPunct="1"/>
              <a:t>55</a:t>
            </a:fld>
            <a:endParaRPr lang="en-US" altLang="zh-CN" smtClean="0">
              <a:latin typeface="宋体" panose="02010600030101010101" pitchFamily="2" charset="-122"/>
            </a:endParaRPr>
          </a:p>
        </p:txBody>
      </p:sp>
      <p:sp>
        <p:nvSpPr>
          <p:cNvPr id="259074" name="Rectangle 2"/>
          <p:cNvSpPr>
            <a:spLocks noGrp="1" noRot="1" noChangeAspect="1" noChangeArrowheads="1" noTextEdit="1"/>
          </p:cNvSpPr>
          <p:nvPr>
            <p:ph type="sldImg" idx="4294967295"/>
          </p:nvPr>
        </p:nvSpPr>
        <p:spPr>
          <a:ln/>
        </p:spPr>
      </p:sp>
      <p:sp>
        <p:nvSpPr>
          <p:cNvPr id="2590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98400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3.wmf"/><Relationship Id="rId4" Type="http://schemas.openxmlformats.org/officeDocument/2006/relationships/oleObject" Target="../embeddings/oleObject4.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3.wmf"/><Relationship Id="rId4" Type="http://schemas.openxmlformats.org/officeDocument/2006/relationships/oleObject" Target="../embeddings/oleObject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ctrTitle"/>
          </p:nvPr>
        </p:nvSpPr>
        <p:spPr/>
        <p:txBody>
          <a:bodyPr/>
          <a:lstStyle/>
          <a:p>
            <a:r>
              <a:rPr lang="zh-CN" altLang="en-US" smtClean="0">
                <a:latin typeface="黑体" panose="02010609060101010101" pitchFamily="49" charset="-122"/>
                <a:ea typeface="黑体" panose="02010609060101010101" pitchFamily="49" charset="-122"/>
              </a:rPr>
              <a:t>第</a:t>
            </a:r>
            <a:r>
              <a:rPr lang="zh-CN" altLang="en-US" sz="4000" smtClean="0">
                <a:latin typeface="黑体" panose="02010609060101010101" pitchFamily="49" charset="-122"/>
                <a:ea typeface="黑体" panose="02010609060101010101" pitchFamily="49" charset="-122"/>
              </a:rPr>
              <a:t> </a:t>
            </a:r>
            <a:r>
              <a:rPr lang="en-US" altLang="zh-CN" smtClean="0">
                <a:latin typeface="黑体" panose="02010609060101010101" pitchFamily="49" charset="-122"/>
                <a:ea typeface="黑体" panose="02010609060101010101" pitchFamily="49" charset="-122"/>
              </a:rPr>
              <a:t>1</a:t>
            </a:r>
            <a:r>
              <a:rPr lang="en-US" altLang="zh-CN" sz="4000" smtClean="0">
                <a:latin typeface="黑体" panose="02010609060101010101" pitchFamily="49" charset="-122"/>
                <a:ea typeface="黑体" panose="02010609060101010101" pitchFamily="49" charset="-122"/>
              </a:rPr>
              <a:t> </a:t>
            </a:r>
            <a:r>
              <a:rPr lang="zh-CN" altLang="en-US" smtClean="0">
                <a:latin typeface="黑体" panose="02010609060101010101" pitchFamily="49" charset="-122"/>
                <a:ea typeface="黑体" panose="02010609060101010101" pitchFamily="49" charset="-122"/>
              </a:rPr>
              <a:t>章   概述</a:t>
            </a:r>
            <a:endParaRPr lang="zh-CN" altLang="en-US" smtClean="0">
              <a:latin typeface="黑体" panose="02010609060101010101" pitchFamily="49" charset="-122"/>
              <a:ea typeface="宋体" panose="02010600030101010101" pitchFamily="2" charset="-122"/>
            </a:endParaRPr>
          </a:p>
        </p:txBody>
      </p:sp>
      <p:sp>
        <p:nvSpPr>
          <p:cNvPr id="13314" name="Rectangle 3"/>
          <p:cNvSpPr>
            <a:spLocks noGrp="1" noChangeArrowheads="1"/>
          </p:cNvSpPr>
          <p:nvPr>
            <p:ph type="subTitle" idx="1"/>
          </p:nvPr>
        </p:nvSpPr>
        <p:spPr/>
        <p:txBody>
          <a:bodyPr/>
          <a:lstStyle/>
          <a:p>
            <a:endParaRPr lang="zh-CN" altLang="en-US" smtClean="0">
              <a:latin typeface="黑体" panose="02010609060101010101" pitchFamily="49" charset="-122"/>
              <a:ea typeface="宋体" panose="02010600030101010101" pitchFamily="2" charset="-122"/>
            </a:endParaRPr>
          </a:p>
        </p:txBody>
      </p:sp>
      <p:sp>
        <p:nvSpPr>
          <p:cNvPr id="133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188BD7-4C42-4ADA-B884-2730F48AB4ED}" type="slidenum">
              <a:rPr lang="zh-CN" altLang="en-US" smtClean="0"/>
              <a:pPr eaLnBrk="1" hangingPunct="1"/>
              <a:t>1</a:t>
            </a:fld>
            <a:endParaRPr lang="en-US" altLang="zh-CN" smtClean="0"/>
          </a:p>
        </p:txBody>
      </p:sp>
      <p:sp>
        <p:nvSpPr>
          <p:cNvPr id="133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pic>
        <p:nvPicPr>
          <p:cNvPr id="2" name="yzcw">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625306" y="38100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38288"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1.7  </a:t>
            </a:r>
            <a:r>
              <a:rPr lang="zh-CN" altLang="zh-CN" smtClean="0">
                <a:ea typeface="黑体" panose="02010609060101010101" pitchFamily="49" charset="-122"/>
              </a:rPr>
              <a:t>计算机网络的体系结构</a:t>
            </a:r>
            <a:endParaRPr lang="zh-CN" altLang="en-US" smtClean="0">
              <a:ea typeface="黑体" panose="02010609060101010101" pitchFamily="49" charset="-122"/>
            </a:endParaRPr>
          </a:p>
        </p:txBody>
      </p:sp>
      <p:sp>
        <p:nvSpPr>
          <p:cNvPr id="15462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1.7.1  </a:t>
            </a:r>
            <a:r>
              <a:rPr lang="zh-CN" altLang="zh-CN" smtClean="0">
                <a:ea typeface="黑体" panose="02010609060101010101" pitchFamily="49" charset="-122"/>
              </a:rPr>
              <a:t>计算机网络体系结构的形成</a:t>
            </a:r>
          </a:p>
          <a:p>
            <a:r>
              <a:rPr lang="en-US" altLang="zh-CN" smtClean="0">
                <a:ea typeface="黑体" panose="02010609060101010101" pitchFamily="49" charset="-122"/>
              </a:rPr>
              <a:t>1.7.2  </a:t>
            </a:r>
            <a:r>
              <a:rPr lang="zh-CN" altLang="zh-CN" smtClean="0">
                <a:ea typeface="黑体" panose="02010609060101010101" pitchFamily="49" charset="-122"/>
              </a:rPr>
              <a:t>协议与划分层次</a:t>
            </a:r>
          </a:p>
          <a:p>
            <a:r>
              <a:rPr lang="en-US" altLang="zh-CN" smtClean="0">
                <a:ea typeface="黑体" panose="02010609060101010101" pitchFamily="49" charset="-122"/>
              </a:rPr>
              <a:t>1.7.3  </a:t>
            </a:r>
            <a:r>
              <a:rPr lang="zh-CN" altLang="zh-CN" smtClean="0">
                <a:ea typeface="黑体" panose="02010609060101010101" pitchFamily="49" charset="-122"/>
              </a:rPr>
              <a:t>具有五层协议的体系结构</a:t>
            </a:r>
          </a:p>
          <a:p>
            <a:r>
              <a:rPr lang="en-US" altLang="zh-CN" smtClean="0">
                <a:ea typeface="黑体" panose="02010609060101010101" pitchFamily="49" charset="-122"/>
              </a:rPr>
              <a:t>1.7.4  </a:t>
            </a:r>
            <a:r>
              <a:rPr lang="zh-CN" altLang="zh-CN" smtClean="0">
                <a:ea typeface="黑体" panose="02010609060101010101" pitchFamily="49" charset="-122"/>
              </a:rPr>
              <a:t>实体、协议、服务和服务访问点</a:t>
            </a:r>
          </a:p>
          <a:p>
            <a:r>
              <a:rPr lang="en-US" altLang="zh-CN" smtClean="0">
                <a:ea typeface="黑体" panose="02010609060101010101" pitchFamily="49" charset="-122"/>
              </a:rPr>
              <a:t>1.7.5  TCP/IP </a:t>
            </a:r>
            <a:r>
              <a:rPr lang="zh-CN" altLang="zh-CN" smtClean="0">
                <a:ea typeface="黑体" panose="02010609060101010101" pitchFamily="49" charset="-122"/>
              </a:rPr>
              <a:t>的体系结构</a:t>
            </a:r>
          </a:p>
        </p:txBody>
      </p:sp>
      <p:sp>
        <p:nvSpPr>
          <p:cNvPr id="15462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BECFF0-2B22-45BB-8418-83AEF6D77592}" type="slidenum">
              <a:rPr lang="zh-CN" altLang="en-US" smtClean="0"/>
              <a:pPr eaLnBrk="1" hangingPunct="1"/>
              <a:t>2</a:t>
            </a:fld>
            <a:endParaRPr lang="en-US" altLang="zh-CN" smtClean="0"/>
          </a:p>
        </p:txBody>
      </p:sp>
      <p:sp>
        <p:nvSpPr>
          <p:cNvPr id="15462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1.7.1  </a:t>
            </a:r>
            <a:r>
              <a:rPr lang="zh-CN" altLang="zh-CN" sz="4000" smtClean="0">
                <a:ea typeface="黑体" panose="02010609060101010101" pitchFamily="49" charset="-122"/>
              </a:rPr>
              <a:t>计算机网络体系结构的形成</a:t>
            </a:r>
            <a:endParaRPr lang="zh-CN" altLang="en-US" sz="4000" smtClean="0">
              <a:ea typeface="黑体" panose="02010609060101010101" pitchFamily="49" charset="-122"/>
            </a:endParaRPr>
          </a:p>
        </p:txBody>
      </p:sp>
      <p:sp>
        <p:nvSpPr>
          <p:cNvPr id="100355"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计算机网络是个非常复杂的系统</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en-US" smtClean="0">
                <a:ea typeface="黑体" panose="02010609060101010101" pitchFamily="49" charset="-122"/>
              </a:rPr>
              <a:t>相互通信的两个计算机系统必须</a:t>
            </a:r>
            <a:r>
              <a:rPr lang="zh-CN" altLang="en-US" smtClean="0">
                <a:solidFill>
                  <a:srgbClr val="FF0000"/>
                </a:solidFill>
                <a:ea typeface="黑体" panose="02010609060101010101" pitchFamily="49" charset="-122"/>
              </a:rPr>
              <a:t>高度协调工作</a:t>
            </a:r>
            <a:r>
              <a:rPr lang="zh-CN" altLang="en-US" smtClean="0">
                <a:ea typeface="黑体" panose="02010609060101010101" pitchFamily="49" charset="-122"/>
              </a:rPr>
              <a:t>才行，而这种“协调”是相当复杂的。 </a:t>
            </a:r>
          </a:p>
          <a:p>
            <a:r>
              <a:rPr lang="zh-CN" altLang="en-US" smtClean="0">
                <a:ea typeface="黑体" panose="02010609060101010101" pitchFamily="49" charset="-122"/>
              </a:rPr>
              <a:t>“</a:t>
            </a:r>
            <a:r>
              <a:rPr lang="zh-CN" altLang="en-US" smtClean="0">
                <a:solidFill>
                  <a:srgbClr val="FF0000"/>
                </a:solidFill>
                <a:ea typeface="黑体" panose="02010609060101010101" pitchFamily="49" charset="-122"/>
              </a:rPr>
              <a:t>分层</a:t>
            </a:r>
            <a:r>
              <a:rPr lang="zh-CN" altLang="en-US" smtClean="0">
                <a:ea typeface="黑体" panose="02010609060101010101" pitchFamily="49" charset="-122"/>
              </a:rPr>
              <a:t>”可将庞大而复杂的问题，转化为若干较小的局部问题，而这些较小的局部问题就比较易于研究和处理。 </a:t>
            </a:r>
            <a:endParaRPr lang="en-US" altLang="zh-CN" smtClean="0">
              <a:ea typeface="黑体" panose="02010609060101010101" pitchFamily="49" charset="-122"/>
            </a:endParaRPr>
          </a:p>
        </p:txBody>
      </p:sp>
      <p:sp>
        <p:nvSpPr>
          <p:cNvPr id="1556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F7FEF57-91B6-43EE-AB84-5BACEBFE79D0}" type="slidenum">
              <a:rPr lang="zh-CN" altLang="en-US" smtClean="0"/>
              <a:pPr eaLnBrk="1" hangingPunct="1"/>
              <a:t>3</a:t>
            </a:fld>
            <a:endParaRPr lang="en-US" altLang="zh-CN" smtClean="0"/>
          </a:p>
        </p:txBody>
      </p:sp>
      <p:sp>
        <p:nvSpPr>
          <p:cNvPr id="1556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1.7.1  </a:t>
            </a:r>
            <a:r>
              <a:rPr lang="zh-CN" altLang="zh-CN" sz="4000" smtClean="0">
                <a:ea typeface="黑体" panose="02010609060101010101" pitchFamily="49" charset="-122"/>
              </a:rPr>
              <a:t>计算机网络体系结构的形成</a:t>
            </a:r>
            <a:endParaRPr lang="zh-CN" altLang="en-US" sz="4000" smtClean="0">
              <a:ea typeface="黑体" panose="02010609060101010101" pitchFamily="49" charset="-122"/>
            </a:endParaRPr>
          </a:p>
        </p:txBody>
      </p:sp>
      <p:sp>
        <p:nvSpPr>
          <p:cNvPr id="100355"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1974</a:t>
            </a:r>
            <a:r>
              <a:rPr lang="zh-CN" altLang="zh-CN" dirty="0" smtClean="0">
                <a:ea typeface="黑体" panose="02010609060101010101" pitchFamily="49" charset="-122"/>
              </a:rPr>
              <a:t>年，美国的</a:t>
            </a:r>
            <a:r>
              <a:rPr lang="en-US" altLang="zh-CN" dirty="0" smtClean="0">
                <a:ea typeface="黑体" panose="02010609060101010101" pitchFamily="49" charset="-122"/>
              </a:rPr>
              <a:t> IBM </a:t>
            </a:r>
            <a:r>
              <a:rPr lang="zh-CN" altLang="zh-CN" dirty="0" smtClean="0">
                <a:ea typeface="黑体" panose="02010609060101010101" pitchFamily="49" charset="-122"/>
              </a:rPr>
              <a:t>公司宣布了</a:t>
            </a:r>
            <a:r>
              <a:rPr lang="zh-CN" altLang="zh-CN" u="sng" dirty="0" smtClean="0">
                <a:solidFill>
                  <a:srgbClr val="FF0000"/>
                </a:solidFill>
                <a:ea typeface="黑体" panose="02010609060101010101" pitchFamily="49" charset="-122"/>
              </a:rPr>
              <a:t>系统网络体系结构</a:t>
            </a:r>
            <a:r>
              <a:rPr lang="en-US" altLang="zh-CN" u="sng" dirty="0" smtClean="0">
                <a:solidFill>
                  <a:srgbClr val="FF0000"/>
                </a:solidFill>
                <a:ea typeface="黑体" panose="02010609060101010101" pitchFamily="49" charset="-122"/>
              </a:rPr>
              <a:t>SNA</a:t>
            </a:r>
            <a:r>
              <a:rPr lang="en-US" altLang="zh-CN" u="sng" dirty="0" smtClean="0">
                <a:solidFill>
                  <a:srgbClr val="0000CC"/>
                </a:solidFill>
                <a:ea typeface="黑体" panose="02010609060101010101" pitchFamily="49" charset="-122"/>
              </a:rPr>
              <a:t> </a:t>
            </a:r>
            <a:r>
              <a:rPr lang="en-US" altLang="zh-CN" u="sng" dirty="0" smtClean="0">
                <a:ea typeface="黑体" panose="02010609060101010101" pitchFamily="49" charset="-122"/>
              </a:rPr>
              <a:t>(System Network Architecture)</a:t>
            </a:r>
            <a:r>
              <a:rPr lang="zh-CN" altLang="zh-CN" u="sng" dirty="0" smtClean="0">
                <a:ea typeface="黑体" panose="02010609060101010101" pitchFamily="49" charset="-122"/>
              </a:rPr>
              <a:t>。</a:t>
            </a:r>
            <a:r>
              <a:rPr lang="zh-CN" altLang="zh-CN" dirty="0" smtClean="0">
                <a:ea typeface="黑体" panose="02010609060101010101" pitchFamily="49" charset="-122"/>
              </a:rPr>
              <a:t>这个著名的网络标准就是按照分层的方法制定的</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不久后，其他一些公司也相继推出自己公司的具有不同名称的体系结构。</a:t>
            </a:r>
            <a:endParaRPr lang="en-US" altLang="zh-CN" dirty="0" smtClean="0">
              <a:ea typeface="黑体" panose="02010609060101010101" pitchFamily="49" charset="-122"/>
            </a:endParaRPr>
          </a:p>
          <a:p>
            <a:r>
              <a:rPr lang="zh-CN" altLang="zh-CN" dirty="0" smtClean="0">
                <a:solidFill>
                  <a:srgbClr val="FF0000"/>
                </a:solidFill>
                <a:ea typeface="黑体" panose="02010609060101010101" pitchFamily="49" charset="-122"/>
              </a:rPr>
              <a:t>由于网络体系结构的不同，不同公司的设备很难互相连通。</a:t>
            </a:r>
            <a:endParaRPr lang="zh-CN" altLang="en-US" dirty="0" smtClean="0">
              <a:solidFill>
                <a:srgbClr val="FF0000"/>
              </a:solidFill>
              <a:ea typeface="黑体" panose="02010609060101010101" pitchFamily="49" charset="-122"/>
            </a:endParaRPr>
          </a:p>
        </p:txBody>
      </p:sp>
      <p:sp>
        <p:nvSpPr>
          <p:cNvPr id="1576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041BCE-89BD-4375-B747-478CCB9B58A9}" type="slidenum">
              <a:rPr lang="zh-CN" altLang="en-US" smtClean="0"/>
              <a:pPr eaLnBrk="1" hangingPunct="1"/>
              <a:t>4</a:t>
            </a:fld>
            <a:endParaRPr lang="en-US" altLang="zh-CN" smtClean="0"/>
          </a:p>
        </p:txBody>
      </p:sp>
      <p:sp>
        <p:nvSpPr>
          <p:cNvPr id="1577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开放系统互连参考模型</a:t>
            </a:r>
            <a:r>
              <a:rPr lang="en-US" altLang="zh-CN" sz="4000" smtClean="0">
                <a:ea typeface="黑体" panose="02010609060101010101" pitchFamily="49" charset="-122"/>
              </a:rPr>
              <a:t>OSI/RM</a:t>
            </a:r>
          </a:p>
        </p:txBody>
      </p:sp>
      <p:sp>
        <p:nvSpPr>
          <p:cNvPr id="171011" name="Rectangle 3"/>
          <p:cNvSpPr>
            <a:spLocks noGrp="1" noChangeArrowheads="1"/>
          </p:cNvSpPr>
          <p:nvPr>
            <p:ph idx="1"/>
          </p:nvPr>
        </p:nvSpPr>
        <p:spPr>
          <a:xfrm>
            <a:off x="495300" y="1196975"/>
            <a:ext cx="9066213" cy="4933950"/>
          </a:xfrm>
        </p:spPr>
        <p:txBody>
          <a:bodyPr/>
          <a:lstStyle/>
          <a:p>
            <a:r>
              <a:rPr lang="zh-CN" altLang="zh-CN" sz="3000" dirty="0" smtClean="0">
                <a:ea typeface="黑体" panose="02010609060101010101" pitchFamily="49" charset="-122"/>
              </a:rPr>
              <a:t>为了使不同体系结构的计算机网络都能互连，国际标准化组织</a:t>
            </a:r>
            <a:r>
              <a:rPr lang="en-US" altLang="zh-CN" sz="3000" dirty="0" smtClean="0">
                <a:ea typeface="黑体" panose="02010609060101010101" pitchFamily="49" charset="-122"/>
              </a:rPr>
              <a:t> ISO </a:t>
            </a:r>
            <a:r>
              <a:rPr lang="zh-CN" altLang="zh-CN" sz="3000" dirty="0" smtClean="0">
                <a:ea typeface="黑体" panose="02010609060101010101" pitchFamily="49" charset="-122"/>
              </a:rPr>
              <a:t>于</a:t>
            </a:r>
            <a:r>
              <a:rPr lang="en-US" altLang="zh-CN" sz="3000" dirty="0" smtClean="0">
                <a:ea typeface="黑体" panose="02010609060101010101" pitchFamily="49" charset="-122"/>
              </a:rPr>
              <a:t>1977</a:t>
            </a:r>
            <a:r>
              <a:rPr lang="zh-CN" altLang="zh-CN" sz="3000" dirty="0" smtClean="0">
                <a:ea typeface="黑体" panose="02010609060101010101" pitchFamily="49" charset="-122"/>
              </a:rPr>
              <a:t>年成立了专门机构研究该问题。</a:t>
            </a:r>
            <a:endParaRPr lang="en-US" altLang="zh-CN" sz="3000" dirty="0" smtClean="0">
              <a:ea typeface="黑体" panose="02010609060101010101" pitchFamily="49" charset="-122"/>
            </a:endParaRPr>
          </a:p>
          <a:p>
            <a:r>
              <a:rPr lang="zh-CN" altLang="zh-CN" sz="3000" dirty="0" smtClean="0">
                <a:ea typeface="黑体" panose="02010609060101010101" pitchFamily="49" charset="-122"/>
              </a:rPr>
              <a:t>他们提出了一个试图使各种计算机在世界范围内互连成网的标准框架，即著名的</a:t>
            </a:r>
            <a:r>
              <a:rPr lang="zh-CN" altLang="zh-CN" sz="3000" u="sng" dirty="0" smtClean="0">
                <a:solidFill>
                  <a:srgbClr val="FF0000"/>
                </a:solidFill>
                <a:ea typeface="黑体" panose="02010609060101010101" pitchFamily="49" charset="-122"/>
              </a:rPr>
              <a:t>开放系统互连基本参考模型</a:t>
            </a:r>
            <a:r>
              <a:rPr lang="en-US" altLang="zh-CN" sz="3000" u="sng" dirty="0" smtClean="0">
                <a:solidFill>
                  <a:srgbClr val="FF0000"/>
                </a:solidFill>
                <a:ea typeface="黑体" panose="02010609060101010101" pitchFamily="49" charset="-122"/>
              </a:rPr>
              <a:t> OSI/RM</a:t>
            </a:r>
            <a:r>
              <a:rPr lang="en-US" altLang="zh-CN" sz="3000" u="sng" dirty="0" smtClean="0">
                <a:ea typeface="黑体" panose="02010609060101010101" pitchFamily="49" charset="-122"/>
              </a:rPr>
              <a:t> (Open Systems Interconnection Reference Model)</a:t>
            </a:r>
            <a:r>
              <a:rPr lang="zh-CN" altLang="zh-CN" sz="3000" u="sng" dirty="0" smtClean="0">
                <a:ea typeface="黑体" panose="02010609060101010101" pitchFamily="49" charset="-122"/>
              </a:rPr>
              <a:t>，简称为</a:t>
            </a:r>
            <a:r>
              <a:rPr lang="en-US" altLang="zh-CN" sz="3000" u="sng" dirty="0" smtClean="0">
                <a:ea typeface="黑体" panose="02010609060101010101" pitchFamily="49" charset="-122"/>
              </a:rPr>
              <a:t> OSI</a:t>
            </a:r>
            <a:r>
              <a:rPr lang="zh-CN" altLang="zh-CN" sz="3000" dirty="0" smtClean="0">
                <a:ea typeface="黑体" panose="02010609060101010101" pitchFamily="49" charset="-122"/>
              </a:rPr>
              <a:t>。</a:t>
            </a:r>
            <a:endParaRPr lang="en-US" altLang="zh-CN" sz="3000" dirty="0" smtClean="0">
              <a:ea typeface="黑体" panose="02010609060101010101" pitchFamily="49" charset="-122"/>
            </a:endParaRPr>
          </a:p>
        </p:txBody>
      </p:sp>
      <p:sp>
        <p:nvSpPr>
          <p:cNvPr id="2" name="矩形 1"/>
          <p:cNvSpPr>
            <a:spLocks noChangeArrowheads="1"/>
          </p:cNvSpPr>
          <p:nvPr/>
        </p:nvSpPr>
        <p:spPr bwMode="auto">
          <a:xfrm>
            <a:off x="1065213" y="4868863"/>
            <a:ext cx="8135937" cy="1385887"/>
          </a:xfrm>
          <a:prstGeom prst="rect">
            <a:avLst/>
          </a:prstGeom>
          <a:solidFill>
            <a:srgbClr val="FFFF66"/>
          </a:solidFill>
          <a:ln w="9525">
            <a:solidFill>
              <a:srgbClr val="000099"/>
            </a:solidFill>
            <a:round/>
            <a:headEnd/>
            <a:tailEnd/>
          </a:ln>
        </p:spPr>
        <p:txBody>
          <a:bodyPr>
            <a:spAutoFit/>
          </a:bodyPr>
          <a:lstStyle/>
          <a:p>
            <a:pPr eaLnBrk="0" hangingPunct="0"/>
            <a:r>
              <a:rPr lang="zh-CN" altLang="en-US" sz="2800" b="1">
                <a:solidFill>
                  <a:srgbClr val="000066"/>
                </a:solidFill>
                <a:ea typeface="黑体" panose="02010609060101010101" pitchFamily="49" charset="-122"/>
              </a:rPr>
              <a:t>只要遵循 </a:t>
            </a:r>
            <a:r>
              <a:rPr lang="en-US" altLang="zh-CN" sz="2800" b="1">
                <a:solidFill>
                  <a:srgbClr val="000066"/>
                </a:solidFill>
                <a:ea typeface="黑体" panose="02010609060101010101" pitchFamily="49" charset="-122"/>
              </a:rPr>
              <a:t>OSI </a:t>
            </a:r>
            <a:r>
              <a:rPr lang="zh-CN" altLang="en-US" sz="2800" b="1">
                <a:solidFill>
                  <a:srgbClr val="000066"/>
                </a:solidFill>
                <a:ea typeface="黑体" panose="02010609060101010101" pitchFamily="49" charset="-122"/>
              </a:rPr>
              <a:t>标准，一个系统就可以和位于世界上任何地方的、也遵循这同一标准的其他任何系统进行通信。</a:t>
            </a:r>
          </a:p>
        </p:txBody>
      </p:sp>
      <p:sp>
        <p:nvSpPr>
          <p:cNvPr id="15974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95923EF-B69A-40E0-99E0-A09593C0FE3B}" type="slidenum">
              <a:rPr lang="zh-CN" altLang="en-US" smtClean="0"/>
              <a:pPr eaLnBrk="1" hangingPunct="1"/>
              <a:t>5</a:t>
            </a:fld>
            <a:endParaRPr lang="en-US" altLang="zh-CN" smtClean="0"/>
          </a:p>
        </p:txBody>
      </p:sp>
      <p:sp>
        <p:nvSpPr>
          <p:cNvPr id="15974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1">
                                            <p:txEl>
                                              <p:pRg st="1" end="1"/>
                                            </p:txEl>
                                          </p:spTgt>
                                        </p:tgtEl>
                                        <p:attrNameLst>
                                          <p:attrName>style.visibility</p:attrName>
                                        </p:attrNameLst>
                                      </p:cBhvr>
                                      <p:to>
                                        <p:strVal val="visible"/>
                                      </p:to>
                                    </p:set>
                                  </p:childTnLst>
                                </p:cTn>
                              </p:par>
                            </p:childTnLst>
                          </p:cTn>
                        </p:par>
                        <p:par>
                          <p:cTn id="11" fill="hold" nodeType="afterGroup">
                            <p:stCondLst>
                              <p:cond delay="1"/>
                            </p:stCondLst>
                            <p:childTnLst>
                              <p:par>
                                <p:cTn id="12" presetID="1"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开放系统互连参考模型</a:t>
            </a:r>
            <a:r>
              <a:rPr lang="en-US" altLang="zh-CN" sz="4000" smtClean="0">
                <a:ea typeface="黑体" panose="02010609060101010101" pitchFamily="49" charset="-122"/>
              </a:rPr>
              <a:t>OSI/RM</a:t>
            </a:r>
          </a:p>
        </p:txBody>
      </p:sp>
      <p:sp>
        <p:nvSpPr>
          <p:cNvPr id="171011"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OSI </a:t>
            </a:r>
            <a:r>
              <a:rPr lang="zh-CN" altLang="zh-CN" smtClean="0">
                <a:ea typeface="黑体" panose="02010609060101010101" pitchFamily="49" charset="-122"/>
              </a:rPr>
              <a:t>只获得了一些理论研究的成果</a:t>
            </a:r>
            <a:r>
              <a:rPr lang="zh-CN" altLang="en-US" smtClean="0">
                <a:ea typeface="黑体" panose="02010609060101010101" pitchFamily="49" charset="-122"/>
              </a:rPr>
              <a:t>，在市场化方面却失败了。原因包括：</a:t>
            </a:r>
          </a:p>
          <a:p>
            <a:pPr lvl="1"/>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的专家们在完成 </a:t>
            </a:r>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标准时没有商业驱动力；</a:t>
            </a:r>
          </a:p>
          <a:p>
            <a:pPr lvl="1"/>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的协议实现起来过分复杂，且运行效率很低；</a:t>
            </a:r>
          </a:p>
          <a:p>
            <a:pPr lvl="1"/>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标准的制定周期太长，因而使得按 </a:t>
            </a:r>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标准生产的设备无法及时进入市场；</a:t>
            </a:r>
          </a:p>
          <a:p>
            <a:pPr lvl="1"/>
            <a:r>
              <a:rPr lang="en-US" altLang="zh-CN" smtClean="0">
                <a:solidFill>
                  <a:srgbClr val="0000CC"/>
                </a:solidFill>
                <a:ea typeface="黑体" panose="02010609060101010101" pitchFamily="49" charset="-122"/>
              </a:rPr>
              <a:t>OSI </a:t>
            </a:r>
            <a:r>
              <a:rPr lang="zh-CN" altLang="en-US" smtClean="0">
                <a:solidFill>
                  <a:srgbClr val="0000CC"/>
                </a:solidFill>
                <a:ea typeface="黑体" panose="02010609060101010101" pitchFamily="49" charset="-122"/>
              </a:rPr>
              <a:t>的层次划分也不太合理，有些功能在多个层次中重复出现。  </a:t>
            </a:r>
          </a:p>
        </p:txBody>
      </p:sp>
      <p:sp>
        <p:nvSpPr>
          <p:cNvPr id="161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FD0B3C-0782-4121-B09B-171C226AF843}" type="slidenum">
              <a:rPr lang="zh-CN" altLang="en-US" smtClean="0"/>
              <a:pPr eaLnBrk="1" hangingPunct="1"/>
              <a:t>6</a:t>
            </a:fld>
            <a:endParaRPr lang="en-US" altLang="zh-CN" smtClean="0"/>
          </a:p>
        </p:txBody>
      </p:sp>
      <p:sp>
        <p:nvSpPr>
          <p:cNvPr id="161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1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1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两种国际标准</a:t>
            </a:r>
          </a:p>
        </p:txBody>
      </p:sp>
      <p:sp>
        <p:nvSpPr>
          <p:cNvPr id="172035"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法律上的 </a:t>
            </a:r>
            <a:r>
              <a:rPr lang="en-US" altLang="zh-CN" smtClean="0">
                <a:ea typeface="黑体" panose="02010609060101010101" pitchFamily="49" charset="-122"/>
              </a:rPr>
              <a:t>(</a:t>
            </a:r>
            <a:r>
              <a:rPr lang="en-US" altLang="zh-CN" i="1" smtClean="0">
                <a:ea typeface="黑体" panose="02010609060101010101" pitchFamily="49" charset="-122"/>
              </a:rPr>
              <a:t>de jure</a:t>
            </a:r>
            <a:r>
              <a:rPr lang="en-US" altLang="zh-CN" smtClean="0">
                <a:ea typeface="黑体" panose="02010609060101010101" pitchFamily="49" charset="-122"/>
              </a:rPr>
              <a:t>) </a:t>
            </a:r>
            <a:r>
              <a:rPr lang="zh-CN" altLang="en-US" smtClean="0">
                <a:ea typeface="黑体" panose="02010609060101010101" pitchFamily="49" charset="-122"/>
              </a:rPr>
              <a:t>国际标准 </a:t>
            </a:r>
            <a:r>
              <a:rPr lang="en-US" altLang="zh-CN" smtClean="0">
                <a:ea typeface="黑体" panose="02010609060101010101" pitchFamily="49" charset="-122"/>
              </a:rPr>
              <a:t>OSI </a:t>
            </a:r>
            <a:r>
              <a:rPr lang="zh-CN" altLang="en-US" smtClean="0">
                <a:ea typeface="黑体" panose="02010609060101010101" pitchFamily="49" charset="-122"/>
              </a:rPr>
              <a:t>并没有得到市场的认可。</a:t>
            </a:r>
          </a:p>
          <a:p>
            <a:r>
              <a:rPr lang="zh-CN" altLang="en-US" smtClean="0">
                <a:ea typeface="黑体" panose="02010609060101010101" pitchFamily="49" charset="-122"/>
              </a:rPr>
              <a:t>非国际标准 </a:t>
            </a:r>
            <a:r>
              <a:rPr lang="en-US" altLang="zh-CN" smtClean="0">
                <a:ea typeface="黑体" panose="02010609060101010101" pitchFamily="49" charset="-122"/>
              </a:rPr>
              <a:t>TCP/IP </a:t>
            </a:r>
            <a:r>
              <a:rPr lang="zh-CN" altLang="en-US" smtClean="0">
                <a:ea typeface="黑体" panose="02010609060101010101" pitchFamily="49" charset="-122"/>
              </a:rPr>
              <a:t>却获得了最广泛的应用。</a:t>
            </a:r>
            <a:r>
              <a:rPr lang="en-US" altLang="zh-CN" smtClean="0">
                <a:ea typeface="黑体" panose="02010609060101010101" pitchFamily="49" charset="-122"/>
              </a:rPr>
              <a:t>TCP/IP </a:t>
            </a:r>
            <a:r>
              <a:rPr lang="zh-CN" altLang="en-US" smtClean="0">
                <a:ea typeface="黑体" panose="02010609060101010101" pitchFamily="49" charset="-122"/>
              </a:rPr>
              <a:t>常被称为</a:t>
            </a:r>
            <a:r>
              <a:rPr lang="zh-CN" altLang="en-US" smtClean="0">
                <a:solidFill>
                  <a:srgbClr val="FF0000"/>
                </a:solidFill>
                <a:ea typeface="黑体" panose="02010609060101010101" pitchFamily="49" charset="-122"/>
              </a:rPr>
              <a:t>事实上的 </a:t>
            </a:r>
            <a:r>
              <a:rPr lang="en-US" altLang="zh-CN" smtClean="0">
                <a:solidFill>
                  <a:srgbClr val="FF0000"/>
                </a:solidFill>
                <a:ea typeface="黑体" panose="02010609060101010101" pitchFamily="49" charset="-122"/>
              </a:rPr>
              <a:t>(</a:t>
            </a:r>
            <a:r>
              <a:rPr lang="en-US" altLang="zh-CN" i="1" smtClean="0">
                <a:solidFill>
                  <a:srgbClr val="FF0000"/>
                </a:solidFill>
                <a:ea typeface="黑体" panose="02010609060101010101" pitchFamily="49" charset="-122"/>
              </a:rPr>
              <a:t>de facto</a:t>
            </a:r>
            <a:r>
              <a:rPr lang="en-US" altLang="zh-CN" smtClean="0">
                <a:solidFill>
                  <a:srgbClr val="FF0000"/>
                </a:solidFill>
                <a:ea typeface="黑体" panose="02010609060101010101" pitchFamily="49" charset="-122"/>
              </a:rPr>
              <a:t>) </a:t>
            </a:r>
            <a:r>
              <a:rPr lang="zh-CN" altLang="en-US" smtClean="0">
                <a:solidFill>
                  <a:srgbClr val="FF0000"/>
                </a:solidFill>
                <a:ea typeface="黑体" panose="02010609060101010101" pitchFamily="49" charset="-122"/>
              </a:rPr>
              <a:t>国际标准</a:t>
            </a:r>
            <a:r>
              <a:rPr lang="zh-CN" altLang="en-US" smtClean="0">
                <a:ea typeface="黑体" panose="02010609060101010101" pitchFamily="49" charset="-122"/>
              </a:rPr>
              <a:t>。</a:t>
            </a:r>
          </a:p>
        </p:txBody>
      </p:sp>
      <p:sp>
        <p:nvSpPr>
          <p:cNvPr id="1638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C1D6EF-4C6A-40CB-B570-5D6590A04C0A}" type="slidenum">
              <a:rPr lang="zh-CN" altLang="en-US" smtClean="0"/>
              <a:pPr eaLnBrk="1" hangingPunct="1"/>
              <a:t>7</a:t>
            </a:fld>
            <a:endParaRPr lang="en-US" altLang="zh-CN" smtClean="0"/>
          </a:p>
        </p:txBody>
      </p:sp>
      <p:sp>
        <p:nvSpPr>
          <p:cNvPr id="1638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2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203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1.7.2  </a:t>
            </a:r>
            <a:r>
              <a:rPr lang="zh-CN" altLang="zh-CN" smtClean="0">
                <a:ea typeface="黑体" panose="02010609060101010101" pitchFamily="49" charset="-122"/>
              </a:rPr>
              <a:t>协议与划分层次</a:t>
            </a:r>
            <a:endParaRPr lang="zh-CN" altLang="en-US" smtClean="0">
              <a:ea typeface="黑体" panose="02010609060101010101" pitchFamily="49" charset="-122"/>
            </a:endParaRPr>
          </a:p>
        </p:txBody>
      </p:sp>
      <p:sp>
        <p:nvSpPr>
          <p:cNvPr id="101379"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计算机网络中的数据交换</a:t>
            </a:r>
            <a:r>
              <a:rPr lang="zh-CN" altLang="en-US" dirty="0" smtClean="0">
                <a:solidFill>
                  <a:srgbClr val="FF0000"/>
                </a:solidFill>
                <a:ea typeface="黑体" panose="02010609060101010101" pitchFamily="49" charset="-122"/>
              </a:rPr>
              <a:t>必须遵守事先约定好的规则。 </a:t>
            </a:r>
          </a:p>
          <a:p>
            <a:r>
              <a:rPr lang="zh-CN" altLang="en-US" dirty="0" smtClean="0">
                <a:ea typeface="黑体" panose="02010609060101010101" pitchFamily="49" charset="-122"/>
              </a:rPr>
              <a:t>这些</a:t>
            </a:r>
            <a:r>
              <a:rPr lang="zh-CN" altLang="en-US" dirty="0" smtClean="0">
                <a:solidFill>
                  <a:srgbClr val="FF0000"/>
                </a:solidFill>
                <a:ea typeface="黑体" panose="02010609060101010101" pitchFamily="49" charset="-122"/>
              </a:rPr>
              <a:t>规则</a:t>
            </a:r>
            <a:r>
              <a:rPr lang="zh-CN" altLang="en-US" dirty="0" smtClean="0">
                <a:ea typeface="黑体" panose="02010609060101010101" pitchFamily="49" charset="-122"/>
              </a:rPr>
              <a:t>明确规定了所交换的数据的格式以及有关的同步问题（同步含有时序的意思）。</a:t>
            </a:r>
          </a:p>
          <a:p>
            <a:r>
              <a:rPr lang="zh-CN" altLang="en-US" u="sng" dirty="0" smtClean="0">
                <a:solidFill>
                  <a:srgbClr val="FF0000"/>
                </a:solidFill>
                <a:ea typeface="黑体" panose="02010609060101010101" pitchFamily="49" charset="-122"/>
              </a:rPr>
              <a:t>网络协议 </a:t>
            </a:r>
            <a:r>
              <a:rPr lang="en-US" altLang="zh-CN" u="sng" dirty="0" smtClean="0">
                <a:ea typeface="黑体" panose="02010609060101010101" pitchFamily="49" charset="-122"/>
              </a:rPr>
              <a:t>(network protocol)</a:t>
            </a:r>
            <a:r>
              <a:rPr lang="zh-CN" altLang="en-US" u="sng" dirty="0" smtClean="0">
                <a:ea typeface="黑体" panose="02010609060101010101" pitchFamily="49" charset="-122"/>
              </a:rPr>
              <a:t>，简称为</a:t>
            </a:r>
            <a:r>
              <a:rPr lang="zh-CN" altLang="en-US" u="sng" dirty="0" smtClean="0">
                <a:solidFill>
                  <a:srgbClr val="FF0000"/>
                </a:solidFill>
                <a:ea typeface="黑体" panose="02010609060101010101" pitchFamily="49" charset="-122"/>
              </a:rPr>
              <a:t>协议</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是为进行网络中的数据交换而建立的规则、标准或约定。 </a:t>
            </a:r>
          </a:p>
        </p:txBody>
      </p:sp>
      <p:sp>
        <p:nvSpPr>
          <p:cNvPr id="1658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C387DFE-C61B-4F2C-899C-349B32DB7AB2}" type="slidenum">
              <a:rPr lang="zh-CN" altLang="en-US" smtClean="0"/>
              <a:pPr eaLnBrk="1" hangingPunct="1"/>
              <a:t>8</a:t>
            </a:fld>
            <a:endParaRPr lang="en-US" altLang="zh-CN" smtClean="0"/>
          </a:p>
        </p:txBody>
      </p:sp>
      <p:sp>
        <p:nvSpPr>
          <p:cNvPr id="1658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3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13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网络协议的三个组成要素 </a:t>
            </a:r>
          </a:p>
        </p:txBody>
      </p:sp>
      <p:sp>
        <p:nvSpPr>
          <p:cNvPr id="102403"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语法：</a:t>
            </a:r>
            <a:r>
              <a:rPr lang="zh-CN" altLang="en-US" smtClean="0">
                <a:ea typeface="黑体" panose="02010609060101010101" pitchFamily="49" charset="-122"/>
              </a:rPr>
              <a:t>数据与控制信息的结构或格式 。 </a:t>
            </a:r>
          </a:p>
          <a:p>
            <a:r>
              <a:rPr lang="zh-CN" altLang="en-US" smtClean="0">
                <a:solidFill>
                  <a:srgbClr val="FF0000"/>
                </a:solidFill>
                <a:ea typeface="黑体" panose="02010609060101010101" pitchFamily="49" charset="-122"/>
              </a:rPr>
              <a:t>语义：</a:t>
            </a:r>
            <a:r>
              <a:rPr lang="zh-CN" altLang="en-US" smtClean="0">
                <a:ea typeface="黑体" panose="02010609060101010101" pitchFamily="49" charset="-122"/>
              </a:rPr>
              <a:t>需要发出何种控制信息，完成何种动作以及做出何种响应。 </a:t>
            </a:r>
          </a:p>
          <a:p>
            <a:r>
              <a:rPr lang="zh-CN" altLang="en-US" smtClean="0">
                <a:solidFill>
                  <a:srgbClr val="FF0000"/>
                </a:solidFill>
                <a:ea typeface="黑体" panose="02010609060101010101" pitchFamily="49" charset="-122"/>
              </a:rPr>
              <a:t>同步：</a:t>
            </a:r>
            <a:r>
              <a:rPr lang="zh-CN" altLang="en-US" smtClean="0">
                <a:ea typeface="黑体" panose="02010609060101010101" pitchFamily="49" charset="-122"/>
              </a:rPr>
              <a:t>事件实现顺序的详细说明。 </a:t>
            </a:r>
          </a:p>
        </p:txBody>
      </p:sp>
      <p:sp>
        <p:nvSpPr>
          <p:cNvPr id="2" name="矩形 1"/>
          <p:cNvSpPr>
            <a:spLocks noChangeArrowheads="1"/>
          </p:cNvSpPr>
          <p:nvPr/>
        </p:nvSpPr>
        <p:spPr bwMode="auto">
          <a:xfrm>
            <a:off x="1857375" y="3771900"/>
            <a:ext cx="6408738" cy="1074738"/>
          </a:xfrm>
          <a:prstGeom prst="rect">
            <a:avLst/>
          </a:prstGeom>
          <a:solidFill>
            <a:srgbClr val="FFFF66"/>
          </a:solidFill>
          <a:ln w="9525">
            <a:solidFill>
              <a:srgbClr val="000099"/>
            </a:solidFill>
            <a:round/>
            <a:headEnd/>
            <a:tailEnd/>
          </a:ln>
        </p:spPr>
        <p:txBody>
          <a:bodyPr>
            <a:spAutoFit/>
          </a:bodyPr>
          <a:lstStyle/>
          <a:p>
            <a:pPr eaLnBrk="0" hangingPunct="0">
              <a:lnSpc>
                <a:spcPct val="120000"/>
              </a:lnSpc>
            </a:pPr>
            <a:r>
              <a:rPr lang="zh-CN" altLang="zh-CN" sz="2800" b="1">
                <a:solidFill>
                  <a:srgbClr val="000066"/>
                </a:solidFill>
                <a:ea typeface="黑体" panose="02010609060101010101" pitchFamily="49" charset="-122"/>
              </a:rPr>
              <a:t>由此可见，网络协议是计算机网络的不可缺少的组成部分。</a:t>
            </a:r>
            <a:endParaRPr lang="zh-CN" altLang="en-US" sz="2800" b="1">
              <a:solidFill>
                <a:srgbClr val="000066"/>
              </a:solidFill>
              <a:ea typeface="黑体" panose="02010609060101010101" pitchFamily="49" charset="-122"/>
            </a:endParaRPr>
          </a:p>
        </p:txBody>
      </p:sp>
      <p:sp>
        <p:nvSpPr>
          <p:cNvPr id="16794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83082E4-36F5-4D95-A693-F759566E9CCD}" type="slidenum">
              <a:rPr lang="zh-CN" altLang="en-US" smtClean="0"/>
              <a:pPr eaLnBrk="1" hangingPunct="1"/>
              <a:t>9</a:t>
            </a:fld>
            <a:endParaRPr lang="en-US" altLang="zh-CN" smtClean="0"/>
          </a:p>
        </p:txBody>
      </p:sp>
      <p:sp>
        <p:nvSpPr>
          <p:cNvPr id="16794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协议的两种形式</a:t>
            </a:r>
          </a:p>
        </p:txBody>
      </p:sp>
      <p:sp>
        <p:nvSpPr>
          <p:cNvPr id="3"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一种是使用便于人来阅读和理解的</a:t>
            </a:r>
            <a:r>
              <a:rPr lang="zh-CN" altLang="zh-CN" smtClean="0">
                <a:solidFill>
                  <a:srgbClr val="FF0000"/>
                </a:solidFill>
                <a:ea typeface="黑体" panose="02010609060101010101" pitchFamily="49" charset="-122"/>
              </a:rPr>
              <a:t>文字描述。</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另一种是使用让计算机能够理解的</a:t>
            </a:r>
            <a:r>
              <a:rPr lang="zh-CN" altLang="zh-CN" smtClean="0">
                <a:solidFill>
                  <a:srgbClr val="FF0000"/>
                </a:solidFill>
                <a:ea typeface="黑体" panose="02010609060101010101" pitchFamily="49" charset="-122"/>
              </a:rPr>
              <a:t>程序代码。</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这两种不同形式的协议都必须能够对网络上信息交换过程</a:t>
            </a:r>
            <a:r>
              <a:rPr lang="zh-CN" altLang="zh-CN" smtClean="0">
                <a:solidFill>
                  <a:srgbClr val="FF0000"/>
                </a:solidFill>
                <a:ea typeface="黑体" panose="02010609060101010101" pitchFamily="49" charset="-122"/>
              </a:rPr>
              <a:t>做出精确的解释。</a:t>
            </a:r>
            <a:endParaRPr lang="zh-CN" altLang="en-US" smtClean="0">
              <a:solidFill>
                <a:srgbClr val="FF0000"/>
              </a:solidFill>
              <a:ea typeface="黑体" panose="02010609060101010101" pitchFamily="49" charset="-122"/>
            </a:endParaRPr>
          </a:p>
        </p:txBody>
      </p:sp>
      <p:sp>
        <p:nvSpPr>
          <p:cNvPr id="16998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B2A362-6DD7-4E7B-96AC-EFF3EE3486A3}" type="slidenum">
              <a:rPr lang="zh-CN" altLang="en-US" smtClean="0"/>
              <a:pPr eaLnBrk="1" hangingPunct="1"/>
              <a:t>10</a:t>
            </a:fld>
            <a:endParaRPr lang="en-US" altLang="zh-CN" smtClean="0"/>
          </a:p>
        </p:txBody>
      </p:sp>
      <p:sp>
        <p:nvSpPr>
          <p:cNvPr id="16998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层次式协议结构</a:t>
            </a:r>
          </a:p>
        </p:txBody>
      </p:sp>
      <p:sp>
        <p:nvSpPr>
          <p:cNvPr id="171010"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ARPANET </a:t>
            </a:r>
            <a:r>
              <a:rPr lang="zh-CN" altLang="zh-CN" smtClean="0">
                <a:ea typeface="黑体" panose="02010609060101010101" pitchFamily="49" charset="-122"/>
              </a:rPr>
              <a:t>的研制经验表明，对于非常复杂的计算机网络协议，其</a:t>
            </a:r>
            <a:r>
              <a:rPr lang="zh-CN" altLang="zh-CN" smtClean="0">
                <a:solidFill>
                  <a:srgbClr val="FF0000"/>
                </a:solidFill>
                <a:ea typeface="黑体" panose="02010609060101010101" pitchFamily="49" charset="-122"/>
              </a:rPr>
              <a:t>结构应该是层次式的</a:t>
            </a:r>
            <a:r>
              <a:rPr lang="zh-CN" altLang="en-US" smtClean="0">
                <a:solidFill>
                  <a:srgbClr val="FF0000"/>
                </a:solidFill>
                <a:ea typeface="黑体" panose="02010609060101010101" pitchFamily="49" charset="-122"/>
              </a:rPr>
              <a:t>。</a:t>
            </a:r>
            <a:endParaRPr lang="en-US" altLang="zh-CN" smtClean="0">
              <a:solidFill>
                <a:srgbClr val="FF0000"/>
              </a:solidFill>
              <a:ea typeface="黑体" panose="02010609060101010101" pitchFamily="49" charset="-122"/>
            </a:endParaRPr>
          </a:p>
          <a:p>
            <a:endParaRPr lang="zh-CN" altLang="en-US" smtClean="0">
              <a:ea typeface="黑体" panose="02010609060101010101" pitchFamily="49" charset="-122"/>
            </a:endParaRPr>
          </a:p>
        </p:txBody>
      </p:sp>
      <p:sp>
        <p:nvSpPr>
          <p:cNvPr id="1710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55B30F-A618-4B1B-9476-F8A797856507}" type="slidenum">
              <a:rPr lang="zh-CN" altLang="en-US" smtClean="0"/>
              <a:pPr eaLnBrk="1" hangingPunct="1"/>
              <a:t>11</a:t>
            </a:fld>
            <a:endParaRPr lang="en-US" altLang="zh-CN" smtClean="0"/>
          </a:p>
        </p:txBody>
      </p:sp>
      <p:sp>
        <p:nvSpPr>
          <p:cNvPr id="1710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划分层次的概念举例 </a:t>
            </a:r>
          </a:p>
        </p:txBody>
      </p:sp>
      <p:sp>
        <p:nvSpPr>
          <p:cNvPr id="10342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主机 </a:t>
            </a:r>
            <a:r>
              <a:rPr lang="en-US" altLang="zh-CN" smtClean="0">
                <a:ea typeface="黑体" panose="02010609060101010101" pitchFamily="49" charset="-122"/>
              </a:rPr>
              <a:t>1 </a:t>
            </a:r>
            <a:r>
              <a:rPr lang="zh-CN" altLang="en-US" smtClean="0">
                <a:ea typeface="黑体" panose="02010609060101010101" pitchFamily="49" charset="-122"/>
              </a:rPr>
              <a:t>向主机 </a:t>
            </a:r>
            <a:r>
              <a:rPr lang="en-US" altLang="zh-CN" smtClean="0">
                <a:ea typeface="黑体" panose="02010609060101010101" pitchFamily="49" charset="-122"/>
              </a:rPr>
              <a:t>2 </a:t>
            </a:r>
            <a:r>
              <a:rPr lang="zh-CN" altLang="en-US" smtClean="0">
                <a:ea typeface="黑体" panose="02010609060101010101" pitchFamily="49" charset="-122"/>
              </a:rPr>
              <a:t>通过网络发送文件。</a:t>
            </a:r>
          </a:p>
          <a:p>
            <a:r>
              <a:rPr lang="zh-CN" altLang="en-US" smtClean="0">
                <a:ea typeface="黑体" panose="02010609060101010101" pitchFamily="49" charset="-122"/>
              </a:rPr>
              <a:t>可以将要做的工作进行如下的划分：</a:t>
            </a:r>
          </a:p>
          <a:p>
            <a:pPr lvl="1"/>
            <a:r>
              <a:rPr lang="zh-CN" altLang="en-US" smtClean="0">
                <a:ea typeface="黑体" panose="02010609060101010101" pitchFamily="49" charset="-122"/>
              </a:rPr>
              <a:t>第一类工作与传送文件直接有关。</a:t>
            </a:r>
          </a:p>
          <a:p>
            <a:pPr lvl="2"/>
            <a:r>
              <a:rPr lang="zh-CN" altLang="en-US" smtClean="0">
                <a:solidFill>
                  <a:srgbClr val="0000CC"/>
                </a:solidFill>
                <a:ea typeface="黑体" panose="02010609060101010101" pitchFamily="49" charset="-122"/>
              </a:rPr>
              <a:t>确信对方已做好接收和存储文件的准备。</a:t>
            </a:r>
          </a:p>
          <a:p>
            <a:pPr lvl="2"/>
            <a:r>
              <a:rPr lang="zh-CN" altLang="en-US" smtClean="0">
                <a:solidFill>
                  <a:srgbClr val="0000CC"/>
                </a:solidFill>
                <a:ea typeface="黑体" panose="02010609060101010101" pitchFamily="49" charset="-122"/>
              </a:rPr>
              <a:t>双方已协调好一致的文件格式。</a:t>
            </a:r>
          </a:p>
          <a:p>
            <a:pPr lvl="1"/>
            <a:r>
              <a:rPr lang="zh-CN" altLang="en-US" smtClean="0">
                <a:ea typeface="黑体" panose="02010609060101010101" pitchFamily="49" charset="-122"/>
              </a:rPr>
              <a:t>两个主机将</a:t>
            </a:r>
            <a:r>
              <a:rPr lang="zh-CN" altLang="en-US" smtClean="0">
                <a:solidFill>
                  <a:srgbClr val="FF0000"/>
                </a:solidFill>
                <a:ea typeface="黑体" panose="02010609060101010101" pitchFamily="49" charset="-122"/>
              </a:rPr>
              <a:t>文件传送模块</a:t>
            </a:r>
            <a:r>
              <a:rPr lang="zh-CN" altLang="en-US" smtClean="0">
                <a:ea typeface="黑体" panose="02010609060101010101" pitchFamily="49" charset="-122"/>
              </a:rPr>
              <a:t>作为最高的一层 ，剩下的工作由下面的模块负责。</a:t>
            </a:r>
          </a:p>
        </p:txBody>
      </p:sp>
      <p:sp>
        <p:nvSpPr>
          <p:cNvPr id="1720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AE7BF2-7AA5-45EE-8A4E-5948A905B9A5}" type="slidenum">
              <a:rPr lang="zh-CN" altLang="en-US" smtClean="0"/>
              <a:pPr eaLnBrk="1" hangingPunct="1"/>
              <a:t>12</a:t>
            </a:fld>
            <a:endParaRPr lang="en-US" altLang="zh-CN" smtClean="0"/>
          </a:p>
        </p:txBody>
      </p:sp>
      <p:sp>
        <p:nvSpPr>
          <p:cNvPr id="1720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42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342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342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342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4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p:cNvSpPr>
            <a:spLocks noGrp="1" noChangeArrowheads="1"/>
          </p:cNvSpPr>
          <p:nvPr>
            <p:ph type="title"/>
          </p:nvPr>
        </p:nvSpPr>
        <p:spPr/>
        <p:txBody>
          <a:bodyPr/>
          <a:lstStyle/>
          <a:p>
            <a:pPr algn="ctr"/>
            <a:r>
              <a:rPr lang="zh-CN" altLang="en-US" smtClean="0">
                <a:ea typeface="黑体" panose="02010609060101010101" pitchFamily="49" charset="-122"/>
              </a:rPr>
              <a:t>两个主机交换文件 </a:t>
            </a:r>
          </a:p>
        </p:txBody>
      </p:sp>
      <p:sp>
        <p:nvSpPr>
          <p:cNvPr id="174082" name="Rectangle 16"/>
          <p:cNvSpPr>
            <a:spLocks noChangeArrowheads="1"/>
          </p:cNvSpPr>
          <p:nvPr/>
        </p:nvSpPr>
        <p:spPr bwMode="auto">
          <a:xfrm>
            <a:off x="6980238" y="2349500"/>
            <a:ext cx="2028825"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4083" name="Rectangle 15"/>
          <p:cNvSpPr>
            <a:spLocks noChangeArrowheads="1"/>
          </p:cNvSpPr>
          <p:nvPr/>
        </p:nvSpPr>
        <p:spPr bwMode="auto">
          <a:xfrm>
            <a:off x="819150" y="2349500"/>
            <a:ext cx="2027238"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4084" name="Text Box 5"/>
          <p:cNvSpPr txBox="1">
            <a:spLocks noChangeArrowheads="1"/>
          </p:cNvSpPr>
          <p:nvPr/>
        </p:nvSpPr>
        <p:spPr bwMode="auto">
          <a:xfrm>
            <a:off x="906463" y="2474913"/>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74085" name="Text Box 6"/>
          <p:cNvSpPr txBox="1">
            <a:spLocks noChangeArrowheads="1"/>
          </p:cNvSpPr>
          <p:nvPr/>
        </p:nvSpPr>
        <p:spPr bwMode="auto">
          <a:xfrm>
            <a:off x="1285875" y="1917700"/>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1</a:t>
            </a:r>
          </a:p>
        </p:txBody>
      </p:sp>
      <p:sp>
        <p:nvSpPr>
          <p:cNvPr id="174086" name="Text Box 9"/>
          <p:cNvSpPr txBox="1">
            <a:spLocks noChangeArrowheads="1"/>
          </p:cNvSpPr>
          <p:nvPr/>
        </p:nvSpPr>
        <p:spPr bwMode="auto">
          <a:xfrm>
            <a:off x="7450138" y="1917700"/>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2</a:t>
            </a:r>
          </a:p>
        </p:txBody>
      </p:sp>
      <p:sp>
        <p:nvSpPr>
          <p:cNvPr id="174087" name="Text Box 10"/>
          <p:cNvSpPr txBox="1">
            <a:spLocks noChangeArrowheads="1"/>
          </p:cNvSpPr>
          <p:nvPr/>
        </p:nvSpPr>
        <p:spPr bwMode="auto">
          <a:xfrm>
            <a:off x="7069138" y="2474913"/>
            <a:ext cx="1722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04459" name="Line 11"/>
          <p:cNvSpPr>
            <a:spLocks noChangeShapeType="1"/>
          </p:cNvSpPr>
          <p:nvPr/>
        </p:nvSpPr>
        <p:spPr bwMode="auto">
          <a:xfrm>
            <a:off x="2846388" y="2673350"/>
            <a:ext cx="4133850" cy="0"/>
          </a:xfrm>
          <a:prstGeom prst="line">
            <a:avLst/>
          </a:prstGeom>
          <a:noFill/>
          <a:ln w="28575">
            <a:solidFill>
              <a:srgbClr val="333399"/>
            </a:solidFill>
            <a:prstDash val="dash"/>
            <a:round/>
            <a:headEnd type="non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04460" name="Text Box 12"/>
          <p:cNvSpPr txBox="1">
            <a:spLocks noChangeArrowheads="1"/>
          </p:cNvSpPr>
          <p:nvPr/>
        </p:nvSpPr>
        <p:spPr bwMode="auto">
          <a:xfrm>
            <a:off x="3192463" y="1628775"/>
            <a:ext cx="35179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只看这两个文件传送模块</a:t>
            </a:r>
          </a:p>
          <a:p>
            <a:pPr algn="ctr" eaLnBrk="0" hangingPunct="0"/>
            <a:r>
              <a:rPr lang="zh-CN" altLang="en-US" sz="2000" b="1">
                <a:solidFill>
                  <a:srgbClr val="0000CC"/>
                </a:solidFill>
                <a:latin typeface="Tahoma" panose="020B0604030504040204" pitchFamily="34" charset="0"/>
                <a:ea typeface="黑体" panose="02010609060101010101" pitchFamily="49" charset="-122"/>
              </a:rPr>
              <a:t>好像文件及文件传送命令</a:t>
            </a:r>
          </a:p>
          <a:p>
            <a:pPr algn="ctr" eaLnBrk="0" hangingPunct="0"/>
            <a:r>
              <a:rPr lang="zh-CN" altLang="en-US" sz="2000" b="1">
                <a:solidFill>
                  <a:srgbClr val="0000CC"/>
                </a:solidFill>
                <a:latin typeface="Tahoma" panose="020B0604030504040204" pitchFamily="34" charset="0"/>
                <a:ea typeface="黑体" panose="02010609060101010101" pitchFamily="49" charset="-122"/>
              </a:rPr>
              <a:t>是按照水平方向的虚线传送的</a:t>
            </a:r>
          </a:p>
        </p:txBody>
      </p:sp>
      <p:sp>
        <p:nvSpPr>
          <p:cNvPr id="174090" name="Line 17"/>
          <p:cNvSpPr>
            <a:spLocks noChangeShapeType="1"/>
          </p:cNvSpPr>
          <p:nvPr/>
        </p:nvSpPr>
        <p:spPr bwMode="auto">
          <a:xfrm>
            <a:off x="271463" y="3041650"/>
            <a:ext cx="9363075"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04466" name="AutoShape 18"/>
          <p:cNvSpPr>
            <a:spLocks noChangeArrowheads="1"/>
          </p:cNvSpPr>
          <p:nvPr/>
        </p:nvSpPr>
        <p:spPr bwMode="auto">
          <a:xfrm>
            <a:off x="1598613" y="2854325"/>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4467" name="AutoShape 19"/>
          <p:cNvSpPr>
            <a:spLocks noChangeArrowheads="1"/>
          </p:cNvSpPr>
          <p:nvPr/>
        </p:nvSpPr>
        <p:spPr bwMode="auto">
          <a:xfrm flipV="1">
            <a:off x="7761288" y="2854325"/>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4468" name="Text Box 20"/>
          <p:cNvSpPr txBox="1">
            <a:spLocks noChangeArrowheads="1"/>
          </p:cNvSpPr>
          <p:nvPr/>
        </p:nvSpPr>
        <p:spPr bwMode="auto">
          <a:xfrm>
            <a:off x="574675" y="3357563"/>
            <a:ext cx="2492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把文件交给下层模块</a:t>
            </a:r>
          </a:p>
          <a:p>
            <a:pPr algn="ctr" eaLnBrk="0" hangingPunct="0"/>
            <a:r>
              <a:rPr lang="zh-CN" altLang="en-US" sz="2000" b="1">
                <a:solidFill>
                  <a:srgbClr val="0000CC"/>
                </a:solidFill>
                <a:latin typeface="Tahoma" panose="020B0604030504040204" pitchFamily="34" charset="0"/>
                <a:ea typeface="黑体" panose="02010609060101010101" pitchFamily="49" charset="-122"/>
              </a:rPr>
              <a:t>进行发送</a:t>
            </a:r>
          </a:p>
        </p:txBody>
      </p:sp>
      <p:sp>
        <p:nvSpPr>
          <p:cNvPr id="104469" name="Text Box 21"/>
          <p:cNvSpPr txBox="1">
            <a:spLocks noChangeArrowheads="1"/>
          </p:cNvSpPr>
          <p:nvPr/>
        </p:nvSpPr>
        <p:spPr bwMode="auto">
          <a:xfrm>
            <a:off x="6889750" y="3357563"/>
            <a:ext cx="2235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把收到的文件交给</a:t>
            </a:r>
          </a:p>
          <a:p>
            <a:pPr algn="ctr" eaLnBrk="0" hangingPunct="0"/>
            <a:r>
              <a:rPr lang="zh-CN" altLang="en-US" sz="2000" b="1">
                <a:solidFill>
                  <a:srgbClr val="0000CC"/>
                </a:solidFill>
                <a:latin typeface="Tahoma" panose="020B0604030504040204" pitchFamily="34" charset="0"/>
                <a:ea typeface="黑体" panose="02010609060101010101" pitchFamily="49" charset="-122"/>
              </a:rPr>
              <a:t>上层模块</a:t>
            </a:r>
          </a:p>
        </p:txBody>
      </p:sp>
      <p:sp>
        <p:nvSpPr>
          <p:cNvPr id="104472" name="AutoShape 24"/>
          <p:cNvSpPr>
            <a:spLocks noChangeArrowheads="1"/>
          </p:cNvSpPr>
          <p:nvPr/>
        </p:nvSpPr>
        <p:spPr bwMode="auto">
          <a:xfrm>
            <a:off x="4094163" y="3573463"/>
            <a:ext cx="1639887" cy="431800"/>
          </a:xfrm>
          <a:prstGeom prst="rightArrow">
            <a:avLst>
              <a:gd name="adj1" fmla="val 50000"/>
              <a:gd name="adj2" fmla="val 87631"/>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409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495D4F-E6EC-4210-8D22-F0A28A105CA6}" type="slidenum">
              <a:rPr lang="zh-CN" altLang="en-US" smtClean="0"/>
              <a:pPr eaLnBrk="1" hangingPunct="1"/>
              <a:t>13</a:t>
            </a:fld>
            <a:endParaRPr lang="en-US" altLang="zh-CN" smtClean="0"/>
          </a:p>
        </p:txBody>
      </p:sp>
      <p:sp>
        <p:nvSpPr>
          <p:cNvPr id="17409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466"/>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1000"/>
                                  </p:stCondLst>
                                  <p:childTnLst>
                                    <p:set>
                                      <p:cBhvr>
                                        <p:cTn id="9" dur="1" fill="hold">
                                          <p:stCondLst>
                                            <p:cond delay="0"/>
                                          </p:stCondLst>
                                        </p:cTn>
                                        <p:tgtEl>
                                          <p:spTgt spid="104468"/>
                                        </p:tgtEl>
                                        <p:attrNameLst>
                                          <p:attrName>style.visibility</p:attrName>
                                        </p:attrNameLst>
                                      </p:cBhvr>
                                      <p:to>
                                        <p:strVal val="visible"/>
                                      </p:to>
                                    </p:set>
                                  </p:childTnLst>
                                </p:cTn>
                              </p:par>
                            </p:childTnLst>
                          </p:cTn>
                        </p:par>
                        <p:par>
                          <p:cTn id="10" fill="hold" nodeType="afterGroup">
                            <p:stCondLst>
                              <p:cond delay="1002"/>
                            </p:stCondLst>
                            <p:childTnLst>
                              <p:par>
                                <p:cTn id="11" presetID="1" presetClass="entr" presetSubtype="0" fill="hold" grpId="0" nodeType="afterEffect">
                                  <p:stCondLst>
                                    <p:cond delay="1000"/>
                                  </p:stCondLst>
                                  <p:childTnLst>
                                    <p:set>
                                      <p:cBhvr>
                                        <p:cTn id="12" dur="1" fill="hold">
                                          <p:stCondLst>
                                            <p:cond delay="0"/>
                                          </p:stCondLst>
                                        </p:cTn>
                                        <p:tgtEl>
                                          <p:spTgt spid="104472"/>
                                        </p:tgtEl>
                                        <p:attrNameLst>
                                          <p:attrName>style.visibility</p:attrName>
                                        </p:attrNameLst>
                                      </p:cBhvr>
                                      <p:to>
                                        <p:strVal val="visible"/>
                                      </p:to>
                                    </p:set>
                                  </p:childTnLst>
                                </p:cTn>
                              </p:par>
                            </p:childTnLst>
                          </p:cTn>
                        </p:par>
                        <p:par>
                          <p:cTn id="13" fill="hold" nodeType="afterGroup">
                            <p:stCondLst>
                              <p:cond delay="2003"/>
                            </p:stCondLst>
                            <p:childTnLst>
                              <p:par>
                                <p:cTn id="14" presetID="1" presetClass="entr" presetSubtype="0" fill="hold" grpId="0" nodeType="afterEffect">
                                  <p:stCondLst>
                                    <p:cond delay="1000"/>
                                  </p:stCondLst>
                                  <p:childTnLst>
                                    <p:set>
                                      <p:cBhvr>
                                        <p:cTn id="15" dur="1" fill="hold">
                                          <p:stCondLst>
                                            <p:cond delay="0"/>
                                          </p:stCondLst>
                                        </p:cTn>
                                        <p:tgtEl>
                                          <p:spTgt spid="104469"/>
                                        </p:tgtEl>
                                        <p:attrNameLst>
                                          <p:attrName>style.visibility</p:attrName>
                                        </p:attrNameLst>
                                      </p:cBhvr>
                                      <p:to>
                                        <p:strVal val="visible"/>
                                      </p:to>
                                    </p:set>
                                  </p:childTnLst>
                                </p:cTn>
                              </p:par>
                            </p:childTnLst>
                          </p:cTn>
                        </p:par>
                        <p:par>
                          <p:cTn id="16" fill="hold" nodeType="afterGroup">
                            <p:stCondLst>
                              <p:cond delay="3004"/>
                            </p:stCondLst>
                            <p:childTnLst>
                              <p:par>
                                <p:cTn id="17" presetID="1" presetClass="entr" presetSubtype="0" fill="hold" grpId="0" nodeType="afterEffect">
                                  <p:stCondLst>
                                    <p:cond delay="1000"/>
                                  </p:stCondLst>
                                  <p:childTnLst>
                                    <p:set>
                                      <p:cBhvr>
                                        <p:cTn id="18" dur="1" fill="hold">
                                          <p:stCondLst>
                                            <p:cond delay="0"/>
                                          </p:stCondLst>
                                        </p:cTn>
                                        <p:tgtEl>
                                          <p:spTgt spid="10446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4460"/>
                                        </p:tgtEl>
                                        <p:attrNameLst>
                                          <p:attrName>style.visibility</p:attrName>
                                        </p:attrNameLst>
                                      </p:cBhvr>
                                      <p:to>
                                        <p:strVal val="visible"/>
                                      </p:to>
                                    </p:set>
                                  </p:childTnLst>
                                </p:cTn>
                              </p:par>
                            </p:childTnLst>
                          </p:cTn>
                        </p:par>
                        <p:par>
                          <p:cTn id="23" fill="hold" nodeType="afterGroup">
                            <p:stCondLst>
                              <p:cond delay="1"/>
                            </p:stCondLst>
                            <p:childTnLst>
                              <p:par>
                                <p:cTn id="24" presetID="22" presetClass="entr" presetSubtype="8" fill="hold" grpId="0" nodeType="afterEffect">
                                  <p:stCondLst>
                                    <p:cond delay="0"/>
                                  </p:stCondLst>
                                  <p:childTnLst>
                                    <p:set>
                                      <p:cBhvr>
                                        <p:cTn id="25" dur="1" fill="hold">
                                          <p:stCondLst>
                                            <p:cond delay="0"/>
                                          </p:stCondLst>
                                        </p:cTn>
                                        <p:tgtEl>
                                          <p:spTgt spid="104459"/>
                                        </p:tgtEl>
                                        <p:attrNameLst>
                                          <p:attrName>style.visibility</p:attrName>
                                        </p:attrNameLst>
                                      </p:cBhvr>
                                      <p:to>
                                        <p:strVal val="visible"/>
                                      </p:to>
                                    </p:set>
                                    <p:animEffect transition="in" filter="wipe(left)">
                                      <p:cBhvr>
                                        <p:cTn id="26" dur="2000"/>
                                        <p:tgtEl>
                                          <p:spTgt spid="10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9" grpId="0" animBg="1"/>
      <p:bldP spid="104460" grpId="0"/>
      <p:bldP spid="104466" grpId="0" animBg="1"/>
      <p:bldP spid="104467" grpId="0" animBg="1"/>
      <p:bldP spid="104468" grpId="0"/>
      <p:bldP spid="104469" grpId="0"/>
      <p:bldP spid="10447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4"/>
          <p:cNvSpPr>
            <a:spLocks noGrp="1" noChangeArrowheads="1"/>
          </p:cNvSpPr>
          <p:nvPr>
            <p:ph type="title"/>
          </p:nvPr>
        </p:nvSpPr>
        <p:spPr/>
        <p:txBody>
          <a:bodyPr/>
          <a:lstStyle/>
          <a:p>
            <a:pPr algn="ctr"/>
            <a:r>
              <a:rPr lang="zh-CN" altLang="en-US" smtClean="0">
                <a:ea typeface="黑体" panose="02010609060101010101" pitchFamily="49" charset="-122"/>
              </a:rPr>
              <a:t>再设计一个通信服务模块 </a:t>
            </a:r>
          </a:p>
        </p:txBody>
      </p:sp>
      <p:sp>
        <p:nvSpPr>
          <p:cNvPr id="176130" name="Rectangle 18"/>
          <p:cNvSpPr>
            <a:spLocks noChangeArrowheads="1"/>
          </p:cNvSpPr>
          <p:nvPr/>
        </p:nvSpPr>
        <p:spPr bwMode="auto">
          <a:xfrm>
            <a:off x="6981825" y="3140075"/>
            <a:ext cx="2028825" cy="647700"/>
          </a:xfrm>
          <a:prstGeom prst="rect">
            <a:avLst/>
          </a:prstGeom>
          <a:solidFill>
            <a:srgbClr val="FFC0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6131" name="Rectangle 17"/>
          <p:cNvSpPr>
            <a:spLocks noChangeArrowheads="1"/>
          </p:cNvSpPr>
          <p:nvPr/>
        </p:nvSpPr>
        <p:spPr bwMode="auto">
          <a:xfrm>
            <a:off x="819150" y="3140075"/>
            <a:ext cx="2027238" cy="647700"/>
          </a:xfrm>
          <a:prstGeom prst="rect">
            <a:avLst/>
          </a:prstGeom>
          <a:solidFill>
            <a:srgbClr val="FFC0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6132" name="Rectangle 2"/>
          <p:cNvSpPr>
            <a:spLocks noChangeArrowheads="1"/>
          </p:cNvSpPr>
          <p:nvPr/>
        </p:nvSpPr>
        <p:spPr bwMode="auto">
          <a:xfrm>
            <a:off x="6980238" y="2347913"/>
            <a:ext cx="2028825"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6133" name="Rectangle 3"/>
          <p:cNvSpPr>
            <a:spLocks noChangeArrowheads="1"/>
          </p:cNvSpPr>
          <p:nvPr/>
        </p:nvSpPr>
        <p:spPr bwMode="auto">
          <a:xfrm>
            <a:off x="819150" y="2347913"/>
            <a:ext cx="2027238"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6134" name="Text Box 5"/>
          <p:cNvSpPr txBox="1">
            <a:spLocks noChangeArrowheads="1"/>
          </p:cNvSpPr>
          <p:nvPr/>
        </p:nvSpPr>
        <p:spPr bwMode="auto">
          <a:xfrm>
            <a:off x="906463" y="24733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76135" name="Text Box 6"/>
          <p:cNvSpPr txBox="1">
            <a:spLocks noChangeArrowheads="1"/>
          </p:cNvSpPr>
          <p:nvPr/>
        </p:nvSpPr>
        <p:spPr bwMode="auto">
          <a:xfrm>
            <a:off x="1285875" y="1916113"/>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1</a:t>
            </a:r>
          </a:p>
        </p:txBody>
      </p:sp>
      <p:sp>
        <p:nvSpPr>
          <p:cNvPr id="176136" name="Text Box 7"/>
          <p:cNvSpPr txBox="1">
            <a:spLocks noChangeArrowheads="1"/>
          </p:cNvSpPr>
          <p:nvPr/>
        </p:nvSpPr>
        <p:spPr bwMode="auto">
          <a:xfrm>
            <a:off x="7450138" y="1916113"/>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2</a:t>
            </a:r>
          </a:p>
        </p:txBody>
      </p:sp>
      <p:sp>
        <p:nvSpPr>
          <p:cNvPr id="176137" name="Text Box 8"/>
          <p:cNvSpPr txBox="1">
            <a:spLocks noChangeArrowheads="1"/>
          </p:cNvSpPr>
          <p:nvPr/>
        </p:nvSpPr>
        <p:spPr bwMode="auto">
          <a:xfrm>
            <a:off x="7069138" y="2473325"/>
            <a:ext cx="1722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05481" name="Line 9"/>
          <p:cNvSpPr>
            <a:spLocks noChangeShapeType="1"/>
          </p:cNvSpPr>
          <p:nvPr/>
        </p:nvSpPr>
        <p:spPr bwMode="auto">
          <a:xfrm>
            <a:off x="2846388" y="3463925"/>
            <a:ext cx="4133850" cy="0"/>
          </a:xfrm>
          <a:prstGeom prst="line">
            <a:avLst/>
          </a:prstGeom>
          <a:noFill/>
          <a:ln w="28575">
            <a:solidFill>
              <a:srgbClr val="333399"/>
            </a:solidFill>
            <a:prstDash val="dash"/>
            <a:round/>
            <a:headEnd type="non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05482" name="Text Box 10"/>
          <p:cNvSpPr txBox="1">
            <a:spLocks noChangeArrowheads="1"/>
          </p:cNvSpPr>
          <p:nvPr/>
        </p:nvSpPr>
        <p:spPr bwMode="auto">
          <a:xfrm>
            <a:off x="3448050" y="2420938"/>
            <a:ext cx="30067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只看这两个通信服务模块</a:t>
            </a:r>
          </a:p>
          <a:p>
            <a:pPr algn="ctr" eaLnBrk="0" hangingPunct="0"/>
            <a:r>
              <a:rPr lang="zh-CN" altLang="en-US" sz="2000" b="1">
                <a:solidFill>
                  <a:srgbClr val="0000CC"/>
                </a:solidFill>
                <a:latin typeface="Tahoma" panose="020B0604030504040204" pitchFamily="34" charset="0"/>
                <a:ea typeface="黑体" panose="02010609060101010101" pitchFamily="49" charset="-122"/>
              </a:rPr>
              <a:t>好像可直接把文件</a:t>
            </a:r>
            <a:endParaRPr lang="zh-CN" altLang="en-US" sz="2400" b="1">
              <a:solidFill>
                <a:srgbClr val="0000CC"/>
              </a:solidFill>
              <a:latin typeface="Tahoma" panose="020B0604030504040204" pitchFamily="34" charset="0"/>
              <a:ea typeface="黑体" panose="02010609060101010101" pitchFamily="49" charset="-122"/>
            </a:endParaRPr>
          </a:p>
          <a:p>
            <a:pPr algn="ctr" eaLnBrk="0" hangingPunct="0"/>
            <a:r>
              <a:rPr lang="zh-CN" altLang="en-US" sz="2000" b="1">
                <a:solidFill>
                  <a:srgbClr val="0000CC"/>
                </a:solidFill>
                <a:latin typeface="Tahoma" panose="020B0604030504040204" pitchFamily="34" charset="0"/>
                <a:ea typeface="黑体" panose="02010609060101010101" pitchFamily="49" charset="-122"/>
              </a:rPr>
              <a:t>可靠地传送到对方</a:t>
            </a:r>
          </a:p>
        </p:txBody>
      </p:sp>
      <p:sp>
        <p:nvSpPr>
          <p:cNvPr id="176140" name="Line 11"/>
          <p:cNvSpPr>
            <a:spLocks noChangeShapeType="1"/>
          </p:cNvSpPr>
          <p:nvPr/>
        </p:nvSpPr>
        <p:spPr bwMode="auto">
          <a:xfrm>
            <a:off x="271463" y="3860800"/>
            <a:ext cx="9363075"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05484" name="AutoShape 12"/>
          <p:cNvSpPr>
            <a:spLocks noChangeArrowheads="1"/>
          </p:cNvSpPr>
          <p:nvPr/>
        </p:nvSpPr>
        <p:spPr bwMode="auto">
          <a:xfrm>
            <a:off x="1598613" y="2808288"/>
            <a:ext cx="468312" cy="503237"/>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5485" name="AutoShape 13"/>
          <p:cNvSpPr>
            <a:spLocks noChangeArrowheads="1"/>
          </p:cNvSpPr>
          <p:nvPr/>
        </p:nvSpPr>
        <p:spPr bwMode="auto">
          <a:xfrm flipV="1">
            <a:off x="7761288" y="2808288"/>
            <a:ext cx="468312" cy="503237"/>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5486" name="Text Box 14"/>
          <p:cNvSpPr txBox="1">
            <a:spLocks noChangeArrowheads="1"/>
          </p:cNvSpPr>
          <p:nvPr/>
        </p:nvSpPr>
        <p:spPr bwMode="auto">
          <a:xfrm>
            <a:off x="574675" y="4219575"/>
            <a:ext cx="2492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把文件交给下层模块</a:t>
            </a:r>
          </a:p>
          <a:p>
            <a:pPr algn="ctr" eaLnBrk="0" hangingPunct="0"/>
            <a:r>
              <a:rPr lang="zh-CN" altLang="en-US" sz="2000" b="1">
                <a:solidFill>
                  <a:srgbClr val="0000CC"/>
                </a:solidFill>
                <a:latin typeface="Tahoma" panose="020B0604030504040204" pitchFamily="34" charset="0"/>
                <a:ea typeface="黑体" panose="02010609060101010101" pitchFamily="49" charset="-122"/>
              </a:rPr>
              <a:t>进行发送</a:t>
            </a:r>
          </a:p>
        </p:txBody>
      </p:sp>
      <p:sp>
        <p:nvSpPr>
          <p:cNvPr id="105487" name="Text Box 15"/>
          <p:cNvSpPr txBox="1">
            <a:spLocks noChangeArrowheads="1"/>
          </p:cNvSpPr>
          <p:nvPr/>
        </p:nvSpPr>
        <p:spPr bwMode="auto">
          <a:xfrm>
            <a:off x="6889750" y="4219575"/>
            <a:ext cx="2235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latin typeface="Tahoma" panose="020B0604030504040204" pitchFamily="34" charset="0"/>
                <a:ea typeface="黑体" panose="02010609060101010101" pitchFamily="49" charset="-122"/>
              </a:rPr>
              <a:t>把收到的文件交给</a:t>
            </a:r>
          </a:p>
          <a:p>
            <a:pPr algn="ctr" eaLnBrk="0" hangingPunct="0"/>
            <a:r>
              <a:rPr lang="zh-CN" altLang="en-US" sz="2000" b="1">
                <a:solidFill>
                  <a:srgbClr val="0000CC"/>
                </a:solidFill>
                <a:latin typeface="Tahoma" panose="020B0604030504040204" pitchFamily="34" charset="0"/>
                <a:ea typeface="黑体" panose="02010609060101010101" pitchFamily="49" charset="-122"/>
              </a:rPr>
              <a:t>上层模块</a:t>
            </a:r>
          </a:p>
        </p:txBody>
      </p:sp>
      <p:sp>
        <p:nvSpPr>
          <p:cNvPr id="105488" name="AutoShape 16"/>
          <p:cNvSpPr>
            <a:spLocks noChangeArrowheads="1"/>
          </p:cNvSpPr>
          <p:nvPr/>
        </p:nvSpPr>
        <p:spPr bwMode="auto">
          <a:xfrm>
            <a:off x="4094163" y="4435475"/>
            <a:ext cx="1639887" cy="431800"/>
          </a:xfrm>
          <a:prstGeom prst="rightArrow">
            <a:avLst>
              <a:gd name="adj1" fmla="val 50000"/>
              <a:gd name="adj2" fmla="val 87631"/>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6146" name="Text Box 19"/>
          <p:cNvSpPr txBox="1">
            <a:spLocks noChangeArrowheads="1"/>
          </p:cNvSpPr>
          <p:nvPr/>
        </p:nvSpPr>
        <p:spPr bwMode="auto">
          <a:xfrm>
            <a:off x="895350" y="32480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通信服务模块</a:t>
            </a:r>
          </a:p>
        </p:txBody>
      </p:sp>
      <p:sp>
        <p:nvSpPr>
          <p:cNvPr id="176147" name="Text Box 20"/>
          <p:cNvSpPr txBox="1">
            <a:spLocks noChangeArrowheads="1"/>
          </p:cNvSpPr>
          <p:nvPr/>
        </p:nvSpPr>
        <p:spPr bwMode="auto">
          <a:xfrm>
            <a:off x="7080250" y="32480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通信服务模块</a:t>
            </a:r>
          </a:p>
        </p:txBody>
      </p:sp>
      <p:sp>
        <p:nvSpPr>
          <p:cNvPr id="105493" name="AutoShape 21"/>
          <p:cNvSpPr>
            <a:spLocks noChangeArrowheads="1"/>
          </p:cNvSpPr>
          <p:nvPr/>
        </p:nvSpPr>
        <p:spPr bwMode="auto">
          <a:xfrm>
            <a:off x="1598613" y="3644900"/>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5494" name="AutoShape 22"/>
          <p:cNvSpPr>
            <a:spLocks noChangeArrowheads="1"/>
          </p:cNvSpPr>
          <p:nvPr/>
        </p:nvSpPr>
        <p:spPr bwMode="auto">
          <a:xfrm flipV="1">
            <a:off x="7761288" y="3571875"/>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7615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5BD4E3-0513-4CCE-8852-A6D50FA78DA7}" type="slidenum">
              <a:rPr lang="zh-CN" altLang="en-US" smtClean="0"/>
              <a:pPr eaLnBrk="1" hangingPunct="1"/>
              <a:t>14</a:t>
            </a:fld>
            <a:endParaRPr lang="en-US" altLang="zh-CN" smtClean="0"/>
          </a:p>
        </p:txBody>
      </p:sp>
      <p:sp>
        <p:nvSpPr>
          <p:cNvPr id="17615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484"/>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1000"/>
                                  </p:stCondLst>
                                  <p:childTnLst>
                                    <p:set>
                                      <p:cBhvr>
                                        <p:cTn id="9" dur="1" fill="hold">
                                          <p:stCondLst>
                                            <p:cond delay="0"/>
                                          </p:stCondLst>
                                        </p:cTn>
                                        <p:tgtEl>
                                          <p:spTgt spid="105493"/>
                                        </p:tgtEl>
                                        <p:attrNameLst>
                                          <p:attrName>style.visibility</p:attrName>
                                        </p:attrNameLst>
                                      </p:cBhvr>
                                      <p:to>
                                        <p:strVal val="visible"/>
                                      </p:to>
                                    </p:set>
                                  </p:childTnLst>
                                </p:cTn>
                              </p:par>
                            </p:childTnLst>
                          </p:cTn>
                        </p:par>
                        <p:par>
                          <p:cTn id="10" fill="hold" nodeType="afterGroup">
                            <p:stCondLst>
                              <p:cond delay="1002"/>
                            </p:stCondLst>
                            <p:childTnLst>
                              <p:par>
                                <p:cTn id="11" presetID="1" presetClass="entr" presetSubtype="0" fill="hold" grpId="0" nodeType="afterEffect">
                                  <p:stCondLst>
                                    <p:cond delay="1000"/>
                                  </p:stCondLst>
                                  <p:childTnLst>
                                    <p:set>
                                      <p:cBhvr>
                                        <p:cTn id="12" dur="1" fill="hold">
                                          <p:stCondLst>
                                            <p:cond delay="0"/>
                                          </p:stCondLst>
                                        </p:cTn>
                                        <p:tgtEl>
                                          <p:spTgt spid="105486"/>
                                        </p:tgtEl>
                                        <p:attrNameLst>
                                          <p:attrName>style.visibility</p:attrName>
                                        </p:attrNameLst>
                                      </p:cBhvr>
                                      <p:to>
                                        <p:strVal val="visible"/>
                                      </p:to>
                                    </p:set>
                                  </p:childTnLst>
                                </p:cTn>
                              </p:par>
                            </p:childTnLst>
                          </p:cTn>
                        </p:par>
                        <p:par>
                          <p:cTn id="13" fill="hold" nodeType="afterGroup">
                            <p:stCondLst>
                              <p:cond delay="2003"/>
                            </p:stCondLst>
                            <p:childTnLst>
                              <p:par>
                                <p:cTn id="14" presetID="1" presetClass="entr" presetSubtype="0" fill="hold" grpId="0" nodeType="afterEffect">
                                  <p:stCondLst>
                                    <p:cond delay="1000"/>
                                  </p:stCondLst>
                                  <p:childTnLst>
                                    <p:set>
                                      <p:cBhvr>
                                        <p:cTn id="15" dur="1" fill="hold">
                                          <p:stCondLst>
                                            <p:cond delay="0"/>
                                          </p:stCondLst>
                                        </p:cTn>
                                        <p:tgtEl>
                                          <p:spTgt spid="105488"/>
                                        </p:tgtEl>
                                        <p:attrNameLst>
                                          <p:attrName>style.visibility</p:attrName>
                                        </p:attrNameLst>
                                      </p:cBhvr>
                                      <p:to>
                                        <p:strVal val="visible"/>
                                      </p:to>
                                    </p:set>
                                  </p:childTnLst>
                                </p:cTn>
                              </p:par>
                            </p:childTnLst>
                          </p:cTn>
                        </p:par>
                        <p:par>
                          <p:cTn id="16" fill="hold" nodeType="afterGroup">
                            <p:stCondLst>
                              <p:cond delay="3004"/>
                            </p:stCondLst>
                            <p:childTnLst>
                              <p:par>
                                <p:cTn id="17" presetID="1" presetClass="entr" presetSubtype="0" fill="hold" grpId="0" nodeType="afterEffect">
                                  <p:stCondLst>
                                    <p:cond delay="1000"/>
                                  </p:stCondLst>
                                  <p:childTnLst>
                                    <p:set>
                                      <p:cBhvr>
                                        <p:cTn id="18" dur="1" fill="hold">
                                          <p:stCondLst>
                                            <p:cond delay="0"/>
                                          </p:stCondLst>
                                        </p:cTn>
                                        <p:tgtEl>
                                          <p:spTgt spid="105487"/>
                                        </p:tgtEl>
                                        <p:attrNameLst>
                                          <p:attrName>style.visibility</p:attrName>
                                        </p:attrNameLst>
                                      </p:cBhvr>
                                      <p:to>
                                        <p:strVal val="visible"/>
                                      </p:to>
                                    </p:set>
                                  </p:childTnLst>
                                </p:cTn>
                              </p:par>
                            </p:childTnLst>
                          </p:cTn>
                        </p:par>
                        <p:par>
                          <p:cTn id="19" fill="hold" nodeType="afterGroup">
                            <p:stCondLst>
                              <p:cond delay="4005"/>
                            </p:stCondLst>
                            <p:childTnLst>
                              <p:par>
                                <p:cTn id="20" presetID="1" presetClass="entr" presetSubtype="0" fill="hold" grpId="0" nodeType="afterEffect">
                                  <p:stCondLst>
                                    <p:cond delay="1000"/>
                                  </p:stCondLst>
                                  <p:childTnLst>
                                    <p:set>
                                      <p:cBhvr>
                                        <p:cTn id="21" dur="1" fill="hold">
                                          <p:stCondLst>
                                            <p:cond delay="0"/>
                                          </p:stCondLst>
                                        </p:cTn>
                                        <p:tgtEl>
                                          <p:spTgt spid="105494"/>
                                        </p:tgtEl>
                                        <p:attrNameLst>
                                          <p:attrName>style.visibility</p:attrName>
                                        </p:attrNameLst>
                                      </p:cBhvr>
                                      <p:to>
                                        <p:strVal val="visible"/>
                                      </p:to>
                                    </p:set>
                                  </p:childTnLst>
                                </p:cTn>
                              </p:par>
                            </p:childTnLst>
                          </p:cTn>
                        </p:par>
                        <p:par>
                          <p:cTn id="22" fill="hold" nodeType="afterGroup">
                            <p:stCondLst>
                              <p:cond delay="5006"/>
                            </p:stCondLst>
                            <p:childTnLst>
                              <p:par>
                                <p:cTn id="23" presetID="1" presetClass="entr" presetSubtype="0" fill="hold" grpId="0" nodeType="afterEffect">
                                  <p:stCondLst>
                                    <p:cond delay="1000"/>
                                  </p:stCondLst>
                                  <p:childTnLst>
                                    <p:set>
                                      <p:cBhvr>
                                        <p:cTn id="24" dur="1" fill="hold">
                                          <p:stCondLst>
                                            <p:cond delay="0"/>
                                          </p:stCondLst>
                                        </p:cTn>
                                        <p:tgtEl>
                                          <p:spTgt spid="10548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5482"/>
                                        </p:tgtEl>
                                        <p:attrNameLst>
                                          <p:attrName>style.visibility</p:attrName>
                                        </p:attrNameLst>
                                      </p:cBhvr>
                                      <p:to>
                                        <p:strVal val="visible"/>
                                      </p:to>
                                    </p:set>
                                  </p:childTnLst>
                                </p:cTn>
                              </p:par>
                            </p:childTnLst>
                          </p:cTn>
                        </p:par>
                        <p:par>
                          <p:cTn id="29" fill="hold" nodeType="afterGroup">
                            <p:stCondLst>
                              <p:cond delay="1"/>
                            </p:stCondLst>
                            <p:childTnLst>
                              <p:par>
                                <p:cTn id="30" presetID="22" presetClass="entr" presetSubtype="8" fill="hold" grpId="0" nodeType="afterEffect">
                                  <p:stCondLst>
                                    <p:cond delay="0"/>
                                  </p:stCondLst>
                                  <p:childTnLst>
                                    <p:set>
                                      <p:cBhvr>
                                        <p:cTn id="31" dur="1" fill="hold">
                                          <p:stCondLst>
                                            <p:cond delay="0"/>
                                          </p:stCondLst>
                                        </p:cTn>
                                        <p:tgtEl>
                                          <p:spTgt spid="105481"/>
                                        </p:tgtEl>
                                        <p:attrNameLst>
                                          <p:attrName>style.visibility</p:attrName>
                                        </p:attrNameLst>
                                      </p:cBhvr>
                                      <p:to>
                                        <p:strVal val="visible"/>
                                      </p:to>
                                    </p:set>
                                    <p:animEffect transition="in" filter="wipe(left)">
                                      <p:cBhvr>
                                        <p:cTn id="32" dur="2000"/>
                                        <p:tgtEl>
                                          <p:spTgt spid="1054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1" grpId="0" animBg="1"/>
      <p:bldP spid="105482" grpId="0"/>
      <p:bldP spid="105484" grpId="0" animBg="1"/>
      <p:bldP spid="105485" grpId="0" animBg="1"/>
      <p:bldP spid="105486" grpId="0"/>
      <p:bldP spid="105487" grpId="0"/>
      <p:bldP spid="105488" grpId="0" animBg="1"/>
      <p:bldP spid="105493" grpId="0" animBg="1"/>
      <p:bldP spid="10549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Line 30"/>
          <p:cNvSpPr>
            <a:spLocks noChangeShapeType="1"/>
          </p:cNvSpPr>
          <p:nvPr/>
        </p:nvSpPr>
        <p:spPr bwMode="auto">
          <a:xfrm>
            <a:off x="2846388" y="4219575"/>
            <a:ext cx="41338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78178" name="Rectangle 25"/>
          <p:cNvSpPr>
            <a:spLocks noChangeArrowheads="1"/>
          </p:cNvSpPr>
          <p:nvPr/>
        </p:nvSpPr>
        <p:spPr bwMode="auto">
          <a:xfrm>
            <a:off x="6981825" y="3932238"/>
            <a:ext cx="2028825" cy="647700"/>
          </a:xfrm>
          <a:prstGeom prst="rect">
            <a:avLst/>
          </a:prstGeom>
          <a:solidFill>
            <a:srgbClr val="66FFFF"/>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79" name="Rectangle 24"/>
          <p:cNvSpPr>
            <a:spLocks noChangeArrowheads="1"/>
          </p:cNvSpPr>
          <p:nvPr/>
        </p:nvSpPr>
        <p:spPr bwMode="auto">
          <a:xfrm>
            <a:off x="819150" y="3932238"/>
            <a:ext cx="2027238" cy="647700"/>
          </a:xfrm>
          <a:prstGeom prst="rect">
            <a:avLst/>
          </a:prstGeom>
          <a:solidFill>
            <a:srgbClr val="66FFFF"/>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80" name="Rectangle 2"/>
          <p:cNvSpPr>
            <a:spLocks noChangeArrowheads="1"/>
          </p:cNvSpPr>
          <p:nvPr/>
        </p:nvSpPr>
        <p:spPr bwMode="auto">
          <a:xfrm>
            <a:off x="6981825" y="3140075"/>
            <a:ext cx="2028825" cy="647700"/>
          </a:xfrm>
          <a:prstGeom prst="rect">
            <a:avLst/>
          </a:prstGeom>
          <a:solidFill>
            <a:srgbClr val="FFC0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81" name="Rectangle 3"/>
          <p:cNvSpPr>
            <a:spLocks noChangeArrowheads="1"/>
          </p:cNvSpPr>
          <p:nvPr/>
        </p:nvSpPr>
        <p:spPr bwMode="auto">
          <a:xfrm>
            <a:off x="819150" y="3140075"/>
            <a:ext cx="2027238" cy="647700"/>
          </a:xfrm>
          <a:prstGeom prst="rect">
            <a:avLst/>
          </a:prstGeom>
          <a:solidFill>
            <a:srgbClr val="FFC0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82" name="Rectangle 4"/>
          <p:cNvSpPr>
            <a:spLocks noChangeArrowheads="1"/>
          </p:cNvSpPr>
          <p:nvPr/>
        </p:nvSpPr>
        <p:spPr bwMode="auto">
          <a:xfrm>
            <a:off x="6980238" y="2347913"/>
            <a:ext cx="2028825"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83" name="Rectangle 5"/>
          <p:cNvSpPr>
            <a:spLocks noChangeArrowheads="1"/>
          </p:cNvSpPr>
          <p:nvPr/>
        </p:nvSpPr>
        <p:spPr bwMode="auto">
          <a:xfrm>
            <a:off x="819150" y="2347913"/>
            <a:ext cx="2027238" cy="647700"/>
          </a:xfrm>
          <a:prstGeom prst="rect">
            <a:avLst/>
          </a:prstGeom>
          <a:solidFill>
            <a:srgbClr val="FFFF00"/>
          </a:solidFill>
          <a:ln w="28575">
            <a:solidFill>
              <a:srgbClr val="333399"/>
            </a:solidFill>
            <a:miter lim="800000"/>
            <a:headEnd/>
            <a:tailEnd/>
          </a:ln>
          <a:effectLst>
            <a:outerShdw dist="35921" dir="18900000" algn="ctr" rotWithShape="0">
              <a:srgbClr val="333399"/>
            </a:outerShdw>
          </a:effec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78184"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再设计一个网络接入模块 </a:t>
            </a:r>
          </a:p>
        </p:txBody>
      </p:sp>
      <p:sp>
        <p:nvSpPr>
          <p:cNvPr id="178185" name="Text Box 7"/>
          <p:cNvSpPr txBox="1">
            <a:spLocks noChangeArrowheads="1"/>
          </p:cNvSpPr>
          <p:nvPr/>
        </p:nvSpPr>
        <p:spPr bwMode="auto">
          <a:xfrm>
            <a:off x="906463" y="24733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78186" name="Text Box 8"/>
          <p:cNvSpPr txBox="1">
            <a:spLocks noChangeArrowheads="1"/>
          </p:cNvSpPr>
          <p:nvPr/>
        </p:nvSpPr>
        <p:spPr bwMode="auto">
          <a:xfrm>
            <a:off x="1285875" y="1916113"/>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1</a:t>
            </a:r>
          </a:p>
        </p:txBody>
      </p:sp>
      <p:sp>
        <p:nvSpPr>
          <p:cNvPr id="178187" name="Text Box 9"/>
          <p:cNvSpPr txBox="1">
            <a:spLocks noChangeArrowheads="1"/>
          </p:cNvSpPr>
          <p:nvPr/>
        </p:nvSpPr>
        <p:spPr bwMode="auto">
          <a:xfrm>
            <a:off x="7450138" y="1916113"/>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主机</a:t>
            </a:r>
            <a:r>
              <a:rPr lang="zh-CN" altLang="en-US" sz="1400" b="1">
                <a:solidFill>
                  <a:srgbClr val="0000CC"/>
                </a:solidFill>
                <a:latin typeface="Tahoma" panose="020B0604030504040204" pitchFamily="34" charset="0"/>
                <a:ea typeface="黑体" panose="02010609060101010101" pitchFamily="49" charset="-122"/>
              </a:rPr>
              <a:t> </a:t>
            </a:r>
            <a:r>
              <a:rPr lang="en-US" altLang="zh-CN" sz="2000" b="1">
                <a:solidFill>
                  <a:srgbClr val="0000CC"/>
                </a:solidFill>
                <a:latin typeface="Tahoma" panose="020B0604030504040204" pitchFamily="34" charset="0"/>
                <a:ea typeface="黑体" panose="02010609060101010101" pitchFamily="49" charset="-122"/>
              </a:rPr>
              <a:t>2</a:t>
            </a:r>
          </a:p>
        </p:txBody>
      </p:sp>
      <p:sp>
        <p:nvSpPr>
          <p:cNvPr id="178188" name="Text Box 10"/>
          <p:cNvSpPr txBox="1">
            <a:spLocks noChangeArrowheads="1"/>
          </p:cNvSpPr>
          <p:nvPr/>
        </p:nvSpPr>
        <p:spPr bwMode="auto">
          <a:xfrm>
            <a:off x="7069138" y="2473325"/>
            <a:ext cx="1722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文件传送模块</a:t>
            </a:r>
          </a:p>
        </p:txBody>
      </p:sp>
      <p:sp>
        <p:nvSpPr>
          <p:cNvPr id="106510" name="AutoShape 14"/>
          <p:cNvSpPr>
            <a:spLocks noChangeArrowheads="1"/>
          </p:cNvSpPr>
          <p:nvPr/>
        </p:nvSpPr>
        <p:spPr bwMode="auto">
          <a:xfrm>
            <a:off x="1598613" y="2808288"/>
            <a:ext cx="468312" cy="503237"/>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6511" name="AutoShape 15"/>
          <p:cNvSpPr>
            <a:spLocks noChangeArrowheads="1"/>
          </p:cNvSpPr>
          <p:nvPr/>
        </p:nvSpPr>
        <p:spPr bwMode="auto">
          <a:xfrm flipV="1">
            <a:off x="7761288" y="2808288"/>
            <a:ext cx="468312" cy="503237"/>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78191" name="Text Box 19"/>
          <p:cNvSpPr txBox="1">
            <a:spLocks noChangeArrowheads="1"/>
          </p:cNvSpPr>
          <p:nvPr/>
        </p:nvSpPr>
        <p:spPr bwMode="auto">
          <a:xfrm>
            <a:off x="895350" y="32480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通信服务模块</a:t>
            </a:r>
          </a:p>
        </p:txBody>
      </p:sp>
      <p:sp>
        <p:nvSpPr>
          <p:cNvPr id="178192" name="Text Box 20"/>
          <p:cNvSpPr txBox="1">
            <a:spLocks noChangeArrowheads="1"/>
          </p:cNvSpPr>
          <p:nvPr/>
        </p:nvSpPr>
        <p:spPr bwMode="auto">
          <a:xfrm>
            <a:off x="7080250" y="32480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通信服务模块</a:t>
            </a:r>
          </a:p>
        </p:txBody>
      </p:sp>
      <p:sp>
        <p:nvSpPr>
          <p:cNvPr id="106517" name="AutoShape 21"/>
          <p:cNvSpPr>
            <a:spLocks noChangeArrowheads="1"/>
          </p:cNvSpPr>
          <p:nvPr/>
        </p:nvSpPr>
        <p:spPr bwMode="auto">
          <a:xfrm>
            <a:off x="1598613" y="3644900"/>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06518" name="AutoShape 22"/>
          <p:cNvSpPr>
            <a:spLocks noChangeArrowheads="1"/>
          </p:cNvSpPr>
          <p:nvPr/>
        </p:nvSpPr>
        <p:spPr bwMode="auto">
          <a:xfrm flipV="1">
            <a:off x="7761288" y="3571875"/>
            <a:ext cx="468312" cy="503238"/>
          </a:xfrm>
          <a:prstGeom prst="downArrow">
            <a:avLst>
              <a:gd name="adj1" fmla="val 50000"/>
              <a:gd name="adj2" fmla="val 2909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宋体" panose="02010600030101010101" pitchFamily="2" charset="-122"/>
            </a:endParaRPr>
          </a:p>
        </p:txBody>
      </p:sp>
      <p:sp>
        <p:nvSpPr>
          <p:cNvPr id="178195" name="Text Box 26"/>
          <p:cNvSpPr txBox="1">
            <a:spLocks noChangeArrowheads="1"/>
          </p:cNvSpPr>
          <p:nvPr/>
        </p:nvSpPr>
        <p:spPr bwMode="auto">
          <a:xfrm>
            <a:off x="895350" y="4038600"/>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网络接入模块</a:t>
            </a:r>
          </a:p>
        </p:txBody>
      </p:sp>
      <p:sp>
        <p:nvSpPr>
          <p:cNvPr id="178196" name="Text Box 27"/>
          <p:cNvSpPr txBox="1">
            <a:spLocks noChangeArrowheads="1"/>
          </p:cNvSpPr>
          <p:nvPr/>
        </p:nvSpPr>
        <p:spPr bwMode="auto">
          <a:xfrm>
            <a:off x="7080250" y="4038600"/>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网络接入模块</a:t>
            </a:r>
          </a:p>
        </p:txBody>
      </p:sp>
      <p:graphicFrame>
        <p:nvGraphicFramePr>
          <p:cNvPr id="178197" name="Object 28"/>
          <p:cNvGraphicFramePr>
            <a:graphicFrameLocks noGrp="1" noChangeAspect="1"/>
          </p:cNvGraphicFramePr>
          <p:nvPr>
            <p:ph idx="1"/>
          </p:nvPr>
        </p:nvGraphicFramePr>
        <p:xfrm>
          <a:off x="3860800" y="3716338"/>
          <a:ext cx="2027238" cy="1069975"/>
        </p:xfrm>
        <a:graphic>
          <a:graphicData uri="http://schemas.openxmlformats.org/presentationml/2006/ole">
            <mc:AlternateContent xmlns:mc="http://schemas.openxmlformats.org/markup-compatibility/2006">
              <mc:Choice xmlns:v="urn:schemas-microsoft-com:vml" Requires="v">
                <p:oleObj spid="_x0000_s178223" r:id="rId4" imgW="1687068" imgH="964692" progId="">
                  <p:embed/>
                </p:oleObj>
              </mc:Choice>
              <mc:Fallback>
                <p:oleObj r:id="rId4" imgW="1687068" imgH="964692" progId="">
                  <p:embed/>
                  <p:pic>
                    <p:nvPicPr>
                      <p:cNvPr id="0" name="Object 28"/>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0800" y="3716338"/>
                        <a:ext cx="2027238" cy="1069975"/>
                      </a:xfrm>
                      <a:prstGeom prst="rect">
                        <a:avLst/>
                      </a:prstGeom>
                    </p:spPr>
                  </p:pic>
                </p:oleObj>
              </mc:Fallback>
            </mc:AlternateContent>
          </a:graphicData>
        </a:graphic>
      </p:graphicFrame>
      <p:sp>
        <p:nvSpPr>
          <p:cNvPr id="178198" name="Text Box 31"/>
          <p:cNvSpPr txBox="1">
            <a:spLocks noChangeArrowheads="1"/>
          </p:cNvSpPr>
          <p:nvPr/>
        </p:nvSpPr>
        <p:spPr bwMode="auto">
          <a:xfrm>
            <a:off x="4251325" y="4003675"/>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ahoma" panose="020B0604030504040204" pitchFamily="34" charset="0"/>
                <a:ea typeface="黑体" panose="02010609060101010101" pitchFamily="49" charset="-122"/>
              </a:rPr>
              <a:t>通信网络</a:t>
            </a:r>
          </a:p>
        </p:txBody>
      </p:sp>
      <p:sp>
        <p:nvSpPr>
          <p:cNvPr id="178199" name="Text Box 32"/>
          <p:cNvSpPr txBox="1">
            <a:spLocks noChangeArrowheads="1"/>
          </p:cNvSpPr>
          <p:nvPr/>
        </p:nvSpPr>
        <p:spPr bwMode="auto">
          <a:xfrm>
            <a:off x="2846388" y="3571875"/>
            <a:ext cx="6969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latin typeface="Tahoma" panose="020B0604030504040204" pitchFamily="34" charset="0"/>
                <a:ea typeface="黑体" panose="02010609060101010101" pitchFamily="49" charset="-122"/>
              </a:rPr>
              <a:t>网络</a:t>
            </a:r>
          </a:p>
          <a:p>
            <a:pPr eaLnBrk="0" hangingPunct="0">
              <a:lnSpc>
                <a:spcPct val="90000"/>
              </a:lnSpc>
            </a:pPr>
            <a:r>
              <a:rPr lang="zh-CN" altLang="en-US" sz="2000" b="1">
                <a:solidFill>
                  <a:srgbClr val="0000CC"/>
                </a:solidFill>
                <a:latin typeface="Tahoma" panose="020B0604030504040204" pitchFamily="34" charset="0"/>
                <a:ea typeface="黑体" panose="02010609060101010101" pitchFamily="49" charset="-122"/>
              </a:rPr>
              <a:t>接口</a:t>
            </a:r>
          </a:p>
        </p:txBody>
      </p:sp>
      <p:sp>
        <p:nvSpPr>
          <p:cNvPr id="178200" name="Text Box 33"/>
          <p:cNvSpPr txBox="1">
            <a:spLocks noChangeArrowheads="1"/>
          </p:cNvSpPr>
          <p:nvPr/>
        </p:nvSpPr>
        <p:spPr bwMode="auto">
          <a:xfrm>
            <a:off x="6202363" y="3571875"/>
            <a:ext cx="6969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latin typeface="Tahoma" panose="020B0604030504040204" pitchFamily="34" charset="0"/>
                <a:ea typeface="黑体" panose="02010609060101010101" pitchFamily="49" charset="-122"/>
              </a:rPr>
              <a:t>网络</a:t>
            </a:r>
          </a:p>
          <a:p>
            <a:pPr eaLnBrk="0" hangingPunct="0">
              <a:lnSpc>
                <a:spcPct val="90000"/>
              </a:lnSpc>
            </a:pPr>
            <a:r>
              <a:rPr lang="zh-CN" altLang="en-US" sz="2000" b="1">
                <a:solidFill>
                  <a:srgbClr val="0000CC"/>
                </a:solidFill>
                <a:latin typeface="Tahoma" panose="020B0604030504040204" pitchFamily="34" charset="0"/>
                <a:ea typeface="黑体" panose="02010609060101010101" pitchFamily="49" charset="-122"/>
              </a:rPr>
              <a:t>接口</a:t>
            </a:r>
          </a:p>
        </p:txBody>
      </p:sp>
      <p:sp>
        <p:nvSpPr>
          <p:cNvPr id="106530" name="AutoShape 34"/>
          <p:cNvSpPr>
            <a:spLocks noChangeArrowheads="1"/>
          </p:cNvSpPr>
          <p:nvPr/>
        </p:nvSpPr>
        <p:spPr bwMode="auto">
          <a:xfrm>
            <a:off x="3079750" y="4292600"/>
            <a:ext cx="1482725" cy="288925"/>
          </a:xfrm>
          <a:prstGeom prst="rightArrow">
            <a:avLst>
              <a:gd name="adj1" fmla="val 50000"/>
              <a:gd name="adj2" fmla="val 118413"/>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106531" name="AutoShape 35"/>
          <p:cNvSpPr>
            <a:spLocks noChangeArrowheads="1"/>
          </p:cNvSpPr>
          <p:nvPr/>
        </p:nvSpPr>
        <p:spPr bwMode="auto">
          <a:xfrm>
            <a:off x="5888038" y="4292600"/>
            <a:ext cx="1482725" cy="288925"/>
          </a:xfrm>
          <a:prstGeom prst="rightArrow">
            <a:avLst>
              <a:gd name="adj1" fmla="val 50000"/>
              <a:gd name="adj2" fmla="val 118413"/>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106532" name="Text Box 36"/>
          <p:cNvSpPr txBox="1">
            <a:spLocks noChangeArrowheads="1"/>
          </p:cNvSpPr>
          <p:nvPr/>
        </p:nvSpPr>
        <p:spPr bwMode="auto">
          <a:xfrm>
            <a:off x="819150" y="4862513"/>
            <a:ext cx="81883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C00000"/>
                </a:solidFill>
                <a:latin typeface="Tahoma" panose="020B0604030504040204" pitchFamily="34" charset="0"/>
                <a:ea typeface="黑体" panose="02010609060101010101" pitchFamily="49" charset="-122"/>
              </a:rPr>
              <a:t>网络接入模块</a:t>
            </a:r>
            <a:r>
              <a:rPr lang="zh-CN" altLang="en-US" sz="2400" b="1">
                <a:solidFill>
                  <a:srgbClr val="000099"/>
                </a:solidFill>
                <a:latin typeface="Tahoma" panose="020B0604030504040204" pitchFamily="34" charset="0"/>
                <a:ea typeface="黑体" panose="02010609060101010101" pitchFamily="49" charset="-122"/>
              </a:rPr>
              <a:t>负责做与网络接口细节有关的工作，例如：规定传输的帧格式，帧的最大长度等。</a:t>
            </a:r>
          </a:p>
        </p:txBody>
      </p:sp>
      <p:sp>
        <p:nvSpPr>
          <p:cNvPr id="17820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9D2F82-2A23-4628-94A0-7FC7211ED1FB}" type="slidenum">
              <a:rPr lang="zh-CN" altLang="en-US" smtClean="0"/>
              <a:pPr eaLnBrk="1" hangingPunct="1"/>
              <a:t>15</a:t>
            </a:fld>
            <a:endParaRPr lang="en-US" altLang="zh-CN" smtClean="0"/>
          </a:p>
        </p:txBody>
      </p:sp>
      <p:sp>
        <p:nvSpPr>
          <p:cNvPr id="17820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5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6510"/>
                                        </p:tgtEl>
                                        <p:attrNameLst>
                                          <p:attrName>style.visibility</p:attrName>
                                        </p:attrNameLst>
                                      </p:cBhvr>
                                      <p:to>
                                        <p:strVal val="visible"/>
                                      </p:to>
                                    </p:set>
                                  </p:childTnLst>
                                </p:cTn>
                              </p:par>
                            </p:childTnLst>
                          </p:cTn>
                        </p:par>
                        <p:par>
                          <p:cTn id="11" fill="hold" nodeType="afterGroup">
                            <p:stCondLst>
                              <p:cond delay="1"/>
                            </p:stCondLst>
                            <p:childTnLst>
                              <p:par>
                                <p:cTn id="12" presetID="1" presetClass="entr" presetSubtype="0" fill="hold" grpId="0" nodeType="afterEffect">
                                  <p:stCondLst>
                                    <p:cond delay="1000"/>
                                  </p:stCondLst>
                                  <p:childTnLst>
                                    <p:set>
                                      <p:cBhvr>
                                        <p:cTn id="13" dur="1" fill="hold">
                                          <p:stCondLst>
                                            <p:cond delay="0"/>
                                          </p:stCondLst>
                                        </p:cTn>
                                        <p:tgtEl>
                                          <p:spTgt spid="106517"/>
                                        </p:tgtEl>
                                        <p:attrNameLst>
                                          <p:attrName>style.visibility</p:attrName>
                                        </p:attrNameLst>
                                      </p:cBhvr>
                                      <p:to>
                                        <p:strVal val="visible"/>
                                      </p:to>
                                    </p:set>
                                  </p:childTnLst>
                                </p:cTn>
                              </p:par>
                            </p:childTnLst>
                          </p:cTn>
                        </p:par>
                        <p:par>
                          <p:cTn id="14" fill="hold" nodeType="afterGroup">
                            <p:stCondLst>
                              <p:cond delay="1002"/>
                            </p:stCondLst>
                            <p:childTnLst>
                              <p:par>
                                <p:cTn id="15" presetID="1" presetClass="entr" presetSubtype="0" fill="hold" grpId="0" nodeType="afterEffect">
                                  <p:stCondLst>
                                    <p:cond delay="1000"/>
                                  </p:stCondLst>
                                  <p:childTnLst>
                                    <p:set>
                                      <p:cBhvr>
                                        <p:cTn id="16" dur="1" fill="hold">
                                          <p:stCondLst>
                                            <p:cond delay="0"/>
                                          </p:stCondLst>
                                        </p:cTn>
                                        <p:tgtEl>
                                          <p:spTgt spid="106530"/>
                                        </p:tgtEl>
                                        <p:attrNameLst>
                                          <p:attrName>style.visibility</p:attrName>
                                        </p:attrNameLst>
                                      </p:cBhvr>
                                      <p:to>
                                        <p:strVal val="visible"/>
                                      </p:to>
                                    </p:set>
                                  </p:childTnLst>
                                </p:cTn>
                              </p:par>
                            </p:childTnLst>
                          </p:cTn>
                        </p:par>
                        <p:par>
                          <p:cTn id="17" fill="hold" nodeType="afterGroup">
                            <p:stCondLst>
                              <p:cond delay="2003"/>
                            </p:stCondLst>
                            <p:childTnLst>
                              <p:par>
                                <p:cTn id="18" presetID="1" presetClass="entr" presetSubtype="0" fill="hold" grpId="0" nodeType="afterEffect">
                                  <p:stCondLst>
                                    <p:cond delay="1000"/>
                                  </p:stCondLst>
                                  <p:childTnLst>
                                    <p:set>
                                      <p:cBhvr>
                                        <p:cTn id="19" dur="1" fill="hold">
                                          <p:stCondLst>
                                            <p:cond delay="0"/>
                                          </p:stCondLst>
                                        </p:cTn>
                                        <p:tgtEl>
                                          <p:spTgt spid="106531"/>
                                        </p:tgtEl>
                                        <p:attrNameLst>
                                          <p:attrName>style.visibility</p:attrName>
                                        </p:attrNameLst>
                                      </p:cBhvr>
                                      <p:to>
                                        <p:strVal val="visible"/>
                                      </p:to>
                                    </p:set>
                                  </p:childTnLst>
                                </p:cTn>
                              </p:par>
                            </p:childTnLst>
                          </p:cTn>
                        </p:par>
                        <p:par>
                          <p:cTn id="20" fill="hold" nodeType="afterGroup">
                            <p:stCondLst>
                              <p:cond delay="3004"/>
                            </p:stCondLst>
                            <p:childTnLst>
                              <p:par>
                                <p:cTn id="21" presetID="1" presetClass="entr" presetSubtype="0" fill="hold" grpId="0" nodeType="afterEffect">
                                  <p:stCondLst>
                                    <p:cond delay="1000"/>
                                  </p:stCondLst>
                                  <p:childTnLst>
                                    <p:set>
                                      <p:cBhvr>
                                        <p:cTn id="22" dur="1" fill="hold">
                                          <p:stCondLst>
                                            <p:cond delay="0"/>
                                          </p:stCondLst>
                                        </p:cTn>
                                        <p:tgtEl>
                                          <p:spTgt spid="106518"/>
                                        </p:tgtEl>
                                        <p:attrNameLst>
                                          <p:attrName>style.visibility</p:attrName>
                                        </p:attrNameLst>
                                      </p:cBhvr>
                                      <p:to>
                                        <p:strVal val="visible"/>
                                      </p:to>
                                    </p:set>
                                  </p:childTnLst>
                                </p:cTn>
                              </p:par>
                            </p:childTnLst>
                          </p:cTn>
                        </p:par>
                        <p:par>
                          <p:cTn id="23" fill="hold" nodeType="afterGroup">
                            <p:stCondLst>
                              <p:cond delay="4005"/>
                            </p:stCondLst>
                            <p:childTnLst>
                              <p:par>
                                <p:cTn id="24" presetID="1" presetClass="entr" presetSubtype="0" fill="hold" grpId="0" nodeType="afterEffect">
                                  <p:stCondLst>
                                    <p:cond delay="1000"/>
                                  </p:stCondLst>
                                  <p:childTnLst>
                                    <p:set>
                                      <p:cBhvr>
                                        <p:cTn id="25" dur="1" fill="hold">
                                          <p:stCondLst>
                                            <p:cond delay="0"/>
                                          </p:stCondLst>
                                        </p:cTn>
                                        <p:tgtEl>
                                          <p:spTgt spid="106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10" grpId="0" animBg="1"/>
      <p:bldP spid="106511" grpId="0" animBg="1"/>
      <p:bldP spid="106517" grpId="0" animBg="1"/>
      <p:bldP spid="106518" grpId="0" animBg="1"/>
      <p:bldP spid="106530" grpId="0" animBg="1"/>
      <p:bldP spid="106531" grpId="0" animBg="1"/>
      <p:bldP spid="1065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分层的好处与缺点 </a:t>
            </a:r>
          </a:p>
        </p:txBody>
      </p:sp>
      <p:sp>
        <p:nvSpPr>
          <p:cNvPr id="180226" name="文本占位符 1"/>
          <p:cNvSpPr>
            <a:spLocks noGrp="1" noChangeArrowheads="1"/>
          </p:cNvSpPr>
          <p:nvPr>
            <p:ph type="body" idx="1"/>
          </p:nvPr>
        </p:nvSpPr>
        <p:spPr>
          <a:xfrm>
            <a:off x="495300" y="1208088"/>
            <a:ext cx="4456113" cy="639762"/>
          </a:xfrm>
          <a:solidFill>
            <a:srgbClr val="FFFF66"/>
          </a:solidFill>
          <a:ln>
            <a:solidFill>
              <a:srgbClr val="000099"/>
            </a:solidFill>
            <a:miter lim="800000"/>
            <a:headEnd/>
            <a:tailEnd/>
          </a:ln>
        </p:spPr>
        <p:txBody>
          <a:bodyPr anchor="ctr"/>
          <a:lstStyle/>
          <a:p>
            <a:r>
              <a:rPr lang="zh-CN" altLang="en-US" smtClean="0">
                <a:solidFill>
                  <a:srgbClr val="FF0000"/>
                </a:solidFill>
                <a:ea typeface="黑体" panose="02010609060101010101" pitchFamily="49" charset="-122"/>
              </a:rPr>
              <a:t>好处</a:t>
            </a:r>
          </a:p>
        </p:txBody>
      </p:sp>
      <p:sp>
        <p:nvSpPr>
          <p:cNvPr id="180227" name="Rectangle 3"/>
          <p:cNvSpPr>
            <a:spLocks noGrp="1" noChangeArrowheads="1"/>
          </p:cNvSpPr>
          <p:nvPr>
            <p:ph sz="half" idx="2"/>
          </p:nvPr>
        </p:nvSpPr>
        <p:spPr>
          <a:xfrm>
            <a:off x="495300" y="1844675"/>
            <a:ext cx="4456113" cy="4292600"/>
          </a:xfrm>
          <a:ln>
            <a:solidFill>
              <a:srgbClr val="000099"/>
            </a:solidFill>
            <a:miter lim="800000"/>
            <a:headEnd/>
            <a:tailEnd/>
          </a:ln>
        </p:spPr>
        <p:txBody>
          <a:bodyPr/>
          <a:lstStyle/>
          <a:p>
            <a:r>
              <a:rPr lang="zh-CN" altLang="en-US" smtClean="0">
                <a:ea typeface="黑体" panose="02010609060101010101" pitchFamily="49" charset="-122"/>
              </a:rPr>
              <a:t>各层之间是独立的。</a:t>
            </a:r>
          </a:p>
          <a:p>
            <a:r>
              <a:rPr lang="zh-CN" altLang="en-US" smtClean="0">
                <a:ea typeface="黑体" panose="02010609060101010101" pitchFamily="49" charset="-122"/>
              </a:rPr>
              <a:t>灵活性好。</a:t>
            </a:r>
          </a:p>
          <a:p>
            <a:r>
              <a:rPr lang="zh-CN" altLang="en-US" smtClean="0">
                <a:ea typeface="黑体" panose="02010609060101010101" pitchFamily="49" charset="-122"/>
              </a:rPr>
              <a:t>结构上可分割开。</a:t>
            </a:r>
          </a:p>
          <a:p>
            <a:r>
              <a:rPr lang="zh-CN" altLang="en-US" smtClean="0">
                <a:ea typeface="黑体" panose="02010609060101010101" pitchFamily="49" charset="-122"/>
              </a:rPr>
              <a:t>易于实现和维护。</a:t>
            </a:r>
          </a:p>
          <a:p>
            <a:r>
              <a:rPr lang="zh-CN" altLang="en-US" smtClean="0">
                <a:ea typeface="黑体" panose="02010609060101010101" pitchFamily="49" charset="-122"/>
              </a:rPr>
              <a:t>能促进标准化工作。  </a:t>
            </a:r>
          </a:p>
        </p:txBody>
      </p:sp>
      <p:sp>
        <p:nvSpPr>
          <p:cNvPr id="180228" name="文本占位符 2"/>
          <p:cNvSpPr>
            <a:spLocks noGrp="1" noChangeArrowheads="1"/>
          </p:cNvSpPr>
          <p:nvPr>
            <p:ph type="body" sz="quarter" idx="3"/>
          </p:nvPr>
        </p:nvSpPr>
        <p:spPr>
          <a:xfrm>
            <a:off x="5103813" y="1208088"/>
            <a:ext cx="4457700" cy="639762"/>
          </a:xfrm>
          <a:solidFill>
            <a:srgbClr val="FFFF66"/>
          </a:solidFill>
          <a:ln>
            <a:solidFill>
              <a:srgbClr val="000099"/>
            </a:solidFill>
            <a:miter lim="800000"/>
            <a:headEnd/>
            <a:tailEnd/>
          </a:ln>
        </p:spPr>
        <p:txBody>
          <a:bodyPr/>
          <a:lstStyle/>
          <a:p>
            <a:r>
              <a:rPr lang="zh-CN" altLang="en-US" smtClean="0">
                <a:solidFill>
                  <a:srgbClr val="0000CC"/>
                </a:solidFill>
                <a:ea typeface="黑体" panose="02010609060101010101" pitchFamily="49" charset="-122"/>
              </a:rPr>
              <a:t>缺点</a:t>
            </a:r>
          </a:p>
        </p:txBody>
      </p:sp>
      <p:sp>
        <p:nvSpPr>
          <p:cNvPr id="180229" name="内容占位符 3"/>
          <p:cNvSpPr>
            <a:spLocks noGrp="1" noChangeArrowheads="1"/>
          </p:cNvSpPr>
          <p:nvPr>
            <p:ph sz="quarter" idx="4"/>
          </p:nvPr>
        </p:nvSpPr>
        <p:spPr>
          <a:xfrm>
            <a:off x="5103813" y="1844675"/>
            <a:ext cx="4457700" cy="4292600"/>
          </a:xfrm>
          <a:ln>
            <a:solidFill>
              <a:srgbClr val="000099"/>
            </a:solidFill>
            <a:miter lim="800000"/>
            <a:headEnd/>
            <a:tailEnd/>
          </a:ln>
        </p:spPr>
        <p:txBody>
          <a:bodyPr/>
          <a:lstStyle/>
          <a:p>
            <a:r>
              <a:rPr lang="zh-CN" altLang="en-US" smtClean="0">
                <a:ea typeface="黑体" panose="02010609060101010101" pitchFamily="49" charset="-122"/>
              </a:rPr>
              <a:t>降低效率。</a:t>
            </a:r>
            <a:endParaRPr lang="en-US" altLang="zh-CN" smtClean="0">
              <a:ea typeface="黑体" panose="02010609060101010101" pitchFamily="49" charset="-122"/>
            </a:endParaRPr>
          </a:p>
          <a:p>
            <a:r>
              <a:rPr lang="zh-CN" altLang="zh-CN" smtClean="0">
                <a:ea typeface="黑体" panose="02010609060101010101" pitchFamily="49" charset="-122"/>
              </a:rPr>
              <a:t>有些功能会在不同的层次中重复出现，因而产生了额外开销</a:t>
            </a:r>
            <a:r>
              <a:rPr lang="zh-CN" altLang="en-US" smtClean="0">
                <a:ea typeface="黑体" panose="02010609060101010101" pitchFamily="49" charset="-122"/>
              </a:rPr>
              <a:t>。</a:t>
            </a:r>
          </a:p>
        </p:txBody>
      </p:sp>
      <p:sp>
        <p:nvSpPr>
          <p:cNvPr id="180230"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B0B547-FE4E-402A-8835-16ECA29D7EAA}" type="slidenum">
              <a:rPr lang="zh-CN" altLang="en-US" smtClean="0"/>
              <a:pPr eaLnBrk="1" hangingPunct="1"/>
              <a:t>16</a:t>
            </a:fld>
            <a:endParaRPr lang="en-US" altLang="zh-CN" smtClean="0"/>
          </a:p>
        </p:txBody>
      </p:sp>
      <p:sp>
        <p:nvSpPr>
          <p:cNvPr id="180231"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层数多少要适当 </a:t>
            </a:r>
          </a:p>
        </p:txBody>
      </p:sp>
      <p:sp>
        <p:nvSpPr>
          <p:cNvPr id="18227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层数太少，就会使每一层的协议太复杂。</a:t>
            </a:r>
          </a:p>
          <a:p>
            <a:r>
              <a:rPr lang="zh-CN" altLang="en-US" smtClean="0">
                <a:ea typeface="黑体" panose="02010609060101010101" pitchFamily="49" charset="-122"/>
              </a:rPr>
              <a:t>层数太多，又会在描述和综合各层功能的系统工程任务时遇到较多的困难。 </a:t>
            </a:r>
          </a:p>
        </p:txBody>
      </p:sp>
      <p:sp>
        <p:nvSpPr>
          <p:cNvPr id="182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3FF70E0-EE1F-42A5-9398-898A524B9FBF}" type="slidenum">
              <a:rPr lang="zh-CN" altLang="en-US" smtClean="0"/>
              <a:pPr eaLnBrk="1" hangingPunct="1"/>
              <a:t>17</a:t>
            </a:fld>
            <a:endParaRPr lang="en-US" altLang="zh-CN" smtClean="0"/>
          </a:p>
        </p:txBody>
      </p:sp>
      <p:sp>
        <p:nvSpPr>
          <p:cNvPr id="182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各层完成的主要功能</a:t>
            </a:r>
            <a:endParaRPr lang="zh-CN" altLang="en-US" smtClean="0">
              <a:ea typeface="黑体" panose="02010609060101010101" pitchFamily="49" charset="-122"/>
            </a:endParaRPr>
          </a:p>
        </p:txBody>
      </p:sp>
      <p:sp>
        <p:nvSpPr>
          <p:cNvPr id="111619" name="Rectangle 3"/>
          <p:cNvSpPr>
            <a:spLocks noGrp="1" noChangeArrowheads="1"/>
          </p:cNvSpPr>
          <p:nvPr>
            <p:ph idx="1"/>
          </p:nvPr>
        </p:nvSpPr>
        <p:spPr>
          <a:xfrm>
            <a:off x="495300" y="1196975"/>
            <a:ext cx="9066213" cy="4933950"/>
          </a:xfrm>
        </p:spPr>
        <p:txBody>
          <a:bodyPr/>
          <a:lstStyle/>
          <a:p>
            <a:r>
              <a:rPr lang="zh-CN" altLang="zh-CN" sz="2800" smtClean="0">
                <a:solidFill>
                  <a:srgbClr val="FF0000"/>
                </a:solidFill>
                <a:ea typeface="黑体" panose="02010609060101010101" pitchFamily="49" charset="-122"/>
              </a:rPr>
              <a:t>① 差错控制</a:t>
            </a:r>
            <a:r>
              <a:rPr lang="zh-CN" altLang="en-US" sz="2800" smtClean="0">
                <a:solidFill>
                  <a:srgbClr val="FF0000"/>
                </a:solidFill>
                <a:ea typeface="黑体" panose="02010609060101010101" pitchFamily="49" charset="-122"/>
              </a:rPr>
              <a:t>：</a:t>
            </a:r>
            <a:r>
              <a:rPr lang="zh-CN" altLang="zh-CN" sz="2800" smtClean="0">
                <a:ea typeface="黑体" panose="02010609060101010101" pitchFamily="49" charset="-122"/>
              </a:rPr>
              <a:t>使相应层次对等方的通信更加可靠。</a:t>
            </a:r>
          </a:p>
          <a:p>
            <a:r>
              <a:rPr lang="zh-CN" altLang="zh-CN" sz="2800" smtClean="0">
                <a:solidFill>
                  <a:srgbClr val="FF0000"/>
                </a:solidFill>
                <a:ea typeface="黑体" panose="02010609060101010101" pitchFamily="49" charset="-122"/>
              </a:rPr>
              <a:t>② 流量控制</a:t>
            </a:r>
            <a:r>
              <a:rPr lang="zh-CN" altLang="en-US" sz="2800" smtClean="0">
                <a:solidFill>
                  <a:srgbClr val="FF0000"/>
                </a:solidFill>
                <a:ea typeface="黑体" panose="02010609060101010101" pitchFamily="49" charset="-122"/>
              </a:rPr>
              <a:t>：</a:t>
            </a:r>
            <a:r>
              <a:rPr lang="zh-CN" altLang="zh-CN" sz="2800" smtClean="0">
                <a:ea typeface="黑体" panose="02010609060101010101" pitchFamily="49" charset="-122"/>
              </a:rPr>
              <a:t>发送端的发送速率必须使接收端来得及接收，不要太快。</a:t>
            </a:r>
          </a:p>
          <a:p>
            <a:r>
              <a:rPr lang="zh-CN" altLang="zh-CN" sz="2800" smtClean="0">
                <a:solidFill>
                  <a:srgbClr val="FF0000"/>
                </a:solidFill>
                <a:ea typeface="黑体" panose="02010609060101010101" pitchFamily="49" charset="-122"/>
              </a:rPr>
              <a:t>③ 分段和重装</a:t>
            </a:r>
            <a:r>
              <a:rPr lang="en-US" altLang="zh-CN" sz="2800" smtClean="0">
                <a:solidFill>
                  <a:srgbClr val="FF0000"/>
                </a:solidFill>
                <a:ea typeface="黑体" panose="02010609060101010101" pitchFamily="49" charset="-122"/>
              </a:rPr>
              <a:t> </a:t>
            </a:r>
            <a:r>
              <a:rPr lang="zh-CN" altLang="en-US" sz="2800" smtClean="0">
                <a:solidFill>
                  <a:srgbClr val="FF0000"/>
                </a:solidFill>
                <a:ea typeface="黑体" panose="02010609060101010101" pitchFamily="49" charset="-122"/>
              </a:rPr>
              <a:t>：</a:t>
            </a:r>
            <a:r>
              <a:rPr lang="zh-CN" altLang="zh-CN" sz="2800" smtClean="0">
                <a:ea typeface="黑体" panose="02010609060101010101" pitchFamily="49" charset="-122"/>
              </a:rPr>
              <a:t>发送端将要发送的数据块划分为更小的单位，在接收端将其还原。</a:t>
            </a:r>
          </a:p>
          <a:p>
            <a:r>
              <a:rPr lang="zh-CN" altLang="zh-CN" sz="2800" smtClean="0">
                <a:solidFill>
                  <a:srgbClr val="FF0000"/>
                </a:solidFill>
                <a:ea typeface="黑体" panose="02010609060101010101" pitchFamily="49" charset="-122"/>
              </a:rPr>
              <a:t>④ 复用和分用</a:t>
            </a:r>
            <a:r>
              <a:rPr lang="zh-CN" altLang="en-US" sz="2800" smtClean="0">
                <a:solidFill>
                  <a:srgbClr val="FF0000"/>
                </a:solidFill>
                <a:ea typeface="黑体" panose="02010609060101010101" pitchFamily="49" charset="-122"/>
              </a:rPr>
              <a:t>：</a:t>
            </a:r>
            <a:r>
              <a:rPr lang="zh-CN" altLang="zh-CN" sz="2800" smtClean="0">
                <a:ea typeface="黑体" panose="02010609060101010101" pitchFamily="49" charset="-122"/>
              </a:rPr>
              <a:t>发送端几个高层会话复用一条低层的连接，在接收端再进行分用。</a:t>
            </a:r>
          </a:p>
          <a:p>
            <a:r>
              <a:rPr lang="zh-CN" altLang="zh-CN" sz="2800" smtClean="0">
                <a:solidFill>
                  <a:srgbClr val="FF0000"/>
                </a:solidFill>
                <a:ea typeface="黑体" panose="02010609060101010101" pitchFamily="49" charset="-122"/>
              </a:rPr>
              <a:t>⑤ 连接建立和释放</a:t>
            </a:r>
            <a:r>
              <a:rPr lang="zh-CN" altLang="en-US" sz="2800" smtClean="0">
                <a:solidFill>
                  <a:srgbClr val="FF0000"/>
                </a:solidFill>
                <a:ea typeface="黑体" panose="02010609060101010101" pitchFamily="49" charset="-122"/>
              </a:rPr>
              <a:t>：</a:t>
            </a:r>
            <a:r>
              <a:rPr lang="zh-CN" altLang="zh-CN" sz="2800" smtClean="0">
                <a:ea typeface="黑体" panose="02010609060101010101" pitchFamily="49" charset="-122"/>
              </a:rPr>
              <a:t>交换数据前先建立一条逻辑连接，数据传送结束后释放连接。</a:t>
            </a:r>
          </a:p>
          <a:p>
            <a:endParaRPr lang="zh-CN" altLang="en-US" sz="2800" smtClean="0">
              <a:ea typeface="黑体" panose="02010609060101010101" pitchFamily="49" charset="-122"/>
            </a:endParaRPr>
          </a:p>
        </p:txBody>
      </p:sp>
      <p:sp>
        <p:nvSpPr>
          <p:cNvPr id="1843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298DAE-B378-46A3-92DD-583BFC033E77}" type="slidenum">
              <a:rPr lang="zh-CN" altLang="en-US" smtClean="0"/>
              <a:pPr eaLnBrk="1" hangingPunct="1"/>
              <a:t>18</a:t>
            </a:fld>
            <a:endParaRPr lang="en-US" altLang="zh-CN" smtClean="0"/>
          </a:p>
        </p:txBody>
      </p:sp>
      <p:sp>
        <p:nvSpPr>
          <p:cNvPr id="1843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6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16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161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16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计算机网络的体系结构 </a:t>
            </a:r>
          </a:p>
        </p:txBody>
      </p:sp>
      <p:sp>
        <p:nvSpPr>
          <p:cNvPr id="112643" name="Rectangle 3"/>
          <p:cNvSpPr>
            <a:spLocks noGrp="1" noChangeArrowheads="1"/>
          </p:cNvSpPr>
          <p:nvPr>
            <p:ph idx="1"/>
          </p:nvPr>
        </p:nvSpPr>
        <p:spPr>
          <a:xfrm>
            <a:off x="495300" y="1196975"/>
            <a:ext cx="9066213" cy="4933950"/>
          </a:xfrm>
        </p:spPr>
        <p:txBody>
          <a:bodyPr/>
          <a:lstStyle/>
          <a:p>
            <a:r>
              <a:rPr lang="zh-CN" altLang="en-US" u="sng" dirty="0" smtClean="0">
                <a:solidFill>
                  <a:srgbClr val="FF0000"/>
                </a:solidFill>
                <a:ea typeface="黑体" panose="02010609060101010101" pitchFamily="49" charset="-122"/>
              </a:rPr>
              <a:t>计算机网络的体系结构 </a:t>
            </a:r>
            <a:r>
              <a:rPr lang="en-US" altLang="zh-CN" u="sng" dirty="0" smtClean="0">
                <a:ea typeface="黑体" panose="02010609060101010101" pitchFamily="49" charset="-122"/>
              </a:rPr>
              <a:t>(architecture) </a:t>
            </a:r>
            <a:r>
              <a:rPr lang="zh-CN" altLang="en-US" dirty="0" smtClean="0">
                <a:ea typeface="黑体" panose="02010609060101010101" pitchFamily="49" charset="-122"/>
              </a:rPr>
              <a:t>是计算机网络的各层及其协议的集合。 </a:t>
            </a:r>
          </a:p>
          <a:p>
            <a:r>
              <a:rPr lang="zh-CN" altLang="en-US" dirty="0" smtClean="0">
                <a:ea typeface="黑体" panose="02010609060101010101" pitchFamily="49" charset="-122"/>
              </a:rPr>
              <a:t>体系结构就是这个计算机网络及其部件</a:t>
            </a:r>
            <a:r>
              <a:rPr lang="zh-CN" altLang="en-US" dirty="0" smtClean="0">
                <a:solidFill>
                  <a:srgbClr val="FF0000"/>
                </a:solidFill>
                <a:ea typeface="黑体" panose="02010609060101010101" pitchFamily="49" charset="-122"/>
              </a:rPr>
              <a:t>所应完成的功能的精确定义。</a:t>
            </a:r>
          </a:p>
          <a:p>
            <a:r>
              <a:rPr lang="zh-CN" altLang="en-US" dirty="0" smtClean="0">
                <a:solidFill>
                  <a:srgbClr val="FF0000"/>
                </a:solidFill>
                <a:ea typeface="黑体" panose="02010609060101010101" pitchFamily="49" charset="-122"/>
              </a:rPr>
              <a:t>实现 </a:t>
            </a:r>
            <a:r>
              <a:rPr lang="en-US" altLang="zh-CN" dirty="0" smtClean="0">
                <a:ea typeface="黑体" panose="02010609060101010101" pitchFamily="49" charset="-122"/>
              </a:rPr>
              <a:t>(implementation) </a:t>
            </a:r>
            <a:r>
              <a:rPr lang="zh-CN" altLang="en-US" dirty="0" smtClean="0">
                <a:ea typeface="黑体" panose="02010609060101010101" pitchFamily="49" charset="-122"/>
              </a:rPr>
              <a:t>是遵循这种体系结构的前提下用何种硬件或软件完成这些功能的问题。</a:t>
            </a:r>
          </a:p>
          <a:p>
            <a:r>
              <a:rPr lang="zh-CN" altLang="en-US" dirty="0" smtClean="0">
                <a:solidFill>
                  <a:srgbClr val="0000CC"/>
                </a:solidFill>
                <a:ea typeface="黑体" panose="02010609060101010101" pitchFamily="49" charset="-122"/>
              </a:rPr>
              <a:t>体系结构是抽象的，而实现则是具体的，是真正在运行的计算机硬件和软件。   </a:t>
            </a:r>
          </a:p>
        </p:txBody>
      </p:sp>
      <p:sp>
        <p:nvSpPr>
          <p:cNvPr id="1863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FDBCC8-F304-40D0-A26E-EDF83E47C691}" type="slidenum">
              <a:rPr lang="zh-CN" altLang="en-US" smtClean="0"/>
              <a:pPr eaLnBrk="1" hangingPunct="1"/>
              <a:t>19</a:t>
            </a:fld>
            <a:endParaRPr lang="en-US" altLang="zh-CN" smtClean="0"/>
          </a:p>
        </p:txBody>
      </p:sp>
      <p:sp>
        <p:nvSpPr>
          <p:cNvPr id="1863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1.7.3  </a:t>
            </a:r>
            <a:r>
              <a:rPr lang="zh-CN" altLang="zh-CN" smtClean="0">
                <a:ea typeface="黑体" panose="02010609060101010101" pitchFamily="49" charset="-122"/>
              </a:rPr>
              <a:t>具有五层协议的体系结构</a:t>
            </a:r>
            <a:endParaRPr lang="zh-CN" altLang="en-US" smtClean="0">
              <a:ea typeface="黑体" panose="02010609060101010101" pitchFamily="49" charset="-122"/>
            </a:endParaRPr>
          </a:p>
        </p:txBody>
      </p:sp>
      <p:sp>
        <p:nvSpPr>
          <p:cNvPr id="113667"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OSI </a:t>
            </a:r>
            <a:r>
              <a:rPr lang="zh-CN" altLang="zh-CN" dirty="0" smtClean="0">
                <a:ea typeface="黑体" panose="02010609060101010101" pitchFamily="49" charset="-122"/>
              </a:rPr>
              <a:t>的七层协议体系结构的概念清楚，理论也较完整，但它既复杂又不实用</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TCP/IP </a:t>
            </a:r>
            <a:r>
              <a:rPr lang="zh-CN" altLang="en-US" dirty="0" smtClean="0">
                <a:ea typeface="黑体" panose="02010609060101010101" pitchFamily="49" charset="-122"/>
              </a:rPr>
              <a:t>是四层体系结构：应用层、运输层、网际层和网络接口层</a:t>
            </a:r>
            <a:r>
              <a:rPr lang="zh-CN" altLang="en-US" dirty="0" smtClean="0">
                <a:ea typeface="黑体" panose="02010609060101010101" pitchFamily="49" charset="-122"/>
              </a:rPr>
              <a:t>。但</a:t>
            </a:r>
            <a:r>
              <a:rPr lang="zh-CN" altLang="en-US" dirty="0" smtClean="0">
                <a:ea typeface="黑体" panose="02010609060101010101" pitchFamily="49" charset="-122"/>
              </a:rPr>
              <a:t>最下面的网络接口层并没有具体内容。</a:t>
            </a:r>
          </a:p>
          <a:p>
            <a:r>
              <a:rPr lang="zh-CN" altLang="en-US" dirty="0" smtClean="0">
                <a:solidFill>
                  <a:srgbClr val="FF0000"/>
                </a:solidFill>
                <a:ea typeface="黑体" panose="02010609060101010101" pitchFamily="49" charset="-122"/>
              </a:rPr>
              <a:t>因此往往采取折中的办法，即综合</a:t>
            </a:r>
            <a:r>
              <a:rPr lang="zh-CN" altLang="en-US" sz="2000" dirty="0" smtClean="0">
                <a:solidFill>
                  <a:srgbClr val="FF0000"/>
                </a:solidFill>
                <a:ea typeface="黑体" panose="02010609060101010101" pitchFamily="49" charset="-122"/>
              </a:rPr>
              <a:t> </a:t>
            </a:r>
            <a:r>
              <a:rPr lang="en-US" altLang="zh-CN" dirty="0" smtClean="0">
                <a:solidFill>
                  <a:srgbClr val="FF0000"/>
                </a:solidFill>
                <a:ea typeface="黑体" panose="02010609060101010101" pitchFamily="49" charset="-122"/>
              </a:rPr>
              <a:t>OSI </a:t>
            </a:r>
            <a:r>
              <a:rPr lang="zh-CN" altLang="en-US" dirty="0" smtClean="0">
                <a:solidFill>
                  <a:srgbClr val="FF0000"/>
                </a:solidFill>
                <a:ea typeface="黑体" panose="02010609060101010101" pitchFamily="49" charset="-122"/>
              </a:rPr>
              <a:t>和</a:t>
            </a:r>
            <a:r>
              <a:rPr lang="zh-CN" altLang="en-US" sz="2000" dirty="0" smtClean="0">
                <a:solidFill>
                  <a:srgbClr val="FF0000"/>
                </a:solidFill>
                <a:ea typeface="黑体" panose="02010609060101010101" pitchFamily="49" charset="-122"/>
              </a:rPr>
              <a:t> </a:t>
            </a:r>
            <a:r>
              <a:rPr lang="en-US" altLang="zh-CN" dirty="0" smtClean="0">
                <a:solidFill>
                  <a:srgbClr val="FF0000"/>
                </a:solidFill>
                <a:ea typeface="黑体" panose="02010609060101010101" pitchFamily="49" charset="-122"/>
              </a:rPr>
              <a:t>TCP/IP</a:t>
            </a:r>
            <a:r>
              <a:rPr lang="en-US" altLang="zh-CN" sz="2000" dirty="0" smtClean="0">
                <a:solidFill>
                  <a:srgbClr val="FF0000"/>
                </a:solidFill>
                <a:ea typeface="黑体" panose="02010609060101010101" pitchFamily="49" charset="-122"/>
              </a:rPr>
              <a:t> </a:t>
            </a:r>
            <a:r>
              <a:rPr lang="zh-CN" altLang="en-US" dirty="0" smtClean="0">
                <a:solidFill>
                  <a:srgbClr val="FF0000"/>
                </a:solidFill>
                <a:ea typeface="黑体" panose="02010609060101010101" pitchFamily="49" charset="-122"/>
              </a:rPr>
              <a:t>的优点，采用一种只有五层协议的体系结构 。</a:t>
            </a:r>
            <a:r>
              <a:rPr lang="zh-CN" altLang="en-US" dirty="0" smtClean="0">
                <a:solidFill>
                  <a:srgbClr val="0000CC"/>
                </a:solidFill>
                <a:ea typeface="黑体" panose="02010609060101010101" pitchFamily="49" charset="-122"/>
              </a:rPr>
              <a:t> </a:t>
            </a:r>
          </a:p>
        </p:txBody>
      </p:sp>
      <p:sp>
        <p:nvSpPr>
          <p:cNvPr id="1884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9557D1-B331-45C8-9729-B3578F34D9F3}" type="slidenum">
              <a:rPr lang="zh-CN" altLang="en-US" smtClean="0"/>
              <a:pPr eaLnBrk="1" hangingPunct="1"/>
              <a:t>20</a:t>
            </a:fld>
            <a:endParaRPr lang="en-US" altLang="zh-CN" smtClean="0"/>
          </a:p>
        </p:txBody>
      </p:sp>
      <p:sp>
        <p:nvSpPr>
          <p:cNvPr id="1884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2"/>
          <p:cNvSpPr>
            <a:spLocks noGrp="1" noChangeArrowheads="1"/>
          </p:cNvSpPr>
          <p:nvPr>
            <p:ph type="title"/>
          </p:nvPr>
        </p:nvSpPr>
        <p:spPr/>
        <p:txBody>
          <a:bodyPr/>
          <a:lstStyle/>
          <a:p>
            <a:r>
              <a:rPr lang="en-US" altLang="zh-CN" smtClean="0">
                <a:ea typeface="黑体" panose="02010609060101010101" pitchFamily="49" charset="-122"/>
              </a:rPr>
              <a:t>1.7.3  </a:t>
            </a:r>
            <a:r>
              <a:rPr lang="zh-CN" altLang="zh-CN" smtClean="0">
                <a:ea typeface="黑体" panose="02010609060101010101" pitchFamily="49" charset="-122"/>
              </a:rPr>
              <a:t>具有五层协议的体系结构</a:t>
            </a:r>
            <a:endParaRPr lang="zh-CN" altLang="en-US" smtClean="0">
              <a:ea typeface="黑体" panose="02010609060101010101" pitchFamily="49" charset="-122"/>
            </a:endParaRPr>
          </a:p>
        </p:txBody>
      </p:sp>
      <p:sp>
        <p:nvSpPr>
          <p:cNvPr id="190466" name="AutoShape 58"/>
          <p:cNvSpPr>
            <a:spLocks noChangeArrowheads="1"/>
          </p:cNvSpPr>
          <p:nvPr/>
        </p:nvSpPr>
        <p:spPr bwMode="auto">
          <a:xfrm>
            <a:off x="900113" y="1654175"/>
            <a:ext cx="2054225" cy="3530600"/>
          </a:xfrm>
          <a:prstGeom prst="cube">
            <a:avLst>
              <a:gd name="adj" fmla="val 9144"/>
            </a:avLst>
          </a:prstGeom>
          <a:solidFill>
            <a:schemeClr val="bg1"/>
          </a:solidFill>
          <a:ln w="1905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67" name="Freeform 50"/>
          <p:cNvSpPr>
            <a:spLocks noChangeArrowheads="1"/>
          </p:cNvSpPr>
          <p:nvPr/>
        </p:nvSpPr>
        <p:spPr bwMode="auto">
          <a:xfrm>
            <a:off x="901700" y="2036763"/>
            <a:ext cx="2039938"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68" name="Freeform 59"/>
          <p:cNvSpPr>
            <a:spLocks noChangeArrowheads="1"/>
          </p:cNvSpPr>
          <p:nvPr/>
        </p:nvSpPr>
        <p:spPr bwMode="auto">
          <a:xfrm>
            <a:off x="900113" y="2516188"/>
            <a:ext cx="2039937"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69" name="Freeform 60"/>
          <p:cNvSpPr>
            <a:spLocks noChangeArrowheads="1"/>
          </p:cNvSpPr>
          <p:nvPr/>
        </p:nvSpPr>
        <p:spPr bwMode="auto">
          <a:xfrm>
            <a:off x="900113" y="2995613"/>
            <a:ext cx="2038350"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70" name="Freeform 61"/>
          <p:cNvSpPr>
            <a:spLocks noChangeArrowheads="1"/>
          </p:cNvSpPr>
          <p:nvPr/>
        </p:nvSpPr>
        <p:spPr bwMode="auto">
          <a:xfrm>
            <a:off x="900113" y="3475038"/>
            <a:ext cx="2038350" cy="263525"/>
          </a:xfrm>
          <a:custGeom>
            <a:avLst/>
            <a:gdLst>
              <a:gd name="T0" fmla="*/ 2049 w 2049"/>
              <a:gd name="T1" fmla="*/ 0 h 185"/>
              <a:gd name="T2" fmla="*/ 1873 w 2049"/>
              <a:gd name="T3" fmla="*/ 185 h 185"/>
              <a:gd name="T4" fmla="*/ 0 w 2049"/>
              <a:gd name="T5" fmla="*/ 182 h 185"/>
            </a:gdLst>
            <a:ahLst/>
            <a:cxnLst>
              <a:cxn ang="0">
                <a:pos x="T0" y="T1"/>
              </a:cxn>
              <a:cxn ang="0">
                <a:pos x="T2" y="T3"/>
              </a:cxn>
              <a:cxn ang="0">
                <a:pos x="T4" y="T5"/>
              </a:cxn>
            </a:cxnLst>
            <a:rect l="0" t="0" r="r" b="b"/>
            <a:pathLst>
              <a:path w="2049" h="185">
                <a:moveTo>
                  <a:pt x="2049" y="0"/>
                </a:moveTo>
                <a:lnTo>
                  <a:pt x="1873" y="185"/>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71" name="Freeform 62"/>
          <p:cNvSpPr>
            <a:spLocks noChangeArrowheads="1"/>
          </p:cNvSpPr>
          <p:nvPr/>
        </p:nvSpPr>
        <p:spPr bwMode="auto">
          <a:xfrm>
            <a:off x="898525" y="3954463"/>
            <a:ext cx="2039938" cy="266700"/>
          </a:xfrm>
          <a:custGeom>
            <a:avLst/>
            <a:gdLst>
              <a:gd name="T0" fmla="*/ 2049 w 2049"/>
              <a:gd name="T1" fmla="*/ 0 h 187"/>
              <a:gd name="T2" fmla="*/ 1863 w 2049"/>
              <a:gd name="T3" fmla="*/ 187 h 187"/>
              <a:gd name="T4" fmla="*/ 0 w 2049"/>
              <a:gd name="T5" fmla="*/ 182 h 187"/>
            </a:gdLst>
            <a:ahLst/>
            <a:cxnLst>
              <a:cxn ang="0">
                <a:pos x="T0" y="T1"/>
              </a:cxn>
              <a:cxn ang="0">
                <a:pos x="T2" y="T3"/>
              </a:cxn>
              <a:cxn ang="0">
                <a:pos x="T4" y="T5"/>
              </a:cxn>
            </a:cxnLst>
            <a:rect l="0" t="0" r="r" b="b"/>
            <a:pathLst>
              <a:path w="2049" h="187">
                <a:moveTo>
                  <a:pt x="2049" y="0"/>
                </a:moveTo>
                <a:lnTo>
                  <a:pt x="1863" y="187"/>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72" name="Freeform 63"/>
          <p:cNvSpPr>
            <a:spLocks noChangeArrowheads="1"/>
          </p:cNvSpPr>
          <p:nvPr/>
        </p:nvSpPr>
        <p:spPr bwMode="auto">
          <a:xfrm>
            <a:off x="896938" y="4433888"/>
            <a:ext cx="2039937"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73" name="Text Box 22"/>
          <p:cNvSpPr txBox="1">
            <a:spLocks noChangeArrowheads="1"/>
          </p:cNvSpPr>
          <p:nvPr/>
        </p:nvSpPr>
        <p:spPr bwMode="auto">
          <a:xfrm>
            <a:off x="1617663" y="1936750"/>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应用层</a:t>
            </a:r>
          </a:p>
        </p:txBody>
      </p:sp>
      <p:sp>
        <p:nvSpPr>
          <p:cNvPr id="190474" name="Text Box 23"/>
          <p:cNvSpPr txBox="1">
            <a:spLocks noChangeArrowheads="1"/>
          </p:cNvSpPr>
          <p:nvPr/>
        </p:nvSpPr>
        <p:spPr bwMode="auto">
          <a:xfrm>
            <a:off x="1584325" y="3351213"/>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运输层</a:t>
            </a:r>
          </a:p>
        </p:txBody>
      </p:sp>
      <p:sp>
        <p:nvSpPr>
          <p:cNvPr id="190475" name="Text Box 24"/>
          <p:cNvSpPr txBox="1">
            <a:spLocks noChangeArrowheads="1"/>
          </p:cNvSpPr>
          <p:nvPr/>
        </p:nvSpPr>
        <p:spPr bwMode="auto">
          <a:xfrm>
            <a:off x="1597025" y="3830638"/>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网络层</a:t>
            </a:r>
          </a:p>
        </p:txBody>
      </p:sp>
      <p:sp>
        <p:nvSpPr>
          <p:cNvPr id="190476" name="Text Box 54"/>
          <p:cNvSpPr txBox="1">
            <a:spLocks noChangeArrowheads="1"/>
          </p:cNvSpPr>
          <p:nvPr/>
        </p:nvSpPr>
        <p:spPr bwMode="auto">
          <a:xfrm>
            <a:off x="1597025" y="2389188"/>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表示层</a:t>
            </a:r>
          </a:p>
        </p:txBody>
      </p:sp>
      <p:sp>
        <p:nvSpPr>
          <p:cNvPr id="190477" name="Text Box 55"/>
          <p:cNvSpPr txBox="1">
            <a:spLocks noChangeArrowheads="1"/>
          </p:cNvSpPr>
          <p:nvPr/>
        </p:nvSpPr>
        <p:spPr bwMode="auto">
          <a:xfrm>
            <a:off x="1597025" y="2870200"/>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会话层</a:t>
            </a:r>
          </a:p>
        </p:txBody>
      </p:sp>
      <p:sp>
        <p:nvSpPr>
          <p:cNvPr id="190478" name="Text Box 56"/>
          <p:cNvSpPr txBox="1">
            <a:spLocks noChangeArrowheads="1"/>
          </p:cNvSpPr>
          <p:nvPr/>
        </p:nvSpPr>
        <p:spPr bwMode="auto">
          <a:xfrm>
            <a:off x="1438275" y="4284663"/>
            <a:ext cx="1347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数据链路层</a:t>
            </a:r>
          </a:p>
        </p:txBody>
      </p:sp>
      <p:sp>
        <p:nvSpPr>
          <p:cNvPr id="190479" name="Text Box 57"/>
          <p:cNvSpPr txBox="1">
            <a:spLocks noChangeArrowheads="1"/>
          </p:cNvSpPr>
          <p:nvPr/>
        </p:nvSpPr>
        <p:spPr bwMode="auto">
          <a:xfrm>
            <a:off x="1597025" y="4737100"/>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物理层</a:t>
            </a:r>
          </a:p>
        </p:txBody>
      </p:sp>
      <p:sp>
        <p:nvSpPr>
          <p:cNvPr id="190480" name="Text Box 43"/>
          <p:cNvSpPr txBox="1">
            <a:spLocks noChangeArrowheads="1"/>
          </p:cNvSpPr>
          <p:nvPr/>
        </p:nvSpPr>
        <p:spPr bwMode="auto">
          <a:xfrm>
            <a:off x="995363" y="1785938"/>
            <a:ext cx="298450" cy="329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90000"/>
              </a:lnSpc>
            </a:pPr>
            <a:r>
              <a:rPr lang="en-US" altLang="zh-CN" sz="1600" b="1">
                <a:solidFill>
                  <a:srgbClr val="000099"/>
                </a:solidFill>
                <a:ea typeface="黑体" panose="02010609060101010101" pitchFamily="49" charset="-122"/>
              </a:rPr>
              <a:t>7</a:t>
            </a:r>
          </a:p>
          <a:p>
            <a:pPr>
              <a:lnSpc>
                <a:spcPct val="190000"/>
              </a:lnSpc>
            </a:pPr>
            <a:r>
              <a:rPr lang="en-US" altLang="zh-CN" sz="1600" b="1">
                <a:solidFill>
                  <a:srgbClr val="000099"/>
                </a:solidFill>
                <a:ea typeface="黑体" panose="02010609060101010101" pitchFamily="49" charset="-122"/>
              </a:rPr>
              <a:t>6</a:t>
            </a:r>
          </a:p>
          <a:p>
            <a:pPr>
              <a:lnSpc>
                <a:spcPct val="190000"/>
              </a:lnSpc>
            </a:pPr>
            <a:r>
              <a:rPr lang="en-US" altLang="zh-CN" sz="1600" b="1">
                <a:solidFill>
                  <a:srgbClr val="000099"/>
                </a:solidFill>
                <a:ea typeface="黑体" panose="02010609060101010101" pitchFamily="49" charset="-122"/>
              </a:rPr>
              <a:t>5</a:t>
            </a:r>
          </a:p>
          <a:p>
            <a:pPr>
              <a:lnSpc>
                <a:spcPct val="190000"/>
              </a:lnSpc>
            </a:pPr>
            <a:r>
              <a:rPr lang="en-US" altLang="zh-CN" sz="1600" b="1">
                <a:solidFill>
                  <a:srgbClr val="000099"/>
                </a:solidFill>
                <a:ea typeface="黑体" panose="02010609060101010101" pitchFamily="49" charset="-122"/>
              </a:rPr>
              <a:t>4</a:t>
            </a:r>
          </a:p>
          <a:p>
            <a:pPr>
              <a:lnSpc>
                <a:spcPct val="190000"/>
              </a:lnSpc>
            </a:pPr>
            <a:r>
              <a:rPr lang="en-US" altLang="zh-CN" sz="1600" b="1">
                <a:solidFill>
                  <a:srgbClr val="000099"/>
                </a:solidFill>
                <a:ea typeface="黑体" panose="02010609060101010101" pitchFamily="49" charset="-122"/>
              </a:rPr>
              <a:t>3</a:t>
            </a:r>
          </a:p>
          <a:p>
            <a:pPr>
              <a:lnSpc>
                <a:spcPct val="190000"/>
              </a:lnSpc>
            </a:pPr>
            <a:r>
              <a:rPr lang="en-US" altLang="zh-CN" sz="1600" b="1">
                <a:solidFill>
                  <a:srgbClr val="000099"/>
                </a:solidFill>
                <a:ea typeface="黑体" panose="02010609060101010101" pitchFamily="49" charset="-122"/>
              </a:rPr>
              <a:t>2</a:t>
            </a:r>
          </a:p>
          <a:p>
            <a:pPr>
              <a:lnSpc>
                <a:spcPct val="190000"/>
              </a:lnSpc>
            </a:pPr>
            <a:r>
              <a:rPr lang="en-US" altLang="zh-CN" sz="1600" b="1">
                <a:solidFill>
                  <a:srgbClr val="000099"/>
                </a:solidFill>
                <a:ea typeface="黑体" panose="02010609060101010101" pitchFamily="49" charset="-122"/>
              </a:rPr>
              <a:t>1</a:t>
            </a:r>
          </a:p>
        </p:txBody>
      </p:sp>
      <p:sp>
        <p:nvSpPr>
          <p:cNvPr id="190481" name="Text Box 13"/>
          <p:cNvSpPr txBox="1">
            <a:spLocks noChangeArrowheads="1"/>
          </p:cNvSpPr>
          <p:nvPr/>
        </p:nvSpPr>
        <p:spPr bwMode="auto">
          <a:xfrm>
            <a:off x="776288" y="1222375"/>
            <a:ext cx="2346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C00000"/>
                </a:solidFill>
                <a:ea typeface="黑体" panose="02010609060101010101" pitchFamily="49" charset="-122"/>
              </a:rPr>
              <a:t>OSI </a:t>
            </a:r>
            <a:r>
              <a:rPr lang="zh-CN" altLang="en-US" sz="2400" b="1">
                <a:solidFill>
                  <a:srgbClr val="C00000"/>
                </a:solidFill>
                <a:ea typeface="黑体" panose="02010609060101010101" pitchFamily="49" charset="-122"/>
              </a:rPr>
              <a:t>的体系结构</a:t>
            </a:r>
          </a:p>
        </p:txBody>
      </p:sp>
      <p:sp>
        <p:nvSpPr>
          <p:cNvPr id="190482" name="AutoShape 66"/>
          <p:cNvSpPr>
            <a:spLocks noChangeArrowheads="1"/>
          </p:cNvSpPr>
          <p:nvPr/>
        </p:nvSpPr>
        <p:spPr bwMode="auto">
          <a:xfrm>
            <a:off x="3511550" y="1606550"/>
            <a:ext cx="2668588" cy="3587750"/>
          </a:xfrm>
          <a:prstGeom prst="cube">
            <a:avLst>
              <a:gd name="adj" fmla="val 9144"/>
            </a:avLst>
          </a:prstGeom>
          <a:solidFill>
            <a:schemeClr val="bg1"/>
          </a:solidFill>
          <a:ln w="1905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83" name="Freeform 69"/>
          <p:cNvSpPr>
            <a:spLocks noChangeArrowheads="1"/>
          </p:cNvSpPr>
          <p:nvPr/>
        </p:nvSpPr>
        <p:spPr bwMode="auto">
          <a:xfrm>
            <a:off x="3503613" y="2981325"/>
            <a:ext cx="2673350" cy="279400"/>
          </a:xfrm>
          <a:custGeom>
            <a:avLst/>
            <a:gdLst>
              <a:gd name="T0" fmla="*/ 1684 w 1684"/>
              <a:gd name="T1" fmla="*/ 0 h 176"/>
              <a:gd name="T2" fmla="*/ 1528 w 1684"/>
              <a:gd name="T3" fmla="*/ 172 h 176"/>
              <a:gd name="T4" fmla="*/ 0 w 1684"/>
              <a:gd name="T5" fmla="*/ 176 h 176"/>
            </a:gdLst>
            <a:ahLst/>
            <a:cxnLst>
              <a:cxn ang="0">
                <a:pos x="T0" y="T1"/>
              </a:cxn>
              <a:cxn ang="0">
                <a:pos x="T2" y="T3"/>
              </a:cxn>
              <a:cxn ang="0">
                <a:pos x="T4" y="T5"/>
              </a:cxn>
            </a:cxnLst>
            <a:rect l="0" t="0" r="r" b="b"/>
            <a:pathLst>
              <a:path w="1684" h="176">
                <a:moveTo>
                  <a:pt x="1684" y="0"/>
                </a:moveTo>
                <a:lnTo>
                  <a:pt x="1528" y="172"/>
                </a:lnTo>
                <a:lnTo>
                  <a:pt x="0" y="17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84" name="Freeform 70"/>
          <p:cNvSpPr>
            <a:spLocks noChangeArrowheads="1"/>
          </p:cNvSpPr>
          <p:nvPr/>
        </p:nvSpPr>
        <p:spPr bwMode="auto">
          <a:xfrm>
            <a:off x="3505200" y="3457575"/>
            <a:ext cx="2665413" cy="295275"/>
          </a:xfrm>
          <a:custGeom>
            <a:avLst/>
            <a:gdLst>
              <a:gd name="T0" fmla="*/ 1679 w 1679"/>
              <a:gd name="T1" fmla="*/ 0 h 186"/>
              <a:gd name="T2" fmla="*/ 1525 w 1679"/>
              <a:gd name="T3" fmla="*/ 186 h 186"/>
              <a:gd name="T4" fmla="*/ 0 w 1679"/>
              <a:gd name="T5" fmla="*/ 183 h 186"/>
            </a:gdLst>
            <a:ahLst/>
            <a:cxnLst>
              <a:cxn ang="0">
                <a:pos x="T0" y="T1"/>
              </a:cxn>
              <a:cxn ang="0">
                <a:pos x="T2" y="T3"/>
              </a:cxn>
              <a:cxn ang="0">
                <a:pos x="T4" y="T5"/>
              </a:cxn>
            </a:cxnLst>
            <a:rect l="0" t="0" r="r" b="b"/>
            <a:pathLst>
              <a:path w="1679" h="186">
                <a:moveTo>
                  <a:pt x="1679" y="0"/>
                </a:moveTo>
                <a:lnTo>
                  <a:pt x="1525" y="186"/>
                </a:lnTo>
                <a:lnTo>
                  <a:pt x="0" y="183"/>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85" name="Freeform 71"/>
          <p:cNvSpPr>
            <a:spLocks noChangeArrowheads="1"/>
          </p:cNvSpPr>
          <p:nvPr/>
        </p:nvSpPr>
        <p:spPr bwMode="auto">
          <a:xfrm>
            <a:off x="3503613" y="3965575"/>
            <a:ext cx="2647950" cy="257175"/>
          </a:xfrm>
          <a:custGeom>
            <a:avLst/>
            <a:gdLst>
              <a:gd name="T0" fmla="*/ 1668 w 1668"/>
              <a:gd name="T1" fmla="*/ 0 h 162"/>
              <a:gd name="T2" fmla="*/ 1527 w 1668"/>
              <a:gd name="T3" fmla="*/ 160 h 162"/>
              <a:gd name="T4" fmla="*/ 0 w 1668"/>
              <a:gd name="T5" fmla="*/ 162 h 162"/>
            </a:gdLst>
            <a:ahLst/>
            <a:cxnLst>
              <a:cxn ang="0">
                <a:pos x="T0" y="T1"/>
              </a:cxn>
              <a:cxn ang="0">
                <a:pos x="T2" y="T3"/>
              </a:cxn>
              <a:cxn ang="0">
                <a:pos x="T4" y="T5"/>
              </a:cxn>
            </a:cxnLst>
            <a:rect l="0" t="0" r="r" b="b"/>
            <a:pathLst>
              <a:path w="1668" h="162">
                <a:moveTo>
                  <a:pt x="1668" y="0"/>
                </a:moveTo>
                <a:lnTo>
                  <a:pt x="1527" y="160"/>
                </a:lnTo>
                <a:lnTo>
                  <a:pt x="0" y="16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86" name="Text Box 73"/>
          <p:cNvSpPr txBox="1">
            <a:spLocks noChangeArrowheads="1"/>
          </p:cNvSpPr>
          <p:nvPr/>
        </p:nvSpPr>
        <p:spPr bwMode="auto">
          <a:xfrm>
            <a:off x="4289425" y="1965325"/>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应用层</a:t>
            </a:r>
          </a:p>
        </p:txBody>
      </p:sp>
      <p:sp>
        <p:nvSpPr>
          <p:cNvPr id="190487" name="Text Box 15"/>
          <p:cNvSpPr txBox="1">
            <a:spLocks noChangeArrowheads="1"/>
          </p:cNvSpPr>
          <p:nvPr/>
        </p:nvSpPr>
        <p:spPr bwMode="auto">
          <a:xfrm>
            <a:off x="4087813" y="4341813"/>
            <a:ext cx="1347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网络接口层</a:t>
            </a:r>
          </a:p>
        </p:txBody>
      </p:sp>
      <p:sp>
        <p:nvSpPr>
          <p:cNvPr id="190488" name="Text Box 9"/>
          <p:cNvSpPr txBox="1">
            <a:spLocks noChangeArrowheads="1"/>
          </p:cNvSpPr>
          <p:nvPr/>
        </p:nvSpPr>
        <p:spPr bwMode="auto">
          <a:xfrm>
            <a:off x="4195763" y="3878263"/>
            <a:ext cx="1165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网际层 </a:t>
            </a:r>
            <a:r>
              <a:rPr lang="en-US" altLang="zh-CN" b="1">
                <a:solidFill>
                  <a:srgbClr val="000099"/>
                </a:solidFill>
                <a:ea typeface="黑体" panose="02010609060101010101" pitchFamily="49" charset="-122"/>
              </a:rPr>
              <a:t>IP</a:t>
            </a:r>
          </a:p>
        </p:txBody>
      </p:sp>
      <p:sp>
        <p:nvSpPr>
          <p:cNvPr id="190489" name="Text Box 16"/>
          <p:cNvSpPr txBox="1">
            <a:spLocks noChangeArrowheads="1"/>
          </p:cNvSpPr>
          <p:nvPr/>
        </p:nvSpPr>
        <p:spPr bwMode="auto">
          <a:xfrm>
            <a:off x="3640138" y="2365375"/>
            <a:ext cx="22526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600" b="1">
                <a:solidFill>
                  <a:srgbClr val="000099"/>
                </a:solidFill>
                <a:ea typeface="黑体" panose="02010609060101010101" pitchFamily="49" charset="-122"/>
              </a:rPr>
              <a:t>(</a:t>
            </a:r>
            <a:r>
              <a:rPr lang="zh-CN" altLang="en-US" sz="1600" b="1">
                <a:solidFill>
                  <a:srgbClr val="000099"/>
                </a:solidFill>
                <a:ea typeface="黑体" panose="02010609060101010101" pitchFamily="49" charset="-122"/>
              </a:rPr>
              <a:t>各种应用层协议，如</a:t>
            </a:r>
          </a:p>
          <a:p>
            <a:pPr algn="ctr"/>
            <a:r>
              <a:rPr lang="en-US" altLang="zh-CN" sz="1600" b="1">
                <a:solidFill>
                  <a:srgbClr val="000099"/>
                </a:solidFill>
                <a:ea typeface="黑体" panose="02010609060101010101" pitchFamily="49" charset="-122"/>
              </a:rPr>
              <a:t>DNS, HTTP, SMTP </a:t>
            </a:r>
            <a:r>
              <a:rPr lang="zh-CN" altLang="zh-CN" sz="1600" b="1">
                <a:solidFill>
                  <a:srgbClr val="000099"/>
                </a:solidFill>
                <a:ea typeface="黑体" panose="02010609060101010101" pitchFamily="49" charset="-122"/>
              </a:rPr>
              <a:t>等</a:t>
            </a:r>
            <a:r>
              <a:rPr lang="en-US" altLang="zh-CN" sz="1600" b="1">
                <a:solidFill>
                  <a:srgbClr val="000099"/>
                </a:solidFill>
                <a:ea typeface="黑体" panose="02010609060101010101" pitchFamily="49" charset="-122"/>
              </a:rPr>
              <a:t>)</a:t>
            </a:r>
          </a:p>
        </p:txBody>
      </p:sp>
      <p:sp>
        <p:nvSpPr>
          <p:cNvPr id="190490" name="Text Box 41"/>
          <p:cNvSpPr txBox="1">
            <a:spLocks noChangeArrowheads="1"/>
          </p:cNvSpPr>
          <p:nvPr/>
        </p:nvSpPr>
        <p:spPr bwMode="auto">
          <a:xfrm>
            <a:off x="3505200" y="3333750"/>
            <a:ext cx="2406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运输层 </a:t>
            </a:r>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或 </a:t>
            </a:r>
            <a:r>
              <a:rPr lang="en-US" altLang="zh-CN" b="1">
                <a:solidFill>
                  <a:srgbClr val="000099"/>
                </a:solidFill>
                <a:ea typeface="黑体" panose="02010609060101010101" pitchFamily="49" charset="-122"/>
              </a:rPr>
              <a:t>UDP)</a:t>
            </a:r>
          </a:p>
        </p:txBody>
      </p:sp>
      <p:sp>
        <p:nvSpPr>
          <p:cNvPr id="190491" name="Text Box 12"/>
          <p:cNvSpPr txBox="1">
            <a:spLocks noChangeArrowheads="1"/>
          </p:cNvSpPr>
          <p:nvPr/>
        </p:nvSpPr>
        <p:spPr bwMode="auto">
          <a:xfrm>
            <a:off x="3524250" y="1222375"/>
            <a:ext cx="2801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C00000"/>
                </a:solidFill>
                <a:ea typeface="黑体" panose="02010609060101010101" pitchFamily="49" charset="-122"/>
              </a:rPr>
              <a:t>TCP/IP </a:t>
            </a:r>
            <a:r>
              <a:rPr lang="zh-CN" altLang="en-US" sz="2400" b="1">
                <a:solidFill>
                  <a:srgbClr val="C00000"/>
                </a:solidFill>
                <a:ea typeface="黑体" panose="02010609060101010101" pitchFamily="49" charset="-122"/>
              </a:rPr>
              <a:t>的体系结构</a:t>
            </a:r>
          </a:p>
        </p:txBody>
      </p:sp>
      <p:sp>
        <p:nvSpPr>
          <p:cNvPr id="190492" name="Text Box 95"/>
          <p:cNvSpPr txBox="1">
            <a:spLocks noChangeArrowheads="1"/>
          </p:cNvSpPr>
          <p:nvPr/>
        </p:nvSpPr>
        <p:spPr bwMode="auto">
          <a:xfrm>
            <a:off x="1608138" y="5241925"/>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(a)</a:t>
            </a:r>
          </a:p>
        </p:txBody>
      </p:sp>
      <p:sp>
        <p:nvSpPr>
          <p:cNvPr id="190493" name="Text Box 96"/>
          <p:cNvSpPr txBox="1">
            <a:spLocks noChangeArrowheads="1"/>
          </p:cNvSpPr>
          <p:nvPr/>
        </p:nvSpPr>
        <p:spPr bwMode="auto">
          <a:xfrm>
            <a:off x="4464050" y="5241925"/>
            <a:ext cx="481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(b)</a:t>
            </a:r>
          </a:p>
        </p:txBody>
      </p:sp>
      <p:sp>
        <p:nvSpPr>
          <p:cNvPr id="190494" name="Text Box 97"/>
          <p:cNvSpPr txBox="1">
            <a:spLocks noChangeArrowheads="1"/>
          </p:cNvSpPr>
          <p:nvPr/>
        </p:nvSpPr>
        <p:spPr bwMode="auto">
          <a:xfrm>
            <a:off x="7608888" y="5241925"/>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(c)</a:t>
            </a:r>
          </a:p>
        </p:txBody>
      </p:sp>
      <p:sp>
        <p:nvSpPr>
          <p:cNvPr id="190495" name="AutoShape 98"/>
          <p:cNvSpPr>
            <a:spLocks noChangeArrowheads="1"/>
          </p:cNvSpPr>
          <p:nvPr/>
        </p:nvSpPr>
        <p:spPr bwMode="auto">
          <a:xfrm>
            <a:off x="6786563" y="1641475"/>
            <a:ext cx="2054225" cy="3530600"/>
          </a:xfrm>
          <a:prstGeom prst="cube">
            <a:avLst>
              <a:gd name="adj" fmla="val 9144"/>
            </a:avLst>
          </a:prstGeom>
          <a:solidFill>
            <a:schemeClr val="bg1"/>
          </a:solidFill>
          <a:ln w="1905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96" name="Freeform 101"/>
          <p:cNvSpPr>
            <a:spLocks noChangeArrowheads="1"/>
          </p:cNvSpPr>
          <p:nvPr/>
        </p:nvSpPr>
        <p:spPr bwMode="auto">
          <a:xfrm>
            <a:off x="6786563" y="2982913"/>
            <a:ext cx="2038350"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97" name="Freeform 102"/>
          <p:cNvSpPr>
            <a:spLocks noChangeArrowheads="1"/>
          </p:cNvSpPr>
          <p:nvPr/>
        </p:nvSpPr>
        <p:spPr bwMode="auto">
          <a:xfrm>
            <a:off x="6786563" y="3462338"/>
            <a:ext cx="2038350" cy="263525"/>
          </a:xfrm>
          <a:custGeom>
            <a:avLst/>
            <a:gdLst>
              <a:gd name="T0" fmla="*/ 2049 w 2049"/>
              <a:gd name="T1" fmla="*/ 0 h 185"/>
              <a:gd name="T2" fmla="*/ 1873 w 2049"/>
              <a:gd name="T3" fmla="*/ 185 h 185"/>
              <a:gd name="T4" fmla="*/ 0 w 2049"/>
              <a:gd name="T5" fmla="*/ 182 h 185"/>
            </a:gdLst>
            <a:ahLst/>
            <a:cxnLst>
              <a:cxn ang="0">
                <a:pos x="T0" y="T1"/>
              </a:cxn>
              <a:cxn ang="0">
                <a:pos x="T2" y="T3"/>
              </a:cxn>
              <a:cxn ang="0">
                <a:pos x="T4" y="T5"/>
              </a:cxn>
            </a:cxnLst>
            <a:rect l="0" t="0" r="r" b="b"/>
            <a:pathLst>
              <a:path w="2049" h="185">
                <a:moveTo>
                  <a:pt x="2049" y="0"/>
                </a:moveTo>
                <a:lnTo>
                  <a:pt x="1873" y="185"/>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98" name="Freeform 103"/>
          <p:cNvSpPr>
            <a:spLocks noChangeArrowheads="1"/>
          </p:cNvSpPr>
          <p:nvPr/>
        </p:nvSpPr>
        <p:spPr bwMode="auto">
          <a:xfrm>
            <a:off x="6784975" y="3941763"/>
            <a:ext cx="2039938" cy="266700"/>
          </a:xfrm>
          <a:custGeom>
            <a:avLst/>
            <a:gdLst>
              <a:gd name="T0" fmla="*/ 2049 w 2049"/>
              <a:gd name="T1" fmla="*/ 0 h 187"/>
              <a:gd name="T2" fmla="*/ 1863 w 2049"/>
              <a:gd name="T3" fmla="*/ 187 h 187"/>
              <a:gd name="T4" fmla="*/ 0 w 2049"/>
              <a:gd name="T5" fmla="*/ 182 h 187"/>
            </a:gdLst>
            <a:ahLst/>
            <a:cxnLst>
              <a:cxn ang="0">
                <a:pos x="T0" y="T1"/>
              </a:cxn>
              <a:cxn ang="0">
                <a:pos x="T2" y="T3"/>
              </a:cxn>
              <a:cxn ang="0">
                <a:pos x="T4" y="T5"/>
              </a:cxn>
            </a:cxnLst>
            <a:rect l="0" t="0" r="r" b="b"/>
            <a:pathLst>
              <a:path w="2049" h="187">
                <a:moveTo>
                  <a:pt x="2049" y="0"/>
                </a:moveTo>
                <a:lnTo>
                  <a:pt x="1863" y="187"/>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499" name="Freeform 104"/>
          <p:cNvSpPr>
            <a:spLocks noChangeArrowheads="1"/>
          </p:cNvSpPr>
          <p:nvPr/>
        </p:nvSpPr>
        <p:spPr bwMode="auto">
          <a:xfrm>
            <a:off x="6783388" y="4421188"/>
            <a:ext cx="2039937" cy="260350"/>
          </a:xfrm>
          <a:custGeom>
            <a:avLst/>
            <a:gdLst>
              <a:gd name="T0" fmla="*/ 2049 w 2049"/>
              <a:gd name="T1" fmla="*/ 0 h 182"/>
              <a:gd name="T2" fmla="*/ 1870 w 2049"/>
              <a:gd name="T3" fmla="*/ 179 h 182"/>
              <a:gd name="T4" fmla="*/ 0 w 2049"/>
              <a:gd name="T5" fmla="*/ 182 h 182"/>
            </a:gdLst>
            <a:ahLst/>
            <a:cxnLst>
              <a:cxn ang="0">
                <a:pos x="T0" y="T1"/>
              </a:cxn>
              <a:cxn ang="0">
                <a:pos x="T2" y="T3"/>
              </a:cxn>
              <a:cxn ang="0">
                <a:pos x="T4" y="T5"/>
              </a:cxn>
            </a:cxnLst>
            <a:rect l="0" t="0" r="r" b="b"/>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90500" name="Text Box 106"/>
          <p:cNvSpPr txBox="1">
            <a:spLocks noChangeArrowheads="1"/>
          </p:cNvSpPr>
          <p:nvPr/>
        </p:nvSpPr>
        <p:spPr bwMode="auto">
          <a:xfrm>
            <a:off x="7470775" y="3338513"/>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运输层</a:t>
            </a:r>
          </a:p>
        </p:txBody>
      </p:sp>
      <p:sp>
        <p:nvSpPr>
          <p:cNvPr id="190501" name="Text Box 107"/>
          <p:cNvSpPr txBox="1">
            <a:spLocks noChangeArrowheads="1"/>
          </p:cNvSpPr>
          <p:nvPr/>
        </p:nvSpPr>
        <p:spPr bwMode="auto">
          <a:xfrm>
            <a:off x="7483475" y="3817938"/>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网络层</a:t>
            </a:r>
          </a:p>
        </p:txBody>
      </p:sp>
      <p:sp>
        <p:nvSpPr>
          <p:cNvPr id="190502" name="Text Box 108"/>
          <p:cNvSpPr txBox="1">
            <a:spLocks noChangeArrowheads="1"/>
          </p:cNvSpPr>
          <p:nvPr/>
        </p:nvSpPr>
        <p:spPr bwMode="auto">
          <a:xfrm>
            <a:off x="7483475" y="2376488"/>
            <a:ext cx="882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应用层</a:t>
            </a:r>
          </a:p>
        </p:txBody>
      </p:sp>
      <p:sp>
        <p:nvSpPr>
          <p:cNvPr id="190503" name="Text Box 110"/>
          <p:cNvSpPr txBox="1">
            <a:spLocks noChangeArrowheads="1"/>
          </p:cNvSpPr>
          <p:nvPr/>
        </p:nvSpPr>
        <p:spPr bwMode="auto">
          <a:xfrm>
            <a:off x="7324725" y="4271963"/>
            <a:ext cx="1347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数据链路层</a:t>
            </a:r>
          </a:p>
        </p:txBody>
      </p:sp>
      <p:sp>
        <p:nvSpPr>
          <p:cNvPr id="190504" name="Text Box 111"/>
          <p:cNvSpPr txBox="1">
            <a:spLocks noChangeArrowheads="1"/>
          </p:cNvSpPr>
          <p:nvPr/>
        </p:nvSpPr>
        <p:spPr bwMode="auto">
          <a:xfrm>
            <a:off x="7483475" y="4724400"/>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物理层</a:t>
            </a:r>
          </a:p>
        </p:txBody>
      </p:sp>
      <p:sp>
        <p:nvSpPr>
          <p:cNvPr id="190505" name="Text Box 112"/>
          <p:cNvSpPr txBox="1">
            <a:spLocks noChangeArrowheads="1"/>
          </p:cNvSpPr>
          <p:nvPr/>
        </p:nvSpPr>
        <p:spPr bwMode="auto">
          <a:xfrm>
            <a:off x="6881813" y="1749425"/>
            <a:ext cx="298450" cy="329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90000"/>
              </a:lnSpc>
            </a:pPr>
            <a:endParaRPr lang="en-US" altLang="zh-CN" sz="1600" b="1">
              <a:solidFill>
                <a:srgbClr val="000099"/>
              </a:solidFill>
              <a:ea typeface="黑体" panose="02010609060101010101" pitchFamily="49" charset="-122"/>
            </a:endParaRPr>
          </a:p>
          <a:p>
            <a:pPr>
              <a:lnSpc>
                <a:spcPct val="190000"/>
              </a:lnSpc>
            </a:pPr>
            <a:r>
              <a:rPr lang="en-US" altLang="zh-CN" sz="1600" b="1">
                <a:solidFill>
                  <a:srgbClr val="000099"/>
                </a:solidFill>
                <a:ea typeface="黑体" panose="02010609060101010101" pitchFamily="49" charset="-122"/>
              </a:rPr>
              <a:t>5</a:t>
            </a:r>
          </a:p>
          <a:p>
            <a:pPr>
              <a:lnSpc>
                <a:spcPct val="190000"/>
              </a:lnSpc>
            </a:pPr>
            <a:endParaRPr lang="en-US" altLang="zh-CN" sz="1600" b="1">
              <a:solidFill>
                <a:srgbClr val="000099"/>
              </a:solidFill>
              <a:ea typeface="黑体" panose="02010609060101010101" pitchFamily="49" charset="-122"/>
            </a:endParaRPr>
          </a:p>
          <a:p>
            <a:pPr>
              <a:lnSpc>
                <a:spcPct val="190000"/>
              </a:lnSpc>
            </a:pPr>
            <a:r>
              <a:rPr lang="en-US" altLang="zh-CN" sz="1600" b="1">
                <a:solidFill>
                  <a:srgbClr val="000099"/>
                </a:solidFill>
                <a:ea typeface="黑体" panose="02010609060101010101" pitchFamily="49" charset="-122"/>
              </a:rPr>
              <a:t>4</a:t>
            </a:r>
          </a:p>
          <a:p>
            <a:pPr>
              <a:lnSpc>
                <a:spcPct val="190000"/>
              </a:lnSpc>
            </a:pPr>
            <a:r>
              <a:rPr lang="en-US" altLang="zh-CN" sz="1600" b="1">
                <a:solidFill>
                  <a:srgbClr val="000099"/>
                </a:solidFill>
                <a:ea typeface="黑体" panose="02010609060101010101" pitchFamily="49" charset="-122"/>
              </a:rPr>
              <a:t>3</a:t>
            </a:r>
          </a:p>
          <a:p>
            <a:pPr>
              <a:lnSpc>
                <a:spcPct val="190000"/>
              </a:lnSpc>
            </a:pPr>
            <a:r>
              <a:rPr lang="en-US" altLang="zh-CN" sz="1600" b="1">
                <a:solidFill>
                  <a:srgbClr val="000099"/>
                </a:solidFill>
                <a:ea typeface="黑体" panose="02010609060101010101" pitchFamily="49" charset="-122"/>
              </a:rPr>
              <a:t>2</a:t>
            </a:r>
          </a:p>
          <a:p>
            <a:pPr>
              <a:lnSpc>
                <a:spcPct val="190000"/>
              </a:lnSpc>
            </a:pPr>
            <a:r>
              <a:rPr lang="en-US" altLang="zh-CN" sz="1600" b="1">
                <a:solidFill>
                  <a:srgbClr val="000099"/>
                </a:solidFill>
                <a:ea typeface="黑体" panose="02010609060101010101" pitchFamily="49" charset="-122"/>
              </a:rPr>
              <a:t>1</a:t>
            </a:r>
          </a:p>
        </p:txBody>
      </p:sp>
      <p:sp>
        <p:nvSpPr>
          <p:cNvPr id="190506" name="Text Box 113"/>
          <p:cNvSpPr txBox="1">
            <a:spLocks noChangeArrowheads="1"/>
          </p:cNvSpPr>
          <p:nvPr/>
        </p:nvSpPr>
        <p:spPr bwMode="auto">
          <a:xfrm>
            <a:off x="6602413" y="1196975"/>
            <a:ext cx="2970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C00000"/>
                </a:solidFill>
                <a:ea typeface="黑体" panose="02010609060101010101" pitchFamily="49" charset="-122"/>
              </a:rPr>
              <a:t>五层协议的体系结构</a:t>
            </a:r>
          </a:p>
        </p:txBody>
      </p:sp>
      <p:sp>
        <p:nvSpPr>
          <p:cNvPr id="190507" name="Text Box 15"/>
          <p:cNvSpPr txBox="1">
            <a:spLocks noChangeArrowheads="1"/>
          </p:cNvSpPr>
          <p:nvPr/>
        </p:nvSpPr>
        <p:spPr bwMode="auto">
          <a:xfrm>
            <a:off x="3386138" y="4702175"/>
            <a:ext cx="2667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solidFill>
                  <a:srgbClr val="000099"/>
                </a:solidFill>
                <a:ea typeface="黑体" panose="02010609060101010101" pitchFamily="49" charset="-122"/>
              </a:rPr>
              <a:t>（这一层并没有具体内容）</a:t>
            </a:r>
          </a:p>
        </p:txBody>
      </p:sp>
      <p:sp>
        <p:nvSpPr>
          <p:cNvPr id="190508" name="矩形 2"/>
          <p:cNvSpPr>
            <a:spLocks noChangeArrowheads="1"/>
          </p:cNvSpPr>
          <p:nvPr/>
        </p:nvSpPr>
        <p:spPr bwMode="auto">
          <a:xfrm>
            <a:off x="560388" y="5622925"/>
            <a:ext cx="92011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计算机网络体系结构：</a:t>
            </a:r>
            <a:endParaRPr lang="en-US" altLang="zh-CN" sz="2400" b="1">
              <a:ea typeface="黑体" panose="02010609060101010101" pitchFamily="49" charset="-122"/>
            </a:endParaRPr>
          </a:p>
          <a:p>
            <a:pPr algn="ctr" eaLnBrk="0" hangingPunct="0"/>
            <a:r>
              <a:rPr lang="en-US" altLang="zh-CN" sz="2400" b="1">
                <a:ea typeface="黑体" panose="02010609060101010101" pitchFamily="49" charset="-122"/>
              </a:rPr>
              <a:t>(a) OSI </a:t>
            </a:r>
            <a:r>
              <a:rPr lang="zh-CN" altLang="zh-CN" sz="2400" b="1">
                <a:ea typeface="黑体" panose="02010609060101010101" pitchFamily="49" charset="-122"/>
              </a:rPr>
              <a:t>的七层协议；</a:t>
            </a:r>
            <a:r>
              <a:rPr lang="en-US" altLang="zh-CN" sz="2400" b="1">
                <a:ea typeface="黑体" panose="02010609060101010101" pitchFamily="49" charset="-122"/>
              </a:rPr>
              <a:t>(b) TCP/IP </a:t>
            </a:r>
            <a:r>
              <a:rPr lang="zh-CN" altLang="zh-CN" sz="2400" b="1">
                <a:ea typeface="黑体" panose="02010609060101010101" pitchFamily="49" charset="-122"/>
              </a:rPr>
              <a:t>的四层协议；</a:t>
            </a:r>
            <a:r>
              <a:rPr lang="en-US" altLang="zh-CN" sz="2400" b="1">
                <a:ea typeface="黑体" panose="02010609060101010101" pitchFamily="49" charset="-122"/>
              </a:rPr>
              <a:t>(c) </a:t>
            </a:r>
            <a:r>
              <a:rPr lang="zh-CN" altLang="zh-CN" sz="2400" b="1">
                <a:ea typeface="黑体" panose="02010609060101010101" pitchFamily="49" charset="-122"/>
              </a:rPr>
              <a:t>五层协议</a:t>
            </a:r>
            <a:endParaRPr lang="zh-CN" altLang="en-US" sz="2400" b="1">
              <a:ea typeface="黑体" panose="02010609060101010101" pitchFamily="49" charset="-122"/>
            </a:endParaRPr>
          </a:p>
        </p:txBody>
      </p:sp>
      <p:sp>
        <p:nvSpPr>
          <p:cNvPr id="19050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EBE57B0-C05D-4D4A-A5C5-3A670631DC09}" type="slidenum">
              <a:rPr lang="zh-CN" altLang="en-US" smtClean="0"/>
              <a:pPr eaLnBrk="1" hangingPunct="1"/>
              <a:t>21</a:t>
            </a:fld>
            <a:endParaRPr lang="en-US" altLang="zh-CN" smtClean="0"/>
          </a:p>
        </p:txBody>
      </p:sp>
      <p:sp>
        <p:nvSpPr>
          <p:cNvPr id="190510" name="页脚占位符 4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2"/>
          <p:cNvSpPr>
            <a:spLocks noGrp="1" noChangeArrowheads="1"/>
          </p:cNvSpPr>
          <p:nvPr>
            <p:ph type="title"/>
          </p:nvPr>
        </p:nvSpPr>
        <p:spPr/>
        <p:txBody>
          <a:bodyPr/>
          <a:lstStyle/>
          <a:p>
            <a:pPr algn="ctr"/>
            <a:r>
              <a:rPr lang="zh-CN" altLang="en-US" smtClean="0">
                <a:ea typeface="黑体" panose="02010609060101010101" pitchFamily="49" charset="-122"/>
              </a:rPr>
              <a:t>五层协议的体系结构 </a:t>
            </a:r>
          </a:p>
        </p:txBody>
      </p:sp>
      <p:sp>
        <p:nvSpPr>
          <p:cNvPr id="114691" name="Rectangle 3"/>
          <p:cNvSpPr>
            <a:spLocks noGrp="1" noChangeArrowheads="1"/>
          </p:cNvSpPr>
          <p:nvPr>
            <p:ph type="body" idx="4294967295"/>
          </p:nvPr>
        </p:nvSpPr>
        <p:spPr>
          <a:xfrm>
            <a:off x="3729038" y="1773238"/>
            <a:ext cx="5845175" cy="3167062"/>
          </a:xfrm>
        </p:spPr>
        <p:txBody>
          <a:bodyPr/>
          <a:lstStyle/>
          <a:p>
            <a:pPr>
              <a:lnSpc>
                <a:spcPct val="125000"/>
              </a:lnSpc>
            </a:pPr>
            <a:r>
              <a:rPr lang="zh-CN" altLang="en-US" sz="2800" smtClean="0">
                <a:ea typeface="黑体" panose="02010609060101010101" pitchFamily="49" charset="-122"/>
              </a:rPr>
              <a:t>应用层 </a:t>
            </a:r>
            <a:r>
              <a:rPr lang="en-US" altLang="zh-CN" sz="2800" smtClean="0">
                <a:ea typeface="黑体" panose="02010609060101010101" pitchFamily="49" charset="-122"/>
              </a:rPr>
              <a:t>(application layer) </a:t>
            </a:r>
          </a:p>
          <a:p>
            <a:pPr>
              <a:lnSpc>
                <a:spcPct val="125000"/>
              </a:lnSpc>
            </a:pPr>
            <a:r>
              <a:rPr lang="zh-CN" altLang="en-US" sz="2800" smtClean="0">
                <a:ea typeface="黑体" panose="02010609060101010101" pitchFamily="49" charset="-122"/>
              </a:rPr>
              <a:t>运输层 </a:t>
            </a:r>
            <a:r>
              <a:rPr lang="en-US" altLang="zh-CN" sz="2800" smtClean="0">
                <a:ea typeface="黑体" panose="02010609060101010101" pitchFamily="49" charset="-122"/>
              </a:rPr>
              <a:t>(transport layer) </a:t>
            </a:r>
          </a:p>
          <a:p>
            <a:pPr>
              <a:lnSpc>
                <a:spcPct val="125000"/>
              </a:lnSpc>
            </a:pPr>
            <a:r>
              <a:rPr lang="zh-CN" altLang="en-US" sz="2800" smtClean="0">
                <a:ea typeface="黑体" panose="02010609060101010101" pitchFamily="49" charset="-122"/>
              </a:rPr>
              <a:t>网络层 </a:t>
            </a:r>
            <a:r>
              <a:rPr lang="en-US" altLang="zh-CN" sz="2800" smtClean="0">
                <a:ea typeface="黑体" panose="02010609060101010101" pitchFamily="49" charset="-122"/>
              </a:rPr>
              <a:t>(network layer) </a:t>
            </a:r>
          </a:p>
          <a:p>
            <a:pPr>
              <a:lnSpc>
                <a:spcPct val="125000"/>
              </a:lnSpc>
            </a:pPr>
            <a:r>
              <a:rPr lang="zh-CN" altLang="en-US" sz="2800" smtClean="0">
                <a:ea typeface="黑体" panose="02010609060101010101" pitchFamily="49" charset="-122"/>
              </a:rPr>
              <a:t>数据链路层 </a:t>
            </a:r>
            <a:r>
              <a:rPr lang="en-US" altLang="zh-CN" sz="2800" smtClean="0">
                <a:ea typeface="黑体" panose="02010609060101010101" pitchFamily="49" charset="-122"/>
              </a:rPr>
              <a:t>(data link layer) </a:t>
            </a:r>
          </a:p>
          <a:p>
            <a:pPr>
              <a:lnSpc>
                <a:spcPct val="125000"/>
              </a:lnSpc>
            </a:pPr>
            <a:r>
              <a:rPr lang="zh-CN" altLang="en-US" sz="2800" smtClean="0">
                <a:ea typeface="黑体" panose="02010609060101010101" pitchFamily="49" charset="-122"/>
              </a:rPr>
              <a:t>物理层 </a:t>
            </a:r>
            <a:r>
              <a:rPr lang="en-US" altLang="zh-CN" sz="2800" smtClean="0">
                <a:ea typeface="黑体" panose="02010609060101010101" pitchFamily="49" charset="-122"/>
              </a:rPr>
              <a:t>(physical layer) </a:t>
            </a:r>
          </a:p>
        </p:txBody>
      </p:sp>
      <p:sp>
        <p:nvSpPr>
          <p:cNvPr id="192515" name="Text Box 4"/>
          <p:cNvSpPr txBox="1">
            <a:spLocks noChangeArrowheads="1"/>
          </p:cNvSpPr>
          <p:nvPr/>
        </p:nvSpPr>
        <p:spPr bwMode="auto">
          <a:xfrm>
            <a:off x="1428750" y="3741738"/>
            <a:ext cx="12112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黑体" panose="02010609060101010101" pitchFamily="49" charset="-122"/>
              </a:rPr>
              <a:t>数据链路层</a:t>
            </a:r>
          </a:p>
        </p:txBody>
      </p:sp>
      <p:grpSp>
        <p:nvGrpSpPr>
          <p:cNvPr id="192516" name="Group 5"/>
          <p:cNvGrpSpPr>
            <a:grpSpLocks/>
          </p:cNvGrpSpPr>
          <p:nvPr/>
        </p:nvGrpSpPr>
        <p:grpSpPr bwMode="auto">
          <a:xfrm>
            <a:off x="1157288" y="1628775"/>
            <a:ext cx="2079625" cy="3240088"/>
            <a:chOff x="673" y="1389"/>
            <a:chExt cx="1535" cy="2041"/>
          </a:xfrm>
        </p:grpSpPr>
        <p:sp>
          <p:nvSpPr>
            <p:cNvPr id="192517" name="AutoShape 6"/>
            <p:cNvSpPr>
              <a:spLocks noChangeArrowheads="1"/>
            </p:cNvSpPr>
            <p:nvPr/>
          </p:nvSpPr>
          <p:spPr bwMode="auto">
            <a:xfrm>
              <a:off x="673" y="1389"/>
              <a:ext cx="1535" cy="2041"/>
            </a:xfrm>
            <a:prstGeom prst="cube">
              <a:avLst>
                <a:gd name="adj" fmla="val 9250"/>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18" name="Freeform 7"/>
            <p:cNvSpPr>
              <a:spLocks noChangeArrowheads="1"/>
            </p:cNvSpPr>
            <p:nvPr/>
          </p:nvSpPr>
          <p:spPr bwMode="auto">
            <a:xfrm>
              <a:off x="673" y="2920"/>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19" name="Freeform 8"/>
            <p:cNvSpPr>
              <a:spLocks noChangeArrowheads="1"/>
            </p:cNvSpPr>
            <p:nvPr/>
          </p:nvSpPr>
          <p:spPr bwMode="auto">
            <a:xfrm>
              <a:off x="673" y="2530"/>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20" name="Freeform 9"/>
            <p:cNvSpPr>
              <a:spLocks noChangeArrowheads="1"/>
            </p:cNvSpPr>
            <p:nvPr/>
          </p:nvSpPr>
          <p:spPr bwMode="auto">
            <a:xfrm>
              <a:off x="673" y="2147"/>
              <a:ext cx="1535" cy="13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92521" name="Freeform 10"/>
            <p:cNvSpPr>
              <a:spLocks noChangeArrowheads="1"/>
            </p:cNvSpPr>
            <p:nvPr/>
          </p:nvSpPr>
          <p:spPr bwMode="auto">
            <a:xfrm>
              <a:off x="673" y="1765"/>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114699" name="Text Box 11"/>
          <p:cNvSpPr txBox="1">
            <a:spLocks noChangeArrowheads="1"/>
          </p:cNvSpPr>
          <p:nvPr/>
        </p:nvSpPr>
        <p:spPr bwMode="auto">
          <a:xfrm>
            <a:off x="814388" y="1916113"/>
            <a:ext cx="166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5        </a:t>
            </a:r>
            <a:r>
              <a:rPr lang="zh-CN" altLang="en-US" sz="2000" b="1">
                <a:solidFill>
                  <a:srgbClr val="000099"/>
                </a:solidFill>
                <a:ea typeface="黑体" panose="02010609060101010101" pitchFamily="49" charset="-122"/>
              </a:rPr>
              <a:t>应用层</a:t>
            </a:r>
          </a:p>
        </p:txBody>
      </p:sp>
      <p:sp>
        <p:nvSpPr>
          <p:cNvPr id="114700" name="Text Box 12"/>
          <p:cNvSpPr txBox="1">
            <a:spLocks noChangeArrowheads="1"/>
          </p:cNvSpPr>
          <p:nvPr/>
        </p:nvSpPr>
        <p:spPr bwMode="auto">
          <a:xfrm>
            <a:off x="814388" y="2527300"/>
            <a:ext cx="166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        </a:t>
            </a:r>
            <a:r>
              <a:rPr lang="zh-CN" altLang="en-US" sz="2000" b="1">
                <a:solidFill>
                  <a:srgbClr val="000099"/>
                </a:solidFill>
                <a:ea typeface="黑体" panose="02010609060101010101" pitchFamily="49" charset="-122"/>
              </a:rPr>
              <a:t>运输层</a:t>
            </a:r>
          </a:p>
        </p:txBody>
      </p:sp>
      <p:sp>
        <p:nvSpPr>
          <p:cNvPr id="114701" name="Text Box 13"/>
          <p:cNvSpPr txBox="1">
            <a:spLocks noChangeArrowheads="1"/>
          </p:cNvSpPr>
          <p:nvPr/>
        </p:nvSpPr>
        <p:spPr bwMode="auto">
          <a:xfrm>
            <a:off x="814388" y="3140075"/>
            <a:ext cx="166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3        </a:t>
            </a:r>
            <a:r>
              <a:rPr lang="zh-CN" altLang="en-US" sz="2000" b="1">
                <a:solidFill>
                  <a:srgbClr val="000099"/>
                </a:solidFill>
                <a:ea typeface="黑体" panose="02010609060101010101" pitchFamily="49" charset="-122"/>
              </a:rPr>
              <a:t>网络层</a:t>
            </a:r>
          </a:p>
        </p:txBody>
      </p:sp>
      <p:sp>
        <p:nvSpPr>
          <p:cNvPr id="114702" name="Text Box 14"/>
          <p:cNvSpPr txBox="1">
            <a:spLocks noChangeArrowheads="1"/>
          </p:cNvSpPr>
          <p:nvPr/>
        </p:nvSpPr>
        <p:spPr bwMode="auto">
          <a:xfrm>
            <a:off x="814388" y="3752850"/>
            <a:ext cx="1900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    </a:t>
            </a:r>
            <a:r>
              <a:rPr lang="zh-CN" altLang="en-US" sz="2000" b="1">
                <a:solidFill>
                  <a:srgbClr val="000099"/>
                </a:solidFill>
                <a:ea typeface="黑体" panose="02010609060101010101" pitchFamily="49" charset="-122"/>
              </a:rPr>
              <a:t>数据链路层</a:t>
            </a:r>
          </a:p>
        </p:txBody>
      </p:sp>
      <p:sp>
        <p:nvSpPr>
          <p:cNvPr id="114703" name="Text Box 15"/>
          <p:cNvSpPr txBox="1">
            <a:spLocks noChangeArrowheads="1"/>
          </p:cNvSpPr>
          <p:nvPr/>
        </p:nvSpPr>
        <p:spPr bwMode="auto">
          <a:xfrm>
            <a:off x="814388" y="4365625"/>
            <a:ext cx="1666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        </a:t>
            </a:r>
            <a:r>
              <a:rPr lang="zh-CN" altLang="en-US" sz="2000" b="1">
                <a:solidFill>
                  <a:srgbClr val="000099"/>
                </a:solidFill>
                <a:ea typeface="黑体" panose="02010609060101010101" pitchFamily="49" charset="-122"/>
              </a:rPr>
              <a:t>物理层</a:t>
            </a:r>
          </a:p>
        </p:txBody>
      </p:sp>
      <p:sp>
        <p:nvSpPr>
          <p:cNvPr id="1925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8C9CF9-177D-4000-803C-B6B250E218F9}" type="slidenum">
              <a:rPr lang="zh-CN" altLang="en-US" smtClean="0"/>
              <a:pPr eaLnBrk="1" hangingPunct="1"/>
              <a:t>22</a:t>
            </a:fld>
            <a:endParaRPr lang="en-US" altLang="zh-CN" smtClean="0"/>
          </a:p>
        </p:txBody>
      </p:sp>
      <p:sp>
        <p:nvSpPr>
          <p:cNvPr id="1925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0"/>
                                  </p:stCondLst>
                                  <p:childTnLst>
                                    <p:set>
                                      <p:cBhvr>
                                        <p:cTn id="9" dur="1" fill="hold">
                                          <p:stCondLst>
                                            <p:cond delay="0"/>
                                          </p:stCondLst>
                                        </p:cTn>
                                        <p:tgtEl>
                                          <p:spTgt spid="114699"/>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14691">
                                            <p:txEl>
                                              <p:pRg st="1" end="1"/>
                                            </p:txEl>
                                          </p:spTgt>
                                        </p:tgtEl>
                                        <p:attrNameLst>
                                          <p:attrName>style.visibility</p:attrName>
                                        </p:attrNameLst>
                                      </p:cBhvr>
                                      <p:to>
                                        <p:strVal val="visible"/>
                                      </p:to>
                                    </p:set>
                                  </p:childTnLst>
                                </p:cTn>
                              </p:par>
                            </p:childTnLst>
                          </p:cTn>
                        </p:par>
                        <p:par>
                          <p:cTn id="14" fill="hold" nodeType="afterGroup">
                            <p:stCondLst>
                              <p:cond delay="1"/>
                            </p:stCondLst>
                            <p:childTnLst>
                              <p:par>
                                <p:cTn id="15" presetID="1" presetClass="entr" presetSubtype="0" fill="hold" grpId="0" nodeType="afterEffect">
                                  <p:stCondLst>
                                    <p:cond delay="0"/>
                                  </p:stCondLst>
                                  <p:childTnLst>
                                    <p:set>
                                      <p:cBhvr>
                                        <p:cTn id="16" dur="1" fill="hold">
                                          <p:stCondLst>
                                            <p:cond delay="0"/>
                                          </p:stCondLst>
                                        </p:cTn>
                                        <p:tgtEl>
                                          <p:spTgt spid="11470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4691">
                                            <p:txEl>
                                              <p:pRg st="2" end="2"/>
                                            </p:txEl>
                                          </p:spTgt>
                                        </p:tgtEl>
                                        <p:attrNameLst>
                                          <p:attrName>style.visibility</p:attrName>
                                        </p:attrNameLst>
                                      </p:cBhvr>
                                      <p:to>
                                        <p:strVal val="visible"/>
                                      </p:to>
                                    </p:set>
                                  </p:childTnLst>
                                </p:cTn>
                              </p:par>
                            </p:childTnLst>
                          </p:cTn>
                        </p:par>
                        <p:par>
                          <p:cTn id="21" fill="hold" nodeType="afterGroup">
                            <p:stCondLst>
                              <p:cond delay="1"/>
                            </p:stCondLst>
                            <p:childTnLst>
                              <p:par>
                                <p:cTn id="22" presetID="1" presetClass="entr" presetSubtype="0" fill="hold" grpId="0" nodeType="afterEffect">
                                  <p:stCondLst>
                                    <p:cond delay="0"/>
                                  </p:stCondLst>
                                  <p:childTnLst>
                                    <p:set>
                                      <p:cBhvr>
                                        <p:cTn id="23" dur="1" fill="hold">
                                          <p:stCondLst>
                                            <p:cond delay="0"/>
                                          </p:stCondLst>
                                        </p:cTn>
                                        <p:tgtEl>
                                          <p:spTgt spid="114701"/>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4691">
                                            <p:txEl>
                                              <p:pRg st="3" end="3"/>
                                            </p:txEl>
                                          </p:spTgt>
                                        </p:tgtEl>
                                        <p:attrNameLst>
                                          <p:attrName>style.visibility</p:attrName>
                                        </p:attrNameLst>
                                      </p:cBhvr>
                                      <p:to>
                                        <p:strVal val="visible"/>
                                      </p:to>
                                    </p:set>
                                  </p:childTnLst>
                                </p:cTn>
                              </p:par>
                            </p:childTnLst>
                          </p:cTn>
                        </p:par>
                        <p:par>
                          <p:cTn id="28" fill="hold" nodeType="afterGroup">
                            <p:stCondLst>
                              <p:cond delay="1"/>
                            </p:stCondLst>
                            <p:childTnLst>
                              <p:par>
                                <p:cTn id="29" presetID="1" presetClass="entr" presetSubtype="0" fill="hold" grpId="0" nodeType="afterEffect">
                                  <p:stCondLst>
                                    <p:cond delay="0"/>
                                  </p:stCondLst>
                                  <p:childTnLst>
                                    <p:set>
                                      <p:cBhvr>
                                        <p:cTn id="30" dur="1" fill="hold">
                                          <p:stCondLst>
                                            <p:cond delay="0"/>
                                          </p:stCondLst>
                                        </p:cTn>
                                        <p:tgtEl>
                                          <p:spTgt spid="11470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4691">
                                            <p:txEl>
                                              <p:pRg st="4" end="4"/>
                                            </p:txEl>
                                          </p:spTgt>
                                        </p:tgtEl>
                                        <p:attrNameLst>
                                          <p:attrName>style.visibility</p:attrName>
                                        </p:attrNameLst>
                                      </p:cBhvr>
                                      <p:to>
                                        <p:strVal val="visible"/>
                                      </p:to>
                                    </p:set>
                                  </p:childTnLst>
                                </p:cTn>
                              </p:par>
                            </p:childTnLst>
                          </p:cTn>
                        </p:par>
                        <p:par>
                          <p:cTn id="35" fill="hold" nodeType="afterGroup">
                            <p:stCondLst>
                              <p:cond delay="1"/>
                            </p:stCondLst>
                            <p:childTnLst>
                              <p:par>
                                <p:cTn id="36" presetID="1" presetClass="entr" presetSubtype="0" fill="hold" grpId="0" nodeType="afterEffect">
                                  <p:stCondLst>
                                    <p:cond delay="0"/>
                                  </p:stCondLst>
                                  <p:childTnLst>
                                    <p:set>
                                      <p:cBhvr>
                                        <p:cTn id="37" dur="1" fill="hold">
                                          <p:stCondLst>
                                            <p:cond delay="0"/>
                                          </p:stCondLst>
                                        </p:cTn>
                                        <p:tgtEl>
                                          <p:spTgt spid="114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P spid="114699" grpId="0"/>
      <p:bldP spid="114700" grpId="0"/>
      <p:bldP spid="114701" grpId="0"/>
      <p:bldP spid="114702" grpId="0"/>
      <p:bldP spid="11470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194562" name="AutoShape 3"/>
          <p:cNvSpPr>
            <a:spLocks noChangeArrowheads="1"/>
          </p:cNvSpPr>
          <p:nvPr/>
        </p:nvSpPr>
        <p:spPr bwMode="auto">
          <a:xfrm rot="16200000">
            <a:off x="4756944" y="870744"/>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3"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64" name="Text Box 5"/>
          <p:cNvSpPr txBox="1">
            <a:spLocks noChangeArrowheads="1"/>
          </p:cNvSpPr>
          <p:nvPr/>
        </p:nvSpPr>
        <p:spPr bwMode="auto">
          <a:xfrm>
            <a:off x="1065213" y="27400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4565" name="Text Box 6"/>
          <p:cNvSpPr txBox="1">
            <a:spLocks noChangeArrowheads="1"/>
          </p:cNvSpPr>
          <p:nvPr/>
        </p:nvSpPr>
        <p:spPr bwMode="auto">
          <a:xfrm>
            <a:off x="1065213" y="33670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4566" name="Text Box 7"/>
          <p:cNvSpPr txBox="1">
            <a:spLocks noChangeArrowheads="1"/>
          </p:cNvSpPr>
          <p:nvPr/>
        </p:nvSpPr>
        <p:spPr bwMode="auto">
          <a:xfrm>
            <a:off x="1065213" y="39243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4567" name="Text Box 8"/>
          <p:cNvSpPr txBox="1">
            <a:spLocks noChangeArrowheads="1"/>
          </p:cNvSpPr>
          <p:nvPr/>
        </p:nvSpPr>
        <p:spPr bwMode="auto">
          <a:xfrm>
            <a:off x="1065213" y="4483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4568" name="Text Box 9"/>
          <p:cNvSpPr txBox="1">
            <a:spLocks noChangeArrowheads="1"/>
          </p:cNvSpPr>
          <p:nvPr/>
        </p:nvSpPr>
        <p:spPr bwMode="auto">
          <a:xfrm>
            <a:off x="1065213" y="50498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4569"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0"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1"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2"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73"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74" name="Text Box 15"/>
          <p:cNvSpPr txBox="1">
            <a:spLocks noChangeArrowheads="1"/>
          </p:cNvSpPr>
          <p:nvPr/>
        </p:nvSpPr>
        <p:spPr bwMode="auto">
          <a:xfrm>
            <a:off x="8585200" y="2705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4575" name="Text Box 16"/>
          <p:cNvSpPr txBox="1">
            <a:spLocks noChangeArrowheads="1"/>
          </p:cNvSpPr>
          <p:nvPr/>
        </p:nvSpPr>
        <p:spPr bwMode="auto">
          <a:xfrm>
            <a:off x="8585200" y="33321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4576" name="Text Box 17"/>
          <p:cNvSpPr txBox="1">
            <a:spLocks noChangeArrowheads="1"/>
          </p:cNvSpPr>
          <p:nvPr/>
        </p:nvSpPr>
        <p:spPr bwMode="auto">
          <a:xfrm>
            <a:off x="8585200" y="3889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4577" name="Text Box 18"/>
          <p:cNvSpPr txBox="1">
            <a:spLocks noChangeArrowheads="1"/>
          </p:cNvSpPr>
          <p:nvPr/>
        </p:nvSpPr>
        <p:spPr bwMode="auto">
          <a:xfrm>
            <a:off x="8585200" y="44497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4578" name="Text Box 19"/>
          <p:cNvSpPr txBox="1">
            <a:spLocks noChangeArrowheads="1"/>
          </p:cNvSpPr>
          <p:nvPr/>
        </p:nvSpPr>
        <p:spPr bwMode="auto">
          <a:xfrm>
            <a:off x="8585200" y="50149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4579"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0"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1"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4582"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5736"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4584"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5"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4586"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4587"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5741" name="AutoShape 29"/>
          <p:cNvSpPr>
            <a:spLocks noChangeArrowheads="1"/>
          </p:cNvSpPr>
          <p:nvPr/>
        </p:nvSpPr>
        <p:spPr bwMode="auto">
          <a:xfrm flipV="1">
            <a:off x="708025" y="2547938"/>
            <a:ext cx="214313" cy="361950"/>
          </a:xfrm>
          <a:prstGeom prst="upArrow">
            <a:avLst>
              <a:gd name="adj1" fmla="val 50000"/>
              <a:gd name="adj2" fmla="val 45741"/>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15742"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15743" name="Text Box 31"/>
          <p:cNvSpPr txBox="1">
            <a:spLocks noChangeArrowheads="1"/>
          </p:cNvSpPr>
          <p:nvPr/>
        </p:nvSpPr>
        <p:spPr bwMode="auto">
          <a:xfrm>
            <a:off x="1754188" y="2062163"/>
            <a:ext cx="4186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应用进程数据先传送到应用层</a:t>
            </a:r>
          </a:p>
        </p:txBody>
      </p:sp>
      <p:sp>
        <p:nvSpPr>
          <p:cNvPr id="115744" name="Text Box 32"/>
          <p:cNvSpPr txBox="1">
            <a:spLocks noChangeArrowheads="1"/>
          </p:cNvSpPr>
          <p:nvPr/>
        </p:nvSpPr>
        <p:spPr bwMode="auto">
          <a:xfrm>
            <a:off x="1754188" y="2632075"/>
            <a:ext cx="49418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加上应用层首部，成为应用层 </a:t>
            </a:r>
            <a:r>
              <a:rPr lang="en-US" altLang="zh-CN" sz="2400" b="1">
                <a:solidFill>
                  <a:srgbClr val="333399"/>
                </a:solidFill>
                <a:ea typeface="黑体" panose="02010609060101010101" pitchFamily="49" charset="-122"/>
              </a:rPr>
              <a:t>PDU</a:t>
            </a:r>
          </a:p>
        </p:txBody>
      </p:sp>
      <p:sp>
        <p:nvSpPr>
          <p:cNvPr id="2" name="矩形 1"/>
          <p:cNvSpPr>
            <a:spLocks noChangeArrowheads="1"/>
          </p:cNvSpPr>
          <p:nvPr/>
        </p:nvSpPr>
        <p:spPr bwMode="auto">
          <a:xfrm>
            <a:off x="1784350" y="3125788"/>
            <a:ext cx="6337300" cy="1311275"/>
          </a:xfrm>
          <a:prstGeom prst="rect">
            <a:avLst/>
          </a:prstGeom>
          <a:solidFill>
            <a:srgbClr val="CCFFFF"/>
          </a:solidFill>
          <a:ln w="9525">
            <a:solidFill>
              <a:srgbClr val="000099"/>
            </a:solidFill>
            <a:round/>
            <a:headEnd/>
            <a:tailEnd/>
          </a:ln>
        </p:spPr>
        <p:txBody>
          <a:bodyPr>
            <a:spAutoFit/>
          </a:bodyPr>
          <a:lstStyle/>
          <a:p>
            <a:pPr eaLnBrk="0" hangingPunct="0">
              <a:lnSpc>
                <a:spcPct val="110000"/>
              </a:lnSpc>
            </a:pPr>
            <a:r>
              <a:rPr lang="en-US" altLang="zh-CN" sz="2400" b="1" u="sng" dirty="0">
                <a:solidFill>
                  <a:srgbClr val="000099"/>
                </a:solidFill>
                <a:ea typeface="黑体" panose="02010609060101010101" pitchFamily="49" charset="-122"/>
              </a:rPr>
              <a:t>PDU (Protocol Data Unit)</a:t>
            </a:r>
            <a:r>
              <a:rPr lang="zh-CN" altLang="en-US" sz="2400" b="1" dirty="0">
                <a:solidFill>
                  <a:srgbClr val="000099"/>
                </a:solidFill>
                <a:ea typeface="黑体" panose="02010609060101010101" pitchFamily="49" charset="-122"/>
              </a:rPr>
              <a:t>：协议数据单元。</a:t>
            </a:r>
            <a:endParaRPr lang="en-US" altLang="zh-CN" sz="2400" b="1" dirty="0">
              <a:solidFill>
                <a:srgbClr val="000099"/>
              </a:solidFill>
              <a:ea typeface="黑体" panose="02010609060101010101" pitchFamily="49" charset="-122"/>
            </a:endParaRPr>
          </a:p>
          <a:p>
            <a:pPr eaLnBrk="0" hangingPunct="0">
              <a:lnSpc>
                <a:spcPct val="110000"/>
              </a:lnSpc>
            </a:pPr>
            <a:r>
              <a:rPr lang="en-US" altLang="zh-CN" sz="2400" b="1" dirty="0">
                <a:solidFill>
                  <a:srgbClr val="000099"/>
                </a:solidFill>
                <a:ea typeface="黑体" panose="02010609060101010101" pitchFamily="49" charset="-122"/>
              </a:rPr>
              <a:t>OSI</a:t>
            </a:r>
            <a:r>
              <a:rPr lang="zh-CN" altLang="zh-CN" sz="2400" b="1" dirty="0">
                <a:solidFill>
                  <a:srgbClr val="000099"/>
                </a:solidFill>
                <a:ea typeface="黑体" panose="02010609060101010101" pitchFamily="49" charset="-122"/>
              </a:rPr>
              <a:t>参考模型把</a:t>
            </a:r>
            <a:r>
              <a:rPr lang="zh-CN" altLang="zh-CN" sz="2400" b="1" dirty="0">
                <a:solidFill>
                  <a:srgbClr val="C00000"/>
                </a:solidFill>
                <a:ea typeface="黑体" panose="02010609060101010101" pitchFamily="49" charset="-122"/>
              </a:rPr>
              <a:t>对等层次</a:t>
            </a:r>
            <a:r>
              <a:rPr lang="zh-CN" altLang="zh-CN" sz="2400" b="1" dirty="0">
                <a:solidFill>
                  <a:srgbClr val="000099"/>
                </a:solidFill>
                <a:ea typeface="黑体" panose="02010609060101010101" pitchFamily="49" charset="-122"/>
              </a:rPr>
              <a:t>之间传送的数据单位称为该层的协议数据单元</a:t>
            </a:r>
            <a:r>
              <a:rPr lang="en-US" altLang="zh-CN" sz="2400" b="1" dirty="0">
                <a:solidFill>
                  <a:srgbClr val="000099"/>
                </a:solidFill>
                <a:ea typeface="黑体" panose="02010609060101010101" pitchFamily="49" charset="-122"/>
              </a:rPr>
              <a:t> PDU</a:t>
            </a:r>
            <a:r>
              <a:rPr lang="zh-CN" altLang="en-US" sz="2400" b="1" dirty="0">
                <a:solidFill>
                  <a:srgbClr val="000099"/>
                </a:solidFill>
                <a:ea typeface="黑体" panose="02010609060101010101" pitchFamily="49" charset="-122"/>
              </a:rPr>
              <a:t>。</a:t>
            </a:r>
            <a:endParaRPr lang="en-US" altLang="zh-CN" sz="2400" b="1" dirty="0">
              <a:solidFill>
                <a:srgbClr val="000099"/>
              </a:solidFill>
              <a:ea typeface="黑体" panose="02010609060101010101" pitchFamily="49" charset="-122"/>
            </a:endParaRPr>
          </a:p>
        </p:txBody>
      </p:sp>
      <p:sp>
        <p:nvSpPr>
          <p:cNvPr id="19459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8CD99A-346D-4773-87AB-CC9DBA0A3C7D}" type="slidenum">
              <a:rPr lang="zh-CN" altLang="en-US" smtClean="0"/>
              <a:pPr eaLnBrk="1" hangingPunct="1"/>
              <a:t>23</a:t>
            </a:fld>
            <a:endParaRPr lang="en-US" altLang="zh-CN" smtClean="0"/>
          </a:p>
        </p:txBody>
      </p:sp>
      <p:sp>
        <p:nvSpPr>
          <p:cNvPr id="19459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43"/>
                                        </p:tgtEl>
                                        <p:attrNameLst>
                                          <p:attrName>style.visibility</p:attrName>
                                        </p:attrNameLst>
                                      </p:cBhvr>
                                      <p:to>
                                        <p:strVal val="visible"/>
                                      </p:to>
                                    </p:set>
                                  </p:childTnLst>
                                </p:cTn>
                              </p:par>
                            </p:childTnLst>
                          </p:cTn>
                        </p:par>
                        <p:par>
                          <p:cTn id="7" fill="hold" nodeType="afterGroup">
                            <p:stCondLst>
                              <p:cond delay="1"/>
                            </p:stCondLst>
                            <p:childTnLst>
                              <p:par>
                                <p:cTn id="8" presetID="22" presetClass="entr" presetSubtype="1" fill="hold" grpId="0" nodeType="afterEffect">
                                  <p:stCondLst>
                                    <p:cond delay="0"/>
                                  </p:stCondLst>
                                  <p:childTnLst>
                                    <p:set>
                                      <p:cBhvr>
                                        <p:cTn id="9" dur="1" fill="hold">
                                          <p:stCondLst>
                                            <p:cond delay="0"/>
                                          </p:stCondLst>
                                        </p:cTn>
                                        <p:tgtEl>
                                          <p:spTgt spid="115741"/>
                                        </p:tgtEl>
                                        <p:attrNameLst>
                                          <p:attrName>style.visibility</p:attrName>
                                        </p:attrNameLst>
                                      </p:cBhvr>
                                      <p:to>
                                        <p:strVal val="visible"/>
                                      </p:to>
                                    </p:set>
                                    <p:animEffect transition="in" filter="wipe(up)">
                                      <p:cBhvr>
                                        <p:cTn id="10" dur="1000"/>
                                        <p:tgtEl>
                                          <p:spTgt spid="115741"/>
                                        </p:tgtEl>
                                      </p:cBhvr>
                                    </p:animEffect>
                                  </p:childTnLst>
                                </p:cTn>
                              </p:par>
                            </p:childTnLst>
                          </p:cTn>
                        </p:par>
                        <p:par>
                          <p:cTn id="11" fill="hold" nodeType="afterGroup">
                            <p:stCondLst>
                              <p:cond delay="1001"/>
                            </p:stCondLst>
                            <p:childTnLst>
                              <p:par>
                                <p:cTn id="12" presetID="1" presetClass="entr" presetSubtype="0" fill="hold" grpId="0" nodeType="afterEffect">
                                  <p:stCondLst>
                                    <p:cond delay="0"/>
                                  </p:stCondLst>
                                  <p:childTnLst>
                                    <p:set>
                                      <p:cBhvr>
                                        <p:cTn id="13" dur="1" fill="hold">
                                          <p:stCondLst>
                                            <p:cond delay="0"/>
                                          </p:stCondLst>
                                        </p:cTn>
                                        <p:tgtEl>
                                          <p:spTgt spid="11574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41" grpId="0" animBg="1"/>
      <p:bldP spid="115743" grpId="0"/>
      <p:bldP spid="115744" grpId="0"/>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196610" name="AutoShape 3"/>
          <p:cNvSpPr>
            <a:spLocks noChangeArrowheads="1"/>
          </p:cNvSpPr>
          <p:nvPr/>
        </p:nvSpPr>
        <p:spPr bwMode="auto">
          <a:xfrm rot="16200000">
            <a:off x="4756944" y="870744"/>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6611"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6612" name="Text Box 5"/>
          <p:cNvSpPr txBox="1">
            <a:spLocks noChangeArrowheads="1"/>
          </p:cNvSpPr>
          <p:nvPr/>
        </p:nvSpPr>
        <p:spPr bwMode="auto">
          <a:xfrm>
            <a:off x="1025525" y="27400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6613" name="Text Box 6"/>
          <p:cNvSpPr txBox="1">
            <a:spLocks noChangeArrowheads="1"/>
          </p:cNvSpPr>
          <p:nvPr/>
        </p:nvSpPr>
        <p:spPr bwMode="auto">
          <a:xfrm>
            <a:off x="1025525" y="33670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6614" name="Text Box 7"/>
          <p:cNvSpPr txBox="1">
            <a:spLocks noChangeArrowheads="1"/>
          </p:cNvSpPr>
          <p:nvPr/>
        </p:nvSpPr>
        <p:spPr bwMode="auto">
          <a:xfrm>
            <a:off x="1025525" y="39243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6615" name="Text Box 8"/>
          <p:cNvSpPr txBox="1">
            <a:spLocks noChangeArrowheads="1"/>
          </p:cNvSpPr>
          <p:nvPr/>
        </p:nvSpPr>
        <p:spPr bwMode="auto">
          <a:xfrm>
            <a:off x="1025525" y="4483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6616" name="Text Box 9"/>
          <p:cNvSpPr txBox="1">
            <a:spLocks noChangeArrowheads="1"/>
          </p:cNvSpPr>
          <p:nvPr/>
        </p:nvSpPr>
        <p:spPr bwMode="auto">
          <a:xfrm>
            <a:off x="1025525" y="50498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6617"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18"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19"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20"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21"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6622" name="Text Box 15"/>
          <p:cNvSpPr txBox="1">
            <a:spLocks noChangeArrowheads="1"/>
          </p:cNvSpPr>
          <p:nvPr/>
        </p:nvSpPr>
        <p:spPr bwMode="auto">
          <a:xfrm>
            <a:off x="8585200" y="2705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6623" name="Text Box 16"/>
          <p:cNvSpPr txBox="1">
            <a:spLocks noChangeArrowheads="1"/>
          </p:cNvSpPr>
          <p:nvPr/>
        </p:nvSpPr>
        <p:spPr bwMode="auto">
          <a:xfrm>
            <a:off x="8585200" y="33321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6624" name="Text Box 17"/>
          <p:cNvSpPr txBox="1">
            <a:spLocks noChangeArrowheads="1"/>
          </p:cNvSpPr>
          <p:nvPr/>
        </p:nvSpPr>
        <p:spPr bwMode="auto">
          <a:xfrm>
            <a:off x="8585200" y="3889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6625" name="Text Box 18"/>
          <p:cNvSpPr txBox="1">
            <a:spLocks noChangeArrowheads="1"/>
          </p:cNvSpPr>
          <p:nvPr/>
        </p:nvSpPr>
        <p:spPr bwMode="auto">
          <a:xfrm>
            <a:off x="8585200" y="44497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6626" name="Text Box 19"/>
          <p:cNvSpPr txBox="1">
            <a:spLocks noChangeArrowheads="1"/>
          </p:cNvSpPr>
          <p:nvPr/>
        </p:nvSpPr>
        <p:spPr bwMode="auto">
          <a:xfrm>
            <a:off x="8585200" y="50149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6627"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28"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29"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6630"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6760"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6632"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6633"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6634"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6635"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6765" name="AutoShape 29"/>
          <p:cNvSpPr>
            <a:spLocks noChangeArrowheads="1"/>
          </p:cNvSpPr>
          <p:nvPr/>
        </p:nvSpPr>
        <p:spPr bwMode="auto">
          <a:xfrm flipV="1">
            <a:off x="708025" y="3067050"/>
            <a:ext cx="214313" cy="361950"/>
          </a:xfrm>
          <a:prstGeom prst="upArrow">
            <a:avLst>
              <a:gd name="adj1" fmla="val 50000"/>
              <a:gd name="adj2" fmla="val 45741"/>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16766"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96638" name="Text Box 31"/>
          <p:cNvSpPr txBox="1">
            <a:spLocks noChangeArrowheads="1"/>
          </p:cNvSpPr>
          <p:nvPr/>
        </p:nvSpPr>
        <p:spPr bwMode="auto">
          <a:xfrm>
            <a:off x="1754188" y="2781300"/>
            <a:ext cx="4083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应用层 </a:t>
            </a:r>
            <a:r>
              <a:rPr lang="en-US" altLang="zh-CN" sz="2400" b="1">
                <a:solidFill>
                  <a:srgbClr val="333399"/>
                </a:solidFill>
                <a:ea typeface="黑体" panose="02010609060101010101" pitchFamily="49" charset="-122"/>
              </a:rPr>
              <a:t>PDU </a:t>
            </a:r>
            <a:r>
              <a:rPr lang="zh-CN" altLang="en-US" sz="2400" b="1">
                <a:solidFill>
                  <a:srgbClr val="333399"/>
                </a:solidFill>
                <a:ea typeface="黑体" panose="02010609060101010101" pitchFamily="49" charset="-122"/>
              </a:rPr>
              <a:t>再传送到运输层</a:t>
            </a:r>
          </a:p>
        </p:txBody>
      </p:sp>
      <p:sp>
        <p:nvSpPr>
          <p:cNvPr id="116768" name="Text Box 32"/>
          <p:cNvSpPr txBox="1">
            <a:spLocks noChangeArrowheads="1"/>
          </p:cNvSpPr>
          <p:nvPr/>
        </p:nvSpPr>
        <p:spPr bwMode="auto">
          <a:xfrm>
            <a:off x="1754188" y="3313113"/>
            <a:ext cx="4800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加上运输层首部，成为运输层报文</a:t>
            </a:r>
            <a:endParaRPr lang="zh-CN" altLang="en-US" sz="3600" b="1">
              <a:solidFill>
                <a:srgbClr val="333399"/>
              </a:solidFill>
              <a:ea typeface="黑体" panose="02010609060101010101" pitchFamily="49" charset="-122"/>
            </a:endParaRPr>
          </a:p>
        </p:txBody>
      </p:sp>
      <p:sp>
        <p:nvSpPr>
          <p:cNvPr id="19664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C1626B-32F0-4A6F-8473-F061E7D25C9E}" type="slidenum">
              <a:rPr lang="zh-CN" altLang="en-US" smtClean="0"/>
              <a:pPr eaLnBrk="1" hangingPunct="1"/>
              <a:t>24</a:t>
            </a:fld>
            <a:endParaRPr lang="en-US" altLang="zh-CN" smtClean="0"/>
          </a:p>
        </p:txBody>
      </p:sp>
      <p:sp>
        <p:nvSpPr>
          <p:cNvPr id="19664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6765"/>
                                        </p:tgtEl>
                                        <p:attrNameLst>
                                          <p:attrName>style.visibility</p:attrName>
                                        </p:attrNameLst>
                                      </p:cBhvr>
                                      <p:to>
                                        <p:strVal val="visible"/>
                                      </p:to>
                                    </p:set>
                                    <p:animEffect transition="in" filter="wipe(up)">
                                      <p:cBhvr>
                                        <p:cTn id="7" dur="1000"/>
                                        <p:tgtEl>
                                          <p:spTgt spid="116765"/>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6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5" grpId="0" animBg="1"/>
      <p:bldP spid="11676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198658" name="AutoShape 3"/>
          <p:cNvSpPr>
            <a:spLocks noChangeArrowheads="1"/>
          </p:cNvSpPr>
          <p:nvPr/>
        </p:nvSpPr>
        <p:spPr bwMode="auto">
          <a:xfrm rot="16200000">
            <a:off x="4756944" y="870744"/>
            <a:ext cx="417512"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8659" name="AutoShape 4"/>
          <p:cNvSpPr>
            <a:spLocks noChangeArrowheads="1"/>
          </p:cNvSpPr>
          <p:nvPr/>
        </p:nvSpPr>
        <p:spPr bwMode="auto">
          <a:xfrm>
            <a:off x="577850" y="2560638"/>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8660" name="Text Box 5"/>
          <p:cNvSpPr txBox="1">
            <a:spLocks noChangeArrowheads="1"/>
          </p:cNvSpPr>
          <p:nvPr/>
        </p:nvSpPr>
        <p:spPr bwMode="auto">
          <a:xfrm>
            <a:off x="1025525" y="27400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8661" name="Text Box 6"/>
          <p:cNvSpPr txBox="1">
            <a:spLocks noChangeArrowheads="1"/>
          </p:cNvSpPr>
          <p:nvPr/>
        </p:nvSpPr>
        <p:spPr bwMode="auto">
          <a:xfrm>
            <a:off x="1025525" y="33670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8662" name="Text Box 7"/>
          <p:cNvSpPr txBox="1">
            <a:spLocks noChangeArrowheads="1"/>
          </p:cNvSpPr>
          <p:nvPr/>
        </p:nvSpPr>
        <p:spPr bwMode="auto">
          <a:xfrm>
            <a:off x="1025525" y="39243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8663" name="Text Box 8"/>
          <p:cNvSpPr txBox="1">
            <a:spLocks noChangeArrowheads="1"/>
          </p:cNvSpPr>
          <p:nvPr/>
        </p:nvSpPr>
        <p:spPr bwMode="auto">
          <a:xfrm>
            <a:off x="1025525" y="4483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8664" name="Text Box 9"/>
          <p:cNvSpPr txBox="1">
            <a:spLocks noChangeArrowheads="1"/>
          </p:cNvSpPr>
          <p:nvPr/>
        </p:nvSpPr>
        <p:spPr bwMode="auto">
          <a:xfrm>
            <a:off x="1025525" y="50498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8665" name="Freeform 10"/>
          <p:cNvSpPr>
            <a:spLocks noChangeArrowheads="1"/>
          </p:cNvSpPr>
          <p:nvPr/>
        </p:nvSpPr>
        <p:spPr bwMode="auto">
          <a:xfrm>
            <a:off x="577850" y="3162300"/>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66" name="Freeform 11"/>
          <p:cNvSpPr>
            <a:spLocks noChangeArrowheads="1"/>
          </p:cNvSpPr>
          <p:nvPr/>
        </p:nvSpPr>
        <p:spPr bwMode="auto">
          <a:xfrm>
            <a:off x="588963" y="3736975"/>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67" name="Freeform 12"/>
          <p:cNvSpPr>
            <a:spLocks noChangeArrowheads="1"/>
          </p:cNvSpPr>
          <p:nvPr/>
        </p:nvSpPr>
        <p:spPr bwMode="auto">
          <a:xfrm>
            <a:off x="563563" y="4313238"/>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68" name="Freeform 13"/>
          <p:cNvSpPr>
            <a:spLocks noChangeArrowheads="1"/>
          </p:cNvSpPr>
          <p:nvPr/>
        </p:nvSpPr>
        <p:spPr bwMode="auto">
          <a:xfrm>
            <a:off x="563563" y="4905375"/>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69" name="AutoShape 14"/>
          <p:cNvSpPr>
            <a:spLocks noChangeArrowheads="1"/>
          </p:cNvSpPr>
          <p:nvPr/>
        </p:nvSpPr>
        <p:spPr bwMode="auto">
          <a:xfrm>
            <a:off x="8543925" y="2527300"/>
            <a:ext cx="908050" cy="3030538"/>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8670" name="Text Box 15"/>
          <p:cNvSpPr txBox="1">
            <a:spLocks noChangeArrowheads="1"/>
          </p:cNvSpPr>
          <p:nvPr/>
        </p:nvSpPr>
        <p:spPr bwMode="auto">
          <a:xfrm>
            <a:off x="8585200" y="27051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198671" name="Text Box 16"/>
          <p:cNvSpPr txBox="1">
            <a:spLocks noChangeArrowheads="1"/>
          </p:cNvSpPr>
          <p:nvPr/>
        </p:nvSpPr>
        <p:spPr bwMode="auto">
          <a:xfrm>
            <a:off x="8585200" y="33321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198672" name="Text Box 17"/>
          <p:cNvSpPr txBox="1">
            <a:spLocks noChangeArrowheads="1"/>
          </p:cNvSpPr>
          <p:nvPr/>
        </p:nvSpPr>
        <p:spPr bwMode="auto">
          <a:xfrm>
            <a:off x="8585200" y="3889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198673" name="Text Box 18"/>
          <p:cNvSpPr txBox="1">
            <a:spLocks noChangeArrowheads="1"/>
          </p:cNvSpPr>
          <p:nvPr/>
        </p:nvSpPr>
        <p:spPr bwMode="auto">
          <a:xfrm>
            <a:off x="8585200" y="44497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198674" name="Text Box 19"/>
          <p:cNvSpPr txBox="1">
            <a:spLocks noChangeArrowheads="1"/>
          </p:cNvSpPr>
          <p:nvPr/>
        </p:nvSpPr>
        <p:spPr bwMode="auto">
          <a:xfrm>
            <a:off x="8585200" y="50149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198675" name="Freeform 20"/>
          <p:cNvSpPr>
            <a:spLocks noChangeArrowheads="1"/>
          </p:cNvSpPr>
          <p:nvPr/>
        </p:nvSpPr>
        <p:spPr bwMode="auto">
          <a:xfrm>
            <a:off x="8543925" y="3127375"/>
            <a:ext cx="919163" cy="61913"/>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76" name="Freeform 21"/>
          <p:cNvSpPr>
            <a:spLocks noChangeArrowheads="1"/>
          </p:cNvSpPr>
          <p:nvPr/>
        </p:nvSpPr>
        <p:spPr bwMode="auto">
          <a:xfrm>
            <a:off x="8555038" y="3702050"/>
            <a:ext cx="917575" cy="61913"/>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77" name="Freeform 22"/>
          <p:cNvSpPr>
            <a:spLocks noChangeArrowheads="1"/>
          </p:cNvSpPr>
          <p:nvPr/>
        </p:nvSpPr>
        <p:spPr bwMode="auto">
          <a:xfrm>
            <a:off x="8529638" y="4278313"/>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98678" name="Freeform 23"/>
          <p:cNvSpPr>
            <a:spLocks noChangeArrowheads="1"/>
          </p:cNvSpPr>
          <p:nvPr/>
        </p:nvSpPr>
        <p:spPr bwMode="auto">
          <a:xfrm>
            <a:off x="8529638" y="4870450"/>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7784"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198680" name="AutoShape 25"/>
          <p:cNvSpPr>
            <a:spLocks noChangeArrowheads="1"/>
          </p:cNvSpPr>
          <p:nvPr/>
        </p:nvSpPr>
        <p:spPr bwMode="auto">
          <a:xfrm>
            <a:off x="8704263" y="20304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8681" name="Text Box 26"/>
          <p:cNvSpPr txBox="1">
            <a:spLocks noChangeArrowheads="1"/>
          </p:cNvSpPr>
          <p:nvPr/>
        </p:nvSpPr>
        <p:spPr bwMode="auto">
          <a:xfrm>
            <a:off x="8696325" y="2135188"/>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198682" name="AutoShape 27"/>
          <p:cNvSpPr>
            <a:spLocks noChangeArrowheads="1"/>
          </p:cNvSpPr>
          <p:nvPr/>
        </p:nvSpPr>
        <p:spPr bwMode="auto">
          <a:xfrm>
            <a:off x="582613" y="2073275"/>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198683" name="Text Box 28"/>
          <p:cNvSpPr txBox="1">
            <a:spLocks noChangeArrowheads="1"/>
          </p:cNvSpPr>
          <p:nvPr/>
        </p:nvSpPr>
        <p:spPr bwMode="auto">
          <a:xfrm>
            <a:off x="604838" y="2193925"/>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7789" name="AutoShape 29"/>
          <p:cNvSpPr>
            <a:spLocks noChangeArrowheads="1"/>
          </p:cNvSpPr>
          <p:nvPr/>
        </p:nvSpPr>
        <p:spPr bwMode="auto">
          <a:xfrm flipV="1">
            <a:off x="708025" y="3643313"/>
            <a:ext cx="214313" cy="361950"/>
          </a:xfrm>
          <a:prstGeom prst="upArrow">
            <a:avLst>
              <a:gd name="adj1" fmla="val 50000"/>
              <a:gd name="adj2" fmla="val 45741"/>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17790"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98686" name="Text Box 31"/>
          <p:cNvSpPr txBox="1">
            <a:spLocks noChangeArrowheads="1"/>
          </p:cNvSpPr>
          <p:nvPr/>
        </p:nvSpPr>
        <p:spPr bwMode="auto">
          <a:xfrm>
            <a:off x="1676400" y="3338513"/>
            <a:ext cx="38782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运输层报文再传送到网络层</a:t>
            </a:r>
          </a:p>
        </p:txBody>
      </p:sp>
      <p:sp>
        <p:nvSpPr>
          <p:cNvPr id="117792" name="Text Box 32"/>
          <p:cNvSpPr txBox="1">
            <a:spLocks noChangeArrowheads="1"/>
          </p:cNvSpPr>
          <p:nvPr/>
        </p:nvSpPr>
        <p:spPr bwMode="auto">
          <a:xfrm>
            <a:off x="1676400" y="3933825"/>
            <a:ext cx="6180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加上网络层首部，成为 </a:t>
            </a:r>
            <a:r>
              <a:rPr lang="en-US" altLang="zh-CN" sz="2400" b="1">
                <a:solidFill>
                  <a:srgbClr val="333399"/>
                </a:solidFill>
                <a:ea typeface="黑体" panose="02010609060101010101" pitchFamily="49" charset="-122"/>
              </a:rPr>
              <a:t>IP </a:t>
            </a:r>
            <a:r>
              <a:rPr lang="zh-CN" altLang="en-US" sz="2400" b="1">
                <a:solidFill>
                  <a:srgbClr val="333399"/>
                </a:solidFill>
                <a:ea typeface="黑体" panose="02010609060101010101" pitchFamily="49" charset="-122"/>
              </a:rPr>
              <a:t>数据报（或分组）</a:t>
            </a:r>
          </a:p>
        </p:txBody>
      </p:sp>
      <p:sp>
        <p:nvSpPr>
          <p:cNvPr id="19868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E4B92C-9365-4CDC-ABF8-572A90A98DC5}" type="slidenum">
              <a:rPr lang="zh-CN" altLang="en-US" smtClean="0"/>
              <a:pPr eaLnBrk="1" hangingPunct="1"/>
              <a:t>25</a:t>
            </a:fld>
            <a:endParaRPr lang="en-US" altLang="zh-CN" smtClean="0"/>
          </a:p>
        </p:txBody>
      </p:sp>
      <p:sp>
        <p:nvSpPr>
          <p:cNvPr id="19868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7789"/>
                                        </p:tgtEl>
                                        <p:attrNameLst>
                                          <p:attrName>style.visibility</p:attrName>
                                        </p:attrNameLst>
                                      </p:cBhvr>
                                      <p:to>
                                        <p:strVal val="visible"/>
                                      </p:to>
                                    </p:set>
                                    <p:animEffect transition="in" filter="wipe(up)">
                                      <p:cBhvr>
                                        <p:cTn id="7" dur="1000"/>
                                        <p:tgtEl>
                                          <p:spTgt spid="117789"/>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7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9" grpId="0" animBg="1"/>
      <p:bldP spid="11779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00706"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0707"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0708"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0709"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0710"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0711"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0712"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0713"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14"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15"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16"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17"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0718"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0719"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0720"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0721"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0722"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0723"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24"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25"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0726"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8808"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00728"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0729"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00730"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0731"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8813" name="AutoShape 29"/>
          <p:cNvSpPr>
            <a:spLocks noChangeArrowheads="1"/>
          </p:cNvSpPr>
          <p:nvPr/>
        </p:nvSpPr>
        <p:spPr bwMode="auto">
          <a:xfrm flipV="1">
            <a:off x="708025" y="4233863"/>
            <a:ext cx="214313" cy="361950"/>
          </a:xfrm>
          <a:prstGeom prst="upArrow">
            <a:avLst>
              <a:gd name="adj1" fmla="val 50000"/>
              <a:gd name="adj2" fmla="val 45741"/>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18814"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00734" name="Text Box 31"/>
          <p:cNvSpPr txBox="1">
            <a:spLocks noChangeArrowheads="1"/>
          </p:cNvSpPr>
          <p:nvPr/>
        </p:nvSpPr>
        <p:spPr bwMode="auto">
          <a:xfrm>
            <a:off x="1754188" y="3922713"/>
            <a:ext cx="4248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333399"/>
                </a:solidFill>
                <a:ea typeface="黑体" panose="02010609060101010101" pitchFamily="49" charset="-122"/>
              </a:rPr>
              <a:t>IP </a:t>
            </a:r>
            <a:r>
              <a:rPr lang="zh-CN" altLang="en-US" sz="2400" b="1">
                <a:solidFill>
                  <a:srgbClr val="333399"/>
                </a:solidFill>
                <a:ea typeface="黑体" panose="02010609060101010101" pitchFamily="49" charset="-122"/>
              </a:rPr>
              <a:t>数据报再传送到数据链路层</a:t>
            </a:r>
          </a:p>
        </p:txBody>
      </p:sp>
      <p:sp>
        <p:nvSpPr>
          <p:cNvPr id="118816" name="Text Box 32"/>
          <p:cNvSpPr txBox="1">
            <a:spLocks noChangeArrowheads="1"/>
          </p:cNvSpPr>
          <p:nvPr/>
        </p:nvSpPr>
        <p:spPr bwMode="auto">
          <a:xfrm>
            <a:off x="1754188" y="4479925"/>
            <a:ext cx="6032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加上链路层首部和尾部，成为数据链路层帧</a:t>
            </a:r>
          </a:p>
        </p:txBody>
      </p:sp>
      <p:sp>
        <p:nvSpPr>
          <p:cNvPr id="20073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C3B849-6C66-4817-A60F-A42420A63BC2}" type="slidenum">
              <a:rPr lang="zh-CN" altLang="en-US" smtClean="0"/>
              <a:pPr eaLnBrk="1" hangingPunct="1"/>
              <a:t>26</a:t>
            </a:fld>
            <a:endParaRPr lang="en-US" altLang="zh-CN" smtClean="0"/>
          </a:p>
        </p:txBody>
      </p:sp>
      <p:sp>
        <p:nvSpPr>
          <p:cNvPr id="20073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8813"/>
                                        </p:tgtEl>
                                        <p:attrNameLst>
                                          <p:attrName>style.visibility</p:attrName>
                                        </p:attrNameLst>
                                      </p:cBhvr>
                                      <p:to>
                                        <p:strVal val="visible"/>
                                      </p:to>
                                    </p:set>
                                    <p:animEffect transition="in" filter="wipe(up)">
                                      <p:cBhvr>
                                        <p:cTn id="7" dur="1000"/>
                                        <p:tgtEl>
                                          <p:spTgt spid="118813"/>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88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13" grpId="0" animBg="1"/>
      <p:bldP spid="1188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02754"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2755"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2756"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2757"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2758"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2759"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2760"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2761"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62"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63"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64"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65"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2766"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2767"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2768"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2769"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2770"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2771"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72"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73"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2774"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19832"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02776"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2777"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02778"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2779"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19837" name="AutoShape 29"/>
          <p:cNvSpPr>
            <a:spLocks noChangeArrowheads="1"/>
          </p:cNvSpPr>
          <p:nvPr/>
        </p:nvSpPr>
        <p:spPr bwMode="auto">
          <a:xfrm flipV="1">
            <a:off x="708025" y="4810125"/>
            <a:ext cx="214313" cy="361950"/>
          </a:xfrm>
          <a:prstGeom prst="upArrow">
            <a:avLst>
              <a:gd name="adj1" fmla="val 50000"/>
              <a:gd name="adj2" fmla="val 45741"/>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19838" name="Text Box 30"/>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02782" name="Text Box 31"/>
          <p:cNvSpPr txBox="1">
            <a:spLocks noChangeArrowheads="1"/>
          </p:cNvSpPr>
          <p:nvPr/>
        </p:nvSpPr>
        <p:spPr bwMode="auto">
          <a:xfrm>
            <a:off x="1754188" y="4427538"/>
            <a:ext cx="4186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数据链路层帧再传送到物理层</a:t>
            </a:r>
          </a:p>
        </p:txBody>
      </p:sp>
      <p:sp>
        <p:nvSpPr>
          <p:cNvPr id="119840" name="Text Box 32"/>
          <p:cNvSpPr txBox="1">
            <a:spLocks noChangeArrowheads="1"/>
          </p:cNvSpPr>
          <p:nvPr/>
        </p:nvSpPr>
        <p:spPr bwMode="auto">
          <a:xfrm>
            <a:off x="1754188" y="5003800"/>
            <a:ext cx="5724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最下面的物理层把比特流传送到物理媒体</a:t>
            </a:r>
          </a:p>
        </p:txBody>
      </p:sp>
      <p:sp>
        <p:nvSpPr>
          <p:cNvPr id="20278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BE45D6-0DC4-4B9D-9FCE-01AC920EE60E}" type="slidenum">
              <a:rPr lang="zh-CN" altLang="en-US" smtClean="0"/>
              <a:pPr eaLnBrk="1" hangingPunct="1"/>
              <a:t>27</a:t>
            </a:fld>
            <a:endParaRPr lang="en-US" altLang="zh-CN" smtClean="0"/>
          </a:p>
        </p:txBody>
      </p:sp>
      <p:sp>
        <p:nvSpPr>
          <p:cNvPr id="20278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9837"/>
                                        </p:tgtEl>
                                        <p:attrNameLst>
                                          <p:attrName>style.visibility</p:attrName>
                                        </p:attrNameLst>
                                      </p:cBhvr>
                                      <p:to>
                                        <p:strVal val="visible"/>
                                      </p:to>
                                    </p:set>
                                    <p:animEffect transition="in" filter="wipe(up)">
                                      <p:cBhvr>
                                        <p:cTn id="7" dur="1000"/>
                                        <p:tgtEl>
                                          <p:spTgt spid="119837"/>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9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7" grpId="0" animBg="1"/>
      <p:bldP spid="11984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04802" name="AutoShape 4"/>
          <p:cNvSpPr>
            <a:spLocks noChangeArrowheads="1"/>
          </p:cNvSpPr>
          <p:nvPr/>
        </p:nvSpPr>
        <p:spPr bwMode="auto">
          <a:xfrm rot="16200000">
            <a:off x="469979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4803" name="AutoShape 5"/>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4804" name="Text Box 6"/>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4805" name="Text Box 7"/>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4806" name="Text Box 8"/>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4807" name="Text Box 9"/>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4808" name="Text Box 10"/>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4809" name="Freeform 11"/>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10" name="Freeform 12"/>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11" name="Freeform 13"/>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12" name="Freeform 14"/>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13" name="AutoShape 15"/>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4814" name="Text Box 16"/>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4815" name="Text Box 17"/>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4816" name="Text Box 18"/>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4817" name="Text Box 19"/>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4818" name="Text Box 20"/>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4819" name="Freeform 21"/>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20" name="Freeform 22"/>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21" name="Freeform 23"/>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4822" name="Freeform 24"/>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0857" name="AutoShape 25"/>
          <p:cNvSpPr>
            <a:spLocks noChangeArrowheads="1"/>
          </p:cNvSpPr>
          <p:nvPr/>
        </p:nvSpPr>
        <p:spPr bwMode="auto">
          <a:xfrm flipV="1">
            <a:off x="755650" y="5457825"/>
            <a:ext cx="427038" cy="419100"/>
          </a:xfrm>
          <a:custGeom>
            <a:avLst/>
            <a:gdLst>
              <a:gd name="T0" fmla="*/ 21600 w 21600"/>
              <a:gd name="T1" fmla="*/ 6079 h 21600"/>
              <a:gd name="T2" fmla="*/ 15126 w 21600"/>
              <a:gd name="T3" fmla="*/ 0 h 21600"/>
              <a:gd name="T4" fmla="*/ 15126 w 21600"/>
              <a:gd name="T5" fmla="*/ 2912 h 21600"/>
              <a:gd name="T6" fmla="*/ 12427 w 21600"/>
              <a:gd name="T7" fmla="*/ 2912 h 21600"/>
              <a:gd name="T8" fmla="*/ 0 w 21600"/>
              <a:gd name="T9" fmla="*/ 12158 h 21600"/>
              <a:gd name="T10" fmla="*/ 0 w 21600"/>
              <a:gd name="T11" fmla="*/ 21600 h 21600"/>
              <a:gd name="T12" fmla="*/ 6474 w 21600"/>
              <a:gd name="T13" fmla="*/ 21600 h 21600"/>
              <a:gd name="T14" fmla="*/ 6474 w 21600"/>
              <a:gd name="T15" fmla="*/ 12158 h 21600"/>
              <a:gd name="T16" fmla="*/ 12427 w 21600"/>
              <a:gd name="T17" fmla="*/ 9246 h 21600"/>
              <a:gd name="T18" fmla="*/ 15126 w 21600"/>
              <a:gd name="T19" fmla="*/ 9246 h 21600"/>
              <a:gd name="T20" fmla="*/ 15126 w 21600"/>
              <a:gd name="T21" fmla="*/ 12158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FF99"/>
          </a:solidFill>
          <a:ln w="12700">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sp>
        <p:nvSpPr>
          <p:cNvPr id="204824" name="Text Box 26"/>
          <p:cNvSpPr txBox="1">
            <a:spLocks noChangeArrowheads="1"/>
          </p:cNvSpPr>
          <p:nvPr/>
        </p:nvSpPr>
        <p:spPr bwMode="auto">
          <a:xfrm>
            <a:off x="4171950" y="5554663"/>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黑体" panose="02010609060101010101" pitchFamily="49" charset="-122"/>
                <a:ea typeface="黑体" panose="02010609060101010101" pitchFamily="49" charset="-122"/>
              </a:rPr>
              <a:t>物理传输媒体</a:t>
            </a:r>
          </a:p>
        </p:txBody>
      </p:sp>
      <p:sp>
        <p:nvSpPr>
          <p:cNvPr id="120859" name="AutoShape 27"/>
          <p:cNvSpPr>
            <a:spLocks noChangeArrowheads="1"/>
          </p:cNvSpPr>
          <p:nvPr/>
        </p:nvSpPr>
        <p:spPr bwMode="auto">
          <a:xfrm rot="5400000">
            <a:off x="3594100" y="5541963"/>
            <a:ext cx="179387" cy="427038"/>
          </a:xfrm>
          <a:prstGeom prst="upArrow">
            <a:avLst>
              <a:gd name="adj1" fmla="val 50000"/>
              <a:gd name="adj2" fmla="val 54929"/>
            </a:avLst>
          </a:prstGeom>
          <a:solidFill>
            <a:srgbClr val="00FF99"/>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20860" name="AutoShape 28"/>
          <p:cNvSpPr>
            <a:spLocks noChangeArrowheads="1"/>
          </p:cNvSpPr>
          <p:nvPr/>
        </p:nvSpPr>
        <p:spPr bwMode="auto">
          <a:xfrm rot="5400000">
            <a:off x="6558756" y="5542757"/>
            <a:ext cx="179387" cy="425450"/>
          </a:xfrm>
          <a:prstGeom prst="upArrow">
            <a:avLst>
              <a:gd name="adj1" fmla="val 50000"/>
              <a:gd name="adj2" fmla="val 54725"/>
            </a:avLst>
          </a:prstGeom>
          <a:solidFill>
            <a:srgbClr val="00FF99"/>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120861" name="Text Box 29"/>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04828" name="AutoShape 30"/>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4829" name="Text Box 31"/>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04830" name="AutoShape 32"/>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4831" name="Text Box 33"/>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grpSp>
        <p:nvGrpSpPr>
          <p:cNvPr id="120866" name="Group 34"/>
          <p:cNvGrpSpPr/>
          <p:nvPr/>
        </p:nvGrpSpPr>
        <p:grpSpPr bwMode="auto">
          <a:xfrm>
            <a:off x="1754188" y="5687019"/>
            <a:ext cx="1155700" cy="139700"/>
            <a:chOff x="1344" y="912"/>
            <a:chExt cx="672" cy="96"/>
          </a:xfrm>
          <a:solidFill>
            <a:srgbClr val="00FF99"/>
          </a:solidFill>
        </p:grpSpPr>
        <p:sp>
          <p:nvSpPr>
            <p:cNvPr id="120867"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p>
          </p:txBody>
        </p:sp>
        <p:sp>
          <p:nvSpPr>
            <p:cNvPr id="120868"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p>
          </p:txBody>
        </p:sp>
      </p:grpSp>
      <p:grpSp>
        <p:nvGrpSpPr>
          <p:cNvPr id="120869" name="Group 37"/>
          <p:cNvGrpSpPr/>
          <p:nvPr/>
        </p:nvGrpSpPr>
        <p:grpSpPr bwMode="auto">
          <a:xfrm>
            <a:off x="7150894" y="5685433"/>
            <a:ext cx="1155700" cy="142875"/>
            <a:chOff x="4158" y="3753"/>
            <a:chExt cx="672" cy="90"/>
          </a:xfrm>
          <a:solidFill>
            <a:srgbClr val="00FF99"/>
          </a:solidFill>
        </p:grpSpPr>
        <p:sp>
          <p:nvSpPr>
            <p:cNvPr id="120870" name="Line 38"/>
            <p:cNvSpPr>
              <a:spLocks noChangeShapeType="1"/>
            </p:cNvSpPr>
            <p:nvPr/>
          </p:nvSpPr>
          <p:spPr bwMode="auto">
            <a:xfrm>
              <a:off x="4158" y="3798"/>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p>
          </p:txBody>
        </p:sp>
        <p:sp>
          <p:nvSpPr>
            <p:cNvPr id="120871" name="Freeform 39"/>
            <p:cNvSpPr/>
            <p:nvPr/>
          </p:nvSpPr>
          <p:spPr bwMode="auto">
            <a:xfrm>
              <a:off x="4209" y="3753"/>
              <a:ext cx="576" cy="90"/>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p>
          </p:txBody>
        </p:sp>
      </p:grpSp>
      <p:sp>
        <p:nvSpPr>
          <p:cNvPr id="204834" name="Text Box 40"/>
          <p:cNvSpPr txBox="1">
            <a:spLocks noChangeArrowheads="1"/>
          </p:cNvSpPr>
          <p:nvPr/>
        </p:nvSpPr>
        <p:spPr bwMode="auto">
          <a:xfrm>
            <a:off x="2265363" y="4524375"/>
            <a:ext cx="54165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latin typeface="Times New Roman" panose="02020603050405020304" pitchFamily="18" charset="0"/>
                <a:ea typeface="黑体" panose="02010609060101010101" pitchFamily="49" charset="-122"/>
              </a:rPr>
              <a:t>电信号（或光信号）在物理媒体中传播</a:t>
            </a:r>
          </a:p>
          <a:p>
            <a:pPr algn="ctr" eaLnBrk="0" hangingPunct="0"/>
            <a:r>
              <a:rPr lang="zh-CN" altLang="en-US" sz="2400" b="1">
                <a:solidFill>
                  <a:srgbClr val="333399"/>
                </a:solidFill>
                <a:latin typeface="Times New Roman" panose="02020603050405020304" pitchFamily="18" charset="0"/>
                <a:ea typeface="黑体" panose="02010609060101010101" pitchFamily="49" charset="-122"/>
              </a:rPr>
              <a:t>从发送端物理层传送到接收端物理层</a:t>
            </a:r>
          </a:p>
        </p:txBody>
      </p:sp>
      <p:sp>
        <p:nvSpPr>
          <p:cNvPr id="120873" name="Text Box 41"/>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20874" name="AutoShape 42"/>
          <p:cNvSpPr>
            <a:spLocks noChangeArrowheads="1"/>
          </p:cNvSpPr>
          <p:nvPr/>
        </p:nvSpPr>
        <p:spPr bwMode="auto">
          <a:xfrm rot="5400000" flipH="1">
            <a:off x="8762207" y="5390356"/>
            <a:ext cx="431800" cy="427037"/>
          </a:xfrm>
          <a:custGeom>
            <a:avLst/>
            <a:gdLst>
              <a:gd name="T0" fmla="*/ 21600 w 21600"/>
              <a:gd name="T1" fmla="*/ 6079 h 21600"/>
              <a:gd name="T2" fmla="*/ 15126 w 21600"/>
              <a:gd name="T3" fmla="*/ 0 h 21600"/>
              <a:gd name="T4" fmla="*/ 15126 w 21600"/>
              <a:gd name="T5" fmla="*/ 2912 h 21600"/>
              <a:gd name="T6" fmla="*/ 12427 w 21600"/>
              <a:gd name="T7" fmla="*/ 2912 h 21600"/>
              <a:gd name="T8" fmla="*/ 0 w 21600"/>
              <a:gd name="T9" fmla="*/ 12158 h 21600"/>
              <a:gd name="T10" fmla="*/ 0 w 21600"/>
              <a:gd name="T11" fmla="*/ 21600 h 21600"/>
              <a:gd name="T12" fmla="*/ 6474 w 21600"/>
              <a:gd name="T13" fmla="*/ 21600 h 21600"/>
              <a:gd name="T14" fmla="*/ 6474 w 21600"/>
              <a:gd name="T15" fmla="*/ 12158 h 21600"/>
              <a:gd name="T16" fmla="*/ 12427 w 21600"/>
              <a:gd name="T17" fmla="*/ 9246 h 21600"/>
              <a:gd name="T18" fmla="*/ 15126 w 21600"/>
              <a:gd name="T19" fmla="*/ 9246 h 21600"/>
              <a:gd name="T20" fmla="*/ 15126 w 21600"/>
              <a:gd name="T21" fmla="*/ 12158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FF99"/>
          </a:solidFill>
          <a:ln w="12700">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sp>
        <p:nvSpPr>
          <p:cNvPr id="20483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CF287F-92BC-4C80-8136-B10A09D5F386}" type="slidenum">
              <a:rPr lang="zh-CN" altLang="en-US" smtClean="0"/>
              <a:pPr eaLnBrk="1" hangingPunct="1"/>
              <a:t>28</a:t>
            </a:fld>
            <a:endParaRPr lang="en-US" altLang="zh-CN" smtClean="0"/>
          </a:p>
        </p:txBody>
      </p:sp>
      <p:sp>
        <p:nvSpPr>
          <p:cNvPr id="20483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20857"/>
                                        </p:tgtEl>
                                        <p:attrNameLst>
                                          <p:attrName>style.visibility</p:attrName>
                                        </p:attrNameLst>
                                      </p:cBhvr>
                                      <p:to>
                                        <p:strVal val="visible"/>
                                      </p:to>
                                    </p:set>
                                    <p:animEffect transition="in" filter="wipe(left)">
                                      <p:cBhvr>
                                        <p:cTn id="7" dur="500"/>
                                        <p:tgtEl>
                                          <p:spTgt spid="120857"/>
                                        </p:tgtEl>
                                      </p:cBhvr>
                                    </p:animEffect>
                                  </p:childTnLst>
                                </p:cTn>
                              </p:par>
                            </p:childTnLst>
                          </p:cTn>
                        </p:par>
                        <p:par>
                          <p:cTn id="8" fill="hold" nodeType="afterGroup">
                            <p:stCondLst>
                              <p:cond delay="1500"/>
                            </p:stCondLst>
                            <p:childTnLst>
                              <p:par>
                                <p:cTn id="9" presetID="1" presetClass="entr" presetSubtype="0" fill="hold" nodeType="afterEffect">
                                  <p:stCondLst>
                                    <p:cond delay="0"/>
                                  </p:stCondLst>
                                  <p:childTnLst>
                                    <p:set>
                                      <p:cBhvr>
                                        <p:cTn id="10" dur="1" fill="hold">
                                          <p:stCondLst>
                                            <p:cond delay="0"/>
                                          </p:stCondLst>
                                        </p:cTn>
                                        <p:tgtEl>
                                          <p:spTgt spid="120866"/>
                                        </p:tgtEl>
                                        <p:attrNameLst>
                                          <p:attrName>style.visibility</p:attrName>
                                        </p:attrNameLst>
                                      </p:cBhvr>
                                      <p:to>
                                        <p:strVal val="visible"/>
                                      </p:to>
                                    </p:set>
                                  </p:childTnLst>
                                </p:cTn>
                              </p:par>
                            </p:childTnLst>
                          </p:cTn>
                        </p:par>
                        <p:par>
                          <p:cTn id="11" fill="hold" nodeType="afterGroup">
                            <p:stCondLst>
                              <p:cond delay="1501"/>
                            </p:stCondLst>
                            <p:childTnLst>
                              <p:par>
                                <p:cTn id="12" presetID="22" presetClass="entr" presetSubtype="8" fill="hold" grpId="0" nodeType="afterEffect">
                                  <p:stCondLst>
                                    <p:cond delay="0"/>
                                  </p:stCondLst>
                                  <p:childTnLst>
                                    <p:set>
                                      <p:cBhvr>
                                        <p:cTn id="13" dur="1" fill="hold">
                                          <p:stCondLst>
                                            <p:cond delay="0"/>
                                          </p:stCondLst>
                                        </p:cTn>
                                        <p:tgtEl>
                                          <p:spTgt spid="120859"/>
                                        </p:tgtEl>
                                        <p:attrNameLst>
                                          <p:attrName>style.visibility</p:attrName>
                                        </p:attrNameLst>
                                      </p:cBhvr>
                                      <p:to>
                                        <p:strVal val="visible"/>
                                      </p:to>
                                    </p:set>
                                    <p:animEffect transition="in" filter="wipe(left)">
                                      <p:cBhvr>
                                        <p:cTn id="14" dur="500"/>
                                        <p:tgtEl>
                                          <p:spTgt spid="120859"/>
                                        </p:tgtEl>
                                      </p:cBhvr>
                                    </p:animEffect>
                                  </p:childTnLst>
                                </p:cTn>
                              </p:par>
                            </p:childTnLst>
                          </p:cTn>
                        </p:par>
                        <p:par>
                          <p:cTn id="15" fill="hold" nodeType="afterGroup">
                            <p:stCondLst>
                              <p:cond delay="2001"/>
                            </p:stCondLst>
                            <p:childTnLst>
                              <p:par>
                                <p:cTn id="16" presetID="22" presetClass="entr" presetSubtype="8" fill="hold" grpId="0" nodeType="afterEffect">
                                  <p:stCondLst>
                                    <p:cond delay="0"/>
                                  </p:stCondLst>
                                  <p:childTnLst>
                                    <p:set>
                                      <p:cBhvr>
                                        <p:cTn id="17" dur="1" fill="hold">
                                          <p:stCondLst>
                                            <p:cond delay="0"/>
                                          </p:stCondLst>
                                        </p:cTn>
                                        <p:tgtEl>
                                          <p:spTgt spid="120860"/>
                                        </p:tgtEl>
                                        <p:attrNameLst>
                                          <p:attrName>style.visibility</p:attrName>
                                        </p:attrNameLst>
                                      </p:cBhvr>
                                      <p:to>
                                        <p:strVal val="visible"/>
                                      </p:to>
                                    </p:set>
                                    <p:animEffect transition="in" filter="wipe(left)">
                                      <p:cBhvr>
                                        <p:cTn id="18" dur="500"/>
                                        <p:tgtEl>
                                          <p:spTgt spid="120860"/>
                                        </p:tgtEl>
                                      </p:cBhvr>
                                    </p:animEffect>
                                  </p:childTnLst>
                                </p:cTn>
                              </p:par>
                            </p:childTnLst>
                          </p:cTn>
                        </p:par>
                        <p:par>
                          <p:cTn id="19" fill="hold" nodeType="afterGroup">
                            <p:stCondLst>
                              <p:cond delay="2501"/>
                            </p:stCondLst>
                            <p:childTnLst>
                              <p:par>
                                <p:cTn id="20" presetID="1" presetClass="entr" presetSubtype="0" fill="hold" nodeType="afterEffect">
                                  <p:stCondLst>
                                    <p:cond delay="0"/>
                                  </p:stCondLst>
                                  <p:childTnLst>
                                    <p:set>
                                      <p:cBhvr>
                                        <p:cTn id="21" dur="1" fill="hold">
                                          <p:stCondLst>
                                            <p:cond delay="0"/>
                                          </p:stCondLst>
                                        </p:cTn>
                                        <p:tgtEl>
                                          <p:spTgt spid="120869"/>
                                        </p:tgtEl>
                                        <p:attrNameLst>
                                          <p:attrName>style.visibility</p:attrName>
                                        </p:attrNameLst>
                                      </p:cBhvr>
                                      <p:to>
                                        <p:strVal val="visible"/>
                                      </p:to>
                                    </p:set>
                                  </p:childTnLst>
                                </p:cTn>
                              </p:par>
                            </p:childTnLst>
                          </p:cTn>
                        </p:par>
                        <p:par>
                          <p:cTn id="22" fill="hold" nodeType="afterGroup">
                            <p:stCondLst>
                              <p:cond delay="2502"/>
                            </p:stCondLst>
                            <p:childTnLst>
                              <p:par>
                                <p:cTn id="23" presetID="22" presetClass="entr" presetSubtype="4" fill="hold" grpId="0" nodeType="afterEffect">
                                  <p:stCondLst>
                                    <p:cond delay="0"/>
                                  </p:stCondLst>
                                  <p:childTnLst>
                                    <p:set>
                                      <p:cBhvr>
                                        <p:cTn id="24" dur="1" fill="hold">
                                          <p:stCondLst>
                                            <p:cond delay="0"/>
                                          </p:stCondLst>
                                        </p:cTn>
                                        <p:tgtEl>
                                          <p:spTgt spid="120874"/>
                                        </p:tgtEl>
                                        <p:attrNameLst>
                                          <p:attrName>style.visibility</p:attrName>
                                        </p:attrNameLst>
                                      </p:cBhvr>
                                      <p:to>
                                        <p:strVal val="visible"/>
                                      </p:to>
                                    </p:set>
                                    <p:animEffect transition="in" filter="wipe(down)">
                                      <p:cBhvr>
                                        <p:cTn id="25" dur="500"/>
                                        <p:tgtEl>
                                          <p:spTgt spid="120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7" grpId="0" animBg="1"/>
      <p:bldP spid="120859" grpId="0" animBg="1"/>
      <p:bldP spid="120860" grpId="0" animBg="1"/>
      <p:bldP spid="12087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06850"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6851"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6852"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6853"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6854"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6855"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6856"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6857"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58"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59"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60"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61"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6862"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6863"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6864"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6865"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6866"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6867"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68"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69"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6870"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1880"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06872"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6873"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06874"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6875"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1885"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06877" name="Text Box 30"/>
          <p:cNvSpPr txBox="1">
            <a:spLocks noChangeArrowheads="1"/>
          </p:cNvSpPr>
          <p:nvPr/>
        </p:nvSpPr>
        <p:spPr bwMode="auto">
          <a:xfrm>
            <a:off x="2398713" y="5003800"/>
            <a:ext cx="5724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物理层接收到比特流，上交给数据链路层</a:t>
            </a:r>
          </a:p>
        </p:txBody>
      </p:sp>
      <p:sp>
        <p:nvSpPr>
          <p:cNvPr id="121887" name="AutoShape 31"/>
          <p:cNvSpPr>
            <a:spLocks noChangeArrowheads="1"/>
          </p:cNvSpPr>
          <p:nvPr/>
        </p:nvSpPr>
        <p:spPr bwMode="auto">
          <a:xfrm rot="10800000" flipV="1">
            <a:off x="8997950" y="4805363"/>
            <a:ext cx="212725" cy="396875"/>
          </a:xfrm>
          <a:prstGeom prst="upArrow">
            <a:avLst>
              <a:gd name="adj1" fmla="val 50000"/>
              <a:gd name="adj2" fmla="val 5052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068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109D6F-EAC3-4C74-BAB5-C55B95F79802}" type="slidenum">
              <a:rPr lang="zh-CN" altLang="en-US" smtClean="0"/>
              <a:pPr eaLnBrk="1" hangingPunct="1"/>
              <a:t>29</a:t>
            </a:fld>
            <a:endParaRPr lang="en-US" altLang="zh-CN" smtClean="0"/>
          </a:p>
        </p:txBody>
      </p:sp>
      <p:sp>
        <p:nvSpPr>
          <p:cNvPr id="2068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1887"/>
                                        </p:tgtEl>
                                        <p:attrNameLst>
                                          <p:attrName>style.visibility</p:attrName>
                                        </p:attrNameLst>
                                      </p:cBhvr>
                                      <p:to>
                                        <p:strVal val="visible"/>
                                      </p:to>
                                    </p:set>
                                    <p:animEffect transition="in" filter="wipe(down)">
                                      <p:cBhvr>
                                        <p:cTn id="7" dur="1000"/>
                                        <p:tgtEl>
                                          <p:spTgt spid="121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08898"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8899"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8900"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8901"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8902"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8903"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8904"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8905"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06"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07"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08"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09"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8910"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08911"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08912"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08913"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08914"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08915"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16"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17"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08918"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2904" name="Text Box 24"/>
          <p:cNvSpPr txBox="1">
            <a:spLocks noChangeArrowheads="1"/>
          </p:cNvSpPr>
          <p:nvPr/>
        </p:nvSpPr>
        <p:spPr bwMode="auto">
          <a:xfrm>
            <a:off x="428625" y="1644650"/>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08920"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8921"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08922"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08923"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2909"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08925" name="Text Box 30"/>
          <p:cNvSpPr txBox="1">
            <a:spLocks noChangeArrowheads="1"/>
          </p:cNvSpPr>
          <p:nvPr/>
        </p:nvSpPr>
        <p:spPr bwMode="auto">
          <a:xfrm>
            <a:off x="3800475" y="4308475"/>
            <a:ext cx="4492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数据链路层剥去帧首部和帧尾部</a:t>
            </a:r>
          </a:p>
          <a:p>
            <a:pPr algn="ctr" eaLnBrk="0" hangingPunct="0"/>
            <a:r>
              <a:rPr lang="zh-CN" altLang="en-US" sz="2400" b="1">
                <a:solidFill>
                  <a:srgbClr val="333399"/>
                </a:solidFill>
                <a:ea typeface="黑体" panose="02010609060101010101" pitchFamily="49" charset="-122"/>
              </a:rPr>
              <a:t>取出数据部分，上交给网络层</a:t>
            </a:r>
          </a:p>
        </p:txBody>
      </p:sp>
      <p:sp>
        <p:nvSpPr>
          <p:cNvPr id="122911" name="AutoShape 31"/>
          <p:cNvSpPr>
            <a:spLocks noChangeArrowheads="1"/>
          </p:cNvSpPr>
          <p:nvPr/>
        </p:nvSpPr>
        <p:spPr bwMode="auto">
          <a:xfrm rot="10800000" flipV="1">
            <a:off x="8997950" y="4164013"/>
            <a:ext cx="212725" cy="396875"/>
          </a:xfrm>
          <a:prstGeom prst="upArrow">
            <a:avLst>
              <a:gd name="adj1" fmla="val 50000"/>
              <a:gd name="adj2" fmla="val 5052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089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F92CFD-597F-460A-84DD-813804597AEF}" type="slidenum">
              <a:rPr lang="zh-CN" altLang="en-US" smtClean="0"/>
              <a:pPr eaLnBrk="1" hangingPunct="1"/>
              <a:t>30</a:t>
            </a:fld>
            <a:endParaRPr lang="en-US" altLang="zh-CN" smtClean="0"/>
          </a:p>
        </p:txBody>
      </p:sp>
      <p:sp>
        <p:nvSpPr>
          <p:cNvPr id="2089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2911"/>
                                        </p:tgtEl>
                                        <p:attrNameLst>
                                          <p:attrName>style.visibility</p:attrName>
                                        </p:attrNameLst>
                                      </p:cBhvr>
                                      <p:to>
                                        <p:strVal val="visible"/>
                                      </p:to>
                                    </p:set>
                                    <p:animEffect transition="in" filter="wipe(down)">
                                      <p:cBhvr>
                                        <p:cTn id="7" dur="1000"/>
                                        <p:tgtEl>
                                          <p:spTgt spid="122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10946"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0947"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0948"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0949"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0950"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0951"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0952"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0953"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54"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55"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56"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57"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0958"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0959"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0960"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0961"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0962"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0963"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64"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65"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0966"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3928"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10968"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0969"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10970"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0971"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3933"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10973" name="Text Box 30"/>
          <p:cNvSpPr txBox="1">
            <a:spLocks noChangeArrowheads="1"/>
          </p:cNvSpPr>
          <p:nvPr/>
        </p:nvSpPr>
        <p:spPr bwMode="auto">
          <a:xfrm>
            <a:off x="3892550" y="3732213"/>
            <a:ext cx="449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网络层剥去首部，取出数据部分</a:t>
            </a:r>
          </a:p>
          <a:p>
            <a:pPr algn="ctr" eaLnBrk="0" hangingPunct="0"/>
            <a:r>
              <a:rPr lang="zh-CN" altLang="en-US" sz="2400" b="1">
                <a:solidFill>
                  <a:srgbClr val="333399"/>
                </a:solidFill>
                <a:ea typeface="黑体" panose="02010609060101010101" pitchFamily="49" charset="-122"/>
              </a:rPr>
              <a:t>上交给运输层</a:t>
            </a:r>
          </a:p>
        </p:txBody>
      </p:sp>
      <p:sp>
        <p:nvSpPr>
          <p:cNvPr id="123935" name="AutoShape 31"/>
          <p:cNvSpPr>
            <a:spLocks noChangeArrowheads="1"/>
          </p:cNvSpPr>
          <p:nvPr/>
        </p:nvSpPr>
        <p:spPr bwMode="auto">
          <a:xfrm rot="10800000" flipV="1">
            <a:off x="8997950" y="3551238"/>
            <a:ext cx="212725" cy="396875"/>
          </a:xfrm>
          <a:prstGeom prst="upArrow">
            <a:avLst>
              <a:gd name="adj1" fmla="val 50000"/>
              <a:gd name="adj2" fmla="val 5052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09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ED2A4B-5525-46EA-916F-5EF149FA39E8}" type="slidenum">
              <a:rPr lang="zh-CN" altLang="en-US" smtClean="0"/>
              <a:pPr eaLnBrk="1" hangingPunct="1"/>
              <a:t>31</a:t>
            </a:fld>
            <a:endParaRPr lang="en-US" altLang="zh-CN" smtClean="0"/>
          </a:p>
        </p:txBody>
      </p:sp>
      <p:sp>
        <p:nvSpPr>
          <p:cNvPr id="2109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3935"/>
                                        </p:tgtEl>
                                        <p:attrNameLst>
                                          <p:attrName>style.visibility</p:attrName>
                                        </p:attrNameLst>
                                      </p:cBhvr>
                                      <p:to>
                                        <p:strVal val="visible"/>
                                      </p:to>
                                    </p:set>
                                    <p:animEffect transition="in" filter="wipe(down)">
                                      <p:cBhvr>
                                        <p:cTn id="7" dur="1000"/>
                                        <p:tgtEl>
                                          <p:spTgt spid="123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3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12994"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2995"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2996"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2997"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2998"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2999"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3000"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3001"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02"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03"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04"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05"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3006"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3007"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3008"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3009"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3010"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3011"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12"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13"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3014"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4952"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13016"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3017"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13018"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3019"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4957"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13021" name="Text Box 30"/>
          <p:cNvSpPr txBox="1">
            <a:spLocks noChangeArrowheads="1"/>
          </p:cNvSpPr>
          <p:nvPr/>
        </p:nvSpPr>
        <p:spPr bwMode="auto">
          <a:xfrm>
            <a:off x="3892550" y="3084513"/>
            <a:ext cx="449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运输层剥去首部，取出数据部分</a:t>
            </a:r>
          </a:p>
          <a:p>
            <a:pPr algn="ctr" eaLnBrk="0" hangingPunct="0"/>
            <a:r>
              <a:rPr lang="zh-CN" altLang="en-US" sz="2400" b="1">
                <a:solidFill>
                  <a:srgbClr val="333399"/>
                </a:solidFill>
                <a:ea typeface="黑体" panose="02010609060101010101" pitchFamily="49" charset="-122"/>
              </a:rPr>
              <a:t>上交给应用层</a:t>
            </a:r>
          </a:p>
        </p:txBody>
      </p:sp>
      <p:sp>
        <p:nvSpPr>
          <p:cNvPr id="124959" name="AutoShape 31"/>
          <p:cNvSpPr>
            <a:spLocks noChangeArrowheads="1"/>
          </p:cNvSpPr>
          <p:nvPr/>
        </p:nvSpPr>
        <p:spPr bwMode="auto">
          <a:xfrm rot="10800000" flipV="1">
            <a:off x="8997950" y="2974975"/>
            <a:ext cx="212725" cy="396875"/>
          </a:xfrm>
          <a:prstGeom prst="upArrow">
            <a:avLst>
              <a:gd name="adj1" fmla="val 50000"/>
              <a:gd name="adj2" fmla="val 5052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30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DE6AA2-A49C-4C3A-9283-129C74EAEADE}" type="slidenum">
              <a:rPr lang="zh-CN" altLang="en-US" smtClean="0"/>
              <a:pPr eaLnBrk="1" hangingPunct="1"/>
              <a:t>32</a:t>
            </a:fld>
            <a:endParaRPr lang="en-US" altLang="zh-CN" smtClean="0"/>
          </a:p>
        </p:txBody>
      </p:sp>
      <p:sp>
        <p:nvSpPr>
          <p:cNvPr id="2130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4959"/>
                                        </p:tgtEl>
                                        <p:attrNameLst>
                                          <p:attrName>style.visibility</p:attrName>
                                        </p:attrNameLst>
                                      </p:cBhvr>
                                      <p:to>
                                        <p:strVal val="visible"/>
                                      </p:to>
                                    </p:set>
                                    <p:animEffect transition="in" filter="wipe(down)">
                                      <p:cBhvr>
                                        <p:cTn id="7" dur="1000"/>
                                        <p:tgtEl>
                                          <p:spTgt spid="124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15042"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5043"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5044"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5045"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5046"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5047"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5048"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5049"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50"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51"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52"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53"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5054"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5055"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5056"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5057"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5058"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5059"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60"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61"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5062"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5976"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15064"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5065"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15066"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5067"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5981"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15069" name="Text Box 30"/>
          <p:cNvSpPr txBox="1">
            <a:spLocks noChangeArrowheads="1"/>
          </p:cNvSpPr>
          <p:nvPr/>
        </p:nvSpPr>
        <p:spPr bwMode="auto">
          <a:xfrm>
            <a:off x="3267075" y="2579688"/>
            <a:ext cx="51085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应用层剥去首部，取出应用程序数据</a:t>
            </a:r>
          </a:p>
          <a:p>
            <a:pPr algn="ctr" eaLnBrk="0" hangingPunct="0"/>
            <a:r>
              <a:rPr lang="zh-CN" altLang="en-US" sz="2400" b="1">
                <a:solidFill>
                  <a:srgbClr val="333399"/>
                </a:solidFill>
                <a:ea typeface="黑体" panose="02010609060101010101" pitchFamily="49" charset="-122"/>
              </a:rPr>
              <a:t>上交给应用进程</a:t>
            </a:r>
          </a:p>
        </p:txBody>
      </p:sp>
      <p:sp>
        <p:nvSpPr>
          <p:cNvPr id="125983" name="AutoShape 31"/>
          <p:cNvSpPr>
            <a:spLocks noChangeArrowheads="1"/>
          </p:cNvSpPr>
          <p:nvPr/>
        </p:nvSpPr>
        <p:spPr bwMode="auto">
          <a:xfrm rot="10800000" flipV="1">
            <a:off x="8997950" y="2471738"/>
            <a:ext cx="212725" cy="396875"/>
          </a:xfrm>
          <a:prstGeom prst="upArrow">
            <a:avLst>
              <a:gd name="adj1" fmla="val 50000"/>
              <a:gd name="adj2" fmla="val 5052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50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00DD64-EE31-4401-B098-7F3F0B4D5AD1}" type="slidenum">
              <a:rPr lang="zh-CN" altLang="en-US" smtClean="0"/>
              <a:pPr eaLnBrk="1" hangingPunct="1"/>
              <a:t>33</a:t>
            </a:fld>
            <a:endParaRPr lang="en-US" altLang="zh-CN" smtClean="0"/>
          </a:p>
        </p:txBody>
      </p:sp>
      <p:sp>
        <p:nvSpPr>
          <p:cNvPr id="2150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5983"/>
                                        </p:tgtEl>
                                        <p:attrNameLst>
                                          <p:attrName>style.visibility</p:attrName>
                                        </p:attrNameLst>
                                      </p:cBhvr>
                                      <p:to>
                                        <p:strVal val="visible"/>
                                      </p:to>
                                    </p:set>
                                    <p:animEffect transition="in" filter="wipe(down)">
                                      <p:cBhvr>
                                        <p:cTn id="7" dur="1000"/>
                                        <p:tgtEl>
                                          <p:spTgt spid="125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8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16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17090"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7091"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7092"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7093"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7094"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7095"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7096"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7097"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098"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099"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100"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101"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7102"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7103"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7104"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7105"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7106"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7107"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108"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109"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7110"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7000" name="Text Box 24"/>
          <p:cNvSpPr txBox="1">
            <a:spLocks noChangeArrowheads="1"/>
          </p:cNvSpPr>
          <p:nvPr/>
        </p:nvSpPr>
        <p:spPr bwMode="auto">
          <a:xfrm>
            <a:off x="428625" y="1644650"/>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17112"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7113"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17114"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7115"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7005"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17117" name="AutoShape 30"/>
          <p:cNvSpPr>
            <a:spLocks noChangeArrowheads="1"/>
          </p:cNvSpPr>
          <p:nvPr/>
        </p:nvSpPr>
        <p:spPr bwMode="auto">
          <a:xfrm>
            <a:off x="4405313" y="1716088"/>
            <a:ext cx="3200400" cy="935037"/>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p>
            <a:pPr algn="ctr" eaLnBrk="0" hangingPunct="0"/>
            <a:endParaRPr lang="zh-CN" altLang="zh-CN" b="1">
              <a:latin typeface="Tahoma" panose="020B0604030504040204" pitchFamily="34" charset="0"/>
              <a:ea typeface="宋体" panose="02010600030101010101" pitchFamily="2" charset="-122"/>
            </a:endParaRPr>
          </a:p>
        </p:txBody>
      </p:sp>
      <p:sp>
        <p:nvSpPr>
          <p:cNvPr id="217118" name="Text Box 31"/>
          <p:cNvSpPr txBox="1">
            <a:spLocks noChangeArrowheads="1"/>
          </p:cNvSpPr>
          <p:nvPr/>
        </p:nvSpPr>
        <p:spPr bwMode="auto">
          <a:xfrm>
            <a:off x="4594225" y="1787525"/>
            <a:ext cx="2970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latin typeface="Tahoma" panose="020B0604030504040204" pitchFamily="34" charset="0"/>
                <a:ea typeface="黑体" panose="02010609060101010101" pitchFamily="49" charset="-122"/>
              </a:rPr>
              <a:t>我收到了</a:t>
            </a:r>
            <a:r>
              <a:rPr lang="zh-CN" altLang="en-US" sz="1400" b="1">
                <a:solidFill>
                  <a:srgbClr val="333399"/>
                </a:solidFill>
                <a:ea typeface="黑体" panose="02010609060101010101" pitchFamily="49" charset="-122"/>
              </a:rPr>
              <a:t> </a:t>
            </a:r>
            <a:r>
              <a:rPr lang="en-US" altLang="zh-CN" sz="2400" b="1">
                <a:solidFill>
                  <a:srgbClr val="333399"/>
                </a:solidFill>
                <a:ea typeface="黑体" panose="02010609060101010101" pitchFamily="49" charset="-122"/>
              </a:rPr>
              <a:t>AP</a:t>
            </a:r>
            <a:r>
              <a:rPr lang="en-US" altLang="zh-CN" sz="2400" b="1" baseline="-25000">
                <a:solidFill>
                  <a:srgbClr val="333399"/>
                </a:solidFill>
                <a:ea typeface="黑体" panose="02010609060101010101" pitchFamily="49" charset="-122"/>
              </a:rPr>
              <a:t>1</a:t>
            </a:r>
            <a:r>
              <a:rPr lang="en-US" altLang="zh-CN" sz="1600" b="1">
                <a:solidFill>
                  <a:srgbClr val="333399"/>
                </a:solidFill>
                <a:ea typeface="黑体" panose="02010609060101010101" pitchFamily="49" charset="-122"/>
              </a:rPr>
              <a:t> </a:t>
            </a:r>
            <a:r>
              <a:rPr lang="zh-CN" altLang="en-US" sz="2400" b="1">
                <a:solidFill>
                  <a:srgbClr val="333399"/>
                </a:solidFill>
                <a:latin typeface="Tahoma" panose="020B0604030504040204" pitchFamily="34" charset="0"/>
                <a:ea typeface="黑体" panose="02010609060101010101" pitchFamily="49" charset="-122"/>
              </a:rPr>
              <a:t>发来的</a:t>
            </a:r>
          </a:p>
          <a:p>
            <a:pPr algn="ctr" eaLnBrk="0" hangingPunct="0"/>
            <a:r>
              <a:rPr lang="zh-CN" altLang="en-US" sz="2400" b="1">
                <a:solidFill>
                  <a:srgbClr val="333399"/>
                </a:solidFill>
                <a:ea typeface="黑体" panose="02010609060101010101" pitchFamily="49" charset="-122"/>
              </a:rPr>
              <a:t>应用程序数据！</a:t>
            </a:r>
          </a:p>
        </p:txBody>
      </p:sp>
      <p:sp>
        <p:nvSpPr>
          <p:cNvPr id="2171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529E61-C35F-47D5-80A4-8AA6CEBC6AFA}" type="slidenum">
              <a:rPr lang="zh-CN" altLang="en-US" smtClean="0"/>
              <a:pPr eaLnBrk="1" hangingPunct="1"/>
              <a:t>34</a:t>
            </a:fld>
            <a:endParaRPr lang="en-US" altLang="zh-CN" smtClean="0"/>
          </a:p>
        </p:txBody>
      </p:sp>
      <p:sp>
        <p:nvSpPr>
          <p:cNvPr id="2171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19138" name="AutoShape 3"/>
          <p:cNvSpPr>
            <a:spLocks noChangeArrowheads="1"/>
          </p:cNvSpPr>
          <p:nvPr/>
        </p:nvSpPr>
        <p:spPr bwMode="auto">
          <a:xfrm rot="16200000">
            <a:off x="4756943" y="86598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9139" name="AutoShape 4"/>
          <p:cNvSpPr>
            <a:spLocks noChangeArrowheads="1"/>
          </p:cNvSpPr>
          <p:nvPr/>
        </p:nvSpPr>
        <p:spPr bwMode="auto">
          <a:xfrm>
            <a:off x="577850" y="255587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9140" name="Text Box 5"/>
          <p:cNvSpPr txBox="1">
            <a:spLocks noChangeArrowheads="1"/>
          </p:cNvSpPr>
          <p:nvPr/>
        </p:nvSpPr>
        <p:spPr bwMode="auto">
          <a:xfrm>
            <a:off x="1025525" y="27352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9141" name="Text Box 6"/>
          <p:cNvSpPr txBox="1">
            <a:spLocks noChangeArrowheads="1"/>
          </p:cNvSpPr>
          <p:nvPr/>
        </p:nvSpPr>
        <p:spPr bwMode="auto">
          <a:xfrm>
            <a:off x="1025525" y="33623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9142" name="Text Box 7"/>
          <p:cNvSpPr txBox="1">
            <a:spLocks noChangeArrowheads="1"/>
          </p:cNvSpPr>
          <p:nvPr/>
        </p:nvSpPr>
        <p:spPr bwMode="auto">
          <a:xfrm>
            <a:off x="1025525" y="39195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9143" name="Text Box 8"/>
          <p:cNvSpPr txBox="1">
            <a:spLocks noChangeArrowheads="1"/>
          </p:cNvSpPr>
          <p:nvPr/>
        </p:nvSpPr>
        <p:spPr bwMode="auto">
          <a:xfrm>
            <a:off x="1025525" y="44783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9144" name="Text Box 9"/>
          <p:cNvSpPr txBox="1">
            <a:spLocks noChangeArrowheads="1"/>
          </p:cNvSpPr>
          <p:nvPr/>
        </p:nvSpPr>
        <p:spPr bwMode="auto">
          <a:xfrm>
            <a:off x="1025525" y="50450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9145" name="Freeform 10"/>
          <p:cNvSpPr>
            <a:spLocks noChangeArrowheads="1"/>
          </p:cNvSpPr>
          <p:nvPr/>
        </p:nvSpPr>
        <p:spPr bwMode="auto">
          <a:xfrm>
            <a:off x="577850" y="315753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46" name="Freeform 11"/>
          <p:cNvSpPr>
            <a:spLocks noChangeArrowheads="1"/>
          </p:cNvSpPr>
          <p:nvPr/>
        </p:nvSpPr>
        <p:spPr bwMode="auto">
          <a:xfrm>
            <a:off x="588963" y="373221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47" name="Freeform 12"/>
          <p:cNvSpPr>
            <a:spLocks noChangeArrowheads="1"/>
          </p:cNvSpPr>
          <p:nvPr/>
        </p:nvSpPr>
        <p:spPr bwMode="auto">
          <a:xfrm>
            <a:off x="563563" y="430847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48" name="Freeform 13"/>
          <p:cNvSpPr>
            <a:spLocks noChangeArrowheads="1"/>
          </p:cNvSpPr>
          <p:nvPr/>
        </p:nvSpPr>
        <p:spPr bwMode="auto">
          <a:xfrm>
            <a:off x="563563" y="490061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49" name="AutoShape 14"/>
          <p:cNvSpPr>
            <a:spLocks noChangeArrowheads="1"/>
          </p:cNvSpPr>
          <p:nvPr/>
        </p:nvSpPr>
        <p:spPr bwMode="auto">
          <a:xfrm>
            <a:off x="8543925" y="252253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9150" name="Text Box 15"/>
          <p:cNvSpPr txBox="1">
            <a:spLocks noChangeArrowheads="1"/>
          </p:cNvSpPr>
          <p:nvPr/>
        </p:nvSpPr>
        <p:spPr bwMode="auto">
          <a:xfrm>
            <a:off x="8585200" y="27003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19151" name="Text Box 16"/>
          <p:cNvSpPr txBox="1">
            <a:spLocks noChangeArrowheads="1"/>
          </p:cNvSpPr>
          <p:nvPr/>
        </p:nvSpPr>
        <p:spPr bwMode="auto">
          <a:xfrm>
            <a:off x="8585200" y="33274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19152" name="Text Box 17"/>
          <p:cNvSpPr txBox="1">
            <a:spLocks noChangeArrowheads="1"/>
          </p:cNvSpPr>
          <p:nvPr/>
        </p:nvSpPr>
        <p:spPr bwMode="auto">
          <a:xfrm>
            <a:off x="8585200" y="38846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19153" name="Text Box 18"/>
          <p:cNvSpPr txBox="1">
            <a:spLocks noChangeArrowheads="1"/>
          </p:cNvSpPr>
          <p:nvPr/>
        </p:nvSpPr>
        <p:spPr bwMode="auto">
          <a:xfrm>
            <a:off x="8585200" y="44450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19154" name="Text Box 19"/>
          <p:cNvSpPr txBox="1">
            <a:spLocks noChangeArrowheads="1"/>
          </p:cNvSpPr>
          <p:nvPr/>
        </p:nvSpPr>
        <p:spPr bwMode="auto">
          <a:xfrm>
            <a:off x="8585200" y="50101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19155" name="Freeform 20"/>
          <p:cNvSpPr>
            <a:spLocks noChangeArrowheads="1"/>
          </p:cNvSpPr>
          <p:nvPr/>
        </p:nvSpPr>
        <p:spPr bwMode="auto">
          <a:xfrm>
            <a:off x="8543925" y="312261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56" name="Freeform 21"/>
          <p:cNvSpPr>
            <a:spLocks noChangeArrowheads="1"/>
          </p:cNvSpPr>
          <p:nvPr/>
        </p:nvSpPr>
        <p:spPr bwMode="auto">
          <a:xfrm>
            <a:off x="8555038" y="369728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57" name="Freeform 22"/>
          <p:cNvSpPr>
            <a:spLocks noChangeArrowheads="1"/>
          </p:cNvSpPr>
          <p:nvPr/>
        </p:nvSpPr>
        <p:spPr bwMode="auto">
          <a:xfrm>
            <a:off x="8529638" y="427355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19158" name="Freeform 23"/>
          <p:cNvSpPr>
            <a:spLocks noChangeArrowheads="1"/>
          </p:cNvSpPr>
          <p:nvPr/>
        </p:nvSpPr>
        <p:spPr bwMode="auto">
          <a:xfrm>
            <a:off x="8529638" y="486568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8024"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19160" name="AutoShape 25"/>
          <p:cNvSpPr>
            <a:spLocks noChangeArrowheads="1"/>
          </p:cNvSpPr>
          <p:nvPr/>
        </p:nvSpPr>
        <p:spPr bwMode="auto">
          <a:xfrm>
            <a:off x="8704263" y="202565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9161" name="Text Box 26"/>
          <p:cNvSpPr txBox="1">
            <a:spLocks noChangeArrowheads="1"/>
          </p:cNvSpPr>
          <p:nvPr/>
        </p:nvSpPr>
        <p:spPr bwMode="auto">
          <a:xfrm>
            <a:off x="8696325" y="213042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19162" name="AutoShape 27"/>
          <p:cNvSpPr>
            <a:spLocks noChangeArrowheads="1"/>
          </p:cNvSpPr>
          <p:nvPr/>
        </p:nvSpPr>
        <p:spPr bwMode="auto">
          <a:xfrm>
            <a:off x="582613" y="206851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19163" name="Text Box 28"/>
          <p:cNvSpPr txBox="1">
            <a:spLocks noChangeArrowheads="1"/>
          </p:cNvSpPr>
          <p:nvPr/>
        </p:nvSpPr>
        <p:spPr bwMode="auto">
          <a:xfrm>
            <a:off x="604838" y="218916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8029"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28030" name="Rectangle 30"/>
          <p:cNvSpPr>
            <a:spLocks noChangeArrowheads="1"/>
          </p:cNvSpPr>
          <p:nvPr/>
        </p:nvSpPr>
        <p:spPr bwMode="auto">
          <a:xfrm>
            <a:off x="4405313" y="2201863"/>
            <a:ext cx="28098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nvGrpSpPr>
          <p:cNvPr id="128031" name="Group 31"/>
          <p:cNvGrpSpPr>
            <a:grpSpLocks/>
          </p:cNvGrpSpPr>
          <p:nvPr/>
        </p:nvGrpSpPr>
        <p:grpSpPr bwMode="auto">
          <a:xfrm>
            <a:off x="2846388" y="2128838"/>
            <a:ext cx="1562100" cy="1008062"/>
            <a:chOff x="1655" y="1525"/>
            <a:chExt cx="908" cy="635"/>
          </a:xfrm>
        </p:grpSpPr>
        <p:sp>
          <p:nvSpPr>
            <p:cNvPr id="219167" name="Text Box 32"/>
            <p:cNvSpPr txBox="1">
              <a:spLocks noChangeArrowheads="1"/>
            </p:cNvSpPr>
            <p:nvPr/>
          </p:nvSpPr>
          <p:spPr bwMode="auto">
            <a:xfrm>
              <a:off x="1655" y="1525"/>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latin typeface="Arial Rounded MT Bold" panose="020F0704030504030204" pitchFamily="34" charset="0"/>
                  <a:ea typeface="黑体" panose="02010609060101010101" pitchFamily="49" charset="-122"/>
                </a:rPr>
                <a:t>应用层首部</a:t>
              </a:r>
              <a:endParaRPr lang="zh-CN" altLang="en-US" sz="2000" b="1">
                <a:solidFill>
                  <a:srgbClr val="333399"/>
                </a:solidFill>
                <a:latin typeface="Times New Roman" panose="02020603050405020304" pitchFamily="18" charset="0"/>
                <a:ea typeface="黑体" panose="02010609060101010101" pitchFamily="49" charset="-122"/>
              </a:endParaRPr>
            </a:p>
          </p:txBody>
        </p:sp>
        <p:sp>
          <p:nvSpPr>
            <p:cNvPr id="219168" name="Line 33"/>
            <p:cNvSpPr>
              <a:spLocks noChangeShapeType="1"/>
            </p:cNvSpPr>
            <p:nvPr/>
          </p:nvSpPr>
          <p:spPr bwMode="auto">
            <a:xfrm>
              <a:off x="2109" y="1752"/>
              <a:ext cx="272" cy="223"/>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219169" name="Rectangle 34"/>
            <p:cNvSpPr>
              <a:spLocks noChangeArrowheads="1"/>
            </p:cNvSpPr>
            <p:nvPr/>
          </p:nvSpPr>
          <p:spPr bwMode="auto">
            <a:xfrm>
              <a:off x="2245" y="1934"/>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grpSp>
      <p:sp>
        <p:nvSpPr>
          <p:cNvPr id="128035" name="Rectangle 35"/>
          <p:cNvSpPr>
            <a:spLocks noChangeArrowheads="1"/>
          </p:cNvSpPr>
          <p:nvPr/>
        </p:nvSpPr>
        <p:spPr bwMode="auto">
          <a:xfrm>
            <a:off x="2144713" y="5081588"/>
            <a:ext cx="56165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sz="2000" b="1">
                <a:solidFill>
                  <a:srgbClr val="333399"/>
                </a:solidFill>
                <a:ea typeface="黑体" panose="02010609060101010101" pitchFamily="49" charset="-122"/>
              </a:rPr>
              <a:t>10100110100101  </a:t>
            </a:r>
            <a:r>
              <a:rPr lang="zh-CN" altLang="en-US" sz="2000" b="1">
                <a:solidFill>
                  <a:srgbClr val="333399"/>
                </a:solidFill>
                <a:ea typeface="黑体" panose="02010609060101010101" pitchFamily="49" charset="-122"/>
              </a:rPr>
              <a:t>比  特  流  </a:t>
            </a:r>
            <a:r>
              <a:rPr lang="en-US" altLang="zh-CN" sz="2000" b="1">
                <a:solidFill>
                  <a:srgbClr val="333399"/>
                </a:solidFill>
                <a:ea typeface="黑体" panose="02010609060101010101" pitchFamily="49" charset="-122"/>
              </a:rPr>
              <a:t>110101110101</a:t>
            </a:r>
          </a:p>
        </p:txBody>
      </p:sp>
      <p:sp>
        <p:nvSpPr>
          <p:cNvPr id="219171" name="Text Box 36"/>
          <p:cNvSpPr txBox="1">
            <a:spLocks noChangeArrowheads="1"/>
          </p:cNvSpPr>
          <p:nvPr/>
        </p:nvSpPr>
        <p:spPr bwMode="auto">
          <a:xfrm>
            <a:off x="1712913" y="1196975"/>
            <a:ext cx="66770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3333FF"/>
                </a:solidFill>
                <a:ea typeface="黑体" panose="02010609060101010101" pitchFamily="49" charset="-122"/>
              </a:rPr>
              <a:t>注意观察加入或剥去首部（尾部）的层次</a:t>
            </a:r>
          </a:p>
        </p:txBody>
      </p:sp>
      <p:sp>
        <p:nvSpPr>
          <p:cNvPr id="128037" name="Rectangle 37"/>
          <p:cNvSpPr>
            <a:spLocks noChangeArrowheads="1"/>
          </p:cNvSpPr>
          <p:nvPr/>
        </p:nvSpPr>
        <p:spPr bwMode="auto">
          <a:xfrm>
            <a:off x="4405313" y="2778125"/>
            <a:ext cx="28098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nvGrpSpPr>
          <p:cNvPr id="128038" name="Group 38"/>
          <p:cNvGrpSpPr>
            <a:grpSpLocks/>
          </p:cNvGrpSpPr>
          <p:nvPr/>
        </p:nvGrpSpPr>
        <p:grpSpPr bwMode="auto">
          <a:xfrm>
            <a:off x="3860800" y="3354388"/>
            <a:ext cx="3354388" cy="358775"/>
            <a:chOff x="2245" y="2297"/>
            <a:chExt cx="1950" cy="226"/>
          </a:xfrm>
        </p:grpSpPr>
        <p:sp>
          <p:nvSpPr>
            <p:cNvPr id="219174" name="Rectangle 39"/>
            <p:cNvSpPr>
              <a:spLocks noChangeArrowheads="1"/>
            </p:cNvSpPr>
            <p:nvPr/>
          </p:nvSpPr>
          <p:spPr bwMode="auto">
            <a:xfrm>
              <a:off x="2245" y="2297"/>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19175" name="Rectangle 40"/>
            <p:cNvSpPr>
              <a:spLocks noChangeArrowheads="1"/>
            </p:cNvSpPr>
            <p:nvPr/>
          </p:nvSpPr>
          <p:spPr bwMode="auto">
            <a:xfrm>
              <a:off x="2562" y="2297"/>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grpSp>
        <p:nvGrpSpPr>
          <p:cNvPr id="128041" name="Group 41"/>
          <p:cNvGrpSpPr>
            <a:grpSpLocks/>
          </p:cNvGrpSpPr>
          <p:nvPr/>
        </p:nvGrpSpPr>
        <p:grpSpPr bwMode="auto">
          <a:xfrm>
            <a:off x="3314700" y="3930650"/>
            <a:ext cx="3900488" cy="358775"/>
            <a:chOff x="1927" y="2660"/>
            <a:chExt cx="2268" cy="226"/>
          </a:xfrm>
        </p:grpSpPr>
        <p:sp>
          <p:nvSpPr>
            <p:cNvPr id="219177" name="Rectangle 42"/>
            <p:cNvSpPr>
              <a:spLocks noChangeArrowheads="1"/>
            </p:cNvSpPr>
            <p:nvPr/>
          </p:nvSpPr>
          <p:spPr bwMode="auto">
            <a:xfrm>
              <a:off x="1927" y="2660"/>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19178" name="Rectangle 43"/>
            <p:cNvSpPr>
              <a:spLocks noChangeArrowheads="1"/>
            </p:cNvSpPr>
            <p:nvPr/>
          </p:nvSpPr>
          <p:spPr bwMode="auto">
            <a:xfrm>
              <a:off x="2245" y="2660"/>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19179" name="Rectangle 44"/>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grpSp>
        <p:nvGrpSpPr>
          <p:cNvPr id="128045" name="Group 45"/>
          <p:cNvGrpSpPr>
            <a:grpSpLocks/>
          </p:cNvGrpSpPr>
          <p:nvPr/>
        </p:nvGrpSpPr>
        <p:grpSpPr bwMode="auto">
          <a:xfrm>
            <a:off x="2768600" y="4506913"/>
            <a:ext cx="4446588" cy="358775"/>
            <a:chOff x="1610" y="3023"/>
            <a:chExt cx="2585" cy="226"/>
          </a:xfrm>
        </p:grpSpPr>
        <p:sp>
          <p:nvSpPr>
            <p:cNvPr id="219181" name="Rectangle 46"/>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sp>
          <p:nvSpPr>
            <p:cNvPr id="219182" name="Rectangle 47"/>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19183" name="Rectangle 48"/>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19184" name="Rectangle 49"/>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grpSp>
        <p:nvGrpSpPr>
          <p:cNvPr id="128050" name="Group 50"/>
          <p:cNvGrpSpPr>
            <a:grpSpLocks/>
          </p:cNvGrpSpPr>
          <p:nvPr/>
        </p:nvGrpSpPr>
        <p:grpSpPr bwMode="auto">
          <a:xfrm>
            <a:off x="708025" y="2489200"/>
            <a:ext cx="5180013" cy="415925"/>
            <a:chOff x="412" y="1752"/>
            <a:chExt cx="3012" cy="262"/>
          </a:xfrm>
        </p:grpSpPr>
        <p:sp>
          <p:nvSpPr>
            <p:cNvPr id="219186" name="AutoShape 51"/>
            <p:cNvSpPr>
              <a:spLocks noChangeArrowheads="1"/>
            </p:cNvSpPr>
            <p:nvPr/>
          </p:nvSpPr>
          <p:spPr bwMode="auto">
            <a:xfrm flipV="1">
              <a:off x="412" y="1786"/>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9187" name="AutoShape 52"/>
            <p:cNvSpPr>
              <a:spLocks noChangeArrowheads="1"/>
            </p:cNvSpPr>
            <p:nvPr/>
          </p:nvSpPr>
          <p:spPr bwMode="auto">
            <a:xfrm flipV="1">
              <a:off x="3300" y="1752"/>
              <a:ext cx="124" cy="228"/>
            </a:xfrm>
            <a:prstGeom prst="upArrow">
              <a:avLst>
                <a:gd name="adj1" fmla="val 50000"/>
                <a:gd name="adj2" fmla="val 45968"/>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grpSp>
        <p:nvGrpSpPr>
          <p:cNvPr id="128053" name="Group 53"/>
          <p:cNvGrpSpPr>
            <a:grpSpLocks/>
          </p:cNvGrpSpPr>
          <p:nvPr/>
        </p:nvGrpSpPr>
        <p:grpSpPr bwMode="auto">
          <a:xfrm>
            <a:off x="704850" y="3065463"/>
            <a:ext cx="4872038" cy="396875"/>
            <a:chOff x="410" y="2115"/>
            <a:chExt cx="2833" cy="250"/>
          </a:xfrm>
        </p:grpSpPr>
        <p:sp>
          <p:nvSpPr>
            <p:cNvPr id="219189" name="AutoShape 54"/>
            <p:cNvSpPr>
              <a:spLocks noChangeArrowheads="1"/>
            </p:cNvSpPr>
            <p:nvPr/>
          </p:nvSpPr>
          <p:spPr bwMode="auto">
            <a:xfrm rot="10800000">
              <a:off x="410" y="2116"/>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9190" name="AutoShape 55"/>
            <p:cNvSpPr>
              <a:spLocks noChangeArrowheads="1"/>
            </p:cNvSpPr>
            <p:nvPr/>
          </p:nvSpPr>
          <p:spPr bwMode="auto">
            <a:xfrm rot="10800000">
              <a:off x="3118" y="2115"/>
              <a:ext cx="125" cy="249"/>
            </a:xfrm>
            <a:prstGeom prst="upArrow">
              <a:avLst>
                <a:gd name="adj1" fmla="val 50000"/>
                <a:gd name="adj2" fmla="val 4980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grpSp>
        <p:nvGrpSpPr>
          <p:cNvPr id="128056" name="Group 56"/>
          <p:cNvGrpSpPr>
            <a:grpSpLocks/>
          </p:cNvGrpSpPr>
          <p:nvPr/>
        </p:nvGrpSpPr>
        <p:grpSpPr bwMode="auto">
          <a:xfrm>
            <a:off x="704850" y="3625850"/>
            <a:ext cx="4481513" cy="409575"/>
            <a:chOff x="410" y="2468"/>
            <a:chExt cx="2606" cy="258"/>
          </a:xfrm>
        </p:grpSpPr>
        <p:sp>
          <p:nvSpPr>
            <p:cNvPr id="219192" name="AutoShape 57"/>
            <p:cNvSpPr>
              <a:spLocks noChangeArrowheads="1"/>
            </p:cNvSpPr>
            <p:nvPr/>
          </p:nvSpPr>
          <p:spPr bwMode="auto">
            <a:xfrm rot="10800000">
              <a:off x="410" y="246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9193" name="AutoShape 58"/>
            <p:cNvSpPr>
              <a:spLocks noChangeArrowheads="1"/>
            </p:cNvSpPr>
            <p:nvPr/>
          </p:nvSpPr>
          <p:spPr bwMode="auto">
            <a:xfrm rot="10800000">
              <a:off x="2891" y="2478"/>
              <a:ext cx="125" cy="248"/>
            </a:xfrm>
            <a:prstGeom prst="upArrow">
              <a:avLst>
                <a:gd name="adj1" fmla="val 50000"/>
                <a:gd name="adj2" fmla="val 49600"/>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grpSp>
        <p:nvGrpSpPr>
          <p:cNvPr id="128059" name="Group 59"/>
          <p:cNvGrpSpPr>
            <a:grpSpLocks/>
          </p:cNvGrpSpPr>
          <p:nvPr/>
        </p:nvGrpSpPr>
        <p:grpSpPr bwMode="auto">
          <a:xfrm>
            <a:off x="703263" y="4216400"/>
            <a:ext cx="4151312" cy="444500"/>
            <a:chOff x="409" y="2840"/>
            <a:chExt cx="2414" cy="280"/>
          </a:xfrm>
        </p:grpSpPr>
        <p:sp>
          <p:nvSpPr>
            <p:cNvPr id="219195" name="AutoShape 60"/>
            <p:cNvSpPr>
              <a:spLocks noChangeArrowheads="1"/>
            </p:cNvSpPr>
            <p:nvPr/>
          </p:nvSpPr>
          <p:spPr bwMode="auto">
            <a:xfrm rot="10800000">
              <a:off x="409" y="2870"/>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9196" name="AutoShape 61"/>
            <p:cNvSpPr>
              <a:spLocks noChangeArrowheads="1"/>
            </p:cNvSpPr>
            <p:nvPr/>
          </p:nvSpPr>
          <p:spPr bwMode="auto">
            <a:xfrm rot="10800000">
              <a:off x="2699" y="2840"/>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grpSp>
        <p:nvGrpSpPr>
          <p:cNvPr id="128062" name="Group 62"/>
          <p:cNvGrpSpPr>
            <a:grpSpLocks/>
          </p:cNvGrpSpPr>
          <p:nvPr/>
        </p:nvGrpSpPr>
        <p:grpSpPr bwMode="auto">
          <a:xfrm>
            <a:off x="703263" y="4792663"/>
            <a:ext cx="3938587" cy="460375"/>
            <a:chOff x="409" y="3203"/>
            <a:chExt cx="2290" cy="290"/>
          </a:xfrm>
        </p:grpSpPr>
        <p:sp>
          <p:nvSpPr>
            <p:cNvPr id="219198" name="AutoShape 63"/>
            <p:cNvSpPr>
              <a:spLocks noChangeArrowheads="1"/>
            </p:cNvSpPr>
            <p:nvPr/>
          </p:nvSpPr>
          <p:spPr bwMode="auto">
            <a:xfrm rot="10800000">
              <a:off x="409" y="3243"/>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19199" name="AutoShape 64"/>
            <p:cNvSpPr>
              <a:spLocks noChangeArrowheads="1"/>
            </p:cNvSpPr>
            <p:nvPr/>
          </p:nvSpPr>
          <p:spPr bwMode="auto">
            <a:xfrm rot="10800000">
              <a:off x="2575" y="3203"/>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grpSp>
        <p:nvGrpSpPr>
          <p:cNvPr id="128065" name="Group 65"/>
          <p:cNvGrpSpPr>
            <a:grpSpLocks/>
          </p:cNvGrpSpPr>
          <p:nvPr/>
        </p:nvGrpSpPr>
        <p:grpSpPr bwMode="auto">
          <a:xfrm>
            <a:off x="2222500" y="2638425"/>
            <a:ext cx="1638300" cy="1074738"/>
            <a:chOff x="1292" y="1846"/>
            <a:chExt cx="953" cy="677"/>
          </a:xfrm>
        </p:grpSpPr>
        <p:sp>
          <p:nvSpPr>
            <p:cNvPr id="219201" name="Rectangle 66"/>
            <p:cNvSpPr>
              <a:spLocks noChangeArrowheads="1"/>
            </p:cNvSpPr>
            <p:nvPr/>
          </p:nvSpPr>
          <p:spPr bwMode="auto">
            <a:xfrm>
              <a:off x="1927" y="2297"/>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19202" name="Text Box 67"/>
            <p:cNvSpPr txBox="1">
              <a:spLocks noChangeArrowheads="1"/>
            </p:cNvSpPr>
            <p:nvPr/>
          </p:nvSpPr>
          <p:spPr bwMode="auto">
            <a:xfrm>
              <a:off x="1292" y="1846"/>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latin typeface="Arial Rounded MT Bold" panose="020F0704030504030204" pitchFamily="34" charset="0"/>
                  <a:ea typeface="黑体" panose="02010609060101010101" pitchFamily="49" charset="-122"/>
                </a:rPr>
                <a:t>运输层首部</a:t>
              </a:r>
              <a:endParaRPr lang="zh-CN" altLang="en-US" sz="2000" b="1">
                <a:solidFill>
                  <a:srgbClr val="333399"/>
                </a:solidFill>
                <a:latin typeface="Times New Roman" panose="02020603050405020304" pitchFamily="18" charset="0"/>
                <a:ea typeface="黑体" panose="02010609060101010101" pitchFamily="49" charset="-122"/>
              </a:endParaRPr>
            </a:p>
          </p:txBody>
        </p:sp>
        <p:sp>
          <p:nvSpPr>
            <p:cNvPr id="219203" name="Line 68"/>
            <p:cNvSpPr>
              <a:spLocks noChangeShapeType="1"/>
            </p:cNvSpPr>
            <p:nvPr/>
          </p:nvSpPr>
          <p:spPr bwMode="auto">
            <a:xfrm>
              <a:off x="1791" y="2069"/>
              <a:ext cx="227" cy="227"/>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28069" name="Group 69"/>
          <p:cNvGrpSpPr>
            <a:grpSpLocks/>
          </p:cNvGrpSpPr>
          <p:nvPr/>
        </p:nvGrpSpPr>
        <p:grpSpPr bwMode="auto">
          <a:xfrm>
            <a:off x="1662113" y="3136900"/>
            <a:ext cx="1652587" cy="1152525"/>
            <a:chOff x="966" y="2160"/>
            <a:chExt cx="961" cy="726"/>
          </a:xfrm>
        </p:grpSpPr>
        <p:sp>
          <p:nvSpPr>
            <p:cNvPr id="219205" name="Rectangle 70"/>
            <p:cNvSpPr>
              <a:spLocks noChangeArrowheads="1"/>
            </p:cNvSpPr>
            <p:nvPr/>
          </p:nvSpPr>
          <p:spPr bwMode="auto">
            <a:xfrm>
              <a:off x="1609" y="2660"/>
              <a:ext cx="318" cy="226"/>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sp>
          <p:nvSpPr>
            <p:cNvPr id="219206" name="Text Box 71"/>
            <p:cNvSpPr txBox="1">
              <a:spLocks noChangeArrowheads="1"/>
            </p:cNvSpPr>
            <p:nvPr/>
          </p:nvSpPr>
          <p:spPr bwMode="auto">
            <a:xfrm>
              <a:off x="966" y="2160"/>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latin typeface="Arial Rounded MT Bold" panose="020F0704030504030204" pitchFamily="34" charset="0"/>
                  <a:ea typeface="黑体" panose="02010609060101010101" pitchFamily="49" charset="-122"/>
                </a:rPr>
                <a:t>网络层首部</a:t>
              </a:r>
              <a:endParaRPr lang="zh-CN" altLang="en-US" sz="2000" b="1">
                <a:solidFill>
                  <a:srgbClr val="333399"/>
                </a:solidFill>
                <a:latin typeface="Times New Roman" panose="02020603050405020304" pitchFamily="18" charset="0"/>
                <a:ea typeface="黑体" panose="02010609060101010101" pitchFamily="49" charset="-122"/>
              </a:endParaRPr>
            </a:p>
          </p:txBody>
        </p:sp>
        <p:sp>
          <p:nvSpPr>
            <p:cNvPr id="219207" name="Line 72"/>
            <p:cNvSpPr>
              <a:spLocks noChangeShapeType="1"/>
            </p:cNvSpPr>
            <p:nvPr/>
          </p:nvSpPr>
          <p:spPr bwMode="auto">
            <a:xfrm>
              <a:off x="1474" y="2387"/>
              <a:ext cx="227" cy="272"/>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28073" name="Group 73"/>
          <p:cNvGrpSpPr>
            <a:grpSpLocks/>
          </p:cNvGrpSpPr>
          <p:nvPr/>
        </p:nvGrpSpPr>
        <p:grpSpPr bwMode="auto">
          <a:xfrm>
            <a:off x="1546225" y="3568700"/>
            <a:ext cx="1222375" cy="1295400"/>
            <a:chOff x="899" y="2432"/>
            <a:chExt cx="711" cy="816"/>
          </a:xfrm>
        </p:grpSpPr>
        <p:sp>
          <p:nvSpPr>
            <p:cNvPr id="219209" name="Rectangle 74"/>
            <p:cNvSpPr>
              <a:spLocks noChangeArrowheads="1"/>
            </p:cNvSpPr>
            <p:nvPr/>
          </p:nvSpPr>
          <p:spPr bwMode="auto">
            <a:xfrm>
              <a:off x="1247" y="3022"/>
              <a:ext cx="363" cy="226"/>
            </a:xfrm>
            <a:prstGeom prst="rect">
              <a:avLst/>
            </a:prstGeom>
            <a:solidFill>
              <a:srgbClr val="66FF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2</a:t>
              </a:r>
            </a:p>
          </p:txBody>
        </p:sp>
        <p:sp>
          <p:nvSpPr>
            <p:cNvPr id="219210" name="Text Box 75"/>
            <p:cNvSpPr txBox="1">
              <a:spLocks noChangeArrowheads="1"/>
            </p:cNvSpPr>
            <p:nvPr/>
          </p:nvSpPr>
          <p:spPr bwMode="auto">
            <a:xfrm>
              <a:off x="899" y="2432"/>
              <a:ext cx="55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000" b="1">
                  <a:solidFill>
                    <a:srgbClr val="333399"/>
                  </a:solidFill>
                  <a:latin typeface="Arial Rounded MT Bold" panose="020F0704030504030204" pitchFamily="34" charset="0"/>
                  <a:ea typeface="黑体" panose="02010609060101010101" pitchFamily="49" charset="-122"/>
                </a:rPr>
                <a:t>链路层</a:t>
              </a:r>
            </a:p>
            <a:p>
              <a:pPr algn="ctr" eaLnBrk="0" hangingPunct="0">
                <a:lnSpc>
                  <a:spcPct val="90000"/>
                </a:lnSpc>
              </a:pPr>
              <a:r>
                <a:rPr lang="zh-CN" altLang="en-US" sz="2000" b="1">
                  <a:solidFill>
                    <a:srgbClr val="333399"/>
                  </a:solidFill>
                  <a:latin typeface="Arial Rounded MT Bold" panose="020F0704030504030204" pitchFamily="34" charset="0"/>
                  <a:ea typeface="黑体" panose="02010609060101010101" pitchFamily="49" charset="-122"/>
                </a:rPr>
                <a:t>首部</a:t>
              </a:r>
              <a:endParaRPr lang="zh-CN" altLang="en-US" sz="2000" b="1">
                <a:solidFill>
                  <a:srgbClr val="333399"/>
                </a:solidFill>
                <a:latin typeface="Times New Roman" panose="02020603050405020304" pitchFamily="18" charset="0"/>
                <a:ea typeface="黑体" panose="02010609060101010101" pitchFamily="49" charset="-122"/>
              </a:endParaRPr>
            </a:p>
          </p:txBody>
        </p:sp>
        <p:sp>
          <p:nvSpPr>
            <p:cNvPr id="219211" name="Line 76"/>
            <p:cNvSpPr>
              <a:spLocks noChangeShapeType="1"/>
            </p:cNvSpPr>
            <p:nvPr/>
          </p:nvSpPr>
          <p:spPr bwMode="auto">
            <a:xfrm>
              <a:off x="1284" y="2799"/>
              <a:ext cx="145" cy="223"/>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28077" name="Group 77"/>
          <p:cNvGrpSpPr>
            <a:grpSpLocks/>
          </p:cNvGrpSpPr>
          <p:nvPr/>
        </p:nvGrpSpPr>
        <p:grpSpPr bwMode="auto">
          <a:xfrm>
            <a:off x="7215188" y="3575050"/>
            <a:ext cx="1057275" cy="1290638"/>
            <a:chOff x="4195" y="2436"/>
            <a:chExt cx="615" cy="813"/>
          </a:xfrm>
        </p:grpSpPr>
        <p:sp>
          <p:nvSpPr>
            <p:cNvPr id="219213" name="Rectangle 78"/>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T</a:t>
              </a:r>
              <a:r>
                <a:rPr lang="en-US" altLang="zh-CN" b="1" baseline="-25000">
                  <a:solidFill>
                    <a:srgbClr val="333399"/>
                  </a:solidFill>
                  <a:ea typeface="宋体" panose="02010600030101010101" pitchFamily="2" charset="-122"/>
                </a:rPr>
                <a:t>2</a:t>
              </a:r>
            </a:p>
          </p:txBody>
        </p:sp>
        <p:sp>
          <p:nvSpPr>
            <p:cNvPr id="219214" name="Line 79"/>
            <p:cNvSpPr>
              <a:spLocks noChangeShapeType="1"/>
            </p:cNvSpPr>
            <p:nvPr/>
          </p:nvSpPr>
          <p:spPr bwMode="auto">
            <a:xfrm flipH="1">
              <a:off x="4377" y="2840"/>
              <a:ext cx="136" cy="182"/>
            </a:xfrm>
            <a:prstGeom prst="line">
              <a:avLst/>
            </a:prstGeom>
            <a:noFill/>
            <a:ln w="12700">
              <a:solidFill>
                <a:srgbClr val="333399"/>
              </a:solidFill>
              <a:round/>
              <a:headEnd type="none" w="sm"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219215" name="Text Box 80"/>
            <p:cNvSpPr txBox="1">
              <a:spLocks noChangeArrowheads="1"/>
            </p:cNvSpPr>
            <p:nvPr/>
          </p:nvSpPr>
          <p:spPr bwMode="auto">
            <a:xfrm>
              <a:off x="4255" y="2436"/>
              <a:ext cx="55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000" b="1">
                  <a:solidFill>
                    <a:srgbClr val="333399"/>
                  </a:solidFill>
                  <a:latin typeface="Arial Rounded MT Bold" panose="020F0704030504030204" pitchFamily="34" charset="0"/>
                  <a:ea typeface="黑体" panose="02010609060101010101" pitchFamily="49" charset="-122"/>
                </a:rPr>
                <a:t>链路层</a:t>
              </a:r>
            </a:p>
            <a:p>
              <a:pPr algn="ctr" eaLnBrk="0" hangingPunct="0">
                <a:lnSpc>
                  <a:spcPct val="90000"/>
                </a:lnSpc>
              </a:pPr>
              <a:r>
                <a:rPr lang="zh-CN" altLang="en-US" sz="2000" b="1">
                  <a:solidFill>
                    <a:srgbClr val="333399"/>
                  </a:solidFill>
                  <a:latin typeface="Arial Rounded MT Bold" panose="020F0704030504030204" pitchFamily="34" charset="0"/>
                  <a:ea typeface="黑体" panose="02010609060101010101" pitchFamily="49" charset="-122"/>
                </a:rPr>
                <a:t>尾部</a:t>
              </a:r>
              <a:endParaRPr lang="zh-CN" altLang="en-US" sz="2000" b="1">
                <a:solidFill>
                  <a:srgbClr val="333399"/>
                </a:solidFill>
                <a:latin typeface="Times New Roman" panose="02020603050405020304" pitchFamily="18" charset="0"/>
                <a:ea typeface="黑体" panose="02010609060101010101" pitchFamily="49" charset="-122"/>
              </a:endParaRPr>
            </a:p>
          </p:txBody>
        </p:sp>
      </p:grpSp>
      <p:sp>
        <p:nvSpPr>
          <p:cNvPr id="21921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8CCCC3-BC71-484F-BB61-1D6122D7768F}" type="slidenum">
              <a:rPr lang="zh-CN" altLang="en-US" smtClean="0"/>
              <a:pPr eaLnBrk="1" hangingPunct="1"/>
              <a:t>35</a:t>
            </a:fld>
            <a:endParaRPr lang="en-US" altLang="zh-CN" smtClean="0"/>
          </a:p>
        </p:txBody>
      </p:sp>
      <p:sp>
        <p:nvSpPr>
          <p:cNvPr id="21921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030"/>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1" fill="hold" nodeType="afterEffect">
                                  <p:stCondLst>
                                    <p:cond delay="1000"/>
                                  </p:stCondLst>
                                  <p:childTnLst>
                                    <p:set>
                                      <p:cBhvr>
                                        <p:cTn id="9" dur="1" fill="hold">
                                          <p:stCondLst>
                                            <p:cond delay="0"/>
                                          </p:stCondLst>
                                        </p:cTn>
                                        <p:tgtEl>
                                          <p:spTgt spid="128050"/>
                                        </p:tgtEl>
                                        <p:attrNameLst>
                                          <p:attrName>style.visibility</p:attrName>
                                        </p:attrNameLst>
                                      </p:cBhvr>
                                      <p:to>
                                        <p:strVal val="visible"/>
                                      </p:to>
                                    </p:set>
                                    <p:animEffect transition="in" filter="wipe(up)">
                                      <p:cBhvr>
                                        <p:cTn id="10" dur="1000"/>
                                        <p:tgtEl>
                                          <p:spTgt spid="128050"/>
                                        </p:tgtEl>
                                      </p:cBhvr>
                                    </p:animEffect>
                                  </p:childTnLst>
                                </p:cTn>
                              </p:par>
                            </p:childTnLst>
                          </p:cTn>
                        </p:par>
                        <p:par>
                          <p:cTn id="11" fill="hold" nodeType="afterGroup">
                            <p:stCondLst>
                              <p:cond delay="2500"/>
                            </p:stCondLst>
                            <p:childTnLst>
                              <p:par>
                                <p:cTn id="12" presetID="1" presetClass="entr" presetSubtype="0" fill="hold" grpId="0" nodeType="afterEffect">
                                  <p:stCondLst>
                                    <p:cond delay="500"/>
                                  </p:stCondLst>
                                  <p:childTnLst>
                                    <p:set>
                                      <p:cBhvr>
                                        <p:cTn id="13" dur="1" fill="hold">
                                          <p:stCondLst>
                                            <p:cond delay="0"/>
                                          </p:stCondLst>
                                        </p:cTn>
                                        <p:tgtEl>
                                          <p:spTgt spid="128037"/>
                                        </p:tgtEl>
                                        <p:attrNameLst>
                                          <p:attrName>style.visibility</p:attrName>
                                        </p:attrNameLst>
                                      </p:cBhvr>
                                      <p:to>
                                        <p:strVal val="visible"/>
                                      </p:to>
                                    </p:set>
                                  </p:childTnLst>
                                </p:cTn>
                              </p:par>
                            </p:childTnLst>
                          </p:cTn>
                        </p:par>
                        <p:par>
                          <p:cTn id="14" fill="hold" nodeType="afterGroup">
                            <p:stCondLst>
                              <p:cond delay="3001"/>
                            </p:stCondLst>
                            <p:childTnLst>
                              <p:par>
                                <p:cTn id="15" presetID="12" presetClass="entr" presetSubtype="8" fill="hold" nodeType="afterEffect">
                                  <p:stCondLst>
                                    <p:cond delay="1000"/>
                                  </p:stCondLst>
                                  <p:childTnLst>
                                    <p:set>
                                      <p:cBhvr>
                                        <p:cTn id="16" dur="1" fill="hold">
                                          <p:stCondLst>
                                            <p:cond delay="0"/>
                                          </p:stCondLst>
                                        </p:cTn>
                                        <p:tgtEl>
                                          <p:spTgt spid="128031"/>
                                        </p:tgtEl>
                                        <p:attrNameLst>
                                          <p:attrName>style.visibility</p:attrName>
                                        </p:attrNameLst>
                                      </p:cBhvr>
                                      <p:to>
                                        <p:strVal val="visible"/>
                                      </p:to>
                                    </p:set>
                                    <p:animEffect transition="in" filter="slide(fromLeft)">
                                      <p:cBhvr>
                                        <p:cTn id="17" dur="1000"/>
                                        <p:tgtEl>
                                          <p:spTgt spid="128031"/>
                                        </p:tgtEl>
                                      </p:cBhvr>
                                    </p:animEffect>
                                  </p:childTnLst>
                                </p:cTn>
                              </p:par>
                            </p:childTnLst>
                          </p:cTn>
                        </p:par>
                        <p:par>
                          <p:cTn id="18" fill="hold" nodeType="afterGroup">
                            <p:stCondLst>
                              <p:cond delay="5001"/>
                            </p:stCondLst>
                            <p:childTnLst>
                              <p:par>
                                <p:cTn id="19" presetID="9" presetClass="emph" presetSubtype="0" nodeType="afterEffect">
                                  <p:stCondLst>
                                    <p:cond delay="500"/>
                                  </p:stCondLst>
                                  <p:childTnLst>
                                    <p:set>
                                      <p:cBhvr rctx="PPT">
                                        <p:cTn id="20" dur="indefinite"/>
                                        <p:tgtEl>
                                          <p:spTgt spid="128050"/>
                                        </p:tgtEl>
                                        <p:attrNameLst>
                                          <p:attrName>style.opacity</p:attrName>
                                        </p:attrNameLst>
                                      </p:cBhvr>
                                      <p:to>
                                        <p:strVal val="0.5"/>
                                      </p:to>
                                    </p:set>
                                    <p:animEffect filter="image" prLst="opacity: 0.5">
                                      <p:cBhvr rctx="IE">
                                        <p:cTn id="21" dur="indefinite"/>
                                        <p:tgtEl>
                                          <p:spTgt spid="128050"/>
                                        </p:tgtEl>
                                      </p:cBhvr>
                                    </p:animEffect>
                                  </p:childTnLst>
                                </p:cTn>
                              </p:par>
                            </p:childTnLst>
                          </p:cTn>
                        </p:par>
                        <p:par>
                          <p:cTn id="22" fill="hold" nodeType="afterGroup">
                            <p:stCondLst>
                              <p:cond delay="4501"/>
                            </p:stCondLst>
                            <p:childTnLst>
                              <p:par>
                                <p:cTn id="23" presetID="22" presetClass="entr" presetSubtype="1" fill="hold" nodeType="afterEffect">
                                  <p:stCondLst>
                                    <p:cond delay="500"/>
                                  </p:stCondLst>
                                  <p:childTnLst>
                                    <p:set>
                                      <p:cBhvr>
                                        <p:cTn id="24" dur="1" fill="hold">
                                          <p:stCondLst>
                                            <p:cond delay="0"/>
                                          </p:stCondLst>
                                        </p:cTn>
                                        <p:tgtEl>
                                          <p:spTgt spid="128053"/>
                                        </p:tgtEl>
                                        <p:attrNameLst>
                                          <p:attrName>style.visibility</p:attrName>
                                        </p:attrNameLst>
                                      </p:cBhvr>
                                      <p:to>
                                        <p:strVal val="visible"/>
                                      </p:to>
                                    </p:set>
                                    <p:animEffect transition="in" filter="wipe(up)">
                                      <p:cBhvr>
                                        <p:cTn id="25" dur="1000"/>
                                        <p:tgtEl>
                                          <p:spTgt spid="128053"/>
                                        </p:tgtEl>
                                      </p:cBhvr>
                                    </p:animEffect>
                                  </p:childTnLst>
                                </p:cTn>
                              </p:par>
                            </p:childTnLst>
                          </p:cTn>
                        </p:par>
                        <p:par>
                          <p:cTn id="26" fill="hold" nodeType="afterGroup">
                            <p:stCondLst>
                              <p:cond delay="6001"/>
                            </p:stCondLst>
                            <p:childTnLst>
                              <p:par>
                                <p:cTn id="27" presetID="1" presetClass="entr" presetSubtype="0" fill="hold" nodeType="afterEffect">
                                  <p:stCondLst>
                                    <p:cond delay="500"/>
                                  </p:stCondLst>
                                  <p:childTnLst>
                                    <p:set>
                                      <p:cBhvr>
                                        <p:cTn id="28" dur="1" fill="hold">
                                          <p:stCondLst>
                                            <p:cond delay="0"/>
                                          </p:stCondLst>
                                        </p:cTn>
                                        <p:tgtEl>
                                          <p:spTgt spid="128038"/>
                                        </p:tgtEl>
                                        <p:attrNameLst>
                                          <p:attrName>style.visibility</p:attrName>
                                        </p:attrNameLst>
                                      </p:cBhvr>
                                      <p:to>
                                        <p:strVal val="visible"/>
                                      </p:to>
                                    </p:set>
                                  </p:childTnLst>
                                </p:cTn>
                              </p:par>
                            </p:childTnLst>
                          </p:cTn>
                        </p:par>
                        <p:par>
                          <p:cTn id="29" fill="hold" nodeType="afterGroup">
                            <p:stCondLst>
                              <p:cond delay="6502"/>
                            </p:stCondLst>
                            <p:childTnLst>
                              <p:par>
                                <p:cTn id="30" presetID="12" presetClass="entr" presetSubtype="8" fill="hold" nodeType="afterEffect">
                                  <p:stCondLst>
                                    <p:cond delay="1000"/>
                                  </p:stCondLst>
                                  <p:childTnLst>
                                    <p:set>
                                      <p:cBhvr>
                                        <p:cTn id="31" dur="1" fill="hold">
                                          <p:stCondLst>
                                            <p:cond delay="0"/>
                                          </p:stCondLst>
                                        </p:cTn>
                                        <p:tgtEl>
                                          <p:spTgt spid="128065"/>
                                        </p:tgtEl>
                                        <p:attrNameLst>
                                          <p:attrName>style.visibility</p:attrName>
                                        </p:attrNameLst>
                                      </p:cBhvr>
                                      <p:to>
                                        <p:strVal val="visible"/>
                                      </p:to>
                                    </p:set>
                                    <p:animEffect transition="in" filter="slide(fromLeft)">
                                      <p:cBhvr>
                                        <p:cTn id="32" dur="1000"/>
                                        <p:tgtEl>
                                          <p:spTgt spid="128065"/>
                                        </p:tgtEl>
                                      </p:cBhvr>
                                    </p:animEffect>
                                  </p:childTnLst>
                                </p:cTn>
                              </p:par>
                            </p:childTnLst>
                          </p:cTn>
                        </p:par>
                        <p:par>
                          <p:cTn id="33" fill="hold" nodeType="afterGroup">
                            <p:stCondLst>
                              <p:cond delay="8502"/>
                            </p:stCondLst>
                            <p:childTnLst>
                              <p:par>
                                <p:cTn id="34" presetID="9" presetClass="emph" presetSubtype="0" nodeType="afterEffect">
                                  <p:stCondLst>
                                    <p:cond delay="0"/>
                                  </p:stCondLst>
                                  <p:childTnLst>
                                    <p:set>
                                      <p:cBhvr rctx="PPT">
                                        <p:cTn id="35" dur="indefinite"/>
                                        <p:tgtEl>
                                          <p:spTgt spid="128053"/>
                                        </p:tgtEl>
                                        <p:attrNameLst>
                                          <p:attrName>style.opacity</p:attrName>
                                        </p:attrNameLst>
                                      </p:cBhvr>
                                      <p:to>
                                        <p:strVal val="0.5"/>
                                      </p:to>
                                    </p:set>
                                    <p:animEffect filter="image" prLst="opacity: 0.5">
                                      <p:cBhvr rctx="IE">
                                        <p:cTn id="36" dur="indefinite"/>
                                        <p:tgtEl>
                                          <p:spTgt spid="128053"/>
                                        </p:tgtEl>
                                      </p:cBhvr>
                                    </p:animEffect>
                                  </p:childTnLst>
                                </p:cTn>
                              </p:par>
                            </p:childTnLst>
                          </p:cTn>
                        </p:par>
                        <p:par>
                          <p:cTn id="37" fill="hold" nodeType="afterGroup">
                            <p:stCondLst>
                              <p:cond delay="7502"/>
                            </p:stCondLst>
                            <p:childTnLst>
                              <p:par>
                                <p:cTn id="38" presetID="22" presetClass="entr" presetSubtype="1" fill="hold" nodeType="afterEffect">
                                  <p:stCondLst>
                                    <p:cond delay="0"/>
                                  </p:stCondLst>
                                  <p:childTnLst>
                                    <p:set>
                                      <p:cBhvr>
                                        <p:cTn id="39" dur="1" fill="hold">
                                          <p:stCondLst>
                                            <p:cond delay="0"/>
                                          </p:stCondLst>
                                        </p:cTn>
                                        <p:tgtEl>
                                          <p:spTgt spid="128056"/>
                                        </p:tgtEl>
                                        <p:attrNameLst>
                                          <p:attrName>style.visibility</p:attrName>
                                        </p:attrNameLst>
                                      </p:cBhvr>
                                      <p:to>
                                        <p:strVal val="visible"/>
                                      </p:to>
                                    </p:set>
                                    <p:animEffect transition="in" filter="wipe(up)">
                                      <p:cBhvr>
                                        <p:cTn id="40" dur="1000"/>
                                        <p:tgtEl>
                                          <p:spTgt spid="128056"/>
                                        </p:tgtEl>
                                      </p:cBhvr>
                                    </p:animEffect>
                                  </p:childTnLst>
                                </p:cTn>
                              </p:par>
                            </p:childTnLst>
                          </p:cTn>
                        </p:par>
                        <p:par>
                          <p:cTn id="41" fill="hold" nodeType="afterGroup">
                            <p:stCondLst>
                              <p:cond delay="8502"/>
                            </p:stCondLst>
                            <p:childTnLst>
                              <p:par>
                                <p:cTn id="42" presetID="1" presetClass="entr" presetSubtype="0" fill="hold" nodeType="afterEffect">
                                  <p:stCondLst>
                                    <p:cond delay="500"/>
                                  </p:stCondLst>
                                  <p:childTnLst>
                                    <p:set>
                                      <p:cBhvr>
                                        <p:cTn id="43" dur="1" fill="hold">
                                          <p:stCondLst>
                                            <p:cond delay="0"/>
                                          </p:stCondLst>
                                        </p:cTn>
                                        <p:tgtEl>
                                          <p:spTgt spid="128041"/>
                                        </p:tgtEl>
                                        <p:attrNameLst>
                                          <p:attrName>style.visibility</p:attrName>
                                        </p:attrNameLst>
                                      </p:cBhvr>
                                      <p:to>
                                        <p:strVal val="visible"/>
                                      </p:to>
                                    </p:set>
                                  </p:childTnLst>
                                </p:cTn>
                              </p:par>
                            </p:childTnLst>
                          </p:cTn>
                        </p:par>
                        <p:par>
                          <p:cTn id="44" fill="hold" nodeType="afterGroup">
                            <p:stCondLst>
                              <p:cond delay="9003"/>
                            </p:stCondLst>
                            <p:childTnLst>
                              <p:par>
                                <p:cTn id="45" presetID="12" presetClass="entr" presetSubtype="8" fill="hold" nodeType="afterEffect">
                                  <p:stCondLst>
                                    <p:cond delay="1000"/>
                                  </p:stCondLst>
                                  <p:childTnLst>
                                    <p:set>
                                      <p:cBhvr>
                                        <p:cTn id="46" dur="1" fill="hold">
                                          <p:stCondLst>
                                            <p:cond delay="0"/>
                                          </p:stCondLst>
                                        </p:cTn>
                                        <p:tgtEl>
                                          <p:spTgt spid="128069"/>
                                        </p:tgtEl>
                                        <p:attrNameLst>
                                          <p:attrName>style.visibility</p:attrName>
                                        </p:attrNameLst>
                                      </p:cBhvr>
                                      <p:to>
                                        <p:strVal val="visible"/>
                                      </p:to>
                                    </p:set>
                                    <p:animEffect transition="in" filter="slide(fromLeft)">
                                      <p:cBhvr>
                                        <p:cTn id="47" dur="1000"/>
                                        <p:tgtEl>
                                          <p:spTgt spid="128069"/>
                                        </p:tgtEl>
                                      </p:cBhvr>
                                    </p:animEffect>
                                  </p:childTnLst>
                                </p:cTn>
                              </p:par>
                            </p:childTnLst>
                          </p:cTn>
                        </p:par>
                        <p:par>
                          <p:cTn id="48" fill="hold" nodeType="afterGroup">
                            <p:stCondLst>
                              <p:cond delay="11003"/>
                            </p:stCondLst>
                            <p:childTnLst>
                              <p:par>
                                <p:cTn id="49" presetID="9" presetClass="emph" presetSubtype="0" nodeType="afterEffect">
                                  <p:stCondLst>
                                    <p:cond delay="0"/>
                                  </p:stCondLst>
                                  <p:childTnLst>
                                    <p:set>
                                      <p:cBhvr rctx="PPT">
                                        <p:cTn id="50" dur="indefinite"/>
                                        <p:tgtEl>
                                          <p:spTgt spid="128056"/>
                                        </p:tgtEl>
                                        <p:attrNameLst>
                                          <p:attrName>style.opacity</p:attrName>
                                        </p:attrNameLst>
                                      </p:cBhvr>
                                      <p:to>
                                        <p:strVal val="0.5"/>
                                      </p:to>
                                    </p:set>
                                    <p:animEffect filter="image" prLst="opacity: 0.5">
                                      <p:cBhvr rctx="IE">
                                        <p:cTn id="51" dur="indefinite"/>
                                        <p:tgtEl>
                                          <p:spTgt spid="128056"/>
                                        </p:tgtEl>
                                      </p:cBhvr>
                                    </p:animEffect>
                                  </p:childTnLst>
                                </p:cTn>
                              </p:par>
                            </p:childTnLst>
                          </p:cTn>
                        </p:par>
                        <p:par>
                          <p:cTn id="52" fill="hold" nodeType="afterGroup">
                            <p:stCondLst>
                              <p:cond delay="10003"/>
                            </p:stCondLst>
                            <p:childTnLst>
                              <p:par>
                                <p:cTn id="53" presetID="22" presetClass="entr" presetSubtype="1" fill="hold" nodeType="afterEffect">
                                  <p:stCondLst>
                                    <p:cond delay="0"/>
                                  </p:stCondLst>
                                  <p:childTnLst>
                                    <p:set>
                                      <p:cBhvr>
                                        <p:cTn id="54" dur="1" fill="hold">
                                          <p:stCondLst>
                                            <p:cond delay="0"/>
                                          </p:stCondLst>
                                        </p:cTn>
                                        <p:tgtEl>
                                          <p:spTgt spid="128059"/>
                                        </p:tgtEl>
                                        <p:attrNameLst>
                                          <p:attrName>style.visibility</p:attrName>
                                        </p:attrNameLst>
                                      </p:cBhvr>
                                      <p:to>
                                        <p:strVal val="visible"/>
                                      </p:to>
                                    </p:set>
                                    <p:animEffect transition="in" filter="wipe(up)">
                                      <p:cBhvr>
                                        <p:cTn id="55" dur="1000"/>
                                        <p:tgtEl>
                                          <p:spTgt spid="128059"/>
                                        </p:tgtEl>
                                      </p:cBhvr>
                                    </p:animEffect>
                                  </p:childTnLst>
                                </p:cTn>
                              </p:par>
                            </p:childTnLst>
                          </p:cTn>
                        </p:par>
                        <p:par>
                          <p:cTn id="56" fill="hold" nodeType="afterGroup">
                            <p:stCondLst>
                              <p:cond delay="11003"/>
                            </p:stCondLst>
                            <p:childTnLst>
                              <p:par>
                                <p:cTn id="57" presetID="1" presetClass="entr" presetSubtype="0" fill="hold" nodeType="afterEffect">
                                  <p:stCondLst>
                                    <p:cond delay="500"/>
                                  </p:stCondLst>
                                  <p:childTnLst>
                                    <p:set>
                                      <p:cBhvr>
                                        <p:cTn id="58" dur="1" fill="hold">
                                          <p:stCondLst>
                                            <p:cond delay="0"/>
                                          </p:stCondLst>
                                        </p:cTn>
                                        <p:tgtEl>
                                          <p:spTgt spid="128045"/>
                                        </p:tgtEl>
                                        <p:attrNameLst>
                                          <p:attrName>style.visibility</p:attrName>
                                        </p:attrNameLst>
                                      </p:cBhvr>
                                      <p:to>
                                        <p:strVal val="visible"/>
                                      </p:to>
                                    </p:set>
                                  </p:childTnLst>
                                </p:cTn>
                              </p:par>
                            </p:childTnLst>
                          </p:cTn>
                        </p:par>
                        <p:par>
                          <p:cTn id="59" fill="hold" nodeType="afterGroup">
                            <p:stCondLst>
                              <p:cond delay="11504"/>
                            </p:stCondLst>
                            <p:childTnLst>
                              <p:par>
                                <p:cTn id="60" presetID="12" presetClass="entr" presetSubtype="8" fill="hold" nodeType="afterEffect">
                                  <p:stCondLst>
                                    <p:cond delay="0"/>
                                  </p:stCondLst>
                                  <p:childTnLst>
                                    <p:set>
                                      <p:cBhvr>
                                        <p:cTn id="61" dur="1" fill="hold">
                                          <p:stCondLst>
                                            <p:cond delay="0"/>
                                          </p:stCondLst>
                                        </p:cTn>
                                        <p:tgtEl>
                                          <p:spTgt spid="128073"/>
                                        </p:tgtEl>
                                        <p:attrNameLst>
                                          <p:attrName>style.visibility</p:attrName>
                                        </p:attrNameLst>
                                      </p:cBhvr>
                                      <p:to>
                                        <p:strVal val="visible"/>
                                      </p:to>
                                    </p:set>
                                    <p:animEffect transition="in" filter="slide(fromLeft)">
                                      <p:cBhvr>
                                        <p:cTn id="62" dur="1000"/>
                                        <p:tgtEl>
                                          <p:spTgt spid="128073"/>
                                        </p:tgtEl>
                                      </p:cBhvr>
                                    </p:animEffect>
                                  </p:childTnLst>
                                </p:cTn>
                              </p:par>
                            </p:childTnLst>
                          </p:cTn>
                        </p:par>
                        <p:par>
                          <p:cTn id="63" fill="hold" nodeType="afterGroup">
                            <p:stCondLst>
                              <p:cond delay="12504"/>
                            </p:stCondLst>
                            <p:childTnLst>
                              <p:par>
                                <p:cTn id="64" presetID="12" presetClass="entr" presetSubtype="2" fill="hold" nodeType="afterEffect">
                                  <p:stCondLst>
                                    <p:cond delay="0"/>
                                  </p:stCondLst>
                                  <p:childTnLst>
                                    <p:set>
                                      <p:cBhvr>
                                        <p:cTn id="65" dur="1" fill="hold">
                                          <p:stCondLst>
                                            <p:cond delay="0"/>
                                          </p:stCondLst>
                                        </p:cTn>
                                        <p:tgtEl>
                                          <p:spTgt spid="128077"/>
                                        </p:tgtEl>
                                        <p:attrNameLst>
                                          <p:attrName>style.visibility</p:attrName>
                                        </p:attrNameLst>
                                      </p:cBhvr>
                                      <p:to>
                                        <p:strVal val="visible"/>
                                      </p:to>
                                    </p:set>
                                    <p:animEffect transition="in" filter="slide(fromRight)">
                                      <p:cBhvr>
                                        <p:cTn id="66" dur="1000"/>
                                        <p:tgtEl>
                                          <p:spTgt spid="128077"/>
                                        </p:tgtEl>
                                      </p:cBhvr>
                                    </p:animEffect>
                                  </p:childTnLst>
                                </p:cTn>
                              </p:par>
                            </p:childTnLst>
                          </p:cTn>
                        </p:par>
                        <p:par>
                          <p:cTn id="67" fill="hold" nodeType="afterGroup">
                            <p:stCondLst>
                              <p:cond delay="13504"/>
                            </p:stCondLst>
                            <p:childTnLst>
                              <p:par>
                                <p:cTn id="68" presetID="22" presetClass="entr" presetSubtype="1" fill="hold" nodeType="afterEffect">
                                  <p:stCondLst>
                                    <p:cond delay="0"/>
                                  </p:stCondLst>
                                  <p:childTnLst>
                                    <p:set>
                                      <p:cBhvr>
                                        <p:cTn id="69" dur="1" fill="hold">
                                          <p:stCondLst>
                                            <p:cond delay="0"/>
                                          </p:stCondLst>
                                        </p:cTn>
                                        <p:tgtEl>
                                          <p:spTgt spid="128062"/>
                                        </p:tgtEl>
                                        <p:attrNameLst>
                                          <p:attrName>style.visibility</p:attrName>
                                        </p:attrNameLst>
                                      </p:cBhvr>
                                      <p:to>
                                        <p:strVal val="visible"/>
                                      </p:to>
                                    </p:set>
                                    <p:animEffect transition="in" filter="wipe(up)">
                                      <p:cBhvr>
                                        <p:cTn id="70" dur="1000"/>
                                        <p:tgtEl>
                                          <p:spTgt spid="128062"/>
                                        </p:tgtEl>
                                      </p:cBhvr>
                                    </p:animEffect>
                                  </p:childTnLst>
                                </p:cTn>
                              </p:par>
                            </p:childTnLst>
                          </p:cTn>
                        </p:par>
                        <p:par>
                          <p:cTn id="71" fill="hold" nodeType="afterGroup">
                            <p:stCondLst>
                              <p:cond delay="14504"/>
                            </p:stCondLst>
                            <p:childTnLst>
                              <p:par>
                                <p:cTn id="72" presetID="9" presetClass="emph" presetSubtype="0" nodeType="afterEffect">
                                  <p:stCondLst>
                                    <p:cond delay="0"/>
                                  </p:stCondLst>
                                  <p:childTnLst>
                                    <p:set>
                                      <p:cBhvr rctx="PPT">
                                        <p:cTn id="73" dur="indefinite"/>
                                        <p:tgtEl>
                                          <p:spTgt spid="128059"/>
                                        </p:tgtEl>
                                        <p:attrNameLst>
                                          <p:attrName>style.opacity</p:attrName>
                                        </p:attrNameLst>
                                      </p:cBhvr>
                                      <p:to>
                                        <p:strVal val="0.5"/>
                                      </p:to>
                                    </p:set>
                                    <p:animEffect filter="image" prLst="opacity: 0.5">
                                      <p:cBhvr rctx="IE">
                                        <p:cTn id="74" dur="indefinite"/>
                                        <p:tgtEl>
                                          <p:spTgt spid="128059"/>
                                        </p:tgtEl>
                                      </p:cBhvr>
                                    </p:animEffect>
                                  </p:childTnLst>
                                </p:cTn>
                              </p:par>
                            </p:childTnLst>
                          </p:cTn>
                        </p:par>
                        <p:par>
                          <p:cTn id="75" fill="hold" nodeType="afterGroup">
                            <p:stCondLst>
                              <p:cond delay="13504"/>
                            </p:stCondLst>
                            <p:childTnLst>
                              <p:par>
                                <p:cTn id="76" presetID="1" presetClass="entr" presetSubtype="0" fill="hold" grpId="0" nodeType="afterEffect">
                                  <p:stCondLst>
                                    <p:cond delay="500"/>
                                  </p:stCondLst>
                                  <p:childTnLst>
                                    <p:set>
                                      <p:cBhvr>
                                        <p:cTn id="77" dur="1" fill="hold">
                                          <p:stCondLst>
                                            <p:cond delay="0"/>
                                          </p:stCondLst>
                                        </p:cTn>
                                        <p:tgtEl>
                                          <p:spTgt spid="128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0" grpId="0" animBg="1"/>
      <p:bldP spid="128035" grpId="0" animBg="1"/>
      <p:bldP spid="12803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21186"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1187"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1188"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1189"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1190"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1191"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1192"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1193"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194"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195"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196"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197"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1198"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1199"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1200"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1201"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1202"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1203"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204"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205"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1206"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29048"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21208"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1209"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21210"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1211"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29053"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129054" name="Rectangle 30"/>
          <p:cNvSpPr>
            <a:spLocks noChangeArrowheads="1"/>
          </p:cNvSpPr>
          <p:nvPr/>
        </p:nvSpPr>
        <p:spPr bwMode="auto">
          <a:xfrm>
            <a:off x="2144713" y="5100638"/>
            <a:ext cx="56165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sz="2000" b="1">
                <a:solidFill>
                  <a:srgbClr val="333399"/>
                </a:solidFill>
                <a:ea typeface="黑体" panose="02010609060101010101" pitchFamily="49" charset="-122"/>
              </a:rPr>
              <a:t>10100110100101  </a:t>
            </a:r>
            <a:r>
              <a:rPr lang="zh-CN" altLang="en-US" sz="2000" b="1">
                <a:solidFill>
                  <a:srgbClr val="333399"/>
                </a:solidFill>
                <a:ea typeface="黑体" panose="02010609060101010101" pitchFamily="49" charset="-122"/>
              </a:rPr>
              <a:t>比  特  流  </a:t>
            </a:r>
            <a:r>
              <a:rPr lang="en-US" altLang="zh-CN" sz="2000" b="1">
                <a:solidFill>
                  <a:srgbClr val="333399"/>
                </a:solidFill>
                <a:ea typeface="黑体" panose="02010609060101010101" pitchFamily="49" charset="-122"/>
              </a:rPr>
              <a:t>110101110101</a:t>
            </a:r>
          </a:p>
        </p:txBody>
      </p:sp>
      <p:sp>
        <p:nvSpPr>
          <p:cNvPr id="221214" name="Text Box 31"/>
          <p:cNvSpPr txBox="1">
            <a:spLocks noChangeArrowheads="1"/>
          </p:cNvSpPr>
          <p:nvPr/>
        </p:nvSpPr>
        <p:spPr bwMode="auto">
          <a:xfrm>
            <a:off x="2757488" y="3629025"/>
            <a:ext cx="4238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主机 </a:t>
            </a:r>
            <a:r>
              <a:rPr lang="en-US" altLang="zh-CN" sz="2400" b="1">
                <a:solidFill>
                  <a:srgbClr val="333399"/>
                </a:solidFill>
                <a:ea typeface="黑体" panose="02010609060101010101" pitchFamily="49" charset="-122"/>
              </a:rPr>
              <a:t>2 </a:t>
            </a:r>
            <a:r>
              <a:rPr lang="zh-CN" altLang="en-US" sz="2400" b="1">
                <a:solidFill>
                  <a:srgbClr val="333399"/>
                </a:solidFill>
                <a:ea typeface="黑体" panose="02010609060101010101" pitchFamily="49" charset="-122"/>
              </a:rPr>
              <a:t>的物理层收到比特流后</a:t>
            </a:r>
          </a:p>
          <a:p>
            <a:pPr algn="ctr" eaLnBrk="0" hangingPunct="0"/>
            <a:r>
              <a:rPr lang="zh-CN" altLang="en-US" sz="2400" b="1">
                <a:solidFill>
                  <a:srgbClr val="333399"/>
                </a:solidFill>
                <a:ea typeface="黑体" panose="02010609060101010101" pitchFamily="49" charset="-122"/>
              </a:rPr>
              <a:t>交给数据链路层</a:t>
            </a:r>
          </a:p>
        </p:txBody>
      </p:sp>
      <p:grpSp>
        <p:nvGrpSpPr>
          <p:cNvPr id="129056" name="Group 32"/>
          <p:cNvGrpSpPr>
            <a:grpSpLocks/>
          </p:cNvGrpSpPr>
          <p:nvPr/>
        </p:nvGrpSpPr>
        <p:grpSpPr bwMode="auto">
          <a:xfrm>
            <a:off x="2144713" y="4525963"/>
            <a:ext cx="5616575" cy="358775"/>
            <a:chOff x="1247" y="3023"/>
            <a:chExt cx="3266" cy="226"/>
          </a:xfrm>
        </p:grpSpPr>
        <p:sp>
          <p:nvSpPr>
            <p:cNvPr id="221216" name="Rectangle 33"/>
            <p:cNvSpPr>
              <a:spLocks noChangeArrowheads="1"/>
            </p:cNvSpPr>
            <p:nvPr/>
          </p:nvSpPr>
          <p:spPr bwMode="auto">
            <a:xfrm>
              <a:off x="1247" y="3023"/>
              <a:ext cx="363" cy="226"/>
            </a:xfrm>
            <a:prstGeom prst="rect">
              <a:avLst/>
            </a:prstGeom>
            <a:solidFill>
              <a:srgbClr val="66FF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2</a:t>
              </a:r>
            </a:p>
          </p:txBody>
        </p:sp>
        <p:sp>
          <p:nvSpPr>
            <p:cNvPr id="221217" name="Rectangle 34"/>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T</a:t>
              </a:r>
              <a:r>
                <a:rPr lang="en-US" altLang="zh-CN" b="1" baseline="-25000">
                  <a:solidFill>
                    <a:srgbClr val="333399"/>
                  </a:solidFill>
                  <a:ea typeface="宋体" panose="02010600030101010101" pitchFamily="2" charset="-122"/>
                </a:rPr>
                <a:t>2</a:t>
              </a:r>
            </a:p>
          </p:txBody>
        </p:sp>
        <p:grpSp>
          <p:nvGrpSpPr>
            <p:cNvPr id="221218" name="Group 35"/>
            <p:cNvGrpSpPr>
              <a:grpSpLocks/>
            </p:cNvGrpSpPr>
            <p:nvPr/>
          </p:nvGrpSpPr>
          <p:grpSpPr bwMode="auto">
            <a:xfrm>
              <a:off x="1610" y="3023"/>
              <a:ext cx="2585" cy="226"/>
              <a:chOff x="1610" y="3023"/>
              <a:chExt cx="2585" cy="226"/>
            </a:xfrm>
          </p:grpSpPr>
          <p:sp>
            <p:nvSpPr>
              <p:cNvPr id="221219" name="Rectangle 36"/>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sp>
            <p:nvSpPr>
              <p:cNvPr id="221220" name="Rectangle 37"/>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21221" name="Rectangle 38"/>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1222" name="Rectangle 39"/>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grpSp>
      <p:grpSp>
        <p:nvGrpSpPr>
          <p:cNvPr id="129064" name="Group 40"/>
          <p:cNvGrpSpPr>
            <a:grpSpLocks/>
          </p:cNvGrpSpPr>
          <p:nvPr/>
        </p:nvGrpSpPr>
        <p:grpSpPr bwMode="auto">
          <a:xfrm>
            <a:off x="4429125" y="4740275"/>
            <a:ext cx="4714875" cy="396875"/>
            <a:chOff x="2575" y="3158"/>
            <a:chExt cx="2742" cy="250"/>
          </a:xfrm>
        </p:grpSpPr>
        <p:sp>
          <p:nvSpPr>
            <p:cNvPr id="221224" name="AutoShape 41"/>
            <p:cNvSpPr>
              <a:spLocks noChangeArrowheads="1"/>
            </p:cNvSpPr>
            <p:nvPr/>
          </p:nvSpPr>
          <p:spPr bwMode="auto">
            <a:xfrm rot="10800000" flipV="1">
              <a:off x="5193" y="3158"/>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21225" name="AutoShape 42"/>
            <p:cNvSpPr>
              <a:spLocks noChangeArrowheads="1"/>
            </p:cNvSpPr>
            <p:nvPr/>
          </p:nvSpPr>
          <p:spPr bwMode="auto">
            <a:xfrm rot="10800000" flipV="1">
              <a:off x="2575" y="3158"/>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sp>
        <p:nvSpPr>
          <p:cNvPr id="22122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6A4072A-E830-4358-A45D-04363235E29C}" type="slidenum">
              <a:rPr lang="zh-CN" altLang="en-US" smtClean="0"/>
              <a:pPr eaLnBrk="1" hangingPunct="1"/>
              <a:t>36</a:t>
            </a:fld>
            <a:endParaRPr lang="en-US" altLang="zh-CN" smtClean="0"/>
          </a:p>
        </p:txBody>
      </p:sp>
      <p:sp>
        <p:nvSpPr>
          <p:cNvPr id="22122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9054"/>
                                        </p:tgtEl>
                                        <p:attrNameLst>
                                          <p:attrName>style.visibility</p:attrName>
                                        </p:attrNameLst>
                                      </p:cBhvr>
                                      <p:to>
                                        <p:strVal val="visible"/>
                                      </p:to>
                                    </p:set>
                                  </p:childTnLst>
                                </p:cTn>
                              </p:par>
                            </p:childTnLst>
                          </p:cTn>
                        </p:par>
                        <p:par>
                          <p:cTn id="7" fill="hold" nodeType="afterGroup">
                            <p:stCondLst>
                              <p:cond delay="1001"/>
                            </p:stCondLst>
                            <p:childTnLst>
                              <p:par>
                                <p:cTn id="8" presetID="22" presetClass="entr" presetSubtype="4" fill="hold" nodeType="afterEffect">
                                  <p:stCondLst>
                                    <p:cond delay="0"/>
                                  </p:stCondLst>
                                  <p:childTnLst>
                                    <p:set>
                                      <p:cBhvr>
                                        <p:cTn id="9" dur="1" fill="hold">
                                          <p:stCondLst>
                                            <p:cond delay="0"/>
                                          </p:stCondLst>
                                        </p:cTn>
                                        <p:tgtEl>
                                          <p:spTgt spid="129064"/>
                                        </p:tgtEl>
                                        <p:attrNameLst>
                                          <p:attrName>style.visibility</p:attrName>
                                        </p:attrNameLst>
                                      </p:cBhvr>
                                      <p:to>
                                        <p:strVal val="visible"/>
                                      </p:to>
                                    </p:set>
                                    <p:animEffect transition="in" filter="wipe(down)">
                                      <p:cBhvr>
                                        <p:cTn id="10" dur="1000"/>
                                        <p:tgtEl>
                                          <p:spTgt spid="129064"/>
                                        </p:tgtEl>
                                      </p:cBhvr>
                                    </p:animEffect>
                                  </p:childTnLst>
                                </p:cTn>
                              </p:par>
                            </p:childTnLst>
                          </p:cTn>
                        </p:par>
                        <p:par>
                          <p:cTn id="11" fill="hold" nodeType="afterGroup">
                            <p:stCondLst>
                              <p:cond delay="2001"/>
                            </p:stCondLst>
                            <p:childTnLst>
                              <p:par>
                                <p:cTn id="12" presetID="1" presetClass="entr" presetSubtype="0" fill="hold" nodeType="afterEffect">
                                  <p:stCondLst>
                                    <p:cond delay="0"/>
                                  </p:stCondLst>
                                  <p:childTnLst>
                                    <p:set>
                                      <p:cBhvr>
                                        <p:cTn id="13" dur="1" fill="hold">
                                          <p:stCondLst>
                                            <p:cond delay="0"/>
                                          </p:stCondLst>
                                        </p:cTn>
                                        <p:tgtEl>
                                          <p:spTgt spid="129056"/>
                                        </p:tgtEl>
                                        <p:attrNameLst>
                                          <p:attrName>style.visibility</p:attrName>
                                        </p:attrNameLst>
                                      </p:cBhvr>
                                      <p:to>
                                        <p:strVal val="visible"/>
                                      </p:to>
                                    </p:set>
                                  </p:childTnLst>
                                </p:cTn>
                              </p:par>
                            </p:childTnLst>
                          </p:cTn>
                        </p:par>
                        <p:par>
                          <p:cTn id="14" fill="hold" nodeType="afterGroup">
                            <p:stCondLst>
                              <p:cond delay="2002"/>
                            </p:stCondLst>
                            <p:childTnLst>
                              <p:par>
                                <p:cTn id="15" presetID="1" presetClass="exit" presetSubtype="0" fill="hold" grpId="1" nodeType="afterEffect">
                                  <p:stCondLst>
                                    <p:cond delay="0"/>
                                  </p:stCondLst>
                                  <p:childTnLst>
                                    <p:set>
                                      <p:cBhvr>
                                        <p:cTn id="16" dur="1" fill="hold">
                                          <p:stCondLst>
                                            <p:cond delay="0"/>
                                          </p:stCondLst>
                                        </p:cTn>
                                        <p:tgtEl>
                                          <p:spTgt spid="129054"/>
                                        </p:tgtEl>
                                        <p:attrNameLst>
                                          <p:attrName>style.visibility</p:attrName>
                                        </p:attrNameLst>
                                      </p:cBhvr>
                                      <p:to>
                                        <p:strVal val="hidden"/>
                                      </p:to>
                                    </p:set>
                                  </p:childTnLst>
                                </p:cTn>
                              </p:par>
                            </p:childTnLst>
                          </p:cTn>
                        </p:par>
                        <p:par>
                          <p:cTn id="17" fill="hold" nodeType="afterGroup">
                            <p:stCondLst>
                              <p:cond delay="2003"/>
                            </p:stCondLst>
                            <p:childTnLst>
                              <p:par>
                                <p:cTn id="18" presetID="1" presetClass="exit" presetSubtype="0" fill="hold" nodeType="afterEffect">
                                  <p:stCondLst>
                                    <p:cond delay="0"/>
                                  </p:stCondLst>
                                  <p:childTnLst>
                                    <p:set>
                                      <p:cBhvr>
                                        <p:cTn id="19" dur="1" fill="hold">
                                          <p:stCondLst>
                                            <p:cond delay="0"/>
                                          </p:stCondLst>
                                        </p:cTn>
                                        <p:tgtEl>
                                          <p:spTgt spid="1290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54" grpId="0" animBg="1"/>
      <p:bldP spid="129054"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050" name="Group 2"/>
          <p:cNvGrpSpPr>
            <a:grpSpLocks/>
          </p:cNvGrpSpPr>
          <p:nvPr/>
        </p:nvGrpSpPr>
        <p:grpSpPr bwMode="auto">
          <a:xfrm>
            <a:off x="2768600" y="3949700"/>
            <a:ext cx="4446588" cy="358775"/>
            <a:chOff x="1610" y="3023"/>
            <a:chExt cx="2585" cy="226"/>
          </a:xfrm>
        </p:grpSpPr>
        <p:sp>
          <p:nvSpPr>
            <p:cNvPr id="223234" name="Rectangle 3"/>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sp>
          <p:nvSpPr>
            <p:cNvPr id="223235" name="Rectangle 4"/>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23236" name="Rectangle 5"/>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3237" name="Rectangle 6"/>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sp>
        <p:nvSpPr>
          <p:cNvPr id="223238" name="Rectangle 7"/>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23239" name="AutoShape 8"/>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3240" name="AutoShape 9"/>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3241" name="Text Box 10"/>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3242" name="Text Box 11"/>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3243" name="Text Box 12"/>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3244" name="Text Box 13"/>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3245" name="Text Box 14"/>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3246" name="Freeform 15"/>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47" name="Freeform 16"/>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48" name="Freeform 17"/>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49" name="Freeform 18"/>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50" name="AutoShape 19"/>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3251" name="Text Box 20"/>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3252" name="Text Box 21"/>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3253" name="Text Box 22"/>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3254" name="Text Box 23"/>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3255" name="Text Box 24"/>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3256" name="Freeform 25"/>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57" name="Freeform 26"/>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58" name="Freeform 27"/>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3259" name="Freeform 28"/>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30077" name="Text Box 29"/>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23261" name="AutoShape 30"/>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3262" name="Text Box 31"/>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23263" name="AutoShape 32"/>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3264" name="Text Box 33"/>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30082" name="Text Box 34"/>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23266" name="Text Box 35"/>
          <p:cNvSpPr txBox="1">
            <a:spLocks noChangeArrowheads="1"/>
          </p:cNvSpPr>
          <p:nvPr/>
        </p:nvSpPr>
        <p:spPr bwMode="auto">
          <a:xfrm>
            <a:off x="2627313" y="2981325"/>
            <a:ext cx="48021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数据链路层剥去帧首部和帧尾部后</a:t>
            </a:r>
          </a:p>
          <a:p>
            <a:pPr algn="ctr" eaLnBrk="0" hangingPunct="0"/>
            <a:r>
              <a:rPr lang="zh-CN" altLang="en-US" sz="2400" b="1">
                <a:solidFill>
                  <a:srgbClr val="333399"/>
                </a:solidFill>
                <a:ea typeface="黑体" panose="02010609060101010101" pitchFamily="49" charset="-122"/>
              </a:rPr>
              <a:t>把帧的数据部分交给网络层</a:t>
            </a:r>
          </a:p>
        </p:txBody>
      </p:sp>
      <p:sp>
        <p:nvSpPr>
          <p:cNvPr id="130084" name="Rectangle 36"/>
          <p:cNvSpPr>
            <a:spLocks noChangeArrowheads="1"/>
          </p:cNvSpPr>
          <p:nvPr/>
        </p:nvSpPr>
        <p:spPr bwMode="auto">
          <a:xfrm>
            <a:off x="2144713" y="4524375"/>
            <a:ext cx="623887" cy="358775"/>
          </a:xfrm>
          <a:prstGeom prst="rect">
            <a:avLst/>
          </a:prstGeom>
          <a:solidFill>
            <a:srgbClr val="66FF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2</a:t>
            </a:r>
          </a:p>
        </p:txBody>
      </p:sp>
      <p:sp>
        <p:nvSpPr>
          <p:cNvPr id="130085" name="Rectangle 37"/>
          <p:cNvSpPr>
            <a:spLocks noChangeArrowheads="1"/>
          </p:cNvSpPr>
          <p:nvPr/>
        </p:nvSpPr>
        <p:spPr bwMode="auto">
          <a:xfrm>
            <a:off x="7215188" y="4525963"/>
            <a:ext cx="546100" cy="358775"/>
          </a:xfrm>
          <a:prstGeom prst="rect">
            <a:avLst/>
          </a:prstGeom>
          <a:solidFill>
            <a:srgbClr val="CCFF33"/>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T</a:t>
            </a:r>
            <a:r>
              <a:rPr lang="en-US" altLang="zh-CN" b="1" baseline="-25000">
                <a:solidFill>
                  <a:srgbClr val="333399"/>
                </a:solidFill>
                <a:ea typeface="宋体" panose="02010600030101010101" pitchFamily="2" charset="-122"/>
              </a:rPr>
              <a:t>2</a:t>
            </a:r>
          </a:p>
        </p:txBody>
      </p:sp>
      <p:grpSp>
        <p:nvGrpSpPr>
          <p:cNvPr id="130086" name="Group 38"/>
          <p:cNvGrpSpPr>
            <a:grpSpLocks/>
          </p:cNvGrpSpPr>
          <p:nvPr/>
        </p:nvGrpSpPr>
        <p:grpSpPr bwMode="auto">
          <a:xfrm>
            <a:off x="2768600" y="4525963"/>
            <a:ext cx="4446588" cy="358775"/>
            <a:chOff x="1610" y="3023"/>
            <a:chExt cx="2585" cy="226"/>
          </a:xfrm>
        </p:grpSpPr>
        <p:sp>
          <p:nvSpPr>
            <p:cNvPr id="223270" name="Rectangle 39"/>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sp>
          <p:nvSpPr>
            <p:cNvPr id="223271" name="Rectangle 40"/>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23272" name="Rectangle 41"/>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3273" name="Rectangle 42"/>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grpSp>
        <p:nvGrpSpPr>
          <p:cNvPr id="130091" name="Group 43"/>
          <p:cNvGrpSpPr>
            <a:grpSpLocks/>
          </p:cNvGrpSpPr>
          <p:nvPr/>
        </p:nvGrpSpPr>
        <p:grpSpPr bwMode="auto">
          <a:xfrm>
            <a:off x="4562475" y="4198938"/>
            <a:ext cx="4581525" cy="396875"/>
            <a:chOff x="2653" y="2817"/>
            <a:chExt cx="2664" cy="250"/>
          </a:xfrm>
        </p:grpSpPr>
        <p:sp>
          <p:nvSpPr>
            <p:cNvPr id="223275" name="AutoShape 44"/>
            <p:cNvSpPr>
              <a:spLocks noChangeArrowheads="1"/>
            </p:cNvSpPr>
            <p:nvPr/>
          </p:nvSpPr>
          <p:spPr bwMode="auto">
            <a:xfrm rot="10800000" flipV="1">
              <a:off x="5193" y="2817"/>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23276" name="AutoShape 45"/>
            <p:cNvSpPr>
              <a:spLocks noChangeArrowheads="1"/>
            </p:cNvSpPr>
            <p:nvPr/>
          </p:nvSpPr>
          <p:spPr bwMode="auto">
            <a:xfrm rot="10800000" flipV="1">
              <a:off x="2653" y="2817"/>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sp>
        <p:nvSpPr>
          <p:cNvPr id="22327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3EA29B-1887-4577-AA04-F0FF1F62565D}" type="slidenum">
              <a:rPr lang="zh-CN" altLang="en-US" smtClean="0"/>
              <a:pPr eaLnBrk="1" hangingPunct="1"/>
              <a:t>37</a:t>
            </a:fld>
            <a:endParaRPr lang="en-US" altLang="zh-CN" smtClean="0"/>
          </a:p>
        </p:txBody>
      </p:sp>
      <p:sp>
        <p:nvSpPr>
          <p:cNvPr id="22327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0084"/>
                                        </p:tgtEl>
                                      </p:cBhvr>
                                    </p:animEffect>
                                    <p:set>
                                      <p:cBhvr>
                                        <p:cTn id="7" dur="1" fill="hold">
                                          <p:stCondLst>
                                            <p:cond delay="999"/>
                                          </p:stCondLst>
                                        </p:cTn>
                                        <p:tgtEl>
                                          <p:spTgt spid="130084"/>
                                        </p:tgtEl>
                                        <p:attrNameLst>
                                          <p:attrName>style.visibility</p:attrName>
                                        </p:attrNameLst>
                                      </p:cBhvr>
                                      <p:to>
                                        <p:strVal val="hidden"/>
                                      </p:to>
                                    </p:set>
                                  </p:childTnLst>
                                </p:cTn>
                              </p:par>
                            </p:childTnLst>
                          </p:cTn>
                        </p:par>
                        <p:par>
                          <p:cTn id="8" fill="hold" nodeType="afterGroup">
                            <p:stCondLst>
                              <p:cond delay="2000"/>
                            </p:stCondLst>
                            <p:childTnLst>
                              <p:par>
                                <p:cTn id="9" presetID="12" presetClass="exit" presetSubtype="2" fill="hold" grpId="0" nodeType="afterEffect">
                                  <p:stCondLst>
                                    <p:cond delay="0"/>
                                  </p:stCondLst>
                                  <p:childTnLst>
                                    <p:animEffect transition="out" filter="slide(fromRight)">
                                      <p:cBhvr>
                                        <p:cTn id="10" dur="1000"/>
                                        <p:tgtEl>
                                          <p:spTgt spid="130085"/>
                                        </p:tgtEl>
                                      </p:cBhvr>
                                    </p:animEffect>
                                    <p:set>
                                      <p:cBhvr>
                                        <p:cTn id="11" dur="1" fill="hold">
                                          <p:stCondLst>
                                            <p:cond delay="999"/>
                                          </p:stCondLst>
                                        </p:cTn>
                                        <p:tgtEl>
                                          <p:spTgt spid="130085"/>
                                        </p:tgtEl>
                                        <p:attrNameLst>
                                          <p:attrName>style.visibility</p:attrName>
                                        </p:attrNameLst>
                                      </p:cBhvr>
                                      <p:to>
                                        <p:strVal val="hidden"/>
                                      </p:to>
                                    </p:set>
                                  </p:childTnLst>
                                </p:cTn>
                              </p:par>
                            </p:childTnLst>
                          </p:cTn>
                        </p:par>
                        <p:par>
                          <p:cTn id="12" fill="hold" nodeType="afterGroup">
                            <p:stCondLst>
                              <p:cond delay="3000"/>
                            </p:stCondLst>
                            <p:childTnLst>
                              <p:par>
                                <p:cTn id="13" presetID="22" presetClass="entr" presetSubtype="4" fill="hold" nodeType="afterEffect">
                                  <p:stCondLst>
                                    <p:cond delay="0"/>
                                  </p:stCondLst>
                                  <p:childTnLst>
                                    <p:set>
                                      <p:cBhvr>
                                        <p:cTn id="14" dur="1" fill="hold">
                                          <p:stCondLst>
                                            <p:cond delay="0"/>
                                          </p:stCondLst>
                                        </p:cTn>
                                        <p:tgtEl>
                                          <p:spTgt spid="130091"/>
                                        </p:tgtEl>
                                        <p:attrNameLst>
                                          <p:attrName>style.visibility</p:attrName>
                                        </p:attrNameLst>
                                      </p:cBhvr>
                                      <p:to>
                                        <p:strVal val="visible"/>
                                      </p:to>
                                    </p:set>
                                    <p:animEffect transition="in" filter="wipe(down)">
                                      <p:cBhvr>
                                        <p:cTn id="15" dur="1000"/>
                                        <p:tgtEl>
                                          <p:spTgt spid="130091"/>
                                        </p:tgtEl>
                                      </p:cBhvr>
                                    </p:animEffect>
                                  </p:childTnLst>
                                </p:cTn>
                              </p:par>
                            </p:childTnLst>
                          </p:cTn>
                        </p:par>
                        <p:par>
                          <p:cTn id="16" fill="hold" nodeType="afterGroup">
                            <p:stCondLst>
                              <p:cond delay="4000"/>
                            </p:stCondLst>
                            <p:childTnLst>
                              <p:par>
                                <p:cTn id="17" presetID="1" presetClass="exit" presetSubtype="0" fill="hold" nodeType="afterEffect">
                                  <p:stCondLst>
                                    <p:cond delay="0"/>
                                  </p:stCondLst>
                                  <p:childTnLst>
                                    <p:set>
                                      <p:cBhvr>
                                        <p:cTn id="18" dur="1" fill="hold">
                                          <p:stCondLst>
                                            <p:cond delay="0"/>
                                          </p:stCondLst>
                                        </p:cTn>
                                        <p:tgtEl>
                                          <p:spTgt spid="130086"/>
                                        </p:tgtEl>
                                        <p:attrNameLst>
                                          <p:attrName>style.visibility</p:attrName>
                                        </p:attrNameLst>
                                      </p:cBhvr>
                                      <p:to>
                                        <p:strVal val="hidden"/>
                                      </p:to>
                                    </p:set>
                                  </p:childTnLst>
                                </p:cTn>
                              </p:par>
                            </p:childTnLst>
                          </p:cTn>
                        </p:par>
                        <p:par>
                          <p:cTn id="19" fill="hold" nodeType="afterGroup">
                            <p:stCondLst>
                              <p:cond delay="4001"/>
                            </p:stCondLst>
                            <p:childTnLst>
                              <p:par>
                                <p:cTn id="20" presetID="1" presetClass="entr" presetSubtype="0" fill="hold" nodeType="afterEffect">
                                  <p:stCondLst>
                                    <p:cond delay="0"/>
                                  </p:stCondLst>
                                  <p:childTnLst>
                                    <p:set>
                                      <p:cBhvr>
                                        <p:cTn id="21" dur="1" fill="hold">
                                          <p:stCondLst>
                                            <p:cond delay="0"/>
                                          </p:stCondLst>
                                        </p:cTn>
                                        <p:tgtEl>
                                          <p:spTgt spid="130050"/>
                                        </p:tgtEl>
                                        <p:attrNameLst>
                                          <p:attrName>style.visibility</p:attrName>
                                        </p:attrNameLst>
                                      </p:cBhvr>
                                      <p:to>
                                        <p:strVal val="visible"/>
                                      </p:to>
                                    </p:set>
                                  </p:childTnLst>
                                </p:cTn>
                              </p:par>
                            </p:childTnLst>
                          </p:cTn>
                        </p:par>
                        <p:par>
                          <p:cTn id="22" fill="hold" nodeType="afterGroup">
                            <p:stCondLst>
                              <p:cond delay="4002"/>
                            </p:stCondLst>
                            <p:childTnLst>
                              <p:par>
                                <p:cTn id="23" presetID="1" presetClass="exit" presetSubtype="0" fill="hold" nodeType="afterEffect">
                                  <p:stCondLst>
                                    <p:cond delay="0"/>
                                  </p:stCondLst>
                                  <p:childTnLst>
                                    <p:set>
                                      <p:cBhvr>
                                        <p:cTn id="24" dur="1" fill="hold">
                                          <p:stCondLst>
                                            <p:cond delay="0"/>
                                          </p:stCondLst>
                                        </p:cTn>
                                        <p:tgtEl>
                                          <p:spTgt spid="1300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84" grpId="0" animBg="1"/>
      <p:bldP spid="13008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074" name="Group 2"/>
          <p:cNvGrpSpPr>
            <a:grpSpLocks/>
          </p:cNvGrpSpPr>
          <p:nvPr/>
        </p:nvGrpSpPr>
        <p:grpSpPr bwMode="auto">
          <a:xfrm>
            <a:off x="3314700" y="3302000"/>
            <a:ext cx="3897313" cy="358775"/>
            <a:chOff x="1928" y="2660"/>
            <a:chExt cx="2267" cy="226"/>
          </a:xfrm>
        </p:grpSpPr>
        <p:sp>
          <p:nvSpPr>
            <p:cNvPr id="225282" name="Rectangle 3"/>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25283" name="Rectangle 4"/>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5284" name="Rectangle 5"/>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sp>
        <p:nvSpPr>
          <p:cNvPr id="131078" name="Rectangle 6"/>
          <p:cNvSpPr>
            <a:spLocks noChangeArrowheads="1"/>
          </p:cNvSpPr>
          <p:nvPr/>
        </p:nvSpPr>
        <p:spPr bwMode="auto">
          <a:xfrm>
            <a:off x="2768600" y="3949700"/>
            <a:ext cx="547688" cy="358775"/>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3</a:t>
            </a:r>
          </a:p>
        </p:txBody>
      </p:sp>
      <p:grpSp>
        <p:nvGrpSpPr>
          <p:cNvPr id="131079" name="Group 7"/>
          <p:cNvGrpSpPr>
            <a:grpSpLocks/>
          </p:cNvGrpSpPr>
          <p:nvPr/>
        </p:nvGrpSpPr>
        <p:grpSpPr bwMode="auto">
          <a:xfrm>
            <a:off x="3316288" y="3949700"/>
            <a:ext cx="3898900" cy="358775"/>
            <a:chOff x="1928" y="2660"/>
            <a:chExt cx="2267" cy="226"/>
          </a:xfrm>
        </p:grpSpPr>
        <p:sp>
          <p:nvSpPr>
            <p:cNvPr id="225287" name="Rectangle 8"/>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sp>
          <p:nvSpPr>
            <p:cNvPr id="225288" name="Rectangle 9"/>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5289" name="Rectangle 10"/>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sp>
        <p:nvSpPr>
          <p:cNvPr id="225290" name="Rectangle 11"/>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25291" name="AutoShape 12"/>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5292" name="AutoShape 13"/>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5293" name="Text Box 14"/>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5294" name="Text Box 15"/>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5295" name="Text Box 16"/>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5296" name="Text Box 17"/>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5297" name="Text Box 18"/>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5298" name="Freeform 19"/>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299" name="Freeform 20"/>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00" name="Freeform 21"/>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01" name="Freeform 22"/>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02" name="AutoShape 23"/>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5303" name="Text Box 24"/>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5304" name="Text Box 25"/>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5305" name="Text Box 26"/>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5306" name="Text Box 27"/>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5307" name="Text Box 28"/>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5308" name="Freeform 29"/>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09" name="Freeform 30"/>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10" name="Freeform 31"/>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5311" name="Freeform 32"/>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31105" name="Text Box 33"/>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25313" name="AutoShape 34"/>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5314" name="Text Box 35"/>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25315" name="AutoShape 36"/>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5316" name="Text Box 37"/>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31110" name="Text Box 38"/>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25318" name="Text Box 39"/>
          <p:cNvSpPr txBox="1">
            <a:spLocks noChangeArrowheads="1"/>
          </p:cNvSpPr>
          <p:nvPr/>
        </p:nvSpPr>
        <p:spPr bwMode="auto">
          <a:xfrm>
            <a:off x="2954338" y="2405063"/>
            <a:ext cx="41862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网络层剥去分组首部后</a:t>
            </a:r>
          </a:p>
          <a:p>
            <a:pPr algn="ctr" eaLnBrk="0" hangingPunct="0"/>
            <a:r>
              <a:rPr lang="zh-CN" altLang="en-US" sz="2400" b="1">
                <a:solidFill>
                  <a:srgbClr val="333399"/>
                </a:solidFill>
                <a:ea typeface="黑体" panose="02010609060101010101" pitchFamily="49" charset="-122"/>
              </a:rPr>
              <a:t>把分组的数据部分交给运输层</a:t>
            </a:r>
          </a:p>
        </p:txBody>
      </p:sp>
      <p:grpSp>
        <p:nvGrpSpPr>
          <p:cNvPr id="131112" name="Group 40"/>
          <p:cNvGrpSpPr>
            <a:grpSpLocks/>
          </p:cNvGrpSpPr>
          <p:nvPr/>
        </p:nvGrpSpPr>
        <p:grpSpPr bwMode="auto">
          <a:xfrm>
            <a:off x="4973638" y="3622675"/>
            <a:ext cx="4170362" cy="396875"/>
            <a:chOff x="2892" y="2454"/>
            <a:chExt cx="2425" cy="250"/>
          </a:xfrm>
        </p:grpSpPr>
        <p:sp>
          <p:nvSpPr>
            <p:cNvPr id="225320" name="AutoShape 41"/>
            <p:cNvSpPr>
              <a:spLocks noChangeArrowheads="1"/>
            </p:cNvSpPr>
            <p:nvPr/>
          </p:nvSpPr>
          <p:spPr bwMode="auto">
            <a:xfrm rot="10800000" flipV="1">
              <a:off x="5193" y="2454"/>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25321" name="AutoShape 42"/>
            <p:cNvSpPr>
              <a:spLocks noChangeArrowheads="1"/>
            </p:cNvSpPr>
            <p:nvPr/>
          </p:nvSpPr>
          <p:spPr bwMode="auto">
            <a:xfrm rot="10800000" flipV="1">
              <a:off x="2892" y="2454"/>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sp>
        <p:nvSpPr>
          <p:cNvPr id="22532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9A91DB-8C28-4DF7-8AE6-D9E11C0892B5}" type="slidenum">
              <a:rPr lang="zh-CN" altLang="en-US" smtClean="0"/>
              <a:pPr eaLnBrk="1" hangingPunct="1"/>
              <a:t>38</a:t>
            </a:fld>
            <a:endParaRPr lang="en-US" altLang="zh-CN" smtClean="0"/>
          </a:p>
        </p:txBody>
      </p:sp>
      <p:sp>
        <p:nvSpPr>
          <p:cNvPr id="22532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1078"/>
                                        </p:tgtEl>
                                      </p:cBhvr>
                                    </p:animEffect>
                                    <p:set>
                                      <p:cBhvr>
                                        <p:cTn id="7" dur="1" fill="hold">
                                          <p:stCondLst>
                                            <p:cond delay="999"/>
                                          </p:stCondLst>
                                        </p:cTn>
                                        <p:tgtEl>
                                          <p:spTgt spid="131078"/>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1112"/>
                                        </p:tgtEl>
                                        <p:attrNameLst>
                                          <p:attrName>style.visibility</p:attrName>
                                        </p:attrNameLst>
                                      </p:cBhvr>
                                      <p:to>
                                        <p:strVal val="visible"/>
                                      </p:to>
                                    </p:set>
                                    <p:animEffect transition="in" filter="wipe(down)">
                                      <p:cBhvr>
                                        <p:cTn id="11" dur="2000"/>
                                        <p:tgtEl>
                                          <p:spTgt spid="131112"/>
                                        </p:tgtEl>
                                      </p:cBhvr>
                                    </p:animEffect>
                                  </p:childTnLst>
                                </p:cTn>
                              </p:par>
                            </p:childTnLst>
                          </p:cTn>
                        </p:par>
                        <p:par>
                          <p:cTn id="12" fill="hold" nodeType="afterGroup">
                            <p:stCondLst>
                              <p:cond delay="4000"/>
                            </p:stCondLst>
                            <p:childTnLst>
                              <p:par>
                                <p:cTn id="13" presetID="1" presetClass="exit" presetSubtype="0" fill="hold" nodeType="afterEffect">
                                  <p:stCondLst>
                                    <p:cond delay="0"/>
                                  </p:stCondLst>
                                  <p:childTnLst>
                                    <p:set>
                                      <p:cBhvr>
                                        <p:cTn id="14" dur="1" fill="hold">
                                          <p:stCondLst>
                                            <p:cond delay="0"/>
                                          </p:stCondLst>
                                        </p:cTn>
                                        <p:tgtEl>
                                          <p:spTgt spid="131079"/>
                                        </p:tgtEl>
                                        <p:attrNameLst>
                                          <p:attrName>style.visibility</p:attrName>
                                        </p:attrNameLst>
                                      </p:cBhvr>
                                      <p:to>
                                        <p:strVal val="hidden"/>
                                      </p:to>
                                    </p:set>
                                  </p:childTnLst>
                                </p:cTn>
                              </p:par>
                            </p:childTnLst>
                          </p:cTn>
                        </p:par>
                        <p:par>
                          <p:cTn id="15" fill="hold" nodeType="afterGroup">
                            <p:stCondLst>
                              <p:cond delay="4001"/>
                            </p:stCondLst>
                            <p:childTnLst>
                              <p:par>
                                <p:cTn id="16" presetID="1" presetClass="entr" presetSubtype="0" fill="hold" nodeType="afterEffect">
                                  <p:stCondLst>
                                    <p:cond delay="0"/>
                                  </p:stCondLst>
                                  <p:childTnLst>
                                    <p:set>
                                      <p:cBhvr>
                                        <p:cTn id="17" dur="1" fill="hold">
                                          <p:stCondLst>
                                            <p:cond delay="0"/>
                                          </p:stCondLst>
                                        </p:cTn>
                                        <p:tgtEl>
                                          <p:spTgt spid="131074"/>
                                        </p:tgtEl>
                                        <p:attrNameLst>
                                          <p:attrName>style.visibility</p:attrName>
                                        </p:attrNameLst>
                                      </p:cBhvr>
                                      <p:to>
                                        <p:strVal val="visible"/>
                                      </p:to>
                                    </p:set>
                                  </p:childTnLst>
                                </p:cTn>
                              </p:par>
                            </p:childTnLst>
                          </p:cTn>
                        </p:par>
                        <p:par>
                          <p:cTn id="18" fill="hold" nodeType="afterGroup">
                            <p:stCondLst>
                              <p:cond delay="4002"/>
                            </p:stCondLst>
                            <p:childTnLst>
                              <p:par>
                                <p:cTn id="19" presetID="1" presetClass="exit" presetSubtype="0" fill="hold" nodeType="afterEffect">
                                  <p:stCondLst>
                                    <p:cond delay="0"/>
                                  </p:stCondLst>
                                  <p:childTnLst>
                                    <p:set>
                                      <p:cBhvr>
                                        <p:cTn id="20" dur="1" fill="hold">
                                          <p:stCondLst>
                                            <p:cond delay="0"/>
                                          </p:stCondLst>
                                        </p:cTn>
                                        <p:tgtEl>
                                          <p:spTgt spid="1311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098" name="Group 2"/>
          <p:cNvGrpSpPr>
            <a:grpSpLocks/>
          </p:cNvGrpSpPr>
          <p:nvPr/>
        </p:nvGrpSpPr>
        <p:grpSpPr bwMode="auto">
          <a:xfrm>
            <a:off x="3860800" y="2724150"/>
            <a:ext cx="3352800" cy="358775"/>
            <a:chOff x="2245" y="2252"/>
            <a:chExt cx="1949" cy="226"/>
          </a:xfrm>
        </p:grpSpPr>
        <p:sp>
          <p:nvSpPr>
            <p:cNvPr id="227330" name="Rectangle 3"/>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7331" name="Rectangle 4"/>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sp>
        <p:nvSpPr>
          <p:cNvPr id="132101" name="Rectangle 5"/>
          <p:cNvSpPr>
            <a:spLocks noChangeArrowheads="1"/>
          </p:cNvSpPr>
          <p:nvPr/>
        </p:nvSpPr>
        <p:spPr bwMode="auto">
          <a:xfrm>
            <a:off x="3314700" y="3302000"/>
            <a:ext cx="546100" cy="358775"/>
          </a:xfrm>
          <a:prstGeom prst="rect">
            <a:avLst/>
          </a:prstGeom>
          <a:solidFill>
            <a:srgbClr val="FF9900"/>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4</a:t>
            </a:r>
          </a:p>
        </p:txBody>
      </p:sp>
      <p:grpSp>
        <p:nvGrpSpPr>
          <p:cNvPr id="132102" name="Group 6"/>
          <p:cNvGrpSpPr>
            <a:grpSpLocks/>
          </p:cNvGrpSpPr>
          <p:nvPr/>
        </p:nvGrpSpPr>
        <p:grpSpPr bwMode="auto">
          <a:xfrm>
            <a:off x="3860800" y="3302000"/>
            <a:ext cx="3352800" cy="358775"/>
            <a:chOff x="2245" y="2252"/>
            <a:chExt cx="1949" cy="226"/>
          </a:xfrm>
        </p:grpSpPr>
        <p:sp>
          <p:nvSpPr>
            <p:cNvPr id="227334" name="Rectangle 7"/>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227335" name="Rectangle 8"/>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grpSp>
      <p:sp>
        <p:nvSpPr>
          <p:cNvPr id="227336" name="Rectangle 9"/>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27337" name="AutoShape 10"/>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7338" name="AutoShape 11"/>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7339" name="Text Box 12"/>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7340" name="Text Box 13"/>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7341" name="Text Box 14"/>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7342" name="Text Box 15"/>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7343" name="Text Box 16"/>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7344" name="Freeform 17"/>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45" name="Freeform 18"/>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46" name="Freeform 19"/>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47" name="Freeform 20"/>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48" name="AutoShape 21"/>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7349" name="Text Box 22"/>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7350" name="Text Box 23"/>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7351" name="Text Box 24"/>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7352" name="Text Box 25"/>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7353" name="Text Box 26"/>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7354" name="Freeform 27"/>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55" name="Freeform 28"/>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56" name="Freeform 29"/>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7357" name="Freeform 30"/>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32127" name="Text Box 31"/>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27359" name="AutoShape 32"/>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7360" name="Text Box 33"/>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27361" name="AutoShape 34"/>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7362" name="Text Box 35"/>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32132" name="Text Box 36"/>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27364" name="Text Box 37"/>
          <p:cNvSpPr txBox="1">
            <a:spLocks noChangeArrowheads="1"/>
          </p:cNvSpPr>
          <p:nvPr/>
        </p:nvSpPr>
        <p:spPr bwMode="auto">
          <a:xfrm>
            <a:off x="3265488" y="1828800"/>
            <a:ext cx="41862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运输层剥去报文首部后</a:t>
            </a:r>
          </a:p>
          <a:p>
            <a:pPr algn="ctr" eaLnBrk="0" hangingPunct="0"/>
            <a:r>
              <a:rPr lang="zh-CN" altLang="en-US" sz="2400" b="1">
                <a:solidFill>
                  <a:srgbClr val="333399"/>
                </a:solidFill>
                <a:ea typeface="黑体" panose="02010609060101010101" pitchFamily="49" charset="-122"/>
              </a:rPr>
              <a:t>把报文的数据部分交给应用层</a:t>
            </a:r>
          </a:p>
        </p:txBody>
      </p:sp>
      <p:grpSp>
        <p:nvGrpSpPr>
          <p:cNvPr id="132134" name="Group 38"/>
          <p:cNvGrpSpPr>
            <a:grpSpLocks/>
          </p:cNvGrpSpPr>
          <p:nvPr/>
        </p:nvGrpSpPr>
        <p:grpSpPr bwMode="auto">
          <a:xfrm>
            <a:off x="5364163" y="2974975"/>
            <a:ext cx="3779837" cy="396875"/>
            <a:chOff x="3119" y="2046"/>
            <a:chExt cx="2198" cy="250"/>
          </a:xfrm>
        </p:grpSpPr>
        <p:sp>
          <p:nvSpPr>
            <p:cNvPr id="227366" name="AutoShape 39"/>
            <p:cNvSpPr>
              <a:spLocks noChangeArrowheads="1"/>
            </p:cNvSpPr>
            <p:nvPr/>
          </p:nvSpPr>
          <p:spPr bwMode="auto">
            <a:xfrm rot="10800000" flipV="1">
              <a:off x="5193" y="2046"/>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27367" name="AutoShape 40"/>
            <p:cNvSpPr>
              <a:spLocks noChangeArrowheads="1"/>
            </p:cNvSpPr>
            <p:nvPr/>
          </p:nvSpPr>
          <p:spPr bwMode="auto">
            <a:xfrm rot="10800000" flipV="1">
              <a:off x="3119" y="2046"/>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sp>
        <p:nvSpPr>
          <p:cNvPr id="22736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D615061-D909-4C8C-8A78-F81A1C94694F}" type="slidenum">
              <a:rPr lang="zh-CN" altLang="en-US" smtClean="0"/>
              <a:pPr eaLnBrk="1" hangingPunct="1"/>
              <a:t>39</a:t>
            </a:fld>
            <a:endParaRPr lang="en-US" altLang="zh-CN" smtClean="0"/>
          </a:p>
        </p:txBody>
      </p:sp>
      <p:sp>
        <p:nvSpPr>
          <p:cNvPr id="22736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2101"/>
                                        </p:tgtEl>
                                      </p:cBhvr>
                                    </p:animEffect>
                                    <p:set>
                                      <p:cBhvr>
                                        <p:cTn id="7" dur="1" fill="hold">
                                          <p:stCondLst>
                                            <p:cond delay="999"/>
                                          </p:stCondLst>
                                        </p:cTn>
                                        <p:tgtEl>
                                          <p:spTgt spid="132101"/>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2134"/>
                                        </p:tgtEl>
                                        <p:attrNameLst>
                                          <p:attrName>style.visibility</p:attrName>
                                        </p:attrNameLst>
                                      </p:cBhvr>
                                      <p:to>
                                        <p:strVal val="visible"/>
                                      </p:to>
                                    </p:set>
                                    <p:animEffect transition="in" filter="wipe(down)">
                                      <p:cBhvr>
                                        <p:cTn id="11" dur="1000"/>
                                        <p:tgtEl>
                                          <p:spTgt spid="132134"/>
                                        </p:tgtEl>
                                      </p:cBhvr>
                                    </p:animEffect>
                                  </p:childTnLst>
                                </p:cTn>
                              </p:par>
                            </p:childTnLst>
                          </p:cTn>
                        </p:par>
                        <p:par>
                          <p:cTn id="12" fill="hold" nodeType="afterGroup">
                            <p:stCondLst>
                              <p:cond delay="3000"/>
                            </p:stCondLst>
                            <p:childTnLst>
                              <p:par>
                                <p:cTn id="13" presetID="1" presetClass="exit" presetSubtype="0" fill="hold" nodeType="afterEffect">
                                  <p:stCondLst>
                                    <p:cond delay="0"/>
                                  </p:stCondLst>
                                  <p:childTnLst>
                                    <p:set>
                                      <p:cBhvr>
                                        <p:cTn id="14" dur="1" fill="hold">
                                          <p:stCondLst>
                                            <p:cond delay="0"/>
                                          </p:stCondLst>
                                        </p:cTn>
                                        <p:tgtEl>
                                          <p:spTgt spid="132102"/>
                                        </p:tgtEl>
                                        <p:attrNameLst>
                                          <p:attrName>style.visibility</p:attrName>
                                        </p:attrNameLst>
                                      </p:cBhvr>
                                      <p:to>
                                        <p:strVal val="hidden"/>
                                      </p:to>
                                    </p:set>
                                  </p:childTnLst>
                                </p:cTn>
                              </p:par>
                            </p:childTnLst>
                          </p:cTn>
                        </p:par>
                        <p:par>
                          <p:cTn id="15" fill="hold" nodeType="afterGroup">
                            <p:stCondLst>
                              <p:cond delay="3001"/>
                            </p:stCondLst>
                            <p:childTnLst>
                              <p:par>
                                <p:cTn id="16" presetID="1" presetClass="entr" presetSubtype="0" fill="hold" nodeType="afterEffect">
                                  <p:stCondLst>
                                    <p:cond delay="0"/>
                                  </p:stCondLst>
                                  <p:childTnLst>
                                    <p:set>
                                      <p:cBhvr>
                                        <p:cTn id="17" dur="1" fill="hold">
                                          <p:stCondLst>
                                            <p:cond delay="0"/>
                                          </p:stCondLst>
                                        </p:cTn>
                                        <p:tgtEl>
                                          <p:spTgt spid="132098"/>
                                        </p:tgtEl>
                                        <p:attrNameLst>
                                          <p:attrName>style.visibility</p:attrName>
                                        </p:attrNameLst>
                                      </p:cBhvr>
                                      <p:to>
                                        <p:strVal val="visible"/>
                                      </p:to>
                                    </p:set>
                                  </p:childTnLst>
                                </p:cTn>
                              </p:par>
                            </p:childTnLst>
                          </p:cTn>
                        </p:par>
                        <p:par>
                          <p:cTn id="18" fill="hold" nodeType="afterGroup">
                            <p:stCondLst>
                              <p:cond delay="3002"/>
                            </p:stCondLst>
                            <p:childTnLst>
                              <p:par>
                                <p:cTn id="19" presetID="1" presetClass="exit" presetSubtype="0" fill="hold" nodeType="afterEffect">
                                  <p:stCondLst>
                                    <p:cond delay="0"/>
                                  </p:stCondLst>
                                  <p:childTnLst>
                                    <p:set>
                                      <p:cBhvr>
                                        <p:cTn id="20" dur="1" fill="hold">
                                          <p:stCondLst>
                                            <p:cond delay="0"/>
                                          </p:stCondLst>
                                        </p:cTn>
                                        <p:tgtEl>
                                          <p:spTgt spid="1321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4405313" y="2149475"/>
            <a:ext cx="28098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sp>
        <p:nvSpPr>
          <p:cNvPr id="133123" name="Rectangle 3"/>
          <p:cNvSpPr>
            <a:spLocks noChangeArrowheads="1"/>
          </p:cNvSpPr>
          <p:nvPr/>
        </p:nvSpPr>
        <p:spPr bwMode="auto">
          <a:xfrm>
            <a:off x="3860800" y="2724150"/>
            <a:ext cx="547688" cy="358775"/>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b="1">
                <a:solidFill>
                  <a:srgbClr val="333399"/>
                </a:solidFill>
                <a:ea typeface="宋体" panose="02010600030101010101" pitchFamily="2" charset="-122"/>
              </a:rPr>
              <a:t>H</a:t>
            </a:r>
            <a:r>
              <a:rPr lang="en-US" altLang="zh-CN" b="1" baseline="-25000">
                <a:solidFill>
                  <a:srgbClr val="333399"/>
                </a:solidFill>
                <a:ea typeface="宋体" panose="02010600030101010101" pitchFamily="2" charset="-122"/>
              </a:rPr>
              <a:t>5</a:t>
            </a:r>
          </a:p>
        </p:txBody>
      </p:sp>
      <p:sp>
        <p:nvSpPr>
          <p:cNvPr id="133124" name="Rectangle 4"/>
          <p:cNvSpPr>
            <a:spLocks noChangeArrowheads="1"/>
          </p:cNvSpPr>
          <p:nvPr/>
        </p:nvSpPr>
        <p:spPr bwMode="auto">
          <a:xfrm>
            <a:off x="4403725" y="2724150"/>
            <a:ext cx="2809875" cy="358775"/>
          </a:xfrm>
          <a:prstGeom prst="rect">
            <a:avLst/>
          </a:prstGeom>
          <a:solidFill>
            <a:srgbClr val="CCECFF"/>
          </a:solidFill>
          <a:ln w="9525">
            <a:solidFill>
              <a:schemeClr val="tx1"/>
            </a:solidFill>
            <a:miter lim="800000"/>
            <a:headEnd/>
            <a:tailEnd/>
          </a:ln>
        </p:spPr>
        <p:txBody>
          <a:bodyPr wrap="none" anchor="ctr"/>
          <a:lstStyle/>
          <a:p>
            <a:pPr algn="ctr" eaLnBrk="0" hangingPunct="0"/>
            <a:r>
              <a:rPr lang="zh-CN" altLang="en-US" sz="2000" b="1">
                <a:solidFill>
                  <a:srgbClr val="333399"/>
                </a:solidFill>
                <a:latin typeface="Tahoma" panose="020B0604030504040204" pitchFamily="34" charset="0"/>
                <a:ea typeface="黑体" panose="02010609060101010101" pitchFamily="49" charset="-122"/>
              </a:rPr>
              <a:t>应 用 程 序 数 据</a:t>
            </a:r>
          </a:p>
        </p:txBody>
      </p:sp>
      <p:sp>
        <p:nvSpPr>
          <p:cNvPr id="229380" name="Rectangle 5"/>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29381" name="AutoShape 6"/>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9382" name="AutoShape 7"/>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9383" name="Text Box 8"/>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9384" name="Text Box 9"/>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9385" name="Text Box 10"/>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9386" name="Text Box 11"/>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9387" name="Text Box 12"/>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9388" name="Freeform 13"/>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389" name="Freeform 14"/>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390" name="Freeform 15"/>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391" name="Freeform 16"/>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392" name="AutoShape 17"/>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9393" name="Text Box 18"/>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29394" name="Text Box 19"/>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29395" name="Text Box 20"/>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29396" name="Text Box 21"/>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29397" name="Text Box 22"/>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29398" name="Freeform 23"/>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399" name="Freeform 24"/>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400" name="Freeform 25"/>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29401" name="Freeform 26"/>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33147" name="Text Box 27"/>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29403" name="AutoShape 28"/>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9404" name="Text Box 29"/>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29405" name="AutoShape 30"/>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29406" name="Text Box 31"/>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33152" name="Text Box 32"/>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29408" name="Text Box 33"/>
          <p:cNvSpPr txBox="1">
            <a:spLocks noChangeArrowheads="1"/>
          </p:cNvSpPr>
          <p:nvPr/>
        </p:nvSpPr>
        <p:spPr bwMode="auto">
          <a:xfrm>
            <a:off x="3397250" y="3300413"/>
            <a:ext cx="43910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ea typeface="黑体" panose="02010609060101010101" pitchFamily="49" charset="-122"/>
              </a:rPr>
              <a:t>应用层剥去应用层 </a:t>
            </a:r>
            <a:r>
              <a:rPr lang="en-US" altLang="zh-CN" sz="2400" b="1">
                <a:solidFill>
                  <a:srgbClr val="333399"/>
                </a:solidFill>
                <a:ea typeface="黑体" panose="02010609060101010101" pitchFamily="49" charset="-122"/>
              </a:rPr>
              <a:t>PDU </a:t>
            </a:r>
            <a:r>
              <a:rPr lang="zh-CN" altLang="en-US" sz="2400" b="1">
                <a:solidFill>
                  <a:srgbClr val="333399"/>
                </a:solidFill>
                <a:ea typeface="黑体" panose="02010609060101010101" pitchFamily="49" charset="-122"/>
              </a:rPr>
              <a:t>首部后</a:t>
            </a:r>
          </a:p>
          <a:p>
            <a:pPr algn="ctr" eaLnBrk="0" hangingPunct="0"/>
            <a:r>
              <a:rPr lang="zh-CN" altLang="en-US" sz="2400" b="1">
                <a:solidFill>
                  <a:srgbClr val="333399"/>
                </a:solidFill>
                <a:ea typeface="黑体" panose="02010609060101010101" pitchFamily="49" charset="-122"/>
              </a:rPr>
              <a:t>把应用程序数据交给应用进程</a:t>
            </a:r>
          </a:p>
        </p:txBody>
      </p:sp>
      <p:grpSp>
        <p:nvGrpSpPr>
          <p:cNvPr id="133154" name="Group 34"/>
          <p:cNvGrpSpPr>
            <a:grpSpLocks/>
          </p:cNvGrpSpPr>
          <p:nvPr/>
        </p:nvGrpSpPr>
        <p:grpSpPr bwMode="auto">
          <a:xfrm>
            <a:off x="5675313" y="2435225"/>
            <a:ext cx="3468687" cy="396875"/>
            <a:chOff x="3300" y="1706"/>
            <a:chExt cx="2017" cy="250"/>
          </a:xfrm>
        </p:grpSpPr>
        <p:sp>
          <p:nvSpPr>
            <p:cNvPr id="229410" name="AutoShape 35"/>
            <p:cNvSpPr>
              <a:spLocks noChangeArrowheads="1"/>
            </p:cNvSpPr>
            <p:nvPr/>
          </p:nvSpPr>
          <p:spPr bwMode="auto">
            <a:xfrm rot="10800000" flipV="1">
              <a:off x="5193" y="1706"/>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sp>
          <p:nvSpPr>
            <p:cNvPr id="229411" name="AutoShape 36"/>
            <p:cNvSpPr>
              <a:spLocks noChangeArrowheads="1"/>
            </p:cNvSpPr>
            <p:nvPr/>
          </p:nvSpPr>
          <p:spPr bwMode="auto">
            <a:xfrm rot="10800000" flipV="1">
              <a:off x="3300" y="1706"/>
              <a:ext cx="124" cy="250"/>
            </a:xfrm>
            <a:prstGeom prst="upArrow">
              <a:avLst>
                <a:gd name="adj1" fmla="val 50000"/>
                <a:gd name="adj2" fmla="val 50394"/>
              </a:avLst>
            </a:prstGeom>
            <a:solidFill>
              <a:schemeClr val="hlink"/>
            </a:solidFill>
            <a:ln w="12700">
              <a:solidFill>
                <a:schemeClr val="tx1"/>
              </a:solidFill>
              <a:miter lim="800000"/>
              <a:headEnd/>
              <a:tailEnd/>
            </a:ln>
          </p:spPr>
          <p:txBody>
            <a:bodyPr vert="eaVert" wrap="none" anchor="ctr"/>
            <a:lstStyle/>
            <a:p>
              <a:pPr eaLnBrk="0" hangingPunct="0"/>
              <a:endParaRPr lang="zh-CN" altLang="en-US" b="1">
                <a:ea typeface="宋体" panose="02010600030101010101" pitchFamily="2" charset="-122"/>
              </a:endParaRPr>
            </a:p>
          </p:txBody>
        </p:sp>
      </p:grpSp>
      <p:sp>
        <p:nvSpPr>
          <p:cNvPr id="22941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6213A7A-5A86-4921-A1B2-7FAC1505AD2A}" type="slidenum">
              <a:rPr lang="zh-CN" altLang="en-US" smtClean="0"/>
              <a:pPr eaLnBrk="1" hangingPunct="1"/>
              <a:t>40</a:t>
            </a:fld>
            <a:endParaRPr lang="en-US" altLang="zh-CN" smtClean="0"/>
          </a:p>
        </p:txBody>
      </p:sp>
      <p:sp>
        <p:nvSpPr>
          <p:cNvPr id="22941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3123"/>
                                        </p:tgtEl>
                                      </p:cBhvr>
                                    </p:animEffect>
                                    <p:set>
                                      <p:cBhvr>
                                        <p:cTn id="7" dur="1" fill="hold">
                                          <p:stCondLst>
                                            <p:cond delay="999"/>
                                          </p:stCondLst>
                                        </p:cTn>
                                        <p:tgtEl>
                                          <p:spTgt spid="133123"/>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3154"/>
                                        </p:tgtEl>
                                        <p:attrNameLst>
                                          <p:attrName>style.visibility</p:attrName>
                                        </p:attrNameLst>
                                      </p:cBhvr>
                                      <p:to>
                                        <p:strVal val="visible"/>
                                      </p:to>
                                    </p:set>
                                    <p:animEffect transition="in" filter="wipe(down)">
                                      <p:cBhvr>
                                        <p:cTn id="11" dur="1000"/>
                                        <p:tgtEl>
                                          <p:spTgt spid="133154"/>
                                        </p:tgtEl>
                                      </p:cBhvr>
                                    </p:animEffect>
                                  </p:childTnLst>
                                </p:cTn>
                              </p:par>
                            </p:childTnLst>
                          </p:cTn>
                        </p:par>
                        <p:par>
                          <p:cTn id="12" fill="hold" nodeType="afterGroup">
                            <p:stCondLst>
                              <p:cond delay="3000"/>
                            </p:stCondLst>
                            <p:childTnLst>
                              <p:par>
                                <p:cTn id="13" presetID="1" presetClass="exit" presetSubtype="0" fill="hold" grpId="0" nodeType="afterEffect">
                                  <p:stCondLst>
                                    <p:cond delay="0"/>
                                  </p:stCondLst>
                                  <p:childTnLst>
                                    <p:set>
                                      <p:cBhvr>
                                        <p:cTn id="14" dur="1" fill="hold">
                                          <p:stCondLst>
                                            <p:cond delay="0"/>
                                          </p:stCondLst>
                                        </p:cTn>
                                        <p:tgtEl>
                                          <p:spTgt spid="133124"/>
                                        </p:tgtEl>
                                        <p:attrNameLst>
                                          <p:attrName>style.visibility</p:attrName>
                                        </p:attrNameLst>
                                      </p:cBhvr>
                                      <p:to>
                                        <p:strVal val="hidden"/>
                                      </p:to>
                                    </p:set>
                                  </p:childTnLst>
                                </p:cTn>
                              </p:par>
                            </p:childTnLst>
                          </p:cTn>
                        </p:par>
                        <p:par>
                          <p:cTn id="15" fill="hold" nodeType="afterGroup">
                            <p:stCondLst>
                              <p:cond delay="3001"/>
                            </p:stCondLst>
                            <p:childTnLst>
                              <p:par>
                                <p:cTn id="16" presetID="1" presetClass="entr" presetSubtype="0" fill="hold" grpId="0" nodeType="afterEffect">
                                  <p:stCondLst>
                                    <p:cond delay="0"/>
                                  </p:stCondLst>
                                  <p:childTnLst>
                                    <p:set>
                                      <p:cBhvr>
                                        <p:cTn id="17" dur="1" fill="hold">
                                          <p:stCondLst>
                                            <p:cond delay="0"/>
                                          </p:stCondLst>
                                        </p:cTn>
                                        <p:tgtEl>
                                          <p:spTgt spid="133122"/>
                                        </p:tgtEl>
                                        <p:attrNameLst>
                                          <p:attrName>style.visibility</p:attrName>
                                        </p:attrNameLst>
                                      </p:cBhvr>
                                      <p:to>
                                        <p:strVal val="visible"/>
                                      </p:to>
                                    </p:set>
                                  </p:childTnLst>
                                </p:cTn>
                              </p:par>
                            </p:childTnLst>
                          </p:cTn>
                        </p:par>
                        <p:par>
                          <p:cTn id="18" fill="hold" nodeType="afterGroup">
                            <p:stCondLst>
                              <p:cond delay="3002"/>
                            </p:stCondLst>
                            <p:childTnLst>
                              <p:par>
                                <p:cTn id="19" presetID="1" presetClass="exit" presetSubtype="0" fill="hold" nodeType="afterEffect">
                                  <p:stCondLst>
                                    <p:cond delay="0"/>
                                  </p:stCondLst>
                                  <p:childTnLst>
                                    <p:set>
                                      <p:cBhvr>
                                        <p:cTn id="20" dur="1" fill="hold">
                                          <p:stCondLst>
                                            <p:cond delay="0"/>
                                          </p:stCondLst>
                                        </p:cTn>
                                        <p:tgtEl>
                                          <p:spTgt spid="1331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nimBg="1"/>
      <p:bldP spid="133123" grpId="0" animBg="1"/>
      <p:bldP spid="13312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Rectangle 2"/>
          <p:cNvSpPr>
            <a:spLocks noGrp="1" noChangeArrowheads="1"/>
          </p:cNvSpPr>
          <p:nvPr>
            <p:ph type="title"/>
          </p:nvPr>
        </p:nvSpPr>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16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31426" name="AutoShape 3"/>
          <p:cNvSpPr>
            <a:spLocks noChangeArrowheads="1"/>
          </p:cNvSpPr>
          <p:nvPr/>
        </p:nvSpPr>
        <p:spPr bwMode="auto">
          <a:xfrm rot="16200000">
            <a:off x="4756943" y="885032"/>
            <a:ext cx="417513" cy="9740900"/>
          </a:xfrm>
          <a:prstGeom prst="can">
            <a:avLst>
              <a:gd name="adj" fmla="val 4860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31427" name="AutoShape 4"/>
          <p:cNvSpPr>
            <a:spLocks noChangeArrowheads="1"/>
          </p:cNvSpPr>
          <p:nvPr/>
        </p:nvSpPr>
        <p:spPr bwMode="auto">
          <a:xfrm>
            <a:off x="577850" y="2574925"/>
            <a:ext cx="908050" cy="2997200"/>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31428" name="Text Box 5"/>
          <p:cNvSpPr txBox="1">
            <a:spLocks noChangeArrowheads="1"/>
          </p:cNvSpPr>
          <p:nvPr/>
        </p:nvSpPr>
        <p:spPr bwMode="auto">
          <a:xfrm>
            <a:off x="1025525" y="275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31429" name="Text Box 6"/>
          <p:cNvSpPr txBox="1">
            <a:spLocks noChangeArrowheads="1"/>
          </p:cNvSpPr>
          <p:nvPr/>
        </p:nvSpPr>
        <p:spPr bwMode="auto">
          <a:xfrm>
            <a:off x="1025525" y="33813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31430" name="Text Box 7"/>
          <p:cNvSpPr txBox="1">
            <a:spLocks noChangeArrowheads="1"/>
          </p:cNvSpPr>
          <p:nvPr/>
        </p:nvSpPr>
        <p:spPr bwMode="auto">
          <a:xfrm>
            <a:off x="1025525" y="39385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31431" name="Text Box 8"/>
          <p:cNvSpPr txBox="1">
            <a:spLocks noChangeArrowheads="1"/>
          </p:cNvSpPr>
          <p:nvPr/>
        </p:nvSpPr>
        <p:spPr bwMode="auto">
          <a:xfrm>
            <a:off x="1025525" y="4497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31432" name="Text Box 9"/>
          <p:cNvSpPr txBox="1">
            <a:spLocks noChangeArrowheads="1"/>
          </p:cNvSpPr>
          <p:nvPr/>
        </p:nvSpPr>
        <p:spPr bwMode="auto">
          <a:xfrm>
            <a:off x="1025525" y="506412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31433" name="Freeform 10"/>
          <p:cNvSpPr>
            <a:spLocks noChangeArrowheads="1"/>
          </p:cNvSpPr>
          <p:nvPr/>
        </p:nvSpPr>
        <p:spPr bwMode="auto">
          <a:xfrm>
            <a:off x="577850" y="3176588"/>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34" name="Freeform 11"/>
          <p:cNvSpPr>
            <a:spLocks noChangeArrowheads="1"/>
          </p:cNvSpPr>
          <p:nvPr/>
        </p:nvSpPr>
        <p:spPr bwMode="auto">
          <a:xfrm>
            <a:off x="588963" y="3751263"/>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35" name="Freeform 12"/>
          <p:cNvSpPr>
            <a:spLocks noChangeArrowheads="1"/>
          </p:cNvSpPr>
          <p:nvPr/>
        </p:nvSpPr>
        <p:spPr bwMode="auto">
          <a:xfrm>
            <a:off x="563563" y="4327525"/>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36" name="Freeform 13"/>
          <p:cNvSpPr>
            <a:spLocks noChangeArrowheads="1"/>
          </p:cNvSpPr>
          <p:nvPr/>
        </p:nvSpPr>
        <p:spPr bwMode="auto">
          <a:xfrm>
            <a:off x="563563" y="4919663"/>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37" name="AutoShape 14"/>
          <p:cNvSpPr>
            <a:spLocks noChangeArrowheads="1"/>
          </p:cNvSpPr>
          <p:nvPr/>
        </p:nvSpPr>
        <p:spPr bwMode="auto">
          <a:xfrm>
            <a:off x="8543925" y="2541588"/>
            <a:ext cx="908050" cy="3030537"/>
          </a:xfrm>
          <a:prstGeom prst="cube">
            <a:avLst>
              <a:gd name="adj" fmla="val 10764"/>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31438" name="Text Box 15"/>
          <p:cNvSpPr txBox="1">
            <a:spLocks noChangeArrowheads="1"/>
          </p:cNvSpPr>
          <p:nvPr/>
        </p:nvSpPr>
        <p:spPr bwMode="auto">
          <a:xfrm>
            <a:off x="8585200" y="271938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5</a:t>
            </a:r>
          </a:p>
        </p:txBody>
      </p:sp>
      <p:sp>
        <p:nvSpPr>
          <p:cNvPr id="231439" name="Text Box 16"/>
          <p:cNvSpPr txBox="1">
            <a:spLocks noChangeArrowheads="1"/>
          </p:cNvSpPr>
          <p:nvPr/>
        </p:nvSpPr>
        <p:spPr bwMode="auto">
          <a:xfrm>
            <a:off x="8585200" y="33464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4</a:t>
            </a:r>
          </a:p>
        </p:txBody>
      </p:sp>
      <p:sp>
        <p:nvSpPr>
          <p:cNvPr id="231440" name="Text Box 17"/>
          <p:cNvSpPr txBox="1">
            <a:spLocks noChangeArrowheads="1"/>
          </p:cNvSpPr>
          <p:nvPr/>
        </p:nvSpPr>
        <p:spPr bwMode="auto">
          <a:xfrm>
            <a:off x="8585200" y="390366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3</a:t>
            </a:r>
          </a:p>
        </p:txBody>
      </p:sp>
      <p:sp>
        <p:nvSpPr>
          <p:cNvPr id="231441" name="Text Box 18"/>
          <p:cNvSpPr txBox="1">
            <a:spLocks noChangeArrowheads="1"/>
          </p:cNvSpPr>
          <p:nvPr/>
        </p:nvSpPr>
        <p:spPr bwMode="auto">
          <a:xfrm>
            <a:off x="8585200" y="44640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2</a:t>
            </a:r>
          </a:p>
        </p:txBody>
      </p:sp>
      <p:sp>
        <p:nvSpPr>
          <p:cNvPr id="231442" name="Text Box 19"/>
          <p:cNvSpPr txBox="1">
            <a:spLocks noChangeArrowheads="1"/>
          </p:cNvSpPr>
          <p:nvPr/>
        </p:nvSpPr>
        <p:spPr bwMode="auto">
          <a:xfrm>
            <a:off x="8585200" y="50292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1</a:t>
            </a:r>
          </a:p>
        </p:txBody>
      </p:sp>
      <p:sp>
        <p:nvSpPr>
          <p:cNvPr id="231443" name="Freeform 20"/>
          <p:cNvSpPr>
            <a:spLocks noChangeArrowheads="1"/>
          </p:cNvSpPr>
          <p:nvPr/>
        </p:nvSpPr>
        <p:spPr bwMode="auto">
          <a:xfrm>
            <a:off x="8543925" y="3141663"/>
            <a:ext cx="919163"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44" name="Freeform 21"/>
          <p:cNvSpPr>
            <a:spLocks noChangeArrowheads="1"/>
          </p:cNvSpPr>
          <p:nvPr/>
        </p:nvSpPr>
        <p:spPr bwMode="auto">
          <a:xfrm>
            <a:off x="8555038" y="3716338"/>
            <a:ext cx="91757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45" name="Freeform 22"/>
          <p:cNvSpPr>
            <a:spLocks noChangeArrowheads="1"/>
          </p:cNvSpPr>
          <p:nvPr/>
        </p:nvSpPr>
        <p:spPr bwMode="auto">
          <a:xfrm>
            <a:off x="8529638" y="4292600"/>
            <a:ext cx="942975"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231446" name="Freeform 23"/>
          <p:cNvSpPr>
            <a:spLocks noChangeArrowheads="1"/>
          </p:cNvSpPr>
          <p:nvPr/>
        </p:nvSpPr>
        <p:spPr bwMode="auto">
          <a:xfrm>
            <a:off x="8529638" y="4884738"/>
            <a:ext cx="933450"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宋体" panose="02010600030101010101" pitchFamily="2" charset="-122"/>
            </a:endParaRPr>
          </a:p>
        </p:txBody>
      </p:sp>
      <p:sp>
        <p:nvSpPr>
          <p:cNvPr id="134168" name="Text Box 24"/>
          <p:cNvSpPr txBox="1">
            <a:spLocks noChangeArrowheads="1"/>
          </p:cNvSpPr>
          <p:nvPr/>
        </p:nvSpPr>
        <p:spPr bwMode="auto">
          <a:xfrm>
            <a:off x="428625" y="1628775"/>
            <a:ext cx="10112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1</a:t>
            </a:r>
          </a:p>
        </p:txBody>
      </p:sp>
      <p:sp>
        <p:nvSpPr>
          <p:cNvPr id="231448" name="AutoShape 25"/>
          <p:cNvSpPr>
            <a:spLocks noChangeArrowheads="1"/>
          </p:cNvSpPr>
          <p:nvPr/>
        </p:nvSpPr>
        <p:spPr bwMode="auto">
          <a:xfrm>
            <a:off x="8704263" y="2044700"/>
            <a:ext cx="742950" cy="557213"/>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31449" name="Text Box 26"/>
          <p:cNvSpPr txBox="1">
            <a:spLocks noChangeArrowheads="1"/>
          </p:cNvSpPr>
          <p:nvPr/>
        </p:nvSpPr>
        <p:spPr bwMode="auto">
          <a:xfrm>
            <a:off x="8696325" y="21494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2</a:t>
            </a:r>
            <a:endParaRPr lang="en-US" altLang="zh-CN" sz="2000" b="1">
              <a:solidFill>
                <a:srgbClr val="333399"/>
              </a:solidFill>
              <a:ea typeface="宋体" panose="02010600030101010101" pitchFamily="2" charset="-122"/>
            </a:endParaRPr>
          </a:p>
        </p:txBody>
      </p:sp>
      <p:sp>
        <p:nvSpPr>
          <p:cNvPr id="231450" name="AutoShape 27"/>
          <p:cNvSpPr>
            <a:spLocks noChangeArrowheads="1"/>
          </p:cNvSpPr>
          <p:nvPr/>
        </p:nvSpPr>
        <p:spPr bwMode="auto">
          <a:xfrm>
            <a:off x="582613" y="2087563"/>
            <a:ext cx="742950" cy="557212"/>
          </a:xfrm>
          <a:prstGeom prst="cube">
            <a:avLst>
              <a:gd name="adj" fmla="val 17593"/>
            </a:avLst>
          </a:prstGeom>
          <a:solidFill>
            <a:srgbClr val="FFFF99"/>
          </a:solidFill>
          <a:ln w="19050">
            <a:solidFill>
              <a:schemeClr val="tx1"/>
            </a:solidFill>
            <a:miter lim="800000"/>
            <a:headEnd type="none" w="sm" len="lg"/>
            <a:tailEnd type="none" w="sm" len="lg"/>
          </a:ln>
        </p:spPr>
        <p:txBody>
          <a:bodyPr wrap="none" anchor="ctr"/>
          <a:lstStyle/>
          <a:p>
            <a:pPr eaLnBrk="0" hangingPunct="0"/>
            <a:endParaRPr lang="zh-CN" altLang="en-US" b="1">
              <a:ea typeface="宋体" panose="02010600030101010101" pitchFamily="2" charset="-122"/>
            </a:endParaRPr>
          </a:p>
        </p:txBody>
      </p:sp>
      <p:sp>
        <p:nvSpPr>
          <p:cNvPr id="231451" name="Text Box 28"/>
          <p:cNvSpPr txBox="1">
            <a:spLocks noChangeArrowheads="1"/>
          </p:cNvSpPr>
          <p:nvPr/>
        </p:nvSpPr>
        <p:spPr bwMode="auto">
          <a:xfrm>
            <a:off x="604838" y="220821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宋体" panose="02010600030101010101" pitchFamily="2" charset="-122"/>
              </a:rPr>
              <a:t>AP</a:t>
            </a:r>
            <a:r>
              <a:rPr lang="en-US" altLang="zh-CN" sz="2000" b="1" baseline="-25000">
                <a:solidFill>
                  <a:srgbClr val="333399"/>
                </a:solidFill>
                <a:ea typeface="宋体" panose="02010600030101010101" pitchFamily="2" charset="-122"/>
              </a:rPr>
              <a:t>1</a:t>
            </a:r>
            <a:endParaRPr lang="en-US" altLang="zh-CN" sz="2000" b="1">
              <a:solidFill>
                <a:srgbClr val="333399"/>
              </a:solidFill>
              <a:ea typeface="宋体" panose="02010600030101010101" pitchFamily="2" charset="-122"/>
            </a:endParaRPr>
          </a:p>
        </p:txBody>
      </p:sp>
      <p:sp>
        <p:nvSpPr>
          <p:cNvPr id="134173" name="Text Box 29"/>
          <p:cNvSpPr txBox="1">
            <a:spLocks noChangeArrowheads="1"/>
          </p:cNvSpPr>
          <p:nvPr/>
        </p:nvSpPr>
        <p:spPr bwMode="auto">
          <a:xfrm>
            <a:off x="8418513" y="1628775"/>
            <a:ext cx="10112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panose="020B0604020202020204" pitchFamily="34" charset="0"/>
                <a:ea typeface="宋体" panose="02010600030101010101" pitchFamily="2" charset="-122"/>
              </a:defRPr>
            </a:lvl1pPr>
            <a:lvl2pPr marL="571500" defTabSz="762000">
              <a:defRPr>
                <a:solidFill>
                  <a:schemeClr val="tx1"/>
                </a:solidFill>
                <a:latin typeface="Arial" panose="020B0604020202020204" pitchFamily="34" charset="0"/>
                <a:ea typeface="宋体" panose="02010600030101010101" pitchFamily="2" charset="-122"/>
              </a:defRPr>
            </a:lvl2pPr>
            <a:lvl3pPr marL="1143000" defTabSz="762000">
              <a:defRPr>
                <a:solidFill>
                  <a:schemeClr val="tx1"/>
                </a:solidFill>
                <a:latin typeface="Arial" panose="020B0604020202020204" pitchFamily="34" charset="0"/>
                <a:ea typeface="宋体" panose="02010600030101010101" pitchFamily="2" charset="-122"/>
              </a:defRPr>
            </a:lvl3pPr>
            <a:lvl4pPr marL="1714500" defTabSz="762000">
              <a:defRPr>
                <a:solidFill>
                  <a:schemeClr val="tx1"/>
                </a:solidFill>
                <a:latin typeface="Arial" panose="020B0604020202020204" pitchFamily="34" charset="0"/>
                <a:ea typeface="宋体" panose="02010600030101010101" pitchFamily="2" charset="-122"/>
              </a:defRPr>
            </a:lvl4pPr>
            <a:lvl5pPr marL="2286000" defTabSz="762000">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zh-CN" altLang="en-US" sz="2400" b="1" noProof="1">
                <a:solidFill>
                  <a:srgbClr val="C00000"/>
                </a:solidFill>
                <a:ea typeface="黑体" panose="02010609060101010101" pitchFamily="2" charset="-122"/>
              </a:rPr>
              <a:t>主机</a:t>
            </a:r>
            <a:r>
              <a:rPr kumimoji="1" lang="zh-CN" altLang="en-US" sz="1050" b="1" noProof="1">
                <a:solidFill>
                  <a:srgbClr val="C00000"/>
                </a:solidFill>
                <a:ea typeface="黑体" panose="02010609060101010101" pitchFamily="2" charset="-122"/>
              </a:rPr>
              <a:t> </a:t>
            </a:r>
            <a:r>
              <a:rPr kumimoji="1" lang="en-US" altLang="zh-CN" sz="2400" b="1" noProof="1">
                <a:solidFill>
                  <a:srgbClr val="C00000"/>
                </a:solidFill>
                <a:ea typeface="黑体" panose="02010609060101010101" pitchFamily="2" charset="-122"/>
              </a:rPr>
              <a:t>2</a:t>
            </a:r>
          </a:p>
        </p:txBody>
      </p:sp>
      <p:sp>
        <p:nvSpPr>
          <p:cNvPr id="231453" name="AutoShape 30"/>
          <p:cNvSpPr>
            <a:spLocks noChangeArrowheads="1"/>
          </p:cNvSpPr>
          <p:nvPr/>
        </p:nvSpPr>
        <p:spPr bwMode="auto">
          <a:xfrm>
            <a:off x="4405313" y="1716088"/>
            <a:ext cx="3200400" cy="935037"/>
          </a:xfrm>
          <a:prstGeom prst="wedgeRoundRectCallout">
            <a:avLst>
              <a:gd name="adj1" fmla="val 87310"/>
              <a:gd name="adj2" fmla="val 18931"/>
              <a:gd name="adj3" fmla="val 16667"/>
            </a:avLst>
          </a:prstGeom>
          <a:solidFill>
            <a:srgbClr val="66FFFF"/>
          </a:solidFill>
          <a:ln w="9525">
            <a:solidFill>
              <a:schemeClr val="tx1"/>
            </a:solidFill>
            <a:miter lim="800000"/>
            <a:headEnd/>
            <a:tailEnd/>
          </a:ln>
        </p:spPr>
        <p:txBody>
          <a:bodyPr/>
          <a:lstStyle/>
          <a:p>
            <a:pPr algn="ctr" eaLnBrk="0" hangingPunct="0"/>
            <a:endParaRPr lang="zh-CN" altLang="zh-CN" b="1">
              <a:latin typeface="Tahoma" panose="020B0604030504040204" pitchFamily="34" charset="0"/>
              <a:ea typeface="宋体" panose="02010600030101010101" pitchFamily="2" charset="-122"/>
            </a:endParaRPr>
          </a:p>
        </p:txBody>
      </p:sp>
      <p:sp>
        <p:nvSpPr>
          <p:cNvPr id="231454" name="Text Box 31"/>
          <p:cNvSpPr txBox="1">
            <a:spLocks noChangeArrowheads="1"/>
          </p:cNvSpPr>
          <p:nvPr/>
        </p:nvSpPr>
        <p:spPr bwMode="auto">
          <a:xfrm>
            <a:off x="4594225" y="1787525"/>
            <a:ext cx="2970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333399"/>
                </a:solidFill>
                <a:latin typeface="Tahoma" panose="020B0604030504040204" pitchFamily="34" charset="0"/>
                <a:ea typeface="黑体" panose="02010609060101010101" pitchFamily="49" charset="-122"/>
              </a:rPr>
              <a:t>我收到了</a:t>
            </a:r>
            <a:r>
              <a:rPr lang="zh-CN" altLang="en-US" sz="1400" b="1">
                <a:solidFill>
                  <a:srgbClr val="333399"/>
                </a:solidFill>
                <a:ea typeface="黑体" panose="02010609060101010101" pitchFamily="49" charset="-122"/>
              </a:rPr>
              <a:t> </a:t>
            </a:r>
            <a:r>
              <a:rPr lang="en-US" altLang="zh-CN" sz="2400" b="1">
                <a:solidFill>
                  <a:srgbClr val="333399"/>
                </a:solidFill>
                <a:ea typeface="黑体" panose="02010609060101010101" pitchFamily="49" charset="-122"/>
              </a:rPr>
              <a:t>AP</a:t>
            </a:r>
            <a:r>
              <a:rPr lang="en-US" altLang="zh-CN" sz="2400" b="1" baseline="-25000">
                <a:solidFill>
                  <a:srgbClr val="333399"/>
                </a:solidFill>
                <a:ea typeface="黑体" panose="02010609060101010101" pitchFamily="49" charset="-122"/>
              </a:rPr>
              <a:t>1</a:t>
            </a:r>
            <a:r>
              <a:rPr lang="en-US" altLang="zh-CN" sz="1600" b="1">
                <a:solidFill>
                  <a:srgbClr val="333399"/>
                </a:solidFill>
                <a:ea typeface="黑体" panose="02010609060101010101" pitchFamily="49" charset="-122"/>
              </a:rPr>
              <a:t> </a:t>
            </a:r>
            <a:r>
              <a:rPr lang="zh-CN" altLang="en-US" sz="2400" b="1">
                <a:solidFill>
                  <a:srgbClr val="333399"/>
                </a:solidFill>
                <a:latin typeface="Tahoma" panose="020B0604030504040204" pitchFamily="34" charset="0"/>
                <a:ea typeface="黑体" panose="02010609060101010101" pitchFamily="49" charset="-122"/>
              </a:rPr>
              <a:t>发来的</a:t>
            </a:r>
          </a:p>
          <a:p>
            <a:pPr algn="ctr" eaLnBrk="0" hangingPunct="0"/>
            <a:r>
              <a:rPr lang="zh-CN" altLang="en-US" sz="2400" b="1">
                <a:solidFill>
                  <a:srgbClr val="333399"/>
                </a:solidFill>
                <a:ea typeface="黑体" panose="02010609060101010101" pitchFamily="49" charset="-122"/>
              </a:rPr>
              <a:t>应用程序数据！</a:t>
            </a:r>
          </a:p>
        </p:txBody>
      </p:sp>
      <p:sp>
        <p:nvSpPr>
          <p:cNvPr id="2314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6F8BAA-6F0E-4806-A549-BE534ADAA7F9}" type="slidenum">
              <a:rPr lang="zh-CN" altLang="en-US" smtClean="0"/>
              <a:pPr eaLnBrk="1" hangingPunct="1"/>
              <a:t>41</a:t>
            </a:fld>
            <a:endParaRPr lang="en-US" altLang="zh-CN" smtClean="0"/>
          </a:p>
        </p:txBody>
      </p:sp>
      <p:sp>
        <p:nvSpPr>
          <p:cNvPr id="2314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主机</a:t>
            </a:r>
            <a:r>
              <a:rPr lang="zh-CN" altLang="en-US" sz="2400" smtClean="0">
                <a:ea typeface="黑体" panose="02010609060101010101" pitchFamily="49" charset="-122"/>
              </a:rPr>
              <a:t> </a:t>
            </a:r>
            <a:r>
              <a:rPr lang="en-US" altLang="zh-CN" smtClean="0">
                <a:ea typeface="黑体" panose="02010609060101010101" pitchFamily="49" charset="-122"/>
              </a:rPr>
              <a:t>1</a:t>
            </a:r>
            <a:r>
              <a:rPr lang="en-US" altLang="zh-CN" sz="2400" smtClean="0">
                <a:ea typeface="黑体" panose="02010609060101010101" pitchFamily="49" charset="-122"/>
              </a:rPr>
              <a:t> </a:t>
            </a:r>
            <a:r>
              <a:rPr lang="zh-CN" altLang="en-US" smtClean="0">
                <a:ea typeface="黑体" panose="02010609060101010101" pitchFamily="49" charset="-122"/>
              </a:rPr>
              <a:t>向主机</a:t>
            </a:r>
            <a:r>
              <a:rPr lang="zh-CN" altLang="en-US" sz="2400" smtClean="0">
                <a:ea typeface="黑体" panose="02010609060101010101" pitchFamily="49" charset="-122"/>
              </a:rPr>
              <a:t> </a:t>
            </a:r>
            <a:r>
              <a:rPr lang="en-US" altLang="zh-CN" smtClean="0">
                <a:ea typeface="黑体" panose="02010609060101010101" pitchFamily="49" charset="-122"/>
              </a:rPr>
              <a:t>2</a:t>
            </a:r>
            <a:r>
              <a:rPr lang="en-US" altLang="zh-CN" sz="2400" smtClean="0">
                <a:ea typeface="黑体" panose="02010609060101010101" pitchFamily="49" charset="-122"/>
              </a:rPr>
              <a:t> </a:t>
            </a:r>
            <a:r>
              <a:rPr lang="zh-CN" altLang="en-US" smtClean="0">
                <a:ea typeface="黑体" panose="02010609060101010101" pitchFamily="49" charset="-122"/>
              </a:rPr>
              <a:t>发送数据 </a:t>
            </a:r>
          </a:p>
        </p:txBody>
      </p:sp>
      <p:sp>
        <p:nvSpPr>
          <p:cNvPr id="233474"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OSI </a:t>
            </a:r>
            <a:r>
              <a:rPr lang="zh-CN" altLang="zh-CN" dirty="0" smtClean="0">
                <a:ea typeface="黑体" panose="02010609060101010101" pitchFamily="49" charset="-122"/>
              </a:rPr>
              <a:t>参考模型把对等层次之间传送的数据单位称为该层的</a:t>
            </a:r>
            <a:r>
              <a:rPr lang="zh-CN" altLang="zh-CN" u="sng" dirty="0" smtClean="0">
                <a:solidFill>
                  <a:srgbClr val="FF0000"/>
                </a:solidFill>
                <a:ea typeface="黑体" panose="02010609060101010101" pitchFamily="49" charset="-122"/>
              </a:rPr>
              <a:t>协议数据单元</a:t>
            </a:r>
            <a:r>
              <a:rPr lang="en-US" altLang="zh-CN" u="sng" dirty="0" smtClean="0">
                <a:solidFill>
                  <a:srgbClr val="FF0000"/>
                </a:solidFill>
                <a:ea typeface="黑体" panose="02010609060101010101" pitchFamily="49" charset="-122"/>
              </a:rPr>
              <a:t> PDU </a:t>
            </a:r>
            <a:r>
              <a:rPr lang="en-US" altLang="zh-CN" u="sng" dirty="0" smtClean="0">
                <a:ea typeface="黑体" panose="02010609060101010101" pitchFamily="49" charset="-122"/>
              </a:rPr>
              <a:t>(Protocol Data Unit)</a:t>
            </a:r>
            <a:r>
              <a:rPr lang="zh-CN" altLang="zh-CN" dirty="0" smtClean="0">
                <a:ea typeface="黑体" panose="02010609060101010101" pitchFamily="49" charset="-122"/>
              </a:rPr>
              <a:t>。这个名词现已被许多非</a:t>
            </a:r>
            <a:r>
              <a:rPr lang="en-US" altLang="zh-CN" dirty="0" smtClean="0">
                <a:ea typeface="黑体" panose="02010609060101010101" pitchFamily="49" charset="-122"/>
              </a:rPr>
              <a:t> OSI </a:t>
            </a:r>
            <a:r>
              <a:rPr lang="zh-CN" altLang="zh-CN" dirty="0" smtClean="0">
                <a:ea typeface="黑体" panose="02010609060101010101" pitchFamily="49" charset="-122"/>
              </a:rPr>
              <a:t>标准采用。</a:t>
            </a:r>
          </a:p>
          <a:p>
            <a:r>
              <a:rPr lang="zh-CN" altLang="zh-CN" dirty="0" smtClean="0">
                <a:ea typeface="黑体" panose="02010609060101010101" pitchFamily="49" charset="-122"/>
              </a:rPr>
              <a:t>任何两个同样的层次把数据（即数据单元加上控制信息）通过水平虚线直接传递给对方。这就是所谓的</a:t>
            </a:r>
            <a:r>
              <a:rPr lang="zh-CN" altLang="zh-CN" u="sng" dirty="0" smtClean="0">
                <a:ea typeface="黑体" panose="02010609060101010101" pitchFamily="49" charset="-122"/>
              </a:rPr>
              <a:t>“</a:t>
            </a:r>
            <a:r>
              <a:rPr lang="zh-CN" altLang="zh-CN" u="sng" dirty="0" smtClean="0">
                <a:solidFill>
                  <a:srgbClr val="FF0000"/>
                </a:solidFill>
                <a:ea typeface="黑体" panose="02010609060101010101" pitchFamily="49" charset="-122"/>
              </a:rPr>
              <a:t>对等层</a:t>
            </a:r>
            <a:r>
              <a:rPr lang="zh-CN" altLang="zh-CN" u="sng" dirty="0" smtClean="0">
                <a:ea typeface="黑体" panose="02010609060101010101" pitchFamily="49" charset="-122"/>
              </a:rPr>
              <a:t>”</a:t>
            </a:r>
            <a:r>
              <a:rPr lang="en-US" altLang="zh-CN" u="sng" dirty="0" smtClean="0">
                <a:ea typeface="黑体" panose="02010609060101010101" pitchFamily="49" charset="-122"/>
              </a:rPr>
              <a:t>(peer layers)</a:t>
            </a:r>
            <a:r>
              <a:rPr lang="zh-CN" altLang="zh-CN" dirty="0" smtClean="0">
                <a:ea typeface="黑体" panose="02010609060101010101" pitchFamily="49" charset="-122"/>
              </a:rPr>
              <a:t>之间的通信。</a:t>
            </a:r>
            <a:endParaRPr lang="en-US" altLang="zh-CN" dirty="0" smtClean="0">
              <a:ea typeface="黑体" panose="02010609060101010101" pitchFamily="49" charset="-122"/>
            </a:endParaRPr>
          </a:p>
          <a:p>
            <a:r>
              <a:rPr lang="zh-CN" altLang="zh-CN" dirty="0" smtClean="0">
                <a:solidFill>
                  <a:srgbClr val="FF0000"/>
                </a:solidFill>
                <a:ea typeface="黑体" panose="02010609060101010101" pitchFamily="49" charset="-122"/>
              </a:rPr>
              <a:t>各层协议</a:t>
            </a:r>
            <a:r>
              <a:rPr lang="zh-CN" altLang="zh-CN" dirty="0" smtClean="0">
                <a:ea typeface="黑体" panose="02010609060101010101" pitchFamily="49" charset="-122"/>
              </a:rPr>
              <a:t>实际上就是在各个对等层之间传递数据时的各项规定。</a:t>
            </a:r>
            <a:endParaRPr lang="zh-CN" altLang="en-US" dirty="0" smtClean="0">
              <a:ea typeface="黑体" panose="02010609060101010101" pitchFamily="49" charset="-122"/>
            </a:endParaRPr>
          </a:p>
        </p:txBody>
      </p:sp>
      <p:sp>
        <p:nvSpPr>
          <p:cNvPr id="23347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18427AA-9D3D-48E2-9E80-C633D4A50581}" type="slidenum">
              <a:rPr lang="zh-CN" altLang="en-US" smtClean="0"/>
              <a:pPr eaLnBrk="1" hangingPunct="1"/>
              <a:t>42</a:t>
            </a:fld>
            <a:endParaRPr lang="en-US" altLang="zh-CN" smtClean="0"/>
          </a:p>
        </p:txBody>
      </p:sp>
      <p:sp>
        <p:nvSpPr>
          <p:cNvPr id="23347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2"/>
          <p:cNvSpPr>
            <a:spLocks noGrp="1" noChangeArrowheads="1"/>
          </p:cNvSpPr>
          <p:nvPr>
            <p:ph type="title"/>
          </p:nvPr>
        </p:nvSpPr>
        <p:spPr>
          <a:xfrm>
            <a:off x="495300" y="188913"/>
            <a:ext cx="9066213" cy="792162"/>
          </a:xfrm>
        </p:spPr>
        <p:txBody>
          <a:bodyPr/>
          <a:lstStyle/>
          <a:p>
            <a:r>
              <a:rPr lang="en-US" altLang="zh-CN" sz="3600" smtClean="0">
                <a:ea typeface="黑体" panose="02010609060101010101" pitchFamily="49" charset="-122"/>
              </a:rPr>
              <a:t>1.7.4  </a:t>
            </a:r>
            <a:r>
              <a:rPr lang="zh-CN" altLang="zh-CN" sz="3600" smtClean="0">
                <a:ea typeface="黑体" panose="02010609060101010101" pitchFamily="49" charset="-122"/>
              </a:rPr>
              <a:t>实体、协议、服务和服务访问点</a:t>
            </a:r>
            <a:endParaRPr lang="zh-CN" altLang="en-US" sz="3600" smtClean="0">
              <a:ea typeface="黑体" panose="02010609060101010101" pitchFamily="49" charset="-122"/>
            </a:endParaRPr>
          </a:p>
        </p:txBody>
      </p:sp>
      <p:sp>
        <p:nvSpPr>
          <p:cNvPr id="138243" name="Rectangle 3"/>
          <p:cNvSpPr>
            <a:spLocks noGrp="1" noChangeArrowheads="1"/>
          </p:cNvSpPr>
          <p:nvPr>
            <p:ph idx="1"/>
          </p:nvPr>
        </p:nvSpPr>
        <p:spPr>
          <a:xfrm>
            <a:off x="495300" y="1196975"/>
            <a:ext cx="9066213" cy="4933950"/>
          </a:xfrm>
        </p:spPr>
        <p:txBody>
          <a:bodyPr/>
          <a:lstStyle/>
          <a:p>
            <a:r>
              <a:rPr lang="zh-CN" altLang="en-US" u="sng" dirty="0" smtClean="0">
                <a:solidFill>
                  <a:srgbClr val="FF0000"/>
                </a:solidFill>
                <a:ea typeface="黑体" panose="02010609060101010101" pitchFamily="49" charset="-122"/>
              </a:rPr>
              <a:t>实体 </a:t>
            </a:r>
            <a:r>
              <a:rPr lang="en-US" altLang="zh-CN" u="sng" dirty="0" smtClean="0">
                <a:ea typeface="黑体" panose="02010609060101010101" pitchFamily="49" charset="-122"/>
              </a:rPr>
              <a:t>(entity) </a:t>
            </a:r>
            <a:r>
              <a:rPr lang="zh-CN" altLang="en-US" dirty="0" smtClean="0">
                <a:ea typeface="黑体" panose="02010609060101010101" pitchFamily="49" charset="-122"/>
              </a:rPr>
              <a:t>表示任何可发送或接收信息的硬件或软件进程。 </a:t>
            </a:r>
          </a:p>
          <a:p>
            <a:r>
              <a:rPr lang="zh-CN" altLang="en-US" dirty="0" smtClean="0">
                <a:solidFill>
                  <a:srgbClr val="FF0000"/>
                </a:solidFill>
                <a:ea typeface="黑体" panose="02010609060101010101" pitchFamily="49" charset="-122"/>
              </a:rPr>
              <a:t>协议</a:t>
            </a:r>
            <a:r>
              <a:rPr lang="zh-CN" altLang="en-US" dirty="0" smtClean="0">
                <a:ea typeface="黑体" panose="02010609060101010101" pitchFamily="49" charset="-122"/>
              </a:rPr>
              <a:t>是控制</a:t>
            </a:r>
            <a:r>
              <a:rPr lang="zh-CN" altLang="en-US" dirty="0" smtClean="0">
                <a:solidFill>
                  <a:srgbClr val="FF0000"/>
                </a:solidFill>
                <a:ea typeface="黑体" panose="02010609060101010101" pitchFamily="49" charset="-122"/>
              </a:rPr>
              <a:t>两个对等实体</a:t>
            </a:r>
            <a:r>
              <a:rPr lang="zh-CN" altLang="en-US" dirty="0" smtClean="0">
                <a:ea typeface="黑体" panose="02010609060101010101" pitchFamily="49" charset="-122"/>
              </a:rPr>
              <a:t>进行通信的规则的集合。 </a:t>
            </a:r>
          </a:p>
          <a:p>
            <a:r>
              <a:rPr lang="zh-CN" altLang="en-US" dirty="0" smtClean="0">
                <a:ea typeface="黑体" panose="02010609060101010101" pitchFamily="49" charset="-122"/>
              </a:rPr>
              <a:t>在协议的控制下，两个对等实体间的通信使得本层能够</a:t>
            </a:r>
            <a:r>
              <a:rPr lang="zh-CN" altLang="en-US" dirty="0" smtClean="0">
                <a:solidFill>
                  <a:srgbClr val="FF0000"/>
                </a:solidFill>
                <a:ea typeface="黑体" panose="02010609060101010101" pitchFamily="49" charset="-122"/>
              </a:rPr>
              <a:t>向上一层提供服务。</a:t>
            </a:r>
          </a:p>
          <a:p>
            <a:r>
              <a:rPr lang="zh-CN" altLang="en-US" dirty="0" smtClean="0">
                <a:ea typeface="黑体" panose="02010609060101010101" pitchFamily="49" charset="-122"/>
              </a:rPr>
              <a:t>要实现本层协议，还需要</a:t>
            </a:r>
            <a:r>
              <a:rPr lang="zh-CN" altLang="en-US" dirty="0" smtClean="0">
                <a:solidFill>
                  <a:srgbClr val="FF0000"/>
                </a:solidFill>
                <a:ea typeface="黑体" panose="02010609060101010101" pitchFamily="49" charset="-122"/>
              </a:rPr>
              <a:t>使用下层所提供的服务。</a:t>
            </a:r>
            <a:r>
              <a:rPr lang="zh-CN" altLang="en-US" dirty="0" smtClean="0">
                <a:ea typeface="黑体" panose="02010609060101010101" pitchFamily="49" charset="-122"/>
              </a:rPr>
              <a:t> </a:t>
            </a:r>
          </a:p>
        </p:txBody>
      </p:sp>
      <p:sp>
        <p:nvSpPr>
          <p:cNvPr id="2344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AA71F00-E0AE-448B-B449-0E5CC8FC3DFF}" type="slidenum">
              <a:rPr lang="zh-CN" altLang="en-US" smtClean="0"/>
              <a:pPr eaLnBrk="1" hangingPunct="1"/>
              <a:t>43</a:t>
            </a:fld>
            <a:endParaRPr lang="en-US" altLang="zh-CN" smtClean="0"/>
          </a:p>
        </p:txBody>
      </p:sp>
      <p:sp>
        <p:nvSpPr>
          <p:cNvPr id="2345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8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2"/>
          <p:cNvSpPr>
            <a:spLocks noGrp="1" noChangeArrowheads="1"/>
          </p:cNvSpPr>
          <p:nvPr>
            <p:ph type="title"/>
          </p:nvPr>
        </p:nvSpPr>
        <p:spPr>
          <a:xfrm>
            <a:off x="495300" y="188913"/>
            <a:ext cx="9066213" cy="792162"/>
          </a:xfrm>
        </p:spPr>
        <p:txBody>
          <a:bodyPr/>
          <a:lstStyle/>
          <a:p>
            <a:pPr algn="ctr"/>
            <a:r>
              <a:rPr lang="zh-CN" altLang="zh-CN" sz="4000" smtClean="0">
                <a:ea typeface="黑体" panose="02010609060101010101" pitchFamily="49" charset="-122"/>
              </a:rPr>
              <a:t>协议</a:t>
            </a:r>
            <a:r>
              <a:rPr lang="zh-CN" altLang="en-US" sz="4000" smtClean="0">
                <a:ea typeface="黑体" panose="02010609060101010101" pitchFamily="49" charset="-122"/>
              </a:rPr>
              <a:t>和</a:t>
            </a:r>
            <a:r>
              <a:rPr lang="zh-CN" altLang="zh-CN" sz="4000" smtClean="0">
                <a:ea typeface="黑体" panose="02010609060101010101" pitchFamily="49" charset="-122"/>
              </a:rPr>
              <a:t>服务在概念上是不一样的</a:t>
            </a:r>
            <a:endParaRPr lang="zh-CN" altLang="en-US" sz="4000" smtClean="0">
              <a:ea typeface="黑体" panose="02010609060101010101" pitchFamily="49" charset="-122"/>
            </a:endParaRPr>
          </a:p>
        </p:txBody>
      </p:sp>
      <p:sp>
        <p:nvSpPr>
          <p:cNvPr id="139267"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协议的实现保证了能够向上一层提供服务</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本层的服务用户</a:t>
            </a:r>
            <a:r>
              <a:rPr lang="zh-CN" altLang="en-US" dirty="0" smtClean="0">
                <a:solidFill>
                  <a:srgbClr val="FF0000"/>
                </a:solidFill>
                <a:ea typeface="黑体" panose="02010609060101010101" pitchFamily="49" charset="-122"/>
              </a:rPr>
              <a:t>只能看见服务</a:t>
            </a:r>
            <a:r>
              <a:rPr lang="zh-CN" altLang="en-US" dirty="0" smtClean="0">
                <a:ea typeface="黑体" panose="02010609060101010101" pitchFamily="49" charset="-122"/>
              </a:rPr>
              <a:t>而无法看见下面的协议。即下面的协议对上面的服务用户是</a:t>
            </a:r>
            <a:r>
              <a:rPr lang="zh-CN" altLang="en-US" dirty="0" smtClean="0">
                <a:solidFill>
                  <a:srgbClr val="FF0000"/>
                </a:solidFill>
                <a:ea typeface="黑体" panose="02010609060101010101" pitchFamily="49" charset="-122"/>
              </a:rPr>
              <a:t>透明</a:t>
            </a:r>
            <a:r>
              <a:rPr lang="zh-CN" altLang="en-US" dirty="0" smtClean="0">
                <a:ea typeface="黑体" panose="02010609060101010101" pitchFamily="49" charset="-122"/>
              </a:rPr>
              <a:t>的。 </a:t>
            </a:r>
          </a:p>
          <a:p>
            <a:r>
              <a:rPr lang="zh-CN" altLang="en-US" dirty="0" smtClean="0">
                <a:ea typeface="黑体" panose="02010609060101010101" pitchFamily="49" charset="-122"/>
              </a:rPr>
              <a:t>协议是“</a:t>
            </a:r>
            <a:r>
              <a:rPr lang="zh-CN" altLang="en-US" dirty="0" smtClean="0">
                <a:solidFill>
                  <a:srgbClr val="FF0000"/>
                </a:solidFill>
                <a:ea typeface="黑体" panose="02010609060101010101" pitchFamily="49" charset="-122"/>
              </a:rPr>
              <a:t>水平的</a:t>
            </a:r>
            <a:r>
              <a:rPr lang="zh-CN" altLang="en-US" dirty="0" smtClean="0">
                <a:ea typeface="黑体" panose="02010609060101010101" pitchFamily="49" charset="-122"/>
              </a:rPr>
              <a:t>”，即协议是控制对等实体之间通信的规则。</a:t>
            </a:r>
          </a:p>
          <a:p>
            <a:r>
              <a:rPr lang="zh-CN" altLang="en-US" dirty="0" smtClean="0">
                <a:ea typeface="黑体" panose="02010609060101010101" pitchFamily="49" charset="-122"/>
              </a:rPr>
              <a:t>服务是“</a:t>
            </a:r>
            <a:r>
              <a:rPr lang="zh-CN" altLang="en-US" dirty="0" smtClean="0">
                <a:solidFill>
                  <a:srgbClr val="FF0000"/>
                </a:solidFill>
                <a:ea typeface="黑体" panose="02010609060101010101" pitchFamily="49" charset="-122"/>
              </a:rPr>
              <a:t>垂直的</a:t>
            </a:r>
            <a:r>
              <a:rPr lang="zh-CN" altLang="en-US" dirty="0" smtClean="0">
                <a:ea typeface="黑体" panose="02010609060101010101" pitchFamily="49" charset="-122"/>
              </a:rPr>
              <a:t>”，即服务是由下层向上层通过层间接口提供的。</a:t>
            </a:r>
            <a:endParaRPr lang="en-US" altLang="zh-CN" dirty="0" smtClean="0">
              <a:ea typeface="黑体" panose="02010609060101010101" pitchFamily="49" charset="-122"/>
            </a:endParaRPr>
          </a:p>
          <a:p>
            <a:r>
              <a:rPr lang="zh-CN" altLang="zh-CN" dirty="0" smtClean="0">
                <a:ea typeface="黑体" panose="02010609060101010101" pitchFamily="49" charset="-122"/>
              </a:rPr>
              <a:t>上层使用</a:t>
            </a:r>
            <a:r>
              <a:rPr lang="zh-CN" altLang="en-US" dirty="0" smtClean="0">
                <a:solidFill>
                  <a:srgbClr val="FF0000"/>
                </a:solidFill>
                <a:ea typeface="黑体" panose="02010609060101010101" pitchFamily="49" charset="-122"/>
              </a:rPr>
              <a:t>服务原语</a:t>
            </a:r>
            <a:r>
              <a:rPr lang="zh-CN" altLang="en-US" dirty="0" smtClean="0">
                <a:ea typeface="黑体" panose="02010609060101010101" pitchFamily="49" charset="-122"/>
              </a:rPr>
              <a:t>获得</a:t>
            </a:r>
            <a:r>
              <a:rPr lang="zh-CN" altLang="zh-CN" dirty="0" smtClean="0">
                <a:ea typeface="黑体" panose="02010609060101010101" pitchFamily="49" charset="-122"/>
              </a:rPr>
              <a:t>下层所提供的服务</a:t>
            </a:r>
            <a:r>
              <a:rPr lang="zh-CN" altLang="en-US" dirty="0" smtClean="0">
                <a:ea typeface="黑体" panose="02010609060101010101" pitchFamily="49" charset="-122"/>
              </a:rPr>
              <a:t>。</a:t>
            </a:r>
          </a:p>
        </p:txBody>
      </p:sp>
      <p:sp>
        <p:nvSpPr>
          <p:cNvPr id="2365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F93150-A8A2-409D-AB6D-557E0E9C3E86}" type="slidenum">
              <a:rPr lang="zh-CN" altLang="en-US" smtClean="0"/>
              <a:pPr eaLnBrk="1" hangingPunct="1"/>
              <a:t>44</a:t>
            </a:fld>
            <a:endParaRPr lang="en-US" altLang="zh-CN" smtClean="0"/>
          </a:p>
        </p:txBody>
      </p:sp>
      <p:sp>
        <p:nvSpPr>
          <p:cNvPr id="2365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9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926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9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2"/>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服务</a:t>
            </a:r>
            <a:r>
              <a:rPr lang="zh-CN" altLang="en-US" smtClean="0">
                <a:ea typeface="黑体" panose="02010609060101010101" pitchFamily="49" charset="-122"/>
              </a:rPr>
              <a:t>访问点</a:t>
            </a:r>
          </a:p>
        </p:txBody>
      </p:sp>
      <p:sp>
        <p:nvSpPr>
          <p:cNvPr id="139267"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同一系统相邻两层的实体进行交互的地方，称为</a:t>
            </a:r>
            <a:r>
              <a:rPr lang="zh-CN" altLang="en-US" u="sng" dirty="0" smtClean="0">
                <a:solidFill>
                  <a:srgbClr val="FF0000"/>
                </a:solidFill>
                <a:ea typeface="黑体" panose="02010609060101010101" pitchFamily="49" charset="-122"/>
              </a:rPr>
              <a:t>服务访问点 </a:t>
            </a:r>
            <a:r>
              <a:rPr lang="en-US" altLang="zh-CN" u="sng" dirty="0" smtClean="0">
                <a:solidFill>
                  <a:srgbClr val="FF0000"/>
                </a:solidFill>
                <a:ea typeface="黑体" panose="02010609060101010101" pitchFamily="49" charset="-122"/>
              </a:rPr>
              <a:t>SAP</a:t>
            </a:r>
            <a:r>
              <a:rPr lang="en-US" altLang="zh-CN" u="sng" dirty="0" smtClean="0">
                <a:ea typeface="黑体" panose="02010609060101010101" pitchFamily="49" charset="-122"/>
              </a:rPr>
              <a:t> (Service Access Point)</a:t>
            </a:r>
            <a:r>
              <a:rPr lang="zh-CN" altLang="en-US" u="sng" dirty="0" smtClean="0">
                <a:ea typeface="黑体" panose="02010609060101010101" pitchFamily="49" charset="-122"/>
              </a:rPr>
              <a:t>。 </a:t>
            </a:r>
            <a:endParaRPr lang="en-US" altLang="zh-CN" u="sng" dirty="0" smtClean="0">
              <a:ea typeface="黑体" panose="02010609060101010101" pitchFamily="49" charset="-122"/>
            </a:endParaRPr>
          </a:p>
          <a:p>
            <a:r>
              <a:rPr lang="zh-CN" altLang="zh-CN" dirty="0" smtClean="0">
                <a:ea typeface="黑体" panose="02010609060101010101" pitchFamily="49" charset="-122"/>
              </a:rPr>
              <a:t>服务访问点</a:t>
            </a:r>
            <a:r>
              <a:rPr lang="en-US" altLang="zh-CN" dirty="0" smtClean="0">
                <a:ea typeface="黑体" panose="02010609060101010101" pitchFamily="49" charset="-122"/>
              </a:rPr>
              <a:t>SAP</a:t>
            </a:r>
            <a:r>
              <a:rPr lang="zh-CN" altLang="zh-CN" dirty="0" smtClean="0">
                <a:ea typeface="黑体" panose="02010609060101010101" pitchFamily="49" charset="-122"/>
              </a:rPr>
              <a:t>是一个抽象的概念，它实际上就是一个逻辑接口</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OSI</a:t>
            </a:r>
            <a:r>
              <a:rPr lang="zh-CN" altLang="zh-CN" dirty="0" smtClean="0">
                <a:ea typeface="黑体" panose="02010609060101010101" pitchFamily="49" charset="-122"/>
              </a:rPr>
              <a:t>把层与层之间交换的数据的单位称为</a:t>
            </a:r>
            <a:r>
              <a:rPr lang="zh-CN" altLang="zh-CN" u="sng" dirty="0" smtClean="0">
                <a:solidFill>
                  <a:srgbClr val="FF0000"/>
                </a:solidFill>
                <a:ea typeface="黑体" panose="02010609060101010101" pitchFamily="49" charset="-122"/>
              </a:rPr>
              <a:t>服务数据单元</a:t>
            </a:r>
            <a:r>
              <a:rPr lang="en-US" altLang="zh-CN" u="sng" dirty="0" smtClean="0">
                <a:solidFill>
                  <a:srgbClr val="FF0000"/>
                </a:solidFill>
                <a:ea typeface="黑体" panose="02010609060101010101" pitchFamily="49" charset="-122"/>
              </a:rPr>
              <a:t> SDU</a:t>
            </a:r>
            <a:r>
              <a:rPr lang="en-US" altLang="zh-CN" u="sng" dirty="0" smtClean="0">
                <a:ea typeface="黑体" panose="02010609060101010101" pitchFamily="49" charset="-122"/>
              </a:rPr>
              <a:t> (Service Data Unit)</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SDU </a:t>
            </a:r>
            <a:r>
              <a:rPr lang="zh-CN" altLang="zh-CN" dirty="0" smtClean="0">
                <a:ea typeface="黑体" panose="02010609060101010101" pitchFamily="49" charset="-122"/>
              </a:rPr>
              <a:t>可以与</a:t>
            </a:r>
            <a:r>
              <a:rPr lang="en-US" altLang="zh-CN" dirty="0" smtClean="0">
                <a:ea typeface="黑体" panose="02010609060101010101" pitchFamily="49" charset="-122"/>
              </a:rPr>
              <a:t> PDU </a:t>
            </a:r>
            <a:r>
              <a:rPr lang="zh-CN" altLang="zh-CN" dirty="0" smtClean="0">
                <a:ea typeface="黑体" panose="02010609060101010101" pitchFamily="49" charset="-122"/>
              </a:rPr>
              <a:t>不一样</a:t>
            </a:r>
            <a:r>
              <a:rPr lang="zh-CN" altLang="en-US" dirty="0" smtClean="0">
                <a:ea typeface="黑体" panose="02010609060101010101" pitchFamily="49" charset="-122"/>
              </a:rPr>
              <a:t>，</a:t>
            </a:r>
            <a:r>
              <a:rPr lang="zh-CN" altLang="zh-CN" dirty="0" smtClean="0">
                <a:ea typeface="黑体" panose="02010609060101010101" pitchFamily="49" charset="-122"/>
              </a:rPr>
              <a:t>例如，可以是多个</a:t>
            </a:r>
            <a:r>
              <a:rPr lang="en-US" altLang="zh-CN" dirty="0" smtClean="0">
                <a:ea typeface="黑体" panose="02010609060101010101" pitchFamily="49" charset="-122"/>
              </a:rPr>
              <a:t> SDU </a:t>
            </a:r>
            <a:r>
              <a:rPr lang="zh-CN" altLang="zh-CN" dirty="0" smtClean="0">
                <a:ea typeface="黑体" panose="02010609060101010101" pitchFamily="49" charset="-122"/>
              </a:rPr>
              <a:t>合成为一个</a:t>
            </a:r>
            <a:r>
              <a:rPr lang="en-US" altLang="zh-CN" dirty="0" smtClean="0">
                <a:ea typeface="黑体" panose="02010609060101010101" pitchFamily="49" charset="-122"/>
              </a:rPr>
              <a:t> PDU</a:t>
            </a:r>
            <a:r>
              <a:rPr lang="zh-CN" altLang="zh-CN" dirty="0" smtClean="0">
                <a:ea typeface="黑体" panose="02010609060101010101" pitchFamily="49" charset="-122"/>
              </a:rPr>
              <a:t>，也可以是一个</a:t>
            </a:r>
            <a:r>
              <a:rPr lang="en-US" altLang="zh-CN" dirty="0" smtClean="0">
                <a:ea typeface="黑体" panose="02010609060101010101" pitchFamily="49" charset="-122"/>
              </a:rPr>
              <a:t> SDU </a:t>
            </a:r>
            <a:r>
              <a:rPr lang="zh-CN" altLang="zh-CN" dirty="0" smtClean="0">
                <a:ea typeface="黑体" panose="02010609060101010101" pitchFamily="49" charset="-122"/>
              </a:rPr>
              <a:t>划分为几个</a:t>
            </a:r>
            <a:r>
              <a:rPr lang="en-US" altLang="zh-CN" dirty="0" smtClean="0">
                <a:ea typeface="黑体" panose="02010609060101010101" pitchFamily="49" charset="-122"/>
              </a:rPr>
              <a:t> PDU</a:t>
            </a:r>
            <a:r>
              <a:rPr lang="zh-CN" altLang="zh-CN" dirty="0" smtClean="0">
                <a:ea typeface="黑体" panose="02010609060101010101" pitchFamily="49" charset="-122"/>
              </a:rPr>
              <a:t>。</a:t>
            </a:r>
            <a:endParaRPr lang="zh-CN" altLang="en-US" dirty="0" smtClean="0">
              <a:ea typeface="黑体" panose="02010609060101010101" pitchFamily="49" charset="-122"/>
            </a:endParaRPr>
          </a:p>
        </p:txBody>
      </p:sp>
      <p:sp>
        <p:nvSpPr>
          <p:cNvPr id="2385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6D32E8-FEB8-4C2C-9EE2-FF1672B0B715}" type="slidenum">
              <a:rPr lang="zh-CN" altLang="en-US" smtClean="0"/>
              <a:pPr eaLnBrk="1" hangingPunct="1"/>
              <a:t>45</a:t>
            </a:fld>
            <a:endParaRPr lang="en-US" altLang="zh-CN" smtClean="0"/>
          </a:p>
        </p:txBody>
      </p:sp>
      <p:sp>
        <p:nvSpPr>
          <p:cNvPr id="2385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9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9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Rectangle 2"/>
          <p:cNvSpPr>
            <a:spLocks noGrp="1" noChangeArrowheads="1"/>
          </p:cNvSpPr>
          <p:nvPr>
            <p:ph type="title"/>
          </p:nvPr>
        </p:nvSpPr>
        <p:spPr/>
        <p:txBody>
          <a:bodyPr/>
          <a:lstStyle/>
          <a:p>
            <a:r>
              <a:rPr lang="en-US" altLang="zh-CN" sz="3600" smtClean="0">
                <a:ea typeface="黑体" panose="02010609060101010101" pitchFamily="49" charset="-122"/>
              </a:rPr>
              <a:t>1.7.4  </a:t>
            </a:r>
            <a:r>
              <a:rPr lang="zh-CN" altLang="zh-CN" sz="3600" smtClean="0">
                <a:ea typeface="黑体" panose="02010609060101010101" pitchFamily="49" charset="-122"/>
              </a:rPr>
              <a:t>实体、协议、服务和服务访问点</a:t>
            </a:r>
            <a:endParaRPr lang="zh-CN" altLang="en-US" sz="3600" smtClean="0">
              <a:ea typeface="黑体" panose="02010609060101010101" pitchFamily="49" charset="-122"/>
            </a:endParaRPr>
          </a:p>
        </p:txBody>
      </p:sp>
      <p:grpSp>
        <p:nvGrpSpPr>
          <p:cNvPr id="240642" name="组合 2"/>
          <p:cNvGrpSpPr>
            <a:grpSpLocks/>
          </p:cNvGrpSpPr>
          <p:nvPr/>
        </p:nvGrpSpPr>
        <p:grpSpPr bwMode="auto">
          <a:xfrm>
            <a:off x="258763" y="1557338"/>
            <a:ext cx="9647237" cy="4208462"/>
            <a:chOff x="258052" y="1556792"/>
            <a:chExt cx="9648510" cy="4208462"/>
          </a:xfrm>
        </p:grpSpPr>
        <p:sp>
          <p:nvSpPr>
            <p:cNvPr id="240643" name="Rectangle 63"/>
            <p:cNvSpPr>
              <a:spLocks noChangeArrowheads="1"/>
            </p:cNvSpPr>
            <p:nvPr/>
          </p:nvSpPr>
          <p:spPr bwMode="auto">
            <a:xfrm>
              <a:off x="258052" y="2956967"/>
              <a:ext cx="9633520" cy="2808287"/>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333399"/>
                </a:solidFill>
                <a:ea typeface="黑体" panose="02010609060101010101" pitchFamily="49" charset="-122"/>
              </a:endParaRPr>
            </a:p>
          </p:txBody>
        </p:sp>
        <p:sp>
          <p:nvSpPr>
            <p:cNvPr id="240644" name="Rectangle 35"/>
            <p:cNvSpPr>
              <a:spLocks noChangeArrowheads="1"/>
            </p:cNvSpPr>
            <p:nvPr/>
          </p:nvSpPr>
          <p:spPr bwMode="auto">
            <a:xfrm>
              <a:off x="1833298" y="3850728"/>
              <a:ext cx="6239404" cy="762000"/>
            </a:xfrm>
            <a:prstGeom prst="rect">
              <a:avLst/>
            </a:prstGeom>
            <a:solidFill>
              <a:srgbClr val="FFFF66"/>
            </a:solidFill>
            <a:ln w="19050">
              <a:solidFill>
                <a:schemeClr val="tx1"/>
              </a:solidFill>
              <a:prstDash val="dash"/>
              <a:miter lim="800000"/>
              <a:headEnd/>
              <a:tailEnd/>
            </a:ln>
          </p:spPr>
          <p:txBody>
            <a:bodyPr wrap="none" anchor="ctr"/>
            <a:lstStyle/>
            <a:p>
              <a:pPr algn="ctr" eaLnBrk="0" hangingPunct="0"/>
              <a:endParaRPr lang="zh-CN" altLang="zh-CN" sz="2000" b="1">
                <a:solidFill>
                  <a:srgbClr val="333399"/>
                </a:solidFill>
                <a:ea typeface="黑体" panose="02010609060101010101" pitchFamily="49" charset="-122"/>
              </a:endParaRPr>
            </a:p>
          </p:txBody>
        </p:sp>
        <p:sp>
          <p:nvSpPr>
            <p:cNvPr id="240645" name="Rectangle 36"/>
            <p:cNvSpPr>
              <a:spLocks noChangeArrowheads="1"/>
            </p:cNvSpPr>
            <p:nvPr/>
          </p:nvSpPr>
          <p:spPr bwMode="auto">
            <a:xfrm>
              <a:off x="2634721" y="3712616"/>
              <a:ext cx="252810" cy="254000"/>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333399"/>
                </a:solidFill>
                <a:ea typeface="黑体" panose="02010609060101010101" pitchFamily="49" charset="-122"/>
              </a:endParaRPr>
            </a:p>
          </p:txBody>
        </p:sp>
        <p:sp>
          <p:nvSpPr>
            <p:cNvPr id="240646" name="Line 37"/>
            <p:cNvSpPr>
              <a:spLocks noChangeShapeType="1"/>
            </p:cNvSpPr>
            <p:nvPr/>
          </p:nvSpPr>
          <p:spPr bwMode="auto">
            <a:xfrm>
              <a:off x="3553090" y="1964778"/>
              <a:ext cx="2712112" cy="0"/>
            </a:xfrm>
            <a:prstGeom prst="line">
              <a:avLst/>
            </a:prstGeom>
            <a:noFill/>
            <a:ln w="19050">
              <a:solidFill>
                <a:schemeClr val="tx1"/>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333399"/>
                </a:solidFill>
                <a:ea typeface="黑体" panose="02010609060101010101" pitchFamily="49" charset="-122"/>
              </a:endParaRPr>
            </a:p>
          </p:txBody>
        </p:sp>
        <p:sp>
          <p:nvSpPr>
            <p:cNvPr id="240647" name="Text Box 38"/>
            <p:cNvSpPr txBox="1">
              <a:spLocks noChangeArrowheads="1"/>
            </p:cNvSpPr>
            <p:nvPr/>
          </p:nvSpPr>
          <p:spPr bwMode="auto">
            <a:xfrm>
              <a:off x="4017434" y="1779041"/>
              <a:ext cx="1793743"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333399"/>
                  </a:solidFill>
                  <a:ea typeface="黑体" panose="02010609060101010101" pitchFamily="49" charset="-122"/>
                </a:rPr>
                <a:t>协议 </a:t>
              </a:r>
              <a:r>
                <a:rPr lang="en-US" altLang="zh-CN" sz="2400" b="1">
                  <a:solidFill>
                    <a:srgbClr val="333399"/>
                  </a:solidFill>
                  <a:ea typeface="黑体" panose="02010609060101010101" pitchFamily="49" charset="-122"/>
                </a:rPr>
                <a:t>(n + 1)</a:t>
              </a:r>
            </a:p>
          </p:txBody>
        </p:sp>
        <p:sp>
          <p:nvSpPr>
            <p:cNvPr id="240648" name="Text Box 39"/>
            <p:cNvSpPr txBox="1">
              <a:spLocks noChangeArrowheads="1"/>
            </p:cNvSpPr>
            <p:nvPr/>
          </p:nvSpPr>
          <p:spPr bwMode="auto">
            <a:xfrm>
              <a:off x="2817019" y="3322092"/>
              <a:ext cx="7136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SAP</a:t>
              </a:r>
            </a:p>
          </p:txBody>
        </p:sp>
        <p:sp>
          <p:nvSpPr>
            <p:cNvPr id="240649" name="Text Box 40"/>
            <p:cNvSpPr txBox="1">
              <a:spLocks noChangeArrowheads="1"/>
            </p:cNvSpPr>
            <p:nvPr/>
          </p:nvSpPr>
          <p:spPr bwMode="auto">
            <a:xfrm>
              <a:off x="6210169" y="3347492"/>
              <a:ext cx="7136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SAP</a:t>
              </a:r>
            </a:p>
          </p:txBody>
        </p:sp>
        <p:sp>
          <p:nvSpPr>
            <p:cNvPr id="240650" name="Text Box 41"/>
            <p:cNvSpPr txBox="1">
              <a:spLocks noChangeArrowheads="1"/>
            </p:cNvSpPr>
            <p:nvPr/>
          </p:nvSpPr>
          <p:spPr bwMode="auto">
            <a:xfrm>
              <a:off x="2853135" y="2277516"/>
              <a:ext cx="1415772"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交换原语</a:t>
              </a:r>
            </a:p>
          </p:txBody>
        </p:sp>
        <p:sp>
          <p:nvSpPr>
            <p:cNvPr id="240651" name="AutoShape 42"/>
            <p:cNvSpPr>
              <a:spLocks noChangeArrowheads="1"/>
            </p:cNvSpPr>
            <p:nvPr/>
          </p:nvSpPr>
          <p:spPr bwMode="auto">
            <a:xfrm>
              <a:off x="2679436" y="2261642"/>
              <a:ext cx="171979" cy="1430337"/>
            </a:xfrm>
            <a:prstGeom prst="upDownArrow">
              <a:avLst>
                <a:gd name="adj1" fmla="val 50000"/>
                <a:gd name="adj2" fmla="val 180162"/>
              </a:avLst>
            </a:prstGeom>
            <a:solidFill>
              <a:schemeClr val="bg1"/>
            </a:solidFill>
            <a:ln w="12700">
              <a:solidFill>
                <a:schemeClr val="tx1"/>
              </a:solidFill>
              <a:miter lim="800000"/>
              <a:headEnd type="none" w="med" len="lg"/>
              <a:tailEnd type="none" w="med" len="lg"/>
            </a:ln>
          </p:spPr>
          <p:txBody>
            <a:bodyPr vert="eaVert" wrap="none" anchor="ctr"/>
            <a:lstStyle/>
            <a:p>
              <a:pPr eaLnBrk="0" hangingPunct="0"/>
              <a:endParaRPr lang="zh-CN" altLang="en-US" b="1">
                <a:solidFill>
                  <a:srgbClr val="333399"/>
                </a:solidFill>
                <a:ea typeface="黑体" panose="02010609060101010101" pitchFamily="49" charset="-122"/>
              </a:endParaRPr>
            </a:p>
          </p:txBody>
        </p:sp>
        <p:sp>
          <p:nvSpPr>
            <p:cNvPr id="240652" name="Rectangle 43"/>
            <p:cNvSpPr>
              <a:spLocks noChangeArrowheads="1"/>
            </p:cNvSpPr>
            <p:nvPr/>
          </p:nvSpPr>
          <p:spPr bwMode="auto">
            <a:xfrm>
              <a:off x="6837891" y="3712616"/>
              <a:ext cx="256250" cy="254000"/>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333399"/>
                </a:solidFill>
                <a:ea typeface="黑体" panose="02010609060101010101" pitchFamily="49" charset="-122"/>
              </a:endParaRPr>
            </a:p>
          </p:txBody>
        </p:sp>
        <p:sp>
          <p:nvSpPr>
            <p:cNvPr id="240653" name="AutoShape 44"/>
            <p:cNvSpPr>
              <a:spLocks noChangeArrowheads="1"/>
            </p:cNvSpPr>
            <p:nvPr/>
          </p:nvSpPr>
          <p:spPr bwMode="auto">
            <a:xfrm>
              <a:off x="6880887" y="2261642"/>
              <a:ext cx="171979" cy="1430337"/>
            </a:xfrm>
            <a:prstGeom prst="upDownArrow">
              <a:avLst>
                <a:gd name="adj1" fmla="val 50000"/>
                <a:gd name="adj2" fmla="val 180162"/>
              </a:avLst>
            </a:prstGeom>
            <a:solidFill>
              <a:schemeClr val="bg1"/>
            </a:solidFill>
            <a:ln w="12700">
              <a:solidFill>
                <a:schemeClr val="tx1"/>
              </a:solidFill>
              <a:miter lim="800000"/>
              <a:headEnd type="none" w="med" len="lg"/>
              <a:tailEnd type="none" w="med" len="lg"/>
            </a:ln>
          </p:spPr>
          <p:txBody>
            <a:bodyPr vert="eaVert" wrap="none" anchor="ctr"/>
            <a:lstStyle/>
            <a:p>
              <a:pPr eaLnBrk="0" hangingPunct="0"/>
              <a:endParaRPr lang="zh-CN" altLang="en-US" b="1">
                <a:solidFill>
                  <a:srgbClr val="333399"/>
                </a:solidFill>
                <a:ea typeface="黑体" panose="02010609060101010101" pitchFamily="49" charset="-122"/>
              </a:endParaRPr>
            </a:p>
          </p:txBody>
        </p:sp>
        <p:sp>
          <p:nvSpPr>
            <p:cNvPr id="240654" name="Text Box 45"/>
            <p:cNvSpPr txBox="1">
              <a:spLocks noChangeArrowheads="1"/>
            </p:cNvSpPr>
            <p:nvPr/>
          </p:nvSpPr>
          <p:spPr bwMode="auto">
            <a:xfrm>
              <a:off x="5343393" y="2277516"/>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交换原语</a:t>
              </a:r>
            </a:p>
          </p:txBody>
        </p:sp>
        <p:sp>
          <p:nvSpPr>
            <p:cNvPr id="240655" name="Rectangle 46"/>
            <p:cNvSpPr>
              <a:spLocks noChangeArrowheads="1"/>
            </p:cNvSpPr>
            <p:nvPr/>
          </p:nvSpPr>
          <p:spPr bwMode="auto">
            <a:xfrm>
              <a:off x="1996679" y="1733004"/>
              <a:ext cx="1530615" cy="525463"/>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eaLnBrk="0" hangingPunct="0"/>
              <a:endParaRPr lang="zh-CN" altLang="zh-CN" sz="2000" b="1">
                <a:solidFill>
                  <a:srgbClr val="333399"/>
                </a:solidFill>
                <a:ea typeface="黑体" panose="02010609060101010101" pitchFamily="49" charset="-122"/>
              </a:endParaRPr>
            </a:p>
          </p:txBody>
        </p:sp>
        <p:sp>
          <p:nvSpPr>
            <p:cNvPr id="240656" name="Text Box 47"/>
            <p:cNvSpPr txBox="1">
              <a:spLocks noChangeArrowheads="1"/>
            </p:cNvSpPr>
            <p:nvPr/>
          </p:nvSpPr>
          <p:spPr bwMode="auto">
            <a:xfrm>
              <a:off x="2037954" y="1806029"/>
              <a:ext cx="1531188" cy="40011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实体 </a:t>
              </a:r>
              <a:r>
                <a:rPr lang="en-US" altLang="zh-CN" sz="2000" b="1">
                  <a:solidFill>
                    <a:srgbClr val="333399"/>
                  </a:solidFill>
                  <a:ea typeface="黑体" panose="02010609060101010101" pitchFamily="49" charset="-122"/>
                </a:rPr>
                <a:t>(n + 1)</a:t>
              </a:r>
            </a:p>
          </p:txBody>
        </p:sp>
        <p:sp>
          <p:nvSpPr>
            <p:cNvPr id="240657" name="Text Box 48"/>
            <p:cNvSpPr txBox="1">
              <a:spLocks noChangeArrowheads="1"/>
            </p:cNvSpPr>
            <p:nvPr/>
          </p:nvSpPr>
          <p:spPr bwMode="auto">
            <a:xfrm>
              <a:off x="560512" y="3750131"/>
              <a:ext cx="11288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333399"/>
                  </a:solidFill>
                  <a:ea typeface="黑体" panose="02010609060101010101" pitchFamily="49" charset="-122"/>
                </a:rPr>
                <a:t>服务提供者</a:t>
              </a:r>
            </a:p>
          </p:txBody>
        </p:sp>
        <p:sp>
          <p:nvSpPr>
            <p:cNvPr id="240658" name="Line 49"/>
            <p:cNvSpPr>
              <a:spLocks noChangeShapeType="1"/>
            </p:cNvSpPr>
            <p:nvPr/>
          </p:nvSpPr>
          <p:spPr bwMode="auto">
            <a:xfrm>
              <a:off x="273042" y="2953791"/>
              <a:ext cx="9633520" cy="0"/>
            </a:xfrm>
            <a:prstGeom prst="line">
              <a:avLst/>
            </a:prstGeom>
            <a:noFill/>
            <a:ln w="19050">
              <a:solidFill>
                <a:schemeClr val="tx1"/>
              </a:solidFill>
              <a:prstDash val="dash"/>
              <a:round/>
              <a:headEnd type="none" w="med" len="lg"/>
              <a:tailEnd type="non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240659" name="Text Box 50"/>
            <p:cNvSpPr txBox="1">
              <a:spLocks noChangeArrowheads="1"/>
            </p:cNvSpPr>
            <p:nvPr/>
          </p:nvSpPr>
          <p:spPr bwMode="auto">
            <a:xfrm>
              <a:off x="8463096" y="3650703"/>
              <a:ext cx="1160895"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第 </a:t>
              </a:r>
              <a:r>
                <a:rPr lang="en-US" altLang="zh-CN" sz="2400" b="1">
                  <a:solidFill>
                    <a:srgbClr val="333399"/>
                  </a:solidFill>
                  <a:ea typeface="黑体" panose="02010609060101010101" pitchFamily="49" charset="-122"/>
                </a:rPr>
                <a:t>n </a:t>
              </a:r>
              <a:r>
                <a:rPr lang="zh-CN" altLang="en-US" sz="2400" b="1">
                  <a:solidFill>
                    <a:srgbClr val="333399"/>
                  </a:solidFill>
                  <a:ea typeface="黑体" panose="02010609060101010101" pitchFamily="49" charset="-122"/>
                </a:rPr>
                <a:t>层</a:t>
              </a:r>
            </a:p>
          </p:txBody>
        </p:sp>
        <p:sp>
          <p:nvSpPr>
            <p:cNvPr id="240660" name="Text Box 51"/>
            <p:cNvSpPr txBox="1">
              <a:spLocks noChangeArrowheads="1"/>
            </p:cNvSpPr>
            <p:nvPr/>
          </p:nvSpPr>
          <p:spPr bwMode="auto">
            <a:xfrm>
              <a:off x="8151813" y="1964778"/>
              <a:ext cx="1681871"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第 </a:t>
              </a:r>
              <a:r>
                <a:rPr lang="en-US" altLang="zh-CN" sz="2400" b="1">
                  <a:solidFill>
                    <a:srgbClr val="333399"/>
                  </a:solidFill>
                  <a:ea typeface="黑体" panose="02010609060101010101" pitchFamily="49" charset="-122"/>
                </a:rPr>
                <a:t>n + 1 </a:t>
              </a:r>
              <a:r>
                <a:rPr lang="zh-CN" altLang="en-US" sz="2400" b="1">
                  <a:solidFill>
                    <a:srgbClr val="333399"/>
                  </a:solidFill>
                  <a:ea typeface="黑体" panose="02010609060101010101" pitchFamily="49" charset="-122"/>
                </a:rPr>
                <a:t>层</a:t>
              </a:r>
            </a:p>
          </p:txBody>
        </p:sp>
        <p:sp>
          <p:nvSpPr>
            <p:cNvPr id="240661" name="Rectangle 52"/>
            <p:cNvSpPr>
              <a:spLocks noChangeArrowheads="1"/>
            </p:cNvSpPr>
            <p:nvPr/>
          </p:nvSpPr>
          <p:spPr bwMode="auto">
            <a:xfrm>
              <a:off x="6213609" y="1733004"/>
              <a:ext cx="1528894" cy="525463"/>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eaLnBrk="0" hangingPunct="0"/>
              <a:endParaRPr lang="zh-CN" altLang="zh-CN" sz="2000" b="1">
                <a:solidFill>
                  <a:srgbClr val="333399"/>
                </a:solidFill>
                <a:ea typeface="黑体" panose="02010609060101010101" pitchFamily="49" charset="-122"/>
              </a:endParaRPr>
            </a:p>
          </p:txBody>
        </p:sp>
        <p:sp>
          <p:nvSpPr>
            <p:cNvPr id="240662" name="Text Box 53"/>
            <p:cNvSpPr txBox="1">
              <a:spLocks noChangeArrowheads="1"/>
            </p:cNvSpPr>
            <p:nvPr/>
          </p:nvSpPr>
          <p:spPr bwMode="auto">
            <a:xfrm>
              <a:off x="6256603" y="1804442"/>
              <a:ext cx="1531188" cy="40011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实体 </a:t>
              </a:r>
              <a:r>
                <a:rPr lang="en-US" altLang="zh-CN" sz="2000" b="1">
                  <a:solidFill>
                    <a:srgbClr val="333399"/>
                  </a:solidFill>
                  <a:ea typeface="黑体" panose="02010609060101010101" pitchFamily="49" charset="-122"/>
                </a:rPr>
                <a:t>(n + 1)</a:t>
              </a:r>
            </a:p>
          </p:txBody>
        </p:sp>
        <p:sp>
          <p:nvSpPr>
            <p:cNvPr id="240663" name="Text Box 54"/>
            <p:cNvSpPr txBox="1">
              <a:spLocks noChangeArrowheads="1"/>
            </p:cNvSpPr>
            <p:nvPr/>
          </p:nvSpPr>
          <p:spPr bwMode="auto">
            <a:xfrm>
              <a:off x="6910123" y="1556792"/>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3200" b="1">
                <a:solidFill>
                  <a:srgbClr val="333399"/>
                </a:solidFill>
                <a:ea typeface="黑体" panose="02010609060101010101" pitchFamily="49" charset="-122"/>
              </a:endParaRPr>
            </a:p>
          </p:txBody>
        </p:sp>
        <p:sp>
          <p:nvSpPr>
            <p:cNvPr id="240664" name="Text Box 55"/>
            <p:cNvSpPr txBox="1">
              <a:spLocks noChangeArrowheads="1"/>
            </p:cNvSpPr>
            <p:nvPr/>
          </p:nvSpPr>
          <p:spPr bwMode="auto">
            <a:xfrm>
              <a:off x="560512" y="1628800"/>
              <a:ext cx="8967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333399"/>
                  </a:solidFill>
                  <a:ea typeface="黑体" panose="02010609060101010101" pitchFamily="49" charset="-122"/>
                </a:rPr>
                <a:t>服务用户</a:t>
              </a:r>
            </a:p>
          </p:txBody>
        </p:sp>
        <p:sp>
          <p:nvSpPr>
            <p:cNvPr id="240665" name="Rectangle 56"/>
            <p:cNvSpPr>
              <a:spLocks noChangeArrowheads="1"/>
            </p:cNvSpPr>
            <p:nvPr/>
          </p:nvSpPr>
          <p:spPr bwMode="auto">
            <a:xfrm>
              <a:off x="1996679" y="3960267"/>
              <a:ext cx="1530615" cy="523875"/>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eaLnBrk="0" hangingPunct="0"/>
              <a:endParaRPr lang="zh-CN" altLang="zh-CN" sz="2000" b="1">
                <a:solidFill>
                  <a:srgbClr val="333399"/>
                </a:solidFill>
                <a:ea typeface="黑体" panose="02010609060101010101" pitchFamily="49" charset="-122"/>
              </a:endParaRPr>
            </a:p>
          </p:txBody>
        </p:sp>
        <p:sp>
          <p:nvSpPr>
            <p:cNvPr id="240666" name="Rectangle 57"/>
            <p:cNvSpPr>
              <a:spLocks noChangeArrowheads="1"/>
            </p:cNvSpPr>
            <p:nvPr/>
          </p:nvSpPr>
          <p:spPr bwMode="auto">
            <a:xfrm>
              <a:off x="6184371" y="3960267"/>
              <a:ext cx="1530615" cy="523875"/>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eaLnBrk="0" hangingPunct="0"/>
              <a:endParaRPr lang="zh-CN" altLang="zh-CN" sz="2000" b="1">
                <a:solidFill>
                  <a:srgbClr val="333399"/>
                </a:solidFill>
                <a:ea typeface="黑体" panose="02010609060101010101" pitchFamily="49" charset="-122"/>
              </a:endParaRPr>
            </a:p>
          </p:txBody>
        </p:sp>
        <p:sp>
          <p:nvSpPr>
            <p:cNvPr id="240667" name="Text Box 58"/>
            <p:cNvSpPr txBox="1">
              <a:spLocks noChangeArrowheads="1"/>
            </p:cNvSpPr>
            <p:nvPr/>
          </p:nvSpPr>
          <p:spPr bwMode="auto">
            <a:xfrm>
              <a:off x="2144581" y="4001542"/>
              <a:ext cx="109837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实体 </a:t>
              </a:r>
              <a:r>
                <a:rPr lang="en-US" altLang="zh-CN" sz="2000" b="1">
                  <a:solidFill>
                    <a:srgbClr val="333399"/>
                  </a:solidFill>
                  <a:ea typeface="黑体" panose="02010609060101010101" pitchFamily="49" charset="-122"/>
                </a:rPr>
                <a:t>(n)</a:t>
              </a:r>
            </a:p>
          </p:txBody>
        </p:sp>
        <p:sp>
          <p:nvSpPr>
            <p:cNvPr id="240668" name="Text Box 59"/>
            <p:cNvSpPr txBox="1">
              <a:spLocks noChangeArrowheads="1"/>
            </p:cNvSpPr>
            <p:nvPr/>
          </p:nvSpPr>
          <p:spPr bwMode="auto">
            <a:xfrm>
              <a:off x="6413104" y="4001542"/>
              <a:ext cx="1098378" cy="40011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333399"/>
                  </a:solidFill>
                  <a:ea typeface="黑体" panose="02010609060101010101" pitchFamily="49" charset="-122"/>
                </a:rPr>
                <a:t>实体 </a:t>
              </a:r>
              <a:r>
                <a:rPr lang="en-US" altLang="zh-CN" sz="2000" b="1">
                  <a:solidFill>
                    <a:srgbClr val="333399"/>
                  </a:solidFill>
                  <a:ea typeface="黑体" panose="02010609060101010101" pitchFamily="49" charset="-122"/>
                </a:rPr>
                <a:t>(n)</a:t>
              </a:r>
            </a:p>
          </p:txBody>
        </p:sp>
        <p:sp>
          <p:nvSpPr>
            <p:cNvPr id="240669" name="Line 60"/>
            <p:cNvSpPr>
              <a:spLocks noChangeShapeType="1"/>
            </p:cNvSpPr>
            <p:nvPr/>
          </p:nvSpPr>
          <p:spPr bwMode="auto">
            <a:xfrm>
              <a:off x="3530734" y="4207916"/>
              <a:ext cx="2713831" cy="0"/>
            </a:xfrm>
            <a:prstGeom prst="line">
              <a:avLst/>
            </a:prstGeom>
            <a:noFill/>
            <a:ln w="19050">
              <a:solidFill>
                <a:schemeClr val="tx1"/>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333399"/>
                </a:solidFill>
                <a:ea typeface="黑体" panose="02010609060101010101" pitchFamily="49" charset="-122"/>
              </a:endParaRPr>
            </a:p>
          </p:txBody>
        </p:sp>
        <p:sp>
          <p:nvSpPr>
            <p:cNvPr id="240670" name="Text Box 61"/>
            <p:cNvSpPr txBox="1">
              <a:spLocks noChangeArrowheads="1"/>
            </p:cNvSpPr>
            <p:nvPr/>
          </p:nvSpPr>
          <p:spPr bwMode="auto">
            <a:xfrm>
              <a:off x="4328716" y="4009478"/>
              <a:ext cx="1196161"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333399"/>
                  </a:solidFill>
                  <a:ea typeface="黑体" panose="02010609060101010101" pitchFamily="49" charset="-122"/>
                </a:rPr>
                <a:t>协议</a:t>
              </a:r>
              <a:r>
                <a:rPr lang="en-US" altLang="zh-CN" sz="2400" b="1">
                  <a:solidFill>
                    <a:srgbClr val="333399"/>
                  </a:solidFill>
                  <a:ea typeface="黑体" panose="02010609060101010101" pitchFamily="49" charset="-122"/>
                </a:rPr>
                <a:t>(n)</a:t>
              </a:r>
            </a:p>
          </p:txBody>
        </p:sp>
      </p:grpSp>
      <p:sp>
        <p:nvSpPr>
          <p:cNvPr id="240671" name="矩形 1"/>
          <p:cNvSpPr>
            <a:spLocks noChangeArrowheads="1"/>
          </p:cNvSpPr>
          <p:nvPr/>
        </p:nvSpPr>
        <p:spPr bwMode="auto">
          <a:xfrm>
            <a:off x="2679700" y="5876925"/>
            <a:ext cx="4770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相邻两层之间的关系</a:t>
            </a:r>
            <a:endParaRPr lang="zh-CN" altLang="en-US" sz="2400" b="1">
              <a:ea typeface="黑体" panose="02010609060101010101" pitchFamily="49" charset="-122"/>
            </a:endParaRPr>
          </a:p>
        </p:txBody>
      </p:sp>
      <p:sp>
        <p:nvSpPr>
          <p:cNvPr id="240672"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1271C2-2990-4CA4-A838-0E8452F599FE}" type="slidenum">
              <a:rPr lang="zh-CN" altLang="en-US" smtClean="0"/>
              <a:pPr eaLnBrk="1" hangingPunct="1"/>
              <a:t>46</a:t>
            </a:fld>
            <a:endParaRPr lang="en-US" altLang="zh-CN" smtClean="0"/>
          </a:p>
        </p:txBody>
      </p:sp>
      <p:sp>
        <p:nvSpPr>
          <p:cNvPr id="240673"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协议很复杂 </a:t>
            </a:r>
          </a:p>
        </p:txBody>
      </p:sp>
      <p:sp>
        <p:nvSpPr>
          <p:cNvPr id="14029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协议必须把所有</a:t>
            </a:r>
            <a:r>
              <a:rPr lang="zh-CN" altLang="en-US" smtClean="0">
                <a:solidFill>
                  <a:srgbClr val="FF0000"/>
                </a:solidFill>
                <a:ea typeface="黑体" panose="02010609060101010101" pitchFamily="49" charset="-122"/>
              </a:rPr>
              <a:t>不利的条件</a:t>
            </a:r>
            <a:r>
              <a:rPr lang="zh-CN" altLang="en-US" smtClean="0">
                <a:ea typeface="黑体" panose="02010609060101010101" pitchFamily="49" charset="-122"/>
              </a:rPr>
              <a:t>事先都估计到，而</a:t>
            </a:r>
            <a:r>
              <a:rPr lang="zh-CN" altLang="en-US" smtClean="0">
                <a:solidFill>
                  <a:srgbClr val="FF0000"/>
                </a:solidFill>
                <a:ea typeface="黑体" panose="02010609060101010101" pitchFamily="49" charset="-122"/>
              </a:rPr>
              <a:t>不能假定</a:t>
            </a:r>
            <a:r>
              <a:rPr lang="zh-CN" altLang="en-US" smtClean="0">
                <a:ea typeface="黑体" panose="02010609060101010101" pitchFamily="49" charset="-122"/>
              </a:rPr>
              <a:t>一切都是正常的和非常理想的。 </a:t>
            </a:r>
          </a:p>
          <a:p>
            <a:r>
              <a:rPr lang="zh-CN" altLang="en-US" smtClean="0">
                <a:ea typeface="黑体" panose="02010609060101010101" pitchFamily="49" charset="-122"/>
              </a:rPr>
              <a:t>看一个计算机网络协议是否正确，不能光看在正常情况下是否正确，还必须非常仔细地检查这个协议</a:t>
            </a:r>
            <a:r>
              <a:rPr lang="zh-CN" altLang="en-US" smtClean="0">
                <a:solidFill>
                  <a:srgbClr val="FF0000"/>
                </a:solidFill>
                <a:ea typeface="黑体" panose="02010609060101010101" pitchFamily="49" charset="-122"/>
              </a:rPr>
              <a:t>能否应付各种异常情况。 </a:t>
            </a:r>
          </a:p>
        </p:txBody>
      </p:sp>
      <p:sp>
        <p:nvSpPr>
          <p:cNvPr id="2426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9FDF8A-273D-4183-A7AD-54E60C702B04}" type="slidenum">
              <a:rPr lang="zh-CN" altLang="en-US" smtClean="0"/>
              <a:pPr eaLnBrk="1" hangingPunct="1"/>
              <a:t>47</a:t>
            </a:fld>
            <a:endParaRPr lang="en-US" altLang="zh-CN" smtClean="0"/>
          </a:p>
        </p:txBody>
      </p:sp>
      <p:sp>
        <p:nvSpPr>
          <p:cNvPr id="2426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2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例</a:t>
            </a:r>
            <a:r>
              <a:rPr lang="en-US" altLang="zh-CN" smtClean="0">
                <a:ea typeface="黑体" panose="02010609060101010101" pitchFamily="49" charset="-122"/>
              </a:rPr>
              <a:t>1-1】</a:t>
            </a:r>
            <a:r>
              <a:rPr lang="zh-CN" altLang="en-US" smtClean="0">
                <a:ea typeface="黑体" panose="02010609060101010101" pitchFamily="49" charset="-122"/>
              </a:rPr>
              <a:t>著名的协议举例</a:t>
            </a:r>
            <a:endParaRPr lang="en-US" altLang="zh-CN" smtClean="0">
              <a:ea typeface="黑体" panose="02010609060101010101" pitchFamily="49" charset="-122"/>
            </a:endParaRPr>
          </a:p>
        </p:txBody>
      </p:sp>
      <p:sp>
        <p:nvSpPr>
          <p:cNvPr id="141315"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占据东、西两个山顶的蓝军</a:t>
            </a:r>
            <a:r>
              <a:rPr lang="en-US" altLang="zh-CN" sz="2800" smtClean="0">
                <a:ea typeface="黑体" panose="02010609060101010101" pitchFamily="49" charset="-122"/>
              </a:rPr>
              <a:t>1</a:t>
            </a:r>
            <a:r>
              <a:rPr lang="zh-CN" altLang="en-US" sz="2800" smtClean="0">
                <a:ea typeface="黑体" panose="02010609060101010101" pitchFamily="49" charset="-122"/>
              </a:rPr>
              <a:t>和蓝军</a:t>
            </a:r>
            <a:r>
              <a:rPr lang="en-US" altLang="zh-CN" sz="2800" smtClean="0">
                <a:ea typeface="黑体" panose="02010609060101010101" pitchFamily="49" charset="-122"/>
              </a:rPr>
              <a:t>2</a:t>
            </a:r>
            <a:r>
              <a:rPr lang="zh-CN" altLang="en-US" sz="2800" smtClean="0">
                <a:ea typeface="黑体" panose="02010609060101010101" pitchFamily="49" charset="-122"/>
              </a:rPr>
              <a:t>与驻扎在山谷的白军作战。其力量对比是：单独的蓝军</a:t>
            </a:r>
            <a:r>
              <a:rPr lang="en-US" altLang="zh-CN" sz="2800" smtClean="0">
                <a:ea typeface="黑体" panose="02010609060101010101" pitchFamily="49" charset="-122"/>
              </a:rPr>
              <a:t>1</a:t>
            </a:r>
            <a:r>
              <a:rPr lang="zh-CN" altLang="en-US" sz="2800" smtClean="0">
                <a:ea typeface="黑体" panose="02010609060101010101" pitchFamily="49" charset="-122"/>
              </a:rPr>
              <a:t>或蓝军</a:t>
            </a:r>
            <a:r>
              <a:rPr lang="en-US" altLang="zh-CN" sz="2800" smtClean="0">
                <a:ea typeface="黑体" panose="02010609060101010101" pitchFamily="49" charset="-122"/>
              </a:rPr>
              <a:t>2</a:t>
            </a:r>
            <a:r>
              <a:rPr lang="zh-CN" altLang="en-US" sz="2800" smtClean="0">
                <a:ea typeface="黑体" panose="02010609060101010101" pitchFamily="49" charset="-122"/>
              </a:rPr>
              <a:t>打不过白军，但蓝军</a:t>
            </a:r>
            <a:r>
              <a:rPr lang="en-US" altLang="zh-CN" sz="2800" smtClean="0">
                <a:ea typeface="黑体" panose="02010609060101010101" pitchFamily="49" charset="-122"/>
              </a:rPr>
              <a:t>1</a:t>
            </a:r>
            <a:r>
              <a:rPr lang="zh-CN" altLang="en-US" sz="2800" smtClean="0">
                <a:ea typeface="黑体" panose="02010609060101010101" pitchFamily="49" charset="-122"/>
              </a:rPr>
              <a:t>和蓝军</a:t>
            </a:r>
            <a:r>
              <a:rPr lang="en-US" altLang="zh-CN" sz="2800" smtClean="0">
                <a:ea typeface="黑体" panose="02010609060101010101" pitchFamily="49" charset="-122"/>
              </a:rPr>
              <a:t>2</a:t>
            </a:r>
            <a:r>
              <a:rPr lang="zh-CN" altLang="en-US" sz="2800" smtClean="0">
                <a:ea typeface="黑体" panose="02010609060101010101" pitchFamily="49" charset="-122"/>
              </a:rPr>
              <a:t>协同作战则可战胜白军。现蓝军</a:t>
            </a:r>
            <a:r>
              <a:rPr lang="en-US" altLang="zh-CN" sz="2800" smtClean="0">
                <a:ea typeface="黑体" panose="02010609060101010101" pitchFamily="49" charset="-122"/>
              </a:rPr>
              <a:t>1</a:t>
            </a:r>
            <a:r>
              <a:rPr lang="zh-CN" altLang="en-US" sz="2800" smtClean="0">
                <a:ea typeface="黑体" panose="02010609060101010101" pitchFamily="49" charset="-122"/>
              </a:rPr>
              <a:t>拟于次日正午向白军发起攻击。于是用计算机发送电文给蓝军</a:t>
            </a:r>
            <a:r>
              <a:rPr lang="en-US" altLang="zh-CN" sz="2800" smtClean="0">
                <a:ea typeface="黑体" panose="02010609060101010101" pitchFamily="49" charset="-122"/>
              </a:rPr>
              <a:t>2</a:t>
            </a:r>
            <a:r>
              <a:rPr lang="zh-CN" altLang="en-US" sz="2800" smtClean="0">
                <a:ea typeface="黑体" panose="02010609060101010101" pitchFamily="49" charset="-122"/>
              </a:rPr>
              <a:t>。但通信线路很不好，电文出错或丢失的可能性较大（没有电话可使用）。因此要求收到电文的友军必须送回一个确认电文。但此确认电文也可能出错或丢失。</a:t>
            </a:r>
            <a:r>
              <a:rPr lang="zh-CN" altLang="en-US" sz="2800" smtClean="0">
                <a:solidFill>
                  <a:srgbClr val="FF0000"/>
                </a:solidFill>
                <a:ea typeface="黑体" panose="02010609060101010101" pitchFamily="49" charset="-122"/>
              </a:rPr>
              <a:t>试问能否设计出一种协议使得蓝军</a:t>
            </a:r>
            <a:r>
              <a:rPr lang="en-US" altLang="zh-CN" sz="2800" smtClean="0">
                <a:solidFill>
                  <a:srgbClr val="FF0000"/>
                </a:solidFill>
                <a:ea typeface="黑体" panose="02010609060101010101" pitchFamily="49" charset="-122"/>
              </a:rPr>
              <a:t>1</a:t>
            </a:r>
            <a:r>
              <a:rPr lang="zh-CN" altLang="en-US" sz="2800" smtClean="0">
                <a:solidFill>
                  <a:srgbClr val="FF0000"/>
                </a:solidFill>
                <a:ea typeface="黑体" panose="02010609060101010101" pitchFamily="49" charset="-122"/>
              </a:rPr>
              <a:t>和蓝军</a:t>
            </a:r>
            <a:r>
              <a:rPr lang="en-US" altLang="zh-CN" sz="2800" smtClean="0">
                <a:solidFill>
                  <a:srgbClr val="FF0000"/>
                </a:solidFill>
                <a:ea typeface="黑体" panose="02010609060101010101" pitchFamily="49" charset="-122"/>
              </a:rPr>
              <a:t>2</a:t>
            </a:r>
            <a:r>
              <a:rPr lang="zh-CN" altLang="en-US" sz="2800" smtClean="0">
                <a:solidFill>
                  <a:srgbClr val="FF0000"/>
                </a:solidFill>
                <a:ea typeface="黑体" panose="02010609060101010101" pitchFamily="49" charset="-122"/>
              </a:rPr>
              <a:t>能够实现协同作战，因而一定（即</a:t>
            </a:r>
            <a:r>
              <a:rPr lang="en-US" altLang="zh-CN" sz="2800" smtClean="0">
                <a:solidFill>
                  <a:srgbClr val="FF0000"/>
                </a:solidFill>
                <a:ea typeface="黑体" panose="02010609060101010101" pitchFamily="49" charset="-122"/>
              </a:rPr>
              <a:t>100 %</a:t>
            </a:r>
            <a:r>
              <a:rPr lang="zh-CN" altLang="en-US" sz="2800" smtClean="0">
                <a:solidFill>
                  <a:srgbClr val="FF0000"/>
                </a:solidFill>
                <a:ea typeface="黑体" panose="02010609060101010101" pitchFamily="49" charset="-122"/>
              </a:rPr>
              <a:t>而不是</a:t>
            </a:r>
            <a:r>
              <a:rPr lang="en-US" altLang="zh-CN" sz="2800" smtClean="0">
                <a:solidFill>
                  <a:srgbClr val="FF0000"/>
                </a:solidFill>
                <a:ea typeface="黑体" panose="02010609060101010101" pitchFamily="49" charset="-122"/>
              </a:rPr>
              <a:t>99.999…%</a:t>
            </a:r>
            <a:r>
              <a:rPr lang="zh-CN" altLang="en-US" sz="2800" smtClean="0">
                <a:solidFill>
                  <a:srgbClr val="FF0000"/>
                </a:solidFill>
                <a:ea typeface="黑体" panose="02010609060101010101" pitchFamily="49" charset="-122"/>
              </a:rPr>
              <a:t>）取得胜利？ </a:t>
            </a:r>
          </a:p>
        </p:txBody>
      </p:sp>
      <p:sp>
        <p:nvSpPr>
          <p:cNvPr id="2447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401363-F1F2-46DF-8386-8FE0B9FD8338}" type="slidenum">
              <a:rPr lang="zh-CN" altLang="en-US" smtClean="0"/>
              <a:pPr eaLnBrk="1" hangingPunct="1"/>
              <a:t>48</a:t>
            </a:fld>
            <a:endParaRPr lang="en-US" altLang="zh-CN" smtClean="0"/>
          </a:p>
        </p:txBody>
      </p:sp>
      <p:sp>
        <p:nvSpPr>
          <p:cNvPr id="2447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Freeform 2"/>
          <p:cNvSpPr>
            <a:spLocks noChangeArrowheads="1"/>
          </p:cNvSpPr>
          <p:nvPr/>
        </p:nvSpPr>
        <p:spPr bwMode="auto">
          <a:xfrm>
            <a:off x="230188" y="5027613"/>
            <a:ext cx="9721850" cy="1889125"/>
          </a:xfrm>
          <a:custGeom>
            <a:avLst/>
            <a:gdLst>
              <a:gd name="T0" fmla="*/ 0 w 5653"/>
              <a:gd name="T1" fmla="*/ 1159 h 1190"/>
              <a:gd name="T2" fmla="*/ 928 w 5653"/>
              <a:gd name="T3" fmla="*/ 90 h 1190"/>
              <a:gd name="T4" fmla="*/ 1744 w 5653"/>
              <a:gd name="T5" fmla="*/ 618 h 1190"/>
              <a:gd name="T6" fmla="*/ 2800 w 5653"/>
              <a:gd name="T7" fmla="*/ 1098 h 1190"/>
              <a:gd name="T8" fmla="*/ 3379 w 5653"/>
              <a:gd name="T9" fmla="*/ 1127 h 1190"/>
              <a:gd name="T10" fmla="*/ 3808 w 5653"/>
              <a:gd name="T11" fmla="*/ 1098 h 1190"/>
              <a:gd name="T12" fmla="*/ 4240 w 5653"/>
              <a:gd name="T13" fmla="*/ 666 h 1190"/>
              <a:gd name="T14" fmla="*/ 4558 w 5653"/>
              <a:gd name="T15" fmla="*/ 201 h 1190"/>
              <a:gd name="T16" fmla="*/ 4958 w 5653"/>
              <a:gd name="T17" fmla="*/ 243 h 1190"/>
              <a:gd name="T18" fmla="*/ 5158 w 5653"/>
              <a:gd name="T19" fmla="*/ 727 h 1190"/>
              <a:gd name="T20" fmla="*/ 5316 w 5653"/>
              <a:gd name="T21" fmla="*/ 927 h 1190"/>
              <a:gd name="T22" fmla="*/ 5410 w 5653"/>
              <a:gd name="T23" fmla="*/ 1033 h 1190"/>
              <a:gd name="T24" fmla="*/ 5653 w 5653"/>
              <a:gd name="T25" fmla="*/ 119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663300"/>
          </a:solidFill>
          <a:ln w="9525">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46786" name="Line 3"/>
          <p:cNvSpPr>
            <a:spLocks noChangeShapeType="1"/>
          </p:cNvSpPr>
          <p:nvPr/>
        </p:nvSpPr>
        <p:spPr bwMode="auto">
          <a:xfrm>
            <a:off x="1990725" y="4413250"/>
            <a:ext cx="0" cy="685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246787" name="AutoShape 4"/>
          <p:cNvSpPr>
            <a:spLocks noChangeArrowheads="1"/>
          </p:cNvSpPr>
          <p:nvPr/>
        </p:nvSpPr>
        <p:spPr bwMode="auto">
          <a:xfrm rot="21347062">
            <a:off x="1990725" y="4413250"/>
            <a:ext cx="908050" cy="533400"/>
          </a:xfrm>
          <a:prstGeom prst="wave">
            <a:avLst>
              <a:gd name="adj1" fmla="val 12500"/>
              <a:gd name="adj2" fmla="val -1639"/>
            </a:avLst>
          </a:prstGeom>
          <a:solidFill>
            <a:srgbClr val="0000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a:ea typeface="宋体" panose="02010600030101010101" pitchFamily="2" charset="-122"/>
            </a:endParaRPr>
          </a:p>
        </p:txBody>
      </p:sp>
      <p:sp>
        <p:nvSpPr>
          <p:cNvPr id="246788" name="Line 5"/>
          <p:cNvSpPr>
            <a:spLocks noChangeShapeType="1"/>
          </p:cNvSpPr>
          <p:nvPr/>
        </p:nvSpPr>
        <p:spPr bwMode="auto">
          <a:xfrm>
            <a:off x="8347075" y="4565650"/>
            <a:ext cx="0" cy="685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246789" name="AutoShape 6"/>
          <p:cNvSpPr>
            <a:spLocks noChangeArrowheads="1"/>
          </p:cNvSpPr>
          <p:nvPr/>
        </p:nvSpPr>
        <p:spPr bwMode="auto">
          <a:xfrm rot="21347062">
            <a:off x="8347075" y="4565650"/>
            <a:ext cx="908050" cy="533400"/>
          </a:xfrm>
          <a:prstGeom prst="wave">
            <a:avLst>
              <a:gd name="adj1" fmla="val 12500"/>
              <a:gd name="adj2" fmla="val -1639"/>
            </a:avLst>
          </a:prstGeom>
          <a:solidFill>
            <a:srgbClr val="0000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a:ea typeface="宋体" panose="02010600030101010101" pitchFamily="2" charset="-122"/>
            </a:endParaRPr>
          </a:p>
        </p:txBody>
      </p:sp>
      <p:sp>
        <p:nvSpPr>
          <p:cNvPr id="246790" name="AutoShape 7"/>
          <p:cNvSpPr>
            <a:spLocks noChangeArrowheads="1"/>
          </p:cNvSpPr>
          <p:nvPr/>
        </p:nvSpPr>
        <p:spPr bwMode="auto">
          <a:xfrm rot="21347062">
            <a:off x="5232400" y="5853113"/>
            <a:ext cx="1382713" cy="762000"/>
          </a:xfrm>
          <a:prstGeom prst="wave">
            <a:avLst>
              <a:gd name="adj1" fmla="val 12500"/>
              <a:gd name="adj2" fmla="val -1639"/>
            </a:avLst>
          </a:prstGeom>
          <a:solidFill>
            <a:schemeClr val="bg1"/>
          </a:solidFill>
          <a:ln w="19050">
            <a:solidFill>
              <a:srgbClr val="000099"/>
            </a:solidFill>
            <a:round/>
            <a:headEnd/>
            <a:tailEnd/>
          </a:ln>
        </p:spPr>
        <p:txBody>
          <a:bodyPr wrap="none" anchor="ctr"/>
          <a:lstStyle/>
          <a:p>
            <a:pPr eaLnBrk="0" hangingPunct="0"/>
            <a:endParaRPr lang="zh-CN" altLang="en-US">
              <a:ea typeface="宋体" panose="02010600030101010101" pitchFamily="2" charset="-122"/>
            </a:endParaRPr>
          </a:p>
        </p:txBody>
      </p:sp>
      <p:sp>
        <p:nvSpPr>
          <p:cNvPr id="246791" name="Line 8"/>
          <p:cNvSpPr>
            <a:spLocks noChangeShapeType="1"/>
          </p:cNvSpPr>
          <p:nvPr/>
        </p:nvSpPr>
        <p:spPr bwMode="auto">
          <a:xfrm>
            <a:off x="5270500" y="5861050"/>
            <a:ext cx="0" cy="8620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nvGrpSpPr>
          <p:cNvPr id="142345" name="Group 9"/>
          <p:cNvGrpSpPr>
            <a:grpSpLocks/>
          </p:cNvGrpSpPr>
          <p:nvPr/>
        </p:nvGrpSpPr>
        <p:grpSpPr bwMode="auto">
          <a:xfrm>
            <a:off x="355600" y="422275"/>
            <a:ext cx="3797300" cy="914400"/>
            <a:chOff x="912" y="192"/>
            <a:chExt cx="2208" cy="576"/>
          </a:xfrm>
        </p:grpSpPr>
        <p:sp>
          <p:nvSpPr>
            <p:cNvPr id="246793" name="AutoShape 10"/>
            <p:cNvSpPr>
              <a:spLocks noChangeArrowheads="1"/>
            </p:cNvSpPr>
            <p:nvPr/>
          </p:nvSpPr>
          <p:spPr bwMode="auto">
            <a:xfrm>
              <a:off x="912" y="192"/>
              <a:ext cx="2208" cy="576"/>
            </a:xfrm>
            <a:prstGeom prst="rightArrow">
              <a:avLst>
                <a:gd name="adj1" fmla="val 50000"/>
                <a:gd name="adj2" fmla="val 95816"/>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ea typeface="宋体" panose="02010600030101010101" pitchFamily="2" charset="-122"/>
              </a:endParaRPr>
            </a:p>
          </p:txBody>
        </p:sp>
        <p:sp>
          <p:nvSpPr>
            <p:cNvPr id="246794" name="Text Box 11"/>
            <p:cNvSpPr txBox="1">
              <a:spLocks noChangeArrowheads="1"/>
            </p:cNvSpPr>
            <p:nvPr/>
          </p:nvSpPr>
          <p:spPr bwMode="auto">
            <a:xfrm>
              <a:off x="912" y="336"/>
              <a:ext cx="18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FFFF00"/>
                  </a:solidFill>
                  <a:latin typeface="Times New Roman" panose="02020603050405020304" pitchFamily="18" charset="0"/>
                  <a:ea typeface="黑体" panose="02010609060101010101" pitchFamily="49" charset="-122"/>
                </a:rPr>
                <a:t>明日正午进攻，如何？</a:t>
              </a:r>
            </a:p>
          </p:txBody>
        </p:sp>
      </p:grpSp>
      <p:grpSp>
        <p:nvGrpSpPr>
          <p:cNvPr id="142348" name="Group 12"/>
          <p:cNvGrpSpPr>
            <a:grpSpLocks/>
          </p:cNvGrpSpPr>
          <p:nvPr/>
        </p:nvGrpSpPr>
        <p:grpSpPr bwMode="auto">
          <a:xfrm>
            <a:off x="5764213" y="1184275"/>
            <a:ext cx="3797300" cy="914400"/>
            <a:chOff x="3303" y="672"/>
            <a:chExt cx="2208" cy="576"/>
          </a:xfrm>
        </p:grpSpPr>
        <p:sp>
          <p:nvSpPr>
            <p:cNvPr id="246796" name="AutoShape 13"/>
            <p:cNvSpPr>
              <a:spLocks noChangeArrowheads="1"/>
            </p:cNvSpPr>
            <p:nvPr/>
          </p:nvSpPr>
          <p:spPr bwMode="auto">
            <a:xfrm rot="10800000">
              <a:off x="3303" y="672"/>
              <a:ext cx="2208" cy="576"/>
            </a:xfrm>
            <a:prstGeom prst="rightArrow">
              <a:avLst>
                <a:gd name="adj1" fmla="val 50000"/>
                <a:gd name="adj2" fmla="val 95816"/>
              </a:avLst>
            </a:prstGeom>
            <a:solidFill>
              <a:srgbClr val="FFFF99"/>
            </a:solidFill>
            <a:ln w="9525">
              <a:solidFill>
                <a:srgbClr val="333399"/>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246797" name="Text Box 14"/>
            <p:cNvSpPr txBox="1">
              <a:spLocks noChangeArrowheads="1"/>
            </p:cNvSpPr>
            <p:nvPr/>
          </p:nvSpPr>
          <p:spPr bwMode="auto">
            <a:xfrm>
              <a:off x="3907" y="816"/>
              <a:ext cx="46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latin typeface="Times New Roman" panose="02020603050405020304" pitchFamily="18" charset="0"/>
                  <a:ea typeface="黑体" panose="02010609060101010101" pitchFamily="49" charset="-122"/>
                </a:rPr>
                <a:t>同意</a:t>
              </a:r>
            </a:p>
          </p:txBody>
        </p:sp>
      </p:grpSp>
      <p:grpSp>
        <p:nvGrpSpPr>
          <p:cNvPr id="142351" name="Group 15"/>
          <p:cNvGrpSpPr>
            <a:grpSpLocks/>
          </p:cNvGrpSpPr>
          <p:nvPr/>
        </p:nvGrpSpPr>
        <p:grpSpPr bwMode="auto">
          <a:xfrm>
            <a:off x="355600" y="1870075"/>
            <a:ext cx="3797300" cy="914400"/>
            <a:chOff x="912" y="192"/>
            <a:chExt cx="2208" cy="576"/>
          </a:xfrm>
        </p:grpSpPr>
        <p:sp>
          <p:nvSpPr>
            <p:cNvPr id="246799" name="AutoShape 16"/>
            <p:cNvSpPr>
              <a:spLocks noChangeArrowheads="1"/>
            </p:cNvSpPr>
            <p:nvPr/>
          </p:nvSpPr>
          <p:spPr bwMode="auto">
            <a:xfrm>
              <a:off x="912" y="192"/>
              <a:ext cx="2208" cy="576"/>
            </a:xfrm>
            <a:prstGeom prst="rightArrow">
              <a:avLst>
                <a:gd name="adj1" fmla="val 50000"/>
                <a:gd name="adj2" fmla="val 95816"/>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ea typeface="宋体" panose="02010600030101010101" pitchFamily="2" charset="-122"/>
              </a:endParaRPr>
            </a:p>
          </p:txBody>
        </p:sp>
        <p:sp>
          <p:nvSpPr>
            <p:cNvPr id="246800" name="Text Box 17"/>
            <p:cNvSpPr txBox="1">
              <a:spLocks noChangeArrowheads="1"/>
            </p:cNvSpPr>
            <p:nvPr/>
          </p:nvSpPr>
          <p:spPr bwMode="auto">
            <a:xfrm>
              <a:off x="912" y="336"/>
              <a:ext cx="118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FFFF00"/>
                  </a:solidFill>
                  <a:latin typeface="Times New Roman" panose="02020603050405020304" pitchFamily="18" charset="0"/>
                  <a:ea typeface="黑体" panose="02010609060101010101" pitchFamily="49" charset="-122"/>
                </a:rPr>
                <a:t>收到“同意”</a:t>
              </a:r>
            </a:p>
          </p:txBody>
        </p:sp>
      </p:grpSp>
      <p:grpSp>
        <p:nvGrpSpPr>
          <p:cNvPr id="142354" name="Group 18"/>
          <p:cNvGrpSpPr>
            <a:grpSpLocks/>
          </p:cNvGrpSpPr>
          <p:nvPr/>
        </p:nvGrpSpPr>
        <p:grpSpPr bwMode="auto">
          <a:xfrm>
            <a:off x="5764213" y="2555875"/>
            <a:ext cx="3797300" cy="914400"/>
            <a:chOff x="3303" y="1536"/>
            <a:chExt cx="2208" cy="576"/>
          </a:xfrm>
        </p:grpSpPr>
        <p:sp>
          <p:nvSpPr>
            <p:cNvPr id="246802" name="AutoShape 19"/>
            <p:cNvSpPr>
              <a:spLocks noChangeArrowheads="1"/>
            </p:cNvSpPr>
            <p:nvPr/>
          </p:nvSpPr>
          <p:spPr bwMode="auto">
            <a:xfrm rot="10800000">
              <a:off x="3303" y="1536"/>
              <a:ext cx="2208" cy="576"/>
            </a:xfrm>
            <a:prstGeom prst="rightArrow">
              <a:avLst>
                <a:gd name="adj1" fmla="val 50000"/>
                <a:gd name="adj2" fmla="val 95816"/>
              </a:avLst>
            </a:prstGeom>
            <a:solidFill>
              <a:srgbClr val="FFFF99"/>
            </a:solidFill>
            <a:ln w="9525">
              <a:solidFill>
                <a:srgbClr val="333399"/>
              </a:solidFill>
              <a:miter lim="800000"/>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246803" name="Text Box 20"/>
            <p:cNvSpPr txBox="1">
              <a:spLocks noChangeArrowheads="1"/>
            </p:cNvSpPr>
            <p:nvPr/>
          </p:nvSpPr>
          <p:spPr bwMode="auto">
            <a:xfrm>
              <a:off x="3495" y="1680"/>
              <a:ext cx="171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latin typeface="Times New Roman" panose="02020603050405020304" pitchFamily="18" charset="0"/>
                  <a:ea typeface="黑体" panose="02010609060101010101" pitchFamily="49" charset="-122"/>
                </a:rPr>
                <a:t>收到：收到“同意”</a:t>
              </a:r>
            </a:p>
          </p:txBody>
        </p:sp>
      </p:grpSp>
      <p:sp>
        <p:nvSpPr>
          <p:cNvPr id="142357" name="Text Box 21"/>
          <p:cNvSpPr txBox="1">
            <a:spLocks noChangeArrowheads="1"/>
          </p:cNvSpPr>
          <p:nvPr/>
        </p:nvSpPr>
        <p:spPr bwMode="auto">
          <a:xfrm>
            <a:off x="1136650" y="2995613"/>
            <a:ext cx="103028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58" name="Text Box 22"/>
          <p:cNvSpPr txBox="1">
            <a:spLocks noChangeArrowheads="1"/>
          </p:cNvSpPr>
          <p:nvPr/>
        </p:nvSpPr>
        <p:spPr bwMode="auto">
          <a:xfrm>
            <a:off x="7672388" y="3438525"/>
            <a:ext cx="10318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59" name="Text Box 23"/>
          <p:cNvSpPr txBox="1">
            <a:spLocks noChangeArrowheads="1"/>
          </p:cNvSpPr>
          <p:nvPr/>
        </p:nvSpPr>
        <p:spPr bwMode="auto">
          <a:xfrm>
            <a:off x="1136650" y="3013075"/>
            <a:ext cx="103028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60" name="Text Box 24"/>
          <p:cNvSpPr txBox="1">
            <a:spLocks noChangeArrowheads="1"/>
          </p:cNvSpPr>
          <p:nvPr/>
        </p:nvSpPr>
        <p:spPr bwMode="auto">
          <a:xfrm>
            <a:off x="7672388" y="3455988"/>
            <a:ext cx="10318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61" name="Text Box 25"/>
          <p:cNvSpPr txBox="1">
            <a:spLocks noChangeArrowheads="1"/>
          </p:cNvSpPr>
          <p:nvPr/>
        </p:nvSpPr>
        <p:spPr bwMode="auto">
          <a:xfrm>
            <a:off x="1136650" y="3030538"/>
            <a:ext cx="103028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62" name="Text Box 26"/>
          <p:cNvSpPr txBox="1">
            <a:spLocks noChangeArrowheads="1"/>
          </p:cNvSpPr>
          <p:nvPr/>
        </p:nvSpPr>
        <p:spPr bwMode="auto">
          <a:xfrm>
            <a:off x="7672388" y="3473450"/>
            <a:ext cx="10318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FF0000"/>
                </a:solidFill>
                <a:latin typeface="Times New Roman" panose="02020603050405020304" pitchFamily="18" charset="0"/>
                <a:ea typeface="黑体" panose="02010609060101010101" pitchFamily="49" charset="-122"/>
              </a:rPr>
              <a:t>…</a:t>
            </a:r>
          </a:p>
        </p:txBody>
      </p:sp>
      <p:sp>
        <p:nvSpPr>
          <p:cNvPr id="142363" name="Text Box 27"/>
          <p:cNvSpPr txBox="1">
            <a:spLocks noChangeArrowheads="1"/>
          </p:cNvSpPr>
          <p:nvPr/>
        </p:nvSpPr>
        <p:spPr bwMode="auto">
          <a:xfrm>
            <a:off x="1760538" y="1890713"/>
            <a:ext cx="6340475" cy="830262"/>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4800" b="1" noProof="1">
                <a:effectLst>
                  <a:outerShdw blurRad="38100" dist="38100" dir="2700000" algn="tl">
                    <a:srgbClr val="FFFFFF"/>
                  </a:outerShdw>
                </a:effectLst>
                <a:latin typeface="Bookman Old Style" panose="02050604050505020204" pitchFamily="18" charset="0"/>
                <a:ea typeface="黑体" panose="02010609060101010101" pitchFamily="2" charset="-122"/>
              </a:rPr>
              <a:t>这样的协议无法实现！</a:t>
            </a:r>
          </a:p>
        </p:txBody>
      </p:sp>
      <p:sp>
        <p:nvSpPr>
          <p:cNvPr id="2468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D855D0D-5BB8-435F-81C4-BBEDF98B6CB2}" type="slidenum">
              <a:rPr lang="zh-CN" altLang="en-US" smtClean="0"/>
              <a:pPr/>
              <a:t>49</a:t>
            </a:fld>
            <a:endParaRPr lang="en-US" altLang="zh-CN" smtClean="0"/>
          </a:p>
        </p:txBody>
      </p:sp>
      <p:sp>
        <p:nvSpPr>
          <p:cNvPr id="2468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42345"/>
                                        </p:tgtEl>
                                        <p:attrNameLst>
                                          <p:attrName>style.visibility</p:attrName>
                                        </p:attrNameLst>
                                      </p:cBhvr>
                                      <p:to>
                                        <p:strVal val="visible"/>
                                      </p:to>
                                    </p:set>
                                  </p:childTnLst>
                                </p:cTn>
                              </p:par>
                            </p:childTnLst>
                          </p:cTn>
                        </p:par>
                        <p:par>
                          <p:cTn id="7" fill="hold" nodeType="afterGroup">
                            <p:stCondLst>
                              <p:cond delay="1"/>
                            </p:stCondLst>
                            <p:childTnLst>
                              <p:par>
                                <p:cTn id="8" presetID="63" presetClass="path" presetSubtype="0" accel="50000" decel="50000" fill="hold" nodeType="afterEffect">
                                  <p:stCondLst>
                                    <p:cond delay="0"/>
                                  </p:stCondLst>
                                  <p:childTnLst>
                                    <p:animMotion origin="layout" path="M 2.77778E-6 -1.11111E-6 L 0.58021 0.00046 " pathEditMode="relative" rAng="0" ptsTypes="AA">
                                      <p:cBhvr>
                                        <p:cTn id="9" dur="5000" fill="hold"/>
                                        <p:tgtEl>
                                          <p:spTgt spid="142345"/>
                                        </p:tgtEl>
                                        <p:attrNameLst>
                                          <p:attrName>ppt_x,ppt_y</p:attrName>
                                        </p:attrNameLst>
                                      </p:cBhvr>
                                      <p:rCtr x="29000" y="0"/>
                                    </p:animMotion>
                                  </p:childTnLst>
                                </p:cTn>
                              </p:par>
                            </p:childTnLst>
                          </p:cTn>
                        </p:par>
                        <p:par>
                          <p:cTn id="10" fill="hold" nodeType="afterGroup">
                            <p:stCondLst>
                              <p:cond delay="5001"/>
                            </p:stCondLst>
                            <p:childTnLst>
                              <p:par>
                                <p:cTn id="11" presetID="1" presetClass="entr" presetSubtype="0" fill="hold" nodeType="afterEffect">
                                  <p:stCondLst>
                                    <p:cond delay="500"/>
                                  </p:stCondLst>
                                  <p:childTnLst>
                                    <p:set>
                                      <p:cBhvr>
                                        <p:cTn id="12" dur="1" fill="hold">
                                          <p:stCondLst>
                                            <p:cond delay="0"/>
                                          </p:stCondLst>
                                        </p:cTn>
                                        <p:tgtEl>
                                          <p:spTgt spid="142348"/>
                                        </p:tgtEl>
                                        <p:attrNameLst>
                                          <p:attrName>style.visibility</p:attrName>
                                        </p:attrNameLst>
                                      </p:cBhvr>
                                      <p:to>
                                        <p:strVal val="visible"/>
                                      </p:to>
                                    </p:set>
                                  </p:childTnLst>
                                </p:cTn>
                              </p:par>
                            </p:childTnLst>
                          </p:cTn>
                        </p:par>
                        <p:par>
                          <p:cTn id="13" fill="hold" nodeType="afterGroup">
                            <p:stCondLst>
                              <p:cond delay="5502"/>
                            </p:stCondLst>
                            <p:childTnLst>
                              <p:par>
                                <p:cTn id="14" presetID="35" presetClass="path" presetSubtype="0" accel="50000" decel="50000" fill="hold" nodeType="afterEffect">
                                  <p:stCondLst>
                                    <p:cond delay="0"/>
                                  </p:stCondLst>
                                  <p:childTnLst>
                                    <p:animMotion origin="layout" path="M -4.16667E-6 -2.22222E-6 L -0.55642 -0.00578 " pathEditMode="relative" rAng="0" ptsTypes="AA">
                                      <p:cBhvr>
                                        <p:cTn id="15" dur="2000" fill="hold"/>
                                        <p:tgtEl>
                                          <p:spTgt spid="142348"/>
                                        </p:tgtEl>
                                        <p:attrNameLst>
                                          <p:attrName>ppt_x,ppt_y</p:attrName>
                                        </p:attrNameLst>
                                      </p:cBhvr>
                                      <p:rCtr x="-27800" y="-300"/>
                                    </p:animMotion>
                                  </p:childTnLst>
                                </p:cTn>
                              </p:par>
                            </p:childTnLst>
                          </p:cTn>
                        </p:par>
                        <p:par>
                          <p:cTn id="16" fill="hold" nodeType="afterGroup">
                            <p:stCondLst>
                              <p:cond delay="7502"/>
                            </p:stCondLst>
                            <p:childTnLst>
                              <p:par>
                                <p:cTn id="17" presetID="1" presetClass="entr" presetSubtype="0" fill="hold" nodeType="afterEffect">
                                  <p:stCondLst>
                                    <p:cond delay="500"/>
                                  </p:stCondLst>
                                  <p:childTnLst>
                                    <p:set>
                                      <p:cBhvr>
                                        <p:cTn id="18" dur="1" fill="hold">
                                          <p:stCondLst>
                                            <p:cond delay="0"/>
                                          </p:stCondLst>
                                        </p:cTn>
                                        <p:tgtEl>
                                          <p:spTgt spid="142351"/>
                                        </p:tgtEl>
                                        <p:attrNameLst>
                                          <p:attrName>style.visibility</p:attrName>
                                        </p:attrNameLst>
                                      </p:cBhvr>
                                      <p:to>
                                        <p:strVal val="visible"/>
                                      </p:to>
                                    </p:set>
                                  </p:childTnLst>
                                </p:cTn>
                              </p:par>
                            </p:childTnLst>
                          </p:cTn>
                        </p:par>
                        <p:par>
                          <p:cTn id="19" fill="hold" nodeType="afterGroup">
                            <p:stCondLst>
                              <p:cond delay="8003"/>
                            </p:stCondLst>
                            <p:childTnLst>
                              <p:par>
                                <p:cTn id="20" presetID="63" presetClass="path" presetSubtype="0" accel="50000" decel="50000" fill="hold" nodeType="afterEffect">
                                  <p:stCondLst>
                                    <p:cond delay="500"/>
                                  </p:stCondLst>
                                  <p:childTnLst>
                                    <p:animMotion origin="layout" path="M 2.77778E-6 -2.22222E-6 L 0.58021 -0.00069 " pathEditMode="relative" rAng="0" ptsTypes="AA">
                                      <p:cBhvr>
                                        <p:cTn id="21" dur="5000" fill="hold"/>
                                        <p:tgtEl>
                                          <p:spTgt spid="142351"/>
                                        </p:tgtEl>
                                        <p:attrNameLst>
                                          <p:attrName>ppt_x,ppt_y</p:attrName>
                                        </p:attrNameLst>
                                      </p:cBhvr>
                                      <p:rCtr x="29000" y="0"/>
                                    </p:animMotion>
                                  </p:childTnLst>
                                </p:cTn>
                              </p:par>
                            </p:childTnLst>
                          </p:cTn>
                        </p:par>
                        <p:par>
                          <p:cTn id="22" fill="hold" nodeType="afterGroup">
                            <p:stCondLst>
                              <p:cond delay="13503"/>
                            </p:stCondLst>
                            <p:childTnLst>
                              <p:par>
                                <p:cTn id="23" presetID="1" presetClass="entr" presetSubtype="0" fill="hold" nodeType="afterEffect">
                                  <p:stCondLst>
                                    <p:cond delay="0"/>
                                  </p:stCondLst>
                                  <p:childTnLst>
                                    <p:set>
                                      <p:cBhvr>
                                        <p:cTn id="24" dur="1" fill="hold">
                                          <p:stCondLst>
                                            <p:cond delay="0"/>
                                          </p:stCondLst>
                                        </p:cTn>
                                        <p:tgtEl>
                                          <p:spTgt spid="142354"/>
                                        </p:tgtEl>
                                        <p:attrNameLst>
                                          <p:attrName>style.visibility</p:attrName>
                                        </p:attrNameLst>
                                      </p:cBhvr>
                                      <p:to>
                                        <p:strVal val="visible"/>
                                      </p:to>
                                    </p:set>
                                  </p:childTnLst>
                                </p:cTn>
                              </p:par>
                            </p:childTnLst>
                          </p:cTn>
                        </p:par>
                        <p:par>
                          <p:cTn id="25" fill="hold" nodeType="afterGroup">
                            <p:stCondLst>
                              <p:cond delay="13504"/>
                            </p:stCondLst>
                            <p:childTnLst>
                              <p:par>
                                <p:cTn id="26" presetID="35" presetClass="path" presetSubtype="0" accel="50000" decel="50000" fill="hold" nodeType="afterEffect">
                                  <p:stCondLst>
                                    <p:cond delay="500"/>
                                  </p:stCondLst>
                                  <p:childTnLst>
                                    <p:animMotion origin="layout" path="M -4.16667E-6 -2.22222E-6 L -0.54861 0.00417 " pathEditMode="relative" rAng="0" ptsTypes="AA">
                                      <p:cBhvr>
                                        <p:cTn id="27" dur="2000" fill="hold"/>
                                        <p:tgtEl>
                                          <p:spTgt spid="142354"/>
                                        </p:tgtEl>
                                        <p:attrNameLst>
                                          <p:attrName>ppt_x,ppt_y</p:attrName>
                                        </p:attrNameLst>
                                      </p:cBhvr>
                                      <p:rCtr x="-27400" y="200"/>
                                    </p:animMotion>
                                  </p:childTnLst>
                                </p:cTn>
                              </p:par>
                            </p:childTnLst>
                          </p:cTn>
                        </p:par>
                        <p:par>
                          <p:cTn id="28" fill="hold" nodeType="afterGroup">
                            <p:stCondLst>
                              <p:cond delay="16004"/>
                            </p:stCondLst>
                            <p:childTnLst>
                              <p:par>
                                <p:cTn id="29" presetID="1" presetClass="entr" presetSubtype="0" fill="hold" grpId="0" nodeType="afterEffect">
                                  <p:stCondLst>
                                    <p:cond delay="0"/>
                                  </p:stCondLst>
                                  <p:childTnLst>
                                    <p:set>
                                      <p:cBhvr>
                                        <p:cTn id="30" dur="1" fill="hold">
                                          <p:stCondLst>
                                            <p:cond delay="0"/>
                                          </p:stCondLst>
                                        </p:cTn>
                                        <p:tgtEl>
                                          <p:spTgt spid="142357"/>
                                        </p:tgtEl>
                                        <p:attrNameLst>
                                          <p:attrName>style.visibility</p:attrName>
                                        </p:attrNameLst>
                                      </p:cBhvr>
                                      <p:to>
                                        <p:strVal val="visible"/>
                                      </p:to>
                                    </p:set>
                                  </p:childTnLst>
                                </p:cTn>
                              </p:par>
                            </p:childTnLst>
                          </p:cTn>
                        </p:par>
                        <p:par>
                          <p:cTn id="31" fill="hold" nodeType="afterGroup">
                            <p:stCondLst>
                              <p:cond delay="16005"/>
                            </p:stCondLst>
                            <p:childTnLst>
                              <p:par>
                                <p:cTn id="32" presetID="63" presetClass="path" presetSubtype="0" accel="50000" decel="50000" fill="hold" grpId="1" nodeType="afterEffect">
                                  <p:stCondLst>
                                    <p:cond delay="0"/>
                                  </p:stCondLst>
                                  <p:childTnLst>
                                    <p:animMotion origin="layout" path="M -2.77778E-6 1.48148E-6 L 0.7474 0.00023 " pathEditMode="relative" rAng="0" ptsTypes="AA">
                                      <p:cBhvr>
                                        <p:cTn id="33" dur="2000" fill="hold"/>
                                        <p:tgtEl>
                                          <p:spTgt spid="142357"/>
                                        </p:tgtEl>
                                        <p:attrNameLst>
                                          <p:attrName>ppt_x,ppt_y</p:attrName>
                                        </p:attrNameLst>
                                      </p:cBhvr>
                                      <p:rCtr x="37300" y="0"/>
                                    </p:animMotion>
                                  </p:childTnLst>
                                </p:cTn>
                              </p:par>
                            </p:childTnLst>
                          </p:cTn>
                        </p:par>
                        <p:par>
                          <p:cTn id="34" fill="hold" nodeType="afterGroup">
                            <p:stCondLst>
                              <p:cond delay="18005"/>
                            </p:stCondLst>
                            <p:childTnLst>
                              <p:par>
                                <p:cTn id="35" presetID="1" presetClass="exit" presetSubtype="0" fill="hold" grpId="2" nodeType="afterEffect">
                                  <p:stCondLst>
                                    <p:cond delay="0"/>
                                  </p:stCondLst>
                                  <p:childTnLst>
                                    <p:set>
                                      <p:cBhvr>
                                        <p:cTn id="36" dur="1" fill="hold">
                                          <p:stCondLst>
                                            <p:cond delay="0"/>
                                          </p:stCondLst>
                                        </p:cTn>
                                        <p:tgtEl>
                                          <p:spTgt spid="142357"/>
                                        </p:tgtEl>
                                        <p:attrNameLst>
                                          <p:attrName>style.visibility</p:attrName>
                                        </p:attrNameLst>
                                      </p:cBhvr>
                                      <p:to>
                                        <p:strVal val="hidden"/>
                                      </p:to>
                                    </p:set>
                                  </p:childTnLst>
                                </p:cTn>
                              </p:par>
                            </p:childTnLst>
                          </p:cTn>
                        </p:par>
                        <p:par>
                          <p:cTn id="37" fill="hold" nodeType="afterGroup">
                            <p:stCondLst>
                              <p:cond delay="18006"/>
                            </p:stCondLst>
                            <p:childTnLst>
                              <p:par>
                                <p:cTn id="38" presetID="1" presetClass="entr" presetSubtype="0" fill="hold" grpId="0" nodeType="afterEffect">
                                  <p:stCondLst>
                                    <p:cond delay="0"/>
                                  </p:stCondLst>
                                  <p:childTnLst>
                                    <p:set>
                                      <p:cBhvr>
                                        <p:cTn id="39" dur="1" fill="hold">
                                          <p:stCondLst>
                                            <p:cond delay="0"/>
                                          </p:stCondLst>
                                        </p:cTn>
                                        <p:tgtEl>
                                          <p:spTgt spid="142358"/>
                                        </p:tgtEl>
                                        <p:attrNameLst>
                                          <p:attrName>style.visibility</p:attrName>
                                        </p:attrNameLst>
                                      </p:cBhvr>
                                      <p:to>
                                        <p:strVal val="visible"/>
                                      </p:to>
                                    </p:set>
                                  </p:childTnLst>
                                </p:cTn>
                              </p:par>
                            </p:childTnLst>
                          </p:cTn>
                        </p:par>
                        <p:par>
                          <p:cTn id="40" fill="hold" nodeType="afterGroup">
                            <p:stCondLst>
                              <p:cond delay="18007"/>
                            </p:stCondLst>
                            <p:childTnLst>
                              <p:par>
                                <p:cTn id="41" presetID="35" presetClass="path" presetSubtype="0" accel="50000" decel="50000" fill="hold" grpId="1" nodeType="afterEffect">
                                  <p:stCondLst>
                                    <p:cond delay="0"/>
                                  </p:stCondLst>
                                  <p:childTnLst>
                                    <p:animMotion origin="layout" path="M 1.38889E-6 -1.85185E-6 L -0.74722 0.00926 " pathEditMode="relative" rAng="0" ptsTypes="AA">
                                      <p:cBhvr>
                                        <p:cTn id="42" dur="2000" fill="hold"/>
                                        <p:tgtEl>
                                          <p:spTgt spid="142358"/>
                                        </p:tgtEl>
                                        <p:attrNameLst>
                                          <p:attrName>ppt_x,ppt_y</p:attrName>
                                        </p:attrNameLst>
                                      </p:cBhvr>
                                      <p:rCtr x="-37300" y="400"/>
                                    </p:animMotion>
                                  </p:childTnLst>
                                </p:cTn>
                              </p:par>
                            </p:childTnLst>
                          </p:cTn>
                        </p:par>
                        <p:par>
                          <p:cTn id="43" fill="hold" nodeType="afterGroup">
                            <p:stCondLst>
                              <p:cond delay="20007"/>
                            </p:stCondLst>
                            <p:childTnLst>
                              <p:par>
                                <p:cTn id="44" presetID="1" presetClass="exit" presetSubtype="0" fill="hold" grpId="2" nodeType="afterEffect">
                                  <p:stCondLst>
                                    <p:cond delay="0"/>
                                  </p:stCondLst>
                                  <p:childTnLst>
                                    <p:set>
                                      <p:cBhvr>
                                        <p:cTn id="45" dur="1" fill="hold">
                                          <p:stCondLst>
                                            <p:cond delay="0"/>
                                          </p:stCondLst>
                                        </p:cTn>
                                        <p:tgtEl>
                                          <p:spTgt spid="142358"/>
                                        </p:tgtEl>
                                        <p:attrNameLst>
                                          <p:attrName>style.visibility</p:attrName>
                                        </p:attrNameLst>
                                      </p:cBhvr>
                                      <p:to>
                                        <p:strVal val="hidden"/>
                                      </p:to>
                                    </p:set>
                                  </p:childTnLst>
                                </p:cTn>
                              </p:par>
                            </p:childTnLst>
                          </p:cTn>
                        </p:par>
                        <p:par>
                          <p:cTn id="46" fill="hold" nodeType="afterGroup">
                            <p:stCondLst>
                              <p:cond delay="20008"/>
                            </p:stCondLst>
                            <p:childTnLst>
                              <p:par>
                                <p:cTn id="47" presetID="1" presetClass="entr" presetSubtype="0" fill="hold" grpId="0" nodeType="afterEffect">
                                  <p:stCondLst>
                                    <p:cond delay="0"/>
                                  </p:stCondLst>
                                  <p:childTnLst>
                                    <p:set>
                                      <p:cBhvr>
                                        <p:cTn id="48" dur="1" fill="hold">
                                          <p:stCondLst>
                                            <p:cond delay="0"/>
                                          </p:stCondLst>
                                        </p:cTn>
                                        <p:tgtEl>
                                          <p:spTgt spid="142359"/>
                                        </p:tgtEl>
                                        <p:attrNameLst>
                                          <p:attrName>style.visibility</p:attrName>
                                        </p:attrNameLst>
                                      </p:cBhvr>
                                      <p:to>
                                        <p:strVal val="visible"/>
                                      </p:to>
                                    </p:set>
                                  </p:childTnLst>
                                </p:cTn>
                              </p:par>
                            </p:childTnLst>
                          </p:cTn>
                        </p:par>
                        <p:par>
                          <p:cTn id="49" fill="hold" nodeType="afterGroup">
                            <p:stCondLst>
                              <p:cond delay="20009"/>
                            </p:stCondLst>
                            <p:childTnLst>
                              <p:par>
                                <p:cTn id="50" presetID="63" presetClass="path" presetSubtype="0" accel="50000" decel="50000" fill="hold" grpId="1" nodeType="afterEffect">
                                  <p:stCondLst>
                                    <p:cond delay="0"/>
                                  </p:stCondLst>
                                  <p:childTnLst>
                                    <p:animMotion origin="layout" path="M -2.77778E-6 -4.81481E-6 L 0.73941 -0.00231 " pathEditMode="relative" rAng="0" ptsTypes="AA">
                                      <p:cBhvr>
                                        <p:cTn id="51" dur="2000" fill="hold"/>
                                        <p:tgtEl>
                                          <p:spTgt spid="142359"/>
                                        </p:tgtEl>
                                        <p:attrNameLst>
                                          <p:attrName>ppt_x,ppt_y</p:attrName>
                                        </p:attrNameLst>
                                      </p:cBhvr>
                                      <p:rCtr x="36900" y="-100"/>
                                    </p:animMotion>
                                  </p:childTnLst>
                                </p:cTn>
                              </p:par>
                            </p:childTnLst>
                          </p:cTn>
                        </p:par>
                        <p:par>
                          <p:cTn id="52" fill="hold" nodeType="afterGroup">
                            <p:stCondLst>
                              <p:cond delay="22009"/>
                            </p:stCondLst>
                            <p:childTnLst>
                              <p:par>
                                <p:cTn id="53" presetID="1" presetClass="exit" presetSubtype="0" fill="hold" grpId="2" nodeType="afterEffect">
                                  <p:stCondLst>
                                    <p:cond delay="0"/>
                                  </p:stCondLst>
                                  <p:childTnLst>
                                    <p:set>
                                      <p:cBhvr>
                                        <p:cTn id="54" dur="1" fill="hold">
                                          <p:stCondLst>
                                            <p:cond delay="0"/>
                                          </p:stCondLst>
                                        </p:cTn>
                                        <p:tgtEl>
                                          <p:spTgt spid="142359"/>
                                        </p:tgtEl>
                                        <p:attrNameLst>
                                          <p:attrName>style.visibility</p:attrName>
                                        </p:attrNameLst>
                                      </p:cBhvr>
                                      <p:to>
                                        <p:strVal val="hidden"/>
                                      </p:to>
                                    </p:set>
                                  </p:childTnLst>
                                </p:cTn>
                              </p:par>
                            </p:childTnLst>
                          </p:cTn>
                        </p:par>
                        <p:par>
                          <p:cTn id="55" fill="hold" nodeType="afterGroup">
                            <p:stCondLst>
                              <p:cond delay="22010"/>
                            </p:stCondLst>
                            <p:childTnLst>
                              <p:par>
                                <p:cTn id="56" presetID="1" presetClass="entr" presetSubtype="0" fill="hold" grpId="0" nodeType="afterEffect">
                                  <p:stCondLst>
                                    <p:cond delay="0"/>
                                  </p:stCondLst>
                                  <p:childTnLst>
                                    <p:set>
                                      <p:cBhvr>
                                        <p:cTn id="57" dur="1" fill="hold">
                                          <p:stCondLst>
                                            <p:cond delay="0"/>
                                          </p:stCondLst>
                                        </p:cTn>
                                        <p:tgtEl>
                                          <p:spTgt spid="142360"/>
                                        </p:tgtEl>
                                        <p:attrNameLst>
                                          <p:attrName>style.visibility</p:attrName>
                                        </p:attrNameLst>
                                      </p:cBhvr>
                                      <p:to>
                                        <p:strVal val="visible"/>
                                      </p:to>
                                    </p:set>
                                  </p:childTnLst>
                                </p:cTn>
                              </p:par>
                            </p:childTnLst>
                          </p:cTn>
                        </p:par>
                        <p:par>
                          <p:cTn id="58" fill="hold" nodeType="afterGroup">
                            <p:stCondLst>
                              <p:cond delay="22011"/>
                            </p:stCondLst>
                            <p:childTnLst>
                              <p:par>
                                <p:cTn id="59" presetID="35" presetClass="path" presetSubtype="0" accel="50000" decel="50000" fill="hold" grpId="1" nodeType="afterEffect">
                                  <p:stCondLst>
                                    <p:cond delay="0"/>
                                  </p:stCondLst>
                                  <p:childTnLst>
                                    <p:animMotion origin="layout" path="M 1.38889E-6 1.85185E-6 L -0.74722 0.00671 " pathEditMode="relative" rAng="0" ptsTypes="AA">
                                      <p:cBhvr>
                                        <p:cTn id="60" dur="2000" fill="hold"/>
                                        <p:tgtEl>
                                          <p:spTgt spid="142360"/>
                                        </p:tgtEl>
                                        <p:attrNameLst>
                                          <p:attrName>ppt_x,ppt_y</p:attrName>
                                        </p:attrNameLst>
                                      </p:cBhvr>
                                      <p:rCtr x="-37300" y="300"/>
                                    </p:animMotion>
                                  </p:childTnLst>
                                </p:cTn>
                              </p:par>
                            </p:childTnLst>
                          </p:cTn>
                        </p:par>
                        <p:par>
                          <p:cTn id="61" fill="hold" nodeType="afterGroup">
                            <p:stCondLst>
                              <p:cond delay="24011"/>
                            </p:stCondLst>
                            <p:childTnLst>
                              <p:par>
                                <p:cTn id="62" presetID="1" presetClass="exit" presetSubtype="0" fill="hold" grpId="2" nodeType="afterEffect">
                                  <p:stCondLst>
                                    <p:cond delay="0"/>
                                  </p:stCondLst>
                                  <p:childTnLst>
                                    <p:set>
                                      <p:cBhvr>
                                        <p:cTn id="63" dur="1" fill="hold">
                                          <p:stCondLst>
                                            <p:cond delay="0"/>
                                          </p:stCondLst>
                                        </p:cTn>
                                        <p:tgtEl>
                                          <p:spTgt spid="142360"/>
                                        </p:tgtEl>
                                        <p:attrNameLst>
                                          <p:attrName>style.visibility</p:attrName>
                                        </p:attrNameLst>
                                      </p:cBhvr>
                                      <p:to>
                                        <p:strVal val="hidden"/>
                                      </p:to>
                                    </p:set>
                                  </p:childTnLst>
                                </p:cTn>
                              </p:par>
                            </p:childTnLst>
                          </p:cTn>
                        </p:par>
                        <p:par>
                          <p:cTn id="64" fill="hold" nodeType="afterGroup">
                            <p:stCondLst>
                              <p:cond delay="24012"/>
                            </p:stCondLst>
                            <p:childTnLst>
                              <p:par>
                                <p:cTn id="65" presetID="1" presetClass="entr" presetSubtype="0" fill="hold" grpId="0" nodeType="afterEffect">
                                  <p:stCondLst>
                                    <p:cond delay="0"/>
                                  </p:stCondLst>
                                  <p:childTnLst>
                                    <p:set>
                                      <p:cBhvr>
                                        <p:cTn id="66" dur="1" fill="hold">
                                          <p:stCondLst>
                                            <p:cond delay="0"/>
                                          </p:stCondLst>
                                        </p:cTn>
                                        <p:tgtEl>
                                          <p:spTgt spid="142361"/>
                                        </p:tgtEl>
                                        <p:attrNameLst>
                                          <p:attrName>style.visibility</p:attrName>
                                        </p:attrNameLst>
                                      </p:cBhvr>
                                      <p:to>
                                        <p:strVal val="visible"/>
                                      </p:to>
                                    </p:set>
                                  </p:childTnLst>
                                </p:cTn>
                              </p:par>
                            </p:childTnLst>
                          </p:cTn>
                        </p:par>
                        <p:par>
                          <p:cTn id="67" fill="hold" nodeType="afterGroup">
                            <p:stCondLst>
                              <p:cond delay="24013"/>
                            </p:stCondLst>
                            <p:childTnLst>
                              <p:par>
                                <p:cTn id="68" presetID="63" presetClass="path" presetSubtype="0" accel="50000" decel="50000" fill="hold" grpId="1" nodeType="afterEffect">
                                  <p:stCondLst>
                                    <p:cond delay="0"/>
                                  </p:stCondLst>
                                  <p:childTnLst>
                                    <p:animMotion origin="layout" path="M -2.77778E-6 -1.11111E-6 L 0.7474 -0.00486 " pathEditMode="relative" rAng="0" ptsTypes="AA">
                                      <p:cBhvr>
                                        <p:cTn id="69" dur="2000" fill="hold"/>
                                        <p:tgtEl>
                                          <p:spTgt spid="142361"/>
                                        </p:tgtEl>
                                        <p:attrNameLst>
                                          <p:attrName>ppt_x,ppt_y</p:attrName>
                                        </p:attrNameLst>
                                      </p:cBhvr>
                                      <p:rCtr x="37300" y="-200"/>
                                    </p:animMotion>
                                  </p:childTnLst>
                                </p:cTn>
                              </p:par>
                            </p:childTnLst>
                          </p:cTn>
                        </p:par>
                        <p:par>
                          <p:cTn id="70" fill="hold" nodeType="afterGroup">
                            <p:stCondLst>
                              <p:cond delay="26013"/>
                            </p:stCondLst>
                            <p:childTnLst>
                              <p:par>
                                <p:cTn id="71" presetID="1" presetClass="exit" presetSubtype="0" fill="hold" grpId="2" nodeType="afterEffect">
                                  <p:stCondLst>
                                    <p:cond delay="0"/>
                                  </p:stCondLst>
                                  <p:childTnLst>
                                    <p:set>
                                      <p:cBhvr>
                                        <p:cTn id="72" dur="1" fill="hold">
                                          <p:stCondLst>
                                            <p:cond delay="0"/>
                                          </p:stCondLst>
                                        </p:cTn>
                                        <p:tgtEl>
                                          <p:spTgt spid="142361"/>
                                        </p:tgtEl>
                                        <p:attrNameLst>
                                          <p:attrName>style.visibility</p:attrName>
                                        </p:attrNameLst>
                                      </p:cBhvr>
                                      <p:to>
                                        <p:strVal val="hidden"/>
                                      </p:to>
                                    </p:set>
                                  </p:childTnLst>
                                </p:cTn>
                              </p:par>
                            </p:childTnLst>
                          </p:cTn>
                        </p:par>
                        <p:par>
                          <p:cTn id="73" fill="hold" nodeType="afterGroup">
                            <p:stCondLst>
                              <p:cond delay="26014"/>
                            </p:stCondLst>
                            <p:childTnLst>
                              <p:par>
                                <p:cTn id="74" presetID="1" presetClass="entr" presetSubtype="0" fill="hold" grpId="0" nodeType="afterEffect">
                                  <p:stCondLst>
                                    <p:cond delay="0"/>
                                  </p:stCondLst>
                                  <p:childTnLst>
                                    <p:set>
                                      <p:cBhvr>
                                        <p:cTn id="75" dur="1" fill="hold">
                                          <p:stCondLst>
                                            <p:cond delay="0"/>
                                          </p:stCondLst>
                                        </p:cTn>
                                        <p:tgtEl>
                                          <p:spTgt spid="142362"/>
                                        </p:tgtEl>
                                        <p:attrNameLst>
                                          <p:attrName>style.visibility</p:attrName>
                                        </p:attrNameLst>
                                      </p:cBhvr>
                                      <p:to>
                                        <p:strVal val="visible"/>
                                      </p:to>
                                    </p:set>
                                  </p:childTnLst>
                                </p:cTn>
                              </p:par>
                            </p:childTnLst>
                          </p:cTn>
                        </p:par>
                        <p:par>
                          <p:cTn id="76" fill="hold" nodeType="afterGroup">
                            <p:stCondLst>
                              <p:cond delay="26015"/>
                            </p:stCondLst>
                            <p:childTnLst>
                              <p:par>
                                <p:cTn id="77" presetID="35" presetClass="path" presetSubtype="0" accel="50000" decel="50000" fill="hold" grpId="1" nodeType="afterEffect">
                                  <p:stCondLst>
                                    <p:cond delay="0"/>
                                  </p:stCondLst>
                                  <p:childTnLst>
                                    <p:animMotion origin="layout" path="M 1.38889E-6 -4.44444E-6 L -0.74722 0.00417 " pathEditMode="relative" rAng="0" ptsTypes="AA">
                                      <p:cBhvr>
                                        <p:cTn id="78" dur="2000" fill="hold"/>
                                        <p:tgtEl>
                                          <p:spTgt spid="142362"/>
                                        </p:tgtEl>
                                        <p:attrNameLst>
                                          <p:attrName>ppt_x,ppt_y</p:attrName>
                                        </p:attrNameLst>
                                      </p:cBhvr>
                                      <p:rCtr x="-37300" y="200"/>
                                    </p:animMotion>
                                  </p:childTnLst>
                                </p:cTn>
                              </p:par>
                            </p:childTnLst>
                          </p:cTn>
                        </p:par>
                        <p:par>
                          <p:cTn id="79" fill="hold" nodeType="afterGroup">
                            <p:stCondLst>
                              <p:cond delay="28015"/>
                            </p:stCondLst>
                            <p:childTnLst>
                              <p:par>
                                <p:cTn id="80" presetID="1" presetClass="exit" presetSubtype="0" fill="hold" grpId="2" nodeType="afterEffect">
                                  <p:stCondLst>
                                    <p:cond delay="0"/>
                                  </p:stCondLst>
                                  <p:childTnLst>
                                    <p:set>
                                      <p:cBhvr>
                                        <p:cTn id="81" dur="1" fill="hold">
                                          <p:stCondLst>
                                            <p:cond delay="0"/>
                                          </p:stCondLst>
                                        </p:cTn>
                                        <p:tgtEl>
                                          <p:spTgt spid="142362"/>
                                        </p:tgtEl>
                                        <p:attrNameLst>
                                          <p:attrName>style.visibility</p:attrName>
                                        </p:attrNameLst>
                                      </p:cBhvr>
                                      <p:to>
                                        <p:strVal val="hidden"/>
                                      </p:to>
                                    </p:set>
                                  </p:childTnLst>
                                </p:cTn>
                              </p:par>
                            </p:childTnLst>
                          </p:cTn>
                        </p:par>
                        <p:par>
                          <p:cTn id="82" fill="hold" nodeType="afterGroup">
                            <p:stCondLst>
                              <p:cond delay="28016"/>
                            </p:stCondLst>
                            <p:childTnLst>
                              <p:par>
                                <p:cTn id="83" presetID="4" presetClass="entr" presetSubtype="32" fill="hold" grpId="0" nodeType="afterEffect">
                                  <p:stCondLst>
                                    <p:cond delay="0"/>
                                  </p:stCondLst>
                                  <p:childTnLst>
                                    <p:set>
                                      <p:cBhvr>
                                        <p:cTn id="84" dur="1" fill="hold">
                                          <p:stCondLst>
                                            <p:cond delay="0"/>
                                          </p:stCondLst>
                                        </p:cTn>
                                        <p:tgtEl>
                                          <p:spTgt spid="142363"/>
                                        </p:tgtEl>
                                        <p:attrNameLst>
                                          <p:attrName>style.visibility</p:attrName>
                                        </p:attrNameLst>
                                      </p:cBhvr>
                                      <p:to>
                                        <p:strVal val="visible"/>
                                      </p:to>
                                    </p:set>
                                    <p:animEffect transition="in" filter="box(out)">
                                      <p:cBhvr>
                                        <p:cTn id="85" dur="1000"/>
                                        <p:tgtEl>
                                          <p:spTgt spid="142363"/>
                                        </p:tgtEl>
                                      </p:cBhvr>
                                    </p:animEffect>
                                  </p:childTnLst>
                                </p:cTn>
                              </p:par>
                            </p:childTnLst>
                          </p:cTn>
                        </p:par>
                        <p:par>
                          <p:cTn id="86" fill="hold" nodeType="afterGroup">
                            <p:stCondLst>
                              <p:cond delay="29016"/>
                            </p:stCondLst>
                            <p:childTnLst>
                              <p:par>
                                <p:cTn id="87" presetID="6" presetClass="emph" presetSubtype="0" fill="hold" grpId="1" nodeType="afterEffect">
                                  <p:stCondLst>
                                    <p:cond delay="0"/>
                                  </p:stCondLst>
                                  <p:childTnLst>
                                    <p:animScale>
                                      <p:cBhvr>
                                        <p:cTn id="88" dur="2000" fill="hold"/>
                                        <p:tgtEl>
                                          <p:spTgt spid="14236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7" grpId="0"/>
      <p:bldP spid="142357" grpId="1"/>
      <p:bldP spid="142357" grpId="2"/>
      <p:bldP spid="142358" grpId="0"/>
      <p:bldP spid="142358" grpId="1"/>
      <p:bldP spid="142358" grpId="2"/>
      <p:bldP spid="142359" grpId="0"/>
      <p:bldP spid="142359" grpId="1"/>
      <p:bldP spid="142359" grpId="2"/>
      <p:bldP spid="142360" grpId="0"/>
      <p:bldP spid="142360" grpId="1"/>
      <p:bldP spid="142360" grpId="2"/>
      <p:bldP spid="142361" grpId="0"/>
      <p:bldP spid="142361" grpId="1"/>
      <p:bldP spid="142361" grpId="2"/>
      <p:bldP spid="142362" grpId="0"/>
      <p:bldP spid="142362" grpId="1"/>
      <p:bldP spid="142362" grpId="2"/>
      <p:bldP spid="142363" grpId="0" animBg="1"/>
      <p:bldP spid="142363"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结论</a:t>
            </a:r>
          </a:p>
        </p:txBody>
      </p:sp>
      <p:sp>
        <p:nvSpPr>
          <p:cNvPr id="143363"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这样无限循环下去，两边的蓝军都始终无法确定自己最后发出的电文对方是否已经收到。</a:t>
            </a:r>
          </a:p>
          <a:p>
            <a:r>
              <a:rPr lang="zh-CN" altLang="en-US" smtClean="0">
                <a:solidFill>
                  <a:srgbClr val="FF0000"/>
                </a:solidFill>
                <a:ea typeface="黑体" panose="02010609060101010101" pitchFamily="49" charset="-122"/>
              </a:rPr>
              <a:t>没有一种协议能够使蓝军 </a:t>
            </a:r>
            <a:r>
              <a:rPr lang="en-US" altLang="zh-CN" smtClean="0">
                <a:solidFill>
                  <a:srgbClr val="FF0000"/>
                </a:solidFill>
                <a:ea typeface="黑体" panose="02010609060101010101" pitchFamily="49" charset="-122"/>
              </a:rPr>
              <a:t>100% </a:t>
            </a:r>
            <a:r>
              <a:rPr lang="zh-CN" altLang="en-US" smtClean="0">
                <a:solidFill>
                  <a:srgbClr val="FF0000"/>
                </a:solidFill>
                <a:ea typeface="黑体" panose="02010609060101010101" pitchFamily="49" charset="-122"/>
              </a:rPr>
              <a:t>获胜。</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这个例子告诉我们，看似非常简单的协议，设计起来要考虑的问题还是比较多的</a:t>
            </a:r>
            <a:r>
              <a:rPr lang="zh-CN" altLang="en-US" smtClean="0">
                <a:ea typeface="黑体" panose="02010609060101010101" pitchFamily="49" charset="-122"/>
              </a:rPr>
              <a:t>。</a:t>
            </a:r>
          </a:p>
        </p:txBody>
      </p:sp>
      <p:sp>
        <p:nvSpPr>
          <p:cNvPr id="2488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F0DB25-3D25-49C8-8E68-DBAAC9E4A217}" type="slidenum">
              <a:rPr lang="zh-CN" altLang="en-US" smtClean="0"/>
              <a:pPr eaLnBrk="1" hangingPunct="1"/>
              <a:t>50</a:t>
            </a:fld>
            <a:endParaRPr lang="en-US" altLang="zh-CN" smtClean="0"/>
          </a:p>
        </p:txBody>
      </p:sp>
      <p:sp>
        <p:nvSpPr>
          <p:cNvPr id="2488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Rectangle 4"/>
          <p:cNvSpPr>
            <a:spLocks noGrp="1" noChangeArrowheads="1"/>
          </p:cNvSpPr>
          <p:nvPr>
            <p:ph type="title"/>
          </p:nvPr>
        </p:nvSpPr>
        <p:spPr/>
        <p:txBody>
          <a:bodyPr/>
          <a:lstStyle/>
          <a:p>
            <a:r>
              <a:rPr lang="en-US" altLang="zh-CN" smtClean="0">
                <a:ea typeface="黑体" panose="02010609060101010101" pitchFamily="49" charset="-122"/>
              </a:rPr>
              <a:t>1.7.5  TCP/IP </a:t>
            </a:r>
            <a:r>
              <a:rPr lang="zh-CN" altLang="zh-CN" smtClean="0">
                <a:ea typeface="黑体" panose="02010609060101010101" pitchFamily="49" charset="-122"/>
              </a:rPr>
              <a:t>的体系结构</a:t>
            </a:r>
            <a:endParaRPr lang="zh-CN" altLang="en-US" smtClean="0">
              <a:ea typeface="黑体" panose="02010609060101010101" pitchFamily="49" charset="-122"/>
            </a:endParaRPr>
          </a:p>
        </p:txBody>
      </p:sp>
      <p:graphicFrame>
        <p:nvGraphicFramePr>
          <p:cNvPr id="250882" name="Object 2"/>
          <p:cNvGraphicFramePr>
            <a:graphicFrameLocks noGrp="1" noChangeAspect="1"/>
          </p:cNvGraphicFramePr>
          <p:nvPr>
            <p:ph idx="4294967295"/>
          </p:nvPr>
        </p:nvGraphicFramePr>
        <p:xfrm>
          <a:off x="2449513" y="4341813"/>
          <a:ext cx="2106612" cy="1111250"/>
        </p:xfrm>
        <a:graphic>
          <a:graphicData uri="http://schemas.openxmlformats.org/presentationml/2006/ole">
            <mc:AlternateContent xmlns:mc="http://schemas.openxmlformats.org/markup-compatibility/2006">
              <mc:Choice xmlns:v="urn:schemas-microsoft-com:vml" Requires="v">
                <p:oleObj spid="_x0000_s250945" r:id="rId4" imgW="1687068" imgH="964692" progId="">
                  <p:embed/>
                </p:oleObj>
              </mc:Choice>
              <mc:Fallback>
                <p:oleObj r:id="rId4" imgW="1687068" imgH="964692" progId="">
                  <p:embed/>
                  <p:pic>
                    <p:nvPicPr>
                      <p:cNvPr id="0" name="Object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9513" y="4341813"/>
                        <a:ext cx="2106612" cy="1111250"/>
                      </a:xfrm>
                      <a:prstGeom prst="rect">
                        <a:avLst/>
                      </a:prstGeom>
                    </p:spPr>
                  </p:pic>
                </p:oleObj>
              </mc:Fallback>
            </mc:AlternateContent>
          </a:graphicData>
        </a:graphic>
      </p:graphicFrame>
      <p:graphicFrame>
        <p:nvGraphicFramePr>
          <p:cNvPr id="250883" name="Object 3"/>
          <p:cNvGraphicFramePr>
            <a:graphicFrameLocks noChangeAspect="1"/>
          </p:cNvGraphicFramePr>
          <p:nvPr/>
        </p:nvGraphicFramePr>
        <p:xfrm>
          <a:off x="5654675" y="4373563"/>
          <a:ext cx="2106613" cy="1111250"/>
        </p:xfrm>
        <a:graphic>
          <a:graphicData uri="http://schemas.openxmlformats.org/presentationml/2006/ole">
            <mc:AlternateContent xmlns:mc="http://schemas.openxmlformats.org/markup-compatibility/2006">
              <mc:Choice xmlns:v="urn:schemas-microsoft-com:vml" Requires="v">
                <p:oleObj spid="_x0000_s250946" r:id="rId6" imgW="1687068" imgH="964692" progId="">
                  <p:embed/>
                </p:oleObj>
              </mc:Choice>
              <mc:Fallback>
                <p:oleObj r:id="rId6" imgW="1687068" imgH="964692"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4675" y="4373563"/>
                        <a:ext cx="2106613"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0884" name="AutoShape 5"/>
          <p:cNvSpPr>
            <a:spLocks noChangeArrowheads="1"/>
          </p:cNvSpPr>
          <p:nvPr/>
        </p:nvSpPr>
        <p:spPr bwMode="auto">
          <a:xfrm>
            <a:off x="1319213" y="2016125"/>
            <a:ext cx="1722437" cy="2273300"/>
          </a:xfrm>
          <a:prstGeom prst="cube">
            <a:avLst>
              <a:gd name="adj" fmla="val 25301"/>
            </a:avLst>
          </a:prstGeom>
          <a:solidFill>
            <a:srgbClr val="FFFF66"/>
          </a:solidFill>
          <a:ln w="2857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85" name="Freeform 6"/>
          <p:cNvSpPr>
            <a:spLocks noChangeArrowheads="1"/>
          </p:cNvSpPr>
          <p:nvPr/>
        </p:nvSpPr>
        <p:spPr bwMode="auto">
          <a:xfrm>
            <a:off x="1317625" y="2406650"/>
            <a:ext cx="1719263" cy="365125"/>
          </a:xfrm>
          <a:custGeom>
            <a:avLst/>
            <a:gdLst>
              <a:gd name="T0" fmla="*/ 1000 w 1000"/>
              <a:gd name="T1" fmla="*/ 0 h 230"/>
              <a:gd name="T2" fmla="*/ 770 w 1000"/>
              <a:gd name="T3" fmla="*/ 226 h 230"/>
              <a:gd name="T4" fmla="*/ 0 w 1000"/>
              <a:gd name="T5" fmla="*/ 230 h 230"/>
            </a:gdLst>
            <a:ahLst/>
            <a:cxnLst>
              <a:cxn ang="0">
                <a:pos x="T0" y="T1"/>
              </a:cxn>
              <a:cxn ang="0">
                <a:pos x="T2" y="T3"/>
              </a:cxn>
              <a:cxn ang="0">
                <a:pos x="T4" y="T5"/>
              </a:cxn>
            </a:cxnLst>
            <a:rect l="0" t="0" r="r" b="b"/>
            <a:pathLst>
              <a:path w="1000" h="230">
                <a:moveTo>
                  <a:pt x="1000" y="0"/>
                </a:moveTo>
                <a:lnTo>
                  <a:pt x="770" y="226"/>
                </a:lnTo>
                <a:lnTo>
                  <a:pt x="0" y="23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86" name="Text Box 7"/>
          <p:cNvSpPr txBox="1">
            <a:spLocks noChangeArrowheads="1"/>
          </p:cNvSpPr>
          <p:nvPr/>
        </p:nvSpPr>
        <p:spPr bwMode="auto">
          <a:xfrm>
            <a:off x="1539875" y="2349500"/>
            <a:ext cx="954088"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应用层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运输层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网际层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网络</a:t>
            </a:r>
          </a:p>
          <a:p>
            <a:pPr algn="ctr" eaLnBrk="0" hangingPunct="0">
              <a:lnSpc>
                <a:spcPct val="90000"/>
              </a:lnSpc>
            </a:pPr>
            <a:r>
              <a:rPr lang="zh-CN" altLang="en-US" sz="2000" b="1">
                <a:solidFill>
                  <a:srgbClr val="000099"/>
                </a:solidFill>
                <a:latin typeface="黑体" panose="02010609060101010101" pitchFamily="49" charset="-122"/>
                <a:ea typeface="黑体" panose="02010609060101010101" pitchFamily="49" charset="-122"/>
              </a:rPr>
              <a:t>接口层</a:t>
            </a:r>
          </a:p>
        </p:txBody>
      </p:sp>
      <p:sp>
        <p:nvSpPr>
          <p:cNvPr id="250887" name="Freeform 8"/>
          <p:cNvSpPr>
            <a:spLocks noChangeArrowheads="1"/>
          </p:cNvSpPr>
          <p:nvPr/>
        </p:nvSpPr>
        <p:spPr bwMode="auto">
          <a:xfrm>
            <a:off x="1314450" y="2797175"/>
            <a:ext cx="1722438" cy="387350"/>
          </a:xfrm>
          <a:custGeom>
            <a:avLst/>
            <a:gdLst>
              <a:gd name="T0" fmla="*/ 1002 w 1002"/>
              <a:gd name="T1" fmla="*/ 0 h 244"/>
              <a:gd name="T2" fmla="*/ 770 w 1002"/>
              <a:gd name="T3" fmla="*/ 240 h 244"/>
              <a:gd name="T4" fmla="*/ 0 w 1002"/>
              <a:gd name="T5" fmla="*/ 244 h 244"/>
            </a:gdLst>
            <a:ahLst/>
            <a:cxnLst>
              <a:cxn ang="0">
                <a:pos x="T0" y="T1"/>
              </a:cxn>
              <a:cxn ang="0">
                <a:pos x="T2" y="T3"/>
              </a:cxn>
              <a:cxn ang="0">
                <a:pos x="T4" y="T5"/>
              </a:cxn>
            </a:cxnLst>
            <a:rect l="0" t="0" r="r" b="b"/>
            <a:pathLst>
              <a:path w="1002" h="244">
                <a:moveTo>
                  <a:pt x="1002" y="0"/>
                </a:moveTo>
                <a:lnTo>
                  <a:pt x="770" y="240"/>
                </a:lnTo>
                <a:lnTo>
                  <a:pt x="0" y="244"/>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88" name="Freeform 9"/>
          <p:cNvSpPr>
            <a:spLocks noChangeArrowheads="1"/>
          </p:cNvSpPr>
          <p:nvPr/>
        </p:nvSpPr>
        <p:spPr bwMode="auto">
          <a:xfrm>
            <a:off x="1314450" y="3187700"/>
            <a:ext cx="1722438" cy="409575"/>
          </a:xfrm>
          <a:custGeom>
            <a:avLst/>
            <a:gdLst>
              <a:gd name="T0" fmla="*/ 1002 w 1002"/>
              <a:gd name="T1" fmla="*/ 0 h 258"/>
              <a:gd name="T2" fmla="*/ 770 w 1002"/>
              <a:gd name="T3" fmla="*/ 254 h 258"/>
              <a:gd name="T4" fmla="*/ 0 w 1002"/>
              <a:gd name="T5" fmla="*/ 258 h 258"/>
            </a:gdLst>
            <a:ahLst/>
            <a:cxnLst>
              <a:cxn ang="0">
                <a:pos x="T0" y="T1"/>
              </a:cxn>
              <a:cxn ang="0">
                <a:pos x="T2" y="T3"/>
              </a:cxn>
              <a:cxn ang="0">
                <a:pos x="T4" y="T5"/>
              </a:cxn>
            </a:cxnLst>
            <a:rect l="0" t="0" r="r" b="b"/>
            <a:pathLst>
              <a:path w="1002" h="258">
                <a:moveTo>
                  <a:pt x="1002" y="0"/>
                </a:moveTo>
                <a:lnTo>
                  <a:pt x="770" y="254"/>
                </a:lnTo>
                <a:lnTo>
                  <a:pt x="0" y="25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89" name="AutoShape 10"/>
          <p:cNvSpPr>
            <a:spLocks noChangeArrowheads="1"/>
          </p:cNvSpPr>
          <p:nvPr/>
        </p:nvSpPr>
        <p:spPr bwMode="auto">
          <a:xfrm>
            <a:off x="7593013" y="2016125"/>
            <a:ext cx="1722437" cy="2273300"/>
          </a:xfrm>
          <a:prstGeom prst="cube">
            <a:avLst>
              <a:gd name="adj" fmla="val 25301"/>
            </a:avLst>
          </a:prstGeom>
          <a:solidFill>
            <a:srgbClr val="FFFF66"/>
          </a:solidFill>
          <a:ln w="2857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0" name="Freeform 11"/>
          <p:cNvSpPr>
            <a:spLocks noChangeArrowheads="1"/>
          </p:cNvSpPr>
          <p:nvPr/>
        </p:nvSpPr>
        <p:spPr bwMode="auto">
          <a:xfrm>
            <a:off x="7591425" y="2406650"/>
            <a:ext cx="1730375" cy="365125"/>
          </a:xfrm>
          <a:custGeom>
            <a:avLst/>
            <a:gdLst>
              <a:gd name="T0" fmla="*/ 1006 w 1006"/>
              <a:gd name="T1" fmla="*/ 0 h 230"/>
              <a:gd name="T2" fmla="*/ 770 w 1006"/>
              <a:gd name="T3" fmla="*/ 226 h 230"/>
              <a:gd name="T4" fmla="*/ 0 w 1006"/>
              <a:gd name="T5" fmla="*/ 230 h 230"/>
            </a:gdLst>
            <a:ahLst/>
            <a:cxnLst>
              <a:cxn ang="0">
                <a:pos x="T0" y="T1"/>
              </a:cxn>
              <a:cxn ang="0">
                <a:pos x="T2" y="T3"/>
              </a:cxn>
              <a:cxn ang="0">
                <a:pos x="T4" y="T5"/>
              </a:cxn>
            </a:cxnLst>
            <a:rect l="0" t="0" r="r" b="b"/>
            <a:pathLst>
              <a:path w="1006" h="230">
                <a:moveTo>
                  <a:pt x="1006" y="0"/>
                </a:moveTo>
                <a:lnTo>
                  <a:pt x="770" y="226"/>
                </a:lnTo>
                <a:lnTo>
                  <a:pt x="0" y="23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1" name="Freeform 12"/>
          <p:cNvSpPr>
            <a:spLocks noChangeArrowheads="1"/>
          </p:cNvSpPr>
          <p:nvPr/>
        </p:nvSpPr>
        <p:spPr bwMode="auto">
          <a:xfrm>
            <a:off x="7588250" y="2806700"/>
            <a:ext cx="1712913" cy="377825"/>
          </a:xfrm>
          <a:custGeom>
            <a:avLst/>
            <a:gdLst>
              <a:gd name="T0" fmla="*/ 996 w 996"/>
              <a:gd name="T1" fmla="*/ 0 h 238"/>
              <a:gd name="T2" fmla="*/ 770 w 996"/>
              <a:gd name="T3" fmla="*/ 234 h 238"/>
              <a:gd name="T4" fmla="*/ 0 w 996"/>
              <a:gd name="T5" fmla="*/ 238 h 238"/>
            </a:gdLst>
            <a:ahLst/>
            <a:cxnLst>
              <a:cxn ang="0">
                <a:pos x="T0" y="T1"/>
              </a:cxn>
              <a:cxn ang="0">
                <a:pos x="T2" y="T3"/>
              </a:cxn>
              <a:cxn ang="0">
                <a:pos x="T4" y="T5"/>
              </a:cxn>
            </a:cxnLst>
            <a:rect l="0" t="0" r="r" b="b"/>
            <a:pathLst>
              <a:path w="996" h="238">
                <a:moveTo>
                  <a:pt x="996" y="0"/>
                </a:moveTo>
                <a:lnTo>
                  <a:pt x="770" y="234"/>
                </a:lnTo>
                <a:lnTo>
                  <a:pt x="0" y="238"/>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2" name="Freeform 13"/>
          <p:cNvSpPr>
            <a:spLocks noChangeArrowheads="1"/>
          </p:cNvSpPr>
          <p:nvPr/>
        </p:nvSpPr>
        <p:spPr bwMode="auto">
          <a:xfrm>
            <a:off x="7588250" y="3206750"/>
            <a:ext cx="1712913" cy="390525"/>
          </a:xfrm>
          <a:custGeom>
            <a:avLst/>
            <a:gdLst>
              <a:gd name="T0" fmla="*/ 996 w 996"/>
              <a:gd name="T1" fmla="*/ 0 h 246"/>
              <a:gd name="T2" fmla="*/ 770 w 996"/>
              <a:gd name="T3" fmla="*/ 242 h 246"/>
              <a:gd name="T4" fmla="*/ 0 w 996"/>
              <a:gd name="T5" fmla="*/ 246 h 246"/>
            </a:gdLst>
            <a:ahLst/>
            <a:cxnLst>
              <a:cxn ang="0">
                <a:pos x="T0" y="T1"/>
              </a:cxn>
              <a:cxn ang="0">
                <a:pos x="T2" y="T3"/>
              </a:cxn>
              <a:cxn ang="0">
                <a:pos x="T4" y="T5"/>
              </a:cxn>
            </a:cxnLst>
            <a:rect l="0" t="0" r="r" b="b"/>
            <a:pathLst>
              <a:path w="996" h="246">
                <a:moveTo>
                  <a:pt x="996" y="0"/>
                </a:moveTo>
                <a:lnTo>
                  <a:pt x="770" y="242"/>
                </a:lnTo>
                <a:lnTo>
                  <a:pt x="0" y="24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3" name="AutoShape 14"/>
          <p:cNvSpPr>
            <a:spLocks noChangeArrowheads="1"/>
          </p:cNvSpPr>
          <p:nvPr/>
        </p:nvSpPr>
        <p:spPr bwMode="auto">
          <a:xfrm>
            <a:off x="4413250" y="2846388"/>
            <a:ext cx="1722438" cy="1447800"/>
          </a:xfrm>
          <a:prstGeom prst="cube">
            <a:avLst>
              <a:gd name="adj" fmla="val 25301"/>
            </a:avLst>
          </a:prstGeom>
          <a:solidFill>
            <a:srgbClr val="CCFFFF"/>
          </a:solidFill>
          <a:ln w="2857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4" name="Freeform 15"/>
          <p:cNvSpPr>
            <a:spLocks noChangeArrowheads="1"/>
          </p:cNvSpPr>
          <p:nvPr/>
        </p:nvSpPr>
        <p:spPr bwMode="auto">
          <a:xfrm>
            <a:off x="4408488" y="3235325"/>
            <a:ext cx="1724025" cy="366713"/>
          </a:xfrm>
          <a:custGeom>
            <a:avLst/>
            <a:gdLst>
              <a:gd name="T0" fmla="*/ 1003 w 1003"/>
              <a:gd name="T1" fmla="*/ 0 h 231"/>
              <a:gd name="T2" fmla="*/ 770 w 1003"/>
              <a:gd name="T3" fmla="*/ 227 h 231"/>
              <a:gd name="T4" fmla="*/ 0 w 1003"/>
              <a:gd name="T5" fmla="*/ 231 h 231"/>
            </a:gdLst>
            <a:ahLst/>
            <a:cxnLst>
              <a:cxn ang="0">
                <a:pos x="T0" y="T1"/>
              </a:cxn>
              <a:cxn ang="0">
                <a:pos x="T2" y="T3"/>
              </a:cxn>
              <a:cxn ang="0">
                <a:pos x="T4" y="T5"/>
              </a:cxn>
            </a:cxnLst>
            <a:rect l="0" t="0" r="r" b="b"/>
            <a:pathLst>
              <a:path w="1003" h="231">
                <a:moveTo>
                  <a:pt x="1003" y="0"/>
                </a:moveTo>
                <a:lnTo>
                  <a:pt x="770" y="227"/>
                </a:lnTo>
                <a:lnTo>
                  <a:pt x="0" y="231"/>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0895" name="Text Box 16"/>
          <p:cNvSpPr txBox="1">
            <a:spLocks noChangeArrowheads="1"/>
          </p:cNvSpPr>
          <p:nvPr/>
        </p:nvSpPr>
        <p:spPr bwMode="auto">
          <a:xfrm>
            <a:off x="1676400" y="1557338"/>
            <a:ext cx="10271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主机</a:t>
            </a:r>
            <a:r>
              <a:rPr lang="en-US" altLang="zh-CN" sz="2400" b="1">
                <a:solidFill>
                  <a:srgbClr val="000099"/>
                </a:solidFill>
                <a:ea typeface="黑体" panose="02010609060101010101" pitchFamily="49" charset="-122"/>
              </a:rPr>
              <a:t>A</a:t>
            </a:r>
          </a:p>
        </p:txBody>
      </p:sp>
      <p:sp>
        <p:nvSpPr>
          <p:cNvPr id="250896" name="Text Box 17"/>
          <p:cNvSpPr txBox="1">
            <a:spLocks noChangeArrowheads="1"/>
          </p:cNvSpPr>
          <p:nvPr/>
        </p:nvSpPr>
        <p:spPr bwMode="auto">
          <a:xfrm>
            <a:off x="8001000" y="1557338"/>
            <a:ext cx="10255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主机</a:t>
            </a:r>
            <a:r>
              <a:rPr lang="en-US" altLang="zh-CN" sz="2400" b="1">
                <a:solidFill>
                  <a:srgbClr val="000099"/>
                </a:solidFill>
                <a:ea typeface="黑体" panose="02010609060101010101" pitchFamily="49" charset="-122"/>
              </a:rPr>
              <a:t>B</a:t>
            </a:r>
          </a:p>
        </p:txBody>
      </p:sp>
      <p:sp>
        <p:nvSpPr>
          <p:cNvPr id="250897" name="Text Box 18"/>
          <p:cNvSpPr txBox="1">
            <a:spLocks noChangeArrowheads="1"/>
          </p:cNvSpPr>
          <p:nvPr/>
        </p:nvSpPr>
        <p:spPr bwMode="auto">
          <a:xfrm>
            <a:off x="4776788" y="2390775"/>
            <a:ext cx="1112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latin typeface="黑体" panose="02010609060101010101" pitchFamily="49" charset="-122"/>
                <a:ea typeface="黑体" panose="02010609060101010101" pitchFamily="49" charset="-122"/>
              </a:rPr>
              <a:t>路由器</a:t>
            </a:r>
          </a:p>
        </p:txBody>
      </p:sp>
      <p:sp>
        <p:nvSpPr>
          <p:cNvPr id="250898" name="Text Box 19"/>
          <p:cNvSpPr txBox="1">
            <a:spLocks noChangeArrowheads="1"/>
          </p:cNvSpPr>
          <p:nvPr/>
        </p:nvSpPr>
        <p:spPr bwMode="auto">
          <a:xfrm>
            <a:off x="6259513" y="4687888"/>
            <a:ext cx="865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网络</a:t>
            </a:r>
            <a:r>
              <a:rPr lang="zh-CN" altLang="en-US" sz="600" b="1">
                <a:solidFill>
                  <a:srgbClr val="000099"/>
                </a:solidFill>
                <a:latin typeface="黑体" panose="02010609060101010101" pitchFamily="49" charset="-122"/>
                <a:ea typeface="黑体" panose="02010609060101010101" pitchFamily="49" charset="-122"/>
              </a:rPr>
              <a:t> </a:t>
            </a:r>
            <a:r>
              <a:rPr lang="en-US" altLang="zh-CN" sz="2000" b="1">
                <a:solidFill>
                  <a:srgbClr val="000099"/>
                </a:solidFill>
                <a:latin typeface="黑体" panose="02010609060101010101" pitchFamily="49" charset="-122"/>
                <a:ea typeface="黑体" panose="02010609060101010101" pitchFamily="49" charset="-122"/>
              </a:rPr>
              <a:t>2</a:t>
            </a:r>
          </a:p>
        </p:txBody>
      </p:sp>
      <p:sp>
        <p:nvSpPr>
          <p:cNvPr id="250899" name="Text Box 20"/>
          <p:cNvSpPr txBox="1">
            <a:spLocks noChangeArrowheads="1"/>
          </p:cNvSpPr>
          <p:nvPr/>
        </p:nvSpPr>
        <p:spPr bwMode="auto">
          <a:xfrm>
            <a:off x="3079750" y="4662488"/>
            <a:ext cx="858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网络</a:t>
            </a:r>
            <a:r>
              <a:rPr lang="zh-CN" altLang="en-US" sz="500" b="1">
                <a:solidFill>
                  <a:srgbClr val="000099"/>
                </a:solidFill>
                <a:latin typeface="黑体" panose="02010609060101010101" pitchFamily="49" charset="-122"/>
                <a:ea typeface="黑体" panose="02010609060101010101" pitchFamily="49" charset="-122"/>
              </a:rPr>
              <a:t> </a:t>
            </a:r>
            <a:r>
              <a:rPr lang="en-US" altLang="zh-CN" sz="2000" b="1">
                <a:solidFill>
                  <a:srgbClr val="000099"/>
                </a:solidFill>
                <a:latin typeface="黑体" panose="02010609060101010101" pitchFamily="49" charset="-122"/>
                <a:ea typeface="黑体" panose="02010609060101010101" pitchFamily="49" charset="-122"/>
              </a:rPr>
              <a:t>1</a:t>
            </a:r>
          </a:p>
        </p:txBody>
      </p:sp>
      <p:sp>
        <p:nvSpPr>
          <p:cNvPr id="250900" name="Line 21"/>
          <p:cNvSpPr>
            <a:spLocks noChangeShapeType="1"/>
          </p:cNvSpPr>
          <p:nvPr/>
        </p:nvSpPr>
        <p:spPr bwMode="auto">
          <a:xfrm>
            <a:off x="2041525" y="4291013"/>
            <a:ext cx="819150" cy="481012"/>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50901" name="Line 22"/>
          <p:cNvSpPr>
            <a:spLocks noChangeShapeType="1"/>
          </p:cNvSpPr>
          <p:nvPr/>
        </p:nvSpPr>
        <p:spPr bwMode="auto">
          <a:xfrm flipH="1">
            <a:off x="4225925" y="4291013"/>
            <a:ext cx="636588" cy="41275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50902" name="Line 23"/>
          <p:cNvSpPr>
            <a:spLocks noChangeShapeType="1"/>
          </p:cNvSpPr>
          <p:nvPr/>
        </p:nvSpPr>
        <p:spPr bwMode="auto">
          <a:xfrm>
            <a:off x="5226050" y="4291013"/>
            <a:ext cx="819150" cy="481012"/>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50903" name="Line 24"/>
          <p:cNvSpPr>
            <a:spLocks noChangeShapeType="1"/>
          </p:cNvSpPr>
          <p:nvPr/>
        </p:nvSpPr>
        <p:spPr bwMode="auto">
          <a:xfrm flipH="1">
            <a:off x="7451725" y="4291013"/>
            <a:ext cx="777875" cy="481012"/>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50904" name="Text Box 25"/>
          <p:cNvSpPr txBox="1">
            <a:spLocks noChangeArrowheads="1"/>
          </p:cNvSpPr>
          <p:nvPr/>
        </p:nvSpPr>
        <p:spPr bwMode="auto">
          <a:xfrm>
            <a:off x="7785100" y="2349500"/>
            <a:ext cx="954088"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应用层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运输层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网际层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网络</a:t>
            </a:r>
          </a:p>
          <a:p>
            <a:pPr algn="ctr" eaLnBrk="0" hangingPunct="0">
              <a:lnSpc>
                <a:spcPct val="90000"/>
              </a:lnSpc>
            </a:pPr>
            <a:r>
              <a:rPr lang="zh-CN" altLang="en-US" sz="2000" b="1">
                <a:solidFill>
                  <a:srgbClr val="000099"/>
                </a:solidFill>
                <a:latin typeface="黑体" panose="02010609060101010101" pitchFamily="49" charset="-122"/>
                <a:ea typeface="黑体" panose="02010609060101010101" pitchFamily="49" charset="-122"/>
              </a:rPr>
              <a:t>接口层</a:t>
            </a:r>
          </a:p>
        </p:txBody>
      </p:sp>
      <p:sp>
        <p:nvSpPr>
          <p:cNvPr id="250905" name="Text Box 26"/>
          <p:cNvSpPr txBox="1">
            <a:spLocks noChangeArrowheads="1"/>
          </p:cNvSpPr>
          <p:nvPr/>
        </p:nvSpPr>
        <p:spPr bwMode="auto">
          <a:xfrm>
            <a:off x="4587875" y="3124200"/>
            <a:ext cx="954088"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网际层</a:t>
            </a:r>
          </a:p>
          <a:p>
            <a:pPr algn="ctr" eaLnBrk="0" hangingPunct="0">
              <a:lnSpc>
                <a:spcPct val="130000"/>
              </a:lnSpc>
            </a:pPr>
            <a:r>
              <a:rPr lang="zh-CN" altLang="en-US" sz="2000" b="1">
                <a:solidFill>
                  <a:srgbClr val="000099"/>
                </a:solidFill>
                <a:latin typeface="黑体" panose="02010609060101010101" pitchFamily="49" charset="-122"/>
                <a:ea typeface="黑体" panose="02010609060101010101" pitchFamily="49" charset="-122"/>
              </a:rPr>
              <a:t>网络</a:t>
            </a:r>
          </a:p>
          <a:p>
            <a:pPr algn="ctr" eaLnBrk="0" hangingPunct="0">
              <a:lnSpc>
                <a:spcPct val="90000"/>
              </a:lnSpc>
            </a:pPr>
            <a:r>
              <a:rPr lang="zh-CN" altLang="en-US" sz="2000" b="1">
                <a:solidFill>
                  <a:srgbClr val="000099"/>
                </a:solidFill>
                <a:latin typeface="黑体" panose="02010609060101010101" pitchFamily="49" charset="-122"/>
                <a:ea typeface="黑体" panose="02010609060101010101" pitchFamily="49" charset="-122"/>
              </a:rPr>
              <a:t>接口层</a:t>
            </a:r>
          </a:p>
        </p:txBody>
      </p:sp>
      <p:sp>
        <p:nvSpPr>
          <p:cNvPr id="250906" name="Text Box 27"/>
          <p:cNvSpPr txBox="1">
            <a:spLocks noChangeArrowheads="1"/>
          </p:cNvSpPr>
          <p:nvPr/>
        </p:nvSpPr>
        <p:spPr bwMode="auto">
          <a:xfrm>
            <a:off x="868363" y="2333625"/>
            <a:ext cx="328612" cy="177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130000"/>
              </a:lnSpc>
            </a:pPr>
            <a:r>
              <a:rPr lang="en-US" altLang="zh-CN" sz="2000" b="1">
                <a:solidFill>
                  <a:srgbClr val="000099"/>
                </a:solidFill>
                <a:ea typeface="黑体" panose="02010609060101010101" pitchFamily="49" charset="-122"/>
              </a:rPr>
              <a:t>4</a:t>
            </a:r>
          </a:p>
          <a:p>
            <a:pPr algn="ctr" eaLnBrk="0" hangingPunct="0">
              <a:lnSpc>
                <a:spcPct val="130000"/>
              </a:lnSpc>
            </a:pPr>
            <a:r>
              <a:rPr lang="en-US" altLang="zh-CN" sz="2000" b="1">
                <a:solidFill>
                  <a:srgbClr val="000099"/>
                </a:solidFill>
                <a:ea typeface="黑体" panose="02010609060101010101" pitchFamily="49" charset="-122"/>
              </a:rPr>
              <a:t>3</a:t>
            </a:r>
          </a:p>
          <a:p>
            <a:pPr algn="ctr" eaLnBrk="0" hangingPunct="0">
              <a:lnSpc>
                <a:spcPct val="130000"/>
              </a:lnSpc>
            </a:pPr>
            <a:r>
              <a:rPr lang="en-US" altLang="zh-CN" sz="2000" b="1">
                <a:solidFill>
                  <a:srgbClr val="000099"/>
                </a:solidFill>
                <a:ea typeface="黑体" panose="02010609060101010101" pitchFamily="49" charset="-122"/>
              </a:rPr>
              <a:t>2</a:t>
            </a:r>
          </a:p>
          <a:p>
            <a:pPr algn="ctr" eaLnBrk="0" hangingPunct="0">
              <a:lnSpc>
                <a:spcPct val="155000"/>
              </a:lnSpc>
            </a:pPr>
            <a:r>
              <a:rPr lang="en-US" altLang="zh-CN" sz="2000" b="1">
                <a:solidFill>
                  <a:srgbClr val="000099"/>
                </a:solidFill>
                <a:ea typeface="黑体" panose="02010609060101010101" pitchFamily="49" charset="-122"/>
              </a:rPr>
              <a:t>1</a:t>
            </a:r>
          </a:p>
        </p:txBody>
      </p:sp>
      <p:sp>
        <p:nvSpPr>
          <p:cNvPr id="250907" name="Text Box 28"/>
          <p:cNvSpPr txBox="1">
            <a:spLocks noChangeArrowheads="1"/>
          </p:cNvSpPr>
          <p:nvPr/>
        </p:nvSpPr>
        <p:spPr bwMode="auto">
          <a:xfrm>
            <a:off x="2605088" y="5549900"/>
            <a:ext cx="5443537" cy="831850"/>
          </a:xfrm>
          <a:prstGeom prst="rect">
            <a:avLst/>
          </a:prstGeom>
          <a:solidFill>
            <a:srgbClr val="00FF99"/>
          </a:solidFill>
          <a:ln w="9525">
            <a:solidFill>
              <a:srgbClr val="000066"/>
            </a:solidFill>
            <a:round/>
            <a:headEnd/>
            <a:tailEnd/>
          </a:ln>
        </p:spPr>
        <p:txBody>
          <a:bodyPr wrap="none">
            <a:spAutoFit/>
          </a:bodyPr>
          <a:lstStyle/>
          <a:p>
            <a:pPr algn="ctr" eaLnBrk="0" hangingPunct="0"/>
            <a:r>
              <a:rPr lang="zh-CN" altLang="en-US" sz="2400" b="1">
                <a:solidFill>
                  <a:srgbClr val="000099"/>
                </a:solidFill>
                <a:latin typeface="黑体" panose="02010609060101010101" pitchFamily="49" charset="-122"/>
                <a:ea typeface="黑体" panose="02010609060101010101" pitchFamily="49" charset="-122"/>
              </a:rPr>
              <a:t>路由器在转发分组时最高只用到网际层</a:t>
            </a:r>
          </a:p>
          <a:p>
            <a:pPr algn="ctr" eaLnBrk="0" hangingPunct="0"/>
            <a:r>
              <a:rPr lang="zh-CN" altLang="en-US" sz="2400" b="1">
                <a:solidFill>
                  <a:srgbClr val="000099"/>
                </a:solidFill>
                <a:latin typeface="黑体" panose="02010609060101010101" pitchFamily="49" charset="-122"/>
                <a:ea typeface="黑体" panose="02010609060101010101" pitchFamily="49" charset="-122"/>
              </a:rPr>
              <a:t>而没有使用运输层和应用层。 </a:t>
            </a:r>
          </a:p>
        </p:txBody>
      </p:sp>
      <p:sp>
        <p:nvSpPr>
          <p:cNvPr id="250908" name="矩形 1"/>
          <p:cNvSpPr>
            <a:spLocks noChangeArrowheads="1"/>
          </p:cNvSpPr>
          <p:nvPr/>
        </p:nvSpPr>
        <p:spPr bwMode="auto">
          <a:xfrm>
            <a:off x="3443288" y="1187450"/>
            <a:ext cx="3957637" cy="5238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TCP/IP </a:t>
            </a:r>
            <a:r>
              <a:rPr lang="zh-CN" altLang="en-US" sz="2800" b="1">
                <a:solidFill>
                  <a:srgbClr val="000099"/>
                </a:solidFill>
                <a:ea typeface="黑体" panose="02010609060101010101" pitchFamily="49" charset="-122"/>
              </a:rPr>
              <a:t>是四层体系结构</a:t>
            </a:r>
          </a:p>
        </p:txBody>
      </p:sp>
      <p:sp>
        <p:nvSpPr>
          <p:cNvPr id="25090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29BFB1-7B8E-4AF6-B322-CEADBD1BEBF8}" type="slidenum">
              <a:rPr lang="zh-CN" altLang="en-US" smtClean="0"/>
              <a:pPr eaLnBrk="1" hangingPunct="1"/>
              <a:t>51</a:t>
            </a:fld>
            <a:endParaRPr lang="en-US" altLang="zh-CN" smtClean="0"/>
          </a:p>
        </p:txBody>
      </p:sp>
      <p:sp>
        <p:nvSpPr>
          <p:cNvPr id="25091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标题 1"/>
          <p:cNvSpPr>
            <a:spLocks noGrp="1" noChangeArrowheads="1"/>
          </p:cNvSpPr>
          <p:nvPr>
            <p:ph type="title"/>
          </p:nvPr>
        </p:nvSpPr>
        <p:spPr>
          <a:xfrm>
            <a:off x="495300" y="188913"/>
            <a:ext cx="8634413" cy="792162"/>
          </a:xfrm>
        </p:spPr>
        <p:txBody>
          <a:bodyPr/>
          <a:lstStyle/>
          <a:p>
            <a:pPr algn="ctr"/>
            <a:r>
              <a:rPr lang="en-US" altLang="zh-CN" sz="4000" smtClean="0">
                <a:ea typeface="黑体" panose="02010609060101010101" pitchFamily="49" charset="-122"/>
              </a:rPr>
              <a:t>TCP/IP </a:t>
            </a:r>
            <a:r>
              <a:rPr lang="zh-CN" altLang="zh-CN" sz="4000" smtClean="0">
                <a:ea typeface="黑体" panose="02010609060101010101" pitchFamily="49" charset="-122"/>
              </a:rPr>
              <a:t>体系结构</a:t>
            </a:r>
            <a:r>
              <a:rPr lang="zh-CN" altLang="en-US" sz="4000" smtClean="0">
                <a:ea typeface="黑体" panose="02010609060101010101" pitchFamily="49" charset="-122"/>
              </a:rPr>
              <a:t>的另一种表示方法</a:t>
            </a:r>
          </a:p>
        </p:txBody>
      </p:sp>
      <p:sp>
        <p:nvSpPr>
          <p:cNvPr id="252930" name="内容占位符 13"/>
          <p:cNvSpPr>
            <a:spLocks noGrp="1" noChangeArrowheads="1"/>
          </p:cNvSpPr>
          <p:nvPr>
            <p:ph idx="1"/>
          </p:nvPr>
        </p:nvSpPr>
        <p:spPr>
          <a:xfrm>
            <a:off x="495300" y="1196975"/>
            <a:ext cx="9066213" cy="4933950"/>
          </a:xfrm>
        </p:spPr>
        <p:txBody>
          <a:bodyPr/>
          <a:lstStyle/>
          <a:p>
            <a:r>
              <a:rPr lang="zh-CN" altLang="zh-CN" sz="2800" smtClean="0">
                <a:ea typeface="黑体" panose="02010609060101010101" pitchFamily="49" charset="-122"/>
              </a:rPr>
              <a:t>实际上</a:t>
            </a:r>
            <a:r>
              <a:rPr lang="zh-CN" altLang="en-US" sz="2800" smtClean="0">
                <a:ea typeface="黑体" panose="02010609060101010101" pitchFamily="49" charset="-122"/>
              </a:rPr>
              <a:t>，</a:t>
            </a:r>
            <a:r>
              <a:rPr lang="zh-CN" altLang="zh-CN" sz="2800" smtClean="0">
                <a:ea typeface="黑体" panose="02010609060101010101" pitchFamily="49" charset="-122"/>
              </a:rPr>
              <a:t>现在的互联网使用的</a:t>
            </a:r>
            <a:r>
              <a:rPr lang="en-US" altLang="zh-CN" sz="2800" smtClean="0">
                <a:ea typeface="黑体" panose="02010609060101010101" pitchFamily="49" charset="-122"/>
              </a:rPr>
              <a:t> TCP/IP </a:t>
            </a:r>
            <a:r>
              <a:rPr lang="zh-CN" altLang="zh-CN" sz="2800" smtClean="0">
                <a:ea typeface="黑体" panose="02010609060101010101" pitchFamily="49" charset="-122"/>
              </a:rPr>
              <a:t>体系结构有时已经</a:t>
            </a:r>
            <a:r>
              <a:rPr lang="zh-CN" altLang="en-US" sz="2800" smtClean="0">
                <a:ea typeface="黑体" panose="02010609060101010101" pitchFamily="49" charset="-122"/>
              </a:rPr>
              <a:t>发生了</a:t>
            </a:r>
            <a:r>
              <a:rPr lang="zh-CN" altLang="zh-CN" sz="2800" smtClean="0">
                <a:ea typeface="黑体" panose="02010609060101010101" pitchFamily="49" charset="-122"/>
              </a:rPr>
              <a:t>演变，即某些应用程序可以直接使用</a:t>
            </a:r>
            <a:r>
              <a:rPr lang="en-US" altLang="zh-CN" sz="2800" smtClean="0">
                <a:ea typeface="黑体" panose="02010609060101010101" pitchFamily="49" charset="-122"/>
              </a:rPr>
              <a:t> IP </a:t>
            </a:r>
            <a:r>
              <a:rPr lang="zh-CN" altLang="zh-CN" sz="2800" smtClean="0">
                <a:ea typeface="黑体" panose="02010609060101010101" pitchFamily="49" charset="-122"/>
              </a:rPr>
              <a:t>层，或甚至直接使用最下面的网络接口层</a:t>
            </a:r>
            <a:r>
              <a:rPr lang="zh-CN" altLang="en-US" sz="2800" smtClean="0">
                <a:ea typeface="黑体" panose="02010609060101010101" pitchFamily="49" charset="-122"/>
              </a:rPr>
              <a:t>。</a:t>
            </a:r>
          </a:p>
          <a:p>
            <a:endParaRPr lang="zh-CN" altLang="en-US" sz="2800" smtClean="0">
              <a:ea typeface="黑体" panose="02010609060101010101" pitchFamily="49" charset="-122"/>
            </a:endParaRPr>
          </a:p>
        </p:txBody>
      </p:sp>
      <p:grpSp>
        <p:nvGrpSpPr>
          <p:cNvPr id="252931" name="组合 11"/>
          <p:cNvGrpSpPr>
            <a:grpSpLocks/>
          </p:cNvGrpSpPr>
          <p:nvPr/>
        </p:nvGrpSpPr>
        <p:grpSpPr bwMode="auto">
          <a:xfrm>
            <a:off x="2700338" y="2924175"/>
            <a:ext cx="4845050" cy="2736850"/>
            <a:chOff x="2700338" y="1628775"/>
            <a:chExt cx="3562939" cy="2016125"/>
          </a:xfrm>
        </p:grpSpPr>
        <p:sp>
          <p:nvSpPr>
            <p:cNvPr id="252932" name="Rectangle 5"/>
            <p:cNvSpPr>
              <a:spLocks noChangeArrowheads="1"/>
            </p:cNvSpPr>
            <p:nvPr/>
          </p:nvSpPr>
          <p:spPr bwMode="auto">
            <a:xfrm>
              <a:off x="2700338" y="1628775"/>
              <a:ext cx="3311525" cy="2016125"/>
            </a:xfrm>
            <a:prstGeom prst="rect">
              <a:avLst/>
            </a:prstGeom>
            <a:solidFill>
              <a:schemeClr val="bg1"/>
            </a:solidFill>
            <a:ln w="2857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sz="3200" b="1">
                <a:solidFill>
                  <a:srgbClr val="000099"/>
                </a:solidFill>
                <a:ea typeface="黑体" panose="02010609060101010101" pitchFamily="49" charset="-122"/>
              </a:endParaRPr>
            </a:p>
          </p:txBody>
        </p:sp>
        <p:sp>
          <p:nvSpPr>
            <p:cNvPr id="252933" name="Line 6"/>
            <p:cNvSpPr>
              <a:spLocks noChangeShapeType="1"/>
            </p:cNvSpPr>
            <p:nvPr/>
          </p:nvSpPr>
          <p:spPr bwMode="auto">
            <a:xfrm>
              <a:off x="2700338" y="3141663"/>
              <a:ext cx="33115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黑体" panose="02010609060101010101" pitchFamily="49" charset="-122"/>
              </a:endParaRPr>
            </a:p>
          </p:txBody>
        </p:sp>
        <p:sp>
          <p:nvSpPr>
            <p:cNvPr id="252934" name="Freeform 7"/>
            <p:cNvSpPr>
              <a:spLocks noChangeArrowheads="1"/>
            </p:cNvSpPr>
            <p:nvPr/>
          </p:nvSpPr>
          <p:spPr bwMode="auto">
            <a:xfrm>
              <a:off x="2700338" y="2636838"/>
              <a:ext cx="2447925" cy="504825"/>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3200" b="1">
                <a:solidFill>
                  <a:srgbClr val="000099"/>
                </a:solidFill>
                <a:ea typeface="黑体" panose="02010609060101010101" pitchFamily="49" charset="-122"/>
              </a:endParaRPr>
            </a:p>
          </p:txBody>
        </p:sp>
        <p:sp>
          <p:nvSpPr>
            <p:cNvPr id="252935" name="Freeform 8"/>
            <p:cNvSpPr>
              <a:spLocks noChangeArrowheads="1"/>
            </p:cNvSpPr>
            <p:nvPr/>
          </p:nvSpPr>
          <p:spPr bwMode="auto">
            <a:xfrm>
              <a:off x="2700338" y="2133600"/>
              <a:ext cx="1584325" cy="504825"/>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3200" b="1">
                <a:solidFill>
                  <a:srgbClr val="000099"/>
                </a:solidFill>
                <a:ea typeface="黑体" panose="02010609060101010101" pitchFamily="49" charset="-122"/>
              </a:endParaRPr>
            </a:p>
          </p:txBody>
        </p:sp>
        <p:sp>
          <p:nvSpPr>
            <p:cNvPr id="252936" name="Line 9"/>
            <p:cNvSpPr>
              <a:spLocks noChangeShapeType="1"/>
            </p:cNvSpPr>
            <p:nvPr/>
          </p:nvSpPr>
          <p:spPr bwMode="auto">
            <a:xfrm>
              <a:off x="3492500" y="2133600"/>
              <a:ext cx="0" cy="5032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黑体" panose="02010609060101010101" pitchFamily="49" charset="-122"/>
              </a:endParaRPr>
            </a:p>
          </p:txBody>
        </p:sp>
        <p:sp>
          <p:nvSpPr>
            <p:cNvPr id="252937" name="Text Box 10"/>
            <p:cNvSpPr txBox="1">
              <a:spLocks noChangeArrowheads="1"/>
            </p:cNvSpPr>
            <p:nvPr/>
          </p:nvSpPr>
          <p:spPr bwMode="auto">
            <a:xfrm>
              <a:off x="2815009" y="2193259"/>
              <a:ext cx="1436011" cy="38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TCP   UDP</a:t>
              </a:r>
            </a:p>
          </p:txBody>
        </p:sp>
        <p:sp>
          <p:nvSpPr>
            <p:cNvPr id="252938" name="Text Box 11"/>
            <p:cNvSpPr txBox="1">
              <a:spLocks noChangeArrowheads="1"/>
            </p:cNvSpPr>
            <p:nvPr/>
          </p:nvSpPr>
          <p:spPr bwMode="auto">
            <a:xfrm>
              <a:off x="3670300" y="2722563"/>
              <a:ext cx="419794" cy="38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IP</a:t>
              </a:r>
            </a:p>
          </p:txBody>
        </p:sp>
        <p:sp>
          <p:nvSpPr>
            <p:cNvPr id="252939" name="Text Box 4"/>
            <p:cNvSpPr txBox="1">
              <a:spLocks noChangeArrowheads="1"/>
            </p:cNvSpPr>
            <p:nvPr/>
          </p:nvSpPr>
          <p:spPr bwMode="auto">
            <a:xfrm>
              <a:off x="3995738" y="1700213"/>
              <a:ext cx="1016926" cy="38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应用层</a:t>
              </a:r>
            </a:p>
          </p:txBody>
        </p:sp>
        <p:sp>
          <p:nvSpPr>
            <p:cNvPr id="252940" name="Text Box 12"/>
            <p:cNvSpPr txBox="1">
              <a:spLocks noChangeArrowheads="1"/>
            </p:cNvSpPr>
            <p:nvPr/>
          </p:nvSpPr>
          <p:spPr bwMode="auto">
            <a:xfrm>
              <a:off x="3219450" y="3213100"/>
              <a:ext cx="3043827" cy="38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网络接口层（子网层）</a:t>
              </a:r>
            </a:p>
          </p:txBody>
        </p:sp>
      </p:grpSp>
      <p:sp>
        <p:nvSpPr>
          <p:cNvPr id="252941" name="灯片编号占位符 1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04E2B6-65B8-4A9E-AF7A-75E7F416993E}" type="slidenum">
              <a:rPr lang="zh-CN" altLang="en-US" smtClean="0"/>
              <a:pPr eaLnBrk="1" hangingPunct="1"/>
              <a:t>52</a:t>
            </a:fld>
            <a:endParaRPr lang="en-US" altLang="zh-CN" smtClean="0"/>
          </a:p>
        </p:txBody>
      </p:sp>
      <p:sp>
        <p:nvSpPr>
          <p:cNvPr id="252942" name="页脚占位符 1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Rectangle 4"/>
          <p:cNvSpPr>
            <a:spLocks noGrp="1" noChangeArrowheads="1"/>
          </p:cNvSpPr>
          <p:nvPr>
            <p:ph type="title"/>
          </p:nvPr>
        </p:nvSpPr>
        <p:spPr/>
        <p:txBody>
          <a:bodyPr/>
          <a:lstStyle/>
          <a:p>
            <a:pPr algn="ctr"/>
            <a:r>
              <a:rPr lang="zh-CN" altLang="en-US" sz="4000" smtClean="0">
                <a:ea typeface="黑体" panose="02010609060101010101" pitchFamily="49" charset="-122"/>
              </a:rPr>
              <a:t>沙漏计时器形状的</a:t>
            </a:r>
            <a:r>
              <a:rPr lang="en-US" altLang="zh-CN" sz="4000" smtClean="0">
                <a:ea typeface="黑体" panose="02010609060101010101" pitchFamily="49" charset="-122"/>
              </a:rPr>
              <a:t>TCP/IP</a:t>
            </a:r>
            <a:r>
              <a:rPr lang="zh-CN" altLang="en-US" sz="4000" smtClean="0">
                <a:ea typeface="黑体" panose="02010609060101010101" pitchFamily="49" charset="-122"/>
              </a:rPr>
              <a:t>协议族 </a:t>
            </a:r>
          </a:p>
        </p:txBody>
      </p:sp>
      <p:sp>
        <p:nvSpPr>
          <p:cNvPr id="137218" name="AutoShape 2"/>
          <p:cNvSpPr>
            <a:spLocks noChangeArrowheads="1"/>
          </p:cNvSpPr>
          <p:nvPr/>
        </p:nvSpPr>
        <p:spPr bwMode="auto">
          <a:xfrm>
            <a:off x="1425575" y="3068638"/>
            <a:ext cx="7839075" cy="2808287"/>
          </a:xfrm>
          <a:prstGeom prst="triangle">
            <a:avLst>
              <a:gd name="adj" fmla="val 50000"/>
            </a:avLst>
          </a:prstGeom>
          <a:solidFill>
            <a:srgbClr val="CC99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7219" name="AutoShape 3"/>
          <p:cNvSpPr>
            <a:spLocks noChangeArrowheads="1"/>
          </p:cNvSpPr>
          <p:nvPr/>
        </p:nvSpPr>
        <p:spPr bwMode="auto">
          <a:xfrm flipV="1">
            <a:off x="1425575" y="1557338"/>
            <a:ext cx="7839075" cy="3095625"/>
          </a:xfrm>
          <a:prstGeom prst="triangle">
            <a:avLst>
              <a:gd name="adj" fmla="val 50000"/>
            </a:avLst>
          </a:prstGeom>
          <a:solidFill>
            <a:srgbClr val="CC99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3956" name="Rectangle 5"/>
          <p:cNvSpPr>
            <a:spLocks noChangeArrowheads="1"/>
          </p:cNvSpPr>
          <p:nvPr/>
        </p:nvSpPr>
        <p:spPr bwMode="auto">
          <a:xfrm>
            <a:off x="2619375" y="1747838"/>
            <a:ext cx="882650"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HTTP</a:t>
            </a:r>
          </a:p>
        </p:txBody>
      </p:sp>
      <p:sp>
        <p:nvSpPr>
          <p:cNvPr id="253957" name="Rectangle 6"/>
          <p:cNvSpPr>
            <a:spLocks noChangeArrowheads="1"/>
          </p:cNvSpPr>
          <p:nvPr/>
        </p:nvSpPr>
        <p:spPr bwMode="auto">
          <a:xfrm>
            <a:off x="4295775" y="1747838"/>
            <a:ext cx="884238"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SMTP</a:t>
            </a:r>
          </a:p>
        </p:txBody>
      </p:sp>
      <p:sp>
        <p:nvSpPr>
          <p:cNvPr id="253958" name="Rectangle 7"/>
          <p:cNvSpPr>
            <a:spLocks noChangeArrowheads="1"/>
          </p:cNvSpPr>
          <p:nvPr/>
        </p:nvSpPr>
        <p:spPr bwMode="auto">
          <a:xfrm>
            <a:off x="5532438" y="1747838"/>
            <a:ext cx="882650"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DNS</a:t>
            </a:r>
          </a:p>
        </p:txBody>
      </p:sp>
      <p:sp>
        <p:nvSpPr>
          <p:cNvPr id="253959" name="Rectangle 8"/>
          <p:cNvSpPr>
            <a:spLocks noChangeArrowheads="1"/>
          </p:cNvSpPr>
          <p:nvPr/>
        </p:nvSpPr>
        <p:spPr bwMode="auto">
          <a:xfrm>
            <a:off x="7208838" y="1747838"/>
            <a:ext cx="884237"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RTP</a:t>
            </a:r>
          </a:p>
        </p:txBody>
      </p:sp>
      <p:sp>
        <p:nvSpPr>
          <p:cNvPr id="253960" name="Rectangle 9"/>
          <p:cNvSpPr>
            <a:spLocks noChangeArrowheads="1"/>
          </p:cNvSpPr>
          <p:nvPr/>
        </p:nvSpPr>
        <p:spPr bwMode="auto">
          <a:xfrm>
            <a:off x="3413125" y="2692400"/>
            <a:ext cx="882650" cy="3937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TCP</a:t>
            </a:r>
          </a:p>
        </p:txBody>
      </p:sp>
      <p:sp>
        <p:nvSpPr>
          <p:cNvPr id="253961" name="Rectangle 10"/>
          <p:cNvSpPr>
            <a:spLocks noChangeArrowheads="1"/>
          </p:cNvSpPr>
          <p:nvPr/>
        </p:nvSpPr>
        <p:spPr bwMode="auto">
          <a:xfrm>
            <a:off x="6415088" y="2692400"/>
            <a:ext cx="884237" cy="3937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UDP</a:t>
            </a:r>
          </a:p>
        </p:txBody>
      </p:sp>
      <p:sp>
        <p:nvSpPr>
          <p:cNvPr id="137227" name="Rectangle 11"/>
          <p:cNvSpPr>
            <a:spLocks noChangeArrowheads="1"/>
          </p:cNvSpPr>
          <p:nvPr/>
        </p:nvSpPr>
        <p:spPr bwMode="auto">
          <a:xfrm>
            <a:off x="4913313" y="3797300"/>
            <a:ext cx="884237" cy="393700"/>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99"/>
                </a:solidFill>
                <a:ea typeface="黑体" panose="02010609060101010101" pitchFamily="49" charset="-122"/>
              </a:rPr>
              <a:t>IP</a:t>
            </a:r>
          </a:p>
        </p:txBody>
      </p:sp>
      <p:sp>
        <p:nvSpPr>
          <p:cNvPr id="253963" name="Rectangle 12"/>
          <p:cNvSpPr>
            <a:spLocks noChangeArrowheads="1"/>
          </p:cNvSpPr>
          <p:nvPr/>
        </p:nvSpPr>
        <p:spPr bwMode="auto">
          <a:xfrm>
            <a:off x="2619375" y="5076825"/>
            <a:ext cx="1412875"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3964" name="Rectangle 13"/>
          <p:cNvSpPr>
            <a:spLocks noChangeArrowheads="1"/>
          </p:cNvSpPr>
          <p:nvPr/>
        </p:nvSpPr>
        <p:spPr bwMode="auto">
          <a:xfrm>
            <a:off x="4473575" y="5076825"/>
            <a:ext cx="1411288"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3965" name="Rectangle 14"/>
          <p:cNvSpPr>
            <a:spLocks noChangeArrowheads="1"/>
          </p:cNvSpPr>
          <p:nvPr/>
        </p:nvSpPr>
        <p:spPr bwMode="auto">
          <a:xfrm>
            <a:off x="6681788" y="5076825"/>
            <a:ext cx="1411287"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3966" name="Line 15"/>
          <p:cNvSpPr>
            <a:spLocks noChangeShapeType="1"/>
          </p:cNvSpPr>
          <p:nvPr/>
        </p:nvSpPr>
        <p:spPr bwMode="auto">
          <a:xfrm>
            <a:off x="500063" y="4506913"/>
            <a:ext cx="7945437"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67" name="Line 16"/>
          <p:cNvSpPr>
            <a:spLocks noChangeShapeType="1"/>
          </p:cNvSpPr>
          <p:nvPr/>
        </p:nvSpPr>
        <p:spPr bwMode="auto">
          <a:xfrm>
            <a:off x="500063" y="3482975"/>
            <a:ext cx="7945437"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68" name="Line 17"/>
          <p:cNvSpPr>
            <a:spLocks noChangeShapeType="1"/>
          </p:cNvSpPr>
          <p:nvPr/>
        </p:nvSpPr>
        <p:spPr bwMode="auto">
          <a:xfrm>
            <a:off x="500063" y="2455863"/>
            <a:ext cx="7945437"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69" name="Text Box 18"/>
          <p:cNvSpPr txBox="1">
            <a:spLocks noChangeArrowheads="1"/>
          </p:cNvSpPr>
          <p:nvPr/>
        </p:nvSpPr>
        <p:spPr bwMode="auto">
          <a:xfrm>
            <a:off x="763588" y="3752850"/>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网际层</a:t>
            </a:r>
          </a:p>
        </p:txBody>
      </p:sp>
      <p:sp>
        <p:nvSpPr>
          <p:cNvPr id="253970" name="Text Box 19"/>
          <p:cNvSpPr txBox="1">
            <a:spLocks noChangeArrowheads="1"/>
          </p:cNvSpPr>
          <p:nvPr/>
        </p:nvSpPr>
        <p:spPr bwMode="auto">
          <a:xfrm>
            <a:off x="488950" y="501332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网络接口层</a:t>
            </a:r>
          </a:p>
        </p:txBody>
      </p:sp>
      <p:sp>
        <p:nvSpPr>
          <p:cNvPr id="253971" name="Text Box 20"/>
          <p:cNvSpPr txBox="1">
            <a:spLocks noChangeArrowheads="1"/>
          </p:cNvSpPr>
          <p:nvPr/>
        </p:nvSpPr>
        <p:spPr bwMode="auto">
          <a:xfrm>
            <a:off x="765175" y="27447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运输层</a:t>
            </a:r>
          </a:p>
        </p:txBody>
      </p:sp>
      <p:sp>
        <p:nvSpPr>
          <p:cNvPr id="253972" name="Text Box 21"/>
          <p:cNvSpPr txBox="1">
            <a:spLocks noChangeArrowheads="1"/>
          </p:cNvSpPr>
          <p:nvPr/>
        </p:nvSpPr>
        <p:spPr bwMode="auto">
          <a:xfrm>
            <a:off x="822325" y="173672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应用层</a:t>
            </a:r>
          </a:p>
        </p:txBody>
      </p:sp>
      <p:sp>
        <p:nvSpPr>
          <p:cNvPr id="253973" name="Text Box 22"/>
          <p:cNvSpPr txBox="1">
            <a:spLocks noChangeArrowheads="1"/>
          </p:cNvSpPr>
          <p:nvPr/>
        </p:nvSpPr>
        <p:spPr bwMode="auto">
          <a:xfrm>
            <a:off x="3638550" y="1663700"/>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253974" name="Text Box 23"/>
          <p:cNvSpPr txBox="1">
            <a:spLocks noChangeArrowheads="1"/>
          </p:cNvSpPr>
          <p:nvPr/>
        </p:nvSpPr>
        <p:spPr bwMode="auto">
          <a:xfrm>
            <a:off x="6559550" y="1663700"/>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253975" name="Text Box 24"/>
          <p:cNvSpPr txBox="1">
            <a:spLocks noChangeArrowheads="1"/>
          </p:cNvSpPr>
          <p:nvPr/>
        </p:nvSpPr>
        <p:spPr bwMode="auto">
          <a:xfrm>
            <a:off x="6067425" y="5060950"/>
            <a:ext cx="390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黑体" panose="02010609060101010101" pitchFamily="49" charset="-122"/>
              </a:rPr>
              <a:t>…</a:t>
            </a:r>
          </a:p>
        </p:txBody>
      </p:sp>
      <p:sp>
        <p:nvSpPr>
          <p:cNvPr id="253976" name="Line 25"/>
          <p:cNvSpPr>
            <a:spLocks noChangeShapeType="1"/>
          </p:cNvSpPr>
          <p:nvPr/>
        </p:nvSpPr>
        <p:spPr bwMode="auto">
          <a:xfrm>
            <a:off x="3048000" y="2168525"/>
            <a:ext cx="550863" cy="547688"/>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77" name="Line 26"/>
          <p:cNvSpPr>
            <a:spLocks noChangeShapeType="1"/>
          </p:cNvSpPr>
          <p:nvPr/>
        </p:nvSpPr>
        <p:spPr bwMode="auto">
          <a:xfrm>
            <a:off x="5956300" y="2185988"/>
            <a:ext cx="635000" cy="49530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78" name="Line 27"/>
          <p:cNvSpPr>
            <a:spLocks noChangeShapeType="1"/>
          </p:cNvSpPr>
          <p:nvPr/>
        </p:nvSpPr>
        <p:spPr bwMode="auto">
          <a:xfrm flipH="1">
            <a:off x="4089400" y="2170113"/>
            <a:ext cx="633413" cy="52070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79" name="Line 28"/>
          <p:cNvSpPr>
            <a:spLocks noChangeShapeType="1"/>
          </p:cNvSpPr>
          <p:nvPr/>
        </p:nvSpPr>
        <p:spPr bwMode="auto">
          <a:xfrm flipH="1">
            <a:off x="7031038" y="2170113"/>
            <a:ext cx="620712" cy="52705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0" name="Line 29"/>
          <p:cNvSpPr>
            <a:spLocks noChangeShapeType="1"/>
          </p:cNvSpPr>
          <p:nvPr/>
        </p:nvSpPr>
        <p:spPr bwMode="auto">
          <a:xfrm>
            <a:off x="3851275" y="3117850"/>
            <a:ext cx="1244600" cy="661988"/>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1" name="Line 30"/>
          <p:cNvSpPr>
            <a:spLocks noChangeShapeType="1"/>
          </p:cNvSpPr>
          <p:nvPr/>
        </p:nvSpPr>
        <p:spPr bwMode="auto">
          <a:xfrm flipH="1">
            <a:off x="5619750" y="3133725"/>
            <a:ext cx="1249363" cy="64770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2" name="Line 31"/>
          <p:cNvSpPr>
            <a:spLocks noChangeShapeType="1"/>
          </p:cNvSpPr>
          <p:nvPr/>
        </p:nvSpPr>
        <p:spPr bwMode="auto">
          <a:xfrm>
            <a:off x="5668963" y="4244975"/>
            <a:ext cx="1762125" cy="839788"/>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3" name="Line 32"/>
          <p:cNvSpPr>
            <a:spLocks noChangeShapeType="1"/>
          </p:cNvSpPr>
          <p:nvPr/>
        </p:nvSpPr>
        <p:spPr bwMode="auto">
          <a:xfrm flipH="1">
            <a:off x="3219450" y="4235450"/>
            <a:ext cx="1782763" cy="84931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4" name="Line 33"/>
          <p:cNvSpPr>
            <a:spLocks noChangeShapeType="1"/>
          </p:cNvSpPr>
          <p:nvPr/>
        </p:nvSpPr>
        <p:spPr bwMode="auto">
          <a:xfrm flipH="1">
            <a:off x="5092700" y="4191000"/>
            <a:ext cx="265113" cy="89376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253985" name="Text Box 34"/>
          <p:cNvSpPr txBox="1">
            <a:spLocks noChangeArrowheads="1"/>
          </p:cNvSpPr>
          <p:nvPr/>
        </p:nvSpPr>
        <p:spPr bwMode="auto">
          <a:xfrm>
            <a:off x="2570163" y="5173663"/>
            <a:ext cx="1409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网络接口</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253986" name="Text Box 35"/>
          <p:cNvSpPr txBox="1">
            <a:spLocks noChangeArrowheads="1"/>
          </p:cNvSpPr>
          <p:nvPr/>
        </p:nvSpPr>
        <p:spPr bwMode="auto">
          <a:xfrm>
            <a:off x="4430713" y="5141913"/>
            <a:ext cx="1411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网络接口</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2</a:t>
            </a:r>
          </a:p>
        </p:txBody>
      </p:sp>
      <p:sp>
        <p:nvSpPr>
          <p:cNvPr id="253987" name="Text Box 36"/>
          <p:cNvSpPr txBox="1">
            <a:spLocks noChangeArrowheads="1"/>
          </p:cNvSpPr>
          <p:nvPr/>
        </p:nvSpPr>
        <p:spPr bwMode="auto">
          <a:xfrm>
            <a:off x="6651625" y="5121275"/>
            <a:ext cx="1411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网络接口</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3</a:t>
            </a:r>
          </a:p>
        </p:txBody>
      </p:sp>
      <p:sp>
        <p:nvSpPr>
          <p:cNvPr id="137253" name="Text Box 37"/>
          <p:cNvSpPr txBox="1">
            <a:spLocks noChangeArrowheads="1"/>
          </p:cNvSpPr>
          <p:nvPr/>
        </p:nvSpPr>
        <p:spPr bwMode="auto">
          <a:xfrm>
            <a:off x="1135063" y="188913"/>
            <a:ext cx="7781925" cy="12731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120000"/>
              </a:lnSpc>
            </a:pPr>
            <a:r>
              <a:rPr lang="en-US" altLang="zh-CN" sz="3200" b="1">
                <a:solidFill>
                  <a:srgbClr val="333399"/>
                </a:solidFill>
                <a:ea typeface="黑体" panose="02010609060101010101" pitchFamily="49" charset="-122"/>
              </a:rPr>
              <a:t>Everything over IP </a:t>
            </a:r>
          </a:p>
          <a:p>
            <a:pPr algn="ctr" eaLnBrk="0" hangingPunct="0">
              <a:lnSpc>
                <a:spcPct val="120000"/>
              </a:lnSpc>
            </a:pPr>
            <a:r>
              <a:rPr lang="en-US" altLang="zh-CN" sz="3200" b="1">
                <a:solidFill>
                  <a:srgbClr val="333399"/>
                </a:solidFill>
                <a:ea typeface="黑体" panose="02010609060101010101" pitchFamily="49" charset="-122"/>
              </a:rPr>
              <a:t>IP</a:t>
            </a:r>
            <a:r>
              <a:rPr lang="en-US" altLang="zh-CN" sz="1600" b="1">
                <a:solidFill>
                  <a:srgbClr val="333399"/>
                </a:solidFill>
                <a:ea typeface="黑体" panose="02010609060101010101" pitchFamily="49" charset="-122"/>
              </a:rPr>
              <a:t> </a:t>
            </a:r>
            <a:r>
              <a:rPr lang="zh-CN" altLang="en-US" sz="3200" b="1">
                <a:solidFill>
                  <a:srgbClr val="333399"/>
                </a:solidFill>
                <a:ea typeface="黑体" panose="02010609060101010101" pitchFamily="49" charset="-122"/>
              </a:rPr>
              <a:t>可为各式各样的应用程序提供服务</a:t>
            </a:r>
          </a:p>
        </p:txBody>
      </p:sp>
      <p:sp>
        <p:nvSpPr>
          <p:cNvPr id="137254" name="Text Box 38"/>
          <p:cNvSpPr txBox="1">
            <a:spLocks noChangeArrowheads="1"/>
          </p:cNvSpPr>
          <p:nvPr/>
        </p:nvSpPr>
        <p:spPr bwMode="auto">
          <a:xfrm>
            <a:off x="1135063" y="188913"/>
            <a:ext cx="7781925" cy="1273175"/>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120000"/>
              </a:lnSpc>
            </a:pPr>
            <a:r>
              <a:rPr lang="en-US" altLang="zh-CN" sz="3200" b="1">
                <a:solidFill>
                  <a:srgbClr val="333399"/>
                </a:solidFill>
                <a:ea typeface="黑体" panose="02010609060101010101" pitchFamily="49" charset="-122"/>
              </a:rPr>
              <a:t>IP over Everything </a:t>
            </a:r>
          </a:p>
          <a:p>
            <a:pPr algn="ctr" eaLnBrk="0" hangingPunct="0">
              <a:lnSpc>
                <a:spcPct val="120000"/>
              </a:lnSpc>
            </a:pPr>
            <a:r>
              <a:rPr lang="en-US" altLang="zh-CN" sz="3200" b="1">
                <a:solidFill>
                  <a:srgbClr val="333399"/>
                </a:solidFill>
                <a:ea typeface="黑体" panose="02010609060101010101" pitchFamily="49" charset="-122"/>
              </a:rPr>
              <a:t>IP</a:t>
            </a:r>
            <a:r>
              <a:rPr lang="en-US" altLang="zh-CN" sz="1200" b="1">
                <a:solidFill>
                  <a:srgbClr val="333399"/>
                </a:solidFill>
                <a:ea typeface="黑体" panose="02010609060101010101" pitchFamily="49" charset="-122"/>
              </a:rPr>
              <a:t> </a:t>
            </a:r>
            <a:r>
              <a:rPr lang="zh-CN" altLang="en-US" sz="3200" b="1">
                <a:solidFill>
                  <a:srgbClr val="333399"/>
                </a:solidFill>
                <a:ea typeface="黑体" panose="02010609060101010101" pitchFamily="49" charset="-122"/>
              </a:rPr>
              <a:t>可应用到各式各样的网络上</a:t>
            </a:r>
          </a:p>
        </p:txBody>
      </p:sp>
      <p:sp>
        <p:nvSpPr>
          <p:cNvPr id="253990" name="矩形 1"/>
          <p:cNvSpPr>
            <a:spLocks noChangeArrowheads="1"/>
          </p:cNvSpPr>
          <p:nvPr/>
        </p:nvSpPr>
        <p:spPr bwMode="auto">
          <a:xfrm>
            <a:off x="2298700" y="6021388"/>
            <a:ext cx="5675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沙漏计时器形状的</a:t>
            </a:r>
            <a:r>
              <a:rPr lang="en-US" altLang="zh-CN" sz="2400" b="1">
                <a:ea typeface="黑体" panose="02010609060101010101" pitchFamily="49" charset="-122"/>
              </a:rPr>
              <a:t> TCP/IP </a:t>
            </a:r>
            <a:r>
              <a:rPr lang="zh-CN" altLang="zh-CN" sz="2400" b="1">
                <a:ea typeface="黑体" panose="02010609060101010101" pitchFamily="49" charset="-122"/>
              </a:rPr>
              <a:t>协议族</a:t>
            </a:r>
            <a:endParaRPr lang="zh-CN" altLang="en-US" sz="2400" b="1">
              <a:ea typeface="黑体" panose="02010609060101010101" pitchFamily="49" charset="-122"/>
            </a:endParaRPr>
          </a:p>
        </p:txBody>
      </p:sp>
      <p:sp>
        <p:nvSpPr>
          <p:cNvPr id="25399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F125214-CEA6-4118-99FA-FD01504257D0}" type="slidenum">
              <a:rPr lang="zh-CN" altLang="en-US" smtClean="0"/>
              <a:pPr eaLnBrk="1" hangingPunct="1"/>
              <a:t>53</a:t>
            </a:fld>
            <a:endParaRPr lang="en-US" altLang="zh-CN" smtClean="0"/>
          </a:p>
        </p:txBody>
      </p:sp>
      <p:sp>
        <p:nvSpPr>
          <p:cNvPr id="25399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253"/>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0"/>
                                  </p:stCondLst>
                                  <p:childTnLst>
                                    <p:set>
                                      <p:cBhvr>
                                        <p:cTn id="9" dur="1" fill="hold">
                                          <p:stCondLst>
                                            <p:cond delay="0"/>
                                          </p:stCondLst>
                                        </p:cTn>
                                        <p:tgtEl>
                                          <p:spTgt spid="137219"/>
                                        </p:tgtEl>
                                        <p:attrNameLst>
                                          <p:attrName>style.visibility</p:attrName>
                                        </p:attrNameLst>
                                      </p:cBhvr>
                                      <p:to>
                                        <p:strVal val="visible"/>
                                      </p:to>
                                    </p:set>
                                  </p:childTnLst>
                                </p:cTn>
                              </p:par>
                            </p:childTnLst>
                          </p:cTn>
                        </p:par>
                        <p:par>
                          <p:cTn id="10" fill="hold" nodeType="afterGroup">
                            <p:stCondLst>
                              <p:cond delay="2"/>
                            </p:stCondLst>
                            <p:childTnLst>
                              <p:par>
                                <p:cTn id="11" presetID="35" presetClass="emph" presetSubtype="0" repeatCount="indefinite" fill="hold" grpId="0" nodeType="afterEffect">
                                  <p:stCondLst>
                                    <p:cond delay="0"/>
                                  </p:stCondLst>
                                  <p:endCondLst>
                                    <p:cond evt="onNext" delay="0">
                                      <p:tgtEl>
                                        <p:sldTgt/>
                                      </p:tgtEl>
                                    </p:cond>
                                  </p:endCondLst>
                                  <p:childTnLst>
                                    <p:anim calcmode="discrete" valueType="str">
                                      <p:cBhvr>
                                        <p:cTn id="12"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7254"/>
                                        </p:tgtEl>
                                        <p:attrNameLst>
                                          <p:attrName>style.visibility</p:attrName>
                                        </p:attrNameLst>
                                      </p:cBhvr>
                                      <p:to>
                                        <p:strVal val="visible"/>
                                      </p:to>
                                    </p:set>
                                  </p:childTnLst>
                                </p:cTn>
                              </p:par>
                            </p:childTnLst>
                          </p:cTn>
                        </p:par>
                        <p:par>
                          <p:cTn id="17" fill="hold" nodeType="afterGroup">
                            <p:stCondLst>
                              <p:cond delay="1"/>
                            </p:stCondLst>
                            <p:childTnLst>
                              <p:par>
                                <p:cTn id="18" presetID="1" presetClass="exit" presetSubtype="0" fill="hold" grpId="1" nodeType="afterEffect">
                                  <p:stCondLst>
                                    <p:cond delay="0"/>
                                  </p:stCondLst>
                                  <p:childTnLst>
                                    <p:set>
                                      <p:cBhvr>
                                        <p:cTn id="19" dur="1" fill="hold">
                                          <p:stCondLst>
                                            <p:cond delay="0"/>
                                          </p:stCondLst>
                                        </p:cTn>
                                        <p:tgtEl>
                                          <p:spTgt spid="137219"/>
                                        </p:tgtEl>
                                        <p:attrNameLst>
                                          <p:attrName>style.visibility</p:attrName>
                                        </p:attrNameLst>
                                      </p:cBhvr>
                                      <p:to>
                                        <p:strVal val="hidden"/>
                                      </p:to>
                                    </p:set>
                                  </p:childTnLst>
                                </p:cTn>
                              </p:par>
                            </p:childTnLst>
                          </p:cTn>
                        </p:par>
                        <p:par>
                          <p:cTn id="20" fill="hold" nodeType="afterGroup">
                            <p:stCondLst>
                              <p:cond delay="2"/>
                            </p:stCondLst>
                            <p:childTnLst>
                              <p:par>
                                <p:cTn id="21" presetID="1" presetClass="entr" presetSubtype="0" fill="hold" grpId="0" nodeType="afterEffect">
                                  <p:stCondLst>
                                    <p:cond delay="0"/>
                                  </p:stCondLst>
                                  <p:childTnLst>
                                    <p:set>
                                      <p:cBhvr>
                                        <p:cTn id="22" dur="1" fill="hold">
                                          <p:stCondLst>
                                            <p:cond delay="0"/>
                                          </p:stCondLst>
                                        </p:cTn>
                                        <p:tgtEl>
                                          <p:spTgt spid="137218"/>
                                        </p:tgtEl>
                                        <p:attrNameLst>
                                          <p:attrName>style.visibility</p:attrName>
                                        </p:attrNameLst>
                                      </p:cBhvr>
                                      <p:to>
                                        <p:strVal val="visible"/>
                                      </p:to>
                                    </p:set>
                                  </p:childTnLst>
                                </p:cTn>
                              </p:par>
                            </p:childTnLst>
                          </p:cTn>
                        </p:par>
                        <p:par>
                          <p:cTn id="23" fill="hold" nodeType="afterGroup">
                            <p:stCondLst>
                              <p:cond delay="3"/>
                            </p:stCondLst>
                            <p:childTnLst>
                              <p:par>
                                <p:cTn id="24" presetID="35" presetClass="emph" presetSubtype="0" repeatCount="indefinite" fill="hold" grpId="1" nodeType="afterEffect">
                                  <p:stCondLst>
                                    <p:cond delay="0"/>
                                  </p:stCondLst>
                                  <p:endCondLst>
                                    <p:cond evt="onNext" delay="0">
                                      <p:tgtEl>
                                        <p:sldTgt/>
                                      </p:tgtEl>
                                    </p:cond>
                                  </p:endCondLst>
                                  <p:childTnLst>
                                    <p:anim calcmode="discrete" valueType="str">
                                      <p:cBhvr>
                                        <p:cTn id="25"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animBg="1"/>
      <p:bldP spid="137219" grpId="0" animBg="1"/>
      <p:bldP spid="137219" grpId="1" animBg="1"/>
      <p:bldP spid="137227" grpId="0" animBg="1"/>
      <p:bldP spid="137227" grpId="1" animBg="1"/>
      <p:bldP spid="137253" grpId="0" animBg="1"/>
      <p:bldP spid="13725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2"/>
          <p:cNvSpPr>
            <a:spLocks noGrp="1" noChangeArrowheads="1"/>
          </p:cNvSpPr>
          <p:nvPr>
            <p:ph type="title"/>
          </p:nvPr>
        </p:nvSpPr>
        <p:spPr>
          <a:xfrm>
            <a:off x="495300" y="188913"/>
            <a:ext cx="9066213" cy="792162"/>
          </a:xfrm>
        </p:spPr>
        <p:txBody>
          <a:bodyPr/>
          <a:lstStyle/>
          <a:p>
            <a:pPr algn="ctr"/>
            <a:r>
              <a:rPr lang="en-US" altLang="zh-CN" sz="3200" smtClean="0">
                <a:ea typeface="黑体" panose="02010609060101010101" pitchFamily="49" charset="-122"/>
              </a:rPr>
              <a:t>【</a:t>
            </a:r>
            <a:r>
              <a:rPr lang="zh-CN" altLang="en-US" sz="3200" smtClean="0">
                <a:ea typeface="黑体" panose="02010609060101010101" pitchFamily="49" charset="-122"/>
              </a:rPr>
              <a:t>例</a:t>
            </a:r>
            <a:r>
              <a:rPr lang="en-US" altLang="zh-CN" sz="3200" smtClean="0">
                <a:ea typeface="黑体" panose="02010609060101010101" pitchFamily="49" charset="-122"/>
              </a:rPr>
              <a:t>1-2】</a:t>
            </a:r>
            <a:r>
              <a:rPr lang="zh-CN" altLang="en-US" sz="3200" smtClean="0">
                <a:ea typeface="黑体" panose="02010609060101010101" pitchFamily="49" charset="-122"/>
              </a:rPr>
              <a:t>客户进程和服务器进程</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使用 </a:t>
            </a:r>
            <a:r>
              <a:rPr lang="en-US" altLang="zh-CN" sz="3200" smtClean="0">
                <a:ea typeface="黑体" panose="02010609060101010101" pitchFamily="49" charset="-122"/>
              </a:rPr>
              <a:t>TCP/IP </a:t>
            </a:r>
            <a:r>
              <a:rPr lang="zh-CN" altLang="en-US" sz="3200" smtClean="0">
                <a:ea typeface="黑体" panose="02010609060101010101" pitchFamily="49" charset="-122"/>
              </a:rPr>
              <a:t>协议栈进行通信</a:t>
            </a:r>
          </a:p>
        </p:txBody>
      </p:sp>
      <p:sp>
        <p:nvSpPr>
          <p:cNvPr id="256002" name="Freeform 3"/>
          <p:cNvSpPr>
            <a:spLocks noChangeArrowheads="1"/>
          </p:cNvSpPr>
          <p:nvPr/>
        </p:nvSpPr>
        <p:spPr bwMode="auto">
          <a:xfrm>
            <a:off x="2133600" y="4545013"/>
            <a:ext cx="5721350" cy="442912"/>
          </a:xfrm>
          <a:custGeom>
            <a:avLst/>
            <a:gdLst>
              <a:gd name="T0" fmla="*/ 0 w 2752"/>
              <a:gd name="T1" fmla="*/ 0 h 240"/>
              <a:gd name="T2" fmla="*/ 0 w 2752"/>
              <a:gd name="T3" fmla="*/ 92 h 240"/>
              <a:gd name="T4" fmla="*/ 3 w 2752"/>
              <a:gd name="T5" fmla="*/ 156 h 240"/>
              <a:gd name="T6" fmla="*/ 30 w 2752"/>
              <a:gd name="T7" fmla="*/ 213 h 240"/>
              <a:gd name="T8" fmla="*/ 96 w 2752"/>
              <a:gd name="T9" fmla="*/ 234 h 240"/>
              <a:gd name="T10" fmla="*/ 138 w 2752"/>
              <a:gd name="T11" fmla="*/ 236 h 240"/>
              <a:gd name="T12" fmla="*/ 2621 w 2752"/>
              <a:gd name="T13" fmla="*/ 238 h 240"/>
              <a:gd name="T14" fmla="*/ 2670 w 2752"/>
              <a:gd name="T15" fmla="*/ 240 h 240"/>
              <a:gd name="T16" fmla="*/ 2727 w 2752"/>
              <a:gd name="T17" fmla="*/ 216 h 240"/>
              <a:gd name="T18" fmla="*/ 2748 w 2752"/>
              <a:gd name="T19" fmla="*/ 159 h 240"/>
              <a:gd name="T20" fmla="*/ 2752 w 2752"/>
              <a:gd name="T21" fmla="*/ 113 h 240"/>
              <a:gd name="T22" fmla="*/ 2751 w 2752"/>
              <a:gd name="T2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aphicFrame>
        <p:nvGraphicFramePr>
          <p:cNvPr id="256003" name="Object 4"/>
          <p:cNvGraphicFramePr>
            <a:graphicFrameLocks noGrp="1" noChangeAspect="1"/>
          </p:cNvGraphicFramePr>
          <p:nvPr>
            <p:ph idx="1"/>
          </p:nvPr>
        </p:nvGraphicFramePr>
        <p:xfrm>
          <a:off x="3925888" y="4394200"/>
          <a:ext cx="2211387" cy="1122363"/>
        </p:xfrm>
        <a:graphic>
          <a:graphicData uri="http://schemas.openxmlformats.org/presentationml/2006/ole">
            <mc:AlternateContent xmlns:mc="http://schemas.openxmlformats.org/markup-compatibility/2006">
              <mc:Choice xmlns:v="urn:schemas-microsoft-com:vml" Requires="v">
                <p:oleObj spid="_x0000_s256060" r:id="rId4" imgW="1687068" imgH="964692" progId="">
                  <p:embed/>
                </p:oleObj>
              </mc:Choice>
              <mc:Fallback>
                <p:oleObj r:id="rId4" imgW="1687068" imgH="964692" progId="">
                  <p:embed/>
                  <p:pic>
                    <p:nvPicPr>
                      <p:cNvPr id="0" name="Object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5888" y="4394200"/>
                        <a:ext cx="2211387" cy="1122363"/>
                      </a:xfrm>
                      <a:prstGeom prst="rect">
                        <a:avLst/>
                      </a:prstGeom>
                    </p:spPr>
                  </p:pic>
                </p:oleObj>
              </mc:Fallback>
            </mc:AlternateContent>
          </a:graphicData>
        </a:graphic>
      </p:graphicFrame>
      <p:sp>
        <p:nvSpPr>
          <p:cNvPr id="256004" name="Rectangle 5"/>
          <p:cNvSpPr>
            <a:spLocks noChangeArrowheads="1"/>
          </p:cNvSpPr>
          <p:nvPr/>
        </p:nvSpPr>
        <p:spPr bwMode="auto">
          <a:xfrm>
            <a:off x="6973888" y="1708150"/>
            <a:ext cx="1695450" cy="2836863"/>
          </a:xfrm>
          <a:prstGeom prst="rect">
            <a:avLst/>
          </a:prstGeom>
          <a:solidFill>
            <a:srgbClr val="FFFF66"/>
          </a:solidFill>
          <a:ln w="2857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05" name="Text Box 6"/>
          <p:cNvSpPr txBox="1">
            <a:spLocks noChangeArrowheads="1"/>
          </p:cNvSpPr>
          <p:nvPr/>
        </p:nvSpPr>
        <p:spPr bwMode="auto">
          <a:xfrm>
            <a:off x="7023100" y="362743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数据链路层</a:t>
            </a:r>
          </a:p>
        </p:txBody>
      </p:sp>
      <p:sp>
        <p:nvSpPr>
          <p:cNvPr id="256006" name="Line 7"/>
          <p:cNvSpPr>
            <a:spLocks noChangeShapeType="1"/>
          </p:cNvSpPr>
          <p:nvPr/>
        </p:nvSpPr>
        <p:spPr bwMode="auto">
          <a:xfrm>
            <a:off x="6973888" y="4102100"/>
            <a:ext cx="1695450"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07" name="Line 8"/>
          <p:cNvSpPr>
            <a:spLocks noChangeShapeType="1"/>
          </p:cNvSpPr>
          <p:nvPr/>
        </p:nvSpPr>
        <p:spPr bwMode="auto">
          <a:xfrm>
            <a:off x="6973888" y="3659188"/>
            <a:ext cx="1695450"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08" name="Line 9"/>
          <p:cNvSpPr>
            <a:spLocks noChangeShapeType="1"/>
          </p:cNvSpPr>
          <p:nvPr/>
        </p:nvSpPr>
        <p:spPr bwMode="auto">
          <a:xfrm>
            <a:off x="6973888" y="3216275"/>
            <a:ext cx="1695450"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09" name="Line 10"/>
          <p:cNvSpPr>
            <a:spLocks noChangeShapeType="1"/>
          </p:cNvSpPr>
          <p:nvPr/>
        </p:nvSpPr>
        <p:spPr bwMode="auto">
          <a:xfrm>
            <a:off x="6973888" y="2771775"/>
            <a:ext cx="1695450"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0" name="Text Box 11"/>
          <p:cNvSpPr txBox="1">
            <a:spLocks noChangeArrowheads="1"/>
          </p:cNvSpPr>
          <p:nvPr/>
        </p:nvSpPr>
        <p:spPr bwMode="auto">
          <a:xfrm>
            <a:off x="7288213" y="4070350"/>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物理层</a:t>
            </a:r>
          </a:p>
        </p:txBody>
      </p:sp>
      <p:sp>
        <p:nvSpPr>
          <p:cNvPr id="256011" name="Text Box 12"/>
          <p:cNvSpPr txBox="1">
            <a:spLocks noChangeArrowheads="1"/>
          </p:cNvSpPr>
          <p:nvPr/>
        </p:nvSpPr>
        <p:spPr bwMode="auto">
          <a:xfrm>
            <a:off x="7288213" y="2755900"/>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运输层</a:t>
            </a:r>
          </a:p>
        </p:txBody>
      </p:sp>
      <p:sp>
        <p:nvSpPr>
          <p:cNvPr id="256012" name="Text Box 13"/>
          <p:cNvSpPr txBox="1">
            <a:spLocks noChangeArrowheads="1"/>
          </p:cNvSpPr>
          <p:nvPr/>
        </p:nvSpPr>
        <p:spPr bwMode="auto">
          <a:xfrm>
            <a:off x="7288213" y="3198813"/>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网络层</a:t>
            </a:r>
          </a:p>
        </p:txBody>
      </p:sp>
      <p:sp>
        <p:nvSpPr>
          <p:cNvPr id="256013" name="Rectangle 14"/>
          <p:cNvSpPr>
            <a:spLocks noChangeArrowheads="1"/>
          </p:cNvSpPr>
          <p:nvPr/>
        </p:nvSpPr>
        <p:spPr bwMode="auto">
          <a:xfrm>
            <a:off x="1285875" y="1708150"/>
            <a:ext cx="1697038" cy="2836863"/>
          </a:xfrm>
          <a:prstGeom prst="rect">
            <a:avLst/>
          </a:prstGeom>
          <a:solidFill>
            <a:srgbClr val="FFFF66"/>
          </a:solidFill>
          <a:ln w="2857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4" name="Text Box 15"/>
          <p:cNvSpPr txBox="1">
            <a:spLocks noChangeArrowheads="1"/>
          </p:cNvSpPr>
          <p:nvPr/>
        </p:nvSpPr>
        <p:spPr bwMode="auto">
          <a:xfrm>
            <a:off x="1336675" y="362743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数据链路层</a:t>
            </a:r>
          </a:p>
        </p:txBody>
      </p:sp>
      <p:sp>
        <p:nvSpPr>
          <p:cNvPr id="256015" name="Line 16"/>
          <p:cNvSpPr>
            <a:spLocks noChangeShapeType="1"/>
          </p:cNvSpPr>
          <p:nvPr/>
        </p:nvSpPr>
        <p:spPr bwMode="auto">
          <a:xfrm>
            <a:off x="1285875" y="4102100"/>
            <a:ext cx="1697038"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6" name="Line 17"/>
          <p:cNvSpPr>
            <a:spLocks noChangeShapeType="1"/>
          </p:cNvSpPr>
          <p:nvPr/>
        </p:nvSpPr>
        <p:spPr bwMode="auto">
          <a:xfrm>
            <a:off x="1285875" y="3659188"/>
            <a:ext cx="1697038"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7" name="Line 18"/>
          <p:cNvSpPr>
            <a:spLocks noChangeShapeType="1"/>
          </p:cNvSpPr>
          <p:nvPr/>
        </p:nvSpPr>
        <p:spPr bwMode="auto">
          <a:xfrm>
            <a:off x="1285875" y="3216275"/>
            <a:ext cx="1697038"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8" name="Line 19"/>
          <p:cNvSpPr>
            <a:spLocks noChangeShapeType="1"/>
          </p:cNvSpPr>
          <p:nvPr/>
        </p:nvSpPr>
        <p:spPr bwMode="auto">
          <a:xfrm>
            <a:off x="1285875" y="2771775"/>
            <a:ext cx="1697038"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19" name="Text Box 20"/>
          <p:cNvSpPr txBox="1">
            <a:spLocks noChangeArrowheads="1"/>
          </p:cNvSpPr>
          <p:nvPr/>
        </p:nvSpPr>
        <p:spPr bwMode="auto">
          <a:xfrm>
            <a:off x="1603375" y="407035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物理层</a:t>
            </a:r>
          </a:p>
        </p:txBody>
      </p:sp>
      <p:sp>
        <p:nvSpPr>
          <p:cNvPr id="256020" name="Text Box 21"/>
          <p:cNvSpPr txBox="1">
            <a:spLocks noChangeArrowheads="1"/>
          </p:cNvSpPr>
          <p:nvPr/>
        </p:nvSpPr>
        <p:spPr bwMode="auto">
          <a:xfrm>
            <a:off x="1603375" y="27559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运输层</a:t>
            </a:r>
          </a:p>
        </p:txBody>
      </p:sp>
      <p:sp>
        <p:nvSpPr>
          <p:cNvPr id="256021" name="Text Box 22"/>
          <p:cNvSpPr txBox="1">
            <a:spLocks noChangeArrowheads="1"/>
          </p:cNvSpPr>
          <p:nvPr/>
        </p:nvSpPr>
        <p:spPr bwMode="auto">
          <a:xfrm>
            <a:off x="1603375" y="319881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网络层</a:t>
            </a:r>
          </a:p>
        </p:txBody>
      </p:sp>
      <p:sp>
        <p:nvSpPr>
          <p:cNvPr id="256022" name="Line 23"/>
          <p:cNvSpPr>
            <a:spLocks noChangeShapeType="1"/>
          </p:cNvSpPr>
          <p:nvPr/>
        </p:nvSpPr>
        <p:spPr bwMode="auto">
          <a:xfrm>
            <a:off x="2117725" y="2640013"/>
            <a:ext cx="3175" cy="1317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23" name="Line 24"/>
          <p:cNvSpPr>
            <a:spLocks noChangeShapeType="1"/>
          </p:cNvSpPr>
          <p:nvPr/>
        </p:nvSpPr>
        <p:spPr bwMode="auto">
          <a:xfrm>
            <a:off x="7853363" y="2640013"/>
            <a:ext cx="1587" cy="1317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nvGrpSpPr>
          <p:cNvPr id="148505" name="Group 25"/>
          <p:cNvGrpSpPr>
            <a:grpSpLocks/>
          </p:cNvGrpSpPr>
          <p:nvPr/>
        </p:nvGrpSpPr>
        <p:grpSpPr bwMode="auto">
          <a:xfrm>
            <a:off x="2782888" y="1866900"/>
            <a:ext cx="4354512" cy="481013"/>
            <a:chOff x="1618" y="1358"/>
            <a:chExt cx="2532" cy="303"/>
          </a:xfrm>
        </p:grpSpPr>
        <p:sp>
          <p:nvSpPr>
            <p:cNvPr id="256025" name="Line 26"/>
            <p:cNvSpPr>
              <a:spLocks noChangeShapeType="1"/>
            </p:cNvSpPr>
            <p:nvPr/>
          </p:nvSpPr>
          <p:spPr bwMode="auto">
            <a:xfrm>
              <a:off x="1618" y="1649"/>
              <a:ext cx="2532" cy="12"/>
            </a:xfrm>
            <a:prstGeom prst="line">
              <a:avLst/>
            </a:prstGeom>
            <a:noFill/>
            <a:ln w="38100">
              <a:solidFill>
                <a:srgbClr val="000099"/>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26" name="Text Box 27"/>
            <p:cNvSpPr txBox="1">
              <a:spLocks noChangeArrowheads="1"/>
            </p:cNvSpPr>
            <p:nvPr/>
          </p:nvSpPr>
          <p:spPr bwMode="auto">
            <a:xfrm>
              <a:off x="1908" y="1358"/>
              <a:ext cx="17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latin typeface="黑体" panose="02010609060101010101" pitchFamily="49" charset="-122"/>
                  <a:ea typeface="黑体" panose="02010609060101010101" pitchFamily="49" charset="-122"/>
                </a:rPr>
                <a:t>①</a:t>
              </a:r>
              <a:r>
                <a:rPr lang="en-US" altLang="zh-CN" sz="1000" b="1">
                  <a:solidFill>
                    <a:srgbClr val="000099"/>
                  </a:solidFill>
                  <a:latin typeface="黑体" panose="02010609060101010101" pitchFamily="49" charset="-122"/>
                  <a:ea typeface="黑体" panose="02010609060101010101" pitchFamily="49" charset="-122"/>
                </a:rPr>
                <a:t> </a:t>
              </a:r>
              <a:r>
                <a:rPr lang="zh-CN" altLang="en-US" sz="2000" b="1">
                  <a:solidFill>
                    <a:srgbClr val="000099"/>
                  </a:solidFill>
                  <a:latin typeface="黑体" panose="02010609060101010101" pitchFamily="49" charset="-122"/>
                  <a:ea typeface="黑体" panose="02010609060101010101" pitchFamily="49" charset="-122"/>
                </a:rPr>
                <a:t>客户发起连接建立请求</a:t>
              </a:r>
            </a:p>
          </p:txBody>
        </p:sp>
      </p:grpSp>
      <p:grpSp>
        <p:nvGrpSpPr>
          <p:cNvPr id="148508" name="Group 28"/>
          <p:cNvGrpSpPr>
            <a:grpSpLocks/>
          </p:cNvGrpSpPr>
          <p:nvPr/>
        </p:nvGrpSpPr>
        <p:grpSpPr bwMode="auto">
          <a:xfrm>
            <a:off x="2768600" y="2492375"/>
            <a:ext cx="4327525" cy="434975"/>
            <a:chOff x="1655" y="1752"/>
            <a:chExt cx="2516" cy="274"/>
          </a:xfrm>
        </p:grpSpPr>
        <p:sp>
          <p:nvSpPr>
            <p:cNvPr id="256028" name="Line 29"/>
            <p:cNvSpPr>
              <a:spLocks noChangeShapeType="1"/>
            </p:cNvSpPr>
            <p:nvPr/>
          </p:nvSpPr>
          <p:spPr bwMode="auto">
            <a:xfrm flipH="1" flipV="1">
              <a:off x="1655" y="1752"/>
              <a:ext cx="2516" cy="9"/>
            </a:xfrm>
            <a:prstGeom prst="line">
              <a:avLst/>
            </a:prstGeom>
            <a:noFill/>
            <a:ln w="38100">
              <a:solidFill>
                <a:srgbClr val="FF33CC"/>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56029" name="Text Box 30"/>
            <p:cNvSpPr txBox="1">
              <a:spLocks noChangeArrowheads="1"/>
            </p:cNvSpPr>
            <p:nvPr/>
          </p:nvSpPr>
          <p:spPr bwMode="auto">
            <a:xfrm>
              <a:off x="1973" y="1774"/>
              <a:ext cx="193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latin typeface="黑体" panose="02010609060101010101" pitchFamily="49" charset="-122"/>
                  <a:ea typeface="黑体" panose="02010609060101010101" pitchFamily="49" charset="-122"/>
                </a:rPr>
                <a:t>②</a:t>
              </a:r>
              <a:r>
                <a:rPr lang="en-US" altLang="zh-CN" sz="1000" b="1">
                  <a:solidFill>
                    <a:srgbClr val="000099"/>
                  </a:solidFill>
                  <a:latin typeface="黑体" panose="02010609060101010101" pitchFamily="49" charset="-122"/>
                  <a:ea typeface="黑体" panose="02010609060101010101" pitchFamily="49" charset="-122"/>
                </a:rPr>
                <a:t> </a:t>
              </a:r>
              <a:r>
                <a:rPr lang="zh-CN" altLang="en-US" sz="2000" b="1">
                  <a:solidFill>
                    <a:srgbClr val="000099"/>
                  </a:solidFill>
                  <a:latin typeface="黑体" panose="02010609060101010101" pitchFamily="49" charset="-122"/>
                  <a:ea typeface="黑体" panose="02010609060101010101" pitchFamily="49" charset="-122"/>
                </a:rPr>
                <a:t>服务器接受连接建立请求</a:t>
              </a:r>
            </a:p>
          </p:txBody>
        </p:sp>
      </p:grpSp>
      <p:sp>
        <p:nvSpPr>
          <p:cNvPr id="256030" name="Text Box 31"/>
          <p:cNvSpPr txBox="1">
            <a:spLocks noChangeArrowheads="1"/>
          </p:cNvSpPr>
          <p:nvPr/>
        </p:nvSpPr>
        <p:spPr bwMode="auto">
          <a:xfrm>
            <a:off x="1603375" y="17145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应用层</a:t>
            </a:r>
          </a:p>
        </p:txBody>
      </p:sp>
      <p:sp>
        <p:nvSpPr>
          <p:cNvPr id="256031" name="Text Box 32"/>
          <p:cNvSpPr txBox="1">
            <a:spLocks noChangeArrowheads="1"/>
          </p:cNvSpPr>
          <p:nvPr/>
        </p:nvSpPr>
        <p:spPr bwMode="auto">
          <a:xfrm>
            <a:off x="7288213" y="1700213"/>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黑体" panose="02010609060101010101" pitchFamily="49" charset="-122"/>
                <a:ea typeface="黑体" panose="02010609060101010101" pitchFamily="49" charset="-122"/>
              </a:rPr>
              <a:t>应用层</a:t>
            </a:r>
          </a:p>
        </p:txBody>
      </p:sp>
      <p:sp>
        <p:nvSpPr>
          <p:cNvPr id="256032" name="Text Box 33"/>
          <p:cNvSpPr txBox="1">
            <a:spLocks noChangeArrowheads="1"/>
          </p:cNvSpPr>
          <p:nvPr/>
        </p:nvSpPr>
        <p:spPr bwMode="auto">
          <a:xfrm>
            <a:off x="4484688" y="4724400"/>
            <a:ext cx="1112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latin typeface="Bookman Old Style" panose="02050604050505020204" pitchFamily="18" charset="0"/>
                <a:ea typeface="黑体" panose="02010609060101010101" pitchFamily="49" charset="-122"/>
              </a:rPr>
              <a:t>互联网</a:t>
            </a:r>
          </a:p>
        </p:txBody>
      </p:sp>
      <p:grpSp>
        <p:nvGrpSpPr>
          <p:cNvPr id="148514" name="Group 34"/>
          <p:cNvGrpSpPr>
            <a:grpSpLocks/>
          </p:cNvGrpSpPr>
          <p:nvPr/>
        </p:nvGrpSpPr>
        <p:grpSpPr bwMode="auto">
          <a:xfrm>
            <a:off x="1436688" y="2122488"/>
            <a:ext cx="1395412" cy="531812"/>
            <a:chOff x="835" y="1519"/>
            <a:chExt cx="812" cy="335"/>
          </a:xfrm>
        </p:grpSpPr>
        <p:sp>
          <p:nvSpPr>
            <p:cNvPr id="256034" name="Oval 35"/>
            <p:cNvSpPr>
              <a:spLocks noChangeArrowheads="1"/>
            </p:cNvSpPr>
            <p:nvPr/>
          </p:nvSpPr>
          <p:spPr bwMode="auto">
            <a:xfrm>
              <a:off x="835" y="1519"/>
              <a:ext cx="812" cy="335"/>
            </a:xfrm>
            <a:prstGeom prst="ellipse">
              <a:avLst/>
            </a:prstGeom>
            <a:solidFill>
              <a:srgbClr val="99FFCC"/>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latin typeface="Times New Roman" panose="02020603050405020304" pitchFamily="18" charset="0"/>
                <a:ea typeface="宋体" panose="02010600030101010101" pitchFamily="2" charset="-122"/>
              </a:endParaRPr>
            </a:p>
          </p:txBody>
        </p:sp>
        <p:sp>
          <p:nvSpPr>
            <p:cNvPr id="256035" name="Text Box 36"/>
            <p:cNvSpPr txBox="1">
              <a:spLocks noChangeArrowheads="1"/>
            </p:cNvSpPr>
            <p:nvPr/>
          </p:nvSpPr>
          <p:spPr bwMode="auto">
            <a:xfrm>
              <a:off x="1020" y="1547"/>
              <a:ext cx="406" cy="252"/>
            </a:xfrm>
            <a:prstGeom prst="rect">
              <a:avLst/>
            </a:prstGeom>
            <a:noFill/>
            <a:ln>
              <a:noFill/>
            </a:ln>
            <a:effectLst>
              <a:outerShdw dist="17961" dir="2700000" algn="ctr" rotWithShape="0">
                <a:schemeClr val="accent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客户</a:t>
              </a:r>
            </a:p>
          </p:txBody>
        </p:sp>
      </p:grpSp>
      <p:grpSp>
        <p:nvGrpSpPr>
          <p:cNvPr id="148517" name="Group 37"/>
          <p:cNvGrpSpPr>
            <a:grpSpLocks/>
          </p:cNvGrpSpPr>
          <p:nvPr/>
        </p:nvGrpSpPr>
        <p:grpSpPr bwMode="auto">
          <a:xfrm>
            <a:off x="7123113" y="2122488"/>
            <a:ext cx="1397000" cy="531812"/>
            <a:chOff x="4142" y="1519"/>
            <a:chExt cx="812" cy="335"/>
          </a:xfrm>
        </p:grpSpPr>
        <p:sp>
          <p:nvSpPr>
            <p:cNvPr id="256037" name="Oval 38"/>
            <p:cNvSpPr>
              <a:spLocks noChangeArrowheads="1"/>
            </p:cNvSpPr>
            <p:nvPr/>
          </p:nvSpPr>
          <p:spPr bwMode="auto">
            <a:xfrm>
              <a:off x="4142" y="1519"/>
              <a:ext cx="812" cy="335"/>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latin typeface="Times New Roman" panose="02020603050405020304" pitchFamily="18" charset="0"/>
                <a:ea typeface="宋体" panose="02010600030101010101" pitchFamily="2" charset="-122"/>
              </a:endParaRPr>
            </a:p>
          </p:txBody>
        </p:sp>
        <p:sp>
          <p:nvSpPr>
            <p:cNvPr id="256038" name="Text Box 39"/>
            <p:cNvSpPr txBox="1">
              <a:spLocks noChangeArrowheads="1"/>
            </p:cNvSpPr>
            <p:nvPr/>
          </p:nvSpPr>
          <p:spPr bwMode="auto">
            <a:xfrm>
              <a:off x="4256" y="1543"/>
              <a:ext cx="555" cy="25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a:solidFill>
                    <a:srgbClr val="000099"/>
                  </a:solidFill>
                  <a:latin typeface="黑体" panose="02010609060101010101" pitchFamily="49" charset="-122"/>
                  <a:ea typeface="黑体" panose="02010609060101010101" pitchFamily="49" charset="-122"/>
                </a:rPr>
                <a:t>服务器</a:t>
              </a:r>
            </a:p>
          </p:txBody>
        </p:sp>
      </p:grpSp>
      <p:sp>
        <p:nvSpPr>
          <p:cNvPr id="148520" name="Text Box 40"/>
          <p:cNvSpPr txBox="1">
            <a:spLocks noChangeArrowheads="1"/>
          </p:cNvSpPr>
          <p:nvPr/>
        </p:nvSpPr>
        <p:spPr bwMode="auto">
          <a:xfrm>
            <a:off x="3641725" y="3068638"/>
            <a:ext cx="2711450" cy="1016000"/>
          </a:xfrm>
          <a:prstGeom prst="rect">
            <a:avLst/>
          </a:prstGeom>
          <a:solidFill>
            <a:srgbClr val="CCFFFF"/>
          </a:solidFill>
          <a:ln w="76200" cmpd="tri">
            <a:solidFill>
              <a:srgbClr val="333399"/>
            </a:solidFill>
            <a:miter lim="800000"/>
            <a:headEnd/>
            <a:tailEnd/>
          </a:ln>
        </p:spPr>
        <p:txBody>
          <a:bodyPr>
            <a:spAutoFit/>
          </a:bodyP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以后就逐级使用下层</a:t>
            </a:r>
          </a:p>
          <a:p>
            <a:pPr algn="ctr" eaLnBrk="0" hangingPunct="0"/>
            <a:r>
              <a:rPr lang="zh-CN" altLang="en-US" sz="2000" b="1">
                <a:solidFill>
                  <a:srgbClr val="000099"/>
                </a:solidFill>
                <a:latin typeface="Tahoma" panose="020B0604030504040204" pitchFamily="34" charset="0"/>
                <a:ea typeface="黑体" panose="02010609060101010101" pitchFamily="49" charset="-122"/>
              </a:rPr>
              <a:t>提供的服务</a:t>
            </a:r>
          </a:p>
          <a:p>
            <a:pPr algn="ctr" eaLnBrk="0" hangingPunct="0"/>
            <a:r>
              <a:rPr lang="en-US" altLang="zh-CN" sz="2000" b="1">
                <a:solidFill>
                  <a:srgbClr val="000099"/>
                </a:solidFill>
                <a:latin typeface="Tahoma" panose="020B0604030504040204" pitchFamily="34" charset="0"/>
                <a:ea typeface="黑体" panose="02010609060101010101" pitchFamily="49" charset="-122"/>
              </a:rPr>
              <a:t>(</a:t>
            </a:r>
            <a:r>
              <a:rPr lang="zh-CN" altLang="en-US" sz="2000" b="1">
                <a:solidFill>
                  <a:srgbClr val="000099"/>
                </a:solidFill>
                <a:latin typeface="Tahoma" panose="020B0604030504040204" pitchFamily="34" charset="0"/>
                <a:ea typeface="黑体" panose="02010609060101010101" pitchFamily="49" charset="-122"/>
              </a:rPr>
              <a:t>使用 </a:t>
            </a:r>
            <a:r>
              <a:rPr lang="en-US" altLang="zh-CN" sz="2000" b="1">
                <a:solidFill>
                  <a:srgbClr val="000099"/>
                </a:solidFill>
                <a:latin typeface="Tahoma" panose="020B0604030504040204" pitchFamily="34" charset="0"/>
                <a:ea typeface="黑体" panose="02010609060101010101" pitchFamily="49" charset="-122"/>
              </a:rPr>
              <a:t>TCP </a:t>
            </a:r>
            <a:r>
              <a:rPr lang="zh-CN" altLang="en-US" sz="2000" b="1">
                <a:solidFill>
                  <a:srgbClr val="000099"/>
                </a:solidFill>
                <a:latin typeface="Tahoma" panose="020B0604030504040204" pitchFamily="34" charset="0"/>
                <a:ea typeface="黑体" panose="02010609060101010101" pitchFamily="49" charset="-122"/>
              </a:rPr>
              <a:t>和 </a:t>
            </a:r>
            <a:r>
              <a:rPr lang="en-US" altLang="zh-CN" sz="2000" b="1">
                <a:solidFill>
                  <a:srgbClr val="000099"/>
                </a:solidFill>
                <a:latin typeface="Tahoma" panose="020B0604030504040204" pitchFamily="34" charset="0"/>
                <a:ea typeface="黑体" panose="02010609060101010101" pitchFamily="49" charset="-122"/>
              </a:rPr>
              <a:t>IP</a:t>
            </a:r>
            <a:r>
              <a:rPr lang="zh-CN" altLang="en-US" sz="2000" b="1">
                <a:solidFill>
                  <a:srgbClr val="000099"/>
                </a:solidFill>
                <a:latin typeface="Tahoma" panose="020B0604030504040204" pitchFamily="34" charset="0"/>
                <a:ea typeface="黑体" panose="02010609060101010101" pitchFamily="49" charset="-122"/>
              </a:rPr>
              <a:t>）</a:t>
            </a:r>
          </a:p>
        </p:txBody>
      </p:sp>
      <p:sp>
        <p:nvSpPr>
          <p:cNvPr id="256040" name="矩形 2"/>
          <p:cNvSpPr>
            <a:spLocks noChangeArrowheads="1"/>
          </p:cNvSpPr>
          <p:nvPr/>
        </p:nvSpPr>
        <p:spPr bwMode="auto">
          <a:xfrm>
            <a:off x="1285875" y="5661025"/>
            <a:ext cx="73834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在应用层的客户进程和服务器进程的交互</a:t>
            </a:r>
            <a:endParaRPr lang="zh-CN" altLang="en-US" sz="2400" b="1">
              <a:ea typeface="黑体" panose="02010609060101010101" pitchFamily="49" charset="-122"/>
            </a:endParaRPr>
          </a:p>
        </p:txBody>
      </p:sp>
      <p:sp>
        <p:nvSpPr>
          <p:cNvPr id="25604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00E28E-35F0-443F-A66A-39FA72177F7B}" type="slidenum">
              <a:rPr lang="zh-CN" altLang="en-US" smtClean="0"/>
              <a:pPr eaLnBrk="1" hangingPunct="1"/>
              <a:t>54</a:t>
            </a:fld>
            <a:endParaRPr lang="en-US" altLang="zh-CN" smtClean="0"/>
          </a:p>
        </p:txBody>
      </p:sp>
      <p:sp>
        <p:nvSpPr>
          <p:cNvPr id="25604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148514"/>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1500"/>
                            </p:stCondLst>
                            <p:childTnLst>
                              <p:par>
                                <p:cTn id="8" presetID="22" presetClass="entr" presetSubtype="8" fill="hold" nodeType="afterEffect">
                                  <p:stCondLst>
                                    <p:cond delay="0"/>
                                  </p:stCondLst>
                                  <p:childTnLst>
                                    <p:set>
                                      <p:cBhvr>
                                        <p:cTn id="9" dur="1" fill="hold">
                                          <p:stCondLst>
                                            <p:cond delay="0"/>
                                          </p:stCondLst>
                                        </p:cTn>
                                        <p:tgtEl>
                                          <p:spTgt spid="148505"/>
                                        </p:tgtEl>
                                        <p:attrNameLst>
                                          <p:attrName>style.visibility</p:attrName>
                                        </p:attrNameLst>
                                      </p:cBhvr>
                                      <p:to>
                                        <p:strVal val="visible"/>
                                      </p:to>
                                    </p:set>
                                    <p:animEffect transition="in" filter="wipe(left)">
                                      <p:cBhvr>
                                        <p:cTn id="10" dur="500"/>
                                        <p:tgtEl>
                                          <p:spTgt spid="14850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148517"/>
                                        </p:tgtEl>
                                        <p:attrNameLst>
                                          <p:attrName>style.visibility</p:attrName>
                                        </p:attrNameLst>
                                      </p:cBhvr>
                                      <p:tavLst>
                                        <p:tav tm="0">
                                          <p:val>
                                            <p:strVal val="hidden"/>
                                          </p:val>
                                        </p:tav>
                                        <p:tav tm="50000">
                                          <p:val>
                                            <p:strVal val="visible"/>
                                          </p:val>
                                        </p:tav>
                                      </p:tavLst>
                                    </p:anim>
                                  </p:childTnLst>
                                </p:cTn>
                              </p:par>
                            </p:childTnLst>
                          </p:cTn>
                        </p:par>
                        <p:par>
                          <p:cTn id="15" fill="hold" nodeType="afterGroup">
                            <p:stCondLst>
                              <p:cond delay="1500"/>
                            </p:stCondLst>
                            <p:childTnLst>
                              <p:par>
                                <p:cTn id="16" presetID="22" presetClass="entr" presetSubtype="2" fill="hold" nodeType="afterEffect">
                                  <p:stCondLst>
                                    <p:cond delay="0"/>
                                  </p:stCondLst>
                                  <p:childTnLst>
                                    <p:set>
                                      <p:cBhvr>
                                        <p:cTn id="17" dur="1" fill="hold">
                                          <p:stCondLst>
                                            <p:cond delay="0"/>
                                          </p:stCondLst>
                                        </p:cTn>
                                        <p:tgtEl>
                                          <p:spTgt spid="148508"/>
                                        </p:tgtEl>
                                        <p:attrNameLst>
                                          <p:attrName>style.visibility</p:attrName>
                                        </p:attrNameLst>
                                      </p:cBhvr>
                                      <p:to>
                                        <p:strVal val="visible"/>
                                      </p:to>
                                    </p:set>
                                    <p:animEffect transition="in" filter="wipe(right)">
                                      <p:cBhvr>
                                        <p:cTn id="18" dur="1000"/>
                                        <p:tgtEl>
                                          <p:spTgt spid="14850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8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2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2"/>
          <p:cNvSpPr>
            <a:spLocks noGrp="1" noChangeArrowheads="1"/>
          </p:cNvSpPr>
          <p:nvPr>
            <p:ph type="title"/>
          </p:nvPr>
        </p:nvSpPr>
        <p:spPr/>
        <p:txBody>
          <a:bodyPr/>
          <a:lstStyle/>
          <a:p>
            <a:pPr algn="ctr"/>
            <a:r>
              <a:rPr lang="zh-CN" altLang="en-US" sz="3200" smtClean="0">
                <a:ea typeface="黑体" panose="02010609060101010101" pitchFamily="49" charset="-122"/>
              </a:rPr>
              <a:t>功能较强的计算机</a:t>
            </a:r>
            <a:br>
              <a:rPr lang="zh-CN" altLang="en-US" sz="3200" smtClean="0">
                <a:ea typeface="黑体" panose="02010609060101010101" pitchFamily="49" charset="-122"/>
              </a:rPr>
            </a:br>
            <a:r>
              <a:rPr lang="zh-CN" altLang="en-US" sz="3200" smtClean="0">
                <a:ea typeface="黑体" panose="02010609060101010101" pitchFamily="49" charset="-122"/>
              </a:rPr>
              <a:t>可同时运行多个服务器进程 </a:t>
            </a:r>
          </a:p>
        </p:txBody>
      </p:sp>
      <p:sp>
        <p:nvSpPr>
          <p:cNvPr id="258050" name="Line 3"/>
          <p:cNvSpPr>
            <a:spLocks noChangeShapeType="1"/>
          </p:cNvSpPr>
          <p:nvPr/>
        </p:nvSpPr>
        <p:spPr bwMode="auto">
          <a:xfrm>
            <a:off x="4943475" y="4387850"/>
            <a:ext cx="4763" cy="3254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1" name="Rectangle 4"/>
          <p:cNvSpPr>
            <a:spLocks noChangeArrowheads="1"/>
          </p:cNvSpPr>
          <p:nvPr/>
        </p:nvSpPr>
        <p:spPr bwMode="auto">
          <a:xfrm>
            <a:off x="3422650" y="1693863"/>
            <a:ext cx="3140075" cy="2693987"/>
          </a:xfrm>
          <a:prstGeom prst="rect">
            <a:avLst/>
          </a:prstGeom>
          <a:solidFill>
            <a:srgbClr val="FFFF66"/>
          </a:solidFill>
          <a:ln w="2857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2" name="Text Box 5"/>
          <p:cNvSpPr txBox="1">
            <a:spLocks noChangeArrowheads="1"/>
          </p:cNvSpPr>
          <p:nvPr/>
        </p:nvSpPr>
        <p:spPr bwMode="auto">
          <a:xfrm>
            <a:off x="4206875" y="354647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数据链路层</a:t>
            </a:r>
          </a:p>
        </p:txBody>
      </p:sp>
      <p:sp>
        <p:nvSpPr>
          <p:cNvPr id="258053" name="Line 6"/>
          <p:cNvSpPr>
            <a:spLocks noChangeShapeType="1"/>
          </p:cNvSpPr>
          <p:nvPr/>
        </p:nvSpPr>
        <p:spPr bwMode="auto">
          <a:xfrm>
            <a:off x="3422650" y="3979863"/>
            <a:ext cx="3140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4" name="Line 7"/>
          <p:cNvSpPr>
            <a:spLocks noChangeShapeType="1"/>
          </p:cNvSpPr>
          <p:nvPr/>
        </p:nvSpPr>
        <p:spPr bwMode="auto">
          <a:xfrm>
            <a:off x="3422650" y="3570288"/>
            <a:ext cx="3140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5" name="Line 8"/>
          <p:cNvSpPr>
            <a:spLocks noChangeShapeType="1"/>
          </p:cNvSpPr>
          <p:nvPr/>
        </p:nvSpPr>
        <p:spPr bwMode="auto">
          <a:xfrm>
            <a:off x="3422650" y="3162300"/>
            <a:ext cx="3140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6" name="Line 9"/>
          <p:cNvSpPr>
            <a:spLocks noChangeShapeType="1"/>
          </p:cNvSpPr>
          <p:nvPr/>
        </p:nvSpPr>
        <p:spPr bwMode="auto">
          <a:xfrm>
            <a:off x="3422650" y="2754313"/>
            <a:ext cx="3140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57" name="Text Box 10"/>
          <p:cNvSpPr txBox="1">
            <a:spLocks noChangeArrowheads="1"/>
          </p:cNvSpPr>
          <p:nvPr/>
        </p:nvSpPr>
        <p:spPr bwMode="auto">
          <a:xfrm>
            <a:off x="4460875" y="395446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物理层</a:t>
            </a:r>
          </a:p>
        </p:txBody>
      </p:sp>
      <p:sp>
        <p:nvSpPr>
          <p:cNvPr id="258058" name="Text Box 11"/>
          <p:cNvSpPr txBox="1">
            <a:spLocks noChangeArrowheads="1"/>
          </p:cNvSpPr>
          <p:nvPr/>
        </p:nvSpPr>
        <p:spPr bwMode="auto">
          <a:xfrm>
            <a:off x="4460875" y="27432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运输层</a:t>
            </a:r>
          </a:p>
        </p:txBody>
      </p:sp>
      <p:sp>
        <p:nvSpPr>
          <p:cNvPr id="258059" name="Text Box 12"/>
          <p:cNvSpPr txBox="1">
            <a:spLocks noChangeArrowheads="1"/>
          </p:cNvSpPr>
          <p:nvPr/>
        </p:nvSpPr>
        <p:spPr bwMode="auto">
          <a:xfrm>
            <a:off x="4460875" y="31511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网络层</a:t>
            </a:r>
          </a:p>
        </p:txBody>
      </p:sp>
      <p:sp>
        <p:nvSpPr>
          <p:cNvPr id="258060" name="Text Box 13"/>
          <p:cNvSpPr txBox="1">
            <a:spLocks noChangeArrowheads="1"/>
          </p:cNvSpPr>
          <p:nvPr/>
        </p:nvSpPr>
        <p:spPr bwMode="auto">
          <a:xfrm>
            <a:off x="4429125" y="165417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应用层</a:t>
            </a:r>
          </a:p>
        </p:txBody>
      </p:sp>
      <p:sp>
        <p:nvSpPr>
          <p:cNvPr id="258061" name="Text Box 14"/>
          <p:cNvSpPr txBox="1">
            <a:spLocks noChangeArrowheads="1"/>
          </p:cNvSpPr>
          <p:nvPr/>
        </p:nvSpPr>
        <p:spPr bwMode="auto">
          <a:xfrm>
            <a:off x="4341813" y="1268413"/>
            <a:ext cx="1219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计算机 </a:t>
            </a:r>
            <a:r>
              <a:rPr lang="en-US" altLang="zh-CN" sz="2000" b="1">
                <a:solidFill>
                  <a:srgbClr val="000099"/>
                </a:solidFill>
                <a:ea typeface="黑体" panose="02010609060101010101" pitchFamily="49" charset="-122"/>
              </a:rPr>
              <a:t>3</a:t>
            </a:r>
          </a:p>
        </p:txBody>
      </p:sp>
      <p:grpSp>
        <p:nvGrpSpPr>
          <p:cNvPr id="149519" name="Group 15"/>
          <p:cNvGrpSpPr>
            <a:grpSpLocks/>
          </p:cNvGrpSpPr>
          <p:nvPr/>
        </p:nvGrpSpPr>
        <p:grpSpPr bwMode="auto">
          <a:xfrm>
            <a:off x="3611563" y="2019300"/>
            <a:ext cx="1238250" cy="746125"/>
            <a:chOff x="2100" y="1727"/>
            <a:chExt cx="720" cy="470"/>
          </a:xfrm>
        </p:grpSpPr>
        <p:sp>
          <p:nvSpPr>
            <p:cNvPr id="258063" name="Line 16"/>
            <p:cNvSpPr>
              <a:spLocks noChangeShapeType="1"/>
            </p:cNvSpPr>
            <p:nvPr/>
          </p:nvSpPr>
          <p:spPr bwMode="auto">
            <a:xfrm>
              <a:off x="2460" y="2119"/>
              <a:ext cx="1" cy="7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64" name="Oval 17"/>
            <p:cNvSpPr>
              <a:spLocks noChangeArrowheads="1"/>
            </p:cNvSpPr>
            <p:nvPr/>
          </p:nvSpPr>
          <p:spPr bwMode="auto">
            <a:xfrm>
              <a:off x="2100" y="1727"/>
              <a:ext cx="720" cy="412"/>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8065" name="Text Box 18"/>
            <p:cNvSpPr txBox="1">
              <a:spLocks noChangeArrowheads="1"/>
            </p:cNvSpPr>
            <p:nvPr/>
          </p:nvSpPr>
          <p:spPr bwMode="auto">
            <a:xfrm>
              <a:off x="2192" y="1756"/>
              <a:ext cx="555" cy="407"/>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000">
                  <a:solidFill>
                    <a:srgbClr val="000099"/>
                  </a:solidFill>
                  <a:ea typeface="黑体" panose="02010609060101010101" pitchFamily="49" charset="-122"/>
                </a:rPr>
                <a:t>服务器</a:t>
              </a:r>
            </a:p>
            <a:p>
              <a:pPr algn="ctr" eaLnBrk="0" hangingPunct="0">
                <a:lnSpc>
                  <a:spcPct val="90000"/>
                </a:lnSpc>
              </a:pPr>
              <a:r>
                <a:rPr lang="en-US" altLang="zh-CN" sz="2000">
                  <a:solidFill>
                    <a:srgbClr val="000099"/>
                  </a:solidFill>
                  <a:ea typeface="黑体" panose="02010609060101010101" pitchFamily="49" charset="-122"/>
                </a:rPr>
                <a:t>1</a:t>
              </a:r>
              <a:endParaRPr lang="en-US" altLang="zh-CN" sz="3200">
                <a:solidFill>
                  <a:srgbClr val="000099"/>
                </a:solidFill>
                <a:ea typeface="黑体" panose="02010609060101010101" pitchFamily="49" charset="-122"/>
              </a:endParaRPr>
            </a:p>
          </p:txBody>
        </p:sp>
      </p:grpSp>
      <p:grpSp>
        <p:nvGrpSpPr>
          <p:cNvPr id="149523" name="Group 19"/>
          <p:cNvGrpSpPr>
            <a:grpSpLocks/>
          </p:cNvGrpSpPr>
          <p:nvPr/>
        </p:nvGrpSpPr>
        <p:grpSpPr bwMode="auto">
          <a:xfrm>
            <a:off x="5135563" y="2046288"/>
            <a:ext cx="1236662" cy="735012"/>
            <a:chOff x="2986" y="1727"/>
            <a:chExt cx="719" cy="463"/>
          </a:xfrm>
        </p:grpSpPr>
        <p:sp>
          <p:nvSpPr>
            <p:cNvPr id="258067" name="Line 20"/>
            <p:cNvSpPr>
              <a:spLocks noChangeShapeType="1"/>
            </p:cNvSpPr>
            <p:nvPr/>
          </p:nvSpPr>
          <p:spPr bwMode="auto">
            <a:xfrm>
              <a:off x="3344" y="2113"/>
              <a:ext cx="1" cy="7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68" name="Oval 21"/>
            <p:cNvSpPr>
              <a:spLocks noChangeArrowheads="1"/>
            </p:cNvSpPr>
            <p:nvPr/>
          </p:nvSpPr>
          <p:spPr bwMode="auto">
            <a:xfrm>
              <a:off x="2986" y="1727"/>
              <a:ext cx="719" cy="412"/>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8069" name="Text Box 22"/>
            <p:cNvSpPr txBox="1">
              <a:spLocks noChangeArrowheads="1"/>
            </p:cNvSpPr>
            <p:nvPr/>
          </p:nvSpPr>
          <p:spPr bwMode="auto">
            <a:xfrm>
              <a:off x="3077" y="1752"/>
              <a:ext cx="555" cy="407"/>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000">
                  <a:solidFill>
                    <a:srgbClr val="000099"/>
                  </a:solidFill>
                  <a:ea typeface="黑体" panose="02010609060101010101" pitchFamily="49" charset="-122"/>
                </a:rPr>
                <a:t>服务器</a:t>
              </a:r>
            </a:p>
            <a:p>
              <a:pPr algn="ctr" eaLnBrk="0" hangingPunct="0">
                <a:lnSpc>
                  <a:spcPct val="90000"/>
                </a:lnSpc>
              </a:pPr>
              <a:r>
                <a:rPr lang="en-US" altLang="zh-CN" sz="2000">
                  <a:solidFill>
                    <a:srgbClr val="000099"/>
                  </a:solidFill>
                  <a:ea typeface="黑体" panose="02010609060101010101" pitchFamily="49" charset="-122"/>
                </a:rPr>
                <a:t>2</a:t>
              </a:r>
              <a:endParaRPr lang="en-US" altLang="zh-CN" sz="3200">
                <a:solidFill>
                  <a:srgbClr val="000099"/>
                </a:solidFill>
                <a:ea typeface="黑体" panose="02010609060101010101" pitchFamily="49" charset="-122"/>
              </a:endParaRPr>
            </a:p>
          </p:txBody>
        </p:sp>
      </p:grpSp>
      <p:grpSp>
        <p:nvGrpSpPr>
          <p:cNvPr id="149527" name="Group 23"/>
          <p:cNvGrpSpPr>
            <a:grpSpLocks/>
          </p:cNvGrpSpPr>
          <p:nvPr/>
        </p:nvGrpSpPr>
        <p:grpSpPr bwMode="auto">
          <a:xfrm>
            <a:off x="661988" y="1268413"/>
            <a:ext cx="8564562" cy="3771900"/>
            <a:chOff x="385" y="1254"/>
            <a:chExt cx="4980" cy="2376"/>
          </a:xfrm>
        </p:grpSpPr>
        <p:sp>
          <p:nvSpPr>
            <p:cNvPr id="258071" name="Freeform 24"/>
            <p:cNvSpPr>
              <a:spLocks noChangeArrowheads="1"/>
            </p:cNvSpPr>
            <p:nvPr/>
          </p:nvSpPr>
          <p:spPr bwMode="auto">
            <a:xfrm>
              <a:off x="846" y="3219"/>
              <a:ext cx="4066" cy="411"/>
            </a:xfrm>
            <a:custGeom>
              <a:avLst/>
              <a:gdLst>
                <a:gd name="T0" fmla="*/ 0 w 3527"/>
                <a:gd name="T1" fmla="*/ 0 h 333"/>
                <a:gd name="T2" fmla="*/ 0 w 3527"/>
                <a:gd name="T3" fmla="*/ 129 h 333"/>
                <a:gd name="T4" fmla="*/ 14 w 3527"/>
                <a:gd name="T5" fmla="*/ 192 h 333"/>
                <a:gd name="T6" fmla="*/ 50 w 3527"/>
                <a:gd name="T7" fmla="*/ 270 h 333"/>
                <a:gd name="T8" fmla="*/ 122 w 3527"/>
                <a:gd name="T9" fmla="*/ 318 h 333"/>
                <a:gd name="T10" fmla="*/ 177 w 3527"/>
                <a:gd name="T11" fmla="*/ 330 h 333"/>
                <a:gd name="T12" fmla="*/ 3360 w 3527"/>
                <a:gd name="T13" fmla="*/ 333 h 333"/>
                <a:gd name="T14" fmla="*/ 3422 w 3527"/>
                <a:gd name="T15" fmla="*/ 318 h 333"/>
                <a:gd name="T16" fmla="*/ 3482 w 3527"/>
                <a:gd name="T17" fmla="*/ 282 h 333"/>
                <a:gd name="T18" fmla="*/ 3512 w 3527"/>
                <a:gd name="T19" fmla="*/ 234 h 333"/>
                <a:gd name="T20" fmla="*/ 3524 w 3527"/>
                <a:gd name="T21" fmla="*/ 162 h 333"/>
                <a:gd name="T22" fmla="*/ 3527 w 3527"/>
                <a:gd name="T23"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258072" name="Group 25"/>
            <p:cNvGrpSpPr>
              <a:grpSpLocks/>
            </p:cNvGrpSpPr>
            <p:nvPr/>
          </p:nvGrpSpPr>
          <p:grpSpPr bwMode="auto">
            <a:xfrm>
              <a:off x="385" y="1254"/>
              <a:ext cx="941" cy="1965"/>
              <a:chOff x="385" y="1254"/>
              <a:chExt cx="941" cy="1965"/>
            </a:xfrm>
          </p:grpSpPr>
          <p:sp>
            <p:nvSpPr>
              <p:cNvPr id="258073" name="Rectangle 26"/>
              <p:cNvSpPr>
                <a:spLocks noChangeArrowheads="1"/>
              </p:cNvSpPr>
              <p:nvPr/>
            </p:nvSpPr>
            <p:spPr bwMode="auto">
              <a:xfrm>
                <a:off x="385" y="1522"/>
                <a:ext cx="941" cy="1697"/>
              </a:xfrm>
              <a:prstGeom prst="rect">
                <a:avLst/>
              </a:prstGeom>
              <a:solidFill>
                <a:srgbClr val="FFFF66"/>
              </a:solidFill>
              <a:ln w="2857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74" name="Text Box 27"/>
              <p:cNvSpPr txBox="1">
                <a:spLocks noChangeArrowheads="1"/>
              </p:cNvSpPr>
              <p:nvPr/>
            </p:nvSpPr>
            <p:spPr bwMode="auto">
              <a:xfrm>
                <a:off x="413" y="2689"/>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数据链路层</a:t>
                </a:r>
              </a:p>
            </p:txBody>
          </p:sp>
          <p:sp>
            <p:nvSpPr>
              <p:cNvPr id="258075" name="Line 28"/>
              <p:cNvSpPr>
                <a:spLocks noChangeShapeType="1"/>
              </p:cNvSpPr>
              <p:nvPr/>
            </p:nvSpPr>
            <p:spPr bwMode="auto">
              <a:xfrm>
                <a:off x="385" y="2962"/>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76" name="Line 29"/>
              <p:cNvSpPr>
                <a:spLocks noChangeShapeType="1"/>
              </p:cNvSpPr>
              <p:nvPr/>
            </p:nvSpPr>
            <p:spPr bwMode="auto">
              <a:xfrm>
                <a:off x="385" y="2704"/>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77" name="Line 30"/>
              <p:cNvSpPr>
                <a:spLocks noChangeShapeType="1"/>
              </p:cNvSpPr>
              <p:nvPr/>
            </p:nvSpPr>
            <p:spPr bwMode="auto">
              <a:xfrm>
                <a:off x="385" y="2447"/>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78" name="Line 31"/>
              <p:cNvSpPr>
                <a:spLocks noChangeShapeType="1"/>
              </p:cNvSpPr>
              <p:nvPr/>
            </p:nvSpPr>
            <p:spPr bwMode="auto">
              <a:xfrm>
                <a:off x="385" y="2190"/>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79" name="Text Box 32"/>
              <p:cNvSpPr txBox="1">
                <a:spLocks noChangeArrowheads="1"/>
              </p:cNvSpPr>
              <p:nvPr/>
            </p:nvSpPr>
            <p:spPr bwMode="auto">
              <a:xfrm>
                <a:off x="560" y="2946"/>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物理层</a:t>
                </a:r>
              </a:p>
            </p:txBody>
          </p:sp>
          <p:sp>
            <p:nvSpPr>
              <p:cNvPr id="258080" name="Text Box 33"/>
              <p:cNvSpPr txBox="1">
                <a:spLocks noChangeArrowheads="1"/>
              </p:cNvSpPr>
              <p:nvPr/>
            </p:nvSpPr>
            <p:spPr bwMode="auto">
              <a:xfrm>
                <a:off x="560" y="2183"/>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运输层</a:t>
                </a:r>
              </a:p>
            </p:txBody>
          </p:sp>
          <p:sp>
            <p:nvSpPr>
              <p:cNvPr id="258081" name="Text Box 34"/>
              <p:cNvSpPr txBox="1">
                <a:spLocks noChangeArrowheads="1"/>
              </p:cNvSpPr>
              <p:nvPr/>
            </p:nvSpPr>
            <p:spPr bwMode="auto">
              <a:xfrm>
                <a:off x="560" y="2440"/>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网络层</a:t>
                </a:r>
              </a:p>
            </p:txBody>
          </p:sp>
          <p:sp>
            <p:nvSpPr>
              <p:cNvPr id="258082" name="Line 35"/>
              <p:cNvSpPr>
                <a:spLocks noChangeShapeType="1"/>
              </p:cNvSpPr>
              <p:nvPr/>
            </p:nvSpPr>
            <p:spPr bwMode="auto">
              <a:xfrm>
                <a:off x="845" y="2036"/>
                <a:ext cx="2" cy="15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83" name="Oval 36"/>
              <p:cNvSpPr>
                <a:spLocks noChangeArrowheads="1"/>
              </p:cNvSpPr>
              <p:nvPr/>
            </p:nvSpPr>
            <p:spPr bwMode="auto">
              <a:xfrm>
                <a:off x="468" y="1779"/>
                <a:ext cx="775" cy="308"/>
              </a:xfrm>
              <a:prstGeom prst="ellipse">
                <a:avLst/>
              </a:prstGeom>
              <a:solidFill>
                <a:srgbClr val="00FF99"/>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8084" name="Text Box 37"/>
              <p:cNvSpPr txBox="1">
                <a:spLocks noChangeArrowheads="1"/>
              </p:cNvSpPr>
              <p:nvPr/>
            </p:nvSpPr>
            <p:spPr bwMode="auto">
              <a:xfrm>
                <a:off x="565" y="1506"/>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应用层</a:t>
                </a:r>
              </a:p>
            </p:txBody>
          </p:sp>
          <p:sp>
            <p:nvSpPr>
              <p:cNvPr id="258085" name="Text Box 38"/>
              <p:cNvSpPr txBox="1">
                <a:spLocks noChangeArrowheads="1"/>
              </p:cNvSpPr>
              <p:nvPr/>
            </p:nvSpPr>
            <p:spPr bwMode="auto">
              <a:xfrm>
                <a:off x="523" y="1254"/>
                <a:ext cx="6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计算机 </a:t>
                </a:r>
                <a:r>
                  <a:rPr lang="en-US" altLang="zh-CN" sz="2000" b="1">
                    <a:solidFill>
                      <a:srgbClr val="000099"/>
                    </a:solidFill>
                    <a:ea typeface="黑体" panose="02010609060101010101" pitchFamily="49" charset="-122"/>
                  </a:rPr>
                  <a:t>1</a:t>
                </a:r>
              </a:p>
            </p:txBody>
          </p:sp>
          <p:sp>
            <p:nvSpPr>
              <p:cNvPr id="258086" name="Text Box 39"/>
              <p:cNvSpPr txBox="1">
                <a:spLocks noChangeArrowheads="1"/>
              </p:cNvSpPr>
              <p:nvPr/>
            </p:nvSpPr>
            <p:spPr bwMode="auto">
              <a:xfrm>
                <a:off x="567" y="1789"/>
                <a:ext cx="53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客户 </a:t>
                </a:r>
                <a:r>
                  <a:rPr lang="en-US" altLang="zh-CN" sz="2000" b="1">
                    <a:solidFill>
                      <a:srgbClr val="000099"/>
                    </a:solidFill>
                    <a:ea typeface="黑体" panose="02010609060101010101" pitchFamily="49" charset="-122"/>
                  </a:rPr>
                  <a:t>1</a:t>
                </a:r>
                <a:endParaRPr lang="en-US" altLang="zh-CN" sz="3200" b="1">
                  <a:solidFill>
                    <a:srgbClr val="000099"/>
                  </a:solidFill>
                  <a:ea typeface="黑体" panose="02010609060101010101" pitchFamily="49" charset="-122"/>
                </a:endParaRPr>
              </a:p>
            </p:txBody>
          </p:sp>
        </p:grpSp>
        <p:grpSp>
          <p:nvGrpSpPr>
            <p:cNvPr id="258087" name="Group 40"/>
            <p:cNvGrpSpPr>
              <a:grpSpLocks/>
            </p:cNvGrpSpPr>
            <p:nvPr/>
          </p:nvGrpSpPr>
          <p:grpSpPr bwMode="auto">
            <a:xfrm>
              <a:off x="4424" y="1254"/>
              <a:ext cx="941" cy="1965"/>
              <a:chOff x="4424" y="1254"/>
              <a:chExt cx="941" cy="1965"/>
            </a:xfrm>
          </p:grpSpPr>
          <p:sp>
            <p:nvSpPr>
              <p:cNvPr id="258088" name="Rectangle 41"/>
              <p:cNvSpPr>
                <a:spLocks noChangeArrowheads="1"/>
              </p:cNvSpPr>
              <p:nvPr/>
            </p:nvSpPr>
            <p:spPr bwMode="auto">
              <a:xfrm>
                <a:off x="4424" y="1522"/>
                <a:ext cx="941" cy="1697"/>
              </a:xfrm>
              <a:prstGeom prst="rect">
                <a:avLst/>
              </a:prstGeom>
              <a:solidFill>
                <a:srgbClr val="FFFF66"/>
              </a:solidFill>
              <a:ln w="2857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89" name="Text Box 42"/>
              <p:cNvSpPr txBox="1">
                <a:spLocks noChangeArrowheads="1"/>
              </p:cNvSpPr>
              <p:nvPr/>
            </p:nvSpPr>
            <p:spPr bwMode="auto">
              <a:xfrm>
                <a:off x="4452" y="2689"/>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数据链路层</a:t>
                </a:r>
              </a:p>
            </p:txBody>
          </p:sp>
          <p:sp>
            <p:nvSpPr>
              <p:cNvPr id="258090" name="Line 43"/>
              <p:cNvSpPr>
                <a:spLocks noChangeShapeType="1"/>
              </p:cNvSpPr>
              <p:nvPr/>
            </p:nvSpPr>
            <p:spPr bwMode="auto">
              <a:xfrm>
                <a:off x="4424" y="2962"/>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91" name="Line 44"/>
              <p:cNvSpPr>
                <a:spLocks noChangeShapeType="1"/>
              </p:cNvSpPr>
              <p:nvPr/>
            </p:nvSpPr>
            <p:spPr bwMode="auto">
              <a:xfrm>
                <a:off x="4424" y="2704"/>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92" name="Line 45"/>
              <p:cNvSpPr>
                <a:spLocks noChangeShapeType="1"/>
              </p:cNvSpPr>
              <p:nvPr/>
            </p:nvSpPr>
            <p:spPr bwMode="auto">
              <a:xfrm>
                <a:off x="4424" y="2447"/>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93" name="Line 46"/>
              <p:cNvSpPr>
                <a:spLocks noChangeShapeType="1"/>
              </p:cNvSpPr>
              <p:nvPr/>
            </p:nvSpPr>
            <p:spPr bwMode="auto">
              <a:xfrm>
                <a:off x="4424" y="2190"/>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94" name="Text Box 47"/>
              <p:cNvSpPr txBox="1">
                <a:spLocks noChangeArrowheads="1"/>
              </p:cNvSpPr>
              <p:nvPr/>
            </p:nvSpPr>
            <p:spPr bwMode="auto">
              <a:xfrm>
                <a:off x="4600" y="2946"/>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物理层</a:t>
                </a:r>
              </a:p>
            </p:txBody>
          </p:sp>
          <p:sp>
            <p:nvSpPr>
              <p:cNvPr id="258095" name="Text Box 48"/>
              <p:cNvSpPr txBox="1">
                <a:spLocks noChangeArrowheads="1"/>
              </p:cNvSpPr>
              <p:nvPr/>
            </p:nvSpPr>
            <p:spPr bwMode="auto">
              <a:xfrm>
                <a:off x="4600" y="2183"/>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运输层</a:t>
                </a:r>
              </a:p>
            </p:txBody>
          </p:sp>
          <p:sp>
            <p:nvSpPr>
              <p:cNvPr id="258096" name="Text Box 49"/>
              <p:cNvSpPr txBox="1">
                <a:spLocks noChangeArrowheads="1"/>
              </p:cNvSpPr>
              <p:nvPr/>
            </p:nvSpPr>
            <p:spPr bwMode="auto">
              <a:xfrm>
                <a:off x="4600" y="2440"/>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网络层</a:t>
                </a:r>
              </a:p>
            </p:txBody>
          </p:sp>
          <p:sp>
            <p:nvSpPr>
              <p:cNvPr id="258097" name="Line 50"/>
              <p:cNvSpPr>
                <a:spLocks noChangeShapeType="1"/>
              </p:cNvSpPr>
              <p:nvPr/>
            </p:nvSpPr>
            <p:spPr bwMode="auto">
              <a:xfrm>
                <a:off x="4911" y="2065"/>
                <a:ext cx="2" cy="1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098" name="Oval 51"/>
              <p:cNvSpPr>
                <a:spLocks noChangeArrowheads="1"/>
              </p:cNvSpPr>
              <p:nvPr/>
            </p:nvSpPr>
            <p:spPr bwMode="auto">
              <a:xfrm>
                <a:off x="4507" y="1779"/>
                <a:ext cx="775" cy="308"/>
              </a:xfrm>
              <a:prstGeom prst="ellipse">
                <a:avLst/>
              </a:prstGeom>
              <a:solidFill>
                <a:srgbClr val="00FF99"/>
              </a:solidFill>
              <a:ln w="19050">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1600" b="1">
                  <a:solidFill>
                    <a:srgbClr val="000099"/>
                  </a:solidFill>
                  <a:ea typeface="黑体" panose="02010609060101010101" pitchFamily="49" charset="-122"/>
                </a:endParaRPr>
              </a:p>
            </p:txBody>
          </p:sp>
          <p:sp>
            <p:nvSpPr>
              <p:cNvPr id="258099" name="Text Box 52"/>
              <p:cNvSpPr txBox="1">
                <a:spLocks noChangeArrowheads="1"/>
              </p:cNvSpPr>
              <p:nvPr/>
            </p:nvSpPr>
            <p:spPr bwMode="auto">
              <a:xfrm>
                <a:off x="4595" y="1514"/>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应用层</a:t>
                </a:r>
              </a:p>
            </p:txBody>
          </p:sp>
          <p:sp>
            <p:nvSpPr>
              <p:cNvPr id="258100" name="Text Box 53"/>
              <p:cNvSpPr txBox="1">
                <a:spLocks noChangeArrowheads="1"/>
              </p:cNvSpPr>
              <p:nvPr/>
            </p:nvSpPr>
            <p:spPr bwMode="auto">
              <a:xfrm>
                <a:off x="4567" y="1254"/>
                <a:ext cx="6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计算机 </a:t>
                </a:r>
                <a:r>
                  <a:rPr lang="en-US" altLang="zh-CN" sz="2000" b="1">
                    <a:solidFill>
                      <a:srgbClr val="000099"/>
                    </a:solidFill>
                    <a:ea typeface="黑体" panose="02010609060101010101" pitchFamily="49" charset="-122"/>
                  </a:rPr>
                  <a:t>2</a:t>
                </a:r>
              </a:p>
            </p:txBody>
          </p:sp>
          <p:sp>
            <p:nvSpPr>
              <p:cNvPr id="258101" name="Text Box 54"/>
              <p:cNvSpPr txBox="1">
                <a:spLocks noChangeArrowheads="1"/>
              </p:cNvSpPr>
              <p:nvPr/>
            </p:nvSpPr>
            <p:spPr bwMode="auto">
              <a:xfrm>
                <a:off x="4625" y="1789"/>
                <a:ext cx="53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客户 </a:t>
                </a:r>
                <a:r>
                  <a:rPr lang="en-US" altLang="zh-CN" sz="2000" b="1">
                    <a:solidFill>
                      <a:srgbClr val="000099"/>
                    </a:solidFill>
                    <a:ea typeface="黑体" panose="02010609060101010101" pitchFamily="49" charset="-122"/>
                  </a:rPr>
                  <a:t>2</a:t>
                </a:r>
                <a:endParaRPr lang="en-US" altLang="zh-CN" sz="3200" b="1">
                  <a:solidFill>
                    <a:srgbClr val="000099"/>
                  </a:solidFill>
                  <a:ea typeface="黑体" panose="02010609060101010101" pitchFamily="49" charset="-122"/>
                </a:endParaRPr>
              </a:p>
            </p:txBody>
          </p:sp>
        </p:grpSp>
      </p:grpSp>
      <p:grpSp>
        <p:nvGrpSpPr>
          <p:cNvPr id="258102" name="Group 55"/>
          <p:cNvGrpSpPr>
            <a:grpSpLocks/>
          </p:cNvGrpSpPr>
          <p:nvPr/>
        </p:nvGrpSpPr>
        <p:grpSpPr bwMode="auto">
          <a:xfrm>
            <a:off x="3860800" y="4537075"/>
            <a:ext cx="2211388" cy="1122363"/>
            <a:chOff x="2245" y="3313"/>
            <a:chExt cx="1286" cy="707"/>
          </a:xfrm>
        </p:grpSpPr>
        <p:graphicFrame>
          <p:nvGraphicFramePr>
            <p:cNvPr id="258103" name="Object 56"/>
            <p:cNvGraphicFramePr>
              <a:graphicFrameLocks noChangeAspect="1"/>
            </p:cNvGraphicFramePr>
            <p:nvPr/>
          </p:nvGraphicFramePr>
          <p:xfrm>
            <a:off x="2245" y="3313"/>
            <a:ext cx="1286" cy="707"/>
          </p:xfrm>
          <a:graphic>
            <a:graphicData uri="http://schemas.openxmlformats.org/presentationml/2006/ole">
              <mc:AlternateContent xmlns:mc="http://schemas.openxmlformats.org/markup-compatibility/2006">
                <mc:Choice xmlns:v="urn:schemas-microsoft-com:vml" Requires="v">
                  <p:oleObj spid="_x0000_s258128" r:id="rId4" imgW="1687068" imgH="964692" progId="">
                    <p:embed/>
                  </p:oleObj>
                </mc:Choice>
                <mc:Fallback>
                  <p:oleObj r:id="rId4" imgW="1687068" imgH="964692" progId="">
                    <p:embed/>
                    <p:pic>
                      <p:nvPicPr>
                        <p:cNvPr id="0" name="Object 5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5" y="3313"/>
                          <a:ext cx="1286" cy="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8104" name="Text Box 57"/>
            <p:cNvSpPr txBox="1">
              <a:spLocks noChangeArrowheads="1"/>
            </p:cNvSpPr>
            <p:nvPr/>
          </p:nvSpPr>
          <p:spPr bwMode="auto">
            <a:xfrm>
              <a:off x="2562" y="3521"/>
              <a:ext cx="64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互联网</a:t>
              </a:r>
            </a:p>
          </p:txBody>
        </p:sp>
      </p:grpSp>
      <p:grpSp>
        <p:nvGrpSpPr>
          <p:cNvPr id="149562" name="Group 58"/>
          <p:cNvGrpSpPr>
            <a:grpSpLocks/>
          </p:cNvGrpSpPr>
          <p:nvPr/>
        </p:nvGrpSpPr>
        <p:grpSpPr bwMode="auto">
          <a:xfrm>
            <a:off x="2184400" y="2346325"/>
            <a:ext cx="5614988" cy="0"/>
            <a:chOff x="1270" y="1933"/>
            <a:chExt cx="3265" cy="0"/>
          </a:xfrm>
        </p:grpSpPr>
        <p:sp>
          <p:nvSpPr>
            <p:cNvPr id="258106" name="Line 59"/>
            <p:cNvSpPr>
              <a:spLocks noChangeShapeType="1"/>
            </p:cNvSpPr>
            <p:nvPr/>
          </p:nvSpPr>
          <p:spPr bwMode="auto">
            <a:xfrm>
              <a:off x="3705" y="1933"/>
              <a:ext cx="830" cy="0"/>
            </a:xfrm>
            <a:prstGeom prst="line">
              <a:avLst/>
            </a:prstGeom>
            <a:noFill/>
            <a:ln w="38100">
              <a:solidFill>
                <a:srgbClr val="0000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258107" name="Line 60"/>
            <p:cNvSpPr>
              <a:spLocks noChangeShapeType="1"/>
            </p:cNvSpPr>
            <p:nvPr/>
          </p:nvSpPr>
          <p:spPr bwMode="auto">
            <a:xfrm>
              <a:off x="1270" y="1933"/>
              <a:ext cx="830" cy="0"/>
            </a:xfrm>
            <a:prstGeom prst="line">
              <a:avLst/>
            </a:prstGeom>
            <a:noFill/>
            <a:ln w="38100">
              <a:solidFill>
                <a:srgbClr val="0000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258108" name="矩形 1"/>
          <p:cNvSpPr>
            <a:spLocks noChangeArrowheads="1"/>
          </p:cNvSpPr>
          <p:nvPr/>
        </p:nvSpPr>
        <p:spPr bwMode="auto">
          <a:xfrm>
            <a:off x="488950" y="5732463"/>
            <a:ext cx="92440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ea typeface="黑体" panose="02010609060101010101" pitchFamily="49" charset="-122"/>
              </a:rPr>
              <a:t>计算</a:t>
            </a:r>
            <a:r>
              <a:rPr lang="zh-CN" altLang="zh-CN" sz="2400" b="1">
                <a:ea typeface="黑体" panose="02010609060101010101" pitchFamily="49" charset="-122"/>
              </a:rPr>
              <a:t>机</a:t>
            </a:r>
            <a:r>
              <a:rPr lang="en-US" altLang="zh-CN" sz="2400" b="1">
                <a:ea typeface="黑体" panose="02010609060101010101" pitchFamily="49" charset="-122"/>
              </a:rPr>
              <a:t> 3 </a:t>
            </a:r>
            <a:r>
              <a:rPr lang="zh-CN" altLang="zh-CN" sz="2400" b="1">
                <a:ea typeface="黑体" panose="02010609060101010101" pitchFamily="49" charset="-122"/>
              </a:rPr>
              <a:t>的两个服务器进程分别向</a:t>
            </a:r>
            <a:r>
              <a:rPr lang="en-US" altLang="zh-CN" sz="2400" b="1">
                <a:ea typeface="黑体" panose="02010609060101010101" pitchFamily="49" charset="-122"/>
              </a:rPr>
              <a:t> 1 </a:t>
            </a:r>
            <a:r>
              <a:rPr lang="zh-CN" altLang="zh-CN" sz="2400" b="1">
                <a:ea typeface="黑体" panose="02010609060101010101" pitchFamily="49" charset="-122"/>
              </a:rPr>
              <a:t>和</a:t>
            </a:r>
            <a:r>
              <a:rPr lang="en-US" altLang="zh-CN" sz="2400" b="1">
                <a:ea typeface="黑体" panose="02010609060101010101" pitchFamily="49" charset="-122"/>
              </a:rPr>
              <a:t> 2 </a:t>
            </a:r>
            <a:r>
              <a:rPr lang="zh-CN" altLang="zh-CN" sz="2400" b="1">
                <a:ea typeface="黑体" panose="02010609060101010101" pitchFamily="49" charset="-122"/>
              </a:rPr>
              <a:t>的客户进程提供服务</a:t>
            </a:r>
            <a:endParaRPr lang="zh-CN" altLang="en-US" sz="2400" b="1">
              <a:ea typeface="黑体" panose="02010609060101010101" pitchFamily="49" charset="-122"/>
            </a:endParaRPr>
          </a:p>
        </p:txBody>
      </p:sp>
      <p:sp>
        <p:nvSpPr>
          <p:cNvPr id="25810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C60919-B526-4C2A-8051-5450E2076476}" type="slidenum">
              <a:rPr lang="zh-CN" altLang="en-US" smtClean="0"/>
              <a:pPr eaLnBrk="1" hangingPunct="1"/>
              <a:t>55</a:t>
            </a:fld>
            <a:endParaRPr lang="en-US" altLang="zh-CN" smtClean="0"/>
          </a:p>
        </p:txBody>
      </p:sp>
      <p:sp>
        <p:nvSpPr>
          <p:cNvPr id="25811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9519"/>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nodeType="afterEffect">
                                  <p:stCondLst>
                                    <p:cond delay="0"/>
                                  </p:stCondLst>
                                  <p:childTnLst>
                                    <p:anim calcmode="discrete" valueType="str">
                                      <p:cBhvr>
                                        <p:cTn id="9" dur="500" fill="hold"/>
                                        <p:tgtEl>
                                          <p:spTgt spid="149519"/>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1501"/>
                            </p:stCondLst>
                            <p:childTnLst>
                              <p:par>
                                <p:cTn id="11" presetID="1" presetClass="entr" presetSubtype="0" fill="hold" nodeType="afterEffect">
                                  <p:stCondLst>
                                    <p:cond delay="500"/>
                                  </p:stCondLst>
                                  <p:childTnLst>
                                    <p:set>
                                      <p:cBhvr>
                                        <p:cTn id="12" dur="1" fill="hold">
                                          <p:stCondLst>
                                            <p:cond delay="0"/>
                                          </p:stCondLst>
                                        </p:cTn>
                                        <p:tgtEl>
                                          <p:spTgt spid="149523"/>
                                        </p:tgtEl>
                                        <p:attrNameLst>
                                          <p:attrName>style.visibility</p:attrName>
                                        </p:attrNameLst>
                                      </p:cBhvr>
                                      <p:to>
                                        <p:strVal val="visible"/>
                                      </p:to>
                                    </p:set>
                                  </p:childTnLst>
                                </p:cTn>
                              </p:par>
                            </p:childTnLst>
                          </p:cTn>
                        </p:par>
                        <p:par>
                          <p:cTn id="13" fill="hold" nodeType="afterGroup">
                            <p:stCondLst>
                              <p:cond delay="2002"/>
                            </p:stCondLst>
                            <p:childTnLst>
                              <p:par>
                                <p:cTn id="14" presetID="35" presetClass="emph" presetSubtype="0" repeatCount="3000" fill="hold" nodeType="afterEffect">
                                  <p:stCondLst>
                                    <p:cond delay="0"/>
                                  </p:stCondLst>
                                  <p:childTnLst>
                                    <p:anim calcmode="discrete" valueType="str">
                                      <p:cBhvr>
                                        <p:cTn id="15" dur="500" fill="hold"/>
                                        <p:tgtEl>
                                          <p:spTgt spid="149523"/>
                                        </p:tgtEl>
                                        <p:attrNameLst>
                                          <p:attrName>style.visibility</p:attrName>
                                        </p:attrNameLst>
                                      </p:cBhvr>
                                      <p:tavLst>
                                        <p:tav tm="0">
                                          <p:val>
                                            <p:strVal val="hidden"/>
                                          </p:val>
                                        </p:tav>
                                        <p:tav tm="50000">
                                          <p:val>
                                            <p:strVal val="visible"/>
                                          </p:val>
                                        </p:tav>
                                      </p:tavLst>
                                    </p:anim>
                                  </p:childTnLst>
                                </p:cTn>
                              </p:par>
                            </p:childTnLst>
                          </p:cTn>
                        </p:par>
                        <p:par>
                          <p:cTn id="16" fill="hold" nodeType="afterGroup">
                            <p:stCondLst>
                              <p:cond delay="3502"/>
                            </p:stCondLst>
                            <p:childTnLst>
                              <p:par>
                                <p:cTn id="17" presetID="1" presetClass="entr" presetSubtype="0" fill="hold" nodeType="afterEffect">
                                  <p:stCondLst>
                                    <p:cond delay="500"/>
                                  </p:stCondLst>
                                  <p:childTnLst>
                                    <p:set>
                                      <p:cBhvr>
                                        <p:cTn id="18" dur="1" fill="hold">
                                          <p:stCondLst>
                                            <p:cond delay="0"/>
                                          </p:stCondLst>
                                        </p:cTn>
                                        <p:tgtEl>
                                          <p:spTgt spid="149527"/>
                                        </p:tgtEl>
                                        <p:attrNameLst>
                                          <p:attrName>style.visibility</p:attrName>
                                        </p:attrNameLst>
                                      </p:cBhvr>
                                      <p:to>
                                        <p:strVal val="visible"/>
                                      </p:to>
                                    </p:set>
                                  </p:childTnLst>
                                </p:cTn>
                              </p:par>
                            </p:childTnLst>
                          </p:cTn>
                        </p:par>
                        <p:par>
                          <p:cTn id="19" fill="hold" nodeType="afterGroup">
                            <p:stCondLst>
                              <p:cond delay="4003"/>
                            </p:stCondLst>
                            <p:childTnLst>
                              <p:par>
                                <p:cTn id="20" presetID="1" presetClass="entr" presetSubtype="0" fill="hold" nodeType="afterEffect">
                                  <p:stCondLst>
                                    <p:cond delay="500"/>
                                  </p:stCondLst>
                                  <p:childTnLst>
                                    <p:set>
                                      <p:cBhvr>
                                        <p:cTn id="21" dur="1" fill="hold">
                                          <p:stCondLst>
                                            <p:cond delay="0"/>
                                          </p:stCondLst>
                                        </p:cTn>
                                        <p:tgtEl>
                                          <p:spTgt spid="149562"/>
                                        </p:tgtEl>
                                        <p:attrNameLst>
                                          <p:attrName>style.visibility</p:attrName>
                                        </p:attrNameLst>
                                      </p:cBhvr>
                                      <p:to>
                                        <p:strVal val="visible"/>
                                      </p:to>
                                    </p:set>
                                  </p:childTnLst>
                                </p:cTn>
                              </p:par>
                            </p:childTnLst>
                          </p:cTn>
                        </p:par>
                        <p:par>
                          <p:cTn id="22" fill="hold" nodeType="afterGroup">
                            <p:stCondLst>
                              <p:cond delay="4504"/>
                            </p:stCondLst>
                            <p:childTnLst>
                              <p:par>
                                <p:cTn id="23" presetID="35" presetClass="emph" presetSubtype="0" repeatCount="6000" fill="hold" nodeType="afterEffect">
                                  <p:stCondLst>
                                    <p:cond delay="0"/>
                                  </p:stCondLst>
                                  <p:childTnLst>
                                    <p:anim calcmode="discrete" valueType="str">
                                      <p:cBhvr>
                                        <p:cTn id="24" dur="500" fill="hold"/>
                                        <p:tgtEl>
                                          <p:spTgt spid="14956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1083</TotalTime>
  <Words>3409</Words>
  <Application>Microsoft Office PowerPoint</Application>
  <PresentationFormat>A4 纸张(210x297 毫米)</PresentationFormat>
  <Paragraphs>871</Paragraphs>
  <Slides>55</Slides>
  <Notes>50</Notes>
  <HiddenSlides>0</HiddenSlides>
  <MMClips>1</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0</vt:i4>
      </vt:variant>
      <vt:variant>
        <vt:lpstr>幻灯片标题</vt:lpstr>
      </vt:variant>
      <vt:variant>
        <vt:i4>55</vt:i4>
      </vt:variant>
    </vt:vector>
  </HeadingPairs>
  <TitlesOfParts>
    <vt:vector size="64" baseType="lpstr">
      <vt:lpstr>黑体</vt:lpstr>
      <vt:lpstr>宋体</vt:lpstr>
      <vt:lpstr>Arial</vt:lpstr>
      <vt:lpstr>Arial Rounded MT Bold</vt:lpstr>
      <vt:lpstr>Bookman Old Style</vt:lpstr>
      <vt:lpstr>Tahoma</vt:lpstr>
      <vt:lpstr>Times New Roman</vt:lpstr>
      <vt:lpstr>Wingdings</vt:lpstr>
      <vt:lpstr>Presentation</vt:lpstr>
      <vt:lpstr>第 1 章   概述</vt:lpstr>
      <vt:lpstr>1.7  计算机网络的体系结构</vt:lpstr>
      <vt:lpstr>1.7.1  计算机网络体系结构的形成</vt:lpstr>
      <vt:lpstr>1.7.1  计算机网络体系结构的形成</vt:lpstr>
      <vt:lpstr>开放系统互连参考模型OSI/RM</vt:lpstr>
      <vt:lpstr>开放系统互连参考模型OSI/RM</vt:lpstr>
      <vt:lpstr>两种国际标准</vt:lpstr>
      <vt:lpstr>1.7.2  协议与划分层次</vt:lpstr>
      <vt:lpstr>网络协议的三个组成要素 </vt:lpstr>
      <vt:lpstr>协议的两种形式</vt:lpstr>
      <vt:lpstr>层次式协议结构</vt:lpstr>
      <vt:lpstr>划分层次的概念举例 </vt:lpstr>
      <vt:lpstr>两个主机交换文件 </vt:lpstr>
      <vt:lpstr>再设计一个通信服务模块 </vt:lpstr>
      <vt:lpstr>再设计一个网络接入模块 </vt:lpstr>
      <vt:lpstr>分层的好处与缺点 </vt:lpstr>
      <vt:lpstr>层数多少要适当 </vt:lpstr>
      <vt:lpstr>各层完成的主要功能</vt:lpstr>
      <vt:lpstr>计算机网络的体系结构 </vt:lpstr>
      <vt:lpstr>1.7.3  具有五层协议的体系结构</vt:lpstr>
      <vt:lpstr>1.7.3  具有五层协议的体系结构</vt:lpstr>
      <vt:lpstr>五层协议的体系结构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1.7.4  实体、协议、服务和服务访问点</vt:lpstr>
      <vt:lpstr>协议和服务在概念上是不一样的</vt:lpstr>
      <vt:lpstr>服务访问点</vt:lpstr>
      <vt:lpstr>1.7.4  实体、协议、服务和服务访问点</vt:lpstr>
      <vt:lpstr>协议很复杂 </vt:lpstr>
      <vt:lpstr>【例1-1】著名的协议举例</vt:lpstr>
      <vt:lpstr>PowerPoint 演示文稿</vt:lpstr>
      <vt:lpstr>结论</vt:lpstr>
      <vt:lpstr>1.7.5  TCP/IP 的体系结构</vt:lpstr>
      <vt:lpstr>TCP/IP 体系结构的另一种表示方法</vt:lpstr>
      <vt:lpstr>沙漏计时器形状的TCP/IP协议族 </vt:lpstr>
      <vt:lpstr>【例1-2】客户进程和服务器进程 使用 TCP/IP 协议栈进行通信</vt:lpstr>
      <vt:lpstr>功能较强的计算机 可同时运行多个服务器进程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59</cp:revision>
  <dcterms:created xsi:type="dcterms:W3CDTF">2016-10-01T05:27:00Z</dcterms:created>
  <dcterms:modified xsi:type="dcterms:W3CDTF">2021-01-07T01:10:43Z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
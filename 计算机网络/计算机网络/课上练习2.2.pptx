
<file path=[Content_Types].xml><?xml version="1.0" encoding="utf-8"?>
<Types xmlns="http://schemas.openxmlformats.org/package/2006/content-types">
  <Default Extension="tmp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0" r:id="rId5"/>
    <p:sldId id="262" r:id="rId6"/>
    <p:sldId id="261" r:id="rId7"/>
    <p:sldId id="259" r:id="rId8"/>
    <p:sldId id="263" r:id="rId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67985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53421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675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421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2022/3/10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5909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2022/3/10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868636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2022/3/10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43428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83604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2022/3/10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26156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26282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B7456-3132-4DB2-8F31-A57075A28DB8}" type="datetimeFigureOut">
              <a:rPr lang="zh-CN" altLang="en-US" smtClean="0"/>
              <a:t>2022/3/10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21794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0CB7456-3132-4DB2-8F31-A57075A28DB8}" type="datetimeFigureOut">
              <a:rPr lang="zh-CN" altLang="en-US" smtClean="0"/>
              <a:t>2022/3/10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B8515A-1257-4300-8B79-552042D9834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19827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13" Type="http://schemas.openxmlformats.org/officeDocument/2006/relationships/tags" Target="../tags/tag13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12" Type="http://schemas.openxmlformats.org/officeDocument/2006/relationships/tags" Target="../tags/tag12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tags" Target="../tags/tag11.xml"/><Relationship Id="rId5" Type="http://schemas.openxmlformats.org/officeDocument/2006/relationships/tags" Target="../tags/tag5.xml"/><Relationship Id="rId15" Type="http://schemas.openxmlformats.org/officeDocument/2006/relationships/image" Target="../media/image1.tmp"/><Relationship Id="rId10" Type="http://schemas.openxmlformats.org/officeDocument/2006/relationships/tags" Target="../tags/tag10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4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tags" Target="../tags/tag21.xml"/><Relationship Id="rId13" Type="http://schemas.openxmlformats.org/officeDocument/2006/relationships/tags" Target="../tags/tag26.xml"/><Relationship Id="rId3" Type="http://schemas.openxmlformats.org/officeDocument/2006/relationships/tags" Target="../tags/tag16.xml"/><Relationship Id="rId7" Type="http://schemas.openxmlformats.org/officeDocument/2006/relationships/tags" Target="../tags/tag20.xml"/><Relationship Id="rId12" Type="http://schemas.openxmlformats.org/officeDocument/2006/relationships/tags" Target="../tags/tag25.xml"/><Relationship Id="rId2" Type="http://schemas.openxmlformats.org/officeDocument/2006/relationships/tags" Target="../tags/tag15.xml"/><Relationship Id="rId1" Type="http://schemas.openxmlformats.org/officeDocument/2006/relationships/tags" Target="../tags/tag14.xml"/><Relationship Id="rId6" Type="http://schemas.openxmlformats.org/officeDocument/2006/relationships/tags" Target="../tags/tag19.xml"/><Relationship Id="rId11" Type="http://schemas.openxmlformats.org/officeDocument/2006/relationships/tags" Target="../tags/tag24.xml"/><Relationship Id="rId5" Type="http://schemas.openxmlformats.org/officeDocument/2006/relationships/tags" Target="../tags/tag18.xml"/><Relationship Id="rId15" Type="http://schemas.openxmlformats.org/officeDocument/2006/relationships/image" Target="../media/image1.tmp"/><Relationship Id="rId10" Type="http://schemas.openxmlformats.org/officeDocument/2006/relationships/tags" Target="../tags/tag23.xml"/><Relationship Id="rId4" Type="http://schemas.openxmlformats.org/officeDocument/2006/relationships/tags" Target="../tags/tag17.xml"/><Relationship Id="rId9" Type="http://schemas.openxmlformats.org/officeDocument/2006/relationships/tags" Target="../tags/tag22.xml"/><Relationship Id="rId14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34.xml"/><Relationship Id="rId13" Type="http://schemas.openxmlformats.org/officeDocument/2006/relationships/tags" Target="../tags/tag39.xml"/><Relationship Id="rId3" Type="http://schemas.openxmlformats.org/officeDocument/2006/relationships/tags" Target="../tags/tag29.xml"/><Relationship Id="rId7" Type="http://schemas.openxmlformats.org/officeDocument/2006/relationships/tags" Target="../tags/tag33.xml"/><Relationship Id="rId12" Type="http://schemas.openxmlformats.org/officeDocument/2006/relationships/tags" Target="../tags/tag38.xml"/><Relationship Id="rId2" Type="http://schemas.openxmlformats.org/officeDocument/2006/relationships/tags" Target="../tags/tag28.xml"/><Relationship Id="rId1" Type="http://schemas.openxmlformats.org/officeDocument/2006/relationships/tags" Target="../tags/tag27.xml"/><Relationship Id="rId6" Type="http://schemas.openxmlformats.org/officeDocument/2006/relationships/tags" Target="../tags/tag32.xml"/><Relationship Id="rId11" Type="http://schemas.openxmlformats.org/officeDocument/2006/relationships/tags" Target="../tags/tag37.xml"/><Relationship Id="rId5" Type="http://schemas.openxmlformats.org/officeDocument/2006/relationships/tags" Target="../tags/tag31.xml"/><Relationship Id="rId15" Type="http://schemas.openxmlformats.org/officeDocument/2006/relationships/image" Target="../media/image1.tmp"/><Relationship Id="rId10" Type="http://schemas.openxmlformats.org/officeDocument/2006/relationships/tags" Target="../tags/tag36.xml"/><Relationship Id="rId4" Type="http://schemas.openxmlformats.org/officeDocument/2006/relationships/tags" Target="../tags/tag30.xml"/><Relationship Id="rId9" Type="http://schemas.openxmlformats.org/officeDocument/2006/relationships/tags" Target="../tags/tag35.xml"/><Relationship Id="rId14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47.xml"/><Relationship Id="rId13" Type="http://schemas.openxmlformats.org/officeDocument/2006/relationships/tags" Target="../tags/tag52.xml"/><Relationship Id="rId3" Type="http://schemas.openxmlformats.org/officeDocument/2006/relationships/tags" Target="../tags/tag42.xml"/><Relationship Id="rId7" Type="http://schemas.openxmlformats.org/officeDocument/2006/relationships/tags" Target="../tags/tag46.xml"/><Relationship Id="rId12" Type="http://schemas.openxmlformats.org/officeDocument/2006/relationships/tags" Target="../tags/tag51.xml"/><Relationship Id="rId2" Type="http://schemas.openxmlformats.org/officeDocument/2006/relationships/tags" Target="../tags/tag41.xml"/><Relationship Id="rId1" Type="http://schemas.openxmlformats.org/officeDocument/2006/relationships/tags" Target="../tags/tag40.xml"/><Relationship Id="rId6" Type="http://schemas.openxmlformats.org/officeDocument/2006/relationships/tags" Target="../tags/tag45.xml"/><Relationship Id="rId11" Type="http://schemas.openxmlformats.org/officeDocument/2006/relationships/tags" Target="../tags/tag50.xml"/><Relationship Id="rId5" Type="http://schemas.openxmlformats.org/officeDocument/2006/relationships/tags" Target="../tags/tag44.xml"/><Relationship Id="rId15" Type="http://schemas.openxmlformats.org/officeDocument/2006/relationships/image" Target="../media/image1.tmp"/><Relationship Id="rId10" Type="http://schemas.openxmlformats.org/officeDocument/2006/relationships/tags" Target="../tags/tag49.xml"/><Relationship Id="rId4" Type="http://schemas.openxmlformats.org/officeDocument/2006/relationships/tags" Target="../tags/tag43.xml"/><Relationship Id="rId9" Type="http://schemas.openxmlformats.org/officeDocument/2006/relationships/tags" Target="../tags/tag48.xml"/><Relationship Id="rId14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tags" Target="../tags/tag60.xml"/><Relationship Id="rId3" Type="http://schemas.openxmlformats.org/officeDocument/2006/relationships/tags" Target="../tags/tag55.xml"/><Relationship Id="rId7" Type="http://schemas.openxmlformats.org/officeDocument/2006/relationships/tags" Target="../tags/tag59.xml"/><Relationship Id="rId12" Type="http://schemas.openxmlformats.org/officeDocument/2006/relationships/image" Target="../media/image1.tmp"/><Relationship Id="rId2" Type="http://schemas.openxmlformats.org/officeDocument/2006/relationships/tags" Target="../tags/tag54.xml"/><Relationship Id="rId1" Type="http://schemas.openxmlformats.org/officeDocument/2006/relationships/tags" Target="../tags/tag53.xml"/><Relationship Id="rId6" Type="http://schemas.openxmlformats.org/officeDocument/2006/relationships/tags" Target="../tags/tag58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57.xml"/><Relationship Id="rId10" Type="http://schemas.openxmlformats.org/officeDocument/2006/relationships/tags" Target="../tags/tag62.xml"/><Relationship Id="rId4" Type="http://schemas.openxmlformats.org/officeDocument/2006/relationships/tags" Target="../tags/tag56.xml"/><Relationship Id="rId9" Type="http://schemas.openxmlformats.org/officeDocument/2006/relationships/tags" Target="../tags/tag6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tags" Target="../tags/tag70.xml"/><Relationship Id="rId3" Type="http://schemas.openxmlformats.org/officeDocument/2006/relationships/tags" Target="../tags/tag65.xml"/><Relationship Id="rId7" Type="http://schemas.openxmlformats.org/officeDocument/2006/relationships/tags" Target="../tags/tag69.xml"/><Relationship Id="rId12" Type="http://schemas.openxmlformats.org/officeDocument/2006/relationships/image" Target="../media/image1.tmp"/><Relationship Id="rId2" Type="http://schemas.openxmlformats.org/officeDocument/2006/relationships/tags" Target="../tags/tag64.xml"/><Relationship Id="rId1" Type="http://schemas.openxmlformats.org/officeDocument/2006/relationships/tags" Target="../tags/tag63.xml"/><Relationship Id="rId6" Type="http://schemas.openxmlformats.org/officeDocument/2006/relationships/tags" Target="../tags/tag68.xml"/><Relationship Id="rId11" Type="http://schemas.openxmlformats.org/officeDocument/2006/relationships/slideLayout" Target="../slideLayouts/slideLayout7.xml"/><Relationship Id="rId5" Type="http://schemas.openxmlformats.org/officeDocument/2006/relationships/tags" Target="../tags/tag67.xml"/><Relationship Id="rId10" Type="http://schemas.openxmlformats.org/officeDocument/2006/relationships/tags" Target="../tags/tag72.xml"/><Relationship Id="rId4" Type="http://schemas.openxmlformats.org/officeDocument/2006/relationships/tags" Target="../tags/tag66.xml"/><Relationship Id="rId9" Type="http://schemas.openxmlformats.org/officeDocument/2006/relationships/tags" Target="../tags/tag7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tags" Target="../tags/tag80.xml"/><Relationship Id="rId13" Type="http://schemas.openxmlformats.org/officeDocument/2006/relationships/tags" Target="../tags/tag85.xml"/><Relationship Id="rId3" Type="http://schemas.openxmlformats.org/officeDocument/2006/relationships/tags" Target="../tags/tag75.xml"/><Relationship Id="rId7" Type="http://schemas.openxmlformats.org/officeDocument/2006/relationships/tags" Target="../tags/tag79.xml"/><Relationship Id="rId12" Type="http://schemas.openxmlformats.org/officeDocument/2006/relationships/tags" Target="../tags/tag84.xml"/><Relationship Id="rId2" Type="http://schemas.openxmlformats.org/officeDocument/2006/relationships/tags" Target="../tags/tag74.xml"/><Relationship Id="rId1" Type="http://schemas.openxmlformats.org/officeDocument/2006/relationships/tags" Target="../tags/tag73.xml"/><Relationship Id="rId6" Type="http://schemas.openxmlformats.org/officeDocument/2006/relationships/tags" Target="../tags/tag78.xml"/><Relationship Id="rId11" Type="http://schemas.openxmlformats.org/officeDocument/2006/relationships/tags" Target="../tags/tag83.xml"/><Relationship Id="rId5" Type="http://schemas.openxmlformats.org/officeDocument/2006/relationships/tags" Target="../tags/tag77.xml"/><Relationship Id="rId15" Type="http://schemas.openxmlformats.org/officeDocument/2006/relationships/image" Target="../media/image1.tmp"/><Relationship Id="rId10" Type="http://schemas.openxmlformats.org/officeDocument/2006/relationships/tags" Target="../tags/tag82.xml"/><Relationship Id="rId4" Type="http://schemas.openxmlformats.org/officeDocument/2006/relationships/tags" Target="../tags/tag76.xml"/><Relationship Id="rId9" Type="http://schemas.openxmlformats.org/officeDocument/2006/relationships/tags" Target="../tags/tag81.xml"/><Relationship Id="rId14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tags" Target="../tags/tag8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1</a:t>
            </a:r>
            <a:r>
              <a:rPr lang="zh-CN" altLang="en-US" dirty="0" smtClean="0"/>
              <a:t>、</a:t>
            </a:r>
            <a:r>
              <a:rPr lang="zh-CN" altLang="zh-CN" dirty="0" smtClean="0"/>
              <a:t>运送</a:t>
            </a:r>
            <a:r>
              <a:rPr lang="zh-CN" altLang="zh-CN" dirty="0"/>
              <a:t>消息的</a:t>
            </a:r>
            <a:r>
              <a:rPr lang="zh-CN" altLang="zh-CN" dirty="0" smtClean="0"/>
              <a:t>实体</a:t>
            </a:r>
            <a:r>
              <a:rPr lang="zh-CN" altLang="en-US" dirty="0" smtClean="0"/>
              <a:t>是：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数据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信号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dirty="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 dirty="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763374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2</a:t>
            </a:r>
            <a:r>
              <a:rPr lang="zh-CN" altLang="en-US" dirty="0" smtClean="0"/>
              <a:t>、数据</a:t>
            </a:r>
            <a:r>
              <a:rPr lang="zh-CN" altLang="en-US" dirty="0"/>
              <a:t>的电气的或电磁的</a:t>
            </a:r>
            <a:r>
              <a:rPr lang="zh-CN" altLang="en-US" dirty="0" smtClean="0"/>
              <a:t>表现是：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消息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信号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41345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3</a:t>
            </a:r>
            <a:r>
              <a:rPr lang="zh-CN" altLang="en-US" dirty="0" smtClean="0"/>
              <a:t>、从</a:t>
            </a:r>
            <a:r>
              <a:rPr lang="zh-CN" altLang="en-US" dirty="0"/>
              <a:t>自同步能力来看，不归零制不能从信号波形本身中提取信号</a:t>
            </a:r>
            <a:r>
              <a:rPr lang="zh-CN" altLang="en-US" dirty="0" smtClean="0"/>
              <a:t>时钟频率，既没有</a:t>
            </a:r>
            <a:r>
              <a:rPr lang="zh-CN" altLang="en-US" dirty="0"/>
              <a:t>自同步</a:t>
            </a:r>
            <a:r>
              <a:rPr lang="zh-CN" altLang="en-US" dirty="0" smtClean="0"/>
              <a:t>能力。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32856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4</a:t>
            </a:r>
            <a:r>
              <a:rPr lang="zh-CN" altLang="en-US" dirty="0" smtClean="0"/>
              <a:t>、曼彻斯特编码</a:t>
            </a:r>
            <a:r>
              <a:rPr lang="zh-CN" altLang="en-US" dirty="0"/>
              <a:t>和差分</a:t>
            </a:r>
            <a:r>
              <a:rPr lang="zh-CN" altLang="en-US" dirty="0" smtClean="0"/>
              <a:t>曼彻斯特编码没有自同步</a:t>
            </a:r>
            <a:r>
              <a:rPr lang="zh-CN" altLang="en-US" dirty="0"/>
              <a:t>能力。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3" name="组合 2"/>
          <p:cNvGrpSpPr/>
          <p:nvPr>
            <p:custDataLst>
              <p:tags r:id="rId8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0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2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2" name="TipText"/>
            <p:cNvSpPr txBox="1"/>
            <p:nvPr>
              <p:custDataLst>
                <p:tags r:id="rId13"/>
              </p:custDataLst>
            </p:nvPr>
          </p:nvSpPr>
          <p:spPr>
            <a:xfrm>
              <a:off x="11957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最多可选</a:t>
              </a:r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1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项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9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394465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5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、最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基本的二元制调制方法有以下几种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3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2" name="图片 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9378788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wrap="square" rtlCol="0" anchor="ctr" anchorCtr="0">
            <a:noAutofit/>
          </a:bodyPr>
          <a:lstStyle/>
          <a:p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6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、从</a:t>
            </a:r>
            <a:r>
              <a:rPr lang="zh-CN" altLang="en-US" sz="2600" dirty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概念上讲，限制码元在信道上的传输速率的因素有以下两个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：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和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[</a:t>
            </a:r>
            <a:r>
              <a:rPr lang="zh-CN" altLang="en-US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填空</a:t>
            </a:r>
            <a:r>
              <a:rPr lang="en-US" altLang="zh-CN" sz="2600" dirty="0" smtClean="0">
                <a:solidFill>
                  <a:srgbClr val="639EF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2]</a:t>
            </a:r>
            <a:r>
              <a:rPr lang="en-US" altLang="zh-CN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 </a:t>
            </a:r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。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4" name="圆角矩形 3"/>
          <p:cNvSpPr/>
          <p:nvPr>
            <p:custDataLst>
              <p:tags r:id="rId3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作答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矩形 9"/>
          <p:cNvSpPr/>
          <p:nvPr>
            <p:custDataLst>
              <p:tags r:id="rId4"/>
            </p:custDataLst>
          </p:nvPr>
        </p:nvSpPr>
        <p:spPr>
          <a:xfrm>
            <a:off x="0" y="5727383"/>
            <a:ext cx="12192000" cy="487680"/>
          </a:xfrm>
          <a:prstGeom prst="rect">
            <a:avLst/>
          </a:prstGeom>
          <a:solidFill>
            <a:srgbClr val="FBFAEF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 anchorCtr="1"/>
          <a:lstStyle/>
          <a:p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正常使用填空题需</a:t>
            </a:r>
            <a:r>
              <a:rPr lang="en-US" altLang="zh-CN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3.0</a:t>
            </a:r>
            <a:r>
              <a:rPr lang="zh-CN" altLang="en-US" sz="1600" smtClean="0">
                <a:solidFill>
                  <a:srgbClr val="F84F4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以上版本雨课堂</a:t>
            </a:r>
            <a:endParaRPr lang="zh-CN" altLang="en-US" sz="1600">
              <a:solidFill>
                <a:srgbClr val="F84F41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9" name="组合 8"/>
          <p:cNvGrpSpPr/>
          <p:nvPr>
            <p:custDataLst>
              <p:tags r:id="rId5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5" name="TitleBackground"/>
            <p:cNvSpPr/>
            <p:nvPr>
              <p:custDataLst>
                <p:tags r:id="rId7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ColorBlock"/>
            <p:cNvSpPr/>
            <p:nvPr>
              <p:custDataLst>
                <p:tags r:id="rId8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TypeText"/>
            <p:cNvSpPr txBox="1"/>
            <p:nvPr>
              <p:custDataLst>
                <p:tags r:id="rId9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填空题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  <p:sp>
          <p:nvSpPr>
            <p:cNvPr id="8" name="TipText"/>
            <p:cNvSpPr txBox="1"/>
            <p:nvPr>
              <p:custDataLst>
                <p:tags r:id="rId10"/>
              </p:custDataLst>
            </p:nvPr>
          </p:nvSpPr>
          <p:spPr>
            <a:xfrm>
              <a:off x="1525905" y="109220"/>
              <a:ext cx="2286000" cy="508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en-US" altLang="zh-CN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2</a:t>
              </a:r>
              <a:r>
                <a:rPr lang="zh-CN" altLang="en-US" sz="2000" smtClean="0">
                  <a:solidFill>
                    <a:srgbClr val="80808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分</a:t>
              </a:r>
              <a:endParaRPr lang="zh-CN" altLang="en-US" sz="200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12" name="图片 11"/>
          <p:cNvPicPr>
            <a:picLocks/>
          </p:cNvPicPr>
          <p:nvPr>
            <p:custDataLst>
              <p:tags r:id="rId6"/>
            </p:custDataLst>
          </p:nvPr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0065633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/>
          <p:cNvSpPr txBox="1"/>
          <p:nvPr>
            <p:custDataLst>
              <p:tags r:id="rId2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7</a:t>
            </a:r>
            <a:r>
              <a:rPr lang="zh-CN" altLang="en-US" dirty="0" smtClean="0"/>
              <a:t>、香</a:t>
            </a:r>
            <a:r>
              <a:rPr lang="zh-CN" altLang="en-US" dirty="0"/>
              <a:t>农公式表明：信道的带宽或信道中的信噪比越大，信息的极限传输速率就越高。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  <p:sp>
        <p:nvSpPr>
          <p:cNvPr id="6" name="文本框 5"/>
          <p:cNvSpPr txBox="1"/>
          <p:nvPr>
            <p:custDataLst>
              <p:tags r:id="rId3"/>
            </p:custDataLst>
          </p:nvPr>
        </p:nvSpPr>
        <p:spPr>
          <a:xfrm>
            <a:off x="2438400" y="278606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对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7" name="文本框 6"/>
          <p:cNvSpPr txBox="1"/>
          <p:nvPr>
            <p:custDataLst>
              <p:tags r:id="rId4"/>
            </p:custDataLst>
          </p:nvPr>
        </p:nvSpPr>
        <p:spPr>
          <a:xfrm>
            <a:off x="2438400" y="3643313"/>
            <a:ext cx="8534400" cy="642938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/>
          <a:p>
            <a:r>
              <a:rPr lang="zh-CN" altLang="en-US" sz="2600" dirty="0" smtClean="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错</a:t>
            </a:r>
            <a:endParaRPr lang="zh-CN" altLang="en-US" sz="2600" dirty="0">
              <a:solidFill>
                <a:srgbClr val="00000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0" name="椭圆 9"/>
          <p:cNvSpPr>
            <a:spLocks noChangeAspect="1"/>
          </p:cNvSpPr>
          <p:nvPr>
            <p:custDataLst>
              <p:tags r:id="rId5"/>
            </p:custDataLst>
          </p:nvPr>
        </p:nvSpPr>
        <p:spPr>
          <a:xfrm>
            <a:off x="1571625" y="2850356"/>
            <a:ext cx="514350" cy="514350"/>
          </a:xfrm>
          <a:prstGeom prst="ellipse">
            <a:avLst/>
          </a:prstGeom>
          <a:solidFill>
            <a:srgbClr val="808080"/>
          </a:solidFill>
          <a:ln w="127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A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1" name="椭圆 10"/>
          <p:cNvSpPr>
            <a:spLocks noChangeAspect="1"/>
          </p:cNvSpPr>
          <p:nvPr>
            <p:custDataLst>
              <p:tags r:id="rId6"/>
            </p:custDataLst>
          </p:nvPr>
        </p:nvSpPr>
        <p:spPr>
          <a:xfrm>
            <a:off x="1571625" y="3707606"/>
            <a:ext cx="514350" cy="514350"/>
          </a:xfrm>
          <a:prstGeom prst="ellipse">
            <a:avLst/>
          </a:prstGeom>
          <a:solidFill>
            <a:srgbClr val="808080"/>
          </a:solidFill>
          <a:ln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en-US" altLang="zh-CN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B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14" name="圆角矩形 13"/>
          <p:cNvSpPr/>
          <p:nvPr>
            <p:custDataLst>
              <p:tags r:id="rId7"/>
            </p:custDataLst>
          </p:nvPr>
        </p:nvSpPr>
        <p:spPr>
          <a:xfrm>
            <a:off x="8915400" y="6215063"/>
            <a:ext cx="1543050" cy="411480"/>
          </a:xfrm>
          <a:prstGeom prst="roundRect">
            <a:avLst/>
          </a:prstGeom>
          <a:solidFill>
            <a:srgbClr val="808080"/>
          </a:solidFill>
          <a:ln w="38100" cmpd="sng">
            <a:solidFill>
              <a:srgbClr val="00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anchorCtr="1"/>
          <a:lstStyle/>
          <a:p>
            <a:pPr algn="ctr"/>
            <a:r>
              <a:rPr lang="zh-CN" altLang="en-US" sz="1600" smtClean="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提交</a:t>
            </a:r>
            <a:endParaRPr lang="zh-CN" altLang="en-US" sz="1600">
              <a:solidFill>
                <a:srgbClr val="FFFFFF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sp>
        <p:nvSpPr>
          <p:cNvPr id="2" name="TipText"/>
          <p:cNvSpPr txBox="1"/>
          <p:nvPr>
            <p:custDataLst>
              <p:tags r:id="rId8"/>
            </p:custDataLst>
          </p:nvPr>
        </p:nvSpPr>
        <p:spPr>
          <a:xfrm>
            <a:off x="1195705" y="109220"/>
            <a:ext cx="2286000" cy="508000"/>
          </a:xfrm>
          <a:prstGeom prst="rect">
            <a:avLst/>
          </a:prstGeom>
          <a:noFill/>
        </p:spPr>
        <p:txBody>
          <a:bodyPr vert="horz" wrap="none" rtlCol="0" anchor="ctr" anchorCtr="0">
            <a:noAutofit/>
          </a:bodyPr>
          <a:lstStyle/>
          <a:p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最多可选</a:t>
            </a:r>
            <a:r>
              <a:rPr lang="en-US" altLang="zh-CN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1</a:t>
            </a:r>
            <a:r>
              <a:rPr lang="zh-CN" altLang="en-US" sz="2000" smtClean="0">
                <a:solidFill>
                  <a:srgbClr val="80808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rPr>
              <a:t>项</a:t>
            </a:r>
            <a:endParaRPr lang="zh-CN" altLang="en-US" sz="2000">
              <a:solidFill>
                <a:srgbClr val="808080"/>
              </a:solidFill>
              <a:latin typeface="Microsoft Yahei" panose="020B0503020204020204" pitchFamily="34" charset="-122"/>
              <a:ea typeface="Microsoft Yahei" panose="020B0503020204020204" pitchFamily="34" charset="-122"/>
              <a:sym typeface="Microsoft Yahei" panose="020B0503020204020204" pitchFamily="34" charset="-122"/>
            </a:endParaRPr>
          </a:p>
        </p:txBody>
      </p:sp>
      <p:grpSp>
        <p:nvGrpSpPr>
          <p:cNvPr id="19" name="组合 18"/>
          <p:cNvGrpSpPr/>
          <p:nvPr>
            <p:custDataLst>
              <p:tags r:id="rId9"/>
            </p:custDataLst>
          </p:nvPr>
        </p:nvGrpSpPr>
        <p:grpSpPr>
          <a:xfrm>
            <a:off x="0" y="0"/>
            <a:ext cx="12192000" cy="635000"/>
            <a:chOff x="0" y="0"/>
            <a:chExt cx="12192000" cy="635000"/>
          </a:xfrm>
        </p:grpSpPr>
        <p:sp>
          <p:nvSpPr>
            <p:cNvPr id="15" name="TitleBackground"/>
            <p:cNvSpPr/>
            <p:nvPr>
              <p:custDataLst>
                <p:tags r:id="rId11"/>
              </p:custDataLst>
            </p:nvPr>
          </p:nvSpPr>
          <p:spPr>
            <a:xfrm>
              <a:off x="0" y="0"/>
              <a:ext cx="12192000" cy="635000"/>
            </a:xfrm>
            <a:prstGeom prst="rect">
              <a:avLst/>
            </a:prstGeom>
            <a:solidFill>
              <a:srgbClr val="F6F7F8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ColorBlock"/>
            <p:cNvSpPr/>
            <p:nvPr>
              <p:custDataLst>
                <p:tags r:id="rId12"/>
              </p:custDataLst>
            </p:nvPr>
          </p:nvSpPr>
          <p:spPr>
            <a:xfrm>
              <a:off x="0" y="0"/>
              <a:ext cx="190500" cy="635000"/>
            </a:xfrm>
            <a:prstGeom prst="rect">
              <a:avLst/>
            </a:prstGeom>
            <a:solidFill>
              <a:srgbClr val="639EF4"/>
            </a:solidFill>
            <a:ln w="1270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2700" cap="flat" cmpd="sng" algn="ctr">
                  <a:solidFill>
                    <a:schemeClr val="accent1">
                      <a:shade val="50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TypeText"/>
            <p:cNvSpPr txBox="1"/>
            <p:nvPr>
              <p:custDataLst>
                <p:tags r:id="rId13"/>
              </p:custDataLst>
            </p:nvPr>
          </p:nvSpPr>
          <p:spPr>
            <a:xfrm>
              <a:off x="254000" y="0"/>
              <a:ext cx="1905000" cy="635000"/>
            </a:xfrm>
            <a:prstGeom prst="rect">
              <a:avLst/>
            </a:prstGeom>
            <a:noFill/>
          </p:spPr>
          <p:txBody>
            <a:bodyPr vert="horz" wrap="none" rtlCol="0" anchor="ctr" anchorCtr="0">
              <a:noAutofit/>
            </a:bodyPr>
            <a:lstStyle/>
            <a:p>
              <a:r>
                <a:rPr lang="zh-CN" altLang="en-US" sz="2600" smtClean="0">
                  <a:solidFill>
                    <a:srgbClr val="000000"/>
                  </a:solidFill>
                  <a:latin typeface="Microsoft Yahei" panose="020B0503020204020204" pitchFamily="34" charset="-122"/>
                  <a:ea typeface="Microsoft Yahei" panose="020B0503020204020204" pitchFamily="34" charset="-122"/>
                  <a:sym typeface="Microsoft Yahei" panose="020B0503020204020204" pitchFamily="34" charset="-122"/>
                </a:rPr>
                <a:t>投票</a:t>
              </a:r>
              <a:endParaRPr lang="zh-CN" altLang="en-US"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sym typeface="Microsoft Yahei" panose="020B0503020204020204" pitchFamily="34" charset="-122"/>
              </a:endParaRPr>
            </a:p>
          </p:txBody>
        </p:sp>
      </p:grpSp>
      <p:pic>
        <p:nvPicPr>
          <p:cNvPr id="4" name="图片 3"/>
          <p:cNvPicPr>
            <a:picLocks/>
          </p:cNvPicPr>
          <p:nvPr>
            <p:custDataLst>
              <p:tags r:id="rId10"/>
            </p:custDataLst>
          </p:nvPr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42600" y="63500"/>
            <a:ext cx="1422400" cy="50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474887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>
            <p:custDataLst>
              <p:tags r:id="rId1"/>
            </p:custDataLst>
          </p:nvPr>
        </p:nvSpPr>
        <p:spPr>
          <a:xfrm>
            <a:off x="1219200" y="635000"/>
            <a:ext cx="9753600" cy="2143125"/>
          </a:xfrm>
          <a:prstGeom prst="rect">
            <a:avLst/>
          </a:prstGeom>
          <a:noFill/>
        </p:spPr>
        <p:txBody>
          <a:bodyPr vert="horz" rtlCol="0" anchor="ctr" anchorCtr="0">
            <a:noAutofit/>
          </a:bodyPr>
          <a:lstStyle>
            <a:defPPr>
              <a:defRPr lang="zh-CN"/>
            </a:defPPr>
            <a:lvl1pPr>
              <a:defRPr sz="2600">
                <a:solidFill>
                  <a:srgbClr val="00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en-US" altLang="zh-CN" dirty="0" smtClean="0"/>
              <a:t>8</a:t>
            </a:r>
            <a:r>
              <a:rPr lang="zh-CN" altLang="en-US" dirty="0" smtClean="0"/>
              <a:t>、分别采用四种编码形式表示如下比序列：</a:t>
            </a:r>
            <a:r>
              <a:rPr lang="en-US" altLang="zh-CN" smtClean="0"/>
              <a:t>0100 1101</a:t>
            </a:r>
            <a:endParaRPr lang="zh-CN" altLang="en-US" dirty="0">
              <a:sym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7084322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ORDER" val="true"/>
  <p:tag name="PROBLEMSCORE" val="3.0"/>
  <p:tag name="PROBLEMBLANK" val="[{&quot;Num&quot;:1,&quot;Score&quot;:1.0,&quot;Answers&quot;:[&quot;调幅&quot;],&quot;CaseSensitive&quot;:false,&quot;FuzzyMatch&quot;:false},{&quot;Num&quot;:2,&quot;Score&quot;:1.0,&quot;Answers&quot;:[&quot;调频&quot;],&quot;CaseSensitive&quot;:false,&quot;FuzzyMatch&quot;:false},{&quot;Num&quot;:3,&quot;Score&quot;:1.0,&quot;Answers&quot;:[&quot;调相&quot;],&quot;CaseSensitive&quot;:false,&quot;FuzzyMatch&quot;:false}]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FillBlank"/>
  <p:tag name="PROBLEMBLANKKEYWORD" val="填空"/>
  <p:tag name="PROBLEMBLANKORDER" val="true"/>
  <p:tag name="PROBLEMSCORE" val="2.0"/>
  <p:tag name="PROBLEMBLANK" val="[{&quot;Num&quot;:1,&quot;Score&quot;:1.0,&quot;Answers&quot;:[&quot;信噪比&quot;],&quot;CaseSensitive&quot;:false,&quot;FuzzyMatch&quot;:false},{&quot;Num&quot;:2,&quot;Score&quot;:1.0,&quot;Answers&quot;:[&quot;信道能够通过的频率范围&quot;],&quot;CaseSensitive&quot;:false,&quot;FuzzyMatch&quot;:false}]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FillBlank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RODUCTVERSIONTIP3" val="PRODUCTVERSIONTIP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FillBlank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olling"/>
  <p:tag name="RAINPROBLEM" val="Polling"/>
  <p:tag name="ANONYMOUSPOLLING" val="False"/>
  <p:tag name="PROBLEMSCORE" val="0.0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Item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PROBLEMTYPE" val="Polling"/>
  <p:tag name="RAINBULLET" val="Wrong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ullet"/>
  <p:tag name="RAINBULLET" val="Wrong"/>
  <p:tag name="RAINPROBLEMTYPE" val="Polling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ubmit"/>
  <p:tag name="RAINPROBLEMTYPE" val="Polling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  <p:tag name="RAINPROBLEM" val="PollingAnswer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Setting"/>
  <p:tag name="RAINPROBLEMTYPE" val="Polling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TYPE" val="ProblemTypeMarker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AINPROBLEM" val="ProblemBody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</TotalTime>
  <Words>234</Words>
  <Application>Microsoft Office PowerPoint</Application>
  <PresentationFormat>宽屏</PresentationFormat>
  <Paragraphs>51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Microsoft Yahei</vt:lpstr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微软中国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个人用户</dc:creator>
  <cp:lastModifiedBy>a</cp:lastModifiedBy>
  <cp:revision>18</cp:revision>
  <dcterms:created xsi:type="dcterms:W3CDTF">2020-02-20T13:08:52Z</dcterms:created>
  <dcterms:modified xsi:type="dcterms:W3CDTF">2022-03-10T08:36:32Z</dcterms:modified>
</cp:coreProperties>
</file>
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079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153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065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349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279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261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4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439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382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691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03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92025-9BD3-496F-A9F0-BF01FCF51504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AB02F-E7D0-42D9-AB9E-E85D7AEA0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29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.tm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1.tmp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1.tmp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image" Target="../media/image1.tmp"/><Relationship Id="rId2" Type="http://schemas.openxmlformats.org/officeDocument/2006/relationships/tags" Target="../tags/tag3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image" Target="../media/image1.tmp"/><Relationship Id="rId2" Type="http://schemas.openxmlformats.org/officeDocument/2006/relationships/tags" Target="../tags/tag47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image" Target="../media/image1.tmp"/><Relationship Id="rId2" Type="http://schemas.openxmlformats.org/officeDocument/2006/relationships/tags" Target="../tags/tag6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tags" Target="../tags/tag88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17" Type="http://schemas.openxmlformats.org/officeDocument/2006/relationships/image" Target="../media/image1.tmp"/><Relationship Id="rId2" Type="http://schemas.openxmlformats.org/officeDocument/2006/relationships/tags" Target="../tags/tag77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5" Type="http://schemas.openxmlformats.org/officeDocument/2006/relationships/tags" Target="../tags/tag90.xml"/><Relationship Id="rId10" Type="http://schemas.openxmlformats.org/officeDocument/2006/relationships/tags" Target="../tags/tag85.xml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tags" Target="../tags/tag8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13" Type="http://schemas.openxmlformats.org/officeDocument/2006/relationships/tags" Target="../tags/tag103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12" Type="http://schemas.openxmlformats.org/officeDocument/2006/relationships/tags" Target="../tags/tag102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tags" Target="../tags/tag101.xml"/><Relationship Id="rId5" Type="http://schemas.openxmlformats.org/officeDocument/2006/relationships/tags" Target="../tags/tag95.xml"/><Relationship Id="rId15" Type="http://schemas.openxmlformats.org/officeDocument/2006/relationships/image" Target="../media/image1.tmp"/><Relationship Id="rId10" Type="http://schemas.openxmlformats.org/officeDocument/2006/relationships/tags" Target="../tags/tag100.xml"/><Relationship Id="rId4" Type="http://schemas.openxmlformats.org/officeDocument/2006/relationships/tags" Target="../tags/tag94.xml"/><Relationship Id="rId9" Type="http://schemas.openxmlformats.org/officeDocument/2006/relationships/tags" Target="../tags/tag99.xml"/><Relationship Id="rId1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454120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 互联网从工作方式上可以划分为两大块：边缘部分：由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组成。这部分是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直接使用的，用来进行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和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；核心部分：由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和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组成，这部分是为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提供服务的。在网络核心部分起特殊作用的是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。其任务是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9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0229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1121117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电路交换在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端和端之间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建立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必须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经过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占用通信资源）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一直占用通信资源）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归还通信资源）三个步骤的交换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方式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4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98719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06500" y="118618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zh-CN" altLang="zh-CN" dirty="0" smtClean="0"/>
              <a:t>分组交换无需</a:t>
            </a:r>
            <a:r>
              <a:rPr lang="zh-CN" altLang="zh-CN" dirty="0"/>
              <a:t>建立连接，</a:t>
            </a:r>
            <a:r>
              <a:rPr lang="zh-CN" altLang="zh-CN" dirty="0" smtClean="0"/>
              <a:t>采用</a:t>
            </a:r>
            <a:r>
              <a:rPr lang="zh-CN" altLang="en-US" dirty="0" smtClean="0">
                <a:solidFill>
                  <a:srgbClr val="639EF4"/>
                </a:solidFill>
              </a:rPr>
              <a:t> </a:t>
            </a:r>
            <a:r>
              <a:rPr lang="en-US" altLang="zh-CN" dirty="0" smtClean="0">
                <a:solidFill>
                  <a:srgbClr val="639EF4"/>
                </a:solidFill>
              </a:rPr>
              <a:t>[</a:t>
            </a:r>
            <a:r>
              <a:rPr lang="zh-CN" altLang="en-US" dirty="0" smtClean="0">
                <a:solidFill>
                  <a:srgbClr val="639EF4"/>
                </a:solidFill>
              </a:rPr>
              <a:t>填空</a:t>
            </a:r>
            <a:r>
              <a:rPr lang="en-US" altLang="zh-CN" dirty="0" smtClean="0">
                <a:solidFill>
                  <a:srgbClr val="639EF4"/>
                </a:solidFill>
              </a:rPr>
              <a:t>1]</a:t>
            </a:r>
            <a:r>
              <a:rPr lang="en-US" altLang="zh-CN" dirty="0" smtClean="0"/>
              <a:t> </a:t>
            </a:r>
            <a:r>
              <a:rPr lang="zh-CN" altLang="zh-CN" dirty="0" smtClean="0"/>
              <a:t>技术</a:t>
            </a:r>
            <a:r>
              <a:rPr lang="zh-CN" altLang="zh-CN" dirty="0"/>
              <a:t>。在发送端，先把较长</a:t>
            </a:r>
            <a:r>
              <a:rPr lang="zh-CN" altLang="zh-CN" dirty="0" smtClean="0"/>
              <a:t>的</a:t>
            </a:r>
            <a:r>
              <a:rPr lang="zh-CN" altLang="en-US" dirty="0" smtClean="0">
                <a:solidFill>
                  <a:srgbClr val="639EF4"/>
                </a:solidFill>
              </a:rPr>
              <a:t> </a:t>
            </a:r>
            <a:r>
              <a:rPr lang="en-US" altLang="zh-CN" dirty="0" smtClean="0">
                <a:solidFill>
                  <a:srgbClr val="639EF4"/>
                </a:solidFill>
              </a:rPr>
              <a:t>[</a:t>
            </a:r>
            <a:r>
              <a:rPr lang="zh-CN" altLang="en-US" dirty="0" smtClean="0">
                <a:solidFill>
                  <a:srgbClr val="639EF4"/>
                </a:solidFill>
              </a:rPr>
              <a:t>填空</a:t>
            </a:r>
            <a:r>
              <a:rPr lang="en-US" altLang="zh-CN" dirty="0" smtClean="0">
                <a:solidFill>
                  <a:srgbClr val="639EF4"/>
                </a:solidFill>
              </a:rPr>
              <a:t>2]</a:t>
            </a:r>
            <a:r>
              <a:rPr lang="en-US" altLang="zh-CN" dirty="0" smtClean="0"/>
              <a:t> </a:t>
            </a:r>
            <a:r>
              <a:rPr lang="zh-CN" altLang="zh-CN" dirty="0" smtClean="0"/>
              <a:t>（</a:t>
            </a:r>
            <a:r>
              <a:rPr lang="zh-CN" altLang="zh-CN" dirty="0"/>
              <a:t>要发送的整个数据</a:t>
            </a:r>
            <a:r>
              <a:rPr lang="zh-CN" altLang="zh-CN" dirty="0" smtClean="0"/>
              <a:t>块）</a:t>
            </a:r>
            <a:r>
              <a:rPr lang="zh-CN" altLang="zh-CN" dirty="0"/>
              <a:t>划分成较短的、固定长度的数据段，前面添加</a:t>
            </a:r>
            <a:r>
              <a:rPr lang="zh-CN" altLang="zh-CN" dirty="0" smtClean="0"/>
              <a:t>上</a:t>
            </a:r>
            <a:r>
              <a:rPr lang="zh-CN" altLang="en-US" dirty="0" smtClean="0">
                <a:solidFill>
                  <a:srgbClr val="639EF4"/>
                </a:solidFill>
              </a:rPr>
              <a:t> </a:t>
            </a:r>
            <a:r>
              <a:rPr lang="en-US" altLang="zh-CN" dirty="0" smtClean="0">
                <a:solidFill>
                  <a:srgbClr val="639EF4"/>
                </a:solidFill>
              </a:rPr>
              <a:t>[</a:t>
            </a:r>
            <a:r>
              <a:rPr lang="zh-CN" altLang="en-US" dirty="0" smtClean="0">
                <a:solidFill>
                  <a:srgbClr val="639EF4"/>
                </a:solidFill>
              </a:rPr>
              <a:t>填空</a:t>
            </a:r>
            <a:r>
              <a:rPr lang="en-US" altLang="zh-CN" dirty="0" smtClean="0">
                <a:solidFill>
                  <a:srgbClr val="639EF4"/>
                </a:solidFill>
              </a:rPr>
              <a:t>3]</a:t>
            </a:r>
            <a:r>
              <a:rPr lang="en-US" altLang="zh-CN" dirty="0" smtClean="0"/>
              <a:t> </a:t>
            </a:r>
            <a:r>
              <a:rPr lang="zh-CN" altLang="zh-CN" dirty="0" smtClean="0"/>
              <a:t>构成</a:t>
            </a:r>
            <a:r>
              <a:rPr lang="zh-CN" altLang="en-US" dirty="0" smtClean="0">
                <a:solidFill>
                  <a:srgbClr val="639EF4"/>
                </a:solidFill>
              </a:rPr>
              <a:t> </a:t>
            </a:r>
            <a:r>
              <a:rPr lang="en-US" altLang="zh-CN" dirty="0" smtClean="0">
                <a:solidFill>
                  <a:srgbClr val="639EF4"/>
                </a:solidFill>
              </a:rPr>
              <a:t>[</a:t>
            </a:r>
            <a:r>
              <a:rPr lang="zh-CN" altLang="en-US" dirty="0" smtClean="0">
                <a:solidFill>
                  <a:srgbClr val="639EF4"/>
                </a:solidFill>
              </a:rPr>
              <a:t>填空</a:t>
            </a:r>
            <a:r>
              <a:rPr lang="en-US" altLang="zh-CN" dirty="0" smtClean="0">
                <a:solidFill>
                  <a:srgbClr val="639EF4"/>
                </a:solidFill>
              </a:rPr>
              <a:t>4]</a:t>
            </a:r>
            <a:r>
              <a:rPr lang="en-US" altLang="zh-CN" dirty="0" smtClean="0"/>
              <a:t> </a:t>
            </a:r>
            <a:r>
              <a:rPr lang="zh-CN" altLang="en-US" dirty="0" smtClean="0"/>
              <a:t>。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4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31384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zh-CN" altLang="zh-CN" dirty="0" smtClean="0"/>
              <a:t>如果</a:t>
            </a:r>
            <a:r>
              <a:rPr lang="zh-CN" altLang="zh-CN" dirty="0"/>
              <a:t>要连续传送大量的数据，且传输时间远大于连接建立时间，</a:t>
            </a:r>
            <a:r>
              <a:rPr lang="zh-CN" altLang="zh-CN" dirty="0" smtClean="0"/>
              <a:t>则传输速率快</a:t>
            </a:r>
            <a:r>
              <a:rPr lang="zh-CN" altLang="en-US" dirty="0" smtClean="0"/>
              <a:t>的交换方式是：</a:t>
            </a:r>
            <a:endParaRPr lang="zh-CN" altLang="zh-CN" dirty="0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电路交换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报文交换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分组交换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9" name="椭圆 18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5460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5</a:t>
            </a:r>
            <a:r>
              <a:rPr lang="zh-CN" altLang="en-US" dirty="0" smtClean="0"/>
              <a:t>、</a:t>
            </a:r>
            <a:r>
              <a:rPr lang="zh-CN" altLang="zh-CN" dirty="0" smtClean="0"/>
              <a:t>需要</a:t>
            </a:r>
            <a:r>
              <a:rPr lang="zh-CN" altLang="zh-CN" dirty="0"/>
              <a:t>预先分配传输</a:t>
            </a:r>
            <a:r>
              <a:rPr lang="zh-CN" altLang="zh-CN" dirty="0" smtClean="0"/>
              <a:t>带宽</a:t>
            </a:r>
            <a:r>
              <a:rPr lang="zh-CN" altLang="en-US" dirty="0" smtClean="0"/>
              <a:t>的交换方式：</a:t>
            </a:r>
            <a:endParaRPr lang="zh-CN" altLang="zh-CN" dirty="0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分组交换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电路交换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报文交换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8" name="椭圆 17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8369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zh-CN" dirty="0" smtClean="0"/>
              <a:t>采用</a:t>
            </a:r>
            <a:r>
              <a:rPr lang="zh-CN" altLang="zh-CN" dirty="0"/>
              <a:t>存储转发技术，整个报文作为数据传输单元，不</a:t>
            </a:r>
            <a:r>
              <a:rPr lang="zh-CN" altLang="zh-CN" dirty="0" smtClean="0"/>
              <a:t>进行拆分</a:t>
            </a:r>
            <a:r>
              <a:rPr lang="zh-CN" altLang="en-US" dirty="0" smtClean="0"/>
              <a:t>的交换方式是：</a:t>
            </a:r>
            <a:endParaRPr lang="zh-CN" altLang="zh-CN" dirty="0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分组交换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电路交换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报文交换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8" name="椭圆 17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016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7</a:t>
            </a:r>
            <a:r>
              <a:rPr lang="zh-CN" altLang="en-US" dirty="0" smtClean="0"/>
              <a:t>、</a:t>
            </a:r>
            <a:r>
              <a:rPr lang="zh-CN" altLang="zh-CN" dirty="0" smtClean="0"/>
              <a:t>无需</a:t>
            </a:r>
            <a:r>
              <a:rPr lang="zh-CN" altLang="zh-CN" dirty="0"/>
              <a:t>建立连接，采用存储转发技术。在发送端，先把较长的</a:t>
            </a:r>
            <a:r>
              <a:rPr lang="zh-CN" altLang="zh-CN" dirty="0" smtClean="0"/>
              <a:t>报文划分</a:t>
            </a:r>
            <a:r>
              <a:rPr lang="zh-CN" altLang="zh-CN" dirty="0"/>
              <a:t>成较短的、固定长度的数据段，前面添加上</a:t>
            </a:r>
            <a:r>
              <a:rPr lang="zh-CN" altLang="zh-CN" dirty="0" smtClean="0"/>
              <a:t>首部</a:t>
            </a:r>
            <a:r>
              <a:rPr lang="zh-CN" altLang="en-US" dirty="0" smtClean="0"/>
              <a:t>后</a:t>
            </a:r>
            <a:r>
              <a:rPr lang="zh-CN" altLang="zh-CN" dirty="0" smtClean="0"/>
              <a:t>作</a:t>
            </a:r>
            <a:r>
              <a:rPr lang="zh-CN" altLang="zh-CN" dirty="0"/>
              <a:t>为数据传输</a:t>
            </a:r>
            <a:r>
              <a:rPr lang="zh-CN" altLang="zh-CN" dirty="0" smtClean="0"/>
              <a:t>单元</a:t>
            </a:r>
            <a:r>
              <a:rPr lang="zh-CN" altLang="en-US" dirty="0" smtClean="0"/>
              <a:t>的交换方式是：</a:t>
            </a:r>
            <a:endParaRPr lang="zh-CN" altLang="zh-CN" dirty="0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分组交换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电路交换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报文交换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9" name="椭圆 18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5541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8</a:t>
            </a:r>
            <a:r>
              <a:rPr lang="zh-CN" altLang="en-US" dirty="0" smtClean="0"/>
              <a:t>、</a:t>
            </a:r>
            <a:r>
              <a:rPr lang="zh-CN" altLang="zh-CN" dirty="0" smtClean="0"/>
              <a:t>在</a:t>
            </a:r>
            <a:r>
              <a:rPr lang="zh-CN" altLang="zh-CN" dirty="0"/>
              <a:t>网络边缘的端系统之间的通信</a:t>
            </a:r>
            <a:r>
              <a:rPr lang="zh-CN" altLang="zh-CN" dirty="0" smtClean="0"/>
              <a:t>方式</a:t>
            </a:r>
            <a:r>
              <a:rPr lang="zh-CN" altLang="en-US" dirty="0" smtClean="0"/>
              <a:t>中，</a:t>
            </a:r>
            <a:r>
              <a:rPr lang="zh-CN" altLang="zh-CN" dirty="0"/>
              <a:t>通信时并不区分哪一个是服务请求方还是服务提供</a:t>
            </a:r>
            <a:r>
              <a:rPr lang="zh-CN" altLang="zh-CN" dirty="0" smtClean="0"/>
              <a:t>方</a:t>
            </a:r>
            <a:r>
              <a:rPr lang="zh-CN" altLang="en-US" dirty="0" smtClean="0"/>
              <a:t>的是：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 smtClean="0"/>
              <a:t>客户</a:t>
            </a:r>
            <a:r>
              <a:rPr lang="en-US" altLang="zh-CN" dirty="0" smtClean="0"/>
              <a:t>-</a:t>
            </a:r>
            <a:r>
              <a:rPr lang="zh-CN" altLang="zh-CN" dirty="0"/>
              <a:t>服务器方式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对等</a:t>
            </a:r>
            <a:r>
              <a:rPr lang="zh-CN" altLang="zh-CN" dirty="0" smtClean="0"/>
              <a:t>方式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8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71742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9.0"/>
  <p:tag name="PROBLEMBLANK" val="[{&quot;Num&quot;:1,&quot;Score&quot;:1.0,&quot;Answers&quot;:[&quot;所有连接在互联网上的主机&quot;],&quot;CaseSensitive&quot;:false,&quot;FuzzyMatch&quot;:false},{&quot;Num&quot;:2,&quot;Score&quot;:1.0,&quot;Answers&quot;:[&quot;用户&quot;],&quot;CaseSensitive&quot;:false,&quot;FuzzyMatch&quot;:false},{&quot;Num&quot;:3,&quot;Score&quot;:1.0,&quot;Answers&quot;:[&quot;通信&quot;],&quot;CaseSensitive&quot;:false,&quot;FuzzyMatch&quot;:false},{&quot;Num&quot;:4,&quot;Score&quot;:1.0,&quot;Answers&quot;:[&quot;资源共享&quot;],&quot;CaseSensitive&quot;:false,&quot;FuzzyMatch&quot;:false},{&quot;Num&quot;:5,&quot;Score&quot;:1.0,&quot;Answers&quot;:[&quot;大量网络&quot;],&quot;CaseSensitive&quot;:false,&quot;FuzzyMatch&quot;:false},{&quot;Num&quot;:6,&quot;Score&quot;:1.0,&quot;Answers&quot;:[&quot;连接这些网络的路由器&quot;],&quot;CaseSensitive&quot;:false,&quot;FuzzyMatch&quot;:false},{&quot;Num&quot;:7,&quot;Score&quot;:1.0,&quot;Answers&quot;:[&quot;边缘部分&quot;],&quot;CaseSensitive&quot;:false,&quot;FuzzyMatch&quot;:false},{&quot;Num&quot;:8,&quot;Score&quot;:1.0,&quot;Answers&quot;:[&quot;路由器&quot;],&quot;CaseSensitive&quot;:false,&quot;FuzzyMatch&quot;:false},{&quot;Num&quot;:9,&quot;Score&quot;:1.0,&quot;Answers&quot;:[&quot;转发收到的分组&quot;],&quot;CaseSensitive&quot;:false,&quot;FuzzyMatch&quot;:false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4.0"/>
  <p:tag name="PROBLEMBLANK" val="[{&quot;Num&quot;:1,&quot;Score&quot;:1.0,&quot;Answers&quot;:[&quot;专用的物理通路&quot;],&quot;CaseSensitive&quot;:false,&quot;FuzzyMatch&quot;:false},{&quot;Num&quot;:2,&quot;Score&quot;:1.0,&quot;Answers&quot;:[&quot;建立连接&quot;],&quot;CaseSensitive&quot;:false,&quot;FuzzyMatch&quot;:false},{&quot;Num&quot;:3,&quot;Score&quot;:1.0,&quot;Answers&quot;:[&quot;通话&quot;],&quot;CaseSensitive&quot;:false,&quot;FuzzyMatch&quot;:false},{&quot;Num&quot;:4,&quot;Score&quot;:1.0,&quot;Answers&quot;:[&quot;释放连接&quot;],&quot;CaseSensitive&quot;:false,&quot;FuzzyMatch&quot;:false}]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4.0"/>
  <p:tag name="PROBLEMBLANK" val="[{&quot;Num&quot;:1,&quot;Score&quot;:1.0,&quot;Answers&quot;:[&quot;存储转发&quot;],&quot;CaseSensitive&quot;:false,&quot;FuzzyMatch&quot;:false},{&quot;Num&quot;:2,&quot;Score&quot;:1.0,&quot;Answers&quot;:[&quot;报文&quot;],&quot;CaseSensitive&quot;:false,&quot;FuzzyMatch&quot;:false},{&quot;Num&quot;:3,&quot;Score&quot;:1.0,&quot;Answers&quot;:[&quot;首部&quot;],&quot;CaseSensitive&quot;:false,&quot;FuzzyMatch&quot;:false},{&quot;Num&quot;:4,&quot;Score&quot;:1.0,&quot;Answers&quot;:[&quot;分组&quot;],&quot;CaseSensitive&quot;:false,&quot;FuzzyMatch&quot;:false}]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442</Words>
  <Application>Microsoft Office PowerPoint</Application>
  <PresentationFormat>宽屏</PresentationFormat>
  <Paragraphs>63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12</cp:revision>
  <dcterms:created xsi:type="dcterms:W3CDTF">2020-02-20T11:10:04Z</dcterms:created>
  <dcterms:modified xsi:type="dcterms:W3CDTF">2022-02-24T15:47:43Z</dcterms:modified>
</cp:coreProperties>
</file>
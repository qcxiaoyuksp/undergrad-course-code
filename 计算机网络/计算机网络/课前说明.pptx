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9"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40" autoAdjust="0"/>
    <p:restoredTop sz="94660"/>
  </p:normalViewPr>
  <p:slideViewPr>
    <p:cSldViewPr snapToGrid="0">
      <p:cViewPr varScale="1">
        <p:scale>
          <a:sx n="61" d="100"/>
          <a:sy n="61" d="100"/>
        </p:scale>
        <p:origin x="30" y="6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zh-CN" altLang="en-US" smtClean="0"/>
              <a:t>单击以编辑母版副标题样式</a:t>
            </a:r>
            <a:endParaRPr lang="en-US" dirty="0"/>
          </a:p>
        </p:txBody>
      </p:sp>
      <p:sp>
        <p:nvSpPr>
          <p:cNvPr id="4" name="Date Placeholder 3"/>
          <p:cNvSpPr>
            <a:spLocks noGrp="1"/>
          </p:cNvSpPr>
          <p:nvPr>
            <p:ph type="dt" sz="half" idx="10"/>
          </p:nvPr>
        </p:nvSpPr>
        <p:spPr/>
        <p:txBody>
          <a:bodyPr/>
          <a:lstStyle/>
          <a:p>
            <a:fld id="{C6230378-AA04-4531-BA4F-077AA55D40A0}" type="datetimeFigureOut">
              <a:rPr lang="zh-CN" altLang="en-US" smtClean="0"/>
              <a:t>2022/2/23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9BCA97E-33BC-42CE-A4CD-0D363D870018}" type="slidenum">
              <a:rPr lang="zh-CN" altLang="en-US" smtClean="0"/>
              <a:t>‹#›</a:t>
            </a:fld>
            <a:endParaRPr lang="zh-CN" alt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813539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zh-CN" altLang="en-US" smtClean="0"/>
              <a:t>单击此处编辑母版标题样式</a:t>
            </a:r>
            <a:endParaRPr lang="en-US" dirty="0"/>
          </a:p>
        </p:txBody>
      </p:sp>
      <p:sp>
        <p:nvSpPr>
          <p:cNvPr id="3" name="Content Placeholder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C6230378-AA04-4531-BA4F-077AA55D40A0}" type="datetimeFigureOut">
              <a:rPr lang="zh-CN" altLang="en-US" smtClean="0"/>
              <a:t>2022/2/23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9BCA97E-33BC-42CE-A4CD-0D363D870018}" type="slidenum">
              <a:rPr lang="zh-CN" altLang="en-US" smtClean="0"/>
              <a:t>‹#›</a:t>
            </a:fld>
            <a:endParaRPr lang="zh-CN" altLang="en-US"/>
          </a:p>
        </p:txBody>
      </p:sp>
    </p:spTree>
    <p:extLst>
      <p:ext uri="{BB962C8B-B14F-4D97-AF65-F5344CB8AC3E}">
        <p14:creationId xmlns:p14="http://schemas.microsoft.com/office/powerpoint/2010/main" val="36551375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编辑母版文本样式</a:t>
            </a:r>
          </a:p>
        </p:txBody>
      </p:sp>
      <p:sp>
        <p:nvSpPr>
          <p:cNvPr id="4" name="Date Placeholder 3"/>
          <p:cNvSpPr>
            <a:spLocks noGrp="1"/>
          </p:cNvSpPr>
          <p:nvPr>
            <p:ph type="dt" sz="half" idx="10"/>
          </p:nvPr>
        </p:nvSpPr>
        <p:spPr/>
        <p:txBody>
          <a:bodyPr/>
          <a:lstStyle/>
          <a:p>
            <a:fld id="{C6230378-AA04-4531-BA4F-077AA55D40A0}" type="datetimeFigureOut">
              <a:rPr lang="zh-CN" altLang="en-US" smtClean="0"/>
              <a:t>2022/2/23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9BCA97E-33BC-42CE-A4CD-0D363D870018}" type="slidenum">
              <a:rPr lang="zh-CN" altLang="en-US" smtClean="0"/>
              <a:t>‹#›</a:t>
            </a:fld>
            <a:endParaRPr lang="zh-CN" alt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508222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C6230378-AA04-4531-BA4F-077AA55D40A0}" type="datetimeFigureOut">
              <a:rPr lang="zh-CN" altLang="en-US" smtClean="0"/>
              <a:t>2022/2/23</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9BCA97E-33BC-42CE-A4CD-0D363D870018}" type="slidenum">
              <a:rPr lang="zh-CN" altLang="en-US" smtClean="0"/>
              <a:t>‹#›</a:t>
            </a:fld>
            <a:endParaRPr lang="zh-CN" altLang="en-US"/>
          </a:p>
        </p:txBody>
      </p:sp>
    </p:spTree>
    <p:extLst>
      <p:ext uri="{BB962C8B-B14F-4D97-AF65-F5344CB8AC3E}">
        <p14:creationId xmlns:p14="http://schemas.microsoft.com/office/powerpoint/2010/main" val="34862610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Content Placeholder 3"/>
          <p:cNvSpPr>
            <a:spLocks noGrp="1"/>
          </p:cNvSpPr>
          <p:nvPr>
            <p:ph sz="half" idx="2"/>
          </p:nvPr>
        </p:nvSpPr>
        <p:spPr>
          <a:xfrm>
            <a:off x="1097280" y="2582334"/>
            <a:ext cx="4937760" cy="3378200"/>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Content Placeholder 5"/>
          <p:cNvSpPr>
            <a:spLocks noGrp="1"/>
          </p:cNvSpPr>
          <p:nvPr>
            <p:ph sz="quarter" idx="4"/>
          </p:nvPr>
        </p:nvSpPr>
        <p:spPr>
          <a:xfrm>
            <a:off x="6217920" y="2582334"/>
            <a:ext cx="4937760" cy="3378200"/>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C6230378-AA04-4531-BA4F-077AA55D40A0}" type="datetimeFigureOut">
              <a:rPr lang="zh-CN" altLang="en-US" smtClean="0"/>
              <a:t>2022/2/23</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E9BCA97E-33BC-42CE-A4CD-0D363D870018}" type="slidenum">
              <a:rPr lang="zh-CN" altLang="en-US" smtClean="0"/>
              <a:t>‹#›</a:t>
            </a:fld>
            <a:endParaRPr lang="zh-CN" altLang="en-US"/>
          </a:p>
        </p:txBody>
      </p:sp>
    </p:spTree>
    <p:extLst>
      <p:ext uri="{BB962C8B-B14F-4D97-AF65-F5344CB8AC3E}">
        <p14:creationId xmlns:p14="http://schemas.microsoft.com/office/powerpoint/2010/main" val="11594201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fld id="{C6230378-AA04-4531-BA4F-077AA55D40A0}" type="datetimeFigureOut">
              <a:rPr lang="zh-CN" altLang="en-US" smtClean="0"/>
              <a:t>2022/2/23</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E9BCA97E-33BC-42CE-A4CD-0D363D870018}" type="slidenum">
              <a:rPr lang="zh-CN" altLang="en-US" smtClean="0"/>
              <a:t>‹#›</a:t>
            </a:fld>
            <a:endParaRPr lang="zh-CN" altLang="en-US"/>
          </a:p>
        </p:txBody>
      </p:sp>
    </p:spTree>
    <p:extLst>
      <p:ext uri="{BB962C8B-B14F-4D97-AF65-F5344CB8AC3E}">
        <p14:creationId xmlns:p14="http://schemas.microsoft.com/office/powerpoint/2010/main" val="22226299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C6230378-AA04-4531-BA4F-077AA55D40A0}" type="datetimeFigureOut">
              <a:rPr lang="zh-CN" altLang="en-US" smtClean="0"/>
              <a:t>2022/2/23</a:t>
            </a:fld>
            <a:endParaRPr lang="zh-CN" alt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zh-CN" altLang="en-US"/>
          </a:p>
        </p:txBody>
      </p:sp>
      <p:sp>
        <p:nvSpPr>
          <p:cNvPr id="9" name="Slide Number Placeholder 8"/>
          <p:cNvSpPr>
            <a:spLocks noGrp="1"/>
          </p:cNvSpPr>
          <p:nvPr>
            <p:ph type="sldNum" sz="quarter" idx="12"/>
          </p:nvPr>
        </p:nvSpPr>
        <p:spPr/>
        <p:txBody>
          <a:bodyPr/>
          <a:lstStyle/>
          <a:p>
            <a:fld id="{E9BCA97E-33BC-42CE-A4CD-0D363D870018}" type="slidenum">
              <a:rPr lang="zh-CN" altLang="en-US" smtClean="0"/>
              <a:t>‹#›</a:t>
            </a:fld>
            <a:endParaRPr lang="zh-CN" altLang="en-US"/>
          </a:p>
        </p:txBody>
      </p:sp>
    </p:spTree>
    <p:extLst>
      <p:ext uri="{BB962C8B-B14F-4D97-AF65-F5344CB8AC3E}">
        <p14:creationId xmlns:p14="http://schemas.microsoft.com/office/powerpoint/2010/main" val="18513062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zh-CN" altLang="en-US" smtClean="0"/>
              <a:t>单击此处编辑母版标题样式</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编辑母版文本样式</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C6230378-AA04-4531-BA4F-077AA55D40A0}" type="datetimeFigureOut">
              <a:rPr lang="zh-CN" altLang="en-US" smtClean="0"/>
              <a:t>2022/2/23</a:t>
            </a:fld>
            <a:endParaRPr lang="zh-CN" alt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zh-CN" alt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E9BCA97E-33BC-42CE-A4CD-0D363D870018}" type="slidenum">
              <a:rPr lang="zh-CN" altLang="en-US" smtClean="0"/>
              <a:t>‹#›</a:t>
            </a:fld>
            <a:endParaRPr lang="zh-CN" altLang="en-US"/>
          </a:p>
        </p:txBody>
      </p:sp>
    </p:spTree>
    <p:extLst>
      <p:ext uri="{BB962C8B-B14F-4D97-AF65-F5344CB8AC3E}">
        <p14:creationId xmlns:p14="http://schemas.microsoft.com/office/powerpoint/2010/main" val="2002219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编辑母版文本样式</a:t>
            </a:r>
          </a:p>
        </p:txBody>
      </p:sp>
      <p:sp>
        <p:nvSpPr>
          <p:cNvPr id="5" name="Date Placeholder 4"/>
          <p:cNvSpPr>
            <a:spLocks noGrp="1"/>
          </p:cNvSpPr>
          <p:nvPr>
            <p:ph type="dt" sz="half" idx="10"/>
          </p:nvPr>
        </p:nvSpPr>
        <p:spPr/>
        <p:txBody>
          <a:bodyPr/>
          <a:lstStyle/>
          <a:p>
            <a:fld id="{C6230378-AA04-4531-BA4F-077AA55D40A0}" type="datetimeFigureOut">
              <a:rPr lang="zh-CN" altLang="en-US" smtClean="0"/>
              <a:t>2022/2/23</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9BCA97E-33BC-42CE-A4CD-0D363D870018}" type="slidenum">
              <a:rPr lang="zh-CN" altLang="en-US" smtClean="0"/>
              <a:t>‹#›</a:t>
            </a:fld>
            <a:endParaRPr lang="zh-CN" altLang="en-US"/>
          </a:p>
        </p:txBody>
      </p:sp>
    </p:spTree>
    <p:extLst>
      <p:ext uri="{BB962C8B-B14F-4D97-AF65-F5344CB8AC3E}">
        <p14:creationId xmlns:p14="http://schemas.microsoft.com/office/powerpoint/2010/main" val="24833990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C6230378-AA04-4531-BA4F-077AA55D40A0}" type="datetimeFigureOut">
              <a:rPr lang="zh-CN" altLang="en-US" smtClean="0"/>
              <a:t>2022/2/23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9BCA97E-33BC-42CE-A4CD-0D363D870018}" type="slidenum">
              <a:rPr lang="zh-CN" altLang="en-US" smtClean="0"/>
              <a:t>‹#›</a:t>
            </a:fld>
            <a:endParaRPr lang="zh-CN" altLang="en-US"/>
          </a:p>
        </p:txBody>
      </p:sp>
    </p:spTree>
    <p:extLst>
      <p:ext uri="{BB962C8B-B14F-4D97-AF65-F5344CB8AC3E}">
        <p14:creationId xmlns:p14="http://schemas.microsoft.com/office/powerpoint/2010/main" val="9236521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竖排标题与文本">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C6230378-AA04-4531-BA4F-077AA55D40A0}" type="datetimeFigureOut">
              <a:rPr lang="zh-CN" altLang="en-US" smtClean="0"/>
              <a:t>2022/2/23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9BCA97E-33BC-42CE-A4CD-0D363D870018}" type="slidenum">
              <a:rPr lang="zh-CN" altLang="en-US" smtClean="0"/>
              <a:t>‹#›</a:t>
            </a:fld>
            <a:endParaRPr lang="zh-CN" altLang="en-US"/>
          </a:p>
        </p:txBody>
      </p:sp>
    </p:spTree>
    <p:extLst>
      <p:ext uri="{BB962C8B-B14F-4D97-AF65-F5344CB8AC3E}">
        <p14:creationId xmlns:p14="http://schemas.microsoft.com/office/powerpoint/2010/main" val="8243267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C6230378-AA04-4531-BA4F-077AA55D40A0}" type="datetimeFigureOut">
              <a:rPr lang="zh-CN" altLang="en-US" smtClean="0"/>
              <a:t>2022/2/23</a:t>
            </a:fld>
            <a:endParaRPr lang="zh-CN" alt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zh-CN" alt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E9BCA97E-33BC-42CE-A4CD-0D363D870018}" type="slidenum">
              <a:rPr lang="zh-CN" altLang="en-US" smtClean="0"/>
              <a:t>‹#›</a:t>
            </a:fld>
            <a:endParaRPr lang="zh-CN" alt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37492916"/>
      </p:ext>
    </p:extLst>
  </p:cSld>
  <p:clrMap bg1="lt1" tx1="dk1" bg2="lt2" tx2="dk2" accent1="accent1" accent2="accent2" accent3="accent3" accent4="accent4" accent5="accent5" accent6="accent6" hlink="hlink" folHlink="folHlink"/>
  <p:sldLayoutIdLst>
    <p:sldLayoutId id="2147483750" r:id="rId1"/>
    <p:sldLayoutId id="2147483751" r:id="rId2"/>
    <p:sldLayoutId id="2147483752" r:id="rId3"/>
    <p:sldLayoutId id="2147483753" r:id="rId4"/>
    <p:sldLayoutId id="2147483754" r:id="rId5"/>
    <p:sldLayoutId id="2147483755" r:id="rId6"/>
    <p:sldLayoutId id="2147483756" r:id="rId7"/>
    <p:sldLayoutId id="2147483757" r:id="rId8"/>
    <p:sldLayoutId id="2147483758" r:id="rId9"/>
    <p:sldLayoutId id="2147483759" r:id="rId10"/>
    <p:sldLayoutId id="2147483760"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pPr algn="ctr"/>
            <a:r>
              <a:rPr lang="en-US" altLang="zh-CN" b="1" dirty="0" smtClean="0">
                <a:solidFill>
                  <a:schemeClr val="accent2">
                    <a:lumMod val="75000"/>
                  </a:schemeClr>
                </a:solidFill>
              </a:rPr>
              <a:t>《</a:t>
            </a:r>
            <a:r>
              <a:rPr lang="zh-CN" altLang="en-US" b="1" dirty="0" smtClean="0">
                <a:solidFill>
                  <a:schemeClr val="accent2">
                    <a:lumMod val="75000"/>
                  </a:schemeClr>
                </a:solidFill>
              </a:rPr>
              <a:t>计算机网络</a:t>
            </a:r>
            <a:r>
              <a:rPr lang="en-US" altLang="zh-CN" b="1" dirty="0" smtClean="0">
                <a:solidFill>
                  <a:schemeClr val="accent2">
                    <a:lumMod val="75000"/>
                  </a:schemeClr>
                </a:solidFill>
              </a:rPr>
              <a:t>》</a:t>
            </a:r>
            <a:r>
              <a:rPr lang="en-US" altLang="zh-CN" b="1" dirty="0" smtClean="0">
                <a:solidFill>
                  <a:srgbClr val="002060"/>
                </a:solidFill>
              </a:rPr>
              <a:t/>
            </a:r>
            <a:br>
              <a:rPr lang="en-US" altLang="zh-CN" b="1" dirty="0" smtClean="0">
                <a:solidFill>
                  <a:srgbClr val="002060"/>
                </a:solidFill>
              </a:rPr>
            </a:br>
            <a:r>
              <a:rPr lang="zh-CN" altLang="en-US" b="1" dirty="0" smtClean="0">
                <a:latin typeface="华光隶书_CNKI" panose="02000500000000000000" pitchFamily="2" charset="-122"/>
                <a:ea typeface="华光隶书_CNKI" panose="02000500000000000000" pitchFamily="2" charset="-122"/>
              </a:rPr>
              <a:t>课前说明</a:t>
            </a:r>
            <a:endParaRPr lang="zh-CN" altLang="en-US" b="1" dirty="0">
              <a:latin typeface="华光隶书_CNKI" panose="02000500000000000000" pitchFamily="2" charset="-122"/>
              <a:ea typeface="华光隶书_CNKI" panose="02000500000000000000" pitchFamily="2" charset="-122"/>
            </a:endParaRPr>
          </a:p>
        </p:txBody>
      </p:sp>
      <p:sp>
        <p:nvSpPr>
          <p:cNvPr id="3" name="副标题 2"/>
          <p:cNvSpPr>
            <a:spLocks noGrp="1"/>
          </p:cNvSpPr>
          <p:nvPr>
            <p:ph type="subTitle" idx="1"/>
          </p:nvPr>
        </p:nvSpPr>
        <p:spPr/>
        <p:txBody>
          <a:bodyPr>
            <a:noAutofit/>
          </a:bodyPr>
          <a:lstStyle/>
          <a:p>
            <a:pPr algn="r"/>
            <a:endParaRPr lang="en-US" altLang="zh-CN" sz="3600" b="1" dirty="0" smtClean="0">
              <a:solidFill>
                <a:schemeClr val="accent2">
                  <a:lumMod val="50000"/>
                </a:schemeClr>
              </a:solidFill>
            </a:endParaRPr>
          </a:p>
          <a:p>
            <a:pPr algn="r"/>
            <a:r>
              <a:rPr lang="en-US" altLang="zh-CN" sz="3600" b="1" dirty="0" smtClean="0">
                <a:solidFill>
                  <a:schemeClr val="accent2">
                    <a:lumMod val="50000"/>
                  </a:schemeClr>
                </a:solidFill>
              </a:rPr>
              <a:t>--</a:t>
            </a:r>
            <a:r>
              <a:rPr lang="zh-CN" altLang="en-US" sz="3600" b="1" dirty="0" smtClean="0">
                <a:solidFill>
                  <a:schemeClr val="accent2">
                    <a:lumMod val="50000"/>
                  </a:schemeClr>
                </a:solidFill>
              </a:rPr>
              <a:t>沈阳建筑大学 赵明</a:t>
            </a:r>
            <a:endParaRPr lang="zh-CN" altLang="en-US" sz="3600" b="1" dirty="0">
              <a:solidFill>
                <a:schemeClr val="accent2">
                  <a:lumMod val="50000"/>
                </a:schemeClr>
              </a:solidFill>
            </a:endParaRPr>
          </a:p>
        </p:txBody>
      </p:sp>
    </p:spTree>
    <p:extLst>
      <p:ext uri="{BB962C8B-B14F-4D97-AF65-F5344CB8AC3E}">
        <p14:creationId xmlns:p14="http://schemas.microsoft.com/office/powerpoint/2010/main" val="3851237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smtClean="0">
                <a:solidFill>
                  <a:srgbClr val="C00000"/>
                </a:solidFill>
              </a:rPr>
              <a:t>课程概况</a:t>
            </a:r>
            <a:endParaRPr lang="zh-CN" altLang="en-US" b="1" dirty="0">
              <a:solidFill>
                <a:srgbClr val="C00000"/>
              </a:solidFill>
            </a:endParaRPr>
          </a:p>
        </p:txBody>
      </p:sp>
      <p:sp>
        <p:nvSpPr>
          <p:cNvPr id="3" name="内容占位符 2"/>
          <p:cNvSpPr>
            <a:spLocks noGrp="1"/>
          </p:cNvSpPr>
          <p:nvPr>
            <p:ph idx="1"/>
          </p:nvPr>
        </p:nvSpPr>
        <p:spPr/>
        <p:txBody>
          <a:bodyPr>
            <a:normAutofit/>
          </a:bodyPr>
          <a:lstStyle/>
          <a:p>
            <a:pPr>
              <a:buFont typeface="Wingdings" panose="05000000000000000000" pitchFamily="2" charset="2"/>
              <a:buChar char="u"/>
            </a:pPr>
            <a:r>
              <a:rPr lang="zh-CN" altLang="en-US" sz="3200" b="1" dirty="0" smtClean="0"/>
              <a:t>  必修课 考试课 考研课</a:t>
            </a:r>
            <a:endParaRPr lang="en-US" altLang="zh-CN" sz="3200" b="1" dirty="0" smtClean="0"/>
          </a:p>
          <a:p>
            <a:pPr>
              <a:buFont typeface="Wingdings" panose="05000000000000000000" pitchFamily="2" charset="2"/>
              <a:buChar char="u"/>
            </a:pPr>
            <a:r>
              <a:rPr lang="en-US" altLang="zh-CN" sz="3200" b="1" dirty="0" smtClean="0"/>
              <a:t> </a:t>
            </a:r>
            <a:r>
              <a:rPr lang="zh-CN" altLang="en-US" sz="3200" b="1" dirty="0" smtClean="0"/>
              <a:t>总学时 </a:t>
            </a:r>
            <a:r>
              <a:rPr lang="en-US" altLang="zh-CN" sz="3200" b="1" dirty="0" smtClean="0"/>
              <a:t>64 </a:t>
            </a:r>
          </a:p>
          <a:p>
            <a:pPr marL="0" indent="0">
              <a:buNone/>
            </a:pPr>
            <a:r>
              <a:rPr lang="en-US" altLang="zh-CN" sz="3200" b="1" dirty="0"/>
              <a:t> </a:t>
            </a:r>
            <a:r>
              <a:rPr lang="en-US" altLang="zh-CN" sz="3200" b="1" dirty="0" smtClean="0"/>
              <a:t>           </a:t>
            </a:r>
            <a:r>
              <a:rPr lang="zh-CN" altLang="en-US" sz="3200" b="1" dirty="0" smtClean="0"/>
              <a:t>（</a:t>
            </a:r>
            <a:r>
              <a:rPr lang="en-US" altLang="zh-CN" sz="3200" b="1" dirty="0" smtClean="0"/>
              <a:t>48</a:t>
            </a:r>
            <a:r>
              <a:rPr lang="zh-CN" altLang="en-US" sz="3200" b="1" dirty="0" smtClean="0"/>
              <a:t>理论</a:t>
            </a:r>
            <a:r>
              <a:rPr lang="en-US" altLang="zh-CN" sz="3200" b="1" dirty="0" smtClean="0"/>
              <a:t>+16</a:t>
            </a:r>
            <a:r>
              <a:rPr lang="zh-CN" altLang="en-US" sz="3200" b="1" dirty="0" smtClean="0"/>
              <a:t>实验）</a:t>
            </a:r>
            <a:endParaRPr lang="en-US" altLang="zh-CN" sz="3200" b="1" dirty="0" smtClean="0"/>
          </a:p>
          <a:p>
            <a:pPr>
              <a:buFont typeface="Wingdings" panose="05000000000000000000" pitchFamily="2" charset="2"/>
              <a:buChar char="u"/>
            </a:pPr>
            <a:r>
              <a:rPr lang="en-US" altLang="zh-CN" sz="3200" b="1" dirty="0"/>
              <a:t> </a:t>
            </a:r>
            <a:r>
              <a:rPr lang="zh-CN" altLang="en-US" sz="3200" b="1" dirty="0"/>
              <a:t> </a:t>
            </a:r>
            <a:r>
              <a:rPr lang="zh-CN" altLang="en-US" sz="3200" b="1" dirty="0" smtClean="0"/>
              <a:t>理论学时课表：</a:t>
            </a:r>
            <a:endParaRPr lang="en-US" altLang="zh-CN" sz="3200" b="1" dirty="0" smtClean="0"/>
          </a:p>
          <a:p>
            <a:pPr marL="0" indent="0">
              <a:buNone/>
            </a:pPr>
            <a:r>
              <a:rPr lang="en-US" altLang="zh-CN" sz="3200" b="1" dirty="0"/>
              <a:t> </a:t>
            </a:r>
            <a:r>
              <a:rPr lang="en-US" altLang="zh-CN" sz="3200" b="1" dirty="0" smtClean="0"/>
              <a:t>              </a:t>
            </a:r>
            <a:r>
              <a:rPr lang="zh-CN" altLang="en-US" sz="3200" b="1" dirty="0" smtClean="0">
                <a:solidFill>
                  <a:srgbClr val="FF0000"/>
                </a:solidFill>
              </a:rPr>
              <a:t>周二</a:t>
            </a:r>
            <a:r>
              <a:rPr lang="en-US" altLang="zh-CN" sz="3200" b="1" dirty="0" smtClean="0">
                <a:solidFill>
                  <a:srgbClr val="FF0000"/>
                </a:solidFill>
              </a:rPr>
              <a:t>1</a:t>
            </a:r>
            <a:r>
              <a:rPr lang="zh-CN" altLang="en-US" sz="3200" b="1" dirty="0" smtClean="0">
                <a:solidFill>
                  <a:srgbClr val="FF0000"/>
                </a:solidFill>
              </a:rPr>
              <a:t>、</a:t>
            </a:r>
            <a:r>
              <a:rPr lang="en-US" altLang="zh-CN" sz="3200" b="1" dirty="0" smtClean="0">
                <a:solidFill>
                  <a:srgbClr val="FF0000"/>
                </a:solidFill>
              </a:rPr>
              <a:t>2</a:t>
            </a:r>
            <a:r>
              <a:rPr lang="zh-CN" altLang="en-US" sz="3200" b="1" dirty="0" smtClean="0">
                <a:solidFill>
                  <a:srgbClr val="FF0000"/>
                </a:solidFill>
              </a:rPr>
              <a:t>节 周五</a:t>
            </a:r>
            <a:r>
              <a:rPr lang="en-US" altLang="zh-CN" sz="3200" b="1" dirty="0" smtClean="0">
                <a:solidFill>
                  <a:srgbClr val="FF0000"/>
                </a:solidFill>
              </a:rPr>
              <a:t>1</a:t>
            </a:r>
            <a:r>
              <a:rPr lang="zh-CN" altLang="en-US" sz="3200" b="1" dirty="0" smtClean="0">
                <a:solidFill>
                  <a:srgbClr val="FF0000"/>
                </a:solidFill>
              </a:rPr>
              <a:t>、</a:t>
            </a:r>
            <a:r>
              <a:rPr lang="en-US" altLang="zh-CN" sz="3200" b="1" dirty="0" smtClean="0">
                <a:solidFill>
                  <a:srgbClr val="FF0000"/>
                </a:solidFill>
              </a:rPr>
              <a:t>2</a:t>
            </a:r>
            <a:r>
              <a:rPr lang="zh-CN" altLang="en-US" sz="3200" b="1" dirty="0" smtClean="0">
                <a:solidFill>
                  <a:srgbClr val="FF0000"/>
                </a:solidFill>
              </a:rPr>
              <a:t>节（</a:t>
            </a:r>
            <a:r>
              <a:rPr lang="zh-CN" altLang="en-US" dirty="0">
                <a:solidFill>
                  <a:srgbClr val="FF0000"/>
                </a:solidFill>
              </a:rPr>
              <a:t>丁</a:t>
            </a:r>
            <a:r>
              <a:rPr lang="en-US" altLang="zh-CN" dirty="0">
                <a:solidFill>
                  <a:srgbClr val="FF0000"/>
                </a:solidFill>
              </a:rPr>
              <a:t>2301</a:t>
            </a:r>
            <a:r>
              <a:rPr lang="zh-CN" altLang="en-US" sz="3200" b="1" dirty="0" smtClean="0">
                <a:solidFill>
                  <a:srgbClr val="FF0000"/>
                </a:solidFill>
              </a:rPr>
              <a:t>）</a:t>
            </a:r>
            <a:endParaRPr lang="en-US" altLang="zh-CN" sz="3200" b="1" dirty="0" smtClean="0">
              <a:solidFill>
                <a:srgbClr val="FF0000"/>
              </a:solidFill>
            </a:endParaRPr>
          </a:p>
          <a:p>
            <a:pPr>
              <a:buFont typeface="Wingdings" panose="05000000000000000000" pitchFamily="2" charset="2"/>
              <a:buChar char="u"/>
            </a:pPr>
            <a:endParaRPr lang="en-US" altLang="zh-CN" sz="3200" b="1" dirty="0" smtClean="0"/>
          </a:p>
          <a:p>
            <a:pPr>
              <a:buFont typeface="Wingdings" panose="05000000000000000000" pitchFamily="2" charset="2"/>
              <a:buChar char="u"/>
            </a:pPr>
            <a:endParaRPr lang="zh-CN" altLang="en-US" sz="3200" b="1" dirty="0"/>
          </a:p>
        </p:txBody>
      </p:sp>
    </p:spTree>
    <p:extLst>
      <p:ext uri="{BB962C8B-B14F-4D97-AF65-F5344CB8AC3E}">
        <p14:creationId xmlns:p14="http://schemas.microsoft.com/office/powerpoint/2010/main" val="36234183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smtClean="0">
                <a:solidFill>
                  <a:srgbClr val="C00000"/>
                </a:solidFill>
              </a:rPr>
              <a:t>教学目标</a:t>
            </a:r>
            <a:endParaRPr lang="zh-CN" altLang="en-US" b="1" dirty="0">
              <a:solidFill>
                <a:srgbClr val="C00000"/>
              </a:solidFill>
            </a:endParaRPr>
          </a:p>
        </p:txBody>
      </p:sp>
      <p:sp>
        <p:nvSpPr>
          <p:cNvPr id="3" name="内容占位符 2"/>
          <p:cNvSpPr>
            <a:spLocks noGrp="1"/>
          </p:cNvSpPr>
          <p:nvPr>
            <p:ph idx="1"/>
          </p:nvPr>
        </p:nvSpPr>
        <p:spPr/>
        <p:txBody>
          <a:bodyPr>
            <a:normAutofit fontScale="92500"/>
          </a:bodyPr>
          <a:lstStyle/>
          <a:p>
            <a:pPr marL="0" indent="0">
              <a:buNone/>
            </a:pPr>
            <a:r>
              <a:rPr lang="zh-CN" altLang="en-US" sz="3200" b="1" dirty="0" smtClean="0"/>
              <a:t>         计算机网络</a:t>
            </a:r>
            <a:r>
              <a:rPr lang="zh-CN" altLang="en-US" sz="3200" b="1" dirty="0"/>
              <a:t>是计算机科学与技术专业的核心课之一。计算机网络是计算机与通信技术相结合，实现远程信息处理和资源共享，具有数据传输、处理及应用等基本要求</a:t>
            </a:r>
            <a:r>
              <a:rPr lang="zh-CN" altLang="en-US" sz="3200" b="1" dirty="0" smtClean="0"/>
              <a:t>。</a:t>
            </a:r>
            <a:endParaRPr lang="en-US" altLang="zh-CN" sz="3200" b="1" dirty="0" smtClean="0"/>
          </a:p>
          <a:p>
            <a:pPr marL="0" indent="0">
              <a:buNone/>
            </a:pPr>
            <a:r>
              <a:rPr lang="en-US" altLang="zh-CN" sz="3200" b="1" dirty="0"/>
              <a:t> </a:t>
            </a:r>
            <a:r>
              <a:rPr lang="en-US" altLang="zh-CN" sz="3200" b="1" dirty="0" smtClean="0"/>
              <a:t>        </a:t>
            </a:r>
            <a:r>
              <a:rPr lang="zh-CN" altLang="en-US" sz="3200" b="1" dirty="0" smtClean="0"/>
              <a:t>对于</a:t>
            </a:r>
            <a:r>
              <a:rPr lang="zh-CN" altLang="en-US" sz="3200" b="1" dirty="0"/>
              <a:t>计算机相关专业人员，计算机网络课程将支撑计算机软硬件设计与计算机网络系统的基本原理和分析方法，使学生具备分析网络信息系统复杂问题的能力，能够识别和判断网络及信息安全系统的复杂工程问题中的关键环节和影响因素，并能进行相关研究，以适应社会对计算机网络人材的需求。</a:t>
            </a:r>
          </a:p>
        </p:txBody>
      </p:sp>
    </p:spTree>
    <p:extLst>
      <p:ext uri="{BB962C8B-B14F-4D97-AF65-F5344CB8AC3E}">
        <p14:creationId xmlns:p14="http://schemas.microsoft.com/office/powerpoint/2010/main" val="6348972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smtClean="0">
                <a:solidFill>
                  <a:srgbClr val="C00000"/>
                </a:solidFill>
              </a:rPr>
              <a:t>教学</a:t>
            </a:r>
            <a:r>
              <a:rPr lang="zh-CN" altLang="en-US" b="1" dirty="0">
                <a:solidFill>
                  <a:srgbClr val="C00000"/>
                </a:solidFill>
              </a:rPr>
              <a:t>内容</a:t>
            </a:r>
          </a:p>
        </p:txBody>
      </p:sp>
      <p:sp>
        <p:nvSpPr>
          <p:cNvPr id="3" name="内容占位符 2"/>
          <p:cNvSpPr>
            <a:spLocks noGrp="1"/>
          </p:cNvSpPr>
          <p:nvPr>
            <p:ph idx="1"/>
          </p:nvPr>
        </p:nvSpPr>
        <p:spPr>
          <a:xfrm>
            <a:off x="1097280" y="1845733"/>
            <a:ext cx="10058400" cy="4542003"/>
          </a:xfrm>
        </p:spPr>
        <p:txBody>
          <a:bodyPr>
            <a:normAutofit fontScale="92500" lnSpcReduction="20000"/>
          </a:bodyPr>
          <a:lstStyle/>
          <a:p>
            <a:pPr>
              <a:buFont typeface="Wingdings" panose="05000000000000000000" pitchFamily="2" charset="2"/>
              <a:buChar char="u"/>
            </a:pPr>
            <a:r>
              <a:rPr lang="zh-CN" altLang="en-US" sz="3200" b="1" dirty="0" smtClean="0"/>
              <a:t>  计算机网络</a:t>
            </a:r>
            <a:r>
              <a:rPr lang="zh-CN" altLang="en-US" sz="3200" b="1" dirty="0"/>
              <a:t>概论</a:t>
            </a:r>
          </a:p>
          <a:p>
            <a:pPr>
              <a:buFont typeface="Wingdings" panose="05000000000000000000" pitchFamily="2" charset="2"/>
              <a:buChar char="u"/>
            </a:pPr>
            <a:r>
              <a:rPr lang="zh-CN" altLang="en-US" sz="3200" b="1" dirty="0" smtClean="0"/>
              <a:t>  物理层</a:t>
            </a:r>
            <a:endParaRPr lang="zh-CN" altLang="en-US" sz="3200" b="1" dirty="0"/>
          </a:p>
          <a:p>
            <a:pPr>
              <a:buFont typeface="Wingdings" panose="05000000000000000000" pitchFamily="2" charset="2"/>
              <a:buChar char="u"/>
            </a:pPr>
            <a:r>
              <a:rPr lang="zh-CN" altLang="en-US" sz="3200" b="1" dirty="0" smtClean="0"/>
              <a:t>  数据链路层</a:t>
            </a:r>
            <a:endParaRPr lang="zh-CN" altLang="en-US" sz="3200" b="1" dirty="0"/>
          </a:p>
          <a:p>
            <a:pPr>
              <a:buFont typeface="Wingdings" panose="05000000000000000000" pitchFamily="2" charset="2"/>
              <a:buChar char="u"/>
            </a:pPr>
            <a:r>
              <a:rPr lang="zh-CN" altLang="en-US" sz="3200" b="1" dirty="0" smtClean="0"/>
              <a:t>  介质</a:t>
            </a:r>
            <a:r>
              <a:rPr lang="zh-CN" altLang="en-US" sz="3200" b="1" dirty="0"/>
              <a:t>访问控制子层</a:t>
            </a:r>
          </a:p>
          <a:p>
            <a:pPr>
              <a:buFont typeface="Wingdings" panose="05000000000000000000" pitchFamily="2" charset="2"/>
              <a:buChar char="u"/>
            </a:pPr>
            <a:r>
              <a:rPr lang="zh-CN" altLang="en-US" sz="3200" b="1" dirty="0" smtClean="0"/>
              <a:t>  网络层</a:t>
            </a:r>
            <a:endParaRPr lang="zh-CN" altLang="en-US" sz="3200" b="1" dirty="0"/>
          </a:p>
          <a:p>
            <a:pPr>
              <a:buFont typeface="Wingdings" panose="05000000000000000000" pitchFamily="2" charset="2"/>
              <a:buChar char="u"/>
            </a:pPr>
            <a:r>
              <a:rPr lang="zh-CN" altLang="en-US" sz="3200" b="1" dirty="0" smtClean="0"/>
              <a:t>  传输</a:t>
            </a:r>
            <a:r>
              <a:rPr lang="zh-CN" altLang="en-US" sz="3200" b="1" dirty="0"/>
              <a:t>层</a:t>
            </a:r>
          </a:p>
          <a:p>
            <a:pPr>
              <a:buFont typeface="Wingdings" panose="05000000000000000000" pitchFamily="2" charset="2"/>
              <a:buChar char="u"/>
            </a:pPr>
            <a:r>
              <a:rPr lang="zh-CN" altLang="en-US" sz="3200" b="1" dirty="0" smtClean="0"/>
              <a:t>  应用层</a:t>
            </a:r>
            <a:endParaRPr lang="zh-CN" altLang="en-US" sz="3200" b="1" dirty="0"/>
          </a:p>
          <a:p>
            <a:pPr>
              <a:buFont typeface="Wingdings" panose="05000000000000000000" pitchFamily="2" charset="2"/>
              <a:buChar char="u"/>
            </a:pPr>
            <a:r>
              <a:rPr lang="zh-CN" altLang="en-US" sz="3200" b="1" dirty="0" smtClean="0"/>
              <a:t>  网络安全</a:t>
            </a:r>
            <a:endParaRPr lang="en-US" altLang="zh-CN" sz="3200" b="1" dirty="0" smtClean="0"/>
          </a:p>
          <a:p>
            <a:pPr>
              <a:buFont typeface="Wingdings" panose="05000000000000000000" pitchFamily="2" charset="2"/>
              <a:buChar char="u"/>
            </a:pPr>
            <a:r>
              <a:rPr lang="zh-CN" altLang="en-US" sz="3200" b="1" dirty="0" smtClean="0"/>
              <a:t>  无线网络</a:t>
            </a:r>
            <a:endParaRPr lang="zh-CN" altLang="en-US" sz="3200" b="1" dirty="0"/>
          </a:p>
        </p:txBody>
      </p:sp>
    </p:spTree>
    <p:extLst>
      <p:ext uri="{BB962C8B-B14F-4D97-AF65-F5344CB8AC3E}">
        <p14:creationId xmlns:p14="http://schemas.microsoft.com/office/powerpoint/2010/main" val="26957152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smtClean="0">
                <a:solidFill>
                  <a:srgbClr val="C00000"/>
                </a:solidFill>
              </a:rPr>
              <a:t>教材资料</a:t>
            </a:r>
            <a:endParaRPr lang="zh-CN" altLang="en-US" b="1" dirty="0">
              <a:solidFill>
                <a:srgbClr val="C00000"/>
              </a:solidFill>
            </a:endParaRPr>
          </a:p>
        </p:txBody>
      </p:sp>
      <p:sp>
        <p:nvSpPr>
          <p:cNvPr id="3" name="内容占位符 2"/>
          <p:cNvSpPr>
            <a:spLocks noGrp="1"/>
          </p:cNvSpPr>
          <p:nvPr>
            <p:ph idx="1"/>
          </p:nvPr>
        </p:nvSpPr>
        <p:spPr>
          <a:xfrm>
            <a:off x="1097279" y="1845734"/>
            <a:ext cx="10894423" cy="4601958"/>
          </a:xfrm>
        </p:spPr>
        <p:txBody>
          <a:bodyPr>
            <a:normAutofit/>
          </a:bodyPr>
          <a:lstStyle/>
          <a:p>
            <a:pPr>
              <a:buFont typeface="Wingdings" panose="05000000000000000000" pitchFamily="2" charset="2"/>
              <a:buChar char="u"/>
            </a:pPr>
            <a:r>
              <a:rPr lang="zh-CN" altLang="en-US" sz="3200" b="1" dirty="0" smtClean="0"/>
              <a:t> </a:t>
            </a:r>
            <a:r>
              <a:rPr lang="zh-CN" altLang="en-US" sz="3200" b="1" dirty="0" smtClean="0">
                <a:solidFill>
                  <a:schemeClr val="accent2">
                    <a:lumMod val="75000"/>
                  </a:schemeClr>
                </a:solidFill>
              </a:rPr>
              <a:t>参考教材</a:t>
            </a:r>
            <a:endParaRPr lang="en-US" altLang="zh-CN" sz="3200" b="1" dirty="0" smtClean="0">
              <a:solidFill>
                <a:schemeClr val="accent2">
                  <a:lumMod val="75000"/>
                </a:schemeClr>
              </a:solidFill>
            </a:endParaRPr>
          </a:p>
          <a:p>
            <a:pPr lvl="1">
              <a:buFont typeface="Wingdings" panose="05000000000000000000" pitchFamily="2" charset="2"/>
              <a:buChar char="l"/>
            </a:pPr>
            <a:r>
              <a:rPr lang="en-US" altLang="zh-CN" sz="3000" b="1" dirty="0"/>
              <a:t>《</a:t>
            </a:r>
            <a:r>
              <a:rPr lang="zh-CN" altLang="en-US" sz="3000" b="1" dirty="0"/>
              <a:t>计算机网络（第</a:t>
            </a:r>
            <a:r>
              <a:rPr lang="en-US" altLang="zh-CN" sz="3000" b="1" dirty="0"/>
              <a:t>7</a:t>
            </a:r>
            <a:r>
              <a:rPr lang="zh-CN" altLang="en-US" sz="3000" b="1" dirty="0"/>
              <a:t>版）</a:t>
            </a:r>
            <a:r>
              <a:rPr lang="en-US" altLang="zh-CN" sz="3000" b="1" dirty="0" smtClean="0"/>
              <a:t>》  </a:t>
            </a:r>
            <a:r>
              <a:rPr lang="zh-CN" altLang="en-US" sz="3000" b="1" dirty="0" smtClean="0"/>
              <a:t>谢</a:t>
            </a:r>
            <a:r>
              <a:rPr lang="zh-CN" altLang="en-US" sz="3000" b="1" dirty="0"/>
              <a:t>希仁</a:t>
            </a:r>
            <a:r>
              <a:rPr lang="zh-CN" altLang="en-US" sz="3000" b="1" dirty="0" smtClean="0"/>
              <a:t>编著     电子工业出版社 </a:t>
            </a:r>
            <a:r>
              <a:rPr lang="en-US" altLang="zh-CN" sz="3000" b="1" dirty="0" smtClean="0"/>
              <a:t/>
            </a:r>
            <a:br>
              <a:rPr lang="en-US" altLang="zh-CN" sz="3000" b="1" dirty="0" smtClean="0"/>
            </a:br>
            <a:r>
              <a:rPr lang="en-US" altLang="zh-CN" sz="3000" b="1" dirty="0" smtClean="0"/>
              <a:t>  </a:t>
            </a:r>
            <a:r>
              <a:rPr lang="zh-CN" altLang="en-US" sz="3000" b="1" dirty="0" smtClean="0"/>
              <a:t>“十二五”</a:t>
            </a:r>
            <a:r>
              <a:rPr lang="zh-CN" altLang="en-US" sz="3000" b="1" dirty="0"/>
              <a:t>普通高等教育本科国家级规划</a:t>
            </a:r>
            <a:r>
              <a:rPr lang="zh-CN" altLang="en-US" sz="3000" b="1" dirty="0" smtClean="0"/>
              <a:t>教材</a:t>
            </a:r>
            <a:endParaRPr lang="en-US" altLang="zh-CN" sz="3000" b="1" dirty="0"/>
          </a:p>
          <a:p>
            <a:pPr lvl="1">
              <a:buFont typeface="Wingdings" panose="05000000000000000000" pitchFamily="2" charset="2"/>
              <a:buChar char="l"/>
            </a:pPr>
            <a:r>
              <a:rPr lang="en-US" altLang="zh-CN" sz="3000" b="1" dirty="0" smtClean="0"/>
              <a:t>《</a:t>
            </a:r>
            <a:r>
              <a:rPr lang="zh-CN" altLang="en-US" sz="3000" b="1" dirty="0" smtClean="0"/>
              <a:t>计算机网络（第四版）</a:t>
            </a:r>
            <a:r>
              <a:rPr lang="en-US" altLang="zh-CN" sz="3000" b="1" dirty="0" smtClean="0"/>
              <a:t>》 </a:t>
            </a:r>
            <a:r>
              <a:rPr lang="zh-CN" altLang="en-US" sz="3000" b="1" dirty="0" smtClean="0"/>
              <a:t>吴功宜 吴英编著 清华大学出版社</a:t>
            </a:r>
            <a:r>
              <a:rPr lang="en-US" altLang="zh-CN" sz="3000" b="1" dirty="0"/>
              <a:t/>
            </a:r>
            <a:br>
              <a:rPr lang="en-US" altLang="zh-CN" sz="3000" b="1" dirty="0"/>
            </a:br>
            <a:r>
              <a:rPr lang="en-US" altLang="zh-CN" sz="3000" b="1" dirty="0" smtClean="0"/>
              <a:t> </a:t>
            </a:r>
            <a:r>
              <a:rPr lang="zh-CN" altLang="en-US" sz="3000" b="1" dirty="0" smtClean="0"/>
              <a:t>“十二五”</a:t>
            </a:r>
            <a:r>
              <a:rPr lang="zh-CN" altLang="en-US" sz="3000" b="1" dirty="0"/>
              <a:t>普通高等教育本科国家级规划</a:t>
            </a:r>
            <a:r>
              <a:rPr lang="zh-CN" altLang="en-US" sz="3000" b="1" dirty="0" smtClean="0"/>
              <a:t>教材</a:t>
            </a:r>
            <a:endParaRPr lang="en-US" altLang="zh-CN" sz="3000" b="1" dirty="0"/>
          </a:p>
          <a:p>
            <a:pPr>
              <a:buFont typeface="Wingdings" panose="05000000000000000000" pitchFamily="2" charset="2"/>
              <a:buChar char="u"/>
            </a:pPr>
            <a:r>
              <a:rPr lang="zh-CN" altLang="en-US" sz="3200" b="1" dirty="0" smtClean="0"/>
              <a:t> </a:t>
            </a:r>
            <a:r>
              <a:rPr lang="zh-CN" altLang="en-US" sz="3200" b="1" dirty="0" smtClean="0">
                <a:solidFill>
                  <a:schemeClr val="accent2">
                    <a:lumMod val="75000"/>
                  </a:schemeClr>
                </a:solidFill>
              </a:rPr>
              <a:t>网络资源</a:t>
            </a:r>
            <a:endParaRPr lang="en-US" altLang="zh-CN" sz="3200" b="1" dirty="0" smtClean="0">
              <a:solidFill>
                <a:schemeClr val="accent2">
                  <a:lumMod val="75000"/>
                </a:schemeClr>
              </a:solidFill>
            </a:endParaRPr>
          </a:p>
          <a:p>
            <a:pPr lvl="1">
              <a:buFont typeface="Wingdings" panose="05000000000000000000" pitchFamily="2" charset="2"/>
              <a:buChar char="l"/>
            </a:pPr>
            <a:r>
              <a:rPr lang="en-US" altLang="zh-CN" sz="3000" b="1" dirty="0"/>
              <a:t> </a:t>
            </a:r>
            <a:r>
              <a:rPr lang="zh-CN" altLang="en-US" sz="3000" b="1" dirty="0" smtClean="0"/>
              <a:t>中国大学</a:t>
            </a:r>
            <a:r>
              <a:rPr lang="en-US" altLang="zh-CN" sz="3000" b="1" dirty="0" smtClean="0"/>
              <a:t>MOOC </a:t>
            </a:r>
            <a:r>
              <a:rPr lang="zh-CN" altLang="en-US" sz="3000" b="1" dirty="0" smtClean="0"/>
              <a:t>东北大学 计算机网络</a:t>
            </a:r>
            <a:endParaRPr lang="en-US" altLang="zh-CN" sz="3000" b="1" dirty="0" smtClean="0"/>
          </a:p>
          <a:p>
            <a:pPr lvl="1">
              <a:buFont typeface="Wingdings" panose="05000000000000000000" pitchFamily="2" charset="2"/>
              <a:buChar char="l"/>
            </a:pPr>
            <a:r>
              <a:rPr lang="en-US" altLang="zh-CN" sz="3000" b="1" dirty="0" smtClean="0"/>
              <a:t> </a:t>
            </a:r>
            <a:r>
              <a:rPr lang="zh-CN" altLang="en-US" sz="3000" b="1" dirty="0" smtClean="0"/>
              <a:t>学堂在线 河南科技大学 </a:t>
            </a:r>
            <a:r>
              <a:rPr lang="zh-CN" altLang="en-US" sz="3000" b="1" dirty="0" smtClean="0"/>
              <a:t>计算机网络</a:t>
            </a:r>
            <a:endParaRPr lang="en-US" altLang="zh-CN" sz="3000" b="1" dirty="0" smtClean="0"/>
          </a:p>
          <a:p>
            <a:pPr marL="201168" lvl="1" indent="0">
              <a:buNone/>
            </a:pPr>
            <a:r>
              <a:rPr lang="zh-CN" altLang="en-US" sz="3000" b="1" dirty="0" smtClean="0"/>
              <a:t>。。。。。。</a:t>
            </a:r>
            <a:endParaRPr lang="en-US" altLang="zh-CN" sz="3000" b="1" dirty="0" smtClean="0"/>
          </a:p>
          <a:p>
            <a:pPr marL="0" indent="0">
              <a:buNone/>
            </a:pPr>
            <a:endParaRPr lang="zh-CN" altLang="en-US" sz="3200" b="1" dirty="0"/>
          </a:p>
        </p:txBody>
      </p:sp>
    </p:spTree>
    <p:extLst>
      <p:ext uri="{BB962C8B-B14F-4D97-AF65-F5344CB8AC3E}">
        <p14:creationId xmlns:p14="http://schemas.microsoft.com/office/powerpoint/2010/main" val="37418229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smtClean="0">
                <a:solidFill>
                  <a:srgbClr val="C00000"/>
                </a:solidFill>
              </a:rPr>
              <a:t>考核方法</a:t>
            </a:r>
            <a:endParaRPr lang="zh-CN" altLang="en-US" b="1" dirty="0">
              <a:solidFill>
                <a:srgbClr val="C00000"/>
              </a:solidFill>
            </a:endParaRPr>
          </a:p>
        </p:txBody>
      </p:sp>
      <p:sp>
        <p:nvSpPr>
          <p:cNvPr id="3" name="内容占位符 2"/>
          <p:cNvSpPr>
            <a:spLocks noGrp="1"/>
          </p:cNvSpPr>
          <p:nvPr>
            <p:ph idx="1"/>
          </p:nvPr>
        </p:nvSpPr>
        <p:spPr>
          <a:xfrm>
            <a:off x="1097280" y="1845733"/>
            <a:ext cx="10058400" cy="4542003"/>
          </a:xfrm>
        </p:spPr>
        <p:txBody>
          <a:bodyPr>
            <a:normAutofit/>
          </a:bodyPr>
          <a:lstStyle/>
          <a:p>
            <a:pPr>
              <a:buFont typeface="Wingdings" panose="05000000000000000000" pitchFamily="2" charset="2"/>
              <a:buChar char="u"/>
            </a:pPr>
            <a:r>
              <a:rPr lang="zh-CN" altLang="en-US" sz="3200" b="1" dirty="0" smtClean="0"/>
              <a:t>  </a:t>
            </a:r>
            <a:r>
              <a:rPr lang="zh-CN" altLang="en-US" sz="3200" b="1" dirty="0" smtClean="0">
                <a:solidFill>
                  <a:schemeClr val="accent2">
                    <a:lumMod val="75000"/>
                  </a:schemeClr>
                </a:solidFill>
              </a:rPr>
              <a:t>以往</a:t>
            </a:r>
            <a:r>
              <a:rPr lang="zh-CN" altLang="en-US" sz="3200" b="1" dirty="0" smtClean="0"/>
              <a:t> </a:t>
            </a:r>
            <a:r>
              <a:rPr lang="en-US" altLang="zh-CN" sz="3200" b="1" dirty="0" smtClean="0"/>
              <a:t/>
            </a:r>
            <a:br>
              <a:rPr lang="en-US" altLang="zh-CN" sz="3200" b="1" dirty="0" smtClean="0"/>
            </a:br>
            <a:r>
              <a:rPr lang="en-US" altLang="zh-CN" sz="3200" b="1" dirty="0" smtClean="0"/>
              <a:t>     </a:t>
            </a:r>
            <a:br>
              <a:rPr lang="en-US" altLang="zh-CN" sz="3200" b="1" dirty="0" smtClean="0"/>
            </a:br>
            <a:r>
              <a:rPr lang="en-US" altLang="zh-CN" sz="3200" b="1" dirty="0" smtClean="0"/>
              <a:t>     20%</a:t>
            </a:r>
            <a:r>
              <a:rPr lang="zh-CN" altLang="en-US" sz="3200" b="1" dirty="0" smtClean="0"/>
              <a:t>实验</a:t>
            </a:r>
            <a:r>
              <a:rPr lang="en-US" altLang="zh-CN" sz="3200" b="1" dirty="0" smtClean="0"/>
              <a:t>+10%</a:t>
            </a:r>
            <a:r>
              <a:rPr lang="zh-CN" altLang="en-US" sz="3200" b="1" dirty="0" smtClean="0"/>
              <a:t>平时（课堂</a:t>
            </a:r>
            <a:r>
              <a:rPr lang="en-US" altLang="zh-CN" sz="3200" b="1" dirty="0" smtClean="0"/>
              <a:t>+</a:t>
            </a:r>
            <a:r>
              <a:rPr lang="zh-CN" altLang="en-US" sz="3200" b="1" dirty="0" smtClean="0"/>
              <a:t>作业）</a:t>
            </a:r>
            <a:r>
              <a:rPr lang="en-US" altLang="zh-CN" sz="3200" b="1" dirty="0" smtClean="0"/>
              <a:t>+70%</a:t>
            </a:r>
            <a:r>
              <a:rPr lang="zh-CN" altLang="en-US" sz="3200" b="1" dirty="0" smtClean="0"/>
              <a:t>期末考试</a:t>
            </a:r>
            <a:r>
              <a:rPr lang="en-US" altLang="zh-CN" sz="3200" b="1" dirty="0" smtClean="0"/>
              <a:t/>
            </a:r>
            <a:br>
              <a:rPr lang="en-US" altLang="zh-CN" sz="3200" b="1" dirty="0" smtClean="0"/>
            </a:br>
            <a:endParaRPr lang="en-US" altLang="zh-CN" sz="3200" b="1" dirty="0" smtClean="0"/>
          </a:p>
          <a:p>
            <a:pPr>
              <a:buFont typeface="Wingdings" panose="05000000000000000000" pitchFamily="2" charset="2"/>
              <a:buChar char="u"/>
            </a:pPr>
            <a:r>
              <a:rPr lang="en-US" altLang="zh-CN" sz="3200" b="1" dirty="0"/>
              <a:t> </a:t>
            </a:r>
            <a:r>
              <a:rPr lang="en-US" altLang="zh-CN" sz="3200" b="1" dirty="0" smtClean="0"/>
              <a:t> </a:t>
            </a:r>
            <a:r>
              <a:rPr lang="zh-CN" altLang="en-US" sz="3200" b="1" dirty="0" smtClean="0">
                <a:solidFill>
                  <a:schemeClr val="accent2">
                    <a:lumMod val="75000"/>
                  </a:schemeClr>
                </a:solidFill>
              </a:rPr>
              <a:t>本届</a:t>
            </a:r>
            <a:r>
              <a:rPr lang="en-US" altLang="zh-CN" sz="3200" b="1" dirty="0" smtClean="0"/>
              <a:t/>
            </a:r>
            <a:br>
              <a:rPr lang="en-US" altLang="zh-CN" sz="3200" b="1" dirty="0" smtClean="0"/>
            </a:br>
            <a:r>
              <a:rPr lang="en-US" altLang="zh-CN" sz="3200" b="1" dirty="0" smtClean="0"/>
              <a:t>    </a:t>
            </a:r>
            <a:br>
              <a:rPr lang="en-US" altLang="zh-CN" sz="3200" b="1" dirty="0" smtClean="0"/>
            </a:br>
            <a:r>
              <a:rPr lang="en-US" altLang="zh-CN" sz="3200" b="1" dirty="0" smtClean="0"/>
              <a:t>     </a:t>
            </a:r>
            <a:r>
              <a:rPr lang="zh-CN" altLang="en-US" sz="3200" b="1" dirty="0" smtClean="0"/>
              <a:t>教</a:t>
            </a:r>
            <a:r>
              <a:rPr lang="zh-CN" altLang="en-US" sz="3200" b="1" dirty="0" smtClean="0"/>
              <a:t>考分离</a:t>
            </a:r>
            <a:endParaRPr lang="zh-CN" altLang="en-US" sz="3200" b="1" dirty="0"/>
          </a:p>
        </p:txBody>
      </p:sp>
    </p:spTree>
    <p:extLst>
      <p:ext uri="{BB962C8B-B14F-4D97-AF65-F5344CB8AC3E}">
        <p14:creationId xmlns:p14="http://schemas.microsoft.com/office/powerpoint/2010/main" val="13712865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smtClean="0">
                <a:solidFill>
                  <a:srgbClr val="C00000"/>
                </a:solidFill>
              </a:rPr>
              <a:t>答疑安排及联系方式</a:t>
            </a:r>
            <a:endParaRPr lang="zh-CN" altLang="en-US" b="1" dirty="0">
              <a:solidFill>
                <a:srgbClr val="C00000"/>
              </a:solidFill>
            </a:endParaRPr>
          </a:p>
        </p:txBody>
      </p:sp>
      <p:sp>
        <p:nvSpPr>
          <p:cNvPr id="3" name="内容占位符 2"/>
          <p:cNvSpPr>
            <a:spLocks noGrp="1"/>
          </p:cNvSpPr>
          <p:nvPr>
            <p:ph idx="1"/>
          </p:nvPr>
        </p:nvSpPr>
        <p:spPr>
          <a:xfrm>
            <a:off x="1097280" y="1845733"/>
            <a:ext cx="10058400" cy="4542003"/>
          </a:xfrm>
        </p:spPr>
        <p:txBody>
          <a:bodyPr>
            <a:normAutofit/>
          </a:bodyPr>
          <a:lstStyle/>
          <a:p>
            <a:pPr>
              <a:buFont typeface="Wingdings" panose="05000000000000000000" pitchFamily="2" charset="2"/>
              <a:buChar char="u"/>
            </a:pPr>
            <a:r>
              <a:rPr lang="zh-CN" altLang="en-US" sz="3200" b="1" dirty="0" smtClean="0"/>
              <a:t>  </a:t>
            </a:r>
            <a:r>
              <a:rPr lang="zh-CN" altLang="en-US" sz="3200" b="1" dirty="0" smtClean="0">
                <a:solidFill>
                  <a:schemeClr val="accent2">
                    <a:lumMod val="75000"/>
                  </a:schemeClr>
                </a:solidFill>
              </a:rPr>
              <a:t>答疑</a:t>
            </a:r>
            <a:r>
              <a:rPr lang="zh-CN" altLang="en-US" sz="3200" b="1" dirty="0" smtClean="0"/>
              <a:t> </a:t>
            </a:r>
            <a:r>
              <a:rPr lang="en-US" altLang="zh-CN" sz="3200" b="1" dirty="0" smtClean="0"/>
              <a:t/>
            </a:r>
            <a:br>
              <a:rPr lang="en-US" altLang="zh-CN" sz="3200" b="1" dirty="0" smtClean="0"/>
            </a:br>
            <a:r>
              <a:rPr lang="en-US" altLang="zh-CN" sz="3200" b="1" dirty="0" smtClean="0"/>
              <a:t>     </a:t>
            </a:r>
            <a:br>
              <a:rPr lang="en-US" altLang="zh-CN" sz="3200" b="1" dirty="0" smtClean="0"/>
            </a:br>
            <a:r>
              <a:rPr lang="en-US" altLang="zh-CN" sz="3200" b="1" dirty="0" smtClean="0"/>
              <a:t>     </a:t>
            </a:r>
            <a:r>
              <a:rPr lang="zh-CN" altLang="en-US" sz="3200" b="1" dirty="0" smtClean="0"/>
              <a:t>戊</a:t>
            </a:r>
            <a:r>
              <a:rPr lang="en-US" altLang="zh-CN" sz="3200" b="1" dirty="0" smtClean="0"/>
              <a:t>2-307 </a:t>
            </a:r>
            <a:r>
              <a:rPr lang="zh-CN" altLang="en-US" sz="3200" b="1" dirty="0" smtClean="0"/>
              <a:t>周三下午</a:t>
            </a:r>
            <a:endParaRPr lang="en-US" altLang="zh-CN" sz="3200" b="1" dirty="0" smtClean="0"/>
          </a:p>
          <a:p>
            <a:pPr>
              <a:buFont typeface="Wingdings" panose="05000000000000000000" pitchFamily="2" charset="2"/>
              <a:buChar char="u"/>
            </a:pPr>
            <a:endParaRPr lang="en-US" altLang="zh-CN" sz="3200" b="1" dirty="0" smtClean="0"/>
          </a:p>
          <a:p>
            <a:pPr>
              <a:buFont typeface="Wingdings" panose="05000000000000000000" pitchFamily="2" charset="2"/>
              <a:buChar char="u"/>
            </a:pPr>
            <a:r>
              <a:rPr lang="en-US" altLang="zh-CN" sz="3200" b="1" dirty="0"/>
              <a:t> </a:t>
            </a:r>
            <a:r>
              <a:rPr lang="en-US" altLang="zh-CN" sz="3200" b="1" dirty="0" smtClean="0"/>
              <a:t> </a:t>
            </a:r>
            <a:r>
              <a:rPr lang="zh-CN" altLang="en-US" sz="3200" b="1" dirty="0" smtClean="0">
                <a:solidFill>
                  <a:schemeClr val="accent2">
                    <a:lumMod val="75000"/>
                  </a:schemeClr>
                </a:solidFill>
              </a:rPr>
              <a:t>联系电话</a:t>
            </a:r>
            <a:r>
              <a:rPr lang="en-US" altLang="zh-CN" sz="3200" b="1" dirty="0" smtClean="0"/>
              <a:t/>
            </a:r>
            <a:br>
              <a:rPr lang="en-US" altLang="zh-CN" sz="3200" b="1" dirty="0" smtClean="0"/>
            </a:br>
            <a:r>
              <a:rPr lang="en-US" altLang="zh-CN" sz="3200" b="1" dirty="0" smtClean="0"/>
              <a:t>    </a:t>
            </a:r>
            <a:br>
              <a:rPr lang="en-US" altLang="zh-CN" sz="3200" b="1" dirty="0" smtClean="0"/>
            </a:br>
            <a:r>
              <a:rPr lang="en-US" altLang="zh-CN" sz="3200" b="1" dirty="0" smtClean="0"/>
              <a:t>     18041367776</a:t>
            </a:r>
            <a:endParaRPr lang="zh-CN" altLang="en-US" sz="3200" b="1" dirty="0"/>
          </a:p>
        </p:txBody>
      </p:sp>
    </p:spTree>
    <p:extLst>
      <p:ext uri="{BB962C8B-B14F-4D97-AF65-F5344CB8AC3E}">
        <p14:creationId xmlns:p14="http://schemas.microsoft.com/office/powerpoint/2010/main" val="1646463224"/>
      </p:ext>
    </p:extLst>
  </p:cSld>
  <p:clrMapOvr>
    <a:masterClrMapping/>
  </p:clrMapOvr>
</p:sld>
</file>

<file path=ppt/theme/theme1.xml><?xml version="1.0" encoding="utf-8"?>
<a:theme xmlns:a="http://schemas.openxmlformats.org/drawingml/2006/main" name="回顾">
  <a:themeElements>
    <a:clrScheme name="回顾">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回顾">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回顾">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65</TotalTime>
  <Words>211</Words>
  <Application>Microsoft Office PowerPoint</Application>
  <PresentationFormat>宽屏</PresentationFormat>
  <Paragraphs>37</Paragraphs>
  <Slides>7</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7</vt:i4>
      </vt:variant>
    </vt:vector>
  </HeadingPairs>
  <TitlesOfParts>
    <vt:vector size="13" baseType="lpstr">
      <vt:lpstr>华光隶书_CNKI</vt:lpstr>
      <vt:lpstr>宋体</vt:lpstr>
      <vt:lpstr>Calibri</vt:lpstr>
      <vt:lpstr>Calibri Light</vt:lpstr>
      <vt:lpstr>Wingdings</vt:lpstr>
      <vt:lpstr>回顾</vt:lpstr>
      <vt:lpstr>《计算机网络》 课前说明</vt:lpstr>
      <vt:lpstr>课程概况</vt:lpstr>
      <vt:lpstr>教学目标</vt:lpstr>
      <vt:lpstr>教学内容</vt:lpstr>
      <vt:lpstr>教材资料</vt:lpstr>
      <vt:lpstr>考核方法</vt:lpstr>
      <vt:lpstr>答疑安排及联系方式</vt:lpstr>
    </vt:vector>
  </TitlesOfParts>
  <Company>微软中国</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个人用户</dc:creator>
  <cp:lastModifiedBy>a</cp:lastModifiedBy>
  <cp:revision>14</cp:revision>
  <dcterms:created xsi:type="dcterms:W3CDTF">2021-01-02T04:27:37Z</dcterms:created>
  <dcterms:modified xsi:type="dcterms:W3CDTF">2022-02-23T12:28:44Z</dcterms:modified>
</cp:coreProperties>
</file>
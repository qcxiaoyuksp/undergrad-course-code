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handoutMasterIdLst>
    <p:handoutMasterId r:id="rId62"/>
  </p:handoutMasterIdLst>
  <p:sldIdLst>
    <p:sldId id="1712" r:id="rId2"/>
    <p:sldId id="1713" r:id="rId3"/>
    <p:sldId id="1714" r:id="rId4"/>
    <p:sldId id="1715" r:id="rId5"/>
    <p:sldId id="1716" r:id="rId6"/>
    <p:sldId id="1717" r:id="rId7"/>
    <p:sldId id="1718" r:id="rId8"/>
    <p:sldId id="1719" r:id="rId9"/>
    <p:sldId id="1720" r:id="rId10"/>
    <p:sldId id="1721" r:id="rId11"/>
    <p:sldId id="1722" r:id="rId12"/>
    <p:sldId id="1723" r:id="rId13"/>
    <p:sldId id="1724" r:id="rId14"/>
    <p:sldId id="1725" r:id="rId15"/>
    <p:sldId id="1726" r:id="rId16"/>
    <p:sldId id="1727" r:id="rId17"/>
    <p:sldId id="1728" r:id="rId18"/>
    <p:sldId id="1729" r:id="rId19"/>
    <p:sldId id="1730" r:id="rId20"/>
    <p:sldId id="1731" r:id="rId21"/>
    <p:sldId id="1732" r:id="rId22"/>
    <p:sldId id="1733" r:id="rId23"/>
    <p:sldId id="1734" r:id="rId24"/>
    <p:sldId id="1735" r:id="rId25"/>
    <p:sldId id="1736" r:id="rId26"/>
    <p:sldId id="1737" r:id="rId27"/>
    <p:sldId id="1738" r:id="rId28"/>
    <p:sldId id="1739" r:id="rId29"/>
    <p:sldId id="1740" r:id="rId30"/>
    <p:sldId id="1741" r:id="rId31"/>
    <p:sldId id="1742" r:id="rId32"/>
    <p:sldId id="1743" r:id="rId33"/>
    <p:sldId id="1744" r:id="rId34"/>
    <p:sldId id="1745" r:id="rId35"/>
    <p:sldId id="1746" r:id="rId36"/>
    <p:sldId id="1747" r:id="rId37"/>
    <p:sldId id="1748" r:id="rId38"/>
    <p:sldId id="1749" r:id="rId39"/>
    <p:sldId id="1750" r:id="rId40"/>
    <p:sldId id="1751" r:id="rId41"/>
    <p:sldId id="1752" r:id="rId42"/>
    <p:sldId id="1753" r:id="rId43"/>
    <p:sldId id="1754" r:id="rId44"/>
    <p:sldId id="1755" r:id="rId45"/>
    <p:sldId id="1756" r:id="rId46"/>
    <p:sldId id="1757" r:id="rId47"/>
    <p:sldId id="1758" r:id="rId48"/>
    <p:sldId id="1759" r:id="rId49"/>
    <p:sldId id="1760" r:id="rId50"/>
    <p:sldId id="1761" r:id="rId51"/>
    <p:sldId id="1762" r:id="rId52"/>
    <p:sldId id="1771" r:id="rId53"/>
    <p:sldId id="1764" r:id="rId54"/>
    <p:sldId id="1765" r:id="rId55"/>
    <p:sldId id="1766" r:id="rId56"/>
    <p:sldId id="1767" r:id="rId57"/>
    <p:sldId id="1768" r:id="rId58"/>
    <p:sldId id="1769" r:id="rId59"/>
    <p:sldId id="1770" r:id="rId60"/>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C"/>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98" autoAdjust="0"/>
    <p:restoredTop sz="93175" autoAdjust="0"/>
  </p:normalViewPr>
  <p:slideViewPr>
    <p:cSldViewPr>
      <p:cViewPr varScale="1">
        <p:scale>
          <a:sx n="73" d="100"/>
          <a:sy n="73" d="100"/>
        </p:scale>
        <p:origin x="1002"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C0E8ACEC-BE51-4C28-9719-6AEAC1A1CC5A}"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FF05FA4A-B8E9-4A1C-BCD1-7761336334F8}"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1585" name="幻灯片图像占位符 1"/>
          <p:cNvSpPr>
            <a:spLocks noGrp="1" noRot="1" noChangeAspect="1" noChangeArrowheads="1"/>
          </p:cNvSpPr>
          <p:nvPr>
            <p:ph type="sldImg" idx="4294967295"/>
          </p:nvPr>
        </p:nvSpPr>
        <p:spPr>
          <a:ln/>
        </p:spPr>
      </p:sp>
      <p:sp>
        <p:nvSpPr>
          <p:cNvPr id="2371586"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7158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2F163EA-22C9-40E5-8D1D-38CF01319E88}" type="slidenum">
              <a:rPr lang="zh-CN" altLang="en-US" smtClean="0">
                <a:latin typeface="宋体" panose="02010600030101010101" pitchFamily="2" charset="-122"/>
              </a:rPr>
              <a:pPr eaLnBrk="1" hangingPunct="1"/>
              <a:t>4</a:t>
            </a:fld>
            <a:endParaRPr lang="zh-CN" altLang="en-US" smtClean="0">
              <a:latin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4657" name="幻灯片图像占位符 1"/>
          <p:cNvSpPr>
            <a:spLocks noGrp="1" noRot="1" noChangeAspect="1" noChangeArrowheads="1"/>
          </p:cNvSpPr>
          <p:nvPr>
            <p:ph type="sldImg" idx="4294967295"/>
          </p:nvPr>
        </p:nvSpPr>
        <p:spPr>
          <a:ln/>
        </p:spPr>
      </p:sp>
      <p:sp>
        <p:nvSpPr>
          <p:cNvPr id="2374658"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7465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1ADBEA9-6BA6-4937-9192-06B687FE58B4}" type="slidenum">
              <a:rPr lang="zh-CN" altLang="en-US" smtClean="0">
                <a:latin typeface="宋体" panose="02010600030101010101" pitchFamily="2" charset="-122"/>
              </a:rPr>
              <a:pPr eaLnBrk="1" hangingPunct="1"/>
              <a:t>6</a:t>
            </a:fld>
            <a:endParaRPr lang="zh-CN" altLang="en-US" smtClean="0">
              <a:latin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6705" name="幻灯片图像占位符 1"/>
          <p:cNvSpPr>
            <a:spLocks noGrp="1" noRot="1" noChangeAspect="1" noChangeArrowheads="1"/>
          </p:cNvSpPr>
          <p:nvPr>
            <p:ph type="sldImg" idx="4294967295"/>
          </p:nvPr>
        </p:nvSpPr>
        <p:spPr>
          <a:ln/>
        </p:spPr>
      </p:sp>
      <p:sp>
        <p:nvSpPr>
          <p:cNvPr id="2376706"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7670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58D65C2-203A-4AC8-A2BA-0973DB8B7C21}" type="slidenum">
              <a:rPr lang="zh-CN" altLang="en-US" smtClean="0">
                <a:latin typeface="宋体" panose="02010600030101010101" pitchFamily="2" charset="-122"/>
              </a:rPr>
              <a:pPr eaLnBrk="1" hangingPunct="1"/>
              <a:t>7</a:t>
            </a:fld>
            <a:endParaRPr lang="zh-CN" altLang="en-US" smtClean="0">
              <a:latin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8753" name="幻灯片图像占位符 1"/>
          <p:cNvSpPr>
            <a:spLocks noGrp="1" noRot="1" noChangeAspect="1" noChangeArrowheads="1"/>
          </p:cNvSpPr>
          <p:nvPr>
            <p:ph type="sldImg" idx="4294967295"/>
          </p:nvPr>
        </p:nvSpPr>
        <p:spPr>
          <a:ln/>
        </p:spPr>
      </p:sp>
      <p:sp>
        <p:nvSpPr>
          <p:cNvPr id="2378754"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7875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B7BF6F-FABA-45A6-AB34-41C2645C2A0F}" type="slidenum">
              <a:rPr lang="zh-CN" altLang="en-US" smtClean="0">
                <a:latin typeface="宋体" panose="02010600030101010101" pitchFamily="2" charset="-122"/>
              </a:rPr>
              <a:pPr eaLnBrk="1" hangingPunct="1"/>
              <a:t>8</a:t>
            </a:fld>
            <a:endParaRPr lang="zh-CN" altLang="en-US" smtClean="0">
              <a:latin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0801" name="幻灯片图像占位符 1"/>
          <p:cNvSpPr>
            <a:spLocks noGrp="1" noRot="1" noChangeAspect="1" noChangeArrowheads="1"/>
          </p:cNvSpPr>
          <p:nvPr>
            <p:ph type="sldImg" idx="4294967295"/>
          </p:nvPr>
        </p:nvSpPr>
        <p:spPr>
          <a:ln/>
        </p:spPr>
      </p:sp>
      <p:sp>
        <p:nvSpPr>
          <p:cNvPr id="2380802"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8080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5DD17C0-CD20-4829-9BE2-139F611BD3FD}" type="slidenum">
              <a:rPr lang="zh-CN" altLang="en-US" smtClean="0">
                <a:latin typeface="宋体" panose="02010600030101010101" pitchFamily="2" charset="-122"/>
              </a:rPr>
              <a:pPr eaLnBrk="1" hangingPunct="1"/>
              <a:t>9</a:t>
            </a:fld>
            <a:endParaRPr lang="zh-CN" altLang="en-US" smtClean="0">
              <a:latin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2849" name="幻灯片图像占位符 1"/>
          <p:cNvSpPr>
            <a:spLocks noGrp="1" noRot="1" noChangeAspect="1" noChangeArrowheads="1"/>
          </p:cNvSpPr>
          <p:nvPr>
            <p:ph type="sldImg" idx="4294967295"/>
          </p:nvPr>
        </p:nvSpPr>
        <p:spPr>
          <a:ln/>
        </p:spPr>
      </p:sp>
      <p:sp>
        <p:nvSpPr>
          <p:cNvPr id="2382850"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8285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ADA73C-0A11-408E-A545-C1B50DE40CED}" type="slidenum">
              <a:rPr lang="zh-CN" altLang="en-US" smtClean="0">
                <a:latin typeface="宋体" panose="02010600030101010101" pitchFamily="2" charset="-122"/>
              </a:rPr>
              <a:pPr eaLnBrk="1" hangingPunct="1"/>
              <a:t>10</a:t>
            </a:fld>
            <a:endParaRPr lang="zh-CN" altLang="en-US" smtClean="0">
              <a:latin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4897" name="幻灯片图像占位符 1"/>
          <p:cNvSpPr>
            <a:spLocks noGrp="1" noRot="1" noChangeAspect="1" noChangeArrowheads="1"/>
          </p:cNvSpPr>
          <p:nvPr>
            <p:ph type="sldImg" idx="4294967295"/>
          </p:nvPr>
        </p:nvSpPr>
        <p:spPr>
          <a:ln/>
        </p:spPr>
      </p:sp>
      <p:sp>
        <p:nvSpPr>
          <p:cNvPr id="2384898"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8489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0383878-1F62-4DB0-9BEE-7B6B6FD308B7}" type="slidenum">
              <a:rPr lang="zh-CN" altLang="en-US" smtClean="0">
                <a:latin typeface="宋体" panose="02010600030101010101" pitchFamily="2" charset="-122"/>
              </a:rPr>
              <a:pPr eaLnBrk="1" hangingPunct="1"/>
              <a:t>11</a:t>
            </a:fld>
            <a:endParaRPr lang="zh-CN" altLang="en-US" smtClean="0">
              <a:latin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6945" name="幻灯片图像占位符 1"/>
          <p:cNvSpPr>
            <a:spLocks noGrp="1" noRot="1" noChangeAspect="1" noChangeArrowheads="1"/>
          </p:cNvSpPr>
          <p:nvPr>
            <p:ph type="sldImg" idx="4294967295"/>
          </p:nvPr>
        </p:nvSpPr>
        <p:spPr>
          <a:ln/>
        </p:spPr>
      </p:sp>
      <p:sp>
        <p:nvSpPr>
          <p:cNvPr id="2386946" name="备注占位符 2"/>
          <p:cNvSpPr>
            <a:spLocks noGrp="1" noChangeArrowheads="1"/>
          </p:cNvSpPr>
          <p:nvPr>
            <p:ph type="body" idx="4294967295"/>
          </p:nvPr>
        </p:nvSpPr>
        <p:spPr/>
        <p:txBody>
          <a:bodyPr/>
          <a:lstStyle/>
          <a:p>
            <a:r>
              <a:rPr lang="en-US" altLang="zh-CN" smtClean="0"/>
              <a:t>e</a:t>
            </a:r>
            <a:endParaRPr lang="zh-CN" altLang="en-US" smtClean="0"/>
          </a:p>
        </p:txBody>
      </p:sp>
      <p:sp>
        <p:nvSpPr>
          <p:cNvPr id="238694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2046696-3B8B-491D-9636-EDBB4F96902D}" type="slidenum">
              <a:rPr lang="zh-CN" altLang="en-US" smtClean="0">
                <a:latin typeface="宋体" panose="02010600030101010101" pitchFamily="2" charset="-122"/>
              </a:rPr>
              <a:pPr eaLnBrk="1" hangingPunct="1"/>
              <a:t>12</a:t>
            </a:fld>
            <a:endParaRPr lang="zh-CN" altLang="en-US" smtClean="0">
              <a:latin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8993" name="幻灯片图像占位符 1"/>
          <p:cNvSpPr>
            <a:spLocks noGrp="1" noRot="1" noChangeAspect="1" noChangeArrowheads="1"/>
          </p:cNvSpPr>
          <p:nvPr>
            <p:ph type="sldImg" idx="4294967295"/>
          </p:nvPr>
        </p:nvSpPr>
        <p:spPr>
          <a:ln/>
        </p:spPr>
      </p:sp>
      <p:sp>
        <p:nvSpPr>
          <p:cNvPr id="2388994" name="备注占位符 2"/>
          <p:cNvSpPr>
            <a:spLocks noGrp="1" noChangeArrowheads="1"/>
          </p:cNvSpPr>
          <p:nvPr>
            <p:ph type="body" idx="4294967295"/>
          </p:nvPr>
        </p:nvSpPr>
        <p:spPr/>
        <p:txBody>
          <a:bodyPr/>
          <a:lstStyle/>
          <a:p>
            <a:r>
              <a:rPr lang="en-US" altLang="zh-CN" smtClean="0"/>
              <a:t>e</a:t>
            </a:r>
            <a:endParaRPr lang="zh-CN" altLang="en-US" smtClean="0"/>
          </a:p>
        </p:txBody>
      </p:sp>
      <p:sp>
        <p:nvSpPr>
          <p:cNvPr id="238899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CAAB65A-88B3-4E5D-B0AF-8C0D215A4F26}" type="slidenum">
              <a:rPr lang="zh-CN" altLang="en-US" smtClean="0">
                <a:latin typeface="宋体" panose="02010600030101010101" pitchFamily="2" charset="-122"/>
              </a:rPr>
              <a:pPr eaLnBrk="1" hangingPunct="1"/>
              <a:t>13</a:t>
            </a:fld>
            <a:endParaRPr lang="zh-CN" altLang="en-US" smtClean="0">
              <a:latin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1041" name="幻灯片图像占位符 1"/>
          <p:cNvSpPr>
            <a:spLocks noGrp="1" noRot="1" noChangeAspect="1" noChangeArrowheads="1"/>
          </p:cNvSpPr>
          <p:nvPr>
            <p:ph type="sldImg" idx="4294967295"/>
          </p:nvPr>
        </p:nvSpPr>
        <p:spPr>
          <a:ln/>
        </p:spPr>
      </p:sp>
      <p:sp>
        <p:nvSpPr>
          <p:cNvPr id="2391042" name="备注占位符 2"/>
          <p:cNvSpPr>
            <a:spLocks noGrp="1" noChangeArrowheads="1"/>
          </p:cNvSpPr>
          <p:nvPr>
            <p:ph type="body" idx="4294967295"/>
          </p:nvPr>
        </p:nvSpPr>
        <p:spPr/>
        <p:txBody>
          <a:bodyPr/>
          <a:lstStyle/>
          <a:p>
            <a:endParaRPr lang="zh-CN" altLang="en-US" smtClean="0"/>
          </a:p>
        </p:txBody>
      </p:sp>
      <p:sp>
        <p:nvSpPr>
          <p:cNvPr id="239104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91BABE-603A-464F-9B09-2DE3D251267C}" type="slidenum">
              <a:rPr lang="zh-CN" altLang="en-US" smtClean="0">
                <a:latin typeface="宋体" panose="02010600030101010101" pitchFamily="2" charset="-122"/>
              </a:rPr>
              <a:pPr eaLnBrk="1" hangingPunct="1"/>
              <a:t>14</a:t>
            </a:fld>
            <a:endParaRPr lang="zh-CN" altLang="en-US" smtClean="0">
              <a:latin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4113" name="幻灯片图像占位符 1"/>
          <p:cNvSpPr>
            <a:spLocks noGrp="1" noRot="1" noChangeAspect="1" noChangeArrowheads="1"/>
          </p:cNvSpPr>
          <p:nvPr>
            <p:ph type="sldImg" idx="4294967295"/>
          </p:nvPr>
        </p:nvSpPr>
        <p:spPr>
          <a:ln/>
        </p:spPr>
      </p:sp>
      <p:sp>
        <p:nvSpPr>
          <p:cNvPr id="2394114"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9411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487D9F3-1DCB-4319-993E-11DC770CD4FA}" type="slidenum">
              <a:rPr lang="zh-CN" altLang="en-US" smtClean="0">
                <a:latin typeface="宋体" panose="02010600030101010101" pitchFamily="2" charset="-122"/>
              </a:rPr>
              <a:pPr eaLnBrk="1" hangingPunct="1"/>
              <a:t>16</a:t>
            </a:fld>
            <a:endParaRPr lang="zh-CN" altLang="en-US" smtClean="0">
              <a:latin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9233" name="幻灯片图像占位符 1"/>
          <p:cNvSpPr>
            <a:spLocks noGrp="1" noRot="1" noChangeAspect="1" noChangeArrowheads="1"/>
          </p:cNvSpPr>
          <p:nvPr>
            <p:ph type="sldImg" idx="4294967295"/>
          </p:nvPr>
        </p:nvSpPr>
        <p:spPr>
          <a:ln/>
        </p:spPr>
      </p:sp>
      <p:sp>
        <p:nvSpPr>
          <p:cNvPr id="2399234"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9923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B012E0-B0DC-4BE5-AD49-81E839158477}" type="slidenum">
              <a:rPr lang="zh-CN" altLang="en-US" smtClean="0">
                <a:latin typeface="宋体" panose="02010600030101010101" pitchFamily="2" charset="-122"/>
              </a:rPr>
              <a:pPr eaLnBrk="1" hangingPunct="1"/>
              <a:t>20</a:t>
            </a:fld>
            <a:endParaRPr lang="zh-CN" altLang="en-US" smtClean="0">
              <a:latin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4353" name="幻灯片图像占位符 1"/>
          <p:cNvSpPr>
            <a:spLocks noGrp="1" noRot="1" noChangeAspect="1" noChangeArrowheads="1"/>
          </p:cNvSpPr>
          <p:nvPr>
            <p:ph type="sldImg" idx="4294967295"/>
          </p:nvPr>
        </p:nvSpPr>
        <p:spPr>
          <a:ln/>
        </p:spPr>
      </p:sp>
      <p:sp>
        <p:nvSpPr>
          <p:cNvPr id="2404354"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0435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C4C267-7EB3-4729-86C0-00D953899206}" type="slidenum">
              <a:rPr lang="zh-CN" altLang="en-US" smtClean="0">
                <a:latin typeface="宋体" panose="02010600030101010101" pitchFamily="2" charset="-122"/>
              </a:rPr>
              <a:pPr eaLnBrk="1" hangingPunct="1"/>
              <a:t>24</a:t>
            </a:fld>
            <a:endParaRPr lang="zh-CN" altLang="en-US" smtClean="0">
              <a:latin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7425" name="幻灯片图像占位符 1"/>
          <p:cNvSpPr>
            <a:spLocks noGrp="1" noRot="1" noChangeAspect="1" noChangeArrowheads="1"/>
          </p:cNvSpPr>
          <p:nvPr>
            <p:ph type="sldImg" idx="4294967295"/>
          </p:nvPr>
        </p:nvSpPr>
        <p:spPr>
          <a:ln/>
        </p:spPr>
      </p:sp>
      <p:sp>
        <p:nvSpPr>
          <p:cNvPr id="2407426"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0742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691A4A9-1597-41C1-AEFF-FC1F02A3494B}" type="slidenum">
              <a:rPr lang="zh-CN" altLang="en-US" smtClean="0">
                <a:latin typeface="宋体" panose="02010600030101010101" pitchFamily="2" charset="-122"/>
              </a:rPr>
              <a:pPr eaLnBrk="1" hangingPunct="1"/>
              <a:t>26</a:t>
            </a:fld>
            <a:endParaRPr lang="zh-CN" altLang="en-US" smtClean="0">
              <a:latin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9473" name="幻灯片图像占位符 1"/>
          <p:cNvSpPr>
            <a:spLocks noGrp="1" noRot="1" noChangeAspect="1" noChangeArrowheads="1"/>
          </p:cNvSpPr>
          <p:nvPr>
            <p:ph type="sldImg" idx="4294967295"/>
          </p:nvPr>
        </p:nvSpPr>
        <p:spPr>
          <a:ln/>
        </p:spPr>
      </p:sp>
      <p:sp>
        <p:nvSpPr>
          <p:cNvPr id="2409474"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0947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5B388C-A09D-4CAA-B632-DFDA4D5D0B12}" type="slidenum">
              <a:rPr lang="zh-CN" altLang="en-US" smtClean="0">
                <a:latin typeface="宋体" panose="02010600030101010101" pitchFamily="2" charset="-122"/>
              </a:rPr>
              <a:pPr eaLnBrk="1" hangingPunct="1"/>
              <a:t>27</a:t>
            </a:fld>
            <a:endParaRPr lang="zh-CN" altLang="en-US" smtClean="0">
              <a:latin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7665" name="幻灯片图像占位符 1"/>
          <p:cNvSpPr>
            <a:spLocks noGrp="1" noRot="1" noChangeAspect="1" noChangeArrowheads="1"/>
          </p:cNvSpPr>
          <p:nvPr>
            <p:ph type="sldImg" idx="4294967295"/>
          </p:nvPr>
        </p:nvSpPr>
        <p:spPr>
          <a:ln/>
        </p:spPr>
      </p:sp>
      <p:sp>
        <p:nvSpPr>
          <p:cNvPr id="2417666"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1766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3ADF92-B02A-41C0-989D-93F66035014D}" type="slidenum">
              <a:rPr lang="zh-CN" altLang="en-US" smtClean="0">
                <a:latin typeface="宋体" panose="02010600030101010101" pitchFamily="2" charset="-122"/>
              </a:rPr>
              <a:pPr eaLnBrk="1" hangingPunct="1"/>
              <a:t>34</a:t>
            </a:fld>
            <a:endParaRPr lang="zh-CN" altLang="en-US" smtClean="0">
              <a:latin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81" name="幻灯片图像占位符 1"/>
          <p:cNvSpPr>
            <a:spLocks noGrp="1" noRot="1" noChangeAspect="1" noChangeArrowheads="1"/>
          </p:cNvSpPr>
          <p:nvPr>
            <p:ph type="sldImg" idx="4294967295"/>
          </p:nvPr>
        </p:nvSpPr>
        <p:spPr>
          <a:ln/>
        </p:spPr>
      </p:sp>
      <p:sp>
        <p:nvSpPr>
          <p:cNvPr id="2426882"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2688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E32462-1304-4154-922D-F7DBB6EEF31A}" type="slidenum">
              <a:rPr lang="zh-CN" altLang="en-US" smtClean="0">
                <a:latin typeface="宋体" panose="02010600030101010101" pitchFamily="2" charset="-122"/>
              </a:rPr>
              <a:pPr eaLnBrk="1" hangingPunct="1"/>
              <a:t>42</a:t>
            </a:fld>
            <a:endParaRPr lang="zh-CN" altLang="en-US" smtClean="0">
              <a:latin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8929" name="幻灯片图像占位符 1"/>
          <p:cNvSpPr>
            <a:spLocks noGrp="1" noRot="1" noChangeAspect="1" noChangeArrowheads="1"/>
          </p:cNvSpPr>
          <p:nvPr>
            <p:ph type="sldImg" idx="4294967295"/>
          </p:nvPr>
        </p:nvSpPr>
        <p:spPr>
          <a:ln/>
        </p:spPr>
      </p:sp>
      <p:sp>
        <p:nvSpPr>
          <p:cNvPr id="2428930"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2893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31DF47-163E-4C93-AC41-175B1DA77E33}" type="slidenum">
              <a:rPr lang="zh-CN" altLang="en-US" smtClean="0">
                <a:latin typeface="宋体" panose="02010600030101010101" pitchFamily="2" charset="-122"/>
              </a:rPr>
              <a:pPr eaLnBrk="1" hangingPunct="1"/>
              <a:t>43</a:t>
            </a:fld>
            <a:endParaRPr lang="zh-CN" altLang="en-US" smtClean="0">
              <a:latin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0977" name="幻灯片图像占位符 1"/>
          <p:cNvSpPr>
            <a:spLocks noGrp="1" noRot="1" noChangeAspect="1" noChangeArrowheads="1"/>
          </p:cNvSpPr>
          <p:nvPr>
            <p:ph type="sldImg" idx="4294967295"/>
          </p:nvPr>
        </p:nvSpPr>
        <p:spPr>
          <a:ln/>
        </p:spPr>
      </p:sp>
      <p:sp>
        <p:nvSpPr>
          <p:cNvPr id="2430978"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3097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DEFF96-200C-4AF4-A6F8-2185943B2DBF}" type="slidenum">
              <a:rPr lang="zh-CN" altLang="en-US" smtClean="0">
                <a:latin typeface="宋体" panose="02010600030101010101" pitchFamily="2" charset="-122"/>
              </a:rPr>
              <a:pPr eaLnBrk="1" hangingPunct="1"/>
              <a:t>44</a:t>
            </a:fld>
            <a:endParaRPr lang="zh-CN" altLang="en-US" smtClean="0">
              <a:latin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4049" name="幻灯片图像占位符 1"/>
          <p:cNvSpPr>
            <a:spLocks noGrp="1" noRot="1" noChangeAspect="1" noChangeArrowheads="1"/>
          </p:cNvSpPr>
          <p:nvPr>
            <p:ph type="sldImg" idx="4294967295"/>
          </p:nvPr>
        </p:nvSpPr>
        <p:spPr>
          <a:ln/>
        </p:spPr>
      </p:sp>
      <p:sp>
        <p:nvSpPr>
          <p:cNvPr id="2434050"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3405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9EF864-2412-42FF-ACE3-3234787FA770}" type="slidenum">
              <a:rPr lang="zh-CN" altLang="en-US" smtClean="0">
                <a:latin typeface="宋体" panose="02010600030101010101" pitchFamily="2" charset="-122"/>
              </a:rPr>
              <a:pPr eaLnBrk="1" hangingPunct="1"/>
              <a:t>46</a:t>
            </a:fld>
            <a:endParaRPr lang="zh-CN" altLang="en-US" smtClean="0">
              <a:latin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6097" name="幻灯片图像占位符 1"/>
          <p:cNvSpPr>
            <a:spLocks noGrp="1" noRot="1" noChangeAspect="1" noChangeArrowheads="1"/>
          </p:cNvSpPr>
          <p:nvPr>
            <p:ph type="sldImg" idx="4294967295"/>
          </p:nvPr>
        </p:nvSpPr>
        <p:spPr>
          <a:ln/>
        </p:spPr>
      </p:sp>
      <p:sp>
        <p:nvSpPr>
          <p:cNvPr id="2436098"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3609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A679C4-1AB0-4E87-BDC0-264F7BDA8740}" type="slidenum">
              <a:rPr lang="zh-CN" altLang="en-US" smtClean="0">
                <a:latin typeface="宋体" panose="02010600030101010101" pitchFamily="2" charset="-122"/>
              </a:rPr>
              <a:pPr eaLnBrk="1" hangingPunct="1"/>
              <a:t>47</a:t>
            </a:fld>
            <a:endParaRPr lang="zh-CN" altLang="en-US" smtClean="0">
              <a:latin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8145" name="幻灯片图像占位符 1"/>
          <p:cNvSpPr>
            <a:spLocks noGrp="1" noRot="1" noChangeAspect="1" noChangeArrowheads="1"/>
          </p:cNvSpPr>
          <p:nvPr>
            <p:ph type="sldImg" idx="4294967295"/>
          </p:nvPr>
        </p:nvSpPr>
        <p:spPr>
          <a:ln/>
        </p:spPr>
      </p:sp>
      <p:sp>
        <p:nvSpPr>
          <p:cNvPr id="2438146"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3814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A768784-F576-4E1D-8708-E58F4019E9B6}" type="slidenum">
              <a:rPr lang="zh-CN" altLang="en-US" smtClean="0">
                <a:latin typeface="宋体" panose="02010600030101010101" pitchFamily="2" charset="-122"/>
              </a:rPr>
              <a:pPr eaLnBrk="1" hangingPunct="1"/>
              <a:t>48</a:t>
            </a:fld>
            <a:endParaRPr lang="zh-CN" altLang="en-US" smtClean="0">
              <a:latin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0193" name="幻灯片图像占位符 1"/>
          <p:cNvSpPr>
            <a:spLocks noGrp="1" noRot="1" noChangeAspect="1" noChangeArrowheads="1"/>
          </p:cNvSpPr>
          <p:nvPr>
            <p:ph type="sldImg" idx="4294967295"/>
          </p:nvPr>
        </p:nvSpPr>
        <p:spPr>
          <a:ln/>
        </p:spPr>
      </p:sp>
      <p:sp>
        <p:nvSpPr>
          <p:cNvPr id="2440194"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4019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25DE7FB-E071-4617-8526-A0872BFD0954}" type="slidenum">
              <a:rPr lang="zh-CN" altLang="en-US" smtClean="0">
                <a:latin typeface="宋体" panose="02010600030101010101" pitchFamily="2" charset="-122"/>
              </a:rPr>
              <a:pPr eaLnBrk="1" hangingPunct="1"/>
              <a:t>49</a:t>
            </a:fld>
            <a:endParaRPr lang="zh-CN" altLang="en-US" smtClean="0">
              <a:latin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2241" name="幻灯片图像占位符 1"/>
          <p:cNvSpPr>
            <a:spLocks noGrp="1" noRot="1" noChangeAspect="1" noChangeArrowheads="1"/>
          </p:cNvSpPr>
          <p:nvPr>
            <p:ph type="sldImg" idx="4294967295"/>
          </p:nvPr>
        </p:nvSpPr>
        <p:spPr>
          <a:ln/>
        </p:spPr>
      </p:sp>
      <p:sp>
        <p:nvSpPr>
          <p:cNvPr id="2442242"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4224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D6E9FB8-AAD0-4CA1-B147-9E8FF009CB46}" type="slidenum">
              <a:rPr lang="zh-CN" altLang="en-US" smtClean="0">
                <a:latin typeface="宋体" panose="02010600030101010101" pitchFamily="2" charset="-122"/>
              </a:rPr>
              <a:pPr eaLnBrk="1" hangingPunct="1"/>
              <a:t>50</a:t>
            </a:fld>
            <a:endParaRPr lang="zh-CN" altLang="en-US" smtClean="0">
              <a:latin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9409" name="幻灯片图像占位符 1"/>
          <p:cNvSpPr>
            <a:spLocks noGrp="1" noRot="1" noChangeAspect="1" noChangeArrowheads="1"/>
          </p:cNvSpPr>
          <p:nvPr>
            <p:ph type="sldImg" idx="4294967295"/>
          </p:nvPr>
        </p:nvSpPr>
        <p:spPr>
          <a:ln/>
        </p:spPr>
      </p:sp>
      <p:sp>
        <p:nvSpPr>
          <p:cNvPr id="2449410" name="备注占位符 2"/>
          <p:cNvSpPr>
            <a:spLocks noGrp="1" noChangeArrowheads="1"/>
          </p:cNvSpPr>
          <p:nvPr>
            <p:ph type="body" idx="4294967295"/>
          </p:nvPr>
        </p:nvSpPr>
        <p:spPr/>
        <p:txBody>
          <a:bodyPr/>
          <a:lstStyle/>
          <a:p>
            <a:r>
              <a:rPr lang="en-US" altLang="zh-CN" smtClean="0"/>
              <a:t>e</a:t>
            </a:r>
            <a:endParaRPr lang="zh-CN" altLang="en-US" smtClean="0"/>
          </a:p>
        </p:txBody>
      </p:sp>
      <p:sp>
        <p:nvSpPr>
          <p:cNvPr id="244941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6B6841D-27CC-4C71-9361-3926D04120BA}" type="slidenum">
              <a:rPr lang="zh-CN" altLang="en-US" smtClean="0"/>
              <a:pPr/>
              <a:t>55</a:t>
            </a:fld>
            <a:endParaRPr lang="zh-CN"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1457" name="幻灯片图像占位符 1"/>
          <p:cNvSpPr>
            <a:spLocks noGrp="1" noRot="1" noChangeAspect="1" noChangeArrowheads="1"/>
          </p:cNvSpPr>
          <p:nvPr>
            <p:ph type="sldImg" idx="4294967295"/>
          </p:nvPr>
        </p:nvSpPr>
        <p:spPr>
          <a:ln/>
        </p:spPr>
      </p:sp>
      <p:sp>
        <p:nvSpPr>
          <p:cNvPr id="2451458"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5145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CC96B57-5E15-4E73-A275-9AADCE1ED8E8}" type="slidenum">
              <a:rPr lang="zh-CN" altLang="en-US" smtClean="0">
                <a:latin typeface="宋体" panose="02010600030101010101" pitchFamily="2" charset="-122"/>
              </a:rPr>
              <a:pPr eaLnBrk="1" hangingPunct="1"/>
              <a:t>56</a:t>
            </a:fld>
            <a:endParaRPr lang="zh-CN" altLang="en-US" smtClean="0">
              <a:latin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4529" name="幻灯片图像占位符 1"/>
          <p:cNvSpPr>
            <a:spLocks noGrp="1" noRot="1" noChangeAspect="1" noChangeArrowheads="1"/>
          </p:cNvSpPr>
          <p:nvPr>
            <p:ph type="sldImg" idx="4294967295"/>
          </p:nvPr>
        </p:nvSpPr>
        <p:spPr>
          <a:ln/>
        </p:spPr>
      </p:sp>
      <p:sp>
        <p:nvSpPr>
          <p:cNvPr id="2454530"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5453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E02DA34-8E4E-46E9-B10A-DBE917AD20AF}" type="slidenum">
              <a:rPr lang="zh-CN" altLang="en-US" smtClean="0">
                <a:latin typeface="宋体" panose="02010600030101010101" pitchFamily="2" charset="-122"/>
              </a:rPr>
              <a:pPr eaLnBrk="1" hangingPunct="1"/>
              <a:t>58</a:t>
            </a:fld>
            <a:endParaRPr lang="zh-CN" altLang="en-US" smtClean="0">
              <a:latin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5313" name="幻灯片图像占位符 1"/>
          <p:cNvSpPr>
            <a:spLocks noGrp="1" noRot="1" noChangeAspect="1" noChangeArrowheads="1"/>
          </p:cNvSpPr>
          <p:nvPr>
            <p:ph type="sldImg" idx="4294967295"/>
          </p:nvPr>
        </p:nvSpPr>
        <p:spPr>
          <a:ln/>
        </p:spPr>
      </p:sp>
      <p:sp>
        <p:nvSpPr>
          <p:cNvPr id="2445314"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4531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8BC420-2EA6-4A01-BBAC-283956FDCF06}" type="slidenum">
              <a:rPr lang="zh-CN" altLang="en-US" smtClean="0">
                <a:latin typeface="宋体" panose="02010600030101010101" pitchFamily="2" charset="-122"/>
              </a:rPr>
              <a:pPr eaLnBrk="1" hangingPunct="1"/>
              <a:t>59</a:t>
            </a:fld>
            <a:endParaRPr lang="zh-CN" altLang="en-US" smtClean="0">
              <a:latin typeface="宋体" panose="02010600030101010101" pitchFamily="2" charset="-122"/>
            </a:endParaRPr>
          </a:p>
        </p:txBody>
      </p:sp>
    </p:spTree>
    <p:extLst>
      <p:ext uri="{BB962C8B-B14F-4D97-AF65-F5344CB8AC3E}">
        <p14:creationId xmlns:p14="http://schemas.microsoft.com/office/powerpoint/2010/main" val="2215815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6C57955F-A69E-4467-A82C-EE60FDDCFF32}" type="slidenum">
              <a:rPr lang="zh-CN" altLang="en-US"/>
              <a:pPr/>
              <a:t>‹#›</a:t>
            </a:fld>
            <a:endParaRPr lang="en-US" altLang="zh-CN"/>
          </a:p>
        </p:txBody>
      </p:sp>
    </p:spTree>
    <p:extLst>
      <p:ext uri="{BB962C8B-B14F-4D97-AF65-F5344CB8AC3E}">
        <p14:creationId xmlns:p14="http://schemas.microsoft.com/office/powerpoint/2010/main" val="3337999172"/>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EB7CA65C-4566-4F22-82C0-F7928AFB6C2C}" type="slidenum">
              <a:rPr lang="zh-CN" altLang="en-US"/>
              <a:pPr/>
              <a:t>‹#›</a:t>
            </a:fld>
            <a:endParaRPr lang="en-US" altLang="zh-CN"/>
          </a:p>
        </p:txBody>
      </p:sp>
    </p:spTree>
    <p:extLst>
      <p:ext uri="{BB962C8B-B14F-4D97-AF65-F5344CB8AC3E}">
        <p14:creationId xmlns:p14="http://schemas.microsoft.com/office/powerpoint/2010/main" val="1693508641"/>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3B45BCF-6D22-4878-8FB5-A81CDEA85949}" type="slidenum">
              <a:rPr lang="zh-CN" altLang="en-US"/>
              <a:pPr/>
              <a:t>‹#›</a:t>
            </a:fld>
            <a:endParaRPr lang="en-US" altLang="zh-CN"/>
          </a:p>
        </p:txBody>
      </p:sp>
    </p:spTree>
    <p:extLst>
      <p:ext uri="{BB962C8B-B14F-4D97-AF65-F5344CB8AC3E}">
        <p14:creationId xmlns:p14="http://schemas.microsoft.com/office/powerpoint/2010/main" val="2367071423"/>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C14A8425-2754-4992-85DA-093F73B1EF8D}" type="slidenum">
              <a:rPr lang="zh-CN" altLang="en-US"/>
              <a:pPr/>
              <a:t>‹#›</a:t>
            </a:fld>
            <a:endParaRPr lang="en-US" altLang="zh-CN"/>
          </a:p>
        </p:txBody>
      </p:sp>
    </p:spTree>
    <p:extLst>
      <p:ext uri="{BB962C8B-B14F-4D97-AF65-F5344CB8AC3E}">
        <p14:creationId xmlns:p14="http://schemas.microsoft.com/office/powerpoint/2010/main" val="97332707"/>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75364BCD-9FF8-4EEA-802F-02E81612248A}" type="slidenum">
              <a:rPr lang="zh-CN" altLang="en-US"/>
              <a:pPr/>
              <a:t>‹#›</a:t>
            </a:fld>
            <a:endParaRPr lang="en-US" altLang="zh-CN"/>
          </a:p>
        </p:txBody>
      </p:sp>
    </p:spTree>
    <p:extLst>
      <p:ext uri="{BB962C8B-B14F-4D97-AF65-F5344CB8AC3E}">
        <p14:creationId xmlns:p14="http://schemas.microsoft.com/office/powerpoint/2010/main" val="220865732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E924188-8841-4DE9-B734-E97410F80EA7}" type="slidenum">
              <a:rPr lang="zh-CN" altLang="en-US"/>
              <a:pPr/>
              <a:t>‹#›</a:t>
            </a:fld>
            <a:endParaRPr lang="en-US" altLang="zh-CN"/>
          </a:p>
        </p:txBody>
      </p:sp>
    </p:spTree>
    <p:extLst>
      <p:ext uri="{BB962C8B-B14F-4D97-AF65-F5344CB8AC3E}">
        <p14:creationId xmlns:p14="http://schemas.microsoft.com/office/powerpoint/2010/main" val="16060111"/>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EE0D0CB9-BE1A-4B7E-9987-D843BFDBDFA6}" type="slidenum">
              <a:rPr lang="zh-CN" altLang="en-US"/>
              <a:pPr/>
              <a:t>‹#›</a:t>
            </a:fld>
            <a:endParaRPr lang="en-US" altLang="zh-CN"/>
          </a:p>
        </p:txBody>
      </p:sp>
    </p:spTree>
    <p:extLst>
      <p:ext uri="{BB962C8B-B14F-4D97-AF65-F5344CB8AC3E}">
        <p14:creationId xmlns:p14="http://schemas.microsoft.com/office/powerpoint/2010/main" val="2695861276"/>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A0047895-56BC-40E7-B54D-786187ABECC8}" type="slidenum">
              <a:rPr lang="zh-CN" altLang="en-US"/>
              <a:pPr/>
              <a:t>‹#›</a:t>
            </a:fld>
            <a:endParaRPr lang="en-US" altLang="zh-CN"/>
          </a:p>
        </p:txBody>
      </p:sp>
    </p:spTree>
    <p:extLst>
      <p:ext uri="{BB962C8B-B14F-4D97-AF65-F5344CB8AC3E}">
        <p14:creationId xmlns:p14="http://schemas.microsoft.com/office/powerpoint/2010/main" val="2724851595"/>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3A5DC6C-E8EB-4CB9-82BE-2566C17B8596}" type="slidenum">
              <a:rPr lang="zh-CN" altLang="en-US"/>
              <a:pPr/>
              <a:t>‹#›</a:t>
            </a:fld>
            <a:endParaRPr lang="en-US" altLang="zh-CN"/>
          </a:p>
        </p:txBody>
      </p:sp>
    </p:spTree>
    <p:extLst>
      <p:ext uri="{BB962C8B-B14F-4D97-AF65-F5344CB8AC3E}">
        <p14:creationId xmlns:p14="http://schemas.microsoft.com/office/powerpoint/2010/main" val="1115482523"/>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20DFB998-1A56-45AA-8238-C823889BAE5F}" type="slidenum">
              <a:rPr lang="zh-CN" altLang="en-US"/>
              <a:pPr/>
              <a:t>‹#›</a:t>
            </a:fld>
            <a:endParaRPr lang="en-US" altLang="zh-CN"/>
          </a:p>
        </p:txBody>
      </p:sp>
    </p:spTree>
    <p:extLst>
      <p:ext uri="{BB962C8B-B14F-4D97-AF65-F5344CB8AC3E}">
        <p14:creationId xmlns:p14="http://schemas.microsoft.com/office/powerpoint/2010/main" val="48196966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D9DF3D8-F2BE-4C56-8077-B7A99E011FDE}" type="slidenum">
              <a:rPr lang="zh-CN" altLang="en-US"/>
              <a:pPr/>
              <a:t>‹#›</a:t>
            </a:fld>
            <a:endParaRPr lang="en-US" altLang="zh-CN"/>
          </a:p>
        </p:txBody>
      </p:sp>
    </p:spTree>
    <p:extLst>
      <p:ext uri="{BB962C8B-B14F-4D97-AF65-F5344CB8AC3E}">
        <p14:creationId xmlns:p14="http://schemas.microsoft.com/office/powerpoint/2010/main" val="787725478"/>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639285C9-D267-4602-BC5B-004CB60C2F6A}" type="slidenum">
              <a:rPr lang="zh-CN" altLang="en-US"/>
              <a:pPr/>
              <a:t>‹#›</a:t>
            </a:fld>
            <a:endParaRPr lang="en-US" altLang="zh-CN"/>
          </a:p>
        </p:txBody>
      </p:sp>
    </p:spTree>
    <p:extLst>
      <p:ext uri="{BB962C8B-B14F-4D97-AF65-F5344CB8AC3E}">
        <p14:creationId xmlns:p14="http://schemas.microsoft.com/office/powerpoint/2010/main" val="4102541545"/>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FD7FADE1-BAB0-4FD4-85EF-FEBC2CE45AFF}" type="slidenum">
              <a:rPr lang="zh-CN" altLang="en-US"/>
              <a:pPr/>
              <a:t>‹#›</a:t>
            </a:fld>
            <a:endParaRPr lang="en-US" altLang="zh-CN"/>
          </a:p>
        </p:txBody>
      </p:sp>
    </p:spTree>
    <p:extLst>
      <p:ext uri="{BB962C8B-B14F-4D97-AF65-F5344CB8AC3E}">
        <p14:creationId xmlns:p14="http://schemas.microsoft.com/office/powerpoint/2010/main" val="3762945494"/>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4D74A896-9AB5-4D15-8402-862059E5A9BA}" type="slidenum">
              <a:rPr lang="zh-CN" altLang="en-US"/>
              <a:pPr/>
              <a:t>‹#›</a:t>
            </a:fld>
            <a:endParaRPr lang="en-US" altLang="zh-CN"/>
          </a:p>
        </p:txBody>
      </p:sp>
    </p:spTree>
    <p:extLst>
      <p:ext uri="{BB962C8B-B14F-4D97-AF65-F5344CB8AC3E}">
        <p14:creationId xmlns:p14="http://schemas.microsoft.com/office/powerpoint/2010/main" val="1306447998"/>
      </p:ext>
    </p:extLst>
  </p:cSld>
  <p:clrMapOvr>
    <a:masterClrMapping/>
  </p:clrMapOvr>
  <p:hf/>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46850" y="214314"/>
            <a:ext cx="8442457" cy="146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129904" y="1773238"/>
            <a:ext cx="41275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422504" y="1773238"/>
            <a:ext cx="41275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a:xfrm>
            <a:off x="1258888" y="6243638"/>
            <a:ext cx="206375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6769100" y="6237288"/>
            <a:ext cx="3136900" cy="457200"/>
          </a:xfrm>
        </p:spPr>
        <p:txBody>
          <a:bodyPr/>
          <a:lstStyle>
            <a:lvl1pPr>
              <a:defRPr/>
            </a:lvl1pPr>
          </a:lstStyle>
          <a:p>
            <a:r>
              <a:rPr lang="zh-CN" altLang="en-US"/>
              <a:t>ppt课件</a:t>
            </a:r>
          </a:p>
        </p:txBody>
      </p:sp>
      <p:sp>
        <p:nvSpPr>
          <p:cNvPr id="7" name="灯片编号占位符 6"/>
          <p:cNvSpPr>
            <a:spLocks noGrp="1"/>
          </p:cNvSpPr>
          <p:nvPr>
            <p:ph type="sldNum" sz="quarter" idx="12"/>
          </p:nvPr>
        </p:nvSpPr>
        <p:spPr>
          <a:xfrm>
            <a:off x="7629525" y="6243638"/>
            <a:ext cx="2063750" cy="457200"/>
          </a:xfrm>
        </p:spPr>
        <p:txBody>
          <a:bodyPr/>
          <a:lstStyle>
            <a:lvl1pPr>
              <a:defRPr/>
            </a:lvl1pPr>
          </a:lstStyle>
          <a:p>
            <a:fld id="{B256188C-913A-4088-BDC0-BBC9EF739214}" type="slidenum">
              <a:rPr lang="en-US" altLang="zh-CN"/>
              <a:pPr/>
              <a:t>‹#›</a:t>
            </a:fld>
            <a:endParaRPr lang="en-US" altLang="zh-CN"/>
          </a:p>
        </p:txBody>
      </p:sp>
    </p:spTree>
    <p:extLst>
      <p:ext uri="{BB962C8B-B14F-4D97-AF65-F5344CB8AC3E}">
        <p14:creationId xmlns:p14="http://schemas.microsoft.com/office/powerpoint/2010/main" val="265999669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0EDAF7A-0A16-47FB-BF04-01BDDD727E33}"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 id="2147483678" r:id="rId15"/>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notesSlide" Target="../notesSlides/notesSlide2.xml"/><Relationship Id="rId7" Type="http://schemas.openxmlformats.org/officeDocument/2006/relationships/image" Target="../media/image2.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4.pn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notesSlide" Target="../notesSlides/notesSlide3.xml"/><Relationship Id="rId7" Type="http://schemas.openxmlformats.org/officeDocument/2006/relationships/image" Target="../media/image2.wmf"/><Relationship Id="rId2" Type="http://schemas.openxmlformats.org/officeDocument/2006/relationships/slideLayout" Target="../slideLayouts/slideLayout15.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4.pn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notesSlide" Target="../notesSlides/notesSlide4.xml"/><Relationship Id="rId7" Type="http://schemas.openxmlformats.org/officeDocument/2006/relationships/image" Target="../media/image2.wmf"/><Relationship Id="rId2" Type="http://schemas.openxmlformats.org/officeDocument/2006/relationships/slideLayout" Target="../slideLayouts/slideLayout15.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media/image4.pn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notesSlide" Target="../notesSlides/notesSlide5.xml"/><Relationship Id="rId7" Type="http://schemas.openxmlformats.org/officeDocument/2006/relationships/image" Target="../media/image2.wmf"/><Relationship Id="rId2" Type="http://schemas.openxmlformats.org/officeDocument/2006/relationships/slideLayout" Target="../slideLayouts/slideLayout15.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image" Target="../media/image4.png"/><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notesSlide" Target="../notesSlides/notesSlide6.xml"/><Relationship Id="rId7" Type="http://schemas.openxmlformats.org/officeDocument/2006/relationships/image" Target="../media/image2.wmf"/><Relationship Id="rId2" Type="http://schemas.openxmlformats.org/officeDocument/2006/relationships/slideLayout" Target="../slideLayouts/slideLayout15.xml"/><Relationship Id="rId1" Type="http://schemas.openxmlformats.org/officeDocument/2006/relationships/vmlDrawing" Target="../drawings/vmlDrawing5.vml"/><Relationship Id="rId6" Type="http://schemas.openxmlformats.org/officeDocument/2006/relationships/oleObject" Target="../embeddings/oleObject5.bin"/><Relationship Id="rId5" Type="http://schemas.openxmlformats.org/officeDocument/2006/relationships/image" Target="../media/image4.pn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notesSlide" Target="../notesSlides/notesSlide7.xml"/><Relationship Id="rId7" Type="http://schemas.openxmlformats.org/officeDocument/2006/relationships/image" Target="../media/image2.wmf"/><Relationship Id="rId2" Type="http://schemas.openxmlformats.org/officeDocument/2006/relationships/slideLayout" Target="../slideLayouts/slideLayout15.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image" Target="../media/image4.png"/><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notesSlide" Target="../notesSlides/notesSlide25.xml"/><Relationship Id="rId7" Type="http://schemas.openxmlformats.org/officeDocument/2006/relationships/image" Target="../media/image2.wmf"/><Relationship Id="rId2" Type="http://schemas.openxmlformats.org/officeDocument/2006/relationships/slideLayout" Target="../slideLayouts/slideLayout8.xml"/><Relationship Id="rId1" Type="http://schemas.openxmlformats.org/officeDocument/2006/relationships/vmlDrawing" Target="../drawings/vmlDrawing7.vml"/><Relationship Id="rId6" Type="http://schemas.openxmlformats.org/officeDocument/2006/relationships/oleObject" Target="../embeddings/oleObject7.bin"/><Relationship Id="rId5" Type="http://schemas.openxmlformats.org/officeDocument/2006/relationships/image" Target="../media/image10.png"/><Relationship Id="rId4" Type="http://schemas.openxmlformats.org/officeDocument/2006/relationships/image" Target="../media/image3.jpe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7489" name="标题 4"/>
          <p:cNvSpPr>
            <a:spLocks noGrp="1" noChangeArrowheads="1"/>
          </p:cNvSpPr>
          <p:nvPr>
            <p:ph type="ctrTitle"/>
          </p:nvPr>
        </p:nvSpPr>
        <p:spPr/>
        <p:txBody>
          <a:bodyPr/>
          <a:lstStyle/>
          <a:p>
            <a:r>
              <a:rPr lang="zh-CN" altLang="en-US" dirty="0" smtClean="0">
                <a:latin typeface="黑体" panose="02010609060101010101" pitchFamily="49" charset="-122"/>
                <a:ea typeface="黑体" panose="02010609060101010101" pitchFamily="49" charset="-122"/>
              </a:rPr>
              <a:t>第 </a:t>
            </a:r>
            <a:r>
              <a:rPr lang="en-US" altLang="zh-CN" dirty="0" smtClean="0">
                <a:latin typeface="黑体" panose="02010609060101010101" pitchFamily="49" charset="-122"/>
                <a:ea typeface="黑体" panose="02010609060101010101" pitchFamily="49" charset="-122"/>
              </a:rPr>
              <a:t>9 </a:t>
            </a:r>
            <a:r>
              <a:rPr lang="zh-CN" altLang="en-US" dirty="0" smtClean="0">
                <a:latin typeface="黑体" panose="02010609060101010101" pitchFamily="49" charset="-122"/>
                <a:ea typeface="黑体" panose="02010609060101010101" pitchFamily="49" charset="-122"/>
              </a:rPr>
              <a:t>章  </a:t>
            </a:r>
            <a:r>
              <a:rPr lang="en-US" altLang="zh-CN" dirty="0" smtClean="0">
                <a:latin typeface="黑体" panose="02010609060101010101" pitchFamily="49" charset="-122"/>
                <a:ea typeface="黑体" panose="02010609060101010101" pitchFamily="49" charset="-122"/>
              </a:rPr>
              <a:t/>
            </a:r>
            <a:br>
              <a:rPr lang="en-US" altLang="zh-CN" dirty="0" smtClean="0">
                <a:latin typeface="黑体" panose="02010609060101010101" pitchFamily="49" charset="-122"/>
                <a:ea typeface="黑体" panose="02010609060101010101" pitchFamily="49" charset="-122"/>
              </a:rPr>
            </a:br>
            <a:r>
              <a:rPr lang="zh-CN" altLang="zh-CN" dirty="0" smtClean="0">
                <a:latin typeface="黑体" panose="02010609060101010101" pitchFamily="49" charset="-122"/>
                <a:ea typeface="黑体" panose="02010609060101010101" pitchFamily="49" charset="-122"/>
              </a:rPr>
              <a:t>无线网络和移动网络</a:t>
            </a:r>
            <a:endParaRPr lang="zh-CN" altLang="en-US" dirty="0" smtClean="0">
              <a:latin typeface="黑体" panose="02010609060101010101" pitchFamily="49" charset="-122"/>
              <a:ea typeface="黑体" panose="02010609060101010101" pitchFamily="49" charset="-122"/>
            </a:endParaRPr>
          </a:p>
        </p:txBody>
      </p:sp>
      <p:sp>
        <p:nvSpPr>
          <p:cNvPr id="2367490" name="副标题 5"/>
          <p:cNvSpPr>
            <a:spLocks noGrp="1" noChangeArrowheads="1"/>
          </p:cNvSpPr>
          <p:nvPr>
            <p:ph type="subTitle" idx="1"/>
          </p:nvPr>
        </p:nvSpPr>
        <p:spPr/>
        <p:txBody>
          <a:bodyPr/>
          <a:lstStyle/>
          <a:p>
            <a:endParaRPr lang="zh-CN" altLang="en-US" smtClean="0">
              <a:latin typeface="黑体" panose="02010609060101010101" pitchFamily="49" charset="-122"/>
              <a:ea typeface="黑体" panose="02010609060101010101" pitchFamily="49" charset="-122"/>
            </a:endParaRPr>
          </a:p>
        </p:txBody>
      </p:sp>
      <p:sp>
        <p:nvSpPr>
          <p:cNvPr id="23674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ADB921E-6EE2-4764-8959-F5FE27A2864C}" type="slidenum">
              <a:rPr lang="zh-CN" altLang="en-US" smtClean="0"/>
              <a:pPr eaLnBrk="1" hangingPunct="1"/>
              <a:t>1</a:t>
            </a:fld>
            <a:endParaRPr lang="en-US" altLang="zh-CN" smtClean="0"/>
          </a:p>
        </p:txBody>
      </p:sp>
      <p:sp>
        <p:nvSpPr>
          <p:cNvPr id="236749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8513" name="Rectangle 2"/>
          <p:cNvSpPr>
            <a:spLocks noGrp="1" noChangeArrowheads="1"/>
          </p:cNvSpPr>
          <p:nvPr>
            <p:ph type="title"/>
          </p:nvPr>
        </p:nvSpPr>
        <p:spPr>
          <a:xfrm>
            <a:off x="495300" y="188913"/>
            <a:ext cx="9066213" cy="792162"/>
          </a:xfrm>
        </p:spPr>
        <p:txBody>
          <a:bodyPr/>
          <a:lstStyle/>
          <a:p>
            <a:r>
              <a:rPr lang="zh-CN" altLang="en-US" smtClean="0">
                <a:ea typeface="黑体" panose="02010609060101010101" pitchFamily="49" charset="-122"/>
              </a:rPr>
              <a:t>第 </a:t>
            </a:r>
            <a:r>
              <a:rPr lang="en-US" altLang="zh-CN" smtClean="0">
                <a:ea typeface="黑体" panose="02010609060101010101" pitchFamily="49" charset="-122"/>
              </a:rPr>
              <a:t>9 </a:t>
            </a:r>
            <a:r>
              <a:rPr lang="zh-CN" altLang="en-US" smtClean="0">
                <a:ea typeface="黑体" panose="02010609060101010101" pitchFamily="49" charset="-122"/>
              </a:rPr>
              <a:t>章  </a:t>
            </a:r>
            <a:r>
              <a:rPr lang="zh-CN" altLang="zh-CN" smtClean="0">
                <a:ea typeface="黑体" panose="02010609060101010101" pitchFamily="49" charset="-122"/>
              </a:rPr>
              <a:t>无线网络和移动网络</a:t>
            </a:r>
            <a:endParaRPr lang="zh-CN" altLang="en-US" smtClean="0">
              <a:ea typeface="黑体" panose="02010609060101010101" pitchFamily="49" charset="-122"/>
            </a:endParaRPr>
          </a:p>
        </p:txBody>
      </p:sp>
      <p:sp>
        <p:nvSpPr>
          <p:cNvPr id="2368514" name="内容占位符 1"/>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9.1  </a:t>
            </a:r>
            <a:r>
              <a:rPr lang="zh-CN" altLang="zh-CN" dirty="0" smtClean="0">
                <a:ea typeface="黑体" panose="02010609060101010101" pitchFamily="49" charset="-122"/>
              </a:rPr>
              <a:t>无线局域网</a:t>
            </a:r>
            <a:r>
              <a:rPr lang="en-US" altLang="zh-CN" dirty="0" smtClean="0">
                <a:ea typeface="黑体" panose="02010609060101010101" pitchFamily="49" charset="-122"/>
              </a:rPr>
              <a:t> WLAN</a:t>
            </a:r>
            <a:endParaRPr lang="zh-CN" altLang="zh-CN" dirty="0" smtClean="0">
              <a:ea typeface="黑体" panose="02010609060101010101" pitchFamily="49" charset="-122"/>
            </a:endParaRPr>
          </a:p>
        </p:txBody>
      </p:sp>
      <p:sp>
        <p:nvSpPr>
          <p:cNvPr id="236851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27C1FA8-195E-4F7F-AC39-D8C3552CB8D6}" type="slidenum">
              <a:rPr lang="zh-CN" altLang="en-US" smtClean="0"/>
              <a:pPr eaLnBrk="1" hangingPunct="1"/>
              <a:t>2</a:t>
            </a:fld>
            <a:endParaRPr lang="en-US" altLang="zh-CN" smtClean="0"/>
          </a:p>
        </p:txBody>
      </p:sp>
      <p:sp>
        <p:nvSpPr>
          <p:cNvPr id="236851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953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9.1  </a:t>
            </a:r>
            <a:r>
              <a:rPr lang="zh-CN" altLang="zh-CN" smtClean="0">
                <a:ea typeface="黑体" panose="02010609060101010101" pitchFamily="49" charset="-122"/>
              </a:rPr>
              <a:t>无线局域网</a:t>
            </a:r>
            <a:r>
              <a:rPr lang="en-US" altLang="zh-CN" smtClean="0">
                <a:ea typeface="黑体" panose="02010609060101010101" pitchFamily="49" charset="-122"/>
              </a:rPr>
              <a:t> WLAN</a:t>
            </a:r>
            <a:endParaRPr lang="zh-CN" altLang="en-US" smtClean="0">
              <a:ea typeface="黑体" panose="02010609060101010101" pitchFamily="49" charset="-122"/>
            </a:endParaRPr>
          </a:p>
        </p:txBody>
      </p:sp>
      <p:sp>
        <p:nvSpPr>
          <p:cNvPr id="2369538" name="内容占位符 1"/>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9.1.1  </a:t>
            </a:r>
            <a:r>
              <a:rPr lang="zh-CN" altLang="zh-CN" smtClean="0">
                <a:ea typeface="黑体" panose="02010609060101010101" pitchFamily="49" charset="-122"/>
              </a:rPr>
              <a:t>无线局域网的组成</a:t>
            </a:r>
          </a:p>
          <a:p>
            <a:r>
              <a:rPr lang="en-US" altLang="zh-CN" smtClean="0">
                <a:ea typeface="黑体" panose="02010609060101010101" pitchFamily="49" charset="-122"/>
              </a:rPr>
              <a:t>9.1.2  802.11 </a:t>
            </a:r>
            <a:r>
              <a:rPr lang="zh-CN" altLang="zh-CN" smtClean="0">
                <a:ea typeface="黑体" panose="02010609060101010101" pitchFamily="49" charset="-122"/>
              </a:rPr>
              <a:t>局域网的物理层</a:t>
            </a:r>
          </a:p>
          <a:p>
            <a:r>
              <a:rPr lang="en-US" altLang="zh-CN" smtClean="0">
                <a:ea typeface="黑体" panose="02010609060101010101" pitchFamily="49" charset="-122"/>
              </a:rPr>
              <a:t>9.1.3  802.11 </a:t>
            </a:r>
            <a:r>
              <a:rPr lang="zh-CN" altLang="zh-CN" smtClean="0">
                <a:ea typeface="黑体" panose="02010609060101010101" pitchFamily="49" charset="-122"/>
              </a:rPr>
              <a:t>局域网的</a:t>
            </a:r>
            <a:r>
              <a:rPr lang="en-US" altLang="zh-CN" smtClean="0">
                <a:ea typeface="黑体" panose="02010609060101010101" pitchFamily="49" charset="-122"/>
              </a:rPr>
              <a:t> MAC </a:t>
            </a:r>
            <a:r>
              <a:rPr lang="zh-CN" altLang="zh-CN" smtClean="0">
                <a:ea typeface="黑体" panose="02010609060101010101" pitchFamily="49" charset="-122"/>
              </a:rPr>
              <a:t>层协议</a:t>
            </a:r>
          </a:p>
          <a:p>
            <a:r>
              <a:rPr lang="en-US" altLang="zh-CN" smtClean="0">
                <a:ea typeface="黑体" panose="02010609060101010101" pitchFamily="49" charset="-122"/>
              </a:rPr>
              <a:t>9.1.4  802.11 </a:t>
            </a:r>
            <a:r>
              <a:rPr lang="zh-CN" altLang="zh-CN" smtClean="0">
                <a:ea typeface="黑体" panose="02010609060101010101" pitchFamily="49" charset="-122"/>
              </a:rPr>
              <a:t>局域网的</a:t>
            </a:r>
            <a:r>
              <a:rPr lang="en-US" altLang="zh-CN" smtClean="0">
                <a:ea typeface="黑体" panose="02010609060101010101" pitchFamily="49" charset="-122"/>
              </a:rPr>
              <a:t> MAC </a:t>
            </a:r>
            <a:r>
              <a:rPr lang="zh-CN" altLang="zh-CN" smtClean="0">
                <a:ea typeface="黑体" panose="02010609060101010101" pitchFamily="49" charset="-122"/>
              </a:rPr>
              <a:t>帧</a:t>
            </a:r>
            <a:endParaRPr lang="zh-CN" altLang="en-US" smtClean="0">
              <a:ea typeface="黑体" panose="02010609060101010101" pitchFamily="49" charset="-122"/>
            </a:endParaRPr>
          </a:p>
        </p:txBody>
      </p:sp>
      <p:sp>
        <p:nvSpPr>
          <p:cNvPr id="236953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14D0CE9-C75A-4E53-A539-88FF5AC85C98}" type="slidenum">
              <a:rPr lang="zh-CN" altLang="en-US" smtClean="0"/>
              <a:pPr eaLnBrk="1" hangingPunct="1"/>
              <a:t>3</a:t>
            </a:fld>
            <a:endParaRPr lang="en-US" altLang="zh-CN" smtClean="0"/>
          </a:p>
        </p:txBody>
      </p:sp>
      <p:sp>
        <p:nvSpPr>
          <p:cNvPr id="236954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0561" name="Rectangle 6"/>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9.1.1  </a:t>
            </a:r>
            <a:r>
              <a:rPr lang="zh-CN" altLang="en-US" smtClean="0">
                <a:ea typeface="黑体" panose="02010609060101010101" pitchFamily="49" charset="-122"/>
              </a:rPr>
              <a:t>无线局域网的组成</a:t>
            </a:r>
          </a:p>
        </p:txBody>
      </p:sp>
      <p:sp>
        <p:nvSpPr>
          <p:cNvPr id="2370562" name="内容占位符 2"/>
          <p:cNvSpPr>
            <a:spLocks noGrp="1" noChangeArrowheads="1"/>
          </p:cNvSpPr>
          <p:nvPr>
            <p:ph idx="1"/>
          </p:nvPr>
        </p:nvSpPr>
        <p:spPr>
          <a:xfrm>
            <a:off x="495300" y="1196975"/>
            <a:ext cx="9066213" cy="4933950"/>
          </a:xfrm>
        </p:spPr>
        <p:txBody>
          <a:bodyPr/>
          <a:lstStyle/>
          <a:p>
            <a:r>
              <a:rPr lang="zh-CN" altLang="zh-CN" u="sng" dirty="0" smtClean="0">
                <a:solidFill>
                  <a:srgbClr val="FF0000"/>
                </a:solidFill>
                <a:ea typeface="黑体" panose="02010609060101010101" pitchFamily="49" charset="-122"/>
              </a:rPr>
              <a:t>无线局域网</a:t>
            </a:r>
            <a:r>
              <a:rPr lang="en-US" altLang="zh-CN" u="sng" dirty="0" smtClean="0">
                <a:solidFill>
                  <a:srgbClr val="FF0000"/>
                </a:solidFill>
                <a:ea typeface="黑体" panose="02010609060101010101" pitchFamily="49" charset="-122"/>
              </a:rPr>
              <a:t> WLAN</a:t>
            </a:r>
            <a:r>
              <a:rPr lang="en-US" altLang="zh-CN" u="sng" dirty="0" smtClean="0">
                <a:ea typeface="黑体" panose="02010609060101010101" pitchFamily="49" charset="-122"/>
              </a:rPr>
              <a:t> (Wireless Local Area Network) </a:t>
            </a:r>
            <a:r>
              <a:rPr lang="zh-CN" altLang="zh-CN" dirty="0" smtClean="0">
                <a:ea typeface="黑体" panose="02010609060101010101" pitchFamily="49" charset="-122"/>
              </a:rPr>
              <a:t>可分为两大类</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lvl="1"/>
            <a:r>
              <a:rPr lang="zh-CN" altLang="zh-CN" dirty="0" smtClean="0">
                <a:ea typeface="黑体" panose="02010609060101010101" pitchFamily="49" charset="-122"/>
              </a:rPr>
              <a:t>有固定基础设施的</a:t>
            </a:r>
            <a:r>
              <a:rPr lang="en-US" altLang="zh-CN" dirty="0" smtClean="0">
                <a:ea typeface="黑体" panose="02010609060101010101" pitchFamily="49" charset="-122"/>
              </a:rPr>
              <a:t> WLAN</a:t>
            </a:r>
          </a:p>
          <a:p>
            <a:pPr lvl="1"/>
            <a:r>
              <a:rPr lang="zh-CN" altLang="zh-CN" dirty="0" smtClean="0">
                <a:ea typeface="黑体" panose="02010609060101010101" pitchFamily="49" charset="-122"/>
              </a:rPr>
              <a:t>无固定基础设施的</a:t>
            </a:r>
            <a:r>
              <a:rPr lang="en-US" altLang="zh-CN" dirty="0" smtClean="0">
                <a:ea typeface="黑体" panose="02010609060101010101" pitchFamily="49" charset="-122"/>
              </a:rPr>
              <a:t> WLAN</a:t>
            </a:r>
          </a:p>
          <a:p>
            <a:r>
              <a:rPr lang="zh-CN" altLang="zh-CN" dirty="0" smtClean="0">
                <a:ea typeface="黑体" panose="02010609060101010101" pitchFamily="49" charset="-122"/>
              </a:rPr>
              <a:t>所谓“</a:t>
            </a:r>
            <a:r>
              <a:rPr lang="zh-CN" altLang="zh-CN" dirty="0" smtClean="0">
                <a:solidFill>
                  <a:srgbClr val="0000FF"/>
                </a:solidFill>
                <a:ea typeface="黑体" panose="02010609060101010101" pitchFamily="49" charset="-122"/>
              </a:rPr>
              <a:t>固定基础设施</a:t>
            </a:r>
            <a:r>
              <a:rPr lang="zh-CN" altLang="zh-CN" dirty="0" smtClean="0">
                <a:ea typeface="黑体" panose="02010609060101010101" pitchFamily="49" charset="-122"/>
              </a:rPr>
              <a:t>”是指预先建立起来的、能够覆盖一定地理范围的一批</a:t>
            </a:r>
            <a:r>
              <a:rPr lang="zh-CN" altLang="zh-CN" dirty="0" smtClean="0">
                <a:solidFill>
                  <a:srgbClr val="0000FF"/>
                </a:solidFill>
                <a:ea typeface="黑体" panose="02010609060101010101" pitchFamily="49" charset="-122"/>
              </a:rPr>
              <a:t>固定基站</a:t>
            </a:r>
            <a:r>
              <a:rPr lang="zh-CN" altLang="zh-CN" dirty="0" smtClean="0">
                <a:ea typeface="黑体" panose="02010609060101010101" pitchFamily="49" charset="-122"/>
              </a:rPr>
              <a:t>。</a:t>
            </a:r>
            <a:endParaRPr lang="zh-CN" altLang="en-US" dirty="0" smtClean="0">
              <a:ea typeface="黑体" panose="02010609060101010101" pitchFamily="49" charset="-122"/>
            </a:endParaRPr>
          </a:p>
        </p:txBody>
      </p:sp>
      <p:sp>
        <p:nvSpPr>
          <p:cNvPr id="237056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5EBBEE-B913-487A-B1F1-59097E2DD91B}" type="slidenum">
              <a:rPr lang="zh-CN" altLang="en-US" smtClean="0"/>
              <a:pPr eaLnBrk="1" hangingPunct="1"/>
              <a:t>4</a:t>
            </a:fld>
            <a:endParaRPr lang="en-US" altLang="zh-CN" smtClean="0"/>
          </a:p>
        </p:txBody>
      </p:sp>
      <p:sp>
        <p:nvSpPr>
          <p:cNvPr id="237056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2609" name="Rectangle 6"/>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1. IEEE 802.11</a:t>
            </a:r>
            <a:endParaRPr lang="zh-CN" altLang="en-US" dirty="0" smtClean="0">
              <a:ea typeface="黑体" panose="02010609060101010101" pitchFamily="49" charset="-122"/>
            </a:endParaRPr>
          </a:p>
        </p:txBody>
      </p:sp>
      <p:sp>
        <p:nvSpPr>
          <p:cNvPr id="2372610" name="内容占位符 1"/>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IEEE 802.11 </a:t>
            </a:r>
            <a:r>
              <a:rPr lang="zh-CN" altLang="en-US" dirty="0" smtClean="0">
                <a:ea typeface="黑体" panose="02010609060101010101" pitchFamily="49" charset="-122"/>
              </a:rPr>
              <a:t>是一个</a:t>
            </a:r>
            <a:r>
              <a:rPr lang="zh-CN" altLang="zh-CN" dirty="0" smtClean="0">
                <a:ea typeface="黑体" panose="02010609060101010101" pitchFamily="49" charset="-122"/>
              </a:rPr>
              <a:t>有固定基础设施的无线局域网</a:t>
            </a:r>
            <a:r>
              <a:rPr lang="zh-CN" altLang="en-US" dirty="0" smtClean="0">
                <a:ea typeface="黑体" panose="02010609060101010101" pitchFamily="49" charset="-122"/>
              </a:rPr>
              <a:t>的国际标准。</a:t>
            </a:r>
            <a:endParaRPr lang="en-US" altLang="zh-CN" dirty="0" smtClean="0">
              <a:ea typeface="黑体" panose="02010609060101010101" pitchFamily="49" charset="-122"/>
            </a:endParaRPr>
          </a:p>
          <a:p>
            <a:r>
              <a:rPr lang="en-US" altLang="zh-CN" dirty="0" smtClean="0">
                <a:ea typeface="黑体" panose="02010609060101010101" pitchFamily="49" charset="-122"/>
              </a:rPr>
              <a:t>IEEE 802.11 </a:t>
            </a:r>
            <a:r>
              <a:rPr lang="zh-CN" altLang="zh-CN" dirty="0" smtClean="0">
                <a:ea typeface="黑体" panose="02010609060101010101" pitchFamily="49" charset="-122"/>
              </a:rPr>
              <a:t>是个相当复杂的标准。但简单地说，</a:t>
            </a:r>
            <a:r>
              <a:rPr lang="en-US" altLang="zh-CN" dirty="0" smtClean="0">
                <a:solidFill>
                  <a:srgbClr val="0000FF"/>
                </a:solidFill>
                <a:ea typeface="黑体" panose="02010609060101010101" pitchFamily="49" charset="-122"/>
              </a:rPr>
              <a:t>802.11 </a:t>
            </a:r>
            <a:r>
              <a:rPr lang="zh-CN" altLang="zh-CN" dirty="0" smtClean="0">
                <a:solidFill>
                  <a:srgbClr val="0000FF"/>
                </a:solidFill>
                <a:ea typeface="黑体" panose="02010609060101010101" pitchFamily="49" charset="-122"/>
              </a:rPr>
              <a:t>就是无线以太网的标准</a:t>
            </a:r>
            <a:r>
              <a:rPr lang="zh-CN" altLang="en-US" dirty="0" smtClean="0">
                <a:solidFill>
                  <a:srgbClr val="0000FF"/>
                </a:solidFill>
                <a:ea typeface="黑体" panose="02010609060101010101" pitchFamily="49" charset="-122"/>
              </a:rPr>
              <a:t>：</a:t>
            </a:r>
            <a:endParaRPr lang="en-US" altLang="zh-CN" dirty="0" smtClean="0">
              <a:solidFill>
                <a:srgbClr val="0000FF"/>
              </a:solidFill>
              <a:ea typeface="黑体" panose="02010609060101010101" pitchFamily="49" charset="-122"/>
            </a:endParaRPr>
          </a:p>
          <a:p>
            <a:pPr lvl="1"/>
            <a:r>
              <a:rPr lang="zh-CN" altLang="zh-CN" dirty="0" smtClean="0">
                <a:ea typeface="黑体" panose="02010609060101010101" pitchFamily="49" charset="-122"/>
              </a:rPr>
              <a:t>它使用星形拓扑，其中心叫做</a:t>
            </a:r>
            <a:r>
              <a:rPr lang="zh-CN" altLang="zh-CN" u="sng" dirty="0" smtClean="0">
                <a:solidFill>
                  <a:srgbClr val="FF0000"/>
                </a:solidFill>
                <a:ea typeface="黑体" panose="02010609060101010101" pitchFamily="49" charset="-122"/>
              </a:rPr>
              <a:t>接入点</a:t>
            </a:r>
            <a:r>
              <a:rPr lang="en-US" altLang="zh-CN" u="sng" dirty="0" smtClean="0">
                <a:solidFill>
                  <a:srgbClr val="FF0000"/>
                </a:solidFill>
                <a:ea typeface="黑体" panose="02010609060101010101" pitchFamily="49" charset="-122"/>
              </a:rPr>
              <a:t> </a:t>
            </a:r>
            <a:r>
              <a:rPr lang="en-US" altLang="zh-CN" u="sng" dirty="0" smtClean="0">
                <a:ea typeface="黑体" panose="02010609060101010101" pitchFamily="49" charset="-122"/>
              </a:rPr>
              <a:t>AP (Access Point)</a:t>
            </a:r>
          </a:p>
          <a:p>
            <a:pPr lvl="1"/>
            <a:r>
              <a:rPr lang="zh-CN" altLang="zh-CN" dirty="0" smtClean="0">
                <a:ea typeface="黑体" panose="02010609060101010101" pitchFamily="49" charset="-122"/>
              </a:rPr>
              <a:t>在</a:t>
            </a:r>
            <a:r>
              <a:rPr lang="en-US" altLang="zh-CN" dirty="0" smtClean="0">
                <a:ea typeface="黑体" panose="02010609060101010101" pitchFamily="49" charset="-122"/>
              </a:rPr>
              <a:t>MAC</a:t>
            </a:r>
            <a:r>
              <a:rPr lang="zh-CN" altLang="zh-CN" dirty="0" smtClean="0">
                <a:ea typeface="黑体" panose="02010609060101010101" pitchFamily="49" charset="-122"/>
              </a:rPr>
              <a:t>层使用</a:t>
            </a:r>
            <a:r>
              <a:rPr lang="en-US" altLang="zh-CN" dirty="0" smtClean="0">
                <a:ea typeface="黑体" panose="02010609060101010101" pitchFamily="49" charset="-122"/>
              </a:rPr>
              <a:t> </a:t>
            </a:r>
            <a:r>
              <a:rPr lang="en-US" altLang="zh-CN" dirty="0" smtClean="0">
                <a:solidFill>
                  <a:srgbClr val="FF0000"/>
                </a:solidFill>
                <a:ea typeface="黑体" panose="02010609060101010101" pitchFamily="49" charset="-122"/>
              </a:rPr>
              <a:t>CSMA/CA </a:t>
            </a:r>
            <a:r>
              <a:rPr lang="zh-CN" altLang="zh-CN" dirty="0" smtClean="0">
                <a:ea typeface="黑体" panose="02010609060101010101" pitchFamily="49" charset="-122"/>
              </a:rPr>
              <a:t>协议</a:t>
            </a:r>
            <a:endParaRPr lang="en-US" altLang="zh-CN" dirty="0" smtClean="0">
              <a:ea typeface="黑体" panose="02010609060101010101" pitchFamily="49" charset="-122"/>
            </a:endParaRPr>
          </a:p>
          <a:p>
            <a:r>
              <a:rPr lang="zh-CN" altLang="zh-CN" dirty="0" smtClean="0">
                <a:ea typeface="黑体" panose="02010609060101010101" pitchFamily="49" charset="-122"/>
              </a:rPr>
              <a:t>凡使用</a:t>
            </a:r>
            <a:r>
              <a:rPr lang="en-US" altLang="zh-CN" dirty="0" smtClean="0">
                <a:ea typeface="黑体" panose="02010609060101010101" pitchFamily="49" charset="-122"/>
              </a:rPr>
              <a:t> 802.11 </a:t>
            </a:r>
            <a:r>
              <a:rPr lang="zh-CN" altLang="zh-CN" dirty="0" smtClean="0">
                <a:ea typeface="黑体" panose="02010609060101010101" pitchFamily="49" charset="-122"/>
              </a:rPr>
              <a:t>系列协议的局域网又称为</a:t>
            </a:r>
            <a:r>
              <a:rPr lang="en-US" altLang="zh-CN" dirty="0" smtClean="0">
                <a:ea typeface="黑体" panose="02010609060101010101" pitchFamily="49" charset="-122"/>
              </a:rPr>
              <a:t> </a:t>
            </a:r>
            <a:r>
              <a:rPr lang="en-US" altLang="zh-CN" u="sng" dirty="0" smtClean="0">
                <a:solidFill>
                  <a:srgbClr val="FF0000"/>
                </a:solidFill>
                <a:ea typeface="黑体" panose="02010609060101010101" pitchFamily="49" charset="-122"/>
              </a:rPr>
              <a:t>Wi-Fi</a:t>
            </a:r>
            <a:r>
              <a:rPr lang="en-US" altLang="zh-CN" u="sng" dirty="0" smtClean="0">
                <a:ea typeface="黑体" panose="02010609060101010101" pitchFamily="49" charset="-122"/>
              </a:rPr>
              <a:t> (Wireless-Fidelity</a:t>
            </a:r>
            <a:r>
              <a:rPr lang="zh-CN" altLang="zh-CN" u="sng" dirty="0" smtClean="0">
                <a:ea typeface="黑体" panose="02010609060101010101" pitchFamily="49" charset="-122"/>
              </a:rPr>
              <a:t>，意思是“无线保真度”</a:t>
            </a:r>
            <a:r>
              <a:rPr lang="zh-CN" altLang="en-US" dirty="0" smtClean="0">
                <a:ea typeface="黑体" panose="02010609060101010101" pitchFamily="49" charset="-122"/>
              </a:rPr>
              <a:t>。</a:t>
            </a:r>
          </a:p>
        </p:txBody>
      </p:sp>
      <p:sp>
        <p:nvSpPr>
          <p:cNvPr id="237261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31F5182-B39A-4699-9D39-1A021515293E}" type="slidenum">
              <a:rPr lang="zh-CN" altLang="en-US" smtClean="0"/>
              <a:pPr eaLnBrk="1" hangingPunct="1"/>
              <a:t>5</a:t>
            </a:fld>
            <a:endParaRPr lang="en-US" altLang="zh-CN" smtClean="0"/>
          </a:p>
        </p:txBody>
      </p:sp>
      <p:sp>
        <p:nvSpPr>
          <p:cNvPr id="237261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3633" name="Rectangle 6"/>
          <p:cNvSpPr>
            <a:spLocks noGrp="1" noChangeArrowheads="1"/>
          </p:cNvSpPr>
          <p:nvPr>
            <p:ph type="title"/>
          </p:nvPr>
        </p:nvSpPr>
        <p:spPr/>
        <p:txBody>
          <a:bodyPr/>
          <a:lstStyle/>
          <a:p>
            <a:r>
              <a:rPr lang="en-US" altLang="zh-CN" smtClean="0">
                <a:ea typeface="黑体" panose="02010609060101010101" pitchFamily="49" charset="-122"/>
              </a:rPr>
              <a:t>1. IEEE 802.11</a:t>
            </a:r>
            <a:endParaRPr lang="zh-CN" altLang="en-US" smtClean="0">
              <a:ea typeface="黑体" panose="02010609060101010101" pitchFamily="49" charset="-122"/>
            </a:endParaRPr>
          </a:p>
        </p:txBody>
      </p:sp>
      <p:grpSp>
        <p:nvGrpSpPr>
          <p:cNvPr id="2373634" name="组合 1"/>
          <p:cNvGrpSpPr>
            <a:grpSpLocks/>
          </p:cNvGrpSpPr>
          <p:nvPr/>
        </p:nvGrpSpPr>
        <p:grpSpPr bwMode="auto">
          <a:xfrm>
            <a:off x="344488" y="1866900"/>
            <a:ext cx="9504362" cy="4010025"/>
            <a:chOff x="344487" y="1484784"/>
            <a:chExt cx="9505057" cy="4009836"/>
          </a:xfrm>
        </p:grpSpPr>
        <p:sp>
          <p:nvSpPr>
            <p:cNvPr id="2373635" name="AutoShape 519"/>
            <p:cNvSpPr>
              <a:spLocks noChangeArrowheads="1"/>
            </p:cNvSpPr>
            <p:nvPr/>
          </p:nvSpPr>
          <p:spPr bwMode="auto">
            <a:xfrm>
              <a:off x="344487" y="2403046"/>
              <a:ext cx="9321717" cy="3091574"/>
            </a:xfrm>
            <a:prstGeom prst="roundRect">
              <a:avLst>
                <a:gd name="adj" fmla="val 13255"/>
              </a:avLst>
            </a:prstGeom>
            <a:solidFill>
              <a:srgbClr val="FFFF66"/>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36" name="Oval 19"/>
            <p:cNvSpPr>
              <a:spLocks noChangeArrowheads="1"/>
            </p:cNvSpPr>
            <p:nvPr/>
          </p:nvSpPr>
          <p:spPr bwMode="auto">
            <a:xfrm>
              <a:off x="582272" y="2921003"/>
              <a:ext cx="4685842" cy="2325636"/>
            </a:xfrm>
            <a:prstGeom prst="ellipse">
              <a:avLst/>
            </a:prstGeom>
            <a:solidFill>
              <a:srgbClr val="66FF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pic>
          <p:nvPicPr>
            <p:cNvPr id="2373637" name="Picture 222"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4704" y="2605955"/>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3638" name="Oval 21"/>
            <p:cNvSpPr>
              <a:spLocks noChangeArrowheads="1"/>
            </p:cNvSpPr>
            <p:nvPr/>
          </p:nvSpPr>
          <p:spPr bwMode="auto">
            <a:xfrm>
              <a:off x="5127036" y="2943364"/>
              <a:ext cx="4362468" cy="2303275"/>
            </a:xfrm>
            <a:prstGeom prst="ellipse">
              <a:avLst/>
            </a:prstGeom>
            <a:solidFill>
              <a:srgbClr val="FF99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grpSp>
          <p:nvGrpSpPr>
            <p:cNvPr id="2373639" name="Group 425"/>
            <p:cNvGrpSpPr>
              <a:grpSpLocks/>
            </p:cNvGrpSpPr>
            <p:nvPr/>
          </p:nvGrpSpPr>
          <p:grpSpPr bwMode="auto">
            <a:xfrm>
              <a:off x="941756" y="3721205"/>
              <a:ext cx="710422" cy="589759"/>
              <a:chOff x="762" y="2391"/>
              <a:chExt cx="423" cy="312"/>
            </a:xfrm>
          </p:grpSpPr>
          <p:grpSp>
            <p:nvGrpSpPr>
              <p:cNvPr id="2373640" name="Group 316"/>
              <p:cNvGrpSpPr>
                <a:grpSpLocks/>
              </p:cNvGrpSpPr>
              <p:nvPr/>
            </p:nvGrpSpPr>
            <p:grpSpPr bwMode="auto">
              <a:xfrm>
                <a:off x="867" y="2432"/>
                <a:ext cx="318" cy="271"/>
                <a:chOff x="657" y="1570"/>
                <a:chExt cx="318" cy="311"/>
              </a:xfrm>
            </p:grpSpPr>
            <p:sp>
              <p:nvSpPr>
                <p:cNvPr id="2373641" name="Line 31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642" name="Picture 31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643" name="Group 424"/>
              <p:cNvGrpSpPr>
                <a:grpSpLocks/>
              </p:cNvGrpSpPr>
              <p:nvPr/>
            </p:nvGrpSpPr>
            <p:grpSpPr bwMode="auto">
              <a:xfrm>
                <a:off x="762" y="2391"/>
                <a:ext cx="306" cy="90"/>
                <a:chOff x="748" y="2251"/>
                <a:chExt cx="306" cy="90"/>
              </a:xfrm>
            </p:grpSpPr>
            <p:sp>
              <p:nvSpPr>
                <p:cNvPr id="2373644" name="AutoShape 31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45" name="AutoShape 31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46" name="AutoShape 31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47" name="AutoShape 32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48" name="AutoShape 32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49" name="AutoShape 32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73650" name="Text Box 45"/>
            <p:cNvSpPr txBox="1">
              <a:spLocks noChangeArrowheads="1"/>
            </p:cNvSpPr>
            <p:nvPr/>
          </p:nvSpPr>
          <p:spPr bwMode="auto">
            <a:xfrm>
              <a:off x="7282725" y="3230770"/>
              <a:ext cx="147508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73651" name="Text Box 46"/>
            <p:cNvSpPr txBox="1">
              <a:spLocks noChangeArrowheads="1"/>
            </p:cNvSpPr>
            <p:nvPr/>
          </p:nvSpPr>
          <p:spPr bwMode="auto">
            <a:xfrm>
              <a:off x="589095" y="2408739"/>
              <a:ext cx="173316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扩展的服务集</a:t>
              </a:r>
            </a:p>
            <a:p>
              <a:pPr algn="ctr"/>
              <a:r>
                <a:rPr lang="en-US" altLang="zh-CN" sz="2000" b="1">
                  <a:solidFill>
                    <a:srgbClr val="000099"/>
                  </a:solidFill>
                  <a:ea typeface="宋体" panose="02010600030101010101" pitchFamily="2" charset="-122"/>
                </a:rPr>
                <a:t>ESS</a:t>
              </a:r>
            </a:p>
          </p:txBody>
        </p:sp>
        <p:sp>
          <p:nvSpPr>
            <p:cNvPr id="2373652" name="Text Box 175"/>
            <p:cNvSpPr txBox="1">
              <a:spLocks noChangeArrowheads="1"/>
            </p:cNvSpPr>
            <p:nvPr/>
          </p:nvSpPr>
          <p:spPr bwMode="auto">
            <a:xfrm>
              <a:off x="776536" y="383462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sp>
          <p:nvSpPr>
            <p:cNvPr id="2373653" name="Text Box 176"/>
            <p:cNvSpPr txBox="1">
              <a:spLocks noChangeArrowheads="1"/>
            </p:cNvSpPr>
            <p:nvPr/>
          </p:nvSpPr>
          <p:spPr bwMode="auto">
            <a:xfrm>
              <a:off x="8450741" y="409169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B</a:t>
              </a:r>
            </a:p>
          </p:txBody>
        </p:sp>
        <p:sp>
          <p:nvSpPr>
            <p:cNvPr id="2373654" name="Line 177"/>
            <p:cNvSpPr>
              <a:spLocks noChangeShapeType="1"/>
            </p:cNvSpPr>
            <p:nvPr/>
          </p:nvSpPr>
          <p:spPr bwMode="auto">
            <a:xfrm>
              <a:off x="1398576" y="4150292"/>
              <a:ext cx="5330691" cy="599211"/>
            </a:xfrm>
            <a:prstGeom prst="line">
              <a:avLst/>
            </a:prstGeom>
            <a:noFill/>
            <a:ln w="76200">
              <a:solidFill>
                <a:srgbClr val="0000FF"/>
              </a:solidFill>
              <a:prstDash val="sysDot"/>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55" name="AutoShape 180"/>
            <p:cNvSpPr>
              <a:spLocks noChangeArrowheads="1"/>
            </p:cNvSpPr>
            <p:nvPr/>
          </p:nvSpPr>
          <p:spPr bwMode="auto">
            <a:xfrm>
              <a:off x="4676934" y="4893162"/>
              <a:ext cx="713783" cy="457442"/>
            </a:xfrm>
            <a:prstGeom prst="wedgeRoundRectCallout">
              <a:avLst>
                <a:gd name="adj1" fmla="val 131898"/>
                <a:gd name="adj2" fmla="val -108287"/>
                <a:gd name="adj3" fmla="val 16667"/>
              </a:avLst>
            </a:prstGeom>
            <a:solidFill>
              <a:srgbClr val="00FF99"/>
            </a:solidFill>
            <a:ln w="9525">
              <a:solidFill>
                <a:schemeClr val="tx1"/>
              </a:solidFill>
              <a:miter lim="800000"/>
              <a:headEnd/>
              <a:tailEnd/>
            </a:ln>
            <a:effectLst>
              <a:outerShdw dist="28398" dir="3806097" algn="ctr" rotWithShape="0">
                <a:schemeClr val="bg2"/>
              </a:outerShdw>
            </a:effectLst>
          </p:spPr>
          <p:txBody>
            <a:bodyPr/>
            <a:lstStyle/>
            <a:p>
              <a:pPr algn="ctr" eaLnBrk="0" hangingPunct="0"/>
              <a:endParaRPr lang="zh-CN" altLang="zh-CN" sz="2000" b="1">
                <a:solidFill>
                  <a:srgbClr val="000099"/>
                </a:solidFill>
                <a:ea typeface="宋体" panose="02010600030101010101" pitchFamily="2" charset="-122"/>
              </a:endParaRPr>
            </a:p>
          </p:txBody>
        </p:sp>
        <p:sp>
          <p:nvSpPr>
            <p:cNvPr id="2373656" name="Text Box 178"/>
            <p:cNvSpPr txBox="1">
              <a:spLocks noChangeArrowheads="1"/>
            </p:cNvSpPr>
            <p:nvPr/>
          </p:nvSpPr>
          <p:spPr bwMode="auto">
            <a:xfrm>
              <a:off x="4664968" y="4908816"/>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漫游</a:t>
              </a:r>
            </a:p>
          </p:txBody>
        </p:sp>
        <p:sp>
          <p:nvSpPr>
            <p:cNvPr id="2373657" name="Line 187"/>
            <p:cNvSpPr>
              <a:spLocks noChangeShapeType="1"/>
            </p:cNvSpPr>
            <p:nvPr/>
          </p:nvSpPr>
          <p:spPr bwMode="auto">
            <a:xfrm flipV="1">
              <a:off x="2844614" y="2029356"/>
              <a:ext cx="5789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58" name="Text Box 50"/>
            <p:cNvSpPr txBox="1">
              <a:spLocks noChangeArrowheads="1"/>
            </p:cNvSpPr>
            <p:nvPr/>
          </p:nvSpPr>
          <p:spPr bwMode="auto">
            <a:xfrm>
              <a:off x="3607101" y="2520893"/>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1</a:t>
              </a:r>
            </a:p>
          </p:txBody>
        </p:sp>
        <p:sp>
          <p:nvSpPr>
            <p:cNvPr id="2373659" name="Freeform 288"/>
            <p:cNvSpPr>
              <a:spLocks noChangeArrowheads="1"/>
            </p:cNvSpPr>
            <p:nvPr/>
          </p:nvSpPr>
          <p:spPr bwMode="auto">
            <a:xfrm>
              <a:off x="2846294" y="2348880"/>
              <a:ext cx="214974" cy="357257"/>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3660" name="Freeform 291"/>
            <p:cNvSpPr>
              <a:spLocks noChangeArrowheads="1"/>
            </p:cNvSpPr>
            <p:nvPr/>
          </p:nvSpPr>
          <p:spPr bwMode="auto">
            <a:xfrm>
              <a:off x="3607101"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3661" name="Freeform 293"/>
            <p:cNvSpPr>
              <a:spLocks noChangeArrowheads="1"/>
            </p:cNvSpPr>
            <p:nvPr/>
          </p:nvSpPr>
          <p:spPr bwMode="auto">
            <a:xfrm>
              <a:off x="2846294" y="2764736"/>
              <a:ext cx="214974" cy="357257"/>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3662" name="Freeform 294"/>
            <p:cNvSpPr>
              <a:spLocks noChangeArrowheads="1"/>
            </p:cNvSpPr>
            <p:nvPr/>
          </p:nvSpPr>
          <p:spPr bwMode="auto">
            <a:xfrm>
              <a:off x="3607101"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graphicFrame>
          <p:nvGraphicFramePr>
            <p:cNvPr id="2373663" name="Object 295"/>
            <p:cNvGraphicFramePr>
              <a:graphicFrameLocks noChangeAspect="1"/>
            </p:cNvGraphicFramePr>
            <p:nvPr/>
          </p:nvGraphicFramePr>
          <p:xfrm>
            <a:off x="8405396" y="1484784"/>
            <a:ext cx="1444148" cy="847341"/>
          </p:xfrm>
          <a:graphic>
            <a:graphicData uri="http://schemas.openxmlformats.org/presentationml/2006/ole">
              <mc:AlternateContent xmlns:mc="http://schemas.openxmlformats.org/markup-compatibility/2006">
                <mc:Choice xmlns:v="urn:schemas-microsoft-com:vml" Requires="v">
                  <p:oleObj spid="_x0000_s2373835" r:id="rId6" imgW="1687068" imgH="964692" progId="Visio.Drawing.6">
                    <p:embed/>
                  </p:oleObj>
                </mc:Choice>
                <mc:Fallback>
                  <p:oleObj r:id="rId6" imgW="1687068" imgH="964692" progId="Visio.Drawing.6">
                    <p:embed/>
                    <p:pic>
                      <p:nvPicPr>
                        <p:cNvPr id="0" name="Object 29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05396" y="1484784"/>
                          <a:ext cx="1444148" cy="84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373664" name="Picture 297"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9704" y="2692906"/>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3665" name="Text Box 300"/>
            <p:cNvSpPr txBox="1">
              <a:spLocks noChangeArrowheads="1"/>
            </p:cNvSpPr>
            <p:nvPr/>
          </p:nvSpPr>
          <p:spPr bwMode="auto">
            <a:xfrm>
              <a:off x="6873704" y="2542292"/>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2</a:t>
              </a:r>
            </a:p>
          </p:txBody>
        </p:sp>
        <p:sp>
          <p:nvSpPr>
            <p:cNvPr id="2373666" name="Line 49"/>
            <p:cNvSpPr>
              <a:spLocks noChangeShapeType="1"/>
            </p:cNvSpPr>
            <p:nvPr/>
          </p:nvSpPr>
          <p:spPr bwMode="auto">
            <a:xfrm flipV="1">
              <a:off x="6578114" y="2029356"/>
              <a:ext cx="0" cy="10349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67" name="Text Box 190"/>
            <p:cNvSpPr txBox="1">
              <a:spLocks noChangeArrowheads="1"/>
            </p:cNvSpPr>
            <p:nvPr/>
          </p:nvSpPr>
          <p:spPr bwMode="auto">
            <a:xfrm>
              <a:off x="8553400" y="1671191"/>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宋体" panose="02010600030101010101" pitchFamily="2" charset="-122"/>
                </a:rPr>
                <a:t>互联网</a:t>
              </a:r>
            </a:p>
          </p:txBody>
        </p:sp>
        <p:sp>
          <p:nvSpPr>
            <p:cNvPr id="2373668" name="Freeform 301"/>
            <p:cNvSpPr>
              <a:spLocks noChangeArrowheads="1"/>
            </p:cNvSpPr>
            <p:nvPr/>
          </p:nvSpPr>
          <p:spPr bwMode="auto">
            <a:xfrm>
              <a:off x="6121294" y="2433941"/>
              <a:ext cx="214974" cy="357259"/>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3669" name="Freeform 302"/>
            <p:cNvSpPr>
              <a:spLocks noChangeArrowheads="1"/>
            </p:cNvSpPr>
            <p:nvPr/>
          </p:nvSpPr>
          <p:spPr bwMode="auto">
            <a:xfrm>
              <a:off x="6819960"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3670" name="Freeform 303"/>
            <p:cNvSpPr>
              <a:spLocks noChangeArrowheads="1"/>
            </p:cNvSpPr>
            <p:nvPr/>
          </p:nvSpPr>
          <p:spPr bwMode="auto">
            <a:xfrm>
              <a:off x="6121294" y="2849797"/>
              <a:ext cx="214974" cy="357259"/>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3671" name="Freeform 304"/>
            <p:cNvSpPr>
              <a:spLocks noChangeArrowheads="1"/>
            </p:cNvSpPr>
            <p:nvPr/>
          </p:nvSpPr>
          <p:spPr bwMode="auto">
            <a:xfrm>
              <a:off x="6819960"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3672" name="Text Box 305"/>
            <p:cNvSpPr txBox="1">
              <a:spLocks noChangeArrowheads="1"/>
            </p:cNvSpPr>
            <p:nvPr/>
          </p:nvSpPr>
          <p:spPr bwMode="auto">
            <a:xfrm>
              <a:off x="4651742" y="1628622"/>
              <a:ext cx="16450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分配系统 </a:t>
              </a:r>
              <a:r>
                <a:rPr lang="en-US" altLang="zh-CN" sz="2000" b="1">
                  <a:solidFill>
                    <a:srgbClr val="000099"/>
                  </a:solidFill>
                  <a:ea typeface="宋体" panose="02010600030101010101" pitchFamily="2" charset="-122"/>
                </a:rPr>
                <a:t>DS</a:t>
              </a:r>
            </a:p>
          </p:txBody>
        </p:sp>
        <p:pic>
          <p:nvPicPr>
            <p:cNvPr id="2373673" name="Picture 306"/>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91755" y="1870574"/>
              <a:ext cx="634846" cy="325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3674" name="Line 403"/>
            <p:cNvSpPr>
              <a:spLocks noChangeShapeType="1"/>
            </p:cNvSpPr>
            <p:nvPr/>
          </p:nvSpPr>
          <p:spPr bwMode="auto">
            <a:xfrm flipV="1">
              <a:off x="1474153" y="3292116"/>
              <a:ext cx="1751705" cy="68616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75" name="Line 404"/>
            <p:cNvSpPr>
              <a:spLocks noChangeShapeType="1"/>
            </p:cNvSpPr>
            <p:nvPr/>
          </p:nvSpPr>
          <p:spPr bwMode="auto">
            <a:xfrm flipV="1">
              <a:off x="2463371" y="3292116"/>
              <a:ext cx="915320" cy="1372325"/>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76" name="Line 405"/>
            <p:cNvSpPr>
              <a:spLocks noChangeShapeType="1"/>
            </p:cNvSpPr>
            <p:nvPr/>
          </p:nvSpPr>
          <p:spPr bwMode="auto">
            <a:xfrm flipV="1">
              <a:off x="5740050" y="3207056"/>
              <a:ext cx="68523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77" name="Line 406"/>
            <p:cNvSpPr>
              <a:spLocks noChangeShapeType="1"/>
            </p:cNvSpPr>
            <p:nvPr/>
          </p:nvSpPr>
          <p:spPr bwMode="auto">
            <a:xfrm>
              <a:off x="3607101" y="3207056"/>
              <a:ext cx="114205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78" name="Line 407"/>
            <p:cNvSpPr>
              <a:spLocks noChangeShapeType="1"/>
            </p:cNvSpPr>
            <p:nvPr/>
          </p:nvSpPr>
          <p:spPr bwMode="auto">
            <a:xfrm flipV="1">
              <a:off x="3454268" y="3292116"/>
              <a:ext cx="77256" cy="154433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79" name="Line 408"/>
            <p:cNvSpPr>
              <a:spLocks noChangeShapeType="1"/>
            </p:cNvSpPr>
            <p:nvPr/>
          </p:nvSpPr>
          <p:spPr bwMode="auto">
            <a:xfrm flipV="1">
              <a:off x="6272447" y="3292116"/>
              <a:ext cx="305667" cy="1200312"/>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80" name="Line 409"/>
            <p:cNvSpPr>
              <a:spLocks noChangeShapeType="1"/>
            </p:cNvSpPr>
            <p:nvPr/>
          </p:nvSpPr>
          <p:spPr bwMode="auto">
            <a:xfrm flipH="1" flipV="1">
              <a:off x="6883781" y="3292116"/>
              <a:ext cx="1294884" cy="102829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81" name="Line 410"/>
            <p:cNvSpPr>
              <a:spLocks noChangeShapeType="1"/>
            </p:cNvSpPr>
            <p:nvPr/>
          </p:nvSpPr>
          <p:spPr bwMode="auto">
            <a:xfrm flipH="1" flipV="1">
              <a:off x="6729268" y="3292116"/>
              <a:ext cx="686910" cy="1115250"/>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82" name="Line 422"/>
            <p:cNvSpPr>
              <a:spLocks noChangeShapeType="1"/>
            </p:cNvSpPr>
            <p:nvPr/>
          </p:nvSpPr>
          <p:spPr bwMode="auto">
            <a:xfrm flipH="1" flipV="1">
              <a:off x="6653690" y="3292116"/>
              <a:ext cx="152834" cy="128537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83" name="Text Box 423"/>
            <p:cNvSpPr txBox="1">
              <a:spLocks noChangeArrowheads="1"/>
            </p:cNvSpPr>
            <p:nvPr/>
          </p:nvSpPr>
          <p:spPr bwMode="auto">
            <a:xfrm>
              <a:off x="7105473" y="4577489"/>
              <a:ext cx="4315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grpSp>
          <p:nvGrpSpPr>
            <p:cNvPr id="2373684" name="Group 426"/>
            <p:cNvGrpSpPr>
              <a:grpSpLocks/>
            </p:cNvGrpSpPr>
            <p:nvPr/>
          </p:nvGrpSpPr>
          <p:grpSpPr bwMode="auto">
            <a:xfrm>
              <a:off x="1930973" y="4331756"/>
              <a:ext cx="710423" cy="589759"/>
              <a:chOff x="762" y="2391"/>
              <a:chExt cx="423" cy="312"/>
            </a:xfrm>
          </p:grpSpPr>
          <p:grpSp>
            <p:nvGrpSpPr>
              <p:cNvPr id="2373685" name="Group 427"/>
              <p:cNvGrpSpPr>
                <a:grpSpLocks/>
              </p:cNvGrpSpPr>
              <p:nvPr/>
            </p:nvGrpSpPr>
            <p:grpSpPr bwMode="auto">
              <a:xfrm>
                <a:off x="867" y="2432"/>
                <a:ext cx="318" cy="271"/>
                <a:chOff x="657" y="1570"/>
                <a:chExt cx="318" cy="311"/>
              </a:xfrm>
            </p:grpSpPr>
            <p:sp>
              <p:nvSpPr>
                <p:cNvPr id="2373686" name="Line 42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687" name="Picture 429"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688" name="Group 430"/>
              <p:cNvGrpSpPr>
                <a:grpSpLocks/>
              </p:cNvGrpSpPr>
              <p:nvPr/>
            </p:nvGrpSpPr>
            <p:grpSpPr bwMode="auto">
              <a:xfrm>
                <a:off x="762" y="2391"/>
                <a:ext cx="306" cy="90"/>
                <a:chOff x="748" y="2251"/>
                <a:chExt cx="306" cy="90"/>
              </a:xfrm>
            </p:grpSpPr>
            <p:sp>
              <p:nvSpPr>
                <p:cNvPr id="2373689" name="AutoShape 43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90" name="AutoShape 43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91" name="AutoShape 43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92" name="AutoShape 43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93" name="AutoShape 43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94" name="AutoShape 43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3695" name="Group 437"/>
            <p:cNvGrpSpPr>
              <a:grpSpLocks/>
            </p:cNvGrpSpPr>
            <p:nvPr/>
          </p:nvGrpSpPr>
          <p:grpSpPr bwMode="auto">
            <a:xfrm>
              <a:off x="5283229" y="3207056"/>
              <a:ext cx="710423" cy="589759"/>
              <a:chOff x="762" y="2391"/>
              <a:chExt cx="423" cy="312"/>
            </a:xfrm>
          </p:grpSpPr>
          <p:grpSp>
            <p:nvGrpSpPr>
              <p:cNvPr id="2373696" name="Group 438"/>
              <p:cNvGrpSpPr>
                <a:grpSpLocks/>
              </p:cNvGrpSpPr>
              <p:nvPr/>
            </p:nvGrpSpPr>
            <p:grpSpPr bwMode="auto">
              <a:xfrm>
                <a:off x="867" y="2432"/>
                <a:ext cx="318" cy="271"/>
                <a:chOff x="657" y="1570"/>
                <a:chExt cx="318" cy="311"/>
              </a:xfrm>
            </p:grpSpPr>
            <p:sp>
              <p:nvSpPr>
                <p:cNvPr id="2373697" name="Line 439"/>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698" name="Picture 440"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699" name="Group 441"/>
              <p:cNvGrpSpPr>
                <a:grpSpLocks/>
              </p:cNvGrpSpPr>
              <p:nvPr/>
            </p:nvGrpSpPr>
            <p:grpSpPr bwMode="auto">
              <a:xfrm>
                <a:off x="762" y="2391"/>
                <a:ext cx="306" cy="90"/>
                <a:chOff x="748" y="2251"/>
                <a:chExt cx="306" cy="90"/>
              </a:xfrm>
            </p:grpSpPr>
            <p:sp>
              <p:nvSpPr>
                <p:cNvPr id="2373700" name="AutoShape 442"/>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01" name="AutoShape 443"/>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02" name="AutoShape 444"/>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03" name="AutoShape 445"/>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04" name="AutoShape 446"/>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05" name="AutoShape 447"/>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3706" name="Group 448"/>
            <p:cNvGrpSpPr>
              <a:grpSpLocks/>
            </p:cNvGrpSpPr>
            <p:nvPr/>
          </p:nvGrpSpPr>
          <p:grpSpPr bwMode="auto">
            <a:xfrm>
              <a:off x="2921871" y="4407367"/>
              <a:ext cx="710423" cy="589759"/>
              <a:chOff x="762" y="2391"/>
              <a:chExt cx="423" cy="312"/>
            </a:xfrm>
          </p:grpSpPr>
          <p:grpSp>
            <p:nvGrpSpPr>
              <p:cNvPr id="2373707" name="Group 449"/>
              <p:cNvGrpSpPr>
                <a:grpSpLocks/>
              </p:cNvGrpSpPr>
              <p:nvPr/>
            </p:nvGrpSpPr>
            <p:grpSpPr bwMode="auto">
              <a:xfrm>
                <a:off x="867" y="2432"/>
                <a:ext cx="318" cy="271"/>
                <a:chOff x="657" y="1570"/>
                <a:chExt cx="318" cy="311"/>
              </a:xfrm>
            </p:grpSpPr>
            <p:sp>
              <p:nvSpPr>
                <p:cNvPr id="2373708" name="Line 450"/>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709" name="Picture 451"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710" name="Group 452"/>
              <p:cNvGrpSpPr>
                <a:grpSpLocks/>
              </p:cNvGrpSpPr>
              <p:nvPr/>
            </p:nvGrpSpPr>
            <p:grpSpPr bwMode="auto">
              <a:xfrm>
                <a:off x="762" y="2391"/>
                <a:ext cx="306" cy="90"/>
                <a:chOff x="748" y="2251"/>
                <a:chExt cx="306" cy="90"/>
              </a:xfrm>
            </p:grpSpPr>
            <p:sp>
              <p:nvSpPr>
                <p:cNvPr id="2373711" name="AutoShape 453"/>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12" name="AutoShape 454"/>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13" name="AutoShape 455"/>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14" name="AutoShape 456"/>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15" name="AutoShape 457"/>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16" name="AutoShape 458"/>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3717" name="Group 459"/>
            <p:cNvGrpSpPr>
              <a:grpSpLocks/>
            </p:cNvGrpSpPr>
            <p:nvPr/>
          </p:nvGrpSpPr>
          <p:grpSpPr bwMode="auto">
            <a:xfrm>
              <a:off x="4520742" y="3292116"/>
              <a:ext cx="710423" cy="589759"/>
              <a:chOff x="762" y="2391"/>
              <a:chExt cx="423" cy="312"/>
            </a:xfrm>
          </p:grpSpPr>
          <p:grpSp>
            <p:nvGrpSpPr>
              <p:cNvPr id="2373718" name="Group 460"/>
              <p:cNvGrpSpPr>
                <a:grpSpLocks/>
              </p:cNvGrpSpPr>
              <p:nvPr/>
            </p:nvGrpSpPr>
            <p:grpSpPr bwMode="auto">
              <a:xfrm>
                <a:off x="867" y="2432"/>
                <a:ext cx="318" cy="271"/>
                <a:chOff x="657" y="1570"/>
                <a:chExt cx="318" cy="311"/>
              </a:xfrm>
            </p:grpSpPr>
            <p:sp>
              <p:nvSpPr>
                <p:cNvPr id="2373719" name="Line 461"/>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720" name="Picture 462"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721" name="Group 463"/>
              <p:cNvGrpSpPr>
                <a:grpSpLocks/>
              </p:cNvGrpSpPr>
              <p:nvPr/>
            </p:nvGrpSpPr>
            <p:grpSpPr bwMode="auto">
              <a:xfrm>
                <a:off x="762" y="2391"/>
                <a:ext cx="306" cy="90"/>
                <a:chOff x="748" y="2251"/>
                <a:chExt cx="306" cy="90"/>
              </a:xfrm>
            </p:grpSpPr>
            <p:sp>
              <p:nvSpPr>
                <p:cNvPr id="2373722" name="AutoShape 464"/>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23" name="AutoShape 465"/>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24" name="AutoShape 466"/>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25" name="AutoShape 467"/>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26" name="AutoShape 468"/>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27" name="AutoShape 469"/>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3728" name="Group 470"/>
            <p:cNvGrpSpPr>
              <a:grpSpLocks/>
            </p:cNvGrpSpPr>
            <p:nvPr/>
          </p:nvGrpSpPr>
          <p:grpSpPr bwMode="auto">
            <a:xfrm>
              <a:off x="6653690" y="4492429"/>
              <a:ext cx="710423" cy="589759"/>
              <a:chOff x="762" y="2391"/>
              <a:chExt cx="423" cy="312"/>
            </a:xfrm>
          </p:grpSpPr>
          <p:grpSp>
            <p:nvGrpSpPr>
              <p:cNvPr id="2373729" name="Group 471"/>
              <p:cNvGrpSpPr>
                <a:grpSpLocks/>
              </p:cNvGrpSpPr>
              <p:nvPr/>
            </p:nvGrpSpPr>
            <p:grpSpPr bwMode="auto">
              <a:xfrm>
                <a:off x="867" y="2432"/>
                <a:ext cx="318" cy="271"/>
                <a:chOff x="657" y="1570"/>
                <a:chExt cx="318" cy="311"/>
              </a:xfrm>
            </p:grpSpPr>
            <p:sp>
              <p:nvSpPr>
                <p:cNvPr id="2373730" name="Line 472"/>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731" name="Picture 473"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732" name="Group 474"/>
              <p:cNvGrpSpPr>
                <a:grpSpLocks/>
              </p:cNvGrpSpPr>
              <p:nvPr/>
            </p:nvGrpSpPr>
            <p:grpSpPr bwMode="auto">
              <a:xfrm>
                <a:off x="762" y="2391"/>
                <a:ext cx="306" cy="90"/>
                <a:chOff x="748" y="2251"/>
                <a:chExt cx="306" cy="90"/>
              </a:xfrm>
            </p:grpSpPr>
            <p:sp>
              <p:nvSpPr>
                <p:cNvPr id="2373733" name="AutoShape 475"/>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34" name="AutoShape 476"/>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35" name="AutoShape 477"/>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36" name="AutoShape 478"/>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37" name="AutoShape 479"/>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38" name="AutoShape 480"/>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3739" name="Group 481"/>
            <p:cNvGrpSpPr>
              <a:grpSpLocks/>
            </p:cNvGrpSpPr>
            <p:nvPr/>
          </p:nvGrpSpPr>
          <p:grpSpPr bwMode="auto">
            <a:xfrm>
              <a:off x="5740050" y="3978279"/>
              <a:ext cx="710423" cy="589759"/>
              <a:chOff x="762" y="2391"/>
              <a:chExt cx="423" cy="312"/>
            </a:xfrm>
          </p:grpSpPr>
          <p:grpSp>
            <p:nvGrpSpPr>
              <p:cNvPr id="2373740" name="Group 482"/>
              <p:cNvGrpSpPr>
                <a:grpSpLocks/>
              </p:cNvGrpSpPr>
              <p:nvPr/>
            </p:nvGrpSpPr>
            <p:grpSpPr bwMode="auto">
              <a:xfrm>
                <a:off x="867" y="2432"/>
                <a:ext cx="318" cy="271"/>
                <a:chOff x="657" y="1570"/>
                <a:chExt cx="318" cy="311"/>
              </a:xfrm>
            </p:grpSpPr>
            <p:sp>
              <p:nvSpPr>
                <p:cNvPr id="2373741" name="Line 48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742" name="Picture 484"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743" name="Group 485"/>
              <p:cNvGrpSpPr>
                <a:grpSpLocks/>
              </p:cNvGrpSpPr>
              <p:nvPr/>
            </p:nvGrpSpPr>
            <p:grpSpPr bwMode="auto">
              <a:xfrm>
                <a:off x="762" y="2391"/>
                <a:ext cx="306" cy="90"/>
                <a:chOff x="748" y="2251"/>
                <a:chExt cx="306" cy="90"/>
              </a:xfrm>
            </p:grpSpPr>
            <p:sp>
              <p:nvSpPr>
                <p:cNvPr id="2373744" name="AutoShape 486"/>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45" name="AutoShape 487"/>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46" name="AutoShape 488"/>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47" name="AutoShape 489"/>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48" name="AutoShape 490"/>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49" name="AutoShape 491"/>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3750" name="Group 492"/>
            <p:cNvGrpSpPr>
              <a:grpSpLocks/>
            </p:cNvGrpSpPr>
            <p:nvPr/>
          </p:nvGrpSpPr>
          <p:grpSpPr bwMode="auto">
            <a:xfrm>
              <a:off x="7263345" y="4150292"/>
              <a:ext cx="710422" cy="589759"/>
              <a:chOff x="762" y="2391"/>
              <a:chExt cx="423" cy="312"/>
            </a:xfrm>
          </p:grpSpPr>
          <p:grpSp>
            <p:nvGrpSpPr>
              <p:cNvPr id="2373751" name="Group 493"/>
              <p:cNvGrpSpPr>
                <a:grpSpLocks/>
              </p:cNvGrpSpPr>
              <p:nvPr/>
            </p:nvGrpSpPr>
            <p:grpSpPr bwMode="auto">
              <a:xfrm>
                <a:off x="867" y="2432"/>
                <a:ext cx="318" cy="271"/>
                <a:chOff x="657" y="1570"/>
                <a:chExt cx="318" cy="311"/>
              </a:xfrm>
            </p:grpSpPr>
            <p:sp>
              <p:nvSpPr>
                <p:cNvPr id="2373752" name="Line 494"/>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753" name="Picture 49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754" name="Group 496"/>
              <p:cNvGrpSpPr>
                <a:grpSpLocks/>
              </p:cNvGrpSpPr>
              <p:nvPr/>
            </p:nvGrpSpPr>
            <p:grpSpPr bwMode="auto">
              <a:xfrm>
                <a:off x="762" y="2391"/>
                <a:ext cx="306" cy="90"/>
                <a:chOff x="748" y="2251"/>
                <a:chExt cx="306" cy="90"/>
              </a:xfrm>
            </p:grpSpPr>
            <p:sp>
              <p:nvSpPr>
                <p:cNvPr id="2373755" name="AutoShape 49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56" name="AutoShape 49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57" name="AutoShape 49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58" name="AutoShape 50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59" name="AutoShape 50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60" name="AutoShape 50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3761" name="Group 503"/>
            <p:cNvGrpSpPr>
              <a:grpSpLocks/>
            </p:cNvGrpSpPr>
            <p:nvPr/>
          </p:nvGrpSpPr>
          <p:grpSpPr bwMode="auto">
            <a:xfrm>
              <a:off x="8000639" y="3987730"/>
              <a:ext cx="710423" cy="589759"/>
              <a:chOff x="762" y="2391"/>
              <a:chExt cx="423" cy="312"/>
            </a:xfrm>
          </p:grpSpPr>
          <p:grpSp>
            <p:nvGrpSpPr>
              <p:cNvPr id="2373762" name="Group 504"/>
              <p:cNvGrpSpPr>
                <a:grpSpLocks/>
              </p:cNvGrpSpPr>
              <p:nvPr/>
            </p:nvGrpSpPr>
            <p:grpSpPr bwMode="auto">
              <a:xfrm>
                <a:off x="867" y="2432"/>
                <a:ext cx="318" cy="271"/>
                <a:chOff x="657" y="1570"/>
                <a:chExt cx="318" cy="311"/>
              </a:xfrm>
            </p:grpSpPr>
            <p:sp>
              <p:nvSpPr>
                <p:cNvPr id="2373763" name="Line 505"/>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764" name="Picture 506"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765" name="Group 507"/>
              <p:cNvGrpSpPr>
                <a:grpSpLocks/>
              </p:cNvGrpSpPr>
              <p:nvPr/>
            </p:nvGrpSpPr>
            <p:grpSpPr bwMode="auto">
              <a:xfrm>
                <a:off x="762" y="2391"/>
                <a:ext cx="306" cy="90"/>
                <a:chOff x="748" y="2251"/>
                <a:chExt cx="306" cy="90"/>
              </a:xfrm>
            </p:grpSpPr>
            <p:sp>
              <p:nvSpPr>
                <p:cNvPr id="2373766" name="AutoShape 508"/>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67" name="AutoShape 509"/>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68" name="AutoShape 510"/>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69" name="AutoShape 511"/>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70" name="AutoShape 512"/>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71" name="AutoShape 513"/>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73772" name="Line 517"/>
            <p:cNvSpPr>
              <a:spLocks noChangeShapeType="1"/>
            </p:cNvSpPr>
            <p:nvPr/>
          </p:nvSpPr>
          <p:spPr bwMode="auto">
            <a:xfrm flipH="1">
              <a:off x="1930973" y="1988840"/>
              <a:ext cx="744013" cy="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773" name="Text Box 44"/>
            <p:cNvSpPr txBox="1">
              <a:spLocks noChangeArrowheads="1"/>
            </p:cNvSpPr>
            <p:nvPr/>
          </p:nvSpPr>
          <p:spPr bwMode="auto">
            <a:xfrm>
              <a:off x="1474153" y="3116323"/>
              <a:ext cx="147508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73774" name="Line 48"/>
            <p:cNvSpPr>
              <a:spLocks noChangeShapeType="1"/>
            </p:cNvSpPr>
            <p:nvPr/>
          </p:nvSpPr>
          <p:spPr bwMode="auto">
            <a:xfrm flipH="1">
              <a:off x="3342582" y="2029356"/>
              <a:ext cx="0" cy="8916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75" name="Rectangle 515"/>
            <p:cNvSpPr>
              <a:spLocks noChangeArrowheads="1"/>
            </p:cNvSpPr>
            <p:nvPr/>
          </p:nvSpPr>
          <p:spPr bwMode="auto">
            <a:xfrm>
              <a:off x="2465050" y="1793019"/>
              <a:ext cx="607974" cy="406459"/>
            </a:xfrm>
            <a:prstGeom prst="rect">
              <a:avLst/>
            </a:prstGeom>
            <a:solidFill>
              <a:srgbClr val="66FFFF"/>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宋体" panose="02010600030101010101" pitchFamily="2" charset="-122"/>
                </a:rPr>
                <a:t>门户</a:t>
              </a:r>
              <a:endParaRPr lang="en-US" altLang="zh-CN" sz="2000" b="1">
                <a:solidFill>
                  <a:srgbClr val="000099"/>
                </a:solidFill>
                <a:ea typeface="宋体" panose="02010600030101010101" pitchFamily="2" charset="-122"/>
              </a:endParaRPr>
            </a:p>
          </p:txBody>
        </p:sp>
        <p:sp>
          <p:nvSpPr>
            <p:cNvPr id="2373776" name="Text Box 518"/>
            <p:cNvSpPr txBox="1">
              <a:spLocks noChangeArrowheads="1"/>
            </p:cNvSpPr>
            <p:nvPr/>
          </p:nvSpPr>
          <p:spPr bwMode="auto">
            <a:xfrm>
              <a:off x="495081" y="1628800"/>
              <a:ext cx="16706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zh-CN" altLang="en-US" sz="2000" b="1">
                  <a:solidFill>
                    <a:srgbClr val="000099"/>
                  </a:solidFill>
                  <a:ea typeface="宋体" panose="02010600030101010101" pitchFamily="2" charset="-122"/>
                </a:rPr>
                <a:t>至其他 </a:t>
              </a:r>
              <a:r>
                <a:rPr lang="en-US" altLang="zh-CN" sz="2000" b="1">
                  <a:solidFill>
                    <a:srgbClr val="000099"/>
                  </a:solidFill>
                  <a:ea typeface="宋体" panose="02010600030101010101" pitchFamily="2" charset="-122"/>
                </a:rPr>
                <a:t>802.x</a:t>
              </a:r>
            </a:p>
            <a:p>
              <a:pPr algn="ctr">
                <a:lnSpc>
                  <a:spcPct val="85000"/>
                </a:lnSpc>
              </a:pPr>
              <a:r>
                <a:rPr lang="zh-CN" altLang="en-US" sz="2000" b="1">
                  <a:solidFill>
                    <a:srgbClr val="000099"/>
                  </a:solidFill>
                  <a:ea typeface="宋体" panose="02010600030101010101" pitchFamily="2" charset="-122"/>
                </a:rPr>
                <a:t>局域网</a:t>
              </a:r>
            </a:p>
          </p:txBody>
        </p:sp>
      </p:grpSp>
      <p:sp>
        <p:nvSpPr>
          <p:cNvPr id="2373777" name="矩形 2"/>
          <p:cNvSpPr>
            <a:spLocks noChangeArrowheads="1"/>
          </p:cNvSpPr>
          <p:nvPr/>
        </p:nvSpPr>
        <p:spPr bwMode="auto">
          <a:xfrm>
            <a:off x="776288" y="1177925"/>
            <a:ext cx="8569325" cy="523875"/>
          </a:xfrm>
          <a:prstGeom prst="rect">
            <a:avLst/>
          </a:prstGeom>
          <a:solidFill>
            <a:srgbClr val="66FF66"/>
          </a:solidFill>
          <a:ln w="9525">
            <a:solidFill>
              <a:srgbClr val="000099"/>
            </a:solidFill>
            <a:round/>
            <a:headEnd/>
            <a:tailEnd/>
          </a:ln>
        </p:spPr>
        <p:txBody>
          <a:bodyPr>
            <a:spAutoFit/>
          </a:bodyPr>
          <a:lstStyle/>
          <a:p>
            <a:pPr algn="ctr" eaLnBrk="0" hangingPunct="0"/>
            <a:r>
              <a:rPr lang="en-US" altLang="zh-CN" sz="2800" b="1" dirty="0">
                <a:solidFill>
                  <a:schemeClr val="tx2"/>
                </a:solidFill>
                <a:ea typeface="宋体" panose="02010600030101010101" pitchFamily="2" charset="-122"/>
              </a:rPr>
              <a:t>IEEE 802.11 </a:t>
            </a:r>
            <a:r>
              <a:rPr lang="zh-CN" altLang="zh-CN" sz="2800" b="1" dirty="0">
                <a:solidFill>
                  <a:schemeClr val="tx2"/>
                </a:solidFill>
                <a:ea typeface="宋体" panose="02010600030101010101" pitchFamily="2" charset="-122"/>
              </a:rPr>
              <a:t>的基本服务集</a:t>
            </a:r>
            <a:r>
              <a:rPr lang="en-US" altLang="zh-CN" sz="2800" b="1" dirty="0">
                <a:solidFill>
                  <a:schemeClr val="tx2"/>
                </a:solidFill>
                <a:ea typeface="宋体" panose="02010600030101010101" pitchFamily="2" charset="-122"/>
              </a:rPr>
              <a:t> BSS </a:t>
            </a:r>
            <a:r>
              <a:rPr lang="zh-CN" altLang="zh-CN" sz="2800" b="1" dirty="0">
                <a:solidFill>
                  <a:schemeClr val="tx2"/>
                </a:solidFill>
                <a:ea typeface="宋体" panose="02010600030101010101" pitchFamily="2" charset="-122"/>
              </a:rPr>
              <a:t>和扩展服务集</a:t>
            </a:r>
            <a:r>
              <a:rPr lang="en-US" altLang="zh-CN" sz="2800" b="1" dirty="0">
                <a:solidFill>
                  <a:schemeClr val="tx2"/>
                </a:solidFill>
                <a:ea typeface="宋体" panose="02010600030101010101" pitchFamily="2" charset="-122"/>
              </a:rPr>
              <a:t> ESS</a:t>
            </a:r>
            <a:endParaRPr lang="zh-CN" altLang="en-US" sz="2800" b="1" dirty="0">
              <a:solidFill>
                <a:schemeClr val="tx2"/>
              </a:solidFill>
              <a:ea typeface="宋体" panose="02010600030101010101" pitchFamily="2" charset="-122"/>
            </a:endParaRPr>
          </a:p>
        </p:txBody>
      </p:sp>
      <p:sp>
        <p:nvSpPr>
          <p:cNvPr id="2373778" name="灯片编号占位符 14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57CF97-6BD7-404A-88E1-05AFE350495B}" type="slidenum">
              <a:rPr lang="zh-CN" altLang="en-US" smtClean="0"/>
              <a:pPr eaLnBrk="1" hangingPunct="1"/>
              <a:t>6</a:t>
            </a:fld>
            <a:endParaRPr lang="en-US" altLang="zh-CN" smtClean="0"/>
          </a:p>
        </p:txBody>
      </p:sp>
      <p:sp>
        <p:nvSpPr>
          <p:cNvPr id="2373779" name="页脚占位符 14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81" name="Text Box 11"/>
          <p:cNvSpPr txBox="1">
            <a:spLocks noChangeArrowheads="1"/>
          </p:cNvSpPr>
          <p:nvPr/>
        </p:nvSpPr>
        <p:spPr bwMode="auto">
          <a:xfrm>
            <a:off x="848074" y="236489"/>
            <a:ext cx="8640762" cy="1815882"/>
          </a:xfrm>
          <a:prstGeom prst="rect">
            <a:avLst/>
          </a:prstGeom>
          <a:solidFill>
            <a:srgbClr val="66FF66"/>
          </a:solidFill>
          <a:ln w="9525">
            <a:solidFill>
              <a:srgbClr val="000099"/>
            </a:solidFill>
            <a:round/>
            <a:headEnd/>
            <a:tailEnd/>
          </a:ln>
        </p:spPr>
        <p:txBody>
          <a:bodyPr>
            <a:spAutoFit/>
          </a:bodyPr>
          <a:lstStyle/>
          <a:p>
            <a:pPr algn="just" eaLnBrk="0" hangingPunct="0"/>
            <a:r>
              <a:rPr lang="zh-CN" altLang="en-US" sz="2800" b="1" dirty="0">
                <a:solidFill>
                  <a:schemeClr val="tx2"/>
                </a:solidFill>
                <a:ea typeface="宋体" panose="02010600030101010101" pitchFamily="2" charset="-122"/>
              </a:rPr>
              <a:t>一个</a:t>
            </a:r>
            <a:r>
              <a:rPr lang="zh-CN" altLang="en-US" sz="2800" b="1" u="sng" dirty="0">
                <a:solidFill>
                  <a:srgbClr val="FF0000"/>
                </a:solidFill>
                <a:ea typeface="宋体" panose="02010600030101010101" pitchFamily="2" charset="-122"/>
              </a:rPr>
              <a:t>基本服务集 </a:t>
            </a:r>
            <a:r>
              <a:rPr lang="en-US" altLang="zh-CN" sz="2800" b="1" u="sng" dirty="0" smtClean="0">
                <a:solidFill>
                  <a:srgbClr val="FF0000"/>
                </a:solidFill>
                <a:ea typeface="宋体" panose="02010600030101010101" pitchFamily="2" charset="-122"/>
              </a:rPr>
              <a:t>BSS</a:t>
            </a:r>
            <a:r>
              <a:rPr lang="zh-CN" altLang="en-US" sz="2800" b="1" u="sng" dirty="0" smtClean="0">
                <a:solidFill>
                  <a:schemeClr val="tx2"/>
                </a:solidFill>
                <a:ea typeface="宋体" panose="02010600030101010101" pitchFamily="2" charset="-122"/>
              </a:rPr>
              <a:t>（</a:t>
            </a:r>
            <a:r>
              <a:rPr lang="en-US" altLang="zh-CN" sz="2800" b="1" u="sng" dirty="0" smtClean="0">
                <a:solidFill>
                  <a:schemeClr val="tx2"/>
                </a:solidFill>
                <a:ea typeface="宋体" panose="02010600030101010101" pitchFamily="2" charset="-122"/>
              </a:rPr>
              <a:t>Basic Service </a:t>
            </a:r>
            <a:r>
              <a:rPr lang="en-US" altLang="zh-CN" sz="2800" b="1" u="sng" dirty="0">
                <a:solidFill>
                  <a:schemeClr val="tx2"/>
                </a:solidFill>
                <a:ea typeface="宋体" panose="02010600030101010101" pitchFamily="2" charset="-122"/>
              </a:rPr>
              <a:t>Set</a:t>
            </a:r>
            <a:r>
              <a:rPr lang="zh-CN" altLang="en-US" sz="2800" b="1" u="sng" dirty="0" smtClean="0">
                <a:solidFill>
                  <a:schemeClr val="tx2"/>
                </a:solidFill>
                <a:ea typeface="宋体" panose="02010600030101010101" pitchFamily="2" charset="-122"/>
              </a:rPr>
              <a:t>）</a:t>
            </a:r>
            <a:r>
              <a:rPr lang="en-US" altLang="zh-CN" sz="2800" b="1" u="sng" dirty="0" smtClean="0">
                <a:solidFill>
                  <a:schemeClr val="tx2"/>
                </a:solidFill>
                <a:ea typeface="宋体" panose="02010600030101010101" pitchFamily="2" charset="-122"/>
              </a:rPr>
              <a:t> </a:t>
            </a:r>
            <a:r>
              <a:rPr lang="zh-CN" altLang="en-US" sz="2800" b="1" dirty="0">
                <a:solidFill>
                  <a:schemeClr val="tx2"/>
                </a:solidFill>
                <a:ea typeface="宋体" panose="02010600030101010101" pitchFamily="2" charset="-122"/>
              </a:rPr>
              <a:t>包括</a:t>
            </a:r>
            <a:r>
              <a:rPr lang="zh-CN" altLang="en-US" sz="2800" b="1" dirty="0">
                <a:ea typeface="宋体" panose="02010600030101010101" pitchFamily="2" charset="-122"/>
              </a:rPr>
              <a:t>一个基站</a:t>
            </a:r>
            <a:r>
              <a:rPr lang="zh-CN" altLang="en-US" sz="2800" b="1" dirty="0">
                <a:solidFill>
                  <a:schemeClr val="tx2"/>
                </a:solidFill>
                <a:ea typeface="宋体" panose="02010600030101010101" pitchFamily="2" charset="-122"/>
              </a:rPr>
              <a:t>和</a:t>
            </a:r>
            <a:r>
              <a:rPr lang="zh-CN" altLang="en-US" sz="2800" b="1" dirty="0">
                <a:ea typeface="宋体" panose="02010600030101010101" pitchFamily="2" charset="-122"/>
              </a:rPr>
              <a:t>若干个移动站</a:t>
            </a:r>
            <a:r>
              <a:rPr lang="zh-CN" altLang="en-US" sz="2800" b="1" dirty="0" smtClean="0">
                <a:solidFill>
                  <a:schemeClr val="tx2"/>
                </a:solidFill>
                <a:ea typeface="宋体" panose="02010600030101010101" pitchFamily="2" charset="-122"/>
              </a:rPr>
              <a:t>，所有</a:t>
            </a:r>
            <a:r>
              <a:rPr lang="zh-CN" altLang="en-US" sz="2800" b="1" dirty="0">
                <a:solidFill>
                  <a:schemeClr val="tx2"/>
                </a:solidFill>
                <a:ea typeface="宋体" panose="02010600030101010101" pitchFamily="2" charset="-122"/>
              </a:rPr>
              <a:t>的</a:t>
            </a:r>
            <a:r>
              <a:rPr lang="zh-CN" altLang="en-US" sz="2800" b="1" dirty="0" smtClean="0">
                <a:solidFill>
                  <a:schemeClr val="tx2"/>
                </a:solidFill>
                <a:ea typeface="宋体" panose="02010600030101010101" pitchFamily="2" charset="-122"/>
              </a:rPr>
              <a:t>站无论是在</a:t>
            </a:r>
            <a:r>
              <a:rPr lang="zh-CN" altLang="en-US" sz="2800" b="1" dirty="0">
                <a:solidFill>
                  <a:schemeClr val="tx2"/>
                </a:solidFill>
                <a:ea typeface="宋体" panose="02010600030101010101" pitchFamily="2" charset="-122"/>
              </a:rPr>
              <a:t>本 </a:t>
            </a:r>
            <a:r>
              <a:rPr lang="en-US" altLang="zh-CN" sz="2800" b="1" dirty="0">
                <a:solidFill>
                  <a:schemeClr val="tx2"/>
                </a:solidFill>
                <a:ea typeface="宋体" panose="02010600030101010101" pitchFamily="2" charset="-122"/>
              </a:rPr>
              <a:t>BSS </a:t>
            </a:r>
            <a:r>
              <a:rPr lang="zh-CN" altLang="en-US" sz="2800" b="1" dirty="0" smtClean="0">
                <a:solidFill>
                  <a:schemeClr val="tx2"/>
                </a:solidFill>
                <a:ea typeface="宋体" panose="02010600030101010101" pitchFamily="2" charset="-122"/>
              </a:rPr>
              <a:t>以内相互通信</a:t>
            </a:r>
            <a:r>
              <a:rPr lang="zh-CN" altLang="en-US" sz="2800" b="1" dirty="0" smtClean="0">
                <a:solidFill>
                  <a:schemeClr val="tx2"/>
                </a:solidFill>
                <a:ea typeface="宋体" panose="02010600030101010101" pitchFamily="2" charset="-122"/>
              </a:rPr>
              <a:t>，还是</a:t>
            </a:r>
            <a:r>
              <a:rPr lang="zh-CN" altLang="en-US" sz="2800" b="1" dirty="0" smtClean="0">
                <a:solidFill>
                  <a:schemeClr val="tx2"/>
                </a:solidFill>
                <a:ea typeface="宋体" panose="02010600030101010101" pitchFamily="2" charset="-122"/>
              </a:rPr>
              <a:t>和</a:t>
            </a:r>
            <a:r>
              <a:rPr lang="zh-CN" altLang="en-US" sz="2800" b="1" dirty="0">
                <a:solidFill>
                  <a:schemeClr val="tx2"/>
                </a:solidFill>
                <a:ea typeface="宋体" panose="02010600030101010101" pitchFamily="2" charset="-122"/>
              </a:rPr>
              <a:t>本 </a:t>
            </a:r>
            <a:r>
              <a:rPr lang="en-US" altLang="zh-CN" sz="2800" b="1" dirty="0">
                <a:solidFill>
                  <a:schemeClr val="tx2"/>
                </a:solidFill>
                <a:ea typeface="宋体" panose="02010600030101010101" pitchFamily="2" charset="-122"/>
              </a:rPr>
              <a:t>BSS </a:t>
            </a:r>
            <a:r>
              <a:rPr lang="zh-CN" altLang="en-US" sz="2800" b="1" dirty="0">
                <a:solidFill>
                  <a:schemeClr val="tx2"/>
                </a:solidFill>
                <a:ea typeface="宋体" panose="02010600030101010101" pitchFamily="2" charset="-122"/>
              </a:rPr>
              <a:t>以外的站通信时 </a:t>
            </a:r>
            <a:r>
              <a:rPr lang="zh-CN" altLang="en-US" sz="2800" b="1" dirty="0" smtClean="0">
                <a:solidFill>
                  <a:schemeClr val="tx2"/>
                </a:solidFill>
                <a:ea typeface="宋体" panose="02010600030101010101" pitchFamily="2" charset="-122"/>
              </a:rPr>
              <a:t>，都</a:t>
            </a:r>
            <a:r>
              <a:rPr lang="zh-CN" altLang="en-US" sz="2800" b="1" dirty="0">
                <a:solidFill>
                  <a:schemeClr val="tx2"/>
                </a:solidFill>
                <a:ea typeface="宋体" panose="02010600030101010101" pitchFamily="2" charset="-122"/>
              </a:rPr>
              <a:t>要通过本 </a:t>
            </a:r>
            <a:r>
              <a:rPr lang="en-US" altLang="zh-CN" sz="2800" b="1" dirty="0">
                <a:solidFill>
                  <a:schemeClr val="tx2"/>
                </a:solidFill>
                <a:ea typeface="宋体" panose="02010600030101010101" pitchFamily="2" charset="-122"/>
              </a:rPr>
              <a:t>BSS </a:t>
            </a:r>
            <a:r>
              <a:rPr lang="zh-CN" altLang="en-US" sz="2800" b="1" dirty="0">
                <a:solidFill>
                  <a:schemeClr val="tx2"/>
                </a:solidFill>
                <a:ea typeface="宋体" panose="02010600030101010101" pitchFamily="2" charset="-122"/>
              </a:rPr>
              <a:t>的基站。 </a:t>
            </a:r>
          </a:p>
        </p:txBody>
      </p:sp>
      <p:grpSp>
        <p:nvGrpSpPr>
          <p:cNvPr id="2375682" name="组合 15"/>
          <p:cNvGrpSpPr>
            <a:grpSpLocks/>
          </p:cNvGrpSpPr>
          <p:nvPr/>
        </p:nvGrpSpPr>
        <p:grpSpPr bwMode="auto">
          <a:xfrm>
            <a:off x="344488" y="2298700"/>
            <a:ext cx="9504362" cy="4010025"/>
            <a:chOff x="344487" y="1484784"/>
            <a:chExt cx="9505057" cy="4009836"/>
          </a:xfrm>
        </p:grpSpPr>
        <p:sp>
          <p:nvSpPr>
            <p:cNvPr id="2375683" name="AutoShape 519"/>
            <p:cNvSpPr>
              <a:spLocks noChangeArrowheads="1"/>
            </p:cNvSpPr>
            <p:nvPr/>
          </p:nvSpPr>
          <p:spPr bwMode="auto">
            <a:xfrm>
              <a:off x="344487" y="2403046"/>
              <a:ext cx="9321717" cy="3091574"/>
            </a:xfrm>
            <a:prstGeom prst="roundRect">
              <a:avLst>
                <a:gd name="adj" fmla="val 13255"/>
              </a:avLst>
            </a:prstGeom>
            <a:solidFill>
              <a:srgbClr val="FFFF66"/>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684" name="Oval 19"/>
            <p:cNvSpPr>
              <a:spLocks noChangeArrowheads="1"/>
            </p:cNvSpPr>
            <p:nvPr/>
          </p:nvSpPr>
          <p:spPr bwMode="auto">
            <a:xfrm>
              <a:off x="582272" y="2921003"/>
              <a:ext cx="4685842" cy="2325636"/>
            </a:xfrm>
            <a:prstGeom prst="ellipse">
              <a:avLst/>
            </a:prstGeom>
            <a:solidFill>
              <a:srgbClr val="66FF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pic>
          <p:nvPicPr>
            <p:cNvPr id="2375685" name="Picture 222"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4704" y="2605955"/>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5686" name="Oval 21"/>
            <p:cNvSpPr>
              <a:spLocks noChangeArrowheads="1"/>
            </p:cNvSpPr>
            <p:nvPr/>
          </p:nvSpPr>
          <p:spPr bwMode="auto">
            <a:xfrm>
              <a:off x="5127036" y="2943364"/>
              <a:ext cx="4362468" cy="2303275"/>
            </a:xfrm>
            <a:prstGeom prst="ellipse">
              <a:avLst/>
            </a:prstGeom>
            <a:solidFill>
              <a:srgbClr val="FF99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grpSp>
          <p:nvGrpSpPr>
            <p:cNvPr id="2375687" name="Group 425"/>
            <p:cNvGrpSpPr>
              <a:grpSpLocks/>
            </p:cNvGrpSpPr>
            <p:nvPr/>
          </p:nvGrpSpPr>
          <p:grpSpPr bwMode="auto">
            <a:xfrm>
              <a:off x="941756" y="3721205"/>
              <a:ext cx="710422" cy="589759"/>
              <a:chOff x="762" y="2391"/>
              <a:chExt cx="423" cy="312"/>
            </a:xfrm>
          </p:grpSpPr>
          <p:grpSp>
            <p:nvGrpSpPr>
              <p:cNvPr id="2375688" name="Group 316"/>
              <p:cNvGrpSpPr>
                <a:grpSpLocks/>
              </p:cNvGrpSpPr>
              <p:nvPr/>
            </p:nvGrpSpPr>
            <p:grpSpPr bwMode="auto">
              <a:xfrm>
                <a:off x="867" y="2432"/>
                <a:ext cx="318" cy="271"/>
                <a:chOff x="657" y="1570"/>
                <a:chExt cx="318" cy="311"/>
              </a:xfrm>
            </p:grpSpPr>
            <p:sp>
              <p:nvSpPr>
                <p:cNvPr id="2375689" name="Line 31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690" name="Picture 31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691" name="Group 424"/>
              <p:cNvGrpSpPr>
                <a:grpSpLocks/>
              </p:cNvGrpSpPr>
              <p:nvPr/>
            </p:nvGrpSpPr>
            <p:grpSpPr bwMode="auto">
              <a:xfrm>
                <a:off x="762" y="2391"/>
                <a:ext cx="306" cy="90"/>
                <a:chOff x="748" y="2251"/>
                <a:chExt cx="306" cy="90"/>
              </a:xfrm>
            </p:grpSpPr>
            <p:sp>
              <p:nvSpPr>
                <p:cNvPr id="2375692" name="AutoShape 31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693" name="AutoShape 31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694" name="AutoShape 31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695" name="AutoShape 32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696" name="AutoShape 32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697" name="AutoShape 32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75698" name="Text Box 45"/>
            <p:cNvSpPr txBox="1">
              <a:spLocks noChangeArrowheads="1"/>
            </p:cNvSpPr>
            <p:nvPr/>
          </p:nvSpPr>
          <p:spPr bwMode="auto">
            <a:xfrm>
              <a:off x="7282725" y="3230770"/>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75699" name="Text Box 46"/>
            <p:cNvSpPr txBox="1">
              <a:spLocks noChangeArrowheads="1"/>
            </p:cNvSpPr>
            <p:nvPr/>
          </p:nvSpPr>
          <p:spPr bwMode="auto">
            <a:xfrm>
              <a:off x="582272" y="2408739"/>
              <a:ext cx="1746814" cy="7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扩展的服务集</a:t>
              </a:r>
            </a:p>
            <a:p>
              <a:pPr algn="ctr"/>
              <a:r>
                <a:rPr lang="en-US" altLang="zh-CN" sz="2000" b="1">
                  <a:solidFill>
                    <a:srgbClr val="000099"/>
                  </a:solidFill>
                  <a:ea typeface="宋体" panose="02010600030101010101" pitchFamily="2" charset="-122"/>
                </a:rPr>
                <a:t>ESS</a:t>
              </a:r>
            </a:p>
          </p:txBody>
        </p:sp>
        <p:sp>
          <p:nvSpPr>
            <p:cNvPr id="2375700" name="Text Box 175"/>
            <p:cNvSpPr txBox="1">
              <a:spLocks noChangeArrowheads="1"/>
            </p:cNvSpPr>
            <p:nvPr/>
          </p:nvSpPr>
          <p:spPr bwMode="auto">
            <a:xfrm>
              <a:off x="776536" y="383462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sp>
          <p:nvSpPr>
            <p:cNvPr id="2375701" name="Text Box 176"/>
            <p:cNvSpPr txBox="1">
              <a:spLocks noChangeArrowheads="1"/>
            </p:cNvSpPr>
            <p:nvPr/>
          </p:nvSpPr>
          <p:spPr bwMode="auto">
            <a:xfrm>
              <a:off x="8450741" y="409169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B</a:t>
              </a:r>
            </a:p>
          </p:txBody>
        </p:sp>
        <p:sp>
          <p:nvSpPr>
            <p:cNvPr id="2375702" name="Line 177"/>
            <p:cNvSpPr>
              <a:spLocks noChangeShapeType="1"/>
            </p:cNvSpPr>
            <p:nvPr/>
          </p:nvSpPr>
          <p:spPr bwMode="auto">
            <a:xfrm>
              <a:off x="1398576" y="4150292"/>
              <a:ext cx="5330691" cy="599211"/>
            </a:xfrm>
            <a:prstGeom prst="line">
              <a:avLst/>
            </a:prstGeom>
            <a:noFill/>
            <a:ln w="76200">
              <a:solidFill>
                <a:srgbClr val="0000FF"/>
              </a:solidFill>
              <a:prstDash val="sysDot"/>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03" name="AutoShape 180"/>
            <p:cNvSpPr>
              <a:spLocks noChangeArrowheads="1"/>
            </p:cNvSpPr>
            <p:nvPr/>
          </p:nvSpPr>
          <p:spPr bwMode="auto">
            <a:xfrm>
              <a:off x="4676934" y="4893162"/>
              <a:ext cx="713783" cy="457442"/>
            </a:xfrm>
            <a:prstGeom prst="wedgeRoundRectCallout">
              <a:avLst>
                <a:gd name="adj1" fmla="val 131898"/>
                <a:gd name="adj2" fmla="val -108287"/>
                <a:gd name="adj3" fmla="val 16667"/>
              </a:avLst>
            </a:prstGeom>
            <a:solidFill>
              <a:srgbClr val="00FF99"/>
            </a:solidFill>
            <a:ln w="9525">
              <a:solidFill>
                <a:schemeClr val="tx1"/>
              </a:solidFill>
              <a:miter lim="800000"/>
              <a:headEnd/>
              <a:tailEnd/>
            </a:ln>
            <a:effectLst>
              <a:outerShdw dist="28398" dir="3806097" algn="ctr" rotWithShape="0">
                <a:schemeClr val="bg2"/>
              </a:outerShdw>
            </a:effectLst>
          </p:spPr>
          <p:txBody>
            <a:bodyPr/>
            <a:lstStyle/>
            <a:p>
              <a:pPr algn="ctr" eaLnBrk="0" hangingPunct="0"/>
              <a:endParaRPr lang="zh-CN" altLang="zh-CN" sz="2000" b="1">
                <a:solidFill>
                  <a:srgbClr val="000099"/>
                </a:solidFill>
                <a:ea typeface="宋体" panose="02010600030101010101" pitchFamily="2" charset="-122"/>
              </a:endParaRPr>
            </a:p>
          </p:txBody>
        </p:sp>
        <p:sp>
          <p:nvSpPr>
            <p:cNvPr id="2375704" name="Text Box 178"/>
            <p:cNvSpPr txBox="1">
              <a:spLocks noChangeArrowheads="1"/>
            </p:cNvSpPr>
            <p:nvPr/>
          </p:nvSpPr>
          <p:spPr bwMode="auto">
            <a:xfrm>
              <a:off x="4664968" y="4908816"/>
              <a:ext cx="706351"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漫游</a:t>
              </a:r>
            </a:p>
          </p:txBody>
        </p:sp>
        <p:sp>
          <p:nvSpPr>
            <p:cNvPr id="2375705" name="Line 187"/>
            <p:cNvSpPr>
              <a:spLocks noChangeShapeType="1"/>
            </p:cNvSpPr>
            <p:nvPr/>
          </p:nvSpPr>
          <p:spPr bwMode="auto">
            <a:xfrm flipV="1">
              <a:off x="2844614" y="2029356"/>
              <a:ext cx="5789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06" name="Text Box 50"/>
            <p:cNvSpPr txBox="1">
              <a:spLocks noChangeArrowheads="1"/>
            </p:cNvSpPr>
            <p:nvPr/>
          </p:nvSpPr>
          <p:spPr bwMode="auto">
            <a:xfrm>
              <a:off x="3607101" y="2520893"/>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1</a:t>
              </a:r>
            </a:p>
          </p:txBody>
        </p:sp>
        <p:sp>
          <p:nvSpPr>
            <p:cNvPr id="2375707" name="Freeform 288"/>
            <p:cNvSpPr>
              <a:spLocks noChangeArrowheads="1"/>
            </p:cNvSpPr>
            <p:nvPr/>
          </p:nvSpPr>
          <p:spPr bwMode="auto">
            <a:xfrm>
              <a:off x="2846294" y="2348880"/>
              <a:ext cx="214974" cy="357257"/>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5708" name="Freeform 291"/>
            <p:cNvSpPr>
              <a:spLocks noChangeArrowheads="1"/>
            </p:cNvSpPr>
            <p:nvPr/>
          </p:nvSpPr>
          <p:spPr bwMode="auto">
            <a:xfrm>
              <a:off x="3607101"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5709" name="Freeform 293"/>
            <p:cNvSpPr>
              <a:spLocks noChangeArrowheads="1"/>
            </p:cNvSpPr>
            <p:nvPr/>
          </p:nvSpPr>
          <p:spPr bwMode="auto">
            <a:xfrm>
              <a:off x="2846294" y="2764736"/>
              <a:ext cx="214974" cy="357257"/>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5710" name="Freeform 294"/>
            <p:cNvSpPr>
              <a:spLocks noChangeArrowheads="1"/>
            </p:cNvSpPr>
            <p:nvPr/>
          </p:nvSpPr>
          <p:spPr bwMode="auto">
            <a:xfrm>
              <a:off x="3607101"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graphicFrame>
          <p:nvGraphicFramePr>
            <p:cNvPr id="2375711" name="Object 295"/>
            <p:cNvGraphicFramePr>
              <a:graphicFrameLocks noChangeAspect="1"/>
            </p:cNvGraphicFramePr>
            <p:nvPr/>
          </p:nvGraphicFramePr>
          <p:xfrm>
            <a:off x="8405396" y="1484784"/>
            <a:ext cx="1444148" cy="847341"/>
          </p:xfrm>
          <a:graphic>
            <a:graphicData uri="http://schemas.openxmlformats.org/presentationml/2006/ole">
              <mc:AlternateContent xmlns:mc="http://schemas.openxmlformats.org/markup-compatibility/2006">
                <mc:Choice xmlns:v="urn:schemas-microsoft-com:vml" Requires="v">
                  <p:oleObj spid="_x0000_s2375884" r:id="rId6" imgW="1687068" imgH="964692" progId="Visio.Drawing.6">
                    <p:embed/>
                  </p:oleObj>
                </mc:Choice>
                <mc:Fallback>
                  <p:oleObj r:id="rId6" imgW="1687068" imgH="964692" progId="Visio.Drawing.6">
                    <p:embed/>
                    <p:pic>
                      <p:nvPicPr>
                        <p:cNvPr id="0" name="Object 29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05396" y="1484784"/>
                          <a:ext cx="1444148" cy="84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375712" name="Picture 297"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9704" y="2692906"/>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5713" name="Text Box 300"/>
            <p:cNvSpPr txBox="1">
              <a:spLocks noChangeArrowheads="1"/>
            </p:cNvSpPr>
            <p:nvPr/>
          </p:nvSpPr>
          <p:spPr bwMode="auto">
            <a:xfrm>
              <a:off x="6873704" y="2542292"/>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2</a:t>
              </a:r>
            </a:p>
          </p:txBody>
        </p:sp>
        <p:sp>
          <p:nvSpPr>
            <p:cNvPr id="2375714" name="Line 49"/>
            <p:cNvSpPr>
              <a:spLocks noChangeShapeType="1"/>
            </p:cNvSpPr>
            <p:nvPr/>
          </p:nvSpPr>
          <p:spPr bwMode="auto">
            <a:xfrm flipV="1">
              <a:off x="6578114" y="2029356"/>
              <a:ext cx="0" cy="10349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15" name="Text Box 190"/>
            <p:cNvSpPr txBox="1">
              <a:spLocks noChangeArrowheads="1"/>
            </p:cNvSpPr>
            <p:nvPr/>
          </p:nvSpPr>
          <p:spPr bwMode="auto">
            <a:xfrm>
              <a:off x="8553400" y="1671191"/>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宋体" panose="02010600030101010101" pitchFamily="2" charset="-122"/>
                </a:rPr>
                <a:t>互联网</a:t>
              </a:r>
            </a:p>
          </p:txBody>
        </p:sp>
        <p:sp>
          <p:nvSpPr>
            <p:cNvPr id="2375716" name="Freeform 301"/>
            <p:cNvSpPr>
              <a:spLocks noChangeArrowheads="1"/>
            </p:cNvSpPr>
            <p:nvPr/>
          </p:nvSpPr>
          <p:spPr bwMode="auto">
            <a:xfrm>
              <a:off x="6121294" y="2433941"/>
              <a:ext cx="214974" cy="357259"/>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5717" name="Freeform 302"/>
            <p:cNvSpPr>
              <a:spLocks noChangeArrowheads="1"/>
            </p:cNvSpPr>
            <p:nvPr/>
          </p:nvSpPr>
          <p:spPr bwMode="auto">
            <a:xfrm>
              <a:off x="6819960"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5718" name="Freeform 303"/>
            <p:cNvSpPr>
              <a:spLocks noChangeArrowheads="1"/>
            </p:cNvSpPr>
            <p:nvPr/>
          </p:nvSpPr>
          <p:spPr bwMode="auto">
            <a:xfrm>
              <a:off x="6121294" y="2849797"/>
              <a:ext cx="214974" cy="357259"/>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5719" name="Freeform 304"/>
            <p:cNvSpPr>
              <a:spLocks noChangeArrowheads="1"/>
            </p:cNvSpPr>
            <p:nvPr/>
          </p:nvSpPr>
          <p:spPr bwMode="auto">
            <a:xfrm>
              <a:off x="6819960"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5720" name="Text Box 305"/>
            <p:cNvSpPr txBox="1">
              <a:spLocks noChangeArrowheads="1"/>
            </p:cNvSpPr>
            <p:nvPr/>
          </p:nvSpPr>
          <p:spPr bwMode="auto">
            <a:xfrm>
              <a:off x="4651742" y="1628622"/>
              <a:ext cx="1657955"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分配系统 </a:t>
              </a:r>
              <a:r>
                <a:rPr lang="en-US" altLang="zh-CN" sz="2000" b="1">
                  <a:solidFill>
                    <a:srgbClr val="000099"/>
                  </a:solidFill>
                  <a:ea typeface="宋体" panose="02010600030101010101" pitchFamily="2" charset="-122"/>
                </a:rPr>
                <a:t>DS</a:t>
              </a:r>
            </a:p>
          </p:txBody>
        </p:sp>
        <p:pic>
          <p:nvPicPr>
            <p:cNvPr id="2375721" name="Picture 306"/>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91755" y="1870574"/>
              <a:ext cx="634846" cy="325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5722" name="Line 403"/>
            <p:cNvSpPr>
              <a:spLocks noChangeShapeType="1"/>
            </p:cNvSpPr>
            <p:nvPr/>
          </p:nvSpPr>
          <p:spPr bwMode="auto">
            <a:xfrm flipV="1">
              <a:off x="1474153" y="3292116"/>
              <a:ext cx="1751705" cy="68616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23" name="Line 404"/>
            <p:cNvSpPr>
              <a:spLocks noChangeShapeType="1"/>
            </p:cNvSpPr>
            <p:nvPr/>
          </p:nvSpPr>
          <p:spPr bwMode="auto">
            <a:xfrm flipV="1">
              <a:off x="2463371" y="3292116"/>
              <a:ext cx="915320" cy="1372325"/>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24" name="Line 405"/>
            <p:cNvSpPr>
              <a:spLocks noChangeShapeType="1"/>
            </p:cNvSpPr>
            <p:nvPr/>
          </p:nvSpPr>
          <p:spPr bwMode="auto">
            <a:xfrm flipV="1">
              <a:off x="5740050" y="3207056"/>
              <a:ext cx="68523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25" name="Line 406"/>
            <p:cNvSpPr>
              <a:spLocks noChangeShapeType="1"/>
            </p:cNvSpPr>
            <p:nvPr/>
          </p:nvSpPr>
          <p:spPr bwMode="auto">
            <a:xfrm>
              <a:off x="3607101" y="3207056"/>
              <a:ext cx="114205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26" name="Line 407"/>
            <p:cNvSpPr>
              <a:spLocks noChangeShapeType="1"/>
            </p:cNvSpPr>
            <p:nvPr/>
          </p:nvSpPr>
          <p:spPr bwMode="auto">
            <a:xfrm flipV="1">
              <a:off x="3454268" y="3292116"/>
              <a:ext cx="77256" cy="154433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27" name="Line 408"/>
            <p:cNvSpPr>
              <a:spLocks noChangeShapeType="1"/>
            </p:cNvSpPr>
            <p:nvPr/>
          </p:nvSpPr>
          <p:spPr bwMode="auto">
            <a:xfrm flipV="1">
              <a:off x="6272447" y="3292116"/>
              <a:ext cx="305667" cy="1200312"/>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28" name="Line 409"/>
            <p:cNvSpPr>
              <a:spLocks noChangeShapeType="1"/>
            </p:cNvSpPr>
            <p:nvPr/>
          </p:nvSpPr>
          <p:spPr bwMode="auto">
            <a:xfrm flipH="1" flipV="1">
              <a:off x="6883781" y="3292116"/>
              <a:ext cx="1294884" cy="102829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29" name="Line 410"/>
            <p:cNvSpPr>
              <a:spLocks noChangeShapeType="1"/>
            </p:cNvSpPr>
            <p:nvPr/>
          </p:nvSpPr>
          <p:spPr bwMode="auto">
            <a:xfrm flipH="1" flipV="1">
              <a:off x="6729268" y="3292116"/>
              <a:ext cx="686910" cy="1115250"/>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30" name="Line 422"/>
            <p:cNvSpPr>
              <a:spLocks noChangeShapeType="1"/>
            </p:cNvSpPr>
            <p:nvPr/>
          </p:nvSpPr>
          <p:spPr bwMode="auto">
            <a:xfrm flipH="1" flipV="1">
              <a:off x="6653690" y="3292116"/>
              <a:ext cx="152834" cy="128537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31" name="Text Box 423"/>
            <p:cNvSpPr txBox="1">
              <a:spLocks noChangeArrowheads="1"/>
            </p:cNvSpPr>
            <p:nvPr/>
          </p:nvSpPr>
          <p:spPr bwMode="auto">
            <a:xfrm>
              <a:off x="7105473" y="4577489"/>
              <a:ext cx="4315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grpSp>
          <p:nvGrpSpPr>
            <p:cNvPr id="2375732" name="Group 426"/>
            <p:cNvGrpSpPr>
              <a:grpSpLocks/>
            </p:cNvGrpSpPr>
            <p:nvPr/>
          </p:nvGrpSpPr>
          <p:grpSpPr bwMode="auto">
            <a:xfrm>
              <a:off x="1930973" y="4331756"/>
              <a:ext cx="710423" cy="589759"/>
              <a:chOff x="762" y="2391"/>
              <a:chExt cx="423" cy="312"/>
            </a:xfrm>
          </p:grpSpPr>
          <p:grpSp>
            <p:nvGrpSpPr>
              <p:cNvPr id="2375733" name="Group 427"/>
              <p:cNvGrpSpPr>
                <a:grpSpLocks/>
              </p:cNvGrpSpPr>
              <p:nvPr/>
            </p:nvGrpSpPr>
            <p:grpSpPr bwMode="auto">
              <a:xfrm>
                <a:off x="867" y="2432"/>
                <a:ext cx="318" cy="271"/>
                <a:chOff x="657" y="1570"/>
                <a:chExt cx="318" cy="311"/>
              </a:xfrm>
            </p:grpSpPr>
            <p:sp>
              <p:nvSpPr>
                <p:cNvPr id="2375734" name="Line 42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735" name="Picture 429"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736" name="Group 430"/>
              <p:cNvGrpSpPr>
                <a:grpSpLocks/>
              </p:cNvGrpSpPr>
              <p:nvPr/>
            </p:nvGrpSpPr>
            <p:grpSpPr bwMode="auto">
              <a:xfrm>
                <a:off x="762" y="2391"/>
                <a:ext cx="306" cy="90"/>
                <a:chOff x="748" y="2251"/>
                <a:chExt cx="306" cy="90"/>
              </a:xfrm>
            </p:grpSpPr>
            <p:sp>
              <p:nvSpPr>
                <p:cNvPr id="2375737" name="AutoShape 43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38" name="AutoShape 43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39" name="AutoShape 43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40" name="AutoShape 43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41" name="AutoShape 43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42" name="AutoShape 43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5743" name="Group 437"/>
            <p:cNvGrpSpPr>
              <a:grpSpLocks/>
            </p:cNvGrpSpPr>
            <p:nvPr/>
          </p:nvGrpSpPr>
          <p:grpSpPr bwMode="auto">
            <a:xfrm>
              <a:off x="5283229" y="3207056"/>
              <a:ext cx="710423" cy="589759"/>
              <a:chOff x="762" y="2391"/>
              <a:chExt cx="423" cy="312"/>
            </a:xfrm>
          </p:grpSpPr>
          <p:grpSp>
            <p:nvGrpSpPr>
              <p:cNvPr id="2375744" name="Group 438"/>
              <p:cNvGrpSpPr>
                <a:grpSpLocks/>
              </p:cNvGrpSpPr>
              <p:nvPr/>
            </p:nvGrpSpPr>
            <p:grpSpPr bwMode="auto">
              <a:xfrm>
                <a:off x="867" y="2432"/>
                <a:ext cx="318" cy="271"/>
                <a:chOff x="657" y="1570"/>
                <a:chExt cx="318" cy="311"/>
              </a:xfrm>
            </p:grpSpPr>
            <p:sp>
              <p:nvSpPr>
                <p:cNvPr id="2375745" name="Line 439"/>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746" name="Picture 440"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747" name="Group 441"/>
              <p:cNvGrpSpPr>
                <a:grpSpLocks/>
              </p:cNvGrpSpPr>
              <p:nvPr/>
            </p:nvGrpSpPr>
            <p:grpSpPr bwMode="auto">
              <a:xfrm>
                <a:off x="762" y="2391"/>
                <a:ext cx="306" cy="90"/>
                <a:chOff x="748" y="2251"/>
                <a:chExt cx="306" cy="90"/>
              </a:xfrm>
            </p:grpSpPr>
            <p:sp>
              <p:nvSpPr>
                <p:cNvPr id="2375748" name="AutoShape 442"/>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49" name="AutoShape 443"/>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50" name="AutoShape 444"/>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51" name="AutoShape 445"/>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52" name="AutoShape 446"/>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53" name="AutoShape 447"/>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5754" name="Group 448"/>
            <p:cNvGrpSpPr>
              <a:grpSpLocks/>
            </p:cNvGrpSpPr>
            <p:nvPr/>
          </p:nvGrpSpPr>
          <p:grpSpPr bwMode="auto">
            <a:xfrm>
              <a:off x="2921871" y="4407367"/>
              <a:ext cx="710423" cy="589759"/>
              <a:chOff x="762" y="2391"/>
              <a:chExt cx="423" cy="312"/>
            </a:xfrm>
          </p:grpSpPr>
          <p:grpSp>
            <p:nvGrpSpPr>
              <p:cNvPr id="2375755" name="Group 449"/>
              <p:cNvGrpSpPr>
                <a:grpSpLocks/>
              </p:cNvGrpSpPr>
              <p:nvPr/>
            </p:nvGrpSpPr>
            <p:grpSpPr bwMode="auto">
              <a:xfrm>
                <a:off x="867" y="2432"/>
                <a:ext cx="318" cy="271"/>
                <a:chOff x="657" y="1570"/>
                <a:chExt cx="318" cy="311"/>
              </a:xfrm>
            </p:grpSpPr>
            <p:sp>
              <p:nvSpPr>
                <p:cNvPr id="2375756" name="Line 450"/>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757" name="Picture 451"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758" name="Group 452"/>
              <p:cNvGrpSpPr>
                <a:grpSpLocks/>
              </p:cNvGrpSpPr>
              <p:nvPr/>
            </p:nvGrpSpPr>
            <p:grpSpPr bwMode="auto">
              <a:xfrm>
                <a:off x="762" y="2391"/>
                <a:ext cx="306" cy="90"/>
                <a:chOff x="748" y="2251"/>
                <a:chExt cx="306" cy="90"/>
              </a:xfrm>
            </p:grpSpPr>
            <p:sp>
              <p:nvSpPr>
                <p:cNvPr id="2375759" name="AutoShape 453"/>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60" name="AutoShape 454"/>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61" name="AutoShape 455"/>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62" name="AutoShape 456"/>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63" name="AutoShape 457"/>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64" name="AutoShape 458"/>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5765" name="Group 459"/>
            <p:cNvGrpSpPr>
              <a:grpSpLocks/>
            </p:cNvGrpSpPr>
            <p:nvPr/>
          </p:nvGrpSpPr>
          <p:grpSpPr bwMode="auto">
            <a:xfrm>
              <a:off x="4520742" y="3292116"/>
              <a:ext cx="710423" cy="589759"/>
              <a:chOff x="762" y="2391"/>
              <a:chExt cx="423" cy="312"/>
            </a:xfrm>
          </p:grpSpPr>
          <p:grpSp>
            <p:nvGrpSpPr>
              <p:cNvPr id="2375766" name="Group 460"/>
              <p:cNvGrpSpPr>
                <a:grpSpLocks/>
              </p:cNvGrpSpPr>
              <p:nvPr/>
            </p:nvGrpSpPr>
            <p:grpSpPr bwMode="auto">
              <a:xfrm>
                <a:off x="867" y="2432"/>
                <a:ext cx="318" cy="271"/>
                <a:chOff x="657" y="1570"/>
                <a:chExt cx="318" cy="311"/>
              </a:xfrm>
            </p:grpSpPr>
            <p:sp>
              <p:nvSpPr>
                <p:cNvPr id="2375767" name="Line 461"/>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768" name="Picture 462"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769" name="Group 463"/>
              <p:cNvGrpSpPr>
                <a:grpSpLocks/>
              </p:cNvGrpSpPr>
              <p:nvPr/>
            </p:nvGrpSpPr>
            <p:grpSpPr bwMode="auto">
              <a:xfrm>
                <a:off x="762" y="2391"/>
                <a:ext cx="306" cy="90"/>
                <a:chOff x="748" y="2251"/>
                <a:chExt cx="306" cy="90"/>
              </a:xfrm>
            </p:grpSpPr>
            <p:sp>
              <p:nvSpPr>
                <p:cNvPr id="2375770" name="AutoShape 464"/>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71" name="AutoShape 465"/>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72" name="AutoShape 466"/>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73" name="AutoShape 467"/>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74" name="AutoShape 468"/>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75" name="AutoShape 469"/>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5776" name="Group 470"/>
            <p:cNvGrpSpPr>
              <a:grpSpLocks/>
            </p:cNvGrpSpPr>
            <p:nvPr/>
          </p:nvGrpSpPr>
          <p:grpSpPr bwMode="auto">
            <a:xfrm>
              <a:off x="6653690" y="4492429"/>
              <a:ext cx="710423" cy="589759"/>
              <a:chOff x="762" y="2391"/>
              <a:chExt cx="423" cy="312"/>
            </a:xfrm>
          </p:grpSpPr>
          <p:grpSp>
            <p:nvGrpSpPr>
              <p:cNvPr id="2375777" name="Group 471"/>
              <p:cNvGrpSpPr>
                <a:grpSpLocks/>
              </p:cNvGrpSpPr>
              <p:nvPr/>
            </p:nvGrpSpPr>
            <p:grpSpPr bwMode="auto">
              <a:xfrm>
                <a:off x="867" y="2432"/>
                <a:ext cx="318" cy="271"/>
                <a:chOff x="657" y="1570"/>
                <a:chExt cx="318" cy="311"/>
              </a:xfrm>
            </p:grpSpPr>
            <p:sp>
              <p:nvSpPr>
                <p:cNvPr id="2375778" name="Line 472"/>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779" name="Picture 473"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780" name="Group 474"/>
              <p:cNvGrpSpPr>
                <a:grpSpLocks/>
              </p:cNvGrpSpPr>
              <p:nvPr/>
            </p:nvGrpSpPr>
            <p:grpSpPr bwMode="auto">
              <a:xfrm>
                <a:off x="762" y="2391"/>
                <a:ext cx="306" cy="90"/>
                <a:chOff x="748" y="2251"/>
                <a:chExt cx="306" cy="90"/>
              </a:xfrm>
            </p:grpSpPr>
            <p:sp>
              <p:nvSpPr>
                <p:cNvPr id="2375781" name="AutoShape 475"/>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82" name="AutoShape 476"/>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83" name="AutoShape 477"/>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84" name="AutoShape 478"/>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85" name="AutoShape 479"/>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86" name="AutoShape 480"/>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5787" name="Group 481"/>
            <p:cNvGrpSpPr>
              <a:grpSpLocks/>
            </p:cNvGrpSpPr>
            <p:nvPr/>
          </p:nvGrpSpPr>
          <p:grpSpPr bwMode="auto">
            <a:xfrm>
              <a:off x="5740050" y="3978279"/>
              <a:ext cx="710423" cy="589759"/>
              <a:chOff x="762" y="2391"/>
              <a:chExt cx="423" cy="312"/>
            </a:xfrm>
          </p:grpSpPr>
          <p:grpSp>
            <p:nvGrpSpPr>
              <p:cNvPr id="2375788" name="Group 482"/>
              <p:cNvGrpSpPr>
                <a:grpSpLocks/>
              </p:cNvGrpSpPr>
              <p:nvPr/>
            </p:nvGrpSpPr>
            <p:grpSpPr bwMode="auto">
              <a:xfrm>
                <a:off x="867" y="2432"/>
                <a:ext cx="318" cy="271"/>
                <a:chOff x="657" y="1570"/>
                <a:chExt cx="318" cy="311"/>
              </a:xfrm>
            </p:grpSpPr>
            <p:sp>
              <p:nvSpPr>
                <p:cNvPr id="2375789" name="Line 48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790" name="Picture 484"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791" name="Group 485"/>
              <p:cNvGrpSpPr>
                <a:grpSpLocks/>
              </p:cNvGrpSpPr>
              <p:nvPr/>
            </p:nvGrpSpPr>
            <p:grpSpPr bwMode="auto">
              <a:xfrm>
                <a:off x="762" y="2391"/>
                <a:ext cx="306" cy="90"/>
                <a:chOff x="748" y="2251"/>
                <a:chExt cx="306" cy="90"/>
              </a:xfrm>
            </p:grpSpPr>
            <p:sp>
              <p:nvSpPr>
                <p:cNvPr id="2375792" name="AutoShape 486"/>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93" name="AutoShape 487"/>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94" name="AutoShape 488"/>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95" name="AutoShape 489"/>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96" name="AutoShape 490"/>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97" name="AutoShape 491"/>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5798" name="Group 492"/>
            <p:cNvGrpSpPr>
              <a:grpSpLocks/>
            </p:cNvGrpSpPr>
            <p:nvPr/>
          </p:nvGrpSpPr>
          <p:grpSpPr bwMode="auto">
            <a:xfrm>
              <a:off x="7263345" y="4150292"/>
              <a:ext cx="710422" cy="589759"/>
              <a:chOff x="762" y="2391"/>
              <a:chExt cx="423" cy="312"/>
            </a:xfrm>
          </p:grpSpPr>
          <p:grpSp>
            <p:nvGrpSpPr>
              <p:cNvPr id="2375799" name="Group 493"/>
              <p:cNvGrpSpPr>
                <a:grpSpLocks/>
              </p:cNvGrpSpPr>
              <p:nvPr/>
            </p:nvGrpSpPr>
            <p:grpSpPr bwMode="auto">
              <a:xfrm>
                <a:off x="867" y="2432"/>
                <a:ext cx="318" cy="271"/>
                <a:chOff x="657" y="1570"/>
                <a:chExt cx="318" cy="311"/>
              </a:xfrm>
            </p:grpSpPr>
            <p:sp>
              <p:nvSpPr>
                <p:cNvPr id="2375800" name="Line 494"/>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801" name="Picture 49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802" name="Group 496"/>
              <p:cNvGrpSpPr>
                <a:grpSpLocks/>
              </p:cNvGrpSpPr>
              <p:nvPr/>
            </p:nvGrpSpPr>
            <p:grpSpPr bwMode="auto">
              <a:xfrm>
                <a:off x="762" y="2391"/>
                <a:ext cx="306" cy="90"/>
                <a:chOff x="748" y="2251"/>
                <a:chExt cx="306" cy="90"/>
              </a:xfrm>
            </p:grpSpPr>
            <p:sp>
              <p:nvSpPr>
                <p:cNvPr id="2375803" name="AutoShape 49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04" name="AutoShape 49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05" name="AutoShape 49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06" name="AutoShape 50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07" name="AutoShape 50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08" name="AutoShape 50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5809" name="Group 503"/>
            <p:cNvGrpSpPr>
              <a:grpSpLocks/>
            </p:cNvGrpSpPr>
            <p:nvPr/>
          </p:nvGrpSpPr>
          <p:grpSpPr bwMode="auto">
            <a:xfrm>
              <a:off x="8000639" y="3987730"/>
              <a:ext cx="710423" cy="589759"/>
              <a:chOff x="762" y="2391"/>
              <a:chExt cx="423" cy="312"/>
            </a:xfrm>
          </p:grpSpPr>
          <p:grpSp>
            <p:nvGrpSpPr>
              <p:cNvPr id="2375810" name="Group 504"/>
              <p:cNvGrpSpPr>
                <a:grpSpLocks/>
              </p:cNvGrpSpPr>
              <p:nvPr/>
            </p:nvGrpSpPr>
            <p:grpSpPr bwMode="auto">
              <a:xfrm>
                <a:off x="867" y="2432"/>
                <a:ext cx="318" cy="271"/>
                <a:chOff x="657" y="1570"/>
                <a:chExt cx="318" cy="311"/>
              </a:xfrm>
            </p:grpSpPr>
            <p:sp>
              <p:nvSpPr>
                <p:cNvPr id="2375811" name="Line 505"/>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812" name="Picture 506"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813" name="Group 507"/>
              <p:cNvGrpSpPr>
                <a:grpSpLocks/>
              </p:cNvGrpSpPr>
              <p:nvPr/>
            </p:nvGrpSpPr>
            <p:grpSpPr bwMode="auto">
              <a:xfrm>
                <a:off x="762" y="2391"/>
                <a:ext cx="306" cy="90"/>
                <a:chOff x="748" y="2251"/>
                <a:chExt cx="306" cy="90"/>
              </a:xfrm>
            </p:grpSpPr>
            <p:sp>
              <p:nvSpPr>
                <p:cNvPr id="2375814" name="AutoShape 508"/>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15" name="AutoShape 509"/>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16" name="AutoShape 510"/>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17" name="AutoShape 511"/>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18" name="AutoShape 512"/>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19" name="AutoShape 513"/>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75820" name="Line 517"/>
            <p:cNvSpPr>
              <a:spLocks noChangeShapeType="1"/>
            </p:cNvSpPr>
            <p:nvPr/>
          </p:nvSpPr>
          <p:spPr bwMode="auto">
            <a:xfrm flipH="1">
              <a:off x="1930973" y="1988840"/>
              <a:ext cx="744013" cy="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821" name="Text Box 44"/>
            <p:cNvSpPr txBox="1">
              <a:spLocks noChangeArrowheads="1"/>
            </p:cNvSpPr>
            <p:nvPr/>
          </p:nvSpPr>
          <p:spPr bwMode="auto">
            <a:xfrm>
              <a:off x="1474153" y="3116323"/>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75822" name="Line 48"/>
            <p:cNvSpPr>
              <a:spLocks noChangeShapeType="1"/>
            </p:cNvSpPr>
            <p:nvPr/>
          </p:nvSpPr>
          <p:spPr bwMode="auto">
            <a:xfrm flipH="1">
              <a:off x="3342582" y="2029356"/>
              <a:ext cx="0" cy="8916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23" name="Rectangle 515"/>
            <p:cNvSpPr>
              <a:spLocks noChangeArrowheads="1"/>
            </p:cNvSpPr>
            <p:nvPr/>
          </p:nvSpPr>
          <p:spPr bwMode="auto">
            <a:xfrm>
              <a:off x="2465050" y="1793019"/>
              <a:ext cx="607974" cy="406459"/>
            </a:xfrm>
            <a:prstGeom prst="rect">
              <a:avLst/>
            </a:prstGeom>
            <a:solidFill>
              <a:srgbClr val="66FFFF"/>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宋体" panose="02010600030101010101" pitchFamily="2" charset="-122"/>
                </a:rPr>
                <a:t>门户</a:t>
              </a:r>
              <a:endParaRPr lang="en-US" altLang="zh-CN" sz="2000" b="1">
                <a:solidFill>
                  <a:srgbClr val="000099"/>
                </a:solidFill>
                <a:ea typeface="宋体" panose="02010600030101010101" pitchFamily="2" charset="-122"/>
              </a:endParaRPr>
            </a:p>
          </p:txBody>
        </p:sp>
        <p:sp>
          <p:nvSpPr>
            <p:cNvPr id="2375824" name="Text Box 518"/>
            <p:cNvSpPr txBox="1">
              <a:spLocks noChangeArrowheads="1"/>
            </p:cNvSpPr>
            <p:nvPr/>
          </p:nvSpPr>
          <p:spPr bwMode="auto">
            <a:xfrm>
              <a:off x="488504" y="1628800"/>
              <a:ext cx="1683804"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zh-CN" altLang="en-US" sz="2000" b="1">
                  <a:solidFill>
                    <a:srgbClr val="000099"/>
                  </a:solidFill>
                  <a:ea typeface="宋体" panose="02010600030101010101" pitchFamily="2" charset="-122"/>
                </a:rPr>
                <a:t>至其他 </a:t>
              </a:r>
              <a:r>
                <a:rPr lang="en-US" altLang="zh-CN" sz="2000" b="1">
                  <a:solidFill>
                    <a:srgbClr val="000099"/>
                  </a:solidFill>
                  <a:ea typeface="宋体" panose="02010600030101010101" pitchFamily="2" charset="-122"/>
                </a:rPr>
                <a:t>802.x</a:t>
              </a:r>
            </a:p>
            <a:p>
              <a:pPr algn="ctr">
                <a:lnSpc>
                  <a:spcPct val="85000"/>
                </a:lnSpc>
              </a:pPr>
              <a:r>
                <a:rPr lang="zh-CN" altLang="en-US" sz="2000" b="1">
                  <a:solidFill>
                    <a:srgbClr val="000099"/>
                  </a:solidFill>
                  <a:ea typeface="宋体" panose="02010600030101010101" pitchFamily="2" charset="-122"/>
                </a:rPr>
                <a:t>局域网</a:t>
              </a:r>
            </a:p>
          </p:txBody>
        </p:sp>
      </p:grpSp>
      <p:sp>
        <p:nvSpPr>
          <p:cNvPr id="348175" name="Rectangle 15"/>
          <p:cNvSpPr>
            <a:spLocks noChangeArrowheads="1"/>
          </p:cNvSpPr>
          <p:nvPr/>
        </p:nvSpPr>
        <p:spPr bwMode="auto">
          <a:xfrm>
            <a:off x="1409700" y="3860800"/>
            <a:ext cx="1598613" cy="622300"/>
          </a:xfrm>
          <a:prstGeom prst="rect">
            <a:avLst/>
          </a:prstGeom>
          <a:noFill/>
          <a:ln w="57150">
            <a:solidFill>
              <a:schemeClr val="hlink"/>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348176" name="Rectangle 16"/>
          <p:cNvSpPr>
            <a:spLocks noChangeArrowheads="1"/>
          </p:cNvSpPr>
          <p:nvPr/>
        </p:nvSpPr>
        <p:spPr bwMode="auto">
          <a:xfrm>
            <a:off x="7256463" y="3933825"/>
            <a:ext cx="1600200" cy="622300"/>
          </a:xfrm>
          <a:prstGeom prst="rect">
            <a:avLst/>
          </a:prstGeom>
          <a:noFill/>
          <a:ln w="57150">
            <a:solidFill>
              <a:schemeClr val="hlink"/>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3758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2C894A-64EB-414B-AF0F-1A457340F4F7}" type="slidenum">
              <a:rPr lang="en-US" altLang="zh-CN" smtClean="0"/>
              <a:pPr eaLnBrk="1" hangingPunct="1"/>
              <a:t>7</a:t>
            </a:fld>
            <a:endParaRPr lang="en-US" altLang="zh-CN" smtClean="0"/>
          </a:p>
        </p:txBody>
      </p:sp>
      <p:sp>
        <p:nvSpPr>
          <p:cNvPr id="23758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32" fill="hold" grpId="0" nodeType="afterEffect">
                                  <p:stCondLst>
                                    <p:cond delay="1000"/>
                                  </p:stCondLst>
                                  <p:childTnLst>
                                    <p:set>
                                      <p:cBhvr>
                                        <p:cTn id="6" dur="1" fill="hold">
                                          <p:stCondLst>
                                            <p:cond delay="0"/>
                                          </p:stCondLst>
                                        </p:cTn>
                                        <p:tgtEl>
                                          <p:spTgt spid="348175"/>
                                        </p:tgtEl>
                                        <p:attrNameLst>
                                          <p:attrName>style.visibility</p:attrName>
                                        </p:attrNameLst>
                                      </p:cBhvr>
                                      <p:to>
                                        <p:strVal val="visible"/>
                                      </p:to>
                                    </p:set>
                                    <p:animEffect transition="in" filter="diamond(out)">
                                      <p:cBhvr>
                                        <p:cTn id="7" dur="2000"/>
                                        <p:tgtEl>
                                          <p:spTgt spid="348175"/>
                                        </p:tgtEl>
                                      </p:cBhvr>
                                    </p:animEffect>
                                  </p:childTnLst>
                                </p:cTn>
                              </p:par>
                            </p:childTnLst>
                          </p:cTn>
                        </p:par>
                        <p:par>
                          <p:cTn id="8" fill="hold" nodeType="afterGroup">
                            <p:stCondLst>
                              <p:cond delay="3000"/>
                            </p:stCondLst>
                            <p:childTnLst>
                              <p:par>
                                <p:cTn id="9" presetID="8" presetClass="entr" presetSubtype="32" fill="hold" grpId="0" nodeType="afterEffect">
                                  <p:stCondLst>
                                    <p:cond delay="500"/>
                                  </p:stCondLst>
                                  <p:childTnLst>
                                    <p:set>
                                      <p:cBhvr>
                                        <p:cTn id="10" dur="1" fill="hold">
                                          <p:stCondLst>
                                            <p:cond delay="0"/>
                                          </p:stCondLst>
                                        </p:cTn>
                                        <p:tgtEl>
                                          <p:spTgt spid="348176"/>
                                        </p:tgtEl>
                                        <p:attrNameLst>
                                          <p:attrName>style.visibility</p:attrName>
                                        </p:attrNameLst>
                                      </p:cBhvr>
                                      <p:to>
                                        <p:strVal val="visible"/>
                                      </p:to>
                                    </p:set>
                                    <p:animEffect transition="in" filter="diamond(out)">
                                      <p:cBhvr>
                                        <p:cTn id="11" dur="2000"/>
                                        <p:tgtEl>
                                          <p:spTgt spid="348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75" grpId="0" animBg="1"/>
      <p:bldP spid="34817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7729" name="Text Box 16"/>
          <p:cNvSpPr txBox="1">
            <a:spLocks noChangeArrowheads="1"/>
          </p:cNvSpPr>
          <p:nvPr/>
        </p:nvSpPr>
        <p:spPr bwMode="auto">
          <a:xfrm>
            <a:off x="716254" y="404100"/>
            <a:ext cx="8410575" cy="523220"/>
          </a:xfrm>
          <a:prstGeom prst="rect">
            <a:avLst/>
          </a:prstGeom>
          <a:solidFill>
            <a:srgbClr val="66FF66"/>
          </a:solidFill>
          <a:ln w="9525">
            <a:solidFill>
              <a:srgbClr val="000099"/>
            </a:solidFill>
            <a:round/>
            <a:headEnd/>
            <a:tailEnd/>
          </a:ln>
        </p:spPr>
        <p:txBody>
          <a:bodyPr>
            <a:spAutoFit/>
          </a:bodyPr>
          <a:lstStyle/>
          <a:p>
            <a:pPr algn="ctr" eaLnBrk="0" hangingPunct="0"/>
            <a:r>
              <a:rPr lang="zh-CN" altLang="en-US" sz="2800" b="1" dirty="0">
                <a:solidFill>
                  <a:schemeClr val="tx2"/>
                </a:solidFill>
                <a:ea typeface="宋体" panose="02010600030101010101" pitchFamily="2" charset="-122"/>
              </a:rPr>
              <a:t>基本服务集内的基站叫做</a:t>
            </a:r>
            <a:r>
              <a:rPr lang="zh-CN" altLang="en-US" sz="2800" b="1" u="sng" dirty="0">
                <a:solidFill>
                  <a:srgbClr val="C00000"/>
                </a:solidFill>
                <a:ea typeface="宋体" panose="02010600030101010101" pitchFamily="2" charset="-122"/>
              </a:rPr>
              <a:t>接入点 </a:t>
            </a:r>
            <a:r>
              <a:rPr lang="en-US" altLang="zh-CN" sz="2800" b="1" u="sng" dirty="0">
                <a:solidFill>
                  <a:srgbClr val="C00000"/>
                </a:solidFill>
                <a:ea typeface="宋体" panose="02010600030101010101" pitchFamily="2" charset="-122"/>
              </a:rPr>
              <a:t>AP </a:t>
            </a:r>
            <a:r>
              <a:rPr lang="en-US" altLang="zh-CN" sz="2800" b="1" u="sng" dirty="0">
                <a:solidFill>
                  <a:schemeClr val="tx2"/>
                </a:solidFill>
                <a:ea typeface="宋体" panose="02010600030101010101" pitchFamily="2" charset="-122"/>
              </a:rPr>
              <a:t>(Access Point</a:t>
            </a:r>
            <a:r>
              <a:rPr lang="en-US" altLang="zh-CN" sz="2800" b="1" u="sng" dirty="0" smtClean="0">
                <a:solidFill>
                  <a:schemeClr val="tx2"/>
                </a:solidFill>
                <a:ea typeface="宋体" panose="02010600030101010101" pitchFamily="2" charset="-122"/>
              </a:rPr>
              <a:t>)</a:t>
            </a:r>
            <a:endParaRPr lang="en-US" altLang="zh-CN" sz="2800" b="1" u="sng" dirty="0">
              <a:solidFill>
                <a:schemeClr val="tx2"/>
              </a:solidFill>
              <a:ea typeface="宋体" panose="02010600030101010101" pitchFamily="2" charset="-122"/>
            </a:endParaRPr>
          </a:p>
        </p:txBody>
      </p:sp>
      <p:sp>
        <p:nvSpPr>
          <p:cNvPr id="339987" name="Text Box 19"/>
          <p:cNvSpPr txBox="1">
            <a:spLocks noChangeArrowheads="1"/>
          </p:cNvSpPr>
          <p:nvPr/>
        </p:nvSpPr>
        <p:spPr bwMode="auto">
          <a:xfrm>
            <a:off x="449263" y="1114425"/>
            <a:ext cx="9101137" cy="954088"/>
          </a:xfrm>
          <a:prstGeom prst="rect">
            <a:avLst/>
          </a:prstGeom>
          <a:solidFill>
            <a:srgbClr val="00FFFF"/>
          </a:solidFill>
          <a:ln w="9525">
            <a:solidFill>
              <a:srgbClr val="000099"/>
            </a:solidFill>
            <a:round/>
            <a:headEnd/>
            <a:tailEnd/>
          </a:ln>
        </p:spPr>
        <p:txBody>
          <a:bodyPr>
            <a:spAutoFit/>
          </a:bodyPr>
          <a:lstStyle/>
          <a:p>
            <a:pPr algn="ctr" eaLnBrk="0" hangingPunct="0"/>
            <a:r>
              <a:rPr lang="zh-CN" altLang="en-US" sz="2800" b="1" dirty="0">
                <a:solidFill>
                  <a:schemeClr val="tx2"/>
                </a:solidFill>
                <a:ea typeface="宋体" panose="02010600030101010101" pitchFamily="2" charset="-122"/>
              </a:rPr>
              <a:t>当网络管理员安装 </a:t>
            </a:r>
            <a:r>
              <a:rPr lang="en-US" altLang="zh-CN" sz="2800" b="1" dirty="0">
                <a:solidFill>
                  <a:schemeClr val="tx2"/>
                </a:solidFill>
                <a:ea typeface="宋体" panose="02010600030101010101" pitchFamily="2" charset="-122"/>
              </a:rPr>
              <a:t>AP </a:t>
            </a:r>
            <a:r>
              <a:rPr lang="zh-CN" altLang="en-US" sz="2800" b="1" dirty="0">
                <a:solidFill>
                  <a:schemeClr val="tx2"/>
                </a:solidFill>
                <a:ea typeface="宋体" panose="02010600030101010101" pitchFamily="2" charset="-122"/>
              </a:rPr>
              <a:t>时，必须为该 </a:t>
            </a:r>
            <a:r>
              <a:rPr lang="en-US" altLang="zh-CN" sz="2800" b="1" dirty="0">
                <a:solidFill>
                  <a:schemeClr val="tx2"/>
                </a:solidFill>
                <a:ea typeface="宋体" panose="02010600030101010101" pitchFamily="2" charset="-122"/>
              </a:rPr>
              <a:t>AP </a:t>
            </a:r>
            <a:r>
              <a:rPr lang="zh-CN" altLang="en-US" sz="2800" b="1" dirty="0">
                <a:solidFill>
                  <a:schemeClr val="tx2"/>
                </a:solidFill>
                <a:ea typeface="宋体" panose="02010600030101010101" pitchFamily="2" charset="-122"/>
              </a:rPr>
              <a:t>分配</a:t>
            </a:r>
          </a:p>
          <a:p>
            <a:pPr algn="ctr" eaLnBrk="0" hangingPunct="0"/>
            <a:r>
              <a:rPr lang="zh-CN" altLang="en-US" sz="2800" b="1" dirty="0">
                <a:solidFill>
                  <a:schemeClr val="tx2"/>
                </a:solidFill>
                <a:ea typeface="宋体" panose="02010600030101010101" pitchFamily="2" charset="-122"/>
              </a:rPr>
              <a:t>一个不超过 </a:t>
            </a:r>
            <a:r>
              <a:rPr lang="en-US" altLang="zh-CN" sz="2800" b="1" dirty="0">
                <a:solidFill>
                  <a:schemeClr val="tx2"/>
                </a:solidFill>
                <a:ea typeface="宋体" panose="02010600030101010101" pitchFamily="2" charset="-122"/>
              </a:rPr>
              <a:t>32 </a:t>
            </a:r>
            <a:r>
              <a:rPr lang="zh-CN" altLang="en-US" sz="2800" b="1" dirty="0">
                <a:solidFill>
                  <a:schemeClr val="tx2"/>
                </a:solidFill>
                <a:ea typeface="宋体" panose="02010600030101010101" pitchFamily="2" charset="-122"/>
              </a:rPr>
              <a:t>字节的</a:t>
            </a:r>
            <a:r>
              <a:rPr lang="zh-CN" altLang="en-US" sz="2800" b="1" dirty="0">
                <a:ea typeface="宋体" panose="02010600030101010101" pitchFamily="2" charset="-122"/>
              </a:rPr>
              <a:t>服务集标识符 </a:t>
            </a:r>
            <a:r>
              <a:rPr lang="en-US" altLang="zh-CN" sz="2800" b="1" dirty="0">
                <a:ea typeface="宋体" panose="02010600030101010101" pitchFamily="2" charset="-122"/>
              </a:rPr>
              <a:t>SSID </a:t>
            </a:r>
            <a:r>
              <a:rPr lang="zh-CN" altLang="en-US" sz="2800" b="1" dirty="0">
                <a:solidFill>
                  <a:schemeClr val="tx2"/>
                </a:solidFill>
                <a:ea typeface="宋体" panose="02010600030101010101" pitchFamily="2" charset="-122"/>
              </a:rPr>
              <a:t>和</a:t>
            </a:r>
            <a:r>
              <a:rPr lang="zh-CN" altLang="en-US" sz="2800" b="1" dirty="0">
                <a:ea typeface="宋体" panose="02010600030101010101" pitchFamily="2" charset="-122"/>
              </a:rPr>
              <a:t>一个信道</a:t>
            </a:r>
            <a:r>
              <a:rPr lang="zh-CN" altLang="en-US" sz="2800" b="1" dirty="0">
                <a:solidFill>
                  <a:schemeClr val="tx2"/>
                </a:solidFill>
                <a:ea typeface="宋体" panose="02010600030101010101" pitchFamily="2" charset="-122"/>
              </a:rPr>
              <a:t>。 </a:t>
            </a:r>
          </a:p>
        </p:txBody>
      </p:sp>
      <p:grpSp>
        <p:nvGrpSpPr>
          <p:cNvPr id="2377731" name="组合 1"/>
          <p:cNvGrpSpPr>
            <a:grpSpLocks/>
          </p:cNvGrpSpPr>
          <p:nvPr/>
        </p:nvGrpSpPr>
        <p:grpSpPr bwMode="auto">
          <a:xfrm>
            <a:off x="344488" y="2298700"/>
            <a:ext cx="9504362" cy="4010025"/>
            <a:chOff x="344487" y="2299484"/>
            <a:chExt cx="9505057" cy="4009836"/>
          </a:xfrm>
        </p:grpSpPr>
        <p:sp>
          <p:nvSpPr>
            <p:cNvPr id="2377732" name="AutoShape 519"/>
            <p:cNvSpPr>
              <a:spLocks noChangeArrowheads="1"/>
            </p:cNvSpPr>
            <p:nvPr/>
          </p:nvSpPr>
          <p:spPr bwMode="auto">
            <a:xfrm>
              <a:off x="344487" y="3217746"/>
              <a:ext cx="9321717" cy="3091574"/>
            </a:xfrm>
            <a:prstGeom prst="roundRect">
              <a:avLst>
                <a:gd name="adj" fmla="val 13255"/>
              </a:avLst>
            </a:prstGeom>
            <a:solidFill>
              <a:srgbClr val="FFFF66"/>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33" name="Oval 19"/>
            <p:cNvSpPr>
              <a:spLocks noChangeArrowheads="1"/>
            </p:cNvSpPr>
            <p:nvPr/>
          </p:nvSpPr>
          <p:spPr bwMode="auto">
            <a:xfrm>
              <a:off x="582272" y="3735703"/>
              <a:ext cx="4685842" cy="2325636"/>
            </a:xfrm>
            <a:prstGeom prst="ellipse">
              <a:avLst/>
            </a:prstGeom>
            <a:solidFill>
              <a:srgbClr val="66FF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pic>
          <p:nvPicPr>
            <p:cNvPr id="2377734" name="Picture 222"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4704" y="3420655"/>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7735" name="Oval 21"/>
            <p:cNvSpPr>
              <a:spLocks noChangeArrowheads="1"/>
            </p:cNvSpPr>
            <p:nvPr/>
          </p:nvSpPr>
          <p:spPr bwMode="auto">
            <a:xfrm>
              <a:off x="5127036" y="3758064"/>
              <a:ext cx="4362468" cy="2303275"/>
            </a:xfrm>
            <a:prstGeom prst="ellipse">
              <a:avLst/>
            </a:prstGeom>
            <a:solidFill>
              <a:srgbClr val="FF99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grpSp>
          <p:nvGrpSpPr>
            <p:cNvPr id="2377736" name="Group 425"/>
            <p:cNvGrpSpPr>
              <a:grpSpLocks/>
            </p:cNvGrpSpPr>
            <p:nvPr/>
          </p:nvGrpSpPr>
          <p:grpSpPr bwMode="auto">
            <a:xfrm>
              <a:off x="941756" y="4535905"/>
              <a:ext cx="710422" cy="589759"/>
              <a:chOff x="762" y="2391"/>
              <a:chExt cx="423" cy="312"/>
            </a:xfrm>
          </p:grpSpPr>
          <p:grpSp>
            <p:nvGrpSpPr>
              <p:cNvPr id="2377737" name="Group 316"/>
              <p:cNvGrpSpPr>
                <a:grpSpLocks/>
              </p:cNvGrpSpPr>
              <p:nvPr/>
            </p:nvGrpSpPr>
            <p:grpSpPr bwMode="auto">
              <a:xfrm>
                <a:off x="867" y="2432"/>
                <a:ext cx="318" cy="271"/>
                <a:chOff x="657" y="1570"/>
                <a:chExt cx="318" cy="311"/>
              </a:xfrm>
            </p:grpSpPr>
            <p:sp>
              <p:nvSpPr>
                <p:cNvPr id="2377738" name="Line 31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739" name="Picture 31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740" name="Group 424"/>
              <p:cNvGrpSpPr>
                <a:grpSpLocks/>
              </p:cNvGrpSpPr>
              <p:nvPr/>
            </p:nvGrpSpPr>
            <p:grpSpPr bwMode="auto">
              <a:xfrm>
                <a:off x="762" y="2391"/>
                <a:ext cx="306" cy="90"/>
                <a:chOff x="748" y="2251"/>
                <a:chExt cx="306" cy="90"/>
              </a:xfrm>
            </p:grpSpPr>
            <p:sp>
              <p:nvSpPr>
                <p:cNvPr id="2377741" name="AutoShape 31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42" name="AutoShape 31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43" name="AutoShape 31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44" name="AutoShape 32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45" name="AutoShape 32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46" name="AutoShape 32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77747" name="Text Box 45"/>
            <p:cNvSpPr txBox="1">
              <a:spLocks noChangeArrowheads="1"/>
            </p:cNvSpPr>
            <p:nvPr/>
          </p:nvSpPr>
          <p:spPr bwMode="auto">
            <a:xfrm>
              <a:off x="7282725" y="4045470"/>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77748" name="Text Box 46"/>
            <p:cNvSpPr txBox="1">
              <a:spLocks noChangeArrowheads="1"/>
            </p:cNvSpPr>
            <p:nvPr/>
          </p:nvSpPr>
          <p:spPr bwMode="auto">
            <a:xfrm>
              <a:off x="582272" y="3223439"/>
              <a:ext cx="1746814" cy="7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扩展的服务集</a:t>
              </a:r>
            </a:p>
            <a:p>
              <a:pPr algn="ctr"/>
              <a:r>
                <a:rPr lang="en-US" altLang="zh-CN" sz="2000" b="1">
                  <a:solidFill>
                    <a:srgbClr val="000099"/>
                  </a:solidFill>
                  <a:ea typeface="宋体" panose="02010600030101010101" pitchFamily="2" charset="-122"/>
                </a:rPr>
                <a:t>ESS</a:t>
              </a:r>
            </a:p>
          </p:txBody>
        </p:sp>
        <p:sp>
          <p:nvSpPr>
            <p:cNvPr id="2377749" name="Text Box 175"/>
            <p:cNvSpPr txBox="1">
              <a:spLocks noChangeArrowheads="1"/>
            </p:cNvSpPr>
            <p:nvPr/>
          </p:nvSpPr>
          <p:spPr bwMode="auto">
            <a:xfrm>
              <a:off x="776536" y="464932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sp>
          <p:nvSpPr>
            <p:cNvPr id="2377750" name="Text Box 176"/>
            <p:cNvSpPr txBox="1">
              <a:spLocks noChangeArrowheads="1"/>
            </p:cNvSpPr>
            <p:nvPr/>
          </p:nvSpPr>
          <p:spPr bwMode="auto">
            <a:xfrm>
              <a:off x="8450741" y="490639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B</a:t>
              </a:r>
            </a:p>
          </p:txBody>
        </p:sp>
        <p:sp>
          <p:nvSpPr>
            <p:cNvPr id="2377751" name="Line 177"/>
            <p:cNvSpPr>
              <a:spLocks noChangeShapeType="1"/>
            </p:cNvSpPr>
            <p:nvPr/>
          </p:nvSpPr>
          <p:spPr bwMode="auto">
            <a:xfrm>
              <a:off x="1398576" y="4964992"/>
              <a:ext cx="5330691" cy="599211"/>
            </a:xfrm>
            <a:prstGeom prst="line">
              <a:avLst/>
            </a:prstGeom>
            <a:noFill/>
            <a:ln w="76200">
              <a:solidFill>
                <a:srgbClr val="0000FF"/>
              </a:solidFill>
              <a:prstDash val="sysDot"/>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52" name="AutoShape 180"/>
            <p:cNvSpPr>
              <a:spLocks noChangeArrowheads="1"/>
            </p:cNvSpPr>
            <p:nvPr/>
          </p:nvSpPr>
          <p:spPr bwMode="auto">
            <a:xfrm>
              <a:off x="4676934" y="5707862"/>
              <a:ext cx="713783" cy="457442"/>
            </a:xfrm>
            <a:prstGeom prst="wedgeRoundRectCallout">
              <a:avLst>
                <a:gd name="adj1" fmla="val 131898"/>
                <a:gd name="adj2" fmla="val -108287"/>
                <a:gd name="adj3" fmla="val 16667"/>
              </a:avLst>
            </a:prstGeom>
            <a:solidFill>
              <a:srgbClr val="00FF99"/>
            </a:solidFill>
            <a:ln w="9525">
              <a:solidFill>
                <a:schemeClr val="tx1"/>
              </a:solidFill>
              <a:miter lim="800000"/>
              <a:headEnd/>
              <a:tailEnd/>
            </a:ln>
            <a:effectLst>
              <a:outerShdw dist="28398" dir="3806097" algn="ctr" rotWithShape="0">
                <a:schemeClr val="bg2"/>
              </a:outerShdw>
            </a:effectLst>
          </p:spPr>
          <p:txBody>
            <a:bodyPr/>
            <a:lstStyle/>
            <a:p>
              <a:pPr algn="ctr" eaLnBrk="0" hangingPunct="0"/>
              <a:endParaRPr lang="zh-CN" altLang="zh-CN" sz="2000" b="1">
                <a:solidFill>
                  <a:srgbClr val="000099"/>
                </a:solidFill>
                <a:ea typeface="宋体" panose="02010600030101010101" pitchFamily="2" charset="-122"/>
              </a:endParaRPr>
            </a:p>
          </p:txBody>
        </p:sp>
        <p:sp>
          <p:nvSpPr>
            <p:cNvPr id="2377753" name="Text Box 178"/>
            <p:cNvSpPr txBox="1">
              <a:spLocks noChangeArrowheads="1"/>
            </p:cNvSpPr>
            <p:nvPr/>
          </p:nvSpPr>
          <p:spPr bwMode="auto">
            <a:xfrm>
              <a:off x="4664968" y="5723516"/>
              <a:ext cx="706351"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漫游</a:t>
              </a:r>
            </a:p>
          </p:txBody>
        </p:sp>
        <p:sp>
          <p:nvSpPr>
            <p:cNvPr id="2377754" name="Line 187"/>
            <p:cNvSpPr>
              <a:spLocks noChangeShapeType="1"/>
            </p:cNvSpPr>
            <p:nvPr/>
          </p:nvSpPr>
          <p:spPr bwMode="auto">
            <a:xfrm flipV="1">
              <a:off x="2844614" y="2844056"/>
              <a:ext cx="5789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55" name="Freeform 288"/>
            <p:cNvSpPr>
              <a:spLocks noChangeArrowheads="1"/>
            </p:cNvSpPr>
            <p:nvPr/>
          </p:nvSpPr>
          <p:spPr bwMode="auto">
            <a:xfrm>
              <a:off x="2846294" y="3163580"/>
              <a:ext cx="214974" cy="357257"/>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7756" name="Freeform 291"/>
            <p:cNvSpPr>
              <a:spLocks noChangeArrowheads="1"/>
            </p:cNvSpPr>
            <p:nvPr/>
          </p:nvSpPr>
          <p:spPr bwMode="auto">
            <a:xfrm>
              <a:off x="3607101" y="35926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7757" name="Freeform 293"/>
            <p:cNvSpPr>
              <a:spLocks noChangeArrowheads="1"/>
            </p:cNvSpPr>
            <p:nvPr/>
          </p:nvSpPr>
          <p:spPr bwMode="auto">
            <a:xfrm>
              <a:off x="2846294" y="3579436"/>
              <a:ext cx="214974" cy="357257"/>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7758" name="Freeform 294"/>
            <p:cNvSpPr>
              <a:spLocks noChangeArrowheads="1"/>
            </p:cNvSpPr>
            <p:nvPr/>
          </p:nvSpPr>
          <p:spPr bwMode="auto">
            <a:xfrm>
              <a:off x="3607101" y="31635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graphicFrame>
          <p:nvGraphicFramePr>
            <p:cNvPr id="2377759" name="Object 295"/>
            <p:cNvGraphicFramePr>
              <a:graphicFrameLocks noChangeAspect="1"/>
            </p:cNvGraphicFramePr>
            <p:nvPr/>
          </p:nvGraphicFramePr>
          <p:xfrm>
            <a:off x="8405396" y="2299484"/>
            <a:ext cx="1444148" cy="847341"/>
          </p:xfrm>
          <a:graphic>
            <a:graphicData uri="http://schemas.openxmlformats.org/presentationml/2006/ole">
              <mc:AlternateContent xmlns:mc="http://schemas.openxmlformats.org/markup-compatibility/2006">
                <mc:Choice xmlns:v="urn:schemas-microsoft-com:vml" Requires="v">
                  <p:oleObj spid="_x0000_s2377931" r:id="rId6" imgW="1687068" imgH="964692" progId="Visio.Drawing.6">
                    <p:embed/>
                  </p:oleObj>
                </mc:Choice>
                <mc:Fallback>
                  <p:oleObj r:id="rId6" imgW="1687068" imgH="964692" progId="Visio.Drawing.6">
                    <p:embed/>
                    <p:pic>
                      <p:nvPicPr>
                        <p:cNvPr id="0" name="Object 29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05396" y="2299484"/>
                          <a:ext cx="1444148" cy="84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377760" name="Picture 297"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9704" y="3507606"/>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7761" name="Line 49"/>
            <p:cNvSpPr>
              <a:spLocks noChangeShapeType="1"/>
            </p:cNvSpPr>
            <p:nvPr/>
          </p:nvSpPr>
          <p:spPr bwMode="auto">
            <a:xfrm flipV="1">
              <a:off x="6578114" y="2844056"/>
              <a:ext cx="0" cy="10349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62" name="Text Box 190"/>
            <p:cNvSpPr txBox="1">
              <a:spLocks noChangeArrowheads="1"/>
            </p:cNvSpPr>
            <p:nvPr/>
          </p:nvSpPr>
          <p:spPr bwMode="auto">
            <a:xfrm>
              <a:off x="8553400" y="2485891"/>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宋体" panose="02010600030101010101" pitchFamily="2" charset="-122"/>
                </a:rPr>
                <a:t>互联网</a:t>
              </a:r>
            </a:p>
          </p:txBody>
        </p:sp>
        <p:sp>
          <p:nvSpPr>
            <p:cNvPr id="2377763" name="Freeform 301"/>
            <p:cNvSpPr>
              <a:spLocks noChangeArrowheads="1"/>
            </p:cNvSpPr>
            <p:nvPr/>
          </p:nvSpPr>
          <p:spPr bwMode="auto">
            <a:xfrm>
              <a:off x="6121294" y="3248641"/>
              <a:ext cx="214974" cy="357259"/>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7764" name="Freeform 302"/>
            <p:cNvSpPr>
              <a:spLocks noChangeArrowheads="1"/>
            </p:cNvSpPr>
            <p:nvPr/>
          </p:nvSpPr>
          <p:spPr bwMode="auto">
            <a:xfrm>
              <a:off x="6819960" y="35926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7765" name="Freeform 303"/>
            <p:cNvSpPr>
              <a:spLocks noChangeArrowheads="1"/>
            </p:cNvSpPr>
            <p:nvPr/>
          </p:nvSpPr>
          <p:spPr bwMode="auto">
            <a:xfrm>
              <a:off x="6121294" y="3664497"/>
              <a:ext cx="214974" cy="357259"/>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7766" name="Freeform 304"/>
            <p:cNvSpPr>
              <a:spLocks noChangeArrowheads="1"/>
            </p:cNvSpPr>
            <p:nvPr/>
          </p:nvSpPr>
          <p:spPr bwMode="auto">
            <a:xfrm>
              <a:off x="6819960" y="31635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7767" name="Text Box 305"/>
            <p:cNvSpPr txBox="1">
              <a:spLocks noChangeArrowheads="1"/>
            </p:cNvSpPr>
            <p:nvPr/>
          </p:nvSpPr>
          <p:spPr bwMode="auto">
            <a:xfrm>
              <a:off x="4651742" y="2443322"/>
              <a:ext cx="1657955"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分配系统 </a:t>
              </a:r>
              <a:r>
                <a:rPr lang="en-US" altLang="zh-CN" sz="2000" b="1">
                  <a:solidFill>
                    <a:srgbClr val="000099"/>
                  </a:solidFill>
                  <a:ea typeface="宋体" panose="02010600030101010101" pitchFamily="2" charset="-122"/>
                </a:rPr>
                <a:t>DS</a:t>
              </a:r>
            </a:p>
          </p:txBody>
        </p:sp>
        <p:pic>
          <p:nvPicPr>
            <p:cNvPr id="2377768" name="Picture 306"/>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91755" y="2685274"/>
              <a:ext cx="634846" cy="325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7769" name="Line 403"/>
            <p:cNvSpPr>
              <a:spLocks noChangeShapeType="1"/>
            </p:cNvSpPr>
            <p:nvPr/>
          </p:nvSpPr>
          <p:spPr bwMode="auto">
            <a:xfrm flipV="1">
              <a:off x="1474153" y="4106816"/>
              <a:ext cx="1751705" cy="68616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0" name="Line 404"/>
            <p:cNvSpPr>
              <a:spLocks noChangeShapeType="1"/>
            </p:cNvSpPr>
            <p:nvPr/>
          </p:nvSpPr>
          <p:spPr bwMode="auto">
            <a:xfrm flipV="1">
              <a:off x="2463371" y="4106816"/>
              <a:ext cx="915320" cy="1372325"/>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1" name="Line 405"/>
            <p:cNvSpPr>
              <a:spLocks noChangeShapeType="1"/>
            </p:cNvSpPr>
            <p:nvPr/>
          </p:nvSpPr>
          <p:spPr bwMode="auto">
            <a:xfrm flipV="1">
              <a:off x="5740050" y="4021756"/>
              <a:ext cx="68523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2" name="Line 406"/>
            <p:cNvSpPr>
              <a:spLocks noChangeShapeType="1"/>
            </p:cNvSpPr>
            <p:nvPr/>
          </p:nvSpPr>
          <p:spPr bwMode="auto">
            <a:xfrm>
              <a:off x="3607101" y="4021756"/>
              <a:ext cx="114205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3" name="Line 407"/>
            <p:cNvSpPr>
              <a:spLocks noChangeShapeType="1"/>
            </p:cNvSpPr>
            <p:nvPr/>
          </p:nvSpPr>
          <p:spPr bwMode="auto">
            <a:xfrm flipV="1">
              <a:off x="3454268" y="4106816"/>
              <a:ext cx="77256" cy="154433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4" name="Line 408"/>
            <p:cNvSpPr>
              <a:spLocks noChangeShapeType="1"/>
            </p:cNvSpPr>
            <p:nvPr/>
          </p:nvSpPr>
          <p:spPr bwMode="auto">
            <a:xfrm flipV="1">
              <a:off x="6272447" y="4106816"/>
              <a:ext cx="305667" cy="1200312"/>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5" name="Line 409"/>
            <p:cNvSpPr>
              <a:spLocks noChangeShapeType="1"/>
            </p:cNvSpPr>
            <p:nvPr/>
          </p:nvSpPr>
          <p:spPr bwMode="auto">
            <a:xfrm flipH="1" flipV="1">
              <a:off x="6883781" y="4106816"/>
              <a:ext cx="1294884" cy="102829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6" name="Line 410"/>
            <p:cNvSpPr>
              <a:spLocks noChangeShapeType="1"/>
            </p:cNvSpPr>
            <p:nvPr/>
          </p:nvSpPr>
          <p:spPr bwMode="auto">
            <a:xfrm flipH="1" flipV="1">
              <a:off x="6729268" y="4106816"/>
              <a:ext cx="686910" cy="1115250"/>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7" name="Line 422"/>
            <p:cNvSpPr>
              <a:spLocks noChangeShapeType="1"/>
            </p:cNvSpPr>
            <p:nvPr/>
          </p:nvSpPr>
          <p:spPr bwMode="auto">
            <a:xfrm flipH="1" flipV="1">
              <a:off x="6653690" y="4106816"/>
              <a:ext cx="152834" cy="128537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8" name="Text Box 423"/>
            <p:cNvSpPr txBox="1">
              <a:spLocks noChangeArrowheads="1"/>
            </p:cNvSpPr>
            <p:nvPr/>
          </p:nvSpPr>
          <p:spPr bwMode="auto">
            <a:xfrm>
              <a:off x="7105473" y="5392189"/>
              <a:ext cx="4315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grpSp>
          <p:nvGrpSpPr>
            <p:cNvPr id="2377779" name="Group 426"/>
            <p:cNvGrpSpPr>
              <a:grpSpLocks/>
            </p:cNvGrpSpPr>
            <p:nvPr/>
          </p:nvGrpSpPr>
          <p:grpSpPr bwMode="auto">
            <a:xfrm>
              <a:off x="1930973" y="5146456"/>
              <a:ext cx="710423" cy="589759"/>
              <a:chOff x="762" y="2391"/>
              <a:chExt cx="423" cy="312"/>
            </a:xfrm>
          </p:grpSpPr>
          <p:grpSp>
            <p:nvGrpSpPr>
              <p:cNvPr id="2377780" name="Group 427"/>
              <p:cNvGrpSpPr>
                <a:grpSpLocks/>
              </p:cNvGrpSpPr>
              <p:nvPr/>
            </p:nvGrpSpPr>
            <p:grpSpPr bwMode="auto">
              <a:xfrm>
                <a:off x="867" y="2432"/>
                <a:ext cx="318" cy="271"/>
                <a:chOff x="657" y="1570"/>
                <a:chExt cx="318" cy="311"/>
              </a:xfrm>
            </p:grpSpPr>
            <p:sp>
              <p:nvSpPr>
                <p:cNvPr id="2377781" name="Line 42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782" name="Picture 429"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783" name="Group 430"/>
              <p:cNvGrpSpPr>
                <a:grpSpLocks/>
              </p:cNvGrpSpPr>
              <p:nvPr/>
            </p:nvGrpSpPr>
            <p:grpSpPr bwMode="auto">
              <a:xfrm>
                <a:off x="762" y="2391"/>
                <a:ext cx="306" cy="90"/>
                <a:chOff x="748" y="2251"/>
                <a:chExt cx="306" cy="90"/>
              </a:xfrm>
            </p:grpSpPr>
            <p:sp>
              <p:nvSpPr>
                <p:cNvPr id="2377784" name="AutoShape 43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85" name="AutoShape 43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86" name="AutoShape 43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87" name="AutoShape 43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88" name="AutoShape 43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89" name="AutoShape 43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7790" name="Group 437"/>
            <p:cNvGrpSpPr>
              <a:grpSpLocks/>
            </p:cNvGrpSpPr>
            <p:nvPr/>
          </p:nvGrpSpPr>
          <p:grpSpPr bwMode="auto">
            <a:xfrm>
              <a:off x="5283229" y="4021756"/>
              <a:ext cx="710423" cy="589759"/>
              <a:chOff x="762" y="2391"/>
              <a:chExt cx="423" cy="312"/>
            </a:xfrm>
          </p:grpSpPr>
          <p:grpSp>
            <p:nvGrpSpPr>
              <p:cNvPr id="2377791" name="Group 438"/>
              <p:cNvGrpSpPr>
                <a:grpSpLocks/>
              </p:cNvGrpSpPr>
              <p:nvPr/>
            </p:nvGrpSpPr>
            <p:grpSpPr bwMode="auto">
              <a:xfrm>
                <a:off x="867" y="2432"/>
                <a:ext cx="318" cy="271"/>
                <a:chOff x="657" y="1570"/>
                <a:chExt cx="318" cy="311"/>
              </a:xfrm>
            </p:grpSpPr>
            <p:sp>
              <p:nvSpPr>
                <p:cNvPr id="2377792" name="Line 439"/>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793" name="Picture 440"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794" name="Group 441"/>
              <p:cNvGrpSpPr>
                <a:grpSpLocks/>
              </p:cNvGrpSpPr>
              <p:nvPr/>
            </p:nvGrpSpPr>
            <p:grpSpPr bwMode="auto">
              <a:xfrm>
                <a:off x="762" y="2391"/>
                <a:ext cx="306" cy="90"/>
                <a:chOff x="748" y="2251"/>
                <a:chExt cx="306" cy="90"/>
              </a:xfrm>
            </p:grpSpPr>
            <p:sp>
              <p:nvSpPr>
                <p:cNvPr id="2377795" name="AutoShape 442"/>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96" name="AutoShape 443"/>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97" name="AutoShape 444"/>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98" name="AutoShape 445"/>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99" name="AutoShape 446"/>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00" name="AutoShape 447"/>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7801" name="Group 448"/>
            <p:cNvGrpSpPr>
              <a:grpSpLocks/>
            </p:cNvGrpSpPr>
            <p:nvPr/>
          </p:nvGrpSpPr>
          <p:grpSpPr bwMode="auto">
            <a:xfrm>
              <a:off x="2921871" y="5222067"/>
              <a:ext cx="710423" cy="589759"/>
              <a:chOff x="762" y="2391"/>
              <a:chExt cx="423" cy="312"/>
            </a:xfrm>
          </p:grpSpPr>
          <p:grpSp>
            <p:nvGrpSpPr>
              <p:cNvPr id="2377802" name="Group 449"/>
              <p:cNvGrpSpPr>
                <a:grpSpLocks/>
              </p:cNvGrpSpPr>
              <p:nvPr/>
            </p:nvGrpSpPr>
            <p:grpSpPr bwMode="auto">
              <a:xfrm>
                <a:off x="867" y="2432"/>
                <a:ext cx="318" cy="271"/>
                <a:chOff x="657" y="1570"/>
                <a:chExt cx="318" cy="311"/>
              </a:xfrm>
            </p:grpSpPr>
            <p:sp>
              <p:nvSpPr>
                <p:cNvPr id="2377803" name="Line 450"/>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804" name="Picture 451"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805" name="Group 452"/>
              <p:cNvGrpSpPr>
                <a:grpSpLocks/>
              </p:cNvGrpSpPr>
              <p:nvPr/>
            </p:nvGrpSpPr>
            <p:grpSpPr bwMode="auto">
              <a:xfrm>
                <a:off x="762" y="2391"/>
                <a:ext cx="306" cy="90"/>
                <a:chOff x="748" y="2251"/>
                <a:chExt cx="306" cy="90"/>
              </a:xfrm>
            </p:grpSpPr>
            <p:sp>
              <p:nvSpPr>
                <p:cNvPr id="2377806" name="AutoShape 453"/>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07" name="AutoShape 454"/>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08" name="AutoShape 455"/>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09" name="AutoShape 456"/>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10" name="AutoShape 457"/>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11" name="AutoShape 458"/>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7812" name="Group 459"/>
            <p:cNvGrpSpPr>
              <a:grpSpLocks/>
            </p:cNvGrpSpPr>
            <p:nvPr/>
          </p:nvGrpSpPr>
          <p:grpSpPr bwMode="auto">
            <a:xfrm>
              <a:off x="4520742" y="4106816"/>
              <a:ext cx="710423" cy="589759"/>
              <a:chOff x="762" y="2391"/>
              <a:chExt cx="423" cy="312"/>
            </a:xfrm>
          </p:grpSpPr>
          <p:grpSp>
            <p:nvGrpSpPr>
              <p:cNvPr id="2377813" name="Group 460"/>
              <p:cNvGrpSpPr>
                <a:grpSpLocks/>
              </p:cNvGrpSpPr>
              <p:nvPr/>
            </p:nvGrpSpPr>
            <p:grpSpPr bwMode="auto">
              <a:xfrm>
                <a:off x="867" y="2432"/>
                <a:ext cx="318" cy="271"/>
                <a:chOff x="657" y="1570"/>
                <a:chExt cx="318" cy="311"/>
              </a:xfrm>
            </p:grpSpPr>
            <p:sp>
              <p:nvSpPr>
                <p:cNvPr id="2377814" name="Line 461"/>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815" name="Picture 462"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816" name="Group 463"/>
              <p:cNvGrpSpPr>
                <a:grpSpLocks/>
              </p:cNvGrpSpPr>
              <p:nvPr/>
            </p:nvGrpSpPr>
            <p:grpSpPr bwMode="auto">
              <a:xfrm>
                <a:off x="762" y="2391"/>
                <a:ext cx="306" cy="90"/>
                <a:chOff x="748" y="2251"/>
                <a:chExt cx="306" cy="90"/>
              </a:xfrm>
            </p:grpSpPr>
            <p:sp>
              <p:nvSpPr>
                <p:cNvPr id="2377817" name="AutoShape 464"/>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18" name="AutoShape 465"/>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19" name="AutoShape 466"/>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20" name="AutoShape 467"/>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21" name="AutoShape 468"/>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22" name="AutoShape 469"/>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7823" name="Group 470"/>
            <p:cNvGrpSpPr>
              <a:grpSpLocks/>
            </p:cNvGrpSpPr>
            <p:nvPr/>
          </p:nvGrpSpPr>
          <p:grpSpPr bwMode="auto">
            <a:xfrm>
              <a:off x="6653690" y="5307129"/>
              <a:ext cx="710423" cy="589759"/>
              <a:chOff x="762" y="2391"/>
              <a:chExt cx="423" cy="312"/>
            </a:xfrm>
          </p:grpSpPr>
          <p:grpSp>
            <p:nvGrpSpPr>
              <p:cNvPr id="2377824" name="Group 471"/>
              <p:cNvGrpSpPr>
                <a:grpSpLocks/>
              </p:cNvGrpSpPr>
              <p:nvPr/>
            </p:nvGrpSpPr>
            <p:grpSpPr bwMode="auto">
              <a:xfrm>
                <a:off x="867" y="2432"/>
                <a:ext cx="318" cy="271"/>
                <a:chOff x="657" y="1570"/>
                <a:chExt cx="318" cy="311"/>
              </a:xfrm>
            </p:grpSpPr>
            <p:sp>
              <p:nvSpPr>
                <p:cNvPr id="2377825" name="Line 472"/>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826" name="Picture 473"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827" name="Group 474"/>
              <p:cNvGrpSpPr>
                <a:grpSpLocks/>
              </p:cNvGrpSpPr>
              <p:nvPr/>
            </p:nvGrpSpPr>
            <p:grpSpPr bwMode="auto">
              <a:xfrm>
                <a:off x="762" y="2391"/>
                <a:ext cx="306" cy="90"/>
                <a:chOff x="748" y="2251"/>
                <a:chExt cx="306" cy="90"/>
              </a:xfrm>
            </p:grpSpPr>
            <p:sp>
              <p:nvSpPr>
                <p:cNvPr id="2377828" name="AutoShape 475"/>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29" name="AutoShape 476"/>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30" name="AutoShape 477"/>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31" name="AutoShape 478"/>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32" name="AutoShape 479"/>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33" name="AutoShape 480"/>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7834" name="Group 481"/>
            <p:cNvGrpSpPr>
              <a:grpSpLocks/>
            </p:cNvGrpSpPr>
            <p:nvPr/>
          </p:nvGrpSpPr>
          <p:grpSpPr bwMode="auto">
            <a:xfrm>
              <a:off x="5740050" y="4792979"/>
              <a:ext cx="710423" cy="589759"/>
              <a:chOff x="762" y="2391"/>
              <a:chExt cx="423" cy="312"/>
            </a:xfrm>
          </p:grpSpPr>
          <p:grpSp>
            <p:nvGrpSpPr>
              <p:cNvPr id="2377835" name="Group 482"/>
              <p:cNvGrpSpPr>
                <a:grpSpLocks/>
              </p:cNvGrpSpPr>
              <p:nvPr/>
            </p:nvGrpSpPr>
            <p:grpSpPr bwMode="auto">
              <a:xfrm>
                <a:off x="867" y="2432"/>
                <a:ext cx="318" cy="271"/>
                <a:chOff x="657" y="1570"/>
                <a:chExt cx="318" cy="311"/>
              </a:xfrm>
            </p:grpSpPr>
            <p:sp>
              <p:nvSpPr>
                <p:cNvPr id="2377836" name="Line 48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837" name="Picture 484"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838" name="Group 485"/>
              <p:cNvGrpSpPr>
                <a:grpSpLocks/>
              </p:cNvGrpSpPr>
              <p:nvPr/>
            </p:nvGrpSpPr>
            <p:grpSpPr bwMode="auto">
              <a:xfrm>
                <a:off x="762" y="2391"/>
                <a:ext cx="306" cy="90"/>
                <a:chOff x="748" y="2251"/>
                <a:chExt cx="306" cy="90"/>
              </a:xfrm>
            </p:grpSpPr>
            <p:sp>
              <p:nvSpPr>
                <p:cNvPr id="2377839" name="AutoShape 486"/>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40" name="AutoShape 487"/>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41" name="AutoShape 488"/>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42" name="AutoShape 489"/>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43" name="AutoShape 490"/>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44" name="AutoShape 491"/>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7845" name="Group 492"/>
            <p:cNvGrpSpPr>
              <a:grpSpLocks/>
            </p:cNvGrpSpPr>
            <p:nvPr/>
          </p:nvGrpSpPr>
          <p:grpSpPr bwMode="auto">
            <a:xfrm>
              <a:off x="7263345" y="4964992"/>
              <a:ext cx="710422" cy="589759"/>
              <a:chOff x="762" y="2391"/>
              <a:chExt cx="423" cy="312"/>
            </a:xfrm>
          </p:grpSpPr>
          <p:grpSp>
            <p:nvGrpSpPr>
              <p:cNvPr id="2377846" name="Group 493"/>
              <p:cNvGrpSpPr>
                <a:grpSpLocks/>
              </p:cNvGrpSpPr>
              <p:nvPr/>
            </p:nvGrpSpPr>
            <p:grpSpPr bwMode="auto">
              <a:xfrm>
                <a:off x="867" y="2432"/>
                <a:ext cx="318" cy="271"/>
                <a:chOff x="657" y="1570"/>
                <a:chExt cx="318" cy="311"/>
              </a:xfrm>
            </p:grpSpPr>
            <p:sp>
              <p:nvSpPr>
                <p:cNvPr id="2377847" name="Line 494"/>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848" name="Picture 49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849" name="Group 496"/>
              <p:cNvGrpSpPr>
                <a:grpSpLocks/>
              </p:cNvGrpSpPr>
              <p:nvPr/>
            </p:nvGrpSpPr>
            <p:grpSpPr bwMode="auto">
              <a:xfrm>
                <a:off x="762" y="2391"/>
                <a:ext cx="306" cy="90"/>
                <a:chOff x="748" y="2251"/>
                <a:chExt cx="306" cy="90"/>
              </a:xfrm>
            </p:grpSpPr>
            <p:sp>
              <p:nvSpPr>
                <p:cNvPr id="2377850" name="AutoShape 49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51" name="AutoShape 49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52" name="AutoShape 49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53" name="AutoShape 50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54" name="AutoShape 50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55" name="AutoShape 50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7856" name="Group 503"/>
            <p:cNvGrpSpPr>
              <a:grpSpLocks/>
            </p:cNvGrpSpPr>
            <p:nvPr/>
          </p:nvGrpSpPr>
          <p:grpSpPr bwMode="auto">
            <a:xfrm>
              <a:off x="8000639" y="4802430"/>
              <a:ext cx="710423" cy="589759"/>
              <a:chOff x="762" y="2391"/>
              <a:chExt cx="423" cy="312"/>
            </a:xfrm>
          </p:grpSpPr>
          <p:grpSp>
            <p:nvGrpSpPr>
              <p:cNvPr id="2377857" name="Group 504"/>
              <p:cNvGrpSpPr>
                <a:grpSpLocks/>
              </p:cNvGrpSpPr>
              <p:nvPr/>
            </p:nvGrpSpPr>
            <p:grpSpPr bwMode="auto">
              <a:xfrm>
                <a:off x="867" y="2432"/>
                <a:ext cx="318" cy="271"/>
                <a:chOff x="657" y="1570"/>
                <a:chExt cx="318" cy="311"/>
              </a:xfrm>
            </p:grpSpPr>
            <p:sp>
              <p:nvSpPr>
                <p:cNvPr id="2377858" name="Line 505"/>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859" name="Picture 506"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860" name="Group 507"/>
              <p:cNvGrpSpPr>
                <a:grpSpLocks/>
              </p:cNvGrpSpPr>
              <p:nvPr/>
            </p:nvGrpSpPr>
            <p:grpSpPr bwMode="auto">
              <a:xfrm>
                <a:off x="762" y="2391"/>
                <a:ext cx="306" cy="90"/>
                <a:chOff x="748" y="2251"/>
                <a:chExt cx="306" cy="90"/>
              </a:xfrm>
            </p:grpSpPr>
            <p:sp>
              <p:nvSpPr>
                <p:cNvPr id="2377861" name="AutoShape 508"/>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62" name="AutoShape 509"/>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63" name="AutoShape 510"/>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64" name="AutoShape 511"/>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65" name="AutoShape 512"/>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66" name="AutoShape 513"/>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77867" name="Line 517"/>
            <p:cNvSpPr>
              <a:spLocks noChangeShapeType="1"/>
            </p:cNvSpPr>
            <p:nvPr/>
          </p:nvSpPr>
          <p:spPr bwMode="auto">
            <a:xfrm flipH="1">
              <a:off x="1930973" y="2803540"/>
              <a:ext cx="744013" cy="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868" name="Text Box 44"/>
            <p:cNvSpPr txBox="1">
              <a:spLocks noChangeArrowheads="1"/>
            </p:cNvSpPr>
            <p:nvPr/>
          </p:nvSpPr>
          <p:spPr bwMode="auto">
            <a:xfrm>
              <a:off x="1474153" y="3931023"/>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77869" name="Line 48"/>
            <p:cNvSpPr>
              <a:spLocks noChangeShapeType="1"/>
            </p:cNvSpPr>
            <p:nvPr/>
          </p:nvSpPr>
          <p:spPr bwMode="auto">
            <a:xfrm flipH="1">
              <a:off x="3342582" y="2844056"/>
              <a:ext cx="0" cy="8916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70" name="Rectangle 515"/>
            <p:cNvSpPr>
              <a:spLocks noChangeArrowheads="1"/>
            </p:cNvSpPr>
            <p:nvPr/>
          </p:nvSpPr>
          <p:spPr bwMode="auto">
            <a:xfrm>
              <a:off x="2465050" y="2607719"/>
              <a:ext cx="607974" cy="406459"/>
            </a:xfrm>
            <a:prstGeom prst="rect">
              <a:avLst/>
            </a:prstGeom>
            <a:solidFill>
              <a:srgbClr val="66FFFF"/>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宋体" panose="02010600030101010101" pitchFamily="2" charset="-122"/>
                </a:rPr>
                <a:t>门户</a:t>
              </a:r>
              <a:endParaRPr lang="en-US" altLang="zh-CN" sz="2000" b="1">
                <a:solidFill>
                  <a:srgbClr val="000099"/>
                </a:solidFill>
                <a:ea typeface="宋体" panose="02010600030101010101" pitchFamily="2" charset="-122"/>
              </a:endParaRPr>
            </a:p>
          </p:txBody>
        </p:sp>
        <p:sp>
          <p:nvSpPr>
            <p:cNvPr id="2377871" name="Text Box 518"/>
            <p:cNvSpPr txBox="1">
              <a:spLocks noChangeArrowheads="1"/>
            </p:cNvSpPr>
            <p:nvPr/>
          </p:nvSpPr>
          <p:spPr bwMode="auto">
            <a:xfrm>
              <a:off x="488504" y="2443500"/>
              <a:ext cx="1683804"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zh-CN" altLang="en-US" sz="2000" b="1">
                  <a:solidFill>
                    <a:srgbClr val="000099"/>
                  </a:solidFill>
                  <a:ea typeface="宋体" panose="02010600030101010101" pitchFamily="2" charset="-122"/>
                </a:rPr>
                <a:t>至其他 </a:t>
              </a:r>
              <a:r>
                <a:rPr lang="en-US" altLang="zh-CN" sz="2000" b="1">
                  <a:solidFill>
                    <a:srgbClr val="000099"/>
                  </a:solidFill>
                  <a:ea typeface="宋体" panose="02010600030101010101" pitchFamily="2" charset="-122"/>
                </a:rPr>
                <a:t>802.x</a:t>
              </a:r>
            </a:p>
            <a:p>
              <a:pPr algn="ctr">
                <a:lnSpc>
                  <a:spcPct val="85000"/>
                </a:lnSpc>
              </a:pPr>
              <a:r>
                <a:rPr lang="zh-CN" altLang="en-US" sz="2000" b="1">
                  <a:solidFill>
                    <a:srgbClr val="000099"/>
                  </a:solidFill>
                  <a:ea typeface="宋体" panose="02010600030101010101" pitchFamily="2" charset="-122"/>
                </a:rPr>
                <a:t>局域网</a:t>
              </a:r>
            </a:p>
          </p:txBody>
        </p:sp>
      </p:grpSp>
      <p:sp>
        <p:nvSpPr>
          <p:cNvPr id="339985" name="Text Box 17"/>
          <p:cNvSpPr txBox="1">
            <a:spLocks noChangeArrowheads="1"/>
          </p:cNvSpPr>
          <p:nvPr/>
        </p:nvSpPr>
        <p:spPr bwMode="auto">
          <a:xfrm>
            <a:off x="3800475" y="3500438"/>
            <a:ext cx="1520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AP1</a:t>
            </a:r>
          </a:p>
        </p:txBody>
      </p:sp>
      <p:sp>
        <p:nvSpPr>
          <p:cNvPr id="339986" name="Text Box 18"/>
          <p:cNvSpPr txBox="1">
            <a:spLocks noChangeArrowheads="1"/>
          </p:cNvSpPr>
          <p:nvPr/>
        </p:nvSpPr>
        <p:spPr bwMode="auto">
          <a:xfrm>
            <a:off x="7185025" y="3568700"/>
            <a:ext cx="152082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AP2</a:t>
            </a:r>
          </a:p>
        </p:txBody>
      </p:sp>
      <p:sp>
        <p:nvSpPr>
          <p:cNvPr id="237787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8399B1-B8D1-4047-B60D-4191573F9676}" type="slidenum">
              <a:rPr lang="en-US" altLang="zh-CN" smtClean="0"/>
              <a:pPr eaLnBrk="1" hangingPunct="1"/>
              <a:t>8</a:t>
            </a:fld>
            <a:endParaRPr lang="en-US" altLang="zh-CN" smtClean="0"/>
          </a:p>
        </p:txBody>
      </p:sp>
      <p:sp>
        <p:nvSpPr>
          <p:cNvPr id="237787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1" presetClass="entr" presetSubtype="0" fill="hold" grpId="0" nodeType="afterEffect">
                                  <p:stCondLst>
                                    <p:cond delay="500"/>
                                  </p:stCondLst>
                                  <p:childTnLst>
                                    <p:set>
                                      <p:cBhvr>
                                        <p:cTn id="6" dur="1000">
                                          <p:stCondLst>
                                            <p:cond delay="0"/>
                                          </p:stCondLst>
                                        </p:cTn>
                                        <p:tgtEl>
                                          <p:spTgt spid="339985"/>
                                        </p:tgtEl>
                                        <p:attrNameLst>
                                          <p:attrName>style.visibility</p:attrName>
                                        </p:attrNameLst>
                                      </p:cBhvr>
                                      <p:to>
                                        <p:strVal val="visible"/>
                                      </p:to>
                                    </p:set>
                                  </p:childTnLst>
                                </p:cTn>
                              </p:par>
                              <p:par>
                                <p:cTn id="7" presetID="11" presetClass="entr" presetSubtype="0" fill="hold" grpId="0" nodeType="withEffect">
                                  <p:stCondLst>
                                    <p:cond delay="500"/>
                                  </p:stCondLst>
                                  <p:childTnLst>
                                    <p:set>
                                      <p:cBhvr>
                                        <p:cTn id="8" dur="1000">
                                          <p:stCondLst>
                                            <p:cond delay="0"/>
                                          </p:stCondLst>
                                        </p:cTn>
                                        <p:tgtEl>
                                          <p:spTgt spid="339986"/>
                                        </p:tgtEl>
                                        <p:attrNameLst>
                                          <p:attrName>style.visibility</p:attrName>
                                        </p:attrNameLst>
                                      </p:cBhvr>
                                      <p:to>
                                        <p:strVal val="visible"/>
                                      </p:to>
                                    </p:set>
                                  </p:childTnLst>
                                </p:cTn>
                              </p:par>
                            </p:childTnLst>
                          </p:cTn>
                        </p:par>
                        <p:par>
                          <p:cTn id="9" fill="hold" nodeType="afterGroup">
                            <p:stCondLst>
                              <p:cond delay="1500"/>
                            </p:stCondLst>
                            <p:childTnLst>
                              <p:par>
                                <p:cTn id="10" presetID="1" presetClass="entr" presetSubtype="0" fill="hold" grpId="1" nodeType="afterEffect">
                                  <p:stCondLst>
                                    <p:cond delay="500"/>
                                  </p:stCondLst>
                                  <p:childTnLst>
                                    <p:set>
                                      <p:cBhvr>
                                        <p:cTn id="11" dur="1" fill="hold">
                                          <p:stCondLst>
                                            <p:cond delay="0"/>
                                          </p:stCondLst>
                                        </p:cTn>
                                        <p:tgtEl>
                                          <p:spTgt spid="339985"/>
                                        </p:tgtEl>
                                        <p:attrNameLst>
                                          <p:attrName>style.visibility</p:attrName>
                                        </p:attrNameLst>
                                      </p:cBhvr>
                                      <p:to>
                                        <p:strVal val="visible"/>
                                      </p:to>
                                    </p:set>
                                  </p:childTnLst>
                                </p:cTn>
                              </p:par>
                              <p:par>
                                <p:cTn id="12" presetID="1" presetClass="entr" presetSubtype="0" fill="hold" grpId="1" nodeType="withEffect">
                                  <p:stCondLst>
                                    <p:cond delay="500"/>
                                  </p:stCondLst>
                                  <p:childTnLst>
                                    <p:set>
                                      <p:cBhvr>
                                        <p:cTn id="13" dur="1" fill="hold">
                                          <p:stCondLst>
                                            <p:cond delay="0"/>
                                          </p:stCondLst>
                                        </p:cTn>
                                        <p:tgtEl>
                                          <p:spTgt spid="339986"/>
                                        </p:tgtEl>
                                        <p:attrNameLst>
                                          <p:attrName>style.visibility</p:attrName>
                                        </p:attrNameLst>
                                      </p:cBhvr>
                                      <p:to>
                                        <p:strVal val="visible"/>
                                      </p:to>
                                    </p:set>
                                  </p:childTnLst>
                                </p:cTn>
                              </p:par>
                            </p:childTnLst>
                          </p:cTn>
                        </p:par>
                        <p:par>
                          <p:cTn id="14" fill="hold" nodeType="afterGroup">
                            <p:stCondLst>
                              <p:cond delay="2001"/>
                            </p:stCondLst>
                            <p:childTnLst>
                              <p:par>
                                <p:cTn id="15" presetID="1" presetClass="entr" presetSubtype="0" fill="hold" grpId="0" nodeType="afterEffect">
                                  <p:stCondLst>
                                    <p:cond delay="500"/>
                                  </p:stCondLst>
                                  <p:childTnLst>
                                    <p:set>
                                      <p:cBhvr>
                                        <p:cTn id="16" dur="1" fill="hold">
                                          <p:stCondLst>
                                            <p:cond delay="0"/>
                                          </p:stCondLst>
                                        </p:cTn>
                                        <p:tgtEl>
                                          <p:spTgt spid="3399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87" grpId="0" animBg="1"/>
      <p:bldP spid="339985" grpId="0"/>
      <p:bldP spid="339985" grpId="1"/>
      <p:bldP spid="339986" grpId="0"/>
      <p:bldP spid="339986"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9777" name="Text Box 14"/>
          <p:cNvSpPr txBox="1">
            <a:spLocks noChangeArrowheads="1"/>
          </p:cNvSpPr>
          <p:nvPr/>
        </p:nvSpPr>
        <p:spPr bwMode="auto">
          <a:xfrm>
            <a:off x="557213" y="260350"/>
            <a:ext cx="8845550" cy="1858963"/>
          </a:xfrm>
          <a:prstGeom prst="rect">
            <a:avLst/>
          </a:prstGeom>
          <a:solidFill>
            <a:srgbClr val="66FF66"/>
          </a:solidFill>
          <a:ln w="9525">
            <a:solidFill>
              <a:srgbClr val="000099"/>
            </a:solidFill>
            <a:round/>
            <a:headEnd/>
            <a:tailEnd/>
          </a:ln>
        </p:spPr>
        <p:txBody>
          <a:bodyPr>
            <a:spAutoFit/>
          </a:bodyPr>
          <a:lstStyle/>
          <a:p>
            <a:pPr algn="ctr" eaLnBrk="0" hangingPunct="0"/>
            <a:r>
              <a:rPr lang="zh-CN" altLang="en-US" sz="2800" b="1" dirty="0">
                <a:solidFill>
                  <a:schemeClr val="tx2"/>
                </a:solidFill>
                <a:ea typeface="宋体" panose="02010600030101010101" pitchFamily="2" charset="-122"/>
              </a:rPr>
              <a:t>一个基本服务集可以是孤立的，也</a:t>
            </a:r>
            <a:r>
              <a:rPr lang="zh-CN" altLang="en-US" sz="2800" b="1" dirty="0">
                <a:ea typeface="宋体" panose="02010600030101010101" pitchFamily="2" charset="-122"/>
              </a:rPr>
              <a:t>可</a:t>
            </a:r>
            <a:r>
              <a:rPr lang="zh-CN" altLang="en-US" sz="2800" b="1" dirty="0">
                <a:solidFill>
                  <a:schemeClr val="tx2"/>
                </a:solidFill>
                <a:ea typeface="宋体" panose="02010600030101010101" pitchFamily="2" charset="-122"/>
              </a:rPr>
              <a:t>通过接入点 </a:t>
            </a:r>
            <a:r>
              <a:rPr lang="en-US" altLang="zh-CN" sz="2800" b="1" dirty="0">
                <a:solidFill>
                  <a:schemeClr val="tx2"/>
                </a:solidFill>
                <a:ea typeface="宋体" panose="02010600030101010101" pitchFamily="2" charset="-122"/>
              </a:rPr>
              <a:t>AP</a:t>
            </a:r>
          </a:p>
          <a:p>
            <a:pPr algn="ctr" eaLnBrk="0" hangingPunct="0"/>
            <a:r>
              <a:rPr lang="zh-CN" altLang="en-US" sz="2800" b="1" dirty="0">
                <a:ea typeface="宋体" panose="02010600030101010101" pitchFamily="2" charset="-122"/>
              </a:rPr>
              <a:t>连接</a:t>
            </a:r>
            <a:r>
              <a:rPr lang="zh-CN" altLang="en-US" sz="2800" b="1" dirty="0">
                <a:solidFill>
                  <a:schemeClr val="tx2"/>
                </a:solidFill>
                <a:ea typeface="宋体" panose="02010600030101010101" pitchFamily="2" charset="-122"/>
              </a:rPr>
              <a:t>到一个</a:t>
            </a:r>
            <a:r>
              <a:rPr lang="zh-CN" altLang="en-US" sz="2800" b="1" u="sng" dirty="0">
                <a:solidFill>
                  <a:srgbClr val="C00000"/>
                </a:solidFill>
                <a:ea typeface="宋体" panose="02010600030101010101" pitchFamily="2" charset="-122"/>
              </a:rPr>
              <a:t>主干分配系统 </a:t>
            </a:r>
            <a:r>
              <a:rPr lang="en-US" altLang="zh-CN" sz="2800" b="1" u="sng" dirty="0">
                <a:solidFill>
                  <a:srgbClr val="C00000"/>
                </a:solidFill>
                <a:ea typeface="宋体" panose="02010600030101010101" pitchFamily="2" charset="-122"/>
              </a:rPr>
              <a:t>DS </a:t>
            </a:r>
            <a:r>
              <a:rPr lang="en-US" altLang="zh-CN" sz="2800" b="1" u="sng" dirty="0">
                <a:solidFill>
                  <a:schemeClr val="tx2"/>
                </a:solidFill>
                <a:ea typeface="宋体" panose="02010600030101010101" pitchFamily="2" charset="-122"/>
              </a:rPr>
              <a:t>(Distribution System)</a:t>
            </a:r>
            <a:r>
              <a:rPr lang="zh-CN" altLang="en-US" sz="2800" b="1" dirty="0">
                <a:solidFill>
                  <a:schemeClr val="tx2"/>
                </a:solidFill>
                <a:ea typeface="宋体" panose="02010600030101010101" pitchFamily="2" charset="-122"/>
              </a:rPr>
              <a:t>，</a:t>
            </a:r>
          </a:p>
          <a:p>
            <a:pPr algn="ctr" eaLnBrk="0" hangingPunct="0"/>
            <a:r>
              <a:rPr lang="zh-CN" altLang="en-US" sz="2800" b="1" dirty="0">
                <a:solidFill>
                  <a:schemeClr val="tx2"/>
                </a:solidFill>
                <a:ea typeface="宋体" panose="02010600030101010101" pitchFamily="2" charset="-122"/>
              </a:rPr>
              <a:t>然后再</a:t>
            </a:r>
            <a:r>
              <a:rPr lang="zh-CN" altLang="en-US" sz="2800" b="1" dirty="0">
                <a:ea typeface="宋体" panose="02010600030101010101" pitchFamily="2" charset="-122"/>
              </a:rPr>
              <a:t>接入到另一个基本服务集</a:t>
            </a:r>
            <a:r>
              <a:rPr lang="zh-CN" altLang="en-US" sz="2800" b="1" dirty="0">
                <a:solidFill>
                  <a:schemeClr val="tx2"/>
                </a:solidFill>
                <a:ea typeface="宋体" panose="02010600030101010101" pitchFamily="2" charset="-122"/>
              </a:rPr>
              <a:t>，构成</a:t>
            </a:r>
          </a:p>
          <a:p>
            <a:pPr algn="ctr" eaLnBrk="0" hangingPunct="0"/>
            <a:r>
              <a:rPr lang="zh-CN" altLang="en-US" sz="2800" b="1" u="sng" dirty="0">
                <a:solidFill>
                  <a:srgbClr val="C00000"/>
                </a:solidFill>
                <a:ea typeface="宋体" panose="02010600030101010101" pitchFamily="2" charset="-122"/>
              </a:rPr>
              <a:t>扩展的服务集 </a:t>
            </a:r>
            <a:r>
              <a:rPr lang="en-US" altLang="zh-CN" sz="2800" b="1" u="sng" dirty="0">
                <a:solidFill>
                  <a:srgbClr val="C00000"/>
                </a:solidFill>
                <a:ea typeface="宋体" panose="02010600030101010101" pitchFamily="2" charset="-122"/>
              </a:rPr>
              <a:t>ESS </a:t>
            </a:r>
            <a:r>
              <a:rPr lang="en-US" altLang="zh-CN" sz="2800" b="1" u="sng" dirty="0">
                <a:solidFill>
                  <a:schemeClr val="tx2"/>
                </a:solidFill>
                <a:ea typeface="宋体" panose="02010600030101010101" pitchFamily="2" charset="-122"/>
              </a:rPr>
              <a:t>(Extended Service Set)</a:t>
            </a:r>
            <a:r>
              <a:rPr lang="zh-CN" altLang="en-US" sz="2800" b="1" dirty="0">
                <a:solidFill>
                  <a:schemeClr val="tx2"/>
                </a:solidFill>
                <a:ea typeface="宋体" panose="02010600030101010101" pitchFamily="2" charset="-122"/>
              </a:rPr>
              <a:t>。</a:t>
            </a:r>
          </a:p>
        </p:txBody>
      </p:sp>
      <p:grpSp>
        <p:nvGrpSpPr>
          <p:cNvPr id="2379778" name="组合 17"/>
          <p:cNvGrpSpPr>
            <a:grpSpLocks/>
          </p:cNvGrpSpPr>
          <p:nvPr/>
        </p:nvGrpSpPr>
        <p:grpSpPr bwMode="auto">
          <a:xfrm>
            <a:off x="344488" y="2298700"/>
            <a:ext cx="9504362" cy="4010025"/>
            <a:chOff x="344487" y="1484784"/>
            <a:chExt cx="9505057" cy="4009836"/>
          </a:xfrm>
        </p:grpSpPr>
        <p:sp>
          <p:nvSpPr>
            <p:cNvPr id="2379779" name="AutoShape 519"/>
            <p:cNvSpPr>
              <a:spLocks noChangeArrowheads="1"/>
            </p:cNvSpPr>
            <p:nvPr/>
          </p:nvSpPr>
          <p:spPr bwMode="auto">
            <a:xfrm>
              <a:off x="344487" y="2403046"/>
              <a:ext cx="9321717" cy="3091574"/>
            </a:xfrm>
            <a:prstGeom prst="roundRect">
              <a:avLst>
                <a:gd name="adj" fmla="val 13255"/>
              </a:avLst>
            </a:prstGeom>
            <a:solidFill>
              <a:srgbClr val="FFFF66"/>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780" name="Oval 19"/>
            <p:cNvSpPr>
              <a:spLocks noChangeArrowheads="1"/>
            </p:cNvSpPr>
            <p:nvPr/>
          </p:nvSpPr>
          <p:spPr bwMode="auto">
            <a:xfrm>
              <a:off x="582272" y="2921003"/>
              <a:ext cx="4685842" cy="2325636"/>
            </a:xfrm>
            <a:prstGeom prst="ellipse">
              <a:avLst/>
            </a:prstGeom>
            <a:solidFill>
              <a:srgbClr val="66FF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pic>
          <p:nvPicPr>
            <p:cNvPr id="2379781" name="Picture 222"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4704" y="2605955"/>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9782" name="Oval 21"/>
            <p:cNvSpPr>
              <a:spLocks noChangeArrowheads="1"/>
            </p:cNvSpPr>
            <p:nvPr/>
          </p:nvSpPr>
          <p:spPr bwMode="auto">
            <a:xfrm>
              <a:off x="5127036" y="2943364"/>
              <a:ext cx="4362468" cy="2303275"/>
            </a:xfrm>
            <a:prstGeom prst="ellipse">
              <a:avLst/>
            </a:prstGeom>
            <a:solidFill>
              <a:srgbClr val="FF99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grpSp>
          <p:nvGrpSpPr>
            <p:cNvPr id="2379783" name="Group 425"/>
            <p:cNvGrpSpPr>
              <a:grpSpLocks/>
            </p:cNvGrpSpPr>
            <p:nvPr/>
          </p:nvGrpSpPr>
          <p:grpSpPr bwMode="auto">
            <a:xfrm>
              <a:off x="941756" y="3721205"/>
              <a:ext cx="710422" cy="589759"/>
              <a:chOff x="762" y="2391"/>
              <a:chExt cx="423" cy="312"/>
            </a:xfrm>
          </p:grpSpPr>
          <p:grpSp>
            <p:nvGrpSpPr>
              <p:cNvPr id="2379784" name="Group 316"/>
              <p:cNvGrpSpPr>
                <a:grpSpLocks/>
              </p:cNvGrpSpPr>
              <p:nvPr/>
            </p:nvGrpSpPr>
            <p:grpSpPr bwMode="auto">
              <a:xfrm>
                <a:off x="867" y="2432"/>
                <a:ext cx="318" cy="271"/>
                <a:chOff x="657" y="1570"/>
                <a:chExt cx="318" cy="311"/>
              </a:xfrm>
            </p:grpSpPr>
            <p:sp>
              <p:nvSpPr>
                <p:cNvPr id="2379785" name="Line 31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786" name="Picture 31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787" name="Group 424"/>
              <p:cNvGrpSpPr>
                <a:grpSpLocks/>
              </p:cNvGrpSpPr>
              <p:nvPr/>
            </p:nvGrpSpPr>
            <p:grpSpPr bwMode="auto">
              <a:xfrm>
                <a:off x="762" y="2391"/>
                <a:ext cx="306" cy="90"/>
                <a:chOff x="748" y="2251"/>
                <a:chExt cx="306" cy="90"/>
              </a:xfrm>
            </p:grpSpPr>
            <p:sp>
              <p:nvSpPr>
                <p:cNvPr id="2379788" name="AutoShape 31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789" name="AutoShape 31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790" name="AutoShape 31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791" name="AutoShape 32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792" name="AutoShape 32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793" name="AutoShape 32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79794" name="Text Box 45"/>
            <p:cNvSpPr txBox="1">
              <a:spLocks noChangeArrowheads="1"/>
            </p:cNvSpPr>
            <p:nvPr/>
          </p:nvSpPr>
          <p:spPr bwMode="auto">
            <a:xfrm>
              <a:off x="7282725" y="3230770"/>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79795" name="Text Box 46"/>
            <p:cNvSpPr txBox="1">
              <a:spLocks noChangeArrowheads="1"/>
            </p:cNvSpPr>
            <p:nvPr/>
          </p:nvSpPr>
          <p:spPr bwMode="auto">
            <a:xfrm>
              <a:off x="582272" y="2408739"/>
              <a:ext cx="1746814" cy="7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扩展的服务集</a:t>
              </a:r>
            </a:p>
            <a:p>
              <a:pPr algn="ctr"/>
              <a:r>
                <a:rPr lang="en-US" altLang="zh-CN" sz="2000" b="1">
                  <a:solidFill>
                    <a:srgbClr val="000099"/>
                  </a:solidFill>
                  <a:ea typeface="宋体" panose="02010600030101010101" pitchFamily="2" charset="-122"/>
                </a:rPr>
                <a:t>ESS</a:t>
              </a:r>
            </a:p>
          </p:txBody>
        </p:sp>
        <p:sp>
          <p:nvSpPr>
            <p:cNvPr id="2379796" name="Text Box 175"/>
            <p:cNvSpPr txBox="1">
              <a:spLocks noChangeArrowheads="1"/>
            </p:cNvSpPr>
            <p:nvPr/>
          </p:nvSpPr>
          <p:spPr bwMode="auto">
            <a:xfrm>
              <a:off x="776536" y="383462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sp>
          <p:nvSpPr>
            <p:cNvPr id="2379797" name="Text Box 176"/>
            <p:cNvSpPr txBox="1">
              <a:spLocks noChangeArrowheads="1"/>
            </p:cNvSpPr>
            <p:nvPr/>
          </p:nvSpPr>
          <p:spPr bwMode="auto">
            <a:xfrm>
              <a:off x="8450741" y="409169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B</a:t>
              </a:r>
            </a:p>
          </p:txBody>
        </p:sp>
        <p:sp>
          <p:nvSpPr>
            <p:cNvPr id="2379798" name="Line 177"/>
            <p:cNvSpPr>
              <a:spLocks noChangeShapeType="1"/>
            </p:cNvSpPr>
            <p:nvPr/>
          </p:nvSpPr>
          <p:spPr bwMode="auto">
            <a:xfrm>
              <a:off x="1398576" y="4150292"/>
              <a:ext cx="5330691" cy="599211"/>
            </a:xfrm>
            <a:prstGeom prst="line">
              <a:avLst/>
            </a:prstGeom>
            <a:noFill/>
            <a:ln w="76200">
              <a:solidFill>
                <a:srgbClr val="0000FF"/>
              </a:solidFill>
              <a:prstDash val="sysDot"/>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799" name="AutoShape 180"/>
            <p:cNvSpPr>
              <a:spLocks noChangeArrowheads="1"/>
            </p:cNvSpPr>
            <p:nvPr/>
          </p:nvSpPr>
          <p:spPr bwMode="auto">
            <a:xfrm>
              <a:off x="4676934" y="4893162"/>
              <a:ext cx="713783" cy="457442"/>
            </a:xfrm>
            <a:prstGeom prst="wedgeRoundRectCallout">
              <a:avLst>
                <a:gd name="adj1" fmla="val 131898"/>
                <a:gd name="adj2" fmla="val -108287"/>
                <a:gd name="adj3" fmla="val 16667"/>
              </a:avLst>
            </a:prstGeom>
            <a:solidFill>
              <a:srgbClr val="00FF99"/>
            </a:solidFill>
            <a:ln w="9525">
              <a:solidFill>
                <a:schemeClr val="tx1"/>
              </a:solidFill>
              <a:miter lim="800000"/>
              <a:headEnd/>
              <a:tailEnd/>
            </a:ln>
            <a:effectLst>
              <a:outerShdw dist="28398" dir="3806097" algn="ctr" rotWithShape="0">
                <a:schemeClr val="bg2"/>
              </a:outerShdw>
            </a:effectLst>
          </p:spPr>
          <p:txBody>
            <a:bodyPr/>
            <a:lstStyle/>
            <a:p>
              <a:pPr algn="ctr" eaLnBrk="0" hangingPunct="0"/>
              <a:endParaRPr lang="zh-CN" altLang="zh-CN" sz="2000" b="1">
                <a:solidFill>
                  <a:srgbClr val="000099"/>
                </a:solidFill>
                <a:ea typeface="宋体" panose="02010600030101010101" pitchFamily="2" charset="-122"/>
              </a:endParaRPr>
            </a:p>
          </p:txBody>
        </p:sp>
        <p:sp>
          <p:nvSpPr>
            <p:cNvPr id="2379800" name="Text Box 178"/>
            <p:cNvSpPr txBox="1">
              <a:spLocks noChangeArrowheads="1"/>
            </p:cNvSpPr>
            <p:nvPr/>
          </p:nvSpPr>
          <p:spPr bwMode="auto">
            <a:xfrm>
              <a:off x="4664968" y="4908816"/>
              <a:ext cx="706351"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漫游</a:t>
              </a:r>
            </a:p>
          </p:txBody>
        </p:sp>
        <p:sp>
          <p:nvSpPr>
            <p:cNvPr id="2379801" name="Line 187"/>
            <p:cNvSpPr>
              <a:spLocks noChangeShapeType="1"/>
            </p:cNvSpPr>
            <p:nvPr/>
          </p:nvSpPr>
          <p:spPr bwMode="auto">
            <a:xfrm flipV="1">
              <a:off x="2844614" y="2029356"/>
              <a:ext cx="5789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02" name="Text Box 50"/>
            <p:cNvSpPr txBox="1">
              <a:spLocks noChangeArrowheads="1"/>
            </p:cNvSpPr>
            <p:nvPr/>
          </p:nvSpPr>
          <p:spPr bwMode="auto">
            <a:xfrm>
              <a:off x="3607101" y="2520893"/>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1</a:t>
              </a:r>
            </a:p>
          </p:txBody>
        </p:sp>
        <p:sp>
          <p:nvSpPr>
            <p:cNvPr id="2379803" name="Freeform 288"/>
            <p:cNvSpPr>
              <a:spLocks noChangeArrowheads="1"/>
            </p:cNvSpPr>
            <p:nvPr/>
          </p:nvSpPr>
          <p:spPr bwMode="auto">
            <a:xfrm>
              <a:off x="2846294" y="2348880"/>
              <a:ext cx="214974" cy="357257"/>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9804" name="Freeform 291"/>
            <p:cNvSpPr>
              <a:spLocks noChangeArrowheads="1"/>
            </p:cNvSpPr>
            <p:nvPr/>
          </p:nvSpPr>
          <p:spPr bwMode="auto">
            <a:xfrm>
              <a:off x="3607101"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9805" name="Freeform 293"/>
            <p:cNvSpPr>
              <a:spLocks noChangeArrowheads="1"/>
            </p:cNvSpPr>
            <p:nvPr/>
          </p:nvSpPr>
          <p:spPr bwMode="auto">
            <a:xfrm>
              <a:off x="2846294" y="2764736"/>
              <a:ext cx="214974" cy="357257"/>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9806" name="Freeform 294"/>
            <p:cNvSpPr>
              <a:spLocks noChangeArrowheads="1"/>
            </p:cNvSpPr>
            <p:nvPr/>
          </p:nvSpPr>
          <p:spPr bwMode="auto">
            <a:xfrm>
              <a:off x="3607101"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graphicFrame>
          <p:nvGraphicFramePr>
            <p:cNvPr id="2379807" name="Object 295"/>
            <p:cNvGraphicFramePr>
              <a:graphicFrameLocks noChangeAspect="1"/>
            </p:cNvGraphicFramePr>
            <p:nvPr/>
          </p:nvGraphicFramePr>
          <p:xfrm>
            <a:off x="8405396" y="1484784"/>
            <a:ext cx="1444148" cy="847341"/>
          </p:xfrm>
          <a:graphic>
            <a:graphicData uri="http://schemas.openxmlformats.org/presentationml/2006/ole">
              <mc:AlternateContent xmlns:mc="http://schemas.openxmlformats.org/markup-compatibility/2006">
                <mc:Choice xmlns:v="urn:schemas-microsoft-com:vml" Requires="v">
                  <p:oleObj spid="_x0000_s2379982" r:id="rId6" imgW="1687068" imgH="964692" progId="Visio.Drawing.6">
                    <p:embed/>
                  </p:oleObj>
                </mc:Choice>
                <mc:Fallback>
                  <p:oleObj r:id="rId6" imgW="1687068" imgH="964692" progId="Visio.Drawing.6">
                    <p:embed/>
                    <p:pic>
                      <p:nvPicPr>
                        <p:cNvPr id="0" name="Object 29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05396" y="1484784"/>
                          <a:ext cx="1444148" cy="84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379808" name="Picture 297"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9704" y="2692906"/>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9809" name="Text Box 300"/>
            <p:cNvSpPr txBox="1">
              <a:spLocks noChangeArrowheads="1"/>
            </p:cNvSpPr>
            <p:nvPr/>
          </p:nvSpPr>
          <p:spPr bwMode="auto">
            <a:xfrm>
              <a:off x="6873704" y="2542292"/>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2</a:t>
              </a:r>
            </a:p>
          </p:txBody>
        </p:sp>
        <p:sp>
          <p:nvSpPr>
            <p:cNvPr id="2379810" name="Line 49"/>
            <p:cNvSpPr>
              <a:spLocks noChangeShapeType="1"/>
            </p:cNvSpPr>
            <p:nvPr/>
          </p:nvSpPr>
          <p:spPr bwMode="auto">
            <a:xfrm flipV="1">
              <a:off x="6578114" y="2029356"/>
              <a:ext cx="0" cy="10349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11" name="Text Box 190"/>
            <p:cNvSpPr txBox="1">
              <a:spLocks noChangeArrowheads="1"/>
            </p:cNvSpPr>
            <p:nvPr/>
          </p:nvSpPr>
          <p:spPr bwMode="auto">
            <a:xfrm>
              <a:off x="8553400" y="1671191"/>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宋体" panose="02010600030101010101" pitchFamily="2" charset="-122"/>
                </a:rPr>
                <a:t>互联网</a:t>
              </a:r>
            </a:p>
          </p:txBody>
        </p:sp>
        <p:sp>
          <p:nvSpPr>
            <p:cNvPr id="2379812" name="Freeform 301"/>
            <p:cNvSpPr>
              <a:spLocks noChangeArrowheads="1"/>
            </p:cNvSpPr>
            <p:nvPr/>
          </p:nvSpPr>
          <p:spPr bwMode="auto">
            <a:xfrm>
              <a:off x="6121294" y="2433941"/>
              <a:ext cx="214974" cy="357259"/>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9813" name="Freeform 302"/>
            <p:cNvSpPr>
              <a:spLocks noChangeArrowheads="1"/>
            </p:cNvSpPr>
            <p:nvPr/>
          </p:nvSpPr>
          <p:spPr bwMode="auto">
            <a:xfrm>
              <a:off x="6819960"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9814" name="Freeform 303"/>
            <p:cNvSpPr>
              <a:spLocks noChangeArrowheads="1"/>
            </p:cNvSpPr>
            <p:nvPr/>
          </p:nvSpPr>
          <p:spPr bwMode="auto">
            <a:xfrm>
              <a:off x="6121294" y="2849797"/>
              <a:ext cx="214974" cy="357259"/>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9815" name="Freeform 304"/>
            <p:cNvSpPr>
              <a:spLocks noChangeArrowheads="1"/>
            </p:cNvSpPr>
            <p:nvPr/>
          </p:nvSpPr>
          <p:spPr bwMode="auto">
            <a:xfrm>
              <a:off x="6819960"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9816" name="Text Box 305"/>
            <p:cNvSpPr txBox="1">
              <a:spLocks noChangeArrowheads="1"/>
            </p:cNvSpPr>
            <p:nvPr/>
          </p:nvSpPr>
          <p:spPr bwMode="auto">
            <a:xfrm>
              <a:off x="4651742" y="1628622"/>
              <a:ext cx="1657955"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分配系统 </a:t>
              </a:r>
              <a:r>
                <a:rPr lang="en-US" altLang="zh-CN" sz="2000" b="1">
                  <a:solidFill>
                    <a:srgbClr val="000099"/>
                  </a:solidFill>
                  <a:ea typeface="宋体" panose="02010600030101010101" pitchFamily="2" charset="-122"/>
                </a:rPr>
                <a:t>DS</a:t>
              </a:r>
            </a:p>
          </p:txBody>
        </p:sp>
        <p:pic>
          <p:nvPicPr>
            <p:cNvPr id="2379817" name="Picture 306"/>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91755" y="1870574"/>
              <a:ext cx="634846" cy="325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9818" name="Line 403"/>
            <p:cNvSpPr>
              <a:spLocks noChangeShapeType="1"/>
            </p:cNvSpPr>
            <p:nvPr/>
          </p:nvSpPr>
          <p:spPr bwMode="auto">
            <a:xfrm flipV="1">
              <a:off x="1474153" y="3292116"/>
              <a:ext cx="1751705" cy="68616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19" name="Line 404"/>
            <p:cNvSpPr>
              <a:spLocks noChangeShapeType="1"/>
            </p:cNvSpPr>
            <p:nvPr/>
          </p:nvSpPr>
          <p:spPr bwMode="auto">
            <a:xfrm flipV="1">
              <a:off x="2463371" y="3292116"/>
              <a:ext cx="915320" cy="1372325"/>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20" name="Line 405"/>
            <p:cNvSpPr>
              <a:spLocks noChangeShapeType="1"/>
            </p:cNvSpPr>
            <p:nvPr/>
          </p:nvSpPr>
          <p:spPr bwMode="auto">
            <a:xfrm flipV="1">
              <a:off x="5740050" y="3207056"/>
              <a:ext cx="68523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21" name="Line 406"/>
            <p:cNvSpPr>
              <a:spLocks noChangeShapeType="1"/>
            </p:cNvSpPr>
            <p:nvPr/>
          </p:nvSpPr>
          <p:spPr bwMode="auto">
            <a:xfrm>
              <a:off x="3607101" y="3207056"/>
              <a:ext cx="114205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22" name="Line 407"/>
            <p:cNvSpPr>
              <a:spLocks noChangeShapeType="1"/>
            </p:cNvSpPr>
            <p:nvPr/>
          </p:nvSpPr>
          <p:spPr bwMode="auto">
            <a:xfrm flipV="1">
              <a:off x="3454268" y="3292116"/>
              <a:ext cx="77256" cy="154433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23" name="Line 408"/>
            <p:cNvSpPr>
              <a:spLocks noChangeShapeType="1"/>
            </p:cNvSpPr>
            <p:nvPr/>
          </p:nvSpPr>
          <p:spPr bwMode="auto">
            <a:xfrm flipV="1">
              <a:off x="6272447" y="3292116"/>
              <a:ext cx="305667" cy="1200312"/>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24" name="Line 409"/>
            <p:cNvSpPr>
              <a:spLocks noChangeShapeType="1"/>
            </p:cNvSpPr>
            <p:nvPr/>
          </p:nvSpPr>
          <p:spPr bwMode="auto">
            <a:xfrm flipH="1" flipV="1">
              <a:off x="6883781" y="3292116"/>
              <a:ext cx="1294884" cy="102829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25" name="Line 410"/>
            <p:cNvSpPr>
              <a:spLocks noChangeShapeType="1"/>
            </p:cNvSpPr>
            <p:nvPr/>
          </p:nvSpPr>
          <p:spPr bwMode="auto">
            <a:xfrm flipH="1" flipV="1">
              <a:off x="6729268" y="3292116"/>
              <a:ext cx="686910" cy="1115250"/>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26" name="Line 422"/>
            <p:cNvSpPr>
              <a:spLocks noChangeShapeType="1"/>
            </p:cNvSpPr>
            <p:nvPr/>
          </p:nvSpPr>
          <p:spPr bwMode="auto">
            <a:xfrm flipH="1" flipV="1">
              <a:off x="6653690" y="3292116"/>
              <a:ext cx="152834" cy="128537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27" name="Text Box 423"/>
            <p:cNvSpPr txBox="1">
              <a:spLocks noChangeArrowheads="1"/>
            </p:cNvSpPr>
            <p:nvPr/>
          </p:nvSpPr>
          <p:spPr bwMode="auto">
            <a:xfrm>
              <a:off x="7105473" y="4577489"/>
              <a:ext cx="4315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grpSp>
          <p:nvGrpSpPr>
            <p:cNvPr id="2379828" name="Group 426"/>
            <p:cNvGrpSpPr>
              <a:grpSpLocks/>
            </p:cNvGrpSpPr>
            <p:nvPr/>
          </p:nvGrpSpPr>
          <p:grpSpPr bwMode="auto">
            <a:xfrm>
              <a:off x="1930973" y="4331756"/>
              <a:ext cx="710423" cy="589759"/>
              <a:chOff x="762" y="2391"/>
              <a:chExt cx="423" cy="312"/>
            </a:xfrm>
          </p:grpSpPr>
          <p:grpSp>
            <p:nvGrpSpPr>
              <p:cNvPr id="2379829" name="Group 427"/>
              <p:cNvGrpSpPr>
                <a:grpSpLocks/>
              </p:cNvGrpSpPr>
              <p:nvPr/>
            </p:nvGrpSpPr>
            <p:grpSpPr bwMode="auto">
              <a:xfrm>
                <a:off x="867" y="2432"/>
                <a:ext cx="318" cy="271"/>
                <a:chOff x="657" y="1570"/>
                <a:chExt cx="318" cy="311"/>
              </a:xfrm>
            </p:grpSpPr>
            <p:sp>
              <p:nvSpPr>
                <p:cNvPr id="2379830" name="Line 42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831" name="Picture 429"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832" name="Group 430"/>
              <p:cNvGrpSpPr>
                <a:grpSpLocks/>
              </p:cNvGrpSpPr>
              <p:nvPr/>
            </p:nvGrpSpPr>
            <p:grpSpPr bwMode="auto">
              <a:xfrm>
                <a:off x="762" y="2391"/>
                <a:ext cx="306" cy="90"/>
                <a:chOff x="748" y="2251"/>
                <a:chExt cx="306" cy="90"/>
              </a:xfrm>
            </p:grpSpPr>
            <p:sp>
              <p:nvSpPr>
                <p:cNvPr id="2379833" name="AutoShape 43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34" name="AutoShape 43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35" name="AutoShape 43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36" name="AutoShape 43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37" name="AutoShape 43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38" name="AutoShape 43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9839" name="Group 437"/>
            <p:cNvGrpSpPr>
              <a:grpSpLocks/>
            </p:cNvGrpSpPr>
            <p:nvPr/>
          </p:nvGrpSpPr>
          <p:grpSpPr bwMode="auto">
            <a:xfrm>
              <a:off x="5283229" y="3207056"/>
              <a:ext cx="710423" cy="589759"/>
              <a:chOff x="762" y="2391"/>
              <a:chExt cx="423" cy="312"/>
            </a:xfrm>
          </p:grpSpPr>
          <p:grpSp>
            <p:nvGrpSpPr>
              <p:cNvPr id="2379840" name="Group 438"/>
              <p:cNvGrpSpPr>
                <a:grpSpLocks/>
              </p:cNvGrpSpPr>
              <p:nvPr/>
            </p:nvGrpSpPr>
            <p:grpSpPr bwMode="auto">
              <a:xfrm>
                <a:off x="867" y="2432"/>
                <a:ext cx="318" cy="271"/>
                <a:chOff x="657" y="1570"/>
                <a:chExt cx="318" cy="311"/>
              </a:xfrm>
            </p:grpSpPr>
            <p:sp>
              <p:nvSpPr>
                <p:cNvPr id="2379841" name="Line 439"/>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842" name="Picture 440"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843" name="Group 441"/>
              <p:cNvGrpSpPr>
                <a:grpSpLocks/>
              </p:cNvGrpSpPr>
              <p:nvPr/>
            </p:nvGrpSpPr>
            <p:grpSpPr bwMode="auto">
              <a:xfrm>
                <a:off x="762" y="2391"/>
                <a:ext cx="306" cy="90"/>
                <a:chOff x="748" y="2251"/>
                <a:chExt cx="306" cy="90"/>
              </a:xfrm>
            </p:grpSpPr>
            <p:sp>
              <p:nvSpPr>
                <p:cNvPr id="2379844" name="AutoShape 442"/>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45" name="AutoShape 443"/>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46" name="AutoShape 444"/>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47" name="AutoShape 445"/>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48" name="AutoShape 446"/>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49" name="AutoShape 447"/>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9850" name="Group 448"/>
            <p:cNvGrpSpPr>
              <a:grpSpLocks/>
            </p:cNvGrpSpPr>
            <p:nvPr/>
          </p:nvGrpSpPr>
          <p:grpSpPr bwMode="auto">
            <a:xfrm>
              <a:off x="2921871" y="4407367"/>
              <a:ext cx="710423" cy="589759"/>
              <a:chOff x="762" y="2391"/>
              <a:chExt cx="423" cy="312"/>
            </a:xfrm>
          </p:grpSpPr>
          <p:grpSp>
            <p:nvGrpSpPr>
              <p:cNvPr id="2379851" name="Group 449"/>
              <p:cNvGrpSpPr>
                <a:grpSpLocks/>
              </p:cNvGrpSpPr>
              <p:nvPr/>
            </p:nvGrpSpPr>
            <p:grpSpPr bwMode="auto">
              <a:xfrm>
                <a:off x="867" y="2432"/>
                <a:ext cx="318" cy="271"/>
                <a:chOff x="657" y="1570"/>
                <a:chExt cx="318" cy="311"/>
              </a:xfrm>
            </p:grpSpPr>
            <p:sp>
              <p:nvSpPr>
                <p:cNvPr id="2379852" name="Line 450"/>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853" name="Picture 451"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854" name="Group 452"/>
              <p:cNvGrpSpPr>
                <a:grpSpLocks/>
              </p:cNvGrpSpPr>
              <p:nvPr/>
            </p:nvGrpSpPr>
            <p:grpSpPr bwMode="auto">
              <a:xfrm>
                <a:off x="762" y="2391"/>
                <a:ext cx="306" cy="90"/>
                <a:chOff x="748" y="2251"/>
                <a:chExt cx="306" cy="90"/>
              </a:xfrm>
            </p:grpSpPr>
            <p:sp>
              <p:nvSpPr>
                <p:cNvPr id="2379855" name="AutoShape 453"/>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56" name="AutoShape 454"/>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57" name="AutoShape 455"/>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58" name="AutoShape 456"/>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59" name="AutoShape 457"/>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60" name="AutoShape 458"/>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9861" name="Group 459"/>
            <p:cNvGrpSpPr>
              <a:grpSpLocks/>
            </p:cNvGrpSpPr>
            <p:nvPr/>
          </p:nvGrpSpPr>
          <p:grpSpPr bwMode="auto">
            <a:xfrm>
              <a:off x="4520742" y="3292116"/>
              <a:ext cx="710423" cy="589759"/>
              <a:chOff x="762" y="2391"/>
              <a:chExt cx="423" cy="312"/>
            </a:xfrm>
          </p:grpSpPr>
          <p:grpSp>
            <p:nvGrpSpPr>
              <p:cNvPr id="2379862" name="Group 460"/>
              <p:cNvGrpSpPr>
                <a:grpSpLocks/>
              </p:cNvGrpSpPr>
              <p:nvPr/>
            </p:nvGrpSpPr>
            <p:grpSpPr bwMode="auto">
              <a:xfrm>
                <a:off x="867" y="2432"/>
                <a:ext cx="318" cy="271"/>
                <a:chOff x="657" y="1570"/>
                <a:chExt cx="318" cy="311"/>
              </a:xfrm>
            </p:grpSpPr>
            <p:sp>
              <p:nvSpPr>
                <p:cNvPr id="2379863" name="Line 461"/>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864" name="Picture 462"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865" name="Group 463"/>
              <p:cNvGrpSpPr>
                <a:grpSpLocks/>
              </p:cNvGrpSpPr>
              <p:nvPr/>
            </p:nvGrpSpPr>
            <p:grpSpPr bwMode="auto">
              <a:xfrm>
                <a:off x="762" y="2391"/>
                <a:ext cx="306" cy="90"/>
                <a:chOff x="748" y="2251"/>
                <a:chExt cx="306" cy="90"/>
              </a:xfrm>
            </p:grpSpPr>
            <p:sp>
              <p:nvSpPr>
                <p:cNvPr id="2379866" name="AutoShape 464"/>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67" name="AutoShape 465"/>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68" name="AutoShape 466"/>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69" name="AutoShape 467"/>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70" name="AutoShape 468"/>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71" name="AutoShape 469"/>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9872" name="Group 470"/>
            <p:cNvGrpSpPr>
              <a:grpSpLocks/>
            </p:cNvGrpSpPr>
            <p:nvPr/>
          </p:nvGrpSpPr>
          <p:grpSpPr bwMode="auto">
            <a:xfrm>
              <a:off x="6653690" y="4492429"/>
              <a:ext cx="710423" cy="589759"/>
              <a:chOff x="762" y="2391"/>
              <a:chExt cx="423" cy="312"/>
            </a:xfrm>
          </p:grpSpPr>
          <p:grpSp>
            <p:nvGrpSpPr>
              <p:cNvPr id="2379873" name="Group 471"/>
              <p:cNvGrpSpPr>
                <a:grpSpLocks/>
              </p:cNvGrpSpPr>
              <p:nvPr/>
            </p:nvGrpSpPr>
            <p:grpSpPr bwMode="auto">
              <a:xfrm>
                <a:off x="867" y="2432"/>
                <a:ext cx="318" cy="271"/>
                <a:chOff x="657" y="1570"/>
                <a:chExt cx="318" cy="311"/>
              </a:xfrm>
            </p:grpSpPr>
            <p:sp>
              <p:nvSpPr>
                <p:cNvPr id="2379874" name="Line 472"/>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875" name="Picture 473"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876" name="Group 474"/>
              <p:cNvGrpSpPr>
                <a:grpSpLocks/>
              </p:cNvGrpSpPr>
              <p:nvPr/>
            </p:nvGrpSpPr>
            <p:grpSpPr bwMode="auto">
              <a:xfrm>
                <a:off x="762" y="2391"/>
                <a:ext cx="306" cy="90"/>
                <a:chOff x="748" y="2251"/>
                <a:chExt cx="306" cy="90"/>
              </a:xfrm>
            </p:grpSpPr>
            <p:sp>
              <p:nvSpPr>
                <p:cNvPr id="2379877" name="AutoShape 475"/>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78" name="AutoShape 476"/>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79" name="AutoShape 477"/>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80" name="AutoShape 478"/>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81" name="AutoShape 479"/>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82" name="AutoShape 480"/>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9883" name="Group 481"/>
            <p:cNvGrpSpPr>
              <a:grpSpLocks/>
            </p:cNvGrpSpPr>
            <p:nvPr/>
          </p:nvGrpSpPr>
          <p:grpSpPr bwMode="auto">
            <a:xfrm>
              <a:off x="5740050" y="3978279"/>
              <a:ext cx="710423" cy="589759"/>
              <a:chOff x="762" y="2391"/>
              <a:chExt cx="423" cy="312"/>
            </a:xfrm>
          </p:grpSpPr>
          <p:grpSp>
            <p:nvGrpSpPr>
              <p:cNvPr id="2379884" name="Group 482"/>
              <p:cNvGrpSpPr>
                <a:grpSpLocks/>
              </p:cNvGrpSpPr>
              <p:nvPr/>
            </p:nvGrpSpPr>
            <p:grpSpPr bwMode="auto">
              <a:xfrm>
                <a:off x="867" y="2432"/>
                <a:ext cx="318" cy="271"/>
                <a:chOff x="657" y="1570"/>
                <a:chExt cx="318" cy="311"/>
              </a:xfrm>
            </p:grpSpPr>
            <p:sp>
              <p:nvSpPr>
                <p:cNvPr id="2379885" name="Line 48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886" name="Picture 484"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887" name="Group 485"/>
              <p:cNvGrpSpPr>
                <a:grpSpLocks/>
              </p:cNvGrpSpPr>
              <p:nvPr/>
            </p:nvGrpSpPr>
            <p:grpSpPr bwMode="auto">
              <a:xfrm>
                <a:off x="762" y="2391"/>
                <a:ext cx="306" cy="90"/>
                <a:chOff x="748" y="2251"/>
                <a:chExt cx="306" cy="90"/>
              </a:xfrm>
            </p:grpSpPr>
            <p:sp>
              <p:nvSpPr>
                <p:cNvPr id="2379888" name="AutoShape 486"/>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89" name="AutoShape 487"/>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90" name="AutoShape 488"/>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91" name="AutoShape 489"/>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92" name="AutoShape 490"/>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93" name="AutoShape 491"/>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9894" name="Group 492"/>
            <p:cNvGrpSpPr>
              <a:grpSpLocks/>
            </p:cNvGrpSpPr>
            <p:nvPr/>
          </p:nvGrpSpPr>
          <p:grpSpPr bwMode="auto">
            <a:xfrm>
              <a:off x="7263345" y="4150292"/>
              <a:ext cx="710422" cy="589759"/>
              <a:chOff x="762" y="2391"/>
              <a:chExt cx="423" cy="312"/>
            </a:xfrm>
          </p:grpSpPr>
          <p:grpSp>
            <p:nvGrpSpPr>
              <p:cNvPr id="2379895" name="Group 493"/>
              <p:cNvGrpSpPr>
                <a:grpSpLocks/>
              </p:cNvGrpSpPr>
              <p:nvPr/>
            </p:nvGrpSpPr>
            <p:grpSpPr bwMode="auto">
              <a:xfrm>
                <a:off x="867" y="2432"/>
                <a:ext cx="318" cy="271"/>
                <a:chOff x="657" y="1570"/>
                <a:chExt cx="318" cy="311"/>
              </a:xfrm>
            </p:grpSpPr>
            <p:sp>
              <p:nvSpPr>
                <p:cNvPr id="2379896" name="Line 494"/>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897" name="Picture 49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898" name="Group 496"/>
              <p:cNvGrpSpPr>
                <a:grpSpLocks/>
              </p:cNvGrpSpPr>
              <p:nvPr/>
            </p:nvGrpSpPr>
            <p:grpSpPr bwMode="auto">
              <a:xfrm>
                <a:off x="762" y="2391"/>
                <a:ext cx="306" cy="90"/>
                <a:chOff x="748" y="2251"/>
                <a:chExt cx="306" cy="90"/>
              </a:xfrm>
            </p:grpSpPr>
            <p:sp>
              <p:nvSpPr>
                <p:cNvPr id="2379899" name="AutoShape 49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00" name="AutoShape 49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01" name="AutoShape 49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02" name="AutoShape 50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03" name="AutoShape 50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04" name="AutoShape 50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9905" name="Group 503"/>
            <p:cNvGrpSpPr>
              <a:grpSpLocks/>
            </p:cNvGrpSpPr>
            <p:nvPr/>
          </p:nvGrpSpPr>
          <p:grpSpPr bwMode="auto">
            <a:xfrm>
              <a:off x="8000639" y="3987730"/>
              <a:ext cx="710423" cy="589759"/>
              <a:chOff x="762" y="2391"/>
              <a:chExt cx="423" cy="312"/>
            </a:xfrm>
          </p:grpSpPr>
          <p:grpSp>
            <p:nvGrpSpPr>
              <p:cNvPr id="2379906" name="Group 504"/>
              <p:cNvGrpSpPr>
                <a:grpSpLocks/>
              </p:cNvGrpSpPr>
              <p:nvPr/>
            </p:nvGrpSpPr>
            <p:grpSpPr bwMode="auto">
              <a:xfrm>
                <a:off x="867" y="2432"/>
                <a:ext cx="318" cy="271"/>
                <a:chOff x="657" y="1570"/>
                <a:chExt cx="318" cy="311"/>
              </a:xfrm>
            </p:grpSpPr>
            <p:sp>
              <p:nvSpPr>
                <p:cNvPr id="2379907" name="Line 505"/>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908" name="Picture 506"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909" name="Group 507"/>
              <p:cNvGrpSpPr>
                <a:grpSpLocks/>
              </p:cNvGrpSpPr>
              <p:nvPr/>
            </p:nvGrpSpPr>
            <p:grpSpPr bwMode="auto">
              <a:xfrm>
                <a:off x="762" y="2391"/>
                <a:ext cx="306" cy="90"/>
                <a:chOff x="748" y="2251"/>
                <a:chExt cx="306" cy="90"/>
              </a:xfrm>
            </p:grpSpPr>
            <p:sp>
              <p:nvSpPr>
                <p:cNvPr id="2379910" name="AutoShape 508"/>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11" name="AutoShape 509"/>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12" name="AutoShape 510"/>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13" name="AutoShape 511"/>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14" name="AutoShape 512"/>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15" name="AutoShape 513"/>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79916" name="Line 517"/>
            <p:cNvSpPr>
              <a:spLocks noChangeShapeType="1"/>
            </p:cNvSpPr>
            <p:nvPr/>
          </p:nvSpPr>
          <p:spPr bwMode="auto">
            <a:xfrm flipH="1">
              <a:off x="1930973" y="1988840"/>
              <a:ext cx="744013" cy="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917" name="Text Box 44"/>
            <p:cNvSpPr txBox="1">
              <a:spLocks noChangeArrowheads="1"/>
            </p:cNvSpPr>
            <p:nvPr/>
          </p:nvSpPr>
          <p:spPr bwMode="auto">
            <a:xfrm>
              <a:off x="1474153" y="3116323"/>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79918" name="Line 48"/>
            <p:cNvSpPr>
              <a:spLocks noChangeShapeType="1"/>
            </p:cNvSpPr>
            <p:nvPr/>
          </p:nvSpPr>
          <p:spPr bwMode="auto">
            <a:xfrm flipH="1">
              <a:off x="3342582" y="2029356"/>
              <a:ext cx="0" cy="8916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19" name="Rectangle 515"/>
            <p:cNvSpPr>
              <a:spLocks noChangeArrowheads="1"/>
            </p:cNvSpPr>
            <p:nvPr/>
          </p:nvSpPr>
          <p:spPr bwMode="auto">
            <a:xfrm>
              <a:off x="2465050" y="1793019"/>
              <a:ext cx="607974" cy="406459"/>
            </a:xfrm>
            <a:prstGeom prst="rect">
              <a:avLst/>
            </a:prstGeom>
            <a:solidFill>
              <a:srgbClr val="66FFFF"/>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宋体" panose="02010600030101010101" pitchFamily="2" charset="-122"/>
                </a:rPr>
                <a:t>门户</a:t>
              </a:r>
              <a:endParaRPr lang="en-US" altLang="zh-CN" sz="2000" b="1">
                <a:solidFill>
                  <a:srgbClr val="000099"/>
                </a:solidFill>
                <a:ea typeface="宋体" panose="02010600030101010101" pitchFamily="2" charset="-122"/>
              </a:endParaRPr>
            </a:p>
          </p:txBody>
        </p:sp>
        <p:sp>
          <p:nvSpPr>
            <p:cNvPr id="2379920" name="Text Box 518"/>
            <p:cNvSpPr txBox="1">
              <a:spLocks noChangeArrowheads="1"/>
            </p:cNvSpPr>
            <p:nvPr/>
          </p:nvSpPr>
          <p:spPr bwMode="auto">
            <a:xfrm>
              <a:off x="488504" y="1628800"/>
              <a:ext cx="1683804"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zh-CN" altLang="en-US" sz="2000" b="1">
                  <a:solidFill>
                    <a:srgbClr val="000099"/>
                  </a:solidFill>
                  <a:ea typeface="宋体" panose="02010600030101010101" pitchFamily="2" charset="-122"/>
                </a:rPr>
                <a:t>至其他 </a:t>
              </a:r>
              <a:r>
                <a:rPr lang="en-US" altLang="zh-CN" sz="2000" b="1">
                  <a:solidFill>
                    <a:srgbClr val="000099"/>
                  </a:solidFill>
                  <a:ea typeface="宋体" panose="02010600030101010101" pitchFamily="2" charset="-122"/>
                </a:rPr>
                <a:t>802.x</a:t>
              </a:r>
            </a:p>
            <a:p>
              <a:pPr algn="ctr">
                <a:lnSpc>
                  <a:spcPct val="85000"/>
                </a:lnSpc>
              </a:pPr>
              <a:r>
                <a:rPr lang="zh-CN" altLang="en-US" sz="2000" b="1">
                  <a:solidFill>
                    <a:srgbClr val="000099"/>
                  </a:solidFill>
                  <a:ea typeface="宋体" panose="02010600030101010101" pitchFamily="2" charset="-122"/>
                </a:rPr>
                <a:t>局域网</a:t>
              </a:r>
            </a:p>
          </p:txBody>
        </p:sp>
      </p:grpSp>
      <p:sp>
        <p:nvSpPr>
          <p:cNvPr id="345104" name="Line 16"/>
          <p:cNvSpPr>
            <a:spLocks noChangeShapeType="1"/>
          </p:cNvSpPr>
          <p:nvPr/>
        </p:nvSpPr>
        <p:spPr bwMode="auto">
          <a:xfrm flipV="1">
            <a:off x="3440113" y="2997200"/>
            <a:ext cx="0" cy="936625"/>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45105" name="Line 17"/>
          <p:cNvSpPr>
            <a:spLocks noChangeShapeType="1"/>
          </p:cNvSpPr>
          <p:nvPr/>
        </p:nvSpPr>
        <p:spPr bwMode="auto">
          <a:xfrm>
            <a:off x="3446463" y="2997200"/>
            <a:ext cx="3019425" cy="0"/>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45106" name="Line 18"/>
          <p:cNvSpPr>
            <a:spLocks noChangeShapeType="1"/>
          </p:cNvSpPr>
          <p:nvPr/>
        </p:nvSpPr>
        <p:spPr bwMode="auto">
          <a:xfrm>
            <a:off x="6465888" y="2997200"/>
            <a:ext cx="0" cy="936625"/>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45103" name="AutoShape 15"/>
          <p:cNvSpPr>
            <a:spLocks noChangeArrowheads="1"/>
          </p:cNvSpPr>
          <p:nvPr/>
        </p:nvSpPr>
        <p:spPr bwMode="auto">
          <a:xfrm>
            <a:off x="344488" y="3141663"/>
            <a:ext cx="9415462" cy="3311525"/>
          </a:xfrm>
          <a:prstGeom prst="roundRect">
            <a:avLst>
              <a:gd name="adj" fmla="val 9046"/>
            </a:avLst>
          </a:prstGeom>
          <a:noFill/>
          <a:ln w="57150">
            <a:solidFill>
              <a:schemeClr va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37992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2B443CC-9E34-4616-85A3-6211E6DEB2F1}" type="slidenum">
              <a:rPr lang="en-US" altLang="zh-CN" smtClean="0"/>
              <a:pPr eaLnBrk="1" hangingPunct="1"/>
              <a:t>9</a:t>
            </a:fld>
            <a:endParaRPr lang="en-US" altLang="zh-CN" smtClean="0"/>
          </a:p>
        </p:txBody>
      </p:sp>
      <p:sp>
        <p:nvSpPr>
          <p:cNvPr id="237992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345104"/>
                                        </p:tgtEl>
                                        <p:attrNameLst>
                                          <p:attrName>style.visibility</p:attrName>
                                        </p:attrNameLst>
                                      </p:cBhvr>
                                      <p:to>
                                        <p:strVal val="visible"/>
                                      </p:to>
                                    </p:set>
                                    <p:animEffect transition="in" filter="wipe(down)">
                                      <p:cBhvr>
                                        <p:cTn id="7" dur="1000"/>
                                        <p:tgtEl>
                                          <p:spTgt spid="345104"/>
                                        </p:tgtEl>
                                      </p:cBhvr>
                                    </p:animEffect>
                                  </p:childTnLst>
                                </p:cTn>
                              </p:par>
                            </p:childTnLst>
                          </p:cTn>
                        </p:par>
                        <p:par>
                          <p:cTn id="8" fill="hold" nodeType="afterGroup">
                            <p:stCondLst>
                              <p:cond delay="1500"/>
                            </p:stCondLst>
                            <p:childTnLst>
                              <p:par>
                                <p:cTn id="9" presetID="22" presetClass="entr" presetSubtype="8" fill="hold" grpId="0" nodeType="afterEffect">
                                  <p:stCondLst>
                                    <p:cond delay="500"/>
                                  </p:stCondLst>
                                  <p:childTnLst>
                                    <p:set>
                                      <p:cBhvr>
                                        <p:cTn id="10" dur="1" fill="hold">
                                          <p:stCondLst>
                                            <p:cond delay="0"/>
                                          </p:stCondLst>
                                        </p:cTn>
                                        <p:tgtEl>
                                          <p:spTgt spid="345105"/>
                                        </p:tgtEl>
                                        <p:attrNameLst>
                                          <p:attrName>style.visibility</p:attrName>
                                        </p:attrNameLst>
                                      </p:cBhvr>
                                      <p:to>
                                        <p:strVal val="visible"/>
                                      </p:to>
                                    </p:set>
                                    <p:animEffect transition="in" filter="wipe(left)">
                                      <p:cBhvr>
                                        <p:cTn id="11" dur="1000"/>
                                        <p:tgtEl>
                                          <p:spTgt spid="345105"/>
                                        </p:tgtEl>
                                      </p:cBhvr>
                                    </p:animEffect>
                                  </p:childTnLst>
                                </p:cTn>
                              </p:par>
                            </p:childTnLst>
                          </p:cTn>
                        </p:par>
                        <p:par>
                          <p:cTn id="12" fill="hold" nodeType="afterGroup">
                            <p:stCondLst>
                              <p:cond delay="3000"/>
                            </p:stCondLst>
                            <p:childTnLst>
                              <p:par>
                                <p:cTn id="13" presetID="22" presetClass="entr" presetSubtype="1" fill="hold" grpId="0" nodeType="afterEffect">
                                  <p:stCondLst>
                                    <p:cond delay="500"/>
                                  </p:stCondLst>
                                  <p:childTnLst>
                                    <p:set>
                                      <p:cBhvr>
                                        <p:cTn id="14" dur="1" fill="hold">
                                          <p:stCondLst>
                                            <p:cond delay="0"/>
                                          </p:stCondLst>
                                        </p:cTn>
                                        <p:tgtEl>
                                          <p:spTgt spid="345106"/>
                                        </p:tgtEl>
                                        <p:attrNameLst>
                                          <p:attrName>style.visibility</p:attrName>
                                        </p:attrNameLst>
                                      </p:cBhvr>
                                      <p:to>
                                        <p:strVal val="visible"/>
                                      </p:to>
                                    </p:set>
                                    <p:animEffect transition="in" filter="wipe(up)">
                                      <p:cBhvr>
                                        <p:cTn id="15" dur="1000"/>
                                        <p:tgtEl>
                                          <p:spTgt spid="345106"/>
                                        </p:tgtEl>
                                      </p:cBhvr>
                                    </p:animEffect>
                                  </p:childTnLst>
                                </p:cTn>
                              </p:par>
                            </p:childTnLst>
                          </p:cTn>
                        </p:par>
                        <p:par>
                          <p:cTn id="16" fill="hold" nodeType="afterGroup">
                            <p:stCondLst>
                              <p:cond delay="4500"/>
                            </p:stCondLst>
                            <p:childTnLst>
                              <p:par>
                                <p:cTn id="17" presetID="8" presetClass="entr" presetSubtype="16" fill="hold" grpId="0" nodeType="afterEffect">
                                  <p:stCondLst>
                                    <p:cond delay="0"/>
                                  </p:stCondLst>
                                  <p:childTnLst>
                                    <p:set>
                                      <p:cBhvr>
                                        <p:cTn id="18" dur="1" fill="hold">
                                          <p:stCondLst>
                                            <p:cond delay="0"/>
                                          </p:stCondLst>
                                        </p:cTn>
                                        <p:tgtEl>
                                          <p:spTgt spid="345103"/>
                                        </p:tgtEl>
                                        <p:attrNameLst>
                                          <p:attrName>style.visibility</p:attrName>
                                        </p:attrNameLst>
                                      </p:cBhvr>
                                      <p:to>
                                        <p:strVal val="visible"/>
                                      </p:to>
                                    </p:set>
                                    <p:animEffect transition="in" filter="diamond(in)">
                                      <p:cBhvr>
                                        <p:cTn id="19" dur="3000"/>
                                        <p:tgtEl>
                                          <p:spTgt spid="345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104" grpId="0" animBg="1"/>
      <p:bldP spid="345105" grpId="0" animBg="1"/>
      <p:bldP spid="345106" grpId="0" animBg="1"/>
      <p:bldP spid="34510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1825" name="Text Box 13"/>
          <p:cNvSpPr txBox="1">
            <a:spLocks noChangeArrowheads="1"/>
          </p:cNvSpPr>
          <p:nvPr/>
        </p:nvSpPr>
        <p:spPr bwMode="auto">
          <a:xfrm>
            <a:off x="428625" y="260350"/>
            <a:ext cx="9086850" cy="1385888"/>
          </a:xfrm>
          <a:prstGeom prst="rect">
            <a:avLst/>
          </a:prstGeom>
          <a:solidFill>
            <a:srgbClr val="66FF66"/>
          </a:solidFill>
          <a:ln w="9525">
            <a:solidFill>
              <a:srgbClr val="000099"/>
            </a:solidFill>
            <a:round/>
            <a:headEnd/>
            <a:tailEnd/>
          </a:ln>
        </p:spPr>
        <p:txBody>
          <a:bodyPr>
            <a:spAutoFit/>
          </a:bodyPr>
          <a:lstStyle/>
          <a:p>
            <a:pPr algn="ctr" eaLnBrk="0" hangingPunct="0"/>
            <a:r>
              <a:rPr lang="en-US" altLang="zh-CN" sz="2800" b="1" dirty="0">
                <a:solidFill>
                  <a:schemeClr val="tx2"/>
                </a:solidFill>
                <a:ea typeface="宋体" panose="02010600030101010101" pitchFamily="2" charset="-122"/>
              </a:rPr>
              <a:t>ESS </a:t>
            </a:r>
            <a:r>
              <a:rPr lang="zh-CN" altLang="en-US" sz="2800" b="1" dirty="0">
                <a:solidFill>
                  <a:schemeClr val="tx2"/>
                </a:solidFill>
                <a:ea typeface="宋体" panose="02010600030101010101" pitchFamily="2" charset="-122"/>
              </a:rPr>
              <a:t>还可通过叫做</a:t>
            </a:r>
            <a:r>
              <a:rPr lang="zh-CN" altLang="en-US" sz="2800" b="1" dirty="0">
                <a:ea typeface="宋体" panose="02010600030101010101" pitchFamily="2" charset="-122"/>
              </a:rPr>
              <a:t>门户</a:t>
            </a:r>
            <a:r>
              <a:rPr lang="zh-CN" altLang="en-US" sz="2800" b="1" dirty="0">
                <a:solidFill>
                  <a:srgbClr val="C00000"/>
                </a:solidFill>
                <a:ea typeface="宋体" panose="02010600030101010101" pitchFamily="2" charset="-122"/>
              </a:rPr>
              <a:t> </a:t>
            </a:r>
            <a:r>
              <a:rPr lang="en-US" altLang="zh-CN" sz="2800" b="1" dirty="0">
                <a:solidFill>
                  <a:schemeClr val="tx2"/>
                </a:solidFill>
                <a:ea typeface="宋体" panose="02010600030101010101" pitchFamily="2" charset="-122"/>
              </a:rPr>
              <a:t>(portal) </a:t>
            </a:r>
            <a:r>
              <a:rPr lang="zh-CN" altLang="en-US" sz="2800" b="1" dirty="0">
                <a:solidFill>
                  <a:schemeClr val="tx2"/>
                </a:solidFill>
                <a:ea typeface="宋体" panose="02010600030101010101" pitchFamily="2" charset="-122"/>
              </a:rPr>
              <a:t>为无线用户提供</a:t>
            </a:r>
          </a:p>
          <a:p>
            <a:pPr algn="ctr" eaLnBrk="0" hangingPunct="0"/>
            <a:r>
              <a:rPr lang="zh-CN" altLang="en-US" sz="2800" b="1" dirty="0">
                <a:solidFill>
                  <a:schemeClr val="tx2"/>
                </a:solidFill>
                <a:ea typeface="宋体" panose="02010600030101010101" pitchFamily="2" charset="-122"/>
              </a:rPr>
              <a:t>到非 </a:t>
            </a:r>
            <a:r>
              <a:rPr lang="en-US" altLang="zh-CN" sz="2800" b="1" dirty="0">
                <a:solidFill>
                  <a:schemeClr val="tx2"/>
                </a:solidFill>
                <a:ea typeface="宋体" panose="02010600030101010101" pitchFamily="2" charset="-122"/>
              </a:rPr>
              <a:t>802.11 </a:t>
            </a:r>
            <a:r>
              <a:rPr lang="zh-CN" altLang="en-US" sz="2800" b="1" dirty="0">
                <a:solidFill>
                  <a:schemeClr val="tx2"/>
                </a:solidFill>
                <a:ea typeface="宋体" panose="02010600030101010101" pitchFamily="2" charset="-122"/>
              </a:rPr>
              <a:t>无线局域网（例如，到有线连接</a:t>
            </a:r>
          </a:p>
          <a:p>
            <a:pPr algn="ctr" eaLnBrk="0" hangingPunct="0"/>
            <a:r>
              <a:rPr lang="zh-CN" altLang="en-US" sz="2800" b="1" dirty="0">
                <a:solidFill>
                  <a:schemeClr val="tx2"/>
                </a:solidFill>
                <a:ea typeface="宋体" panose="02010600030101010101" pitchFamily="2" charset="-122"/>
              </a:rPr>
              <a:t>的互联网）的接入。</a:t>
            </a:r>
            <a:r>
              <a:rPr lang="zh-CN" altLang="en-US" sz="2800" b="1" dirty="0">
                <a:ea typeface="宋体" panose="02010600030101010101" pitchFamily="2" charset="-122"/>
              </a:rPr>
              <a:t>门户的作用就相当于一个网桥</a:t>
            </a:r>
            <a:r>
              <a:rPr lang="zh-CN" altLang="en-US" sz="2800" b="1" dirty="0">
                <a:solidFill>
                  <a:srgbClr val="C00000"/>
                </a:solidFill>
                <a:ea typeface="宋体" panose="02010600030101010101" pitchFamily="2" charset="-122"/>
              </a:rPr>
              <a:t>。</a:t>
            </a:r>
            <a:r>
              <a:rPr lang="zh-CN" altLang="en-US" sz="2800" b="1" dirty="0">
                <a:solidFill>
                  <a:schemeClr val="tx2"/>
                </a:solidFill>
                <a:ea typeface="宋体" panose="02010600030101010101" pitchFamily="2" charset="-122"/>
              </a:rPr>
              <a:t> </a:t>
            </a:r>
          </a:p>
        </p:txBody>
      </p:sp>
      <p:grpSp>
        <p:nvGrpSpPr>
          <p:cNvPr id="2381826" name="组合 14"/>
          <p:cNvGrpSpPr>
            <a:grpSpLocks/>
          </p:cNvGrpSpPr>
          <p:nvPr/>
        </p:nvGrpSpPr>
        <p:grpSpPr bwMode="auto">
          <a:xfrm>
            <a:off x="344488" y="2298700"/>
            <a:ext cx="9504362" cy="4010025"/>
            <a:chOff x="344487" y="1484784"/>
            <a:chExt cx="9505057" cy="4009836"/>
          </a:xfrm>
        </p:grpSpPr>
        <p:sp>
          <p:nvSpPr>
            <p:cNvPr id="2381827" name="AutoShape 519"/>
            <p:cNvSpPr>
              <a:spLocks noChangeArrowheads="1"/>
            </p:cNvSpPr>
            <p:nvPr/>
          </p:nvSpPr>
          <p:spPr bwMode="auto">
            <a:xfrm>
              <a:off x="344487" y="2403046"/>
              <a:ext cx="9321717" cy="3091574"/>
            </a:xfrm>
            <a:prstGeom prst="roundRect">
              <a:avLst>
                <a:gd name="adj" fmla="val 13255"/>
              </a:avLst>
            </a:prstGeom>
            <a:solidFill>
              <a:srgbClr val="FFFF66"/>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28" name="Oval 19"/>
            <p:cNvSpPr>
              <a:spLocks noChangeArrowheads="1"/>
            </p:cNvSpPr>
            <p:nvPr/>
          </p:nvSpPr>
          <p:spPr bwMode="auto">
            <a:xfrm>
              <a:off x="582272" y="2921003"/>
              <a:ext cx="4685842" cy="2325636"/>
            </a:xfrm>
            <a:prstGeom prst="ellipse">
              <a:avLst/>
            </a:prstGeom>
            <a:solidFill>
              <a:srgbClr val="66FF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pic>
          <p:nvPicPr>
            <p:cNvPr id="2381829" name="Picture 222"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4704" y="2605955"/>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1830" name="Oval 21"/>
            <p:cNvSpPr>
              <a:spLocks noChangeArrowheads="1"/>
            </p:cNvSpPr>
            <p:nvPr/>
          </p:nvSpPr>
          <p:spPr bwMode="auto">
            <a:xfrm>
              <a:off x="5127036" y="2943364"/>
              <a:ext cx="4362468" cy="2303275"/>
            </a:xfrm>
            <a:prstGeom prst="ellipse">
              <a:avLst/>
            </a:prstGeom>
            <a:solidFill>
              <a:srgbClr val="FF99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grpSp>
          <p:nvGrpSpPr>
            <p:cNvPr id="2381831" name="Group 425"/>
            <p:cNvGrpSpPr>
              <a:grpSpLocks/>
            </p:cNvGrpSpPr>
            <p:nvPr/>
          </p:nvGrpSpPr>
          <p:grpSpPr bwMode="auto">
            <a:xfrm>
              <a:off x="941756" y="3721205"/>
              <a:ext cx="710422" cy="589759"/>
              <a:chOff x="762" y="2391"/>
              <a:chExt cx="423" cy="312"/>
            </a:xfrm>
          </p:grpSpPr>
          <p:grpSp>
            <p:nvGrpSpPr>
              <p:cNvPr id="2381832" name="Group 316"/>
              <p:cNvGrpSpPr>
                <a:grpSpLocks/>
              </p:cNvGrpSpPr>
              <p:nvPr/>
            </p:nvGrpSpPr>
            <p:grpSpPr bwMode="auto">
              <a:xfrm>
                <a:off x="867" y="2432"/>
                <a:ext cx="318" cy="271"/>
                <a:chOff x="657" y="1570"/>
                <a:chExt cx="318" cy="311"/>
              </a:xfrm>
            </p:grpSpPr>
            <p:sp>
              <p:nvSpPr>
                <p:cNvPr id="2381833" name="Line 31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834" name="Picture 31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835" name="Group 424"/>
              <p:cNvGrpSpPr>
                <a:grpSpLocks/>
              </p:cNvGrpSpPr>
              <p:nvPr/>
            </p:nvGrpSpPr>
            <p:grpSpPr bwMode="auto">
              <a:xfrm>
                <a:off x="762" y="2391"/>
                <a:ext cx="306" cy="90"/>
                <a:chOff x="748" y="2251"/>
                <a:chExt cx="306" cy="90"/>
              </a:xfrm>
            </p:grpSpPr>
            <p:sp>
              <p:nvSpPr>
                <p:cNvPr id="2381836" name="AutoShape 31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37" name="AutoShape 31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38" name="AutoShape 31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39" name="AutoShape 32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40" name="AutoShape 32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41" name="AutoShape 32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81842" name="Text Box 45"/>
            <p:cNvSpPr txBox="1">
              <a:spLocks noChangeArrowheads="1"/>
            </p:cNvSpPr>
            <p:nvPr/>
          </p:nvSpPr>
          <p:spPr bwMode="auto">
            <a:xfrm>
              <a:off x="7282725" y="3230770"/>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81843" name="Text Box 46"/>
            <p:cNvSpPr txBox="1">
              <a:spLocks noChangeArrowheads="1"/>
            </p:cNvSpPr>
            <p:nvPr/>
          </p:nvSpPr>
          <p:spPr bwMode="auto">
            <a:xfrm>
              <a:off x="582272" y="2408739"/>
              <a:ext cx="1746814" cy="7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扩展的服务集</a:t>
              </a:r>
            </a:p>
            <a:p>
              <a:pPr algn="ctr"/>
              <a:r>
                <a:rPr lang="en-US" altLang="zh-CN" sz="2000" b="1">
                  <a:solidFill>
                    <a:srgbClr val="000099"/>
                  </a:solidFill>
                  <a:ea typeface="宋体" panose="02010600030101010101" pitchFamily="2" charset="-122"/>
                </a:rPr>
                <a:t>ESS</a:t>
              </a:r>
            </a:p>
          </p:txBody>
        </p:sp>
        <p:sp>
          <p:nvSpPr>
            <p:cNvPr id="2381844" name="Text Box 175"/>
            <p:cNvSpPr txBox="1">
              <a:spLocks noChangeArrowheads="1"/>
            </p:cNvSpPr>
            <p:nvPr/>
          </p:nvSpPr>
          <p:spPr bwMode="auto">
            <a:xfrm>
              <a:off x="776536" y="383462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sp>
          <p:nvSpPr>
            <p:cNvPr id="2381845" name="Text Box 176"/>
            <p:cNvSpPr txBox="1">
              <a:spLocks noChangeArrowheads="1"/>
            </p:cNvSpPr>
            <p:nvPr/>
          </p:nvSpPr>
          <p:spPr bwMode="auto">
            <a:xfrm>
              <a:off x="8450741" y="409169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B</a:t>
              </a:r>
            </a:p>
          </p:txBody>
        </p:sp>
        <p:sp>
          <p:nvSpPr>
            <p:cNvPr id="2381846" name="Line 177"/>
            <p:cNvSpPr>
              <a:spLocks noChangeShapeType="1"/>
            </p:cNvSpPr>
            <p:nvPr/>
          </p:nvSpPr>
          <p:spPr bwMode="auto">
            <a:xfrm>
              <a:off x="1398576" y="4150292"/>
              <a:ext cx="5330691" cy="599211"/>
            </a:xfrm>
            <a:prstGeom prst="line">
              <a:avLst/>
            </a:prstGeom>
            <a:noFill/>
            <a:ln w="76200">
              <a:solidFill>
                <a:srgbClr val="0000FF"/>
              </a:solidFill>
              <a:prstDash val="sysDot"/>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47" name="AutoShape 180"/>
            <p:cNvSpPr>
              <a:spLocks noChangeArrowheads="1"/>
            </p:cNvSpPr>
            <p:nvPr/>
          </p:nvSpPr>
          <p:spPr bwMode="auto">
            <a:xfrm>
              <a:off x="4676934" y="4893162"/>
              <a:ext cx="713783" cy="457442"/>
            </a:xfrm>
            <a:prstGeom prst="wedgeRoundRectCallout">
              <a:avLst>
                <a:gd name="adj1" fmla="val 131898"/>
                <a:gd name="adj2" fmla="val -108287"/>
                <a:gd name="adj3" fmla="val 16667"/>
              </a:avLst>
            </a:prstGeom>
            <a:solidFill>
              <a:srgbClr val="00FF99"/>
            </a:solidFill>
            <a:ln w="9525">
              <a:solidFill>
                <a:schemeClr val="tx1"/>
              </a:solidFill>
              <a:miter lim="800000"/>
              <a:headEnd/>
              <a:tailEnd/>
            </a:ln>
            <a:effectLst>
              <a:outerShdw dist="28398" dir="3806097" algn="ctr" rotWithShape="0">
                <a:schemeClr val="bg2"/>
              </a:outerShdw>
            </a:effectLst>
          </p:spPr>
          <p:txBody>
            <a:bodyPr/>
            <a:lstStyle/>
            <a:p>
              <a:pPr algn="ctr" eaLnBrk="0" hangingPunct="0"/>
              <a:endParaRPr lang="zh-CN" altLang="zh-CN" sz="2000" b="1">
                <a:solidFill>
                  <a:srgbClr val="000099"/>
                </a:solidFill>
                <a:ea typeface="宋体" panose="02010600030101010101" pitchFamily="2" charset="-122"/>
              </a:endParaRPr>
            </a:p>
          </p:txBody>
        </p:sp>
        <p:sp>
          <p:nvSpPr>
            <p:cNvPr id="2381848" name="Text Box 178"/>
            <p:cNvSpPr txBox="1">
              <a:spLocks noChangeArrowheads="1"/>
            </p:cNvSpPr>
            <p:nvPr/>
          </p:nvSpPr>
          <p:spPr bwMode="auto">
            <a:xfrm>
              <a:off x="4664968" y="4908816"/>
              <a:ext cx="706351"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漫游</a:t>
              </a:r>
            </a:p>
          </p:txBody>
        </p:sp>
        <p:sp>
          <p:nvSpPr>
            <p:cNvPr id="2381849" name="Line 187"/>
            <p:cNvSpPr>
              <a:spLocks noChangeShapeType="1"/>
            </p:cNvSpPr>
            <p:nvPr/>
          </p:nvSpPr>
          <p:spPr bwMode="auto">
            <a:xfrm flipV="1">
              <a:off x="2844614" y="2029356"/>
              <a:ext cx="5789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50" name="Text Box 50"/>
            <p:cNvSpPr txBox="1">
              <a:spLocks noChangeArrowheads="1"/>
            </p:cNvSpPr>
            <p:nvPr/>
          </p:nvSpPr>
          <p:spPr bwMode="auto">
            <a:xfrm>
              <a:off x="3607101" y="2520893"/>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1</a:t>
              </a:r>
            </a:p>
          </p:txBody>
        </p:sp>
        <p:sp>
          <p:nvSpPr>
            <p:cNvPr id="2381851" name="Freeform 288"/>
            <p:cNvSpPr>
              <a:spLocks noChangeArrowheads="1"/>
            </p:cNvSpPr>
            <p:nvPr/>
          </p:nvSpPr>
          <p:spPr bwMode="auto">
            <a:xfrm>
              <a:off x="2846294" y="2348880"/>
              <a:ext cx="214974" cy="357257"/>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1852" name="Freeform 291"/>
            <p:cNvSpPr>
              <a:spLocks noChangeArrowheads="1"/>
            </p:cNvSpPr>
            <p:nvPr/>
          </p:nvSpPr>
          <p:spPr bwMode="auto">
            <a:xfrm>
              <a:off x="3607101"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1853" name="Freeform 293"/>
            <p:cNvSpPr>
              <a:spLocks noChangeArrowheads="1"/>
            </p:cNvSpPr>
            <p:nvPr/>
          </p:nvSpPr>
          <p:spPr bwMode="auto">
            <a:xfrm>
              <a:off x="2846294" y="2764736"/>
              <a:ext cx="214974" cy="357257"/>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1854" name="Freeform 294"/>
            <p:cNvSpPr>
              <a:spLocks noChangeArrowheads="1"/>
            </p:cNvSpPr>
            <p:nvPr/>
          </p:nvSpPr>
          <p:spPr bwMode="auto">
            <a:xfrm>
              <a:off x="3607101"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graphicFrame>
          <p:nvGraphicFramePr>
            <p:cNvPr id="2381855" name="Object 295"/>
            <p:cNvGraphicFramePr>
              <a:graphicFrameLocks noChangeAspect="1"/>
            </p:cNvGraphicFramePr>
            <p:nvPr/>
          </p:nvGraphicFramePr>
          <p:xfrm>
            <a:off x="8405396" y="1484784"/>
            <a:ext cx="1444148" cy="847341"/>
          </p:xfrm>
          <a:graphic>
            <a:graphicData uri="http://schemas.openxmlformats.org/presentationml/2006/ole">
              <mc:AlternateContent xmlns:mc="http://schemas.openxmlformats.org/markup-compatibility/2006">
                <mc:Choice xmlns:v="urn:schemas-microsoft-com:vml" Requires="v">
                  <p:oleObj spid="_x0000_s2382027" r:id="rId6" imgW="1687068" imgH="964692" progId="Visio.Drawing.6">
                    <p:embed/>
                  </p:oleObj>
                </mc:Choice>
                <mc:Fallback>
                  <p:oleObj r:id="rId6" imgW="1687068" imgH="964692" progId="Visio.Drawing.6">
                    <p:embed/>
                    <p:pic>
                      <p:nvPicPr>
                        <p:cNvPr id="0" name="Object 29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05396" y="1484784"/>
                          <a:ext cx="1444148" cy="84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381856" name="Picture 297"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9704" y="2692906"/>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1857" name="Text Box 300"/>
            <p:cNvSpPr txBox="1">
              <a:spLocks noChangeArrowheads="1"/>
            </p:cNvSpPr>
            <p:nvPr/>
          </p:nvSpPr>
          <p:spPr bwMode="auto">
            <a:xfrm>
              <a:off x="6873704" y="2542292"/>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2</a:t>
              </a:r>
            </a:p>
          </p:txBody>
        </p:sp>
        <p:sp>
          <p:nvSpPr>
            <p:cNvPr id="2381858" name="Line 49"/>
            <p:cNvSpPr>
              <a:spLocks noChangeShapeType="1"/>
            </p:cNvSpPr>
            <p:nvPr/>
          </p:nvSpPr>
          <p:spPr bwMode="auto">
            <a:xfrm flipV="1">
              <a:off x="6578114" y="2029356"/>
              <a:ext cx="0" cy="10349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59" name="Text Box 190"/>
            <p:cNvSpPr txBox="1">
              <a:spLocks noChangeArrowheads="1"/>
            </p:cNvSpPr>
            <p:nvPr/>
          </p:nvSpPr>
          <p:spPr bwMode="auto">
            <a:xfrm>
              <a:off x="8553400" y="1671191"/>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宋体" panose="02010600030101010101" pitchFamily="2" charset="-122"/>
                </a:rPr>
                <a:t>互联网</a:t>
              </a:r>
            </a:p>
          </p:txBody>
        </p:sp>
        <p:sp>
          <p:nvSpPr>
            <p:cNvPr id="2381860" name="Freeform 301"/>
            <p:cNvSpPr>
              <a:spLocks noChangeArrowheads="1"/>
            </p:cNvSpPr>
            <p:nvPr/>
          </p:nvSpPr>
          <p:spPr bwMode="auto">
            <a:xfrm>
              <a:off x="6121294" y="2433941"/>
              <a:ext cx="214974" cy="357259"/>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1861" name="Freeform 302"/>
            <p:cNvSpPr>
              <a:spLocks noChangeArrowheads="1"/>
            </p:cNvSpPr>
            <p:nvPr/>
          </p:nvSpPr>
          <p:spPr bwMode="auto">
            <a:xfrm>
              <a:off x="6819960"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1862" name="Freeform 303"/>
            <p:cNvSpPr>
              <a:spLocks noChangeArrowheads="1"/>
            </p:cNvSpPr>
            <p:nvPr/>
          </p:nvSpPr>
          <p:spPr bwMode="auto">
            <a:xfrm>
              <a:off x="6121294" y="2849797"/>
              <a:ext cx="214974" cy="357259"/>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1863" name="Freeform 304"/>
            <p:cNvSpPr>
              <a:spLocks noChangeArrowheads="1"/>
            </p:cNvSpPr>
            <p:nvPr/>
          </p:nvSpPr>
          <p:spPr bwMode="auto">
            <a:xfrm>
              <a:off x="6819960"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1864" name="Text Box 305"/>
            <p:cNvSpPr txBox="1">
              <a:spLocks noChangeArrowheads="1"/>
            </p:cNvSpPr>
            <p:nvPr/>
          </p:nvSpPr>
          <p:spPr bwMode="auto">
            <a:xfrm>
              <a:off x="4651742" y="1628622"/>
              <a:ext cx="1657955"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分配系统 </a:t>
              </a:r>
              <a:r>
                <a:rPr lang="en-US" altLang="zh-CN" sz="2000" b="1">
                  <a:solidFill>
                    <a:srgbClr val="000099"/>
                  </a:solidFill>
                  <a:ea typeface="宋体" panose="02010600030101010101" pitchFamily="2" charset="-122"/>
                </a:rPr>
                <a:t>DS</a:t>
              </a:r>
            </a:p>
          </p:txBody>
        </p:sp>
        <p:pic>
          <p:nvPicPr>
            <p:cNvPr id="2381865" name="Picture 306"/>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91755" y="1870574"/>
              <a:ext cx="634846" cy="325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1866" name="Line 403"/>
            <p:cNvSpPr>
              <a:spLocks noChangeShapeType="1"/>
            </p:cNvSpPr>
            <p:nvPr/>
          </p:nvSpPr>
          <p:spPr bwMode="auto">
            <a:xfrm flipV="1">
              <a:off x="1474153" y="3292116"/>
              <a:ext cx="1751705" cy="68616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67" name="Line 404"/>
            <p:cNvSpPr>
              <a:spLocks noChangeShapeType="1"/>
            </p:cNvSpPr>
            <p:nvPr/>
          </p:nvSpPr>
          <p:spPr bwMode="auto">
            <a:xfrm flipV="1">
              <a:off x="2463371" y="3292116"/>
              <a:ext cx="915320" cy="1372325"/>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68" name="Line 405"/>
            <p:cNvSpPr>
              <a:spLocks noChangeShapeType="1"/>
            </p:cNvSpPr>
            <p:nvPr/>
          </p:nvSpPr>
          <p:spPr bwMode="auto">
            <a:xfrm flipV="1">
              <a:off x="5740050" y="3207056"/>
              <a:ext cx="68523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69" name="Line 406"/>
            <p:cNvSpPr>
              <a:spLocks noChangeShapeType="1"/>
            </p:cNvSpPr>
            <p:nvPr/>
          </p:nvSpPr>
          <p:spPr bwMode="auto">
            <a:xfrm>
              <a:off x="3607101" y="3207056"/>
              <a:ext cx="114205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70" name="Line 407"/>
            <p:cNvSpPr>
              <a:spLocks noChangeShapeType="1"/>
            </p:cNvSpPr>
            <p:nvPr/>
          </p:nvSpPr>
          <p:spPr bwMode="auto">
            <a:xfrm flipV="1">
              <a:off x="3454268" y="3292116"/>
              <a:ext cx="77256" cy="154433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71" name="Line 408"/>
            <p:cNvSpPr>
              <a:spLocks noChangeShapeType="1"/>
            </p:cNvSpPr>
            <p:nvPr/>
          </p:nvSpPr>
          <p:spPr bwMode="auto">
            <a:xfrm flipV="1">
              <a:off x="6272447" y="3292116"/>
              <a:ext cx="305667" cy="1200312"/>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72" name="Line 409"/>
            <p:cNvSpPr>
              <a:spLocks noChangeShapeType="1"/>
            </p:cNvSpPr>
            <p:nvPr/>
          </p:nvSpPr>
          <p:spPr bwMode="auto">
            <a:xfrm flipH="1" flipV="1">
              <a:off x="6883781" y="3292116"/>
              <a:ext cx="1294884" cy="102829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73" name="Line 410"/>
            <p:cNvSpPr>
              <a:spLocks noChangeShapeType="1"/>
            </p:cNvSpPr>
            <p:nvPr/>
          </p:nvSpPr>
          <p:spPr bwMode="auto">
            <a:xfrm flipH="1" flipV="1">
              <a:off x="6729268" y="3292116"/>
              <a:ext cx="686910" cy="1115250"/>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74" name="Line 422"/>
            <p:cNvSpPr>
              <a:spLocks noChangeShapeType="1"/>
            </p:cNvSpPr>
            <p:nvPr/>
          </p:nvSpPr>
          <p:spPr bwMode="auto">
            <a:xfrm flipH="1" flipV="1">
              <a:off x="6653690" y="3292116"/>
              <a:ext cx="152834" cy="128537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75" name="Text Box 423"/>
            <p:cNvSpPr txBox="1">
              <a:spLocks noChangeArrowheads="1"/>
            </p:cNvSpPr>
            <p:nvPr/>
          </p:nvSpPr>
          <p:spPr bwMode="auto">
            <a:xfrm>
              <a:off x="7105473" y="4577489"/>
              <a:ext cx="4315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grpSp>
          <p:nvGrpSpPr>
            <p:cNvPr id="2381876" name="Group 426"/>
            <p:cNvGrpSpPr>
              <a:grpSpLocks/>
            </p:cNvGrpSpPr>
            <p:nvPr/>
          </p:nvGrpSpPr>
          <p:grpSpPr bwMode="auto">
            <a:xfrm>
              <a:off x="1930973" y="4331756"/>
              <a:ext cx="710423" cy="589759"/>
              <a:chOff x="762" y="2391"/>
              <a:chExt cx="423" cy="312"/>
            </a:xfrm>
          </p:grpSpPr>
          <p:grpSp>
            <p:nvGrpSpPr>
              <p:cNvPr id="2381877" name="Group 427"/>
              <p:cNvGrpSpPr>
                <a:grpSpLocks/>
              </p:cNvGrpSpPr>
              <p:nvPr/>
            </p:nvGrpSpPr>
            <p:grpSpPr bwMode="auto">
              <a:xfrm>
                <a:off x="867" y="2432"/>
                <a:ext cx="318" cy="271"/>
                <a:chOff x="657" y="1570"/>
                <a:chExt cx="318" cy="311"/>
              </a:xfrm>
            </p:grpSpPr>
            <p:sp>
              <p:nvSpPr>
                <p:cNvPr id="2381878" name="Line 42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879" name="Picture 429"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880" name="Group 430"/>
              <p:cNvGrpSpPr>
                <a:grpSpLocks/>
              </p:cNvGrpSpPr>
              <p:nvPr/>
            </p:nvGrpSpPr>
            <p:grpSpPr bwMode="auto">
              <a:xfrm>
                <a:off x="762" y="2391"/>
                <a:ext cx="306" cy="90"/>
                <a:chOff x="748" y="2251"/>
                <a:chExt cx="306" cy="90"/>
              </a:xfrm>
            </p:grpSpPr>
            <p:sp>
              <p:nvSpPr>
                <p:cNvPr id="2381881" name="AutoShape 43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82" name="AutoShape 43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83" name="AutoShape 43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84" name="AutoShape 43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85" name="AutoShape 43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86" name="AutoShape 43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1887" name="Group 437"/>
            <p:cNvGrpSpPr>
              <a:grpSpLocks/>
            </p:cNvGrpSpPr>
            <p:nvPr/>
          </p:nvGrpSpPr>
          <p:grpSpPr bwMode="auto">
            <a:xfrm>
              <a:off x="5283229" y="3207056"/>
              <a:ext cx="710423" cy="589759"/>
              <a:chOff x="762" y="2391"/>
              <a:chExt cx="423" cy="312"/>
            </a:xfrm>
          </p:grpSpPr>
          <p:grpSp>
            <p:nvGrpSpPr>
              <p:cNvPr id="2381888" name="Group 438"/>
              <p:cNvGrpSpPr>
                <a:grpSpLocks/>
              </p:cNvGrpSpPr>
              <p:nvPr/>
            </p:nvGrpSpPr>
            <p:grpSpPr bwMode="auto">
              <a:xfrm>
                <a:off x="867" y="2432"/>
                <a:ext cx="318" cy="271"/>
                <a:chOff x="657" y="1570"/>
                <a:chExt cx="318" cy="311"/>
              </a:xfrm>
            </p:grpSpPr>
            <p:sp>
              <p:nvSpPr>
                <p:cNvPr id="2381889" name="Line 439"/>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890" name="Picture 440"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891" name="Group 441"/>
              <p:cNvGrpSpPr>
                <a:grpSpLocks/>
              </p:cNvGrpSpPr>
              <p:nvPr/>
            </p:nvGrpSpPr>
            <p:grpSpPr bwMode="auto">
              <a:xfrm>
                <a:off x="762" y="2391"/>
                <a:ext cx="306" cy="90"/>
                <a:chOff x="748" y="2251"/>
                <a:chExt cx="306" cy="90"/>
              </a:xfrm>
            </p:grpSpPr>
            <p:sp>
              <p:nvSpPr>
                <p:cNvPr id="2381892" name="AutoShape 442"/>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93" name="AutoShape 443"/>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94" name="AutoShape 444"/>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95" name="AutoShape 445"/>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96" name="AutoShape 446"/>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97" name="AutoShape 447"/>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1898" name="Group 448"/>
            <p:cNvGrpSpPr>
              <a:grpSpLocks/>
            </p:cNvGrpSpPr>
            <p:nvPr/>
          </p:nvGrpSpPr>
          <p:grpSpPr bwMode="auto">
            <a:xfrm>
              <a:off x="2921871" y="4407367"/>
              <a:ext cx="710423" cy="589759"/>
              <a:chOff x="762" y="2391"/>
              <a:chExt cx="423" cy="312"/>
            </a:xfrm>
          </p:grpSpPr>
          <p:grpSp>
            <p:nvGrpSpPr>
              <p:cNvPr id="2381899" name="Group 449"/>
              <p:cNvGrpSpPr>
                <a:grpSpLocks/>
              </p:cNvGrpSpPr>
              <p:nvPr/>
            </p:nvGrpSpPr>
            <p:grpSpPr bwMode="auto">
              <a:xfrm>
                <a:off x="867" y="2432"/>
                <a:ext cx="318" cy="271"/>
                <a:chOff x="657" y="1570"/>
                <a:chExt cx="318" cy="311"/>
              </a:xfrm>
            </p:grpSpPr>
            <p:sp>
              <p:nvSpPr>
                <p:cNvPr id="2381900" name="Line 450"/>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901" name="Picture 451"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902" name="Group 452"/>
              <p:cNvGrpSpPr>
                <a:grpSpLocks/>
              </p:cNvGrpSpPr>
              <p:nvPr/>
            </p:nvGrpSpPr>
            <p:grpSpPr bwMode="auto">
              <a:xfrm>
                <a:off x="762" y="2391"/>
                <a:ext cx="306" cy="90"/>
                <a:chOff x="748" y="2251"/>
                <a:chExt cx="306" cy="90"/>
              </a:xfrm>
            </p:grpSpPr>
            <p:sp>
              <p:nvSpPr>
                <p:cNvPr id="2381903" name="AutoShape 453"/>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04" name="AutoShape 454"/>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05" name="AutoShape 455"/>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06" name="AutoShape 456"/>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07" name="AutoShape 457"/>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08" name="AutoShape 458"/>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1909" name="Group 459"/>
            <p:cNvGrpSpPr>
              <a:grpSpLocks/>
            </p:cNvGrpSpPr>
            <p:nvPr/>
          </p:nvGrpSpPr>
          <p:grpSpPr bwMode="auto">
            <a:xfrm>
              <a:off x="4520742" y="3292116"/>
              <a:ext cx="710423" cy="589759"/>
              <a:chOff x="762" y="2391"/>
              <a:chExt cx="423" cy="312"/>
            </a:xfrm>
          </p:grpSpPr>
          <p:grpSp>
            <p:nvGrpSpPr>
              <p:cNvPr id="2381910" name="Group 460"/>
              <p:cNvGrpSpPr>
                <a:grpSpLocks/>
              </p:cNvGrpSpPr>
              <p:nvPr/>
            </p:nvGrpSpPr>
            <p:grpSpPr bwMode="auto">
              <a:xfrm>
                <a:off x="867" y="2432"/>
                <a:ext cx="318" cy="271"/>
                <a:chOff x="657" y="1570"/>
                <a:chExt cx="318" cy="311"/>
              </a:xfrm>
            </p:grpSpPr>
            <p:sp>
              <p:nvSpPr>
                <p:cNvPr id="2381911" name="Line 461"/>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912" name="Picture 462"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913" name="Group 463"/>
              <p:cNvGrpSpPr>
                <a:grpSpLocks/>
              </p:cNvGrpSpPr>
              <p:nvPr/>
            </p:nvGrpSpPr>
            <p:grpSpPr bwMode="auto">
              <a:xfrm>
                <a:off x="762" y="2391"/>
                <a:ext cx="306" cy="90"/>
                <a:chOff x="748" y="2251"/>
                <a:chExt cx="306" cy="90"/>
              </a:xfrm>
            </p:grpSpPr>
            <p:sp>
              <p:nvSpPr>
                <p:cNvPr id="2381914" name="AutoShape 464"/>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15" name="AutoShape 465"/>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16" name="AutoShape 466"/>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17" name="AutoShape 467"/>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18" name="AutoShape 468"/>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19" name="AutoShape 469"/>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1920" name="Group 470"/>
            <p:cNvGrpSpPr>
              <a:grpSpLocks/>
            </p:cNvGrpSpPr>
            <p:nvPr/>
          </p:nvGrpSpPr>
          <p:grpSpPr bwMode="auto">
            <a:xfrm>
              <a:off x="6653690" y="4492429"/>
              <a:ext cx="710423" cy="589759"/>
              <a:chOff x="762" y="2391"/>
              <a:chExt cx="423" cy="312"/>
            </a:xfrm>
          </p:grpSpPr>
          <p:grpSp>
            <p:nvGrpSpPr>
              <p:cNvPr id="2381921" name="Group 471"/>
              <p:cNvGrpSpPr>
                <a:grpSpLocks/>
              </p:cNvGrpSpPr>
              <p:nvPr/>
            </p:nvGrpSpPr>
            <p:grpSpPr bwMode="auto">
              <a:xfrm>
                <a:off x="867" y="2432"/>
                <a:ext cx="318" cy="271"/>
                <a:chOff x="657" y="1570"/>
                <a:chExt cx="318" cy="311"/>
              </a:xfrm>
            </p:grpSpPr>
            <p:sp>
              <p:nvSpPr>
                <p:cNvPr id="2381922" name="Line 472"/>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923" name="Picture 473"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924" name="Group 474"/>
              <p:cNvGrpSpPr>
                <a:grpSpLocks/>
              </p:cNvGrpSpPr>
              <p:nvPr/>
            </p:nvGrpSpPr>
            <p:grpSpPr bwMode="auto">
              <a:xfrm>
                <a:off x="762" y="2391"/>
                <a:ext cx="306" cy="90"/>
                <a:chOff x="748" y="2251"/>
                <a:chExt cx="306" cy="90"/>
              </a:xfrm>
            </p:grpSpPr>
            <p:sp>
              <p:nvSpPr>
                <p:cNvPr id="2381925" name="AutoShape 475"/>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26" name="AutoShape 476"/>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27" name="AutoShape 477"/>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28" name="AutoShape 478"/>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29" name="AutoShape 479"/>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30" name="AutoShape 480"/>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1931" name="Group 481"/>
            <p:cNvGrpSpPr>
              <a:grpSpLocks/>
            </p:cNvGrpSpPr>
            <p:nvPr/>
          </p:nvGrpSpPr>
          <p:grpSpPr bwMode="auto">
            <a:xfrm>
              <a:off x="5740050" y="3978279"/>
              <a:ext cx="710423" cy="589759"/>
              <a:chOff x="762" y="2391"/>
              <a:chExt cx="423" cy="312"/>
            </a:xfrm>
          </p:grpSpPr>
          <p:grpSp>
            <p:nvGrpSpPr>
              <p:cNvPr id="2381932" name="Group 482"/>
              <p:cNvGrpSpPr>
                <a:grpSpLocks/>
              </p:cNvGrpSpPr>
              <p:nvPr/>
            </p:nvGrpSpPr>
            <p:grpSpPr bwMode="auto">
              <a:xfrm>
                <a:off x="867" y="2432"/>
                <a:ext cx="318" cy="271"/>
                <a:chOff x="657" y="1570"/>
                <a:chExt cx="318" cy="311"/>
              </a:xfrm>
            </p:grpSpPr>
            <p:sp>
              <p:nvSpPr>
                <p:cNvPr id="2381933" name="Line 48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934" name="Picture 484"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935" name="Group 485"/>
              <p:cNvGrpSpPr>
                <a:grpSpLocks/>
              </p:cNvGrpSpPr>
              <p:nvPr/>
            </p:nvGrpSpPr>
            <p:grpSpPr bwMode="auto">
              <a:xfrm>
                <a:off x="762" y="2391"/>
                <a:ext cx="306" cy="90"/>
                <a:chOff x="748" y="2251"/>
                <a:chExt cx="306" cy="90"/>
              </a:xfrm>
            </p:grpSpPr>
            <p:sp>
              <p:nvSpPr>
                <p:cNvPr id="2381936" name="AutoShape 486"/>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37" name="AutoShape 487"/>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38" name="AutoShape 488"/>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39" name="AutoShape 489"/>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40" name="AutoShape 490"/>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41" name="AutoShape 491"/>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1942" name="Group 492"/>
            <p:cNvGrpSpPr>
              <a:grpSpLocks/>
            </p:cNvGrpSpPr>
            <p:nvPr/>
          </p:nvGrpSpPr>
          <p:grpSpPr bwMode="auto">
            <a:xfrm>
              <a:off x="7263345" y="4150292"/>
              <a:ext cx="710422" cy="589759"/>
              <a:chOff x="762" y="2391"/>
              <a:chExt cx="423" cy="312"/>
            </a:xfrm>
          </p:grpSpPr>
          <p:grpSp>
            <p:nvGrpSpPr>
              <p:cNvPr id="2381943" name="Group 493"/>
              <p:cNvGrpSpPr>
                <a:grpSpLocks/>
              </p:cNvGrpSpPr>
              <p:nvPr/>
            </p:nvGrpSpPr>
            <p:grpSpPr bwMode="auto">
              <a:xfrm>
                <a:off x="867" y="2432"/>
                <a:ext cx="318" cy="271"/>
                <a:chOff x="657" y="1570"/>
                <a:chExt cx="318" cy="311"/>
              </a:xfrm>
            </p:grpSpPr>
            <p:sp>
              <p:nvSpPr>
                <p:cNvPr id="2381944" name="Line 494"/>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945" name="Picture 49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946" name="Group 496"/>
              <p:cNvGrpSpPr>
                <a:grpSpLocks/>
              </p:cNvGrpSpPr>
              <p:nvPr/>
            </p:nvGrpSpPr>
            <p:grpSpPr bwMode="auto">
              <a:xfrm>
                <a:off x="762" y="2391"/>
                <a:ext cx="306" cy="90"/>
                <a:chOff x="748" y="2251"/>
                <a:chExt cx="306" cy="90"/>
              </a:xfrm>
            </p:grpSpPr>
            <p:sp>
              <p:nvSpPr>
                <p:cNvPr id="2381947" name="AutoShape 49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48" name="AutoShape 49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49" name="AutoShape 49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50" name="AutoShape 50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51" name="AutoShape 50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52" name="AutoShape 50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1953" name="Group 503"/>
            <p:cNvGrpSpPr>
              <a:grpSpLocks/>
            </p:cNvGrpSpPr>
            <p:nvPr/>
          </p:nvGrpSpPr>
          <p:grpSpPr bwMode="auto">
            <a:xfrm>
              <a:off x="8000639" y="3987730"/>
              <a:ext cx="710423" cy="589759"/>
              <a:chOff x="762" y="2391"/>
              <a:chExt cx="423" cy="312"/>
            </a:xfrm>
          </p:grpSpPr>
          <p:grpSp>
            <p:nvGrpSpPr>
              <p:cNvPr id="2381954" name="Group 504"/>
              <p:cNvGrpSpPr>
                <a:grpSpLocks/>
              </p:cNvGrpSpPr>
              <p:nvPr/>
            </p:nvGrpSpPr>
            <p:grpSpPr bwMode="auto">
              <a:xfrm>
                <a:off x="867" y="2432"/>
                <a:ext cx="318" cy="271"/>
                <a:chOff x="657" y="1570"/>
                <a:chExt cx="318" cy="311"/>
              </a:xfrm>
            </p:grpSpPr>
            <p:sp>
              <p:nvSpPr>
                <p:cNvPr id="2381955" name="Line 505"/>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956" name="Picture 506"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957" name="Group 507"/>
              <p:cNvGrpSpPr>
                <a:grpSpLocks/>
              </p:cNvGrpSpPr>
              <p:nvPr/>
            </p:nvGrpSpPr>
            <p:grpSpPr bwMode="auto">
              <a:xfrm>
                <a:off x="762" y="2391"/>
                <a:ext cx="306" cy="90"/>
                <a:chOff x="748" y="2251"/>
                <a:chExt cx="306" cy="90"/>
              </a:xfrm>
            </p:grpSpPr>
            <p:sp>
              <p:nvSpPr>
                <p:cNvPr id="2381958" name="AutoShape 508"/>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59" name="AutoShape 509"/>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60" name="AutoShape 510"/>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61" name="AutoShape 511"/>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62" name="AutoShape 512"/>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63" name="AutoShape 513"/>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81964" name="Line 517"/>
            <p:cNvSpPr>
              <a:spLocks noChangeShapeType="1"/>
            </p:cNvSpPr>
            <p:nvPr/>
          </p:nvSpPr>
          <p:spPr bwMode="auto">
            <a:xfrm flipH="1">
              <a:off x="1930973" y="1988840"/>
              <a:ext cx="744013" cy="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965" name="Text Box 44"/>
            <p:cNvSpPr txBox="1">
              <a:spLocks noChangeArrowheads="1"/>
            </p:cNvSpPr>
            <p:nvPr/>
          </p:nvSpPr>
          <p:spPr bwMode="auto">
            <a:xfrm>
              <a:off x="1474153" y="3116323"/>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81966" name="Line 48"/>
            <p:cNvSpPr>
              <a:spLocks noChangeShapeType="1"/>
            </p:cNvSpPr>
            <p:nvPr/>
          </p:nvSpPr>
          <p:spPr bwMode="auto">
            <a:xfrm flipH="1">
              <a:off x="3342582" y="2029356"/>
              <a:ext cx="0" cy="8916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67" name="Rectangle 515"/>
            <p:cNvSpPr>
              <a:spLocks noChangeArrowheads="1"/>
            </p:cNvSpPr>
            <p:nvPr/>
          </p:nvSpPr>
          <p:spPr bwMode="auto">
            <a:xfrm>
              <a:off x="2465050" y="1793019"/>
              <a:ext cx="607974" cy="406459"/>
            </a:xfrm>
            <a:prstGeom prst="rect">
              <a:avLst/>
            </a:prstGeom>
            <a:solidFill>
              <a:srgbClr val="66FFFF"/>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宋体" panose="02010600030101010101" pitchFamily="2" charset="-122"/>
                </a:rPr>
                <a:t>门户</a:t>
              </a:r>
              <a:endParaRPr lang="en-US" altLang="zh-CN" sz="2000" b="1">
                <a:solidFill>
                  <a:srgbClr val="000099"/>
                </a:solidFill>
                <a:ea typeface="宋体" panose="02010600030101010101" pitchFamily="2" charset="-122"/>
              </a:endParaRPr>
            </a:p>
          </p:txBody>
        </p:sp>
        <p:sp>
          <p:nvSpPr>
            <p:cNvPr id="2381968" name="Text Box 518"/>
            <p:cNvSpPr txBox="1">
              <a:spLocks noChangeArrowheads="1"/>
            </p:cNvSpPr>
            <p:nvPr/>
          </p:nvSpPr>
          <p:spPr bwMode="auto">
            <a:xfrm>
              <a:off x="488504" y="1628800"/>
              <a:ext cx="1683804"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zh-CN" altLang="en-US" sz="2000" b="1">
                  <a:solidFill>
                    <a:srgbClr val="000099"/>
                  </a:solidFill>
                  <a:ea typeface="宋体" panose="02010600030101010101" pitchFamily="2" charset="-122"/>
                </a:rPr>
                <a:t>至其他 </a:t>
              </a:r>
              <a:r>
                <a:rPr lang="en-US" altLang="zh-CN" sz="2000" b="1">
                  <a:solidFill>
                    <a:srgbClr val="000099"/>
                  </a:solidFill>
                  <a:ea typeface="宋体" panose="02010600030101010101" pitchFamily="2" charset="-122"/>
                </a:rPr>
                <a:t>802.x</a:t>
              </a:r>
            </a:p>
            <a:p>
              <a:pPr algn="ctr">
                <a:lnSpc>
                  <a:spcPct val="85000"/>
                </a:lnSpc>
              </a:pPr>
              <a:r>
                <a:rPr lang="zh-CN" altLang="en-US" sz="2000" b="1">
                  <a:solidFill>
                    <a:srgbClr val="000099"/>
                  </a:solidFill>
                  <a:ea typeface="宋体" panose="02010600030101010101" pitchFamily="2" charset="-122"/>
                </a:rPr>
                <a:t>局域网</a:t>
              </a:r>
            </a:p>
          </p:txBody>
        </p:sp>
      </p:grpSp>
      <p:sp>
        <p:nvSpPr>
          <p:cNvPr id="346126" name="Rectangle 14"/>
          <p:cNvSpPr>
            <a:spLocks noChangeArrowheads="1"/>
          </p:cNvSpPr>
          <p:nvPr/>
        </p:nvSpPr>
        <p:spPr bwMode="auto">
          <a:xfrm>
            <a:off x="2406650" y="2551113"/>
            <a:ext cx="758825" cy="539750"/>
          </a:xfrm>
          <a:prstGeom prst="rect">
            <a:avLst/>
          </a:prstGeom>
          <a:noFill/>
          <a:ln w="571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38197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EAED47E-68D1-47BC-809E-A913DD0419C9}" type="slidenum">
              <a:rPr lang="en-US" altLang="zh-CN" smtClean="0"/>
              <a:pPr eaLnBrk="1" hangingPunct="1"/>
              <a:t>10</a:t>
            </a:fld>
            <a:endParaRPr lang="en-US" altLang="zh-CN" smtClean="0"/>
          </a:p>
        </p:txBody>
      </p:sp>
      <p:sp>
        <p:nvSpPr>
          <p:cNvPr id="238197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500"/>
                                  </p:stCondLst>
                                  <p:childTnLst>
                                    <p:set>
                                      <p:cBhvr>
                                        <p:cTn id="6" dur="1" fill="hold">
                                          <p:stCondLst>
                                            <p:cond delay="0"/>
                                          </p:stCondLst>
                                        </p:cTn>
                                        <p:tgtEl>
                                          <p:spTgt spid="346126"/>
                                        </p:tgtEl>
                                        <p:attrNameLst>
                                          <p:attrName>style.visibility</p:attrName>
                                        </p:attrNameLst>
                                      </p:cBhvr>
                                      <p:to>
                                        <p:strVal val="visible"/>
                                      </p:to>
                                    </p:set>
                                    <p:animEffect transition="in" filter="checkerboard(across)">
                                      <p:cBhvr>
                                        <p:cTn id="7" dur="1000"/>
                                        <p:tgtEl>
                                          <p:spTgt spid="346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3873" name="Text Box 14"/>
          <p:cNvSpPr txBox="1">
            <a:spLocks noChangeArrowheads="1"/>
          </p:cNvSpPr>
          <p:nvPr/>
        </p:nvSpPr>
        <p:spPr bwMode="auto">
          <a:xfrm>
            <a:off x="962025" y="315913"/>
            <a:ext cx="8528050" cy="1384300"/>
          </a:xfrm>
          <a:prstGeom prst="rect">
            <a:avLst/>
          </a:prstGeom>
          <a:solidFill>
            <a:srgbClr val="66FF66"/>
          </a:solidFill>
          <a:ln w="9525">
            <a:solidFill>
              <a:srgbClr val="000099"/>
            </a:solidFill>
            <a:round/>
            <a:headEnd/>
            <a:tailEnd/>
          </a:ln>
        </p:spPr>
        <p:txBody>
          <a:bodyPr>
            <a:spAutoFit/>
          </a:bodyPr>
          <a:lstStyle/>
          <a:p>
            <a:pPr algn="ctr" eaLnBrk="0" hangingPunct="0"/>
            <a:r>
              <a:rPr lang="zh-CN" altLang="en-US" sz="2800" b="1">
                <a:solidFill>
                  <a:schemeClr val="tx2"/>
                </a:solidFill>
                <a:ea typeface="宋体" panose="02010600030101010101" pitchFamily="2" charset="-122"/>
              </a:rPr>
              <a:t>移动站 </a:t>
            </a:r>
            <a:r>
              <a:rPr lang="en-US" altLang="zh-CN" sz="2800" b="1">
                <a:solidFill>
                  <a:schemeClr val="tx2"/>
                </a:solidFill>
                <a:ea typeface="宋体" panose="02010600030101010101" pitchFamily="2" charset="-122"/>
              </a:rPr>
              <a:t>A </a:t>
            </a:r>
            <a:r>
              <a:rPr lang="zh-CN" altLang="en-US" sz="2800" b="1">
                <a:solidFill>
                  <a:schemeClr val="tx2"/>
                </a:solidFill>
                <a:ea typeface="宋体" panose="02010600030101010101" pitchFamily="2" charset="-122"/>
              </a:rPr>
              <a:t>从某一个基本服务集</a:t>
            </a:r>
            <a:r>
              <a:rPr lang="zh-CN" altLang="en-US" sz="2800" b="1">
                <a:solidFill>
                  <a:srgbClr val="C00000"/>
                </a:solidFill>
                <a:ea typeface="宋体" panose="02010600030101010101" pitchFamily="2" charset="-122"/>
              </a:rPr>
              <a:t>漫游</a:t>
            </a:r>
            <a:r>
              <a:rPr lang="zh-CN" altLang="en-US" sz="2800" b="1">
                <a:solidFill>
                  <a:schemeClr val="tx2"/>
                </a:solidFill>
                <a:ea typeface="宋体" panose="02010600030101010101" pitchFamily="2" charset="-122"/>
              </a:rPr>
              <a:t>到</a:t>
            </a:r>
          </a:p>
          <a:p>
            <a:pPr algn="ctr" eaLnBrk="0" hangingPunct="0"/>
            <a:r>
              <a:rPr lang="zh-CN" altLang="en-US" sz="2800" b="1">
                <a:solidFill>
                  <a:schemeClr val="tx2"/>
                </a:solidFill>
                <a:ea typeface="宋体" panose="02010600030101010101" pitchFamily="2" charset="-122"/>
              </a:rPr>
              <a:t>另一个基本服务集（到 </a:t>
            </a:r>
            <a:r>
              <a:rPr lang="en-US" altLang="zh-CN" sz="2800" b="1">
                <a:solidFill>
                  <a:schemeClr val="tx2"/>
                </a:solidFill>
                <a:ea typeface="宋体" panose="02010600030101010101" pitchFamily="2" charset="-122"/>
              </a:rPr>
              <a:t>A</a:t>
            </a:r>
            <a:r>
              <a:rPr lang="en-US" altLang="zh-CN" sz="2800" b="1">
                <a:solidFill>
                  <a:schemeClr val="tx2"/>
                </a:solidFill>
                <a:ea typeface="宋体" panose="02010600030101010101" pitchFamily="2" charset="-122"/>
                <a:sym typeface="Symbol" panose="05050102010706020507" pitchFamily="18" charset="2"/>
              </a:rPr>
              <a:t> </a:t>
            </a:r>
            <a:r>
              <a:rPr lang="zh-CN" altLang="en-US" sz="2800" b="1">
                <a:solidFill>
                  <a:schemeClr val="tx2"/>
                </a:solidFill>
                <a:ea typeface="宋体" panose="02010600030101010101" pitchFamily="2" charset="-122"/>
                <a:sym typeface="Symbol" panose="05050102010706020507" pitchFamily="18" charset="2"/>
              </a:rPr>
              <a:t>的位置）</a:t>
            </a:r>
            <a:r>
              <a:rPr lang="zh-CN" altLang="en-US" sz="2800" b="1">
                <a:solidFill>
                  <a:schemeClr val="tx2"/>
                </a:solidFill>
                <a:ea typeface="宋体" panose="02010600030101010101" pitchFamily="2" charset="-122"/>
              </a:rPr>
              <a:t>，</a:t>
            </a:r>
          </a:p>
          <a:p>
            <a:pPr algn="ctr" eaLnBrk="0" hangingPunct="0"/>
            <a:r>
              <a:rPr lang="zh-CN" altLang="en-US" sz="2800" b="1">
                <a:solidFill>
                  <a:schemeClr val="tx2"/>
                </a:solidFill>
                <a:ea typeface="宋体" panose="02010600030101010101" pitchFamily="2" charset="-122"/>
              </a:rPr>
              <a:t>仍可保持与另一个移动站 </a:t>
            </a:r>
            <a:r>
              <a:rPr lang="en-US" altLang="zh-CN" sz="2800" b="1">
                <a:solidFill>
                  <a:schemeClr val="tx2"/>
                </a:solidFill>
                <a:ea typeface="宋体" panose="02010600030101010101" pitchFamily="2" charset="-122"/>
              </a:rPr>
              <a:t>B </a:t>
            </a:r>
            <a:r>
              <a:rPr lang="zh-CN" altLang="en-US" sz="2800" b="1">
                <a:solidFill>
                  <a:schemeClr val="tx2"/>
                </a:solidFill>
                <a:ea typeface="宋体" panose="02010600030101010101" pitchFamily="2" charset="-122"/>
              </a:rPr>
              <a:t>进行通信。 </a:t>
            </a:r>
          </a:p>
        </p:txBody>
      </p:sp>
      <p:grpSp>
        <p:nvGrpSpPr>
          <p:cNvPr id="2383874" name="组合 16"/>
          <p:cNvGrpSpPr>
            <a:grpSpLocks/>
          </p:cNvGrpSpPr>
          <p:nvPr/>
        </p:nvGrpSpPr>
        <p:grpSpPr bwMode="auto">
          <a:xfrm>
            <a:off x="344488" y="2298700"/>
            <a:ext cx="9504362" cy="4010025"/>
            <a:chOff x="344487" y="1484784"/>
            <a:chExt cx="9505057" cy="4009836"/>
          </a:xfrm>
        </p:grpSpPr>
        <p:sp>
          <p:nvSpPr>
            <p:cNvPr id="2383875" name="AutoShape 519"/>
            <p:cNvSpPr>
              <a:spLocks noChangeArrowheads="1"/>
            </p:cNvSpPr>
            <p:nvPr/>
          </p:nvSpPr>
          <p:spPr bwMode="auto">
            <a:xfrm>
              <a:off x="344487" y="2403046"/>
              <a:ext cx="9321717" cy="3091574"/>
            </a:xfrm>
            <a:prstGeom prst="roundRect">
              <a:avLst>
                <a:gd name="adj" fmla="val 13255"/>
              </a:avLst>
            </a:prstGeom>
            <a:solidFill>
              <a:srgbClr val="FFFF66"/>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876" name="Oval 19"/>
            <p:cNvSpPr>
              <a:spLocks noChangeArrowheads="1"/>
            </p:cNvSpPr>
            <p:nvPr/>
          </p:nvSpPr>
          <p:spPr bwMode="auto">
            <a:xfrm>
              <a:off x="582272" y="2921003"/>
              <a:ext cx="4685842" cy="2325636"/>
            </a:xfrm>
            <a:prstGeom prst="ellipse">
              <a:avLst/>
            </a:prstGeom>
            <a:solidFill>
              <a:srgbClr val="66FF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pic>
          <p:nvPicPr>
            <p:cNvPr id="2383877" name="Picture 222"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4704" y="2605955"/>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3878" name="Oval 21"/>
            <p:cNvSpPr>
              <a:spLocks noChangeArrowheads="1"/>
            </p:cNvSpPr>
            <p:nvPr/>
          </p:nvSpPr>
          <p:spPr bwMode="auto">
            <a:xfrm>
              <a:off x="5127036" y="2943364"/>
              <a:ext cx="4362468" cy="2303275"/>
            </a:xfrm>
            <a:prstGeom prst="ellipse">
              <a:avLst/>
            </a:prstGeom>
            <a:solidFill>
              <a:srgbClr val="FF99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grpSp>
          <p:nvGrpSpPr>
            <p:cNvPr id="2383879" name="Group 425"/>
            <p:cNvGrpSpPr>
              <a:grpSpLocks/>
            </p:cNvGrpSpPr>
            <p:nvPr/>
          </p:nvGrpSpPr>
          <p:grpSpPr bwMode="auto">
            <a:xfrm>
              <a:off x="941756" y="3721205"/>
              <a:ext cx="710422" cy="589759"/>
              <a:chOff x="762" y="2391"/>
              <a:chExt cx="423" cy="312"/>
            </a:xfrm>
          </p:grpSpPr>
          <p:grpSp>
            <p:nvGrpSpPr>
              <p:cNvPr id="2383880" name="Group 316"/>
              <p:cNvGrpSpPr>
                <a:grpSpLocks/>
              </p:cNvGrpSpPr>
              <p:nvPr/>
            </p:nvGrpSpPr>
            <p:grpSpPr bwMode="auto">
              <a:xfrm>
                <a:off x="867" y="2432"/>
                <a:ext cx="318" cy="271"/>
                <a:chOff x="657" y="1570"/>
                <a:chExt cx="318" cy="311"/>
              </a:xfrm>
            </p:grpSpPr>
            <p:sp>
              <p:nvSpPr>
                <p:cNvPr id="2383881" name="Line 31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3882" name="Picture 31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3883" name="Group 424"/>
              <p:cNvGrpSpPr>
                <a:grpSpLocks/>
              </p:cNvGrpSpPr>
              <p:nvPr/>
            </p:nvGrpSpPr>
            <p:grpSpPr bwMode="auto">
              <a:xfrm>
                <a:off x="762" y="2391"/>
                <a:ext cx="306" cy="90"/>
                <a:chOff x="748" y="2251"/>
                <a:chExt cx="306" cy="90"/>
              </a:xfrm>
            </p:grpSpPr>
            <p:sp>
              <p:nvSpPr>
                <p:cNvPr id="2383884" name="AutoShape 31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885" name="AutoShape 31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886" name="AutoShape 31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887" name="AutoShape 32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888" name="AutoShape 32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889" name="AutoShape 32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83890" name="Text Box 45"/>
            <p:cNvSpPr txBox="1">
              <a:spLocks noChangeArrowheads="1"/>
            </p:cNvSpPr>
            <p:nvPr/>
          </p:nvSpPr>
          <p:spPr bwMode="auto">
            <a:xfrm>
              <a:off x="7282725" y="3230770"/>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83891" name="Text Box 46"/>
            <p:cNvSpPr txBox="1">
              <a:spLocks noChangeArrowheads="1"/>
            </p:cNvSpPr>
            <p:nvPr/>
          </p:nvSpPr>
          <p:spPr bwMode="auto">
            <a:xfrm>
              <a:off x="582272" y="2408739"/>
              <a:ext cx="1746814" cy="7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扩展的服务集</a:t>
              </a:r>
            </a:p>
            <a:p>
              <a:pPr algn="ctr"/>
              <a:r>
                <a:rPr lang="en-US" altLang="zh-CN" sz="2000" b="1">
                  <a:solidFill>
                    <a:srgbClr val="000099"/>
                  </a:solidFill>
                  <a:ea typeface="宋体" panose="02010600030101010101" pitchFamily="2" charset="-122"/>
                </a:rPr>
                <a:t>ESS</a:t>
              </a:r>
            </a:p>
          </p:txBody>
        </p:sp>
        <p:sp>
          <p:nvSpPr>
            <p:cNvPr id="2383892" name="Text Box 175"/>
            <p:cNvSpPr txBox="1">
              <a:spLocks noChangeArrowheads="1"/>
            </p:cNvSpPr>
            <p:nvPr/>
          </p:nvSpPr>
          <p:spPr bwMode="auto">
            <a:xfrm>
              <a:off x="776536" y="383462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sp>
          <p:nvSpPr>
            <p:cNvPr id="2383893" name="Text Box 176"/>
            <p:cNvSpPr txBox="1">
              <a:spLocks noChangeArrowheads="1"/>
            </p:cNvSpPr>
            <p:nvPr/>
          </p:nvSpPr>
          <p:spPr bwMode="auto">
            <a:xfrm>
              <a:off x="8450741" y="409169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B</a:t>
              </a:r>
            </a:p>
          </p:txBody>
        </p:sp>
        <p:sp>
          <p:nvSpPr>
            <p:cNvPr id="2383894" name="Line 177"/>
            <p:cNvSpPr>
              <a:spLocks noChangeShapeType="1"/>
            </p:cNvSpPr>
            <p:nvPr/>
          </p:nvSpPr>
          <p:spPr bwMode="auto">
            <a:xfrm>
              <a:off x="1398576" y="4150292"/>
              <a:ext cx="5330691" cy="599211"/>
            </a:xfrm>
            <a:prstGeom prst="line">
              <a:avLst/>
            </a:prstGeom>
            <a:noFill/>
            <a:ln w="76200">
              <a:solidFill>
                <a:srgbClr val="0000FF"/>
              </a:solidFill>
              <a:prstDash val="sysDot"/>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895" name="AutoShape 180"/>
            <p:cNvSpPr>
              <a:spLocks noChangeArrowheads="1"/>
            </p:cNvSpPr>
            <p:nvPr/>
          </p:nvSpPr>
          <p:spPr bwMode="auto">
            <a:xfrm>
              <a:off x="4676934" y="4893162"/>
              <a:ext cx="713783" cy="457442"/>
            </a:xfrm>
            <a:prstGeom prst="wedgeRoundRectCallout">
              <a:avLst>
                <a:gd name="adj1" fmla="val 131898"/>
                <a:gd name="adj2" fmla="val -108287"/>
                <a:gd name="adj3" fmla="val 16667"/>
              </a:avLst>
            </a:prstGeom>
            <a:solidFill>
              <a:srgbClr val="00FF99"/>
            </a:solidFill>
            <a:ln w="9525">
              <a:solidFill>
                <a:schemeClr val="tx1"/>
              </a:solidFill>
              <a:miter lim="800000"/>
              <a:headEnd/>
              <a:tailEnd/>
            </a:ln>
            <a:effectLst>
              <a:outerShdw dist="28398" dir="3806097" algn="ctr" rotWithShape="0">
                <a:schemeClr val="bg2"/>
              </a:outerShdw>
            </a:effectLst>
          </p:spPr>
          <p:txBody>
            <a:bodyPr/>
            <a:lstStyle/>
            <a:p>
              <a:pPr algn="ctr" eaLnBrk="0" hangingPunct="0"/>
              <a:endParaRPr lang="zh-CN" altLang="zh-CN" sz="2000" b="1">
                <a:solidFill>
                  <a:srgbClr val="000099"/>
                </a:solidFill>
                <a:ea typeface="宋体" panose="02010600030101010101" pitchFamily="2" charset="-122"/>
              </a:endParaRPr>
            </a:p>
          </p:txBody>
        </p:sp>
        <p:sp>
          <p:nvSpPr>
            <p:cNvPr id="2383896" name="Text Box 178"/>
            <p:cNvSpPr txBox="1">
              <a:spLocks noChangeArrowheads="1"/>
            </p:cNvSpPr>
            <p:nvPr/>
          </p:nvSpPr>
          <p:spPr bwMode="auto">
            <a:xfrm>
              <a:off x="4664968" y="4908816"/>
              <a:ext cx="706351"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漫游</a:t>
              </a:r>
            </a:p>
          </p:txBody>
        </p:sp>
        <p:sp>
          <p:nvSpPr>
            <p:cNvPr id="2383897" name="Line 187"/>
            <p:cNvSpPr>
              <a:spLocks noChangeShapeType="1"/>
            </p:cNvSpPr>
            <p:nvPr/>
          </p:nvSpPr>
          <p:spPr bwMode="auto">
            <a:xfrm flipV="1">
              <a:off x="2844614" y="2029356"/>
              <a:ext cx="5789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898" name="Text Box 50"/>
            <p:cNvSpPr txBox="1">
              <a:spLocks noChangeArrowheads="1"/>
            </p:cNvSpPr>
            <p:nvPr/>
          </p:nvSpPr>
          <p:spPr bwMode="auto">
            <a:xfrm>
              <a:off x="3607101" y="2520893"/>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1</a:t>
              </a:r>
            </a:p>
          </p:txBody>
        </p:sp>
        <p:sp>
          <p:nvSpPr>
            <p:cNvPr id="2383899" name="Freeform 288"/>
            <p:cNvSpPr>
              <a:spLocks noChangeArrowheads="1"/>
            </p:cNvSpPr>
            <p:nvPr/>
          </p:nvSpPr>
          <p:spPr bwMode="auto">
            <a:xfrm>
              <a:off x="2846294" y="2348880"/>
              <a:ext cx="214974" cy="357257"/>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3900" name="Freeform 291"/>
            <p:cNvSpPr>
              <a:spLocks noChangeArrowheads="1"/>
            </p:cNvSpPr>
            <p:nvPr/>
          </p:nvSpPr>
          <p:spPr bwMode="auto">
            <a:xfrm>
              <a:off x="3607101"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3901" name="Freeform 293"/>
            <p:cNvSpPr>
              <a:spLocks noChangeArrowheads="1"/>
            </p:cNvSpPr>
            <p:nvPr/>
          </p:nvSpPr>
          <p:spPr bwMode="auto">
            <a:xfrm>
              <a:off x="2846294" y="2764736"/>
              <a:ext cx="214974" cy="357257"/>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3902" name="Freeform 294"/>
            <p:cNvSpPr>
              <a:spLocks noChangeArrowheads="1"/>
            </p:cNvSpPr>
            <p:nvPr/>
          </p:nvSpPr>
          <p:spPr bwMode="auto">
            <a:xfrm>
              <a:off x="3607101"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graphicFrame>
          <p:nvGraphicFramePr>
            <p:cNvPr id="2383903" name="Object 295"/>
            <p:cNvGraphicFramePr>
              <a:graphicFrameLocks noChangeAspect="1"/>
            </p:cNvGraphicFramePr>
            <p:nvPr/>
          </p:nvGraphicFramePr>
          <p:xfrm>
            <a:off x="8405396" y="1484784"/>
            <a:ext cx="1444148" cy="847341"/>
          </p:xfrm>
          <a:graphic>
            <a:graphicData uri="http://schemas.openxmlformats.org/presentationml/2006/ole">
              <mc:AlternateContent xmlns:mc="http://schemas.openxmlformats.org/markup-compatibility/2006">
                <mc:Choice xmlns:v="urn:schemas-microsoft-com:vml" Requires="v">
                  <p:oleObj spid="_x0000_s2384077" r:id="rId6" imgW="1687068" imgH="964692" progId="Visio.Drawing.6">
                    <p:embed/>
                  </p:oleObj>
                </mc:Choice>
                <mc:Fallback>
                  <p:oleObj r:id="rId6" imgW="1687068" imgH="964692" progId="Visio.Drawing.6">
                    <p:embed/>
                    <p:pic>
                      <p:nvPicPr>
                        <p:cNvPr id="0" name="Object 29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05396" y="1484784"/>
                          <a:ext cx="1444148" cy="84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383904" name="Picture 297"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9704" y="2692906"/>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3905" name="Text Box 300"/>
            <p:cNvSpPr txBox="1">
              <a:spLocks noChangeArrowheads="1"/>
            </p:cNvSpPr>
            <p:nvPr/>
          </p:nvSpPr>
          <p:spPr bwMode="auto">
            <a:xfrm>
              <a:off x="6873704" y="2542292"/>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2</a:t>
              </a:r>
            </a:p>
          </p:txBody>
        </p:sp>
        <p:sp>
          <p:nvSpPr>
            <p:cNvPr id="2383906" name="Line 49"/>
            <p:cNvSpPr>
              <a:spLocks noChangeShapeType="1"/>
            </p:cNvSpPr>
            <p:nvPr/>
          </p:nvSpPr>
          <p:spPr bwMode="auto">
            <a:xfrm flipV="1">
              <a:off x="6578114" y="2029356"/>
              <a:ext cx="0" cy="10349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07" name="Text Box 190"/>
            <p:cNvSpPr txBox="1">
              <a:spLocks noChangeArrowheads="1"/>
            </p:cNvSpPr>
            <p:nvPr/>
          </p:nvSpPr>
          <p:spPr bwMode="auto">
            <a:xfrm>
              <a:off x="8553400" y="1671191"/>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宋体" panose="02010600030101010101" pitchFamily="2" charset="-122"/>
                </a:rPr>
                <a:t>互联网</a:t>
              </a:r>
            </a:p>
          </p:txBody>
        </p:sp>
        <p:sp>
          <p:nvSpPr>
            <p:cNvPr id="2383908" name="Freeform 301"/>
            <p:cNvSpPr>
              <a:spLocks noChangeArrowheads="1"/>
            </p:cNvSpPr>
            <p:nvPr/>
          </p:nvSpPr>
          <p:spPr bwMode="auto">
            <a:xfrm>
              <a:off x="6121294" y="2433941"/>
              <a:ext cx="214974" cy="357259"/>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3909" name="Freeform 302"/>
            <p:cNvSpPr>
              <a:spLocks noChangeArrowheads="1"/>
            </p:cNvSpPr>
            <p:nvPr/>
          </p:nvSpPr>
          <p:spPr bwMode="auto">
            <a:xfrm>
              <a:off x="6819960"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3910" name="Freeform 303"/>
            <p:cNvSpPr>
              <a:spLocks noChangeArrowheads="1"/>
            </p:cNvSpPr>
            <p:nvPr/>
          </p:nvSpPr>
          <p:spPr bwMode="auto">
            <a:xfrm>
              <a:off x="6121294" y="2849797"/>
              <a:ext cx="214974" cy="357259"/>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3911" name="Freeform 304"/>
            <p:cNvSpPr>
              <a:spLocks noChangeArrowheads="1"/>
            </p:cNvSpPr>
            <p:nvPr/>
          </p:nvSpPr>
          <p:spPr bwMode="auto">
            <a:xfrm>
              <a:off x="6819960"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3912" name="Text Box 305"/>
            <p:cNvSpPr txBox="1">
              <a:spLocks noChangeArrowheads="1"/>
            </p:cNvSpPr>
            <p:nvPr/>
          </p:nvSpPr>
          <p:spPr bwMode="auto">
            <a:xfrm>
              <a:off x="4651742" y="1628622"/>
              <a:ext cx="1657955"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分配系统 </a:t>
              </a:r>
              <a:r>
                <a:rPr lang="en-US" altLang="zh-CN" sz="2000" b="1">
                  <a:solidFill>
                    <a:srgbClr val="000099"/>
                  </a:solidFill>
                  <a:ea typeface="宋体" panose="02010600030101010101" pitchFamily="2" charset="-122"/>
                </a:rPr>
                <a:t>DS</a:t>
              </a:r>
            </a:p>
          </p:txBody>
        </p:sp>
        <p:pic>
          <p:nvPicPr>
            <p:cNvPr id="2383913" name="Picture 306"/>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91755" y="1870574"/>
              <a:ext cx="634846" cy="325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3914" name="Line 403"/>
            <p:cNvSpPr>
              <a:spLocks noChangeShapeType="1"/>
            </p:cNvSpPr>
            <p:nvPr/>
          </p:nvSpPr>
          <p:spPr bwMode="auto">
            <a:xfrm flipV="1">
              <a:off x="1474153" y="3292116"/>
              <a:ext cx="1751705" cy="68616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15" name="Line 404"/>
            <p:cNvSpPr>
              <a:spLocks noChangeShapeType="1"/>
            </p:cNvSpPr>
            <p:nvPr/>
          </p:nvSpPr>
          <p:spPr bwMode="auto">
            <a:xfrm flipV="1">
              <a:off x="2463371" y="3292116"/>
              <a:ext cx="915320" cy="1372325"/>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16" name="Line 405"/>
            <p:cNvSpPr>
              <a:spLocks noChangeShapeType="1"/>
            </p:cNvSpPr>
            <p:nvPr/>
          </p:nvSpPr>
          <p:spPr bwMode="auto">
            <a:xfrm flipV="1">
              <a:off x="5740050" y="3207056"/>
              <a:ext cx="68523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17" name="Line 406"/>
            <p:cNvSpPr>
              <a:spLocks noChangeShapeType="1"/>
            </p:cNvSpPr>
            <p:nvPr/>
          </p:nvSpPr>
          <p:spPr bwMode="auto">
            <a:xfrm>
              <a:off x="3607101" y="3207056"/>
              <a:ext cx="114205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18" name="Line 407"/>
            <p:cNvSpPr>
              <a:spLocks noChangeShapeType="1"/>
            </p:cNvSpPr>
            <p:nvPr/>
          </p:nvSpPr>
          <p:spPr bwMode="auto">
            <a:xfrm flipV="1">
              <a:off x="3454268" y="3292116"/>
              <a:ext cx="77256" cy="154433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19" name="Line 408"/>
            <p:cNvSpPr>
              <a:spLocks noChangeShapeType="1"/>
            </p:cNvSpPr>
            <p:nvPr/>
          </p:nvSpPr>
          <p:spPr bwMode="auto">
            <a:xfrm flipV="1">
              <a:off x="6272447" y="3292116"/>
              <a:ext cx="305667" cy="1200312"/>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20" name="Line 409"/>
            <p:cNvSpPr>
              <a:spLocks noChangeShapeType="1"/>
            </p:cNvSpPr>
            <p:nvPr/>
          </p:nvSpPr>
          <p:spPr bwMode="auto">
            <a:xfrm flipH="1" flipV="1">
              <a:off x="6883781" y="3292116"/>
              <a:ext cx="1294884" cy="102829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21" name="Line 410"/>
            <p:cNvSpPr>
              <a:spLocks noChangeShapeType="1"/>
            </p:cNvSpPr>
            <p:nvPr/>
          </p:nvSpPr>
          <p:spPr bwMode="auto">
            <a:xfrm flipH="1" flipV="1">
              <a:off x="6729268" y="3292116"/>
              <a:ext cx="686910" cy="1115250"/>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22" name="Line 422"/>
            <p:cNvSpPr>
              <a:spLocks noChangeShapeType="1"/>
            </p:cNvSpPr>
            <p:nvPr/>
          </p:nvSpPr>
          <p:spPr bwMode="auto">
            <a:xfrm flipH="1" flipV="1">
              <a:off x="6653690" y="3292116"/>
              <a:ext cx="152834" cy="128537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23" name="Text Box 423"/>
            <p:cNvSpPr txBox="1">
              <a:spLocks noChangeArrowheads="1"/>
            </p:cNvSpPr>
            <p:nvPr/>
          </p:nvSpPr>
          <p:spPr bwMode="auto">
            <a:xfrm>
              <a:off x="7105473" y="4577489"/>
              <a:ext cx="4315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grpSp>
          <p:nvGrpSpPr>
            <p:cNvPr id="2383924" name="Group 426"/>
            <p:cNvGrpSpPr>
              <a:grpSpLocks/>
            </p:cNvGrpSpPr>
            <p:nvPr/>
          </p:nvGrpSpPr>
          <p:grpSpPr bwMode="auto">
            <a:xfrm>
              <a:off x="1930973" y="4331756"/>
              <a:ext cx="710423" cy="589759"/>
              <a:chOff x="762" y="2391"/>
              <a:chExt cx="423" cy="312"/>
            </a:xfrm>
          </p:grpSpPr>
          <p:grpSp>
            <p:nvGrpSpPr>
              <p:cNvPr id="2383925" name="Group 427"/>
              <p:cNvGrpSpPr>
                <a:grpSpLocks/>
              </p:cNvGrpSpPr>
              <p:nvPr/>
            </p:nvGrpSpPr>
            <p:grpSpPr bwMode="auto">
              <a:xfrm>
                <a:off x="867" y="2432"/>
                <a:ext cx="318" cy="271"/>
                <a:chOff x="657" y="1570"/>
                <a:chExt cx="318" cy="311"/>
              </a:xfrm>
            </p:grpSpPr>
            <p:sp>
              <p:nvSpPr>
                <p:cNvPr id="2383926" name="Line 42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3927" name="Picture 429"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3928" name="Group 430"/>
              <p:cNvGrpSpPr>
                <a:grpSpLocks/>
              </p:cNvGrpSpPr>
              <p:nvPr/>
            </p:nvGrpSpPr>
            <p:grpSpPr bwMode="auto">
              <a:xfrm>
                <a:off x="762" y="2391"/>
                <a:ext cx="306" cy="90"/>
                <a:chOff x="748" y="2251"/>
                <a:chExt cx="306" cy="90"/>
              </a:xfrm>
            </p:grpSpPr>
            <p:sp>
              <p:nvSpPr>
                <p:cNvPr id="2383929" name="AutoShape 43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30" name="AutoShape 43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31" name="AutoShape 43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32" name="AutoShape 43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33" name="AutoShape 43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34" name="AutoShape 43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3935" name="Group 437"/>
            <p:cNvGrpSpPr>
              <a:grpSpLocks/>
            </p:cNvGrpSpPr>
            <p:nvPr/>
          </p:nvGrpSpPr>
          <p:grpSpPr bwMode="auto">
            <a:xfrm>
              <a:off x="5283229" y="3207056"/>
              <a:ext cx="710423" cy="589759"/>
              <a:chOff x="762" y="2391"/>
              <a:chExt cx="423" cy="312"/>
            </a:xfrm>
          </p:grpSpPr>
          <p:grpSp>
            <p:nvGrpSpPr>
              <p:cNvPr id="2383936" name="Group 438"/>
              <p:cNvGrpSpPr>
                <a:grpSpLocks/>
              </p:cNvGrpSpPr>
              <p:nvPr/>
            </p:nvGrpSpPr>
            <p:grpSpPr bwMode="auto">
              <a:xfrm>
                <a:off x="867" y="2432"/>
                <a:ext cx="318" cy="271"/>
                <a:chOff x="657" y="1570"/>
                <a:chExt cx="318" cy="311"/>
              </a:xfrm>
            </p:grpSpPr>
            <p:sp>
              <p:nvSpPr>
                <p:cNvPr id="2383937" name="Line 439"/>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3938" name="Picture 440"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3939" name="Group 441"/>
              <p:cNvGrpSpPr>
                <a:grpSpLocks/>
              </p:cNvGrpSpPr>
              <p:nvPr/>
            </p:nvGrpSpPr>
            <p:grpSpPr bwMode="auto">
              <a:xfrm>
                <a:off x="762" y="2391"/>
                <a:ext cx="306" cy="90"/>
                <a:chOff x="748" y="2251"/>
                <a:chExt cx="306" cy="90"/>
              </a:xfrm>
            </p:grpSpPr>
            <p:sp>
              <p:nvSpPr>
                <p:cNvPr id="2383940" name="AutoShape 442"/>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41" name="AutoShape 443"/>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42" name="AutoShape 444"/>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43" name="AutoShape 445"/>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44" name="AutoShape 446"/>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45" name="AutoShape 447"/>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3946" name="Group 448"/>
            <p:cNvGrpSpPr>
              <a:grpSpLocks/>
            </p:cNvGrpSpPr>
            <p:nvPr/>
          </p:nvGrpSpPr>
          <p:grpSpPr bwMode="auto">
            <a:xfrm>
              <a:off x="2921871" y="4407367"/>
              <a:ext cx="710423" cy="589759"/>
              <a:chOff x="762" y="2391"/>
              <a:chExt cx="423" cy="312"/>
            </a:xfrm>
          </p:grpSpPr>
          <p:grpSp>
            <p:nvGrpSpPr>
              <p:cNvPr id="2383947" name="Group 449"/>
              <p:cNvGrpSpPr>
                <a:grpSpLocks/>
              </p:cNvGrpSpPr>
              <p:nvPr/>
            </p:nvGrpSpPr>
            <p:grpSpPr bwMode="auto">
              <a:xfrm>
                <a:off x="867" y="2432"/>
                <a:ext cx="318" cy="271"/>
                <a:chOff x="657" y="1570"/>
                <a:chExt cx="318" cy="311"/>
              </a:xfrm>
            </p:grpSpPr>
            <p:sp>
              <p:nvSpPr>
                <p:cNvPr id="2383948" name="Line 450"/>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3949" name="Picture 451"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3950" name="Group 452"/>
              <p:cNvGrpSpPr>
                <a:grpSpLocks/>
              </p:cNvGrpSpPr>
              <p:nvPr/>
            </p:nvGrpSpPr>
            <p:grpSpPr bwMode="auto">
              <a:xfrm>
                <a:off x="762" y="2391"/>
                <a:ext cx="306" cy="90"/>
                <a:chOff x="748" y="2251"/>
                <a:chExt cx="306" cy="90"/>
              </a:xfrm>
            </p:grpSpPr>
            <p:sp>
              <p:nvSpPr>
                <p:cNvPr id="2383951" name="AutoShape 453"/>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52" name="AutoShape 454"/>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53" name="AutoShape 455"/>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54" name="AutoShape 456"/>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55" name="AutoShape 457"/>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56" name="AutoShape 458"/>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3957" name="Group 459"/>
            <p:cNvGrpSpPr>
              <a:grpSpLocks/>
            </p:cNvGrpSpPr>
            <p:nvPr/>
          </p:nvGrpSpPr>
          <p:grpSpPr bwMode="auto">
            <a:xfrm>
              <a:off x="4520742" y="3292116"/>
              <a:ext cx="710423" cy="589759"/>
              <a:chOff x="762" y="2391"/>
              <a:chExt cx="423" cy="312"/>
            </a:xfrm>
          </p:grpSpPr>
          <p:grpSp>
            <p:nvGrpSpPr>
              <p:cNvPr id="2383958" name="Group 460"/>
              <p:cNvGrpSpPr>
                <a:grpSpLocks/>
              </p:cNvGrpSpPr>
              <p:nvPr/>
            </p:nvGrpSpPr>
            <p:grpSpPr bwMode="auto">
              <a:xfrm>
                <a:off x="867" y="2432"/>
                <a:ext cx="318" cy="271"/>
                <a:chOff x="657" y="1570"/>
                <a:chExt cx="318" cy="311"/>
              </a:xfrm>
            </p:grpSpPr>
            <p:sp>
              <p:nvSpPr>
                <p:cNvPr id="2383959" name="Line 461"/>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3960" name="Picture 462"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3961" name="Group 463"/>
              <p:cNvGrpSpPr>
                <a:grpSpLocks/>
              </p:cNvGrpSpPr>
              <p:nvPr/>
            </p:nvGrpSpPr>
            <p:grpSpPr bwMode="auto">
              <a:xfrm>
                <a:off x="762" y="2391"/>
                <a:ext cx="306" cy="90"/>
                <a:chOff x="748" y="2251"/>
                <a:chExt cx="306" cy="90"/>
              </a:xfrm>
            </p:grpSpPr>
            <p:sp>
              <p:nvSpPr>
                <p:cNvPr id="2383962" name="AutoShape 464"/>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63" name="AutoShape 465"/>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64" name="AutoShape 466"/>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65" name="AutoShape 467"/>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66" name="AutoShape 468"/>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67" name="AutoShape 469"/>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3968" name="Group 470"/>
            <p:cNvGrpSpPr>
              <a:grpSpLocks/>
            </p:cNvGrpSpPr>
            <p:nvPr/>
          </p:nvGrpSpPr>
          <p:grpSpPr bwMode="auto">
            <a:xfrm>
              <a:off x="6653690" y="4492429"/>
              <a:ext cx="710423" cy="589759"/>
              <a:chOff x="762" y="2391"/>
              <a:chExt cx="423" cy="312"/>
            </a:xfrm>
          </p:grpSpPr>
          <p:grpSp>
            <p:nvGrpSpPr>
              <p:cNvPr id="2383969" name="Group 471"/>
              <p:cNvGrpSpPr>
                <a:grpSpLocks/>
              </p:cNvGrpSpPr>
              <p:nvPr/>
            </p:nvGrpSpPr>
            <p:grpSpPr bwMode="auto">
              <a:xfrm>
                <a:off x="867" y="2432"/>
                <a:ext cx="318" cy="271"/>
                <a:chOff x="657" y="1570"/>
                <a:chExt cx="318" cy="311"/>
              </a:xfrm>
            </p:grpSpPr>
            <p:sp>
              <p:nvSpPr>
                <p:cNvPr id="2383970" name="Line 472"/>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3971" name="Picture 473"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3972" name="Group 474"/>
              <p:cNvGrpSpPr>
                <a:grpSpLocks/>
              </p:cNvGrpSpPr>
              <p:nvPr/>
            </p:nvGrpSpPr>
            <p:grpSpPr bwMode="auto">
              <a:xfrm>
                <a:off x="762" y="2391"/>
                <a:ext cx="306" cy="90"/>
                <a:chOff x="748" y="2251"/>
                <a:chExt cx="306" cy="90"/>
              </a:xfrm>
            </p:grpSpPr>
            <p:sp>
              <p:nvSpPr>
                <p:cNvPr id="2383973" name="AutoShape 475"/>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74" name="AutoShape 476"/>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75" name="AutoShape 477"/>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76" name="AutoShape 478"/>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77" name="AutoShape 479"/>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78" name="AutoShape 480"/>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3979" name="Group 481"/>
            <p:cNvGrpSpPr>
              <a:grpSpLocks/>
            </p:cNvGrpSpPr>
            <p:nvPr/>
          </p:nvGrpSpPr>
          <p:grpSpPr bwMode="auto">
            <a:xfrm>
              <a:off x="5740050" y="3978279"/>
              <a:ext cx="710423" cy="589759"/>
              <a:chOff x="762" y="2391"/>
              <a:chExt cx="423" cy="312"/>
            </a:xfrm>
          </p:grpSpPr>
          <p:grpSp>
            <p:nvGrpSpPr>
              <p:cNvPr id="2383980" name="Group 482"/>
              <p:cNvGrpSpPr>
                <a:grpSpLocks/>
              </p:cNvGrpSpPr>
              <p:nvPr/>
            </p:nvGrpSpPr>
            <p:grpSpPr bwMode="auto">
              <a:xfrm>
                <a:off x="867" y="2432"/>
                <a:ext cx="318" cy="271"/>
                <a:chOff x="657" y="1570"/>
                <a:chExt cx="318" cy="311"/>
              </a:xfrm>
            </p:grpSpPr>
            <p:sp>
              <p:nvSpPr>
                <p:cNvPr id="2383981" name="Line 48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3982" name="Picture 484"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3983" name="Group 485"/>
              <p:cNvGrpSpPr>
                <a:grpSpLocks/>
              </p:cNvGrpSpPr>
              <p:nvPr/>
            </p:nvGrpSpPr>
            <p:grpSpPr bwMode="auto">
              <a:xfrm>
                <a:off x="762" y="2391"/>
                <a:ext cx="306" cy="90"/>
                <a:chOff x="748" y="2251"/>
                <a:chExt cx="306" cy="90"/>
              </a:xfrm>
            </p:grpSpPr>
            <p:sp>
              <p:nvSpPr>
                <p:cNvPr id="2383984" name="AutoShape 486"/>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85" name="AutoShape 487"/>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86" name="AutoShape 488"/>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87" name="AutoShape 489"/>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88" name="AutoShape 490"/>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89" name="AutoShape 491"/>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3990" name="Group 492"/>
            <p:cNvGrpSpPr>
              <a:grpSpLocks/>
            </p:cNvGrpSpPr>
            <p:nvPr/>
          </p:nvGrpSpPr>
          <p:grpSpPr bwMode="auto">
            <a:xfrm>
              <a:off x="7263345" y="4150292"/>
              <a:ext cx="710422" cy="589759"/>
              <a:chOff x="762" y="2391"/>
              <a:chExt cx="423" cy="312"/>
            </a:xfrm>
          </p:grpSpPr>
          <p:grpSp>
            <p:nvGrpSpPr>
              <p:cNvPr id="2383991" name="Group 493"/>
              <p:cNvGrpSpPr>
                <a:grpSpLocks/>
              </p:cNvGrpSpPr>
              <p:nvPr/>
            </p:nvGrpSpPr>
            <p:grpSpPr bwMode="auto">
              <a:xfrm>
                <a:off x="867" y="2432"/>
                <a:ext cx="318" cy="271"/>
                <a:chOff x="657" y="1570"/>
                <a:chExt cx="318" cy="311"/>
              </a:xfrm>
            </p:grpSpPr>
            <p:sp>
              <p:nvSpPr>
                <p:cNvPr id="2383992" name="Line 494"/>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3993" name="Picture 49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3994" name="Group 496"/>
              <p:cNvGrpSpPr>
                <a:grpSpLocks/>
              </p:cNvGrpSpPr>
              <p:nvPr/>
            </p:nvGrpSpPr>
            <p:grpSpPr bwMode="auto">
              <a:xfrm>
                <a:off x="762" y="2391"/>
                <a:ext cx="306" cy="90"/>
                <a:chOff x="748" y="2251"/>
                <a:chExt cx="306" cy="90"/>
              </a:xfrm>
            </p:grpSpPr>
            <p:sp>
              <p:nvSpPr>
                <p:cNvPr id="2383995" name="AutoShape 49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96" name="AutoShape 49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97" name="AutoShape 49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98" name="AutoShape 50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99" name="AutoShape 50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4000" name="AutoShape 50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4001" name="Group 503"/>
            <p:cNvGrpSpPr>
              <a:grpSpLocks/>
            </p:cNvGrpSpPr>
            <p:nvPr/>
          </p:nvGrpSpPr>
          <p:grpSpPr bwMode="auto">
            <a:xfrm>
              <a:off x="8000639" y="3987730"/>
              <a:ext cx="710423" cy="589759"/>
              <a:chOff x="762" y="2391"/>
              <a:chExt cx="423" cy="312"/>
            </a:xfrm>
          </p:grpSpPr>
          <p:grpSp>
            <p:nvGrpSpPr>
              <p:cNvPr id="2384002" name="Group 504"/>
              <p:cNvGrpSpPr>
                <a:grpSpLocks/>
              </p:cNvGrpSpPr>
              <p:nvPr/>
            </p:nvGrpSpPr>
            <p:grpSpPr bwMode="auto">
              <a:xfrm>
                <a:off x="867" y="2432"/>
                <a:ext cx="318" cy="271"/>
                <a:chOff x="657" y="1570"/>
                <a:chExt cx="318" cy="311"/>
              </a:xfrm>
            </p:grpSpPr>
            <p:sp>
              <p:nvSpPr>
                <p:cNvPr id="2384003" name="Line 505"/>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4004" name="Picture 506"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4005" name="Group 507"/>
              <p:cNvGrpSpPr>
                <a:grpSpLocks/>
              </p:cNvGrpSpPr>
              <p:nvPr/>
            </p:nvGrpSpPr>
            <p:grpSpPr bwMode="auto">
              <a:xfrm>
                <a:off x="762" y="2391"/>
                <a:ext cx="306" cy="90"/>
                <a:chOff x="748" y="2251"/>
                <a:chExt cx="306" cy="90"/>
              </a:xfrm>
            </p:grpSpPr>
            <p:sp>
              <p:nvSpPr>
                <p:cNvPr id="2384006" name="AutoShape 508"/>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4007" name="AutoShape 509"/>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4008" name="AutoShape 510"/>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4009" name="AutoShape 511"/>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4010" name="AutoShape 512"/>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4011" name="AutoShape 513"/>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84012" name="Line 517"/>
            <p:cNvSpPr>
              <a:spLocks noChangeShapeType="1"/>
            </p:cNvSpPr>
            <p:nvPr/>
          </p:nvSpPr>
          <p:spPr bwMode="auto">
            <a:xfrm flipH="1">
              <a:off x="1930973" y="1988840"/>
              <a:ext cx="744013" cy="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4013" name="Text Box 44"/>
            <p:cNvSpPr txBox="1">
              <a:spLocks noChangeArrowheads="1"/>
            </p:cNvSpPr>
            <p:nvPr/>
          </p:nvSpPr>
          <p:spPr bwMode="auto">
            <a:xfrm>
              <a:off x="1474153" y="3116323"/>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84014" name="Line 48"/>
            <p:cNvSpPr>
              <a:spLocks noChangeShapeType="1"/>
            </p:cNvSpPr>
            <p:nvPr/>
          </p:nvSpPr>
          <p:spPr bwMode="auto">
            <a:xfrm flipH="1">
              <a:off x="3342582" y="2029356"/>
              <a:ext cx="0" cy="8916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4015" name="Rectangle 515"/>
            <p:cNvSpPr>
              <a:spLocks noChangeArrowheads="1"/>
            </p:cNvSpPr>
            <p:nvPr/>
          </p:nvSpPr>
          <p:spPr bwMode="auto">
            <a:xfrm>
              <a:off x="2465050" y="1793019"/>
              <a:ext cx="607974" cy="406459"/>
            </a:xfrm>
            <a:prstGeom prst="rect">
              <a:avLst/>
            </a:prstGeom>
            <a:solidFill>
              <a:srgbClr val="66FFFF"/>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宋体" panose="02010600030101010101" pitchFamily="2" charset="-122"/>
                </a:rPr>
                <a:t>门户</a:t>
              </a:r>
              <a:endParaRPr lang="en-US" altLang="zh-CN" sz="2000" b="1">
                <a:solidFill>
                  <a:srgbClr val="000099"/>
                </a:solidFill>
                <a:ea typeface="宋体" panose="02010600030101010101" pitchFamily="2" charset="-122"/>
              </a:endParaRPr>
            </a:p>
          </p:txBody>
        </p:sp>
        <p:sp>
          <p:nvSpPr>
            <p:cNvPr id="2384016" name="Text Box 518"/>
            <p:cNvSpPr txBox="1">
              <a:spLocks noChangeArrowheads="1"/>
            </p:cNvSpPr>
            <p:nvPr/>
          </p:nvSpPr>
          <p:spPr bwMode="auto">
            <a:xfrm>
              <a:off x="488504" y="1628800"/>
              <a:ext cx="1683804"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zh-CN" altLang="en-US" sz="2000" b="1">
                  <a:solidFill>
                    <a:srgbClr val="000099"/>
                  </a:solidFill>
                  <a:ea typeface="宋体" panose="02010600030101010101" pitchFamily="2" charset="-122"/>
                </a:rPr>
                <a:t>至其他 </a:t>
              </a:r>
              <a:r>
                <a:rPr lang="en-US" altLang="zh-CN" sz="2000" b="1">
                  <a:solidFill>
                    <a:srgbClr val="000099"/>
                  </a:solidFill>
                  <a:ea typeface="宋体" panose="02010600030101010101" pitchFamily="2" charset="-122"/>
                </a:rPr>
                <a:t>802.x</a:t>
              </a:r>
            </a:p>
            <a:p>
              <a:pPr algn="ctr">
                <a:lnSpc>
                  <a:spcPct val="85000"/>
                </a:lnSpc>
              </a:pPr>
              <a:r>
                <a:rPr lang="zh-CN" altLang="en-US" sz="2000" b="1">
                  <a:solidFill>
                    <a:srgbClr val="000099"/>
                  </a:solidFill>
                  <a:ea typeface="宋体" panose="02010600030101010101" pitchFamily="2" charset="-122"/>
                </a:rPr>
                <a:t>局域网</a:t>
              </a:r>
            </a:p>
          </p:txBody>
        </p:sp>
      </p:grpSp>
      <p:sp>
        <p:nvSpPr>
          <p:cNvPr id="347149" name="Line 13"/>
          <p:cNvSpPr>
            <a:spLocks noChangeShapeType="1"/>
          </p:cNvSpPr>
          <p:nvPr/>
        </p:nvSpPr>
        <p:spPr bwMode="auto">
          <a:xfrm>
            <a:off x="1131888" y="5286375"/>
            <a:ext cx="6086475" cy="635000"/>
          </a:xfrm>
          <a:prstGeom prst="line">
            <a:avLst/>
          </a:prstGeom>
          <a:noFill/>
          <a:ln w="762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47152" name="Line 16"/>
          <p:cNvSpPr>
            <a:spLocks noChangeShapeType="1"/>
          </p:cNvSpPr>
          <p:nvPr/>
        </p:nvSpPr>
        <p:spPr bwMode="auto">
          <a:xfrm>
            <a:off x="1362075" y="5203825"/>
            <a:ext cx="7229475" cy="241300"/>
          </a:xfrm>
          <a:prstGeom prst="line">
            <a:avLst/>
          </a:prstGeom>
          <a:noFill/>
          <a:ln w="57150">
            <a:solidFill>
              <a:srgbClr val="FF6600"/>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47153" name="Line 17"/>
          <p:cNvSpPr>
            <a:spLocks noChangeShapeType="1"/>
          </p:cNvSpPr>
          <p:nvPr/>
        </p:nvSpPr>
        <p:spPr bwMode="auto">
          <a:xfrm flipV="1">
            <a:off x="7329488" y="5516563"/>
            <a:ext cx="1325562" cy="431800"/>
          </a:xfrm>
          <a:prstGeom prst="line">
            <a:avLst/>
          </a:prstGeom>
          <a:noFill/>
          <a:ln w="57150">
            <a:solidFill>
              <a:srgbClr val="FF6600"/>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38402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69727B-9522-42A0-9B2B-2443E367BBEF}" type="slidenum">
              <a:rPr lang="en-US" altLang="zh-CN" smtClean="0"/>
              <a:pPr eaLnBrk="1" hangingPunct="1"/>
              <a:t>11</a:t>
            </a:fld>
            <a:endParaRPr lang="en-US" altLang="zh-CN" smtClean="0"/>
          </a:p>
        </p:txBody>
      </p:sp>
      <p:sp>
        <p:nvSpPr>
          <p:cNvPr id="238402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500"/>
                                  </p:stCondLst>
                                  <p:childTnLst>
                                    <p:set>
                                      <p:cBhvr>
                                        <p:cTn id="6" dur="1" fill="hold">
                                          <p:stCondLst>
                                            <p:cond delay="0"/>
                                          </p:stCondLst>
                                        </p:cTn>
                                        <p:tgtEl>
                                          <p:spTgt spid="347149"/>
                                        </p:tgtEl>
                                        <p:attrNameLst>
                                          <p:attrName>style.visibility</p:attrName>
                                        </p:attrNameLst>
                                      </p:cBhvr>
                                      <p:to>
                                        <p:strVal val="visible"/>
                                      </p:to>
                                    </p:set>
                                    <p:animEffect transition="in" filter="wipe(left)">
                                      <p:cBhvr>
                                        <p:cTn id="7" dur="3000"/>
                                        <p:tgtEl>
                                          <p:spTgt spid="347149"/>
                                        </p:tgtEl>
                                      </p:cBhvr>
                                    </p:animEffect>
                                  </p:childTnLst>
                                </p:cTn>
                              </p:par>
                              <p:par>
                                <p:cTn id="8" presetID="1" presetClass="entr" presetSubtype="0" fill="hold" grpId="0" nodeType="withEffect">
                                  <p:stCondLst>
                                    <p:cond delay="500"/>
                                  </p:stCondLst>
                                  <p:childTnLst>
                                    <p:set>
                                      <p:cBhvr>
                                        <p:cTn id="9" dur="1" fill="hold">
                                          <p:stCondLst>
                                            <p:cond delay="0"/>
                                          </p:stCondLst>
                                        </p:cTn>
                                        <p:tgtEl>
                                          <p:spTgt spid="347152"/>
                                        </p:tgtEl>
                                        <p:attrNameLst>
                                          <p:attrName>style.visibility</p:attrName>
                                        </p:attrNameLst>
                                      </p:cBhvr>
                                      <p:to>
                                        <p:strVal val="visible"/>
                                      </p:to>
                                    </p:set>
                                  </p:childTnLst>
                                </p:cTn>
                              </p:par>
                              <p:par>
                                <p:cTn id="10" presetID="1" presetClass="exit" presetSubtype="0" fill="hold" grpId="1" nodeType="withEffect">
                                  <p:stCondLst>
                                    <p:cond delay="2500"/>
                                  </p:stCondLst>
                                  <p:childTnLst>
                                    <p:set>
                                      <p:cBhvr>
                                        <p:cTn id="11" dur="1" fill="hold">
                                          <p:stCondLst>
                                            <p:cond delay="0"/>
                                          </p:stCondLst>
                                        </p:cTn>
                                        <p:tgtEl>
                                          <p:spTgt spid="347152"/>
                                        </p:tgtEl>
                                        <p:attrNameLst>
                                          <p:attrName>style.visibility</p:attrName>
                                        </p:attrNameLst>
                                      </p:cBhvr>
                                      <p:to>
                                        <p:strVal val="hidden"/>
                                      </p:to>
                                    </p:set>
                                  </p:childTnLst>
                                </p:cTn>
                              </p:par>
                              <p:par>
                                <p:cTn id="12" presetID="1" presetClass="entr" presetSubtype="0" fill="hold" grpId="0" nodeType="withEffect">
                                  <p:stCondLst>
                                    <p:cond delay="2500"/>
                                  </p:stCondLst>
                                  <p:childTnLst>
                                    <p:set>
                                      <p:cBhvr>
                                        <p:cTn id="13" dur="1" fill="hold">
                                          <p:stCondLst>
                                            <p:cond delay="0"/>
                                          </p:stCondLst>
                                        </p:cTn>
                                        <p:tgtEl>
                                          <p:spTgt spid="347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49" grpId="0" animBg="1"/>
      <p:bldP spid="347152" grpId="0" animBg="1"/>
      <p:bldP spid="347152" grpId="1" animBg="1"/>
      <p:bldP spid="34715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21"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建立</a:t>
            </a:r>
            <a:r>
              <a:rPr lang="zh-CN" altLang="en-US" dirty="0" smtClean="0">
                <a:solidFill>
                  <a:srgbClr val="FF0000"/>
                </a:solidFill>
                <a:ea typeface="黑体" panose="02010609060101010101" pitchFamily="49" charset="-122"/>
              </a:rPr>
              <a:t>关联</a:t>
            </a:r>
            <a:r>
              <a:rPr lang="en-US" altLang="zh-CN" dirty="0" smtClean="0">
                <a:ea typeface="黑体" panose="02010609060101010101" pitchFamily="49" charset="-122"/>
              </a:rPr>
              <a:t>(association)</a:t>
            </a:r>
          </a:p>
        </p:txBody>
      </p:sp>
      <p:sp>
        <p:nvSpPr>
          <p:cNvPr id="2385922"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一个移动站若要加入到一个基本服务集 </a:t>
            </a:r>
            <a:r>
              <a:rPr lang="en-US" altLang="zh-CN" dirty="0" smtClean="0">
                <a:ea typeface="黑体" panose="02010609060101010101" pitchFamily="49" charset="-122"/>
              </a:rPr>
              <a:t>BSS</a:t>
            </a:r>
            <a:r>
              <a:rPr lang="zh-CN" altLang="en-US" dirty="0" smtClean="0">
                <a:ea typeface="黑体" panose="02010609060101010101" pitchFamily="49" charset="-122"/>
              </a:rPr>
              <a:t>，就必须先选择一个接入点 </a:t>
            </a:r>
            <a:r>
              <a:rPr lang="en-US" altLang="zh-CN" dirty="0" smtClean="0">
                <a:ea typeface="黑体" panose="02010609060101010101" pitchFamily="49" charset="-122"/>
              </a:rPr>
              <a:t>AP</a:t>
            </a:r>
            <a:r>
              <a:rPr lang="zh-CN" altLang="en-US" dirty="0" smtClean="0">
                <a:ea typeface="黑体" panose="02010609060101010101" pitchFamily="49" charset="-122"/>
              </a:rPr>
              <a:t>，并与此接入点</a:t>
            </a:r>
            <a:r>
              <a:rPr lang="zh-CN" altLang="en-US" dirty="0" smtClean="0">
                <a:solidFill>
                  <a:srgbClr val="FF0000"/>
                </a:solidFill>
                <a:ea typeface="黑体" panose="02010609060101010101" pitchFamily="49" charset="-122"/>
              </a:rPr>
              <a:t>建立关联 </a:t>
            </a:r>
            <a:r>
              <a:rPr lang="en-US" altLang="zh-CN" dirty="0" smtClean="0">
                <a:ea typeface="黑体" panose="02010609060101010101" pitchFamily="49" charset="-122"/>
              </a:rPr>
              <a:t>(association) </a:t>
            </a:r>
            <a:r>
              <a:rPr lang="zh-CN" altLang="en-US" dirty="0" smtClean="0">
                <a:ea typeface="黑体" panose="02010609060101010101" pitchFamily="49" charset="-122"/>
              </a:rPr>
              <a:t>。</a:t>
            </a:r>
          </a:p>
          <a:p>
            <a:r>
              <a:rPr lang="zh-CN" altLang="en-US" dirty="0" smtClean="0">
                <a:ea typeface="黑体" panose="02010609060101010101" pitchFamily="49" charset="-122"/>
              </a:rPr>
              <a:t>建立关联就表示这个移动站</a:t>
            </a:r>
            <a:r>
              <a:rPr lang="zh-CN" altLang="en-US" dirty="0" smtClean="0">
                <a:solidFill>
                  <a:srgbClr val="0000FF"/>
                </a:solidFill>
                <a:ea typeface="黑体" panose="02010609060101010101" pitchFamily="49" charset="-122"/>
              </a:rPr>
              <a:t>加入了选定的 </a:t>
            </a:r>
            <a:r>
              <a:rPr lang="en-US" altLang="zh-CN" dirty="0" smtClean="0">
                <a:solidFill>
                  <a:srgbClr val="0000FF"/>
                </a:solidFill>
                <a:ea typeface="黑体" panose="02010609060101010101" pitchFamily="49" charset="-122"/>
              </a:rPr>
              <a:t>AP </a:t>
            </a:r>
            <a:r>
              <a:rPr lang="zh-CN" altLang="en-US" dirty="0" smtClean="0">
                <a:solidFill>
                  <a:srgbClr val="0000FF"/>
                </a:solidFill>
                <a:ea typeface="黑体" panose="02010609060101010101" pitchFamily="49" charset="-122"/>
              </a:rPr>
              <a:t>所属的子网</a:t>
            </a:r>
            <a:r>
              <a:rPr lang="zh-CN" altLang="en-US" dirty="0" smtClean="0">
                <a:ea typeface="黑体" panose="02010609060101010101" pitchFamily="49" charset="-122"/>
              </a:rPr>
              <a:t>，并和这个 </a:t>
            </a:r>
            <a:r>
              <a:rPr lang="en-US" altLang="zh-CN" dirty="0" smtClean="0">
                <a:ea typeface="黑体" panose="02010609060101010101" pitchFamily="49" charset="-122"/>
              </a:rPr>
              <a:t>AP </a:t>
            </a:r>
            <a:r>
              <a:rPr lang="zh-CN" altLang="en-US" dirty="0" smtClean="0">
                <a:ea typeface="黑体" panose="02010609060101010101" pitchFamily="49" charset="-122"/>
              </a:rPr>
              <a:t>之间创建了一个虚拟线路。</a:t>
            </a:r>
          </a:p>
          <a:p>
            <a:r>
              <a:rPr lang="zh-CN" altLang="en-US" dirty="0" smtClean="0">
                <a:ea typeface="黑体" panose="02010609060101010101" pitchFamily="49" charset="-122"/>
              </a:rPr>
              <a:t>只有关联的 </a:t>
            </a:r>
            <a:r>
              <a:rPr lang="en-US" altLang="zh-CN" dirty="0" smtClean="0">
                <a:ea typeface="黑体" panose="02010609060101010101" pitchFamily="49" charset="-122"/>
              </a:rPr>
              <a:t>AP </a:t>
            </a:r>
            <a:r>
              <a:rPr lang="zh-CN" altLang="en-US" dirty="0" smtClean="0">
                <a:ea typeface="黑体" panose="02010609060101010101" pitchFamily="49" charset="-122"/>
              </a:rPr>
              <a:t>才向这个移动站发送数据帧，而这个移动站也只有通过关联的 </a:t>
            </a:r>
            <a:r>
              <a:rPr lang="en-US" altLang="zh-CN" dirty="0" smtClean="0">
                <a:ea typeface="黑体" panose="02010609060101010101" pitchFamily="49" charset="-122"/>
              </a:rPr>
              <a:t>AP </a:t>
            </a:r>
            <a:r>
              <a:rPr lang="zh-CN" altLang="en-US" dirty="0" smtClean="0">
                <a:ea typeface="黑体" panose="02010609060101010101" pitchFamily="49" charset="-122"/>
              </a:rPr>
              <a:t>才能向其他站点发送数据帧。</a:t>
            </a:r>
          </a:p>
        </p:txBody>
      </p:sp>
      <p:sp>
        <p:nvSpPr>
          <p:cNvPr id="23859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C53CBC8-CC31-4212-8207-D70938AB018F}" type="slidenum">
              <a:rPr lang="zh-CN" altLang="en-US" smtClean="0"/>
              <a:pPr eaLnBrk="1" hangingPunct="1"/>
              <a:t>12</a:t>
            </a:fld>
            <a:endParaRPr lang="en-US" altLang="zh-CN" smtClean="0"/>
          </a:p>
        </p:txBody>
      </p:sp>
      <p:sp>
        <p:nvSpPr>
          <p:cNvPr id="23859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7969"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移动站与 </a:t>
            </a:r>
            <a:r>
              <a:rPr lang="en-US" altLang="zh-CN" dirty="0" smtClean="0">
                <a:ea typeface="黑体" panose="02010609060101010101" pitchFamily="49" charset="-122"/>
              </a:rPr>
              <a:t>AP </a:t>
            </a:r>
            <a:r>
              <a:rPr lang="zh-CN" altLang="en-US" dirty="0" smtClean="0">
                <a:ea typeface="黑体" panose="02010609060101010101" pitchFamily="49" charset="-122"/>
              </a:rPr>
              <a:t>建立关联的方法</a:t>
            </a:r>
          </a:p>
        </p:txBody>
      </p:sp>
      <p:sp>
        <p:nvSpPr>
          <p:cNvPr id="2387970" name="Rectangle 3"/>
          <p:cNvSpPr>
            <a:spLocks noGrp="1" noChangeArrowheads="1"/>
          </p:cNvSpPr>
          <p:nvPr>
            <p:ph type="body" idx="1"/>
          </p:nvPr>
        </p:nvSpPr>
        <p:spPr>
          <a:xfrm>
            <a:off x="495300" y="1196975"/>
            <a:ext cx="9066213" cy="4933950"/>
          </a:xfrm>
        </p:spPr>
        <p:txBody>
          <a:bodyPr/>
          <a:lstStyle/>
          <a:p>
            <a:r>
              <a:rPr lang="zh-CN" altLang="en-US" dirty="0" smtClean="0">
                <a:solidFill>
                  <a:srgbClr val="0000FF"/>
                </a:solidFill>
                <a:ea typeface="黑体" panose="02010609060101010101" pitchFamily="49" charset="-122"/>
              </a:rPr>
              <a:t>被动扫描</a:t>
            </a:r>
            <a:endParaRPr lang="en-US" altLang="zh-CN" dirty="0" smtClean="0">
              <a:solidFill>
                <a:srgbClr val="0000FF"/>
              </a:solidFill>
              <a:ea typeface="黑体" panose="02010609060101010101" pitchFamily="49" charset="-122"/>
            </a:endParaRPr>
          </a:p>
          <a:p>
            <a:pPr lvl="1"/>
            <a:r>
              <a:rPr lang="zh-CN" altLang="en-US" dirty="0" smtClean="0">
                <a:ea typeface="黑体" panose="02010609060101010101" pitchFamily="49" charset="-122"/>
              </a:rPr>
              <a:t>移动站等待接收接入站周期性发出的</a:t>
            </a:r>
            <a:r>
              <a:rPr lang="zh-CN" altLang="en-US" dirty="0" smtClean="0">
                <a:solidFill>
                  <a:srgbClr val="0000FF"/>
                </a:solidFill>
                <a:ea typeface="黑体" panose="02010609060101010101" pitchFamily="49" charset="-122"/>
              </a:rPr>
              <a:t>信标帧</a:t>
            </a:r>
            <a:r>
              <a:rPr lang="en-US" altLang="zh-CN" dirty="0" smtClean="0">
                <a:ea typeface="黑体" panose="02010609060101010101" pitchFamily="49" charset="-122"/>
              </a:rPr>
              <a:t>(beacon frame)</a:t>
            </a:r>
            <a:r>
              <a:rPr lang="zh-CN" altLang="en-US" dirty="0" smtClean="0">
                <a:ea typeface="黑体" panose="02010609060101010101" pitchFamily="49" charset="-122"/>
              </a:rPr>
              <a:t>。</a:t>
            </a:r>
          </a:p>
          <a:p>
            <a:pPr lvl="1"/>
            <a:r>
              <a:rPr lang="zh-CN" altLang="en-US" dirty="0" smtClean="0">
                <a:ea typeface="黑体" panose="02010609060101010101" pitchFamily="49" charset="-122"/>
              </a:rPr>
              <a:t>信标帧中包含有若干系统参数（如服务集标识符 </a:t>
            </a:r>
            <a:r>
              <a:rPr lang="en-US" altLang="zh-CN" dirty="0" smtClean="0">
                <a:ea typeface="黑体" panose="02010609060101010101" pitchFamily="49" charset="-122"/>
              </a:rPr>
              <a:t>SSID </a:t>
            </a:r>
            <a:r>
              <a:rPr lang="zh-CN" altLang="en-US" dirty="0" smtClean="0">
                <a:ea typeface="黑体" panose="02010609060101010101" pitchFamily="49" charset="-122"/>
              </a:rPr>
              <a:t>以及支持的速率等）。</a:t>
            </a:r>
          </a:p>
          <a:p>
            <a:r>
              <a:rPr lang="zh-CN" altLang="en-US" dirty="0" smtClean="0">
                <a:solidFill>
                  <a:srgbClr val="0000FF"/>
                </a:solidFill>
                <a:ea typeface="黑体" panose="02010609060101010101" pitchFamily="49" charset="-122"/>
              </a:rPr>
              <a:t>主动扫描</a:t>
            </a:r>
            <a:endParaRPr lang="en-US" altLang="zh-CN" dirty="0" smtClean="0">
              <a:solidFill>
                <a:srgbClr val="0000FF"/>
              </a:solidFill>
              <a:ea typeface="黑体" panose="02010609060101010101" pitchFamily="49" charset="-122"/>
            </a:endParaRPr>
          </a:p>
          <a:p>
            <a:pPr lvl="1"/>
            <a:r>
              <a:rPr lang="zh-CN" altLang="en-US" dirty="0" smtClean="0">
                <a:ea typeface="黑体" panose="02010609060101010101" pitchFamily="49" charset="-122"/>
              </a:rPr>
              <a:t>移动站主动发出</a:t>
            </a:r>
            <a:r>
              <a:rPr lang="zh-CN" altLang="en-US" dirty="0" smtClean="0">
                <a:solidFill>
                  <a:srgbClr val="0000FF"/>
                </a:solidFill>
                <a:ea typeface="黑体" panose="02010609060101010101" pitchFamily="49" charset="-122"/>
              </a:rPr>
              <a:t>探测请求帧</a:t>
            </a:r>
            <a:r>
              <a:rPr lang="en-US" altLang="zh-CN" dirty="0" smtClean="0">
                <a:ea typeface="黑体" panose="02010609060101010101" pitchFamily="49" charset="-122"/>
              </a:rPr>
              <a:t>(probe request frame)</a:t>
            </a:r>
            <a:r>
              <a:rPr lang="zh-CN" altLang="en-US" dirty="0" smtClean="0">
                <a:ea typeface="黑体" panose="02010609060101010101" pitchFamily="49" charset="-122"/>
              </a:rPr>
              <a:t>，然后等待从 </a:t>
            </a:r>
            <a:r>
              <a:rPr lang="en-US" altLang="zh-CN" dirty="0" smtClean="0">
                <a:ea typeface="黑体" panose="02010609060101010101" pitchFamily="49" charset="-122"/>
              </a:rPr>
              <a:t>AP </a:t>
            </a:r>
            <a:r>
              <a:rPr lang="zh-CN" altLang="en-US" dirty="0" smtClean="0">
                <a:ea typeface="黑体" panose="02010609060101010101" pitchFamily="49" charset="-122"/>
              </a:rPr>
              <a:t>发回的</a:t>
            </a:r>
            <a:r>
              <a:rPr lang="zh-CN" altLang="en-US" dirty="0" smtClean="0">
                <a:solidFill>
                  <a:srgbClr val="0000FF"/>
                </a:solidFill>
                <a:ea typeface="黑体" panose="02010609060101010101" pitchFamily="49" charset="-122"/>
              </a:rPr>
              <a:t>探测响应帧</a:t>
            </a:r>
            <a:r>
              <a:rPr lang="en-US" altLang="zh-CN" dirty="0" smtClean="0">
                <a:ea typeface="黑体" panose="02010609060101010101" pitchFamily="49" charset="-122"/>
              </a:rPr>
              <a:t>(probe response frame)</a:t>
            </a:r>
            <a:r>
              <a:rPr lang="zh-CN" altLang="en-US" dirty="0" smtClean="0">
                <a:ea typeface="黑体" panose="02010609060101010101" pitchFamily="49" charset="-122"/>
              </a:rPr>
              <a:t>。</a:t>
            </a:r>
          </a:p>
        </p:txBody>
      </p:sp>
      <p:sp>
        <p:nvSpPr>
          <p:cNvPr id="23879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AA99D71-62A0-43D8-8AF7-23E74F58933F}" type="slidenum">
              <a:rPr lang="zh-CN" altLang="en-US" smtClean="0"/>
              <a:pPr eaLnBrk="1" hangingPunct="1"/>
              <a:t>13</a:t>
            </a:fld>
            <a:endParaRPr lang="en-US" altLang="zh-CN" smtClean="0"/>
          </a:p>
        </p:txBody>
      </p:sp>
      <p:sp>
        <p:nvSpPr>
          <p:cNvPr id="23879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0017"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热点 </a:t>
            </a:r>
            <a:r>
              <a:rPr lang="en-US" altLang="zh-CN" dirty="0" smtClean="0">
                <a:ea typeface="黑体" panose="02010609060101010101" pitchFamily="49" charset="-122"/>
              </a:rPr>
              <a:t>(hot spot)</a:t>
            </a:r>
          </a:p>
        </p:txBody>
      </p:sp>
      <p:sp>
        <p:nvSpPr>
          <p:cNvPr id="2390018"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现在许多地方，如办公室、机场、快餐店、旅馆、购物中心等都能够向公众提供有偿或无偿接入 </a:t>
            </a:r>
            <a:r>
              <a:rPr lang="en-US" altLang="zh-CN" dirty="0" smtClean="0">
                <a:ea typeface="黑体" panose="02010609060101010101" pitchFamily="49" charset="-122"/>
              </a:rPr>
              <a:t>Wi-Fi </a:t>
            </a:r>
            <a:r>
              <a:rPr lang="zh-CN" altLang="en-US" dirty="0" smtClean="0">
                <a:ea typeface="黑体" panose="02010609060101010101" pitchFamily="49" charset="-122"/>
              </a:rPr>
              <a:t>的服务。这样的地点就叫做</a:t>
            </a:r>
            <a:r>
              <a:rPr lang="zh-CN" altLang="en-US" dirty="0" smtClean="0">
                <a:solidFill>
                  <a:srgbClr val="FF0000"/>
                </a:solidFill>
                <a:ea typeface="黑体" panose="02010609060101010101" pitchFamily="49" charset="-122"/>
              </a:rPr>
              <a:t>热点</a:t>
            </a:r>
            <a:r>
              <a:rPr lang="zh-CN" altLang="en-US" dirty="0" smtClean="0">
                <a:ea typeface="黑体" panose="02010609060101010101" pitchFamily="49" charset="-122"/>
              </a:rPr>
              <a:t>。</a:t>
            </a:r>
          </a:p>
          <a:p>
            <a:r>
              <a:rPr lang="zh-CN" altLang="en-US" dirty="0" smtClean="0">
                <a:ea typeface="黑体" panose="02010609060101010101" pitchFamily="49" charset="-122"/>
              </a:rPr>
              <a:t>由许多热点和 </a:t>
            </a:r>
            <a:r>
              <a:rPr lang="en-US" altLang="zh-CN" dirty="0" smtClean="0">
                <a:ea typeface="黑体" panose="02010609060101010101" pitchFamily="49" charset="-122"/>
              </a:rPr>
              <a:t>AP </a:t>
            </a:r>
            <a:r>
              <a:rPr lang="zh-CN" altLang="en-US" dirty="0" smtClean="0">
                <a:ea typeface="黑体" panose="02010609060101010101" pitchFamily="49" charset="-122"/>
              </a:rPr>
              <a:t>连接起来的区域叫做</a:t>
            </a:r>
            <a:r>
              <a:rPr lang="zh-CN" altLang="en-US" dirty="0" smtClean="0">
                <a:solidFill>
                  <a:srgbClr val="FF0000"/>
                </a:solidFill>
                <a:ea typeface="黑体" panose="02010609060101010101" pitchFamily="49" charset="-122"/>
              </a:rPr>
              <a:t>热区 </a:t>
            </a:r>
            <a:r>
              <a:rPr lang="en-US" altLang="zh-CN" dirty="0" smtClean="0">
                <a:ea typeface="黑体" panose="02010609060101010101" pitchFamily="49" charset="-122"/>
              </a:rPr>
              <a:t>(hot zone)</a:t>
            </a:r>
            <a:r>
              <a:rPr lang="zh-CN" altLang="en-US" dirty="0" smtClean="0">
                <a:ea typeface="黑体" panose="02010609060101010101" pitchFamily="49" charset="-122"/>
              </a:rPr>
              <a:t>。热点也就是公众无线入网点。</a:t>
            </a:r>
          </a:p>
          <a:p>
            <a:r>
              <a:rPr lang="zh-CN" altLang="en-US" dirty="0" smtClean="0">
                <a:ea typeface="黑体" panose="02010609060101010101" pitchFamily="49" charset="-122"/>
              </a:rPr>
              <a:t>现在也出现</a:t>
            </a:r>
            <a:r>
              <a:rPr lang="zh-CN" altLang="en-US" u="sng" dirty="0" smtClean="0">
                <a:ea typeface="黑体" panose="02010609060101010101" pitchFamily="49" charset="-122"/>
              </a:rPr>
              <a:t>了</a:t>
            </a:r>
            <a:r>
              <a:rPr lang="zh-CN" altLang="en-US" u="sng" dirty="0" smtClean="0">
                <a:solidFill>
                  <a:srgbClr val="FF0000"/>
                </a:solidFill>
                <a:ea typeface="黑体" panose="02010609060101010101" pitchFamily="49" charset="-122"/>
              </a:rPr>
              <a:t>无线互联网服务提供者 </a:t>
            </a:r>
            <a:r>
              <a:rPr lang="en-US" altLang="zh-CN" u="sng" dirty="0" smtClean="0">
                <a:solidFill>
                  <a:srgbClr val="FF0000"/>
                </a:solidFill>
                <a:ea typeface="黑体" panose="02010609060101010101" pitchFamily="49" charset="-122"/>
              </a:rPr>
              <a:t>WISP </a:t>
            </a:r>
            <a:r>
              <a:rPr lang="en-US" altLang="zh-CN" u="sng" dirty="0" smtClean="0">
                <a:ea typeface="黑体" panose="02010609060101010101" pitchFamily="49" charset="-122"/>
              </a:rPr>
              <a:t>(Wireless Internet Service Provider) </a:t>
            </a:r>
            <a:r>
              <a:rPr lang="zh-CN" altLang="en-US" dirty="0" smtClean="0">
                <a:ea typeface="黑体" panose="02010609060101010101" pitchFamily="49" charset="-122"/>
              </a:rPr>
              <a:t>这一名词。用户可以通过无线信道接入到 </a:t>
            </a:r>
            <a:r>
              <a:rPr lang="en-US" altLang="zh-CN" dirty="0" smtClean="0">
                <a:ea typeface="黑体" panose="02010609060101010101" pitchFamily="49" charset="-122"/>
              </a:rPr>
              <a:t>WISP</a:t>
            </a:r>
            <a:r>
              <a:rPr lang="zh-CN" altLang="en-US" dirty="0" smtClean="0">
                <a:ea typeface="黑体" panose="02010609060101010101" pitchFamily="49" charset="-122"/>
              </a:rPr>
              <a:t>，然后再经过无线信道接入到互联网。</a:t>
            </a:r>
          </a:p>
        </p:txBody>
      </p:sp>
      <p:sp>
        <p:nvSpPr>
          <p:cNvPr id="23900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4C1DBB9-EE46-4BE2-985B-619209FCB3CB}" type="slidenum">
              <a:rPr lang="zh-CN" altLang="en-US" smtClean="0"/>
              <a:pPr eaLnBrk="1" hangingPunct="1"/>
              <a:t>14</a:t>
            </a:fld>
            <a:endParaRPr lang="en-US" altLang="zh-CN" smtClean="0"/>
          </a:p>
        </p:txBody>
      </p:sp>
      <p:sp>
        <p:nvSpPr>
          <p:cNvPr id="23900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2065" name="Rectangle 6"/>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移动自组网络</a:t>
            </a:r>
            <a:endParaRPr lang="en-US" altLang="zh-CN" smtClean="0">
              <a:ea typeface="黑体" panose="02010609060101010101" pitchFamily="49" charset="-122"/>
            </a:endParaRPr>
          </a:p>
        </p:txBody>
      </p:sp>
      <p:sp>
        <p:nvSpPr>
          <p:cNvPr id="2392066" name="Rectangle 153"/>
          <p:cNvSpPr>
            <a:spLocks noGrp="1" noChangeArrowheads="1"/>
          </p:cNvSpPr>
          <p:nvPr>
            <p:ph idx="1"/>
          </p:nvPr>
        </p:nvSpPr>
        <p:spPr>
          <a:xfrm>
            <a:off x="495300" y="1196975"/>
            <a:ext cx="9066213" cy="4933950"/>
          </a:xfrm>
        </p:spPr>
        <p:txBody>
          <a:bodyPr/>
          <a:lstStyle/>
          <a:p>
            <a:r>
              <a:rPr lang="zh-CN" altLang="en-US" sz="3000" dirty="0" smtClean="0">
                <a:ea typeface="黑体" panose="02010609060101010101" pitchFamily="49" charset="-122"/>
              </a:rPr>
              <a:t>移动自组网络又称为</a:t>
            </a:r>
            <a:r>
              <a:rPr lang="zh-CN" altLang="en-US" sz="3000" dirty="0" smtClean="0">
                <a:solidFill>
                  <a:srgbClr val="FF0000"/>
                </a:solidFill>
                <a:ea typeface="黑体" panose="02010609060101010101" pitchFamily="49" charset="-122"/>
              </a:rPr>
              <a:t>自组网络 </a:t>
            </a:r>
            <a:r>
              <a:rPr lang="en-US" altLang="zh-CN" sz="3000" dirty="0" smtClean="0">
                <a:ea typeface="黑体" panose="02010609060101010101" pitchFamily="49" charset="-122"/>
              </a:rPr>
              <a:t>(ad hoc network) </a:t>
            </a:r>
            <a:r>
              <a:rPr lang="zh-CN" altLang="en-US" sz="3000" dirty="0" smtClean="0">
                <a:ea typeface="黑体" panose="02010609060101010101" pitchFamily="49" charset="-122"/>
              </a:rPr>
              <a:t>。</a:t>
            </a:r>
            <a:endParaRPr lang="en-US" altLang="zh-CN" sz="3000" dirty="0" smtClean="0">
              <a:ea typeface="黑体" panose="02010609060101010101" pitchFamily="49" charset="-122"/>
            </a:endParaRPr>
          </a:p>
          <a:p>
            <a:r>
              <a:rPr lang="zh-CN" altLang="en-US" sz="3000" dirty="0" smtClean="0">
                <a:ea typeface="黑体" panose="02010609060101010101" pitchFamily="49" charset="-122"/>
              </a:rPr>
              <a:t>自组网络是没有固定基础设施（即没有 </a:t>
            </a:r>
            <a:r>
              <a:rPr lang="en-US" altLang="zh-CN" sz="3000" dirty="0" smtClean="0">
                <a:ea typeface="黑体" panose="02010609060101010101" pitchFamily="49" charset="-122"/>
              </a:rPr>
              <a:t>AP</a:t>
            </a:r>
            <a:r>
              <a:rPr lang="zh-CN" altLang="en-US" sz="3000" dirty="0" smtClean="0">
                <a:ea typeface="黑体" panose="02010609060101010101" pitchFamily="49" charset="-122"/>
              </a:rPr>
              <a:t>）的无线局域网。</a:t>
            </a:r>
            <a:endParaRPr lang="en-US" altLang="zh-CN" sz="3000" dirty="0" smtClean="0">
              <a:ea typeface="黑体" panose="02010609060101010101" pitchFamily="49" charset="-122"/>
            </a:endParaRPr>
          </a:p>
          <a:p>
            <a:r>
              <a:rPr lang="zh-CN" altLang="en-US" sz="3000" dirty="0" smtClean="0">
                <a:ea typeface="黑体" panose="02010609060101010101" pitchFamily="49" charset="-122"/>
              </a:rPr>
              <a:t>这种网络是由一些处于</a:t>
            </a:r>
            <a:r>
              <a:rPr lang="zh-CN" altLang="en-US" sz="3000" dirty="0" smtClean="0">
                <a:solidFill>
                  <a:srgbClr val="0000FF"/>
                </a:solidFill>
                <a:ea typeface="黑体" panose="02010609060101010101" pitchFamily="49" charset="-122"/>
              </a:rPr>
              <a:t>平等状态的移动站</a:t>
            </a:r>
            <a:r>
              <a:rPr lang="zh-CN" altLang="en-US" sz="3000" dirty="0" smtClean="0">
                <a:ea typeface="黑体" panose="02010609060101010101" pitchFamily="49" charset="-122"/>
              </a:rPr>
              <a:t>之间</a:t>
            </a:r>
            <a:r>
              <a:rPr lang="zh-CN" altLang="en-US" sz="3000" dirty="0" smtClean="0">
                <a:solidFill>
                  <a:srgbClr val="0000FF"/>
                </a:solidFill>
                <a:ea typeface="黑体" panose="02010609060101010101" pitchFamily="49" charset="-122"/>
              </a:rPr>
              <a:t>相互通信</a:t>
            </a:r>
            <a:r>
              <a:rPr lang="zh-CN" altLang="en-US" sz="3000" dirty="0" smtClean="0">
                <a:ea typeface="黑体" panose="02010609060101010101" pitchFamily="49" charset="-122"/>
              </a:rPr>
              <a:t>组成的临时网络。</a:t>
            </a:r>
            <a:endParaRPr lang="en-US" altLang="zh-CN" sz="3000" dirty="0" smtClean="0">
              <a:ea typeface="黑体" panose="02010609060101010101" pitchFamily="49" charset="-122"/>
            </a:endParaRPr>
          </a:p>
          <a:p>
            <a:r>
              <a:rPr lang="zh-CN" altLang="zh-CN" sz="3000" dirty="0" smtClean="0">
                <a:ea typeface="黑体" panose="02010609060101010101" pitchFamily="49" charset="-122"/>
              </a:rPr>
              <a:t>自组网络的服务</a:t>
            </a:r>
            <a:r>
              <a:rPr lang="zh-CN" altLang="zh-CN" sz="3000" dirty="0" smtClean="0">
                <a:solidFill>
                  <a:srgbClr val="0000FF"/>
                </a:solidFill>
                <a:ea typeface="黑体" panose="02010609060101010101" pitchFamily="49" charset="-122"/>
              </a:rPr>
              <a:t>范围</a:t>
            </a:r>
            <a:r>
              <a:rPr lang="zh-CN" altLang="zh-CN" sz="3000" dirty="0" smtClean="0">
                <a:ea typeface="黑体" panose="02010609060101010101" pitchFamily="49" charset="-122"/>
              </a:rPr>
              <a:t>通常是</a:t>
            </a:r>
            <a:r>
              <a:rPr lang="zh-CN" altLang="zh-CN" sz="3000" dirty="0" smtClean="0">
                <a:solidFill>
                  <a:srgbClr val="0000FF"/>
                </a:solidFill>
                <a:ea typeface="黑体" panose="02010609060101010101" pitchFamily="49" charset="-122"/>
              </a:rPr>
              <a:t>受限</a:t>
            </a:r>
            <a:r>
              <a:rPr lang="zh-CN" altLang="zh-CN" sz="3000" dirty="0" smtClean="0">
                <a:ea typeface="黑体" panose="02010609060101010101" pitchFamily="49" charset="-122"/>
              </a:rPr>
              <a:t>的，而且一般也</a:t>
            </a:r>
            <a:r>
              <a:rPr lang="zh-CN" altLang="zh-CN" sz="3000" dirty="0" smtClean="0">
                <a:solidFill>
                  <a:srgbClr val="0000FF"/>
                </a:solidFill>
                <a:ea typeface="黑体" panose="02010609060101010101" pitchFamily="49" charset="-122"/>
              </a:rPr>
              <a:t>不和外界</a:t>
            </a:r>
            <a:r>
              <a:rPr lang="zh-CN" altLang="zh-CN" sz="3000" dirty="0" smtClean="0">
                <a:ea typeface="黑体" panose="02010609060101010101" pitchFamily="49" charset="-122"/>
              </a:rPr>
              <a:t>的其他网络相</a:t>
            </a:r>
            <a:r>
              <a:rPr lang="zh-CN" altLang="zh-CN" sz="3000" dirty="0" smtClean="0">
                <a:solidFill>
                  <a:srgbClr val="0000FF"/>
                </a:solidFill>
                <a:ea typeface="黑体" panose="02010609060101010101" pitchFamily="49" charset="-122"/>
              </a:rPr>
              <a:t>连接</a:t>
            </a:r>
            <a:r>
              <a:rPr lang="zh-CN" altLang="zh-CN" sz="3000" dirty="0" smtClean="0">
                <a:ea typeface="黑体" panose="02010609060101010101" pitchFamily="49" charset="-122"/>
              </a:rPr>
              <a:t>。</a:t>
            </a:r>
            <a:endParaRPr lang="en-US" altLang="zh-CN" sz="3000" dirty="0" smtClean="0">
              <a:ea typeface="黑体" panose="02010609060101010101" pitchFamily="49" charset="-122"/>
            </a:endParaRPr>
          </a:p>
          <a:p>
            <a:r>
              <a:rPr lang="zh-CN" altLang="zh-CN" sz="3000" dirty="0" smtClean="0">
                <a:ea typeface="黑体" panose="02010609060101010101" pitchFamily="49" charset="-122"/>
              </a:rPr>
              <a:t>移动自组网络也就是</a:t>
            </a:r>
            <a:r>
              <a:rPr lang="zh-CN" altLang="zh-CN" sz="3000" dirty="0" smtClean="0">
                <a:solidFill>
                  <a:srgbClr val="FF0000"/>
                </a:solidFill>
                <a:ea typeface="黑体" panose="02010609060101010101" pitchFamily="49" charset="-122"/>
              </a:rPr>
              <a:t>移动分组无线网络。</a:t>
            </a:r>
            <a:endParaRPr lang="zh-CN" altLang="en-US" sz="3000" dirty="0" smtClean="0">
              <a:solidFill>
                <a:srgbClr val="FF0000"/>
              </a:solidFill>
              <a:ea typeface="黑体" panose="02010609060101010101" pitchFamily="49" charset="-122"/>
            </a:endParaRPr>
          </a:p>
        </p:txBody>
      </p:sp>
      <p:sp>
        <p:nvSpPr>
          <p:cNvPr id="2392067" name="Text Box 104"/>
          <p:cNvSpPr txBox="1">
            <a:spLocks noChangeArrowheads="1"/>
          </p:cNvSpPr>
          <p:nvPr/>
        </p:nvSpPr>
        <p:spPr bwMode="auto">
          <a:xfrm>
            <a:off x="8620125" y="170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a:ea typeface="宋体" panose="02010600030101010101" pitchFamily="2" charset="-122"/>
            </a:endParaRPr>
          </a:p>
        </p:txBody>
      </p:sp>
      <p:sp>
        <p:nvSpPr>
          <p:cNvPr id="239206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A665FBC-D889-49E5-88FD-806CB333EB09}" type="slidenum">
              <a:rPr lang="zh-CN" altLang="en-US" smtClean="0"/>
              <a:pPr eaLnBrk="1" hangingPunct="1"/>
              <a:t>15</a:t>
            </a:fld>
            <a:endParaRPr lang="en-US" altLang="zh-CN" smtClean="0"/>
          </a:p>
        </p:txBody>
      </p:sp>
      <p:sp>
        <p:nvSpPr>
          <p:cNvPr id="239206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3089" name="Rectangle 6"/>
          <p:cNvSpPr>
            <a:spLocks noGrp="1" noChangeArrowheads="1"/>
          </p:cNvSpPr>
          <p:nvPr>
            <p:ph type="title"/>
          </p:nvPr>
        </p:nvSpPr>
        <p:spPr/>
        <p:txBody>
          <a:bodyPr/>
          <a:lstStyle/>
          <a:p>
            <a:r>
              <a:rPr lang="en-US" altLang="zh-CN" smtClean="0">
                <a:ea typeface="黑体" panose="02010609060101010101" pitchFamily="49" charset="-122"/>
              </a:rPr>
              <a:t>2. </a:t>
            </a:r>
            <a:r>
              <a:rPr lang="zh-CN" altLang="en-US" smtClean="0">
                <a:ea typeface="黑体" panose="02010609060101010101" pitchFamily="49" charset="-122"/>
              </a:rPr>
              <a:t>移动自组网络</a:t>
            </a:r>
            <a:endParaRPr lang="en-US" altLang="zh-CN" smtClean="0">
              <a:ea typeface="黑体" panose="02010609060101010101" pitchFamily="49" charset="-122"/>
            </a:endParaRPr>
          </a:p>
        </p:txBody>
      </p:sp>
      <p:grpSp>
        <p:nvGrpSpPr>
          <p:cNvPr id="2393090" name="组合 2"/>
          <p:cNvGrpSpPr>
            <a:grpSpLocks/>
          </p:cNvGrpSpPr>
          <p:nvPr/>
        </p:nvGrpSpPr>
        <p:grpSpPr bwMode="auto">
          <a:xfrm>
            <a:off x="704850" y="1268413"/>
            <a:ext cx="8099425" cy="3127375"/>
            <a:chOff x="704528" y="1700214"/>
            <a:chExt cx="8099799" cy="3126373"/>
          </a:xfrm>
        </p:grpSpPr>
        <p:sp>
          <p:nvSpPr>
            <p:cNvPr id="2393091" name="Text Box 104"/>
            <p:cNvSpPr txBox="1">
              <a:spLocks noChangeArrowheads="1"/>
            </p:cNvSpPr>
            <p:nvPr/>
          </p:nvSpPr>
          <p:spPr bwMode="auto">
            <a:xfrm>
              <a:off x="8619596" y="1700214"/>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b="1">
                <a:solidFill>
                  <a:srgbClr val="000099"/>
                </a:solidFill>
                <a:ea typeface="宋体" panose="02010600030101010101" pitchFamily="2" charset="-122"/>
              </a:endParaRPr>
            </a:p>
          </p:txBody>
        </p:sp>
        <p:sp>
          <p:nvSpPr>
            <p:cNvPr id="2393092" name="Oval 106"/>
            <p:cNvSpPr>
              <a:spLocks noChangeArrowheads="1"/>
            </p:cNvSpPr>
            <p:nvPr/>
          </p:nvSpPr>
          <p:spPr bwMode="auto">
            <a:xfrm>
              <a:off x="1814381" y="2319925"/>
              <a:ext cx="6507692" cy="2506662"/>
            </a:xfrm>
            <a:prstGeom prst="ellipse">
              <a:avLst/>
            </a:prstGeom>
            <a:solidFill>
              <a:srgbClr val="FF99FF"/>
            </a:solidFill>
            <a:ln w="9525">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093" name="Text Box 107"/>
            <p:cNvSpPr txBox="1">
              <a:spLocks noChangeArrowheads="1"/>
            </p:cNvSpPr>
            <p:nvPr/>
          </p:nvSpPr>
          <p:spPr bwMode="auto">
            <a:xfrm>
              <a:off x="4261735" y="3265820"/>
              <a:ext cx="16273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宋体" panose="02010600030101010101" pitchFamily="2" charset="-122"/>
                </a:rPr>
                <a:t>自组网络</a:t>
              </a:r>
            </a:p>
          </p:txBody>
        </p:sp>
        <p:sp>
          <p:nvSpPr>
            <p:cNvPr id="2393094" name="Freeform 108"/>
            <p:cNvSpPr>
              <a:spLocks noChangeArrowheads="1"/>
            </p:cNvSpPr>
            <p:nvPr/>
          </p:nvSpPr>
          <p:spPr bwMode="auto">
            <a:xfrm rot="-2939644">
              <a:off x="4482703" y="2261981"/>
              <a:ext cx="352425" cy="61913"/>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095" name="Freeform 109"/>
            <p:cNvSpPr>
              <a:spLocks noChangeArrowheads="1"/>
            </p:cNvSpPr>
            <p:nvPr/>
          </p:nvSpPr>
          <p:spPr bwMode="auto">
            <a:xfrm rot="-2939644">
              <a:off x="5677033" y="4123324"/>
              <a:ext cx="350838" cy="61913"/>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096" name="Freeform 110"/>
            <p:cNvSpPr>
              <a:spLocks noChangeArrowheads="1"/>
            </p:cNvSpPr>
            <p:nvPr/>
          </p:nvSpPr>
          <p:spPr bwMode="auto">
            <a:xfrm rot="-2939644">
              <a:off x="2591726" y="2664412"/>
              <a:ext cx="350837" cy="61913"/>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097" name="Freeform 111"/>
            <p:cNvSpPr>
              <a:spLocks noChangeArrowheads="1"/>
            </p:cNvSpPr>
            <p:nvPr/>
          </p:nvSpPr>
          <p:spPr bwMode="auto">
            <a:xfrm rot="-2939644">
              <a:off x="3235789" y="3893865"/>
              <a:ext cx="350838" cy="63632"/>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098" name="Freeform 112"/>
            <p:cNvSpPr>
              <a:spLocks noChangeArrowheads="1"/>
            </p:cNvSpPr>
            <p:nvPr/>
          </p:nvSpPr>
          <p:spPr bwMode="auto">
            <a:xfrm rot="2939644" flipH="1">
              <a:off x="2191874" y="2663552"/>
              <a:ext cx="350837" cy="63633"/>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099" name="Freeform 113"/>
            <p:cNvSpPr>
              <a:spLocks noChangeArrowheads="1"/>
            </p:cNvSpPr>
            <p:nvPr/>
          </p:nvSpPr>
          <p:spPr bwMode="auto">
            <a:xfrm rot="2939644" flipH="1">
              <a:off x="4076766" y="2287448"/>
              <a:ext cx="350837" cy="60192"/>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100" name="Freeform 114"/>
            <p:cNvSpPr>
              <a:spLocks noChangeArrowheads="1"/>
            </p:cNvSpPr>
            <p:nvPr/>
          </p:nvSpPr>
          <p:spPr bwMode="auto">
            <a:xfrm rot="2939644" flipH="1">
              <a:off x="2910747" y="3882885"/>
              <a:ext cx="350838" cy="60192"/>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101" name="Freeform 115"/>
            <p:cNvSpPr>
              <a:spLocks noChangeArrowheads="1"/>
            </p:cNvSpPr>
            <p:nvPr/>
          </p:nvSpPr>
          <p:spPr bwMode="auto">
            <a:xfrm rot="2939644" flipH="1">
              <a:off x="5259123" y="4110624"/>
              <a:ext cx="350838" cy="61913"/>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nvGrpSpPr>
            <p:cNvPr id="2393102" name="Group 116"/>
            <p:cNvGrpSpPr>
              <a:grpSpLocks/>
            </p:cNvGrpSpPr>
            <p:nvPr/>
          </p:nvGrpSpPr>
          <p:grpSpPr bwMode="auto">
            <a:xfrm>
              <a:off x="5248805" y="4145551"/>
              <a:ext cx="486702" cy="579437"/>
              <a:chOff x="2352" y="2061"/>
              <a:chExt cx="246" cy="237"/>
            </a:xfrm>
          </p:grpSpPr>
          <p:pic>
            <p:nvPicPr>
              <p:cNvPr id="2393103" name="Picture 117"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3104" name="Line 118"/>
              <p:cNvSpPr>
                <a:spLocks noChangeShapeType="1"/>
              </p:cNvSpPr>
              <p:nvPr/>
            </p:nvSpPr>
            <p:spPr bwMode="auto">
              <a:xfrm flipH="1">
                <a:off x="2556" y="2061"/>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393105" name="Group 119"/>
            <p:cNvGrpSpPr>
              <a:grpSpLocks/>
            </p:cNvGrpSpPr>
            <p:nvPr/>
          </p:nvGrpSpPr>
          <p:grpSpPr bwMode="auto">
            <a:xfrm>
              <a:off x="2858294" y="3945526"/>
              <a:ext cx="488421" cy="579437"/>
              <a:chOff x="2352" y="2061"/>
              <a:chExt cx="246" cy="237"/>
            </a:xfrm>
          </p:grpSpPr>
          <p:pic>
            <p:nvPicPr>
              <p:cNvPr id="2393106" name="Picture 120"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3107" name="Line 121"/>
              <p:cNvSpPr>
                <a:spLocks noChangeShapeType="1"/>
              </p:cNvSpPr>
              <p:nvPr/>
            </p:nvSpPr>
            <p:spPr bwMode="auto">
              <a:xfrm flipH="1">
                <a:off x="2556" y="2061"/>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393108" name="Group 122"/>
            <p:cNvGrpSpPr>
              <a:grpSpLocks/>
            </p:cNvGrpSpPr>
            <p:nvPr/>
          </p:nvGrpSpPr>
          <p:grpSpPr bwMode="auto">
            <a:xfrm>
              <a:off x="2302801" y="2799350"/>
              <a:ext cx="486701" cy="577850"/>
              <a:chOff x="2352" y="2061"/>
              <a:chExt cx="246" cy="237"/>
            </a:xfrm>
          </p:grpSpPr>
          <p:pic>
            <p:nvPicPr>
              <p:cNvPr id="2393109" name="Picture 123"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3110" name="Line 124"/>
              <p:cNvSpPr>
                <a:spLocks noChangeShapeType="1"/>
              </p:cNvSpPr>
              <p:nvPr/>
            </p:nvSpPr>
            <p:spPr bwMode="auto">
              <a:xfrm flipH="1">
                <a:off x="2556" y="2061"/>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393111" name="Group 125"/>
            <p:cNvGrpSpPr>
              <a:grpSpLocks/>
            </p:cNvGrpSpPr>
            <p:nvPr/>
          </p:nvGrpSpPr>
          <p:grpSpPr bwMode="auto">
            <a:xfrm>
              <a:off x="4093104" y="2361201"/>
              <a:ext cx="488421" cy="579437"/>
              <a:chOff x="2352" y="2061"/>
              <a:chExt cx="246" cy="237"/>
            </a:xfrm>
          </p:grpSpPr>
          <p:pic>
            <p:nvPicPr>
              <p:cNvPr id="2393112" name="Picture 126"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3113" name="Line 127"/>
              <p:cNvSpPr>
                <a:spLocks noChangeShapeType="1"/>
              </p:cNvSpPr>
              <p:nvPr/>
            </p:nvSpPr>
            <p:spPr bwMode="auto">
              <a:xfrm flipH="1">
                <a:off x="2556" y="2061"/>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393114" name="Freeform 128"/>
            <p:cNvSpPr>
              <a:spLocks noChangeArrowheads="1"/>
            </p:cNvSpPr>
            <p:nvPr/>
          </p:nvSpPr>
          <p:spPr bwMode="auto">
            <a:xfrm rot="-2939644">
              <a:off x="6443199" y="2363648"/>
              <a:ext cx="350837" cy="60192"/>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115" name="Freeform 129"/>
            <p:cNvSpPr>
              <a:spLocks noChangeArrowheads="1"/>
            </p:cNvSpPr>
            <p:nvPr/>
          </p:nvSpPr>
          <p:spPr bwMode="auto">
            <a:xfrm rot="2939644" flipH="1">
              <a:off x="6036468" y="2388187"/>
              <a:ext cx="350837" cy="61913"/>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nvGrpSpPr>
            <p:cNvPr id="2393116" name="Group 130"/>
            <p:cNvGrpSpPr>
              <a:grpSpLocks/>
            </p:cNvGrpSpPr>
            <p:nvPr/>
          </p:nvGrpSpPr>
          <p:grpSpPr bwMode="auto">
            <a:xfrm>
              <a:off x="6051947" y="2459626"/>
              <a:ext cx="486701" cy="579437"/>
              <a:chOff x="2352" y="2061"/>
              <a:chExt cx="246" cy="237"/>
            </a:xfrm>
          </p:grpSpPr>
          <p:pic>
            <p:nvPicPr>
              <p:cNvPr id="2393117" name="Picture 131"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3118" name="Line 132"/>
              <p:cNvSpPr>
                <a:spLocks noChangeShapeType="1"/>
              </p:cNvSpPr>
              <p:nvPr/>
            </p:nvSpPr>
            <p:spPr bwMode="auto">
              <a:xfrm flipH="1">
                <a:off x="2556" y="2061"/>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393119" name="Freeform 133"/>
            <p:cNvSpPr>
              <a:spLocks noChangeArrowheads="1"/>
            </p:cNvSpPr>
            <p:nvPr/>
          </p:nvSpPr>
          <p:spPr bwMode="auto">
            <a:xfrm rot="-2939644">
              <a:off x="8116557" y="2965309"/>
              <a:ext cx="350838" cy="60193"/>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120" name="Freeform 134"/>
            <p:cNvSpPr>
              <a:spLocks noChangeArrowheads="1"/>
            </p:cNvSpPr>
            <p:nvPr/>
          </p:nvSpPr>
          <p:spPr bwMode="auto">
            <a:xfrm rot="2939644" flipH="1">
              <a:off x="7709826" y="2964449"/>
              <a:ext cx="350838" cy="61913"/>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nvGrpSpPr>
            <p:cNvPr id="2393121" name="Group 135"/>
            <p:cNvGrpSpPr>
              <a:grpSpLocks/>
            </p:cNvGrpSpPr>
            <p:nvPr/>
          </p:nvGrpSpPr>
          <p:grpSpPr bwMode="auto">
            <a:xfrm>
              <a:off x="7671992" y="3070812"/>
              <a:ext cx="490140" cy="577850"/>
              <a:chOff x="2352" y="2061"/>
              <a:chExt cx="246" cy="237"/>
            </a:xfrm>
          </p:grpSpPr>
          <p:pic>
            <p:nvPicPr>
              <p:cNvPr id="2393122" name="Picture 136"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3123" name="Line 137"/>
              <p:cNvSpPr>
                <a:spLocks noChangeShapeType="1"/>
              </p:cNvSpPr>
              <p:nvPr/>
            </p:nvSpPr>
            <p:spPr bwMode="auto">
              <a:xfrm flipH="1">
                <a:off x="2556" y="2061"/>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393124" name="Text Box 138"/>
            <p:cNvSpPr txBox="1">
              <a:spLocks noChangeArrowheads="1"/>
            </p:cNvSpPr>
            <p:nvPr/>
          </p:nvSpPr>
          <p:spPr bwMode="auto">
            <a:xfrm>
              <a:off x="2543573" y="4010613"/>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A</a:t>
              </a:r>
            </a:p>
          </p:txBody>
        </p:sp>
        <p:sp>
          <p:nvSpPr>
            <p:cNvPr id="2393125" name="Text Box 139"/>
            <p:cNvSpPr txBox="1">
              <a:spLocks noChangeArrowheads="1"/>
            </p:cNvSpPr>
            <p:nvPr/>
          </p:nvSpPr>
          <p:spPr bwMode="auto">
            <a:xfrm>
              <a:off x="7754541" y="3599450"/>
              <a:ext cx="3898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E</a:t>
              </a:r>
            </a:p>
          </p:txBody>
        </p:sp>
        <p:sp>
          <p:nvSpPr>
            <p:cNvPr id="2393126" name="Text Box 140"/>
            <p:cNvSpPr txBox="1">
              <a:spLocks noChangeArrowheads="1"/>
            </p:cNvSpPr>
            <p:nvPr/>
          </p:nvSpPr>
          <p:spPr bwMode="auto">
            <a:xfrm>
              <a:off x="6079464" y="3002551"/>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a:t>
              </a:r>
            </a:p>
          </p:txBody>
        </p:sp>
        <p:sp>
          <p:nvSpPr>
            <p:cNvPr id="2393127" name="Text Box 141"/>
            <p:cNvSpPr txBox="1">
              <a:spLocks noChangeArrowheads="1"/>
            </p:cNvSpPr>
            <p:nvPr/>
          </p:nvSpPr>
          <p:spPr bwMode="auto">
            <a:xfrm>
              <a:off x="4093104" y="2931113"/>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C</a:t>
              </a:r>
            </a:p>
          </p:txBody>
        </p:sp>
        <p:sp>
          <p:nvSpPr>
            <p:cNvPr id="2393128" name="Text Box 142"/>
            <p:cNvSpPr txBox="1">
              <a:spLocks noChangeArrowheads="1"/>
            </p:cNvSpPr>
            <p:nvPr/>
          </p:nvSpPr>
          <p:spPr bwMode="auto">
            <a:xfrm>
              <a:off x="1988080" y="2929525"/>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B</a:t>
              </a:r>
            </a:p>
          </p:txBody>
        </p:sp>
        <p:sp>
          <p:nvSpPr>
            <p:cNvPr id="2393129" name="Text Box 143"/>
            <p:cNvSpPr txBox="1">
              <a:spLocks noChangeArrowheads="1"/>
            </p:cNvSpPr>
            <p:nvPr/>
          </p:nvSpPr>
          <p:spPr bwMode="auto">
            <a:xfrm>
              <a:off x="4920325" y="4185238"/>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F</a:t>
              </a:r>
            </a:p>
          </p:txBody>
        </p:sp>
        <p:sp>
          <p:nvSpPr>
            <p:cNvPr id="2393130" name="Text Box 150"/>
            <p:cNvSpPr txBox="1">
              <a:spLocks noChangeArrowheads="1"/>
            </p:cNvSpPr>
            <p:nvPr/>
          </p:nvSpPr>
          <p:spPr bwMode="auto">
            <a:xfrm>
              <a:off x="704528" y="2492896"/>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转发结点</a:t>
              </a:r>
            </a:p>
          </p:txBody>
        </p:sp>
        <p:sp>
          <p:nvSpPr>
            <p:cNvPr id="2393131" name="Text Box 151"/>
            <p:cNvSpPr txBox="1">
              <a:spLocks noChangeArrowheads="1"/>
            </p:cNvSpPr>
            <p:nvPr/>
          </p:nvSpPr>
          <p:spPr bwMode="auto">
            <a:xfrm>
              <a:off x="3783541" y="1708737"/>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转发结点</a:t>
              </a:r>
            </a:p>
          </p:txBody>
        </p:sp>
        <p:sp>
          <p:nvSpPr>
            <p:cNvPr id="2393132" name="Text Box 152"/>
            <p:cNvSpPr txBox="1">
              <a:spLocks noChangeArrowheads="1"/>
            </p:cNvSpPr>
            <p:nvPr/>
          </p:nvSpPr>
          <p:spPr bwMode="auto">
            <a:xfrm>
              <a:off x="5744104" y="1769063"/>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转发结点</a:t>
              </a:r>
            </a:p>
          </p:txBody>
        </p:sp>
      </p:grpSp>
      <p:sp>
        <p:nvSpPr>
          <p:cNvPr id="303248" name="AutoShape 144"/>
          <p:cNvSpPr>
            <a:spLocks noChangeArrowheads="1"/>
          </p:cNvSpPr>
          <p:nvPr/>
        </p:nvSpPr>
        <p:spPr bwMode="auto">
          <a:xfrm rot="114164">
            <a:off x="4562475" y="2176463"/>
            <a:ext cx="1476375" cy="207962"/>
          </a:xfrm>
          <a:prstGeom prst="rightArrow">
            <a:avLst>
              <a:gd name="adj1" fmla="val 50000"/>
              <a:gd name="adj2" fmla="val 134031"/>
            </a:avLst>
          </a:prstGeom>
          <a:solidFill>
            <a:srgbClr val="00CC00"/>
          </a:solidFill>
          <a:ln w="9525">
            <a:solidFill>
              <a:schemeClr val="tx1"/>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303249" name="AutoShape 145"/>
          <p:cNvSpPr>
            <a:spLocks noChangeArrowheads="1"/>
          </p:cNvSpPr>
          <p:nvPr/>
        </p:nvSpPr>
        <p:spPr bwMode="auto">
          <a:xfrm rot="1262345">
            <a:off x="6575425" y="2524125"/>
            <a:ext cx="1135063" cy="247650"/>
          </a:xfrm>
          <a:prstGeom prst="rightArrow">
            <a:avLst>
              <a:gd name="adj1" fmla="val 50000"/>
              <a:gd name="adj2" fmla="val 86532"/>
            </a:avLst>
          </a:prstGeom>
          <a:solidFill>
            <a:srgbClr val="00CC00"/>
          </a:solidFill>
          <a:ln w="9525">
            <a:solidFill>
              <a:schemeClr val="tx1"/>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303250" name="AutoShape 146"/>
          <p:cNvSpPr>
            <a:spLocks noChangeArrowheads="1"/>
          </p:cNvSpPr>
          <p:nvPr/>
        </p:nvSpPr>
        <p:spPr bwMode="auto">
          <a:xfrm rot="-692809">
            <a:off x="2822575" y="2314575"/>
            <a:ext cx="1250950" cy="241300"/>
          </a:xfrm>
          <a:prstGeom prst="rightArrow">
            <a:avLst>
              <a:gd name="adj1" fmla="val 50000"/>
              <a:gd name="adj2" fmla="val 97876"/>
            </a:avLst>
          </a:prstGeom>
          <a:solidFill>
            <a:srgbClr val="00CC00"/>
          </a:solidFill>
          <a:ln w="9525">
            <a:solidFill>
              <a:schemeClr val="tx1"/>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303251" name="AutoShape 147"/>
          <p:cNvSpPr>
            <a:spLocks noChangeArrowheads="1"/>
          </p:cNvSpPr>
          <p:nvPr/>
        </p:nvSpPr>
        <p:spPr bwMode="auto">
          <a:xfrm rot="-7231871">
            <a:off x="2378869" y="3148807"/>
            <a:ext cx="803275" cy="306387"/>
          </a:xfrm>
          <a:prstGeom prst="rightArrow">
            <a:avLst>
              <a:gd name="adj1" fmla="val 50000"/>
              <a:gd name="adj2" fmla="val 58092"/>
            </a:avLst>
          </a:prstGeom>
          <a:solidFill>
            <a:srgbClr val="00CC00"/>
          </a:solidFill>
          <a:ln w="9525">
            <a:solidFill>
              <a:schemeClr val="tx1"/>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303252" name="Text Box 148"/>
          <p:cNvSpPr txBox="1">
            <a:spLocks noChangeArrowheads="1"/>
          </p:cNvSpPr>
          <p:nvPr/>
        </p:nvSpPr>
        <p:spPr bwMode="auto">
          <a:xfrm>
            <a:off x="2546350" y="4156075"/>
            <a:ext cx="1108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C00000"/>
                </a:solidFill>
                <a:ea typeface="宋体" panose="02010600030101010101" pitchFamily="2" charset="-122"/>
              </a:rPr>
              <a:t>源结点</a:t>
            </a:r>
          </a:p>
        </p:txBody>
      </p:sp>
      <p:sp>
        <p:nvSpPr>
          <p:cNvPr id="303253" name="Text Box 149"/>
          <p:cNvSpPr txBox="1">
            <a:spLocks noChangeArrowheads="1"/>
          </p:cNvSpPr>
          <p:nvPr/>
        </p:nvSpPr>
        <p:spPr bwMode="auto">
          <a:xfrm>
            <a:off x="8258175" y="2790825"/>
            <a:ext cx="1416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C00000"/>
                </a:solidFill>
                <a:ea typeface="宋体" panose="02010600030101010101" pitchFamily="2" charset="-122"/>
              </a:rPr>
              <a:t>目的结点</a:t>
            </a:r>
          </a:p>
        </p:txBody>
      </p:sp>
      <p:sp>
        <p:nvSpPr>
          <p:cNvPr id="2393139" name="矩形 3"/>
          <p:cNvSpPr>
            <a:spLocks noChangeArrowheads="1"/>
          </p:cNvSpPr>
          <p:nvPr/>
        </p:nvSpPr>
        <p:spPr bwMode="auto">
          <a:xfrm>
            <a:off x="488950" y="4840288"/>
            <a:ext cx="9185275" cy="584200"/>
          </a:xfrm>
          <a:prstGeom prst="rect">
            <a:avLst/>
          </a:prstGeom>
          <a:solidFill>
            <a:srgbClr val="FFFF66"/>
          </a:solidFill>
          <a:ln w="9525">
            <a:solidFill>
              <a:srgbClr val="000099"/>
            </a:solidFill>
            <a:round/>
            <a:headEnd/>
            <a:tailEnd/>
          </a:ln>
        </p:spPr>
        <p:txBody>
          <a:bodyPr>
            <a:spAutoFit/>
          </a:bodyPr>
          <a:lstStyle/>
          <a:p>
            <a:pPr algn="ctr" eaLnBrk="0" hangingPunct="0"/>
            <a:r>
              <a:rPr lang="zh-CN" altLang="en-US" sz="3200" b="1" dirty="0">
                <a:solidFill>
                  <a:srgbClr val="000066"/>
                </a:solidFill>
                <a:ea typeface="宋体" panose="02010600030101010101" pitchFamily="2" charset="-122"/>
              </a:rPr>
              <a:t>三个主要问题：</a:t>
            </a:r>
            <a:r>
              <a:rPr lang="zh-CN" altLang="zh-CN" sz="3200" b="1" dirty="0">
                <a:solidFill>
                  <a:srgbClr val="000066"/>
                </a:solidFill>
                <a:ea typeface="宋体" panose="02010600030101010101" pitchFamily="2" charset="-122"/>
              </a:rPr>
              <a:t>路由选择协议</a:t>
            </a:r>
            <a:r>
              <a:rPr lang="zh-CN" altLang="en-US" sz="3200" b="1" dirty="0">
                <a:solidFill>
                  <a:srgbClr val="000066"/>
                </a:solidFill>
                <a:ea typeface="宋体" panose="02010600030101010101" pitchFamily="2" charset="-122"/>
              </a:rPr>
              <a:t>，</a:t>
            </a:r>
            <a:r>
              <a:rPr lang="zh-CN" altLang="zh-CN" sz="3200" b="1" dirty="0">
                <a:solidFill>
                  <a:srgbClr val="000066"/>
                </a:solidFill>
                <a:ea typeface="宋体" panose="02010600030101010101" pitchFamily="2" charset="-122"/>
              </a:rPr>
              <a:t>多播</a:t>
            </a:r>
            <a:r>
              <a:rPr lang="zh-CN" altLang="en-US" sz="3200" b="1" dirty="0">
                <a:solidFill>
                  <a:srgbClr val="000066"/>
                </a:solidFill>
                <a:ea typeface="宋体" panose="02010600030101010101" pitchFamily="2" charset="-122"/>
              </a:rPr>
              <a:t>，</a:t>
            </a:r>
            <a:r>
              <a:rPr lang="zh-CN" altLang="zh-CN" sz="3200" b="1" dirty="0">
                <a:solidFill>
                  <a:srgbClr val="000066"/>
                </a:solidFill>
                <a:ea typeface="宋体" panose="02010600030101010101" pitchFamily="2" charset="-122"/>
              </a:rPr>
              <a:t>安全</a:t>
            </a:r>
            <a:r>
              <a:rPr lang="zh-CN" altLang="en-US" sz="3200" b="1" dirty="0">
                <a:solidFill>
                  <a:srgbClr val="000066"/>
                </a:solidFill>
                <a:ea typeface="宋体" panose="02010600030101010101" pitchFamily="2" charset="-122"/>
              </a:rPr>
              <a:t>。</a:t>
            </a:r>
          </a:p>
        </p:txBody>
      </p:sp>
      <p:sp>
        <p:nvSpPr>
          <p:cNvPr id="239314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BA1FCB-95AD-47BD-9D4F-9C8F99375298}" type="slidenum">
              <a:rPr lang="zh-CN" altLang="en-US" smtClean="0"/>
              <a:pPr eaLnBrk="1" hangingPunct="1"/>
              <a:t>16</a:t>
            </a:fld>
            <a:endParaRPr lang="en-US" altLang="zh-CN" smtClean="0"/>
          </a:p>
        </p:txBody>
      </p:sp>
      <p:sp>
        <p:nvSpPr>
          <p:cNvPr id="2393141"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303252"/>
                                        </p:tgtEl>
                                        <p:attrNameLst>
                                          <p:attrName>style.visibility</p:attrName>
                                        </p:attrNameLst>
                                      </p:cBhvr>
                                      <p:tavLst>
                                        <p:tav tm="0">
                                          <p:val>
                                            <p:strVal val="hidden"/>
                                          </p:val>
                                        </p:tav>
                                        <p:tav tm="50000">
                                          <p:val>
                                            <p:strVal val="visible"/>
                                          </p:val>
                                        </p:tav>
                                      </p:tavLst>
                                    </p:anim>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303253"/>
                                        </p:tgtEl>
                                        <p:attrNameLst>
                                          <p:attrName>style.visibility</p:attrName>
                                        </p:attrNameLst>
                                      </p:cBhvr>
                                      <p:tavLst>
                                        <p:tav tm="0">
                                          <p:val>
                                            <p:strVal val="hidden"/>
                                          </p:val>
                                        </p:tav>
                                        <p:tav tm="50000">
                                          <p:val>
                                            <p:strVal val="visible"/>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03251"/>
                                        </p:tgtEl>
                                        <p:attrNameLst>
                                          <p:attrName>style.visibility</p:attrName>
                                        </p:attrNameLst>
                                      </p:cBhvr>
                                      <p:to>
                                        <p:strVal val="visible"/>
                                      </p:to>
                                    </p:set>
                                    <p:animEffect transition="in" filter="wipe(down)">
                                      <p:cBhvr>
                                        <p:cTn id="15" dur="500"/>
                                        <p:tgtEl>
                                          <p:spTgt spid="303251"/>
                                        </p:tgtEl>
                                      </p:cBhvr>
                                    </p:animEffect>
                                  </p:childTnLst>
                                </p:cTn>
                              </p:par>
                            </p:childTnLst>
                          </p:cTn>
                        </p:par>
                        <p:par>
                          <p:cTn id="16" fill="hold" nodeType="afterGroup">
                            <p:stCondLst>
                              <p:cond delay="500"/>
                            </p:stCondLst>
                            <p:childTnLst>
                              <p:par>
                                <p:cTn id="17" presetID="22" presetClass="entr" presetSubtype="8" fill="hold" grpId="0" nodeType="afterEffect">
                                  <p:stCondLst>
                                    <p:cond delay="500"/>
                                  </p:stCondLst>
                                  <p:childTnLst>
                                    <p:set>
                                      <p:cBhvr>
                                        <p:cTn id="18" dur="1" fill="hold">
                                          <p:stCondLst>
                                            <p:cond delay="0"/>
                                          </p:stCondLst>
                                        </p:cTn>
                                        <p:tgtEl>
                                          <p:spTgt spid="303250"/>
                                        </p:tgtEl>
                                        <p:attrNameLst>
                                          <p:attrName>style.visibility</p:attrName>
                                        </p:attrNameLst>
                                      </p:cBhvr>
                                      <p:to>
                                        <p:strVal val="visible"/>
                                      </p:to>
                                    </p:set>
                                    <p:animEffect transition="in" filter="wipe(left)">
                                      <p:cBhvr>
                                        <p:cTn id="19" dur="500"/>
                                        <p:tgtEl>
                                          <p:spTgt spid="303250"/>
                                        </p:tgtEl>
                                      </p:cBhvr>
                                    </p:animEffect>
                                  </p:childTnLst>
                                </p:cTn>
                              </p:par>
                            </p:childTnLst>
                          </p:cTn>
                        </p:par>
                        <p:par>
                          <p:cTn id="20" fill="hold" nodeType="afterGroup">
                            <p:stCondLst>
                              <p:cond delay="1500"/>
                            </p:stCondLst>
                            <p:childTnLst>
                              <p:par>
                                <p:cTn id="21" presetID="22" presetClass="entr" presetSubtype="8" fill="hold" grpId="0" nodeType="afterEffect">
                                  <p:stCondLst>
                                    <p:cond delay="500"/>
                                  </p:stCondLst>
                                  <p:childTnLst>
                                    <p:set>
                                      <p:cBhvr>
                                        <p:cTn id="22" dur="1" fill="hold">
                                          <p:stCondLst>
                                            <p:cond delay="0"/>
                                          </p:stCondLst>
                                        </p:cTn>
                                        <p:tgtEl>
                                          <p:spTgt spid="303248"/>
                                        </p:tgtEl>
                                        <p:attrNameLst>
                                          <p:attrName>style.visibility</p:attrName>
                                        </p:attrNameLst>
                                      </p:cBhvr>
                                      <p:to>
                                        <p:strVal val="visible"/>
                                      </p:to>
                                    </p:set>
                                    <p:animEffect transition="in" filter="wipe(left)">
                                      <p:cBhvr>
                                        <p:cTn id="23" dur="500"/>
                                        <p:tgtEl>
                                          <p:spTgt spid="303248"/>
                                        </p:tgtEl>
                                      </p:cBhvr>
                                    </p:animEffect>
                                  </p:childTnLst>
                                </p:cTn>
                              </p:par>
                            </p:childTnLst>
                          </p:cTn>
                        </p:par>
                        <p:par>
                          <p:cTn id="24" fill="hold" nodeType="afterGroup">
                            <p:stCondLst>
                              <p:cond delay="2500"/>
                            </p:stCondLst>
                            <p:childTnLst>
                              <p:par>
                                <p:cTn id="25" presetID="22" presetClass="entr" presetSubtype="8" fill="hold" grpId="0" nodeType="afterEffect">
                                  <p:stCondLst>
                                    <p:cond delay="500"/>
                                  </p:stCondLst>
                                  <p:childTnLst>
                                    <p:set>
                                      <p:cBhvr>
                                        <p:cTn id="26" dur="1" fill="hold">
                                          <p:stCondLst>
                                            <p:cond delay="0"/>
                                          </p:stCondLst>
                                        </p:cTn>
                                        <p:tgtEl>
                                          <p:spTgt spid="303249"/>
                                        </p:tgtEl>
                                        <p:attrNameLst>
                                          <p:attrName>style.visibility</p:attrName>
                                        </p:attrNameLst>
                                      </p:cBhvr>
                                      <p:to>
                                        <p:strVal val="visible"/>
                                      </p:to>
                                    </p:set>
                                    <p:animEffect transition="in" filter="wipe(left)">
                                      <p:cBhvr>
                                        <p:cTn id="27" dur="500"/>
                                        <p:tgtEl>
                                          <p:spTgt spid="303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248" grpId="0" animBg="1"/>
      <p:bldP spid="303249" grpId="0" animBg="1"/>
      <p:bldP spid="303250" grpId="0" animBg="1"/>
      <p:bldP spid="303251" grpId="0" animBg="1"/>
      <p:bldP spid="303252" grpId="0"/>
      <p:bldP spid="30325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5137"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移动自组网络的应用前景 </a:t>
            </a:r>
          </a:p>
        </p:txBody>
      </p:sp>
      <p:sp>
        <p:nvSpPr>
          <p:cNvPr id="305161" name="Rectangle 9"/>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在</a:t>
            </a:r>
            <a:r>
              <a:rPr lang="zh-CN" altLang="en-US" dirty="0" smtClean="0">
                <a:solidFill>
                  <a:srgbClr val="0000FF"/>
                </a:solidFill>
                <a:ea typeface="黑体" panose="02010609060101010101" pitchFamily="49" charset="-122"/>
              </a:rPr>
              <a:t>军事领域</a:t>
            </a:r>
            <a:r>
              <a:rPr lang="zh-CN" altLang="en-US" dirty="0" smtClean="0">
                <a:ea typeface="黑体" panose="02010609060101010101" pitchFamily="49" charset="-122"/>
              </a:rPr>
              <a:t>中，携带了移动站的战士可利用临时建立的移动自组网络进行通信。</a:t>
            </a:r>
          </a:p>
          <a:p>
            <a:r>
              <a:rPr lang="zh-CN" altLang="en-US" dirty="0" smtClean="0">
                <a:ea typeface="黑体" panose="02010609060101010101" pitchFamily="49" charset="-122"/>
              </a:rPr>
              <a:t>这种组网方式也能够应用到作战的地面</a:t>
            </a:r>
            <a:r>
              <a:rPr lang="zh-CN" altLang="en-US" dirty="0" smtClean="0">
                <a:solidFill>
                  <a:srgbClr val="0000FF"/>
                </a:solidFill>
                <a:ea typeface="黑体" panose="02010609060101010101" pitchFamily="49" charset="-122"/>
              </a:rPr>
              <a:t>车辆群和坦克群</a:t>
            </a:r>
            <a:r>
              <a:rPr lang="zh-CN" altLang="en-US" dirty="0" smtClean="0">
                <a:ea typeface="黑体" panose="02010609060101010101" pitchFamily="49" charset="-122"/>
              </a:rPr>
              <a:t>，以及海上的</a:t>
            </a:r>
            <a:r>
              <a:rPr lang="zh-CN" altLang="en-US" dirty="0" smtClean="0">
                <a:solidFill>
                  <a:srgbClr val="0000FF"/>
                </a:solidFill>
                <a:ea typeface="黑体" panose="02010609060101010101" pitchFamily="49" charset="-122"/>
              </a:rPr>
              <a:t>舰艇群</a:t>
            </a:r>
            <a:r>
              <a:rPr lang="zh-CN" altLang="en-US" dirty="0" smtClean="0">
                <a:ea typeface="黑体" panose="02010609060101010101" pitchFamily="49" charset="-122"/>
              </a:rPr>
              <a:t>、空中的</a:t>
            </a:r>
            <a:r>
              <a:rPr lang="zh-CN" altLang="en-US" dirty="0" smtClean="0">
                <a:solidFill>
                  <a:srgbClr val="0000FF"/>
                </a:solidFill>
                <a:ea typeface="黑体" panose="02010609060101010101" pitchFamily="49" charset="-122"/>
              </a:rPr>
              <a:t>机群</a:t>
            </a:r>
            <a:r>
              <a:rPr lang="zh-CN" altLang="en-US" dirty="0" smtClean="0">
                <a:ea typeface="黑体" panose="02010609060101010101" pitchFamily="49" charset="-122"/>
              </a:rPr>
              <a:t>。 </a:t>
            </a:r>
          </a:p>
          <a:p>
            <a:r>
              <a:rPr lang="zh-CN" altLang="en-US" dirty="0" smtClean="0">
                <a:ea typeface="黑体" panose="02010609060101010101" pitchFamily="49" charset="-122"/>
              </a:rPr>
              <a:t>当出现自然灾害时，在</a:t>
            </a:r>
            <a:r>
              <a:rPr lang="zh-CN" altLang="en-US" dirty="0" smtClean="0">
                <a:solidFill>
                  <a:srgbClr val="0000FF"/>
                </a:solidFill>
                <a:ea typeface="黑体" panose="02010609060101010101" pitchFamily="49" charset="-122"/>
              </a:rPr>
              <a:t>抢险救灾</a:t>
            </a:r>
            <a:r>
              <a:rPr lang="zh-CN" altLang="en-US" dirty="0" smtClean="0">
                <a:ea typeface="黑体" panose="02010609060101010101" pitchFamily="49" charset="-122"/>
              </a:rPr>
              <a:t>时利用移动自组网络进行及时的通信往往很有效的，  </a:t>
            </a:r>
          </a:p>
        </p:txBody>
      </p:sp>
      <p:sp>
        <p:nvSpPr>
          <p:cNvPr id="23951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9881F9-9A7F-42BB-8E3B-6DD1E93067C8}" type="slidenum">
              <a:rPr lang="zh-CN" altLang="en-US" smtClean="0"/>
              <a:pPr eaLnBrk="1" hangingPunct="1"/>
              <a:t>17</a:t>
            </a:fld>
            <a:endParaRPr lang="en-US" altLang="zh-CN" smtClean="0"/>
          </a:p>
        </p:txBody>
      </p:sp>
      <p:sp>
        <p:nvSpPr>
          <p:cNvPr id="23951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516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51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6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无线传感器网络 </a:t>
            </a:r>
            <a:r>
              <a:rPr lang="en-US" altLang="zh-CN" smtClean="0">
                <a:ea typeface="黑体" panose="02010609060101010101" pitchFamily="49" charset="-122"/>
              </a:rPr>
              <a:t>WSN</a:t>
            </a:r>
          </a:p>
        </p:txBody>
      </p:sp>
      <p:sp>
        <p:nvSpPr>
          <p:cNvPr id="2396162" name="Rectangle 3"/>
          <p:cNvSpPr>
            <a:spLocks noGrp="1" noChangeArrowheads="1"/>
          </p:cNvSpPr>
          <p:nvPr>
            <p:ph idx="1"/>
          </p:nvPr>
        </p:nvSpPr>
        <p:spPr>
          <a:xfrm>
            <a:off x="495300" y="1196975"/>
            <a:ext cx="9066213" cy="4933950"/>
          </a:xfrm>
        </p:spPr>
        <p:txBody>
          <a:bodyPr/>
          <a:lstStyle/>
          <a:p>
            <a:r>
              <a:rPr lang="zh-CN" altLang="zh-CN" sz="2800" u="sng" dirty="0" smtClean="0">
                <a:solidFill>
                  <a:srgbClr val="FF0000"/>
                </a:solidFill>
                <a:ea typeface="黑体" panose="02010609060101010101" pitchFamily="49" charset="-122"/>
              </a:rPr>
              <a:t>无线传感器网络</a:t>
            </a:r>
            <a:r>
              <a:rPr lang="en-US" altLang="zh-CN" sz="2800" u="sng" dirty="0" smtClean="0">
                <a:solidFill>
                  <a:srgbClr val="FF0000"/>
                </a:solidFill>
                <a:ea typeface="黑体" panose="02010609060101010101" pitchFamily="49" charset="-122"/>
              </a:rPr>
              <a:t> WSN</a:t>
            </a:r>
            <a:r>
              <a:rPr lang="en-US" altLang="zh-CN" sz="2800" u="sng" dirty="0" smtClean="0">
                <a:ea typeface="黑体" panose="02010609060101010101" pitchFamily="49" charset="-122"/>
              </a:rPr>
              <a:t> (Wireless Sensor Network) </a:t>
            </a:r>
            <a:r>
              <a:rPr lang="zh-CN" altLang="en-US" sz="2800" dirty="0" smtClean="0">
                <a:ea typeface="黑体" panose="02010609060101010101" pitchFamily="49" charset="-122"/>
              </a:rPr>
              <a:t>是由大量</a:t>
            </a:r>
            <a:r>
              <a:rPr lang="zh-CN" altLang="en-US" sz="2800" dirty="0" smtClean="0">
                <a:solidFill>
                  <a:srgbClr val="0000FF"/>
                </a:solidFill>
                <a:ea typeface="黑体" panose="02010609060101010101" pitchFamily="49" charset="-122"/>
              </a:rPr>
              <a:t>传感器</a:t>
            </a:r>
            <a:r>
              <a:rPr lang="zh-CN" altLang="en-US" sz="2800" dirty="0" smtClean="0">
                <a:ea typeface="黑体" panose="02010609060101010101" pitchFamily="49" charset="-122"/>
              </a:rPr>
              <a:t>结点通过无线通信技术构成的</a:t>
            </a:r>
            <a:r>
              <a:rPr lang="zh-CN" altLang="en-US" sz="2800" dirty="0" smtClean="0">
                <a:solidFill>
                  <a:srgbClr val="0000FF"/>
                </a:solidFill>
                <a:ea typeface="黑体" panose="02010609060101010101" pitchFamily="49" charset="-122"/>
              </a:rPr>
              <a:t>自组网络</a:t>
            </a:r>
            <a:r>
              <a:rPr lang="zh-CN" altLang="en-US" sz="2800" dirty="0" smtClean="0">
                <a:solidFill>
                  <a:srgbClr val="FF0000"/>
                </a:solidFill>
                <a:ea typeface="黑体" panose="02010609060101010101" pitchFamily="49" charset="-122"/>
              </a:rPr>
              <a:t>。</a:t>
            </a:r>
          </a:p>
          <a:p>
            <a:r>
              <a:rPr lang="zh-CN" altLang="en-US" sz="2800" dirty="0" smtClean="0">
                <a:ea typeface="黑体" panose="02010609060101010101" pitchFamily="49" charset="-122"/>
              </a:rPr>
              <a:t>无线传感器网络的应用是进行各种数据的采集、处理和传输，一般并不需要很高的带宽，但是在大部分时间必须</a:t>
            </a:r>
            <a:r>
              <a:rPr lang="zh-CN" altLang="en-US" sz="2800" dirty="0" smtClean="0">
                <a:solidFill>
                  <a:srgbClr val="0000FF"/>
                </a:solidFill>
                <a:ea typeface="黑体" panose="02010609060101010101" pitchFamily="49" charset="-122"/>
              </a:rPr>
              <a:t>保持低功耗</a:t>
            </a:r>
            <a:r>
              <a:rPr lang="zh-CN" altLang="en-US" sz="2800" dirty="0" smtClean="0">
                <a:ea typeface="黑体" panose="02010609060101010101" pitchFamily="49" charset="-122"/>
              </a:rPr>
              <a:t>，以节省电池的消耗。</a:t>
            </a:r>
          </a:p>
          <a:p>
            <a:r>
              <a:rPr lang="zh-CN" altLang="en-US" sz="2800" dirty="0" smtClean="0">
                <a:ea typeface="黑体" panose="02010609060101010101" pitchFamily="49" charset="-122"/>
              </a:rPr>
              <a:t>由于无线传感结点的</a:t>
            </a:r>
            <a:r>
              <a:rPr lang="zh-CN" altLang="en-US" sz="2800" dirty="0" smtClean="0">
                <a:solidFill>
                  <a:srgbClr val="0000FF"/>
                </a:solidFill>
                <a:ea typeface="黑体" panose="02010609060101010101" pitchFamily="49" charset="-122"/>
              </a:rPr>
              <a:t>存储容量受限</a:t>
            </a:r>
            <a:r>
              <a:rPr lang="zh-CN" altLang="en-US" sz="2800" dirty="0" smtClean="0">
                <a:ea typeface="黑体" panose="02010609060101010101" pitchFamily="49" charset="-122"/>
              </a:rPr>
              <a:t>，因此对协议栈的大小有严格的限制。</a:t>
            </a:r>
          </a:p>
          <a:p>
            <a:r>
              <a:rPr lang="zh-CN" altLang="en-US" sz="2800" dirty="0" smtClean="0">
                <a:ea typeface="黑体" panose="02010609060101010101" pitchFamily="49" charset="-122"/>
              </a:rPr>
              <a:t>无线传感器网络还对网络</a:t>
            </a:r>
            <a:r>
              <a:rPr lang="zh-CN" altLang="en-US" sz="2800" dirty="0" smtClean="0">
                <a:solidFill>
                  <a:srgbClr val="0000FF"/>
                </a:solidFill>
                <a:ea typeface="黑体" panose="02010609060101010101" pitchFamily="49" charset="-122"/>
              </a:rPr>
              <a:t>安全</a:t>
            </a:r>
            <a:r>
              <a:rPr lang="zh-CN" altLang="en-US" sz="2800" dirty="0" smtClean="0">
                <a:ea typeface="黑体" panose="02010609060101010101" pitchFamily="49" charset="-122"/>
              </a:rPr>
              <a:t>性、结点</a:t>
            </a:r>
            <a:r>
              <a:rPr lang="zh-CN" altLang="en-US" sz="2800" dirty="0" smtClean="0">
                <a:solidFill>
                  <a:srgbClr val="0000FF"/>
                </a:solidFill>
                <a:ea typeface="黑体" panose="02010609060101010101" pitchFamily="49" charset="-122"/>
              </a:rPr>
              <a:t>自动配置</a:t>
            </a:r>
            <a:r>
              <a:rPr lang="zh-CN" altLang="en-US" sz="2800" dirty="0" smtClean="0">
                <a:ea typeface="黑体" panose="02010609060101010101" pitchFamily="49" charset="-122"/>
              </a:rPr>
              <a:t>、网络</a:t>
            </a:r>
            <a:r>
              <a:rPr lang="zh-CN" altLang="en-US" sz="2800" dirty="0" smtClean="0">
                <a:solidFill>
                  <a:srgbClr val="0000FF"/>
                </a:solidFill>
                <a:ea typeface="黑体" panose="02010609060101010101" pitchFamily="49" charset="-122"/>
              </a:rPr>
              <a:t>动态重组</a:t>
            </a:r>
            <a:r>
              <a:rPr lang="zh-CN" altLang="en-US" sz="2800" dirty="0" smtClean="0">
                <a:ea typeface="黑体" panose="02010609060101010101" pitchFamily="49" charset="-122"/>
              </a:rPr>
              <a:t>等方面有一定的要求。 </a:t>
            </a:r>
          </a:p>
        </p:txBody>
      </p:sp>
      <p:sp>
        <p:nvSpPr>
          <p:cNvPr id="23961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E46B248-91E9-4E37-9874-9A90C336F98B}" type="slidenum">
              <a:rPr lang="zh-CN" altLang="en-US" smtClean="0"/>
              <a:pPr eaLnBrk="1" hangingPunct="1"/>
              <a:t>18</a:t>
            </a:fld>
            <a:endParaRPr lang="en-US" altLang="zh-CN" smtClean="0"/>
          </a:p>
        </p:txBody>
      </p:sp>
      <p:sp>
        <p:nvSpPr>
          <p:cNvPr id="23961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7185" name="Rectangle 4"/>
          <p:cNvSpPr>
            <a:spLocks noGrp="1" noChangeArrowheads="1"/>
          </p:cNvSpPr>
          <p:nvPr>
            <p:ph type="title"/>
          </p:nvPr>
        </p:nvSpPr>
        <p:spPr/>
        <p:txBody>
          <a:bodyPr/>
          <a:lstStyle/>
          <a:p>
            <a:pPr algn="ctr"/>
            <a:r>
              <a:rPr lang="zh-CN" altLang="en-US" smtClean="0">
                <a:ea typeface="黑体" panose="02010609060101010101" pitchFamily="49" charset="-122"/>
              </a:rPr>
              <a:t>传感器结点的形状和组成</a:t>
            </a:r>
            <a:endParaRPr lang="en-US" altLang="zh-CN" smtClean="0">
              <a:ea typeface="黑体" panose="02010609060101010101" pitchFamily="49" charset="-122"/>
            </a:endParaRPr>
          </a:p>
        </p:txBody>
      </p:sp>
      <p:sp>
        <p:nvSpPr>
          <p:cNvPr id="2397186" name="Rectangle 6"/>
          <p:cNvSpPr>
            <a:spLocks noChangeArrowheads="1"/>
          </p:cNvSpPr>
          <p:nvPr/>
        </p:nvSpPr>
        <p:spPr bwMode="auto">
          <a:xfrm>
            <a:off x="5421313" y="1760538"/>
            <a:ext cx="3903662" cy="2433637"/>
          </a:xfrm>
          <a:prstGeom prst="rect">
            <a:avLst/>
          </a:prstGeom>
          <a:solidFill>
            <a:srgbClr val="CCECFF"/>
          </a:solidFill>
          <a:ln w="12700" cap="sq">
            <a:solidFill>
              <a:srgbClr val="333399"/>
            </a:solidFill>
            <a:miter lim="800000"/>
            <a:headEnd type="none" w="sm" len="sm"/>
            <a:tailEnd type="none" w="sm" len="sm"/>
          </a:ln>
          <a:effectLst>
            <a:outerShdw dist="35921" dir="2700000" algn="ctr" rotWithShape="0">
              <a:schemeClr val="bg2"/>
            </a:outerShdw>
          </a:effectLst>
        </p:spPr>
        <p:txBody>
          <a:bodyPr wrap="none" anchor="ctr"/>
          <a:lstStyle/>
          <a:p>
            <a:pPr algn="ctr" eaLnBrk="0" hangingPunct="0"/>
            <a:endParaRPr lang="zh-CN" altLang="zh-CN" b="1">
              <a:solidFill>
                <a:srgbClr val="000099"/>
              </a:solidFill>
              <a:ea typeface="宋体" panose="02010600030101010101" pitchFamily="2" charset="-122"/>
            </a:endParaRPr>
          </a:p>
        </p:txBody>
      </p:sp>
      <p:sp>
        <p:nvSpPr>
          <p:cNvPr id="2397187" name="AutoShape 7"/>
          <p:cNvSpPr>
            <a:spLocks noChangeArrowheads="1"/>
          </p:cNvSpPr>
          <p:nvPr/>
        </p:nvSpPr>
        <p:spPr bwMode="auto">
          <a:xfrm>
            <a:off x="5627688" y="2930525"/>
            <a:ext cx="901700" cy="1125538"/>
          </a:xfrm>
          <a:prstGeom prst="roundRect">
            <a:avLst>
              <a:gd name="adj" fmla="val 16667"/>
            </a:avLst>
          </a:prstGeom>
          <a:solidFill>
            <a:srgbClr val="99FF99">
              <a:alpha val="50000"/>
            </a:srgbClr>
          </a:solidFill>
          <a:ln w="12700" cap="sq">
            <a:solidFill>
              <a:srgbClr val="333399"/>
            </a:solidFill>
            <a:round/>
            <a:headEnd type="none" w="sm" len="sm"/>
            <a:tailEnd type="none" w="sm" len="sm"/>
          </a:ln>
        </p:spPr>
        <p:txBody>
          <a:bodyPr wrap="none" anchor="ctr"/>
          <a:lstStyle/>
          <a:p>
            <a:pPr algn="ctr" eaLnBrk="0" hangingPunct="0"/>
            <a:r>
              <a:rPr lang="zh-CN" altLang="en-US" b="1">
                <a:solidFill>
                  <a:srgbClr val="000099"/>
                </a:solidFill>
                <a:ea typeface="宋体" panose="02010600030101010101" pitchFamily="2" charset="-122"/>
              </a:rPr>
              <a:t>存储器</a:t>
            </a:r>
          </a:p>
        </p:txBody>
      </p:sp>
      <p:sp>
        <p:nvSpPr>
          <p:cNvPr id="2397188" name="AutoShape 8"/>
          <p:cNvSpPr>
            <a:spLocks noChangeArrowheads="1"/>
          </p:cNvSpPr>
          <p:nvPr/>
        </p:nvSpPr>
        <p:spPr bwMode="auto">
          <a:xfrm>
            <a:off x="6654800" y="1955800"/>
            <a:ext cx="1025525" cy="720725"/>
          </a:xfrm>
          <a:prstGeom prst="roundRect">
            <a:avLst>
              <a:gd name="adj" fmla="val 16667"/>
            </a:avLst>
          </a:prstGeom>
          <a:solidFill>
            <a:srgbClr val="FFCC00">
              <a:alpha val="50000"/>
            </a:srgbClr>
          </a:solidFill>
          <a:ln w="12700" cap="sq">
            <a:solidFill>
              <a:schemeClr val="tx2"/>
            </a:solidFill>
            <a:round/>
            <a:headEnd type="none" w="sm" len="sm"/>
            <a:tailEnd type="none" w="sm" len="sm"/>
          </a:ln>
        </p:spPr>
        <p:txBody>
          <a:bodyPr wrap="none" anchor="ctr"/>
          <a:lstStyle/>
          <a:p>
            <a:pPr algn="ctr" eaLnBrk="0" hangingPunct="0"/>
            <a:r>
              <a:rPr lang="en-US" altLang="zh-CN" b="1">
                <a:solidFill>
                  <a:srgbClr val="000099"/>
                </a:solidFill>
                <a:ea typeface="宋体" panose="02010600030101010101" pitchFamily="2" charset="-122"/>
              </a:rPr>
              <a:t>CPU</a:t>
            </a:r>
          </a:p>
        </p:txBody>
      </p:sp>
      <p:grpSp>
        <p:nvGrpSpPr>
          <p:cNvPr id="2397189" name="Group 9"/>
          <p:cNvGrpSpPr>
            <a:grpSpLocks/>
          </p:cNvGrpSpPr>
          <p:nvPr/>
        </p:nvGrpSpPr>
        <p:grpSpPr bwMode="auto">
          <a:xfrm>
            <a:off x="6858000" y="2930525"/>
            <a:ext cx="1130300" cy="1119188"/>
            <a:chOff x="1296" y="2064"/>
            <a:chExt cx="768" cy="1344"/>
          </a:xfrm>
        </p:grpSpPr>
        <p:sp>
          <p:nvSpPr>
            <p:cNvPr id="2397190" name="AutoShape 10"/>
            <p:cNvSpPr>
              <a:spLocks noChangeArrowheads="1"/>
            </p:cNvSpPr>
            <p:nvPr/>
          </p:nvSpPr>
          <p:spPr bwMode="auto">
            <a:xfrm>
              <a:off x="1296" y="2064"/>
              <a:ext cx="192" cy="1344"/>
            </a:xfrm>
            <a:prstGeom prst="roundRect">
              <a:avLst>
                <a:gd name="adj" fmla="val 16667"/>
              </a:avLst>
            </a:prstGeom>
            <a:solidFill>
              <a:srgbClr val="CC3399">
                <a:alpha val="50000"/>
              </a:srgbClr>
            </a:solidFill>
            <a:ln w="12700" cap="sq">
              <a:solidFill>
                <a:srgbClr val="333399"/>
              </a:solidFill>
              <a:round/>
              <a:headEnd type="none" w="sm" len="sm"/>
              <a:tailEnd type="none" w="sm" len="sm"/>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7191" name="AutoShape 11"/>
            <p:cNvSpPr>
              <a:spLocks noChangeArrowheads="1"/>
            </p:cNvSpPr>
            <p:nvPr/>
          </p:nvSpPr>
          <p:spPr bwMode="auto">
            <a:xfrm>
              <a:off x="1872" y="2064"/>
              <a:ext cx="192" cy="1344"/>
            </a:xfrm>
            <a:prstGeom prst="roundRect">
              <a:avLst>
                <a:gd name="adj" fmla="val 16667"/>
              </a:avLst>
            </a:prstGeom>
            <a:solidFill>
              <a:srgbClr val="CC3399">
                <a:alpha val="50000"/>
              </a:srgbClr>
            </a:solidFill>
            <a:ln w="12700" cap="sq">
              <a:solidFill>
                <a:srgbClr val="333399"/>
              </a:solidFill>
              <a:round/>
              <a:headEnd type="none" w="sm" len="sm"/>
              <a:tailEnd type="none" w="sm" len="sm"/>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7192" name="AutoShape 12"/>
            <p:cNvSpPr>
              <a:spLocks noChangeArrowheads="1"/>
            </p:cNvSpPr>
            <p:nvPr/>
          </p:nvSpPr>
          <p:spPr bwMode="auto">
            <a:xfrm>
              <a:off x="1584" y="2064"/>
              <a:ext cx="192" cy="1344"/>
            </a:xfrm>
            <a:prstGeom prst="roundRect">
              <a:avLst>
                <a:gd name="adj" fmla="val 16667"/>
              </a:avLst>
            </a:prstGeom>
            <a:solidFill>
              <a:srgbClr val="CC3399">
                <a:alpha val="50000"/>
              </a:srgbClr>
            </a:solidFill>
            <a:ln w="12700" cap="sq">
              <a:solidFill>
                <a:srgbClr val="333399"/>
              </a:solidFill>
              <a:round/>
              <a:headEnd type="none" w="sm" len="sm"/>
              <a:tailEnd type="none" w="sm" len="sm"/>
            </a:ln>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2397193" name="AutoShape 13"/>
          <p:cNvSpPr>
            <a:spLocks noChangeArrowheads="1"/>
          </p:cNvSpPr>
          <p:nvPr/>
        </p:nvSpPr>
        <p:spPr bwMode="auto">
          <a:xfrm rot="5400000">
            <a:off x="7795418" y="2148682"/>
            <a:ext cx="665163" cy="279400"/>
          </a:xfrm>
          <a:custGeom>
            <a:avLst/>
            <a:gdLst>
              <a:gd name="T0" fmla="*/ 0 w 21600"/>
              <a:gd name="T1" fmla="*/ 0 h 21600"/>
              <a:gd name="T2" fmla="*/ 5400 w 21600"/>
              <a:gd name="T3" fmla="*/ 21600 h 21600"/>
              <a:gd name="T4" fmla="*/ 16200 w 21600"/>
              <a:gd name="T5" fmla="*/ 21600 h 21600"/>
              <a:gd name="T6" fmla="*/ 21600 w 21600"/>
              <a:gd name="T7" fmla="*/ 0 h 21600"/>
            </a:gdLst>
            <a:ahLst/>
            <a:cxnLst>
              <a:cxn ang="0">
                <a:pos x="T0" y="T1"/>
              </a:cxn>
              <a:cxn ang="0">
                <a:pos x="T2" y="T3"/>
              </a:cxn>
              <a:cxn ang="0">
                <a:pos x="T4" y="T5"/>
              </a:cxn>
              <a:cxn ang="0">
                <a:pos x="T6" y="T7"/>
              </a:cxn>
            </a:cxnLst>
            <a:rect l="0" t="0" r="r" b="b"/>
            <a:pathLst>
              <a:path w="21600" h="21600">
                <a:moveTo>
                  <a:pt x="0" y="0"/>
                </a:moveTo>
                <a:lnTo>
                  <a:pt x="5400" y="21600"/>
                </a:lnTo>
                <a:lnTo>
                  <a:pt x="16200" y="21600"/>
                </a:lnTo>
                <a:lnTo>
                  <a:pt x="21600" y="0"/>
                </a:lnTo>
                <a:close/>
              </a:path>
            </a:pathLst>
          </a:custGeom>
          <a:solidFill>
            <a:srgbClr val="99CC00"/>
          </a:solidFill>
          <a:ln w="12700" cap="sq">
            <a:solidFill>
              <a:srgbClr val="333399"/>
            </a:solidFill>
            <a:miter lim="800000"/>
            <a:headEnd type="none" w="sm" len="sm"/>
            <a:tailEnd type="none" w="sm" len="sm"/>
          </a:ln>
        </p:spPr>
        <p:txBody>
          <a:bodyPr rot="10800000" vert="eaVert" wrap="none" anchor="ctr"/>
          <a:lstStyle/>
          <a:p>
            <a:pPr algn="ctr" eaLnBrk="0" hangingPunct="0"/>
            <a:endParaRPr lang="zh-CN" altLang="zh-CN" b="1">
              <a:solidFill>
                <a:srgbClr val="000099"/>
              </a:solidFill>
              <a:ea typeface="宋体" panose="02010600030101010101" pitchFamily="2" charset="-122"/>
            </a:endParaRPr>
          </a:p>
        </p:txBody>
      </p:sp>
      <p:sp>
        <p:nvSpPr>
          <p:cNvPr id="2397194" name="Rectangle 14"/>
          <p:cNvSpPr>
            <a:spLocks noChangeArrowheads="1"/>
          </p:cNvSpPr>
          <p:nvPr/>
        </p:nvSpPr>
        <p:spPr bwMode="auto">
          <a:xfrm>
            <a:off x="7900988" y="3071813"/>
            <a:ext cx="1108075"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传感器</a:t>
            </a:r>
          </a:p>
          <a:p>
            <a:pPr algn="ctr" eaLnBrk="0" hangingPunct="0">
              <a:lnSpc>
                <a:spcPct val="85000"/>
              </a:lnSpc>
            </a:pPr>
            <a:r>
              <a:rPr lang="zh-CN" altLang="en-US" b="1">
                <a:solidFill>
                  <a:srgbClr val="000099"/>
                </a:solidFill>
                <a:ea typeface="宋体" panose="02010600030101010101" pitchFamily="2" charset="-122"/>
              </a:rPr>
              <a:t>硬件</a:t>
            </a:r>
          </a:p>
        </p:txBody>
      </p:sp>
      <p:sp>
        <p:nvSpPr>
          <p:cNvPr id="2397195" name="Oval 15"/>
          <p:cNvSpPr>
            <a:spLocks noChangeArrowheads="1"/>
          </p:cNvSpPr>
          <p:nvPr/>
        </p:nvSpPr>
        <p:spPr bwMode="auto">
          <a:xfrm>
            <a:off x="5729288" y="1954213"/>
            <a:ext cx="719137" cy="682625"/>
          </a:xfrm>
          <a:prstGeom prst="ellipse">
            <a:avLst/>
          </a:prstGeom>
          <a:solidFill>
            <a:srgbClr val="FFCCFF"/>
          </a:solidFill>
          <a:ln w="9525">
            <a:solidFill>
              <a:srgbClr val="333399"/>
            </a:solidFill>
            <a:round/>
            <a:headEnd/>
            <a:tailEnd/>
          </a:ln>
        </p:spPr>
        <p:txBody>
          <a:bodyPr wrap="none" anchor="ctr"/>
          <a:lstStyle/>
          <a:p>
            <a:pPr algn="ctr" eaLnBrk="0" hangingPunct="0"/>
            <a:r>
              <a:rPr lang="zh-CN" altLang="en-US" b="1">
                <a:solidFill>
                  <a:srgbClr val="000099"/>
                </a:solidFill>
                <a:ea typeface="宋体" panose="02010600030101010101" pitchFamily="2" charset="-122"/>
              </a:rPr>
              <a:t>电池</a:t>
            </a:r>
          </a:p>
        </p:txBody>
      </p:sp>
      <p:sp>
        <p:nvSpPr>
          <p:cNvPr id="2397196" name="Rectangle 16"/>
          <p:cNvSpPr>
            <a:spLocks noChangeArrowheads="1"/>
          </p:cNvSpPr>
          <p:nvPr/>
        </p:nvSpPr>
        <p:spPr bwMode="auto">
          <a:xfrm>
            <a:off x="8208963" y="1911350"/>
            <a:ext cx="11080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5000"/>
              </a:lnSpc>
            </a:pPr>
            <a:r>
              <a:rPr lang="zh-CN" altLang="en-US" b="1">
                <a:solidFill>
                  <a:srgbClr val="000099"/>
                </a:solidFill>
                <a:ea typeface="宋体" panose="02010600030101010101" pitchFamily="2" charset="-122"/>
              </a:rPr>
              <a:t>无线</a:t>
            </a:r>
          </a:p>
          <a:p>
            <a:pPr algn="ctr" eaLnBrk="0" hangingPunct="0">
              <a:lnSpc>
                <a:spcPct val="85000"/>
              </a:lnSpc>
            </a:pPr>
            <a:r>
              <a:rPr lang="zh-CN" altLang="en-US" b="1">
                <a:solidFill>
                  <a:srgbClr val="000099"/>
                </a:solidFill>
                <a:ea typeface="宋体" panose="02010600030101010101" pitchFamily="2" charset="-122"/>
              </a:rPr>
              <a:t>收发器</a:t>
            </a:r>
          </a:p>
        </p:txBody>
      </p:sp>
      <p:pic>
        <p:nvPicPr>
          <p:cNvPr id="2397197" name="Picture 17" descr="UCB-sensor-dots"/>
          <p:cNvPicPr>
            <a:picLocks noChangeAspect="1" noChangeArrowheads="1"/>
          </p:cNvPicPr>
          <p:nvPr/>
        </p:nvPicPr>
        <p:blipFill>
          <a:blip r:embed="rId2">
            <a:extLst>
              <a:ext uri="{28A0092B-C50C-407E-A947-70E740481C1C}">
                <a14:useLocalDpi xmlns:a14="http://schemas.microsoft.com/office/drawing/2010/main" val="0"/>
              </a:ext>
            </a:extLst>
          </a:blip>
          <a:srcRect l="2850" t="11598" r="7932" b="12183"/>
          <a:stretch>
            <a:fillRect/>
          </a:stretch>
        </p:blipFill>
        <p:spPr bwMode="auto">
          <a:xfrm>
            <a:off x="895350" y="1760538"/>
            <a:ext cx="4003675"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7198" name="Text Box 21"/>
          <p:cNvSpPr txBox="1">
            <a:spLocks noChangeArrowheads="1"/>
          </p:cNvSpPr>
          <p:nvPr/>
        </p:nvSpPr>
        <p:spPr bwMode="auto">
          <a:xfrm>
            <a:off x="2432050" y="4271963"/>
            <a:ext cx="1265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ea typeface="宋体" panose="02010600030101010101" pitchFamily="2" charset="-122"/>
              </a:rPr>
              <a:t>(a) </a:t>
            </a:r>
            <a:r>
              <a:rPr lang="zh-CN" altLang="en-US" b="1">
                <a:ea typeface="宋体" panose="02010600030101010101" pitchFamily="2" charset="-122"/>
              </a:rPr>
              <a:t>形状</a:t>
            </a:r>
            <a:endParaRPr lang="en-US" altLang="zh-CN" b="1">
              <a:ea typeface="宋体" panose="02010600030101010101" pitchFamily="2" charset="-122"/>
            </a:endParaRPr>
          </a:p>
        </p:txBody>
      </p:sp>
      <p:sp>
        <p:nvSpPr>
          <p:cNvPr id="2397199" name="Text Box 22"/>
          <p:cNvSpPr txBox="1">
            <a:spLocks noChangeArrowheads="1"/>
          </p:cNvSpPr>
          <p:nvPr/>
        </p:nvSpPr>
        <p:spPr bwMode="auto">
          <a:xfrm>
            <a:off x="6865938" y="4279900"/>
            <a:ext cx="12811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ea typeface="宋体" panose="02010600030101010101" pitchFamily="2" charset="-122"/>
              </a:rPr>
              <a:t>(b) </a:t>
            </a:r>
            <a:r>
              <a:rPr lang="zh-CN" altLang="en-US" b="1">
                <a:ea typeface="宋体" panose="02010600030101010101" pitchFamily="2" charset="-122"/>
              </a:rPr>
              <a:t>组成</a:t>
            </a:r>
            <a:endParaRPr lang="en-US" altLang="zh-CN" b="1">
              <a:ea typeface="宋体" panose="02010600030101010101" pitchFamily="2" charset="-122"/>
            </a:endParaRPr>
          </a:p>
        </p:txBody>
      </p:sp>
      <p:sp>
        <p:nvSpPr>
          <p:cNvPr id="239720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7D3BC79-DE6E-4F78-99FA-7DE91F96D2FF}" type="slidenum">
              <a:rPr lang="zh-CN" altLang="en-US" smtClean="0"/>
              <a:pPr eaLnBrk="1" hangingPunct="1"/>
              <a:t>19</a:t>
            </a:fld>
            <a:endParaRPr lang="en-US" altLang="zh-CN" smtClean="0"/>
          </a:p>
        </p:txBody>
      </p:sp>
      <p:sp>
        <p:nvSpPr>
          <p:cNvPr id="239720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8209"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无线传感器网络主要的应用领域 </a:t>
            </a:r>
          </a:p>
        </p:txBody>
      </p:sp>
      <p:sp>
        <p:nvSpPr>
          <p:cNvPr id="2398210"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无线传感器网络主要的应用领域就是组成各种的</a:t>
            </a:r>
            <a:r>
              <a:rPr lang="zh-CN" altLang="zh-CN" u="sng" dirty="0" smtClean="0">
                <a:solidFill>
                  <a:srgbClr val="FF0000"/>
                </a:solidFill>
                <a:ea typeface="黑体" panose="02010609060101010101" pitchFamily="49" charset="-122"/>
              </a:rPr>
              <a:t>物联网</a:t>
            </a:r>
            <a:r>
              <a:rPr lang="en-US" altLang="zh-CN" u="sng" dirty="0" smtClean="0">
                <a:solidFill>
                  <a:srgbClr val="FF0000"/>
                </a:solidFill>
                <a:ea typeface="黑体" panose="02010609060101010101" pitchFamily="49" charset="-122"/>
              </a:rPr>
              <a:t> </a:t>
            </a:r>
            <a:r>
              <a:rPr lang="en-US" altLang="zh-CN" u="sng" dirty="0" err="1" smtClean="0">
                <a:ea typeface="黑体" panose="02010609060101010101" pitchFamily="49" charset="-122"/>
              </a:rPr>
              <a:t>IoT</a:t>
            </a:r>
            <a:r>
              <a:rPr lang="en-US" altLang="zh-CN" u="sng" dirty="0" smtClean="0">
                <a:ea typeface="黑体" panose="02010609060101010101" pitchFamily="49" charset="-122"/>
              </a:rPr>
              <a:t> (Internet of Things) </a:t>
            </a:r>
            <a:r>
              <a:rPr lang="zh-CN" altLang="en-US" dirty="0" smtClean="0">
                <a:ea typeface="黑体" panose="02010609060101010101" pitchFamily="49" charset="-122"/>
              </a:rPr>
              <a:t>，例如：</a:t>
            </a:r>
            <a:endParaRPr lang="en-US" altLang="zh-CN" dirty="0" smtClean="0">
              <a:ea typeface="黑体" panose="02010609060101010101" pitchFamily="49" charset="-122"/>
            </a:endParaRPr>
          </a:p>
          <a:p>
            <a:pPr lvl="1"/>
            <a:r>
              <a:rPr lang="zh-CN" altLang="en-US" dirty="0" smtClean="0">
                <a:ea typeface="黑体" panose="02010609060101010101" pitchFamily="49" charset="-122"/>
              </a:rPr>
              <a:t>环境监测与保护（如洪水预报、动物栖息的监控）；</a:t>
            </a:r>
          </a:p>
          <a:p>
            <a:pPr lvl="1"/>
            <a:r>
              <a:rPr lang="zh-CN" altLang="en-US" dirty="0" smtClean="0">
                <a:ea typeface="黑体" panose="02010609060101010101" pitchFamily="49" charset="-122"/>
              </a:rPr>
              <a:t>战争中对敌情的侦查和对兵力、装备、物资等的监控；</a:t>
            </a:r>
          </a:p>
          <a:p>
            <a:pPr lvl="1"/>
            <a:r>
              <a:rPr lang="zh-CN" altLang="en-US" dirty="0" smtClean="0">
                <a:ea typeface="黑体" panose="02010609060101010101" pitchFamily="49" charset="-122"/>
              </a:rPr>
              <a:t>医疗中对病房的监测和对患者的护理；</a:t>
            </a:r>
          </a:p>
          <a:p>
            <a:pPr lvl="1"/>
            <a:r>
              <a:rPr lang="zh-CN" altLang="en-US" dirty="0" smtClean="0">
                <a:ea typeface="黑体" panose="02010609060101010101" pitchFamily="49" charset="-122"/>
              </a:rPr>
              <a:t>在危险的工业环境（如矿井、核电站等）中的安全监测；</a:t>
            </a:r>
          </a:p>
          <a:p>
            <a:pPr lvl="1"/>
            <a:r>
              <a:rPr lang="zh-CN" altLang="en-US" dirty="0" smtClean="0">
                <a:ea typeface="黑体" panose="02010609060101010101" pitchFamily="49" charset="-122"/>
              </a:rPr>
              <a:t>城市交通管理、建筑内的温度</a:t>
            </a:r>
            <a:r>
              <a:rPr lang="en-US" altLang="zh-CN" dirty="0" smtClean="0">
                <a:ea typeface="黑体" panose="02010609060101010101" pitchFamily="49" charset="-122"/>
              </a:rPr>
              <a:t>/</a:t>
            </a:r>
            <a:r>
              <a:rPr lang="zh-CN" altLang="en-US" dirty="0" smtClean="0">
                <a:ea typeface="黑体" panose="02010609060101010101" pitchFamily="49" charset="-122"/>
              </a:rPr>
              <a:t>照明</a:t>
            </a:r>
            <a:r>
              <a:rPr lang="en-US" altLang="zh-CN" dirty="0" smtClean="0">
                <a:ea typeface="黑体" panose="02010609060101010101" pitchFamily="49" charset="-122"/>
              </a:rPr>
              <a:t>/</a:t>
            </a:r>
            <a:r>
              <a:rPr lang="zh-CN" altLang="en-US" dirty="0" smtClean="0">
                <a:ea typeface="黑体" panose="02010609060101010101" pitchFamily="49" charset="-122"/>
              </a:rPr>
              <a:t>安全控制等。 </a:t>
            </a:r>
          </a:p>
        </p:txBody>
      </p:sp>
      <p:sp>
        <p:nvSpPr>
          <p:cNvPr id="23982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EA216BD-E0CC-4A83-B4E3-A625CFA8DB3C}" type="slidenum">
              <a:rPr lang="zh-CN" altLang="en-US" smtClean="0"/>
              <a:pPr eaLnBrk="1" hangingPunct="1"/>
              <a:t>20</a:t>
            </a:fld>
            <a:endParaRPr lang="en-US" altLang="zh-CN" smtClean="0"/>
          </a:p>
        </p:txBody>
      </p:sp>
      <p:sp>
        <p:nvSpPr>
          <p:cNvPr id="23982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0257"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移动自组网络</a:t>
            </a:r>
            <a:r>
              <a:rPr lang="zh-CN" altLang="en-US" smtClean="0">
                <a:solidFill>
                  <a:srgbClr val="FF0000"/>
                </a:solidFill>
                <a:ea typeface="黑体" panose="02010609060101010101" pitchFamily="49" charset="-122"/>
              </a:rPr>
              <a:t>不同于</a:t>
            </a:r>
            <a:r>
              <a:rPr lang="zh-CN" altLang="en-US" smtClean="0">
                <a:ea typeface="黑体" panose="02010609060101010101" pitchFamily="49" charset="-122"/>
              </a:rPr>
              <a:t>移动 </a:t>
            </a:r>
            <a:r>
              <a:rPr lang="en-US" altLang="zh-CN" smtClean="0">
                <a:ea typeface="黑体" panose="02010609060101010101" pitchFamily="49" charset="-122"/>
              </a:rPr>
              <a:t>IP</a:t>
            </a:r>
            <a:endParaRPr lang="zh-CN" altLang="en-US" smtClean="0">
              <a:ea typeface="黑体" panose="02010609060101010101" pitchFamily="49" charset="-122"/>
            </a:endParaRPr>
          </a:p>
        </p:txBody>
      </p:sp>
      <p:sp>
        <p:nvSpPr>
          <p:cNvPr id="304137" name="Rectangle 9"/>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移动 </a:t>
            </a:r>
            <a:r>
              <a:rPr lang="en-US" altLang="zh-CN" dirty="0" smtClean="0">
                <a:solidFill>
                  <a:srgbClr val="FF0000"/>
                </a:solidFill>
                <a:ea typeface="黑体" panose="02010609060101010101" pitchFamily="49" charset="-122"/>
              </a:rPr>
              <a:t>IP </a:t>
            </a:r>
            <a:r>
              <a:rPr lang="zh-CN" altLang="en-US" dirty="0" smtClean="0">
                <a:solidFill>
                  <a:srgbClr val="FF0000"/>
                </a:solidFill>
                <a:ea typeface="黑体" panose="02010609060101010101" pitchFamily="49" charset="-122"/>
              </a:rPr>
              <a:t>技术</a:t>
            </a:r>
            <a:r>
              <a:rPr lang="zh-CN" altLang="en-US" dirty="0" smtClean="0">
                <a:ea typeface="黑体" panose="02010609060101010101" pitchFamily="49" charset="-122"/>
              </a:rPr>
              <a:t>使漫游的主机可以用多种方式连接到互联网。</a:t>
            </a:r>
          </a:p>
          <a:p>
            <a:r>
              <a:rPr lang="zh-CN" altLang="en-US" dirty="0" smtClean="0">
                <a:solidFill>
                  <a:srgbClr val="FF0000"/>
                </a:solidFill>
                <a:ea typeface="黑体" panose="02010609060101010101" pitchFamily="49" charset="-122"/>
              </a:rPr>
              <a:t>移动 </a:t>
            </a:r>
            <a:r>
              <a:rPr lang="en-US" altLang="zh-CN" dirty="0" smtClean="0">
                <a:solidFill>
                  <a:srgbClr val="FF0000"/>
                </a:solidFill>
                <a:ea typeface="黑体" panose="02010609060101010101" pitchFamily="49" charset="-122"/>
              </a:rPr>
              <a:t>IP </a:t>
            </a:r>
            <a:r>
              <a:rPr lang="zh-CN" altLang="en-US" dirty="0" smtClean="0">
                <a:ea typeface="黑体" panose="02010609060101010101" pitchFamily="49" charset="-122"/>
              </a:rPr>
              <a:t>的核心网络功能仍然是基于在固定互联网中一直在使用的各种路由选择协议。</a:t>
            </a:r>
          </a:p>
          <a:p>
            <a:r>
              <a:rPr lang="zh-CN" altLang="en-US" dirty="0" smtClean="0">
                <a:solidFill>
                  <a:srgbClr val="FF0000"/>
                </a:solidFill>
                <a:ea typeface="黑体" panose="02010609060101010101" pitchFamily="49" charset="-122"/>
              </a:rPr>
              <a:t>移动自组网络</a:t>
            </a:r>
            <a:r>
              <a:rPr lang="zh-CN" altLang="en-US" dirty="0" smtClean="0">
                <a:ea typeface="黑体" panose="02010609060101010101" pitchFamily="49" charset="-122"/>
              </a:rPr>
              <a:t>是将移动性扩展到无线领域中的自治系统，它具有自己特定的路由选择协议，并且可以不和互联网相连。  </a:t>
            </a:r>
          </a:p>
        </p:txBody>
      </p:sp>
      <p:sp>
        <p:nvSpPr>
          <p:cNvPr id="24002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C029BAE-8C0E-412E-9D0F-6EADC9B255F9}" type="slidenum">
              <a:rPr lang="zh-CN" altLang="en-US" smtClean="0"/>
              <a:pPr eaLnBrk="1" hangingPunct="1"/>
              <a:t>21</a:t>
            </a:fld>
            <a:endParaRPr lang="en-US" altLang="zh-CN" smtClean="0"/>
          </a:p>
        </p:txBody>
      </p:sp>
      <p:sp>
        <p:nvSpPr>
          <p:cNvPr id="24002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413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413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1281"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几种不同的接入</a:t>
            </a:r>
          </a:p>
        </p:txBody>
      </p:sp>
      <p:sp>
        <p:nvSpPr>
          <p:cNvPr id="2401282" name="Rectangle 3"/>
          <p:cNvSpPr>
            <a:spLocks noGrp="1" noChangeArrowheads="1"/>
          </p:cNvSpPr>
          <p:nvPr>
            <p:ph idx="1"/>
          </p:nvPr>
        </p:nvSpPr>
        <p:spPr>
          <a:xfrm>
            <a:off x="495300" y="1196975"/>
            <a:ext cx="9066213" cy="4933950"/>
          </a:xfrm>
        </p:spPr>
        <p:txBody>
          <a:bodyPr/>
          <a:lstStyle/>
          <a:p>
            <a:pPr>
              <a:lnSpc>
                <a:spcPct val="100000"/>
              </a:lnSpc>
            </a:pPr>
            <a:r>
              <a:rPr lang="zh-CN" altLang="en-US" sz="2800" dirty="0" smtClean="0">
                <a:solidFill>
                  <a:srgbClr val="FF0000"/>
                </a:solidFill>
                <a:ea typeface="黑体" panose="02010609060101010101" pitchFamily="49" charset="-122"/>
              </a:rPr>
              <a:t>固定接入 </a:t>
            </a:r>
            <a:r>
              <a:rPr lang="en-US" altLang="zh-CN" sz="2800" dirty="0" smtClean="0">
                <a:ea typeface="黑体" panose="02010609060101010101" pitchFamily="49" charset="-122"/>
              </a:rPr>
              <a:t>(fixed access)——</a:t>
            </a:r>
            <a:r>
              <a:rPr lang="zh-CN" altLang="en-US" sz="2800" dirty="0" smtClean="0">
                <a:ea typeface="黑体" panose="02010609060101010101" pitchFamily="49" charset="-122"/>
              </a:rPr>
              <a:t>在作为网络用户期间，用户设置的地理位置保持不变。</a:t>
            </a:r>
          </a:p>
          <a:p>
            <a:pPr>
              <a:lnSpc>
                <a:spcPct val="100000"/>
              </a:lnSpc>
            </a:pPr>
            <a:r>
              <a:rPr lang="zh-CN" altLang="en-US" sz="2800" dirty="0" smtClean="0">
                <a:solidFill>
                  <a:srgbClr val="FF0000"/>
                </a:solidFill>
                <a:ea typeface="黑体" panose="02010609060101010101" pitchFamily="49" charset="-122"/>
              </a:rPr>
              <a:t>移动接入 </a:t>
            </a:r>
            <a:r>
              <a:rPr lang="en-US" altLang="zh-CN" sz="2800" dirty="0" smtClean="0">
                <a:ea typeface="黑体" panose="02010609060101010101" pitchFamily="49" charset="-122"/>
              </a:rPr>
              <a:t>(mobility access)——</a:t>
            </a:r>
            <a:r>
              <a:rPr lang="zh-CN" altLang="en-US" sz="2800" dirty="0" smtClean="0">
                <a:ea typeface="黑体" panose="02010609060101010101" pitchFamily="49" charset="-122"/>
              </a:rPr>
              <a:t>用户设置能够以车辆速度移动时进行网络通信。当发生切换时，通信仍然是连续的。</a:t>
            </a:r>
          </a:p>
          <a:p>
            <a:pPr>
              <a:lnSpc>
                <a:spcPct val="100000"/>
              </a:lnSpc>
            </a:pPr>
            <a:r>
              <a:rPr lang="zh-CN" altLang="en-US" sz="2800" dirty="0" smtClean="0">
                <a:solidFill>
                  <a:srgbClr val="FF0000"/>
                </a:solidFill>
                <a:ea typeface="黑体" panose="02010609060101010101" pitchFamily="49" charset="-122"/>
              </a:rPr>
              <a:t>便携接入 </a:t>
            </a:r>
            <a:r>
              <a:rPr lang="en-US" altLang="zh-CN" sz="2800" dirty="0" smtClean="0">
                <a:ea typeface="黑体" panose="02010609060101010101" pitchFamily="49" charset="-122"/>
              </a:rPr>
              <a:t>(portable access)——</a:t>
            </a:r>
            <a:r>
              <a:rPr lang="zh-CN" altLang="en-US" sz="2800" dirty="0" smtClean="0">
                <a:ea typeface="黑体" panose="02010609060101010101" pitchFamily="49" charset="-122"/>
              </a:rPr>
              <a:t>在受限的网络覆盖面积中，用户设备能够在以步行速度移动时进行网络通信，提供有限的切换能力。</a:t>
            </a:r>
          </a:p>
          <a:p>
            <a:pPr>
              <a:lnSpc>
                <a:spcPct val="100000"/>
              </a:lnSpc>
            </a:pPr>
            <a:r>
              <a:rPr lang="zh-CN" altLang="en-US" sz="2800" dirty="0" smtClean="0">
                <a:solidFill>
                  <a:srgbClr val="FF0000"/>
                </a:solidFill>
                <a:ea typeface="黑体" panose="02010609060101010101" pitchFamily="49" charset="-122"/>
              </a:rPr>
              <a:t>游牧接入 </a:t>
            </a:r>
            <a:r>
              <a:rPr lang="en-US" altLang="zh-CN" sz="2800" dirty="0" smtClean="0">
                <a:ea typeface="黑体" panose="02010609060101010101" pitchFamily="49" charset="-122"/>
              </a:rPr>
              <a:t>(nomadic access)——</a:t>
            </a:r>
            <a:r>
              <a:rPr lang="zh-CN" altLang="en-US" sz="2800" dirty="0" smtClean="0">
                <a:ea typeface="黑体" panose="02010609060101010101" pitchFamily="49" charset="-122"/>
              </a:rPr>
              <a:t>用户设备的地理位置至少在进行网络通信时保持不变。如用户设备移动了位置，则再次进行通信时可能还要寻找最佳的基站。</a:t>
            </a:r>
          </a:p>
        </p:txBody>
      </p:sp>
      <p:sp>
        <p:nvSpPr>
          <p:cNvPr id="24012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BC90B0F-B739-476C-90FD-CB22F53B8DD6}" type="slidenum">
              <a:rPr lang="zh-CN" altLang="en-US" smtClean="0"/>
              <a:pPr eaLnBrk="1" hangingPunct="1"/>
              <a:t>22</a:t>
            </a:fld>
            <a:endParaRPr lang="en-US" altLang="zh-CN" smtClean="0"/>
          </a:p>
        </p:txBody>
      </p:sp>
      <p:sp>
        <p:nvSpPr>
          <p:cNvPr id="24012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2305" name="Rectangle 6"/>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9.1.2   802.11 </a:t>
            </a:r>
            <a:r>
              <a:rPr lang="zh-CN" altLang="en-US" smtClean="0">
                <a:ea typeface="黑体" panose="02010609060101010101" pitchFamily="49" charset="-122"/>
              </a:rPr>
              <a:t>局域网的物理层</a:t>
            </a:r>
          </a:p>
        </p:txBody>
      </p:sp>
      <p:sp>
        <p:nvSpPr>
          <p:cNvPr id="2402306" name="Rectangle 9"/>
          <p:cNvSpPr>
            <a:spLocks noGrp="1" noChangeArrowheads="1"/>
          </p:cNvSpPr>
          <p:nvPr>
            <p:ph idx="1"/>
          </p:nvPr>
        </p:nvSpPr>
        <p:spPr>
          <a:xfrm>
            <a:off x="495300" y="1196975"/>
            <a:ext cx="9066213" cy="4933950"/>
          </a:xfrm>
        </p:spPr>
        <p:txBody>
          <a:bodyPr/>
          <a:lstStyle/>
          <a:p>
            <a:pPr>
              <a:lnSpc>
                <a:spcPct val="100000"/>
              </a:lnSpc>
            </a:pPr>
            <a:r>
              <a:rPr lang="en-US" altLang="zh-CN" sz="2800" dirty="0" smtClean="0">
                <a:ea typeface="黑体" panose="02010609060101010101" pitchFamily="49" charset="-122"/>
              </a:rPr>
              <a:t>802.11 </a:t>
            </a:r>
            <a:r>
              <a:rPr lang="zh-CN" altLang="zh-CN" sz="2800" dirty="0" smtClean="0">
                <a:ea typeface="黑体" panose="02010609060101010101" pitchFamily="49" charset="-122"/>
              </a:rPr>
              <a:t>标准中物理层相当复杂。根据物理层的不同（如工作频段、数据率、调制方法等），对应的标准也不同。</a:t>
            </a:r>
            <a:endParaRPr lang="en-US" altLang="zh-CN" sz="2800" dirty="0" smtClean="0">
              <a:ea typeface="黑体" panose="02010609060101010101" pitchFamily="49" charset="-122"/>
            </a:endParaRPr>
          </a:p>
          <a:p>
            <a:pPr>
              <a:lnSpc>
                <a:spcPct val="100000"/>
              </a:lnSpc>
            </a:pPr>
            <a:r>
              <a:rPr lang="zh-CN" altLang="zh-CN" sz="2800" dirty="0" smtClean="0">
                <a:ea typeface="黑体" panose="02010609060101010101" pitchFamily="49" charset="-122"/>
              </a:rPr>
              <a:t>最早流行的无线局域网是</a:t>
            </a:r>
            <a:r>
              <a:rPr lang="en-US" altLang="zh-CN" sz="2800" dirty="0" smtClean="0">
                <a:ea typeface="黑体" panose="02010609060101010101" pitchFamily="49" charset="-122"/>
              </a:rPr>
              <a:t> 802.11b</a:t>
            </a:r>
            <a:r>
              <a:rPr lang="zh-CN" altLang="zh-CN" sz="2800" dirty="0" smtClean="0">
                <a:ea typeface="黑体" panose="02010609060101010101" pitchFamily="49" charset="-122"/>
              </a:rPr>
              <a:t>，</a:t>
            </a:r>
            <a:r>
              <a:rPr lang="en-US" altLang="zh-CN" sz="2800" dirty="0" smtClean="0">
                <a:ea typeface="黑体" panose="02010609060101010101" pitchFamily="49" charset="-122"/>
              </a:rPr>
              <a:t>802.11a </a:t>
            </a:r>
            <a:r>
              <a:rPr lang="zh-CN" altLang="zh-CN" sz="2800" dirty="0" smtClean="0">
                <a:ea typeface="黑体" panose="02010609060101010101" pitchFamily="49" charset="-122"/>
              </a:rPr>
              <a:t>和</a:t>
            </a:r>
            <a:r>
              <a:rPr lang="en-US" altLang="zh-CN" sz="2800" dirty="0" smtClean="0">
                <a:ea typeface="黑体" panose="02010609060101010101" pitchFamily="49" charset="-122"/>
              </a:rPr>
              <a:t>802.11g</a:t>
            </a:r>
            <a:r>
              <a:rPr lang="zh-CN" altLang="zh-CN" sz="2800" dirty="0" smtClean="0">
                <a:ea typeface="黑体" panose="02010609060101010101" pitchFamily="49" charset="-122"/>
              </a:rPr>
              <a:t>。</a:t>
            </a:r>
            <a:r>
              <a:rPr lang="en-US" altLang="zh-CN" sz="2800" dirty="0" smtClean="0">
                <a:ea typeface="黑体" panose="02010609060101010101" pitchFamily="49" charset="-122"/>
              </a:rPr>
              <a:t>2009</a:t>
            </a:r>
            <a:r>
              <a:rPr lang="zh-CN" altLang="zh-CN" sz="2800" dirty="0" smtClean="0">
                <a:ea typeface="黑体" panose="02010609060101010101" pitchFamily="49" charset="-122"/>
              </a:rPr>
              <a:t>年颁布了标准</a:t>
            </a:r>
            <a:r>
              <a:rPr lang="en-US" altLang="zh-CN" sz="2800" dirty="0" smtClean="0">
                <a:ea typeface="黑体" panose="02010609060101010101" pitchFamily="49" charset="-122"/>
              </a:rPr>
              <a:t> 802.11n</a:t>
            </a:r>
          </a:p>
          <a:p>
            <a:pPr>
              <a:lnSpc>
                <a:spcPct val="100000"/>
              </a:lnSpc>
            </a:pPr>
            <a:r>
              <a:rPr lang="en-US" altLang="zh-CN" sz="2800" dirty="0" smtClean="0">
                <a:ea typeface="黑体" panose="02010609060101010101" pitchFamily="49" charset="-122"/>
              </a:rPr>
              <a:t>802.11 </a:t>
            </a:r>
            <a:r>
              <a:rPr lang="zh-CN" altLang="en-US" sz="2800" dirty="0" smtClean="0">
                <a:ea typeface="黑体" panose="02010609060101010101" pitchFamily="49" charset="-122"/>
              </a:rPr>
              <a:t>的物理层有以下几种实现方法：</a:t>
            </a:r>
          </a:p>
          <a:p>
            <a:pPr lvl="1">
              <a:lnSpc>
                <a:spcPct val="100000"/>
              </a:lnSpc>
            </a:pPr>
            <a:r>
              <a:rPr lang="zh-CN" altLang="en-US" dirty="0" smtClean="0">
                <a:solidFill>
                  <a:srgbClr val="0000FF"/>
                </a:solidFill>
                <a:ea typeface="黑体" panose="02010609060101010101" pitchFamily="49" charset="-122"/>
              </a:rPr>
              <a:t>直接序列扩频 </a:t>
            </a:r>
            <a:r>
              <a:rPr lang="en-US" altLang="zh-CN" dirty="0" smtClean="0">
                <a:solidFill>
                  <a:srgbClr val="0000FF"/>
                </a:solidFill>
                <a:ea typeface="黑体" panose="02010609060101010101" pitchFamily="49" charset="-122"/>
              </a:rPr>
              <a:t>DSSS</a:t>
            </a:r>
          </a:p>
          <a:p>
            <a:pPr lvl="1">
              <a:lnSpc>
                <a:spcPct val="100000"/>
              </a:lnSpc>
            </a:pPr>
            <a:r>
              <a:rPr lang="zh-CN" altLang="en-US" dirty="0" smtClean="0">
                <a:solidFill>
                  <a:srgbClr val="0000FF"/>
                </a:solidFill>
                <a:ea typeface="黑体" panose="02010609060101010101" pitchFamily="49" charset="-122"/>
              </a:rPr>
              <a:t>正交频分复用 </a:t>
            </a:r>
            <a:r>
              <a:rPr lang="en-US" altLang="zh-CN" dirty="0" smtClean="0">
                <a:solidFill>
                  <a:srgbClr val="0000FF"/>
                </a:solidFill>
                <a:ea typeface="黑体" panose="02010609060101010101" pitchFamily="49" charset="-122"/>
              </a:rPr>
              <a:t>OFDM </a:t>
            </a:r>
          </a:p>
          <a:p>
            <a:pPr lvl="1">
              <a:lnSpc>
                <a:spcPct val="100000"/>
              </a:lnSpc>
            </a:pPr>
            <a:r>
              <a:rPr lang="zh-CN" altLang="en-US" dirty="0" smtClean="0">
                <a:solidFill>
                  <a:srgbClr val="0000FF"/>
                </a:solidFill>
                <a:ea typeface="黑体" panose="02010609060101010101" pitchFamily="49" charset="-122"/>
              </a:rPr>
              <a:t>跳频扩频 </a:t>
            </a:r>
            <a:r>
              <a:rPr lang="en-US" altLang="zh-CN" dirty="0" smtClean="0">
                <a:solidFill>
                  <a:srgbClr val="0000FF"/>
                </a:solidFill>
                <a:ea typeface="黑体" panose="02010609060101010101" pitchFamily="49" charset="-122"/>
              </a:rPr>
              <a:t>FHSS </a:t>
            </a:r>
            <a:r>
              <a:rPr lang="zh-CN" altLang="en-US" dirty="0" smtClean="0">
                <a:solidFill>
                  <a:srgbClr val="0000FF"/>
                </a:solidFill>
                <a:ea typeface="黑体" panose="02010609060101010101" pitchFamily="49" charset="-122"/>
              </a:rPr>
              <a:t>（已很少用）</a:t>
            </a:r>
          </a:p>
          <a:p>
            <a:pPr lvl="1">
              <a:lnSpc>
                <a:spcPct val="100000"/>
              </a:lnSpc>
            </a:pPr>
            <a:r>
              <a:rPr lang="zh-CN" altLang="en-US" dirty="0" smtClean="0">
                <a:solidFill>
                  <a:srgbClr val="0000FF"/>
                </a:solidFill>
                <a:ea typeface="黑体" panose="02010609060101010101" pitchFamily="49" charset="-122"/>
              </a:rPr>
              <a:t>红外线 </a:t>
            </a:r>
            <a:r>
              <a:rPr lang="en-US" altLang="zh-CN" dirty="0" smtClean="0">
                <a:solidFill>
                  <a:srgbClr val="0000FF"/>
                </a:solidFill>
                <a:ea typeface="黑体" panose="02010609060101010101" pitchFamily="49" charset="-122"/>
              </a:rPr>
              <a:t>IR </a:t>
            </a:r>
            <a:r>
              <a:rPr lang="zh-CN" altLang="en-US" dirty="0" smtClean="0">
                <a:solidFill>
                  <a:srgbClr val="0000FF"/>
                </a:solidFill>
                <a:ea typeface="黑体" panose="02010609060101010101" pitchFamily="49" charset="-122"/>
              </a:rPr>
              <a:t>（已很少用）</a:t>
            </a:r>
            <a:r>
              <a:rPr lang="zh-CN" altLang="en-US" sz="2400" dirty="0" smtClean="0">
                <a:ea typeface="黑体" panose="02010609060101010101" pitchFamily="49" charset="-122"/>
              </a:rPr>
              <a:t> </a:t>
            </a:r>
          </a:p>
        </p:txBody>
      </p:sp>
      <p:sp>
        <p:nvSpPr>
          <p:cNvPr id="24023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7DE6C1-D942-4946-8EBB-0200D3E7F30C}" type="slidenum">
              <a:rPr lang="zh-CN" altLang="en-US" smtClean="0"/>
              <a:pPr eaLnBrk="1" hangingPunct="1"/>
              <a:t>23</a:t>
            </a:fld>
            <a:endParaRPr lang="en-US" altLang="zh-CN" smtClean="0"/>
          </a:p>
        </p:txBody>
      </p:sp>
      <p:sp>
        <p:nvSpPr>
          <p:cNvPr id="24023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3329" name="Rectangle 133"/>
          <p:cNvSpPr>
            <a:spLocks noGrp="1" noChangeArrowheads="1"/>
          </p:cNvSpPr>
          <p:nvPr>
            <p:ph type="title"/>
          </p:nvPr>
        </p:nvSpPr>
        <p:spPr/>
        <p:txBody>
          <a:bodyPr/>
          <a:lstStyle/>
          <a:p>
            <a:pPr algn="ctr"/>
            <a:r>
              <a:rPr lang="zh-CN" altLang="en-US" sz="4000" smtClean="0">
                <a:ea typeface="黑体" panose="02010609060101010101" pitchFamily="49" charset="-122"/>
              </a:rPr>
              <a:t>几种常用的 </a:t>
            </a:r>
            <a:r>
              <a:rPr lang="en-US" altLang="zh-CN" sz="4000" smtClean="0">
                <a:ea typeface="黑体" panose="02010609060101010101" pitchFamily="49" charset="-122"/>
              </a:rPr>
              <a:t>802.11 </a:t>
            </a:r>
            <a:r>
              <a:rPr lang="zh-CN" altLang="en-US" sz="4000" smtClean="0">
                <a:ea typeface="黑体" panose="02010609060101010101" pitchFamily="49" charset="-122"/>
              </a:rPr>
              <a:t>无线局域网 </a:t>
            </a:r>
          </a:p>
        </p:txBody>
      </p:sp>
      <p:graphicFrame>
        <p:nvGraphicFramePr>
          <p:cNvPr id="2" name="表格 1"/>
          <p:cNvGraphicFramePr>
            <a:graphicFrameLocks noGrp="1"/>
          </p:cNvGraphicFramePr>
          <p:nvPr/>
        </p:nvGraphicFramePr>
        <p:xfrm>
          <a:off x="488950" y="1268413"/>
          <a:ext cx="9217023" cy="4681537"/>
        </p:xfrm>
        <a:graphic>
          <a:graphicData uri="http://schemas.openxmlformats.org/drawingml/2006/table">
            <a:tbl>
              <a:tblPr firstRow="1" firstCol="1" lastRow="1" lastCol="1" bandRow="1" bandCol="1">
                <a:tableStyleId>{5C22544A-7EE6-4342-B048-85BDC9FD1C3A}</a:tableStyleId>
              </a:tblPr>
              <a:tblGrid>
                <a:gridCol w="1296142">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1296144">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4320481">
                  <a:extLst>
                    <a:ext uri="{9D8B030D-6E8A-4147-A177-3AD203B41FA5}">
                      <a16:colId xmlns:a16="http://schemas.microsoft.com/office/drawing/2014/main" val="20004"/>
                    </a:ext>
                  </a:extLst>
                </a:gridCol>
              </a:tblGrid>
              <a:tr h="704646">
                <a:tc>
                  <a:txBody>
                    <a:bodyPr/>
                    <a:lstStyle/>
                    <a:p>
                      <a:pPr algn="ctr">
                        <a:lnSpc>
                          <a:spcPct val="100000"/>
                        </a:lnSpc>
                        <a:spcBef>
                          <a:spcPts val="0"/>
                        </a:spcBef>
                        <a:spcAft>
                          <a:spcPts val="0"/>
                        </a:spcAft>
                        <a:tabLst>
                          <a:tab pos="1752600" algn="l"/>
                        </a:tabLst>
                      </a:pPr>
                      <a:r>
                        <a:rPr lang="zh-CN" sz="2200" b="1" dirty="0">
                          <a:solidFill>
                            <a:schemeClr val="tx1"/>
                          </a:solidFill>
                          <a:effectLst/>
                          <a:latin typeface="+mn-lt"/>
                          <a:ea typeface="+mn-ea"/>
                        </a:rPr>
                        <a:t>标准</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Bef>
                          <a:spcPts val="0"/>
                        </a:spcBef>
                        <a:spcAft>
                          <a:spcPts val="0"/>
                        </a:spcAft>
                        <a:tabLst>
                          <a:tab pos="1752600" algn="l"/>
                        </a:tabLst>
                      </a:pPr>
                      <a:r>
                        <a:rPr lang="zh-CN" sz="2200" b="1">
                          <a:solidFill>
                            <a:schemeClr val="tx1"/>
                          </a:solidFill>
                          <a:effectLst/>
                          <a:latin typeface="+mn-lt"/>
                          <a:ea typeface="+mn-ea"/>
                        </a:rPr>
                        <a:t>频段</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Bef>
                          <a:spcPts val="0"/>
                        </a:spcBef>
                        <a:spcAft>
                          <a:spcPts val="0"/>
                        </a:spcAft>
                        <a:tabLst>
                          <a:tab pos="1752600" algn="l"/>
                        </a:tabLst>
                      </a:pPr>
                      <a:r>
                        <a:rPr lang="zh-CN" sz="2200" b="1">
                          <a:solidFill>
                            <a:schemeClr val="tx1"/>
                          </a:solidFill>
                          <a:effectLst/>
                          <a:latin typeface="+mn-lt"/>
                          <a:ea typeface="+mn-ea"/>
                        </a:rPr>
                        <a:t>数据速率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Bef>
                          <a:spcPts val="0"/>
                        </a:spcBef>
                        <a:spcAft>
                          <a:spcPts val="0"/>
                        </a:spcAft>
                        <a:tabLst>
                          <a:tab pos="1752600" algn="l"/>
                        </a:tabLst>
                      </a:pPr>
                      <a:r>
                        <a:rPr lang="zh-CN" sz="2200" b="1">
                          <a:solidFill>
                            <a:schemeClr val="tx1"/>
                          </a:solidFill>
                          <a:effectLst/>
                          <a:latin typeface="+mn-lt"/>
                          <a:ea typeface="+mn-ea"/>
                        </a:rPr>
                        <a:t>物理层</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Bef>
                          <a:spcPts val="0"/>
                        </a:spcBef>
                        <a:spcAft>
                          <a:spcPts val="0"/>
                        </a:spcAft>
                        <a:tabLst>
                          <a:tab pos="1752600" algn="l"/>
                        </a:tabLst>
                      </a:pPr>
                      <a:r>
                        <a:rPr lang="zh-CN" sz="2200" b="1" dirty="0">
                          <a:solidFill>
                            <a:schemeClr val="tx1"/>
                          </a:solidFill>
                          <a:effectLst/>
                          <a:latin typeface="+mn-lt"/>
                          <a:ea typeface="+mn-ea"/>
                        </a:rPr>
                        <a:t>优缺点</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10000"/>
                  </a:ext>
                </a:extLst>
              </a:tr>
              <a:tr h="662815">
                <a:tc>
                  <a:txBody>
                    <a:bodyPr/>
                    <a:lstStyle/>
                    <a:p>
                      <a:pPr algn="l">
                        <a:lnSpc>
                          <a:spcPct val="100000"/>
                        </a:lnSpc>
                        <a:spcBef>
                          <a:spcPts val="0"/>
                        </a:spcBef>
                        <a:spcAft>
                          <a:spcPts val="0"/>
                        </a:spcAft>
                        <a:tabLst>
                          <a:tab pos="1752600" algn="l"/>
                        </a:tabLst>
                      </a:pPr>
                      <a:r>
                        <a:rPr lang="en-US" sz="2000" b="1" dirty="0">
                          <a:solidFill>
                            <a:srgbClr val="000099"/>
                          </a:solidFill>
                          <a:effectLst/>
                          <a:latin typeface="+mn-lt"/>
                          <a:ea typeface="+mn-ea"/>
                        </a:rPr>
                        <a:t>802.11b</a:t>
                      </a:r>
                      <a:endParaRPr lang="zh-CN" sz="2000" b="1" dirty="0">
                        <a:solidFill>
                          <a:srgbClr val="000099"/>
                        </a:solidFill>
                        <a:effectLst/>
                        <a:latin typeface="+mn-lt"/>
                        <a:ea typeface="+mn-ea"/>
                      </a:endParaRPr>
                    </a:p>
                    <a:p>
                      <a:pPr algn="l">
                        <a:lnSpc>
                          <a:spcPct val="100000"/>
                        </a:lnSpc>
                        <a:spcBef>
                          <a:spcPts val="0"/>
                        </a:spcBef>
                        <a:spcAft>
                          <a:spcPts val="0"/>
                        </a:spcAft>
                        <a:tabLst>
                          <a:tab pos="1752600" algn="l"/>
                        </a:tabLst>
                      </a:pPr>
                      <a:r>
                        <a:rPr lang="en-US" sz="2000" b="1" dirty="0">
                          <a:solidFill>
                            <a:srgbClr val="000099"/>
                          </a:solidFill>
                          <a:effectLst/>
                          <a:latin typeface="+mn-lt"/>
                          <a:ea typeface="+mn-ea"/>
                        </a:rPr>
                        <a:t>(1999</a:t>
                      </a:r>
                      <a:r>
                        <a:rPr lang="zh-CN" sz="2000" b="1" dirty="0">
                          <a:solidFill>
                            <a:srgbClr val="000099"/>
                          </a:solidFill>
                          <a:effectLst/>
                          <a:latin typeface="+mn-lt"/>
                          <a:ea typeface="+mn-ea"/>
                        </a:rPr>
                        <a:t>年</a:t>
                      </a:r>
                      <a:r>
                        <a:rPr lang="en-US" sz="2000" b="1" dirty="0">
                          <a:solidFill>
                            <a:srgbClr val="000099"/>
                          </a:solidFill>
                          <a:effectLst/>
                          <a:latin typeface="+mn-lt"/>
                          <a:ea typeface="+mn-ea"/>
                        </a:rPr>
                        <a:t>)</a:t>
                      </a:r>
                      <a:endParaRPr lang="zh-CN" sz="2000" b="1" dirty="0">
                        <a:solidFill>
                          <a:srgbClr val="000099"/>
                        </a:solidFill>
                        <a:effectLst/>
                        <a:latin typeface="+mn-lt"/>
                        <a:ea typeface="+mn-ea"/>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en-US" sz="2000" b="1">
                          <a:solidFill>
                            <a:schemeClr val="tx1"/>
                          </a:solidFill>
                          <a:effectLst/>
                          <a:latin typeface="+mn-lt"/>
                          <a:ea typeface="+mn-ea"/>
                        </a:rPr>
                        <a:t>2.4 GHz</a:t>
                      </a:r>
                      <a:endParaRPr lang="zh-CN" sz="2000" b="1">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zh-CN" sz="2000" b="1">
                          <a:solidFill>
                            <a:schemeClr val="tx1"/>
                          </a:solidFill>
                          <a:effectLst/>
                          <a:latin typeface="+mn-lt"/>
                          <a:ea typeface="+mn-ea"/>
                        </a:rPr>
                        <a:t>最高</a:t>
                      </a:r>
                      <a:r>
                        <a:rPr lang="en-US" sz="2000" b="1">
                          <a:solidFill>
                            <a:schemeClr val="tx1"/>
                          </a:solidFill>
                          <a:effectLst/>
                          <a:latin typeface="+mn-lt"/>
                          <a:ea typeface="+mn-ea"/>
                        </a:rPr>
                        <a:t>11 Mbit/s</a:t>
                      </a:r>
                      <a:endParaRPr lang="zh-CN" sz="2000" b="1">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zh-CN" sz="2000" b="1">
                          <a:solidFill>
                            <a:schemeClr val="tx1"/>
                          </a:solidFill>
                          <a:effectLst/>
                          <a:latin typeface="+mn-lt"/>
                          <a:ea typeface="+mn-ea"/>
                        </a:rPr>
                        <a:t>扩频</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zh-CN" sz="2000" b="1" dirty="0">
                          <a:solidFill>
                            <a:schemeClr val="tx1"/>
                          </a:solidFill>
                          <a:effectLst/>
                          <a:latin typeface="+mn-lt"/>
                          <a:ea typeface="+mn-ea"/>
                        </a:rPr>
                        <a:t>最高数据率较低，价格最低，信号传播距离最远，且不易受阻碍</a:t>
                      </a:r>
                      <a:r>
                        <a:rPr lang="zh-CN" altLang="en-US" sz="2000" b="1" dirty="0">
                          <a:solidFill>
                            <a:schemeClr val="tx1"/>
                          </a:solidFill>
                          <a:effectLst/>
                          <a:latin typeface="+mn-lt"/>
                          <a:ea typeface="+mn-ea"/>
                        </a:rPr>
                        <a:t>。</a:t>
                      </a:r>
                      <a:endParaRPr lang="zh-CN" sz="2000" b="1" dirty="0">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94223">
                <a:tc>
                  <a:txBody>
                    <a:bodyPr/>
                    <a:lstStyle/>
                    <a:p>
                      <a:pPr algn="l">
                        <a:lnSpc>
                          <a:spcPct val="100000"/>
                        </a:lnSpc>
                        <a:spcBef>
                          <a:spcPts val="0"/>
                        </a:spcBef>
                        <a:spcAft>
                          <a:spcPts val="0"/>
                        </a:spcAft>
                        <a:tabLst>
                          <a:tab pos="1752600" algn="l"/>
                        </a:tabLst>
                      </a:pPr>
                      <a:r>
                        <a:rPr lang="en-US" sz="2000" b="1" dirty="0">
                          <a:solidFill>
                            <a:srgbClr val="000099"/>
                          </a:solidFill>
                          <a:effectLst/>
                          <a:latin typeface="+mn-lt"/>
                          <a:ea typeface="+mn-ea"/>
                        </a:rPr>
                        <a:t>802.11a</a:t>
                      </a:r>
                      <a:endParaRPr lang="zh-CN" sz="2000" b="1" dirty="0">
                        <a:solidFill>
                          <a:srgbClr val="000099"/>
                        </a:solidFill>
                        <a:effectLst/>
                        <a:latin typeface="+mn-lt"/>
                        <a:ea typeface="+mn-ea"/>
                      </a:endParaRPr>
                    </a:p>
                    <a:p>
                      <a:pPr algn="l">
                        <a:lnSpc>
                          <a:spcPct val="100000"/>
                        </a:lnSpc>
                        <a:spcBef>
                          <a:spcPts val="0"/>
                        </a:spcBef>
                        <a:spcAft>
                          <a:spcPts val="0"/>
                        </a:spcAft>
                        <a:tabLst>
                          <a:tab pos="1752600" algn="l"/>
                        </a:tabLst>
                      </a:pPr>
                      <a:r>
                        <a:rPr lang="en-US" sz="2000" b="1" dirty="0">
                          <a:solidFill>
                            <a:srgbClr val="000099"/>
                          </a:solidFill>
                          <a:effectLst/>
                          <a:latin typeface="+mn-lt"/>
                          <a:ea typeface="+mn-ea"/>
                        </a:rPr>
                        <a:t>(1999</a:t>
                      </a:r>
                      <a:r>
                        <a:rPr lang="zh-CN" sz="2000" b="1" dirty="0">
                          <a:solidFill>
                            <a:srgbClr val="000099"/>
                          </a:solidFill>
                          <a:effectLst/>
                          <a:latin typeface="+mn-lt"/>
                          <a:ea typeface="+mn-ea"/>
                        </a:rPr>
                        <a:t>年</a:t>
                      </a:r>
                      <a:r>
                        <a:rPr lang="en-US" sz="2000" b="1" dirty="0">
                          <a:solidFill>
                            <a:srgbClr val="000099"/>
                          </a:solidFill>
                          <a:effectLst/>
                          <a:latin typeface="+mn-lt"/>
                          <a:ea typeface="+mn-ea"/>
                        </a:rPr>
                        <a:t>)</a:t>
                      </a:r>
                      <a:endParaRPr lang="zh-CN" sz="2000" b="1" dirty="0">
                        <a:solidFill>
                          <a:srgbClr val="000099"/>
                        </a:solidFill>
                        <a:effectLst/>
                        <a:latin typeface="+mn-lt"/>
                        <a:ea typeface="+mn-ea"/>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en-US" sz="2000" b="1">
                          <a:solidFill>
                            <a:schemeClr val="tx1"/>
                          </a:solidFill>
                          <a:effectLst/>
                          <a:latin typeface="+mn-lt"/>
                          <a:ea typeface="+mn-ea"/>
                        </a:rPr>
                        <a:t>5 GHz</a:t>
                      </a:r>
                      <a:endParaRPr lang="zh-CN" sz="2000" b="1">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zh-CN" sz="2000" b="1" dirty="0">
                          <a:solidFill>
                            <a:schemeClr val="tx1"/>
                          </a:solidFill>
                          <a:effectLst/>
                          <a:latin typeface="+mn-lt"/>
                          <a:ea typeface="+mn-ea"/>
                        </a:rPr>
                        <a:t>最高</a:t>
                      </a:r>
                      <a:r>
                        <a:rPr lang="en-US" sz="2000" b="1" dirty="0">
                          <a:solidFill>
                            <a:schemeClr val="tx1"/>
                          </a:solidFill>
                          <a:effectLst/>
                          <a:latin typeface="+mn-lt"/>
                          <a:ea typeface="+mn-ea"/>
                        </a:rPr>
                        <a:t>54 Mbit/s</a:t>
                      </a:r>
                      <a:endParaRPr lang="zh-CN" sz="2000" b="1" dirty="0">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en-US" sz="2000" b="1" dirty="0">
                          <a:solidFill>
                            <a:schemeClr val="tx1"/>
                          </a:solidFill>
                          <a:effectLst/>
                          <a:latin typeface="+mn-lt"/>
                          <a:ea typeface="+mn-ea"/>
                        </a:rPr>
                        <a:t>OFDM</a:t>
                      </a:r>
                      <a:endParaRPr lang="zh-CN" sz="2000" b="1" dirty="0">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zh-CN" sz="2000" b="1">
                          <a:solidFill>
                            <a:schemeClr val="tx1"/>
                          </a:solidFill>
                          <a:effectLst/>
                          <a:latin typeface="+mn-lt"/>
                          <a:ea typeface="+mn-ea"/>
                        </a:rPr>
                        <a:t>最高数据率较高，支持更多用户同时上网，价格最高，信号传播距离较短，且易受阻碍。</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994223">
                <a:tc>
                  <a:txBody>
                    <a:bodyPr/>
                    <a:lstStyle/>
                    <a:p>
                      <a:pPr algn="l">
                        <a:lnSpc>
                          <a:spcPct val="100000"/>
                        </a:lnSpc>
                        <a:spcBef>
                          <a:spcPts val="0"/>
                        </a:spcBef>
                        <a:spcAft>
                          <a:spcPts val="0"/>
                        </a:spcAft>
                        <a:tabLst>
                          <a:tab pos="1752600" algn="l"/>
                        </a:tabLst>
                      </a:pPr>
                      <a:r>
                        <a:rPr lang="en-US" sz="2000" b="1" dirty="0">
                          <a:solidFill>
                            <a:srgbClr val="000099"/>
                          </a:solidFill>
                          <a:effectLst/>
                          <a:latin typeface="+mn-lt"/>
                          <a:ea typeface="+mn-ea"/>
                        </a:rPr>
                        <a:t>802.11g</a:t>
                      </a:r>
                      <a:endParaRPr lang="zh-CN" sz="2000" b="1" dirty="0">
                        <a:solidFill>
                          <a:srgbClr val="000099"/>
                        </a:solidFill>
                        <a:effectLst/>
                        <a:latin typeface="+mn-lt"/>
                        <a:ea typeface="+mn-ea"/>
                      </a:endParaRPr>
                    </a:p>
                    <a:p>
                      <a:pPr algn="l">
                        <a:lnSpc>
                          <a:spcPct val="100000"/>
                        </a:lnSpc>
                        <a:spcBef>
                          <a:spcPts val="0"/>
                        </a:spcBef>
                        <a:spcAft>
                          <a:spcPts val="0"/>
                        </a:spcAft>
                        <a:tabLst>
                          <a:tab pos="1752600" algn="l"/>
                        </a:tabLst>
                      </a:pPr>
                      <a:r>
                        <a:rPr lang="en-US" sz="2000" b="1" dirty="0">
                          <a:solidFill>
                            <a:srgbClr val="000099"/>
                          </a:solidFill>
                          <a:effectLst/>
                          <a:latin typeface="+mn-lt"/>
                          <a:ea typeface="+mn-ea"/>
                        </a:rPr>
                        <a:t>(2003</a:t>
                      </a:r>
                      <a:r>
                        <a:rPr lang="zh-CN" sz="2000" b="1" dirty="0">
                          <a:solidFill>
                            <a:srgbClr val="000099"/>
                          </a:solidFill>
                          <a:effectLst/>
                          <a:latin typeface="+mn-lt"/>
                          <a:ea typeface="+mn-ea"/>
                        </a:rPr>
                        <a:t>年</a:t>
                      </a:r>
                      <a:r>
                        <a:rPr lang="en-US" sz="2000" b="1" dirty="0">
                          <a:solidFill>
                            <a:srgbClr val="000099"/>
                          </a:solidFill>
                          <a:effectLst/>
                          <a:latin typeface="+mn-lt"/>
                          <a:ea typeface="+mn-ea"/>
                        </a:rPr>
                        <a:t>)</a:t>
                      </a:r>
                      <a:endParaRPr lang="zh-CN" sz="2000" b="1" dirty="0">
                        <a:solidFill>
                          <a:srgbClr val="000099"/>
                        </a:solidFill>
                        <a:effectLst/>
                        <a:latin typeface="+mn-lt"/>
                        <a:ea typeface="+mn-ea"/>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en-US" sz="2000" b="1">
                          <a:solidFill>
                            <a:schemeClr val="tx1"/>
                          </a:solidFill>
                          <a:effectLst/>
                          <a:latin typeface="+mn-lt"/>
                          <a:ea typeface="+mn-ea"/>
                        </a:rPr>
                        <a:t>2.4 GHz</a:t>
                      </a:r>
                      <a:endParaRPr lang="zh-CN" sz="2000" b="1">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zh-CN" sz="2000" b="1">
                          <a:solidFill>
                            <a:schemeClr val="tx1"/>
                          </a:solidFill>
                          <a:effectLst/>
                          <a:latin typeface="+mn-lt"/>
                          <a:ea typeface="+mn-ea"/>
                        </a:rPr>
                        <a:t>最高</a:t>
                      </a:r>
                      <a:r>
                        <a:rPr lang="en-US" sz="2000" b="1">
                          <a:solidFill>
                            <a:schemeClr val="tx1"/>
                          </a:solidFill>
                          <a:effectLst/>
                          <a:latin typeface="+mn-lt"/>
                          <a:ea typeface="+mn-ea"/>
                        </a:rPr>
                        <a:t>54 Mbit/s</a:t>
                      </a:r>
                      <a:endParaRPr lang="zh-CN" sz="2000" b="1">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en-US" sz="2000" b="1">
                          <a:solidFill>
                            <a:schemeClr val="tx1"/>
                          </a:solidFill>
                          <a:effectLst/>
                          <a:latin typeface="+mn-lt"/>
                          <a:ea typeface="+mn-ea"/>
                        </a:rPr>
                        <a:t>OFDM</a:t>
                      </a:r>
                      <a:endParaRPr lang="zh-CN" sz="2000" b="1">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zh-CN" sz="2000" b="1">
                          <a:solidFill>
                            <a:schemeClr val="tx1"/>
                          </a:solidFill>
                          <a:effectLst/>
                          <a:latin typeface="+mn-lt"/>
                          <a:ea typeface="+mn-ea"/>
                        </a:rPr>
                        <a:t>最高数据率较高，支持更多用户同时上网，信号传播距离最远，且不易受阻碍，价格比</a:t>
                      </a:r>
                      <a:r>
                        <a:rPr lang="en-US" sz="2000" b="1">
                          <a:solidFill>
                            <a:schemeClr val="tx1"/>
                          </a:solidFill>
                          <a:effectLst/>
                          <a:latin typeface="+mn-lt"/>
                          <a:ea typeface="+mn-ea"/>
                        </a:rPr>
                        <a:t>802.11b</a:t>
                      </a:r>
                      <a:r>
                        <a:rPr lang="zh-CN" sz="2000" b="1">
                          <a:solidFill>
                            <a:schemeClr val="tx1"/>
                          </a:solidFill>
                          <a:effectLst/>
                          <a:latin typeface="+mn-lt"/>
                          <a:ea typeface="+mn-ea"/>
                        </a:rPr>
                        <a:t>贵。</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325630">
                <a:tc>
                  <a:txBody>
                    <a:bodyPr/>
                    <a:lstStyle/>
                    <a:p>
                      <a:pPr algn="l">
                        <a:lnSpc>
                          <a:spcPct val="100000"/>
                        </a:lnSpc>
                        <a:spcBef>
                          <a:spcPts val="0"/>
                        </a:spcBef>
                        <a:spcAft>
                          <a:spcPts val="0"/>
                        </a:spcAft>
                        <a:tabLst>
                          <a:tab pos="1752600" algn="l"/>
                        </a:tabLst>
                      </a:pPr>
                      <a:r>
                        <a:rPr lang="en-US" sz="2000" b="1" dirty="0">
                          <a:solidFill>
                            <a:srgbClr val="000099"/>
                          </a:solidFill>
                          <a:effectLst/>
                          <a:latin typeface="+mn-lt"/>
                          <a:ea typeface="+mn-ea"/>
                        </a:rPr>
                        <a:t>802.11n</a:t>
                      </a:r>
                      <a:endParaRPr lang="zh-CN" sz="2000" b="1" dirty="0">
                        <a:solidFill>
                          <a:srgbClr val="000099"/>
                        </a:solidFill>
                        <a:effectLst/>
                        <a:latin typeface="+mn-lt"/>
                        <a:ea typeface="+mn-ea"/>
                      </a:endParaRPr>
                    </a:p>
                    <a:p>
                      <a:pPr algn="l">
                        <a:lnSpc>
                          <a:spcPct val="100000"/>
                        </a:lnSpc>
                        <a:spcBef>
                          <a:spcPts val="0"/>
                        </a:spcBef>
                        <a:spcAft>
                          <a:spcPts val="0"/>
                        </a:spcAft>
                        <a:tabLst>
                          <a:tab pos="1752600" algn="l"/>
                        </a:tabLst>
                      </a:pPr>
                      <a:r>
                        <a:rPr lang="en-US" sz="2000" b="1" dirty="0">
                          <a:solidFill>
                            <a:srgbClr val="000099"/>
                          </a:solidFill>
                          <a:effectLst/>
                          <a:latin typeface="+mn-lt"/>
                          <a:ea typeface="+mn-ea"/>
                        </a:rPr>
                        <a:t>(2009</a:t>
                      </a:r>
                      <a:r>
                        <a:rPr lang="zh-CN" sz="2000" b="1" dirty="0">
                          <a:solidFill>
                            <a:srgbClr val="000099"/>
                          </a:solidFill>
                          <a:effectLst/>
                          <a:latin typeface="+mn-lt"/>
                          <a:ea typeface="+mn-ea"/>
                        </a:rPr>
                        <a:t>年</a:t>
                      </a:r>
                      <a:r>
                        <a:rPr lang="en-US" sz="2000" b="1" dirty="0">
                          <a:solidFill>
                            <a:srgbClr val="000099"/>
                          </a:solidFill>
                          <a:effectLst/>
                          <a:latin typeface="+mn-lt"/>
                          <a:ea typeface="+mn-ea"/>
                        </a:rPr>
                        <a:t>)</a:t>
                      </a:r>
                      <a:endParaRPr lang="zh-CN" sz="2000" b="1" dirty="0">
                        <a:solidFill>
                          <a:srgbClr val="000099"/>
                        </a:solidFill>
                        <a:effectLst/>
                        <a:latin typeface="+mn-lt"/>
                        <a:ea typeface="+mn-ea"/>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pPr>
                      <a:r>
                        <a:rPr lang="en-US" sz="2000" b="1" kern="100">
                          <a:solidFill>
                            <a:schemeClr val="tx1"/>
                          </a:solidFill>
                          <a:effectLst/>
                          <a:latin typeface="+mn-lt"/>
                          <a:ea typeface="+mn-ea"/>
                        </a:rPr>
                        <a:t>2.4 / 5 GHz</a:t>
                      </a:r>
                      <a:endParaRPr lang="zh-CN" sz="2000" b="1" kern="1050">
                        <a:solidFill>
                          <a:schemeClr val="tx1"/>
                        </a:solidFill>
                        <a:effectLst/>
                        <a:latin typeface="+mn-lt"/>
                        <a:ea typeface="+mn-ea"/>
                      </a:endParaRPr>
                    </a:p>
                    <a:p>
                      <a:pPr algn="l">
                        <a:lnSpc>
                          <a:spcPct val="100000"/>
                        </a:lnSpc>
                        <a:spcBef>
                          <a:spcPts val="0"/>
                        </a:spcBef>
                        <a:spcAft>
                          <a:spcPts val="0"/>
                        </a:spcAft>
                        <a:tabLst>
                          <a:tab pos="1752600" algn="l"/>
                        </a:tabLst>
                      </a:pPr>
                      <a:r>
                        <a:rPr lang="en-US" sz="2000" b="1">
                          <a:solidFill>
                            <a:schemeClr val="tx1"/>
                          </a:solidFill>
                          <a:effectLst/>
                          <a:latin typeface="+mn-lt"/>
                          <a:ea typeface="+mn-ea"/>
                        </a:rPr>
                        <a:t> </a:t>
                      </a:r>
                      <a:endParaRPr lang="zh-CN" sz="2000" b="1">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zh-CN" sz="2000" b="1" kern="100" spc="-10">
                          <a:solidFill>
                            <a:schemeClr val="tx1"/>
                          </a:solidFill>
                          <a:effectLst/>
                          <a:latin typeface="+mn-lt"/>
                          <a:ea typeface="+mn-ea"/>
                        </a:rPr>
                        <a:t>最高</a:t>
                      </a:r>
                      <a:r>
                        <a:rPr lang="en-US" sz="2000" b="1" kern="100" spc="-10">
                          <a:solidFill>
                            <a:schemeClr val="tx1"/>
                          </a:solidFill>
                          <a:effectLst/>
                          <a:latin typeface="+mn-lt"/>
                          <a:ea typeface="+mn-ea"/>
                        </a:rPr>
                        <a:t>600 Mbit/s</a:t>
                      </a:r>
                      <a:endParaRPr lang="zh-CN" sz="2000" b="1">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pPr>
                      <a:r>
                        <a:rPr lang="en-US" sz="2000" b="1" kern="100" dirty="0">
                          <a:solidFill>
                            <a:schemeClr val="tx1"/>
                          </a:solidFill>
                          <a:effectLst/>
                          <a:latin typeface="+mn-lt"/>
                          <a:ea typeface="+mn-ea"/>
                        </a:rPr>
                        <a:t>MIMO</a:t>
                      </a:r>
                      <a:endParaRPr lang="zh-CN" sz="2000" b="1" kern="1050" dirty="0">
                        <a:solidFill>
                          <a:schemeClr val="tx1"/>
                        </a:solidFill>
                        <a:effectLst/>
                        <a:latin typeface="+mn-lt"/>
                        <a:ea typeface="+mn-ea"/>
                      </a:endParaRPr>
                    </a:p>
                    <a:p>
                      <a:pPr algn="l">
                        <a:lnSpc>
                          <a:spcPct val="100000"/>
                        </a:lnSpc>
                        <a:spcBef>
                          <a:spcPts val="0"/>
                        </a:spcBef>
                        <a:spcAft>
                          <a:spcPts val="0"/>
                        </a:spcAft>
                        <a:tabLst>
                          <a:tab pos="1752600" algn="l"/>
                        </a:tabLst>
                      </a:pPr>
                      <a:r>
                        <a:rPr lang="en-US" sz="2000" b="1" dirty="0">
                          <a:solidFill>
                            <a:schemeClr val="tx1"/>
                          </a:solidFill>
                          <a:effectLst/>
                          <a:latin typeface="+mn-lt"/>
                          <a:ea typeface="+mn-ea"/>
                        </a:rPr>
                        <a:t>OFDM</a:t>
                      </a:r>
                      <a:endParaRPr lang="zh-CN" sz="2000" b="1" dirty="0">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pPr>
                      <a:r>
                        <a:rPr lang="zh-CN" sz="2000" b="1" kern="1050" dirty="0">
                          <a:solidFill>
                            <a:schemeClr val="tx1"/>
                          </a:solidFill>
                          <a:effectLst/>
                          <a:latin typeface="+mn-lt"/>
                          <a:ea typeface="+mn-ea"/>
                        </a:rPr>
                        <a:t>使用多个发射和接收天线达到更高的数据传输率</a:t>
                      </a:r>
                      <a:r>
                        <a:rPr lang="zh-CN" altLang="en-US" sz="2000" b="1" kern="1050" dirty="0">
                          <a:solidFill>
                            <a:schemeClr val="tx1"/>
                          </a:solidFill>
                          <a:effectLst/>
                          <a:latin typeface="+mn-lt"/>
                          <a:ea typeface="+mn-ea"/>
                        </a:rPr>
                        <a:t>。</a:t>
                      </a:r>
                      <a:r>
                        <a:rPr lang="zh-CN" sz="2000" b="1" dirty="0">
                          <a:solidFill>
                            <a:schemeClr val="tx1"/>
                          </a:solidFill>
                          <a:effectLst/>
                          <a:latin typeface="+mn-lt"/>
                          <a:ea typeface="+mn-ea"/>
                        </a:rPr>
                        <a:t>当使用双倍带宽</a:t>
                      </a:r>
                      <a:r>
                        <a:rPr lang="en-US" sz="2000" b="1" dirty="0">
                          <a:solidFill>
                            <a:schemeClr val="tx1"/>
                          </a:solidFill>
                          <a:effectLst/>
                          <a:latin typeface="+mn-lt"/>
                          <a:ea typeface="+mn-ea"/>
                        </a:rPr>
                        <a:t>(40 MHz)</a:t>
                      </a:r>
                      <a:r>
                        <a:rPr lang="zh-CN" sz="2000" b="1" dirty="0">
                          <a:solidFill>
                            <a:schemeClr val="tx1"/>
                          </a:solidFill>
                          <a:effectLst/>
                          <a:latin typeface="+mn-lt"/>
                          <a:ea typeface="+mn-ea"/>
                        </a:rPr>
                        <a:t>时速率可达</a:t>
                      </a:r>
                      <a:r>
                        <a:rPr lang="en-US" sz="2000" b="1" dirty="0">
                          <a:solidFill>
                            <a:schemeClr val="tx1"/>
                          </a:solidFill>
                          <a:effectLst/>
                          <a:latin typeface="+mn-lt"/>
                          <a:ea typeface="+mn-ea"/>
                        </a:rPr>
                        <a:t>600 Mbit/s</a:t>
                      </a:r>
                      <a:r>
                        <a:rPr lang="zh-CN" sz="2000" b="1" dirty="0">
                          <a:solidFill>
                            <a:schemeClr val="tx1"/>
                          </a:solidFill>
                          <a:effectLst/>
                          <a:latin typeface="+mn-lt"/>
                          <a:ea typeface="+mn-ea"/>
                        </a:rPr>
                        <a:t>。</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40336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534E49B-46A2-4541-9080-359253F49FC8}" type="slidenum">
              <a:rPr lang="zh-CN" altLang="en-US" smtClean="0"/>
              <a:pPr eaLnBrk="1" hangingPunct="1"/>
              <a:t>24</a:t>
            </a:fld>
            <a:endParaRPr lang="en-US" altLang="zh-CN" smtClean="0"/>
          </a:p>
        </p:txBody>
      </p:sp>
      <p:sp>
        <p:nvSpPr>
          <p:cNvPr id="240336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5377" name="Rectangle 6"/>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9.1.3  802.11 </a:t>
            </a:r>
            <a:r>
              <a:rPr lang="zh-CN" altLang="en-US" sz="4000" smtClean="0">
                <a:ea typeface="黑体" panose="02010609060101010101" pitchFamily="49" charset="-122"/>
              </a:rPr>
              <a:t>局域网的 </a:t>
            </a:r>
            <a:r>
              <a:rPr lang="en-US" altLang="zh-CN" sz="4000" smtClean="0">
                <a:ea typeface="黑体" panose="02010609060101010101" pitchFamily="49" charset="-122"/>
              </a:rPr>
              <a:t>MAC </a:t>
            </a:r>
            <a:r>
              <a:rPr lang="zh-CN" altLang="en-US" sz="4000" smtClean="0">
                <a:ea typeface="黑体" panose="02010609060101010101" pitchFamily="49" charset="-122"/>
              </a:rPr>
              <a:t>层协议</a:t>
            </a:r>
          </a:p>
        </p:txBody>
      </p:sp>
      <p:sp>
        <p:nvSpPr>
          <p:cNvPr id="307209" name="Rectangle 9"/>
          <p:cNvSpPr>
            <a:spLocks noGrp="1" noChangeArrowheads="1"/>
          </p:cNvSpPr>
          <p:nvPr>
            <p:ph idx="1"/>
          </p:nvPr>
        </p:nvSpPr>
        <p:spPr>
          <a:xfrm>
            <a:off x="495300" y="1196975"/>
            <a:ext cx="9066213" cy="4933950"/>
          </a:xfrm>
        </p:spPr>
        <p:txBody>
          <a:bodyPr/>
          <a:lstStyle/>
          <a:p>
            <a:pPr>
              <a:buFont typeface="Wingdings" panose="05000000000000000000" pitchFamily="2" charset="2"/>
              <a:buNone/>
            </a:pPr>
            <a:r>
              <a:rPr lang="en-US" altLang="zh-CN" sz="4000" dirty="0" smtClean="0">
                <a:solidFill>
                  <a:srgbClr val="333399"/>
                </a:solidFill>
                <a:latin typeface="Times New Roman" panose="02020603050405020304" pitchFamily="18" charset="0"/>
                <a:ea typeface="黑体" panose="02010609060101010101" pitchFamily="49" charset="-122"/>
              </a:rPr>
              <a:t>1. CSMA/CA </a:t>
            </a:r>
            <a:r>
              <a:rPr lang="zh-CN" altLang="en-US" sz="4000" dirty="0" smtClean="0">
                <a:solidFill>
                  <a:srgbClr val="333399"/>
                </a:solidFill>
                <a:latin typeface="Times New Roman" panose="02020603050405020304" pitchFamily="18" charset="0"/>
                <a:ea typeface="黑体" panose="02010609060101010101" pitchFamily="49" charset="-122"/>
              </a:rPr>
              <a:t>协议 </a:t>
            </a:r>
            <a:endParaRPr lang="en-US" altLang="zh-CN" sz="4000" dirty="0" smtClean="0">
              <a:solidFill>
                <a:srgbClr val="333399"/>
              </a:solidFill>
              <a:latin typeface="Times New Roman" panose="02020603050405020304" pitchFamily="18" charset="0"/>
              <a:ea typeface="黑体" panose="02010609060101010101" pitchFamily="49" charset="-122"/>
            </a:endParaRPr>
          </a:p>
          <a:p>
            <a:pPr>
              <a:lnSpc>
                <a:spcPct val="120000"/>
              </a:lnSpc>
            </a:pPr>
            <a:r>
              <a:rPr lang="zh-CN" altLang="en-US" sz="2800" dirty="0" smtClean="0">
                <a:ea typeface="黑体" panose="02010609060101010101" pitchFamily="49" charset="-122"/>
              </a:rPr>
              <a:t>无线局域网</a:t>
            </a:r>
            <a:r>
              <a:rPr lang="zh-CN" altLang="en-US" sz="2800" dirty="0" smtClean="0">
                <a:solidFill>
                  <a:srgbClr val="0000FF"/>
                </a:solidFill>
                <a:ea typeface="黑体" panose="02010609060101010101" pitchFamily="49" charset="-122"/>
              </a:rPr>
              <a:t>不能简单</a:t>
            </a:r>
            <a:r>
              <a:rPr lang="zh-CN" altLang="en-US" sz="2800" dirty="0" smtClean="0">
                <a:ea typeface="黑体" panose="02010609060101010101" pitchFamily="49" charset="-122"/>
              </a:rPr>
              <a:t>地</a:t>
            </a:r>
            <a:r>
              <a:rPr lang="zh-CN" altLang="en-US" sz="2800" dirty="0" smtClean="0">
                <a:solidFill>
                  <a:srgbClr val="0000FF"/>
                </a:solidFill>
                <a:ea typeface="黑体" panose="02010609060101010101" pitchFamily="49" charset="-122"/>
              </a:rPr>
              <a:t>搬用 </a:t>
            </a:r>
            <a:r>
              <a:rPr lang="en-US" altLang="zh-CN" sz="2800" dirty="0" smtClean="0">
                <a:solidFill>
                  <a:srgbClr val="0000FF"/>
                </a:solidFill>
                <a:ea typeface="黑体" panose="02010609060101010101" pitchFamily="49" charset="-122"/>
              </a:rPr>
              <a:t>CSMA/CD </a:t>
            </a:r>
            <a:r>
              <a:rPr lang="zh-CN" altLang="en-US" sz="2800" dirty="0" smtClean="0">
                <a:ea typeface="黑体" panose="02010609060101010101" pitchFamily="49" charset="-122"/>
              </a:rPr>
              <a:t>协议。这里主要有两个原因：</a:t>
            </a:r>
          </a:p>
          <a:p>
            <a:pPr lvl="1">
              <a:lnSpc>
                <a:spcPct val="120000"/>
              </a:lnSpc>
            </a:pPr>
            <a:r>
              <a:rPr lang="zh-CN" altLang="zh-CN" sz="2400" dirty="0" smtClean="0">
                <a:ea typeface="黑体" panose="02010609060101010101" pitchFamily="49" charset="-122"/>
              </a:rPr>
              <a:t>“</a:t>
            </a:r>
            <a:r>
              <a:rPr lang="zh-CN" altLang="zh-CN" sz="2400" dirty="0" smtClean="0">
                <a:solidFill>
                  <a:srgbClr val="0000FF"/>
                </a:solidFill>
                <a:ea typeface="黑体" panose="02010609060101010101" pitchFamily="49" charset="-122"/>
              </a:rPr>
              <a:t>碰撞检测</a:t>
            </a:r>
            <a:r>
              <a:rPr lang="zh-CN" altLang="zh-CN" sz="2400" dirty="0" smtClean="0">
                <a:ea typeface="黑体" panose="02010609060101010101" pitchFamily="49" charset="-122"/>
              </a:rPr>
              <a:t>”</a:t>
            </a:r>
            <a:r>
              <a:rPr lang="zh-CN" altLang="en-US" sz="2400" dirty="0" smtClean="0">
                <a:ea typeface="黑体" panose="02010609060101010101" pitchFamily="49" charset="-122"/>
              </a:rPr>
              <a:t>要求一个站点在发送本站数据的同时，还必须不间断地检测信道，但</a:t>
            </a:r>
            <a:r>
              <a:rPr lang="zh-CN" altLang="zh-CN" sz="2400" dirty="0" smtClean="0">
                <a:ea typeface="黑体" panose="02010609060101010101" pitchFamily="49" charset="-122"/>
              </a:rPr>
              <a:t>接收到的信号强度往往会远远小于发送信号的强度</a:t>
            </a:r>
            <a:r>
              <a:rPr lang="zh-CN" altLang="en-US" sz="2400" dirty="0" smtClean="0">
                <a:ea typeface="黑体" panose="02010609060101010101" pitchFamily="49" charset="-122"/>
              </a:rPr>
              <a:t>，在无线局域网的设备中要实现这种功能就</a:t>
            </a:r>
            <a:r>
              <a:rPr lang="zh-CN" altLang="en-US" sz="2400" dirty="0" smtClean="0">
                <a:solidFill>
                  <a:srgbClr val="FF0000"/>
                </a:solidFill>
                <a:ea typeface="黑体" panose="02010609060101010101" pitchFamily="49" charset="-122"/>
              </a:rPr>
              <a:t>花费过大。</a:t>
            </a:r>
          </a:p>
          <a:p>
            <a:pPr lvl="1">
              <a:lnSpc>
                <a:spcPct val="120000"/>
              </a:lnSpc>
            </a:pPr>
            <a:r>
              <a:rPr lang="zh-CN" altLang="en-US" sz="2400" dirty="0" smtClean="0">
                <a:ea typeface="黑体" panose="02010609060101010101" pitchFamily="49" charset="-122"/>
              </a:rPr>
              <a:t>即使能够实现碰撞检测的功能，并且在发送数据时检测到信道是空闲的时候，在接收端仍然有</a:t>
            </a:r>
            <a:r>
              <a:rPr lang="zh-CN" altLang="en-US" sz="2400" dirty="0" smtClean="0">
                <a:solidFill>
                  <a:srgbClr val="FF0000"/>
                </a:solidFill>
                <a:ea typeface="黑体" panose="02010609060101010101" pitchFamily="49" charset="-122"/>
              </a:rPr>
              <a:t>可能发生碰撞。  </a:t>
            </a:r>
          </a:p>
        </p:txBody>
      </p:sp>
      <p:sp>
        <p:nvSpPr>
          <p:cNvPr id="24053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776E7EE-2396-4F26-A849-0070CC635099}" type="slidenum">
              <a:rPr lang="zh-CN" altLang="en-US" smtClean="0"/>
              <a:pPr eaLnBrk="1" hangingPunct="1"/>
              <a:t>25</a:t>
            </a:fld>
            <a:endParaRPr lang="en-US" altLang="zh-CN" smtClean="0"/>
          </a:p>
        </p:txBody>
      </p:sp>
      <p:sp>
        <p:nvSpPr>
          <p:cNvPr id="24053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0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720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01" name="Rectangle 6"/>
          <p:cNvSpPr>
            <a:spLocks noGrp="1" noChangeArrowheads="1"/>
          </p:cNvSpPr>
          <p:nvPr>
            <p:ph type="title"/>
          </p:nvPr>
        </p:nvSpPr>
        <p:spPr/>
        <p:txBody>
          <a:bodyPr/>
          <a:lstStyle/>
          <a:p>
            <a:pPr algn="ctr"/>
            <a:r>
              <a:rPr lang="zh-CN" altLang="en-US" smtClean="0">
                <a:ea typeface="黑体" panose="02010609060101010101" pitchFamily="49" charset="-122"/>
              </a:rPr>
              <a:t>无线局域网的特殊问题 </a:t>
            </a:r>
          </a:p>
        </p:txBody>
      </p:sp>
      <p:sp>
        <p:nvSpPr>
          <p:cNvPr id="309327" name="Text Box 79"/>
          <p:cNvSpPr txBox="1">
            <a:spLocks noChangeArrowheads="1"/>
          </p:cNvSpPr>
          <p:nvPr/>
        </p:nvSpPr>
        <p:spPr bwMode="auto">
          <a:xfrm>
            <a:off x="573088" y="5454650"/>
            <a:ext cx="9028112" cy="954088"/>
          </a:xfrm>
          <a:prstGeom prst="rect">
            <a:avLst/>
          </a:prstGeom>
          <a:solidFill>
            <a:srgbClr val="FFFF66"/>
          </a:solidFill>
          <a:ln w="9525">
            <a:solidFill>
              <a:srgbClr val="333399"/>
            </a:solidFill>
            <a:miter lim="800000"/>
            <a:headEnd/>
            <a:tailEnd/>
          </a:ln>
        </p:spPr>
        <p:txBody>
          <a:bodyPr wrap="none">
            <a:spAutoFit/>
          </a:bodyPr>
          <a:lstStyle/>
          <a:p>
            <a:pPr algn="ctr" eaLnBrk="0" hangingPunct="0"/>
            <a:r>
              <a:rPr lang="zh-CN" altLang="en-US" sz="2800" b="1">
                <a:solidFill>
                  <a:srgbClr val="000099"/>
                </a:solidFill>
                <a:ea typeface="宋体" panose="02010600030101010101" pitchFamily="2" charset="-122"/>
              </a:rPr>
              <a:t>当 </a:t>
            </a:r>
            <a:r>
              <a:rPr lang="en-US" altLang="zh-CN" sz="2800" b="1">
                <a:solidFill>
                  <a:srgbClr val="000099"/>
                </a:solidFill>
                <a:ea typeface="宋体" panose="02010600030101010101" pitchFamily="2" charset="-122"/>
              </a:rPr>
              <a:t>A </a:t>
            </a:r>
            <a:r>
              <a:rPr lang="zh-CN" altLang="en-US" sz="2800" b="1">
                <a:solidFill>
                  <a:srgbClr val="000099"/>
                </a:solidFill>
                <a:ea typeface="宋体" panose="02010600030101010101" pitchFamily="2" charset="-122"/>
              </a:rPr>
              <a:t>和 </a:t>
            </a:r>
            <a:r>
              <a:rPr lang="en-US" altLang="zh-CN" sz="2800" b="1">
                <a:solidFill>
                  <a:srgbClr val="000099"/>
                </a:solidFill>
                <a:ea typeface="宋体" panose="02010600030101010101" pitchFamily="2" charset="-122"/>
              </a:rPr>
              <a:t>C </a:t>
            </a:r>
            <a:r>
              <a:rPr lang="zh-CN" altLang="en-US" sz="2800" b="1">
                <a:solidFill>
                  <a:srgbClr val="000099"/>
                </a:solidFill>
                <a:ea typeface="宋体" panose="02010600030101010101" pitchFamily="2" charset="-122"/>
              </a:rPr>
              <a:t>检测不到无线信号时，都以为 </a:t>
            </a:r>
            <a:r>
              <a:rPr lang="en-US" altLang="zh-CN" sz="2800" b="1">
                <a:solidFill>
                  <a:srgbClr val="000099"/>
                </a:solidFill>
                <a:ea typeface="宋体" panose="02010600030101010101" pitchFamily="2" charset="-122"/>
              </a:rPr>
              <a:t>B </a:t>
            </a:r>
            <a:r>
              <a:rPr lang="zh-CN" altLang="en-US" sz="2800" b="1">
                <a:solidFill>
                  <a:srgbClr val="000099"/>
                </a:solidFill>
                <a:ea typeface="宋体" panose="02010600030101010101" pitchFamily="2" charset="-122"/>
              </a:rPr>
              <a:t>是空闲的，</a:t>
            </a:r>
          </a:p>
          <a:p>
            <a:pPr algn="ctr" eaLnBrk="0" hangingPunct="0"/>
            <a:r>
              <a:rPr lang="zh-CN" altLang="en-US" sz="2800" b="1">
                <a:solidFill>
                  <a:srgbClr val="000099"/>
                </a:solidFill>
                <a:ea typeface="宋体" panose="02010600030101010101" pitchFamily="2" charset="-122"/>
              </a:rPr>
              <a:t>因而都向 </a:t>
            </a:r>
            <a:r>
              <a:rPr lang="en-US" altLang="zh-CN" sz="2800" b="1">
                <a:solidFill>
                  <a:srgbClr val="000099"/>
                </a:solidFill>
                <a:ea typeface="宋体" panose="02010600030101010101" pitchFamily="2" charset="-122"/>
              </a:rPr>
              <a:t>B </a:t>
            </a:r>
            <a:r>
              <a:rPr lang="zh-CN" altLang="en-US" sz="2800" b="1">
                <a:solidFill>
                  <a:srgbClr val="000099"/>
                </a:solidFill>
                <a:ea typeface="宋体" panose="02010600030101010101" pitchFamily="2" charset="-122"/>
              </a:rPr>
              <a:t>发送数据，结果发生碰撞。</a:t>
            </a:r>
          </a:p>
        </p:txBody>
      </p:sp>
      <p:sp>
        <p:nvSpPr>
          <p:cNvPr id="309333" name="Text Box 85"/>
          <p:cNvSpPr txBox="1">
            <a:spLocks noChangeArrowheads="1"/>
          </p:cNvSpPr>
          <p:nvPr/>
        </p:nvSpPr>
        <p:spPr bwMode="auto">
          <a:xfrm>
            <a:off x="573088" y="188913"/>
            <a:ext cx="8843962" cy="1076325"/>
          </a:xfrm>
          <a:prstGeom prst="rect">
            <a:avLst/>
          </a:prstGeom>
          <a:solidFill>
            <a:srgbClr val="00FFFF"/>
          </a:solidFill>
          <a:ln w="9525">
            <a:solidFill>
              <a:srgbClr val="333399"/>
            </a:solidFill>
            <a:miter lim="800000"/>
            <a:headEnd/>
            <a:tailEnd/>
          </a:ln>
        </p:spPr>
        <p:txBody>
          <a:bodyPr>
            <a:spAutoFit/>
          </a:bodyPr>
          <a:lstStyle/>
          <a:p>
            <a:pPr algn="ctr" eaLnBrk="0" hangingPunct="0"/>
            <a:r>
              <a:rPr lang="zh-CN" altLang="en-US" sz="3200" b="1" dirty="0">
                <a:solidFill>
                  <a:srgbClr val="333399"/>
                </a:solidFill>
                <a:ea typeface="宋体" panose="02010600030101010101" pitchFamily="2" charset="-122"/>
              </a:rPr>
              <a:t>这种未能检测出媒体上已存在的信号的问题</a:t>
            </a:r>
          </a:p>
          <a:p>
            <a:pPr algn="ctr" eaLnBrk="0" hangingPunct="0"/>
            <a:r>
              <a:rPr lang="zh-CN" altLang="en-US" sz="3200" b="1" dirty="0">
                <a:solidFill>
                  <a:srgbClr val="333399"/>
                </a:solidFill>
                <a:ea typeface="宋体" panose="02010600030101010101" pitchFamily="2" charset="-122"/>
              </a:rPr>
              <a:t>叫做</a:t>
            </a:r>
            <a:r>
              <a:rPr lang="zh-CN" altLang="en-US" sz="3200" b="1" dirty="0">
                <a:solidFill>
                  <a:srgbClr val="FF0000"/>
                </a:solidFill>
                <a:ea typeface="宋体" panose="02010600030101010101" pitchFamily="2" charset="-122"/>
              </a:rPr>
              <a:t>隐蔽站问题</a:t>
            </a:r>
            <a:r>
              <a:rPr lang="en-US" altLang="zh-CN" sz="3200" b="1" dirty="0">
                <a:solidFill>
                  <a:srgbClr val="333399"/>
                </a:solidFill>
                <a:ea typeface="宋体" panose="02010600030101010101" pitchFamily="2" charset="-122"/>
              </a:rPr>
              <a:t>(hidden station problem) </a:t>
            </a:r>
          </a:p>
        </p:txBody>
      </p:sp>
      <p:grpSp>
        <p:nvGrpSpPr>
          <p:cNvPr id="3" name="组合 2"/>
          <p:cNvGrpSpPr>
            <a:grpSpLocks/>
          </p:cNvGrpSpPr>
          <p:nvPr/>
        </p:nvGrpSpPr>
        <p:grpSpPr bwMode="auto">
          <a:xfrm>
            <a:off x="4675188" y="1628775"/>
            <a:ext cx="3708400" cy="3695700"/>
            <a:chOff x="4648728" y="1628800"/>
            <a:chExt cx="3580732" cy="3696270"/>
          </a:xfrm>
        </p:grpSpPr>
        <p:sp>
          <p:nvSpPr>
            <p:cNvPr id="2406405" name="Oval 86"/>
            <p:cNvSpPr>
              <a:spLocks noChangeArrowheads="1"/>
            </p:cNvSpPr>
            <p:nvPr/>
          </p:nvSpPr>
          <p:spPr bwMode="auto">
            <a:xfrm>
              <a:off x="4772679" y="2310408"/>
              <a:ext cx="3456781" cy="3014662"/>
            </a:xfrm>
            <a:prstGeom prst="ellipse">
              <a:avLst/>
            </a:prstGeom>
            <a:solidFill>
              <a:srgbClr val="FFFF99"/>
            </a:solidFill>
            <a:ln w="19050">
              <a:solidFill>
                <a:schemeClr val="tx2"/>
              </a:solidFill>
              <a:prstDash val="dash"/>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06" name="Text Box 89"/>
            <p:cNvSpPr txBox="1">
              <a:spLocks noChangeArrowheads="1"/>
            </p:cNvSpPr>
            <p:nvPr/>
          </p:nvSpPr>
          <p:spPr bwMode="auto">
            <a:xfrm>
              <a:off x="4648728" y="1628800"/>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400" b="1">
                  <a:solidFill>
                    <a:srgbClr val="000099"/>
                  </a:solidFill>
                  <a:ea typeface="宋体" panose="02010600030101010101" pitchFamily="2" charset="-122"/>
                </a:rPr>
                <a:t>C </a:t>
              </a:r>
              <a:r>
                <a:rPr lang="zh-CN" altLang="en-US" sz="2400" b="1">
                  <a:solidFill>
                    <a:srgbClr val="000099"/>
                  </a:solidFill>
                  <a:ea typeface="宋体" panose="02010600030101010101" pitchFamily="2" charset="-122"/>
                </a:rPr>
                <a:t>的作用范围</a:t>
              </a:r>
            </a:p>
          </p:txBody>
        </p:sp>
        <p:sp>
          <p:nvSpPr>
            <p:cNvPr id="2406407" name="Line 139"/>
            <p:cNvSpPr>
              <a:spLocks noChangeShapeType="1"/>
            </p:cNvSpPr>
            <p:nvPr/>
          </p:nvSpPr>
          <p:spPr bwMode="auto">
            <a:xfrm>
              <a:off x="5169024" y="2060848"/>
              <a:ext cx="424788" cy="390525"/>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406408" name="Text Box 92"/>
          <p:cNvSpPr txBox="1">
            <a:spLocks noChangeArrowheads="1"/>
          </p:cNvSpPr>
          <p:nvPr/>
        </p:nvSpPr>
        <p:spPr bwMode="auto">
          <a:xfrm>
            <a:off x="6435725" y="4076700"/>
            <a:ext cx="407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C</a:t>
            </a:r>
          </a:p>
        </p:txBody>
      </p:sp>
      <p:sp>
        <p:nvSpPr>
          <p:cNvPr id="2406409" name="Text Box 93"/>
          <p:cNvSpPr txBox="1">
            <a:spLocks noChangeArrowheads="1"/>
          </p:cNvSpPr>
          <p:nvPr/>
        </p:nvSpPr>
        <p:spPr bwMode="auto">
          <a:xfrm>
            <a:off x="7959725" y="4076700"/>
            <a:ext cx="407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D</a:t>
            </a:r>
          </a:p>
        </p:txBody>
      </p:sp>
      <p:grpSp>
        <p:nvGrpSpPr>
          <p:cNvPr id="2406410" name="Group 116"/>
          <p:cNvGrpSpPr>
            <a:grpSpLocks/>
          </p:cNvGrpSpPr>
          <p:nvPr/>
        </p:nvGrpSpPr>
        <p:grpSpPr bwMode="auto">
          <a:xfrm>
            <a:off x="7675563" y="3535363"/>
            <a:ext cx="877887" cy="547687"/>
            <a:chOff x="762" y="2391"/>
            <a:chExt cx="423" cy="312"/>
          </a:xfrm>
        </p:grpSpPr>
        <p:grpSp>
          <p:nvGrpSpPr>
            <p:cNvPr id="2406411" name="Group 117"/>
            <p:cNvGrpSpPr>
              <a:grpSpLocks/>
            </p:cNvGrpSpPr>
            <p:nvPr/>
          </p:nvGrpSpPr>
          <p:grpSpPr bwMode="auto">
            <a:xfrm>
              <a:off x="867" y="2432"/>
              <a:ext cx="318" cy="271"/>
              <a:chOff x="657" y="1570"/>
              <a:chExt cx="318" cy="311"/>
            </a:xfrm>
          </p:grpSpPr>
          <p:sp>
            <p:nvSpPr>
              <p:cNvPr id="2406412" name="Line 11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06413" name="Picture 119" descr="laptop cop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6414" name="Group 120"/>
            <p:cNvGrpSpPr>
              <a:grpSpLocks/>
            </p:cNvGrpSpPr>
            <p:nvPr/>
          </p:nvGrpSpPr>
          <p:grpSpPr bwMode="auto">
            <a:xfrm>
              <a:off x="762" y="2391"/>
              <a:ext cx="306" cy="90"/>
              <a:chOff x="748" y="2251"/>
              <a:chExt cx="306" cy="90"/>
            </a:xfrm>
          </p:grpSpPr>
          <p:sp>
            <p:nvSpPr>
              <p:cNvPr id="2406415" name="AutoShape 12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16" name="AutoShape 12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17" name="AutoShape 12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18" name="AutoShape 12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19" name="AutoShape 12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20" name="AutoShape 12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06421" name="Group 127"/>
          <p:cNvGrpSpPr>
            <a:grpSpLocks/>
          </p:cNvGrpSpPr>
          <p:nvPr/>
        </p:nvGrpSpPr>
        <p:grpSpPr bwMode="auto">
          <a:xfrm>
            <a:off x="6175375" y="3535363"/>
            <a:ext cx="876300" cy="547687"/>
            <a:chOff x="762" y="2391"/>
            <a:chExt cx="423" cy="312"/>
          </a:xfrm>
        </p:grpSpPr>
        <p:grpSp>
          <p:nvGrpSpPr>
            <p:cNvPr id="2406422" name="Group 128"/>
            <p:cNvGrpSpPr>
              <a:grpSpLocks/>
            </p:cNvGrpSpPr>
            <p:nvPr/>
          </p:nvGrpSpPr>
          <p:grpSpPr bwMode="auto">
            <a:xfrm>
              <a:off x="867" y="2432"/>
              <a:ext cx="318" cy="271"/>
              <a:chOff x="657" y="1570"/>
              <a:chExt cx="318" cy="311"/>
            </a:xfrm>
          </p:grpSpPr>
          <p:sp>
            <p:nvSpPr>
              <p:cNvPr id="2406423" name="Line 129"/>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06424" name="Picture 130" descr="laptop cop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6425" name="Group 131"/>
            <p:cNvGrpSpPr>
              <a:grpSpLocks/>
            </p:cNvGrpSpPr>
            <p:nvPr/>
          </p:nvGrpSpPr>
          <p:grpSpPr bwMode="auto">
            <a:xfrm>
              <a:off x="762" y="2391"/>
              <a:ext cx="306" cy="90"/>
              <a:chOff x="748" y="2251"/>
              <a:chExt cx="306" cy="90"/>
            </a:xfrm>
          </p:grpSpPr>
          <p:sp>
            <p:nvSpPr>
              <p:cNvPr id="2406426" name="AutoShape 132"/>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27" name="AutoShape 133"/>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28" name="AutoShape 134"/>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29" name="AutoShape 135"/>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30" name="AutoShape 136"/>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31" name="AutoShape 137"/>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 name="组合 1"/>
          <p:cNvGrpSpPr>
            <a:grpSpLocks/>
          </p:cNvGrpSpPr>
          <p:nvPr/>
        </p:nvGrpSpPr>
        <p:grpSpPr bwMode="auto">
          <a:xfrm>
            <a:off x="1635125" y="1628775"/>
            <a:ext cx="3830638" cy="3695700"/>
            <a:chOff x="1481712" y="1628800"/>
            <a:chExt cx="3830983" cy="3696270"/>
          </a:xfrm>
        </p:grpSpPr>
        <p:sp>
          <p:nvSpPr>
            <p:cNvPr id="2406433" name="Text Box 87"/>
            <p:cNvSpPr txBox="1">
              <a:spLocks noChangeArrowheads="1"/>
            </p:cNvSpPr>
            <p:nvPr/>
          </p:nvSpPr>
          <p:spPr bwMode="auto">
            <a:xfrm>
              <a:off x="1481712" y="1628800"/>
              <a:ext cx="20279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400" b="1">
                  <a:solidFill>
                    <a:srgbClr val="000099"/>
                  </a:solidFill>
                  <a:ea typeface="宋体" panose="02010600030101010101" pitchFamily="2" charset="-122"/>
                </a:rPr>
                <a:t>A </a:t>
              </a:r>
              <a:r>
                <a:rPr lang="zh-CN" altLang="en-US" sz="2400" b="1">
                  <a:solidFill>
                    <a:srgbClr val="000099"/>
                  </a:solidFill>
                  <a:ea typeface="宋体" panose="02010600030101010101" pitchFamily="2" charset="-122"/>
                </a:rPr>
                <a:t>的作用范围</a:t>
              </a:r>
            </a:p>
          </p:txBody>
        </p:sp>
        <p:sp>
          <p:nvSpPr>
            <p:cNvPr id="2406434" name="Oval 88"/>
            <p:cNvSpPr>
              <a:spLocks noChangeArrowheads="1"/>
            </p:cNvSpPr>
            <p:nvPr/>
          </p:nvSpPr>
          <p:spPr bwMode="auto">
            <a:xfrm>
              <a:off x="1712641" y="2310408"/>
              <a:ext cx="3600054" cy="3014662"/>
            </a:xfrm>
            <a:prstGeom prst="ellipse">
              <a:avLst/>
            </a:prstGeom>
            <a:solidFill>
              <a:srgbClr val="FF99FF">
                <a:alpha val="50000"/>
              </a:srgbClr>
            </a:solidFill>
            <a:ln w="19050">
              <a:solidFill>
                <a:schemeClr val="tx2"/>
              </a:solidFill>
              <a:prstDash val="dash"/>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35" name="Line 138"/>
            <p:cNvSpPr>
              <a:spLocks noChangeShapeType="1"/>
            </p:cNvSpPr>
            <p:nvPr/>
          </p:nvSpPr>
          <p:spPr bwMode="auto">
            <a:xfrm>
              <a:off x="2144688" y="2060848"/>
              <a:ext cx="498740" cy="436562"/>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406436" name="Text Box 90"/>
          <p:cNvSpPr txBox="1">
            <a:spLocks noChangeArrowheads="1"/>
          </p:cNvSpPr>
          <p:nvPr/>
        </p:nvSpPr>
        <p:spPr bwMode="auto">
          <a:xfrm>
            <a:off x="3533775" y="4075113"/>
            <a:ext cx="406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A</a:t>
            </a:r>
          </a:p>
        </p:txBody>
      </p:sp>
      <p:sp>
        <p:nvSpPr>
          <p:cNvPr id="2406437" name="Text Box 91"/>
          <p:cNvSpPr txBox="1">
            <a:spLocks noChangeArrowheads="1"/>
          </p:cNvSpPr>
          <p:nvPr/>
        </p:nvSpPr>
        <p:spPr bwMode="auto">
          <a:xfrm>
            <a:off x="4964113" y="4076700"/>
            <a:ext cx="4079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B</a:t>
            </a:r>
          </a:p>
        </p:txBody>
      </p:sp>
      <p:grpSp>
        <p:nvGrpSpPr>
          <p:cNvPr id="2406438" name="Group 94"/>
          <p:cNvGrpSpPr>
            <a:grpSpLocks/>
          </p:cNvGrpSpPr>
          <p:nvPr/>
        </p:nvGrpSpPr>
        <p:grpSpPr bwMode="auto">
          <a:xfrm>
            <a:off x="4675188" y="3535363"/>
            <a:ext cx="877887" cy="547687"/>
            <a:chOff x="762" y="2391"/>
            <a:chExt cx="423" cy="312"/>
          </a:xfrm>
        </p:grpSpPr>
        <p:grpSp>
          <p:nvGrpSpPr>
            <p:cNvPr id="2406439" name="Group 95"/>
            <p:cNvGrpSpPr>
              <a:grpSpLocks/>
            </p:cNvGrpSpPr>
            <p:nvPr/>
          </p:nvGrpSpPr>
          <p:grpSpPr bwMode="auto">
            <a:xfrm>
              <a:off x="867" y="2432"/>
              <a:ext cx="318" cy="271"/>
              <a:chOff x="657" y="1570"/>
              <a:chExt cx="318" cy="311"/>
            </a:xfrm>
          </p:grpSpPr>
          <p:sp>
            <p:nvSpPr>
              <p:cNvPr id="2406440" name="Line 96"/>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06441" name="Picture 97" descr="laptop cop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6442" name="Group 98"/>
            <p:cNvGrpSpPr>
              <a:grpSpLocks/>
            </p:cNvGrpSpPr>
            <p:nvPr/>
          </p:nvGrpSpPr>
          <p:grpSpPr bwMode="auto">
            <a:xfrm>
              <a:off x="762" y="2391"/>
              <a:ext cx="306" cy="90"/>
              <a:chOff x="748" y="2251"/>
              <a:chExt cx="306" cy="90"/>
            </a:xfrm>
          </p:grpSpPr>
          <p:sp>
            <p:nvSpPr>
              <p:cNvPr id="2406443" name="AutoShape 99"/>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44" name="AutoShape 100"/>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45" name="AutoShape 101"/>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46" name="AutoShape 102"/>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47" name="AutoShape 103"/>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48" name="AutoShape 104"/>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06449" name="Group 105"/>
          <p:cNvGrpSpPr>
            <a:grpSpLocks/>
          </p:cNvGrpSpPr>
          <p:nvPr/>
        </p:nvGrpSpPr>
        <p:grpSpPr bwMode="auto">
          <a:xfrm>
            <a:off x="3298825" y="3535363"/>
            <a:ext cx="877888" cy="547687"/>
            <a:chOff x="762" y="2391"/>
            <a:chExt cx="423" cy="312"/>
          </a:xfrm>
        </p:grpSpPr>
        <p:grpSp>
          <p:nvGrpSpPr>
            <p:cNvPr id="2406450" name="Group 106"/>
            <p:cNvGrpSpPr>
              <a:grpSpLocks/>
            </p:cNvGrpSpPr>
            <p:nvPr/>
          </p:nvGrpSpPr>
          <p:grpSpPr bwMode="auto">
            <a:xfrm>
              <a:off x="867" y="2432"/>
              <a:ext cx="318" cy="271"/>
              <a:chOff x="657" y="1570"/>
              <a:chExt cx="318" cy="311"/>
            </a:xfrm>
          </p:grpSpPr>
          <p:sp>
            <p:nvSpPr>
              <p:cNvPr id="2406451" name="Line 107"/>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06452" name="Picture 108" descr="laptop cop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6453" name="Group 109"/>
            <p:cNvGrpSpPr>
              <a:grpSpLocks/>
            </p:cNvGrpSpPr>
            <p:nvPr/>
          </p:nvGrpSpPr>
          <p:grpSpPr bwMode="auto">
            <a:xfrm>
              <a:off x="762" y="2391"/>
              <a:ext cx="306" cy="90"/>
              <a:chOff x="748" y="2251"/>
              <a:chExt cx="306" cy="90"/>
            </a:xfrm>
          </p:grpSpPr>
          <p:sp>
            <p:nvSpPr>
              <p:cNvPr id="2406454" name="AutoShape 110"/>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55" name="AutoShape 111"/>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56" name="AutoShape 112"/>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57" name="AutoShape 113"/>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58" name="AutoShape 114"/>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59" name="AutoShape 115"/>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sp>
        <p:nvSpPr>
          <p:cNvPr id="240646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361483-6248-41AE-805E-C48DD346CDA3}" type="slidenum">
              <a:rPr lang="zh-CN" altLang="en-US" smtClean="0"/>
              <a:pPr eaLnBrk="1" hangingPunct="1"/>
              <a:t>26</a:t>
            </a:fld>
            <a:endParaRPr lang="en-US" altLang="zh-CN" smtClean="0"/>
          </a:p>
        </p:txBody>
      </p:sp>
      <p:sp>
        <p:nvSpPr>
          <p:cNvPr id="2406461"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35" presetClass="emph" presetSubtype="0" repeatCount="4000" fill="hold" nodeType="withEffect">
                                  <p:stCondLst>
                                    <p:cond delay="0"/>
                                  </p:stCondLst>
                                  <p:childTnLst>
                                    <p:anim calcmode="discrete" valueType="str">
                                      <p:cBhvr>
                                        <p:cTn id="8"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5" presetClass="emph" presetSubtype="0" repeatCount="4000" fill="hold" nodeType="clickEffect">
                                  <p:stCondLst>
                                    <p:cond delay="0"/>
                                  </p:stCondLst>
                                  <p:childTnLst>
                                    <p:anim calcmode="discrete" valueType="str">
                                      <p:cBhvr>
                                        <p:cTn id="12" dur="1000" fill="hold"/>
                                        <p:tgtEl>
                                          <p:spTgt spid="3"/>
                                        </p:tgtEl>
                                        <p:attrNameLst>
                                          <p:attrName>style.visibility</p:attrName>
                                        </p:attrNameLst>
                                      </p:cBhvr>
                                      <p:tavLst>
                                        <p:tav tm="0">
                                          <p:val>
                                            <p:strVal val="hidden"/>
                                          </p:val>
                                        </p:tav>
                                        <p:tav tm="50000">
                                          <p:val>
                                            <p:strVal val="visible"/>
                                          </p:val>
                                        </p:tav>
                                      </p:tavLst>
                                    </p:anim>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309327"/>
                                        </p:tgtEl>
                                        <p:attrNameLst>
                                          <p:attrName>style.visibility</p:attrName>
                                        </p:attrNameLst>
                                      </p:cBhvr>
                                      <p:to>
                                        <p:strVal val="visible"/>
                                      </p:to>
                                    </p:set>
                                  </p:childTnLst>
                                </p:cTn>
                              </p:par>
                            </p:childTnLst>
                          </p:cTn>
                        </p:par>
                        <p:par>
                          <p:cTn id="19" fill="hold" nodeType="afterGroup">
                            <p:stCondLst>
                              <p:cond delay="1"/>
                            </p:stCondLst>
                            <p:childTnLst>
                              <p:par>
                                <p:cTn id="20" presetID="35" presetClass="emph" presetSubtype="0" repeatCount="4000" fill="hold" grpId="0" nodeType="afterEffect">
                                  <p:stCondLst>
                                    <p:cond delay="500"/>
                                  </p:stCondLst>
                                  <p:childTnLst>
                                    <p:anim calcmode="discrete" valueType="str">
                                      <p:cBhvr>
                                        <p:cTn id="21" dur="1000" fill="hold"/>
                                        <p:tgtEl>
                                          <p:spTgt spid="309327"/>
                                        </p:tgtEl>
                                        <p:attrNameLst>
                                          <p:attrName>style.visibility</p:attrName>
                                        </p:attrNameLst>
                                      </p:cBhvr>
                                      <p:tavLst>
                                        <p:tav tm="0">
                                          <p:val>
                                            <p:strVal val="hidden"/>
                                          </p:val>
                                        </p:tav>
                                        <p:tav tm="50000">
                                          <p:val>
                                            <p:strVal val="visible"/>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093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327" grpId="0" animBg="1"/>
      <p:bldP spid="309327" grpId="1" animBg="1"/>
      <p:bldP spid="30933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8449" name="Rectangle 6"/>
          <p:cNvSpPr>
            <a:spLocks noGrp="1" noChangeArrowheads="1"/>
          </p:cNvSpPr>
          <p:nvPr>
            <p:ph type="title"/>
          </p:nvPr>
        </p:nvSpPr>
        <p:spPr/>
        <p:txBody>
          <a:bodyPr/>
          <a:lstStyle/>
          <a:p>
            <a:pPr algn="ctr"/>
            <a:r>
              <a:rPr lang="zh-CN" altLang="en-US" smtClean="0">
                <a:ea typeface="黑体" panose="02010609060101010101" pitchFamily="49" charset="-122"/>
              </a:rPr>
              <a:t>无线局域网的特殊问题 </a:t>
            </a:r>
          </a:p>
        </p:txBody>
      </p:sp>
      <p:sp>
        <p:nvSpPr>
          <p:cNvPr id="2408450" name="Rectangle 2"/>
          <p:cNvSpPr>
            <a:spLocks noChangeArrowheads="1"/>
          </p:cNvSpPr>
          <p:nvPr/>
        </p:nvSpPr>
        <p:spPr bwMode="auto">
          <a:xfrm>
            <a:off x="-508000" y="-230188"/>
            <a:ext cx="185737" cy="46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2408451" name="Rectangle 4"/>
          <p:cNvSpPr>
            <a:spLocks noChangeArrowheads="1"/>
          </p:cNvSpPr>
          <p:nvPr/>
        </p:nvSpPr>
        <p:spPr bwMode="auto">
          <a:xfrm>
            <a:off x="-508000" y="-230188"/>
            <a:ext cx="185737" cy="46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2408452" name="Rectangle 8"/>
          <p:cNvSpPr>
            <a:spLocks noChangeArrowheads="1"/>
          </p:cNvSpPr>
          <p:nvPr/>
        </p:nvSpPr>
        <p:spPr bwMode="auto">
          <a:xfrm>
            <a:off x="-508000" y="-230188"/>
            <a:ext cx="185737" cy="46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310353" name="Text Box 81"/>
          <p:cNvSpPr txBox="1">
            <a:spLocks noChangeArrowheads="1"/>
          </p:cNvSpPr>
          <p:nvPr/>
        </p:nvSpPr>
        <p:spPr bwMode="auto">
          <a:xfrm>
            <a:off x="847725" y="5516563"/>
            <a:ext cx="8642350" cy="954087"/>
          </a:xfrm>
          <a:prstGeom prst="rect">
            <a:avLst/>
          </a:prstGeom>
          <a:solidFill>
            <a:srgbClr val="FFFF66"/>
          </a:solidFill>
          <a:ln w="9525">
            <a:solidFill>
              <a:srgbClr val="333399"/>
            </a:solidFill>
            <a:miter lim="800000"/>
            <a:headEnd/>
            <a:tailEnd/>
          </a:ln>
        </p:spPr>
        <p:txBody>
          <a:bodyPr wrap="none">
            <a:spAutoFit/>
          </a:bodyPr>
          <a:lstStyle/>
          <a:p>
            <a:pPr algn="ctr" eaLnBrk="0" hangingPunct="0"/>
            <a:r>
              <a:rPr lang="en-US" altLang="zh-CN" sz="2800" b="1">
                <a:solidFill>
                  <a:srgbClr val="000099"/>
                </a:solidFill>
                <a:ea typeface="宋体" panose="02010600030101010101" pitchFamily="2" charset="-122"/>
              </a:rPr>
              <a:t>B </a:t>
            </a:r>
            <a:r>
              <a:rPr lang="zh-CN" altLang="en-US" sz="2800" b="1">
                <a:solidFill>
                  <a:srgbClr val="000099"/>
                </a:solidFill>
                <a:ea typeface="宋体" panose="02010600030101010101" pitchFamily="2" charset="-122"/>
              </a:rPr>
              <a:t>向 </a:t>
            </a:r>
            <a:r>
              <a:rPr lang="en-US" altLang="zh-CN" sz="2800" b="1">
                <a:solidFill>
                  <a:srgbClr val="000099"/>
                </a:solidFill>
                <a:ea typeface="宋体" panose="02010600030101010101" pitchFamily="2" charset="-122"/>
              </a:rPr>
              <a:t>A </a:t>
            </a:r>
            <a:r>
              <a:rPr lang="zh-CN" altLang="en-US" sz="2800" b="1">
                <a:solidFill>
                  <a:srgbClr val="000099"/>
                </a:solidFill>
                <a:ea typeface="宋体" panose="02010600030101010101" pitchFamily="2" charset="-122"/>
              </a:rPr>
              <a:t>发送数据，而 </a:t>
            </a:r>
            <a:r>
              <a:rPr lang="en-US" altLang="zh-CN" sz="2800" b="1">
                <a:solidFill>
                  <a:srgbClr val="000099"/>
                </a:solidFill>
                <a:ea typeface="宋体" panose="02010600030101010101" pitchFamily="2" charset="-122"/>
              </a:rPr>
              <a:t>C </a:t>
            </a:r>
            <a:r>
              <a:rPr lang="zh-CN" altLang="en-US" sz="2800" b="1">
                <a:solidFill>
                  <a:srgbClr val="000099"/>
                </a:solidFill>
                <a:ea typeface="宋体" panose="02010600030101010101" pitchFamily="2" charset="-122"/>
              </a:rPr>
              <a:t>又想和 </a:t>
            </a:r>
            <a:r>
              <a:rPr lang="en-US" altLang="zh-CN" sz="2800" b="1">
                <a:solidFill>
                  <a:srgbClr val="000099"/>
                </a:solidFill>
                <a:ea typeface="宋体" panose="02010600030101010101" pitchFamily="2" charset="-122"/>
              </a:rPr>
              <a:t>D </a:t>
            </a:r>
            <a:r>
              <a:rPr lang="zh-CN" altLang="en-US" sz="2800" b="1">
                <a:solidFill>
                  <a:srgbClr val="000099"/>
                </a:solidFill>
                <a:ea typeface="宋体" panose="02010600030101010101" pitchFamily="2" charset="-122"/>
              </a:rPr>
              <a:t>通信。</a:t>
            </a:r>
          </a:p>
          <a:p>
            <a:pPr algn="ctr" eaLnBrk="0" hangingPunct="0"/>
            <a:r>
              <a:rPr lang="en-US" altLang="zh-CN" sz="2800" b="1">
                <a:solidFill>
                  <a:srgbClr val="000099"/>
                </a:solidFill>
                <a:ea typeface="宋体" panose="02010600030101010101" pitchFamily="2" charset="-122"/>
              </a:rPr>
              <a:t>C </a:t>
            </a:r>
            <a:r>
              <a:rPr lang="zh-CN" altLang="en-US" sz="2800" b="1">
                <a:solidFill>
                  <a:srgbClr val="000099"/>
                </a:solidFill>
                <a:ea typeface="宋体" panose="02010600030101010101" pitchFamily="2" charset="-122"/>
              </a:rPr>
              <a:t>检测到媒体上有信号，于是就不敢向 </a:t>
            </a:r>
            <a:r>
              <a:rPr lang="en-US" altLang="zh-CN" sz="2800" b="1">
                <a:solidFill>
                  <a:srgbClr val="000099"/>
                </a:solidFill>
                <a:ea typeface="宋体" panose="02010600030101010101" pitchFamily="2" charset="-122"/>
              </a:rPr>
              <a:t>D </a:t>
            </a:r>
            <a:r>
              <a:rPr lang="zh-CN" altLang="en-US" sz="2800" b="1">
                <a:solidFill>
                  <a:srgbClr val="000099"/>
                </a:solidFill>
                <a:ea typeface="宋体" panose="02010600030101010101" pitchFamily="2" charset="-122"/>
              </a:rPr>
              <a:t>发送数据。 </a:t>
            </a:r>
          </a:p>
        </p:txBody>
      </p:sp>
      <p:sp>
        <p:nvSpPr>
          <p:cNvPr id="310354" name="Text Box 82"/>
          <p:cNvSpPr txBox="1">
            <a:spLocks noChangeArrowheads="1"/>
          </p:cNvSpPr>
          <p:nvPr/>
        </p:nvSpPr>
        <p:spPr bwMode="auto">
          <a:xfrm>
            <a:off x="577850" y="188913"/>
            <a:ext cx="8842375" cy="1076325"/>
          </a:xfrm>
          <a:prstGeom prst="rect">
            <a:avLst/>
          </a:prstGeom>
          <a:solidFill>
            <a:srgbClr val="00FFFF"/>
          </a:solidFill>
          <a:ln w="9525">
            <a:solidFill>
              <a:srgbClr val="333399"/>
            </a:solidFill>
            <a:miter lim="800000"/>
            <a:headEnd/>
            <a:tailEnd/>
          </a:ln>
        </p:spPr>
        <p:txBody>
          <a:bodyPr wrap="none">
            <a:spAutoFit/>
          </a:bodyPr>
          <a:lstStyle/>
          <a:p>
            <a:pPr algn="ctr" eaLnBrk="0" hangingPunct="0"/>
            <a:r>
              <a:rPr lang="zh-CN" altLang="en-US" sz="3200" b="1" dirty="0">
                <a:solidFill>
                  <a:srgbClr val="333399"/>
                </a:solidFill>
                <a:ea typeface="宋体" panose="02010600030101010101" pitchFamily="2" charset="-122"/>
              </a:rPr>
              <a:t>其实 </a:t>
            </a:r>
            <a:r>
              <a:rPr lang="en-US" altLang="zh-CN" sz="3200" b="1" dirty="0">
                <a:solidFill>
                  <a:srgbClr val="333399"/>
                </a:solidFill>
                <a:ea typeface="宋体" panose="02010600030101010101" pitchFamily="2" charset="-122"/>
              </a:rPr>
              <a:t>B </a:t>
            </a:r>
            <a:r>
              <a:rPr lang="zh-CN" altLang="en-US" sz="3200" b="1" dirty="0">
                <a:solidFill>
                  <a:srgbClr val="333399"/>
                </a:solidFill>
                <a:ea typeface="宋体" panose="02010600030101010101" pitchFamily="2" charset="-122"/>
              </a:rPr>
              <a:t>向 </a:t>
            </a:r>
            <a:r>
              <a:rPr lang="en-US" altLang="zh-CN" sz="3200" b="1" dirty="0">
                <a:solidFill>
                  <a:srgbClr val="333399"/>
                </a:solidFill>
                <a:ea typeface="宋体" panose="02010600030101010101" pitchFamily="2" charset="-122"/>
              </a:rPr>
              <a:t>A </a:t>
            </a:r>
            <a:r>
              <a:rPr lang="zh-CN" altLang="en-US" sz="3200" b="1" dirty="0">
                <a:solidFill>
                  <a:srgbClr val="333399"/>
                </a:solidFill>
                <a:ea typeface="宋体" panose="02010600030101010101" pitchFamily="2" charset="-122"/>
              </a:rPr>
              <a:t>发送数据并不影响 </a:t>
            </a:r>
            <a:r>
              <a:rPr lang="en-US" altLang="zh-CN" sz="3200" b="1" dirty="0">
                <a:solidFill>
                  <a:srgbClr val="333399"/>
                </a:solidFill>
                <a:ea typeface="宋体" panose="02010600030101010101" pitchFamily="2" charset="-122"/>
              </a:rPr>
              <a:t>C </a:t>
            </a:r>
            <a:r>
              <a:rPr lang="zh-CN" altLang="en-US" sz="3200" b="1" dirty="0">
                <a:solidFill>
                  <a:srgbClr val="333399"/>
                </a:solidFill>
                <a:ea typeface="宋体" panose="02010600030101010101" pitchFamily="2" charset="-122"/>
              </a:rPr>
              <a:t>向 </a:t>
            </a:r>
            <a:r>
              <a:rPr lang="en-US" altLang="zh-CN" sz="3200" b="1" dirty="0">
                <a:solidFill>
                  <a:srgbClr val="333399"/>
                </a:solidFill>
                <a:ea typeface="宋体" panose="02010600030101010101" pitchFamily="2" charset="-122"/>
              </a:rPr>
              <a:t>D </a:t>
            </a:r>
            <a:r>
              <a:rPr lang="zh-CN" altLang="en-US" sz="3200" b="1" dirty="0">
                <a:solidFill>
                  <a:srgbClr val="333399"/>
                </a:solidFill>
                <a:ea typeface="宋体" panose="02010600030101010101" pitchFamily="2" charset="-122"/>
              </a:rPr>
              <a:t>发送数据</a:t>
            </a:r>
          </a:p>
          <a:p>
            <a:pPr algn="ctr" eaLnBrk="0" hangingPunct="0"/>
            <a:r>
              <a:rPr lang="zh-CN" altLang="en-US" sz="3200" b="1" dirty="0">
                <a:solidFill>
                  <a:srgbClr val="333399"/>
                </a:solidFill>
                <a:ea typeface="宋体" panose="02010600030101010101" pitchFamily="2" charset="-122"/>
              </a:rPr>
              <a:t>这就是</a:t>
            </a:r>
            <a:r>
              <a:rPr lang="zh-CN" altLang="en-US" sz="3200" b="1" dirty="0">
                <a:solidFill>
                  <a:srgbClr val="FF0000"/>
                </a:solidFill>
                <a:ea typeface="宋体" panose="02010600030101010101" pitchFamily="2" charset="-122"/>
              </a:rPr>
              <a:t>暴露站问题</a:t>
            </a:r>
            <a:r>
              <a:rPr lang="en-US" altLang="zh-CN" sz="3200" b="1" dirty="0">
                <a:solidFill>
                  <a:srgbClr val="333399"/>
                </a:solidFill>
                <a:ea typeface="宋体" panose="02010600030101010101" pitchFamily="2" charset="-122"/>
              </a:rPr>
              <a:t>(exposed station problem) </a:t>
            </a:r>
          </a:p>
        </p:txBody>
      </p:sp>
      <p:grpSp>
        <p:nvGrpSpPr>
          <p:cNvPr id="2408455" name="组合 2"/>
          <p:cNvGrpSpPr>
            <a:grpSpLocks/>
          </p:cNvGrpSpPr>
          <p:nvPr/>
        </p:nvGrpSpPr>
        <p:grpSpPr bwMode="auto">
          <a:xfrm>
            <a:off x="4138613" y="1677988"/>
            <a:ext cx="5199062" cy="3695700"/>
            <a:chOff x="4138719" y="1678286"/>
            <a:chExt cx="5199437" cy="3695403"/>
          </a:xfrm>
        </p:grpSpPr>
        <p:sp>
          <p:nvSpPr>
            <p:cNvPr id="2408456" name="Oval 85"/>
            <p:cNvSpPr>
              <a:spLocks noChangeArrowheads="1"/>
            </p:cNvSpPr>
            <p:nvPr/>
          </p:nvSpPr>
          <p:spPr bwMode="auto">
            <a:xfrm>
              <a:off x="4138719" y="2149476"/>
              <a:ext cx="3684819" cy="3224213"/>
            </a:xfrm>
            <a:prstGeom prst="ellipse">
              <a:avLst/>
            </a:prstGeom>
            <a:solidFill>
              <a:srgbClr val="FFFF99"/>
            </a:solidFill>
            <a:ln w="9525">
              <a:solidFill>
                <a:schemeClr val="tx2"/>
              </a:solidFill>
              <a:prstDash val="dash"/>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57" name="Text Box 138"/>
            <p:cNvSpPr txBox="1">
              <a:spLocks noChangeArrowheads="1"/>
            </p:cNvSpPr>
            <p:nvPr/>
          </p:nvSpPr>
          <p:spPr bwMode="auto">
            <a:xfrm>
              <a:off x="7306831" y="1678286"/>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400" b="1">
                  <a:solidFill>
                    <a:srgbClr val="000099"/>
                  </a:solidFill>
                  <a:ea typeface="宋体" panose="02010600030101010101" pitchFamily="2" charset="-122"/>
                </a:rPr>
                <a:t>C </a:t>
              </a:r>
              <a:r>
                <a:rPr lang="zh-CN" altLang="en-US" sz="2400" b="1">
                  <a:solidFill>
                    <a:srgbClr val="000099"/>
                  </a:solidFill>
                  <a:ea typeface="宋体" panose="02010600030101010101" pitchFamily="2" charset="-122"/>
                </a:rPr>
                <a:t>的作用范围</a:t>
              </a:r>
            </a:p>
          </p:txBody>
        </p:sp>
        <p:sp>
          <p:nvSpPr>
            <p:cNvPr id="2408458" name="Line 140"/>
            <p:cNvSpPr>
              <a:spLocks noChangeShapeType="1"/>
            </p:cNvSpPr>
            <p:nvPr/>
          </p:nvSpPr>
          <p:spPr bwMode="auto">
            <a:xfrm flipH="1">
              <a:off x="7275435" y="2139952"/>
              <a:ext cx="467783" cy="41618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408459" name="Line 87"/>
          <p:cNvSpPr>
            <a:spLocks noChangeShapeType="1"/>
          </p:cNvSpPr>
          <p:nvPr/>
        </p:nvSpPr>
        <p:spPr bwMode="auto">
          <a:xfrm flipV="1">
            <a:off x="6310313" y="3789363"/>
            <a:ext cx="1062037" cy="23812"/>
          </a:xfrm>
          <a:prstGeom prst="line">
            <a:avLst/>
          </a:prstGeom>
          <a:noFill/>
          <a:ln w="57150">
            <a:solidFill>
              <a:schemeClr val="hlink"/>
            </a:solidFill>
            <a:prstDash val="sysDot"/>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08460" name="Text Box 88"/>
          <p:cNvSpPr txBox="1">
            <a:spLocks noChangeArrowheads="1"/>
          </p:cNvSpPr>
          <p:nvPr/>
        </p:nvSpPr>
        <p:spPr bwMode="auto">
          <a:xfrm>
            <a:off x="2805113" y="3979863"/>
            <a:ext cx="4079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A</a:t>
            </a:r>
          </a:p>
        </p:txBody>
      </p:sp>
      <p:sp>
        <p:nvSpPr>
          <p:cNvPr id="2408461" name="Text Box 89"/>
          <p:cNvSpPr txBox="1">
            <a:spLocks noChangeArrowheads="1"/>
          </p:cNvSpPr>
          <p:nvPr/>
        </p:nvSpPr>
        <p:spPr bwMode="auto">
          <a:xfrm>
            <a:off x="7404100" y="3979863"/>
            <a:ext cx="4079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D</a:t>
            </a:r>
          </a:p>
        </p:txBody>
      </p:sp>
      <p:sp>
        <p:nvSpPr>
          <p:cNvPr id="2408462" name="Text Box 90"/>
          <p:cNvSpPr txBox="1">
            <a:spLocks noChangeArrowheads="1"/>
          </p:cNvSpPr>
          <p:nvPr/>
        </p:nvSpPr>
        <p:spPr bwMode="auto">
          <a:xfrm>
            <a:off x="5884863" y="3979863"/>
            <a:ext cx="4079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C</a:t>
            </a:r>
          </a:p>
        </p:txBody>
      </p:sp>
      <p:sp>
        <p:nvSpPr>
          <p:cNvPr id="2408463" name="Text Box 91"/>
          <p:cNvSpPr txBox="1">
            <a:spLocks noChangeArrowheads="1"/>
          </p:cNvSpPr>
          <p:nvPr/>
        </p:nvSpPr>
        <p:spPr bwMode="auto">
          <a:xfrm>
            <a:off x="4273550" y="3979863"/>
            <a:ext cx="4079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B</a:t>
            </a:r>
          </a:p>
        </p:txBody>
      </p:sp>
      <p:sp>
        <p:nvSpPr>
          <p:cNvPr id="2408464" name="Text Box 92"/>
          <p:cNvSpPr txBox="1">
            <a:spLocks noChangeArrowheads="1"/>
          </p:cNvSpPr>
          <p:nvPr/>
        </p:nvSpPr>
        <p:spPr bwMode="auto">
          <a:xfrm>
            <a:off x="6435725" y="3035300"/>
            <a:ext cx="8001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4800" b="1">
                <a:solidFill>
                  <a:srgbClr val="000099"/>
                </a:solidFill>
                <a:ea typeface="宋体" panose="02010600030101010101" pitchFamily="2" charset="-122"/>
              </a:rPr>
              <a:t>？</a:t>
            </a:r>
          </a:p>
        </p:txBody>
      </p:sp>
      <p:grpSp>
        <p:nvGrpSpPr>
          <p:cNvPr id="2408465" name="Group 93"/>
          <p:cNvGrpSpPr>
            <a:grpSpLocks/>
          </p:cNvGrpSpPr>
          <p:nvPr/>
        </p:nvGrpSpPr>
        <p:grpSpPr bwMode="auto">
          <a:xfrm>
            <a:off x="7078663" y="3417888"/>
            <a:ext cx="919162" cy="585787"/>
            <a:chOff x="762" y="2391"/>
            <a:chExt cx="423" cy="312"/>
          </a:xfrm>
        </p:grpSpPr>
        <p:grpSp>
          <p:nvGrpSpPr>
            <p:cNvPr id="2408466" name="Group 94"/>
            <p:cNvGrpSpPr>
              <a:grpSpLocks/>
            </p:cNvGrpSpPr>
            <p:nvPr/>
          </p:nvGrpSpPr>
          <p:grpSpPr bwMode="auto">
            <a:xfrm>
              <a:off x="867" y="2432"/>
              <a:ext cx="318" cy="271"/>
              <a:chOff x="657" y="1570"/>
              <a:chExt cx="318" cy="311"/>
            </a:xfrm>
          </p:grpSpPr>
          <p:sp>
            <p:nvSpPr>
              <p:cNvPr id="2408467" name="Line 95"/>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08468" name="Picture 96" descr="laptop cop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8469" name="Group 97"/>
            <p:cNvGrpSpPr>
              <a:grpSpLocks/>
            </p:cNvGrpSpPr>
            <p:nvPr/>
          </p:nvGrpSpPr>
          <p:grpSpPr bwMode="auto">
            <a:xfrm>
              <a:off x="762" y="2391"/>
              <a:ext cx="306" cy="90"/>
              <a:chOff x="748" y="2251"/>
              <a:chExt cx="306" cy="90"/>
            </a:xfrm>
          </p:grpSpPr>
          <p:sp>
            <p:nvSpPr>
              <p:cNvPr id="2408470" name="AutoShape 98"/>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71" name="AutoShape 99"/>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72" name="AutoShape 100"/>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73" name="AutoShape 101"/>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74" name="AutoShape 102"/>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75" name="AutoShape 103"/>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08476" name="Group 104"/>
          <p:cNvGrpSpPr>
            <a:grpSpLocks/>
          </p:cNvGrpSpPr>
          <p:nvPr/>
        </p:nvGrpSpPr>
        <p:grpSpPr bwMode="auto">
          <a:xfrm>
            <a:off x="2368550" y="3421063"/>
            <a:ext cx="915988" cy="585787"/>
            <a:chOff x="762" y="2391"/>
            <a:chExt cx="423" cy="312"/>
          </a:xfrm>
        </p:grpSpPr>
        <p:grpSp>
          <p:nvGrpSpPr>
            <p:cNvPr id="2408477" name="Group 105"/>
            <p:cNvGrpSpPr>
              <a:grpSpLocks/>
            </p:cNvGrpSpPr>
            <p:nvPr/>
          </p:nvGrpSpPr>
          <p:grpSpPr bwMode="auto">
            <a:xfrm>
              <a:off x="867" y="2432"/>
              <a:ext cx="318" cy="271"/>
              <a:chOff x="657" y="1570"/>
              <a:chExt cx="318" cy="311"/>
            </a:xfrm>
          </p:grpSpPr>
          <p:sp>
            <p:nvSpPr>
              <p:cNvPr id="2408478" name="Line 106"/>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08479" name="Picture 107" descr="laptop cop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8480" name="Group 108"/>
            <p:cNvGrpSpPr>
              <a:grpSpLocks/>
            </p:cNvGrpSpPr>
            <p:nvPr/>
          </p:nvGrpSpPr>
          <p:grpSpPr bwMode="auto">
            <a:xfrm>
              <a:off x="762" y="2391"/>
              <a:ext cx="306" cy="90"/>
              <a:chOff x="748" y="2251"/>
              <a:chExt cx="306" cy="90"/>
            </a:xfrm>
          </p:grpSpPr>
          <p:sp>
            <p:nvSpPr>
              <p:cNvPr id="2408481" name="AutoShape 109"/>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82" name="AutoShape 110"/>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83" name="AutoShape 111"/>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84" name="AutoShape 112"/>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85" name="AutoShape 113"/>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86" name="AutoShape 114"/>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08487" name="Group 115"/>
          <p:cNvGrpSpPr>
            <a:grpSpLocks/>
          </p:cNvGrpSpPr>
          <p:nvPr/>
        </p:nvGrpSpPr>
        <p:grpSpPr bwMode="auto">
          <a:xfrm>
            <a:off x="5507038" y="3421063"/>
            <a:ext cx="917575" cy="585787"/>
            <a:chOff x="762" y="2391"/>
            <a:chExt cx="423" cy="312"/>
          </a:xfrm>
        </p:grpSpPr>
        <p:grpSp>
          <p:nvGrpSpPr>
            <p:cNvPr id="2408488" name="Group 116"/>
            <p:cNvGrpSpPr>
              <a:grpSpLocks/>
            </p:cNvGrpSpPr>
            <p:nvPr/>
          </p:nvGrpSpPr>
          <p:grpSpPr bwMode="auto">
            <a:xfrm>
              <a:off x="867" y="2432"/>
              <a:ext cx="318" cy="271"/>
              <a:chOff x="657" y="1570"/>
              <a:chExt cx="318" cy="311"/>
            </a:xfrm>
          </p:grpSpPr>
          <p:sp>
            <p:nvSpPr>
              <p:cNvPr id="2408489" name="Line 117"/>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08490" name="Picture 118" descr="laptop cop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8491" name="Group 119"/>
            <p:cNvGrpSpPr>
              <a:grpSpLocks/>
            </p:cNvGrpSpPr>
            <p:nvPr/>
          </p:nvGrpSpPr>
          <p:grpSpPr bwMode="auto">
            <a:xfrm>
              <a:off x="762" y="2391"/>
              <a:ext cx="306" cy="90"/>
              <a:chOff x="748" y="2251"/>
              <a:chExt cx="306" cy="90"/>
            </a:xfrm>
          </p:grpSpPr>
          <p:sp>
            <p:nvSpPr>
              <p:cNvPr id="2408492" name="AutoShape 120"/>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93" name="AutoShape 121"/>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94" name="AutoShape 122"/>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95" name="AutoShape 123"/>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96" name="AutoShape 124"/>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97" name="AutoShape 125"/>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08498" name="Group 126"/>
          <p:cNvGrpSpPr>
            <a:grpSpLocks/>
          </p:cNvGrpSpPr>
          <p:nvPr/>
        </p:nvGrpSpPr>
        <p:grpSpPr bwMode="auto">
          <a:xfrm>
            <a:off x="3937000" y="3421063"/>
            <a:ext cx="917575" cy="585787"/>
            <a:chOff x="762" y="2391"/>
            <a:chExt cx="423" cy="312"/>
          </a:xfrm>
        </p:grpSpPr>
        <p:grpSp>
          <p:nvGrpSpPr>
            <p:cNvPr id="2408499" name="Group 127"/>
            <p:cNvGrpSpPr>
              <a:grpSpLocks/>
            </p:cNvGrpSpPr>
            <p:nvPr/>
          </p:nvGrpSpPr>
          <p:grpSpPr bwMode="auto">
            <a:xfrm>
              <a:off x="867" y="2432"/>
              <a:ext cx="318" cy="271"/>
              <a:chOff x="657" y="1570"/>
              <a:chExt cx="318" cy="311"/>
            </a:xfrm>
          </p:grpSpPr>
          <p:sp>
            <p:nvSpPr>
              <p:cNvPr id="2408500" name="Line 12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08501" name="Picture 129" descr="laptop cop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8502" name="Group 130"/>
            <p:cNvGrpSpPr>
              <a:grpSpLocks/>
            </p:cNvGrpSpPr>
            <p:nvPr/>
          </p:nvGrpSpPr>
          <p:grpSpPr bwMode="auto">
            <a:xfrm>
              <a:off x="762" y="2391"/>
              <a:ext cx="306" cy="90"/>
              <a:chOff x="748" y="2251"/>
              <a:chExt cx="306" cy="90"/>
            </a:xfrm>
          </p:grpSpPr>
          <p:sp>
            <p:nvSpPr>
              <p:cNvPr id="2408503" name="AutoShape 13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504" name="AutoShape 13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505" name="AutoShape 13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506" name="AutoShape 13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507" name="AutoShape 13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508" name="AutoShape 13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08509" name="组合 1"/>
          <p:cNvGrpSpPr>
            <a:grpSpLocks/>
          </p:cNvGrpSpPr>
          <p:nvPr/>
        </p:nvGrpSpPr>
        <p:grpSpPr bwMode="auto">
          <a:xfrm>
            <a:off x="901700" y="1687513"/>
            <a:ext cx="5408613" cy="3686175"/>
            <a:chOff x="901110" y="1687811"/>
            <a:chExt cx="5409011" cy="3685878"/>
          </a:xfrm>
        </p:grpSpPr>
        <p:sp>
          <p:nvSpPr>
            <p:cNvPr id="2408510" name="Oval 86"/>
            <p:cNvSpPr>
              <a:spLocks noChangeArrowheads="1"/>
            </p:cNvSpPr>
            <p:nvPr/>
          </p:nvSpPr>
          <p:spPr bwMode="auto">
            <a:xfrm>
              <a:off x="2595896" y="2149476"/>
              <a:ext cx="3714225" cy="3224213"/>
            </a:xfrm>
            <a:prstGeom prst="ellipse">
              <a:avLst/>
            </a:prstGeom>
            <a:solidFill>
              <a:srgbClr val="FF66FF">
                <a:alpha val="29999"/>
              </a:srgbClr>
            </a:solidFill>
            <a:ln w="9525">
              <a:solidFill>
                <a:schemeClr val="tx2"/>
              </a:solidFill>
              <a:prstDash val="dash"/>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511" name="Text Box 137"/>
            <p:cNvSpPr txBox="1">
              <a:spLocks noChangeArrowheads="1"/>
            </p:cNvSpPr>
            <p:nvPr/>
          </p:nvSpPr>
          <p:spPr bwMode="auto">
            <a:xfrm>
              <a:off x="901110" y="1687811"/>
              <a:ext cx="20393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400" b="1">
                  <a:solidFill>
                    <a:srgbClr val="000099"/>
                  </a:solidFill>
                  <a:ea typeface="宋体" panose="02010600030101010101" pitchFamily="2" charset="-122"/>
                </a:rPr>
                <a:t>B </a:t>
              </a:r>
              <a:r>
                <a:rPr lang="zh-CN" altLang="en-US" sz="2400" b="1">
                  <a:solidFill>
                    <a:srgbClr val="000099"/>
                  </a:solidFill>
                  <a:ea typeface="宋体" panose="02010600030101010101" pitchFamily="2" charset="-122"/>
                </a:rPr>
                <a:t>的作用范围</a:t>
              </a:r>
            </a:p>
          </p:txBody>
        </p:sp>
        <p:sp>
          <p:nvSpPr>
            <p:cNvPr id="2408512" name="Line 139"/>
            <p:cNvSpPr>
              <a:spLocks noChangeShapeType="1"/>
            </p:cNvSpPr>
            <p:nvPr/>
          </p:nvSpPr>
          <p:spPr bwMode="auto">
            <a:xfrm>
              <a:off x="2568716" y="2172990"/>
              <a:ext cx="643954" cy="391914"/>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40851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FBE9092-3D5A-43F8-9830-6AA2306CC59E}" type="slidenum">
              <a:rPr lang="zh-CN" altLang="en-US" smtClean="0"/>
              <a:pPr eaLnBrk="1" hangingPunct="1"/>
              <a:t>27</a:t>
            </a:fld>
            <a:endParaRPr lang="en-US" altLang="zh-CN" smtClean="0"/>
          </a:p>
        </p:txBody>
      </p:sp>
      <p:sp>
        <p:nvSpPr>
          <p:cNvPr id="240851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035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03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353" grpId="0" animBg="1"/>
      <p:bldP spid="31035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0497" name="Rectangle 6"/>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CSMA/CA </a:t>
            </a:r>
            <a:r>
              <a:rPr lang="zh-CN" altLang="en-US" smtClean="0">
                <a:ea typeface="黑体" panose="02010609060101010101" pitchFamily="49" charset="-122"/>
              </a:rPr>
              <a:t>协议 </a:t>
            </a:r>
          </a:p>
        </p:txBody>
      </p:sp>
      <p:sp>
        <p:nvSpPr>
          <p:cNvPr id="312329" name="Rectangle 9"/>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无线局域网不能使用 </a:t>
            </a:r>
            <a:r>
              <a:rPr lang="en-US" altLang="zh-CN" dirty="0" smtClean="0">
                <a:solidFill>
                  <a:srgbClr val="FF0000"/>
                </a:solidFill>
                <a:ea typeface="黑体" panose="02010609060101010101" pitchFamily="49" charset="-122"/>
              </a:rPr>
              <a:t>CSMA/CD</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而只能使用改进的 </a:t>
            </a:r>
            <a:r>
              <a:rPr lang="en-US" altLang="zh-CN" dirty="0" smtClean="0">
                <a:ea typeface="黑体" panose="02010609060101010101" pitchFamily="49" charset="-122"/>
              </a:rPr>
              <a:t>CSMA </a:t>
            </a:r>
            <a:r>
              <a:rPr lang="zh-CN" altLang="en-US" dirty="0" smtClean="0">
                <a:ea typeface="黑体" panose="02010609060101010101" pitchFamily="49" charset="-122"/>
              </a:rPr>
              <a:t>协议。</a:t>
            </a:r>
          </a:p>
          <a:p>
            <a:r>
              <a:rPr lang="zh-CN" altLang="en-US" dirty="0" smtClean="0">
                <a:ea typeface="黑体" panose="02010609060101010101" pitchFamily="49" charset="-122"/>
              </a:rPr>
              <a:t>改进的办法是把 </a:t>
            </a:r>
            <a:r>
              <a:rPr lang="en-US" altLang="zh-CN" dirty="0" smtClean="0">
                <a:ea typeface="黑体" panose="02010609060101010101" pitchFamily="49" charset="-122"/>
              </a:rPr>
              <a:t>CSMA </a:t>
            </a:r>
            <a:r>
              <a:rPr lang="zh-CN" altLang="en-US" dirty="0" smtClean="0">
                <a:ea typeface="黑体" panose="02010609060101010101" pitchFamily="49" charset="-122"/>
              </a:rPr>
              <a:t>增加一个</a:t>
            </a:r>
            <a:r>
              <a:rPr lang="zh-CN" altLang="en-US" u="sng" dirty="0" smtClean="0">
                <a:solidFill>
                  <a:srgbClr val="FF0000"/>
                </a:solidFill>
                <a:ea typeface="黑体" panose="02010609060101010101" pitchFamily="49" charset="-122"/>
              </a:rPr>
              <a:t>碰撞避免</a:t>
            </a:r>
            <a:r>
              <a:rPr lang="en-US" altLang="zh-CN" u="sng" dirty="0" smtClean="0">
                <a:ea typeface="黑体" panose="02010609060101010101" pitchFamily="49" charset="-122"/>
              </a:rPr>
              <a:t>CA (Collision Avoidance)</a:t>
            </a:r>
            <a:r>
              <a:rPr lang="zh-CN" altLang="en-US" dirty="0" smtClean="0">
                <a:ea typeface="黑体" panose="02010609060101010101" pitchFamily="49" charset="-122"/>
              </a:rPr>
              <a:t>功能。</a:t>
            </a:r>
          </a:p>
          <a:p>
            <a:r>
              <a:rPr lang="en-US" altLang="zh-CN" dirty="0" smtClean="0">
                <a:solidFill>
                  <a:srgbClr val="FF0000"/>
                </a:solidFill>
                <a:ea typeface="黑体" panose="02010609060101010101" pitchFamily="49" charset="-122"/>
              </a:rPr>
              <a:t>802.11 </a:t>
            </a:r>
            <a:r>
              <a:rPr lang="zh-CN" altLang="en-US" dirty="0" smtClean="0">
                <a:solidFill>
                  <a:srgbClr val="FF0000"/>
                </a:solidFill>
                <a:ea typeface="黑体" panose="02010609060101010101" pitchFamily="49" charset="-122"/>
              </a:rPr>
              <a:t>就使用 </a:t>
            </a:r>
            <a:r>
              <a:rPr lang="en-US" altLang="zh-CN" dirty="0" smtClean="0">
                <a:solidFill>
                  <a:srgbClr val="FF0000"/>
                </a:solidFill>
                <a:ea typeface="黑体" panose="02010609060101010101" pitchFamily="49" charset="-122"/>
              </a:rPr>
              <a:t>CSMA/CA </a:t>
            </a:r>
            <a:r>
              <a:rPr lang="zh-CN" altLang="en-US" dirty="0" smtClean="0">
                <a:solidFill>
                  <a:srgbClr val="FF0000"/>
                </a:solidFill>
                <a:ea typeface="黑体" panose="02010609060101010101" pitchFamily="49" charset="-122"/>
              </a:rPr>
              <a:t>协议。</a:t>
            </a:r>
            <a:r>
              <a:rPr lang="zh-CN" altLang="en-US" dirty="0" smtClean="0">
                <a:ea typeface="黑体" panose="02010609060101010101" pitchFamily="49" charset="-122"/>
              </a:rPr>
              <a:t>而在使用 </a:t>
            </a:r>
            <a:r>
              <a:rPr lang="en-US" altLang="zh-CN" dirty="0" smtClean="0">
                <a:ea typeface="黑体" panose="02010609060101010101" pitchFamily="49" charset="-122"/>
              </a:rPr>
              <a:t>CSMA/CA </a:t>
            </a:r>
            <a:r>
              <a:rPr lang="zh-CN" altLang="en-US" dirty="0" smtClean="0">
                <a:ea typeface="黑体" panose="02010609060101010101" pitchFamily="49" charset="-122"/>
              </a:rPr>
              <a:t>的同时，</a:t>
            </a:r>
            <a:r>
              <a:rPr lang="zh-CN" altLang="en-US" dirty="0" smtClean="0">
                <a:solidFill>
                  <a:srgbClr val="FF0000"/>
                </a:solidFill>
                <a:ea typeface="黑体" panose="02010609060101010101" pitchFamily="49" charset="-122"/>
              </a:rPr>
              <a:t>还增加使用停止等待协议。</a:t>
            </a:r>
          </a:p>
          <a:p>
            <a:r>
              <a:rPr lang="zh-CN" altLang="en-US" dirty="0" smtClean="0">
                <a:ea typeface="黑体" panose="02010609060101010101" pitchFamily="49" charset="-122"/>
              </a:rPr>
              <a:t>下面先介绍 </a:t>
            </a:r>
            <a:r>
              <a:rPr lang="en-US" altLang="zh-CN" dirty="0" smtClean="0">
                <a:ea typeface="黑体" panose="02010609060101010101" pitchFamily="49" charset="-122"/>
              </a:rPr>
              <a:t>802.11 </a:t>
            </a:r>
            <a:r>
              <a:rPr lang="zh-CN" altLang="en-US" dirty="0" smtClean="0">
                <a:ea typeface="黑体" panose="02010609060101010101" pitchFamily="49" charset="-122"/>
              </a:rPr>
              <a:t>的 </a:t>
            </a:r>
            <a:r>
              <a:rPr lang="en-US" altLang="zh-CN" dirty="0" smtClean="0">
                <a:ea typeface="黑体" panose="02010609060101010101" pitchFamily="49" charset="-122"/>
              </a:rPr>
              <a:t>MAC </a:t>
            </a:r>
            <a:r>
              <a:rPr lang="zh-CN" altLang="en-US" dirty="0" smtClean="0">
                <a:ea typeface="黑体" panose="02010609060101010101" pitchFamily="49" charset="-122"/>
              </a:rPr>
              <a:t>层。    </a:t>
            </a:r>
          </a:p>
        </p:txBody>
      </p:sp>
      <p:sp>
        <p:nvSpPr>
          <p:cNvPr id="24104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359F2B8-32E3-48AD-A87D-8538473C5CCF}" type="slidenum">
              <a:rPr lang="zh-CN" altLang="en-US" smtClean="0"/>
              <a:pPr eaLnBrk="1" hangingPunct="1"/>
              <a:t>28</a:t>
            </a:fld>
            <a:endParaRPr lang="en-US" altLang="zh-CN" smtClean="0"/>
          </a:p>
        </p:txBody>
      </p:sp>
      <p:sp>
        <p:nvSpPr>
          <p:cNvPr id="24105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232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232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232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9"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1521" name="Rectangle 6"/>
          <p:cNvSpPr>
            <a:spLocks noGrp="1" noChangeArrowheads="1"/>
          </p:cNvSpPr>
          <p:nvPr>
            <p:ph type="title"/>
          </p:nvPr>
        </p:nvSpPr>
        <p:spPr/>
        <p:txBody>
          <a:bodyPr/>
          <a:lstStyle/>
          <a:p>
            <a:pPr algn="ctr"/>
            <a:r>
              <a:rPr lang="en-US" altLang="zh-CN" smtClean="0">
                <a:ea typeface="黑体" panose="02010609060101010101" pitchFamily="49" charset="-122"/>
              </a:rPr>
              <a:t>802.11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层 </a:t>
            </a:r>
          </a:p>
        </p:txBody>
      </p:sp>
      <p:sp>
        <p:nvSpPr>
          <p:cNvPr id="313390" name="Text Box 46"/>
          <p:cNvSpPr txBox="1">
            <a:spLocks noChangeArrowheads="1"/>
          </p:cNvSpPr>
          <p:nvPr/>
        </p:nvSpPr>
        <p:spPr bwMode="auto">
          <a:xfrm>
            <a:off x="1027113" y="1125538"/>
            <a:ext cx="8102600" cy="954087"/>
          </a:xfrm>
          <a:prstGeom prst="rect">
            <a:avLst/>
          </a:prstGeom>
          <a:solidFill>
            <a:srgbClr val="FFFF66"/>
          </a:solidFill>
          <a:ln w="9525">
            <a:solidFill>
              <a:srgbClr val="333399"/>
            </a:solidFill>
            <a:miter lim="800000"/>
            <a:headEnd/>
            <a:tailEnd/>
          </a:ln>
        </p:spPr>
        <p:txBody>
          <a:bodyPr wrap="none">
            <a:spAutoFit/>
          </a:bodyPr>
          <a:lstStyle/>
          <a:p>
            <a:pPr algn="ctr" eaLnBrk="0" hangingPunct="0"/>
            <a:r>
              <a:rPr lang="en-US" altLang="zh-CN" sz="2800" b="1" dirty="0">
                <a:solidFill>
                  <a:srgbClr val="000099"/>
                </a:solidFill>
                <a:ea typeface="宋体" panose="02010600030101010101" pitchFamily="2" charset="-122"/>
              </a:rPr>
              <a:t>MAC </a:t>
            </a:r>
            <a:r>
              <a:rPr lang="zh-CN" altLang="en-US" sz="2800" b="1" dirty="0">
                <a:solidFill>
                  <a:srgbClr val="000099"/>
                </a:solidFill>
                <a:ea typeface="宋体" panose="02010600030101010101" pitchFamily="2" charset="-122"/>
              </a:rPr>
              <a:t>层通过</a:t>
            </a:r>
            <a:r>
              <a:rPr lang="zh-CN" altLang="en-US" sz="2800" b="1" dirty="0">
                <a:solidFill>
                  <a:srgbClr val="C00000"/>
                </a:solidFill>
                <a:ea typeface="宋体" panose="02010600030101010101" pitchFamily="2" charset="-122"/>
              </a:rPr>
              <a:t>协调功能</a:t>
            </a:r>
            <a:r>
              <a:rPr lang="zh-CN" altLang="en-US" sz="2800" b="1" dirty="0">
                <a:solidFill>
                  <a:srgbClr val="000099"/>
                </a:solidFill>
                <a:ea typeface="宋体" panose="02010600030101010101" pitchFamily="2" charset="-122"/>
              </a:rPr>
              <a:t>来确定在基本服务集 </a:t>
            </a:r>
            <a:r>
              <a:rPr lang="en-US" altLang="zh-CN" sz="2800" b="1" dirty="0">
                <a:solidFill>
                  <a:srgbClr val="000099"/>
                </a:solidFill>
                <a:ea typeface="宋体" panose="02010600030101010101" pitchFamily="2" charset="-122"/>
              </a:rPr>
              <a:t>BSS </a:t>
            </a:r>
            <a:r>
              <a:rPr lang="zh-CN" altLang="en-US" sz="2800" b="1" dirty="0">
                <a:solidFill>
                  <a:srgbClr val="000099"/>
                </a:solidFill>
                <a:ea typeface="宋体" panose="02010600030101010101" pitchFamily="2" charset="-122"/>
              </a:rPr>
              <a:t>中</a:t>
            </a:r>
          </a:p>
          <a:p>
            <a:pPr algn="ctr" eaLnBrk="0" hangingPunct="0"/>
            <a:r>
              <a:rPr lang="zh-CN" altLang="en-US" sz="2800" b="1" dirty="0">
                <a:solidFill>
                  <a:srgbClr val="000099"/>
                </a:solidFill>
                <a:ea typeface="宋体" panose="02010600030101010101" pitchFamily="2" charset="-122"/>
              </a:rPr>
              <a:t>的移动站在什么时间能发送数据或接收数据。 </a:t>
            </a:r>
          </a:p>
        </p:txBody>
      </p:sp>
      <p:grpSp>
        <p:nvGrpSpPr>
          <p:cNvPr id="2411523" name="组合 2"/>
          <p:cNvGrpSpPr>
            <a:grpSpLocks/>
          </p:cNvGrpSpPr>
          <p:nvPr/>
        </p:nvGrpSpPr>
        <p:grpSpPr bwMode="auto">
          <a:xfrm>
            <a:off x="249238" y="2117725"/>
            <a:ext cx="9305925" cy="4191000"/>
            <a:chOff x="249795" y="2117800"/>
            <a:chExt cx="9305368" cy="4191520"/>
          </a:xfrm>
        </p:grpSpPr>
        <p:sp>
          <p:nvSpPr>
            <p:cNvPr id="2411524" name="Line 13"/>
            <p:cNvSpPr>
              <a:spLocks noChangeShapeType="1"/>
            </p:cNvSpPr>
            <p:nvPr/>
          </p:nvSpPr>
          <p:spPr bwMode="auto">
            <a:xfrm>
              <a:off x="673953" y="2951946"/>
              <a:ext cx="0" cy="2710171"/>
            </a:xfrm>
            <a:prstGeom prst="line">
              <a:avLst/>
            </a:prstGeom>
            <a:noFill/>
            <a:ln w="2857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1525" name="Text Box 14"/>
            <p:cNvSpPr txBox="1">
              <a:spLocks noChangeArrowheads="1"/>
            </p:cNvSpPr>
            <p:nvPr/>
          </p:nvSpPr>
          <p:spPr bwMode="auto">
            <a:xfrm>
              <a:off x="249795" y="3933056"/>
              <a:ext cx="886781"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MAC</a:t>
              </a:r>
            </a:p>
            <a:p>
              <a:pPr eaLnBrk="0" hangingPunct="0"/>
              <a:r>
                <a:rPr lang="en-US" altLang="zh-CN" b="1">
                  <a:solidFill>
                    <a:srgbClr val="000099"/>
                  </a:solidFill>
                  <a:ea typeface="宋体" panose="02010600030101010101" pitchFamily="2" charset="-122"/>
                </a:rPr>
                <a:t> </a:t>
              </a:r>
              <a:r>
                <a:rPr lang="zh-CN" altLang="en-US" b="1">
                  <a:solidFill>
                    <a:srgbClr val="000099"/>
                  </a:solidFill>
                  <a:ea typeface="宋体" panose="02010600030101010101" pitchFamily="2" charset="-122"/>
                </a:rPr>
                <a:t>层</a:t>
              </a:r>
            </a:p>
          </p:txBody>
        </p:sp>
        <p:sp>
          <p:nvSpPr>
            <p:cNvPr id="2411526" name="Text Box 15"/>
            <p:cNvSpPr txBox="1">
              <a:spLocks noChangeArrowheads="1"/>
            </p:cNvSpPr>
            <p:nvPr/>
          </p:nvSpPr>
          <p:spPr bwMode="auto">
            <a:xfrm>
              <a:off x="2144581" y="2117800"/>
              <a:ext cx="39004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800" b="1">
                  <a:solidFill>
                    <a:srgbClr val="FF0000"/>
                  </a:solidFill>
                  <a:ea typeface="宋体" panose="02010600030101010101" pitchFamily="2" charset="-122"/>
                </a:rPr>
                <a:t>无争用服务（选用）</a:t>
              </a:r>
            </a:p>
          </p:txBody>
        </p:sp>
        <p:sp>
          <p:nvSpPr>
            <p:cNvPr id="2411527" name="Rectangle 16"/>
            <p:cNvSpPr>
              <a:spLocks noChangeArrowheads="1"/>
            </p:cNvSpPr>
            <p:nvPr/>
          </p:nvSpPr>
          <p:spPr bwMode="auto">
            <a:xfrm>
              <a:off x="1209015" y="4160838"/>
              <a:ext cx="8346148" cy="2148482"/>
            </a:xfrm>
            <a:prstGeom prst="rect">
              <a:avLst/>
            </a:prstGeom>
            <a:solidFill>
              <a:srgbClr val="FFFF99"/>
            </a:solidFill>
            <a:ln w="28575">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1528" name="Rectangle 18"/>
            <p:cNvSpPr>
              <a:spLocks noChangeArrowheads="1"/>
            </p:cNvSpPr>
            <p:nvPr/>
          </p:nvSpPr>
          <p:spPr bwMode="auto">
            <a:xfrm>
              <a:off x="1246850" y="4181475"/>
              <a:ext cx="8308313" cy="1496616"/>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1529" name="Rectangle 19"/>
            <p:cNvSpPr>
              <a:spLocks noChangeArrowheads="1"/>
            </p:cNvSpPr>
            <p:nvPr/>
          </p:nvSpPr>
          <p:spPr bwMode="auto">
            <a:xfrm>
              <a:off x="1234811" y="2951946"/>
              <a:ext cx="5107781" cy="118666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1530" name="Text Box 20"/>
            <p:cNvSpPr txBox="1">
              <a:spLocks noChangeArrowheads="1"/>
            </p:cNvSpPr>
            <p:nvPr/>
          </p:nvSpPr>
          <p:spPr bwMode="auto">
            <a:xfrm>
              <a:off x="6790362" y="2546901"/>
              <a:ext cx="233910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solidFill>
                    <a:srgbClr val="FF0000"/>
                  </a:solidFill>
                  <a:ea typeface="宋体" panose="02010600030101010101" pitchFamily="2" charset="-122"/>
                </a:rPr>
                <a:t>争用服务</a:t>
              </a:r>
            </a:p>
            <a:p>
              <a:pPr algn="ctr" eaLnBrk="0" hangingPunct="0"/>
              <a:r>
                <a:rPr lang="zh-CN" altLang="en-US" sz="2800" b="1">
                  <a:solidFill>
                    <a:srgbClr val="FF0000"/>
                  </a:solidFill>
                  <a:ea typeface="宋体" panose="02010600030101010101" pitchFamily="2" charset="-122"/>
                </a:rPr>
                <a:t>（必须实现）</a:t>
              </a:r>
            </a:p>
          </p:txBody>
        </p:sp>
        <p:sp>
          <p:nvSpPr>
            <p:cNvPr id="2411531" name="Text Box 23"/>
            <p:cNvSpPr txBox="1">
              <a:spLocks noChangeArrowheads="1"/>
            </p:cNvSpPr>
            <p:nvPr/>
          </p:nvSpPr>
          <p:spPr bwMode="auto">
            <a:xfrm>
              <a:off x="2186030" y="4293096"/>
              <a:ext cx="652454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u="sng" dirty="0">
                  <a:solidFill>
                    <a:srgbClr val="FF0000"/>
                  </a:solidFill>
                  <a:ea typeface="宋体" panose="02010600030101010101" pitchFamily="2" charset="-122"/>
                </a:rPr>
                <a:t>分布协调功能 </a:t>
              </a:r>
              <a:r>
                <a:rPr lang="en-US" altLang="zh-CN" sz="2800" b="1" u="sng" dirty="0">
                  <a:solidFill>
                    <a:srgbClr val="FF0000"/>
                  </a:solidFill>
                  <a:ea typeface="宋体" panose="02010600030101010101" pitchFamily="2" charset="-122"/>
                </a:rPr>
                <a:t>DCF</a:t>
              </a:r>
            </a:p>
            <a:p>
              <a:pPr algn="ctr" eaLnBrk="0" hangingPunct="0"/>
              <a:r>
                <a:rPr lang="en-US" altLang="zh-CN" sz="2800" b="1" u="sng" dirty="0">
                  <a:solidFill>
                    <a:srgbClr val="000099"/>
                  </a:solidFill>
                  <a:ea typeface="宋体" panose="02010600030101010101" pitchFamily="2" charset="-122"/>
                </a:rPr>
                <a:t>(Distributed Coordination Function)</a:t>
              </a:r>
            </a:p>
            <a:p>
              <a:pPr algn="ctr" eaLnBrk="0" hangingPunct="0"/>
              <a:r>
                <a:rPr lang="en-US" altLang="zh-CN" sz="2800" b="1" u="sng" dirty="0">
                  <a:solidFill>
                    <a:srgbClr val="000099"/>
                  </a:solidFill>
                  <a:ea typeface="宋体" panose="02010600030101010101" pitchFamily="2" charset="-122"/>
                </a:rPr>
                <a:t>(CSMA/CA)</a:t>
              </a:r>
            </a:p>
          </p:txBody>
        </p:sp>
        <p:sp>
          <p:nvSpPr>
            <p:cNvPr id="2411532" name="Text Box 24"/>
            <p:cNvSpPr txBox="1">
              <a:spLocks noChangeArrowheads="1"/>
            </p:cNvSpPr>
            <p:nvPr/>
          </p:nvSpPr>
          <p:spPr bwMode="auto">
            <a:xfrm>
              <a:off x="1014815" y="2997200"/>
              <a:ext cx="543770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u="sng" dirty="0">
                  <a:solidFill>
                    <a:srgbClr val="FF0000"/>
                  </a:solidFill>
                  <a:ea typeface="宋体" panose="02010600030101010101" pitchFamily="2" charset="-122"/>
                </a:rPr>
                <a:t>点协调功能 </a:t>
              </a:r>
              <a:r>
                <a:rPr lang="en-US" altLang="zh-CN" sz="2800" b="1" u="sng" dirty="0">
                  <a:solidFill>
                    <a:srgbClr val="FF0000"/>
                  </a:solidFill>
                  <a:ea typeface="宋体" panose="02010600030101010101" pitchFamily="2" charset="-122"/>
                </a:rPr>
                <a:t>PCF</a:t>
              </a:r>
            </a:p>
            <a:p>
              <a:pPr algn="ctr" eaLnBrk="0" hangingPunct="0"/>
              <a:r>
                <a:rPr lang="en-US" altLang="zh-CN" sz="2800" b="1" u="sng" dirty="0">
                  <a:solidFill>
                    <a:srgbClr val="000099"/>
                  </a:solidFill>
                  <a:ea typeface="宋体" panose="02010600030101010101" pitchFamily="2" charset="-122"/>
                </a:rPr>
                <a:t>(Point Coordination Function)</a:t>
              </a:r>
            </a:p>
          </p:txBody>
        </p:sp>
        <p:sp>
          <p:nvSpPr>
            <p:cNvPr id="2411533" name="Rectangle 25"/>
            <p:cNvSpPr>
              <a:spLocks noChangeArrowheads="1"/>
            </p:cNvSpPr>
            <p:nvPr/>
          </p:nvSpPr>
          <p:spPr bwMode="auto">
            <a:xfrm>
              <a:off x="1209015" y="2924174"/>
              <a:ext cx="5140457" cy="123666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1534" name="Line 37"/>
            <p:cNvSpPr>
              <a:spLocks noChangeShapeType="1"/>
            </p:cNvSpPr>
            <p:nvPr/>
          </p:nvSpPr>
          <p:spPr bwMode="auto">
            <a:xfrm>
              <a:off x="256043" y="2924944"/>
              <a:ext cx="880533"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1535" name="Text Box 12"/>
            <p:cNvSpPr txBox="1">
              <a:spLocks noChangeArrowheads="1"/>
            </p:cNvSpPr>
            <p:nvPr/>
          </p:nvSpPr>
          <p:spPr bwMode="auto">
            <a:xfrm>
              <a:off x="4736976" y="5733256"/>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宋体" panose="02010600030101010101" pitchFamily="2" charset="-122"/>
                </a:rPr>
                <a:t>物理层</a:t>
              </a:r>
            </a:p>
          </p:txBody>
        </p:sp>
        <p:sp>
          <p:nvSpPr>
            <p:cNvPr id="2411536" name="Line 36"/>
            <p:cNvSpPr>
              <a:spLocks noChangeShapeType="1"/>
            </p:cNvSpPr>
            <p:nvPr/>
          </p:nvSpPr>
          <p:spPr bwMode="auto">
            <a:xfrm>
              <a:off x="256043" y="5662116"/>
              <a:ext cx="880533"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1537" name="Line 49"/>
            <p:cNvSpPr>
              <a:spLocks noChangeShapeType="1"/>
            </p:cNvSpPr>
            <p:nvPr/>
          </p:nvSpPr>
          <p:spPr bwMode="auto">
            <a:xfrm flipV="1">
              <a:off x="1200415" y="5659660"/>
              <a:ext cx="8354748" cy="158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1538" name="AutoShape 50"/>
            <p:cNvSpPr>
              <a:spLocks noChangeArrowheads="1"/>
            </p:cNvSpPr>
            <p:nvPr/>
          </p:nvSpPr>
          <p:spPr bwMode="auto">
            <a:xfrm>
              <a:off x="7684030" y="3474253"/>
              <a:ext cx="624285" cy="818348"/>
            </a:xfrm>
            <a:prstGeom prst="upArrow">
              <a:avLst>
                <a:gd name="adj1" fmla="val 50000"/>
                <a:gd name="adj2" fmla="val 40564"/>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宋体" panose="02010600030101010101" pitchFamily="2" charset="-122"/>
              </a:endParaRPr>
            </a:p>
          </p:txBody>
        </p:sp>
        <p:sp>
          <p:nvSpPr>
            <p:cNvPr id="2411539" name="AutoShape 51"/>
            <p:cNvSpPr>
              <a:spLocks noChangeArrowheads="1"/>
            </p:cNvSpPr>
            <p:nvPr/>
          </p:nvSpPr>
          <p:spPr bwMode="auto">
            <a:xfrm>
              <a:off x="3470540" y="2636391"/>
              <a:ext cx="624285" cy="431800"/>
            </a:xfrm>
            <a:prstGeom prst="up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宋体" panose="02010600030101010101" pitchFamily="2" charset="-122"/>
              </a:endParaRPr>
            </a:p>
          </p:txBody>
        </p:sp>
      </p:grpSp>
      <p:sp>
        <p:nvSpPr>
          <p:cNvPr id="241154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1584AAD-992B-4E3E-B716-5A9DDAD37287}" type="slidenum">
              <a:rPr lang="zh-CN" altLang="en-US" smtClean="0"/>
              <a:pPr eaLnBrk="1" hangingPunct="1"/>
              <a:t>29</a:t>
            </a:fld>
            <a:endParaRPr lang="en-US" altLang="zh-CN" smtClean="0"/>
          </a:p>
        </p:txBody>
      </p:sp>
      <p:sp>
        <p:nvSpPr>
          <p:cNvPr id="241154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33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9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70" name="Line 22"/>
          <p:cNvSpPr>
            <a:spLocks noChangeShapeType="1"/>
          </p:cNvSpPr>
          <p:nvPr/>
        </p:nvSpPr>
        <p:spPr bwMode="auto">
          <a:xfrm>
            <a:off x="6900863" y="1725613"/>
            <a:ext cx="3175" cy="2566987"/>
          </a:xfrm>
          <a:prstGeom prst="line">
            <a:avLst/>
          </a:prstGeom>
          <a:noFill/>
          <a:ln w="762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nvGrpSpPr>
          <p:cNvPr id="2412546" name="组合 20"/>
          <p:cNvGrpSpPr>
            <a:grpSpLocks/>
          </p:cNvGrpSpPr>
          <p:nvPr/>
        </p:nvGrpSpPr>
        <p:grpSpPr bwMode="auto">
          <a:xfrm>
            <a:off x="249238" y="2117725"/>
            <a:ext cx="9305925" cy="4191000"/>
            <a:chOff x="249795" y="2117800"/>
            <a:chExt cx="9305368" cy="4191520"/>
          </a:xfrm>
        </p:grpSpPr>
        <p:sp>
          <p:nvSpPr>
            <p:cNvPr id="2412547" name="Line 13"/>
            <p:cNvSpPr>
              <a:spLocks noChangeShapeType="1"/>
            </p:cNvSpPr>
            <p:nvPr/>
          </p:nvSpPr>
          <p:spPr bwMode="auto">
            <a:xfrm>
              <a:off x="673953" y="2951946"/>
              <a:ext cx="0" cy="2710171"/>
            </a:xfrm>
            <a:prstGeom prst="line">
              <a:avLst/>
            </a:prstGeom>
            <a:noFill/>
            <a:ln w="2857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2548" name="Text Box 14"/>
            <p:cNvSpPr txBox="1">
              <a:spLocks noChangeArrowheads="1"/>
            </p:cNvSpPr>
            <p:nvPr/>
          </p:nvSpPr>
          <p:spPr bwMode="auto">
            <a:xfrm>
              <a:off x="249795" y="3933056"/>
              <a:ext cx="886781"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MAC</a:t>
              </a:r>
            </a:p>
            <a:p>
              <a:pPr eaLnBrk="0" hangingPunct="0"/>
              <a:r>
                <a:rPr lang="en-US" altLang="zh-CN" b="1">
                  <a:solidFill>
                    <a:srgbClr val="000099"/>
                  </a:solidFill>
                  <a:ea typeface="宋体" panose="02010600030101010101" pitchFamily="2" charset="-122"/>
                </a:rPr>
                <a:t> </a:t>
              </a:r>
              <a:r>
                <a:rPr lang="zh-CN" altLang="en-US" b="1">
                  <a:solidFill>
                    <a:srgbClr val="000099"/>
                  </a:solidFill>
                  <a:ea typeface="宋体" panose="02010600030101010101" pitchFamily="2" charset="-122"/>
                </a:rPr>
                <a:t>层</a:t>
              </a:r>
            </a:p>
          </p:txBody>
        </p:sp>
        <p:sp>
          <p:nvSpPr>
            <p:cNvPr id="2412549" name="Text Box 15"/>
            <p:cNvSpPr txBox="1">
              <a:spLocks noChangeArrowheads="1"/>
            </p:cNvSpPr>
            <p:nvPr/>
          </p:nvSpPr>
          <p:spPr bwMode="auto">
            <a:xfrm>
              <a:off x="2144581" y="2117800"/>
              <a:ext cx="39004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800" b="1">
                  <a:solidFill>
                    <a:srgbClr val="FF0000"/>
                  </a:solidFill>
                  <a:ea typeface="宋体" panose="02010600030101010101" pitchFamily="2" charset="-122"/>
                </a:rPr>
                <a:t>无争用服务（选用）</a:t>
              </a:r>
            </a:p>
          </p:txBody>
        </p:sp>
        <p:sp>
          <p:nvSpPr>
            <p:cNvPr id="2412550" name="Rectangle 16"/>
            <p:cNvSpPr>
              <a:spLocks noChangeArrowheads="1"/>
            </p:cNvSpPr>
            <p:nvPr/>
          </p:nvSpPr>
          <p:spPr bwMode="auto">
            <a:xfrm>
              <a:off x="1209015" y="4160838"/>
              <a:ext cx="8346148" cy="2148482"/>
            </a:xfrm>
            <a:prstGeom prst="rect">
              <a:avLst/>
            </a:prstGeom>
            <a:solidFill>
              <a:srgbClr val="FFFF99"/>
            </a:solidFill>
            <a:ln w="28575">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2551" name="Rectangle 18"/>
            <p:cNvSpPr>
              <a:spLocks noChangeArrowheads="1"/>
            </p:cNvSpPr>
            <p:nvPr/>
          </p:nvSpPr>
          <p:spPr bwMode="auto">
            <a:xfrm>
              <a:off x="1246850" y="4181475"/>
              <a:ext cx="8308313" cy="1496616"/>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2552" name="Rectangle 19"/>
            <p:cNvSpPr>
              <a:spLocks noChangeArrowheads="1"/>
            </p:cNvSpPr>
            <p:nvPr/>
          </p:nvSpPr>
          <p:spPr bwMode="auto">
            <a:xfrm>
              <a:off x="1234811" y="2951946"/>
              <a:ext cx="5107781" cy="118666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2553" name="Text Box 20"/>
            <p:cNvSpPr txBox="1">
              <a:spLocks noChangeArrowheads="1"/>
            </p:cNvSpPr>
            <p:nvPr/>
          </p:nvSpPr>
          <p:spPr bwMode="auto">
            <a:xfrm>
              <a:off x="6790362" y="2546901"/>
              <a:ext cx="233910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solidFill>
                    <a:srgbClr val="FF0000"/>
                  </a:solidFill>
                  <a:ea typeface="宋体" panose="02010600030101010101" pitchFamily="2" charset="-122"/>
                </a:rPr>
                <a:t>争用服务</a:t>
              </a:r>
            </a:p>
            <a:p>
              <a:pPr algn="ctr" eaLnBrk="0" hangingPunct="0"/>
              <a:r>
                <a:rPr lang="zh-CN" altLang="en-US" sz="2800" b="1">
                  <a:solidFill>
                    <a:srgbClr val="FF0000"/>
                  </a:solidFill>
                  <a:ea typeface="宋体" panose="02010600030101010101" pitchFamily="2" charset="-122"/>
                </a:rPr>
                <a:t>（必须实现）</a:t>
              </a:r>
            </a:p>
          </p:txBody>
        </p:sp>
        <p:sp>
          <p:nvSpPr>
            <p:cNvPr id="2412554" name="Text Box 23"/>
            <p:cNvSpPr txBox="1">
              <a:spLocks noChangeArrowheads="1"/>
            </p:cNvSpPr>
            <p:nvPr/>
          </p:nvSpPr>
          <p:spPr bwMode="auto">
            <a:xfrm>
              <a:off x="2186030" y="4293096"/>
              <a:ext cx="652454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u="sng" dirty="0">
                  <a:solidFill>
                    <a:srgbClr val="FF0000"/>
                  </a:solidFill>
                  <a:ea typeface="宋体" panose="02010600030101010101" pitchFamily="2" charset="-122"/>
                </a:rPr>
                <a:t>分布协调功能 </a:t>
              </a:r>
              <a:r>
                <a:rPr lang="en-US" altLang="zh-CN" sz="2800" b="1" u="sng" dirty="0">
                  <a:solidFill>
                    <a:srgbClr val="FF0000"/>
                  </a:solidFill>
                  <a:ea typeface="宋体" panose="02010600030101010101" pitchFamily="2" charset="-122"/>
                </a:rPr>
                <a:t>DCF</a:t>
              </a:r>
            </a:p>
            <a:p>
              <a:pPr algn="ctr" eaLnBrk="0" hangingPunct="0"/>
              <a:r>
                <a:rPr lang="en-US" altLang="zh-CN" sz="2800" b="1" u="sng" dirty="0">
                  <a:solidFill>
                    <a:srgbClr val="000099"/>
                  </a:solidFill>
                  <a:ea typeface="宋体" panose="02010600030101010101" pitchFamily="2" charset="-122"/>
                </a:rPr>
                <a:t>(Distributed Coordination Function)</a:t>
              </a:r>
            </a:p>
            <a:p>
              <a:pPr algn="ctr" eaLnBrk="0" hangingPunct="0"/>
              <a:r>
                <a:rPr lang="en-US" altLang="zh-CN" sz="2800" b="1" u="sng" dirty="0">
                  <a:solidFill>
                    <a:srgbClr val="000099"/>
                  </a:solidFill>
                  <a:ea typeface="宋体" panose="02010600030101010101" pitchFamily="2" charset="-122"/>
                </a:rPr>
                <a:t>(CSMA/CA)</a:t>
              </a:r>
            </a:p>
          </p:txBody>
        </p:sp>
        <p:sp>
          <p:nvSpPr>
            <p:cNvPr id="2412555" name="Text Box 24"/>
            <p:cNvSpPr txBox="1">
              <a:spLocks noChangeArrowheads="1"/>
            </p:cNvSpPr>
            <p:nvPr/>
          </p:nvSpPr>
          <p:spPr bwMode="auto">
            <a:xfrm>
              <a:off x="1014815" y="2997200"/>
              <a:ext cx="543770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u="sng" dirty="0">
                  <a:solidFill>
                    <a:srgbClr val="FF0000"/>
                  </a:solidFill>
                  <a:ea typeface="宋体" panose="02010600030101010101" pitchFamily="2" charset="-122"/>
                </a:rPr>
                <a:t>点协调功能 </a:t>
              </a:r>
              <a:r>
                <a:rPr lang="en-US" altLang="zh-CN" sz="2800" b="1" u="sng" dirty="0">
                  <a:solidFill>
                    <a:srgbClr val="FF0000"/>
                  </a:solidFill>
                  <a:ea typeface="宋体" panose="02010600030101010101" pitchFamily="2" charset="-122"/>
                </a:rPr>
                <a:t>PCF</a:t>
              </a:r>
            </a:p>
            <a:p>
              <a:pPr algn="ctr" eaLnBrk="0" hangingPunct="0"/>
              <a:r>
                <a:rPr lang="en-US" altLang="zh-CN" sz="2800" b="1" u="sng" dirty="0">
                  <a:solidFill>
                    <a:srgbClr val="000099"/>
                  </a:solidFill>
                  <a:ea typeface="宋体" panose="02010600030101010101" pitchFamily="2" charset="-122"/>
                </a:rPr>
                <a:t>(Point Coordination Function)</a:t>
              </a:r>
            </a:p>
          </p:txBody>
        </p:sp>
        <p:sp>
          <p:nvSpPr>
            <p:cNvPr id="2412556" name="Rectangle 25"/>
            <p:cNvSpPr>
              <a:spLocks noChangeArrowheads="1"/>
            </p:cNvSpPr>
            <p:nvPr/>
          </p:nvSpPr>
          <p:spPr bwMode="auto">
            <a:xfrm>
              <a:off x="1209015" y="2924174"/>
              <a:ext cx="5140457" cy="123666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2557" name="Line 37"/>
            <p:cNvSpPr>
              <a:spLocks noChangeShapeType="1"/>
            </p:cNvSpPr>
            <p:nvPr/>
          </p:nvSpPr>
          <p:spPr bwMode="auto">
            <a:xfrm>
              <a:off x="256043" y="2924944"/>
              <a:ext cx="880533"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2558" name="Text Box 12"/>
            <p:cNvSpPr txBox="1">
              <a:spLocks noChangeArrowheads="1"/>
            </p:cNvSpPr>
            <p:nvPr/>
          </p:nvSpPr>
          <p:spPr bwMode="auto">
            <a:xfrm>
              <a:off x="4736976" y="5733256"/>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宋体" panose="02010600030101010101" pitchFamily="2" charset="-122"/>
                </a:rPr>
                <a:t>物理层</a:t>
              </a:r>
            </a:p>
          </p:txBody>
        </p:sp>
        <p:sp>
          <p:nvSpPr>
            <p:cNvPr id="2412559" name="Line 36"/>
            <p:cNvSpPr>
              <a:spLocks noChangeShapeType="1"/>
            </p:cNvSpPr>
            <p:nvPr/>
          </p:nvSpPr>
          <p:spPr bwMode="auto">
            <a:xfrm>
              <a:off x="256043" y="5662116"/>
              <a:ext cx="880533"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2560" name="Line 49"/>
            <p:cNvSpPr>
              <a:spLocks noChangeShapeType="1"/>
            </p:cNvSpPr>
            <p:nvPr/>
          </p:nvSpPr>
          <p:spPr bwMode="auto">
            <a:xfrm flipV="1">
              <a:off x="1200415" y="5659660"/>
              <a:ext cx="8354748" cy="158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2561" name="AutoShape 50"/>
            <p:cNvSpPr>
              <a:spLocks noChangeArrowheads="1"/>
            </p:cNvSpPr>
            <p:nvPr/>
          </p:nvSpPr>
          <p:spPr bwMode="auto">
            <a:xfrm>
              <a:off x="7684030" y="3474253"/>
              <a:ext cx="624285" cy="818348"/>
            </a:xfrm>
            <a:prstGeom prst="upArrow">
              <a:avLst>
                <a:gd name="adj1" fmla="val 50000"/>
                <a:gd name="adj2" fmla="val 40564"/>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宋体" panose="02010600030101010101" pitchFamily="2" charset="-122"/>
              </a:endParaRPr>
            </a:p>
          </p:txBody>
        </p:sp>
        <p:sp>
          <p:nvSpPr>
            <p:cNvPr id="2412562" name="AutoShape 51"/>
            <p:cNvSpPr>
              <a:spLocks noChangeArrowheads="1"/>
            </p:cNvSpPr>
            <p:nvPr/>
          </p:nvSpPr>
          <p:spPr bwMode="auto">
            <a:xfrm>
              <a:off x="3470540" y="2636391"/>
              <a:ext cx="624285" cy="431800"/>
            </a:xfrm>
            <a:prstGeom prst="up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宋体" panose="02010600030101010101" pitchFamily="2" charset="-122"/>
              </a:endParaRPr>
            </a:p>
          </p:txBody>
        </p:sp>
      </p:grpSp>
      <p:sp>
        <p:nvSpPr>
          <p:cNvPr id="2412563" name="标题 2"/>
          <p:cNvSpPr>
            <a:spLocks noGrp="1" noChangeArrowheads="1"/>
          </p:cNvSpPr>
          <p:nvPr>
            <p:ph type="title"/>
          </p:nvPr>
        </p:nvSpPr>
        <p:spPr/>
        <p:txBody>
          <a:bodyPr/>
          <a:lstStyle/>
          <a:p>
            <a:pPr algn="ctr"/>
            <a:r>
              <a:rPr lang="en-US" altLang="zh-CN" smtClean="0">
                <a:ea typeface="黑体" panose="02010609060101010101" pitchFamily="49" charset="-122"/>
              </a:rPr>
              <a:t>802.11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层 </a:t>
            </a:r>
          </a:p>
        </p:txBody>
      </p:sp>
      <p:sp>
        <p:nvSpPr>
          <p:cNvPr id="2412564" name="矩形 3"/>
          <p:cNvSpPr>
            <a:spLocks noChangeArrowheads="1"/>
          </p:cNvSpPr>
          <p:nvPr/>
        </p:nvSpPr>
        <p:spPr bwMode="auto">
          <a:xfrm>
            <a:off x="488950" y="188913"/>
            <a:ext cx="9217025" cy="1570037"/>
          </a:xfrm>
          <a:prstGeom prst="rect">
            <a:avLst/>
          </a:prstGeom>
          <a:solidFill>
            <a:srgbClr val="FFFF66"/>
          </a:solidFill>
          <a:ln w="9525">
            <a:solidFill>
              <a:srgbClr val="333399"/>
            </a:solidFill>
            <a:miter lim="800000"/>
            <a:headEnd/>
            <a:tailEnd/>
          </a:ln>
        </p:spPr>
        <p:txBody>
          <a:bodyPr>
            <a:spAutoFit/>
          </a:bodyPr>
          <a:lstStyle/>
          <a:p>
            <a:pPr algn="ctr" eaLnBrk="0" hangingPunct="0"/>
            <a:r>
              <a:rPr lang="en-US" altLang="zh-CN" sz="3200" b="1" dirty="0">
                <a:solidFill>
                  <a:srgbClr val="000099"/>
                </a:solidFill>
                <a:ea typeface="宋体" panose="02010600030101010101" pitchFamily="2" charset="-122"/>
              </a:rPr>
              <a:t>DCF </a:t>
            </a:r>
            <a:r>
              <a:rPr lang="zh-CN" altLang="en-US" sz="3200" b="1" dirty="0">
                <a:solidFill>
                  <a:srgbClr val="000099"/>
                </a:solidFill>
                <a:ea typeface="宋体" panose="02010600030101010101" pitchFamily="2" charset="-122"/>
              </a:rPr>
              <a:t>子层在每一个结点使用 </a:t>
            </a:r>
            <a:r>
              <a:rPr lang="en-US" altLang="zh-CN" sz="3200" b="1" dirty="0">
                <a:solidFill>
                  <a:srgbClr val="000099"/>
                </a:solidFill>
                <a:ea typeface="宋体" panose="02010600030101010101" pitchFamily="2" charset="-122"/>
              </a:rPr>
              <a:t>CSMA </a:t>
            </a:r>
            <a:r>
              <a:rPr lang="zh-CN" altLang="en-US" sz="3200" b="1" dirty="0">
                <a:solidFill>
                  <a:srgbClr val="000099"/>
                </a:solidFill>
                <a:ea typeface="宋体" panose="02010600030101010101" pitchFamily="2" charset="-122"/>
              </a:rPr>
              <a:t>机制的</a:t>
            </a:r>
            <a:r>
              <a:rPr lang="zh-CN" altLang="en-US" sz="3200" b="1" dirty="0">
                <a:solidFill>
                  <a:srgbClr val="C00000"/>
                </a:solidFill>
                <a:ea typeface="宋体" panose="02010600030101010101" pitchFamily="2" charset="-122"/>
              </a:rPr>
              <a:t>分布式接入</a:t>
            </a:r>
            <a:r>
              <a:rPr lang="zh-CN" altLang="en-US" sz="3200" b="1" dirty="0">
                <a:solidFill>
                  <a:srgbClr val="000099"/>
                </a:solidFill>
                <a:ea typeface="宋体" panose="02010600030101010101" pitchFamily="2" charset="-122"/>
              </a:rPr>
              <a:t>算法，让各个站通过</a:t>
            </a:r>
            <a:r>
              <a:rPr lang="zh-CN" altLang="en-US" sz="3200" b="1" dirty="0">
                <a:solidFill>
                  <a:srgbClr val="C00000"/>
                </a:solidFill>
                <a:ea typeface="宋体" panose="02010600030101010101" pitchFamily="2" charset="-122"/>
              </a:rPr>
              <a:t>争用</a:t>
            </a:r>
            <a:r>
              <a:rPr lang="zh-CN" altLang="en-US" sz="3200" b="1" dirty="0">
                <a:solidFill>
                  <a:srgbClr val="000099"/>
                </a:solidFill>
                <a:ea typeface="宋体" panose="02010600030101010101" pitchFamily="2" charset="-122"/>
              </a:rPr>
              <a:t>信道来获取发送权。</a:t>
            </a:r>
            <a:endParaRPr lang="en-US" altLang="zh-CN" sz="3200" b="1" dirty="0">
              <a:solidFill>
                <a:srgbClr val="000099"/>
              </a:solidFill>
              <a:ea typeface="宋体" panose="02010600030101010101" pitchFamily="2" charset="-122"/>
            </a:endParaRPr>
          </a:p>
          <a:p>
            <a:pPr algn="ctr" eaLnBrk="0" hangingPunct="0"/>
            <a:r>
              <a:rPr lang="zh-CN" altLang="en-US" sz="3200" b="1" dirty="0">
                <a:solidFill>
                  <a:srgbClr val="000099"/>
                </a:solidFill>
                <a:ea typeface="宋体" panose="02010600030101010101" pitchFamily="2" charset="-122"/>
              </a:rPr>
              <a:t>因此 </a:t>
            </a:r>
            <a:r>
              <a:rPr lang="en-US" altLang="zh-CN" sz="3200" b="1" dirty="0">
                <a:solidFill>
                  <a:srgbClr val="000099"/>
                </a:solidFill>
                <a:ea typeface="宋体" panose="02010600030101010101" pitchFamily="2" charset="-122"/>
              </a:rPr>
              <a:t>DCF </a:t>
            </a:r>
            <a:r>
              <a:rPr lang="zh-CN" altLang="en-US" sz="3200" b="1" dirty="0">
                <a:solidFill>
                  <a:srgbClr val="000099"/>
                </a:solidFill>
                <a:ea typeface="宋体" panose="02010600030101010101" pitchFamily="2" charset="-122"/>
              </a:rPr>
              <a:t>向上提供争用服务。</a:t>
            </a:r>
          </a:p>
        </p:txBody>
      </p:sp>
      <p:sp>
        <p:nvSpPr>
          <p:cNvPr id="241256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38C82F3-7CFE-48F7-9C34-6C7A5A96BF97}" type="slidenum">
              <a:rPr lang="zh-CN" altLang="en-US" smtClean="0"/>
              <a:pPr eaLnBrk="1" hangingPunct="1"/>
              <a:t>30</a:t>
            </a:fld>
            <a:endParaRPr lang="en-US" altLang="zh-CN" smtClean="0"/>
          </a:p>
        </p:txBody>
      </p:sp>
      <p:sp>
        <p:nvSpPr>
          <p:cNvPr id="241256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04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7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94" name="Line 22"/>
          <p:cNvSpPr>
            <a:spLocks noChangeShapeType="1"/>
          </p:cNvSpPr>
          <p:nvPr/>
        </p:nvSpPr>
        <p:spPr bwMode="auto">
          <a:xfrm>
            <a:off x="5457825" y="1236663"/>
            <a:ext cx="0" cy="1760537"/>
          </a:xfrm>
          <a:prstGeom prst="line">
            <a:avLst/>
          </a:prstGeom>
          <a:noFill/>
          <a:ln w="762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nvGrpSpPr>
          <p:cNvPr id="2413570" name="组合 19"/>
          <p:cNvGrpSpPr>
            <a:grpSpLocks/>
          </p:cNvGrpSpPr>
          <p:nvPr/>
        </p:nvGrpSpPr>
        <p:grpSpPr bwMode="auto">
          <a:xfrm>
            <a:off x="249238" y="2117725"/>
            <a:ext cx="9305925" cy="4191000"/>
            <a:chOff x="249795" y="2117800"/>
            <a:chExt cx="9305368" cy="4191520"/>
          </a:xfrm>
        </p:grpSpPr>
        <p:sp>
          <p:nvSpPr>
            <p:cNvPr id="2413571" name="Line 13"/>
            <p:cNvSpPr>
              <a:spLocks noChangeShapeType="1"/>
            </p:cNvSpPr>
            <p:nvPr/>
          </p:nvSpPr>
          <p:spPr bwMode="auto">
            <a:xfrm>
              <a:off x="673953" y="2951946"/>
              <a:ext cx="0" cy="2710171"/>
            </a:xfrm>
            <a:prstGeom prst="line">
              <a:avLst/>
            </a:prstGeom>
            <a:noFill/>
            <a:ln w="2857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3572" name="Text Box 14"/>
            <p:cNvSpPr txBox="1">
              <a:spLocks noChangeArrowheads="1"/>
            </p:cNvSpPr>
            <p:nvPr/>
          </p:nvSpPr>
          <p:spPr bwMode="auto">
            <a:xfrm>
              <a:off x="249795" y="3933056"/>
              <a:ext cx="886781"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MAC</a:t>
              </a:r>
            </a:p>
            <a:p>
              <a:pPr eaLnBrk="0" hangingPunct="0"/>
              <a:r>
                <a:rPr lang="en-US" altLang="zh-CN" b="1">
                  <a:solidFill>
                    <a:srgbClr val="000099"/>
                  </a:solidFill>
                  <a:ea typeface="宋体" panose="02010600030101010101" pitchFamily="2" charset="-122"/>
                </a:rPr>
                <a:t> </a:t>
              </a:r>
              <a:r>
                <a:rPr lang="zh-CN" altLang="en-US" b="1">
                  <a:solidFill>
                    <a:srgbClr val="000099"/>
                  </a:solidFill>
                  <a:ea typeface="宋体" panose="02010600030101010101" pitchFamily="2" charset="-122"/>
                </a:rPr>
                <a:t>层</a:t>
              </a:r>
            </a:p>
          </p:txBody>
        </p:sp>
        <p:sp>
          <p:nvSpPr>
            <p:cNvPr id="2413573" name="Text Box 15"/>
            <p:cNvSpPr txBox="1">
              <a:spLocks noChangeArrowheads="1"/>
            </p:cNvSpPr>
            <p:nvPr/>
          </p:nvSpPr>
          <p:spPr bwMode="auto">
            <a:xfrm>
              <a:off x="2144581" y="2117800"/>
              <a:ext cx="39004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800" b="1">
                  <a:solidFill>
                    <a:srgbClr val="FF0000"/>
                  </a:solidFill>
                  <a:ea typeface="宋体" panose="02010600030101010101" pitchFamily="2" charset="-122"/>
                </a:rPr>
                <a:t>无争用服务（选用）</a:t>
              </a:r>
            </a:p>
          </p:txBody>
        </p:sp>
        <p:sp>
          <p:nvSpPr>
            <p:cNvPr id="2413574" name="Rectangle 16"/>
            <p:cNvSpPr>
              <a:spLocks noChangeArrowheads="1"/>
            </p:cNvSpPr>
            <p:nvPr/>
          </p:nvSpPr>
          <p:spPr bwMode="auto">
            <a:xfrm>
              <a:off x="1209015" y="4160838"/>
              <a:ext cx="8346148" cy="2148482"/>
            </a:xfrm>
            <a:prstGeom prst="rect">
              <a:avLst/>
            </a:prstGeom>
            <a:solidFill>
              <a:srgbClr val="FFFF99"/>
            </a:solidFill>
            <a:ln w="28575">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3575" name="Rectangle 18"/>
            <p:cNvSpPr>
              <a:spLocks noChangeArrowheads="1"/>
            </p:cNvSpPr>
            <p:nvPr/>
          </p:nvSpPr>
          <p:spPr bwMode="auto">
            <a:xfrm>
              <a:off x="1246850" y="4181475"/>
              <a:ext cx="8308313" cy="1496616"/>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3576" name="Rectangle 19"/>
            <p:cNvSpPr>
              <a:spLocks noChangeArrowheads="1"/>
            </p:cNvSpPr>
            <p:nvPr/>
          </p:nvSpPr>
          <p:spPr bwMode="auto">
            <a:xfrm>
              <a:off x="1234811" y="2951946"/>
              <a:ext cx="5107781" cy="118666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3577" name="Text Box 20"/>
            <p:cNvSpPr txBox="1">
              <a:spLocks noChangeArrowheads="1"/>
            </p:cNvSpPr>
            <p:nvPr/>
          </p:nvSpPr>
          <p:spPr bwMode="auto">
            <a:xfrm>
              <a:off x="6790362" y="2546901"/>
              <a:ext cx="233910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solidFill>
                    <a:srgbClr val="FF0000"/>
                  </a:solidFill>
                  <a:ea typeface="宋体" panose="02010600030101010101" pitchFamily="2" charset="-122"/>
                </a:rPr>
                <a:t>争用服务</a:t>
              </a:r>
            </a:p>
            <a:p>
              <a:pPr algn="ctr" eaLnBrk="0" hangingPunct="0"/>
              <a:r>
                <a:rPr lang="zh-CN" altLang="en-US" sz="2800" b="1">
                  <a:solidFill>
                    <a:srgbClr val="FF0000"/>
                  </a:solidFill>
                  <a:ea typeface="宋体" panose="02010600030101010101" pitchFamily="2" charset="-122"/>
                </a:rPr>
                <a:t>（必须实现）</a:t>
              </a:r>
            </a:p>
          </p:txBody>
        </p:sp>
        <p:sp>
          <p:nvSpPr>
            <p:cNvPr id="2413578" name="Text Box 23"/>
            <p:cNvSpPr txBox="1">
              <a:spLocks noChangeArrowheads="1"/>
            </p:cNvSpPr>
            <p:nvPr/>
          </p:nvSpPr>
          <p:spPr bwMode="auto">
            <a:xfrm>
              <a:off x="2186030" y="4293096"/>
              <a:ext cx="652454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u="sng" dirty="0">
                  <a:solidFill>
                    <a:srgbClr val="FF0000"/>
                  </a:solidFill>
                  <a:ea typeface="宋体" panose="02010600030101010101" pitchFamily="2" charset="-122"/>
                </a:rPr>
                <a:t>分布协调功能 </a:t>
              </a:r>
              <a:r>
                <a:rPr lang="en-US" altLang="zh-CN" sz="2800" b="1" u="sng" dirty="0">
                  <a:solidFill>
                    <a:srgbClr val="FF0000"/>
                  </a:solidFill>
                  <a:ea typeface="宋体" panose="02010600030101010101" pitchFamily="2" charset="-122"/>
                </a:rPr>
                <a:t>DCF</a:t>
              </a:r>
            </a:p>
            <a:p>
              <a:pPr algn="ctr" eaLnBrk="0" hangingPunct="0"/>
              <a:r>
                <a:rPr lang="en-US" altLang="zh-CN" sz="2800" b="1" u="sng" dirty="0">
                  <a:solidFill>
                    <a:srgbClr val="000099"/>
                  </a:solidFill>
                  <a:ea typeface="宋体" panose="02010600030101010101" pitchFamily="2" charset="-122"/>
                </a:rPr>
                <a:t>(Distributed Coordination Function)</a:t>
              </a:r>
            </a:p>
            <a:p>
              <a:pPr algn="ctr" eaLnBrk="0" hangingPunct="0"/>
              <a:r>
                <a:rPr lang="en-US" altLang="zh-CN" sz="2800" b="1" u="sng" dirty="0">
                  <a:solidFill>
                    <a:srgbClr val="000099"/>
                  </a:solidFill>
                  <a:ea typeface="宋体" panose="02010600030101010101" pitchFamily="2" charset="-122"/>
                </a:rPr>
                <a:t>(CSMA/CA)</a:t>
              </a:r>
            </a:p>
          </p:txBody>
        </p:sp>
        <p:sp>
          <p:nvSpPr>
            <p:cNvPr id="2413579" name="Text Box 24"/>
            <p:cNvSpPr txBox="1">
              <a:spLocks noChangeArrowheads="1"/>
            </p:cNvSpPr>
            <p:nvPr/>
          </p:nvSpPr>
          <p:spPr bwMode="auto">
            <a:xfrm>
              <a:off x="1014815" y="2997200"/>
              <a:ext cx="543770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u="sng" dirty="0">
                  <a:solidFill>
                    <a:srgbClr val="FF0000"/>
                  </a:solidFill>
                  <a:ea typeface="宋体" panose="02010600030101010101" pitchFamily="2" charset="-122"/>
                </a:rPr>
                <a:t>点协调功能 </a:t>
              </a:r>
              <a:r>
                <a:rPr lang="en-US" altLang="zh-CN" sz="2800" b="1" u="sng" dirty="0">
                  <a:solidFill>
                    <a:srgbClr val="FF0000"/>
                  </a:solidFill>
                  <a:ea typeface="宋体" panose="02010600030101010101" pitchFamily="2" charset="-122"/>
                </a:rPr>
                <a:t>PCF</a:t>
              </a:r>
            </a:p>
            <a:p>
              <a:pPr algn="ctr" eaLnBrk="0" hangingPunct="0"/>
              <a:r>
                <a:rPr lang="en-US" altLang="zh-CN" sz="2800" b="1" u="sng" dirty="0">
                  <a:solidFill>
                    <a:srgbClr val="000099"/>
                  </a:solidFill>
                  <a:ea typeface="宋体" panose="02010600030101010101" pitchFamily="2" charset="-122"/>
                </a:rPr>
                <a:t>(Point Coordination Function)</a:t>
              </a:r>
            </a:p>
          </p:txBody>
        </p:sp>
        <p:sp>
          <p:nvSpPr>
            <p:cNvPr id="2413580" name="Rectangle 25"/>
            <p:cNvSpPr>
              <a:spLocks noChangeArrowheads="1"/>
            </p:cNvSpPr>
            <p:nvPr/>
          </p:nvSpPr>
          <p:spPr bwMode="auto">
            <a:xfrm>
              <a:off x="1209015" y="2924174"/>
              <a:ext cx="5140457" cy="123666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3581" name="Line 37"/>
            <p:cNvSpPr>
              <a:spLocks noChangeShapeType="1"/>
            </p:cNvSpPr>
            <p:nvPr/>
          </p:nvSpPr>
          <p:spPr bwMode="auto">
            <a:xfrm>
              <a:off x="256043" y="2924944"/>
              <a:ext cx="880533"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3582" name="Text Box 12"/>
            <p:cNvSpPr txBox="1">
              <a:spLocks noChangeArrowheads="1"/>
            </p:cNvSpPr>
            <p:nvPr/>
          </p:nvSpPr>
          <p:spPr bwMode="auto">
            <a:xfrm>
              <a:off x="4736976" y="5733256"/>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宋体" panose="02010600030101010101" pitchFamily="2" charset="-122"/>
                </a:rPr>
                <a:t>物理层</a:t>
              </a:r>
            </a:p>
          </p:txBody>
        </p:sp>
        <p:sp>
          <p:nvSpPr>
            <p:cNvPr id="2413583" name="Line 36"/>
            <p:cNvSpPr>
              <a:spLocks noChangeShapeType="1"/>
            </p:cNvSpPr>
            <p:nvPr/>
          </p:nvSpPr>
          <p:spPr bwMode="auto">
            <a:xfrm>
              <a:off x="256043" y="5662116"/>
              <a:ext cx="880533"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3584" name="Line 49"/>
            <p:cNvSpPr>
              <a:spLocks noChangeShapeType="1"/>
            </p:cNvSpPr>
            <p:nvPr/>
          </p:nvSpPr>
          <p:spPr bwMode="auto">
            <a:xfrm flipV="1">
              <a:off x="1200415" y="5659660"/>
              <a:ext cx="8354748" cy="158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3585" name="AutoShape 50"/>
            <p:cNvSpPr>
              <a:spLocks noChangeArrowheads="1"/>
            </p:cNvSpPr>
            <p:nvPr/>
          </p:nvSpPr>
          <p:spPr bwMode="auto">
            <a:xfrm>
              <a:off x="7684030" y="3474253"/>
              <a:ext cx="624285" cy="818348"/>
            </a:xfrm>
            <a:prstGeom prst="upArrow">
              <a:avLst>
                <a:gd name="adj1" fmla="val 50000"/>
                <a:gd name="adj2" fmla="val 40564"/>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宋体" panose="02010600030101010101" pitchFamily="2" charset="-122"/>
              </a:endParaRPr>
            </a:p>
          </p:txBody>
        </p:sp>
        <p:sp>
          <p:nvSpPr>
            <p:cNvPr id="2413586" name="AutoShape 51"/>
            <p:cNvSpPr>
              <a:spLocks noChangeArrowheads="1"/>
            </p:cNvSpPr>
            <p:nvPr/>
          </p:nvSpPr>
          <p:spPr bwMode="auto">
            <a:xfrm>
              <a:off x="3470540" y="2636391"/>
              <a:ext cx="624285" cy="431800"/>
            </a:xfrm>
            <a:prstGeom prst="up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宋体" panose="02010600030101010101" pitchFamily="2" charset="-122"/>
              </a:endParaRPr>
            </a:p>
          </p:txBody>
        </p:sp>
      </p:grpSp>
      <p:sp>
        <p:nvSpPr>
          <p:cNvPr id="2413587"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802.11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层 </a:t>
            </a:r>
          </a:p>
        </p:txBody>
      </p:sp>
      <p:sp>
        <p:nvSpPr>
          <p:cNvPr id="2413588" name="矩形 2"/>
          <p:cNvSpPr>
            <a:spLocks noChangeArrowheads="1"/>
          </p:cNvSpPr>
          <p:nvPr/>
        </p:nvSpPr>
        <p:spPr bwMode="auto">
          <a:xfrm>
            <a:off x="488950" y="188913"/>
            <a:ext cx="9217025" cy="1570037"/>
          </a:xfrm>
          <a:prstGeom prst="rect">
            <a:avLst/>
          </a:prstGeom>
          <a:solidFill>
            <a:srgbClr val="FFFF66"/>
          </a:solidFill>
          <a:ln w="9525">
            <a:solidFill>
              <a:srgbClr val="333399"/>
            </a:solidFill>
            <a:miter lim="800000"/>
            <a:headEnd/>
            <a:tailEnd/>
          </a:ln>
        </p:spPr>
        <p:txBody>
          <a:bodyPr>
            <a:spAutoFit/>
          </a:bodyPr>
          <a:lstStyle/>
          <a:p>
            <a:pPr algn="ctr" eaLnBrk="0" hangingPunct="0"/>
            <a:r>
              <a:rPr lang="en-US" altLang="zh-CN" sz="3200" b="1" dirty="0">
                <a:solidFill>
                  <a:srgbClr val="000099"/>
                </a:solidFill>
                <a:ea typeface="宋体" panose="02010600030101010101" pitchFamily="2" charset="-122"/>
              </a:rPr>
              <a:t>PCF </a:t>
            </a:r>
            <a:r>
              <a:rPr lang="zh-CN" altLang="en-US" sz="3200" b="1" dirty="0">
                <a:solidFill>
                  <a:srgbClr val="000099"/>
                </a:solidFill>
                <a:ea typeface="宋体" panose="02010600030101010101" pitchFamily="2" charset="-122"/>
              </a:rPr>
              <a:t>子层使用</a:t>
            </a:r>
            <a:r>
              <a:rPr lang="zh-CN" altLang="en-US" sz="3200" b="1" dirty="0">
                <a:solidFill>
                  <a:srgbClr val="C00000"/>
                </a:solidFill>
                <a:ea typeface="宋体" panose="02010600030101010101" pitchFamily="2" charset="-122"/>
              </a:rPr>
              <a:t>集中控制</a:t>
            </a:r>
            <a:r>
              <a:rPr lang="zh-CN" altLang="en-US" sz="3200" b="1" dirty="0">
                <a:solidFill>
                  <a:srgbClr val="000099"/>
                </a:solidFill>
                <a:ea typeface="宋体" panose="02010600030101010101" pitchFamily="2" charset="-122"/>
              </a:rPr>
              <a:t>的接入算法把发送数据权</a:t>
            </a:r>
            <a:br>
              <a:rPr lang="zh-CN" altLang="en-US" sz="3200" b="1" dirty="0">
                <a:solidFill>
                  <a:srgbClr val="000099"/>
                </a:solidFill>
                <a:ea typeface="宋体" panose="02010600030101010101" pitchFamily="2" charset="-122"/>
              </a:rPr>
            </a:br>
            <a:r>
              <a:rPr lang="zh-CN" altLang="en-US" sz="3200" b="1" dirty="0">
                <a:solidFill>
                  <a:srgbClr val="C00000"/>
                </a:solidFill>
                <a:ea typeface="宋体" panose="02010600030101010101" pitchFamily="2" charset="-122"/>
              </a:rPr>
              <a:t>轮流</a:t>
            </a:r>
            <a:r>
              <a:rPr lang="zh-CN" altLang="en-US" sz="3200" b="1" dirty="0">
                <a:solidFill>
                  <a:srgbClr val="000099"/>
                </a:solidFill>
                <a:ea typeface="宋体" panose="02010600030101010101" pitchFamily="2" charset="-122"/>
              </a:rPr>
              <a:t>交给各个站从而避免了碰撞的产生。</a:t>
            </a:r>
            <a:endParaRPr lang="en-US" altLang="zh-CN" sz="3200" b="1" dirty="0">
              <a:solidFill>
                <a:srgbClr val="000099"/>
              </a:solidFill>
              <a:ea typeface="宋体" panose="02010600030101010101" pitchFamily="2" charset="-122"/>
            </a:endParaRPr>
          </a:p>
          <a:p>
            <a:pPr algn="ctr" eaLnBrk="0" hangingPunct="0"/>
            <a:r>
              <a:rPr lang="zh-CN" altLang="zh-CN" sz="3200" b="1" dirty="0">
                <a:solidFill>
                  <a:srgbClr val="000099"/>
                </a:solidFill>
                <a:ea typeface="宋体" panose="02010600030101010101" pitchFamily="2" charset="-122"/>
              </a:rPr>
              <a:t>自组网络就没有</a:t>
            </a:r>
            <a:r>
              <a:rPr lang="en-US" altLang="zh-CN" sz="3200" b="1" dirty="0">
                <a:solidFill>
                  <a:srgbClr val="000099"/>
                </a:solidFill>
                <a:ea typeface="宋体" panose="02010600030101010101" pitchFamily="2" charset="-122"/>
              </a:rPr>
              <a:t>PCF</a:t>
            </a:r>
            <a:r>
              <a:rPr lang="zh-CN" altLang="zh-CN" sz="3200" b="1" dirty="0">
                <a:solidFill>
                  <a:srgbClr val="000099"/>
                </a:solidFill>
                <a:ea typeface="宋体" panose="02010600030101010101" pitchFamily="2" charset="-122"/>
              </a:rPr>
              <a:t>子层。</a:t>
            </a:r>
            <a:r>
              <a:rPr lang="zh-CN" altLang="en-US" sz="3200" b="1" dirty="0">
                <a:solidFill>
                  <a:srgbClr val="000099"/>
                </a:solidFill>
                <a:ea typeface="宋体" panose="02010600030101010101" pitchFamily="2" charset="-122"/>
              </a:rPr>
              <a:t> </a:t>
            </a:r>
          </a:p>
        </p:txBody>
      </p:sp>
      <p:sp>
        <p:nvSpPr>
          <p:cNvPr id="241358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D9D94C-4251-47BA-A3D1-2893A55A565A}" type="slidenum">
              <a:rPr lang="zh-CN" altLang="en-US" smtClean="0"/>
              <a:pPr eaLnBrk="1" hangingPunct="1"/>
              <a:t>31</a:t>
            </a:fld>
            <a:endParaRPr lang="en-US" altLang="zh-CN" smtClean="0"/>
          </a:p>
        </p:txBody>
      </p:sp>
      <p:sp>
        <p:nvSpPr>
          <p:cNvPr id="241359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14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9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4593"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帧间间隔 </a:t>
            </a:r>
            <a:r>
              <a:rPr lang="en-US" altLang="zh-CN" smtClean="0">
                <a:ea typeface="黑体" panose="02010609060101010101" pitchFamily="49" charset="-122"/>
              </a:rPr>
              <a:t>IFS </a:t>
            </a:r>
          </a:p>
        </p:txBody>
      </p:sp>
      <p:sp>
        <p:nvSpPr>
          <p:cNvPr id="318473" name="Rectangle 9"/>
          <p:cNvSpPr>
            <a:spLocks noGrp="1" noChangeArrowheads="1"/>
          </p:cNvSpPr>
          <p:nvPr>
            <p:ph idx="1"/>
          </p:nvPr>
        </p:nvSpPr>
        <p:spPr>
          <a:xfrm>
            <a:off x="495300" y="1196975"/>
            <a:ext cx="9066213" cy="4933950"/>
          </a:xfrm>
        </p:spPr>
        <p:txBody>
          <a:bodyPr/>
          <a:lstStyle/>
          <a:p>
            <a:r>
              <a:rPr lang="zh-CN" altLang="en-US" sz="3000" dirty="0" smtClean="0">
                <a:ea typeface="黑体" panose="02010609060101010101" pitchFamily="49" charset="-122"/>
              </a:rPr>
              <a:t>所有的站在完成发送后，必须再等待一段很短的时间（继续监听）才能发送下一帧。这段时间的通称是</a:t>
            </a:r>
            <a:r>
              <a:rPr lang="zh-CN" altLang="en-US" sz="3000" u="sng" dirty="0" smtClean="0">
                <a:solidFill>
                  <a:srgbClr val="FF0000"/>
                </a:solidFill>
                <a:ea typeface="黑体" panose="02010609060101010101" pitchFamily="49" charset="-122"/>
              </a:rPr>
              <a:t>帧间间隔 </a:t>
            </a:r>
            <a:r>
              <a:rPr lang="en-US" altLang="zh-CN" sz="3000" u="sng" dirty="0" smtClean="0">
                <a:ea typeface="黑体" panose="02010609060101010101" pitchFamily="49" charset="-122"/>
              </a:rPr>
              <a:t>IFS (</a:t>
            </a:r>
            <a:r>
              <a:rPr lang="en-US" altLang="zh-CN" sz="3000" u="sng" dirty="0" err="1" smtClean="0">
                <a:ea typeface="黑体" panose="02010609060101010101" pitchFamily="49" charset="-122"/>
              </a:rPr>
              <a:t>InterFrame</a:t>
            </a:r>
            <a:r>
              <a:rPr lang="en-US" altLang="zh-CN" sz="3000" u="sng" dirty="0" smtClean="0">
                <a:ea typeface="黑体" panose="02010609060101010101" pitchFamily="49" charset="-122"/>
              </a:rPr>
              <a:t> Space)</a:t>
            </a:r>
            <a:r>
              <a:rPr lang="zh-CN" altLang="en-US" sz="3000" dirty="0" smtClean="0">
                <a:ea typeface="黑体" panose="02010609060101010101" pitchFamily="49" charset="-122"/>
              </a:rPr>
              <a:t>。</a:t>
            </a:r>
          </a:p>
          <a:p>
            <a:r>
              <a:rPr lang="zh-CN" altLang="en-US" sz="3000" dirty="0" smtClean="0">
                <a:solidFill>
                  <a:srgbClr val="0000FF"/>
                </a:solidFill>
                <a:ea typeface="黑体" panose="02010609060101010101" pitchFamily="49" charset="-122"/>
              </a:rPr>
              <a:t>帧间间隔长度取决于</a:t>
            </a:r>
            <a:r>
              <a:rPr lang="zh-CN" altLang="en-US" sz="3000" dirty="0" smtClean="0">
                <a:ea typeface="黑体" panose="02010609060101010101" pitchFamily="49" charset="-122"/>
              </a:rPr>
              <a:t>该站欲发送的</a:t>
            </a:r>
            <a:r>
              <a:rPr lang="zh-CN" altLang="en-US" sz="3000" dirty="0" smtClean="0">
                <a:solidFill>
                  <a:srgbClr val="0000FF"/>
                </a:solidFill>
                <a:ea typeface="黑体" panose="02010609060101010101" pitchFamily="49" charset="-122"/>
              </a:rPr>
              <a:t>帧的类型</a:t>
            </a:r>
            <a:r>
              <a:rPr lang="zh-CN" altLang="en-US" sz="3000" dirty="0" smtClean="0">
                <a:ea typeface="黑体" panose="02010609060101010101" pitchFamily="49" charset="-122"/>
              </a:rPr>
              <a:t>。</a:t>
            </a:r>
            <a:r>
              <a:rPr lang="zh-CN" altLang="en-US" sz="3000" dirty="0" smtClean="0">
                <a:solidFill>
                  <a:srgbClr val="0000FF"/>
                </a:solidFill>
                <a:ea typeface="黑体" panose="02010609060101010101" pitchFamily="49" charset="-122"/>
              </a:rPr>
              <a:t>高优先级帧</a:t>
            </a:r>
            <a:r>
              <a:rPr lang="zh-CN" altLang="en-US" sz="3000" dirty="0" smtClean="0">
                <a:ea typeface="黑体" panose="02010609060101010101" pitchFamily="49" charset="-122"/>
              </a:rPr>
              <a:t>需要等待的时间</a:t>
            </a:r>
            <a:r>
              <a:rPr lang="zh-CN" altLang="en-US" sz="3000" dirty="0" smtClean="0">
                <a:solidFill>
                  <a:srgbClr val="0000FF"/>
                </a:solidFill>
                <a:ea typeface="黑体" panose="02010609060101010101" pitchFamily="49" charset="-122"/>
              </a:rPr>
              <a:t>较短</a:t>
            </a:r>
            <a:r>
              <a:rPr lang="zh-CN" altLang="en-US" sz="3000" dirty="0" smtClean="0">
                <a:ea typeface="黑体" panose="02010609060101010101" pitchFamily="49" charset="-122"/>
              </a:rPr>
              <a:t>，因此可优先获得发送权。</a:t>
            </a:r>
          </a:p>
          <a:p>
            <a:r>
              <a:rPr lang="zh-CN" altLang="en-US" sz="3000" dirty="0" smtClean="0">
                <a:ea typeface="黑体" panose="02010609060101010101" pitchFamily="49" charset="-122"/>
              </a:rPr>
              <a:t>若低优先级帧还没来得及发送而其他站的高优先级帧已发送到媒体，则媒体变为忙态，因而低优先级帧就只能再推迟发送了。这样就减少了发生碰撞的机会。   </a:t>
            </a:r>
          </a:p>
        </p:txBody>
      </p:sp>
      <p:sp>
        <p:nvSpPr>
          <p:cNvPr id="24145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CBB84C5-9E61-48C4-BF45-FB871F724687}" type="slidenum">
              <a:rPr lang="zh-CN" altLang="en-US" smtClean="0"/>
              <a:pPr eaLnBrk="1" hangingPunct="1"/>
              <a:t>32</a:t>
            </a:fld>
            <a:endParaRPr lang="en-US" altLang="zh-CN" smtClean="0"/>
          </a:p>
        </p:txBody>
      </p:sp>
      <p:sp>
        <p:nvSpPr>
          <p:cNvPr id="24145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847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847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7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30" name="Text Box 90"/>
          <p:cNvSpPr txBox="1">
            <a:spLocks noChangeArrowheads="1"/>
          </p:cNvSpPr>
          <p:nvPr/>
        </p:nvSpPr>
        <p:spPr bwMode="auto">
          <a:xfrm rot="-4974934">
            <a:off x="4545013" y="3714750"/>
            <a:ext cx="6842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ACK</a:t>
            </a:r>
          </a:p>
        </p:txBody>
      </p:sp>
      <p:sp>
        <p:nvSpPr>
          <p:cNvPr id="2415618" name="Rectangle 6"/>
          <p:cNvSpPr>
            <a:spLocks noGrp="1" noChangeArrowheads="1"/>
          </p:cNvSpPr>
          <p:nvPr>
            <p:ph type="title"/>
          </p:nvPr>
        </p:nvSpPr>
        <p:spPr/>
        <p:txBody>
          <a:bodyPr/>
          <a:lstStyle/>
          <a:p>
            <a:pPr algn="ctr"/>
            <a:r>
              <a:rPr lang="zh-CN" altLang="en-US" smtClean="0">
                <a:solidFill>
                  <a:srgbClr val="000099"/>
                </a:solidFill>
                <a:ea typeface="黑体" panose="02010609060101010101" pitchFamily="49" charset="-122"/>
              </a:rPr>
              <a:t>两种常用种帧间间隔 </a:t>
            </a:r>
          </a:p>
        </p:txBody>
      </p:sp>
      <p:sp>
        <p:nvSpPr>
          <p:cNvPr id="2415619" name="Text Box 12"/>
          <p:cNvSpPr txBox="1">
            <a:spLocks noChangeArrowheads="1"/>
          </p:cNvSpPr>
          <p:nvPr/>
        </p:nvSpPr>
        <p:spPr bwMode="auto">
          <a:xfrm>
            <a:off x="9086850" y="3022600"/>
            <a:ext cx="646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时间</a:t>
            </a:r>
          </a:p>
        </p:txBody>
      </p:sp>
      <p:sp>
        <p:nvSpPr>
          <p:cNvPr id="2415620" name="Text Box 15"/>
          <p:cNvSpPr txBox="1">
            <a:spLocks noChangeArrowheads="1"/>
          </p:cNvSpPr>
          <p:nvPr/>
        </p:nvSpPr>
        <p:spPr bwMode="auto">
          <a:xfrm>
            <a:off x="1697038" y="2916238"/>
            <a:ext cx="711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DIFS</a:t>
            </a:r>
          </a:p>
        </p:txBody>
      </p:sp>
      <p:sp>
        <p:nvSpPr>
          <p:cNvPr id="2415621" name="Line 18"/>
          <p:cNvSpPr>
            <a:spLocks noChangeShapeType="1"/>
          </p:cNvSpPr>
          <p:nvPr/>
        </p:nvSpPr>
        <p:spPr bwMode="auto">
          <a:xfrm>
            <a:off x="1697038" y="3257550"/>
            <a:ext cx="7683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22" name="Freeform 19"/>
          <p:cNvSpPr>
            <a:spLocks noChangeArrowheads="1"/>
          </p:cNvSpPr>
          <p:nvPr/>
        </p:nvSpPr>
        <p:spPr bwMode="auto">
          <a:xfrm>
            <a:off x="590550" y="3048000"/>
            <a:ext cx="1106488" cy="374650"/>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66FF66"/>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15623" name="Text Box 20"/>
          <p:cNvSpPr txBox="1">
            <a:spLocks noChangeArrowheads="1"/>
          </p:cNvSpPr>
          <p:nvPr/>
        </p:nvSpPr>
        <p:spPr bwMode="auto">
          <a:xfrm>
            <a:off x="541338" y="3044825"/>
            <a:ext cx="1255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b="1">
                <a:solidFill>
                  <a:srgbClr val="000099"/>
                </a:solidFill>
                <a:ea typeface="宋体" panose="02010600030101010101" pitchFamily="2" charset="-122"/>
              </a:rPr>
              <a:t>媒体空闲                                    </a:t>
            </a:r>
          </a:p>
        </p:txBody>
      </p:sp>
      <p:sp>
        <p:nvSpPr>
          <p:cNvPr id="2415624" name="Line 22"/>
          <p:cNvSpPr>
            <a:spLocks noChangeShapeType="1"/>
          </p:cNvSpPr>
          <p:nvPr/>
        </p:nvSpPr>
        <p:spPr bwMode="auto">
          <a:xfrm>
            <a:off x="1697038" y="3008313"/>
            <a:ext cx="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25" name="Line 23"/>
          <p:cNvSpPr>
            <a:spLocks noChangeShapeType="1"/>
          </p:cNvSpPr>
          <p:nvPr/>
        </p:nvSpPr>
        <p:spPr bwMode="auto">
          <a:xfrm flipV="1">
            <a:off x="2457450" y="3008313"/>
            <a:ext cx="9525" cy="419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317467" name="Text Box 27"/>
          <p:cNvSpPr txBox="1">
            <a:spLocks noChangeArrowheads="1"/>
          </p:cNvSpPr>
          <p:nvPr/>
        </p:nvSpPr>
        <p:spPr bwMode="auto">
          <a:xfrm>
            <a:off x="4278313" y="4618038"/>
            <a:ext cx="698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SIFS</a:t>
            </a:r>
          </a:p>
        </p:txBody>
      </p:sp>
      <p:sp>
        <p:nvSpPr>
          <p:cNvPr id="2415627" name="Line 30"/>
          <p:cNvSpPr>
            <a:spLocks noChangeShapeType="1"/>
          </p:cNvSpPr>
          <p:nvPr/>
        </p:nvSpPr>
        <p:spPr bwMode="auto">
          <a:xfrm flipH="1" flipV="1">
            <a:off x="4329113" y="4630738"/>
            <a:ext cx="0" cy="4429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28" name="Line 32"/>
          <p:cNvSpPr>
            <a:spLocks noChangeShapeType="1"/>
          </p:cNvSpPr>
          <p:nvPr/>
        </p:nvSpPr>
        <p:spPr bwMode="auto">
          <a:xfrm>
            <a:off x="417513" y="5911850"/>
            <a:ext cx="920432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29" name="Text Box 33"/>
          <p:cNvSpPr txBox="1">
            <a:spLocks noChangeArrowheads="1"/>
          </p:cNvSpPr>
          <p:nvPr/>
        </p:nvSpPr>
        <p:spPr bwMode="auto">
          <a:xfrm>
            <a:off x="9086850" y="5516563"/>
            <a:ext cx="646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时间</a:t>
            </a:r>
          </a:p>
        </p:txBody>
      </p:sp>
      <p:sp>
        <p:nvSpPr>
          <p:cNvPr id="2415630" name="Freeform 34"/>
          <p:cNvSpPr>
            <a:spLocks noChangeArrowheads="1"/>
          </p:cNvSpPr>
          <p:nvPr/>
        </p:nvSpPr>
        <p:spPr bwMode="auto">
          <a:xfrm>
            <a:off x="2454275" y="5535613"/>
            <a:ext cx="2813050" cy="376237"/>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99FFCC"/>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15631" name="Text Box 35"/>
          <p:cNvSpPr txBox="1">
            <a:spLocks noChangeArrowheads="1"/>
          </p:cNvSpPr>
          <p:nvPr/>
        </p:nvSpPr>
        <p:spPr bwMode="auto">
          <a:xfrm>
            <a:off x="2949575" y="5522913"/>
            <a:ext cx="1817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NAV</a:t>
            </a:r>
            <a:r>
              <a:rPr lang="zh-CN" altLang="en-US" b="1">
                <a:solidFill>
                  <a:srgbClr val="000099"/>
                </a:solidFill>
                <a:ea typeface="宋体" panose="02010600030101010101" pitchFamily="2" charset="-122"/>
              </a:rPr>
              <a:t>（媒体忙）</a:t>
            </a:r>
          </a:p>
        </p:txBody>
      </p:sp>
      <p:sp>
        <p:nvSpPr>
          <p:cNvPr id="2415632" name="Text Box 36"/>
          <p:cNvSpPr txBox="1">
            <a:spLocks noChangeArrowheads="1"/>
          </p:cNvSpPr>
          <p:nvPr/>
        </p:nvSpPr>
        <p:spPr bwMode="auto">
          <a:xfrm>
            <a:off x="5237163" y="4933950"/>
            <a:ext cx="7096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DIFS</a:t>
            </a:r>
          </a:p>
        </p:txBody>
      </p:sp>
      <p:sp>
        <p:nvSpPr>
          <p:cNvPr id="2415633" name="Line 37"/>
          <p:cNvSpPr>
            <a:spLocks noChangeShapeType="1"/>
          </p:cNvSpPr>
          <p:nvPr/>
        </p:nvSpPr>
        <p:spPr bwMode="auto">
          <a:xfrm flipV="1">
            <a:off x="5283200" y="5249863"/>
            <a:ext cx="727075"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34" name="Line 38"/>
          <p:cNvSpPr>
            <a:spLocks noChangeShapeType="1"/>
          </p:cNvSpPr>
          <p:nvPr/>
        </p:nvSpPr>
        <p:spPr bwMode="auto">
          <a:xfrm flipH="1" flipV="1">
            <a:off x="5267325" y="4619625"/>
            <a:ext cx="0" cy="425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35" name="Line 39"/>
          <p:cNvSpPr>
            <a:spLocks noChangeShapeType="1"/>
          </p:cNvSpPr>
          <p:nvPr/>
        </p:nvSpPr>
        <p:spPr bwMode="auto">
          <a:xfrm>
            <a:off x="6010275" y="4619625"/>
            <a:ext cx="0" cy="8588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36" name="Freeform 40"/>
          <p:cNvSpPr>
            <a:spLocks noChangeArrowheads="1"/>
          </p:cNvSpPr>
          <p:nvPr/>
        </p:nvSpPr>
        <p:spPr bwMode="auto">
          <a:xfrm>
            <a:off x="7391400" y="5535613"/>
            <a:ext cx="1498600" cy="376237"/>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FFFF99"/>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15637" name="Freeform 41"/>
          <p:cNvSpPr>
            <a:spLocks noChangeArrowheads="1"/>
          </p:cNvSpPr>
          <p:nvPr/>
        </p:nvSpPr>
        <p:spPr bwMode="auto">
          <a:xfrm>
            <a:off x="6003925" y="5535613"/>
            <a:ext cx="1387475" cy="376237"/>
          </a:xfrm>
          <a:custGeom>
            <a:avLst/>
            <a:gdLst>
              <a:gd name="T0" fmla="*/ 0 w 780"/>
              <a:gd name="T1" fmla="*/ 240 h 240"/>
              <a:gd name="T2" fmla="*/ 0 w 780"/>
              <a:gd name="T3" fmla="*/ 0 h 240"/>
              <a:gd name="T4" fmla="*/ 780 w 780"/>
              <a:gd name="T5" fmla="*/ 0 h 240"/>
            </a:gdLst>
            <a:ahLst/>
            <a:cxnLst>
              <a:cxn ang="0">
                <a:pos x="T0" y="T1"/>
              </a:cxn>
              <a:cxn ang="0">
                <a:pos x="T2" y="T3"/>
              </a:cxn>
              <a:cxn ang="0">
                <a:pos x="T4" y="T5"/>
              </a:cxn>
            </a:cxnLst>
            <a:rect l="0" t="0" r="r" b="b"/>
            <a:pathLst>
              <a:path w="780" h="240">
                <a:moveTo>
                  <a:pt x="0" y="240"/>
                </a:moveTo>
                <a:lnTo>
                  <a:pt x="0" y="0"/>
                </a:lnTo>
                <a:lnTo>
                  <a:pt x="780" y="0"/>
                </a:lnTo>
              </a:path>
            </a:pathLst>
          </a:custGeom>
          <a:solidFill>
            <a:schemeClr val="bg1"/>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15638" name="Line 42"/>
          <p:cNvSpPr>
            <a:spLocks noChangeShapeType="1"/>
          </p:cNvSpPr>
          <p:nvPr/>
        </p:nvSpPr>
        <p:spPr bwMode="auto">
          <a:xfrm>
            <a:off x="6173788"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39" name="Line 43"/>
          <p:cNvSpPr>
            <a:spLocks noChangeShapeType="1"/>
          </p:cNvSpPr>
          <p:nvPr/>
        </p:nvSpPr>
        <p:spPr bwMode="auto">
          <a:xfrm>
            <a:off x="6343650"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40" name="Line 44"/>
          <p:cNvSpPr>
            <a:spLocks noChangeShapeType="1"/>
          </p:cNvSpPr>
          <p:nvPr/>
        </p:nvSpPr>
        <p:spPr bwMode="auto">
          <a:xfrm>
            <a:off x="6515100"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41" name="Line 45"/>
          <p:cNvSpPr>
            <a:spLocks noChangeShapeType="1"/>
          </p:cNvSpPr>
          <p:nvPr/>
        </p:nvSpPr>
        <p:spPr bwMode="auto">
          <a:xfrm>
            <a:off x="6686550"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42" name="Line 46"/>
          <p:cNvSpPr>
            <a:spLocks noChangeShapeType="1"/>
          </p:cNvSpPr>
          <p:nvPr/>
        </p:nvSpPr>
        <p:spPr bwMode="auto">
          <a:xfrm>
            <a:off x="6856413"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43" name="Line 47"/>
          <p:cNvSpPr>
            <a:spLocks noChangeShapeType="1"/>
          </p:cNvSpPr>
          <p:nvPr/>
        </p:nvSpPr>
        <p:spPr bwMode="auto">
          <a:xfrm>
            <a:off x="7027863" y="5540375"/>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44" name="Line 48"/>
          <p:cNvSpPr>
            <a:spLocks noChangeShapeType="1"/>
          </p:cNvSpPr>
          <p:nvPr/>
        </p:nvSpPr>
        <p:spPr bwMode="auto">
          <a:xfrm>
            <a:off x="7208838" y="5540375"/>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45" name="Line 49"/>
          <p:cNvSpPr>
            <a:spLocks noChangeShapeType="1"/>
          </p:cNvSpPr>
          <p:nvPr/>
        </p:nvSpPr>
        <p:spPr bwMode="auto">
          <a:xfrm>
            <a:off x="6040438" y="5257800"/>
            <a:ext cx="138430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46" name="Text Box 50"/>
          <p:cNvSpPr txBox="1">
            <a:spLocks noChangeArrowheads="1"/>
          </p:cNvSpPr>
          <p:nvPr/>
        </p:nvSpPr>
        <p:spPr bwMode="auto">
          <a:xfrm>
            <a:off x="6113463" y="4864100"/>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争用窗口</a:t>
            </a:r>
          </a:p>
        </p:txBody>
      </p:sp>
      <p:sp>
        <p:nvSpPr>
          <p:cNvPr id="2415647" name="Text Box 51"/>
          <p:cNvSpPr txBox="1">
            <a:spLocks noChangeArrowheads="1"/>
          </p:cNvSpPr>
          <p:nvPr/>
        </p:nvSpPr>
        <p:spPr bwMode="auto">
          <a:xfrm>
            <a:off x="7354888" y="5489575"/>
            <a:ext cx="14652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发送下一 帧</a:t>
            </a:r>
          </a:p>
        </p:txBody>
      </p:sp>
      <p:sp>
        <p:nvSpPr>
          <p:cNvPr id="2415648" name="AutoShape 52"/>
          <p:cNvSpPr>
            <a:spLocks/>
          </p:cNvSpPr>
          <p:nvPr/>
        </p:nvSpPr>
        <p:spPr bwMode="auto">
          <a:xfrm rot="-5400000">
            <a:off x="3802857" y="4634706"/>
            <a:ext cx="144462" cy="2784475"/>
          </a:xfrm>
          <a:prstGeom prst="leftBrace">
            <a:avLst>
              <a:gd name="adj1" fmla="val 14822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5649" name="AutoShape 53"/>
          <p:cNvSpPr>
            <a:spLocks/>
          </p:cNvSpPr>
          <p:nvPr/>
        </p:nvSpPr>
        <p:spPr bwMode="auto">
          <a:xfrm rot="-5400000">
            <a:off x="6641307" y="5325269"/>
            <a:ext cx="112712" cy="1352550"/>
          </a:xfrm>
          <a:prstGeom prst="leftBrace">
            <a:avLst>
              <a:gd name="adj1" fmla="val 9227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5650" name="Text Box 54"/>
          <p:cNvSpPr txBox="1">
            <a:spLocks noChangeArrowheads="1"/>
          </p:cNvSpPr>
          <p:nvPr/>
        </p:nvSpPr>
        <p:spPr bwMode="auto">
          <a:xfrm>
            <a:off x="3300413" y="6022975"/>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推迟接入</a:t>
            </a:r>
          </a:p>
        </p:txBody>
      </p:sp>
      <p:sp>
        <p:nvSpPr>
          <p:cNvPr id="2415651" name="Text Box 55"/>
          <p:cNvSpPr txBox="1">
            <a:spLocks noChangeArrowheads="1"/>
          </p:cNvSpPr>
          <p:nvPr/>
        </p:nvSpPr>
        <p:spPr bwMode="auto">
          <a:xfrm>
            <a:off x="5876925" y="5975350"/>
            <a:ext cx="1570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等待重试时间</a:t>
            </a:r>
          </a:p>
        </p:txBody>
      </p:sp>
      <p:sp>
        <p:nvSpPr>
          <p:cNvPr id="2415652" name="Line 56"/>
          <p:cNvSpPr>
            <a:spLocks noChangeShapeType="1"/>
          </p:cNvSpPr>
          <p:nvPr/>
        </p:nvSpPr>
        <p:spPr bwMode="auto">
          <a:xfrm flipV="1">
            <a:off x="1684338" y="3448050"/>
            <a:ext cx="0" cy="30003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53" name="Text Box 57"/>
          <p:cNvSpPr txBox="1">
            <a:spLocks noChangeArrowheads="1"/>
          </p:cNvSpPr>
          <p:nvPr/>
        </p:nvSpPr>
        <p:spPr bwMode="auto">
          <a:xfrm>
            <a:off x="1065213" y="3648075"/>
            <a:ext cx="1339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有帧要发送</a:t>
            </a:r>
          </a:p>
        </p:txBody>
      </p:sp>
      <p:sp>
        <p:nvSpPr>
          <p:cNvPr id="2415654" name="Line 58"/>
          <p:cNvSpPr>
            <a:spLocks noChangeShapeType="1"/>
          </p:cNvSpPr>
          <p:nvPr/>
        </p:nvSpPr>
        <p:spPr bwMode="auto">
          <a:xfrm>
            <a:off x="7423150" y="5097463"/>
            <a:ext cx="0" cy="368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55" name="Text Box 59"/>
          <p:cNvSpPr txBox="1">
            <a:spLocks noChangeArrowheads="1"/>
          </p:cNvSpPr>
          <p:nvPr/>
        </p:nvSpPr>
        <p:spPr bwMode="auto">
          <a:xfrm>
            <a:off x="122238" y="3408363"/>
            <a:ext cx="6461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源站</a:t>
            </a:r>
          </a:p>
        </p:txBody>
      </p:sp>
      <p:sp>
        <p:nvSpPr>
          <p:cNvPr id="2415656" name="Text Box 61"/>
          <p:cNvSpPr txBox="1">
            <a:spLocks noChangeArrowheads="1"/>
          </p:cNvSpPr>
          <p:nvPr/>
        </p:nvSpPr>
        <p:spPr bwMode="auto">
          <a:xfrm>
            <a:off x="9086850" y="4197350"/>
            <a:ext cx="646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时间</a:t>
            </a:r>
          </a:p>
        </p:txBody>
      </p:sp>
      <p:sp>
        <p:nvSpPr>
          <p:cNvPr id="2415657" name="Text Box 62"/>
          <p:cNvSpPr txBox="1">
            <a:spLocks noChangeArrowheads="1"/>
          </p:cNvSpPr>
          <p:nvPr/>
        </p:nvSpPr>
        <p:spPr bwMode="auto">
          <a:xfrm>
            <a:off x="103188" y="454183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目的站</a:t>
            </a:r>
          </a:p>
        </p:txBody>
      </p:sp>
      <p:sp>
        <p:nvSpPr>
          <p:cNvPr id="2415658" name="Line 64"/>
          <p:cNvSpPr>
            <a:spLocks noChangeShapeType="1"/>
          </p:cNvSpPr>
          <p:nvPr/>
        </p:nvSpPr>
        <p:spPr bwMode="auto">
          <a:xfrm flipH="1">
            <a:off x="4951413" y="4622800"/>
            <a:ext cx="1587" cy="428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59" name="Text Box 65"/>
          <p:cNvSpPr txBox="1">
            <a:spLocks noChangeArrowheads="1"/>
          </p:cNvSpPr>
          <p:nvPr/>
        </p:nvSpPr>
        <p:spPr bwMode="auto">
          <a:xfrm>
            <a:off x="5822950" y="3860800"/>
            <a:ext cx="6842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b="1">
                <a:solidFill>
                  <a:srgbClr val="000099"/>
                </a:solidFill>
                <a:ea typeface="宋体" panose="02010600030101010101" pitchFamily="2" charset="-122"/>
              </a:rPr>
              <a:t>ACK</a:t>
            </a:r>
          </a:p>
        </p:txBody>
      </p:sp>
      <p:sp>
        <p:nvSpPr>
          <p:cNvPr id="2415660" name="Line 66"/>
          <p:cNvSpPr>
            <a:spLocks noChangeShapeType="1"/>
          </p:cNvSpPr>
          <p:nvPr/>
        </p:nvSpPr>
        <p:spPr bwMode="auto">
          <a:xfrm>
            <a:off x="5264150" y="3427413"/>
            <a:ext cx="3175" cy="2057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317507" name="Text Box 67"/>
          <p:cNvSpPr txBox="1">
            <a:spLocks noChangeArrowheads="1"/>
          </p:cNvSpPr>
          <p:nvPr/>
        </p:nvSpPr>
        <p:spPr bwMode="auto">
          <a:xfrm>
            <a:off x="5202238" y="5300663"/>
            <a:ext cx="698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SIFS</a:t>
            </a:r>
          </a:p>
        </p:txBody>
      </p:sp>
      <p:sp>
        <p:nvSpPr>
          <p:cNvPr id="2415662" name="Line 68"/>
          <p:cNvSpPr>
            <a:spLocks noChangeShapeType="1"/>
          </p:cNvSpPr>
          <p:nvPr/>
        </p:nvSpPr>
        <p:spPr bwMode="auto">
          <a:xfrm>
            <a:off x="5865813" y="5559425"/>
            <a:ext cx="0" cy="1508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63" name="Line 69"/>
          <p:cNvSpPr>
            <a:spLocks noChangeShapeType="1"/>
          </p:cNvSpPr>
          <p:nvPr/>
        </p:nvSpPr>
        <p:spPr bwMode="auto">
          <a:xfrm>
            <a:off x="2452688" y="3448050"/>
            <a:ext cx="0" cy="2036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64" name="Text Box 70"/>
          <p:cNvSpPr txBox="1">
            <a:spLocks noChangeArrowheads="1"/>
          </p:cNvSpPr>
          <p:nvPr/>
        </p:nvSpPr>
        <p:spPr bwMode="auto">
          <a:xfrm>
            <a:off x="66675" y="5876925"/>
            <a:ext cx="946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b="1">
                <a:solidFill>
                  <a:srgbClr val="000099"/>
                </a:solidFill>
                <a:ea typeface="宋体" panose="02010600030101010101" pitchFamily="2" charset="-122"/>
              </a:rPr>
              <a:t> </a:t>
            </a:r>
            <a:r>
              <a:rPr lang="zh-CN" altLang="en-US" b="1">
                <a:solidFill>
                  <a:srgbClr val="000099"/>
                </a:solidFill>
                <a:ea typeface="宋体" panose="02010600030101010101" pitchFamily="2" charset="-122"/>
              </a:rPr>
              <a:t>其他站</a:t>
            </a:r>
          </a:p>
        </p:txBody>
      </p:sp>
      <p:sp>
        <p:nvSpPr>
          <p:cNvPr id="2415665" name="Line 71"/>
          <p:cNvSpPr>
            <a:spLocks noChangeShapeType="1"/>
          </p:cNvSpPr>
          <p:nvPr/>
        </p:nvSpPr>
        <p:spPr bwMode="auto">
          <a:xfrm flipV="1">
            <a:off x="2452688" y="5937250"/>
            <a:ext cx="0" cy="30003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66" name="Text Box 72"/>
          <p:cNvSpPr txBox="1">
            <a:spLocks noChangeArrowheads="1"/>
          </p:cNvSpPr>
          <p:nvPr/>
        </p:nvSpPr>
        <p:spPr bwMode="auto">
          <a:xfrm>
            <a:off x="1808163" y="6156325"/>
            <a:ext cx="13382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有帧要发送</a:t>
            </a:r>
          </a:p>
        </p:txBody>
      </p:sp>
      <p:sp>
        <p:nvSpPr>
          <p:cNvPr id="2415667" name="Line 73"/>
          <p:cNvSpPr>
            <a:spLocks noChangeShapeType="1"/>
          </p:cNvSpPr>
          <p:nvPr/>
        </p:nvSpPr>
        <p:spPr bwMode="auto">
          <a:xfrm>
            <a:off x="4373563" y="4991100"/>
            <a:ext cx="579437" cy="4763"/>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68" name="Line 74"/>
          <p:cNvSpPr>
            <a:spLocks noChangeShapeType="1"/>
          </p:cNvSpPr>
          <p:nvPr/>
        </p:nvSpPr>
        <p:spPr bwMode="auto">
          <a:xfrm flipV="1">
            <a:off x="5273675" y="5632450"/>
            <a:ext cx="574675" cy="1588"/>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69" name="Text Box 76"/>
          <p:cNvSpPr txBox="1">
            <a:spLocks noChangeArrowheads="1"/>
          </p:cNvSpPr>
          <p:nvPr/>
        </p:nvSpPr>
        <p:spPr bwMode="auto">
          <a:xfrm>
            <a:off x="328613" y="168275"/>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b="1">
              <a:solidFill>
                <a:srgbClr val="000099"/>
              </a:solidFill>
              <a:ea typeface="宋体" panose="02010600030101010101" pitchFamily="2" charset="-122"/>
            </a:endParaRPr>
          </a:p>
        </p:txBody>
      </p:sp>
      <p:sp>
        <p:nvSpPr>
          <p:cNvPr id="317517" name="Text Box 77"/>
          <p:cNvSpPr txBox="1">
            <a:spLocks noChangeArrowheads="1"/>
          </p:cNvSpPr>
          <p:nvPr/>
        </p:nvSpPr>
        <p:spPr bwMode="auto">
          <a:xfrm>
            <a:off x="293688" y="71438"/>
            <a:ext cx="9555162" cy="1196975"/>
          </a:xfrm>
          <a:prstGeom prst="rect">
            <a:avLst/>
          </a:prstGeom>
          <a:solidFill>
            <a:srgbClr val="FFFF99"/>
          </a:solidFill>
          <a:ln w="9525">
            <a:solidFill>
              <a:srgbClr val="333399"/>
            </a:solidFill>
            <a:miter lim="800000"/>
            <a:headEnd/>
            <a:tailEnd/>
          </a:ln>
        </p:spPr>
        <p:txBody>
          <a:bodyPr>
            <a:spAutoFit/>
          </a:bodyPr>
          <a:lstStyle/>
          <a:p>
            <a:pPr eaLnBrk="0" hangingPunct="0"/>
            <a:r>
              <a:rPr lang="en-US" altLang="zh-CN" sz="2400" b="1" dirty="0">
                <a:solidFill>
                  <a:srgbClr val="FF0000"/>
                </a:solidFill>
                <a:ea typeface="宋体" panose="02010600030101010101" pitchFamily="2" charset="-122"/>
              </a:rPr>
              <a:t>SIFS</a:t>
            </a:r>
            <a:r>
              <a:rPr lang="zh-CN" altLang="en-US" sz="2400" b="1" dirty="0">
                <a:solidFill>
                  <a:srgbClr val="000099"/>
                </a:solidFill>
                <a:ea typeface="宋体" panose="02010600030101010101" pitchFamily="2" charset="-122"/>
              </a:rPr>
              <a:t>，即</a:t>
            </a:r>
            <a:r>
              <a:rPr lang="zh-CN" altLang="en-US" sz="2400" b="1" dirty="0">
                <a:solidFill>
                  <a:srgbClr val="C00000"/>
                </a:solidFill>
                <a:ea typeface="宋体" panose="02010600030101010101" pitchFamily="2" charset="-122"/>
              </a:rPr>
              <a:t>短 </a:t>
            </a:r>
            <a:r>
              <a:rPr lang="en-US" altLang="zh-CN" sz="2400" b="1" dirty="0">
                <a:solidFill>
                  <a:srgbClr val="C00000"/>
                </a:solidFill>
                <a:ea typeface="宋体" panose="02010600030101010101" pitchFamily="2" charset="-122"/>
              </a:rPr>
              <a:t>(Short) </a:t>
            </a:r>
            <a:r>
              <a:rPr lang="zh-CN" altLang="en-US" sz="2400" b="1" dirty="0">
                <a:solidFill>
                  <a:srgbClr val="C00000"/>
                </a:solidFill>
                <a:ea typeface="宋体" panose="02010600030101010101" pitchFamily="2" charset="-122"/>
              </a:rPr>
              <a:t>帧间间隔，</a:t>
            </a:r>
            <a:r>
              <a:rPr lang="zh-CN" altLang="zh-CN" sz="2400" b="1" dirty="0">
                <a:solidFill>
                  <a:srgbClr val="000099"/>
                </a:solidFill>
                <a:ea typeface="宋体" panose="02010600030101010101" pitchFamily="2" charset="-122"/>
              </a:rPr>
              <a:t>长度为</a:t>
            </a:r>
            <a:r>
              <a:rPr lang="en-US" altLang="zh-CN" sz="2400" b="1" dirty="0">
                <a:solidFill>
                  <a:srgbClr val="000099"/>
                </a:solidFill>
                <a:ea typeface="宋体" panose="02010600030101010101" pitchFamily="2" charset="-122"/>
              </a:rPr>
              <a:t> 28 </a:t>
            </a:r>
            <a:r>
              <a:rPr lang="en-US" altLang="zh-CN" sz="2400" b="1" dirty="0">
                <a:solidFill>
                  <a:srgbClr val="000099"/>
                </a:solidFill>
                <a:ea typeface="宋体" panose="02010600030101010101" pitchFamily="2" charset="-122"/>
                <a:sym typeface="Symbol" panose="05050102010706020507" pitchFamily="18" charset="2"/>
              </a:rPr>
              <a:t></a:t>
            </a:r>
            <a:r>
              <a:rPr lang="en-US" altLang="zh-CN" sz="2400" b="1" dirty="0">
                <a:solidFill>
                  <a:srgbClr val="000099"/>
                </a:solidFill>
                <a:ea typeface="宋体" panose="02010600030101010101" pitchFamily="2" charset="-122"/>
              </a:rPr>
              <a:t>s</a:t>
            </a:r>
            <a:r>
              <a:rPr lang="zh-CN" altLang="en-US" sz="2400" b="1" dirty="0">
                <a:solidFill>
                  <a:srgbClr val="000099"/>
                </a:solidFill>
                <a:ea typeface="宋体" panose="02010600030101010101" pitchFamily="2" charset="-122"/>
              </a:rPr>
              <a:t>，是</a:t>
            </a:r>
            <a:r>
              <a:rPr lang="zh-CN" altLang="en-US" sz="2400" b="1" dirty="0">
                <a:solidFill>
                  <a:srgbClr val="0000FF"/>
                </a:solidFill>
                <a:ea typeface="宋体" panose="02010600030101010101" pitchFamily="2" charset="-122"/>
              </a:rPr>
              <a:t>最短的帧间间隔</a:t>
            </a:r>
            <a:r>
              <a:rPr lang="zh-CN" altLang="en-US" sz="2400" b="1" dirty="0">
                <a:solidFill>
                  <a:srgbClr val="000099"/>
                </a:solidFill>
                <a:ea typeface="宋体" panose="02010600030101010101" pitchFamily="2" charset="-122"/>
              </a:rPr>
              <a:t>，用来分隔开</a:t>
            </a:r>
            <a:r>
              <a:rPr lang="zh-CN" altLang="en-US" sz="2400" b="1" dirty="0">
                <a:solidFill>
                  <a:srgbClr val="0000FF"/>
                </a:solidFill>
                <a:ea typeface="宋体" panose="02010600030101010101" pitchFamily="2" charset="-122"/>
              </a:rPr>
              <a:t>属于一次对话的各帧</a:t>
            </a:r>
            <a:r>
              <a:rPr lang="zh-CN" altLang="en-US" sz="2400" b="1" dirty="0">
                <a:solidFill>
                  <a:srgbClr val="000099"/>
                </a:solidFill>
                <a:ea typeface="宋体" panose="02010600030101010101" pitchFamily="2" charset="-122"/>
              </a:rPr>
              <a:t>。一个站应当能够在这段时间内从发送方式切换到接收方式。</a:t>
            </a:r>
          </a:p>
        </p:txBody>
      </p:sp>
      <p:sp>
        <p:nvSpPr>
          <p:cNvPr id="317518" name="Text Box 78"/>
          <p:cNvSpPr txBox="1">
            <a:spLocks noChangeArrowheads="1"/>
          </p:cNvSpPr>
          <p:nvPr/>
        </p:nvSpPr>
        <p:spPr bwMode="auto">
          <a:xfrm>
            <a:off x="3392488" y="1339850"/>
            <a:ext cx="6438900" cy="923330"/>
          </a:xfrm>
          <a:prstGeom prst="rect">
            <a:avLst/>
          </a:prstGeom>
          <a:solidFill>
            <a:srgbClr val="CCECFF"/>
          </a:solidFill>
          <a:ln w="9525">
            <a:solidFill>
              <a:srgbClr val="333399"/>
            </a:solidFill>
            <a:miter lim="800000"/>
            <a:headEnd/>
            <a:tailEnd/>
          </a:ln>
        </p:spPr>
        <p:txBody>
          <a:bodyPr>
            <a:spAutoFit/>
          </a:bodyPr>
          <a:lstStyle/>
          <a:p>
            <a:pPr eaLnBrk="0" hangingPunct="0"/>
            <a:r>
              <a:rPr lang="zh-CN" altLang="en-US" b="1" dirty="0">
                <a:solidFill>
                  <a:srgbClr val="000099"/>
                </a:solidFill>
                <a:ea typeface="宋体" panose="02010600030101010101" pitchFamily="2" charset="-122"/>
              </a:rPr>
              <a:t>使用 </a:t>
            </a:r>
            <a:r>
              <a:rPr lang="en-US" altLang="zh-CN" b="1" dirty="0">
                <a:solidFill>
                  <a:srgbClr val="000099"/>
                </a:solidFill>
                <a:ea typeface="宋体" panose="02010600030101010101" pitchFamily="2" charset="-122"/>
              </a:rPr>
              <a:t>SIFS </a:t>
            </a:r>
            <a:r>
              <a:rPr lang="zh-CN" altLang="en-US" b="1" dirty="0">
                <a:solidFill>
                  <a:srgbClr val="000099"/>
                </a:solidFill>
                <a:ea typeface="宋体" panose="02010600030101010101" pitchFamily="2" charset="-122"/>
              </a:rPr>
              <a:t>的帧类型有：</a:t>
            </a:r>
            <a:r>
              <a:rPr lang="en-US" altLang="zh-CN" b="1" dirty="0">
                <a:solidFill>
                  <a:srgbClr val="0000FF"/>
                </a:solidFill>
                <a:ea typeface="宋体" panose="02010600030101010101" pitchFamily="2" charset="-122"/>
              </a:rPr>
              <a:t>ACK </a:t>
            </a:r>
            <a:r>
              <a:rPr lang="zh-CN" altLang="en-US" b="1" dirty="0">
                <a:solidFill>
                  <a:srgbClr val="0000FF"/>
                </a:solidFill>
                <a:ea typeface="宋体" panose="02010600030101010101" pitchFamily="2" charset="-122"/>
              </a:rPr>
              <a:t>帧</a:t>
            </a:r>
            <a:r>
              <a:rPr lang="zh-CN" altLang="en-US" b="1" dirty="0">
                <a:solidFill>
                  <a:srgbClr val="000099"/>
                </a:solidFill>
                <a:ea typeface="宋体" panose="02010600030101010101" pitchFamily="2" charset="-122"/>
              </a:rPr>
              <a:t>、</a:t>
            </a:r>
            <a:r>
              <a:rPr lang="en-US" altLang="zh-CN" b="1" dirty="0">
                <a:solidFill>
                  <a:srgbClr val="0000FF"/>
                </a:solidFill>
                <a:ea typeface="宋体" panose="02010600030101010101" pitchFamily="2" charset="-122"/>
              </a:rPr>
              <a:t>CTS </a:t>
            </a:r>
            <a:r>
              <a:rPr lang="zh-CN" altLang="en-US" b="1" dirty="0">
                <a:solidFill>
                  <a:srgbClr val="0000FF"/>
                </a:solidFill>
                <a:ea typeface="宋体" panose="02010600030101010101" pitchFamily="2" charset="-122"/>
              </a:rPr>
              <a:t>帧</a:t>
            </a:r>
            <a:r>
              <a:rPr lang="zh-CN" altLang="en-US" b="1" dirty="0">
                <a:solidFill>
                  <a:srgbClr val="000099"/>
                </a:solidFill>
                <a:ea typeface="宋体" panose="02010600030101010101" pitchFamily="2" charset="-122"/>
              </a:rPr>
              <a:t>、由过长的 </a:t>
            </a:r>
            <a:r>
              <a:rPr lang="en-US" altLang="zh-CN" b="1" dirty="0">
                <a:solidFill>
                  <a:srgbClr val="000099"/>
                </a:solidFill>
                <a:ea typeface="宋体" panose="02010600030101010101" pitchFamily="2" charset="-122"/>
              </a:rPr>
              <a:t>MAC </a:t>
            </a:r>
            <a:r>
              <a:rPr lang="zh-CN" altLang="en-US" b="1" dirty="0">
                <a:solidFill>
                  <a:srgbClr val="000099"/>
                </a:solidFill>
                <a:ea typeface="宋体" panose="02010600030101010101" pitchFamily="2" charset="-122"/>
              </a:rPr>
              <a:t>帧</a:t>
            </a:r>
            <a:r>
              <a:rPr lang="zh-CN" altLang="en-US" b="1" dirty="0">
                <a:solidFill>
                  <a:srgbClr val="0000FF"/>
                </a:solidFill>
                <a:ea typeface="宋体" panose="02010600030101010101" pitchFamily="2" charset="-122"/>
              </a:rPr>
              <a:t>分片后的数据帧</a:t>
            </a:r>
            <a:r>
              <a:rPr lang="zh-CN" altLang="en-US" b="1" dirty="0">
                <a:solidFill>
                  <a:srgbClr val="000099"/>
                </a:solidFill>
                <a:ea typeface="宋体" panose="02010600030101010101" pitchFamily="2" charset="-122"/>
              </a:rPr>
              <a:t>，以及所有</a:t>
            </a:r>
            <a:r>
              <a:rPr lang="zh-CN" altLang="en-US" b="1" dirty="0">
                <a:solidFill>
                  <a:srgbClr val="0000FF"/>
                </a:solidFill>
                <a:ea typeface="宋体" panose="02010600030101010101" pitchFamily="2" charset="-122"/>
              </a:rPr>
              <a:t>回答 </a:t>
            </a:r>
            <a:r>
              <a:rPr lang="en-US" altLang="zh-CN" b="1" dirty="0">
                <a:solidFill>
                  <a:srgbClr val="000099"/>
                </a:solidFill>
                <a:ea typeface="宋体" panose="02010600030101010101" pitchFamily="2" charset="-122"/>
              </a:rPr>
              <a:t>AP </a:t>
            </a:r>
            <a:r>
              <a:rPr lang="zh-CN" altLang="en-US" b="1" dirty="0">
                <a:solidFill>
                  <a:srgbClr val="000099"/>
                </a:solidFill>
                <a:ea typeface="宋体" panose="02010600030101010101" pitchFamily="2" charset="-122"/>
              </a:rPr>
              <a:t>探询的帧和在 </a:t>
            </a:r>
            <a:r>
              <a:rPr lang="en-US" altLang="zh-CN" b="1" dirty="0">
                <a:solidFill>
                  <a:srgbClr val="000099"/>
                </a:solidFill>
                <a:ea typeface="宋体" panose="02010600030101010101" pitchFamily="2" charset="-122"/>
              </a:rPr>
              <a:t>PCF </a:t>
            </a:r>
            <a:r>
              <a:rPr lang="zh-CN" altLang="en-US" b="1" dirty="0">
                <a:solidFill>
                  <a:srgbClr val="000099"/>
                </a:solidFill>
                <a:ea typeface="宋体" panose="02010600030101010101" pitchFamily="2" charset="-122"/>
              </a:rPr>
              <a:t>方式中接入点 </a:t>
            </a:r>
            <a:r>
              <a:rPr lang="en-US" altLang="zh-CN" b="1" dirty="0">
                <a:solidFill>
                  <a:srgbClr val="0000FF"/>
                </a:solidFill>
                <a:ea typeface="宋体" panose="02010600030101010101" pitchFamily="2" charset="-122"/>
              </a:rPr>
              <a:t>AP </a:t>
            </a:r>
            <a:r>
              <a:rPr lang="zh-CN" altLang="en-US" b="1" dirty="0">
                <a:solidFill>
                  <a:srgbClr val="0000FF"/>
                </a:solidFill>
                <a:ea typeface="宋体" panose="02010600030101010101" pitchFamily="2" charset="-122"/>
              </a:rPr>
              <a:t>发送出的任何帧</a:t>
            </a:r>
            <a:r>
              <a:rPr lang="zh-CN" altLang="en-US" b="1" dirty="0">
                <a:solidFill>
                  <a:srgbClr val="000099"/>
                </a:solidFill>
                <a:ea typeface="宋体" panose="02010600030101010101" pitchFamily="2" charset="-122"/>
              </a:rPr>
              <a:t>。</a:t>
            </a:r>
          </a:p>
        </p:txBody>
      </p:sp>
      <p:sp>
        <p:nvSpPr>
          <p:cNvPr id="2415672" name="Line 80"/>
          <p:cNvSpPr>
            <a:spLocks noChangeShapeType="1"/>
          </p:cNvSpPr>
          <p:nvPr/>
        </p:nvSpPr>
        <p:spPr bwMode="auto">
          <a:xfrm>
            <a:off x="2457450" y="3427413"/>
            <a:ext cx="155575" cy="11525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73" name="Line 81"/>
          <p:cNvSpPr>
            <a:spLocks noChangeShapeType="1"/>
          </p:cNvSpPr>
          <p:nvPr/>
        </p:nvSpPr>
        <p:spPr bwMode="auto">
          <a:xfrm>
            <a:off x="4173538" y="3427413"/>
            <a:ext cx="155575" cy="11525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74" name="Line 82"/>
          <p:cNvSpPr>
            <a:spLocks noChangeShapeType="1"/>
          </p:cNvSpPr>
          <p:nvPr/>
        </p:nvSpPr>
        <p:spPr bwMode="auto">
          <a:xfrm flipH="1">
            <a:off x="5110163" y="3427413"/>
            <a:ext cx="153987" cy="11525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75" name="Line 83"/>
          <p:cNvSpPr>
            <a:spLocks noChangeShapeType="1"/>
          </p:cNvSpPr>
          <p:nvPr/>
        </p:nvSpPr>
        <p:spPr bwMode="auto">
          <a:xfrm flipH="1">
            <a:off x="4954588" y="3427413"/>
            <a:ext cx="155575" cy="11525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76" name="Freeform 86"/>
          <p:cNvSpPr>
            <a:spLocks noChangeArrowheads="1"/>
          </p:cNvSpPr>
          <p:nvPr/>
        </p:nvSpPr>
        <p:spPr bwMode="auto">
          <a:xfrm>
            <a:off x="2457450" y="3427413"/>
            <a:ext cx="1871663" cy="1152525"/>
          </a:xfrm>
          <a:custGeom>
            <a:avLst/>
            <a:gdLst>
              <a:gd name="T0" fmla="*/ 0 w 1088"/>
              <a:gd name="T1" fmla="*/ 0 h 726"/>
              <a:gd name="T2" fmla="*/ 90 w 1088"/>
              <a:gd name="T3" fmla="*/ 726 h 726"/>
              <a:gd name="T4" fmla="*/ 1088 w 1088"/>
              <a:gd name="T5" fmla="*/ 726 h 726"/>
              <a:gd name="T6" fmla="*/ 997 w 1088"/>
              <a:gd name="T7" fmla="*/ 0 h 726"/>
              <a:gd name="T8" fmla="*/ 0 w 1088"/>
              <a:gd name="T9" fmla="*/ 0 h 726"/>
            </a:gdLst>
            <a:ahLst/>
            <a:cxnLst>
              <a:cxn ang="0">
                <a:pos x="T0" y="T1"/>
              </a:cxn>
              <a:cxn ang="0">
                <a:pos x="T2" y="T3"/>
              </a:cxn>
              <a:cxn ang="0">
                <a:pos x="T4" y="T5"/>
              </a:cxn>
              <a:cxn ang="0">
                <a:pos x="T6" y="T7"/>
              </a:cxn>
              <a:cxn ang="0">
                <a:pos x="T8" y="T9"/>
              </a:cxn>
            </a:cxnLst>
            <a:rect l="0" t="0" r="r" b="b"/>
            <a:pathLst>
              <a:path w="1088" h="726">
                <a:moveTo>
                  <a:pt x="0" y="0"/>
                </a:moveTo>
                <a:lnTo>
                  <a:pt x="90" y="726"/>
                </a:lnTo>
                <a:lnTo>
                  <a:pt x="1088" y="726"/>
                </a:lnTo>
                <a:lnTo>
                  <a:pt x="997" y="0"/>
                </a:lnTo>
                <a:lnTo>
                  <a:pt x="0" y="0"/>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415677" name="AutoShape 84"/>
          <p:cNvSpPr>
            <a:spLocks noChangeArrowheads="1"/>
          </p:cNvSpPr>
          <p:nvPr/>
        </p:nvSpPr>
        <p:spPr bwMode="auto">
          <a:xfrm rot="-561028">
            <a:off x="3314700" y="3787775"/>
            <a:ext cx="233363" cy="720725"/>
          </a:xfrm>
          <a:prstGeom prst="downArrow">
            <a:avLst>
              <a:gd name="adj1" fmla="val 50000"/>
              <a:gd name="adj2" fmla="val 83645"/>
            </a:avLst>
          </a:prstGeom>
          <a:solidFill>
            <a:schemeClr val="bg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宋体" panose="02010600030101010101" pitchFamily="2" charset="-122"/>
            </a:endParaRPr>
          </a:p>
        </p:txBody>
      </p:sp>
      <p:sp>
        <p:nvSpPr>
          <p:cNvPr id="2415678" name="Text Box 26"/>
          <p:cNvSpPr txBox="1">
            <a:spLocks noChangeArrowheads="1"/>
          </p:cNvSpPr>
          <p:nvPr/>
        </p:nvSpPr>
        <p:spPr bwMode="auto">
          <a:xfrm>
            <a:off x="2613025" y="3427413"/>
            <a:ext cx="13700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发送第 </a:t>
            </a:r>
            <a:r>
              <a:rPr lang="en-US" altLang="zh-CN" b="1">
                <a:solidFill>
                  <a:srgbClr val="000099"/>
                </a:solidFill>
                <a:ea typeface="宋体" panose="02010600030101010101" pitchFamily="2" charset="-122"/>
              </a:rPr>
              <a:t>1 </a:t>
            </a:r>
            <a:r>
              <a:rPr lang="zh-CN" altLang="en-US" b="1">
                <a:solidFill>
                  <a:srgbClr val="000099"/>
                </a:solidFill>
                <a:ea typeface="宋体" panose="02010600030101010101" pitchFamily="2" charset="-122"/>
              </a:rPr>
              <a:t>帧</a:t>
            </a:r>
          </a:p>
        </p:txBody>
      </p:sp>
      <p:sp>
        <p:nvSpPr>
          <p:cNvPr id="2415679" name="Freeform 88"/>
          <p:cNvSpPr>
            <a:spLocks noChangeArrowheads="1"/>
          </p:cNvSpPr>
          <p:nvPr/>
        </p:nvSpPr>
        <p:spPr bwMode="auto">
          <a:xfrm>
            <a:off x="4953000" y="3427413"/>
            <a:ext cx="311150" cy="1152525"/>
          </a:xfrm>
          <a:custGeom>
            <a:avLst/>
            <a:gdLst>
              <a:gd name="T0" fmla="*/ 91 w 181"/>
              <a:gd name="T1" fmla="*/ 0 h 726"/>
              <a:gd name="T2" fmla="*/ 0 w 181"/>
              <a:gd name="T3" fmla="*/ 726 h 726"/>
              <a:gd name="T4" fmla="*/ 91 w 181"/>
              <a:gd name="T5" fmla="*/ 726 h 726"/>
              <a:gd name="T6" fmla="*/ 181 w 181"/>
              <a:gd name="T7" fmla="*/ 0 h 726"/>
              <a:gd name="T8" fmla="*/ 91 w 181"/>
              <a:gd name="T9" fmla="*/ 0 h 726"/>
            </a:gdLst>
            <a:ahLst/>
            <a:cxnLst>
              <a:cxn ang="0">
                <a:pos x="T0" y="T1"/>
              </a:cxn>
              <a:cxn ang="0">
                <a:pos x="T2" y="T3"/>
              </a:cxn>
              <a:cxn ang="0">
                <a:pos x="T4" y="T5"/>
              </a:cxn>
              <a:cxn ang="0">
                <a:pos x="T6" y="T7"/>
              </a:cxn>
              <a:cxn ang="0">
                <a:pos x="T8" y="T9"/>
              </a:cxn>
            </a:cxnLst>
            <a:rect l="0" t="0" r="r" b="b"/>
            <a:pathLst>
              <a:path w="181" h="726">
                <a:moveTo>
                  <a:pt x="91" y="0"/>
                </a:moveTo>
                <a:lnTo>
                  <a:pt x="0" y="726"/>
                </a:lnTo>
                <a:lnTo>
                  <a:pt x="91" y="726"/>
                </a:lnTo>
                <a:lnTo>
                  <a:pt x="181" y="0"/>
                </a:lnTo>
                <a:lnTo>
                  <a:pt x="91" y="0"/>
                </a:lnTo>
                <a:close/>
              </a:path>
            </a:pathLst>
          </a:custGeom>
          <a:solidFill>
            <a:srgbClr val="CC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415680" name="Line 60"/>
          <p:cNvSpPr>
            <a:spLocks noChangeShapeType="1"/>
          </p:cNvSpPr>
          <p:nvPr/>
        </p:nvSpPr>
        <p:spPr bwMode="auto">
          <a:xfrm>
            <a:off x="415925" y="4578350"/>
            <a:ext cx="9202738"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81" name="Line 11"/>
          <p:cNvSpPr>
            <a:spLocks noChangeShapeType="1"/>
          </p:cNvSpPr>
          <p:nvPr/>
        </p:nvSpPr>
        <p:spPr bwMode="auto">
          <a:xfrm>
            <a:off x="417513" y="3422650"/>
            <a:ext cx="920432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82" name="Line 89"/>
          <p:cNvSpPr>
            <a:spLocks noChangeShapeType="1"/>
          </p:cNvSpPr>
          <p:nvPr/>
        </p:nvSpPr>
        <p:spPr bwMode="auto">
          <a:xfrm flipV="1">
            <a:off x="5087938" y="3746500"/>
            <a:ext cx="61912" cy="479425"/>
          </a:xfrm>
          <a:prstGeom prst="line">
            <a:avLst/>
          </a:prstGeom>
          <a:noFill/>
          <a:ln w="28575">
            <a:solidFill>
              <a:schemeClr val="tx2"/>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3E8CCD7-C7E6-40C4-8478-D9EDE5A1D7D9}" type="slidenum">
              <a:rPr lang="zh-CN" altLang="en-US" smtClean="0"/>
              <a:pPr eaLnBrk="1" hangingPunct="1"/>
              <a:t>33</a:t>
            </a:fld>
            <a:endParaRPr lang="en-US" altLang="zh-CN" smtClean="0"/>
          </a:p>
        </p:txBody>
      </p:sp>
      <p:sp>
        <p:nvSpPr>
          <p:cNvPr id="24156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517"/>
                                        </p:tgtEl>
                                        <p:attrNameLst>
                                          <p:attrName>style.visibility</p:attrName>
                                        </p:attrNameLst>
                                      </p:cBhvr>
                                      <p:to>
                                        <p:strVal val="visible"/>
                                      </p:to>
                                    </p:set>
                                  </p:childTnLst>
                                </p:cTn>
                              </p:par>
                              <p:par>
                                <p:cTn id="7" presetID="35" presetClass="emph" presetSubtype="0" repeatCount="4000" fill="hold" grpId="0" nodeType="withEffect">
                                  <p:stCondLst>
                                    <p:cond delay="0"/>
                                  </p:stCondLst>
                                  <p:childTnLst>
                                    <p:anim calcmode="discrete" valueType="str">
                                      <p:cBhvr>
                                        <p:cTn id="8" dur="500" fill="hold"/>
                                        <p:tgtEl>
                                          <p:spTgt spid="317467"/>
                                        </p:tgtEl>
                                        <p:attrNameLst>
                                          <p:attrName>style.visibility</p:attrName>
                                        </p:attrNameLst>
                                      </p:cBhvr>
                                      <p:tavLst>
                                        <p:tav tm="0">
                                          <p:val>
                                            <p:strVal val="hidden"/>
                                          </p:val>
                                        </p:tav>
                                        <p:tav tm="50000">
                                          <p:val>
                                            <p:strVal val="visible"/>
                                          </p:val>
                                        </p:tav>
                                      </p:tavLst>
                                    </p:anim>
                                  </p:childTnLst>
                                </p:cTn>
                              </p:par>
                              <p:par>
                                <p:cTn id="9" presetID="35" presetClass="emph" presetSubtype="0" repeatCount="4000" fill="hold" grpId="0" nodeType="withEffect">
                                  <p:stCondLst>
                                    <p:cond delay="0"/>
                                  </p:stCondLst>
                                  <p:childTnLst>
                                    <p:anim calcmode="discrete" valueType="str">
                                      <p:cBhvr>
                                        <p:cTn id="10" dur="500" fill="hold"/>
                                        <p:tgtEl>
                                          <p:spTgt spid="317507"/>
                                        </p:tgtEl>
                                        <p:attrNameLst>
                                          <p:attrName>style.visibility</p:attrName>
                                        </p:attrNameLst>
                                      </p:cBhvr>
                                      <p:tavLst>
                                        <p:tav tm="0">
                                          <p:val>
                                            <p:strVal val="hidden"/>
                                          </p:val>
                                        </p:tav>
                                        <p:tav tm="50000">
                                          <p:val>
                                            <p:strVal val="visible"/>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518"/>
                                        </p:tgtEl>
                                        <p:attrNameLst>
                                          <p:attrName>style.visibility</p:attrName>
                                        </p:attrNameLst>
                                      </p:cBhvr>
                                      <p:to>
                                        <p:strVal val="visible"/>
                                      </p:to>
                                    </p:set>
                                  </p:childTnLst>
                                </p:cTn>
                              </p:par>
                              <p:par>
                                <p:cTn id="15" presetID="35" presetClass="emph" presetSubtype="0" repeatCount="4000" fill="hold" grpId="0" nodeType="withEffect">
                                  <p:stCondLst>
                                    <p:cond delay="0"/>
                                  </p:stCondLst>
                                  <p:childTnLst>
                                    <p:anim calcmode="discrete" valueType="str">
                                      <p:cBhvr>
                                        <p:cTn id="16" dur="500" fill="hold"/>
                                        <p:tgtEl>
                                          <p:spTgt spid="31753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30" grpId="0"/>
      <p:bldP spid="317467" grpId="0"/>
      <p:bldP spid="317507" grpId="0"/>
      <p:bldP spid="317517" grpId="0" animBg="1"/>
      <p:bldP spid="31751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41" name="Text Box 90"/>
          <p:cNvSpPr txBox="1">
            <a:spLocks noChangeArrowheads="1"/>
          </p:cNvSpPr>
          <p:nvPr/>
        </p:nvSpPr>
        <p:spPr bwMode="auto">
          <a:xfrm rot="-4974934">
            <a:off x="4545013" y="3714750"/>
            <a:ext cx="6842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ACK</a:t>
            </a:r>
          </a:p>
        </p:txBody>
      </p:sp>
      <p:sp>
        <p:nvSpPr>
          <p:cNvPr id="2416642" name="Rectangle 6"/>
          <p:cNvSpPr>
            <a:spLocks noGrp="1" noChangeArrowheads="1"/>
          </p:cNvSpPr>
          <p:nvPr>
            <p:ph type="title"/>
          </p:nvPr>
        </p:nvSpPr>
        <p:spPr/>
        <p:txBody>
          <a:bodyPr/>
          <a:lstStyle/>
          <a:p>
            <a:pPr algn="ctr"/>
            <a:r>
              <a:rPr lang="zh-CN" altLang="zh-CN" smtClean="0">
                <a:latin typeface="Times New Roman" panose="02020603050405020304" pitchFamily="18" charset="0"/>
                <a:ea typeface="黑体" panose="02010609060101010101" pitchFamily="49" charset="-122"/>
              </a:rPr>
              <a:t>两种常用</a:t>
            </a:r>
            <a:r>
              <a:rPr lang="zh-CN" altLang="en-US" smtClean="0">
                <a:solidFill>
                  <a:srgbClr val="000099"/>
                </a:solidFill>
                <a:ea typeface="黑体" panose="02010609060101010101" pitchFamily="49" charset="-122"/>
              </a:rPr>
              <a:t>帧间间隔 </a:t>
            </a:r>
          </a:p>
        </p:txBody>
      </p:sp>
      <p:sp>
        <p:nvSpPr>
          <p:cNvPr id="2416643" name="Text Box 12"/>
          <p:cNvSpPr txBox="1">
            <a:spLocks noChangeArrowheads="1"/>
          </p:cNvSpPr>
          <p:nvPr/>
        </p:nvSpPr>
        <p:spPr bwMode="auto">
          <a:xfrm>
            <a:off x="9086850" y="3022600"/>
            <a:ext cx="646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时间</a:t>
            </a:r>
          </a:p>
        </p:txBody>
      </p:sp>
      <p:sp>
        <p:nvSpPr>
          <p:cNvPr id="317455" name="Text Box 15"/>
          <p:cNvSpPr txBox="1">
            <a:spLocks noChangeArrowheads="1"/>
          </p:cNvSpPr>
          <p:nvPr/>
        </p:nvSpPr>
        <p:spPr bwMode="auto">
          <a:xfrm>
            <a:off x="1697038" y="2916238"/>
            <a:ext cx="711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DIFS</a:t>
            </a:r>
          </a:p>
        </p:txBody>
      </p:sp>
      <p:sp>
        <p:nvSpPr>
          <p:cNvPr id="2416645" name="Line 18"/>
          <p:cNvSpPr>
            <a:spLocks noChangeShapeType="1"/>
          </p:cNvSpPr>
          <p:nvPr/>
        </p:nvSpPr>
        <p:spPr bwMode="auto">
          <a:xfrm>
            <a:off x="1697038" y="3257550"/>
            <a:ext cx="7683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46" name="Freeform 19"/>
          <p:cNvSpPr>
            <a:spLocks noChangeArrowheads="1"/>
          </p:cNvSpPr>
          <p:nvPr/>
        </p:nvSpPr>
        <p:spPr bwMode="auto">
          <a:xfrm>
            <a:off x="590550" y="3048000"/>
            <a:ext cx="1106488" cy="374650"/>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66FF66"/>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16647" name="Text Box 20"/>
          <p:cNvSpPr txBox="1">
            <a:spLocks noChangeArrowheads="1"/>
          </p:cNvSpPr>
          <p:nvPr/>
        </p:nvSpPr>
        <p:spPr bwMode="auto">
          <a:xfrm>
            <a:off x="541338" y="3044825"/>
            <a:ext cx="1255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b="1">
                <a:solidFill>
                  <a:srgbClr val="000099"/>
                </a:solidFill>
                <a:ea typeface="宋体" panose="02010600030101010101" pitchFamily="2" charset="-122"/>
              </a:rPr>
              <a:t>媒体空闲                                    </a:t>
            </a:r>
          </a:p>
        </p:txBody>
      </p:sp>
      <p:sp>
        <p:nvSpPr>
          <p:cNvPr id="2416648" name="Line 22"/>
          <p:cNvSpPr>
            <a:spLocks noChangeShapeType="1"/>
          </p:cNvSpPr>
          <p:nvPr/>
        </p:nvSpPr>
        <p:spPr bwMode="auto">
          <a:xfrm>
            <a:off x="1697038" y="3008313"/>
            <a:ext cx="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49" name="Line 23"/>
          <p:cNvSpPr>
            <a:spLocks noChangeShapeType="1"/>
          </p:cNvSpPr>
          <p:nvPr/>
        </p:nvSpPr>
        <p:spPr bwMode="auto">
          <a:xfrm flipV="1">
            <a:off x="2457450" y="3008313"/>
            <a:ext cx="9525" cy="419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50" name="Text Box 27"/>
          <p:cNvSpPr txBox="1">
            <a:spLocks noChangeArrowheads="1"/>
          </p:cNvSpPr>
          <p:nvPr/>
        </p:nvSpPr>
        <p:spPr bwMode="auto">
          <a:xfrm>
            <a:off x="4278313" y="4618038"/>
            <a:ext cx="698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SIFS</a:t>
            </a:r>
          </a:p>
        </p:txBody>
      </p:sp>
      <p:sp>
        <p:nvSpPr>
          <p:cNvPr id="2416651" name="Line 30"/>
          <p:cNvSpPr>
            <a:spLocks noChangeShapeType="1"/>
          </p:cNvSpPr>
          <p:nvPr/>
        </p:nvSpPr>
        <p:spPr bwMode="auto">
          <a:xfrm flipH="1" flipV="1">
            <a:off x="4329113" y="4630738"/>
            <a:ext cx="0" cy="4429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52" name="Line 32"/>
          <p:cNvSpPr>
            <a:spLocks noChangeShapeType="1"/>
          </p:cNvSpPr>
          <p:nvPr/>
        </p:nvSpPr>
        <p:spPr bwMode="auto">
          <a:xfrm>
            <a:off x="417513" y="5911850"/>
            <a:ext cx="920432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53" name="Text Box 33"/>
          <p:cNvSpPr txBox="1">
            <a:spLocks noChangeArrowheads="1"/>
          </p:cNvSpPr>
          <p:nvPr/>
        </p:nvSpPr>
        <p:spPr bwMode="auto">
          <a:xfrm>
            <a:off x="9086850" y="5516563"/>
            <a:ext cx="646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时间</a:t>
            </a:r>
          </a:p>
        </p:txBody>
      </p:sp>
      <p:sp>
        <p:nvSpPr>
          <p:cNvPr id="2416654" name="Freeform 34"/>
          <p:cNvSpPr>
            <a:spLocks noChangeArrowheads="1"/>
          </p:cNvSpPr>
          <p:nvPr/>
        </p:nvSpPr>
        <p:spPr bwMode="auto">
          <a:xfrm>
            <a:off x="2454275" y="5535613"/>
            <a:ext cx="2813050" cy="376237"/>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99FFCC"/>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16655" name="Text Box 35"/>
          <p:cNvSpPr txBox="1">
            <a:spLocks noChangeArrowheads="1"/>
          </p:cNvSpPr>
          <p:nvPr/>
        </p:nvSpPr>
        <p:spPr bwMode="auto">
          <a:xfrm>
            <a:off x="2949575" y="5522913"/>
            <a:ext cx="1817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NAV</a:t>
            </a:r>
            <a:r>
              <a:rPr lang="zh-CN" altLang="en-US" b="1">
                <a:solidFill>
                  <a:srgbClr val="000099"/>
                </a:solidFill>
                <a:ea typeface="宋体" panose="02010600030101010101" pitchFamily="2" charset="-122"/>
              </a:rPr>
              <a:t>（媒体忙）</a:t>
            </a:r>
          </a:p>
        </p:txBody>
      </p:sp>
      <p:sp>
        <p:nvSpPr>
          <p:cNvPr id="317476" name="Text Box 36"/>
          <p:cNvSpPr txBox="1">
            <a:spLocks noChangeArrowheads="1"/>
          </p:cNvSpPr>
          <p:nvPr/>
        </p:nvSpPr>
        <p:spPr bwMode="auto">
          <a:xfrm>
            <a:off x="5237163" y="4933950"/>
            <a:ext cx="7096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DIFS</a:t>
            </a:r>
          </a:p>
        </p:txBody>
      </p:sp>
      <p:sp>
        <p:nvSpPr>
          <p:cNvPr id="2416657" name="Line 37"/>
          <p:cNvSpPr>
            <a:spLocks noChangeShapeType="1"/>
          </p:cNvSpPr>
          <p:nvPr/>
        </p:nvSpPr>
        <p:spPr bwMode="auto">
          <a:xfrm flipV="1">
            <a:off x="5283200" y="5249863"/>
            <a:ext cx="727075"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58" name="Line 38"/>
          <p:cNvSpPr>
            <a:spLocks noChangeShapeType="1"/>
          </p:cNvSpPr>
          <p:nvPr/>
        </p:nvSpPr>
        <p:spPr bwMode="auto">
          <a:xfrm flipH="1" flipV="1">
            <a:off x="5267325" y="4619625"/>
            <a:ext cx="0" cy="425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59" name="Line 39"/>
          <p:cNvSpPr>
            <a:spLocks noChangeShapeType="1"/>
          </p:cNvSpPr>
          <p:nvPr/>
        </p:nvSpPr>
        <p:spPr bwMode="auto">
          <a:xfrm>
            <a:off x="6010275" y="4619625"/>
            <a:ext cx="0" cy="8588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60" name="Freeform 40"/>
          <p:cNvSpPr>
            <a:spLocks noChangeArrowheads="1"/>
          </p:cNvSpPr>
          <p:nvPr/>
        </p:nvSpPr>
        <p:spPr bwMode="auto">
          <a:xfrm>
            <a:off x="7391400" y="5535613"/>
            <a:ext cx="1498600" cy="376237"/>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FFFF99"/>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16661" name="Freeform 41"/>
          <p:cNvSpPr>
            <a:spLocks noChangeArrowheads="1"/>
          </p:cNvSpPr>
          <p:nvPr/>
        </p:nvSpPr>
        <p:spPr bwMode="auto">
          <a:xfrm>
            <a:off x="6003925" y="5535613"/>
            <a:ext cx="1387475" cy="376237"/>
          </a:xfrm>
          <a:custGeom>
            <a:avLst/>
            <a:gdLst>
              <a:gd name="T0" fmla="*/ 0 w 780"/>
              <a:gd name="T1" fmla="*/ 240 h 240"/>
              <a:gd name="T2" fmla="*/ 0 w 780"/>
              <a:gd name="T3" fmla="*/ 0 h 240"/>
              <a:gd name="T4" fmla="*/ 780 w 780"/>
              <a:gd name="T5" fmla="*/ 0 h 240"/>
            </a:gdLst>
            <a:ahLst/>
            <a:cxnLst>
              <a:cxn ang="0">
                <a:pos x="T0" y="T1"/>
              </a:cxn>
              <a:cxn ang="0">
                <a:pos x="T2" y="T3"/>
              </a:cxn>
              <a:cxn ang="0">
                <a:pos x="T4" y="T5"/>
              </a:cxn>
            </a:cxnLst>
            <a:rect l="0" t="0" r="r" b="b"/>
            <a:pathLst>
              <a:path w="780" h="240">
                <a:moveTo>
                  <a:pt x="0" y="240"/>
                </a:moveTo>
                <a:lnTo>
                  <a:pt x="0" y="0"/>
                </a:lnTo>
                <a:lnTo>
                  <a:pt x="780" y="0"/>
                </a:lnTo>
              </a:path>
            </a:pathLst>
          </a:custGeom>
          <a:solidFill>
            <a:schemeClr val="bg1"/>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16662" name="Line 42"/>
          <p:cNvSpPr>
            <a:spLocks noChangeShapeType="1"/>
          </p:cNvSpPr>
          <p:nvPr/>
        </p:nvSpPr>
        <p:spPr bwMode="auto">
          <a:xfrm>
            <a:off x="6173788"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63" name="Line 43"/>
          <p:cNvSpPr>
            <a:spLocks noChangeShapeType="1"/>
          </p:cNvSpPr>
          <p:nvPr/>
        </p:nvSpPr>
        <p:spPr bwMode="auto">
          <a:xfrm>
            <a:off x="6343650"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64" name="Line 44"/>
          <p:cNvSpPr>
            <a:spLocks noChangeShapeType="1"/>
          </p:cNvSpPr>
          <p:nvPr/>
        </p:nvSpPr>
        <p:spPr bwMode="auto">
          <a:xfrm>
            <a:off x="6515100"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65" name="Line 45"/>
          <p:cNvSpPr>
            <a:spLocks noChangeShapeType="1"/>
          </p:cNvSpPr>
          <p:nvPr/>
        </p:nvSpPr>
        <p:spPr bwMode="auto">
          <a:xfrm>
            <a:off x="6686550"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66" name="Line 46"/>
          <p:cNvSpPr>
            <a:spLocks noChangeShapeType="1"/>
          </p:cNvSpPr>
          <p:nvPr/>
        </p:nvSpPr>
        <p:spPr bwMode="auto">
          <a:xfrm>
            <a:off x="6856413"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67" name="Line 47"/>
          <p:cNvSpPr>
            <a:spLocks noChangeShapeType="1"/>
          </p:cNvSpPr>
          <p:nvPr/>
        </p:nvSpPr>
        <p:spPr bwMode="auto">
          <a:xfrm>
            <a:off x="7027863" y="5540375"/>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68" name="Line 48"/>
          <p:cNvSpPr>
            <a:spLocks noChangeShapeType="1"/>
          </p:cNvSpPr>
          <p:nvPr/>
        </p:nvSpPr>
        <p:spPr bwMode="auto">
          <a:xfrm>
            <a:off x="7208838" y="5540375"/>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69" name="Line 49"/>
          <p:cNvSpPr>
            <a:spLocks noChangeShapeType="1"/>
          </p:cNvSpPr>
          <p:nvPr/>
        </p:nvSpPr>
        <p:spPr bwMode="auto">
          <a:xfrm>
            <a:off x="6040438" y="5257800"/>
            <a:ext cx="138430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70" name="Text Box 50"/>
          <p:cNvSpPr txBox="1">
            <a:spLocks noChangeArrowheads="1"/>
          </p:cNvSpPr>
          <p:nvPr/>
        </p:nvSpPr>
        <p:spPr bwMode="auto">
          <a:xfrm>
            <a:off x="6113463" y="4864100"/>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争用窗口</a:t>
            </a:r>
          </a:p>
        </p:txBody>
      </p:sp>
      <p:sp>
        <p:nvSpPr>
          <p:cNvPr id="2416671" name="Text Box 51"/>
          <p:cNvSpPr txBox="1">
            <a:spLocks noChangeArrowheads="1"/>
          </p:cNvSpPr>
          <p:nvPr/>
        </p:nvSpPr>
        <p:spPr bwMode="auto">
          <a:xfrm>
            <a:off x="7354888" y="5489575"/>
            <a:ext cx="14652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发送下一 帧</a:t>
            </a:r>
          </a:p>
        </p:txBody>
      </p:sp>
      <p:sp>
        <p:nvSpPr>
          <p:cNvPr id="2416672" name="AutoShape 52"/>
          <p:cNvSpPr>
            <a:spLocks/>
          </p:cNvSpPr>
          <p:nvPr/>
        </p:nvSpPr>
        <p:spPr bwMode="auto">
          <a:xfrm rot="-5400000">
            <a:off x="3802857" y="4634706"/>
            <a:ext cx="144462" cy="2784475"/>
          </a:xfrm>
          <a:prstGeom prst="leftBrace">
            <a:avLst>
              <a:gd name="adj1" fmla="val 14822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6673" name="AutoShape 53"/>
          <p:cNvSpPr>
            <a:spLocks/>
          </p:cNvSpPr>
          <p:nvPr/>
        </p:nvSpPr>
        <p:spPr bwMode="auto">
          <a:xfrm rot="-5400000">
            <a:off x="6641307" y="5325269"/>
            <a:ext cx="112712" cy="1352550"/>
          </a:xfrm>
          <a:prstGeom prst="leftBrace">
            <a:avLst>
              <a:gd name="adj1" fmla="val 9227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6674" name="Text Box 54"/>
          <p:cNvSpPr txBox="1">
            <a:spLocks noChangeArrowheads="1"/>
          </p:cNvSpPr>
          <p:nvPr/>
        </p:nvSpPr>
        <p:spPr bwMode="auto">
          <a:xfrm>
            <a:off x="3300413" y="6022975"/>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推迟接入</a:t>
            </a:r>
          </a:p>
        </p:txBody>
      </p:sp>
      <p:sp>
        <p:nvSpPr>
          <p:cNvPr id="2416675" name="Text Box 55"/>
          <p:cNvSpPr txBox="1">
            <a:spLocks noChangeArrowheads="1"/>
          </p:cNvSpPr>
          <p:nvPr/>
        </p:nvSpPr>
        <p:spPr bwMode="auto">
          <a:xfrm>
            <a:off x="5876925" y="5975350"/>
            <a:ext cx="1570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等待重试时间</a:t>
            </a:r>
          </a:p>
        </p:txBody>
      </p:sp>
      <p:sp>
        <p:nvSpPr>
          <p:cNvPr id="2416676" name="Line 56"/>
          <p:cNvSpPr>
            <a:spLocks noChangeShapeType="1"/>
          </p:cNvSpPr>
          <p:nvPr/>
        </p:nvSpPr>
        <p:spPr bwMode="auto">
          <a:xfrm flipV="1">
            <a:off x="1684338" y="3448050"/>
            <a:ext cx="0" cy="30003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77" name="Text Box 57"/>
          <p:cNvSpPr txBox="1">
            <a:spLocks noChangeArrowheads="1"/>
          </p:cNvSpPr>
          <p:nvPr/>
        </p:nvSpPr>
        <p:spPr bwMode="auto">
          <a:xfrm>
            <a:off x="1065213" y="3648075"/>
            <a:ext cx="1339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有帧要发送</a:t>
            </a:r>
          </a:p>
        </p:txBody>
      </p:sp>
      <p:sp>
        <p:nvSpPr>
          <p:cNvPr id="2416678" name="Line 58"/>
          <p:cNvSpPr>
            <a:spLocks noChangeShapeType="1"/>
          </p:cNvSpPr>
          <p:nvPr/>
        </p:nvSpPr>
        <p:spPr bwMode="auto">
          <a:xfrm>
            <a:off x="7423150" y="5097463"/>
            <a:ext cx="0" cy="368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79" name="Text Box 59"/>
          <p:cNvSpPr txBox="1">
            <a:spLocks noChangeArrowheads="1"/>
          </p:cNvSpPr>
          <p:nvPr/>
        </p:nvSpPr>
        <p:spPr bwMode="auto">
          <a:xfrm>
            <a:off x="122238" y="3408363"/>
            <a:ext cx="6461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源站</a:t>
            </a:r>
          </a:p>
        </p:txBody>
      </p:sp>
      <p:sp>
        <p:nvSpPr>
          <p:cNvPr id="2416680" name="Text Box 61"/>
          <p:cNvSpPr txBox="1">
            <a:spLocks noChangeArrowheads="1"/>
          </p:cNvSpPr>
          <p:nvPr/>
        </p:nvSpPr>
        <p:spPr bwMode="auto">
          <a:xfrm>
            <a:off x="9086850" y="4197350"/>
            <a:ext cx="646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时间</a:t>
            </a:r>
          </a:p>
        </p:txBody>
      </p:sp>
      <p:sp>
        <p:nvSpPr>
          <p:cNvPr id="2416681" name="Text Box 62"/>
          <p:cNvSpPr txBox="1">
            <a:spLocks noChangeArrowheads="1"/>
          </p:cNvSpPr>
          <p:nvPr/>
        </p:nvSpPr>
        <p:spPr bwMode="auto">
          <a:xfrm>
            <a:off x="103188" y="454183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目的站</a:t>
            </a:r>
          </a:p>
        </p:txBody>
      </p:sp>
      <p:sp>
        <p:nvSpPr>
          <p:cNvPr id="2416682" name="Line 64"/>
          <p:cNvSpPr>
            <a:spLocks noChangeShapeType="1"/>
          </p:cNvSpPr>
          <p:nvPr/>
        </p:nvSpPr>
        <p:spPr bwMode="auto">
          <a:xfrm flipH="1">
            <a:off x="4951413" y="4622800"/>
            <a:ext cx="1587" cy="428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83" name="Text Box 65"/>
          <p:cNvSpPr txBox="1">
            <a:spLocks noChangeArrowheads="1"/>
          </p:cNvSpPr>
          <p:nvPr/>
        </p:nvSpPr>
        <p:spPr bwMode="auto">
          <a:xfrm>
            <a:off x="5822950" y="3860800"/>
            <a:ext cx="6842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b="1">
                <a:solidFill>
                  <a:srgbClr val="000099"/>
                </a:solidFill>
                <a:ea typeface="宋体" panose="02010600030101010101" pitchFamily="2" charset="-122"/>
              </a:rPr>
              <a:t>ACK</a:t>
            </a:r>
          </a:p>
        </p:txBody>
      </p:sp>
      <p:sp>
        <p:nvSpPr>
          <p:cNvPr id="2416684" name="Line 66"/>
          <p:cNvSpPr>
            <a:spLocks noChangeShapeType="1"/>
          </p:cNvSpPr>
          <p:nvPr/>
        </p:nvSpPr>
        <p:spPr bwMode="auto">
          <a:xfrm>
            <a:off x="5264150" y="3427413"/>
            <a:ext cx="3175" cy="2057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85" name="Text Box 67"/>
          <p:cNvSpPr txBox="1">
            <a:spLocks noChangeArrowheads="1"/>
          </p:cNvSpPr>
          <p:nvPr/>
        </p:nvSpPr>
        <p:spPr bwMode="auto">
          <a:xfrm>
            <a:off x="5202238" y="5300663"/>
            <a:ext cx="698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SIFS</a:t>
            </a:r>
          </a:p>
        </p:txBody>
      </p:sp>
      <p:sp>
        <p:nvSpPr>
          <p:cNvPr id="2416686" name="Line 68"/>
          <p:cNvSpPr>
            <a:spLocks noChangeShapeType="1"/>
          </p:cNvSpPr>
          <p:nvPr/>
        </p:nvSpPr>
        <p:spPr bwMode="auto">
          <a:xfrm>
            <a:off x="5865813" y="5559425"/>
            <a:ext cx="0" cy="1508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87" name="Line 69"/>
          <p:cNvSpPr>
            <a:spLocks noChangeShapeType="1"/>
          </p:cNvSpPr>
          <p:nvPr/>
        </p:nvSpPr>
        <p:spPr bwMode="auto">
          <a:xfrm>
            <a:off x="2452688" y="3448050"/>
            <a:ext cx="0" cy="2036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88" name="Text Box 70"/>
          <p:cNvSpPr txBox="1">
            <a:spLocks noChangeArrowheads="1"/>
          </p:cNvSpPr>
          <p:nvPr/>
        </p:nvSpPr>
        <p:spPr bwMode="auto">
          <a:xfrm>
            <a:off x="66675" y="5876925"/>
            <a:ext cx="946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b="1">
                <a:solidFill>
                  <a:srgbClr val="000099"/>
                </a:solidFill>
                <a:ea typeface="宋体" panose="02010600030101010101" pitchFamily="2" charset="-122"/>
              </a:rPr>
              <a:t> </a:t>
            </a:r>
            <a:r>
              <a:rPr lang="zh-CN" altLang="en-US" b="1">
                <a:solidFill>
                  <a:srgbClr val="000099"/>
                </a:solidFill>
                <a:ea typeface="宋体" panose="02010600030101010101" pitchFamily="2" charset="-122"/>
              </a:rPr>
              <a:t>其他站</a:t>
            </a:r>
          </a:p>
        </p:txBody>
      </p:sp>
      <p:sp>
        <p:nvSpPr>
          <p:cNvPr id="2416689" name="Line 71"/>
          <p:cNvSpPr>
            <a:spLocks noChangeShapeType="1"/>
          </p:cNvSpPr>
          <p:nvPr/>
        </p:nvSpPr>
        <p:spPr bwMode="auto">
          <a:xfrm flipV="1">
            <a:off x="2452688" y="5937250"/>
            <a:ext cx="0" cy="30003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90" name="Text Box 72"/>
          <p:cNvSpPr txBox="1">
            <a:spLocks noChangeArrowheads="1"/>
          </p:cNvSpPr>
          <p:nvPr/>
        </p:nvSpPr>
        <p:spPr bwMode="auto">
          <a:xfrm>
            <a:off x="1808163" y="6156325"/>
            <a:ext cx="13382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有帧要发送</a:t>
            </a:r>
          </a:p>
        </p:txBody>
      </p:sp>
      <p:sp>
        <p:nvSpPr>
          <p:cNvPr id="2416691" name="Line 73"/>
          <p:cNvSpPr>
            <a:spLocks noChangeShapeType="1"/>
          </p:cNvSpPr>
          <p:nvPr/>
        </p:nvSpPr>
        <p:spPr bwMode="auto">
          <a:xfrm>
            <a:off x="4373563" y="4991100"/>
            <a:ext cx="579437" cy="4763"/>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92" name="Line 74"/>
          <p:cNvSpPr>
            <a:spLocks noChangeShapeType="1"/>
          </p:cNvSpPr>
          <p:nvPr/>
        </p:nvSpPr>
        <p:spPr bwMode="auto">
          <a:xfrm flipV="1">
            <a:off x="5273675" y="5632450"/>
            <a:ext cx="574675" cy="1588"/>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93" name="Text Box 76"/>
          <p:cNvSpPr txBox="1">
            <a:spLocks noChangeArrowheads="1"/>
          </p:cNvSpPr>
          <p:nvPr/>
        </p:nvSpPr>
        <p:spPr bwMode="auto">
          <a:xfrm>
            <a:off x="328613" y="168275"/>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b="1">
              <a:solidFill>
                <a:srgbClr val="000099"/>
              </a:solidFill>
              <a:ea typeface="宋体" panose="02010600030101010101" pitchFamily="2" charset="-122"/>
            </a:endParaRPr>
          </a:p>
        </p:txBody>
      </p:sp>
      <p:sp>
        <p:nvSpPr>
          <p:cNvPr id="317517" name="Text Box 77"/>
          <p:cNvSpPr txBox="1">
            <a:spLocks noChangeArrowheads="1"/>
          </p:cNvSpPr>
          <p:nvPr/>
        </p:nvSpPr>
        <p:spPr bwMode="auto">
          <a:xfrm>
            <a:off x="293688" y="44450"/>
            <a:ext cx="9555162" cy="1385888"/>
          </a:xfrm>
          <a:prstGeom prst="rect">
            <a:avLst/>
          </a:prstGeom>
          <a:solidFill>
            <a:srgbClr val="FFFF99"/>
          </a:solidFill>
          <a:ln w="9525">
            <a:solidFill>
              <a:srgbClr val="333399"/>
            </a:solidFill>
            <a:miter lim="800000"/>
            <a:headEnd/>
            <a:tailEnd/>
          </a:ln>
        </p:spPr>
        <p:txBody>
          <a:bodyPr>
            <a:spAutoFit/>
          </a:bodyPr>
          <a:lstStyle/>
          <a:p>
            <a:pPr eaLnBrk="0" hangingPunct="0"/>
            <a:r>
              <a:rPr lang="en-US" altLang="zh-CN" sz="2800" b="1" dirty="0">
                <a:solidFill>
                  <a:srgbClr val="FF0000"/>
                </a:solidFill>
                <a:ea typeface="宋体" panose="02010600030101010101" pitchFamily="2" charset="-122"/>
              </a:rPr>
              <a:t>DIFS</a:t>
            </a:r>
            <a:r>
              <a:rPr lang="zh-CN" altLang="zh-CN" sz="2800" b="1" dirty="0">
                <a:solidFill>
                  <a:srgbClr val="000099"/>
                </a:solidFill>
                <a:ea typeface="宋体" panose="02010600030101010101" pitchFamily="2" charset="-122"/>
              </a:rPr>
              <a:t>，即</a:t>
            </a:r>
            <a:r>
              <a:rPr lang="zh-CN" altLang="zh-CN" sz="2800" b="1" dirty="0">
                <a:solidFill>
                  <a:srgbClr val="C00000"/>
                </a:solidFill>
                <a:ea typeface="宋体" panose="02010600030101010101" pitchFamily="2" charset="-122"/>
              </a:rPr>
              <a:t>分布协调功能帧间间隔，</a:t>
            </a:r>
            <a:r>
              <a:rPr lang="zh-CN" altLang="zh-CN" sz="2800" b="1" dirty="0">
                <a:solidFill>
                  <a:srgbClr val="000099"/>
                </a:solidFill>
                <a:ea typeface="宋体" panose="02010600030101010101" pitchFamily="2" charset="-122"/>
              </a:rPr>
              <a:t>它比</a:t>
            </a:r>
            <a:r>
              <a:rPr lang="en-US" altLang="zh-CN" sz="2800" b="1" dirty="0">
                <a:solidFill>
                  <a:srgbClr val="000099"/>
                </a:solidFill>
                <a:ea typeface="宋体" panose="02010600030101010101" pitchFamily="2" charset="-122"/>
              </a:rPr>
              <a:t> SIFS </a:t>
            </a:r>
            <a:r>
              <a:rPr lang="zh-CN" altLang="zh-CN" sz="2800" b="1" dirty="0">
                <a:solidFill>
                  <a:srgbClr val="000099"/>
                </a:solidFill>
                <a:ea typeface="宋体" panose="02010600030101010101" pitchFamily="2" charset="-122"/>
              </a:rPr>
              <a:t>的帧间间隔</a:t>
            </a:r>
            <a:r>
              <a:rPr lang="zh-CN" altLang="zh-CN" sz="2800" b="1" dirty="0">
                <a:solidFill>
                  <a:srgbClr val="0000FF"/>
                </a:solidFill>
                <a:ea typeface="宋体" panose="02010600030101010101" pitchFamily="2" charset="-122"/>
              </a:rPr>
              <a:t>要长</a:t>
            </a:r>
            <a:r>
              <a:rPr lang="zh-CN" altLang="zh-CN" sz="2800" b="1" dirty="0">
                <a:solidFill>
                  <a:srgbClr val="000099"/>
                </a:solidFill>
                <a:ea typeface="宋体" panose="02010600030101010101" pitchFamily="2" charset="-122"/>
              </a:rPr>
              <a:t>得多，长度为</a:t>
            </a:r>
            <a:r>
              <a:rPr lang="en-US" altLang="zh-CN" sz="2800" b="1" dirty="0">
                <a:solidFill>
                  <a:srgbClr val="000099"/>
                </a:solidFill>
                <a:ea typeface="宋体" panose="02010600030101010101" pitchFamily="2" charset="-122"/>
              </a:rPr>
              <a:t> 128 </a:t>
            </a:r>
            <a:r>
              <a:rPr lang="en-US" altLang="zh-CN" sz="2800" b="1" dirty="0">
                <a:solidFill>
                  <a:srgbClr val="000099"/>
                </a:solidFill>
                <a:ea typeface="宋体" panose="02010600030101010101" pitchFamily="2" charset="-122"/>
                <a:sym typeface="Symbol" panose="05050102010706020507" pitchFamily="18" charset="2"/>
              </a:rPr>
              <a:t></a:t>
            </a:r>
            <a:r>
              <a:rPr lang="en-US" altLang="zh-CN" sz="2800" b="1" dirty="0">
                <a:solidFill>
                  <a:srgbClr val="000099"/>
                </a:solidFill>
                <a:ea typeface="宋体" panose="02010600030101010101" pitchFamily="2" charset="-122"/>
              </a:rPr>
              <a:t>s</a:t>
            </a:r>
            <a:r>
              <a:rPr lang="zh-CN" altLang="zh-CN" sz="2800" b="1" dirty="0">
                <a:solidFill>
                  <a:srgbClr val="000099"/>
                </a:solidFill>
                <a:ea typeface="宋体" panose="02010600030101010101" pitchFamily="2" charset="-122"/>
              </a:rPr>
              <a:t>。在</a:t>
            </a:r>
            <a:r>
              <a:rPr lang="en-US" altLang="zh-CN" sz="2800" b="1" dirty="0">
                <a:solidFill>
                  <a:srgbClr val="000099"/>
                </a:solidFill>
                <a:ea typeface="宋体" panose="02010600030101010101" pitchFamily="2" charset="-122"/>
              </a:rPr>
              <a:t> DCF </a:t>
            </a:r>
            <a:r>
              <a:rPr lang="zh-CN" altLang="zh-CN" sz="2800" b="1" dirty="0">
                <a:solidFill>
                  <a:srgbClr val="000099"/>
                </a:solidFill>
                <a:ea typeface="宋体" panose="02010600030101010101" pitchFamily="2" charset="-122"/>
              </a:rPr>
              <a:t>方式中，</a:t>
            </a:r>
            <a:r>
              <a:rPr lang="en-US" altLang="zh-CN" sz="2800" b="1" dirty="0">
                <a:solidFill>
                  <a:srgbClr val="000099"/>
                </a:solidFill>
                <a:ea typeface="宋体" panose="02010600030101010101" pitchFamily="2" charset="-122"/>
              </a:rPr>
              <a:t>DIFS </a:t>
            </a:r>
            <a:r>
              <a:rPr lang="zh-CN" altLang="zh-CN" sz="2800" b="1" dirty="0">
                <a:solidFill>
                  <a:srgbClr val="000099"/>
                </a:solidFill>
                <a:ea typeface="宋体" panose="02010600030101010101" pitchFamily="2" charset="-122"/>
              </a:rPr>
              <a:t>用来</a:t>
            </a:r>
            <a:r>
              <a:rPr lang="zh-CN" altLang="zh-CN" sz="2800" b="1" dirty="0">
                <a:solidFill>
                  <a:srgbClr val="0000FF"/>
                </a:solidFill>
                <a:ea typeface="宋体" panose="02010600030101010101" pitchFamily="2" charset="-122"/>
              </a:rPr>
              <a:t>发送数据帧和管理帧</a:t>
            </a:r>
            <a:r>
              <a:rPr lang="zh-CN" altLang="zh-CN" sz="2800" b="1" dirty="0">
                <a:solidFill>
                  <a:srgbClr val="000099"/>
                </a:solidFill>
                <a:ea typeface="宋体" panose="02010600030101010101" pitchFamily="2" charset="-122"/>
              </a:rPr>
              <a:t>。</a:t>
            </a:r>
            <a:endParaRPr lang="zh-CN" altLang="en-US" sz="2800" b="1" dirty="0">
              <a:solidFill>
                <a:srgbClr val="000099"/>
              </a:solidFill>
              <a:ea typeface="宋体" panose="02010600030101010101" pitchFamily="2" charset="-122"/>
            </a:endParaRPr>
          </a:p>
        </p:txBody>
      </p:sp>
      <p:sp>
        <p:nvSpPr>
          <p:cNvPr id="2416695" name="Line 80"/>
          <p:cNvSpPr>
            <a:spLocks noChangeShapeType="1"/>
          </p:cNvSpPr>
          <p:nvPr/>
        </p:nvSpPr>
        <p:spPr bwMode="auto">
          <a:xfrm>
            <a:off x="2457450" y="3427413"/>
            <a:ext cx="155575" cy="11525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96" name="Line 81"/>
          <p:cNvSpPr>
            <a:spLocks noChangeShapeType="1"/>
          </p:cNvSpPr>
          <p:nvPr/>
        </p:nvSpPr>
        <p:spPr bwMode="auto">
          <a:xfrm>
            <a:off x="4173538" y="3427413"/>
            <a:ext cx="155575" cy="11525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97" name="Line 82"/>
          <p:cNvSpPr>
            <a:spLocks noChangeShapeType="1"/>
          </p:cNvSpPr>
          <p:nvPr/>
        </p:nvSpPr>
        <p:spPr bwMode="auto">
          <a:xfrm flipH="1">
            <a:off x="5110163" y="3427413"/>
            <a:ext cx="153987" cy="11525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98" name="Line 83"/>
          <p:cNvSpPr>
            <a:spLocks noChangeShapeType="1"/>
          </p:cNvSpPr>
          <p:nvPr/>
        </p:nvSpPr>
        <p:spPr bwMode="auto">
          <a:xfrm flipH="1">
            <a:off x="4954588" y="3427413"/>
            <a:ext cx="155575" cy="11525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99" name="Freeform 86"/>
          <p:cNvSpPr>
            <a:spLocks noChangeArrowheads="1"/>
          </p:cNvSpPr>
          <p:nvPr/>
        </p:nvSpPr>
        <p:spPr bwMode="auto">
          <a:xfrm>
            <a:off x="2457450" y="3427413"/>
            <a:ext cx="1871663" cy="1152525"/>
          </a:xfrm>
          <a:custGeom>
            <a:avLst/>
            <a:gdLst>
              <a:gd name="T0" fmla="*/ 0 w 1088"/>
              <a:gd name="T1" fmla="*/ 0 h 726"/>
              <a:gd name="T2" fmla="*/ 90 w 1088"/>
              <a:gd name="T3" fmla="*/ 726 h 726"/>
              <a:gd name="T4" fmla="*/ 1088 w 1088"/>
              <a:gd name="T5" fmla="*/ 726 h 726"/>
              <a:gd name="T6" fmla="*/ 997 w 1088"/>
              <a:gd name="T7" fmla="*/ 0 h 726"/>
              <a:gd name="T8" fmla="*/ 0 w 1088"/>
              <a:gd name="T9" fmla="*/ 0 h 726"/>
            </a:gdLst>
            <a:ahLst/>
            <a:cxnLst>
              <a:cxn ang="0">
                <a:pos x="T0" y="T1"/>
              </a:cxn>
              <a:cxn ang="0">
                <a:pos x="T2" y="T3"/>
              </a:cxn>
              <a:cxn ang="0">
                <a:pos x="T4" y="T5"/>
              </a:cxn>
              <a:cxn ang="0">
                <a:pos x="T6" y="T7"/>
              </a:cxn>
              <a:cxn ang="0">
                <a:pos x="T8" y="T9"/>
              </a:cxn>
            </a:cxnLst>
            <a:rect l="0" t="0" r="r" b="b"/>
            <a:pathLst>
              <a:path w="1088" h="726">
                <a:moveTo>
                  <a:pt x="0" y="0"/>
                </a:moveTo>
                <a:lnTo>
                  <a:pt x="90" y="726"/>
                </a:lnTo>
                <a:lnTo>
                  <a:pt x="1088" y="726"/>
                </a:lnTo>
                <a:lnTo>
                  <a:pt x="997" y="0"/>
                </a:lnTo>
                <a:lnTo>
                  <a:pt x="0" y="0"/>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416700" name="AutoShape 84"/>
          <p:cNvSpPr>
            <a:spLocks noChangeArrowheads="1"/>
          </p:cNvSpPr>
          <p:nvPr/>
        </p:nvSpPr>
        <p:spPr bwMode="auto">
          <a:xfrm rot="-561028">
            <a:off x="3314700" y="3787775"/>
            <a:ext cx="233363" cy="720725"/>
          </a:xfrm>
          <a:prstGeom prst="downArrow">
            <a:avLst>
              <a:gd name="adj1" fmla="val 50000"/>
              <a:gd name="adj2" fmla="val 83645"/>
            </a:avLst>
          </a:prstGeom>
          <a:solidFill>
            <a:schemeClr val="bg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宋体" panose="02010600030101010101" pitchFamily="2" charset="-122"/>
            </a:endParaRPr>
          </a:p>
        </p:txBody>
      </p:sp>
      <p:sp>
        <p:nvSpPr>
          <p:cNvPr id="2416701" name="Text Box 26"/>
          <p:cNvSpPr txBox="1">
            <a:spLocks noChangeArrowheads="1"/>
          </p:cNvSpPr>
          <p:nvPr/>
        </p:nvSpPr>
        <p:spPr bwMode="auto">
          <a:xfrm>
            <a:off x="2613025" y="3427413"/>
            <a:ext cx="13700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发送第 </a:t>
            </a:r>
            <a:r>
              <a:rPr lang="en-US" altLang="zh-CN" b="1">
                <a:solidFill>
                  <a:srgbClr val="000099"/>
                </a:solidFill>
                <a:ea typeface="宋体" panose="02010600030101010101" pitchFamily="2" charset="-122"/>
              </a:rPr>
              <a:t>1 </a:t>
            </a:r>
            <a:r>
              <a:rPr lang="zh-CN" altLang="en-US" b="1">
                <a:solidFill>
                  <a:srgbClr val="000099"/>
                </a:solidFill>
                <a:ea typeface="宋体" panose="02010600030101010101" pitchFamily="2" charset="-122"/>
              </a:rPr>
              <a:t>帧</a:t>
            </a:r>
          </a:p>
        </p:txBody>
      </p:sp>
      <p:sp>
        <p:nvSpPr>
          <p:cNvPr id="2416702" name="Freeform 88"/>
          <p:cNvSpPr>
            <a:spLocks noChangeArrowheads="1"/>
          </p:cNvSpPr>
          <p:nvPr/>
        </p:nvSpPr>
        <p:spPr bwMode="auto">
          <a:xfrm>
            <a:off x="4953000" y="3427413"/>
            <a:ext cx="311150" cy="1152525"/>
          </a:xfrm>
          <a:custGeom>
            <a:avLst/>
            <a:gdLst>
              <a:gd name="T0" fmla="*/ 91 w 181"/>
              <a:gd name="T1" fmla="*/ 0 h 726"/>
              <a:gd name="T2" fmla="*/ 0 w 181"/>
              <a:gd name="T3" fmla="*/ 726 h 726"/>
              <a:gd name="T4" fmla="*/ 91 w 181"/>
              <a:gd name="T5" fmla="*/ 726 h 726"/>
              <a:gd name="T6" fmla="*/ 181 w 181"/>
              <a:gd name="T7" fmla="*/ 0 h 726"/>
              <a:gd name="T8" fmla="*/ 91 w 181"/>
              <a:gd name="T9" fmla="*/ 0 h 726"/>
            </a:gdLst>
            <a:ahLst/>
            <a:cxnLst>
              <a:cxn ang="0">
                <a:pos x="T0" y="T1"/>
              </a:cxn>
              <a:cxn ang="0">
                <a:pos x="T2" y="T3"/>
              </a:cxn>
              <a:cxn ang="0">
                <a:pos x="T4" y="T5"/>
              </a:cxn>
              <a:cxn ang="0">
                <a:pos x="T6" y="T7"/>
              </a:cxn>
              <a:cxn ang="0">
                <a:pos x="T8" y="T9"/>
              </a:cxn>
            </a:cxnLst>
            <a:rect l="0" t="0" r="r" b="b"/>
            <a:pathLst>
              <a:path w="181" h="726">
                <a:moveTo>
                  <a:pt x="91" y="0"/>
                </a:moveTo>
                <a:lnTo>
                  <a:pt x="0" y="726"/>
                </a:lnTo>
                <a:lnTo>
                  <a:pt x="91" y="726"/>
                </a:lnTo>
                <a:lnTo>
                  <a:pt x="181" y="0"/>
                </a:lnTo>
                <a:lnTo>
                  <a:pt x="91" y="0"/>
                </a:lnTo>
                <a:close/>
              </a:path>
            </a:pathLst>
          </a:custGeom>
          <a:solidFill>
            <a:srgbClr val="CC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416703" name="Line 60"/>
          <p:cNvSpPr>
            <a:spLocks noChangeShapeType="1"/>
          </p:cNvSpPr>
          <p:nvPr/>
        </p:nvSpPr>
        <p:spPr bwMode="auto">
          <a:xfrm>
            <a:off x="415925" y="4578350"/>
            <a:ext cx="9202738"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704" name="Line 11"/>
          <p:cNvSpPr>
            <a:spLocks noChangeShapeType="1"/>
          </p:cNvSpPr>
          <p:nvPr/>
        </p:nvSpPr>
        <p:spPr bwMode="auto">
          <a:xfrm>
            <a:off x="417513" y="3422650"/>
            <a:ext cx="920432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705" name="Line 89"/>
          <p:cNvSpPr>
            <a:spLocks noChangeShapeType="1"/>
          </p:cNvSpPr>
          <p:nvPr/>
        </p:nvSpPr>
        <p:spPr bwMode="auto">
          <a:xfrm flipV="1">
            <a:off x="5087938" y="3746500"/>
            <a:ext cx="61912" cy="479425"/>
          </a:xfrm>
          <a:prstGeom prst="line">
            <a:avLst/>
          </a:prstGeom>
          <a:noFill/>
          <a:ln w="28575">
            <a:solidFill>
              <a:schemeClr val="tx2"/>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70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2DFDCCA-4D64-4AF6-8C65-76B3559AE25C}" type="slidenum">
              <a:rPr lang="zh-CN" altLang="en-US" smtClean="0"/>
              <a:pPr eaLnBrk="1" hangingPunct="1"/>
              <a:t>34</a:t>
            </a:fld>
            <a:endParaRPr lang="en-US" altLang="zh-CN" smtClean="0"/>
          </a:p>
        </p:txBody>
      </p:sp>
      <p:sp>
        <p:nvSpPr>
          <p:cNvPr id="241670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517"/>
                                        </p:tgtEl>
                                        <p:attrNameLst>
                                          <p:attrName>style.visibility</p:attrName>
                                        </p:attrNameLst>
                                      </p:cBhvr>
                                      <p:to>
                                        <p:strVal val="visible"/>
                                      </p:to>
                                    </p:set>
                                  </p:childTnLst>
                                </p:cTn>
                              </p:par>
                              <p:par>
                                <p:cTn id="7" presetID="35" presetClass="emph" presetSubtype="0" repeatCount="4000" fill="hold" grpId="0" nodeType="withEffect">
                                  <p:stCondLst>
                                    <p:cond delay="0"/>
                                  </p:stCondLst>
                                  <p:childTnLst>
                                    <p:anim calcmode="discrete" valueType="str">
                                      <p:cBhvr>
                                        <p:cTn id="8" dur="1000" fill="hold"/>
                                        <p:tgtEl>
                                          <p:spTgt spid="317455"/>
                                        </p:tgtEl>
                                        <p:attrNameLst>
                                          <p:attrName>style.visibility</p:attrName>
                                        </p:attrNameLst>
                                      </p:cBhvr>
                                      <p:tavLst>
                                        <p:tav tm="0">
                                          <p:val>
                                            <p:strVal val="hidden"/>
                                          </p:val>
                                        </p:tav>
                                        <p:tav tm="50000">
                                          <p:val>
                                            <p:strVal val="visible"/>
                                          </p:val>
                                        </p:tav>
                                      </p:tavLst>
                                    </p:anim>
                                  </p:childTnLst>
                                </p:cTn>
                              </p:par>
                              <p:par>
                                <p:cTn id="9" presetID="35" presetClass="emph" presetSubtype="0" repeatCount="4000" fill="hold" grpId="0" nodeType="withEffect">
                                  <p:stCondLst>
                                    <p:cond delay="0"/>
                                  </p:stCondLst>
                                  <p:childTnLst>
                                    <p:anim calcmode="discrete" valueType="str">
                                      <p:cBhvr>
                                        <p:cTn id="10" dur="1000" fill="hold"/>
                                        <p:tgtEl>
                                          <p:spTgt spid="31747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55" grpId="0"/>
      <p:bldP spid="317476" grpId="0"/>
      <p:bldP spid="31751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8689" name="Rectangle 6"/>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CSMA/CA </a:t>
            </a:r>
            <a:r>
              <a:rPr lang="zh-CN" altLang="en-US" dirty="0" smtClean="0">
                <a:ea typeface="黑体" panose="02010609060101010101" pitchFamily="49" charset="-122"/>
              </a:rPr>
              <a:t>协议的原理 </a:t>
            </a:r>
          </a:p>
        </p:txBody>
      </p:sp>
      <p:sp>
        <p:nvSpPr>
          <p:cNvPr id="324617" name="Rectangle 9"/>
          <p:cNvSpPr>
            <a:spLocks noGrp="1" noChangeArrowheads="1"/>
          </p:cNvSpPr>
          <p:nvPr>
            <p:ph idx="1"/>
          </p:nvPr>
        </p:nvSpPr>
        <p:spPr>
          <a:xfrm>
            <a:off x="495300" y="1196975"/>
            <a:ext cx="9066213" cy="4933950"/>
          </a:xfrm>
        </p:spPr>
        <p:txBody>
          <a:bodyPr/>
          <a:lstStyle/>
          <a:p>
            <a:r>
              <a:rPr lang="zh-CN" altLang="en-US" dirty="0" smtClean="0">
                <a:solidFill>
                  <a:srgbClr val="0000FF"/>
                </a:solidFill>
                <a:ea typeface="黑体" panose="02010609060101010101" pitchFamily="49" charset="-122"/>
              </a:rPr>
              <a:t>欲发送数据的站先检测信道</a:t>
            </a:r>
            <a:r>
              <a:rPr lang="zh-CN" altLang="en-US" dirty="0" smtClean="0">
                <a:ea typeface="黑体" panose="02010609060101010101" pitchFamily="49" charset="-122"/>
              </a:rPr>
              <a:t>。在 </a:t>
            </a:r>
            <a:r>
              <a:rPr lang="en-US" altLang="zh-CN" dirty="0" smtClean="0">
                <a:ea typeface="黑体" panose="02010609060101010101" pitchFamily="49" charset="-122"/>
              </a:rPr>
              <a:t>802.11 </a:t>
            </a:r>
            <a:r>
              <a:rPr lang="zh-CN" altLang="en-US" dirty="0" smtClean="0">
                <a:ea typeface="黑体" panose="02010609060101010101" pitchFamily="49" charset="-122"/>
              </a:rPr>
              <a:t>标准中规定了在物理层的空中接口进行物理层的载波监听。</a:t>
            </a:r>
          </a:p>
          <a:p>
            <a:r>
              <a:rPr lang="zh-CN" altLang="en-US" dirty="0" smtClean="0">
                <a:ea typeface="黑体" panose="02010609060101010101" pitchFamily="49" charset="-122"/>
              </a:rPr>
              <a:t>通过收到的相对</a:t>
            </a:r>
            <a:r>
              <a:rPr lang="zh-CN" altLang="en-US" dirty="0" smtClean="0">
                <a:solidFill>
                  <a:srgbClr val="0000FF"/>
                </a:solidFill>
                <a:ea typeface="黑体" panose="02010609060101010101" pitchFamily="49" charset="-122"/>
              </a:rPr>
              <a:t>信号强度</a:t>
            </a:r>
            <a:r>
              <a:rPr lang="zh-CN" altLang="en-US" dirty="0" smtClean="0">
                <a:ea typeface="黑体" panose="02010609060101010101" pitchFamily="49" charset="-122"/>
              </a:rPr>
              <a:t>是否</a:t>
            </a:r>
            <a:r>
              <a:rPr lang="zh-CN" altLang="en-US" dirty="0" smtClean="0">
                <a:solidFill>
                  <a:srgbClr val="0000FF"/>
                </a:solidFill>
                <a:ea typeface="黑体" panose="02010609060101010101" pitchFamily="49" charset="-122"/>
              </a:rPr>
              <a:t>超过一定的门限数值</a:t>
            </a:r>
            <a:r>
              <a:rPr lang="zh-CN" altLang="en-US" dirty="0" smtClean="0">
                <a:ea typeface="黑体" panose="02010609060101010101" pitchFamily="49" charset="-122"/>
              </a:rPr>
              <a:t>就可判定是否有其他的移动站在信道上发送数据。</a:t>
            </a:r>
          </a:p>
          <a:p>
            <a:r>
              <a:rPr lang="zh-CN" altLang="en-US" dirty="0" smtClean="0">
                <a:ea typeface="黑体" panose="02010609060101010101" pitchFamily="49" charset="-122"/>
              </a:rPr>
              <a:t>当源站发送它的第一个 </a:t>
            </a:r>
            <a:r>
              <a:rPr lang="en-US" altLang="zh-CN" dirty="0" smtClean="0">
                <a:ea typeface="黑体" panose="02010609060101010101" pitchFamily="49" charset="-122"/>
              </a:rPr>
              <a:t>MAC </a:t>
            </a:r>
            <a:r>
              <a:rPr lang="zh-CN" altLang="en-US" dirty="0" smtClean="0">
                <a:ea typeface="黑体" panose="02010609060101010101" pitchFamily="49" charset="-122"/>
              </a:rPr>
              <a:t>帧时，若检测到</a:t>
            </a:r>
            <a:r>
              <a:rPr lang="zh-CN" altLang="en-US" dirty="0" smtClean="0">
                <a:solidFill>
                  <a:srgbClr val="0000FF"/>
                </a:solidFill>
                <a:ea typeface="黑体" panose="02010609060101010101" pitchFamily="49" charset="-122"/>
              </a:rPr>
              <a:t>信道空闲</a:t>
            </a:r>
            <a:r>
              <a:rPr lang="zh-CN" altLang="en-US" dirty="0" smtClean="0">
                <a:ea typeface="黑体" panose="02010609060101010101" pitchFamily="49" charset="-122"/>
              </a:rPr>
              <a:t>，则在</a:t>
            </a:r>
            <a:r>
              <a:rPr lang="zh-CN" altLang="en-US" dirty="0" smtClean="0">
                <a:solidFill>
                  <a:srgbClr val="0000FF"/>
                </a:solidFill>
                <a:ea typeface="黑体" panose="02010609060101010101" pitchFamily="49" charset="-122"/>
              </a:rPr>
              <a:t>等待一段时间 </a:t>
            </a:r>
            <a:r>
              <a:rPr lang="en-US" altLang="zh-CN" dirty="0" smtClean="0">
                <a:solidFill>
                  <a:srgbClr val="0000FF"/>
                </a:solidFill>
                <a:ea typeface="黑体" panose="02010609060101010101" pitchFamily="49" charset="-122"/>
              </a:rPr>
              <a:t>DIFS </a:t>
            </a:r>
            <a:r>
              <a:rPr lang="zh-CN" altLang="en-US" dirty="0" smtClean="0">
                <a:ea typeface="黑体" panose="02010609060101010101" pitchFamily="49" charset="-122"/>
              </a:rPr>
              <a:t>后就可发送。</a:t>
            </a:r>
          </a:p>
        </p:txBody>
      </p:sp>
      <p:sp>
        <p:nvSpPr>
          <p:cNvPr id="24186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71E9EF0-EA33-4448-835E-07D8631A2C57}" type="slidenum">
              <a:rPr lang="zh-CN" altLang="en-US" smtClean="0"/>
              <a:pPr eaLnBrk="1" hangingPunct="1"/>
              <a:t>35</a:t>
            </a:fld>
            <a:endParaRPr lang="en-US" altLang="zh-CN" smtClean="0"/>
          </a:p>
        </p:txBody>
      </p:sp>
      <p:sp>
        <p:nvSpPr>
          <p:cNvPr id="24186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461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461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7"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9713"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为什么信道空闲还要再等待 </a:t>
            </a:r>
          </a:p>
        </p:txBody>
      </p:sp>
      <p:sp>
        <p:nvSpPr>
          <p:cNvPr id="326665" name="Rectangle 9"/>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这是</a:t>
            </a:r>
            <a:r>
              <a:rPr lang="zh-CN" altLang="en-US" dirty="0" smtClean="0">
                <a:solidFill>
                  <a:srgbClr val="0000FF"/>
                </a:solidFill>
                <a:ea typeface="黑体" panose="02010609060101010101" pitchFamily="49" charset="-122"/>
              </a:rPr>
              <a:t>考虑</a:t>
            </a:r>
            <a:r>
              <a:rPr lang="zh-CN" altLang="en-US" dirty="0" smtClean="0">
                <a:ea typeface="黑体" panose="02010609060101010101" pitchFamily="49" charset="-122"/>
              </a:rPr>
              <a:t>到可能有其他的站有</a:t>
            </a:r>
            <a:r>
              <a:rPr lang="zh-CN" altLang="en-US" dirty="0" smtClean="0">
                <a:solidFill>
                  <a:srgbClr val="0000FF"/>
                </a:solidFill>
                <a:ea typeface="黑体" panose="02010609060101010101" pitchFamily="49" charset="-122"/>
              </a:rPr>
              <a:t>高优先级</a:t>
            </a:r>
            <a:r>
              <a:rPr lang="zh-CN" altLang="en-US" dirty="0" smtClean="0">
                <a:ea typeface="黑体" panose="02010609060101010101" pitchFamily="49" charset="-122"/>
              </a:rPr>
              <a:t>的帧要发送</a:t>
            </a:r>
            <a:r>
              <a:rPr lang="zh-CN" altLang="en-US" dirty="0" smtClean="0">
                <a:ea typeface="黑体" panose="02010609060101010101" pitchFamily="49" charset="-122"/>
              </a:rPr>
              <a:t>。如</a:t>
            </a:r>
            <a:r>
              <a:rPr lang="zh-CN" altLang="en-US" dirty="0" smtClean="0">
                <a:ea typeface="黑体" panose="02010609060101010101" pitchFamily="49" charset="-122"/>
              </a:rPr>
              <a:t>有，就要让高优先级帧先发送。 </a:t>
            </a:r>
          </a:p>
        </p:txBody>
      </p:sp>
      <p:sp>
        <p:nvSpPr>
          <p:cNvPr id="24197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019A69B-411A-4FBD-8030-0BCECD8C31C0}" type="slidenum">
              <a:rPr lang="zh-CN" altLang="en-US" smtClean="0"/>
              <a:pPr eaLnBrk="1" hangingPunct="1"/>
              <a:t>36</a:t>
            </a:fld>
            <a:endParaRPr lang="en-US" altLang="zh-CN" smtClean="0"/>
          </a:p>
        </p:txBody>
      </p:sp>
      <p:sp>
        <p:nvSpPr>
          <p:cNvPr id="24197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0737"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假定没有高优先级帧要发送 </a:t>
            </a:r>
          </a:p>
        </p:txBody>
      </p:sp>
      <p:sp>
        <p:nvSpPr>
          <p:cNvPr id="325641" name="Rectangle 9"/>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源站发送了自己的数据帧。</a:t>
            </a:r>
          </a:p>
          <a:p>
            <a:r>
              <a:rPr lang="zh-CN" altLang="en-US" dirty="0" smtClean="0">
                <a:ea typeface="黑体" panose="02010609060101010101" pitchFamily="49" charset="-122"/>
              </a:rPr>
              <a:t>目的站若正确收到此帧，则经过时间间隔 </a:t>
            </a:r>
            <a:r>
              <a:rPr lang="en-US" altLang="zh-CN" dirty="0" smtClean="0">
                <a:ea typeface="黑体" panose="02010609060101010101" pitchFamily="49" charset="-122"/>
              </a:rPr>
              <a:t>SIFS </a:t>
            </a:r>
            <a:r>
              <a:rPr lang="zh-CN" altLang="en-US" dirty="0" smtClean="0">
                <a:ea typeface="黑体" panose="02010609060101010101" pitchFamily="49" charset="-122"/>
              </a:rPr>
              <a:t>后，向源站发送</a:t>
            </a:r>
            <a:r>
              <a:rPr lang="zh-CN" altLang="en-US" dirty="0" smtClean="0">
                <a:solidFill>
                  <a:srgbClr val="FF0000"/>
                </a:solidFill>
                <a:ea typeface="黑体" panose="02010609060101010101" pitchFamily="49" charset="-122"/>
              </a:rPr>
              <a:t>确认帧</a:t>
            </a:r>
            <a:r>
              <a:rPr lang="zh-CN" altLang="en-US" dirty="0" smtClean="0">
                <a:ea typeface="黑体" panose="02010609060101010101" pitchFamily="49" charset="-122"/>
              </a:rPr>
              <a:t> </a:t>
            </a:r>
            <a:r>
              <a:rPr lang="en-US" altLang="zh-CN" dirty="0" smtClean="0">
                <a:ea typeface="黑体" panose="02010609060101010101" pitchFamily="49" charset="-122"/>
              </a:rPr>
              <a:t>ACK</a:t>
            </a:r>
            <a:r>
              <a:rPr lang="zh-CN" altLang="en-US" dirty="0" smtClean="0">
                <a:ea typeface="黑体" panose="02010609060101010101" pitchFamily="49" charset="-122"/>
              </a:rPr>
              <a:t>。</a:t>
            </a:r>
          </a:p>
          <a:p>
            <a:r>
              <a:rPr lang="zh-CN" altLang="en-US" dirty="0" smtClean="0">
                <a:ea typeface="黑体" panose="02010609060101010101" pitchFamily="49" charset="-122"/>
              </a:rPr>
              <a:t>若源站在</a:t>
            </a:r>
            <a:r>
              <a:rPr lang="zh-CN" altLang="en-US" dirty="0" smtClean="0">
                <a:solidFill>
                  <a:srgbClr val="FF0000"/>
                </a:solidFill>
                <a:ea typeface="黑体" panose="02010609060101010101" pitchFamily="49" charset="-122"/>
              </a:rPr>
              <a:t>规定时间</a:t>
            </a:r>
            <a:r>
              <a:rPr lang="zh-CN" altLang="en-US" dirty="0" smtClean="0">
                <a:ea typeface="黑体" panose="02010609060101010101" pitchFamily="49" charset="-122"/>
              </a:rPr>
              <a:t>内没有收到确认帧 </a:t>
            </a:r>
            <a:r>
              <a:rPr lang="en-US" altLang="zh-CN" dirty="0" smtClean="0">
                <a:ea typeface="黑体" panose="02010609060101010101" pitchFamily="49" charset="-122"/>
              </a:rPr>
              <a:t>ACK</a:t>
            </a:r>
            <a:r>
              <a:rPr lang="zh-CN" altLang="en-US" dirty="0" smtClean="0">
                <a:ea typeface="黑体" panose="02010609060101010101" pitchFamily="49" charset="-122"/>
              </a:rPr>
              <a:t>（由重传计时器控制这段时间），就必须</a:t>
            </a:r>
            <a:r>
              <a:rPr lang="zh-CN" altLang="en-US" dirty="0" smtClean="0">
                <a:solidFill>
                  <a:srgbClr val="FF0000"/>
                </a:solidFill>
                <a:ea typeface="黑体" panose="02010609060101010101" pitchFamily="49" charset="-122"/>
              </a:rPr>
              <a:t>重传</a:t>
            </a:r>
            <a:r>
              <a:rPr lang="zh-CN" altLang="en-US" dirty="0" smtClean="0">
                <a:ea typeface="黑体" panose="02010609060101010101" pitchFamily="49" charset="-122"/>
              </a:rPr>
              <a:t>此帧，直到收到确认为止，或者经过若干次的重传失败后放弃发送。 </a:t>
            </a:r>
          </a:p>
        </p:txBody>
      </p:sp>
      <p:sp>
        <p:nvSpPr>
          <p:cNvPr id="24207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6B55E12-94DA-40AE-83B5-34FC5A054087}" type="slidenum">
              <a:rPr lang="zh-CN" altLang="en-US" smtClean="0"/>
              <a:pPr eaLnBrk="1" hangingPunct="1"/>
              <a:t>37</a:t>
            </a:fld>
            <a:endParaRPr lang="en-US" altLang="zh-CN" smtClean="0"/>
          </a:p>
        </p:txBody>
      </p:sp>
      <p:sp>
        <p:nvSpPr>
          <p:cNvPr id="24207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564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564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4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1761"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虚拟载波监听 </a:t>
            </a:r>
          </a:p>
        </p:txBody>
      </p:sp>
      <p:sp>
        <p:nvSpPr>
          <p:cNvPr id="327689" name="Rectangle 9"/>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虚拟载波监听 </a:t>
            </a:r>
            <a:r>
              <a:rPr lang="en-US" altLang="zh-CN" dirty="0" smtClean="0">
                <a:ea typeface="黑体" panose="02010609060101010101" pitchFamily="49" charset="-122"/>
              </a:rPr>
              <a:t>(Virtual Carrier Sense) </a:t>
            </a:r>
            <a:r>
              <a:rPr lang="zh-CN" altLang="en-US" dirty="0" smtClean="0">
                <a:ea typeface="黑体" panose="02010609060101010101" pitchFamily="49" charset="-122"/>
              </a:rPr>
              <a:t>的机制是让源站将它要占用信道的时间（包括目的站发回确认帧所需的时间）</a:t>
            </a:r>
            <a:r>
              <a:rPr lang="zh-CN" altLang="en-US" dirty="0" smtClean="0">
                <a:solidFill>
                  <a:srgbClr val="FF0000"/>
                </a:solidFill>
                <a:ea typeface="黑体" panose="02010609060101010101" pitchFamily="49" charset="-122"/>
              </a:rPr>
              <a:t>通知给所有其他站，</a:t>
            </a:r>
            <a:r>
              <a:rPr lang="zh-CN" altLang="en-US" dirty="0" smtClean="0">
                <a:ea typeface="黑体" panose="02010609060101010101" pitchFamily="49" charset="-122"/>
              </a:rPr>
              <a:t>以便使其他所有站在这一段时间都停止发送数据。</a:t>
            </a:r>
          </a:p>
          <a:p>
            <a:r>
              <a:rPr lang="zh-CN" altLang="en-US" dirty="0" smtClean="0">
                <a:ea typeface="黑体" panose="02010609060101010101" pitchFamily="49" charset="-122"/>
              </a:rPr>
              <a:t>这样就大大减少了碰撞的机会。 </a:t>
            </a:r>
          </a:p>
          <a:p>
            <a:r>
              <a:rPr lang="zh-CN" altLang="en-US" dirty="0" smtClean="0">
                <a:solidFill>
                  <a:srgbClr val="0000FF"/>
                </a:solidFill>
                <a:ea typeface="黑体" panose="02010609060101010101" pitchFamily="49" charset="-122"/>
              </a:rPr>
              <a:t>“虚拟载波监听”是表示其他站并没有监听信道，而是由于其他站收到了“源站的通知”才不发送数据。</a:t>
            </a:r>
          </a:p>
        </p:txBody>
      </p:sp>
      <p:sp>
        <p:nvSpPr>
          <p:cNvPr id="24217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C32EB7B-C0E1-4530-92D3-2B9639B5AED3}" type="slidenum">
              <a:rPr lang="zh-CN" altLang="en-US" smtClean="0"/>
              <a:pPr eaLnBrk="1" hangingPunct="1"/>
              <a:t>38</a:t>
            </a:fld>
            <a:endParaRPr lang="en-US" altLang="zh-CN" smtClean="0"/>
          </a:p>
        </p:txBody>
      </p:sp>
      <p:sp>
        <p:nvSpPr>
          <p:cNvPr id="24217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68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68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9"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2785"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虚拟载波监听的效果 </a:t>
            </a:r>
          </a:p>
        </p:txBody>
      </p:sp>
      <p:sp>
        <p:nvSpPr>
          <p:cNvPr id="328713" name="Rectangle 9"/>
          <p:cNvSpPr>
            <a:spLocks noGrp="1" noChangeArrowheads="1"/>
          </p:cNvSpPr>
          <p:nvPr>
            <p:ph idx="1"/>
          </p:nvPr>
        </p:nvSpPr>
        <p:spPr>
          <a:xfrm>
            <a:off x="495300" y="1196975"/>
            <a:ext cx="9066213" cy="4933950"/>
          </a:xfrm>
        </p:spPr>
        <p:txBody>
          <a:bodyPr/>
          <a:lstStyle/>
          <a:p>
            <a:pPr>
              <a:spcBef>
                <a:spcPts val="1200"/>
              </a:spcBef>
            </a:pPr>
            <a:r>
              <a:rPr lang="zh-CN" altLang="en-US" dirty="0" smtClean="0">
                <a:ea typeface="黑体" panose="02010609060101010101" pitchFamily="49" charset="-122"/>
              </a:rPr>
              <a:t>这种效果</a:t>
            </a:r>
            <a:r>
              <a:rPr lang="zh-CN" altLang="en-US" dirty="0" smtClean="0">
                <a:solidFill>
                  <a:srgbClr val="0000FF"/>
                </a:solidFill>
                <a:ea typeface="黑体" panose="02010609060101010101" pitchFamily="49" charset="-122"/>
              </a:rPr>
              <a:t>好像</a:t>
            </a:r>
            <a:r>
              <a:rPr lang="zh-CN" altLang="en-US" dirty="0" smtClean="0">
                <a:ea typeface="黑体" panose="02010609060101010101" pitchFamily="49" charset="-122"/>
              </a:rPr>
              <a:t>是其他站都监听了信道。</a:t>
            </a:r>
          </a:p>
          <a:p>
            <a:pPr>
              <a:spcBef>
                <a:spcPts val="1200"/>
              </a:spcBef>
            </a:pPr>
            <a:r>
              <a:rPr lang="zh-CN" altLang="en-US" dirty="0" smtClean="0">
                <a:ea typeface="黑体" panose="02010609060101010101" pitchFamily="49" charset="-122"/>
              </a:rPr>
              <a:t>所谓“源站的通知”就是源站在</a:t>
            </a:r>
            <a:r>
              <a:rPr lang="zh-CN" altLang="en-US" dirty="0" smtClean="0">
                <a:solidFill>
                  <a:srgbClr val="0000FF"/>
                </a:solidFill>
                <a:ea typeface="黑体" panose="02010609060101010101" pitchFamily="49" charset="-122"/>
              </a:rPr>
              <a:t>其 </a:t>
            </a:r>
            <a:r>
              <a:rPr lang="en-US" altLang="zh-CN" dirty="0" smtClean="0">
                <a:solidFill>
                  <a:srgbClr val="0000FF"/>
                </a:solidFill>
                <a:ea typeface="黑体" panose="02010609060101010101" pitchFamily="49" charset="-122"/>
              </a:rPr>
              <a:t>MAC </a:t>
            </a:r>
            <a:r>
              <a:rPr lang="zh-CN" altLang="en-US" dirty="0" smtClean="0">
                <a:solidFill>
                  <a:srgbClr val="0000FF"/>
                </a:solidFill>
                <a:ea typeface="黑体" panose="02010609060101010101" pitchFamily="49" charset="-122"/>
              </a:rPr>
              <a:t>帧首部中的第二个字段“持续时间”</a:t>
            </a:r>
            <a:r>
              <a:rPr lang="zh-CN" altLang="en-US" dirty="0" smtClean="0">
                <a:ea typeface="黑体" panose="02010609060101010101" pitchFamily="49" charset="-122"/>
              </a:rPr>
              <a:t>中填入了在本帧结束后还要占用信道多少时间（以微秒为单位），包括目的站发送确认帧所需的时间。 </a:t>
            </a:r>
          </a:p>
        </p:txBody>
      </p:sp>
      <p:sp>
        <p:nvSpPr>
          <p:cNvPr id="24227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81B32F-2190-4D80-8628-7C30922DAF24}" type="slidenum">
              <a:rPr lang="zh-CN" altLang="en-US" smtClean="0"/>
              <a:pPr eaLnBrk="1" hangingPunct="1"/>
              <a:t>39</a:t>
            </a:fld>
            <a:endParaRPr lang="en-US" altLang="zh-CN" smtClean="0"/>
          </a:p>
        </p:txBody>
      </p:sp>
      <p:sp>
        <p:nvSpPr>
          <p:cNvPr id="24227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871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1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3809"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网络分配向量 </a:t>
            </a:r>
          </a:p>
        </p:txBody>
      </p:sp>
      <p:sp>
        <p:nvSpPr>
          <p:cNvPr id="330761" name="Rectangle 9"/>
          <p:cNvSpPr>
            <a:spLocks noGrp="1" noChangeArrowheads="1"/>
          </p:cNvSpPr>
          <p:nvPr>
            <p:ph idx="1"/>
          </p:nvPr>
        </p:nvSpPr>
        <p:spPr>
          <a:xfrm>
            <a:off x="495300" y="1196975"/>
            <a:ext cx="9066213" cy="4933950"/>
          </a:xfrm>
        </p:spPr>
        <p:txBody>
          <a:bodyPr/>
          <a:lstStyle/>
          <a:p>
            <a:pPr>
              <a:spcBef>
                <a:spcPts val="1200"/>
              </a:spcBef>
            </a:pPr>
            <a:r>
              <a:rPr lang="zh-CN" altLang="en-US" dirty="0" smtClean="0">
                <a:ea typeface="黑体" panose="02010609060101010101" pitchFamily="49" charset="-122"/>
              </a:rPr>
              <a:t>当一个</a:t>
            </a:r>
            <a:r>
              <a:rPr lang="zh-CN" altLang="en-US" dirty="0" smtClean="0">
                <a:solidFill>
                  <a:srgbClr val="0000FF"/>
                </a:solidFill>
                <a:ea typeface="黑体" panose="02010609060101010101" pitchFamily="49" charset="-122"/>
              </a:rPr>
              <a:t>站</a:t>
            </a:r>
            <a:r>
              <a:rPr lang="zh-CN" altLang="en-US" dirty="0" smtClean="0">
                <a:ea typeface="黑体" panose="02010609060101010101" pitchFamily="49" charset="-122"/>
              </a:rPr>
              <a:t>检测到正在信道中传送的 </a:t>
            </a:r>
            <a:r>
              <a:rPr lang="en-US" altLang="zh-CN" dirty="0" smtClean="0">
                <a:ea typeface="黑体" panose="02010609060101010101" pitchFamily="49" charset="-122"/>
              </a:rPr>
              <a:t>MAC </a:t>
            </a:r>
            <a:r>
              <a:rPr lang="zh-CN" altLang="en-US" dirty="0" smtClean="0">
                <a:ea typeface="黑体" panose="02010609060101010101" pitchFamily="49" charset="-122"/>
              </a:rPr>
              <a:t>帧首部的“持续时间”字段时，就</a:t>
            </a:r>
            <a:r>
              <a:rPr lang="zh-CN" altLang="en-US" dirty="0" smtClean="0">
                <a:solidFill>
                  <a:srgbClr val="0000FF"/>
                </a:solidFill>
                <a:ea typeface="黑体" panose="02010609060101010101" pitchFamily="49" charset="-122"/>
              </a:rPr>
              <a:t>调整自己的</a:t>
            </a:r>
            <a:r>
              <a:rPr lang="zh-CN" altLang="en-US" u="sng" dirty="0" smtClean="0">
                <a:solidFill>
                  <a:srgbClr val="FF0000"/>
                </a:solidFill>
                <a:ea typeface="黑体" panose="02010609060101010101" pitchFamily="49" charset="-122"/>
              </a:rPr>
              <a:t>网络分配向量 </a:t>
            </a:r>
            <a:r>
              <a:rPr lang="en-US" altLang="zh-CN" u="sng" dirty="0" smtClean="0">
                <a:ea typeface="黑体" panose="02010609060101010101" pitchFamily="49" charset="-122"/>
              </a:rPr>
              <a:t>NAV (Network Allocation Vector)</a:t>
            </a:r>
            <a:r>
              <a:rPr lang="zh-CN" altLang="en-US" dirty="0" smtClean="0">
                <a:ea typeface="黑体" panose="02010609060101010101" pitchFamily="49" charset="-122"/>
              </a:rPr>
              <a:t>。</a:t>
            </a:r>
          </a:p>
          <a:p>
            <a:pPr>
              <a:spcBef>
                <a:spcPts val="1200"/>
              </a:spcBef>
            </a:pPr>
            <a:r>
              <a:rPr lang="en-US" altLang="zh-CN" dirty="0" smtClean="0">
                <a:solidFill>
                  <a:srgbClr val="0000FF"/>
                </a:solidFill>
                <a:ea typeface="黑体" panose="02010609060101010101" pitchFamily="49" charset="-122"/>
              </a:rPr>
              <a:t>NAV </a:t>
            </a:r>
            <a:r>
              <a:rPr lang="zh-CN" altLang="en-US" dirty="0" smtClean="0">
                <a:solidFill>
                  <a:srgbClr val="0000FF"/>
                </a:solidFill>
                <a:ea typeface="黑体" panose="02010609060101010101" pitchFamily="49" charset="-122"/>
              </a:rPr>
              <a:t>指出了必须经过多少时间才能完成数据帧的这次传输，才能使信道转入到空闲状态。 </a:t>
            </a:r>
          </a:p>
        </p:txBody>
      </p:sp>
      <p:sp>
        <p:nvSpPr>
          <p:cNvPr id="24238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25A66D-8135-4602-847E-4B6ABF1628DF}" type="slidenum">
              <a:rPr lang="zh-CN" altLang="en-US" smtClean="0"/>
              <a:pPr eaLnBrk="1" hangingPunct="1"/>
              <a:t>40</a:t>
            </a:fld>
            <a:endParaRPr lang="en-US" altLang="zh-CN" smtClean="0"/>
          </a:p>
        </p:txBody>
      </p:sp>
      <p:sp>
        <p:nvSpPr>
          <p:cNvPr id="24238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076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6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4833"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争用窗口 </a:t>
            </a:r>
          </a:p>
        </p:txBody>
      </p:sp>
      <p:sp>
        <p:nvSpPr>
          <p:cNvPr id="329737" name="Rectangle 9"/>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信道从忙态变为空闲时，任何一个站要发送数据帧时，不仅都必须等待一个 </a:t>
            </a:r>
            <a:r>
              <a:rPr lang="en-US" altLang="zh-CN" dirty="0" smtClean="0">
                <a:ea typeface="黑体" panose="02010609060101010101" pitchFamily="49" charset="-122"/>
              </a:rPr>
              <a:t>DIFS </a:t>
            </a:r>
            <a:r>
              <a:rPr lang="zh-CN" altLang="en-US" dirty="0" smtClean="0">
                <a:ea typeface="黑体" panose="02010609060101010101" pitchFamily="49" charset="-122"/>
              </a:rPr>
              <a:t>的间隔，而且还要进入</a:t>
            </a:r>
            <a:r>
              <a:rPr lang="zh-CN" altLang="en-US" dirty="0" smtClean="0">
                <a:solidFill>
                  <a:srgbClr val="FF0000"/>
                </a:solidFill>
                <a:ea typeface="黑体" panose="02010609060101010101" pitchFamily="49" charset="-122"/>
              </a:rPr>
              <a:t>争用窗口，</a:t>
            </a:r>
            <a:r>
              <a:rPr lang="zh-CN" altLang="en-US" dirty="0" smtClean="0">
                <a:ea typeface="黑体" panose="02010609060101010101" pitchFamily="49" charset="-122"/>
              </a:rPr>
              <a:t>并</a:t>
            </a:r>
            <a:r>
              <a:rPr lang="zh-CN" altLang="en-US" dirty="0" smtClean="0">
                <a:solidFill>
                  <a:srgbClr val="0000FF"/>
                </a:solidFill>
                <a:ea typeface="黑体" panose="02010609060101010101" pitchFamily="49" charset="-122"/>
              </a:rPr>
              <a:t>计算随机退避时间</a:t>
            </a:r>
            <a:r>
              <a:rPr lang="zh-CN" altLang="en-US" dirty="0" smtClean="0">
                <a:ea typeface="黑体" panose="02010609060101010101" pitchFamily="49" charset="-122"/>
              </a:rPr>
              <a:t>以便再次重新试图接入到信道。</a:t>
            </a:r>
          </a:p>
          <a:p>
            <a:r>
              <a:rPr lang="zh-CN" altLang="en-US" dirty="0" smtClean="0">
                <a:ea typeface="黑体" panose="02010609060101010101" pitchFamily="49" charset="-122"/>
              </a:rPr>
              <a:t>在信道从忙态转为空闲时，</a:t>
            </a:r>
            <a:r>
              <a:rPr lang="zh-CN" altLang="zh-CN" dirty="0" smtClean="0">
                <a:ea typeface="黑体" panose="02010609060101010101" pitchFamily="49" charset="-122"/>
              </a:rPr>
              <a:t>为了</a:t>
            </a:r>
            <a:r>
              <a:rPr lang="zh-CN" altLang="zh-CN" dirty="0" smtClean="0">
                <a:solidFill>
                  <a:srgbClr val="0000FF"/>
                </a:solidFill>
                <a:ea typeface="黑体" panose="02010609060101010101" pitchFamily="49" charset="-122"/>
              </a:rPr>
              <a:t>避免几个站同时发送数据</a:t>
            </a:r>
            <a:r>
              <a:rPr lang="zh-CN" altLang="zh-CN" dirty="0" smtClean="0">
                <a:ea typeface="黑体" panose="02010609060101010101" pitchFamily="49" charset="-122"/>
              </a:rPr>
              <a:t>（一旦发送就要把一帧发送完，不能中途停止），</a:t>
            </a:r>
            <a:r>
              <a:rPr lang="zh-CN" altLang="en-US" dirty="0" smtClean="0">
                <a:ea typeface="黑体" panose="02010609060101010101" pitchFamily="49" charset="-122"/>
              </a:rPr>
              <a:t>各站就要执行</a:t>
            </a:r>
            <a:r>
              <a:rPr lang="zh-CN" altLang="en-US" dirty="0" smtClean="0">
                <a:solidFill>
                  <a:srgbClr val="FF0000"/>
                </a:solidFill>
                <a:ea typeface="黑体" panose="02010609060101010101" pitchFamily="49" charset="-122"/>
              </a:rPr>
              <a:t>退避算法。</a:t>
            </a:r>
            <a:r>
              <a:rPr lang="zh-CN" altLang="en-US" dirty="0" smtClean="0">
                <a:ea typeface="黑体" panose="02010609060101010101" pitchFamily="49" charset="-122"/>
              </a:rPr>
              <a:t>这样做就减少了发生碰撞的概率。</a:t>
            </a:r>
          </a:p>
          <a:p>
            <a:r>
              <a:rPr lang="en-US" altLang="zh-CN" dirty="0" smtClean="0">
                <a:ea typeface="黑体" panose="02010609060101010101" pitchFamily="49" charset="-122"/>
              </a:rPr>
              <a:t>802.11 </a:t>
            </a:r>
            <a:r>
              <a:rPr lang="zh-CN" altLang="en-US" dirty="0" smtClean="0">
                <a:ea typeface="黑体" panose="02010609060101010101" pitchFamily="49" charset="-122"/>
              </a:rPr>
              <a:t>使用</a:t>
            </a:r>
            <a:r>
              <a:rPr lang="zh-CN" altLang="en-US" dirty="0" smtClean="0">
                <a:solidFill>
                  <a:srgbClr val="0000FF"/>
                </a:solidFill>
                <a:ea typeface="黑体" panose="02010609060101010101" pitchFamily="49" charset="-122"/>
              </a:rPr>
              <a:t>二进制指数退避算法</a:t>
            </a:r>
            <a:r>
              <a:rPr lang="zh-CN" altLang="en-US" dirty="0" smtClean="0">
                <a:ea typeface="黑体" panose="02010609060101010101" pitchFamily="49" charset="-122"/>
              </a:rPr>
              <a:t>。   </a:t>
            </a:r>
          </a:p>
        </p:txBody>
      </p:sp>
      <p:sp>
        <p:nvSpPr>
          <p:cNvPr id="24248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48B7F20-5A2E-4CD4-854E-D929A01EAB7C}" type="slidenum">
              <a:rPr lang="zh-CN" altLang="en-US" smtClean="0"/>
              <a:pPr eaLnBrk="1" hangingPunct="1"/>
              <a:t>41</a:t>
            </a:fld>
            <a:endParaRPr lang="en-US" altLang="zh-CN" smtClean="0"/>
          </a:p>
        </p:txBody>
      </p:sp>
      <p:sp>
        <p:nvSpPr>
          <p:cNvPr id="24248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973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973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5857" name="Text Box 94"/>
          <p:cNvSpPr txBox="1">
            <a:spLocks noChangeArrowheads="1"/>
          </p:cNvSpPr>
          <p:nvPr/>
        </p:nvSpPr>
        <p:spPr bwMode="auto">
          <a:xfrm>
            <a:off x="420688" y="5942013"/>
            <a:ext cx="92852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b="1">
                <a:solidFill>
                  <a:srgbClr val="000099"/>
                </a:solidFill>
                <a:ea typeface="宋体" panose="02010600030101010101" pitchFamily="2" charset="-122"/>
              </a:rPr>
              <a:t>图例                              检测到信道忙，冻结剩余的退避时间                   打算发送数据</a:t>
            </a:r>
          </a:p>
        </p:txBody>
      </p:sp>
      <p:sp>
        <p:nvSpPr>
          <p:cNvPr id="2425858" name="Rectangle 4"/>
          <p:cNvSpPr>
            <a:spLocks noChangeArrowheads="1"/>
          </p:cNvSpPr>
          <p:nvPr/>
        </p:nvSpPr>
        <p:spPr bwMode="auto">
          <a:xfrm>
            <a:off x="8248650" y="2508250"/>
            <a:ext cx="958850" cy="387350"/>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859" name="Line 7"/>
          <p:cNvSpPr>
            <a:spLocks noChangeShapeType="1"/>
          </p:cNvSpPr>
          <p:nvPr/>
        </p:nvSpPr>
        <p:spPr bwMode="auto">
          <a:xfrm>
            <a:off x="1987550" y="1506538"/>
            <a:ext cx="0" cy="39370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60" name="Rectangle 8"/>
          <p:cNvSpPr>
            <a:spLocks noChangeArrowheads="1"/>
          </p:cNvSpPr>
          <p:nvPr/>
        </p:nvSpPr>
        <p:spPr bwMode="auto">
          <a:xfrm>
            <a:off x="2395538" y="3281363"/>
            <a:ext cx="1544637" cy="387350"/>
          </a:xfrm>
          <a:prstGeom prst="rect">
            <a:avLst/>
          </a:prstGeom>
          <a:solidFill>
            <a:srgbClr val="FF99FF"/>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861" name="Line 9"/>
          <p:cNvSpPr>
            <a:spLocks noChangeShapeType="1"/>
          </p:cNvSpPr>
          <p:nvPr/>
        </p:nvSpPr>
        <p:spPr bwMode="auto">
          <a:xfrm>
            <a:off x="3941763" y="1506538"/>
            <a:ext cx="0" cy="39370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62" name="Line 10"/>
          <p:cNvSpPr>
            <a:spLocks noChangeShapeType="1"/>
          </p:cNvSpPr>
          <p:nvPr/>
        </p:nvSpPr>
        <p:spPr bwMode="auto">
          <a:xfrm>
            <a:off x="4103688" y="1506538"/>
            <a:ext cx="0" cy="39370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63" name="Rectangle 11"/>
          <p:cNvSpPr>
            <a:spLocks noChangeArrowheads="1"/>
          </p:cNvSpPr>
          <p:nvPr/>
        </p:nvSpPr>
        <p:spPr bwMode="auto">
          <a:xfrm>
            <a:off x="4427538" y="4054475"/>
            <a:ext cx="1382712" cy="387350"/>
          </a:xfrm>
          <a:prstGeom prst="rect">
            <a:avLst/>
          </a:prstGeom>
          <a:solidFill>
            <a:srgbClr val="CCCC00"/>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864" name="Rectangle 12"/>
          <p:cNvSpPr>
            <a:spLocks noChangeArrowheads="1"/>
          </p:cNvSpPr>
          <p:nvPr/>
        </p:nvSpPr>
        <p:spPr bwMode="auto">
          <a:xfrm>
            <a:off x="6296025" y="4827588"/>
            <a:ext cx="1546225" cy="385762"/>
          </a:xfrm>
          <a:prstGeom prst="rect">
            <a:avLst/>
          </a:prstGeom>
          <a:solidFill>
            <a:srgbClr val="FF9933"/>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865" name="Line 13"/>
          <p:cNvSpPr>
            <a:spLocks noChangeShapeType="1"/>
          </p:cNvSpPr>
          <p:nvPr/>
        </p:nvSpPr>
        <p:spPr bwMode="auto">
          <a:xfrm>
            <a:off x="5811838" y="1506538"/>
            <a:ext cx="0" cy="39370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66" name="Line 14"/>
          <p:cNvSpPr>
            <a:spLocks noChangeShapeType="1"/>
          </p:cNvSpPr>
          <p:nvPr/>
        </p:nvSpPr>
        <p:spPr bwMode="auto">
          <a:xfrm>
            <a:off x="5972175" y="1506538"/>
            <a:ext cx="0" cy="39370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67" name="Line 15"/>
          <p:cNvSpPr>
            <a:spLocks noChangeShapeType="1"/>
          </p:cNvSpPr>
          <p:nvPr/>
        </p:nvSpPr>
        <p:spPr bwMode="auto">
          <a:xfrm>
            <a:off x="7843838" y="1506538"/>
            <a:ext cx="0" cy="39370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68" name="Line 16"/>
          <p:cNvSpPr>
            <a:spLocks noChangeShapeType="1"/>
          </p:cNvSpPr>
          <p:nvPr/>
        </p:nvSpPr>
        <p:spPr bwMode="auto">
          <a:xfrm>
            <a:off x="8004175" y="1506538"/>
            <a:ext cx="0" cy="39370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69" name="Rectangle 17"/>
          <p:cNvSpPr>
            <a:spLocks noChangeArrowheads="1"/>
          </p:cNvSpPr>
          <p:nvPr/>
        </p:nvSpPr>
        <p:spPr bwMode="auto">
          <a:xfrm>
            <a:off x="622300" y="1738313"/>
            <a:ext cx="1193800" cy="385762"/>
          </a:xfrm>
          <a:prstGeom prst="rect">
            <a:avLst/>
          </a:prstGeom>
          <a:solidFill>
            <a:srgbClr val="FFFF99"/>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870" name="Line 18"/>
          <p:cNvSpPr>
            <a:spLocks noChangeShapeType="1"/>
          </p:cNvSpPr>
          <p:nvPr/>
        </p:nvSpPr>
        <p:spPr bwMode="auto">
          <a:xfrm>
            <a:off x="606425" y="1738313"/>
            <a:ext cx="12207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71" name="Freeform 19"/>
          <p:cNvSpPr>
            <a:spLocks noChangeArrowheads="1"/>
          </p:cNvSpPr>
          <p:nvPr/>
        </p:nvSpPr>
        <p:spPr bwMode="auto">
          <a:xfrm>
            <a:off x="8248650" y="2501900"/>
            <a:ext cx="973138" cy="393700"/>
          </a:xfrm>
          <a:custGeom>
            <a:avLst/>
            <a:gdLst>
              <a:gd name="T0" fmla="*/ 0 w 543"/>
              <a:gd name="T1" fmla="*/ 231 h 231"/>
              <a:gd name="T2" fmla="*/ 0 w 543"/>
              <a:gd name="T3" fmla="*/ 0 h 231"/>
              <a:gd name="T4" fmla="*/ 543 w 543"/>
              <a:gd name="T5" fmla="*/ 0 h 231"/>
            </a:gdLst>
            <a:ahLst/>
            <a:cxnLst>
              <a:cxn ang="0">
                <a:pos x="T0" y="T1"/>
              </a:cxn>
              <a:cxn ang="0">
                <a:pos x="T2" y="T3"/>
              </a:cxn>
              <a:cxn ang="0">
                <a:pos x="T4" y="T5"/>
              </a:cxn>
            </a:cxnLst>
            <a:rect l="0" t="0" r="r" b="b"/>
            <a:pathLst>
              <a:path w="543" h="231">
                <a:moveTo>
                  <a:pt x="0" y="231"/>
                </a:moveTo>
                <a:lnTo>
                  <a:pt x="0" y="0"/>
                </a:lnTo>
                <a:lnTo>
                  <a:pt x="543"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72" name="Text Box 20"/>
          <p:cNvSpPr txBox="1">
            <a:spLocks noChangeArrowheads="1"/>
          </p:cNvSpPr>
          <p:nvPr/>
        </p:nvSpPr>
        <p:spPr bwMode="auto">
          <a:xfrm>
            <a:off x="982663" y="1711325"/>
            <a:ext cx="414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帧</a:t>
            </a:r>
          </a:p>
        </p:txBody>
      </p:sp>
      <p:sp>
        <p:nvSpPr>
          <p:cNvPr id="2425873" name="Text Box 21"/>
          <p:cNvSpPr txBox="1">
            <a:spLocks noChangeArrowheads="1"/>
          </p:cNvSpPr>
          <p:nvPr/>
        </p:nvSpPr>
        <p:spPr bwMode="auto">
          <a:xfrm>
            <a:off x="6799263" y="4784725"/>
            <a:ext cx="415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帧</a:t>
            </a:r>
          </a:p>
        </p:txBody>
      </p:sp>
      <p:sp>
        <p:nvSpPr>
          <p:cNvPr id="2425874" name="Text Box 22"/>
          <p:cNvSpPr txBox="1">
            <a:spLocks noChangeArrowheads="1"/>
          </p:cNvSpPr>
          <p:nvPr/>
        </p:nvSpPr>
        <p:spPr bwMode="auto">
          <a:xfrm>
            <a:off x="4854575" y="4030663"/>
            <a:ext cx="415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帧</a:t>
            </a:r>
          </a:p>
        </p:txBody>
      </p:sp>
      <p:sp>
        <p:nvSpPr>
          <p:cNvPr id="2425875" name="Text Box 23"/>
          <p:cNvSpPr txBox="1">
            <a:spLocks noChangeArrowheads="1"/>
          </p:cNvSpPr>
          <p:nvPr/>
        </p:nvSpPr>
        <p:spPr bwMode="auto">
          <a:xfrm>
            <a:off x="8510588" y="2492375"/>
            <a:ext cx="415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帧</a:t>
            </a:r>
          </a:p>
        </p:txBody>
      </p:sp>
      <p:sp>
        <p:nvSpPr>
          <p:cNvPr id="2425876" name="Text Box 24"/>
          <p:cNvSpPr txBox="1">
            <a:spLocks noChangeArrowheads="1"/>
          </p:cNvSpPr>
          <p:nvPr/>
        </p:nvSpPr>
        <p:spPr bwMode="auto">
          <a:xfrm>
            <a:off x="2909888" y="3254375"/>
            <a:ext cx="415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帧</a:t>
            </a:r>
          </a:p>
        </p:txBody>
      </p:sp>
      <p:sp>
        <p:nvSpPr>
          <p:cNvPr id="2425877" name="Text Box 25"/>
          <p:cNvSpPr txBox="1">
            <a:spLocks noChangeArrowheads="1"/>
          </p:cNvSpPr>
          <p:nvPr/>
        </p:nvSpPr>
        <p:spPr bwMode="auto">
          <a:xfrm>
            <a:off x="1584325" y="1184275"/>
            <a:ext cx="709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DIFS</a:t>
            </a:r>
          </a:p>
        </p:txBody>
      </p:sp>
      <p:sp>
        <p:nvSpPr>
          <p:cNvPr id="2425878" name="Text Box 26"/>
          <p:cNvSpPr txBox="1">
            <a:spLocks noChangeArrowheads="1"/>
          </p:cNvSpPr>
          <p:nvPr/>
        </p:nvSpPr>
        <p:spPr bwMode="auto">
          <a:xfrm>
            <a:off x="3695700" y="1184275"/>
            <a:ext cx="71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DIFS</a:t>
            </a:r>
          </a:p>
        </p:txBody>
      </p:sp>
      <p:sp>
        <p:nvSpPr>
          <p:cNvPr id="2425879" name="Text Box 27"/>
          <p:cNvSpPr txBox="1">
            <a:spLocks noChangeArrowheads="1"/>
          </p:cNvSpPr>
          <p:nvPr/>
        </p:nvSpPr>
        <p:spPr bwMode="auto">
          <a:xfrm>
            <a:off x="5592763" y="1184275"/>
            <a:ext cx="71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DIFS</a:t>
            </a:r>
          </a:p>
        </p:txBody>
      </p:sp>
      <p:sp>
        <p:nvSpPr>
          <p:cNvPr id="2425880" name="Text Box 28"/>
          <p:cNvSpPr txBox="1">
            <a:spLocks noChangeArrowheads="1"/>
          </p:cNvSpPr>
          <p:nvPr/>
        </p:nvSpPr>
        <p:spPr bwMode="auto">
          <a:xfrm>
            <a:off x="7623175" y="1184275"/>
            <a:ext cx="71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DIFS</a:t>
            </a:r>
          </a:p>
        </p:txBody>
      </p:sp>
      <p:sp>
        <p:nvSpPr>
          <p:cNvPr id="2425881" name="Line 29"/>
          <p:cNvSpPr>
            <a:spLocks noChangeShapeType="1"/>
          </p:cNvSpPr>
          <p:nvPr/>
        </p:nvSpPr>
        <p:spPr bwMode="auto">
          <a:xfrm flipV="1">
            <a:off x="849313" y="2587625"/>
            <a:ext cx="0" cy="307975"/>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82" name="Line 30"/>
          <p:cNvSpPr>
            <a:spLocks noChangeShapeType="1"/>
          </p:cNvSpPr>
          <p:nvPr/>
        </p:nvSpPr>
        <p:spPr bwMode="auto">
          <a:xfrm flipV="1">
            <a:off x="1339850" y="3360738"/>
            <a:ext cx="0" cy="307975"/>
          </a:xfrm>
          <a:prstGeom prst="line">
            <a:avLst/>
          </a:prstGeom>
          <a:noFill/>
          <a:ln w="38100">
            <a:solidFill>
              <a:srgbClr val="FF66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83" name="Line 31"/>
          <p:cNvSpPr>
            <a:spLocks noChangeShapeType="1"/>
          </p:cNvSpPr>
          <p:nvPr/>
        </p:nvSpPr>
        <p:spPr bwMode="auto">
          <a:xfrm flipV="1">
            <a:off x="1093788" y="4132263"/>
            <a:ext cx="0" cy="309562"/>
          </a:xfrm>
          <a:prstGeom prst="line">
            <a:avLst/>
          </a:prstGeom>
          <a:noFill/>
          <a:ln w="38100">
            <a:solidFill>
              <a:srgbClr val="CC99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84" name="Line 32"/>
          <p:cNvSpPr>
            <a:spLocks noChangeShapeType="1"/>
          </p:cNvSpPr>
          <p:nvPr/>
        </p:nvSpPr>
        <p:spPr bwMode="auto">
          <a:xfrm flipV="1">
            <a:off x="3289300" y="4905375"/>
            <a:ext cx="0" cy="307975"/>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85" name="Line 33"/>
          <p:cNvSpPr>
            <a:spLocks noChangeShapeType="1"/>
          </p:cNvSpPr>
          <p:nvPr/>
        </p:nvSpPr>
        <p:spPr bwMode="auto">
          <a:xfrm>
            <a:off x="1987550" y="1968500"/>
            <a:ext cx="1463675"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86" name="Text Box 34"/>
          <p:cNvSpPr txBox="1">
            <a:spLocks noChangeArrowheads="1"/>
          </p:cNvSpPr>
          <p:nvPr/>
        </p:nvSpPr>
        <p:spPr bwMode="auto">
          <a:xfrm>
            <a:off x="2151063" y="1555750"/>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争用窗口</a:t>
            </a:r>
          </a:p>
        </p:txBody>
      </p:sp>
      <p:sp>
        <p:nvSpPr>
          <p:cNvPr id="2425887" name="Line 35"/>
          <p:cNvSpPr>
            <a:spLocks noChangeShapeType="1"/>
          </p:cNvSpPr>
          <p:nvPr/>
        </p:nvSpPr>
        <p:spPr bwMode="auto">
          <a:xfrm>
            <a:off x="3451225" y="1814513"/>
            <a:ext cx="0" cy="3095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88" name="Line 36"/>
          <p:cNvSpPr>
            <a:spLocks noChangeShapeType="1"/>
          </p:cNvSpPr>
          <p:nvPr/>
        </p:nvSpPr>
        <p:spPr bwMode="auto">
          <a:xfrm>
            <a:off x="4102100" y="3513138"/>
            <a:ext cx="1463675"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89" name="Line 37"/>
          <p:cNvSpPr>
            <a:spLocks noChangeShapeType="1"/>
          </p:cNvSpPr>
          <p:nvPr/>
        </p:nvSpPr>
        <p:spPr bwMode="auto">
          <a:xfrm>
            <a:off x="5565775" y="3359150"/>
            <a:ext cx="0" cy="309563"/>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90" name="Line 38"/>
          <p:cNvSpPr>
            <a:spLocks noChangeShapeType="1"/>
          </p:cNvSpPr>
          <p:nvPr/>
        </p:nvSpPr>
        <p:spPr bwMode="auto">
          <a:xfrm>
            <a:off x="8002588" y="5057775"/>
            <a:ext cx="1465262"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91" name="Line 39"/>
          <p:cNvSpPr>
            <a:spLocks noChangeShapeType="1"/>
          </p:cNvSpPr>
          <p:nvPr/>
        </p:nvSpPr>
        <p:spPr bwMode="auto">
          <a:xfrm>
            <a:off x="9467850" y="4902200"/>
            <a:ext cx="0" cy="3095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92" name="Line 40"/>
          <p:cNvSpPr>
            <a:spLocks noChangeShapeType="1"/>
          </p:cNvSpPr>
          <p:nvPr/>
        </p:nvSpPr>
        <p:spPr bwMode="auto">
          <a:xfrm>
            <a:off x="5970588" y="4286250"/>
            <a:ext cx="1463675"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93" name="Line 41"/>
          <p:cNvSpPr>
            <a:spLocks noChangeShapeType="1"/>
          </p:cNvSpPr>
          <p:nvPr/>
        </p:nvSpPr>
        <p:spPr bwMode="auto">
          <a:xfrm>
            <a:off x="7434263" y="4130675"/>
            <a:ext cx="0" cy="31115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94" name="Text Box 42"/>
          <p:cNvSpPr txBox="1">
            <a:spLocks noChangeArrowheads="1"/>
          </p:cNvSpPr>
          <p:nvPr/>
        </p:nvSpPr>
        <p:spPr bwMode="auto">
          <a:xfrm>
            <a:off x="4276725" y="3125788"/>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争用窗口</a:t>
            </a:r>
          </a:p>
        </p:txBody>
      </p:sp>
      <p:sp>
        <p:nvSpPr>
          <p:cNvPr id="2425895" name="Text Box 43"/>
          <p:cNvSpPr txBox="1">
            <a:spLocks noChangeArrowheads="1"/>
          </p:cNvSpPr>
          <p:nvPr/>
        </p:nvSpPr>
        <p:spPr bwMode="auto">
          <a:xfrm>
            <a:off x="6132513" y="3873500"/>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争用窗口</a:t>
            </a:r>
          </a:p>
        </p:txBody>
      </p:sp>
      <p:sp>
        <p:nvSpPr>
          <p:cNvPr id="2425896" name="Text Box 44"/>
          <p:cNvSpPr txBox="1">
            <a:spLocks noChangeArrowheads="1"/>
          </p:cNvSpPr>
          <p:nvPr/>
        </p:nvSpPr>
        <p:spPr bwMode="auto">
          <a:xfrm>
            <a:off x="8151813" y="4668838"/>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争用窗口</a:t>
            </a:r>
          </a:p>
        </p:txBody>
      </p:sp>
      <p:sp>
        <p:nvSpPr>
          <p:cNvPr id="2425897" name="Line 45"/>
          <p:cNvSpPr>
            <a:spLocks noChangeShapeType="1"/>
          </p:cNvSpPr>
          <p:nvPr/>
        </p:nvSpPr>
        <p:spPr bwMode="auto">
          <a:xfrm>
            <a:off x="1338263" y="3848100"/>
            <a:ext cx="1057275" cy="0"/>
          </a:xfrm>
          <a:prstGeom prst="line">
            <a:avLst/>
          </a:prstGeom>
          <a:noFill/>
          <a:ln w="19050">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98" name="Rectangle 46"/>
          <p:cNvSpPr>
            <a:spLocks noChangeArrowheads="1"/>
          </p:cNvSpPr>
          <p:nvPr/>
        </p:nvSpPr>
        <p:spPr bwMode="auto">
          <a:xfrm>
            <a:off x="4102100" y="4208463"/>
            <a:ext cx="325438" cy="233362"/>
          </a:xfrm>
          <a:prstGeom prst="rect">
            <a:avLst/>
          </a:prstGeom>
          <a:solidFill>
            <a:schemeClr val="bg1"/>
          </a:solidFill>
          <a:ln w="1905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899" name="Rectangle 47"/>
          <p:cNvSpPr>
            <a:spLocks noChangeArrowheads="1"/>
          </p:cNvSpPr>
          <p:nvPr/>
        </p:nvSpPr>
        <p:spPr bwMode="auto">
          <a:xfrm>
            <a:off x="2395538" y="4208463"/>
            <a:ext cx="325437" cy="233362"/>
          </a:xfrm>
          <a:prstGeom prst="rect">
            <a:avLst/>
          </a:prstGeom>
          <a:solidFill>
            <a:srgbClr val="00CC00"/>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00" name="Line 48"/>
          <p:cNvSpPr>
            <a:spLocks noChangeShapeType="1"/>
          </p:cNvSpPr>
          <p:nvPr/>
        </p:nvSpPr>
        <p:spPr bwMode="auto">
          <a:xfrm>
            <a:off x="1093788" y="4594225"/>
            <a:ext cx="1625600" cy="0"/>
          </a:xfrm>
          <a:prstGeom prst="line">
            <a:avLst/>
          </a:prstGeom>
          <a:noFill/>
          <a:ln w="19050">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01" name="Rectangle 49"/>
          <p:cNvSpPr>
            <a:spLocks noChangeArrowheads="1"/>
          </p:cNvSpPr>
          <p:nvPr/>
        </p:nvSpPr>
        <p:spPr bwMode="auto">
          <a:xfrm>
            <a:off x="8004175" y="2663825"/>
            <a:ext cx="244475" cy="231775"/>
          </a:xfrm>
          <a:prstGeom prst="rect">
            <a:avLst/>
          </a:prstGeom>
          <a:solidFill>
            <a:schemeClr val="bg1"/>
          </a:solidFill>
          <a:ln w="12700">
            <a:solidFill>
              <a:schemeClr val="tx1"/>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02" name="Line 50"/>
          <p:cNvSpPr>
            <a:spLocks noChangeShapeType="1"/>
          </p:cNvSpPr>
          <p:nvPr/>
        </p:nvSpPr>
        <p:spPr bwMode="auto">
          <a:xfrm>
            <a:off x="6296025" y="2895600"/>
            <a:ext cx="0" cy="19304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03" name="Rectangle 51"/>
          <p:cNvSpPr>
            <a:spLocks noChangeArrowheads="1"/>
          </p:cNvSpPr>
          <p:nvPr/>
        </p:nvSpPr>
        <p:spPr bwMode="auto">
          <a:xfrm>
            <a:off x="6296025" y="2663825"/>
            <a:ext cx="244475" cy="231775"/>
          </a:xfrm>
          <a:prstGeom prst="rect">
            <a:avLst/>
          </a:prstGeom>
          <a:solidFill>
            <a:srgbClr val="00CC00"/>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04" name="Rectangle 52"/>
          <p:cNvSpPr>
            <a:spLocks noChangeArrowheads="1"/>
          </p:cNvSpPr>
          <p:nvPr/>
        </p:nvSpPr>
        <p:spPr bwMode="auto">
          <a:xfrm>
            <a:off x="5972175" y="2663825"/>
            <a:ext cx="323850" cy="231775"/>
          </a:xfrm>
          <a:prstGeom prst="rect">
            <a:avLst/>
          </a:prstGeom>
          <a:solidFill>
            <a:schemeClr val="bg1"/>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05" name="Line 53"/>
          <p:cNvSpPr>
            <a:spLocks noChangeShapeType="1"/>
          </p:cNvSpPr>
          <p:nvPr/>
        </p:nvSpPr>
        <p:spPr bwMode="auto">
          <a:xfrm>
            <a:off x="4427538" y="2895600"/>
            <a:ext cx="0" cy="2085975"/>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06" name="Line 54"/>
          <p:cNvSpPr>
            <a:spLocks noChangeShapeType="1"/>
          </p:cNvSpPr>
          <p:nvPr/>
        </p:nvSpPr>
        <p:spPr bwMode="auto">
          <a:xfrm>
            <a:off x="2395538" y="2432050"/>
            <a:ext cx="0" cy="849313"/>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07" name="Rectangle 55"/>
          <p:cNvSpPr>
            <a:spLocks noChangeArrowheads="1"/>
          </p:cNvSpPr>
          <p:nvPr/>
        </p:nvSpPr>
        <p:spPr bwMode="auto">
          <a:xfrm>
            <a:off x="4103688" y="2663825"/>
            <a:ext cx="323850" cy="231775"/>
          </a:xfrm>
          <a:prstGeom prst="rect">
            <a:avLst/>
          </a:prstGeom>
          <a:solidFill>
            <a:schemeClr val="bg1"/>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08" name="Rectangle 56"/>
          <p:cNvSpPr>
            <a:spLocks noChangeArrowheads="1"/>
          </p:cNvSpPr>
          <p:nvPr/>
        </p:nvSpPr>
        <p:spPr bwMode="auto">
          <a:xfrm>
            <a:off x="4427538" y="2663825"/>
            <a:ext cx="568325" cy="231775"/>
          </a:xfrm>
          <a:prstGeom prst="rect">
            <a:avLst/>
          </a:prstGeom>
          <a:solidFill>
            <a:srgbClr val="00CC00"/>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09" name="Rectangle 57"/>
          <p:cNvSpPr>
            <a:spLocks noChangeArrowheads="1"/>
          </p:cNvSpPr>
          <p:nvPr/>
        </p:nvSpPr>
        <p:spPr bwMode="auto">
          <a:xfrm>
            <a:off x="2395538" y="2663825"/>
            <a:ext cx="892175" cy="231775"/>
          </a:xfrm>
          <a:prstGeom prst="rect">
            <a:avLst/>
          </a:prstGeom>
          <a:solidFill>
            <a:srgbClr val="00CC00"/>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10" name="Rectangle 58"/>
          <p:cNvSpPr>
            <a:spLocks noChangeArrowheads="1"/>
          </p:cNvSpPr>
          <p:nvPr/>
        </p:nvSpPr>
        <p:spPr bwMode="auto">
          <a:xfrm>
            <a:off x="4427538" y="4981575"/>
            <a:ext cx="323850" cy="230188"/>
          </a:xfrm>
          <a:prstGeom prst="rect">
            <a:avLst/>
          </a:prstGeom>
          <a:solidFill>
            <a:srgbClr val="00CC00"/>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11" name="Rectangle 59"/>
          <p:cNvSpPr>
            <a:spLocks noChangeArrowheads="1"/>
          </p:cNvSpPr>
          <p:nvPr/>
        </p:nvSpPr>
        <p:spPr bwMode="auto">
          <a:xfrm>
            <a:off x="5972175" y="4981575"/>
            <a:ext cx="323850" cy="230188"/>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12" name="Line 60"/>
          <p:cNvSpPr>
            <a:spLocks noChangeShapeType="1"/>
          </p:cNvSpPr>
          <p:nvPr/>
        </p:nvSpPr>
        <p:spPr bwMode="auto">
          <a:xfrm>
            <a:off x="849313" y="3049588"/>
            <a:ext cx="2439987" cy="0"/>
          </a:xfrm>
          <a:prstGeom prst="line">
            <a:avLst/>
          </a:prstGeom>
          <a:noFill/>
          <a:ln w="19050">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13" name="Line 61"/>
          <p:cNvSpPr>
            <a:spLocks noChangeShapeType="1"/>
          </p:cNvSpPr>
          <p:nvPr/>
        </p:nvSpPr>
        <p:spPr bwMode="auto">
          <a:xfrm>
            <a:off x="3289300" y="5367338"/>
            <a:ext cx="1462088" cy="0"/>
          </a:xfrm>
          <a:prstGeom prst="line">
            <a:avLst/>
          </a:prstGeom>
          <a:noFill/>
          <a:ln w="19050">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14" name="Text Box 62"/>
          <p:cNvSpPr txBox="1">
            <a:spLocks noChangeArrowheads="1"/>
          </p:cNvSpPr>
          <p:nvPr/>
        </p:nvSpPr>
        <p:spPr bwMode="auto">
          <a:xfrm>
            <a:off x="1593850" y="2840038"/>
            <a:ext cx="646113"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退避</a:t>
            </a:r>
          </a:p>
        </p:txBody>
      </p:sp>
      <p:sp>
        <p:nvSpPr>
          <p:cNvPr id="2425915" name="Text Box 63"/>
          <p:cNvSpPr txBox="1">
            <a:spLocks noChangeArrowheads="1"/>
          </p:cNvSpPr>
          <p:nvPr/>
        </p:nvSpPr>
        <p:spPr bwMode="auto">
          <a:xfrm>
            <a:off x="1501775" y="3641725"/>
            <a:ext cx="646113"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退避</a:t>
            </a:r>
          </a:p>
        </p:txBody>
      </p:sp>
      <p:sp>
        <p:nvSpPr>
          <p:cNvPr id="2425916" name="Text Box 64"/>
          <p:cNvSpPr txBox="1">
            <a:spLocks noChangeArrowheads="1"/>
          </p:cNvSpPr>
          <p:nvPr/>
        </p:nvSpPr>
        <p:spPr bwMode="auto">
          <a:xfrm>
            <a:off x="1484313" y="4416425"/>
            <a:ext cx="646112"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退避</a:t>
            </a:r>
          </a:p>
        </p:txBody>
      </p:sp>
      <p:sp>
        <p:nvSpPr>
          <p:cNvPr id="2425917" name="Text Box 65"/>
          <p:cNvSpPr txBox="1">
            <a:spLocks noChangeArrowheads="1"/>
          </p:cNvSpPr>
          <p:nvPr/>
        </p:nvSpPr>
        <p:spPr bwMode="auto">
          <a:xfrm>
            <a:off x="3681413" y="5197475"/>
            <a:ext cx="647700"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退避</a:t>
            </a:r>
          </a:p>
        </p:txBody>
      </p:sp>
      <p:sp>
        <p:nvSpPr>
          <p:cNvPr id="2425918" name="Line 69"/>
          <p:cNvSpPr>
            <a:spLocks noChangeShapeType="1"/>
          </p:cNvSpPr>
          <p:nvPr/>
        </p:nvSpPr>
        <p:spPr bwMode="auto">
          <a:xfrm>
            <a:off x="849313" y="2895600"/>
            <a:ext cx="0" cy="309563"/>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19" name="Line 70"/>
          <p:cNvSpPr>
            <a:spLocks noChangeShapeType="1"/>
          </p:cNvSpPr>
          <p:nvPr/>
        </p:nvSpPr>
        <p:spPr bwMode="auto">
          <a:xfrm>
            <a:off x="3289300" y="2895600"/>
            <a:ext cx="0" cy="309563"/>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0" name="Line 71"/>
          <p:cNvSpPr>
            <a:spLocks noChangeShapeType="1"/>
          </p:cNvSpPr>
          <p:nvPr/>
        </p:nvSpPr>
        <p:spPr bwMode="auto">
          <a:xfrm>
            <a:off x="3289300" y="5211763"/>
            <a:ext cx="0" cy="311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1" name="Line 72"/>
          <p:cNvSpPr>
            <a:spLocks noChangeShapeType="1"/>
          </p:cNvSpPr>
          <p:nvPr/>
        </p:nvSpPr>
        <p:spPr bwMode="auto">
          <a:xfrm>
            <a:off x="1338263" y="3668713"/>
            <a:ext cx="0" cy="309562"/>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2" name="Line 73"/>
          <p:cNvSpPr>
            <a:spLocks noChangeShapeType="1"/>
          </p:cNvSpPr>
          <p:nvPr/>
        </p:nvSpPr>
        <p:spPr bwMode="auto">
          <a:xfrm>
            <a:off x="1093788" y="4440238"/>
            <a:ext cx="0" cy="309562"/>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3" name="Line 74"/>
          <p:cNvSpPr>
            <a:spLocks noChangeShapeType="1"/>
          </p:cNvSpPr>
          <p:nvPr/>
        </p:nvSpPr>
        <p:spPr bwMode="auto">
          <a:xfrm>
            <a:off x="4751388" y="5210175"/>
            <a:ext cx="0" cy="31115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4" name="Line 75"/>
          <p:cNvSpPr>
            <a:spLocks noChangeShapeType="1"/>
          </p:cNvSpPr>
          <p:nvPr/>
        </p:nvSpPr>
        <p:spPr bwMode="auto">
          <a:xfrm>
            <a:off x="2395538" y="3668713"/>
            <a:ext cx="0" cy="307975"/>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5" name="Line 76"/>
          <p:cNvSpPr>
            <a:spLocks noChangeShapeType="1"/>
          </p:cNvSpPr>
          <p:nvPr/>
        </p:nvSpPr>
        <p:spPr bwMode="auto">
          <a:xfrm>
            <a:off x="2719388" y="4441825"/>
            <a:ext cx="0" cy="309563"/>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6" name="Line 77"/>
          <p:cNvSpPr>
            <a:spLocks noChangeShapeType="1"/>
          </p:cNvSpPr>
          <p:nvPr/>
        </p:nvSpPr>
        <p:spPr bwMode="auto">
          <a:xfrm>
            <a:off x="4751388" y="5095875"/>
            <a:ext cx="1381125" cy="0"/>
          </a:xfrm>
          <a:prstGeom prst="line">
            <a:avLst/>
          </a:prstGeom>
          <a:noFill/>
          <a:ln w="381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7" name="Line 78"/>
          <p:cNvSpPr>
            <a:spLocks noChangeShapeType="1"/>
          </p:cNvSpPr>
          <p:nvPr/>
        </p:nvSpPr>
        <p:spPr bwMode="auto">
          <a:xfrm>
            <a:off x="2690813" y="4325938"/>
            <a:ext cx="1608137" cy="4762"/>
          </a:xfrm>
          <a:prstGeom prst="line">
            <a:avLst/>
          </a:prstGeom>
          <a:noFill/>
          <a:ln w="381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8" name="Line 79"/>
          <p:cNvSpPr>
            <a:spLocks noChangeShapeType="1"/>
          </p:cNvSpPr>
          <p:nvPr/>
        </p:nvSpPr>
        <p:spPr bwMode="auto">
          <a:xfrm>
            <a:off x="3289300" y="2778125"/>
            <a:ext cx="976313" cy="0"/>
          </a:xfrm>
          <a:prstGeom prst="line">
            <a:avLst/>
          </a:prstGeom>
          <a:noFill/>
          <a:ln w="381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9" name="Line 80"/>
          <p:cNvSpPr>
            <a:spLocks noChangeShapeType="1"/>
          </p:cNvSpPr>
          <p:nvPr/>
        </p:nvSpPr>
        <p:spPr bwMode="auto">
          <a:xfrm>
            <a:off x="4995863" y="2778125"/>
            <a:ext cx="1136650" cy="0"/>
          </a:xfrm>
          <a:prstGeom prst="line">
            <a:avLst/>
          </a:prstGeom>
          <a:noFill/>
          <a:ln w="381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30" name="Line 81"/>
          <p:cNvSpPr>
            <a:spLocks noChangeShapeType="1"/>
          </p:cNvSpPr>
          <p:nvPr/>
        </p:nvSpPr>
        <p:spPr bwMode="auto">
          <a:xfrm>
            <a:off x="6540500" y="2778125"/>
            <a:ext cx="1625600" cy="0"/>
          </a:xfrm>
          <a:prstGeom prst="line">
            <a:avLst/>
          </a:prstGeom>
          <a:noFill/>
          <a:ln w="381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31" name="Text Box 82"/>
          <p:cNvSpPr txBox="1">
            <a:spLocks noChangeArrowheads="1"/>
          </p:cNvSpPr>
          <p:nvPr/>
        </p:nvSpPr>
        <p:spPr bwMode="auto">
          <a:xfrm>
            <a:off x="209550" y="1725613"/>
            <a:ext cx="369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A</a:t>
            </a:r>
          </a:p>
        </p:txBody>
      </p:sp>
      <p:sp>
        <p:nvSpPr>
          <p:cNvPr id="2425932" name="Text Box 83"/>
          <p:cNvSpPr txBox="1">
            <a:spLocks noChangeArrowheads="1"/>
          </p:cNvSpPr>
          <p:nvPr/>
        </p:nvSpPr>
        <p:spPr bwMode="auto">
          <a:xfrm>
            <a:off x="209550" y="2508250"/>
            <a:ext cx="369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B</a:t>
            </a:r>
          </a:p>
        </p:txBody>
      </p:sp>
      <p:sp>
        <p:nvSpPr>
          <p:cNvPr id="2425933" name="Text Box 84"/>
          <p:cNvSpPr txBox="1">
            <a:spLocks noChangeArrowheads="1"/>
          </p:cNvSpPr>
          <p:nvPr/>
        </p:nvSpPr>
        <p:spPr bwMode="auto">
          <a:xfrm>
            <a:off x="209550" y="3292475"/>
            <a:ext cx="369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C</a:t>
            </a:r>
          </a:p>
        </p:txBody>
      </p:sp>
      <p:sp>
        <p:nvSpPr>
          <p:cNvPr id="2425934" name="Text Box 85"/>
          <p:cNvSpPr txBox="1">
            <a:spLocks noChangeArrowheads="1"/>
          </p:cNvSpPr>
          <p:nvPr/>
        </p:nvSpPr>
        <p:spPr bwMode="auto">
          <a:xfrm>
            <a:off x="209550" y="4075113"/>
            <a:ext cx="369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D</a:t>
            </a:r>
          </a:p>
        </p:txBody>
      </p:sp>
      <p:sp>
        <p:nvSpPr>
          <p:cNvPr id="2425935" name="Text Box 86"/>
          <p:cNvSpPr txBox="1">
            <a:spLocks noChangeArrowheads="1"/>
          </p:cNvSpPr>
          <p:nvPr/>
        </p:nvSpPr>
        <p:spPr bwMode="auto">
          <a:xfrm>
            <a:off x="209550" y="4857750"/>
            <a:ext cx="35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E</a:t>
            </a:r>
          </a:p>
        </p:txBody>
      </p:sp>
      <p:sp>
        <p:nvSpPr>
          <p:cNvPr id="2425936" name="Text Box 87"/>
          <p:cNvSpPr txBox="1">
            <a:spLocks noChangeArrowheads="1"/>
          </p:cNvSpPr>
          <p:nvPr/>
        </p:nvSpPr>
        <p:spPr bwMode="auto">
          <a:xfrm>
            <a:off x="9518650" y="1738313"/>
            <a:ext cx="2619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宋体" panose="02010600030101010101" pitchFamily="2" charset="-122"/>
              </a:rPr>
              <a:t>t</a:t>
            </a:r>
          </a:p>
        </p:txBody>
      </p:sp>
      <p:sp>
        <p:nvSpPr>
          <p:cNvPr id="2425937" name="Text Box 88"/>
          <p:cNvSpPr txBox="1">
            <a:spLocks noChangeArrowheads="1"/>
          </p:cNvSpPr>
          <p:nvPr/>
        </p:nvSpPr>
        <p:spPr bwMode="auto">
          <a:xfrm>
            <a:off x="9548813" y="2508250"/>
            <a:ext cx="260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宋体" panose="02010600030101010101" pitchFamily="2" charset="-122"/>
              </a:rPr>
              <a:t>t</a:t>
            </a:r>
          </a:p>
        </p:txBody>
      </p:sp>
      <p:sp>
        <p:nvSpPr>
          <p:cNvPr id="2425938" name="Text Box 89"/>
          <p:cNvSpPr txBox="1">
            <a:spLocks noChangeArrowheads="1"/>
          </p:cNvSpPr>
          <p:nvPr/>
        </p:nvSpPr>
        <p:spPr bwMode="auto">
          <a:xfrm>
            <a:off x="9575800" y="3279775"/>
            <a:ext cx="261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宋体" panose="02010600030101010101" pitchFamily="2" charset="-122"/>
              </a:rPr>
              <a:t>t</a:t>
            </a:r>
          </a:p>
        </p:txBody>
      </p:sp>
      <p:sp>
        <p:nvSpPr>
          <p:cNvPr id="2425939" name="Text Box 90"/>
          <p:cNvSpPr txBox="1">
            <a:spLocks noChangeArrowheads="1"/>
          </p:cNvSpPr>
          <p:nvPr/>
        </p:nvSpPr>
        <p:spPr bwMode="auto">
          <a:xfrm>
            <a:off x="9604375" y="4051300"/>
            <a:ext cx="261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宋体" panose="02010600030101010101" pitchFamily="2" charset="-122"/>
              </a:rPr>
              <a:t>t</a:t>
            </a:r>
          </a:p>
        </p:txBody>
      </p:sp>
      <p:sp>
        <p:nvSpPr>
          <p:cNvPr id="2425940" name="Text Box 91"/>
          <p:cNvSpPr txBox="1">
            <a:spLocks noChangeArrowheads="1"/>
          </p:cNvSpPr>
          <p:nvPr/>
        </p:nvSpPr>
        <p:spPr bwMode="auto">
          <a:xfrm>
            <a:off x="9634538" y="4822825"/>
            <a:ext cx="2619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宋体" panose="02010600030101010101" pitchFamily="2" charset="-122"/>
              </a:rPr>
              <a:t>t</a:t>
            </a:r>
          </a:p>
        </p:txBody>
      </p:sp>
      <p:sp>
        <p:nvSpPr>
          <p:cNvPr id="2425941" name="Line 92"/>
          <p:cNvSpPr>
            <a:spLocks noChangeShapeType="1"/>
          </p:cNvSpPr>
          <p:nvPr/>
        </p:nvSpPr>
        <p:spPr bwMode="auto">
          <a:xfrm>
            <a:off x="1827213" y="1506538"/>
            <a:ext cx="0" cy="39370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42" name="Rectangle 93"/>
          <p:cNvSpPr>
            <a:spLocks noChangeArrowheads="1"/>
          </p:cNvSpPr>
          <p:nvPr/>
        </p:nvSpPr>
        <p:spPr bwMode="auto">
          <a:xfrm>
            <a:off x="1144588" y="6021388"/>
            <a:ext cx="892175" cy="231775"/>
          </a:xfrm>
          <a:prstGeom prst="rect">
            <a:avLst/>
          </a:prstGeom>
          <a:solidFill>
            <a:srgbClr val="00CC00"/>
          </a:solidFill>
          <a:ln w="1905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43" name="Line 95"/>
          <p:cNvSpPr>
            <a:spLocks noChangeShapeType="1"/>
          </p:cNvSpPr>
          <p:nvPr/>
        </p:nvSpPr>
        <p:spPr bwMode="auto">
          <a:xfrm>
            <a:off x="2109788" y="6130925"/>
            <a:ext cx="652462"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44" name="Rectangle 96"/>
          <p:cNvSpPr>
            <a:spLocks noChangeArrowheads="1"/>
          </p:cNvSpPr>
          <p:nvPr/>
        </p:nvSpPr>
        <p:spPr bwMode="auto">
          <a:xfrm>
            <a:off x="415925" y="5815013"/>
            <a:ext cx="9294813" cy="5667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45" name="Text Box 97"/>
          <p:cNvSpPr txBox="1">
            <a:spLocks noChangeArrowheads="1"/>
          </p:cNvSpPr>
          <p:nvPr/>
        </p:nvSpPr>
        <p:spPr bwMode="auto">
          <a:xfrm>
            <a:off x="2540000" y="2278063"/>
            <a:ext cx="646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冻结</a:t>
            </a:r>
          </a:p>
        </p:txBody>
      </p:sp>
      <p:sp>
        <p:nvSpPr>
          <p:cNvPr id="2425946" name="Text Box 98"/>
          <p:cNvSpPr txBox="1">
            <a:spLocks noChangeArrowheads="1"/>
          </p:cNvSpPr>
          <p:nvPr/>
        </p:nvSpPr>
        <p:spPr bwMode="auto">
          <a:xfrm>
            <a:off x="2214563" y="3819525"/>
            <a:ext cx="6461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冻结</a:t>
            </a:r>
          </a:p>
        </p:txBody>
      </p:sp>
      <p:sp>
        <p:nvSpPr>
          <p:cNvPr id="2425947" name="Text Box 99"/>
          <p:cNvSpPr txBox="1">
            <a:spLocks noChangeArrowheads="1"/>
          </p:cNvSpPr>
          <p:nvPr/>
        </p:nvSpPr>
        <p:spPr bwMode="auto">
          <a:xfrm>
            <a:off x="4321175" y="4606925"/>
            <a:ext cx="647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冻结</a:t>
            </a:r>
          </a:p>
        </p:txBody>
      </p:sp>
      <p:sp>
        <p:nvSpPr>
          <p:cNvPr id="2425948" name="Text Box 100"/>
          <p:cNvSpPr txBox="1">
            <a:spLocks noChangeArrowheads="1"/>
          </p:cNvSpPr>
          <p:nvPr/>
        </p:nvSpPr>
        <p:spPr bwMode="auto">
          <a:xfrm>
            <a:off x="6116638" y="2278063"/>
            <a:ext cx="647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冻结</a:t>
            </a:r>
          </a:p>
        </p:txBody>
      </p:sp>
      <p:sp>
        <p:nvSpPr>
          <p:cNvPr id="2425949" name="Text Box 101"/>
          <p:cNvSpPr txBox="1">
            <a:spLocks noChangeArrowheads="1"/>
          </p:cNvSpPr>
          <p:nvPr/>
        </p:nvSpPr>
        <p:spPr bwMode="auto">
          <a:xfrm>
            <a:off x="4344988" y="2278063"/>
            <a:ext cx="6461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冻结</a:t>
            </a:r>
          </a:p>
        </p:txBody>
      </p:sp>
      <p:sp>
        <p:nvSpPr>
          <p:cNvPr id="2425950" name="Line 5"/>
          <p:cNvSpPr>
            <a:spLocks noChangeShapeType="1"/>
          </p:cNvSpPr>
          <p:nvPr/>
        </p:nvSpPr>
        <p:spPr bwMode="auto">
          <a:xfrm>
            <a:off x="363538" y="2124075"/>
            <a:ext cx="9347200"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51" name="Line 6"/>
          <p:cNvSpPr>
            <a:spLocks noChangeShapeType="1"/>
          </p:cNvSpPr>
          <p:nvPr/>
        </p:nvSpPr>
        <p:spPr bwMode="auto">
          <a:xfrm>
            <a:off x="363538" y="5208588"/>
            <a:ext cx="9347200"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52" name="Line 66"/>
          <p:cNvSpPr>
            <a:spLocks noChangeShapeType="1"/>
          </p:cNvSpPr>
          <p:nvPr/>
        </p:nvSpPr>
        <p:spPr bwMode="auto">
          <a:xfrm>
            <a:off x="363538" y="3667125"/>
            <a:ext cx="9347200"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53" name="Line 67"/>
          <p:cNvSpPr>
            <a:spLocks noChangeShapeType="1"/>
          </p:cNvSpPr>
          <p:nvPr/>
        </p:nvSpPr>
        <p:spPr bwMode="auto">
          <a:xfrm>
            <a:off x="363538" y="4437063"/>
            <a:ext cx="9347200"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54" name="Line 68"/>
          <p:cNvSpPr>
            <a:spLocks noChangeShapeType="1"/>
          </p:cNvSpPr>
          <p:nvPr/>
        </p:nvSpPr>
        <p:spPr bwMode="auto">
          <a:xfrm>
            <a:off x="363538" y="2895600"/>
            <a:ext cx="9347200"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55" name="Rectangle 105"/>
          <p:cNvSpPr>
            <a:spLocks noGrp="1" noChangeArrowheads="1"/>
          </p:cNvSpPr>
          <p:nvPr>
            <p:ph type="title"/>
          </p:nvPr>
        </p:nvSpPr>
        <p:spPr/>
        <p:txBody>
          <a:bodyPr/>
          <a:lstStyle/>
          <a:p>
            <a:pPr algn="ctr"/>
            <a:r>
              <a:rPr lang="en-US" altLang="zh-CN" smtClean="0">
                <a:ea typeface="黑体" panose="02010609060101010101" pitchFamily="49" charset="-122"/>
              </a:rPr>
              <a:t>802.11 </a:t>
            </a:r>
            <a:r>
              <a:rPr lang="zh-CN" altLang="en-US" smtClean="0">
                <a:ea typeface="黑体" panose="02010609060101010101" pitchFamily="49" charset="-122"/>
              </a:rPr>
              <a:t>的退避机制</a:t>
            </a:r>
          </a:p>
        </p:txBody>
      </p:sp>
      <p:sp>
        <p:nvSpPr>
          <p:cNvPr id="2425956" name="Line 112"/>
          <p:cNvSpPr>
            <a:spLocks noChangeShapeType="1"/>
          </p:cNvSpPr>
          <p:nvPr/>
        </p:nvSpPr>
        <p:spPr bwMode="auto">
          <a:xfrm flipV="1">
            <a:off x="7088188" y="5970588"/>
            <a:ext cx="0" cy="287337"/>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425957" name="Line 113"/>
          <p:cNvSpPr>
            <a:spLocks noChangeShapeType="1"/>
          </p:cNvSpPr>
          <p:nvPr/>
        </p:nvSpPr>
        <p:spPr bwMode="auto">
          <a:xfrm flipV="1">
            <a:off x="7232650" y="6121400"/>
            <a:ext cx="457200" cy="4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42595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596ACB6-A15A-4154-B32D-DE39BE58412E}" type="slidenum">
              <a:rPr lang="zh-CN" altLang="en-US" smtClean="0"/>
              <a:pPr eaLnBrk="1" hangingPunct="1"/>
              <a:t>42</a:t>
            </a:fld>
            <a:endParaRPr lang="en-US" altLang="zh-CN" smtClean="0"/>
          </a:p>
        </p:txBody>
      </p:sp>
      <p:sp>
        <p:nvSpPr>
          <p:cNvPr id="242595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7905"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二进制指数退避算法 </a:t>
            </a:r>
          </a:p>
        </p:txBody>
      </p:sp>
      <p:sp>
        <p:nvSpPr>
          <p:cNvPr id="331785" name="Rectangle 9"/>
          <p:cNvSpPr>
            <a:spLocks noGrp="1" noChangeArrowheads="1"/>
          </p:cNvSpPr>
          <p:nvPr>
            <p:ph idx="1"/>
          </p:nvPr>
        </p:nvSpPr>
        <p:spPr>
          <a:xfrm>
            <a:off x="495300" y="1196975"/>
            <a:ext cx="9066213" cy="4933950"/>
          </a:xfrm>
        </p:spPr>
        <p:txBody>
          <a:bodyPr/>
          <a:lstStyle/>
          <a:p>
            <a:pPr>
              <a:lnSpc>
                <a:spcPct val="100000"/>
              </a:lnSpc>
            </a:pPr>
            <a:r>
              <a:rPr lang="zh-CN" altLang="en-US" sz="2800" dirty="0" smtClean="0">
                <a:ea typeface="黑体" panose="02010609060101010101" pitchFamily="49" charset="-122"/>
              </a:rPr>
              <a:t>第 </a:t>
            </a:r>
            <a:r>
              <a:rPr lang="en-US" altLang="zh-CN" sz="2800" i="1" dirty="0" err="1" smtClean="0">
                <a:latin typeface="Times New Roman" panose="02020603050405020304" pitchFamily="18" charset="0"/>
                <a:ea typeface="黑体" panose="02010609060101010101" pitchFamily="49" charset="-122"/>
              </a:rPr>
              <a:t>i</a:t>
            </a:r>
            <a:r>
              <a:rPr lang="en-US" altLang="zh-CN" sz="2800" i="1" dirty="0" smtClean="0">
                <a:ea typeface="黑体" panose="02010609060101010101" pitchFamily="49" charset="-122"/>
              </a:rPr>
              <a:t> </a:t>
            </a:r>
            <a:r>
              <a:rPr lang="zh-CN" altLang="en-US" sz="2800" dirty="0" smtClean="0">
                <a:ea typeface="黑体" panose="02010609060101010101" pitchFamily="49" charset="-122"/>
              </a:rPr>
              <a:t>次退避就在 </a:t>
            </a:r>
            <a:r>
              <a:rPr lang="en-US" altLang="zh-CN" sz="2800" dirty="0" smtClean="0">
                <a:latin typeface="Times New Roman" panose="02020603050405020304" pitchFamily="18" charset="0"/>
                <a:ea typeface="黑体" panose="02010609060101010101" pitchFamily="49" charset="-122"/>
              </a:rPr>
              <a:t>2</a:t>
            </a:r>
            <a:r>
              <a:rPr lang="en-US" altLang="zh-CN" sz="2800" baseline="30000" dirty="0" smtClean="0">
                <a:latin typeface="Times New Roman" panose="02020603050405020304" pitchFamily="18" charset="0"/>
                <a:ea typeface="黑体" panose="02010609060101010101" pitchFamily="49" charset="-122"/>
              </a:rPr>
              <a:t>2 + </a:t>
            </a:r>
            <a:r>
              <a:rPr lang="en-US" altLang="zh-CN" sz="2800" i="1" baseline="30000" dirty="0" err="1" smtClean="0">
                <a:latin typeface="Times New Roman" panose="02020603050405020304" pitchFamily="18" charset="0"/>
                <a:ea typeface="黑体" panose="02010609060101010101" pitchFamily="49" charset="-122"/>
              </a:rPr>
              <a:t>i</a:t>
            </a:r>
            <a:r>
              <a:rPr lang="en-US" altLang="zh-CN" sz="2800" i="1" dirty="0" smtClean="0">
                <a:ea typeface="黑体" panose="02010609060101010101" pitchFamily="49" charset="-122"/>
              </a:rPr>
              <a:t> </a:t>
            </a:r>
            <a:r>
              <a:rPr lang="zh-CN" altLang="en-US" sz="2800" dirty="0" smtClean="0">
                <a:ea typeface="黑体" panose="02010609060101010101" pitchFamily="49" charset="-122"/>
              </a:rPr>
              <a:t>个时隙中随机地选择一个，即：第 </a:t>
            </a:r>
            <a:r>
              <a:rPr lang="en-US" altLang="zh-CN" sz="2800" i="1" dirty="0" err="1" smtClean="0">
                <a:latin typeface="Times New Roman" panose="02020603050405020304" pitchFamily="18" charset="0"/>
                <a:ea typeface="黑体" panose="02010609060101010101" pitchFamily="49" charset="-122"/>
              </a:rPr>
              <a:t>i</a:t>
            </a:r>
            <a:r>
              <a:rPr lang="en-US" altLang="zh-CN" sz="2800" i="1" dirty="0" smtClean="0">
                <a:latin typeface="Times New Roman" panose="02020603050405020304" pitchFamily="18" charset="0"/>
                <a:ea typeface="黑体" panose="02010609060101010101" pitchFamily="49" charset="-122"/>
              </a:rPr>
              <a:t> </a:t>
            </a:r>
            <a:r>
              <a:rPr lang="zh-CN" altLang="en-US" sz="2800" dirty="0" smtClean="0">
                <a:ea typeface="黑体" panose="02010609060101010101" pitchFamily="49" charset="-122"/>
              </a:rPr>
              <a:t>次退避是在时隙 </a:t>
            </a:r>
            <a:r>
              <a:rPr lang="en-US" altLang="zh-CN" sz="2800" dirty="0" smtClean="0">
                <a:ea typeface="黑体" panose="02010609060101010101" pitchFamily="49" charset="-122"/>
              </a:rPr>
              <a:t>{0, 1, …, 2</a:t>
            </a:r>
            <a:r>
              <a:rPr lang="en-US" altLang="zh-CN" sz="2800" baseline="30000" dirty="0" smtClean="0">
                <a:ea typeface="黑体" panose="02010609060101010101" pitchFamily="49" charset="-122"/>
              </a:rPr>
              <a:t>2+</a:t>
            </a:r>
            <a:r>
              <a:rPr lang="en-US" altLang="zh-CN" sz="2800" i="1" baseline="30000" dirty="0" smtClean="0">
                <a:latin typeface="Times New Roman" panose="02020603050405020304" pitchFamily="18" charset="0"/>
                <a:ea typeface="黑体" panose="02010609060101010101" pitchFamily="49" charset="-122"/>
              </a:rPr>
              <a:t>i</a:t>
            </a:r>
            <a:r>
              <a:rPr lang="en-US" altLang="zh-CN" sz="2800" baseline="30000" dirty="0" smtClean="0">
                <a:ea typeface="黑体" panose="02010609060101010101" pitchFamily="49" charset="-122"/>
              </a:rPr>
              <a:t> </a:t>
            </a:r>
            <a:r>
              <a:rPr lang="en-US" altLang="zh-CN" sz="2800" dirty="0" smtClean="0">
                <a:ea typeface="黑体" panose="02010609060101010101" pitchFamily="49" charset="-122"/>
              </a:rPr>
              <a:t>– 1} </a:t>
            </a:r>
            <a:r>
              <a:rPr lang="zh-CN" altLang="en-US" sz="2800" dirty="0" smtClean="0">
                <a:ea typeface="黑体" panose="02010609060101010101" pitchFamily="49" charset="-122"/>
              </a:rPr>
              <a:t>中随机地选择一个。 </a:t>
            </a:r>
          </a:p>
          <a:p>
            <a:pPr>
              <a:lnSpc>
                <a:spcPct val="100000"/>
              </a:lnSpc>
            </a:pPr>
            <a:r>
              <a:rPr lang="zh-CN" altLang="en-US" sz="2800" dirty="0" smtClean="0">
                <a:ea typeface="黑体" panose="02010609060101010101" pitchFamily="49" charset="-122"/>
              </a:rPr>
              <a:t>第 </a:t>
            </a:r>
            <a:r>
              <a:rPr lang="en-US" altLang="zh-CN" sz="2800" dirty="0" smtClean="0">
                <a:ea typeface="黑体" panose="02010609060101010101" pitchFamily="49" charset="-122"/>
              </a:rPr>
              <a:t>1 </a:t>
            </a:r>
            <a:r>
              <a:rPr lang="zh-CN" altLang="en-US" sz="2800" dirty="0" smtClean="0">
                <a:ea typeface="黑体" panose="02010609060101010101" pitchFamily="49" charset="-122"/>
              </a:rPr>
              <a:t>次退避是在 </a:t>
            </a:r>
            <a:r>
              <a:rPr lang="en-US" altLang="zh-CN" sz="2800" dirty="0" smtClean="0">
                <a:ea typeface="黑体" panose="02010609060101010101" pitchFamily="49" charset="-122"/>
              </a:rPr>
              <a:t>8 </a:t>
            </a:r>
            <a:r>
              <a:rPr lang="zh-CN" altLang="en-US" sz="2800" dirty="0" smtClean="0">
                <a:ea typeface="黑体" panose="02010609060101010101" pitchFamily="49" charset="-122"/>
              </a:rPr>
              <a:t>个时隙（而不是 </a:t>
            </a:r>
            <a:r>
              <a:rPr lang="en-US" altLang="zh-CN" sz="2800" dirty="0" smtClean="0">
                <a:ea typeface="黑体" panose="02010609060101010101" pitchFamily="49" charset="-122"/>
              </a:rPr>
              <a:t>2 </a:t>
            </a:r>
            <a:r>
              <a:rPr lang="zh-CN" altLang="en-US" sz="2800" dirty="0" smtClean="0">
                <a:ea typeface="黑体" panose="02010609060101010101" pitchFamily="49" charset="-122"/>
              </a:rPr>
              <a:t>个）中随机选择一个。</a:t>
            </a:r>
          </a:p>
          <a:p>
            <a:pPr>
              <a:lnSpc>
                <a:spcPct val="100000"/>
              </a:lnSpc>
            </a:pPr>
            <a:r>
              <a:rPr lang="zh-CN" altLang="en-US" sz="2800" dirty="0" smtClean="0">
                <a:ea typeface="黑体" panose="02010609060101010101" pitchFamily="49" charset="-122"/>
              </a:rPr>
              <a:t>第 </a:t>
            </a:r>
            <a:r>
              <a:rPr lang="en-US" altLang="zh-CN" sz="2800" dirty="0" smtClean="0">
                <a:ea typeface="黑体" panose="02010609060101010101" pitchFamily="49" charset="-122"/>
              </a:rPr>
              <a:t>2 </a:t>
            </a:r>
            <a:r>
              <a:rPr lang="zh-CN" altLang="en-US" sz="2800" dirty="0" smtClean="0">
                <a:ea typeface="黑体" panose="02010609060101010101" pitchFamily="49" charset="-122"/>
              </a:rPr>
              <a:t>次退避是在 </a:t>
            </a:r>
            <a:r>
              <a:rPr lang="en-US" altLang="zh-CN" sz="2800" dirty="0" smtClean="0">
                <a:ea typeface="黑体" panose="02010609060101010101" pitchFamily="49" charset="-122"/>
              </a:rPr>
              <a:t>16 </a:t>
            </a:r>
            <a:r>
              <a:rPr lang="zh-CN" altLang="en-US" sz="2800" dirty="0" smtClean="0">
                <a:ea typeface="黑体" panose="02010609060101010101" pitchFamily="49" charset="-122"/>
              </a:rPr>
              <a:t>个时隙（而不是 </a:t>
            </a:r>
            <a:r>
              <a:rPr lang="en-US" altLang="zh-CN" sz="2800" dirty="0" smtClean="0">
                <a:ea typeface="黑体" panose="02010609060101010101" pitchFamily="49" charset="-122"/>
              </a:rPr>
              <a:t>4 </a:t>
            </a:r>
            <a:r>
              <a:rPr lang="zh-CN" altLang="en-US" sz="2800" dirty="0" smtClean="0">
                <a:ea typeface="黑体" panose="02010609060101010101" pitchFamily="49" charset="-122"/>
              </a:rPr>
              <a:t>个）中随机选择一个。 </a:t>
            </a:r>
            <a:endParaRPr lang="en-US" altLang="zh-CN" sz="2800" dirty="0" smtClean="0">
              <a:ea typeface="黑体" panose="02010609060101010101" pitchFamily="49" charset="-122"/>
            </a:endParaRPr>
          </a:p>
          <a:p>
            <a:pPr>
              <a:lnSpc>
                <a:spcPct val="100000"/>
              </a:lnSpc>
            </a:pPr>
            <a:r>
              <a:rPr lang="zh-CN" altLang="zh-CN" sz="2800" dirty="0" smtClean="0">
                <a:ea typeface="黑体" panose="02010609060101010101" pitchFamily="49" charset="-122"/>
              </a:rPr>
              <a:t>当时隙编号达到</a:t>
            </a:r>
            <a:r>
              <a:rPr lang="en-US" altLang="zh-CN" sz="2800" dirty="0" smtClean="0">
                <a:ea typeface="黑体" panose="02010609060101010101" pitchFamily="49" charset="-122"/>
              </a:rPr>
              <a:t> 255 </a:t>
            </a:r>
            <a:r>
              <a:rPr lang="zh-CN" altLang="zh-CN" sz="2800" dirty="0" smtClean="0">
                <a:ea typeface="黑体" panose="02010609060101010101" pitchFamily="49" charset="-122"/>
              </a:rPr>
              <a:t>时（这对应于第</a:t>
            </a:r>
            <a:r>
              <a:rPr lang="en-US" altLang="zh-CN" sz="2800" dirty="0" smtClean="0">
                <a:ea typeface="黑体" panose="02010609060101010101" pitchFamily="49" charset="-122"/>
              </a:rPr>
              <a:t> 6 </a:t>
            </a:r>
            <a:r>
              <a:rPr lang="zh-CN" altLang="zh-CN" sz="2800" dirty="0" smtClean="0">
                <a:ea typeface="黑体" panose="02010609060101010101" pitchFamily="49" charset="-122"/>
              </a:rPr>
              <a:t>次退避）就不再增加了。</a:t>
            </a:r>
            <a:endParaRPr lang="en-US" altLang="zh-CN" sz="2800" dirty="0" smtClean="0">
              <a:ea typeface="黑体" panose="02010609060101010101" pitchFamily="49" charset="-122"/>
            </a:endParaRPr>
          </a:p>
          <a:p>
            <a:pPr>
              <a:lnSpc>
                <a:spcPct val="100000"/>
              </a:lnSpc>
            </a:pPr>
            <a:r>
              <a:rPr lang="zh-CN" altLang="zh-CN" sz="2800" dirty="0" smtClean="0">
                <a:ea typeface="黑体" panose="02010609060101010101" pitchFamily="49" charset="-122"/>
              </a:rPr>
              <a:t>这里决定退避时间的变量</a:t>
            </a:r>
            <a:r>
              <a:rPr lang="en-US" altLang="zh-CN" sz="2800" dirty="0" smtClean="0">
                <a:ea typeface="黑体" panose="02010609060101010101" pitchFamily="49" charset="-122"/>
              </a:rPr>
              <a:t> </a:t>
            </a:r>
            <a:r>
              <a:rPr lang="en-US" altLang="zh-CN" sz="2800" i="1" dirty="0" err="1" smtClean="0">
                <a:latin typeface="Times New Roman" panose="02020603050405020304" pitchFamily="18" charset="0"/>
                <a:ea typeface="黑体" panose="02010609060101010101" pitchFamily="49" charset="-122"/>
              </a:rPr>
              <a:t>i</a:t>
            </a:r>
            <a:r>
              <a:rPr lang="en-US" altLang="zh-CN" sz="2800" i="1" dirty="0" smtClean="0">
                <a:ea typeface="黑体" panose="02010609060101010101" pitchFamily="49" charset="-122"/>
              </a:rPr>
              <a:t> </a:t>
            </a:r>
            <a:r>
              <a:rPr lang="zh-CN" altLang="zh-CN" sz="2800" dirty="0" smtClean="0">
                <a:ea typeface="黑体" panose="02010609060101010101" pitchFamily="49" charset="-122"/>
              </a:rPr>
              <a:t>称为</a:t>
            </a:r>
            <a:r>
              <a:rPr lang="zh-CN" altLang="zh-CN" sz="2800" dirty="0" smtClean="0">
                <a:solidFill>
                  <a:srgbClr val="FF0000"/>
                </a:solidFill>
                <a:ea typeface="黑体" panose="02010609060101010101" pitchFamily="49" charset="-122"/>
              </a:rPr>
              <a:t>退避变量。</a:t>
            </a:r>
            <a:endParaRPr lang="zh-CN" altLang="en-US" sz="2800" dirty="0" smtClean="0">
              <a:solidFill>
                <a:srgbClr val="FF0000"/>
              </a:solidFill>
              <a:ea typeface="黑体" panose="02010609060101010101" pitchFamily="49" charset="-122"/>
            </a:endParaRPr>
          </a:p>
        </p:txBody>
      </p:sp>
      <p:sp>
        <p:nvSpPr>
          <p:cNvPr id="24279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0937A8C-B8B1-41CB-AF88-AC64648FF2E1}" type="slidenum">
              <a:rPr lang="zh-CN" altLang="en-US" smtClean="0"/>
              <a:pPr eaLnBrk="1" hangingPunct="1"/>
              <a:t>43</a:t>
            </a:fld>
            <a:endParaRPr lang="en-US" altLang="zh-CN" smtClean="0"/>
          </a:p>
        </p:txBody>
      </p:sp>
      <p:sp>
        <p:nvSpPr>
          <p:cNvPr id="24279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3178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3178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3178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3178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995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退避计时器 </a:t>
            </a:r>
            <a:r>
              <a:rPr lang="en-US" altLang="zh-CN" smtClean="0">
                <a:ea typeface="黑体" panose="02010609060101010101" pitchFamily="49" charset="-122"/>
              </a:rPr>
              <a:t>(backoff timer)</a:t>
            </a:r>
          </a:p>
        </p:txBody>
      </p:sp>
      <p:sp>
        <p:nvSpPr>
          <p:cNvPr id="2429954"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站点每经历一个时隙的时间就检测一次信道。</a:t>
            </a:r>
            <a:endParaRPr lang="en-US" altLang="zh-CN" smtClean="0">
              <a:ea typeface="黑体" panose="02010609060101010101" pitchFamily="49" charset="-122"/>
            </a:endParaRPr>
          </a:p>
          <a:p>
            <a:r>
              <a:rPr lang="zh-CN" altLang="en-US" smtClean="0">
                <a:ea typeface="黑体" panose="02010609060101010101" pitchFamily="49" charset="-122"/>
              </a:rPr>
              <a:t>这可能发生两种情况：</a:t>
            </a:r>
          </a:p>
          <a:p>
            <a:pPr lvl="1"/>
            <a:r>
              <a:rPr lang="zh-CN" altLang="en-US" smtClean="0">
                <a:ea typeface="黑体" panose="02010609060101010101" pitchFamily="49" charset="-122"/>
              </a:rPr>
              <a:t>若检测到</a:t>
            </a:r>
            <a:r>
              <a:rPr lang="zh-CN" altLang="en-US" smtClean="0">
                <a:solidFill>
                  <a:srgbClr val="FF0000"/>
                </a:solidFill>
                <a:ea typeface="黑体" panose="02010609060101010101" pitchFamily="49" charset="-122"/>
              </a:rPr>
              <a:t>信道空闲，</a:t>
            </a:r>
            <a:r>
              <a:rPr lang="zh-CN" altLang="en-US" smtClean="0">
                <a:ea typeface="黑体" panose="02010609060101010101" pitchFamily="49" charset="-122"/>
              </a:rPr>
              <a:t>退避计时器就</a:t>
            </a:r>
            <a:r>
              <a:rPr lang="zh-CN" altLang="en-US" smtClean="0">
                <a:solidFill>
                  <a:srgbClr val="FF0000"/>
                </a:solidFill>
                <a:ea typeface="黑体" panose="02010609060101010101" pitchFamily="49" charset="-122"/>
              </a:rPr>
              <a:t>继续</a:t>
            </a:r>
            <a:r>
              <a:rPr lang="zh-CN" altLang="en-US" smtClean="0">
                <a:ea typeface="黑体" panose="02010609060101010101" pitchFamily="49" charset="-122"/>
              </a:rPr>
              <a:t>倒计时。</a:t>
            </a:r>
          </a:p>
          <a:p>
            <a:pPr lvl="1"/>
            <a:r>
              <a:rPr lang="zh-CN" altLang="en-US" smtClean="0">
                <a:ea typeface="黑体" panose="02010609060101010101" pitchFamily="49" charset="-122"/>
              </a:rPr>
              <a:t>若检测到</a:t>
            </a:r>
            <a:r>
              <a:rPr lang="zh-CN" altLang="en-US" smtClean="0">
                <a:solidFill>
                  <a:srgbClr val="FF0000"/>
                </a:solidFill>
                <a:ea typeface="黑体" panose="02010609060101010101" pitchFamily="49" charset="-122"/>
              </a:rPr>
              <a:t>信道忙，</a:t>
            </a:r>
            <a:r>
              <a:rPr lang="zh-CN" altLang="en-US" smtClean="0">
                <a:ea typeface="黑体" panose="02010609060101010101" pitchFamily="49" charset="-122"/>
              </a:rPr>
              <a:t>就</a:t>
            </a:r>
            <a:r>
              <a:rPr lang="zh-CN" altLang="en-US" smtClean="0">
                <a:solidFill>
                  <a:srgbClr val="FF0000"/>
                </a:solidFill>
                <a:ea typeface="黑体" panose="02010609060101010101" pitchFamily="49" charset="-122"/>
              </a:rPr>
              <a:t>冻结</a:t>
            </a:r>
            <a:r>
              <a:rPr lang="zh-CN" altLang="en-US" smtClean="0">
                <a:ea typeface="黑体" panose="02010609060101010101" pitchFamily="49" charset="-122"/>
              </a:rPr>
              <a:t>退避计时器的剩余时间，重新等待信道变为空闲，并再经过时间 </a:t>
            </a:r>
            <a:r>
              <a:rPr lang="en-US" altLang="zh-CN" smtClean="0">
                <a:ea typeface="黑体" panose="02010609060101010101" pitchFamily="49" charset="-122"/>
              </a:rPr>
              <a:t>DIFS </a:t>
            </a:r>
            <a:r>
              <a:rPr lang="zh-CN" altLang="en-US" smtClean="0">
                <a:ea typeface="黑体" panose="02010609060101010101" pitchFamily="49" charset="-122"/>
              </a:rPr>
              <a:t>后，从剩余时间开始继续倒计时。</a:t>
            </a:r>
            <a:r>
              <a:rPr lang="zh-CN" altLang="en-US" smtClean="0">
                <a:solidFill>
                  <a:srgbClr val="0000FF"/>
                </a:solidFill>
                <a:ea typeface="黑体" panose="02010609060101010101" pitchFamily="49" charset="-122"/>
              </a:rPr>
              <a:t>如果退避计时器的时间减小到零时，就开始发送整个数据帧</a:t>
            </a:r>
            <a:r>
              <a:rPr lang="zh-CN" altLang="en-US" smtClean="0">
                <a:ea typeface="黑体" panose="02010609060101010101" pitchFamily="49" charset="-122"/>
              </a:rPr>
              <a:t>。 </a:t>
            </a:r>
            <a:endParaRPr lang="en-US" altLang="zh-CN" smtClean="0">
              <a:ea typeface="黑体" panose="02010609060101010101" pitchFamily="49" charset="-122"/>
            </a:endParaRPr>
          </a:p>
        </p:txBody>
      </p:sp>
      <p:sp>
        <p:nvSpPr>
          <p:cNvPr id="2429955" name="矩形 1"/>
          <p:cNvSpPr>
            <a:spLocks noChangeArrowheads="1"/>
          </p:cNvSpPr>
          <p:nvPr/>
        </p:nvSpPr>
        <p:spPr bwMode="auto">
          <a:xfrm>
            <a:off x="704850" y="5013325"/>
            <a:ext cx="8856663" cy="1076325"/>
          </a:xfrm>
          <a:prstGeom prst="rect">
            <a:avLst/>
          </a:prstGeom>
          <a:solidFill>
            <a:srgbClr val="FFFF66"/>
          </a:solidFill>
          <a:ln w="9525">
            <a:solidFill>
              <a:schemeClr val="tx1"/>
            </a:solidFill>
            <a:round/>
            <a:headEnd/>
            <a:tailEnd/>
          </a:ln>
        </p:spPr>
        <p:txBody>
          <a:bodyPr>
            <a:spAutoFit/>
          </a:bodyPr>
          <a:lstStyle/>
          <a:p>
            <a:pPr eaLnBrk="0" hangingPunct="0"/>
            <a:r>
              <a:rPr lang="zh-CN" altLang="zh-CN" sz="3200" b="1">
                <a:ea typeface="宋体" panose="02010600030101010101" pitchFamily="2" charset="-122"/>
              </a:rPr>
              <a:t>冻结退避计时器剩余时间的做法是为了使协议对所有站点更加公平。</a:t>
            </a:r>
            <a:endParaRPr lang="zh-CN" altLang="en-US" sz="3200" b="1">
              <a:ea typeface="宋体" panose="02010600030101010101" pitchFamily="2" charset="-122"/>
            </a:endParaRPr>
          </a:p>
        </p:txBody>
      </p:sp>
      <p:sp>
        <p:nvSpPr>
          <p:cNvPr id="242995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35402CA-6E02-4BB4-A046-2AB0A8C3E103}" type="slidenum">
              <a:rPr lang="zh-CN" altLang="en-US" smtClean="0"/>
              <a:pPr eaLnBrk="1" hangingPunct="1"/>
              <a:t>44</a:t>
            </a:fld>
            <a:endParaRPr lang="en-US" altLang="zh-CN" smtClean="0"/>
          </a:p>
        </p:txBody>
      </p:sp>
      <p:sp>
        <p:nvSpPr>
          <p:cNvPr id="242995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2001"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退避算法的使用情况 </a:t>
            </a:r>
          </a:p>
        </p:txBody>
      </p:sp>
      <p:sp>
        <p:nvSpPr>
          <p:cNvPr id="332809" name="Rectangle 9"/>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仅在下面的情况下才不使用退避算法：</a:t>
            </a:r>
            <a:endParaRPr lang="en-US" altLang="zh-CN" smtClean="0">
              <a:ea typeface="黑体" panose="02010609060101010101" pitchFamily="49" charset="-122"/>
            </a:endParaRPr>
          </a:p>
          <a:p>
            <a:pPr lvl="1"/>
            <a:r>
              <a:rPr lang="zh-CN" altLang="en-US" smtClean="0">
                <a:ea typeface="黑体" panose="02010609060101010101" pitchFamily="49" charset="-122"/>
              </a:rPr>
              <a:t>检测到信道是空闲的，并且这个数据帧是要发送的第一个数据帧。</a:t>
            </a:r>
          </a:p>
          <a:p>
            <a:r>
              <a:rPr lang="zh-CN" altLang="en-US" smtClean="0">
                <a:ea typeface="黑体" panose="02010609060101010101" pitchFamily="49" charset="-122"/>
              </a:rPr>
              <a:t>除此以外的所有情况，都必须使用退避算法：</a:t>
            </a:r>
          </a:p>
          <a:p>
            <a:pPr lvl="1"/>
            <a:r>
              <a:rPr lang="zh-CN" altLang="en-US" smtClean="0">
                <a:ea typeface="黑体" panose="02010609060101010101" pitchFamily="49" charset="-122"/>
              </a:rPr>
              <a:t>在发送第一个帧之前检测到信道处于忙态。</a:t>
            </a:r>
          </a:p>
          <a:p>
            <a:pPr lvl="1"/>
            <a:r>
              <a:rPr lang="zh-CN" altLang="en-US" smtClean="0">
                <a:ea typeface="黑体" panose="02010609060101010101" pitchFamily="49" charset="-122"/>
              </a:rPr>
              <a:t>在每一次的重传后。</a:t>
            </a:r>
          </a:p>
          <a:p>
            <a:pPr lvl="1"/>
            <a:r>
              <a:rPr lang="zh-CN" altLang="en-US" smtClean="0">
                <a:ea typeface="黑体" panose="02010609060101010101" pitchFamily="49" charset="-122"/>
              </a:rPr>
              <a:t>在每一次的成功发送后。  </a:t>
            </a:r>
          </a:p>
        </p:txBody>
      </p:sp>
      <p:sp>
        <p:nvSpPr>
          <p:cNvPr id="24320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D6E739-4223-46FA-AE15-F4E63889B9DE}" type="slidenum">
              <a:rPr lang="zh-CN" altLang="en-US" smtClean="0"/>
              <a:pPr eaLnBrk="1" hangingPunct="1"/>
              <a:t>45</a:t>
            </a:fld>
            <a:endParaRPr lang="en-US" altLang="zh-CN" smtClean="0"/>
          </a:p>
        </p:txBody>
      </p:sp>
      <p:sp>
        <p:nvSpPr>
          <p:cNvPr id="24320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2809">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2809">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2809">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280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3025"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CSMA/CA </a:t>
            </a:r>
            <a:r>
              <a:rPr lang="zh-CN" altLang="zh-CN" smtClean="0">
                <a:ea typeface="黑体" panose="02010609060101010101" pitchFamily="49" charset="-122"/>
              </a:rPr>
              <a:t>算法归纳</a:t>
            </a:r>
            <a:endParaRPr lang="zh-CN" altLang="en-US" smtClean="0">
              <a:ea typeface="黑体" panose="02010609060101010101" pitchFamily="49" charset="-122"/>
            </a:endParaRPr>
          </a:p>
        </p:txBody>
      </p:sp>
      <p:sp>
        <p:nvSpPr>
          <p:cNvPr id="2433026" name="内容占位符 2"/>
          <p:cNvSpPr>
            <a:spLocks noGrp="1" noChangeArrowheads="1"/>
          </p:cNvSpPr>
          <p:nvPr>
            <p:ph idx="1"/>
          </p:nvPr>
        </p:nvSpPr>
        <p:spPr>
          <a:xfrm>
            <a:off x="495300" y="1196975"/>
            <a:ext cx="9066213" cy="4933950"/>
          </a:xfrm>
        </p:spPr>
        <p:txBody>
          <a:bodyPr/>
          <a:lstStyle/>
          <a:p>
            <a:r>
              <a:rPr lang="en-US" altLang="zh-CN" sz="2300" smtClean="0">
                <a:ea typeface="黑体" panose="02010609060101010101" pitchFamily="49" charset="-122"/>
              </a:rPr>
              <a:t>(1) </a:t>
            </a:r>
            <a:r>
              <a:rPr lang="zh-CN" altLang="zh-CN" sz="2300" smtClean="0">
                <a:ea typeface="黑体" panose="02010609060101010101" pitchFamily="49" charset="-122"/>
              </a:rPr>
              <a:t>若站点最初有数据要发送（而不是发送不成功再进行重传），且检测到信道空闲，在等待时间</a:t>
            </a:r>
            <a:r>
              <a:rPr lang="en-US" altLang="zh-CN" sz="2300" smtClean="0">
                <a:ea typeface="黑体" panose="02010609060101010101" pitchFamily="49" charset="-122"/>
              </a:rPr>
              <a:t> DIFS </a:t>
            </a:r>
            <a:r>
              <a:rPr lang="zh-CN" altLang="zh-CN" sz="2300" smtClean="0">
                <a:ea typeface="黑体" panose="02010609060101010101" pitchFamily="49" charset="-122"/>
              </a:rPr>
              <a:t>后，就发送整个数据帧。</a:t>
            </a:r>
          </a:p>
          <a:p>
            <a:r>
              <a:rPr lang="en-US" altLang="zh-CN" sz="2300" smtClean="0">
                <a:ea typeface="黑体" panose="02010609060101010101" pitchFamily="49" charset="-122"/>
              </a:rPr>
              <a:t>(2) </a:t>
            </a:r>
            <a:r>
              <a:rPr lang="zh-CN" altLang="zh-CN" sz="2300" smtClean="0">
                <a:ea typeface="黑体" panose="02010609060101010101" pitchFamily="49" charset="-122"/>
              </a:rPr>
              <a:t>否则，站点执行</a:t>
            </a:r>
            <a:r>
              <a:rPr lang="en-US" altLang="zh-CN" sz="2300" smtClean="0">
                <a:ea typeface="黑体" panose="02010609060101010101" pitchFamily="49" charset="-122"/>
              </a:rPr>
              <a:t> CSMA/CA </a:t>
            </a:r>
            <a:r>
              <a:rPr lang="zh-CN" altLang="zh-CN" sz="2300" smtClean="0">
                <a:ea typeface="黑体" panose="02010609060101010101" pitchFamily="49" charset="-122"/>
              </a:rPr>
              <a:t>协议的退避算法。一旦检测到信道忙，就冻结退避计时器。只要信道空闲，退避计时器就进行倒计时。</a:t>
            </a:r>
          </a:p>
          <a:p>
            <a:r>
              <a:rPr lang="en-US" altLang="zh-CN" sz="2300" smtClean="0">
                <a:ea typeface="黑体" panose="02010609060101010101" pitchFamily="49" charset="-122"/>
              </a:rPr>
              <a:t>(3) </a:t>
            </a:r>
            <a:r>
              <a:rPr lang="zh-CN" altLang="zh-CN" sz="2300" smtClean="0">
                <a:ea typeface="黑体" panose="02010609060101010101" pitchFamily="49" charset="-122"/>
              </a:rPr>
              <a:t>当退避计时器时间减少到零时（这时信道只可能是空闲的），站点就发送整个的帧并等待确认。</a:t>
            </a:r>
          </a:p>
          <a:p>
            <a:r>
              <a:rPr lang="en-US" altLang="zh-CN" sz="2300" smtClean="0">
                <a:ea typeface="黑体" panose="02010609060101010101" pitchFamily="49" charset="-122"/>
              </a:rPr>
              <a:t>(4) </a:t>
            </a:r>
            <a:r>
              <a:rPr lang="zh-CN" altLang="zh-CN" sz="2300" smtClean="0">
                <a:ea typeface="黑体" panose="02010609060101010101" pitchFamily="49" charset="-122"/>
              </a:rPr>
              <a:t>发送站若收到确认，就知道已发送的帧被目的站正确收到了。这时如果要发送第二帧，就要从上面的步骤</a:t>
            </a:r>
            <a:r>
              <a:rPr lang="en-US" altLang="zh-CN" sz="2300" smtClean="0">
                <a:ea typeface="黑体" panose="02010609060101010101" pitchFamily="49" charset="-122"/>
              </a:rPr>
              <a:t> (2) </a:t>
            </a:r>
            <a:r>
              <a:rPr lang="zh-CN" altLang="zh-CN" sz="2300" smtClean="0">
                <a:ea typeface="黑体" panose="02010609060101010101" pitchFamily="49" charset="-122"/>
              </a:rPr>
              <a:t>开始，执行</a:t>
            </a:r>
            <a:r>
              <a:rPr lang="en-US" altLang="zh-CN" sz="2300" smtClean="0">
                <a:ea typeface="黑体" panose="02010609060101010101" pitchFamily="49" charset="-122"/>
              </a:rPr>
              <a:t> CSMA/CA </a:t>
            </a:r>
            <a:r>
              <a:rPr lang="zh-CN" altLang="zh-CN" sz="2300" smtClean="0">
                <a:ea typeface="黑体" panose="02010609060101010101" pitchFamily="49" charset="-122"/>
              </a:rPr>
              <a:t>协议的退避算法，随机选定一段退避时间。若源站在规定时间内没有收到确认帧</a:t>
            </a:r>
            <a:r>
              <a:rPr lang="en-US" altLang="zh-CN" sz="2300" smtClean="0">
                <a:ea typeface="黑体" panose="02010609060101010101" pitchFamily="49" charset="-122"/>
              </a:rPr>
              <a:t> ACK</a:t>
            </a:r>
            <a:r>
              <a:rPr lang="zh-CN" altLang="zh-CN" sz="2300" smtClean="0">
                <a:ea typeface="黑体" panose="02010609060101010101" pitchFamily="49" charset="-122"/>
              </a:rPr>
              <a:t>（由重传计时器控制这段时间），就必须重传此帧（再次使用</a:t>
            </a:r>
            <a:r>
              <a:rPr lang="en-US" altLang="zh-CN" sz="2300" smtClean="0">
                <a:ea typeface="黑体" panose="02010609060101010101" pitchFamily="49" charset="-122"/>
              </a:rPr>
              <a:t> CSMA/CA </a:t>
            </a:r>
            <a:r>
              <a:rPr lang="zh-CN" altLang="zh-CN" sz="2300" smtClean="0">
                <a:ea typeface="黑体" panose="02010609060101010101" pitchFamily="49" charset="-122"/>
              </a:rPr>
              <a:t>协议争用接入信道），直到收到确认为止，或者经过若干次的重传失败后放弃发送。</a:t>
            </a:r>
            <a:endParaRPr lang="zh-CN" altLang="en-US" sz="2300" smtClean="0">
              <a:ea typeface="黑体" panose="02010609060101010101" pitchFamily="49" charset="-122"/>
            </a:endParaRPr>
          </a:p>
        </p:txBody>
      </p:sp>
      <p:sp>
        <p:nvSpPr>
          <p:cNvPr id="243302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96B5AF-0265-4ECE-A557-6CB812EC5AEE}" type="slidenum">
              <a:rPr lang="zh-CN" altLang="en-US" smtClean="0"/>
              <a:pPr eaLnBrk="1" hangingPunct="1"/>
              <a:t>46</a:t>
            </a:fld>
            <a:endParaRPr lang="en-US" altLang="zh-CN" smtClean="0"/>
          </a:p>
        </p:txBody>
      </p:sp>
      <p:sp>
        <p:nvSpPr>
          <p:cNvPr id="243302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5073" name="Rectangle 6"/>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对信道进行预约 </a:t>
            </a:r>
          </a:p>
        </p:txBody>
      </p:sp>
      <p:sp>
        <p:nvSpPr>
          <p:cNvPr id="2435074" name="内容占位符 1"/>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为了更好地解决隐蔽站带来的碰撞问题，</a:t>
            </a:r>
            <a:r>
              <a:rPr lang="en-US" altLang="zh-CN" dirty="0" smtClean="0">
                <a:ea typeface="黑体" panose="02010609060101010101" pitchFamily="49" charset="-122"/>
              </a:rPr>
              <a:t>802.11 </a:t>
            </a:r>
            <a:r>
              <a:rPr lang="zh-CN" altLang="zh-CN" dirty="0" smtClean="0">
                <a:ea typeface="黑体" panose="02010609060101010101" pitchFamily="49" charset="-122"/>
              </a:rPr>
              <a:t>允许要发送数据的站对信道进行预约。</a:t>
            </a:r>
            <a:endParaRPr lang="zh-CN" altLang="en-US" dirty="0" smtClean="0">
              <a:ea typeface="黑体" panose="02010609060101010101" pitchFamily="49" charset="-122"/>
            </a:endParaRPr>
          </a:p>
        </p:txBody>
      </p:sp>
      <p:grpSp>
        <p:nvGrpSpPr>
          <p:cNvPr id="2435075" name="组合 4"/>
          <p:cNvGrpSpPr>
            <a:grpSpLocks/>
          </p:cNvGrpSpPr>
          <p:nvPr/>
        </p:nvGrpSpPr>
        <p:grpSpPr bwMode="auto">
          <a:xfrm>
            <a:off x="603250" y="4462463"/>
            <a:ext cx="8926513" cy="879475"/>
            <a:chOff x="603839" y="4461795"/>
            <a:chExt cx="8926323" cy="879484"/>
          </a:xfrm>
        </p:grpSpPr>
        <p:sp>
          <p:nvSpPr>
            <p:cNvPr id="2435076" name="Text Box 96"/>
            <p:cNvSpPr txBox="1">
              <a:spLocks noChangeArrowheads="1"/>
            </p:cNvSpPr>
            <p:nvPr/>
          </p:nvSpPr>
          <p:spPr bwMode="auto">
            <a:xfrm>
              <a:off x="9260536" y="4461795"/>
              <a:ext cx="269626"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i="1">
                  <a:solidFill>
                    <a:srgbClr val="000099"/>
                  </a:solidFill>
                  <a:ea typeface="宋体" panose="02010600030101010101" pitchFamily="2" charset="-122"/>
                </a:rPr>
                <a:t>t</a:t>
              </a:r>
            </a:p>
          </p:txBody>
        </p:sp>
        <p:sp>
          <p:nvSpPr>
            <p:cNvPr id="2435077" name="Line 95"/>
            <p:cNvSpPr>
              <a:spLocks noChangeShapeType="1"/>
            </p:cNvSpPr>
            <p:nvPr/>
          </p:nvSpPr>
          <p:spPr bwMode="auto">
            <a:xfrm>
              <a:off x="846873" y="4901232"/>
              <a:ext cx="8505836" cy="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078" name="矩形 83"/>
            <p:cNvSpPr>
              <a:spLocks noChangeArrowheads="1"/>
            </p:cNvSpPr>
            <p:nvPr/>
          </p:nvSpPr>
          <p:spPr bwMode="auto">
            <a:xfrm>
              <a:off x="2719553" y="4478071"/>
              <a:ext cx="6168096" cy="423161"/>
            </a:xfrm>
            <a:prstGeom prst="rect">
              <a:avLst/>
            </a:prstGeom>
            <a:solidFill>
              <a:srgbClr val="66CCFF"/>
            </a:solidFill>
            <a:ln w="9525">
              <a:solidFill>
                <a:schemeClr val="tx1"/>
              </a:solidFill>
              <a:round/>
              <a:headEnd/>
              <a:tailEnd/>
            </a:ln>
          </p:spPr>
          <p:txBody>
            <a:bodyPr/>
            <a:lstStyle/>
            <a:p>
              <a:pPr eaLnBrk="0" hangingPunct="0"/>
              <a:endParaRPr lang="zh-CN" altLang="en-US" sz="2000" b="1">
                <a:solidFill>
                  <a:srgbClr val="000099"/>
                </a:solidFill>
                <a:ea typeface="宋体" panose="02010600030101010101" pitchFamily="2" charset="-122"/>
              </a:endParaRPr>
            </a:p>
          </p:txBody>
        </p:sp>
        <p:sp>
          <p:nvSpPr>
            <p:cNvPr id="2435079" name="矩形 85"/>
            <p:cNvSpPr>
              <a:spLocks noChangeArrowheads="1"/>
            </p:cNvSpPr>
            <p:nvPr/>
          </p:nvSpPr>
          <p:spPr bwMode="auto">
            <a:xfrm>
              <a:off x="4027749" y="4901231"/>
              <a:ext cx="4859900" cy="420835"/>
            </a:xfrm>
            <a:prstGeom prst="rect">
              <a:avLst/>
            </a:prstGeom>
            <a:solidFill>
              <a:srgbClr val="66CCFF"/>
            </a:solidFill>
            <a:ln w="9525">
              <a:solidFill>
                <a:schemeClr val="tx1"/>
              </a:solidFill>
              <a:round/>
              <a:headEnd/>
              <a:tailEnd/>
            </a:ln>
          </p:spPr>
          <p:txBody>
            <a:bodyPr/>
            <a:lstStyle/>
            <a:p>
              <a:pPr eaLnBrk="0" hangingPunct="0"/>
              <a:endParaRPr lang="zh-CN" altLang="en-US" sz="2000" b="1">
                <a:solidFill>
                  <a:srgbClr val="000099"/>
                </a:solidFill>
                <a:ea typeface="宋体" panose="02010600030101010101" pitchFamily="2" charset="-122"/>
              </a:endParaRPr>
            </a:p>
          </p:txBody>
        </p:sp>
        <p:sp>
          <p:nvSpPr>
            <p:cNvPr id="2435080" name="Text Box 94"/>
            <p:cNvSpPr txBox="1">
              <a:spLocks noChangeArrowheads="1"/>
            </p:cNvSpPr>
            <p:nvPr/>
          </p:nvSpPr>
          <p:spPr bwMode="auto">
            <a:xfrm>
              <a:off x="3467387" y="4469049"/>
              <a:ext cx="4577659"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2000" b="1">
                  <a:solidFill>
                    <a:srgbClr val="000099"/>
                  </a:solidFill>
                  <a:ea typeface="宋体" panose="02010600030101010101" pitchFamily="2" charset="-122"/>
                </a:rPr>
                <a:t>A </a:t>
              </a:r>
              <a:r>
                <a:rPr lang="zh-CN" altLang="en-US" sz="2000" b="1">
                  <a:solidFill>
                    <a:srgbClr val="000099"/>
                  </a:solidFill>
                  <a:ea typeface="宋体" panose="02010600030101010101" pitchFamily="2" charset="-122"/>
                </a:rPr>
                <a:t>在 </a:t>
              </a:r>
              <a:r>
                <a:rPr lang="en-US" altLang="zh-CN" sz="2000" b="1">
                  <a:solidFill>
                    <a:srgbClr val="000099"/>
                  </a:solidFill>
                  <a:ea typeface="宋体" panose="02010600030101010101" pitchFamily="2" charset="-122"/>
                </a:rPr>
                <a:t>RTS </a:t>
              </a:r>
              <a:r>
                <a:rPr lang="zh-CN" altLang="en-US" sz="2000" b="1">
                  <a:solidFill>
                    <a:srgbClr val="000099"/>
                  </a:solidFill>
                  <a:ea typeface="宋体" panose="02010600030101010101" pitchFamily="2" charset="-122"/>
                </a:rPr>
                <a:t>帧中填写的所需的持续时间</a:t>
              </a:r>
            </a:p>
          </p:txBody>
        </p:sp>
        <p:sp>
          <p:nvSpPr>
            <p:cNvPr id="2435081" name="Text Box 94"/>
            <p:cNvSpPr txBox="1">
              <a:spLocks noChangeArrowheads="1"/>
            </p:cNvSpPr>
            <p:nvPr/>
          </p:nvSpPr>
          <p:spPr bwMode="auto">
            <a:xfrm>
              <a:off x="4176080" y="4901097"/>
              <a:ext cx="4579719"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2000" b="1">
                  <a:solidFill>
                    <a:srgbClr val="000099"/>
                  </a:solidFill>
                  <a:ea typeface="宋体" panose="02010600030101010101" pitchFamily="2" charset="-122"/>
                </a:rPr>
                <a:t>B </a:t>
              </a:r>
              <a:r>
                <a:rPr lang="zh-CN" altLang="en-US" sz="2000" b="1">
                  <a:solidFill>
                    <a:srgbClr val="000099"/>
                  </a:solidFill>
                  <a:ea typeface="宋体" panose="02010600030101010101" pitchFamily="2" charset="-122"/>
                </a:rPr>
                <a:t>在 </a:t>
              </a:r>
              <a:r>
                <a:rPr lang="en-US" altLang="zh-CN" sz="2000" b="1">
                  <a:solidFill>
                    <a:srgbClr val="000099"/>
                  </a:solidFill>
                  <a:ea typeface="宋体" panose="02010600030101010101" pitchFamily="2" charset="-122"/>
                </a:rPr>
                <a:t>CTS </a:t>
              </a:r>
              <a:r>
                <a:rPr lang="zh-CN" altLang="en-US" sz="2000" b="1">
                  <a:solidFill>
                    <a:srgbClr val="000099"/>
                  </a:solidFill>
                  <a:ea typeface="宋体" panose="02010600030101010101" pitchFamily="2" charset="-122"/>
                </a:rPr>
                <a:t>帧中填写的所需的持续时间</a:t>
              </a:r>
            </a:p>
          </p:txBody>
        </p:sp>
        <p:sp>
          <p:nvSpPr>
            <p:cNvPr id="2435082" name="Text Box 94"/>
            <p:cNvSpPr txBox="1">
              <a:spLocks noChangeArrowheads="1"/>
            </p:cNvSpPr>
            <p:nvPr/>
          </p:nvSpPr>
          <p:spPr bwMode="auto">
            <a:xfrm>
              <a:off x="608582" y="4469049"/>
              <a:ext cx="1214116"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b="1">
                  <a:solidFill>
                    <a:srgbClr val="000099"/>
                  </a:solidFill>
                  <a:ea typeface="宋体" panose="02010600030101010101" pitchFamily="2" charset="-122"/>
                </a:rPr>
                <a:t>A </a:t>
              </a:r>
              <a:r>
                <a:rPr lang="zh-CN" altLang="en-US" sz="2000" b="1">
                  <a:solidFill>
                    <a:srgbClr val="000099"/>
                  </a:solidFill>
                  <a:ea typeface="宋体" panose="02010600030101010101" pitchFamily="2" charset="-122"/>
                </a:rPr>
                <a:t>的</a:t>
              </a:r>
              <a:r>
                <a:rPr lang="en-US" altLang="zh-CN" sz="2000" b="1">
                  <a:solidFill>
                    <a:srgbClr val="000099"/>
                  </a:solidFill>
                  <a:ea typeface="宋体" panose="02010600030101010101" pitchFamily="2" charset="-122"/>
                </a:rPr>
                <a:t>NAV</a:t>
              </a:r>
              <a:endParaRPr lang="zh-CN" altLang="en-US" sz="2000" b="1">
                <a:solidFill>
                  <a:srgbClr val="000099"/>
                </a:solidFill>
                <a:ea typeface="宋体" panose="02010600030101010101" pitchFamily="2" charset="-122"/>
              </a:endParaRPr>
            </a:p>
          </p:txBody>
        </p:sp>
        <p:sp>
          <p:nvSpPr>
            <p:cNvPr id="2435083" name="Text Box 94"/>
            <p:cNvSpPr txBox="1">
              <a:spLocks noChangeArrowheads="1"/>
            </p:cNvSpPr>
            <p:nvPr/>
          </p:nvSpPr>
          <p:spPr bwMode="auto">
            <a:xfrm>
              <a:off x="603839" y="4941168"/>
              <a:ext cx="1223605"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b="1">
                  <a:solidFill>
                    <a:srgbClr val="000099"/>
                  </a:solidFill>
                  <a:ea typeface="宋体" panose="02010600030101010101" pitchFamily="2" charset="-122"/>
                </a:rPr>
                <a:t>B </a:t>
              </a:r>
              <a:r>
                <a:rPr lang="zh-CN" altLang="en-US" sz="2000" b="1">
                  <a:solidFill>
                    <a:srgbClr val="000099"/>
                  </a:solidFill>
                  <a:ea typeface="宋体" panose="02010600030101010101" pitchFamily="2" charset="-122"/>
                </a:rPr>
                <a:t>的</a:t>
              </a:r>
              <a:r>
                <a:rPr lang="en-US" altLang="zh-CN" sz="2000" b="1">
                  <a:solidFill>
                    <a:srgbClr val="000099"/>
                  </a:solidFill>
                  <a:ea typeface="宋体" panose="02010600030101010101" pitchFamily="2" charset="-122"/>
                </a:rPr>
                <a:t>NAV</a:t>
              </a:r>
              <a:endParaRPr lang="zh-CN" altLang="en-US" sz="2000" b="1">
                <a:solidFill>
                  <a:srgbClr val="000099"/>
                </a:solidFill>
                <a:ea typeface="宋体" panose="02010600030101010101" pitchFamily="2" charset="-122"/>
              </a:endParaRPr>
            </a:p>
          </p:txBody>
        </p:sp>
      </p:grpSp>
      <p:grpSp>
        <p:nvGrpSpPr>
          <p:cNvPr id="2435084" name="组合 3"/>
          <p:cNvGrpSpPr>
            <a:grpSpLocks/>
          </p:cNvGrpSpPr>
          <p:nvPr/>
        </p:nvGrpSpPr>
        <p:grpSpPr bwMode="auto">
          <a:xfrm>
            <a:off x="592138" y="2924175"/>
            <a:ext cx="8937625" cy="1554163"/>
            <a:chOff x="591521" y="2924944"/>
            <a:chExt cx="8938641" cy="1553128"/>
          </a:xfrm>
        </p:grpSpPr>
        <p:sp>
          <p:nvSpPr>
            <p:cNvPr id="2435085" name="Text Box 3"/>
            <p:cNvSpPr txBox="1">
              <a:spLocks noChangeArrowheads="1"/>
            </p:cNvSpPr>
            <p:nvPr/>
          </p:nvSpPr>
          <p:spPr bwMode="auto">
            <a:xfrm>
              <a:off x="9260536" y="3103974"/>
              <a:ext cx="269626"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i="1">
                  <a:solidFill>
                    <a:srgbClr val="000099"/>
                  </a:solidFill>
                  <a:ea typeface="宋体" panose="02010600030101010101" pitchFamily="2" charset="-122"/>
                </a:rPr>
                <a:t>t</a:t>
              </a:r>
            </a:p>
          </p:txBody>
        </p:sp>
        <p:sp>
          <p:nvSpPr>
            <p:cNvPr id="2435086" name="Text Box 9"/>
            <p:cNvSpPr txBox="1">
              <a:spLocks noChangeArrowheads="1"/>
            </p:cNvSpPr>
            <p:nvPr/>
          </p:nvSpPr>
          <p:spPr bwMode="auto">
            <a:xfrm>
              <a:off x="1131175" y="2999346"/>
              <a:ext cx="769762"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DIFS</a:t>
              </a:r>
            </a:p>
          </p:txBody>
        </p:sp>
        <p:sp>
          <p:nvSpPr>
            <p:cNvPr id="2435087" name="Line 12"/>
            <p:cNvSpPr>
              <a:spLocks noChangeShapeType="1"/>
            </p:cNvSpPr>
            <p:nvPr/>
          </p:nvSpPr>
          <p:spPr bwMode="auto">
            <a:xfrm>
              <a:off x="943701" y="3420182"/>
              <a:ext cx="1028015"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088" name="Text Box 24"/>
            <p:cNvSpPr txBox="1">
              <a:spLocks noChangeArrowheads="1"/>
            </p:cNvSpPr>
            <p:nvPr/>
          </p:nvSpPr>
          <p:spPr bwMode="auto">
            <a:xfrm>
              <a:off x="2719553" y="2962145"/>
              <a:ext cx="840542"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00099"/>
                  </a:solidFill>
                  <a:ea typeface="宋体" panose="02010600030101010101" pitchFamily="2" charset="-122"/>
                </a:rPr>
                <a:t>SIFS</a:t>
              </a:r>
            </a:p>
          </p:txBody>
        </p:sp>
        <p:sp>
          <p:nvSpPr>
            <p:cNvPr id="2435089" name="Text Box 94"/>
            <p:cNvSpPr txBox="1">
              <a:spLocks noChangeArrowheads="1"/>
            </p:cNvSpPr>
            <p:nvPr/>
          </p:nvSpPr>
          <p:spPr bwMode="auto">
            <a:xfrm>
              <a:off x="591521" y="2999346"/>
              <a:ext cx="370615"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b="1">
                  <a:solidFill>
                    <a:srgbClr val="000099"/>
                  </a:solidFill>
                  <a:ea typeface="宋体" panose="02010600030101010101" pitchFamily="2" charset="-122"/>
                </a:rPr>
                <a:t>A</a:t>
              </a:r>
              <a:endParaRPr lang="zh-CN" altLang="en-US" sz="2000" b="1">
                <a:solidFill>
                  <a:srgbClr val="000099"/>
                </a:solidFill>
                <a:ea typeface="宋体" panose="02010600030101010101" pitchFamily="2" charset="-122"/>
              </a:endParaRPr>
            </a:p>
          </p:txBody>
        </p:sp>
        <p:sp>
          <p:nvSpPr>
            <p:cNvPr id="2435090" name="Line 130"/>
            <p:cNvSpPr>
              <a:spLocks noChangeShapeType="1"/>
            </p:cNvSpPr>
            <p:nvPr/>
          </p:nvSpPr>
          <p:spPr bwMode="auto">
            <a:xfrm>
              <a:off x="8887649" y="3636400"/>
              <a:ext cx="0" cy="84167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091" name="Line 2"/>
            <p:cNvSpPr>
              <a:spLocks noChangeShapeType="1"/>
            </p:cNvSpPr>
            <p:nvPr/>
          </p:nvSpPr>
          <p:spPr bwMode="auto">
            <a:xfrm>
              <a:off x="849466" y="3524890"/>
              <a:ext cx="8505836" cy="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092" name="Line 141"/>
            <p:cNvSpPr>
              <a:spLocks noChangeShapeType="1"/>
            </p:cNvSpPr>
            <p:nvPr/>
          </p:nvSpPr>
          <p:spPr bwMode="auto">
            <a:xfrm>
              <a:off x="8232520" y="3283003"/>
              <a:ext cx="0" cy="2441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093" name="Text Box 143"/>
            <p:cNvSpPr txBox="1">
              <a:spLocks noChangeArrowheads="1"/>
            </p:cNvSpPr>
            <p:nvPr/>
          </p:nvSpPr>
          <p:spPr bwMode="auto">
            <a:xfrm>
              <a:off x="7511467" y="2924944"/>
              <a:ext cx="755336"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SIFS</a:t>
              </a:r>
            </a:p>
          </p:txBody>
        </p:sp>
        <p:sp>
          <p:nvSpPr>
            <p:cNvPr id="2435094" name="Text Box 148"/>
            <p:cNvSpPr txBox="1">
              <a:spLocks noChangeArrowheads="1"/>
            </p:cNvSpPr>
            <p:nvPr/>
          </p:nvSpPr>
          <p:spPr bwMode="auto">
            <a:xfrm>
              <a:off x="3970064" y="2966795"/>
              <a:ext cx="755336"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SIFS</a:t>
              </a:r>
            </a:p>
          </p:txBody>
        </p:sp>
        <p:sp>
          <p:nvSpPr>
            <p:cNvPr id="2435095" name="Text Box 94"/>
            <p:cNvSpPr txBox="1">
              <a:spLocks noChangeArrowheads="1"/>
            </p:cNvSpPr>
            <p:nvPr/>
          </p:nvSpPr>
          <p:spPr bwMode="auto">
            <a:xfrm>
              <a:off x="593582" y="3567696"/>
              <a:ext cx="370615"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b="1">
                  <a:solidFill>
                    <a:srgbClr val="000099"/>
                  </a:solidFill>
                  <a:ea typeface="宋体" panose="02010600030101010101" pitchFamily="2" charset="-122"/>
                </a:rPr>
                <a:t>B</a:t>
              </a:r>
              <a:endParaRPr lang="zh-CN" altLang="en-US" sz="2000" b="1">
                <a:solidFill>
                  <a:srgbClr val="000099"/>
                </a:solidFill>
                <a:ea typeface="宋体" panose="02010600030101010101" pitchFamily="2" charset="-122"/>
              </a:endParaRPr>
            </a:p>
          </p:txBody>
        </p:sp>
        <p:sp>
          <p:nvSpPr>
            <p:cNvPr id="2435096" name="矩形 70"/>
            <p:cNvSpPr>
              <a:spLocks noChangeArrowheads="1"/>
            </p:cNvSpPr>
            <p:nvPr/>
          </p:nvSpPr>
          <p:spPr bwMode="auto">
            <a:xfrm>
              <a:off x="1971717" y="3103974"/>
              <a:ext cx="747836" cy="423161"/>
            </a:xfrm>
            <a:prstGeom prst="rect">
              <a:avLst/>
            </a:prstGeom>
            <a:solidFill>
              <a:srgbClr val="FFFF66"/>
            </a:solidFill>
            <a:ln w="9525">
              <a:solidFill>
                <a:schemeClr val="tx1"/>
              </a:solidFill>
              <a:round/>
              <a:headEnd/>
              <a:tailEnd/>
            </a:ln>
          </p:spPr>
          <p:txBody>
            <a:bodyPr/>
            <a:lstStyle/>
            <a:p>
              <a:pPr eaLnBrk="0" hangingPunct="0"/>
              <a:endParaRPr lang="zh-CN" altLang="en-US" sz="2000" b="1">
                <a:solidFill>
                  <a:srgbClr val="000099"/>
                </a:solidFill>
                <a:ea typeface="宋体" panose="02010600030101010101" pitchFamily="2" charset="-122"/>
              </a:endParaRPr>
            </a:p>
          </p:txBody>
        </p:sp>
        <p:sp>
          <p:nvSpPr>
            <p:cNvPr id="2435097" name="Text Box 23"/>
            <p:cNvSpPr txBox="1">
              <a:spLocks noChangeArrowheads="1"/>
            </p:cNvSpPr>
            <p:nvPr/>
          </p:nvSpPr>
          <p:spPr bwMode="auto">
            <a:xfrm>
              <a:off x="2000672" y="3140968"/>
              <a:ext cx="721053"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00099"/>
                  </a:solidFill>
                  <a:ea typeface="宋体" panose="02010600030101010101" pitchFamily="2" charset="-122"/>
                </a:rPr>
                <a:t>RTS</a:t>
              </a:r>
            </a:p>
          </p:txBody>
        </p:sp>
        <p:sp>
          <p:nvSpPr>
            <p:cNvPr id="2435098" name="Line 142"/>
            <p:cNvSpPr>
              <a:spLocks noChangeShapeType="1"/>
            </p:cNvSpPr>
            <p:nvPr/>
          </p:nvSpPr>
          <p:spPr bwMode="auto">
            <a:xfrm>
              <a:off x="3374681" y="3283003"/>
              <a:ext cx="0" cy="2441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099" name="矩形 73"/>
            <p:cNvSpPr>
              <a:spLocks noChangeArrowheads="1"/>
            </p:cNvSpPr>
            <p:nvPr/>
          </p:nvSpPr>
          <p:spPr bwMode="auto">
            <a:xfrm>
              <a:off x="3374681" y="3527135"/>
              <a:ext cx="653068" cy="420835"/>
            </a:xfrm>
            <a:prstGeom prst="rect">
              <a:avLst/>
            </a:prstGeom>
            <a:solidFill>
              <a:srgbClr val="FF66FF"/>
            </a:solidFill>
            <a:ln w="9525">
              <a:solidFill>
                <a:schemeClr val="tx1"/>
              </a:solidFill>
              <a:round/>
              <a:headEnd/>
              <a:tailEnd/>
            </a:ln>
          </p:spPr>
          <p:txBody>
            <a:bodyPr/>
            <a:lstStyle/>
            <a:p>
              <a:pPr eaLnBrk="0" hangingPunct="0"/>
              <a:endParaRPr lang="zh-CN" altLang="en-US" sz="2000" b="1">
                <a:solidFill>
                  <a:srgbClr val="000099"/>
                </a:solidFill>
                <a:ea typeface="宋体" panose="02010600030101010101" pitchFamily="2" charset="-122"/>
              </a:endParaRPr>
            </a:p>
          </p:txBody>
        </p:sp>
        <p:sp>
          <p:nvSpPr>
            <p:cNvPr id="2435100" name="Text Box 113"/>
            <p:cNvSpPr txBox="1">
              <a:spLocks noChangeArrowheads="1"/>
            </p:cNvSpPr>
            <p:nvPr/>
          </p:nvSpPr>
          <p:spPr bwMode="auto">
            <a:xfrm>
              <a:off x="3306695" y="3532945"/>
              <a:ext cx="699231"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CTS</a:t>
              </a:r>
            </a:p>
          </p:txBody>
        </p:sp>
        <p:sp>
          <p:nvSpPr>
            <p:cNvPr id="2435101" name="Line 142"/>
            <p:cNvSpPr>
              <a:spLocks noChangeShapeType="1"/>
            </p:cNvSpPr>
            <p:nvPr/>
          </p:nvSpPr>
          <p:spPr bwMode="auto">
            <a:xfrm>
              <a:off x="4027749" y="3315554"/>
              <a:ext cx="0" cy="2441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102" name="矩形 76"/>
            <p:cNvSpPr>
              <a:spLocks noChangeArrowheads="1"/>
            </p:cNvSpPr>
            <p:nvPr/>
          </p:nvSpPr>
          <p:spPr bwMode="auto">
            <a:xfrm>
              <a:off x="4682877" y="3103974"/>
              <a:ext cx="2896574" cy="423161"/>
            </a:xfrm>
            <a:prstGeom prst="rect">
              <a:avLst/>
            </a:prstGeom>
            <a:solidFill>
              <a:srgbClr val="66FF33"/>
            </a:solidFill>
            <a:ln w="9525">
              <a:solidFill>
                <a:schemeClr val="tx1"/>
              </a:solidFill>
              <a:round/>
              <a:headEnd/>
              <a:tailEnd/>
            </a:ln>
          </p:spPr>
          <p:txBody>
            <a:bodyPr/>
            <a:lstStyle/>
            <a:p>
              <a:pPr eaLnBrk="0" hangingPunct="0"/>
              <a:endParaRPr lang="zh-CN" altLang="en-US" sz="2000" b="1">
                <a:solidFill>
                  <a:srgbClr val="000099"/>
                </a:solidFill>
                <a:ea typeface="宋体" panose="02010600030101010101" pitchFamily="2" charset="-122"/>
              </a:endParaRPr>
            </a:p>
          </p:txBody>
        </p:sp>
        <p:sp>
          <p:nvSpPr>
            <p:cNvPr id="2435103" name="Text Box 123"/>
            <p:cNvSpPr txBox="1">
              <a:spLocks noChangeArrowheads="1"/>
            </p:cNvSpPr>
            <p:nvPr/>
          </p:nvSpPr>
          <p:spPr bwMode="auto">
            <a:xfrm>
              <a:off x="5313040" y="3100897"/>
              <a:ext cx="1523173"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数    据    帧</a:t>
              </a:r>
            </a:p>
          </p:txBody>
        </p:sp>
        <p:sp>
          <p:nvSpPr>
            <p:cNvPr id="2435104" name="Line 12"/>
            <p:cNvSpPr>
              <a:spLocks noChangeShapeType="1"/>
            </p:cNvSpPr>
            <p:nvPr/>
          </p:nvSpPr>
          <p:spPr bwMode="auto">
            <a:xfrm>
              <a:off x="2719553" y="3420182"/>
              <a:ext cx="655128"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105" name="Line 12"/>
            <p:cNvSpPr>
              <a:spLocks noChangeShapeType="1"/>
            </p:cNvSpPr>
            <p:nvPr/>
          </p:nvSpPr>
          <p:spPr bwMode="auto">
            <a:xfrm>
              <a:off x="4027749" y="3420182"/>
              <a:ext cx="655128"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106" name="Line 12"/>
            <p:cNvSpPr>
              <a:spLocks noChangeShapeType="1"/>
            </p:cNvSpPr>
            <p:nvPr/>
          </p:nvSpPr>
          <p:spPr bwMode="auto">
            <a:xfrm>
              <a:off x="7579451" y="3420182"/>
              <a:ext cx="653069"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107" name="矩形 81"/>
            <p:cNvSpPr>
              <a:spLocks noChangeArrowheads="1"/>
            </p:cNvSpPr>
            <p:nvPr/>
          </p:nvSpPr>
          <p:spPr bwMode="auto">
            <a:xfrm>
              <a:off x="8232520" y="3527135"/>
              <a:ext cx="655128" cy="420835"/>
            </a:xfrm>
            <a:prstGeom prst="rect">
              <a:avLst/>
            </a:prstGeom>
            <a:solidFill>
              <a:srgbClr val="FF9900"/>
            </a:solidFill>
            <a:ln w="9525">
              <a:solidFill>
                <a:schemeClr val="tx1"/>
              </a:solidFill>
              <a:round/>
              <a:headEnd/>
              <a:tailEnd/>
            </a:ln>
          </p:spPr>
          <p:txBody>
            <a:bodyPr/>
            <a:lstStyle/>
            <a:p>
              <a:pPr eaLnBrk="0" hangingPunct="0"/>
              <a:endParaRPr lang="zh-CN" altLang="en-US" sz="2000" b="1">
                <a:solidFill>
                  <a:srgbClr val="000099"/>
                </a:solidFill>
                <a:ea typeface="宋体" panose="02010600030101010101" pitchFamily="2" charset="-122"/>
              </a:endParaRPr>
            </a:p>
          </p:txBody>
        </p:sp>
        <p:sp>
          <p:nvSpPr>
            <p:cNvPr id="2435108" name="Text Box 100"/>
            <p:cNvSpPr txBox="1">
              <a:spLocks noChangeArrowheads="1"/>
            </p:cNvSpPr>
            <p:nvPr/>
          </p:nvSpPr>
          <p:spPr bwMode="auto">
            <a:xfrm>
              <a:off x="8182648" y="3532945"/>
              <a:ext cx="742511"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b="1">
                  <a:solidFill>
                    <a:srgbClr val="000099"/>
                  </a:solidFill>
                  <a:ea typeface="宋体" panose="02010600030101010101" pitchFamily="2" charset="-122"/>
                </a:rPr>
                <a:t>ACK</a:t>
              </a:r>
            </a:p>
          </p:txBody>
        </p:sp>
        <p:sp>
          <p:nvSpPr>
            <p:cNvPr id="2435109" name="Line 130"/>
            <p:cNvSpPr>
              <a:spLocks noChangeShapeType="1"/>
            </p:cNvSpPr>
            <p:nvPr/>
          </p:nvSpPr>
          <p:spPr bwMode="auto">
            <a:xfrm>
              <a:off x="2719553" y="3541080"/>
              <a:ext cx="0" cy="93699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110" name="Line 130"/>
            <p:cNvSpPr>
              <a:spLocks noChangeShapeType="1"/>
            </p:cNvSpPr>
            <p:nvPr/>
          </p:nvSpPr>
          <p:spPr bwMode="auto">
            <a:xfrm>
              <a:off x="4027749" y="3541080"/>
              <a:ext cx="0" cy="93699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grpSp>
      <p:sp>
        <p:nvSpPr>
          <p:cNvPr id="2435111"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DCC5B79-981B-477F-8BB1-22A700250073}" type="slidenum">
              <a:rPr lang="zh-CN" altLang="en-US" smtClean="0"/>
              <a:pPr eaLnBrk="1" hangingPunct="1"/>
              <a:t>47</a:t>
            </a:fld>
            <a:endParaRPr lang="en-US" altLang="zh-CN" smtClean="0"/>
          </a:p>
        </p:txBody>
      </p:sp>
      <p:sp>
        <p:nvSpPr>
          <p:cNvPr id="2435112"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21" name="Rectangle 6"/>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对信道进行预约 </a:t>
            </a:r>
          </a:p>
        </p:txBody>
      </p:sp>
      <p:sp>
        <p:nvSpPr>
          <p:cNvPr id="2437122" name="内容占位符 1"/>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使用</a:t>
            </a:r>
            <a:r>
              <a:rPr lang="en-US" altLang="zh-CN" smtClean="0">
                <a:ea typeface="黑体" panose="02010609060101010101" pitchFamily="49" charset="-122"/>
              </a:rPr>
              <a:t> RTS </a:t>
            </a:r>
            <a:r>
              <a:rPr lang="zh-CN" altLang="zh-CN" smtClean="0">
                <a:ea typeface="黑体" panose="02010609060101010101" pitchFamily="49" charset="-122"/>
              </a:rPr>
              <a:t>帧和</a:t>
            </a:r>
            <a:r>
              <a:rPr lang="en-US" altLang="zh-CN" smtClean="0">
                <a:ea typeface="黑体" panose="02010609060101010101" pitchFamily="49" charset="-122"/>
              </a:rPr>
              <a:t> CTS </a:t>
            </a:r>
            <a:r>
              <a:rPr lang="zh-CN" altLang="zh-CN" smtClean="0">
                <a:ea typeface="黑体" panose="02010609060101010101" pitchFamily="49" charset="-122"/>
              </a:rPr>
              <a:t>帧会使整个网络的通信效率有所下降。</a:t>
            </a:r>
            <a:r>
              <a:rPr lang="zh-CN" altLang="en-US" smtClean="0">
                <a:ea typeface="黑体" panose="02010609060101010101" pitchFamily="49" charset="-122"/>
              </a:rPr>
              <a:t>但</a:t>
            </a:r>
            <a:r>
              <a:rPr lang="zh-CN" altLang="zh-CN" smtClean="0">
                <a:ea typeface="黑体" panose="02010609060101010101" pitchFamily="49" charset="-122"/>
              </a:rPr>
              <a:t>与数据帧相比</a:t>
            </a:r>
            <a:r>
              <a:rPr lang="zh-CN" altLang="en-US" smtClean="0">
                <a:ea typeface="黑体" panose="02010609060101010101" pitchFamily="49" charset="-122"/>
              </a:rPr>
              <a:t>，</a:t>
            </a:r>
            <a:r>
              <a:rPr lang="zh-CN" altLang="zh-CN" smtClean="0">
                <a:ea typeface="黑体" panose="02010609060101010101" pitchFamily="49" charset="-122"/>
              </a:rPr>
              <a:t>开销不算大。</a:t>
            </a:r>
            <a:endParaRPr lang="en-US" altLang="zh-CN" smtClean="0">
              <a:ea typeface="黑体" panose="02010609060101010101" pitchFamily="49" charset="-122"/>
            </a:endParaRPr>
          </a:p>
          <a:p>
            <a:r>
              <a:rPr lang="zh-CN" altLang="zh-CN" smtClean="0">
                <a:ea typeface="黑体" panose="02010609060101010101" pitchFamily="49" charset="-122"/>
              </a:rPr>
              <a:t>相反，若不使用这种控制帧，则一旦发生碰撞而导致数据帧重发，则浪费的时间就更多。</a:t>
            </a:r>
            <a:endParaRPr lang="en-US" altLang="zh-CN" smtClean="0">
              <a:ea typeface="黑体" panose="02010609060101010101" pitchFamily="49" charset="-122"/>
            </a:endParaRPr>
          </a:p>
        </p:txBody>
      </p:sp>
      <p:sp>
        <p:nvSpPr>
          <p:cNvPr id="243712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E3DD7D-069D-47AA-A66E-BFF0B7232F11}" type="slidenum">
              <a:rPr lang="zh-CN" altLang="en-US" smtClean="0"/>
              <a:pPr eaLnBrk="1" hangingPunct="1"/>
              <a:t>48</a:t>
            </a:fld>
            <a:endParaRPr lang="en-US" altLang="zh-CN" smtClean="0"/>
          </a:p>
        </p:txBody>
      </p:sp>
      <p:sp>
        <p:nvSpPr>
          <p:cNvPr id="243712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9169" name="Rectangle 6"/>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对信道进行预约 </a:t>
            </a:r>
          </a:p>
        </p:txBody>
      </p:sp>
      <p:sp>
        <p:nvSpPr>
          <p:cNvPr id="2439170" name="内容占位符 1"/>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虽然如此，协议还是设有三种情况供用户选择</a:t>
            </a:r>
            <a:r>
              <a:rPr lang="zh-CN" altLang="en-US" smtClean="0">
                <a:ea typeface="黑体" panose="02010609060101010101" pitchFamily="49" charset="-122"/>
              </a:rPr>
              <a:t>：</a:t>
            </a:r>
            <a:endParaRPr lang="zh-CN" altLang="zh-CN" smtClean="0">
              <a:ea typeface="黑体" panose="02010609060101010101" pitchFamily="49" charset="-122"/>
            </a:endParaRPr>
          </a:p>
          <a:p>
            <a:pPr lvl="1"/>
            <a:r>
              <a:rPr lang="en-US" altLang="zh-CN" smtClean="0">
                <a:solidFill>
                  <a:srgbClr val="0000FF"/>
                </a:solidFill>
                <a:ea typeface="黑体" panose="02010609060101010101" pitchFamily="49" charset="-122"/>
              </a:rPr>
              <a:t>(1) </a:t>
            </a:r>
            <a:r>
              <a:rPr lang="zh-CN" altLang="zh-CN" smtClean="0">
                <a:solidFill>
                  <a:srgbClr val="0000FF"/>
                </a:solidFill>
                <a:ea typeface="黑体" panose="02010609060101010101" pitchFamily="49" charset="-122"/>
              </a:rPr>
              <a:t>使用</a:t>
            </a:r>
            <a:r>
              <a:rPr lang="en-US" altLang="zh-CN" smtClean="0">
                <a:solidFill>
                  <a:srgbClr val="0000FF"/>
                </a:solidFill>
                <a:ea typeface="黑体" panose="02010609060101010101" pitchFamily="49" charset="-122"/>
              </a:rPr>
              <a:t> RTS </a:t>
            </a:r>
            <a:r>
              <a:rPr lang="zh-CN" altLang="zh-CN" smtClean="0">
                <a:solidFill>
                  <a:srgbClr val="0000FF"/>
                </a:solidFill>
                <a:ea typeface="黑体" panose="02010609060101010101" pitchFamily="49" charset="-122"/>
              </a:rPr>
              <a:t>帧和</a:t>
            </a:r>
            <a:r>
              <a:rPr lang="en-US" altLang="zh-CN" smtClean="0">
                <a:solidFill>
                  <a:srgbClr val="0000FF"/>
                </a:solidFill>
                <a:ea typeface="黑体" panose="02010609060101010101" pitchFamily="49" charset="-122"/>
              </a:rPr>
              <a:t> CTS </a:t>
            </a:r>
            <a:r>
              <a:rPr lang="zh-CN" altLang="zh-CN" smtClean="0">
                <a:solidFill>
                  <a:srgbClr val="0000FF"/>
                </a:solidFill>
                <a:ea typeface="黑体" panose="02010609060101010101" pitchFamily="49" charset="-122"/>
              </a:rPr>
              <a:t>帧；</a:t>
            </a:r>
          </a:p>
          <a:p>
            <a:pPr lvl="1"/>
            <a:r>
              <a:rPr lang="en-US" altLang="zh-CN" smtClean="0">
                <a:solidFill>
                  <a:srgbClr val="0000FF"/>
                </a:solidFill>
                <a:ea typeface="黑体" panose="02010609060101010101" pitchFamily="49" charset="-122"/>
              </a:rPr>
              <a:t>(2) </a:t>
            </a:r>
            <a:r>
              <a:rPr lang="zh-CN" altLang="zh-CN" smtClean="0">
                <a:solidFill>
                  <a:srgbClr val="0000FF"/>
                </a:solidFill>
                <a:ea typeface="黑体" panose="02010609060101010101" pitchFamily="49" charset="-122"/>
              </a:rPr>
              <a:t>只有当数据帧的长度超过某一数值时才使用</a:t>
            </a:r>
            <a:r>
              <a:rPr lang="en-US" altLang="zh-CN" smtClean="0">
                <a:solidFill>
                  <a:srgbClr val="0000FF"/>
                </a:solidFill>
                <a:ea typeface="黑体" panose="02010609060101010101" pitchFamily="49" charset="-122"/>
              </a:rPr>
              <a:t> RTS </a:t>
            </a:r>
            <a:r>
              <a:rPr lang="zh-CN" altLang="zh-CN" smtClean="0">
                <a:solidFill>
                  <a:srgbClr val="0000FF"/>
                </a:solidFill>
                <a:ea typeface="黑体" panose="02010609060101010101" pitchFamily="49" charset="-122"/>
              </a:rPr>
              <a:t>帧和</a:t>
            </a:r>
            <a:r>
              <a:rPr lang="en-US" altLang="zh-CN" smtClean="0">
                <a:solidFill>
                  <a:srgbClr val="0000FF"/>
                </a:solidFill>
                <a:ea typeface="黑体" panose="02010609060101010101" pitchFamily="49" charset="-122"/>
              </a:rPr>
              <a:t> CTS </a:t>
            </a:r>
            <a:r>
              <a:rPr lang="zh-CN" altLang="zh-CN" smtClean="0">
                <a:solidFill>
                  <a:srgbClr val="0000FF"/>
                </a:solidFill>
                <a:ea typeface="黑体" panose="02010609060101010101" pitchFamily="49" charset="-122"/>
              </a:rPr>
              <a:t>帧（显然，当数据帧本身就很短时，再使用</a:t>
            </a:r>
            <a:r>
              <a:rPr lang="en-US" altLang="zh-CN" smtClean="0">
                <a:solidFill>
                  <a:srgbClr val="0000FF"/>
                </a:solidFill>
                <a:ea typeface="黑体" panose="02010609060101010101" pitchFamily="49" charset="-122"/>
              </a:rPr>
              <a:t> RTS </a:t>
            </a:r>
            <a:r>
              <a:rPr lang="zh-CN" altLang="zh-CN" smtClean="0">
                <a:solidFill>
                  <a:srgbClr val="0000FF"/>
                </a:solidFill>
                <a:ea typeface="黑体" panose="02010609060101010101" pitchFamily="49" charset="-122"/>
              </a:rPr>
              <a:t>帧和</a:t>
            </a:r>
            <a:r>
              <a:rPr lang="en-US" altLang="zh-CN" smtClean="0">
                <a:solidFill>
                  <a:srgbClr val="0000FF"/>
                </a:solidFill>
                <a:ea typeface="黑体" panose="02010609060101010101" pitchFamily="49" charset="-122"/>
              </a:rPr>
              <a:t> CTS </a:t>
            </a:r>
            <a:r>
              <a:rPr lang="zh-CN" altLang="zh-CN" smtClean="0">
                <a:solidFill>
                  <a:srgbClr val="0000FF"/>
                </a:solidFill>
                <a:ea typeface="黑体" panose="02010609060101010101" pitchFamily="49" charset="-122"/>
              </a:rPr>
              <a:t>帧只能增加开销）；</a:t>
            </a:r>
          </a:p>
          <a:p>
            <a:pPr lvl="1"/>
            <a:r>
              <a:rPr lang="en-US" altLang="zh-CN" smtClean="0">
                <a:solidFill>
                  <a:srgbClr val="0000FF"/>
                </a:solidFill>
                <a:ea typeface="黑体" panose="02010609060101010101" pitchFamily="49" charset="-122"/>
              </a:rPr>
              <a:t>(3) </a:t>
            </a:r>
            <a:r>
              <a:rPr lang="zh-CN" altLang="zh-CN" smtClean="0">
                <a:solidFill>
                  <a:srgbClr val="0000FF"/>
                </a:solidFill>
                <a:ea typeface="黑体" panose="02010609060101010101" pitchFamily="49" charset="-122"/>
              </a:rPr>
              <a:t>不使用</a:t>
            </a:r>
            <a:r>
              <a:rPr lang="en-US" altLang="zh-CN" smtClean="0">
                <a:solidFill>
                  <a:srgbClr val="0000FF"/>
                </a:solidFill>
                <a:ea typeface="黑体" panose="02010609060101010101" pitchFamily="49" charset="-122"/>
              </a:rPr>
              <a:t> RTS </a:t>
            </a:r>
            <a:r>
              <a:rPr lang="zh-CN" altLang="zh-CN" smtClean="0">
                <a:solidFill>
                  <a:srgbClr val="0000FF"/>
                </a:solidFill>
                <a:ea typeface="黑体" panose="02010609060101010101" pitchFamily="49" charset="-122"/>
              </a:rPr>
              <a:t>帧和</a:t>
            </a:r>
            <a:r>
              <a:rPr lang="en-US" altLang="zh-CN" smtClean="0">
                <a:solidFill>
                  <a:srgbClr val="0000FF"/>
                </a:solidFill>
                <a:ea typeface="黑体" panose="02010609060101010101" pitchFamily="49" charset="-122"/>
              </a:rPr>
              <a:t> CTS </a:t>
            </a:r>
            <a:r>
              <a:rPr lang="zh-CN" altLang="zh-CN" smtClean="0">
                <a:solidFill>
                  <a:srgbClr val="0000FF"/>
                </a:solidFill>
                <a:ea typeface="黑体" panose="02010609060101010101" pitchFamily="49" charset="-122"/>
              </a:rPr>
              <a:t>帧。</a:t>
            </a:r>
          </a:p>
          <a:p>
            <a:endParaRPr lang="en-US" altLang="zh-CN" smtClean="0">
              <a:ea typeface="黑体" panose="02010609060101010101" pitchFamily="49" charset="-122"/>
            </a:endParaRPr>
          </a:p>
          <a:p>
            <a:r>
              <a:rPr lang="zh-CN" altLang="zh-CN" smtClean="0">
                <a:solidFill>
                  <a:srgbClr val="FF0000"/>
                </a:solidFill>
                <a:ea typeface="黑体" panose="02010609060101010101" pitchFamily="49" charset="-122"/>
              </a:rPr>
              <a:t>虽然协议经过了精心设计，但碰撞仍然会发生。</a:t>
            </a:r>
            <a:endParaRPr lang="zh-CN" altLang="en-US" smtClean="0">
              <a:solidFill>
                <a:srgbClr val="FF0000"/>
              </a:solidFill>
              <a:ea typeface="黑体" panose="02010609060101010101" pitchFamily="49" charset="-122"/>
            </a:endParaRPr>
          </a:p>
        </p:txBody>
      </p:sp>
      <p:sp>
        <p:nvSpPr>
          <p:cNvPr id="243917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8AFF8D4-3F43-4E8E-81DE-3D605F4DD593}" type="slidenum">
              <a:rPr lang="zh-CN" altLang="en-US" smtClean="0"/>
              <a:pPr eaLnBrk="1" hangingPunct="1"/>
              <a:t>49</a:t>
            </a:fld>
            <a:endParaRPr lang="en-US" altLang="zh-CN" smtClean="0"/>
          </a:p>
        </p:txBody>
      </p:sp>
      <p:sp>
        <p:nvSpPr>
          <p:cNvPr id="243917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1217" name="标题 1"/>
          <p:cNvSpPr>
            <a:spLocks noGrp="1" noChangeArrowheads="1"/>
          </p:cNvSpPr>
          <p:nvPr>
            <p:ph type="title"/>
          </p:nvPr>
        </p:nvSpPr>
        <p:spPr/>
        <p:txBody>
          <a:bodyPr/>
          <a:lstStyle/>
          <a:p>
            <a:pPr algn="ctr"/>
            <a:r>
              <a:rPr lang="en-US" altLang="zh-CN" smtClean="0">
                <a:ea typeface="黑体" panose="02010609060101010101" pitchFamily="49" charset="-122"/>
              </a:rPr>
              <a:t>CSMA/CA </a:t>
            </a:r>
            <a:r>
              <a:rPr lang="zh-CN" altLang="zh-CN" smtClean="0">
                <a:ea typeface="黑体" panose="02010609060101010101" pitchFamily="49" charset="-122"/>
              </a:rPr>
              <a:t>协议的基本流程图</a:t>
            </a:r>
            <a:endParaRPr lang="zh-CN" altLang="en-US" smtClean="0">
              <a:ea typeface="黑体" panose="02010609060101010101" pitchFamily="49" charset="-122"/>
            </a:endParaRPr>
          </a:p>
        </p:txBody>
      </p:sp>
      <p:grpSp>
        <p:nvGrpSpPr>
          <p:cNvPr id="2441218" name="组合 65"/>
          <p:cNvGrpSpPr>
            <a:grpSpLocks/>
          </p:cNvGrpSpPr>
          <p:nvPr/>
        </p:nvGrpSpPr>
        <p:grpSpPr bwMode="auto">
          <a:xfrm>
            <a:off x="828675" y="1122363"/>
            <a:ext cx="8588375" cy="5546725"/>
            <a:chOff x="468313" y="404813"/>
            <a:chExt cx="8240712" cy="6310312"/>
          </a:xfrm>
        </p:grpSpPr>
        <p:sp>
          <p:nvSpPr>
            <p:cNvPr id="2441219" name="AutoShape 6"/>
            <p:cNvSpPr>
              <a:spLocks noChangeArrowheads="1"/>
            </p:cNvSpPr>
            <p:nvPr/>
          </p:nvSpPr>
          <p:spPr bwMode="auto">
            <a:xfrm>
              <a:off x="6010275" y="908050"/>
              <a:ext cx="576263" cy="215900"/>
            </a:xfrm>
            <a:prstGeom prst="flowChartProcess">
              <a:avLst/>
            </a:prstGeom>
            <a:solidFill>
              <a:srgbClr val="F8F8F8"/>
            </a:solidFill>
            <a:ln w="9525">
              <a:solidFill>
                <a:schemeClr val="tx1"/>
              </a:solidFill>
              <a:miter lim="800000"/>
              <a:headEnd/>
              <a:tailEnd/>
            </a:ln>
          </p:spPr>
          <p:txBody>
            <a:bodyPr wrap="none" anchor="ctr"/>
            <a:lstStyle/>
            <a:p>
              <a:pPr algn="ctr" eaLnBrk="0" hangingPunct="0"/>
              <a:r>
                <a:rPr lang="en-US" altLang="zh-CN" sz="1600" b="1" i="1">
                  <a:latin typeface="Times New Roman" panose="02020603050405020304" pitchFamily="18" charset="0"/>
                  <a:ea typeface="宋体" panose="02010600030101010101" pitchFamily="2" charset="-122"/>
                </a:rPr>
                <a:t>i </a:t>
              </a:r>
              <a:r>
                <a:rPr lang="en-US" altLang="zh-CN" sz="1600" b="1">
                  <a:latin typeface="Times New Roman" panose="02020603050405020304" pitchFamily="18" charset="0"/>
                  <a:ea typeface="宋体" panose="02010600030101010101" pitchFamily="2" charset="-122"/>
                </a:rPr>
                <a:t>=</a:t>
              </a:r>
              <a:r>
                <a:rPr lang="en-US" altLang="zh-CN" sz="1600" b="1" i="1">
                  <a:latin typeface="Times New Roman" panose="02020603050405020304" pitchFamily="18" charset="0"/>
                  <a:ea typeface="宋体" panose="02010600030101010101" pitchFamily="2" charset="-122"/>
                </a:rPr>
                <a:t> </a:t>
              </a:r>
              <a:r>
                <a:rPr lang="en-US" altLang="zh-CN" sz="1600" b="1">
                  <a:latin typeface="Times New Roman" panose="02020603050405020304" pitchFamily="18" charset="0"/>
                  <a:ea typeface="宋体" panose="02010600030101010101" pitchFamily="2" charset="-122"/>
                </a:rPr>
                <a:t>0</a:t>
              </a:r>
            </a:p>
          </p:txBody>
        </p:sp>
        <p:sp>
          <p:nvSpPr>
            <p:cNvPr id="2441220" name="AutoShape 8"/>
            <p:cNvSpPr>
              <a:spLocks noChangeArrowheads="1"/>
            </p:cNvSpPr>
            <p:nvPr/>
          </p:nvSpPr>
          <p:spPr bwMode="auto">
            <a:xfrm>
              <a:off x="6192838" y="1693863"/>
              <a:ext cx="215900" cy="215900"/>
            </a:xfrm>
            <a:prstGeom prst="flowChartDecision">
              <a:avLst/>
            </a:prstGeom>
            <a:solidFill>
              <a:srgbClr val="C0C0C0"/>
            </a:solidFill>
            <a:ln w="9525">
              <a:solidFill>
                <a:schemeClr val="tx1"/>
              </a:solidFill>
              <a:miter lim="800000"/>
              <a:headEnd/>
              <a:tailEnd/>
            </a:ln>
          </p:spPr>
          <p:txBody>
            <a:bodyPr wrap="none" anchor="ctr"/>
            <a:lstStyle/>
            <a:p>
              <a:pPr eaLnBrk="0" hangingPunct="0"/>
              <a:endParaRPr lang="zh-CN" altLang="en-US" b="1">
                <a:ea typeface="宋体" panose="02010600030101010101" pitchFamily="2" charset="-122"/>
              </a:endParaRPr>
            </a:p>
          </p:txBody>
        </p:sp>
        <p:cxnSp>
          <p:nvCxnSpPr>
            <p:cNvPr id="2441221" name="AutoShape 10"/>
            <p:cNvCxnSpPr>
              <a:cxnSpLocks noChangeShapeType="1"/>
              <a:stCxn id="2441219" idx="2"/>
              <a:endCxn id="2441220" idx="0"/>
            </p:cNvCxnSpPr>
            <p:nvPr/>
          </p:nvCxnSpPr>
          <p:spPr bwMode="auto">
            <a:xfrm>
              <a:off x="6299200" y="1123950"/>
              <a:ext cx="1588" cy="56991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41222" name="AutoShape 13"/>
            <p:cNvCxnSpPr>
              <a:cxnSpLocks noChangeShapeType="1"/>
              <a:stCxn id="2441220" idx="1"/>
              <a:endCxn id="2441220" idx="0"/>
            </p:cNvCxnSpPr>
            <p:nvPr/>
          </p:nvCxnSpPr>
          <p:spPr bwMode="auto">
            <a:xfrm rot="10800000" flipH="1">
              <a:off x="6192838" y="1412875"/>
              <a:ext cx="106362" cy="388938"/>
            </a:xfrm>
            <a:prstGeom prst="bentConnector4">
              <a:avLst>
                <a:gd name="adj1" fmla="val -632838"/>
                <a:gd name="adj2" fmla="val 99995"/>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441223" name="AutoShape 14"/>
            <p:cNvSpPr>
              <a:spLocks noChangeArrowheads="1"/>
            </p:cNvSpPr>
            <p:nvPr/>
          </p:nvSpPr>
          <p:spPr bwMode="auto">
            <a:xfrm>
              <a:off x="7307263" y="1412875"/>
              <a:ext cx="1081087" cy="431800"/>
            </a:xfrm>
            <a:prstGeom prst="flowChartDocument">
              <a:avLst/>
            </a:prstGeom>
            <a:solidFill>
              <a:srgbClr val="EAEAEA"/>
            </a:solidFill>
            <a:ln w="9525">
              <a:solidFill>
                <a:schemeClr val="tx1"/>
              </a:solidFill>
              <a:miter lim="800000"/>
              <a:headEnd/>
              <a:tailEnd/>
            </a:ln>
          </p:spPr>
          <p:txBody>
            <a:bodyPr wrap="none" anchor="ctr"/>
            <a:lstStyle/>
            <a:p>
              <a:pPr algn="ctr" eaLnBrk="0" hangingPunct="0"/>
              <a:r>
                <a:rPr lang="zh-CN" altLang="en-US" sz="1600" b="1">
                  <a:ea typeface="宋体" panose="02010600030101010101" pitchFamily="2" charset="-122"/>
                </a:rPr>
                <a:t>信道空闲</a:t>
              </a:r>
              <a:r>
                <a:rPr lang="en-US" altLang="zh-CN" sz="1600" b="1">
                  <a:latin typeface="Times New Roman" panose="02020603050405020304" pitchFamily="18" charset="0"/>
                  <a:ea typeface="宋体" panose="02010600030101010101" pitchFamily="2" charset="-122"/>
                </a:rPr>
                <a:t>?</a:t>
              </a:r>
            </a:p>
          </p:txBody>
        </p:sp>
        <p:cxnSp>
          <p:nvCxnSpPr>
            <p:cNvPr id="2441224" name="AutoShape 16"/>
            <p:cNvCxnSpPr>
              <a:cxnSpLocks noChangeShapeType="1"/>
              <a:stCxn id="2441220" idx="2"/>
              <a:endCxn id="2441220" idx="0"/>
            </p:cNvCxnSpPr>
            <p:nvPr/>
          </p:nvCxnSpPr>
          <p:spPr bwMode="auto">
            <a:xfrm flipH="1">
              <a:off x="6299200" y="1909763"/>
              <a:ext cx="1588" cy="1508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25" name="AutoShape 17"/>
            <p:cNvSpPr>
              <a:spLocks noChangeArrowheads="1"/>
            </p:cNvSpPr>
            <p:nvPr/>
          </p:nvSpPr>
          <p:spPr bwMode="auto">
            <a:xfrm>
              <a:off x="5724525" y="2060575"/>
              <a:ext cx="1150938" cy="360363"/>
            </a:xfrm>
            <a:prstGeom prst="flowChartProcess">
              <a:avLst/>
            </a:prstGeom>
            <a:solidFill>
              <a:srgbClr val="F8F8F8"/>
            </a:solidFill>
            <a:ln w="9525">
              <a:solidFill>
                <a:schemeClr val="tx1"/>
              </a:solidFill>
              <a:miter lim="800000"/>
              <a:headEnd/>
              <a:tailEnd/>
            </a:ln>
          </p:spPr>
          <p:txBody>
            <a:bodyPr wrap="none" anchor="ctr"/>
            <a:lstStyle/>
            <a:p>
              <a:pPr algn="ctr" eaLnBrk="0" hangingPunct="0"/>
              <a:r>
                <a:rPr lang="zh-CN" altLang="en-US" sz="1600" b="1">
                  <a:latin typeface="Times New Roman" panose="02020603050405020304" pitchFamily="18" charset="0"/>
                  <a:ea typeface="宋体" panose="02010600030101010101" pitchFamily="2" charset="-122"/>
                </a:rPr>
                <a:t>等待 </a:t>
              </a:r>
              <a:r>
                <a:rPr lang="en-US" altLang="zh-CN" sz="1600" b="1">
                  <a:latin typeface="Times New Roman" panose="02020603050405020304" pitchFamily="18" charset="0"/>
                  <a:ea typeface="宋体" panose="02010600030101010101" pitchFamily="2" charset="-122"/>
                </a:rPr>
                <a:t>DIFS</a:t>
              </a:r>
            </a:p>
          </p:txBody>
        </p:sp>
        <p:sp>
          <p:nvSpPr>
            <p:cNvPr id="2441226" name="AutoShape 18"/>
            <p:cNvSpPr>
              <a:spLocks noChangeArrowheads="1"/>
            </p:cNvSpPr>
            <p:nvPr/>
          </p:nvSpPr>
          <p:spPr bwMode="auto">
            <a:xfrm>
              <a:off x="5722938" y="2636838"/>
              <a:ext cx="1150937" cy="360362"/>
            </a:xfrm>
            <a:prstGeom prst="flowChartProcess">
              <a:avLst/>
            </a:prstGeom>
            <a:solidFill>
              <a:srgbClr val="F8F8F8"/>
            </a:solidFill>
            <a:ln w="9525">
              <a:solidFill>
                <a:schemeClr val="tx1"/>
              </a:solidFill>
              <a:miter lim="800000"/>
              <a:headEnd/>
              <a:tailEnd/>
            </a:ln>
          </p:spPr>
          <p:txBody>
            <a:bodyPr wrap="none" anchor="ctr"/>
            <a:lstStyle/>
            <a:p>
              <a:pPr algn="ctr" eaLnBrk="0" hangingPunct="0"/>
              <a:r>
                <a:rPr lang="zh-CN" altLang="en-US" sz="1600" b="1">
                  <a:latin typeface="Times New Roman" panose="02020603050405020304" pitchFamily="18" charset="0"/>
                  <a:ea typeface="宋体" panose="02010600030101010101" pitchFamily="2" charset="-122"/>
                </a:rPr>
                <a:t>发送 </a:t>
              </a:r>
              <a:r>
                <a:rPr lang="en-US" altLang="zh-CN" sz="1600" b="1">
                  <a:latin typeface="Times New Roman" panose="02020603050405020304" pitchFamily="18" charset="0"/>
                  <a:ea typeface="宋体" panose="02010600030101010101" pitchFamily="2" charset="-122"/>
                </a:rPr>
                <a:t>RTS</a:t>
              </a:r>
            </a:p>
          </p:txBody>
        </p:sp>
        <p:cxnSp>
          <p:nvCxnSpPr>
            <p:cNvPr id="2441227" name="AutoShape 19"/>
            <p:cNvCxnSpPr>
              <a:cxnSpLocks noChangeShapeType="1"/>
              <a:stCxn id="2441220" idx="2"/>
              <a:endCxn id="2441226" idx="0"/>
            </p:cNvCxnSpPr>
            <p:nvPr/>
          </p:nvCxnSpPr>
          <p:spPr bwMode="auto">
            <a:xfrm flipH="1">
              <a:off x="6299200" y="2414588"/>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28" name="AutoShape 20"/>
            <p:cNvSpPr>
              <a:spLocks noChangeArrowheads="1"/>
            </p:cNvSpPr>
            <p:nvPr/>
          </p:nvSpPr>
          <p:spPr bwMode="auto">
            <a:xfrm>
              <a:off x="5722938" y="3213100"/>
              <a:ext cx="1150937" cy="360363"/>
            </a:xfrm>
            <a:prstGeom prst="flowChartProcess">
              <a:avLst/>
            </a:prstGeom>
            <a:solidFill>
              <a:srgbClr val="F8F8F8"/>
            </a:solidFill>
            <a:ln w="9525">
              <a:solidFill>
                <a:schemeClr val="tx1"/>
              </a:solidFill>
              <a:miter lim="800000"/>
              <a:headEnd/>
              <a:tailEnd/>
            </a:ln>
          </p:spPr>
          <p:txBody>
            <a:bodyPr wrap="none" anchor="ctr"/>
            <a:lstStyle/>
            <a:p>
              <a:pPr algn="ctr" eaLnBrk="0" hangingPunct="0"/>
              <a:r>
                <a:rPr lang="zh-CN" altLang="en-US" sz="1600" b="1">
                  <a:latin typeface="Times New Roman" panose="02020603050405020304" pitchFamily="18" charset="0"/>
                  <a:ea typeface="宋体" panose="02010600030101010101" pitchFamily="2" charset="-122"/>
                </a:rPr>
                <a:t>计时器置位</a:t>
              </a:r>
            </a:p>
          </p:txBody>
        </p:sp>
        <p:cxnSp>
          <p:nvCxnSpPr>
            <p:cNvPr id="2441229" name="AutoShape 21"/>
            <p:cNvCxnSpPr>
              <a:cxnSpLocks noChangeShapeType="1"/>
              <a:stCxn id="2441220" idx="2"/>
              <a:endCxn id="2441226" idx="0"/>
            </p:cNvCxnSpPr>
            <p:nvPr/>
          </p:nvCxnSpPr>
          <p:spPr bwMode="auto">
            <a:xfrm flipH="1">
              <a:off x="6299200" y="2990850"/>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30" name="AutoShape 22"/>
            <p:cNvSpPr>
              <a:spLocks noChangeArrowheads="1"/>
            </p:cNvSpPr>
            <p:nvPr/>
          </p:nvSpPr>
          <p:spPr bwMode="auto">
            <a:xfrm>
              <a:off x="6188075" y="3794125"/>
              <a:ext cx="215900" cy="215900"/>
            </a:xfrm>
            <a:prstGeom prst="flowChartDecision">
              <a:avLst/>
            </a:prstGeom>
            <a:solidFill>
              <a:srgbClr val="C0C0C0"/>
            </a:solidFill>
            <a:ln w="9525">
              <a:solidFill>
                <a:schemeClr val="tx1"/>
              </a:solidFill>
              <a:miter lim="800000"/>
              <a:headEnd/>
              <a:tailEnd/>
            </a:ln>
          </p:spPr>
          <p:txBody>
            <a:bodyPr wrap="none" anchor="ctr"/>
            <a:lstStyle/>
            <a:p>
              <a:pPr eaLnBrk="0" hangingPunct="0"/>
              <a:endParaRPr lang="zh-CN" altLang="en-US" b="1">
                <a:ea typeface="宋体" panose="02010600030101010101" pitchFamily="2" charset="-122"/>
              </a:endParaRPr>
            </a:p>
          </p:txBody>
        </p:sp>
        <p:cxnSp>
          <p:nvCxnSpPr>
            <p:cNvPr id="2441231" name="AutoShape 23"/>
            <p:cNvCxnSpPr>
              <a:cxnSpLocks noChangeShapeType="1"/>
              <a:stCxn id="2441220" idx="2"/>
              <a:endCxn id="2441226" idx="0"/>
            </p:cNvCxnSpPr>
            <p:nvPr/>
          </p:nvCxnSpPr>
          <p:spPr bwMode="auto">
            <a:xfrm flipH="1">
              <a:off x="6299200" y="3567113"/>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41232" name="AutoShape 24"/>
            <p:cNvCxnSpPr>
              <a:cxnSpLocks noChangeShapeType="1"/>
              <a:stCxn id="2441220" idx="2"/>
              <a:endCxn id="2441226" idx="0"/>
            </p:cNvCxnSpPr>
            <p:nvPr/>
          </p:nvCxnSpPr>
          <p:spPr bwMode="auto">
            <a:xfrm flipH="1">
              <a:off x="6292850" y="4011613"/>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33" name="AutoShape 25"/>
            <p:cNvSpPr>
              <a:spLocks noChangeArrowheads="1"/>
            </p:cNvSpPr>
            <p:nvPr/>
          </p:nvSpPr>
          <p:spPr bwMode="auto">
            <a:xfrm>
              <a:off x="5722938" y="4221163"/>
              <a:ext cx="1150937" cy="360362"/>
            </a:xfrm>
            <a:prstGeom prst="flowChartProcess">
              <a:avLst/>
            </a:prstGeom>
            <a:solidFill>
              <a:srgbClr val="F8F8F8"/>
            </a:solidFill>
            <a:ln w="9525">
              <a:solidFill>
                <a:schemeClr val="tx1"/>
              </a:solidFill>
              <a:miter lim="800000"/>
              <a:headEnd/>
              <a:tailEnd/>
            </a:ln>
          </p:spPr>
          <p:txBody>
            <a:bodyPr wrap="none" anchor="ctr"/>
            <a:lstStyle/>
            <a:p>
              <a:pPr algn="ctr" eaLnBrk="0" hangingPunct="0"/>
              <a:r>
                <a:rPr lang="zh-CN" altLang="en-US" sz="1600" b="1">
                  <a:latin typeface="Times New Roman" panose="02020603050405020304" pitchFamily="18" charset="0"/>
                  <a:ea typeface="宋体" panose="02010600030101010101" pitchFamily="2" charset="-122"/>
                </a:rPr>
                <a:t>等待 </a:t>
              </a:r>
              <a:r>
                <a:rPr lang="en-US" altLang="zh-CN" sz="1600" b="1">
                  <a:latin typeface="Times New Roman" panose="02020603050405020304" pitchFamily="18" charset="0"/>
                  <a:ea typeface="宋体" panose="02010600030101010101" pitchFamily="2" charset="-122"/>
                </a:rPr>
                <a:t>SIFS</a:t>
              </a:r>
            </a:p>
          </p:txBody>
        </p:sp>
        <p:cxnSp>
          <p:nvCxnSpPr>
            <p:cNvPr id="2441234" name="AutoShape 26"/>
            <p:cNvCxnSpPr>
              <a:cxnSpLocks noChangeShapeType="1"/>
              <a:stCxn id="2441220" idx="2"/>
              <a:endCxn id="2441226" idx="0"/>
            </p:cNvCxnSpPr>
            <p:nvPr/>
          </p:nvCxnSpPr>
          <p:spPr bwMode="auto">
            <a:xfrm flipH="1">
              <a:off x="6299200" y="4575175"/>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35" name="AutoShape 27"/>
            <p:cNvSpPr>
              <a:spLocks noChangeArrowheads="1"/>
            </p:cNvSpPr>
            <p:nvPr/>
          </p:nvSpPr>
          <p:spPr bwMode="auto">
            <a:xfrm>
              <a:off x="5722938" y="4797425"/>
              <a:ext cx="1150937" cy="360363"/>
            </a:xfrm>
            <a:prstGeom prst="flowChartProcess">
              <a:avLst/>
            </a:prstGeom>
            <a:solidFill>
              <a:srgbClr val="F8F8F8"/>
            </a:solidFill>
            <a:ln w="38100" cmpd="dbl">
              <a:solidFill>
                <a:schemeClr val="tx1"/>
              </a:solidFill>
              <a:miter lim="800000"/>
              <a:headEnd/>
              <a:tailEnd/>
            </a:ln>
          </p:spPr>
          <p:txBody>
            <a:bodyPr wrap="none" anchor="ctr"/>
            <a:lstStyle/>
            <a:p>
              <a:pPr algn="ctr" eaLnBrk="0" hangingPunct="0"/>
              <a:r>
                <a:rPr lang="zh-CN" altLang="en-US" sz="1600" b="1">
                  <a:latin typeface="Times New Roman" panose="02020603050405020304" pitchFamily="18" charset="0"/>
                  <a:ea typeface="宋体" panose="02010600030101010101" pitchFamily="2" charset="-122"/>
                </a:rPr>
                <a:t>发送数据帧</a:t>
              </a:r>
            </a:p>
          </p:txBody>
        </p:sp>
        <p:cxnSp>
          <p:nvCxnSpPr>
            <p:cNvPr id="2441236" name="AutoShape 28"/>
            <p:cNvCxnSpPr>
              <a:cxnSpLocks noChangeShapeType="1"/>
              <a:stCxn id="2441220" idx="2"/>
              <a:endCxn id="2441226" idx="0"/>
            </p:cNvCxnSpPr>
            <p:nvPr/>
          </p:nvCxnSpPr>
          <p:spPr bwMode="auto">
            <a:xfrm flipH="1">
              <a:off x="6299200" y="5151438"/>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37" name="AutoShape 29"/>
            <p:cNvSpPr>
              <a:spLocks noChangeArrowheads="1"/>
            </p:cNvSpPr>
            <p:nvPr/>
          </p:nvSpPr>
          <p:spPr bwMode="auto">
            <a:xfrm>
              <a:off x="5722938" y="5373688"/>
              <a:ext cx="1150937" cy="360362"/>
            </a:xfrm>
            <a:prstGeom prst="flowChartProcess">
              <a:avLst/>
            </a:prstGeom>
            <a:solidFill>
              <a:srgbClr val="F8F8F8"/>
            </a:solidFill>
            <a:ln w="9525">
              <a:solidFill>
                <a:schemeClr val="tx1"/>
              </a:solidFill>
              <a:miter lim="800000"/>
              <a:headEnd/>
              <a:tailEnd/>
            </a:ln>
          </p:spPr>
          <p:txBody>
            <a:bodyPr wrap="none" anchor="ctr"/>
            <a:lstStyle/>
            <a:p>
              <a:pPr algn="ctr" eaLnBrk="0" hangingPunct="0"/>
              <a:r>
                <a:rPr lang="zh-CN" altLang="en-US" sz="1600" b="1">
                  <a:latin typeface="Times New Roman" panose="02020603050405020304" pitchFamily="18" charset="0"/>
                  <a:ea typeface="宋体" panose="02010600030101010101" pitchFamily="2" charset="-122"/>
                </a:rPr>
                <a:t>计时器置位</a:t>
              </a:r>
            </a:p>
          </p:txBody>
        </p:sp>
        <p:sp>
          <p:nvSpPr>
            <p:cNvPr id="2441238" name="AutoShape 30"/>
            <p:cNvSpPr>
              <a:spLocks noChangeArrowheads="1"/>
            </p:cNvSpPr>
            <p:nvPr/>
          </p:nvSpPr>
          <p:spPr bwMode="auto">
            <a:xfrm>
              <a:off x="6181725" y="5969000"/>
              <a:ext cx="215900" cy="215900"/>
            </a:xfrm>
            <a:prstGeom prst="flowChartDecision">
              <a:avLst/>
            </a:prstGeom>
            <a:solidFill>
              <a:srgbClr val="C0C0C0"/>
            </a:solidFill>
            <a:ln w="9525">
              <a:solidFill>
                <a:schemeClr val="tx1"/>
              </a:solidFill>
              <a:miter lim="800000"/>
              <a:headEnd/>
              <a:tailEnd/>
            </a:ln>
          </p:spPr>
          <p:txBody>
            <a:bodyPr wrap="none" anchor="ctr"/>
            <a:lstStyle/>
            <a:p>
              <a:pPr eaLnBrk="0" hangingPunct="0"/>
              <a:endParaRPr lang="zh-CN" altLang="en-US" b="1">
                <a:ea typeface="宋体" panose="02010600030101010101" pitchFamily="2" charset="-122"/>
              </a:endParaRPr>
            </a:p>
          </p:txBody>
        </p:sp>
        <p:cxnSp>
          <p:nvCxnSpPr>
            <p:cNvPr id="2441239" name="AutoShape 31"/>
            <p:cNvCxnSpPr>
              <a:cxnSpLocks noChangeShapeType="1"/>
              <a:stCxn id="2441220" idx="2"/>
              <a:endCxn id="2441226" idx="0"/>
            </p:cNvCxnSpPr>
            <p:nvPr/>
          </p:nvCxnSpPr>
          <p:spPr bwMode="auto">
            <a:xfrm flipH="1">
              <a:off x="6292850" y="5741988"/>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41240" name="AutoShape 32"/>
            <p:cNvCxnSpPr>
              <a:cxnSpLocks noChangeShapeType="1"/>
              <a:stCxn id="2441220" idx="2"/>
              <a:endCxn id="2441226" idx="0"/>
            </p:cNvCxnSpPr>
            <p:nvPr/>
          </p:nvCxnSpPr>
          <p:spPr bwMode="auto">
            <a:xfrm flipH="1">
              <a:off x="6286500" y="6186488"/>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41" name="Oval 33"/>
            <p:cNvSpPr>
              <a:spLocks noChangeArrowheads="1"/>
            </p:cNvSpPr>
            <p:nvPr/>
          </p:nvSpPr>
          <p:spPr bwMode="auto">
            <a:xfrm>
              <a:off x="6135688" y="6410325"/>
              <a:ext cx="287337" cy="287338"/>
            </a:xfrm>
            <a:prstGeom prst="ellipse">
              <a:avLst/>
            </a:prstGeom>
            <a:solidFill>
              <a:srgbClr val="5F5F5F"/>
            </a:solidFill>
            <a:ln w="57150" cmpd="thinThick">
              <a:solidFill>
                <a:schemeClr val="tx1"/>
              </a:solidFill>
              <a:round/>
              <a:headEnd/>
              <a:tailEnd/>
            </a:ln>
          </p:spPr>
          <p:txBody>
            <a:bodyPr wrap="none" anchor="ctr"/>
            <a:lstStyle/>
            <a:p>
              <a:pPr eaLnBrk="0" hangingPunct="0"/>
              <a:endParaRPr lang="zh-CN" altLang="en-US" b="1">
                <a:ea typeface="宋体" panose="02010600030101010101" pitchFamily="2" charset="-122"/>
              </a:endParaRPr>
            </a:p>
          </p:txBody>
        </p:sp>
        <p:sp>
          <p:nvSpPr>
            <p:cNvPr id="2441242" name="AutoShape 34"/>
            <p:cNvSpPr>
              <a:spLocks noChangeArrowheads="1"/>
            </p:cNvSpPr>
            <p:nvPr/>
          </p:nvSpPr>
          <p:spPr bwMode="auto">
            <a:xfrm>
              <a:off x="3405188" y="5908675"/>
              <a:ext cx="1150937" cy="360363"/>
            </a:xfrm>
            <a:prstGeom prst="flowChartProcess">
              <a:avLst/>
            </a:prstGeom>
            <a:solidFill>
              <a:srgbClr val="F8F8F8"/>
            </a:solidFill>
            <a:ln w="9525">
              <a:solidFill>
                <a:schemeClr val="tx1"/>
              </a:solidFill>
              <a:miter lim="800000"/>
              <a:headEnd/>
              <a:tailEnd/>
            </a:ln>
          </p:spPr>
          <p:txBody>
            <a:bodyPr wrap="none" anchor="ctr"/>
            <a:lstStyle/>
            <a:p>
              <a:pPr algn="ctr" eaLnBrk="0" hangingPunct="0"/>
              <a:r>
                <a:rPr lang="en-US" altLang="zh-CN" sz="1600" b="1" i="1">
                  <a:latin typeface="Times New Roman" panose="02020603050405020304" pitchFamily="18" charset="0"/>
                  <a:ea typeface="宋体" panose="02010600030101010101" pitchFamily="2" charset="-122"/>
                </a:rPr>
                <a:t>i </a:t>
              </a:r>
              <a:r>
                <a:rPr lang="en-US" altLang="zh-CN" sz="1600" b="1">
                  <a:latin typeface="Times New Roman" panose="02020603050405020304" pitchFamily="18" charset="0"/>
                  <a:ea typeface="宋体" panose="02010600030101010101" pitchFamily="2" charset="-122"/>
                </a:rPr>
                <a:t>= </a:t>
              </a:r>
              <a:r>
                <a:rPr lang="en-US" altLang="zh-CN" sz="1600" b="1" i="1">
                  <a:latin typeface="Times New Roman" panose="02020603050405020304" pitchFamily="18" charset="0"/>
                  <a:ea typeface="宋体" panose="02010600030101010101" pitchFamily="2" charset="-122"/>
                </a:rPr>
                <a:t>i</a:t>
              </a:r>
              <a:r>
                <a:rPr lang="en-US" altLang="zh-CN" sz="1600" b="1">
                  <a:latin typeface="Times New Roman" panose="02020603050405020304" pitchFamily="18" charset="0"/>
                  <a:ea typeface="宋体" panose="02010600030101010101" pitchFamily="2" charset="-122"/>
                </a:rPr>
                <a:t> + 1</a:t>
              </a:r>
            </a:p>
          </p:txBody>
        </p:sp>
        <p:sp>
          <p:nvSpPr>
            <p:cNvPr id="2441243" name="AutoShape 35"/>
            <p:cNvSpPr>
              <a:spLocks noChangeArrowheads="1"/>
            </p:cNvSpPr>
            <p:nvPr/>
          </p:nvSpPr>
          <p:spPr bwMode="auto">
            <a:xfrm>
              <a:off x="7307263" y="3357563"/>
              <a:ext cx="1081087" cy="647700"/>
            </a:xfrm>
            <a:prstGeom prst="flowChartDocument">
              <a:avLst/>
            </a:prstGeom>
            <a:solidFill>
              <a:srgbClr val="EAEAEA"/>
            </a:solidFill>
            <a:ln w="9525">
              <a:solidFill>
                <a:schemeClr val="tx1"/>
              </a:solidFill>
              <a:miter lim="800000"/>
              <a:headEnd/>
              <a:tailEnd/>
            </a:ln>
          </p:spPr>
          <p:txBody>
            <a:bodyPr wrap="none" anchor="ctr"/>
            <a:lstStyle/>
            <a:p>
              <a:pPr algn="ctr" eaLnBrk="0" hangingPunct="0"/>
              <a:r>
                <a:rPr lang="zh-CN" altLang="en-US" sz="1600" b="1">
                  <a:ea typeface="宋体" panose="02010600030101010101" pitchFamily="2" charset="-122"/>
                </a:rPr>
                <a:t>超时之前</a:t>
              </a:r>
            </a:p>
            <a:p>
              <a:pPr algn="ctr" eaLnBrk="0" hangingPunct="0"/>
              <a:r>
                <a:rPr lang="zh-CN" altLang="en-US" sz="1600" b="1">
                  <a:ea typeface="宋体" panose="02010600030101010101" pitchFamily="2" charset="-122"/>
                </a:rPr>
                <a:t>收到 </a:t>
              </a:r>
              <a:r>
                <a:rPr lang="en-US" altLang="zh-CN" sz="1600" b="1">
                  <a:latin typeface="Times New Roman" panose="02020603050405020304" pitchFamily="18" charset="0"/>
                  <a:ea typeface="宋体" panose="02010600030101010101" pitchFamily="2" charset="-122"/>
                </a:rPr>
                <a:t>CTS?</a:t>
              </a:r>
            </a:p>
          </p:txBody>
        </p:sp>
        <p:sp>
          <p:nvSpPr>
            <p:cNvPr id="2441244" name="AutoShape 36"/>
            <p:cNvSpPr>
              <a:spLocks noChangeArrowheads="1"/>
            </p:cNvSpPr>
            <p:nvPr/>
          </p:nvSpPr>
          <p:spPr bwMode="auto">
            <a:xfrm>
              <a:off x="7307263" y="5589588"/>
              <a:ext cx="1081087" cy="647700"/>
            </a:xfrm>
            <a:prstGeom prst="flowChartDocument">
              <a:avLst/>
            </a:prstGeom>
            <a:solidFill>
              <a:srgbClr val="EAEAEA"/>
            </a:solidFill>
            <a:ln w="9525">
              <a:solidFill>
                <a:schemeClr val="tx1"/>
              </a:solidFill>
              <a:miter lim="800000"/>
              <a:headEnd/>
              <a:tailEnd/>
            </a:ln>
          </p:spPr>
          <p:txBody>
            <a:bodyPr wrap="none" anchor="ctr"/>
            <a:lstStyle/>
            <a:p>
              <a:pPr algn="ctr" eaLnBrk="0" hangingPunct="0"/>
              <a:r>
                <a:rPr lang="zh-CN" altLang="en-US" sz="1600" b="1">
                  <a:ea typeface="宋体" panose="02010600030101010101" pitchFamily="2" charset="-122"/>
                </a:rPr>
                <a:t>超时之前</a:t>
              </a:r>
            </a:p>
            <a:p>
              <a:pPr algn="ctr" eaLnBrk="0" hangingPunct="0"/>
              <a:r>
                <a:rPr lang="zh-CN" altLang="en-US" sz="1600" b="1">
                  <a:ea typeface="宋体" panose="02010600030101010101" pitchFamily="2" charset="-122"/>
                </a:rPr>
                <a:t>收到 </a:t>
              </a:r>
              <a:r>
                <a:rPr lang="en-US" altLang="zh-CN" sz="1600" b="1">
                  <a:latin typeface="Times New Roman" panose="02020603050405020304" pitchFamily="18" charset="0"/>
                  <a:ea typeface="宋体" panose="02010600030101010101" pitchFamily="2" charset="-122"/>
                </a:rPr>
                <a:t>ACK?</a:t>
              </a:r>
            </a:p>
          </p:txBody>
        </p:sp>
        <p:cxnSp>
          <p:nvCxnSpPr>
            <p:cNvPr id="2441245" name="AutoShape 37"/>
            <p:cNvCxnSpPr>
              <a:cxnSpLocks noChangeShapeType="1"/>
              <a:stCxn id="2441238" idx="1"/>
              <a:endCxn id="2441226" idx="0"/>
            </p:cNvCxnSpPr>
            <p:nvPr/>
          </p:nvCxnSpPr>
          <p:spPr bwMode="auto">
            <a:xfrm flipH="1">
              <a:off x="4564063" y="6076950"/>
              <a:ext cx="1617662"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41246" name="AutoShape 40"/>
            <p:cNvCxnSpPr>
              <a:cxnSpLocks noChangeShapeType="1"/>
              <a:stCxn id="2441230" idx="1"/>
              <a:endCxn id="2441226" idx="0"/>
            </p:cNvCxnSpPr>
            <p:nvPr/>
          </p:nvCxnSpPr>
          <p:spPr bwMode="auto">
            <a:xfrm rot="10800000" flipV="1">
              <a:off x="5075238" y="3902075"/>
              <a:ext cx="1112837" cy="219075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441247" name="AutoShape 41"/>
            <p:cNvSpPr>
              <a:spLocks noChangeArrowheads="1"/>
            </p:cNvSpPr>
            <p:nvPr/>
          </p:nvSpPr>
          <p:spPr bwMode="auto">
            <a:xfrm>
              <a:off x="2574925" y="5973763"/>
              <a:ext cx="215900" cy="215900"/>
            </a:xfrm>
            <a:prstGeom prst="flowChartDecision">
              <a:avLst/>
            </a:prstGeom>
            <a:solidFill>
              <a:srgbClr val="C0C0C0"/>
            </a:solidFill>
            <a:ln w="9525">
              <a:solidFill>
                <a:schemeClr val="tx1"/>
              </a:solidFill>
              <a:miter lim="800000"/>
              <a:headEnd/>
              <a:tailEnd/>
            </a:ln>
          </p:spPr>
          <p:txBody>
            <a:bodyPr wrap="none" anchor="ctr"/>
            <a:lstStyle/>
            <a:p>
              <a:pPr eaLnBrk="0" hangingPunct="0"/>
              <a:endParaRPr lang="zh-CN" altLang="en-US" b="1">
                <a:ea typeface="宋体" panose="02010600030101010101" pitchFamily="2" charset="-122"/>
              </a:endParaRPr>
            </a:p>
          </p:txBody>
        </p:sp>
        <p:cxnSp>
          <p:nvCxnSpPr>
            <p:cNvPr id="2441248" name="AutoShape 43"/>
            <p:cNvCxnSpPr>
              <a:cxnSpLocks noChangeShapeType="1"/>
              <a:stCxn id="2441230" idx="1"/>
              <a:endCxn id="2441226" idx="0"/>
            </p:cNvCxnSpPr>
            <p:nvPr/>
          </p:nvCxnSpPr>
          <p:spPr bwMode="auto">
            <a:xfrm flipH="1">
              <a:off x="2679700" y="6191250"/>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49" name="Oval 44"/>
            <p:cNvSpPr>
              <a:spLocks noChangeArrowheads="1"/>
            </p:cNvSpPr>
            <p:nvPr/>
          </p:nvSpPr>
          <p:spPr bwMode="auto">
            <a:xfrm>
              <a:off x="2528888" y="6415088"/>
              <a:ext cx="287337" cy="287337"/>
            </a:xfrm>
            <a:prstGeom prst="ellipse">
              <a:avLst/>
            </a:prstGeom>
            <a:solidFill>
              <a:srgbClr val="5F5F5F"/>
            </a:solidFill>
            <a:ln w="57150" cmpd="thinThick">
              <a:solidFill>
                <a:schemeClr val="tx1"/>
              </a:solidFill>
              <a:round/>
              <a:headEnd/>
              <a:tailEnd/>
            </a:ln>
          </p:spPr>
          <p:txBody>
            <a:bodyPr wrap="none" anchor="ctr"/>
            <a:lstStyle/>
            <a:p>
              <a:pPr eaLnBrk="0" hangingPunct="0"/>
              <a:endParaRPr lang="zh-CN" altLang="en-US" b="1">
                <a:ea typeface="宋体" panose="02010600030101010101" pitchFamily="2" charset="-122"/>
              </a:endParaRPr>
            </a:p>
          </p:txBody>
        </p:sp>
        <p:sp>
          <p:nvSpPr>
            <p:cNvPr id="2441250" name="AutoShape 45"/>
            <p:cNvSpPr>
              <a:spLocks noChangeArrowheads="1"/>
            </p:cNvSpPr>
            <p:nvPr/>
          </p:nvSpPr>
          <p:spPr bwMode="auto">
            <a:xfrm>
              <a:off x="2047875" y="2781300"/>
              <a:ext cx="1296988" cy="671513"/>
            </a:xfrm>
            <a:prstGeom prst="flowChartProcess">
              <a:avLst/>
            </a:prstGeom>
            <a:solidFill>
              <a:srgbClr val="F8F8F8"/>
            </a:solidFill>
            <a:ln w="9525">
              <a:solidFill>
                <a:schemeClr val="tx1"/>
              </a:solidFill>
              <a:miter lim="800000"/>
              <a:headEnd/>
              <a:tailEnd/>
            </a:ln>
          </p:spPr>
          <p:txBody>
            <a:bodyPr wrap="none" anchor="ctr"/>
            <a:lstStyle/>
            <a:p>
              <a:pPr algn="ctr" eaLnBrk="0" hangingPunct="0"/>
              <a:r>
                <a:rPr lang="zh-CN" altLang="en-US" sz="1600" b="1">
                  <a:latin typeface="Times New Roman" panose="02020603050405020304" pitchFamily="18" charset="0"/>
                  <a:ea typeface="宋体" panose="02010600030101010101" pitchFamily="2" charset="-122"/>
                </a:rPr>
                <a:t>计算退避时间</a:t>
              </a:r>
            </a:p>
            <a:p>
              <a:pPr algn="ctr" eaLnBrk="0" hangingPunct="0"/>
              <a:r>
                <a:rPr lang="zh-CN" altLang="en-US" sz="1600" b="1">
                  <a:latin typeface="Times New Roman" panose="02020603050405020304" pitchFamily="18" charset="0"/>
                  <a:ea typeface="宋体" panose="02010600030101010101" pitchFamily="2" charset="-122"/>
                </a:rPr>
                <a:t>并等待</a:t>
              </a:r>
            </a:p>
          </p:txBody>
        </p:sp>
        <p:sp>
          <p:nvSpPr>
            <p:cNvPr id="2441251" name="AutoShape 46"/>
            <p:cNvSpPr>
              <a:spLocks noChangeArrowheads="1"/>
            </p:cNvSpPr>
            <p:nvPr/>
          </p:nvSpPr>
          <p:spPr bwMode="auto">
            <a:xfrm>
              <a:off x="468313" y="5589588"/>
              <a:ext cx="1081087" cy="431800"/>
            </a:xfrm>
            <a:prstGeom prst="flowChartDocument">
              <a:avLst/>
            </a:prstGeom>
            <a:solidFill>
              <a:srgbClr val="EAEAEA"/>
            </a:solidFill>
            <a:ln w="9525">
              <a:solidFill>
                <a:schemeClr val="tx1"/>
              </a:solidFill>
              <a:miter lim="800000"/>
              <a:headEnd/>
              <a:tailEnd/>
            </a:ln>
          </p:spPr>
          <p:txBody>
            <a:bodyPr wrap="none" anchor="ctr"/>
            <a:lstStyle/>
            <a:p>
              <a:pPr algn="ctr" eaLnBrk="0" hangingPunct="0"/>
              <a:r>
                <a:rPr lang="en-US" altLang="zh-CN" sz="1600" b="1" i="1">
                  <a:latin typeface="Times New Roman" panose="02020603050405020304" pitchFamily="18" charset="0"/>
                  <a:ea typeface="宋体" panose="02010600030101010101" pitchFamily="2" charset="-122"/>
                </a:rPr>
                <a:t>i</a:t>
              </a:r>
              <a:r>
                <a:rPr lang="en-US" altLang="zh-CN" sz="1600" b="1">
                  <a:ea typeface="宋体" panose="02010600030101010101" pitchFamily="2" charset="-122"/>
                </a:rPr>
                <a:t> &lt; </a:t>
              </a:r>
              <a:r>
                <a:rPr lang="zh-CN" altLang="en-US" sz="1600" b="1">
                  <a:ea typeface="宋体" panose="02010600030101010101" pitchFamily="2" charset="-122"/>
                </a:rPr>
                <a:t>上限</a:t>
              </a:r>
              <a:r>
                <a:rPr lang="en-US" altLang="zh-CN" sz="1600" b="1">
                  <a:latin typeface="Times New Roman" panose="02020603050405020304" pitchFamily="18" charset="0"/>
                  <a:ea typeface="宋体" panose="02010600030101010101" pitchFamily="2" charset="-122"/>
                </a:rPr>
                <a:t>?</a:t>
              </a:r>
            </a:p>
          </p:txBody>
        </p:sp>
        <p:cxnSp>
          <p:nvCxnSpPr>
            <p:cNvPr id="2441252" name="AutoShape 47"/>
            <p:cNvCxnSpPr>
              <a:cxnSpLocks noChangeShapeType="1"/>
              <a:stCxn id="2441242" idx="1"/>
              <a:endCxn id="2441226" idx="0"/>
            </p:cNvCxnSpPr>
            <p:nvPr/>
          </p:nvCxnSpPr>
          <p:spPr bwMode="auto">
            <a:xfrm flipH="1" flipV="1">
              <a:off x="2778125" y="6073775"/>
              <a:ext cx="627063" cy="158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41253" name="AutoShape 48"/>
            <p:cNvCxnSpPr>
              <a:cxnSpLocks noChangeShapeType="1"/>
              <a:stCxn id="2441247" idx="0"/>
              <a:endCxn id="2441250" idx="2"/>
            </p:cNvCxnSpPr>
            <p:nvPr/>
          </p:nvCxnSpPr>
          <p:spPr bwMode="auto">
            <a:xfrm flipV="1">
              <a:off x="2682875" y="3452813"/>
              <a:ext cx="14288" cy="25209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41254" name="AutoShape 49"/>
            <p:cNvCxnSpPr>
              <a:cxnSpLocks noChangeShapeType="1"/>
              <a:stCxn id="2441250" idx="0"/>
              <a:endCxn id="2441250" idx="2"/>
            </p:cNvCxnSpPr>
            <p:nvPr/>
          </p:nvCxnSpPr>
          <p:spPr bwMode="auto">
            <a:xfrm rot="-5400000">
              <a:off x="3732213" y="217488"/>
              <a:ext cx="1528762" cy="3598862"/>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441255" name="AutoShape 50"/>
            <p:cNvCxnSpPr>
              <a:cxnSpLocks noChangeShapeType="1"/>
              <a:stCxn id="2441250" idx="0"/>
              <a:endCxn id="2441219" idx="0"/>
            </p:cNvCxnSpPr>
            <p:nvPr/>
          </p:nvCxnSpPr>
          <p:spPr bwMode="auto">
            <a:xfrm flipH="1">
              <a:off x="6299200" y="692150"/>
              <a:ext cx="1588" cy="2159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56" name="Oval 51"/>
            <p:cNvSpPr>
              <a:spLocks noChangeArrowheads="1"/>
            </p:cNvSpPr>
            <p:nvPr/>
          </p:nvSpPr>
          <p:spPr bwMode="auto">
            <a:xfrm>
              <a:off x="6181725" y="482600"/>
              <a:ext cx="223838" cy="223838"/>
            </a:xfrm>
            <a:prstGeom prst="ellipse">
              <a:avLst/>
            </a:prstGeom>
            <a:solidFill>
              <a:srgbClr val="5F5F5F"/>
            </a:solidFill>
            <a:ln w="38100">
              <a:solidFill>
                <a:schemeClr val="tx1"/>
              </a:solidFill>
              <a:round/>
              <a:headEnd/>
              <a:tailEnd/>
            </a:ln>
          </p:spPr>
          <p:txBody>
            <a:bodyPr wrap="none" anchor="ctr"/>
            <a:lstStyle/>
            <a:p>
              <a:pPr eaLnBrk="0" hangingPunct="0"/>
              <a:endParaRPr lang="zh-CN" altLang="en-US" b="1">
                <a:ea typeface="宋体" panose="02010600030101010101" pitchFamily="2" charset="-122"/>
              </a:endParaRPr>
            </a:p>
          </p:txBody>
        </p:sp>
        <p:sp>
          <p:nvSpPr>
            <p:cNvPr id="2441257" name="Line 52"/>
            <p:cNvSpPr>
              <a:spLocks noChangeShapeType="1"/>
            </p:cNvSpPr>
            <p:nvPr/>
          </p:nvSpPr>
          <p:spPr bwMode="auto">
            <a:xfrm>
              <a:off x="1547813" y="5805488"/>
              <a:ext cx="1144587" cy="2841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2441258" name="Line 53"/>
            <p:cNvSpPr>
              <a:spLocks noChangeShapeType="1"/>
            </p:cNvSpPr>
            <p:nvPr/>
          </p:nvSpPr>
          <p:spPr bwMode="auto">
            <a:xfrm flipV="1">
              <a:off x="6297613" y="1609725"/>
              <a:ext cx="995362" cy="1952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2441259" name="Line 54"/>
            <p:cNvSpPr>
              <a:spLocks noChangeShapeType="1"/>
            </p:cNvSpPr>
            <p:nvPr/>
          </p:nvSpPr>
          <p:spPr bwMode="auto">
            <a:xfrm flipV="1">
              <a:off x="6319838" y="3673475"/>
              <a:ext cx="995362" cy="1952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2441260" name="Line 55"/>
            <p:cNvSpPr>
              <a:spLocks noChangeShapeType="1"/>
            </p:cNvSpPr>
            <p:nvPr/>
          </p:nvSpPr>
          <p:spPr bwMode="auto">
            <a:xfrm flipV="1">
              <a:off x="6297613" y="5876925"/>
              <a:ext cx="995362" cy="1952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2441261" name="Text Box 56"/>
            <p:cNvSpPr txBox="1">
              <a:spLocks noChangeArrowheads="1"/>
            </p:cNvSpPr>
            <p:nvPr/>
          </p:nvSpPr>
          <p:spPr bwMode="auto">
            <a:xfrm>
              <a:off x="6300788" y="1757363"/>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是</a:t>
              </a:r>
            </a:p>
          </p:txBody>
        </p:sp>
        <p:sp>
          <p:nvSpPr>
            <p:cNvPr id="2441262" name="Text Box 57"/>
            <p:cNvSpPr txBox="1">
              <a:spLocks noChangeArrowheads="1"/>
            </p:cNvSpPr>
            <p:nvPr/>
          </p:nvSpPr>
          <p:spPr bwMode="auto">
            <a:xfrm>
              <a:off x="6269038" y="609758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是</a:t>
              </a:r>
            </a:p>
          </p:txBody>
        </p:sp>
        <p:sp>
          <p:nvSpPr>
            <p:cNvPr id="2441263" name="Text Box 58"/>
            <p:cNvSpPr txBox="1">
              <a:spLocks noChangeArrowheads="1"/>
            </p:cNvSpPr>
            <p:nvPr/>
          </p:nvSpPr>
          <p:spPr bwMode="auto">
            <a:xfrm>
              <a:off x="6275388" y="391318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是</a:t>
              </a:r>
            </a:p>
          </p:txBody>
        </p:sp>
        <p:sp>
          <p:nvSpPr>
            <p:cNvPr id="2441264" name="Text Box 59"/>
            <p:cNvSpPr txBox="1">
              <a:spLocks noChangeArrowheads="1"/>
            </p:cNvSpPr>
            <p:nvPr/>
          </p:nvSpPr>
          <p:spPr bwMode="auto">
            <a:xfrm>
              <a:off x="2614613" y="571023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是</a:t>
              </a:r>
            </a:p>
          </p:txBody>
        </p:sp>
        <p:sp>
          <p:nvSpPr>
            <p:cNvPr id="2441265" name="Text Box 60"/>
            <p:cNvSpPr txBox="1">
              <a:spLocks noChangeArrowheads="1"/>
            </p:cNvSpPr>
            <p:nvPr/>
          </p:nvSpPr>
          <p:spPr bwMode="auto">
            <a:xfrm>
              <a:off x="5915025" y="149383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否</a:t>
              </a:r>
            </a:p>
          </p:txBody>
        </p:sp>
        <p:sp>
          <p:nvSpPr>
            <p:cNvPr id="2441266" name="Text Box 61"/>
            <p:cNvSpPr txBox="1">
              <a:spLocks noChangeArrowheads="1"/>
            </p:cNvSpPr>
            <p:nvPr/>
          </p:nvSpPr>
          <p:spPr bwMode="auto">
            <a:xfrm>
              <a:off x="5867400" y="3573463"/>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否</a:t>
              </a:r>
            </a:p>
          </p:txBody>
        </p:sp>
        <p:sp>
          <p:nvSpPr>
            <p:cNvPr id="2441267" name="Text Box 62"/>
            <p:cNvSpPr txBox="1">
              <a:spLocks noChangeArrowheads="1"/>
            </p:cNvSpPr>
            <p:nvPr/>
          </p:nvSpPr>
          <p:spPr bwMode="auto">
            <a:xfrm>
              <a:off x="5867400" y="5734050"/>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否</a:t>
              </a:r>
            </a:p>
          </p:txBody>
        </p:sp>
        <p:sp>
          <p:nvSpPr>
            <p:cNvPr id="2441268" name="Text Box 63"/>
            <p:cNvSpPr txBox="1">
              <a:spLocks noChangeArrowheads="1"/>
            </p:cNvSpPr>
            <p:nvPr/>
          </p:nvSpPr>
          <p:spPr bwMode="auto">
            <a:xfrm>
              <a:off x="2627313" y="6092825"/>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否</a:t>
              </a:r>
            </a:p>
          </p:txBody>
        </p:sp>
        <p:sp>
          <p:nvSpPr>
            <p:cNvPr id="2441269" name="Text Box 64"/>
            <p:cNvSpPr txBox="1">
              <a:spLocks noChangeArrowheads="1"/>
            </p:cNvSpPr>
            <p:nvPr/>
          </p:nvSpPr>
          <p:spPr bwMode="auto">
            <a:xfrm>
              <a:off x="3563938" y="620713"/>
              <a:ext cx="1800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退避变量 </a:t>
              </a:r>
              <a:r>
                <a:rPr lang="en-US" altLang="zh-CN" sz="1600" b="1" i="1">
                  <a:latin typeface="Times New Roman" panose="02020603050405020304" pitchFamily="18" charset="0"/>
                  <a:ea typeface="宋体" panose="02010600030101010101" pitchFamily="2" charset="-122"/>
                </a:rPr>
                <a:t>i</a:t>
              </a:r>
              <a:r>
                <a:rPr lang="en-US" altLang="zh-CN" sz="1600" b="1">
                  <a:ea typeface="宋体" panose="02010600030101010101" pitchFamily="2" charset="-122"/>
                </a:rPr>
                <a:t> </a:t>
              </a:r>
              <a:r>
                <a:rPr lang="zh-CN" altLang="en-US" sz="1600" b="1">
                  <a:ea typeface="宋体" panose="02010600030101010101" pitchFamily="2" charset="-122"/>
                </a:rPr>
                <a:t>初始化</a:t>
              </a:r>
            </a:p>
          </p:txBody>
        </p:sp>
        <p:sp>
          <p:nvSpPr>
            <p:cNvPr id="2441270" name="Line 65"/>
            <p:cNvSpPr>
              <a:spLocks noChangeShapeType="1"/>
            </p:cNvSpPr>
            <p:nvPr/>
          </p:nvSpPr>
          <p:spPr bwMode="auto">
            <a:xfrm>
              <a:off x="5292725" y="815975"/>
              <a:ext cx="704850" cy="203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2441271" name="Text Box 66"/>
            <p:cNvSpPr txBox="1">
              <a:spLocks noChangeArrowheads="1"/>
            </p:cNvSpPr>
            <p:nvPr/>
          </p:nvSpPr>
          <p:spPr bwMode="auto">
            <a:xfrm>
              <a:off x="6443663" y="404813"/>
              <a:ext cx="17287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有数据帧要发送</a:t>
              </a:r>
            </a:p>
          </p:txBody>
        </p:sp>
        <p:sp>
          <p:nvSpPr>
            <p:cNvPr id="2441272" name="Text Box 67"/>
            <p:cNvSpPr txBox="1">
              <a:spLocks noChangeArrowheads="1"/>
            </p:cNvSpPr>
            <p:nvPr/>
          </p:nvSpPr>
          <p:spPr bwMode="auto">
            <a:xfrm>
              <a:off x="6481763" y="6378575"/>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成功</a:t>
              </a:r>
            </a:p>
          </p:txBody>
        </p:sp>
        <p:sp>
          <p:nvSpPr>
            <p:cNvPr id="2441273" name="Text Box 68"/>
            <p:cNvSpPr txBox="1">
              <a:spLocks noChangeArrowheads="1"/>
            </p:cNvSpPr>
            <p:nvPr/>
          </p:nvSpPr>
          <p:spPr bwMode="auto">
            <a:xfrm>
              <a:off x="1935163" y="6372225"/>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放弃</a:t>
              </a:r>
            </a:p>
          </p:txBody>
        </p:sp>
        <p:sp>
          <p:nvSpPr>
            <p:cNvPr id="2441274" name="Text Box 69"/>
            <p:cNvSpPr txBox="1">
              <a:spLocks noChangeArrowheads="1"/>
            </p:cNvSpPr>
            <p:nvPr/>
          </p:nvSpPr>
          <p:spPr bwMode="auto">
            <a:xfrm>
              <a:off x="7340600" y="1052513"/>
              <a:ext cx="13684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载波监听</a:t>
              </a:r>
            </a:p>
          </p:txBody>
        </p:sp>
        <p:sp>
          <p:nvSpPr>
            <p:cNvPr id="2441275" name="Text Box 70"/>
            <p:cNvSpPr txBox="1">
              <a:spLocks noChangeArrowheads="1"/>
            </p:cNvSpPr>
            <p:nvPr/>
          </p:nvSpPr>
          <p:spPr bwMode="auto">
            <a:xfrm>
              <a:off x="7308850" y="2420938"/>
              <a:ext cx="13684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预约信道</a:t>
              </a:r>
            </a:p>
          </p:txBody>
        </p:sp>
        <p:sp>
          <p:nvSpPr>
            <p:cNvPr id="2441276" name="Line 71"/>
            <p:cNvSpPr>
              <a:spLocks noChangeShapeType="1"/>
            </p:cNvSpPr>
            <p:nvPr/>
          </p:nvSpPr>
          <p:spPr bwMode="auto">
            <a:xfrm flipV="1">
              <a:off x="6865938" y="2651125"/>
              <a:ext cx="492125" cy="1412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2441277" name="Text Box 72"/>
            <p:cNvSpPr txBox="1">
              <a:spLocks noChangeArrowheads="1"/>
            </p:cNvSpPr>
            <p:nvPr/>
          </p:nvSpPr>
          <p:spPr bwMode="auto">
            <a:xfrm>
              <a:off x="7332663" y="4614863"/>
              <a:ext cx="13684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发送数据</a:t>
              </a:r>
            </a:p>
          </p:txBody>
        </p:sp>
        <p:sp>
          <p:nvSpPr>
            <p:cNvPr id="2441278" name="Line 73"/>
            <p:cNvSpPr>
              <a:spLocks noChangeShapeType="1"/>
            </p:cNvSpPr>
            <p:nvPr/>
          </p:nvSpPr>
          <p:spPr bwMode="auto">
            <a:xfrm flipV="1">
              <a:off x="6910388" y="4829175"/>
              <a:ext cx="492125" cy="1412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2441279" name="Text Box 74"/>
            <p:cNvSpPr txBox="1">
              <a:spLocks noChangeArrowheads="1"/>
            </p:cNvSpPr>
            <p:nvPr/>
          </p:nvSpPr>
          <p:spPr bwMode="auto">
            <a:xfrm>
              <a:off x="1331913" y="692150"/>
              <a:ext cx="20875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1600" b="1">
                  <a:ea typeface="宋体" panose="02010600030101010101" pitchFamily="2" charset="-122"/>
                </a:rPr>
                <a:t>等待一个退避时间后</a:t>
              </a:r>
            </a:p>
            <a:p>
              <a:pPr algn="ctr" eaLnBrk="0" hangingPunct="0"/>
              <a:r>
                <a:rPr lang="zh-CN" altLang="en-US" sz="1600" b="1">
                  <a:ea typeface="宋体" panose="02010600030101010101" pitchFamily="2" charset="-122"/>
                </a:rPr>
                <a:t>才继续监听信道</a:t>
              </a:r>
            </a:p>
          </p:txBody>
        </p:sp>
      </p:grpSp>
      <p:sp>
        <p:nvSpPr>
          <p:cNvPr id="2441280" name="灯片编号占位符 6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149AE4-4CF7-49FD-82F7-8D6C6C36E5D0}" type="slidenum">
              <a:rPr lang="zh-CN" altLang="en-US" smtClean="0"/>
              <a:pPr eaLnBrk="1" hangingPunct="1"/>
              <a:t>50</a:t>
            </a:fld>
            <a:endParaRPr lang="en-US" altLang="zh-CN" smtClean="0"/>
          </a:p>
        </p:txBody>
      </p:sp>
      <p:sp>
        <p:nvSpPr>
          <p:cNvPr id="2441281" name="页脚占位符 6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326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9.1.4  802.11 </a:t>
            </a:r>
            <a:r>
              <a:rPr lang="zh-CN" altLang="en-US" smtClean="0">
                <a:ea typeface="黑体" panose="02010609060101010101" pitchFamily="49" charset="-122"/>
              </a:rPr>
              <a:t>局域网的 </a:t>
            </a:r>
            <a:r>
              <a:rPr lang="en-US" altLang="zh-CN" smtClean="0">
                <a:ea typeface="黑体" panose="02010609060101010101" pitchFamily="49" charset="-122"/>
              </a:rPr>
              <a:t>MAC </a:t>
            </a:r>
            <a:r>
              <a:rPr lang="zh-CN" altLang="en-US" smtClean="0">
                <a:ea typeface="黑体" panose="02010609060101010101" pitchFamily="49" charset="-122"/>
              </a:rPr>
              <a:t>帧</a:t>
            </a:r>
          </a:p>
        </p:txBody>
      </p:sp>
      <p:sp>
        <p:nvSpPr>
          <p:cNvPr id="2443266"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802.11 </a:t>
            </a:r>
            <a:r>
              <a:rPr lang="zh-CN" altLang="en-US" dirty="0" smtClean="0">
                <a:ea typeface="黑体" panose="02010609060101010101" pitchFamily="49" charset="-122"/>
              </a:rPr>
              <a:t>帧共有三种类型：</a:t>
            </a:r>
            <a:r>
              <a:rPr lang="zh-CN" altLang="en-US" dirty="0" smtClean="0">
                <a:solidFill>
                  <a:srgbClr val="FF0000"/>
                </a:solidFill>
                <a:ea typeface="黑体" panose="02010609060101010101" pitchFamily="49" charset="-122"/>
              </a:rPr>
              <a:t>控制帧</a:t>
            </a:r>
            <a:r>
              <a:rPr lang="zh-CN" altLang="en-US" dirty="0" smtClean="0">
                <a:ea typeface="黑体" panose="02010609060101010101" pitchFamily="49" charset="-122"/>
              </a:rPr>
              <a:t>、</a:t>
            </a:r>
            <a:r>
              <a:rPr lang="zh-CN" altLang="en-US" dirty="0" smtClean="0">
                <a:solidFill>
                  <a:srgbClr val="FF0000"/>
                </a:solidFill>
                <a:ea typeface="黑体" panose="02010609060101010101" pitchFamily="49" charset="-122"/>
              </a:rPr>
              <a:t>数据帧</a:t>
            </a:r>
            <a:r>
              <a:rPr lang="zh-CN" altLang="en-US" dirty="0" smtClean="0">
                <a:ea typeface="黑体" panose="02010609060101010101" pitchFamily="49" charset="-122"/>
              </a:rPr>
              <a:t>和</a:t>
            </a:r>
            <a:r>
              <a:rPr lang="zh-CN" altLang="en-US" dirty="0" smtClean="0">
                <a:solidFill>
                  <a:srgbClr val="FF0000"/>
                </a:solidFill>
                <a:ea typeface="黑体" panose="02010609060101010101" pitchFamily="49" charset="-122"/>
              </a:rPr>
              <a:t>管理帧</a:t>
            </a:r>
            <a:r>
              <a:rPr lang="zh-CN" altLang="en-US" dirty="0" smtClean="0">
                <a:ea typeface="黑体" panose="02010609060101010101" pitchFamily="49" charset="-122"/>
              </a:rPr>
              <a:t>。</a:t>
            </a:r>
          </a:p>
        </p:txBody>
      </p:sp>
      <p:grpSp>
        <p:nvGrpSpPr>
          <p:cNvPr id="2443267" name="组合 2"/>
          <p:cNvGrpSpPr>
            <a:grpSpLocks/>
          </p:cNvGrpSpPr>
          <p:nvPr/>
        </p:nvGrpSpPr>
        <p:grpSpPr bwMode="auto">
          <a:xfrm>
            <a:off x="244475" y="2311400"/>
            <a:ext cx="9604375" cy="2630488"/>
            <a:chOff x="200472" y="3030051"/>
            <a:chExt cx="9605037" cy="2630154"/>
          </a:xfrm>
        </p:grpSpPr>
        <p:sp>
          <p:nvSpPr>
            <p:cNvPr id="2443268" name="Freeform 4"/>
            <p:cNvSpPr>
              <a:spLocks noChangeArrowheads="1"/>
            </p:cNvSpPr>
            <p:nvPr/>
          </p:nvSpPr>
          <p:spPr bwMode="auto">
            <a:xfrm>
              <a:off x="523793" y="4509120"/>
              <a:ext cx="8736542" cy="576263"/>
            </a:xfrm>
            <a:custGeom>
              <a:avLst/>
              <a:gdLst>
                <a:gd name="T0" fmla="*/ 0 w 5080"/>
                <a:gd name="T1" fmla="*/ 363 h 363"/>
                <a:gd name="T2" fmla="*/ 181 w 5080"/>
                <a:gd name="T3" fmla="*/ 0 h 363"/>
                <a:gd name="T4" fmla="*/ 725 w 5080"/>
                <a:gd name="T5" fmla="*/ 0 h 363"/>
                <a:gd name="T6" fmla="*/ 5080 w 5080"/>
                <a:gd name="T7" fmla="*/ 363 h 363"/>
                <a:gd name="T8" fmla="*/ 0 w 5080"/>
                <a:gd name="T9" fmla="*/ 363 h 363"/>
              </a:gdLst>
              <a:ahLst/>
              <a:cxnLst>
                <a:cxn ang="0">
                  <a:pos x="T0" y="T1"/>
                </a:cxn>
                <a:cxn ang="0">
                  <a:pos x="T2" y="T3"/>
                </a:cxn>
                <a:cxn ang="0">
                  <a:pos x="T4" y="T5"/>
                </a:cxn>
                <a:cxn ang="0">
                  <a:pos x="T6" y="T7"/>
                </a:cxn>
                <a:cxn ang="0">
                  <a:pos x="T8" y="T9"/>
                </a:cxn>
              </a:cxnLst>
              <a:rect l="0" t="0" r="r" b="b"/>
              <a:pathLst>
                <a:path w="5080" h="363">
                  <a:moveTo>
                    <a:pt x="0" y="363"/>
                  </a:moveTo>
                  <a:lnTo>
                    <a:pt x="181" y="0"/>
                  </a:lnTo>
                  <a:lnTo>
                    <a:pt x="725" y="0"/>
                  </a:lnTo>
                  <a:lnTo>
                    <a:pt x="5080" y="363"/>
                  </a:lnTo>
                  <a:lnTo>
                    <a:pt x="0" y="363"/>
                  </a:lnTo>
                  <a:close/>
                </a:path>
              </a:pathLst>
            </a:custGeom>
            <a:gradFill rotWithShape="1">
              <a:gsLst>
                <a:gs pos="0">
                  <a:srgbClr val="767647"/>
                </a:gs>
                <a:gs pos="100000">
                  <a:srgbClr val="FFFF66"/>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443269" name="Text Box 5"/>
            <p:cNvSpPr txBox="1">
              <a:spLocks noChangeArrowheads="1"/>
            </p:cNvSpPr>
            <p:nvPr/>
          </p:nvSpPr>
          <p:spPr bwMode="auto">
            <a:xfrm>
              <a:off x="324297" y="3809180"/>
              <a:ext cx="85459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solidFill>
                    <a:srgbClr val="000099"/>
                  </a:solidFill>
                  <a:ea typeface="宋体" panose="02010600030101010101" pitchFamily="2" charset="-122"/>
                </a:rPr>
                <a:t>字节     </a:t>
              </a:r>
              <a:r>
                <a:rPr lang="en-US" altLang="zh-CN" sz="1600" b="1">
                  <a:solidFill>
                    <a:srgbClr val="000099"/>
                  </a:solidFill>
                  <a:ea typeface="宋体" panose="02010600030101010101" pitchFamily="2" charset="-122"/>
                </a:rPr>
                <a:t>2              2            6              6             6              2            6           0 ~ 2312             4</a:t>
              </a:r>
            </a:p>
          </p:txBody>
        </p:sp>
        <p:sp>
          <p:nvSpPr>
            <p:cNvPr id="2443270" name="Rectangle 6"/>
            <p:cNvSpPr>
              <a:spLocks noChangeArrowheads="1"/>
            </p:cNvSpPr>
            <p:nvPr/>
          </p:nvSpPr>
          <p:spPr bwMode="auto">
            <a:xfrm>
              <a:off x="836795" y="4156843"/>
              <a:ext cx="928688" cy="342900"/>
            </a:xfrm>
            <a:prstGeom prst="rect">
              <a:avLst/>
            </a:prstGeom>
            <a:solidFill>
              <a:srgbClr val="FFFF66"/>
            </a:solidFill>
            <a:ln w="9525">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3271" name="Rectangle 7"/>
            <p:cNvSpPr>
              <a:spLocks noChangeArrowheads="1"/>
            </p:cNvSpPr>
            <p:nvPr/>
          </p:nvSpPr>
          <p:spPr bwMode="auto">
            <a:xfrm>
              <a:off x="833355" y="4147318"/>
              <a:ext cx="937287" cy="360362"/>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zh-CN" altLang="en-US" sz="1600" b="1">
                  <a:solidFill>
                    <a:srgbClr val="000099"/>
                  </a:solidFill>
                  <a:ea typeface="宋体" panose="02010600030101010101" pitchFamily="2" charset="-122"/>
                </a:rPr>
                <a:t>帧控制</a:t>
              </a:r>
            </a:p>
          </p:txBody>
        </p:sp>
        <p:sp>
          <p:nvSpPr>
            <p:cNvPr id="2443272" name="Rectangle 8"/>
            <p:cNvSpPr>
              <a:spLocks noChangeArrowheads="1"/>
            </p:cNvSpPr>
            <p:nvPr/>
          </p:nvSpPr>
          <p:spPr bwMode="auto">
            <a:xfrm>
              <a:off x="1770643" y="4147318"/>
              <a:ext cx="937286" cy="360362"/>
            </a:xfrm>
            <a:prstGeom prst="rect">
              <a:avLst/>
            </a:prstGeom>
            <a:solidFill>
              <a:srgbClr val="CCECFF"/>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持续期</a:t>
              </a:r>
            </a:p>
          </p:txBody>
        </p:sp>
        <p:sp>
          <p:nvSpPr>
            <p:cNvPr id="2443273" name="Rectangle 9"/>
            <p:cNvSpPr>
              <a:spLocks noChangeArrowheads="1"/>
            </p:cNvSpPr>
            <p:nvPr/>
          </p:nvSpPr>
          <p:spPr bwMode="auto">
            <a:xfrm>
              <a:off x="2707928" y="4147318"/>
              <a:ext cx="937287" cy="360362"/>
            </a:xfrm>
            <a:prstGeom prst="rect">
              <a:avLst/>
            </a:prstGeom>
            <a:solidFill>
              <a:srgbClr val="CCECFF"/>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地址 </a:t>
              </a:r>
              <a:r>
                <a:rPr lang="en-US" altLang="zh-CN" sz="1600" b="1">
                  <a:solidFill>
                    <a:srgbClr val="000099"/>
                  </a:solidFill>
                  <a:ea typeface="宋体" panose="02010600030101010101" pitchFamily="2" charset="-122"/>
                </a:rPr>
                <a:t>1</a:t>
              </a:r>
            </a:p>
          </p:txBody>
        </p:sp>
        <p:sp>
          <p:nvSpPr>
            <p:cNvPr id="2443274" name="Rectangle 10"/>
            <p:cNvSpPr>
              <a:spLocks noChangeArrowheads="1"/>
            </p:cNvSpPr>
            <p:nvPr/>
          </p:nvSpPr>
          <p:spPr bwMode="auto">
            <a:xfrm>
              <a:off x="3645216" y="4147318"/>
              <a:ext cx="937286" cy="360362"/>
            </a:xfrm>
            <a:prstGeom prst="rect">
              <a:avLst/>
            </a:prstGeom>
            <a:solidFill>
              <a:srgbClr val="CCECFF"/>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地址 </a:t>
              </a:r>
              <a:r>
                <a:rPr lang="en-US" altLang="zh-CN" sz="1600" b="1">
                  <a:solidFill>
                    <a:srgbClr val="000099"/>
                  </a:solidFill>
                  <a:ea typeface="宋体" panose="02010600030101010101" pitchFamily="2" charset="-122"/>
                </a:rPr>
                <a:t>2</a:t>
              </a:r>
            </a:p>
          </p:txBody>
        </p:sp>
        <p:sp>
          <p:nvSpPr>
            <p:cNvPr id="2443275" name="Rectangle 11"/>
            <p:cNvSpPr>
              <a:spLocks noChangeArrowheads="1"/>
            </p:cNvSpPr>
            <p:nvPr/>
          </p:nvSpPr>
          <p:spPr bwMode="auto">
            <a:xfrm>
              <a:off x="4582501" y="4147318"/>
              <a:ext cx="937287" cy="360362"/>
            </a:xfrm>
            <a:prstGeom prst="rect">
              <a:avLst/>
            </a:prstGeom>
            <a:solidFill>
              <a:srgbClr val="CCECFF"/>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地址 </a:t>
              </a:r>
              <a:r>
                <a:rPr lang="en-US" altLang="zh-CN" sz="1600" b="1">
                  <a:solidFill>
                    <a:srgbClr val="000099"/>
                  </a:solidFill>
                  <a:ea typeface="宋体" panose="02010600030101010101" pitchFamily="2" charset="-122"/>
                </a:rPr>
                <a:t>3</a:t>
              </a:r>
            </a:p>
          </p:txBody>
        </p:sp>
        <p:sp>
          <p:nvSpPr>
            <p:cNvPr id="2443276" name="Rectangle 12"/>
            <p:cNvSpPr>
              <a:spLocks noChangeArrowheads="1"/>
            </p:cNvSpPr>
            <p:nvPr/>
          </p:nvSpPr>
          <p:spPr bwMode="auto">
            <a:xfrm>
              <a:off x="5519789" y="4147318"/>
              <a:ext cx="937286" cy="360362"/>
            </a:xfrm>
            <a:prstGeom prst="rect">
              <a:avLst/>
            </a:prstGeom>
            <a:solidFill>
              <a:srgbClr val="CCECFF"/>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序号控制</a:t>
              </a:r>
            </a:p>
          </p:txBody>
        </p:sp>
        <p:sp>
          <p:nvSpPr>
            <p:cNvPr id="2443277" name="Rectangle 13"/>
            <p:cNvSpPr>
              <a:spLocks noChangeArrowheads="1"/>
            </p:cNvSpPr>
            <p:nvPr/>
          </p:nvSpPr>
          <p:spPr bwMode="auto">
            <a:xfrm>
              <a:off x="6457074" y="4147318"/>
              <a:ext cx="937287" cy="360362"/>
            </a:xfrm>
            <a:prstGeom prst="rect">
              <a:avLst/>
            </a:prstGeom>
            <a:solidFill>
              <a:srgbClr val="CCECFF"/>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地址 </a:t>
              </a:r>
              <a:r>
                <a:rPr lang="en-US" altLang="zh-CN" sz="1600" b="1">
                  <a:solidFill>
                    <a:srgbClr val="000099"/>
                  </a:solidFill>
                  <a:ea typeface="宋体" panose="02010600030101010101" pitchFamily="2" charset="-122"/>
                </a:rPr>
                <a:t>4</a:t>
              </a:r>
            </a:p>
          </p:txBody>
        </p:sp>
        <p:sp>
          <p:nvSpPr>
            <p:cNvPr id="2443278" name="Rectangle 14"/>
            <p:cNvSpPr>
              <a:spLocks noChangeArrowheads="1"/>
            </p:cNvSpPr>
            <p:nvPr/>
          </p:nvSpPr>
          <p:spPr bwMode="auto">
            <a:xfrm>
              <a:off x="7394362" y="4147318"/>
              <a:ext cx="1475581" cy="360362"/>
            </a:xfrm>
            <a:prstGeom prst="rect">
              <a:avLst/>
            </a:prstGeom>
            <a:solidFill>
              <a:srgbClr val="CCECFF"/>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帧主体</a:t>
              </a:r>
            </a:p>
          </p:txBody>
        </p:sp>
        <p:sp>
          <p:nvSpPr>
            <p:cNvPr id="2443279" name="Rectangle 15"/>
            <p:cNvSpPr>
              <a:spLocks noChangeArrowheads="1"/>
            </p:cNvSpPr>
            <p:nvPr/>
          </p:nvSpPr>
          <p:spPr bwMode="auto">
            <a:xfrm>
              <a:off x="8868222" y="4147318"/>
              <a:ext cx="937287" cy="360362"/>
            </a:xfrm>
            <a:prstGeom prst="rect">
              <a:avLst/>
            </a:prstGeom>
            <a:solidFill>
              <a:srgbClr val="CCECFF"/>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宋体" panose="02010600030101010101" pitchFamily="2" charset="-122"/>
                </a:rPr>
                <a:t>FCS</a:t>
              </a:r>
            </a:p>
          </p:txBody>
        </p:sp>
        <p:sp>
          <p:nvSpPr>
            <p:cNvPr id="2443280" name="Rectangle 16"/>
            <p:cNvSpPr>
              <a:spLocks noChangeArrowheads="1"/>
            </p:cNvSpPr>
            <p:nvPr/>
          </p:nvSpPr>
          <p:spPr bwMode="auto">
            <a:xfrm>
              <a:off x="522074" y="5083943"/>
              <a:ext cx="937286"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协议</a:t>
              </a:r>
            </a:p>
            <a:p>
              <a:pPr algn="ctr" eaLnBrk="0" hangingPunct="0"/>
              <a:r>
                <a:rPr lang="zh-CN" altLang="en-US" sz="1600" b="1">
                  <a:solidFill>
                    <a:srgbClr val="000099"/>
                  </a:solidFill>
                  <a:ea typeface="宋体" panose="02010600030101010101" pitchFamily="2" charset="-122"/>
                </a:rPr>
                <a:t>版本</a:t>
              </a:r>
            </a:p>
          </p:txBody>
        </p:sp>
        <p:sp>
          <p:nvSpPr>
            <p:cNvPr id="2443281" name="Rectangle 17"/>
            <p:cNvSpPr>
              <a:spLocks noChangeArrowheads="1"/>
            </p:cNvSpPr>
            <p:nvPr/>
          </p:nvSpPr>
          <p:spPr bwMode="auto">
            <a:xfrm>
              <a:off x="1459359" y="5083943"/>
              <a:ext cx="937287"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类型</a:t>
              </a:r>
            </a:p>
          </p:txBody>
        </p:sp>
        <p:sp>
          <p:nvSpPr>
            <p:cNvPr id="2443282" name="Rectangle 18"/>
            <p:cNvSpPr>
              <a:spLocks noChangeArrowheads="1"/>
            </p:cNvSpPr>
            <p:nvPr/>
          </p:nvSpPr>
          <p:spPr bwMode="auto">
            <a:xfrm>
              <a:off x="2396647" y="5083943"/>
              <a:ext cx="1871133"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子类型</a:t>
              </a:r>
            </a:p>
          </p:txBody>
        </p:sp>
        <p:sp>
          <p:nvSpPr>
            <p:cNvPr id="2443283" name="Rectangle 19"/>
            <p:cNvSpPr>
              <a:spLocks noChangeArrowheads="1"/>
            </p:cNvSpPr>
            <p:nvPr/>
          </p:nvSpPr>
          <p:spPr bwMode="auto">
            <a:xfrm>
              <a:off x="4264341" y="5083943"/>
              <a:ext cx="627723"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去往</a:t>
              </a:r>
            </a:p>
            <a:p>
              <a:pPr algn="ctr" eaLnBrk="0" hangingPunct="0"/>
              <a:r>
                <a:rPr lang="en-US" altLang="zh-CN" sz="1600" b="1">
                  <a:solidFill>
                    <a:srgbClr val="000099"/>
                  </a:solidFill>
                  <a:ea typeface="宋体" panose="02010600030101010101" pitchFamily="2" charset="-122"/>
                </a:rPr>
                <a:t>AP</a:t>
              </a:r>
            </a:p>
          </p:txBody>
        </p:sp>
        <p:sp>
          <p:nvSpPr>
            <p:cNvPr id="2443284" name="Rectangle 20"/>
            <p:cNvSpPr>
              <a:spLocks noChangeArrowheads="1"/>
            </p:cNvSpPr>
            <p:nvPr/>
          </p:nvSpPr>
          <p:spPr bwMode="auto">
            <a:xfrm>
              <a:off x="4892063" y="5083943"/>
              <a:ext cx="627725"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来自</a:t>
              </a:r>
            </a:p>
            <a:p>
              <a:pPr algn="ctr" eaLnBrk="0" hangingPunct="0"/>
              <a:r>
                <a:rPr lang="en-US" altLang="zh-CN" sz="1600" b="1">
                  <a:solidFill>
                    <a:srgbClr val="000099"/>
                  </a:solidFill>
                  <a:ea typeface="宋体" panose="02010600030101010101" pitchFamily="2" charset="-122"/>
                </a:rPr>
                <a:t>AP</a:t>
              </a:r>
            </a:p>
          </p:txBody>
        </p:sp>
        <p:sp>
          <p:nvSpPr>
            <p:cNvPr id="2443285" name="Rectangle 21"/>
            <p:cNvSpPr>
              <a:spLocks noChangeArrowheads="1"/>
            </p:cNvSpPr>
            <p:nvPr/>
          </p:nvSpPr>
          <p:spPr bwMode="auto">
            <a:xfrm>
              <a:off x="5519789" y="5083943"/>
              <a:ext cx="627723"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更多</a:t>
              </a:r>
            </a:p>
            <a:p>
              <a:pPr algn="ctr" eaLnBrk="0" hangingPunct="0"/>
              <a:r>
                <a:rPr lang="zh-CN" altLang="en-US" sz="1600" b="1">
                  <a:solidFill>
                    <a:srgbClr val="000099"/>
                  </a:solidFill>
                  <a:ea typeface="宋体" panose="02010600030101010101" pitchFamily="2" charset="-122"/>
                </a:rPr>
                <a:t>分片</a:t>
              </a:r>
            </a:p>
          </p:txBody>
        </p:sp>
        <p:sp>
          <p:nvSpPr>
            <p:cNvPr id="2443286" name="Rectangle 22"/>
            <p:cNvSpPr>
              <a:spLocks noChangeArrowheads="1"/>
            </p:cNvSpPr>
            <p:nvPr/>
          </p:nvSpPr>
          <p:spPr bwMode="auto">
            <a:xfrm>
              <a:off x="6147511" y="5083943"/>
              <a:ext cx="627725"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重试</a:t>
              </a:r>
            </a:p>
          </p:txBody>
        </p:sp>
        <p:sp>
          <p:nvSpPr>
            <p:cNvPr id="2443287" name="Rectangle 23"/>
            <p:cNvSpPr>
              <a:spLocks noChangeArrowheads="1"/>
            </p:cNvSpPr>
            <p:nvPr/>
          </p:nvSpPr>
          <p:spPr bwMode="auto">
            <a:xfrm>
              <a:off x="6775237" y="5083943"/>
              <a:ext cx="627723"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功率</a:t>
              </a:r>
            </a:p>
            <a:p>
              <a:pPr algn="ctr" eaLnBrk="0" hangingPunct="0"/>
              <a:r>
                <a:rPr lang="zh-CN" altLang="en-US" sz="1600" b="1">
                  <a:solidFill>
                    <a:srgbClr val="000099"/>
                  </a:solidFill>
                  <a:ea typeface="宋体" panose="02010600030101010101" pitchFamily="2" charset="-122"/>
                </a:rPr>
                <a:t>管理</a:t>
              </a:r>
            </a:p>
          </p:txBody>
        </p:sp>
        <p:sp>
          <p:nvSpPr>
            <p:cNvPr id="2443288" name="Rectangle 24"/>
            <p:cNvSpPr>
              <a:spLocks noChangeArrowheads="1"/>
            </p:cNvSpPr>
            <p:nvPr/>
          </p:nvSpPr>
          <p:spPr bwMode="auto">
            <a:xfrm>
              <a:off x="7402959" y="5083943"/>
              <a:ext cx="627725"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更多</a:t>
              </a:r>
            </a:p>
            <a:p>
              <a:pPr algn="ctr" eaLnBrk="0" hangingPunct="0"/>
              <a:r>
                <a:rPr lang="zh-CN" altLang="en-US" sz="1600" b="1">
                  <a:solidFill>
                    <a:srgbClr val="000099"/>
                  </a:solidFill>
                  <a:ea typeface="宋体" panose="02010600030101010101" pitchFamily="2" charset="-122"/>
                </a:rPr>
                <a:t>数据</a:t>
              </a:r>
            </a:p>
          </p:txBody>
        </p:sp>
        <p:sp>
          <p:nvSpPr>
            <p:cNvPr id="2443289" name="Rectangle 25"/>
            <p:cNvSpPr>
              <a:spLocks noChangeArrowheads="1"/>
            </p:cNvSpPr>
            <p:nvPr/>
          </p:nvSpPr>
          <p:spPr bwMode="auto">
            <a:xfrm>
              <a:off x="8030685" y="5083943"/>
              <a:ext cx="627723"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宋体" panose="02010600030101010101" pitchFamily="2" charset="-122"/>
                </a:rPr>
                <a:t>WEP</a:t>
              </a:r>
            </a:p>
          </p:txBody>
        </p:sp>
        <p:sp>
          <p:nvSpPr>
            <p:cNvPr id="2443290" name="Rectangle 26"/>
            <p:cNvSpPr>
              <a:spLocks noChangeArrowheads="1"/>
            </p:cNvSpPr>
            <p:nvPr/>
          </p:nvSpPr>
          <p:spPr bwMode="auto">
            <a:xfrm>
              <a:off x="8658407" y="5083943"/>
              <a:ext cx="627725"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顺序</a:t>
              </a:r>
            </a:p>
          </p:txBody>
        </p:sp>
        <p:sp>
          <p:nvSpPr>
            <p:cNvPr id="2443291" name="Text Box 27"/>
            <p:cNvSpPr txBox="1">
              <a:spLocks noChangeArrowheads="1"/>
            </p:cNvSpPr>
            <p:nvPr/>
          </p:nvSpPr>
          <p:spPr bwMode="auto">
            <a:xfrm>
              <a:off x="200472" y="4745805"/>
              <a:ext cx="931857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solidFill>
                    <a:srgbClr val="000099"/>
                  </a:solidFill>
                  <a:ea typeface="宋体" panose="02010600030101010101" pitchFamily="2" charset="-122"/>
                </a:rPr>
                <a:t>位        </a:t>
              </a:r>
              <a:r>
                <a:rPr lang="en-US" altLang="zh-CN" sz="1600" b="1">
                  <a:solidFill>
                    <a:srgbClr val="000099"/>
                  </a:solidFill>
                  <a:ea typeface="宋体" panose="02010600030101010101" pitchFamily="2" charset="-122"/>
                </a:rPr>
                <a:t>2              2                       4                      1         1          1         1         1         1           1         1</a:t>
              </a:r>
            </a:p>
          </p:txBody>
        </p:sp>
        <p:sp>
          <p:nvSpPr>
            <p:cNvPr id="2443292" name="AutoShape 28"/>
            <p:cNvSpPr>
              <a:spLocks/>
            </p:cNvSpPr>
            <p:nvPr/>
          </p:nvSpPr>
          <p:spPr bwMode="auto">
            <a:xfrm rot="-5400000">
              <a:off x="3986859" y="441497"/>
              <a:ext cx="254000" cy="6557565"/>
            </a:xfrm>
            <a:prstGeom prst="rightBrace">
              <a:avLst>
                <a:gd name="adj1" fmla="val 19852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3293" name="Text Box 29"/>
            <p:cNvSpPr txBox="1">
              <a:spLocks noChangeArrowheads="1"/>
            </p:cNvSpPr>
            <p:nvPr/>
          </p:nvSpPr>
          <p:spPr bwMode="auto">
            <a:xfrm>
              <a:off x="3397565" y="3186880"/>
              <a:ext cx="15905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MAC </a:t>
              </a:r>
              <a:r>
                <a:rPr lang="zh-CN" altLang="en-US" sz="2400" b="1">
                  <a:solidFill>
                    <a:srgbClr val="000099"/>
                  </a:solidFill>
                  <a:ea typeface="宋体" panose="02010600030101010101" pitchFamily="2" charset="-122"/>
                </a:rPr>
                <a:t>首部</a:t>
              </a:r>
            </a:p>
          </p:txBody>
        </p:sp>
        <p:sp>
          <p:nvSpPr>
            <p:cNvPr id="2443294" name="Text Box 30"/>
            <p:cNvSpPr txBox="1">
              <a:spLocks noChangeArrowheads="1"/>
            </p:cNvSpPr>
            <p:nvPr/>
          </p:nvSpPr>
          <p:spPr bwMode="auto">
            <a:xfrm>
              <a:off x="8908387" y="3030051"/>
              <a:ext cx="88678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MAC</a:t>
              </a:r>
            </a:p>
            <a:p>
              <a:pPr eaLnBrk="0" hangingPunct="0"/>
              <a:r>
                <a:rPr lang="zh-CN" altLang="en-US" sz="2400" b="1">
                  <a:solidFill>
                    <a:srgbClr val="000099"/>
                  </a:solidFill>
                  <a:ea typeface="宋体" panose="02010600030101010101" pitchFamily="2" charset="-122"/>
                </a:rPr>
                <a:t>尾部</a:t>
              </a:r>
            </a:p>
          </p:txBody>
        </p:sp>
      </p:grpSp>
      <p:sp>
        <p:nvSpPr>
          <p:cNvPr id="2443295" name="矩形 1"/>
          <p:cNvSpPr>
            <a:spLocks noChangeArrowheads="1"/>
          </p:cNvSpPr>
          <p:nvPr/>
        </p:nvSpPr>
        <p:spPr bwMode="auto">
          <a:xfrm>
            <a:off x="3689350" y="5084763"/>
            <a:ext cx="2501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000" b="1">
                <a:ea typeface="宋体" panose="02010600030101010101" pitchFamily="2" charset="-122"/>
              </a:rPr>
              <a:t>数据帧格式</a:t>
            </a:r>
          </a:p>
        </p:txBody>
      </p:sp>
      <p:sp>
        <p:nvSpPr>
          <p:cNvPr id="2443296"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39F97CA-B1DF-4E5A-8638-BBA6CC923AE3}" type="slidenum">
              <a:rPr lang="zh-CN" altLang="en-US" smtClean="0"/>
              <a:pPr eaLnBrk="1" hangingPunct="1"/>
              <a:t>51</a:t>
            </a:fld>
            <a:endParaRPr lang="en-US" altLang="zh-CN" smtClean="0"/>
          </a:p>
        </p:txBody>
      </p:sp>
      <p:sp>
        <p:nvSpPr>
          <p:cNvPr id="2443297"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2481" name="Rectangle 2"/>
          <p:cNvSpPr>
            <a:spLocks noGrp="1" noChangeArrowheads="1"/>
          </p:cNvSpPr>
          <p:nvPr>
            <p:ph type="title"/>
          </p:nvPr>
        </p:nvSpPr>
        <p:spPr>
          <a:xfrm>
            <a:off x="495300" y="188913"/>
            <a:ext cx="9066213" cy="792162"/>
          </a:xfrm>
        </p:spPr>
        <p:txBody>
          <a:bodyPr/>
          <a:lstStyle/>
          <a:p>
            <a:pPr algn="ctr"/>
            <a:r>
              <a:rPr lang="zh-CN" altLang="en-US" sz="4000" dirty="0" smtClean="0">
                <a:ea typeface="黑体" panose="02010609060101010101" pitchFamily="49" charset="-122"/>
              </a:rPr>
              <a:t>持续期和帧控制字段 </a:t>
            </a:r>
          </a:p>
        </p:txBody>
      </p:sp>
      <p:sp>
        <p:nvSpPr>
          <p:cNvPr id="2452482" name="Rectangle 3"/>
          <p:cNvSpPr>
            <a:spLocks noGrp="1" noChangeArrowheads="1"/>
          </p:cNvSpPr>
          <p:nvPr>
            <p:ph idx="1"/>
          </p:nvPr>
        </p:nvSpPr>
        <p:spPr>
          <a:xfrm>
            <a:off x="495300" y="1196975"/>
            <a:ext cx="9066213" cy="4933950"/>
          </a:xfrm>
        </p:spPr>
        <p:txBody>
          <a:bodyPr/>
          <a:lstStyle/>
          <a:p>
            <a:r>
              <a:rPr lang="zh-CN" altLang="en-US" sz="2800" dirty="0" smtClean="0">
                <a:solidFill>
                  <a:srgbClr val="FF0000"/>
                </a:solidFill>
                <a:ea typeface="黑体" panose="02010609060101010101" pitchFamily="49" charset="-122"/>
              </a:rPr>
              <a:t>帧控制</a:t>
            </a:r>
            <a:r>
              <a:rPr lang="zh-CN" altLang="en-US" sz="2800" dirty="0" smtClean="0">
                <a:ea typeface="黑体" panose="02010609060101010101" pitchFamily="49" charset="-122"/>
              </a:rPr>
              <a:t>字段共分为 </a:t>
            </a:r>
            <a:r>
              <a:rPr lang="en-US" altLang="zh-CN" sz="2800" dirty="0" smtClean="0">
                <a:ea typeface="黑体" panose="02010609060101010101" pitchFamily="49" charset="-122"/>
              </a:rPr>
              <a:t>11 </a:t>
            </a:r>
            <a:r>
              <a:rPr lang="zh-CN" altLang="en-US" sz="2800" dirty="0" smtClean="0">
                <a:ea typeface="黑体" panose="02010609060101010101" pitchFamily="49" charset="-122"/>
              </a:rPr>
              <a:t>个子字段：</a:t>
            </a:r>
          </a:p>
          <a:p>
            <a:pPr lvl="1"/>
            <a:r>
              <a:rPr lang="zh-CN" altLang="en-US" sz="2400" dirty="0" smtClean="0">
                <a:solidFill>
                  <a:srgbClr val="0000FF"/>
                </a:solidFill>
                <a:ea typeface="黑体" panose="02010609060101010101" pitchFamily="49" charset="-122"/>
              </a:rPr>
              <a:t>协议版本</a:t>
            </a:r>
            <a:r>
              <a:rPr lang="zh-CN" altLang="en-US" sz="2400" dirty="0" smtClean="0">
                <a:ea typeface="黑体" panose="02010609060101010101" pitchFamily="49" charset="-122"/>
              </a:rPr>
              <a:t>字段现在是  </a:t>
            </a:r>
            <a:r>
              <a:rPr lang="en-US" altLang="zh-CN" sz="2400" dirty="0" smtClean="0">
                <a:ea typeface="黑体" panose="02010609060101010101" pitchFamily="49" charset="-122"/>
              </a:rPr>
              <a:t>0</a:t>
            </a:r>
            <a:r>
              <a:rPr lang="zh-CN" altLang="en-US" sz="2400" dirty="0" smtClean="0">
                <a:ea typeface="黑体" panose="02010609060101010101" pitchFamily="49" charset="-122"/>
              </a:rPr>
              <a:t>。</a:t>
            </a:r>
          </a:p>
          <a:p>
            <a:pPr lvl="1"/>
            <a:r>
              <a:rPr lang="zh-CN" altLang="en-US" sz="2400" dirty="0" smtClean="0">
                <a:solidFill>
                  <a:srgbClr val="0000FF"/>
                </a:solidFill>
                <a:ea typeface="黑体" panose="02010609060101010101" pitchFamily="49" charset="-122"/>
              </a:rPr>
              <a:t>类型</a:t>
            </a:r>
            <a:r>
              <a:rPr lang="zh-CN" altLang="en-US" sz="2400" dirty="0" smtClean="0">
                <a:ea typeface="黑体" panose="02010609060101010101" pitchFamily="49" charset="-122"/>
              </a:rPr>
              <a:t>字段和</a:t>
            </a:r>
            <a:r>
              <a:rPr lang="zh-CN" altLang="en-US" sz="2400" dirty="0" smtClean="0">
                <a:solidFill>
                  <a:srgbClr val="0000FF"/>
                </a:solidFill>
                <a:ea typeface="黑体" panose="02010609060101010101" pitchFamily="49" charset="-122"/>
              </a:rPr>
              <a:t>子类型</a:t>
            </a:r>
            <a:r>
              <a:rPr lang="zh-CN" altLang="en-US" sz="2400" dirty="0" smtClean="0">
                <a:ea typeface="黑体" panose="02010609060101010101" pitchFamily="49" charset="-122"/>
              </a:rPr>
              <a:t>字段用来区分帧的功能。</a:t>
            </a:r>
          </a:p>
          <a:p>
            <a:pPr lvl="1"/>
            <a:r>
              <a:rPr lang="zh-CN" altLang="en-US" sz="2400" dirty="0" smtClean="0">
                <a:solidFill>
                  <a:srgbClr val="0000FF"/>
                </a:solidFill>
                <a:ea typeface="黑体" panose="02010609060101010101" pitchFamily="49" charset="-122"/>
              </a:rPr>
              <a:t>更多分片</a:t>
            </a:r>
            <a:r>
              <a:rPr lang="zh-CN" altLang="en-US" sz="2400" dirty="0" smtClean="0">
                <a:ea typeface="黑体" panose="02010609060101010101" pitchFamily="49" charset="-122"/>
              </a:rPr>
              <a:t>字段置为 </a:t>
            </a:r>
            <a:r>
              <a:rPr lang="en-US" altLang="zh-CN" sz="2400" dirty="0" smtClean="0">
                <a:ea typeface="黑体" panose="02010609060101010101" pitchFamily="49" charset="-122"/>
              </a:rPr>
              <a:t>1 </a:t>
            </a:r>
            <a:r>
              <a:rPr lang="zh-CN" altLang="en-US" sz="2400" dirty="0" smtClean="0">
                <a:ea typeface="黑体" panose="02010609060101010101" pitchFamily="49" charset="-122"/>
              </a:rPr>
              <a:t>时表明这个帧属于一个帧的多个分片之一。</a:t>
            </a:r>
            <a:endParaRPr lang="en-US" altLang="zh-CN" sz="2400" dirty="0" smtClean="0">
              <a:ea typeface="黑体" panose="02010609060101010101" pitchFamily="49" charset="-122"/>
            </a:endParaRPr>
          </a:p>
          <a:p>
            <a:pPr lvl="1"/>
            <a:r>
              <a:rPr lang="zh-CN" altLang="en-US" sz="2400" dirty="0" smtClean="0">
                <a:solidFill>
                  <a:srgbClr val="0000CC"/>
                </a:solidFill>
                <a:ea typeface="黑体" panose="02010609060101010101" pitchFamily="49" charset="-122"/>
              </a:rPr>
              <a:t>重试</a:t>
            </a:r>
            <a:r>
              <a:rPr lang="zh-CN" altLang="en-US" sz="2400" dirty="0" smtClean="0">
                <a:ea typeface="黑体" panose="02010609060101010101" pitchFamily="49" charset="-122"/>
              </a:rPr>
              <a:t>是不是重传帧。</a:t>
            </a:r>
            <a:endParaRPr lang="en-US" altLang="zh-CN" sz="2400" dirty="0" smtClean="0">
              <a:ea typeface="黑体" panose="02010609060101010101" pitchFamily="49" charset="-122"/>
            </a:endParaRPr>
          </a:p>
          <a:p>
            <a:pPr lvl="1"/>
            <a:r>
              <a:rPr lang="zh-CN" altLang="en-US" sz="2400" dirty="0" smtClean="0">
                <a:solidFill>
                  <a:srgbClr val="0000CC"/>
                </a:solidFill>
                <a:ea typeface="黑体" panose="02010609060101010101" pitchFamily="49" charset="-122"/>
              </a:rPr>
              <a:t>功率管理</a:t>
            </a:r>
            <a:r>
              <a:rPr lang="zh-CN" altLang="en-US" sz="2400" dirty="0" smtClean="0">
                <a:ea typeface="黑体" panose="02010609060101010101" pitchFamily="49" charset="-122"/>
              </a:rPr>
              <a:t>是不是省电模式。</a:t>
            </a:r>
            <a:endParaRPr lang="en-US" altLang="zh-CN" sz="2400" dirty="0" smtClean="0">
              <a:ea typeface="黑体" panose="02010609060101010101" pitchFamily="49" charset="-122"/>
            </a:endParaRPr>
          </a:p>
          <a:p>
            <a:pPr lvl="1"/>
            <a:r>
              <a:rPr lang="zh-CN" altLang="en-US" sz="2400" dirty="0" smtClean="0">
                <a:solidFill>
                  <a:srgbClr val="0000CC"/>
                </a:solidFill>
                <a:ea typeface="黑体" panose="02010609060101010101" pitchFamily="49" charset="-122"/>
              </a:rPr>
              <a:t>更多数据</a:t>
            </a:r>
            <a:r>
              <a:rPr lang="zh-CN" altLang="en-US" sz="2400" dirty="0" smtClean="0">
                <a:ea typeface="黑体" panose="02010609060101010101" pitchFamily="49" charset="-122"/>
              </a:rPr>
              <a:t>是不是有其他数据帧要发往休眠的移动站。</a:t>
            </a:r>
          </a:p>
          <a:p>
            <a:pPr lvl="1"/>
            <a:r>
              <a:rPr lang="zh-CN" altLang="en-US" sz="2400" dirty="0" smtClean="0">
                <a:solidFill>
                  <a:srgbClr val="0000FF"/>
                </a:solidFill>
                <a:ea typeface="黑体" panose="02010609060101010101" pitchFamily="49" charset="-122"/>
              </a:rPr>
              <a:t>有线等效保密</a:t>
            </a:r>
            <a:r>
              <a:rPr lang="zh-CN" altLang="en-US" sz="2400" dirty="0" smtClean="0">
                <a:ea typeface="黑体" panose="02010609060101010101" pitchFamily="49" charset="-122"/>
              </a:rPr>
              <a:t>字段 </a:t>
            </a:r>
            <a:r>
              <a:rPr lang="en-US" altLang="zh-CN" sz="2400" dirty="0" smtClean="0">
                <a:ea typeface="黑体" panose="02010609060101010101" pitchFamily="49" charset="-122"/>
              </a:rPr>
              <a:t>WEP </a:t>
            </a:r>
            <a:r>
              <a:rPr lang="zh-CN" altLang="en-US" sz="2400" dirty="0" smtClean="0">
                <a:ea typeface="黑体" panose="02010609060101010101" pitchFamily="49" charset="-122"/>
              </a:rPr>
              <a:t>占 </a:t>
            </a:r>
            <a:r>
              <a:rPr lang="en-US" altLang="zh-CN" sz="2400" dirty="0" smtClean="0">
                <a:ea typeface="黑体" panose="02010609060101010101" pitchFamily="49" charset="-122"/>
              </a:rPr>
              <a:t>1 </a:t>
            </a:r>
            <a:r>
              <a:rPr lang="zh-CN" altLang="en-US" sz="2400" dirty="0" smtClean="0">
                <a:ea typeface="黑体" panose="02010609060101010101" pitchFamily="49" charset="-122"/>
              </a:rPr>
              <a:t>位。若 </a:t>
            </a:r>
            <a:r>
              <a:rPr lang="en-US" altLang="zh-CN" sz="2400" dirty="0" smtClean="0">
                <a:ea typeface="黑体" panose="02010609060101010101" pitchFamily="49" charset="-122"/>
              </a:rPr>
              <a:t>WEP = 1</a:t>
            </a:r>
            <a:r>
              <a:rPr lang="zh-CN" altLang="en-US" sz="2400" dirty="0" smtClean="0">
                <a:ea typeface="黑体" panose="02010609060101010101" pitchFamily="49" charset="-122"/>
              </a:rPr>
              <a:t>，就表明采用了 </a:t>
            </a:r>
            <a:r>
              <a:rPr lang="en-US" altLang="zh-CN" sz="2400" dirty="0" smtClean="0">
                <a:ea typeface="黑体" panose="02010609060101010101" pitchFamily="49" charset="-122"/>
              </a:rPr>
              <a:t>WEP </a:t>
            </a:r>
            <a:r>
              <a:rPr lang="zh-CN" altLang="en-US" sz="2400" dirty="0" smtClean="0">
                <a:ea typeface="黑体" panose="02010609060101010101" pitchFamily="49" charset="-122"/>
              </a:rPr>
              <a:t>加密算法。</a:t>
            </a:r>
            <a:endParaRPr lang="en-US" altLang="zh-CN" sz="2400" dirty="0" smtClean="0">
              <a:ea typeface="黑体" panose="02010609060101010101" pitchFamily="49" charset="-122"/>
            </a:endParaRPr>
          </a:p>
          <a:p>
            <a:pPr lvl="1"/>
            <a:r>
              <a:rPr lang="zh-CN" altLang="en-US" sz="2400" dirty="0" smtClean="0">
                <a:solidFill>
                  <a:srgbClr val="0000CC"/>
                </a:solidFill>
                <a:ea typeface="黑体" panose="02010609060101010101" pitchFamily="49" charset="-122"/>
              </a:rPr>
              <a:t>顺序</a:t>
            </a:r>
            <a:r>
              <a:rPr lang="zh-CN" altLang="en-US" sz="2400" dirty="0" smtClean="0">
                <a:ea typeface="黑体" panose="02010609060101010101" pitchFamily="49" charset="-122"/>
              </a:rPr>
              <a:t>是不是“严格依序”传送。 </a:t>
            </a:r>
            <a:endParaRPr lang="en-US" altLang="zh-CN" sz="2400" dirty="0">
              <a:ea typeface="黑体" panose="02010609060101010101" pitchFamily="49" charset="-122"/>
            </a:endParaRPr>
          </a:p>
          <a:p>
            <a:pPr marL="342900" lvl="1" indent="-342900">
              <a:buClr>
                <a:srgbClr val="333399"/>
              </a:buClr>
              <a:buSzPct val="75000"/>
            </a:pPr>
            <a:r>
              <a:rPr lang="zh-CN" altLang="en-US" dirty="0">
                <a:solidFill>
                  <a:srgbClr val="FF0000"/>
                </a:solidFill>
                <a:ea typeface="黑体" panose="02010609060101010101" pitchFamily="49" charset="-122"/>
                <a:cs typeface="+mn-cs"/>
              </a:rPr>
              <a:t>持续期字段占 </a:t>
            </a:r>
            <a:r>
              <a:rPr lang="en-US" altLang="zh-CN" dirty="0">
                <a:solidFill>
                  <a:srgbClr val="FF0000"/>
                </a:solidFill>
                <a:ea typeface="黑体" panose="02010609060101010101" pitchFamily="49" charset="-122"/>
                <a:cs typeface="+mn-cs"/>
              </a:rPr>
              <a:t>16 </a:t>
            </a:r>
            <a:r>
              <a:rPr lang="zh-CN" altLang="en-US" dirty="0">
                <a:solidFill>
                  <a:srgbClr val="FF0000"/>
                </a:solidFill>
                <a:ea typeface="黑体" panose="02010609060101010101" pitchFamily="49" charset="-122"/>
                <a:cs typeface="+mn-cs"/>
              </a:rPr>
              <a:t>位。</a:t>
            </a:r>
          </a:p>
          <a:p>
            <a:pPr marL="457200" lvl="1" indent="0">
              <a:buNone/>
            </a:pPr>
            <a:r>
              <a:rPr lang="zh-CN" altLang="en-US" sz="2400" dirty="0" smtClean="0">
                <a:ea typeface="黑体" panose="02010609060101010101" pitchFamily="49" charset="-122"/>
              </a:rPr>
              <a:t>    </a:t>
            </a:r>
            <a:r>
              <a:rPr lang="zh-CN" altLang="en-US" sz="2000" dirty="0" smtClean="0">
                <a:ea typeface="黑体" panose="02010609060101010101" pitchFamily="49" charset="-122"/>
              </a:rPr>
              <a:t> </a:t>
            </a:r>
          </a:p>
        </p:txBody>
      </p:sp>
      <p:sp>
        <p:nvSpPr>
          <p:cNvPr id="24524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25CD45-1080-436C-BD5B-3721A9881498}" type="slidenum">
              <a:rPr lang="zh-CN" altLang="en-US" smtClean="0"/>
              <a:pPr eaLnBrk="1" hangingPunct="1"/>
              <a:t>52</a:t>
            </a:fld>
            <a:endParaRPr lang="en-US" altLang="zh-CN" smtClean="0"/>
          </a:p>
        </p:txBody>
      </p:sp>
      <p:sp>
        <p:nvSpPr>
          <p:cNvPr id="24524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48722593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633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802.11 </a:t>
            </a:r>
            <a:r>
              <a:rPr lang="zh-CN" altLang="en-US" smtClean="0">
                <a:ea typeface="黑体" panose="02010609060101010101" pitchFamily="49" charset="-122"/>
              </a:rPr>
              <a:t>数据帧的三大部分 </a:t>
            </a:r>
          </a:p>
        </p:txBody>
      </p:sp>
      <p:sp>
        <p:nvSpPr>
          <p:cNvPr id="2446338" name="Rectangle 3"/>
          <p:cNvSpPr>
            <a:spLocks noGrp="1" noChangeArrowheads="1"/>
          </p:cNvSpPr>
          <p:nvPr>
            <p:ph idx="1"/>
          </p:nvPr>
        </p:nvSpPr>
        <p:spPr>
          <a:xfrm>
            <a:off x="495300" y="1196975"/>
            <a:ext cx="9066213" cy="4933950"/>
          </a:xfrm>
        </p:spPr>
        <p:txBody>
          <a:bodyPr/>
          <a:lstStyle/>
          <a:p>
            <a:r>
              <a:rPr lang="en-US" altLang="zh-CN" dirty="0" smtClean="0">
                <a:solidFill>
                  <a:srgbClr val="FF0000"/>
                </a:solidFill>
                <a:ea typeface="黑体" panose="02010609060101010101" pitchFamily="49" charset="-122"/>
              </a:rPr>
              <a:t>MAC </a:t>
            </a:r>
            <a:r>
              <a:rPr lang="zh-CN" altLang="en-US" dirty="0" smtClean="0">
                <a:solidFill>
                  <a:srgbClr val="FF0000"/>
                </a:solidFill>
                <a:ea typeface="黑体" panose="02010609060101010101" pitchFamily="49" charset="-122"/>
              </a:rPr>
              <a:t>首部，</a:t>
            </a:r>
            <a:r>
              <a:rPr lang="zh-CN" altLang="en-US" dirty="0" smtClean="0">
                <a:ea typeface="黑体" panose="02010609060101010101" pitchFamily="49" charset="-122"/>
              </a:rPr>
              <a:t>共 </a:t>
            </a:r>
            <a:r>
              <a:rPr lang="en-US" altLang="zh-CN" dirty="0" smtClean="0">
                <a:ea typeface="黑体" panose="02010609060101010101" pitchFamily="49" charset="-122"/>
              </a:rPr>
              <a:t>30 </a:t>
            </a:r>
            <a:r>
              <a:rPr lang="zh-CN" altLang="en-US" dirty="0" smtClean="0">
                <a:ea typeface="黑体" panose="02010609060101010101" pitchFamily="49" charset="-122"/>
              </a:rPr>
              <a:t>字节。帧的复杂性都在帧的首部。</a:t>
            </a:r>
          </a:p>
          <a:p>
            <a:r>
              <a:rPr lang="zh-CN" altLang="en-US" dirty="0" smtClean="0">
                <a:solidFill>
                  <a:srgbClr val="FF0000"/>
                </a:solidFill>
                <a:ea typeface="黑体" panose="02010609060101010101" pitchFamily="49" charset="-122"/>
              </a:rPr>
              <a:t>帧主体，</a:t>
            </a:r>
            <a:r>
              <a:rPr lang="zh-CN" altLang="en-US" dirty="0" smtClean="0">
                <a:ea typeface="黑体" panose="02010609060101010101" pitchFamily="49" charset="-122"/>
              </a:rPr>
              <a:t>也就是帧的数据部分，不超过 </a:t>
            </a:r>
            <a:r>
              <a:rPr lang="en-US" altLang="zh-CN" dirty="0" smtClean="0">
                <a:ea typeface="黑体" panose="02010609060101010101" pitchFamily="49" charset="-122"/>
              </a:rPr>
              <a:t>2312 </a:t>
            </a:r>
            <a:r>
              <a:rPr lang="zh-CN" altLang="en-US" dirty="0" smtClean="0">
                <a:ea typeface="黑体" panose="02010609060101010101" pitchFamily="49" charset="-122"/>
              </a:rPr>
              <a:t>字节。这个数值比以太网的最大长度长很多。不过 </a:t>
            </a:r>
            <a:r>
              <a:rPr lang="en-US" altLang="zh-CN" dirty="0" smtClean="0">
                <a:ea typeface="黑体" panose="02010609060101010101" pitchFamily="49" charset="-122"/>
              </a:rPr>
              <a:t>802.11 </a:t>
            </a:r>
            <a:r>
              <a:rPr lang="zh-CN" altLang="en-US" dirty="0" smtClean="0">
                <a:ea typeface="黑体" panose="02010609060101010101" pitchFamily="49" charset="-122"/>
              </a:rPr>
              <a:t>帧的长度通常都是小于 </a:t>
            </a:r>
            <a:r>
              <a:rPr lang="en-US" altLang="zh-CN" dirty="0" smtClean="0">
                <a:ea typeface="黑体" panose="02010609060101010101" pitchFamily="49" charset="-122"/>
              </a:rPr>
              <a:t>1500 </a:t>
            </a:r>
            <a:r>
              <a:rPr lang="zh-CN" altLang="en-US" dirty="0" smtClean="0">
                <a:ea typeface="黑体" panose="02010609060101010101" pitchFamily="49" charset="-122"/>
              </a:rPr>
              <a:t>字节。</a:t>
            </a:r>
          </a:p>
          <a:p>
            <a:r>
              <a:rPr lang="zh-CN" altLang="en-US" dirty="0" smtClean="0">
                <a:solidFill>
                  <a:srgbClr val="FF0000"/>
                </a:solidFill>
                <a:ea typeface="黑体" panose="02010609060101010101" pitchFamily="49" charset="-122"/>
              </a:rPr>
              <a:t>帧检验序列 </a:t>
            </a:r>
            <a:r>
              <a:rPr lang="en-US" altLang="zh-CN" dirty="0" smtClean="0">
                <a:solidFill>
                  <a:srgbClr val="FF0000"/>
                </a:solidFill>
                <a:ea typeface="黑体" panose="02010609060101010101" pitchFamily="49" charset="-122"/>
              </a:rPr>
              <a:t>FCS </a:t>
            </a:r>
            <a:r>
              <a:rPr lang="zh-CN" altLang="en-US" dirty="0" smtClean="0">
                <a:ea typeface="黑体" panose="02010609060101010101" pitchFamily="49" charset="-122"/>
              </a:rPr>
              <a:t>是尾部，共 </a:t>
            </a:r>
            <a:r>
              <a:rPr lang="en-US" altLang="zh-CN" dirty="0" smtClean="0">
                <a:ea typeface="黑体" panose="02010609060101010101" pitchFamily="49" charset="-122"/>
              </a:rPr>
              <a:t>4 </a:t>
            </a:r>
            <a:r>
              <a:rPr lang="zh-CN" altLang="en-US" dirty="0" smtClean="0">
                <a:ea typeface="黑体" panose="02010609060101010101" pitchFamily="49" charset="-122"/>
              </a:rPr>
              <a:t>字节 </a:t>
            </a:r>
          </a:p>
        </p:txBody>
      </p:sp>
      <p:sp>
        <p:nvSpPr>
          <p:cNvPr id="24463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22769D-6AC1-487F-B645-92EFC0A4F89B}" type="slidenum">
              <a:rPr lang="zh-CN" altLang="en-US" smtClean="0"/>
              <a:pPr eaLnBrk="1" hangingPunct="1"/>
              <a:t>53</a:t>
            </a:fld>
            <a:endParaRPr lang="en-US" altLang="zh-CN" smtClean="0"/>
          </a:p>
        </p:txBody>
      </p:sp>
      <p:sp>
        <p:nvSpPr>
          <p:cNvPr id="24463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6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a:t>
            </a:r>
            <a:r>
              <a:rPr lang="zh-CN" altLang="en-US" smtClean="0">
                <a:ea typeface="黑体" panose="02010609060101010101" pitchFamily="49" charset="-122"/>
              </a:rPr>
              <a:t>关于 </a:t>
            </a:r>
            <a:r>
              <a:rPr lang="en-US" altLang="zh-CN" smtClean="0">
                <a:ea typeface="黑体" panose="02010609060101010101" pitchFamily="49" charset="-122"/>
              </a:rPr>
              <a:t>802.11 </a:t>
            </a:r>
            <a:r>
              <a:rPr lang="zh-CN" altLang="en-US" smtClean="0">
                <a:ea typeface="黑体" panose="02010609060101010101" pitchFamily="49" charset="-122"/>
              </a:rPr>
              <a:t>数据帧的地址</a:t>
            </a:r>
          </a:p>
        </p:txBody>
      </p:sp>
      <p:sp>
        <p:nvSpPr>
          <p:cNvPr id="2447362"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802.11 </a:t>
            </a:r>
            <a:r>
              <a:rPr lang="zh-CN" altLang="en-US" smtClean="0">
                <a:ea typeface="黑体" panose="02010609060101010101" pitchFamily="49" charset="-122"/>
              </a:rPr>
              <a:t>数据帧最特殊的地方就是有四个地址字段。地址 </a:t>
            </a:r>
            <a:r>
              <a:rPr lang="en-US" altLang="zh-CN" smtClean="0">
                <a:ea typeface="黑体" panose="02010609060101010101" pitchFamily="49" charset="-122"/>
              </a:rPr>
              <a:t>4 </a:t>
            </a:r>
            <a:r>
              <a:rPr lang="zh-CN" altLang="en-US" smtClean="0">
                <a:ea typeface="黑体" panose="02010609060101010101" pitchFamily="49" charset="-122"/>
              </a:rPr>
              <a:t>用于自组网络。我们在这里只讨论前三种地址。 </a:t>
            </a:r>
          </a:p>
        </p:txBody>
      </p:sp>
      <p:graphicFrame>
        <p:nvGraphicFramePr>
          <p:cNvPr id="368691" name="Group 51"/>
          <p:cNvGraphicFramePr>
            <a:graphicFrameLocks noGrp="1"/>
          </p:cNvGraphicFramePr>
          <p:nvPr/>
        </p:nvGraphicFramePr>
        <p:xfrm>
          <a:off x="477838" y="3284538"/>
          <a:ext cx="9299576" cy="1800225"/>
        </p:xfrm>
        <a:graphic>
          <a:graphicData uri="http://schemas.openxmlformats.org/drawingml/2006/table">
            <a:tbl>
              <a:tblPr/>
              <a:tblGrid>
                <a:gridCol w="1389978">
                  <a:extLst>
                    <a:ext uri="{9D8B030D-6E8A-4147-A177-3AD203B41FA5}">
                      <a16:colId xmlns:a16="http://schemas.microsoft.com/office/drawing/2014/main" val="20000"/>
                    </a:ext>
                  </a:extLst>
                </a:gridCol>
                <a:gridCol w="1500909">
                  <a:extLst>
                    <a:ext uri="{9D8B030D-6E8A-4147-A177-3AD203B41FA5}">
                      <a16:colId xmlns:a16="http://schemas.microsoft.com/office/drawing/2014/main" val="20001"/>
                    </a:ext>
                  </a:extLst>
                </a:gridCol>
                <a:gridCol w="2062276">
                  <a:extLst>
                    <a:ext uri="{9D8B030D-6E8A-4147-A177-3AD203B41FA5}">
                      <a16:colId xmlns:a16="http://schemas.microsoft.com/office/drawing/2014/main" val="20002"/>
                    </a:ext>
                  </a:extLst>
                </a:gridCol>
                <a:gridCol w="1559734">
                  <a:extLst>
                    <a:ext uri="{9D8B030D-6E8A-4147-A177-3AD203B41FA5}">
                      <a16:colId xmlns:a16="http://schemas.microsoft.com/office/drawing/2014/main" val="20003"/>
                    </a:ext>
                  </a:extLst>
                </a:gridCol>
                <a:gridCol w="1546288">
                  <a:extLst>
                    <a:ext uri="{9D8B030D-6E8A-4147-A177-3AD203B41FA5}">
                      <a16:colId xmlns:a16="http://schemas.microsoft.com/office/drawing/2014/main" val="20004"/>
                    </a:ext>
                  </a:extLst>
                </a:gridCol>
                <a:gridCol w="1240391">
                  <a:extLst>
                    <a:ext uri="{9D8B030D-6E8A-4147-A177-3AD203B41FA5}">
                      <a16:colId xmlns:a16="http://schemas.microsoft.com/office/drawing/2014/main" val="20005"/>
                    </a:ext>
                  </a:extLst>
                </a:gridCol>
              </a:tblGrid>
              <a:tr h="6000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dirty="0">
                          <a:ln>
                            <a:noFill/>
                          </a:ln>
                          <a:solidFill>
                            <a:srgbClr val="000099"/>
                          </a:solidFill>
                          <a:effectLst/>
                          <a:latin typeface="+mn-lt"/>
                          <a:ea typeface="+mn-ea"/>
                        </a:rPr>
                        <a:t>去往 </a:t>
                      </a:r>
                      <a:r>
                        <a:rPr kumimoji="0" lang="en-US" altLang="zh-CN" sz="2400" b="1" i="0" u="none" strike="noStrike" cap="none" normalizeH="0" baseline="0" dirty="0">
                          <a:ln>
                            <a:noFill/>
                          </a:ln>
                          <a:solidFill>
                            <a:srgbClr val="000099"/>
                          </a:solidFill>
                          <a:effectLst/>
                          <a:latin typeface="+mn-lt"/>
                          <a:ea typeface="+mn-ea"/>
                        </a:rPr>
                        <a:t>AP</a:t>
                      </a:r>
                    </a:p>
                  </a:txBody>
                  <a:tcPr marL="99060" marR="9906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rgbClr val="000099"/>
                          </a:solidFill>
                          <a:effectLst/>
                          <a:latin typeface="+mn-lt"/>
                          <a:ea typeface="+mn-ea"/>
                        </a:rPr>
                        <a:t>来自 </a:t>
                      </a:r>
                      <a:r>
                        <a:rPr kumimoji="0" lang="en-US" altLang="zh-CN" sz="2400" b="1" i="0" u="none" strike="noStrike" cap="none" normalizeH="0" baseline="0">
                          <a:ln>
                            <a:noFill/>
                          </a:ln>
                          <a:solidFill>
                            <a:srgbClr val="000099"/>
                          </a:solidFill>
                          <a:effectLst/>
                          <a:latin typeface="+mn-lt"/>
                          <a:ea typeface="+mn-ea"/>
                        </a:rPr>
                        <a:t>AP</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rgbClr val="000099"/>
                          </a:solidFill>
                          <a:effectLst/>
                          <a:latin typeface="+mn-lt"/>
                          <a:ea typeface="+mn-ea"/>
                        </a:rPr>
                        <a:t>地址 </a:t>
                      </a:r>
                      <a:r>
                        <a:rPr kumimoji="0" lang="en-US" altLang="zh-CN" sz="2400" b="1" i="0" u="none" strike="noStrike" cap="none" normalizeH="0" baseline="0">
                          <a:ln>
                            <a:noFill/>
                          </a:ln>
                          <a:solidFill>
                            <a:srgbClr val="000099"/>
                          </a:solidFill>
                          <a:effectLst/>
                          <a:latin typeface="+mn-lt"/>
                          <a:ea typeface="+mn-ea"/>
                        </a:rPr>
                        <a:t>1</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rgbClr val="000099"/>
                          </a:solidFill>
                          <a:effectLst/>
                          <a:latin typeface="+mn-lt"/>
                          <a:ea typeface="+mn-ea"/>
                        </a:rPr>
                        <a:t>地址 </a:t>
                      </a:r>
                      <a:r>
                        <a:rPr kumimoji="0" lang="en-US" altLang="zh-CN" sz="2400" b="1" i="0" u="none" strike="noStrike" cap="none" normalizeH="0" baseline="0">
                          <a:ln>
                            <a:noFill/>
                          </a:ln>
                          <a:solidFill>
                            <a:srgbClr val="000099"/>
                          </a:solidFill>
                          <a:effectLst/>
                          <a:latin typeface="+mn-lt"/>
                          <a:ea typeface="+mn-ea"/>
                        </a:rPr>
                        <a:t>2</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rgbClr val="000099"/>
                          </a:solidFill>
                          <a:effectLst/>
                          <a:latin typeface="+mn-lt"/>
                          <a:ea typeface="+mn-ea"/>
                        </a:rPr>
                        <a:t>地址 </a:t>
                      </a:r>
                      <a:r>
                        <a:rPr kumimoji="0" lang="en-US" altLang="zh-CN" sz="2400" b="1" i="0" u="none" strike="noStrike" cap="none" normalizeH="0" baseline="0">
                          <a:ln>
                            <a:noFill/>
                          </a:ln>
                          <a:solidFill>
                            <a:srgbClr val="000099"/>
                          </a:solidFill>
                          <a:effectLst/>
                          <a:latin typeface="+mn-lt"/>
                          <a:ea typeface="+mn-ea"/>
                        </a:rPr>
                        <a:t>3</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dirty="0">
                          <a:ln>
                            <a:noFill/>
                          </a:ln>
                          <a:solidFill>
                            <a:srgbClr val="000099"/>
                          </a:solidFill>
                          <a:effectLst/>
                          <a:latin typeface="+mn-lt"/>
                          <a:ea typeface="+mn-ea"/>
                        </a:rPr>
                        <a:t>地址 </a:t>
                      </a:r>
                      <a:r>
                        <a:rPr kumimoji="0" lang="en-US" altLang="zh-CN" sz="2400" b="1" i="0" u="none" strike="noStrike" cap="none" normalizeH="0" baseline="0" dirty="0">
                          <a:ln>
                            <a:noFill/>
                          </a:ln>
                          <a:solidFill>
                            <a:srgbClr val="000099"/>
                          </a:solidFill>
                          <a:effectLst/>
                          <a:latin typeface="+mn-lt"/>
                          <a:ea typeface="+mn-ea"/>
                        </a:rPr>
                        <a:t>4</a:t>
                      </a:r>
                    </a:p>
                  </a:txBody>
                  <a:tcPr marL="99060" marR="9906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extLst>
                  <a:ext uri="{0D108BD9-81ED-4DB2-BD59-A6C34878D82A}">
                    <a16:rowId xmlns:a16="http://schemas.microsoft.com/office/drawing/2014/main" val="10000"/>
                  </a:ext>
                </a:extLst>
              </a:tr>
              <a:tr h="6000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rgbClr val="000099"/>
                          </a:solidFill>
                          <a:effectLst/>
                          <a:latin typeface="+mn-lt"/>
                          <a:ea typeface="+mn-ea"/>
                        </a:rPr>
                        <a:t>0</a:t>
                      </a:r>
                    </a:p>
                  </a:txBody>
                  <a:tcPr marL="99060" marR="9906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rgbClr val="000099"/>
                          </a:solidFill>
                          <a:effectLst/>
                          <a:latin typeface="+mn-lt"/>
                          <a:ea typeface="+mn-ea"/>
                        </a:rPr>
                        <a:t>1</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rgbClr val="000099"/>
                          </a:solidFill>
                          <a:effectLst/>
                          <a:latin typeface="+mn-lt"/>
                          <a:ea typeface="+mn-ea"/>
                        </a:rPr>
                        <a:t>目的地址</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rgbClr val="000099"/>
                          </a:solidFill>
                          <a:effectLst/>
                          <a:latin typeface="+mn-lt"/>
                          <a:ea typeface="+mn-ea"/>
                        </a:rPr>
                        <a:t>AP </a:t>
                      </a:r>
                      <a:r>
                        <a:rPr kumimoji="0" lang="zh-CN" altLang="en-US" sz="2400" b="1" i="0" u="none" strike="noStrike" cap="none" normalizeH="0" baseline="0">
                          <a:ln>
                            <a:noFill/>
                          </a:ln>
                          <a:solidFill>
                            <a:srgbClr val="000099"/>
                          </a:solidFill>
                          <a:effectLst/>
                          <a:latin typeface="+mn-lt"/>
                          <a:ea typeface="+mn-ea"/>
                        </a:rPr>
                        <a:t>地址</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rgbClr val="000099"/>
                          </a:solidFill>
                          <a:effectLst/>
                          <a:latin typeface="+mn-lt"/>
                          <a:ea typeface="+mn-ea"/>
                        </a:rPr>
                        <a:t>源地址</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rgbClr val="000099"/>
                          </a:solidFill>
                          <a:effectLst/>
                          <a:latin typeface="+mn-lt"/>
                          <a:ea typeface="+mn-ea"/>
                        </a:rPr>
                        <a:t>——</a:t>
                      </a:r>
                    </a:p>
                  </a:txBody>
                  <a:tcPr marL="99060" marR="9906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6000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rgbClr val="000099"/>
                          </a:solidFill>
                          <a:effectLst/>
                          <a:latin typeface="+mn-lt"/>
                          <a:ea typeface="+mn-ea"/>
                        </a:rPr>
                        <a:t>1</a:t>
                      </a:r>
                    </a:p>
                  </a:txBody>
                  <a:tcPr marL="99060" marR="9906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rgbClr val="000099"/>
                          </a:solidFill>
                          <a:effectLst/>
                          <a:latin typeface="+mn-lt"/>
                          <a:ea typeface="+mn-ea"/>
                        </a:rPr>
                        <a:t>0</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rgbClr val="000099"/>
                          </a:solidFill>
                          <a:effectLst/>
                          <a:latin typeface="+mn-lt"/>
                          <a:ea typeface="+mn-ea"/>
                        </a:rPr>
                        <a:t>AP </a:t>
                      </a:r>
                      <a:r>
                        <a:rPr kumimoji="0" lang="zh-CN" altLang="en-US" sz="2400" b="1" i="0" u="none" strike="noStrike" cap="none" normalizeH="0" baseline="0">
                          <a:ln>
                            <a:noFill/>
                          </a:ln>
                          <a:solidFill>
                            <a:srgbClr val="000099"/>
                          </a:solidFill>
                          <a:effectLst/>
                          <a:latin typeface="+mn-lt"/>
                          <a:ea typeface="+mn-ea"/>
                        </a:rPr>
                        <a:t>地址</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rgbClr val="000099"/>
                          </a:solidFill>
                          <a:effectLst/>
                          <a:latin typeface="+mn-lt"/>
                          <a:ea typeface="+mn-ea"/>
                        </a:rPr>
                        <a:t>源地址</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rgbClr val="000099"/>
                          </a:solidFill>
                          <a:effectLst/>
                          <a:latin typeface="+mn-lt"/>
                          <a:ea typeface="+mn-ea"/>
                        </a:rPr>
                        <a:t>目的地址</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dirty="0">
                          <a:ln>
                            <a:noFill/>
                          </a:ln>
                          <a:solidFill>
                            <a:srgbClr val="000099"/>
                          </a:solidFill>
                          <a:effectLst/>
                          <a:latin typeface="+mn-lt"/>
                          <a:ea typeface="+mn-ea"/>
                        </a:rPr>
                        <a:t>——</a:t>
                      </a:r>
                    </a:p>
                  </a:txBody>
                  <a:tcPr marL="99060" marR="9906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bl>
          </a:graphicData>
        </a:graphic>
      </p:graphicFrame>
      <p:sp>
        <p:nvSpPr>
          <p:cNvPr id="244739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7B1861E-6B78-4AB4-BF87-E226D4D5E132}" type="slidenum">
              <a:rPr lang="zh-CN" altLang="en-US" smtClean="0"/>
              <a:pPr eaLnBrk="1" hangingPunct="1"/>
              <a:t>54</a:t>
            </a:fld>
            <a:endParaRPr lang="en-US" altLang="zh-CN" smtClean="0"/>
          </a:p>
        </p:txBody>
      </p:sp>
      <p:sp>
        <p:nvSpPr>
          <p:cNvPr id="244739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8385" name="Line 76"/>
          <p:cNvSpPr>
            <a:spLocks noChangeShapeType="1"/>
          </p:cNvSpPr>
          <p:nvPr/>
        </p:nvSpPr>
        <p:spPr bwMode="auto">
          <a:xfrm>
            <a:off x="3692525" y="3568700"/>
            <a:ext cx="77788" cy="5762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386" name="Oval 77"/>
          <p:cNvSpPr>
            <a:spLocks noChangeArrowheads="1"/>
          </p:cNvSpPr>
          <p:nvPr/>
        </p:nvSpPr>
        <p:spPr bwMode="auto">
          <a:xfrm>
            <a:off x="4784725" y="2633663"/>
            <a:ext cx="4992688" cy="2087562"/>
          </a:xfrm>
          <a:prstGeom prst="ellipse">
            <a:avLst/>
          </a:prstGeom>
          <a:solidFill>
            <a:schemeClr val="bg1"/>
          </a:solidFill>
          <a:ln w="9525">
            <a:solidFill>
              <a:schemeClr val="tx1"/>
            </a:solidFill>
            <a:prstDash val="dash"/>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pic>
        <p:nvPicPr>
          <p:cNvPr id="2448387" name="Picture 78"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7163" y="3041650"/>
            <a:ext cx="811212"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8388" name="Text Box 79"/>
          <p:cNvSpPr txBox="1">
            <a:spLocks noChangeArrowheads="1"/>
          </p:cNvSpPr>
          <p:nvPr/>
        </p:nvSpPr>
        <p:spPr bwMode="auto">
          <a:xfrm>
            <a:off x="5784850" y="2919413"/>
            <a:ext cx="5429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AP</a:t>
            </a:r>
            <a:r>
              <a:rPr lang="en-US" altLang="zh-CN" sz="1600" b="1" baseline="-25000">
                <a:solidFill>
                  <a:srgbClr val="000099"/>
                </a:solidFill>
                <a:ea typeface="宋体" panose="02010600030101010101" pitchFamily="2" charset="-122"/>
              </a:rPr>
              <a:t>1</a:t>
            </a:r>
          </a:p>
        </p:txBody>
      </p:sp>
      <p:grpSp>
        <p:nvGrpSpPr>
          <p:cNvPr id="2448389" name="Group 80"/>
          <p:cNvGrpSpPr>
            <a:grpSpLocks/>
          </p:cNvGrpSpPr>
          <p:nvPr/>
        </p:nvGrpSpPr>
        <p:grpSpPr bwMode="auto">
          <a:xfrm>
            <a:off x="7958138" y="4081463"/>
            <a:ext cx="727075" cy="495300"/>
            <a:chOff x="762" y="2391"/>
            <a:chExt cx="423" cy="312"/>
          </a:xfrm>
        </p:grpSpPr>
        <p:grpSp>
          <p:nvGrpSpPr>
            <p:cNvPr id="2448390" name="Group 81"/>
            <p:cNvGrpSpPr>
              <a:grpSpLocks/>
            </p:cNvGrpSpPr>
            <p:nvPr/>
          </p:nvGrpSpPr>
          <p:grpSpPr bwMode="auto">
            <a:xfrm>
              <a:off x="867" y="2432"/>
              <a:ext cx="318" cy="271"/>
              <a:chOff x="657" y="1570"/>
              <a:chExt cx="318" cy="311"/>
            </a:xfrm>
          </p:grpSpPr>
          <p:sp>
            <p:nvSpPr>
              <p:cNvPr id="2448391" name="Line 82"/>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48392" name="Picture 83"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48393" name="Group 84"/>
            <p:cNvGrpSpPr>
              <a:grpSpLocks/>
            </p:cNvGrpSpPr>
            <p:nvPr/>
          </p:nvGrpSpPr>
          <p:grpSpPr bwMode="auto">
            <a:xfrm>
              <a:off x="762" y="2391"/>
              <a:ext cx="306" cy="90"/>
              <a:chOff x="748" y="2251"/>
              <a:chExt cx="306" cy="90"/>
            </a:xfrm>
          </p:grpSpPr>
          <p:sp>
            <p:nvSpPr>
              <p:cNvPr id="2448394" name="AutoShape 85"/>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395" name="AutoShape 86"/>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396" name="AutoShape 87"/>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397" name="AutoShape 88"/>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398" name="AutoShape 89"/>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399" name="AutoShape 90"/>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48400" name="Group 91"/>
          <p:cNvGrpSpPr>
            <a:grpSpLocks/>
          </p:cNvGrpSpPr>
          <p:nvPr/>
        </p:nvGrpSpPr>
        <p:grpSpPr bwMode="auto">
          <a:xfrm>
            <a:off x="5719763" y="4154488"/>
            <a:ext cx="728662" cy="495300"/>
            <a:chOff x="762" y="2391"/>
            <a:chExt cx="423" cy="312"/>
          </a:xfrm>
        </p:grpSpPr>
        <p:grpSp>
          <p:nvGrpSpPr>
            <p:cNvPr id="2448401" name="Group 92"/>
            <p:cNvGrpSpPr>
              <a:grpSpLocks/>
            </p:cNvGrpSpPr>
            <p:nvPr/>
          </p:nvGrpSpPr>
          <p:grpSpPr bwMode="auto">
            <a:xfrm>
              <a:off x="867" y="2432"/>
              <a:ext cx="318" cy="271"/>
              <a:chOff x="657" y="1570"/>
              <a:chExt cx="318" cy="311"/>
            </a:xfrm>
          </p:grpSpPr>
          <p:sp>
            <p:nvSpPr>
              <p:cNvPr id="2448402" name="Line 9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48403" name="Picture 94"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48404" name="Group 95"/>
            <p:cNvGrpSpPr>
              <a:grpSpLocks/>
            </p:cNvGrpSpPr>
            <p:nvPr/>
          </p:nvGrpSpPr>
          <p:grpSpPr bwMode="auto">
            <a:xfrm>
              <a:off x="762" y="2391"/>
              <a:ext cx="306" cy="90"/>
              <a:chOff x="748" y="2251"/>
              <a:chExt cx="306" cy="90"/>
            </a:xfrm>
          </p:grpSpPr>
          <p:sp>
            <p:nvSpPr>
              <p:cNvPr id="2448405" name="AutoShape 96"/>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06" name="AutoShape 97"/>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07" name="AutoShape 98"/>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08" name="AutoShape 99"/>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09" name="AutoShape 100"/>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10" name="AutoShape 101"/>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48411" name="Group 102"/>
          <p:cNvGrpSpPr>
            <a:grpSpLocks/>
          </p:cNvGrpSpPr>
          <p:nvPr/>
        </p:nvGrpSpPr>
        <p:grpSpPr bwMode="auto">
          <a:xfrm>
            <a:off x="8718550" y="3073400"/>
            <a:ext cx="727075" cy="495300"/>
            <a:chOff x="762" y="2391"/>
            <a:chExt cx="423" cy="312"/>
          </a:xfrm>
        </p:grpSpPr>
        <p:grpSp>
          <p:nvGrpSpPr>
            <p:cNvPr id="2448412" name="Group 103"/>
            <p:cNvGrpSpPr>
              <a:grpSpLocks/>
            </p:cNvGrpSpPr>
            <p:nvPr/>
          </p:nvGrpSpPr>
          <p:grpSpPr bwMode="auto">
            <a:xfrm>
              <a:off x="867" y="2432"/>
              <a:ext cx="318" cy="271"/>
              <a:chOff x="657" y="1570"/>
              <a:chExt cx="318" cy="311"/>
            </a:xfrm>
          </p:grpSpPr>
          <p:sp>
            <p:nvSpPr>
              <p:cNvPr id="2448413" name="Line 104"/>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48414" name="Picture 10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48415" name="Group 106"/>
            <p:cNvGrpSpPr>
              <a:grpSpLocks/>
            </p:cNvGrpSpPr>
            <p:nvPr/>
          </p:nvGrpSpPr>
          <p:grpSpPr bwMode="auto">
            <a:xfrm>
              <a:off x="762" y="2391"/>
              <a:ext cx="306" cy="90"/>
              <a:chOff x="748" y="2251"/>
              <a:chExt cx="306" cy="90"/>
            </a:xfrm>
          </p:grpSpPr>
          <p:sp>
            <p:nvSpPr>
              <p:cNvPr id="2448416" name="AutoShape 10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17" name="AutoShape 10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18" name="AutoShape 10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19" name="AutoShape 11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20" name="AutoShape 11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21" name="AutoShape 11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48422" name="Group 113"/>
          <p:cNvGrpSpPr>
            <a:grpSpLocks/>
          </p:cNvGrpSpPr>
          <p:nvPr/>
        </p:nvGrpSpPr>
        <p:grpSpPr bwMode="auto">
          <a:xfrm>
            <a:off x="4941888" y="2741613"/>
            <a:ext cx="998537" cy="660400"/>
            <a:chOff x="1565" y="1797"/>
            <a:chExt cx="581" cy="416"/>
          </a:xfrm>
        </p:grpSpPr>
        <p:sp>
          <p:nvSpPr>
            <p:cNvPr id="2448423" name="Freeform 114"/>
            <p:cNvSpPr>
              <a:spLocks noChangeArrowheads="1"/>
            </p:cNvSpPr>
            <p:nvPr/>
          </p:nvSpPr>
          <p:spPr bwMode="auto">
            <a:xfrm>
              <a:off x="1565" y="1797"/>
              <a:ext cx="128" cy="189"/>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48424" name="Freeform 115"/>
            <p:cNvSpPr>
              <a:spLocks noChangeArrowheads="1"/>
            </p:cNvSpPr>
            <p:nvPr/>
          </p:nvSpPr>
          <p:spPr bwMode="auto">
            <a:xfrm>
              <a:off x="2018" y="2024"/>
              <a:ext cx="128" cy="18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48425" name="Freeform 116"/>
            <p:cNvSpPr>
              <a:spLocks noChangeArrowheads="1"/>
            </p:cNvSpPr>
            <p:nvPr/>
          </p:nvSpPr>
          <p:spPr bwMode="auto">
            <a:xfrm>
              <a:off x="1565" y="2017"/>
              <a:ext cx="128" cy="189"/>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48426" name="Freeform 117"/>
            <p:cNvSpPr>
              <a:spLocks noChangeArrowheads="1"/>
            </p:cNvSpPr>
            <p:nvPr/>
          </p:nvSpPr>
          <p:spPr bwMode="auto">
            <a:xfrm>
              <a:off x="2018" y="1797"/>
              <a:ext cx="128" cy="189"/>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sp>
        <p:nvSpPr>
          <p:cNvPr id="2448427" name="Text Box 118"/>
          <p:cNvSpPr txBox="1">
            <a:spLocks noChangeArrowheads="1"/>
          </p:cNvSpPr>
          <p:nvPr/>
        </p:nvSpPr>
        <p:spPr bwMode="auto">
          <a:xfrm>
            <a:off x="7359650" y="2632075"/>
            <a:ext cx="679450" cy="301625"/>
          </a:xfrm>
          <a:prstGeom prst="rect">
            <a:avLst/>
          </a:prstGeom>
          <a:solidFill>
            <a:srgbClr val="F8F8F8">
              <a:alpha val="59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85000"/>
              </a:lnSpc>
            </a:pPr>
            <a:r>
              <a:rPr lang="en-US" altLang="zh-CN" sz="1600" b="1">
                <a:solidFill>
                  <a:srgbClr val="000099"/>
                </a:solidFill>
                <a:ea typeface="宋体" panose="02010600030101010101" pitchFamily="2" charset="-122"/>
              </a:rPr>
              <a:t>BSS</a:t>
            </a:r>
            <a:r>
              <a:rPr lang="en-US" altLang="zh-CN" sz="1600" b="1" baseline="-25000">
                <a:solidFill>
                  <a:srgbClr val="000099"/>
                </a:solidFill>
                <a:ea typeface="宋体" panose="02010600030101010101" pitchFamily="2" charset="-122"/>
              </a:rPr>
              <a:t>1</a:t>
            </a:r>
          </a:p>
        </p:txBody>
      </p:sp>
      <p:sp>
        <p:nvSpPr>
          <p:cNvPr id="2448428" name="Text Box 119"/>
          <p:cNvSpPr txBox="1">
            <a:spLocks noChangeArrowheads="1"/>
          </p:cNvSpPr>
          <p:nvPr/>
        </p:nvSpPr>
        <p:spPr bwMode="auto">
          <a:xfrm>
            <a:off x="9185275" y="3143250"/>
            <a:ext cx="3333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A</a:t>
            </a:r>
            <a:endParaRPr lang="en-US" altLang="zh-CN" sz="1600" b="1" baseline="-25000">
              <a:solidFill>
                <a:srgbClr val="000099"/>
              </a:solidFill>
              <a:ea typeface="宋体" panose="02010600030101010101" pitchFamily="2" charset="-122"/>
            </a:endParaRPr>
          </a:p>
        </p:txBody>
      </p:sp>
      <p:sp>
        <p:nvSpPr>
          <p:cNvPr id="2448429" name="Text Box 120"/>
          <p:cNvSpPr txBox="1">
            <a:spLocks noChangeArrowheads="1"/>
          </p:cNvSpPr>
          <p:nvPr/>
        </p:nvSpPr>
        <p:spPr bwMode="auto">
          <a:xfrm>
            <a:off x="8374063" y="4167188"/>
            <a:ext cx="3317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B</a:t>
            </a:r>
            <a:endParaRPr lang="en-US" altLang="zh-CN" sz="1600" b="1" baseline="-25000">
              <a:solidFill>
                <a:srgbClr val="000099"/>
              </a:solidFill>
              <a:ea typeface="宋体" panose="02010600030101010101" pitchFamily="2" charset="-122"/>
            </a:endParaRPr>
          </a:p>
        </p:txBody>
      </p:sp>
      <p:sp>
        <p:nvSpPr>
          <p:cNvPr id="2448430" name="Line 121"/>
          <p:cNvSpPr>
            <a:spLocks noChangeShapeType="1"/>
          </p:cNvSpPr>
          <p:nvPr/>
        </p:nvSpPr>
        <p:spPr bwMode="auto">
          <a:xfrm flipH="1">
            <a:off x="6034088" y="3290888"/>
            <a:ext cx="2787650" cy="254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48431" name="Rectangle 122"/>
          <p:cNvSpPr>
            <a:spLocks noChangeArrowheads="1"/>
          </p:cNvSpPr>
          <p:nvPr/>
        </p:nvSpPr>
        <p:spPr bwMode="auto">
          <a:xfrm>
            <a:off x="7048500" y="3063875"/>
            <a:ext cx="1168400" cy="50482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去往 </a:t>
            </a:r>
            <a:r>
              <a:rPr lang="en-US" altLang="zh-CN" sz="1600" b="1">
                <a:solidFill>
                  <a:srgbClr val="000099"/>
                </a:solidFill>
                <a:ea typeface="宋体" panose="02010600030101010101" pitchFamily="2" charset="-122"/>
              </a:rPr>
              <a:t>AP = 1</a:t>
            </a:r>
          </a:p>
          <a:p>
            <a:pPr algn="ctr" eaLnBrk="0" hangingPunct="0"/>
            <a:r>
              <a:rPr lang="zh-CN" altLang="en-US" sz="1600" b="1">
                <a:solidFill>
                  <a:srgbClr val="000099"/>
                </a:solidFill>
                <a:ea typeface="宋体" panose="02010600030101010101" pitchFamily="2" charset="-122"/>
              </a:rPr>
              <a:t>来自 </a:t>
            </a:r>
            <a:r>
              <a:rPr lang="en-US" altLang="zh-CN" sz="1600" b="1">
                <a:solidFill>
                  <a:srgbClr val="000099"/>
                </a:solidFill>
                <a:ea typeface="宋体" panose="02010600030101010101" pitchFamily="2" charset="-122"/>
              </a:rPr>
              <a:t>AP = 0</a:t>
            </a:r>
          </a:p>
        </p:txBody>
      </p:sp>
      <p:sp>
        <p:nvSpPr>
          <p:cNvPr id="2448432" name="Line 123"/>
          <p:cNvSpPr>
            <a:spLocks noChangeShapeType="1"/>
          </p:cNvSpPr>
          <p:nvPr/>
        </p:nvSpPr>
        <p:spPr bwMode="auto">
          <a:xfrm flipV="1">
            <a:off x="3849688" y="3425825"/>
            <a:ext cx="1481137" cy="714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48433" name="Line 124"/>
          <p:cNvSpPr>
            <a:spLocks noChangeShapeType="1"/>
          </p:cNvSpPr>
          <p:nvPr/>
        </p:nvSpPr>
        <p:spPr bwMode="auto">
          <a:xfrm>
            <a:off x="5799138" y="3568700"/>
            <a:ext cx="2341562" cy="792163"/>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48434" name="Rectangle 125"/>
          <p:cNvSpPr>
            <a:spLocks noChangeArrowheads="1"/>
          </p:cNvSpPr>
          <p:nvPr/>
        </p:nvSpPr>
        <p:spPr bwMode="auto">
          <a:xfrm rot="1192993">
            <a:off x="6424613" y="3713163"/>
            <a:ext cx="1168400" cy="50482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去往 </a:t>
            </a:r>
            <a:r>
              <a:rPr lang="en-US" altLang="zh-CN" sz="1600" b="1">
                <a:solidFill>
                  <a:srgbClr val="000099"/>
                </a:solidFill>
                <a:ea typeface="宋体" panose="02010600030101010101" pitchFamily="2" charset="-122"/>
              </a:rPr>
              <a:t>AP = 0</a:t>
            </a:r>
          </a:p>
          <a:p>
            <a:pPr algn="ctr" eaLnBrk="0" hangingPunct="0"/>
            <a:r>
              <a:rPr lang="zh-CN" altLang="en-US" sz="1600" b="1">
                <a:solidFill>
                  <a:srgbClr val="000099"/>
                </a:solidFill>
                <a:ea typeface="宋体" panose="02010600030101010101" pitchFamily="2" charset="-122"/>
              </a:rPr>
              <a:t>来自 </a:t>
            </a:r>
            <a:r>
              <a:rPr lang="en-US" altLang="zh-CN" sz="1600" b="1">
                <a:solidFill>
                  <a:srgbClr val="000099"/>
                </a:solidFill>
                <a:ea typeface="宋体" panose="02010600030101010101" pitchFamily="2" charset="-122"/>
              </a:rPr>
              <a:t>AP = 1</a:t>
            </a:r>
          </a:p>
        </p:txBody>
      </p:sp>
      <p:sp>
        <p:nvSpPr>
          <p:cNvPr id="2448435" name="Line 126"/>
          <p:cNvSpPr>
            <a:spLocks noChangeShapeType="1"/>
          </p:cNvSpPr>
          <p:nvPr/>
        </p:nvSpPr>
        <p:spPr bwMode="auto">
          <a:xfrm flipV="1">
            <a:off x="2289175" y="3497263"/>
            <a:ext cx="1247775" cy="288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pic>
        <p:nvPicPr>
          <p:cNvPr id="2448436" name="Picture 127"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8125" y="3425825"/>
            <a:ext cx="8128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448437" name="Object 128"/>
          <p:cNvGraphicFramePr>
            <a:graphicFrameLocks noChangeAspect="1"/>
          </p:cNvGraphicFramePr>
          <p:nvPr/>
        </p:nvGraphicFramePr>
        <p:xfrm>
          <a:off x="2757488" y="3857625"/>
          <a:ext cx="1949450" cy="1227138"/>
        </p:xfrm>
        <a:graphic>
          <a:graphicData uri="http://schemas.openxmlformats.org/presentationml/2006/ole">
            <mc:AlternateContent xmlns:mc="http://schemas.openxmlformats.org/markup-compatibility/2006">
              <mc:Choice xmlns:v="urn:schemas-microsoft-com:vml" Requires="v">
                <p:oleObj spid="_x0000_s2448517" r:id="rId6" imgW="1687068" imgH="964692" progId="Visio.Drawing.6">
                  <p:embed/>
                </p:oleObj>
              </mc:Choice>
              <mc:Fallback>
                <p:oleObj r:id="rId6" imgW="1687068" imgH="964692" progId="Visio.Drawing.6">
                  <p:embed/>
                  <p:pic>
                    <p:nvPicPr>
                      <p:cNvPr id="0" name="Object 1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7488" y="3857625"/>
                        <a:ext cx="1949450" cy="122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48438" name="Text Box 129"/>
          <p:cNvSpPr txBox="1">
            <a:spLocks noChangeArrowheads="1"/>
          </p:cNvSpPr>
          <p:nvPr/>
        </p:nvSpPr>
        <p:spPr bwMode="auto">
          <a:xfrm>
            <a:off x="3302000" y="4217988"/>
            <a:ext cx="958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宋体" panose="02010600030101010101" pitchFamily="2" charset="-122"/>
              </a:rPr>
              <a:t>互联网</a:t>
            </a:r>
          </a:p>
        </p:txBody>
      </p:sp>
      <p:pic>
        <p:nvPicPr>
          <p:cNvPr id="2448439" name="Picture 130"/>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81375" y="3352800"/>
            <a:ext cx="65087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8440" name="Text Box 131"/>
          <p:cNvSpPr txBox="1">
            <a:spLocks noChangeArrowheads="1"/>
          </p:cNvSpPr>
          <p:nvPr/>
        </p:nvSpPr>
        <p:spPr bwMode="auto">
          <a:xfrm>
            <a:off x="3459163" y="3063875"/>
            <a:ext cx="3317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R</a:t>
            </a:r>
            <a:endParaRPr lang="en-US" altLang="zh-CN" sz="1600" b="1" baseline="-25000">
              <a:solidFill>
                <a:srgbClr val="000099"/>
              </a:solidFill>
              <a:ea typeface="宋体" panose="02010600030101010101" pitchFamily="2" charset="-122"/>
            </a:endParaRPr>
          </a:p>
        </p:txBody>
      </p:sp>
      <p:sp>
        <p:nvSpPr>
          <p:cNvPr id="2448441" name="Oval 132"/>
          <p:cNvSpPr>
            <a:spLocks noChangeArrowheads="1"/>
          </p:cNvSpPr>
          <p:nvPr/>
        </p:nvSpPr>
        <p:spPr bwMode="auto">
          <a:xfrm>
            <a:off x="338138" y="3208338"/>
            <a:ext cx="2419350" cy="1512887"/>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42" name="Text Box 133"/>
          <p:cNvSpPr txBox="1">
            <a:spLocks noChangeArrowheads="1"/>
          </p:cNvSpPr>
          <p:nvPr/>
        </p:nvSpPr>
        <p:spPr bwMode="auto">
          <a:xfrm>
            <a:off x="650875" y="3424238"/>
            <a:ext cx="679450" cy="301625"/>
          </a:xfrm>
          <a:prstGeom prst="rect">
            <a:avLst/>
          </a:prstGeom>
          <a:solidFill>
            <a:srgbClr val="F8F8F8">
              <a:alpha val="59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85000"/>
              </a:lnSpc>
            </a:pPr>
            <a:r>
              <a:rPr lang="en-US" altLang="zh-CN" sz="1600" b="1">
                <a:solidFill>
                  <a:srgbClr val="000099"/>
                </a:solidFill>
                <a:ea typeface="宋体" panose="02010600030101010101" pitchFamily="2" charset="-122"/>
              </a:rPr>
              <a:t>BSS</a:t>
            </a:r>
            <a:r>
              <a:rPr lang="en-US" altLang="zh-CN" sz="1600" b="1" baseline="-25000">
                <a:solidFill>
                  <a:srgbClr val="000099"/>
                </a:solidFill>
                <a:ea typeface="宋体" panose="02010600030101010101" pitchFamily="2" charset="-122"/>
              </a:rPr>
              <a:t>2</a:t>
            </a:r>
          </a:p>
        </p:txBody>
      </p:sp>
      <p:sp>
        <p:nvSpPr>
          <p:cNvPr id="2448443" name="Text Box 134"/>
          <p:cNvSpPr txBox="1">
            <a:spLocks noChangeArrowheads="1"/>
          </p:cNvSpPr>
          <p:nvPr/>
        </p:nvSpPr>
        <p:spPr bwMode="auto">
          <a:xfrm>
            <a:off x="1898650" y="3351213"/>
            <a:ext cx="5445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AP</a:t>
            </a:r>
            <a:r>
              <a:rPr lang="en-US" altLang="zh-CN" sz="1600" b="1" baseline="-25000">
                <a:solidFill>
                  <a:srgbClr val="000099"/>
                </a:solidFill>
                <a:ea typeface="宋体" panose="02010600030101010101" pitchFamily="2" charset="-122"/>
              </a:rPr>
              <a:t>2</a:t>
            </a:r>
          </a:p>
        </p:txBody>
      </p:sp>
      <p:grpSp>
        <p:nvGrpSpPr>
          <p:cNvPr id="2448444" name="Group 135"/>
          <p:cNvGrpSpPr>
            <a:grpSpLocks/>
          </p:cNvGrpSpPr>
          <p:nvPr/>
        </p:nvGrpSpPr>
        <p:grpSpPr bwMode="auto">
          <a:xfrm>
            <a:off x="573088" y="4000500"/>
            <a:ext cx="727075" cy="495300"/>
            <a:chOff x="762" y="2391"/>
            <a:chExt cx="423" cy="312"/>
          </a:xfrm>
        </p:grpSpPr>
        <p:grpSp>
          <p:nvGrpSpPr>
            <p:cNvPr id="2448445" name="Group 136"/>
            <p:cNvGrpSpPr>
              <a:grpSpLocks/>
            </p:cNvGrpSpPr>
            <p:nvPr/>
          </p:nvGrpSpPr>
          <p:grpSpPr bwMode="auto">
            <a:xfrm>
              <a:off x="867" y="2432"/>
              <a:ext cx="318" cy="271"/>
              <a:chOff x="657" y="1570"/>
              <a:chExt cx="318" cy="311"/>
            </a:xfrm>
          </p:grpSpPr>
          <p:sp>
            <p:nvSpPr>
              <p:cNvPr id="2448446" name="Line 137"/>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48447" name="Picture 138"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48448" name="Group 139"/>
            <p:cNvGrpSpPr>
              <a:grpSpLocks/>
            </p:cNvGrpSpPr>
            <p:nvPr/>
          </p:nvGrpSpPr>
          <p:grpSpPr bwMode="auto">
            <a:xfrm>
              <a:off x="762" y="2391"/>
              <a:ext cx="306" cy="90"/>
              <a:chOff x="748" y="2251"/>
              <a:chExt cx="306" cy="90"/>
            </a:xfrm>
          </p:grpSpPr>
          <p:sp>
            <p:nvSpPr>
              <p:cNvPr id="2448449" name="AutoShape 140"/>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50" name="AutoShape 141"/>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51" name="AutoShape 142"/>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52" name="AutoShape 143"/>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53" name="AutoShape 144"/>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54" name="AutoShape 145"/>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sp>
        <p:nvSpPr>
          <p:cNvPr id="2448455" name="Text Box 146"/>
          <p:cNvSpPr txBox="1">
            <a:spLocks noChangeArrowheads="1"/>
          </p:cNvSpPr>
          <p:nvPr/>
        </p:nvSpPr>
        <p:spPr bwMode="auto">
          <a:xfrm>
            <a:off x="1041400" y="4071938"/>
            <a:ext cx="3317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C</a:t>
            </a:r>
            <a:endParaRPr lang="en-US" altLang="zh-CN" sz="1600" b="1" baseline="-25000">
              <a:solidFill>
                <a:srgbClr val="000099"/>
              </a:solidFill>
              <a:ea typeface="宋体" panose="02010600030101010101" pitchFamily="2" charset="-122"/>
            </a:endParaRPr>
          </a:p>
        </p:txBody>
      </p:sp>
      <p:sp>
        <p:nvSpPr>
          <p:cNvPr id="2448456" name="Text Box 147"/>
          <p:cNvSpPr txBox="1">
            <a:spLocks noChangeArrowheads="1"/>
          </p:cNvSpPr>
          <p:nvPr/>
        </p:nvSpPr>
        <p:spPr bwMode="auto">
          <a:xfrm>
            <a:off x="3694113" y="3567113"/>
            <a:ext cx="2984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0</a:t>
            </a:r>
            <a:endParaRPr lang="en-US" altLang="zh-CN" sz="1600" b="1" baseline="-25000">
              <a:solidFill>
                <a:srgbClr val="000099"/>
              </a:solidFill>
              <a:ea typeface="宋体" panose="02010600030101010101" pitchFamily="2" charset="-122"/>
            </a:endParaRPr>
          </a:p>
        </p:txBody>
      </p:sp>
      <p:sp>
        <p:nvSpPr>
          <p:cNvPr id="2448457" name="Text Box 148"/>
          <p:cNvSpPr txBox="1">
            <a:spLocks noChangeArrowheads="1"/>
          </p:cNvSpPr>
          <p:nvPr/>
        </p:nvSpPr>
        <p:spPr bwMode="auto">
          <a:xfrm>
            <a:off x="3927475" y="3135313"/>
            <a:ext cx="2984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1</a:t>
            </a:r>
            <a:endParaRPr lang="en-US" altLang="zh-CN" sz="1600" b="1" baseline="-25000">
              <a:solidFill>
                <a:srgbClr val="000099"/>
              </a:solidFill>
              <a:ea typeface="宋体" panose="02010600030101010101" pitchFamily="2" charset="-122"/>
            </a:endParaRPr>
          </a:p>
        </p:txBody>
      </p:sp>
      <p:sp>
        <p:nvSpPr>
          <p:cNvPr id="2448458" name="Text Box 149"/>
          <p:cNvSpPr txBox="1">
            <a:spLocks noChangeArrowheads="1"/>
          </p:cNvSpPr>
          <p:nvPr/>
        </p:nvSpPr>
        <p:spPr bwMode="auto">
          <a:xfrm>
            <a:off x="3068638" y="3230563"/>
            <a:ext cx="2984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2</a:t>
            </a:r>
            <a:endParaRPr lang="en-US" altLang="zh-CN" sz="1600" b="1" baseline="-25000">
              <a:solidFill>
                <a:srgbClr val="000099"/>
              </a:solidFill>
              <a:ea typeface="宋体" panose="02010600030101010101" pitchFamily="2" charset="-122"/>
            </a:endParaRPr>
          </a:p>
        </p:txBody>
      </p:sp>
      <p:sp>
        <p:nvSpPr>
          <p:cNvPr id="2448459" name="Text Box 150"/>
          <p:cNvSpPr txBox="1">
            <a:spLocks noChangeArrowheads="1"/>
          </p:cNvSpPr>
          <p:nvPr/>
        </p:nvSpPr>
        <p:spPr bwMode="auto">
          <a:xfrm>
            <a:off x="1898650" y="620713"/>
            <a:ext cx="6219825" cy="1570037"/>
          </a:xfrm>
          <a:prstGeom prst="rect">
            <a:avLst/>
          </a:prstGeom>
          <a:solidFill>
            <a:srgbClr val="FFFF66"/>
          </a:solidFill>
          <a:ln w="9525">
            <a:solidFill>
              <a:schemeClr val="tx1"/>
            </a:solidFill>
            <a:round/>
            <a:headEnd/>
            <a:tailEnd/>
          </a:ln>
        </p:spPr>
        <p:txBody>
          <a:bodyPr>
            <a:spAutoFit/>
          </a:bodyPr>
          <a:lstStyle/>
          <a:p>
            <a:pPr algn="ctr" eaLnBrk="0" hangingPunct="0"/>
            <a:r>
              <a:rPr lang="zh-CN" altLang="en-US" sz="3200" b="1">
                <a:solidFill>
                  <a:srgbClr val="000066"/>
                </a:solidFill>
                <a:ea typeface="宋体" panose="02010600030101010101" pitchFamily="2" charset="-122"/>
              </a:rPr>
              <a:t>站点 </a:t>
            </a:r>
            <a:r>
              <a:rPr lang="en-US" altLang="zh-CN" sz="3200" b="1">
                <a:solidFill>
                  <a:srgbClr val="000066"/>
                </a:solidFill>
                <a:ea typeface="宋体" panose="02010600030101010101" pitchFamily="2" charset="-122"/>
              </a:rPr>
              <a:t>A </a:t>
            </a:r>
            <a:r>
              <a:rPr lang="zh-CN" altLang="en-US" sz="3200" b="1">
                <a:solidFill>
                  <a:srgbClr val="000066"/>
                </a:solidFill>
                <a:ea typeface="宋体" panose="02010600030101010101" pitchFamily="2" charset="-122"/>
              </a:rPr>
              <a:t>向 </a:t>
            </a:r>
            <a:r>
              <a:rPr lang="en-US" altLang="zh-CN" sz="3200" b="1">
                <a:solidFill>
                  <a:srgbClr val="000066"/>
                </a:solidFill>
                <a:ea typeface="宋体" panose="02010600030101010101" pitchFamily="2" charset="-122"/>
              </a:rPr>
              <a:t>B </a:t>
            </a:r>
            <a:r>
              <a:rPr lang="zh-CN" altLang="en-US" sz="3200" b="1">
                <a:solidFill>
                  <a:srgbClr val="000066"/>
                </a:solidFill>
                <a:ea typeface="宋体" panose="02010600030101010101" pitchFamily="2" charset="-122"/>
              </a:rPr>
              <a:t>发送数据帧，</a:t>
            </a:r>
            <a:r>
              <a:rPr lang="zh-CN" altLang="zh-CN" sz="3200" b="1">
                <a:solidFill>
                  <a:srgbClr val="000066"/>
                </a:solidFill>
                <a:ea typeface="宋体" panose="02010600030101010101" pitchFamily="2" charset="-122"/>
              </a:rPr>
              <a:t>或路由器</a:t>
            </a:r>
            <a:r>
              <a:rPr lang="en-US" altLang="zh-CN" sz="3200" b="1">
                <a:solidFill>
                  <a:srgbClr val="000066"/>
                </a:solidFill>
                <a:ea typeface="宋体" panose="02010600030101010101" pitchFamily="2" charset="-122"/>
              </a:rPr>
              <a:t> R </a:t>
            </a:r>
            <a:r>
              <a:rPr lang="zh-CN" altLang="zh-CN" sz="3200" b="1">
                <a:solidFill>
                  <a:srgbClr val="000066"/>
                </a:solidFill>
                <a:ea typeface="宋体" panose="02010600030101010101" pitchFamily="2" charset="-122"/>
              </a:rPr>
              <a:t>向</a:t>
            </a:r>
            <a:r>
              <a:rPr lang="en-US" altLang="zh-CN" sz="3200" b="1">
                <a:solidFill>
                  <a:srgbClr val="000066"/>
                </a:solidFill>
                <a:ea typeface="宋体" panose="02010600030101010101" pitchFamily="2" charset="-122"/>
              </a:rPr>
              <a:t> C </a:t>
            </a:r>
            <a:r>
              <a:rPr lang="zh-CN" altLang="zh-CN" sz="3200" b="1">
                <a:solidFill>
                  <a:srgbClr val="000066"/>
                </a:solidFill>
                <a:ea typeface="宋体" panose="02010600030101010101" pitchFamily="2" charset="-122"/>
              </a:rPr>
              <a:t>发送数据，</a:t>
            </a:r>
            <a:endParaRPr lang="zh-CN" altLang="en-US" sz="3200" b="1">
              <a:solidFill>
                <a:srgbClr val="000066"/>
              </a:solidFill>
              <a:ea typeface="宋体" panose="02010600030101010101" pitchFamily="2" charset="-122"/>
            </a:endParaRPr>
          </a:p>
          <a:p>
            <a:pPr algn="ctr" eaLnBrk="0" hangingPunct="0"/>
            <a:r>
              <a:rPr lang="zh-CN" altLang="en-US" sz="3200" b="1">
                <a:solidFill>
                  <a:srgbClr val="000066"/>
                </a:solidFill>
                <a:ea typeface="宋体" panose="02010600030101010101" pitchFamily="2" charset="-122"/>
              </a:rPr>
              <a:t>但数据帧必须经过 </a:t>
            </a:r>
            <a:r>
              <a:rPr lang="en-US" altLang="zh-CN" sz="3200" b="1">
                <a:solidFill>
                  <a:srgbClr val="000066"/>
                </a:solidFill>
                <a:ea typeface="宋体" panose="02010600030101010101" pitchFamily="2" charset="-122"/>
              </a:rPr>
              <a:t>AP </a:t>
            </a:r>
            <a:r>
              <a:rPr lang="zh-CN" altLang="en-US" sz="3200" b="1">
                <a:solidFill>
                  <a:srgbClr val="000066"/>
                </a:solidFill>
                <a:ea typeface="宋体" panose="02010600030101010101" pitchFamily="2" charset="-122"/>
              </a:rPr>
              <a:t>转发。</a:t>
            </a:r>
          </a:p>
        </p:txBody>
      </p:sp>
      <p:sp>
        <p:nvSpPr>
          <p:cNvPr id="244846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1E826F7-BD84-4936-A247-5941ADD26326}" type="slidenum">
              <a:rPr lang="zh-CN" altLang="en-US" smtClean="0"/>
              <a:pPr/>
              <a:t>55</a:t>
            </a:fld>
            <a:endParaRPr lang="en-US" altLang="zh-CN" smtClean="0"/>
          </a:p>
        </p:txBody>
      </p:sp>
      <p:sp>
        <p:nvSpPr>
          <p:cNvPr id="244846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0433" name="Rectangle 2"/>
          <p:cNvSpPr>
            <a:spLocks noGrp="1" noChangeArrowheads="1"/>
          </p:cNvSpPr>
          <p:nvPr>
            <p:ph type="title"/>
          </p:nvPr>
        </p:nvSpPr>
        <p:spPr/>
        <p:txBody>
          <a:bodyPr/>
          <a:lstStyle/>
          <a:p>
            <a:r>
              <a:rPr lang="en-US" altLang="zh-CN" smtClean="0">
                <a:ea typeface="黑体" panose="02010609060101010101" pitchFamily="49" charset="-122"/>
              </a:rPr>
              <a:t>1. </a:t>
            </a:r>
            <a:r>
              <a:rPr lang="zh-CN" altLang="en-US" smtClean="0">
                <a:ea typeface="黑体" panose="02010609060101010101" pitchFamily="49" charset="-122"/>
              </a:rPr>
              <a:t>关于 </a:t>
            </a:r>
            <a:r>
              <a:rPr lang="en-US" altLang="zh-CN" smtClean="0">
                <a:ea typeface="黑体" panose="02010609060101010101" pitchFamily="49" charset="-122"/>
              </a:rPr>
              <a:t>802.11 </a:t>
            </a:r>
            <a:r>
              <a:rPr lang="zh-CN" altLang="en-US" smtClean="0">
                <a:ea typeface="黑体" panose="02010609060101010101" pitchFamily="49" charset="-122"/>
              </a:rPr>
              <a:t>数据帧的地址</a:t>
            </a:r>
          </a:p>
        </p:txBody>
      </p:sp>
      <p:graphicFrame>
        <p:nvGraphicFramePr>
          <p:cNvPr id="3" name="表格 2"/>
          <p:cNvGraphicFramePr>
            <a:graphicFrameLocks noGrp="1"/>
          </p:cNvGraphicFramePr>
          <p:nvPr/>
        </p:nvGraphicFramePr>
        <p:xfrm>
          <a:off x="415925" y="2060575"/>
          <a:ext cx="9290051" cy="2808288"/>
        </p:xfrm>
        <a:graphic>
          <a:graphicData uri="http://schemas.openxmlformats.org/drawingml/2006/table">
            <a:tbl>
              <a:tblPr firstRow="1" firstCol="1" lastRow="1" lastCol="1" bandRow="1" bandCol="1">
                <a:tableStyleId>{5C22544A-7EE6-4342-B048-85BDC9FD1C3A}</a:tableStyleId>
              </a:tblPr>
              <a:tblGrid>
                <a:gridCol w="1689595">
                  <a:extLst>
                    <a:ext uri="{9D8B030D-6E8A-4147-A177-3AD203B41FA5}">
                      <a16:colId xmlns:a16="http://schemas.microsoft.com/office/drawing/2014/main" val="20000"/>
                    </a:ext>
                  </a:extLst>
                </a:gridCol>
                <a:gridCol w="980423">
                  <a:extLst>
                    <a:ext uri="{9D8B030D-6E8A-4147-A177-3AD203B41FA5}">
                      <a16:colId xmlns:a16="http://schemas.microsoft.com/office/drawing/2014/main" val="20001"/>
                    </a:ext>
                  </a:extLst>
                </a:gridCol>
                <a:gridCol w="985869">
                  <a:extLst>
                    <a:ext uri="{9D8B030D-6E8A-4147-A177-3AD203B41FA5}">
                      <a16:colId xmlns:a16="http://schemas.microsoft.com/office/drawing/2014/main" val="20002"/>
                    </a:ext>
                  </a:extLst>
                </a:gridCol>
                <a:gridCol w="1510941">
                  <a:extLst>
                    <a:ext uri="{9D8B030D-6E8A-4147-A177-3AD203B41FA5}">
                      <a16:colId xmlns:a16="http://schemas.microsoft.com/office/drawing/2014/main" val="20003"/>
                    </a:ext>
                  </a:extLst>
                </a:gridCol>
                <a:gridCol w="1510941">
                  <a:extLst>
                    <a:ext uri="{9D8B030D-6E8A-4147-A177-3AD203B41FA5}">
                      <a16:colId xmlns:a16="http://schemas.microsoft.com/office/drawing/2014/main" val="20004"/>
                    </a:ext>
                  </a:extLst>
                </a:gridCol>
                <a:gridCol w="1502226">
                  <a:extLst>
                    <a:ext uri="{9D8B030D-6E8A-4147-A177-3AD203B41FA5}">
                      <a16:colId xmlns:a16="http://schemas.microsoft.com/office/drawing/2014/main" val="20005"/>
                    </a:ext>
                  </a:extLst>
                </a:gridCol>
                <a:gridCol w="1110056">
                  <a:extLst>
                    <a:ext uri="{9D8B030D-6E8A-4147-A177-3AD203B41FA5}">
                      <a16:colId xmlns:a16="http://schemas.microsoft.com/office/drawing/2014/main" val="20006"/>
                    </a:ext>
                  </a:extLst>
                </a:gridCol>
              </a:tblGrid>
              <a:tr h="702072">
                <a:tc>
                  <a:txBody>
                    <a:bodyPr/>
                    <a:lstStyle/>
                    <a:p>
                      <a:pPr algn="ctr">
                        <a:lnSpc>
                          <a:spcPct val="100000"/>
                        </a:lnSpc>
                        <a:spcAft>
                          <a:spcPts val="0"/>
                        </a:spcAft>
                        <a:tabLst>
                          <a:tab pos="1752600" algn="l"/>
                        </a:tabLst>
                      </a:pPr>
                      <a:r>
                        <a:rPr lang="zh-CN" sz="2000" b="1" dirty="0">
                          <a:solidFill>
                            <a:schemeClr val="tx1"/>
                          </a:solidFill>
                          <a:effectLst/>
                          <a:latin typeface="+mn-lt"/>
                          <a:ea typeface="+mn-ea"/>
                        </a:rPr>
                        <a:t>数据报流向</a:t>
                      </a:r>
                    </a:p>
                  </a:txBody>
                  <a:tcPr marL="68588" marR="68588"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lnSpc>
                          <a:spcPct val="100000"/>
                        </a:lnSpc>
                        <a:spcAft>
                          <a:spcPts val="0"/>
                        </a:spcAft>
                        <a:tabLst>
                          <a:tab pos="1752600" algn="l"/>
                        </a:tabLst>
                      </a:pPr>
                      <a:r>
                        <a:rPr lang="zh-CN" sz="2000" b="1">
                          <a:solidFill>
                            <a:schemeClr val="tx1"/>
                          </a:solidFill>
                          <a:effectLst/>
                          <a:latin typeface="+mn-lt"/>
                          <a:ea typeface="+mn-ea"/>
                        </a:rPr>
                        <a:t>去往</a:t>
                      </a:r>
                      <a:r>
                        <a:rPr lang="en-US" sz="2000" b="1">
                          <a:solidFill>
                            <a:schemeClr val="tx1"/>
                          </a:solidFill>
                          <a:effectLst/>
                          <a:latin typeface="+mn-lt"/>
                          <a:ea typeface="+mn-ea"/>
                        </a:rPr>
                        <a:t>AP</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lnSpc>
                          <a:spcPct val="100000"/>
                        </a:lnSpc>
                        <a:spcAft>
                          <a:spcPts val="0"/>
                        </a:spcAft>
                        <a:tabLst>
                          <a:tab pos="1752600" algn="l"/>
                        </a:tabLst>
                      </a:pPr>
                      <a:r>
                        <a:rPr lang="zh-CN" sz="2000" b="1">
                          <a:solidFill>
                            <a:schemeClr val="tx1"/>
                          </a:solidFill>
                          <a:effectLst/>
                          <a:latin typeface="+mn-lt"/>
                          <a:ea typeface="+mn-ea"/>
                        </a:rPr>
                        <a:t>来自</a:t>
                      </a:r>
                      <a:r>
                        <a:rPr lang="en-US" sz="2000" b="1">
                          <a:solidFill>
                            <a:schemeClr val="tx1"/>
                          </a:solidFill>
                          <a:effectLst/>
                          <a:latin typeface="+mn-lt"/>
                          <a:ea typeface="+mn-ea"/>
                        </a:rPr>
                        <a:t>AP</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lnSpc>
                          <a:spcPct val="100000"/>
                        </a:lnSpc>
                        <a:spcAft>
                          <a:spcPts val="0"/>
                        </a:spcAft>
                        <a:tabLst>
                          <a:tab pos="1752600" algn="l"/>
                        </a:tabLst>
                      </a:pPr>
                      <a:r>
                        <a:rPr lang="zh-CN" sz="2000" b="1">
                          <a:solidFill>
                            <a:schemeClr val="tx1"/>
                          </a:solidFill>
                          <a:effectLst/>
                          <a:latin typeface="+mn-lt"/>
                          <a:ea typeface="+mn-ea"/>
                        </a:rPr>
                        <a:t>地址</a:t>
                      </a:r>
                      <a:r>
                        <a:rPr lang="en-US" sz="2000" b="1">
                          <a:solidFill>
                            <a:schemeClr val="tx1"/>
                          </a:solidFill>
                          <a:effectLst/>
                          <a:latin typeface="+mn-lt"/>
                          <a:ea typeface="+mn-ea"/>
                        </a:rPr>
                        <a:t>1</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lnSpc>
                          <a:spcPct val="100000"/>
                        </a:lnSpc>
                        <a:spcAft>
                          <a:spcPts val="0"/>
                        </a:spcAft>
                        <a:tabLst>
                          <a:tab pos="1752600" algn="l"/>
                        </a:tabLst>
                      </a:pPr>
                      <a:r>
                        <a:rPr lang="zh-CN" sz="2000" b="1">
                          <a:solidFill>
                            <a:schemeClr val="tx1"/>
                          </a:solidFill>
                          <a:effectLst/>
                          <a:latin typeface="+mn-lt"/>
                          <a:ea typeface="+mn-ea"/>
                        </a:rPr>
                        <a:t>地址</a:t>
                      </a:r>
                      <a:r>
                        <a:rPr lang="en-US" sz="2000" b="1">
                          <a:solidFill>
                            <a:schemeClr val="tx1"/>
                          </a:solidFill>
                          <a:effectLst/>
                          <a:latin typeface="+mn-lt"/>
                          <a:ea typeface="+mn-ea"/>
                        </a:rPr>
                        <a:t>2</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lnSpc>
                          <a:spcPct val="100000"/>
                        </a:lnSpc>
                        <a:spcAft>
                          <a:spcPts val="0"/>
                        </a:spcAft>
                        <a:tabLst>
                          <a:tab pos="1752600" algn="l"/>
                        </a:tabLst>
                      </a:pPr>
                      <a:r>
                        <a:rPr lang="zh-CN" sz="2000" b="1">
                          <a:solidFill>
                            <a:schemeClr val="tx1"/>
                          </a:solidFill>
                          <a:effectLst/>
                          <a:latin typeface="+mn-lt"/>
                          <a:ea typeface="+mn-ea"/>
                        </a:rPr>
                        <a:t>地址</a:t>
                      </a:r>
                      <a:r>
                        <a:rPr lang="en-US" sz="2000" b="1">
                          <a:solidFill>
                            <a:schemeClr val="tx1"/>
                          </a:solidFill>
                          <a:effectLst/>
                          <a:latin typeface="+mn-lt"/>
                          <a:ea typeface="+mn-ea"/>
                        </a:rPr>
                        <a:t>3</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lnSpc>
                          <a:spcPct val="100000"/>
                        </a:lnSpc>
                        <a:spcAft>
                          <a:spcPts val="0"/>
                        </a:spcAft>
                        <a:tabLst>
                          <a:tab pos="1752600" algn="l"/>
                        </a:tabLst>
                      </a:pPr>
                      <a:r>
                        <a:rPr lang="zh-CN" sz="2000" b="1" dirty="0">
                          <a:solidFill>
                            <a:schemeClr val="tx1"/>
                          </a:solidFill>
                          <a:effectLst/>
                          <a:latin typeface="+mn-lt"/>
                          <a:ea typeface="+mn-ea"/>
                        </a:rPr>
                        <a:t>地址</a:t>
                      </a:r>
                      <a:r>
                        <a:rPr lang="en-US" sz="2000" b="1" dirty="0">
                          <a:solidFill>
                            <a:schemeClr val="tx1"/>
                          </a:solidFill>
                          <a:effectLst/>
                          <a:latin typeface="+mn-lt"/>
                          <a:ea typeface="+mn-ea"/>
                        </a:rPr>
                        <a:t>4</a:t>
                      </a:r>
                      <a:endParaRPr lang="zh-CN" sz="2000" b="1" dirty="0">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10000"/>
                  </a:ext>
                </a:extLst>
              </a:tr>
              <a:tr h="702072">
                <a:tc>
                  <a:txBody>
                    <a:bodyPr/>
                    <a:lstStyle/>
                    <a:p>
                      <a:pPr>
                        <a:lnSpc>
                          <a:spcPct val="100000"/>
                        </a:lnSpc>
                        <a:spcAft>
                          <a:spcPts val="0"/>
                        </a:spcAft>
                        <a:tabLst>
                          <a:tab pos="1752600" algn="l"/>
                        </a:tabLst>
                      </a:pPr>
                      <a:r>
                        <a:rPr lang="en-US" sz="2000" b="1" dirty="0">
                          <a:solidFill>
                            <a:schemeClr val="tx1"/>
                          </a:solidFill>
                          <a:effectLst/>
                          <a:latin typeface="+mn-lt"/>
                          <a:ea typeface="+mn-ea"/>
                        </a:rPr>
                        <a:t>R</a:t>
                      </a:r>
                      <a:r>
                        <a:rPr lang="zh-CN" sz="2000" b="1" dirty="0">
                          <a:solidFill>
                            <a:schemeClr val="tx1"/>
                          </a:solidFill>
                          <a:effectLst/>
                          <a:latin typeface="+mn-lt"/>
                          <a:ea typeface="+mn-ea"/>
                        </a:rPr>
                        <a:t>接口</a:t>
                      </a:r>
                      <a:r>
                        <a:rPr lang="en-US" sz="2000" b="1" dirty="0">
                          <a:solidFill>
                            <a:schemeClr val="tx1"/>
                          </a:solidFill>
                          <a:effectLst/>
                          <a:latin typeface="+mn-lt"/>
                          <a:ea typeface="+mn-ea"/>
                        </a:rPr>
                        <a:t>2 </a:t>
                      </a:r>
                      <a:r>
                        <a:rPr lang="en-US" altLang="zh-CN" sz="2000" b="1" dirty="0">
                          <a:solidFill>
                            <a:schemeClr val="tx1"/>
                          </a:solidFill>
                          <a:effectLst/>
                          <a:latin typeface="+mn-lt"/>
                          <a:ea typeface="+mn-ea"/>
                          <a:sym typeface="Wingdings" panose="05000000000000000000" pitchFamily="2" charset="2"/>
                        </a:rPr>
                        <a:t></a:t>
                      </a:r>
                      <a:r>
                        <a:rPr lang="zh-CN" sz="2000" b="1" dirty="0">
                          <a:solidFill>
                            <a:schemeClr val="tx1"/>
                          </a:solidFill>
                          <a:effectLst/>
                          <a:latin typeface="+mn-lt"/>
                          <a:ea typeface="+mn-ea"/>
                        </a:rPr>
                        <a:t> </a:t>
                      </a:r>
                      <a:endParaRPr lang="en-US" altLang="zh-CN" sz="2000" b="1" dirty="0">
                        <a:solidFill>
                          <a:schemeClr val="tx1"/>
                        </a:solidFill>
                        <a:effectLst/>
                        <a:latin typeface="+mn-lt"/>
                        <a:ea typeface="+mn-ea"/>
                      </a:endParaRPr>
                    </a:p>
                    <a:p>
                      <a:pPr>
                        <a:lnSpc>
                          <a:spcPct val="100000"/>
                        </a:lnSpc>
                        <a:spcAft>
                          <a:spcPts val="0"/>
                        </a:spcAft>
                        <a:tabLst>
                          <a:tab pos="1752600" algn="l"/>
                        </a:tabLst>
                      </a:pPr>
                      <a:r>
                        <a:rPr lang="en-US" sz="2000" b="1" dirty="0">
                          <a:solidFill>
                            <a:schemeClr val="tx1"/>
                          </a:solidFill>
                          <a:effectLst/>
                          <a:latin typeface="+mn-lt"/>
                          <a:ea typeface="+mn-ea"/>
                        </a:rPr>
                        <a:t>AP</a:t>
                      </a:r>
                      <a:r>
                        <a:rPr lang="en-US" sz="2000" b="1" baseline="-25000" dirty="0">
                          <a:solidFill>
                            <a:schemeClr val="tx1"/>
                          </a:solidFill>
                          <a:effectLst/>
                          <a:latin typeface="+mn-lt"/>
                          <a:ea typeface="+mn-ea"/>
                        </a:rPr>
                        <a:t>2</a:t>
                      </a:r>
                      <a:endParaRPr lang="zh-CN" sz="2000" b="1" dirty="0">
                        <a:solidFill>
                          <a:schemeClr val="tx1"/>
                        </a:solidFill>
                        <a:effectLst/>
                        <a:latin typeface="+mn-lt"/>
                        <a:ea typeface="+mn-ea"/>
                      </a:endParaRPr>
                    </a:p>
                  </a:txBody>
                  <a:tcPr marL="68588" marR="68588"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en-US" sz="2000" b="1">
                          <a:solidFill>
                            <a:schemeClr val="tx1"/>
                          </a:solidFill>
                          <a:effectLst/>
                          <a:latin typeface="+mn-lt"/>
                          <a:ea typeface="+mn-ea"/>
                        </a:rPr>
                        <a:t>1</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en-US" sz="2000" b="1">
                          <a:solidFill>
                            <a:schemeClr val="tx1"/>
                          </a:solidFill>
                          <a:effectLst/>
                          <a:latin typeface="+mn-lt"/>
                          <a:ea typeface="+mn-ea"/>
                        </a:rPr>
                        <a:t>0</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AP</a:t>
                      </a:r>
                      <a:r>
                        <a:rPr lang="en-US" sz="2000" b="1" baseline="-25000">
                          <a:solidFill>
                            <a:schemeClr val="tx1"/>
                          </a:solidFill>
                          <a:effectLst/>
                          <a:latin typeface="+mn-lt"/>
                          <a:ea typeface="+mn-ea"/>
                        </a:rPr>
                        <a:t>2</a:t>
                      </a:r>
                      <a:r>
                        <a:rPr lang="zh-CN" sz="2000" b="1">
                          <a:solidFill>
                            <a:schemeClr val="tx1"/>
                          </a:solidFill>
                          <a:effectLst/>
                          <a:latin typeface="+mn-lt"/>
                          <a:ea typeface="+mn-ea"/>
                        </a:rPr>
                        <a:t>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R</a:t>
                      </a:r>
                      <a:r>
                        <a:rPr lang="zh-CN" sz="2000" b="1">
                          <a:solidFill>
                            <a:schemeClr val="tx1"/>
                          </a:solidFill>
                          <a:effectLst/>
                          <a:latin typeface="+mn-lt"/>
                          <a:ea typeface="+mn-ea"/>
                        </a:rPr>
                        <a:t>接口</a:t>
                      </a:r>
                      <a:r>
                        <a:rPr lang="en-US" sz="2000" b="1">
                          <a:solidFill>
                            <a:schemeClr val="tx1"/>
                          </a:solidFill>
                          <a:effectLst/>
                          <a:latin typeface="+mn-lt"/>
                          <a:ea typeface="+mn-ea"/>
                        </a:rPr>
                        <a:t>2</a:t>
                      </a:r>
                      <a:r>
                        <a:rPr lang="zh-CN" sz="2000" b="1">
                          <a:solidFill>
                            <a:schemeClr val="tx1"/>
                          </a:solidFill>
                          <a:effectLst/>
                          <a:latin typeface="+mn-lt"/>
                          <a:ea typeface="+mn-ea"/>
                        </a:rPr>
                        <a:t>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C</a:t>
                      </a:r>
                      <a:r>
                        <a:rPr lang="zh-CN" sz="2000" b="1">
                          <a:solidFill>
                            <a:schemeClr val="tx1"/>
                          </a:solidFill>
                          <a:effectLst/>
                          <a:latin typeface="+mn-lt"/>
                          <a:ea typeface="+mn-ea"/>
                        </a:rPr>
                        <a:t>的地址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zh-CN" sz="2000" b="1">
                          <a:solidFill>
                            <a:schemeClr val="tx1"/>
                          </a:solidFill>
                          <a:effectLst/>
                          <a:latin typeface="+mn-lt"/>
                          <a:ea typeface="+mn-ea"/>
                        </a:rPr>
                        <a:t>——</a:t>
                      </a:r>
                    </a:p>
                  </a:txBody>
                  <a:tcPr marL="68588" marR="68588"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51036">
                <a:tc>
                  <a:txBody>
                    <a:bodyPr/>
                    <a:lstStyle/>
                    <a:p>
                      <a:pPr>
                        <a:lnSpc>
                          <a:spcPct val="100000"/>
                        </a:lnSpc>
                        <a:spcAft>
                          <a:spcPts val="0"/>
                        </a:spcAft>
                        <a:tabLst>
                          <a:tab pos="1752600" algn="l"/>
                        </a:tabLst>
                      </a:pPr>
                      <a:r>
                        <a:rPr lang="en-US" sz="2000" b="1" dirty="0">
                          <a:solidFill>
                            <a:schemeClr val="tx1"/>
                          </a:solidFill>
                          <a:effectLst/>
                          <a:latin typeface="+mn-lt"/>
                          <a:ea typeface="+mn-ea"/>
                        </a:rPr>
                        <a:t>AP</a:t>
                      </a:r>
                      <a:r>
                        <a:rPr lang="en-US" sz="2000" b="1" baseline="-25000" dirty="0">
                          <a:solidFill>
                            <a:schemeClr val="tx1"/>
                          </a:solidFill>
                          <a:effectLst/>
                          <a:latin typeface="+mn-lt"/>
                          <a:ea typeface="+mn-ea"/>
                        </a:rPr>
                        <a:t>2</a:t>
                      </a:r>
                      <a:r>
                        <a:rPr lang="en-US" sz="2000" b="1" baseline="0" dirty="0">
                          <a:solidFill>
                            <a:schemeClr val="tx1"/>
                          </a:solidFill>
                          <a:effectLst/>
                          <a:latin typeface="+mn-lt"/>
                          <a:ea typeface="+mn-ea"/>
                        </a:rPr>
                        <a:t> </a:t>
                      </a:r>
                      <a:r>
                        <a:rPr lang="en-US" altLang="zh-CN" sz="2000" b="1" dirty="0">
                          <a:solidFill>
                            <a:schemeClr val="tx1"/>
                          </a:solidFill>
                          <a:effectLst/>
                          <a:latin typeface="+mn-lt"/>
                          <a:ea typeface="+mn-ea"/>
                          <a:sym typeface="Wingdings" panose="05000000000000000000" pitchFamily="2" charset="2"/>
                        </a:rPr>
                        <a:t></a:t>
                      </a:r>
                      <a:r>
                        <a:rPr lang="zh-CN" sz="2000" b="1" dirty="0">
                          <a:solidFill>
                            <a:schemeClr val="tx1"/>
                          </a:solidFill>
                          <a:effectLst/>
                          <a:latin typeface="+mn-lt"/>
                          <a:ea typeface="+mn-ea"/>
                        </a:rPr>
                        <a:t> </a:t>
                      </a:r>
                      <a:r>
                        <a:rPr lang="en-US" sz="2000" b="1" dirty="0">
                          <a:solidFill>
                            <a:schemeClr val="tx1"/>
                          </a:solidFill>
                          <a:effectLst/>
                          <a:latin typeface="+mn-lt"/>
                          <a:ea typeface="+mn-ea"/>
                        </a:rPr>
                        <a:t>C</a:t>
                      </a:r>
                      <a:endParaRPr lang="zh-CN" sz="2000" b="1" dirty="0">
                        <a:solidFill>
                          <a:schemeClr val="tx1"/>
                        </a:solidFill>
                        <a:effectLst/>
                        <a:latin typeface="+mn-lt"/>
                        <a:ea typeface="+mn-ea"/>
                      </a:endParaRPr>
                    </a:p>
                  </a:txBody>
                  <a:tcPr marL="68588" marR="68588"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en-US" sz="2000" b="1">
                          <a:solidFill>
                            <a:schemeClr val="tx1"/>
                          </a:solidFill>
                          <a:effectLst/>
                          <a:latin typeface="+mn-lt"/>
                          <a:ea typeface="+mn-ea"/>
                        </a:rPr>
                        <a:t>0</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en-US" sz="2000" b="1">
                          <a:solidFill>
                            <a:schemeClr val="tx1"/>
                          </a:solidFill>
                          <a:effectLst/>
                          <a:latin typeface="+mn-lt"/>
                          <a:ea typeface="+mn-ea"/>
                        </a:rPr>
                        <a:t>1</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C</a:t>
                      </a:r>
                      <a:r>
                        <a:rPr lang="zh-CN" sz="2000" b="1">
                          <a:solidFill>
                            <a:schemeClr val="tx1"/>
                          </a:solidFill>
                          <a:effectLst/>
                          <a:latin typeface="+mn-lt"/>
                          <a:ea typeface="+mn-ea"/>
                        </a:rPr>
                        <a:t>的地址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AP</a:t>
                      </a:r>
                      <a:r>
                        <a:rPr lang="en-US" sz="2000" b="1" baseline="-25000">
                          <a:solidFill>
                            <a:schemeClr val="tx1"/>
                          </a:solidFill>
                          <a:effectLst/>
                          <a:latin typeface="+mn-lt"/>
                          <a:ea typeface="+mn-ea"/>
                        </a:rPr>
                        <a:t>2</a:t>
                      </a:r>
                      <a:r>
                        <a:rPr lang="zh-CN" sz="2000" b="1">
                          <a:solidFill>
                            <a:schemeClr val="tx1"/>
                          </a:solidFill>
                          <a:effectLst/>
                          <a:latin typeface="+mn-lt"/>
                          <a:ea typeface="+mn-ea"/>
                        </a:rPr>
                        <a:t>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R</a:t>
                      </a:r>
                      <a:r>
                        <a:rPr lang="zh-CN" sz="2000" b="1">
                          <a:solidFill>
                            <a:schemeClr val="tx1"/>
                          </a:solidFill>
                          <a:effectLst/>
                          <a:latin typeface="+mn-lt"/>
                          <a:ea typeface="+mn-ea"/>
                        </a:rPr>
                        <a:t>接口</a:t>
                      </a:r>
                      <a:r>
                        <a:rPr lang="en-US" sz="2000" b="1">
                          <a:solidFill>
                            <a:schemeClr val="tx1"/>
                          </a:solidFill>
                          <a:effectLst/>
                          <a:latin typeface="+mn-lt"/>
                          <a:ea typeface="+mn-ea"/>
                        </a:rPr>
                        <a:t>2</a:t>
                      </a:r>
                      <a:r>
                        <a:rPr lang="zh-CN" sz="2000" b="1">
                          <a:solidFill>
                            <a:schemeClr val="tx1"/>
                          </a:solidFill>
                          <a:effectLst/>
                          <a:latin typeface="+mn-lt"/>
                          <a:ea typeface="+mn-ea"/>
                        </a:rPr>
                        <a:t>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zh-CN" sz="2000" b="1">
                          <a:solidFill>
                            <a:schemeClr val="tx1"/>
                          </a:solidFill>
                          <a:effectLst/>
                          <a:latin typeface="+mn-lt"/>
                          <a:ea typeface="+mn-ea"/>
                        </a:rPr>
                        <a:t>——</a:t>
                      </a:r>
                    </a:p>
                  </a:txBody>
                  <a:tcPr marL="68588" marR="68588"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51036">
                <a:tc>
                  <a:txBody>
                    <a:bodyPr/>
                    <a:lstStyle/>
                    <a:p>
                      <a:pPr>
                        <a:lnSpc>
                          <a:spcPct val="100000"/>
                        </a:lnSpc>
                        <a:spcAft>
                          <a:spcPts val="0"/>
                        </a:spcAft>
                        <a:tabLst>
                          <a:tab pos="1752600" algn="l"/>
                        </a:tabLst>
                      </a:pPr>
                      <a:r>
                        <a:rPr lang="en-US" sz="2000" b="1" dirty="0">
                          <a:solidFill>
                            <a:schemeClr val="tx1"/>
                          </a:solidFill>
                          <a:effectLst/>
                          <a:latin typeface="+mn-lt"/>
                          <a:ea typeface="+mn-ea"/>
                        </a:rPr>
                        <a:t>C</a:t>
                      </a:r>
                      <a:r>
                        <a:rPr lang="en-US" sz="2000" b="1" baseline="0" dirty="0">
                          <a:solidFill>
                            <a:schemeClr val="tx1"/>
                          </a:solidFill>
                          <a:effectLst/>
                          <a:latin typeface="+mn-lt"/>
                          <a:ea typeface="+mn-ea"/>
                        </a:rPr>
                        <a:t> </a:t>
                      </a:r>
                      <a:r>
                        <a:rPr lang="en-US" altLang="zh-CN" sz="2000" b="1" dirty="0">
                          <a:solidFill>
                            <a:schemeClr val="tx1"/>
                          </a:solidFill>
                          <a:effectLst/>
                          <a:latin typeface="+mn-lt"/>
                          <a:ea typeface="+mn-ea"/>
                          <a:sym typeface="Wingdings" panose="05000000000000000000" pitchFamily="2" charset="2"/>
                        </a:rPr>
                        <a:t></a:t>
                      </a:r>
                      <a:r>
                        <a:rPr lang="en-US" sz="2000" b="1" dirty="0">
                          <a:solidFill>
                            <a:schemeClr val="tx1"/>
                          </a:solidFill>
                          <a:effectLst/>
                          <a:latin typeface="+mn-lt"/>
                          <a:ea typeface="+mn-ea"/>
                        </a:rPr>
                        <a:t> AP</a:t>
                      </a:r>
                      <a:r>
                        <a:rPr lang="en-US" sz="2000" b="1" baseline="-25000" dirty="0">
                          <a:solidFill>
                            <a:schemeClr val="tx1"/>
                          </a:solidFill>
                          <a:effectLst/>
                          <a:latin typeface="+mn-lt"/>
                          <a:ea typeface="+mn-ea"/>
                        </a:rPr>
                        <a:t>2</a:t>
                      </a:r>
                      <a:endParaRPr lang="zh-CN" sz="2000" b="1" dirty="0">
                        <a:solidFill>
                          <a:schemeClr val="tx1"/>
                        </a:solidFill>
                        <a:effectLst/>
                        <a:latin typeface="+mn-lt"/>
                        <a:ea typeface="+mn-ea"/>
                      </a:endParaRPr>
                    </a:p>
                  </a:txBody>
                  <a:tcPr marL="68588" marR="68588"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en-US" sz="2000" b="1">
                          <a:solidFill>
                            <a:schemeClr val="tx1"/>
                          </a:solidFill>
                          <a:effectLst/>
                          <a:latin typeface="+mn-lt"/>
                          <a:ea typeface="+mn-ea"/>
                        </a:rPr>
                        <a:t>1</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en-US" sz="2000" b="1">
                          <a:solidFill>
                            <a:schemeClr val="tx1"/>
                          </a:solidFill>
                          <a:effectLst/>
                          <a:latin typeface="+mn-lt"/>
                          <a:ea typeface="+mn-ea"/>
                        </a:rPr>
                        <a:t>0</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AP</a:t>
                      </a:r>
                      <a:r>
                        <a:rPr lang="en-US" sz="2000" b="1" baseline="-25000">
                          <a:solidFill>
                            <a:schemeClr val="tx1"/>
                          </a:solidFill>
                          <a:effectLst/>
                          <a:latin typeface="+mn-lt"/>
                          <a:ea typeface="+mn-ea"/>
                        </a:rPr>
                        <a:t>2</a:t>
                      </a:r>
                      <a:r>
                        <a:rPr lang="zh-CN" sz="2000" b="1">
                          <a:solidFill>
                            <a:schemeClr val="tx1"/>
                          </a:solidFill>
                          <a:effectLst/>
                          <a:latin typeface="+mn-lt"/>
                          <a:ea typeface="+mn-ea"/>
                        </a:rPr>
                        <a:t>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C</a:t>
                      </a:r>
                      <a:r>
                        <a:rPr lang="zh-CN" sz="2000" b="1">
                          <a:solidFill>
                            <a:schemeClr val="tx1"/>
                          </a:solidFill>
                          <a:effectLst/>
                          <a:latin typeface="+mn-lt"/>
                          <a:ea typeface="+mn-ea"/>
                        </a:rPr>
                        <a:t>的地址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R</a:t>
                      </a:r>
                      <a:r>
                        <a:rPr lang="zh-CN" sz="2000" b="1">
                          <a:solidFill>
                            <a:schemeClr val="tx1"/>
                          </a:solidFill>
                          <a:effectLst/>
                          <a:latin typeface="+mn-lt"/>
                          <a:ea typeface="+mn-ea"/>
                        </a:rPr>
                        <a:t>接口</a:t>
                      </a:r>
                      <a:r>
                        <a:rPr lang="en-US" sz="2000" b="1">
                          <a:solidFill>
                            <a:schemeClr val="tx1"/>
                          </a:solidFill>
                          <a:effectLst/>
                          <a:latin typeface="+mn-lt"/>
                          <a:ea typeface="+mn-ea"/>
                        </a:rPr>
                        <a:t>2</a:t>
                      </a:r>
                      <a:r>
                        <a:rPr lang="zh-CN" sz="2000" b="1">
                          <a:solidFill>
                            <a:schemeClr val="tx1"/>
                          </a:solidFill>
                          <a:effectLst/>
                          <a:latin typeface="+mn-lt"/>
                          <a:ea typeface="+mn-ea"/>
                        </a:rPr>
                        <a:t>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zh-CN" sz="2000" b="1">
                          <a:solidFill>
                            <a:schemeClr val="tx1"/>
                          </a:solidFill>
                          <a:effectLst/>
                          <a:latin typeface="+mn-lt"/>
                          <a:ea typeface="+mn-ea"/>
                        </a:rPr>
                        <a:t>——</a:t>
                      </a:r>
                    </a:p>
                  </a:txBody>
                  <a:tcPr marL="68588" marR="68588"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702072">
                <a:tc>
                  <a:txBody>
                    <a:bodyPr/>
                    <a:lstStyle/>
                    <a:p>
                      <a:pPr>
                        <a:lnSpc>
                          <a:spcPct val="100000"/>
                        </a:lnSpc>
                        <a:spcAft>
                          <a:spcPts val="0"/>
                        </a:spcAft>
                        <a:tabLst>
                          <a:tab pos="1752600" algn="l"/>
                        </a:tabLst>
                      </a:pPr>
                      <a:r>
                        <a:rPr lang="en-US" sz="2000" b="1" dirty="0">
                          <a:solidFill>
                            <a:schemeClr val="tx1"/>
                          </a:solidFill>
                          <a:effectLst/>
                          <a:latin typeface="+mn-lt"/>
                          <a:ea typeface="+mn-ea"/>
                        </a:rPr>
                        <a:t>AP</a:t>
                      </a:r>
                      <a:r>
                        <a:rPr lang="en-US" sz="2000" b="1" baseline="-25000" dirty="0">
                          <a:solidFill>
                            <a:schemeClr val="tx1"/>
                          </a:solidFill>
                          <a:effectLst/>
                          <a:latin typeface="+mn-lt"/>
                          <a:ea typeface="+mn-ea"/>
                        </a:rPr>
                        <a:t>2 </a:t>
                      </a:r>
                      <a:r>
                        <a:rPr lang="en-US" altLang="zh-CN" sz="2000" b="1" dirty="0">
                          <a:solidFill>
                            <a:schemeClr val="tx1"/>
                          </a:solidFill>
                          <a:effectLst/>
                          <a:latin typeface="+mn-lt"/>
                          <a:ea typeface="+mn-ea"/>
                          <a:sym typeface="Wingdings" panose="05000000000000000000" pitchFamily="2" charset="2"/>
                        </a:rPr>
                        <a:t></a:t>
                      </a:r>
                    </a:p>
                    <a:p>
                      <a:pPr>
                        <a:lnSpc>
                          <a:spcPct val="100000"/>
                        </a:lnSpc>
                        <a:spcAft>
                          <a:spcPts val="0"/>
                        </a:spcAft>
                        <a:tabLst>
                          <a:tab pos="1752600" algn="l"/>
                        </a:tabLst>
                      </a:pPr>
                      <a:r>
                        <a:rPr lang="en-US" sz="2000" b="1" dirty="0">
                          <a:solidFill>
                            <a:schemeClr val="tx1"/>
                          </a:solidFill>
                          <a:effectLst/>
                          <a:latin typeface="+mn-lt"/>
                          <a:ea typeface="+mn-ea"/>
                        </a:rPr>
                        <a:t> R </a:t>
                      </a:r>
                      <a:r>
                        <a:rPr lang="zh-CN" sz="2000" b="1" dirty="0">
                          <a:solidFill>
                            <a:schemeClr val="tx1"/>
                          </a:solidFill>
                          <a:effectLst/>
                          <a:latin typeface="+mn-lt"/>
                          <a:ea typeface="+mn-ea"/>
                        </a:rPr>
                        <a:t>接口</a:t>
                      </a:r>
                      <a:r>
                        <a:rPr lang="en-US" sz="2000" b="1" dirty="0">
                          <a:solidFill>
                            <a:schemeClr val="tx1"/>
                          </a:solidFill>
                          <a:effectLst/>
                          <a:latin typeface="+mn-lt"/>
                          <a:ea typeface="+mn-ea"/>
                        </a:rPr>
                        <a:t> 2</a:t>
                      </a:r>
                      <a:endParaRPr lang="zh-CN" sz="2000" b="1" dirty="0">
                        <a:solidFill>
                          <a:schemeClr val="tx1"/>
                        </a:solidFill>
                        <a:effectLst/>
                        <a:latin typeface="+mn-lt"/>
                        <a:ea typeface="+mn-ea"/>
                      </a:endParaRPr>
                    </a:p>
                  </a:txBody>
                  <a:tcPr marL="68588" marR="68588"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en-US" sz="2000" b="1">
                          <a:solidFill>
                            <a:schemeClr val="tx1"/>
                          </a:solidFill>
                          <a:effectLst/>
                          <a:latin typeface="+mn-lt"/>
                          <a:ea typeface="+mn-ea"/>
                        </a:rPr>
                        <a:t>0</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en-US" sz="2000" b="1">
                          <a:solidFill>
                            <a:schemeClr val="tx1"/>
                          </a:solidFill>
                          <a:effectLst/>
                          <a:latin typeface="+mn-lt"/>
                          <a:ea typeface="+mn-ea"/>
                        </a:rPr>
                        <a:t>1</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R</a:t>
                      </a:r>
                      <a:r>
                        <a:rPr lang="zh-CN" sz="2000" b="1">
                          <a:solidFill>
                            <a:schemeClr val="tx1"/>
                          </a:solidFill>
                          <a:effectLst/>
                          <a:latin typeface="+mn-lt"/>
                          <a:ea typeface="+mn-ea"/>
                        </a:rPr>
                        <a:t>接口</a:t>
                      </a:r>
                      <a:r>
                        <a:rPr lang="en-US" sz="2000" b="1">
                          <a:solidFill>
                            <a:schemeClr val="tx1"/>
                          </a:solidFill>
                          <a:effectLst/>
                          <a:latin typeface="+mn-lt"/>
                          <a:ea typeface="+mn-ea"/>
                        </a:rPr>
                        <a:t>2</a:t>
                      </a:r>
                      <a:r>
                        <a:rPr lang="zh-CN" sz="2000" b="1">
                          <a:solidFill>
                            <a:schemeClr val="tx1"/>
                          </a:solidFill>
                          <a:effectLst/>
                          <a:latin typeface="+mn-lt"/>
                          <a:ea typeface="+mn-ea"/>
                        </a:rPr>
                        <a:t>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AP</a:t>
                      </a:r>
                      <a:r>
                        <a:rPr lang="en-US" sz="2000" b="1" baseline="-25000">
                          <a:solidFill>
                            <a:schemeClr val="tx1"/>
                          </a:solidFill>
                          <a:effectLst/>
                          <a:latin typeface="+mn-lt"/>
                          <a:ea typeface="+mn-ea"/>
                        </a:rPr>
                        <a:t>2</a:t>
                      </a:r>
                      <a:r>
                        <a:rPr lang="zh-CN" sz="2000" b="1">
                          <a:solidFill>
                            <a:schemeClr val="tx1"/>
                          </a:solidFill>
                          <a:effectLst/>
                          <a:latin typeface="+mn-lt"/>
                          <a:ea typeface="+mn-ea"/>
                        </a:rPr>
                        <a:t>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C</a:t>
                      </a:r>
                      <a:r>
                        <a:rPr lang="zh-CN" sz="2000" b="1">
                          <a:solidFill>
                            <a:schemeClr val="tx1"/>
                          </a:solidFill>
                          <a:effectLst/>
                          <a:latin typeface="+mn-lt"/>
                          <a:ea typeface="+mn-ea"/>
                        </a:rPr>
                        <a:t>的地址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zh-CN" sz="2000" b="1" dirty="0">
                          <a:solidFill>
                            <a:schemeClr val="tx1"/>
                          </a:solidFill>
                          <a:effectLst/>
                          <a:latin typeface="+mn-lt"/>
                          <a:ea typeface="+mn-ea"/>
                        </a:rPr>
                        <a:t>——</a:t>
                      </a:r>
                    </a:p>
                  </a:txBody>
                  <a:tcPr marL="68588" marR="68588"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450484" name="矩形 3"/>
          <p:cNvSpPr>
            <a:spLocks noChangeArrowheads="1"/>
          </p:cNvSpPr>
          <p:nvPr/>
        </p:nvSpPr>
        <p:spPr bwMode="auto">
          <a:xfrm>
            <a:off x="344488" y="1484313"/>
            <a:ext cx="9417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b="1">
                <a:ea typeface="宋体" panose="02010600030101010101" pitchFamily="2" charset="-122"/>
              </a:rPr>
              <a:t>数据报在路由器</a:t>
            </a:r>
            <a:r>
              <a:rPr lang="en-US" altLang="zh-CN" b="1">
                <a:ea typeface="宋体" panose="02010600030101010101" pitchFamily="2" charset="-122"/>
              </a:rPr>
              <a:t> R </a:t>
            </a:r>
            <a:r>
              <a:rPr lang="zh-CN" altLang="zh-CN" b="1">
                <a:ea typeface="宋体" panose="02010600030101010101" pitchFamily="2" charset="-122"/>
              </a:rPr>
              <a:t>与移动站</a:t>
            </a:r>
            <a:r>
              <a:rPr lang="en-US" altLang="zh-CN" b="1">
                <a:ea typeface="宋体" panose="02010600030101010101" pitchFamily="2" charset="-122"/>
              </a:rPr>
              <a:t> C </a:t>
            </a:r>
            <a:r>
              <a:rPr lang="zh-CN" altLang="zh-CN" b="1">
                <a:ea typeface="宋体" panose="02010600030101010101" pitchFamily="2" charset="-122"/>
              </a:rPr>
              <a:t>之间传送（表中地址都是</a:t>
            </a:r>
            <a:r>
              <a:rPr lang="en-US" altLang="zh-CN" b="1">
                <a:ea typeface="宋体" panose="02010600030101010101" pitchFamily="2" charset="-122"/>
              </a:rPr>
              <a:t>MAC</a:t>
            </a:r>
            <a:r>
              <a:rPr lang="zh-CN" altLang="zh-CN" b="1">
                <a:ea typeface="宋体" panose="02010600030101010101" pitchFamily="2" charset="-122"/>
              </a:rPr>
              <a:t>地址）</a:t>
            </a:r>
            <a:endParaRPr lang="zh-CN" altLang="en-US" b="1">
              <a:ea typeface="宋体" panose="02010600030101010101" pitchFamily="2" charset="-122"/>
            </a:endParaRPr>
          </a:p>
        </p:txBody>
      </p:sp>
      <p:sp>
        <p:nvSpPr>
          <p:cNvPr id="245048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5688F14-97D2-4534-BDF7-21F4084333C7}" type="slidenum">
              <a:rPr lang="zh-CN" altLang="en-US" smtClean="0"/>
              <a:pPr eaLnBrk="1" hangingPunct="1"/>
              <a:t>56</a:t>
            </a:fld>
            <a:endParaRPr lang="en-US" altLang="zh-CN" smtClean="0"/>
          </a:p>
        </p:txBody>
      </p:sp>
      <p:sp>
        <p:nvSpPr>
          <p:cNvPr id="245048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2481" name="Rectangle 2"/>
          <p:cNvSpPr>
            <a:spLocks noGrp="1" noChangeArrowheads="1"/>
          </p:cNvSpPr>
          <p:nvPr>
            <p:ph type="title"/>
          </p:nvPr>
        </p:nvSpPr>
        <p:spPr>
          <a:xfrm>
            <a:off x="495300" y="188913"/>
            <a:ext cx="9066213" cy="792162"/>
          </a:xfrm>
        </p:spPr>
        <p:txBody>
          <a:bodyPr/>
          <a:lstStyle/>
          <a:p>
            <a:pPr algn="ctr"/>
            <a:r>
              <a:rPr lang="zh-CN" altLang="en-US" sz="4000" dirty="0" smtClean="0">
                <a:ea typeface="黑体" panose="02010609060101010101" pitchFamily="49" charset="-122"/>
              </a:rPr>
              <a:t>序号控制</a:t>
            </a:r>
          </a:p>
        </p:txBody>
      </p:sp>
      <p:sp>
        <p:nvSpPr>
          <p:cNvPr id="2452482" name="Rectangle 3"/>
          <p:cNvSpPr>
            <a:spLocks noGrp="1" noChangeArrowheads="1"/>
          </p:cNvSpPr>
          <p:nvPr>
            <p:ph idx="1"/>
          </p:nvPr>
        </p:nvSpPr>
        <p:spPr>
          <a:xfrm>
            <a:off x="495300" y="1196975"/>
            <a:ext cx="9066213" cy="4933950"/>
          </a:xfrm>
        </p:spPr>
        <p:txBody>
          <a:bodyPr/>
          <a:lstStyle/>
          <a:p>
            <a:r>
              <a:rPr lang="zh-CN" altLang="en-US" sz="2800" dirty="0" smtClean="0">
                <a:solidFill>
                  <a:srgbClr val="FF0000"/>
                </a:solidFill>
                <a:ea typeface="黑体" panose="02010609060101010101" pitchFamily="49" charset="-122"/>
              </a:rPr>
              <a:t>序号控制</a:t>
            </a:r>
            <a:r>
              <a:rPr lang="zh-CN" altLang="en-US" sz="2800" dirty="0" smtClean="0">
                <a:ea typeface="黑体" panose="02010609060101010101" pitchFamily="49" charset="-122"/>
              </a:rPr>
              <a:t>字段占 </a:t>
            </a:r>
            <a:r>
              <a:rPr lang="en-US" altLang="zh-CN" sz="2800" dirty="0" smtClean="0">
                <a:ea typeface="黑体" panose="02010609060101010101" pitchFamily="49" charset="-122"/>
              </a:rPr>
              <a:t>16 </a:t>
            </a:r>
            <a:r>
              <a:rPr lang="zh-CN" altLang="en-US" sz="2800" dirty="0" smtClean="0">
                <a:ea typeface="黑体" panose="02010609060101010101" pitchFamily="49" charset="-122"/>
              </a:rPr>
              <a:t>位，其中序号子字段占 </a:t>
            </a:r>
            <a:r>
              <a:rPr lang="en-US" altLang="zh-CN" sz="2800" dirty="0" smtClean="0">
                <a:ea typeface="黑体" panose="02010609060101010101" pitchFamily="49" charset="-122"/>
              </a:rPr>
              <a:t>12 </a:t>
            </a:r>
            <a:r>
              <a:rPr lang="zh-CN" altLang="en-US" sz="2800" dirty="0" smtClean="0">
                <a:ea typeface="黑体" panose="02010609060101010101" pitchFamily="49" charset="-122"/>
              </a:rPr>
              <a:t>位，分片子字段占 </a:t>
            </a:r>
            <a:r>
              <a:rPr lang="en-US" altLang="zh-CN" sz="2800" dirty="0" smtClean="0">
                <a:ea typeface="黑体" panose="02010609060101010101" pitchFamily="49" charset="-122"/>
              </a:rPr>
              <a:t>4 </a:t>
            </a:r>
            <a:r>
              <a:rPr lang="zh-CN" altLang="en-US" sz="2800" dirty="0" smtClean="0">
                <a:ea typeface="黑体" panose="02010609060101010101" pitchFamily="49" charset="-122"/>
              </a:rPr>
              <a:t>位。</a:t>
            </a:r>
          </a:p>
        </p:txBody>
      </p:sp>
      <p:sp>
        <p:nvSpPr>
          <p:cNvPr id="24524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25CD45-1080-436C-BD5B-3721A9881498}" type="slidenum">
              <a:rPr lang="zh-CN" altLang="en-US" smtClean="0"/>
              <a:pPr eaLnBrk="1" hangingPunct="1"/>
              <a:t>57</a:t>
            </a:fld>
            <a:endParaRPr lang="en-US" altLang="zh-CN" smtClean="0"/>
          </a:p>
        </p:txBody>
      </p:sp>
      <p:sp>
        <p:nvSpPr>
          <p:cNvPr id="24524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3505" name="Rectangle 4"/>
          <p:cNvSpPr>
            <a:spLocks noGrp="1" noChangeArrowheads="1"/>
          </p:cNvSpPr>
          <p:nvPr>
            <p:ph type="title"/>
          </p:nvPr>
        </p:nvSpPr>
        <p:spPr/>
        <p:txBody>
          <a:bodyPr/>
          <a:lstStyle/>
          <a:p>
            <a:pPr algn="ctr"/>
            <a:r>
              <a:rPr lang="zh-CN" altLang="en-US" smtClean="0">
                <a:ea typeface="黑体" panose="02010609060101010101" pitchFamily="49" charset="-122"/>
              </a:rPr>
              <a:t>分片的发送举例 </a:t>
            </a:r>
          </a:p>
        </p:txBody>
      </p:sp>
      <p:sp>
        <p:nvSpPr>
          <p:cNvPr id="2453506" name="Text Box 6"/>
          <p:cNvSpPr txBox="1">
            <a:spLocks noChangeArrowheads="1"/>
          </p:cNvSpPr>
          <p:nvPr/>
        </p:nvSpPr>
        <p:spPr bwMode="auto">
          <a:xfrm>
            <a:off x="9504363" y="3549650"/>
            <a:ext cx="254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i="1">
                <a:solidFill>
                  <a:srgbClr val="000099"/>
                </a:solidFill>
                <a:ea typeface="宋体" panose="02010600030101010101" pitchFamily="2" charset="-122"/>
              </a:rPr>
              <a:t>t</a:t>
            </a:r>
          </a:p>
        </p:txBody>
      </p:sp>
      <p:sp>
        <p:nvSpPr>
          <p:cNvPr id="2453507" name="Text Box 8"/>
          <p:cNvSpPr txBox="1">
            <a:spLocks noChangeArrowheads="1"/>
          </p:cNvSpPr>
          <p:nvPr/>
        </p:nvSpPr>
        <p:spPr bwMode="auto">
          <a:xfrm>
            <a:off x="9504363" y="5348288"/>
            <a:ext cx="254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i="1">
                <a:solidFill>
                  <a:srgbClr val="000099"/>
                </a:solidFill>
                <a:ea typeface="宋体" panose="02010600030101010101" pitchFamily="2" charset="-122"/>
              </a:rPr>
              <a:t>t</a:t>
            </a:r>
          </a:p>
        </p:txBody>
      </p:sp>
      <p:sp>
        <p:nvSpPr>
          <p:cNvPr id="2453508" name="Text Box 11"/>
          <p:cNvSpPr txBox="1">
            <a:spLocks noChangeArrowheads="1"/>
          </p:cNvSpPr>
          <p:nvPr/>
        </p:nvSpPr>
        <p:spPr bwMode="auto">
          <a:xfrm>
            <a:off x="9504363" y="4462463"/>
            <a:ext cx="254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i="1">
                <a:solidFill>
                  <a:srgbClr val="000099"/>
                </a:solidFill>
                <a:ea typeface="宋体" panose="02010600030101010101" pitchFamily="2" charset="-122"/>
              </a:rPr>
              <a:t>t</a:t>
            </a:r>
          </a:p>
        </p:txBody>
      </p:sp>
      <p:sp>
        <p:nvSpPr>
          <p:cNvPr id="2453509" name="Text Box 9"/>
          <p:cNvSpPr txBox="1">
            <a:spLocks noChangeArrowheads="1"/>
          </p:cNvSpPr>
          <p:nvPr/>
        </p:nvSpPr>
        <p:spPr bwMode="auto">
          <a:xfrm>
            <a:off x="369888" y="3448050"/>
            <a:ext cx="6461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源站</a:t>
            </a:r>
          </a:p>
        </p:txBody>
      </p:sp>
      <p:sp>
        <p:nvSpPr>
          <p:cNvPr id="2453510" name="Text Box 12"/>
          <p:cNvSpPr txBox="1">
            <a:spLocks noChangeArrowheads="1"/>
          </p:cNvSpPr>
          <p:nvPr/>
        </p:nvSpPr>
        <p:spPr bwMode="auto">
          <a:xfrm>
            <a:off x="365125" y="4311650"/>
            <a:ext cx="8778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目的站</a:t>
            </a:r>
          </a:p>
        </p:txBody>
      </p:sp>
      <p:sp>
        <p:nvSpPr>
          <p:cNvPr id="2453511" name="Text Box 13"/>
          <p:cNvSpPr txBox="1">
            <a:spLocks noChangeArrowheads="1"/>
          </p:cNvSpPr>
          <p:nvPr/>
        </p:nvSpPr>
        <p:spPr bwMode="auto">
          <a:xfrm>
            <a:off x="296863" y="5130800"/>
            <a:ext cx="946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b="1">
                <a:solidFill>
                  <a:srgbClr val="000099"/>
                </a:solidFill>
                <a:ea typeface="宋体" panose="02010600030101010101" pitchFamily="2" charset="-122"/>
              </a:rPr>
              <a:t> </a:t>
            </a:r>
            <a:r>
              <a:rPr lang="zh-CN" altLang="en-US" b="1">
                <a:solidFill>
                  <a:srgbClr val="000099"/>
                </a:solidFill>
                <a:ea typeface="宋体" panose="02010600030101010101" pitchFamily="2" charset="-122"/>
              </a:rPr>
              <a:t>其他站</a:t>
            </a:r>
          </a:p>
        </p:txBody>
      </p:sp>
      <p:sp>
        <p:nvSpPr>
          <p:cNvPr id="2453512" name="Rectangle 14"/>
          <p:cNvSpPr>
            <a:spLocks noChangeArrowheads="1"/>
          </p:cNvSpPr>
          <p:nvPr/>
        </p:nvSpPr>
        <p:spPr bwMode="auto">
          <a:xfrm>
            <a:off x="1670050" y="3479800"/>
            <a:ext cx="623888" cy="396875"/>
          </a:xfrm>
          <a:prstGeom prst="rect">
            <a:avLst/>
          </a:prstGeom>
          <a:solidFill>
            <a:srgbClr val="FFFF66"/>
          </a:solidFill>
          <a:ln w="9525">
            <a:solidFill>
              <a:schemeClr val="tx2"/>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RTS</a:t>
            </a:r>
          </a:p>
        </p:txBody>
      </p:sp>
      <p:sp>
        <p:nvSpPr>
          <p:cNvPr id="2453513" name="Rectangle 15"/>
          <p:cNvSpPr>
            <a:spLocks noChangeArrowheads="1"/>
          </p:cNvSpPr>
          <p:nvPr/>
        </p:nvSpPr>
        <p:spPr bwMode="auto">
          <a:xfrm>
            <a:off x="2505075" y="4367213"/>
            <a:ext cx="625475" cy="396875"/>
          </a:xfrm>
          <a:prstGeom prst="rect">
            <a:avLst/>
          </a:prstGeom>
          <a:solidFill>
            <a:srgbClr val="CCECFF"/>
          </a:solidFill>
          <a:ln w="9525">
            <a:solidFill>
              <a:schemeClr val="tx2"/>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CTS</a:t>
            </a:r>
          </a:p>
        </p:txBody>
      </p:sp>
      <p:sp>
        <p:nvSpPr>
          <p:cNvPr id="2453514" name="Rectangle 16"/>
          <p:cNvSpPr>
            <a:spLocks noChangeArrowheads="1"/>
          </p:cNvSpPr>
          <p:nvPr/>
        </p:nvSpPr>
        <p:spPr bwMode="auto">
          <a:xfrm>
            <a:off x="3340100" y="3479800"/>
            <a:ext cx="939800" cy="396875"/>
          </a:xfrm>
          <a:prstGeom prst="rect">
            <a:avLst/>
          </a:prstGeom>
          <a:solidFill>
            <a:srgbClr val="CCCC00"/>
          </a:solidFill>
          <a:ln w="9525">
            <a:solidFill>
              <a:schemeClr val="tx2"/>
            </a:solidFill>
            <a:miter lim="800000"/>
            <a:headEnd/>
            <a:tailEnd/>
          </a:ln>
        </p:spPr>
        <p:txBody>
          <a:bodyPr wrap="none" anchor="ctr"/>
          <a:lstStyle/>
          <a:p>
            <a:pPr algn="ctr" eaLnBrk="0" hangingPunct="0"/>
            <a:r>
              <a:rPr lang="zh-CN" altLang="en-US" b="1">
                <a:solidFill>
                  <a:srgbClr val="000099"/>
                </a:solidFill>
                <a:ea typeface="宋体" panose="02010600030101010101" pitchFamily="2" charset="-122"/>
              </a:rPr>
              <a:t>分片</a:t>
            </a:r>
            <a:r>
              <a:rPr lang="zh-CN" altLang="en-US" sz="1000" b="1">
                <a:solidFill>
                  <a:srgbClr val="000099"/>
                </a:solidFill>
                <a:ea typeface="宋体" panose="02010600030101010101" pitchFamily="2" charset="-122"/>
              </a:rPr>
              <a:t> </a:t>
            </a:r>
            <a:r>
              <a:rPr lang="en-US" altLang="zh-CN" b="1">
                <a:solidFill>
                  <a:srgbClr val="000099"/>
                </a:solidFill>
                <a:ea typeface="宋体" panose="02010600030101010101" pitchFamily="2" charset="-122"/>
              </a:rPr>
              <a:t>0</a:t>
            </a:r>
          </a:p>
        </p:txBody>
      </p:sp>
      <p:sp>
        <p:nvSpPr>
          <p:cNvPr id="2453515" name="Line 17"/>
          <p:cNvSpPr>
            <a:spLocks noChangeShapeType="1"/>
          </p:cNvSpPr>
          <p:nvPr/>
        </p:nvSpPr>
        <p:spPr bwMode="auto">
          <a:xfrm>
            <a:off x="2293938" y="3184525"/>
            <a:ext cx="0" cy="2073275"/>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16" name="Line 18"/>
          <p:cNvSpPr>
            <a:spLocks noChangeShapeType="1"/>
          </p:cNvSpPr>
          <p:nvPr/>
        </p:nvSpPr>
        <p:spPr bwMode="auto">
          <a:xfrm>
            <a:off x="2505075" y="3184525"/>
            <a:ext cx="0" cy="1579563"/>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17" name="Line 19"/>
          <p:cNvSpPr>
            <a:spLocks noChangeShapeType="1"/>
          </p:cNvSpPr>
          <p:nvPr/>
        </p:nvSpPr>
        <p:spPr bwMode="auto">
          <a:xfrm>
            <a:off x="3130550" y="4367213"/>
            <a:ext cx="0" cy="890587"/>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18" name="Line 20"/>
          <p:cNvSpPr>
            <a:spLocks noChangeShapeType="1"/>
          </p:cNvSpPr>
          <p:nvPr/>
        </p:nvSpPr>
        <p:spPr bwMode="auto">
          <a:xfrm>
            <a:off x="3340100" y="3479800"/>
            <a:ext cx="0" cy="1284288"/>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19" name="Rectangle 21"/>
          <p:cNvSpPr>
            <a:spLocks noChangeArrowheads="1"/>
          </p:cNvSpPr>
          <p:nvPr/>
        </p:nvSpPr>
        <p:spPr bwMode="auto">
          <a:xfrm>
            <a:off x="4489450" y="4367213"/>
            <a:ext cx="627063" cy="396875"/>
          </a:xfrm>
          <a:prstGeom prst="rect">
            <a:avLst/>
          </a:prstGeom>
          <a:solidFill>
            <a:srgbClr val="FF99FF"/>
          </a:solidFill>
          <a:ln w="9525">
            <a:solidFill>
              <a:schemeClr val="tx2"/>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ACK0</a:t>
            </a:r>
          </a:p>
        </p:txBody>
      </p:sp>
      <p:sp>
        <p:nvSpPr>
          <p:cNvPr id="2453520" name="Line 22"/>
          <p:cNvSpPr>
            <a:spLocks noChangeShapeType="1"/>
          </p:cNvSpPr>
          <p:nvPr/>
        </p:nvSpPr>
        <p:spPr bwMode="auto">
          <a:xfrm>
            <a:off x="4279900" y="3776663"/>
            <a:ext cx="0" cy="987425"/>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21" name="Line 23"/>
          <p:cNvSpPr>
            <a:spLocks noChangeShapeType="1"/>
          </p:cNvSpPr>
          <p:nvPr/>
        </p:nvSpPr>
        <p:spPr bwMode="auto">
          <a:xfrm>
            <a:off x="4489450" y="3876675"/>
            <a:ext cx="0" cy="887413"/>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22" name="Rectangle 24"/>
          <p:cNvSpPr>
            <a:spLocks noChangeArrowheads="1"/>
          </p:cNvSpPr>
          <p:nvPr/>
        </p:nvSpPr>
        <p:spPr bwMode="auto">
          <a:xfrm>
            <a:off x="5324475" y="3479800"/>
            <a:ext cx="939800" cy="396875"/>
          </a:xfrm>
          <a:prstGeom prst="rect">
            <a:avLst/>
          </a:prstGeom>
          <a:solidFill>
            <a:srgbClr val="CCCC00"/>
          </a:solidFill>
          <a:ln w="9525">
            <a:solidFill>
              <a:schemeClr val="tx2"/>
            </a:solidFill>
            <a:miter lim="800000"/>
            <a:headEnd/>
            <a:tailEnd/>
          </a:ln>
        </p:spPr>
        <p:txBody>
          <a:bodyPr wrap="none" anchor="ctr"/>
          <a:lstStyle/>
          <a:p>
            <a:pPr algn="ctr" eaLnBrk="0" hangingPunct="0"/>
            <a:r>
              <a:rPr lang="zh-CN" altLang="en-US" b="1">
                <a:solidFill>
                  <a:srgbClr val="000099"/>
                </a:solidFill>
                <a:ea typeface="宋体" panose="02010600030101010101" pitchFamily="2" charset="-122"/>
              </a:rPr>
              <a:t>分片 </a:t>
            </a:r>
            <a:r>
              <a:rPr lang="en-US" altLang="zh-CN" b="1">
                <a:solidFill>
                  <a:srgbClr val="000099"/>
                </a:solidFill>
                <a:ea typeface="宋体" panose="02010600030101010101" pitchFamily="2" charset="-122"/>
              </a:rPr>
              <a:t>1</a:t>
            </a:r>
          </a:p>
        </p:txBody>
      </p:sp>
      <p:sp>
        <p:nvSpPr>
          <p:cNvPr id="2453523" name="Rectangle 25"/>
          <p:cNvSpPr>
            <a:spLocks noChangeArrowheads="1"/>
          </p:cNvSpPr>
          <p:nvPr/>
        </p:nvSpPr>
        <p:spPr bwMode="auto">
          <a:xfrm>
            <a:off x="6473825" y="4367213"/>
            <a:ext cx="666750" cy="396875"/>
          </a:xfrm>
          <a:prstGeom prst="rect">
            <a:avLst/>
          </a:prstGeom>
          <a:solidFill>
            <a:srgbClr val="FF99FF"/>
          </a:solidFill>
          <a:ln w="9525">
            <a:solidFill>
              <a:schemeClr val="tx2"/>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ACK1</a:t>
            </a:r>
          </a:p>
        </p:txBody>
      </p:sp>
      <p:sp>
        <p:nvSpPr>
          <p:cNvPr id="2453524" name="Line 27"/>
          <p:cNvSpPr>
            <a:spLocks noChangeShapeType="1"/>
          </p:cNvSpPr>
          <p:nvPr/>
        </p:nvSpPr>
        <p:spPr bwMode="auto">
          <a:xfrm flipH="1">
            <a:off x="5095875" y="3876675"/>
            <a:ext cx="20638" cy="1377950"/>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25" name="Line 28"/>
          <p:cNvSpPr>
            <a:spLocks noChangeShapeType="1"/>
          </p:cNvSpPr>
          <p:nvPr/>
        </p:nvSpPr>
        <p:spPr bwMode="auto">
          <a:xfrm>
            <a:off x="5326063" y="3876675"/>
            <a:ext cx="0" cy="887413"/>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26" name="Line 29"/>
          <p:cNvSpPr>
            <a:spLocks noChangeShapeType="1"/>
          </p:cNvSpPr>
          <p:nvPr/>
        </p:nvSpPr>
        <p:spPr bwMode="auto">
          <a:xfrm>
            <a:off x="6265863" y="3876675"/>
            <a:ext cx="0" cy="887413"/>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27" name="Line 30"/>
          <p:cNvSpPr>
            <a:spLocks noChangeShapeType="1"/>
          </p:cNvSpPr>
          <p:nvPr/>
        </p:nvSpPr>
        <p:spPr bwMode="auto">
          <a:xfrm>
            <a:off x="6475413" y="3876675"/>
            <a:ext cx="0" cy="887413"/>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28" name="Line 31"/>
          <p:cNvSpPr>
            <a:spLocks noChangeShapeType="1"/>
          </p:cNvSpPr>
          <p:nvPr/>
        </p:nvSpPr>
        <p:spPr bwMode="auto">
          <a:xfrm>
            <a:off x="7126288" y="3876675"/>
            <a:ext cx="7937" cy="1462088"/>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29" name="Line 32"/>
          <p:cNvSpPr>
            <a:spLocks noChangeShapeType="1"/>
          </p:cNvSpPr>
          <p:nvPr/>
        </p:nvSpPr>
        <p:spPr bwMode="auto">
          <a:xfrm>
            <a:off x="7312025" y="3876675"/>
            <a:ext cx="0" cy="887413"/>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30" name="Line 33"/>
          <p:cNvSpPr>
            <a:spLocks noChangeShapeType="1"/>
          </p:cNvSpPr>
          <p:nvPr/>
        </p:nvSpPr>
        <p:spPr bwMode="auto">
          <a:xfrm>
            <a:off x="8250238" y="3876675"/>
            <a:ext cx="0" cy="887413"/>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31" name="Line 34"/>
          <p:cNvSpPr>
            <a:spLocks noChangeShapeType="1"/>
          </p:cNvSpPr>
          <p:nvPr/>
        </p:nvSpPr>
        <p:spPr bwMode="auto">
          <a:xfrm>
            <a:off x="8459788" y="3876675"/>
            <a:ext cx="0" cy="887413"/>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32" name="Rectangle 35"/>
          <p:cNvSpPr>
            <a:spLocks noChangeArrowheads="1"/>
          </p:cNvSpPr>
          <p:nvPr/>
        </p:nvSpPr>
        <p:spPr bwMode="auto">
          <a:xfrm>
            <a:off x="7312025" y="3479800"/>
            <a:ext cx="938213" cy="396875"/>
          </a:xfrm>
          <a:prstGeom prst="rect">
            <a:avLst/>
          </a:prstGeom>
          <a:solidFill>
            <a:srgbClr val="CCCC00"/>
          </a:solidFill>
          <a:ln w="9525">
            <a:solidFill>
              <a:schemeClr val="tx2"/>
            </a:solidFill>
            <a:miter lim="800000"/>
            <a:headEnd/>
            <a:tailEnd/>
          </a:ln>
        </p:spPr>
        <p:txBody>
          <a:bodyPr wrap="none" anchor="ctr"/>
          <a:lstStyle/>
          <a:p>
            <a:pPr algn="ctr" eaLnBrk="0" hangingPunct="0"/>
            <a:r>
              <a:rPr lang="zh-CN" altLang="en-US" b="1">
                <a:solidFill>
                  <a:srgbClr val="000099"/>
                </a:solidFill>
                <a:ea typeface="宋体" panose="02010600030101010101" pitchFamily="2" charset="-122"/>
              </a:rPr>
              <a:t>分片 </a:t>
            </a:r>
            <a:r>
              <a:rPr lang="en-US" altLang="zh-CN" b="1">
                <a:solidFill>
                  <a:srgbClr val="000099"/>
                </a:solidFill>
                <a:ea typeface="宋体" panose="02010600030101010101" pitchFamily="2" charset="-122"/>
              </a:rPr>
              <a:t>2</a:t>
            </a:r>
          </a:p>
        </p:txBody>
      </p:sp>
      <p:sp>
        <p:nvSpPr>
          <p:cNvPr id="2453533" name="Rectangle 36"/>
          <p:cNvSpPr>
            <a:spLocks noChangeArrowheads="1"/>
          </p:cNvSpPr>
          <p:nvPr/>
        </p:nvSpPr>
        <p:spPr bwMode="auto">
          <a:xfrm>
            <a:off x="8459788" y="4367213"/>
            <a:ext cx="696912" cy="396875"/>
          </a:xfrm>
          <a:prstGeom prst="rect">
            <a:avLst/>
          </a:prstGeom>
          <a:solidFill>
            <a:srgbClr val="FF99FF"/>
          </a:solidFill>
          <a:ln w="9525">
            <a:solidFill>
              <a:schemeClr val="tx2"/>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ACK2</a:t>
            </a:r>
          </a:p>
        </p:txBody>
      </p:sp>
      <p:sp>
        <p:nvSpPr>
          <p:cNvPr id="2453534" name="Line 37"/>
          <p:cNvSpPr>
            <a:spLocks noChangeShapeType="1"/>
          </p:cNvSpPr>
          <p:nvPr/>
        </p:nvSpPr>
        <p:spPr bwMode="auto">
          <a:xfrm>
            <a:off x="1879600" y="3282950"/>
            <a:ext cx="414338"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35" name="Line 38"/>
          <p:cNvSpPr>
            <a:spLocks noChangeShapeType="1"/>
          </p:cNvSpPr>
          <p:nvPr/>
        </p:nvSpPr>
        <p:spPr bwMode="auto">
          <a:xfrm flipH="1">
            <a:off x="2508250" y="3282950"/>
            <a:ext cx="415925"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36" name="Text Box 39"/>
          <p:cNvSpPr txBox="1">
            <a:spLocks noChangeArrowheads="1"/>
          </p:cNvSpPr>
          <p:nvPr/>
        </p:nvSpPr>
        <p:spPr bwMode="auto">
          <a:xfrm>
            <a:off x="2136775" y="2565400"/>
            <a:ext cx="866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FF"/>
                </a:solidFill>
                <a:ea typeface="宋体" panose="02010600030101010101" pitchFamily="2" charset="-122"/>
              </a:rPr>
              <a:t>SIFS</a:t>
            </a:r>
          </a:p>
        </p:txBody>
      </p:sp>
      <p:sp>
        <p:nvSpPr>
          <p:cNvPr id="2453537" name="Line 40"/>
          <p:cNvSpPr>
            <a:spLocks noChangeShapeType="1"/>
          </p:cNvSpPr>
          <p:nvPr/>
        </p:nvSpPr>
        <p:spPr bwMode="auto">
          <a:xfrm flipH="1">
            <a:off x="2401888" y="2986088"/>
            <a:ext cx="103187" cy="296862"/>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38" name="Rectangle 41"/>
          <p:cNvSpPr>
            <a:spLocks noChangeArrowheads="1"/>
          </p:cNvSpPr>
          <p:nvPr/>
        </p:nvSpPr>
        <p:spPr bwMode="auto">
          <a:xfrm>
            <a:off x="2293938" y="5254625"/>
            <a:ext cx="2822575" cy="396875"/>
          </a:xfrm>
          <a:prstGeom prst="rect">
            <a:avLst/>
          </a:prstGeom>
          <a:solidFill>
            <a:srgbClr val="FFFF66"/>
          </a:solidFill>
          <a:ln w="9525">
            <a:solidFill>
              <a:schemeClr val="tx2"/>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NAV (RTS)</a:t>
            </a:r>
          </a:p>
        </p:txBody>
      </p:sp>
      <p:sp>
        <p:nvSpPr>
          <p:cNvPr id="2453539" name="Rectangle 42"/>
          <p:cNvSpPr>
            <a:spLocks noChangeArrowheads="1"/>
          </p:cNvSpPr>
          <p:nvPr/>
        </p:nvSpPr>
        <p:spPr bwMode="auto">
          <a:xfrm>
            <a:off x="3130550" y="5651500"/>
            <a:ext cx="1985963" cy="395288"/>
          </a:xfrm>
          <a:prstGeom prst="rect">
            <a:avLst/>
          </a:prstGeom>
          <a:solidFill>
            <a:srgbClr val="CCECFF"/>
          </a:solidFill>
          <a:ln w="9525">
            <a:solidFill>
              <a:schemeClr val="tx1"/>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NAV (CTS)</a:t>
            </a:r>
          </a:p>
        </p:txBody>
      </p:sp>
      <p:sp>
        <p:nvSpPr>
          <p:cNvPr id="2453540" name="AutoShape 43"/>
          <p:cNvSpPr>
            <a:spLocks/>
          </p:cNvSpPr>
          <p:nvPr/>
        </p:nvSpPr>
        <p:spPr bwMode="auto">
          <a:xfrm rot="-5400000">
            <a:off x="6011863" y="485775"/>
            <a:ext cx="296862" cy="5640388"/>
          </a:xfrm>
          <a:prstGeom prst="rightBrace">
            <a:avLst>
              <a:gd name="adj1" fmla="val 146107"/>
              <a:gd name="adj2" fmla="val 50000"/>
            </a:avLst>
          </a:prstGeom>
          <a:noFill/>
          <a:ln w="1905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53541" name="Text Box 44"/>
          <p:cNvSpPr txBox="1">
            <a:spLocks noChangeArrowheads="1"/>
          </p:cNvSpPr>
          <p:nvPr/>
        </p:nvSpPr>
        <p:spPr bwMode="auto">
          <a:xfrm>
            <a:off x="4160838" y="2565400"/>
            <a:ext cx="37750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FF"/>
                </a:solidFill>
                <a:ea typeface="宋体" panose="02010600030101010101" pitchFamily="2" charset="-122"/>
              </a:rPr>
              <a:t>长的帧划分为许多分片</a:t>
            </a:r>
          </a:p>
        </p:txBody>
      </p:sp>
      <p:sp>
        <p:nvSpPr>
          <p:cNvPr id="2453542" name="Rectangle 48"/>
          <p:cNvSpPr>
            <a:spLocks noChangeArrowheads="1"/>
          </p:cNvSpPr>
          <p:nvPr/>
        </p:nvSpPr>
        <p:spPr bwMode="auto">
          <a:xfrm>
            <a:off x="5110163" y="5248275"/>
            <a:ext cx="2012950" cy="409575"/>
          </a:xfrm>
          <a:prstGeom prst="rect">
            <a:avLst/>
          </a:prstGeom>
          <a:solidFill>
            <a:srgbClr val="FFFF66"/>
          </a:solidFill>
          <a:ln w="9525">
            <a:solidFill>
              <a:schemeClr val="tx2"/>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NAV (</a:t>
            </a:r>
            <a:r>
              <a:rPr lang="zh-CN" altLang="en-US" b="1">
                <a:solidFill>
                  <a:srgbClr val="000099"/>
                </a:solidFill>
                <a:ea typeface="宋体" panose="02010600030101010101" pitchFamily="2" charset="-122"/>
              </a:rPr>
              <a:t>分片</a:t>
            </a:r>
            <a:r>
              <a:rPr lang="en-US" altLang="zh-CN" b="1">
                <a:solidFill>
                  <a:srgbClr val="000099"/>
                </a:solidFill>
                <a:ea typeface="宋体" panose="02010600030101010101" pitchFamily="2" charset="-122"/>
              </a:rPr>
              <a:t>0)</a:t>
            </a:r>
          </a:p>
        </p:txBody>
      </p:sp>
      <p:sp>
        <p:nvSpPr>
          <p:cNvPr id="2453543" name="Rectangle 49"/>
          <p:cNvSpPr>
            <a:spLocks noChangeArrowheads="1"/>
          </p:cNvSpPr>
          <p:nvPr/>
        </p:nvSpPr>
        <p:spPr bwMode="auto">
          <a:xfrm>
            <a:off x="5095875" y="5651500"/>
            <a:ext cx="2025650" cy="395288"/>
          </a:xfrm>
          <a:prstGeom prst="rect">
            <a:avLst/>
          </a:prstGeom>
          <a:solidFill>
            <a:srgbClr val="CCECFF"/>
          </a:solidFill>
          <a:ln w="9525">
            <a:solidFill>
              <a:schemeClr val="tx1"/>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NAV (ACK0)</a:t>
            </a:r>
          </a:p>
        </p:txBody>
      </p:sp>
      <p:sp>
        <p:nvSpPr>
          <p:cNvPr id="2453544" name="Rectangle 50"/>
          <p:cNvSpPr>
            <a:spLocks noChangeArrowheads="1"/>
          </p:cNvSpPr>
          <p:nvPr/>
        </p:nvSpPr>
        <p:spPr bwMode="auto">
          <a:xfrm>
            <a:off x="7116763" y="5641975"/>
            <a:ext cx="2032000" cy="395288"/>
          </a:xfrm>
          <a:prstGeom prst="rect">
            <a:avLst/>
          </a:prstGeom>
          <a:solidFill>
            <a:srgbClr val="CCECFF"/>
          </a:solidFill>
          <a:ln w="9525">
            <a:solidFill>
              <a:schemeClr val="tx1"/>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NAV (ACK1)</a:t>
            </a:r>
          </a:p>
        </p:txBody>
      </p:sp>
      <p:sp>
        <p:nvSpPr>
          <p:cNvPr id="2453545" name="Line 51"/>
          <p:cNvSpPr>
            <a:spLocks noChangeShapeType="1"/>
          </p:cNvSpPr>
          <p:nvPr/>
        </p:nvSpPr>
        <p:spPr bwMode="auto">
          <a:xfrm>
            <a:off x="9153525" y="3863975"/>
            <a:ext cx="0" cy="1390650"/>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46" name="Rectangle 52"/>
          <p:cNvSpPr>
            <a:spLocks noChangeArrowheads="1"/>
          </p:cNvSpPr>
          <p:nvPr/>
        </p:nvSpPr>
        <p:spPr bwMode="auto">
          <a:xfrm>
            <a:off x="7126288" y="5254625"/>
            <a:ext cx="2027237" cy="396875"/>
          </a:xfrm>
          <a:prstGeom prst="rect">
            <a:avLst/>
          </a:prstGeom>
          <a:solidFill>
            <a:srgbClr val="FFFF66"/>
          </a:solidFill>
          <a:ln w="9525">
            <a:solidFill>
              <a:schemeClr val="tx2"/>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NAV (</a:t>
            </a:r>
            <a:r>
              <a:rPr lang="zh-CN" altLang="en-US" b="1">
                <a:solidFill>
                  <a:srgbClr val="000099"/>
                </a:solidFill>
                <a:ea typeface="宋体" panose="02010600030101010101" pitchFamily="2" charset="-122"/>
              </a:rPr>
              <a:t>分片</a:t>
            </a:r>
            <a:r>
              <a:rPr lang="en-US" altLang="zh-CN" b="1">
                <a:solidFill>
                  <a:srgbClr val="000099"/>
                </a:solidFill>
                <a:ea typeface="宋体" panose="02010600030101010101" pitchFamily="2" charset="-122"/>
              </a:rPr>
              <a:t>1)</a:t>
            </a:r>
          </a:p>
        </p:txBody>
      </p:sp>
      <p:sp>
        <p:nvSpPr>
          <p:cNvPr id="2453547" name="Line 7"/>
          <p:cNvSpPr>
            <a:spLocks noChangeShapeType="1"/>
          </p:cNvSpPr>
          <p:nvPr/>
        </p:nvSpPr>
        <p:spPr bwMode="auto">
          <a:xfrm>
            <a:off x="484188" y="5651500"/>
            <a:ext cx="9293225"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48" name="Line 10"/>
          <p:cNvSpPr>
            <a:spLocks noChangeShapeType="1"/>
          </p:cNvSpPr>
          <p:nvPr/>
        </p:nvSpPr>
        <p:spPr bwMode="auto">
          <a:xfrm>
            <a:off x="482600" y="4764088"/>
            <a:ext cx="9290050"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49" name="Line 5"/>
          <p:cNvSpPr>
            <a:spLocks noChangeShapeType="1"/>
          </p:cNvSpPr>
          <p:nvPr/>
        </p:nvSpPr>
        <p:spPr bwMode="auto">
          <a:xfrm>
            <a:off x="484188" y="3876675"/>
            <a:ext cx="9293225"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50" name="矩形 2"/>
          <p:cNvSpPr>
            <a:spLocks noChangeArrowheads="1"/>
          </p:cNvSpPr>
          <p:nvPr/>
        </p:nvSpPr>
        <p:spPr bwMode="auto">
          <a:xfrm>
            <a:off x="1243013" y="1250950"/>
            <a:ext cx="8031162" cy="954088"/>
          </a:xfrm>
          <a:prstGeom prst="rect">
            <a:avLst/>
          </a:prstGeom>
          <a:solidFill>
            <a:srgbClr val="FFFF66"/>
          </a:solidFill>
          <a:ln w="9525">
            <a:solidFill>
              <a:schemeClr val="tx1"/>
            </a:solidFill>
            <a:round/>
            <a:headEnd/>
            <a:tailEnd/>
          </a:ln>
        </p:spPr>
        <p:txBody>
          <a:bodyPr>
            <a:spAutoFit/>
          </a:bodyPr>
          <a:lstStyle/>
          <a:p>
            <a:pPr algn="ctr" eaLnBrk="0" hangingPunct="0"/>
            <a:r>
              <a:rPr lang="zh-CN" altLang="zh-CN" sz="2800" b="1">
                <a:solidFill>
                  <a:srgbClr val="000066"/>
                </a:solidFill>
                <a:ea typeface="宋体" panose="02010600030101010101" pitchFamily="2" charset="-122"/>
              </a:rPr>
              <a:t>为了提高传输效率，在信道质量较差时，</a:t>
            </a:r>
            <a:endParaRPr lang="en-US" altLang="zh-CN" sz="2800" b="1">
              <a:solidFill>
                <a:srgbClr val="000066"/>
              </a:solidFill>
              <a:ea typeface="宋体" panose="02010600030101010101" pitchFamily="2" charset="-122"/>
            </a:endParaRPr>
          </a:p>
          <a:p>
            <a:pPr algn="ctr" eaLnBrk="0" hangingPunct="0"/>
            <a:r>
              <a:rPr lang="zh-CN" altLang="zh-CN" sz="2800" b="1">
                <a:solidFill>
                  <a:srgbClr val="000066"/>
                </a:solidFill>
                <a:ea typeface="宋体" panose="02010600030101010101" pitchFamily="2" charset="-122"/>
              </a:rPr>
              <a:t>需要把一个较长的帧划分为许多较短的分片。</a:t>
            </a:r>
            <a:endParaRPr lang="zh-CN" altLang="en-US" sz="2800" b="1">
              <a:solidFill>
                <a:srgbClr val="000066"/>
              </a:solidFill>
              <a:ea typeface="宋体" panose="02010600030101010101" pitchFamily="2" charset="-122"/>
            </a:endParaRPr>
          </a:p>
        </p:txBody>
      </p:sp>
      <p:sp>
        <p:nvSpPr>
          <p:cNvPr id="245355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8673C8-26B4-40F1-A164-83B416C92004}" type="slidenum">
              <a:rPr lang="zh-CN" altLang="en-US" smtClean="0"/>
              <a:pPr eaLnBrk="1" hangingPunct="1"/>
              <a:t>58</a:t>
            </a:fld>
            <a:endParaRPr lang="en-US" altLang="zh-CN" smtClean="0"/>
          </a:p>
        </p:txBody>
      </p:sp>
      <p:sp>
        <p:nvSpPr>
          <p:cNvPr id="245355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428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9.1.4  802.11 </a:t>
            </a:r>
            <a:r>
              <a:rPr lang="zh-CN" altLang="en-US" smtClean="0">
                <a:ea typeface="黑体" panose="02010609060101010101" pitchFamily="49" charset="-122"/>
              </a:rPr>
              <a:t>局域网的 </a:t>
            </a:r>
            <a:r>
              <a:rPr lang="en-US" altLang="zh-CN" smtClean="0">
                <a:ea typeface="黑体" panose="02010609060101010101" pitchFamily="49" charset="-122"/>
              </a:rPr>
              <a:t>MAC </a:t>
            </a:r>
            <a:r>
              <a:rPr lang="zh-CN" altLang="en-US" smtClean="0">
                <a:ea typeface="黑体" panose="02010609060101010101" pitchFamily="49" charset="-122"/>
              </a:rPr>
              <a:t>帧</a:t>
            </a:r>
          </a:p>
        </p:txBody>
      </p:sp>
      <p:sp>
        <p:nvSpPr>
          <p:cNvPr id="2444290"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802.11 </a:t>
            </a:r>
            <a:r>
              <a:rPr lang="zh-CN" altLang="en-US" dirty="0" smtClean="0">
                <a:ea typeface="黑体" panose="02010609060101010101" pitchFamily="49" charset="-122"/>
              </a:rPr>
              <a:t>帧共有三种类型：</a:t>
            </a:r>
            <a:r>
              <a:rPr lang="zh-CN" altLang="en-US" dirty="0" smtClean="0">
                <a:solidFill>
                  <a:srgbClr val="FF0000"/>
                </a:solidFill>
                <a:ea typeface="黑体" panose="02010609060101010101" pitchFamily="49" charset="-122"/>
              </a:rPr>
              <a:t>控制帧</a:t>
            </a:r>
            <a:r>
              <a:rPr lang="zh-CN" altLang="en-US" dirty="0" smtClean="0">
                <a:ea typeface="黑体" panose="02010609060101010101" pitchFamily="49" charset="-122"/>
              </a:rPr>
              <a:t>、数据帧和管理帧。</a:t>
            </a:r>
          </a:p>
        </p:txBody>
      </p:sp>
      <p:grpSp>
        <p:nvGrpSpPr>
          <p:cNvPr id="2444291" name="组合 4"/>
          <p:cNvGrpSpPr>
            <a:grpSpLocks/>
          </p:cNvGrpSpPr>
          <p:nvPr/>
        </p:nvGrpSpPr>
        <p:grpSpPr bwMode="auto">
          <a:xfrm>
            <a:off x="1138238" y="2492375"/>
            <a:ext cx="7481887" cy="1368425"/>
            <a:chOff x="1137742" y="2660421"/>
            <a:chExt cx="7482878" cy="1367423"/>
          </a:xfrm>
        </p:grpSpPr>
        <p:sp>
          <p:nvSpPr>
            <p:cNvPr id="2444292" name="矩形 1"/>
            <p:cNvSpPr>
              <a:spLocks noChangeArrowheads="1"/>
            </p:cNvSpPr>
            <p:nvPr/>
          </p:nvSpPr>
          <p:spPr bwMode="auto">
            <a:xfrm>
              <a:off x="1905305" y="3627734"/>
              <a:ext cx="53850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000" b="1">
                  <a:ea typeface="宋体" panose="02010600030101010101" pitchFamily="2" charset="-122"/>
                </a:rPr>
                <a:t>RTS</a:t>
              </a:r>
              <a:r>
                <a:rPr lang="zh-CN" altLang="en-US" sz="2000" b="1">
                  <a:ea typeface="宋体" panose="02010600030101010101" pitchFamily="2" charset="-122"/>
                </a:rPr>
                <a:t>帧格式（帧控制字段中的子类型为</a:t>
              </a:r>
              <a:r>
                <a:rPr lang="en-US" altLang="zh-CN" sz="2000" b="1">
                  <a:ea typeface="宋体" panose="02010600030101010101" pitchFamily="2" charset="-122"/>
                </a:rPr>
                <a:t>1011</a:t>
              </a:r>
              <a:r>
                <a:rPr lang="zh-CN" altLang="en-US" sz="2000" b="1">
                  <a:ea typeface="宋体" panose="02010600030101010101" pitchFamily="2" charset="-122"/>
                </a:rPr>
                <a:t>）</a:t>
              </a:r>
            </a:p>
          </p:txBody>
        </p:sp>
        <p:grpSp>
          <p:nvGrpSpPr>
            <p:cNvPr id="2444293" name="组合 2"/>
            <p:cNvGrpSpPr>
              <a:grpSpLocks/>
            </p:cNvGrpSpPr>
            <p:nvPr/>
          </p:nvGrpSpPr>
          <p:grpSpPr bwMode="auto">
            <a:xfrm>
              <a:off x="1137742" y="2660421"/>
              <a:ext cx="7482878" cy="830930"/>
              <a:chOff x="2095672" y="3278876"/>
              <a:chExt cx="4781378" cy="582494"/>
            </a:xfrm>
          </p:grpSpPr>
          <p:sp>
            <p:nvSpPr>
              <p:cNvPr id="2444294" name="Rectangle 56"/>
              <p:cNvSpPr>
                <a:spLocks noChangeArrowheads="1"/>
              </p:cNvSpPr>
              <p:nvPr/>
            </p:nvSpPr>
            <p:spPr bwMode="auto">
              <a:xfrm>
                <a:off x="2554288" y="3510533"/>
                <a:ext cx="857250" cy="3429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800" b="1">
                  <a:solidFill>
                    <a:srgbClr val="000099"/>
                  </a:solidFill>
                  <a:ea typeface="宋体" panose="02010600030101010101" pitchFamily="2" charset="-122"/>
                </a:endParaRPr>
              </a:p>
            </p:txBody>
          </p:sp>
          <p:sp>
            <p:nvSpPr>
              <p:cNvPr id="2444295" name="Rectangle 17"/>
              <p:cNvSpPr>
                <a:spLocks noChangeArrowheads="1"/>
              </p:cNvSpPr>
              <p:nvPr/>
            </p:nvSpPr>
            <p:spPr bwMode="auto">
              <a:xfrm>
                <a:off x="2551113" y="3501008"/>
                <a:ext cx="865187" cy="360362"/>
              </a:xfrm>
              <a:prstGeom prst="rect">
                <a:avLst/>
              </a:prstGeom>
              <a:solidFill>
                <a:srgbClr val="FFFF66"/>
              </a:solidFill>
              <a:ln w="9525">
                <a:solidFill>
                  <a:schemeClr val="tx1"/>
                </a:solidFill>
                <a:miter lim="800000"/>
                <a:headEnd/>
                <a:tailEnd/>
              </a:ln>
              <a:effectLst>
                <a:outerShdw dist="35560" dir="2700000" algn="tl" rotWithShape="0">
                  <a:schemeClr val="bg2"/>
                </a:outerShdw>
              </a:effectLst>
            </p:spPr>
            <p:txBody>
              <a:bodyPr wrap="none" anchor="ctr"/>
              <a:lstStyle/>
              <a:p>
                <a:pPr algn="ctr" eaLnBrk="0" hangingPunct="0"/>
                <a:r>
                  <a:rPr lang="zh-CN" altLang="en-US" b="1">
                    <a:solidFill>
                      <a:srgbClr val="000099"/>
                    </a:solidFill>
                    <a:ea typeface="宋体" panose="02010600030101010101" pitchFamily="2" charset="-122"/>
                  </a:rPr>
                  <a:t>帧控制</a:t>
                </a:r>
              </a:p>
            </p:txBody>
          </p:sp>
          <p:sp>
            <p:nvSpPr>
              <p:cNvPr id="2444296" name="Rectangle 18"/>
              <p:cNvSpPr>
                <a:spLocks noChangeArrowheads="1"/>
              </p:cNvSpPr>
              <p:nvPr/>
            </p:nvSpPr>
            <p:spPr bwMode="auto">
              <a:xfrm>
                <a:off x="3416300" y="3501008"/>
                <a:ext cx="865188" cy="3603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b="1">
                    <a:solidFill>
                      <a:srgbClr val="000099"/>
                    </a:solidFill>
                    <a:ea typeface="宋体" panose="02010600030101010101" pitchFamily="2" charset="-122"/>
                  </a:rPr>
                  <a:t>持续期</a:t>
                </a:r>
              </a:p>
            </p:txBody>
          </p:sp>
          <p:sp>
            <p:nvSpPr>
              <p:cNvPr id="2444297" name="Rectangle 19"/>
              <p:cNvSpPr>
                <a:spLocks noChangeArrowheads="1"/>
              </p:cNvSpPr>
              <p:nvPr/>
            </p:nvSpPr>
            <p:spPr bwMode="auto">
              <a:xfrm>
                <a:off x="4281488" y="3501008"/>
                <a:ext cx="865187" cy="3603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b="1">
                    <a:solidFill>
                      <a:srgbClr val="000099"/>
                    </a:solidFill>
                    <a:ea typeface="宋体" panose="02010600030101010101" pitchFamily="2" charset="-122"/>
                  </a:rPr>
                  <a:t>接收地址</a:t>
                </a:r>
                <a:endParaRPr lang="en-US" altLang="zh-CN" b="1">
                  <a:solidFill>
                    <a:srgbClr val="000099"/>
                  </a:solidFill>
                  <a:ea typeface="宋体" panose="02010600030101010101" pitchFamily="2" charset="-122"/>
                </a:endParaRPr>
              </a:p>
            </p:txBody>
          </p:sp>
          <p:sp>
            <p:nvSpPr>
              <p:cNvPr id="2444298" name="Rectangle 20"/>
              <p:cNvSpPr>
                <a:spLocks noChangeArrowheads="1"/>
              </p:cNvSpPr>
              <p:nvPr/>
            </p:nvSpPr>
            <p:spPr bwMode="auto">
              <a:xfrm>
                <a:off x="5146675" y="3501008"/>
                <a:ext cx="865188" cy="3603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b="1">
                    <a:solidFill>
                      <a:srgbClr val="000099"/>
                    </a:solidFill>
                    <a:ea typeface="宋体" panose="02010600030101010101" pitchFamily="2" charset="-122"/>
                  </a:rPr>
                  <a:t>发送地址</a:t>
                </a:r>
                <a:endParaRPr lang="en-US" altLang="zh-CN" b="1">
                  <a:solidFill>
                    <a:srgbClr val="000099"/>
                  </a:solidFill>
                  <a:ea typeface="宋体" panose="02010600030101010101" pitchFamily="2" charset="-122"/>
                </a:endParaRPr>
              </a:p>
            </p:txBody>
          </p:sp>
          <p:sp>
            <p:nvSpPr>
              <p:cNvPr id="2444299" name="Rectangle 21"/>
              <p:cNvSpPr>
                <a:spLocks noChangeArrowheads="1"/>
              </p:cNvSpPr>
              <p:nvPr/>
            </p:nvSpPr>
            <p:spPr bwMode="auto">
              <a:xfrm>
                <a:off x="6011863" y="3501008"/>
                <a:ext cx="865187" cy="3603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b="1">
                    <a:solidFill>
                      <a:srgbClr val="000099"/>
                    </a:solidFill>
                    <a:ea typeface="宋体" panose="02010600030101010101" pitchFamily="2" charset="-122"/>
                  </a:rPr>
                  <a:t>FCS</a:t>
                </a:r>
              </a:p>
            </p:txBody>
          </p:sp>
          <p:sp>
            <p:nvSpPr>
              <p:cNvPr id="2444300" name="Text Box 14"/>
              <p:cNvSpPr txBox="1">
                <a:spLocks noChangeArrowheads="1"/>
              </p:cNvSpPr>
              <p:nvPr/>
            </p:nvSpPr>
            <p:spPr bwMode="auto">
              <a:xfrm>
                <a:off x="2095672" y="3278876"/>
                <a:ext cx="4781378" cy="258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solidFill>
                      <a:srgbClr val="000099"/>
                    </a:solidFill>
                    <a:ea typeface="宋体" panose="02010600030101010101" pitchFamily="2" charset="-122"/>
                  </a:rPr>
                  <a:t>字节             </a:t>
                </a:r>
                <a:r>
                  <a:rPr lang="en-US" altLang="zh-CN" b="1">
                    <a:solidFill>
                      <a:srgbClr val="000099"/>
                    </a:solidFill>
                    <a:ea typeface="宋体" panose="02010600030101010101" pitchFamily="2" charset="-122"/>
                  </a:rPr>
                  <a:t>2                  2                    6                  6                    4</a:t>
                </a:r>
              </a:p>
            </p:txBody>
          </p:sp>
        </p:grpSp>
      </p:grpSp>
      <p:grpSp>
        <p:nvGrpSpPr>
          <p:cNvPr id="2444301" name="组合 5"/>
          <p:cNvGrpSpPr>
            <a:grpSpLocks/>
          </p:cNvGrpSpPr>
          <p:nvPr/>
        </p:nvGrpSpPr>
        <p:grpSpPr bwMode="auto">
          <a:xfrm>
            <a:off x="1204913" y="4213225"/>
            <a:ext cx="8285162" cy="1592263"/>
            <a:chOff x="1204183" y="4212509"/>
            <a:chExt cx="8285321" cy="1407509"/>
          </a:xfrm>
        </p:grpSpPr>
        <p:sp>
          <p:nvSpPr>
            <p:cNvPr id="2444302" name="Rectangle 56"/>
            <p:cNvSpPr>
              <a:spLocks noChangeArrowheads="1"/>
            </p:cNvSpPr>
            <p:nvPr/>
          </p:nvSpPr>
          <p:spPr bwMode="auto">
            <a:xfrm>
              <a:off x="1905305" y="4587443"/>
              <a:ext cx="1328441" cy="43307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800" b="1">
                <a:solidFill>
                  <a:srgbClr val="000099"/>
                </a:solidFill>
                <a:ea typeface="宋体" panose="02010600030101010101" pitchFamily="2" charset="-122"/>
              </a:endParaRPr>
            </a:p>
          </p:txBody>
        </p:sp>
        <p:sp>
          <p:nvSpPr>
            <p:cNvPr id="2444303" name="Rectangle 17"/>
            <p:cNvSpPr>
              <a:spLocks noChangeArrowheads="1"/>
            </p:cNvSpPr>
            <p:nvPr/>
          </p:nvSpPr>
          <p:spPr bwMode="auto">
            <a:xfrm>
              <a:off x="1900385" y="4575413"/>
              <a:ext cx="1340741" cy="455135"/>
            </a:xfrm>
            <a:prstGeom prst="rect">
              <a:avLst/>
            </a:prstGeom>
            <a:solidFill>
              <a:srgbClr val="FFFF66"/>
            </a:solidFill>
            <a:ln w="9525">
              <a:solidFill>
                <a:schemeClr val="tx1"/>
              </a:solidFill>
              <a:miter lim="800000"/>
              <a:headEnd/>
              <a:tailEnd/>
            </a:ln>
            <a:effectLst>
              <a:outerShdw dist="35560" dir="2700000" algn="tl" rotWithShape="0">
                <a:schemeClr val="bg2"/>
              </a:outerShdw>
            </a:effectLst>
          </p:spPr>
          <p:txBody>
            <a:bodyPr wrap="none" anchor="ctr"/>
            <a:lstStyle/>
            <a:p>
              <a:pPr algn="ctr" eaLnBrk="0" hangingPunct="0"/>
              <a:r>
                <a:rPr lang="zh-CN" altLang="en-US" b="1">
                  <a:solidFill>
                    <a:srgbClr val="000099"/>
                  </a:solidFill>
                  <a:ea typeface="宋体" panose="02010600030101010101" pitchFamily="2" charset="-122"/>
                </a:rPr>
                <a:t>帧控制</a:t>
              </a:r>
            </a:p>
          </p:txBody>
        </p:sp>
        <p:sp>
          <p:nvSpPr>
            <p:cNvPr id="2444304" name="Rectangle 18"/>
            <p:cNvSpPr>
              <a:spLocks noChangeArrowheads="1"/>
            </p:cNvSpPr>
            <p:nvPr/>
          </p:nvSpPr>
          <p:spPr bwMode="auto">
            <a:xfrm>
              <a:off x="3241126" y="4575413"/>
              <a:ext cx="1340742" cy="45513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b="1">
                  <a:solidFill>
                    <a:srgbClr val="000099"/>
                  </a:solidFill>
                  <a:ea typeface="宋体" panose="02010600030101010101" pitchFamily="2" charset="-122"/>
                </a:rPr>
                <a:t>持续期</a:t>
              </a:r>
            </a:p>
          </p:txBody>
        </p:sp>
        <p:sp>
          <p:nvSpPr>
            <p:cNvPr id="2444305" name="Rectangle 19"/>
            <p:cNvSpPr>
              <a:spLocks noChangeArrowheads="1"/>
            </p:cNvSpPr>
            <p:nvPr/>
          </p:nvSpPr>
          <p:spPr bwMode="auto">
            <a:xfrm>
              <a:off x="4581868" y="4575413"/>
              <a:ext cx="1340741" cy="45513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b="1">
                  <a:solidFill>
                    <a:srgbClr val="000099"/>
                  </a:solidFill>
                  <a:ea typeface="宋体" panose="02010600030101010101" pitchFamily="2" charset="-122"/>
                </a:rPr>
                <a:t>接收地址</a:t>
              </a:r>
              <a:endParaRPr lang="en-US" altLang="zh-CN" b="1">
                <a:solidFill>
                  <a:srgbClr val="000099"/>
                </a:solidFill>
                <a:ea typeface="宋体" panose="02010600030101010101" pitchFamily="2" charset="-122"/>
              </a:endParaRPr>
            </a:p>
          </p:txBody>
        </p:sp>
        <p:sp>
          <p:nvSpPr>
            <p:cNvPr id="2444306" name="Rectangle 21"/>
            <p:cNvSpPr>
              <a:spLocks noChangeArrowheads="1"/>
            </p:cNvSpPr>
            <p:nvPr/>
          </p:nvSpPr>
          <p:spPr bwMode="auto">
            <a:xfrm>
              <a:off x="5888168" y="4575413"/>
              <a:ext cx="1340742" cy="45513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b="1">
                  <a:solidFill>
                    <a:srgbClr val="000099"/>
                  </a:solidFill>
                  <a:ea typeface="宋体" panose="02010600030101010101" pitchFamily="2" charset="-122"/>
                </a:rPr>
                <a:t>FCS</a:t>
              </a:r>
            </a:p>
          </p:txBody>
        </p:sp>
        <p:sp>
          <p:nvSpPr>
            <p:cNvPr id="2444307" name="Text Box 14"/>
            <p:cNvSpPr txBox="1">
              <a:spLocks noChangeArrowheads="1"/>
            </p:cNvSpPr>
            <p:nvPr/>
          </p:nvSpPr>
          <p:spPr bwMode="auto">
            <a:xfrm>
              <a:off x="1204183" y="4212509"/>
              <a:ext cx="55226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宋体" panose="02010600030101010101" pitchFamily="2" charset="-122"/>
                </a:rPr>
                <a:t>字节            </a:t>
              </a:r>
              <a:r>
                <a:rPr lang="en-US" altLang="zh-CN" b="1">
                  <a:solidFill>
                    <a:srgbClr val="000099"/>
                  </a:solidFill>
                  <a:ea typeface="宋体" panose="02010600030101010101" pitchFamily="2" charset="-122"/>
                </a:rPr>
                <a:t>2                  2                     6                 4</a:t>
              </a:r>
            </a:p>
          </p:txBody>
        </p:sp>
        <p:sp>
          <p:nvSpPr>
            <p:cNvPr id="2444308" name="Text Box 58"/>
            <p:cNvSpPr txBox="1">
              <a:spLocks noChangeArrowheads="1"/>
            </p:cNvSpPr>
            <p:nvPr/>
          </p:nvSpPr>
          <p:spPr bwMode="auto">
            <a:xfrm>
              <a:off x="1905304" y="5219908"/>
              <a:ext cx="7584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ea typeface="宋体" panose="02010600030101010101" pitchFamily="2" charset="-122"/>
                </a:rPr>
                <a:t>CTS </a:t>
              </a:r>
              <a:r>
                <a:rPr lang="zh-CN" altLang="en-US" sz="2000" b="1">
                  <a:ea typeface="宋体" panose="02010600030101010101" pitchFamily="2" charset="-122"/>
                </a:rPr>
                <a:t>和 </a:t>
              </a:r>
              <a:r>
                <a:rPr lang="en-US" altLang="zh-CN" sz="2000" b="1">
                  <a:ea typeface="宋体" panose="02010600030101010101" pitchFamily="2" charset="-122"/>
                </a:rPr>
                <a:t>ACK </a:t>
              </a:r>
              <a:r>
                <a:rPr lang="zh-CN" altLang="en-US" sz="2000" b="1">
                  <a:ea typeface="宋体" panose="02010600030101010101" pitchFamily="2" charset="-122"/>
                </a:rPr>
                <a:t>帧格式（帧控制字段中的子类型分别为</a:t>
              </a:r>
              <a:r>
                <a:rPr lang="en-US" altLang="zh-CN" sz="2000" b="1">
                  <a:ea typeface="宋体" panose="02010600030101010101" pitchFamily="2" charset="-122"/>
                </a:rPr>
                <a:t>1100</a:t>
              </a:r>
              <a:r>
                <a:rPr lang="zh-CN" altLang="en-US" sz="2000" b="1">
                  <a:ea typeface="宋体" panose="02010600030101010101" pitchFamily="2" charset="-122"/>
                </a:rPr>
                <a:t>和</a:t>
              </a:r>
              <a:r>
                <a:rPr lang="en-US" altLang="zh-CN" sz="2000" b="1">
                  <a:ea typeface="宋体" panose="02010600030101010101" pitchFamily="2" charset="-122"/>
                </a:rPr>
                <a:t>1101</a:t>
              </a:r>
              <a:r>
                <a:rPr lang="zh-CN" altLang="en-US" sz="2000" b="1">
                  <a:ea typeface="宋体" panose="02010600030101010101" pitchFamily="2" charset="-122"/>
                </a:rPr>
                <a:t>）</a:t>
              </a:r>
            </a:p>
          </p:txBody>
        </p:sp>
      </p:grpSp>
      <p:sp>
        <p:nvSpPr>
          <p:cNvPr id="2444309" name="灯片编号占位符 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2365709-6E34-4096-B5B4-A5CBBC9D244D}" type="slidenum">
              <a:rPr lang="zh-CN" altLang="en-US" smtClean="0"/>
              <a:pPr eaLnBrk="1" hangingPunct="1"/>
              <a:t>59</a:t>
            </a:fld>
            <a:endParaRPr lang="en-US" altLang="zh-CN" smtClean="0"/>
          </a:p>
        </p:txBody>
      </p:sp>
      <p:sp>
        <p:nvSpPr>
          <p:cNvPr id="2444310" name="页脚占位符 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697150182"/>
      </p:ext>
    </p:extLst>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695</TotalTime>
  <Words>4901</Words>
  <Application>Microsoft Office PowerPoint</Application>
  <PresentationFormat>A4 纸张(210x297 毫米)</PresentationFormat>
  <Paragraphs>858</Paragraphs>
  <Slides>59</Slides>
  <Notes>28</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59</vt:i4>
      </vt:variant>
    </vt:vector>
  </HeadingPairs>
  <TitlesOfParts>
    <vt:vector size="67" baseType="lpstr">
      <vt:lpstr>黑体</vt:lpstr>
      <vt:lpstr>宋体</vt:lpstr>
      <vt:lpstr>Arial</vt:lpstr>
      <vt:lpstr>Symbol</vt:lpstr>
      <vt:lpstr>Times New Roman</vt:lpstr>
      <vt:lpstr>Wingdings</vt:lpstr>
      <vt:lpstr>Presentation</vt:lpstr>
      <vt:lpstr>Microsoft Visio 2000/2002 Drawing</vt:lpstr>
      <vt:lpstr>第 9 章   无线网络和移动网络</vt:lpstr>
      <vt:lpstr>第 9 章  无线网络和移动网络</vt:lpstr>
      <vt:lpstr>9.1  无线局域网 WLAN</vt:lpstr>
      <vt:lpstr>9.1.1  无线局域网的组成</vt:lpstr>
      <vt:lpstr>1. IEEE 802.11</vt:lpstr>
      <vt:lpstr>1. IEEE 802.11</vt:lpstr>
      <vt:lpstr>PowerPoint 演示文稿</vt:lpstr>
      <vt:lpstr>PowerPoint 演示文稿</vt:lpstr>
      <vt:lpstr>PowerPoint 演示文稿</vt:lpstr>
      <vt:lpstr>PowerPoint 演示文稿</vt:lpstr>
      <vt:lpstr>PowerPoint 演示文稿</vt:lpstr>
      <vt:lpstr>建立关联(association)</vt:lpstr>
      <vt:lpstr>移动站与 AP 建立关联的方法</vt:lpstr>
      <vt:lpstr>热点 (hot spot)</vt:lpstr>
      <vt:lpstr>2. 移动自组网络</vt:lpstr>
      <vt:lpstr>2. 移动自组网络</vt:lpstr>
      <vt:lpstr>移动自组网络的应用前景 </vt:lpstr>
      <vt:lpstr>无线传感器网络 WSN</vt:lpstr>
      <vt:lpstr>传感器结点的形状和组成</vt:lpstr>
      <vt:lpstr>无线传感器网络主要的应用领域 </vt:lpstr>
      <vt:lpstr>移动自组网络不同于移动 IP</vt:lpstr>
      <vt:lpstr>几种不同的接入</vt:lpstr>
      <vt:lpstr>9.1.2   802.11 局域网的物理层</vt:lpstr>
      <vt:lpstr>几种常用的 802.11 无线局域网 </vt:lpstr>
      <vt:lpstr>9.1.3  802.11 局域网的 MAC 层协议</vt:lpstr>
      <vt:lpstr>无线局域网的特殊问题 </vt:lpstr>
      <vt:lpstr>无线局域网的特殊问题 </vt:lpstr>
      <vt:lpstr>CSMA/CA 协议 </vt:lpstr>
      <vt:lpstr>802.11 的 MAC 层 </vt:lpstr>
      <vt:lpstr>802.11 的 MAC 层 </vt:lpstr>
      <vt:lpstr>802.11 的 MAC 层 </vt:lpstr>
      <vt:lpstr>帧间间隔 IFS </vt:lpstr>
      <vt:lpstr>两种常用种帧间间隔 </vt:lpstr>
      <vt:lpstr>两种常用帧间间隔 </vt:lpstr>
      <vt:lpstr>CSMA/CA 协议的原理 </vt:lpstr>
      <vt:lpstr>为什么信道空闲还要再等待 </vt:lpstr>
      <vt:lpstr>假定没有高优先级帧要发送 </vt:lpstr>
      <vt:lpstr>虚拟载波监听 </vt:lpstr>
      <vt:lpstr>虚拟载波监听的效果 </vt:lpstr>
      <vt:lpstr>网络分配向量 </vt:lpstr>
      <vt:lpstr>争用窗口 </vt:lpstr>
      <vt:lpstr>802.11 的退避机制</vt:lpstr>
      <vt:lpstr>二进制指数退避算法 </vt:lpstr>
      <vt:lpstr>退避计时器 (backoff timer)</vt:lpstr>
      <vt:lpstr>退避算法的使用情况 </vt:lpstr>
      <vt:lpstr>CSMA/CA 算法归纳</vt:lpstr>
      <vt:lpstr>2. 对信道进行预约 </vt:lpstr>
      <vt:lpstr>2. 对信道进行预约 </vt:lpstr>
      <vt:lpstr>2. 对信道进行预约 </vt:lpstr>
      <vt:lpstr>CSMA/CA 协议的基本流程图</vt:lpstr>
      <vt:lpstr>9.1.4  802.11 局域网的 MAC 帧</vt:lpstr>
      <vt:lpstr>持续期和帧控制字段 </vt:lpstr>
      <vt:lpstr>802.11 数据帧的三大部分 </vt:lpstr>
      <vt:lpstr>1. 关于 802.11 数据帧的地址</vt:lpstr>
      <vt:lpstr>PowerPoint 演示文稿</vt:lpstr>
      <vt:lpstr>1. 关于 802.11 数据帧的地址</vt:lpstr>
      <vt:lpstr>序号控制</vt:lpstr>
      <vt:lpstr>分片的发送举例 </vt:lpstr>
      <vt:lpstr>9.1.4  802.11 局域网的 MAC 帧</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97</cp:revision>
  <dcterms:created xsi:type="dcterms:W3CDTF">2016-10-01T05:27:00Z</dcterms:created>
  <dcterms:modified xsi:type="dcterms:W3CDTF">2021-01-29T13:59:15Z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
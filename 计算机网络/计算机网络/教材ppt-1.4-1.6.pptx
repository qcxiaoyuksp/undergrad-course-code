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56" r:id="rId2"/>
    <p:sldId id="257" r:id="rId3"/>
    <p:sldId id="414" r:id="rId4"/>
    <p:sldId id="415" r:id="rId5"/>
    <p:sldId id="333" r:id="rId6"/>
    <p:sldId id="334" r:id="rId7"/>
    <p:sldId id="335" r:id="rId8"/>
    <p:sldId id="336" r:id="rId9"/>
    <p:sldId id="337" r:id="rId10"/>
    <p:sldId id="338" r:id="rId11"/>
    <p:sldId id="339" r:id="rId12"/>
    <p:sldId id="340" r:id="rId13"/>
    <p:sldId id="395" r:id="rId14"/>
    <p:sldId id="396" r:id="rId15"/>
    <p:sldId id="397" r:id="rId16"/>
    <p:sldId id="398" r:id="rId17"/>
    <p:sldId id="399" r:id="rId18"/>
    <p:sldId id="400" r:id="rId19"/>
    <p:sldId id="401" r:id="rId20"/>
    <p:sldId id="402" r:id="rId21"/>
    <p:sldId id="403" r:id="rId22"/>
    <p:sldId id="404" r:id="rId23"/>
    <p:sldId id="405" r:id="rId24"/>
    <p:sldId id="406" r:id="rId25"/>
    <p:sldId id="407" r:id="rId26"/>
    <p:sldId id="408" r:id="rId27"/>
    <p:sldId id="409" r:id="rId28"/>
    <p:sldId id="410" r:id="rId29"/>
    <p:sldId id="411" r:id="rId30"/>
    <p:sldId id="412" r:id="rId31"/>
    <p:sldId id="413" r:id="rId32"/>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0000CC"/>
    <a:srgbClr val="0000FF"/>
    <a:srgbClr val="FFFF66"/>
    <a:srgbClr val="66FF66"/>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extLst>
      <p:ext uri="{BB962C8B-B14F-4D97-AF65-F5344CB8AC3E}">
        <p14:creationId xmlns:p14="http://schemas.microsoft.com/office/powerpoint/2010/main" val="429165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extLst>
      <p:ext uri="{BB962C8B-B14F-4D97-AF65-F5344CB8AC3E}">
        <p14:creationId xmlns:p14="http://schemas.microsoft.com/office/powerpoint/2010/main" val="142373798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2EEDA8-5EF7-4A6F-9A69-0FC8242B0BD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4338" name="Rectangle 2"/>
          <p:cNvSpPr>
            <a:spLocks noGrp="1" noRot="1" noChangeAspect="1" noChangeArrowheads="1" noTextEdit="1"/>
          </p:cNvSpPr>
          <p:nvPr>
            <p:ph type="sldImg" idx="4294967295"/>
          </p:nvPr>
        </p:nvSpPr>
        <p:spPr>
          <a:ln/>
        </p:spPr>
      </p:sp>
      <p:sp>
        <p:nvSpPr>
          <p:cNvPr id="14339"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832397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62B51B-86FD-4FF5-B02A-161420B18768}"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08546" name="Rectangle 2"/>
          <p:cNvSpPr>
            <a:spLocks noGrp="1" noRot="1" noChangeAspect="1" noChangeArrowheads="1" noTextEdit="1"/>
          </p:cNvSpPr>
          <p:nvPr>
            <p:ph type="sldImg" idx="4294967295"/>
          </p:nvPr>
        </p:nvSpPr>
        <p:spPr>
          <a:ln/>
        </p:spPr>
      </p:sp>
      <p:sp>
        <p:nvSpPr>
          <p:cNvPr id="1085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45521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A2132E-78C1-4B06-944C-64AFCF5AAC7D}"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10594" name="Rectangle 2"/>
          <p:cNvSpPr>
            <a:spLocks noGrp="1" noRot="1" noChangeAspect="1" noChangeArrowheads="1" noTextEdit="1"/>
          </p:cNvSpPr>
          <p:nvPr>
            <p:ph type="sldImg" idx="4294967295"/>
          </p:nvPr>
        </p:nvSpPr>
        <p:spPr>
          <a:ln/>
        </p:spPr>
      </p:sp>
      <p:sp>
        <p:nvSpPr>
          <p:cNvPr id="1105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22864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1B0DAF-9A33-4E43-A89B-E6263D25D1AB}"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12642" name="Rectangle 2"/>
          <p:cNvSpPr>
            <a:spLocks noGrp="1" noRot="1" noChangeAspect="1" noChangeArrowheads="1" noTextEdit="1"/>
          </p:cNvSpPr>
          <p:nvPr>
            <p:ph type="sldImg" idx="4294967295"/>
          </p:nvPr>
        </p:nvSpPr>
        <p:spPr>
          <a:ln/>
        </p:spPr>
      </p:sp>
      <p:sp>
        <p:nvSpPr>
          <p:cNvPr id="1126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81348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32233F-C6D4-49D7-85F1-FCC82582A82C}"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114690" name="Rectangle 2"/>
          <p:cNvSpPr>
            <a:spLocks noGrp="1" noRot="1" noChangeAspect="1" noChangeArrowheads="1" noTextEdit="1"/>
          </p:cNvSpPr>
          <p:nvPr>
            <p:ph type="sldImg" idx="4294967295"/>
          </p:nvPr>
        </p:nvSpPr>
        <p:spPr>
          <a:ln/>
        </p:spPr>
      </p:sp>
      <p:sp>
        <p:nvSpPr>
          <p:cNvPr id="1146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963380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6DC216-232D-4546-8506-4623EA515DB1}"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116738" name="Rectangle 2"/>
          <p:cNvSpPr>
            <a:spLocks noGrp="1" noRot="1" noChangeAspect="1" noChangeArrowheads="1" noTextEdit="1"/>
          </p:cNvSpPr>
          <p:nvPr>
            <p:ph type="sldImg" idx="4294967295"/>
          </p:nvPr>
        </p:nvSpPr>
        <p:spPr>
          <a:ln/>
        </p:spPr>
      </p:sp>
      <p:sp>
        <p:nvSpPr>
          <p:cNvPr id="1167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23409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FFA9FB-6949-47D0-B5B4-B5BAA0800E59}"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118786" name="Rectangle 2"/>
          <p:cNvSpPr>
            <a:spLocks noGrp="1" noRot="1" noChangeAspect="1" noChangeArrowheads="1" noTextEdit="1"/>
          </p:cNvSpPr>
          <p:nvPr>
            <p:ph type="sldImg" idx="4294967295"/>
          </p:nvPr>
        </p:nvSpPr>
        <p:spPr>
          <a:ln/>
        </p:spPr>
      </p:sp>
      <p:sp>
        <p:nvSpPr>
          <p:cNvPr id="1187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809251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D098F2-F7F2-4292-B076-D3D9E47F13F3}"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120834" name="Rectangle 2"/>
          <p:cNvSpPr>
            <a:spLocks noGrp="1" noRot="1" noChangeAspect="1" noChangeArrowheads="1" noTextEdit="1"/>
          </p:cNvSpPr>
          <p:nvPr>
            <p:ph type="sldImg" idx="4294967295"/>
          </p:nvPr>
        </p:nvSpPr>
        <p:spPr>
          <a:ln/>
        </p:spPr>
      </p:sp>
      <p:sp>
        <p:nvSpPr>
          <p:cNvPr id="1208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829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C2757F-3A51-4DF3-BD7D-BF98F94918F9}"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24930" name="Rectangle 2"/>
          <p:cNvSpPr>
            <a:spLocks noGrp="1" noRot="1" noChangeAspect="1" noChangeArrowheads="1" noTextEdit="1"/>
          </p:cNvSpPr>
          <p:nvPr>
            <p:ph type="sldImg" idx="4294967295"/>
          </p:nvPr>
        </p:nvSpPr>
        <p:spPr>
          <a:ln/>
        </p:spPr>
      </p:sp>
      <p:sp>
        <p:nvSpPr>
          <p:cNvPr id="1249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837326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4FBC70-2665-4709-A4E2-FD38A725DB2A}"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26978" name="Rectangle 2"/>
          <p:cNvSpPr>
            <a:spLocks noGrp="1" noRot="1" noChangeAspect="1" noChangeArrowheads="1" noTextEdit="1"/>
          </p:cNvSpPr>
          <p:nvPr>
            <p:ph type="sldImg" idx="4294967295"/>
          </p:nvPr>
        </p:nvSpPr>
        <p:spPr>
          <a:ln/>
        </p:spPr>
      </p:sp>
      <p:sp>
        <p:nvSpPr>
          <p:cNvPr id="1269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78212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E826D4-2A94-44B8-8FD4-C7410915FC83}"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29026" name="Rectangle 2"/>
          <p:cNvSpPr>
            <a:spLocks noGrp="1" noRot="1" noChangeAspect="1" noChangeArrowheads="1" noTextEdit="1"/>
          </p:cNvSpPr>
          <p:nvPr>
            <p:ph type="sldImg" idx="4294967295"/>
          </p:nvPr>
        </p:nvSpPr>
        <p:spPr>
          <a:ln/>
        </p:spPr>
      </p:sp>
      <p:sp>
        <p:nvSpPr>
          <p:cNvPr id="1290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92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7835E9-19F1-4277-870D-5838FD50DD30}"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31074" name="Rectangle 2"/>
          <p:cNvSpPr>
            <a:spLocks noGrp="1" noRot="1" noChangeAspect="1" noChangeArrowheads="1" noTextEdit="1"/>
          </p:cNvSpPr>
          <p:nvPr>
            <p:ph type="sldImg" idx="4294967295"/>
          </p:nvPr>
        </p:nvSpPr>
        <p:spPr>
          <a:ln/>
        </p:spPr>
      </p:sp>
      <p:sp>
        <p:nvSpPr>
          <p:cNvPr id="1310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3144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7814B7-8645-4DD1-8874-FAD13AF5D383}"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34146" name="Rectangle 2"/>
          <p:cNvSpPr>
            <a:spLocks noGrp="1" noRot="1" noChangeAspect="1" noChangeArrowheads="1" noTextEdit="1"/>
          </p:cNvSpPr>
          <p:nvPr>
            <p:ph type="sldImg" idx="4294967295"/>
          </p:nvPr>
        </p:nvSpPr>
        <p:spPr>
          <a:ln/>
        </p:spPr>
      </p:sp>
      <p:sp>
        <p:nvSpPr>
          <p:cNvPr id="1341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42421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B9E643-C2D5-4792-8DD1-B02CF72CA2FB}"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36194" name="Rectangle 2"/>
          <p:cNvSpPr>
            <a:spLocks noGrp="1" noRot="1" noChangeAspect="1" noChangeArrowheads="1" noTextEdit="1"/>
          </p:cNvSpPr>
          <p:nvPr>
            <p:ph type="sldImg" idx="4294967295"/>
          </p:nvPr>
        </p:nvSpPr>
        <p:spPr>
          <a:ln/>
        </p:spPr>
      </p:sp>
      <p:sp>
        <p:nvSpPr>
          <p:cNvPr id="1361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2687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CB9C2A-9B40-4BF7-9C35-30DB349E5E06}"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40290" name="Rectangle 2"/>
          <p:cNvSpPr>
            <a:spLocks noGrp="1" noRot="1" noChangeAspect="1" noChangeArrowheads="1" noTextEdit="1"/>
          </p:cNvSpPr>
          <p:nvPr>
            <p:ph type="sldImg" idx="4294967295"/>
          </p:nvPr>
        </p:nvSpPr>
        <p:spPr>
          <a:ln/>
        </p:spPr>
      </p:sp>
      <p:sp>
        <p:nvSpPr>
          <p:cNvPr id="1402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63555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288161-9217-4896-B942-901A055A1F7E}"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42338" name="Rectangle 2"/>
          <p:cNvSpPr>
            <a:spLocks noGrp="1" noRot="1" noChangeAspect="1" noChangeArrowheads="1" noTextEdit="1"/>
          </p:cNvSpPr>
          <p:nvPr>
            <p:ph type="sldImg" idx="4294967295"/>
          </p:nvPr>
        </p:nvSpPr>
        <p:spPr>
          <a:ln/>
        </p:spPr>
      </p:sp>
      <p:sp>
        <p:nvSpPr>
          <p:cNvPr id="1423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72607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A7ABD8-3F2F-453F-970E-27D155F568A2}"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144386" name="Rectangle 2"/>
          <p:cNvSpPr>
            <a:spLocks noGrp="1" noRot="1" noChangeAspect="1" noChangeArrowheads="1" noTextEdit="1"/>
          </p:cNvSpPr>
          <p:nvPr>
            <p:ph type="sldImg" idx="4294967295"/>
          </p:nvPr>
        </p:nvSpPr>
        <p:spPr>
          <a:ln/>
        </p:spPr>
      </p:sp>
      <p:sp>
        <p:nvSpPr>
          <p:cNvPr id="1443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90117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1E713E-86F8-4533-A2BD-913B52C6F7F4}"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147458" name="Rectangle 2"/>
          <p:cNvSpPr>
            <a:spLocks noGrp="1" noRot="1" noChangeAspect="1" noChangeArrowheads="1" noTextEdit="1"/>
          </p:cNvSpPr>
          <p:nvPr>
            <p:ph type="sldImg" idx="4294967295"/>
          </p:nvPr>
        </p:nvSpPr>
        <p:spPr>
          <a:ln/>
        </p:spPr>
      </p:sp>
      <p:sp>
        <p:nvSpPr>
          <p:cNvPr id="1474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722951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04F745-1BFE-48E0-BC3B-3CB93050B053}"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149506" name="Rectangle 2"/>
          <p:cNvSpPr>
            <a:spLocks noGrp="1" noRot="1" noChangeAspect="1" noChangeArrowheads="1" noTextEdit="1"/>
          </p:cNvSpPr>
          <p:nvPr>
            <p:ph type="sldImg" idx="4294967295"/>
          </p:nvPr>
        </p:nvSpPr>
        <p:spPr>
          <a:ln/>
        </p:spPr>
      </p:sp>
      <p:sp>
        <p:nvSpPr>
          <p:cNvPr id="1495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11238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36323B-A210-4EA7-970F-95383599B961}"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151554" name="Rectangle 2"/>
          <p:cNvSpPr>
            <a:spLocks noGrp="1" noRot="1" noChangeAspect="1" noChangeArrowheads="1" noTextEdit="1"/>
          </p:cNvSpPr>
          <p:nvPr>
            <p:ph type="sldImg" idx="4294967295"/>
          </p:nvPr>
        </p:nvSpPr>
        <p:spPr>
          <a:ln/>
        </p:spPr>
      </p:sp>
      <p:sp>
        <p:nvSpPr>
          <p:cNvPr id="1515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959718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D400D74-0948-4889-8C9E-5635813E3D93}"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153602" name="Rectangle 2"/>
          <p:cNvSpPr>
            <a:spLocks noGrp="1" noRot="1" noChangeAspect="1" noChangeArrowheads="1" noTextEdit="1"/>
          </p:cNvSpPr>
          <p:nvPr>
            <p:ph type="sldImg" idx="4294967295"/>
          </p:nvPr>
        </p:nvSpPr>
        <p:spPr>
          <a:ln/>
        </p:spPr>
      </p:sp>
      <p:sp>
        <p:nvSpPr>
          <p:cNvPr id="1536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21807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p:txBody>
          <a:bodyPr/>
          <a:lstStyle/>
          <a:p>
            <a:r>
              <a:rPr lang="zh-CN" altLang="en-US" smtClean="0">
                <a:latin typeface="黑体" panose="02010609060101010101" pitchFamily="49" charset="-122"/>
                <a:ea typeface="黑体" panose="02010609060101010101" pitchFamily="49" charset="-122"/>
              </a:rPr>
              <a:t>第</a:t>
            </a:r>
            <a:r>
              <a:rPr lang="zh-CN" altLang="en-US" sz="4000" smtClean="0">
                <a:latin typeface="黑体" panose="02010609060101010101" pitchFamily="49" charset="-122"/>
                <a:ea typeface="黑体" panose="02010609060101010101" pitchFamily="49" charset="-122"/>
              </a:rPr>
              <a:t> </a:t>
            </a:r>
            <a:r>
              <a:rPr lang="en-US" altLang="zh-CN" smtClean="0">
                <a:latin typeface="黑体" panose="02010609060101010101" pitchFamily="49" charset="-122"/>
                <a:ea typeface="黑体" panose="02010609060101010101" pitchFamily="49" charset="-122"/>
              </a:rPr>
              <a:t>1</a:t>
            </a:r>
            <a:r>
              <a:rPr lang="en-US" altLang="zh-CN" sz="4000" smtClean="0">
                <a:latin typeface="黑体" panose="02010609060101010101" pitchFamily="49" charset="-122"/>
                <a:ea typeface="黑体" panose="02010609060101010101" pitchFamily="49" charset="-122"/>
              </a:rPr>
              <a:t> </a:t>
            </a:r>
            <a:r>
              <a:rPr lang="zh-CN" altLang="en-US" smtClean="0">
                <a:latin typeface="黑体" panose="02010609060101010101" pitchFamily="49" charset="-122"/>
                <a:ea typeface="黑体" panose="02010609060101010101" pitchFamily="49" charset="-122"/>
              </a:rPr>
              <a:t>章   概述</a:t>
            </a:r>
            <a:endParaRPr lang="zh-CN" altLang="en-US" smtClean="0">
              <a:latin typeface="黑体" panose="02010609060101010101" pitchFamily="49" charset="-122"/>
              <a:ea typeface="宋体" panose="02010600030101010101" pitchFamily="2" charset="-122"/>
            </a:endParaRPr>
          </a:p>
        </p:txBody>
      </p:sp>
      <p:sp>
        <p:nvSpPr>
          <p:cNvPr id="13314"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1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88BD7-4C42-4ADA-B884-2730F48AB4ED}" type="slidenum">
              <a:rPr lang="zh-CN" altLang="en-US" smtClean="0"/>
              <a:pPr eaLnBrk="1" hangingPunct="1"/>
              <a:t>1</a:t>
            </a:fld>
            <a:endParaRPr lang="en-US" altLang="zh-CN" smtClean="0"/>
          </a:p>
        </p:txBody>
      </p:sp>
      <p:sp>
        <p:nvSpPr>
          <p:cNvPr id="1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a:t>
            </a:r>
            <a:r>
              <a:rPr lang="zh-CN" altLang="en-US" sz="3200" smtClean="0">
                <a:ea typeface="黑体" panose="02010609060101010101" pitchFamily="49" charset="-122"/>
              </a:rPr>
              <a:t> </a:t>
            </a:r>
            <a:r>
              <a:rPr lang="en-US" altLang="zh-CN" smtClean="0">
                <a:ea typeface="黑体" panose="02010609060101010101" pitchFamily="49" charset="-122"/>
              </a:rPr>
              <a:t>1</a:t>
            </a:r>
            <a:r>
              <a:rPr lang="en-US" altLang="zh-CN" sz="3200" smtClean="0">
                <a:ea typeface="黑体" panose="02010609060101010101" pitchFamily="49" charset="-122"/>
              </a:rPr>
              <a:t> </a:t>
            </a:r>
            <a:r>
              <a:rPr lang="zh-CN" altLang="en-US" smtClean="0">
                <a:ea typeface="黑体" panose="02010609060101010101" pitchFamily="49" charset="-122"/>
              </a:rPr>
              <a:t>章   概述</a:t>
            </a:r>
            <a:endParaRPr lang="zh-CN" altLang="en-US" smtClean="0">
              <a:ea typeface="宋体" panose="02010600030101010101" pitchFamily="2" charset="-122"/>
            </a:endParaRPr>
          </a:p>
        </p:txBody>
      </p:sp>
      <p:sp>
        <p:nvSpPr>
          <p:cNvPr id="15362" name="Rectangle 3"/>
          <p:cNvSpPr>
            <a:spLocks noGrp="1" noChangeArrowheads="1"/>
          </p:cNvSpPr>
          <p:nvPr>
            <p:ph type="body" idx="1"/>
          </p:nvPr>
        </p:nvSpPr>
        <p:spPr>
          <a:xfrm>
            <a:off x="495300" y="1196975"/>
            <a:ext cx="9066213" cy="4933950"/>
          </a:xfrm>
        </p:spPr>
        <p:txBody>
          <a:bodyPr/>
          <a:lstStyle/>
          <a:p>
            <a:r>
              <a:rPr lang="en-US" altLang="zh-CN" dirty="0">
                <a:ea typeface="黑体" panose="02010609060101010101" pitchFamily="49" charset="-122"/>
              </a:rPr>
              <a:t>1.4  </a:t>
            </a:r>
            <a:r>
              <a:rPr lang="zh-CN" altLang="zh-CN" dirty="0">
                <a:ea typeface="黑体" panose="02010609060101010101" pitchFamily="49" charset="-122"/>
              </a:rPr>
              <a:t>计算机网络在我国的发展</a:t>
            </a:r>
          </a:p>
          <a:p>
            <a:r>
              <a:rPr lang="en-US" altLang="zh-CN" dirty="0" smtClean="0">
                <a:ea typeface="黑体" panose="02010609060101010101" pitchFamily="49" charset="-122"/>
              </a:rPr>
              <a:t>1.5  </a:t>
            </a:r>
            <a:r>
              <a:rPr lang="zh-CN" altLang="zh-CN" dirty="0" smtClean="0">
                <a:ea typeface="黑体" panose="02010609060101010101" pitchFamily="49" charset="-122"/>
              </a:rPr>
              <a:t>计算机网络的类别</a:t>
            </a:r>
            <a:endParaRPr lang="en-US" altLang="zh-CN" dirty="0" smtClean="0">
              <a:ea typeface="黑体" panose="02010609060101010101" pitchFamily="49" charset="-122"/>
            </a:endParaRPr>
          </a:p>
          <a:p>
            <a:r>
              <a:rPr lang="en-US" altLang="zh-CN" dirty="0" smtClean="0">
                <a:ea typeface="黑体" panose="02010609060101010101" pitchFamily="49" charset="-122"/>
              </a:rPr>
              <a:t>1.6  </a:t>
            </a:r>
            <a:r>
              <a:rPr lang="zh-CN" altLang="zh-CN" dirty="0" smtClean="0">
                <a:ea typeface="黑体" panose="02010609060101010101" pitchFamily="49" charset="-122"/>
              </a:rPr>
              <a:t>计算机网络的性能</a:t>
            </a:r>
            <a:endParaRPr lang="en-US" altLang="zh-CN" dirty="0" smtClean="0">
              <a:ea typeface="黑体" panose="02010609060101010101" pitchFamily="49" charset="-122"/>
            </a:endParaRPr>
          </a:p>
        </p:txBody>
      </p:sp>
      <p:sp>
        <p:nvSpPr>
          <p:cNvPr id="15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F86F1E-F536-4C43-8766-B2A677BA8076}" type="slidenum">
              <a:rPr lang="zh-CN" altLang="en-US" smtClean="0"/>
              <a:pPr eaLnBrk="1" hangingPunct="1"/>
              <a:t>2</a:t>
            </a:fld>
            <a:endParaRPr lang="en-US" altLang="zh-CN" smtClean="0"/>
          </a:p>
        </p:txBody>
      </p:sp>
      <p:sp>
        <p:nvSpPr>
          <p:cNvPr id="15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1.4  </a:t>
            </a:r>
            <a:r>
              <a:rPr lang="zh-CN" altLang="zh-CN" smtClean="0">
                <a:ea typeface="黑体" panose="02010609060101010101" pitchFamily="49" charset="-122"/>
              </a:rPr>
              <a:t>计算机网络在我国的发展</a:t>
            </a:r>
            <a:endParaRPr lang="zh-CN" altLang="en-US" smtClean="0">
              <a:ea typeface="黑体" panose="02010609060101010101" pitchFamily="49" charset="-122"/>
            </a:endParaRPr>
          </a:p>
        </p:txBody>
      </p:sp>
      <p:sp>
        <p:nvSpPr>
          <p:cNvPr id="102402"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到目前为止，我国陆续建造了基于互联网技术的并能够和互联网互连的多个全国范围的公用计算机网络，其中规模最大的就是下面这五个：</a:t>
            </a:r>
          </a:p>
          <a:p>
            <a:pPr lvl="1"/>
            <a:r>
              <a:rPr lang="en-US" altLang="zh-CN" sz="2400" dirty="0" smtClean="0">
                <a:ea typeface="黑体" panose="02010609060101010101" pitchFamily="49" charset="-122"/>
              </a:rPr>
              <a:t>(1) </a:t>
            </a:r>
            <a:r>
              <a:rPr lang="zh-CN" altLang="zh-CN" sz="2400" dirty="0" smtClean="0">
                <a:ea typeface="黑体" panose="02010609060101010101" pitchFamily="49" charset="-122"/>
              </a:rPr>
              <a:t>中国电信互联网</a:t>
            </a:r>
            <a:r>
              <a:rPr lang="en-US" altLang="zh-CN" sz="2400" dirty="0" smtClean="0">
                <a:ea typeface="黑体" panose="02010609060101010101" pitchFamily="49" charset="-122"/>
              </a:rPr>
              <a:t> CHINANET</a:t>
            </a:r>
            <a:r>
              <a:rPr lang="zh-CN" altLang="zh-CN" sz="2400" dirty="0" smtClean="0">
                <a:ea typeface="黑体" panose="02010609060101010101" pitchFamily="49" charset="-122"/>
              </a:rPr>
              <a:t>（也就是原来的中国公用计算机互联网）</a:t>
            </a:r>
          </a:p>
          <a:p>
            <a:pPr lvl="1"/>
            <a:r>
              <a:rPr lang="en-US" altLang="zh-CN" sz="2400" dirty="0" smtClean="0">
                <a:ea typeface="黑体" panose="02010609060101010101" pitchFamily="49" charset="-122"/>
              </a:rPr>
              <a:t>(2) </a:t>
            </a:r>
            <a:r>
              <a:rPr lang="zh-CN" altLang="zh-CN" sz="2400" dirty="0" smtClean="0">
                <a:ea typeface="黑体" panose="02010609060101010101" pitchFamily="49" charset="-122"/>
              </a:rPr>
              <a:t>中国联通互联网</a:t>
            </a:r>
            <a:r>
              <a:rPr lang="en-US" altLang="zh-CN" sz="2400" dirty="0" smtClean="0">
                <a:ea typeface="黑体" panose="02010609060101010101" pitchFamily="49" charset="-122"/>
              </a:rPr>
              <a:t> UNINET</a:t>
            </a:r>
            <a:endParaRPr lang="zh-CN" altLang="zh-CN" sz="2400" dirty="0" smtClean="0">
              <a:ea typeface="黑体" panose="02010609060101010101" pitchFamily="49" charset="-122"/>
            </a:endParaRPr>
          </a:p>
          <a:p>
            <a:pPr lvl="1"/>
            <a:r>
              <a:rPr lang="en-US" altLang="zh-CN" sz="2400" dirty="0" smtClean="0">
                <a:ea typeface="黑体" panose="02010609060101010101" pitchFamily="49" charset="-122"/>
              </a:rPr>
              <a:t>(3) </a:t>
            </a:r>
            <a:r>
              <a:rPr lang="zh-CN" altLang="zh-CN" sz="2400" dirty="0" smtClean="0">
                <a:ea typeface="黑体" panose="02010609060101010101" pitchFamily="49" charset="-122"/>
              </a:rPr>
              <a:t>中国移动互联网</a:t>
            </a:r>
            <a:r>
              <a:rPr lang="en-US" altLang="zh-CN" sz="2400" dirty="0" smtClean="0">
                <a:ea typeface="黑体" panose="02010609060101010101" pitchFamily="49" charset="-122"/>
              </a:rPr>
              <a:t> CMNET</a:t>
            </a:r>
            <a:endParaRPr lang="zh-CN" altLang="zh-CN" sz="2400" dirty="0" smtClean="0">
              <a:ea typeface="黑体" panose="02010609060101010101" pitchFamily="49" charset="-122"/>
            </a:endParaRPr>
          </a:p>
          <a:p>
            <a:pPr lvl="1"/>
            <a:r>
              <a:rPr lang="en-US" altLang="zh-CN" sz="2400" dirty="0" smtClean="0">
                <a:solidFill>
                  <a:srgbClr val="000099"/>
                </a:solidFill>
                <a:ea typeface="黑体" panose="02010609060101010101" pitchFamily="49" charset="-122"/>
              </a:rPr>
              <a:t>(4) </a:t>
            </a:r>
            <a:r>
              <a:rPr lang="zh-CN" altLang="zh-CN" sz="2400" dirty="0" smtClean="0">
                <a:solidFill>
                  <a:srgbClr val="000099"/>
                </a:solidFill>
                <a:ea typeface="黑体" panose="02010609060101010101" pitchFamily="49" charset="-122"/>
              </a:rPr>
              <a:t>中国教育和科研计算机网</a:t>
            </a:r>
            <a:r>
              <a:rPr lang="en-US" altLang="zh-CN" sz="2400" dirty="0" smtClean="0">
                <a:solidFill>
                  <a:srgbClr val="000099"/>
                </a:solidFill>
                <a:ea typeface="黑体" panose="02010609060101010101" pitchFamily="49" charset="-122"/>
              </a:rPr>
              <a:t> CERNET</a:t>
            </a:r>
            <a:endParaRPr lang="zh-CN" altLang="zh-CN" sz="2400" dirty="0" smtClean="0">
              <a:solidFill>
                <a:srgbClr val="000099"/>
              </a:solidFill>
              <a:ea typeface="黑体" panose="02010609060101010101" pitchFamily="49" charset="-122"/>
            </a:endParaRPr>
          </a:p>
          <a:p>
            <a:pPr lvl="1"/>
            <a:r>
              <a:rPr lang="en-US" altLang="zh-CN" sz="2400" dirty="0" smtClean="0">
                <a:ea typeface="黑体" panose="02010609060101010101" pitchFamily="49" charset="-122"/>
              </a:rPr>
              <a:t>(5) </a:t>
            </a:r>
            <a:r>
              <a:rPr lang="zh-CN" altLang="zh-CN" sz="2400" dirty="0" smtClean="0">
                <a:ea typeface="黑体" panose="02010609060101010101" pitchFamily="49" charset="-122"/>
              </a:rPr>
              <a:t>中国科学技术网</a:t>
            </a:r>
            <a:r>
              <a:rPr lang="en-US" altLang="zh-CN" sz="2400" dirty="0" smtClean="0">
                <a:ea typeface="黑体" panose="02010609060101010101" pitchFamily="49" charset="-122"/>
              </a:rPr>
              <a:t> CSTNET</a:t>
            </a:r>
            <a:endParaRPr lang="zh-CN" altLang="zh-CN" sz="2400" dirty="0" smtClean="0">
              <a:ea typeface="黑体" panose="02010609060101010101" pitchFamily="49" charset="-122"/>
            </a:endParaRPr>
          </a:p>
          <a:p>
            <a:endParaRPr lang="en-US" altLang="zh-CN" sz="2800" dirty="0" smtClean="0">
              <a:ea typeface="黑体" panose="02010609060101010101" pitchFamily="49" charset="-122"/>
            </a:endParaRPr>
          </a:p>
        </p:txBody>
      </p:sp>
    </p:spTree>
    <p:extLst>
      <p:ext uri="{BB962C8B-B14F-4D97-AF65-F5344CB8AC3E}">
        <p14:creationId xmlns:p14="http://schemas.microsoft.com/office/powerpoint/2010/main" val="22984855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1.4  </a:t>
            </a:r>
            <a:r>
              <a:rPr lang="zh-CN" altLang="zh-CN" smtClean="0">
                <a:ea typeface="黑体" panose="02010609060101010101" pitchFamily="49" charset="-122"/>
              </a:rPr>
              <a:t>计算机网络在我国的发展</a:t>
            </a:r>
            <a:endParaRPr lang="zh-CN" altLang="en-US" smtClean="0">
              <a:ea typeface="黑体" panose="02010609060101010101" pitchFamily="49" charset="-122"/>
            </a:endParaRPr>
          </a:p>
        </p:txBody>
      </p:sp>
      <p:sp>
        <p:nvSpPr>
          <p:cNvPr id="103426" name="内容占位符 2"/>
          <p:cNvSpPr>
            <a:spLocks noGrp="1" noChangeArrowheads="1"/>
          </p:cNvSpPr>
          <p:nvPr>
            <p:ph idx="1"/>
          </p:nvPr>
        </p:nvSpPr>
        <p:spPr>
          <a:xfrm>
            <a:off x="495300" y="1196975"/>
            <a:ext cx="9066213" cy="4933950"/>
          </a:xfrm>
        </p:spPr>
        <p:txBody>
          <a:bodyPr/>
          <a:lstStyle/>
          <a:p>
            <a:r>
              <a:rPr lang="zh-CN" altLang="en-US" sz="2800" dirty="0" smtClean="0">
                <a:solidFill>
                  <a:srgbClr val="000099"/>
                </a:solidFill>
                <a:ea typeface="黑体" panose="02010609060101010101" pitchFamily="49" charset="-122"/>
              </a:rPr>
              <a:t>中国教育和科研计算机网 </a:t>
            </a:r>
            <a:r>
              <a:rPr lang="en-US" altLang="zh-CN" sz="2800" dirty="0" smtClean="0">
                <a:solidFill>
                  <a:srgbClr val="000099"/>
                </a:solidFill>
                <a:ea typeface="黑体" panose="02010609060101010101" pitchFamily="49" charset="-122"/>
              </a:rPr>
              <a:t>CERNET </a:t>
            </a:r>
            <a:r>
              <a:rPr lang="en-US" altLang="zh-CN" sz="2800" dirty="0" smtClean="0">
                <a:ea typeface="黑体" panose="02010609060101010101" pitchFamily="49" charset="-122"/>
              </a:rPr>
              <a:t>(China Education and Research </a:t>
            </a:r>
            <a:r>
              <a:rPr lang="en-US" altLang="zh-CN" sz="2800" dirty="0" err="1" smtClean="0">
                <a:ea typeface="黑体" panose="02010609060101010101" pitchFamily="49" charset="-122"/>
              </a:rPr>
              <a:t>NETwork</a:t>
            </a:r>
            <a:r>
              <a:rPr lang="en-US" altLang="zh-CN" sz="2800" dirty="0" smtClean="0">
                <a:ea typeface="黑体" panose="02010609060101010101" pitchFamily="49" charset="-122"/>
              </a:rPr>
              <a:t>) </a:t>
            </a:r>
            <a:r>
              <a:rPr lang="zh-CN" altLang="en-US" sz="2800" dirty="0" smtClean="0">
                <a:ea typeface="黑体" panose="02010609060101010101" pitchFamily="49" charset="-122"/>
              </a:rPr>
              <a:t>始建于</a:t>
            </a:r>
            <a:r>
              <a:rPr lang="en-US" altLang="zh-CN" sz="2800" dirty="0" smtClean="0">
                <a:ea typeface="黑体" panose="02010609060101010101" pitchFamily="49" charset="-122"/>
              </a:rPr>
              <a:t>1994</a:t>
            </a:r>
            <a:r>
              <a:rPr lang="zh-CN" altLang="en-US" sz="2800" dirty="0" smtClean="0">
                <a:ea typeface="黑体" panose="02010609060101010101" pitchFamily="49" charset="-122"/>
              </a:rPr>
              <a:t>年，是我国</a:t>
            </a:r>
            <a:r>
              <a:rPr lang="zh-CN" altLang="en-US" sz="2800" dirty="0" smtClean="0">
                <a:solidFill>
                  <a:srgbClr val="000099"/>
                </a:solidFill>
                <a:ea typeface="黑体" panose="02010609060101010101" pitchFamily="49" charset="-122"/>
              </a:rPr>
              <a:t>第一个</a:t>
            </a:r>
            <a:r>
              <a:rPr lang="en-US" altLang="zh-CN" sz="2800" dirty="0" smtClean="0">
                <a:solidFill>
                  <a:srgbClr val="000099"/>
                </a:solidFill>
                <a:ea typeface="黑体" panose="02010609060101010101" pitchFamily="49" charset="-122"/>
              </a:rPr>
              <a:t>IPv4</a:t>
            </a:r>
            <a:r>
              <a:rPr lang="zh-CN" altLang="en-US" sz="2800" dirty="0" smtClean="0">
                <a:solidFill>
                  <a:srgbClr val="000099"/>
                </a:solidFill>
                <a:ea typeface="黑体" panose="02010609060101010101" pitchFamily="49" charset="-122"/>
              </a:rPr>
              <a:t>互联网主干网</a:t>
            </a:r>
            <a:r>
              <a:rPr lang="zh-CN" altLang="en-US" sz="2800" dirty="0" smtClean="0">
                <a:ea typeface="黑体" panose="02010609060101010101" pitchFamily="49" charset="-122"/>
              </a:rPr>
              <a:t>。</a:t>
            </a:r>
          </a:p>
          <a:p>
            <a:r>
              <a:rPr lang="en-US" altLang="zh-CN" sz="2800" dirty="0" smtClean="0">
                <a:ea typeface="黑体" panose="02010609060101010101" pitchFamily="49" charset="-122"/>
              </a:rPr>
              <a:t>2004</a:t>
            </a:r>
            <a:r>
              <a:rPr lang="zh-CN" altLang="zh-CN" sz="2800" dirty="0" smtClean="0">
                <a:ea typeface="黑体" panose="02010609060101010101" pitchFamily="49" charset="-122"/>
              </a:rPr>
              <a:t>年</a:t>
            </a:r>
            <a:r>
              <a:rPr lang="en-US" altLang="zh-CN" sz="2800" dirty="0" smtClean="0">
                <a:ea typeface="黑体" panose="02010609060101010101" pitchFamily="49" charset="-122"/>
              </a:rPr>
              <a:t>2</a:t>
            </a:r>
            <a:r>
              <a:rPr lang="zh-CN" altLang="zh-CN" sz="2800" dirty="0" smtClean="0">
                <a:ea typeface="黑体" panose="02010609060101010101" pitchFamily="49" charset="-122"/>
              </a:rPr>
              <a:t>月，我国的第一个下一代互联网</a:t>
            </a:r>
            <a:r>
              <a:rPr lang="en-US" altLang="zh-CN" sz="2800" dirty="0" smtClean="0">
                <a:ea typeface="黑体" panose="02010609060101010101" pitchFamily="49" charset="-122"/>
              </a:rPr>
              <a:t> CNGI </a:t>
            </a:r>
            <a:r>
              <a:rPr lang="zh-CN" altLang="zh-CN" sz="2800" dirty="0" smtClean="0">
                <a:ea typeface="黑体" panose="02010609060101010101" pitchFamily="49" charset="-122"/>
              </a:rPr>
              <a:t>的主干网</a:t>
            </a:r>
            <a:r>
              <a:rPr lang="en-US" altLang="zh-CN" sz="2800" dirty="0" smtClean="0">
                <a:ea typeface="黑体" panose="02010609060101010101" pitchFamily="49" charset="-122"/>
              </a:rPr>
              <a:t> CERNET2 </a:t>
            </a:r>
            <a:r>
              <a:rPr lang="zh-CN" altLang="zh-CN" sz="2800" dirty="0" smtClean="0">
                <a:ea typeface="黑体" panose="02010609060101010101" pitchFamily="49" charset="-122"/>
              </a:rPr>
              <a:t>试验网正式开通，并提供服务。</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中国互联网络信息中心 </a:t>
            </a:r>
            <a:r>
              <a:rPr lang="en-US" altLang="zh-CN" sz="2800" dirty="0" smtClean="0">
                <a:ea typeface="黑体" panose="02010609060101010101" pitchFamily="49" charset="-122"/>
              </a:rPr>
              <a:t>CNNIC (Network Information Center of China) </a:t>
            </a:r>
            <a:r>
              <a:rPr lang="zh-CN" altLang="en-US" sz="2800" dirty="0" smtClean="0">
                <a:solidFill>
                  <a:srgbClr val="000099"/>
                </a:solidFill>
                <a:ea typeface="黑体" panose="02010609060101010101" pitchFamily="49" charset="-122"/>
              </a:rPr>
              <a:t>每年两次</a:t>
            </a:r>
            <a:r>
              <a:rPr lang="zh-CN" altLang="en-US" sz="2800" dirty="0" smtClean="0">
                <a:ea typeface="黑体" panose="02010609060101010101" pitchFamily="49" charset="-122"/>
              </a:rPr>
              <a:t>公布我国互联网的发展情况。</a:t>
            </a:r>
          </a:p>
        </p:txBody>
      </p:sp>
    </p:spTree>
    <p:extLst>
      <p:ext uri="{BB962C8B-B14F-4D97-AF65-F5344CB8AC3E}">
        <p14:creationId xmlns:p14="http://schemas.microsoft.com/office/powerpoint/2010/main" val="21580808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1.5  </a:t>
            </a:r>
            <a:r>
              <a:rPr lang="zh-CN" altLang="zh-CN" smtClean="0">
                <a:ea typeface="黑体" panose="02010609060101010101" pitchFamily="49" charset="-122"/>
              </a:rPr>
              <a:t>计算机网络的类别</a:t>
            </a:r>
            <a:endParaRPr lang="zh-CN" altLang="en-US" smtClean="0">
              <a:ea typeface="黑体" panose="02010609060101010101" pitchFamily="49" charset="-122"/>
            </a:endParaRPr>
          </a:p>
        </p:txBody>
      </p:sp>
      <p:sp>
        <p:nvSpPr>
          <p:cNvPr id="106498"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1.5.1  </a:t>
            </a:r>
            <a:r>
              <a:rPr lang="zh-CN" altLang="zh-CN" smtClean="0">
                <a:ea typeface="黑体" panose="02010609060101010101" pitchFamily="49" charset="-122"/>
              </a:rPr>
              <a:t>计算机网络的定义</a:t>
            </a:r>
          </a:p>
          <a:p>
            <a:r>
              <a:rPr lang="en-US" altLang="zh-CN" smtClean="0">
                <a:ea typeface="黑体" panose="02010609060101010101" pitchFamily="49" charset="-122"/>
              </a:rPr>
              <a:t>1.5.2  </a:t>
            </a:r>
            <a:r>
              <a:rPr lang="zh-CN" altLang="zh-CN" smtClean="0">
                <a:ea typeface="黑体" panose="02010609060101010101" pitchFamily="49" charset="-122"/>
              </a:rPr>
              <a:t>几种不同类别的网络</a:t>
            </a:r>
          </a:p>
          <a:p>
            <a:endParaRPr lang="en-US" altLang="zh-CN" smtClean="0">
              <a:ea typeface="黑体" panose="02010609060101010101" pitchFamily="49" charset="-122"/>
            </a:endParaRPr>
          </a:p>
        </p:txBody>
      </p:sp>
      <p:sp>
        <p:nvSpPr>
          <p:cNvPr id="10649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2E11A6-AC2F-4AC1-862C-88A9C8BF5FC4}" type="slidenum">
              <a:rPr lang="zh-CN" altLang="en-US" smtClean="0"/>
              <a:pPr eaLnBrk="1" hangingPunct="1"/>
              <a:t>5</a:t>
            </a:fld>
            <a:endParaRPr lang="en-US" altLang="zh-CN" smtClean="0"/>
          </a:p>
        </p:txBody>
      </p:sp>
      <p:sp>
        <p:nvSpPr>
          <p:cNvPr id="10650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1.5.1  </a:t>
            </a:r>
            <a:r>
              <a:rPr lang="zh-CN" altLang="zh-CN" smtClean="0">
                <a:ea typeface="黑体" panose="02010609060101010101" pitchFamily="49" charset="-122"/>
              </a:rPr>
              <a:t>计算机网络的定义</a:t>
            </a:r>
            <a:endParaRPr lang="zh-CN" altLang="en-US" smtClean="0">
              <a:ea typeface="黑体" panose="02010609060101010101" pitchFamily="49" charset="-122"/>
            </a:endParaRPr>
          </a:p>
        </p:txBody>
      </p:sp>
      <p:sp>
        <p:nvSpPr>
          <p:cNvPr id="107522"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计算机网络的精确定义并未统一。</a:t>
            </a:r>
            <a:endParaRPr lang="en-US" altLang="zh-CN" dirty="0" smtClean="0">
              <a:solidFill>
                <a:srgbClr val="333399"/>
              </a:solidFill>
              <a:ea typeface="黑体" panose="02010609060101010101" pitchFamily="49" charset="-122"/>
            </a:endParaRPr>
          </a:p>
          <a:p>
            <a:r>
              <a:rPr lang="zh-CN" altLang="zh-CN" dirty="0" smtClean="0">
                <a:ea typeface="黑体" panose="02010609060101010101" pitchFamily="49" charset="-122"/>
              </a:rPr>
              <a:t>较好的定义</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457200" lvl="1" indent="0">
              <a:buFont typeface="Wingdings" panose="05000000000000000000" pitchFamily="2" charset="2"/>
              <a:buNone/>
            </a:pPr>
            <a:r>
              <a:rPr lang="zh-CN" altLang="zh-CN" sz="3200" dirty="0" smtClean="0">
                <a:solidFill>
                  <a:srgbClr val="C00000"/>
                </a:solidFill>
                <a:ea typeface="黑体" panose="02010609060101010101" pitchFamily="49" charset="-122"/>
              </a:rPr>
              <a:t>计算机网络</a:t>
            </a:r>
            <a:r>
              <a:rPr lang="zh-CN" altLang="zh-CN" sz="3200" dirty="0" smtClean="0">
                <a:solidFill>
                  <a:srgbClr val="0000CC"/>
                </a:solidFill>
                <a:ea typeface="黑体" panose="02010609060101010101" pitchFamily="49" charset="-122"/>
              </a:rPr>
              <a:t>主要是由一些通用的、可编程的硬件互连而成的，而这些硬件并非专门用来实现某一特定目的（例如，传送数据或视频信号）。这些可编程的硬件能够用来传送多种不同类型的数据，并能支持广泛的和日益增长的应用。</a:t>
            </a:r>
            <a:endParaRPr lang="en-US" altLang="zh-CN" sz="3200" dirty="0" smtClean="0">
              <a:solidFill>
                <a:srgbClr val="0000CC"/>
              </a:solidFill>
              <a:ea typeface="黑体" panose="02010609060101010101" pitchFamily="49" charset="-122"/>
            </a:endParaRPr>
          </a:p>
        </p:txBody>
      </p:sp>
      <p:sp>
        <p:nvSpPr>
          <p:cNvPr id="1075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291F21-9420-415E-A871-8D38538ECD84}" type="slidenum">
              <a:rPr lang="zh-CN" altLang="en-US" smtClean="0"/>
              <a:pPr eaLnBrk="1" hangingPunct="1"/>
              <a:t>6</a:t>
            </a:fld>
            <a:endParaRPr lang="en-US" altLang="zh-CN" smtClean="0"/>
          </a:p>
        </p:txBody>
      </p:sp>
      <p:sp>
        <p:nvSpPr>
          <p:cNvPr id="1075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1.5.1  </a:t>
            </a:r>
            <a:r>
              <a:rPr lang="zh-CN" altLang="zh-CN" smtClean="0">
                <a:ea typeface="黑体" panose="02010609060101010101" pitchFamily="49" charset="-122"/>
              </a:rPr>
              <a:t>计算机网络的定义</a:t>
            </a:r>
            <a:endParaRPr lang="zh-CN" altLang="en-US" smtClean="0">
              <a:ea typeface="黑体" panose="02010609060101010101" pitchFamily="49" charset="-122"/>
            </a:endParaRPr>
          </a:p>
        </p:txBody>
      </p:sp>
      <p:sp>
        <p:nvSpPr>
          <p:cNvPr id="10957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根据这个定义：</a:t>
            </a:r>
            <a:endParaRPr lang="en-US" altLang="zh-CN" smtClean="0">
              <a:ea typeface="黑体" panose="02010609060101010101" pitchFamily="49" charset="-122"/>
            </a:endParaRPr>
          </a:p>
          <a:p>
            <a:pPr lvl="1"/>
            <a:r>
              <a:rPr lang="en-US" altLang="zh-CN" smtClean="0">
                <a:ea typeface="黑体" panose="02010609060101010101" pitchFamily="49" charset="-122"/>
              </a:rPr>
              <a:t>(1) </a:t>
            </a:r>
            <a:r>
              <a:rPr lang="zh-CN" altLang="zh-CN" smtClean="0">
                <a:ea typeface="黑体" panose="02010609060101010101" pitchFamily="49" charset="-122"/>
              </a:rPr>
              <a:t>计算机网络所连接的硬件，并不限于一般的计算机，而是包括了智能手机。</a:t>
            </a:r>
            <a:endParaRPr lang="en-US" altLang="zh-CN" smtClean="0">
              <a:ea typeface="黑体" panose="02010609060101010101" pitchFamily="49" charset="-122"/>
            </a:endParaRPr>
          </a:p>
          <a:p>
            <a:pPr lvl="1"/>
            <a:r>
              <a:rPr lang="en-US" altLang="zh-CN" smtClean="0">
                <a:ea typeface="黑体" panose="02010609060101010101" pitchFamily="49" charset="-122"/>
              </a:rPr>
              <a:t>(2) </a:t>
            </a:r>
            <a:r>
              <a:rPr lang="zh-CN" altLang="zh-CN" smtClean="0">
                <a:ea typeface="黑体" panose="02010609060101010101" pitchFamily="49" charset="-122"/>
              </a:rPr>
              <a:t>计算机网络并非专门用来传送数据，而是能够支持很多种的应用（包括今后可能出现的各种应用）。</a:t>
            </a:r>
          </a:p>
        </p:txBody>
      </p:sp>
      <p:sp>
        <p:nvSpPr>
          <p:cNvPr id="109571" name="矩形 1"/>
          <p:cNvSpPr>
            <a:spLocks noChangeArrowheads="1"/>
          </p:cNvSpPr>
          <p:nvPr/>
        </p:nvSpPr>
        <p:spPr bwMode="auto">
          <a:xfrm>
            <a:off x="1712913" y="4184650"/>
            <a:ext cx="6696075" cy="1039813"/>
          </a:xfrm>
          <a:prstGeom prst="rect">
            <a:avLst/>
          </a:prstGeom>
          <a:solidFill>
            <a:srgbClr val="FFFF66"/>
          </a:solidFill>
          <a:ln w="9525">
            <a:solidFill>
              <a:schemeClr val="tx1"/>
            </a:solidFill>
            <a:round/>
            <a:headEnd/>
            <a:tailEnd/>
          </a:ln>
        </p:spPr>
        <p:txBody>
          <a:bodyPr>
            <a:spAutoFit/>
          </a:bodyPr>
          <a:lstStyle/>
          <a:p>
            <a:pPr eaLnBrk="0" hangingPunct="0">
              <a:lnSpc>
                <a:spcPct val="110000"/>
              </a:lnSpc>
            </a:pPr>
            <a:r>
              <a:rPr lang="zh-CN" altLang="zh-CN" sz="2800" b="1">
                <a:ea typeface="黑体" panose="02010609060101010101" pitchFamily="49" charset="-122"/>
              </a:rPr>
              <a:t>请注意，上述的“可编程的硬件”表明这种硬件一定包含有中央处理机</a:t>
            </a:r>
            <a:r>
              <a:rPr lang="en-US" altLang="zh-CN" sz="2800" b="1">
                <a:ea typeface="黑体" panose="02010609060101010101" pitchFamily="49" charset="-122"/>
              </a:rPr>
              <a:t> (CPU)</a:t>
            </a:r>
            <a:r>
              <a:rPr lang="zh-CN" altLang="zh-CN" sz="2800" b="1">
                <a:ea typeface="黑体" panose="02010609060101010101" pitchFamily="49" charset="-122"/>
              </a:rPr>
              <a:t>。</a:t>
            </a:r>
            <a:endParaRPr lang="en-US" altLang="zh-CN" sz="2800" b="1">
              <a:solidFill>
                <a:srgbClr val="333399"/>
              </a:solidFill>
              <a:ea typeface="黑体" panose="02010609060101010101" pitchFamily="49" charset="-122"/>
            </a:endParaRPr>
          </a:p>
        </p:txBody>
      </p:sp>
      <p:sp>
        <p:nvSpPr>
          <p:cNvPr id="10957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08C17A-74FA-41B5-8728-426251FD93B6}" type="slidenum">
              <a:rPr lang="zh-CN" altLang="en-US" smtClean="0"/>
              <a:pPr eaLnBrk="1" hangingPunct="1"/>
              <a:t>7</a:t>
            </a:fld>
            <a:endParaRPr lang="en-US" altLang="zh-CN" smtClean="0"/>
          </a:p>
        </p:txBody>
      </p:sp>
      <p:sp>
        <p:nvSpPr>
          <p:cNvPr id="10957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1.5.2  </a:t>
            </a:r>
            <a:r>
              <a:rPr lang="zh-CN" altLang="en-US" smtClean="0">
                <a:ea typeface="黑体" panose="02010609060101010101" pitchFamily="49" charset="-122"/>
              </a:rPr>
              <a:t>几种不同类别的网络</a:t>
            </a:r>
          </a:p>
        </p:txBody>
      </p:sp>
      <p:sp>
        <p:nvSpPr>
          <p:cNvPr id="111618"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计算机网络有多种类别</a:t>
            </a:r>
            <a:r>
              <a:rPr lang="zh-CN" altLang="en-US" smtClean="0">
                <a:ea typeface="黑体" panose="02010609060101010101" pitchFamily="49" charset="-122"/>
              </a:rPr>
              <a:t>。典型包括：</a:t>
            </a:r>
            <a:endParaRPr lang="en-US" altLang="zh-CN" smtClean="0">
              <a:ea typeface="黑体" panose="02010609060101010101" pitchFamily="49" charset="-122"/>
            </a:endParaRPr>
          </a:p>
          <a:p>
            <a:pPr lvl="1"/>
            <a:r>
              <a:rPr lang="en-US" altLang="zh-CN" smtClean="0">
                <a:ea typeface="黑体" panose="02010609060101010101" pitchFamily="49" charset="-122"/>
              </a:rPr>
              <a:t>1. </a:t>
            </a:r>
            <a:r>
              <a:rPr lang="zh-CN" altLang="en-US" smtClean="0">
                <a:ea typeface="黑体" panose="02010609060101010101" pitchFamily="49" charset="-122"/>
              </a:rPr>
              <a:t>从网络的作用范围进行分类</a:t>
            </a:r>
            <a:endParaRPr lang="en-US" altLang="zh-CN" smtClean="0">
              <a:ea typeface="黑体" panose="02010609060101010101" pitchFamily="49" charset="-122"/>
            </a:endParaRPr>
          </a:p>
          <a:p>
            <a:pPr lvl="1"/>
            <a:r>
              <a:rPr lang="en-US" altLang="zh-CN" smtClean="0">
                <a:ea typeface="黑体" panose="02010609060101010101" pitchFamily="49" charset="-122"/>
              </a:rPr>
              <a:t>2. </a:t>
            </a:r>
            <a:r>
              <a:rPr lang="zh-CN" altLang="zh-CN" smtClean="0">
                <a:ea typeface="黑体" panose="02010609060101010101" pitchFamily="49" charset="-122"/>
              </a:rPr>
              <a:t>从网络的使用者进行分类</a:t>
            </a:r>
          </a:p>
          <a:p>
            <a:pPr lvl="1"/>
            <a:r>
              <a:rPr lang="en-US" altLang="zh-CN" smtClean="0">
                <a:ea typeface="黑体" panose="02010609060101010101" pitchFamily="49" charset="-122"/>
              </a:rPr>
              <a:t>3. </a:t>
            </a:r>
            <a:r>
              <a:rPr lang="zh-CN" altLang="zh-CN" smtClean="0">
                <a:ea typeface="黑体" panose="02010609060101010101" pitchFamily="49" charset="-122"/>
              </a:rPr>
              <a:t>用来把用户接入到互联网的网络</a:t>
            </a:r>
          </a:p>
        </p:txBody>
      </p:sp>
      <p:sp>
        <p:nvSpPr>
          <p:cNvPr id="1116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06857F-C042-481B-8D1D-4B81E7C7D7A6}" type="slidenum">
              <a:rPr lang="zh-CN" altLang="en-US" smtClean="0"/>
              <a:pPr eaLnBrk="1" hangingPunct="1"/>
              <a:t>8</a:t>
            </a:fld>
            <a:endParaRPr lang="en-US" altLang="zh-CN" smtClean="0"/>
          </a:p>
        </p:txBody>
      </p:sp>
      <p:sp>
        <p:nvSpPr>
          <p:cNvPr id="1116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从网络的作用范围进行分类</a:t>
            </a:r>
          </a:p>
        </p:txBody>
      </p:sp>
      <p:sp>
        <p:nvSpPr>
          <p:cNvPr id="113666" name="Rectangle 3"/>
          <p:cNvSpPr>
            <a:spLocks noGrp="1" noChangeArrowheads="1"/>
          </p:cNvSpPr>
          <p:nvPr>
            <p:ph idx="1"/>
          </p:nvPr>
        </p:nvSpPr>
        <p:spPr>
          <a:xfrm>
            <a:off x="495300" y="1196975"/>
            <a:ext cx="9066213" cy="4933950"/>
          </a:xfrm>
        </p:spPr>
        <p:txBody>
          <a:bodyPr/>
          <a:lstStyle/>
          <a:p>
            <a:pPr>
              <a:lnSpc>
                <a:spcPct val="100000"/>
              </a:lnSpc>
              <a:spcBef>
                <a:spcPts val="1200"/>
              </a:spcBef>
            </a:pPr>
            <a:r>
              <a:rPr lang="zh-CN" altLang="en-US" sz="2800" u="sng" dirty="0" smtClean="0">
                <a:solidFill>
                  <a:srgbClr val="FF0000"/>
                </a:solidFill>
                <a:ea typeface="黑体" panose="02010609060101010101" pitchFamily="49" charset="-122"/>
              </a:rPr>
              <a:t>广域网 </a:t>
            </a:r>
            <a:r>
              <a:rPr lang="en-US" altLang="zh-CN" sz="2800" u="sng" dirty="0" smtClean="0">
                <a:solidFill>
                  <a:srgbClr val="FF0000"/>
                </a:solidFill>
                <a:ea typeface="黑体" panose="02010609060101010101" pitchFamily="49" charset="-122"/>
              </a:rPr>
              <a:t>WAN </a:t>
            </a:r>
            <a:r>
              <a:rPr lang="en-US" altLang="zh-CN" sz="2800" u="sng" dirty="0" smtClean="0">
                <a:ea typeface="黑体" panose="02010609060101010101" pitchFamily="49" charset="-122"/>
              </a:rPr>
              <a:t>(Wide Area Network)</a:t>
            </a:r>
            <a:r>
              <a:rPr lang="zh-CN" altLang="en-US" sz="2800" dirty="0" smtClean="0">
                <a:ea typeface="黑体" panose="02010609060101010101" pitchFamily="49" charset="-122"/>
              </a:rPr>
              <a:t>：</a:t>
            </a:r>
            <a:r>
              <a:rPr lang="zh-CN" altLang="zh-CN" sz="2800" dirty="0" smtClean="0">
                <a:ea typeface="黑体" panose="02010609060101010101" pitchFamily="49" charset="-122"/>
              </a:rPr>
              <a:t>作用范围通常为几十到几千公里</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pPr>
              <a:lnSpc>
                <a:spcPct val="100000"/>
              </a:lnSpc>
              <a:spcBef>
                <a:spcPts val="1200"/>
              </a:spcBef>
            </a:pPr>
            <a:r>
              <a:rPr lang="zh-CN" altLang="en-US" sz="2800" u="sng" dirty="0" smtClean="0">
                <a:solidFill>
                  <a:srgbClr val="FF0000"/>
                </a:solidFill>
                <a:ea typeface="黑体" panose="02010609060101010101" pitchFamily="49" charset="-122"/>
              </a:rPr>
              <a:t>城域网 </a:t>
            </a:r>
            <a:r>
              <a:rPr lang="en-US" altLang="zh-CN" sz="2800" u="sng" dirty="0" smtClean="0">
                <a:solidFill>
                  <a:srgbClr val="FF0000"/>
                </a:solidFill>
                <a:ea typeface="黑体" panose="02010609060101010101" pitchFamily="49" charset="-122"/>
              </a:rPr>
              <a:t>MAN </a:t>
            </a:r>
            <a:r>
              <a:rPr lang="en-US" altLang="zh-CN" sz="2800" u="sng" dirty="0">
                <a:ea typeface="黑体" panose="02010609060101010101" pitchFamily="49" charset="-122"/>
              </a:rPr>
              <a:t>(Metropolitan Area Network)</a:t>
            </a:r>
            <a:r>
              <a:rPr lang="zh-CN" altLang="en-US" sz="2800" u="sng" dirty="0" smtClean="0">
                <a:solidFill>
                  <a:srgbClr val="FF0000"/>
                </a:solidFill>
                <a:ea typeface="黑体" panose="02010609060101010101" pitchFamily="49" charset="-122"/>
              </a:rPr>
              <a:t> </a:t>
            </a:r>
            <a:r>
              <a:rPr lang="zh-CN" altLang="en-US" sz="2800" dirty="0" smtClean="0">
                <a:ea typeface="黑体" panose="02010609060101010101" pitchFamily="49" charset="-122"/>
              </a:rPr>
              <a:t>：</a:t>
            </a:r>
            <a:r>
              <a:rPr lang="zh-CN" altLang="zh-CN" sz="2800" dirty="0" smtClean="0">
                <a:ea typeface="黑体" panose="02010609060101010101" pitchFamily="49" charset="-122"/>
              </a:rPr>
              <a:t>作用距离约为</a:t>
            </a:r>
            <a:r>
              <a:rPr lang="en-US" altLang="zh-CN" sz="2800" dirty="0" smtClean="0">
                <a:ea typeface="黑体" panose="02010609060101010101" pitchFamily="49" charset="-122"/>
              </a:rPr>
              <a:t>5 ~ 50 </a:t>
            </a:r>
            <a:r>
              <a:rPr lang="zh-CN" altLang="en-US" sz="2800" dirty="0" smtClean="0">
                <a:ea typeface="黑体" panose="02010609060101010101" pitchFamily="49" charset="-122"/>
              </a:rPr>
              <a:t>公里。</a:t>
            </a:r>
            <a:endParaRPr lang="en-US" altLang="zh-CN" sz="2800" dirty="0" smtClean="0">
              <a:ea typeface="黑体" panose="02010609060101010101" pitchFamily="49" charset="-122"/>
            </a:endParaRPr>
          </a:p>
          <a:p>
            <a:pPr>
              <a:lnSpc>
                <a:spcPct val="100000"/>
              </a:lnSpc>
              <a:spcBef>
                <a:spcPts val="1200"/>
              </a:spcBef>
            </a:pPr>
            <a:r>
              <a:rPr lang="zh-CN" altLang="en-US" sz="2800" u="sng" dirty="0" smtClean="0">
                <a:solidFill>
                  <a:srgbClr val="FF0000"/>
                </a:solidFill>
                <a:ea typeface="黑体" panose="02010609060101010101" pitchFamily="49" charset="-122"/>
              </a:rPr>
              <a:t>局域网 </a:t>
            </a:r>
            <a:r>
              <a:rPr lang="en-US" altLang="zh-CN" sz="2800" u="sng" dirty="0">
                <a:solidFill>
                  <a:srgbClr val="FF0000"/>
                </a:solidFill>
                <a:ea typeface="黑体" panose="02010609060101010101" pitchFamily="49" charset="-122"/>
              </a:rPr>
              <a:t>LAN </a:t>
            </a:r>
            <a:r>
              <a:rPr lang="en-US" altLang="zh-CN" sz="2800" u="sng" dirty="0">
                <a:ea typeface="黑体" panose="02010609060101010101" pitchFamily="49" charset="-122"/>
              </a:rPr>
              <a:t>(Local Area Network) </a:t>
            </a:r>
            <a:r>
              <a:rPr lang="zh-CN" altLang="en-US" sz="2800" dirty="0" smtClean="0">
                <a:ea typeface="黑体" panose="02010609060101010101" pitchFamily="49" charset="-122"/>
              </a:rPr>
              <a:t>：</a:t>
            </a:r>
            <a:r>
              <a:rPr lang="zh-CN" altLang="zh-CN" sz="2800" dirty="0" smtClean="0">
                <a:ea typeface="黑体" panose="02010609060101010101" pitchFamily="49" charset="-122"/>
              </a:rPr>
              <a:t>局限在较小的范围（如</a:t>
            </a:r>
            <a:r>
              <a:rPr lang="en-US" altLang="zh-CN" sz="2800" dirty="0" smtClean="0">
                <a:ea typeface="黑体" panose="02010609060101010101" pitchFamily="49" charset="-122"/>
              </a:rPr>
              <a:t> 1 </a:t>
            </a:r>
            <a:r>
              <a:rPr lang="zh-CN" altLang="en-US" sz="2800" dirty="0" smtClean="0">
                <a:ea typeface="黑体" panose="02010609060101010101" pitchFamily="49" charset="-122"/>
              </a:rPr>
              <a:t>公里</a:t>
            </a:r>
            <a:r>
              <a:rPr lang="zh-CN" altLang="zh-CN" sz="2800" dirty="0" smtClean="0">
                <a:ea typeface="黑体" panose="02010609060101010101" pitchFamily="49" charset="-122"/>
              </a:rPr>
              <a:t>左右）</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pPr>
              <a:lnSpc>
                <a:spcPct val="100000"/>
              </a:lnSpc>
              <a:spcBef>
                <a:spcPts val="1200"/>
              </a:spcBef>
            </a:pPr>
            <a:r>
              <a:rPr lang="zh-CN" altLang="en-US" sz="2800" u="sng" dirty="0" smtClean="0">
                <a:solidFill>
                  <a:srgbClr val="FF0000"/>
                </a:solidFill>
                <a:ea typeface="黑体" panose="02010609060101010101" pitchFamily="49" charset="-122"/>
              </a:rPr>
              <a:t>个人区域网 </a:t>
            </a:r>
            <a:r>
              <a:rPr lang="en-US" altLang="zh-CN" sz="2800" u="sng" dirty="0" smtClean="0">
                <a:solidFill>
                  <a:srgbClr val="FF0000"/>
                </a:solidFill>
                <a:ea typeface="黑体" panose="02010609060101010101" pitchFamily="49" charset="-122"/>
              </a:rPr>
              <a:t>PAN </a:t>
            </a:r>
            <a:r>
              <a:rPr lang="en-US" altLang="zh-CN" sz="2800" u="sng" dirty="0" smtClean="0">
                <a:ea typeface="黑体" panose="02010609060101010101" pitchFamily="49" charset="-122"/>
              </a:rPr>
              <a:t>(Personal Area Network)</a:t>
            </a:r>
            <a:r>
              <a:rPr lang="en-US" altLang="zh-CN" sz="2800" dirty="0" smtClean="0">
                <a:ea typeface="黑体" panose="02010609060101010101" pitchFamily="49" charset="-122"/>
              </a:rPr>
              <a:t> </a:t>
            </a:r>
            <a:r>
              <a:rPr lang="zh-CN" altLang="en-US" sz="2800" dirty="0" smtClean="0">
                <a:ea typeface="黑体" panose="02010609060101010101" pitchFamily="49" charset="-122"/>
              </a:rPr>
              <a:t>：</a:t>
            </a:r>
            <a:r>
              <a:rPr lang="zh-CN" altLang="zh-CN" sz="2800" dirty="0" smtClean="0">
                <a:ea typeface="黑体" panose="02010609060101010101" pitchFamily="49" charset="-122"/>
              </a:rPr>
              <a:t>范围很小，大约在</a:t>
            </a:r>
            <a:r>
              <a:rPr lang="en-US" altLang="zh-CN" sz="2800" dirty="0" smtClean="0">
                <a:ea typeface="黑体" panose="02010609060101010101" pitchFamily="49" charset="-122"/>
              </a:rPr>
              <a:t>10 </a:t>
            </a:r>
            <a:r>
              <a:rPr lang="zh-CN" altLang="en-US" sz="2800" dirty="0" smtClean="0">
                <a:ea typeface="黑体" panose="02010609060101010101" pitchFamily="49" charset="-122"/>
              </a:rPr>
              <a:t>米</a:t>
            </a:r>
            <a:r>
              <a:rPr lang="zh-CN" altLang="zh-CN" sz="2800" dirty="0" smtClean="0">
                <a:ea typeface="黑体" panose="02010609060101010101" pitchFamily="49" charset="-122"/>
              </a:rPr>
              <a:t>左右</a:t>
            </a:r>
            <a:endParaRPr lang="en-US" altLang="zh-CN" sz="2800" dirty="0" smtClean="0">
              <a:ea typeface="黑体" panose="02010609060101010101" pitchFamily="49" charset="-122"/>
            </a:endParaRPr>
          </a:p>
        </p:txBody>
      </p:sp>
      <p:sp>
        <p:nvSpPr>
          <p:cNvPr id="113667" name="Rectangle 1"/>
          <p:cNvSpPr>
            <a:spLocks noChangeArrowheads="1"/>
          </p:cNvSpPr>
          <p:nvPr/>
        </p:nvSpPr>
        <p:spPr bwMode="auto">
          <a:xfrm>
            <a:off x="415925" y="5187950"/>
            <a:ext cx="9345613" cy="904875"/>
          </a:xfrm>
          <a:prstGeom prst="rect">
            <a:avLst/>
          </a:prstGeom>
          <a:solidFill>
            <a:srgbClr val="FFFF66"/>
          </a:solidFill>
          <a:ln w="9525">
            <a:solidFill>
              <a:schemeClr val="tx1"/>
            </a:solidFill>
            <a:round/>
            <a:headEnd/>
            <a:tailEnd/>
          </a:ln>
        </p:spPr>
        <p:txBody>
          <a:bodyPr>
            <a:spAutoFit/>
          </a:bodyPr>
          <a:lstStyle/>
          <a:p>
            <a:pPr eaLnBrk="0" hangingPunct="0">
              <a:lnSpc>
                <a:spcPct val="110000"/>
              </a:lnSpc>
            </a:pPr>
            <a:r>
              <a:rPr lang="zh-CN" altLang="en-US" sz="2400" b="1">
                <a:solidFill>
                  <a:srgbClr val="000099"/>
                </a:solidFill>
                <a:ea typeface="黑体" panose="02010609060101010101" pitchFamily="49" charset="-122"/>
              </a:rPr>
              <a:t>若中央处理机之间的距离非常近（如仅</a:t>
            </a:r>
            <a:r>
              <a:rPr lang="en-US" altLang="zh-CN" sz="2400" b="1">
                <a:solidFill>
                  <a:srgbClr val="000099"/>
                </a:solidFill>
                <a:ea typeface="黑体" panose="02010609060101010101" pitchFamily="49" charset="-122"/>
              </a:rPr>
              <a:t>1</a:t>
            </a:r>
            <a:r>
              <a:rPr lang="zh-CN" altLang="en-US" sz="2400" b="1">
                <a:solidFill>
                  <a:srgbClr val="000099"/>
                </a:solidFill>
                <a:ea typeface="黑体" panose="02010609060101010101" pitchFamily="49" charset="-122"/>
              </a:rPr>
              <a:t>米的数量级甚至更小些），则一般就称之为</a:t>
            </a:r>
            <a:r>
              <a:rPr lang="zh-CN" altLang="en-US" sz="2400" b="1">
                <a:solidFill>
                  <a:srgbClr val="FF0000"/>
                </a:solidFill>
                <a:ea typeface="黑体" panose="02010609060101010101" pitchFamily="49" charset="-122"/>
              </a:rPr>
              <a:t>多处理机系统，</a:t>
            </a:r>
            <a:r>
              <a:rPr lang="zh-CN" altLang="en-US" sz="2400" b="1">
                <a:solidFill>
                  <a:srgbClr val="000099"/>
                </a:solidFill>
                <a:ea typeface="黑体" panose="02010609060101010101" pitchFamily="49" charset="-122"/>
              </a:rPr>
              <a:t>而不称它为计算机网络。 </a:t>
            </a:r>
          </a:p>
        </p:txBody>
      </p:sp>
      <p:sp>
        <p:nvSpPr>
          <p:cNvPr id="11366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E95BE0-C384-47D2-9D63-285DC7208EDB}" type="slidenum">
              <a:rPr lang="zh-CN" altLang="en-US" smtClean="0"/>
              <a:pPr eaLnBrk="1" hangingPunct="1"/>
              <a:t>9</a:t>
            </a:fld>
            <a:endParaRPr lang="en-US" altLang="zh-CN" smtClean="0"/>
          </a:p>
        </p:txBody>
      </p:sp>
      <p:sp>
        <p:nvSpPr>
          <p:cNvPr id="11366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从</a:t>
            </a:r>
            <a:r>
              <a:rPr lang="zh-CN" altLang="zh-CN" smtClean="0">
                <a:ea typeface="黑体" panose="02010609060101010101" pitchFamily="49" charset="-122"/>
              </a:rPr>
              <a:t>网络的使用者进行分类</a:t>
            </a:r>
            <a:endParaRPr lang="zh-CN" altLang="en-US" smtClean="0">
              <a:ea typeface="黑体" panose="02010609060101010101" pitchFamily="49" charset="-122"/>
            </a:endParaRPr>
          </a:p>
        </p:txBody>
      </p:sp>
      <p:sp>
        <p:nvSpPr>
          <p:cNvPr id="11571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公用网</a:t>
            </a:r>
            <a:r>
              <a:rPr lang="zh-CN" altLang="en-US" smtClean="0">
                <a:ea typeface="黑体" panose="02010609060101010101" pitchFamily="49" charset="-122"/>
              </a:rPr>
              <a:t> </a:t>
            </a:r>
            <a:r>
              <a:rPr lang="en-US" altLang="zh-CN" smtClean="0">
                <a:ea typeface="黑体" panose="02010609060101010101" pitchFamily="49" charset="-122"/>
              </a:rPr>
              <a:t>(public network) </a:t>
            </a:r>
          </a:p>
          <a:p>
            <a:pPr lvl="1"/>
            <a:r>
              <a:rPr lang="zh-CN" altLang="en-US" smtClean="0">
                <a:ea typeface="黑体" panose="02010609060101010101" pitchFamily="49" charset="-122"/>
              </a:rPr>
              <a:t>按</a:t>
            </a:r>
            <a:r>
              <a:rPr lang="zh-CN" altLang="zh-CN" smtClean="0">
                <a:ea typeface="黑体" panose="02010609060101010101" pitchFamily="49" charset="-122"/>
              </a:rPr>
              <a:t>规定交纳费用的人都可以</a:t>
            </a:r>
            <a:r>
              <a:rPr lang="zh-CN" altLang="en-US" smtClean="0">
                <a:ea typeface="黑体" panose="02010609060101010101" pitchFamily="49" charset="-122"/>
              </a:rPr>
              <a:t>使用的</a:t>
            </a:r>
            <a:r>
              <a:rPr lang="zh-CN" altLang="zh-CN" smtClean="0">
                <a:ea typeface="黑体" panose="02010609060101010101" pitchFamily="49" charset="-122"/>
              </a:rPr>
              <a:t>网络。因此也可称为公众网。</a:t>
            </a:r>
            <a:endParaRPr lang="en-US" altLang="zh-CN" smtClean="0">
              <a:ea typeface="黑体" panose="02010609060101010101" pitchFamily="49" charset="-122"/>
            </a:endParaRPr>
          </a:p>
          <a:p>
            <a:r>
              <a:rPr lang="zh-CN" altLang="en-US" smtClean="0">
                <a:solidFill>
                  <a:srgbClr val="FF0000"/>
                </a:solidFill>
                <a:ea typeface="黑体" panose="02010609060101010101" pitchFamily="49" charset="-122"/>
              </a:rPr>
              <a:t>专用网 </a:t>
            </a:r>
            <a:r>
              <a:rPr lang="en-US" altLang="zh-CN" smtClean="0">
                <a:ea typeface="黑体" panose="02010609060101010101" pitchFamily="49" charset="-122"/>
              </a:rPr>
              <a:t>(private network) </a:t>
            </a:r>
          </a:p>
          <a:p>
            <a:pPr lvl="1"/>
            <a:r>
              <a:rPr lang="zh-CN" altLang="zh-CN" smtClean="0">
                <a:ea typeface="黑体" panose="02010609060101010101" pitchFamily="49" charset="-122"/>
              </a:rPr>
              <a:t>为特殊业务工作的需要而建造的网络</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115715" name="矩形 1"/>
          <p:cNvSpPr>
            <a:spLocks noChangeArrowheads="1"/>
          </p:cNvSpPr>
          <p:nvPr/>
        </p:nvSpPr>
        <p:spPr bwMode="auto">
          <a:xfrm>
            <a:off x="560388" y="4365625"/>
            <a:ext cx="9001125" cy="1039813"/>
          </a:xfrm>
          <a:prstGeom prst="rect">
            <a:avLst/>
          </a:prstGeom>
          <a:solidFill>
            <a:srgbClr val="FFFF66"/>
          </a:solidFill>
          <a:ln w="9525">
            <a:solidFill>
              <a:schemeClr val="tx1"/>
            </a:solidFill>
            <a:round/>
            <a:headEnd/>
            <a:tailEnd/>
          </a:ln>
        </p:spPr>
        <p:txBody>
          <a:bodyPr>
            <a:spAutoFit/>
          </a:bodyPr>
          <a:lstStyle/>
          <a:p>
            <a:pPr eaLnBrk="0" hangingPunct="0">
              <a:lnSpc>
                <a:spcPct val="110000"/>
              </a:lnSpc>
            </a:pPr>
            <a:r>
              <a:rPr lang="zh-CN" altLang="zh-CN" sz="2800" b="1">
                <a:solidFill>
                  <a:srgbClr val="000099"/>
                </a:solidFill>
                <a:ea typeface="黑体" panose="02010609060101010101" pitchFamily="49" charset="-122"/>
              </a:rPr>
              <a:t>公用网和专用网都可以传送多种业务。如传送的是计算机数据，则分别是公用计算机网络和专用计算机网络。</a:t>
            </a:r>
            <a:endParaRPr lang="zh-CN" altLang="en-US" sz="2800" b="1">
              <a:solidFill>
                <a:srgbClr val="000099"/>
              </a:solidFill>
              <a:ea typeface="黑体" panose="02010609060101010101" pitchFamily="49" charset="-122"/>
            </a:endParaRPr>
          </a:p>
        </p:txBody>
      </p:sp>
      <p:sp>
        <p:nvSpPr>
          <p:cNvPr id="11571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12D2B2-E389-4BF6-BC4C-46F7BEDC59DC}" type="slidenum">
              <a:rPr lang="zh-CN" altLang="en-US" smtClean="0"/>
              <a:pPr eaLnBrk="1" hangingPunct="1"/>
              <a:t>10</a:t>
            </a:fld>
            <a:endParaRPr lang="en-US" altLang="zh-CN" smtClean="0"/>
          </a:p>
        </p:txBody>
      </p:sp>
      <p:sp>
        <p:nvSpPr>
          <p:cNvPr id="11571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3. </a:t>
            </a:r>
            <a:r>
              <a:rPr lang="zh-CN" altLang="zh-CN" sz="4000" smtClean="0">
                <a:ea typeface="黑体" panose="02010609060101010101" pitchFamily="49" charset="-122"/>
              </a:rPr>
              <a:t>用来把用户接入到互联网的</a:t>
            </a:r>
            <a:r>
              <a:rPr lang="zh-CN" altLang="en-US" sz="4000" smtClean="0">
                <a:ea typeface="黑体" panose="02010609060101010101" pitchFamily="49" charset="-122"/>
              </a:rPr>
              <a:t>网络</a:t>
            </a:r>
          </a:p>
        </p:txBody>
      </p:sp>
      <p:sp>
        <p:nvSpPr>
          <p:cNvPr id="117762" name="Rectangle 3"/>
          <p:cNvSpPr>
            <a:spLocks noGrp="1" noChangeArrowheads="1"/>
          </p:cNvSpPr>
          <p:nvPr>
            <p:ph idx="1"/>
          </p:nvPr>
        </p:nvSpPr>
        <p:spPr>
          <a:xfrm>
            <a:off x="495300" y="1196975"/>
            <a:ext cx="9066213" cy="4933950"/>
          </a:xfrm>
        </p:spPr>
        <p:txBody>
          <a:bodyPr/>
          <a:lstStyle/>
          <a:p>
            <a:r>
              <a:rPr lang="zh-CN" altLang="en-US" sz="2800" u="sng" dirty="0" smtClean="0">
                <a:solidFill>
                  <a:srgbClr val="FF0000"/>
                </a:solidFill>
                <a:ea typeface="黑体" panose="02010609060101010101" pitchFamily="49" charset="-122"/>
              </a:rPr>
              <a:t>接入网 </a:t>
            </a:r>
            <a:r>
              <a:rPr lang="en-US" altLang="zh-CN" sz="2800" u="sng" dirty="0" smtClean="0">
                <a:solidFill>
                  <a:srgbClr val="FF0000"/>
                </a:solidFill>
                <a:ea typeface="黑体" panose="02010609060101010101" pitchFamily="49" charset="-122"/>
              </a:rPr>
              <a:t>AN </a:t>
            </a:r>
            <a:r>
              <a:rPr lang="en-US" altLang="zh-CN" sz="2800" u="sng" dirty="0" smtClean="0">
                <a:ea typeface="黑体" panose="02010609060101010101" pitchFamily="49" charset="-122"/>
              </a:rPr>
              <a:t>(Access Network)</a:t>
            </a:r>
            <a:r>
              <a:rPr lang="zh-CN" altLang="en-US" sz="2800" dirty="0" smtClean="0">
                <a:ea typeface="黑体" panose="02010609060101010101" pitchFamily="49" charset="-122"/>
              </a:rPr>
              <a:t>，它又称为本地接入网或居民接入网。</a:t>
            </a:r>
          </a:p>
          <a:p>
            <a:r>
              <a:rPr lang="zh-CN" altLang="zh-CN" sz="2800" dirty="0" smtClean="0">
                <a:ea typeface="黑体" panose="02010609060101010101" pitchFamily="49" charset="-122"/>
              </a:rPr>
              <a:t>接入网</a:t>
            </a:r>
            <a:r>
              <a:rPr lang="zh-CN" altLang="en-US" sz="2800" dirty="0" smtClean="0">
                <a:ea typeface="黑体" panose="02010609060101010101" pitchFamily="49" charset="-122"/>
              </a:rPr>
              <a:t>是</a:t>
            </a:r>
            <a:r>
              <a:rPr lang="zh-CN" altLang="zh-CN" sz="2800" dirty="0" smtClean="0">
                <a:ea typeface="黑体" panose="02010609060101010101" pitchFamily="49" charset="-122"/>
              </a:rPr>
              <a:t>一类比较特殊的计算机网络</a:t>
            </a:r>
            <a:r>
              <a:rPr lang="zh-CN" altLang="en-US" sz="2800" dirty="0" smtClean="0">
                <a:ea typeface="黑体" panose="02010609060101010101" pitchFamily="49" charset="-122"/>
              </a:rPr>
              <a:t>，用于将用户接入互联网。</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接入网本身既不属于互联网的核心部分，也不属于互联网的边缘部分。</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接入网是从某个端系统到另一个端系统的路径中，由这个端系统到第一个路由器（也称为边缘路由器）之间的一些物理链路所组成</a:t>
            </a:r>
            <a:r>
              <a:rPr lang="zh-CN" altLang="en-US" sz="2800" dirty="0" smtClean="0">
                <a:ea typeface="黑体" panose="02010609060101010101" pitchFamily="49" charset="-122"/>
              </a:rPr>
              <a:t>的。</a:t>
            </a:r>
            <a:endParaRPr lang="en-US" altLang="zh-CN" sz="2800" dirty="0" smtClean="0">
              <a:ea typeface="黑体" panose="02010609060101010101" pitchFamily="49" charset="-122"/>
            </a:endParaRPr>
          </a:p>
        </p:txBody>
      </p:sp>
      <p:sp>
        <p:nvSpPr>
          <p:cNvPr id="117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B43039-7B88-41EA-B9EC-054B775DB013}" type="slidenum">
              <a:rPr lang="zh-CN" altLang="en-US" smtClean="0"/>
              <a:pPr eaLnBrk="1" hangingPunct="1"/>
              <a:t>11</a:t>
            </a:fld>
            <a:endParaRPr lang="en-US" altLang="zh-CN" smtClean="0"/>
          </a:p>
        </p:txBody>
      </p:sp>
      <p:sp>
        <p:nvSpPr>
          <p:cNvPr id="117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3. </a:t>
            </a:r>
            <a:r>
              <a:rPr lang="zh-CN" altLang="zh-CN" sz="4000" smtClean="0">
                <a:ea typeface="黑体" panose="02010609060101010101" pitchFamily="49" charset="-122"/>
              </a:rPr>
              <a:t>用来把用户接入到互联网的</a:t>
            </a:r>
            <a:r>
              <a:rPr lang="zh-CN" altLang="en-US" sz="4000" smtClean="0">
                <a:ea typeface="黑体" panose="02010609060101010101" pitchFamily="49" charset="-122"/>
              </a:rPr>
              <a:t>网络</a:t>
            </a:r>
          </a:p>
        </p:txBody>
      </p:sp>
      <p:sp>
        <p:nvSpPr>
          <p:cNvPr id="11981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从覆盖的范围看，很多接入网还是属于局域网。</a:t>
            </a:r>
            <a:endParaRPr lang="en-US" altLang="zh-CN" smtClean="0">
              <a:ea typeface="黑体" panose="02010609060101010101" pitchFamily="49" charset="-122"/>
            </a:endParaRPr>
          </a:p>
          <a:p>
            <a:r>
              <a:rPr lang="zh-CN" altLang="zh-CN" smtClean="0">
                <a:ea typeface="黑体" panose="02010609060101010101" pitchFamily="49" charset="-122"/>
              </a:rPr>
              <a:t>从作用上看，接入网只是起到让用户能够与互联网连接的“桥梁”作用。</a:t>
            </a:r>
            <a:endParaRPr lang="zh-CN" altLang="en-US" smtClean="0">
              <a:ea typeface="黑体" panose="02010609060101010101" pitchFamily="49" charset="-122"/>
            </a:endParaRPr>
          </a:p>
        </p:txBody>
      </p:sp>
      <p:sp>
        <p:nvSpPr>
          <p:cNvPr id="119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DDD106-F49B-4E3C-B969-133BF036E4FD}" type="slidenum">
              <a:rPr lang="zh-CN" altLang="en-US" smtClean="0"/>
              <a:pPr eaLnBrk="1" hangingPunct="1"/>
              <a:t>12</a:t>
            </a:fld>
            <a:endParaRPr lang="en-US" altLang="zh-CN" smtClean="0"/>
          </a:p>
        </p:txBody>
      </p:sp>
      <p:sp>
        <p:nvSpPr>
          <p:cNvPr id="119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1.6  </a:t>
            </a:r>
            <a:r>
              <a:rPr lang="zh-CN" altLang="zh-CN" smtClean="0">
                <a:ea typeface="黑体" panose="02010609060101010101" pitchFamily="49" charset="-122"/>
              </a:rPr>
              <a:t>计算机网络的性能</a:t>
            </a:r>
            <a:endParaRPr lang="zh-CN" altLang="en-US" smtClean="0">
              <a:ea typeface="黑体" panose="02010609060101010101" pitchFamily="49" charset="-122"/>
            </a:endParaRPr>
          </a:p>
        </p:txBody>
      </p:sp>
      <p:sp>
        <p:nvSpPr>
          <p:cNvPr id="121858"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1.6.1  </a:t>
            </a:r>
            <a:r>
              <a:rPr lang="zh-CN" altLang="zh-CN" smtClean="0">
                <a:ea typeface="黑体" panose="02010609060101010101" pitchFamily="49" charset="-122"/>
              </a:rPr>
              <a:t>计算机网络的性能指标</a:t>
            </a:r>
          </a:p>
          <a:p>
            <a:r>
              <a:rPr lang="en-US" altLang="zh-CN" smtClean="0">
                <a:ea typeface="黑体" panose="02010609060101010101" pitchFamily="49" charset="-122"/>
              </a:rPr>
              <a:t>1.6.2  </a:t>
            </a:r>
            <a:r>
              <a:rPr lang="zh-CN" altLang="zh-CN" smtClean="0">
                <a:ea typeface="黑体" panose="02010609060101010101" pitchFamily="49" charset="-122"/>
              </a:rPr>
              <a:t>计算机网络的非性能特征</a:t>
            </a:r>
          </a:p>
        </p:txBody>
      </p:sp>
      <p:sp>
        <p:nvSpPr>
          <p:cNvPr id="12185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425664-4855-4BAC-9509-8826EEE7D2BF}" type="slidenum">
              <a:rPr lang="zh-CN" altLang="en-US" smtClean="0"/>
              <a:pPr eaLnBrk="1" hangingPunct="1"/>
              <a:t>13</a:t>
            </a:fld>
            <a:endParaRPr lang="en-US" altLang="zh-CN" smtClean="0"/>
          </a:p>
        </p:txBody>
      </p:sp>
      <p:sp>
        <p:nvSpPr>
          <p:cNvPr id="12186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1.6.1  </a:t>
            </a:r>
            <a:r>
              <a:rPr lang="zh-CN" altLang="en-US" smtClean="0">
                <a:ea typeface="黑体" panose="02010609060101010101" pitchFamily="49" charset="-122"/>
              </a:rPr>
              <a:t>计算机网络的性能指标</a:t>
            </a:r>
          </a:p>
        </p:txBody>
      </p:sp>
      <p:sp>
        <p:nvSpPr>
          <p:cNvPr id="122882"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计算机网络的性能一般是指它的几个重要的性能指标</a:t>
            </a:r>
            <a:r>
              <a:rPr lang="zh-CN" altLang="en-US" smtClean="0">
                <a:ea typeface="黑体" panose="02010609060101010101" pitchFamily="49" charset="-122"/>
              </a:rPr>
              <a:t>，主要包括：</a:t>
            </a:r>
            <a:endParaRPr lang="en-US" altLang="zh-CN" smtClean="0">
              <a:ea typeface="黑体" panose="02010609060101010101" pitchFamily="49" charset="-122"/>
            </a:endParaRPr>
          </a:p>
          <a:p>
            <a:pPr lvl="1"/>
            <a:r>
              <a:rPr lang="zh-CN" altLang="zh-CN" smtClean="0">
                <a:ea typeface="黑体" panose="02010609060101010101" pitchFamily="49" charset="-122"/>
              </a:rPr>
              <a:t>速率</a:t>
            </a:r>
            <a:endParaRPr lang="en-US" altLang="zh-CN" smtClean="0">
              <a:ea typeface="黑体" panose="02010609060101010101" pitchFamily="49" charset="-122"/>
            </a:endParaRPr>
          </a:p>
          <a:p>
            <a:pPr lvl="1"/>
            <a:r>
              <a:rPr lang="zh-CN" altLang="en-US" smtClean="0">
                <a:ea typeface="黑体" panose="02010609060101010101" pitchFamily="49" charset="-122"/>
              </a:rPr>
              <a:t>带宽</a:t>
            </a:r>
            <a:endParaRPr lang="en-US" altLang="zh-CN" smtClean="0">
              <a:ea typeface="黑体" panose="02010609060101010101" pitchFamily="49" charset="-122"/>
            </a:endParaRPr>
          </a:p>
          <a:p>
            <a:pPr lvl="1"/>
            <a:r>
              <a:rPr lang="zh-CN" altLang="en-US" smtClean="0">
                <a:ea typeface="黑体" panose="02010609060101010101" pitchFamily="49" charset="-122"/>
              </a:rPr>
              <a:t>吞吐率</a:t>
            </a:r>
            <a:endParaRPr lang="en-US" altLang="zh-CN" smtClean="0">
              <a:ea typeface="黑体" panose="02010609060101010101" pitchFamily="49" charset="-122"/>
            </a:endParaRPr>
          </a:p>
          <a:p>
            <a:pPr lvl="1"/>
            <a:r>
              <a:rPr lang="zh-CN" altLang="en-US" smtClean="0">
                <a:ea typeface="黑体" panose="02010609060101010101" pitchFamily="49" charset="-122"/>
              </a:rPr>
              <a:t>时延</a:t>
            </a:r>
            <a:endParaRPr lang="en-US" altLang="zh-CN" smtClean="0">
              <a:ea typeface="黑体" panose="02010609060101010101" pitchFamily="49" charset="-122"/>
            </a:endParaRPr>
          </a:p>
          <a:p>
            <a:pPr lvl="1"/>
            <a:r>
              <a:rPr lang="zh-CN" altLang="en-US" smtClean="0">
                <a:ea typeface="黑体" panose="02010609060101010101" pitchFamily="49" charset="-122"/>
              </a:rPr>
              <a:t>时延带宽积</a:t>
            </a:r>
            <a:endParaRPr lang="en-US" altLang="zh-CN" smtClean="0">
              <a:ea typeface="黑体" panose="02010609060101010101" pitchFamily="49" charset="-122"/>
            </a:endParaRPr>
          </a:p>
          <a:p>
            <a:pPr lvl="1"/>
            <a:r>
              <a:rPr lang="zh-CN" altLang="en-US" smtClean="0">
                <a:ea typeface="黑体" panose="02010609060101010101" pitchFamily="49" charset="-122"/>
              </a:rPr>
              <a:t>往返时间 </a:t>
            </a:r>
            <a:r>
              <a:rPr lang="en-US" altLang="zh-CN" smtClean="0">
                <a:ea typeface="黑体" panose="02010609060101010101" pitchFamily="49" charset="-122"/>
              </a:rPr>
              <a:t>RTT</a:t>
            </a:r>
          </a:p>
          <a:p>
            <a:pPr lvl="1"/>
            <a:r>
              <a:rPr lang="zh-CN" altLang="en-US" smtClean="0">
                <a:ea typeface="黑体" panose="02010609060101010101" pitchFamily="49" charset="-122"/>
              </a:rPr>
              <a:t>利用率</a:t>
            </a:r>
          </a:p>
        </p:txBody>
      </p:sp>
      <p:sp>
        <p:nvSpPr>
          <p:cNvPr id="1228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DD9D5D-1106-484A-8E06-5EEDFEF6C97E}" type="slidenum">
              <a:rPr lang="zh-CN" altLang="en-US" smtClean="0"/>
              <a:pPr eaLnBrk="1" hangingPunct="1"/>
              <a:t>14</a:t>
            </a:fld>
            <a:endParaRPr lang="en-US" altLang="zh-CN" smtClean="0"/>
          </a:p>
        </p:txBody>
      </p:sp>
      <p:sp>
        <p:nvSpPr>
          <p:cNvPr id="1228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速率</a:t>
            </a:r>
          </a:p>
        </p:txBody>
      </p:sp>
      <p:sp>
        <p:nvSpPr>
          <p:cNvPr id="84995" name="Rectangle 3"/>
          <p:cNvSpPr>
            <a:spLocks noGrp="1" noChangeArrowheads="1"/>
          </p:cNvSpPr>
          <p:nvPr>
            <p:ph idx="1"/>
          </p:nvPr>
        </p:nvSpPr>
        <p:spPr>
          <a:xfrm>
            <a:off x="495300" y="1196975"/>
            <a:ext cx="9066213" cy="4933950"/>
          </a:xfrm>
        </p:spPr>
        <p:txBody>
          <a:bodyPr/>
          <a:lstStyle/>
          <a:p>
            <a:r>
              <a:rPr lang="zh-CN" altLang="en-US" sz="2600" dirty="0" smtClean="0">
                <a:ea typeface="黑体" panose="02010609060101010101" pitchFamily="49" charset="-122"/>
              </a:rPr>
              <a:t>比特（</a:t>
            </a:r>
            <a:r>
              <a:rPr lang="en-US" altLang="zh-CN" sz="2600" dirty="0" smtClean="0">
                <a:ea typeface="黑体" panose="02010609060101010101" pitchFamily="49" charset="-122"/>
              </a:rPr>
              <a:t>bit</a:t>
            </a:r>
            <a:r>
              <a:rPr lang="zh-CN" altLang="en-US" sz="2600" dirty="0" smtClean="0">
                <a:ea typeface="黑体" panose="02010609060101010101" pitchFamily="49" charset="-122"/>
              </a:rPr>
              <a:t>）是计算机中数据量的单位，也是信息论中使用的信息量的单位。</a:t>
            </a:r>
          </a:p>
          <a:p>
            <a:r>
              <a:rPr lang="zh-CN" altLang="en-US" sz="2600" dirty="0" smtClean="0">
                <a:ea typeface="黑体" panose="02010609060101010101" pitchFamily="49" charset="-122"/>
              </a:rPr>
              <a:t>比特（</a:t>
            </a:r>
            <a:r>
              <a:rPr lang="en-US" altLang="zh-CN" sz="2600" dirty="0" smtClean="0">
                <a:ea typeface="黑体" panose="02010609060101010101" pitchFamily="49" charset="-122"/>
              </a:rPr>
              <a:t>bit</a:t>
            </a:r>
            <a:r>
              <a:rPr lang="zh-CN" altLang="en-US" sz="2600" dirty="0" smtClean="0">
                <a:ea typeface="黑体" panose="02010609060101010101" pitchFamily="49" charset="-122"/>
              </a:rPr>
              <a:t>）来源于 </a:t>
            </a:r>
            <a:r>
              <a:rPr lang="en-US" altLang="zh-CN" sz="2600" dirty="0" smtClean="0">
                <a:ea typeface="黑体" panose="02010609060101010101" pitchFamily="49" charset="-122"/>
              </a:rPr>
              <a:t>binary digit</a:t>
            </a:r>
            <a:r>
              <a:rPr lang="zh-CN" altLang="en-US" sz="2600" dirty="0" smtClean="0">
                <a:ea typeface="黑体" panose="02010609060101010101" pitchFamily="49" charset="-122"/>
              </a:rPr>
              <a:t>，意思是一个“二进制数字”，因此一个比特就是二进制数字中的一个 </a:t>
            </a:r>
            <a:r>
              <a:rPr lang="en-US" altLang="zh-CN" sz="2600" dirty="0" smtClean="0">
                <a:ea typeface="黑体" panose="02010609060101010101" pitchFamily="49" charset="-122"/>
              </a:rPr>
              <a:t>1 </a:t>
            </a:r>
            <a:r>
              <a:rPr lang="zh-CN" altLang="en-US" sz="2600" dirty="0" smtClean="0">
                <a:ea typeface="黑体" panose="02010609060101010101" pitchFamily="49" charset="-122"/>
              </a:rPr>
              <a:t>或 </a:t>
            </a:r>
            <a:r>
              <a:rPr lang="en-US" altLang="zh-CN" sz="2600" dirty="0" smtClean="0">
                <a:ea typeface="黑体" panose="02010609060101010101" pitchFamily="49" charset="-122"/>
              </a:rPr>
              <a:t>0</a:t>
            </a:r>
            <a:r>
              <a:rPr lang="zh-CN" altLang="en-US" sz="2600" dirty="0" smtClean="0">
                <a:ea typeface="黑体" panose="02010609060101010101" pitchFamily="49" charset="-122"/>
              </a:rPr>
              <a:t>。</a:t>
            </a:r>
            <a:endParaRPr lang="en-US" altLang="zh-CN" sz="2600" dirty="0" smtClean="0">
              <a:ea typeface="黑体" panose="02010609060101010101" pitchFamily="49" charset="-122"/>
            </a:endParaRPr>
          </a:p>
          <a:p>
            <a:r>
              <a:rPr lang="zh-CN" altLang="zh-CN" sz="2600" dirty="0" smtClean="0">
                <a:solidFill>
                  <a:srgbClr val="FF0000"/>
                </a:solidFill>
                <a:ea typeface="黑体" panose="02010609060101010101" pitchFamily="49" charset="-122"/>
              </a:rPr>
              <a:t>速率</a:t>
            </a:r>
            <a:r>
              <a:rPr lang="zh-CN" altLang="zh-CN" sz="2600" dirty="0" smtClean="0">
                <a:ea typeface="黑体" panose="02010609060101010101" pitchFamily="49" charset="-122"/>
              </a:rPr>
              <a:t>是计算机网络中最重要的一个性能指标</a:t>
            </a:r>
            <a:r>
              <a:rPr lang="zh-CN" altLang="en-US" sz="2600" dirty="0" smtClean="0">
                <a:ea typeface="黑体" panose="02010609060101010101" pitchFamily="49" charset="-122"/>
              </a:rPr>
              <a:t>，</a:t>
            </a:r>
            <a:r>
              <a:rPr lang="zh-CN" altLang="zh-CN" sz="2600" dirty="0" smtClean="0">
                <a:ea typeface="黑体" panose="02010609060101010101" pitchFamily="49" charset="-122"/>
              </a:rPr>
              <a:t>指的是</a:t>
            </a:r>
            <a:r>
              <a:rPr lang="zh-CN" altLang="zh-CN" sz="2600" dirty="0" smtClean="0">
                <a:solidFill>
                  <a:srgbClr val="FF0000"/>
                </a:solidFill>
                <a:ea typeface="黑体" panose="02010609060101010101" pitchFamily="49" charset="-122"/>
              </a:rPr>
              <a:t>数据的传送速率</a:t>
            </a:r>
            <a:r>
              <a:rPr lang="zh-CN" altLang="zh-CN" sz="2600" dirty="0" smtClean="0">
                <a:ea typeface="黑体" panose="02010609060101010101" pitchFamily="49" charset="-122"/>
              </a:rPr>
              <a:t>，它也称为</a:t>
            </a:r>
            <a:r>
              <a:rPr lang="zh-CN" altLang="zh-CN" sz="2600" dirty="0" smtClean="0">
                <a:solidFill>
                  <a:srgbClr val="FF0000"/>
                </a:solidFill>
                <a:ea typeface="黑体" panose="02010609060101010101" pitchFamily="49" charset="-122"/>
              </a:rPr>
              <a:t>数据率</a:t>
            </a:r>
            <a:r>
              <a:rPr lang="en-US" altLang="zh-CN" sz="2600" dirty="0" smtClean="0">
                <a:solidFill>
                  <a:srgbClr val="FF0000"/>
                </a:solidFill>
                <a:ea typeface="黑体" panose="02010609060101010101" pitchFamily="49" charset="-122"/>
              </a:rPr>
              <a:t> </a:t>
            </a:r>
            <a:r>
              <a:rPr lang="en-US" altLang="zh-CN" sz="2600" dirty="0" smtClean="0">
                <a:ea typeface="黑体" panose="02010609060101010101" pitchFamily="49" charset="-122"/>
              </a:rPr>
              <a:t>(data rate)</a:t>
            </a:r>
            <a:r>
              <a:rPr lang="zh-CN" altLang="zh-CN" sz="2600" dirty="0" smtClean="0">
                <a:ea typeface="黑体" panose="02010609060101010101" pitchFamily="49" charset="-122"/>
              </a:rPr>
              <a:t>或</a:t>
            </a:r>
            <a:r>
              <a:rPr lang="zh-CN" altLang="zh-CN" sz="2600" dirty="0" smtClean="0">
                <a:solidFill>
                  <a:srgbClr val="FF0000"/>
                </a:solidFill>
                <a:ea typeface="黑体" panose="02010609060101010101" pitchFamily="49" charset="-122"/>
              </a:rPr>
              <a:t>比特率</a:t>
            </a:r>
            <a:r>
              <a:rPr lang="en-US" altLang="zh-CN" sz="2600" dirty="0" smtClean="0">
                <a:solidFill>
                  <a:srgbClr val="FF0000"/>
                </a:solidFill>
                <a:ea typeface="黑体" panose="02010609060101010101" pitchFamily="49" charset="-122"/>
              </a:rPr>
              <a:t> </a:t>
            </a:r>
            <a:r>
              <a:rPr lang="en-US" altLang="zh-CN" sz="2600" dirty="0" smtClean="0">
                <a:ea typeface="黑体" panose="02010609060101010101" pitchFamily="49" charset="-122"/>
              </a:rPr>
              <a:t>(bit rate)</a:t>
            </a:r>
            <a:r>
              <a:rPr lang="zh-CN" altLang="zh-CN" sz="2600" dirty="0" smtClean="0">
                <a:ea typeface="黑体" panose="02010609060101010101" pitchFamily="49" charset="-122"/>
              </a:rPr>
              <a:t>。</a:t>
            </a:r>
            <a:endParaRPr lang="en-US" altLang="zh-CN" sz="2600" dirty="0" smtClean="0">
              <a:ea typeface="黑体" panose="02010609060101010101" pitchFamily="49" charset="-122"/>
            </a:endParaRPr>
          </a:p>
          <a:p>
            <a:r>
              <a:rPr lang="zh-CN" altLang="en-US" sz="2600" dirty="0" smtClean="0">
                <a:ea typeface="黑体" panose="02010609060101010101" pitchFamily="49" charset="-122"/>
              </a:rPr>
              <a:t>速率的</a:t>
            </a:r>
            <a:r>
              <a:rPr lang="zh-CN" altLang="en-US" sz="2600" dirty="0" smtClean="0">
                <a:solidFill>
                  <a:srgbClr val="FF0000"/>
                </a:solidFill>
                <a:ea typeface="黑体" panose="02010609060101010101" pitchFamily="49" charset="-122"/>
              </a:rPr>
              <a:t>单位</a:t>
            </a:r>
            <a:r>
              <a:rPr lang="zh-CN" altLang="en-US" sz="2600" dirty="0" smtClean="0">
                <a:ea typeface="黑体" panose="02010609060101010101" pitchFamily="49" charset="-122"/>
              </a:rPr>
              <a:t>是 </a:t>
            </a:r>
            <a:r>
              <a:rPr lang="en-US" altLang="zh-CN" sz="2600" dirty="0" smtClean="0">
                <a:ea typeface="黑体" panose="02010609060101010101" pitchFamily="49" charset="-122"/>
              </a:rPr>
              <a:t>bit/s</a:t>
            </a:r>
            <a:r>
              <a:rPr lang="zh-CN" altLang="en-US" sz="2600" dirty="0" smtClean="0">
                <a:ea typeface="黑体" panose="02010609060101010101" pitchFamily="49" charset="-122"/>
              </a:rPr>
              <a:t>，或 </a:t>
            </a:r>
            <a:r>
              <a:rPr lang="en-US" altLang="zh-CN" sz="2600" dirty="0" err="1" smtClean="0">
                <a:ea typeface="黑体" panose="02010609060101010101" pitchFamily="49" charset="-122"/>
              </a:rPr>
              <a:t>kbit</a:t>
            </a:r>
            <a:r>
              <a:rPr lang="en-US" altLang="zh-CN" sz="2600" dirty="0" smtClean="0">
                <a:ea typeface="黑体" panose="02010609060101010101" pitchFamily="49" charset="-122"/>
              </a:rPr>
              <a:t>/s</a:t>
            </a:r>
            <a:r>
              <a:rPr lang="zh-CN" altLang="en-US" sz="2600" dirty="0" smtClean="0">
                <a:ea typeface="黑体" panose="02010609060101010101" pitchFamily="49" charset="-122"/>
              </a:rPr>
              <a:t>、</a:t>
            </a:r>
            <a:r>
              <a:rPr lang="en-US" altLang="zh-CN" sz="2600" dirty="0" smtClean="0">
                <a:ea typeface="黑体" panose="02010609060101010101" pitchFamily="49" charset="-122"/>
              </a:rPr>
              <a:t>Mbit/s</a:t>
            </a:r>
            <a:r>
              <a:rPr lang="zh-CN" altLang="en-US" sz="2600" dirty="0" smtClean="0">
                <a:ea typeface="黑体" panose="02010609060101010101" pitchFamily="49" charset="-122"/>
              </a:rPr>
              <a:t>、</a:t>
            </a:r>
            <a:r>
              <a:rPr lang="en-US" altLang="zh-CN" sz="2600" dirty="0" smtClean="0">
                <a:ea typeface="黑体" panose="02010609060101010101" pitchFamily="49" charset="-122"/>
              </a:rPr>
              <a:t> </a:t>
            </a:r>
            <a:r>
              <a:rPr lang="en-US" altLang="zh-CN" sz="2600" dirty="0" err="1" smtClean="0">
                <a:ea typeface="黑体" panose="02010609060101010101" pitchFamily="49" charset="-122"/>
              </a:rPr>
              <a:t>Gbit</a:t>
            </a:r>
            <a:r>
              <a:rPr lang="en-US" altLang="zh-CN" sz="2600" dirty="0" smtClean="0">
                <a:ea typeface="黑体" panose="02010609060101010101" pitchFamily="49" charset="-122"/>
              </a:rPr>
              <a:t>/s </a:t>
            </a:r>
            <a:r>
              <a:rPr lang="zh-CN" altLang="en-US" sz="2600" dirty="0" smtClean="0">
                <a:ea typeface="黑体" panose="02010609060101010101" pitchFamily="49" charset="-122"/>
              </a:rPr>
              <a:t>等。例如 </a:t>
            </a:r>
            <a:r>
              <a:rPr lang="en-US" altLang="zh-CN" sz="2600" dirty="0" smtClean="0">
                <a:ea typeface="黑体" panose="02010609060101010101" pitchFamily="49" charset="-122"/>
              </a:rPr>
              <a:t>4 </a:t>
            </a:r>
            <a:r>
              <a:rPr lang="en-US" altLang="zh-CN" sz="2600" dirty="0" smtClean="0">
                <a:ea typeface="黑体" panose="02010609060101010101" pitchFamily="49" charset="-122"/>
                <a:sym typeface="Symbol" panose="05050102010706020507" pitchFamily="18" charset="2"/>
              </a:rPr>
              <a:t></a:t>
            </a:r>
            <a:r>
              <a:rPr lang="en-US" altLang="zh-CN" sz="2600" dirty="0" smtClean="0">
                <a:ea typeface="黑体" panose="02010609060101010101" pitchFamily="49" charset="-122"/>
              </a:rPr>
              <a:t> 10</a:t>
            </a:r>
            <a:r>
              <a:rPr lang="en-US" altLang="zh-CN" sz="2600" baseline="30000" dirty="0" smtClean="0">
                <a:ea typeface="黑体" panose="02010609060101010101" pitchFamily="49" charset="-122"/>
              </a:rPr>
              <a:t>10</a:t>
            </a:r>
            <a:r>
              <a:rPr lang="en-US" altLang="zh-CN" sz="2600" dirty="0" smtClean="0">
                <a:ea typeface="黑体" panose="02010609060101010101" pitchFamily="49" charset="-122"/>
              </a:rPr>
              <a:t> bit/s </a:t>
            </a:r>
            <a:r>
              <a:rPr lang="zh-CN" altLang="zh-CN" sz="2600" dirty="0" smtClean="0">
                <a:ea typeface="黑体" panose="02010609060101010101" pitchFamily="49" charset="-122"/>
              </a:rPr>
              <a:t>的数据率就记为 </a:t>
            </a:r>
            <a:r>
              <a:rPr lang="en-US" altLang="zh-CN" sz="2600" dirty="0" smtClean="0">
                <a:ea typeface="黑体" panose="02010609060101010101" pitchFamily="49" charset="-122"/>
              </a:rPr>
              <a:t>40 </a:t>
            </a:r>
            <a:r>
              <a:rPr lang="en-US" altLang="zh-CN" sz="2600" dirty="0" err="1" smtClean="0">
                <a:ea typeface="黑体" panose="02010609060101010101" pitchFamily="49" charset="-122"/>
              </a:rPr>
              <a:t>Gbit</a:t>
            </a:r>
            <a:r>
              <a:rPr lang="en-US" altLang="zh-CN" sz="2600" dirty="0" smtClean="0">
                <a:ea typeface="黑体" panose="02010609060101010101" pitchFamily="49" charset="-122"/>
              </a:rPr>
              <a:t>/s</a:t>
            </a:r>
            <a:r>
              <a:rPr lang="zh-CN" altLang="en-US" sz="2600" dirty="0" smtClean="0">
                <a:ea typeface="黑体" panose="02010609060101010101" pitchFamily="49" charset="-122"/>
              </a:rPr>
              <a:t>。</a:t>
            </a:r>
          </a:p>
          <a:p>
            <a:r>
              <a:rPr lang="zh-CN" altLang="en-US" sz="2600" dirty="0" smtClean="0">
                <a:solidFill>
                  <a:srgbClr val="C00000"/>
                </a:solidFill>
                <a:ea typeface="黑体" panose="02010609060101010101" pitchFamily="49" charset="-122"/>
              </a:rPr>
              <a:t>速率往往是指额定速率或标称速率，非</a:t>
            </a:r>
            <a:r>
              <a:rPr lang="zh-CN" altLang="zh-CN" sz="2600" dirty="0" smtClean="0">
                <a:solidFill>
                  <a:srgbClr val="C00000"/>
                </a:solidFill>
                <a:ea typeface="黑体" panose="02010609060101010101" pitchFamily="49" charset="-122"/>
              </a:rPr>
              <a:t>实际运行速率</a:t>
            </a:r>
            <a:r>
              <a:rPr lang="zh-CN" altLang="en-US" sz="2600" dirty="0" smtClean="0">
                <a:solidFill>
                  <a:srgbClr val="C00000"/>
                </a:solidFill>
                <a:ea typeface="黑体" panose="02010609060101010101" pitchFamily="49" charset="-122"/>
              </a:rPr>
              <a:t>。  </a:t>
            </a:r>
          </a:p>
        </p:txBody>
      </p:sp>
      <p:sp>
        <p:nvSpPr>
          <p:cNvPr id="1239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DCF808-F4FB-4476-BD3D-C9AA19398E33}" type="slidenum">
              <a:rPr lang="zh-CN" altLang="en-US" smtClean="0"/>
              <a:pPr eaLnBrk="1" hangingPunct="1"/>
              <a:t>15</a:t>
            </a:fld>
            <a:endParaRPr lang="en-US" altLang="zh-CN" smtClean="0"/>
          </a:p>
        </p:txBody>
      </p:sp>
      <p:sp>
        <p:nvSpPr>
          <p:cNvPr id="1239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带宽 </a:t>
            </a:r>
          </a:p>
        </p:txBody>
      </p:sp>
      <p:sp>
        <p:nvSpPr>
          <p:cNvPr id="376835" name="Rectangle 3"/>
          <p:cNvSpPr>
            <a:spLocks noGrp="1" noChangeArrowheads="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indent="0">
              <a:buFont typeface="Wingdings" panose="05000000000000000000" pitchFamily="2" charset="2"/>
              <a:buNone/>
            </a:pPr>
            <a:r>
              <a:rPr lang="zh-CN" altLang="en-US" noProof="1"/>
              <a:t>两种不同意义：</a:t>
            </a:r>
            <a:endParaRPr lang="en-US" altLang="zh-CN" noProof="1"/>
          </a:p>
          <a:p>
            <a:r>
              <a:rPr lang="en-US" altLang="zh-CN" sz="2800" noProof="1"/>
              <a:t>“</a:t>
            </a:r>
            <a:r>
              <a:rPr lang="zh-CN" altLang="en-US" sz="2800" noProof="1"/>
              <a:t>带宽”</a:t>
            </a:r>
            <a:r>
              <a:rPr lang="en-US" altLang="zh-CN" sz="2800" noProof="1"/>
              <a:t>(bandwidth) </a:t>
            </a:r>
            <a:r>
              <a:rPr lang="zh-CN" altLang="en-US" sz="2800" noProof="1"/>
              <a:t>本来是指信号具有的</a:t>
            </a:r>
            <a:r>
              <a:rPr lang="zh-CN" altLang="en-US" sz="2800" noProof="1">
                <a:solidFill>
                  <a:srgbClr val="FF0000"/>
                </a:solidFill>
              </a:rPr>
              <a:t>频带宽度，</a:t>
            </a:r>
            <a:r>
              <a:rPr lang="zh-CN" altLang="en-US" sz="2800" noProof="1"/>
              <a:t>其单位是赫（或千赫、兆赫、吉赫等）。</a:t>
            </a:r>
          </a:p>
          <a:p>
            <a:r>
              <a:rPr lang="zh-CN" altLang="zh-CN" sz="2800" noProof="1"/>
              <a:t>在计算机网络中，带宽用来表示网络中某通道传送数据的能力</a:t>
            </a:r>
            <a:r>
              <a:rPr lang="zh-CN" altLang="en-US" sz="2800" noProof="1"/>
              <a:t>。</a:t>
            </a:r>
            <a:r>
              <a:rPr lang="zh-CN" altLang="zh-CN" sz="2800" noProof="1"/>
              <a:t>表示在</a:t>
            </a:r>
            <a:r>
              <a:rPr lang="zh-CN" altLang="zh-CN" sz="2800" noProof="1">
                <a:solidFill>
                  <a:srgbClr val="FF0000"/>
                </a:solidFill>
              </a:rPr>
              <a:t>单位时间内网络中的某信道所能通过的</a:t>
            </a:r>
            <a:r>
              <a:rPr lang="zh-CN" altLang="zh-CN" sz="2800" noProof="1"/>
              <a:t>“</a:t>
            </a:r>
            <a:r>
              <a:rPr lang="zh-CN" altLang="zh-CN" sz="2800" noProof="1">
                <a:solidFill>
                  <a:srgbClr val="FF0000"/>
                </a:solidFill>
              </a:rPr>
              <a:t>最高数据率</a:t>
            </a:r>
            <a:r>
              <a:rPr lang="zh-CN" altLang="zh-CN" sz="2800" noProof="1"/>
              <a:t>”。</a:t>
            </a:r>
            <a:r>
              <a:rPr lang="zh-CN" altLang="en-US" sz="2800" noProof="1"/>
              <a:t>单位是 </a:t>
            </a:r>
            <a:r>
              <a:rPr lang="en-US" altLang="zh-CN" sz="2800" noProof="1"/>
              <a:t>bit/s </a:t>
            </a:r>
            <a:r>
              <a:rPr lang="zh-CN" altLang="en-US" sz="2800" noProof="1"/>
              <a:t>，即</a:t>
            </a:r>
            <a:r>
              <a:rPr lang="en-US" altLang="zh-CN" sz="2800" noProof="1"/>
              <a:t> </a:t>
            </a:r>
            <a:r>
              <a:rPr lang="zh-CN" altLang="en-US" sz="2800" noProof="1"/>
              <a:t>“比特每秒”。    </a:t>
            </a:r>
          </a:p>
          <a:p>
            <a:endParaRPr lang="en-US" altLang="zh-CN" sz="2800" noProof="1"/>
          </a:p>
        </p:txBody>
      </p:sp>
      <p:sp>
        <p:nvSpPr>
          <p:cNvPr id="125955" name="矩形 1"/>
          <p:cNvSpPr>
            <a:spLocks noChangeArrowheads="1"/>
          </p:cNvSpPr>
          <p:nvPr/>
        </p:nvSpPr>
        <p:spPr bwMode="auto">
          <a:xfrm>
            <a:off x="631825" y="4508500"/>
            <a:ext cx="8858250" cy="1201738"/>
          </a:xfrm>
          <a:prstGeom prst="rect">
            <a:avLst/>
          </a:prstGeom>
          <a:solidFill>
            <a:srgbClr val="FFFF66"/>
          </a:solidFill>
          <a:ln w="9525">
            <a:solidFill>
              <a:schemeClr val="tx1"/>
            </a:solidFill>
            <a:round/>
            <a:headEnd/>
            <a:tailEnd/>
          </a:ln>
        </p:spPr>
        <p:txBody>
          <a:bodyPr>
            <a:spAutoFit/>
          </a:bodyPr>
          <a:lstStyle/>
          <a:p>
            <a:pPr eaLnBrk="0" hangingPunct="0"/>
            <a:r>
              <a:rPr lang="zh-CN" altLang="zh-CN" sz="2400" b="1">
                <a:solidFill>
                  <a:srgbClr val="000099"/>
                </a:solidFill>
                <a:ea typeface="黑体" panose="02010609060101010101" pitchFamily="49" charset="-122"/>
              </a:rPr>
              <a:t>在“带宽”的上述两种表述中，前者为</a:t>
            </a:r>
            <a:r>
              <a:rPr lang="zh-CN" altLang="zh-CN" sz="2400" b="1">
                <a:solidFill>
                  <a:srgbClr val="C00000"/>
                </a:solidFill>
                <a:ea typeface="黑体" panose="02010609060101010101" pitchFamily="49" charset="-122"/>
              </a:rPr>
              <a:t>频域</a:t>
            </a:r>
            <a:r>
              <a:rPr lang="zh-CN" altLang="zh-CN" sz="2400" b="1">
                <a:solidFill>
                  <a:srgbClr val="000099"/>
                </a:solidFill>
                <a:ea typeface="黑体" panose="02010609060101010101" pitchFamily="49" charset="-122"/>
              </a:rPr>
              <a:t>称谓，而后者为</a:t>
            </a:r>
            <a:r>
              <a:rPr lang="zh-CN" altLang="zh-CN" sz="2400" b="1">
                <a:solidFill>
                  <a:srgbClr val="C00000"/>
                </a:solidFill>
                <a:ea typeface="黑体" panose="02010609060101010101" pitchFamily="49" charset="-122"/>
              </a:rPr>
              <a:t>时域</a:t>
            </a:r>
            <a:r>
              <a:rPr lang="zh-CN" altLang="zh-CN" sz="2400" b="1">
                <a:solidFill>
                  <a:srgbClr val="000099"/>
                </a:solidFill>
                <a:ea typeface="黑体" panose="02010609060101010101" pitchFamily="49" charset="-122"/>
              </a:rPr>
              <a:t>称谓，其本质是相同的。也就是说，一条通信链路的“带宽”越宽，其所能传输的“最高数据率”也越高。</a:t>
            </a:r>
          </a:p>
        </p:txBody>
      </p:sp>
      <p:sp>
        <p:nvSpPr>
          <p:cNvPr id="12595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A097A2-BBD2-4194-839B-C738B92AE64B}" type="slidenum">
              <a:rPr lang="zh-CN" altLang="en-US" smtClean="0"/>
              <a:pPr eaLnBrk="1" hangingPunct="1"/>
              <a:t>16</a:t>
            </a:fld>
            <a:endParaRPr lang="en-US" altLang="zh-CN" smtClean="0"/>
          </a:p>
        </p:txBody>
      </p:sp>
      <p:sp>
        <p:nvSpPr>
          <p:cNvPr id="12595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数字信号流随时间的变化</a:t>
            </a:r>
          </a:p>
        </p:txBody>
      </p:sp>
      <p:sp>
        <p:nvSpPr>
          <p:cNvPr id="12800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a:t>
            </a:r>
            <a:r>
              <a:rPr lang="zh-CN" altLang="en-US" smtClean="0">
                <a:solidFill>
                  <a:srgbClr val="C00000"/>
                </a:solidFill>
                <a:ea typeface="黑体" panose="02010609060101010101" pitchFamily="49" charset="-122"/>
              </a:rPr>
              <a:t>时间轴</a:t>
            </a:r>
            <a:r>
              <a:rPr lang="zh-CN" altLang="en-US" smtClean="0">
                <a:ea typeface="黑体" panose="02010609060101010101" pitchFamily="49" charset="-122"/>
              </a:rPr>
              <a:t>上信号的宽度随带宽的增大而变窄。     </a:t>
            </a:r>
          </a:p>
        </p:txBody>
      </p:sp>
      <p:grpSp>
        <p:nvGrpSpPr>
          <p:cNvPr id="87073" name="Group 33"/>
          <p:cNvGrpSpPr>
            <a:grpSpLocks/>
          </p:cNvGrpSpPr>
          <p:nvPr/>
        </p:nvGrpSpPr>
        <p:grpSpPr bwMode="auto">
          <a:xfrm>
            <a:off x="427038" y="1824038"/>
            <a:ext cx="9278937" cy="1662112"/>
            <a:chOff x="204" y="1799"/>
            <a:chExt cx="5395" cy="1047"/>
          </a:xfrm>
        </p:grpSpPr>
        <p:sp>
          <p:nvSpPr>
            <p:cNvPr id="128004" name="Line 4"/>
            <p:cNvSpPr>
              <a:spLocks noChangeShapeType="1"/>
            </p:cNvSpPr>
            <p:nvPr/>
          </p:nvSpPr>
          <p:spPr bwMode="auto">
            <a:xfrm>
              <a:off x="1345"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05" name="Line 5"/>
            <p:cNvSpPr>
              <a:spLocks noChangeShapeType="1"/>
            </p:cNvSpPr>
            <p:nvPr/>
          </p:nvSpPr>
          <p:spPr bwMode="auto">
            <a:xfrm>
              <a:off x="1122" y="2357"/>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06" name="Line 6"/>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07" name="Freeform 8"/>
            <p:cNvSpPr>
              <a:spLocks noChangeArrowheads="1"/>
            </p:cNvSpPr>
            <p:nvPr/>
          </p:nvSpPr>
          <p:spPr bwMode="auto">
            <a:xfrm>
              <a:off x="1345" y="2161"/>
              <a:ext cx="2559" cy="392"/>
            </a:xfrm>
            <a:custGeom>
              <a:avLst/>
              <a:gdLst>
                <a:gd name="T0" fmla="*/ 0 w 2208"/>
                <a:gd name="T1" fmla="*/ 384 h 384"/>
                <a:gd name="T2" fmla="*/ 0 w 2208"/>
                <a:gd name="T3" fmla="*/ 0 h 384"/>
                <a:gd name="T4" fmla="*/ 384 w 2208"/>
                <a:gd name="T5" fmla="*/ 0 h 384"/>
                <a:gd name="T6" fmla="*/ 384 w 2208"/>
                <a:gd name="T7" fmla="*/ 384 h 384"/>
                <a:gd name="T8" fmla="*/ 768 w 2208"/>
                <a:gd name="T9" fmla="*/ 384 h 384"/>
                <a:gd name="T10" fmla="*/ 768 w 2208"/>
                <a:gd name="T11" fmla="*/ 0 h 384"/>
                <a:gd name="T12" fmla="*/ 1152 w 2208"/>
                <a:gd name="T13" fmla="*/ 0 h 384"/>
                <a:gd name="T14" fmla="*/ 1152 w 2208"/>
                <a:gd name="T15" fmla="*/ 384 h 384"/>
                <a:gd name="T16" fmla="*/ 1536 w 2208"/>
                <a:gd name="T17" fmla="*/ 384 h 384"/>
                <a:gd name="T18" fmla="*/ 1536 w 2208"/>
                <a:gd name="T19" fmla="*/ 0 h 384"/>
                <a:gd name="T20" fmla="*/ 1920 w 2208"/>
                <a:gd name="T21" fmla="*/ 0 h 384"/>
                <a:gd name="T22" fmla="*/ 1920 w 2208"/>
                <a:gd name="T23" fmla="*/ 384 h 384"/>
                <a:gd name="T24" fmla="*/ 2208 w 2208"/>
                <a:gd name="T25"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28008" name="Freeform 9"/>
            <p:cNvSpPr>
              <a:spLocks noChangeArrowheads="1"/>
            </p:cNvSpPr>
            <p:nvPr/>
          </p:nvSpPr>
          <p:spPr bwMode="auto">
            <a:xfrm>
              <a:off x="4404" y="2161"/>
              <a:ext cx="724" cy="392"/>
            </a:xfrm>
            <a:custGeom>
              <a:avLst/>
              <a:gdLst>
                <a:gd name="T0" fmla="*/ 0 w 624"/>
                <a:gd name="T1" fmla="*/ 384 h 384"/>
                <a:gd name="T2" fmla="*/ 240 w 624"/>
                <a:gd name="T3" fmla="*/ 384 h 384"/>
                <a:gd name="T4" fmla="*/ 240 w 624"/>
                <a:gd name="T5" fmla="*/ 0 h 384"/>
                <a:gd name="T6" fmla="*/ 624 w 624"/>
                <a:gd name="T7" fmla="*/ 0 h 384"/>
                <a:gd name="T8" fmla="*/ 624 w 624"/>
                <a:gd name="T9" fmla="*/ 384 h 384"/>
              </a:gdLst>
              <a:ahLst/>
              <a:cxnLst>
                <a:cxn ang="0">
                  <a:pos x="T0" y="T1"/>
                </a:cxn>
                <a:cxn ang="0">
                  <a:pos x="T2" y="T3"/>
                </a:cxn>
                <a:cxn ang="0">
                  <a:pos x="T4" y="T5"/>
                </a:cxn>
                <a:cxn ang="0">
                  <a:pos x="T6" y="T7"/>
                </a:cxn>
                <a:cxn ang="0">
                  <a:pos x="T8" y="T9"/>
                </a:cxn>
              </a:cxnLst>
              <a:rect l="0" t="0" r="r" b="b"/>
              <a:pathLst>
                <a:path w="624" h="384">
                  <a:moveTo>
                    <a:pt x="0" y="384"/>
                  </a:moveTo>
                  <a:lnTo>
                    <a:pt x="240" y="384"/>
                  </a:lnTo>
                  <a:lnTo>
                    <a:pt x="240" y="0"/>
                  </a:lnTo>
                  <a:lnTo>
                    <a:pt x="624" y="0"/>
                  </a:lnTo>
                  <a:lnTo>
                    <a:pt x="624" y="384"/>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28009" name="Line 11"/>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10" name="Line 13"/>
            <p:cNvSpPr>
              <a:spLocks noChangeShapeType="1"/>
            </p:cNvSpPr>
            <p:nvPr/>
          </p:nvSpPr>
          <p:spPr bwMode="auto">
            <a:xfrm>
              <a:off x="5128"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11" name="Text Box 14"/>
            <p:cNvSpPr txBox="1">
              <a:spLocks noChangeArrowheads="1"/>
            </p:cNvSpPr>
            <p:nvPr/>
          </p:nvSpPr>
          <p:spPr bwMode="auto">
            <a:xfrm>
              <a:off x="2528" y="2594"/>
              <a:ext cx="1119"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每</a:t>
              </a:r>
              <a:r>
                <a:rPr lang="zh-CN" altLang="en-US" sz="2000" b="1">
                  <a:solidFill>
                    <a:srgbClr val="333399"/>
                  </a:solidFill>
                  <a:ea typeface="黑体" panose="02010609060101010101" pitchFamily="49" charset="-122"/>
                  <a:sym typeface="Symbol" panose="05050102010706020507" pitchFamily="18" charset="2"/>
                </a:rPr>
                <a:t>秒</a:t>
              </a:r>
              <a:r>
                <a:rPr lang="zh-CN" altLang="en-US" sz="1200" b="1">
                  <a:solidFill>
                    <a:srgbClr val="333399"/>
                  </a:solidFill>
                  <a:ea typeface="黑体" panose="02010609060101010101" pitchFamily="49" charset="-122"/>
                  <a:sym typeface="Symbol" panose="05050102010706020507" pitchFamily="18" charset="2"/>
                </a:rPr>
                <a:t> </a:t>
              </a:r>
              <a:r>
                <a:rPr lang="en-US" altLang="zh-CN" sz="2000" b="1">
                  <a:solidFill>
                    <a:srgbClr val="333399"/>
                  </a:solidFill>
                  <a:ea typeface="黑体" panose="02010609060101010101" pitchFamily="49" charset="-122"/>
                  <a:sym typeface="Symbol" panose="05050102010706020507" pitchFamily="18" charset="2"/>
                </a:rPr>
                <a:t>10</a:t>
              </a:r>
              <a:r>
                <a:rPr lang="en-US" altLang="zh-CN" sz="2000" b="1" baseline="30000">
                  <a:solidFill>
                    <a:srgbClr val="333399"/>
                  </a:solidFill>
                  <a:ea typeface="黑体" panose="02010609060101010101" pitchFamily="49" charset="-122"/>
                  <a:sym typeface="Symbol" panose="05050102010706020507" pitchFamily="18" charset="2"/>
                </a:rPr>
                <a:t>6</a:t>
              </a:r>
              <a:r>
                <a:rPr lang="en-US" altLang="zh-CN" sz="1400" b="1" baseline="30000">
                  <a:solidFill>
                    <a:srgbClr val="333399"/>
                  </a:solidFill>
                  <a:ea typeface="黑体" panose="02010609060101010101" pitchFamily="49" charset="-122"/>
                  <a:sym typeface="Symbol" panose="05050102010706020507" pitchFamily="18" charset="2"/>
                </a:rPr>
                <a:t> </a:t>
              </a:r>
              <a:r>
                <a:rPr lang="zh-CN" altLang="en-US" sz="2000" b="1">
                  <a:solidFill>
                    <a:srgbClr val="333399"/>
                  </a:solidFill>
                  <a:ea typeface="黑体" panose="02010609060101010101" pitchFamily="49" charset="-122"/>
                  <a:sym typeface="Symbol" panose="05050102010706020507" pitchFamily="18" charset="2"/>
                </a:rPr>
                <a:t>个比特</a:t>
              </a:r>
              <a:endParaRPr lang="zh-CN" altLang="en-US" sz="2000" b="1">
                <a:solidFill>
                  <a:srgbClr val="333399"/>
                </a:solidFill>
                <a:ea typeface="黑体" panose="02010609060101010101" pitchFamily="49" charset="-122"/>
              </a:endParaRPr>
            </a:p>
          </p:txBody>
        </p:sp>
        <p:sp>
          <p:nvSpPr>
            <p:cNvPr id="128012" name="Text Box 15"/>
            <p:cNvSpPr txBox="1">
              <a:spLocks noChangeArrowheads="1"/>
            </p:cNvSpPr>
            <p:nvPr/>
          </p:nvSpPr>
          <p:spPr bwMode="auto">
            <a:xfrm>
              <a:off x="5193" y="2086"/>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时间</a:t>
              </a:r>
            </a:p>
          </p:txBody>
        </p:sp>
        <p:sp>
          <p:nvSpPr>
            <p:cNvPr id="128013" name="Text Box 27"/>
            <p:cNvSpPr txBox="1">
              <a:spLocks noChangeArrowheads="1"/>
            </p:cNvSpPr>
            <p:nvPr/>
          </p:nvSpPr>
          <p:spPr bwMode="auto">
            <a:xfrm>
              <a:off x="1440" y="2137"/>
              <a:ext cx="32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1 </a:t>
              </a:r>
              <a:r>
                <a:rPr lang="en-US" altLang="zh-CN" sz="1200" b="1">
                  <a:solidFill>
                    <a:srgbClr val="333399"/>
                  </a:solidFill>
                  <a:ea typeface="黑体" panose="02010609060101010101" pitchFamily="49" charset="-122"/>
                </a:rPr>
                <a:t>  </a:t>
              </a:r>
              <a:r>
                <a:rPr lang="en-US" altLang="zh-CN" sz="2000" b="1">
                  <a:solidFill>
                    <a:srgbClr val="333399"/>
                  </a:solidFill>
                  <a:ea typeface="黑体" panose="02010609060101010101" pitchFamily="49" charset="-122"/>
                </a:rPr>
                <a:t>      0        1    </a:t>
              </a:r>
              <a:r>
                <a:rPr lang="en-US" altLang="zh-CN" sz="1400" b="1">
                  <a:solidFill>
                    <a:srgbClr val="333399"/>
                  </a:solidFill>
                  <a:ea typeface="黑体" panose="02010609060101010101" pitchFamily="49" charset="-122"/>
                </a:rPr>
                <a:t>  </a:t>
              </a:r>
              <a:r>
                <a:rPr lang="en-US" altLang="zh-CN" sz="2000" b="1">
                  <a:solidFill>
                    <a:srgbClr val="333399"/>
                  </a:solidFill>
                  <a:ea typeface="黑体" panose="02010609060101010101" pitchFamily="49" charset="-122"/>
                </a:rPr>
                <a:t>   0  </a:t>
              </a:r>
              <a:r>
                <a:rPr lang="en-US" altLang="zh-CN" b="1">
                  <a:solidFill>
                    <a:srgbClr val="333399"/>
                  </a:solidFill>
                  <a:ea typeface="黑体" panose="02010609060101010101" pitchFamily="49" charset="-122"/>
                </a:rPr>
                <a:t>  </a:t>
              </a:r>
              <a:r>
                <a:rPr lang="en-US" altLang="zh-CN" sz="2000" b="1">
                  <a:solidFill>
                    <a:srgbClr val="333399"/>
                  </a:solidFill>
                  <a:ea typeface="黑体" panose="02010609060101010101" pitchFamily="49" charset="-122"/>
                </a:rPr>
                <a:t>    1                                 1</a:t>
              </a:r>
            </a:p>
          </p:txBody>
        </p:sp>
        <p:sp>
          <p:nvSpPr>
            <p:cNvPr id="128014" name="Text Box 12"/>
            <p:cNvSpPr txBox="1">
              <a:spLocks noChangeArrowheads="1"/>
            </p:cNvSpPr>
            <p:nvPr/>
          </p:nvSpPr>
          <p:spPr bwMode="auto">
            <a:xfrm>
              <a:off x="2211" y="1799"/>
              <a:ext cx="4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1 </a:t>
              </a:r>
              <a:r>
                <a:rPr lang="en-US" altLang="zh-CN" sz="2000" b="1">
                  <a:solidFill>
                    <a:srgbClr val="333399"/>
                  </a:solidFill>
                  <a:ea typeface="黑体" panose="02010609060101010101" pitchFamily="49" charset="-122"/>
                  <a:sym typeface="Symbol" panose="05050102010706020507" pitchFamily="18" charset="2"/>
                </a:rPr>
                <a:t>s</a:t>
              </a:r>
              <a:endParaRPr lang="en-US" altLang="zh-CN" sz="2000" b="1">
                <a:solidFill>
                  <a:srgbClr val="333399"/>
                </a:solidFill>
                <a:ea typeface="黑体" panose="02010609060101010101" pitchFamily="49" charset="-122"/>
              </a:endParaRPr>
            </a:p>
          </p:txBody>
        </p:sp>
        <p:sp>
          <p:nvSpPr>
            <p:cNvPr id="128015" name="Text Box 31"/>
            <p:cNvSpPr txBox="1">
              <a:spLocks noChangeArrowheads="1"/>
            </p:cNvSpPr>
            <p:nvPr/>
          </p:nvSpPr>
          <p:spPr bwMode="auto">
            <a:xfrm>
              <a:off x="204" y="2115"/>
              <a:ext cx="713" cy="523"/>
            </a:xfrm>
            <a:prstGeom prst="rect">
              <a:avLst/>
            </a:prstGeom>
            <a:solidFill>
              <a:srgbClr val="FFFF99"/>
            </a:solidFill>
            <a:ln w="9525">
              <a:solidFill>
                <a:schemeClr val="folHlink"/>
              </a:solidFill>
              <a:miter lim="800000"/>
              <a:headEnd/>
              <a:tailEnd/>
            </a:ln>
          </p:spPr>
          <p:txBody>
            <a:bodyPr wrap="none">
              <a:spAutoFit/>
            </a:bodyPr>
            <a:lstStyle/>
            <a:p>
              <a:pPr eaLnBrk="0" hangingPunct="0"/>
              <a:r>
                <a:rPr lang="zh-CN" altLang="en-US" sz="2400" b="1">
                  <a:solidFill>
                    <a:srgbClr val="333399"/>
                  </a:solidFill>
                  <a:ea typeface="黑体" panose="02010609060101010101" pitchFamily="49" charset="-122"/>
                </a:rPr>
                <a:t>带宽为</a:t>
              </a:r>
            </a:p>
            <a:p>
              <a:pPr eaLnBrk="0" hangingPunct="0"/>
              <a:r>
                <a:rPr lang="en-US" altLang="zh-CN" sz="2400" b="1">
                  <a:solidFill>
                    <a:srgbClr val="333399"/>
                  </a:solidFill>
                  <a:ea typeface="黑体" panose="02010609060101010101" pitchFamily="49" charset="-122"/>
                </a:rPr>
                <a:t>1 Mb/s </a:t>
              </a:r>
            </a:p>
          </p:txBody>
        </p:sp>
      </p:grpSp>
      <p:grpSp>
        <p:nvGrpSpPr>
          <p:cNvPr id="87074" name="Group 34"/>
          <p:cNvGrpSpPr>
            <a:grpSpLocks/>
          </p:cNvGrpSpPr>
          <p:nvPr/>
        </p:nvGrpSpPr>
        <p:grpSpPr bwMode="auto">
          <a:xfrm>
            <a:off x="427038" y="3656013"/>
            <a:ext cx="9231312" cy="1697037"/>
            <a:chOff x="204" y="2953"/>
            <a:chExt cx="5368" cy="1069"/>
          </a:xfrm>
        </p:grpSpPr>
        <p:sp>
          <p:nvSpPr>
            <p:cNvPr id="128017" name="Freeform 7"/>
            <p:cNvSpPr>
              <a:spLocks noChangeArrowheads="1"/>
            </p:cNvSpPr>
            <p:nvPr/>
          </p:nvSpPr>
          <p:spPr bwMode="auto">
            <a:xfrm>
              <a:off x="1352" y="3337"/>
              <a:ext cx="2614" cy="392"/>
            </a:xfrm>
            <a:custGeom>
              <a:avLst/>
              <a:gdLst>
                <a:gd name="T0" fmla="*/ 0 w 2256"/>
                <a:gd name="T1" fmla="*/ 384 h 384"/>
                <a:gd name="T2" fmla="*/ 0 w 2256"/>
                <a:gd name="T3" fmla="*/ 0 h 384"/>
                <a:gd name="T4" fmla="*/ 96 w 2256"/>
                <a:gd name="T5" fmla="*/ 0 h 384"/>
                <a:gd name="T6" fmla="*/ 96 w 2256"/>
                <a:gd name="T7" fmla="*/ 384 h 384"/>
                <a:gd name="T8" fmla="*/ 192 w 2256"/>
                <a:gd name="T9" fmla="*/ 384 h 384"/>
                <a:gd name="T10" fmla="*/ 192 w 2256"/>
                <a:gd name="T11" fmla="*/ 0 h 384"/>
                <a:gd name="T12" fmla="*/ 288 w 2256"/>
                <a:gd name="T13" fmla="*/ 0 h 384"/>
                <a:gd name="T14" fmla="*/ 288 w 2256"/>
                <a:gd name="T15" fmla="*/ 384 h 384"/>
                <a:gd name="T16" fmla="*/ 384 w 2256"/>
                <a:gd name="T17" fmla="*/ 384 h 384"/>
                <a:gd name="T18" fmla="*/ 384 w 2256"/>
                <a:gd name="T19" fmla="*/ 0 h 384"/>
                <a:gd name="T20" fmla="*/ 480 w 2256"/>
                <a:gd name="T21" fmla="*/ 0 h 384"/>
                <a:gd name="T22" fmla="*/ 480 w 2256"/>
                <a:gd name="T23" fmla="*/ 384 h 384"/>
                <a:gd name="T24" fmla="*/ 576 w 2256"/>
                <a:gd name="T25" fmla="*/ 384 h 384"/>
                <a:gd name="T26" fmla="*/ 576 w 2256"/>
                <a:gd name="T27" fmla="*/ 0 h 384"/>
                <a:gd name="T28" fmla="*/ 672 w 2256"/>
                <a:gd name="T29" fmla="*/ 0 h 384"/>
                <a:gd name="T30" fmla="*/ 672 w 2256"/>
                <a:gd name="T31" fmla="*/ 384 h 384"/>
                <a:gd name="T32" fmla="*/ 768 w 2256"/>
                <a:gd name="T33" fmla="*/ 384 h 384"/>
                <a:gd name="T34" fmla="*/ 768 w 2256"/>
                <a:gd name="T35" fmla="*/ 0 h 384"/>
                <a:gd name="T36" fmla="*/ 864 w 2256"/>
                <a:gd name="T37" fmla="*/ 0 h 384"/>
                <a:gd name="T38" fmla="*/ 864 w 2256"/>
                <a:gd name="T39" fmla="*/ 384 h 384"/>
                <a:gd name="T40" fmla="*/ 960 w 2256"/>
                <a:gd name="T41" fmla="*/ 384 h 384"/>
                <a:gd name="T42" fmla="*/ 960 w 2256"/>
                <a:gd name="T43" fmla="*/ 0 h 384"/>
                <a:gd name="T44" fmla="*/ 1056 w 2256"/>
                <a:gd name="T45" fmla="*/ 0 h 384"/>
                <a:gd name="T46" fmla="*/ 1056 w 2256"/>
                <a:gd name="T47" fmla="*/ 384 h 384"/>
                <a:gd name="T48" fmla="*/ 1152 w 2256"/>
                <a:gd name="T49" fmla="*/ 384 h 384"/>
                <a:gd name="T50" fmla="*/ 1152 w 2256"/>
                <a:gd name="T51" fmla="*/ 0 h 384"/>
                <a:gd name="T52" fmla="*/ 1248 w 2256"/>
                <a:gd name="T53" fmla="*/ 0 h 384"/>
                <a:gd name="T54" fmla="*/ 1248 w 2256"/>
                <a:gd name="T55" fmla="*/ 384 h 384"/>
                <a:gd name="T56" fmla="*/ 1344 w 2256"/>
                <a:gd name="T57" fmla="*/ 384 h 384"/>
                <a:gd name="T58" fmla="*/ 1344 w 2256"/>
                <a:gd name="T59" fmla="*/ 0 h 384"/>
                <a:gd name="T60" fmla="*/ 1440 w 2256"/>
                <a:gd name="T61" fmla="*/ 0 h 384"/>
                <a:gd name="T62" fmla="*/ 1440 w 2256"/>
                <a:gd name="T63" fmla="*/ 384 h 384"/>
                <a:gd name="T64" fmla="*/ 1536 w 2256"/>
                <a:gd name="T65" fmla="*/ 384 h 384"/>
                <a:gd name="T66" fmla="*/ 1536 w 2256"/>
                <a:gd name="T67" fmla="*/ 0 h 384"/>
                <a:gd name="T68" fmla="*/ 1632 w 2256"/>
                <a:gd name="T69" fmla="*/ 0 h 384"/>
                <a:gd name="T70" fmla="*/ 1632 w 2256"/>
                <a:gd name="T71" fmla="*/ 384 h 384"/>
                <a:gd name="T72" fmla="*/ 1728 w 2256"/>
                <a:gd name="T73" fmla="*/ 384 h 384"/>
                <a:gd name="T74" fmla="*/ 1728 w 2256"/>
                <a:gd name="T75" fmla="*/ 0 h 384"/>
                <a:gd name="T76" fmla="*/ 1824 w 2256"/>
                <a:gd name="T77" fmla="*/ 0 h 384"/>
                <a:gd name="T78" fmla="*/ 1824 w 2256"/>
                <a:gd name="T79" fmla="*/ 384 h 384"/>
                <a:gd name="T80" fmla="*/ 2256 w 2256"/>
                <a:gd name="T81"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28018" name="Freeform 10"/>
            <p:cNvSpPr>
              <a:spLocks noChangeArrowheads="1"/>
            </p:cNvSpPr>
            <p:nvPr/>
          </p:nvSpPr>
          <p:spPr bwMode="auto">
            <a:xfrm>
              <a:off x="4245" y="3337"/>
              <a:ext cx="890" cy="392"/>
            </a:xfrm>
            <a:custGeom>
              <a:avLst/>
              <a:gdLst>
                <a:gd name="T0" fmla="*/ 768 w 768"/>
                <a:gd name="T1" fmla="*/ 384 h 384"/>
                <a:gd name="T2" fmla="*/ 672 w 768"/>
                <a:gd name="T3" fmla="*/ 384 h 384"/>
                <a:gd name="T4" fmla="*/ 672 w 768"/>
                <a:gd name="T5" fmla="*/ 0 h 384"/>
                <a:gd name="T6" fmla="*/ 576 w 768"/>
                <a:gd name="T7" fmla="*/ 0 h 384"/>
                <a:gd name="T8" fmla="*/ 576 w 768"/>
                <a:gd name="T9" fmla="*/ 384 h 384"/>
                <a:gd name="T10" fmla="*/ 480 w 768"/>
                <a:gd name="T11" fmla="*/ 384 h 384"/>
                <a:gd name="T12" fmla="*/ 480 w 768"/>
                <a:gd name="T13" fmla="*/ 0 h 384"/>
                <a:gd name="T14" fmla="*/ 384 w 768"/>
                <a:gd name="T15" fmla="*/ 0 h 384"/>
                <a:gd name="T16" fmla="*/ 384 w 768"/>
                <a:gd name="T17" fmla="*/ 384 h 384"/>
                <a:gd name="T18" fmla="*/ 288 w 768"/>
                <a:gd name="T19" fmla="*/ 384 h 384"/>
                <a:gd name="T20" fmla="*/ 288 w 768"/>
                <a:gd name="T21" fmla="*/ 0 h 384"/>
                <a:gd name="T22" fmla="*/ 192 w 768"/>
                <a:gd name="T23" fmla="*/ 0 h 384"/>
                <a:gd name="T24" fmla="*/ 192 w 768"/>
                <a:gd name="T25" fmla="*/ 384 h 384"/>
                <a:gd name="T26" fmla="*/ 0 w 768"/>
                <a:gd name="T27"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28019" name="Line 16"/>
            <p:cNvSpPr>
              <a:spLocks noChangeShapeType="1"/>
            </p:cNvSpPr>
            <p:nvPr/>
          </p:nvSpPr>
          <p:spPr bwMode="auto">
            <a:xfrm>
              <a:off x="1129" y="3533"/>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0" name="Text Box 17"/>
            <p:cNvSpPr txBox="1">
              <a:spLocks noChangeArrowheads="1"/>
            </p:cNvSpPr>
            <p:nvPr/>
          </p:nvSpPr>
          <p:spPr bwMode="auto">
            <a:xfrm>
              <a:off x="5166" y="3271"/>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时间</a:t>
              </a:r>
            </a:p>
          </p:txBody>
        </p:sp>
        <p:sp>
          <p:nvSpPr>
            <p:cNvPr id="128021" name="Line 18"/>
            <p:cNvSpPr>
              <a:spLocks noChangeShapeType="1"/>
            </p:cNvSpPr>
            <p:nvPr/>
          </p:nvSpPr>
          <p:spPr bwMode="auto">
            <a:xfrm>
              <a:off x="1352"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2" name="Line 19"/>
            <p:cNvSpPr>
              <a:spLocks noChangeShapeType="1"/>
            </p:cNvSpPr>
            <p:nvPr/>
          </p:nvSpPr>
          <p:spPr bwMode="auto">
            <a:xfrm>
              <a:off x="5135"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3" name="Line 20"/>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4" name="Text Box 21"/>
            <p:cNvSpPr txBox="1">
              <a:spLocks noChangeArrowheads="1"/>
            </p:cNvSpPr>
            <p:nvPr/>
          </p:nvSpPr>
          <p:spPr bwMode="auto">
            <a:xfrm>
              <a:off x="2468" y="3770"/>
              <a:ext cx="1331"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每</a:t>
              </a:r>
              <a:r>
                <a:rPr lang="zh-CN" altLang="en-US" sz="2000" b="1">
                  <a:solidFill>
                    <a:srgbClr val="333399"/>
                  </a:solidFill>
                  <a:ea typeface="黑体" panose="02010609060101010101" pitchFamily="49" charset="-122"/>
                  <a:sym typeface="Symbol" panose="05050102010706020507" pitchFamily="18" charset="2"/>
                </a:rPr>
                <a:t>秒</a:t>
              </a:r>
              <a:r>
                <a:rPr lang="zh-CN" altLang="en-US" sz="1600" b="1">
                  <a:solidFill>
                    <a:srgbClr val="333399"/>
                  </a:solidFill>
                  <a:ea typeface="黑体" panose="02010609060101010101" pitchFamily="49" charset="-122"/>
                  <a:sym typeface="Symbol" panose="05050102010706020507" pitchFamily="18" charset="2"/>
                </a:rPr>
                <a:t> </a:t>
              </a:r>
              <a:r>
                <a:rPr lang="en-US" altLang="zh-CN" sz="2000" b="1">
                  <a:solidFill>
                    <a:srgbClr val="333399"/>
                  </a:solidFill>
                  <a:ea typeface="黑体" panose="02010609060101010101" pitchFamily="49" charset="-122"/>
                  <a:sym typeface="Symbol" panose="05050102010706020507" pitchFamily="18" charset="2"/>
                </a:rPr>
                <a:t>4</a:t>
              </a:r>
              <a:r>
                <a:rPr lang="en-US" altLang="zh-CN" sz="1000" b="1">
                  <a:solidFill>
                    <a:srgbClr val="333399"/>
                  </a:solidFill>
                  <a:ea typeface="黑体" panose="02010609060101010101" pitchFamily="49" charset="-122"/>
                  <a:sym typeface="Symbol" panose="05050102010706020507" pitchFamily="18" charset="2"/>
                </a:rPr>
                <a:t> </a:t>
              </a:r>
              <a:r>
                <a:rPr lang="en-US" altLang="zh-CN" sz="2000" b="1">
                  <a:solidFill>
                    <a:srgbClr val="333399"/>
                  </a:solidFill>
                  <a:ea typeface="黑体" panose="02010609060101010101" pitchFamily="49" charset="-122"/>
                  <a:sym typeface="Symbol" panose="05050102010706020507" pitchFamily="18" charset="2"/>
                </a:rPr>
                <a:t></a:t>
              </a:r>
              <a:r>
                <a:rPr lang="en-US" altLang="zh-CN" sz="900" b="1">
                  <a:solidFill>
                    <a:srgbClr val="333399"/>
                  </a:solidFill>
                  <a:ea typeface="黑体" panose="02010609060101010101" pitchFamily="49" charset="-122"/>
                  <a:sym typeface="Symbol" panose="05050102010706020507" pitchFamily="18" charset="2"/>
                </a:rPr>
                <a:t> </a:t>
              </a:r>
              <a:r>
                <a:rPr lang="en-US" altLang="zh-CN" sz="2000" b="1">
                  <a:solidFill>
                    <a:srgbClr val="333399"/>
                  </a:solidFill>
                  <a:ea typeface="黑体" panose="02010609060101010101" pitchFamily="49" charset="-122"/>
                  <a:sym typeface="Symbol" panose="05050102010706020507" pitchFamily="18" charset="2"/>
                </a:rPr>
                <a:t>10</a:t>
              </a:r>
              <a:r>
                <a:rPr lang="en-US" altLang="zh-CN" sz="2000" b="1" baseline="30000">
                  <a:solidFill>
                    <a:srgbClr val="333399"/>
                  </a:solidFill>
                  <a:ea typeface="黑体" panose="02010609060101010101" pitchFamily="49" charset="-122"/>
                  <a:sym typeface="Symbol" panose="05050102010706020507" pitchFamily="18" charset="2"/>
                </a:rPr>
                <a:t>6</a:t>
              </a:r>
              <a:r>
                <a:rPr lang="en-US" altLang="zh-CN" sz="1400" b="1" baseline="30000">
                  <a:solidFill>
                    <a:srgbClr val="333399"/>
                  </a:solidFill>
                  <a:ea typeface="黑体" panose="02010609060101010101" pitchFamily="49" charset="-122"/>
                  <a:sym typeface="Symbol" panose="05050102010706020507" pitchFamily="18" charset="2"/>
                </a:rPr>
                <a:t> </a:t>
              </a:r>
              <a:r>
                <a:rPr lang="zh-CN" altLang="en-US" sz="2000" b="1">
                  <a:solidFill>
                    <a:srgbClr val="333399"/>
                  </a:solidFill>
                  <a:ea typeface="黑体" panose="02010609060101010101" pitchFamily="49" charset="-122"/>
                  <a:sym typeface="Symbol" panose="05050102010706020507" pitchFamily="18" charset="2"/>
                </a:rPr>
                <a:t>个比特</a:t>
              </a:r>
              <a:endParaRPr lang="zh-CN" altLang="en-US" sz="2000" b="1">
                <a:solidFill>
                  <a:srgbClr val="333399"/>
                </a:solidFill>
                <a:ea typeface="黑体" panose="02010609060101010101" pitchFamily="49" charset="-122"/>
              </a:endParaRPr>
            </a:p>
          </p:txBody>
        </p:sp>
        <p:sp>
          <p:nvSpPr>
            <p:cNvPr id="128025" name="Line 22"/>
            <p:cNvSpPr>
              <a:spLocks noChangeShapeType="1"/>
            </p:cNvSpPr>
            <p:nvPr/>
          </p:nvSpPr>
          <p:spPr bwMode="auto">
            <a:xfrm>
              <a:off x="2242"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6" name="Line 23"/>
            <p:cNvSpPr>
              <a:spLocks noChangeShapeType="1"/>
            </p:cNvSpPr>
            <p:nvPr/>
          </p:nvSpPr>
          <p:spPr bwMode="auto">
            <a:xfrm>
              <a:off x="2353"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7" name="Line 24"/>
            <p:cNvSpPr>
              <a:spLocks noChangeShapeType="1"/>
            </p:cNvSpPr>
            <p:nvPr/>
          </p:nvSpPr>
          <p:spPr bwMode="auto">
            <a:xfrm>
              <a:off x="1963" y="3239"/>
              <a:ext cx="279"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8" name="Line 25"/>
            <p:cNvSpPr>
              <a:spLocks noChangeShapeType="1"/>
            </p:cNvSpPr>
            <p:nvPr/>
          </p:nvSpPr>
          <p:spPr bwMode="auto">
            <a:xfrm flipH="1">
              <a:off x="2353" y="3239"/>
              <a:ext cx="278"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28029" name="Text Box 26"/>
            <p:cNvSpPr txBox="1">
              <a:spLocks noChangeArrowheads="1"/>
            </p:cNvSpPr>
            <p:nvPr/>
          </p:nvSpPr>
          <p:spPr bwMode="auto">
            <a:xfrm>
              <a:off x="2074" y="2953"/>
              <a:ext cx="6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0.25 </a:t>
              </a:r>
              <a:r>
                <a:rPr lang="en-US" altLang="zh-CN" sz="2000" b="1">
                  <a:solidFill>
                    <a:srgbClr val="333399"/>
                  </a:solidFill>
                  <a:ea typeface="黑体" panose="02010609060101010101" pitchFamily="49" charset="-122"/>
                  <a:sym typeface="Symbol" panose="05050102010706020507" pitchFamily="18" charset="2"/>
                </a:rPr>
                <a:t>s</a:t>
              </a:r>
              <a:endParaRPr lang="en-US" altLang="zh-CN" sz="2000" b="1">
                <a:solidFill>
                  <a:srgbClr val="333399"/>
                </a:solidFill>
                <a:ea typeface="黑体" panose="02010609060101010101" pitchFamily="49" charset="-122"/>
              </a:endParaRPr>
            </a:p>
          </p:txBody>
        </p:sp>
        <p:sp>
          <p:nvSpPr>
            <p:cNvPr id="128030" name="Text Box 32"/>
            <p:cNvSpPr txBox="1">
              <a:spLocks noChangeArrowheads="1"/>
            </p:cNvSpPr>
            <p:nvPr/>
          </p:nvSpPr>
          <p:spPr bwMode="auto">
            <a:xfrm>
              <a:off x="204" y="3269"/>
              <a:ext cx="713" cy="523"/>
            </a:xfrm>
            <a:prstGeom prst="rect">
              <a:avLst/>
            </a:prstGeom>
            <a:solidFill>
              <a:srgbClr val="FFFF99"/>
            </a:solidFill>
            <a:ln w="9525">
              <a:solidFill>
                <a:schemeClr val="folHlink"/>
              </a:solidFill>
              <a:miter lim="800000"/>
              <a:headEnd/>
              <a:tailEnd/>
            </a:ln>
          </p:spPr>
          <p:txBody>
            <a:bodyPr wrap="none">
              <a:spAutoFit/>
            </a:bodyPr>
            <a:lstStyle/>
            <a:p>
              <a:pPr eaLnBrk="0" hangingPunct="0"/>
              <a:r>
                <a:rPr lang="zh-CN" altLang="en-US" sz="2400" b="1">
                  <a:solidFill>
                    <a:srgbClr val="333399"/>
                  </a:solidFill>
                  <a:ea typeface="黑体" panose="02010609060101010101" pitchFamily="49" charset="-122"/>
                </a:rPr>
                <a:t>带宽为</a:t>
              </a:r>
            </a:p>
            <a:p>
              <a:pPr eaLnBrk="0" hangingPunct="0"/>
              <a:r>
                <a:rPr lang="en-US" altLang="zh-CN" sz="2400" b="1">
                  <a:solidFill>
                    <a:srgbClr val="333399"/>
                  </a:solidFill>
                  <a:ea typeface="黑体" panose="02010609060101010101" pitchFamily="49" charset="-122"/>
                </a:rPr>
                <a:t>4 Mb/s </a:t>
              </a:r>
            </a:p>
          </p:txBody>
        </p:sp>
      </p:grpSp>
      <p:sp>
        <p:nvSpPr>
          <p:cNvPr id="1280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0E5AEB-55DD-4058-9FD4-2F18EA54CC2E}" type="slidenum">
              <a:rPr lang="zh-CN" altLang="en-US" smtClean="0"/>
              <a:pPr eaLnBrk="1" hangingPunct="1"/>
              <a:t>17</a:t>
            </a:fld>
            <a:endParaRPr lang="en-US" altLang="zh-CN" smtClean="0"/>
          </a:p>
        </p:txBody>
      </p:sp>
      <p:sp>
        <p:nvSpPr>
          <p:cNvPr id="1280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吞吐量</a:t>
            </a:r>
          </a:p>
        </p:txBody>
      </p:sp>
      <p:sp>
        <p:nvSpPr>
          <p:cNvPr id="13005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吞吐量 </a:t>
            </a:r>
            <a:r>
              <a:rPr lang="en-US" altLang="zh-CN" dirty="0" smtClean="0">
                <a:ea typeface="黑体" panose="02010609060101010101" pitchFamily="49" charset="-122"/>
              </a:rPr>
              <a:t>(throughput) </a:t>
            </a:r>
            <a:r>
              <a:rPr lang="zh-CN" altLang="en-US" dirty="0" smtClean="0">
                <a:ea typeface="黑体" panose="02010609060101010101" pitchFamily="49" charset="-122"/>
              </a:rPr>
              <a:t>表示在</a:t>
            </a:r>
            <a:r>
              <a:rPr lang="zh-CN" altLang="en-US" dirty="0" smtClean="0">
                <a:solidFill>
                  <a:srgbClr val="FF0000"/>
                </a:solidFill>
                <a:ea typeface="黑体" panose="02010609060101010101" pitchFamily="49" charset="-122"/>
              </a:rPr>
              <a:t>单位时间内通过某个网络（或信道、接口）的数据量</a:t>
            </a:r>
            <a:r>
              <a:rPr lang="zh-CN" altLang="en-US" dirty="0" smtClean="0">
                <a:ea typeface="黑体" panose="02010609060101010101" pitchFamily="49" charset="-122"/>
              </a:rPr>
              <a:t>。</a:t>
            </a:r>
          </a:p>
          <a:p>
            <a:r>
              <a:rPr lang="zh-CN" altLang="en-US" dirty="0" smtClean="0">
                <a:ea typeface="黑体" panose="02010609060101010101" pitchFamily="49" charset="-122"/>
              </a:rPr>
              <a:t>吞吐量更经常地用于对现实世界中的网络的一种测量，以便知道</a:t>
            </a:r>
            <a:r>
              <a:rPr lang="zh-CN" altLang="en-US" dirty="0" smtClean="0">
                <a:solidFill>
                  <a:srgbClr val="FF0000"/>
                </a:solidFill>
                <a:ea typeface="黑体" panose="02010609060101010101" pitchFamily="49" charset="-122"/>
              </a:rPr>
              <a:t>实际上到底有多少数据量能够通过网络。</a:t>
            </a:r>
          </a:p>
          <a:p>
            <a:r>
              <a:rPr lang="zh-CN" altLang="en-US" dirty="0" smtClean="0">
                <a:solidFill>
                  <a:srgbClr val="0000CC"/>
                </a:solidFill>
                <a:ea typeface="黑体" panose="02010609060101010101" pitchFamily="49" charset="-122"/>
              </a:rPr>
              <a:t>吞吐量受网络的带宽或网络的额定速率的限制。  </a:t>
            </a:r>
          </a:p>
        </p:txBody>
      </p:sp>
      <p:sp>
        <p:nvSpPr>
          <p:cNvPr id="1300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F96FEA-6251-459E-9894-600D5F1EB559}" type="slidenum">
              <a:rPr lang="zh-CN" altLang="en-US" smtClean="0"/>
              <a:pPr eaLnBrk="1" hangingPunct="1"/>
              <a:t>18</a:t>
            </a:fld>
            <a:endParaRPr lang="en-US" altLang="zh-CN" smtClean="0"/>
          </a:p>
        </p:txBody>
      </p:sp>
      <p:sp>
        <p:nvSpPr>
          <p:cNvPr id="1300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en-US" smtClean="0">
                <a:ea typeface="黑体" panose="02010609060101010101" pitchFamily="49" charset="-122"/>
              </a:rPr>
              <a:t>时延 </a:t>
            </a:r>
            <a:r>
              <a:rPr lang="en-US" altLang="zh-CN" smtClean="0">
                <a:ea typeface="黑体" panose="02010609060101010101" pitchFamily="49" charset="-122"/>
              </a:rPr>
              <a:t>(delay </a:t>
            </a:r>
            <a:r>
              <a:rPr lang="zh-CN" altLang="en-US" smtClean="0">
                <a:ea typeface="黑体" panose="02010609060101010101" pitchFamily="49" charset="-122"/>
              </a:rPr>
              <a:t>或 </a:t>
            </a:r>
            <a:r>
              <a:rPr lang="en-US" altLang="zh-CN" smtClean="0">
                <a:ea typeface="黑体" panose="02010609060101010101" pitchFamily="49" charset="-122"/>
              </a:rPr>
              <a:t>latency)</a:t>
            </a:r>
            <a:endParaRPr lang="zh-CN" altLang="en-US" smtClean="0">
              <a:ea typeface="黑体" panose="02010609060101010101" pitchFamily="49" charset="-122"/>
            </a:endParaRPr>
          </a:p>
        </p:txBody>
      </p:sp>
      <p:sp>
        <p:nvSpPr>
          <p:cNvPr id="132098"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时延</a:t>
            </a:r>
            <a:r>
              <a:rPr lang="en-US" altLang="zh-CN" dirty="0" smtClean="0">
                <a:ea typeface="黑体" panose="02010609060101010101" pitchFamily="49" charset="-122"/>
              </a:rPr>
              <a:t> (delay </a:t>
            </a:r>
            <a:r>
              <a:rPr lang="zh-CN" altLang="zh-CN" dirty="0" smtClean="0">
                <a:ea typeface="黑体" panose="02010609060101010101" pitchFamily="49" charset="-122"/>
              </a:rPr>
              <a:t>或</a:t>
            </a:r>
            <a:r>
              <a:rPr lang="en-US" altLang="zh-CN" dirty="0" smtClean="0">
                <a:ea typeface="黑体" panose="02010609060101010101" pitchFamily="49" charset="-122"/>
              </a:rPr>
              <a:t> latency) </a:t>
            </a:r>
            <a:r>
              <a:rPr lang="zh-CN" altLang="zh-CN" dirty="0" smtClean="0">
                <a:ea typeface="黑体" panose="02010609060101010101" pitchFamily="49" charset="-122"/>
              </a:rPr>
              <a:t>是</a:t>
            </a:r>
            <a:r>
              <a:rPr lang="zh-CN" altLang="zh-CN" dirty="0" smtClean="0">
                <a:solidFill>
                  <a:srgbClr val="FF0000"/>
                </a:solidFill>
                <a:ea typeface="黑体" panose="02010609060101010101" pitchFamily="49" charset="-122"/>
              </a:rPr>
              <a:t>指数据（一个报文或分组，甚至比特）从网络（或链路）的一端传送到另一端所需的时间</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有时也称为</a:t>
            </a:r>
            <a:r>
              <a:rPr lang="zh-CN" altLang="zh-CN" dirty="0" smtClean="0">
                <a:solidFill>
                  <a:srgbClr val="FF0000"/>
                </a:solidFill>
                <a:ea typeface="黑体" panose="02010609060101010101" pitchFamily="49" charset="-122"/>
              </a:rPr>
              <a:t>延迟</a:t>
            </a:r>
            <a:r>
              <a:rPr lang="zh-CN" altLang="zh-CN" dirty="0" smtClean="0">
                <a:ea typeface="黑体" panose="02010609060101010101" pitchFamily="49" charset="-122"/>
              </a:rPr>
              <a:t>或</a:t>
            </a:r>
            <a:r>
              <a:rPr lang="zh-CN" altLang="zh-CN" dirty="0" smtClean="0">
                <a:solidFill>
                  <a:srgbClr val="FF0000"/>
                </a:solidFill>
                <a:ea typeface="黑体" panose="02010609060101010101" pitchFamily="49" charset="-122"/>
              </a:rPr>
              <a:t>迟延</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r>
              <a:rPr lang="zh-CN" altLang="zh-CN" dirty="0" smtClean="0">
                <a:ea typeface="黑体" panose="02010609060101010101" pitchFamily="49" charset="-122"/>
              </a:rPr>
              <a:t>网络中的时延由以下几个不同的部分组成</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en-US" altLang="zh-CN" dirty="0" smtClean="0">
                <a:ea typeface="黑体" panose="02010609060101010101" pitchFamily="49" charset="-122"/>
              </a:rPr>
              <a:t>(1) </a:t>
            </a:r>
            <a:r>
              <a:rPr lang="zh-CN" altLang="en-US" dirty="0" smtClean="0">
                <a:ea typeface="黑体" panose="02010609060101010101" pitchFamily="49" charset="-122"/>
              </a:rPr>
              <a:t>发送时延</a:t>
            </a:r>
            <a:endParaRPr lang="en-US" altLang="zh-CN" dirty="0" smtClean="0">
              <a:ea typeface="黑体" panose="02010609060101010101" pitchFamily="49" charset="-122"/>
            </a:endParaRPr>
          </a:p>
          <a:p>
            <a:pPr lvl="1"/>
            <a:r>
              <a:rPr lang="en-US" altLang="zh-CN" dirty="0" smtClean="0">
                <a:ea typeface="黑体" panose="02010609060101010101" pitchFamily="49" charset="-122"/>
              </a:rPr>
              <a:t>(2) </a:t>
            </a:r>
            <a:r>
              <a:rPr lang="zh-CN" altLang="en-US" dirty="0" smtClean="0">
                <a:ea typeface="黑体" panose="02010609060101010101" pitchFamily="49" charset="-122"/>
              </a:rPr>
              <a:t>传播时延</a:t>
            </a:r>
            <a:endParaRPr lang="en-US" altLang="zh-CN" dirty="0" smtClean="0">
              <a:ea typeface="黑体" panose="02010609060101010101" pitchFamily="49" charset="-122"/>
            </a:endParaRPr>
          </a:p>
          <a:p>
            <a:pPr lvl="1"/>
            <a:r>
              <a:rPr lang="en-US" altLang="zh-CN" dirty="0" smtClean="0">
                <a:ea typeface="黑体" panose="02010609060101010101" pitchFamily="49" charset="-122"/>
              </a:rPr>
              <a:t>(3) </a:t>
            </a:r>
            <a:r>
              <a:rPr lang="zh-CN" altLang="en-US" dirty="0" smtClean="0">
                <a:ea typeface="黑体" panose="02010609060101010101" pitchFamily="49" charset="-122"/>
              </a:rPr>
              <a:t>处理时延</a:t>
            </a:r>
            <a:endParaRPr lang="en-US" altLang="zh-CN" dirty="0" smtClean="0">
              <a:ea typeface="黑体" panose="02010609060101010101" pitchFamily="49" charset="-122"/>
            </a:endParaRPr>
          </a:p>
          <a:p>
            <a:pPr lvl="1"/>
            <a:r>
              <a:rPr lang="en-US" altLang="zh-CN" dirty="0" smtClean="0">
                <a:ea typeface="黑体" panose="02010609060101010101" pitchFamily="49" charset="-122"/>
              </a:rPr>
              <a:t>(4) </a:t>
            </a:r>
            <a:r>
              <a:rPr lang="zh-CN" altLang="en-US" dirty="0" smtClean="0">
                <a:ea typeface="黑体" panose="02010609060101010101" pitchFamily="49" charset="-122"/>
              </a:rPr>
              <a:t>排队时延</a:t>
            </a:r>
          </a:p>
        </p:txBody>
      </p:sp>
      <p:sp>
        <p:nvSpPr>
          <p:cNvPr id="13209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47103E-AC8E-4C70-B520-B38848D9CB9C}" type="slidenum">
              <a:rPr lang="zh-CN" altLang="en-US" smtClean="0"/>
              <a:pPr eaLnBrk="1" hangingPunct="1"/>
              <a:t>19</a:t>
            </a:fld>
            <a:endParaRPr lang="en-US" altLang="zh-CN" smtClean="0"/>
          </a:p>
        </p:txBody>
      </p:sp>
      <p:sp>
        <p:nvSpPr>
          <p:cNvPr id="13210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en-US" smtClean="0">
                <a:ea typeface="黑体" panose="02010609060101010101" pitchFamily="49" charset="-122"/>
              </a:rPr>
              <a:t>时延 </a:t>
            </a:r>
            <a:r>
              <a:rPr lang="en-US" altLang="zh-CN" smtClean="0">
                <a:ea typeface="黑体" panose="02010609060101010101" pitchFamily="49" charset="-122"/>
              </a:rPr>
              <a:t>(delay </a:t>
            </a:r>
            <a:r>
              <a:rPr lang="zh-CN" altLang="en-US" smtClean="0">
                <a:ea typeface="黑体" panose="02010609060101010101" pitchFamily="49" charset="-122"/>
              </a:rPr>
              <a:t>或 </a:t>
            </a:r>
            <a:r>
              <a:rPr lang="en-US" altLang="zh-CN" smtClean="0">
                <a:ea typeface="黑体" panose="02010609060101010101" pitchFamily="49" charset="-122"/>
              </a:rPr>
              <a:t>latency)</a:t>
            </a:r>
          </a:p>
        </p:txBody>
      </p:sp>
      <p:sp>
        <p:nvSpPr>
          <p:cNvPr id="88067" name="Rectangle 3"/>
          <p:cNvSpPr>
            <a:spLocks noGrp="1" noChangeArrowheads="1"/>
          </p:cNvSpPr>
          <p:nvPr>
            <p:ph idx="1"/>
          </p:nvPr>
        </p:nvSpPr>
        <p:spPr>
          <a:xfrm>
            <a:off x="495300" y="1196975"/>
            <a:ext cx="9066213" cy="4933950"/>
          </a:xfrm>
        </p:spPr>
        <p:txBody>
          <a:bodyPr/>
          <a:lstStyle/>
          <a:p>
            <a:r>
              <a:rPr lang="en-US" altLang="zh-CN" dirty="0" smtClean="0">
                <a:solidFill>
                  <a:srgbClr val="0000CC"/>
                </a:solidFill>
                <a:ea typeface="黑体" panose="02010609060101010101" pitchFamily="49" charset="-122"/>
              </a:rPr>
              <a:t>(1) </a:t>
            </a:r>
            <a:r>
              <a:rPr lang="zh-CN" altLang="en-US" dirty="0" smtClean="0">
                <a:solidFill>
                  <a:srgbClr val="0000CC"/>
                </a:solidFill>
                <a:ea typeface="黑体" panose="02010609060101010101" pitchFamily="49" charset="-122"/>
              </a:rPr>
              <a:t>发送时延</a:t>
            </a:r>
            <a:endParaRPr lang="en-US" altLang="zh-CN" dirty="0" smtClean="0">
              <a:solidFill>
                <a:srgbClr val="0000CC"/>
              </a:solidFill>
              <a:ea typeface="黑体" panose="02010609060101010101" pitchFamily="49" charset="-122"/>
            </a:endParaRPr>
          </a:p>
          <a:p>
            <a:pPr lvl="1"/>
            <a:r>
              <a:rPr lang="zh-CN" altLang="en-US" dirty="0" smtClean="0">
                <a:ea typeface="黑体" panose="02010609060101010101" pitchFamily="49" charset="-122"/>
              </a:rPr>
              <a:t>也称为</a:t>
            </a:r>
            <a:r>
              <a:rPr lang="zh-CN" altLang="en-US" dirty="0" smtClean="0">
                <a:solidFill>
                  <a:srgbClr val="FF0000"/>
                </a:solidFill>
                <a:ea typeface="黑体" panose="02010609060101010101" pitchFamily="49" charset="-122"/>
              </a:rPr>
              <a:t>传输时延</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zh-CN" altLang="en-US" dirty="0" smtClean="0">
                <a:ea typeface="黑体" panose="02010609060101010101" pitchFamily="49" charset="-122"/>
              </a:rPr>
              <a:t>发送数据时，数据帧从结点进入到传输媒体所需要的时间。</a:t>
            </a:r>
          </a:p>
          <a:p>
            <a:pPr lvl="1"/>
            <a:r>
              <a:rPr lang="zh-CN" altLang="en-US" dirty="0" smtClean="0">
                <a:ea typeface="黑体" panose="02010609060101010101" pitchFamily="49" charset="-122"/>
              </a:rPr>
              <a:t>也就是从发送数据帧的第一个比特算起，到该帧的最后一个比特发送完毕所需的时间。 </a:t>
            </a:r>
          </a:p>
        </p:txBody>
      </p:sp>
      <p:sp>
        <p:nvSpPr>
          <p:cNvPr id="133123"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grpSp>
        <p:nvGrpSpPr>
          <p:cNvPr id="88081" name="Group 17"/>
          <p:cNvGrpSpPr>
            <a:grpSpLocks/>
          </p:cNvGrpSpPr>
          <p:nvPr/>
        </p:nvGrpSpPr>
        <p:grpSpPr bwMode="auto">
          <a:xfrm>
            <a:off x="2144713" y="4572000"/>
            <a:ext cx="5695950" cy="1225550"/>
            <a:chOff x="1574" y="3066"/>
            <a:chExt cx="3211" cy="772"/>
          </a:xfrm>
        </p:grpSpPr>
        <p:sp>
          <p:nvSpPr>
            <p:cNvPr id="133125" name="Rectangle 14"/>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p:spPr>
          <p:txBody>
            <a:bodyPr wrap="none" anchor="ctr"/>
            <a:lstStyle/>
            <a:p>
              <a:pPr eaLnBrk="0" hangingPunct="0"/>
              <a:endParaRPr lang="zh-CN" altLang="en-US" sz="2000" b="1">
                <a:ea typeface="黑体" panose="02010609060101010101" pitchFamily="49" charset="-122"/>
              </a:endParaRPr>
            </a:p>
          </p:txBody>
        </p:sp>
        <p:sp>
          <p:nvSpPr>
            <p:cNvPr id="133126" name="Text Box 9"/>
            <p:cNvSpPr txBox="1">
              <a:spLocks noChangeArrowheads="1"/>
            </p:cNvSpPr>
            <p:nvPr/>
          </p:nvSpPr>
          <p:spPr bwMode="auto">
            <a:xfrm>
              <a:off x="1688" y="3286"/>
              <a:ext cx="1148"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CC"/>
                  </a:solidFill>
                  <a:ea typeface="黑体" panose="02010609060101010101" pitchFamily="49" charset="-122"/>
                </a:rPr>
                <a:t>发送时延 </a:t>
              </a:r>
              <a:r>
                <a:rPr lang="en-US" altLang="zh-CN" sz="2800" b="1">
                  <a:solidFill>
                    <a:srgbClr val="0000CC"/>
                  </a:solidFill>
                  <a:ea typeface="黑体" panose="02010609060101010101" pitchFamily="49" charset="-122"/>
                </a:rPr>
                <a:t>= </a:t>
              </a:r>
            </a:p>
          </p:txBody>
        </p:sp>
        <p:sp>
          <p:nvSpPr>
            <p:cNvPr id="133127" name="Text Box 10"/>
            <p:cNvSpPr txBox="1">
              <a:spLocks noChangeArrowheads="1"/>
            </p:cNvSpPr>
            <p:nvPr/>
          </p:nvSpPr>
          <p:spPr bwMode="auto">
            <a:xfrm>
              <a:off x="2789" y="3150"/>
              <a:ext cx="1775"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CC"/>
                  </a:solidFill>
                  <a:ea typeface="黑体" panose="02010609060101010101" pitchFamily="49" charset="-122"/>
                </a:rPr>
                <a:t>数据帧长度（</a:t>
              </a:r>
              <a:r>
                <a:rPr lang="en-US" altLang="zh-CN" sz="2800" b="1">
                  <a:solidFill>
                    <a:srgbClr val="FF0000"/>
                  </a:solidFill>
                  <a:ea typeface="黑体" panose="02010609060101010101" pitchFamily="49" charset="-122"/>
                </a:rPr>
                <a:t>bit</a:t>
              </a:r>
              <a:r>
                <a:rPr lang="zh-CN" altLang="en-US" sz="2800" b="1">
                  <a:solidFill>
                    <a:srgbClr val="0000CC"/>
                  </a:solidFill>
                  <a:ea typeface="黑体" panose="02010609060101010101" pitchFamily="49" charset="-122"/>
                </a:rPr>
                <a:t>）</a:t>
              </a:r>
            </a:p>
          </p:txBody>
        </p:sp>
        <p:sp>
          <p:nvSpPr>
            <p:cNvPr id="133128" name="Text Box 11"/>
            <p:cNvSpPr txBox="1">
              <a:spLocks noChangeArrowheads="1"/>
            </p:cNvSpPr>
            <p:nvPr/>
          </p:nvSpPr>
          <p:spPr bwMode="auto">
            <a:xfrm>
              <a:off x="2858" y="3467"/>
              <a:ext cx="1741"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CC"/>
                  </a:solidFill>
                  <a:ea typeface="黑体" panose="02010609060101010101" pitchFamily="49" charset="-122"/>
                </a:rPr>
                <a:t>发送速率（</a:t>
              </a:r>
              <a:r>
                <a:rPr lang="en-US" altLang="zh-CN" sz="2800" b="1">
                  <a:solidFill>
                    <a:srgbClr val="FF0000"/>
                  </a:solidFill>
                  <a:ea typeface="黑体" panose="02010609060101010101" pitchFamily="49" charset="-122"/>
                </a:rPr>
                <a:t>bit/s</a:t>
              </a:r>
              <a:r>
                <a:rPr lang="zh-CN" altLang="en-US" sz="2800" b="1">
                  <a:solidFill>
                    <a:srgbClr val="0000CC"/>
                  </a:solidFill>
                  <a:ea typeface="黑体" panose="02010609060101010101" pitchFamily="49" charset="-122"/>
                </a:rPr>
                <a:t>）</a:t>
              </a:r>
            </a:p>
          </p:txBody>
        </p:sp>
        <p:sp>
          <p:nvSpPr>
            <p:cNvPr id="133129" name="Line 12"/>
            <p:cNvSpPr>
              <a:spLocks noChangeShapeType="1"/>
            </p:cNvSpPr>
            <p:nvPr/>
          </p:nvSpPr>
          <p:spPr bwMode="auto">
            <a:xfrm>
              <a:off x="2789" y="3459"/>
              <a:ext cx="1819"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ea typeface="黑体" panose="02010609060101010101" pitchFamily="49" charset="-122"/>
              </a:endParaRPr>
            </a:p>
          </p:txBody>
        </p:sp>
      </p:grpSp>
      <p:sp>
        <p:nvSpPr>
          <p:cNvPr id="13313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CFFC6C-A576-448A-BBB0-3F7A089D92F0}" type="slidenum">
              <a:rPr lang="zh-CN" altLang="en-US" smtClean="0"/>
              <a:pPr eaLnBrk="1" hangingPunct="1"/>
              <a:t>20</a:t>
            </a:fld>
            <a:endParaRPr lang="en-US" altLang="zh-CN" smtClean="0"/>
          </a:p>
        </p:txBody>
      </p:sp>
      <p:sp>
        <p:nvSpPr>
          <p:cNvPr id="13313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0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8081"/>
                                        </p:tgtEl>
                                        <p:attrNameLst>
                                          <p:attrName>style.visibility</p:attrName>
                                        </p:attrNameLst>
                                      </p:cBhvr>
                                      <p:to>
                                        <p:strVal val="visible"/>
                                      </p:to>
                                    </p:set>
                                  </p:childTnLst>
                                </p:cTn>
                              </p:par>
                            </p:childTnLst>
                          </p:cTn>
                        </p:par>
                        <p:par>
                          <p:cTn id="17" fill="hold" nodeType="afterGroup">
                            <p:stCondLst>
                              <p:cond delay="1"/>
                            </p:stCondLst>
                            <p:childTnLst>
                              <p:par>
                                <p:cTn id="18" presetID="6" presetClass="emph" presetSubtype="0" fill="hold" nodeType="afterEffect">
                                  <p:stCondLst>
                                    <p:cond delay="0"/>
                                  </p:stCondLst>
                                  <p:childTnLst>
                                    <p:animScale>
                                      <p:cBhvr>
                                        <p:cTn id="19" dur="1000" fill="hold"/>
                                        <p:tgtEl>
                                          <p:spTgt spid="8808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en-US" smtClean="0">
                <a:ea typeface="黑体" panose="02010609060101010101" pitchFamily="49" charset="-122"/>
              </a:rPr>
              <a:t>时延 </a:t>
            </a:r>
            <a:r>
              <a:rPr lang="en-US" altLang="zh-CN" smtClean="0">
                <a:ea typeface="黑体" panose="02010609060101010101" pitchFamily="49" charset="-122"/>
              </a:rPr>
              <a:t>(delay </a:t>
            </a:r>
            <a:r>
              <a:rPr lang="zh-CN" altLang="en-US" smtClean="0">
                <a:ea typeface="黑体" panose="02010609060101010101" pitchFamily="49" charset="-122"/>
              </a:rPr>
              <a:t>或 </a:t>
            </a:r>
            <a:r>
              <a:rPr lang="en-US" altLang="zh-CN" smtClean="0">
                <a:ea typeface="黑体" panose="02010609060101010101" pitchFamily="49" charset="-122"/>
              </a:rPr>
              <a:t>latency)</a:t>
            </a:r>
          </a:p>
        </p:txBody>
      </p:sp>
      <p:sp>
        <p:nvSpPr>
          <p:cNvPr id="89091" name="Rectangle 3"/>
          <p:cNvSpPr>
            <a:spLocks noGrp="1" noChangeArrowheads="1"/>
          </p:cNvSpPr>
          <p:nvPr>
            <p:ph idx="1"/>
          </p:nvPr>
        </p:nvSpPr>
        <p:spPr>
          <a:xfrm>
            <a:off x="495300" y="1196975"/>
            <a:ext cx="9066213" cy="4933950"/>
          </a:xfrm>
        </p:spPr>
        <p:txBody>
          <a:bodyPr/>
          <a:lstStyle/>
          <a:p>
            <a:r>
              <a:rPr lang="en-US" altLang="zh-CN" smtClean="0">
                <a:solidFill>
                  <a:srgbClr val="0000CC"/>
                </a:solidFill>
                <a:ea typeface="黑体" panose="02010609060101010101" pitchFamily="49" charset="-122"/>
              </a:rPr>
              <a:t>(2) </a:t>
            </a:r>
            <a:r>
              <a:rPr lang="zh-CN" altLang="en-US" smtClean="0">
                <a:solidFill>
                  <a:srgbClr val="0000CC"/>
                </a:solidFill>
                <a:ea typeface="黑体" panose="02010609060101010101" pitchFamily="49" charset="-122"/>
              </a:rPr>
              <a:t>传播时延</a:t>
            </a:r>
            <a:endParaRPr lang="en-US" altLang="zh-CN" smtClean="0">
              <a:solidFill>
                <a:srgbClr val="0000CC"/>
              </a:solidFill>
              <a:ea typeface="黑体" panose="02010609060101010101" pitchFamily="49" charset="-122"/>
            </a:endParaRPr>
          </a:p>
          <a:p>
            <a:pPr lvl="1"/>
            <a:r>
              <a:rPr lang="zh-CN" altLang="en-US" smtClean="0">
                <a:ea typeface="黑体" panose="02010609060101010101" pitchFamily="49" charset="-122"/>
              </a:rPr>
              <a:t>电磁波在信道中需要传播一定的距离而花费的时间。 </a:t>
            </a:r>
          </a:p>
          <a:p>
            <a:pPr lvl="1"/>
            <a:r>
              <a:rPr lang="zh-CN" altLang="en-US" smtClean="0">
                <a:solidFill>
                  <a:srgbClr val="FF0000"/>
                </a:solidFill>
                <a:ea typeface="黑体" panose="02010609060101010101" pitchFamily="49" charset="-122"/>
              </a:rPr>
              <a:t>发送时延与传播时延</a:t>
            </a:r>
            <a:r>
              <a:rPr lang="zh-CN" altLang="zh-CN" smtClean="0">
                <a:solidFill>
                  <a:srgbClr val="FF0000"/>
                </a:solidFill>
                <a:ea typeface="黑体" panose="02010609060101010101" pitchFamily="49" charset="-122"/>
              </a:rPr>
              <a:t>有本质上的不同</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pPr lvl="1"/>
            <a:r>
              <a:rPr lang="zh-CN" altLang="en-US" smtClean="0">
                <a:ea typeface="黑体" panose="02010609060101010101" pitchFamily="49" charset="-122"/>
              </a:rPr>
              <a:t>信号</a:t>
            </a:r>
            <a:r>
              <a:rPr lang="zh-CN" altLang="en-US" smtClean="0">
                <a:solidFill>
                  <a:srgbClr val="FF0000"/>
                </a:solidFill>
                <a:ea typeface="黑体" panose="02010609060101010101" pitchFamily="49" charset="-122"/>
              </a:rPr>
              <a:t>发送速率</a:t>
            </a:r>
            <a:r>
              <a:rPr lang="zh-CN" altLang="en-US" smtClean="0">
                <a:ea typeface="黑体" panose="02010609060101010101" pitchFamily="49" charset="-122"/>
              </a:rPr>
              <a:t>和信号在信道上的</a:t>
            </a:r>
            <a:r>
              <a:rPr lang="zh-CN" altLang="en-US" smtClean="0">
                <a:solidFill>
                  <a:srgbClr val="FF0000"/>
                </a:solidFill>
                <a:ea typeface="黑体" panose="02010609060101010101" pitchFamily="49" charset="-122"/>
              </a:rPr>
              <a:t>传播速率</a:t>
            </a:r>
            <a:r>
              <a:rPr lang="zh-CN" altLang="en-US" smtClean="0">
                <a:ea typeface="黑体" panose="02010609060101010101" pitchFamily="49" charset="-122"/>
              </a:rPr>
              <a:t>是</a:t>
            </a:r>
            <a:r>
              <a:rPr lang="zh-CN" altLang="en-US" smtClean="0">
                <a:solidFill>
                  <a:srgbClr val="FF0000"/>
                </a:solidFill>
                <a:ea typeface="黑体" panose="02010609060101010101" pitchFamily="49" charset="-122"/>
              </a:rPr>
              <a:t>完全不同</a:t>
            </a:r>
            <a:r>
              <a:rPr lang="zh-CN" altLang="en-US" smtClean="0">
                <a:ea typeface="黑体" panose="02010609060101010101" pitchFamily="49" charset="-122"/>
              </a:rPr>
              <a:t>的概念。 </a:t>
            </a:r>
          </a:p>
          <a:p>
            <a:endParaRPr lang="en-US" altLang="zh-CN" smtClean="0">
              <a:ea typeface="黑体" panose="02010609060101010101" pitchFamily="49" charset="-122"/>
            </a:endParaRPr>
          </a:p>
        </p:txBody>
      </p:sp>
      <p:sp>
        <p:nvSpPr>
          <p:cNvPr id="135171"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grpSp>
        <p:nvGrpSpPr>
          <p:cNvPr id="89108" name="Group 20"/>
          <p:cNvGrpSpPr>
            <a:grpSpLocks/>
          </p:cNvGrpSpPr>
          <p:nvPr/>
        </p:nvGrpSpPr>
        <p:grpSpPr bwMode="auto">
          <a:xfrm>
            <a:off x="992188" y="4149725"/>
            <a:ext cx="8016875" cy="1225550"/>
            <a:chOff x="1020" y="2840"/>
            <a:chExt cx="4316" cy="772"/>
          </a:xfrm>
        </p:grpSpPr>
        <p:sp>
          <p:nvSpPr>
            <p:cNvPr id="135173" name="Rectangle 7"/>
            <p:cNvSpPr>
              <a:spLocks noChangeArrowheads="1"/>
            </p:cNvSpPr>
            <p:nvPr/>
          </p:nvSpPr>
          <p:spPr bwMode="auto">
            <a:xfrm>
              <a:off x="1020" y="2840"/>
              <a:ext cx="4316" cy="772"/>
            </a:xfrm>
            <a:prstGeom prst="rect">
              <a:avLst/>
            </a:prstGeom>
            <a:solidFill>
              <a:srgbClr val="FFFF99"/>
            </a:solidFill>
            <a:ln w="76200" cmpd="tri">
              <a:solidFill>
                <a:schemeClr val="folHlink"/>
              </a:solidFill>
              <a:miter lim="800000"/>
              <a:headEnd/>
              <a:tailEnd/>
            </a:ln>
          </p:spPr>
          <p:txBody>
            <a:bodyPr wrap="none" anchor="ctr"/>
            <a:lstStyle/>
            <a:p>
              <a:pPr eaLnBrk="0" hangingPunct="0"/>
              <a:endParaRPr lang="zh-CN" altLang="en-US" sz="2000" b="1">
                <a:solidFill>
                  <a:srgbClr val="0000CC"/>
                </a:solidFill>
                <a:ea typeface="黑体" panose="02010609060101010101" pitchFamily="49" charset="-122"/>
              </a:endParaRPr>
            </a:p>
          </p:txBody>
        </p:sp>
        <p:sp>
          <p:nvSpPr>
            <p:cNvPr id="135174" name="Text Box 9"/>
            <p:cNvSpPr txBox="1">
              <a:spLocks noChangeArrowheads="1"/>
            </p:cNvSpPr>
            <p:nvPr/>
          </p:nvSpPr>
          <p:spPr bwMode="auto">
            <a:xfrm>
              <a:off x="1134" y="3060"/>
              <a:ext cx="1096"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CC"/>
                  </a:solidFill>
                  <a:ea typeface="黑体" panose="02010609060101010101" pitchFamily="49" charset="-122"/>
                </a:rPr>
                <a:t>传播时延 </a:t>
              </a:r>
              <a:r>
                <a:rPr lang="en-US" altLang="zh-CN" sz="2800" b="1">
                  <a:solidFill>
                    <a:srgbClr val="0000CC"/>
                  </a:solidFill>
                  <a:ea typeface="黑体" panose="02010609060101010101" pitchFamily="49" charset="-122"/>
                </a:rPr>
                <a:t>= </a:t>
              </a:r>
            </a:p>
          </p:txBody>
        </p:sp>
        <p:sp>
          <p:nvSpPr>
            <p:cNvPr id="135175" name="Text Box 10"/>
            <p:cNvSpPr txBox="1">
              <a:spLocks noChangeArrowheads="1"/>
            </p:cNvSpPr>
            <p:nvPr/>
          </p:nvSpPr>
          <p:spPr bwMode="auto">
            <a:xfrm>
              <a:off x="3015" y="2916"/>
              <a:ext cx="1459"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CC"/>
                  </a:solidFill>
                  <a:ea typeface="黑体" panose="02010609060101010101" pitchFamily="49" charset="-122"/>
                </a:rPr>
                <a:t>信道长度（</a:t>
              </a:r>
              <a:r>
                <a:rPr lang="zh-CN" altLang="en-US" sz="2800" b="1">
                  <a:solidFill>
                    <a:srgbClr val="FF0000"/>
                  </a:solidFill>
                  <a:ea typeface="黑体" panose="02010609060101010101" pitchFamily="49" charset="-122"/>
                </a:rPr>
                <a:t>米</a:t>
              </a:r>
              <a:r>
                <a:rPr lang="zh-CN" altLang="en-US" sz="2800" b="1">
                  <a:solidFill>
                    <a:srgbClr val="0000CC"/>
                  </a:solidFill>
                  <a:ea typeface="黑体" panose="02010609060101010101" pitchFamily="49" charset="-122"/>
                </a:rPr>
                <a:t>）</a:t>
              </a:r>
            </a:p>
          </p:txBody>
        </p:sp>
        <p:sp>
          <p:nvSpPr>
            <p:cNvPr id="135176" name="Text Box 11"/>
            <p:cNvSpPr txBox="1">
              <a:spLocks noChangeArrowheads="1"/>
            </p:cNvSpPr>
            <p:nvPr/>
          </p:nvSpPr>
          <p:spPr bwMode="auto">
            <a:xfrm>
              <a:off x="2147" y="3248"/>
              <a:ext cx="3137"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0000CC"/>
                  </a:solidFill>
                  <a:ea typeface="黑体" panose="02010609060101010101" pitchFamily="49" charset="-122"/>
                </a:rPr>
                <a:t>信号在信道上的传播速率（</a:t>
              </a:r>
              <a:r>
                <a:rPr lang="zh-CN" altLang="en-US" sz="2800" b="1">
                  <a:solidFill>
                    <a:srgbClr val="FF0000"/>
                  </a:solidFill>
                  <a:ea typeface="黑体" panose="02010609060101010101" pitchFamily="49" charset="-122"/>
                </a:rPr>
                <a:t>米</a:t>
              </a:r>
              <a:r>
                <a:rPr lang="en-US" altLang="zh-CN" sz="2800" b="1">
                  <a:solidFill>
                    <a:srgbClr val="FF0000"/>
                  </a:solidFill>
                  <a:ea typeface="黑体" panose="02010609060101010101" pitchFamily="49" charset="-122"/>
                </a:rPr>
                <a:t>/</a:t>
              </a:r>
              <a:r>
                <a:rPr lang="zh-CN" altLang="en-US" sz="2800" b="1">
                  <a:solidFill>
                    <a:srgbClr val="FF0000"/>
                  </a:solidFill>
                  <a:ea typeface="黑体" panose="02010609060101010101" pitchFamily="49" charset="-122"/>
                </a:rPr>
                <a:t>秒</a:t>
              </a:r>
              <a:r>
                <a:rPr lang="zh-CN" altLang="en-US" sz="2800" b="1">
                  <a:solidFill>
                    <a:srgbClr val="0000CC"/>
                  </a:solidFill>
                  <a:ea typeface="黑体" panose="02010609060101010101" pitchFamily="49" charset="-122"/>
                </a:rPr>
                <a:t>）</a:t>
              </a:r>
            </a:p>
          </p:txBody>
        </p:sp>
        <p:sp>
          <p:nvSpPr>
            <p:cNvPr id="135177" name="Line 12"/>
            <p:cNvSpPr>
              <a:spLocks noChangeShapeType="1"/>
            </p:cNvSpPr>
            <p:nvPr/>
          </p:nvSpPr>
          <p:spPr bwMode="auto">
            <a:xfrm>
              <a:off x="2152" y="3233"/>
              <a:ext cx="2977" cy="13"/>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CC"/>
                </a:solidFill>
                <a:ea typeface="黑体" panose="02010609060101010101" pitchFamily="49" charset="-122"/>
              </a:endParaRPr>
            </a:p>
          </p:txBody>
        </p:sp>
      </p:grpSp>
      <p:sp>
        <p:nvSpPr>
          <p:cNvPr id="13517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A7F202-B26C-47E8-A36A-B3374DB6DD80}" type="slidenum">
              <a:rPr lang="zh-CN" altLang="en-US" smtClean="0"/>
              <a:pPr eaLnBrk="1" hangingPunct="1"/>
              <a:t>21</a:t>
            </a:fld>
            <a:endParaRPr lang="en-US" altLang="zh-CN" smtClean="0"/>
          </a:p>
        </p:txBody>
      </p:sp>
      <p:sp>
        <p:nvSpPr>
          <p:cNvPr id="13517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0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90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09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9108"/>
                                        </p:tgtEl>
                                        <p:attrNameLst>
                                          <p:attrName>style.visibility</p:attrName>
                                        </p:attrNameLst>
                                      </p:cBhvr>
                                      <p:to>
                                        <p:strVal val="visible"/>
                                      </p:to>
                                    </p:set>
                                  </p:childTnLst>
                                </p:cTn>
                              </p:par>
                            </p:childTnLst>
                          </p:cTn>
                        </p:par>
                        <p:par>
                          <p:cTn id="17" fill="hold" nodeType="afterGroup">
                            <p:stCondLst>
                              <p:cond delay="1"/>
                            </p:stCondLst>
                            <p:childTnLst>
                              <p:par>
                                <p:cTn id="18" presetID="6" presetClass="emph" presetSubtype="0" fill="hold" nodeType="afterEffect">
                                  <p:stCondLst>
                                    <p:cond delay="0"/>
                                  </p:stCondLst>
                                  <p:childTnLst>
                                    <p:animScale>
                                      <p:cBhvr>
                                        <p:cTn id="19" dur="1000" fill="hold"/>
                                        <p:tgtEl>
                                          <p:spTgt spid="8910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en-US" smtClean="0">
                <a:ea typeface="黑体" panose="02010609060101010101" pitchFamily="49" charset="-122"/>
              </a:rPr>
              <a:t>时延 </a:t>
            </a:r>
            <a:r>
              <a:rPr lang="en-US" altLang="zh-CN" smtClean="0">
                <a:ea typeface="黑体" panose="02010609060101010101" pitchFamily="49" charset="-122"/>
              </a:rPr>
              <a:t>(delay </a:t>
            </a:r>
            <a:r>
              <a:rPr lang="zh-CN" altLang="en-US" smtClean="0">
                <a:ea typeface="黑体" panose="02010609060101010101" pitchFamily="49" charset="-122"/>
              </a:rPr>
              <a:t>或 </a:t>
            </a:r>
            <a:r>
              <a:rPr lang="en-US" altLang="zh-CN" smtClean="0">
                <a:ea typeface="黑体" panose="02010609060101010101" pitchFamily="49" charset="-122"/>
              </a:rPr>
              <a:t>latency)</a:t>
            </a:r>
            <a:endParaRPr lang="zh-CN" altLang="en-US" smtClean="0">
              <a:ea typeface="黑体" panose="02010609060101010101" pitchFamily="49" charset="-122"/>
            </a:endParaRPr>
          </a:p>
        </p:txBody>
      </p:sp>
      <p:sp>
        <p:nvSpPr>
          <p:cNvPr id="137218" name="内容占位符 2"/>
          <p:cNvSpPr>
            <a:spLocks noGrp="1" noChangeArrowheads="1"/>
          </p:cNvSpPr>
          <p:nvPr>
            <p:ph idx="1"/>
          </p:nvPr>
        </p:nvSpPr>
        <p:spPr>
          <a:xfrm>
            <a:off x="495300" y="1196975"/>
            <a:ext cx="9066213" cy="4933950"/>
          </a:xfrm>
        </p:spPr>
        <p:txBody>
          <a:bodyPr/>
          <a:lstStyle/>
          <a:p>
            <a:r>
              <a:rPr lang="en-US" altLang="zh-CN" smtClean="0">
                <a:solidFill>
                  <a:srgbClr val="0000CC"/>
                </a:solidFill>
                <a:ea typeface="黑体" panose="02010609060101010101" pitchFamily="49" charset="-122"/>
              </a:rPr>
              <a:t>(3) </a:t>
            </a:r>
            <a:r>
              <a:rPr lang="zh-CN" altLang="en-US" smtClean="0">
                <a:solidFill>
                  <a:srgbClr val="0000CC"/>
                </a:solidFill>
                <a:ea typeface="黑体" panose="02010609060101010101" pitchFamily="49" charset="-122"/>
              </a:rPr>
              <a:t>处理时延</a:t>
            </a:r>
            <a:endParaRPr lang="en-US" altLang="zh-CN" smtClean="0">
              <a:solidFill>
                <a:srgbClr val="0000CC"/>
              </a:solidFill>
              <a:ea typeface="黑体" panose="02010609060101010101" pitchFamily="49" charset="-122"/>
            </a:endParaRPr>
          </a:p>
          <a:p>
            <a:pPr lvl="1"/>
            <a:r>
              <a:rPr lang="zh-CN" altLang="zh-CN" smtClean="0">
                <a:ea typeface="黑体" panose="02010609060101010101" pitchFamily="49" charset="-122"/>
              </a:rPr>
              <a:t>主机或路由器</a:t>
            </a:r>
            <a:r>
              <a:rPr lang="zh-CN" altLang="en-US" smtClean="0">
                <a:ea typeface="黑体" panose="02010609060101010101" pitchFamily="49" charset="-122"/>
              </a:rPr>
              <a:t>在收到分组时，为处理分组（例如分析</a:t>
            </a:r>
            <a:r>
              <a:rPr lang="zh-CN" altLang="zh-CN" smtClean="0">
                <a:ea typeface="黑体" panose="02010609060101010101" pitchFamily="49" charset="-122"/>
              </a:rPr>
              <a:t>首部、提取数据、差错检验或查找路由</a:t>
            </a:r>
            <a:r>
              <a:rPr lang="zh-CN" altLang="en-US" smtClean="0">
                <a:ea typeface="黑体" panose="02010609060101010101" pitchFamily="49" charset="-122"/>
              </a:rPr>
              <a:t>）所花费的时间。 </a:t>
            </a:r>
          </a:p>
          <a:p>
            <a:r>
              <a:rPr lang="en-US" altLang="zh-CN" smtClean="0">
                <a:solidFill>
                  <a:srgbClr val="0000CC"/>
                </a:solidFill>
                <a:ea typeface="黑体" panose="02010609060101010101" pitchFamily="49" charset="-122"/>
              </a:rPr>
              <a:t>(4) </a:t>
            </a:r>
            <a:r>
              <a:rPr lang="zh-CN" altLang="en-US" smtClean="0">
                <a:solidFill>
                  <a:srgbClr val="0000CC"/>
                </a:solidFill>
                <a:ea typeface="黑体" panose="02010609060101010101" pitchFamily="49" charset="-122"/>
              </a:rPr>
              <a:t>排队时延</a:t>
            </a:r>
            <a:endParaRPr lang="en-US" altLang="zh-CN" smtClean="0">
              <a:solidFill>
                <a:srgbClr val="0000CC"/>
              </a:solidFill>
              <a:ea typeface="黑体" panose="02010609060101010101" pitchFamily="49" charset="-122"/>
            </a:endParaRPr>
          </a:p>
          <a:p>
            <a:pPr lvl="1"/>
            <a:r>
              <a:rPr lang="zh-CN" altLang="en-US" smtClean="0">
                <a:ea typeface="黑体" panose="02010609060101010101" pitchFamily="49" charset="-122"/>
              </a:rPr>
              <a:t>分组在路由器输入输出队列中</a:t>
            </a:r>
            <a:r>
              <a:rPr lang="zh-CN" altLang="en-US" smtClean="0">
                <a:solidFill>
                  <a:srgbClr val="FF0000"/>
                </a:solidFill>
                <a:ea typeface="黑体" panose="02010609060101010101" pitchFamily="49" charset="-122"/>
              </a:rPr>
              <a:t>排队等待处理</a:t>
            </a:r>
            <a:r>
              <a:rPr lang="zh-CN" altLang="en-US" smtClean="0">
                <a:ea typeface="黑体" panose="02010609060101010101" pitchFamily="49" charset="-122"/>
              </a:rPr>
              <a:t>所经历的时延。</a:t>
            </a:r>
          </a:p>
          <a:p>
            <a:pPr lvl="1"/>
            <a:r>
              <a:rPr lang="zh-CN" altLang="en-US" smtClean="0">
                <a:solidFill>
                  <a:srgbClr val="FF0000"/>
                </a:solidFill>
                <a:ea typeface="黑体" panose="02010609060101010101" pitchFamily="49" charset="-122"/>
              </a:rPr>
              <a:t>排队时延的长短往往取决于网络中当时的通信量。</a:t>
            </a:r>
          </a:p>
          <a:p>
            <a:endParaRPr lang="zh-CN" altLang="en-US" smtClean="0">
              <a:ea typeface="黑体" panose="02010609060101010101" pitchFamily="49" charset="-122"/>
            </a:endParaRPr>
          </a:p>
        </p:txBody>
      </p:sp>
      <p:sp>
        <p:nvSpPr>
          <p:cNvPr id="1372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C8A763-970B-4A36-9877-D701E2A27EBF}" type="slidenum">
              <a:rPr lang="zh-CN" altLang="en-US" smtClean="0"/>
              <a:pPr eaLnBrk="1" hangingPunct="1"/>
              <a:t>22</a:t>
            </a:fld>
            <a:endParaRPr lang="en-US" altLang="zh-CN" smtClean="0"/>
          </a:p>
        </p:txBody>
      </p:sp>
      <p:sp>
        <p:nvSpPr>
          <p:cNvPr id="1372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en-US" smtClean="0">
                <a:ea typeface="黑体" panose="02010609060101010101" pitchFamily="49" charset="-122"/>
              </a:rPr>
              <a:t>时延 </a:t>
            </a:r>
            <a:r>
              <a:rPr lang="en-US" altLang="zh-CN" smtClean="0">
                <a:ea typeface="黑体" panose="02010609060101010101" pitchFamily="49" charset="-122"/>
              </a:rPr>
              <a:t>(delay </a:t>
            </a:r>
            <a:r>
              <a:rPr lang="zh-CN" altLang="en-US" smtClean="0">
                <a:ea typeface="黑体" panose="02010609060101010101" pitchFamily="49" charset="-122"/>
              </a:rPr>
              <a:t>或 </a:t>
            </a:r>
            <a:r>
              <a:rPr lang="en-US" altLang="zh-CN" smtClean="0">
                <a:ea typeface="黑体" panose="02010609060101010101" pitchFamily="49" charset="-122"/>
              </a:rPr>
              <a:t>latency)</a:t>
            </a:r>
            <a:endParaRPr lang="zh-CN" altLang="en-US" smtClean="0">
              <a:ea typeface="黑体" panose="02010609060101010101" pitchFamily="49" charset="-122"/>
            </a:endParaRPr>
          </a:p>
        </p:txBody>
      </p:sp>
      <p:sp>
        <p:nvSpPr>
          <p:cNvPr id="138242" name="内容占位符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数据在网络中经历的总时延就是发送时延、传播时延、处理时延和排队时延</a:t>
            </a:r>
            <a:r>
              <a:rPr lang="zh-CN" altLang="en-US" smtClean="0">
                <a:solidFill>
                  <a:srgbClr val="FF0000"/>
                </a:solidFill>
                <a:ea typeface="黑体" panose="02010609060101010101" pitchFamily="49" charset="-122"/>
              </a:rPr>
              <a:t>之和。</a:t>
            </a:r>
          </a:p>
        </p:txBody>
      </p:sp>
      <p:sp>
        <p:nvSpPr>
          <p:cNvPr id="4" name="Text Box 6"/>
          <p:cNvSpPr txBox="1">
            <a:spLocks noChangeArrowheads="1"/>
          </p:cNvSpPr>
          <p:nvPr/>
        </p:nvSpPr>
        <p:spPr bwMode="auto">
          <a:xfrm>
            <a:off x="2576513" y="2492375"/>
            <a:ext cx="4897437" cy="22939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ts val="600"/>
              </a:spcBef>
            </a:pPr>
            <a:r>
              <a:rPr lang="zh-CN" altLang="en-US" sz="3200" b="1">
                <a:solidFill>
                  <a:srgbClr val="0000CC"/>
                </a:solidFill>
                <a:ea typeface="黑体" panose="02010609060101010101" pitchFamily="49" charset="-122"/>
              </a:rPr>
              <a:t>总时延  </a:t>
            </a:r>
            <a:r>
              <a:rPr lang="en-US" altLang="zh-CN" sz="3200" b="1">
                <a:solidFill>
                  <a:srgbClr val="0000CC"/>
                </a:solidFill>
                <a:ea typeface="黑体" panose="02010609060101010101" pitchFamily="49" charset="-122"/>
              </a:rPr>
              <a:t>= 	   </a:t>
            </a:r>
            <a:r>
              <a:rPr lang="zh-CN" altLang="en-US" sz="3200" b="1">
                <a:solidFill>
                  <a:srgbClr val="0000CC"/>
                </a:solidFill>
                <a:ea typeface="黑体" panose="02010609060101010101" pitchFamily="49" charset="-122"/>
              </a:rPr>
              <a:t>发送时延 </a:t>
            </a:r>
            <a:r>
              <a:rPr lang="en-US" altLang="zh-CN" sz="3200" b="1">
                <a:solidFill>
                  <a:srgbClr val="0000CC"/>
                </a:solidFill>
                <a:ea typeface="黑体" panose="02010609060101010101" pitchFamily="49" charset="-122"/>
              </a:rPr>
              <a:t> </a:t>
            </a:r>
          </a:p>
          <a:p>
            <a:pPr eaLnBrk="0" hangingPunct="0">
              <a:spcBef>
                <a:spcPts val="600"/>
              </a:spcBef>
            </a:pPr>
            <a:r>
              <a:rPr lang="en-US" altLang="zh-CN" sz="3200" b="1">
                <a:solidFill>
                  <a:srgbClr val="0000CC"/>
                </a:solidFill>
                <a:ea typeface="黑体" panose="02010609060101010101" pitchFamily="49" charset="-122"/>
              </a:rPr>
              <a:t>		+ </a:t>
            </a:r>
            <a:r>
              <a:rPr lang="zh-CN" altLang="en-US" sz="3200" b="1">
                <a:solidFill>
                  <a:srgbClr val="0000CC"/>
                </a:solidFill>
                <a:ea typeface="黑体" panose="02010609060101010101" pitchFamily="49" charset="-122"/>
              </a:rPr>
              <a:t>传播时延 </a:t>
            </a:r>
            <a:r>
              <a:rPr lang="en-US" altLang="zh-CN" sz="3200" b="1">
                <a:solidFill>
                  <a:srgbClr val="0000CC"/>
                </a:solidFill>
                <a:ea typeface="黑体" panose="02010609060101010101" pitchFamily="49" charset="-122"/>
              </a:rPr>
              <a:t> </a:t>
            </a:r>
          </a:p>
          <a:p>
            <a:pPr eaLnBrk="0" hangingPunct="0">
              <a:spcBef>
                <a:spcPts val="600"/>
              </a:spcBef>
            </a:pPr>
            <a:r>
              <a:rPr lang="en-US" altLang="zh-CN" sz="3200" b="1">
                <a:solidFill>
                  <a:srgbClr val="0000CC"/>
                </a:solidFill>
                <a:ea typeface="黑体" panose="02010609060101010101" pitchFamily="49" charset="-122"/>
              </a:rPr>
              <a:t>		+ </a:t>
            </a:r>
            <a:r>
              <a:rPr lang="zh-CN" altLang="en-US" sz="3200" b="1">
                <a:solidFill>
                  <a:srgbClr val="0000CC"/>
                </a:solidFill>
                <a:ea typeface="黑体" panose="02010609060101010101" pitchFamily="49" charset="-122"/>
              </a:rPr>
              <a:t>处理时延 </a:t>
            </a:r>
            <a:r>
              <a:rPr lang="en-US" altLang="zh-CN" sz="3200" b="1">
                <a:solidFill>
                  <a:srgbClr val="0000CC"/>
                </a:solidFill>
                <a:ea typeface="黑体" panose="02010609060101010101" pitchFamily="49" charset="-122"/>
              </a:rPr>
              <a:t> </a:t>
            </a:r>
          </a:p>
          <a:p>
            <a:pPr eaLnBrk="0" hangingPunct="0">
              <a:spcBef>
                <a:spcPts val="600"/>
              </a:spcBef>
            </a:pPr>
            <a:r>
              <a:rPr lang="en-US" altLang="zh-CN" sz="3200" b="1">
                <a:solidFill>
                  <a:srgbClr val="0000CC"/>
                </a:solidFill>
                <a:ea typeface="黑体" panose="02010609060101010101" pitchFamily="49" charset="-122"/>
              </a:rPr>
              <a:t>		+ </a:t>
            </a:r>
            <a:r>
              <a:rPr lang="zh-CN" altLang="en-US" sz="3200" b="1">
                <a:solidFill>
                  <a:srgbClr val="0000CC"/>
                </a:solidFill>
                <a:ea typeface="黑体" panose="02010609060101010101" pitchFamily="49" charset="-122"/>
              </a:rPr>
              <a:t>排队时延</a:t>
            </a:r>
          </a:p>
        </p:txBody>
      </p:sp>
      <p:sp>
        <p:nvSpPr>
          <p:cNvPr id="5" name="矩形 4"/>
          <p:cNvSpPr>
            <a:spLocks noChangeArrowheads="1"/>
          </p:cNvSpPr>
          <p:nvPr/>
        </p:nvSpPr>
        <p:spPr bwMode="auto">
          <a:xfrm>
            <a:off x="1208088" y="5046663"/>
            <a:ext cx="7632700" cy="95408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800" b="1">
                <a:solidFill>
                  <a:schemeClr val="bg1"/>
                </a:solidFill>
                <a:ea typeface="黑体" panose="02010609060101010101" pitchFamily="49" charset="-122"/>
              </a:rPr>
              <a:t>必须指出，在总时延中，究竟是哪一种时延占主导地位，必须具体分析</a:t>
            </a:r>
            <a:r>
              <a:rPr lang="zh-CN" altLang="en-US" sz="2800" b="1">
                <a:solidFill>
                  <a:schemeClr val="bg1"/>
                </a:solidFill>
                <a:ea typeface="黑体" panose="02010609060101010101" pitchFamily="49" charset="-122"/>
              </a:rPr>
              <a:t>。</a:t>
            </a:r>
          </a:p>
        </p:txBody>
      </p:sp>
      <p:sp>
        <p:nvSpPr>
          <p:cNvPr id="138245"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E9CBC0-1921-4C5E-A781-FFEFAF6644C9}" type="slidenum">
              <a:rPr lang="zh-CN" altLang="en-US" smtClean="0"/>
              <a:pPr eaLnBrk="1" hangingPunct="1"/>
              <a:t>23</a:t>
            </a:fld>
            <a:endParaRPr lang="en-US" altLang="zh-CN" smtClean="0"/>
          </a:p>
        </p:txBody>
      </p:sp>
      <p:sp>
        <p:nvSpPr>
          <p:cNvPr id="138246"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nodeType="afterGroup">
                            <p:stCondLst>
                              <p:cond delay="1"/>
                            </p:stCondLst>
                            <p:childTnLst>
                              <p:par>
                                <p:cTn id="8" presetID="6" presetClass="emph" presetSubtype="0" fill="hold" grpId="1" nodeType="afterEffect">
                                  <p:stCondLst>
                                    <p:cond delay="0"/>
                                  </p:stCondLst>
                                  <p:childTnLst>
                                    <p:animScale>
                                      <p:cBhvr>
                                        <p:cTn id="9" dur="1000" fill="hold"/>
                                        <p:tgtEl>
                                          <p:spTgt spid="4"/>
                                        </p:tgtEl>
                                      </p:cBhvr>
                                      <p:by x="120000" y="120000"/>
                                    </p:animScale>
                                  </p:childTnLst>
                                </p:cTn>
                              </p:par>
                            </p:childTnLst>
                          </p:cTn>
                        </p:par>
                        <p:par>
                          <p:cTn id="10" fill="hold" nodeType="afterGroup">
                            <p:stCondLst>
                              <p:cond delay="1001"/>
                            </p:stCondLst>
                            <p:childTnLst>
                              <p:par>
                                <p:cTn id="11" presetID="1"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p:txBody>
          <a:bodyPr/>
          <a:lstStyle/>
          <a:p>
            <a:pPr algn="ctr"/>
            <a:r>
              <a:rPr lang="zh-CN" altLang="en-US" smtClean="0">
                <a:ea typeface="黑体" panose="02010609060101010101" pitchFamily="49" charset="-122"/>
              </a:rPr>
              <a:t>四种时延所产生的地方 </a:t>
            </a:r>
          </a:p>
        </p:txBody>
      </p:sp>
      <p:sp>
        <p:nvSpPr>
          <p:cNvPr id="139266" name="Rectangle 7"/>
          <p:cNvSpPr>
            <a:spLocks noChangeArrowheads="1"/>
          </p:cNvSpPr>
          <p:nvPr/>
        </p:nvSpPr>
        <p:spPr bwMode="auto">
          <a:xfrm>
            <a:off x="2347913" y="4394200"/>
            <a:ext cx="5983287" cy="265113"/>
          </a:xfrm>
          <a:prstGeom prst="rect">
            <a:avLst/>
          </a:prstGeom>
          <a:gradFill rotWithShape="1">
            <a:gsLst>
              <a:gs pos="0">
                <a:srgbClr val="313131"/>
              </a:gs>
              <a:gs pos="50000">
                <a:srgbClr val="B2B2B2"/>
              </a:gs>
              <a:gs pos="100000">
                <a:srgbClr val="313131"/>
              </a:gs>
            </a:gsLst>
            <a:lin ang="5400000" scaled="1"/>
          </a:gradFill>
          <a:ln w="9525">
            <a:solidFill>
              <a:schemeClr val="folHlink"/>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9267" name="Oval 9"/>
          <p:cNvSpPr>
            <a:spLocks noChangeArrowheads="1"/>
          </p:cNvSpPr>
          <p:nvPr/>
        </p:nvSpPr>
        <p:spPr bwMode="auto">
          <a:xfrm>
            <a:off x="974725" y="3860800"/>
            <a:ext cx="1471613" cy="1331913"/>
          </a:xfrm>
          <a:prstGeom prst="ellipse">
            <a:avLst/>
          </a:prstGeom>
          <a:gradFill rotWithShape="1">
            <a:gsLst>
              <a:gs pos="0">
                <a:srgbClr val="FFFF99"/>
              </a:gs>
              <a:gs pos="100000">
                <a:srgbClr val="B2B26B"/>
              </a:gs>
            </a:gsLst>
            <a:path path="shape">
              <a:fillToRect l="50000" t="50000" r="50000" b="50000"/>
            </a:path>
          </a:gradFill>
          <a:ln w="9525">
            <a:solidFill>
              <a:schemeClr val="folHlink"/>
            </a:solidFill>
            <a:round/>
            <a:headEnd/>
            <a:tailEnd/>
          </a:ln>
        </p:spPr>
        <p:txBody>
          <a:bodyPr wrap="none" anchor="ctr"/>
          <a:lstStyle/>
          <a:p>
            <a:pPr eaLnBrk="0" hangingPunct="0"/>
            <a:endParaRPr lang="zh-CN" altLang="en-US" b="1">
              <a:ea typeface="黑体" panose="02010609060101010101" pitchFamily="49" charset="-122"/>
            </a:endParaRPr>
          </a:p>
        </p:txBody>
      </p:sp>
      <p:sp>
        <p:nvSpPr>
          <p:cNvPr id="139268" name="Oval 10"/>
          <p:cNvSpPr>
            <a:spLocks noChangeArrowheads="1"/>
          </p:cNvSpPr>
          <p:nvPr/>
        </p:nvSpPr>
        <p:spPr bwMode="auto">
          <a:xfrm>
            <a:off x="8232775" y="3860800"/>
            <a:ext cx="1473200" cy="1331913"/>
          </a:xfrm>
          <a:prstGeom prst="ellipse">
            <a:avLst/>
          </a:prstGeom>
          <a:gradFill rotWithShape="1">
            <a:gsLst>
              <a:gs pos="0">
                <a:srgbClr val="FFFF99"/>
              </a:gs>
              <a:gs pos="100000">
                <a:srgbClr val="AAAA66"/>
              </a:gs>
            </a:gsLst>
            <a:path path="shape">
              <a:fillToRect l="50000" t="50000" r="50000" b="50000"/>
            </a:path>
          </a:gradFill>
          <a:ln w="9525">
            <a:solidFill>
              <a:schemeClr val="folHlink"/>
            </a:solidFill>
            <a:round/>
            <a:headEnd/>
            <a:tailEnd/>
          </a:ln>
        </p:spPr>
        <p:txBody>
          <a:bodyPr wrap="none" anchor="ctr"/>
          <a:lstStyle/>
          <a:p>
            <a:pPr eaLnBrk="0" hangingPunct="0"/>
            <a:endParaRPr lang="zh-CN" altLang="en-US" b="1">
              <a:ea typeface="黑体" panose="02010609060101010101" pitchFamily="49" charset="-122"/>
            </a:endParaRPr>
          </a:p>
        </p:txBody>
      </p:sp>
      <p:grpSp>
        <p:nvGrpSpPr>
          <p:cNvPr id="139269" name="Group 11"/>
          <p:cNvGrpSpPr>
            <a:grpSpLocks/>
          </p:cNvGrpSpPr>
          <p:nvPr/>
        </p:nvGrpSpPr>
        <p:grpSpPr bwMode="auto">
          <a:xfrm>
            <a:off x="1366838" y="4268788"/>
            <a:ext cx="784225" cy="458787"/>
            <a:chOff x="1567" y="1056"/>
            <a:chExt cx="384" cy="336"/>
          </a:xfrm>
        </p:grpSpPr>
        <p:sp>
          <p:nvSpPr>
            <p:cNvPr id="139270" name="Rectangle 12"/>
            <p:cNvSpPr>
              <a:spLocks noChangeArrowheads="1"/>
            </p:cNvSpPr>
            <p:nvPr/>
          </p:nvSpPr>
          <p:spPr bwMode="auto">
            <a:xfrm>
              <a:off x="1663" y="1056"/>
              <a:ext cx="288" cy="336"/>
            </a:xfrm>
            <a:prstGeom prst="rect">
              <a:avLst/>
            </a:prstGeom>
            <a:solidFill>
              <a:srgbClr val="FF6600"/>
            </a:solidFill>
            <a:ln w="9525">
              <a:solidFill>
                <a:srgbClr val="0000FF"/>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9271" name="Freeform 13"/>
            <p:cNvSpPr>
              <a:spLocks noChangeArrowheads="1"/>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Lst>
              <a:ahLst/>
              <a:cxnLst>
                <a:cxn ang="0">
                  <a:pos x="T0" y="T1"/>
                </a:cxn>
                <a:cxn ang="0">
                  <a:pos x="T2" y="T3"/>
                </a:cxn>
                <a:cxn ang="0">
                  <a:pos x="T4" y="T5"/>
                </a:cxn>
                <a:cxn ang="0">
                  <a:pos x="T6" y="T7"/>
                </a:cxn>
              </a:cxnLst>
              <a:rect l="0" t="0" r="r" b="b"/>
              <a:pathLst>
                <a:path w="384" h="336">
                  <a:moveTo>
                    <a:pt x="0" y="0"/>
                  </a:moveTo>
                  <a:lnTo>
                    <a:pt x="384" y="0"/>
                  </a:lnTo>
                  <a:lnTo>
                    <a:pt x="384" y="336"/>
                  </a:lnTo>
                  <a:lnTo>
                    <a:pt x="0" y="336"/>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139272" name="Line 14"/>
            <p:cNvSpPr>
              <a:spLocks noChangeShapeType="1"/>
            </p:cNvSpPr>
            <p:nvPr/>
          </p:nvSpPr>
          <p:spPr bwMode="auto">
            <a:xfrm>
              <a:off x="1855" y="1056"/>
              <a:ext cx="0" cy="336"/>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9273" name="Line 15"/>
            <p:cNvSpPr>
              <a:spLocks noChangeShapeType="1"/>
            </p:cNvSpPr>
            <p:nvPr/>
          </p:nvSpPr>
          <p:spPr bwMode="auto">
            <a:xfrm>
              <a:off x="1759" y="1056"/>
              <a:ext cx="0" cy="336"/>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9274" name="Line 16"/>
            <p:cNvSpPr>
              <a:spLocks noChangeShapeType="1"/>
            </p:cNvSpPr>
            <p:nvPr/>
          </p:nvSpPr>
          <p:spPr bwMode="auto">
            <a:xfrm>
              <a:off x="1663" y="1056"/>
              <a:ext cx="0" cy="336"/>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139275" name="Line 17"/>
          <p:cNvSpPr>
            <a:spLocks noChangeShapeType="1"/>
          </p:cNvSpPr>
          <p:nvPr/>
        </p:nvSpPr>
        <p:spPr bwMode="auto">
          <a:xfrm>
            <a:off x="2144713" y="4514850"/>
            <a:ext cx="295275" cy="63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9276" name="Rectangle 18"/>
          <p:cNvSpPr>
            <a:spLocks noChangeArrowheads="1"/>
          </p:cNvSpPr>
          <p:nvPr/>
        </p:nvSpPr>
        <p:spPr bwMode="auto">
          <a:xfrm>
            <a:off x="2212975" y="4421188"/>
            <a:ext cx="184150" cy="193675"/>
          </a:xfrm>
          <a:prstGeom prst="rect">
            <a:avLst/>
          </a:prstGeom>
          <a:solidFill>
            <a:srgbClr val="0000CC"/>
          </a:solidFill>
          <a:ln w="9525">
            <a:solidFill>
              <a:srgbClr val="7F7F7F"/>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9277" name="AutoShape 21"/>
          <p:cNvSpPr>
            <a:spLocks noChangeArrowheads="1"/>
          </p:cNvSpPr>
          <p:nvPr/>
        </p:nvSpPr>
        <p:spPr bwMode="auto">
          <a:xfrm>
            <a:off x="3033713" y="4446588"/>
            <a:ext cx="1373187" cy="177800"/>
          </a:xfrm>
          <a:prstGeom prst="rightArrow">
            <a:avLst>
              <a:gd name="adj1" fmla="val 50000"/>
              <a:gd name="adj2" fmla="val 178206"/>
            </a:avLst>
          </a:prstGeom>
          <a:solidFill>
            <a:srgbClr val="00FFCC"/>
          </a:solidFill>
          <a:ln w="9525">
            <a:solidFill>
              <a:schemeClr val="folHlink"/>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9278" name="AutoShape 26"/>
          <p:cNvSpPr>
            <a:spLocks noChangeArrowheads="1"/>
          </p:cNvSpPr>
          <p:nvPr/>
        </p:nvSpPr>
        <p:spPr bwMode="auto">
          <a:xfrm>
            <a:off x="322263" y="4446588"/>
            <a:ext cx="1236662" cy="177800"/>
          </a:xfrm>
          <a:prstGeom prst="rightArrow">
            <a:avLst>
              <a:gd name="adj1" fmla="val 50000"/>
              <a:gd name="adj2" fmla="val 178360"/>
            </a:avLst>
          </a:prstGeom>
          <a:solidFill>
            <a:srgbClr val="00FFCC"/>
          </a:solidFill>
          <a:ln w="9525">
            <a:solidFill>
              <a:schemeClr val="folHlink"/>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9279" name="AutoShape 27"/>
          <p:cNvSpPr>
            <a:spLocks noChangeArrowheads="1"/>
          </p:cNvSpPr>
          <p:nvPr/>
        </p:nvSpPr>
        <p:spPr bwMode="auto">
          <a:xfrm>
            <a:off x="7145338" y="4438650"/>
            <a:ext cx="1371600" cy="176213"/>
          </a:xfrm>
          <a:prstGeom prst="rightArrow">
            <a:avLst>
              <a:gd name="adj1" fmla="val 50000"/>
              <a:gd name="adj2" fmla="val 179603"/>
            </a:avLst>
          </a:prstGeom>
          <a:solidFill>
            <a:srgbClr val="00FFCC"/>
          </a:solidFill>
          <a:ln w="9525">
            <a:solidFill>
              <a:schemeClr val="folHlink"/>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9280" name="Text Box 28"/>
          <p:cNvSpPr txBox="1">
            <a:spLocks noChangeArrowheads="1"/>
          </p:cNvSpPr>
          <p:nvPr/>
        </p:nvSpPr>
        <p:spPr bwMode="auto">
          <a:xfrm>
            <a:off x="4432300" y="4337050"/>
            <a:ext cx="1606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1 0 1 1 0 0 1</a:t>
            </a:r>
          </a:p>
        </p:txBody>
      </p:sp>
      <p:sp>
        <p:nvSpPr>
          <p:cNvPr id="139281" name="Text Box 29"/>
          <p:cNvSpPr txBox="1">
            <a:spLocks noChangeArrowheads="1"/>
          </p:cNvSpPr>
          <p:nvPr/>
        </p:nvSpPr>
        <p:spPr bwMode="auto">
          <a:xfrm>
            <a:off x="6181725" y="42037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333399"/>
                </a:solidFill>
                <a:ea typeface="黑体" panose="02010609060101010101" pitchFamily="49" charset="-122"/>
              </a:rPr>
              <a:t>…</a:t>
            </a:r>
          </a:p>
        </p:txBody>
      </p:sp>
      <p:sp>
        <p:nvSpPr>
          <p:cNvPr id="139282" name="Text Box 32"/>
          <p:cNvSpPr txBox="1">
            <a:spLocks noChangeArrowheads="1"/>
          </p:cNvSpPr>
          <p:nvPr/>
        </p:nvSpPr>
        <p:spPr bwMode="auto">
          <a:xfrm>
            <a:off x="2451100" y="516572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发送器</a:t>
            </a:r>
          </a:p>
        </p:txBody>
      </p:sp>
      <p:sp>
        <p:nvSpPr>
          <p:cNvPr id="139283" name="Text Box 34"/>
          <p:cNvSpPr txBox="1">
            <a:spLocks noChangeArrowheads="1"/>
          </p:cNvSpPr>
          <p:nvPr/>
        </p:nvSpPr>
        <p:spPr bwMode="auto">
          <a:xfrm>
            <a:off x="1319213" y="467995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队列</a:t>
            </a:r>
          </a:p>
        </p:txBody>
      </p:sp>
      <p:grpSp>
        <p:nvGrpSpPr>
          <p:cNvPr id="92205" name="Group 45"/>
          <p:cNvGrpSpPr>
            <a:grpSpLocks/>
          </p:cNvGrpSpPr>
          <p:nvPr/>
        </p:nvGrpSpPr>
        <p:grpSpPr bwMode="auto">
          <a:xfrm>
            <a:off x="6145213" y="2760663"/>
            <a:ext cx="2032000" cy="1612900"/>
            <a:chOff x="3486" y="1933"/>
            <a:chExt cx="1181" cy="1016"/>
          </a:xfrm>
        </p:grpSpPr>
        <p:sp>
          <p:nvSpPr>
            <p:cNvPr id="139285" name="Line 33"/>
            <p:cNvSpPr>
              <a:spLocks noChangeShapeType="1"/>
            </p:cNvSpPr>
            <p:nvPr/>
          </p:nvSpPr>
          <p:spPr bwMode="auto">
            <a:xfrm flipH="1">
              <a:off x="3602" y="2495"/>
              <a:ext cx="276" cy="454"/>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9286" name="Text Box 36"/>
            <p:cNvSpPr txBox="1">
              <a:spLocks noChangeArrowheads="1"/>
            </p:cNvSpPr>
            <p:nvPr/>
          </p:nvSpPr>
          <p:spPr bwMode="auto">
            <a:xfrm>
              <a:off x="3486" y="1933"/>
              <a:ext cx="1181" cy="523"/>
            </a:xfrm>
            <a:prstGeom prst="rect">
              <a:avLst/>
            </a:prstGeom>
            <a:solidFill>
              <a:srgbClr val="FFFF99"/>
            </a:solidFill>
            <a:ln w="76200" cmpd="tri">
              <a:solidFill>
                <a:schemeClr val="folHlink"/>
              </a:solidFill>
              <a:miter lim="800000"/>
              <a:headEnd/>
              <a:tailEnd/>
            </a:ln>
          </p:spPr>
          <p:txBody>
            <a:bodyPr wrap="none">
              <a:spAutoFit/>
            </a:bodyPr>
            <a:lstStyle/>
            <a:p>
              <a:pPr algn="ctr" eaLnBrk="0" hangingPunct="0"/>
              <a:r>
                <a:rPr lang="zh-CN" altLang="en-US" sz="2400" b="1">
                  <a:solidFill>
                    <a:srgbClr val="333399"/>
                  </a:solidFill>
                  <a:ea typeface="黑体" panose="02010609060101010101" pitchFamily="49" charset="-122"/>
                </a:rPr>
                <a:t>在链路上产生</a:t>
              </a:r>
            </a:p>
            <a:p>
              <a:pPr algn="ctr" eaLnBrk="0" hangingPunct="0"/>
              <a:r>
                <a:rPr lang="zh-CN" altLang="en-US" sz="2400" b="1">
                  <a:solidFill>
                    <a:srgbClr val="333399"/>
                  </a:solidFill>
                  <a:ea typeface="黑体" panose="02010609060101010101" pitchFamily="49" charset="-122"/>
                </a:rPr>
                <a:t>传播时延</a:t>
              </a:r>
            </a:p>
          </p:txBody>
        </p:sp>
      </p:grpSp>
      <p:sp>
        <p:nvSpPr>
          <p:cNvPr id="139287" name="Text Box 37"/>
          <p:cNvSpPr txBox="1">
            <a:spLocks noChangeArrowheads="1"/>
          </p:cNvSpPr>
          <p:nvPr/>
        </p:nvSpPr>
        <p:spPr bwMode="auto">
          <a:xfrm>
            <a:off x="8378825" y="5256213"/>
            <a:ext cx="1084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结点</a:t>
            </a:r>
            <a:r>
              <a:rPr lang="zh-CN" altLang="en-US" sz="1600" b="1">
                <a:solidFill>
                  <a:srgbClr val="333399"/>
                </a:solidFill>
                <a:ea typeface="黑体" panose="02010609060101010101" pitchFamily="49" charset="-122"/>
              </a:rPr>
              <a:t> </a:t>
            </a:r>
            <a:r>
              <a:rPr lang="en-US" altLang="zh-CN" sz="2400" b="1">
                <a:solidFill>
                  <a:srgbClr val="333399"/>
                </a:solidFill>
                <a:ea typeface="黑体" panose="02010609060101010101" pitchFamily="49" charset="-122"/>
              </a:rPr>
              <a:t>B</a:t>
            </a:r>
          </a:p>
        </p:txBody>
      </p:sp>
      <p:sp>
        <p:nvSpPr>
          <p:cNvPr id="139288" name="Text Box 38"/>
          <p:cNvSpPr txBox="1">
            <a:spLocks noChangeArrowheads="1"/>
          </p:cNvSpPr>
          <p:nvPr/>
        </p:nvSpPr>
        <p:spPr bwMode="auto">
          <a:xfrm>
            <a:off x="1125538" y="5165725"/>
            <a:ext cx="1084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结点</a:t>
            </a:r>
            <a:r>
              <a:rPr lang="zh-CN" altLang="en-US" sz="1600" b="1">
                <a:solidFill>
                  <a:srgbClr val="333399"/>
                </a:solidFill>
                <a:ea typeface="黑体" panose="02010609060101010101" pitchFamily="49" charset="-122"/>
              </a:rPr>
              <a:t> </a:t>
            </a:r>
            <a:r>
              <a:rPr lang="en-US" altLang="zh-CN" sz="2400" b="1">
                <a:solidFill>
                  <a:srgbClr val="333399"/>
                </a:solidFill>
                <a:ea typeface="黑体" panose="02010609060101010101" pitchFamily="49" charset="-122"/>
              </a:rPr>
              <a:t>A</a:t>
            </a:r>
          </a:p>
        </p:txBody>
      </p:sp>
      <p:grpSp>
        <p:nvGrpSpPr>
          <p:cNvPr id="92204" name="Group 44"/>
          <p:cNvGrpSpPr>
            <a:grpSpLocks/>
          </p:cNvGrpSpPr>
          <p:nvPr/>
        </p:nvGrpSpPr>
        <p:grpSpPr bwMode="auto">
          <a:xfrm>
            <a:off x="2290763" y="2976563"/>
            <a:ext cx="3263900" cy="1470025"/>
            <a:chOff x="1245" y="2069"/>
            <a:chExt cx="1897" cy="926"/>
          </a:xfrm>
        </p:grpSpPr>
        <p:sp>
          <p:nvSpPr>
            <p:cNvPr id="139290" name="Text Box 24"/>
            <p:cNvSpPr txBox="1">
              <a:spLocks noChangeArrowheads="1"/>
            </p:cNvSpPr>
            <p:nvPr/>
          </p:nvSpPr>
          <p:spPr bwMode="auto">
            <a:xfrm>
              <a:off x="1245" y="2069"/>
              <a:ext cx="1897" cy="523"/>
            </a:xfrm>
            <a:prstGeom prst="rect">
              <a:avLst/>
            </a:prstGeom>
            <a:solidFill>
              <a:srgbClr val="FFFF99"/>
            </a:solidFill>
            <a:ln w="76200" cmpd="tri">
              <a:solidFill>
                <a:schemeClr val="folHlink"/>
              </a:solidFill>
              <a:miter lim="800000"/>
              <a:headEnd/>
              <a:tailEnd/>
            </a:ln>
          </p:spPr>
          <p:txBody>
            <a:bodyPr wrap="none">
              <a:spAutoFit/>
            </a:bodyPr>
            <a:lstStyle/>
            <a:p>
              <a:pPr algn="ctr" eaLnBrk="0" hangingPunct="0"/>
              <a:r>
                <a:rPr lang="zh-CN" altLang="en-US" sz="2400" b="1">
                  <a:solidFill>
                    <a:srgbClr val="333399"/>
                  </a:solidFill>
                  <a:ea typeface="黑体" panose="02010609060101010101" pitchFamily="49" charset="-122"/>
                </a:rPr>
                <a:t>在发送器产生发送时延</a:t>
              </a:r>
            </a:p>
            <a:p>
              <a:pPr algn="ctr" eaLnBrk="0" hangingPunct="0"/>
              <a:r>
                <a:rPr lang="en-US" altLang="zh-CN" sz="2400" b="1">
                  <a:solidFill>
                    <a:srgbClr val="333399"/>
                  </a:solidFill>
                  <a:ea typeface="黑体" panose="02010609060101010101" pitchFamily="49" charset="-122"/>
                </a:rPr>
                <a:t>(</a:t>
              </a:r>
              <a:r>
                <a:rPr lang="zh-CN" altLang="en-US" sz="2400" b="1">
                  <a:solidFill>
                    <a:srgbClr val="333399"/>
                  </a:solidFill>
                  <a:ea typeface="黑体" panose="02010609060101010101" pitchFamily="49" charset="-122"/>
                </a:rPr>
                <a:t>即传输时延</a:t>
              </a:r>
              <a:r>
                <a:rPr lang="en-US" altLang="zh-CN" sz="2400" b="1">
                  <a:solidFill>
                    <a:srgbClr val="333399"/>
                  </a:solidFill>
                  <a:ea typeface="黑体" panose="02010609060101010101" pitchFamily="49" charset="-122"/>
                </a:rPr>
                <a:t>)</a:t>
              </a:r>
            </a:p>
          </p:txBody>
        </p:sp>
        <p:sp>
          <p:nvSpPr>
            <p:cNvPr id="139291" name="Line 40"/>
            <p:cNvSpPr>
              <a:spLocks noChangeShapeType="1"/>
            </p:cNvSpPr>
            <p:nvPr/>
          </p:nvSpPr>
          <p:spPr bwMode="auto">
            <a:xfrm flipH="1">
              <a:off x="1247" y="2614"/>
              <a:ext cx="454" cy="381"/>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139292" name="Line 41"/>
          <p:cNvSpPr>
            <a:spLocks noChangeShapeType="1"/>
          </p:cNvSpPr>
          <p:nvPr/>
        </p:nvSpPr>
        <p:spPr bwMode="auto">
          <a:xfrm flipH="1" flipV="1">
            <a:off x="2295525" y="4589463"/>
            <a:ext cx="466725" cy="647700"/>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9293" name="Line 39"/>
          <p:cNvSpPr>
            <a:spLocks noChangeShapeType="1"/>
          </p:cNvSpPr>
          <p:nvPr/>
        </p:nvSpPr>
        <p:spPr bwMode="auto">
          <a:xfrm flipH="1">
            <a:off x="1709738" y="2833688"/>
            <a:ext cx="60325" cy="1008062"/>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9294" name="Text Box 42"/>
          <p:cNvSpPr txBox="1">
            <a:spLocks noChangeArrowheads="1"/>
          </p:cNvSpPr>
          <p:nvPr/>
        </p:nvSpPr>
        <p:spPr bwMode="auto">
          <a:xfrm>
            <a:off x="322263" y="1916113"/>
            <a:ext cx="2954337" cy="831850"/>
          </a:xfrm>
          <a:prstGeom prst="rect">
            <a:avLst/>
          </a:prstGeom>
          <a:solidFill>
            <a:srgbClr val="FFFF99"/>
          </a:solidFill>
          <a:ln w="76200" cmpd="tri">
            <a:solidFill>
              <a:schemeClr val="folHlink"/>
            </a:solidFill>
            <a:miter lim="800000"/>
            <a:headEnd/>
            <a:tailEnd/>
          </a:ln>
        </p:spPr>
        <p:txBody>
          <a:bodyPr wrap="none">
            <a:spAutoFit/>
          </a:bodyPr>
          <a:lstStyle/>
          <a:p>
            <a:pPr algn="ctr" eaLnBrk="0" hangingPunct="0"/>
            <a:r>
              <a:rPr lang="zh-CN" altLang="en-US" sz="2400" b="1">
                <a:solidFill>
                  <a:srgbClr val="333399"/>
                </a:solidFill>
                <a:ea typeface="黑体" panose="02010609060101010101" pitchFamily="49" charset="-122"/>
              </a:rPr>
              <a:t>在结点 </a:t>
            </a:r>
            <a:r>
              <a:rPr lang="en-US" altLang="zh-CN" sz="2400" b="1">
                <a:solidFill>
                  <a:srgbClr val="333399"/>
                </a:solidFill>
                <a:ea typeface="黑体" panose="02010609060101010101" pitchFamily="49" charset="-122"/>
              </a:rPr>
              <a:t>A </a:t>
            </a:r>
            <a:r>
              <a:rPr lang="zh-CN" altLang="en-US" sz="2400" b="1">
                <a:solidFill>
                  <a:srgbClr val="333399"/>
                </a:solidFill>
                <a:ea typeface="黑体" panose="02010609060101010101" pitchFamily="49" charset="-122"/>
              </a:rPr>
              <a:t>中产生</a:t>
            </a:r>
          </a:p>
          <a:p>
            <a:pPr algn="ctr" eaLnBrk="0" hangingPunct="0"/>
            <a:r>
              <a:rPr lang="zh-CN" altLang="en-US" sz="2400" b="1">
                <a:solidFill>
                  <a:srgbClr val="333399"/>
                </a:solidFill>
                <a:ea typeface="黑体" panose="02010609060101010101" pitchFamily="49" charset="-122"/>
              </a:rPr>
              <a:t>处理时延和排队时延</a:t>
            </a:r>
          </a:p>
        </p:txBody>
      </p:sp>
      <p:sp>
        <p:nvSpPr>
          <p:cNvPr id="139295" name="Text Box 46"/>
          <p:cNvSpPr txBox="1">
            <a:spLocks noChangeArrowheads="1"/>
          </p:cNvSpPr>
          <p:nvPr/>
        </p:nvSpPr>
        <p:spPr bwMode="auto">
          <a:xfrm>
            <a:off x="298450" y="3984625"/>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数据</a:t>
            </a:r>
          </a:p>
        </p:txBody>
      </p:sp>
      <p:sp>
        <p:nvSpPr>
          <p:cNvPr id="139296" name="Text Box 47"/>
          <p:cNvSpPr txBox="1">
            <a:spLocks noChangeArrowheads="1"/>
          </p:cNvSpPr>
          <p:nvPr/>
        </p:nvSpPr>
        <p:spPr bwMode="auto">
          <a:xfrm>
            <a:off x="1366838" y="1116013"/>
            <a:ext cx="73040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3200" b="1">
                <a:solidFill>
                  <a:srgbClr val="C00000"/>
                </a:solidFill>
                <a:ea typeface="黑体" panose="02010609060101010101" pitchFamily="49" charset="-122"/>
              </a:rPr>
              <a:t>假设从结点 </a:t>
            </a:r>
            <a:r>
              <a:rPr lang="en-US" altLang="zh-CN" sz="3200" b="1">
                <a:solidFill>
                  <a:srgbClr val="C00000"/>
                </a:solidFill>
                <a:ea typeface="黑体" panose="02010609060101010101" pitchFamily="49" charset="-122"/>
              </a:rPr>
              <a:t>A </a:t>
            </a:r>
            <a:r>
              <a:rPr lang="zh-CN" altLang="en-US" sz="3200" b="1">
                <a:solidFill>
                  <a:srgbClr val="C00000"/>
                </a:solidFill>
                <a:ea typeface="黑体" panose="02010609060101010101" pitchFamily="49" charset="-122"/>
              </a:rPr>
              <a:t>向结点 </a:t>
            </a:r>
            <a:r>
              <a:rPr lang="en-US" altLang="zh-CN" sz="3200" b="1">
                <a:solidFill>
                  <a:srgbClr val="C00000"/>
                </a:solidFill>
                <a:ea typeface="黑体" panose="02010609060101010101" pitchFamily="49" charset="-122"/>
              </a:rPr>
              <a:t>B </a:t>
            </a:r>
            <a:r>
              <a:rPr lang="zh-CN" altLang="en-US" sz="3200" b="1">
                <a:solidFill>
                  <a:srgbClr val="C00000"/>
                </a:solidFill>
                <a:ea typeface="黑体" panose="02010609060101010101" pitchFamily="49" charset="-122"/>
              </a:rPr>
              <a:t>发送数据</a:t>
            </a:r>
          </a:p>
        </p:txBody>
      </p:sp>
      <p:sp>
        <p:nvSpPr>
          <p:cNvPr id="139297" name="Text Box 48"/>
          <p:cNvSpPr txBox="1">
            <a:spLocks noChangeArrowheads="1"/>
          </p:cNvSpPr>
          <p:nvPr/>
        </p:nvSpPr>
        <p:spPr bwMode="auto">
          <a:xfrm>
            <a:off x="4752975" y="470535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链路</a:t>
            </a:r>
          </a:p>
        </p:txBody>
      </p:sp>
      <p:sp>
        <p:nvSpPr>
          <p:cNvPr id="139298" name="矩形 1"/>
          <p:cNvSpPr>
            <a:spLocks noChangeArrowheads="1"/>
          </p:cNvSpPr>
          <p:nvPr/>
        </p:nvSpPr>
        <p:spPr bwMode="auto">
          <a:xfrm>
            <a:off x="2792413" y="5862638"/>
            <a:ext cx="453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800" b="1">
                <a:ea typeface="黑体" panose="02010609060101010101" pitchFamily="49" charset="-122"/>
              </a:rPr>
              <a:t>几种时延产生的地方不一样</a:t>
            </a:r>
            <a:endParaRPr lang="zh-CN" altLang="en-US" sz="2800" b="1">
              <a:ea typeface="黑体" panose="02010609060101010101" pitchFamily="49" charset="-122"/>
            </a:endParaRPr>
          </a:p>
        </p:txBody>
      </p:sp>
      <p:sp>
        <p:nvSpPr>
          <p:cNvPr id="13929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63F6C1-2409-4721-8EE1-263174B5CE45}" type="slidenum">
              <a:rPr lang="zh-CN" altLang="en-US" smtClean="0"/>
              <a:pPr eaLnBrk="1" hangingPunct="1"/>
              <a:t>24</a:t>
            </a:fld>
            <a:endParaRPr lang="en-US" altLang="zh-CN" smtClean="0"/>
          </a:p>
        </p:txBody>
      </p:sp>
      <p:sp>
        <p:nvSpPr>
          <p:cNvPr id="13930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容易产生的错误概念 </a:t>
            </a:r>
          </a:p>
        </p:txBody>
      </p:sp>
      <p:sp>
        <p:nvSpPr>
          <p:cNvPr id="14131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对于高速网络链路，我们提高的仅仅是数据的</a:t>
            </a:r>
            <a:r>
              <a:rPr lang="zh-CN" altLang="en-US" dirty="0" smtClean="0">
                <a:solidFill>
                  <a:srgbClr val="FF0000"/>
                </a:solidFill>
                <a:ea typeface="黑体" panose="02010609060101010101" pitchFamily="49" charset="-122"/>
              </a:rPr>
              <a:t>发送速率</a:t>
            </a:r>
            <a:r>
              <a:rPr lang="zh-CN" altLang="en-US" dirty="0" smtClean="0">
                <a:ea typeface="黑体" panose="02010609060101010101" pitchFamily="49" charset="-122"/>
              </a:rPr>
              <a:t>而不是比特在链路上的</a:t>
            </a:r>
            <a:r>
              <a:rPr lang="zh-CN" altLang="en-US" dirty="0" smtClean="0">
                <a:solidFill>
                  <a:srgbClr val="FF0000"/>
                </a:solidFill>
                <a:ea typeface="黑体" panose="02010609060101010101" pitchFamily="49" charset="-122"/>
              </a:rPr>
              <a:t>传播速率。</a:t>
            </a:r>
            <a:r>
              <a:rPr lang="zh-CN" altLang="en-US" dirty="0" smtClean="0">
                <a:ea typeface="黑体" panose="02010609060101010101" pitchFamily="49" charset="-122"/>
              </a:rPr>
              <a:t> </a:t>
            </a:r>
          </a:p>
          <a:p>
            <a:r>
              <a:rPr lang="zh-CN" altLang="en-US" dirty="0" smtClean="0">
                <a:ea typeface="黑体" panose="02010609060101010101" pitchFamily="49" charset="-122"/>
              </a:rPr>
              <a:t>提高链路带宽减小了数据的发送时延。 </a:t>
            </a:r>
            <a:endParaRPr lang="en-US" altLang="zh-CN" dirty="0" smtClean="0">
              <a:ea typeface="黑体" panose="02010609060101010101" pitchFamily="49" charset="-122"/>
            </a:endParaRPr>
          </a:p>
        </p:txBody>
      </p:sp>
      <p:sp>
        <p:nvSpPr>
          <p:cNvPr id="141315" name="矩形 1"/>
          <p:cNvSpPr>
            <a:spLocks noChangeArrowheads="1"/>
          </p:cNvSpPr>
          <p:nvPr/>
        </p:nvSpPr>
        <p:spPr bwMode="auto">
          <a:xfrm>
            <a:off x="1152525" y="3492500"/>
            <a:ext cx="7775575" cy="1570038"/>
          </a:xfrm>
          <a:prstGeom prst="rect">
            <a:avLst/>
          </a:prstGeom>
          <a:solidFill>
            <a:srgbClr val="FFFF66"/>
          </a:solidFill>
          <a:ln w="9525">
            <a:solidFill>
              <a:srgbClr val="7F7F7F"/>
            </a:solidFill>
            <a:round/>
            <a:headEnd/>
            <a:tailEnd/>
          </a:ln>
        </p:spPr>
        <p:txBody>
          <a:bodyPr>
            <a:spAutoFit/>
          </a:bodyPr>
          <a:lstStyle/>
          <a:p>
            <a:pPr eaLnBrk="0" hangingPunct="0"/>
            <a:r>
              <a:rPr lang="zh-CN" altLang="en-US" sz="3200" b="1">
                <a:ea typeface="黑体" panose="02010609060101010101" pitchFamily="49" charset="-122"/>
              </a:rPr>
              <a:t>以下说法是</a:t>
            </a:r>
            <a:r>
              <a:rPr lang="zh-CN" altLang="en-US" sz="3200" b="1">
                <a:solidFill>
                  <a:srgbClr val="FF0000"/>
                </a:solidFill>
                <a:ea typeface="黑体" panose="02010609060101010101" pitchFamily="49" charset="-122"/>
              </a:rPr>
              <a:t>错误</a:t>
            </a:r>
            <a:r>
              <a:rPr lang="zh-CN" altLang="en-US" sz="3200" b="1">
                <a:ea typeface="黑体" panose="02010609060101010101" pitchFamily="49" charset="-122"/>
              </a:rPr>
              <a:t>的：</a:t>
            </a:r>
            <a:endParaRPr lang="en-US" altLang="zh-CN" sz="3200" b="1">
              <a:ea typeface="黑体" panose="02010609060101010101" pitchFamily="49" charset="-122"/>
            </a:endParaRPr>
          </a:p>
          <a:p>
            <a:pPr eaLnBrk="0" hangingPunct="0"/>
            <a:r>
              <a:rPr lang="zh-CN" altLang="zh-CN" sz="3200" b="1">
                <a:solidFill>
                  <a:srgbClr val="0000CC"/>
                </a:solidFill>
                <a:ea typeface="黑体" panose="02010609060101010101" pitchFamily="49" charset="-122"/>
              </a:rPr>
              <a:t>“在高速链路（或高带宽链路）上，比特会传送得更快些”。</a:t>
            </a:r>
            <a:endParaRPr lang="zh-CN" altLang="en-US" sz="3200" b="1">
              <a:solidFill>
                <a:srgbClr val="0000CC"/>
              </a:solidFill>
              <a:ea typeface="黑体" panose="02010609060101010101" pitchFamily="49" charset="-122"/>
            </a:endParaRPr>
          </a:p>
        </p:txBody>
      </p:sp>
      <p:sp>
        <p:nvSpPr>
          <p:cNvPr id="14131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1BA720-E587-47D6-A808-F6BCFE1D0855}" type="slidenum">
              <a:rPr lang="zh-CN" altLang="en-US" smtClean="0"/>
              <a:pPr eaLnBrk="1" hangingPunct="1"/>
              <a:t>25</a:t>
            </a:fld>
            <a:endParaRPr lang="en-US" altLang="zh-CN" smtClean="0"/>
          </a:p>
        </p:txBody>
      </p:sp>
      <p:sp>
        <p:nvSpPr>
          <p:cNvPr id="14131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 </a:t>
            </a:r>
            <a:r>
              <a:rPr lang="zh-CN" altLang="en-US" smtClean="0">
                <a:ea typeface="黑体" panose="02010609060101010101" pitchFamily="49" charset="-122"/>
              </a:rPr>
              <a:t>时延带宽积</a:t>
            </a:r>
          </a:p>
        </p:txBody>
      </p:sp>
      <p:sp>
        <p:nvSpPr>
          <p:cNvPr id="143362" name="Rectangle 44"/>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链路的时延带宽积又称为</a:t>
            </a:r>
            <a:r>
              <a:rPr lang="zh-CN" altLang="en-US" smtClean="0">
                <a:solidFill>
                  <a:srgbClr val="FF0000"/>
                </a:solidFill>
                <a:ea typeface="黑体" panose="02010609060101010101" pitchFamily="49" charset="-122"/>
              </a:rPr>
              <a:t>以比特为单位的链路长度。 </a:t>
            </a:r>
          </a:p>
        </p:txBody>
      </p:sp>
      <p:sp>
        <p:nvSpPr>
          <p:cNvPr id="143363" name="Rectangle 3"/>
          <p:cNvSpPr>
            <a:spLocks noChangeArrowheads="1"/>
          </p:cNvSpPr>
          <p:nvPr/>
        </p:nvSpPr>
        <p:spPr bwMode="auto">
          <a:xfrm>
            <a:off x="117475"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43364" name="AutoShape 37"/>
          <p:cNvSpPr>
            <a:spLocks noChangeArrowheads="1"/>
          </p:cNvSpPr>
          <p:nvPr/>
        </p:nvSpPr>
        <p:spPr bwMode="auto">
          <a:xfrm rot="16200000">
            <a:off x="5021263" y="471488"/>
            <a:ext cx="1038225" cy="7178675"/>
          </a:xfrm>
          <a:prstGeom prst="can">
            <a:avLst>
              <a:gd name="adj" fmla="val 49841"/>
            </a:avLst>
          </a:prstGeom>
          <a:gradFill rotWithShape="1">
            <a:gsLst>
              <a:gs pos="0">
                <a:srgbClr val="004776"/>
              </a:gs>
              <a:gs pos="50000">
                <a:srgbClr val="0099FF"/>
              </a:gs>
              <a:gs pos="100000">
                <a:srgbClr val="004776"/>
              </a:gs>
            </a:gsLst>
            <a:lin ang="0" scaled="1"/>
          </a:gradFill>
          <a:ln w="9525">
            <a:solidFill>
              <a:schemeClr val="tx1"/>
            </a:solidFill>
            <a:round/>
            <a:headEnd/>
            <a:tailEnd/>
          </a:ln>
        </p:spPr>
        <p:txBody>
          <a:bodyPr wrap="none" anchor="ctr"/>
          <a:lstStyle/>
          <a:p>
            <a:pPr eaLnBrk="0" hangingPunct="0"/>
            <a:endParaRPr lang="zh-CN" altLang="en-US" b="1">
              <a:ea typeface="黑体" panose="02010609060101010101" pitchFamily="49" charset="-122"/>
            </a:endParaRPr>
          </a:p>
        </p:txBody>
      </p:sp>
      <p:sp>
        <p:nvSpPr>
          <p:cNvPr id="143365" name="Line 38"/>
          <p:cNvSpPr>
            <a:spLocks noChangeShapeType="1"/>
          </p:cNvSpPr>
          <p:nvPr/>
        </p:nvSpPr>
        <p:spPr bwMode="auto">
          <a:xfrm>
            <a:off x="2185988" y="3302000"/>
            <a:ext cx="6710362"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43366" name="Text Box 39"/>
          <p:cNvSpPr txBox="1">
            <a:spLocks noChangeArrowheads="1"/>
          </p:cNvSpPr>
          <p:nvPr/>
        </p:nvSpPr>
        <p:spPr bwMode="auto">
          <a:xfrm>
            <a:off x="4214813" y="3013075"/>
            <a:ext cx="2030412"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（传播）时延</a:t>
            </a:r>
          </a:p>
        </p:txBody>
      </p:sp>
      <p:sp>
        <p:nvSpPr>
          <p:cNvPr id="143367" name="Text Box 40"/>
          <p:cNvSpPr txBox="1">
            <a:spLocks noChangeArrowheads="1"/>
          </p:cNvSpPr>
          <p:nvPr/>
        </p:nvSpPr>
        <p:spPr bwMode="auto">
          <a:xfrm>
            <a:off x="5072063" y="3829050"/>
            <a:ext cx="906462"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333399"/>
                </a:solidFill>
                <a:ea typeface="黑体" panose="02010609060101010101" pitchFamily="49" charset="-122"/>
              </a:rPr>
              <a:t>链路</a:t>
            </a:r>
            <a:endParaRPr lang="zh-CN" altLang="en-US" sz="2400" b="1">
              <a:solidFill>
                <a:srgbClr val="333399"/>
              </a:solidFill>
              <a:ea typeface="黑体" panose="02010609060101010101" pitchFamily="49" charset="-122"/>
            </a:endParaRPr>
          </a:p>
        </p:txBody>
      </p:sp>
      <p:sp>
        <p:nvSpPr>
          <p:cNvPr id="143368" name="Text Box 41"/>
          <p:cNvSpPr txBox="1">
            <a:spLocks noChangeArrowheads="1"/>
          </p:cNvSpPr>
          <p:nvPr/>
        </p:nvSpPr>
        <p:spPr bwMode="auto">
          <a:xfrm>
            <a:off x="547688" y="3325813"/>
            <a:ext cx="80010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带宽</a:t>
            </a:r>
          </a:p>
        </p:txBody>
      </p:sp>
      <p:sp>
        <p:nvSpPr>
          <p:cNvPr id="143369" name="Line 42"/>
          <p:cNvSpPr>
            <a:spLocks noChangeShapeType="1"/>
          </p:cNvSpPr>
          <p:nvPr/>
        </p:nvSpPr>
        <p:spPr bwMode="auto">
          <a:xfrm>
            <a:off x="1016000" y="3757613"/>
            <a:ext cx="1169988" cy="288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43370" name="Text Box 43"/>
          <p:cNvSpPr txBox="1">
            <a:spLocks noChangeArrowheads="1"/>
          </p:cNvSpPr>
          <p:nvPr/>
        </p:nvSpPr>
        <p:spPr bwMode="auto">
          <a:xfrm>
            <a:off x="2586038" y="2205038"/>
            <a:ext cx="5680075" cy="646112"/>
          </a:xfrm>
          <a:prstGeom prst="rect">
            <a:avLst/>
          </a:prstGeom>
          <a:solidFill>
            <a:srgbClr val="FFFF00"/>
          </a:solidFill>
          <a:ln w="9525">
            <a:solidFill>
              <a:srgbClr val="333399"/>
            </a:solidFill>
            <a:miter lim="800000"/>
            <a:headEnd/>
            <a:tailEnd/>
          </a:ln>
        </p:spPr>
        <p:txBody>
          <a:bodyPr wrap="none">
            <a:spAutoFit/>
          </a:bodyPr>
          <a:lstStyle/>
          <a:p>
            <a:pPr eaLnBrk="0" hangingPunct="0"/>
            <a:r>
              <a:rPr lang="zh-CN" altLang="en-US" sz="3200" b="1">
                <a:solidFill>
                  <a:srgbClr val="333399"/>
                </a:solidFill>
                <a:ea typeface="黑体" panose="02010609060101010101" pitchFamily="49" charset="-122"/>
              </a:rPr>
              <a:t>时延带宽积 </a:t>
            </a:r>
            <a:r>
              <a:rPr lang="en-US" altLang="zh-CN" sz="3200" b="1">
                <a:solidFill>
                  <a:srgbClr val="333399"/>
                </a:solidFill>
                <a:ea typeface="黑体" panose="02010609060101010101" pitchFamily="49" charset="-122"/>
              </a:rPr>
              <a:t>= </a:t>
            </a:r>
            <a:r>
              <a:rPr lang="zh-CN" altLang="en-US" sz="3200" b="1">
                <a:solidFill>
                  <a:srgbClr val="333399"/>
                </a:solidFill>
                <a:ea typeface="黑体" panose="02010609060101010101" pitchFamily="49" charset="-122"/>
              </a:rPr>
              <a:t>传播时延 </a:t>
            </a:r>
            <a:r>
              <a:rPr lang="zh-CN" altLang="en-US" sz="3600" b="1">
                <a:solidFill>
                  <a:srgbClr val="333399"/>
                </a:solidFill>
                <a:ea typeface="黑体" panose="02010609060101010101" pitchFamily="49" charset="-122"/>
                <a:sym typeface="Symbol" panose="05050102010706020507" pitchFamily="18" charset="2"/>
              </a:rPr>
              <a:t> </a:t>
            </a:r>
            <a:r>
              <a:rPr lang="zh-CN" altLang="en-US" sz="3200" b="1">
                <a:solidFill>
                  <a:srgbClr val="333399"/>
                </a:solidFill>
                <a:ea typeface="黑体" panose="02010609060101010101" pitchFamily="49" charset="-122"/>
                <a:sym typeface="Symbol" panose="05050102010706020507" pitchFamily="18" charset="2"/>
              </a:rPr>
              <a:t>带宽</a:t>
            </a:r>
          </a:p>
        </p:txBody>
      </p:sp>
      <p:sp>
        <p:nvSpPr>
          <p:cNvPr id="143371" name="矩形 1"/>
          <p:cNvSpPr>
            <a:spLocks noChangeArrowheads="1"/>
          </p:cNvSpPr>
          <p:nvPr/>
        </p:nvSpPr>
        <p:spPr bwMode="auto">
          <a:xfrm>
            <a:off x="1951038" y="5354638"/>
            <a:ext cx="7178675" cy="954087"/>
          </a:xfrm>
          <a:prstGeom prst="rect">
            <a:avLst/>
          </a:prstGeom>
          <a:solidFill>
            <a:srgbClr val="00FF99"/>
          </a:solidFill>
          <a:ln w="9525">
            <a:solidFill>
              <a:srgbClr val="000066"/>
            </a:solidFill>
            <a:round/>
            <a:headEnd/>
            <a:tailEnd/>
          </a:ln>
        </p:spPr>
        <p:txBody>
          <a:bodyPr>
            <a:spAutoFit/>
          </a:bodyPr>
          <a:lstStyle/>
          <a:p>
            <a:pPr algn="ctr" eaLnBrk="0" hangingPunct="0"/>
            <a:r>
              <a:rPr lang="zh-CN" altLang="zh-CN" sz="2800" b="1">
                <a:solidFill>
                  <a:srgbClr val="000099"/>
                </a:solidFill>
                <a:ea typeface="黑体" panose="02010609060101010101" pitchFamily="49" charset="-122"/>
              </a:rPr>
              <a:t>只有在代表链路的管道都充满比特时，</a:t>
            </a:r>
            <a:endParaRPr lang="en-US" altLang="zh-CN" sz="2800" b="1">
              <a:solidFill>
                <a:srgbClr val="000099"/>
              </a:solidFill>
              <a:ea typeface="黑体" panose="02010609060101010101" pitchFamily="49" charset="-122"/>
            </a:endParaRPr>
          </a:p>
          <a:p>
            <a:pPr algn="ctr" eaLnBrk="0" hangingPunct="0"/>
            <a:r>
              <a:rPr lang="zh-CN" altLang="zh-CN" sz="2800" b="1">
                <a:solidFill>
                  <a:srgbClr val="000099"/>
                </a:solidFill>
                <a:ea typeface="黑体" panose="02010609060101010101" pitchFamily="49" charset="-122"/>
              </a:rPr>
              <a:t>链路才得到</a:t>
            </a:r>
            <a:r>
              <a:rPr lang="zh-CN" altLang="en-US" sz="2800" b="1">
                <a:solidFill>
                  <a:srgbClr val="000099"/>
                </a:solidFill>
                <a:ea typeface="黑体" panose="02010609060101010101" pitchFamily="49" charset="-122"/>
              </a:rPr>
              <a:t>了</a:t>
            </a:r>
            <a:r>
              <a:rPr lang="zh-CN" altLang="zh-CN" sz="2800" b="1">
                <a:solidFill>
                  <a:srgbClr val="000099"/>
                </a:solidFill>
                <a:ea typeface="黑体" panose="02010609060101010101" pitchFamily="49" charset="-122"/>
              </a:rPr>
              <a:t>充分利用</a:t>
            </a:r>
            <a:r>
              <a:rPr lang="zh-CN" altLang="en-US" sz="2800" b="1">
                <a:solidFill>
                  <a:srgbClr val="000099"/>
                </a:solidFill>
                <a:ea typeface="黑体" panose="02010609060101010101" pitchFamily="49" charset="-122"/>
              </a:rPr>
              <a:t>。</a:t>
            </a:r>
          </a:p>
        </p:txBody>
      </p:sp>
      <p:sp>
        <p:nvSpPr>
          <p:cNvPr id="143372" name="矩形 2"/>
          <p:cNvSpPr>
            <a:spLocks noChangeArrowheads="1"/>
          </p:cNvSpPr>
          <p:nvPr/>
        </p:nvSpPr>
        <p:spPr bwMode="auto">
          <a:xfrm>
            <a:off x="3224213" y="4724400"/>
            <a:ext cx="4725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链路像一条空心管道</a:t>
            </a:r>
            <a:endParaRPr lang="zh-CN" altLang="en-US" sz="2400" b="1">
              <a:ea typeface="黑体" panose="02010609060101010101" pitchFamily="49" charset="-122"/>
            </a:endParaRPr>
          </a:p>
        </p:txBody>
      </p:sp>
      <p:sp>
        <p:nvSpPr>
          <p:cNvPr id="14337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A28DA9-4AA4-4DA7-B9F9-C4DC2368D859}" type="slidenum">
              <a:rPr lang="zh-CN" altLang="en-US" smtClean="0"/>
              <a:pPr eaLnBrk="1" hangingPunct="1"/>
              <a:t>26</a:t>
            </a:fld>
            <a:endParaRPr lang="en-US" altLang="zh-CN" smtClean="0"/>
          </a:p>
        </p:txBody>
      </p:sp>
      <p:sp>
        <p:nvSpPr>
          <p:cNvPr id="14337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标题 1"/>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6. </a:t>
            </a:r>
            <a:r>
              <a:rPr lang="zh-CN" altLang="zh-CN" u="sng" dirty="0" smtClean="0">
                <a:ea typeface="黑体" panose="02010609060101010101" pitchFamily="49" charset="-122"/>
              </a:rPr>
              <a:t>往返时间</a:t>
            </a:r>
            <a:r>
              <a:rPr lang="en-US" altLang="zh-CN" u="sng" dirty="0" smtClean="0">
                <a:ea typeface="黑体" panose="02010609060101010101" pitchFamily="49" charset="-122"/>
              </a:rPr>
              <a:t> </a:t>
            </a:r>
            <a:r>
              <a:rPr lang="en-US" altLang="zh-CN" u="sng" dirty="0" smtClean="0">
                <a:ea typeface="黑体" panose="02010609060101010101" pitchFamily="49" charset="-122"/>
              </a:rPr>
              <a:t>RTT(Round-Trip Time)</a:t>
            </a:r>
            <a:endParaRPr lang="zh-CN" altLang="en-US" u="sng" dirty="0" smtClean="0">
              <a:ea typeface="黑体" panose="02010609060101010101" pitchFamily="49" charset="-122"/>
            </a:endParaRPr>
          </a:p>
        </p:txBody>
      </p:sp>
      <p:sp>
        <p:nvSpPr>
          <p:cNvPr id="145410"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互联网上的信息不仅仅单方向传输</a:t>
            </a:r>
            <a:r>
              <a:rPr lang="zh-CN" altLang="en-US" smtClean="0">
                <a:ea typeface="黑体" panose="02010609060101010101" pitchFamily="49" charset="-122"/>
              </a:rPr>
              <a:t>，</a:t>
            </a:r>
            <a:r>
              <a:rPr lang="zh-CN" altLang="zh-CN" smtClean="0">
                <a:ea typeface="黑体" panose="02010609060101010101" pitchFamily="49" charset="-122"/>
              </a:rPr>
              <a:t>而是双向交互的。因此，有时很需要知道双向交互一次所需的时间</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往返时间</a:t>
            </a:r>
            <a:r>
              <a:rPr lang="zh-CN" altLang="en-US" smtClean="0">
                <a:ea typeface="黑体" panose="02010609060101010101" pitchFamily="49" charset="-122"/>
              </a:rPr>
              <a:t>表示从发送方发送数据开始，到发送方收到来自接收方的确认，总共经历的时间。</a:t>
            </a:r>
            <a:endParaRPr lang="en-US" altLang="zh-CN" smtClean="0">
              <a:ea typeface="黑体" panose="02010609060101010101" pitchFamily="49" charset="-122"/>
            </a:endParaRPr>
          </a:p>
          <a:p>
            <a:r>
              <a:rPr lang="zh-CN" altLang="zh-CN" smtClean="0">
                <a:ea typeface="黑体" panose="02010609060101010101" pitchFamily="49" charset="-122"/>
              </a:rPr>
              <a:t>在互联网中，往返时间还包括</a:t>
            </a:r>
            <a:r>
              <a:rPr lang="zh-CN" altLang="zh-CN" smtClean="0">
                <a:solidFill>
                  <a:srgbClr val="FF0000"/>
                </a:solidFill>
                <a:ea typeface="黑体" panose="02010609060101010101" pitchFamily="49" charset="-122"/>
              </a:rPr>
              <a:t>各中间结点</a:t>
            </a:r>
            <a:r>
              <a:rPr lang="zh-CN" altLang="zh-CN" smtClean="0">
                <a:ea typeface="黑体" panose="02010609060101010101" pitchFamily="49" charset="-122"/>
              </a:rPr>
              <a:t>的处理时延、排队时延以及转发数据时的发送时延。</a:t>
            </a:r>
            <a:endParaRPr lang="en-US" altLang="zh-CN" smtClean="0">
              <a:ea typeface="黑体" panose="02010609060101010101" pitchFamily="49" charset="-122"/>
            </a:endParaRPr>
          </a:p>
          <a:p>
            <a:r>
              <a:rPr lang="zh-CN" altLang="zh-CN" smtClean="0">
                <a:solidFill>
                  <a:srgbClr val="000099"/>
                </a:solidFill>
                <a:ea typeface="黑体" panose="02010609060101010101" pitchFamily="49" charset="-122"/>
              </a:rPr>
              <a:t>当使用卫星通信时，往返时间</a:t>
            </a:r>
            <a:r>
              <a:rPr lang="en-US" altLang="zh-CN" smtClean="0">
                <a:solidFill>
                  <a:srgbClr val="000099"/>
                </a:solidFill>
                <a:ea typeface="黑体" panose="02010609060101010101" pitchFamily="49" charset="-122"/>
              </a:rPr>
              <a:t> RTT </a:t>
            </a:r>
            <a:r>
              <a:rPr lang="zh-CN" altLang="zh-CN" smtClean="0">
                <a:solidFill>
                  <a:srgbClr val="000099"/>
                </a:solidFill>
                <a:ea typeface="黑体" panose="02010609060101010101" pitchFamily="49" charset="-122"/>
              </a:rPr>
              <a:t>相对较长，是很重要的一个性能指标。</a:t>
            </a:r>
            <a:endParaRPr lang="zh-CN" altLang="en-US" smtClean="0">
              <a:solidFill>
                <a:srgbClr val="000099"/>
              </a:solidFill>
              <a:ea typeface="黑体" panose="02010609060101010101" pitchFamily="49" charset="-122"/>
            </a:endParaRPr>
          </a:p>
        </p:txBody>
      </p:sp>
      <p:sp>
        <p:nvSpPr>
          <p:cNvPr id="145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A11F7E-52D6-4E2A-A5C5-8494567734AB}" type="slidenum">
              <a:rPr lang="zh-CN" altLang="en-US" smtClean="0"/>
              <a:pPr eaLnBrk="1" hangingPunct="1"/>
              <a:t>27</a:t>
            </a:fld>
            <a:endParaRPr lang="en-US" altLang="zh-CN" smtClean="0"/>
          </a:p>
        </p:txBody>
      </p:sp>
      <p:sp>
        <p:nvSpPr>
          <p:cNvPr id="1454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7. </a:t>
            </a:r>
            <a:r>
              <a:rPr lang="zh-CN" altLang="en-US" smtClean="0">
                <a:ea typeface="黑体" panose="02010609060101010101" pitchFamily="49" charset="-122"/>
              </a:rPr>
              <a:t>利用率</a:t>
            </a:r>
          </a:p>
        </p:txBody>
      </p:sp>
      <p:sp>
        <p:nvSpPr>
          <p:cNvPr id="14643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分为</a:t>
            </a:r>
            <a:r>
              <a:rPr lang="zh-CN" altLang="en-US" smtClean="0">
                <a:solidFill>
                  <a:srgbClr val="FF0000"/>
                </a:solidFill>
                <a:ea typeface="黑体" panose="02010609060101010101" pitchFamily="49" charset="-122"/>
              </a:rPr>
              <a:t>信道利用率</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网络利用率。</a:t>
            </a:r>
            <a:endParaRPr lang="en-US" altLang="zh-CN" smtClean="0">
              <a:solidFill>
                <a:srgbClr val="FF0000"/>
              </a:solidFill>
              <a:ea typeface="黑体" panose="02010609060101010101" pitchFamily="49" charset="-122"/>
            </a:endParaRPr>
          </a:p>
          <a:p>
            <a:r>
              <a:rPr lang="zh-CN" altLang="en-US" smtClean="0">
                <a:solidFill>
                  <a:srgbClr val="0000CC"/>
                </a:solidFill>
                <a:ea typeface="黑体" panose="02010609060101010101" pitchFamily="49" charset="-122"/>
              </a:rPr>
              <a:t>信道利用率</a:t>
            </a:r>
            <a:r>
              <a:rPr lang="zh-CN" altLang="en-US" smtClean="0">
                <a:ea typeface="黑体" panose="02010609060101010101" pitchFamily="49" charset="-122"/>
              </a:rPr>
              <a:t>指出某信道有百分之几的时间是被利用的（有数据通过）。完全空闲的信道的利用率是零。</a:t>
            </a:r>
          </a:p>
          <a:p>
            <a:r>
              <a:rPr lang="zh-CN" altLang="en-US" smtClean="0">
                <a:solidFill>
                  <a:srgbClr val="FF0000"/>
                </a:solidFill>
                <a:ea typeface="黑体" panose="02010609060101010101" pitchFamily="49" charset="-122"/>
              </a:rPr>
              <a:t>网络利用率</a:t>
            </a:r>
            <a:r>
              <a:rPr lang="zh-CN" altLang="en-US" smtClean="0">
                <a:ea typeface="黑体" panose="02010609060101010101" pitchFamily="49" charset="-122"/>
              </a:rPr>
              <a:t>则是全网络的信道利用率的加权平均值。</a:t>
            </a:r>
          </a:p>
          <a:p>
            <a:r>
              <a:rPr lang="zh-CN" altLang="en-US" smtClean="0">
                <a:ea typeface="黑体" panose="02010609060101010101" pitchFamily="49" charset="-122"/>
              </a:rPr>
              <a:t>信道利用率并非越高越好。</a:t>
            </a:r>
            <a:r>
              <a:rPr lang="zh-CN" altLang="zh-CN" smtClean="0">
                <a:solidFill>
                  <a:srgbClr val="FF0000"/>
                </a:solidFill>
                <a:ea typeface="黑体" panose="02010609060101010101" pitchFamily="49" charset="-122"/>
              </a:rPr>
              <a:t>当某信道的利用率增大时，该信道引起的时延也就迅速增加</a:t>
            </a:r>
            <a:r>
              <a:rPr lang="zh-CN" altLang="en-US" smtClean="0">
                <a:solidFill>
                  <a:srgbClr val="FF0000"/>
                </a:solidFill>
                <a:ea typeface="黑体" panose="02010609060101010101" pitchFamily="49" charset="-122"/>
              </a:rPr>
              <a:t>。</a:t>
            </a:r>
          </a:p>
        </p:txBody>
      </p:sp>
      <p:sp>
        <p:nvSpPr>
          <p:cNvPr id="146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EB28F0-A2D9-4509-AE0F-70BD58AD4B94}" type="slidenum">
              <a:rPr lang="zh-CN" altLang="en-US" smtClean="0"/>
              <a:pPr eaLnBrk="1" hangingPunct="1"/>
              <a:t>28</a:t>
            </a:fld>
            <a:endParaRPr lang="en-US" altLang="zh-CN" smtClean="0"/>
          </a:p>
        </p:txBody>
      </p:sp>
      <p:sp>
        <p:nvSpPr>
          <p:cNvPr id="146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时延与网络利用率的关系</a:t>
            </a:r>
          </a:p>
        </p:txBody>
      </p:sp>
      <p:sp>
        <p:nvSpPr>
          <p:cNvPr id="14848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根据排队论的理论，当某信道的利用率增大时，该信道引起的时延也就迅速增加。 </a:t>
            </a:r>
          </a:p>
          <a:p>
            <a:r>
              <a:rPr lang="zh-CN" altLang="en-US" smtClean="0">
                <a:ea typeface="黑体" panose="02010609060101010101" pitchFamily="49" charset="-122"/>
              </a:rPr>
              <a:t>若令 </a:t>
            </a:r>
            <a:r>
              <a:rPr lang="en-US" altLang="zh-CN" i="1" smtClean="0">
                <a:ea typeface="黑体" panose="02010609060101010101" pitchFamily="49" charset="-122"/>
              </a:rPr>
              <a:t>D</a:t>
            </a:r>
            <a:r>
              <a:rPr lang="en-US" altLang="zh-CN" baseline="-25000" smtClean="0">
                <a:ea typeface="黑体" panose="02010609060101010101" pitchFamily="49" charset="-122"/>
              </a:rPr>
              <a:t>0 </a:t>
            </a:r>
            <a:r>
              <a:rPr lang="zh-CN" altLang="en-US" smtClean="0">
                <a:ea typeface="黑体" panose="02010609060101010101" pitchFamily="49" charset="-122"/>
              </a:rPr>
              <a:t>表示网络空闲时的时延，</a:t>
            </a:r>
            <a:r>
              <a:rPr lang="en-US" altLang="zh-CN" i="1" smtClean="0">
                <a:ea typeface="黑体" panose="02010609060101010101" pitchFamily="49" charset="-122"/>
              </a:rPr>
              <a:t>D </a:t>
            </a:r>
            <a:r>
              <a:rPr lang="zh-CN" altLang="en-US" smtClean="0">
                <a:ea typeface="黑体" panose="02010609060101010101" pitchFamily="49" charset="-122"/>
              </a:rPr>
              <a:t>表示网络当前的时延，则在适当的假定条件下，可以用下面的简单公式表示 </a:t>
            </a:r>
            <a:r>
              <a:rPr lang="en-US" altLang="zh-CN" i="1" smtClean="0">
                <a:ea typeface="黑体" panose="02010609060101010101" pitchFamily="49" charset="-122"/>
              </a:rPr>
              <a:t>D </a:t>
            </a:r>
            <a:r>
              <a:rPr lang="zh-CN" altLang="en-US" smtClean="0">
                <a:ea typeface="黑体" panose="02010609060101010101" pitchFamily="49" charset="-122"/>
              </a:rPr>
              <a:t>和 </a:t>
            </a:r>
            <a:r>
              <a:rPr lang="en-US" altLang="zh-CN" i="1" smtClean="0">
                <a:ea typeface="黑体" panose="02010609060101010101" pitchFamily="49" charset="-122"/>
              </a:rPr>
              <a:t>D</a:t>
            </a:r>
            <a:r>
              <a:rPr lang="en-US" altLang="zh-CN" baseline="-25000" smtClean="0">
                <a:ea typeface="黑体" panose="02010609060101010101" pitchFamily="49" charset="-122"/>
              </a:rPr>
              <a:t>0</a:t>
            </a:r>
            <a:r>
              <a:rPr lang="zh-CN" altLang="en-US" smtClean="0">
                <a:ea typeface="黑体" panose="02010609060101010101" pitchFamily="49" charset="-122"/>
              </a:rPr>
              <a:t>之间的关系： </a:t>
            </a:r>
          </a:p>
        </p:txBody>
      </p:sp>
      <p:sp>
        <p:nvSpPr>
          <p:cNvPr id="148483" name="Rectangle 5"/>
          <p:cNvSpPr>
            <a:spLocks noChangeArrowheads="1"/>
          </p:cNvSpPr>
          <p:nvPr/>
        </p:nvSpPr>
        <p:spPr bwMode="auto">
          <a:xfrm>
            <a:off x="0" y="306863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graphicFrame>
        <p:nvGraphicFramePr>
          <p:cNvPr id="148484" name="Object 4"/>
          <p:cNvGraphicFramePr>
            <a:graphicFrameLocks noChangeAspect="1"/>
          </p:cNvGraphicFramePr>
          <p:nvPr/>
        </p:nvGraphicFramePr>
        <p:xfrm>
          <a:off x="3946525" y="4221163"/>
          <a:ext cx="1833563" cy="1009650"/>
        </p:xfrm>
        <a:graphic>
          <a:graphicData uri="http://schemas.openxmlformats.org/presentationml/2006/ole">
            <mc:AlternateContent xmlns:mc="http://schemas.openxmlformats.org/markup-compatibility/2006">
              <mc:Choice xmlns:v="urn:schemas-microsoft-com:vml" Requires="v">
                <p:oleObj spid="_x0000_s148509" r:id="rId4" imgW="660113" imgH="393529" progId="Equation.3">
                  <p:embed/>
                </p:oleObj>
              </mc:Choice>
              <mc:Fallback>
                <p:oleObj r:id="rId4" imgW="660113" imgH="393529"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6525" y="4221163"/>
                        <a:ext cx="1833563" cy="1009650"/>
                      </a:xfrm>
                      <a:prstGeom prst="rect">
                        <a:avLst/>
                      </a:prstGeom>
                      <a:solidFill>
                        <a:srgbClr val="FFFF00"/>
                      </a:solidFill>
                      <a:ln w="9525">
                        <a:solidFill>
                          <a:schemeClr val="tx1"/>
                        </a:solidFill>
                        <a:miter lim="800000"/>
                        <a:headEnd/>
                        <a:tailEnd/>
                      </a:ln>
                    </p:spPr>
                  </p:pic>
                </p:oleObj>
              </mc:Fallback>
            </mc:AlternateContent>
          </a:graphicData>
        </a:graphic>
      </p:graphicFrame>
      <p:sp>
        <p:nvSpPr>
          <p:cNvPr id="148485" name="Rectangle 6"/>
          <p:cNvSpPr>
            <a:spLocks noChangeArrowheads="1"/>
          </p:cNvSpPr>
          <p:nvPr/>
        </p:nvSpPr>
        <p:spPr bwMode="auto">
          <a:xfrm>
            <a:off x="1352550" y="5445125"/>
            <a:ext cx="7777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800" b="1">
                <a:solidFill>
                  <a:srgbClr val="000099"/>
                </a:solidFill>
                <a:ea typeface="黑体" panose="02010609060101010101" pitchFamily="49" charset="-122"/>
              </a:rPr>
              <a:t>其中：</a:t>
            </a:r>
            <a:r>
              <a:rPr lang="en-US" altLang="zh-CN" sz="2800" b="1" i="1">
                <a:solidFill>
                  <a:srgbClr val="000099"/>
                </a:solidFill>
                <a:ea typeface="黑体" panose="02010609060101010101" pitchFamily="49" charset="-122"/>
              </a:rPr>
              <a:t>U </a:t>
            </a:r>
            <a:r>
              <a:rPr lang="zh-CN" altLang="en-US" sz="2800" b="1">
                <a:solidFill>
                  <a:srgbClr val="000099"/>
                </a:solidFill>
                <a:ea typeface="黑体" panose="02010609060101010101" pitchFamily="49" charset="-122"/>
              </a:rPr>
              <a:t>是网络的利用率，数值在 </a:t>
            </a:r>
            <a:r>
              <a:rPr lang="en-US" altLang="zh-CN" sz="2800" b="1">
                <a:solidFill>
                  <a:srgbClr val="000099"/>
                </a:solidFill>
                <a:ea typeface="黑体" panose="02010609060101010101" pitchFamily="49" charset="-122"/>
              </a:rPr>
              <a:t>0 </a:t>
            </a:r>
            <a:r>
              <a:rPr lang="zh-CN" altLang="en-US" sz="2800" b="1">
                <a:solidFill>
                  <a:srgbClr val="000099"/>
                </a:solidFill>
                <a:ea typeface="黑体" panose="02010609060101010101" pitchFamily="49" charset="-122"/>
              </a:rPr>
              <a:t>到 </a:t>
            </a:r>
            <a:r>
              <a:rPr lang="en-US" altLang="zh-CN" sz="2800" b="1">
                <a:solidFill>
                  <a:srgbClr val="000099"/>
                </a:solidFill>
                <a:ea typeface="黑体" panose="02010609060101010101" pitchFamily="49" charset="-122"/>
              </a:rPr>
              <a:t>1 </a:t>
            </a:r>
            <a:r>
              <a:rPr lang="zh-CN" altLang="en-US" sz="2800" b="1">
                <a:solidFill>
                  <a:srgbClr val="000099"/>
                </a:solidFill>
                <a:ea typeface="黑体" panose="02010609060101010101" pitchFamily="49" charset="-122"/>
              </a:rPr>
              <a:t>之间。 </a:t>
            </a:r>
          </a:p>
        </p:txBody>
      </p:sp>
      <p:sp>
        <p:nvSpPr>
          <p:cNvPr id="14848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47ECA8-0085-4AC5-A304-01B62E1F2EB6}" type="slidenum">
              <a:rPr lang="zh-CN" altLang="en-US" smtClean="0"/>
              <a:pPr eaLnBrk="1" hangingPunct="1"/>
              <a:t>29</a:t>
            </a:fld>
            <a:endParaRPr lang="en-US" altLang="zh-CN" smtClean="0"/>
          </a:p>
        </p:txBody>
      </p:sp>
      <p:sp>
        <p:nvSpPr>
          <p:cNvPr id="14848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0529" name="组合 3"/>
          <p:cNvGrpSpPr>
            <a:grpSpLocks/>
          </p:cNvGrpSpPr>
          <p:nvPr/>
        </p:nvGrpSpPr>
        <p:grpSpPr bwMode="auto">
          <a:xfrm>
            <a:off x="1208088" y="1157288"/>
            <a:ext cx="7231062" cy="3933825"/>
            <a:chOff x="527977" y="1090061"/>
            <a:chExt cx="8215441" cy="5133048"/>
          </a:xfrm>
        </p:grpSpPr>
        <p:sp>
          <p:nvSpPr>
            <p:cNvPr id="150530" name="Rectangle 4"/>
            <p:cNvSpPr>
              <a:spLocks noChangeArrowheads="1"/>
            </p:cNvSpPr>
            <p:nvPr/>
          </p:nvSpPr>
          <p:spPr bwMode="auto">
            <a:xfrm>
              <a:off x="4724269" y="1480587"/>
              <a:ext cx="1736990" cy="4186237"/>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50531" name="Text Box 5"/>
            <p:cNvSpPr txBox="1">
              <a:spLocks noChangeArrowheads="1"/>
            </p:cNvSpPr>
            <p:nvPr/>
          </p:nvSpPr>
          <p:spPr bwMode="auto">
            <a:xfrm>
              <a:off x="527977" y="1090061"/>
              <a:ext cx="1245324" cy="57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时延</a:t>
              </a:r>
              <a:r>
                <a:rPr lang="zh-CN" altLang="en-US" sz="1400" b="1">
                  <a:solidFill>
                    <a:srgbClr val="000099"/>
                  </a:solidFill>
                  <a:ea typeface="黑体" panose="02010609060101010101" pitchFamily="49" charset="-122"/>
                </a:rPr>
                <a:t> </a:t>
              </a:r>
              <a:r>
                <a:rPr lang="en-US" altLang="zh-CN" sz="2800" b="1" i="1">
                  <a:solidFill>
                    <a:srgbClr val="000099"/>
                  </a:solidFill>
                  <a:ea typeface="黑体" panose="02010609060101010101" pitchFamily="49" charset="-122"/>
                </a:rPr>
                <a:t>D</a:t>
              </a:r>
            </a:p>
          </p:txBody>
        </p:sp>
        <p:sp>
          <p:nvSpPr>
            <p:cNvPr id="150532" name="Line 6"/>
            <p:cNvSpPr>
              <a:spLocks noChangeShapeType="1"/>
            </p:cNvSpPr>
            <p:nvPr/>
          </p:nvSpPr>
          <p:spPr bwMode="auto">
            <a:xfrm flipV="1">
              <a:off x="2053431" y="1334537"/>
              <a:ext cx="0" cy="4332287"/>
            </a:xfrm>
            <a:prstGeom prst="line">
              <a:avLst/>
            </a:prstGeom>
            <a:noFill/>
            <a:ln w="38100">
              <a:solidFill>
                <a:srgbClr val="0000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1600" b="1">
                <a:solidFill>
                  <a:srgbClr val="000099"/>
                </a:solidFill>
                <a:ea typeface="宋体" panose="02010600030101010101" pitchFamily="2" charset="-122"/>
              </a:endParaRPr>
            </a:p>
          </p:txBody>
        </p:sp>
        <p:sp>
          <p:nvSpPr>
            <p:cNvPr id="150533" name="Line 7"/>
            <p:cNvSpPr>
              <a:spLocks noChangeShapeType="1"/>
            </p:cNvSpPr>
            <p:nvPr/>
          </p:nvSpPr>
          <p:spPr bwMode="auto">
            <a:xfrm rot="5400000" flipV="1">
              <a:off x="4791340" y="2928914"/>
              <a:ext cx="0" cy="5475815"/>
            </a:xfrm>
            <a:prstGeom prst="line">
              <a:avLst/>
            </a:prstGeom>
            <a:noFill/>
            <a:ln w="38100">
              <a:solidFill>
                <a:srgbClr val="0000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1600" b="1">
                <a:solidFill>
                  <a:srgbClr val="000099"/>
                </a:solidFill>
                <a:ea typeface="宋体" panose="02010600030101010101" pitchFamily="2" charset="-122"/>
              </a:endParaRPr>
            </a:p>
          </p:txBody>
        </p:sp>
        <p:sp>
          <p:nvSpPr>
            <p:cNvPr id="150534" name="Line 8"/>
            <p:cNvSpPr>
              <a:spLocks noChangeShapeType="1"/>
            </p:cNvSpPr>
            <p:nvPr/>
          </p:nvSpPr>
          <p:spPr bwMode="auto">
            <a:xfrm>
              <a:off x="6461258" y="1334537"/>
              <a:ext cx="0" cy="4332287"/>
            </a:xfrm>
            <a:prstGeom prst="line">
              <a:avLst/>
            </a:prstGeom>
            <a:noFill/>
            <a:ln w="9525">
              <a:solidFill>
                <a:srgbClr val="CC0000"/>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b="1">
                <a:solidFill>
                  <a:srgbClr val="000099"/>
                </a:solidFill>
                <a:ea typeface="宋体" panose="02010600030101010101" pitchFamily="2" charset="-122"/>
              </a:endParaRPr>
            </a:p>
          </p:txBody>
        </p:sp>
        <p:sp>
          <p:nvSpPr>
            <p:cNvPr id="150535" name="Arc 9"/>
            <p:cNvSpPr>
              <a:spLocks noChangeArrowheads="1"/>
            </p:cNvSpPr>
            <p:nvPr/>
          </p:nvSpPr>
          <p:spPr bwMode="auto">
            <a:xfrm flipV="1">
              <a:off x="2053431" y="1480586"/>
              <a:ext cx="4313238" cy="3898900"/>
            </a:xfrm>
            <a:custGeom>
              <a:avLst/>
              <a:gdLst>
                <a:gd name="T0" fmla="*/ -1 w 21600"/>
                <a:gd name="T1" fmla="*/ 0 h 21612"/>
                <a:gd name="T2" fmla="*/ 21600 w 21600"/>
                <a:gd name="T3" fmla="*/ 21600 h 21612"/>
                <a:gd name="T4" fmla="*/ 21599 w 21600"/>
                <a:gd name="T5" fmla="*/ 21611 h 21612"/>
                <a:gd name="T6" fmla="*/ -1 w 21600"/>
                <a:gd name="T7" fmla="*/ 0 h 21612"/>
                <a:gd name="T8" fmla="*/ 21600 w 21600"/>
                <a:gd name="T9" fmla="*/ 21600 h 21612"/>
                <a:gd name="T10" fmla="*/ 21599 w 21600"/>
                <a:gd name="T11" fmla="*/ 21611 h 21612"/>
                <a:gd name="T12" fmla="*/ 0 w 21600"/>
                <a:gd name="T13" fmla="*/ 21600 h 21612"/>
              </a:gdLst>
              <a:ahLst/>
              <a:cxnLst>
                <a:cxn ang="0">
                  <a:pos x="T0" y="T1"/>
                </a:cxn>
                <a:cxn ang="0">
                  <a:pos x="T2" y="T3"/>
                </a:cxn>
                <a:cxn ang="0">
                  <a:pos x="T4" y="T5"/>
                </a:cxn>
                <a:cxn ang="0">
                  <a:pos x="T6" y="T7"/>
                </a:cxn>
                <a:cxn ang="0">
                  <a:pos x="T8" y="T9"/>
                </a:cxn>
                <a:cxn ang="0">
                  <a:pos x="T10" y="T11"/>
                </a:cxn>
                <a:cxn ang="0">
                  <a:pos x="T12" y="T13"/>
                </a:cxn>
              </a:cxnLst>
              <a:rect l="0" t="0" r="r" b="b"/>
              <a:pathLst>
                <a:path w="21600" h="21612" fill="none">
                  <a:moveTo>
                    <a:pt x="-1" y="0"/>
                  </a:moveTo>
                  <a:cubicBezTo>
                    <a:pt x="11929" y="0"/>
                    <a:pt x="21600" y="9670"/>
                    <a:pt x="21600" y="21600"/>
                  </a:cubicBezTo>
                  <a:cubicBezTo>
                    <a:pt x="21600" y="21603"/>
                    <a:pt x="21599" y="21607"/>
                    <a:pt x="21599" y="21611"/>
                  </a:cubicBezTo>
                </a:path>
                <a:path w="21600" h="21612" stroke="0">
                  <a:moveTo>
                    <a:pt x="-1" y="0"/>
                  </a:moveTo>
                  <a:cubicBezTo>
                    <a:pt x="11929" y="0"/>
                    <a:pt x="21600" y="9670"/>
                    <a:pt x="21600" y="21600"/>
                  </a:cubicBezTo>
                  <a:cubicBezTo>
                    <a:pt x="21600" y="21603"/>
                    <a:pt x="21599" y="21607"/>
                    <a:pt x="21599" y="21611"/>
                  </a:cubicBezTo>
                  <a:lnTo>
                    <a:pt x="0" y="21600"/>
                  </a:lnTo>
                  <a:close/>
                </a:path>
              </a:pathLst>
            </a:cu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50536" name="Text Box 10"/>
            <p:cNvSpPr txBox="1">
              <a:spLocks noChangeArrowheads="1"/>
            </p:cNvSpPr>
            <p:nvPr/>
          </p:nvSpPr>
          <p:spPr bwMode="auto">
            <a:xfrm>
              <a:off x="7128538" y="5050873"/>
              <a:ext cx="1614880" cy="57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利用率</a:t>
              </a:r>
              <a:r>
                <a:rPr lang="zh-CN" altLang="en-US" sz="1400" b="1">
                  <a:solidFill>
                    <a:srgbClr val="000099"/>
                  </a:solidFill>
                  <a:ea typeface="黑体" panose="02010609060101010101" pitchFamily="49" charset="-122"/>
                </a:rPr>
                <a:t> </a:t>
              </a:r>
              <a:r>
                <a:rPr lang="en-US" altLang="zh-CN" sz="2800" b="1" i="1">
                  <a:solidFill>
                    <a:srgbClr val="000099"/>
                  </a:solidFill>
                  <a:ea typeface="黑体" panose="02010609060101010101" pitchFamily="49" charset="-122"/>
                </a:rPr>
                <a:t>U</a:t>
              </a:r>
            </a:p>
          </p:txBody>
        </p:sp>
        <p:sp>
          <p:nvSpPr>
            <p:cNvPr id="150537" name="Text Box 11"/>
            <p:cNvSpPr txBox="1">
              <a:spLocks noChangeArrowheads="1"/>
            </p:cNvSpPr>
            <p:nvPr/>
          </p:nvSpPr>
          <p:spPr bwMode="auto">
            <a:xfrm>
              <a:off x="6196411" y="5652537"/>
              <a:ext cx="394523" cy="57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1</a:t>
              </a:r>
              <a:endParaRPr lang="en-US" altLang="zh-CN" sz="2800" b="1" i="1">
                <a:solidFill>
                  <a:srgbClr val="000099"/>
                </a:solidFill>
                <a:ea typeface="黑体" panose="02010609060101010101" pitchFamily="49" charset="-122"/>
              </a:endParaRPr>
            </a:p>
          </p:txBody>
        </p:sp>
        <p:sp>
          <p:nvSpPr>
            <p:cNvPr id="150538" name="Text Box 12"/>
            <p:cNvSpPr txBox="1">
              <a:spLocks noChangeArrowheads="1"/>
            </p:cNvSpPr>
            <p:nvPr/>
          </p:nvSpPr>
          <p:spPr bwMode="auto">
            <a:xfrm>
              <a:off x="1700875" y="5582687"/>
              <a:ext cx="394523" cy="57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0</a:t>
              </a:r>
              <a:endParaRPr lang="en-US" altLang="zh-CN" sz="2800" b="1" i="1">
                <a:solidFill>
                  <a:srgbClr val="000099"/>
                </a:solidFill>
                <a:ea typeface="黑体" panose="02010609060101010101" pitchFamily="49" charset="-122"/>
              </a:endParaRPr>
            </a:p>
          </p:txBody>
        </p:sp>
        <p:sp>
          <p:nvSpPr>
            <p:cNvPr id="150539" name="Text Box 13"/>
            <p:cNvSpPr txBox="1">
              <a:spLocks noChangeArrowheads="1"/>
            </p:cNvSpPr>
            <p:nvPr/>
          </p:nvSpPr>
          <p:spPr bwMode="auto">
            <a:xfrm>
              <a:off x="1389592" y="4981023"/>
              <a:ext cx="591620" cy="57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99"/>
                  </a:solidFill>
                  <a:ea typeface="黑体" panose="02010609060101010101" pitchFamily="49" charset="-122"/>
                </a:rPr>
                <a:t>D</a:t>
              </a:r>
              <a:r>
                <a:rPr lang="en-US" altLang="zh-CN" sz="2800" b="1" baseline="-25000">
                  <a:solidFill>
                    <a:srgbClr val="000099"/>
                  </a:solidFill>
                  <a:ea typeface="黑体" panose="02010609060101010101" pitchFamily="49" charset="-122"/>
                </a:rPr>
                <a:t>0</a:t>
              </a:r>
              <a:endParaRPr lang="en-US" altLang="zh-CN" sz="2800" b="1" i="1" baseline="-25000">
                <a:solidFill>
                  <a:srgbClr val="000099"/>
                </a:solidFill>
                <a:ea typeface="黑体" panose="02010609060101010101" pitchFamily="49" charset="-122"/>
              </a:endParaRPr>
            </a:p>
          </p:txBody>
        </p:sp>
        <p:sp>
          <p:nvSpPr>
            <p:cNvPr id="150540" name="Text Box 14"/>
            <p:cNvSpPr txBox="1">
              <a:spLocks noChangeArrowheads="1"/>
            </p:cNvSpPr>
            <p:nvPr/>
          </p:nvSpPr>
          <p:spPr bwMode="auto">
            <a:xfrm>
              <a:off x="4965039" y="1556786"/>
              <a:ext cx="928326" cy="151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时延</a:t>
              </a:r>
            </a:p>
            <a:p>
              <a:pPr eaLnBrk="0" hangingPunct="0"/>
              <a:r>
                <a:rPr lang="zh-CN" altLang="en-US" sz="2800" b="1">
                  <a:solidFill>
                    <a:srgbClr val="000099"/>
                  </a:solidFill>
                  <a:ea typeface="黑体" panose="02010609060101010101" pitchFamily="49" charset="-122"/>
                </a:rPr>
                <a:t>急剧</a:t>
              </a:r>
            </a:p>
            <a:p>
              <a:pPr eaLnBrk="0" hangingPunct="0"/>
              <a:r>
                <a:rPr lang="zh-CN" altLang="en-US" sz="2800" b="1">
                  <a:solidFill>
                    <a:srgbClr val="000099"/>
                  </a:solidFill>
                  <a:ea typeface="黑体" panose="02010609060101010101" pitchFamily="49" charset="-122"/>
                </a:rPr>
                <a:t>增大</a:t>
              </a:r>
              <a:endParaRPr lang="zh-CN" altLang="en-US" sz="2800" b="1" i="1">
                <a:solidFill>
                  <a:srgbClr val="000099"/>
                </a:solidFill>
                <a:ea typeface="黑体" panose="02010609060101010101" pitchFamily="49" charset="-122"/>
              </a:endParaRPr>
            </a:p>
          </p:txBody>
        </p:sp>
      </p:grpSp>
      <p:sp>
        <p:nvSpPr>
          <p:cNvPr id="150541" name="标题 1"/>
          <p:cNvSpPr>
            <a:spLocks noGrp="1" noChangeArrowheads="1"/>
          </p:cNvSpPr>
          <p:nvPr>
            <p:ph type="title"/>
          </p:nvPr>
        </p:nvSpPr>
        <p:spPr/>
        <p:txBody>
          <a:bodyPr/>
          <a:lstStyle/>
          <a:p>
            <a:pPr algn="ctr"/>
            <a:r>
              <a:rPr lang="zh-CN" altLang="en-US" smtClean="0">
                <a:ea typeface="黑体" panose="02010609060101010101" pitchFamily="49" charset="-122"/>
              </a:rPr>
              <a:t>时延与网络利用率的关系</a:t>
            </a:r>
          </a:p>
        </p:txBody>
      </p:sp>
      <p:sp>
        <p:nvSpPr>
          <p:cNvPr id="150542" name="矩形 2"/>
          <p:cNvSpPr>
            <a:spLocks noChangeArrowheads="1"/>
          </p:cNvSpPr>
          <p:nvPr/>
        </p:nvSpPr>
        <p:spPr bwMode="auto">
          <a:xfrm>
            <a:off x="2305050" y="5229225"/>
            <a:ext cx="5888038" cy="954088"/>
          </a:xfrm>
          <a:prstGeom prst="rect">
            <a:avLst/>
          </a:prstGeom>
          <a:solidFill>
            <a:srgbClr val="FFFF66"/>
          </a:solidFill>
          <a:ln w="9525">
            <a:solidFill>
              <a:srgbClr val="000066"/>
            </a:solidFill>
            <a:round/>
            <a:headEnd/>
            <a:tailEnd/>
          </a:ln>
        </p:spPr>
        <p:txBody>
          <a:bodyPr>
            <a:spAutoFit/>
          </a:bodyPr>
          <a:lstStyle/>
          <a:p>
            <a:pPr algn="ctr" eaLnBrk="0" hangingPunct="0"/>
            <a:r>
              <a:rPr lang="zh-CN" altLang="en-US" sz="2800" b="1">
                <a:solidFill>
                  <a:srgbClr val="000099"/>
                </a:solidFill>
                <a:ea typeface="黑体" panose="02010609060101010101" pitchFamily="49" charset="-122"/>
              </a:rPr>
              <a:t>当信道的利用率增大时，该信道引起的时延迅速增加。</a:t>
            </a:r>
          </a:p>
        </p:txBody>
      </p:sp>
      <p:sp>
        <p:nvSpPr>
          <p:cNvPr id="150543"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CBD858-D755-46AB-BA87-B5A80B37E185}" type="slidenum">
              <a:rPr lang="zh-CN" altLang="en-US" smtClean="0"/>
              <a:pPr eaLnBrk="1" hangingPunct="1"/>
              <a:t>30</a:t>
            </a:fld>
            <a:endParaRPr lang="en-US" altLang="zh-CN" smtClean="0"/>
          </a:p>
        </p:txBody>
      </p:sp>
      <p:sp>
        <p:nvSpPr>
          <p:cNvPr id="150544"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1.6.2  </a:t>
            </a:r>
            <a:r>
              <a:rPr lang="zh-CN" altLang="en-US" smtClean="0">
                <a:ea typeface="黑体" panose="02010609060101010101" pitchFamily="49" charset="-122"/>
              </a:rPr>
              <a:t>计算机网络的非性能特征 </a:t>
            </a:r>
          </a:p>
        </p:txBody>
      </p:sp>
      <p:sp>
        <p:nvSpPr>
          <p:cNvPr id="15257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一些</a:t>
            </a:r>
            <a:r>
              <a:rPr lang="zh-CN" altLang="zh-CN" smtClean="0">
                <a:ea typeface="黑体" panose="02010609060101010101" pitchFamily="49" charset="-122"/>
              </a:rPr>
              <a:t>非性能特征也很重要。</a:t>
            </a:r>
            <a:r>
              <a:rPr lang="zh-CN" altLang="en-US" smtClean="0">
                <a:ea typeface="黑体" panose="02010609060101010101" pitchFamily="49" charset="-122"/>
              </a:rPr>
              <a:t>它们</a:t>
            </a:r>
            <a:r>
              <a:rPr lang="zh-CN" altLang="zh-CN" smtClean="0">
                <a:ea typeface="黑体" panose="02010609060101010101" pitchFamily="49" charset="-122"/>
              </a:rPr>
              <a:t>与前面介绍的性能指标有很大的关系</a:t>
            </a:r>
            <a:r>
              <a:rPr lang="zh-CN" altLang="en-US" smtClean="0">
                <a:ea typeface="黑体" panose="02010609060101010101" pitchFamily="49" charset="-122"/>
              </a:rPr>
              <a:t>。主要包括：</a:t>
            </a:r>
            <a:endParaRPr lang="en-US" altLang="zh-CN" smtClean="0">
              <a:ea typeface="黑体" panose="02010609060101010101" pitchFamily="49" charset="-122"/>
            </a:endParaRPr>
          </a:p>
          <a:p>
            <a:pPr lvl="1"/>
            <a:r>
              <a:rPr lang="zh-CN" altLang="en-US" smtClean="0">
                <a:ea typeface="黑体" panose="02010609060101010101" pitchFamily="49" charset="-122"/>
              </a:rPr>
              <a:t>费用</a:t>
            </a:r>
          </a:p>
          <a:p>
            <a:pPr lvl="1"/>
            <a:r>
              <a:rPr lang="zh-CN" altLang="en-US" smtClean="0">
                <a:ea typeface="黑体" panose="02010609060101010101" pitchFamily="49" charset="-122"/>
              </a:rPr>
              <a:t>质量</a:t>
            </a:r>
          </a:p>
          <a:p>
            <a:pPr lvl="1"/>
            <a:r>
              <a:rPr lang="zh-CN" altLang="en-US" smtClean="0">
                <a:ea typeface="黑体" panose="02010609060101010101" pitchFamily="49" charset="-122"/>
              </a:rPr>
              <a:t>标准化</a:t>
            </a:r>
          </a:p>
          <a:p>
            <a:pPr lvl="1"/>
            <a:r>
              <a:rPr lang="zh-CN" altLang="en-US" smtClean="0">
                <a:ea typeface="黑体" panose="02010609060101010101" pitchFamily="49" charset="-122"/>
              </a:rPr>
              <a:t>可靠性</a:t>
            </a:r>
          </a:p>
          <a:p>
            <a:pPr lvl="1"/>
            <a:r>
              <a:rPr lang="zh-CN" altLang="en-US" smtClean="0">
                <a:ea typeface="黑体" panose="02010609060101010101" pitchFamily="49" charset="-122"/>
              </a:rPr>
              <a:t>可扩展性和可升级性 </a:t>
            </a:r>
          </a:p>
          <a:p>
            <a:pPr lvl="1"/>
            <a:r>
              <a:rPr lang="zh-CN" altLang="en-US" smtClean="0">
                <a:ea typeface="黑体" panose="02010609060101010101" pitchFamily="49" charset="-122"/>
              </a:rPr>
              <a:t>易于管理和维护 </a:t>
            </a:r>
          </a:p>
        </p:txBody>
      </p:sp>
      <p:sp>
        <p:nvSpPr>
          <p:cNvPr id="1525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5BA81C-8ECD-43DF-B47B-1399C0A3F5CE}" type="slidenum">
              <a:rPr lang="zh-CN" altLang="en-US" smtClean="0"/>
              <a:pPr eaLnBrk="1" hangingPunct="1"/>
              <a:t>31</a:t>
            </a:fld>
            <a:endParaRPr lang="en-US" altLang="zh-CN" smtClean="0"/>
          </a:p>
        </p:txBody>
      </p:sp>
      <p:sp>
        <p:nvSpPr>
          <p:cNvPr id="1525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443</TotalTime>
  <Words>2150</Words>
  <Application>Microsoft Office PowerPoint</Application>
  <PresentationFormat>A4 纸张(210x297 毫米)</PresentationFormat>
  <Paragraphs>272</Paragraphs>
  <Slides>31</Slides>
  <Notes>21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39" baseType="lpstr">
      <vt:lpstr>黑体</vt:lpstr>
      <vt:lpstr>宋体</vt:lpstr>
      <vt:lpstr>Arial</vt:lpstr>
      <vt:lpstr>Symbol</vt:lpstr>
      <vt:lpstr>Times New Roman</vt:lpstr>
      <vt:lpstr>Wingdings</vt:lpstr>
      <vt:lpstr>Presentation</vt:lpstr>
      <vt:lpstr>Microsoft 公式 3.0</vt:lpstr>
      <vt:lpstr>第 1 章   概述</vt:lpstr>
      <vt:lpstr>第 1 章   概述</vt:lpstr>
      <vt:lpstr>1.4  计算机网络在我国的发展</vt:lpstr>
      <vt:lpstr>1.4  计算机网络在我国的发展</vt:lpstr>
      <vt:lpstr>1.5  计算机网络的类别</vt:lpstr>
      <vt:lpstr>1.5.1  计算机网络的定义</vt:lpstr>
      <vt:lpstr>1.5.1  计算机网络的定义</vt:lpstr>
      <vt:lpstr>1.5.2  几种不同类别的网络</vt:lpstr>
      <vt:lpstr>1. 从网络的作用范围进行分类</vt:lpstr>
      <vt:lpstr>2. 从网络的使用者进行分类</vt:lpstr>
      <vt:lpstr>3. 用来把用户接入到互联网的网络</vt:lpstr>
      <vt:lpstr>3. 用来把用户接入到互联网的网络</vt:lpstr>
      <vt:lpstr>1.6  计算机网络的性能</vt:lpstr>
      <vt:lpstr>1.6.1  计算机网络的性能指标</vt:lpstr>
      <vt:lpstr>1. 速率</vt:lpstr>
      <vt:lpstr>2. 带宽 </vt:lpstr>
      <vt:lpstr>数字信号流随时间的变化</vt:lpstr>
      <vt:lpstr>3. 吞吐量</vt:lpstr>
      <vt:lpstr>4. 时延 (delay 或 latency)</vt:lpstr>
      <vt:lpstr>4. 时延 (delay 或 latency)</vt:lpstr>
      <vt:lpstr>4. 时延 (delay 或 latency)</vt:lpstr>
      <vt:lpstr>4. 时延 (delay 或 latency)</vt:lpstr>
      <vt:lpstr>4. 时延 (delay 或 latency)</vt:lpstr>
      <vt:lpstr>四种时延所产生的地方 </vt:lpstr>
      <vt:lpstr>容易产生的错误概念 </vt:lpstr>
      <vt:lpstr>5. 时延带宽积</vt:lpstr>
      <vt:lpstr>6. 往返时间 RTT(Round-Trip Time)</vt:lpstr>
      <vt:lpstr>7. 利用率</vt:lpstr>
      <vt:lpstr>时延与网络利用率的关系</vt:lpstr>
      <vt:lpstr>时延与网络利用率的关系</vt:lpstr>
      <vt:lpstr>1.6.2  计算机网络的非性能特征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64</cp:revision>
  <dcterms:created xsi:type="dcterms:W3CDTF">2016-10-01T05:27:00Z</dcterms:created>
  <dcterms:modified xsi:type="dcterms:W3CDTF">2021-01-07T01:25:11Z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
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1495" r:id="rId2"/>
    <p:sldId id="1496" r:id="rId3"/>
    <p:sldId id="1558" r:id="rId4"/>
    <p:sldId id="1559" r:id="rId5"/>
    <p:sldId id="1560" r:id="rId6"/>
    <p:sldId id="1561" r:id="rId7"/>
    <p:sldId id="1562" r:id="rId8"/>
    <p:sldId id="1563" r:id="rId9"/>
    <p:sldId id="1564" r:id="rId10"/>
    <p:sldId id="1565" r:id="rId11"/>
    <p:sldId id="1566" r:id="rId12"/>
    <p:sldId id="1567" r:id="rId13"/>
    <p:sldId id="1568" r:id="rId14"/>
    <p:sldId id="1569" r:id="rId15"/>
    <p:sldId id="1570" r:id="rId16"/>
    <p:sldId id="1571" r:id="rId17"/>
    <p:sldId id="1572" r:id="rId18"/>
    <p:sldId id="1573" r:id="rId19"/>
    <p:sldId id="1574" r:id="rId20"/>
    <p:sldId id="1575" r:id="rId21"/>
    <p:sldId id="1576" r:id="rId22"/>
    <p:sldId id="1577" r:id="rId23"/>
    <p:sldId id="1578" r:id="rId24"/>
    <p:sldId id="1579" r:id="rId25"/>
    <p:sldId id="1580" r:id="rId26"/>
    <p:sldId id="1581" r:id="rId27"/>
    <p:sldId id="1582" r:id="rId28"/>
    <p:sldId id="1583" r:id="rId29"/>
    <p:sldId id="1584" r:id="rId30"/>
    <p:sldId id="1585" r:id="rId31"/>
    <p:sldId id="1586" r:id="rId32"/>
    <p:sldId id="1587" r:id="rId33"/>
    <p:sldId id="1588" r:id="rId34"/>
    <p:sldId id="1589" r:id="rId35"/>
    <p:sldId id="1590" r:id="rId36"/>
    <p:sldId id="1591" r:id="rId37"/>
    <p:sldId id="1592" r:id="rId38"/>
    <p:sldId id="1593" r:id="rId39"/>
    <p:sldId id="1594" r:id="rId40"/>
    <p:sldId id="1595" r:id="rId41"/>
    <p:sldId id="1596" r:id="rId42"/>
    <p:sldId id="1597" r:id="rId43"/>
    <p:sldId id="1598" r:id="rId44"/>
    <p:sldId id="1599" r:id="rId45"/>
    <p:sldId id="1600" r:id="rId46"/>
    <p:sldId id="1601" r:id="rId47"/>
    <p:sldId id="1602" r:id="rId48"/>
    <p:sldId id="1603" r:id="rId49"/>
    <p:sldId id="1604" r:id="rId50"/>
    <p:sldId id="1605" r:id="rId51"/>
    <p:sldId id="1606" r:id="rId52"/>
    <p:sldId id="1607" r:id="rId53"/>
    <p:sldId id="1608" r:id="rId54"/>
    <p:sldId id="1609" r:id="rId55"/>
    <p:sldId id="1610" r:id="rId56"/>
    <p:sldId id="1611" r:id="rId57"/>
    <p:sldId id="1612" r:id="rId58"/>
    <p:sldId id="1613" r:id="rId59"/>
    <p:sldId id="1614" r:id="rId60"/>
  </p:sldIdLst>
  <p:sldSz cx="9906000" cy="6858000" type="A4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CC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C0E8ACEC-BE51-4C28-9719-6AEAC1A1CC5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014" y="0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2749550" y="525463"/>
            <a:ext cx="37973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30482" y="3330419"/>
            <a:ext cx="7435436" cy="3154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014" y="6658443"/>
            <a:ext cx="4029282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FF05FA4A-B8E9-4A1C-BCD1-7761336334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0C77CE-7797-456D-8EF1-C79E1756C5D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01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10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89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2889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2889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F07CAD-B98E-4E75-B19A-007EFE2D834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9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309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309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7AE3880-375A-4FF3-94A5-64AD756E427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9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3299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3299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F539D3-A34F-4404-8420-1CF2AE708EE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04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3504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</a:p>
        </p:txBody>
      </p:sp>
      <p:sp>
        <p:nvSpPr>
          <p:cNvPr id="21350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FA016E-D451-4197-87DB-E9E8DE41A77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0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370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370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1344E9-F850-4494-B5C7-1B2A09FC8B4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1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391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391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2F47FF-540C-43B9-AF33-79253C0233CE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1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411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411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8779E3-50EA-4E1C-861A-9DD6C9BF729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2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432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432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6E06549-46BE-4748-AE7C-C7BB5EEFB972}" type="slidenum">
              <a:rPr lang="zh-CN" altLang="en-US" smtClean="0"/>
              <a:pPr/>
              <a:t>11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28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4528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4528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BAD4F-F7A5-4B59-A4D3-BFBE92465C1A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3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4733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4733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ABD77C-98FE-4439-AB84-B77C435B1A5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3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493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493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F93B1C-36D5-4986-8F7A-CBF77965CCB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4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514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514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97A1E52-5B28-40C2-BFE4-5453283B72F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49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5449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5449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051F13F-FD55-434F-8B1B-994FB1CF254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5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565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565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F8A1AC-A825-4E83-99A3-AF91C9DA216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6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596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596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595A97-FBF8-4544-90C8-8B99E1CCE7D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6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616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616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B77BF1-DA96-42DC-B8A0-0BBFAD656A4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7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637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637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C387EB-90FE-4ECD-8462-F4E0C41F5BE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76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6576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6576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59A20F-4ADE-459D-BE53-E0E7099E5C6D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80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6781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6781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4FC385-51E1-4F10-A304-C3BA62DD960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85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6985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6985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E3B87B-269C-4DD6-9BDE-601F409CA4B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90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7190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7190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4E11CA-046E-46FB-974B-ADCD3B9D97B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9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749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749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767A34-C812-4759-979C-0FA2BE9AAC9B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0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770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770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33EAAC-726A-4633-98B1-4FA3F8CBAF1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29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0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790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790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53EF8D-0343-42E5-8680-19E437EEAFCA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1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821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821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DF5138-F77A-4BDE-93E9-C8950BC58A9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1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8419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8419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B1F9C3-EC64-4C64-BFC0-765782423AC8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24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8624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862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77C753-79F4-40D7-B9B3-BF5848C72FE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2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882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882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9AD517-C29E-4EA3-94E9-E29C5A31ACA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3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903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903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3A8FB5-083B-4255-8371-615A74BD3D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3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923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923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FF9CDC-A54E-40CC-9416-1F8F7FB6BE1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4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944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944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950E71-7DB7-404F-BEAC-9821ADBF2BE2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48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9648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9648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651A24-E22E-4FE2-947B-F7D5F92DA6DE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39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5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19853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9853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513FC4-3986-4542-B346-736D1BE13A6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5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005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005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489932-8347-4D92-B0FF-ED1A2863D06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6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026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026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4B2F51-FB9D-47C5-87CA-03C440D86017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6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046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046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0F7318-5618-46EE-9AD7-4B08FA27DA4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7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067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2067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EEE584-BD0D-47AD-99C0-BAA7B2375502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7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087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087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1B977C-EC3D-4616-87A5-70904133365E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8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108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108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690FAF7-34F4-4C75-9FBC-0E0EF9396BB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8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128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128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C8436A-68C6-445F-B5D2-5563D03BD5C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149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149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C2AF10-4655-4BA2-9D67-351292380EA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48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9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179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179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2C7256-4B69-44A4-9942-73703125AE6C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0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200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2200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D07AB4-FCE6-4070-8D9F-4A46020F1E5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08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2208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22208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1522873-6324-4189-BA15-05576B0E687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1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2413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2413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D77BB8-8933-4735-AD6B-9E3F70AB72F5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1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261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261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E378EC-FF8D-42C2-91B2-EF12F3EFC621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2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282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2282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F9096F-DA74-4D11-9523-913958DC6F44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2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302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302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162C94-A002-434C-B481-95AF7B804289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323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323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AF68E4-B1FE-428D-904F-A76CDB162DD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3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22343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2343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5833EA-8E94-4D0A-AEAF-B68C7A07EC90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58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7955F-A69E-4467-A82C-EE60FDDCFF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999172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CA65C-4566-4F22-82C0-F7928AFB6C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508641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45BCF-6D22-4878-8FB5-A81CDEA859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071423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A8425-2754-4992-85DA-093F73B1EF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332707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64BCD-9FF8-4EEA-802F-02E8161224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865732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24188-8841-4DE9-B734-E97410F80EA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60111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D0CB9-BE1A-4B7E-9987-D843BFDBDF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861276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047895-56BC-40E7-B54D-786187ABECC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851595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5DC6C-E8EB-4CB9-82BE-2566C17B85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5482523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DFB998-1A56-45AA-8238-C823889BAE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96966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9DF3D8-F2BE-4C56-8077-B7A99E011FD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725478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9285C9-D267-4602-BC5B-004CB60C2F6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541545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FD7FADE1-BAB0-4FD4-85EF-FEBC2CE45A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945494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D74A896-9AB5-4D15-8402-862059E5A9B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447998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0EDAF7A-0A16-47FB-BF04-01BDDD727E3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08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7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网络安全</a:t>
            </a:r>
          </a:p>
        </p:txBody>
      </p:sp>
      <p:sp>
        <p:nvSpPr>
          <p:cNvPr id="200909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7.5-7.8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20090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ED7D0B-4B30-42B4-B58A-F8A878FF6802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20090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1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7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en-US" smtClean="0">
                <a:ea typeface="黑体" panose="02010609060101010101" pitchFamily="49" charset="-122"/>
              </a:rPr>
              <a:t>网络安全</a:t>
            </a:r>
          </a:p>
        </p:txBody>
      </p:sp>
      <p:sp>
        <p:nvSpPr>
          <p:cNvPr id="20111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7.5  </a:t>
            </a:r>
            <a:r>
              <a:rPr lang="zh-CN" altLang="zh-CN" dirty="0" smtClean="0">
                <a:ea typeface="黑体" panose="02010609060101010101" pitchFamily="49" charset="-122"/>
              </a:rPr>
              <a:t>密钥分配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7.6  </a:t>
            </a:r>
            <a:r>
              <a:rPr lang="zh-CN" altLang="zh-CN" dirty="0" smtClean="0">
                <a:ea typeface="黑体" panose="02010609060101010101" pitchFamily="49" charset="-122"/>
              </a:rPr>
              <a:t>互联网使用的安全协议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7.7  </a:t>
            </a:r>
            <a:r>
              <a:rPr lang="zh-CN" altLang="zh-CN" dirty="0" smtClean="0">
                <a:ea typeface="黑体" panose="02010609060101010101" pitchFamily="49" charset="-122"/>
              </a:rPr>
              <a:t>系统安全：防火墙与入侵检测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7.8  </a:t>
            </a:r>
            <a:r>
              <a:rPr lang="zh-CN" altLang="zh-CN" dirty="0" smtClean="0">
                <a:ea typeface="黑体" panose="02010609060101010101" pitchFamily="49" charset="-122"/>
              </a:rPr>
              <a:t>一些未来的发展方向</a:t>
            </a:r>
          </a:p>
        </p:txBody>
      </p:sp>
      <p:sp>
        <p:nvSpPr>
          <p:cNvPr id="20111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CB047A-EDFE-4CAA-8881-D53CFF6E4B9F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201114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8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7.5  </a:t>
            </a:r>
            <a:r>
              <a:rPr lang="zh-CN" altLang="zh-CN" sz="4800" smtClean="0">
                <a:ea typeface="黑体" panose="02010609060101010101" pitchFamily="49" charset="-122"/>
              </a:rPr>
              <a:t>密钥分配</a:t>
            </a:r>
            <a:endParaRPr lang="zh-CN" altLang="en-US" sz="4800" smtClean="0">
              <a:ea typeface="黑体" panose="02010609060101010101" pitchFamily="49" charset="-122"/>
            </a:endParaRPr>
          </a:p>
        </p:txBody>
      </p:sp>
      <p:sp>
        <p:nvSpPr>
          <p:cNvPr id="21268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7.5.1  </a:t>
            </a:r>
            <a:r>
              <a:rPr lang="zh-CN" altLang="zh-CN" smtClean="0">
                <a:ea typeface="黑体" panose="02010609060101010101" pitchFamily="49" charset="-122"/>
              </a:rPr>
              <a:t>对称密钥的分配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7.5.2  </a:t>
            </a:r>
            <a:r>
              <a:rPr lang="zh-CN" altLang="zh-CN" smtClean="0">
                <a:ea typeface="黑体" panose="02010609060101010101" pitchFamily="49" charset="-122"/>
              </a:rPr>
              <a:t>公钥的分配</a:t>
            </a:r>
          </a:p>
        </p:txBody>
      </p:sp>
      <p:sp>
        <p:nvSpPr>
          <p:cNvPr id="21268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E76E8A-719E-40B7-BF2E-371364F81DEA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21268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8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7.5   </a:t>
            </a:r>
            <a:r>
              <a:rPr lang="zh-CN" altLang="en-US" smtClean="0">
                <a:ea typeface="黑体" panose="02010609060101010101" pitchFamily="49" charset="-122"/>
              </a:rPr>
              <a:t>密钥分配 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由于密码算法是公开的，网络的安全性就完全基于密钥的安全保护上。因此在密码学中出现了一个重要的分支——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密钥管理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密钥管理包括：</a:t>
            </a:r>
            <a:r>
              <a:rPr lang="zh-CN" altLang="en-US" dirty="0" smtClean="0">
                <a:ea typeface="黑体" panose="02010609060101010101" pitchFamily="49" charset="-122"/>
              </a:rPr>
              <a:t>密钥的产生、分配、注入、验证和使用。本节只讨论密钥的分配。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密钥分配是密钥管理中最大的问题。密钥必须通过最安全的通路进行分配。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278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EAC9D7-EFA6-42D0-B8E9-5F7435D4CD13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21278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7.5   </a:t>
            </a:r>
            <a:r>
              <a:rPr lang="zh-CN" altLang="en-US" smtClean="0">
                <a:ea typeface="黑体" panose="02010609060101010101" pitchFamily="49" charset="-122"/>
              </a:rPr>
              <a:t>密钥分配 </a:t>
            </a:r>
          </a:p>
        </p:txBody>
      </p:sp>
      <p:sp>
        <p:nvSpPr>
          <p:cNvPr id="21299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网外分配方式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r>
              <a:rPr lang="zh-CN" altLang="zh-CN" smtClean="0">
                <a:ea typeface="黑体" panose="02010609060101010101" pitchFamily="49" charset="-122"/>
              </a:rPr>
              <a:t>派非常可靠的信使携带密钥分配给互相通信的各用户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网内分配方式</a:t>
            </a:r>
            <a:r>
              <a:rPr lang="zh-CN" altLang="en-US" smtClean="0">
                <a:ea typeface="黑体" panose="02010609060101010101" pitchFamily="49" charset="-122"/>
              </a:rPr>
              <a:t>：</a:t>
            </a:r>
            <a:r>
              <a:rPr lang="zh-CN" altLang="zh-CN" smtClean="0">
                <a:ea typeface="黑体" panose="02010609060101010101" pitchFamily="49" charset="-122"/>
              </a:rPr>
              <a:t>密钥自动分配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29923" name="矩形 1"/>
          <p:cNvSpPr>
            <a:spLocks noChangeArrowheads="1"/>
          </p:cNvSpPr>
          <p:nvPr/>
        </p:nvSpPr>
        <p:spPr bwMode="auto">
          <a:xfrm>
            <a:off x="920750" y="3284538"/>
            <a:ext cx="8569325" cy="16573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110000"/>
              </a:lnSpc>
            </a:pP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但随着用户的增多和网络流量的增大，密钥更换频繁</a:t>
            </a:r>
            <a:r>
              <a:rPr lang="zh-CN" altLang="en-US" sz="2800" b="1">
                <a:solidFill>
                  <a:srgbClr val="000066"/>
                </a:solidFill>
                <a:ea typeface="黑体" panose="02010609060101010101" pitchFamily="49" charset="-122"/>
              </a:rPr>
              <a:t>（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密钥必须定期更换才能做到可靠</a:t>
            </a:r>
            <a:r>
              <a:rPr lang="zh-CN" altLang="en-US" sz="2800" b="1">
                <a:solidFill>
                  <a:srgbClr val="000066"/>
                </a:solidFill>
                <a:ea typeface="黑体" panose="02010609060101010101" pitchFamily="49" charset="-122"/>
              </a:rPr>
              <a:t>）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，派信使的办法已不再适用，而应采用网内分配方式</a:t>
            </a:r>
            <a:r>
              <a:rPr lang="zh-CN" altLang="en-US" sz="2800" b="1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2992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6E13C1-BA7D-4028-A477-1F11E0317C83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sp>
        <p:nvSpPr>
          <p:cNvPr id="212992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9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7.5.1  </a:t>
            </a:r>
            <a:r>
              <a:rPr lang="zh-CN" altLang="en-US" smtClean="0">
                <a:ea typeface="黑体" panose="02010609060101010101" pitchFamily="49" charset="-122"/>
              </a:rPr>
              <a:t>对称密钥的分配</a:t>
            </a:r>
          </a:p>
        </p:txBody>
      </p:sp>
      <p:sp>
        <p:nvSpPr>
          <p:cNvPr id="21319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目前常用的密钥分配方式是设立</a:t>
            </a:r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密钥分配中心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KDC </a:t>
            </a:r>
            <a:r>
              <a:rPr lang="en-US" altLang="zh-CN" u="sng" dirty="0" smtClean="0">
                <a:ea typeface="黑体" panose="02010609060101010101" pitchFamily="49" charset="-122"/>
              </a:rPr>
              <a:t>(Key Distribution Center)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KDC </a:t>
            </a:r>
            <a:r>
              <a:rPr lang="zh-CN" altLang="en-US" dirty="0" smtClean="0">
                <a:ea typeface="黑体" panose="02010609060101010101" pitchFamily="49" charset="-122"/>
              </a:rPr>
              <a:t>是大家都信任的机构，其任务就是给需要进行秘密通信的用户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临时分配</a:t>
            </a:r>
            <a:r>
              <a:rPr lang="zh-CN" altLang="en-US" dirty="0" smtClean="0">
                <a:ea typeface="黑体" panose="02010609060101010101" pitchFamily="49" charset="-122"/>
              </a:rPr>
              <a:t>一个会话密钥（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仅使用一次</a:t>
            </a:r>
            <a:r>
              <a:rPr lang="zh-CN" altLang="en-US" dirty="0" smtClean="0">
                <a:ea typeface="黑体" panose="02010609060101010101" pitchFamily="49" charset="-122"/>
              </a:rPr>
              <a:t>）。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假设用户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en-US" dirty="0" smtClean="0">
                <a:ea typeface="黑体" panose="02010609060101010101" pitchFamily="49" charset="-122"/>
              </a:rPr>
              <a:t>都是 </a:t>
            </a:r>
            <a:r>
              <a:rPr lang="en-US" altLang="zh-CN" dirty="0" smtClean="0">
                <a:ea typeface="黑体" panose="02010609060101010101" pitchFamily="49" charset="-122"/>
              </a:rPr>
              <a:t>KDC </a:t>
            </a:r>
            <a:r>
              <a:rPr lang="zh-CN" altLang="en-US" dirty="0" smtClean="0">
                <a:ea typeface="黑体" panose="02010609060101010101" pitchFamily="49" charset="-122"/>
              </a:rPr>
              <a:t>的登记用户，并已经在 </a:t>
            </a:r>
            <a:r>
              <a:rPr lang="en-US" altLang="zh-CN" dirty="0" smtClean="0">
                <a:ea typeface="黑体" panose="02010609060101010101" pitchFamily="49" charset="-122"/>
              </a:rPr>
              <a:t>KDC </a:t>
            </a:r>
            <a:r>
              <a:rPr lang="zh-CN" altLang="en-US" dirty="0" smtClean="0">
                <a:ea typeface="黑体" panose="02010609060101010101" pitchFamily="49" charset="-122"/>
              </a:rPr>
              <a:t>的服务器上安装了各自和 </a:t>
            </a:r>
            <a:r>
              <a:rPr lang="en-US" altLang="zh-CN" dirty="0" smtClean="0">
                <a:ea typeface="黑体" panose="02010609060101010101" pitchFamily="49" charset="-122"/>
              </a:rPr>
              <a:t>KDC </a:t>
            </a:r>
            <a:r>
              <a:rPr lang="zh-CN" altLang="en-US" dirty="0" smtClean="0">
                <a:ea typeface="黑体" panose="02010609060101010101" pitchFamily="49" charset="-122"/>
              </a:rPr>
              <a:t>进行通信的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主密钥</a:t>
            </a:r>
            <a:r>
              <a:rPr lang="zh-CN" altLang="en-US" dirty="0" smtClean="0">
                <a:ea typeface="黑体" panose="02010609060101010101" pitchFamily="49" charset="-122"/>
              </a:rPr>
              <a:t>（</a:t>
            </a:r>
            <a:r>
              <a:rPr lang="en-US" altLang="zh-CN" dirty="0" smtClean="0">
                <a:ea typeface="黑体" panose="02010609060101010101" pitchFamily="49" charset="-122"/>
              </a:rPr>
              <a:t>master key</a:t>
            </a:r>
            <a:r>
              <a:rPr lang="zh-CN" altLang="en-US" dirty="0" smtClean="0">
                <a:ea typeface="黑体" panose="02010609060101010101" pitchFamily="49" charset="-122"/>
              </a:rPr>
              <a:t>）</a:t>
            </a:r>
            <a:r>
              <a:rPr lang="en-US" altLang="zh-CN" dirty="0" smtClean="0">
                <a:ea typeface="黑体" panose="02010609060101010101" pitchFamily="49" charset="-122"/>
              </a:rPr>
              <a:t>KA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KB</a:t>
            </a:r>
            <a:r>
              <a:rPr lang="zh-CN" altLang="en-US" dirty="0" smtClean="0">
                <a:ea typeface="黑体" panose="02010609060101010101" pitchFamily="49" charset="-122"/>
              </a:rPr>
              <a:t>。 “主密钥”可简称为“密钥”。  </a:t>
            </a:r>
          </a:p>
        </p:txBody>
      </p:sp>
      <p:sp>
        <p:nvSpPr>
          <p:cNvPr id="21319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CE5E9C-BE24-485C-8215-131301A44CA6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  <p:sp>
        <p:nvSpPr>
          <p:cNvPr id="213197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0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对称密钥的分配</a:t>
            </a:r>
          </a:p>
        </p:txBody>
      </p:sp>
      <p:sp>
        <p:nvSpPr>
          <p:cNvPr id="2134018" name="Text Box 8"/>
          <p:cNvSpPr txBox="1">
            <a:spLocks noChangeArrowheads="1"/>
          </p:cNvSpPr>
          <p:nvPr/>
        </p:nvSpPr>
        <p:spPr bwMode="auto">
          <a:xfrm>
            <a:off x="460375" y="2193925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2134019" name="Group 9"/>
          <p:cNvGrpSpPr>
            <a:grpSpLocks/>
          </p:cNvGrpSpPr>
          <p:nvPr/>
        </p:nvGrpSpPr>
        <p:grpSpPr bwMode="auto">
          <a:xfrm>
            <a:off x="715963" y="2249488"/>
            <a:ext cx="577850" cy="577850"/>
            <a:chOff x="921" y="2412"/>
            <a:chExt cx="284" cy="265"/>
          </a:xfrm>
        </p:grpSpPr>
        <p:grpSp>
          <p:nvGrpSpPr>
            <p:cNvPr id="2134020" name="Group 10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34021" name="Freeform 11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2" name="Freeform 12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3" name="Freeform 13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4" name="Freeform 14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5" name="Rectangle 15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6" name="Rectangle 16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7" name="Rectangle 17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28" name="Line 18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34029" name="Group 19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34030" name="Freeform 20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31" name="Freeform 21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32" name="Rectangle 22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34033" name="Group 23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34034" name="Freeform 24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35" name="Freeform 25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36" name="Freeform 26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37" name="Freeform 27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38" name="Rectangle 28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39" name="Rectangle 29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40" name="Rectangle 30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34041" name="Line 31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34042" name="Group 32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4043" name="Freeform 33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44" name="Freeform 34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45" name="Rectangle 35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134046" name="Group 36"/>
          <p:cNvGrpSpPr>
            <a:grpSpLocks/>
          </p:cNvGrpSpPr>
          <p:nvPr/>
        </p:nvGrpSpPr>
        <p:grpSpPr bwMode="auto">
          <a:xfrm>
            <a:off x="9101138" y="2197100"/>
            <a:ext cx="835025" cy="630238"/>
            <a:chOff x="3923" y="543"/>
            <a:chExt cx="460" cy="346"/>
          </a:xfrm>
        </p:grpSpPr>
        <p:sp>
          <p:nvSpPr>
            <p:cNvPr id="2134047" name="Text Box 37"/>
            <p:cNvSpPr txBox="1">
              <a:spLocks noChangeArrowheads="1"/>
            </p:cNvSpPr>
            <p:nvPr/>
          </p:nvSpPr>
          <p:spPr bwMode="auto">
            <a:xfrm>
              <a:off x="4179" y="543"/>
              <a:ext cx="20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grpSp>
          <p:nvGrpSpPr>
            <p:cNvPr id="2134048" name="Group 38"/>
            <p:cNvGrpSpPr>
              <a:grpSpLocks/>
            </p:cNvGrpSpPr>
            <p:nvPr/>
          </p:nvGrpSpPr>
          <p:grpSpPr bwMode="auto">
            <a:xfrm>
              <a:off x="3923" y="572"/>
              <a:ext cx="318" cy="317"/>
              <a:chOff x="921" y="2412"/>
              <a:chExt cx="284" cy="265"/>
            </a:xfrm>
          </p:grpSpPr>
          <p:grpSp>
            <p:nvGrpSpPr>
              <p:cNvPr id="2134049" name="Group 39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34050" name="Freeform 40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1" name="Freeform 41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2" name="Freeform 42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3" name="Freeform 43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4" name="Rectangle 44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5" name="Rectangle 45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6" name="Rectangle 46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5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34058" name="Group 48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34059" name="Freeform 49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34060" name="Freeform 50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34061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34062" name="Group 52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34063" name="Freeform 53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4" name="Freeform 54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5" name="Freeform 55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6" name="Freeform 56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7" name="Rectangle 57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8" name="Rectangle 58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69" name="Rectangle 59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34070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34071" name="Group 61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34072" name="Freeform 62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34073" name="Freeform 63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34074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</p:grpSp>
      <p:sp>
        <p:nvSpPr>
          <p:cNvPr id="2134075" name="Line 65"/>
          <p:cNvSpPr>
            <a:spLocks noChangeShapeType="1"/>
          </p:cNvSpPr>
          <p:nvPr/>
        </p:nvSpPr>
        <p:spPr bwMode="auto">
          <a:xfrm rot="5400000">
            <a:off x="-300831" y="4201319"/>
            <a:ext cx="2581275" cy="158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76" name="Line 66"/>
          <p:cNvSpPr>
            <a:spLocks noChangeShapeType="1"/>
          </p:cNvSpPr>
          <p:nvPr/>
        </p:nvSpPr>
        <p:spPr bwMode="auto">
          <a:xfrm rot="5400000">
            <a:off x="8051800" y="4240213"/>
            <a:ext cx="2692400" cy="63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77" name="Line 74"/>
          <p:cNvSpPr>
            <a:spLocks noChangeShapeType="1"/>
          </p:cNvSpPr>
          <p:nvPr/>
        </p:nvSpPr>
        <p:spPr bwMode="auto">
          <a:xfrm rot="16200000" flipH="1">
            <a:off x="4270375" y="3248025"/>
            <a:ext cx="2052638" cy="79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78" name="Text Box 75"/>
          <p:cNvSpPr txBox="1">
            <a:spLocks noChangeArrowheads="1"/>
          </p:cNvSpPr>
          <p:nvPr/>
        </p:nvSpPr>
        <p:spPr bwMode="auto">
          <a:xfrm>
            <a:off x="3387725" y="1412875"/>
            <a:ext cx="15970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密钥</a:t>
            </a:r>
          </a:p>
          <a:p>
            <a:pPr algn="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分配中心</a:t>
            </a:r>
          </a:p>
          <a:p>
            <a:pPr algn="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KDC</a:t>
            </a:r>
          </a:p>
        </p:txBody>
      </p:sp>
      <p:grpSp>
        <p:nvGrpSpPr>
          <p:cNvPr id="700517" name="Group 101"/>
          <p:cNvGrpSpPr>
            <a:grpSpLocks/>
          </p:cNvGrpSpPr>
          <p:nvPr/>
        </p:nvGrpSpPr>
        <p:grpSpPr bwMode="auto">
          <a:xfrm>
            <a:off x="954088" y="4516438"/>
            <a:ext cx="8402637" cy="879475"/>
            <a:chOff x="439" y="3117"/>
            <a:chExt cx="4886" cy="554"/>
          </a:xfrm>
        </p:grpSpPr>
        <p:sp>
          <p:nvSpPr>
            <p:cNvPr id="2134080" name="Line 5"/>
            <p:cNvSpPr>
              <a:spLocks noChangeShapeType="1"/>
            </p:cNvSpPr>
            <p:nvPr/>
          </p:nvSpPr>
          <p:spPr bwMode="auto">
            <a:xfrm>
              <a:off x="466" y="3540"/>
              <a:ext cx="4859" cy="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34081" name="Rectangle 6"/>
            <p:cNvSpPr>
              <a:spLocks noChangeArrowheads="1"/>
            </p:cNvSpPr>
            <p:nvPr/>
          </p:nvSpPr>
          <p:spPr bwMode="auto">
            <a:xfrm>
              <a:off x="2356" y="3410"/>
              <a:ext cx="670" cy="261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,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, 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sp>
          <p:nvSpPr>
            <p:cNvPr id="2134082" name="Text Box 71"/>
            <p:cNvSpPr txBox="1">
              <a:spLocks noChangeArrowheads="1"/>
            </p:cNvSpPr>
            <p:nvPr/>
          </p:nvSpPr>
          <p:spPr bwMode="auto">
            <a:xfrm>
              <a:off x="1943" y="3117"/>
              <a:ext cx="28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134083" name="Text Box 78"/>
            <p:cNvSpPr txBox="1">
              <a:spLocks noChangeArrowheads="1"/>
            </p:cNvSpPr>
            <p:nvPr/>
          </p:nvSpPr>
          <p:spPr bwMode="auto">
            <a:xfrm>
              <a:off x="439" y="3207"/>
              <a:ext cx="34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6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</a:t>
              </a:r>
            </a:p>
          </p:txBody>
        </p:sp>
        <p:pic>
          <p:nvPicPr>
            <p:cNvPr id="2134084" name="Picture 8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" y="3182"/>
              <a:ext cx="25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134085" name="Picture 8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1836738"/>
            <a:ext cx="6699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34086" name="Rectangle 83"/>
          <p:cNvSpPr>
            <a:spLocks noChangeArrowheads="1"/>
          </p:cNvSpPr>
          <p:nvPr/>
        </p:nvSpPr>
        <p:spPr bwMode="auto">
          <a:xfrm>
            <a:off x="6529388" y="1719263"/>
            <a:ext cx="2055812" cy="2058987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2"/>
            </a:solidFill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87" name="Rectangle 84"/>
          <p:cNvSpPr>
            <a:spLocks noChangeArrowheads="1"/>
          </p:cNvSpPr>
          <p:nvPr/>
        </p:nvSpPr>
        <p:spPr bwMode="auto">
          <a:xfrm>
            <a:off x="6704013" y="2114550"/>
            <a:ext cx="1568450" cy="15414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88" name="Line 85"/>
          <p:cNvSpPr>
            <a:spLocks noChangeShapeType="1"/>
          </p:cNvSpPr>
          <p:nvPr/>
        </p:nvSpPr>
        <p:spPr bwMode="auto">
          <a:xfrm>
            <a:off x="6704013" y="2465388"/>
            <a:ext cx="1549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89" name="Line 86"/>
          <p:cNvSpPr>
            <a:spLocks noChangeShapeType="1"/>
          </p:cNvSpPr>
          <p:nvPr/>
        </p:nvSpPr>
        <p:spPr bwMode="auto">
          <a:xfrm flipV="1">
            <a:off x="6704013" y="3152775"/>
            <a:ext cx="1525587" cy="793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90" name="Line 87"/>
          <p:cNvSpPr>
            <a:spLocks noChangeShapeType="1"/>
          </p:cNvSpPr>
          <p:nvPr/>
        </p:nvSpPr>
        <p:spPr bwMode="auto">
          <a:xfrm rot="16200000" flipH="1">
            <a:off x="6511925" y="2873376"/>
            <a:ext cx="1544637" cy="47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91" name="Text Box 88"/>
          <p:cNvSpPr txBox="1">
            <a:spLocks noChangeArrowheads="1"/>
          </p:cNvSpPr>
          <p:nvPr/>
        </p:nvSpPr>
        <p:spPr bwMode="auto">
          <a:xfrm rot="-5400000">
            <a:off x="6450013" y="30607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40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134092" name="Text Box 89"/>
          <p:cNvSpPr txBox="1">
            <a:spLocks noChangeArrowheads="1"/>
          </p:cNvSpPr>
          <p:nvPr/>
        </p:nvSpPr>
        <p:spPr bwMode="auto">
          <a:xfrm rot="-5400000">
            <a:off x="7308851" y="306070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40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134093" name="Text Box 90"/>
          <p:cNvSpPr txBox="1">
            <a:spLocks noChangeArrowheads="1"/>
          </p:cNvSpPr>
          <p:nvPr/>
        </p:nvSpPr>
        <p:spPr bwMode="auto">
          <a:xfrm>
            <a:off x="6484938" y="1703388"/>
            <a:ext cx="2100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用户专用主密钥</a:t>
            </a:r>
          </a:p>
        </p:txBody>
      </p:sp>
      <p:sp>
        <p:nvSpPr>
          <p:cNvPr id="2134094" name="Text Box 91"/>
          <p:cNvSpPr txBox="1">
            <a:spLocks noChangeArrowheads="1"/>
          </p:cNvSpPr>
          <p:nvPr/>
        </p:nvSpPr>
        <p:spPr bwMode="auto">
          <a:xfrm>
            <a:off x="6689725" y="2070100"/>
            <a:ext cx="16494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用户 主密钥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  </a:t>
            </a:r>
            <a:r>
              <a:rPr lang="en-US" altLang="zh-CN" sz="12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B  </a:t>
            </a:r>
            <a:r>
              <a:rPr lang="en-US" altLang="zh-CN" sz="5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000" b="1">
                <a:solidFill>
                  <a:srgbClr val="000099"/>
                </a:solidFill>
                <a:ea typeface="黑体" panose="02010609060101010101" pitchFamily="49" charset="-122"/>
              </a:rPr>
              <a:t>             </a:t>
            </a:r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2134095" name="Rectangle 92"/>
          <p:cNvSpPr>
            <a:spLocks noChangeArrowheads="1"/>
          </p:cNvSpPr>
          <p:nvPr/>
        </p:nvSpPr>
        <p:spPr bwMode="auto">
          <a:xfrm>
            <a:off x="5238750" y="2416175"/>
            <a:ext cx="165100" cy="24765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96" name="Freeform 93"/>
          <p:cNvSpPr>
            <a:spLocks noChangeArrowheads="1"/>
          </p:cNvSpPr>
          <p:nvPr/>
        </p:nvSpPr>
        <p:spPr bwMode="auto">
          <a:xfrm>
            <a:off x="5402263" y="1725613"/>
            <a:ext cx="1122362" cy="2052637"/>
          </a:xfrm>
          <a:custGeom>
            <a:avLst/>
            <a:gdLst>
              <a:gd name="T0" fmla="*/ 0 w 618"/>
              <a:gd name="T1" fmla="*/ 381 h 1125"/>
              <a:gd name="T2" fmla="*/ 615 w 618"/>
              <a:gd name="T3" fmla="*/ 0 h 1125"/>
              <a:gd name="T4" fmla="*/ 618 w 618"/>
              <a:gd name="T5" fmla="*/ 1125 h 1125"/>
              <a:gd name="T6" fmla="*/ 6 w 618"/>
              <a:gd name="T7" fmla="*/ 519 h 1125"/>
              <a:gd name="T8" fmla="*/ 0 w 618"/>
              <a:gd name="T9" fmla="*/ 381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8" h="1125">
                <a:moveTo>
                  <a:pt x="0" y="381"/>
                </a:moveTo>
                <a:lnTo>
                  <a:pt x="615" y="0"/>
                </a:lnTo>
                <a:lnTo>
                  <a:pt x="618" y="1125"/>
                </a:lnTo>
                <a:lnTo>
                  <a:pt x="6" y="519"/>
                </a:lnTo>
                <a:lnTo>
                  <a:pt x="0" y="381"/>
                </a:lnTo>
                <a:close/>
              </a:path>
            </a:pathLst>
          </a:custGeom>
          <a:gradFill rotWithShape="1">
            <a:gsLst>
              <a:gs pos="0">
                <a:srgbClr val="767647"/>
              </a:gs>
              <a:gs pos="100000">
                <a:srgbClr val="FFFF6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34097" name="Line 94"/>
          <p:cNvSpPr>
            <a:spLocks noChangeShapeType="1"/>
          </p:cNvSpPr>
          <p:nvPr/>
        </p:nvSpPr>
        <p:spPr bwMode="auto">
          <a:xfrm>
            <a:off x="6710363" y="2803525"/>
            <a:ext cx="157003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700516" name="Group 100"/>
          <p:cNvGrpSpPr>
            <a:grpSpLocks/>
          </p:cNvGrpSpPr>
          <p:nvPr/>
        </p:nvGrpSpPr>
        <p:grpSpPr bwMode="auto">
          <a:xfrm>
            <a:off x="989013" y="3325813"/>
            <a:ext cx="4300537" cy="1108075"/>
            <a:chOff x="459" y="2367"/>
            <a:chExt cx="2501" cy="698"/>
          </a:xfrm>
        </p:grpSpPr>
        <p:sp>
          <p:nvSpPr>
            <p:cNvPr id="2134099" name="Line 67"/>
            <p:cNvSpPr>
              <a:spLocks noChangeShapeType="1"/>
            </p:cNvSpPr>
            <p:nvPr/>
          </p:nvSpPr>
          <p:spPr bwMode="auto">
            <a:xfrm flipH="1">
              <a:off x="459" y="2789"/>
              <a:ext cx="2501" cy="1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34100" name="Rectangle 68"/>
            <p:cNvSpPr>
              <a:spLocks noChangeArrowheads="1"/>
            </p:cNvSpPr>
            <p:nvPr/>
          </p:nvSpPr>
          <p:spPr bwMode="auto">
            <a:xfrm>
              <a:off x="1158" y="2527"/>
              <a:ext cx="1324" cy="53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34101" name="Rectangle 69"/>
            <p:cNvSpPr>
              <a:spLocks noChangeArrowheads="1"/>
            </p:cNvSpPr>
            <p:nvPr/>
          </p:nvSpPr>
          <p:spPr bwMode="auto">
            <a:xfrm>
              <a:off x="1733" y="2778"/>
              <a:ext cx="670" cy="261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,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, 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sp>
          <p:nvSpPr>
            <p:cNvPr id="2134102" name="Text Box 70"/>
            <p:cNvSpPr txBox="1">
              <a:spLocks noChangeArrowheads="1"/>
            </p:cNvSpPr>
            <p:nvPr/>
          </p:nvSpPr>
          <p:spPr bwMode="auto">
            <a:xfrm>
              <a:off x="1158" y="2752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pic>
          <p:nvPicPr>
            <p:cNvPr id="2134103" name="Picture 7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2577"/>
              <a:ext cx="25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34104" name="Text Box 73"/>
            <p:cNvSpPr txBox="1">
              <a:spLocks noChangeArrowheads="1"/>
            </p:cNvSpPr>
            <p:nvPr/>
          </p:nvSpPr>
          <p:spPr bwMode="auto">
            <a:xfrm>
              <a:off x="1349" y="2491"/>
              <a:ext cx="28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134105" name="Text Box 77"/>
            <p:cNvSpPr txBox="1">
              <a:spLocks noChangeArrowheads="1"/>
            </p:cNvSpPr>
            <p:nvPr/>
          </p:nvSpPr>
          <p:spPr bwMode="auto">
            <a:xfrm>
              <a:off x="2608" y="2436"/>
              <a:ext cx="34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6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</a:t>
              </a:r>
            </a:p>
          </p:txBody>
        </p:sp>
        <p:pic>
          <p:nvPicPr>
            <p:cNvPr id="2134106" name="Picture 7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2367"/>
              <a:ext cx="25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34107" name="Text Box 80"/>
            <p:cNvSpPr txBox="1">
              <a:spLocks noChangeArrowheads="1"/>
            </p:cNvSpPr>
            <p:nvPr/>
          </p:nvSpPr>
          <p:spPr bwMode="auto">
            <a:xfrm>
              <a:off x="726" y="2367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134108" name="Text Box 95"/>
            <p:cNvSpPr txBox="1">
              <a:spLocks noChangeArrowheads="1"/>
            </p:cNvSpPr>
            <p:nvPr/>
          </p:nvSpPr>
          <p:spPr bwMode="auto">
            <a:xfrm>
              <a:off x="1446" y="2752"/>
              <a:ext cx="1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,</a:t>
              </a:r>
              <a:endPara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134109" name="Text Box 96"/>
          <p:cNvSpPr txBox="1">
            <a:spLocks noChangeArrowheads="1"/>
          </p:cNvSpPr>
          <p:nvPr/>
        </p:nvSpPr>
        <p:spPr bwMode="auto">
          <a:xfrm>
            <a:off x="295275" y="5024438"/>
            <a:ext cx="69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时间</a:t>
            </a:r>
          </a:p>
        </p:txBody>
      </p:sp>
      <p:grpSp>
        <p:nvGrpSpPr>
          <p:cNvPr id="700515" name="Group 99"/>
          <p:cNvGrpSpPr>
            <a:grpSpLocks/>
          </p:cNvGrpSpPr>
          <p:nvPr/>
        </p:nvGrpSpPr>
        <p:grpSpPr bwMode="auto">
          <a:xfrm>
            <a:off x="985838" y="2636838"/>
            <a:ext cx="4335462" cy="719137"/>
            <a:chOff x="457" y="1933"/>
            <a:chExt cx="2521" cy="453"/>
          </a:xfrm>
        </p:grpSpPr>
        <p:sp>
          <p:nvSpPr>
            <p:cNvPr id="2134111" name="Line 7"/>
            <p:cNvSpPr>
              <a:spLocks noChangeShapeType="1"/>
            </p:cNvSpPr>
            <p:nvPr/>
          </p:nvSpPr>
          <p:spPr bwMode="auto">
            <a:xfrm>
              <a:off x="457" y="2260"/>
              <a:ext cx="2521" cy="3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34112" name="Text Box 76"/>
            <p:cNvSpPr txBox="1">
              <a:spLocks noChangeArrowheads="1"/>
            </p:cNvSpPr>
            <p:nvPr/>
          </p:nvSpPr>
          <p:spPr bwMode="auto">
            <a:xfrm>
              <a:off x="511" y="1933"/>
              <a:ext cx="34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6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</a:t>
              </a:r>
            </a:p>
          </p:txBody>
        </p:sp>
        <p:sp>
          <p:nvSpPr>
            <p:cNvPr id="2134113" name="Rectangle 97"/>
            <p:cNvSpPr>
              <a:spLocks noChangeArrowheads="1"/>
            </p:cNvSpPr>
            <p:nvPr/>
          </p:nvSpPr>
          <p:spPr bwMode="auto">
            <a:xfrm>
              <a:off x="1235" y="2126"/>
              <a:ext cx="619" cy="2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A, B</a:t>
              </a:r>
              <a:endPara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13411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FAA294-7A78-450E-99B6-57AA93F390A8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213411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0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0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06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对称密钥的分配说明</a:t>
            </a:r>
          </a:p>
        </p:txBody>
      </p:sp>
      <p:sp>
        <p:nvSpPr>
          <p:cNvPr id="21360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600" dirty="0" smtClean="0">
                <a:ea typeface="黑体" panose="02010609060101010101" pitchFamily="49" charset="-122"/>
                <a:sym typeface="Wingdings" panose="05000000000000000000" pitchFamily="2" charset="2"/>
              </a:rPr>
              <a:t>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zh-CN" altLang="zh-CN" sz="2600" dirty="0" smtClean="0">
                <a:ea typeface="黑体" panose="02010609060101010101" pitchFamily="49" charset="-122"/>
              </a:rPr>
              <a:t>用户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向密钥分配中心</a:t>
            </a:r>
            <a:r>
              <a:rPr lang="en-US" altLang="zh-CN" sz="2600" dirty="0" smtClean="0">
                <a:ea typeface="黑体" panose="02010609060101010101" pitchFamily="49" charset="-122"/>
              </a:rPr>
              <a:t> KDC </a:t>
            </a:r>
            <a:r>
              <a:rPr lang="zh-CN" altLang="zh-CN" sz="2600" dirty="0" smtClean="0">
                <a:ea typeface="黑体" panose="02010609060101010101" pitchFamily="49" charset="-122"/>
              </a:rPr>
              <a:t>发送时用</a:t>
            </a:r>
            <a:r>
              <a:rPr lang="zh-CN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明文</a:t>
            </a:r>
            <a:r>
              <a:rPr lang="zh-CN" altLang="zh-CN" sz="2600" dirty="0" smtClean="0">
                <a:ea typeface="黑体" panose="02010609060101010101" pitchFamily="49" charset="-122"/>
              </a:rPr>
              <a:t>，说明想和用户</a:t>
            </a:r>
            <a:r>
              <a:rPr lang="en-US" altLang="zh-CN" sz="2600" dirty="0" smtClean="0">
                <a:ea typeface="黑体" panose="02010609060101010101" pitchFamily="49" charset="-122"/>
              </a:rPr>
              <a:t>B</a:t>
            </a:r>
            <a:r>
              <a:rPr lang="zh-CN" altLang="zh-CN" sz="2600" dirty="0" smtClean="0">
                <a:ea typeface="黑体" panose="02010609060101010101" pitchFamily="49" charset="-122"/>
              </a:rPr>
              <a:t>通信。在明文中给出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和</a:t>
            </a:r>
            <a:r>
              <a:rPr lang="en-US" altLang="zh-CN" sz="2600" dirty="0" smtClean="0">
                <a:ea typeface="黑体" panose="02010609060101010101" pitchFamily="49" charset="-122"/>
              </a:rPr>
              <a:t> B </a:t>
            </a:r>
            <a:r>
              <a:rPr lang="zh-CN" altLang="zh-CN" sz="2600" dirty="0" smtClean="0">
                <a:ea typeface="黑体" panose="02010609060101010101" pitchFamily="49" charset="-122"/>
              </a:rPr>
              <a:t>在</a:t>
            </a:r>
            <a:r>
              <a:rPr lang="en-US" altLang="zh-CN" sz="2600" dirty="0" smtClean="0">
                <a:ea typeface="黑体" panose="02010609060101010101" pitchFamily="49" charset="-122"/>
              </a:rPr>
              <a:t> KDC </a:t>
            </a:r>
            <a:r>
              <a:rPr lang="zh-CN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登记</a:t>
            </a:r>
            <a:r>
              <a:rPr lang="zh-CN" altLang="zh-CN" sz="2600" dirty="0" smtClean="0">
                <a:ea typeface="黑体" panose="02010609060101010101" pitchFamily="49" charset="-122"/>
              </a:rPr>
              <a:t>的</a:t>
            </a:r>
            <a:r>
              <a:rPr lang="zh-CN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身份</a:t>
            </a:r>
            <a:r>
              <a:rPr lang="zh-CN" altLang="zh-CN" sz="26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600" dirty="0" smtClean="0">
                <a:ea typeface="黑体" panose="02010609060101010101" pitchFamily="49" charset="-122"/>
                <a:sym typeface="Wingdings" panose="05000000000000000000" pitchFamily="2" charset="2"/>
              </a:rPr>
              <a:t> </a:t>
            </a:r>
            <a:r>
              <a:rPr lang="en-US" altLang="zh-CN" sz="2600" dirty="0" smtClean="0">
                <a:ea typeface="黑体" panose="02010609060101010101" pitchFamily="49" charset="-122"/>
              </a:rPr>
              <a:t>KDC </a:t>
            </a:r>
            <a:r>
              <a:rPr lang="zh-CN" altLang="zh-CN" sz="2600" dirty="0" smtClean="0">
                <a:ea typeface="黑体" panose="02010609060101010101" pitchFamily="49" charset="-122"/>
              </a:rPr>
              <a:t>用</a:t>
            </a:r>
            <a:r>
              <a:rPr lang="zh-CN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随机数产生“一次一密”的会话密钥</a:t>
            </a:r>
            <a:r>
              <a:rPr lang="en-US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solidFill>
                  <a:srgbClr val="0000FF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solidFill>
                  <a:srgbClr val="0000FF"/>
                </a:solidFill>
                <a:ea typeface="黑体" panose="02010609060101010101" pitchFamily="49" charset="-122"/>
              </a:rPr>
              <a:t>AB</a:t>
            </a:r>
            <a:r>
              <a:rPr lang="en-US" altLang="zh-CN" sz="2600" dirty="0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600" dirty="0" smtClean="0">
                <a:ea typeface="黑体" panose="02010609060101010101" pitchFamily="49" charset="-122"/>
              </a:rPr>
              <a:t>供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和</a:t>
            </a:r>
            <a:r>
              <a:rPr lang="en-US" altLang="zh-CN" sz="2600" dirty="0" smtClean="0">
                <a:ea typeface="黑体" panose="02010609060101010101" pitchFamily="49" charset="-122"/>
              </a:rPr>
              <a:t> B </a:t>
            </a:r>
            <a:r>
              <a:rPr lang="zh-CN" altLang="zh-CN" sz="2600" dirty="0" smtClean="0">
                <a:ea typeface="黑体" panose="02010609060101010101" pitchFamily="49" charset="-122"/>
              </a:rPr>
              <a:t>的这次会话使用，然后向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发送回答报文。这个回答报文用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的密钥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ea typeface="黑体" panose="02010609060101010101" pitchFamily="49" charset="-122"/>
              </a:rPr>
              <a:t>A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zh-CN" altLang="zh-CN" sz="2600" dirty="0" smtClean="0">
                <a:ea typeface="黑体" panose="02010609060101010101" pitchFamily="49" charset="-122"/>
              </a:rPr>
              <a:t>加密。这个报文中包含有这次会话使用的密钥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ea typeface="黑体" panose="02010609060101010101" pitchFamily="49" charset="-122"/>
              </a:rPr>
              <a:t>AB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zh-CN" altLang="zh-CN" sz="2600" dirty="0" smtClean="0">
                <a:ea typeface="黑体" panose="02010609060101010101" pitchFamily="49" charset="-122"/>
              </a:rPr>
              <a:t>和请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转给</a:t>
            </a:r>
            <a:r>
              <a:rPr lang="en-US" altLang="zh-CN" sz="2600" dirty="0" smtClean="0">
                <a:ea typeface="黑体" panose="02010609060101010101" pitchFamily="49" charset="-122"/>
              </a:rPr>
              <a:t> B </a:t>
            </a:r>
            <a:r>
              <a:rPr lang="zh-CN" altLang="zh-CN" sz="2600" dirty="0" smtClean="0">
                <a:ea typeface="黑体" panose="02010609060101010101" pitchFamily="49" charset="-122"/>
              </a:rPr>
              <a:t>的一个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票据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(ticket)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sz="2600" dirty="0" smtClean="0">
                <a:ea typeface="黑体" panose="02010609060101010101" pitchFamily="49" charset="-122"/>
              </a:rPr>
              <a:t>它包含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和</a:t>
            </a:r>
            <a:r>
              <a:rPr lang="en-US" altLang="zh-CN" sz="2600" dirty="0" smtClean="0">
                <a:ea typeface="黑体" panose="02010609060101010101" pitchFamily="49" charset="-122"/>
              </a:rPr>
              <a:t> B </a:t>
            </a:r>
            <a:r>
              <a:rPr lang="zh-CN" altLang="zh-CN" sz="2600" dirty="0" smtClean="0">
                <a:ea typeface="黑体" panose="02010609060101010101" pitchFamily="49" charset="-122"/>
              </a:rPr>
              <a:t>在</a:t>
            </a:r>
            <a:r>
              <a:rPr lang="en-US" altLang="zh-CN" sz="2600" dirty="0" smtClean="0">
                <a:ea typeface="黑体" panose="02010609060101010101" pitchFamily="49" charset="-122"/>
              </a:rPr>
              <a:t> KDC </a:t>
            </a:r>
            <a:r>
              <a:rPr lang="zh-CN" altLang="zh-CN" sz="2600" dirty="0" smtClean="0">
                <a:ea typeface="黑体" panose="02010609060101010101" pitchFamily="49" charset="-122"/>
              </a:rPr>
              <a:t>登记的身份，以及这次会话将要使用的密钥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ea typeface="黑体" panose="02010609060101010101" pitchFamily="49" charset="-122"/>
              </a:rPr>
              <a:t>AB</a:t>
            </a:r>
            <a:r>
              <a:rPr lang="zh-CN" altLang="zh-CN" sz="2600" dirty="0" smtClean="0">
                <a:ea typeface="黑体" panose="02010609060101010101" pitchFamily="49" charset="-122"/>
              </a:rPr>
              <a:t>。这个票据用</a:t>
            </a:r>
            <a:r>
              <a:rPr lang="en-US" altLang="zh-CN" sz="2600" dirty="0" smtClean="0">
                <a:ea typeface="黑体" panose="02010609060101010101" pitchFamily="49" charset="-122"/>
              </a:rPr>
              <a:t>B</a:t>
            </a:r>
            <a:r>
              <a:rPr lang="zh-CN" altLang="zh-CN" sz="2600" dirty="0" smtClean="0">
                <a:ea typeface="黑体" panose="02010609060101010101" pitchFamily="49" charset="-122"/>
              </a:rPr>
              <a:t>的密钥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ea typeface="黑体" panose="02010609060101010101" pitchFamily="49" charset="-122"/>
              </a:rPr>
              <a:t>B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zh-CN" altLang="zh-CN" sz="2600" dirty="0" smtClean="0">
                <a:ea typeface="黑体" panose="02010609060101010101" pitchFamily="49" charset="-122"/>
              </a:rPr>
              <a:t>加密，因此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无法知道此票据的内容，因为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没有</a:t>
            </a:r>
            <a:r>
              <a:rPr lang="en-US" altLang="zh-CN" sz="2600" dirty="0" smtClean="0">
                <a:ea typeface="黑体" panose="02010609060101010101" pitchFamily="49" charset="-122"/>
              </a:rPr>
              <a:t> B </a:t>
            </a:r>
            <a:r>
              <a:rPr lang="zh-CN" altLang="zh-CN" sz="2600" dirty="0" smtClean="0">
                <a:ea typeface="黑体" panose="02010609060101010101" pitchFamily="49" charset="-122"/>
              </a:rPr>
              <a:t>的密钥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dirty="0" smtClean="0">
                <a:ea typeface="黑体" panose="02010609060101010101" pitchFamily="49" charset="-122"/>
              </a:rPr>
              <a:t>B</a:t>
            </a:r>
            <a:r>
              <a:rPr lang="zh-CN" altLang="zh-CN" sz="2600" dirty="0" smtClean="0">
                <a:ea typeface="黑体" panose="02010609060101010101" pitchFamily="49" charset="-122"/>
              </a:rPr>
              <a:t>。当然</a:t>
            </a:r>
            <a:r>
              <a:rPr lang="en-US" altLang="zh-CN" sz="2600" dirty="0" smtClean="0">
                <a:ea typeface="黑体" panose="02010609060101010101" pitchFamily="49" charset="-122"/>
              </a:rPr>
              <a:t> A </a:t>
            </a:r>
            <a:r>
              <a:rPr lang="zh-CN" altLang="zh-CN" sz="2600" dirty="0" smtClean="0">
                <a:ea typeface="黑体" panose="02010609060101010101" pitchFamily="49" charset="-122"/>
              </a:rPr>
              <a:t>也不需要知道此票据的内容。</a:t>
            </a:r>
            <a:endParaRPr lang="en-US" altLang="zh-CN" sz="2600" dirty="0" smtClean="0">
              <a:ea typeface="黑体" panose="02010609060101010101" pitchFamily="49" charset="-122"/>
            </a:endParaRPr>
          </a:p>
        </p:txBody>
      </p:sp>
      <p:sp>
        <p:nvSpPr>
          <p:cNvPr id="213606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344F05-40F9-4CD3-AAA1-0209FEA1320A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213606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11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对称密钥的分配说明</a:t>
            </a:r>
          </a:p>
        </p:txBody>
      </p:sp>
      <p:sp>
        <p:nvSpPr>
          <p:cNvPr id="21381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smtClean="0">
                <a:ea typeface="黑体" panose="02010609060101010101" pitchFamily="49" charset="-122"/>
                <a:sym typeface="Wingdings" panose="05000000000000000000" pitchFamily="2" charset="2"/>
              </a:rPr>
              <a:t>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当</a:t>
            </a:r>
            <a:r>
              <a:rPr lang="en-US" altLang="zh-CN" sz="2800" dirty="0" smtClean="0">
                <a:ea typeface="黑体" panose="02010609060101010101" pitchFamily="49" charset="-122"/>
              </a:rPr>
              <a:t> B </a:t>
            </a:r>
            <a:r>
              <a:rPr lang="zh-CN" altLang="zh-CN" sz="2800" dirty="0" smtClean="0">
                <a:ea typeface="黑体" panose="02010609060101010101" pitchFamily="49" charset="-122"/>
              </a:rPr>
              <a:t>收到</a:t>
            </a:r>
            <a:r>
              <a:rPr lang="en-US" altLang="zh-CN" sz="2800" dirty="0" smtClean="0">
                <a:ea typeface="黑体" panose="02010609060101010101" pitchFamily="49" charset="-122"/>
              </a:rPr>
              <a:t> A </a:t>
            </a:r>
            <a:r>
              <a:rPr lang="zh-CN" altLang="zh-CN" sz="2800" dirty="0" smtClean="0">
                <a:ea typeface="黑体" panose="02010609060101010101" pitchFamily="49" charset="-122"/>
              </a:rPr>
              <a:t>转来的票据并使用自己的密钥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800" baseline="-25000" dirty="0" smtClean="0">
                <a:ea typeface="黑体" panose="02010609060101010101" pitchFamily="49" charset="-122"/>
              </a:rPr>
              <a:t>B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解密后，就知道</a:t>
            </a:r>
            <a:r>
              <a:rPr lang="en-US" altLang="zh-CN" sz="2800" dirty="0" smtClean="0">
                <a:ea typeface="黑体" panose="02010609060101010101" pitchFamily="49" charset="-122"/>
              </a:rPr>
              <a:t> A </a:t>
            </a:r>
            <a:r>
              <a:rPr lang="zh-CN" altLang="zh-CN" sz="2800" dirty="0" smtClean="0">
                <a:ea typeface="黑体" panose="02010609060101010101" pitchFamily="49" charset="-122"/>
              </a:rPr>
              <a:t>要和他通信，同时也知道</a:t>
            </a:r>
            <a:r>
              <a:rPr lang="en-US" altLang="zh-CN" sz="2800" dirty="0" smtClean="0">
                <a:ea typeface="黑体" panose="02010609060101010101" pitchFamily="49" charset="-122"/>
              </a:rPr>
              <a:t> KDC </a:t>
            </a:r>
            <a:r>
              <a:rPr lang="zh-CN" altLang="zh-CN" sz="2800" dirty="0" smtClean="0">
                <a:ea typeface="黑体" panose="02010609060101010101" pitchFamily="49" charset="-122"/>
              </a:rPr>
              <a:t>为这次和</a:t>
            </a:r>
            <a:r>
              <a:rPr lang="en-US" altLang="zh-CN" sz="2800" dirty="0" smtClean="0">
                <a:ea typeface="黑体" panose="02010609060101010101" pitchFamily="49" charset="-122"/>
              </a:rPr>
              <a:t> A </a:t>
            </a:r>
            <a:r>
              <a:rPr lang="zh-CN" altLang="zh-CN" sz="2800" dirty="0" smtClean="0">
                <a:ea typeface="黑体" panose="02010609060101010101" pitchFamily="49" charset="-122"/>
              </a:rPr>
              <a:t>通信所分配的会话密钥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800" baseline="-25000" dirty="0" smtClean="0">
                <a:ea typeface="黑体" panose="02010609060101010101" pitchFamily="49" charset="-122"/>
              </a:rPr>
              <a:t>AB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此后，</a:t>
            </a:r>
            <a:r>
              <a:rPr lang="en-US" altLang="zh-CN" sz="2800" dirty="0" smtClean="0">
                <a:ea typeface="黑体" panose="02010609060101010101" pitchFamily="49" charset="-122"/>
              </a:rPr>
              <a:t>A 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en-US" altLang="zh-CN" sz="2800" dirty="0" smtClean="0">
                <a:ea typeface="黑体" panose="02010609060101010101" pitchFamily="49" charset="-122"/>
              </a:rPr>
              <a:t> B </a:t>
            </a:r>
            <a:r>
              <a:rPr lang="zh-CN" altLang="zh-CN" sz="2800" dirty="0" smtClean="0">
                <a:ea typeface="黑体" panose="02010609060101010101" pitchFamily="49" charset="-122"/>
              </a:rPr>
              <a:t>就可使用会话密钥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800" i="1" baseline="-25000" dirty="0" smtClean="0">
                <a:ea typeface="黑体" panose="02010609060101010101" pitchFamily="49" charset="-122"/>
              </a:rPr>
              <a:t>AB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进行这次通信了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endParaRPr lang="en-US" altLang="zh-CN" sz="2800" dirty="0">
              <a:ea typeface="黑体" panose="02010609060101010101" pitchFamily="49" charset="-122"/>
            </a:endParaRPr>
          </a:p>
          <a:p>
            <a:endParaRPr lang="en-US" altLang="zh-CN" sz="2800" dirty="0" smtClean="0"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en-US" altLang="zh-CN" sz="2800" i="1" dirty="0">
                <a:ea typeface="黑体" panose="02010609060101010101" pitchFamily="49" charset="-122"/>
              </a:rPr>
              <a:t>K</a:t>
            </a:r>
            <a:r>
              <a:rPr lang="en-US" altLang="zh-CN" sz="2800" baseline="-25000" dirty="0">
                <a:ea typeface="黑体" panose="02010609060101010101" pitchFamily="49" charset="-122"/>
              </a:rPr>
              <a:t>A</a:t>
            </a:r>
            <a:r>
              <a:rPr lang="zh-CN" altLang="en-US" sz="2800" dirty="0" smtClean="0">
                <a:ea typeface="黑体" panose="02010609060101010101" pitchFamily="49" charset="-122"/>
              </a:rPr>
              <a:t>和</a:t>
            </a:r>
            <a:r>
              <a:rPr lang="en-US" altLang="zh-CN" sz="2800" i="1" dirty="0" smtClean="0">
                <a:ea typeface="黑体" panose="02010609060101010101" pitchFamily="49" charset="-122"/>
              </a:rPr>
              <a:t>K</a:t>
            </a:r>
            <a:r>
              <a:rPr lang="en-US" altLang="zh-CN" sz="2800" i="1" baseline="-25000" dirty="0" smtClean="0">
                <a:ea typeface="黑体" panose="02010609060101010101" pitchFamily="49" charset="-122"/>
              </a:rPr>
              <a:t>B</a:t>
            </a:r>
            <a:r>
              <a:rPr lang="zh-CN" altLang="en-US" sz="2800" dirty="0" smtClean="0">
                <a:ea typeface="黑体" panose="02010609060101010101" pitchFamily="49" charset="-122"/>
              </a:rPr>
              <a:t>定期更换，</a:t>
            </a:r>
            <a:r>
              <a:rPr lang="en-US" altLang="zh-CN" sz="2800" i="1" dirty="0">
                <a:ea typeface="黑体" panose="02010609060101010101" pitchFamily="49" charset="-122"/>
              </a:rPr>
              <a:t> K</a:t>
            </a:r>
            <a:r>
              <a:rPr lang="en-US" altLang="zh-CN" sz="2800" i="1" baseline="-25000" dirty="0">
                <a:ea typeface="黑体" panose="02010609060101010101" pitchFamily="49" charset="-122"/>
              </a:rPr>
              <a:t>AB</a:t>
            </a:r>
            <a:r>
              <a:rPr lang="zh-CN" altLang="en-US" sz="2800" dirty="0" smtClean="0">
                <a:ea typeface="黑体" panose="02010609060101010101" pitchFamily="49" charset="-122"/>
              </a:rPr>
              <a:t>仅一次有效，进一步加入时间戳增加安全性。</a:t>
            </a:r>
            <a:endParaRPr lang="zh-CN" altLang="zh-CN" sz="2800" dirty="0" smtClean="0">
              <a:ea typeface="黑体" panose="02010609060101010101" pitchFamily="49" charset="-122"/>
            </a:endParaRPr>
          </a:p>
          <a:p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sp>
        <p:nvSpPr>
          <p:cNvPr id="213811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FCEE48-1711-4723-B77B-700F2FBF28D1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213811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6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Kerberos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4016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ea typeface="黑体" panose="02010609060101010101" pitchFamily="49" charset="-122"/>
              </a:rPr>
              <a:t>目前最出名的密钥分配协议是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Kerberos V5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Kerberos </a:t>
            </a:r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既是鉴别协议，同时也是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 KDC</a:t>
            </a:r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，它已经变得很普及，现在是互联网建议标准。</a:t>
            </a:r>
            <a:endParaRPr lang="en-US" altLang="zh-CN" sz="2800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Kerberos </a:t>
            </a:r>
            <a:r>
              <a:rPr lang="zh-CN" altLang="zh-CN" sz="2800" dirty="0" smtClean="0">
                <a:ea typeface="黑体" panose="02010609060101010101" pitchFamily="49" charset="-122"/>
              </a:rPr>
              <a:t>使用比</a:t>
            </a:r>
            <a:r>
              <a:rPr lang="en-US" altLang="zh-CN" sz="2800" dirty="0" smtClean="0">
                <a:ea typeface="黑体" panose="02010609060101010101" pitchFamily="49" charset="-122"/>
              </a:rPr>
              <a:t> DES </a:t>
            </a:r>
            <a:r>
              <a:rPr lang="zh-CN" altLang="zh-CN" sz="2800" dirty="0" smtClean="0">
                <a:ea typeface="黑体" panose="02010609060101010101" pitchFamily="49" charset="-122"/>
              </a:rPr>
              <a:t>更加安全的高级加密标准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AES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进行加密。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Kerberos </a:t>
            </a:r>
            <a:r>
              <a:rPr lang="zh-CN" altLang="zh-CN" sz="2800" dirty="0" smtClean="0">
                <a:ea typeface="黑体" panose="02010609060101010101" pitchFamily="49" charset="-122"/>
              </a:rPr>
              <a:t>使用两个服务器：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鉴别服务器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AS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(Authentication Server)</a:t>
            </a:r>
            <a:r>
              <a:rPr lang="zh-CN" altLang="zh-CN" sz="2800" i="1" dirty="0" smtClean="0">
                <a:ea typeface="黑体" panose="02010609060101010101" pitchFamily="49" charset="-122"/>
              </a:rPr>
              <a:t>、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票据授予服务器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TGS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(Ticket-Granting Server)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Kerberos 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只用于客户与服务器之间的鉴别，</a:t>
            </a:r>
            <a:r>
              <a:rPr lang="zh-CN" altLang="zh-CN" sz="2800" dirty="0" smtClean="0">
                <a:ea typeface="黑体" panose="02010609060101010101" pitchFamily="49" charset="-122"/>
              </a:rPr>
              <a:t>而不用于人对人的鉴别。</a:t>
            </a:r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sp>
        <p:nvSpPr>
          <p:cNvPr id="214016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97BFF7-B5C3-4FCC-9594-13518233B652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214016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209" name="Rectangle 54"/>
          <p:cNvSpPr>
            <a:spLocks noChangeArrowheads="1"/>
          </p:cNvSpPr>
          <p:nvPr/>
        </p:nvSpPr>
        <p:spPr bwMode="auto">
          <a:xfrm>
            <a:off x="4713288" y="115888"/>
            <a:ext cx="1908175" cy="125412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42210" name="Text Box 9"/>
          <p:cNvSpPr txBox="1">
            <a:spLocks noChangeArrowheads="1"/>
          </p:cNvSpPr>
          <p:nvPr/>
        </p:nvSpPr>
        <p:spPr bwMode="auto">
          <a:xfrm>
            <a:off x="962025" y="595313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2142211" name="Group 10"/>
          <p:cNvGrpSpPr>
            <a:grpSpLocks/>
          </p:cNvGrpSpPr>
          <p:nvPr/>
        </p:nvGrpSpPr>
        <p:grpSpPr bwMode="auto">
          <a:xfrm>
            <a:off x="406400" y="663575"/>
            <a:ext cx="598488" cy="547688"/>
            <a:chOff x="921" y="2412"/>
            <a:chExt cx="284" cy="265"/>
          </a:xfrm>
        </p:grpSpPr>
        <p:grpSp>
          <p:nvGrpSpPr>
            <p:cNvPr id="2142212" name="Group 11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42213" name="Freeform 12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4" name="Freeform 13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5" name="Freeform 14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6" name="Freeform 15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7" name="Rectangle 16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8" name="Rectangle 17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19" name="Rectangle 18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20" name="Line 19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42221" name="Group 20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42222" name="Freeform 21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42223" name="Freeform 22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42224" name="Rectangle 23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2142225" name="Group 24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42226" name="Freeform 25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27" name="Freeform 26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28" name="Freeform 27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29" name="Freeform 28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30" name="Rectangle 29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31" name="Rectangle 30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32" name="Rectangle 31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42233" name="Line 32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42234" name="Group 33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42235" name="Freeform 34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42236" name="Freeform 35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42237" name="Rectangle 36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142238" name="Text Box 37"/>
          <p:cNvSpPr txBox="1">
            <a:spLocks noChangeArrowheads="1"/>
          </p:cNvSpPr>
          <p:nvPr/>
        </p:nvSpPr>
        <p:spPr bwMode="auto">
          <a:xfrm>
            <a:off x="8632825" y="663575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142239" name="Line 38"/>
          <p:cNvSpPr>
            <a:spLocks noChangeShapeType="1"/>
          </p:cNvSpPr>
          <p:nvPr/>
        </p:nvSpPr>
        <p:spPr bwMode="auto">
          <a:xfrm rot="16200000" flipH="1">
            <a:off x="-1837531" y="3820319"/>
            <a:ext cx="5087937" cy="2857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42240" name="Line 39"/>
          <p:cNvSpPr>
            <a:spLocks noChangeShapeType="1"/>
          </p:cNvSpPr>
          <p:nvPr/>
        </p:nvSpPr>
        <p:spPr bwMode="auto">
          <a:xfrm rot="16200000" flipH="1">
            <a:off x="6811169" y="3864769"/>
            <a:ext cx="5175250" cy="15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42241" name="Line 44"/>
          <p:cNvSpPr>
            <a:spLocks noChangeShapeType="1"/>
          </p:cNvSpPr>
          <p:nvPr/>
        </p:nvSpPr>
        <p:spPr bwMode="auto">
          <a:xfrm rot="5400000">
            <a:off x="4600575" y="1938338"/>
            <a:ext cx="1139825" cy="317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42242" name="Text Box 45"/>
          <p:cNvSpPr txBox="1">
            <a:spLocks noChangeArrowheads="1"/>
          </p:cNvSpPr>
          <p:nvPr/>
        </p:nvSpPr>
        <p:spPr bwMode="auto">
          <a:xfrm>
            <a:off x="3146425" y="90488"/>
            <a:ext cx="1536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Kerberos</a:t>
            </a:r>
          </a:p>
        </p:txBody>
      </p:sp>
      <p:grpSp>
        <p:nvGrpSpPr>
          <p:cNvPr id="702559" name="Group 95"/>
          <p:cNvGrpSpPr>
            <a:grpSpLocks/>
          </p:cNvGrpSpPr>
          <p:nvPr/>
        </p:nvGrpSpPr>
        <p:grpSpPr bwMode="auto">
          <a:xfrm>
            <a:off x="681038" y="1049338"/>
            <a:ext cx="4491037" cy="633412"/>
            <a:chOff x="313" y="752"/>
            <a:chExt cx="2611" cy="399"/>
          </a:xfrm>
        </p:grpSpPr>
        <p:sp>
          <p:nvSpPr>
            <p:cNvPr id="2142244" name="Line 8"/>
            <p:cNvSpPr>
              <a:spLocks noChangeShapeType="1"/>
            </p:cNvSpPr>
            <p:nvPr/>
          </p:nvSpPr>
          <p:spPr bwMode="auto">
            <a:xfrm>
              <a:off x="316" y="1050"/>
              <a:ext cx="2608" cy="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45" name="Rectangle 41"/>
            <p:cNvSpPr>
              <a:spLocks noChangeArrowheads="1"/>
            </p:cNvSpPr>
            <p:nvPr/>
          </p:nvSpPr>
          <p:spPr bwMode="auto">
            <a:xfrm>
              <a:off x="1461" y="937"/>
              <a:ext cx="324" cy="214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46" name="Text Box 46"/>
            <p:cNvSpPr txBox="1">
              <a:spLocks noChangeArrowheads="1"/>
            </p:cNvSpPr>
            <p:nvPr/>
          </p:nvSpPr>
          <p:spPr bwMode="auto">
            <a:xfrm>
              <a:off x="313" y="752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</a:t>
              </a:r>
            </a:p>
          </p:txBody>
        </p:sp>
      </p:grpSp>
      <p:pic>
        <p:nvPicPr>
          <p:cNvPr id="2142247" name="Picture 5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213" y="581025"/>
            <a:ext cx="34131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2248" name="Picture 5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508000"/>
            <a:ext cx="511175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2249" name="Line 53"/>
          <p:cNvSpPr>
            <a:spLocks noChangeShapeType="1"/>
          </p:cNvSpPr>
          <p:nvPr/>
        </p:nvSpPr>
        <p:spPr bwMode="auto">
          <a:xfrm rot="16200000" flipH="1">
            <a:off x="4609307" y="2847181"/>
            <a:ext cx="2978150" cy="23813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none" w="sm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42250" name="Text Box 55"/>
          <p:cNvSpPr txBox="1">
            <a:spLocks noChangeArrowheads="1"/>
          </p:cNvSpPr>
          <p:nvPr/>
        </p:nvSpPr>
        <p:spPr bwMode="auto">
          <a:xfrm>
            <a:off x="4903788" y="24765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AS</a:t>
            </a:r>
          </a:p>
        </p:txBody>
      </p:sp>
      <p:sp>
        <p:nvSpPr>
          <p:cNvPr id="2142251" name="Text Box 56"/>
          <p:cNvSpPr txBox="1">
            <a:spLocks noChangeArrowheads="1"/>
          </p:cNvSpPr>
          <p:nvPr/>
        </p:nvSpPr>
        <p:spPr bwMode="auto">
          <a:xfrm>
            <a:off x="5761038" y="168275"/>
            <a:ext cx="66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TGS</a:t>
            </a:r>
          </a:p>
        </p:txBody>
      </p:sp>
      <p:grpSp>
        <p:nvGrpSpPr>
          <p:cNvPr id="702563" name="Group 99"/>
          <p:cNvGrpSpPr>
            <a:grpSpLocks/>
          </p:cNvGrpSpPr>
          <p:nvPr/>
        </p:nvGrpSpPr>
        <p:grpSpPr bwMode="auto">
          <a:xfrm>
            <a:off x="647700" y="4651375"/>
            <a:ext cx="8786813" cy="873125"/>
            <a:chOff x="293" y="3021"/>
            <a:chExt cx="5110" cy="550"/>
          </a:xfrm>
        </p:grpSpPr>
        <p:sp>
          <p:nvSpPr>
            <p:cNvPr id="2142253" name="Line 74"/>
            <p:cNvSpPr>
              <a:spLocks noChangeShapeType="1"/>
            </p:cNvSpPr>
            <p:nvPr/>
          </p:nvSpPr>
          <p:spPr bwMode="auto">
            <a:xfrm flipV="1">
              <a:off x="334" y="3324"/>
              <a:ext cx="5069" cy="1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54" name="Rectangle 75"/>
            <p:cNvSpPr>
              <a:spLocks noChangeArrowheads="1"/>
            </p:cNvSpPr>
            <p:nvPr/>
          </p:nvSpPr>
          <p:spPr bwMode="auto">
            <a:xfrm>
              <a:off x="1884" y="3111"/>
              <a:ext cx="1933" cy="46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55" name="Rectangle 76"/>
            <p:cNvSpPr>
              <a:spLocks noChangeArrowheads="1"/>
            </p:cNvSpPr>
            <p:nvPr/>
          </p:nvSpPr>
          <p:spPr bwMode="auto">
            <a:xfrm>
              <a:off x="2429" y="3324"/>
              <a:ext cx="275" cy="197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56" name="Text Box 77"/>
            <p:cNvSpPr txBox="1">
              <a:spLocks noChangeArrowheads="1"/>
            </p:cNvSpPr>
            <p:nvPr/>
          </p:nvSpPr>
          <p:spPr bwMode="auto">
            <a:xfrm>
              <a:off x="1943" y="3077"/>
              <a:ext cx="33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pic>
          <p:nvPicPr>
            <p:cNvPr id="2142257" name="Picture 7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1" y="3132"/>
              <a:ext cx="2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58" name="Text Box 79"/>
            <p:cNvSpPr txBox="1">
              <a:spLocks noChangeArrowheads="1"/>
            </p:cNvSpPr>
            <p:nvPr/>
          </p:nvSpPr>
          <p:spPr bwMode="auto">
            <a:xfrm>
              <a:off x="2678" y="3308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, </a:t>
              </a:r>
            </a:p>
          </p:txBody>
        </p:sp>
        <p:sp>
          <p:nvSpPr>
            <p:cNvPr id="2142259" name="Text Box 80"/>
            <p:cNvSpPr txBox="1">
              <a:spLocks noChangeArrowheads="1"/>
            </p:cNvSpPr>
            <p:nvPr/>
          </p:nvSpPr>
          <p:spPr bwMode="auto">
            <a:xfrm>
              <a:off x="293" y="3021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</a:t>
              </a:r>
            </a:p>
          </p:txBody>
        </p:sp>
        <p:sp>
          <p:nvSpPr>
            <p:cNvPr id="2142260" name="Rectangle 81"/>
            <p:cNvSpPr>
              <a:spLocks noChangeArrowheads="1"/>
            </p:cNvSpPr>
            <p:nvPr/>
          </p:nvSpPr>
          <p:spPr bwMode="auto">
            <a:xfrm>
              <a:off x="3223" y="3324"/>
              <a:ext cx="522" cy="197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sp>
          <p:nvSpPr>
            <p:cNvPr id="2142261" name="Text Box 82"/>
            <p:cNvSpPr txBox="1">
              <a:spLocks noChangeArrowheads="1"/>
            </p:cNvSpPr>
            <p:nvPr/>
          </p:nvSpPr>
          <p:spPr bwMode="auto">
            <a:xfrm>
              <a:off x="2776" y="3081"/>
              <a:ext cx="2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pic>
          <p:nvPicPr>
            <p:cNvPr id="2142262" name="Picture 8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" y="3127"/>
              <a:ext cx="26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02564" name="Group 100"/>
          <p:cNvGrpSpPr>
            <a:grpSpLocks/>
          </p:cNvGrpSpPr>
          <p:nvPr/>
        </p:nvGrpSpPr>
        <p:grpSpPr bwMode="auto">
          <a:xfrm>
            <a:off x="717550" y="5584825"/>
            <a:ext cx="8672513" cy="854075"/>
            <a:chOff x="334" y="3609"/>
            <a:chExt cx="5043" cy="538"/>
          </a:xfrm>
        </p:grpSpPr>
        <p:sp>
          <p:nvSpPr>
            <p:cNvPr id="2142264" name="Line 5"/>
            <p:cNvSpPr>
              <a:spLocks noChangeShapeType="1"/>
            </p:cNvSpPr>
            <p:nvPr/>
          </p:nvSpPr>
          <p:spPr bwMode="auto">
            <a:xfrm flipH="1" flipV="1">
              <a:off x="334" y="3899"/>
              <a:ext cx="5043" cy="1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65" name="Rectangle 84"/>
            <p:cNvSpPr>
              <a:spLocks noChangeArrowheads="1"/>
            </p:cNvSpPr>
            <p:nvPr/>
          </p:nvSpPr>
          <p:spPr bwMode="auto">
            <a:xfrm>
              <a:off x="2232" y="3687"/>
              <a:ext cx="1139" cy="46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66" name="Rectangle 85"/>
            <p:cNvSpPr>
              <a:spLocks noChangeArrowheads="1"/>
            </p:cNvSpPr>
            <p:nvPr/>
          </p:nvSpPr>
          <p:spPr bwMode="auto">
            <a:xfrm>
              <a:off x="2827" y="3900"/>
              <a:ext cx="446" cy="19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T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+ 1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67" name="Text Box 86"/>
            <p:cNvSpPr txBox="1">
              <a:spLocks noChangeArrowheads="1"/>
            </p:cNvSpPr>
            <p:nvPr/>
          </p:nvSpPr>
          <p:spPr bwMode="auto">
            <a:xfrm>
              <a:off x="2340" y="3653"/>
              <a:ext cx="33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pic>
          <p:nvPicPr>
            <p:cNvPr id="2142268" name="Picture 8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" y="3707"/>
              <a:ext cx="2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69" name="Text Box 88"/>
            <p:cNvSpPr txBox="1">
              <a:spLocks noChangeArrowheads="1"/>
            </p:cNvSpPr>
            <p:nvPr/>
          </p:nvSpPr>
          <p:spPr bwMode="auto">
            <a:xfrm>
              <a:off x="5057" y="3609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</a:t>
              </a:r>
            </a:p>
          </p:txBody>
        </p:sp>
      </p:grpSp>
      <p:pic>
        <p:nvPicPr>
          <p:cNvPr id="2142270" name="Picture 8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3" y="350838"/>
            <a:ext cx="76835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2561" name="Group 97"/>
          <p:cNvGrpSpPr>
            <a:grpSpLocks/>
          </p:cNvGrpSpPr>
          <p:nvPr/>
        </p:nvGrpSpPr>
        <p:grpSpPr bwMode="auto">
          <a:xfrm>
            <a:off x="654050" y="2800350"/>
            <a:ext cx="5457825" cy="842963"/>
            <a:chOff x="297" y="1855"/>
            <a:chExt cx="3174" cy="531"/>
          </a:xfrm>
        </p:grpSpPr>
        <p:sp>
          <p:nvSpPr>
            <p:cNvPr id="2142272" name="Line 6"/>
            <p:cNvSpPr>
              <a:spLocks noChangeShapeType="1"/>
            </p:cNvSpPr>
            <p:nvPr/>
          </p:nvSpPr>
          <p:spPr bwMode="auto">
            <a:xfrm flipV="1">
              <a:off x="334" y="2152"/>
              <a:ext cx="3137" cy="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73" name="Rectangle 7"/>
            <p:cNvSpPr>
              <a:spLocks noChangeArrowheads="1"/>
            </p:cNvSpPr>
            <p:nvPr/>
          </p:nvSpPr>
          <p:spPr bwMode="auto">
            <a:xfrm>
              <a:off x="793" y="1925"/>
              <a:ext cx="1934" cy="46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74" name="Text Box 48"/>
            <p:cNvSpPr txBox="1">
              <a:spLocks noChangeArrowheads="1"/>
            </p:cNvSpPr>
            <p:nvPr/>
          </p:nvSpPr>
          <p:spPr bwMode="auto">
            <a:xfrm>
              <a:off x="297" y="1855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</a:t>
              </a:r>
            </a:p>
          </p:txBody>
        </p:sp>
        <p:sp>
          <p:nvSpPr>
            <p:cNvPr id="2142275" name="Rectangle 59"/>
            <p:cNvSpPr>
              <a:spLocks noChangeArrowheads="1"/>
            </p:cNvSpPr>
            <p:nvPr/>
          </p:nvSpPr>
          <p:spPr bwMode="auto">
            <a:xfrm>
              <a:off x="2155" y="2140"/>
              <a:ext cx="523" cy="197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S</a:t>
              </a:r>
            </a:p>
          </p:txBody>
        </p:sp>
        <p:pic>
          <p:nvPicPr>
            <p:cNvPr id="2142276" name="Picture 6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2" y="1943"/>
              <a:ext cx="2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77" name="Rectangle 61"/>
            <p:cNvSpPr>
              <a:spLocks noChangeArrowheads="1"/>
            </p:cNvSpPr>
            <p:nvPr/>
          </p:nvSpPr>
          <p:spPr bwMode="auto">
            <a:xfrm>
              <a:off x="1239" y="2139"/>
              <a:ext cx="275" cy="19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78" name="Text Box 62"/>
            <p:cNvSpPr txBox="1">
              <a:spLocks noChangeArrowheads="1"/>
            </p:cNvSpPr>
            <p:nvPr/>
          </p:nvSpPr>
          <p:spPr bwMode="auto">
            <a:xfrm>
              <a:off x="793" y="1892"/>
              <a:ext cx="2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S</a:t>
              </a:r>
            </a:p>
          </p:txBody>
        </p:sp>
        <p:pic>
          <p:nvPicPr>
            <p:cNvPr id="2142279" name="Picture 6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" y="1946"/>
              <a:ext cx="2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80" name="Text Box 64"/>
            <p:cNvSpPr txBox="1">
              <a:spLocks noChangeArrowheads="1"/>
            </p:cNvSpPr>
            <p:nvPr/>
          </p:nvSpPr>
          <p:spPr bwMode="auto">
            <a:xfrm>
              <a:off x="1487" y="2123"/>
              <a:ext cx="3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, B,</a:t>
              </a:r>
            </a:p>
          </p:txBody>
        </p:sp>
        <p:sp>
          <p:nvSpPr>
            <p:cNvPr id="2142281" name="Text Box 90"/>
            <p:cNvSpPr txBox="1">
              <a:spLocks noChangeArrowheads="1"/>
            </p:cNvSpPr>
            <p:nvPr/>
          </p:nvSpPr>
          <p:spPr bwMode="auto">
            <a:xfrm>
              <a:off x="1636" y="1892"/>
              <a:ext cx="3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TG</a:t>
              </a:r>
            </a:p>
          </p:txBody>
        </p:sp>
      </p:grpSp>
      <p:grpSp>
        <p:nvGrpSpPr>
          <p:cNvPr id="702562" name="Group 98"/>
          <p:cNvGrpSpPr>
            <a:grpSpLocks/>
          </p:cNvGrpSpPr>
          <p:nvPr/>
        </p:nvGrpSpPr>
        <p:grpSpPr bwMode="auto">
          <a:xfrm>
            <a:off x="717550" y="3700463"/>
            <a:ext cx="5403850" cy="882650"/>
            <a:chOff x="334" y="2422"/>
            <a:chExt cx="3142" cy="556"/>
          </a:xfrm>
        </p:grpSpPr>
        <p:sp>
          <p:nvSpPr>
            <p:cNvPr id="2142283" name="Line 65"/>
            <p:cNvSpPr>
              <a:spLocks noChangeShapeType="1"/>
            </p:cNvSpPr>
            <p:nvPr/>
          </p:nvSpPr>
          <p:spPr bwMode="auto">
            <a:xfrm flipH="1" flipV="1">
              <a:off x="334" y="2744"/>
              <a:ext cx="3137" cy="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84" name="Rectangle 66"/>
            <p:cNvSpPr>
              <a:spLocks noChangeArrowheads="1"/>
            </p:cNvSpPr>
            <p:nvPr/>
          </p:nvSpPr>
          <p:spPr bwMode="auto">
            <a:xfrm>
              <a:off x="793" y="2518"/>
              <a:ext cx="2082" cy="46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85" name="Rectangle 67"/>
            <p:cNvSpPr>
              <a:spLocks noChangeArrowheads="1"/>
            </p:cNvSpPr>
            <p:nvPr/>
          </p:nvSpPr>
          <p:spPr bwMode="auto">
            <a:xfrm>
              <a:off x="2258" y="2732"/>
              <a:ext cx="522" cy="197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sp>
          <p:nvSpPr>
            <p:cNvPr id="2142286" name="Text Box 68"/>
            <p:cNvSpPr txBox="1">
              <a:spLocks noChangeArrowheads="1"/>
            </p:cNvSpPr>
            <p:nvPr/>
          </p:nvSpPr>
          <p:spPr bwMode="auto">
            <a:xfrm>
              <a:off x="1803" y="2485"/>
              <a:ext cx="2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pic>
          <p:nvPicPr>
            <p:cNvPr id="2142287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3" y="2535"/>
              <a:ext cx="26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88" name="Text Box 70"/>
            <p:cNvSpPr txBox="1">
              <a:spLocks noChangeArrowheads="1"/>
            </p:cNvSpPr>
            <p:nvPr/>
          </p:nvSpPr>
          <p:spPr bwMode="auto">
            <a:xfrm>
              <a:off x="1834" y="2715"/>
              <a:ext cx="1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,</a:t>
              </a:r>
            </a:p>
          </p:txBody>
        </p:sp>
        <p:sp>
          <p:nvSpPr>
            <p:cNvPr id="2142289" name="Text Box 71"/>
            <p:cNvSpPr txBox="1">
              <a:spLocks noChangeArrowheads="1"/>
            </p:cNvSpPr>
            <p:nvPr/>
          </p:nvSpPr>
          <p:spPr bwMode="auto">
            <a:xfrm>
              <a:off x="3156" y="2422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</a:t>
              </a:r>
            </a:p>
          </p:txBody>
        </p:sp>
        <p:sp>
          <p:nvSpPr>
            <p:cNvPr id="2142290" name="Rectangle 72"/>
            <p:cNvSpPr>
              <a:spLocks noChangeArrowheads="1"/>
            </p:cNvSpPr>
            <p:nvPr/>
          </p:nvSpPr>
          <p:spPr bwMode="auto">
            <a:xfrm>
              <a:off x="1311" y="2732"/>
              <a:ext cx="523" cy="19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B,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AB</a:t>
              </a:r>
            </a:p>
          </p:txBody>
        </p:sp>
        <p:pic>
          <p:nvPicPr>
            <p:cNvPr id="2142291" name="Picture 7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" y="2538"/>
              <a:ext cx="2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92" name="Text Box 92"/>
            <p:cNvSpPr txBox="1">
              <a:spLocks noChangeArrowheads="1"/>
            </p:cNvSpPr>
            <p:nvPr/>
          </p:nvSpPr>
          <p:spPr bwMode="auto">
            <a:xfrm>
              <a:off x="843" y="2485"/>
              <a:ext cx="2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S</a:t>
              </a:r>
            </a:p>
          </p:txBody>
        </p:sp>
      </p:grpSp>
      <p:grpSp>
        <p:nvGrpSpPr>
          <p:cNvPr id="702560" name="Group 96"/>
          <p:cNvGrpSpPr>
            <a:grpSpLocks/>
          </p:cNvGrpSpPr>
          <p:nvPr/>
        </p:nvGrpSpPr>
        <p:grpSpPr bwMode="auto">
          <a:xfrm>
            <a:off x="708025" y="1604963"/>
            <a:ext cx="4503738" cy="1098550"/>
            <a:chOff x="328" y="1102"/>
            <a:chExt cx="2619" cy="692"/>
          </a:xfrm>
        </p:grpSpPr>
        <p:sp>
          <p:nvSpPr>
            <p:cNvPr id="2142294" name="Line 40"/>
            <p:cNvSpPr>
              <a:spLocks noChangeShapeType="1"/>
            </p:cNvSpPr>
            <p:nvPr/>
          </p:nvSpPr>
          <p:spPr bwMode="auto">
            <a:xfrm flipH="1">
              <a:off x="328" y="1547"/>
              <a:ext cx="2596" cy="13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95" name="Rectangle 42"/>
            <p:cNvSpPr>
              <a:spLocks noChangeArrowheads="1"/>
            </p:cNvSpPr>
            <p:nvPr/>
          </p:nvSpPr>
          <p:spPr bwMode="auto">
            <a:xfrm>
              <a:off x="1091" y="1333"/>
              <a:ext cx="1388" cy="46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42296" name="Text Box 43"/>
            <p:cNvSpPr txBox="1">
              <a:spLocks noChangeArrowheads="1"/>
            </p:cNvSpPr>
            <p:nvPr/>
          </p:nvSpPr>
          <p:spPr bwMode="auto">
            <a:xfrm>
              <a:off x="1392" y="1293"/>
              <a:ext cx="3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TG</a:t>
              </a:r>
            </a:p>
          </p:txBody>
        </p:sp>
        <p:sp>
          <p:nvSpPr>
            <p:cNvPr id="2142297" name="Text Box 47"/>
            <p:cNvSpPr txBox="1">
              <a:spLocks noChangeArrowheads="1"/>
            </p:cNvSpPr>
            <p:nvPr/>
          </p:nvSpPr>
          <p:spPr bwMode="auto">
            <a:xfrm>
              <a:off x="2627" y="1245"/>
              <a:ext cx="32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1">
                  <a:solidFill>
                    <a:srgbClr val="000099"/>
                  </a:solidFill>
                  <a:ea typeface="黑体" panose="02010609060101010101" pitchFamily="49" charset="-122"/>
                  <a:sym typeface="Wingdings 2" panose="05020102010507070707" pitchFamily="18" charset="2"/>
                </a:rPr>
                <a:t></a:t>
              </a:r>
            </a:p>
          </p:txBody>
        </p:sp>
        <p:pic>
          <p:nvPicPr>
            <p:cNvPr id="2142298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" y="1206"/>
              <a:ext cx="26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299" name="Text Box 50"/>
            <p:cNvSpPr txBox="1">
              <a:spLocks noChangeArrowheads="1"/>
            </p:cNvSpPr>
            <p:nvPr/>
          </p:nvSpPr>
          <p:spPr bwMode="auto">
            <a:xfrm>
              <a:off x="743" y="1102"/>
              <a:ext cx="3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142300" name="Rectangle 57"/>
            <p:cNvSpPr>
              <a:spLocks noChangeArrowheads="1"/>
            </p:cNvSpPr>
            <p:nvPr/>
          </p:nvSpPr>
          <p:spPr bwMode="auto">
            <a:xfrm>
              <a:off x="1884" y="1547"/>
              <a:ext cx="522" cy="197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A,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S</a:t>
              </a:r>
            </a:p>
          </p:txBody>
        </p:sp>
        <p:pic>
          <p:nvPicPr>
            <p:cNvPr id="2142301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5" y="1350"/>
              <a:ext cx="2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2302" name="Text Box 91"/>
            <p:cNvSpPr txBox="1">
              <a:spLocks noChangeArrowheads="1"/>
            </p:cNvSpPr>
            <p:nvPr/>
          </p:nvSpPr>
          <p:spPr bwMode="auto">
            <a:xfrm>
              <a:off x="1170" y="1482"/>
              <a:ext cx="2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S</a:t>
              </a:r>
            </a:p>
          </p:txBody>
        </p:sp>
        <p:sp>
          <p:nvSpPr>
            <p:cNvPr id="2142303" name="Text Box 93"/>
            <p:cNvSpPr txBox="1">
              <a:spLocks noChangeArrowheads="1"/>
            </p:cNvSpPr>
            <p:nvPr/>
          </p:nvSpPr>
          <p:spPr bwMode="auto">
            <a:xfrm>
              <a:off x="1388" y="1482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, </a:t>
              </a:r>
            </a:p>
          </p:txBody>
        </p:sp>
      </p:grpSp>
      <p:sp>
        <p:nvSpPr>
          <p:cNvPr id="214230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44635FF6-E38B-4056-9CFE-98E09589AAF1}" type="slidenum">
              <a:rPr lang="zh-CN" altLang="en-US" smtClean="0"/>
              <a:pPr/>
              <a:t>11</a:t>
            </a:fld>
            <a:endParaRPr lang="en-US" altLang="zh-CN" smtClean="0"/>
          </a:p>
        </p:txBody>
      </p:sp>
      <p:sp>
        <p:nvSpPr>
          <p:cNvPr id="214230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0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0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70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70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000"/>
                                        <p:tgtEl>
                                          <p:spTgt spid="70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25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Kerberos</a:t>
            </a:r>
            <a:r>
              <a:rPr lang="zh-CN" altLang="en-US" smtClean="0">
                <a:ea typeface="黑体" panose="02010609060101010101" pitchFamily="49" charset="-122"/>
              </a:rPr>
              <a:t>密钥分配说明</a:t>
            </a:r>
          </a:p>
        </p:txBody>
      </p:sp>
      <p:sp>
        <p:nvSpPr>
          <p:cNvPr id="214425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  <a:sym typeface="Wingdings" panose="05000000000000000000" pitchFamily="2" charset="2"/>
              </a:rPr>
              <a:t>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用明文（包括登记的身份）向鉴别服务器</a:t>
            </a:r>
            <a:r>
              <a:rPr lang="en-US" altLang="zh-CN" smtClean="0">
                <a:ea typeface="黑体" panose="02010609060101010101" pitchFamily="49" charset="-122"/>
              </a:rPr>
              <a:t> AS </a:t>
            </a:r>
            <a:r>
              <a:rPr lang="zh-CN" altLang="zh-CN" smtClean="0">
                <a:ea typeface="黑体" panose="02010609060101010101" pitchFamily="49" charset="-122"/>
              </a:rPr>
              <a:t>表明自己的身份。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en-US" altLang="zh-CN" smtClean="0">
                <a:ea typeface="黑体" panose="02010609060101010101" pitchFamily="49" charset="-122"/>
                <a:sym typeface="Wingdings" panose="05000000000000000000" pitchFamily="2" charset="2"/>
              </a:rPr>
              <a:t></a:t>
            </a:r>
            <a:r>
              <a:rPr lang="en-US" altLang="zh-CN" smtClean="0">
                <a:ea typeface="黑体" panose="02010609060101010101" pitchFamily="49" charset="-122"/>
              </a:rPr>
              <a:t> AS </a:t>
            </a:r>
            <a:r>
              <a:rPr lang="zh-CN" altLang="zh-CN" smtClean="0">
                <a:ea typeface="黑体" panose="02010609060101010101" pitchFamily="49" charset="-122"/>
              </a:rPr>
              <a:t>向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发送用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的对称密钥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A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加密的报文，这个报文包含</a:t>
            </a:r>
            <a:r>
              <a:rPr lang="en-US" altLang="zh-CN" smtClean="0">
                <a:ea typeface="黑体" panose="02010609060101010101" pitchFamily="49" charset="-122"/>
              </a:rPr>
              <a:t>A</a:t>
            </a:r>
            <a:r>
              <a:rPr lang="zh-CN" altLang="zh-CN" smtClean="0">
                <a:ea typeface="黑体" panose="02010609060101010101" pitchFamily="49" charset="-122"/>
              </a:rPr>
              <a:t>和</a:t>
            </a:r>
            <a:r>
              <a:rPr lang="en-US" altLang="zh-CN" smtClean="0">
                <a:ea typeface="黑体" panose="02010609060101010101" pitchFamily="49" charset="-122"/>
              </a:rPr>
              <a:t>TGS</a:t>
            </a:r>
            <a:r>
              <a:rPr lang="zh-CN" altLang="zh-CN" smtClean="0">
                <a:ea typeface="黑体" panose="02010609060101010101" pitchFamily="49" charset="-122"/>
              </a:rPr>
              <a:t>通信的会话密钥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S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，</a:t>
            </a:r>
            <a:r>
              <a:rPr lang="zh-CN" altLang="zh-CN" smtClean="0">
                <a:ea typeface="黑体" panose="02010609060101010101" pitchFamily="49" charset="-122"/>
              </a:rPr>
              <a:t>以及</a:t>
            </a:r>
            <a:r>
              <a:rPr lang="en-US" altLang="zh-CN" smtClean="0">
                <a:ea typeface="黑体" panose="02010609060101010101" pitchFamily="49" charset="-122"/>
              </a:rPr>
              <a:t> AS </a:t>
            </a:r>
            <a:r>
              <a:rPr lang="zh-CN" altLang="zh-CN" smtClean="0">
                <a:ea typeface="黑体" panose="02010609060101010101" pitchFamily="49" charset="-122"/>
              </a:rPr>
              <a:t>要发送给</a:t>
            </a:r>
            <a:r>
              <a:rPr lang="en-US" altLang="zh-CN" smtClean="0">
                <a:ea typeface="黑体" panose="02010609060101010101" pitchFamily="49" charset="-122"/>
              </a:rPr>
              <a:t> TGS </a:t>
            </a:r>
            <a:r>
              <a:rPr lang="zh-CN" altLang="zh-CN" smtClean="0">
                <a:ea typeface="黑体" panose="02010609060101010101" pitchFamily="49" charset="-122"/>
              </a:rPr>
              <a:t>的票据（这个票据是用</a:t>
            </a:r>
            <a:r>
              <a:rPr lang="en-US" altLang="zh-CN" smtClean="0">
                <a:ea typeface="黑体" panose="02010609060101010101" pitchFamily="49" charset="-122"/>
              </a:rPr>
              <a:t> TGS </a:t>
            </a:r>
            <a:r>
              <a:rPr lang="zh-CN" altLang="zh-CN" smtClean="0">
                <a:ea typeface="黑体" panose="02010609060101010101" pitchFamily="49" charset="-122"/>
              </a:rPr>
              <a:t>的对称密钥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TG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加密的）。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14425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BA1795-9C37-4A11-AC72-CC602FB7D364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214426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30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Kerberos</a:t>
            </a:r>
            <a:r>
              <a:rPr lang="zh-CN" altLang="en-US" smtClean="0">
                <a:ea typeface="黑体" panose="02010609060101010101" pitchFamily="49" charset="-122"/>
              </a:rPr>
              <a:t>密钥分配说明</a:t>
            </a:r>
          </a:p>
        </p:txBody>
      </p:sp>
      <p:sp>
        <p:nvSpPr>
          <p:cNvPr id="214630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  <a:sym typeface="Wingdings" panose="05000000000000000000" pitchFamily="2" charset="2"/>
              </a:rPr>
              <a:t>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向</a:t>
            </a:r>
            <a:r>
              <a:rPr lang="en-US" altLang="zh-CN" smtClean="0">
                <a:ea typeface="黑体" panose="02010609060101010101" pitchFamily="49" charset="-122"/>
              </a:rPr>
              <a:t> TGS </a:t>
            </a:r>
            <a:r>
              <a:rPr lang="zh-CN" altLang="zh-CN" smtClean="0">
                <a:ea typeface="黑体" panose="02010609060101010101" pitchFamily="49" charset="-122"/>
              </a:rPr>
              <a:t>发送三个项目：</a:t>
            </a: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转发鉴别服务器</a:t>
            </a:r>
            <a:r>
              <a:rPr lang="en-US" altLang="zh-CN" smtClean="0">
                <a:ea typeface="黑体" panose="02010609060101010101" pitchFamily="49" charset="-122"/>
              </a:rPr>
              <a:t> AS </a:t>
            </a:r>
            <a:r>
              <a:rPr lang="zh-CN" altLang="zh-CN" smtClean="0">
                <a:ea typeface="黑体" panose="02010609060101010101" pitchFamily="49" charset="-122"/>
              </a:rPr>
              <a:t>发来的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票据。</a:t>
            </a: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服务器</a:t>
            </a:r>
            <a:r>
              <a:rPr lang="en-US" altLang="zh-CN" smtClean="0">
                <a:ea typeface="黑体" panose="02010609060101010101" pitchFamily="49" charset="-122"/>
              </a:rPr>
              <a:t> B </a:t>
            </a:r>
            <a:r>
              <a:rPr lang="zh-CN" altLang="zh-CN" smtClean="0">
                <a:ea typeface="黑体" panose="02010609060101010101" pitchFamily="49" charset="-122"/>
              </a:rPr>
              <a:t>的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名字。</a:t>
            </a:r>
            <a:r>
              <a:rPr lang="zh-CN" altLang="zh-CN" smtClean="0">
                <a:ea typeface="黑体" panose="02010609060101010101" pitchFamily="49" charset="-122"/>
              </a:rPr>
              <a:t>这表明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请求</a:t>
            </a:r>
            <a:r>
              <a:rPr lang="en-US" altLang="zh-CN" smtClean="0">
                <a:ea typeface="黑体" panose="02010609060101010101" pitchFamily="49" charset="-122"/>
              </a:rPr>
              <a:t> B </a:t>
            </a:r>
            <a:r>
              <a:rPr lang="zh-CN" altLang="zh-CN" smtClean="0">
                <a:ea typeface="黑体" panose="02010609060101010101" pitchFamily="49" charset="-122"/>
              </a:rPr>
              <a:t>的服务。请注意，现在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向</a:t>
            </a:r>
            <a:r>
              <a:rPr lang="en-US" altLang="zh-CN" smtClean="0">
                <a:ea typeface="黑体" panose="02010609060101010101" pitchFamily="49" charset="-122"/>
              </a:rPr>
              <a:t> TGS </a:t>
            </a:r>
            <a:r>
              <a:rPr lang="zh-CN" altLang="zh-CN" smtClean="0">
                <a:ea typeface="黑体" panose="02010609060101010101" pitchFamily="49" charset="-122"/>
              </a:rPr>
              <a:t>证明自己的身份并非通过键入口令（因为入侵者能够从网上截获明文口令），而是通过转发</a:t>
            </a:r>
            <a:r>
              <a:rPr lang="en-US" altLang="zh-CN" smtClean="0">
                <a:ea typeface="黑体" panose="02010609060101010101" pitchFamily="49" charset="-122"/>
              </a:rPr>
              <a:t> AS </a:t>
            </a:r>
            <a:r>
              <a:rPr lang="zh-CN" altLang="zh-CN" smtClean="0">
                <a:ea typeface="黑体" panose="02010609060101010101" pitchFamily="49" charset="-122"/>
              </a:rPr>
              <a:t>发出的票据（只有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才能提取出）。票据是加密的，入侵者伪造不了。</a:t>
            </a: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用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en-US" altLang="zh-CN" i="1" smtClean="0">
                <a:ea typeface="黑体" panose="02010609060101010101" pitchFamily="49" charset="-122"/>
              </a:rPr>
              <a:t>K</a:t>
            </a:r>
            <a:r>
              <a:rPr lang="en-US" altLang="zh-CN" baseline="-25000" smtClean="0">
                <a:ea typeface="黑体" panose="02010609060101010101" pitchFamily="49" charset="-122"/>
              </a:rPr>
              <a:t>S</a:t>
            </a:r>
            <a:r>
              <a:rPr lang="en-US" altLang="zh-CN" smtClean="0">
                <a:ea typeface="黑体" panose="02010609060101010101" pitchFamily="49" charset="-122"/>
              </a:rPr>
              <a:t> </a:t>
            </a:r>
            <a:r>
              <a:rPr lang="zh-CN" altLang="zh-CN" smtClean="0">
                <a:ea typeface="黑体" panose="02010609060101010101" pitchFamily="49" charset="-122"/>
              </a:rPr>
              <a:t>加密的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时间戳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i="1" smtClean="0">
                <a:solidFill>
                  <a:srgbClr val="FF0000"/>
                </a:solidFill>
                <a:ea typeface="黑体" panose="02010609060101010101" pitchFamily="49" charset="-122"/>
              </a:rPr>
              <a:t>T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r>
              <a:rPr lang="zh-CN" altLang="zh-CN" smtClean="0">
                <a:ea typeface="黑体" panose="02010609060101010101" pitchFamily="49" charset="-122"/>
              </a:rPr>
              <a:t>它用来防止入侵者的重放攻击。</a:t>
            </a:r>
          </a:p>
        </p:txBody>
      </p:sp>
      <p:sp>
        <p:nvSpPr>
          <p:cNvPr id="214630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10D0DF-2220-4BB9-ACDB-5CD7B9264C42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214630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35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Kerberos</a:t>
            </a:r>
            <a:r>
              <a:rPr lang="zh-CN" altLang="en-US" smtClean="0">
                <a:ea typeface="黑体" panose="02010609060101010101" pitchFamily="49" charset="-122"/>
              </a:rPr>
              <a:t>密钥分配说明</a:t>
            </a:r>
          </a:p>
        </p:txBody>
      </p:sp>
      <p:sp>
        <p:nvSpPr>
          <p:cNvPr id="214835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600" smtClean="0">
                <a:ea typeface="黑体" panose="02010609060101010101" pitchFamily="49" charset="-122"/>
                <a:sym typeface="Wingdings" panose="05000000000000000000" pitchFamily="2" charset="2"/>
              </a:rPr>
              <a:t></a:t>
            </a:r>
            <a:r>
              <a:rPr lang="en-US" altLang="zh-CN" sz="2600" smtClean="0">
                <a:ea typeface="黑体" panose="02010609060101010101" pitchFamily="49" charset="-122"/>
              </a:rPr>
              <a:t> TGS </a:t>
            </a:r>
            <a:r>
              <a:rPr lang="zh-CN" altLang="zh-CN" sz="2600" smtClean="0">
                <a:ea typeface="黑体" panose="02010609060101010101" pitchFamily="49" charset="-122"/>
              </a:rPr>
              <a:t>发送两个票据，每一个都包含</a:t>
            </a:r>
            <a:r>
              <a:rPr lang="en-US" altLang="zh-CN" sz="2600" smtClean="0">
                <a:ea typeface="黑体" panose="02010609060101010101" pitchFamily="49" charset="-122"/>
              </a:rPr>
              <a:t> A </a:t>
            </a:r>
            <a:r>
              <a:rPr lang="zh-CN" altLang="zh-CN" sz="2600" smtClean="0">
                <a:ea typeface="黑体" panose="02010609060101010101" pitchFamily="49" charset="-122"/>
              </a:rPr>
              <a:t>和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通信的会话密钥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AB</a:t>
            </a:r>
            <a:r>
              <a:rPr lang="zh-CN" altLang="zh-CN" sz="2600" smtClean="0">
                <a:ea typeface="黑体" panose="02010609060101010101" pitchFamily="49" charset="-122"/>
              </a:rPr>
              <a:t>。给</a:t>
            </a:r>
            <a:r>
              <a:rPr lang="en-US" altLang="zh-CN" sz="2600" smtClean="0">
                <a:ea typeface="黑体" panose="02010609060101010101" pitchFamily="49" charset="-122"/>
              </a:rPr>
              <a:t> A </a:t>
            </a:r>
            <a:r>
              <a:rPr lang="zh-CN" altLang="zh-CN" sz="2600" smtClean="0">
                <a:ea typeface="黑体" panose="02010609060101010101" pitchFamily="49" charset="-122"/>
              </a:rPr>
              <a:t>的票据用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S </a:t>
            </a:r>
            <a:r>
              <a:rPr lang="zh-CN" altLang="zh-CN" sz="2600" smtClean="0">
                <a:ea typeface="黑体" panose="02010609060101010101" pitchFamily="49" charset="-122"/>
              </a:rPr>
              <a:t>加密；给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的票据用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的密钥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B </a:t>
            </a:r>
            <a:r>
              <a:rPr lang="zh-CN" altLang="zh-CN" sz="2600" smtClean="0">
                <a:ea typeface="黑体" panose="02010609060101010101" pitchFamily="49" charset="-122"/>
              </a:rPr>
              <a:t>加密。请注意，现在入侵者不能提取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AB</a:t>
            </a:r>
            <a:r>
              <a:rPr lang="zh-CN" altLang="zh-CN" sz="2600" smtClean="0">
                <a:ea typeface="黑体" panose="02010609060101010101" pitchFamily="49" charset="-122"/>
              </a:rPr>
              <a:t>，因为不知道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A </a:t>
            </a:r>
            <a:r>
              <a:rPr lang="zh-CN" altLang="zh-CN" sz="2600" smtClean="0">
                <a:ea typeface="黑体" panose="02010609060101010101" pitchFamily="49" charset="-122"/>
              </a:rPr>
              <a:t>和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B</a:t>
            </a:r>
            <a:r>
              <a:rPr lang="zh-CN" altLang="zh-CN" sz="2600" smtClean="0">
                <a:ea typeface="黑体" panose="02010609060101010101" pitchFamily="49" charset="-122"/>
              </a:rPr>
              <a:t>。入侵者也不能重放步骤</a:t>
            </a:r>
            <a:r>
              <a:rPr lang="en-US" altLang="zh-CN" sz="2600" smtClean="0">
                <a:ea typeface="黑体" panose="02010609060101010101" pitchFamily="49" charset="-122"/>
                <a:sym typeface="Wingdings" panose="05000000000000000000" pitchFamily="2" charset="2"/>
              </a:rPr>
              <a:t></a:t>
            </a:r>
            <a:r>
              <a:rPr lang="zh-CN" altLang="zh-CN" sz="2600" smtClean="0">
                <a:ea typeface="黑体" panose="02010609060101010101" pitchFamily="49" charset="-122"/>
              </a:rPr>
              <a:t>，因为入侵者不能把时间戳更换为一个新的（因为不知道</a:t>
            </a:r>
            <a:r>
              <a:rPr lang="en-US" altLang="zh-CN" sz="2600" smtClean="0">
                <a:ea typeface="黑体" panose="02010609060101010101" pitchFamily="49" charset="-122"/>
              </a:rPr>
              <a:t> 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S</a:t>
            </a:r>
            <a:r>
              <a:rPr lang="zh-CN" altLang="zh-CN" sz="2600" smtClean="0">
                <a:ea typeface="黑体" panose="02010609060101010101" pitchFamily="49" charset="-122"/>
              </a:rPr>
              <a:t>）。</a:t>
            </a:r>
            <a:endParaRPr lang="en-US" altLang="zh-CN" sz="2600" smtClean="0">
              <a:ea typeface="黑体" panose="02010609060101010101" pitchFamily="49" charset="-122"/>
            </a:endParaRPr>
          </a:p>
          <a:p>
            <a:r>
              <a:rPr lang="en-US" altLang="zh-CN" sz="2600" smtClean="0">
                <a:ea typeface="黑体" panose="02010609060101010101" pitchFamily="49" charset="-122"/>
                <a:sym typeface="Wingdings" panose="05000000000000000000" pitchFamily="2" charset="2"/>
              </a:rPr>
              <a:t></a:t>
            </a:r>
            <a:r>
              <a:rPr lang="en-US" altLang="zh-CN" sz="2600" smtClean="0">
                <a:ea typeface="黑体" panose="02010609060101010101" pitchFamily="49" charset="-122"/>
              </a:rPr>
              <a:t> A </a:t>
            </a:r>
            <a:r>
              <a:rPr lang="zh-CN" altLang="zh-CN" sz="2600" smtClean="0">
                <a:ea typeface="黑体" panose="02010609060101010101" pitchFamily="49" charset="-122"/>
              </a:rPr>
              <a:t>向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转发</a:t>
            </a:r>
            <a:r>
              <a:rPr lang="en-US" altLang="zh-CN" sz="2600" smtClean="0">
                <a:ea typeface="黑体" panose="02010609060101010101" pitchFamily="49" charset="-122"/>
              </a:rPr>
              <a:t> TGS </a:t>
            </a:r>
            <a:r>
              <a:rPr lang="zh-CN" altLang="zh-CN" sz="2600" smtClean="0">
                <a:ea typeface="黑体" panose="02010609060101010101" pitchFamily="49" charset="-122"/>
              </a:rPr>
              <a:t>发来的票据，同时发送用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AB </a:t>
            </a:r>
            <a:r>
              <a:rPr lang="zh-CN" altLang="zh-CN" sz="2600" smtClean="0">
                <a:ea typeface="黑体" panose="02010609060101010101" pitchFamily="49" charset="-122"/>
              </a:rPr>
              <a:t>加密的时间戳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T</a:t>
            </a:r>
            <a:r>
              <a:rPr lang="zh-CN" altLang="zh-CN" sz="26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600" smtClean="0">
                <a:ea typeface="黑体" panose="02010609060101010101" pitchFamily="49" charset="-122"/>
                <a:sym typeface="Wingdings" panose="05000000000000000000" pitchFamily="2" charset="2"/>
              </a:rPr>
              <a:t>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把时间戳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T </a:t>
            </a:r>
            <a:r>
              <a:rPr lang="zh-CN" altLang="zh-CN" sz="2600" smtClean="0">
                <a:ea typeface="黑体" panose="02010609060101010101" pitchFamily="49" charset="-122"/>
              </a:rPr>
              <a:t>加</a:t>
            </a:r>
            <a:r>
              <a:rPr lang="en-US" altLang="zh-CN" sz="2600" smtClean="0">
                <a:ea typeface="黑体" panose="02010609060101010101" pitchFamily="49" charset="-122"/>
              </a:rPr>
              <a:t> 1 </a:t>
            </a:r>
            <a:r>
              <a:rPr lang="zh-CN" altLang="zh-CN" sz="2600" smtClean="0">
                <a:ea typeface="黑体" panose="02010609060101010101" pitchFamily="49" charset="-122"/>
              </a:rPr>
              <a:t>来证实收到了票据。</a:t>
            </a:r>
            <a:r>
              <a:rPr lang="en-US" altLang="zh-CN" sz="2600" smtClean="0">
                <a:ea typeface="黑体" panose="02010609060101010101" pitchFamily="49" charset="-122"/>
              </a:rPr>
              <a:t>B </a:t>
            </a:r>
            <a:r>
              <a:rPr lang="zh-CN" altLang="zh-CN" sz="2600" smtClean="0">
                <a:ea typeface="黑体" panose="02010609060101010101" pitchFamily="49" charset="-122"/>
              </a:rPr>
              <a:t>向</a:t>
            </a:r>
            <a:r>
              <a:rPr lang="en-US" altLang="zh-CN" sz="2600" smtClean="0">
                <a:ea typeface="黑体" panose="02010609060101010101" pitchFamily="49" charset="-122"/>
              </a:rPr>
              <a:t> A </a:t>
            </a:r>
            <a:r>
              <a:rPr lang="zh-CN" altLang="zh-CN" sz="2600" smtClean="0">
                <a:ea typeface="黑体" panose="02010609060101010101" pitchFamily="49" charset="-122"/>
              </a:rPr>
              <a:t>发送的报文用密钥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i="1" baseline="-25000" smtClean="0">
                <a:ea typeface="黑体" panose="02010609060101010101" pitchFamily="49" charset="-122"/>
              </a:rPr>
              <a:t>AB </a:t>
            </a:r>
            <a:r>
              <a:rPr lang="zh-CN" altLang="zh-CN" sz="2600" smtClean="0">
                <a:ea typeface="黑体" panose="02010609060101010101" pitchFamily="49" charset="-122"/>
              </a:rPr>
              <a:t>加密。</a:t>
            </a:r>
          </a:p>
          <a:p>
            <a:r>
              <a:rPr lang="zh-CN" altLang="zh-CN" sz="2600" smtClean="0">
                <a:ea typeface="黑体" panose="02010609060101010101" pitchFamily="49" charset="-122"/>
              </a:rPr>
              <a:t>以后，</a:t>
            </a:r>
            <a:r>
              <a:rPr lang="en-US" altLang="zh-CN" sz="2600" smtClean="0">
                <a:ea typeface="黑体" panose="02010609060101010101" pitchFamily="49" charset="-122"/>
              </a:rPr>
              <a:t>A </a:t>
            </a:r>
            <a:r>
              <a:rPr lang="zh-CN" altLang="zh-CN" sz="2600" smtClean="0">
                <a:ea typeface="黑体" panose="02010609060101010101" pitchFamily="49" charset="-122"/>
              </a:rPr>
              <a:t>和</a:t>
            </a:r>
            <a:r>
              <a:rPr lang="en-US" altLang="zh-CN" sz="2600" smtClean="0">
                <a:ea typeface="黑体" panose="02010609060101010101" pitchFamily="49" charset="-122"/>
              </a:rPr>
              <a:t> B </a:t>
            </a:r>
            <a:r>
              <a:rPr lang="zh-CN" altLang="zh-CN" sz="2600" smtClean="0">
                <a:ea typeface="黑体" panose="02010609060101010101" pitchFamily="49" charset="-122"/>
              </a:rPr>
              <a:t>就使用</a:t>
            </a:r>
            <a:r>
              <a:rPr lang="en-US" altLang="zh-CN" sz="2600" smtClean="0">
                <a:ea typeface="黑体" panose="02010609060101010101" pitchFamily="49" charset="-122"/>
              </a:rPr>
              <a:t> TGS </a:t>
            </a:r>
            <a:r>
              <a:rPr lang="zh-CN" altLang="zh-CN" sz="2600" smtClean="0">
                <a:ea typeface="黑体" panose="02010609060101010101" pitchFamily="49" charset="-122"/>
              </a:rPr>
              <a:t>给出的会话密钥</a:t>
            </a:r>
            <a:r>
              <a:rPr lang="en-US" altLang="zh-CN" sz="2600" smtClean="0">
                <a:ea typeface="黑体" panose="02010609060101010101" pitchFamily="49" charset="-122"/>
              </a:rPr>
              <a:t> </a:t>
            </a:r>
            <a:r>
              <a:rPr lang="en-US" altLang="zh-CN" sz="2600" i="1" smtClean="0">
                <a:ea typeface="黑体" panose="02010609060101010101" pitchFamily="49" charset="-122"/>
              </a:rPr>
              <a:t>K</a:t>
            </a:r>
            <a:r>
              <a:rPr lang="en-US" altLang="zh-CN" sz="2600" baseline="-25000" smtClean="0">
                <a:ea typeface="黑体" panose="02010609060101010101" pitchFamily="49" charset="-122"/>
              </a:rPr>
              <a:t>AB </a:t>
            </a:r>
            <a:r>
              <a:rPr lang="zh-CN" altLang="zh-CN" sz="2600" smtClean="0">
                <a:ea typeface="黑体" panose="02010609060101010101" pitchFamily="49" charset="-122"/>
              </a:rPr>
              <a:t>进行通信。</a:t>
            </a:r>
          </a:p>
        </p:txBody>
      </p:sp>
      <p:sp>
        <p:nvSpPr>
          <p:cNvPr id="214835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AE6D59-C5B7-4740-BA93-60816B78BE63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214835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0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Kerberos </a:t>
            </a:r>
            <a:r>
              <a:rPr lang="zh-CN" altLang="zh-CN" smtClean="0">
                <a:ea typeface="黑体" panose="02010609060101010101" pitchFamily="49" charset="-122"/>
              </a:rPr>
              <a:t>使用两个服务器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5040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Kerberos </a:t>
            </a:r>
            <a:r>
              <a:rPr lang="zh-CN" altLang="zh-CN" dirty="0" smtClean="0">
                <a:ea typeface="黑体" panose="02010609060101010101" pitchFamily="49" charset="-122"/>
              </a:rPr>
              <a:t>要求所有使用</a:t>
            </a:r>
            <a:r>
              <a:rPr lang="en-US" altLang="zh-CN" dirty="0" smtClean="0">
                <a:ea typeface="黑体" panose="02010609060101010101" pitchFamily="49" charset="-122"/>
              </a:rPr>
              <a:t> Kerberos </a:t>
            </a:r>
            <a:r>
              <a:rPr lang="zh-CN" altLang="zh-CN" dirty="0" smtClean="0">
                <a:ea typeface="黑体" panose="02010609060101010101" pitchFamily="49" charset="-122"/>
              </a:rPr>
              <a:t>的主机必须在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时钟</a:t>
            </a:r>
            <a:r>
              <a:rPr lang="zh-CN" altLang="zh-CN" dirty="0" smtClean="0">
                <a:ea typeface="黑体" panose="02010609060101010101" pitchFamily="49" charset="-122"/>
              </a:rPr>
              <a:t>上进行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“松散的”同步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所谓“松散的”同步是要求所有主机的时钟误差不能太大，例如，不能超过</a:t>
            </a:r>
            <a:r>
              <a:rPr lang="en-US" altLang="zh-CN" dirty="0" smtClean="0">
                <a:ea typeface="黑体" panose="02010609060101010101" pitchFamily="49" charset="-122"/>
              </a:rPr>
              <a:t> 5 </a:t>
            </a:r>
            <a:r>
              <a:rPr lang="zh-CN" altLang="zh-CN" dirty="0" smtClean="0">
                <a:ea typeface="黑体" panose="02010609060101010101" pitchFamily="49" charset="-122"/>
              </a:rPr>
              <a:t>分钟的数量级。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这个要求是为了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防止重放攻击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504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3F7AD7-4DEF-4CCD-867D-86FAAE303189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215040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4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7.5.2  </a:t>
            </a:r>
            <a:r>
              <a:rPr lang="zh-CN" altLang="en-US" smtClean="0">
                <a:ea typeface="黑体" panose="02010609060101010101" pitchFamily="49" charset="-122"/>
              </a:rPr>
              <a:t>公钥的分配</a:t>
            </a:r>
          </a:p>
        </p:txBody>
      </p:sp>
      <p:sp>
        <p:nvSpPr>
          <p:cNvPr id="21524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在公钥密码体制中，如果每个用户都具有其他用户的公钥，就可实现安全通信。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看来好像可以随意公布用户的公钥。其实不然。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设想用户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要欺骗用户</a:t>
            </a:r>
            <a:r>
              <a:rPr lang="en-US" altLang="zh-CN" smtClean="0">
                <a:ea typeface="黑体" panose="02010609060101010101" pitchFamily="49" charset="-122"/>
              </a:rPr>
              <a:t> B</a:t>
            </a:r>
            <a:r>
              <a:rPr lang="zh-CN" altLang="zh-CN" smtClean="0">
                <a:ea typeface="黑体" panose="02010609060101010101" pitchFamily="49" charset="-122"/>
              </a:rPr>
              <a:t>。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zh-CN" smtClean="0">
                <a:ea typeface="黑体" panose="02010609060101010101" pitchFamily="49" charset="-122"/>
              </a:rPr>
              <a:t>可以向</a:t>
            </a:r>
            <a:r>
              <a:rPr lang="en-US" altLang="zh-CN" smtClean="0">
                <a:ea typeface="黑体" panose="02010609060101010101" pitchFamily="49" charset="-122"/>
              </a:rPr>
              <a:t> B </a:t>
            </a:r>
            <a:r>
              <a:rPr lang="zh-CN" altLang="zh-CN" smtClean="0">
                <a:ea typeface="黑体" panose="02010609060101010101" pitchFamily="49" charset="-122"/>
              </a:rPr>
              <a:t>发送一份伪造是</a:t>
            </a:r>
            <a:r>
              <a:rPr lang="en-US" altLang="zh-CN" smtClean="0">
                <a:ea typeface="黑体" panose="02010609060101010101" pitchFamily="49" charset="-122"/>
              </a:rPr>
              <a:t> C </a:t>
            </a:r>
            <a:r>
              <a:rPr lang="zh-CN" altLang="zh-CN" smtClean="0">
                <a:ea typeface="黑体" panose="02010609060101010101" pitchFamily="49" charset="-122"/>
              </a:rPr>
              <a:t>发送的报文。</a:t>
            </a:r>
            <a:r>
              <a:rPr lang="en-US" altLang="zh-CN" smtClean="0">
                <a:ea typeface="黑体" panose="02010609060101010101" pitchFamily="49" charset="-122"/>
              </a:rPr>
              <a:t>A </a:t>
            </a:r>
            <a:r>
              <a:rPr lang="zh-CN" altLang="zh-CN" smtClean="0">
                <a:ea typeface="黑体" panose="02010609060101010101" pitchFamily="49" charset="-122"/>
              </a:rPr>
              <a:t>用自己的秘密密钥进行数字签名，并附上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自己的公钥，谎称这公钥是</a:t>
            </a:r>
            <a:r>
              <a:rPr lang="en-US" altLang="zh-CN" smtClean="0">
                <a:ea typeface="黑体" panose="02010609060101010101" pitchFamily="49" charset="-122"/>
              </a:rPr>
              <a:t> C </a:t>
            </a:r>
            <a:r>
              <a:rPr lang="zh-CN" altLang="zh-CN" smtClean="0">
                <a:ea typeface="黑体" panose="02010609060101010101" pitchFamily="49" charset="-122"/>
              </a:rPr>
              <a:t>的。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zh-CN" smtClean="0">
                <a:ea typeface="黑体" panose="02010609060101010101" pitchFamily="49" charset="-122"/>
              </a:rPr>
              <a:t>如何知道这个公钥不是</a:t>
            </a:r>
            <a:r>
              <a:rPr lang="en-US" altLang="zh-CN" smtClean="0">
                <a:ea typeface="黑体" panose="02010609060101010101" pitchFamily="49" charset="-122"/>
              </a:rPr>
              <a:t> C </a:t>
            </a:r>
            <a:r>
              <a:rPr lang="zh-CN" altLang="zh-CN" smtClean="0">
                <a:ea typeface="黑体" panose="02010609060101010101" pitchFamily="49" charset="-122"/>
              </a:rPr>
              <a:t>的呢？</a:t>
            </a:r>
            <a:endParaRPr lang="en-US" altLang="zh-CN" smtClean="0">
              <a:ea typeface="黑体" panose="02010609060101010101" pitchFamily="49" charset="-122"/>
            </a:endParaRPr>
          </a:p>
          <a:p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524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F3060A-E6FF-46B0-B3D7-9BAFF023F0A0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21524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4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7.5.2  </a:t>
            </a:r>
            <a:r>
              <a:rPr lang="zh-CN" altLang="en-US" dirty="0" smtClean="0">
                <a:ea typeface="黑体" panose="02010609060101010101" pitchFamily="49" charset="-122"/>
              </a:rPr>
              <a:t>公钥的分配</a:t>
            </a:r>
          </a:p>
        </p:txBody>
      </p:sp>
      <p:sp>
        <p:nvSpPr>
          <p:cNvPr id="215347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3000" dirty="0" smtClean="0">
                <a:ea typeface="黑体" panose="02010609060101010101" pitchFamily="49" charset="-122"/>
              </a:rPr>
              <a:t>需要有一个值得信赖的机构</a:t>
            </a:r>
            <a:r>
              <a:rPr lang="en-US" altLang="zh-CN" sz="3000" dirty="0" smtClean="0">
                <a:ea typeface="黑体" panose="02010609060101010101" pitchFamily="49" charset="-122"/>
              </a:rPr>
              <a:t>——</a:t>
            </a:r>
            <a:r>
              <a:rPr lang="zh-CN" altLang="en-US" sz="3000" dirty="0" smtClean="0">
                <a:ea typeface="黑体" panose="02010609060101010101" pitchFamily="49" charset="-122"/>
              </a:rPr>
              <a:t>即</a:t>
            </a:r>
            <a:r>
              <a:rPr lang="zh-CN" altLang="en-US" sz="30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认证中心 </a:t>
            </a:r>
            <a:r>
              <a:rPr lang="en-US" altLang="zh-CN" sz="30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CA </a:t>
            </a:r>
            <a:r>
              <a:rPr lang="en-US" altLang="zh-CN" sz="3000" u="sng" dirty="0" smtClean="0">
                <a:ea typeface="黑体" panose="02010609060101010101" pitchFamily="49" charset="-122"/>
              </a:rPr>
              <a:t>(Certification Authority)</a:t>
            </a:r>
            <a:r>
              <a:rPr lang="zh-CN" altLang="en-US" sz="3000" dirty="0" smtClean="0">
                <a:ea typeface="黑体" panose="02010609060101010101" pitchFamily="49" charset="-122"/>
              </a:rPr>
              <a:t>，来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将公钥与其对应的实体（人或机器）进行绑定</a:t>
            </a:r>
            <a:r>
              <a:rPr lang="en-US" altLang="zh-CN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(binding)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3000" dirty="0" smtClean="0">
                <a:ea typeface="黑体" panose="02010609060101010101" pitchFamily="49" charset="-122"/>
              </a:rPr>
              <a:t>认证中心一般由</a:t>
            </a:r>
            <a:r>
              <a:rPr lang="zh-CN" altLang="en-US" sz="30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政府出资建立</a:t>
            </a:r>
            <a:r>
              <a:rPr lang="zh-CN" altLang="en-US" sz="3000" dirty="0" smtClean="0">
                <a:ea typeface="黑体" panose="02010609060101010101" pitchFamily="49" charset="-122"/>
              </a:rPr>
              <a:t>。每个实体都有 </a:t>
            </a:r>
            <a:r>
              <a:rPr lang="en-US" altLang="zh-CN" sz="3000" dirty="0" smtClean="0">
                <a:ea typeface="黑体" panose="02010609060101010101" pitchFamily="49" charset="-122"/>
              </a:rPr>
              <a:t>CA  </a:t>
            </a:r>
            <a:r>
              <a:rPr lang="zh-CN" altLang="en-US" sz="3000" dirty="0" smtClean="0">
                <a:ea typeface="黑体" panose="02010609060101010101" pitchFamily="49" charset="-122"/>
              </a:rPr>
              <a:t>发来的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证书</a:t>
            </a:r>
            <a:r>
              <a:rPr lang="en-US" altLang="zh-CN" sz="3000" dirty="0" smtClean="0">
                <a:ea typeface="黑体" panose="02010609060101010101" pitchFamily="49" charset="-122"/>
              </a:rPr>
              <a:t>(certificate)</a:t>
            </a:r>
            <a:r>
              <a:rPr lang="zh-CN" altLang="en-US" sz="3000" dirty="0" smtClean="0">
                <a:ea typeface="黑体" panose="02010609060101010101" pitchFamily="49" charset="-122"/>
              </a:rPr>
              <a:t>，里面有公钥及其拥有者的标识信息。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此证书被 </a:t>
            </a:r>
            <a:r>
              <a:rPr lang="en-US" altLang="zh-CN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CA 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进行了数字签名。</a:t>
            </a:r>
            <a:r>
              <a:rPr lang="zh-CN" altLang="en-US" sz="3000" dirty="0" smtClean="0">
                <a:ea typeface="黑体" panose="02010609060101010101" pitchFamily="49" charset="-122"/>
              </a:rPr>
              <a:t>任何用户都可从可信的地方获得认证中心 </a:t>
            </a:r>
            <a:r>
              <a:rPr lang="en-US" altLang="zh-CN" sz="3000" dirty="0" smtClean="0">
                <a:ea typeface="黑体" panose="02010609060101010101" pitchFamily="49" charset="-122"/>
              </a:rPr>
              <a:t>CA </a:t>
            </a:r>
            <a:r>
              <a:rPr lang="zh-CN" altLang="en-US" sz="3000" dirty="0" smtClean="0">
                <a:ea typeface="黑体" panose="02010609060101010101" pitchFamily="49" charset="-122"/>
              </a:rPr>
              <a:t>的公钥，</a:t>
            </a:r>
            <a:r>
              <a:rPr lang="zh-CN" altLang="en-US" sz="3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此公钥用来验证某个公钥是否为某个实体所拥有。</a:t>
            </a:r>
            <a:endParaRPr lang="en-US" altLang="zh-CN" sz="3000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sz="3000" dirty="0" smtClean="0">
                <a:ea typeface="黑体" panose="02010609060101010101" pitchFamily="49" charset="-122"/>
              </a:rPr>
              <a:t>有的大公司也提供认证中心服务。 </a:t>
            </a:r>
          </a:p>
        </p:txBody>
      </p:sp>
      <p:sp>
        <p:nvSpPr>
          <p:cNvPr id="21534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F6B1C2-DD65-434A-AE21-5443FCABF364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21534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52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CA </a:t>
            </a:r>
            <a:r>
              <a:rPr lang="zh-CN" altLang="en-US" smtClean="0">
                <a:ea typeface="黑体" panose="02010609060101010101" pitchFamily="49" charset="-122"/>
              </a:rPr>
              <a:t>证书</a:t>
            </a:r>
          </a:p>
        </p:txBody>
      </p:sp>
      <p:sp>
        <p:nvSpPr>
          <p:cNvPr id="215552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CA </a:t>
            </a:r>
            <a:r>
              <a:rPr lang="zh-CN" altLang="zh-CN" dirty="0" smtClean="0">
                <a:ea typeface="黑体" panose="02010609060101010101" pitchFamily="49" charset="-122"/>
              </a:rPr>
              <a:t>证书具有统一的格式，</a:t>
            </a:r>
            <a:r>
              <a:rPr lang="en-US" altLang="zh-CN" dirty="0" smtClean="0">
                <a:ea typeface="黑体" panose="02010609060101010101" pitchFamily="49" charset="-122"/>
              </a:rPr>
              <a:t>ITU-T </a:t>
            </a:r>
            <a:r>
              <a:rPr lang="zh-CN" altLang="zh-CN" dirty="0" smtClean="0">
                <a:ea typeface="黑体" panose="02010609060101010101" pitchFamily="49" charset="-122"/>
              </a:rPr>
              <a:t>制定了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X.509 </a:t>
            </a:r>
            <a:r>
              <a:rPr lang="zh-CN" altLang="zh-CN" dirty="0" smtClean="0">
                <a:ea typeface="黑体" panose="02010609060101010101" pitchFamily="49" charset="-122"/>
              </a:rPr>
              <a:t>协议标准，用来描述证书的结构。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在</a:t>
            </a:r>
            <a:r>
              <a:rPr lang="en-US" altLang="zh-CN" dirty="0" smtClean="0">
                <a:ea typeface="黑体" panose="02010609060101010101" pitchFamily="49" charset="-122"/>
              </a:rPr>
              <a:t> X.509 </a:t>
            </a:r>
            <a:r>
              <a:rPr lang="zh-CN" altLang="zh-CN" dirty="0" smtClean="0">
                <a:ea typeface="黑体" panose="02010609060101010101" pitchFamily="49" charset="-122"/>
              </a:rPr>
              <a:t>中规定要使用</a:t>
            </a:r>
            <a:r>
              <a:rPr lang="en-US" altLang="zh-CN" dirty="0" smtClean="0">
                <a:ea typeface="黑体" panose="02010609060101010101" pitchFamily="49" charset="-122"/>
              </a:rPr>
              <a:t> ASN.1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IETF </a:t>
            </a:r>
            <a:r>
              <a:rPr lang="zh-CN" altLang="zh-CN" dirty="0" smtClean="0">
                <a:ea typeface="黑体" panose="02010609060101010101" pitchFamily="49" charset="-122"/>
              </a:rPr>
              <a:t>接受了</a:t>
            </a:r>
            <a:r>
              <a:rPr lang="en-US" altLang="zh-CN" dirty="0" smtClean="0">
                <a:ea typeface="黑体" panose="02010609060101010101" pitchFamily="49" charset="-122"/>
              </a:rPr>
              <a:t> X.509</a:t>
            </a:r>
            <a:r>
              <a:rPr lang="zh-CN" altLang="zh-CN" dirty="0" smtClean="0">
                <a:ea typeface="黑体" panose="02010609060101010101" pitchFamily="49" charset="-122"/>
              </a:rPr>
              <a:t>（仅有少量的改动），并在</a:t>
            </a:r>
            <a:r>
              <a:rPr lang="en-US" altLang="zh-CN" dirty="0" smtClean="0">
                <a:ea typeface="黑体" panose="02010609060101010101" pitchFamily="49" charset="-122"/>
              </a:rPr>
              <a:t> RFC 5280</a:t>
            </a:r>
            <a:r>
              <a:rPr lang="zh-CN" altLang="zh-CN" dirty="0" smtClean="0">
                <a:ea typeface="黑体" panose="02010609060101010101" pitchFamily="49" charset="-122"/>
              </a:rPr>
              <a:t>（现在是建议标准）中给出了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互联网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X.509 </a:t>
            </a:r>
            <a:r>
              <a:rPr lang="zh-CN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公钥基础结构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PKI </a:t>
            </a:r>
            <a:r>
              <a:rPr lang="en-US" altLang="zh-CN" u="sng" dirty="0" smtClean="0">
                <a:ea typeface="黑体" panose="02010609060101010101" pitchFamily="49" charset="-122"/>
              </a:rPr>
              <a:t>(Public Key Infrastructure)</a:t>
            </a:r>
            <a:r>
              <a:rPr lang="zh-CN" altLang="zh-CN" u="sng" dirty="0" smtClean="0">
                <a:ea typeface="黑体" panose="02010609060101010101" pitchFamily="49" charset="-122"/>
              </a:rPr>
              <a:t>。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555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8DA46C-4441-4D2C-97B7-DE047AAEAB06}" type="slidenum">
              <a:rPr lang="zh-CN" altLang="en-US" smtClean="0"/>
              <a:pPr eaLnBrk="1" hangingPunct="1"/>
              <a:t>18</a:t>
            </a:fld>
            <a:endParaRPr lang="en-US" altLang="zh-CN" dirty="0" smtClean="0"/>
          </a:p>
        </p:txBody>
      </p:sp>
      <p:sp>
        <p:nvSpPr>
          <p:cNvPr id="215552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 err="1" smtClean="0"/>
              <a:t>ppt课件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5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49" charset="-122"/>
              </a:rPr>
              <a:t>7.6  </a:t>
            </a:r>
            <a:r>
              <a:rPr lang="zh-CN" altLang="zh-CN" sz="4800" smtClean="0">
                <a:ea typeface="黑体" panose="02010609060101010101" pitchFamily="49" charset="-122"/>
              </a:rPr>
              <a:t>互联网使用的安全协议</a:t>
            </a:r>
            <a:endParaRPr lang="zh-CN" altLang="en-US" sz="4800" smtClean="0">
              <a:ea typeface="黑体" panose="02010609060101010101" pitchFamily="49" charset="-122"/>
            </a:endParaRPr>
          </a:p>
        </p:txBody>
      </p:sp>
      <p:sp>
        <p:nvSpPr>
          <p:cNvPr id="21575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7.6.1  </a:t>
            </a:r>
            <a:r>
              <a:rPr lang="zh-CN" altLang="zh-CN" smtClean="0">
                <a:ea typeface="黑体" panose="02010609060101010101" pitchFamily="49" charset="-122"/>
              </a:rPr>
              <a:t>网络层安全协议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7.6.2  </a:t>
            </a:r>
            <a:r>
              <a:rPr lang="zh-CN" altLang="zh-CN" smtClean="0">
                <a:ea typeface="黑体" panose="02010609060101010101" pitchFamily="49" charset="-122"/>
              </a:rPr>
              <a:t>运输层的安全协议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7.6.3  </a:t>
            </a:r>
            <a:r>
              <a:rPr lang="zh-CN" altLang="zh-CN" smtClean="0">
                <a:ea typeface="黑体" panose="02010609060101010101" pitchFamily="49" charset="-122"/>
              </a:rPr>
              <a:t>应用层的安全协议</a:t>
            </a:r>
          </a:p>
        </p:txBody>
      </p:sp>
      <p:sp>
        <p:nvSpPr>
          <p:cNvPr id="21575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EC2F34-564B-4F90-B5F1-A39D3DAA1F57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215757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5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7.6.1  </a:t>
            </a:r>
            <a:r>
              <a:rPr lang="zh-CN" altLang="zh-CN" dirty="0" smtClean="0">
                <a:ea typeface="黑体" panose="02010609060101010101" pitchFamily="49" charset="-122"/>
              </a:rPr>
              <a:t>网络层安全协议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585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IP</a:t>
            </a:r>
            <a:r>
              <a:rPr lang="zh-CN" altLang="en-US" dirty="0" smtClean="0">
                <a:ea typeface="黑体" panose="02010609060101010101" pitchFamily="49" charset="-122"/>
              </a:rPr>
              <a:t>几乎不具备任何安全性，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不能保证：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数据机密性；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数据完整性；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数据来源认证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由于其在设计和实现上存在安全漏洞，使各种攻击有机可乘。例如：攻击者很容易构造一个包含虚假地址的 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数据报。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ea typeface="黑体" panose="02010609060101010101" pitchFamily="49" charset="-122"/>
              </a:rPr>
              <a:t>提供了标准、健壮且包含广泛的机制保证</a:t>
            </a:r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en-US" dirty="0" smtClean="0">
                <a:ea typeface="黑体" panose="02010609060101010101" pitchFamily="49" charset="-122"/>
              </a:rPr>
              <a:t>层安全。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585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8BA46C-4F94-4A93-8D8B-998E113EF930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21585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7.6.1  </a:t>
            </a:r>
            <a:r>
              <a:rPr lang="zh-CN" altLang="zh-CN" smtClean="0">
                <a:ea typeface="黑体" panose="02010609060101010101" pitchFamily="49" charset="-122"/>
              </a:rPr>
              <a:t>网络层安全协议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6064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en-US" smtClean="0">
                <a:ea typeface="黑体" panose="02010609060101010101" pitchFamily="49" charset="-122"/>
              </a:rPr>
              <a:t>安全性很差，不能保证：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没有为通信提供良好的数据源鉴别机制；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没有为数据提供强大的完整性保护机制；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没有为数据提供任何机密性保护；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在设计和实现上存在安全漏洞，使各种攻击有机可乘。例如：攻击者很容易构造一个包含虚假地址的</a:t>
            </a:r>
            <a:r>
              <a:rPr lang="en-US" altLang="zh-CN" smtClean="0">
                <a:ea typeface="黑体" panose="02010609060101010101" pitchFamily="49" charset="-122"/>
              </a:rPr>
              <a:t>IP</a:t>
            </a:r>
            <a:r>
              <a:rPr lang="zh-CN" altLang="en-US" smtClean="0">
                <a:ea typeface="黑体" panose="02010609060101010101" pitchFamily="49" charset="-122"/>
              </a:rPr>
              <a:t>数据报。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1606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E8F1BD-2A34-4996-8308-0A15E09E6B52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21606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6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  IPsec </a:t>
            </a:r>
            <a:r>
              <a:rPr lang="zh-CN" altLang="en-US" smtClean="0">
                <a:ea typeface="黑体" panose="02010609060101010101" pitchFamily="49" charset="-122"/>
              </a:rPr>
              <a:t>协议</a:t>
            </a:r>
          </a:p>
        </p:txBody>
      </p:sp>
      <p:sp>
        <p:nvSpPr>
          <p:cNvPr id="21626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IP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sec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就是“</a:t>
            </a:r>
            <a:r>
              <a:rPr lang="en-US" altLang="zh-CN" dirty="0" smtClean="0">
                <a:ea typeface="黑体" panose="02010609060101010101" pitchFamily="49" charset="-122"/>
              </a:rPr>
              <a:t>IP</a:t>
            </a:r>
            <a:r>
              <a:rPr lang="zh-CN" altLang="zh-CN" dirty="0" smtClean="0">
                <a:ea typeface="黑体" panose="02010609060101010101" pitchFamily="49" charset="-122"/>
              </a:rPr>
              <a:t>安全</a:t>
            </a:r>
            <a:r>
              <a:rPr lang="en-US" altLang="zh-CN" dirty="0" smtClean="0">
                <a:ea typeface="黑体" panose="02010609060101010101" pitchFamily="49" charset="-122"/>
              </a:rPr>
              <a:t>(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security</a:t>
            </a:r>
            <a:r>
              <a:rPr lang="en-US" altLang="zh-CN" dirty="0" smtClean="0">
                <a:ea typeface="黑体" panose="02010609060101010101" pitchFamily="49" charset="-122"/>
              </a:rPr>
              <a:t>)</a:t>
            </a:r>
            <a:r>
              <a:rPr lang="zh-CN" altLang="zh-CN" dirty="0" smtClean="0">
                <a:ea typeface="黑体" panose="02010609060101010101" pitchFamily="49" charset="-122"/>
              </a:rPr>
              <a:t>”的缩写。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zh-CN" dirty="0" smtClean="0">
                <a:ea typeface="黑体" panose="02010609060101010101" pitchFamily="49" charset="-122"/>
              </a:rPr>
              <a:t>并不是一个单个的协议，而是能够在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层提供互联网通信安全的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协议族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zh-CN" dirty="0" smtClean="0">
                <a:ea typeface="黑体" panose="02010609060101010101" pitchFamily="49" charset="-122"/>
              </a:rPr>
              <a:t>是个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框架</a:t>
            </a:r>
            <a:r>
              <a:rPr lang="zh-CN" altLang="zh-CN" dirty="0" smtClean="0">
                <a:ea typeface="黑体" panose="02010609060101010101" pitchFamily="49" charset="-122"/>
              </a:rPr>
              <a:t>，它允许通信双方选择合适的算法和参数（例如，密钥长度）。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为保证互操作性，</a:t>
            </a:r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zh-CN" dirty="0" smtClean="0">
                <a:ea typeface="黑体" panose="02010609060101010101" pitchFamily="49" charset="-122"/>
              </a:rPr>
              <a:t>还包含了所有</a:t>
            </a:r>
            <a:r>
              <a:rPr lang="en-US" altLang="zh-CN" dirty="0" smtClean="0">
                <a:ea typeface="黑体" panose="02010609060101010101" pitchFamily="49" charset="-122"/>
              </a:rPr>
              <a:t> IPsec </a:t>
            </a:r>
            <a:r>
              <a:rPr lang="zh-CN" altLang="zh-CN" dirty="0" smtClean="0">
                <a:ea typeface="黑体" panose="02010609060101010101" pitchFamily="49" charset="-122"/>
              </a:rPr>
              <a:t>的实现都必须有的一套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加密算法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zh-CN" altLang="en-US" dirty="0" smtClean="0"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626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A4D50C-F07D-4FA9-8513-93670777ED95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21626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7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ea typeface="黑体" panose="02010609060101010101" pitchFamily="49" charset="-122"/>
              </a:rPr>
              <a:t>由三部分组成</a:t>
            </a:r>
          </a:p>
        </p:txBody>
      </p:sp>
      <p:sp>
        <p:nvSpPr>
          <p:cNvPr id="21647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ea typeface="黑体" panose="02010609060101010101" pitchFamily="49" charset="-122"/>
              </a:rPr>
              <a:t>，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安全数据报格式</a:t>
            </a:r>
            <a:r>
              <a:rPr lang="zh-CN" altLang="zh-CN" dirty="0" smtClean="0">
                <a:ea typeface="黑体" panose="02010609060101010101" pitchFamily="49" charset="-122"/>
              </a:rPr>
              <a:t>的两个协议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u="sng" dirty="0" smtClean="0">
                <a:solidFill>
                  <a:srgbClr val="0000FF"/>
                </a:solidFill>
                <a:ea typeface="黑体" panose="02010609060101010101" pitchFamily="49" charset="-122"/>
              </a:rPr>
              <a:t>鉴别首部</a:t>
            </a:r>
            <a:r>
              <a:rPr lang="en-US" altLang="zh-CN" u="sng" dirty="0" smtClean="0">
                <a:solidFill>
                  <a:srgbClr val="0000FF"/>
                </a:solidFill>
                <a:ea typeface="黑体" panose="02010609060101010101" pitchFamily="49" charset="-122"/>
              </a:rPr>
              <a:t> AH </a:t>
            </a:r>
            <a:r>
              <a:rPr lang="en-US" altLang="zh-CN" u="sng" dirty="0" smtClean="0">
                <a:ea typeface="黑体" panose="02010609060101010101" pitchFamily="49" charset="-122"/>
              </a:rPr>
              <a:t>(Authentication Header)</a:t>
            </a:r>
            <a:r>
              <a:rPr lang="zh-CN" altLang="zh-CN" dirty="0" smtClean="0">
                <a:ea typeface="黑体" panose="02010609060101010101" pitchFamily="49" charset="-122"/>
              </a:rPr>
              <a:t>协议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2"/>
            <a:r>
              <a:rPr lang="zh-CN" altLang="zh-CN" dirty="0" smtClean="0">
                <a:ea typeface="黑体" panose="02010609060101010101" pitchFamily="49" charset="-122"/>
              </a:rPr>
              <a:t>提供源点鉴别和数据完整性，但不能保密。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u="sng" dirty="0" smtClean="0">
                <a:solidFill>
                  <a:srgbClr val="0000FF"/>
                </a:solidFill>
                <a:ea typeface="黑体" panose="02010609060101010101" pitchFamily="49" charset="-122"/>
              </a:rPr>
              <a:t>封装安全有效载荷</a:t>
            </a:r>
            <a:r>
              <a:rPr lang="en-US" altLang="zh-CN" u="sng" dirty="0" smtClean="0">
                <a:solidFill>
                  <a:srgbClr val="0000FF"/>
                </a:solidFill>
                <a:ea typeface="黑体" panose="02010609060101010101" pitchFamily="49" charset="-122"/>
              </a:rPr>
              <a:t> ESP </a:t>
            </a:r>
            <a:r>
              <a:rPr lang="en-US" altLang="zh-CN" u="sng" dirty="0" smtClean="0">
                <a:ea typeface="黑体" panose="02010609060101010101" pitchFamily="49" charset="-122"/>
              </a:rPr>
              <a:t>(Encapsulation Security Payload)</a:t>
            </a:r>
            <a:r>
              <a:rPr lang="zh-CN" altLang="zh-CN" u="sng" dirty="0" smtClean="0">
                <a:ea typeface="黑体" panose="02010609060101010101" pitchFamily="49" charset="-122"/>
              </a:rPr>
              <a:t>协议</a:t>
            </a:r>
            <a:endParaRPr lang="en-US" altLang="zh-CN" u="sng" dirty="0" smtClean="0">
              <a:ea typeface="黑体" panose="02010609060101010101" pitchFamily="49" charset="-122"/>
            </a:endParaRPr>
          </a:p>
          <a:p>
            <a:pPr lvl="2"/>
            <a:r>
              <a:rPr lang="zh-CN" altLang="zh-CN" dirty="0" smtClean="0">
                <a:ea typeface="黑体" panose="02010609060101010101" pitchFamily="49" charset="-122"/>
              </a:rPr>
              <a:t>提供源点鉴别、数据完整性和保密。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2</a:t>
            </a:r>
            <a:r>
              <a:rPr lang="zh-CN" altLang="en-US" dirty="0" smtClean="0"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有关加密算法</a:t>
            </a:r>
            <a:r>
              <a:rPr lang="zh-CN" altLang="zh-CN" dirty="0" smtClean="0">
                <a:ea typeface="黑体" panose="02010609060101010101" pitchFamily="49" charset="-122"/>
              </a:rPr>
              <a:t>的三个协议（在此不讨论）。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3</a:t>
            </a:r>
            <a:r>
              <a:rPr lang="zh-CN" altLang="en-US" dirty="0" smtClean="0"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互联网密钥交换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IKE </a:t>
            </a:r>
            <a:r>
              <a:rPr lang="en-US" altLang="zh-CN" dirty="0" smtClean="0">
                <a:ea typeface="黑体" panose="02010609060101010101" pitchFamily="49" charset="-122"/>
              </a:rPr>
              <a:t>(Internet Key Exchange)</a:t>
            </a:r>
            <a:r>
              <a:rPr lang="zh-CN" altLang="zh-CN" dirty="0" smtClean="0">
                <a:ea typeface="黑体" panose="02010609060101010101" pitchFamily="49" charset="-122"/>
              </a:rPr>
              <a:t>协议。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647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13A37F-004D-40F0-8ED9-5BCB47A04940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216474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78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IP </a:t>
            </a:r>
            <a:r>
              <a:rPr lang="zh-CN" altLang="zh-CN" dirty="0" smtClean="0">
                <a:ea typeface="黑体" panose="02010609060101010101" pitchFamily="49" charset="-122"/>
              </a:rPr>
              <a:t>安全数据报有两种工作方式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6678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运输方式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(transport mode)</a:t>
            </a:r>
            <a:r>
              <a:rPr lang="zh-CN" altLang="en-US" dirty="0" smtClean="0">
                <a:ea typeface="黑体" panose="02010609060101010101" pitchFamily="49" charset="-122"/>
              </a:rPr>
              <a:t>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在整个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运输层报文段</a:t>
            </a:r>
            <a:r>
              <a:rPr lang="zh-CN" altLang="zh-CN" dirty="0" smtClean="0">
                <a:ea typeface="黑体" panose="02010609060101010101" pitchFamily="49" charset="-122"/>
              </a:rPr>
              <a:t>的前后分别添加若干控制信息，再加上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首部，构成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安全数据报。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把整个运输层报文段都保护起来，适合于主机到主机之间的安全传送。 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需要使用 </a:t>
            </a:r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ea typeface="黑体" panose="02010609060101010101" pitchFamily="49" charset="-122"/>
              </a:rPr>
              <a:t>的主机都运行 </a:t>
            </a:r>
            <a:r>
              <a:rPr lang="en-US" altLang="zh-CN" dirty="0" smtClean="0">
                <a:ea typeface="黑体" panose="02010609060101010101" pitchFamily="49" charset="-122"/>
              </a:rPr>
              <a:t>IPsec</a:t>
            </a:r>
            <a:r>
              <a:rPr lang="zh-CN" altLang="en-US" dirty="0" smtClean="0">
                <a:ea typeface="黑体" panose="02010609060101010101" pitchFamily="49" charset="-122"/>
              </a:rPr>
              <a:t>协议。</a:t>
            </a:r>
            <a:endParaRPr lang="zh-CN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6678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21E9F7-554C-4BE5-BD8A-9CFCEF6DCAE6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216678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83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zh-CN" smtClean="0">
                <a:ea typeface="黑体" panose="02010609060101010101" pitchFamily="49" charset="-122"/>
              </a:rPr>
              <a:t>安全数据报有两种工作方式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6883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隧道方式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(tunnel mode)</a:t>
            </a:r>
            <a:r>
              <a:rPr lang="zh-CN" altLang="en-US" dirty="0" smtClean="0">
                <a:ea typeface="黑体" panose="02010609060101010101" pitchFamily="49" charset="-122"/>
              </a:rPr>
              <a:t>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在原始的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数据报的前后分别添加若干控制信息，再加上新的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首部，构成一个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安全数据报。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这需要在 </a:t>
            </a:r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ea typeface="黑体" panose="02010609060101010101" pitchFamily="49" charset="-122"/>
              </a:rPr>
              <a:t>数据报所经过的所有路由器上都运行 </a:t>
            </a:r>
            <a:r>
              <a:rPr lang="en-US" altLang="zh-CN" dirty="0" smtClean="0"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ea typeface="黑体" panose="02010609060101010101" pitchFamily="49" charset="-122"/>
              </a:rPr>
              <a:t>协议。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隧道方式常用来实现虚拟专用网 </a:t>
            </a:r>
            <a:r>
              <a:rPr lang="en-US" altLang="zh-CN" dirty="0" smtClean="0">
                <a:ea typeface="黑体" panose="02010609060101010101" pitchFamily="49" charset="-122"/>
              </a:rPr>
              <a:t>VPN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zh-CN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6883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7CB0D0-B26D-4210-8419-14B7CEEE04D0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216883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8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IP </a:t>
            </a:r>
            <a:r>
              <a:rPr lang="zh-CN" altLang="zh-CN" smtClean="0">
                <a:ea typeface="黑体" panose="02010609060101010101" pitchFamily="49" charset="-122"/>
              </a:rPr>
              <a:t>安全数据报有两种工作方式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7088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无论使用哪种方式，最后得出的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 IP </a:t>
            </a:r>
            <a:r>
              <a:rPr lang="zh-CN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安全数据报的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IP 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首部都是不加密的。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所谓“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安全数据报</a:t>
            </a:r>
            <a:r>
              <a:rPr lang="zh-CN" altLang="zh-CN" smtClean="0">
                <a:ea typeface="黑体" panose="02010609060101010101" pitchFamily="49" charset="-122"/>
              </a:rPr>
              <a:t>”是指数据报的数据部分是经过加密的，并能够被鉴别的。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通常把数据报的数据部分称为数据报的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有效载荷</a:t>
            </a:r>
            <a:r>
              <a:rPr lang="en-US" altLang="zh-CN" smtClean="0">
                <a:ea typeface="黑体" panose="02010609060101010101" pitchFamily="49" charset="-122"/>
              </a:rPr>
              <a:t>(payload)</a:t>
            </a:r>
            <a:r>
              <a:rPr lang="zh-CN" altLang="zh-CN" smtClean="0">
                <a:ea typeface="黑体" panose="02010609060101010101" pitchFamily="49" charset="-122"/>
              </a:rPr>
              <a:t>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708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60F73F-E7BF-49AC-9F15-FC9CCC5CC25A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217088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9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安全关联 </a:t>
            </a:r>
            <a:r>
              <a:rPr lang="en-US" altLang="zh-CN" smtClean="0">
                <a:ea typeface="黑体" panose="02010609060101010101" pitchFamily="49" charset="-122"/>
              </a:rPr>
              <a:t>SA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在使用 </a:t>
            </a:r>
            <a:r>
              <a:rPr lang="en-US" altLang="zh-CN" dirty="0" smtClean="0">
                <a:ea typeface="黑体" panose="02010609060101010101" pitchFamily="49" charset="-122"/>
              </a:rPr>
              <a:t>AH </a:t>
            </a:r>
            <a:r>
              <a:rPr lang="zh-CN" altLang="en-US" dirty="0" smtClean="0">
                <a:ea typeface="黑体" panose="02010609060101010101" pitchFamily="49" charset="-122"/>
              </a:rPr>
              <a:t>或 </a:t>
            </a:r>
            <a:r>
              <a:rPr lang="en-US" altLang="zh-CN" dirty="0" smtClean="0">
                <a:ea typeface="黑体" panose="02010609060101010101" pitchFamily="49" charset="-122"/>
              </a:rPr>
              <a:t>ESP </a:t>
            </a:r>
            <a:r>
              <a:rPr lang="zh-CN" altLang="en-US" dirty="0" smtClean="0">
                <a:ea typeface="黑体" panose="02010609060101010101" pitchFamily="49" charset="-122"/>
              </a:rPr>
              <a:t>之前，先要从源主机到目的主机建立一条网络层的逻辑连接。此逻辑连接叫做</a:t>
            </a:r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安全关联 </a:t>
            </a:r>
            <a:r>
              <a:rPr lang="en-US" altLang="zh-CN" u="sng" dirty="0" smtClean="0">
                <a:ea typeface="黑体" panose="02010609060101010101" pitchFamily="49" charset="-122"/>
              </a:rPr>
              <a:t>SA (Security Association)</a:t>
            </a:r>
            <a:r>
              <a:rPr lang="en-US" altLang="zh-CN" sz="3600" u="sng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IPsec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就把传统互联网无连接的网络层转换为具有逻辑连接的网络层</a:t>
            </a:r>
            <a:r>
              <a:rPr lang="zh-CN" altLang="en-US" dirty="0" smtClean="0"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217293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3ADFA3-7FC0-434A-BA20-9ABA9CE7B8C7}" type="slidenum">
              <a:rPr lang="zh-CN" altLang="en-US" smtClean="0"/>
              <a:pPr eaLnBrk="1" hangingPunct="1"/>
              <a:t>27</a:t>
            </a:fld>
            <a:endParaRPr lang="en-US" altLang="zh-CN" smtClean="0"/>
          </a:p>
        </p:txBody>
      </p:sp>
      <p:sp>
        <p:nvSpPr>
          <p:cNvPr id="217293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9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marL="838200" indent="-838200" algn="ctr"/>
            <a:r>
              <a:rPr lang="zh-CN" altLang="en-US" dirty="0" smtClean="0">
                <a:ea typeface="黑体" panose="02010609060101010101" pitchFamily="49" charset="-122"/>
              </a:rPr>
              <a:t>安全关联的特点</a:t>
            </a:r>
          </a:p>
        </p:txBody>
      </p:sp>
      <p:sp>
        <p:nvSpPr>
          <p:cNvPr id="21739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安全关联是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从源点到终点的单向连接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ea typeface="黑体" panose="02010609060101010101" pitchFamily="49" charset="-122"/>
              </a:rPr>
              <a:t>它能够提供安全服务。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在安全关联</a:t>
            </a:r>
            <a:r>
              <a:rPr lang="en-US" altLang="zh-CN" dirty="0" smtClean="0">
                <a:ea typeface="黑体" panose="02010609060101010101" pitchFamily="49" charset="-122"/>
              </a:rPr>
              <a:t> SA </a:t>
            </a:r>
            <a:r>
              <a:rPr lang="zh-CN" altLang="zh-CN" dirty="0" smtClean="0">
                <a:ea typeface="黑体" panose="02010609060101010101" pitchFamily="49" charset="-122"/>
              </a:rPr>
              <a:t>上传送的就是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安全数据报。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如要进行双向安全通信，则两个方向都需要建立安全关联。</a:t>
            </a:r>
            <a:endParaRPr lang="en-US" altLang="zh-CN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若公司总部和</a:t>
            </a:r>
            <a:r>
              <a:rPr lang="en-US" altLang="zh-CN" dirty="0" smtClean="0"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ea typeface="黑体" panose="02010609060101010101" pitchFamily="49" charset="-122"/>
              </a:rPr>
              <a:t>个分公司及</a:t>
            </a:r>
            <a:r>
              <a:rPr lang="en-US" altLang="zh-CN" i="1" dirty="0" smtClean="0">
                <a:ea typeface="黑体" panose="02010609060101010101" pitchFamily="49" charset="-122"/>
              </a:rPr>
              <a:t>n </a:t>
            </a:r>
            <a:r>
              <a:rPr lang="zh-CN" altLang="zh-CN" dirty="0" smtClean="0">
                <a:ea typeface="黑体" panose="02010609060101010101" pitchFamily="49" charset="-122"/>
              </a:rPr>
              <a:t>个员工进行双向安全通信，一共需要创建</a:t>
            </a:r>
            <a:r>
              <a:rPr lang="en-US" altLang="zh-CN" dirty="0" smtClean="0">
                <a:ea typeface="黑体" panose="02010609060101010101" pitchFamily="49" charset="-122"/>
              </a:rPr>
              <a:t> (2 + 2</a:t>
            </a:r>
            <a:r>
              <a:rPr lang="en-US" altLang="zh-CN" i="1" dirty="0" smtClean="0">
                <a:ea typeface="黑体" panose="02010609060101010101" pitchFamily="49" charset="-122"/>
              </a:rPr>
              <a:t>n</a:t>
            </a:r>
            <a:r>
              <a:rPr lang="en-US" altLang="zh-CN" dirty="0" smtClean="0">
                <a:ea typeface="黑体" panose="02010609060101010101" pitchFamily="49" charset="-122"/>
              </a:rPr>
              <a:t>) </a:t>
            </a:r>
            <a:r>
              <a:rPr lang="zh-CN" altLang="zh-CN" dirty="0" smtClean="0">
                <a:ea typeface="黑体" panose="02010609060101010101" pitchFamily="49" charset="-122"/>
              </a:rPr>
              <a:t>条安全关联</a:t>
            </a:r>
            <a:r>
              <a:rPr lang="en-US" altLang="zh-CN" dirty="0" smtClean="0">
                <a:ea typeface="黑体" panose="02010609060101010101" pitchFamily="49" charset="-122"/>
              </a:rPr>
              <a:t> SA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1739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52A6D7-25B5-47AE-A9A8-1389D258A06E}" type="slidenum">
              <a:rPr lang="zh-CN" altLang="en-US" smtClean="0"/>
              <a:pPr eaLnBrk="1" hangingPunct="1"/>
              <a:t>28</a:t>
            </a:fld>
            <a:endParaRPr lang="en-US" altLang="zh-CN" smtClean="0"/>
          </a:p>
        </p:txBody>
      </p:sp>
      <p:sp>
        <p:nvSpPr>
          <p:cNvPr id="21739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001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路由器 </a:t>
            </a:r>
            <a:r>
              <a:rPr lang="en-US" altLang="zh-CN" smtClean="0">
                <a:ea typeface="黑体" panose="02010609060101010101" pitchFamily="49" charset="-122"/>
              </a:rPr>
              <a:t>R</a:t>
            </a:r>
            <a:r>
              <a:rPr lang="en-US" altLang="zh-CN" baseline="-25000" smtClean="0">
                <a:ea typeface="黑体" panose="02010609060101010101" pitchFamily="49" charset="-122"/>
              </a:rPr>
              <a:t>1 </a:t>
            </a:r>
            <a:r>
              <a:rPr lang="zh-CN" altLang="en-US" smtClean="0">
                <a:ea typeface="黑体" panose="02010609060101010101" pitchFamily="49" charset="-122"/>
              </a:rPr>
              <a:t>到 </a:t>
            </a:r>
            <a:r>
              <a:rPr lang="en-US" altLang="zh-CN" smtClean="0">
                <a:ea typeface="黑体" panose="02010609060101010101" pitchFamily="49" charset="-122"/>
              </a:rPr>
              <a:t>R</a:t>
            </a:r>
            <a:r>
              <a:rPr lang="en-US" altLang="zh-CN" baseline="-25000" smtClean="0">
                <a:ea typeface="黑体" panose="02010609060101010101" pitchFamily="49" charset="-122"/>
              </a:rPr>
              <a:t>2 </a:t>
            </a:r>
            <a:r>
              <a:rPr lang="zh-CN" altLang="en-US" smtClean="0">
                <a:ea typeface="黑体" panose="02010609060101010101" pitchFamily="49" charset="-122"/>
              </a:rPr>
              <a:t>的安全关联 </a:t>
            </a:r>
            <a:r>
              <a:rPr lang="en-US" altLang="zh-CN" smtClean="0">
                <a:ea typeface="黑体" panose="02010609060101010101" pitchFamily="49" charset="-122"/>
              </a:rPr>
              <a:t>SA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2176002" name="组合 558"/>
          <p:cNvGrpSpPr>
            <a:grpSpLocks/>
          </p:cNvGrpSpPr>
          <p:nvPr/>
        </p:nvGrpSpPr>
        <p:grpSpPr bwMode="auto">
          <a:xfrm>
            <a:off x="560388" y="3068638"/>
            <a:ext cx="9072562" cy="2970212"/>
            <a:chOff x="632520" y="1268760"/>
            <a:chExt cx="9073008" cy="2969372"/>
          </a:xfrm>
        </p:grpSpPr>
        <p:sp>
          <p:nvSpPr>
            <p:cNvPr id="2176003" name="圆角矩形 4"/>
            <p:cNvSpPr>
              <a:spLocks noChangeArrowheads="1"/>
            </p:cNvSpPr>
            <p:nvPr/>
          </p:nvSpPr>
          <p:spPr bwMode="auto">
            <a:xfrm>
              <a:off x="7093326" y="1853372"/>
              <a:ext cx="2612202" cy="228187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176004" name="Object 204"/>
            <p:cNvGraphicFramePr>
              <a:graphicFrameLocks noChangeAspect="1"/>
            </p:cNvGraphicFramePr>
            <p:nvPr/>
          </p:nvGraphicFramePr>
          <p:xfrm>
            <a:off x="3291188" y="1748195"/>
            <a:ext cx="3634456" cy="2489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6586" r:id="rId4" imgW="1687068" imgH="964692" progId="Visio.Drawing.6">
                    <p:embed/>
                  </p:oleObj>
                </mc:Choice>
                <mc:Fallback>
                  <p:oleObj r:id="rId4" imgW="1687068" imgH="964692" progId="Visio.Drawing.6">
                    <p:embed/>
                    <p:pic>
                      <p:nvPicPr>
                        <p:cNvPr id="0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188" y="1748195"/>
                          <a:ext cx="3634456" cy="2489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76005" name="圆角矩形 6"/>
            <p:cNvSpPr>
              <a:spLocks noChangeArrowheads="1"/>
            </p:cNvSpPr>
            <p:nvPr/>
          </p:nvSpPr>
          <p:spPr bwMode="auto">
            <a:xfrm>
              <a:off x="632520" y="1853372"/>
              <a:ext cx="2612202" cy="228187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06" name="Line 205"/>
            <p:cNvSpPr>
              <a:spLocks noChangeShapeType="1"/>
            </p:cNvSpPr>
            <p:nvPr/>
          </p:nvSpPr>
          <p:spPr bwMode="auto">
            <a:xfrm>
              <a:off x="1549720" y="2889131"/>
              <a:ext cx="1832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07" name="Text Box 48"/>
            <p:cNvSpPr txBox="1">
              <a:spLocks noChangeArrowheads="1"/>
            </p:cNvSpPr>
            <p:nvPr/>
          </p:nvSpPr>
          <p:spPr bwMode="auto">
            <a:xfrm>
              <a:off x="1274964" y="136864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公司总部</a:t>
              </a:r>
            </a:p>
          </p:txBody>
        </p:sp>
        <p:grpSp>
          <p:nvGrpSpPr>
            <p:cNvPr id="2176008" name="Group 103"/>
            <p:cNvGrpSpPr>
              <a:grpSpLocks/>
            </p:cNvGrpSpPr>
            <p:nvPr/>
          </p:nvGrpSpPr>
          <p:grpSpPr bwMode="auto">
            <a:xfrm>
              <a:off x="1008289" y="2404405"/>
              <a:ext cx="642444" cy="724802"/>
              <a:chOff x="921" y="2412"/>
              <a:chExt cx="284" cy="265"/>
            </a:xfrm>
          </p:grpSpPr>
          <p:grpSp>
            <p:nvGrpSpPr>
              <p:cNvPr id="2176009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76010" name="Freeform 105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1" name="Freeform 106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2" name="Freeform 107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3" name="Freeform 108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4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5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6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17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018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76019" name="Freeform 114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20" name="Freeform 115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21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76022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76023" name="Freeform 118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4" name="Freeform 119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5" name="Freeform 120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6" name="Freeform 121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7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8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29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30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031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76032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33" name="Freeform 128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34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pic>
          <p:nvPicPr>
            <p:cNvPr id="2176035" name="Picture 203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8744" y="2717647"/>
              <a:ext cx="565674" cy="36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76036" name="Line 176"/>
            <p:cNvSpPr>
              <a:spLocks noChangeShapeType="1"/>
            </p:cNvSpPr>
            <p:nvPr/>
          </p:nvSpPr>
          <p:spPr bwMode="auto">
            <a:xfrm>
              <a:off x="3291188" y="2994307"/>
              <a:ext cx="3727388" cy="3201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37" name="Text Box 207"/>
            <p:cNvSpPr txBox="1">
              <a:spLocks noChangeArrowheads="1"/>
            </p:cNvSpPr>
            <p:nvPr/>
          </p:nvSpPr>
          <p:spPr bwMode="auto">
            <a:xfrm>
              <a:off x="4376936" y="1268760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0000FF"/>
                  </a:solidFill>
                  <a:ea typeface="黑体" panose="02010609060101010101" pitchFamily="49" charset="-122"/>
                </a:rPr>
                <a:t>互联网</a:t>
              </a:r>
            </a:p>
          </p:txBody>
        </p:sp>
        <p:sp>
          <p:nvSpPr>
            <p:cNvPr id="2176038" name="Text Box 201"/>
            <p:cNvSpPr txBox="1">
              <a:spLocks noChangeArrowheads="1"/>
            </p:cNvSpPr>
            <p:nvPr/>
          </p:nvSpPr>
          <p:spPr bwMode="auto">
            <a:xfrm>
              <a:off x="4923562" y="3028890"/>
              <a:ext cx="54213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SA</a:t>
              </a:r>
              <a:endPara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39" name="Text Box 208"/>
            <p:cNvSpPr txBox="1">
              <a:spLocks noChangeArrowheads="1"/>
            </p:cNvSpPr>
            <p:nvPr/>
          </p:nvSpPr>
          <p:spPr bwMode="auto">
            <a:xfrm>
              <a:off x="2741676" y="2232921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176040" name="TextBox 997"/>
            <p:cNvSpPr txBox="1">
              <a:spLocks noChangeArrowheads="1"/>
            </p:cNvSpPr>
            <p:nvPr/>
          </p:nvSpPr>
          <p:spPr bwMode="auto">
            <a:xfrm>
              <a:off x="4160912" y="2164794"/>
              <a:ext cx="17830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安全数据报</a:t>
              </a:r>
            </a:p>
          </p:txBody>
        </p:sp>
        <p:sp>
          <p:nvSpPr>
            <p:cNvPr id="2176041" name="Text Box 213"/>
            <p:cNvSpPr txBox="1">
              <a:spLocks noChangeArrowheads="1"/>
            </p:cNvSpPr>
            <p:nvPr/>
          </p:nvSpPr>
          <p:spPr bwMode="auto">
            <a:xfrm>
              <a:off x="632520" y="2370108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grpSp>
          <p:nvGrpSpPr>
            <p:cNvPr id="2176042" name="组合 990"/>
            <p:cNvGrpSpPr>
              <a:grpSpLocks/>
            </p:cNvGrpSpPr>
            <p:nvPr/>
          </p:nvGrpSpPr>
          <p:grpSpPr bwMode="auto">
            <a:xfrm>
              <a:off x="1747706" y="2578175"/>
              <a:ext cx="733355" cy="208066"/>
              <a:chOff x="1691680" y="1052736"/>
              <a:chExt cx="576064" cy="144016"/>
            </a:xfrm>
          </p:grpSpPr>
          <p:sp>
            <p:nvSpPr>
              <p:cNvPr id="2176043" name="矩形 44"/>
              <p:cNvSpPr>
                <a:spLocks noChangeArrowheads="1"/>
              </p:cNvSpPr>
              <p:nvPr/>
            </p:nvSpPr>
            <p:spPr bwMode="auto">
              <a:xfrm>
                <a:off x="1691680" y="1052736"/>
                <a:ext cx="360238" cy="144016"/>
              </a:xfrm>
              <a:prstGeom prst="rect">
                <a:avLst/>
              </a:prstGeom>
              <a:solidFill>
                <a:srgbClr val="D9D9D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cxnSp>
            <p:nvCxnSpPr>
              <p:cNvPr id="2176044" name="直接箭头连接符 988"/>
              <p:cNvCxnSpPr>
                <a:cxnSpLocks noChangeShapeType="1"/>
                <a:stCxn id="2176043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76045" name="AutoShape 212"/>
            <p:cNvSpPr>
              <a:spLocks noChangeArrowheads="1"/>
            </p:cNvSpPr>
            <p:nvPr/>
          </p:nvSpPr>
          <p:spPr bwMode="auto">
            <a:xfrm>
              <a:off x="5974100" y="2664320"/>
              <a:ext cx="616180" cy="116608"/>
            </a:xfrm>
            <a:prstGeom prst="rightArrow">
              <a:avLst>
                <a:gd name="adj1" fmla="val 50000"/>
                <a:gd name="adj2" fmla="val 73661"/>
              </a:avLst>
            </a:prstGeom>
            <a:solidFill>
              <a:srgbClr val="C00000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46" name="Rectangle 210"/>
            <p:cNvSpPr>
              <a:spLocks noChangeArrowheads="1"/>
            </p:cNvSpPr>
            <p:nvPr/>
          </p:nvSpPr>
          <p:spPr bwMode="auto">
            <a:xfrm>
              <a:off x="4210408" y="2557596"/>
              <a:ext cx="1739449" cy="3315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047" name="矩形 48"/>
            <p:cNvSpPr>
              <a:spLocks noChangeArrowheads="1"/>
            </p:cNvSpPr>
            <p:nvPr/>
          </p:nvSpPr>
          <p:spPr bwMode="auto">
            <a:xfrm>
              <a:off x="4850833" y="2619331"/>
              <a:ext cx="458599" cy="208066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2176048" name="Picture 203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4542" y="2747372"/>
              <a:ext cx="565674" cy="36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76049" name="直接连接符 504"/>
            <p:cNvCxnSpPr>
              <a:cxnSpLocks noChangeShapeType="1"/>
              <a:stCxn id="2176043" idx="3"/>
            </p:cNvCxnSpPr>
            <p:nvPr/>
          </p:nvCxnSpPr>
          <p:spPr bwMode="auto">
            <a:xfrm flipV="1">
              <a:off x="6881198" y="2928000"/>
              <a:ext cx="333344" cy="114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6050" name="Text Box 208"/>
            <p:cNvSpPr txBox="1">
              <a:spLocks noChangeArrowheads="1"/>
            </p:cNvSpPr>
            <p:nvPr/>
          </p:nvSpPr>
          <p:spPr bwMode="auto">
            <a:xfrm>
              <a:off x="7230704" y="2267219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grpSp>
          <p:nvGrpSpPr>
            <p:cNvPr id="2176051" name="Group 103"/>
            <p:cNvGrpSpPr>
              <a:grpSpLocks/>
            </p:cNvGrpSpPr>
            <p:nvPr/>
          </p:nvGrpSpPr>
          <p:grpSpPr bwMode="auto">
            <a:xfrm>
              <a:off x="8715598" y="2340385"/>
              <a:ext cx="642444" cy="724802"/>
              <a:chOff x="921" y="2412"/>
              <a:chExt cx="284" cy="265"/>
            </a:xfrm>
          </p:grpSpPr>
          <p:grpSp>
            <p:nvGrpSpPr>
              <p:cNvPr id="2176052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76053" name="Freeform 105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4" name="Freeform 106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5" name="Freeform 107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6" name="Freeform 108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7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8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59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60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061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76062" name="Freeform 114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63" name="Freeform 115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64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76065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76066" name="Freeform 118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67" name="Freeform 119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68" name="Freeform 120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69" name="Freeform 121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70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073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074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76075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76" name="Freeform 128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077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sp>
          <p:nvSpPr>
            <p:cNvPr id="2176078" name="Text Box 213"/>
            <p:cNvSpPr txBox="1">
              <a:spLocks noChangeArrowheads="1"/>
            </p:cNvSpPr>
            <p:nvPr/>
          </p:nvSpPr>
          <p:spPr bwMode="auto">
            <a:xfrm>
              <a:off x="9240336" y="2278650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cxnSp>
          <p:nvCxnSpPr>
            <p:cNvPr id="2176079" name="直接连接符 536"/>
            <p:cNvCxnSpPr>
              <a:cxnSpLocks noChangeShapeType="1"/>
              <a:stCxn id="2176043" idx="3"/>
            </p:cNvCxnSpPr>
            <p:nvPr/>
          </p:nvCxnSpPr>
          <p:spPr bwMode="auto">
            <a:xfrm flipV="1">
              <a:off x="7780216" y="2916568"/>
              <a:ext cx="973768" cy="11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76080" name="组合 990"/>
            <p:cNvGrpSpPr>
              <a:grpSpLocks/>
            </p:cNvGrpSpPr>
            <p:nvPr/>
          </p:nvGrpSpPr>
          <p:grpSpPr bwMode="auto">
            <a:xfrm>
              <a:off x="7856986" y="2637622"/>
              <a:ext cx="733355" cy="208066"/>
              <a:chOff x="1691680" y="1052736"/>
              <a:chExt cx="576064" cy="144016"/>
            </a:xfrm>
          </p:grpSpPr>
          <p:sp>
            <p:nvSpPr>
              <p:cNvPr id="2176081" name="矩形 82"/>
              <p:cNvSpPr>
                <a:spLocks noChangeArrowheads="1"/>
              </p:cNvSpPr>
              <p:nvPr/>
            </p:nvSpPr>
            <p:spPr bwMode="auto">
              <a:xfrm>
                <a:off x="1691680" y="1052736"/>
                <a:ext cx="360238" cy="144016"/>
              </a:xfrm>
              <a:prstGeom prst="rect">
                <a:avLst/>
              </a:prstGeom>
              <a:solidFill>
                <a:srgbClr val="D9D9D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cxnSp>
            <p:nvCxnSpPr>
              <p:cNvPr id="2176082" name="直接箭头连接符 988"/>
              <p:cNvCxnSpPr>
                <a:cxnSpLocks noChangeShapeType="1"/>
                <a:stCxn id="2176081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76083" name="Text Box 48"/>
            <p:cNvSpPr txBox="1">
              <a:spLocks noChangeArrowheads="1"/>
            </p:cNvSpPr>
            <p:nvPr/>
          </p:nvSpPr>
          <p:spPr bwMode="auto">
            <a:xfrm>
              <a:off x="7887290" y="136636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分公司</a:t>
              </a:r>
            </a:p>
          </p:txBody>
        </p:sp>
        <p:grpSp>
          <p:nvGrpSpPr>
            <p:cNvPr id="2176084" name="Group 352"/>
            <p:cNvGrpSpPr>
              <a:grpSpLocks/>
            </p:cNvGrpSpPr>
            <p:nvPr/>
          </p:nvGrpSpPr>
          <p:grpSpPr bwMode="auto">
            <a:xfrm>
              <a:off x="1917408" y="3305264"/>
              <a:ext cx="731336" cy="727089"/>
              <a:chOff x="624" y="2968"/>
              <a:chExt cx="1331" cy="920"/>
            </a:xfrm>
          </p:grpSpPr>
          <p:sp>
            <p:nvSpPr>
              <p:cNvPr id="2176085" name="Freeform 353"/>
              <p:cNvSpPr>
                <a:spLocks noChangeArrowheads="1"/>
              </p:cNvSpPr>
              <p:nvPr/>
            </p:nvSpPr>
            <p:spPr bwMode="auto">
              <a:xfrm>
                <a:off x="1238" y="2968"/>
                <a:ext cx="713" cy="770"/>
              </a:xfrm>
              <a:custGeom>
                <a:avLst/>
                <a:gdLst>
                  <a:gd name="T0" fmla="*/ 992 w 1426"/>
                  <a:gd name="T1" fmla="*/ 2292 h 2309"/>
                  <a:gd name="T2" fmla="*/ 964 w 1426"/>
                  <a:gd name="T3" fmla="*/ 2309 h 2309"/>
                  <a:gd name="T4" fmla="*/ 0 w 1426"/>
                  <a:gd name="T5" fmla="*/ 1462 h 2309"/>
                  <a:gd name="T6" fmla="*/ 326 w 1426"/>
                  <a:gd name="T7" fmla="*/ 59 h 2309"/>
                  <a:gd name="T8" fmla="*/ 369 w 1426"/>
                  <a:gd name="T9" fmla="*/ 18 h 2309"/>
                  <a:gd name="T10" fmla="*/ 414 w 1426"/>
                  <a:gd name="T11" fmla="*/ 0 h 2309"/>
                  <a:gd name="T12" fmla="*/ 457 w 1426"/>
                  <a:gd name="T13" fmla="*/ 9 h 2309"/>
                  <a:gd name="T14" fmla="*/ 1381 w 1426"/>
                  <a:gd name="T15" fmla="*/ 400 h 2309"/>
                  <a:gd name="T16" fmla="*/ 1411 w 1426"/>
                  <a:gd name="T17" fmla="*/ 421 h 2309"/>
                  <a:gd name="T18" fmla="*/ 1422 w 1426"/>
                  <a:gd name="T19" fmla="*/ 425 h 2309"/>
                  <a:gd name="T20" fmla="*/ 1426 w 1426"/>
                  <a:gd name="T21" fmla="*/ 445 h 2309"/>
                  <a:gd name="T22" fmla="*/ 1017 w 1426"/>
                  <a:gd name="T23" fmla="*/ 2306 h 2309"/>
                  <a:gd name="T24" fmla="*/ 992 w 1426"/>
                  <a:gd name="T25" fmla="*/ 2292 h 2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6" h="2309">
                    <a:moveTo>
                      <a:pt x="992" y="2292"/>
                    </a:moveTo>
                    <a:lnTo>
                      <a:pt x="964" y="2309"/>
                    </a:lnTo>
                    <a:lnTo>
                      <a:pt x="0" y="1462"/>
                    </a:lnTo>
                    <a:lnTo>
                      <a:pt x="326" y="59"/>
                    </a:lnTo>
                    <a:lnTo>
                      <a:pt x="369" y="18"/>
                    </a:lnTo>
                    <a:lnTo>
                      <a:pt x="414" y="0"/>
                    </a:lnTo>
                    <a:lnTo>
                      <a:pt x="457" y="9"/>
                    </a:lnTo>
                    <a:lnTo>
                      <a:pt x="1381" y="400"/>
                    </a:lnTo>
                    <a:lnTo>
                      <a:pt x="1411" y="421"/>
                    </a:lnTo>
                    <a:lnTo>
                      <a:pt x="1422" y="425"/>
                    </a:lnTo>
                    <a:lnTo>
                      <a:pt x="1426" y="445"/>
                    </a:lnTo>
                    <a:lnTo>
                      <a:pt x="1017" y="2306"/>
                    </a:lnTo>
                    <a:lnTo>
                      <a:pt x="992" y="229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86" name="Freeform 354"/>
              <p:cNvSpPr>
                <a:spLocks noChangeArrowheads="1"/>
              </p:cNvSpPr>
              <p:nvPr/>
            </p:nvSpPr>
            <p:spPr bwMode="auto">
              <a:xfrm>
                <a:off x="1668" y="3087"/>
                <a:ext cx="286" cy="660"/>
              </a:xfrm>
              <a:custGeom>
                <a:avLst/>
                <a:gdLst>
                  <a:gd name="T0" fmla="*/ 573 w 573"/>
                  <a:gd name="T1" fmla="*/ 86 h 1980"/>
                  <a:gd name="T2" fmla="*/ 568 w 573"/>
                  <a:gd name="T3" fmla="*/ 132 h 1980"/>
                  <a:gd name="T4" fmla="*/ 155 w 573"/>
                  <a:gd name="T5" fmla="*/ 1923 h 1980"/>
                  <a:gd name="T6" fmla="*/ 151 w 573"/>
                  <a:gd name="T7" fmla="*/ 1955 h 1980"/>
                  <a:gd name="T8" fmla="*/ 140 w 573"/>
                  <a:gd name="T9" fmla="*/ 1972 h 1980"/>
                  <a:gd name="T10" fmla="*/ 125 w 573"/>
                  <a:gd name="T11" fmla="*/ 1980 h 1980"/>
                  <a:gd name="T12" fmla="*/ 111 w 573"/>
                  <a:gd name="T13" fmla="*/ 1975 h 1980"/>
                  <a:gd name="T14" fmla="*/ 86 w 573"/>
                  <a:gd name="T15" fmla="*/ 1955 h 1980"/>
                  <a:gd name="T16" fmla="*/ 0 w 573"/>
                  <a:gd name="T17" fmla="*/ 1880 h 1980"/>
                  <a:gd name="T18" fmla="*/ 425 w 573"/>
                  <a:gd name="T19" fmla="*/ 39 h 1980"/>
                  <a:gd name="T20" fmla="*/ 420 w 573"/>
                  <a:gd name="T21" fmla="*/ 27 h 1980"/>
                  <a:gd name="T22" fmla="*/ 396 w 573"/>
                  <a:gd name="T23" fmla="*/ 0 h 1980"/>
                  <a:gd name="T24" fmla="*/ 445 w 573"/>
                  <a:gd name="T25" fmla="*/ 20 h 1980"/>
                  <a:gd name="T26" fmla="*/ 541 w 573"/>
                  <a:gd name="T27" fmla="*/ 61 h 1980"/>
                  <a:gd name="T28" fmla="*/ 559 w 573"/>
                  <a:gd name="T29" fmla="*/ 75 h 1980"/>
                  <a:gd name="T30" fmla="*/ 573 w 573"/>
                  <a:gd name="T31" fmla="*/ 86 h 19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73" h="1980">
                    <a:moveTo>
                      <a:pt x="573" y="86"/>
                    </a:moveTo>
                    <a:lnTo>
                      <a:pt x="568" y="132"/>
                    </a:lnTo>
                    <a:lnTo>
                      <a:pt x="155" y="1923"/>
                    </a:lnTo>
                    <a:lnTo>
                      <a:pt x="151" y="1955"/>
                    </a:lnTo>
                    <a:lnTo>
                      <a:pt x="140" y="1972"/>
                    </a:lnTo>
                    <a:lnTo>
                      <a:pt x="125" y="1980"/>
                    </a:lnTo>
                    <a:lnTo>
                      <a:pt x="111" y="1975"/>
                    </a:lnTo>
                    <a:lnTo>
                      <a:pt x="86" y="1955"/>
                    </a:lnTo>
                    <a:lnTo>
                      <a:pt x="0" y="1880"/>
                    </a:lnTo>
                    <a:lnTo>
                      <a:pt x="425" y="39"/>
                    </a:lnTo>
                    <a:lnTo>
                      <a:pt x="420" y="27"/>
                    </a:lnTo>
                    <a:lnTo>
                      <a:pt x="396" y="0"/>
                    </a:lnTo>
                    <a:lnTo>
                      <a:pt x="445" y="20"/>
                    </a:lnTo>
                    <a:lnTo>
                      <a:pt x="541" y="61"/>
                    </a:lnTo>
                    <a:lnTo>
                      <a:pt x="559" y="75"/>
                    </a:lnTo>
                    <a:lnTo>
                      <a:pt x="573" y="86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20202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87" name="Freeform 355"/>
              <p:cNvSpPr>
                <a:spLocks noChangeArrowheads="1"/>
              </p:cNvSpPr>
              <p:nvPr/>
            </p:nvSpPr>
            <p:spPr bwMode="auto">
              <a:xfrm>
                <a:off x="1432" y="2970"/>
                <a:ext cx="523" cy="147"/>
              </a:xfrm>
              <a:custGeom>
                <a:avLst/>
                <a:gdLst>
                  <a:gd name="T0" fmla="*/ 0 w 1045"/>
                  <a:gd name="T1" fmla="*/ 0 h 441"/>
                  <a:gd name="T2" fmla="*/ 31 w 1045"/>
                  <a:gd name="T3" fmla="*/ 1 h 441"/>
                  <a:gd name="T4" fmla="*/ 62 w 1045"/>
                  <a:gd name="T5" fmla="*/ 10 h 441"/>
                  <a:gd name="T6" fmla="*/ 1005 w 1045"/>
                  <a:gd name="T7" fmla="*/ 409 h 441"/>
                  <a:gd name="T8" fmla="*/ 1037 w 1045"/>
                  <a:gd name="T9" fmla="*/ 427 h 441"/>
                  <a:gd name="T10" fmla="*/ 1045 w 1045"/>
                  <a:gd name="T11" fmla="*/ 441 h 441"/>
                  <a:gd name="T12" fmla="*/ 0 w 1045"/>
                  <a:gd name="T13" fmla="*/ 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45" h="441">
                    <a:moveTo>
                      <a:pt x="0" y="0"/>
                    </a:moveTo>
                    <a:lnTo>
                      <a:pt x="31" y="1"/>
                    </a:lnTo>
                    <a:lnTo>
                      <a:pt x="62" y="10"/>
                    </a:lnTo>
                    <a:lnTo>
                      <a:pt x="1005" y="409"/>
                    </a:lnTo>
                    <a:lnTo>
                      <a:pt x="1037" y="427"/>
                    </a:lnTo>
                    <a:lnTo>
                      <a:pt x="1045" y="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20202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88" name="Freeform 356"/>
              <p:cNvSpPr>
                <a:spLocks noChangeArrowheads="1"/>
              </p:cNvSpPr>
              <p:nvPr/>
            </p:nvSpPr>
            <p:spPr bwMode="auto">
              <a:xfrm>
                <a:off x="1315" y="3056"/>
                <a:ext cx="478" cy="573"/>
              </a:xfrm>
              <a:custGeom>
                <a:avLst/>
                <a:gdLst>
                  <a:gd name="T0" fmla="*/ 619 w 955"/>
                  <a:gd name="T1" fmla="*/ 1719 h 1719"/>
                  <a:gd name="T2" fmla="*/ 0 w 955"/>
                  <a:gd name="T3" fmla="*/ 1212 h 1719"/>
                  <a:gd name="T4" fmla="*/ 290 w 955"/>
                  <a:gd name="T5" fmla="*/ 0 h 1719"/>
                  <a:gd name="T6" fmla="*/ 955 w 955"/>
                  <a:gd name="T7" fmla="*/ 313 h 1719"/>
                  <a:gd name="T8" fmla="*/ 619 w 955"/>
                  <a:gd name="T9" fmla="*/ 1719 h 1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5" h="1719">
                    <a:moveTo>
                      <a:pt x="619" y="1719"/>
                    </a:moveTo>
                    <a:lnTo>
                      <a:pt x="0" y="1212"/>
                    </a:lnTo>
                    <a:lnTo>
                      <a:pt x="290" y="0"/>
                    </a:lnTo>
                    <a:lnTo>
                      <a:pt x="955" y="313"/>
                    </a:lnTo>
                    <a:lnTo>
                      <a:pt x="619" y="1719"/>
                    </a:lnTo>
                    <a:close/>
                  </a:path>
                </a:pathLst>
              </a:custGeom>
              <a:solidFill>
                <a:srgbClr val="000000"/>
              </a:solidFill>
              <a:ln w="7938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89" name="Freeform 357"/>
              <p:cNvSpPr>
                <a:spLocks noChangeArrowheads="1"/>
              </p:cNvSpPr>
              <p:nvPr/>
            </p:nvSpPr>
            <p:spPr bwMode="auto">
              <a:xfrm>
                <a:off x="1337" y="3076"/>
                <a:ext cx="431" cy="529"/>
              </a:xfrm>
              <a:custGeom>
                <a:avLst/>
                <a:gdLst>
                  <a:gd name="T0" fmla="*/ 546 w 862"/>
                  <a:gd name="T1" fmla="*/ 1587 h 1587"/>
                  <a:gd name="T2" fmla="*/ 0 w 862"/>
                  <a:gd name="T3" fmla="*/ 1134 h 1587"/>
                  <a:gd name="T4" fmla="*/ 272 w 862"/>
                  <a:gd name="T5" fmla="*/ 0 h 1587"/>
                  <a:gd name="T6" fmla="*/ 862 w 862"/>
                  <a:gd name="T7" fmla="*/ 268 h 1587"/>
                  <a:gd name="T8" fmla="*/ 546 w 862"/>
                  <a:gd name="T9" fmla="*/ 1587 h 1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1587">
                    <a:moveTo>
                      <a:pt x="546" y="1587"/>
                    </a:moveTo>
                    <a:lnTo>
                      <a:pt x="0" y="1134"/>
                    </a:lnTo>
                    <a:lnTo>
                      <a:pt x="272" y="0"/>
                    </a:lnTo>
                    <a:lnTo>
                      <a:pt x="862" y="268"/>
                    </a:lnTo>
                    <a:lnTo>
                      <a:pt x="546" y="1587"/>
                    </a:lnTo>
                    <a:close/>
                  </a:path>
                </a:pathLst>
              </a:custGeom>
              <a:solidFill>
                <a:srgbClr val="C7C7C7"/>
              </a:solidFill>
              <a:ln w="7938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0" name="Freeform 358"/>
              <p:cNvSpPr>
                <a:spLocks noChangeArrowheads="1"/>
              </p:cNvSpPr>
              <p:nvPr/>
            </p:nvSpPr>
            <p:spPr bwMode="auto">
              <a:xfrm>
                <a:off x="1233" y="2968"/>
                <a:ext cx="203" cy="494"/>
              </a:xfrm>
              <a:custGeom>
                <a:avLst/>
                <a:gdLst>
                  <a:gd name="T0" fmla="*/ 393 w 408"/>
                  <a:gd name="T1" fmla="*/ 0 h 1480"/>
                  <a:gd name="T2" fmla="*/ 370 w 408"/>
                  <a:gd name="T3" fmla="*/ 11 h 1480"/>
                  <a:gd name="T4" fmla="*/ 356 w 408"/>
                  <a:gd name="T5" fmla="*/ 19 h 1480"/>
                  <a:gd name="T6" fmla="*/ 338 w 408"/>
                  <a:gd name="T7" fmla="*/ 37 h 1480"/>
                  <a:gd name="T8" fmla="*/ 325 w 408"/>
                  <a:gd name="T9" fmla="*/ 59 h 1480"/>
                  <a:gd name="T10" fmla="*/ 320 w 408"/>
                  <a:gd name="T11" fmla="*/ 77 h 1480"/>
                  <a:gd name="T12" fmla="*/ 0 w 408"/>
                  <a:gd name="T13" fmla="*/ 1459 h 1480"/>
                  <a:gd name="T14" fmla="*/ 12 w 408"/>
                  <a:gd name="T15" fmla="*/ 1480 h 1480"/>
                  <a:gd name="T16" fmla="*/ 337 w 408"/>
                  <a:gd name="T17" fmla="*/ 77 h 1480"/>
                  <a:gd name="T18" fmla="*/ 346 w 408"/>
                  <a:gd name="T19" fmla="*/ 57 h 1480"/>
                  <a:gd name="T20" fmla="*/ 355 w 408"/>
                  <a:gd name="T21" fmla="*/ 43 h 1480"/>
                  <a:gd name="T22" fmla="*/ 368 w 408"/>
                  <a:gd name="T23" fmla="*/ 30 h 1480"/>
                  <a:gd name="T24" fmla="*/ 384 w 408"/>
                  <a:gd name="T25" fmla="*/ 19 h 1480"/>
                  <a:gd name="T26" fmla="*/ 400 w 408"/>
                  <a:gd name="T27" fmla="*/ 12 h 1480"/>
                  <a:gd name="T28" fmla="*/ 408 w 408"/>
                  <a:gd name="T29" fmla="*/ 5 h 1480"/>
                  <a:gd name="T30" fmla="*/ 393 w 408"/>
                  <a:gd name="T31" fmla="*/ 0 h 1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8" h="1480">
                    <a:moveTo>
                      <a:pt x="393" y="0"/>
                    </a:moveTo>
                    <a:lnTo>
                      <a:pt x="370" y="11"/>
                    </a:lnTo>
                    <a:lnTo>
                      <a:pt x="356" y="19"/>
                    </a:lnTo>
                    <a:lnTo>
                      <a:pt x="338" y="37"/>
                    </a:lnTo>
                    <a:lnTo>
                      <a:pt x="325" y="59"/>
                    </a:lnTo>
                    <a:lnTo>
                      <a:pt x="320" y="77"/>
                    </a:lnTo>
                    <a:lnTo>
                      <a:pt x="0" y="1459"/>
                    </a:lnTo>
                    <a:lnTo>
                      <a:pt x="12" y="1480"/>
                    </a:lnTo>
                    <a:lnTo>
                      <a:pt x="337" y="77"/>
                    </a:lnTo>
                    <a:lnTo>
                      <a:pt x="346" y="57"/>
                    </a:lnTo>
                    <a:lnTo>
                      <a:pt x="355" y="43"/>
                    </a:lnTo>
                    <a:lnTo>
                      <a:pt x="368" y="30"/>
                    </a:lnTo>
                    <a:lnTo>
                      <a:pt x="384" y="19"/>
                    </a:lnTo>
                    <a:lnTo>
                      <a:pt x="400" y="12"/>
                    </a:lnTo>
                    <a:lnTo>
                      <a:pt x="408" y="5"/>
                    </a:lnTo>
                    <a:lnTo>
                      <a:pt x="393" y="0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1" name="Freeform 359"/>
              <p:cNvSpPr>
                <a:spLocks noChangeArrowheads="1"/>
              </p:cNvSpPr>
              <p:nvPr/>
            </p:nvSpPr>
            <p:spPr bwMode="auto">
              <a:xfrm>
                <a:off x="1204" y="3479"/>
                <a:ext cx="532" cy="321"/>
              </a:xfrm>
              <a:custGeom>
                <a:avLst/>
                <a:gdLst>
                  <a:gd name="T0" fmla="*/ 1065 w 1065"/>
                  <a:gd name="T1" fmla="*/ 963 h 963"/>
                  <a:gd name="T2" fmla="*/ 1047 w 1065"/>
                  <a:gd name="T3" fmla="*/ 833 h 963"/>
                  <a:gd name="T4" fmla="*/ 1015 w 1065"/>
                  <a:gd name="T5" fmla="*/ 776 h 963"/>
                  <a:gd name="T6" fmla="*/ 137 w 1065"/>
                  <a:gd name="T7" fmla="*/ 3 h 963"/>
                  <a:gd name="T8" fmla="*/ 96 w 1065"/>
                  <a:gd name="T9" fmla="*/ 0 h 963"/>
                  <a:gd name="T10" fmla="*/ 59 w 1065"/>
                  <a:gd name="T11" fmla="*/ 3 h 963"/>
                  <a:gd name="T12" fmla="*/ 32 w 1065"/>
                  <a:gd name="T13" fmla="*/ 42 h 963"/>
                  <a:gd name="T14" fmla="*/ 0 w 1065"/>
                  <a:gd name="T15" fmla="*/ 145 h 963"/>
                  <a:gd name="T16" fmla="*/ 865 w 1065"/>
                  <a:gd name="T17" fmla="*/ 954 h 963"/>
                  <a:gd name="T18" fmla="*/ 1065 w 1065"/>
                  <a:gd name="T19" fmla="*/ 963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5" h="963">
                    <a:moveTo>
                      <a:pt x="1065" y="963"/>
                    </a:moveTo>
                    <a:lnTo>
                      <a:pt x="1047" y="833"/>
                    </a:lnTo>
                    <a:lnTo>
                      <a:pt x="1015" y="776"/>
                    </a:lnTo>
                    <a:lnTo>
                      <a:pt x="137" y="3"/>
                    </a:lnTo>
                    <a:lnTo>
                      <a:pt x="96" y="0"/>
                    </a:lnTo>
                    <a:lnTo>
                      <a:pt x="59" y="3"/>
                    </a:lnTo>
                    <a:lnTo>
                      <a:pt x="32" y="42"/>
                    </a:lnTo>
                    <a:lnTo>
                      <a:pt x="0" y="145"/>
                    </a:lnTo>
                    <a:lnTo>
                      <a:pt x="865" y="954"/>
                    </a:lnTo>
                    <a:lnTo>
                      <a:pt x="1065" y="963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2" name="Freeform 360"/>
              <p:cNvSpPr>
                <a:spLocks noChangeArrowheads="1"/>
              </p:cNvSpPr>
              <p:nvPr/>
            </p:nvSpPr>
            <p:spPr bwMode="auto">
              <a:xfrm>
                <a:off x="642" y="3519"/>
                <a:ext cx="985" cy="288"/>
              </a:xfrm>
              <a:custGeom>
                <a:avLst/>
                <a:gdLst>
                  <a:gd name="T0" fmla="*/ 0 w 1969"/>
                  <a:gd name="T1" fmla="*/ 0 h 862"/>
                  <a:gd name="T2" fmla="*/ 1121 w 1969"/>
                  <a:gd name="T3" fmla="*/ 24 h 862"/>
                  <a:gd name="T4" fmla="*/ 1969 w 1969"/>
                  <a:gd name="T5" fmla="*/ 814 h 862"/>
                  <a:gd name="T6" fmla="*/ 478 w 1969"/>
                  <a:gd name="T7" fmla="*/ 862 h 862"/>
                  <a:gd name="T8" fmla="*/ 0 w 1969"/>
                  <a:gd name="T9" fmla="*/ 0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9" h="862">
                    <a:moveTo>
                      <a:pt x="0" y="0"/>
                    </a:moveTo>
                    <a:lnTo>
                      <a:pt x="1121" y="24"/>
                    </a:lnTo>
                    <a:lnTo>
                      <a:pt x="1969" y="814"/>
                    </a:lnTo>
                    <a:lnTo>
                      <a:pt x="478" y="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3" name="Freeform 361"/>
              <p:cNvSpPr>
                <a:spLocks noChangeArrowheads="1"/>
              </p:cNvSpPr>
              <p:nvPr/>
            </p:nvSpPr>
            <p:spPr bwMode="auto">
              <a:xfrm>
                <a:off x="852" y="3789"/>
                <a:ext cx="889" cy="99"/>
              </a:xfrm>
              <a:custGeom>
                <a:avLst/>
                <a:gdLst>
                  <a:gd name="T0" fmla="*/ 54 w 1777"/>
                  <a:gd name="T1" fmla="*/ 52 h 297"/>
                  <a:gd name="T2" fmla="*/ 0 w 1777"/>
                  <a:gd name="T3" fmla="*/ 297 h 297"/>
                  <a:gd name="T4" fmla="*/ 1759 w 1777"/>
                  <a:gd name="T5" fmla="*/ 257 h 297"/>
                  <a:gd name="T6" fmla="*/ 1777 w 1777"/>
                  <a:gd name="T7" fmla="*/ 173 h 297"/>
                  <a:gd name="T8" fmla="*/ 1773 w 1777"/>
                  <a:gd name="T9" fmla="*/ 74 h 297"/>
                  <a:gd name="T10" fmla="*/ 1768 w 1777"/>
                  <a:gd name="T11" fmla="*/ 0 h 297"/>
                  <a:gd name="T12" fmla="*/ 54 w 1777"/>
                  <a:gd name="T13" fmla="*/ 52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77" h="297">
                    <a:moveTo>
                      <a:pt x="54" y="52"/>
                    </a:moveTo>
                    <a:lnTo>
                      <a:pt x="0" y="297"/>
                    </a:lnTo>
                    <a:lnTo>
                      <a:pt x="1759" y="257"/>
                    </a:lnTo>
                    <a:lnTo>
                      <a:pt x="1777" y="173"/>
                    </a:lnTo>
                    <a:lnTo>
                      <a:pt x="1773" y="74"/>
                    </a:lnTo>
                    <a:lnTo>
                      <a:pt x="1768" y="0"/>
                    </a:lnTo>
                    <a:lnTo>
                      <a:pt x="54" y="52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4" name="Freeform 362"/>
              <p:cNvSpPr>
                <a:spLocks noChangeArrowheads="1"/>
              </p:cNvSpPr>
              <p:nvPr/>
            </p:nvSpPr>
            <p:spPr bwMode="auto">
              <a:xfrm>
                <a:off x="624" y="3519"/>
                <a:ext cx="256" cy="369"/>
              </a:xfrm>
              <a:custGeom>
                <a:avLst/>
                <a:gdLst>
                  <a:gd name="T0" fmla="*/ 37 w 513"/>
                  <a:gd name="T1" fmla="*/ 0 h 1106"/>
                  <a:gd name="T2" fmla="*/ 0 w 513"/>
                  <a:gd name="T3" fmla="*/ 200 h 1106"/>
                  <a:gd name="T4" fmla="*/ 457 w 513"/>
                  <a:gd name="T5" fmla="*/ 1106 h 1106"/>
                  <a:gd name="T6" fmla="*/ 513 w 513"/>
                  <a:gd name="T7" fmla="*/ 862 h 1106"/>
                  <a:gd name="T8" fmla="*/ 37 w 513"/>
                  <a:gd name="T9" fmla="*/ 0 h 1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3" h="1106">
                    <a:moveTo>
                      <a:pt x="37" y="0"/>
                    </a:moveTo>
                    <a:lnTo>
                      <a:pt x="0" y="200"/>
                    </a:lnTo>
                    <a:lnTo>
                      <a:pt x="457" y="1106"/>
                    </a:lnTo>
                    <a:lnTo>
                      <a:pt x="513" y="86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5" name="Freeform 363"/>
              <p:cNvSpPr>
                <a:spLocks noChangeArrowheads="1"/>
              </p:cNvSpPr>
              <p:nvPr/>
            </p:nvSpPr>
            <p:spPr bwMode="auto">
              <a:xfrm>
                <a:off x="1206" y="3791"/>
                <a:ext cx="132" cy="8"/>
              </a:xfrm>
              <a:custGeom>
                <a:avLst/>
                <a:gdLst>
                  <a:gd name="T0" fmla="*/ 2 w 262"/>
                  <a:gd name="T1" fmla="*/ 25 h 25"/>
                  <a:gd name="T2" fmla="*/ 0 w 262"/>
                  <a:gd name="T3" fmla="*/ 0 h 25"/>
                  <a:gd name="T4" fmla="*/ 249 w 262"/>
                  <a:gd name="T5" fmla="*/ 0 h 25"/>
                  <a:gd name="T6" fmla="*/ 262 w 262"/>
                  <a:gd name="T7" fmla="*/ 19 h 25"/>
                  <a:gd name="T8" fmla="*/ 2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2" y="25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62" y="19"/>
                    </a:lnTo>
                    <a:lnTo>
                      <a:pt x="2" y="25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6096" name="Freeform 364"/>
              <p:cNvSpPr>
                <a:spLocks noChangeArrowheads="1"/>
              </p:cNvSpPr>
              <p:nvPr/>
            </p:nvSpPr>
            <p:spPr bwMode="auto">
              <a:xfrm>
                <a:off x="927" y="3521"/>
                <a:ext cx="281" cy="279"/>
              </a:xfrm>
              <a:custGeom>
                <a:avLst/>
                <a:gdLst>
                  <a:gd name="T0" fmla="*/ 557 w 561"/>
                  <a:gd name="T1" fmla="*/ 801 h 836"/>
                  <a:gd name="T2" fmla="*/ 0 w 561"/>
                  <a:gd name="T3" fmla="*/ 0 h 836"/>
                  <a:gd name="T4" fmla="*/ 561 w 561"/>
                  <a:gd name="T5" fmla="*/ 836 h 836"/>
                  <a:gd name="T6" fmla="*/ 557 w 561"/>
                  <a:gd name="T7" fmla="*/ 801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1" h="836">
                    <a:moveTo>
                      <a:pt x="557" y="801"/>
                    </a:moveTo>
                    <a:lnTo>
                      <a:pt x="0" y="0"/>
                    </a:lnTo>
                    <a:lnTo>
                      <a:pt x="561" y="836"/>
                    </a:lnTo>
                    <a:lnTo>
                      <a:pt x="557" y="801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76097" name="Group 365"/>
              <p:cNvGrpSpPr>
                <a:grpSpLocks/>
              </p:cNvGrpSpPr>
              <p:nvPr/>
            </p:nvGrpSpPr>
            <p:grpSpPr bwMode="auto">
              <a:xfrm>
                <a:off x="700" y="3526"/>
                <a:ext cx="515" cy="270"/>
                <a:chOff x="700" y="3526"/>
                <a:chExt cx="515" cy="270"/>
              </a:xfrm>
            </p:grpSpPr>
            <p:grpSp>
              <p:nvGrpSpPr>
                <p:cNvPr id="2176098" name="Group 366"/>
                <p:cNvGrpSpPr>
                  <a:grpSpLocks/>
                </p:cNvGrpSpPr>
                <p:nvPr/>
              </p:nvGrpSpPr>
              <p:grpSpPr bwMode="auto">
                <a:xfrm>
                  <a:off x="737" y="3534"/>
                  <a:ext cx="49" cy="23"/>
                  <a:chOff x="737" y="3534"/>
                  <a:chExt cx="49" cy="23"/>
                </a:xfrm>
              </p:grpSpPr>
              <p:sp>
                <p:nvSpPr>
                  <p:cNvPr id="2176099" name="Freeform 367"/>
                  <p:cNvSpPr>
                    <a:spLocks noChangeArrowheads="1"/>
                  </p:cNvSpPr>
                  <p:nvPr/>
                </p:nvSpPr>
                <p:spPr bwMode="auto">
                  <a:xfrm>
                    <a:off x="737" y="3534"/>
                    <a:ext cx="11" cy="23"/>
                  </a:xfrm>
                  <a:custGeom>
                    <a:avLst/>
                    <a:gdLst>
                      <a:gd name="T0" fmla="*/ 13 w 22"/>
                      <a:gd name="T1" fmla="*/ 67 h 67"/>
                      <a:gd name="T2" fmla="*/ 0 w 22"/>
                      <a:gd name="T3" fmla="*/ 26 h 67"/>
                      <a:gd name="T4" fmla="*/ 9 w 22"/>
                      <a:gd name="T5" fmla="*/ 0 h 67"/>
                      <a:gd name="T6" fmla="*/ 22 w 22"/>
                      <a:gd name="T7" fmla="*/ 30 h 67"/>
                      <a:gd name="T8" fmla="*/ 13 w 22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7">
                        <a:moveTo>
                          <a:pt x="13" y="67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7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00" name="Freeform 368"/>
                  <p:cNvSpPr>
                    <a:spLocks noChangeArrowheads="1"/>
                  </p:cNvSpPr>
                  <p:nvPr/>
                </p:nvSpPr>
                <p:spPr bwMode="auto">
                  <a:xfrm>
                    <a:off x="742" y="3535"/>
                    <a:ext cx="36" cy="9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5 w 73"/>
                      <a:gd name="T7" fmla="*/ 11 h 29"/>
                      <a:gd name="T8" fmla="*/ 73 w 73"/>
                      <a:gd name="T9" fmla="*/ 29 h 29"/>
                      <a:gd name="T10" fmla="*/ 17 w 73"/>
                      <a:gd name="T11" fmla="*/ 29 h 29"/>
                      <a:gd name="T12" fmla="*/ 8 w 73"/>
                      <a:gd name="T13" fmla="*/ 20 h 29"/>
                      <a:gd name="T14" fmla="*/ 0 w 73"/>
                      <a:gd name="T15" fmla="*/ 6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5" y="11"/>
                        </a:lnTo>
                        <a:lnTo>
                          <a:pt x="73" y="29"/>
                        </a:lnTo>
                        <a:lnTo>
                          <a:pt x="17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01" name="Freeform 369"/>
                  <p:cNvSpPr>
                    <a:spLocks noChangeArrowheads="1"/>
                  </p:cNvSpPr>
                  <p:nvPr/>
                </p:nvSpPr>
                <p:spPr bwMode="auto">
                  <a:xfrm>
                    <a:off x="744" y="3545"/>
                    <a:ext cx="42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1 w 82"/>
                      <a:gd name="T3" fmla="*/ 19 h 35"/>
                      <a:gd name="T4" fmla="*/ 6 w 82"/>
                      <a:gd name="T5" fmla="*/ 7 h 35"/>
                      <a:gd name="T6" fmla="*/ 10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02" name="Group 370"/>
                <p:cNvGrpSpPr>
                  <a:grpSpLocks/>
                </p:cNvGrpSpPr>
                <p:nvPr/>
              </p:nvGrpSpPr>
              <p:grpSpPr bwMode="auto">
                <a:xfrm>
                  <a:off x="748" y="3547"/>
                  <a:ext cx="50" cy="23"/>
                  <a:chOff x="748" y="3547"/>
                  <a:chExt cx="50" cy="23"/>
                </a:xfrm>
              </p:grpSpPr>
              <p:sp>
                <p:nvSpPr>
                  <p:cNvPr id="2176103" name="Freeform 371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3547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04" name="Freeform 372"/>
                  <p:cNvSpPr>
                    <a:spLocks noChangeArrowheads="1"/>
                  </p:cNvSpPr>
                  <p:nvPr/>
                </p:nvSpPr>
                <p:spPr bwMode="auto">
                  <a:xfrm>
                    <a:off x="753" y="3548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05" name="Freeform 373"/>
                  <p:cNvSpPr>
                    <a:spLocks noChangeArrowheads="1"/>
                  </p:cNvSpPr>
                  <p:nvPr/>
                </p:nvSpPr>
                <p:spPr bwMode="auto">
                  <a:xfrm>
                    <a:off x="757" y="3558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0 h 36"/>
                      <a:gd name="T4" fmla="*/ 5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6106" name="Freeform 374"/>
                <p:cNvSpPr>
                  <a:spLocks noChangeArrowheads="1"/>
                </p:cNvSpPr>
                <p:nvPr/>
              </p:nvSpPr>
              <p:spPr bwMode="auto">
                <a:xfrm>
                  <a:off x="952" y="3538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107" name="Freeform 375"/>
                <p:cNvSpPr>
                  <a:spLocks noChangeArrowheads="1"/>
                </p:cNvSpPr>
                <p:nvPr/>
              </p:nvSpPr>
              <p:spPr bwMode="auto">
                <a:xfrm>
                  <a:off x="861" y="3535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108" name="Freeform 376"/>
                <p:cNvSpPr>
                  <a:spLocks noChangeArrowheads="1"/>
                </p:cNvSpPr>
                <p:nvPr/>
              </p:nvSpPr>
              <p:spPr bwMode="auto">
                <a:xfrm>
                  <a:off x="867" y="3535"/>
                  <a:ext cx="34" cy="10"/>
                </a:xfrm>
                <a:custGeom>
                  <a:avLst/>
                  <a:gdLst>
                    <a:gd name="T0" fmla="*/ 0 w 70"/>
                    <a:gd name="T1" fmla="*/ 0 h 30"/>
                    <a:gd name="T2" fmla="*/ 49 w 70"/>
                    <a:gd name="T3" fmla="*/ 0 h 30"/>
                    <a:gd name="T4" fmla="*/ 50 w 70"/>
                    <a:gd name="T5" fmla="*/ 3 h 30"/>
                    <a:gd name="T6" fmla="*/ 54 w 70"/>
                    <a:gd name="T7" fmla="*/ 13 h 30"/>
                    <a:gd name="T8" fmla="*/ 70 w 70"/>
                    <a:gd name="T9" fmla="*/ 30 h 30"/>
                    <a:gd name="T10" fmla="*/ 16 w 70"/>
                    <a:gd name="T11" fmla="*/ 30 h 30"/>
                    <a:gd name="T12" fmla="*/ 7 w 70"/>
                    <a:gd name="T13" fmla="*/ 21 h 30"/>
                    <a:gd name="T14" fmla="*/ 0 w 70"/>
                    <a:gd name="T15" fmla="*/ 7 h 30"/>
                    <a:gd name="T16" fmla="*/ 0 w 70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0" h="30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4" y="13"/>
                      </a:lnTo>
                      <a:lnTo>
                        <a:pt x="70" y="30"/>
                      </a:lnTo>
                      <a:lnTo>
                        <a:pt x="16" y="30"/>
                      </a:lnTo>
                      <a:lnTo>
                        <a:pt x="7" y="21"/>
                      </a:ln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109" name="Freeform 377"/>
                <p:cNvSpPr>
                  <a:spLocks noChangeArrowheads="1"/>
                </p:cNvSpPr>
                <p:nvPr/>
              </p:nvSpPr>
              <p:spPr bwMode="auto">
                <a:xfrm>
                  <a:off x="868" y="3545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110" name="Group 378"/>
                <p:cNvGrpSpPr>
                  <a:grpSpLocks/>
                </p:cNvGrpSpPr>
                <p:nvPr/>
              </p:nvGrpSpPr>
              <p:grpSpPr bwMode="auto">
                <a:xfrm>
                  <a:off x="872" y="3547"/>
                  <a:ext cx="50" cy="23"/>
                  <a:chOff x="872" y="3547"/>
                  <a:chExt cx="50" cy="23"/>
                </a:xfrm>
              </p:grpSpPr>
              <p:sp>
                <p:nvSpPr>
                  <p:cNvPr id="2176111" name="Freeform 379"/>
                  <p:cNvSpPr>
                    <a:spLocks noChangeArrowheads="1"/>
                  </p:cNvSpPr>
                  <p:nvPr/>
                </p:nvSpPr>
                <p:spPr bwMode="auto">
                  <a:xfrm>
                    <a:off x="872" y="3547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12" name="Freeform 380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547"/>
                    <a:ext cx="36" cy="10"/>
                  </a:xfrm>
                  <a:custGeom>
                    <a:avLst/>
                    <a:gdLst>
                      <a:gd name="T0" fmla="*/ 2 w 73"/>
                      <a:gd name="T1" fmla="*/ 0 h 30"/>
                      <a:gd name="T2" fmla="*/ 49 w 73"/>
                      <a:gd name="T3" fmla="*/ 0 h 30"/>
                      <a:gd name="T4" fmla="*/ 50 w 73"/>
                      <a:gd name="T5" fmla="*/ 3 h 30"/>
                      <a:gd name="T6" fmla="*/ 57 w 73"/>
                      <a:gd name="T7" fmla="*/ 12 h 30"/>
                      <a:gd name="T8" fmla="*/ 73 w 73"/>
                      <a:gd name="T9" fmla="*/ 30 h 30"/>
                      <a:gd name="T10" fmla="*/ 19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2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3"/>
                        </a:lnTo>
                        <a:lnTo>
                          <a:pt x="57" y="12"/>
                        </a:lnTo>
                        <a:lnTo>
                          <a:pt x="73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13" name="Freeform 381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558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14" name="Group 382"/>
                <p:cNvGrpSpPr>
                  <a:grpSpLocks/>
                </p:cNvGrpSpPr>
                <p:nvPr/>
              </p:nvGrpSpPr>
              <p:grpSpPr bwMode="auto">
                <a:xfrm>
                  <a:off x="885" y="3559"/>
                  <a:ext cx="50" cy="23"/>
                  <a:chOff x="885" y="3559"/>
                  <a:chExt cx="50" cy="23"/>
                </a:xfrm>
              </p:grpSpPr>
              <p:sp>
                <p:nvSpPr>
                  <p:cNvPr id="2176115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885" y="3559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16" name="Freeform 384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560"/>
                    <a:ext cx="37" cy="10"/>
                  </a:xfrm>
                  <a:custGeom>
                    <a:avLst/>
                    <a:gdLst>
                      <a:gd name="T0" fmla="*/ 3 w 74"/>
                      <a:gd name="T1" fmla="*/ 0 h 30"/>
                      <a:gd name="T2" fmla="*/ 49 w 74"/>
                      <a:gd name="T3" fmla="*/ 0 h 30"/>
                      <a:gd name="T4" fmla="*/ 52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0 w 74"/>
                      <a:gd name="T13" fmla="*/ 21 h 30"/>
                      <a:gd name="T14" fmla="*/ 0 w 74"/>
                      <a:gd name="T15" fmla="*/ 6 h 30"/>
                      <a:gd name="T16" fmla="*/ 3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17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570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18" name="Group 386"/>
                <p:cNvGrpSpPr>
                  <a:grpSpLocks/>
                </p:cNvGrpSpPr>
                <p:nvPr/>
              </p:nvGrpSpPr>
              <p:grpSpPr bwMode="auto">
                <a:xfrm>
                  <a:off x="898" y="3571"/>
                  <a:ext cx="49" cy="23"/>
                  <a:chOff x="898" y="3571"/>
                  <a:chExt cx="49" cy="23"/>
                </a:xfrm>
              </p:grpSpPr>
              <p:sp>
                <p:nvSpPr>
                  <p:cNvPr id="2176119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898" y="3571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20" name="Freeform 38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572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11 w 75"/>
                      <a:gd name="T13" fmla="*/ 20 h 29"/>
                      <a:gd name="T14" fmla="*/ 0 w 75"/>
                      <a:gd name="T15" fmla="*/ 5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21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82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22" name="Group 390"/>
                <p:cNvGrpSpPr>
                  <a:grpSpLocks/>
                </p:cNvGrpSpPr>
                <p:nvPr/>
              </p:nvGrpSpPr>
              <p:grpSpPr bwMode="auto">
                <a:xfrm>
                  <a:off x="911" y="3585"/>
                  <a:ext cx="49" cy="23"/>
                  <a:chOff x="911" y="3585"/>
                  <a:chExt cx="49" cy="23"/>
                </a:xfrm>
              </p:grpSpPr>
              <p:sp>
                <p:nvSpPr>
                  <p:cNvPr id="2176123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585"/>
                    <a:ext cx="12" cy="23"/>
                  </a:xfrm>
                  <a:custGeom>
                    <a:avLst/>
                    <a:gdLst>
                      <a:gd name="T0" fmla="*/ 15 w 24"/>
                      <a:gd name="T1" fmla="*/ 69 h 69"/>
                      <a:gd name="T2" fmla="*/ 0 w 24"/>
                      <a:gd name="T3" fmla="*/ 27 h 69"/>
                      <a:gd name="T4" fmla="*/ 10 w 24"/>
                      <a:gd name="T5" fmla="*/ 0 h 69"/>
                      <a:gd name="T6" fmla="*/ 24 w 24"/>
                      <a:gd name="T7" fmla="*/ 32 h 69"/>
                      <a:gd name="T8" fmla="*/ 15 w 24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24" name="Freeform 392"/>
                  <p:cNvSpPr>
                    <a:spLocks noChangeArrowheads="1"/>
                  </p:cNvSpPr>
                  <p:nvPr/>
                </p:nvSpPr>
                <p:spPr bwMode="auto">
                  <a:xfrm>
                    <a:off x="915" y="3585"/>
                    <a:ext cx="38" cy="10"/>
                  </a:xfrm>
                  <a:custGeom>
                    <a:avLst/>
                    <a:gdLst>
                      <a:gd name="T0" fmla="*/ 3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1 h 30"/>
                      <a:gd name="T14" fmla="*/ 0 w 75"/>
                      <a:gd name="T15" fmla="*/ 6 h 30"/>
                      <a:gd name="T16" fmla="*/ 3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1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25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59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26" name="Group 394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99" cy="73"/>
                  <a:chOff x="923" y="3600"/>
                  <a:chExt cx="99" cy="73"/>
                </a:xfrm>
              </p:grpSpPr>
              <p:grpSp>
                <p:nvGrpSpPr>
                  <p:cNvPr id="2176127" name="Group 395"/>
                  <p:cNvGrpSpPr>
                    <a:grpSpLocks/>
                  </p:cNvGrpSpPr>
                  <p:nvPr/>
                </p:nvGrpSpPr>
                <p:grpSpPr bwMode="auto">
                  <a:xfrm>
                    <a:off x="923" y="3600"/>
                    <a:ext cx="49" cy="23"/>
                    <a:chOff x="923" y="3600"/>
                    <a:chExt cx="49" cy="23"/>
                  </a:xfrm>
                </p:grpSpPr>
                <p:sp>
                  <p:nvSpPr>
                    <p:cNvPr id="2176128" name="Freeform 3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3" y="3600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0 h 69"/>
                        <a:gd name="T8" fmla="*/ 13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3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0"/>
                          </a:lnTo>
                          <a:lnTo>
                            <a:pt x="13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29" name="Freeform 3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00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29"/>
                        <a:gd name="T2" fmla="*/ 50 w 75"/>
                        <a:gd name="T3" fmla="*/ 0 h 29"/>
                        <a:gd name="T4" fmla="*/ 52 w 75"/>
                        <a:gd name="T5" fmla="*/ 3 h 29"/>
                        <a:gd name="T6" fmla="*/ 57 w 75"/>
                        <a:gd name="T7" fmla="*/ 12 h 29"/>
                        <a:gd name="T8" fmla="*/ 75 w 75"/>
                        <a:gd name="T9" fmla="*/ 29 h 29"/>
                        <a:gd name="T10" fmla="*/ 19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6 h 29"/>
                        <a:gd name="T16" fmla="*/ 2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2"/>
                          </a:lnTo>
                          <a:lnTo>
                            <a:pt x="75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30" name="Freeform 3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0" y="3610"/>
                      <a:ext cx="42" cy="13"/>
                    </a:xfrm>
                    <a:custGeom>
                      <a:avLst/>
                      <a:gdLst>
                        <a:gd name="T0" fmla="*/ 0 w 82"/>
                        <a:gd name="T1" fmla="*/ 37 h 37"/>
                        <a:gd name="T2" fmla="*/ 2 w 82"/>
                        <a:gd name="T3" fmla="*/ 22 h 37"/>
                        <a:gd name="T4" fmla="*/ 7 w 82"/>
                        <a:gd name="T5" fmla="*/ 7 h 37"/>
                        <a:gd name="T6" fmla="*/ 13 w 82"/>
                        <a:gd name="T7" fmla="*/ 0 h 37"/>
                        <a:gd name="T8" fmla="*/ 69 w 82"/>
                        <a:gd name="T9" fmla="*/ 0 h 37"/>
                        <a:gd name="T10" fmla="*/ 82 w 82"/>
                        <a:gd name="T11" fmla="*/ 37 h 37"/>
                        <a:gd name="T12" fmla="*/ 0 w 82"/>
                        <a:gd name="T13" fmla="*/ 37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7">
                          <a:moveTo>
                            <a:pt x="0" y="37"/>
                          </a:moveTo>
                          <a:lnTo>
                            <a:pt x="2" y="22"/>
                          </a:lnTo>
                          <a:lnTo>
                            <a:pt x="7" y="7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2" y="37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31" name="Group 399"/>
                  <p:cNvGrpSpPr>
                    <a:grpSpLocks/>
                  </p:cNvGrpSpPr>
                  <p:nvPr/>
                </p:nvGrpSpPr>
                <p:grpSpPr bwMode="auto">
                  <a:xfrm>
                    <a:off x="935" y="3612"/>
                    <a:ext cx="48" cy="23"/>
                    <a:chOff x="935" y="3612"/>
                    <a:chExt cx="48" cy="23"/>
                  </a:xfrm>
                </p:grpSpPr>
                <p:sp>
                  <p:nvSpPr>
                    <p:cNvPr id="2176132" name="Freeform 4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5" y="3612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33" name="Freeform 4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9" y="3612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3 w 75"/>
                        <a:gd name="T5" fmla="*/ 3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3" y="3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34" name="Freeform 4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3" y="3623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2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35" name="Group 403"/>
                  <p:cNvGrpSpPr>
                    <a:grpSpLocks/>
                  </p:cNvGrpSpPr>
                  <p:nvPr/>
                </p:nvGrpSpPr>
                <p:grpSpPr bwMode="auto">
                  <a:xfrm>
                    <a:off x="947" y="3625"/>
                    <a:ext cx="50" cy="22"/>
                    <a:chOff x="947" y="3625"/>
                    <a:chExt cx="50" cy="22"/>
                  </a:xfrm>
                </p:grpSpPr>
                <p:sp>
                  <p:nvSpPr>
                    <p:cNvPr id="2176136" name="Freeform 4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7" y="3625"/>
                      <a:ext cx="13" cy="22"/>
                    </a:xfrm>
                    <a:custGeom>
                      <a:avLst/>
                      <a:gdLst>
                        <a:gd name="T0" fmla="*/ 14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4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37" name="Freeform 4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625"/>
                      <a:ext cx="36" cy="10"/>
                    </a:xfrm>
                    <a:custGeom>
                      <a:avLst/>
                      <a:gdLst>
                        <a:gd name="T0" fmla="*/ 2 w 73"/>
                        <a:gd name="T1" fmla="*/ 0 h 29"/>
                        <a:gd name="T2" fmla="*/ 50 w 73"/>
                        <a:gd name="T3" fmla="*/ 0 h 29"/>
                        <a:gd name="T4" fmla="*/ 51 w 73"/>
                        <a:gd name="T5" fmla="*/ 2 h 29"/>
                        <a:gd name="T6" fmla="*/ 57 w 73"/>
                        <a:gd name="T7" fmla="*/ 11 h 29"/>
                        <a:gd name="T8" fmla="*/ 73 w 73"/>
                        <a:gd name="T9" fmla="*/ 29 h 29"/>
                        <a:gd name="T10" fmla="*/ 19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5 h 29"/>
                        <a:gd name="T16" fmla="*/ 2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7" y="11"/>
                          </a:lnTo>
                          <a:lnTo>
                            <a:pt x="73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38" name="Freeform 4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5" y="3635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3 w 83"/>
                        <a:gd name="T3" fmla="*/ 20 h 36"/>
                        <a:gd name="T4" fmla="*/ 7 w 83"/>
                        <a:gd name="T5" fmla="*/ 8 h 36"/>
                        <a:gd name="T6" fmla="*/ 12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3" y="20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39" name="Group 407"/>
                  <p:cNvGrpSpPr>
                    <a:grpSpLocks/>
                  </p:cNvGrpSpPr>
                  <p:nvPr/>
                </p:nvGrpSpPr>
                <p:grpSpPr bwMode="auto">
                  <a:xfrm>
                    <a:off x="960" y="3637"/>
                    <a:ext cx="50" cy="23"/>
                    <a:chOff x="960" y="3637"/>
                    <a:chExt cx="50" cy="23"/>
                  </a:xfrm>
                </p:grpSpPr>
                <p:sp>
                  <p:nvSpPr>
                    <p:cNvPr id="2176140" name="Freeform 4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0" y="3637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7 h 69"/>
                        <a:gd name="T4" fmla="*/ 12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7"/>
                          </a:lnTo>
                          <a:lnTo>
                            <a:pt x="12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41" name="Freeform 4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5" y="3638"/>
                      <a:ext cx="37" cy="9"/>
                    </a:xfrm>
                    <a:custGeom>
                      <a:avLst/>
                      <a:gdLst>
                        <a:gd name="T0" fmla="*/ 3 w 74"/>
                        <a:gd name="T1" fmla="*/ 0 h 29"/>
                        <a:gd name="T2" fmla="*/ 49 w 74"/>
                        <a:gd name="T3" fmla="*/ 0 h 29"/>
                        <a:gd name="T4" fmla="*/ 53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9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5 h 29"/>
                        <a:gd name="T16" fmla="*/ 3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3" y="0"/>
                          </a:moveTo>
                          <a:lnTo>
                            <a:pt x="49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42" name="Freeform 4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8" y="3648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1 w 83"/>
                        <a:gd name="T3" fmla="*/ 19 h 35"/>
                        <a:gd name="T4" fmla="*/ 6 w 83"/>
                        <a:gd name="T5" fmla="*/ 7 h 35"/>
                        <a:gd name="T6" fmla="*/ 10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1" y="19"/>
                          </a:lnTo>
                          <a:lnTo>
                            <a:pt x="6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43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973" y="3650"/>
                    <a:ext cx="49" cy="23"/>
                    <a:chOff x="973" y="3650"/>
                    <a:chExt cx="49" cy="23"/>
                  </a:xfrm>
                </p:grpSpPr>
                <p:sp>
                  <p:nvSpPr>
                    <p:cNvPr id="2176144" name="Freeform 4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3" y="3650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6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6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45" name="Freeform 4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8" y="3651"/>
                      <a:ext cx="37" cy="10"/>
                    </a:xfrm>
                    <a:custGeom>
                      <a:avLst/>
                      <a:gdLst>
                        <a:gd name="T0" fmla="*/ 2 w 74"/>
                        <a:gd name="T1" fmla="*/ 0 h 29"/>
                        <a:gd name="T2" fmla="*/ 49 w 74"/>
                        <a:gd name="T3" fmla="*/ 0 h 29"/>
                        <a:gd name="T4" fmla="*/ 50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9 w 74"/>
                        <a:gd name="T11" fmla="*/ 29 h 29"/>
                        <a:gd name="T12" fmla="*/ 10 w 74"/>
                        <a:gd name="T13" fmla="*/ 20 h 29"/>
                        <a:gd name="T14" fmla="*/ 0 w 74"/>
                        <a:gd name="T15" fmla="*/ 5 h 29"/>
                        <a:gd name="T16" fmla="*/ 2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2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9" y="29"/>
                          </a:lnTo>
                          <a:lnTo>
                            <a:pt x="10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46" name="Freeform 4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366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0 h 36"/>
                        <a:gd name="T4" fmla="*/ 5 w 82"/>
                        <a:gd name="T5" fmla="*/ 8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5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147" name="Group 415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100" cy="73"/>
                  <a:chOff x="985" y="3665"/>
                  <a:chExt cx="100" cy="73"/>
                </a:xfrm>
              </p:grpSpPr>
              <p:grpSp>
                <p:nvGrpSpPr>
                  <p:cNvPr id="2176148" name="Group 416"/>
                  <p:cNvGrpSpPr>
                    <a:grpSpLocks/>
                  </p:cNvGrpSpPr>
                  <p:nvPr/>
                </p:nvGrpSpPr>
                <p:grpSpPr bwMode="auto">
                  <a:xfrm>
                    <a:off x="985" y="3665"/>
                    <a:ext cx="50" cy="23"/>
                    <a:chOff x="985" y="3665"/>
                    <a:chExt cx="50" cy="23"/>
                  </a:xfrm>
                </p:grpSpPr>
                <p:sp>
                  <p:nvSpPr>
                    <p:cNvPr id="2176149" name="Freeform 4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5" y="3665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0" name="Freeform 4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9" y="3665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1" name="Freeform 4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3" y="367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20 h 36"/>
                        <a:gd name="T4" fmla="*/ 6 w 83"/>
                        <a:gd name="T5" fmla="*/ 8 h 36"/>
                        <a:gd name="T6" fmla="*/ 10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6" y="8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52" name="Group 420"/>
                  <p:cNvGrpSpPr>
                    <a:grpSpLocks/>
                  </p:cNvGrpSpPr>
                  <p:nvPr/>
                </p:nvGrpSpPr>
                <p:grpSpPr bwMode="auto">
                  <a:xfrm>
                    <a:off x="997" y="3677"/>
                    <a:ext cx="49" cy="23"/>
                    <a:chOff x="997" y="3677"/>
                    <a:chExt cx="49" cy="23"/>
                  </a:xfrm>
                </p:grpSpPr>
                <p:sp>
                  <p:nvSpPr>
                    <p:cNvPr id="2176153" name="Freeform 4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3677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1 h 69"/>
                        <a:gd name="T8" fmla="*/ 13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3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3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4" name="Freeform 4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2" y="3678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50 w 73"/>
                        <a:gd name="T3" fmla="*/ 0 h 30"/>
                        <a:gd name="T4" fmla="*/ 51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10 w 73"/>
                        <a:gd name="T13" fmla="*/ 21 h 30"/>
                        <a:gd name="T14" fmla="*/ 0 w 73"/>
                        <a:gd name="T15" fmla="*/ 7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10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5" name="Freeform 4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5" y="3688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7 h 37"/>
                        <a:gd name="T2" fmla="*/ 4 w 83"/>
                        <a:gd name="T3" fmla="*/ 19 h 37"/>
                        <a:gd name="T4" fmla="*/ 8 w 83"/>
                        <a:gd name="T5" fmla="*/ 8 h 37"/>
                        <a:gd name="T6" fmla="*/ 13 w 83"/>
                        <a:gd name="T7" fmla="*/ 0 h 37"/>
                        <a:gd name="T8" fmla="*/ 68 w 83"/>
                        <a:gd name="T9" fmla="*/ 0 h 37"/>
                        <a:gd name="T10" fmla="*/ 83 w 83"/>
                        <a:gd name="T11" fmla="*/ 37 h 37"/>
                        <a:gd name="T12" fmla="*/ 0 w 83"/>
                        <a:gd name="T13" fmla="*/ 37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7">
                          <a:moveTo>
                            <a:pt x="0" y="37"/>
                          </a:moveTo>
                          <a:lnTo>
                            <a:pt x="4" y="19"/>
                          </a:lnTo>
                          <a:lnTo>
                            <a:pt x="8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7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56" name="Group 424"/>
                  <p:cNvGrpSpPr>
                    <a:grpSpLocks/>
                  </p:cNvGrpSpPr>
                  <p:nvPr/>
                </p:nvGrpSpPr>
                <p:grpSpPr bwMode="auto">
                  <a:xfrm>
                    <a:off x="1010" y="3690"/>
                    <a:ext cx="48" cy="23"/>
                    <a:chOff x="1010" y="3690"/>
                    <a:chExt cx="48" cy="23"/>
                  </a:xfrm>
                </p:grpSpPr>
                <p:sp>
                  <p:nvSpPr>
                    <p:cNvPr id="2176157" name="Freeform 4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0" y="3690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8" name="Freeform 4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3690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3 h 31"/>
                        <a:gd name="T6" fmla="*/ 56 w 75"/>
                        <a:gd name="T7" fmla="*/ 12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6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59" name="Freeform 4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8" y="370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5 h 35"/>
                        <a:gd name="T2" fmla="*/ 2 w 82"/>
                        <a:gd name="T3" fmla="*/ 19 h 35"/>
                        <a:gd name="T4" fmla="*/ 8 w 82"/>
                        <a:gd name="T5" fmla="*/ 7 h 35"/>
                        <a:gd name="T6" fmla="*/ 12 w 82"/>
                        <a:gd name="T7" fmla="*/ 0 h 35"/>
                        <a:gd name="T8" fmla="*/ 69 w 82"/>
                        <a:gd name="T9" fmla="*/ 0 h 35"/>
                        <a:gd name="T10" fmla="*/ 82 w 82"/>
                        <a:gd name="T11" fmla="*/ 35 h 35"/>
                        <a:gd name="T12" fmla="*/ 0 w 82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5">
                          <a:moveTo>
                            <a:pt x="0" y="35"/>
                          </a:moveTo>
                          <a:lnTo>
                            <a:pt x="2" y="19"/>
                          </a:lnTo>
                          <a:lnTo>
                            <a:pt x="8" y="7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60" name="Group 428"/>
                  <p:cNvGrpSpPr>
                    <a:grpSpLocks/>
                  </p:cNvGrpSpPr>
                  <p:nvPr/>
                </p:nvGrpSpPr>
                <p:grpSpPr bwMode="auto">
                  <a:xfrm>
                    <a:off x="1023" y="3703"/>
                    <a:ext cx="49" cy="22"/>
                    <a:chOff x="1023" y="3703"/>
                    <a:chExt cx="49" cy="22"/>
                  </a:xfrm>
                </p:grpSpPr>
                <p:sp>
                  <p:nvSpPr>
                    <p:cNvPr id="2176161" name="Freeform 4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3" y="3703"/>
                      <a:ext cx="12" cy="22"/>
                    </a:xfrm>
                    <a:custGeom>
                      <a:avLst/>
                      <a:gdLst>
                        <a:gd name="T0" fmla="*/ 13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0 h 68"/>
                        <a:gd name="T8" fmla="*/ 13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0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62" name="Freeform 4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8" y="3703"/>
                      <a:ext cx="37" cy="10"/>
                    </a:xfrm>
                    <a:custGeom>
                      <a:avLst/>
                      <a:gdLst>
                        <a:gd name="T0" fmla="*/ 1 w 75"/>
                        <a:gd name="T1" fmla="*/ 0 h 29"/>
                        <a:gd name="T2" fmla="*/ 50 w 75"/>
                        <a:gd name="T3" fmla="*/ 0 h 29"/>
                        <a:gd name="T4" fmla="*/ 51 w 75"/>
                        <a:gd name="T5" fmla="*/ 2 h 29"/>
                        <a:gd name="T6" fmla="*/ 57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5 h 29"/>
                        <a:gd name="T16" fmla="*/ 1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7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63" name="Freeform 4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0" y="3713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3 w 83"/>
                        <a:gd name="T3" fmla="*/ 19 h 36"/>
                        <a:gd name="T4" fmla="*/ 7 w 83"/>
                        <a:gd name="T5" fmla="*/ 7 h 36"/>
                        <a:gd name="T6" fmla="*/ 13 w 83"/>
                        <a:gd name="T7" fmla="*/ 0 h 36"/>
                        <a:gd name="T8" fmla="*/ 70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3" y="19"/>
                          </a:lnTo>
                          <a:lnTo>
                            <a:pt x="7" y="7"/>
                          </a:lnTo>
                          <a:lnTo>
                            <a:pt x="13" y="0"/>
                          </a:lnTo>
                          <a:lnTo>
                            <a:pt x="70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164" name="Group 432"/>
                  <p:cNvGrpSpPr>
                    <a:grpSpLocks/>
                  </p:cNvGrpSpPr>
                  <p:nvPr/>
                </p:nvGrpSpPr>
                <p:grpSpPr bwMode="auto">
                  <a:xfrm>
                    <a:off x="1036" y="3716"/>
                    <a:ext cx="49" cy="22"/>
                    <a:chOff x="1036" y="3716"/>
                    <a:chExt cx="49" cy="22"/>
                  </a:xfrm>
                </p:grpSpPr>
                <p:sp>
                  <p:nvSpPr>
                    <p:cNvPr id="2176165" name="Freeform 4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6" y="3716"/>
                      <a:ext cx="11" cy="22"/>
                    </a:xfrm>
                    <a:custGeom>
                      <a:avLst/>
                      <a:gdLst>
                        <a:gd name="T0" fmla="*/ 13 w 22"/>
                        <a:gd name="T1" fmla="*/ 68 h 68"/>
                        <a:gd name="T2" fmla="*/ 0 w 22"/>
                        <a:gd name="T3" fmla="*/ 27 h 68"/>
                        <a:gd name="T4" fmla="*/ 9 w 22"/>
                        <a:gd name="T5" fmla="*/ 0 h 68"/>
                        <a:gd name="T6" fmla="*/ 22 w 22"/>
                        <a:gd name="T7" fmla="*/ 31 h 68"/>
                        <a:gd name="T8" fmla="*/ 13 w 22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2" y="31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66" name="Freeform 4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0" y="3716"/>
                      <a:ext cx="37" cy="10"/>
                    </a:xfrm>
                    <a:custGeom>
                      <a:avLst/>
                      <a:gdLst>
                        <a:gd name="T0" fmla="*/ 3 w 75"/>
                        <a:gd name="T1" fmla="*/ 0 h 29"/>
                        <a:gd name="T2" fmla="*/ 51 w 75"/>
                        <a:gd name="T3" fmla="*/ 0 h 29"/>
                        <a:gd name="T4" fmla="*/ 53 w 75"/>
                        <a:gd name="T5" fmla="*/ 2 h 29"/>
                        <a:gd name="T6" fmla="*/ 57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5 h 29"/>
                        <a:gd name="T16" fmla="*/ 3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3" y="0"/>
                          </a:moveTo>
                          <a:lnTo>
                            <a:pt x="51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167" name="Freeform 4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3" y="3726"/>
                      <a:ext cx="42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0 h 36"/>
                        <a:gd name="T4" fmla="*/ 6 w 82"/>
                        <a:gd name="T5" fmla="*/ 8 h 36"/>
                        <a:gd name="T6" fmla="*/ 10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6" y="8"/>
                          </a:lnTo>
                          <a:lnTo>
                            <a:pt x="10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168" name="Group 436"/>
                <p:cNvGrpSpPr>
                  <a:grpSpLocks/>
                </p:cNvGrpSpPr>
                <p:nvPr/>
              </p:nvGrpSpPr>
              <p:grpSpPr bwMode="auto">
                <a:xfrm>
                  <a:off x="1046" y="3727"/>
                  <a:ext cx="49" cy="23"/>
                  <a:chOff x="1046" y="3727"/>
                  <a:chExt cx="49" cy="23"/>
                </a:xfrm>
              </p:grpSpPr>
              <p:sp>
                <p:nvSpPr>
                  <p:cNvPr id="2176169" name="Freeform 437"/>
                  <p:cNvSpPr>
                    <a:spLocks noChangeArrowheads="1"/>
                  </p:cNvSpPr>
                  <p:nvPr/>
                </p:nvSpPr>
                <p:spPr bwMode="auto">
                  <a:xfrm>
                    <a:off x="1046" y="3727"/>
                    <a:ext cx="12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2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0" name="Freeform 438"/>
                  <p:cNvSpPr>
                    <a:spLocks noChangeArrowheads="1"/>
                  </p:cNvSpPr>
                  <p:nvPr/>
                </p:nvSpPr>
                <p:spPr bwMode="auto">
                  <a:xfrm>
                    <a:off x="1051" y="3727"/>
                    <a:ext cx="36" cy="11"/>
                  </a:xfrm>
                  <a:custGeom>
                    <a:avLst/>
                    <a:gdLst>
                      <a:gd name="T0" fmla="*/ 2 w 73"/>
                      <a:gd name="T1" fmla="*/ 0 h 31"/>
                      <a:gd name="T2" fmla="*/ 49 w 73"/>
                      <a:gd name="T3" fmla="*/ 0 h 31"/>
                      <a:gd name="T4" fmla="*/ 50 w 73"/>
                      <a:gd name="T5" fmla="*/ 4 h 31"/>
                      <a:gd name="T6" fmla="*/ 57 w 73"/>
                      <a:gd name="T7" fmla="*/ 13 h 31"/>
                      <a:gd name="T8" fmla="*/ 73 w 73"/>
                      <a:gd name="T9" fmla="*/ 31 h 31"/>
                      <a:gd name="T10" fmla="*/ 17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6 h 31"/>
                      <a:gd name="T16" fmla="*/ 2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4"/>
                        </a:lnTo>
                        <a:lnTo>
                          <a:pt x="57" y="13"/>
                        </a:lnTo>
                        <a:lnTo>
                          <a:pt x="73" y="31"/>
                        </a:lnTo>
                        <a:lnTo>
                          <a:pt x="17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1" name="Freeform 439"/>
                  <p:cNvSpPr>
                    <a:spLocks noChangeArrowheads="1"/>
                  </p:cNvSpPr>
                  <p:nvPr/>
                </p:nvSpPr>
                <p:spPr bwMode="auto">
                  <a:xfrm>
                    <a:off x="1054" y="3738"/>
                    <a:ext cx="41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1 w 82"/>
                      <a:gd name="T3" fmla="*/ 19 h 35"/>
                      <a:gd name="T4" fmla="*/ 6 w 82"/>
                      <a:gd name="T5" fmla="*/ 6 h 35"/>
                      <a:gd name="T6" fmla="*/ 10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72" name="Group 440"/>
                <p:cNvGrpSpPr>
                  <a:grpSpLocks/>
                </p:cNvGrpSpPr>
                <p:nvPr/>
              </p:nvGrpSpPr>
              <p:grpSpPr bwMode="auto">
                <a:xfrm>
                  <a:off x="1058" y="3739"/>
                  <a:ext cx="50" cy="23"/>
                  <a:chOff x="1058" y="3739"/>
                  <a:chExt cx="50" cy="23"/>
                </a:xfrm>
              </p:grpSpPr>
              <p:sp>
                <p:nvSpPr>
                  <p:cNvPr id="2176173" name="Freeform 441"/>
                  <p:cNvSpPr>
                    <a:spLocks noChangeArrowheads="1"/>
                  </p:cNvSpPr>
                  <p:nvPr/>
                </p:nvSpPr>
                <p:spPr bwMode="auto">
                  <a:xfrm>
                    <a:off x="1058" y="3739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4" name="Freeform 442"/>
                  <p:cNvSpPr>
                    <a:spLocks noChangeArrowheads="1"/>
                  </p:cNvSpPr>
                  <p:nvPr/>
                </p:nvSpPr>
                <p:spPr bwMode="auto">
                  <a:xfrm>
                    <a:off x="1063" y="3740"/>
                    <a:ext cx="37" cy="10"/>
                  </a:xfrm>
                  <a:custGeom>
                    <a:avLst/>
                    <a:gdLst>
                      <a:gd name="T0" fmla="*/ 3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8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11 w 75"/>
                      <a:gd name="T13" fmla="*/ 21 h 30"/>
                      <a:gd name="T14" fmla="*/ 0 w 75"/>
                      <a:gd name="T15" fmla="*/ 7 h 30"/>
                      <a:gd name="T16" fmla="*/ 3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3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8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11" y="21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5" name="Freeform 443"/>
                  <p:cNvSpPr>
                    <a:spLocks noChangeArrowheads="1"/>
                  </p:cNvSpPr>
                  <p:nvPr/>
                </p:nvSpPr>
                <p:spPr bwMode="auto">
                  <a:xfrm>
                    <a:off x="1067" y="3750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76" name="Group 444"/>
                <p:cNvGrpSpPr>
                  <a:grpSpLocks/>
                </p:cNvGrpSpPr>
                <p:nvPr/>
              </p:nvGrpSpPr>
              <p:grpSpPr bwMode="auto">
                <a:xfrm>
                  <a:off x="1072" y="3753"/>
                  <a:ext cx="48" cy="22"/>
                  <a:chOff x="1072" y="3753"/>
                  <a:chExt cx="48" cy="22"/>
                </a:xfrm>
              </p:grpSpPr>
              <p:sp>
                <p:nvSpPr>
                  <p:cNvPr id="2176177" name="Freeform 445"/>
                  <p:cNvSpPr>
                    <a:spLocks noChangeArrowheads="1"/>
                  </p:cNvSpPr>
                  <p:nvPr/>
                </p:nvSpPr>
                <p:spPr bwMode="auto">
                  <a:xfrm>
                    <a:off x="1072" y="3753"/>
                    <a:ext cx="11" cy="22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9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8" name="Freeform 446"/>
                  <p:cNvSpPr>
                    <a:spLocks noChangeArrowheads="1"/>
                  </p:cNvSpPr>
                  <p:nvPr/>
                </p:nvSpPr>
                <p:spPr bwMode="auto">
                  <a:xfrm>
                    <a:off x="1076" y="3753"/>
                    <a:ext cx="37" cy="10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50 w 74"/>
                      <a:gd name="T3" fmla="*/ 0 h 31"/>
                      <a:gd name="T4" fmla="*/ 52 w 74"/>
                      <a:gd name="T5" fmla="*/ 4 h 31"/>
                      <a:gd name="T6" fmla="*/ 57 w 74"/>
                      <a:gd name="T7" fmla="*/ 13 h 31"/>
                      <a:gd name="T8" fmla="*/ 74 w 74"/>
                      <a:gd name="T9" fmla="*/ 31 h 31"/>
                      <a:gd name="T10" fmla="*/ 19 w 74"/>
                      <a:gd name="T11" fmla="*/ 31 h 31"/>
                      <a:gd name="T12" fmla="*/ 11 w 74"/>
                      <a:gd name="T13" fmla="*/ 20 h 31"/>
                      <a:gd name="T14" fmla="*/ 0 w 74"/>
                      <a:gd name="T15" fmla="*/ 6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4" y="31"/>
                        </a:lnTo>
                        <a:lnTo>
                          <a:pt x="19" y="31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79" name="Freeform 447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6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3 w 81"/>
                      <a:gd name="T3" fmla="*/ 20 h 36"/>
                      <a:gd name="T4" fmla="*/ 6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6180" name="Freeform 448"/>
                <p:cNvSpPr>
                  <a:spLocks noChangeArrowheads="1"/>
                </p:cNvSpPr>
                <p:nvPr/>
              </p:nvSpPr>
              <p:spPr bwMode="auto">
                <a:xfrm>
                  <a:off x="820" y="3535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9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181" name="Freeform 449"/>
                <p:cNvSpPr>
                  <a:spLocks noChangeArrowheads="1"/>
                </p:cNvSpPr>
                <p:nvPr/>
              </p:nvSpPr>
              <p:spPr bwMode="auto">
                <a:xfrm>
                  <a:off x="825" y="3535"/>
                  <a:ext cx="36" cy="9"/>
                </a:xfrm>
                <a:custGeom>
                  <a:avLst/>
                  <a:gdLst>
                    <a:gd name="T0" fmla="*/ 0 w 71"/>
                    <a:gd name="T1" fmla="*/ 0 h 27"/>
                    <a:gd name="T2" fmla="*/ 49 w 71"/>
                    <a:gd name="T3" fmla="*/ 0 h 27"/>
                    <a:gd name="T4" fmla="*/ 51 w 71"/>
                    <a:gd name="T5" fmla="*/ 2 h 27"/>
                    <a:gd name="T6" fmla="*/ 55 w 71"/>
                    <a:gd name="T7" fmla="*/ 12 h 27"/>
                    <a:gd name="T8" fmla="*/ 71 w 71"/>
                    <a:gd name="T9" fmla="*/ 27 h 27"/>
                    <a:gd name="T10" fmla="*/ 17 w 71"/>
                    <a:gd name="T11" fmla="*/ 27 h 27"/>
                    <a:gd name="T12" fmla="*/ 8 w 71"/>
                    <a:gd name="T13" fmla="*/ 20 h 27"/>
                    <a:gd name="T14" fmla="*/ 0 w 71"/>
                    <a:gd name="T15" fmla="*/ 6 h 27"/>
                    <a:gd name="T16" fmla="*/ 0 w 71"/>
                    <a:gd name="T17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1" h="27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51" y="2"/>
                      </a:lnTo>
                      <a:lnTo>
                        <a:pt x="55" y="12"/>
                      </a:lnTo>
                      <a:lnTo>
                        <a:pt x="71" y="27"/>
                      </a:lnTo>
                      <a:lnTo>
                        <a:pt x="17" y="27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182" name="Freeform 450"/>
                <p:cNvSpPr>
                  <a:spLocks noChangeArrowheads="1"/>
                </p:cNvSpPr>
                <p:nvPr/>
              </p:nvSpPr>
              <p:spPr bwMode="auto">
                <a:xfrm>
                  <a:off x="828" y="3546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8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183" name="Group 451"/>
                <p:cNvGrpSpPr>
                  <a:grpSpLocks/>
                </p:cNvGrpSpPr>
                <p:nvPr/>
              </p:nvGrpSpPr>
              <p:grpSpPr bwMode="auto">
                <a:xfrm>
                  <a:off x="832" y="3547"/>
                  <a:ext cx="49" cy="23"/>
                  <a:chOff x="832" y="3547"/>
                  <a:chExt cx="49" cy="23"/>
                </a:xfrm>
              </p:grpSpPr>
              <p:sp>
                <p:nvSpPr>
                  <p:cNvPr id="2176184" name="Freeform 452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547"/>
                    <a:ext cx="12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1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85" name="Freeform 453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3548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86" name="Freeform 454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55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87" name="Group 455"/>
                <p:cNvGrpSpPr>
                  <a:grpSpLocks/>
                </p:cNvGrpSpPr>
                <p:nvPr/>
              </p:nvGrpSpPr>
              <p:grpSpPr bwMode="auto">
                <a:xfrm>
                  <a:off x="844" y="3560"/>
                  <a:ext cx="49" cy="22"/>
                  <a:chOff x="844" y="3560"/>
                  <a:chExt cx="49" cy="22"/>
                </a:xfrm>
              </p:grpSpPr>
              <p:sp>
                <p:nvSpPr>
                  <p:cNvPr id="2176188" name="Freeform 456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560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89" name="Freeform 457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560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48 w 73"/>
                      <a:gd name="T3" fmla="*/ 0 h 29"/>
                      <a:gd name="T4" fmla="*/ 50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90" name="Freeform 458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571"/>
                    <a:ext cx="40" cy="11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6 w 82"/>
                      <a:gd name="T5" fmla="*/ 7 h 35"/>
                      <a:gd name="T6" fmla="*/ 11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91" name="Group 459"/>
                <p:cNvGrpSpPr>
                  <a:grpSpLocks/>
                </p:cNvGrpSpPr>
                <p:nvPr/>
              </p:nvGrpSpPr>
              <p:grpSpPr bwMode="auto">
                <a:xfrm>
                  <a:off x="857" y="3572"/>
                  <a:ext cx="50" cy="23"/>
                  <a:chOff x="857" y="3572"/>
                  <a:chExt cx="50" cy="23"/>
                </a:xfrm>
              </p:grpSpPr>
              <p:sp>
                <p:nvSpPr>
                  <p:cNvPr id="2176192" name="Freeform 460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572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5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5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93" name="Freeform 461"/>
                  <p:cNvSpPr>
                    <a:spLocks noChangeArrowheads="1"/>
                  </p:cNvSpPr>
                  <p:nvPr/>
                </p:nvSpPr>
                <p:spPr bwMode="auto">
                  <a:xfrm>
                    <a:off x="862" y="3573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10 w 73"/>
                      <a:gd name="T13" fmla="*/ 20 h 29"/>
                      <a:gd name="T14" fmla="*/ 0 w 73"/>
                      <a:gd name="T15" fmla="*/ 5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94" name="Freeform 462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58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95" name="Group 463"/>
                <p:cNvGrpSpPr>
                  <a:grpSpLocks/>
                </p:cNvGrpSpPr>
                <p:nvPr/>
              </p:nvGrpSpPr>
              <p:grpSpPr bwMode="auto">
                <a:xfrm>
                  <a:off x="870" y="3585"/>
                  <a:ext cx="48" cy="23"/>
                  <a:chOff x="870" y="3585"/>
                  <a:chExt cx="48" cy="23"/>
                </a:xfrm>
              </p:grpSpPr>
              <p:sp>
                <p:nvSpPr>
                  <p:cNvPr id="2176196" name="Freeform 464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58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6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97" name="Freeform 465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3586"/>
                    <a:ext cx="38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198" name="Freeform 466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596"/>
                    <a:ext cx="40" cy="12"/>
                  </a:xfrm>
                  <a:custGeom>
                    <a:avLst/>
                    <a:gdLst>
                      <a:gd name="T0" fmla="*/ 0 w 80"/>
                      <a:gd name="T1" fmla="*/ 36 h 36"/>
                      <a:gd name="T2" fmla="*/ 1 w 80"/>
                      <a:gd name="T3" fmla="*/ 20 h 36"/>
                      <a:gd name="T4" fmla="*/ 6 w 80"/>
                      <a:gd name="T5" fmla="*/ 8 h 36"/>
                      <a:gd name="T6" fmla="*/ 10 w 80"/>
                      <a:gd name="T7" fmla="*/ 0 h 36"/>
                      <a:gd name="T8" fmla="*/ 67 w 80"/>
                      <a:gd name="T9" fmla="*/ 0 h 36"/>
                      <a:gd name="T10" fmla="*/ 80 w 80"/>
                      <a:gd name="T11" fmla="*/ 36 h 36"/>
                      <a:gd name="T12" fmla="*/ 0 w 80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0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199" name="Group 467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100" cy="73"/>
                  <a:chOff x="882" y="3600"/>
                  <a:chExt cx="100" cy="73"/>
                </a:xfrm>
              </p:grpSpPr>
              <p:grpSp>
                <p:nvGrpSpPr>
                  <p:cNvPr id="2176200" name="Group 468"/>
                  <p:cNvGrpSpPr>
                    <a:grpSpLocks/>
                  </p:cNvGrpSpPr>
                  <p:nvPr/>
                </p:nvGrpSpPr>
                <p:grpSpPr bwMode="auto">
                  <a:xfrm>
                    <a:off x="882" y="3600"/>
                    <a:ext cx="49" cy="23"/>
                    <a:chOff x="882" y="3600"/>
                    <a:chExt cx="49" cy="23"/>
                  </a:xfrm>
                </p:grpSpPr>
                <p:sp>
                  <p:nvSpPr>
                    <p:cNvPr id="2176201" name="Freeform 4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2" y="3600"/>
                      <a:ext cx="12" cy="23"/>
                    </a:xfrm>
                    <a:custGeom>
                      <a:avLst/>
                      <a:gdLst>
                        <a:gd name="T0" fmla="*/ 13 w 23"/>
                        <a:gd name="T1" fmla="*/ 70 h 70"/>
                        <a:gd name="T2" fmla="*/ 0 w 23"/>
                        <a:gd name="T3" fmla="*/ 27 h 70"/>
                        <a:gd name="T4" fmla="*/ 9 w 23"/>
                        <a:gd name="T5" fmla="*/ 0 h 70"/>
                        <a:gd name="T6" fmla="*/ 23 w 23"/>
                        <a:gd name="T7" fmla="*/ 31 h 70"/>
                        <a:gd name="T8" fmla="*/ 13 w 23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3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02" name="Freeform 4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7" y="3600"/>
                      <a:ext cx="37" cy="11"/>
                    </a:xfrm>
                    <a:custGeom>
                      <a:avLst/>
                      <a:gdLst>
                        <a:gd name="T0" fmla="*/ 1 w 73"/>
                        <a:gd name="T1" fmla="*/ 0 h 31"/>
                        <a:gd name="T2" fmla="*/ 50 w 73"/>
                        <a:gd name="T3" fmla="*/ 0 h 31"/>
                        <a:gd name="T4" fmla="*/ 51 w 73"/>
                        <a:gd name="T5" fmla="*/ 4 h 31"/>
                        <a:gd name="T6" fmla="*/ 56 w 73"/>
                        <a:gd name="T7" fmla="*/ 13 h 31"/>
                        <a:gd name="T8" fmla="*/ 73 w 73"/>
                        <a:gd name="T9" fmla="*/ 31 h 31"/>
                        <a:gd name="T10" fmla="*/ 18 w 73"/>
                        <a:gd name="T11" fmla="*/ 31 h 31"/>
                        <a:gd name="T12" fmla="*/ 9 w 73"/>
                        <a:gd name="T13" fmla="*/ 22 h 31"/>
                        <a:gd name="T14" fmla="*/ 0 w 73"/>
                        <a:gd name="T15" fmla="*/ 7 h 31"/>
                        <a:gd name="T16" fmla="*/ 1 w 73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3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03" name="Freeform 4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11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8 h 38"/>
                        <a:gd name="T2" fmla="*/ 1 w 83"/>
                        <a:gd name="T3" fmla="*/ 22 h 38"/>
                        <a:gd name="T4" fmla="*/ 8 w 83"/>
                        <a:gd name="T5" fmla="*/ 8 h 38"/>
                        <a:gd name="T6" fmla="*/ 12 w 83"/>
                        <a:gd name="T7" fmla="*/ 0 h 38"/>
                        <a:gd name="T8" fmla="*/ 68 w 83"/>
                        <a:gd name="T9" fmla="*/ 0 h 38"/>
                        <a:gd name="T10" fmla="*/ 83 w 83"/>
                        <a:gd name="T11" fmla="*/ 38 h 38"/>
                        <a:gd name="T12" fmla="*/ 0 w 83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8">
                          <a:moveTo>
                            <a:pt x="0" y="38"/>
                          </a:moveTo>
                          <a:lnTo>
                            <a:pt x="1" y="22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04" name="Group 472"/>
                  <p:cNvGrpSpPr>
                    <a:grpSpLocks/>
                  </p:cNvGrpSpPr>
                  <p:nvPr/>
                </p:nvGrpSpPr>
                <p:grpSpPr bwMode="auto">
                  <a:xfrm>
                    <a:off x="894" y="3612"/>
                    <a:ext cx="49" cy="23"/>
                    <a:chOff x="894" y="3612"/>
                    <a:chExt cx="49" cy="23"/>
                  </a:xfrm>
                </p:grpSpPr>
                <p:sp>
                  <p:nvSpPr>
                    <p:cNvPr id="2176205" name="Freeform 4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4" y="3612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06" name="Freeform 4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613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2"/>
                        <a:gd name="T2" fmla="*/ 50 w 75"/>
                        <a:gd name="T3" fmla="*/ 0 h 32"/>
                        <a:gd name="T4" fmla="*/ 52 w 75"/>
                        <a:gd name="T5" fmla="*/ 3 h 32"/>
                        <a:gd name="T6" fmla="*/ 57 w 75"/>
                        <a:gd name="T7" fmla="*/ 15 h 32"/>
                        <a:gd name="T8" fmla="*/ 75 w 75"/>
                        <a:gd name="T9" fmla="*/ 32 h 32"/>
                        <a:gd name="T10" fmla="*/ 19 w 75"/>
                        <a:gd name="T11" fmla="*/ 32 h 32"/>
                        <a:gd name="T12" fmla="*/ 10 w 75"/>
                        <a:gd name="T13" fmla="*/ 22 h 32"/>
                        <a:gd name="T14" fmla="*/ 0 w 75"/>
                        <a:gd name="T15" fmla="*/ 7 h 32"/>
                        <a:gd name="T16" fmla="*/ 2 w 75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2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5"/>
                          </a:lnTo>
                          <a:lnTo>
                            <a:pt x="75" y="32"/>
                          </a:lnTo>
                          <a:lnTo>
                            <a:pt x="19" y="32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07" name="Freeform 4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2" y="3623"/>
                      <a:ext cx="41" cy="12"/>
                    </a:xfrm>
                    <a:custGeom>
                      <a:avLst/>
                      <a:gdLst>
                        <a:gd name="T0" fmla="*/ 0 w 81"/>
                        <a:gd name="T1" fmla="*/ 36 h 36"/>
                        <a:gd name="T2" fmla="*/ 1 w 81"/>
                        <a:gd name="T3" fmla="*/ 21 h 36"/>
                        <a:gd name="T4" fmla="*/ 5 w 81"/>
                        <a:gd name="T5" fmla="*/ 8 h 36"/>
                        <a:gd name="T6" fmla="*/ 12 w 81"/>
                        <a:gd name="T7" fmla="*/ 0 h 36"/>
                        <a:gd name="T8" fmla="*/ 68 w 81"/>
                        <a:gd name="T9" fmla="*/ 0 h 36"/>
                        <a:gd name="T10" fmla="*/ 81 w 81"/>
                        <a:gd name="T11" fmla="*/ 36 h 36"/>
                        <a:gd name="T12" fmla="*/ 0 w 81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5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08" name="Group 476"/>
                  <p:cNvGrpSpPr>
                    <a:grpSpLocks/>
                  </p:cNvGrpSpPr>
                  <p:nvPr/>
                </p:nvGrpSpPr>
                <p:grpSpPr bwMode="auto">
                  <a:xfrm>
                    <a:off x="907" y="3625"/>
                    <a:ext cx="49" cy="23"/>
                    <a:chOff x="907" y="3625"/>
                    <a:chExt cx="49" cy="23"/>
                  </a:xfrm>
                </p:grpSpPr>
                <p:sp>
                  <p:nvSpPr>
                    <p:cNvPr id="2176209" name="Freeform 4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625"/>
                      <a:ext cx="11" cy="23"/>
                    </a:xfrm>
                    <a:custGeom>
                      <a:avLst/>
                      <a:gdLst>
                        <a:gd name="T0" fmla="*/ 15 w 24"/>
                        <a:gd name="T1" fmla="*/ 68 h 68"/>
                        <a:gd name="T2" fmla="*/ 0 w 24"/>
                        <a:gd name="T3" fmla="*/ 27 h 68"/>
                        <a:gd name="T4" fmla="*/ 11 w 24"/>
                        <a:gd name="T5" fmla="*/ 0 h 68"/>
                        <a:gd name="T6" fmla="*/ 24 w 24"/>
                        <a:gd name="T7" fmla="*/ 30 h 68"/>
                        <a:gd name="T8" fmla="*/ 15 w 24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4" y="30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0" name="Freeform 4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3626"/>
                      <a:ext cx="36" cy="9"/>
                    </a:xfrm>
                    <a:custGeom>
                      <a:avLst/>
                      <a:gdLst>
                        <a:gd name="T0" fmla="*/ 1 w 72"/>
                        <a:gd name="T1" fmla="*/ 0 h 29"/>
                        <a:gd name="T2" fmla="*/ 50 w 72"/>
                        <a:gd name="T3" fmla="*/ 0 h 29"/>
                        <a:gd name="T4" fmla="*/ 51 w 72"/>
                        <a:gd name="T5" fmla="*/ 2 h 29"/>
                        <a:gd name="T6" fmla="*/ 56 w 72"/>
                        <a:gd name="T7" fmla="*/ 11 h 29"/>
                        <a:gd name="T8" fmla="*/ 72 w 72"/>
                        <a:gd name="T9" fmla="*/ 29 h 29"/>
                        <a:gd name="T10" fmla="*/ 17 w 72"/>
                        <a:gd name="T11" fmla="*/ 29 h 29"/>
                        <a:gd name="T12" fmla="*/ 9 w 72"/>
                        <a:gd name="T13" fmla="*/ 20 h 29"/>
                        <a:gd name="T14" fmla="*/ 0 w 72"/>
                        <a:gd name="T15" fmla="*/ 6 h 29"/>
                        <a:gd name="T16" fmla="*/ 1 w 72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2" y="29"/>
                          </a:lnTo>
                          <a:lnTo>
                            <a:pt x="17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1" name="Freeform 4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4" y="363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7 w 83"/>
                        <a:gd name="T5" fmla="*/ 7 h 36"/>
                        <a:gd name="T6" fmla="*/ 10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12" name="Group 480"/>
                  <p:cNvGrpSpPr>
                    <a:grpSpLocks/>
                  </p:cNvGrpSpPr>
                  <p:nvPr/>
                </p:nvGrpSpPr>
                <p:grpSpPr bwMode="auto">
                  <a:xfrm>
                    <a:off x="919" y="3638"/>
                    <a:ext cx="49" cy="22"/>
                    <a:chOff x="919" y="3638"/>
                    <a:chExt cx="49" cy="22"/>
                  </a:xfrm>
                </p:grpSpPr>
                <p:sp>
                  <p:nvSpPr>
                    <p:cNvPr id="2176213" name="Freeform 4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638"/>
                      <a:ext cx="13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4" name="Freeform 4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4" y="3638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48 w 73"/>
                        <a:gd name="T3" fmla="*/ 0 h 30"/>
                        <a:gd name="T4" fmla="*/ 52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9 w 73"/>
                        <a:gd name="T13" fmla="*/ 21 h 30"/>
                        <a:gd name="T14" fmla="*/ 0 w 73"/>
                        <a:gd name="T15" fmla="*/ 5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48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5" name="Freeform 4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48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16" name="Group 484"/>
                  <p:cNvGrpSpPr>
                    <a:grpSpLocks/>
                  </p:cNvGrpSpPr>
                  <p:nvPr/>
                </p:nvGrpSpPr>
                <p:grpSpPr bwMode="auto">
                  <a:xfrm>
                    <a:off x="932" y="3651"/>
                    <a:ext cx="50" cy="22"/>
                    <a:chOff x="932" y="3651"/>
                    <a:chExt cx="50" cy="22"/>
                  </a:xfrm>
                </p:grpSpPr>
                <p:sp>
                  <p:nvSpPr>
                    <p:cNvPr id="2176217" name="Freeform 4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2" y="3651"/>
                      <a:ext cx="12" cy="22"/>
                    </a:xfrm>
                    <a:custGeom>
                      <a:avLst/>
                      <a:gdLst>
                        <a:gd name="T0" fmla="*/ 15 w 24"/>
                        <a:gd name="T1" fmla="*/ 67 h 67"/>
                        <a:gd name="T2" fmla="*/ 0 w 24"/>
                        <a:gd name="T3" fmla="*/ 26 h 67"/>
                        <a:gd name="T4" fmla="*/ 11 w 24"/>
                        <a:gd name="T5" fmla="*/ 0 h 67"/>
                        <a:gd name="T6" fmla="*/ 24 w 24"/>
                        <a:gd name="T7" fmla="*/ 30 h 67"/>
                        <a:gd name="T8" fmla="*/ 15 w 24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7">
                          <a:moveTo>
                            <a:pt x="15" y="67"/>
                          </a:moveTo>
                          <a:lnTo>
                            <a:pt x="0" y="26"/>
                          </a:lnTo>
                          <a:lnTo>
                            <a:pt x="11" y="0"/>
                          </a:lnTo>
                          <a:lnTo>
                            <a:pt x="24" y="30"/>
                          </a:lnTo>
                          <a:lnTo>
                            <a:pt x="15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8" name="Freeform 4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7" y="3651"/>
                      <a:ext cx="37" cy="10"/>
                    </a:xfrm>
                    <a:custGeom>
                      <a:avLst/>
                      <a:gdLst>
                        <a:gd name="T0" fmla="*/ 1 w 72"/>
                        <a:gd name="T1" fmla="*/ 0 h 29"/>
                        <a:gd name="T2" fmla="*/ 49 w 72"/>
                        <a:gd name="T3" fmla="*/ 0 h 29"/>
                        <a:gd name="T4" fmla="*/ 50 w 72"/>
                        <a:gd name="T5" fmla="*/ 2 h 29"/>
                        <a:gd name="T6" fmla="*/ 57 w 72"/>
                        <a:gd name="T7" fmla="*/ 11 h 29"/>
                        <a:gd name="T8" fmla="*/ 72 w 72"/>
                        <a:gd name="T9" fmla="*/ 29 h 29"/>
                        <a:gd name="T10" fmla="*/ 18 w 72"/>
                        <a:gd name="T11" fmla="*/ 29 h 29"/>
                        <a:gd name="T12" fmla="*/ 9 w 72"/>
                        <a:gd name="T13" fmla="*/ 20 h 29"/>
                        <a:gd name="T14" fmla="*/ 0 w 72"/>
                        <a:gd name="T15" fmla="*/ 5 h 29"/>
                        <a:gd name="T16" fmla="*/ 1 w 72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2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19" name="Freeform 4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0" y="3662"/>
                      <a:ext cx="42" cy="11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3 w 83"/>
                        <a:gd name="T3" fmla="*/ 19 h 35"/>
                        <a:gd name="T4" fmla="*/ 7 w 83"/>
                        <a:gd name="T5" fmla="*/ 7 h 35"/>
                        <a:gd name="T6" fmla="*/ 11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3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220" name="Group 488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99" cy="74"/>
                  <a:chOff x="944" y="3665"/>
                  <a:chExt cx="99" cy="74"/>
                </a:xfrm>
              </p:grpSpPr>
              <p:grpSp>
                <p:nvGrpSpPr>
                  <p:cNvPr id="2176221" name="Group 489"/>
                  <p:cNvGrpSpPr>
                    <a:grpSpLocks/>
                  </p:cNvGrpSpPr>
                  <p:nvPr/>
                </p:nvGrpSpPr>
                <p:grpSpPr bwMode="auto">
                  <a:xfrm>
                    <a:off x="944" y="3665"/>
                    <a:ext cx="49" cy="23"/>
                    <a:chOff x="944" y="3665"/>
                    <a:chExt cx="49" cy="23"/>
                  </a:xfrm>
                </p:grpSpPr>
                <p:sp>
                  <p:nvSpPr>
                    <p:cNvPr id="2176222" name="Freeform 4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4" y="3665"/>
                      <a:ext cx="13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23" name="Freeform 4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9" y="3666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7 w 75"/>
                        <a:gd name="T7" fmla="*/ 13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1 w 75"/>
                        <a:gd name="T13" fmla="*/ 22 h 31"/>
                        <a:gd name="T14" fmla="*/ 0 w 75"/>
                        <a:gd name="T15" fmla="*/ 7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7" y="13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1" y="22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24" name="Freeform 4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676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20 h 36"/>
                        <a:gd name="T4" fmla="*/ 5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5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25" name="Group 493"/>
                  <p:cNvGrpSpPr>
                    <a:grpSpLocks/>
                  </p:cNvGrpSpPr>
                  <p:nvPr/>
                </p:nvGrpSpPr>
                <p:grpSpPr bwMode="auto">
                  <a:xfrm>
                    <a:off x="957" y="3678"/>
                    <a:ext cx="48" cy="23"/>
                    <a:chOff x="957" y="3678"/>
                    <a:chExt cx="48" cy="23"/>
                  </a:xfrm>
                </p:grpSpPr>
                <p:sp>
                  <p:nvSpPr>
                    <p:cNvPr id="2176226" name="Freeform 4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7" y="3678"/>
                      <a:ext cx="11" cy="23"/>
                    </a:xfrm>
                    <a:custGeom>
                      <a:avLst/>
                      <a:gdLst>
                        <a:gd name="T0" fmla="*/ 13 w 24"/>
                        <a:gd name="T1" fmla="*/ 70 h 70"/>
                        <a:gd name="T2" fmla="*/ 0 w 24"/>
                        <a:gd name="T3" fmla="*/ 27 h 70"/>
                        <a:gd name="T4" fmla="*/ 9 w 24"/>
                        <a:gd name="T5" fmla="*/ 0 h 70"/>
                        <a:gd name="T6" fmla="*/ 24 w 24"/>
                        <a:gd name="T7" fmla="*/ 31 h 70"/>
                        <a:gd name="T8" fmla="*/ 13 w 24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4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27" name="Freeform 4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678"/>
                      <a:ext cx="37" cy="10"/>
                    </a:xfrm>
                    <a:custGeom>
                      <a:avLst/>
                      <a:gdLst>
                        <a:gd name="T0" fmla="*/ 2 w 74"/>
                        <a:gd name="T1" fmla="*/ 0 h 30"/>
                        <a:gd name="T2" fmla="*/ 50 w 74"/>
                        <a:gd name="T3" fmla="*/ 0 h 30"/>
                        <a:gd name="T4" fmla="*/ 52 w 74"/>
                        <a:gd name="T5" fmla="*/ 3 h 30"/>
                        <a:gd name="T6" fmla="*/ 56 w 74"/>
                        <a:gd name="T7" fmla="*/ 12 h 30"/>
                        <a:gd name="T8" fmla="*/ 74 w 74"/>
                        <a:gd name="T9" fmla="*/ 30 h 30"/>
                        <a:gd name="T10" fmla="*/ 19 w 74"/>
                        <a:gd name="T11" fmla="*/ 30 h 30"/>
                        <a:gd name="T12" fmla="*/ 11 w 74"/>
                        <a:gd name="T13" fmla="*/ 20 h 30"/>
                        <a:gd name="T14" fmla="*/ 0 w 74"/>
                        <a:gd name="T15" fmla="*/ 6 h 30"/>
                        <a:gd name="T16" fmla="*/ 2 w 74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30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4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28" name="Freeform 4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4" y="3688"/>
                      <a:ext cx="41" cy="13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1 h 38"/>
                        <a:gd name="T4" fmla="*/ 7 w 82"/>
                        <a:gd name="T5" fmla="*/ 8 h 38"/>
                        <a:gd name="T6" fmla="*/ 11 w 82"/>
                        <a:gd name="T7" fmla="*/ 0 h 38"/>
                        <a:gd name="T8" fmla="*/ 68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1"/>
                          </a:lnTo>
                          <a:lnTo>
                            <a:pt x="7" y="8"/>
                          </a:lnTo>
                          <a:lnTo>
                            <a:pt x="11" y="0"/>
                          </a:lnTo>
                          <a:lnTo>
                            <a:pt x="68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29" name="Group 497"/>
                  <p:cNvGrpSpPr>
                    <a:grpSpLocks/>
                  </p:cNvGrpSpPr>
                  <p:nvPr/>
                </p:nvGrpSpPr>
                <p:grpSpPr bwMode="auto">
                  <a:xfrm>
                    <a:off x="969" y="3690"/>
                    <a:ext cx="49" cy="23"/>
                    <a:chOff x="969" y="3690"/>
                    <a:chExt cx="49" cy="23"/>
                  </a:xfrm>
                </p:grpSpPr>
                <p:sp>
                  <p:nvSpPr>
                    <p:cNvPr id="2176230" name="Freeform 4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9" y="3690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70 h 70"/>
                        <a:gd name="T2" fmla="*/ 0 w 25"/>
                        <a:gd name="T3" fmla="*/ 29 h 70"/>
                        <a:gd name="T4" fmla="*/ 9 w 25"/>
                        <a:gd name="T5" fmla="*/ 0 h 70"/>
                        <a:gd name="T6" fmla="*/ 25 w 25"/>
                        <a:gd name="T7" fmla="*/ 33 h 70"/>
                        <a:gd name="T8" fmla="*/ 15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5" y="70"/>
                          </a:moveTo>
                          <a:lnTo>
                            <a:pt x="0" y="29"/>
                          </a:lnTo>
                          <a:lnTo>
                            <a:pt x="9" y="0"/>
                          </a:lnTo>
                          <a:lnTo>
                            <a:pt x="25" y="33"/>
                          </a:lnTo>
                          <a:lnTo>
                            <a:pt x="15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31" name="Freeform 4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3691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6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9" y="22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32" name="Freeform 5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7" y="3701"/>
                      <a:ext cx="41" cy="12"/>
                    </a:xfrm>
                    <a:custGeom>
                      <a:avLst/>
                      <a:gdLst>
                        <a:gd name="T0" fmla="*/ 0 w 81"/>
                        <a:gd name="T1" fmla="*/ 36 h 36"/>
                        <a:gd name="T2" fmla="*/ 1 w 81"/>
                        <a:gd name="T3" fmla="*/ 19 h 36"/>
                        <a:gd name="T4" fmla="*/ 6 w 81"/>
                        <a:gd name="T5" fmla="*/ 7 h 36"/>
                        <a:gd name="T6" fmla="*/ 12 w 81"/>
                        <a:gd name="T7" fmla="*/ 0 h 36"/>
                        <a:gd name="T8" fmla="*/ 68 w 81"/>
                        <a:gd name="T9" fmla="*/ 0 h 36"/>
                        <a:gd name="T10" fmla="*/ 81 w 81"/>
                        <a:gd name="T11" fmla="*/ 36 h 36"/>
                        <a:gd name="T12" fmla="*/ 0 w 81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6" y="7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33" name="Group 501"/>
                  <p:cNvGrpSpPr>
                    <a:grpSpLocks/>
                  </p:cNvGrpSpPr>
                  <p:nvPr/>
                </p:nvGrpSpPr>
                <p:grpSpPr bwMode="auto">
                  <a:xfrm>
                    <a:off x="982" y="3703"/>
                    <a:ext cx="49" cy="23"/>
                    <a:chOff x="982" y="3703"/>
                    <a:chExt cx="49" cy="23"/>
                  </a:xfrm>
                </p:grpSpPr>
                <p:sp>
                  <p:nvSpPr>
                    <p:cNvPr id="2176234" name="Freeform 5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3703"/>
                      <a:ext cx="13" cy="23"/>
                    </a:xfrm>
                    <a:custGeom>
                      <a:avLst/>
                      <a:gdLst>
                        <a:gd name="T0" fmla="*/ 14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4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35" name="Freeform 5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7" y="3703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50 w 73"/>
                        <a:gd name="T3" fmla="*/ 0 h 30"/>
                        <a:gd name="T4" fmla="*/ 51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9 w 73"/>
                        <a:gd name="T13" fmla="*/ 21 h 30"/>
                        <a:gd name="T14" fmla="*/ 0 w 73"/>
                        <a:gd name="T15" fmla="*/ 7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36" name="Freeform 5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9" y="3714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6 w 83"/>
                        <a:gd name="T5" fmla="*/ 8 h 36"/>
                        <a:gd name="T6" fmla="*/ 13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6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37" name="Group 505"/>
                  <p:cNvGrpSpPr>
                    <a:grpSpLocks/>
                  </p:cNvGrpSpPr>
                  <p:nvPr/>
                </p:nvGrpSpPr>
                <p:grpSpPr bwMode="auto">
                  <a:xfrm>
                    <a:off x="995" y="3716"/>
                    <a:ext cx="48" cy="23"/>
                    <a:chOff x="995" y="3716"/>
                    <a:chExt cx="48" cy="23"/>
                  </a:xfrm>
                </p:grpSpPr>
                <p:sp>
                  <p:nvSpPr>
                    <p:cNvPr id="2176238" name="Freeform 5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5" y="3716"/>
                      <a:ext cx="11" cy="23"/>
                    </a:xfrm>
                    <a:custGeom>
                      <a:avLst/>
                      <a:gdLst>
                        <a:gd name="T0" fmla="*/ 15 w 24"/>
                        <a:gd name="T1" fmla="*/ 68 h 68"/>
                        <a:gd name="T2" fmla="*/ 0 w 24"/>
                        <a:gd name="T3" fmla="*/ 27 h 68"/>
                        <a:gd name="T4" fmla="*/ 10 w 24"/>
                        <a:gd name="T5" fmla="*/ 0 h 68"/>
                        <a:gd name="T6" fmla="*/ 24 w 24"/>
                        <a:gd name="T7" fmla="*/ 30 h 68"/>
                        <a:gd name="T8" fmla="*/ 15 w 24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4" y="30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39" name="Freeform 5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3717"/>
                      <a:ext cx="38" cy="9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49 w 74"/>
                        <a:gd name="T3" fmla="*/ 0 h 29"/>
                        <a:gd name="T4" fmla="*/ 52 w 74"/>
                        <a:gd name="T5" fmla="*/ 3 h 29"/>
                        <a:gd name="T6" fmla="*/ 56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6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2" y="3"/>
                          </a:lnTo>
                          <a:lnTo>
                            <a:pt x="56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40" name="Freeform 5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3" y="3727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5 w 82"/>
                        <a:gd name="T5" fmla="*/ 7 h 36"/>
                        <a:gd name="T6" fmla="*/ 11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5" y="7"/>
                          </a:lnTo>
                          <a:lnTo>
                            <a:pt x="11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241" name="Group 509"/>
                <p:cNvGrpSpPr>
                  <a:grpSpLocks/>
                </p:cNvGrpSpPr>
                <p:nvPr/>
              </p:nvGrpSpPr>
              <p:grpSpPr bwMode="auto">
                <a:xfrm>
                  <a:off x="1005" y="3727"/>
                  <a:ext cx="49" cy="23"/>
                  <a:chOff x="1005" y="3727"/>
                  <a:chExt cx="49" cy="23"/>
                </a:xfrm>
              </p:grpSpPr>
              <p:sp>
                <p:nvSpPr>
                  <p:cNvPr id="2176242" name="Freeform 510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727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43" name="Freeform 511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728"/>
                    <a:ext cx="37" cy="10"/>
                  </a:xfrm>
                  <a:custGeom>
                    <a:avLst/>
                    <a:gdLst>
                      <a:gd name="T0" fmla="*/ 2 w 73"/>
                      <a:gd name="T1" fmla="*/ 0 h 31"/>
                      <a:gd name="T2" fmla="*/ 48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2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44" name="Freeform 512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73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45" name="Group 513"/>
                <p:cNvGrpSpPr>
                  <a:grpSpLocks/>
                </p:cNvGrpSpPr>
                <p:nvPr/>
              </p:nvGrpSpPr>
              <p:grpSpPr bwMode="auto">
                <a:xfrm>
                  <a:off x="1018" y="3740"/>
                  <a:ext cx="49" cy="22"/>
                  <a:chOff x="1018" y="3740"/>
                  <a:chExt cx="49" cy="22"/>
                </a:xfrm>
              </p:grpSpPr>
              <p:sp>
                <p:nvSpPr>
                  <p:cNvPr id="2176246" name="Freeform 514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40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47" name="Freeform 515"/>
                  <p:cNvSpPr>
                    <a:spLocks noChangeArrowheads="1"/>
                  </p:cNvSpPr>
                  <p:nvPr/>
                </p:nvSpPr>
                <p:spPr bwMode="auto">
                  <a:xfrm>
                    <a:off x="1022" y="3740"/>
                    <a:ext cx="38" cy="10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49 w 74"/>
                      <a:gd name="T3" fmla="*/ 0 h 31"/>
                      <a:gd name="T4" fmla="*/ 51 w 74"/>
                      <a:gd name="T5" fmla="*/ 4 h 31"/>
                      <a:gd name="T6" fmla="*/ 57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10 w 74"/>
                      <a:gd name="T13" fmla="*/ 22 h 31"/>
                      <a:gd name="T14" fmla="*/ 0 w 74"/>
                      <a:gd name="T15" fmla="*/ 7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7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48" name="Freeform 516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750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1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1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49" name="Group 517"/>
                <p:cNvGrpSpPr>
                  <a:grpSpLocks/>
                </p:cNvGrpSpPr>
                <p:nvPr/>
              </p:nvGrpSpPr>
              <p:grpSpPr bwMode="auto">
                <a:xfrm>
                  <a:off x="1030" y="3753"/>
                  <a:ext cx="49" cy="23"/>
                  <a:chOff x="1030" y="3753"/>
                  <a:chExt cx="49" cy="23"/>
                </a:xfrm>
              </p:grpSpPr>
              <p:sp>
                <p:nvSpPr>
                  <p:cNvPr id="2176250" name="Freeform 518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53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2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51" name="Freeform 519"/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3753"/>
                    <a:ext cx="37" cy="11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51 w 74"/>
                      <a:gd name="T3" fmla="*/ 0 h 31"/>
                      <a:gd name="T4" fmla="*/ 52 w 74"/>
                      <a:gd name="T5" fmla="*/ 4 h 31"/>
                      <a:gd name="T6" fmla="*/ 56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10 w 74"/>
                      <a:gd name="T13" fmla="*/ 22 h 31"/>
                      <a:gd name="T14" fmla="*/ 0 w 74"/>
                      <a:gd name="T15" fmla="*/ 7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51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52" name="Freeform 520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764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7 w 82"/>
                      <a:gd name="T5" fmla="*/ 7 h 35"/>
                      <a:gd name="T6" fmla="*/ 11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6253" name="Freeform 521"/>
                <p:cNvSpPr>
                  <a:spLocks noChangeArrowheads="1"/>
                </p:cNvSpPr>
                <p:nvPr/>
              </p:nvSpPr>
              <p:spPr bwMode="auto">
                <a:xfrm>
                  <a:off x="778" y="3535"/>
                  <a:ext cx="12" cy="23"/>
                </a:xfrm>
                <a:custGeom>
                  <a:avLst/>
                  <a:gdLst>
                    <a:gd name="T0" fmla="*/ 13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1 h 68"/>
                    <a:gd name="T8" fmla="*/ 13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254" name="Freeform 522"/>
                <p:cNvSpPr>
                  <a:spLocks noChangeArrowheads="1"/>
                </p:cNvSpPr>
                <p:nvPr/>
              </p:nvSpPr>
              <p:spPr bwMode="auto">
                <a:xfrm>
                  <a:off x="783" y="3535"/>
                  <a:ext cx="36" cy="11"/>
                </a:xfrm>
                <a:custGeom>
                  <a:avLst/>
                  <a:gdLst>
                    <a:gd name="T0" fmla="*/ 1 w 72"/>
                    <a:gd name="T1" fmla="*/ 0 h 31"/>
                    <a:gd name="T2" fmla="*/ 50 w 72"/>
                    <a:gd name="T3" fmla="*/ 0 h 31"/>
                    <a:gd name="T4" fmla="*/ 51 w 72"/>
                    <a:gd name="T5" fmla="*/ 4 h 31"/>
                    <a:gd name="T6" fmla="*/ 57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255" name="Freeform 523"/>
                <p:cNvSpPr>
                  <a:spLocks noChangeArrowheads="1"/>
                </p:cNvSpPr>
                <p:nvPr/>
              </p:nvSpPr>
              <p:spPr bwMode="auto">
                <a:xfrm>
                  <a:off x="786" y="3546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21 h 36"/>
                    <a:gd name="T4" fmla="*/ 7 w 83"/>
                    <a:gd name="T5" fmla="*/ 8 h 36"/>
                    <a:gd name="T6" fmla="*/ 12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21"/>
                      </a:lnTo>
                      <a:lnTo>
                        <a:pt x="7" y="8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256" name="Group 524"/>
                <p:cNvGrpSpPr>
                  <a:grpSpLocks/>
                </p:cNvGrpSpPr>
                <p:nvPr/>
              </p:nvGrpSpPr>
              <p:grpSpPr bwMode="auto">
                <a:xfrm>
                  <a:off x="790" y="3547"/>
                  <a:ext cx="49" cy="23"/>
                  <a:chOff x="790" y="3547"/>
                  <a:chExt cx="49" cy="23"/>
                </a:xfrm>
              </p:grpSpPr>
              <p:sp>
                <p:nvSpPr>
                  <p:cNvPr id="2176257" name="Freeform 525"/>
                  <p:cNvSpPr>
                    <a:spLocks noChangeArrowheads="1"/>
                  </p:cNvSpPr>
                  <p:nvPr/>
                </p:nvSpPr>
                <p:spPr bwMode="auto">
                  <a:xfrm>
                    <a:off x="790" y="3547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58" name="Freeform 526"/>
                  <p:cNvSpPr>
                    <a:spLocks noChangeArrowheads="1"/>
                  </p:cNvSpPr>
                  <p:nvPr/>
                </p:nvSpPr>
                <p:spPr bwMode="auto">
                  <a:xfrm>
                    <a:off x="795" y="3548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48 w 73"/>
                      <a:gd name="T3" fmla="*/ 0 h 29"/>
                      <a:gd name="T4" fmla="*/ 50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59" name="Freeform 527"/>
                  <p:cNvSpPr>
                    <a:spLocks noChangeArrowheads="1"/>
                  </p:cNvSpPr>
                  <p:nvPr/>
                </p:nvSpPr>
                <p:spPr bwMode="auto">
                  <a:xfrm>
                    <a:off x="798" y="355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7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60" name="Group 528"/>
                <p:cNvGrpSpPr>
                  <a:grpSpLocks/>
                </p:cNvGrpSpPr>
                <p:nvPr/>
              </p:nvGrpSpPr>
              <p:grpSpPr bwMode="auto">
                <a:xfrm>
                  <a:off x="803" y="3560"/>
                  <a:ext cx="49" cy="22"/>
                  <a:chOff x="803" y="3560"/>
                  <a:chExt cx="49" cy="22"/>
                </a:xfrm>
              </p:grpSpPr>
              <p:sp>
                <p:nvSpPr>
                  <p:cNvPr id="2176261" name="Freeform 529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560"/>
                    <a:ext cx="12" cy="22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1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62" name="Freeform 530"/>
                  <p:cNvSpPr>
                    <a:spLocks noChangeArrowheads="1"/>
                  </p:cNvSpPr>
                  <p:nvPr/>
                </p:nvSpPr>
                <p:spPr bwMode="auto">
                  <a:xfrm>
                    <a:off x="808" y="3560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63" name="Freeform 531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571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2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2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64" name="Group 532"/>
                <p:cNvGrpSpPr>
                  <a:grpSpLocks/>
                </p:cNvGrpSpPr>
                <p:nvPr/>
              </p:nvGrpSpPr>
              <p:grpSpPr bwMode="auto">
                <a:xfrm>
                  <a:off x="815" y="3572"/>
                  <a:ext cx="50" cy="23"/>
                  <a:chOff x="815" y="3572"/>
                  <a:chExt cx="50" cy="23"/>
                </a:xfrm>
              </p:grpSpPr>
              <p:sp>
                <p:nvSpPr>
                  <p:cNvPr id="2176265" name="Freeform 533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572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5 h 68"/>
                      <a:gd name="T4" fmla="*/ 10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5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66" name="Freeform 534"/>
                  <p:cNvSpPr>
                    <a:spLocks noChangeArrowheads="1"/>
                  </p:cNvSpPr>
                  <p:nvPr/>
                </p:nvSpPr>
                <p:spPr bwMode="auto">
                  <a:xfrm>
                    <a:off x="820" y="3573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67" name="Freeform 535"/>
                  <p:cNvSpPr>
                    <a:spLocks noChangeArrowheads="1"/>
                  </p:cNvSpPr>
                  <p:nvPr/>
                </p:nvSpPr>
                <p:spPr bwMode="auto">
                  <a:xfrm>
                    <a:off x="824" y="3583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6 w 82"/>
                      <a:gd name="T5" fmla="*/ 7 h 36"/>
                      <a:gd name="T6" fmla="*/ 10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68" name="Group 536"/>
                <p:cNvGrpSpPr>
                  <a:grpSpLocks/>
                </p:cNvGrpSpPr>
                <p:nvPr/>
              </p:nvGrpSpPr>
              <p:grpSpPr bwMode="auto">
                <a:xfrm>
                  <a:off x="828" y="3585"/>
                  <a:ext cx="49" cy="23"/>
                  <a:chOff x="828" y="3585"/>
                  <a:chExt cx="49" cy="23"/>
                </a:xfrm>
              </p:grpSpPr>
              <p:sp>
                <p:nvSpPr>
                  <p:cNvPr id="2176269" name="Freeform 537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58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70" name="Freeform 538"/>
                  <p:cNvSpPr>
                    <a:spLocks noChangeArrowheads="1"/>
                  </p:cNvSpPr>
                  <p:nvPr/>
                </p:nvSpPr>
                <p:spPr bwMode="auto">
                  <a:xfrm>
                    <a:off x="833" y="3586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1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271" name="Freeform 539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3596"/>
                    <a:ext cx="40" cy="12"/>
                  </a:xfrm>
                  <a:custGeom>
                    <a:avLst/>
                    <a:gdLst>
                      <a:gd name="T0" fmla="*/ 0 w 80"/>
                      <a:gd name="T1" fmla="*/ 36 h 36"/>
                      <a:gd name="T2" fmla="*/ 1 w 80"/>
                      <a:gd name="T3" fmla="*/ 20 h 36"/>
                      <a:gd name="T4" fmla="*/ 5 w 80"/>
                      <a:gd name="T5" fmla="*/ 8 h 36"/>
                      <a:gd name="T6" fmla="*/ 10 w 80"/>
                      <a:gd name="T7" fmla="*/ 0 h 36"/>
                      <a:gd name="T8" fmla="*/ 67 w 80"/>
                      <a:gd name="T9" fmla="*/ 0 h 36"/>
                      <a:gd name="T10" fmla="*/ 80 w 80"/>
                      <a:gd name="T11" fmla="*/ 36 h 36"/>
                      <a:gd name="T12" fmla="*/ 0 w 80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0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272" name="Group 540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100" cy="73"/>
                  <a:chOff x="840" y="3600"/>
                  <a:chExt cx="100" cy="73"/>
                </a:xfrm>
              </p:grpSpPr>
              <p:grpSp>
                <p:nvGrpSpPr>
                  <p:cNvPr id="2176273" name="Group 541"/>
                  <p:cNvGrpSpPr>
                    <a:grpSpLocks/>
                  </p:cNvGrpSpPr>
                  <p:nvPr/>
                </p:nvGrpSpPr>
                <p:grpSpPr bwMode="auto">
                  <a:xfrm>
                    <a:off x="840" y="3600"/>
                    <a:ext cx="49" cy="23"/>
                    <a:chOff x="840" y="3600"/>
                    <a:chExt cx="49" cy="23"/>
                  </a:xfrm>
                </p:grpSpPr>
                <p:sp>
                  <p:nvSpPr>
                    <p:cNvPr id="2176274" name="Freeform 5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0" y="3600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70 h 70"/>
                        <a:gd name="T2" fmla="*/ 0 w 25"/>
                        <a:gd name="T3" fmla="*/ 27 h 70"/>
                        <a:gd name="T4" fmla="*/ 10 w 25"/>
                        <a:gd name="T5" fmla="*/ 0 h 70"/>
                        <a:gd name="T6" fmla="*/ 25 w 25"/>
                        <a:gd name="T7" fmla="*/ 31 h 70"/>
                        <a:gd name="T8" fmla="*/ 15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5" y="70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5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75" name="Freeform 5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5" y="3600"/>
                      <a:ext cx="37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76" name="Freeform 5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8" y="3611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2 h 38"/>
                        <a:gd name="T4" fmla="*/ 8 w 82"/>
                        <a:gd name="T5" fmla="*/ 8 h 38"/>
                        <a:gd name="T6" fmla="*/ 12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2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77" name="Group 545"/>
                  <p:cNvGrpSpPr>
                    <a:grpSpLocks/>
                  </p:cNvGrpSpPr>
                  <p:nvPr/>
                </p:nvGrpSpPr>
                <p:grpSpPr bwMode="auto">
                  <a:xfrm>
                    <a:off x="853" y="3612"/>
                    <a:ext cx="48" cy="23"/>
                    <a:chOff x="853" y="3612"/>
                    <a:chExt cx="48" cy="23"/>
                  </a:xfrm>
                </p:grpSpPr>
                <p:sp>
                  <p:nvSpPr>
                    <p:cNvPr id="2176278" name="Freeform 5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3" y="3612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10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10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79" name="Freeform 5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7" y="3613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2"/>
                        <a:gd name="T2" fmla="*/ 50 w 73"/>
                        <a:gd name="T3" fmla="*/ 0 h 32"/>
                        <a:gd name="T4" fmla="*/ 51 w 73"/>
                        <a:gd name="T5" fmla="*/ 3 h 32"/>
                        <a:gd name="T6" fmla="*/ 56 w 73"/>
                        <a:gd name="T7" fmla="*/ 15 h 32"/>
                        <a:gd name="T8" fmla="*/ 73 w 73"/>
                        <a:gd name="T9" fmla="*/ 32 h 32"/>
                        <a:gd name="T10" fmla="*/ 18 w 73"/>
                        <a:gd name="T11" fmla="*/ 32 h 32"/>
                        <a:gd name="T12" fmla="*/ 9 w 73"/>
                        <a:gd name="T13" fmla="*/ 22 h 32"/>
                        <a:gd name="T14" fmla="*/ 0 w 73"/>
                        <a:gd name="T15" fmla="*/ 7 h 32"/>
                        <a:gd name="T16" fmla="*/ 1 w 73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2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5"/>
                          </a:lnTo>
                          <a:lnTo>
                            <a:pt x="73" y="32"/>
                          </a:lnTo>
                          <a:lnTo>
                            <a:pt x="18" y="32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80" name="Freeform 5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0" y="3623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21 h 36"/>
                        <a:gd name="T4" fmla="*/ 6 w 83"/>
                        <a:gd name="T5" fmla="*/ 8 h 36"/>
                        <a:gd name="T6" fmla="*/ 13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6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81" name="Group 549"/>
                  <p:cNvGrpSpPr>
                    <a:grpSpLocks/>
                  </p:cNvGrpSpPr>
                  <p:nvPr/>
                </p:nvGrpSpPr>
                <p:grpSpPr bwMode="auto">
                  <a:xfrm>
                    <a:off x="865" y="3625"/>
                    <a:ext cx="49" cy="23"/>
                    <a:chOff x="865" y="3625"/>
                    <a:chExt cx="49" cy="23"/>
                  </a:xfrm>
                </p:grpSpPr>
                <p:sp>
                  <p:nvSpPr>
                    <p:cNvPr id="2176282" name="Freeform 5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5" y="362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0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0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83" name="Freeform 5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3626"/>
                      <a:ext cx="37" cy="9"/>
                    </a:xfrm>
                    <a:custGeom>
                      <a:avLst/>
                      <a:gdLst>
                        <a:gd name="T0" fmla="*/ 1 w 73"/>
                        <a:gd name="T1" fmla="*/ 0 h 29"/>
                        <a:gd name="T2" fmla="*/ 50 w 73"/>
                        <a:gd name="T3" fmla="*/ 0 h 29"/>
                        <a:gd name="T4" fmla="*/ 52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6 h 29"/>
                        <a:gd name="T16" fmla="*/ 1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84" name="Freeform 5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3" y="3636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7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85" name="Group 553"/>
                  <p:cNvGrpSpPr>
                    <a:grpSpLocks/>
                  </p:cNvGrpSpPr>
                  <p:nvPr/>
                </p:nvGrpSpPr>
                <p:grpSpPr bwMode="auto">
                  <a:xfrm>
                    <a:off x="878" y="3638"/>
                    <a:ext cx="49" cy="22"/>
                    <a:chOff x="878" y="3638"/>
                    <a:chExt cx="49" cy="22"/>
                  </a:xfrm>
                </p:grpSpPr>
                <p:sp>
                  <p:nvSpPr>
                    <p:cNvPr id="2176286" name="Freeform 5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8" y="3638"/>
                      <a:ext cx="12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87" name="Freeform 5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3" y="3638"/>
                      <a:ext cx="36" cy="10"/>
                    </a:xfrm>
                    <a:custGeom>
                      <a:avLst/>
                      <a:gdLst>
                        <a:gd name="T0" fmla="*/ 1 w 72"/>
                        <a:gd name="T1" fmla="*/ 0 h 30"/>
                        <a:gd name="T2" fmla="*/ 49 w 72"/>
                        <a:gd name="T3" fmla="*/ 0 h 30"/>
                        <a:gd name="T4" fmla="*/ 51 w 72"/>
                        <a:gd name="T5" fmla="*/ 3 h 30"/>
                        <a:gd name="T6" fmla="*/ 56 w 72"/>
                        <a:gd name="T7" fmla="*/ 12 h 30"/>
                        <a:gd name="T8" fmla="*/ 72 w 72"/>
                        <a:gd name="T9" fmla="*/ 30 h 30"/>
                        <a:gd name="T10" fmla="*/ 18 w 72"/>
                        <a:gd name="T11" fmla="*/ 30 h 30"/>
                        <a:gd name="T12" fmla="*/ 9 w 72"/>
                        <a:gd name="T13" fmla="*/ 21 h 30"/>
                        <a:gd name="T14" fmla="*/ 0 w 72"/>
                        <a:gd name="T15" fmla="*/ 5 h 30"/>
                        <a:gd name="T16" fmla="*/ 1 w 72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30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2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88" name="Freeform 5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6" y="3648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1 w 82"/>
                        <a:gd name="T7" fmla="*/ 0 h 36"/>
                        <a:gd name="T8" fmla="*/ 66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1" y="0"/>
                          </a:lnTo>
                          <a:lnTo>
                            <a:pt x="66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89" name="Group 557"/>
                  <p:cNvGrpSpPr>
                    <a:grpSpLocks/>
                  </p:cNvGrpSpPr>
                  <p:nvPr/>
                </p:nvGrpSpPr>
                <p:grpSpPr bwMode="auto">
                  <a:xfrm>
                    <a:off x="890" y="3651"/>
                    <a:ext cx="50" cy="22"/>
                    <a:chOff x="890" y="3651"/>
                    <a:chExt cx="50" cy="22"/>
                  </a:xfrm>
                </p:grpSpPr>
                <p:sp>
                  <p:nvSpPr>
                    <p:cNvPr id="2176290" name="Freeform 5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51"/>
                      <a:ext cx="13" cy="22"/>
                    </a:xfrm>
                    <a:custGeom>
                      <a:avLst/>
                      <a:gdLst>
                        <a:gd name="T0" fmla="*/ 16 w 25"/>
                        <a:gd name="T1" fmla="*/ 67 h 67"/>
                        <a:gd name="T2" fmla="*/ 0 w 25"/>
                        <a:gd name="T3" fmla="*/ 26 h 67"/>
                        <a:gd name="T4" fmla="*/ 12 w 25"/>
                        <a:gd name="T5" fmla="*/ 0 h 67"/>
                        <a:gd name="T6" fmla="*/ 25 w 25"/>
                        <a:gd name="T7" fmla="*/ 30 h 67"/>
                        <a:gd name="T8" fmla="*/ 16 w 25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7">
                          <a:moveTo>
                            <a:pt x="16" y="67"/>
                          </a:moveTo>
                          <a:lnTo>
                            <a:pt x="0" y="26"/>
                          </a:lnTo>
                          <a:lnTo>
                            <a:pt x="12" y="0"/>
                          </a:lnTo>
                          <a:lnTo>
                            <a:pt x="25" y="30"/>
                          </a:lnTo>
                          <a:lnTo>
                            <a:pt x="16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91" name="Freeform 5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5" y="3651"/>
                      <a:ext cx="37" cy="10"/>
                    </a:xfrm>
                    <a:custGeom>
                      <a:avLst/>
                      <a:gdLst>
                        <a:gd name="T0" fmla="*/ 2 w 73"/>
                        <a:gd name="T1" fmla="*/ 0 h 29"/>
                        <a:gd name="T2" fmla="*/ 48 w 73"/>
                        <a:gd name="T3" fmla="*/ 0 h 29"/>
                        <a:gd name="T4" fmla="*/ 51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5 h 29"/>
                        <a:gd name="T16" fmla="*/ 2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2" y="0"/>
                          </a:moveTo>
                          <a:lnTo>
                            <a:pt x="48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92" name="Freeform 5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662"/>
                      <a:ext cx="41" cy="11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2 w 83"/>
                        <a:gd name="T3" fmla="*/ 19 h 35"/>
                        <a:gd name="T4" fmla="*/ 7 w 83"/>
                        <a:gd name="T5" fmla="*/ 7 h 35"/>
                        <a:gd name="T6" fmla="*/ 11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2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293" name="Group 561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99" cy="74"/>
                  <a:chOff x="903" y="3665"/>
                  <a:chExt cx="99" cy="74"/>
                </a:xfrm>
              </p:grpSpPr>
              <p:grpSp>
                <p:nvGrpSpPr>
                  <p:cNvPr id="2176294" name="Group 562"/>
                  <p:cNvGrpSpPr>
                    <a:grpSpLocks/>
                  </p:cNvGrpSpPr>
                  <p:nvPr/>
                </p:nvGrpSpPr>
                <p:grpSpPr bwMode="auto">
                  <a:xfrm>
                    <a:off x="903" y="3665"/>
                    <a:ext cx="49" cy="23"/>
                    <a:chOff x="903" y="3665"/>
                    <a:chExt cx="49" cy="23"/>
                  </a:xfrm>
                </p:grpSpPr>
                <p:sp>
                  <p:nvSpPr>
                    <p:cNvPr id="2176295" name="Freeform 5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3" y="366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10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96" name="Freeform 5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666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1"/>
                        <a:gd name="T2" fmla="*/ 49 w 73"/>
                        <a:gd name="T3" fmla="*/ 0 h 31"/>
                        <a:gd name="T4" fmla="*/ 51 w 73"/>
                        <a:gd name="T5" fmla="*/ 4 h 31"/>
                        <a:gd name="T6" fmla="*/ 56 w 73"/>
                        <a:gd name="T7" fmla="*/ 13 h 31"/>
                        <a:gd name="T8" fmla="*/ 73 w 73"/>
                        <a:gd name="T9" fmla="*/ 31 h 31"/>
                        <a:gd name="T10" fmla="*/ 18 w 73"/>
                        <a:gd name="T11" fmla="*/ 31 h 31"/>
                        <a:gd name="T12" fmla="*/ 10 w 73"/>
                        <a:gd name="T13" fmla="*/ 22 h 31"/>
                        <a:gd name="T14" fmla="*/ 0 w 73"/>
                        <a:gd name="T15" fmla="*/ 7 h 31"/>
                        <a:gd name="T16" fmla="*/ 1 w 73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1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3" y="31"/>
                          </a:lnTo>
                          <a:lnTo>
                            <a:pt x="18" y="31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297" name="Freeform 5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1" y="3676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20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6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6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298" name="Group 566"/>
                  <p:cNvGrpSpPr>
                    <a:grpSpLocks/>
                  </p:cNvGrpSpPr>
                  <p:nvPr/>
                </p:nvGrpSpPr>
                <p:grpSpPr bwMode="auto">
                  <a:xfrm>
                    <a:off x="914" y="3678"/>
                    <a:ext cx="49" cy="23"/>
                    <a:chOff x="914" y="3678"/>
                    <a:chExt cx="49" cy="23"/>
                  </a:xfrm>
                </p:grpSpPr>
                <p:sp>
                  <p:nvSpPr>
                    <p:cNvPr id="2176299" name="Freeform 5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4" y="3678"/>
                      <a:ext cx="13" cy="23"/>
                    </a:xfrm>
                    <a:custGeom>
                      <a:avLst/>
                      <a:gdLst>
                        <a:gd name="T0" fmla="*/ 14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4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4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0" name="Freeform 5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678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0"/>
                        <a:gd name="T2" fmla="*/ 50 w 75"/>
                        <a:gd name="T3" fmla="*/ 0 h 30"/>
                        <a:gd name="T4" fmla="*/ 51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1 w 75"/>
                        <a:gd name="T13" fmla="*/ 20 h 30"/>
                        <a:gd name="T14" fmla="*/ 0 w 75"/>
                        <a:gd name="T15" fmla="*/ 6 h 30"/>
                        <a:gd name="T16" fmla="*/ 1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1" name="Freeform 5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2" y="3688"/>
                      <a:ext cx="41" cy="13"/>
                    </a:xfrm>
                    <a:custGeom>
                      <a:avLst/>
                      <a:gdLst>
                        <a:gd name="T0" fmla="*/ 0 w 81"/>
                        <a:gd name="T1" fmla="*/ 38 h 38"/>
                        <a:gd name="T2" fmla="*/ 2 w 81"/>
                        <a:gd name="T3" fmla="*/ 21 h 38"/>
                        <a:gd name="T4" fmla="*/ 8 w 81"/>
                        <a:gd name="T5" fmla="*/ 8 h 38"/>
                        <a:gd name="T6" fmla="*/ 12 w 81"/>
                        <a:gd name="T7" fmla="*/ 0 h 38"/>
                        <a:gd name="T8" fmla="*/ 68 w 81"/>
                        <a:gd name="T9" fmla="*/ 0 h 38"/>
                        <a:gd name="T10" fmla="*/ 81 w 81"/>
                        <a:gd name="T11" fmla="*/ 38 h 38"/>
                        <a:gd name="T12" fmla="*/ 0 w 81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8">
                          <a:moveTo>
                            <a:pt x="0" y="38"/>
                          </a:moveTo>
                          <a:lnTo>
                            <a:pt x="2" y="21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02" name="Group 570"/>
                  <p:cNvGrpSpPr>
                    <a:grpSpLocks/>
                  </p:cNvGrpSpPr>
                  <p:nvPr/>
                </p:nvGrpSpPr>
                <p:grpSpPr bwMode="auto">
                  <a:xfrm>
                    <a:off x="928" y="3690"/>
                    <a:ext cx="48" cy="23"/>
                    <a:chOff x="928" y="3690"/>
                    <a:chExt cx="48" cy="23"/>
                  </a:xfrm>
                </p:grpSpPr>
                <p:sp>
                  <p:nvSpPr>
                    <p:cNvPr id="2176303" name="Freeform 5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90"/>
                      <a:ext cx="12" cy="23"/>
                    </a:xfrm>
                    <a:custGeom>
                      <a:avLst/>
                      <a:gdLst>
                        <a:gd name="T0" fmla="*/ 13 w 25"/>
                        <a:gd name="T1" fmla="*/ 70 h 70"/>
                        <a:gd name="T2" fmla="*/ 0 w 25"/>
                        <a:gd name="T3" fmla="*/ 29 h 70"/>
                        <a:gd name="T4" fmla="*/ 9 w 25"/>
                        <a:gd name="T5" fmla="*/ 0 h 70"/>
                        <a:gd name="T6" fmla="*/ 25 w 25"/>
                        <a:gd name="T7" fmla="*/ 33 h 70"/>
                        <a:gd name="T8" fmla="*/ 13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3" y="70"/>
                          </a:moveTo>
                          <a:lnTo>
                            <a:pt x="0" y="29"/>
                          </a:lnTo>
                          <a:lnTo>
                            <a:pt x="9" y="0"/>
                          </a:lnTo>
                          <a:lnTo>
                            <a:pt x="25" y="33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4" name="Freeform 5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2" y="3691"/>
                      <a:ext cx="38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6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0" y="22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5" name="Freeform 5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5" y="3701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19 h 36"/>
                        <a:gd name="T4" fmla="*/ 8 w 83"/>
                        <a:gd name="T5" fmla="*/ 7 h 36"/>
                        <a:gd name="T6" fmla="*/ 13 w 83"/>
                        <a:gd name="T7" fmla="*/ 0 h 36"/>
                        <a:gd name="T8" fmla="*/ 69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8" y="7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06" name="Group 574"/>
                  <p:cNvGrpSpPr>
                    <a:grpSpLocks/>
                  </p:cNvGrpSpPr>
                  <p:nvPr/>
                </p:nvGrpSpPr>
                <p:grpSpPr bwMode="auto">
                  <a:xfrm>
                    <a:off x="940" y="3703"/>
                    <a:ext cx="49" cy="23"/>
                    <a:chOff x="940" y="3703"/>
                    <a:chExt cx="49" cy="23"/>
                  </a:xfrm>
                </p:grpSpPr>
                <p:sp>
                  <p:nvSpPr>
                    <p:cNvPr id="2176307" name="Freeform 5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0" y="3703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8" name="Freeform 5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5" y="3703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0"/>
                        <a:gd name="T2" fmla="*/ 52 w 75"/>
                        <a:gd name="T3" fmla="*/ 0 h 30"/>
                        <a:gd name="T4" fmla="*/ 53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0 w 75"/>
                        <a:gd name="T13" fmla="*/ 21 h 30"/>
                        <a:gd name="T14" fmla="*/ 0 w 75"/>
                        <a:gd name="T15" fmla="*/ 7 h 30"/>
                        <a:gd name="T16" fmla="*/ 2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2" y="0"/>
                          </a:moveTo>
                          <a:lnTo>
                            <a:pt x="52" y="0"/>
                          </a:lnTo>
                          <a:lnTo>
                            <a:pt x="53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0" y="21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09" name="Freeform 5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8" y="3714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7 w 82"/>
                        <a:gd name="T5" fmla="*/ 8 h 36"/>
                        <a:gd name="T6" fmla="*/ 12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10" name="Group 578"/>
                  <p:cNvGrpSpPr>
                    <a:grpSpLocks/>
                  </p:cNvGrpSpPr>
                  <p:nvPr/>
                </p:nvGrpSpPr>
                <p:grpSpPr bwMode="auto">
                  <a:xfrm>
                    <a:off x="953" y="3716"/>
                    <a:ext cx="49" cy="23"/>
                    <a:chOff x="953" y="3716"/>
                    <a:chExt cx="49" cy="23"/>
                  </a:xfrm>
                </p:grpSpPr>
                <p:sp>
                  <p:nvSpPr>
                    <p:cNvPr id="2176311" name="Freeform 5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716"/>
                      <a:ext cx="12" cy="23"/>
                    </a:xfrm>
                    <a:custGeom>
                      <a:avLst/>
                      <a:gdLst>
                        <a:gd name="T0" fmla="*/ 14 w 23"/>
                        <a:gd name="T1" fmla="*/ 68 h 68"/>
                        <a:gd name="T2" fmla="*/ 0 w 23"/>
                        <a:gd name="T3" fmla="*/ 27 h 68"/>
                        <a:gd name="T4" fmla="*/ 9 w 23"/>
                        <a:gd name="T5" fmla="*/ 0 h 68"/>
                        <a:gd name="T6" fmla="*/ 23 w 23"/>
                        <a:gd name="T7" fmla="*/ 30 h 68"/>
                        <a:gd name="T8" fmla="*/ 14 w 23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3" y="30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12" name="Freeform 5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8" y="3717"/>
                      <a:ext cx="37" cy="9"/>
                    </a:xfrm>
                    <a:custGeom>
                      <a:avLst/>
                      <a:gdLst>
                        <a:gd name="T0" fmla="*/ 1 w 75"/>
                        <a:gd name="T1" fmla="*/ 0 h 29"/>
                        <a:gd name="T2" fmla="*/ 50 w 75"/>
                        <a:gd name="T3" fmla="*/ 0 h 29"/>
                        <a:gd name="T4" fmla="*/ 51 w 75"/>
                        <a:gd name="T5" fmla="*/ 3 h 29"/>
                        <a:gd name="T6" fmla="*/ 56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6 h 29"/>
                        <a:gd name="T16" fmla="*/ 1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13" name="Freeform 5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727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314" name="Group 582"/>
                <p:cNvGrpSpPr>
                  <a:grpSpLocks/>
                </p:cNvGrpSpPr>
                <p:nvPr/>
              </p:nvGrpSpPr>
              <p:grpSpPr bwMode="auto">
                <a:xfrm>
                  <a:off x="963" y="3727"/>
                  <a:ext cx="49" cy="23"/>
                  <a:chOff x="963" y="3727"/>
                  <a:chExt cx="49" cy="23"/>
                </a:xfrm>
              </p:grpSpPr>
              <p:sp>
                <p:nvSpPr>
                  <p:cNvPr id="2176315" name="Freeform 583"/>
                  <p:cNvSpPr>
                    <a:spLocks noChangeArrowheads="1"/>
                  </p:cNvSpPr>
                  <p:nvPr/>
                </p:nvSpPr>
                <p:spPr bwMode="auto">
                  <a:xfrm>
                    <a:off x="963" y="3727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16" name="Freeform 584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728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8 w 73"/>
                      <a:gd name="T3" fmla="*/ 0 h 31"/>
                      <a:gd name="T4" fmla="*/ 50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17" name="Freeform 585"/>
                  <p:cNvSpPr>
                    <a:spLocks noChangeArrowheads="1"/>
                  </p:cNvSpPr>
                  <p:nvPr/>
                </p:nvSpPr>
                <p:spPr bwMode="auto">
                  <a:xfrm>
                    <a:off x="972" y="373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18" name="Group 586"/>
                <p:cNvGrpSpPr>
                  <a:grpSpLocks/>
                </p:cNvGrpSpPr>
                <p:nvPr/>
              </p:nvGrpSpPr>
              <p:grpSpPr bwMode="auto">
                <a:xfrm>
                  <a:off x="976" y="3740"/>
                  <a:ext cx="50" cy="22"/>
                  <a:chOff x="976" y="3740"/>
                  <a:chExt cx="50" cy="22"/>
                </a:xfrm>
              </p:grpSpPr>
              <p:sp>
                <p:nvSpPr>
                  <p:cNvPr id="2176319" name="Freeform 587"/>
                  <p:cNvSpPr>
                    <a:spLocks noChangeArrowheads="1"/>
                  </p:cNvSpPr>
                  <p:nvPr/>
                </p:nvSpPr>
                <p:spPr bwMode="auto">
                  <a:xfrm>
                    <a:off x="976" y="3740"/>
                    <a:ext cx="12" cy="22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10 w 23"/>
                      <a:gd name="T5" fmla="*/ 0 h 68"/>
                      <a:gd name="T6" fmla="*/ 23 w 23"/>
                      <a:gd name="T7" fmla="*/ 31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3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0" name="Freeform 588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740"/>
                    <a:ext cx="38" cy="10"/>
                  </a:xfrm>
                  <a:custGeom>
                    <a:avLst/>
                    <a:gdLst>
                      <a:gd name="T0" fmla="*/ 4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60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2 w 75"/>
                      <a:gd name="T13" fmla="*/ 22 h 31"/>
                      <a:gd name="T14" fmla="*/ 0 w 75"/>
                      <a:gd name="T15" fmla="*/ 7 h 31"/>
                      <a:gd name="T16" fmla="*/ 4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4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60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2" y="22"/>
                        </a:lnTo>
                        <a:lnTo>
                          <a:pt x="0" y="7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1" name="Freeform 589"/>
                  <p:cNvSpPr>
                    <a:spLocks noChangeArrowheads="1"/>
                  </p:cNvSpPr>
                  <p:nvPr/>
                </p:nvSpPr>
                <p:spPr bwMode="auto">
                  <a:xfrm>
                    <a:off x="984" y="3750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1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22" name="Group 590"/>
                <p:cNvGrpSpPr>
                  <a:grpSpLocks/>
                </p:cNvGrpSpPr>
                <p:nvPr/>
              </p:nvGrpSpPr>
              <p:grpSpPr bwMode="auto">
                <a:xfrm>
                  <a:off x="761" y="3560"/>
                  <a:ext cx="50" cy="22"/>
                  <a:chOff x="761" y="3560"/>
                  <a:chExt cx="50" cy="22"/>
                </a:xfrm>
              </p:grpSpPr>
              <p:sp>
                <p:nvSpPr>
                  <p:cNvPr id="2176323" name="Freeform 591"/>
                  <p:cNvSpPr>
                    <a:spLocks noChangeArrowheads="1"/>
                  </p:cNvSpPr>
                  <p:nvPr/>
                </p:nvSpPr>
                <p:spPr bwMode="auto">
                  <a:xfrm>
                    <a:off x="761" y="3560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4" name="Freeform 592"/>
                  <p:cNvSpPr>
                    <a:spLocks noChangeArrowheads="1"/>
                  </p:cNvSpPr>
                  <p:nvPr/>
                </p:nvSpPr>
                <p:spPr bwMode="auto">
                  <a:xfrm>
                    <a:off x="767" y="3560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9 w 73"/>
                      <a:gd name="T3" fmla="*/ 0 h 29"/>
                      <a:gd name="T4" fmla="*/ 50 w 73"/>
                      <a:gd name="T5" fmla="*/ 2 h 29"/>
                      <a:gd name="T6" fmla="*/ 55 w 73"/>
                      <a:gd name="T7" fmla="*/ 11 h 29"/>
                      <a:gd name="T8" fmla="*/ 73 w 73"/>
                      <a:gd name="T9" fmla="*/ 29 h 29"/>
                      <a:gd name="T10" fmla="*/ 17 w 73"/>
                      <a:gd name="T11" fmla="*/ 29 h 29"/>
                      <a:gd name="T12" fmla="*/ 8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5" y="11"/>
                        </a:lnTo>
                        <a:lnTo>
                          <a:pt x="73" y="29"/>
                        </a:lnTo>
                        <a:lnTo>
                          <a:pt x="17" y="29"/>
                        </a:lnTo>
                        <a:lnTo>
                          <a:pt x="8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5" name="Freeform 593"/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571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8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26" name="Group 594"/>
                <p:cNvGrpSpPr>
                  <a:grpSpLocks/>
                </p:cNvGrpSpPr>
                <p:nvPr/>
              </p:nvGrpSpPr>
              <p:grpSpPr bwMode="auto">
                <a:xfrm>
                  <a:off x="774" y="3572"/>
                  <a:ext cx="49" cy="23"/>
                  <a:chOff x="774" y="3572"/>
                  <a:chExt cx="49" cy="23"/>
                </a:xfrm>
              </p:grpSpPr>
              <p:sp>
                <p:nvSpPr>
                  <p:cNvPr id="2176327" name="Freeform 595"/>
                  <p:cNvSpPr>
                    <a:spLocks noChangeArrowheads="1"/>
                  </p:cNvSpPr>
                  <p:nvPr/>
                </p:nvSpPr>
                <p:spPr bwMode="auto">
                  <a:xfrm>
                    <a:off x="774" y="3572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5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5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8" name="Freeform 596"/>
                  <p:cNvSpPr>
                    <a:spLocks noChangeArrowheads="1"/>
                  </p:cNvSpPr>
                  <p:nvPr/>
                </p:nvSpPr>
                <p:spPr bwMode="auto">
                  <a:xfrm>
                    <a:off x="778" y="3573"/>
                    <a:ext cx="38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29" name="Freeform 597"/>
                  <p:cNvSpPr>
                    <a:spLocks noChangeArrowheads="1"/>
                  </p:cNvSpPr>
                  <p:nvPr/>
                </p:nvSpPr>
                <p:spPr bwMode="auto">
                  <a:xfrm>
                    <a:off x="782" y="358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30" name="Group 598"/>
                <p:cNvGrpSpPr>
                  <a:grpSpLocks/>
                </p:cNvGrpSpPr>
                <p:nvPr/>
              </p:nvGrpSpPr>
              <p:grpSpPr bwMode="auto">
                <a:xfrm>
                  <a:off x="787" y="3585"/>
                  <a:ext cx="49" cy="23"/>
                  <a:chOff x="787" y="3585"/>
                  <a:chExt cx="49" cy="23"/>
                </a:xfrm>
              </p:grpSpPr>
              <p:sp>
                <p:nvSpPr>
                  <p:cNvPr id="2176331" name="Freeform 599"/>
                  <p:cNvSpPr>
                    <a:spLocks noChangeArrowheads="1"/>
                  </p:cNvSpPr>
                  <p:nvPr/>
                </p:nvSpPr>
                <p:spPr bwMode="auto">
                  <a:xfrm>
                    <a:off x="787" y="3585"/>
                    <a:ext cx="12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6 h 68"/>
                      <a:gd name="T4" fmla="*/ 9 w 24"/>
                      <a:gd name="T5" fmla="*/ 0 h 68"/>
                      <a:gd name="T6" fmla="*/ 24 w 24"/>
                      <a:gd name="T7" fmla="*/ 31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32" name="Freeform 600"/>
                  <p:cNvSpPr>
                    <a:spLocks noChangeArrowheads="1"/>
                  </p:cNvSpPr>
                  <p:nvPr/>
                </p:nvSpPr>
                <p:spPr bwMode="auto">
                  <a:xfrm>
                    <a:off x="792" y="3586"/>
                    <a:ext cx="36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2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1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33" name="Freeform 601"/>
                  <p:cNvSpPr>
                    <a:spLocks noChangeArrowheads="1"/>
                  </p:cNvSpPr>
                  <p:nvPr/>
                </p:nvSpPr>
                <p:spPr bwMode="auto">
                  <a:xfrm>
                    <a:off x="795" y="3596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0 h 36"/>
                      <a:gd name="T4" fmla="*/ 6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34" name="Group 602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99" cy="73"/>
                  <a:chOff x="799" y="3600"/>
                  <a:chExt cx="99" cy="73"/>
                </a:xfrm>
              </p:grpSpPr>
              <p:grpSp>
                <p:nvGrpSpPr>
                  <p:cNvPr id="2176335" name="Group 603"/>
                  <p:cNvGrpSpPr>
                    <a:grpSpLocks/>
                  </p:cNvGrpSpPr>
                  <p:nvPr/>
                </p:nvGrpSpPr>
                <p:grpSpPr bwMode="auto">
                  <a:xfrm>
                    <a:off x="799" y="3600"/>
                    <a:ext cx="48" cy="23"/>
                    <a:chOff x="799" y="3600"/>
                    <a:chExt cx="48" cy="23"/>
                  </a:xfrm>
                </p:grpSpPr>
                <p:sp>
                  <p:nvSpPr>
                    <p:cNvPr id="2176336" name="Freeform 6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99" y="3600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4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4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37" name="Freeform 6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3" y="3600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1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38" name="Freeform 6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7" y="361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2 h 38"/>
                        <a:gd name="T4" fmla="*/ 7 w 82"/>
                        <a:gd name="T5" fmla="*/ 8 h 38"/>
                        <a:gd name="T6" fmla="*/ 12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2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39" name="Group 607"/>
                  <p:cNvGrpSpPr>
                    <a:grpSpLocks/>
                  </p:cNvGrpSpPr>
                  <p:nvPr/>
                </p:nvGrpSpPr>
                <p:grpSpPr bwMode="auto">
                  <a:xfrm>
                    <a:off x="811" y="3612"/>
                    <a:ext cx="48" cy="23"/>
                    <a:chOff x="811" y="3612"/>
                    <a:chExt cx="48" cy="23"/>
                  </a:xfrm>
                </p:grpSpPr>
                <p:sp>
                  <p:nvSpPr>
                    <p:cNvPr id="2176340" name="Freeform 6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1" y="3612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8 h 69"/>
                        <a:gd name="T4" fmla="*/ 11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8"/>
                          </a:lnTo>
                          <a:lnTo>
                            <a:pt x="11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41" name="Freeform 6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5" y="3613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2"/>
                        <a:gd name="T2" fmla="*/ 52 w 75"/>
                        <a:gd name="T3" fmla="*/ 0 h 32"/>
                        <a:gd name="T4" fmla="*/ 53 w 75"/>
                        <a:gd name="T5" fmla="*/ 3 h 32"/>
                        <a:gd name="T6" fmla="*/ 57 w 75"/>
                        <a:gd name="T7" fmla="*/ 15 h 32"/>
                        <a:gd name="T8" fmla="*/ 75 w 75"/>
                        <a:gd name="T9" fmla="*/ 32 h 32"/>
                        <a:gd name="T10" fmla="*/ 19 w 75"/>
                        <a:gd name="T11" fmla="*/ 32 h 32"/>
                        <a:gd name="T12" fmla="*/ 10 w 75"/>
                        <a:gd name="T13" fmla="*/ 22 h 32"/>
                        <a:gd name="T14" fmla="*/ 0 w 75"/>
                        <a:gd name="T15" fmla="*/ 7 h 32"/>
                        <a:gd name="T16" fmla="*/ 3 w 75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2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3"/>
                          </a:lnTo>
                          <a:lnTo>
                            <a:pt x="57" y="15"/>
                          </a:lnTo>
                          <a:lnTo>
                            <a:pt x="75" y="32"/>
                          </a:lnTo>
                          <a:lnTo>
                            <a:pt x="19" y="32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42" name="Freeform 6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9" y="3623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1 h 36"/>
                        <a:gd name="T4" fmla="*/ 7 w 82"/>
                        <a:gd name="T5" fmla="*/ 8 h 36"/>
                        <a:gd name="T6" fmla="*/ 12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43" name="Group 611"/>
                  <p:cNvGrpSpPr>
                    <a:grpSpLocks/>
                  </p:cNvGrpSpPr>
                  <p:nvPr/>
                </p:nvGrpSpPr>
                <p:grpSpPr bwMode="auto">
                  <a:xfrm>
                    <a:off x="823" y="3625"/>
                    <a:ext cx="49" cy="23"/>
                    <a:chOff x="823" y="3625"/>
                    <a:chExt cx="49" cy="23"/>
                  </a:xfrm>
                </p:grpSpPr>
                <p:sp>
                  <p:nvSpPr>
                    <p:cNvPr id="2176344" name="Freeform 6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3" y="3625"/>
                      <a:ext cx="13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0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0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45" name="Freeform 6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8" y="3626"/>
                      <a:ext cx="37" cy="9"/>
                    </a:xfrm>
                    <a:custGeom>
                      <a:avLst/>
                      <a:gdLst>
                        <a:gd name="T0" fmla="*/ 1 w 73"/>
                        <a:gd name="T1" fmla="*/ 0 h 29"/>
                        <a:gd name="T2" fmla="*/ 50 w 73"/>
                        <a:gd name="T3" fmla="*/ 0 h 29"/>
                        <a:gd name="T4" fmla="*/ 51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6 h 29"/>
                        <a:gd name="T16" fmla="*/ 1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46" name="Freeform 6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2" y="3636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47" name="Group 615"/>
                  <p:cNvGrpSpPr>
                    <a:grpSpLocks/>
                  </p:cNvGrpSpPr>
                  <p:nvPr/>
                </p:nvGrpSpPr>
                <p:grpSpPr bwMode="auto">
                  <a:xfrm>
                    <a:off x="836" y="3638"/>
                    <a:ext cx="50" cy="22"/>
                    <a:chOff x="836" y="3638"/>
                    <a:chExt cx="50" cy="22"/>
                  </a:xfrm>
                </p:grpSpPr>
                <p:sp>
                  <p:nvSpPr>
                    <p:cNvPr id="2176348" name="Freeform 6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638"/>
                      <a:ext cx="12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2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2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49" name="Freeform 6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2" y="3638"/>
                      <a:ext cx="36" cy="10"/>
                    </a:xfrm>
                    <a:custGeom>
                      <a:avLst/>
                      <a:gdLst>
                        <a:gd name="T0" fmla="*/ 1 w 72"/>
                        <a:gd name="T1" fmla="*/ 0 h 30"/>
                        <a:gd name="T2" fmla="*/ 49 w 72"/>
                        <a:gd name="T3" fmla="*/ 0 h 30"/>
                        <a:gd name="T4" fmla="*/ 51 w 72"/>
                        <a:gd name="T5" fmla="*/ 3 h 30"/>
                        <a:gd name="T6" fmla="*/ 55 w 72"/>
                        <a:gd name="T7" fmla="*/ 12 h 30"/>
                        <a:gd name="T8" fmla="*/ 72 w 72"/>
                        <a:gd name="T9" fmla="*/ 30 h 30"/>
                        <a:gd name="T10" fmla="*/ 17 w 72"/>
                        <a:gd name="T11" fmla="*/ 30 h 30"/>
                        <a:gd name="T12" fmla="*/ 8 w 72"/>
                        <a:gd name="T13" fmla="*/ 21 h 30"/>
                        <a:gd name="T14" fmla="*/ 0 w 72"/>
                        <a:gd name="T15" fmla="*/ 5 h 30"/>
                        <a:gd name="T16" fmla="*/ 1 w 72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30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3"/>
                          </a:lnTo>
                          <a:lnTo>
                            <a:pt x="55" y="12"/>
                          </a:lnTo>
                          <a:lnTo>
                            <a:pt x="72" y="30"/>
                          </a:lnTo>
                          <a:lnTo>
                            <a:pt x="17" y="30"/>
                          </a:lnTo>
                          <a:lnTo>
                            <a:pt x="8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50" name="Freeform 6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" y="3648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19 h 36"/>
                        <a:gd name="T4" fmla="*/ 7 w 83"/>
                        <a:gd name="T5" fmla="*/ 8 h 36"/>
                        <a:gd name="T6" fmla="*/ 11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7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51" name="Group 619"/>
                  <p:cNvGrpSpPr>
                    <a:grpSpLocks/>
                  </p:cNvGrpSpPr>
                  <p:nvPr/>
                </p:nvGrpSpPr>
                <p:grpSpPr bwMode="auto">
                  <a:xfrm>
                    <a:off x="849" y="3651"/>
                    <a:ext cx="49" cy="22"/>
                    <a:chOff x="849" y="3651"/>
                    <a:chExt cx="49" cy="22"/>
                  </a:xfrm>
                </p:grpSpPr>
                <p:sp>
                  <p:nvSpPr>
                    <p:cNvPr id="2176352" name="Freeform 6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9" y="3651"/>
                      <a:ext cx="12" cy="22"/>
                    </a:xfrm>
                    <a:custGeom>
                      <a:avLst/>
                      <a:gdLst>
                        <a:gd name="T0" fmla="*/ 15 w 25"/>
                        <a:gd name="T1" fmla="*/ 67 h 67"/>
                        <a:gd name="T2" fmla="*/ 0 w 25"/>
                        <a:gd name="T3" fmla="*/ 26 h 67"/>
                        <a:gd name="T4" fmla="*/ 10 w 25"/>
                        <a:gd name="T5" fmla="*/ 0 h 67"/>
                        <a:gd name="T6" fmla="*/ 25 w 25"/>
                        <a:gd name="T7" fmla="*/ 30 h 67"/>
                        <a:gd name="T8" fmla="*/ 15 w 25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7">
                          <a:moveTo>
                            <a:pt x="15" y="67"/>
                          </a:moveTo>
                          <a:lnTo>
                            <a:pt x="0" y="26"/>
                          </a:lnTo>
                          <a:lnTo>
                            <a:pt x="10" y="0"/>
                          </a:lnTo>
                          <a:lnTo>
                            <a:pt x="25" y="30"/>
                          </a:lnTo>
                          <a:lnTo>
                            <a:pt x="15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53" name="Freeform 6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4" y="3651"/>
                      <a:ext cx="37" cy="10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49 w 74"/>
                        <a:gd name="T3" fmla="*/ 0 h 29"/>
                        <a:gd name="T4" fmla="*/ 50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5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54" name="Freeform 6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7" y="3662"/>
                      <a:ext cx="41" cy="11"/>
                    </a:xfrm>
                    <a:custGeom>
                      <a:avLst/>
                      <a:gdLst>
                        <a:gd name="T0" fmla="*/ 0 w 81"/>
                        <a:gd name="T1" fmla="*/ 35 h 35"/>
                        <a:gd name="T2" fmla="*/ 1 w 81"/>
                        <a:gd name="T3" fmla="*/ 19 h 35"/>
                        <a:gd name="T4" fmla="*/ 5 w 81"/>
                        <a:gd name="T5" fmla="*/ 7 h 35"/>
                        <a:gd name="T6" fmla="*/ 10 w 81"/>
                        <a:gd name="T7" fmla="*/ 0 h 35"/>
                        <a:gd name="T8" fmla="*/ 67 w 81"/>
                        <a:gd name="T9" fmla="*/ 0 h 35"/>
                        <a:gd name="T10" fmla="*/ 81 w 81"/>
                        <a:gd name="T11" fmla="*/ 35 h 35"/>
                        <a:gd name="T12" fmla="*/ 0 w 81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5">
                          <a:moveTo>
                            <a:pt x="0" y="35"/>
                          </a:moveTo>
                          <a:lnTo>
                            <a:pt x="1" y="19"/>
                          </a:lnTo>
                          <a:lnTo>
                            <a:pt x="5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1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355" name="Group 623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99" cy="74"/>
                  <a:chOff x="861" y="3665"/>
                  <a:chExt cx="99" cy="74"/>
                </a:xfrm>
              </p:grpSpPr>
              <p:grpSp>
                <p:nvGrpSpPr>
                  <p:cNvPr id="2176356" name="Group 624"/>
                  <p:cNvGrpSpPr>
                    <a:grpSpLocks/>
                  </p:cNvGrpSpPr>
                  <p:nvPr/>
                </p:nvGrpSpPr>
                <p:grpSpPr bwMode="auto">
                  <a:xfrm>
                    <a:off x="861" y="3665"/>
                    <a:ext cx="50" cy="23"/>
                    <a:chOff x="861" y="3665"/>
                    <a:chExt cx="50" cy="23"/>
                  </a:xfrm>
                </p:grpSpPr>
                <p:sp>
                  <p:nvSpPr>
                    <p:cNvPr id="2176357" name="Freeform 6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366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11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58" name="Freeform 6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5" y="3666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1"/>
                        <a:gd name="T2" fmla="*/ 52 w 75"/>
                        <a:gd name="T3" fmla="*/ 0 h 31"/>
                        <a:gd name="T4" fmla="*/ 53 w 75"/>
                        <a:gd name="T5" fmla="*/ 4 h 31"/>
                        <a:gd name="T6" fmla="*/ 57 w 75"/>
                        <a:gd name="T7" fmla="*/ 13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1 w 75"/>
                        <a:gd name="T13" fmla="*/ 22 h 31"/>
                        <a:gd name="T14" fmla="*/ 0 w 75"/>
                        <a:gd name="T15" fmla="*/ 7 h 31"/>
                        <a:gd name="T16" fmla="*/ 3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4"/>
                          </a:lnTo>
                          <a:lnTo>
                            <a:pt x="57" y="13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1" y="22"/>
                          </a:lnTo>
                          <a:lnTo>
                            <a:pt x="0" y="7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59" name="Freeform 6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9" y="367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20 h 36"/>
                        <a:gd name="T4" fmla="*/ 7 w 83"/>
                        <a:gd name="T5" fmla="*/ 7 h 36"/>
                        <a:gd name="T6" fmla="*/ 11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60" name="Group 628"/>
                  <p:cNvGrpSpPr>
                    <a:grpSpLocks/>
                  </p:cNvGrpSpPr>
                  <p:nvPr/>
                </p:nvGrpSpPr>
                <p:grpSpPr bwMode="auto">
                  <a:xfrm>
                    <a:off x="873" y="3678"/>
                    <a:ext cx="49" cy="23"/>
                    <a:chOff x="873" y="3678"/>
                    <a:chExt cx="49" cy="23"/>
                  </a:xfrm>
                </p:grpSpPr>
                <p:sp>
                  <p:nvSpPr>
                    <p:cNvPr id="2176361" name="Freeform 6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3" y="3678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3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62" name="Freeform 6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8" y="3678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0"/>
                        <a:gd name="T2" fmla="*/ 50 w 75"/>
                        <a:gd name="T3" fmla="*/ 0 h 30"/>
                        <a:gd name="T4" fmla="*/ 52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1 w 75"/>
                        <a:gd name="T13" fmla="*/ 20 h 30"/>
                        <a:gd name="T14" fmla="*/ 0 w 75"/>
                        <a:gd name="T15" fmla="*/ 6 h 30"/>
                        <a:gd name="T16" fmla="*/ 2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63" name="Freeform 6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0" y="3688"/>
                      <a:ext cx="42" cy="13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4 w 82"/>
                        <a:gd name="T3" fmla="*/ 21 h 38"/>
                        <a:gd name="T4" fmla="*/ 8 w 82"/>
                        <a:gd name="T5" fmla="*/ 8 h 38"/>
                        <a:gd name="T6" fmla="*/ 13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4" y="21"/>
                          </a:lnTo>
                          <a:lnTo>
                            <a:pt x="8" y="8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64" name="Group 632"/>
                  <p:cNvGrpSpPr>
                    <a:grpSpLocks/>
                  </p:cNvGrpSpPr>
                  <p:nvPr/>
                </p:nvGrpSpPr>
                <p:grpSpPr bwMode="auto">
                  <a:xfrm>
                    <a:off x="886" y="3690"/>
                    <a:ext cx="49" cy="23"/>
                    <a:chOff x="886" y="3690"/>
                    <a:chExt cx="49" cy="23"/>
                  </a:xfrm>
                </p:grpSpPr>
                <p:sp>
                  <p:nvSpPr>
                    <p:cNvPr id="2176365" name="Freeform 6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6" y="3690"/>
                      <a:ext cx="12" cy="23"/>
                    </a:xfrm>
                    <a:custGeom>
                      <a:avLst/>
                      <a:gdLst>
                        <a:gd name="T0" fmla="*/ 14 w 24"/>
                        <a:gd name="T1" fmla="*/ 70 h 70"/>
                        <a:gd name="T2" fmla="*/ 0 w 24"/>
                        <a:gd name="T3" fmla="*/ 29 h 70"/>
                        <a:gd name="T4" fmla="*/ 10 w 24"/>
                        <a:gd name="T5" fmla="*/ 0 h 70"/>
                        <a:gd name="T6" fmla="*/ 24 w 24"/>
                        <a:gd name="T7" fmla="*/ 33 h 70"/>
                        <a:gd name="T8" fmla="*/ 14 w 24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70">
                          <a:moveTo>
                            <a:pt x="14" y="70"/>
                          </a:moveTo>
                          <a:lnTo>
                            <a:pt x="0" y="29"/>
                          </a:lnTo>
                          <a:lnTo>
                            <a:pt x="10" y="0"/>
                          </a:lnTo>
                          <a:lnTo>
                            <a:pt x="24" y="33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66" name="Freeform 6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91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1"/>
                        <a:gd name="T2" fmla="*/ 52 w 75"/>
                        <a:gd name="T3" fmla="*/ 0 h 31"/>
                        <a:gd name="T4" fmla="*/ 53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6 h 31"/>
                        <a:gd name="T16" fmla="*/ 3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0" y="22"/>
                          </a:lnTo>
                          <a:lnTo>
                            <a:pt x="0" y="6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67" name="Freeform 6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3" y="3701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8 w 83"/>
                        <a:gd name="T5" fmla="*/ 7 h 36"/>
                        <a:gd name="T6" fmla="*/ 12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8" y="7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68" name="Group 636"/>
                  <p:cNvGrpSpPr>
                    <a:grpSpLocks/>
                  </p:cNvGrpSpPr>
                  <p:nvPr/>
                </p:nvGrpSpPr>
                <p:grpSpPr bwMode="auto">
                  <a:xfrm>
                    <a:off x="899" y="3703"/>
                    <a:ext cx="48" cy="23"/>
                    <a:chOff x="899" y="3703"/>
                    <a:chExt cx="48" cy="23"/>
                  </a:xfrm>
                </p:grpSpPr>
                <p:sp>
                  <p:nvSpPr>
                    <p:cNvPr id="2176369" name="Freeform 6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703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70" name="Freeform 6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3" y="3703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0"/>
                        <a:gd name="T2" fmla="*/ 50 w 75"/>
                        <a:gd name="T3" fmla="*/ 0 h 30"/>
                        <a:gd name="T4" fmla="*/ 51 w 75"/>
                        <a:gd name="T5" fmla="*/ 3 h 30"/>
                        <a:gd name="T6" fmla="*/ 56 w 75"/>
                        <a:gd name="T7" fmla="*/ 12 h 30"/>
                        <a:gd name="T8" fmla="*/ 75 w 75"/>
                        <a:gd name="T9" fmla="*/ 30 h 30"/>
                        <a:gd name="T10" fmla="*/ 18 w 75"/>
                        <a:gd name="T11" fmla="*/ 30 h 30"/>
                        <a:gd name="T12" fmla="*/ 9 w 75"/>
                        <a:gd name="T13" fmla="*/ 21 h 30"/>
                        <a:gd name="T14" fmla="*/ 0 w 75"/>
                        <a:gd name="T15" fmla="*/ 7 h 30"/>
                        <a:gd name="T16" fmla="*/ 1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5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71" name="Freeform 6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714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5 w 82"/>
                        <a:gd name="T5" fmla="*/ 8 h 36"/>
                        <a:gd name="T6" fmla="*/ 12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5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372" name="Group 640"/>
                  <p:cNvGrpSpPr>
                    <a:grpSpLocks/>
                  </p:cNvGrpSpPr>
                  <p:nvPr/>
                </p:nvGrpSpPr>
                <p:grpSpPr bwMode="auto">
                  <a:xfrm>
                    <a:off x="912" y="3716"/>
                    <a:ext cx="48" cy="23"/>
                    <a:chOff x="912" y="3716"/>
                    <a:chExt cx="48" cy="23"/>
                  </a:xfrm>
                </p:grpSpPr>
                <p:sp>
                  <p:nvSpPr>
                    <p:cNvPr id="2176373" name="Freeform 6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3716"/>
                      <a:ext cx="11" cy="23"/>
                    </a:xfrm>
                    <a:custGeom>
                      <a:avLst/>
                      <a:gdLst>
                        <a:gd name="T0" fmla="*/ 13 w 22"/>
                        <a:gd name="T1" fmla="*/ 68 h 68"/>
                        <a:gd name="T2" fmla="*/ 0 w 22"/>
                        <a:gd name="T3" fmla="*/ 27 h 68"/>
                        <a:gd name="T4" fmla="*/ 9 w 22"/>
                        <a:gd name="T5" fmla="*/ 0 h 68"/>
                        <a:gd name="T6" fmla="*/ 22 w 22"/>
                        <a:gd name="T7" fmla="*/ 30 h 68"/>
                        <a:gd name="T8" fmla="*/ 13 w 22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2" y="30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74" name="Freeform 6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6" y="3717"/>
                      <a:ext cx="37" cy="9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50 w 74"/>
                        <a:gd name="T3" fmla="*/ 0 h 29"/>
                        <a:gd name="T4" fmla="*/ 51 w 74"/>
                        <a:gd name="T5" fmla="*/ 3 h 29"/>
                        <a:gd name="T6" fmla="*/ 55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8 w 74"/>
                        <a:gd name="T13" fmla="*/ 20 h 29"/>
                        <a:gd name="T14" fmla="*/ 0 w 74"/>
                        <a:gd name="T15" fmla="*/ 6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5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8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75" name="Freeform 6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727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7 w 83"/>
                        <a:gd name="T5" fmla="*/ 7 h 36"/>
                        <a:gd name="T6" fmla="*/ 11 w 83"/>
                        <a:gd name="T7" fmla="*/ 0 h 36"/>
                        <a:gd name="T8" fmla="*/ 69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9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376" name="Group 644"/>
                <p:cNvGrpSpPr>
                  <a:grpSpLocks/>
                </p:cNvGrpSpPr>
                <p:nvPr/>
              </p:nvGrpSpPr>
              <p:grpSpPr bwMode="auto">
                <a:xfrm>
                  <a:off x="922" y="3727"/>
                  <a:ext cx="49" cy="23"/>
                  <a:chOff x="922" y="3727"/>
                  <a:chExt cx="49" cy="23"/>
                </a:xfrm>
              </p:grpSpPr>
              <p:sp>
                <p:nvSpPr>
                  <p:cNvPr id="2176377" name="Freeform 645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727"/>
                    <a:ext cx="12" cy="23"/>
                  </a:xfrm>
                  <a:custGeom>
                    <a:avLst/>
                    <a:gdLst>
                      <a:gd name="T0" fmla="*/ 15 w 24"/>
                      <a:gd name="T1" fmla="*/ 69 h 69"/>
                      <a:gd name="T2" fmla="*/ 0 w 24"/>
                      <a:gd name="T3" fmla="*/ 27 h 69"/>
                      <a:gd name="T4" fmla="*/ 11 w 24"/>
                      <a:gd name="T5" fmla="*/ 0 h 69"/>
                      <a:gd name="T6" fmla="*/ 24 w 24"/>
                      <a:gd name="T7" fmla="*/ 32 h 69"/>
                      <a:gd name="T8" fmla="*/ 15 w 24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78" name="Freeform 646"/>
                  <p:cNvSpPr>
                    <a:spLocks noChangeArrowheads="1"/>
                  </p:cNvSpPr>
                  <p:nvPr/>
                </p:nvSpPr>
                <p:spPr bwMode="auto">
                  <a:xfrm>
                    <a:off x="927" y="3728"/>
                    <a:ext cx="36" cy="10"/>
                  </a:xfrm>
                  <a:custGeom>
                    <a:avLst/>
                    <a:gdLst>
                      <a:gd name="T0" fmla="*/ 1 w 72"/>
                      <a:gd name="T1" fmla="*/ 0 h 31"/>
                      <a:gd name="T2" fmla="*/ 49 w 72"/>
                      <a:gd name="T3" fmla="*/ 0 h 31"/>
                      <a:gd name="T4" fmla="*/ 50 w 72"/>
                      <a:gd name="T5" fmla="*/ 4 h 31"/>
                      <a:gd name="T6" fmla="*/ 56 w 72"/>
                      <a:gd name="T7" fmla="*/ 13 h 31"/>
                      <a:gd name="T8" fmla="*/ 72 w 72"/>
                      <a:gd name="T9" fmla="*/ 31 h 31"/>
                      <a:gd name="T10" fmla="*/ 18 w 72"/>
                      <a:gd name="T11" fmla="*/ 31 h 31"/>
                      <a:gd name="T12" fmla="*/ 9 w 72"/>
                      <a:gd name="T13" fmla="*/ 22 h 31"/>
                      <a:gd name="T14" fmla="*/ 0 w 72"/>
                      <a:gd name="T15" fmla="*/ 7 h 31"/>
                      <a:gd name="T16" fmla="*/ 1 w 72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4"/>
                        </a:lnTo>
                        <a:lnTo>
                          <a:pt x="56" y="13"/>
                        </a:lnTo>
                        <a:lnTo>
                          <a:pt x="72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79" name="Freeform 64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73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80" name="Group 648"/>
                <p:cNvGrpSpPr>
                  <a:grpSpLocks/>
                </p:cNvGrpSpPr>
                <p:nvPr/>
              </p:nvGrpSpPr>
              <p:grpSpPr bwMode="auto">
                <a:xfrm>
                  <a:off x="895" y="3526"/>
                  <a:ext cx="44" cy="23"/>
                  <a:chOff x="895" y="3526"/>
                  <a:chExt cx="44" cy="23"/>
                </a:xfrm>
              </p:grpSpPr>
              <p:sp>
                <p:nvSpPr>
                  <p:cNvPr id="2176381" name="Freeform 649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526"/>
                    <a:ext cx="19" cy="23"/>
                  </a:xfrm>
                  <a:custGeom>
                    <a:avLst/>
                    <a:gdLst>
                      <a:gd name="T0" fmla="*/ 22 w 38"/>
                      <a:gd name="T1" fmla="*/ 69 h 69"/>
                      <a:gd name="T2" fmla="*/ 0 w 38"/>
                      <a:gd name="T3" fmla="*/ 34 h 69"/>
                      <a:gd name="T4" fmla="*/ 11 w 38"/>
                      <a:gd name="T5" fmla="*/ 0 h 69"/>
                      <a:gd name="T6" fmla="*/ 38 w 38"/>
                      <a:gd name="T7" fmla="*/ 34 h 69"/>
                      <a:gd name="T8" fmla="*/ 22 w 38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9">
                        <a:moveTo>
                          <a:pt x="22" y="69"/>
                        </a:moveTo>
                        <a:lnTo>
                          <a:pt x="0" y="34"/>
                        </a:lnTo>
                        <a:lnTo>
                          <a:pt x="11" y="0"/>
                        </a:lnTo>
                        <a:lnTo>
                          <a:pt x="38" y="34"/>
                        </a:lnTo>
                        <a:lnTo>
                          <a:pt x="22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82" name="Freeform 650"/>
                  <p:cNvSpPr>
                    <a:spLocks noChangeArrowheads="1"/>
                  </p:cNvSpPr>
                  <p:nvPr/>
                </p:nvSpPr>
                <p:spPr bwMode="auto">
                  <a:xfrm>
                    <a:off x="901" y="3526"/>
                    <a:ext cx="33" cy="12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40 w 64"/>
                      <a:gd name="T3" fmla="*/ 0 h 35"/>
                      <a:gd name="T4" fmla="*/ 64 w 64"/>
                      <a:gd name="T5" fmla="*/ 35 h 35"/>
                      <a:gd name="T6" fmla="*/ 23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5"/>
                        </a:lnTo>
                        <a:lnTo>
                          <a:pt x="23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83" name="Freeform 651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38"/>
                    <a:ext cx="32" cy="11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3 w 65"/>
                      <a:gd name="T3" fmla="*/ 0 h 31"/>
                      <a:gd name="T4" fmla="*/ 54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3" y="0"/>
                        </a:lnTo>
                        <a:lnTo>
                          <a:pt x="54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84" name="Group 652"/>
                <p:cNvGrpSpPr>
                  <a:grpSpLocks/>
                </p:cNvGrpSpPr>
                <p:nvPr/>
              </p:nvGrpSpPr>
              <p:grpSpPr bwMode="auto">
                <a:xfrm>
                  <a:off x="907" y="3540"/>
                  <a:ext cx="45" cy="22"/>
                  <a:chOff x="907" y="3540"/>
                  <a:chExt cx="45" cy="22"/>
                </a:xfrm>
              </p:grpSpPr>
              <p:sp>
                <p:nvSpPr>
                  <p:cNvPr id="2176385" name="Freeform 653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40"/>
                    <a:ext cx="20" cy="22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4 h 68"/>
                      <a:gd name="T4" fmla="*/ 11 w 39"/>
                      <a:gd name="T5" fmla="*/ 0 h 68"/>
                      <a:gd name="T6" fmla="*/ 39 w 39"/>
                      <a:gd name="T7" fmla="*/ 34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4"/>
                        </a:lnTo>
                        <a:lnTo>
                          <a:pt x="11" y="0"/>
                        </a:lnTo>
                        <a:lnTo>
                          <a:pt x="39" y="34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86" name="Freeform 654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540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40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87" name="Freeform 655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552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88" name="Group 656"/>
                <p:cNvGrpSpPr>
                  <a:grpSpLocks/>
                </p:cNvGrpSpPr>
                <p:nvPr/>
              </p:nvGrpSpPr>
              <p:grpSpPr bwMode="auto">
                <a:xfrm>
                  <a:off x="920" y="3553"/>
                  <a:ext cx="45" cy="23"/>
                  <a:chOff x="920" y="3553"/>
                  <a:chExt cx="45" cy="23"/>
                </a:xfrm>
              </p:grpSpPr>
              <p:sp>
                <p:nvSpPr>
                  <p:cNvPr id="2176389" name="Freeform 657"/>
                  <p:cNvSpPr>
                    <a:spLocks noChangeArrowheads="1"/>
                  </p:cNvSpPr>
                  <p:nvPr/>
                </p:nvSpPr>
                <p:spPr bwMode="auto">
                  <a:xfrm>
                    <a:off x="920" y="3553"/>
                    <a:ext cx="20" cy="23"/>
                  </a:xfrm>
                  <a:custGeom>
                    <a:avLst/>
                    <a:gdLst>
                      <a:gd name="T0" fmla="*/ 24 w 41"/>
                      <a:gd name="T1" fmla="*/ 68 h 68"/>
                      <a:gd name="T2" fmla="*/ 0 w 41"/>
                      <a:gd name="T3" fmla="*/ 32 h 68"/>
                      <a:gd name="T4" fmla="*/ 14 w 41"/>
                      <a:gd name="T5" fmla="*/ 0 h 68"/>
                      <a:gd name="T6" fmla="*/ 41 w 41"/>
                      <a:gd name="T7" fmla="*/ 32 h 68"/>
                      <a:gd name="T8" fmla="*/ 24 w 41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68">
                        <a:moveTo>
                          <a:pt x="24" y="68"/>
                        </a:moveTo>
                        <a:lnTo>
                          <a:pt x="0" y="32"/>
                        </a:lnTo>
                        <a:lnTo>
                          <a:pt x="14" y="0"/>
                        </a:lnTo>
                        <a:lnTo>
                          <a:pt x="41" y="32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90" name="Freeform 658"/>
                  <p:cNvSpPr>
                    <a:spLocks noChangeArrowheads="1"/>
                  </p:cNvSpPr>
                  <p:nvPr/>
                </p:nvSpPr>
                <p:spPr bwMode="auto">
                  <a:xfrm>
                    <a:off x="927" y="3554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39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91" name="Freeform 659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566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3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92" name="Group 660"/>
                <p:cNvGrpSpPr>
                  <a:grpSpLocks/>
                </p:cNvGrpSpPr>
                <p:nvPr/>
              </p:nvGrpSpPr>
              <p:grpSpPr bwMode="auto">
                <a:xfrm>
                  <a:off x="934" y="3566"/>
                  <a:ext cx="44" cy="23"/>
                  <a:chOff x="934" y="3566"/>
                  <a:chExt cx="44" cy="23"/>
                </a:xfrm>
              </p:grpSpPr>
              <p:sp>
                <p:nvSpPr>
                  <p:cNvPr id="2176393" name="Freeform 661"/>
                  <p:cNvSpPr>
                    <a:spLocks noChangeArrowheads="1"/>
                  </p:cNvSpPr>
                  <p:nvPr/>
                </p:nvSpPr>
                <p:spPr bwMode="auto">
                  <a:xfrm>
                    <a:off x="934" y="3566"/>
                    <a:ext cx="19" cy="23"/>
                  </a:xfrm>
                  <a:custGeom>
                    <a:avLst/>
                    <a:gdLst>
                      <a:gd name="T0" fmla="*/ 22 w 40"/>
                      <a:gd name="T1" fmla="*/ 68 h 68"/>
                      <a:gd name="T2" fmla="*/ 0 w 40"/>
                      <a:gd name="T3" fmla="*/ 33 h 68"/>
                      <a:gd name="T4" fmla="*/ 12 w 40"/>
                      <a:gd name="T5" fmla="*/ 0 h 68"/>
                      <a:gd name="T6" fmla="*/ 40 w 40"/>
                      <a:gd name="T7" fmla="*/ 33 h 68"/>
                      <a:gd name="T8" fmla="*/ 22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94" name="Freeform 662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567"/>
                    <a:ext cx="32" cy="11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1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395" name="Freeform 663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579"/>
                    <a:ext cx="33" cy="9"/>
                  </a:xfrm>
                  <a:custGeom>
                    <a:avLst/>
                    <a:gdLst>
                      <a:gd name="T0" fmla="*/ 0 w 65"/>
                      <a:gd name="T1" fmla="*/ 28 h 28"/>
                      <a:gd name="T2" fmla="*/ 13 w 65"/>
                      <a:gd name="T3" fmla="*/ 0 h 28"/>
                      <a:gd name="T4" fmla="*/ 54 w 65"/>
                      <a:gd name="T5" fmla="*/ 0 h 28"/>
                      <a:gd name="T6" fmla="*/ 65 w 65"/>
                      <a:gd name="T7" fmla="*/ 28 h 28"/>
                      <a:gd name="T8" fmla="*/ 0 w 65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4" y="0"/>
                        </a:lnTo>
                        <a:lnTo>
                          <a:pt x="65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396" name="Group 664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83" cy="63"/>
                  <a:chOff x="949" y="3579"/>
                  <a:chExt cx="83" cy="63"/>
                </a:xfrm>
              </p:grpSpPr>
              <p:grpSp>
                <p:nvGrpSpPr>
                  <p:cNvPr id="2176397" name="Group 665"/>
                  <p:cNvGrpSpPr>
                    <a:grpSpLocks/>
                  </p:cNvGrpSpPr>
                  <p:nvPr/>
                </p:nvGrpSpPr>
                <p:grpSpPr bwMode="auto">
                  <a:xfrm>
                    <a:off x="949" y="3579"/>
                    <a:ext cx="44" cy="23"/>
                    <a:chOff x="949" y="3579"/>
                    <a:chExt cx="44" cy="23"/>
                  </a:xfrm>
                </p:grpSpPr>
                <p:sp>
                  <p:nvSpPr>
                    <p:cNvPr id="2176398" name="Freeform 6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9" y="3579"/>
                      <a:ext cx="19" cy="23"/>
                    </a:xfrm>
                    <a:custGeom>
                      <a:avLst/>
                      <a:gdLst>
                        <a:gd name="T0" fmla="*/ 21 w 38"/>
                        <a:gd name="T1" fmla="*/ 68 h 68"/>
                        <a:gd name="T2" fmla="*/ 0 w 38"/>
                        <a:gd name="T3" fmla="*/ 32 h 68"/>
                        <a:gd name="T4" fmla="*/ 11 w 38"/>
                        <a:gd name="T5" fmla="*/ 0 h 68"/>
                        <a:gd name="T6" fmla="*/ 38 w 38"/>
                        <a:gd name="T7" fmla="*/ 32 h 68"/>
                        <a:gd name="T8" fmla="*/ 21 w 38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68">
                          <a:moveTo>
                            <a:pt x="21" y="68"/>
                          </a:moveTo>
                          <a:lnTo>
                            <a:pt x="0" y="32"/>
                          </a:lnTo>
                          <a:lnTo>
                            <a:pt x="11" y="0"/>
                          </a:lnTo>
                          <a:lnTo>
                            <a:pt x="38" y="32"/>
                          </a:lnTo>
                          <a:lnTo>
                            <a:pt x="21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399" name="Freeform 6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5" y="3579"/>
                      <a:ext cx="32" cy="11"/>
                    </a:xfrm>
                    <a:custGeom>
                      <a:avLst/>
                      <a:gdLst>
                        <a:gd name="T0" fmla="*/ 0 w 66"/>
                        <a:gd name="T1" fmla="*/ 0 h 32"/>
                        <a:gd name="T2" fmla="*/ 42 w 66"/>
                        <a:gd name="T3" fmla="*/ 0 h 32"/>
                        <a:gd name="T4" fmla="*/ 66 w 66"/>
                        <a:gd name="T5" fmla="*/ 32 h 32"/>
                        <a:gd name="T6" fmla="*/ 25 w 66"/>
                        <a:gd name="T7" fmla="*/ 32 h 32"/>
                        <a:gd name="T8" fmla="*/ 0 w 66"/>
                        <a:gd name="T9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2">
                          <a:moveTo>
                            <a:pt x="0" y="0"/>
                          </a:moveTo>
                          <a:lnTo>
                            <a:pt x="42" y="0"/>
                          </a:lnTo>
                          <a:lnTo>
                            <a:pt x="66" y="32"/>
                          </a:lnTo>
                          <a:lnTo>
                            <a:pt x="25" y="3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00" name="Freeform 6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0" y="3591"/>
                      <a:ext cx="33" cy="10"/>
                    </a:xfrm>
                    <a:custGeom>
                      <a:avLst/>
                      <a:gdLst>
                        <a:gd name="T0" fmla="*/ 0 w 65"/>
                        <a:gd name="T1" fmla="*/ 31 h 31"/>
                        <a:gd name="T2" fmla="*/ 14 w 65"/>
                        <a:gd name="T3" fmla="*/ 0 h 31"/>
                        <a:gd name="T4" fmla="*/ 55 w 65"/>
                        <a:gd name="T5" fmla="*/ 0 h 31"/>
                        <a:gd name="T6" fmla="*/ 65 w 65"/>
                        <a:gd name="T7" fmla="*/ 31 h 31"/>
                        <a:gd name="T8" fmla="*/ 0 w 65"/>
                        <a:gd name="T9" fmla="*/ 3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1">
                          <a:moveTo>
                            <a:pt x="0" y="31"/>
                          </a:moveTo>
                          <a:lnTo>
                            <a:pt x="14" y="0"/>
                          </a:lnTo>
                          <a:lnTo>
                            <a:pt x="55" y="0"/>
                          </a:lnTo>
                          <a:lnTo>
                            <a:pt x="65" y="31"/>
                          </a:lnTo>
                          <a:lnTo>
                            <a:pt x="0" y="31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01" name="Group 669"/>
                  <p:cNvGrpSpPr>
                    <a:grpSpLocks/>
                  </p:cNvGrpSpPr>
                  <p:nvPr/>
                </p:nvGrpSpPr>
                <p:grpSpPr bwMode="auto">
                  <a:xfrm>
                    <a:off x="961" y="3592"/>
                    <a:ext cx="45" cy="23"/>
                    <a:chOff x="961" y="3592"/>
                    <a:chExt cx="45" cy="23"/>
                  </a:xfrm>
                </p:grpSpPr>
                <p:sp>
                  <p:nvSpPr>
                    <p:cNvPr id="2176402" name="Freeform 6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592"/>
                      <a:ext cx="20" cy="23"/>
                    </a:xfrm>
                    <a:custGeom>
                      <a:avLst/>
                      <a:gdLst>
                        <a:gd name="T0" fmla="*/ 23 w 40"/>
                        <a:gd name="T1" fmla="*/ 69 h 69"/>
                        <a:gd name="T2" fmla="*/ 0 w 40"/>
                        <a:gd name="T3" fmla="*/ 33 h 69"/>
                        <a:gd name="T4" fmla="*/ 12 w 40"/>
                        <a:gd name="T5" fmla="*/ 0 h 69"/>
                        <a:gd name="T6" fmla="*/ 40 w 40"/>
                        <a:gd name="T7" fmla="*/ 33 h 69"/>
                        <a:gd name="T8" fmla="*/ 23 w 40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9">
                          <a:moveTo>
                            <a:pt x="23" y="69"/>
                          </a:moveTo>
                          <a:lnTo>
                            <a:pt x="0" y="33"/>
                          </a:lnTo>
                          <a:lnTo>
                            <a:pt x="12" y="0"/>
                          </a:lnTo>
                          <a:lnTo>
                            <a:pt x="40" y="33"/>
                          </a:lnTo>
                          <a:lnTo>
                            <a:pt x="23" y="69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03" name="Freeform 6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8" y="3593"/>
                      <a:ext cx="33" cy="11"/>
                    </a:xfrm>
                    <a:custGeom>
                      <a:avLst/>
                      <a:gdLst>
                        <a:gd name="T0" fmla="*/ 0 w 66"/>
                        <a:gd name="T1" fmla="*/ 0 h 35"/>
                        <a:gd name="T2" fmla="*/ 41 w 66"/>
                        <a:gd name="T3" fmla="*/ 0 h 35"/>
                        <a:gd name="T4" fmla="*/ 66 w 66"/>
                        <a:gd name="T5" fmla="*/ 35 h 35"/>
                        <a:gd name="T6" fmla="*/ 24 w 66"/>
                        <a:gd name="T7" fmla="*/ 35 h 35"/>
                        <a:gd name="T8" fmla="*/ 0 w 66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5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6" y="35"/>
                          </a:lnTo>
                          <a:lnTo>
                            <a:pt x="24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04" name="Freeform 6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3" y="3605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30 h 30"/>
                        <a:gd name="T2" fmla="*/ 13 w 66"/>
                        <a:gd name="T3" fmla="*/ 0 h 30"/>
                        <a:gd name="T4" fmla="*/ 55 w 66"/>
                        <a:gd name="T5" fmla="*/ 0 h 30"/>
                        <a:gd name="T6" fmla="*/ 66 w 66"/>
                        <a:gd name="T7" fmla="*/ 30 h 30"/>
                        <a:gd name="T8" fmla="*/ 0 w 66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0">
                          <a:moveTo>
                            <a:pt x="0" y="30"/>
                          </a:moveTo>
                          <a:lnTo>
                            <a:pt x="13" y="0"/>
                          </a:lnTo>
                          <a:lnTo>
                            <a:pt x="55" y="0"/>
                          </a:lnTo>
                          <a:lnTo>
                            <a:pt x="66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05" name="Group 673"/>
                  <p:cNvGrpSpPr>
                    <a:grpSpLocks/>
                  </p:cNvGrpSpPr>
                  <p:nvPr/>
                </p:nvGrpSpPr>
                <p:grpSpPr bwMode="auto">
                  <a:xfrm>
                    <a:off x="974" y="3606"/>
                    <a:ext cx="44" cy="23"/>
                    <a:chOff x="974" y="3606"/>
                    <a:chExt cx="44" cy="23"/>
                  </a:xfrm>
                </p:grpSpPr>
                <p:sp>
                  <p:nvSpPr>
                    <p:cNvPr id="2176406" name="Freeform 6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3606"/>
                      <a:ext cx="19" cy="23"/>
                    </a:xfrm>
                    <a:custGeom>
                      <a:avLst/>
                      <a:gdLst>
                        <a:gd name="T0" fmla="*/ 24 w 40"/>
                        <a:gd name="T1" fmla="*/ 68 h 68"/>
                        <a:gd name="T2" fmla="*/ 0 w 40"/>
                        <a:gd name="T3" fmla="*/ 35 h 68"/>
                        <a:gd name="T4" fmla="*/ 12 w 40"/>
                        <a:gd name="T5" fmla="*/ 0 h 68"/>
                        <a:gd name="T6" fmla="*/ 40 w 40"/>
                        <a:gd name="T7" fmla="*/ 35 h 68"/>
                        <a:gd name="T8" fmla="*/ 24 w 40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8">
                          <a:moveTo>
                            <a:pt x="24" y="68"/>
                          </a:moveTo>
                          <a:lnTo>
                            <a:pt x="0" y="35"/>
                          </a:lnTo>
                          <a:lnTo>
                            <a:pt x="12" y="0"/>
                          </a:lnTo>
                          <a:lnTo>
                            <a:pt x="40" y="35"/>
                          </a:lnTo>
                          <a:lnTo>
                            <a:pt x="24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07" name="Freeform 6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0" y="3606"/>
                      <a:ext cx="32" cy="12"/>
                    </a:xfrm>
                    <a:custGeom>
                      <a:avLst/>
                      <a:gdLst>
                        <a:gd name="T0" fmla="*/ 0 w 65"/>
                        <a:gd name="T1" fmla="*/ 0 h 35"/>
                        <a:gd name="T2" fmla="*/ 42 w 65"/>
                        <a:gd name="T3" fmla="*/ 0 h 35"/>
                        <a:gd name="T4" fmla="*/ 65 w 65"/>
                        <a:gd name="T5" fmla="*/ 35 h 35"/>
                        <a:gd name="T6" fmla="*/ 25 w 65"/>
                        <a:gd name="T7" fmla="*/ 35 h 35"/>
                        <a:gd name="T8" fmla="*/ 0 w 65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5">
                          <a:moveTo>
                            <a:pt x="0" y="0"/>
                          </a:moveTo>
                          <a:lnTo>
                            <a:pt x="42" y="0"/>
                          </a:lnTo>
                          <a:lnTo>
                            <a:pt x="65" y="35"/>
                          </a:lnTo>
                          <a:lnTo>
                            <a:pt x="25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08" name="Freeform 6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6" y="3619"/>
                      <a:ext cx="32" cy="9"/>
                    </a:xfrm>
                    <a:custGeom>
                      <a:avLst/>
                      <a:gdLst>
                        <a:gd name="T0" fmla="*/ 0 w 65"/>
                        <a:gd name="T1" fmla="*/ 29 h 29"/>
                        <a:gd name="T2" fmla="*/ 12 w 65"/>
                        <a:gd name="T3" fmla="*/ 0 h 29"/>
                        <a:gd name="T4" fmla="*/ 53 w 65"/>
                        <a:gd name="T5" fmla="*/ 0 h 29"/>
                        <a:gd name="T6" fmla="*/ 65 w 65"/>
                        <a:gd name="T7" fmla="*/ 29 h 29"/>
                        <a:gd name="T8" fmla="*/ 0 w 65"/>
                        <a:gd name="T9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29">
                          <a:moveTo>
                            <a:pt x="0" y="29"/>
                          </a:moveTo>
                          <a:lnTo>
                            <a:pt x="12" y="0"/>
                          </a:lnTo>
                          <a:lnTo>
                            <a:pt x="53" y="0"/>
                          </a:lnTo>
                          <a:lnTo>
                            <a:pt x="65" y="29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09" name="Group 677"/>
                  <p:cNvGrpSpPr>
                    <a:grpSpLocks/>
                  </p:cNvGrpSpPr>
                  <p:nvPr/>
                </p:nvGrpSpPr>
                <p:grpSpPr bwMode="auto">
                  <a:xfrm>
                    <a:off x="987" y="3619"/>
                    <a:ext cx="45" cy="23"/>
                    <a:chOff x="987" y="3619"/>
                    <a:chExt cx="45" cy="23"/>
                  </a:xfrm>
                </p:grpSpPr>
                <p:sp>
                  <p:nvSpPr>
                    <p:cNvPr id="2176410" name="Freeform 6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7" y="3619"/>
                      <a:ext cx="20" cy="23"/>
                    </a:xfrm>
                    <a:custGeom>
                      <a:avLst/>
                      <a:gdLst>
                        <a:gd name="T0" fmla="*/ 22 w 39"/>
                        <a:gd name="T1" fmla="*/ 68 h 68"/>
                        <a:gd name="T2" fmla="*/ 0 w 39"/>
                        <a:gd name="T3" fmla="*/ 33 h 68"/>
                        <a:gd name="T4" fmla="*/ 12 w 39"/>
                        <a:gd name="T5" fmla="*/ 0 h 68"/>
                        <a:gd name="T6" fmla="*/ 39 w 39"/>
                        <a:gd name="T7" fmla="*/ 33 h 68"/>
                        <a:gd name="T8" fmla="*/ 22 w 39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9" h="68">
                          <a:moveTo>
                            <a:pt x="22" y="68"/>
                          </a:moveTo>
                          <a:lnTo>
                            <a:pt x="0" y="33"/>
                          </a:lnTo>
                          <a:lnTo>
                            <a:pt x="12" y="0"/>
                          </a:lnTo>
                          <a:lnTo>
                            <a:pt x="39" y="33"/>
                          </a:lnTo>
                          <a:lnTo>
                            <a:pt x="22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11" name="Freeform 6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4" y="3620"/>
                      <a:ext cx="32" cy="11"/>
                    </a:xfrm>
                    <a:custGeom>
                      <a:avLst/>
                      <a:gdLst>
                        <a:gd name="T0" fmla="*/ 0 w 64"/>
                        <a:gd name="T1" fmla="*/ 0 h 33"/>
                        <a:gd name="T2" fmla="*/ 41 w 64"/>
                        <a:gd name="T3" fmla="*/ 0 h 33"/>
                        <a:gd name="T4" fmla="*/ 64 w 64"/>
                        <a:gd name="T5" fmla="*/ 33 h 33"/>
                        <a:gd name="T6" fmla="*/ 25 w 64"/>
                        <a:gd name="T7" fmla="*/ 33 h 33"/>
                        <a:gd name="T8" fmla="*/ 0 w 64"/>
                        <a:gd name="T9" fmla="*/ 0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" h="33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4" y="33"/>
                          </a:lnTo>
                          <a:lnTo>
                            <a:pt x="25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12" name="Freeform 6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3632"/>
                      <a:ext cx="33" cy="9"/>
                    </a:xfrm>
                    <a:custGeom>
                      <a:avLst/>
                      <a:gdLst>
                        <a:gd name="T0" fmla="*/ 0 w 65"/>
                        <a:gd name="T1" fmla="*/ 29 h 29"/>
                        <a:gd name="T2" fmla="*/ 14 w 65"/>
                        <a:gd name="T3" fmla="*/ 0 h 29"/>
                        <a:gd name="T4" fmla="*/ 53 w 65"/>
                        <a:gd name="T5" fmla="*/ 0 h 29"/>
                        <a:gd name="T6" fmla="*/ 65 w 65"/>
                        <a:gd name="T7" fmla="*/ 29 h 29"/>
                        <a:gd name="T8" fmla="*/ 0 w 65"/>
                        <a:gd name="T9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29">
                          <a:moveTo>
                            <a:pt x="0" y="29"/>
                          </a:moveTo>
                          <a:lnTo>
                            <a:pt x="14" y="0"/>
                          </a:lnTo>
                          <a:lnTo>
                            <a:pt x="53" y="0"/>
                          </a:lnTo>
                          <a:lnTo>
                            <a:pt x="65" y="29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413" name="Group 681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83" cy="63"/>
                  <a:chOff x="1002" y="3632"/>
                  <a:chExt cx="83" cy="63"/>
                </a:xfrm>
              </p:grpSpPr>
              <p:grpSp>
                <p:nvGrpSpPr>
                  <p:cNvPr id="2176414" name="Group 682"/>
                  <p:cNvGrpSpPr>
                    <a:grpSpLocks/>
                  </p:cNvGrpSpPr>
                  <p:nvPr/>
                </p:nvGrpSpPr>
                <p:grpSpPr bwMode="auto">
                  <a:xfrm>
                    <a:off x="1002" y="3632"/>
                    <a:ext cx="44" cy="22"/>
                    <a:chOff x="1002" y="3632"/>
                    <a:chExt cx="44" cy="22"/>
                  </a:xfrm>
                </p:grpSpPr>
                <p:sp>
                  <p:nvSpPr>
                    <p:cNvPr id="2176415" name="Freeform 6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2" y="3632"/>
                      <a:ext cx="19" cy="22"/>
                    </a:xfrm>
                    <a:custGeom>
                      <a:avLst/>
                      <a:gdLst>
                        <a:gd name="T0" fmla="*/ 21 w 38"/>
                        <a:gd name="T1" fmla="*/ 68 h 68"/>
                        <a:gd name="T2" fmla="*/ 0 w 38"/>
                        <a:gd name="T3" fmla="*/ 33 h 68"/>
                        <a:gd name="T4" fmla="*/ 10 w 38"/>
                        <a:gd name="T5" fmla="*/ 0 h 68"/>
                        <a:gd name="T6" fmla="*/ 38 w 38"/>
                        <a:gd name="T7" fmla="*/ 33 h 68"/>
                        <a:gd name="T8" fmla="*/ 21 w 38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68">
                          <a:moveTo>
                            <a:pt x="21" y="68"/>
                          </a:moveTo>
                          <a:lnTo>
                            <a:pt x="0" y="33"/>
                          </a:lnTo>
                          <a:lnTo>
                            <a:pt x="10" y="0"/>
                          </a:lnTo>
                          <a:lnTo>
                            <a:pt x="38" y="33"/>
                          </a:lnTo>
                          <a:lnTo>
                            <a:pt x="21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16" name="Freeform 6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8" y="3632"/>
                      <a:ext cx="33" cy="12"/>
                    </a:xfrm>
                    <a:custGeom>
                      <a:avLst/>
                      <a:gdLst>
                        <a:gd name="T0" fmla="*/ 0 w 65"/>
                        <a:gd name="T1" fmla="*/ 0 h 35"/>
                        <a:gd name="T2" fmla="*/ 40 w 65"/>
                        <a:gd name="T3" fmla="*/ 0 h 35"/>
                        <a:gd name="T4" fmla="*/ 65 w 65"/>
                        <a:gd name="T5" fmla="*/ 35 h 35"/>
                        <a:gd name="T6" fmla="*/ 25 w 65"/>
                        <a:gd name="T7" fmla="*/ 35 h 35"/>
                        <a:gd name="T8" fmla="*/ 0 w 65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5">
                          <a:moveTo>
                            <a:pt x="0" y="0"/>
                          </a:moveTo>
                          <a:lnTo>
                            <a:pt x="40" y="0"/>
                          </a:lnTo>
                          <a:lnTo>
                            <a:pt x="65" y="35"/>
                          </a:lnTo>
                          <a:lnTo>
                            <a:pt x="25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17" name="Freeform 6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3" y="3644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28 h 28"/>
                        <a:gd name="T2" fmla="*/ 13 w 66"/>
                        <a:gd name="T3" fmla="*/ 0 h 28"/>
                        <a:gd name="T4" fmla="*/ 55 w 66"/>
                        <a:gd name="T5" fmla="*/ 0 h 28"/>
                        <a:gd name="T6" fmla="*/ 66 w 66"/>
                        <a:gd name="T7" fmla="*/ 28 h 28"/>
                        <a:gd name="T8" fmla="*/ 0 w 66"/>
                        <a:gd name="T9" fmla="*/ 28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28">
                          <a:moveTo>
                            <a:pt x="0" y="28"/>
                          </a:moveTo>
                          <a:lnTo>
                            <a:pt x="13" y="0"/>
                          </a:lnTo>
                          <a:lnTo>
                            <a:pt x="55" y="0"/>
                          </a:lnTo>
                          <a:lnTo>
                            <a:pt x="66" y="28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18" name="Group 686"/>
                  <p:cNvGrpSpPr>
                    <a:grpSpLocks/>
                  </p:cNvGrpSpPr>
                  <p:nvPr/>
                </p:nvGrpSpPr>
                <p:grpSpPr bwMode="auto">
                  <a:xfrm>
                    <a:off x="1014" y="3645"/>
                    <a:ext cx="44" cy="23"/>
                    <a:chOff x="1014" y="3645"/>
                    <a:chExt cx="44" cy="23"/>
                  </a:xfrm>
                </p:grpSpPr>
                <p:sp>
                  <p:nvSpPr>
                    <p:cNvPr id="2176419" name="Freeform 6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3645"/>
                      <a:ext cx="19" cy="23"/>
                    </a:xfrm>
                    <a:custGeom>
                      <a:avLst/>
                      <a:gdLst>
                        <a:gd name="T0" fmla="*/ 24 w 40"/>
                        <a:gd name="T1" fmla="*/ 68 h 68"/>
                        <a:gd name="T2" fmla="*/ 0 w 40"/>
                        <a:gd name="T3" fmla="*/ 33 h 68"/>
                        <a:gd name="T4" fmla="*/ 14 w 40"/>
                        <a:gd name="T5" fmla="*/ 0 h 68"/>
                        <a:gd name="T6" fmla="*/ 40 w 40"/>
                        <a:gd name="T7" fmla="*/ 33 h 68"/>
                        <a:gd name="T8" fmla="*/ 24 w 40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8">
                          <a:moveTo>
                            <a:pt x="24" y="68"/>
                          </a:moveTo>
                          <a:lnTo>
                            <a:pt x="0" y="33"/>
                          </a:lnTo>
                          <a:lnTo>
                            <a:pt x="14" y="0"/>
                          </a:lnTo>
                          <a:lnTo>
                            <a:pt x="40" y="33"/>
                          </a:lnTo>
                          <a:lnTo>
                            <a:pt x="24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0" name="Freeform 6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1" y="3646"/>
                      <a:ext cx="32" cy="11"/>
                    </a:xfrm>
                    <a:custGeom>
                      <a:avLst/>
                      <a:gdLst>
                        <a:gd name="T0" fmla="*/ 0 w 63"/>
                        <a:gd name="T1" fmla="*/ 0 h 33"/>
                        <a:gd name="T2" fmla="*/ 41 w 63"/>
                        <a:gd name="T3" fmla="*/ 0 h 33"/>
                        <a:gd name="T4" fmla="*/ 63 w 63"/>
                        <a:gd name="T5" fmla="*/ 33 h 33"/>
                        <a:gd name="T6" fmla="*/ 24 w 63"/>
                        <a:gd name="T7" fmla="*/ 33 h 33"/>
                        <a:gd name="T8" fmla="*/ 0 w 63"/>
                        <a:gd name="T9" fmla="*/ 0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3" h="33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3" y="33"/>
                          </a:lnTo>
                          <a:lnTo>
                            <a:pt x="24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1" name="Freeform 6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6" y="3658"/>
                      <a:ext cx="32" cy="10"/>
                    </a:xfrm>
                    <a:custGeom>
                      <a:avLst/>
                      <a:gdLst>
                        <a:gd name="T0" fmla="*/ 0 w 65"/>
                        <a:gd name="T1" fmla="*/ 30 h 30"/>
                        <a:gd name="T2" fmla="*/ 12 w 65"/>
                        <a:gd name="T3" fmla="*/ 0 h 30"/>
                        <a:gd name="T4" fmla="*/ 53 w 65"/>
                        <a:gd name="T5" fmla="*/ 0 h 30"/>
                        <a:gd name="T6" fmla="*/ 65 w 65"/>
                        <a:gd name="T7" fmla="*/ 30 h 30"/>
                        <a:gd name="T8" fmla="*/ 0 w 65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0">
                          <a:moveTo>
                            <a:pt x="0" y="30"/>
                          </a:moveTo>
                          <a:lnTo>
                            <a:pt x="12" y="0"/>
                          </a:lnTo>
                          <a:lnTo>
                            <a:pt x="53" y="0"/>
                          </a:lnTo>
                          <a:lnTo>
                            <a:pt x="65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22" name="Group 690"/>
                  <p:cNvGrpSpPr>
                    <a:grpSpLocks/>
                  </p:cNvGrpSpPr>
                  <p:nvPr/>
                </p:nvGrpSpPr>
                <p:grpSpPr bwMode="auto">
                  <a:xfrm>
                    <a:off x="1027" y="3659"/>
                    <a:ext cx="45" cy="23"/>
                    <a:chOff x="1027" y="3659"/>
                    <a:chExt cx="45" cy="23"/>
                  </a:xfrm>
                </p:grpSpPr>
                <p:sp>
                  <p:nvSpPr>
                    <p:cNvPr id="2176423" name="Freeform 6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7" y="3659"/>
                      <a:ext cx="20" cy="23"/>
                    </a:xfrm>
                    <a:custGeom>
                      <a:avLst/>
                      <a:gdLst>
                        <a:gd name="T0" fmla="*/ 22 w 39"/>
                        <a:gd name="T1" fmla="*/ 70 h 70"/>
                        <a:gd name="T2" fmla="*/ 0 w 39"/>
                        <a:gd name="T3" fmla="*/ 34 h 70"/>
                        <a:gd name="T4" fmla="*/ 12 w 39"/>
                        <a:gd name="T5" fmla="*/ 0 h 70"/>
                        <a:gd name="T6" fmla="*/ 39 w 39"/>
                        <a:gd name="T7" fmla="*/ 34 h 70"/>
                        <a:gd name="T8" fmla="*/ 22 w 39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9" h="70">
                          <a:moveTo>
                            <a:pt x="22" y="70"/>
                          </a:moveTo>
                          <a:lnTo>
                            <a:pt x="0" y="34"/>
                          </a:lnTo>
                          <a:lnTo>
                            <a:pt x="12" y="0"/>
                          </a:lnTo>
                          <a:lnTo>
                            <a:pt x="39" y="34"/>
                          </a:lnTo>
                          <a:lnTo>
                            <a:pt x="22" y="70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4" name="Freeform 6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3" y="3659"/>
                      <a:ext cx="33" cy="11"/>
                    </a:xfrm>
                    <a:custGeom>
                      <a:avLst/>
                      <a:gdLst>
                        <a:gd name="T0" fmla="*/ 0 w 64"/>
                        <a:gd name="T1" fmla="*/ 0 h 34"/>
                        <a:gd name="T2" fmla="*/ 39 w 64"/>
                        <a:gd name="T3" fmla="*/ 0 h 34"/>
                        <a:gd name="T4" fmla="*/ 64 w 64"/>
                        <a:gd name="T5" fmla="*/ 34 h 34"/>
                        <a:gd name="T6" fmla="*/ 25 w 64"/>
                        <a:gd name="T7" fmla="*/ 34 h 34"/>
                        <a:gd name="T8" fmla="*/ 0 w 64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" h="34">
                          <a:moveTo>
                            <a:pt x="0" y="0"/>
                          </a:moveTo>
                          <a:lnTo>
                            <a:pt x="39" y="0"/>
                          </a:lnTo>
                          <a:lnTo>
                            <a:pt x="64" y="34"/>
                          </a:lnTo>
                          <a:lnTo>
                            <a:pt x="25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5" name="Freeform 6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9" y="3671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30 h 30"/>
                        <a:gd name="T2" fmla="*/ 12 w 66"/>
                        <a:gd name="T3" fmla="*/ 0 h 30"/>
                        <a:gd name="T4" fmla="*/ 54 w 66"/>
                        <a:gd name="T5" fmla="*/ 0 h 30"/>
                        <a:gd name="T6" fmla="*/ 66 w 66"/>
                        <a:gd name="T7" fmla="*/ 30 h 30"/>
                        <a:gd name="T8" fmla="*/ 0 w 66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0">
                          <a:moveTo>
                            <a:pt x="0" y="30"/>
                          </a:moveTo>
                          <a:lnTo>
                            <a:pt x="12" y="0"/>
                          </a:lnTo>
                          <a:lnTo>
                            <a:pt x="54" y="0"/>
                          </a:lnTo>
                          <a:lnTo>
                            <a:pt x="66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6426" name="Group 694"/>
                  <p:cNvGrpSpPr>
                    <a:grpSpLocks/>
                  </p:cNvGrpSpPr>
                  <p:nvPr/>
                </p:nvGrpSpPr>
                <p:grpSpPr bwMode="auto">
                  <a:xfrm>
                    <a:off x="1040" y="3672"/>
                    <a:ext cx="45" cy="23"/>
                    <a:chOff x="1040" y="3672"/>
                    <a:chExt cx="45" cy="23"/>
                  </a:xfrm>
                </p:grpSpPr>
                <p:sp>
                  <p:nvSpPr>
                    <p:cNvPr id="2176427" name="Freeform 6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0" y="3672"/>
                      <a:ext cx="20" cy="23"/>
                    </a:xfrm>
                    <a:custGeom>
                      <a:avLst/>
                      <a:gdLst>
                        <a:gd name="T0" fmla="*/ 24 w 41"/>
                        <a:gd name="T1" fmla="*/ 70 h 70"/>
                        <a:gd name="T2" fmla="*/ 0 w 41"/>
                        <a:gd name="T3" fmla="*/ 35 h 70"/>
                        <a:gd name="T4" fmla="*/ 13 w 41"/>
                        <a:gd name="T5" fmla="*/ 0 h 70"/>
                        <a:gd name="T6" fmla="*/ 41 w 41"/>
                        <a:gd name="T7" fmla="*/ 35 h 70"/>
                        <a:gd name="T8" fmla="*/ 24 w 41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1" h="70">
                          <a:moveTo>
                            <a:pt x="24" y="70"/>
                          </a:moveTo>
                          <a:lnTo>
                            <a:pt x="0" y="35"/>
                          </a:lnTo>
                          <a:lnTo>
                            <a:pt x="13" y="0"/>
                          </a:lnTo>
                          <a:lnTo>
                            <a:pt x="41" y="35"/>
                          </a:lnTo>
                          <a:lnTo>
                            <a:pt x="24" y="70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8" name="Freeform 6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7" y="3672"/>
                      <a:ext cx="32" cy="12"/>
                    </a:xfrm>
                    <a:custGeom>
                      <a:avLst/>
                      <a:gdLst>
                        <a:gd name="T0" fmla="*/ 0 w 65"/>
                        <a:gd name="T1" fmla="*/ 0 h 34"/>
                        <a:gd name="T2" fmla="*/ 41 w 65"/>
                        <a:gd name="T3" fmla="*/ 0 h 34"/>
                        <a:gd name="T4" fmla="*/ 65 w 65"/>
                        <a:gd name="T5" fmla="*/ 34 h 34"/>
                        <a:gd name="T6" fmla="*/ 24 w 65"/>
                        <a:gd name="T7" fmla="*/ 34 h 34"/>
                        <a:gd name="T8" fmla="*/ 0 w 65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4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5" y="34"/>
                          </a:lnTo>
                          <a:lnTo>
                            <a:pt x="24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6429" name="Freeform 6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3" y="3685"/>
                      <a:ext cx="32" cy="9"/>
                    </a:xfrm>
                    <a:custGeom>
                      <a:avLst/>
                      <a:gdLst>
                        <a:gd name="T0" fmla="*/ 0 w 66"/>
                        <a:gd name="T1" fmla="*/ 28 h 28"/>
                        <a:gd name="T2" fmla="*/ 12 w 66"/>
                        <a:gd name="T3" fmla="*/ 0 h 28"/>
                        <a:gd name="T4" fmla="*/ 54 w 66"/>
                        <a:gd name="T5" fmla="*/ 0 h 28"/>
                        <a:gd name="T6" fmla="*/ 66 w 66"/>
                        <a:gd name="T7" fmla="*/ 28 h 28"/>
                        <a:gd name="T8" fmla="*/ 0 w 66"/>
                        <a:gd name="T9" fmla="*/ 28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28">
                          <a:moveTo>
                            <a:pt x="0" y="28"/>
                          </a:moveTo>
                          <a:lnTo>
                            <a:pt x="12" y="0"/>
                          </a:lnTo>
                          <a:lnTo>
                            <a:pt x="54" y="0"/>
                          </a:lnTo>
                          <a:lnTo>
                            <a:pt x="66" y="28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6430" name="Group 698"/>
                <p:cNvGrpSpPr>
                  <a:grpSpLocks/>
                </p:cNvGrpSpPr>
                <p:nvPr/>
              </p:nvGrpSpPr>
              <p:grpSpPr bwMode="auto">
                <a:xfrm>
                  <a:off x="1054" y="3685"/>
                  <a:ext cx="45" cy="23"/>
                  <a:chOff x="1054" y="3685"/>
                  <a:chExt cx="45" cy="23"/>
                </a:xfrm>
              </p:grpSpPr>
              <p:sp>
                <p:nvSpPr>
                  <p:cNvPr id="2176431" name="Freeform 699"/>
                  <p:cNvSpPr>
                    <a:spLocks noChangeArrowheads="1"/>
                  </p:cNvSpPr>
                  <p:nvPr/>
                </p:nvSpPr>
                <p:spPr bwMode="auto">
                  <a:xfrm>
                    <a:off x="1054" y="3685"/>
                    <a:ext cx="20" cy="23"/>
                  </a:xfrm>
                  <a:custGeom>
                    <a:avLst/>
                    <a:gdLst>
                      <a:gd name="T0" fmla="*/ 23 w 39"/>
                      <a:gd name="T1" fmla="*/ 70 h 70"/>
                      <a:gd name="T2" fmla="*/ 0 w 39"/>
                      <a:gd name="T3" fmla="*/ 34 h 70"/>
                      <a:gd name="T4" fmla="*/ 13 w 39"/>
                      <a:gd name="T5" fmla="*/ 0 h 70"/>
                      <a:gd name="T6" fmla="*/ 39 w 39"/>
                      <a:gd name="T7" fmla="*/ 34 h 70"/>
                      <a:gd name="T8" fmla="*/ 23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3" y="70"/>
                        </a:moveTo>
                        <a:lnTo>
                          <a:pt x="0" y="34"/>
                        </a:lnTo>
                        <a:lnTo>
                          <a:pt x="13" y="0"/>
                        </a:lnTo>
                        <a:lnTo>
                          <a:pt x="39" y="34"/>
                        </a:lnTo>
                        <a:lnTo>
                          <a:pt x="23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32" name="Freeform 700"/>
                  <p:cNvSpPr>
                    <a:spLocks noChangeArrowheads="1"/>
                  </p:cNvSpPr>
                  <p:nvPr/>
                </p:nvSpPr>
                <p:spPr bwMode="auto">
                  <a:xfrm>
                    <a:off x="1061" y="3685"/>
                    <a:ext cx="32" cy="12"/>
                  </a:xfrm>
                  <a:custGeom>
                    <a:avLst/>
                    <a:gdLst>
                      <a:gd name="T0" fmla="*/ 0 w 63"/>
                      <a:gd name="T1" fmla="*/ 0 h 35"/>
                      <a:gd name="T2" fmla="*/ 41 w 63"/>
                      <a:gd name="T3" fmla="*/ 0 h 35"/>
                      <a:gd name="T4" fmla="*/ 63 w 63"/>
                      <a:gd name="T5" fmla="*/ 35 h 35"/>
                      <a:gd name="T6" fmla="*/ 24 w 63"/>
                      <a:gd name="T7" fmla="*/ 35 h 35"/>
                      <a:gd name="T8" fmla="*/ 0 w 63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33" name="Freeform 701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697"/>
                    <a:ext cx="33" cy="10"/>
                  </a:xfrm>
                  <a:custGeom>
                    <a:avLst/>
                    <a:gdLst>
                      <a:gd name="T0" fmla="*/ 0 w 64"/>
                      <a:gd name="T1" fmla="*/ 30 h 30"/>
                      <a:gd name="T2" fmla="*/ 13 w 64"/>
                      <a:gd name="T3" fmla="*/ 0 h 30"/>
                      <a:gd name="T4" fmla="*/ 52 w 64"/>
                      <a:gd name="T5" fmla="*/ 0 h 30"/>
                      <a:gd name="T6" fmla="*/ 64 w 64"/>
                      <a:gd name="T7" fmla="*/ 30 h 30"/>
                      <a:gd name="T8" fmla="*/ 0 w 64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2" y="0"/>
                        </a:lnTo>
                        <a:lnTo>
                          <a:pt x="64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34" name="Group 702"/>
                <p:cNvGrpSpPr>
                  <a:grpSpLocks/>
                </p:cNvGrpSpPr>
                <p:nvPr/>
              </p:nvGrpSpPr>
              <p:grpSpPr bwMode="auto">
                <a:xfrm>
                  <a:off x="1067" y="3698"/>
                  <a:ext cx="45" cy="23"/>
                  <a:chOff x="1067" y="3698"/>
                  <a:chExt cx="45" cy="23"/>
                </a:xfrm>
              </p:grpSpPr>
              <p:sp>
                <p:nvSpPr>
                  <p:cNvPr id="2176435" name="Freeform 703"/>
                  <p:cNvSpPr>
                    <a:spLocks noChangeArrowheads="1"/>
                  </p:cNvSpPr>
                  <p:nvPr/>
                </p:nvSpPr>
                <p:spPr bwMode="auto">
                  <a:xfrm>
                    <a:off x="1067" y="3698"/>
                    <a:ext cx="20" cy="23"/>
                  </a:xfrm>
                  <a:custGeom>
                    <a:avLst/>
                    <a:gdLst>
                      <a:gd name="T0" fmla="*/ 22 w 39"/>
                      <a:gd name="T1" fmla="*/ 69 h 69"/>
                      <a:gd name="T2" fmla="*/ 0 w 39"/>
                      <a:gd name="T3" fmla="*/ 34 h 69"/>
                      <a:gd name="T4" fmla="*/ 12 w 39"/>
                      <a:gd name="T5" fmla="*/ 0 h 69"/>
                      <a:gd name="T6" fmla="*/ 39 w 39"/>
                      <a:gd name="T7" fmla="*/ 34 h 69"/>
                      <a:gd name="T8" fmla="*/ 22 w 39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9">
                        <a:moveTo>
                          <a:pt x="22" y="69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36" name="Freeform 704"/>
                  <p:cNvSpPr>
                    <a:spLocks noChangeArrowheads="1"/>
                  </p:cNvSpPr>
                  <p:nvPr/>
                </p:nvSpPr>
                <p:spPr bwMode="auto">
                  <a:xfrm>
                    <a:off x="1074" y="3699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37" name="Freeform 705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11"/>
                    <a:ext cx="33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1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1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38" name="Group 706"/>
                <p:cNvGrpSpPr>
                  <a:grpSpLocks/>
                </p:cNvGrpSpPr>
                <p:nvPr/>
              </p:nvGrpSpPr>
              <p:grpSpPr bwMode="auto">
                <a:xfrm>
                  <a:off x="1079" y="3712"/>
                  <a:ext cx="44" cy="23"/>
                  <a:chOff x="1079" y="3712"/>
                  <a:chExt cx="44" cy="23"/>
                </a:xfrm>
              </p:grpSpPr>
              <p:sp>
                <p:nvSpPr>
                  <p:cNvPr id="2176439" name="Freeform 707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12"/>
                    <a:ext cx="21" cy="23"/>
                  </a:xfrm>
                  <a:custGeom>
                    <a:avLst/>
                    <a:gdLst>
                      <a:gd name="T0" fmla="*/ 24 w 41"/>
                      <a:gd name="T1" fmla="*/ 68 h 68"/>
                      <a:gd name="T2" fmla="*/ 0 w 41"/>
                      <a:gd name="T3" fmla="*/ 32 h 68"/>
                      <a:gd name="T4" fmla="*/ 13 w 41"/>
                      <a:gd name="T5" fmla="*/ 0 h 68"/>
                      <a:gd name="T6" fmla="*/ 41 w 41"/>
                      <a:gd name="T7" fmla="*/ 32 h 68"/>
                      <a:gd name="T8" fmla="*/ 24 w 41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68">
                        <a:moveTo>
                          <a:pt x="24" y="68"/>
                        </a:moveTo>
                        <a:lnTo>
                          <a:pt x="0" y="32"/>
                        </a:lnTo>
                        <a:lnTo>
                          <a:pt x="13" y="0"/>
                        </a:lnTo>
                        <a:lnTo>
                          <a:pt x="41" y="32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0" name="Freeform 708"/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3713"/>
                    <a:ext cx="31" cy="10"/>
                  </a:xfrm>
                  <a:custGeom>
                    <a:avLst/>
                    <a:gdLst>
                      <a:gd name="T0" fmla="*/ 0 w 63"/>
                      <a:gd name="T1" fmla="*/ 0 h 32"/>
                      <a:gd name="T2" fmla="*/ 40 w 63"/>
                      <a:gd name="T3" fmla="*/ 0 h 32"/>
                      <a:gd name="T4" fmla="*/ 63 w 63"/>
                      <a:gd name="T5" fmla="*/ 32 h 32"/>
                      <a:gd name="T6" fmla="*/ 23 w 63"/>
                      <a:gd name="T7" fmla="*/ 32 h 32"/>
                      <a:gd name="T8" fmla="*/ 0 w 63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2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3" y="32"/>
                        </a:lnTo>
                        <a:lnTo>
                          <a:pt x="23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1" name="Freeform 709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3724"/>
                    <a:ext cx="31" cy="11"/>
                  </a:xfrm>
                  <a:custGeom>
                    <a:avLst/>
                    <a:gdLst>
                      <a:gd name="T0" fmla="*/ 0 w 63"/>
                      <a:gd name="T1" fmla="*/ 31 h 31"/>
                      <a:gd name="T2" fmla="*/ 12 w 63"/>
                      <a:gd name="T3" fmla="*/ 0 h 31"/>
                      <a:gd name="T4" fmla="*/ 52 w 63"/>
                      <a:gd name="T5" fmla="*/ 0 h 31"/>
                      <a:gd name="T6" fmla="*/ 63 w 63"/>
                      <a:gd name="T7" fmla="*/ 31 h 31"/>
                      <a:gd name="T8" fmla="*/ 0 w 63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1">
                        <a:moveTo>
                          <a:pt x="0" y="31"/>
                        </a:moveTo>
                        <a:lnTo>
                          <a:pt x="12" y="0"/>
                        </a:lnTo>
                        <a:lnTo>
                          <a:pt x="52" y="0"/>
                        </a:lnTo>
                        <a:lnTo>
                          <a:pt x="63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42" name="Group 710"/>
                <p:cNvGrpSpPr>
                  <a:grpSpLocks/>
                </p:cNvGrpSpPr>
                <p:nvPr/>
              </p:nvGrpSpPr>
              <p:grpSpPr bwMode="auto">
                <a:xfrm>
                  <a:off x="1093" y="3725"/>
                  <a:ext cx="45" cy="23"/>
                  <a:chOff x="1093" y="3725"/>
                  <a:chExt cx="45" cy="23"/>
                </a:xfrm>
              </p:grpSpPr>
              <p:sp>
                <p:nvSpPr>
                  <p:cNvPr id="2176443" name="Freeform 711"/>
                  <p:cNvSpPr>
                    <a:spLocks noChangeArrowheads="1"/>
                  </p:cNvSpPr>
                  <p:nvPr/>
                </p:nvSpPr>
                <p:spPr bwMode="auto">
                  <a:xfrm>
                    <a:off x="1093" y="3725"/>
                    <a:ext cx="20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2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4" name="Freeform 712"/>
                  <p:cNvSpPr>
                    <a:spLocks noChangeArrowheads="1"/>
                  </p:cNvSpPr>
                  <p:nvPr/>
                </p:nvSpPr>
                <p:spPr bwMode="auto">
                  <a:xfrm>
                    <a:off x="1100" y="3726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40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5" name="Freeform 713"/>
                  <p:cNvSpPr>
                    <a:spLocks noChangeArrowheads="1"/>
                  </p:cNvSpPr>
                  <p:nvPr/>
                </p:nvSpPr>
                <p:spPr bwMode="auto">
                  <a:xfrm>
                    <a:off x="1106" y="3738"/>
                    <a:ext cx="32" cy="9"/>
                  </a:xfrm>
                  <a:custGeom>
                    <a:avLst/>
                    <a:gdLst>
                      <a:gd name="T0" fmla="*/ 0 w 65"/>
                      <a:gd name="T1" fmla="*/ 28 h 28"/>
                      <a:gd name="T2" fmla="*/ 12 w 65"/>
                      <a:gd name="T3" fmla="*/ 0 h 28"/>
                      <a:gd name="T4" fmla="*/ 53 w 65"/>
                      <a:gd name="T5" fmla="*/ 0 h 28"/>
                      <a:gd name="T6" fmla="*/ 65 w 65"/>
                      <a:gd name="T7" fmla="*/ 28 h 28"/>
                      <a:gd name="T8" fmla="*/ 0 w 65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46" name="Group 714"/>
                <p:cNvGrpSpPr>
                  <a:grpSpLocks/>
                </p:cNvGrpSpPr>
                <p:nvPr/>
              </p:nvGrpSpPr>
              <p:grpSpPr bwMode="auto">
                <a:xfrm>
                  <a:off x="1108" y="3739"/>
                  <a:ext cx="44" cy="23"/>
                  <a:chOff x="1108" y="3739"/>
                  <a:chExt cx="44" cy="23"/>
                </a:xfrm>
              </p:grpSpPr>
              <p:sp>
                <p:nvSpPr>
                  <p:cNvPr id="2176447" name="Freeform 715"/>
                  <p:cNvSpPr>
                    <a:spLocks noChangeArrowheads="1"/>
                  </p:cNvSpPr>
                  <p:nvPr/>
                </p:nvSpPr>
                <p:spPr bwMode="auto">
                  <a:xfrm>
                    <a:off x="1108" y="3739"/>
                    <a:ext cx="19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4 h 69"/>
                      <a:gd name="T4" fmla="*/ 12 w 40"/>
                      <a:gd name="T5" fmla="*/ 0 h 69"/>
                      <a:gd name="T6" fmla="*/ 40 w 40"/>
                      <a:gd name="T7" fmla="*/ 34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40" y="34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8" name="Freeform 716"/>
                  <p:cNvSpPr>
                    <a:spLocks noChangeArrowheads="1"/>
                  </p:cNvSpPr>
                  <p:nvPr/>
                </p:nvSpPr>
                <p:spPr bwMode="auto">
                  <a:xfrm>
                    <a:off x="1114" y="3740"/>
                    <a:ext cx="32" cy="11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42 w 64"/>
                      <a:gd name="T3" fmla="*/ 0 h 35"/>
                      <a:gd name="T4" fmla="*/ 64 w 64"/>
                      <a:gd name="T5" fmla="*/ 35 h 35"/>
                      <a:gd name="T6" fmla="*/ 25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4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49" name="Freeform 717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752"/>
                    <a:ext cx="32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5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5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50" name="Group 718"/>
                <p:cNvGrpSpPr>
                  <a:grpSpLocks/>
                </p:cNvGrpSpPr>
                <p:nvPr/>
              </p:nvGrpSpPr>
              <p:grpSpPr bwMode="auto">
                <a:xfrm>
                  <a:off x="1121" y="3753"/>
                  <a:ext cx="45" cy="23"/>
                  <a:chOff x="1121" y="3753"/>
                  <a:chExt cx="45" cy="23"/>
                </a:xfrm>
              </p:grpSpPr>
              <p:sp>
                <p:nvSpPr>
                  <p:cNvPr id="2176451" name="Freeform 719"/>
                  <p:cNvSpPr>
                    <a:spLocks noChangeArrowheads="1"/>
                  </p:cNvSpPr>
                  <p:nvPr/>
                </p:nvSpPr>
                <p:spPr bwMode="auto">
                  <a:xfrm>
                    <a:off x="1121" y="3753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5 h 68"/>
                      <a:gd name="T4" fmla="*/ 12 w 39"/>
                      <a:gd name="T5" fmla="*/ 0 h 68"/>
                      <a:gd name="T6" fmla="*/ 39 w 39"/>
                      <a:gd name="T7" fmla="*/ 35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39" y="35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52" name="Freeform 720"/>
                  <p:cNvSpPr>
                    <a:spLocks noChangeArrowheads="1"/>
                  </p:cNvSpPr>
                  <p:nvPr/>
                </p:nvSpPr>
                <p:spPr bwMode="auto">
                  <a:xfrm>
                    <a:off x="1127" y="3753"/>
                    <a:ext cx="33" cy="12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39 w 64"/>
                      <a:gd name="T3" fmla="*/ 0 h 35"/>
                      <a:gd name="T4" fmla="*/ 64 w 64"/>
                      <a:gd name="T5" fmla="*/ 35 h 35"/>
                      <a:gd name="T6" fmla="*/ 24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53" name="Freeform 721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3766"/>
                    <a:ext cx="33" cy="9"/>
                  </a:xfrm>
                  <a:custGeom>
                    <a:avLst/>
                    <a:gdLst>
                      <a:gd name="T0" fmla="*/ 0 w 66"/>
                      <a:gd name="T1" fmla="*/ 29 h 29"/>
                      <a:gd name="T2" fmla="*/ 12 w 66"/>
                      <a:gd name="T3" fmla="*/ 0 h 29"/>
                      <a:gd name="T4" fmla="*/ 54 w 66"/>
                      <a:gd name="T5" fmla="*/ 0 h 29"/>
                      <a:gd name="T6" fmla="*/ 66 w 66"/>
                      <a:gd name="T7" fmla="*/ 29 h 29"/>
                      <a:gd name="T8" fmla="*/ 0 w 66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54" name="Group 722"/>
                <p:cNvGrpSpPr>
                  <a:grpSpLocks/>
                </p:cNvGrpSpPr>
                <p:nvPr/>
              </p:nvGrpSpPr>
              <p:grpSpPr bwMode="auto">
                <a:xfrm>
                  <a:off x="1133" y="3767"/>
                  <a:ext cx="44" cy="23"/>
                  <a:chOff x="1133" y="3767"/>
                  <a:chExt cx="44" cy="23"/>
                </a:xfrm>
              </p:grpSpPr>
              <p:sp>
                <p:nvSpPr>
                  <p:cNvPr id="2176455" name="Freeform 723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3767"/>
                    <a:ext cx="20" cy="23"/>
                  </a:xfrm>
                  <a:custGeom>
                    <a:avLst/>
                    <a:gdLst>
                      <a:gd name="T0" fmla="*/ 23 w 39"/>
                      <a:gd name="T1" fmla="*/ 69 h 69"/>
                      <a:gd name="T2" fmla="*/ 0 w 39"/>
                      <a:gd name="T3" fmla="*/ 33 h 69"/>
                      <a:gd name="T4" fmla="*/ 12 w 39"/>
                      <a:gd name="T5" fmla="*/ 0 h 69"/>
                      <a:gd name="T6" fmla="*/ 39 w 39"/>
                      <a:gd name="T7" fmla="*/ 33 h 69"/>
                      <a:gd name="T8" fmla="*/ 23 w 39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56" name="Freeform 724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3767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3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3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57" name="Freeform 725"/>
                  <p:cNvSpPr>
                    <a:spLocks noChangeArrowheads="1"/>
                  </p:cNvSpPr>
                  <p:nvPr/>
                </p:nvSpPr>
                <p:spPr bwMode="auto">
                  <a:xfrm>
                    <a:off x="1146" y="3779"/>
                    <a:ext cx="31" cy="10"/>
                  </a:xfrm>
                  <a:custGeom>
                    <a:avLst/>
                    <a:gdLst>
                      <a:gd name="T0" fmla="*/ 0 w 63"/>
                      <a:gd name="T1" fmla="*/ 31 h 31"/>
                      <a:gd name="T2" fmla="*/ 11 w 63"/>
                      <a:gd name="T3" fmla="*/ 0 h 31"/>
                      <a:gd name="T4" fmla="*/ 52 w 63"/>
                      <a:gd name="T5" fmla="*/ 0 h 31"/>
                      <a:gd name="T6" fmla="*/ 63 w 63"/>
                      <a:gd name="T7" fmla="*/ 31 h 31"/>
                      <a:gd name="T8" fmla="*/ 0 w 63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1">
                        <a:moveTo>
                          <a:pt x="0" y="31"/>
                        </a:moveTo>
                        <a:lnTo>
                          <a:pt x="11" y="0"/>
                        </a:lnTo>
                        <a:lnTo>
                          <a:pt x="52" y="0"/>
                        </a:lnTo>
                        <a:lnTo>
                          <a:pt x="63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6458" name="Freeform 726"/>
                <p:cNvSpPr>
                  <a:spLocks noChangeArrowheads="1"/>
                </p:cNvSpPr>
                <p:nvPr/>
              </p:nvSpPr>
              <p:spPr bwMode="auto">
                <a:xfrm>
                  <a:off x="972" y="3556"/>
                  <a:ext cx="40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7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59" name="Freeform 727"/>
                <p:cNvSpPr>
                  <a:spLocks noChangeArrowheads="1"/>
                </p:cNvSpPr>
                <p:nvPr/>
              </p:nvSpPr>
              <p:spPr bwMode="auto">
                <a:xfrm>
                  <a:off x="993" y="3576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0" name="Freeform 728"/>
                <p:cNvSpPr>
                  <a:spLocks noChangeArrowheads="1"/>
                </p:cNvSpPr>
                <p:nvPr/>
              </p:nvSpPr>
              <p:spPr bwMode="auto">
                <a:xfrm>
                  <a:off x="1012" y="3594"/>
                  <a:ext cx="39" cy="12"/>
                </a:xfrm>
                <a:custGeom>
                  <a:avLst/>
                  <a:gdLst>
                    <a:gd name="T0" fmla="*/ 0 w 78"/>
                    <a:gd name="T1" fmla="*/ 0 h 36"/>
                    <a:gd name="T2" fmla="*/ 27 w 78"/>
                    <a:gd name="T3" fmla="*/ 36 h 36"/>
                    <a:gd name="T4" fmla="*/ 78 w 78"/>
                    <a:gd name="T5" fmla="*/ 36 h 36"/>
                    <a:gd name="T6" fmla="*/ 49 w 78"/>
                    <a:gd name="T7" fmla="*/ 0 h 36"/>
                    <a:gd name="T8" fmla="*/ 0 w 78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78" y="36"/>
                      </a:lnTo>
                      <a:lnTo>
                        <a:pt x="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1" name="Freeform 729"/>
                <p:cNvSpPr>
                  <a:spLocks noChangeArrowheads="1"/>
                </p:cNvSpPr>
                <p:nvPr/>
              </p:nvSpPr>
              <p:spPr bwMode="auto">
                <a:xfrm>
                  <a:off x="1032" y="3613"/>
                  <a:ext cx="40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2" name="Freeform 730"/>
                <p:cNvSpPr>
                  <a:spLocks noChangeArrowheads="1"/>
                </p:cNvSpPr>
                <p:nvPr/>
              </p:nvSpPr>
              <p:spPr bwMode="auto">
                <a:xfrm>
                  <a:off x="1053" y="3632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3" name="Freeform 731"/>
                <p:cNvSpPr>
                  <a:spLocks noChangeArrowheads="1"/>
                </p:cNvSpPr>
                <p:nvPr/>
              </p:nvSpPr>
              <p:spPr bwMode="auto">
                <a:xfrm>
                  <a:off x="1074" y="3651"/>
                  <a:ext cx="40" cy="12"/>
                </a:xfrm>
                <a:custGeom>
                  <a:avLst/>
                  <a:gdLst>
                    <a:gd name="T0" fmla="*/ 0 w 79"/>
                    <a:gd name="T1" fmla="*/ 0 h 35"/>
                    <a:gd name="T2" fmla="*/ 28 w 79"/>
                    <a:gd name="T3" fmla="*/ 35 h 35"/>
                    <a:gd name="T4" fmla="*/ 79 w 79"/>
                    <a:gd name="T5" fmla="*/ 35 h 35"/>
                    <a:gd name="T6" fmla="*/ 50 w 79"/>
                    <a:gd name="T7" fmla="*/ 0 h 35"/>
                    <a:gd name="T8" fmla="*/ 0 w 79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5">
                      <a:moveTo>
                        <a:pt x="0" y="0"/>
                      </a:moveTo>
                      <a:lnTo>
                        <a:pt x="28" y="35"/>
                      </a:lnTo>
                      <a:lnTo>
                        <a:pt x="79" y="35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4" name="Freeform 732"/>
                <p:cNvSpPr>
                  <a:spLocks noChangeArrowheads="1"/>
                </p:cNvSpPr>
                <p:nvPr/>
              </p:nvSpPr>
              <p:spPr bwMode="auto">
                <a:xfrm>
                  <a:off x="1095" y="3669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8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5" name="Freeform 733"/>
                <p:cNvSpPr>
                  <a:spLocks noChangeArrowheads="1"/>
                </p:cNvSpPr>
                <p:nvPr/>
              </p:nvSpPr>
              <p:spPr bwMode="auto">
                <a:xfrm>
                  <a:off x="1115" y="3688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7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6" name="Freeform 734"/>
                <p:cNvSpPr>
                  <a:spLocks noChangeArrowheads="1"/>
                </p:cNvSpPr>
                <p:nvPr/>
              </p:nvSpPr>
              <p:spPr bwMode="auto">
                <a:xfrm>
                  <a:off x="1134" y="3707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7" name="Freeform 735"/>
                <p:cNvSpPr>
                  <a:spLocks noChangeArrowheads="1"/>
                </p:cNvSpPr>
                <p:nvPr/>
              </p:nvSpPr>
              <p:spPr bwMode="auto">
                <a:xfrm>
                  <a:off x="1154" y="372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7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468" name="Freeform 736"/>
                <p:cNvSpPr>
                  <a:spLocks noChangeArrowheads="1"/>
                </p:cNvSpPr>
                <p:nvPr/>
              </p:nvSpPr>
              <p:spPr bwMode="auto">
                <a:xfrm>
                  <a:off x="1175" y="3745"/>
                  <a:ext cx="40" cy="12"/>
                </a:xfrm>
                <a:custGeom>
                  <a:avLst/>
                  <a:gdLst>
                    <a:gd name="T0" fmla="*/ 0 w 81"/>
                    <a:gd name="T1" fmla="*/ 0 h 36"/>
                    <a:gd name="T2" fmla="*/ 28 w 81"/>
                    <a:gd name="T3" fmla="*/ 36 h 36"/>
                    <a:gd name="T4" fmla="*/ 81 w 81"/>
                    <a:gd name="T5" fmla="*/ 36 h 36"/>
                    <a:gd name="T6" fmla="*/ 52 w 81"/>
                    <a:gd name="T7" fmla="*/ 0 h 36"/>
                    <a:gd name="T8" fmla="*/ 0 w 81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81" y="36"/>
                      </a:lnTo>
                      <a:lnTo>
                        <a:pt x="5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6469" name="Group 737"/>
                <p:cNvGrpSpPr>
                  <a:grpSpLocks/>
                </p:cNvGrpSpPr>
                <p:nvPr/>
              </p:nvGrpSpPr>
              <p:grpSpPr bwMode="auto">
                <a:xfrm>
                  <a:off x="700" y="3535"/>
                  <a:ext cx="49" cy="24"/>
                  <a:chOff x="700" y="3535"/>
                  <a:chExt cx="49" cy="24"/>
                </a:xfrm>
              </p:grpSpPr>
              <p:sp>
                <p:nvSpPr>
                  <p:cNvPr id="2176470" name="Freeform 738"/>
                  <p:cNvSpPr>
                    <a:spLocks noChangeArrowheads="1"/>
                  </p:cNvSpPr>
                  <p:nvPr/>
                </p:nvSpPr>
                <p:spPr bwMode="auto">
                  <a:xfrm>
                    <a:off x="700" y="3535"/>
                    <a:ext cx="12" cy="24"/>
                  </a:xfrm>
                  <a:custGeom>
                    <a:avLst/>
                    <a:gdLst>
                      <a:gd name="T0" fmla="*/ 15 w 24"/>
                      <a:gd name="T1" fmla="*/ 70 h 70"/>
                      <a:gd name="T2" fmla="*/ 0 w 24"/>
                      <a:gd name="T3" fmla="*/ 27 h 70"/>
                      <a:gd name="T4" fmla="*/ 10 w 24"/>
                      <a:gd name="T5" fmla="*/ 0 h 70"/>
                      <a:gd name="T6" fmla="*/ 24 w 24"/>
                      <a:gd name="T7" fmla="*/ 32 h 70"/>
                      <a:gd name="T8" fmla="*/ 15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71" name="Freeform 739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3536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2 w 73"/>
                      <a:gd name="T5" fmla="*/ 4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6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72" name="Freeform 740"/>
                  <p:cNvSpPr>
                    <a:spLocks noChangeArrowheads="1"/>
                  </p:cNvSpPr>
                  <p:nvPr/>
                </p:nvSpPr>
                <p:spPr bwMode="auto">
                  <a:xfrm>
                    <a:off x="708" y="354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6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6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73" name="Group 741"/>
                <p:cNvGrpSpPr>
                  <a:grpSpLocks/>
                </p:cNvGrpSpPr>
                <p:nvPr/>
              </p:nvGrpSpPr>
              <p:grpSpPr bwMode="auto">
                <a:xfrm>
                  <a:off x="714" y="3551"/>
                  <a:ext cx="49" cy="22"/>
                  <a:chOff x="714" y="3551"/>
                  <a:chExt cx="49" cy="22"/>
                </a:xfrm>
              </p:grpSpPr>
              <p:sp>
                <p:nvSpPr>
                  <p:cNvPr id="2176474" name="Freeform 742"/>
                  <p:cNvSpPr>
                    <a:spLocks noChangeArrowheads="1"/>
                  </p:cNvSpPr>
                  <p:nvPr/>
                </p:nvSpPr>
                <p:spPr bwMode="auto">
                  <a:xfrm>
                    <a:off x="714" y="35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9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75" name="Freeform 743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3551"/>
                    <a:ext cx="36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50 w 74"/>
                      <a:gd name="T3" fmla="*/ 0 h 29"/>
                      <a:gd name="T4" fmla="*/ 52 w 74"/>
                      <a:gd name="T5" fmla="*/ 2 h 29"/>
                      <a:gd name="T6" fmla="*/ 57 w 74"/>
                      <a:gd name="T7" fmla="*/ 13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3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76" name="Freeform 744"/>
                  <p:cNvSpPr>
                    <a:spLocks noChangeArrowheads="1"/>
                  </p:cNvSpPr>
                  <p:nvPr/>
                </p:nvSpPr>
                <p:spPr bwMode="auto">
                  <a:xfrm>
                    <a:off x="722" y="35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77" name="Group 745"/>
                <p:cNvGrpSpPr>
                  <a:grpSpLocks/>
                </p:cNvGrpSpPr>
                <p:nvPr/>
              </p:nvGrpSpPr>
              <p:grpSpPr bwMode="auto">
                <a:xfrm>
                  <a:off x="728" y="3564"/>
                  <a:ext cx="48" cy="23"/>
                  <a:chOff x="728" y="3564"/>
                  <a:chExt cx="48" cy="23"/>
                </a:xfrm>
              </p:grpSpPr>
              <p:sp>
                <p:nvSpPr>
                  <p:cNvPr id="2176478" name="Freeform 746"/>
                  <p:cNvSpPr>
                    <a:spLocks noChangeArrowheads="1"/>
                  </p:cNvSpPr>
                  <p:nvPr/>
                </p:nvSpPr>
                <p:spPr bwMode="auto">
                  <a:xfrm>
                    <a:off x="728" y="3564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79" name="Freeform 747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565"/>
                    <a:ext cx="37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50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6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80" name="Freeform 748"/>
                  <p:cNvSpPr>
                    <a:spLocks noChangeArrowheads="1"/>
                  </p:cNvSpPr>
                  <p:nvPr/>
                </p:nvSpPr>
                <p:spPr bwMode="auto">
                  <a:xfrm>
                    <a:off x="735" y="3575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81" name="Group 749"/>
                <p:cNvGrpSpPr>
                  <a:grpSpLocks/>
                </p:cNvGrpSpPr>
                <p:nvPr/>
              </p:nvGrpSpPr>
              <p:grpSpPr bwMode="auto">
                <a:xfrm>
                  <a:off x="742" y="3582"/>
                  <a:ext cx="49" cy="23"/>
                  <a:chOff x="742" y="3582"/>
                  <a:chExt cx="49" cy="23"/>
                </a:xfrm>
              </p:grpSpPr>
              <p:sp>
                <p:nvSpPr>
                  <p:cNvPr id="2176482" name="Freeform 750"/>
                  <p:cNvSpPr>
                    <a:spLocks noChangeArrowheads="1"/>
                  </p:cNvSpPr>
                  <p:nvPr/>
                </p:nvSpPr>
                <p:spPr bwMode="auto">
                  <a:xfrm>
                    <a:off x="742" y="3582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6 h 68"/>
                      <a:gd name="T4" fmla="*/ 11 w 24"/>
                      <a:gd name="T5" fmla="*/ 0 h 68"/>
                      <a:gd name="T6" fmla="*/ 24 w 24"/>
                      <a:gd name="T7" fmla="*/ 31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83" name="Freeform 751"/>
                  <p:cNvSpPr>
                    <a:spLocks noChangeArrowheads="1"/>
                  </p:cNvSpPr>
                  <p:nvPr/>
                </p:nvSpPr>
                <p:spPr bwMode="auto">
                  <a:xfrm>
                    <a:off x="747" y="3582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8 w 72"/>
                      <a:gd name="T3" fmla="*/ 0 h 30"/>
                      <a:gd name="T4" fmla="*/ 50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6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84" name="Freeform 752"/>
                  <p:cNvSpPr>
                    <a:spLocks noChangeArrowheads="1"/>
                  </p:cNvSpPr>
                  <p:nvPr/>
                </p:nvSpPr>
                <p:spPr bwMode="auto">
                  <a:xfrm>
                    <a:off x="750" y="359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85" name="Group 753"/>
                <p:cNvGrpSpPr>
                  <a:grpSpLocks/>
                </p:cNvGrpSpPr>
                <p:nvPr/>
              </p:nvGrpSpPr>
              <p:grpSpPr bwMode="auto">
                <a:xfrm>
                  <a:off x="752" y="3597"/>
                  <a:ext cx="133" cy="106"/>
                  <a:chOff x="752" y="3597"/>
                  <a:chExt cx="133" cy="106"/>
                </a:xfrm>
              </p:grpSpPr>
              <p:sp>
                <p:nvSpPr>
                  <p:cNvPr id="2176486" name="Freeform 754"/>
                  <p:cNvSpPr>
                    <a:spLocks noChangeArrowheads="1"/>
                  </p:cNvSpPr>
                  <p:nvPr/>
                </p:nvSpPr>
                <p:spPr bwMode="auto">
                  <a:xfrm>
                    <a:off x="752" y="3598"/>
                    <a:ext cx="91" cy="105"/>
                  </a:xfrm>
                  <a:custGeom>
                    <a:avLst/>
                    <a:gdLst>
                      <a:gd name="T0" fmla="*/ 171 w 182"/>
                      <a:gd name="T1" fmla="*/ 314 h 314"/>
                      <a:gd name="T2" fmla="*/ 0 w 182"/>
                      <a:gd name="T3" fmla="*/ 27 h 314"/>
                      <a:gd name="T4" fmla="*/ 13 w 182"/>
                      <a:gd name="T5" fmla="*/ 0 h 314"/>
                      <a:gd name="T6" fmla="*/ 182 w 182"/>
                      <a:gd name="T7" fmla="*/ 278 h 314"/>
                      <a:gd name="T8" fmla="*/ 171 w 182"/>
                      <a:gd name="T9" fmla="*/ 314 h 3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2" h="314">
                        <a:moveTo>
                          <a:pt x="171" y="314"/>
                        </a:moveTo>
                        <a:lnTo>
                          <a:pt x="0" y="27"/>
                        </a:lnTo>
                        <a:lnTo>
                          <a:pt x="13" y="0"/>
                        </a:lnTo>
                        <a:lnTo>
                          <a:pt x="182" y="278"/>
                        </a:lnTo>
                        <a:lnTo>
                          <a:pt x="171" y="314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87" name="Freeform 755"/>
                  <p:cNvSpPr>
                    <a:spLocks noChangeArrowheads="1"/>
                  </p:cNvSpPr>
                  <p:nvPr/>
                </p:nvSpPr>
                <p:spPr bwMode="auto">
                  <a:xfrm>
                    <a:off x="759" y="3597"/>
                    <a:ext cx="118" cy="94"/>
                  </a:xfrm>
                  <a:custGeom>
                    <a:avLst/>
                    <a:gdLst>
                      <a:gd name="T0" fmla="*/ 1 w 235"/>
                      <a:gd name="T1" fmla="*/ 0 h 281"/>
                      <a:gd name="T2" fmla="*/ 56 w 235"/>
                      <a:gd name="T3" fmla="*/ 0 h 281"/>
                      <a:gd name="T4" fmla="*/ 58 w 235"/>
                      <a:gd name="T5" fmla="*/ 0 h 281"/>
                      <a:gd name="T6" fmla="*/ 65 w 235"/>
                      <a:gd name="T7" fmla="*/ 10 h 281"/>
                      <a:gd name="T8" fmla="*/ 235 w 235"/>
                      <a:gd name="T9" fmla="*/ 281 h 281"/>
                      <a:gd name="T10" fmla="*/ 165 w 235"/>
                      <a:gd name="T11" fmla="*/ 277 h 281"/>
                      <a:gd name="T12" fmla="*/ 9 w 235"/>
                      <a:gd name="T13" fmla="*/ 19 h 281"/>
                      <a:gd name="T14" fmla="*/ 0 w 235"/>
                      <a:gd name="T15" fmla="*/ 4 h 281"/>
                      <a:gd name="T16" fmla="*/ 1 w 235"/>
                      <a:gd name="T17" fmla="*/ 0 h 2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35" h="281">
                        <a:moveTo>
                          <a:pt x="1" y="0"/>
                        </a:moveTo>
                        <a:lnTo>
                          <a:pt x="56" y="0"/>
                        </a:lnTo>
                        <a:lnTo>
                          <a:pt x="58" y="0"/>
                        </a:lnTo>
                        <a:lnTo>
                          <a:pt x="65" y="10"/>
                        </a:lnTo>
                        <a:lnTo>
                          <a:pt x="235" y="281"/>
                        </a:lnTo>
                        <a:lnTo>
                          <a:pt x="165" y="277"/>
                        </a:lnTo>
                        <a:lnTo>
                          <a:pt x="9" y="19"/>
                        </a:lnTo>
                        <a:lnTo>
                          <a:pt x="0" y="4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88" name="Freeform 756"/>
                  <p:cNvSpPr>
                    <a:spLocks noChangeArrowheads="1"/>
                  </p:cNvSpPr>
                  <p:nvPr/>
                </p:nvSpPr>
                <p:spPr bwMode="auto">
                  <a:xfrm>
                    <a:off x="838" y="3691"/>
                    <a:ext cx="47" cy="12"/>
                  </a:xfrm>
                  <a:custGeom>
                    <a:avLst/>
                    <a:gdLst>
                      <a:gd name="T0" fmla="*/ 0 w 95"/>
                      <a:gd name="T1" fmla="*/ 36 h 36"/>
                      <a:gd name="T2" fmla="*/ 2 w 95"/>
                      <a:gd name="T3" fmla="*/ 19 h 36"/>
                      <a:gd name="T4" fmla="*/ 8 w 95"/>
                      <a:gd name="T5" fmla="*/ 7 h 36"/>
                      <a:gd name="T6" fmla="*/ 12 w 95"/>
                      <a:gd name="T7" fmla="*/ 0 h 36"/>
                      <a:gd name="T8" fmla="*/ 76 w 95"/>
                      <a:gd name="T9" fmla="*/ 0 h 36"/>
                      <a:gd name="T10" fmla="*/ 95 w 95"/>
                      <a:gd name="T11" fmla="*/ 36 h 36"/>
                      <a:gd name="T12" fmla="*/ 0 w 95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5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76" y="0"/>
                        </a:lnTo>
                        <a:lnTo>
                          <a:pt x="95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89" name="Group 757"/>
                <p:cNvGrpSpPr>
                  <a:grpSpLocks/>
                </p:cNvGrpSpPr>
                <p:nvPr/>
              </p:nvGrpSpPr>
              <p:grpSpPr bwMode="auto">
                <a:xfrm>
                  <a:off x="844" y="3694"/>
                  <a:ext cx="48" cy="23"/>
                  <a:chOff x="844" y="3694"/>
                  <a:chExt cx="48" cy="23"/>
                </a:xfrm>
              </p:grpSpPr>
              <p:sp>
                <p:nvSpPr>
                  <p:cNvPr id="2176490" name="Freeform 758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94"/>
                    <a:ext cx="11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9 w 24"/>
                      <a:gd name="T5" fmla="*/ 0 h 68"/>
                      <a:gd name="T6" fmla="*/ 24 w 24"/>
                      <a:gd name="T7" fmla="*/ 32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2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91" name="Freeform 759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95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1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9 w 74"/>
                      <a:gd name="T13" fmla="*/ 21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92" name="Freeform 760"/>
                  <p:cNvSpPr>
                    <a:spLocks noChangeArrowheads="1"/>
                  </p:cNvSpPr>
                  <p:nvPr/>
                </p:nvSpPr>
                <p:spPr bwMode="auto">
                  <a:xfrm>
                    <a:off x="851" y="3706"/>
                    <a:ext cx="41" cy="11"/>
                  </a:xfrm>
                  <a:custGeom>
                    <a:avLst/>
                    <a:gdLst>
                      <a:gd name="T0" fmla="*/ 0 w 81"/>
                      <a:gd name="T1" fmla="*/ 34 h 34"/>
                      <a:gd name="T2" fmla="*/ 1 w 81"/>
                      <a:gd name="T3" fmla="*/ 19 h 34"/>
                      <a:gd name="T4" fmla="*/ 5 w 81"/>
                      <a:gd name="T5" fmla="*/ 6 h 34"/>
                      <a:gd name="T6" fmla="*/ 10 w 81"/>
                      <a:gd name="T7" fmla="*/ 0 h 34"/>
                      <a:gd name="T8" fmla="*/ 67 w 81"/>
                      <a:gd name="T9" fmla="*/ 0 h 34"/>
                      <a:gd name="T10" fmla="*/ 81 w 81"/>
                      <a:gd name="T11" fmla="*/ 34 h 34"/>
                      <a:gd name="T12" fmla="*/ 0 w 81"/>
                      <a:gd name="T13" fmla="*/ 3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4">
                        <a:moveTo>
                          <a:pt x="0" y="34"/>
                        </a:moveTo>
                        <a:lnTo>
                          <a:pt x="1" y="19"/>
                        </a:lnTo>
                        <a:lnTo>
                          <a:pt x="5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4"/>
                        </a:lnTo>
                        <a:lnTo>
                          <a:pt x="0" y="34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93" name="Group 761"/>
                <p:cNvGrpSpPr>
                  <a:grpSpLocks/>
                </p:cNvGrpSpPr>
                <p:nvPr/>
              </p:nvGrpSpPr>
              <p:grpSpPr bwMode="auto">
                <a:xfrm>
                  <a:off x="857" y="3710"/>
                  <a:ext cx="49" cy="22"/>
                  <a:chOff x="857" y="3710"/>
                  <a:chExt cx="49" cy="22"/>
                </a:xfrm>
              </p:grpSpPr>
              <p:sp>
                <p:nvSpPr>
                  <p:cNvPr id="2176494" name="Freeform 76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710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95" name="Freeform 763"/>
                  <p:cNvSpPr>
                    <a:spLocks noChangeArrowheads="1"/>
                  </p:cNvSpPr>
                  <p:nvPr/>
                </p:nvSpPr>
                <p:spPr bwMode="auto">
                  <a:xfrm>
                    <a:off x="862" y="3710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96" name="Freeform 764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720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497" name="Group 765"/>
                <p:cNvGrpSpPr>
                  <a:grpSpLocks/>
                </p:cNvGrpSpPr>
                <p:nvPr/>
              </p:nvGrpSpPr>
              <p:grpSpPr bwMode="auto">
                <a:xfrm>
                  <a:off x="1086" y="3766"/>
                  <a:ext cx="49" cy="23"/>
                  <a:chOff x="1086" y="3766"/>
                  <a:chExt cx="49" cy="23"/>
                </a:xfrm>
              </p:grpSpPr>
              <p:sp>
                <p:nvSpPr>
                  <p:cNvPr id="2176498" name="Freeform 766"/>
                  <p:cNvSpPr>
                    <a:spLocks noChangeArrowheads="1"/>
                  </p:cNvSpPr>
                  <p:nvPr/>
                </p:nvSpPr>
                <p:spPr bwMode="auto">
                  <a:xfrm>
                    <a:off x="1086" y="3766"/>
                    <a:ext cx="11" cy="23"/>
                  </a:xfrm>
                  <a:custGeom>
                    <a:avLst/>
                    <a:gdLst>
                      <a:gd name="T0" fmla="*/ 13 w 22"/>
                      <a:gd name="T1" fmla="*/ 69 h 69"/>
                      <a:gd name="T2" fmla="*/ 0 w 22"/>
                      <a:gd name="T3" fmla="*/ 27 h 69"/>
                      <a:gd name="T4" fmla="*/ 9 w 22"/>
                      <a:gd name="T5" fmla="*/ 0 h 69"/>
                      <a:gd name="T6" fmla="*/ 22 w 22"/>
                      <a:gd name="T7" fmla="*/ 32 h 69"/>
                      <a:gd name="T8" fmla="*/ 13 w 22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2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499" name="Freeform 767"/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3767"/>
                    <a:ext cx="37" cy="10"/>
                  </a:xfrm>
                  <a:custGeom>
                    <a:avLst/>
                    <a:gdLst>
                      <a:gd name="T0" fmla="*/ 3 w 74"/>
                      <a:gd name="T1" fmla="*/ 0 h 31"/>
                      <a:gd name="T2" fmla="*/ 51 w 74"/>
                      <a:gd name="T3" fmla="*/ 0 h 31"/>
                      <a:gd name="T4" fmla="*/ 53 w 74"/>
                      <a:gd name="T5" fmla="*/ 4 h 31"/>
                      <a:gd name="T6" fmla="*/ 56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9 w 74"/>
                      <a:gd name="T13" fmla="*/ 22 h 31"/>
                      <a:gd name="T14" fmla="*/ 0 w 74"/>
                      <a:gd name="T15" fmla="*/ 6 h 31"/>
                      <a:gd name="T16" fmla="*/ 3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4"/>
                        </a:lnTo>
                        <a:lnTo>
                          <a:pt x="56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500" name="Freeform 768"/>
                  <p:cNvSpPr>
                    <a:spLocks noChangeArrowheads="1"/>
                  </p:cNvSpPr>
                  <p:nvPr/>
                </p:nvSpPr>
                <p:spPr bwMode="auto">
                  <a:xfrm>
                    <a:off x="1093" y="3777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6 h 36"/>
                      <a:gd name="T6" fmla="*/ 11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6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501" name="Group 769"/>
                <p:cNvGrpSpPr>
                  <a:grpSpLocks/>
                </p:cNvGrpSpPr>
                <p:nvPr/>
              </p:nvGrpSpPr>
              <p:grpSpPr bwMode="auto">
                <a:xfrm>
                  <a:off x="934" y="3740"/>
                  <a:ext cx="48" cy="23"/>
                  <a:chOff x="934" y="3740"/>
                  <a:chExt cx="48" cy="23"/>
                </a:xfrm>
              </p:grpSpPr>
              <p:sp>
                <p:nvSpPr>
                  <p:cNvPr id="2176502" name="Freeform 770"/>
                  <p:cNvSpPr>
                    <a:spLocks noChangeArrowheads="1"/>
                  </p:cNvSpPr>
                  <p:nvPr/>
                </p:nvSpPr>
                <p:spPr bwMode="auto">
                  <a:xfrm>
                    <a:off x="934" y="3740"/>
                    <a:ext cx="11" cy="23"/>
                  </a:xfrm>
                  <a:custGeom>
                    <a:avLst/>
                    <a:gdLst>
                      <a:gd name="T0" fmla="*/ 15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2 h 70"/>
                      <a:gd name="T8" fmla="*/ 15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2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503" name="Freeform 771"/>
                  <p:cNvSpPr>
                    <a:spLocks noChangeArrowheads="1"/>
                  </p:cNvSpPr>
                  <p:nvPr/>
                </p:nvSpPr>
                <p:spPr bwMode="auto">
                  <a:xfrm>
                    <a:off x="938" y="3741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4 h 30"/>
                      <a:gd name="T6" fmla="*/ 57 w 74"/>
                      <a:gd name="T7" fmla="*/ 13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9 w 74"/>
                      <a:gd name="T13" fmla="*/ 22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504" name="Freeform 772"/>
                  <p:cNvSpPr>
                    <a:spLocks noChangeArrowheads="1"/>
                  </p:cNvSpPr>
                  <p:nvPr/>
                </p:nvSpPr>
                <p:spPr bwMode="auto">
                  <a:xfrm>
                    <a:off x="941" y="375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6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6505" name="Group 773"/>
                <p:cNvGrpSpPr>
                  <a:grpSpLocks/>
                </p:cNvGrpSpPr>
                <p:nvPr/>
              </p:nvGrpSpPr>
              <p:grpSpPr bwMode="auto">
                <a:xfrm>
                  <a:off x="943" y="3754"/>
                  <a:ext cx="49" cy="23"/>
                  <a:chOff x="943" y="3754"/>
                  <a:chExt cx="49" cy="23"/>
                </a:xfrm>
              </p:grpSpPr>
              <p:sp>
                <p:nvSpPr>
                  <p:cNvPr id="2176506" name="Freeform 774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754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5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5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507" name="Freeform 775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55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49 w 74"/>
                      <a:gd name="T3" fmla="*/ 0 h 30"/>
                      <a:gd name="T4" fmla="*/ 50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8 w 74"/>
                      <a:gd name="T11" fmla="*/ 30 h 30"/>
                      <a:gd name="T12" fmla="*/ 9 w 74"/>
                      <a:gd name="T13" fmla="*/ 21 h 30"/>
                      <a:gd name="T14" fmla="*/ 0 w 74"/>
                      <a:gd name="T15" fmla="*/ 5 h 30"/>
                      <a:gd name="T16" fmla="*/ 1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6508" name="Freeform 776"/>
                  <p:cNvSpPr>
                    <a:spLocks noChangeArrowheads="1"/>
                  </p:cNvSpPr>
                  <p:nvPr/>
                </p:nvSpPr>
                <p:spPr bwMode="auto">
                  <a:xfrm>
                    <a:off x="951" y="3765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6509" name="Freeform 777"/>
                <p:cNvSpPr>
                  <a:spLocks noChangeArrowheads="1"/>
                </p:cNvSpPr>
                <p:nvPr/>
              </p:nvSpPr>
              <p:spPr bwMode="auto">
                <a:xfrm>
                  <a:off x="987" y="3753"/>
                  <a:ext cx="25" cy="43"/>
                </a:xfrm>
                <a:custGeom>
                  <a:avLst/>
                  <a:gdLst>
                    <a:gd name="T0" fmla="*/ 40 w 51"/>
                    <a:gd name="T1" fmla="*/ 128 h 128"/>
                    <a:gd name="T2" fmla="*/ 0 w 51"/>
                    <a:gd name="T3" fmla="*/ 29 h 128"/>
                    <a:gd name="T4" fmla="*/ 0 w 51"/>
                    <a:gd name="T5" fmla="*/ 20 h 128"/>
                    <a:gd name="T6" fmla="*/ 2 w 51"/>
                    <a:gd name="T7" fmla="*/ 11 h 128"/>
                    <a:gd name="T8" fmla="*/ 10 w 51"/>
                    <a:gd name="T9" fmla="*/ 0 h 128"/>
                    <a:gd name="T10" fmla="*/ 51 w 51"/>
                    <a:gd name="T11" fmla="*/ 91 h 128"/>
                    <a:gd name="T12" fmla="*/ 40 w 51"/>
                    <a:gd name="T13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" h="128">
                      <a:moveTo>
                        <a:pt x="40" y="128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2" y="11"/>
                      </a:lnTo>
                      <a:lnTo>
                        <a:pt x="10" y="0"/>
                      </a:lnTo>
                      <a:lnTo>
                        <a:pt x="51" y="91"/>
                      </a:lnTo>
                      <a:lnTo>
                        <a:pt x="40" y="12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0" name="Freeform 778"/>
                <p:cNvSpPr>
                  <a:spLocks noChangeArrowheads="1"/>
                </p:cNvSpPr>
                <p:nvPr/>
              </p:nvSpPr>
              <p:spPr bwMode="auto">
                <a:xfrm>
                  <a:off x="992" y="3753"/>
                  <a:ext cx="91" cy="29"/>
                </a:xfrm>
                <a:custGeom>
                  <a:avLst/>
                  <a:gdLst>
                    <a:gd name="T0" fmla="*/ 0 w 183"/>
                    <a:gd name="T1" fmla="*/ 0 h 85"/>
                    <a:gd name="T2" fmla="*/ 64 w 183"/>
                    <a:gd name="T3" fmla="*/ 0 h 85"/>
                    <a:gd name="T4" fmla="*/ 67 w 183"/>
                    <a:gd name="T5" fmla="*/ 13 h 85"/>
                    <a:gd name="T6" fmla="*/ 75 w 183"/>
                    <a:gd name="T7" fmla="*/ 28 h 85"/>
                    <a:gd name="T8" fmla="*/ 84 w 183"/>
                    <a:gd name="T9" fmla="*/ 42 h 85"/>
                    <a:gd name="T10" fmla="*/ 158 w 183"/>
                    <a:gd name="T11" fmla="*/ 42 h 85"/>
                    <a:gd name="T12" fmla="*/ 163 w 183"/>
                    <a:gd name="T13" fmla="*/ 55 h 85"/>
                    <a:gd name="T14" fmla="*/ 172 w 183"/>
                    <a:gd name="T15" fmla="*/ 67 h 85"/>
                    <a:gd name="T16" fmla="*/ 183 w 183"/>
                    <a:gd name="T17" fmla="*/ 85 h 85"/>
                    <a:gd name="T18" fmla="*/ 64 w 183"/>
                    <a:gd name="T19" fmla="*/ 85 h 85"/>
                    <a:gd name="T20" fmla="*/ 41 w 183"/>
                    <a:gd name="T21" fmla="*/ 85 h 85"/>
                    <a:gd name="T22" fmla="*/ 0 w 183"/>
                    <a:gd name="T23" fmla="*/ 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3" h="85">
                      <a:moveTo>
                        <a:pt x="0" y="0"/>
                      </a:moveTo>
                      <a:lnTo>
                        <a:pt x="64" y="0"/>
                      </a:lnTo>
                      <a:lnTo>
                        <a:pt x="67" y="13"/>
                      </a:lnTo>
                      <a:lnTo>
                        <a:pt x="75" y="28"/>
                      </a:lnTo>
                      <a:lnTo>
                        <a:pt x="84" y="42"/>
                      </a:lnTo>
                      <a:lnTo>
                        <a:pt x="158" y="42"/>
                      </a:lnTo>
                      <a:lnTo>
                        <a:pt x="163" y="55"/>
                      </a:lnTo>
                      <a:lnTo>
                        <a:pt x="172" y="67"/>
                      </a:lnTo>
                      <a:lnTo>
                        <a:pt x="183" y="85"/>
                      </a:lnTo>
                      <a:lnTo>
                        <a:pt x="64" y="85"/>
                      </a:lnTo>
                      <a:lnTo>
                        <a:pt x="41" y="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1" name="Freeform 779"/>
                <p:cNvSpPr>
                  <a:spLocks noChangeArrowheads="1"/>
                </p:cNvSpPr>
                <p:nvPr/>
              </p:nvSpPr>
              <p:spPr bwMode="auto">
                <a:xfrm>
                  <a:off x="1008" y="3782"/>
                  <a:ext cx="81" cy="12"/>
                </a:xfrm>
                <a:custGeom>
                  <a:avLst/>
                  <a:gdLst>
                    <a:gd name="T0" fmla="*/ 0 w 160"/>
                    <a:gd name="T1" fmla="*/ 36 h 36"/>
                    <a:gd name="T2" fmla="*/ 1 w 160"/>
                    <a:gd name="T3" fmla="*/ 20 h 36"/>
                    <a:gd name="T4" fmla="*/ 7 w 160"/>
                    <a:gd name="T5" fmla="*/ 8 h 36"/>
                    <a:gd name="T6" fmla="*/ 10 w 160"/>
                    <a:gd name="T7" fmla="*/ 0 h 36"/>
                    <a:gd name="T8" fmla="*/ 150 w 160"/>
                    <a:gd name="T9" fmla="*/ 0 h 36"/>
                    <a:gd name="T10" fmla="*/ 160 w 160"/>
                    <a:gd name="T11" fmla="*/ 36 h 36"/>
                    <a:gd name="T12" fmla="*/ 0 w 16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0" y="0"/>
                      </a:lnTo>
                      <a:lnTo>
                        <a:pt x="150" y="0"/>
                      </a:lnTo>
                      <a:lnTo>
                        <a:pt x="16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76512" name="Group 780"/>
              <p:cNvGrpSpPr>
                <a:grpSpLocks/>
              </p:cNvGrpSpPr>
              <p:nvPr/>
            </p:nvGrpSpPr>
            <p:grpSpPr bwMode="auto">
              <a:xfrm>
                <a:off x="920" y="3821"/>
                <a:ext cx="413" cy="50"/>
                <a:chOff x="920" y="3821"/>
                <a:chExt cx="413" cy="50"/>
              </a:xfrm>
            </p:grpSpPr>
            <p:sp>
              <p:nvSpPr>
                <p:cNvPr id="2176513" name="Freeform 781"/>
                <p:cNvSpPr>
                  <a:spLocks noChangeArrowheads="1"/>
                </p:cNvSpPr>
                <p:nvPr/>
              </p:nvSpPr>
              <p:spPr bwMode="auto">
                <a:xfrm>
                  <a:off x="920" y="3821"/>
                  <a:ext cx="413" cy="50"/>
                </a:xfrm>
                <a:custGeom>
                  <a:avLst/>
                  <a:gdLst>
                    <a:gd name="T0" fmla="*/ 35 w 825"/>
                    <a:gd name="T1" fmla="*/ 13 h 151"/>
                    <a:gd name="T2" fmla="*/ 17 w 825"/>
                    <a:gd name="T3" fmla="*/ 27 h 151"/>
                    <a:gd name="T4" fmla="*/ 9 w 825"/>
                    <a:gd name="T5" fmla="*/ 48 h 151"/>
                    <a:gd name="T6" fmla="*/ 0 w 825"/>
                    <a:gd name="T7" fmla="*/ 97 h 151"/>
                    <a:gd name="T8" fmla="*/ 4 w 825"/>
                    <a:gd name="T9" fmla="*/ 124 h 151"/>
                    <a:gd name="T10" fmla="*/ 13 w 825"/>
                    <a:gd name="T11" fmla="*/ 138 h 151"/>
                    <a:gd name="T12" fmla="*/ 26 w 825"/>
                    <a:gd name="T13" fmla="*/ 151 h 151"/>
                    <a:gd name="T14" fmla="*/ 783 w 825"/>
                    <a:gd name="T15" fmla="*/ 142 h 151"/>
                    <a:gd name="T16" fmla="*/ 807 w 825"/>
                    <a:gd name="T17" fmla="*/ 128 h 151"/>
                    <a:gd name="T18" fmla="*/ 816 w 825"/>
                    <a:gd name="T19" fmla="*/ 107 h 151"/>
                    <a:gd name="T20" fmla="*/ 825 w 825"/>
                    <a:gd name="T21" fmla="*/ 61 h 151"/>
                    <a:gd name="T22" fmla="*/ 821 w 825"/>
                    <a:gd name="T23" fmla="*/ 27 h 151"/>
                    <a:gd name="T24" fmla="*/ 806 w 825"/>
                    <a:gd name="T25" fmla="*/ 9 h 151"/>
                    <a:gd name="T26" fmla="*/ 785 w 825"/>
                    <a:gd name="T27" fmla="*/ 0 h 151"/>
                    <a:gd name="T28" fmla="*/ 35 w 825"/>
                    <a:gd name="T29" fmla="*/ 13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25" h="151">
                      <a:moveTo>
                        <a:pt x="35" y="13"/>
                      </a:moveTo>
                      <a:lnTo>
                        <a:pt x="17" y="27"/>
                      </a:lnTo>
                      <a:lnTo>
                        <a:pt x="9" y="48"/>
                      </a:lnTo>
                      <a:lnTo>
                        <a:pt x="0" y="97"/>
                      </a:lnTo>
                      <a:lnTo>
                        <a:pt x="4" y="124"/>
                      </a:lnTo>
                      <a:lnTo>
                        <a:pt x="13" y="138"/>
                      </a:lnTo>
                      <a:lnTo>
                        <a:pt x="26" y="151"/>
                      </a:lnTo>
                      <a:lnTo>
                        <a:pt x="783" y="142"/>
                      </a:lnTo>
                      <a:lnTo>
                        <a:pt x="807" y="128"/>
                      </a:lnTo>
                      <a:lnTo>
                        <a:pt x="816" y="107"/>
                      </a:lnTo>
                      <a:lnTo>
                        <a:pt x="825" y="61"/>
                      </a:lnTo>
                      <a:lnTo>
                        <a:pt x="821" y="27"/>
                      </a:lnTo>
                      <a:lnTo>
                        <a:pt x="806" y="9"/>
                      </a:lnTo>
                      <a:lnTo>
                        <a:pt x="785" y="0"/>
                      </a:lnTo>
                      <a:lnTo>
                        <a:pt x="35" y="13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4" name="Freeform 782"/>
                <p:cNvSpPr>
                  <a:spLocks noChangeArrowheads="1"/>
                </p:cNvSpPr>
                <p:nvPr/>
              </p:nvSpPr>
              <p:spPr bwMode="auto">
                <a:xfrm>
                  <a:off x="972" y="3833"/>
                  <a:ext cx="330" cy="27"/>
                </a:xfrm>
                <a:custGeom>
                  <a:avLst/>
                  <a:gdLst>
                    <a:gd name="T0" fmla="*/ 4 w 658"/>
                    <a:gd name="T1" fmla="*/ 23 h 79"/>
                    <a:gd name="T2" fmla="*/ 0 w 658"/>
                    <a:gd name="T3" fmla="*/ 50 h 79"/>
                    <a:gd name="T4" fmla="*/ 153 w 658"/>
                    <a:gd name="T5" fmla="*/ 50 h 79"/>
                    <a:gd name="T6" fmla="*/ 153 w 658"/>
                    <a:gd name="T7" fmla="*/ 79 h 79"/>
                    <a:gd name="T8" fmla="*/ 500 w 658"/>
                    <a:gd name="T9" fmla="*/ 73 h 79"/>
                    <a:gd name="T10" fmla="*/ 500 w 658"/>
                    <a:gd name="T11" fmla="*/ 50 h 79"/>
                    <a:gd name="T12" fmla="*/ 656 w 658"/>
                    <a:gd name="T13" fmla="*/ 50 h 79"/>
                    <a:gd name="T14" fmla="*/ 658 w 658"/>
                    <a:gd name="T15" fmla="*/ 23 h 79"/>
                    <a:gd name="T16" fmla="*/ 504 w 658"/>
                    <a:gd name="T17" fmla="*/ 23 h 79"/>
                    <a:gd name="T18" fmla="*/ 504 w 658"/>
                    <a:gd name="T19" fmla="*/ 0 h 79"/>
                    <a:gd name="T20" fmla="*/ 153 w 658"/>
                    <a:gd name="T21" fmla="*/ 8 h 79"/>
                    <a:gd name="T22" fmla="*/ 153 w 658"/>
                    <a:gd name="T23" fmla="*/ 23 h 79"/>
                    <a:gd name="T24" fmla="*/ 4 w 658"/>
                    <a:gd name="T25" fmla="*/ 23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58" h="79">
                      <a:moveTo>
                        <a:pt x="4" y="23"/>
                      </a:moveTo>
                      <a:lnTo>
                        <a:pt x="0" y="50"/>
                      </a:lnTo>
                      <a:lnTo>
                        <a:pt x="153" y="50"/>
                      </a:lnTo>
                      <a:lnTo>
                        <a:pt x="153" y="79"/>
                      </a:lnTo>
                      <a:lnTo>
                        <a:pt x="500" y="73"/>
                      </a:lnTo>
                      <a:lnTo>
                        <a:pt x="500" y="50"/>
                      </a:lnTo>
                      <a:lnTo>
                        <a:pt x="656" y="50"/>
                      </a:lnTo>
                      <a:lnTo>
                        <a:pt x="658" y="23"/>
                      </a:lnTo>
                      <a:lnTo>
                        <a:pt x="504" y="23"/>
                      </a:lnTo>
                      <a:lnTo>
                        <a:pt x="504" y="0"/>
                      </a:lnTo>
                      <a:lnTo>
                        <a:pt x="153" y="8"/>
                      </a:lnTo>
                      <a:lnTo>
                        <a:pt x="153" y="23"/>
                      </a:lnTo>
                      <a:lnTo>
                        <a:pt x="4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5" name="Rectangle 783"/>
                <p:cNvSpPr>
                  <a:spLocks noChangeArrowheads="1"/>
                </p:cNvSpPr>
                <p:nvPr/>
              </p:nvSpPr>
              <p:spPr bwMode="auto">
                <a:xfrm>
                  <a:off x="982" y="3856"/>
                  <a:ext cx="26" cy="7"/>
                </a:xfrm>
                <a:prstGeom prst="rect">
                  <a:avLst/>
                </a:prstGeom>
                <a:solidFill>
                  <a:srgbClr val="0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6" name="Rectangle 784"/>
                <p:cNvSpPr>
                  <a:spLocks noChangeArrowheads="1"/>
                </p:cNvSpPr>
                <p:nvPr/>
              </p:nvSpPr>
              <p:spPr bwMode="auto">
                <a:xfrm>
                  <a:off x="1237" y="3855"/>
                  <a:ext cx="53" cy="6"/>
                </a:xfrm>
                <a:prstGeom prst="rect">
                  <a:avLst/>
                </a:prstGeom>
                <a:solidFill>
                  <a:srgbClr val="202020"/>
                </a:solidFill>
                <a:ln w="793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76517" name="Group 785"/>
              <p:cNvGrpSpPr>
                <a:grpSpLocks/>
              </p:cNvGrpSpPr>
              <p:nvPr/>
            </p:nvGrpSpPr>
            <p:grpSpPr bwMode="auto">
              <a:xfrm>
                <a:off x="1227" y="3477"/>
                <a:ext cx="508" cy="321"/>
                <a:chOff x="1227" y="3477"/>
                <a:chExt cx="508" cy="321"/>
              </a:xfrm>
            </p:grpSpPr>
            <p:sp>
              <p:nvSpPr>
                <p:cNvPr id="2176518" name="Freeform 786"/>
                <p:cNvSpPr>
                  <a:spLocks noChangeArrowheads="1"/>
                </p:cNvSpPr>
                <p:nvPr/>
              </p:nvSpPr>
              <p:spPr bwMode="auto">
                <a:xfrm>
                  <a:off x="1640" y="3731"/>
                  <a:ext cx="95" cy="66"/>
                </a:xfrm>
                <a:custGeom>
                  <a:avLst/>
                  <a:gdLst>
                    <a:gd name="T0" fmla="*/ 126 w 191"/>
                    <a:gd name="T1" fmla="*/ 9 h 200"/>
                    <a:gd name="T2" fmla="*/ 93 w 191"/>
                    <a:gd name="T3" fmla="*/ 0 h 200"/>
                    <a:gd name="T4" fmla="*/ 59 w 191"/>
                    <a:gd name="T5" fmla="*/ 5 h 200"/>
                    <a:gd name="T6" fmla="*/ 32 w 191"/>
                    <a:gd name="T7" fmla="*/ 17 h 200"/>
                    <a:gd name="T8" fmla="*/ 9 w 191"/>
                    <a:gd name="T9" fmla="*/ 45 h 200"/>
                    <a:gd name="T10" fmla="*/ 0 w 191"/>
                    <a:gd name="T11" fmla="*/ 94 h 200"/>
                    <a:gd name="T12" fmla="*/ 0 w 191"/>
                    <a:gd name="T13" fmla="*/ 137 h 200"/>
                    <a:gd name="T14" fmla="*/ 0 w 191"/>
                    <a:gd name="T15" fmla="*/ 200 h 200"/>
                    <a:gd name="T16" fmla="*/ 191 w 191"/>
                    <a:gd name="T17" fmla="*/ 200 h 200"/>
                    <a:gd name="T18" fmla="*/ 181 w 191"/>
                    <a:gd name="T19" fmla="*/ 81 h 200"/>
                    <a:gd name="T20" fmla="*/ 157 w 191"/>
                    <a:gd name="T21" fmla="*/ 30 h 200"/>
                    <a:gd name="T22" fmla="*/ 126 w 191"/>
                    <a:gd name="T23" fmla="*/ 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1" h="200">
                      <a:moveTo>
                        <a:pt x="126" y="9"/>
                      </a:moveTo>
                      <a:lnTo>
                        <a:pt x="93" y="0"/>
                      </a:lnTo>
                      <a:lnTo>
                        <a:pt x="59" y="5"/>
                      </a:lnTo>
                      <a:lnTo>
                        <a:pt x="32" y="17"/>
                      </a:lnTo>
                      <a:lnTo>
                        <a:pt x="9" y="45"/>
                      </a:lnTo>
                      <a:lnTo>
                        <a:pt x="0" y="94"/>
                      </a:lnTo>
                      <a:lnTo>
                        <a:pt x="0" y="137"/>
                      </a:lnTo>
                      <a:lnTo>
                        <a:pt x="0" y="200"/>
                      </a:lnTo>
                      <a:lnTo>
                        <a:pt x="191" y="200"/>
                      </a:lnTo>
                      <a:lnTo>
                        <a:pt x="181" y="81"/>
                      </a:lnTo>
                      <a:lnTo>
                        <a:pt x="157" y="30"/>
                      </a:lnTo>
                      <a:lnTo>
                        <a:pt x="126" y="9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40404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19" name="Freeform 787"/>
                <p:cNvSpPr>
                  <a:spLocks noChangeArrowheads="1"/>
                </p:cNvSpPr>
                <p:nvPr/>
              </p:nvSpPr>
              <p:spPr bwMode="auto">
                <a:xfrm>
                  <a:off x="1227" y="3477"/>
                  <a:ext cx="429" cy="264"/>
                </a:xfrm>
                <a:custGeom>
                  <a:avLst/>
                  <a:gdLst>
                    <a:gd name="T0" fmla="*/ 0 w 860"/>
                    <a:gd name="T1" fmla="*/ 0 h 791"/>
                    <a:gd name="T2" fmla="*/ 860 w 860"/>
                    <a:gd name="T3" fmla="*/ 764 h 791"/>
                    <a:gd name="T4" fmla="*/ 849 w 860"/>
                    <a:gd name="T5" fmla="*/ 777 h 791"/>
                    <a:gd name="T6" fmla="*/ 838 w 860"/>
                    <a:gd name="T7" fmla="*/ 791 h 791"/>
                    <a:gd name="T8" fmla="*/ 0 w 860"/>
                    <a:gd name="T9" fmla="*/ 0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0" h="791">
                      <a:moveTo>
                        <a:pt x="0" y="0"/>
                      </a:moveTo>
                      <a:lnTo>
                        <a:pt x="860" y="764"/>
                      </a:lnTo>
                      <a:lnTo>
                        <a:pt x="849" y="777"/>
                      </a:lnTo>
                      <a:lnTo>
                        <a:pt x="838" y="7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0" name="Freeform 788"/>
                <p:cNvSpPr>
                  <a:spLocks noChangeArrowheads="1"/>
                </p:cNvSpPr>
                <p:nvPr/>
              </p:nvSpPr>
              <p:spPr bwMode="auto">
                <a:xfrm>
                  <a:off x="1521" y="3650"/>
                  <a:ext cx="141" cy="122"/>
                </a:xfrm>
                <a:custGeom>
                  <a:avLst/>
                  <a:gdLst>
                    <a:gd name="T0" fmla="*/ 4 w 281"/>
                    <a:gd name="T1" fmla="*/ 95 h 366"/>
                    <a:gd name="T2" fmla="*/ 24 w 281"/>
                    <a:gd name="T3" fmla="*/ 62 h 366"/>
                    <a:gd name="T4" fmla="*/ 54 w 281"/>
                    <a:gd name="T5" fmla="*/ 43 h 366"/>
                    <a:gd name="T6" fmla="*/ 78 w 281"/>
                    <a:gd name="T7" fmla="*/ 42 h 366"/>
                    <a:gd name="T8" fmla="*/ 128 w 281"/>
                    <a:gd name="T9" fmla="*/ 43 h 366"/>
                    <a:gd name="T10" fmla="*/ 132 w 281"/>
                    <a:gd name="T11" fmla="*/ 0 h 366"/>
                    <a:gd name="T12" fmla="*/ 281 w 281"/>
                    <a:gd name="T13" fmla="*/ 130 h 366"/>
                    <a:gd name="T14" fmla="*/ 272 w 281"/>
                    <a:gd name="T15" fmla="*/ 179 h 366"/>
                    <a:gd name="T16" fmla="*/ 228 w 281"/>
                    <a:gd name="T17" fmla="*/ 170 h 366"/>
                    <a:gd name="T18" fmla="*/ 191 w 281"/>
                    <a:gd name="T19" fmla="*/ 184 h 366"/>
                    <a:gd name="T20" fmla="*/ 158 w 281"/>
                    <a:gd name="T21" fmla="*/ 210 h 366"/>
                    <a:gd name="T22" fmla="*/ 150 w 281"/>
                    <a:gd name="T23" fmla="*/ 232 h 366"/>
                    <a:gd name="T24" fmla="*/ 149 w 281"/>
                    <a:gd name="T25" fmla="*/ 295 h 366"/>
                    <a:gd name="T26" fmla="*/ 149 w 281"/>
                    <a:gd name="T27" fmla="*/ 338 h 366"/>
                    <a:gd name="T28" fmla="*/ 150 w 281"/>
                    <a:gd name="T29" fmla="*/ 366 h 366"/>
                    <a:gd name="T30" fmla="*/ 0 w 281"/>
                    <a:gd name="T31" fmla="*/ 229 h 366"/>
                    <a:gd name="T32" fmla="*/ 0 w 281"/>
                    <a:gd name="T33" fmla="*/ 139 h 366"/>
                    <a:gd name="T34" fmla="*/ 4 w 281"/>
                    <a:gd name="T35" fmla="*/ 95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81" h="366">
                      <a:moveTo>
                        <a:pt x="4" y="95"/>
                      </a:moveTo>
                      <a:lnTo>
                        <a:pt x="24" y="62"/>
                      </a:lnTo>
                      <a:lnTo>
                        <a:pt x="54" y="43"/>
                      </a:lnTo>
                      <a:lnTo>
                        <a:pt x="78" y="42"/>
                      </a:lnTo>
                      <a:lnTo>
                        <a:pt x="128" y="43"/>
                      </a:lnTo>
                      <a:lnTo>
                        <a:pt x="132" y="0"/>
                      </a:lnTo>
                      <a:lnTo>
                        <a:pt x="281" y="130"/>
                      </a:lnTo>
                      <a:lnTo>
                        <a:pt x="272" y="179"/>
                      </a:lnTo>
                      <a:lnTo>
                        <a:pt x="228" y="170"/>
                      </a:lnTo>
                      <a:lnTo>
                        <a:pt x="191" y="184"/>
                      </a:lnTo>
                      <a:lnTo>
                        <a:pt x="158" y="210"/>
                      </a:lnTo>
                      <a:lnTo>
                        <a:pt x="150" y="232"/>
                      </a:lnTo>
                      <a:lnTo>
                        <a:pt x="149" y="295"/>
                      </a:lnTo>
                      <a:lnTo>
                        <a:pt x="149" y="338"/>
                      </a:lnTo>
                      <a:lnTo>
                        <a:pt x="150" y="366"/>
                      </a:lnTo>
                      <a:lnTo>
                        <a:pt x="0" y="229"/>
                      </a:lnTo>
                      <a:lnTo>
                        <a:pt x="0" y="139"/>
                      </a:lnTo>
                      <a:lnTo>
                        <a:pt x="4" y="95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1" name="Line 789"/>
                <p:cNvSpPr>
                  <a:spLocks noChangeShapeType="1"/>
                </p:cNvSpPr>
                <p:nvPr/>
              </p:nvSpPr>
              <p:spPr bwMode="auto">
                <a:xfrm>
                  <a:off x="1586" y="3665"/>
                  <a:ext cx="76" cy="44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2" name="Freeform 790"/>
                <p:cNvSpPr>
                  <a:spLocks noChangeArrowheads="1"/>
                </p:cNvSpPr>
                <p:nvPr/>
              </p:nvSpPr>
              <p:spPr bwMode="auto">
                <a:xfrm>
                  <a:off x="1242" y="3486"/>
                  <a:ext cx="111" cy="96"/>
                </a:xfrm>
                <a:custGeom>
                  <a:avLst/>
                  <a:gdLst>
                    <a:gd name="T0" fmla="*/ 10 w 222"/>
                    <a:gd name="T1" fmla="*/ 98 h 289"/>
                    <a:gd name="T2" fmla="*/ 27 w 222"/>
                    <a:gd name="T3" fmla="*/ 64 h 289"/>
                    <a:gd name="T4" fmla="*/ 53 w 222"/>
                    <a:gd name="T5" fmla="*/ 45 h 289"/>
                    <a:gd name="T6" fmla="*/ 81 w 222"/>
                    <a:gd name="T7" fmla="*/ 41 h 289"/>
                    <a:gd name="T8" fmla="*/ 131 w 222"/>
                    <a:gd name="T9" fmla="*/ 42 h 289"/>
                    <a:gd name="T10" fmla="*/ 135 w 222"/>
                    <a:gd name="T11" fmla="*/ 0 h 289"/>
                    <a:gd name="T12" fmla="*/ 222 w 222"/>
                    <a:gd name="T13" fmla="*/ 80 h 289"/>
                    <a:gd name="T14" fmla="*/ 218 w 222"/>
                    <a:gd name="T15" fmla="*/ 120 h 289"/>
                    <a:gd name="T16" fmla="*/ 190 w 222"/>
                    <a:gd name="T17" fmla="*/ 118 h 289"/>
                    <a:gd name="T18" fmla="*/ 168 w 222"/>
                    <a:gd name="T19" fmla="*/ 116 h 289"/>
                    <a:gd name="T20" fmla="*/ 135 w 222"/>
                    <a:gd name="T21" fmla="*/ 125 h 289"/>
                    <a:gd name="T22" fmla="*/ 118 w 222"/>
                    <a:gd name="T23" fmla="*/ 137 h 289"/>
                    <a:gd name="T24" fmla="*/ 102 w 222"/>
                    <a:gd name="T25" fmla="*/ 161 h 289"/>
                    <a:gd name="T26" fmla="*/ 98 w 222"/>
                    <a:gd name="T27" fmla="*/ 192 h 289"/>
                    <a:gd name="T28" fmla="*/ 93 w 222"/>
                    <a:gd name="T29" fmla="*/ 289 h 289"/>
                    <a:gd name="T30" fmla="*/ 0 w 222"/>
                    <a:gd name="T31" fmla="*/ 197 h 289"/>
                    <a:gd name="T32" fmla="*/ 4 w 222"/>
                    <a:gd name="T33" fmla="*/ 138 h 289"/>
                    <a:gd name="T34" fmla="*/ 10 w 222"/>
                    <a:gd name="T35" fmla="*/ 9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22" h="289">
                      <a:moveTo>
                        <a:pt x="10" y="98"/>
                      </a:moveTo>
                      <a:lnTo>
                        <a:pt x="27" y="64"/>
                      </a:lnTo>
                      <a:lnTo>
                        <a:pt x="53" y="45"/>
                      </a:lnTo>
                      <a:lnTo>
                        <a:pt x="81" y="41"/>
                      </a:lnTo>
                      <a:lnTo>
                        <a:pt x="131" y="42"/>
                      </a:lnTo>
                      <a:lnTo>
                        <a:pt x="135" y="0"/>
                      </a:lnTo>
                      <a:lnTo>
                        <a:pt x="222" y="80"/>
                      </a:lnTo>
                      <a:lnTo>
                        <a:pt x="218" y="120"/>
                      </a:lnTo>
                      <a:lnTo>
                        <a:pt x="190" y="118"/>
                      </a:lnTo>
                      <a:lnTo>
                        <a:pt x="168" y="116"/>
                      </a:lnTo>
                      <a:lnTo>
                        <a:pt x="135" y="125"/>
                      </a:lnTo>
                      <a:lnTo>
                        <a:pt x="118" y="137"/>
                      </a:lnTo>
                      <a:lnTo>
                        <a:pt x="102" y="161"/>
                      </a:lnTo>
                      <a:lnTo>
                        <a:pt x="98" y="192"/>
                      </a:lnTo>
                      <a:lnTo>
                        <a:pt x="93" y="289"/>
                      </a:lnTo>
                      <a:lnTo>
                        <a:pt x="0" y="197"/>
                      </a:lnTo>
                      <a:lnTo>
                        <a:pt x="4" y="138"/>
                      </a:lnTo>
                      <a:lnTo>
                        <a:pt x="10" y="98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3" name="Freeform 791"/>
                <p:cNvSpPr>
                  <a:spLocks noChangeArrowheads="1"/>
                </p:cNvSpPr>
                <p:nvPr/>
              </p:nvSpPr>
              <p:spPr bwMode="auto">
                <a:xfrm>
                  <a:off x="1456" y="3626"/>
                  <a:ext cx="64" cy="62"/>
                </a:xfrm>
                <a:custGeom>
                  <a:avLst/>
                  <a:gdLst>
                    <a:gd name="T0" fmla="*/ 128 w 128"/>
                    <a:gd name="T1" fmla="*/ 5 h 186"/>
                    <a:gd name="T2" fmla="*/ 59 w 128"/>
                    <a:gd name="T3" fmla="*/ 0 h 186"/>
                    <a:gd name="T4" fmla="*/ 30 w 128"/>
                    <a:gd name="T5" fmla="*/ 14 h 186"/>
                    <a:gd name="T6" fmla="*/ 9 w 128"/>
                    <a:gd name="T7" fmla="*/ 40 h 186"/>
                    <a:gd name="T8" fmla="*/ 0 w 128"/>
                    <a:gd name="T9" fmla="*/ 89 h 186"/>
                    <a:gd name="T10" fmla="*/ 0 w 128"/>
                    <a:gd name="T11" fmla="*/ 186 h 186"/>
                    <a:gd name="T12" fmla="*/ 0 w 128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8" h="186">
                      <a:moveTo>
                        <a:pt x="128" y="5"/>
                      </a:moveTo>
                      <a:lnTo>
                        <a:pt x="59" y="0"/>
                      </a:lnTo>
                      <a:lnTo>
                        <a:pt x="30" y="14"/>
                      </a:lnTo>
                      <a:lnTo>
                        <a:pt x="9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4" name="Freeform 792"/>
                <p:cNvSpPr>
                  <a:spLocks noChangeArrowheads="1"/>
                </p:cNvSpPr>
                <p:nvPr/>
              </p:nvSpPr>
              <p:spPr bwMode="auto">
                <a:xfrm>
                  <a:off x="1440" y="3615"/>
                  <a:ext cx="63" cy="61"/>
                </a:xfrm>
                <a:custGeom>
                  <a:avLst/>
                  <a:gdLst>
                    <a:gd name="T0" fmla="*/ 126 w 126"/>
                    <a:gd name="T1" fmla="*/ 3 h 185"/>
                    <a:gd name="T2" fmla="*/ 59 w 126"/>
                    <a:gd name="T3" fmla="*/ 0 h 185"/>
                    <a:gd name="T4" fmla="*/ 24 w 126"/>
                    <a:gd name="T5" fmla="*/ 15 h 185"/>
                    <a:gd name="T6" fmla="*/ 9 w 126"/>
                    <a:gd name="T7" fmla="*/ 39 h 185"/>
                    <a:gd name="T8" fmla="*/ 0 w 126"/>
                    <a:gd name="T9" fmla="*/ 88 h 185"/>
                    <a:gd name="T10" fmla="*/ 0 w 126"/>
                    <a:gd name="T11" fmla="*/ 185 h 185"/>
                    <a:gd name="T12" fmla="*/ 0 w 126"/>
                    <a:gd name="T13" fmla="*/ 180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6" h="185">
                      <a:moveTo>
                        <a:pt x="126" y="3"/>
                      </a:moveTo>
                      <a:lnTo>
                        <a:pt x="59" y="0"/>
                      </a:lnTo>
                      <a:lnTo>
                        <a:pt x="24" y="15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5"/>
                      </a:lnTo>
                      <a:lnTo>
                        <a:pt x="0" y="180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5" name="Freeform 793"/>
                <p:cNvSpPr>
                  <a:spLocks noChangeArrowheads="1"/>
                </p:cNvSpPr>
                <p:nvPr/>
              </p:nvSpPr>
              <p:spPr bwMode="auto">
                <a:xfrm>
                  <a:off x="1422" y="3604"/>
                  <a:ext cx="64" cy="62"/>
                </a:xfrm>
                <a:custGeom>
                  <a:avLst/>
                  <a:gdLst>
                    <a:gd name="T0" fmla="*/ 127 w 127"/>
                    <a:gd name="T1" fmla="*/ 5 h 185"/>
                    <a:gd name="T2" fmla="*/ 59 w 127"/>
                    <a:gd name="T3" fmla="*/ 0 h 185"/>
                    <a:gd name="T4" fmla="*/ 30 w 127"/>
                    <a:gd name="T5" fmla="*/ 14 h 185"/>
                    <a:gd name="T6" fmla="*/ 9 w 127"/>
                    <a:gd name="T7" fmla="*/ 39 h 185"/>
                    <a:gd name="T8" fmla="*/ 0 w 127"/>
                    <a:gd name="T9" fmla="*/ 88 h 185"/>
                    <a:gd name="T10" fmla="*/ 0 w 127"/>
                    <a:gd name="T11" fmla="*/ 185 h 185"/>
                    <a:gd name="T12" fmla="*/ 0 w 127"/>
                    <a:gd name="T13" fmla="*/ 18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5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0" y="14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5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6" name="Freeform 794"/>
                <p:cNvSpPr>
                  <a:spLocks noChangeArrowheads="1"/>
                </p:cNvSpPr>
                <p:nvPr/>
              </p:nvSpPr>
              <p:spPr bwMode="auto">
                <a:xfrm>
                  <a:off x="1401" y="3594"/>
                  <a:ext cx="64" cy="62"/>
                </a:xfrm>
                <a:custGeom>
                  <a:avLst/>
                  <a:gdLst>
                    <a:gd name="T0" fmla="*/ 127 w 127"/>
                    <a:gd name="T1" fmla="*/ 5 h 186"/>
                    <a:gd name="T2" fmla="*/ 59 w 127"/>
                    <a:gd name="T3" fmla="*/ 0 h 186"/>
                    <a:gd name="T4" fmla="*/ 32 w 127"/>
                    <a:gd name="T5" fmla="*/ 10 h 186"/>
                    <a:gd name="T6" fmla="*/ 9 w 127"/>
                    <a:gd name="T7" fmla="*/ 39 h 186"/>
                    <a:gd name="T8" fmla="*/ 0 w 127"/>
                    <a:gd name="T9" fmla="*/ 88 h 186"/>
                    <a:gd name="T10" fmla="*/ 0 w 127"/>
                    <a:gd name="T11" fmla="*/ 186 h 186"/>
                    <a:gd name="T12" fmla="*/ 0 w 127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2" y="10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7" name="Freeform 795"/>
                <p:cNvSpPr>
                  <a:spLocks noChangeArrowheads="1"/>
                </p:cNvSpPr>
                <p:nvPr/>
              </p:nvSpPr>
              <p:spPr bwMode="auto">
                <a:xfrm>
                  <a:off x="1383" y="3583"/>
                  <a:ext cx="64" cy="62"/>
                </a:xfrm>
                <a:custGeom>
                  <a:avLst/>
                  <a:gdLst>
                    <a:gd name="T0" fmla="*/ 128 w 128"/>
                    <a:gd name="T1" fmla="*/ 4 h 186"/>
                    <a:gd name="T2" fmla="*/ 59 w 128"/>
                    <a:gd name="T3" fmla="*/ 0 h 186"/>
                    <a:gd name="T4" fmla="*/ 32 w 128"/>
                    <a:gd name="T5" fmla="*/ 13 h 186"/>
                    <a:gd name="T6" fmla="*/ 9 w 128"/>
                    <a:gd name="T7" fmla="*/ 40 h 186"/>
                    <a:gd name="T8" fmla="*/ 0 w 128"/>
                    <a:gd name="T9" fmla="*/ 88 h 186"/>
                    <a:gd name="T10" fmla="*/ 0 w 128"/>
                    <a:gd name="T11" fmla="*/ 186 h 186"/>
                    <a:gd name="T12" fmla="*/ 0 w 128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8" h="186">
                      <a:moveTo>
                        <a:pt x="128" y="4"/>
                      </a:moveTo>
                      <a:lnTo>
                        <a:pt x="59" y="0"/>
                      </a:lnTo>
                      <a:lnTo>
                        <a:pt x="32" y="13"/>
                      </a:lnTo>
                      <a:lnTo>
                        <a:pt x="9" y="40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8" name="Freeform 796"/>
                <p:cNvSpPr>
                  <a:spLocks noChangeArrowheads="1"/>
                </p:cNvSpPr>
                <p:nvPr/>
              </p:nvSpPr>
              <p:spPr bwMode="auto">
                <a:xfrm>
                  <a:off x="1365" y="3570"/>
                  <a:ext cx="63" cy="62"/>
                </a:xfrm>
                <a:custGeom>
                  <a:avLst/>
                  <a:gdLst>
                    <a:gd name="T0" fmla="*/ 126 w 126"/>
                    <a:gd name="T1" fmla="*/ 4 h 186"/>
                    <a:gd name="T2" fmla="*/ 58 w 126"/>
                    <a:gd name="T3" fmla="*/ 0 h 186"/>
                    <a:gd name="T4" fmla="*/ 31 w 126"/>
                    <a:gd name="T5" fmla="*/ 14 h 186"/>
                    <a:gd name="T6" fmla="*/ 8 w 126"/>
                    <a:gd name="T7" fmla="*/ 40 h 186"/>
                    <a:gd name="T8" fmla="*/ 0 w 126"/>
                    <a:gd name="T9" fmla="*/ 89 h 186"/>
                    <a:gd name="T10" fmla="*/ 0 w 126"/>
                    <a:gd name="T11" fmla="*/ 186 h 186"/>
                    <a:gd name="T12" fmla="*/ 0 w 126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6" h="186">
                      <a:moveTo>
                        <a:pt x="126" y="4"/>
                      </a:moveTo>
                      <a:lnTo>
                        <a:pt x="58" y="0"/>
                      </a:lnTo>
                      <a:lnTo>
                        <a:pt x="31" y="14"/>
                      </a:lnTo>
                      <a:lnTo>
                        <a:pt x="8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29" name="Freeform 797"/>
                <p:cNvSpPr>
                  <a:spLocks noChangeArrowheads="1"/>
                </p:cNvSpPr>
                <p:nvPr/>
              </p:nvSpPr>
              <p:spPr bwMode="auto">
                <a:xfrm>
                  <a:off x="1349" y="3558"/>
                  <a:ext cx="64" cy="62"/>
                </a:xfrm>
                <a:custGeom>
                  <a:avLst/>
                  <a:gdLst>
                    <a:gd name="T0" fmla="*/ 127 w 127"/>
                    <a:gd name="T1" fmla="*/ 5 h 186"/>
                    <a:gd name="T2" fmla="*/ 59 w 127"/>
                    <a:gd name="T3" fmla="*/ 0 h 186"/>
                    <a:gd name="T4" fmla="*/ 33 w 127"/>
                    <a:gd name="T5" fmla="*/ 16 h 186"/>
                    <a:gd name="T6" fmla="*/ 9 w 127"/>
                    <a:gd name="T7" fmla="*/ 40 h 186"/>
                    <a:gd name="T8" fmla="*/ 0 w 127"/>
                    <a:gd name="T9" fmla="*/ 89 h 186"/>
                    <a:gd name="T10" fmla="*/ 0 w 127"/>
                    <a:gd name="T11" fmla="*/ 186 h 186"/>
                    <a:gd name="T12" fmla="*/ 0 w 127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3" y="16"/>
                      </a:lnTo>
                      <a:lnTo>
                        <a:pt x="9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0" name="Freeform 798"/>
                <p:cNvSpPr>
                  <a:spLocks noChangeArrowheads="1"/>
                </p:cNvSpPr>
                <p:nvPr/>
              </p:nvSpPr>
              <p:spPr bwMode="auto">
                <a:xfrm>
                  <a:off x="1331" y="3550"/>
                  <a:ext cx="63" cy="62"/>
                </a:xfrm>
                <a:custGeom>
                  <a:avLst/>
                  <a:gdLst>
                    <a:gd name="T0" fmla="*/ 127 w 127"/>
                    <a:gd name="T1" fmla="*/ 4 h 186"/>
                    <a:gd name="T2" fmla="*/ 59 w 127"/>
                    <a:gd name="T3" fmla="*/ 0 h 186"/>
                    <a:gd name="T4" fmla="*/ 32 w 127"/>
                    <a:gd name="T5" fmla="*/ 13 h 186"/>
                    <a:gd name="T6" fmla="*/ 10 w 127"/>
                    <a:gd name="T7" fmla="*/ 39 h 186"/>
                    <a:gd name="T8" fmla="*/ 0 w 127"/>
                    <a:gd name="T9" fmla="*/ 88 h 186"/>
                    <a:gd name="T10" fmla="*/ 0 w 127"/>
                    <a:gd name="T11" fmla="*/ 186 h 186"/>
                    <a:gd name="T12" fmla="*/ 0 w 127"/>
                    <a:gd name="T13" fmla="*/ 18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4"/>
                      </a:moveTo>
                      <a:lnTo>
                        <a:pt x="59" y="0"/>
                      </a:lnTo>
                      <a:lnTo>
                        <a:pt x="32" y="13"/>
                      </a:lnTo>
                      <a:lnTo>
                        <a:pt x="10" y="39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0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1" name="Freeform 799"/>
                <p:cNvSpPr>
                  <a:spLocks noChangeArrowheads="1"/>
                </p:cNvSpPr>
                <p:nvPr/>
              </p:nvSpPr>
              <p:spPr bwMode="auto">
                <a:xfrm>
                  <a:off x="1308" y="3501"/>
                  <a:ext cx="47" cy="25"/>
                </a:xfrm>
                <a:custGeom>
                  <a:avLst/>
                  <a:gdLst>
                    <a:gd name="T0" fmla="*/ 0 w 96"/>
                    <a:gd name="T1" fmla="*/ 0 h 74"/>
                    <a:gd name="T2" fmla="*/ 89 w 96"/>
                    <a:gd name="T3" fmla="*/ 74 h 74"/>
                    <a:gd name="T4" fmla="*/ 96 w 96"/>
                    <a:gd name="T5" fmla="*/ 74 h 74"/>
                    <a:gd name="T6" fmla="*/ 93 w 96"/>
                    <a:gd name="T7" fmla="*/ 7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6" h="74">
                      <a:moveTo>
                        <a:pt x="0" y="0"/>
                      </a:moveTo>
                      <a:lnTo>
                        <a:pt x="89" y="74"/>
                      </a:lnTo>
                      <a:lnTo>
                        <a:pt x="96" y="74"/>
                      </a:lnTo>
                      <a:lnTo>
                        <a:pt x="93" y="74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2" name="Oval 800"/>
                <p:cNvSpPr>
                  <a:spLocks noChangeArrowheads="1"/>
                </p:cNvSpPr>
                <p:nvPr/>
              </p:nvSpPr>
              <p:spPr bwMode="auto">
                <a:xfrm>
                  <a:off x="1339" y="3772"/>
                  <a:ext cx="78" cy="26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3" name="Oval 801"/>
                <p:cNvSpPr>
                  <a:spLocks noChangeArrowheads="1"/>
                </p:cNvSpPr>
                <p:nvPr/>
              </p:nvSpPr>
              <p:spPr bwMode="auto">
                <a:xfrm>
                  <a:off x="1432" y="3771"/>
                  <a:ext cx="78" cy="25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4" name="Freeform 802"/>
                <p:cNvSpPr>
                  <a:spLocks noChangeArrowheads="1"/>
                </p:cNvSpPr>
                <p:nvPr/>
              </p:nvSpPr>
              <p:spPr bwMode="auto">
                <a:xfrm>
                  <a:off x="1511" y="3785"/>
                  <a:ext cx="94" cy="8"/>
                </a:xfrm>
                <a:custGeom>
                  <a:avLst/>
                  <a:gdLst>
                    <a:gd name="T0" fmla="*/ 0 w 188"/>
                    <a:gd name="T1" fmla="*/ 25 h 25"/>
                    <a:gd name="T2" fmla="*/ 6 w 188"/>
                    <a:gd name="T3" fmla="*/ 0 h 25"/>
                    <a:gd name="T4" fmla="*/ 175 w 188"/>
                    <a:gd name="T5" fmla="*/ 0 h 25"/>
                    <a:gd name="T6" fmla="*/ 188 w 188"/>
                    <a:gd name="T7" fmla="*/ 19 h 25"/>
                    <a:gd name="T8" fmla="*/ 0 w 188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25">
                      <a:moveTo>
                        <a:pt x="0" y="25"/>
                      </a:moveTo>
                      <a:lnTo>
                        <a:pt x="6" y="0"/>
                      </a:lnTo>
                      <a:lnTo>
                        <a:pt x="175" y="0"/>
                      </a:lnTo>
                      <a:lnTo>
                        <a:pt x="188" y="19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5" name="Oval 803"/>
                <p:cNvSpPr>
                  <a:spLocks noChangeArrowheads="1"/>
                </p:cNvSpPr>
                <p:nvPr/>
              </p:nvSpPr>
              <p:spPr bwMode="auto">
                <a:xfrm>
                  <a:off x="1338" y="3767"/>
                  <a:ext cx="78" cy="2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36" name="Oval 804"/>
                <p:cNvSpPr>
                  <a:spLocks noChangeArrowheads="1"/>
                </p:cNvSpPr>
                <p:nvPr/>
              </p:nvSpPr>
              <p:spPr bwMode="auto">
                <a:xfrm>
                  <a:off x="1431" y="3766"/>
                  <a:ext cx="77" cy="25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cxnSp>
          <p:nvCxnSpPr>
            <p:cNvPr id="2176537" name="直接连接符 540"/>
            <p:cNvCxnSpPr>
              <a:cxnSpLocks noChangeShapeType="1"/>
              <a:stCxn id="2176081" idx="3"/>
            </p:cNvCxnSpPr>
            <p:nvPr/>
          </p:nvCxnSpPr>
          <p:spPr bwMode="auto">
            <a:xfrm flipH="1">
              <a:off x="2576015" y="3049182"/>
              <a:ext cx="280816" cy="3612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6538" name="Text Box 213"/>
            <p:cNvSpPr txBox="1">
              <a:spLocks noChangeArrowheads="1"/>
            </p:cNvSpPr>
            <p:nvPr/>
          </p:nvSpPr>
          <p:spPr bwMode="auto">
            <a:xfrm>
              <a:off x="1824476" y="3200087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2176539" name="矩形 540"/>
            <p:cNvSpPr>
              <a:spLocks noChangeArrowheads="1"/>
            </p:cNvSpPr>
            <p:nvPr/>
          </p:nvSpPr>
          <p:spPr bwMode="auto">
            <a:xfrm>
              <a:off x="2068928" y="2582748"/>
              <a:ext cx="129297" cy="20120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540" name="矩形 541"/>
            <p:cNvSpPr>
              <a:spLocks noChangeArrowheads="1"/>
            </p:cNvSpPr>
            <p:nvPr/>
          </p:nvSpPr>
          <p:spPr bwMode="auto">
            <a:xfrm>
              <a:off x="5176095" y="2621616"/>
              <a:ext cx="131318" cy="20120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541" name="矩形 542"/>
            <p:cNvSpPr>
              <a:spLocks noChangeArrowheads="1"/>
            </p:cNvSpPr>
            <p:nvPr/>
          </p:nvSpPr>
          <p:spPr bwMode="auto">
            <a:xfrm>
              <a:off x="8182248" y="2635335"/>
              <a:ext cx="131318" cy="20349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542" name="矩形 544"/>
            <p:cNvSpPr>
              <a:spLocks noChangeArrowheads="1"/>
            </p:cNvSpPr>
            <p:nvPr/>
          </p:nvSpPr>
          <p:spPr bwMode="auto">
            <a:xfrm>
              <a:off x="5640755" y="2554986"/>
              <a:ext cx="303040" cy="324000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176543" name="组合 548"/>
            <p:cNvGrpSpPr>
              <a:grpSpLocks/>
            </p:cNvGrpSpPr>
            <p:nvPr/>
          </p:nvGrpSpPr>
          <p:grpSpPr bwMode="auto">
            <a:xfrm>
              <a:off x="1463298" y="1923188"/>
              <a:ext cx="1468284" cy="776167"/>
              <a:chOff x="1479187" y="598373"/>
              <a:chExt cx="1159039" cy="538002"/>
            </a:xfrm>
          </p:grpSpPr>
          <p:grpSp>
            <p:nvGrpSpPr>
              <p:cNvPr id="2176544" name="组合 516"/>
              <p:cNvGrpSpPr>
                <a:grpSpLocks/>
              </p:cNvGrpSpPr>
              <p:nvPr/>
            </p:nvGrpSpPr>
            <p:grpSpPr bwMode="auto">
              <a:xfrm>
                <a:off x="1479187" y="598373"/>
                <a:ext cx="1159039" cy="295069"/>
                <a:chOff x="1551061" y="576470"/>
                <a:chExt cx="1114722" cy="295069"/>
              </a:xfrm>
            </p:grpSpPr>
            <p:sp>
              <p:nvSpPr>
                <p:cNvPr id="2176545" name="圆角矩形标注 552"/>
                <p:cNvSpPr>
                  <a:spLocks noChangeArrowheads="1"/>
                </p:cNvSpPr>
                <p:nvPr/>
              </p:nvSpPr>
              <p:spPr bwMode="auto">
                <a:xfrm>
                  <a:off x="1619672" y="576470"/>
                  <a:ext cx="964502" cy="294860"/>
                </a:xfrm>
                <a:prstGeom prst="wedgeRoundRectCallout">
                  <a:avLst>
                    <a:gd name="adj1" fmla="val -9139"/>
                    <a:gd name="adj2" fmla="val 50139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4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551061" y="594202"/>
                  <a:ext cx="1114722" cy="277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从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1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 </a:t>
                  </a:r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到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2000" b="1" baseline="-25000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76547" name="下箭头 551"/>
              <p:cNvSpPr>
                <a:spLocks noChangeArrowheads="1"/>
              </p:cNvSpPr>
              <p:nvPr/>
            </p:nvSpPr>
            <p:spPr bwMode="auto">
              <a:xfrm>
                <a:off x="1962200" y="895401"/>
                <a:ext cx="89519" cy="240974"/>
              </a:xfrm>
              <a:prstGeom prst="downArrow">
                <a:avLst>
                  <a:gd name="adj1" fmla="val 50000"/>
                  <a:gd name="adj2" fmla="val 127715"/>
                </a:avLst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176548" name="组合 554"/>
            <p:cNvGrpSpPr>
              <a:grpSpLocks/>
            </p:cNvGrpSpPr>
            <p:nvPr/>
          </p:nvGrpSpPr>
          <p:grpSpPr bwMode="auto">
            <a:xfrm>
              <a:off x="7564046" y="1939080"/>
              <a:ext cx="1473480" cy="773994"/>
              <a:chOff x="1475655" y="598373"/>
              <a:chExt cx="1157444" cy="538002"/>
            </a:xfrm>
          </p:grpSpPr>
          <p:grpSp>
            <p:nvGrpSpPr>
              <p:cNvPr id="2176549" name="组合 516"/>
              <p:cNvGrpSpPr>
                <a:grpSpLocks/>
              </p:cNvGrpSpPr>
              <p:nvPr/>
            </p:nvGrpSpPr>
            <p:grpSpPr bwMode="auto">
              <a:xfrm>
                <a:off x="1475655" y="598373"/>
                <a:ext cx="1157444" cy="294860"/>
                <a:chOff x="1547664" y="576470"/>
                <a:chExt cx="1113188" cy="294860"/>
              </a:xfrm>
            </p:grpSpPr>
            <p:sp>
              <p:nvSpPr>
                <p:cNvPr id="2176550" name="圆角矩形标注 557"/>
                <p:cNvSpPr>
                  <a:spLocks noChangeArrowheads="1"/>
                </p:cNvSpPr>
                <p:nvPr/>
              </p:nvSpPr>
              <p:spPr bwMode="auto">
                <a:xfrm>
                  <a:off x="1619672" y="576470"/>
                  <a:ext cx="964502" cy="294860"/>
                </a:xfrm>
                <a:prstGeom prst="wedgeRoundRectCallout">
                  <a:avLst>
                    <a:gd name="adj1" fmla="val -9139"/>
                    <a:gd name="adj2" fmla="val 50139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655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547664" y="583206"/>
                  <a:ext cx="1113188" cy="278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从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1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 </a:t>
                  </a:r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到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2000" b="1" baseline="-25000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76552" name="下箭头 556"/>
              <p:cNvSpPr>
                <a:spLocks noChangeArrowheads="1"/>
              </p:cNvSpPr>
              <p:nvPr/>
            </p:nvSpPr>
            <p:spPr bwMode="auto">
              <a:xfrm>
                <a:off x="1962200" y="895401"/>
                <a:ext cx="89519" cy="240974"/>
              </a:xfrm>
              <a:prstGeom prst="downArrow">
                <a:avLst>
                  <a:gd name="adj1" fmla="val 50000"/>
                  <a:gd name="adj2" fmla="val 127715"/>
                </a:avLst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76553" name="圆角矩形标注 559"/>
            <p:cNvSpPr>
              <a:spLocks noChangeArrowheads="1"/>
            </p:cNvSpPr>
            <p:nvPr/>
          </p:nvSpPr>
          <p:spPr bwMode="auto">
            <a:xfrm>
              <a:off x="6076426" y="1351654"/>
              <a:ext cx="1420953" cy="409274"/>
            </a:xfrm>
            <a:prstGeom prst="wedgeRoundRectCallout">
              <a:avLst>
                <a:gd name="adj1" fmla="val -65565"/>
                <a:gd name="adj2" fmla="val 280065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6554" name="Text Box 48"/>
            <p:cNvSpPr txBox="1">
              <a:spLocks noChangeArrowheads="1"/>
            </p:cNvSpPr>
            <p:nvPr/>
          </p:nvSpPr>
          <p:spPr bwMode="auto">
            <a:xfrm>
              <a:off x="6071808" y="1372706"/>
              <a:ext cx="14734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从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到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  <a:endParaRPr lang="zh-CN" altLang="en-US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176555" name="矩形 559"/>
          <p:cNvSpPr>
            <a:spLocks noChangeArrowheads="1"/>
          </p:cNvSpPr>
          <p:nvPr/>
        </p:nvSpPr>
        <p:spPr bwMode="auto">
          <a:xfrm>
            <a:off x="793750" y="1268413"/>
            <a:ext cx="8796338" cy="1584325"/>
          </a:xfrm>
          <a:prstGeom prst="rect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110000"/>
              </a:lnSpc>
            </a:pP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假定公司总部的主机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H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要和分公司的主机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H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通过互联网进行安全通信。公司总部与分公司之间的安全关联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SA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就是在路由器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R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R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之间建立的。</a:t>
            </a:r>
            <a:endParaRPr lang="zh-CN" altLang="en-US" sz="2800" b="1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176556" name="灯片编号占位符 54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6A5E9B-D1DD-4C27-B39D-9900A7453FCD}" type="slidenum">
              <a:rPr lang="zh-CN" altLang="en-US" smtClean="0"/>
              <a:pPr eaLnBrk="1" hangingPunct="1"/>
              <a:t>29</a:t>
            </a:fld>
            <a:endParaRPr lang="en-US" altLang="zh-CN" smtClean="0"/>
          </a:p>
        </p:txBody>
      </p:sp>
      <p:sp>
        <p:nvSpPr>
          <p:cNvPr id="2176557" name="页脚占位符 55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04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>
                <a:solidFill>
                  <a:srgbClr val="000099"/>
                </a:solidFill>
                <a:ea typeface="黑体" panose="02010609060101010101" pitchFamily="49" charset="-122"/>
              </a:rPr>
              <a:t>路由器 </a:t>
            </a:r>
            <a:r>
              <a:rPr lang="en-US" altLang="zh-CN" sz="4000" smtClean="0">
                <a:solidFill>
                  <a:srgbClr val="000099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4000" baseline="-25000" smtClean="0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4000" smtClean="0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4000" smtClean="0">
                <a:solidFill>
                  <a:srgbClr val="000099"/>
                </a:solidFill>
                <a:ea typeface="黑体" panose="02010609060101010101" pitchFamily="49" charset="-122"/>
              </a:rPr>
              <a:t>到主机 </a:t>
            </a:r>
            <a:r>
              <a:rPr lang="en-US" altLang="zh-CN" sz="4000" smtClean="0">
                <a:solidFill>
                  <a:srgbClr val="000099"/>
                </a:solidFill>
                <a:ea typeface="黑体" panose="02010609060101010101" pitchFamily="49" charset="-122"/>
              </a:rPr>
              <a:t>H</a:t>
            </a:r>
            <a:r>
              <a:rPr lang="en-US" altLang="zh-CN" sz="4000" baseline="-25000" smtClean="0">
                <a:solidFill>
                  <a:srgbClr val="000099"/>
                </a:solidFill>
                <a:ea typeface="黑体" panose="02010609060101010101" pitchFamily="49" charset="-122"/>
              </a:rPr>
              <a:t>2 </a:t>
            </a:r>
            <a:r>
              <a:rPr lang="zh-CN" altLang="en-US" sz="4000" smtClean="0">
                <a:solidFill>
                  <a:srgbClr val="000099"/>
                </a:solidFill>
                <a:ea typeface="黑体" panose="02010609060101010101" pitchFamily="49" charset="-122"/>
              </a:rPr>
              <a:t>的安全关联 </a:t>
            </a:r>
            <a:r>
              <a:rPr lang="en-US" altLang="zh-CN" sz="4000" smtClean="0">
                <a:solidFill>
                  <a:srgbClr val="000099"/>
                </a:solidFill>
                <a:ea typeface="黑体" panose="02010609060101010101" pitchFamily="49" charset="-122"/>
              </a:rPr>
              <a:t>SA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grpSp>
        <p:nvGrpSpPr>
          <p:cNvPr id="2178050" name="组合 521"/>
          <p:cNvGrpSpPr>
            <a:grpSpLocks/>
          </p:cNvGrpSpPr>
          <p:nvPr/>
        </p:nvGrpSpPr>
        <p:grpSpPr bwMode="auto">
          <a:xfrm>
            <a:off x="631825" y="3140075"/>
            <a:ext cx="8929688" cy="2952750"/>
            <a:chOff x="704528" y="2924509"/>
            <a:chExt cx="8713476" cy="2736739"/>
          </a:xfrm>
        </p:grpSpPr>
        <p:sp>
          <p:nvSpPr>
            <p:cNvPr id="2178051" name="圆角矩形 2"/>
            <p:cNvSpPr>
              <a:spLocks noChangeArrowheads="1"/>
            </p:cNvSpPr>
            <p:nvPr/>
          </p:nvSpPr>
          <p:spPr bwMode="auto">
            <a:xfrm>
              <a:off x="704528" y="3388621"/>
              <a:ext cx="2870496" cy="2174575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178052" name="Object 204"/>
            <p:cNvGraphicFramePr>
              <a:graphicFrameLocks noChangeAspect="1"/>
            </p:cNvGraphicFramePr>
            <p:nvPr/>
          </p:nvGraphicFramePr>
          <p:xfrm>
            <a:off x="3626086" y="3288390"/>
            <a:ext cx="3993831" cy="23728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595" r:id="rId4" imgW="1687068" imgH="964692" progId="Visio.Drawing.6">
                    <p:embed/>
                  </p:oleObj>
                </mc:Choice>
                <mc:Fallback>
                  <p:oleObj r:id="rId4" imgW="1687068" imgH="964692" progId="Visio.Drawing.6">
                    <p:embed/>
                    <p:pic>
                      <p:nvPicPr>
                        <p:cNvPr id="0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6086" y="3288390"/>
                          <a:ext cx="3993831" cy="23728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78053" name="直接连接符 75"/>
            <p:cNvCxnSpPr>
              <a:cxnSpLocks noChangeShapeType="1"/>
            </p:cNvCxnSpPr>
            <p:nvPr/>
          </p:nvCxnSpPr>
          <p:spPr bwMode="auto">
            <a:xfrm>
              <a:off x="7393474" y="4748275"/>
              <a:ext cx="1540700" cy="1830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8054" name="Line 205"/>
            <p:cNvSpPr>
              <a:spLocks noChangeShapeType="1"/>
            </p:cNvSpPr>
            <p:nvPr/>
          </p:nvSpPr>
          <p:spPr bwMode="auto">
            <a:xfrm>
              <a:off x="1712421" y="4375678"/>
              <a:ext cx="20135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8055" name="Text Box 48"/>
            <p:cNvSpPr txBox="1">
              <a:spLocks noChangeArrowheads="1"/>
            </p:cNvSpPr>
            <p:nvPr/>
          </p:nvSpPr>
          <p:spPr bwMode="auto">
            <a:xfrm>
              <a:off x="1410497" y="2926687"/>
              <a:ext cx="12169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公司总部</a:t>
              </a:r>
            </a:p>
          </p:txBody>
        </p:sp>
        <p:grpSp>
          <p:nvGrpSpPr>
            <p:cNvPr id="2178056" name="Group 103"/>
            <p:cNvGrpSpPr>
              <a:grpSpLocks/>
            </p:cNvGrpSpPr>
            <p:nvPr/>
          </p:nvGrpSpPr>
          <p:grpSpPr bwMode="auto">
            <a:xfrm>
              <a:off x="1117453" y="3913744"/>
              <a:ext cx="705969" cy="690721"/>
              <a:chOff x="921" y="2412"/>
              <a:chExt cx="284" cy="265"/>
            </a:xfrm>
          </p:grpSpPr>
          <p:grpSp>
            <p:nvGrpSpPr>
              <p:cNvPr id="2178057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78058" name="Freeform 105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59" name="Freeform 106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0" name="Freeform 107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1" name="Freeform 108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2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65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066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78067" name="Freeform 114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068" name="Freeform 115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069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2178070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78071" name="Freeform 118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2" name="Freeform 119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3" name="Freeform 120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4" name="Freeform 121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5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6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7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078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079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78080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081" name="Freeform 128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082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pic>
          <p:nvPicPr>
            <p:cNvPr id="2178083" name="Picture 203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117" y="4212257"/>
              <a:ext cx="621608" cy="34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78084" name="Line 176"/>
            <p:cNvSpPr>
              <a:spLocks noChangeShapeType="1"/>
            </p:cNvSpPr>
            <p:nvPr/>
          </p:nvSpPr>
          <p:spPr bwMode="auto">
            <a:xfrm>
              <a:off x="3626086" y="4475909"/>
              <a:ext cx="4932904" cy="49243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8085" name="Text Box 207"/>
            <p:cNvSpPr txBox="1">
              <a:spLocks noChangeArrowheads="1"/>
            </p:cNvSpPr>
            <p:nvPr/>
          </p:nvSpPr>
          <p:spPr bwMode="auto">
            <a:xfrm>
              <a:off x="4953000" y="2924509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0000FF"/>
                  </a:solidFill>
                  <a:ea typeface="黑体" panose="02010609060101010101" pitchFamily="49" charset="-122"/>
                </a:rPr>
                <a:t>互联网</a:t>
              </a:r>
            </a:p>
          </p:txBody>
        </p:sp>
        <p:sp>
          <p:nvSpPr>
            <p:cNvPr id="2178086" name="Text Box 201"/>
            <p:cNvSpPr txBox="1">
              <a:spLocks noChangeArrowheads="1"/>
            </p:cNvSpPr>
            <p:nvPr/>
          </p:nvSpPr>
          <p:spPr bwMode="auto">
            <a:xfrm>
              <a:off x="5419869" y="4672013"/>
              <a:ext cx="54213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SA</a:t>
              </a:r>
              <a:endPara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8087" name="Text Box 208"/>
            <p:cNvSpPr txBox="1">
              <a:spLocks noChangeArrowheads="1"/>
            </p:cNvSpPr>
            <p:nvPr/>
          </p:nvSpPr>
          <p:spPr bwMode="auto">
            <a:xfrm>
              <a:off x="3022238" y="3750324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2178088" name="TextBox 997"/>
            <p:cNvSpPr txBox="1">
              <a:spLocks noChangeArrowheads="1"/>
            </p:cNvSpPr>
            <p:nvPr/>
          </p:nvSpPr>
          <p:spPr bwMode="auto">
            <a:xfrm rot="331179">
              <a:off x="4964576" y="3908704"/>
              <a:ext cx="17830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安全数据报</a:t>
              </a:r>
            </a:p>
          </p:txBody>
        </p:sp>
        <p:sp>
          <p:nvSpPr>
            <p:cNvPr id="2178089" name="Text Box 213"/>
            <p:cNvSpPr txBox="1">
              <a:spLocks noChangeArrowheads="1"/>
            </p:cNvSpPr>
            <p:nvPr/>
          </p:nvSpPr>
          <p:spPr bwMode="auto">
            <a:xfrm>
              <a:off x="704528" y="3881060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grpSp>
          <p:nvGrpSpPr>
            <p:cNvPr id="2178090" name="Group 352"/>
            <p:cNvGrpSpPr>
              <a:grpSpLocks/>
            </p:cNvGrpSpPr>
            <p:nvPr/>
          </p:nvGrpSpPr>
          <p:grpSpPr bwMode="auto">
            <a:xfrm>
              <a:off x="8561209" y="4375678"/>
              <a:ext cx="803650" cy="692901"/>
              <a:chOff x="624" y="2968"/>
              <a:chExt cx="1331" cy="920"/>
            </a:xfrm>
          </p:grpSpPr>
          <p:sp>
            <p:nvSpPr>
              <p:cNvPr id="2178091" name="Freeform 353"/>
              <p:cNvSpPr>
                <a:spLocks noChangeArrowheads="1"/>
              </p:cNvSpPr>
              <p:nvPr/>
            </p:nvSpPr>
            <p:spPr bwMode="auto">
              <a:xfrm>
                <a:off x="1238" y="2968"/>
                <a:ext cx="713" cy="770"/>
              </a:xfrm>
              <a:custGeom>
                <a:avLst/>
                <a:gdLst>
                  <a:gd name="T0" fmla="*/ 992 w 1426"/>
                  <a:gd name="T1" fmla="*/ 2292 h 2309"/>
                  <a:gd name="T2" fmla="*/ 964 w 1426"/>
                  <a:gd name="T3" fmla="*/ 2309 h 2309"/>
                  <a:gd name="T4" fmla="*/ 0 w 1426"/>
                  <a:gd name="T5" fmla="*/ 1462 h 2309"/>
                  <a:gd name="T6" fmla="*/ 326 w 1426"/>
                  <a:gd name="T7" fmla="*/ 59 h 2309"/>
                  <a:gd name="T8" fmla="*/ 369 w 1426"/>
                  <a:gd name="T9" fmla="*/ 18 h 2309"/>
                  <a:gd name="T10" fmla="*/ 414 w 1426"/>
                  <a:gd name="T11" fmla="*/ 0 h 2309"/>
                  <a:gd name="T12" fmla="*/ 457 w 1426"/>
                  <a:gd name="T13" fmla="*/ 9 h 2309"/>
                  <a:gd name="T14" fmla="*/ 1381 w 1426"/>
                  <a:gd name="T15" fmla="*/ 400 h 2309"/>
                  <a:gd name="T16" fmla="*/ 1411 w 1426"/>
                  <a:gd name="T17" fmla="*/ 421 h 2309"/>
                  <a:gd name="T18" fmla="*/ 1422 w 1426"/>
                  <a:gd name="T19" fmla="*/ 425 h 2309"/>
                  <a:gd name="T20" fmla="*/ 1426 w 1426"/>
                  <a:gd name="T21" fmla="*/ 445 h 2309"/>
                  <a:gd name="T22" fmla="*/ 1017 w 1426"/>
                  <a:gd name="T23" fmla="*/ 2306 h 2309"/>
                  <a:gd name="T24" fmla="*/ 992 w 1426"/>
                  <a:gd name="T25" fmla="*/ 2292 h 2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6" h="2309">
                    <a:moveTo>
                      <a:pt x="992" y="2292"/>
                    </a:moveTo>
                    <a:lnTo>
                      <a:pt x="964" y="2309"/>
                    </a:lnTo>
                    <a:lnTo>
                      <a:pt x="0" y="1462"/>
                    </a:lnTo>
                    <a:lnTo>
                      <a:pt x="326" y="59"/>
                    </a:lnTo>
                    <a:lnTo>
                      <a:pt x="369" y="18"/>
                    </a:lnTo>
                    <a:lnTo>
                      <a:pt x="414" y="0"/>
                    </a:lnTo>
                    <a:lnTo>
                      <a:pt x="457" y="9"/>
                    </a:lnTo>
                    <a:lnTo>
                      <a:pt x="1381" y="400"/>
                    </a:lnTo>
                    <a:lnTo>
                      <a:pt x="1411" y="421"/>
                    </a:lnTo>
                    <a:lnTo>
                      <a:pt x="1422" y="425"/>
                    </a:lnTo>
                    <a:lnTo>
                      <a:pt x="1426" y="445"/>
                    </a:lnTo>
                    <a:lnTo>
                      <a:pt x="1017" y="2306"/>
                    </a:lnTo>
                    <a:lnTo>
                      <a:pt x="992" y="229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2" name="Freeform 354"/>
              <p:cNvSpPr>
                <a:spLocks noChangeArrowheads="1"/>
              </p:cNvSpPr>
              <p:nvPr/>
            </p:nvSpPr>
            <p:spPr bwMode="auto">
              <a:xfrm>
                <a:off x="1668" y="3087"/>
                <a:ext cx="286" cy="660"/>
              </a:xfrm>
              <a:custGeom>
                <a:avLst/>
                <a:gdLst>
                  <a:gd name="T0" fmla="*/ 573 w 573"/>
                  <a:gd name="T1" fmla="*/ 86 h 1980"/>
                  <a:gd name="T2" fmla="*/ 568 w 573"/>
                  <a:gd name="T3" fmla="*/ 132 h 1980"/>
                  <a:gd name="T4" fmla="*/ 155 w 573"/>
                  <a:gd name="T5" fmla="*/ 1923 h 1980"/>
                  <a:gd name="T6" fmla="*/ 151 w 573"/>
                  <a:gd name="T7" fmla="*/ 1955 h 1980"/>
                  <a:gd name="T8" fmla="*/ 140 w 573"/>
                  <a:gd name="T9" fmla="*/ 1972 h 1980"/>
                  <a:gd name="T10" fmla="*/ 125 w 573"/>
                  <a:gd name="T11" fmla="*/ 1980 h 1980"/>
                  <a:gd name="T12" fmla="*/ 111 w 573"/>
                  <a:gd name="T13" fmla="*/ 1975 h 1980"/>
                  <a:gd name="T14" fmla="*/ 86 w 573"/>
                  <a:gd name="T15" fmla="*/ 1955 h 1980"/>
                  <a:gd name="T16" fmla="*/ 0 w 573"/>
                  <a:gd name="T17" fmla="*/ 1880 h 1980"/>
                  <a:gd name="T18" fmla="*/ 425 w 573"/>
                  <a:gd name="T19" fmla="*/ 39 h 1980"/>
                  <a:gd name="T20" fmla="*/ 420 w 573"/>
                  <a:gd name="T21" fmla="*/ 27 h 1980"/>
                  <a:gd name="T22" fmla="*/ 396 w 573"/>
                  <a:gd name="T23" fmla="*/ 0 h 1980"/>
                  <a:gd name="T24" fmla="*/ 445 w 573"/>
                  <a:gd name="T25" fmla="*/ 20 h 1980"/>
                  <a:gd name="T26" fmla="*/ 541 w 573"/>
                  <a:gd name="T27" fmla="*/ 61 h 1980"/>
                  <a:gd name="T28" fmla="*/ 559 w 573"/>
                  <a:gd name="T29" fmla="*/ 75 h 1980"/>
                  <a:gd name="T30" fmla="*/ 573 w 573"/>
                  <a:gd name="T31" fmla="*/ 86 h 19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73" h="1980">
                    <a:moveTo>
                      <a:pt x="573" y="86"/>
                    </a:moveTo>
                    <a:lnTo>
                      <a:pt x="568" y="132"/>
                    </a:lnTo>
                    <a:lnTo>
                      <a:pt x="155" y="1923"/>
                    </a:lnTo>
                    <a:lnTo>
                      <a:pt x="151" y="1955"/>
                    </a:lnTo>
                    <a:lnTo>
                      <a:pt x="140" y="1972"/>
                    </a:lnTo>
                    <a:lnTo>
                      <a:pt x="125" y="1980"/>
                    </a:lnTo>
                    <a:lnTo>
                      <a:pt x="111" y="1975"/>
                    </a:lnTo>
                    <a:lnTo>
                      <a:pt x="86" y="1955"/>
                    </a:lnTo>
                    <a:lnTo>
                      <a:pt x="0" y="1880"/>
                    </a:lnTo>
                    <a:lnTo>
                      <a:pt x="425" y="39"/>
                    </a:lnTo>
                    <a:lnTo>
                      <a:pt x="420" y="27"/>
                    </a:lnTo>
                    <a:lnTo>
                      <a:pt x="396" y="0"/>
                    </a:lnTo>
                    <a:lnTo>
                      <a:pt x="445" y="20"/>
                    </a:lnTo>
                    <a:lnTo>
                      <a:pt x="541" y="61"/>
                    </a:lnTo>
                    <a:lnTo>
                      <a:pt x="559" y="75"/>
                    </a:lnTo>
                    <a:lnTo>
                      <a:pt x="573" y="86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20202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3" name="Freeform 355"/>
              <p:cNvSpPr>
                <a:spLocks noChangeArrowheads="1"/>
              </p:cNvSpPr>
              <p:nvPr/>
            </p:nvSpPr>
            <p:spPr bwMode="auto">
              <a:xfrm>
                <a:off x="1432" y="2970"/>
                <a:ext cx="523" cy="147"/>
              </a:xfrm>
              <a:custGeom>
                <a:avLst/>
                <a:gdLst>
                  <a:gd name="T0" fmla="*/ 0 w 1045"/>
                  <a:gd name="T1" fmla="*/ 0 h 441"/>
                  <a:gd name="T2" fmla="*/ 31 w 1045"/>
                  <a:gd name="T3" fmla="*/ 1 h 441"/>
                  <a:gd name="T4" fmla="*/ 62 w 1045"/>
                  <a:gd name="T5" fmla="*/ 10 h 441"/>
                  <a:gd name="T6" fmla="*/ 1005 w 1045"/>
                  <a:gd name="T7" fmla="*/ 409 h 441"/>
                  <a:gd name="T8" fmla="*/ 1037 w 1045"/>
                  <a:gd name="T9" fmla="*/ 427 h 441"/>
                  <a:gd name="T10" fmla="*/ 1045 w 1045"/>
                  <a:gd name="T11" fmla="*/ 441 h 441"/>
                  <a:gd name="T12" fmla="*/ 0 w 1045"/>
                  <a:gd name="T13" fmla="*/ 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45" h="441">
                    <a:moveTo>
                      <a:pt x="0" y="0"/>
                    </a:moveTo>
                    <a:lnTo>
                      <a:pt x="31" y="1"/>
                    </a:lnTo>
                    <a:lnTo>
                      <a:pt x="62" y="10"/>
                    </a:lnTo>
                    <a:lnTo>
                      <a:pt x="1005" y="409"/>
                    </a:lnTo>
                    <a:lnTo>
                      <a:pt x="1037" y="427"/>
                    </a:lnTo>
                    <a:lnTo>
                      <a:pt x="1045" y="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20202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4" name="Freeform 356"/>
              <p:cNvSpPr>
                <a:spLocks noChangeArrowheads="1"/>
              </p:cNvSpPr>
              <p:nvPr/>
            </p:nvSpPr>
            <p:spPr bwMode="auto">
              <a:xfrm>
                <a:off x="1315" y="3056"/>
                <a:ext cx="478" cy="573"/>
              </a:xfrm>
              <a:custGeom>
                <a:avLst/>
                <a:gdLst>
                  <a:gd name="T0" fmla="*/ 619 w 955"/>
                  <a:gd name="T1" fmla="*/ 1719 h 1719"/>
                  <a:gd name="T2" fmla="*/ 0 w 955"/>
                  <a:gd name="T3" fmla="*/ 1212 h 1719"/>
                  <a:gd name="T4" fmla="*/ 290 w 955"/>
                  <a:gd name="T5" fmla="*/ 0 h 1719"/>
                  <a:gd name="T6" fmla="*/ 955 w 955"/>
                  <a:gd name="T7" fmla="*/ 313 h 1719"/>
                  <a:gd name="T8" fmla="*/ 619 w 955"/>
                  <a:gd name="T9" fmla="*/ 1719 h 1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5" h="1719">
                    <a:moveTo>
                      <a:pt x="619" y="1719"/>
                    </a:moveTo>
                    <a:lnTo>
                      <a:pt x="0" y="1212"/>
                    </a:lnTo>
                    <a:lnTo>
                      <a:pt x="290" y="0"/>
                    </a:lnTo>
                    <a:lnTo>
                      <a:pt x="955" y="313"/>
                    </a:lnTo>
                    <a:lnTo>
                      <a:pt x="619" y="1719"/>
                    </a:lnTo>
                    <a:close/>
                  </a:path>
                </a:pathLst>
              </a:custGeom>
              <a:solidFill>
                <a:srgbClr val="000000"/>
              </a:solidFill>
              <a:ln w="7938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5" name="Freeform 357"/>
              <p:cNvSpPr>
                <a:spLocks noChangeArrowheads="1"/>
              </p:cNvSpPr>
              <p:nvPr/>
            </p:nvSpPr>
            <p:spPr bwMode="auto">
              <a:xfrm>
                <a:off x="1337" y="3076"/>
                <a:ext cx="431" cy="529"/>
              </a:xfrm>
              <a:custGeom>
                <a:avLst/>
                <a:gdLst>
                  <a:gd name="T0" fmla="*/ 546 w 862"/>
                  <a:gd name="T1" fmla="*/ 1587 h 1587"/>
                  <a:gd name="T2" fmla="*/ 0 w 862"/>
                  <a:gd name="T3" fmla="*/ 1134 h 1587"/>
                  <a:gd name="T4" fmla="*/ 272 w 862"/>
                  <a:gd name="T5" fmla="*/ 0 h 1587"/>
                  <a:gd name="T6" fmla="*/ 862 w 862"/>
                  <a:gd name="T7" fmla="*/ 268 h 1587"/>
                  <a:gd name="T8" fmla="*/ 546 w 862"/>
                  <a:gd name="T9" fmla="*/ 1587 h 1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2" h="1587">
                    <a:moveTo>
                      <a:pt x="546" y="1587"/>
                    </a:moveTo>
                    <a:lnTo>
                      <a:pt x="0" y="1134"/>
                    </a:lnTo>
                    <a:lnTo>
                      <a:pt x="272" y="0"/>
                    </a:lnTo>
                    <a:lnTo>
                      <a:pt x="862" y="268"/>
                    </a:lnTo>
                    <a:lnTo>
                      <a:pt x="546" y="1587"/>
                    </a:lnTo>
                    <a:close/>
                  </a:path>
                </a:pathLst>
              </a:custGeom>
              <a:solidFill>
                <a:srgbClr val="C7C7C7"/>
              </a:solidFill>
              <a:ln w="7938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6" name="Freeform 358"/>
              <p:cNvSpPr>
                <a:spLocks noChangeArrowheads="1"/>
              </p:cNvSpPr>
              <p:nvPr/>
            </p:nvSpPr>
            <p:spPr bwMode="auto">
              <a:xfrm>
                <a:off x="1233" y="2968"/>
                <a:ext cx="203" cy="494"/>
              </a:xfrm>
              <a:custGeom>
                <a:avLst/>
                <a:gdLst>
                  <a:gd name="T0" fmla="*/ 393 w 408"/>
                  <a:gd name="T1" fmla="*/ 0 h 1480"/>
                  <a:gd name="T2" fmla="*/ 370 w 408"/>
                  <a:gd name="T3" fmla="*/ 11 h 1480"/>
                  <a:gd name="T4" fmla="*/ 356 w 408"/>
                  <a:gd name="T5" fmla="*/ 19 h 1480"/>
                  <a:gd name="T6" fmla="*/ 338 w 408"/>
                  <a:gd name="T7" fmla="*/ 37 h 1480"/>
                  <a:gd name="T8" fmla="*/ 325 w 408"/>
                  <a:gd name="T9" fmla="*/ 59 h 1480"/>
                  <a:gd name="T10" fmla="*/ 320 w 408"/>
                  <a:gd name="T11" fmla="*/ 77 h 1480"/>
                  <a:gd name="T12" fmla="*/ 0 w 408"/>
                  <a:gd name="T13" fmla="*/ 1459 h 1480"/>
                  <a:gd name="T14" fmla="*/ 12 w 408"/>
                  <a:gd name="T15" fmla="*/ 1480 h 1480"/>
                  <a:gd name="T16" fmla="*/ 337 w 408"/>
                  <a:gd name="T17" fmla="*/ 77 h 1480"/>
                  <a:gd name="T18" fmla="*/ 346 w 408"/>
                  <a:gd name="T19" fmla="*/ 57 h 1480"/>
                  <a:gd name="T20" fmla="*/ 355 w 408"/>
                  <a:gd name="T21" fmla="*/ 43 h 1480"/>
                  <a:gd name="T22" fmla="*/ 368 w 408"/>
                  <a:gd name="T23" fmla="*/ 30 h 1480"/>
                  <a:gd name="T24" fmla="*/ 384 w 408"/>
                  <a:gd name="T25" fmla="*/ 19 h 1480"/>
                  <a:gd name="T26" fmla="*/ 400 w 408"/>
                  <a:gd name="T27" fmla="*/ 12 h 1480"/>
                  <a:gd name="T28" fmla="*/ 408 w 408"/>
                  <a:gd name="T29" fmla="*/ 5 h 1480"/>
                  <a:gd name="T30" fmla="*/ 393 w 408"/>
                  <a:gd name="T31" fmla="*/ 0 h 1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8" h="1480">
                    <a:moveTo>
                      <a:pt x="393" y="0"/>
                    </a:moveTo>
                    <a:lnTo>
                      <a:pt x="370" y="11"/>
                    </a:lnTo>
                    <a:lnTo>
                      <a:pt x="356" y="19"/>
                    </a:lnTo>
                    <a:lnTo>
                      <a:pt x="338" y="37"/>
                    </a:lnTo>
                    <a:lnTo>
                      <a:pt x="325" y="59"/>
                    </a:lnTo>
                    <a:lnTo>
                      <a:pt x="320" y="77"/>
                    </a:lnTo>
                    <a:lnTo>
                      <a:pt x="0" y="1459"/>
                    </a:lnTo>
                    <a:lnTo>
                      <a:pt x="12" y="1480"/>
                    </a:lnTo>
                    <a:lnTo>
                      <a:pt x="337" y="77"/>
                    </a:lnTo>
                    <a:lnTo>
                      <a:pt x="346" y="57"/>
                    </a:lnTo>
                    <a:lnTo>
                      <a:pt x="355" y="43"/>
                    </a:lnTo>
                    <a:lnTo>
                      <a:pt x="368" y="30"/>
                    </a:lnTo>
                    <a:lnTo>
                      <a:pt x="384" y="19"/>
                    </a:lnTo>
                    <a:lnTo>
                      <a:pt x="400" y="12"/>
                    </a:lnTo>
                    <a:lnTo>
                      <a:pt x="408" y="5"/>
                    </a:lnTo>
                    <a:lnTo>
                      <a:pt x="393" y="0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7" name="Freeform 359"/>
              <p:cNvSpPr>
                <a:spLocks noChangeArrowheads="1"/>
              </p:cNvSpPr>
              <p:nvPr/>
            </p:nvSpPr>
            <p:spPr bwMode="auto">
              <a:xfrm>
                <a:off x="1204" y="3479"/>
                <a:ext cx="532" cy="321"/>
              </a:xfrm>
              <a:custGeom>
                <a:avLst/>
                <a:gdLst>
                  <a:gd name="T0" fmla="*/ 1065 w 1065"/>
                  <a:gd name="T1" fmla="*/ 963 h 963"/>
                  <a:gd name="T2" fmla="*/ 1047 w 1065"/>
                  <a:gd name="T3" fmla="*/ 833 h 963"/>
                  <a:gd name="T4" fmla="*/ 1015 w 1065"/>
                  <a:gd name="T5" fmla="*/ 776 h 963"/>
                  <a:gd name="T6" fmla="*/ 137 w 1065"/>
                  <a:gd name="T7" fmla="*/ 3 h 963"/>
                  <a:gd name="T8" fmla="*/ 96 w 1065"/>
                  <a:gd name="T9" fmla="*/ 0 h 963"/>
                  <a:gd name="T10" fmla="*/ 59 w 1065"/>
                  <a:gd name="T11" fmla="*/ 3 h 963"/>
                  <a:gd name="T12" fmla="*/ 32 w 1065"/>
                  <a:gd name="T13" fmla="*/ 42 h 963"/>
                  <a:gd name="T14" fmla="*/ 0 w 1065"/>
                  <a:gd name="T15" fmla="*/ 145 h 963"/>
                  <a:gd name="T16" fmla="*/ 865 w 1065"/>
                  <a:gd name="T17" fmla="*/ 954 h 963"/>
                  <a:gd name="T18" fmla="*/ 1065 w 1065"/>
                  <a:gd name="T19" fmla="*/ 963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5" h="963">
                    <a:moveTo>
                      <a:pt x="1065" y="963"/>
                    </a:moveTo>
                    <a:lnTo>
                      <a:pt x="1047" y="833"/>
                    </a:lnTo>
                    <a:lnTo>
                      <a:pt x="1015" y="776"/>
                    </a:lnTo>
                    <a:lnTo>
                      <a:pt x="137" y="3"/>
                    </a:lnTo>
                    <a:lnTo>
                      <a:pt x="96" y="0"/>
                    </a:lnTo>
                    <a:lnTo>
                      <a:pt x="59" y="3"/>
                    </a:lnTo>
                    <a:lnTo>
                      <a:pt x="32" y="42"/>
                    </a:lnTo>
                    <a:lnTo>
                      <a:pt x="0" y="145"/>
                    </a:lnTo>
                    <a:lnTo>
                      <a:pt x="865" y="954"/>
                    </a:lnTo>
                    <a:lnTo>
                      <a:pt x="1065" y="963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8" name="Freeform 360"/>
              <p:cNvSpPr>
                <a:spLocks noChangeArrowheads="1"/>
              </p:cNvSpPr>
              <p:nvPr/>
            </p:nvSpPr>
            <p:spPr bwMode="auto">
              <a:xfrm>
                <a:off x="642" y="3519"/>
                <a:ext cx="985" cy="288"/>
              </a:xfrm>
              <a:custGeom>
                <a:avLst/>
                <a:gdLst>
                  <a:gd name="T0" fmla="*/ 0 w 1969"/>
                  <a:gd name="T1" fmla="*/ 0 h 862"/>
                  <a:gd name="T2" fmla="*/ 1121 w 1969"/>
                  <a:gd name="T3" fmla="*/ 24 h 862"/>
                  <a:gd name="T4" fmla="*/ 1969 w 1969"/>
                  <a:gd name="T5" fmla="*/ 814 h 862"/>
                  <a:gd name="T6" fmla="*/ 478 w 1969"/>
                  <a:gd name="T7" fmla="*/ 862 h 862"/>
                  <a:gd name="T8" fmla="*/ 0 w 1969"/>
                  <a:gd name="T9" fmla="*/ 0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9" h="862">
                    <a:moveTo>
                      <a:pt x="0" y="0"/>
                    </a:moveTo>
                    <a:lnTo>
                      <a:pt x="1121" y="24"/>
                    </a:lnTo>
                    <a:lnTo>
                      <a:pt x="1969" y="814"/>
                    </a:lnTo>
                    <a:lnTo>
                      <a:pt x="478" y="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099" name="Freeform 361"/>
              <p:cNvSpPr>
                <a:spLocks noChangeArrowheads="1"/>
              </p:cNvSpPr>
              <p:nvPr/>
            </p:nvSpPr>
            <p:spPr bwMode="auto">
              <a:xfrm>
                <a:off x="852" y="3789"/>
                <a:ext cx="889" cy="99"/>
              </a:xfrm>
              <a:custGeom>
                <a:avLst/>
                <a:gdLst>
                  <a:gd name="T0" fmla="*/ 54 w 1777"/>
                  <a:gd name="T1" fmla="*/ 52 h 297"/>
                  <a:gd name="T2" fmla="*/ 0 w 1777"/>
                  <a:gd name="T3" fmla="*/ 297 h 297"/>
                  <a:gd name="T4" fmla="*/ 1759 w 1777"/>
                  <a:gd name="T5" fmla="*/ 257 h 297"/>
                  <a:gd name="T6" fmla="*/ 1777 w 1777"/>
                  <a:gd name="T7" fmla="*/ 173 h 297"/>
                  <a:gd name="T8" fmla="*/ 1773 w 1777"/>
                  <a:gd name="T9" fmla="*/ 74 h 297"/>
                  <a:gd name="T10" fmla="*/ 1768 w 1777"/>
                  <a:gd name="T11" fmla="*/ 0 h 297"/>
                  <a:gd name="T12" fmla="*/ 54 w 1777"/>
                  <a:gd name="T13" fmla="*/ 52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77" h="297">
                    <a:moveTo>
                      <a:pt x="54" y="52"/>
                    </a:moveTo>
                    <a:lnTo>
                      <a:pt x="0" y="297"/>
                    </a:lnTo>
                    <a:lnTo>
                      <a:pt x="1759" y="257"/>
                    </a:lnTo>
                    <a:lnTo>
                      <a:pt x="1777" y="173"/>
                    </a:lnTo>
                    <a:lnTo>
                      <a:pt x="1773" y="74"/>
                    </a:lnTo>
                    <a:lnTo>
                      <a:pt x="1768" y="0"/>
                    </a:lnTo>
                    <a:lnTo>
                      <a:pt x="54" y="52"/>
                    </a:ln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100" name="Freeform 362"/>
              <p:cNvSpPr>
                <a:spLocks noChangeArrowheads="1"/>
              </p:cNvSpPr>
              <p:nvPr/>
            </p:nvSpPr>
            <p:spPr bwMode="auto">
              <a:xfrm>
                <a:off x="624" y="3519"/>
                <a:ext cx="256" cy="369"/>
              </a:xfrm>
              <a:custGeom>
                <a:avLst/>
                <a:gdLst>
                  <a:gd name="T0" fmla="*/ 37 w 513"/>
                  <a:gd name="T1" fmla="*/ 0 h 1106"/>
                  <a:gd name="T2" fmla="*/ 0 w 513"/>
                  <a:gd name="T3" fmla="*/ 200 h 1106"/>
                  <a:gd name="T4" fmla="*/ 457 w 513"/>
                  <a:gd name="T5" fmla="*/ 1106 h 1106"/>
                  <a:gd name="T6" fmla="*/ 513 w 513"/>
                  <a:gd name="T7" fmla="*/ 862 h 1106"/>
                  <a:gd name="T8" fmla="*/ 37 w 513"/>
                  <a:gd name="T9" fmla="*/ 0 h 1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3" h="1106">
                    <a:moveTo>
                      <a:pt x="37" y="0"/>
                    </a:moveTo>
                    <a:lnTo>
                      <a:pt x="0" y="200"/>
                    </a:lnTo>
                    <a:lnTo>
                      <a:pt x="457" y="1106"/>
                    </a:lnTo>
                    <a:lnTo>
                      <a:pt x="513" y="86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101" name="Freeform 363"/>
              <p:cNvSpPr>
                <a:spLocks noChangeArrowheads="1"/>
              </p:cNvSpPr>
              <p:nvPr/>
            </p:nvSpPr>
            <p:spPr bwMode="auto">
              <a:xfrm>
                <a:off x="1206" y="3791"/>
                <a:ext cx="132" cy="8"/>
              </a:xfrm>
              <a:custGeom>
                <a:avLst/>
                <a:gdLst>
                  <a:gd name="T0" fmla="*/ 2 w 262"/>
                  <a:gd name="T1" fmla="*/ 25 h 25"/>
                  <a:gd name="T2" fmla="*/ 0 w 262"/>
                  <a:gd name="T3" fmla="*/ 0 h 25"/>
                  <a:gd name="T4" fmla="*/ 249 w 262"/>
                  <a:gd name="T5" fmla="*/ 0 h 25"/>
                  <a:gd name="T6" fmla="*/ 262 w 262"/>
                  <a:gd name="T7" fmla="*/ 19 h 25"/>
                  <a:gd name="T8" fmla="*/ 2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2" y="25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62" y="19"/>
                    </a:lnTo>
                    <a:lnTo>
                      <a:pt x="2" y="25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102" name="Freeform 364"/>
              <p:cNvSpPr>
                <a:spLocks noChangeArrowheads="1"/>
              </p:cNvSpPr>
              <p:nvPr/>
            </p:nvSpPr>
            <p:spPr bwMode="auto">
              <a:xfrm>
                <a:off x="927" y="3521"/>
                <a:ext cx="281" cy="279"/>
              </a:xfrm>
              <a:custGeom>
                <a:avLst/>
                <a:gdLst>
                  <a:gd name="T0" fmla="*/ 557 w 561"/>
                  <a:gd name="T1" fmla="*/ 801 h 836"/>
                  <a:gd name="T2" fmla="*/ 0 w 561"/>
                  <a:gd name="T3" fmla="*/ 0 h 836"/>
                  <a:gd name="T4" fmla="*/ 561 w 561"/>
                  <a:gd name="T5" fmla="*/ 836 h 836"/>
                  <a:gd name="T6" fmla="*/ 557 w 561"/>
                  <a:gd name="T7" fmla="*/ 801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1" h="836">
                    <a:moveTo>
                      <a:pt x="557" y="801"/>
                    </a:moveTo>
                    <a:lnTo>
                      <a:pt x="0" y="0"/>
                    </a:lnTo>
                    <a:lnTo>
                      <a:pt x="561" y="836"/>
                    </a:lnTo>
                    <a:lnTo>
                      <a:pt x="557" y="801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2178103" name="Group 365"/>
              <p:cNvGrpSpPr>
                <a:grpSpLocks/>
              </p:cNvGrpSpPr>
              <p:nvPr/>
            </p:nvGrpSpPr>
            <p:grpSpPr bwMode="auto">
              <a:xfrm>
                <a:off x="700" y="3526"/>
                <a:ext cx="515" cy="270"/>
                <a:chOff x="700" y="3526"/>
                <a:chExt cx="515" cy="270"/>
              </a:xfrm>
            </p:grpSpPr>
            <p:grpSp>
              <p:nvGrpSpPr>
                <p:cNvPr id="2178104" name="Group 366"/>
                <p:cNvGrpSpPr>
                  <a:grpSpLocks/>
                </p:cNvGrpSpPr>
                <p:nvPr/>
              </p:nvGrpSpPr>
              <p:grpSpPr bwMode="auto">
                <a:xfrm>
                  <a:off x="737" y="3534"/>
                  <a:ext cx="49" cy="23"/>
                  <a:chOff x="737" y="3534"/>
                  <a:chExt cx="49" cy="23"/>
                </a:xfrm>
              </p:grpSpPr>
              <p:sp>
                <p:nvSpPr>
                  <p:cNvPr id="2178105" name="Freeform 367"/>
                  <p:cNvSpPr>
                    <a:spLocks noChangeArrowheads="1"/>
                  </p:cNvSpPr>
                  <p:nvPr/>
                </p:nvSpPr>
                <p:spPr bwMode="auto">
                  <a:xfrm>
                    <a:off x="737" y="3534"/>
                    <a:ext cx="11" cy="23"/>
                  </a:xfrm>
                  <a:custGeom>
                    <a:avLst/>
                    <a:gdLst>
                      <a:gd name="T0" fmla="*/ 13 w 22"/>
                      <a:gd name="T1" fmla="*/ 67 h 67"/>
                      <a:gd name="T2" fmla="*/ 0 w 22"/>
                      <a:gd name="T3" fmla="*/ 26 h 67"/>
                      <a:gd name="T4" fmla="*/ 9 w 22"/>
                      <a:gd name="T5" fmla="*/ 0 h 67"/>
                      <a:gd name="T6" fmla="*/ 22 w 22"/>
                      <a:gd name="T7" fmla="*/ 30 h 67"/>
                      <a:gd name="T8" fmla="*/ 13 w 22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7">
                        <a:moveTo>
                          <a:pt x="13" y="67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7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06" name="Freeform 368"/>
                  <p:cNvSpPr>
                    <a:spLocks noChangeArrowheads="1"/>
                  </p:cNvSpPr>
                  <p:nvPr/>
                </p:nvSpPr>
                <p:spPr bwMode="auto">
                  <a:xfrm>
                    <a:off x="742" y="3535"/>
                    <a:ext cx="36" cy="9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5 w 73"/>
                      <a:gd name="T7" fmla="*/ 11 h 29"/>
                      <a:gd name="T8" fmla="*/ 73 w 73"/>
                      <a:gd name="T9" fmla="*/ 29 h 29"/>
                      <a:gd name="T10" fmla="*/ 17 w 73"/>
                      <a:gd name="T11" fmla="*/ 29 h 29"/>
                      <a:gd name="T12" fmla="*/ 8 w 73"/>
                      <a:gd name="T13" fmla="*/ 20 h 29"/>
                      <a:gd name="T14" fmla="*/ 0 w 73"/>
                      <a:gd name="T15" fmla="*/ 6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5" y="11"/>
                        </a:lnTo>
                        <a:lnTo>
                          <a:pt x="73" y="29"/>
                        </a:lnTo>
                        <a:lnTo>
                          <a:pt x="17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07" name="Freeform 369"/>
                  <p:cNvSpPr>
                    <a:spLocks noChangeArrowheads="1"/>
                  </p:cNvSpPr>
                  <p:nvPr/>
                </p:nvSpPr>
                <p:spPr bwMode="auto">
                  <a:xfrm>
                    <a:off x="744" y="3545"/>
                    <a:ext cx="42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1 w 82"/>
                      <a:gd name="T3" fmla="*/ 19 h 35"/>
                      <a:gd name="T4" fmla="*/ 6 w 82"/>
                      <a:gd name="T5" fmla="*/ 7 h 35"/>
                      <a:gd name="T6" fmla="*/ 10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08" name="Group 370"/>
                <p:cNvGrpSpPr>
                  <a:grpSpLocks/>
                </p:cNvGrpSpPr>
                <p:nvPr/>
              </p:nvGrpSpPr>
              <p:grpSpPr bwMode="auto">
                <a:xfrm>
                  <a:off x="748" y="3547"/>
                  <a:ext cx="50" cy="23"/>
                  <a:chOff x="748" y="3547"/>
                  <a:chExt cx="50" cy="23"/>
                </a:xfrm>
              </p:grpSpPr>
              <p:sp>
                <p:nvSpPr>
                  <p:cNvPr id="2178109" name="Freeform 371"/>
                  <p:cNvSpPr>
                    <a:spLocks noChangeArrowheads="1"/>
                  </p:cNvSpPr>
                  <p:nvPr/>
                </p:nvSpPr>
                <p:spPr bwMode="auto">
                  <a:xfrm>
                    <a:off x="748" y="3547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10" name="Freeform 372"/>
                  <p:cNvSpPr>
                    <a:spLocks noChangeArrowheads="1"/>
                  </p:cNvSpPr>
                  <p:nvPr/>
                </p:nvSpPr>
                <p:spPr bwMode="auto">
                  <a:xfrm>
                    <a:off x="753" y="3548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11" name="Freeform 373"/>
                  <p:cNvSpPr>
                    <a:spLocks noChangeArrowheads="1"/>
                  </p:cNvSpPr>
                  <p:nvPr/>
                </p:nvSpPr>
                <p:spPr bwMode="auto">
                  <a:xfrm>
                    <a:off x="757" y="3558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0 h 36"/>
                      <a:gd name="T4" fmla="*/ 5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8112" name="Freeform 374"/>
                <p:cNvSpPr>
                  <a:spLocks noChangeArrowheads="1"/>
                </p:cNvSpPr>
                <p:nvPr/>
              </p:nvSpPr>
              <p:spPr bwMode="auto">
                <a:xfrm>
                  <a:off x="952" y="3538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113" name="Freeform 375"/>
                <p:cNvSpPr>
                  <a:spLocks noChangeArrowheads="1"/>
                </p:cNvSpPr>
                <p:nvPr/>
              </p:nvSpPr>
              <p:spPr bwMode="auto">
                <a:xfrm>
                  <a:off x="861" y="3535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114" name="Freeform 376"/>
                <p:cNvSpPr>
                  <a:spLocks noChangeArrowheads="1"/>
                </p:cNvSpPr>
                <p:nvPr/>
              </p:nvSpPr>
              <p:spPr bwMode="auto">
                <a:xfrm>
                  <a:off x="867" y="3535"/>
                  <a:ext cx="34" cy="10"/>
                </a:xfrm>
                <a:custGeom>
                  <a:avLst/>
                  <a:gdLst>
                    <a:gd name="T0" fmla="*/ 0 w 70"/>
                    <a:gd name="T1" fmla="*/ 0 h 30"/>
                    <a:gd name="T2" fmla="*/ 49 w 70"/>
                    <a:gd name="T3" fmla="*/ 0 h 30"/>
                    <a:gd name="T4" fmla="*/ 50 w 70"/>
                    <a:gd name="T5" fmla="*/ 3 h 30"/>
                    <a:gd name="T6" fmla="*/ 54 w 70"/>
                    <a:gd name="T7" fmla="*/ 13 h 30"/>
                    <a:gd name="T8" fmla="*/ 70 w 70"/>
                    <a:gd name="T9" fmla="*/ 30 h 30"/>
                    <a:gd name="T10" fmla="*/ 16 w 70"/>
                    <a:gd name="T11" fmla="*/ 30 h 30"/>
                    <a:gd name="T12" fmla="*/ 7 w 70"/>
                    <a:gd name="T13" fmla="*/ 21 h 30"/>
                    <a:gd name="T14" fmla="*/ 0 w 70"/>
                    <a:gd name="T15" fmla="*/ 7 h 30"/>
                    <a:gd name="T16" fmla="*/ 0 w 70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0" h="30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4" y="13"/>
                      </a:lnTo>
                      <a:lnTo>
                        <a:pt x="70" y="30"/>
                      </a:lnTo>
                      <a:lnTo>
                        <a:pt x="16" y="30"/>
                      </a:lnTo>
                      <a:lnTo>
                        <a:pt x="7" y="21"/>
                      </a:ln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115" name="Freeform 377"/>
                <p:cNvSpPr>
                  <a:spLocks noChangeArrowheads="1"/>
                </p:cNvSpPr>
                <p:nvPr/>
              </p:nvSpPr>
              <p:spPr bwMode="auto">
                <a:xfrm>
                  <a:off x="868" y="3545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116" name="Group 378"/>
                <p:cNvGrpSpPr>
                  <a:grpSpLocks/>
                </p:cNvGrpSpPr>
                <p:nvPr/>
              </p:nvGrpSpPr>
              <p:grpSpPr bwMode="auto">
                <a:xfrm>
                  <a:off x="872" y="3547"/>
                  <a:ext cx="50" cy="23"/>
                  <a:chOff x="872" y="3547"/>
                  <a:chExt cx="50" cy="23"/>
                </a:xfrm>
              </p:grpSpPr>
              <p:sp>
                <p:nvSpPr>
                  <p:cNvPr id="2178117" name="Freeform 379"/>
                  <p:cNvSpPr>
                    <a:spLocks noChangeArrowheads="1"/>
                  </p:cNvSpPr>
                  <p:nvPr/>
                </p:nvSpPr>
                <p:spPr bwMode="auto">
                  <a:xfrm>
                    <a:off x="872" y="3547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18" name="Freeform 380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547"/>
                    <a:ext cx="36" cy="10"/>
                  </a:xfrm>
                  <a:custGeom>
                    <a:avLst/>
                    <a:gdLst>
                      <a:gd name="T0" fmla="*/ 2 w 73"/>
                      <a:gd name="T1" fmla="*/ 0 h 30"/>
                      <a:gd name="T2" fmla="*/ 49 w 73"/>
                      <a:gd name="T3" fmla="*/ 0 h 30"/>
                      <a:gd name="T4" fmla="*/ 50 w 73"/>
                      <a:gd name="T5" fmla="*/ 3 h 30"/>
                      <a:gd name="T6" fmla="*/ 57 w 73"/>
                      <a:gd name="T7" fmla="*/ 12 h 30"/>
                      <a:gd name="T8" fmla="*/ 73 w 73"/>
                      <a:gd name="T9" fmla="*/ 30 h 30"/>
                      <a:gd name="T10" fmla="*/ 19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2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3"/>
                        </a:lnTo>
                        <a:lnTo>
                          <a:pt x="57" y="12"/>
                        </a:lnTo>
                        <a:lnTo>
                          <a:pt x="73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19" name="Freeform 381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558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20" name="Group 382"/>
                <p:cNvGrpSpPr>
                  <a:grpSpLocks/>
                </p:cNvGrpSpPr>
                <p:nvPr/>
              </p:nvGrpSpPr>
              <p:grpSpPr bwMode="auto">
                <a:xfrm>
                  <a:off x="885" y="3559"/>
                  <a:ext cx="50" cy="23"/>
                  <a:chOff x="885" y="3559"/>
                  <a:chExt cx="50" cy="23"/>
                </a:xfrm>
              </p:grpSpPr>
              <p:sp>
                <p:nvSpPr>
                  <p:cNvPr id="2178121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885" y="3559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22" name="Freeform 384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560"/>
                    <a:ext cx="37" cy="10"/>
                  </a:xfrm>
                  <a:custGeom>
                    <a:avLst/>
                    <a:gdLst>
                      <a:gd name="T0" fmla="*/ 3 w 74"/>
                      <a:gd name="T1" fmla="*/ 0 h 30"/>
                      <a:gd name="T2" fmla="*/ 49 w 74"/>
                      <a:gd name="T3" fmla="*/ 0 h 30"/>
                      <a:gd name="T4" fmla="*/ 52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0 w 74"/>
                      <a:gd name="T13" fmla="*/ 21 h 30"/>
                      <a:gd name="T14" fmla="*/ 0 w 74"/>
                      <a:gd name="T15" fmla="*/ 6 h 30"/>
                      <a:gd name="T16" fmla="*/ 3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23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570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24" name="Group 386"/>
                <p:cNvGrpSpPr>
                  <a:grpSpLocks/>
                </p:cNvGrpSpPr>
                <p:nvPr/>
              </p:nvGrpSpPr>
              <p:grpSpPr bwMode="auto">
                <a:xfrm>
                  <a:off x="898" y="3571"/>
                  <a:ext cx="49" cy="23"/>
                  <a:chOff x="898" y="3571"/>
                  <a:chExt cx="49" cy="23"/>
                </a:xfrm>
              </p:grpSpPr>
              <p:sp>
                <p:nvSpPr>
                  <p:cNvPr id="2178125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898" y="3571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26" name="Freeform 38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572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11 w 75"/>
                      <a:gd name="T13" fmla="*/ 20 h 29"/>
                      <a:gd name="T14" fmla="*/ 0 w 75"/>
                      <a:gd name="T15" fmla="*/ 5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27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82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28" name="Group 390"/>
                <p:cNvGrpSpPr>
                  <a:grpSpLocks/>
                </p:cNvGrpSpPr>
                <p:nvPr/>
              </p:nvGrpSpPr>
              <p:grpSpPr bwMode="auto">
                <a:xfrm>
                  <a:off x="911" y="3585"/>
                  <a:ext cx="49" cy="23"/>
                  <a:chOff x="911" y="3585"/>
                  <a:chExt cx="49" cy="23"/>
                </a:xfrm>
              </p:grpSpPr>
              <p:sp>
                <p:nvSpPr>
                  <p:cNvPr id="2178129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585"/>
                    <a:ext cx="12" cy="23"/>
                  </a:xfrm>
                  <a:custGeom>
                    <a:avLst/>
                    <a:gdLst>
                      <a:gd name="T0" fmla="*/ 15 w 24"/>
                      <a:gd name="T1" fmla="*/ 69 h 69"/>
                      <a:gd name="T2" fmla="*/ 0 w 24"/>
                      <a:gd name="T3" fmla="*/ 27 h 69"/>
                      <a:gd name="T4" fmla="*/ 10 w 24"/>
                      <a:gd name="T5" fmla="*/ 0 h 69"/>
                      <a:gd name="T6" fmla="*/ 24 w 24"/>
                      <a:gd name="T7" fmla="*/ 32 h 69"/>
                      <a:gd name="T8" fmla="*/ 15 w 24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30" name="Freeform 392"/>
                  <p:cNvSpPr>
                    <a:spLocks noChangeArrowheads="1"/>
                  </p:cNvSpPr>
                  <p:nvPr/>
                </p:nvSpPr>
                <p:spPr bwMode="auto">
                  <a:xfrm>
                    <a:off x="915" y="3585"/>
                    <a:ext cx="38" cy="10"/>
                  </a:xfrm>
                  <a:custGeom>
                    <a:avLst/>
                    <a:gdLst>
                      <a:gd name="T0" fmla="*/ 3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1 h 30"/>
                      <a:gd name="T14" fmla="*/ 0 w 75"/>
                      <a:gd name="T15" fmla="*/ 6 h 30"/>
                      <a:gd name="T16" fmla="*/ 3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1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31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59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32" name="Group 394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99" cy="73"/>
                  <a:chOff x="923" y="3600"/>
                  <a:chExt cx="99" cy="73"/>
                </a:xfrm>
              </p:grpSpPr>
              <p:grpSp>
                <p:nvGrpSpPr>
                  <p:cNvPr id="2178133" name="Group 395"/>
                  <p:cNvGrpSpPr>
                    <a:grpSpLocks/>
                  </p:cNvGrpSpPr>
                  <p:nvPr/>
                </p:nvGrpSpPr>
                <p:grpSpPr bwMode="auto">
                  <a:xfrm>
                    <a:off x="923" y="3600"/>
                    <a:ext cx="49" cy="23"/>
                    <a:chOff x="923" y="3600"/>
                    <a:chExt cx="49" cy="23"/>
                  </a:xfrm>
                </p:grpSpPr>
                <p:sp>
                  <p:nvSpPr>
                    <p:cNvPr id="2178134" name="Freeform 3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3" y="3600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0 h 69"/>
                        <a:gd name="T8" fmla="*/ 13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3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0"/>
                          </a:lnTo>
                          <a:lnTo>
                            <a:pt x="13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35" name="Freeform 3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00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29"/>
                        <a:gd name="T2" fmla="*/ 50 w 75"/>
                        <a:gd name="T3" fmla="*/ 0 h 29"/>
                        <a:gd name="T4" fmla="*/ 52 w 75"/>
                        <a:gd name="T5" fmla="*/ 3 h 29"/>
                        <a:gd name="T6" fmla="*/ 57 w 75"/>
                        <a:gd name="T7" fmla="*/ 12 h 29"/>
                        <a:gd name="T8" fmla="*/ 75 w 75"/>
                        <a:gd name="T9" fmla="*/ 29 h 29"/>
                        <a:gd name="T10" fmla="*/ 19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6 h 29"/>
                        <a:gd name="T16" fmla="*/ 2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2"/>
                          </a:lnTo>
                          <a:lnTo>
                            <a:pt x="75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36" name="Freeform 3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0" y="3610"/>
                      <a:ext cx="42" cy="13"/>
                    </a:xfrm>
                    <a:custGeom>
                      <a:avLst/>
                      <a:gdLst>
                        <a:gd name="T0" fmla="*/ 0 w 82"/>
                        <a:gd name="T1" fmla="*/ 37 h 37"/>
                        <a:gd name="T2" fmla="*/ 2 w 82"/>
                        <a:gd name="T3" fmla="*/ 22 h 37"/>
                        <a:gd name="T4" fmla="*/ 7 w 82"/>
                        <a:gd name="T5" fmla="*/ 7 h 37"/>
                        <a:gd name="T6" fmla="*/ 13 w 82"/>
                        <a:gd name="T7" fmla="*/ 0 h 37"/>
                        <a:gd name="T8" fmla="*/ 69 w 82"/>
                        <a:gd name="T9" fmla="*/ 0 h 37"/>
                        <a:gd name="T10" fmla="*/ 82 w 82"/>
                        <a:gd name="T11" fmla="*/ 37 h 37"/>
                        <a:gd name="T12" fmla="*/ 0 w 82"/>
                        <a:gd name="T13" fmla="*/ 37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7">
                          <a:moveTo>
                            <a:pt x="0" y="37"/>
                          </a:moveTo>
                          <a:lnTo>
                            <a:pt x="2" y="22"/>
                          </a:lnTo>
                          <a:lnTo>
                            <a:pt x="7" y="7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2" y="37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37" name="Group 399"/>
                  <p:cNvGrpSpPr>
                    <a:grpSpLocks/>
                  </p:cNvGrpSpPr>
                  <p:nvPr/>
                </p:nvGrpSpPr>
                <p:grpSpPr bwMode="auto">
                  <a:xfrm>
                    <a:off x="935" y="3612"/>
                    <a:ext cx="48" cy="23"/>
                    <a:chOff x="935" y="3612"/>
                    <a:chExt cx="48" cy="23"/>
                  </a:xfrm>
                </p:grpSpPr>
                <p:sp>
                  <p:nvSpPr>
                    <p:cNvPr id="2178138" name="Freeform 4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5" y="3612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39" name="Freeform 4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9" y="3612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3 w 75"/>
                        <a:gd name="T5" fmla="*/ 3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3" y="3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40" name="Freeform 4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3" y="3623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2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41" name="Group 403"/>
                  <p:cNvGrpSpPr>
                    <a:grpSpLocks/>
                  </p:cNvGrpSpPr>
                  <p:nvPr/>
                </p:nvGrpSpPr>
                <p:grpSpPr bwMode="auto">
                  <a:xfrm>
                    <a:off x="947" y="3625"/>
                    <a:ext cx="50" cy="22"/>
                    <a:chOff x="947" y="3625"/>
                    <a:chExt cx="50" cy="22"/>
                  </a:xfrm>
                </p:grpSpPr>
                <p:sp>
                  <p:nvSpPr>
                    <p:cNvPr id="2178142" name="Freeform 4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7" y="3625"/>
                      <a:ext cx="13" cy="22"/>
                    </a:xfrm>
                    <a:custGeom>
                      <a:avLst/>
                      <a:gdLst>
                        <a:gd name="T0" fmla="*/ 14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4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43" name="Freeform 4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625"/>
                      <a:ext cx="36" cy="10"/>
                    </a:xfrm>
                    <a:custGeom>
                      <a:avLst/>
                      <a:gdLst>
                        <a:gd name="T0" fmla="*/ 2 w 73"/>
                        <a:gd name="T1" fmla="*/ 0 h 29"/>
                        <a:gd name="T2" fmla="*/ 50 w 73"/>
                        <a:gd name="T3" fmla="*/ 0 h 29"/>
                        <a:gd name="T4" fmla="*/ 51 w 73"/>
                        <a:gd name="T5" fmla="*/ 2 h 29"/>
                        <a:gd name="T6" fmla="*/ 57 w 73"/>
                        <a:gd name="T7" fmla="*/ 11 h 29"/>
                        <a:gd name="T8" fmla="*/ 73 w 73"/>
                        <a:gd name="T9" fmla="*/ 29 h 29"/>
                        <a:gd name="T10" fmla="*/ 19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5 h 29"/>
                        <a:gd name="T16" fmla="*/ 2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7" y="11"/>
                          </a:lnTo>
                          <a:lnTo>
                            <a:pt x="73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44" name="Freeform 4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5" y="3635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3 w 83"/>
                        <a:gd name="T3" fmla="*/ 20 h 36"/>
                        <a:gd name="T4" fmla="*/ 7 w 83"/>
                        <a:gd name="T5" fmla="*/ 8 h 36"/>
                        <a:gd name="T6" fmla="*/ 12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3" y="20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45" name="Group 407"/>
                  <p:cNvGrpSpPr>
                    <a:grpSpLocks/>
                  </p:cNvGrpSpPr>
                  <p:nvPr/>
                </p:nvGrpSpPr>
                <p:grpSpPr bwMode="auto">
                  <a:xfrm>
                    <a:off x="960" y="3637"/>
                    <a:ext cx="50" cy="23"/>
                    <a:chOff x="960" y="3637"/>
                    <a:chExt cx="50" cy="23"/>
                  </a:xfrm>
                </p:grpSpPr>
                <p:sp>
                  <p:nvSpPr>
                    <p:cNvPr id="2178146" name="Freeform 4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0" y="3637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7 h 69"/>
                        <a:gd name="T4" fmla="*/ 12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7"/>
                          </a:lnTo>
                          <a:lnTo>
                            <a:pt x="12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47" name="Freeform 4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5" y="3638"/>
                      <a:ext cx="37" cy="9"/>
                    </a:xfrm>
                    <a:custGeom>
                      <a:avLst/>
                      <a:gdLst>
                        <a:gd name="T0" fmla="*/ 3 w 74"/>
                        <a:gd name="T1" fmla="*/ 0 h 29"/>
                        <a:gd name="T2" fmla="*/ 49 w 74"/>
                        <a:gd name="T3" fmla="*/ 0 h 29"/>
                        <a:gd name="T4" fmla="*/ 53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9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5 h 29"/>
                        <a:gd name="T16" fmla="*/ 3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3" y="0"/>
                          </a:moveTo>
                          <a:lnTo>
                            <a:pt x="49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9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48" name="Freeform 4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8" y="3648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1 w 83"/>
                        <a:gd name="T3" fmla="*/ 19 h 35"/>
                        <a:gd name="T4" fmla="*/ 6 w 83"/>
                        <a:gd name="T5" fmla="*/ 7 h 35"/>
                        <a:gd name="T6" fmla="*/ 10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1" y="19"/>
                          </a:lnTo>
                          <a:lnTo>
                            <a:pt x="6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49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973" y="3650"/>
                    <a:ext cx="49" cy="23"/>
                    <a:chOff x="973" y="3650"/>
                    <a:chExt cx="49" cy="23"/>
                  </a:xfrm>
                </p:grpSpPr>
                <p:sp>
                  <p:nvSpPr>
                    <p:cNvPr id="2178150" name="Freeform 4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3" y="3650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6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6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51" name="Freeform 4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8" y="3651"/>
                      <a:ext cx="37" cy="10"/>
                    </a:xfrm>
                    <a:custGeom>
                      <a:avLst/>
                      <a:gdLst>
                        <a:gd name="T0" fmla="*/ 2 w 74"/>
                        <a:gd name="T1" fmla="*/ 0 h 29"/>
                        <a:gd name="T2" fmla="*/ 49 w 74"/>
                        <a:gd name="T3" fmla="*/ 0 h 29"/>
                        <a:gd name="T4" fmla="*/ 50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9 w 74"/>
                        <a:gd name="T11" fmla="*/ 29 h 29"/>
                        <a:gd name="T12" fmla="*/ 10 w 74"/>
                        <a:gd name="T13" fmla="*/ 20 h 29"/>
                        <a:gd name="T14" fmla="*/ 0 w 74"/>
                        <a:gd name="T15" fmla="*/ 5 h 29"/>
                        <a:gd name="T16" fmla="*/ 2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2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9" y="29"/>
                          </a:lnTo>
                          <a:lnTo>
                            <a:pt x="10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52" name="Freeform 4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366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0 h 36"/>
                        <a:gd name="T4" fmla="*/ 5 w 82"/>
                        <a:gd name="T5" fmla="*/ 8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5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153" name="Group 415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100" cy="73"/>
                  <a:chOff x="985" y="3665"/>
                  <a:chExt cx="100" cy="73"/>
                </a:xfrm>
              </p:grpSpPr>
              <p:grpSp>
                <p:nvGrpSpPr>
                  <p:cNvPr id="2178154" name="Group 416"/>
                  <p:cNvGrpSpPr>
                    <a:grpSpLocks/>
                  </p:cNvGrpSpPr>
                  <p:nvPr/>
                </p:nvGrpSpPr>
                <p:grpSpPr bwMode="auto">
                  <a:xfrm>
                    <a:off x="985" y="3665"/>
                    <a:ext cx="50" cy="23"/>
                    <a:chOff x="985" y="3665"/>
                    <a:chExt cx="50" cy="23"/>
                  </a:xfrm>
                </p:grpSpPr>
                <p:sp>
                  <p:nvSpPr>
                    <p:cNvPr id="2178155" name="Freeform 4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5" y="3665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56" name="Freeform 4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9" y="3665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57" name="Freeform 4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3" y="367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20 h 36"/>
                        <a:gd name="T4" fmla="*/ 6 w 83"/>
                        <a:gd name="T5" fmla="*/ 8 h 36"/>
                        <a:gd name="T6" fmla="*/ 10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6" y="8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58" name="Group 420"/>
                  <p:cNvGrpSpPr>
                    <a:grpSpLocks/>
                  </p:cNvGrpSpPr>
                  <p:nvPr/>
                </p:nvGrpSpPr>
                <p:grpSpPr bwMode="auto">
                  <a:xfrm>
                    <a:off x="997" y="3677"/>
                    <a:ext cx="49" cy="23"/>
                    <a:chOff x="997" y="3677"/>
                    <a:chExt cx="49" cy="23"/>
                  </a:xfrm>
                </p:grpSpPr>
                <p:sp>
                  <p:nvSpPr>
                    <p:cNvPr id="2178159" name="Freeform 4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3677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1 h 69"/>
                        <a:gd name="T8" fmla="*/ 13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3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3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0" name="Freeform 4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2" y="3678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50 w 73"/>
                        <a:gd name="T3" fmla="*/ 0 h 30"/>
                        <a:gd name="T4" fmla="*/ 51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10 w 73"/>
                        <a:gd name="T13" fmla="*/ 21 h 30"/>
                        <a:gd name="T14" fmla="*/ 0 w 73"/>
                        <a:gd name="T15" fmla="*/ 7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10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1" name="Freeform 4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5" y="3688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7 h 37"/>
                        <a:gd name="T2" fmla="*/ 4 w 83"/>
                        <a:gd name="T3" fmla="*/ 19 h 37"/>
                        <a:gd name="T4" fmla="*/ 8 w 83"/>
                        <a:gd name="T5" fmla="*/ 8 h 37"/>
                        <a:gd name="T6" fmla="*/ 13 w 83"/>
                        <a:gd name="T7" fmla="*/ 0 h 37"/>
                        <a:gd name="T8" fmla="*/ 68 w 83"/>
                        <a:gd name="T9" fmla="*/ 0 h 37"/>
                        <a:gd name="T10" fmla="*/ 83 w 83"/>
                        <a:gd name="T11" fmla="*/ 37 h 37"/>
                        <a:gd name="T12" fmla="*/ 0 w 83"/>
                        <a:gd name="T13" fmla="*/ 37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7">
                          <a:moveTo>
                            <a:pt x="0" y="37"/>
                          </a:moveTo>
                          <a:lnTo>
                            <a:pt x="4" y="19"/>
                          </a:lnTo>
                          <a:lnTo>
                            <a:pt x="8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7"/>
                          </a:lnTo>
                          <a:lnTo>
                            <a:pt x="0" y="3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62" name="Group 424"/>
                  <p:cNvGrpSpPr>
                    <a:grpSpLocks/>
                  </p:cNvGrpSpPr>
                  <p:nvPr/>
                </p:nvGrpSpPr>
                <p:grpSpPr bwMode="auto">
                  <a:xfrm>
                    <a:off x="1010" y="3690"/>
                    <a:ext cx="48" cy="23"/>
                    <a:chOff x="1010" y="3690"/>
                    <a:chExt cx="48" cy="23"/>
                  </a:xfrm>
                </p:grpSpPr>
                <p:sp>
                  <p:nvSpPr>
                    <p:cNvPr id="2178163" name="Freeform 4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0" y="3690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4" name="Freeform 4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3690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3 h 31"/>
                        <a:gd name="T6" fmla="*/ 56 w 75"/>
                        <a:gd name="T7" fmla="*/ 12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6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5" name="Freeform 4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8" y="370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5 h 35"/>
                        <a:gd name="T2" fmla="*/ 2 w 82"/>
                        <a:gd name="T3" fmla="*/ 19 h 35"/>
                        <a:gd name="T4" fmla="*/ 8 w 82"/>
                        <a:gd name="T5" fmla="*/ 7 h 35"/>
                        <a:gd name="T6" fmla="*/ 12 w 82"/>
                        <a:gd name="T7" fmla="*/ 0 h 35"/>
                        <a:gd name="T8" fmla="*/ 69 w 82"/>
                        <a:gd name="T9" fmla="*/ 0 h 35"/>
                        <a:gd name="T10" fmla="*/ 82 w 82"/>
                        <a:gd name="T11" fmla="*/ 35 h 35"/>
                        <a:gd name="T12" fmla="*/ 0 w 82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5">
                          <a:moveTo>
                            <a:pt x="0" y="35"/>
                          </a:moveTo>
                          <a:lnTo>
                            <a:pt x="2" y="19"/>
                          </a:lnTo>
                          <a:lnTo>
                            <a:pt x="8" y="7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66" name="Group 428"/>
                  <p:cNvGrpSpPr>
                    <a:grpSpLocks/>
                  </p:cNvGrpSpPr>
                  <p:nvPr/>
                </p:nvGrpSpPr>
                <p:grpSpPr bwMode="auto">
                  <a:xfrm>
                    <a:off x="1023" y="3703"/>
                    <a:ext cx="49" cy="22"/>
                    <a:chOff x="1023" y="3703"/>
                    <a:chExt cx="49" cy="22"/>
                  </a:xfrm>
                </p:grpSpPr>
                <p:sp>
                  <p:nvSpPr>
                    <p:cNvPr id="2178167" name="Freeform 4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3" y="3703"/>
                      <a:ext cx="12" cy="22"/>
                    </a:xfrm>
                    <a:custGeom>
                      <a:avLst/>
                      <a:gdLst>
                        <a:gd name="T0" fmla="*/ 13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0 h 68"/>
                        <a:gd name="T8" fmla="*/ 13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0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8" name="Freeform 4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8" y="3703"/>
                      <a:ext cx="37" cy="10"/>
                    </a:xfrm>
                    <a:custGeom>
                      <a:avLst/>
                      <a:gdLst>
                        <a:gd name="T0" fmla="*/ 1 w 75"/>
                        <a:gd name="T1" fmla="*/ 0 h 29"/>
                        <a:gd name="T2" fmla="*/ 50 w 75"/>
                        <a:gd name="T3" fmla="*/ 0 h 29"/>
                        <a:gd name="T4" fmla="*/ 51 w 75"/>
                        <a:gd name="T5" fmla="*/ 2 h 29"/>
                        <a:gd name="T6" fmla="*/ 57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5 h 29"/>
                        <a:gd name="T16" fmla="*/ 1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7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69" name="Freeform 4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0" y="3713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3 w 83"/>
                        <a:gd name="T3" fmla="*/ 19 h 36"/>
                        <a:gd name="T4" fmla="*/ 7 w 83"/>
                        <a:gd name="T5" fmla="*/ 7 h 36"/>
                        <a:gd name="T6" fmla="*/ 13 w 83"/>
                        <a:gd name="T7" fmla="*/ 0 h 36"/>
                        <a:gd name="T8" fmla="*/ 70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3" y="19"/>
                          </a:lnTo>
                          <a:lnTo>
                            <a:pt x="7" y="7"/>
                          </a:lnTo>
                          <a:lnTo>
                            <a:pt x="13" y="0"/>
                          </a:lnTo>
                          <a:lnTo>
                            <a:pt x="70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170" name="Group 432"/>
                  <p:cNvGrpSpPr>
                    <a:grpSpLocks/>
                  </p:cNvGrpSpPr>
                  <p:nvPr/>
                </p:nvGrpSpPr>
                <p:grpSpPr bwMode="auto">
                  <a:xfrm>
                    <a:off x="1036" y="3716"/>
                    <a:ext cx="49" cy="22"/>
                    <a:chOff x="1036" y="3716"/>
                    <a:chExt cx="49" cy="22"/>
                  </a:xfrm>
                </p:grpSpPr>
                <p:sp>
                  <p:nvSpPr>
                    <p:cNvPr id="2178171" name="Freeform 4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6" y="3716"/>
                      <a:ext cx="11" cy="22"/>
                    </a:xfrm>
                    <a:custGeom>
                      <a:avLst/>
                      <a:gdLst>
                        <a:gd name="T0" fmla="*/ 13 w 22"/>
                        <a:gd name="T1" fmla="*/ 68 h 68"/>
                        <a:gd name="T2" fmla="*/ 0 w 22"/>
                        <a:gd name="T3" fmla="*/ 27 h 68"/>
                        <a:gd name="T4" fmla="*/ 9 w 22"/>
                        <a:gd name="T5" fmla="*/ 0 h 68"/>
                        <a:gd name="T6" fmla="*/ 22 w 22"/>
                        <a:gd name="T7" fmla="*/ 31 h 68"/>
                        <a:gd name="T8" fmla="*/ 13 w 22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2" y="31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72" name="Freeform 4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0" y="3716"/>
                      <a:ext cx="37" cy="10"/>
                    </a:xfrm>
                    <a:custGeom>
                      <a:avLst/>
                      <a:gdLst>
                        <a:gd name="T0" fmla="*/ 3 w 75"/>
                        <a:gd name="T1" fmla="*/ 0 h 29"/>
                        <a:gd name="T2" fmla="*/ 51 w 75"/>
                        <a:gd name="T3" fmla="*/ 0 h 29"/>
                        <a:gd name="T4" fmla="*/ 53 w 75"/>
                        <a:gd name="T5" fmla="*/ 2 h 29"/>
                        <a:gd name="T6" fmla="*/ 57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5 h 29"/>
                        <a:gd name="T16" fmla="*/ 3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3" y="0"/>
                          </a:moveTo>
                          <a:lnTo>
                            <a:pt x="51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173" name="Freeform 4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3" y="3726"/>
                      <a:ext cx="42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0 h 36"/>
                        <a:gd name="T4" fmla="*/ 6 w 82"/>
                        <a:gd name="T5" fmla="*/ 8 h 36"/>
                        <a:gd name="T6" fmla="*/ 10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0"/>
                          </a:lnTo>
                          <a:lnTo>
                            <a:pt x="6" y="8"/>
                          </a:lnTo>
                          <a:lnTo>
                            <a:pt x="10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174" name="Group 436"/>
                <p:cNvGrpSpPr>
                  <a:grpSpLocks/>
                </p:cNvGrpSpPr>
                <p:nvPr/>
              </p:nvGrpSpPr>
              <p:grpSpPr bwMode="auto">
                <a:xfrm>
                  <a:off x="1046" y="3727"/>
                  <a:ext cx="49" cy="23"/>
                  <a:chOff x="1046" y="3727"/>
                  <a:chExt cx="49" cy="23"/>
                </a:xfrm>
              </p:grpSpPr>
              <p:sp>
                <p:nvSpPr>
                  <p:cNvPr id="2178175" name="Freeform 437"/>
                  <p:cNvSpPr>
                    <a:spLocks noChangeArrowheads="1"/>
                  </p:cNvSpPr>
                  <p:nvPr/>
                </p:nvSpPr>
                <p:spPr bwMode="auto">
                  <a:xfrm>
                    <a:off x="1046" y="3727"/>
                    <a:ext cx="12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2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76" name="Freeform 438"/>
                  <p:cNvSpPr>
                    <a:spLocks noChangeArrowheads="1"/>
                  </p:cNvSpPr>
                  <p:nvPr/>
                </p:nvSpPr>
                <p:spPr bwMode="auto">
                  <a:xfrm>
                    <a:off x="1051" y="3727"/>
                    <a:ext cx="36" cy="11"/>
                  </a:xfrm>
                  <a:custGeom>
                    <a:avLst/>
                    <a:gdLst>
                      <a:gd name="T0" fmla="*/ 2 w 73"/>
                      <a:gd name="T1" fmla="*/ 0 h 31"/>
                      <a:gd name="T2" fmla="*/ 49 w 73"/>
                      <a:gd name="T3" fmla="*/ 0 h 31"/>
                      <a:gd name="T4" fmla="*/ 50 w 73"/>
                      <a:gd name="T5" fmla="*/ 4 h 31"/>
                      <a:gd name="T6" fmla="*/ 57 w 73"/>
                      <a:gd name="T7" fmla="*/ 13 h 31"/>
                      <a:gd name="T8" fmla="*/ 73 w 73"/>
                      <a:gd name="T9" fmla="*/ 31 h 31"/>
                      <a:gd name="T10" fmla="*/ 17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6 h 31"/>
                      <a:gd name="T16" fmla="*/ 2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4"/>
                        </a:lnTo>
                        <a:lnTo>
                          <a:pt x="57" y="13"/>
                        </a:lnTo>
                        <a:lnTo>
                          <a:pt x="73" y="31"/>
                        </a:lnTo>
                        <a:lnTo>
                          <a:pt x="17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77" name="Freeform 439"/>
                  <p:cNvSpPr>
                    <a:spLocks noChangeArrowheads="1"/>
                  </p:cNvSpPr>
                  <p:nvPr/>
                </p:nvSpPr>
                <p:spPr bwMode="auto">
                  <a:xfrm>
                    <a:off x="1054" y="3738"/>
                    <a:ext cx="41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1 w 82"/>
                      <a:gd name="T3" fmla="*/ 19 h 35"/>
                      <a:gd name="T4" fmla="*/ 6 w 82"/>
                      <a:gd name="T5" fmla="*/ 6 h 35"/>
                      <a:gd name="T6" fmla="*/ 10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78" name="Group 440"/>
                <p:cNvGrpSpPr>
                  <a:grpSpLocks/>
                </p:cNvGrpSpPr>
                <p:nvPr/>
              </p:nvGrpSpPr>
              <p:grpSpPr bwMode="auto">
                <a:xfrm>
                  <a:off x="1058" y="3739"/>
                  <a:ext cx="50" cy="23"/>
                  <a:chOff x="1058" y="3739"/>
                  <a:chExt cx="50" cy="23"/>
                </a:xfrm>
              </p:grpSpPr>
              <p:sp>
                <p:nvSpPr>
                  <p:cNvPr id="2178179" name="Freeform 441"/>
                  <p:cNvSpPr>
                    <a:spLocks noChangeArrowheads="1"/>
                  </p:cNvSpPr>
                  <p:nvPr/>
                </p:nvSpPr>
                <p:spPr bwMode="auto">
                  <a:xfrm>
                    <a:off x="1058" y="3739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80" name="Freeform 442"/>
                  <p:cNvSpPr>
                    <a:spLocks noChangeArrowheads="1"/>
                  </p:cNvSpPr>
                  <p:nvPr/>
                </p:nvSpPr>
                <p:spPr bwMode="auto">
                  <a:xfrm>
                    <a:off x="1063" y="3740"/>
                    <a:ext cx="37" cy="10"/>
                  </a:xfrm>
                  <a:custGeom>
                    <a:avLst/>
                    <a:gdLst>
                      <a:gd name="T0" fmla="*/ 3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8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11 w 75"/>
                      <a:gd name="T13" fmla="*/ 21 h 30"/>
                      <a:gd name="T14" fmla="*/ 0 w 75"/>
                      <a:gd name="T15" fmla="*/ 7 h 30"/>
                      <a:gd name="T16" fmla="*/ 3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3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8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11" y="21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81" name="Freeform 443"/>
                  <p:cNvSpPr>
                    <a:spLocks noChangeArrowheads="1"/>
                  </p:cNvSpPr>
                  <p:nvPr/>
                </p:nvSpPr>
                <p:spPr bwMode="auto">
                  <a:xfrm>
                    <a:off x="1067" y="3750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82" name="Group 444"/>
                <p:cNvGrpSpPr>
                  <a:grpSpLocks/>
                </p:cNvGrpSpPr>
                <p:nvPr/>
              </p:nvGrpSpPr>
              <p:grpSpPr bwMode="auto">
                <a:xfrm>
                  <a:off x="1072" y="3753"/>
                  <a:ext cx="48" cy="22"/>
                  <a:chOff x="1072" y="3753"/>
                  <a:chExt cx="48" cy="22"/>
                </a:xfrm>
              </p:grpSpPr>
              <p:sp>
                <p:nvSpPr>
                  <p:cNvPr id="2178183" name="Freeform 445"/>
                  <p:cNvSpPr>
                    <a:spLocks noChangeArrowheads="1"/>
                  </p:cNvSpPr>
                  <p:nvPr/>
                </p:nvSpPr>
                <p:spPr bwMode="auto">
                  <a:xfrm>
                    <a:off x="1072" y="3753"/>
                    <a:ext cx="11" cy="22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9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84" name="Freeform 446"/>
                  <p:cNvSpPr>
                    <a:spLocks noChangeArrowheads="1"/>
                  </p:cNvSpPr>
                  <p:nvPr/>
                </p:nvSpPr>
                <p:spPr bwMode="auto">
                  <a:xfrm>
                    <a:off x="1076" y="3753"/>
                    <a:ext cx="37" cy="10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50 w 74"/>
                      <a:gd name="T3" fmla="*/ 0 h 31"/>
                      <a:gd name="T4" fmla="*/ 52 w 74"/>
                      <a:gd name="T5" fmla="*/ 4 h 31"/>
                      <a:gd name="T6" fmla="*/ 57 w 74"/>
                      <a:gd name="T7" fmla="*/ 13 h 31"/>
                      <a:gd name="T8" fmla="*/ 74 w 74"/>
                      <a:gd name="T9" fmla="*/ 31 h 31"/>
                      <a:gd name="T10" fmla="*/ 19 w 74"/>
                      <a:gd name="T11" fmla="*/ 31 h 31"/>
                      <a:gd name="T12" fmla="*/ 11 w 74"/>
                      <a:gd name="T13" fmla="*/ 20 h 31"/>
                      <a:gd name="T14" fmla="*/ 0 w 74"/>
                      <a:gd name="T15" fmla="*/ 6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4" y="31"/>
                        </a:lnTo>
                        <a:lnTo>
                          <a:pt x="19" y="31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85" name="Freeform 447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6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3 w 81"/>
                      <a:gd name="T3" fmla="*/ 20 h 36"/>
                      <a:gd name="T4" fmla="*/ 6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8186" name="Freeform 448"/>
                <p:cNvSpPr>
                  <a:spLocks noChangeArrowheads="1"/>
                </p:cNvSpPr>
                <p:nvPr/>
              </p:nvSpPr>
              <p:spPr bwMode="auto">
                <a:xfrm>
                  <a:off x="820" y="3535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9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187" name="Freeform 449"/>
                <p:cNvSpPr>
                  <a:spLocks noChangeArrowheads="1"/>
                </p:cNvSpPr>
                <p:nvPr/>
              </p:nvSpPr>
              <p:spPr bwMode="auto">
                <a:xfrm>
                  <a:off x="825" y="3535"/>
                  <a:ext cx="36" cy="9"/>
                </a:xfrm>
                <a:custGeom>
                  <a:avLst/>
                  <a:gdLst>
                    <a:gd name="T0" fmla="*/ 0 w 71"/>
                    <a:gd name="T1" fmla="*/ 0 h 27"/>
                    <a:gd name="T2" fmla="*/ 49 w 71"/>
                    <a:gd name="T3" fmla="*/ 0 h 27"/>
                    <a:gd name="T4" fmla="*/ 51 w 71"/>
                    <a:gd name="T5" fmla="*/ 2 h 27"/>
                    <a:gd name="T6" fmla="*/ 55 w 71"/>
                    <a:gd name="T7" fmla="*/ 12 h 27"/>
                    <a:gd name="T8" fmla="*/ 71 w 71"/>
                    <a:gd name="T9" fmla="*/ 27 h 27"/>
                    <a:gd name="T10" fmla="*/ 17 w 71"/>
                    <a:gd name="T11" fmla="*/ 27 h 27"/>
                    <a:gd name="T12" fmla="*/ 8 w 71"/>
                    <a:gd name="T13" fmla="*/ 20 h 27"/>
                    <a:gd name="T14" fmla="*/ 0 w 71"/>
                    <a:gd name="T15" fmla="*/ 6 h 27"/>
                    <a:gd name="T16" fmla="*/ 0 w 71"/>
                    <a:gd name="T17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1" h="27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51" y="2"/>
                      </a:lnTo>
                      <a:lnTo>
                        <a:pt x="55" y="12"/>
                      </a:lnTo>
                      <a:lnTo>
                        <a:pt x="71" y="27"/>
                      </a:lnTo>
                      <a:lnTo>
                        <a:pt x="17" y="27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188" name="Freeform 450"/>
                <p:cNvSpPr>
                  <a:spLocks noChangeArrowheads="1"/>
                </p:cNvSpPr>
                <p:nvPr/>
              </p:nvSpPr>
              <p:spPr bwMode="auto">
                <a:xfrm>
                  <a:off x="828" y="3546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8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189" name="Group 451"/>
                <p:cNvGrpSpPr>
                  <a:grpSpLocks/>
                </p:cNvGrpSpPr>
                <p:nvPr/>
              </p:nvGrpSpPr>
              <p:grpSpPr bwMode="auto">
                <a:xfrm>
                  <a:off x="832" y="3547"/>
                  <a:ext cx="49" cy="23"/>
                  <a:chOff x="832" y="3547"/>
                  <a:chExt cx="49" cy="23"/>
                </a:xfrm>
              </p:grpSpPr>
              <p:sp>
                <p:nvSpPr>
                  <p:cNvPr id="2178190" name="Freeform 452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547"/>
                    <a:ext cx="12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1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91" name="Freeform 453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3548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92" name="Freeform 454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55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93" name="Group 455"/>
                <p:cNvGrpSpPr>
                  <a:grpSpLocks/>
                </p:cNvGrpSpPr>
                <p:nvPr/>
              </p:nvGrpSpPr>
              <p:grpSpPr bwMode="auto">
                <a:xfrm>
                  <a:off x="844" y="3560"/>
                  <a:ext cx="49" cy="22"/>
                  <a:chOff x="844" y="3560"/>
                  <a:chExt cx="49" cy="22"/>
                </a:xfrm>
              </p:grpSpPr>
              <p:sp>
                <p:nvSpPr>
                  <p:cNvPr id="2178194" name="Freeform 456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560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95" name="Freeform 457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560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48 w 73"/>
                      <a:gd name="T3" fmla="*/ 0 h 29"/>
                      <a:gd name="T4" fmla="*/ 50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96" name="Freeform 458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571"/>
                    <a:ext cx="40" cy="11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6 w 82"/>
                      <a:gd name="T5" fmla="*/ 7 h 35"/>
                      <a:gd name="T6" fmla="*/ 11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197" name="Group 459"/>
                <p:cNvGrpSpPr>
                  <a:grpSpLocks/>
                </p:cNvGrpSpPr>
                <p:nvPr/>
              </p:nvGrpSpPr>
              <p:grpSpPr bwMode="auto">
                <a:xfrm>
                  <a:off x="857" y="3572"/>
                  <a:ext cx="50" cy="23"/>
                  <a:chOff x="857" y="3572"/>
                  <a:chExt cx="50" cy="23"/>
                </a:xfrm>
              </p:grpSpPr>
              <p:sp>
                <p:nvSpPr>
                  <p:cNvPr id="2178198" name="Freeform 460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572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5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5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199" name="Freeform 461"/>
                  <p:cNvSpPr>
                    <a:spLocks noChangeArrowheads="1"/>
                  </p:cNvSpPr>
                  <p:nvPr/>
                </p:nvSpPr>
                <p:spPr bwMode="auto">
                  <a:xfrm>
                    <a:off x="862" y="3573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10 w 73"/>
                      <a:gd name="T13" fmla="*/ 20 h 29"/>
                      <a:gd name="T14" fmla="*/ 0 w 73"/>
                      <a:gd name="T15" fmla="*/ 5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00" name="Freeform 462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58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01" name="Group 463"/>
                <p:cNvGrpSpPr>
                  <a:grpSpLocks/>
                </p:cNvGrpSpPr>
                <p:nvPr/>
              </p:nvGrpSpPr>
              <p:grpSpPr bwMode="auto">
                <a:xfrm>
                  <a:off x="870" y="3585"/>
                  <a:ext cx="48" cy="23"/>
                  <a:chOff x="870" y="3585"/>
                  <a:chExt cx="48" cy="23"/>
                </a:xfrm>
              </p:grpSpPr>
              <p:sp>
                <p:nvSpPr>
                  <p:cNvPr id="2178202" name="Freeform 464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58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6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03" name="Freeform 465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3586"/>
                    <a:ext cx="38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04" name="Freeform 466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596"/>
                    <a:ext cx="40" cy="12"/>
                  </a:xfrm>
                  <a:custGeom>
                    <a:avLst/>
                    <a:gdLst>
                      <a:gd name="T0" fmla="*/ 0 w 80"/>
                      <a:gd name="T1" fmla="*/ 36 h 36"/>
                      <a:gd name="T2" fmla="*/ 1 w 80"/>
                      <a:gd name="T3" fmla="*/ 20 h 36"/>
                      <a:gd name="T4" fmla="*/ 6 w 80"/>
                      <a:gd name="T5" fmla="*/ 8 h 36"/>
                      <a:gd name="T6" fmla="*/ 10 w 80"/>
                      <a:gd name="T7" fmla="*/ 0 h 36"/>
                      <a:gd name="T8" fmla="*/ 67 w 80"/>
                      <a:gd name="T9" fmla="*/ 0 h 36"/>
                      <a:gd name="T10" fmla="*/ 80 w 80"/>
                      <a:gd name="T11" fmla="*/ 36 h 36"/>
                      <a:gd name="T12" fmla="*/ 0 w 80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0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05" name="Group 467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100" cy="73"/>
                  <a:chOff x="882" y="3600"/>
                  <a:chExt cx="100" cy="73"/>
                </a:xfrm>
              </p:grpSpPr>
              <p:grpSp>
                <p:nvGrpSpPr>
                  <p:cNvPr id="2178206" name="Group 468"/>
                  <p:cNvGrpSpPr>
                    <a:grpSpLocks/>
                  </p:cNvGrpSpPr>
                  <p:nvPr/>
                </p:nvGrpSpPr>
                <p:grpSpPr bwMode="auto">
                  <a:xfrm>
                    <a:off x="882" y="3600"/>
                    <a:ext cx="49" cy="23"/>
                    <a:chOff x="882" y="3600"/>
                    <a:chExt cx="49" cy="23"/>
                  </a:xfrm>
                </p:grpSpPr>
                <p:sp>
                  <p:nvSpPr>
                    <p:cNvPr id="2178207" name="Freeform 4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2" y="3600"/>
                      <a:ext cx="12" cy="23"/>
                    </a:xfrm>
                    <a:custGeom>
                      <a:avLst/>
                      <a:gdLst>
                        <a:gd name="T0" fmla="*/ 13 w 23"/>
                        <a:gd name="T1" fmla="*/ 70 h 70"/>
                        <a:gd name="T2" fmla="*/ 0 w 23"/>
                        <a:gd name="T3" fmla="*/ 27 h 70"/>
                        <a:gd name="T4" fmla="*/ 9 w 23"/>
                        <a:gd name="T5" fmla="*/ 0 h 70"/>
                        <a:gd name="T6" fmla="*/ 23 w 23"/>
                        <a:gd name="T7" fmla="*/ 31 h 70"/>
                        <a:gd name="T8" fmla="*/ 13 w 23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3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08" name="Freeform 4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7" y="3600"/>
                      <a:ext cx="37" cy="11"/>
                    </a:xfrm>
                    <a:custGeom>
                      <a:avLst/>
                      <a:gdLst>
                        <a:gd name="T0" fmla="*/ 1 w 73"/>
                        <a:gd name="T1" fmla="*/ 0 h 31"/>
                        <a:gd name="T2" fmla="*/ 50 w 73"/>
                        <a:gd name="T3" fmla="*/ 0 h 31"/>
                        <a:gd name="T4" fmla="*/ 51 w 73"/>
                        <a:gd name="T5" fmla="*/ 4 h 31"/>
                        <a:gd name="T6" fmla="*/ 56 w 73"/>
                        <a:gd name="T7" fmla="*/ 13 h 31"/>
                        <a:gd name="T8" fmla="*/ 73 w 73"/>
                        <a:gd name="T9" fmla="*/ 31 h 31"/>
                        <a:gd name="T10" fmla="*/ 18 w 73"/>
                        <a:gd name="T11" fmla="*/ 31 h 31"/>
                        <a:gd name="T12" fmla="*/ 9 w 73"/>
                        <a:gd name="T13" fmla="*/ 22 h 31"/>
                        <a:gd name="T14" fmla="*/ 0 w 73"/>
                        <a:gd name="T15" fmla="*/ 7 h 31"/>
                        <a:gd name="T16" fmla="*/ 1 w 73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3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09" name="Freeform 4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11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8 h 38"/>
                        <a:gd name="T2" fmla="*/ 1 w 83"/>
                        <a:gd name="T3" fmla="*/ 22 h 38"/>
                        <a:gd name="T4" fmla="*/ 8 w 83"/>
                        <a:gd name="T5" fmla="*/ 8 h 38"/>
                        <a:gd name="T6" fmla="*/ 12 w 83"/>
                        <a:gd name="T7" fmla="*/ 0 h 38"/>
                        <a:gd name="T8" fmla="*/ 68 w 83"/>
                        <a:gd name="T9" fmla="*/ 0 h 38"/>
                        <a:gd name="T10" fmla="*/ 83 w 83"/>
                        <a:gd name="T11" fmla="*/ 38 h 38"/>
                        <a:gd name="T12" fmla="*/ 0 w 83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8">
                          <a:moveTo>
                            <a:pt x="0" y="38"/>
                          </a:moveTo>
                          <a:lnTo>
                            <a:pt x="1" y="22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10" name="Group 472"/>
                  <p:cNvGrpSpPr>
                    <a:grpSpLocks/>
                  </p:cNvGrpSpPr>
                  <p:nvPr/>
                </p:nvGrpSpPr>
                <p:grpSpPr bwMode="auto">
                  <a:xfrm>
                    <a:off x="894" y="3612"/>
                    <a:ext cx="49" cy="23"/>
                    <a:chOff x="894" y="3612"/>
                    <a:chExt cx="49" cy="23"/>
                  </a:xfrm>
                </p:grpSpPr>
                <p:sp>
                  <p:nvSpPr>
                    <p:cNvPr id="2178211" name="Freeform 4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4" y="3612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8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8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12" name="Freeform 4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613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2"/>
                        <a:gd name="T2" fmla="*/ 50 w 75"/>
                        <a:gd name="T3" fmla="*/ 0 h 32"/>
                        <a:gd name="T4" fmla="*/ 52 w 75"/>
                        <a:gd name="T5" fmla="*/ 3 h 32"/>
                        <a:gd name="T6" fmla="*/ 57 w 75"/>
                        <a:gd name="T7" fmla="*/ 15 h 32"/>
                        <a:gd name="T8" fmla="*/ 75 w 75"/>
                        <a:gd name="T9" fmla="*/ 32 h 32"/>
                        <a:gd name="T10" fmla="*/ 19 w 75"/>
                        <a:gd name="T11" fmla="*/ 32 h 32"/>
                        <a:gd name="T12" fmla="*/ 10 w 75"/>
                        <a:gd name="T13" fmla="*/ 22 h 32"/>
                        <a:gd name="T14" fmla="*/ 0 w 75"/>
                        <a:gd name="T15" fmla="*/ 7 h 32"/>
                        <a:gd name="T16" fmla="*/ 2 w 75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2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5"/>
                          </a:lnTo>
                          <a:lnTo>
                            <a:pt x="75" y="32"/>
                          </a:lnTo>
                          <a:lnTo>
                            <a:pt x="19" y="32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13" name="Freeform 4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2" y="3623"/>
                      <a:ext cx="41" cy="12"/>
                    </a:xfrm>
                    <a:custGeom>
                      <a:avLst/>
                      <a:gdLst>
                        <a:gd name="T0" fmla="*/ 0 w 81"/>
                        <a:gd name="T1" fmla="*/ 36 h 36"/>
                        <a:gd name="T2" fmla="*/ 1 w 81"/>
                        <a:gd name="T3" fmla="*/ 21 h 36"/>
                        <a:gd name="T4" fmla="*/ 5 w 81"/>
                        <a:gd name="T5" fmla="*/ 8 h 36"/>
                        <a:gd name="T6" fmla="*/ 12 w 81"/>
                        <a:gd name="T7" fmla="*/ 0 h 36"/>
                        <a:gd name="T8" fmla="*/ 68 w 81"/>
                        <a:gd name="T9" fmla="*/ 0 h 36"/>
                        <a:gd name="T10" fmla="*/ 81 w 81"/>
                        <a:gd name="T11" fmla="*/ 36 h 36"/>
                        <a:gd name="T12" fmla="*/ 0 w 81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5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14" name="Group 476"/>
                  <p:cNvGrpSpPr>
                    <a:grpSpLocks/>
                  </p:cNvGrpSpPr>
                  <p:nvPr/>
                </p:nvGrpSpPr>
                <p:grpSpPr bwMode="auto">
                  <a:xfrm>
                    <a:off x="907" y="3625"/>
                    <a:ext cx="49" cy="23"/>
                    <a:chOff x="907" y="3625"/>
                    <a:chExt cx="49" cy="23"/>
                  </a:xfrm>
                </p:grpSpPr>
                <p:sp>
                  <p:nvSpPr>
                    <p:cNvPr id="2178215" name="Freeform 4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625"/>
                      <a:ext cx="11" cy="23"/>
                    </a:xfrm>
                    <a:custGeom>
                      <a:avLst/>
                      <a:gdLst>
                        <a:gd name="T0" fmla="*/ 15 w 24"/>
                        <a:gd name="T1" fmla="*/ 68 h 68"/>
                        <a:gd name="T2" fmla="*/ 0 w 24"/>
                        <a:gd name="T3" fmla="*/ 27 h 68"/>
                        <a:gd name="T4" fmla="*/ 11 w 24"/>
                        <a:gd name="T5" fmla="*/ 0 h 68"/>
                        <a:gd name="T6" fmla="*/ 24 w 24"/>
                        <a:gd name="T7" fmla="*/ 30 h 68"/>
                        <a:gd name="T8" fmla="*/ 15 w 24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4" y="30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16" name="Freeform 4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3626"/>
                      <a:ext cx="36" cy="9"/>
                    </a:xfrm>
                    <a:custGeom>
                      <a:avLst/>
                      <a:gdLst>
                        <a:gd name="T0" fmla="*/ 1 w 72"/>
                        <a:gd name="T1" fmla="*/ 0 h 29"/>
                        <a:gd name="T2" fmla="*/ 50 w 72"/>
                        <a:gd name="T3" fmla="*/ 0 h 29"/>
                        <a:gd name="T4" fmla="*/ 51 w 72"/>
                        <a:gd name="T5" fmla="*/ 2 h 29"/>
                        <a:gd name="T6" fmla="*/ 56 w 72"/>
                        <a:gd name="T7" fmla="*/ 11 h 29"/>
                        <a:gd name="T8" fmla="*/ 72 w 72"/>
                        <a:gd name="T9" fmla="*/ 29 h 29"/>
                        <a:gd name="T10" fmla="*/ 17 w 72"/>
                        <a:gd name="T11" fmla="*/ 29 h 29"/>
                        <a:gd name="T12" fmla="*/ 9 w 72"/>
                        <a:gd name="T13" fmla="*/ 20 h 29"/>
                        <a:gd name="T14" fmla="*/ 0 w 72"/>
                        <a:gd name="T15" fmla="*/ 6 h 29"/>
                        <a:gd name="T16" fmla="*/ 1 w 72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2" y="29"/>
                          </a:lnTo>
                          <a:lnTo>
                            <a:pt x="17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17" name="Freeform 4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4" y="363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7 w 83"/>
                        <a:gd name="T5" fmla="*/ 7 h 36"/>
                        <a:gd name="T6" fmla="*/ 10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18" name="Group 480"/>
                  <p:cNvGrpSpPr>
                    <a:grpSpLocks/>
                  </p:cNvGrpSpPr>
                  <p:nvPr/>
                </p:nvGrpSpPr>
                <p:grpSpPr bwMode="auto">
                  <a:xfrm>
                    <a:off x="919" y="3638"/>
                    <a:ext cx="49" cy="22"/>
                    <a:chOff x="919" y="3638"/>
                    <a:chExt cx="49" cy="22"/>
                  </a:xfrm>
                </p:grpSpPr>
                <p:sp>
                  <p:nvSpPr>
                    <p:cNvPr id="2178219" name="Freeform 4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638"/>
                      <a:ext cx="13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20" name="Freeform 4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4" y="3638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48 w 73"/>
                        <a:gd name="T3" fmla="*/ 0 h 30"/>
                        <a:gd name="T4" fmla="*/ 52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9 w 73"/>
                        <a:gd name="T13" fmla="*/ 21 h 30"/>
                        <a:gd name="T14" fmla="*/ 0 w 73"/>
                        <a:gd name="T15" fmla="*/ 5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48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21" name="Freeform 4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48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22" name="Group 484"/>
                  <p:cNvGrpSpPr>
                    <a:grpSpLocks/>
                  </p:cNvGrpSpPr>
                  <p:nvPr/>
                </p:nvGrpSpPr>
                <p:grpSpPr bwMode="auto">
                  <a:xfrm>
                    <a:off x="932" y="3651"/>
                    <a:ext cx="50" cy="22"/>
                    <a:chOff x="932" y="3651"/>
                    <a:chExt cx="50" cy="22"/>
                  </a:xfrm>
                </p:grpSpPr>
                <p:sp>
                  <p:nvSpPr>
                    <p:cNvPr id="2178223" name="Freeform 4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2" y="3651"/>
                      <a:ext cx="12" cy="22"/>
                    </a:xfrm>
                    <a:custGeom>
                      <a:avLst/>
                      <a:gdLst>
                        <a:gd name="T0" fmla="*/ 15 w 24"/>
                        <a:gd name="T1" fmla="*/ 67 h 67"/>
                        <a:gd name="T2" fmla="*/ 0 w 24"/>
                        <a:gd name="T3" fmla="*/ 26 h 67"/>
                        <a:gd name="T4" fmla="*/ 11 w 24"/>
                        <a:gd name="T5" fmla="*/ 0 h 67"/>
                        <a:gd name="T6" fmla="*/ 24 w 24"/>
                        <a:gd name="T7" fmla="*/ 30 h 67"/>
                        <a:gd name="T8" fmla="*/ 15 w 24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7">
                          <a:moveTo>
                            <a:pt x="15" y="67"/>
                          </a:moveTo>
                          <a:lnTo>
                            <a:pt x="0" y="26"/>
                          </a:lnTo>
                          <a:lnTo>
                            <a:pt x="11" y="0"/>
                          </a:lnTo>
                          <a:lnTo>
                            <a:pt x="24" y="30"/>
                          </a:lnTo>
                          <a:lnTo>
                            <a:pt x="15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24" name="Freeform 4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7" y="3651"/>
                      <a:ext cx="37" cy="10"/>
                    </a:xfrm>
                    <a:custGeom>
                      <a:avLst/>
                      <a:gdLst>
                        <a:gd name="T0" fmla="*/ 1 w 72"/>
                        <a:gd name="T1" fmla="*/ 0 h 29"/>
                        <a:gd name="T2" fmla="*/ 49 w 72"/>
                        <a:gd name="T3" fmla="*/ 0 h 29"/>
                        <a:gd name="T4" fmla="*/ 50 w 72"/>
                        <a:gd name="T5" fmla="*/ 2 h 29"/>
                        <a:gd name="T6" fmla="*/ 57 w 72"/>
                        <a:gd name="T7" fmla="*/ 11 h 29"/>
                        <a:gd name="T8" fmla="*/ 72 w 72"/>
                        <a:gd name="T9" fmla="*/ 29 h 29"/>
                        <a:gd name="T10" fmla="*/ 18 w 72"/>
                        <a:gd name="T11" fmla="*/ 29 h 29"/>
                        <a:gd name="T12" fmla="*/ 9 w 72"/>
                        <a:gd name="T13" fmla="*/ 20 h 29"/>
                        <a:gd name="T14" fmla="*/ 0 w 72"/>
                        <a:gd name="T15" fmla="*/ 5 h 29"/>
                        <a:gd name="T16" fmla="*/ 1 w 72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2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25" name="Freeform 4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0" y="3662"/>
                      <a:ext cx="42" cy="11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3 w 83"/>
                        <a:gd name="T3" fmla="*/ 19 h 35"/>
                        <a:gd name="T4" fmla="*/ 7 w 83"/>
                        <a:gd name="T5" fmla="*/ 7 h 35"/>
                        <a:gd name="T6" fmla="*/ 11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3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226" name="Group 488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99" cy="74"/>
                  <a:chOff x="944" y="3665"/>
                  <a:chExt cx="99" cy="74"/>
                </a:xfrm>
              </p:grpSpPr>
              <p:grpSp>
                <p:nvGrpSpPr>
                  <p:cNvPr id="2178227" name="Group 489"/>
                  <p:cNvGrpSpPr>
                    <a:grpSpLocks/>
                  </p:cNvGrpSpPr>
                  <p:nvPr/>
                </p:nvGrpSpPr>
                <p:grpSpPr bwMode="auto">
                  <a:xfrm>
                    <a:off x="944" y="3665"/>
                    <a:ext cx="49" cy="23"/>
                    <a:chOff x="944" y="3665"/>
                    <a:chExt cx="49" cy="23"/>
                  </a:xfrm>
                </p:grpSpPr>
                <p:sp>
                  <p:nvSpPr>
                    <p:cNvPr id="2178228" name="Freeform 4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4" y="3665"/>
                      <a:ext cx="13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9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29" name="Freeform 4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9" y="3666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7 w 75"/>
                        <a:gd name="T7" fmla="*/ 13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1 w 75"/>
                        <a:gd name="T13" fmla="*/ 22 h 31"/>
                        <a:gd name="T14" fmla="*/ 0 w 75"/>
                        <a:gd name="T15" fmla="*/ 7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7" y="13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1" y="22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30" name="Freeform 4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676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20 h 36"/>
                        <a:gd name="T4" fmla="*/ 5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5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31" name="Group 493"/>
                  <p:cNvGrpSpPr>
                    <a:grpSpLocks/>
                  </p:cNvGrpSpPr>
                  <p:nvPr/>
                </p:nvGrpSpPr>
                <p:grpSpPr bwMode="auto">
                  <a:xfrm>
                    <a:off x="957" y="3678"/>
                    <a:ext cx="48" cy="23"/>
                    <a:chOff x="957" y="3678"/>
                    <a:chExt cx="48" cy="23"/>
                  </a:xfrm>
                </p:grpSpPr>
                <p:sp>
                  <p:nvSpPr>
                    <p:cNvPr id="2178232" name="Freeform 4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7" y="3678"/>
                      <a:ext cx="11" cy="23"/>
                    </a:xfrm>
                    <a:custGeom>
                      <a:avLst/>
                      <a:gdLst>
                        <a:gd name="T0" fmla="*/ 13 w 24"/>
                        <a:gd name="T1" fmla="*/ 70 h 70"/>
                        <a:gd name="T2" fmla="*/ 0 w 24"/>
                        <a:gd name="T3" fmla="*/ 27 h 70"/>
                        <a:gd name="T4" fmla="*/ 9 w 24"/>
                        <a:gd name="T5" fmla="*/ 0 h 70"/>
                        <a:gd name="T6" fmla="*/ 24 w 24"/>
                        <a:gd name="T7" fmla="*/ 31 h 70"/>
                        <a:gd name="T8" fmla="*/ 13 w 24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4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33" name="Freeform 4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678"/>
                      <a:ext cx="37" cy="10"/>
                    </a:xfrm>
                    <a:custGeom>
                      <a:avLst/>
                      <a:gdLst>
                        <a:gd name="T0" fmla="*/ 2 w 74"/>
                        <a:gd name="T1" fmla="*/ 0 h 30"/>
                        <a:gd name="T2" fmla="*/ 50 w 74"/>
                        <a:gd name="T3" fmla="*/ 0 h 30"/>
                        <a:gd name="T4" fmla="*/ 52 w 74"/>
                        <a:gd name="T5" fmla="*/ 3 h 30"/>
                        <a:gd name="T6" fmla="*/ 56 w 74"/>
                        <a:gd name="T7" fmla="*/ 12 h 30"/>
                        <a:gd name="T8" fmla="*/ 74 w 74"/>
                        <a:gd name="T9" fmla="*/ 30 h 30"/>
                        <a:gd name="T10" fmla="*/ 19 w 74"/>
                        <a:gd name="T11" fmla="*/ 30 h 30"/>
                        <a:gd name="T12" fmla="*/ 11 w 74"/>
                        <a:gd name="T13" fmla="*/ 20 h 30"/>
                        <a:gd name="T14" fmla="*/ 0 w 74"/>
                        <a:gd name="T15" fmla="*/ 6 h 30"/>
                        <a:gd name="T16" fmla="*/ 2 w 74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30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6" y="12"/>
                          </a:lnTo>
                          <a:lnTo>
                            <a:pt x="74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34" name="Freeform 4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4" y="3688"/>
                      <a:ext cx="41" cy="13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1 h 38"/>
                        <a:gd name="T4" fmla="*/ 7 w 82"/>
                        <a:gd name="T5" fmla="*/ 8 h 38"/>
                        <a:gd name="T6" fmla="*/ 11 w 82"/>
                        <a:gd name="T7" fmla="*/ 0 h 38"/>
                        <a:gd name="T8" fmla="*/ 68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1"/>
                          </a:lnTo>
                          <a:lnTo>
                            <a:pt x="7" y="8"/>
                          </a:lnTo>
                          <a:lnTo>
                            <a:pt x="11" y="0"/>
                          </a:lnTo>
                          <a:lnTo>
                            <a:pt x="68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35" name="Group 497"/>
                  <p:cNvGrpSpPr>
                    <a:grpSpLocks/>
                  </p:cNvGrpSpPr>
                  <p:nvPr/>
                </p:nvGrpSpPr>
                <p:grpSpPr bwMode="auto">
                  <a:xfrm>
                    <a:off x="969" y="3690"/>
                    <a:ext cx="49" cy="23"/>
                    <a:chOff x="969" y="3690"/>
                    <a:chExt cx="49" cy="23"/>
                  </a:xfrm>
                </p:grpSpPr>
                <p:sp>
                  <p:nvSpPr>
                    <p:cNvPr id="2178236" name="Freeform 4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9" y="3690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70 h 70"/>
                        <a:gd name="T2" fmla="*/ 0 w 25"/>
                        <a:gd name="T3" fmla="*/ 29 h 70"/>
                        <a:gd name="T4" fmla="*/ 9 w 25"/>
                        <a:gd name="T5" fmla="*/ 0 h 70"/>
                        <a:gd name="T6" fmla="*/ 25 w 25"/>
                        <a:gd name="T7" fmla="*/ 33 h 70"/>
                        <a:gd name="T8" fmla="*/ 15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5" y="70"/>
                          </a:moveTo>
                          <a:lnTo>
                            <a:pt x="0" y="29"/>
                          </a:lnTo>
                          <a:lnTo>
                            <a:pt x="9" y="0"/>
                          </a:lnTo>
                          <a:lnTo>
                            <a:pt x="25" y="33"/>
                          </a:lnTo>
                          <a:lnTo>
                            <a:pt x="15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37" name="Freeform 4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3691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6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9" y="22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38" name="Freeform 5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7" y="3701"/>
                      <a:ext cx="41" cy="12"/>
                    </a:xfrm>
                    <a:custGeom>
                      <a:avLst/>
                      <a:gdLst>
                        <a:gd name="T0" fmla="*/ 0 w 81"/>
                        <a:gd name="T1" fmla="*/ 36 h 36"/>
                        <a:gd name="T2" fmla="*/ 1 w 81"/>
                        <a:gd name="T3" fmla="*/ 19 h 36"/>
                        <a:gd name="T4" fmla="*/ 6 w 81"/>
                        <a:gd name="T5" fmla="*/ 7 h 36"/>
                        <a:gd name="T6" fmla="*/ 12 w 81"/>
                        <a:gd name="T7" fmla="*/ 0 h 36"/>
                        <a:gd name="T8" fmla="*/ 68 w 81"/>
                        <a:gd name="T9" fmla="*/ 0 h 36"/>
                        <a:gd name="T10" fmla="*/ 81 w 81"/>
                        <a:gd name="T11" fmla="*/ 36 h 36"/>
                        <a:gd name="T12" fmla="*/ 0 w 81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6" y="7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39" name="Group 501"/>
                  <p:cNvGrpSpPr>
                    <a:grpSpLocks/>
                  </p:cNvGrpSpPr>
                  <p:nvPr/>
                </p:nvGrpSpPr>
                <p:grpSpPr bwMode="auto">
                  <a:xfrm>
                    <a:off x="982" y="3703"/>
                    <a:ext cx="49" cy="23"/>
                    <a:chOff x="982" y="3703"/>
                    <a:chExt cx="49" cy="23"/>
                  </a:xfrm>
                </p:grpSpPr>
                <p:sp>
                  <p:nvSpPr>
                    <p:cNvPr id="2178240" name="Freeform 5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3703"/>
                      <a:ext cx="13" cy="23"/>
                    </a:xfrm>
                    <a:custGeom>
                      <a:avLst/>
                      <a:gdLst>
                        <a:gd name="T0" fmla="*/ 14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4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41" name="Freeform 5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7" y="3703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0"/>
                        <a:gd name="T2" fmla="*/ 50 w 73"/>
                        <a:gd name="T3" fmla="*/ 0 h 30"/>
                        <a:gd name="T4" fmla="*/ 51 w 73"/>
                        <a:gd name="T5" fmla="*/ 3 h 30"/>
                        <a:gd name="T6" fmla="*/ 56 w 73"/>
                        <a:gd name="T7" fmla="*/ 12 h 30"/>
                        <a:gd name="T8" fmla="*/ 73 w 73"/>
                        <a:gd name="T9" fmla="*/ 30 h 30"/>
                        <a:gd name="T10" fmla="*/ 18 w 73"/>
                        <a:gd name="T11" fmla="*/ 30 h 30"/>
                        <a:gd name="T12" fmla="*/ 9 w 73"/>
                        <a:gd name="T13" fmla="*/ 21 h 30"/>
                        <a:gd name="T14" fmla="*/ 0 w 73"/>
                        <a:gd name="T15" fmla="*/ 7 h 30"/>
                        <a:gd name="T16" fmla="*/ 1 w 73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3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42" name="Freeform 5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9" y="3714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6 w 83"/>
                        <a:gd name="T5" fmla="*/ 8 h 36"/>
                        <a:gd name="T6" fmla="*/ 13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6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43" name="Group 505"/>
                  <p:cNvGrpSpPr>
                    <a:grpSpLocks/>
                  </p:cNvGrpSpPr>
                  <p:nvPr/>
                </p:nvGrpSpPr>
                <p:grpSpPr bwMode="auto">
                  <a:xfrm>
                    <a:off x="995" y="3716"/>
                    <a:ext cx="48" cy="23"/>
                    <a:chOff x="995" y="3716"/>
                    <a:chExt cx="48" cy="23"/>
                  </a:xfrm>
                </p:grpSpPr>
                <p:sp>
                  <p:nvSpPr>
                    <p:cNvPr id="2178244" name="Freeform 5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5" y="3716"/>
                      <a:ext cx="11" cy="23"/>
                    </a:xfrm>
                    <a:custGeom>
                      <a:avLst/>
                      <a:gdLst>
                        <a:gd name="T0" fmla="*/ 15 w 24"/>
                        <a:gd name="T1" fmla="*/ 68 h 68"/>
                        <a:gd name="T2" fmla="*/ 0 w 24"/>
                        <a:gd name="T3" fmla="*/ 27 h 68"/>
                        <a:gd name="T4" fmla="*/ 10 w 24"/>
                        <a:gd name="T5" fmla="*/ 0 h 68"/>
                        <a:gd name="T6" fmla="*/ 24 w 24"/>
                        <a:gd name="T7" fmla="*/ 30 h 68"/>
                        <a:gd name="T8" fmla="*/ 15 w 24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4" y="30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45" name="Freeform 5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3717"/>
                      <a:ext cx="38" cy="9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49 w 74"/>
                        <a:gd name="T3" fmla="*/ 0 h 29"/>
                        <a:gd name="T4" fmla="*/ 52 w 74"/>
                        <a:gd name="T5" fmla="*/ 3 h 29"/>
                        <a:gd name="T6" fmla="*/ 56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6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2" y="3"/>
                          </a:lnTo>
                          <a:lnTo>
                            <a:pt x="56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46" name="Freeform 5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3" y="3727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5 w 82"/>
                        <a:gd name="T5" fmla="*/ 7 h 36"/>
                        <a:gd name="T6" fmla="*/ 11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5" y="7"/>
                          </a:lnTo>
                          <a:lnTo>
                            <a:pt x="11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247" name="Group 509"/>
                <p:cNvGrpSpPr>
                  <a:grpSpLocks/>
                </p:cNvGrpSpPr>
                <p:nvPr/>
              </p:nvGrpSpPr>
              <p:grpSpPr bwMode="auto">
                <a:xfrm>
                  <a:off x="1005" y="3727"/>
                  <a:ext cx="49" cy="23"/>
                  <a:chOff x="1005" y="3727"/>
                  <a:chExt cx="49" cy="23"/>
                </a:xfrm>
              </p:grpSpPr>
              <p:sp>
                <p:nvSpPr>
                  <p:cNvPr id="2178248" name="Freeform 510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727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49" name="Freeform 511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728"/>
                    <a:ext cx="37" cy="10"/>
                  </a:xfrm>
                  <a:custGeom>
                    <a:avLst/>
                    <a:gdLst>
                      <a:gd name="T0" fmla="*/ 2 w 73"/>
                      <a:gd name="T1" fmla="*/ 0 h 31"/>
                      <a:gd name="T2" fmla="*/ 48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2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50" name="Freeform 512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73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51" name="Group 513"/>
                <p:cNvGrpSpPr>
                  <a:grpSpLocks/>
                </p:cNvGrpSpPr>
                <p:nvPr/>
              </p:nvGrpSpPr>
              <p:grpSpPr bwMode="auto">
                <a:xfrm>
                  <a:off x="1018" y="3740"/>
                  <a:ext cx="49" cy="22"/>
                  <a:chOff x="1018" y="3740"/>
                  <a:chExt cx="49" cy="22"/>
                </a:xfrm>
              </p:grpSpPr>
              <p:sp>
                <p:nvSpPr>
                  <p:cNvPr id="2178252" name="Freeform 514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40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53" name="Freeform 515"/>
                  <p:cNvSpPr>
                    <a:spLocks noChangeArrowheads="1"/>
                  </p:cNvSpPr>
                  <p:nvPr/>
                </p:nvSpPr>
                <p:spPr bwMode="auto">
                  <a:xfrm>
                    <a:off x="1022" y="3740"/>
                    <a:ext cx="38" cy="10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49 w 74"/>
                      <a:gd name="T3" fmla="*/ 0 h 31"/>
                      <a:gd name="T4" fmla="*/ 51 w 74"/>
                      <a:gd name="T5" fmla="*/ 4 h 31"/>
                      <a:gd name="T6" fmla="*/ 57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10 w 74"/>
                      <a:gd name="T13" fmla="*/ 22 h 31"/>
                      <a:gd name="T14" fmla="*/ 0 w 74"/>
                      <a:gd name="T15" fmla="*/ 7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7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54" name="Freeform 516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750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1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1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55" name="Group 517"/>
                <p:cNvGrpSpPr>
                  <a:grpSpLocks/>
                </p:cNvGrpSpPr>
                <p:nvPr/>
              </p:nvGrpSpPr>
              <p:grpSpPr bwMode="auto">
                <a:xfrm>
                  <a:off x="1030" y="3753"/>
                  <a:ext cx="49" cy="23"/>
                  <a:chOff x="1030" y="3753"/>
                  <a:chExt cx="49" cy="23"/>
                </a:xfrm>
              </p:grpSpPr>
              <p:sp>
                <p:nvSpPr>
                  <p:cNvPr id="2178256" name="Freeform 518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53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2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57" name="Freeform 519"/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3753"/>
                    <a:ext cx="37" cy="11"/>
                  </a:xfrm>
                  <a:custGeom>
                    <a:avLst/>
                    <a:gdLst>
                      <a:gd name="T0" fmla="*/ 2 w 74"/>
                      <a:gd name="T1" fmla="*/ 0 h 31"/>
                      <a:gd name="T2" fmla="*/ 51 w 74"/>
                      <a:gd name="T3" fmla="*/ 0 h 31"/>
                      <a:gd name="T4" fmla="*/ 52 w 74"/>
                      <a:gd name="T5" fmla="*/ 4 h 31"/>
                      <a:gd name="T6" fmla="*/ 56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10 w 74"/>
                      <a:gd name="T13" fmla="*/ 22 h 31"/>
                      <a:gd name="T14" fmla="*/ 0 w 74"/>
                      <a:gd name="T15" fmla="*/ 7 h 31"/>
                      <a:gd name="T16" fmla="*/ 2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2" y="0"/>
                        </a:moveTo>
                        <a:lnTo>
                          <a:pt x="51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58" name="Freeform 520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764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7 w 82"/>
                      <a:gd name="T5" fmla="*/ 7 h 35"/>
                      <a:gd name="T6" fmla="*/ 11 w 82"/>
                      <a:gd name="T7" fmla="*/ 0 h 35"/>
                      <a:gd name="T8" fmla="*/ 67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8259" name="Freeform 521"/>
                <p:cNvSpPr>
                  <a:spLocks noChangeArrowheads="1"/>
                </p:cNvSpPr>
                <p:nvPr/>
              </p:nvSpPr>
              <p:spPr bwMode="auto">
                <a:xfrm>
                  <a:off x="778" y="3535"/>
                  <a:ext cx="12" cy="23"/>
                </a:xfrm>
                <a:custGeom>
                  <a:avLst/>
                  <a:gdLst>
                    <a:gd name="T0" fmla="*/ 13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1 h 68"/>
                    <a:gd name="T8" fmla="*/ 13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260" name="Freeform 522"/>
                <p:cNvSpPr>
                  <a:spLocks noChangeArrowheads="1"/>
                </p:cNvSpPr>
                <p:nvPr/>
              </p:nvSpPr>
              <p:spPr bwMode="auto">
                <a:xfrm>
                  <a:off x="783" y="3535"/>
                  <a:ext cx="36" cy="11"/>
                </a:xfrm>
                <a:custGeom>
                  <a:avLst/>
                  <a:gdLst>
                    <a:gd name="T0" fmla="*/ 1 w 72"/>
                    <a:gd name="T1" fmla="*/ 0 h 31"/>
                    <a:gd name="T2" fmla="*/ 50 w 72"/>
                    <a:gd name="T3" fmla="*/ 0 h 31"/>
                    <a:gd name="T4" fmla="*/ 51 w 72"/>
                    <a:gd name="T5" fmla="*/ 4 h 31"/>
                    <a:gd name="T6" fmla="*/ 57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261" name="Freeform 523"/>
                <p:cNvSpPr>
                  <a:spLocks noChangeArrowheads="1"/>
                </p:cNvSpPr>
                <p:nvPr/>
              </p:nvSpPr>
              <p:spPr bwMode="auto">
                <a:xfrm>
                  <a:off x="786" y="3546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21 h 36"/>
                    <a:gd name="T4" fmla="*/ 7 w 83"/>
                    <a:gd name="T5" fmla="*/ 8 h 36"/>
                    <a:gd name="T6" fmla="*/ 12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21"/>
                      </a:lnTo>
                      <a:lnTo>
                        <a:pt x="7" y="8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262" name="Group 524"/>
                <p:cNvGrpSpPr>
                  <a:grpSpLocks/>
                </p:cNvGrpSpPr>
                <p:nvPr/>
              </p:nvGrpSpPr>
              <p:grpSpPr bwMode="auto">
                <a:xfrm>
                  <a:off x="790" y="3547"/>
                  <a:ext cx="49" cy="23"/>
                  <a:chOff x="790" y="3547"/>
                  <a:chExt cx="49" cy="23"/>
                </a:xfrm>
              </p:grpSpPr>
              <p:sp>
                <p:nvSpPr>
                  <p:cNvPr id="2178263" name="Freeform 525"/>
                  <p:cNvSpPr>
                    <a:spLocks noChangeArrowheads="1"/>
                  </p:cNvSpPr>
                  <p:nvPr/>
                </p:nvSpPr>
                <p:spPr bwMode="auto">
                  <a:xfrm>
                    <a:off x="790" y="3547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64" name="Freeform 526"/>
                  <p:cNvSpPr>
                    <a:spLocks noChangeArrowheads="1"/>
                  </p:cNvSpPr>
                  <p:nvPr/>
                </p:nvSpPr>
                <p:spPr bwMode="auto">
                  <a:xfrm>
                    <a:off x="795" y="3548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48 w 73"/>
                      <a:gd name="T3" fmla="*/ 0 h 29"/>
                      <a:gd name="T4" fmla="*/ 50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65" name="Freeform 527"/>
                  <p:cNvSpPr>
                    <a:spLocks noChangeArrowheads="1"/>
                  </p:cNvSpPr>
                  <p:nvPr/>
                </p:nvSpPr>
                <p:spPr bwMode="auto">
                  <a:xfrm>
                    <a:off x="798" y="355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7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66" name="Group 528"/>
                <p:cNvGrpSpPr>
                  <a:grpSpLocks/>
                </p:cNvGrpSpPr>
                <p:nvPr/>
              </p:nvGrpSpPr>
              <p:grpSpPr bwMode="auto">
                <a:xfrm>
                  <a:off x="803" y="3560"/>
                  <a:ext cx="49" cy="22"/>
                  <a:chOff x="803" y="3560"/>
                  <a:chExt cx="49" cy="22"/>
                </a:xfrm>
              </p:grpSpPr>
              <p:sp>
                <p:nvSpPr>
                  <p:cNvPr id="2178267" name="Freeform 529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560"/>
                    <a:ext cx="12" cy="22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1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68" name="Freeform 530"/>
                  <p:cNvSpPr>
                    <a:spLocks noChangeArrowheads="1"/>
                  </p:cNvSpPr>
                  <p:nvPr/>
                </p:nvSpPr>
                <p:spPr bwMode="auto">
                  <a:xfrm>
                    <a:off x="808" y="3560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69" name="Freeform 531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571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2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2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70" name="Group 532"/>
                <p:cNvGrpSpPr>
                  <a:grpSpLocks/>
                </p:cNvGrpSpPr>
                <p:nvPr/>
              </p:nvGrpSpPr>
              <p:grpSpPr bwMode="auto">
                <a:xfrm>
                  <a:off x="815" y="3572"/>
                  <a:ext cx="50" cy="23"/>
                  <a:chOff x="815" y="3572"/>
                  <a:chExt cx="50" cy="23"/>
                </a:xfrm>
              </p:grpSpPr>
              <p:sp>
                <p:nvSpPr>
                  <p:cNvPr id="2178271" name="Freeform 533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572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5 h 68"/>
                      <a:gd name="T4" fmla="*/ 10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5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72" name="Freeform 534"/>
                  <p:cNvSpPr>
                    <a:spLocks noChangeArrowheads="1"/>
                  </p:cNvSpPr>
                  <p:nvPr/>
                </p:nvSpPr>
                <p:spPr bwMode="auto">
                  <a:xfrm>
                    <a:off x="820" y="3573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73" name="Freeform 535"/>
                  <p:cNvSpPr>
                    <a:spLocks noChangeArrowheads="1"/>
                  </p:cNvSpPr>
                  <p:nvPr/>
                </p:nvSpPr>
                <p:spPr bwMode="auto">
                  <a:xfrm>
                    <a:off x="824" y="3583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6 w 82"/>
                      <a:gd name="T5" fmla="*/ 7 h 36"/>
                      <a:gd name="T6" fmla="*/ 10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74" name="Group 536"/>
                <p:cNvGrpSpPr>
                  <a:grpSpLocks/>
                </p:cNvGrpSpPr>
                <p:nvPr/>
              </p:nvGrpSpPr>
              <p:grpSpPr bwMode="auto">
                <a:xfrm>
                  <a:off x="828" y="3585"/>
                  <a:ext cx="49" cy="23"/>
                  <a:chOff x="828" y="3585"/>
                  <a:chExt cx="49" cy="23"/>
                </a:xfrm>
              </p:grpSpPr>
              <p:sp>
                <p:nvSpPr>
                  <p:cNvPr id="2178275" name="Freeform 537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58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76" name="Freeform 538"/>
                  <p:cNvSpPr>
                    <a:spLocks noChangeArrowheads="1"/>
                  </p:cNvSpPr>
                  <p:nvPr/>
                </p:nvSpPr>
                <p:spPr bwMode="auto">
                  <a:xfrm>
                    <a:off x="833" y="3586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1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277" name="Freeform 539"/>
                  <p:cNvSpPr>
                    <a:spLocks noChangeArrowheads="1"/>
                  </p:cNvSpPr>
                  <p:nvPr/>
                </p:nvSpPr>
                <p:spPr bwMode="auto">
                  <a:xfrm>
                    <a:off x="837" y="3596"/>
                    <a:ext cx="40" cy="12"/>
                  </a:xfrm>
                  <a:custGeom>
                    <a:avLst/>
                    <a:gdLst>
                      <a:gd name="T0" fmla="*/ 0 w 80"/>
                      <a:gd name="T1" fmla="*/ 36 h 36"/>
                      <a:gd name="T2" fmla="*/ 1 w 80"/>
                      <a:gd name="T3" fmla="*/ 20 h 36"/>
                      <a:gd name="T4" fmla="*/ 5 w 80"/>
                      <a:gd name="T5" fmla="*/ 8 h 36"/>
                      <a:gd name="T6" fmla="*/ 10 w 80"/>
                      <a:gd name="T7" fmla="*/ 0 h 36"/>
                      <a:gd name="T8" fmla="*/ 67 w 80"/>
                      <a:gd name="T9" fmla="*/ 0 h 36"/>
                      <a:gd name="T10" fmla="*/ 80 w 80"/>
                      <a:gd name="T11" fmla="*/ 36 h 36"/>
                      <a:gd name="T12" fmla="*/ 0 w 80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0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278" name="Group 540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100" cy="73"/>
                  <a:chOff x="840" y="3600"/>
                  <a:chExt cx="100" cy="73"/>
                </a:xfrm>
              </p:grpSpPr>
              <p:grpSp>
                <p:nvGrpSpPr>
                  <p:cNvPr id="2178279" name="Group 541"/>
                  <p:cNvGrpSpPr>
                    <a:grpSpLocks/>
                  </p:cNvGrpSpPr>
                  <p:nvPr/>
                </p:nvGrpSpPr>
                <p:grpSpPr bwMode="auto">
                  <a:xfrm>
                    <a:off x="840" y="3600"/>
                    <a:ext cx="49" cy="23"/>
                    <a:chOff x="840" y="3600"/>
                    <a:chExt cx="49" cy="23"/>
                  </a:xfrm>
                </p:grpSpPr>
                <p:sp>
                  <p:nvSpPr>
                    <p:cNvPr id="2178280" name="Freeform 5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0" y="3600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70 h 70"/>
                        <a:gd name="T2" fmla="*/ 0 w 25"/>
                        <a:gd name="T3" fmla="*/ 27 h 70"/>
                        <a:gd name="T4" fmla="*/ 10 w 25"/>
                        <a:gd name="T5" fmla="*/ 0 h 70"/>
                        <a:gd name="T6" fmla="*/ 25 w 25"/>
                        <a:gd name="T7" fmla="*/ 31 h 70"/>
                        <a:gd name="T8" fmla="*/ 15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5" y="70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5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81" name="Freeform 5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5" y="3600"/>
                      <a:ext cx="37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82" name="Freeform 5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8" y="3611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2 h 38"/>
                        <a:gd name="T4" fmla="*/ 8 w 82"/>
                        <a:gd name="T5" fmla="*/ 8 h 38"/>
                        <a:gd name="T6" fmla="*/ 12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2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83" name="Group 545"/>
                  <p:cNvGrpSpPr>
                    <a:grpSpLocks/>
                  </p:cNvGrpSpPr>
                  <p:nvPr/>
                </p:nvGrpSpPr>
                <p:grpSpPr bwMode="auto">
                  <a:xfrm>
                    <a:off x="853" y="3612"/>
                    <a:ext cx="48" cy="23"/>
                    <a:chOff x="853" y="3612"/>
                    <a:chExt cx="48" cy="23"/>
                  </a:xfrm>
                </p:grpSpPr>
                <p:sp>
                  <p:nvSpPr>
                    <p:cNvPr id="2178284" name="Freeform 5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3" y="3612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69 h 69"/>
                        <a:gd name="T2" fmla="*/ 0 w 25"/>
                        <a:gd name="T3" fmla="*/ 28 h 69"/>
                        <a:gd name="T4" fmla="*/ 10 w 25"/>
                        <a:gd name="T5" fmla="*/ 0 h 69"/>
                        <a:gd name="T6" fmla="*/ 25 w 25"/>
                        <a:gd name="T7" fmla="*/ 32 h 69"/>
                        <a:gd name="T8" fmla="*/ 14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4" y="69"/>
                          </a:moveTo>
                          <a:lnTo>
                            <a:pt x="0" y="28"/>
                          </a:lnTo>
                          <a:lnTo>
                            <a:pt x="10" y="0"/>
                          </a:lnTo>
                          <a:lnTo>
                            <a:pt x="25" y="32"/>
                          </a:lnTo>
                          <a:lnTo>
                            <a:pt x="14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85" name="Freeform 5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7" y="3613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2"/>
                        <a:gd name="T2" fmla="*/ 50 w 73"/>
                        <a:gd name="T3" fmla="*/ 0 h 32"/>
                        <a:gd name="T4" fmla="*/ 51 w 73"/>
                        <a:gd name="T5" fmla="*/ 3 h 32"/>
                        <a:gd name="T6" fmla="*/ 56 w 73"/>
                        <a:gd name="T7" fmla="*/ 15 h 32"/>
                        <a:gd name="T8" fmla="*/ 73 w 73"/>
                        <a:gd name="T9" fmla="*/ 32 h 32"/>
                        <a:gd name="T10" fmla="*/ 18 w 73"/>
                        <a:gd name="T11" fmla="*/ 32 h 32"/>
                        <a:gd name="T12" fmla="*/ 9 w 73"/>
                        <a:gd name="T13" fmla="*/ 22 h 32"/>
                        <a:gd name="T14" fmla="*/ 0 w 73"/>
                        <a:gd name="T15" fmla="*/ 7 h 32"/>
                        <a:gd name="T16" fmla="*/ 1 w 73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2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5"/>
                          </a:lnTo>
                          <a:lnTo>
                            <a:pt x="73" y="32"/>
                          </a:lnTo>
                          <a:lnTo>
                            <a:pt x="18" y="32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86" name="Freeform 5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0" y="3623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21 h 36"/>
                        <a:gd name="T4" fmla="*/ 6 w 83"/>
                        <a:gd name="T5" fmla="*/ 8 h 36"/>
                        <a:gd name="T6" fmla="*/ 13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6" y="8"/>
                          </a:lnTo>
                          <a:lnTo>
                            <a:pt x="13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87" name="Group 549"/>
                  <p:cNvGrpSpPr>
                    <a:grpSpLocks/>
                  </p:cNvGrpSpPr>
                  <p:nvPr/>
                </p:nvGrpSpPr>
                <p:grpSpPr bwMode="auto">
                  <a:xfrm>
                    <a:off x="865" y="3625"/>
                    <a:ext cx="49" cy="23"/>
                    <a:chOff x="865" y="3625"/>
                    <a:chExt cx="49" cy="23"/>
                  </a:xfrm>
                </p:grpSpPr>
                <p:sp>
                  <p:nvSpPr>
                    <p:cNvPr id="2178288" name="Freeform 5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5" y="362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0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0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89" name="Freeform 5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3626"/>
                      <a:ext cx="37" cy="9"/>
                    </a:xfrm>
                    <a:custGeom>
                      <a:avLst/>
                      <a:gdLst>
                        <a:gd name="T0" fmla="*/ 1 w 73"/>
                        <a:gd name="T1" fmla="*/ 0 h 29"/>
                        <a:gd name="T2" fmla="*/ 50 w 73"/>
                        <a:gd name="T3" fmla="*/ 0 h 29"/>
                        <a:gd name="T4" fmla="*/ 52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6 h 29"/>
                        <a:gd name="T16" fmla="*/ 1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90" name="Freeform 5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3" y="3636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7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91" name="Group 553"/>
                  <p:cNvGrpSpPr>
                    <a:grpSpLocks/>
                  </p:cNvGrpSpPr>
                  <p:nvPr/>
                </p:nvGrpSpPr>
                <p:grpSpPr bwMode="auto">
                  <a:xfrm>
                    <a:off x="878" y="3638"/>
                    <a:ext cx="49" cy="22"/>
                    <a:chOff x="878" y="3638"/>
                    <a:chExt cx="49" cy="22"/>
                  </a:xfrm>
                </p:grpSpPr>
                <p:sp>
                  <p:nvSpPr>
                    <p:cNvPr id="2178292" name="Freeform 5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8" y="3638"/>
                      <a:ext cx="12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93" name="Freeform 5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3" y="3638"/>
                      <a:ext cx="36" cy="10"/>
                    </a:xfrm>
                    <a:custGeom>
                      <a:avLst/>
                      <a:gdLst>
                        <a:gd name="T0" fmla="*/ 1 w 72"/>
                        <a:gd name="T1" fmla="*/ 0 h 30"/>
                        <a:gd name="T2" fmla="*/ 49 w 72"/>
                        <a:gd name="T3" fmla="*/ 0 h 30"/>
                        <a:gd name="T4" fmla="*/ 51 w 72"/>
                        <a:gd name="T5" fmla="*/ 3 h 30"/>
                        <a:gd name="T6" fmla="*/ 56 w 72"/>
                        <a:gd name="T7" fmla="*/ 12 h 30"/>
                        <a:gd name="T8" fmla="*/ 72 w 72"/>
                        <a:gd name="T9" fmla="*/ 30 h 30"/>
                        <a:gd name="T10" fmla="*/ 18 w 72"/>
                        <a:gd name="T11" fmla="*/ 30 h 30"/>
                        <a:gd name="T12" fmla="*/ 9 w 72"/>
                        <a:gd name="T13" fmla="*/ 21 h 30"/>
                        <a:gd name="T14" fmla="*/ 0 w 72"/>
                        <a:gd name="T15" fmla="*/ 5 h 30"/>
                        <a:gd name="T16" fmla="*/ 1 w 72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30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2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94" name="Freeform 5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6" y="3648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8 h 36"/>
                        <a:gd name="T6" fmla="*/ 11 w 82"/>
                        <a:gd name="T7" fmla="*/ 0 h 36"/>
                        <a:gd name="T8" fmla="*/ 66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8"/>
                          </a:lnTo>
                          <a:lnTo>
                            <a:pt x="11" y="0"/>
                          </a:lnTo>
                          <a:lnTo>
                            <a:pt x="66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295" name="Group 557"/>
                  <p:cNvGrpSpPr>
                    <a:grpSpLocks/>
                  </p:cNvGrpSpPr>
                  <p:nvPr/>
                </p:nvGrpSpPr>
                <p:grpSpPr bwMode="auto">
                  <a:xfrm>
                    <a:off x="890" y="3651"/>
                    <a:ext cx="50" cy="22"/>
                    <a:chOff x="890" y="3651"/>
                    <a:chExt cx="50" cy="22"/>
                  </a:xfrm>
                </p:grpSpPr>
                <p:sp>
                  <p:nvSpPr>
                    <p:cNvPr id="2178296" name="Freeform 5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51"/>
                      <a:ext cx="13" cy="22"/>
                    </a:xfrm>
                    <a:custGeom>
                      <a:avLst/>
                      <a:gdLst>
                        <a:gd name="T0" fmla="*/ 16 w 25"/>
                        <a:gd name="T1" fmla="*/ 67 h 67"/>
                        <a:gd name="T2" fmla="*/ 0 w 25"/>
                        <a:gd name="T3" fmla="*/ 26 h 67"/>
                        <a:gd name="T4" fmla="*/ 12 w 25"/>
                        <a:gd name="T5" fmla="*/ 0 h 67"/>
                        <a:gd name="T6" fmla="*/ 25 w 25"/>
                        <a:gd name="T7" fmla="*/ 30 h 67"/>
                        <a:gd name="T8" fmla="*/ 16 w 25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7">
                          <a:moveTo>
                            <a:pt x="16" y="67"/>
                          </a:moveTo>
                          <a:lnTo>
                            <a:pt x="0" y="26"/>
                          </a:lnTo>
                          <a:lnTo>
                            <a:pt x="12" y="0"/>
                          </a:lnTo>
                          <a:lnTo>
                            <a:pt x="25" y="30"/>
                          </a:lnTo>
                          <a:lnTo>
                            <a:pt x="16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97" name="Freeform 5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5" y="3651"/>
                      <a:ext cx="37" cy="10"/>
                    </a:xfrm>
                    <a:custGeom>
                      <a:avLst/>
                      <a:gdLst>
                        <a:gd name="T0" fmla="*/ 2 w 73"/>
                        <a:gd name="T1" fmla="*/ 0 h 29"/>
                        <a:gd name="T2" fmla="*/ 48 w 73"/>
                        <a:gd name="T3" fmla="*/ 0 h 29"/>
                        <a:gd name="T4" fmla="*/ 51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5 h 29"/>
                        <a:gd name="T16" fmla="*/ 2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2" y="0"/>
                          </a:moveTo>
                          <a:lnTo>
                            <a:pt x="48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298" name="Freeform 5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662"/>
                      <a:ext cx="41" cy="11"/>
                    </a:xfrm>
                    <a:custGeom>
                      <a:avLst/>
                      <a:gdLst>
                        <a:gd name="T0" fmla="*/ 0 w 83"/>
                        <a:gd name="T1" fmla="*/ 35 h 35"/>
                        <a:gd name="T2" fmla="*/ 2 w 83"/>
                        <a:gd name="T3" fmla="*/ 19 h 35"/>
                        <a:gd name="T4" fmla="*/ 7 w 83"/>
                        <a:gd name="T5" fmla="*/ 7 h 35"/>
                        <a:gd name="T6" fmla="*/ 11 w 83"/>
                        <a:gd name="T7" fmla="*/ 0 h 35"/>
                        <a:gd name="T8" fmla="*/ 67 w 83"/>
                        <a:gd name="T9" fmla="*/ 0 h 35"/>
                        <a:gd name="T10" fmla="*/ 83 w 83"/>
                        <a:gd name="T11" fmla="*/ 35 h 35"/>
                        <a:gd name="T12" fmla="*/ 0 w 83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5">
                          <a:moveTo>
                            <a:pt x="0" y="35"/>
                          </a:moveTo>
                          <a:lnTo>
                            <a:pt x="2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299" name="Group 561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99" cy="74"/>
                  <a:chOff x="903" y="3665"/>
                  <a:chExt cx="99" cy="74"/>
                </a:xfrm>
              </p:grpSpPr>
              <p:grpSp>
                <p:nvGrpSpPr>
                  <p:cNvPr id="2178300" name="Group 562"/>
                  <p:cNvGrpSpPr>
                    <a:grpSpLocks/>
                  </p:cNvGrpSpPr>
                  <p:nvPr/>
                </p:nvGrpSpPr>
                <p:grpSpPr bwMode="auto">
                  <a:xfrm>
                    <a:off x="903" y="3665"/>
                    <a:ext cx="49" cy="23"/>
                    <a:chOff x="903" y="3665"/>
                    <a:chExt cx="49" cy="23"/>
                  </a:xfrm>
                </p:grpSpPr>
                <p:sp>
                  <p:nvSpPr>
                    <p:cNvPr id="2178301" name="Freeform 5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3" y="366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10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02" name="Freeform 5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666"/>
                      <a:ext cx="37" cy="10"/>
                    </a:xfrm>
                    <a:custGeom>
                      <a:avLst/>
                      <a:gdLst>
                        <a:gd name="T0" fmla="*/ 1 w 73"/>
                        <a:gd name="T1" fmla="*/ 0 h 31"/>
                        <a:gd name="T2" fmla="*/ 49 w 73"/>
                        <a:gd name="T3" fmla="*/ 0 h 31"/>
                        <a:gd name="T4" fmla="*/ 51 w 73"/>
                        <a:gd name="T5" fmla="*/ 4 h 31"/>
                        <a:gd name="T6" fmla="*/ 56 w 73"/>
                        <a:gd name="T7" fmla="*/ 13 h 31"/>
                        <a:gd name="T8" fmla="*/ 73 w 73"/>
                        <a:gd name="T9" fmla="*/ 31 h 31"/>
                        <a:gd name="T10" fmla="*/ 18 w 73"/>
                        <a:gd name="T11" fmla="*/ 31 h 31"/>
                        <a:gd name="T12" fmla="*/ 10 w 73"/>
                        <a:gd name="T13" fmla="*/ 22 h 31"/>
                        <a:gd name="T14" fmla="*/ 0 w 73"/>
                        <a:gd name="T15" fmla="*/ 7 h 31"/>
                        <a:gd name="T16" fmla="*/ 1 w 73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31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3" y="31"/>
                          </a:lnTo>
                          <a:lnTo>
                            <a:pt x="18" y="31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03" name="Freeform 5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1" y="3676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20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6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6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04" name="Group 566"/>
                  <p:cNvGrpSpPr>
                    <a:grpSpLocks/>
                  </p:cNvGrpSpPr>
                  <p:nvPr/>
                </p:nvGrpSpPr>
                <p:grpSpPr bwMode="auto">
                  <a:xfrm>
                    <a:off x="914" y="3678"/>
                    <a:ext cx="49" cy="23"/>
                    <a:chOff x="914" y="3678"/>
                    <a:chExt cx="49" cy="23"/>
                  </a:xfrm>
                </p:grpSpPr>
                <p:sp>
                  <p:nvSpPr>
                    <p:cNvPr id="2178305" name="Freeform 5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4" y="3678"/>
                      <a:ext cx="13" cy="23"/>
                    </a:xfrm>
                    <a:custGeom>
                      <a:avLst/>
                      <a:gdLst>
                        <a:gd name="T0" fmla="*/ 14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4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4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06" name="Freeform 5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678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0"/>
                        <a:gd name="T2" fmla="*/ 50 w 75"/>
                        <a:gd name="T3" fmla="*/ 0 h 30"/>
                        <a:gd name="T4" fmla="*/ 51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1 w 75"/>
                        <a:gd name="T13" fmla="*/ 20 h 30"/>
                        <a:gd name="T14" fmla="*/ 0 w 75"/>
                        <a:gd name="T15" fmla="*/ 6 h 30"/>
                        <a:gd name="T16" fmla="*/ 1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07" name="Freeform 5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2" y="3688"/>
                      <a:ext cx="41" cy="13"/>
                    </a:xfrm>
                    <a:custGeom>
                      <a:avLst/>
                      <a:gdLst>
                        <a:gd name="T0" fmla="*/ 0 w 81"/>
                        <a:gd name="T1" fmla="*/ 38 h 38"/>
                        <a:gd name="T2" fmla="*/ 2 w 81"/>
                        <a:gd name="T3" fmla="*/ 21 h 38"/>
                        <a:gd name="T4" fmla="*/ 8 w 81"/>
                        <a:gd name="T5" fmla="*/ 8 h 38"/>
                        <a:gd name="T6" fmla="*/ 12 w 81"/>
                        <a:gd name="T7" fmla="*/ 0 h 38"/>
                        <a:gd name="T8" fmla="*/ 68 w 81"/>
                        <a:gd name="T9" fmla="*/ 0 h 38"/>
                        <a:gd name="T10" fmla="*/ 81 w 81"/>
                        <a:gd name="T11" fmla="*/ 38 h 38"/>
                        <a:gd name="T12" fmla="*/ 0 w 81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8">
                          <a:moveTo>
                            <a:pt x="0" y="38"/>
                          </a:moveTo>
                          <a:lnTo>
                            <a:pt x="2" y="21"/>
                          </a:lnTo>
                          <a:lnTo>
                            <a:pt x="8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1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08" name="Group 570"/>
                  <p:cNvGrpSpPr>
                    <a:grpSpLocks/>
                  </p:cNvGrpSpPr>
                  <p:nvPr/>
                </p:nvGrpSpPr>
                <p:grpSpPr bwMode="auto">
                  <a:xfrm>
                    <a:off x="928" y="3690"/>
                    <a:ext cx="48" cy="23"/>
                    <a:chOff x="928" y="3690"/>
                    <a:chExt cx="48" cy="23"/>
                  </a:xfrm>
                </p:grpSpPr>
                <p:sp>
                  <p:nvSpPr>
                    <p:cNvPr id="2178309" name="Freeform 5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28" y="3690"/>
                      <a:ext cx="12" cy="23"/>
                    </a:xfrm>
                    <a:custGeom>
                      <a:avLst/>
                      <a:gdLst>
                        <a:gd name="T0" fmla="*/ 13 w 25"/>
                        <a:gd name="T1" fmla="*/ 70 h 70"/>
                        <a:gd name="T2" fmla="*/ 0 w 25"/>
                        <a:gd name="T3" fmla="*/ 29 h 70"/>
                        <a:gd name="T4" fmla="*/ 9 w 25"/>
                        <a:gd name="T5" fmla="*/ 0 h 70"/>
                        <a:gd name="T6" fmla="*/ 25 w 25"/>
                        <a:gd name="T7" fmla="*/ 33 h 70"/>
                        <a:gd name="T8" fmla="*/ 13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3" y="70"/>
                          </a:moveTo>
                          <a:lnTo>
                            <a:pt x="0" y="29"/>
                          </a:lnTo>
                          <a:lnTo>
                            <a:pt x="9" y="0"/>
                          </a:lnTo>
                          <a:lnTo>
                            <a:pt x="25" y="33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0" name="Freeform 5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2" y="3691"/>
                      <a:ext cx="38" cy="10"/>
                    </a:xfrm>
                    <a:custGeom>
                      <a:avLst/>
                      <a:gdLst>
                        <a:gd name="T0" fmla="*/ 2 w 75"/>
                        <a:gd name="T1" fmla="*/ 0 h 31"/>
                        <a:gd name="T2" fmla="*/ 50 w 75"/>
                        <a:gd name="T3" fmla="*/ 0 h 31"/>
                        <a:gd name="T4" fmla="*/ 52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6 h 31"/>
                        <a:gd name="T16" fmla="*/ 2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0" y="22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1" name="Freeform 5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5" y="3701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19 h 36"/>
                        <a:gd name="T4" fmla="*/ 8 w 83"/>
                        <a:gd name="T5" fmla="*/ 7 h 36"/>
                        <a:gd name="T6" fmla="*/ 13 w 83"/>
                        <a:gd name="T7" fmla="*/ 0 h 36"/>
                        <a:gd name="T8" fmla="*/ 69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8" y="7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12" name="Group 574"/>
                  <p:cNvGrpSpPr>
                    <a:grpSpLocks/>
                  </p:cNvGrpSpPr>
                  <p:nvPr/>
                </p:nvGrpSpPr>
                <p:grpSpPr bwMode="auto">
                  <a:xfrm>
                    <a:off x="940" y="3703"/>
                    <a:ext cx="49" cy="23"/>
                    <a:chOff x="940" y="3703"/>
                    <a:chExt cx="49" cy="23"/>
                  </a:xfrm>
                </p:grpSpPr>
                <p:sp>
                  <p:nvSpPr>
                    <p:cNvPr id="2178313" name="Freeform 5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0" y="3703"/>
                      <a:ext cx="13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9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4" name="Freeform 5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5" y="3703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0"/>
                        <a:gd name="T2" fmla="*/ 52 w 75"/>
                        <a:gd name="T3" fmla="*/ 0 h 30"/>
                        <a:gd name="T4" fmla="*/ 53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0 w 75"/>
                        <a:gd name="T13" fmla="*/ 21 h 30"/>
                        <a:gd name="T14" fmla="*/ 0 w 75"/>
                        <a:gd name="T15" fmla="*/ 7 h 30"/>
                        <a:gd name="T16" fmla="*/ 2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2" y="0"/>
                          </a:moveTo>
                          <a:lnTo>
                            <a:pt x="52" y="0"/>
                          </a:lnTo>
                          <a:lnTo>
                            <a:pt x="53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0" y="21"/>
                          </a:lnTo>
                          <a:lnTo>
                            <a:pt x="0" y="7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5" name="Freeform 5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8" y="3714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19 h 36"/>
                        <a:gd name="T4" fmla="*/ 7 w 82"/>
                        <a:gd name="T5" fmla="*/ 8 h 36"/>
                        <a:gd name="T6" fmla="*/ 12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16" name="Group 578"/>
                  <p:cNvGrpSpPr>
                    <a:grpSpLocks/>
                  </p:cNvGrpSpPr>
                  <p:nvPr/>
                </p:nvGrpSpPr>
                <p:grpSpPr bwMode="auto">
                  <a:xfrm>
                    <a:off x="953" y="3716"/>
                    <a:ext cx="49" cy="23"/>
                    <a:chOff x="953" y="3716"/>
                    <a:chExt cx="49" cy="23"/>
                  </a:xfrm>
                </p:grpSpPr>
                <p:sp>
                  <p:nvSpPr>
                    <p:cNvPr id="2178317" name="Freeform 5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3716"/>
                      <a:ext cx="12" cy="23"/>
                    </a:xfrm>
                    <a:custGeom>
                      <a:avLst/>
                      <a:gdLst>
                        <a:gd name="T0" fmla="*/ 14 w 23"/>
                        <a:gd name="T1" fmla="*/ 68 h 68"/>
                        <a:gd name="T2" fmla="*/ 0 w 23"/>
                        <a:gd name="T3" fmla="*/ 27 h 68"/>
                        <a:gd name="T4" fmla="*/ 9 w 23"/>
                        <a:gd name="T5" fmla="*/ 0 h 68"/>
                        <a:gd name="T6" fmla="*/ 23 w 23"/>
                        <a:gd name="T7" fmla="*/ 30 h 68"/>
                        <a:gd name="T8" fmla="*/ 14 w 23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68">
                          <a:moveTo>
                            <a:pt x="14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3" y="30"/>
                          </a:lnTo>
                          <a:lnTo>
                            <a:pt x="14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8" name="Freeform 5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8" y="3717"/>
                      <a:ext cx="37" cy="9"/>
                    </a:xfrm>
                    <a:custGeom>
                      <a:avLst/>
                      <a:gdLst>
                        <a:gd name="T0" fmla="*/ 1 w 75"/>
                        <a:gd name="T1" fmla="*/ 0 h 29"/>
                        <a:gd name="T2" fmla="*/ 50 w 75"/>
                        <a:gd name="T3" fmla="*/ 0 h 29"/>
                        <a:gd name="T4" fmla="*/ 51 w 75"/>
                        <a:gd name="T5" fmla="*/ 3 h 29"/>
                        <a:gd name="T6" fmla="*/ 56 w 75"/>
                        <a:gd name="T7" fmla="*/ 11 h 29"/>
                        <a:gd name="T8" fmla="*/ 75 w 75"/>
                        <a:gd name="T9" fmla="*/ 29 h 29"/>
                        <a:gd name="T10" fmla="*/ 18 w 75"/>
                        <a:gd name="T11" fmla="*/ 29 h 29"/>
                        <a:gd name="T12" fmla="*/ 9 w 75"/>
                        <a:gd name="T13" fmla="*/ 20 h 29"/>
                        <a:gd name="T14" fmla="*/ 0 w 75"/>
                        <a:gd name="T15" fmla="*/ 6 h 29"/>
                        <a:gd name="T16" fmla="*/ 1 w 75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1"/>
                          </a:lnTo>
                          <a:lnTo>
                            <a:pt x="75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19" name="Freeform 5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727"/>
                      <a:ext cx="41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320" name="Group 582"/>
                <p:cNvGrpSpPr>
                  <a:grpSpLocks/>
                </p:cNvGrpSpPr>
                <p:nvPr/>
              </p:nvGrpSpPr>
              <p:grpSpPr bwMode="auto">
                <a:xfrm>
                  <a:off x="963" y="3727"/>
                  <a:ext cx="49" cy="23"/>
                  <a:chOff x="963" y="3727"/>
                  <a:chExt cx="49" cy="23"/>
                </a:xfrm>
              </p:grpSpPr>
              <p:sp>
                <p:nvSpPr>
                  <p:cNvPr id="2178321" name="Freeform 583"/>
                  <p:cNvSpPr>
                    <a:spLocks noChangeArrowheads="1"/>
                  </p:cNvSpPr>
                  <p:nvPr/>
                </p:nvSpPr>
                <p:spPr bwMode="auto">
                  <a:xfrm>
                    <a:off x="963" y="3727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22" name="Freeform 584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728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8 w 73"/>
                      <a:gd name="T3" fmla="*/ 0 h 31"/>
                      <a:gd name="T4" fmla="*/ 50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23" name="Freeform 585"/>
                  <p:cNvSpPr>
                    <a:spLocks noChangeArrowheads="1"/>
                  </p:cNvSpPr>
                  <p:nvPr/>
                </p:nvSpPr>
                <p:spPr bwMode="auto">
                  <a:xfrm>
                    <a:off x="972" y="373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24" name="Group 586"/>
                <p:cNvGrpSpPr>
                  <a:grpSpLocks/>
                </p:cNvGrpSpPr>
                <p:nvPr/>
              </p:nvGrpSpPr>
              <p:grpSpPr bwMode="auto">
                <a:xfrm>
                  <a:off x="976" y="3740"/>
                  <a:ext cx="50" cy="22"/>
                  <a:chOff x="976" y="3740"/>
                  <a:chExt cx="50" cy="22"/>
                </a:xfrm>
              </p:grpSpPr>
              <p:sp>
                <p:nvSpPr>
                  <p:cNvPr id="2178325" name="Freeform 587"/>
                  <p:cNvSpPr>
                    <a:spLocks noChangeArrowheads="1"/>
                  </p:cNvSpPr>
                  <p:nvPr/>
                </p:nvSpPr>
                <p:spPr bwMode="auto">
                  <a:xfrm>
                    <a:off x="976" y="3740"/>
                    <a:ext cx="12" cy="22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10 w 23"/>
                      <a:gd name="T5" fmla="*/ 0 h 68"/>
                      <a:gd name="T6" fmla="*/ 23 w 23"/>
                      <a:gd name="T7" fmla="*/ 31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3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26" name="Freeform 588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740"/>
                    <a:ext cx="38" cy="10"/>
                  </a:xfrm>
                  <a:custGeom>
                    <a:avLst/>
                    <a:gdLst>
                      <a:gd name="T0" fmla="*/ 4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60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2 w 75"/>
                      <a:gd name="T13" fmla="*/ 22 h 31"/>
                      <a:gd name="T14" fmla="*/ 0 w 75"/>
                      <a:gd name="T15" fmla="*/ 7 h 31"/>
                      <a:gd name="T16" fmla="*/ 4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4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60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2" y="22"/>
                        </a:lnTo>
                        <a:lnTo>
                          <a:pt x="0" y="7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27" name="Freeform 589"/>
                  <p:cNvSpPr>
                    <a:spLocks noChangeArrowheads="1"/>
                  </p:cNvSpPr>
                  <p:nvPr/>
                </p:nvSpPr>
                <p:spPr bwMode="auto">
                  <a:xfrm>
                    <a:off x="984" y="3750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1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28" name="Group 590"/>
                <p:cNvGrpSpPr>
                  <a:grpSpLocks/>
                </p:cNvGrpSpPr>
                <p:nvPr/>
              </p:nvGrpSpPr>
              <p:grpSpPr bwMode="auto">
                <a:xfrm>
                  <a:off x="761" y="3560"/>
                  <a:ext cx="50" cy="22"/>
                  <a:chOff x="761" y="3560"/>
                  <a:chExt cx="50" cy="22"/>
                </a:xfrm>
              </p:grpSpPr>
              <p:sp>
                <p:nvSpPr>
                  <p:cNvPr id="2178329" name="Freeform 591"/>
                  <p:cNvSpPr>
                    <a:spLocks noChangeArrowheads="1"/>
                  </p:cNvSpPr>
                  <p:nvPr/>
                </p:nvSpPr>
                <p:spPr bwMode="auto">
                  <a:xfrm>
                    <a:off x="761" y="3560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0" name="Freeform 592"/>
                  <p:cNvSpPr>
                    <a:spLocks noChangeArrowheads="1"/>
                  </p:cNvSpPr>
                  <p:nvPr/>
                </p:nvSpPr>
                <p:spPr bwMode="auto">
                  <a:xfrm>
                    <a:off x="767" y="3560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9 w 73"/>
                      <a:gd name="T3" fmla="*/ 0 h 29"/>
                      <a:gd name="T4" fmla="*/ 50 w 73"/>
                      <a:gd name="T5" fmla="*/ 2 h 29"/>
                      <a:gd name="T6" fmla="*/ 55 w 73"/>
                      <a:gd name="T7" fmla="*/ 11 h 29"/>
                      <a:gd name="T8" fmla="*/ 73 w 73"/>
                      <a:gd name="T9" fmla="*/ 29 h 29"/>
                      <a:gd name="T10" fmla="*/ 17 w 73"/>
                      <a:gd name="T11" fmla="*/ 29 h 29"/>
                      <a:gd name="T12" fmla="*/ 8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5" y="11"/>
                        </a:lnTo>
                        <a:lnTo>
                          <a:pt x="73" y="29"/>
                        </a:lnTo>
                        <a:lnTo>
                          <a:pt x="17" y="29"/>
                        </a:lnTo>
                        <a:lnTo>
                          <a:pt x="8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1" name="Freeform 593"/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571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8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32" name="Group 594"/>
                <p:cNvGrpSpPr>
                  <a:grpSpLocks/>
                </p:cNvGrpSpPr>
                <p:nvPr/>
              </p:nvGrpSpPr>
              <p:grpSpPr bwMode="auto">
                <a:xfrm>
                  <a:off x="774" y="3572"/>
                  <a:ext cx="49" cy="23"/>
                  <a:chOff x="774" y="3572"/>
                  <a:chExt cx="49" cy="23"/>
                </a:xfrm>
              </p:grpSpPr>
              <p:sp>
                <p:nvSpPr>
                  <p:cNvPr id="2178333" name="Freeform 595"/>
                  <p:cNvSpPr>
                    <a:spLocks noChangeArrowheads="1"/>
                  </p:cNvSpPr>
                  <p:nvPr/>
                </p:nvSpPr>
                <p:spPr bwMode="auto">
                  <a:xfrm>
                    <a:off x="774" y="3572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5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5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4" name="Freeform 596"/>
                  <p:cNvSpPr>
                    <a:spLocks noChangeArrowheads="1"/>
                  </p:cNvSpPr>
                  <p:nvPr/>
                </p:nvSpPr>
                <p:spPr bwMode="auto">
                  <a:xfrm>
                    <a:off x="778" y="3573"/>
                    <a:ext cx="38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10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5" name="Freeform 597"/>
                  <p:cNvSpPr>
                    <a:spLocks noChangeArrowheads="1"/>
                  </p:cNvSpPr>
                  <p:nvPr/>
                </p:nvSpPr>
                <p:spPr bwMode="auto">
                  <a:xfrm>
                    <a:off x="782" y="358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36" name="Group 598"/>
                <p:cNvGrpSpPr>
                  <a:grpSpLocks/>
                </p:cNvGrpSpPr>
                <p:nvPr/>
              </p:nvGrpSpPr>
              <p:grpSpPr bwMode="auto">
                <a:xfrm>
                  <a:off x="787" y="3585"/>
                  <a:ext cx="49" cy="23"/>
                  <a:chOff x="787" y="3585"/>
                  <a:chExt cx="49" cy="23"/>
                </a:xfrm>
              </p:grpSpPr>
              <p:sp>
                <p:nvSpPr>
                  <p:cNvPr id="2178337" name="Freeform 599"/>
                  <p:cNvSpPr>
                    <a:spLocks noChangeArrowheads="1"/>
                  </p:cNvSpPr>
                  <p:nvPr/>
                </p:nvSpPr>
                <p:spPr bwMode="auto">
                  <a:xfrm>
                    <a:off x="787" y="3585"/>
                    <a:ext cx="12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6 h 68"/>
                      <a:gd name="T4" fmla="*/ 9 w 24"/>
                      <a:gd name="T5" fmla="*/ 0 h 68"/>
                      <a:gd name="T6" fmla="*/ 24 w 24"/>
                      <a:gd name="T7" fmla="*/ 31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8" name="Freeform 600"/>
                  <p:cNvSpPr>
                    <a:spLocks noChangeArrowheads="1"/>
                  </p:cNvSpPr>
                  <p:nvPr/>
                </p:nvSpPr>
                <p:spPr bwMode="auto">
                  <a:xfrm>
                    <a:off x="792" y="3586"/>
                    <a:ext cx="36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2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1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1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39" name="Freeform 601"/>
                  <p:cNvSpPr>
                    <a:spLocks noChangeArrowheads="1"/>
                  </p:cNvSpPr>
                  <p:nvPr/>
                </p:nvSpPr>
                <p:spPr bwMode="auto">
                  <a:xfrm>
                    <a:off x="795" y="3596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0 h 36"/>
                      <a:gd name="T4" fmla="*/ 6 w 81"/>
                      <a:gd name="T5" fmla="*/ 8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40" name="Group 602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99" cy="73"/>
                  <a:chOff x="799" y="3600"/>
                  <a:chExt cx="99" cy="73"/>
                </a:xfrm>
              </p:grpSpPr>
              <p:grpSp>
                <p:nvGrpSpPr>
                  <p:cNvPr id="2178341" name="Group 603"/>
                  <p:cNvGrpSpPr>
                    <a:grpSpLocks/>
                  </p:cNvGrpSpPr>
                  <p:nvPr/>
                </p:nvGrpSpPr>
                <p:grpSpPr bwMode="auto">
                  <a:xfrm>
                    <a:off x="799" y="3600"/>
                    <a:ext cx="48" cy="23"/>
                    <a:chOff x="799" y="3600"/>
                    <a:chExt cx="48" cy="23"/>
                  </a:xfrm>
                </p:grpSpPr>
                <p:sp>
                  <p:nvSpPr>
                    <p:cNvPr id="2178342" name="Freeform 6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99" y="3600"/>
                      <a:ext cx="12" cy="23"/>
                    </a:xfrm>
                    <a:custGeom>
                      <a:avLst/>
                      <a:gdLst>
                        <a:gd name="T0" fmla="*/ 14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4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4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43" name="Freeform 6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3" y="3600"/>
                      <a:ext cx="38" cy="11"/>
                    </a:xfrm>
                    <a:custGeom>
                      <a:avLst/>
                      <a:gdLst>
                        <a:gd name="T0" fmla="*/ 1 w 75"/>
                        <a:gd name="T1" fmla="*/ 0 h 31"/>
                        <a:gd name="T2" fmla="*/ 50 w 75"/>
                        <a:gd name="T3" fmla="*/ 0 h 31"/>
                        <a:gd name="T4" fmla="*/ 51 w 75"/>
                        <a:gd name="T5" fmla="*/ 4 h 31"/>
                        <a:gd name="T6" fmla="*/ 56 w 75"/>
                        <a:gd name="T7" fmla="*/ 13 h 31"/>
                        <a:gd name="T8" fmla="*/ 75 w 75"/>
                        <a:gd name="T9" fmla="*/ 31 h 31"/>
                        <a:gd name="T10" fmla="*/ 18 w 75"/>
                        <a:gd name="T11" fmla="*/ 31 h 31"/>
                        <a:gd name="T12" fmla="*/ 9 w 75"/>
                        <a:gd name="T13" fmla="*/ 22 h 31"/>
                        <a:gd name="T14" fmla="*/ 0 w 75"/>
                        <a:gd name="T15" fmla="*/ 7 h 31"/>
                        <a:gd name="T16" fmla="*/ 1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4"/>
                          </a:lnTo>
                          <a:lnTo>
                            <a:pt x="56" y="13"/>
                          </a:lnTo>
                          <a:lnTo>
                            <a:pt x="75" y="31"/>
                          </a:lnTo>
                          <a:lnTo>
                            <a:pt x="18" y="31"/>
                          </a:lnTo>
                          <a:lnTo>
                            <a:pt x="9" y="22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44" name="Freeform 6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7" y="3611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2 w 82"/>
                        <a:gd name="T3" fmla="*/ 22 h 38"/>
                        <a:gd name="T4" fmla="*/ 7 w 82"/>
                        <a:gd name="T5" fmla="*/ 8 h 38"/>
                        <a:gd name="T6" fmla="*/ 12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2" y="22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45" name="Group 607"/>
                  <p:cNvGrpSpPr>
                    <a:grpSpLocks/>
                  </p:cNvGrpSpPr>
                  <p:nvPr/>
                </p:nvGrpSpPr>
                <p:grpSpPr bwMode="auto">
                  <a:xfrm>
                    <a:off x="811" y="3612"/>
                    <a:ext cx="48" cy="23"/>
                    <a:chOff x="811" y="3612"/>
                    <a:chExt cx="48" cy="23"/>
                  </a:xfrm>
                </p:grpSpPr>
                <p:sp>
                  <p:nvSpPr>
                    <p:cNvPr id="2178346" name="Freeform 6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1" y="3612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9 h 69"/>
                        <a:gd name="T2" fmla="*/ 0 w 25"/>
                        <a:gd name="T3" fmla="*/ 28 h 69"/>
                        <a:gd name="T4" fmla="*/ 11 w 25"/>
                        <a:gd name="T5" fmla="*/ 0 h 69"/>
                        <a:gd name="T6" fmla="*/ 25 w 25"/>
                        <a:gd name="T7" fmla="*/ 32 h 69"/>
                        <a:gd name="T8" fmla="*/ 15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5" y="69"/>
                          </a:moveTo>
                          <a:lnTo>
                            <a:pt x="0" y="28"/>
                          </a:lnTo>
                          <a:lnTo>
                            <a:pt x="11" y="0"/>
                          </a:lnTo>
                          <a:lnTo>
                            <a:pt x="25" y="32"/>
                          </a:lnTo>
                          <a:lnTo>
                            <a:pt x="15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47" name="Freeform 6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5" y="3613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2"/>
                        <a:gd name="T2" fmla="*/ 52 w 75"/>
                        <a:gd name="T3" fmla="*/ 0 h 32"/>
                        <a:gd name="T4" fmla="*/ 53 w 75"/>
                        <a:gd name="T5" fmla="*/ 3 h 32"/>
                        <a:gd name="T6" fmla="*/ 57 w 75"/>
                        <a:gd name="T7" fmla="*/ 15 h 32"/>
                        <a:gd name="T8" fmla="*/ 75 w 75"/>
                        <a:gd name="T9" fmla="*/ 32 h 32"/>
                        <a:gd name="T10" fmla="*/ 19 w 75"/>
                        <a:gd name="T11" fmla="*/ 32 h 32"/>
                        <a:gd name="T12" fmla="*/ 10 w 75"/>
                        <a:gd name="T13" fmla="*/ 22 h 32"/>
                        <a:gd name="T14" fmla="*/ 0 w 75"/>
                        <a:gd name="T15" fmla="*/ 7 h 32"/>
                        <a:gd name="T16" fmla="*/ 3 w 75"/>
                        <a:gd name="T17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2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3"/>
                          </a:lnTo>
                          <a:lnTo>
                            <a:pt x="57" y="15"/>
                          </a:lnTo>
                          <a:lnTo>
                            <a:pt x="75" y="32"/>
                          </a:lnTo>
                          <a:lnTo>
                            <a:pt x="19" y="32"/>
                          </a:lnTo>
                          <a:lnTo>
                            <a:pt x="10" y="22"/>
                          </a:lnTo>
                          <a:lnTo>
                            <a:pt x="0" y="7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48" name="Freeform 6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9" y="3623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1 w 82"/>
                        <a:gd name="T3" fmla="*/ 21 h 36"/>
                        <a:gd name="T4" fmla="*/ 7 w 82"/>
                        <a:gd name="T5" fmla="*/ 8 h 36"/>
                        <a:gd name="T6" fmla="*/ 12 w 82"/>
                        <a:gd name="T7" fmla="*/ 0 h 36"/>
                        <a:gd name="T8" fmla="*/ 68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1" y="21"/>
                          </a:lnTo>
                          <a:lnTo>
                            <a:pt x="7" y="8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49" name="Group 611"/>
                  <p:cNvGrpSpPr>
                    <a:grpSpLocks/>
                  </p:cNvGrpSpPr>
                  <p:nvPr/>
                </p:nvGrpSpPr>
                <p:grpSpPr bwMode="auto">
                  <a:xfrm>
                    <a:off x="823" y="3625"/>
                    <a:ext cx="49" cy="23"/>
                    <a:chOff x="823" y="3625"/>
                    <a:chExt cx="49" cy="23"/>
                  </a:xfrm>
                </p:grpSpPr>
                <p:sp>
                  <p:nvSpPr>
                    <p:cNvPr id="2178350" name="Freeform 6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3" y="3625"/>
                      <a:ext cx="13" cy="23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1 w 25"/>
                        <a:gd name="T5" fmla="*/ 0 h 68"/>
                        <a:gd name="T6" fmla="*/ 25 w 25"/>
                        <a:gd name="T7" fmla="*/ 30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0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51" name="Freeform 6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8" y="3626"/>
                      <a:ext cx="37" cy="9"/>
                    </a:xfrm>
                    <a:custGeom>
                      <a:avLst/>
                      <a:gdLst>
                        <a:gd name="T0" fmla="*/ 1 w 73"/>
                        <a:gd name="T1" fmla="*/ 0 h 29"/>
                        <a:gd name="T2" fmla="*/ 50 w 73"/>
                        <a:gd name="T3" fmla="*/ 0 h 29"/>
                        <a:gd name="T4" fmla="*/ 51 w 73"/>
                        <a:gd name="T5" fmla="*/ 2 h 29"/>
                        <a:gd name="T6" fmla="*/ 56 w 73"/>
                        <a:gd name="T7" fmla="*/ 11 h 29"/>
                        <a:gd name="T8" fmla="*/ 73 w 73"/>
                        <a:gd name="T9" fmla="*/ 29 h 29"/>
                        <a:gd name="T10" fmla="*/ 18 w 73"/>
                        <a:gd name="T11" fmla="*/ 29 h 29"/>
                        <a:gd name="T12" fmla="*/ 9 w 73"/>
                        <a:gd name="T13" fmla="*/ 20 h 29"/>
                        <a:gd name="T14" fmla="*/ 0 w 73"/>
                        <a:gd name="T15" fmla="*/ 6 h 29"/>
                        <a:gd name="T16" fmla="*/ 1 w 73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3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2"/>
                          </a:lnTo>
                          <a:lnTo>
                            <a:pt x="56" y="11"/>
                          </a:lnTo>
                          <a:lnTo>
                            <a:pt x="73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52" name="Freeform 6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2" y="3636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6 w 82"/>
                        <a:gd name="T5" fmla="*/ 7 h 36"/>
                        <a:gd name="T6" fmla="*/ 11 w 82"/>
                        <a:gd name="T7" fmla="*/ 0 h 36"/>
                        <a:gd name="T8" fmla="*/ 67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6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53" name="Group 615"/>
                  <p:cNvGrpSpPr>
                    <a:grpSpLocks/>
                  </p:cNvGrpSpPr>
                  <p:nvPr/>
                </p:nvGrpSpPr>
                <p:grpSpPr bwMode="auto">
                  <a:xfrm>
                    <a:off x="836" y="3638"/>
                    <a:ext cx="50" cy="22"/>
                    <a:chOff x="836" y="3638"/>
                    <a:chExt cx="50" cy="22"/>
                  </a:xfrm>
                </p:grpSpPr>
                <p:sp>
                  <p:nvSpPr>
                    <p:cNvPr id="2178354" name="Freeform 6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638"/>
                      <a:ext cx="12" cy="22"/>
                    </a:xfrm>
                    <a:custGeom>
                      <a:avLst/>
                      <a:gdLst>
                        <a:gd name="T0" fmla="*/ 16 w 25"/>
                        <a:gd name="T1" fmla="*/ 68 h 68"/>
                        <a:gd name="T2" fmla="*/ 0 w 25"/>
                        <a:gd name="T3" fmla="*/ 27 h 68"/>
                        <a:gd name="T4" fmla="*/ 12 w 25"/>
                        <a:gd name="T5" fmla="*/ 0 h 68"/>
                        <a:gd name="T6" fmla="*/ 25 w 25"/>
                        <a:gd name="T7" fmla="*/ 31 h 68"/>
                        <a:gd name="T8" fmla="*/ 16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6" y="68"/>
                          </a:moveTo>
                          <a:lnTo>
                            <a:pt x="0" y="27"/>
                          </a:lnTo>
                          <a:lnTo>
                            <a:pt x="12" y="0"/>
                          </a:lnTo>
                          <a:lnTo>
                            <a:pt x="25" y="31"/>
                          </a:lnTo>
                          <a:lnTo>
                            <a:pt x="16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55" name="Freeform 6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2" y="3638"/>
                      <a:ext cx="36" cy="10"/>
                    </a:xfrm>
                    <a:custGeom>
                      <a:avLst/>
                      <a:gdLst>
                        <a:gd name="T0" fmla="*/ 1 w 72"/>
                        <a:gd name="T1" fmla="*/ 0 h 30"/>
                        <a:gd name="T2" fmla="*/ 49 w 72"/>
                        <a:gd name="T3" fmla="*/ 0 h 30"/>
                        <a:gd name="T4" fmla="*/ 51 w 72"/>
                        <a:gd name="T5" fmla="*/ 3 h 30"/>
                        <a:gd name="T6" fmla="*/ 55 w 72"/>
                        <a:gd name="T7" fmla="*/ 12 h 30"/>
                        <a:gd name="T8" fmla="*/ 72 w 72"/>
                        <a:gd name="T9" fmla="*/ 30 h 30"/>
                        <a:gd name="T10" fmla="*/ 17 w 72"/>
                        <a:gd name="T11" fmla="*/ 30 h 30"/>
                        <a:gd name="T12" fmla="*/ 8 w 72"/>
                        <a:gd name="T13" fmla="*/ 21 h 30"/>
                        <a:gd name="T14" fmla="*/ 0 w 72"/>
                        <a:gd name="T15" fmla="*/ 5 h 30"/>
                        <a:gd name="T16" fmla="*/ 1 w 72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2" h="30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1" y="3"/>
                          </a:lnTo>
                          <a:lnTo>
                            <a:pt x="55" y="12"/>
                          </a:lnTo>
                          <a:lnTo>
                            <a:pt x="72" y="30"/>
                          </a:lnTo>
                          <a:lnTo>
                            <a:pt x="17" y="30"/>
                          </a:lnTo>
                          <a:lnTo>
                            <a:pt x="8" y="21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56" name="Freeform 6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4" y="3648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19 h 36"/>
                        <a:gd name="T4" fmla="*/ 7 w 83"/>
                        <a:gd name="T5" fmla="*/ 8 h 36"/>
                        <a:gd name="T6" fmla="*/ 11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7" y="8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57" name="Group 619"/>
                  <p:cNvGrpSpPr>
                    <a:grpSpLocks/>
                  </p:cNvGrpSpPr>
                  <p:nvPr/>
                </p:nvGrpSpPr>
                <p:grpSpPr bwMode="auto">
                  <a:xfrm>
                    <a:off x="849" y="3651"/>
                    <a:ext cx="49" cy="22"/>
                    <a:chOff x="849" y="3651"/>
                    <a:chExt cx="49" cy="22"/>
                  </a:xfrm>
                </p:grpSpPr>
                <p:sp>
                  <p:nvSpPr>
                    <p:cNvPr id="2178358" name="Freeform 6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9" y="3651"/>
                      <a:ext cx="12" cy="22"/>
                    </a:xfrm>
                    <a:custGeom>
                      <a:avLst/>
                      <a:gdLst>
                        <a:gd name="T0" fmla="*/ 15 w 25"/>
                        <a:gd name="T1" fmla="*/ 67 h 67"/>
                        <a:gd name="T2" fmla="*/ 0 w 25"/>
                        <a:gd name="T3" fmla="*/ 26 h 67"/>
                        <a:gd name="T4" fmla="*/ 10 w 25"/>
                        <a:gd name="T5" fmla="*/ 0 h 67"/>
                        <a:gd name="T6" fmla="*/ 25 w 25"/>
                        <a:gd name="T7" fmla="*/ 30 h 67"/>
                        <a:gd name="T8" fmla="*/ 15 w 25"/>
                        <a:gd name="T9" fmla="*/ 67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7">
                          <a:moveTo>
                            <a:pt x="15" y="67"/>
                          </a:moveTo>
                          <a:lnTo>
                            <a:pt x="0" y="26"/>
                          </a:lnTo>
                          <a:lnTo>
                            <a:pt x="10" y="0"/>
                          </a:lnTo>
                          <a:lnTo>
                            <a:pt x="25" y="30"/>
                          </a:lnTo>
                          <a:lnTo>
                            <a:pt x="15" y="67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59" name="Freeform 6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4" y="3651"/>
                      <a:ext cx="37" cy="10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49 w 74"/>
                        <a:gd name="T3" fmla="*/ 0 h 29"/>
                        <a:gd name="T4" fmla="*/ 50 w 74"/>
                        <a:gd name="T5" fmla="*/ 2 h 29"/>
                        <a:gd name="T6" fmla="*/ 57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9 w 74"/>
                        <a:gd name="T13" fmla="*/ 20 h 29"/>
                        <a:gd name="T14" fmla="*/ 0 w 74"/>
                        <a:gd name="T15" fmla="*/ 5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49" y="0"/>
                          </a:lnTo>
                          <a:lnTo>
                            <a:pt x="50" y="2"/>
                          </a:lnTo>
                          <a:lnTo>
                            <a:pt x="57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9" y="20"/>
                          </a:lnTo>
                          <a:lnTo>
                            <a:pt x="0" y="5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60" name="Freeform 6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7" y="3662"/>
                      <a:ext cx="41" cy="11"/>
                    </a:xfrm>
                    <a:custGeom>
                      <a:avLst/>
                      <a:gdLst>
                        <a:gd name="T0" fmla="*/ 0 w 81"/>
                        <a:gd name="T1" fmla="*/ 35 h 35"/>
                        <a:gd name="T2" fmla="*/ 1 w 81"/>
                        <a:gd name="T3" fmla="*/ 19 h 35"/>
                        <a:gd name="T4" fmla="*/ 5 w 81"/>
                        <a:gd name="T5" fmla="*/ 7 h 35"/>
                        <a:gd name="T6" fmla="*/ 10 w 81"/>
                        <a:gd name="T7" fmla="*/ 0 h 35"/>
                        <a:gd name="T8" fmla="*/ 67 w 81"/>
                        <a:gd name="T9" fmla="*/ 0 h 35"/>
                        <a:gd name="T10" fmla="*/ 81 w 81"/>
                        <a:gd name="T11" fmla="*/ 35 h 35"/>
                        <a:gd name="T12" fmla="*/ 0 w 81"/>
                        <a:gd name="T13" fmla="*/ 35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1" h="35">
                          <a:moveTo>
                            <a:pt x="0" y="35"/>
                          </a:moveTo>
                          <a:lnTo>
                            <a:pt x="1" y="19"/>
                          </a:lnTo>
                          <a:lnTo>
                            <a:pt x="5" y="7"/>
                          </a:lnTo>
                          <a:lnTo>
                            <a:pt x="10" y="0"/>
                          </a:lnTo>
                          <a:lnTo>
                            <a:pt x="67" y="0"/>
                          </a:lnTo>
                          <a:lnTo>
                            <a:pt x="81" y="35"/>
                          </a:lnTo>
                          <a:lnTo>
                            <a:pt x="0" y="3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361" name="Group 623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99" cy="74"/>
                  <a:chOff x="861" y="3665"/>
                  <a:chExt cx="99" cy="74"/>
                </a:xfrm>
              </p:grpSpPr>
              <p:grpSp>
                <p:nvGrpSpPr>
                  <p:cNvPr id="2178362" name="Group 624"/>
                  <p:cNvGrpSpPr>
                    <a:grpSpLocks/>
                  </p:cNvGrpSpPr>
                  <p:nvPr/>
                </p:nvGrpSpPr>
                <p:grpSpPr bwMode="auto">
                  <a:xfrm>
                    <a:off x="861" y="3665"/>
                    <a:ext cx="50" cy="23"/>
                    <a:chOff x="861" y="3665"/>
                    <a:chExt cx="50" cy="23"/>
                  </a:xfrm>
                </p:grpSpPr>
                <p:sp>
                  <p:nvSpPr>
                    <p:cNvPr id="2178363" name="Freeform 6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3665"/>
                      <a:ext cx="12" cy="23"/>
                    </a:xfrm>
                    <a:custGeom>
                      <a:avLst/>
                      <a:gdLst>
                        <a:gd name="T0" fmla="*/ 16 w 25"/>
                        <a:gd name="T1" fmla="*/ 69 h 69"/>
                        <a:gd name="T2" fmla="*/ 0 w 25"/>
                        <a:gd name="T3" fmla="*/ 27 h 69"/>
                        <a:gd name="T4" fmla="*/ 11 w 25"/>
                        <a:gd name="T5" fmla="*/ 0 h 69"/>
                        <a:gd name="T6" fmla="*/ 25 w 25"/>
                        <a:gd name="T7" fmla="*/ 32 h 69"/>
                        <a:gd name="T8" fmla="*/ 16 w 25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9">
                          <a:moveTo>
                            <a:pt x="16" y="69"/>
                          </a:moveTo>
                          <a:lnTo>
                            <a:pt x="0" y="27"/>
                          </a:lnTo>
                          <a:lnTo>
                            <a:pt x="11" y="0"/>
                          </a:lnTo>
                          <a:lnTo>
                            <a:pt x="25" y="32"/>
                          </a:lnTo>
                          <a:lnTo>
                            <a:pt x="16" y="69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64" name="Freeform 6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5" y="3666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1"/>
                        <a:gd name="T2" fmla="*/ 52 w 75"/>
                        <a:gd name="T3" fmla="*/ 0 h 31"/>
                        <a:gd name="T4" fmla="*/ 53 w 75"/>
                        <a:gd name="T5" fmla="*/ 4 h 31"/>
                        <a:gd name="T6" fmla="*/ 57 w 75"/>
                        <a:gd name="T7" fmla="*/ 13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1 w 75"/>
                        <a:gd name="T13" fmla="*/ 22 h 31"/>
                        <a:gd name="T14" fmla="*/ 0 w 75"/>
                        <a:gd name="T15" fmla="*/ 7 h 31"/>
                        <a:gd name="T16" fmla="*/ 3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4"/>
                          </a:lnTo>
                          <a:lnTo>
                            <a:pt x="57" y="13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1" y="22"/>
                          </a:lnTo>
                          <a:lnTo>
                            <a:pt x="0" y="7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65" name="Freeform 6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9" y="3676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2 w 83"/>
                        <a:gd name="T3" fmla="*/ 20 h 36"/>
                        <a:gd name="T4" fmla="*/ 7 w 83"/>
                        <a:gd name="T5" fmla="*/ 7 h 36"/>
                        <a:gd name="T6" fmla="*/ 11 w 83"/>
                        <a:gd name="T7" fmla="*/ 0 h 36"/>
                        <a:gd name="T8" fmla="*/ 67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2" y="20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7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66" name="Group 628"/>
                  <p:cNvGrpSpPr>
                    <a:grpSpLocks/>
                  </p:cNvGrpSpPr>
                  <p:nvPr/>
                </p:nvGrpSpPr>
                <p:grpSpPr bwMode="auto">
                  <a:xfrm>
                    <a:off x="873" y="3678"/>
                    <a:ext cx="49" cy="23"/>
                    <a:chOff x="873" y="3678"/>
                    <a:chExt cx="49" cy="23"/>
                  </a:xfrm>
                </p:grpSpPr>
                <p:sp>
                  <p:nvSpPr>
                    <p:cNvPr id="2178367" name="Freeform 6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3" y="3678"/>
                      <a:ext cx="13" cy="23"/>
                    </a:xfrm>
                    <a:custGeom>
                      <a:avLst/>
                      <a:gdLst>
                        <a:gd name="T0" fmla="*/ 13 w 25"/>
                        <a:gd name="T1" fmla="*/ 70 h 70"/>
                        <a:gd name="T2" fmla="*/ 0 w 25"/>
                        <a:gd name="T3" fmla="*/ 27 h 70"/>
                        <a:gd name="T4" fmla="*/ 9 w 25"/>
                        <a:gd name="T5" fmla="*/ 0 h 70"/>
                        <a:gd name="T6" fmla="*/ 25 w 25"/>
                        <a:gd name="T7" fmla="*/ 31 h 70"/>
                        <a:gd name="T8" fmla="*/ 13 w 25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70">
                          <a:moveTo>
                            <a:pt x="13" y="70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5" y="31"/>
                          </a:lnTo>
                          <a:lnTo>
                            <a:pt x="13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68" name="Freeform 6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8" y="3678"/>
                      <a:ext cx="37" cy="10"/>
                    </a:xfrm>
                    <a:custGeom>
                      <a:avLst/>
                      <a:gdLst>
                        <a:gd name="T0" fmla="*/ 2 w 75"/>
                        <a:gd name="T1" fmla="*/ 0 h 30"/>
                        <a:gd name="T2" fmla="*/ 50 w 75"/>
                        <a:gd name="T3" fmla="*/ 0 h 30"/>
                        <a:gd name="T4" fmla="*/ 52 w 75"/>
                        <a:gd name="T5" fmla="*/ 3 h 30"/>
                        <a:gd name="T6" fmla="*/ 57 w 75"/>
                        <a:gd name="T7" fmla="*/ 12 h 30"/>
                        <a:gd name="T8" fmla="*/ 75 w 75"/>
                        <a:gd name="T9" fmla="*/ 30 h 30"/>
                        <a:gd name="T10" fmla="*/ 19 w 75"/>
                        <a:gd name="T11" fmla="*/ 30 h 30"/>
                        <a:gd name="T12" fmla="*/ 11 w 75"/>
                        <a:gd name="T13" fmla="*/ 20 h 30"/>
                        <a:gd name="T14" fmla="*/ 0 w 75"/>
                        <a:gd name="T15" fmla="*/ 6 h 30"/>
                        <a:gd name="T16" fmla="*/ 2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2" y="0"/>
                          </a:moveTo>
                          <a:lnTo>
                            <a:pt x="50" y="0"/>
                          </a:lnTo>
                          <a:lnTo>
                            <a:pt x="52" y="3"/>
                          </a:lnTo>
                          <a:lnTo>
                            <a:pt x="57" y="12"/>
                          </a:lnTo>
                          <a:lnTo>
                            <a:pt x="75" y="30"/>
                          </a:lnTo>
                          <a:lnTo>
                            <a:pt x="19" y="30"/>
                          </a:lnTo>
                          <a:lnTo>
                            <a:pt x="11" y="20"/>
                          </a:lnTo>
                          <a:lnTo>
                            <a:pt x="0" y="6"/>
                          </a:lnTo>
                          <a:lnTo>
                            <a:pt x="2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69" name="Freeform 6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0" y="3688"/>
                      <a:ext cx="42" cy="13"/>
                    </a:xfrm>
                    <a:custGeom>
                      <a:avLst/>
                      <a:gdLst>
                        <a:gd name="T0" fmla="*/ 0 w 82"/>
                        <a:gd name="T1" fmla="*/ 38 h 38"/>
                        <a:gd name="T2" fmla="*/ 4 w 82"/>
                        <a:gd name="T3" fmla="*/ 21 h 38"/>
                        <a:gd name="T4" fmla="*/ 8 w 82"/>
                        <a:gd name="T5" fmla="*/ 8 h 38"/>
                        <a:gd name="T6" fmla="*/ 13 w 82"/>
                        <a:gd name="T7" fmla="*/ 0 h 38"/>
                        <a:gd name="T8" fmla="*/ 69 w 82"/>
                        <a:gd name="T9" fmla="*/ 0 h 38"/>
                        <a:gd name="T10" fmla="*/ 82 w 82"/>
                        <a:gd name="T11" fmla="*/ 38 h 38"/>
                        <a:gd name="T12" fmla="*/ 0 w 82"/>
                        <a:gd name="T13" fmla="*/ 38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8">
                          <a:moveTo>
                            <a:pt x="0" y="38"/>
                          </a:moveTo>
                          <a:lnTo>
                            <a:pt x="4" y="21"/>
                          </a:lnTo>
                          <a:lnTo>
                            <a:pt x="8" y="8"/>
                          </a:lnTo>
                          <a:lnTo>
                            <a:pt x="13" y="0"/>
                          </a:lnTo>
                          <a:lnTo>
                            <a:pt x="69" y="0"/>
                          </a:lnTo>
                          <a:lnTo>
                            <a:pt x="82" y="38"/>
                          </a:lnTo>
                          <a:lnTo>
                            <a:pt x="0" y="3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70" name="Group 632"/>
                  <p:cNvGrpSpPr>
                    <a:grpSpLocks/>
                  </p:cNvGrpSpPr>
                  <p:nvPr/>
                </p:nvGrpSpPr>
                <p:grpSpPr bwMode="auto">
                  <a:xfrm>
                    <a:off x="886" y="3690"/>
                    <a:ext cx="49" cy="23"/>
                    <a:chOff x="886" y="3690"/>
                    <a:chExt cx="49" cy="23"/>
                  </a:xfrm>
                </p:grpSpPr>
                <p:sp>
                  <p:nvSpPr>
                    <p:cNvPr id="2178371" name="Freeform 6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6" y="3690"/>
                      <a:ext cx="12" cy="23"/>
                    </a:xfrm>
                    <a:custGeom>
                      <a:avLst/>
                      <a:gdLst>
                        <a:gd name="T0" fmla="*/ 14 w 24"/>
                        <a:gd name="T1" fmla="*/ 70 h 70"/>
                        <a:gd name="T2" fmla="*/ 0 w 24"/>
                        <a:gd name="T3" fmla="*/ 29 h 70"/>
                        <a:gd name="T4" fmla="*/ 10 w 24"/>
                        <a:gd name="T5" fmla="*/ 0 h 70"/>
                        <a:gd name="T6" fmla="*/ 24 w 24"/>
                        <a:gd name="T7" fmla="*/ 33 h 70"/>
                        <a:gd name="T8" fmla="*/ 14 w 24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4" h="70">
                          <a:moveTo>
                            <a:pt x="14" y="70"/>
                          </a:moveTo>
                          <a:lnTo>
                            <a:pt x="0" y="29"/>
                          </a:lnTo>
                          <a:lnTo>
                            <a:pt x="10" y="0"/>
                          </a:lnTo>
                          <a:lnTo>
                            <a:pt x="24" y="33"/>
                          </a:lnTo>
                          <a:lnTo>
                            <a:pt x="14" y="70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72" name="Freeform 6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0" y="3691"/>
                      <a:ext cx="38" cy="10"/>
                    </a:xfrm>
                    <a:custGeom>
                      <a:avLst/>
                      <a:gdLst>
                        <a:gd name="T0" fmla="*/ 3 w 75"/>
                        <a:gd name="T1" fmla="*/ 0 h 31"/>
                        <a:gd name="T2" fmla="*/ 52 w 75"/>
                        <a:gd name="T3" fmla="*/ 0 h 31"/>
                        <a:gd name="T4" fmla="*/ 53 w 75"/>
                        <a:gd name="T5" fmla="*/ 2 h 31"/>
                        <a:gd name="T6" fmla="*/ 57 w 75"/>
                        <a:gd name="T7" fmla="*/ 11 h 31"/>
                        <a:gd name="T8" fmla="*/ 75 w 75"/>
                        <a:gd name="T9" fmla="*/ 31 h 31"/>
                        <a:gd name="T10" fmla="*/ 19 w 75"/>
                        <a:gd name="T11" fmla="*/ 31 h 31"/>
                        <a:gd name="T12" fmla="*/ 10 w 75"/>
                        <a:gd name="T13" fmla="*/ 22 h 31"/>
                        <a:gd name="T14" fmla="*/ 0 w 75"/>
                        <a:gd name="T15" fmla="*/ 6 h 31"/>
                        <a:gd name="T16" fmla="*/ 3 w 75"/>
                        <a:gd name="T17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1">
                          <a:moveTo>
                            <a:pt x="3" y="0"/>
                          </a:moveTo>
                          <a:lnTo>
                            <a:pt x="52" y="0"/>
                          </a:lnTo>
                          <a:lnTo>
                            <a:pt x="53" y="2"/>
                          </a:lnTo>
                          <a:lnTo>
                            <a:pt x="57" y="11"/>
                          </a:lnTo>
                          <a:lnTo>
                            <a:pt x="75" y="31"/>
                          </a:lnTo>
                          <a:lnTo>
                            <a:pt x="19" y="31"/>
                          </a:lnTo>
                          <a:lnTo>
                            <a:pt x="10" y="22"/>
                          </a:lnTo>
                          <a:lnTo>
                            <a:pt x="0" y="6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73" name="Freeform 6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3" y="3701"/>
                      <a:ext cx="42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8 w 83"/>
                        <a:gd name="T5" fmla="*/ 7 h 36"/>
                        <a:gd name="T6" fmla="*/ 12 w 83"/>
                        <a:gd name="T7" fmla="*/ 0 h 36"/>
                        <a:gd name="T8" fmla="*/ 68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8" y="7"/>
                          </a:lnTo>
                          <a:lnTo>
                            <a:pt x="12" y="0"/>
                          </a:lnTo>
                          <a:lnTo>
                            <a:pt x="68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74" name="Group 636"/>
                  <p:cNvGrpSpPr>
                    <a:grpSpLocks/>
                  </p:cNvGrpSpPr>
                  <p:nvPr/>
                </p:nvGrpSpPr>
                <p:grpSpPr bwMode="auto">
                  <a:xfrm>
                    <a:off x="899" y="3703"/>
                    <a:ext cx="48" cy="23"/>
                    <a:chOff x="899" y="3703"/>
                    <a:chExt cx="48" cy="23"/>
                  </a:xfrm>
                </p:grpSpPr>
                <p:sp>
                  <p:nvSpPr>
                    <p:cNvPr id="2178375" name="Freeform 6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9" y="3703"/>
                      <a:ext cx="12" cy="23"/>
                    </a:xfrm>
                    <a:custGeom>
                      <a:avLst/>
                      <a:gdLst>
                        <a:gd name="T0" fmla="*/ 15 w 25"/>
                        <a:gd name="T1" fmla="*/ 68 h 68"/>
                        <a:gd name="T2" fmla="*/ 0 w 25"/>
                        <a:gd name="T3" fmla="*/ 27 h 68"/>
                        <a:gd name="T4" fmla="*/ 10 w 25"/>
                        <a:gd name="T5" fmla="*/ 0 h 68"/>
                        <a:gd name="T6" fmla="*/ 25 w 25"/>
                        <a:gd name="T7" fmla="*/ 31 h 68"/>
                        <a:gd name="T8" fmla="*/ 15 w 25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" h="68">
                          <a:moveTo>
                            <a:pt x="15" y="68"/>
                          </a:moveTo>
                          <a:lnTo>
                            <a:pt x="0" y="27"/>
                          </a:lnTo>
                          <a:lnTo>
                            <a:pt x="10" y="0"/>
                          </a:lnTo>
                          <a:lnTo>
                            <a:pt x="25" y="31"/>
                          </a:lnTo>
                          <a:lnTo>
                            <a:pt x="15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76" name="Freeform 6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3" y="3703"/>
                      <a:ext cx="38" cy="10"/>
                    </a:xfrm>
                    <a:custGeom>
                      <a:avLst/>
                      <a:gdLst>
                        <a:gd name="T0" fmla="*/ 1 w 75"/>
                        <a:gd name="T1" fmla="*/ 0 h 30"/>
                        <a:gd name="T2" fmla="*/ 50 w 75"/>
                        <a:gd name="T3" fmla="*/ 0 h 30"/>
                        <a:gd name="T4" fmla="*/ 51 w 75"/>
                        <a:gd name="T5" fmla="*/ 3 h 30"/>
                        <a:gd name="T6" fmla="*/ 56 w 75"/>
                        <a:gd name="T7" fmla="*/ 12 h 30"/>
                        <a:gd name="T8" fmla="*/ 75 w 75"/>
                        <a:gd name="T9" fmla="*/ 30 h 30"/>
                        <a:gd name="T10" fmla="*/ 18 w 75"/>
                        <a:gd name="T11" fmla="*/ 30 h 30"/>
                        <a:gd name="T12" fmla="*/ 9 w 75"/>
                        <a:gd name="T13" fmla="*/ 21 h 30"/>
                        <a:gd name="T14" fmla="*/ 0 w 75"/>
                        <a:gd name="T15" fmla="*/ 7 h 30"/>
                        <a:gd name="T16" fmla="*/ 1 w 75"/>
                        <a:gd name="T17" fmla="*/ 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5" h="30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6" y="12"/>
                          </a:lnTo>
                          <a:lnTo>
                            <a:pt x="75" y="30"/>
                          </a:lnTo>
                          <a:lnTo>
                            <a:pt x="18" y="30"/>
                          </a:lnTo>
                          <a:lnTo>
                            <a:pt x="9" y="21"/>
                          </a:lnTo>
                          <a:lnTo>
                            <a:pt x="0" y="7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77" name="Freeform 6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7" y="3714"/>
                      <a:ext cx="40" cy="12"/>
                    </a:xfrm>
                    <a:custGeom>
                      <a:avLst/>
                      <a:gdLst>
                        <a:gd name="T0" fmla="*/ 0 w 82"/>
                        <a:gd name="T1" fmla="*/ 36 h 36"/>
                        <a:gd name="T2" fmla="*/ 2 w 82"/>
                        <a:gd name="T3" fmla="*/ 19 h 36"/>
                        <a:gd name="T4" fmla="*/ 5 w 82"/>
                        <a:gd name="T5" fmla="*/ 8 h 36"/>
                        <a:gd name="T6" fmla="*/ 12 w 82"/>
                        <a:gd name="T7" fmla="*/ 0 h 36"/>
                        <a:gd name="T8" fmla="*/ 69 w 82"/>
                        <a:gd name="T9" fmla="*/ 0 h 36"/>
                        <a:gd name="T10" fmla="*/ 82 w 82"/>
                        <a:gd name="T11" fmla="*/ 36 h 36"/>
                        <a:gd name="T12" fmla="*/ 0 w 82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2" h="36">
                          <a:moveTo>
                            <a:pt x="0" y="36"/>
                          </a:moveTo>
                          <a:lnTo>
                            <a:pt x="2" y="19"/>
                          </a:lnTo>
                          <a:lnTo>
                            <a:pt x="5" y="8"/>
                          </a:lnTo>
                          <a:lnTo>
                            <a:pt x="12" y="0"/>
                          </a:lnTo>
                          <a:lnTo>
                            <a:pt x="69" y="0"/>
                          </a:lnTo>
                          <a:lnTo>
                            <a:pt x="82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378" name="Group 640"/>
                  <p:cNvGrpSpPr>
                    <a:grpSpLocks/>
                  </p:cNvGrpSpPr>
                  <p:nvPr/>
                </p:nvGrpSpPr>
                <p:grpSpPr bwMode="auto">
                  <a:xfrm>
                    <a:off x="912" y="3716"/>
                    <a:ext cx="48" cy="23"/>
                    <a:chOff x="912" y="3716"/>
                    <a:chExt cx="48" cy="23"/>
                  </a:xfrm>
                </p:grpSpPr>
                <p:sp>
                  <p:nvSpPr>
                    <p:cNvPr id="2178379" name="Freeform 6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3716"/>
                      <a:ext cx="11" cy="23"/>
                    </a:xfrm>
                    <a:custGeom>
                      <a:avLst/>
                      <a:gdLst>
                        <a:gd name="T0" fmla="*/ 13 w 22"/>
                        <a:gd name="T1" fmla="*/ 68 h 68"/>
                        <a:gd name="T2" fmla="*/ 0 w 22"/>
                        <a:gd name="T3" fmla="*/ 27 h 68"/>
                        <a:gd name="T4" fmla="*/ 9 w 22"/>
                        <a:gd name="T5" fmla="*/ 0 h 68"/>
                        <a:gd name="T6" fmla="*/ 22 w 22"/>
                        <a:gd name="T7" fmla="*/ 30 h 68"/>
                        <a:gd name="T8" fmla="*/ 13 w 22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68">
                          <a:moveTo>
                            <a:pt x="13" y="68"/>
                          </a:moveTo>
                          <a:lnTo>
                            <a:pt x="0" y="27"/>
                          </a:lnTo>
                          <a:lnTo>
                            <a:pt x="9" y="0"/>
                          </a:lnTo>
                          <a:lnTo>
                            <a:pt x="22" y="30"/>
                          </a:lnTo>
                          <a:lnTo>
                            <a:pt x="13" y="68"/>
                          </a:lnTo>
                          <a:close/>
                        </a:path>
                      </a:pathLst>
                    </a:custGeom>
                    <a:solidFill>
                      <a:srgbClr val="A0A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80" name="Freeform 6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6" y="3717"/>
                      <a:ext cx="37" cy="9"/>
                    </a:xfrm>
                    <a:custGeom>
                      <a:avLst/>
                      <a:gdLst>
                        <a:gd name="T0" fmla="*/ 1 w 74"/>
                        <a:gd name="T1" fmla="*/ 0 h 29"/>
                        <a:gd name="T2" fmla="*/ 50 w 74"/>
                        <a:gd name="T3" fmla="*/ 0 h 29"/>
                        <a:gd name="T4" fmla="*/ 51 w 74"/>
                        <a:gd name="T5" fmla="*/ 3 h 29"/>
                        <a:gd name="T6" fmla="*/ 55 w 74"/>
                        <a:gd name="T7" fmla="*/ 11 h 29"/>
                        <a:gd name="T8" fmla="*/ 74 w 74"/>
                        <a:gd name="T9" fmla="*/ 29 h 29"/>
                        <a:gd name="T10" fmla="*/ 18 w 74"/>
                        <a:gd name="T11" fmla="*/ 29 h 29"/>
                        <a:gd name="T12" fmla="*/ 8 w 74"/>
                        <a:gd name="T13" fmla="*/ 20 h 29"/>
                        <a:gd name="T14" fmla="*/ 0 w 74"/>
                        <a:gd name="T15" fmla="*/ 6 h 29"/>
                        <a:gd name="T16" fmla="*/ 1 w 74"/>
                        <a:gd name="T17" fmla="*/ 0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74" h="29">
                          <a:moveTo>
                            <a:pt x="1" y="0"/>
                          </a:moveTo>
                          <a:lnTo>
                            <a:pt x="50" y="0"/>
                          </a:lnTo>
                          <a:lnTo>
                            <a:pt x="51" y="3"/>
                          </a:lnTo>
                          <a:lnTo>
                            <a:pt x="55" y="11"/>
                          </a:lnTo>
                          <a:lnTo>
                            <a:pt x="74" y="29"/>
                          </a:lnTo>
                          <a:lnTo>
                            <a:pt x="18" y="29"/>
                          </a:lnTo>
                          <a:lnTo>
                            <a:pt x="8" y="20"/>
                          </a:lnTo>
                          <a:lnTo>
                            <a:pt x="0" y="6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E0E0E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381" name="Freeform 6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9" y="3727"/>
                      <a:ext cx="41" cy="12"/>
                    </a:xfrm>
                    <a:custGeom>
                      <a:avLst/>
                      <a:gdLst>
                        <a:gd name="T0" fmla="*/ 0 w 83"/>
                        <a:gd name="T1" fmla="*/ 36 h 36"/>
                        <a:gd name="T2" fmla="*/ 1 w 83"/>
                        <a:gd name="T3" fmla="*/ 19 h 36"/>
                        <a:gd name="T4" fmla="*/ 7 w 83"/>
                        <a:gd name="T5" fmla="*/ 7 h 36"/>
                        <a:gd name="T6" fmla="*/ 11 w 83"/>
                        <a:gd name="T7" fmla="*/ 0 h 36"/>
                        <a:gd name="T8" fmla="*/ 69 w 83"/>
                        <a:gd name="T9" fmla="*/ 0 h 36"/>
                        <a:gd name="T10" fmla="*/ 83 w 83"/>
                        <a:gd name="T11" fmla="*/ 36 h 36"/>
                        <a:gd name="T12" fmla="*/ 0 w 83"/>
                        <a:gd name="T13" fmla="*/ 36 h 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3" h="36">
                          <a:moveTo>
                            <a:pt x="0" y="36"/>
                          </a:moveTo>
                          <a:lnTo>
                            <a:pt x="1" y="19"/>
                          </a:lnTo>
                          <a:lnTo>
                            <a:pt x="7" y="7"/>
                          </a:lnTo>
                          <a:lnTo>
                            <a:pt x="11" y="0"/>
                          </a:lnTo>
                          <a:lnTo>
                            <a:pt x="69" y="0"/>
                          </a:lnTo>
                          <a:lnTo>
                            <a:pt x="83" y="36"/>
                          </a:lnTo>
                          <a:lnTo>
                            <a:pt x="0" y="3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382" name="Group 644"/>
                <p:cNvGrpSpPr>
                  <a:grpSpLocks/>
                </p:cNvGrpSpPr>
                <p:nvPr/>
              </p:nvGrpSpPr>
              <p:grpSpPr bwMode="auto">
                <a:xfrm>
                  <a:off x="922" y="3727"/>
                  <a:ext cx="49" cy="23"/>
                  <a:chOff x="922" y="3727"/>
                  <a:chExt cx="49" cy="23"/>
                </a:xfrm>
              </p:grpSpPr>
              <p:sp>
                <p:nvSpPr>
                  <p:cNvPr id="2178383" name="Freeform 645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727"/>
                    <a:ext cx="12" cy="23"/>
                  </a:xfrm>
                  <a:custGeom>
                    <a:avLst/>
                    <a:gdLst>
                      <a:gd name="T0" fmla="*/ 15 w 24"/>
                      <a:gd name="T1" fmla="*/ 69 h 69"/>
                      <a:gd name="T2" fmla="*/ 0 w 24"/>
                      <a:gd name="T3" fmla="*/ 27 h 69"/>
                      <a:gd name="T4" fmla="*/ 11 w 24"/>
                      <a:gd name="T5" fmla="*/ 0 h 69"/>
                      <a:gd name="T6" fmla="*/ 24 w 24"/>
                      <a:gd name="T7" fmla="*/ 32 h 69"/>
                      <a:gd name="T8" fmla="*/ 15 w 24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84" name="Freeform 646"/>
                  <p:cNvSpPr>
                    <a:spLocks noChangeArrowheads="1"/>
                  </p:cNvSpPr>
                  <p:nvPr/>
                </p:nvSpPr>
                <p:spPr bwMode="auto">
                  <a:xfrm>
                    <a:off x="927" y="3728"/>
                    <a:ext cx="36" cy="10"/>
                  </a:xfrm>
                  <a:custGeom>
                    <a:avLst/>
                    <a:gdLst>
                      <a:gd name="T0" fmla="*/ 1 w 72"/>
                      <a:gd name="T1" fmla="*/ 0 h 31"/>
                      <a:gd name="T2" fmla="*/ 49 w 72"/>
                      <a:gd name="T3" fmla="*/ 0 h 31"/>
                      <a:gd name="T4" fmla="*/ 50 w 72"/>
                      <a:gd name="T5" fmla="*/ 4 h 31"/>
                      <a:gd name="T6" fmla="*/ 56 w 72"/>
                      <a:gd name="T7" fmla="*/ 13 h 31"/>
                      <a:gd name="T8" fmla="*/ 72 w 72"/>
                      <a:gd name="T9" fmla="*/ 31 h 31"/>
                      <a:gd name="T10" fmla="*/ 18 w 72"/>
                      <a:gd name="T11" fmla="*/ 31 h 31"/>
                      <a:gd name="T12" fmla="*/ 9 w 72"/>
                      <a:gd name="T13" fmla="*/ 22 h 31"/>
                      <a:gd name="T14" fmla="*/ 0 w 72"/>
                      <a:gd name="T15" fmla="*/ 7 h 31"/>
                      <a:gd name="T16" fmla="*/ 1 w 72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4"/>
                        </a:lnTo>
                        <a:lnTo>
                          <a:pt x="56" y="13"/>
                        </a:lnTo>
                        <a:lnTo>
                          <a:pt x="72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85" name="Freeform 64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738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86" name="Group 648"/>
                <p:cNvGrpSpPr>
                  <a:grpSpLocks/>
                </p:cNvGrpSpPr>
                <p:nvPr/>
              </p:nvGrpSpPr>
              <p:grpSpPr bwMode="auto">
                <a:xfrm>
                  <a:off x="895" y="3526"/>
                  <a:ext cx="44" cy="23"/>
                  <a:chOff x="895" y="3526"/>
                  <a:chExt cx="44" cy="23"/>
                </a:xfrm>
              </p:grpSpPr>
              <p:sp>
                <p:nvSpPr>
                  <p:cNvPr id="2178387" name="Freeform 649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526"/>
                    <a:ext cx="19" cy="23"/>
                  </a:xfrm>
                  <a:custGeom>
                    <a:avLst/>
                    <a:gdLst>
                      <a:gd name="T0" fmla="*/ 22 w 38"/>
                      <a:gd name="T1" fmla="*/ 69 h 69"/>
                      <a:gd name="T2" fmla="*/ 0 w 38"/>
                      <a:gd name="T3" fmla="*/ 34 h 69"/>
                      <a:gd name="T4" fmla="*/ 11 w 38"/>
                      <a:gd name="T5" fmla="*/ 0 h 69"/>
                      <a:gd name="T6" fmla="*/ 38 w 38"/>
                      <a:gd name="T7" fmla="*/ 34 h 69"/>
                      <a:gd name="T8" fmla="*/ 22 w 38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9">
                        <a:moveTo>
                          <a:pt x="22" y="69"/>
                        </a:moveTo>
                        <a:lnTo>
                          <a:pt x="0" y="34"/>
                        </a:lnTo>
                        <a:lnTo>
                          <a:pt x="11" y="0"/>
                        </a:lnTo>
                        <a:lnTo>
                          <a:pt x="38" y="34"/>
                        </a:lnTo>
                        <a:lnTo>
                          <a:pt x="22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88" name="Freeform 650"/>
                  <p:cNvSpPr>
                    <a:spLocks noChangeArrowheads="1"/>
                  </p:cNvSpPr>
                  <p:nvPr/>
                </p:nvSpPr>
                <p:spPr bwMode="auto">
                  <a:xfrm>
                    <a:off x="901" y="3526"/>
                    <a:ext cx="33" cy="12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40 w 64"/>
                      <a:gd name="T3" fmla="*/ 0 h 35"/>
                      <a:gd name="T4" fmla="*/ 64 w 64"/>
                      <a:gd name="T5" fmla="*/ 35 h 35"/>
                      <a:gd name="T6" fmla="*/ 23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5"/>
                        </a:lnTo>
                        <a:lnTo>
                          <a:pt x="23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89" name="Freeform 651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38"/>
                    <a:ext cx="32" cy="11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3 w 65"/>
                      <a:gd name="T3" fmla="*/ 0 h 31"/>
                      <a:gd name="T4" fmla="*/ 54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3" y="0"/>
                        </a:lnTo>
                        <a:lnTo>
                          <a:pt x="54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90" name="Group 652"/>
                <p:cNvGrpSpPr>
                  <a:grpSpLocks/>
                </p:cNvGrpSpPr>
                <p:nvPr/>
              </p:nvGrpSpPr>
              <p:grpSpPr bwMode="auto">
                <a:xfrm>
                  <a:off x="907" y="3540"/>
                  <a:ext cx="45" cy="22"/>
                  <a:chOff x="907" y="3540"/>
                  <a:chExt cx="45" cy="22"/>
                </a:xfrm>
              </p:grpSpPr>
              <p:sp>
                <p:nvSpPr>
                  <p:cNvPr id="2178391" name="Freeform 653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540"/>
                    <a:ext cx="20" cy="22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4 h 68"/>
                      <a:gd name="T4" fmla="*/ 11 w 39"/>
                      <a:gd name="T5" fmla="*/ 0 h 68"/>
                      <a:gd name="T6" fmla="*/ 39 w 39"/>
                      <a:gd name="T7" fmla="*/ 34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4"/>
                        </a:lnTo>
                        <a:lnTo>
                          <a:pt x="11" y="0"/>
                        </a:lnTo>
                        <a:lnTo>
                          <a:pt x="39" y="34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92" name="Freeform 654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540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40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93" name="Freeform 655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552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94" name="Group 656"/>
                <p:cNvGrpSpPr>
                  <a:grpSpLocks/>
                </p:cNvGrpSpPr>
                <p:nvPr/>
              </p:nvGrpSpPr>
              <p:grpSpPr bwMode="auto">
                <a:xfrm>
                  <a:off x="920" y="3553"/>
                  <a:ext cx="45" cy="23"/>
                  <a:chOff x="920" y="3553"/>
                  <a:chExt cx="45" cy="23"/>
                </a:xfrm>
              </p:grpSpPr>
              <p:sp>
                <p:nvSpPr>
                  <p:cNvPr id="2178395" name="Freeform 657"/>
                  <p:cNvSpPr>
                    <a:spLocks noChangeArrowheads="1"/>
                  </p:cNvSpPr>
                  <p:nvPr/>
                </p:nvSpPr>
                <p:spPr bwMode="auto">
                  <a:xfrm>
                    <a:off x="920" y="3553"/>
                    <a:ext cx="20" cy="23"/>
                  </a:xfrm>
                  <a:custGeom>
                    <a:avLst/>
                    <a:gdLst>
                      <a:gd name="T0" fmla="*/ 24 w 41"/>
                      <a:gd name="T1" fmla="*/ 68 h 68"/>
                      <a:gd name="T2" fmla="*/ 0 w 41"/>
                      <a:gd name="T3" fmla="*/ 32 h 68"/>
                      <a:gd name="T4" fmla="*/ 14 w 41"/>
                      <a:gd name="T5" fmla="*/ 0 h 68"/>
                      <a:gd name="T6" fmla="*/ 41 w 41"/>
                      <a:gd name="T7" fmla="*/ 32 h 68"/>
                      <a:gd name="T8" fmla="*/ 24 w 41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68">
                        <a:moveTo>
                          <a:pt x="24" y="68"/>
                        </a:moveTo>
                        <a:lnTo>
                          <a:pt x="0" y="32"/>
                        </a:lnTo>
                        <a:lnTo>
                          <a:pt x="14" y="0"/>
                        </a:lnTo>
                        <a:lnTo>
                          <a:pt x="41" y="32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96" name="Freeform 658"/>
                  <p:cNvSpPr>
                    <a:spLocks noChangeArrowheads="1"/>
                  </p:cNvSpPr>
                  <p:nvPr/>
                </p:nvSpPr>
                <p:spPr bwMode="auto">
                  <a:xfrm>
                    <a:off x="927" y="3554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39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397" name="Freeform 659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566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3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398" name="Group 660"/>
                <p:cNvGrpSpPr>
                  <a:grpSpLocks/>
                </p:cNvGrpSpPr>
                <p:nvPr/>
              </p:nvGrpSpPr>
              <p:grpSpPr bwMode="auto">
                <a:xfrm>
                  <a:off x="934" y="3566"/>
                  <a:ext cx="44" cy="23"/>
                  <a:chOff x="934" y="3566"/>
                  <a:chExt cx="44" cy="23"/>
                </a:xfrm>
              </p:grpSpPr>
              <p:sp>
                <p:nvSpPr>
                  <p:cNvPr id="2178399" name="Freeform 661"/>
                  <p:cNvSpPr>
                    <a:spLocks noChangeArrowheads="1"/>
                  </p:cNvSpPr>
                  <p:nvPr/>
                </p:nvSpPr>
                <p:spPr bwMode="auto">
                  <a:xfrm>
                    <a:off x="934" y="3566"/>
                    <a:ext cx="19" cy="23"/>
                  </a:xfrm>
                  <a:custGeom>
                    <a:avLst/>
                    <a:gdLst>
                      <a:gd name="T0" fmla="*/ 22 w 40"/>
                      <a:gd name="T1" fmla="*/ 68 h 68"/>
                      <a:gd name="T2" fmla="*/ 0 w 40"/>
                      <a:gd name="T3" fmla="*/ 33 h 68"/>
                      <a:gd name="T4" fmla="*/ 12 w 40"/>
                      <a:gd name="T5" fmla="*/ 0 h 68"/>
                      <a:gd name="T6" fmla="*/ 40 w 40"/>
                      <a:gd name="T7" fmla="*/ 33 h 68"/>
                      <a:gd name="T8" fmla="*/ 22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00" name="Freeform 662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567"/>
                    <a:ext cx="32" cy="11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1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01" name="Freeform 663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579"/>
                    <a:ext cx="33" cy="9"/>
                  </a:xfrm>
                  <a:custGeom>
                    <a:avLst/>
                    <a:gdLst>
                      <a:gd name="T0" fmla="*/ 0 w 65"/>
                      <a:gd name="T1" fmla="*/ 28 h 28"/>
                      <a:gd name="T2" fmla="*/ 13 w 65"/>
                      <a:gd name="T3" fmla="*/ 0 h 28"/>
                      <a:gd name="T4" fmla="*/ 54 w 65"/>
                      <a:gd name="T5" fmla="*/ 0 h 28"/>
                      <a:gd name="T6" fmla="*/ 65 w 65"/>
                      <a:gd name="T7" fmla="*/ 28 h 28"/>
                      <a:gd name="T8" fmla="*/ 0 w 65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4" y="0"/>
                        </a:lnTo>
                        <a:lnTo>
                          <a:pt x="65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02" name="Group 664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83" cy="63"/>
                  <a:chOff x="949" y="3579"/>
                  <a:chExt cx="83" cy="63"/>
                </a:xfrm>
              </p:grpSpPr>
              <p:grpSp>
                <p:nvGrpSpPr>
                  <p:cNvPr id="2178403" name="Group 665"/>
                  <p:cNvGrpSpPr>
                    <a:grpSpLocks/>
                  </p:cNvGrpSpPr>
                  <p:nvPr/>
                </p:nvGrpSpPr>
                <p:grpSpPr bwMode="auto">
                  <a:xfrm>
                    <a:off x="949" y="3579"/>
                    <a:ext cx="44" cy="23"/>
                    <a:chOff x="949" y="3579"/>
                    <a:chExt cx="44" cy="23"/>
                  </a:xfrm>
                </p:grpSpPr>
                <p:sp>
                  <p:nvSpPr>
                    <p:cNvPr id="2178404" name="Freeform 6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49" y="3579"/>
                      <a:ext cx="19" cy="23"/>
                    </a:xfrm>
                    <a:custGeom>
                      <a:avLst/>
                      <a:gdLst>
                        <a:gd name="T0" fmla="*/ 21 w 38"/>
                        <a:gd name="T1" fmla="*/ 68 h 68"/>
                        <a:gd name="T2" fmla="*/ 0 w 38"/>
                        <a:gd name="T3" fmla="*/ 32 h 68"/>
                        <a:gd name="T4" fmla="*/ 11 w 38"/>
                        <a:gd name="T5" fmla="*/ 0 h 68"/>
                        <a:gd name="T6" fmla="*/ 38 w 38"/>
                        <a:gd name="T7" fmla="*/ 32 h 68"/>
                        <a:gd name="T8" fmla="*/ 21 w 38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68">
                          <a:moveTo>
                            <a:pt x="21" y="68"/>
                          </a:moveTo>
                          <a:lnTo>
                            <a:pt x="0" y="32"/>
                          </a:lnTo>
                          <a:lnTo>
                            <a:pt x="11" y="0"/>
                          </a:lnTo>
                          <a:lnTo>
                            <a:pt x="38" y="32"/>
                          </a:lnTo>
                          <a:lnTo>
                            <a:pt x="21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05" name="Freeform 6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5" y="3579"/>
                      <a:ext cx="32" cy="11"/>
                    </a:xfrm>
                    <a:custGeom>
                      <a:avLst/>
                      <a:gdLst>
                        <a:gd name="T0" fmla="*/ 0 w 66"/>
                        <a:gd name="T1" fmla="*/ 0 h 32"/>
                        <a:gd name="T2" fmla="*/ 42 w 66"/>
                        <a:gd name="T3" fmla="*/ 0 h 32"/>
                        <a:gd name="T4" fmla="*/ 66 w 66"/>
                        <a:gd name="T5" fmla="*/ 32 h 32"/>
                        <a:gd name="T6" fmla="*/ 25 w 66"/>
                        <a:gd name="T7" fmla="*/ 32 h 32"/>
                        <a:gd name="T8" fmla="*/ 0 w 66"/>
                        <a:gd name="T9" fmla="*/ 0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2">
                          <a:moveTo>
                            <a:pt x="0" y="0"/>
                          </a:moveTo>
                          <a:lnTo>
                            <a:pt x="42" y="0"/>
                          </a:lnTo>
                          <a:lnTo>
                            <a:pt x="66" y="32"/>
                          </a:lnTo>
                          <a:lnTo>
                            <a:pt x="25" y="3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06" name="Freeform 6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0" y="3591"/>
                      <a:ext cx="33" cy="10"/>
                    </a:xfrm>
                    <a:custGeom>
                      <a:avLst/>
                      <a:gdLst>
                        <a:gd name="T0" fmla="*/ 0 w 65"/>
                        <a:gd name="T1" fmla="*/ 31 h 31"/>
                        <a:gd name="T2" fmla="*/ 14 w 65"/>
                        <a:gd name="T3" fmla="*/ 0 h 31"/>
                        <a:gd name="T4" fmla="*/ 55 w 65"/>
                        <a:gd name="T5" fmla="*/ 0 h 31"/>
                        <a:gd name="T6" fmla="*/ 65 w 65"/>
                        <a:gd name="T7" fmla="*/ 31 h 31"/>
                        <a:gd name="T8" fmla="*/ 0 w 65"/>
                        <a:gd name="T9" fmla="*/ 3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1">
                          <a:moveTo>
                            <a:pt x="0" y="31"/>
                          </a:moveTo>
                          <a:lnTo>
                            <a:pt x="14" y="0"/>
                          </a:lnTo>
                          <a:lnTo>
                            <a:pt x="55" y="0"/>
                          </a:lnTo>
                          <a:lnTo>
                            <a:pt x="65" y="31"/>
                          </a:lnTo>
                          <a:lnTo>
                            <a:pt x="0" y="31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07" name="Group 669"/>
                  <p:cNvGrpSpPr>
                    <a:grpSpLocks/>
                  </p:cNvGrpSpPr>
                  <p:nvPr/>
                </p:nvGrpSpPr>
                <p:grpSpPr bwMode="auto">
                  <a:xfrm>
                    <a:off x="961" y="3592"/>
                    <a:ext cx="45" cy="23"/>
                    <a:chOff x="961" y="3592"/>
                    <a:chExt cx="45" cy="23"/>
                  </a:xfrm>
                </p:grpSpPr>
                <p:sp>
                  <p:nvSpPr>
                    <p:cNvPr id="2178408" name="Freeform 6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1" y="3592"/>
                      <a:ext cx="20" cy="23"/>
                    </a:xfrm>
                    <a:custGeom>
                      <a:avLst/>
                      <a:gdLst>
                        <a:gd name="T0" fmla="*/ 23 w 40"/>
                        <a:gd name="T1" fmla="*/ 69 h 69"/>
                        <a:gd name="T2" fmla="*/ 0 w 40"/>
                        <a:gd name="T3" fmla="*/ 33 h 69"/>
                        <a:gd name="T4" fmla="*/ 12 w 40"/>
                        <a:gd name="T5" fmla="*/ 0 h 69"/>
                        <a:gd name="T6" fmla="*/ 40 w 40"/>
                        <a:gd name="T7" fmla="*/ 33 h 69"/>
                        <a:gd name="T8" fmla="*/ 23 w 40"/>
                        <a:gd name="T9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9">
                          <a:moveTo>
                            <a:pt x="23" y="69"/>
                          </a:moveTo>
                          <a:lnTo>
                            <a:pt x="0" y="33"/>
                          </a:lnTo>
                          <a:lnTo>
                            <a:pt x="12" y="0"/>
                          </a:lnTo>
                          <a:lnTo>
                            <a:pt x="40" y="33"/>
                          </a:lnTo>
                          <a:lnTo>
                            <a:pt x="23" y="69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09" name="Freeform 6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8" y="3593"/>
                      <a:ext cx="33" cy="11"/>
                    </a:xfrm>
                    <a:custGeom>
                      <a:avLst/>
                      <a:gdLst>
                        <a:gd name="T0" fmla="*/ 0 w 66"/>
                        <a:gd name="T1" fmla="*/ 0 h 35"/>
                        <a:gd name="T2" fmla="*/ 41 w 66"/>
                        <a:gd name="T3" fmla="*/ 0 h 35"/>
                        <a:gd name="T4" fmla="*/ 66 w 66"/>
                        <a:gd name="T5" fmla="*/ 35 h 35"/>
                        <a:gd name="T6" fmla="*/ 24 w 66"/>
                        <a:gd name="T7" fmla="*/ 35 h 35"/>
                        <a:gd name="T8" fmla="*/ 0 w 66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5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6" y="35"/>
                          </a:lnTo>
                          <a:lnTo>
                            <a:pt x="24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10" name="Freeform 6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3" y="3605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30 h 30"/>
                        <a:gd name="T2" fmla="*/ 13 w 66"/>
                        <a:gd name="T3" fmla="*/ 0 h 30"/>
                        <a:gd name="T4" fmla="*/ 55 w 66"/>
                        <a:gd name="T5" fmla="*/ 0 h 30"/>
                        <a:gd name="T6" fmla="*/ 66 w 66"/>
                        <a:gd name="T7" fmla="*/ 30 h 30"/>
                        <a:gd name="T8" fmla="*/ 0 w 66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0">
                          <a:moveTo>
                            <a:pt x="0" y="30"/>
                          </a:moveTo>
                          <a:lnTo>
                            <a:pt x="13" y="0"/>
                          </a:lnTo>
                          <a:lnTo>
                            <a:pt x="55" y="0"/>
                          </a:lnTo>
                          <a:lnTo>
                            <a:pt x="66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11" name="Group 673"/>
                  <p:cNvGrpSpPr>
                    <a:grpSpLocks/>
                  </p:cNvGrpSpPr>
                  <p:nvPr/>
                </p:nvGrpSpPr>
                <p:grpSpPr bwMode="auto">
                  <a:xfrm>
                    <a:off x="974" y="3606"/>
                    <a:ext cx="44" cy="23"/>
                    <a:chOff x="974" y="3606"/>
                    <a:chExt cx="44" cy="23"/>
                  </a:xfrm>
                </p:grpSpPr>
                <p:sp>
                  <p:nvSpPr>
                    <p:cNvPr id="2178412" name="Freeform 6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3606"/>
                      <a:ext cx="19" cy="23"/>
                    </a:xfrm>
                    <a:custGeom>
                      <a:avLst/>
                      <a:gdLst>
                        <a:gd name="T0" fmla="*/ 24 w 40"/>
                        <a:gd name="T1" fmla="*/ 68 h 68"/>
                        <a:gd name="T2" fmla="*/ 0 w 40"/>
                        <a:gd name="T3" fmla="*/ 35 h 68"/>
                        <a:gd name="T4" fmla="*/ 12 w 40"/>
                        <a:gd name="T5" fmla="*/ 0 h 68"/>
                        <a:gd name="T6" fmla="*/ 40 w 40"/>
                        <a:gd name="T7" fmla="*/ 35 h 68"/>
                        <a:gd name="T8" fmla="*/ 24 w 40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8">
                          <a:moveTo>
                            <a:pt x="24" y="68"/>
                          </a:moveTo>
                          <a:lnTo>
                            <a:pt x="0" y="35"/>
                          </a:lnTo>
                          <a:lnTo>
                            <a:pt x="12" y="0"/>
                          </a:lnTo>
                          <a:lnTo>
                            <a:pt x="40" y="35"/>
                          </a:lnTo>
                          <a:lnTo>
                            <a:pt x="24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13" name="Freeform 6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0" y="3606"/>
                      <a:ext cx="32" cy="12"/>
                    </a:xfrm>
                    <a:custGeom>
                      <a:avLst/>
                      <a:gdLst>
                        <a:gd name="T0" fmla="*/ 0 w 65"/>
                        <a:gd name="T1" fmla="*/ 0 h 35"/>
                        <a:gd name="T2" fmla="*/ 42 w 65"/>
                        <a:gd name="T3" fmla="*/ 0 h 35"/>
                        <a:gd name="T4" fmla="*/ 65 w 65"/>
                        <a:gd name="T5" fmla="*/ 35 h 35"/>
                        <a:gd name="T6" fmla="*/ 25 w 65"/>
                        <a:gd name="T7" fmla="*/ 35 h 35"/>
                        <a:gd name="T8" fmla="*/ 0 w 65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5">
                          <a:moveTo>
                            <a:pt x="0" y="0"/>
                          </a:moveTo>
                          <a:lnTo>
                            <a:pt x="42" y="0"/>
                          </a:lnTo>
                          <a:lnTo>
                            <a:pt x="65" y="35"/>
                          </a:lnTo>
                          <a:lnTo>
                            <a:pt x="25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14" name="Freeform 6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6" y="3619"/>
                      <a:ext cx="32" cy="9"/>
                    </a:xfrm>
                    <a:custGeom>
                      <a:avLst/>
                      <a:gdLst>
                        <a:gd name="T0" fmla="*/ 0 w 65"/>
                        <a:gd name="T1" fmla="*/ 29 h 29"/>
                        <a:gd name="T2" fmla="*/ 12 w 65"/>
                        <a:gd name="T3" fmla="*/ 0 h 29"/>
                        <a:gd name="T4" fmla="*/ 53 w 65"/>
                        <a:gd name="T5" fmla="*/ 0 h 29"/>
                        <a:gd name="T6" fmla="*/ 65 w 65"/>
                        <a:gd name="T7" fmla="*/ 29 h 29"/>
                        <a:gd name="T8" fmla="*/ 0 w 65"/>
                        <a:gd name="T9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29">
                          <a:moveTo>
                            <a:pt x="0" y="29"/>
                          </a:moveTo>
                          <a:lnTo>
                            <a:pt x="12" y="0"/>
                          </a:lnTo>
                          <a:lnTo>
                            <a:pt x="53" y="0"/>
                          </a:lnTo>
                          <a:lnTo>
                            <a:pt x="65" y="29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15" name="Group 677"/>
                  <p:cNvGrpSpPr>
                    <a:grpSpLocks/>
                  </p:cNvGrpSpPr>
                  <p:nvPr/>
                </p:nvGrpSpPr>
                <p:grpSpPr bwMode="auto">
                  <a:xfrm>
                    <a:off x="987" y="3619"/>
                    <a:ext cx="45" cy="23"/>
                    <a:chOff x="987" y="3619"/>
                    <a:chExt cx="45" cy="23"/>
                  </a:xfrm>
                </p:grpSpPr>
                <p:sp>
                  <p:nvSpPr>
                    <p:cNvPr id="2178416" name="Freeform 6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7" y="3619"/>
                      <a:ext cx="20" cy="23"/>
                    </a:xfrm>
                    <a:custGeom>
                      <a:avLst/>
                      <a:gdLst>
                        <a:gd name="T0" fmla="*/ 22 w 39"/>
                        <a:gd name="T1" fmla="*/ 68 h 68"/>
                        <a:gd name="T2" fmla="*/ 0 w 39"/>
                        <a:gd name="T3" fmla="*/ 33 h 68"/>
                        <a:gd name="T4" fmla="*/ 12 w 39"/>
                        <a:gd name="T5" fmla="*/ 0 h 68"/>
                        <a:gd name="T6" fmla="*/ 39 w 39"/>
                        <a:gd name="T7" fmla="*/ 33 h 68"/>
                        <a:gd name="T8" fmla="*/ 22 w 39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9" h="68">
                          <a:moveTo>
                            <a:pt x="22" y="68"/>
                          </a:moveTo>
                          <a:lnTo>
                            <a:pt x="0" y="33"/>
                          </a:lnTo>
                          <a:lnTo>
                            <a:pt x="12" y="0"/>
                          </a:lnTo>
                          <a:lnTo>
                            <a:pt x="39" y="33"/>
                          </a:lnTo>
                          <a:lnTo>
                            <a:pt x="22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17" name="Freeform 6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4" y="3620"/>
                      <a:ext cx="32" cy="11"/>
                    </a:xfrm>
                    <a:custGeom>
                      <a:avLst/>
                      <a:gdLst>
                        <a:gd name="T0" fmla="*/ 0 w 64"/>
                        <a:gd name="T1" fmla="*/ 0 h 33"/>
                        <a:gd name="T2" fmla="*/ 41 w 64"/>
                        <a:gd name="T3" fmla="*/ 0 h 33"/>
                        <a:gd name="T4" fmla="*/ 64 w 64"/>
                        <a:gd name="T5" fmla="*/ 33 h 33"/>
                        <a:gd name="T6" fmla="*/ 25 w 64"/>
                        <a:gd name="T7" fmla="*/ 33 h 33"/>
                        <a:gd name="T8" fmla="*/ 0 w 64"/>
                        <a:gd name="T9" fmla="*/ 0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" h="33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4" y="33"/>
                          </a:lnTo>
                          <a:lnTo>
                            <a:pt x="25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18" name="Freeform 6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3632"/>
                      <a:ext cx="33" cy="9"/>
                    </a:xfrm>
                    <a:custGeom>
                      <a:avLst/>
                      <a:gdLst>
                        <a:gd name="T0" fmla="*/ 0 w 65"/>
                        <a:gd name="T1" fmla="*/ 29 h 29"/>
                        <a:gd name="T2" fmla="*/ 14 w 65"/>
                        <a:gd name="T3" fmla="*/ 0 h 29"/>
                        <a:gd name="T4" fmla="*/ 53 w 65"/>
                        <a:gd name="T5" fmla="*/ 0 h 29"/>
                        <a:gd name="T6" fmla="*/ 65 w 65"/>
                        <a:gd name="T7" fmla="*/ 29 h 29"/>
                        <a:gd name="T8" fmla="*/ 0 w 65"/>
                        <a:gd name="T9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29">
                          <a:moveTo>
                            <a:pt x="0" y="29"/>
                          </a:moveTo>
                          <a:lnTo>
                            <a:pt x="14" y="0"/>
                          </a:lnTo>
                          <a:lnTo>
                            <a:pt x="53" y="0"/>
                          </a:lnTo>
                          <a:lnTo>
                            <a:pt x="65" y="29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419" name="Group 681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83" cy="63"/>
                  <a:chOff x="1002" y="3632"/>
                  <a:chExt cx="83" cy="63"/>
                </a:xfrm>
              </p:grpSpPr>
              <p:grpSp>
                <p:nvGrpSpPr>
                  <p:cNvPr id="2178420" name="Group 682"/>
                  <p:cNvGrpSpPr>
                    <a:grpSpLocks/>
                  </p:cNvGrpSpPr>
                  <p:nvPr/>
                </p:nvGrpSpPr>
                <p:grpSpPr bwMode="auto">
                  <a:xfrm>
                    <a:off x="1002" y="3632"/>
                    <a:ext cx="44" cy="22"/>
                    <a:chOff x="1002" y="3632"/>
                    <a:chExt cx="44" cy="22"/>
                  </a:xfrm>
                </p:grpSpPr>
                <p:sp>
                  <p:nvSpPr>
                    <p:cNvPr id="2178421" name="Freeform 6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2" y="3632"/>
                      <a:ext cx="19" cy="22"/>
                    </a:xfrm>
                    <a:custGeom>
                      <a:avLst/>
                      <a:gdLst>
                        <a:gd name="T0" fmla="*/ 21 w 38"/>
                        <a:gd name="T1" fmla="*/ 68 h 68"/>
                        <a:gd name="T2" fmla="*/ 0 w 38"/>
                        <a:gd name="T3" fmla="*/ 33 h 68"/>
                        <a:gd name="T4" fmla="*/ 10 w 38"/>
                        <a:gd name="T5" fmla="*/ 0 h 68"/>
                        <a:gd name="T6" fmla="*/ 38 w 38"/>
                        <a:gd name="T7" fmla="*/ 33 h 68"/>
                        <a:gd name="T8" fmla="*/ 21 w 38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68">
                          <a:moveTo>
                            <a:pt x="21" y="68"/>
                          </a:moveTo>
                          <a:lnTo>
                            <a:pt x="0" y="33"/>
                          </a:lnTo>
                          <a:lnTo>
                            <a:pt x="10" y="0"/>
                          </a:lnTo>
                          <a:lnTo>
                            <a:pt x="38" y="33"/>
                          </a:lnTo>
                          <a:lnTo>
                            <a:pt x="21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22" name="Freeform 6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8" y="3632"/>
                      <a:ext cx="33" cy="12"/>
                    </a:xfrm>
                    <a:custGeom>
                      <a:avLst/>
                      <a:gdLst>
                        <a:gd name="T0" fmla="*/ 0 w 65"/>
                        <a:gd name="T1" fmla="*/ 0 h 35"/>
                        <a:gd name="T2" fmla="*/ 40 w 65"/>
                        <a:gd name="T3" fmla="*/ 0 h 35"/>
                        <a:gd name="T4" fmla="*/ 65 w 65"/>
                        <a:gd name="T5" fmla="*/ 35 h 35"/>
                        <a:gd name="T6" fmla="*/ 25 w 65"/>
                        <a:gd name="T7" fmla="*/ 35 h 35"/>
                        <a:gd name="T8" fmla="*/ 0 w 65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5">
                          <a:moveTo>
                            <a:pt x="0" y="0"/>
                          </a:moveTo>
                          <a:lnTo>
                            <a:pt x="40" y="0"/>
                          </a:lnTo>
                          <a:lnTo>
                            <a:pt x="65" y="35"/>
                          </a:lnTo>
                          <a:lnTo>
                            <a:pt x="25" y="3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23" name="Freeform 6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3" y="3644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28 h 28"/>
                        <a:gd name="T2" fmla="*/ 13 w 66"/>
                        <a:gd name="T3" fmla="*/ 0 h 28"/>
                        <a:gd name="T4" fmla="*/ 55 w 66"/>
                        <a:gd name="T5" fmla="*/ 0 h 28"/>
                        <a:gd name="T6" fmla="*/ 66 w 66"/>
                        <a:gd name="T7" fmla="*/ 28 h 28"/>
                        <a:gd name="T8" fmla="*/ 0 w 66"/>
                        <a:gd name="T9" fmla="*/ 28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28">
                          <a:moveTo>
                            <a:pt x="0" y="28"/>
                          </a:moveTo>
                          <a:lnTo>
                            <a:pt x="13" y="0"/>
                          </a:lnTo>
                          <a:lnTo>
                            <a:pt x="55" y="0"/>
                          </a:lnTo>
                          <a:lnTo>
                            <a:pt x="66" y="28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24" name="Group 686"/>
                  <p:cNvGrpSpPr>
                    <a:grpSpLocks/>
                  </p:cNvGrpSpPr>
                  <p:nvPr/>
                </p:nvGrpSpPr>
                <p:grpSpPr bwMode="auto">
                  <a:xfrm>
                    <a:off x="1014" y="3645"/>
                    <a:ext cx="44" cy="23"/>
                    <a:chOff x="1014" y="3645"/>
                    <a:chExt cx="44" cy="23"/>
                  </a:xfrm>
                </p:grpSpPr>
                <p:sp>
                  <p:nvSpPr>
                    <p:cNvPr id="2178425" name="Freeform 6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3645"/>
                      <a:ext cx="19" cy="23"/>
                    </a:xfrm>
                    <a:custGeom>
                      <a:avLst/>
                      <a:gdLst>
                        <a:gd name="T0" fmla="*/ 24 w 40"/>
                        <a:gd name="T1" fmla="*/ 68 h 68"/>
                        <a:gd name="T2" fmla="*/ 0 w 40"/>
                        <a:gd name="T3" fmla="*/ 33 h 68"/>
                        <a:gd name="T4" fmla="*/ 14 w 40"/>
                        <a:gd name="T5" fmla="*/ 0 h 68"/>
                        <a:gd name="T6" fmla="*/ 40 w 40"/>
                        <a:gd name="T7" fmla="*/ 33 h 68"/>
                        <a:gd name="T8" fmla="*/ 24 w 40"/>
                        <a:gd name="T9" fmla="*/ 68 h 6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68">
                          <a:moveTo>
                            <a:pt x="24" y="68"/>
                          </a:moveTo>
                          <a:lnTo>
                            <a:pt x="0" y="33"/>
                          </a:lnTo>
                          <a:lnTo>
                            <a:pt x="14" y="0"/>
                          </a:lnTo>
                          <a:lnTo>
                            <a:pt x="40" y="33"/>
                          </a:lnTo>
                          <a:lnTo>
                            <a:pt x="24" y="68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26" name="Freeform 6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1" y="3646"/>
                      <a:ext cx="32" cy="11"/>
                    </a:xfrm>
                    <a:custGeom>
                      <a:avLst/>
                      <a:gdLst>
                        <a:gd name="T0" fmla="*/ 0 w 63"/>
                        <a:gd name="T1" fmla="*/ 0 h 33"/>
                        <a:gd name="T2" fmla="*/ 41 w 63"/>
                        <a:gd name="T3" fmla="*/ 0 h 33"/>
                        <a:gd name="T4" fmla="*/ 63 w 63"/>
                        <a:gd name="T5" fmla="*/ 33 h 33"/>
                        <a:gd name="T6" fmla="*/ 24 w 63"/>
                        <a:gd name="T7" fmla="*/ 33 h 33"/>
                        <a:gd name="T8" fmla="*/ 0 w 63"/>
                        <a:gd name="T9" fmla="*/ 0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3" h="33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3" y="33"/>
                          </a:lnTo>
                          <a:lnTo>
                            <a:pt x="24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27" name="Freeform 6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6" y="3658"/>
                      <a:ext cx="32" cy="10"/>
                    </a:xfrm>
                    <a:custGeom>
                      <a:avLst/>
                      <a:gdLst>
                        <a:gd name="T0" fmla="*/ 0 w 65"/>
                        <a:gd name="T1" fmla="*/ 30 h 30"/>
                        <a:gd name="T2" fmla="*/ 12 w 65"/>
                        <a:gd name="T3" fmla="*/ 0 h 30"/>
                        <a:gd name="T4" fmla="*/ 53 w 65"/>
                        <a:gd name="T5" fmla="*/ 0 h 30"/>
                        <a:gd name="T6" fmla="*/ 65 w 65"/>
                        <a:gd name="T7" fmla="*/ 30 h 30"/>
                        <a:gd name="T8" fmla="*/ 0 w 65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0">
                          <a:moveTo>
                            <a:pt x="0" y="30"/>
                          </a:moveTo>
                          <a:lnTo>
                            <a:pt x="12" y="0"/>
                          </a:lnTo>
                          <a:lnTo>
                            <a:pt x="53" y="0"/>
                          </a:lnTo>
                          <a:lnTo>
                            <a:pt x="65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28" name="Group 690"/>
                  <p:cNvGrpSpPr>
                    <a:grpSpLocks/>
                  </p:cNvGrpSpPr>
                  <p:nvPr/>
                </p:nvGrpSpPr>
                <p:grpSpPr bwMode="auto">
                  <a:xfrm>
                    <a:off x="1027" y="3659"/>
                    <a:ext cx="45" cy="23"/>
                    <a:chOff x="1027" y="3659"/>
                    <a:chExt cx="45" cy="23"/>
                  </a:xfrm>
                </p:grpSpPr>
                <p:sp>
                  <p:nvSpPr>
                    <p:cNvPr id="2178429" name="Freeform 6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7" y="3659"/>
                      <a:ext cx="20" cy="23"/>
                    </a:xfrm>
                    <a:custGeom>
                      <a:avLst/>
                      <a:gdLst>
                        <a:gd name="T0" fmla="*/ 22 w 39"/>
                        <a:gd name="T1" fmla="*/ 70 h 70"/>
                        <a:gd name="T2" fmla="*/ 0 w 39"/>
                        <a:gd name="T3" fmla="*/ 34 h 70"/>
                        <a:gd name="T4" fmla="*/ 12 w 39"/>
                        <a:gd name="T5" fmla="*/ 0 h 70"/>
                        <a:gd name="T6" fmla="*/ 39 w 39"/>
                        <a:gd name="T7" fmla="*/ 34 h 70"/>
                        <a:gd name="T8" fmla="*/ 22 w 39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9" h="70">
                          <a:moveTo>
                            <a:pt x="22" y="70"/>
                          </a:moveTo>
                          <a:lnTo>
                            <a:pt x="0" y="34"/>
                          </a:lnTo>
                          <a:lnTo>
                            <a:pt x="12" y="0"/>
                          </a:lnTo>
                          <a:lnTo>
                            <a:pt x="39" y="34"/>
                          </a:lnTo>
                          <a:lnTo>
                            <a:pt x="22" y="70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30" name="Freeform 6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3" y="3659"/>
                      <a:ext cx="33" cy="11"/>
                    </a:xfrm>
                    <a:custGeom>
                      <a:avLst/>
                      <a:gdLst>
                        <a:gd name="T0" fmla="*/ 0 w 64"/>
                        <a:gd name="T1" fmla="*/ 0 h 34"/>
                        <a:gd name="T2" fmla="*/ 39 w 64"/>
                        <a:gd name="T3" fmla="*/ 0 h 34"/>
                        <a:gd name="T4" fmla="*/ 64 w 64"/>
                        <a:gd name="T5" fmla="*/ 34 h 34"/>
                        <a:gd name="T6" fmla="*/ 25 w 64"/>
                        <a:gd name="T7" fmla="*/ 34 h 34"/>
                        <a:gd name="T8" fmla="*/ 0 w 64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" h="34">
                          <a:moveTo>
                            <a:pt x="0" y="0"/>
                          </a:moveTo>
                          <a:lnTo>
                            <a:pt x="39" y="0"/>
                          </a:lnTo>
                          <a:lnTo>
                            <a:pt x="64" y="34"/>
                          </a:lnTo>
                          <a:lnTo>
                            <a:pt x="25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31" name="Freeform 6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39" y="3671"/>
                      <a:ext cx="33" cy="10"/>
                    </a:xfrm>
                    <a:custGeom>
                      <a:avLst/>
                      <a:gdLst>
                        <a:gd name="T0" fmla="*/ 0 w 66"/>
                        <a:gd name="T1" fmla="*/ 30 h 30"/>
                        <a:gd name="T2" fmla="*/ 12 w 66"/>
                        <a:gd name="T3" fmla="*/ 0 h 30"/>
                        <a:gd name="T4" fmla="*/ 54 w 66"/>
                        <a:gd name="T5" fmla="*/ 0 h 30"/>
                        <a:gd name="T6" fmla="*/ 66 w 66"/>
                        <a:gd name="T7" fmla="*/ 30 h 30"/>
                        <a:gd name="T8" fmla="*/ 0 w 66"/>
                        <a:gd name="T9" fmla="*/ 30 h 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30">
                          <a:moveTo>
                            <a:pt x="0" y="30"/>
                          </a:moveTo>
                          <a:lnTo>
                            <a:pt x="12" y="0"/>
                          </a:lnTo>
                          <a:lnTo>
                            <a:pt x="54" y="0"/>
                          </a:lnTo>
                          <a:lnTo>
                            <a:pt x="66" y="30"/>
                          </a:lnTo>
                          <a:lnTo>
                            <a:pt x="0" y="3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178432" name="Group 694"/>
                  <p:cNvGrpSpPr>
                    <a:grpSpLocks/>
                  </p:cNvGrpSpPr>
                  <p:nvPr/>
                </p:nvGrpSpPr>
                <p:grpSpPr bwMode="auto">
                  <a:xfrm>
                    <a:off x="1040" y="3672"/>
                    <a:ext cx="45" cy="23"/>
                    <a:chOff x="1040" y="3672"/>
                    <a:chExt cx="45" cy="23"/>
                  </a:xfrm>
                </p:grpSpPr>
                <p:sp>
                  <p:nvSpPr>
                    <p:cNvPr id="2178433" name="Freeform 6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0" y="3672"/>
                      <a:ext cx="20" cy="23"/>
                    </a:xfrm>
                    <a:custGeom>
                      <a:avLst/>
                      <a:gdLst>
                        <a:gd name="T0" fmla="*/ 24 w 41"/>
                        <a:gd name="T1" fmla="*/ 70 h 70"/>
                        <a:gd name="T2" fmla="*/ 0 w 41"/>
                        <a:gd name="T3" fmla="*/ 35 h 70"/>
                        <a:gd name="T4" fmla="*/ 13 w 41"/>
                        <a:gd name="T5" fmla="*/ 0 h 70"/>
                        <a:gd name="T6" fmla="*/ 41 w 41"/>
                        <a:gd name="T7" fmla="*/ 35 h 70"/>
                        <a:gd name="T8" fmla="*/ 24 w 41"/>
                        <a:gd name="T9" fmla="*/ 70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1" h="70">
                          <a:moveTo>
                            <a:pt x="24" y="70"/>
                          </a:moveTo>
                          <a:lnTo>
                            <a:pt x="0" y="35"/>
                          </a:lnTo>
                          <a:lnTo>
                            <a:pt x="13" y="0"/>
                          </a:lnTo>
                          <a:lnTo>
                            <a:pt x="41" y="35"/>
                          </a:lnTo>
                          <a:lnTo>
                            <a:pt x="24" y="70"/>
                          </a:lnTo>
                          <a:close/>
                        </a:path>
                      </a:pathLst>
                    </a:custGeom>
                    <a:solidFill>
                      <a:srgbClr val="20202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34" name="Freeform 6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47" y="3672"/>
                      <a:ext cx="32" cy="12"/>
                    </a:xfrm>
                    <a:custGeom>
                      <a:avLst/>
                      <a:gdLst>
                        <a:gd name="T0" fmla="*/ 0 w 65"/>
                        <a:gd name="T1" fmla="*/ 0 h 34"/>
                        <a:gd name="T2" fmla="*/ 41 w 65"/>
                        <a:gd name="T3" fmla="*/ 0 h 34"/>
                        <a:gd name="T4" fmla="*/ 65 w 65"/>
                        <a:gd name="T5" fmla="*/ 34 h 34"/>
                        <a:gd name="T6" fmla="*/ 24 w 65"/>
                        <a:gd name="T7" fmla="*/ 34 h 34"/>
                        <a:gd name="T8" fmla="*/ 0 w 65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" h="34">
                          <a:moveTo>
                            <a:pt x="0" y="0"/>
                          </a:moveTo>
                          <a:lnTo>
                            <a:pt x="41" y="0"/>
                          </a:lnTo>
                          <a:lnTo>
                            <a:pt x="65" y="34"/>
                          </a:lnTo>
                          <a:lnTo>
                            <a:pt x="24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606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178435" name="Freeform 6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3" y="3685"/>
                      <a:ext cx="32" cy="9"/>
                    </a:xfrm>
                    <a:custGeom>
                      <a:avLst/>
                      <a:gdLst>
                        <a:gd name="T0" fmla="*/ 0 w 66"/>
                        <a:gd name="T1" fmla="*/ 28 h 28"/>
                        <a:gd name="T2" fmla="*/ 12 w 66"/>
                        <a:gd name="T3" fmla="*/ 0 h 28"/>
                        <a:gd name="T4" fmla="*/ 54 w 66"/>
                        <a:gd name="T5" fmla="*/ 0 h 28"/>
                        <a:gd name="T6" fmla="*/ 66 w 66"/>
                        <a:gd name="T7" fmla="*/ 28 h 28"/>
                        <a:gd name="T8" fmla="*/ 0 w 66"/>
                        <a:gd name="T9" fmla="*/ 28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" h="28">
                          <a:moveTo>
                            <a:pt x="0" y="28"/>
                          </a:moveTo>
                          <a:lnTo>
                            <a:pt x="12" y="0"/>
                          </a:lnTo>
                          <a:lnTo>
                            <a:pt x="54" y="0"/>
                          </a:lnTo>
                          <a:lnTo>
                            <a:pt x="66" y="28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0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2178436" name="Group 698"/>
                <p:cNvGrpSpPr>
                  <a:grpSpLocks/>
                </p:cNvGrpSpPr>
                <p:nvPr/>
              </p:nvGrpSpPr>
              <p:grpSpPr bwMode="auto">
                <a:xfrm>
                  <a:off x="1054" y="3685"/>
                  <a:ext cx="45" cy="23"/>
                  <a:chOff x="1054" y="3685"/>
                  <a:chExt cx="45" cy="23"/>
                </a:xfrm>
              </p:grpSpPr>
              <p:sp>
                <p:nvSpPr>
                  <p:cNvPr id="2178437" name="Freeform 699"/>
                  <p:cNvSpPr>
                    <a:spLocks noChangeArrowheads="1"/>
                  </p:cNvSpPr>
                  <p:nvPr/>
                </p:nvSpPr>
                <p:spPr bwMode="auto">
                  <a:xfrm>
                    <a:off x="1054" y="3685"/>
                    <a:ext cx="20" cy="23"/>
                  </a:xfrm>
                  <a:custGeom>
                    <a:avLst/>
                    <a:gdLst>
                      <a:gd name="T0" fmla="*/ 23 w 39"/>
                      <a:gd name="T1" fmla="*/ 70 h 70"/>
                      <a:gd name="T2" fmla="*/ 0 w 39"/>
                      <a:gd name="T3" fmla="*/ 34 h 70"/>
                      <a:gd name="T4" fmla="*/ 13 w 39"/>
                      <a:gd name="T5" fmla="*/ 0 h 70"/>
                      <a:gd name="T6" fmla="*/ 39 w 39"/>
                      <a:gd name="T7" fmla="*/ 34 h 70"/>
                      <a:gd name="T8" fmla="*/ 23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3" y="70"/>
                        </a:moveTo>
                        <a:lnTo>
                          <a:pt x="0" y="34"/>
                        </a:lnTo>
                        <a:lnTo>
                          <a:pt x="13" y="0"/>
                        </a:lnTo>
                        <a:lnTo>
                          <a:pt x="39" y="34"/>
                        </a:lnTo>
                        <a:lnTo>
                          <a:pt x="23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38" name="Freeform 700"/>
                  <p:cNvSpPr>
                    <a:spLocks noChangeArrowheads="1"/>
                  </p:cNvSpPr>
                  <p:nvPr/>
                </p:nvSpPr>
                <p:spPr bwMode="auto">
                  <a:xfrm>
                    <a:off x="1061" y="3685"/>
                    <a:ext cx="32" cy="12"/>
                  </a:xfrm>
                  <a:custGeom>
                    <a:avLst/>
                    <a:gdLst>
                      <a:gd name="T0" fmla="*/ 0 w 63"/>
                      <a:gd name="T1" fmla="*/ 0 h 35"/>
                      <a:gd name="T2" fmla="*/ 41 w 63"/>
                      <a:gd name="T3" fmla="*/ 0 h 35"/>
                      <a:gd name="T4" fmla="*/ 63 w 63"/>
                      <a:gd name="T5" fmla="*/ 35 h 35"/>
                      <a:gd name="T6" fmla="*/ 24 w 63"/>
                      <a:gd name="T7" fmla="*/ 35 h 35"/>
                      <a:gd name="T8" fmla="*/ 0 w 63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39" name="Freeform 701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697"/>
                    <a:ext cx="33" cy="10"/>
                  </a:xfrm>
                  <a:custGeom>
                    <a:avLst/>
                    <a:gdLst>
                      <a:gd name="T0" fmla="*/ 0 w 64"/>
                      <a:gd name="T1" fmla="*/ 30 h 30"/>
                      <a:gd name="T2" fmla="*/ 13 w 64"/>
                      <a:gd name="T3" fmla="*/ 0 h 30"/>
                      <a:gd name="T4" fmla="*/ 52 w 64"/>
                      <a:gd name="T5" fmla="*/ 0 h 30"/>
                      <a:gd name="T6" fmla="*/ 64 w 64"/>
                      <a:gd name="T7" fmla="*/ 30 h 30"/>
                      <a:gd name="T8" fmla="*/ 0 w 64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2" y="0"/>
                        </a:lnTo>
                        <a:lnTo>
                          <a:pt x="64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40" name="Group 702"/>
                <p:cNvGrpSpPr>
                  <a:grpSpLocks/>
                </p:cNvGrpSpPr>
                <p:nvPr/>
              </p:nvGrpSpPr>
              <p:grpSpPr bwMode="auto">
                <a:xfrm>
                  <a:off x="1067" y="3698"/>
                  <a:ext cx="45" cy="23"/>
                  <a:chOff x="1067" y="3698"/>
                  <a:chExt cx="45" cy="23"/>
                </a:xfrm>
              </p:grpSpPr>
              <p:sp>
                <p:nvSpPr>
                  <p:cNvPr id="2178441" name="Freeform 703"/>
                  <p:cNvSpPr>
                    <a:spLocks noChangeArrowheads="1"/>
                  </p:cNvSpPr>
                  <p:nvPr/>
                </p:nvSpPr>
                <p:spPr bwMode="auto">
                  <a:xfrm>
                    <a:off x="1067" y="3698"/>
                    <a:ext cx="20" cy="23"/>
                  </a:xfrm>
                  <a:custGeom>
                    <a:avLst/>
                    <a:gdLst>
                      <a:gd name="T0" fmla="*/ 22 w 39"/>
                      <a:gd name="T1" fmla="*/ 69 h 69"/>
                      <a:gd name="T2" fmla="*/ 0 w 39"/>
                      <a:gd name="T3" fmla="*/ 34 h 69"/>
                      <a:gd name="T4" fmla="*/ 12 w 39"/>
                      <a:gd name="T5" fmla="*/ 0 h 69"/>
                      <a:gd name="T6" fmla="*/ 39 w 39"/>
                      <a:gd name="T7" fmla="*/ 34 h 69"/>
                      <a:gd name="T8" fmla="*/ 22 w 39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9">
                        <a:moveTo>
                          <a:pt x="22" y="69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42" name="Freeform 704"/>
                  <p:cNvSpPr>
                    <a:spLocks noChangeArrowheads="1"/>
                  </p:cNvSpPr>
                  <p:nvPr/>
                </p:nvSpPr>
                <p:spPr bwMode="auto">
                  <a:xfrm>
                    <a:off x="1074" y="3699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43" name="Freeform 705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11"/>
                    <a:ext cx="33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1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1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44" name="Group 706"/>
                <p:cNvGrpSpPr>
                  <a:grpSpLocks/>
                </p:cNvGrpSpPr>
                <p:nvPr/>
              </p:nvGrpSpPr>
              <p:grpSpPr bwMode="auto">
                <a:xfrm>
                  <a:off x="1079" y="3712"/>
                  <a:ext cx="44" cy="23"/>
                  <a:chOff x="1079" y="3712"/>
                  <a:chExt cx="44" cy="23"/>
                </a:xfrm>
              </p:grpSpPr>
              <p:sp>
                <p:nvSpPr>
                  <p:cNvPr id="2178445" name="Freeform 707"/>
                  <p:cNvSpPr>
                    <a:spLocks noChangeArrowheads="1"/>
                  </p:cNvSpPr>
                  <p:nvPr/>
                </p:nvSpPr>
                <p:spPr bwMode="auto">
                  <a:xfrm>
                    <a:off x="1079" y="3712"/>
                    <a:ext cx="21" cy="23"/>
                  </a:xfrm>
                  <a:custGeom>
                    <a:avLst/>
                    <a:gdLst>
                      <a:gd name="T0" fmla="*/ 24 w 41"/>
                      <a:gd name="T1" fmla="*/ 68 h 68"/>
                      <a:gd name="T2" fmla="*/ 0 w 41"/>
                      <a:gd name="T3" fmla="*/ 32 h 68"/>
                      <a:gd name="T4" fmla="*/ 13 w 41"/>
                      <a:gd name="T5" fmla="*/ 0 h 68"/>
                      <a:gd name="T6" fmla="*/ 41 w 41"/>
                      <a:gd name="T7" fmla="*/ 32 h 68"/>
                      <a:gd name="T8" fmla="*/ 24 w 41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68">
                        <a:moveTo>
                          <a:pt x="24" y="68"/>
                        </a:moveTo>
                        <a:lnTo>
                          <a:pt x="0" y="32"/>
                        </a:lnTo>
                        <a:lnTo>
                          <a:pt x="13" y="0"/>
                        </a:lnTo>
                        <a:lnTo>
                          <a:pt x="41" y="32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46" name="Freeform 708"/>
                  <p:cNvSpPr>
                    <a:spLocks noChangeArrowheads="1"/>
                  </p:cNvSpPr>
                  <p:nvPr/>
                </p:nvSpPr>
                <p:spPr bwMode="auto">
                  <a:xfrm>
                    <a:off x="1087" y="3713"/>
                    <a:ext cx="31" cy="10"/>
                  </a:xfrm>
                  <a:custGeom>
                    <a:avLst/>
                    <a:gdLst>
                      <a:gd name="T0" fmla="*/ 0 w 63"/>
                      <a:gd name="T1" fmla="*/ 0 h 32"/>
                      <a:gd name="T2" fmla="*/ 40 w 63"/>
                      <a:gd name="T3" fmla="*/ 0 h 32"/>
                      <a:gd name="T4" fmla="*/ 63 w 63"/>
                      <a:gd name="T5" fmla="*/ 32 h 32"/>
                      <a:gd name="T6" fmla="*/ 23 w 63"/>
                      <a:gd name="T7" fmla="*/ 32 h 32"/>
                      <a:gd name="T8" fmla="*/ 0 w 63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2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3" y="32"/>
                        </a:lnTo>
                        <a:lnTo>
                          <a:pt x="23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47" name="Freeform 709"/>
                  <p:cNvSpPr>
                    <a:spLocks noChangeArrowheads="1"/>
                  </p:cNvSpPr>
                  <p:nvPr/>
                </p:nvSpPr>
                <p:spPr bwMode="auto">
                  <a:xfrm>
                    <a:off x="1092" y="3724"/>
                    <a:ext cx="31" cy="11"/>
                  </a:xfrm>
                  <a:custGeom>
                    <a:avLst/>
                    <a:gdLst>
                      <a:gd name="T0" fmla="*/ 0 w 63"/>
                      <a:gd name="T1" fmla="*/ 31 h 31"/>
                      <a:gd name="T2" fmla="*/ 12 w 63"/>
                      <a:gd name="T3" fmla="*/ 0 h 31"/>
                      <a:gd name="T4" fmla="*/ 52 w 63"/>
                      <a:gd name="T5" fmla="*/ 0 h 31"/>
                      <a:gd name="T6" fmla="*/ 63 w 63"/>
                      <a:gd name="T7" fmla="*/ 31 h 31"/>
                      <a:gd name="T8" fmla="*/ 0 w 63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1">
                        <a:moveTo>
                          <a:pt x="0" y="31"/>
                        </a:moveTo>
                        <a:lnTo>
                          <a:pt x="12" y="0"/>
                        </a:lnTo>
                        <a:lnTo>
                          <a:pt x="52" y="0"/>
                        </a:lnTo>
                        <a:lnTo>
                          <a:pt x="63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48" name="Group 710"/>
                <p:cNvGrpSpPr>
                  <a:grpSpLocks/>
                </p:cNvGrpSpPr>
                <p:nvPr/>
              </p:nvGrpSpPr>
              <p:grpSpPr bwMode="auto">
                <a:xfrm>
                  <a:off x="1093" y="3725"/>
                  <a:ext cx="45" cy="23"/>
                  <a:chOff x="1093" y="3725"/>
                  <a:chExt cx="45" cy="23"/>
                </a:xfrm>
              </p:grpSpPr>
              <p:sp>
                <p:nvSpPr>
                  <p:cNvPr id="2178449" name="Freeform 711"/>
                  <p:cNvSpPr>
                    <a:spLocks noChangeArrowheads="1"/>
                  </p:cNvSpPr>
                  <p:nvPr/>
                </p:nvSpPr>
                <p:spPr bwMode="auto">
                  <a:xfrm>
                    <a:off x="1093" y="3725"/>
                    <a:ext cx="20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2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0" name="Freeform 712"/>
                  <p:cNvSpPr>
                    <a:spLocks noChangeArrowheads="1"/>
                  </p:cNvSpPr>
                  <p:nvPr/>
                </p:nvSpPr>
                <p:spPr bwMode="auto">
                  <a:xfrm>
                    <a:off x="1100" y="3726"/>
                    <a:ext cx="32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40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1" name="Freeform 713"/>
                  <p:cNvSpPr>
                    <a:spLocks noChangeArrowheads="1"/>
                  </p:cNvSpPr>
                  <p:nvPr/>
                </p:nvSpPr>
                <p:spPr bwMode="auto">
                  <a:xfrm>
                    <a:off x="1106" y="3738"/>
                    <a:ext cx="32" cy="9"/>
                  </a:xfrm>
                  <a:custGeom>
                    <a:avLst/>
                    <a:gdLst>
                      <a:gd name="T0" fmla="*/ 0 w 65"/>
                      <a:gd name="T1" fmla="*/ 28 h 28"/>
                      <a:gd name="T2" fmla="*/ 12 w 65"/>
                      <a:gd name="T3" fmla="*/ 0 h 28"/>
                      <a:gd name="T4" fmla="*/ 53 w 65"/>
                      <a:gd name="T5" fmla="*/ 0 h 28"/>
                      <a:gd name="T6" fmla="*/ 65 w 65"/>
                      <a:gd name="T7" fmla="*/ 28 h 28"/>
                      <a:gd name="T8" fmla="*/ 0 w 65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52" name="Group 714"/>
                <p:cNvGrpSpPr>
                  <a:grpSpLocks/>
                </p:cNvGrpSpPr>
                <p:nvPr/>
              </p:nvGrpSpPr>
              <p:grpSpPr bwMode="auto">
                <a:xfrm>
                  <a:off x="1108" y="3739"/>
                  <a:ext cx="44" cy="23"/>
                  <a:chOff x="1108" y="3739"/>
                  <a:chExt cx="44" cy="23"/>
                </a:xfrm>
              </p:grpSpPr>
              <p:sp>
                <p:nvSpPr>
                  <p:cNvPr id="2178453" name="Freeform 715"/>
                  <p:cNvSpPr>
                    <a:spLocks noChangeArrowheads="1"/>
                  </p:cNvSpPr>
                  <p:nvPr/>
                </p:nvSpPr>
                <p:spPr bwMode="auto">
                  <a:xfrm>
                    <a:off x="1108" y="3739"/>
                    <a:ext cx="19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4 h 69"/>
                      <a:gd name="T4" fmla="*/ 12 w 40"/>
                      <a:gd name="T5" fmla="*/ 0 h 69"/>
                      <a:gd name="T6" fmla="*/ 40 w 40"/>
                      <a:gd name="T7" fmla="*/ 34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40" y="34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4" name="Freeform 716"/>
                  <p:cNvSpPr>
                    <a:spLocks noChangeArrowheads="1"/>
                  </p:cNvSpPr>
                  <p:nvPr/>
                </p:nvSpPr>
                <p:spPr bwMode="auto">
                  <a:xfrm>
                    <a:off x="1114" y="3740"/>
                    <a:ext cx="32" cy="11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42 w 64"/>
                      <a:gd name="T3" fmla="*/ 0 h 35"/>
                      <a:gd name="T4" fmla="*/ 64 w 64"/>
                      <a:gd name="T5" fmla="*/ 35 h 35"/>
                      <a:gd name="T6" fmla="*/ 25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4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5" name="Freeform 717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752"/>
                    <a:ext cx="32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5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5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56" name="Group 718"/>
                <p:cNvGrpSpPr>
                  <a:grpSpLocks/>
                </p:cNvGrpSpPr>
                <p:nvPr/>
              </p:nvGrpSpPr>
              <p:grpSpPr bwMode="auto">
                <a:xfrm>
                  <a:off x="1121" y="3753"/>
                  <a:ext cx="45" cy="23"/>
                  <a:chOff x="1121" y="3753"/>
                  <a:chExt cx="45" cy="23"/>
                </a:xfrm>
              </p:grpSpPr>
              <p:sp>
                <p:nvSpPr>
                  <p:cNvPr id="2178457" name="Freeform 719"/>
                  <p:cNvSpPr>
                    <a:spLocks noChangeArrowheads="1"/>
                  </p:cNvSpPr>
                  <p:nvPr/>
                </p:nvSpPr>
                <p:spPr bwMode="auto">
                  <a:xfrm>
                    <a:off x="1121" y="3753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5 h 68"/>
                      <a:gd name="T4" fmla="*/ 12 w 39"/>
                      <a:gd name="T5" fmla="*/ 0 h 68"/>
                      <a:gd name="T6" fmla="*/ 39 w 39"/>
                      <a:gd name="T7" fmla="*/ 35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39" y="35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8" name="Freeform 720"/>
                  <p:cNvSpPr>
                    <a:spLocks noChangeArrowheads="1"/>
                  </p:cNvSpPr>
                  <p:nvPr/>
                </p:nvSpPr>
                <p:spPr bwMode="auto">
                  <a:xfrm>
                    <a:off x="1127" y="3753"/>
                    <a:ext cx="33" cy="12"/>
                  </a:xfrm>
                  <a:custGeom>
                    <a:avLst/>
                    <a:gdLst>
                      <a:gd name="T0" fmla="*/ 0 w 64"/>
                      <a:gd name="T1" fmla="*/ 0 h 35"/>
                      <a:gd name="T2" fmla="*/ 39 w 64"/>
                      <a:gd name="T3" fmla="*/ 0 h 35"/>
                      <a:gd name="T4" fmla="*/ 64 w 64"/>
                      <a:gd name="T5" fmla="*/ 35 h 35"/>
                      <a:gd name="T6" fmla="*/ 24 w 64"/>
                      <a:gd name="T7" fmla="*/ 35 h 35"/>
                      <a:gd name="T8" fmla="*/ 0 w 64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5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59" name="Freeform 721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3766"/>
                    <a:ext cx="33" cy="9"/>
                  </a:xfrm>
                  <a:custGeom>
                    <a:avLst/>
                    <a:gdLst>
                      <a:gd name="T0" fmla="*/ 0 w 66"/>
                      <a:gd name="T1" fmla="*/ 29 h 29"/>
                      <a:gd name="T2" fmla="*/ 12 w 66"/>
                      <a:gd name="T3" fmla="*/ 0 h 29"/>
                      <a:gd name="T4" fmla="*/ 54 w 66"/>
                      <a:gd name="T5" fmla="*/ 0 h 29"/>
                      <a:gd name="T6" fmla="*/ 66 w 66"/>
                      <a:gd name="T7" fmla="*/ 29 h 29"/>
                      <a:gd name="T8" fmla="*/ 0 w 66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60" name="Group 722"/>
                <p:cNvGrpSpPr>
                  <a:grpSpLocks/>
                </p:cNvGrpSpPr>
                <p:nvPr/>
              </p:nvGrpSpPr>
              <p:grpSpPr bwMode="auto">
                <a:xfrm>
                  <a:off x="1133" y="3767"/>
                  <a:ext cx="44" cy="23"/>
                  <a:chOff x="1133" y="3767"/>
                  <a:chExt cx="44" cy="23"/>
                </a:xfrm>
              </p:grpSpPr>
              <p:sp>
                <p:nvSpPr>
                  <p:cNvPr id="2178461" name="Freeform 723"/>
                  <p:cNvSpPr>
                    <a:spLocks noChangeArrowheads="1"/>
                  </p:cNvSpPr>
                  <p:nvPr/>
                </p:nvSpPr>
                <p:spPr bwMode="auto">
                  <a:xfrm>
                    <a:off x="1133" y="3767"/>
                    <a:ext cx="20" cy="23"/>
                  </a:xfrm>
                  <a:custGeom>
                    <a:avLst/>
                    <a:gdLst>
                      <a:gd name="T0" fmla="*/ 23 w 39"/>
                      <a:gd name="T1" fmla="*/ 69 h 69"/>
                      <a:gd name="T2" fmla="*/ 0 w 39"/>
                      <a:gd name="T3" fmla="*/ 33 h 69"/>
                      <a:gd name="T4" fmla="*/ 12 w 39"/>
                      <a:gd name="T5" fmla="*/ 0 h 69"/>
                      <a:gd name="T6" fmla="*/ 39 w 39"/>
                      <a:gd name="T7" fmla="*/ 33 h 69"/>
                      <a:gd name="T8" fmla="*/ 23 w 39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62" name="Freeform 724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3767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3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3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63" name="Freeform 725"/>
                  <p:cNvSpPr>
                    <a:spLocks noChangeArrowheads="1"/>
                  </p:cNvSpPr>
                  <p:nvPr/>
                </p:nvSpPr>
                <p:spPr bwMode="auto">
                  <a:xfrm>
                    <a:off x="1146" y="3779"/>
                    <a:ext cx="31" cy="10"/>
                  </a:xfrm>
                  <a:custGeom>
                    <a:avLst/>
                    <a:gdLst>
                      <a:gd name="T0" fmla="*/ 0 w 63"/>
                      <a:gd name="T1" fmla="*/ 31 h 31"/>
                      <a:gd name="T2" fmla="*/ 11 w 63"/>
                      <a:gd name="T3" fmla="*/ 0 h 31"/>
                      <a:gd name="T4" fmla="*/ 52 w 63"/>
                      <a:gd name="T5" fmla="*/ 0 h 31"/>
                      <a:gd name="T6" fmla="*/ 63 w 63"/>
                      <a:gd name="T7" fmla="*/ 31 h 31"/>
                      <a:gd name="T8" fmla="*/ 0 w 63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1">
                        <a:moveTo>
                          <a:pt x="0" y="31"/>
                        </a:moveTo>
                        <a:lnTo>
                          <a:pt x="11" y="0"/>
                        </a:lnTo>
                        <a:lnTo>
                          <a:pt x="52" y="0"/>
                        </a:lnTo>
                        <a:lnTo>
                          <a:pt x="63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8464" name="Freeform 726"/>
                <p:cNvSpPr>
                  <a:spLocks noChangeArrowheads="1"/>
                </p:cNvSpPr>
                <p:nvPr/>
              </p:nvSpPr>
              <p:spPr bwMode="auto">
                <a:xfrm>
                  <a:off x="972" y="3556"/>
                  <a:ext cx="40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7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65" name="Freeform 727"/>
                <p:cNvSpPr>
                  <a:spLocks noChangeArrowheads="1"/>
                </p:cNvSpPr>
                <p:nvPr/>
              </p:nvSpPr>
              <p:spPr bwMode="auto">
                <a:xfrm>
                  <a:off x="993" y="3576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66" name="Freeform 728"/>
                <p:cNvSpPr>
                  <a:spLocks noChangeArrowheads="1"/>
                </p:cNvSpPr>
                <p:nvPr/>
              </p:nvSpPr>
              <p:spPr bwMode="auto">
                <a:xfrm>
                  <a:off x="1012" y="3594"/>
                  <a:ext cx="39" cy="12"/>
                </a:xfrm>
                <a:custGeom>
                  <a:avLst/>
                  <a:gdLst>
                    <a:gd name="T0" fmla="*/ 0 w 78"/>
                    <a:gd name="T1" fmla="*/ 0 h 36"/>
                    <a:gd name="T2" fmla="*/ 27 w 78"/>
                    <a:gd name="T3" fmla="*/ 36 h 36"/>
                    <a:gd name="T4" fmla="*/ 78 w 78"/>
                    <a:gd name="T5" fmla="*/ 36 h 36"/>
                    <a:gd name="T6" fmla="*/ 49 w 78"/>
                    <a:gd name="T7" fmla="*/ 0 h 36"/>
                    <a:gd name="T8" fmla="*/ 0 w 78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78" y="36"/>
                      </a:lnTo>
                      <a:lnTo>
                        <a:pt x="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67" name="Freeform 729"/>
                <p:cNvSpPr>
                  <a:spLocks noChangeArrowheads="1"/>
                </p:cNvSpPr>
                <p:nvPr/>
              </p:nvSpPr>
              <p:spPr bwMode="auto">
                <a:xfrm>
                  <a:off x="1032" y="3613"/>
                  <a:ext cx="40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68" name="Freeform 730"/>
                <p:cNvSpPr>
                  <a:spLocks noChangeArrowheads="1"/>
                </p:cNvSpPr>
                <p:nvPr/>
              </p:nvSpPr>
              <p:spPr bwMode="auto">
                <a:xfrm>
                  <a:off x="1053" y="3632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69" name="Freeform 731"/>
                <p:cNvSpPr>
                  <a:spLocks noChangeArrowheads="1"/>
                </p:cNvSpPr>
                <p:nvPr/>
              </p:nvSpPr>
              <p:spPr bwMode="auto">
                <a:xfrm>
                  <a:off x="1074" y="3651"/>
                  <a:ext cx="40" cy="12"/>
                </a:xfrm>
                <a:custGeom>
                  <a:avLst/>
                  <a:gdLst>
                    <a:gd name="T0" fmla="*/ 0 w 79"/>
                    <a:gd name="T1" fmla="*/ 0 h 35"/>
                    <a:gd name="T2" fmla="*/ 28 w 79"/>
                    <a:gd name="T3" fmla="*/ 35 h 35"/>
                    <a:gd name="T4" fmla="*/ 79 w 79"/>
                    <a:gd name="T5" fmla="*/ 35 h 35"/>
                    <a:gd name="T6" fmla="*/ 50 w 79"/>
                    <a:gd name="T7" fmla="*/ 0 h 35"/>
                    <a:gd name="T8" fmla="*/ 0 w 79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5">
                      <a:moveTo>
                        <a:pt x="0" y="0"/>
                      </a:moveTo>
                      <a:lnTo>
                        <a:pt x="28" y="35"/>
                      </a:lnTo>
                      <a:lnTo>
                        <a:pt x="79" y="35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70" name="Freeform 732"/>
                <p:cNvSpPr>
                  <a:spLocks noChangeArrowheads="1"/>
                </p:cNvSpPr>
                <p:nvPr/>
              </p:nvSpPr>
              <p:spPr bwMode="auto">
                <a:xfrm>
                  <a:off x="1095" y="3669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8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71" name="Freeform 733"/>
                <p:cNvSpPr>
                  <a:spLocks noChangeArrowheads="1"/>
                </p:cNvSpPr>
                <p:nvPr/>
              </p:nvSpPr>
              <p:spPr bwMode="auto">
                <a:xfrm>
                  <a:off x="1115" y="3688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7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72" name="Freeform 734"/>
                <p:cNvSpPr>
                  <a:spLocks noChangeArrowheads="1"/>
                </p:cNvSpPr>
                <p:nvPr/>
              </p:nvSpPr>
              <p:spPr bwMode="auto">
                <a:xfrm>
                  <a:off x="1134" y="3707"/>
                  <a:ext cx="39" cy="12"/>
                </a:xfrm>
                <a:custGeom>
                  <a:avLst/>
                  <a:gdLst>
                    <a:gd name="T0" fmla="*/ 0 w 79"/>
                    <a:gd name="T1" fmla="*/ 0 h 36"/>
                    <a:gd name="T2" fmla="*/ 28 w 79"/>
                    <a:gd name="T3" fmla="*/ 36 h 36"/>
                    <a:gd name="T4" fmla="*/ 79 w 79"/>
                    <a:gd name="T5" fmla="*/ 36 h 36"/>
                    <a:gd name="T6" fmla="*/ 50 w 79"/>
                    <a:gd name="T7" fmla="*/ 0 h 36"/>
                    <a:gd name="T8" fmla="*/ 0 w 79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9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79" y="36"/>
                      </a:lnTo>
                      <a:lnTo>
                        <a:pt x="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73" name="Freeform 735"/>
                <p:cNvSpPr>
                  <a:spLocks noChangeArrowheads="1"/>
                </p:cNvSpPr>
                <p:nvPr/>
              </p:nvSpPr>
              <p:spPr bwMode="auto">
                <a:xfrm>
                  <a:off x="1154" y="372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27 w 80"/>
                    <a:gd name="T3" fmla="*/ 36 h 36"/>
                    <a:gd name="T4" fmla="*/ 80 w 80"/>
                    <a:gd name="T5" fmla="*/ 36 h 36"/>
                    <a:gd name="T6" fmla="*/ 51 w 80"/>
                    <a:gd name="T7" fmla="*/ 0 h 36"/>
                    <a:gd name="T8" fmla="*/ 0 w 80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36">
                      <a:moveTo>
                        <a:pt x="0" y="0"/>
                      </a:moveTo>
                      <a:lnTo>
                        <a:pt x="27" y="36"/>
                      </a:lnTo>
                      <a:lnTo>
                        <a:pt x="80" y="36"/>
                      </a:lnTo>
                      <a:lnTo>
                        <a:pt x="5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474" name="Freeform 736"/>
                <p:cNvSpPr>
                  <a:spLocks noChangeArrowheads="1"/>
                </p:cNvSpPr>
                <p:nvPr/>
              </p:nvSpPr>
              <p:spPr bwMode="auto">
                <a:xfrm>
                  <a:off x="1175" y="3745"/>
                  <a:ext cx="40" cy="12"/>
                </a:xfrm>
                <a:custGeom>
                  <a:avLst/>
                  <a:gdLst>
                    <a:gd name="T0" fmla="*/ 0 w 81"/>
                    <a:gd name="T1" fmla="*/ 0 h 36"/>
                    <a:gd name="T2" fmla="*/ 28 w 81"/>
                    <a:gd name="T3" fmla="*/ 36 h 36"/>
                    <a:gd name="T4" fmla="*/ 81 w 81"/>
                    <a:gd name="T5" fmla="*/ 36 h 36"/>
                    <a:gd name="T6" fmla="*/ 52 w 81"/>
                    <a:gd name="T7" fmla="*/ 0 h 36"/>
                    <a:gd name="T8" fmla="*/ 0 w 81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36">
                      <a:moveTo>
                        <a:pt x="0" y="0"/>
                      </a:moveTo>
                      <a:lnTo>
                        <a:pt x="28" y="36"/>
                      </a:lnTo>
                      <a:lnTo>
                        <a:pt x="81" y="36"/>
                      </a:lnTo>
                      <a:lnTo>
                        <a:pt x="5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178475" name="Group 737"/>
                <p:cNvGrpSpPr>
                  <a:grpSpLocks/>
                </p:cNvGrpSpPr>
                <p:nvPr/>
              </p:nvGrpSpPr>
              <p:grpSpPr bwMode="auto">
                <a:xfrm>
                  <a:off x="700" y="3535"/>
                  <a:ext cx="49" cy="24"/>
                  <a:chOff x="700" y="3535"/>
                  <a:chExt cx="49" cy="24"/>
                </a:xfrm>
              </p:grpSpPr>
              <p:sp>
                <p:nvSpPr>
                  <p:cNvPr id="2178476" name="Freeform 738"/>
                  <p:cNvSpPr>
                    <a:spLocks noChangeArrowheads="1"/>
                  </p:cNvSpPr>
                  <p:nvPr/>
                </p:nvSpPr>
                <p:spPr bwMode="auto">
                  <a:xfrm>
                    <a:off x="700" y="3535"/>
                    <a:ext cx="12" cy="24"/>
                  </a:xfrm>
                  <a:custGeom>
                    <a:avLst/>
                    <a:gdLst>
                      <a:gd name="T0" fmla="*/ 15 w 24"/>
                      <a:gd name="T1" fmla="*/ 70 h 70"/>
                      <a:gd name="T2" fmla="*/ 0 w 24"/>
                      <a:gd name="T3" fmla="*/ 27 h 70"/>
                      <a:gd name="T4" fmla="*/ 10 w 24"/>
                      <a:gd name="T5" fmla="*/ 0 h 70"/>
                      <a:gd name="T6" fmla="*/ 24 w 24"/>
                      <a:gd name="T7" fmla="*/ 32 h 70"/>
                      <a:gd name="T8" fmla="*/ 15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2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77" name="Freeform 739"/>
                  <p:cNvSpPr>
                    <a:spLocks noChangeArrowheads="1"/>
                  </p:cNvSpPr>
                  <p:nvPr/>
                </p:nvSpPr>
                <p:spPr bwMode="auto">
                  <a:xfrm>
                    <a:off x="705" y="3536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2 w 73"/>
                      <a:gd name="T5" fmla="*/ 4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6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78" name="Freeform 740"/>
                  <p:cNvSpPr>
                    <a:spLocks noChangeArrowheads="1"/>
                  </p:cNvSpPr>
                  <p:nvPr/>
                </p:nvSpPr>
                <p:spPr bwMode="auto">
                  <a:xfrm>
                    <a:off x="708" y="354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6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6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79" name="Group 741"/>
                <p:cNvGrpSpPr>
                  <a:grpSpLocks/>
                </p:cNvGrpSpPr>
                <p:nvPr/>
              </p:nvGrpSpPr>
              <p:grpSpPr bwMode="auto">
                <a:xfrm>
                  <a:off x="714" y="3551"/>
                  <a:ext cx="49" cy="22"/>
                  <a:chOff x="714" y="3551"/>
                  <a:chExt cx="49" cy="22"/>
                </a:xfrm>
              </p:grpSpPr>
              <p:sp>
                <p:nvSpPr>
                  <p:cNvPr id="2178480" name="Freeform 742"/>
                  <p:cNvSpPr>
                    <a:spLocks noChangeArrowheads="1"/>
                  </p:cNvSpPr>
                  <p:nvPr/>
                </p:nvSpPr>
                <p:spPr bwMode="auto">
                  <a:xfrm>
                    <a:off x="714" y="35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9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9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81" name="Freeform 743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3551"/>
                    <a:ext cx="36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50 w 74"/>
                      <a:gd name="T3" fmla="*/ 0 h 29"/>
                      <a:gd name="T4" fmla="*/ 52 w 74"/>
                      <a:gd name="T5" fmla="*/ 2 h 29"/>
                      <a:gd name="T6" fmla="*/ 57 w 74"/>
                      <a:gd name="T7" fmla="*/ 13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3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82" name="Freeform 744"/>
                  <p:cNvSpPr>
                    <a:spLocks noChangeArrowheads="1"/>
                  </p:cNvSpPr>
                  <p:nvPr/>
                </p:nvSpPr>
                <p:spPr bwMode="auto">
                  <a:xfrm>
                    <a:off x="722" y="35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83" name="Group 745"/>
                <p:cNvGrpSpPr>
                  <a:grpSpLocks/>
                </p:cNvGrpSpPr>
                <p:nvPr/>
              </p:nvGrpSpPr>
              <p:grpSpPr bwMode="auto">
                <a:xfrm>
                  <a:off x="728" y="3564"/>
                  <a:ext cx="48" cy="23"/>
                  <a:chOff x="728" y="3564"/>
                  <a:chExt cx="48" cy="23"/>
                </a:xfrm>
              </p:grpSpPr>
              <p:sp>
                <p:nvSpPr>
                  <p:cNvPr id="2178484" name="Freeform 746"/>
                  <p:cNvSpPr>
                    <a:spLocks noChangeArrowheads="1"/>
                  </p:cNvSpPr>
                  <p:nvPr/>
                </p:nvSpPr>
                <p:spPr bwMode="auto">
                  <a:xfrm>
                    <a:off x="728" y="3564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85" name="Freeform 747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565"/>
                    <a:ext cx="37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50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6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86" name="Freeform 748"/>
                  <p:cNvSpPr>
                    <a:spLocks noChangeArrowheads="1"/>
                  </p:cNvSpPr>
                  <p:nvPr/>
                </p:nvSpPr>
                <p:spPr bwMode="auto">
                  <a:xfrm>
                    <a:off x="735" y="3575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87" name="Group 749"/>
                <p:cNvGrpSpPr>
                  <a:grpSpLocks/>
                </p:cNvGrpSpPr>
                <p:nvPr/>
              </p:nvGrpSpPr>
              <p:grpSpPr bwMode="auto">
                <a:xfrm>
                  <a:off x="742" y="3582"/>
                  <a:ext cx="49" cy="23"/>
                  <a:chOff x="742" y="3582"/>
                  <a:chExt cx="49" cy="23"/>
                </a:xfrm>
              </p:grpSpPr>
              <p:sp>
                <p:nvSpPr>
                  <p:cNvPr id="2178488" name="Freeform 750"/>
                  <p:cNvSpPr>
                    <a:spLocks noChangeArrowheads="1"/>
                  </p:cNvSpPr>
                  <p:nvPr/>
                </p:nvSpPr>
                <p:spPr bwMode="auto">
                  <a:xfrm>
                    <a:off x="742" y="3582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6 h 68"/>
                      <a:gd name="T4" fmla="*/ 11 w 24"/>
                      <a:gd name="T5" fmla="*/ 0 h 68"/>
                      <a:gd name="T6" fmla="*/ 24 w 24"/>
                      <a:gd name="T7" fmla="*/ 31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89" name="Freeform 751"/>
                  <p:cNvSpPr>
                    <a:spLocks noChangeArrowheads="1"/>
                  </p:cNvSpPr>
                  <p:nvPr/>
                </p:nvSpPr>
                <p:spPr bwMode="auto">
                  <a:xfrm>
                    <a:off x="747" y="3582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8 w 72"/>
                      <a:gd name="T3" fmla="*/ 0 h 30"/>
                      <a:gd name="T4" fmla="*/ 50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6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0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90" name="Freeform 752"/>
                  <p:cNvSpPr>
                    <a:spLocks noChangeArrowheads="1"/>
                  </p:cNvSpPr>
                  <p:nvPr/>
                </p:nvSpPr>
                <p:spPr bwMode="auto">
                  <a:xfrm>
                    <a:off x="750" y="359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91" name="Group 753"/>
                <p:cNvGrpSpPr>
                  <a:grpSpLocks/>
                </p:cNvGrpSpPr>
                <p:nvPr/>
              </p:nvGrpSpPr>
              <p:grpSpPr bwMode="auto">
                <a:xfrm>
                  <a:off x="752" y="3597"/>
                  <a:ext cx="133" cy="106"/>
                  <a:chOff x="752" y="3597"/>
                  <a:chExt cx="133" cy="106"/>
                </a:xfrm>
              </p:grpSpPr>
              <p:sp>
                <p:nvSpPr>
                  <p:cNvPr id="2178492" name="Freeform 754"/>
                  <p:cNvSpPr>
                    <a:spLocks noChangeArrowheads="1"/>
                  </p:cNvSpPr>
                  <p:nvPr/>
                </p:nvSpPr>
                <p:spPr bwMode="auto">
                  <a:xfrm>
                    <a:off x="752" y="3598"/>
                    <a:ext cx="91" cy="105"/>
                  </a:xfrm>
                  <a:custGeom>
                    <a:avLst/>
                    <a:gdLst>
                      <a:gd name="T0" fmla="*/ 171 w 182"/>
                      <a:gd name="T1" fmla="*/ 314 h 314"/>
                      <a:gd name="T2" fmla="*/ 0 w 182"/>
                      <a:gd name="T3" fmla="*/ 27 h 314"/>
                      <a:gd name="T4" fmla="*/ 13 w 182"/>
                      <a:gd name="T5" fmla="*/ 0 h 314"/>
                      <a:gd name="T6" fmla="*/ 182 w 182"/>
                      <a:gd name="T7" fmla="*/ 278 h 314"/>
                      <a:gd name="T8" fmla="*/ 171 w 182"/>
                      <a:gd name="T9" fmla="*/ 314 h 3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2" h="314">
                        <a:moveTo>
                          <a:pt x="171" y="314"/>
                        </a:moveTo>
                        <a:lnTo>
                          <a:pt x="0" y="27"/>
                        </a:lnTo>
                        <a:lnTo>
                          <a:pt x="13" y="0"/>
                        </a:lnTo>
                        <a:lnTo>
                          <a:pt x="182" y="278"/>
                        </a:lnTo>
                        <a:lnTo>
                          <a:pt x="171" y="314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93" name="Freeform 755"/>
                  <p:cNvSpPr>
                    <a:spLocks noChangeArrowheads="1"/>
                  </p:cNvSpPr>
                  <p:nvPr/>
                </p:nvSpPr>
                <p:spPr bwMode="auto">
                  <a:xfrm>
                    <a:off x="759" y="3597"/>
                    <a:ext cx="118" cy="94"/>
                  </a:xfrm>
                  <a:custGeom>
                    <a:avLst/>
                    <a:gdLst>
                      <a:gd name="T0" fmla="*/ 1 w 235"/>
                      <a:gd name="T1" fmla="*/ 0 h 281"/>
                      <a:gd name="T2" fmla="*/ 56 w 235"/>
                      <a:gd name="T3" fmla="*/ 0 h 281"/>
                      <a:gd name="T4" fmla="*/ 58 w 235"/>
                      <a:gd name="T5" fmla="*/ 0 h 281"/>
                      <a:gd name="T6" fmla="*/ 65 w 235"/>
                      <a:gd name="T7" fmla="*/ 10 h 281"/>
                      <a:gd name="T8" fmla="*/ 235 w 235"/>
                      <a:gd name="T9" fmla="*/ 281 h 281"/>
                      <a:gd name="T10" fmla="*/ 165 w 235"/>
                      <a:gd name="T11" fmla="*/ 277 h 281"/>
                      <a:gd name="T12" fmla="*/ 9 w 235"/>
                      <a:gd name="T13" fmla="*/ 19 h 281"/>
                      <a:gd name="T14" fmla="*/ 0 w 235"/>
                      <a:gd name="T15" fmla="*/ 4 h 281"/>
                      <a:gd name="T16" fmla="*/ 1 w 235"/>
                      <a:gd name="T17" fmla="*/ 0 h 2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35" h="281">
                        <a:moveTo>
                          <a:pt x="1" y="0"/>
                        </a:moveTo>
                        <a:lnTo>
                          <a:pt x="56" y="0"/>
                        </a:lnTo>
                        <a:lnTo>
                          <a:pt x="58" y="0"/>
                        </a:lnTo>
                        <a:lnTo>
                          <a:pt x="65" y="10"/>
                        </a:lnTo>
                        <a:lnTo>
                          <a:pt x="235" y="281"/>
                        </a:lnTo>
                        <a:lnTo>
                          <a:pt x="165" y="277"/>
                        </a:lnTo>
                        <a:lnTo>
                          <a:pt x="9" y="19"/>
                        </a:lnTo>
                        <a:lnTo>
                          <a:pt x="0" y="4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94" name="Freeform 756"/>
                  <p:cNvSpPr>
                    <a:spLocks noChangeArrowheads="1"/>
                  </p:cNvSpPr>
                  <p:nvPr/>
                </p:nvSpPr>
                <p:spPr bwMode="auto">
                  <a:xfrm>
                    <a:off x="838" y="3691"/>
                    <a:ext cx="47" cy="12"/>
                  </a:xfrm>
                  <a:custGeom>
                    <a:avLst/>
                    <a:gdLst>
                      <a:gd name="T0" fmla="*/ 0 w 95"/>
                      <a:gd name="T1" fmla="*/ 36 h 36"/>
                      <a:gd name="T2" fmla="*/ 2 w 95"/>
                      <a:gd name="T3" fmla="*/ 19 h 36"/>
                      <a:gd name="T4" fmla="*/ 8 w 95"/>
                      <a:gd name="T5" fmla="*/ 7 h 36"/>
                      <a:gd name="T6" fmla="*/ 12 w 95"/>
                      <a:gd name="T7" fmla="*/ 0 h 36"/>
                      <a:gd name="T8" fmla="*/ 76 w 95"/>
                      <a:gd name="T9" fmla="*/ 0 h 36"/>
                      <a:gd name="T10" fmla="*/ 95 w 95"/>
                      <a:gd name="T11" fmla="*/ 36 h 36"/>
                      <a:gd name="T12" fmla="*/ 0 w 95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5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76" y="0"/>
                        </a:lnTo>
                        <a:lnTo>
                          <a:pt x="95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95" name="Group 757"/>
                <p:cNvGrpSpPr>
                  <a:grpSpLocks/>
                </p:cNvGrpSpPr>
                <p:nvPr/>
              </p:nvGrpSpPr>
              <p:grpSpPr bwMode="auto">
                <a:xfrm>
                  <a:off x="844" y="3694"/>
                  <a:ext cx="48" cy="23"/>
                  <a:chOff x="844" y="3694"/>
                  <a:chExt cx="48" cy="23"/>
                </a:xfrm>
              </p:grpSpPr>
              <p:sp>
                <p:nvSpPr>
                  <p:cNvPr id="2178496" name="Freeform 758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94"/>
                    <a:ext cx="11" cy="23"/>
                  </a:xfrm>
                  <a:custGeom>
                    <a:avLst/>
                    <a:gdLst>
                      <a:gd name="T0" fmla="*/ 14 w 24"/>
                      <a:gd name="T1" fmla="*/ 68 h 68"/>
                      <a:gd name="T2" fmla="*/ 0 w 24"/>
                      <a:gd name="T3" fmla="*/ 27 h 68"/>
                      <a:gd name="T4" fmla="*/ 9 w 24"/>
                      <a:gd name="T5" fmla="*/ 0 h 68"/>
                      <a:gd name="T6" fmla="*/ 24 w 24"/>
                      <a:gd name="T7" fmla="*/ 32 h 68"/>
                      <a:gd name="T8" fmla="*/ 14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2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97" name="Freeform 759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95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1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9 w 74"/>
                      <a:gd name="T13" fmla="*/ 21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9" y="21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498" name="Freeform 760"/>
                  <p:cNvSpPr>
                    <a:spLocks noChangeArrowheads="1"/>
                  </p:cNvSpPr>
                  <p:nvPr/>
                </p:nvSpPr>
                <p:spPr bwMode="auto">
                  <a:xfrm>
                    <a:off x="851" y="3706"/>
                    <a:ext cx="41" cy="11"/>
                  </a:xfrm>
                  <a:custGeom>
                    <a:avLst/>
                    <a:gdLst>
                      <a:gd name="T0" fmla="*/ 0 w 81"/>
                      <a:gd name="T1" fmla="*/ 34 h 34"/>
                      <a:gd name="T2" fmla="*/ 1 w 81"/>
                      <a:gd name="T3" fmla="*/ 19 h 34"/>
                      <a:gd name="T4" fmla="*/ 5 w 81"/>
                      <a:gd name="T5" fmla="*/ 6 h 34"/>
                      <a:gd name="T6" fmla="*/ 10 w 81"/>
                      <a:gd name="T7" fmla="*/ 0 h 34"/>
                      <a:gd name="T8" fmla="*/ 67 w 81"/>
                      <a:gd name="T9" fmla="*/ 0 h 34"/>
                      <a:gd name="T10" fmla="*/ 81 w 81"/>
                      <a:gd name="T11" fmla="*/ 34 h 34"/>
                      <a:gd name="T12" fmla="*/ 0 w 81"/>
                      <a:gd name="T13" fmla="*/ 3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4">
                        <a:moveTo>
                          <a:pt x="0" y="34"/>
                        </a:moveTo>
                        <a:lnTo>
                          <a:pt x="1" y="19"/>
                        </a:lnTo>
                        <a:lnTo>
                          <a:pt x="5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4"/>
                        </a:lnTo>
                        <a:lnTo>
                          <a:pt x="0" y="34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499" name="Group 761"/>
                <p:cNvGrpSpPr>
                  <a:grpSpLocks/>
                </p:cNvGrpSpPr>
                <p:nvPr/>
              </p:nvGrpSpPr>
              <p:grpSpPr bwMode="auto">
                <a:xfrm>
                  <a:off x="857" y="3710"/>
                  <a:ext cx="49" cy="22"/>
                  <a:chOff x="857" y="3710"/>
                  <a:chExt cx="49" cy="22"/>
                </a:xfrm>
              </p:grpSpPr>
              <p:sp>
                <p:nvSpPr>
                  <p:cNvPr id="2178500" name="Freeform 76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710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01" name="Freeform 763"/>
                  <p:cNvSpPr>
                    <a:spLocks noChangeArrowheads="1"/>
                  </p:cNvSpPr>
                  <p:nvPr/>
                </p:nvSpPr>
                <p:spPr bwMode="auto">
                  <a:xfrm>
                    <a:off x="862" y="3710"/>
                    <a:ext cx="36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02" name="Freeform 764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720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503" name="Group 765"/>
                <p:cNvGrpSpPr>
                  <a:grpSpLocks/>
                </p:cNvGrpSpPr>
                <p:nvPr/>
              </p:nvGrpSpPr>
              <p:grpSpPr bwMode="auto">
                <a:xfrm>
                  <a:off x="1086" y="3766"/>
                  <a:ext cx="49" cy="23"/>
                  <a:chOff x="1086" y="3766"/>
                  <a:chExt cx="49" cy="23"/>
                </a:xfrm>
              </p:grpSpPr>
              <p:sp>
                <p:nvSpPr>
                  <p:cNvPr id="2178504" name="Freeform 766"/>
                  <p:cNvSpPr>
                    <a:spLocks noChangeArrowheads="1"/>
                  </p:cNvSpPr>
                  <p:nvPr/>
                </p:nvSpPr>
                <p:spPr bwMode="auto">
                  <a:xfrm>
                    <a:off x="1086" y="3766"/>
                    <a:ext cx="11" cy="23"/>
                  </a:xfrm>
                  <a:custGeom>
                    <a:avLst/>
                    <a:gdLst>
                      <a:gd name="T0" fmla="*/ 13 w 22"/>
                      <a:gd name="T1" fmla="*/ 69 h 69"/>
                      <a:gd name="T2" fmla="*/ 0 w 22"/>
                      <a:gd name="T3" fmla="*/ 27 h 69"/>
                      <a:gd name="T4" fmla="*/ 9 w 22"/>
                      <a:gd name="T5" fmla="*/ 0 h 69"/>
                      <a:gd name="T6" fmla="*/ 22 w 22"/>
                      <a:gd name="T7" fmla="*/ 32 h 69"/>
                      <a:gd name="T8" fmla="*/ 13 w 22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2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05" name="Freeform 767"/>
                  <p:cNvSpPr>
                    <a:spLocks noChangeArrowheads="1"/>
                  </p:cNvSpPr>
                  <p:nvPr/>
                </p:nvSpPr>
                <p:spPr bwMode="auto">
                  <a:xfrm>
                    <a:off x="1090" y="3767"/>
                    <a:ext cx="37" cy="10"/>
                  </a:xfrm>
                  <a:custGeom>
                    <a:avLst/>
                    <a:gdLst>
                      <a:gd name="T0" fmla="*/ 3 w 74"/>
                      <a:gd name="T1" fmla="*/ 0 h 31"/>
                      <a:gd name="T2" fmla="*/ 51 w 74"/>
                      <a:gd name="T3" fmla="*/ 0 h 31"/>
                      <a:gd name="T4" fmla="*/ 53 w 74"/>
                      <a:gd name="T5" fmla="*/ 4 h 31"/>
                      <a:gd name="T6" fmla="*/ 56 w 74"/>
                      <a:gd name="T7" fmla="*/ 13 h 31"/>
                      <a:gd name="T8" fmla="*/ 74 w 74"/>
                      <a:gd name="T9" fmla="*/ 31 h 31"/>
                      <a:gd name="T10" fmla="*/ 18 w 74"/>
                      <a:gd name="T11" fmla="*/ 31 h 31"/>
                      <a:gd name="T12" fmla="*/ 9 w 74"/>
                      <a:gd name="T13" fmla="*/ 22 h 31"/>
                      <a:gd name="T14" fmla="*/ 0 w 74"/>
                      <a:gd name="T15" fmla="*/ 6 h 31"/>
                      <a:gd name="T16" fmla="*/ 3 w 74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1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4"/>
                        </a:lnTo>
                        <a:lnTo>
                          <a:pt x="56" y="13"/>
                        </a:lnTo>
                        <a:lnTo>
                          <a:pt x="74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06" name="Freeform 768"/>
                  <p:cNvSpPr>
                    <a:spLocks noChangeArrowheads="1"/>
                  </p:cNvSpPr>
                  <p:nvPr/>
                </p:nvSpPr>
                <p:spPr bwMode="auto">
                  <a:xfrm>
                    <a:off x="1093" y="3777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6 h 36"/>
                      <a:gd name="T6" fmla="*/ 11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6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507" name="Group 769"/>
                <p:cNvGrpSpPr>
                  <a:grpSpLocks/>
                </p:cNvGrpSpPr>
                <p:nvPr/>
              </p:nvGrpSpPr>
              <p:grpSpPr bwMode="auto">
                <a:xfrm>
                  <a:off x="934" y="3740"/>
                  <a:ext cx="48" cy="23"/>
                  <a:chOff x="934" y="3740"/>
                  <a:chExt cx="48" cy="23"/>
                </a:xfrm>
              </p:grpSpPr>
              <p:sp>
                <p:nvSpPr>
                  <p:cNvPr id="2178508" name="Freeform 770"/>
                  <p:cNvSpPr>
                    <a:spLocks noChangeArrowheads="1"/>
                  </p:cNvSpPr>
                  <p:nvPr/>
                </p:nvSpPr>
                <p:spPr bwMode="auto">
                  <a:xfrm>
                    <a:off x="934" y="3740"/>
                    <a:ext cx="11" cy="23"/>
                  </a:xfrm>
                  <a:custGeom>
                    <a:avLst/>
                    <a:gdLst>
                      <a:gd name="T0" fmla="*/ 15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2 h 70"/>
                      <a:gd name="T8" fmla="*/ 15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2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09" name="Freeform 771"/>
                  <p:cNvSpPr>
                    <a:spLocks noChangeArrowheads="1"/>
                  </p:cNvSpPr>
                  <p:nvPr/>
                </p:nvSpPr>
                <p:spPr bwMode="auto">
                  <a:xfrm>
                    <a:off x="938" y="3741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4 h 30"/>
                      <a:gd name="T6" fmla="*/ 57 w 74"/>
                      <a:gd name="T7" fmla="*/ 13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9 w 74"/>
                      <a:gd name="T13" fmla="*/ 22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10" name="Freeform 772"/>
                  <p:cNvSpPr>
                    <a:spLocks noChangeArrowheads="1"/>
                  </p:cNvSpPr>
                  <p:nvPr/>
                </p:nvSpPr>
                <p:spPr bwMode="auto">
                  <a:xfrm>
                    <a:off x="941" y="375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6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6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404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2178511" name="Group 773"/>
                <p:cNvGrpSpPr>
                  <a:grpSpLocks/>
                </p:cNvGrpSpPr>
                <p:nvPr/>
              </p:nvGrpSpPr>
              <p:grpSpPr bwMode="auto">
                <a:xfrm>
                  <a:off x="943" y="3754"/>
                  <a:ext cx="49" cy="23"/>
                  <a:chOff x="943" y="3754"/>
                  <a:chExt cx="49" cy="23"/>
                </a:xfrm>
              </p:grpSpPr>
              <p:sp>
                <p:nvSpPr>
                  <p:cNvPr id="2178512" name="Freeform 774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754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5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5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13" name="Freeform 775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55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49 w 74"/>
                      <a:gd name="T3" fmla="*/ 0 h 30"/>
                      <a:gd name="T4" fmla="*/ 50 w 74"/>
                      <a:gd name="T5" fmla="*/ 3 h 30"/>
                      <a:gd name="T6" fmla="*/ 57 w 74"/>
                      <a:gd name="T7" fmla="*/ 12 h 30"/>
                      <a:gd name="T8" fmla="*/ 74 w 74"/>
                      <a:gd name="T9" fmla="*/ 30 h 30"/>
                      <a:gd name="T10" fmla="*/ 18 w 74"/>
                      <a:gd name="T11" fmla="*/ 30 h 30"/>
                      <a:gd name="T12" fmla="*/ 9 w 74"/>
                      <a:gd name="T13" fmla="*/ 21 h 30"/>
                      <a:gd name="T14" fmla="*/ 0 w 74"/>
                      <a:gd name="T15" fmla="*/ 5 h 30"/>
                      <a:gd name="T16" fmla="*/ 1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3"/>
                        </a:lnTo>
                        <a:lnTo>
                          <a:pt x="57" y="12"/>
                        </a:lnTo>
                        <a:lnTo>
                          <a:pt x="74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78514" name="Freeform 776"/>
                  <p:cNvSpPr>
                    <a:spLocks noChangeArrowheads="1"/>
                  </p:cNvSpPr>
                  <p:nvPr/>
                </p:nvSpPr>
                <p:spPr bwMode="auto">
                  <a:xfrm>
                    <a:off x="951" y="3765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5 w 81"/>
                      <a:gd name="T5" fmla="*/ 7 h 36"/>
                      <a:gd name="T6" fmla="*/ 10 w 81"/>
                      <a:gd name="T7" fmla="*/ 0 h 36"/>
                      <a:gd name="T8" fmla="*/ 67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2178515" name="Freeform 777"/>
                <p:cNvSpPr>
                  <a:spLocks noChangeArrowheads="1"/>
                </p:cNvSpPr>
                <p:nvPr/>
              </p:nvSpPr>
              <p:spPr bwMode="auto">
                <a:xfrm>
                  <a:off x="987" y="3753"/>
                  <a:ext cx="25" cy="43"/>
                </a:xfrm>
                <a:custGeom>
                  <a:avLst/>
                  <a:gdLst>
                    <a:gd name="T0" fmla="*/ 40 w 51"/>
                    <a:gd name="T1" fmla="*/ 128 h 128"/>
                    <a:gd name="T2" fmla="*/ 0 w 51"/>
                    <a:gd name="T3" fmla="*/ 29 h 128"/>
                    <a:gd name="T4" fmla="*/ 0 w 51"/>
                    <a:gd name="T5" fmla="*/ 20 h 128"/>
                    <a:gd name="T6" fmla="*/ 2 w 51"/>
                    <a:gd name="T7" fmla="*/ 11 h 128"/>
                    <a:gd name="T8" fmla="*/ 10 w 51"/>
                    <a:gd name="T9" fmla="*/ 0 h 128"/>
                    <a:gd name="T10" fmla="*/ 51 w 51"/>
                    <a:gd name="T11" fmla="*/ 91 h 128"/>
                    <a:gd name="T12" fmla="*/ 40 w 51"/>
                    <a:gd name="T13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" h="128">
                      <a:moveTo>
                        <a:pt x="40" y="128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2" y="11"/>
                      </a:lnTo>
                      <a:lnTo>
                        <a:pt x="10" y="0"/>
                      </a:lnTo>
                      <a:lnTo>
                        <a:pt x="51" y="91"/>
                      </a:lnTo>
                      <a:lnTo>
                        <a:pt x="40" y="12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16" name="Freeform 778"/>
                <p:cNvSpPr>
                  <a:spLocks noChangeArrowheads="1"/>
                </p:cNvSpPr>
                <p:nvPr/>
              </p:nvSpPr>
              <p:spPr bwMode="auto">
                <a:xfrm>
                  <a:off x="992" y="3753"/>
                  <a:ext cx="91" cy="29"/>
                </a:xfrm>
                <a:custGeom>
                  <a:avLst/>
                  <a:gdLst>
                    <a:gd name="T0" fmla="*/ 0 w 183"/>
                    <a:gd name="T1" fmla="*/ 0 h 85"/>
                    <a:gd name="T2" fmla="*/ 64 w 183"/>
                    <a:gd name="T3" fmla="*/ 0 h 85"/>
                    <a:gd name="T4" fmla="*/ 67 w 183"/>
                    <a:gd name="T5" fmla="*/ 13 h 85"/>
                    <a:gd name="T6" fmla="*/ 75 w 183"/>
                    <a:gd name="T7" fmla="*/ 28 h 85"/>
                    <a:gd name="T8" fmla="*/ 84 w 183"/>
                    <a:gd name="T9" fmla="*/ 42 h 85"/>
                    <a:gd name="T10" fmla="*/ 158 w 183"/>
                    <a:gd name="T11" fmla="*/ 42 h 85"/>
                    <a:gd name="T12" fmla="*/ 163 w 183"/>
                    <a:gd name="T13" fmla="*/ 55 h 85"/>
                    <a:gd name="T14" fmla="*/ 172 w 183"/>
                    <a:gd name="T15" fmla="*/ 67 h 85"/>
                    <a:gd name="T16" fmla="*/ 183 w 183"/>
                    <a:gd name="T17" fmla="*/ 85 h 85"/>
                    <a:gd name="T18" fmla="*/ 64 w 183"/>
                    <a:gd name="T19" fmla="*/ 85 h 85"/>
                    <a:gd name="T20" fmla="*/ 41 w 183"/>
                    <a:gd name="T21" fmla="*/ 85 h 85"/>
                    <a:gd name="T22" fmla="*/ 0 w 183"/>
                    <a:gd name="T23" fmla="*/ 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3" h="85">
                      <a:moveTo>
                        <a:pt x="0" y="0"/>
                      </a:moveTo>
                      <a:lnTo>
                        <a:pt x="64" y="0"/>
                      </a:lnTo>
                      <a:lnTo>
                        <a:pt x="67" y="13"/>
                      </a:lnTo>
                      <a:lnTo>
                        <a:pt x="75" y="28"/>
                      </a:lnTo>
                      <a:lnTo>
                        <a:pt x="84" y="42"/>
                      </a:lnTo>
                      <a:lnTo>
                        <a:pt x="158" y="42"/>
                      </a:lnTo>
                      <a:lnTo>
                        <a:pt x="163" y="55"/>
                      </a:lnTo>
                      <a:lnTo>
                        <a:pt x="172" y="67"/>
                      </a:lnTo>
                      <a:lnTo>
                        <a:pt x="183" y="85"/>
                      </a:lnTo>
                      <a:lnTo>
                        <a:pt x="64" y="85"/>
                      </a:lnTo>
                      <a:lnTo>
                        <a:pt x="41" y="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17" name="Freeform 779"/>
                <p:cNvSpPr>
                  <a:spLocks noChangeArrowheads="1"/>
                </p:cNvSpPr>
                <p:nvPr/>
              </p:nvSpPr>
              <p:spPr bwMode="auto">
                <a:xfrm>
                  <a:off x="1008" y="3782"/>
                  <a:ext cx="81" cy="12"/>
                </a:xfrm>
                <a:custGeom>
                  <a:avLst/>
                  <a:gdLst>
                    <a:gd name="T0" fmla="*/ 0 w 160"/>
                    <a:gd name="T1" fmla="*/ 36 h 36"/>
                    <a:gd name="T2" fmla="*/ 1 w 160"/>
                    <a:gd name="T3" fmla="*/ 20 h 36"/>
                    <a:gd name="T4" fmla="*/ 7 w 160"/>
                    <a:gd name="T5" fmla="*/ 8 h 36"/>
                    <a:gd name="T6" fmla="*/ 10 w 160"/>
                    <a:gd name="T7" fmla="*/ 0 h 36"/>
                    <a:gd name="T8" fmla="*/ 150 w 160"/>
                    <a:gd name="T9" fmla="*/ 0 h 36"/>
                    <a:gd name="T10" fmla="*/ 160 w 160"/>
                    <a:gd name="T11" fmla="*/ 36 h 36"/>
                    <a:gd name="T12" fmla="*/ 0 w 16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0" y="0"/>
                      </a:lnTo>
                      <a:lnTo>
                        <a:pt x="150" y="0"/>
                      </a:lnTo>
                      <a:lnTo>
                        <a:pt x="16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78518" name="Group 780"/>
              <p:cNvGrpSpPr>
                <a:grpSpLocks/>
              </p:cNvGrpSpPr>
              <p:nvPr/>
            </p:nvGrpSpPr>
            <p:grpSpPr bwMode="auto">
              <a:xfrm>
                <a:off x="920" y="3821"/>
                <a:ext cx="413" cy="50"/>
                <a:chOff x="920" y="3821"/>
                <a:chExt cx="413" cy="50"/>
              </a:xfrm>
            </p:grpSpPr>
            <p:sp>
              <p:nvSpPr>
                <p:cNvPr id="2178519" name="Freeform 781"/>
                <p:cNvSpPr>
                  <a:spLocks noChangeArrowheads="1"/>
                </p:cNvSpPr>
                <p:nvPr/>
              </p:nvSpPr>
              <p:spPr bwMode="auto">
                <a:xfrm>
                  <a:off x="920" y="3821"/>
                  <a:ext cx="413" cy="50"/>
                </a:xfrm>
                <a:custGeom>
                  <a:avLst/>
                  <a:gdLst>
                    <a:gd name="T0" fmla="*/ 35 w 825"/>
                    <a:gd name="T1" fmla="*/ 13 h 151"/>
                    <a:gd name="T2" fmla="*/ 17 w 825"/>
                    <a:gd name="T3" fmla="*/ 27 h 151"/>
                    <a:gd name="T4" fmla="*/ 9 w 825"/>
                    <a:gd name="T5" fmla="*/ 48 h 151"/>
                    <a:gd name="T6" fmla="*/ 0 w 825"/>
                    <a:gd name="T7" fmla="*/ 97 h 151"/>
                    <a:gd name="T8" fmla="*/ 4 w 825"/>
                    <a:gd name="T9" fmla="*/ 124 h 151"/>
                    <a:gd name="T10" fmla="*/ 13 w 825"/>
                    <a:gd name="T11" fmla="*/ 138 h 151"/>
                    <a:gd name="T12" fmla="*/ 26 w 825"/>
                    <a:gd name="T13" fmla="*/ 151 h 151"/>
                    <a:gd name="T14" fmla="*/ 783 w 825"/>
                    <a:gd name="T15" fmla="*/ 142 h 151"/>
                    <a:gd name="T16" fmla="*/ 807 w 825"/>
                    <a:gd name="T17" fmla="*/ 128 h 151"/>
                    <a:gd name="T18" fmla="*/ 816 w 825"/>
                    <a:gd name="T19" fmla="*/ 107 h 151"/>
                    <a:gd name="T20" fmla="*/ 825 w 825"/>
                    <a:gd name="T21" fmla="*/ 61 h 151"/>
                    <a:gd name="T22" fmla="*/ 821 w 825"/>
                    <a:gd name="T23" fmla="*/ 27 h 151"/>
                    <a:gd name="T24" fmla="*/ 806 w 825"/>
                    <a:gd name="T25" fmla="*/ 9 h 151"/>
                    <a:gd name="T26" fmla="*/ 785 w 825"/>
                    <a:gd name="T27" fmla="*/ 0 h 151"/>
                    <a:gd name="T28" fmla="*/ 35 w 825"/>
                    <a:gd name="T29" fmla="*/ 13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25" h="151">
                      <a:moveTo>
                        <a:pt x="35" y="13"/>
                      </a:moveTo>
                      <a:lnTo>
                        <a:pt x="17" y="27"/>
                      </a:lnTo>
                      <a:lnTo>
                        <a:pt x="9" y="48"/>
                      </a:lnTo>
                      <a:lnTo>
                        <a:pt x="0" y="97"/>
                      </a:lnTo>
                      <a:lnTo>
                        <a:pt x="4" y="124"/>
                      </a:lnTo>
                      <a:lnTo>
                        <a:pt x="13" y="138"/>
                      </a:lnTo>
                      <a:lnTo>
                        <a:pt x="26" y="151"/>
                      </a:lnTo>
                      <a:lnTo>
                        <a:pt x="783" y="142"/>
                      </a:lnTo>
                      <a:lnTo>
                        <a:pt x="807" y="128"/>
                      </a:lnTo>
                      <a:lnTo>
                        <a:pt x="816" y="107"/>
                      </a:lnTo>
                      <a:lnTo>
                        <a:pt x="825" y="61"/>
                      </a:lnTo>
                      <a:lnTo>
                        <a:pt x="821" y="27"/>
                      </a:lnTo>
                      <a:lnTo>
                        <a:pt x="806" y="9"/>
                      </a:lnTo>
                      <a:lnTo>
                        <a:pt x="785" y="0"/>
                      </a:lnTo>
                      <a:lnTo>
                        <a:pt x="35" y="13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0" name="Freeform 782"/>
                <p:cNvSpPr>
                  <a:spLocks noChangeArrowheads="1"/>
                </p:cNvSpPr>
                <p:nvPr/>
              </p:nvSpPr>
              <p:spPr bwMode="auto">
                <a:xfrm>
                  <a:off x="972" y="3833"/>
                  <a:ext cx="330" cy="27"/>
                </a:xfrm>
                <a:custGeom>
                  <a:avLst/>
                  <a:gdLst>
                    <a:gd name="T0" fmla="*/ 4 w 658"/>
                    <a:gd name="T1" fmla="*/ 23 h 79"/>
                    <a:gd name="T2" fmla="*/ 0 w 658"/>
                    <a:gd name="T3" fmla="*/ 50 h 79"/>
                    <a:gd name="T4" fmla="*/ 153 w 658"/>
                    <a:gd name="T5" fmla="*/ 50 h 79"/>
                    <a:gd name="T6" fmla="*/ 153 w 658"/>
                    <a:gd name="T7" fmla="*/ 79 h 79"/>
                    <a:gd name="T8" fmla="*/ 500 w 658"/>
                    <a:gd name="T9" fmla="*/ 73 h 79"/>
                    <a:gd name="T10" fmla="*/ 500 w 658"/>
                    <a:gd name="T11" fmla="*/ 50 h 79"/>
                    <a:gd name="T12" fmla="*/ 656 w 658"/>
                    <a:gd name="T13" fmla="*/ 50 h 79"/>
                    <a:gd name="T14" fmla="*/ 658 w 658"/>
                    <a:gd name="T15" fmla="*/ 23 h 79"/>
                    <a:gd name="T16" fmla="*/ 504 w 658"/>
                    <a:gd name="T17" fmla="*/ 23 h 79"/>
                    <a:gd name="T18" fmla="*/ 504 w 658"/>
                    <a:gd name="T19" fmla="*/ 0 h 79"/>
                    <a:gd name="T20" fmla="*/ 153 w 658"/>
                    <a:gd name="T21" fmla="*/ 8 h 79"/>
                    <a:gd name="T22" fmla="*/ 153 w 658"/>
                    <a:gd name="T23" fmla="*/ 23 h 79"/>
                    <a:gd name="T24" fmla="*/ 4 w 658"/>
                    <a:gd name="T25" fmla="*/ 23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58" h="79">
                      <a:moveTo>
                        <a:pt x="4" y="23"/>
                      </a:moveTo>
                      <a:lnTo>
                        <a:pt x="0" y="50"/>
                      </a:lnTo>
                      <a:lnTo>
                        <a:pt x="153" y="50"/>
                      </a:lnTo>
                      <a:lnTo>
                        <a:pt x="153" y="79"/>
                      </a:lnTo>
                      <a:lnTo>
                        <a:pt x="500" y="73"/>
                      </a:lnTo>
                      <a:lnTo>
                        <a:pt x="500" y="50"/>
                      </a:lnTo>
                      <a:lnTo>
                        <a:pt x="656" y="50"/>
                      </a:lnTo>
                      <a:lnTo>
                        <a:pt x="658" y="23"/>
                      </a:lnTo>
                      <a:lnTo>
                        <a:pt x="504" y="23"/>
                      </a:lnTo>
                      <a:lnTo>
                        <a:pt x="504" y="0"/>
                      </a:lnTo>
                      <a:lnTo>
                        <a:pt x="153" y="8"/>
                      </a:lnTo>
                      <a:lnTo>
                        <a:pt x="153" y="23"/>
                      </a:lnTo>
                      <a:lnTo>
                        <a:pt x="4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1" name="Rectangle 783"/>
                <p:cNvSpPr>
                  <a:spLocks noChangeArrowheads="1"/>
                </p:cNvSpPr>
                <p:nvPr/>
              </p:nvSpPr>
              <p:spPr bwMode="auto">
                <a:xfrm>
                  <a:off x="982" y="3856"/>
                  <a:ext cx="26" cy="7"/>
                </a:xfrm>
                <a:prstGeom prst="rect">
                  <a:avLst/>
                </a:prstGeom>
                <a:solidFill>
                  <a:srgbClr val="00A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2" name="Rectangle 784"/>
                <p:cNvSpPr>
                  <a:spLocks noChangeArrowheads="1"/>
                </p:cNvSpPr>
                <p:nvPr/>
              </p:nvSpPr>
              <p:spPr bwMode="auto">
                <a:xfrm>
                  <a:off x="1237" y="3855"/>
                  <a:ext cx="53" cy="6"/>
                </a:xfrm>
                <a:prstGeom prst="rect">
                  <a:avLst/>
                </a:prstGeom>
                <a:solidFill>
                  <a:srgbClr val="202020"/>
                </a:solidFill>
                <a:ln w="793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178523" name="Group 785"/>
              <p:cNvGrpSpPr>
                <a:grpSpLocks/>
              </p:cNvGrpSpPr>
              <p:nvPr/>
            </p:nvGrpSpPr>
            <p:grpSpPr bwMode="auto">
              <a:xfrm>
                <a:off x="1227" y="3477"/>
                <a:ext cx="508" cy="321"/>
                <a:chOff x="1227" y="3477"/>
                <a:chExt cx="508" cy="321"/>
              </a:xfrm>
            </p:grpSpPr>
            <p:sp>
              <p:nvSpPr>
                <p:cNvPr id="2178524" name="Freeform 786"/>
                <p:cNvSpPr>
                  <a:spLocks noChangeArrowheads="1"/>
                </p:cNvSpPr>
                <p:nvPr/>
              </p:nvSpPr>
              <p:spPr bwMode="auto">
                <a:xfrm>
                  <a:off x="1640" y="3731"/>
                  <a:ext cx="95" cy="66"/>
                </a:xfrm>
                <a:custGeom>
                  <a:avLst/>
                  <a:gdLst>
                    <a:gd name="T0" fmla="*/ 126 w 191"/>
                    <a:gd name="T1" fmla="*/ 9 h 200"/>
                    <a:gd name="T2" fmla="*/ 93 w 191"/>
                    <a:gd name="T3" fmla="*/ 0 h 200"/>
                    <a:gd name="T4" fmla="*/ 59 w 191"/>
                    <a:gd name="T5" fmla="*/ 5 h 200"/>
                    <a:gd name="T6" fmla="*/ 32 w 191"/>
                    <a:gd name="T7" fmla="*/ 17 h 200"/>
                    <a:gd name="T8" fmla="*/ 9 w 191"/>
                    <a:gd name="T9" fmla="*/ 45 h 200"/>
                    <a:gd name="T10" fmla="*/ 0 w 191"/>
                    <a:gd name="T11" fmla="*/ 94 h 200"/>
                    <a:gd name="T12" fmla="*/ 0 w 191"/>
                    <a:gd name="T13" fmla="*/ 137 h 200"/>
                    <a:gd name="T14" fmla="*/ 0 w 191"/>
                    <a:gd name="T15" fmla="*/ 200 h 200"/>
                    <a:gd name="T16" fmla="*/ 191 w 191"/>
                    <a:gd name="T17" fmla="*/ 200 h 200"/>
                    <a:gd name="T18" fmla="*/ 181 w 191"/>
                    <a:gd name="T19" fmla="*/ 81 h 200"/>
                    <a:gd name="T20" fmla="*/ 157 w 191"/>
                    <a:gd name="T21" fmla="*/ 30 h 200"/>
                    <a:gd name="T22" fmla="*/ 126 w 191"/>
                    <a:gd name="T23" fmla="*/ 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1" h="200">
                      <a:moveTo>
                        <a:pt x="126" y="9"/>
                      </a:moveTo>
                      <a:lnTo>
                        <a:pt x="93" y="0"/>
                      </a:lnTo>
                      <a:lnTo>
                        <a:pt x="59" y="5"/>
                      </a:lnTo>
                      <a:lnTo>
                        <a:pt x="32" y="17"/>
                      </a:lnTo>
                      <a:lnTo>
                        <a:pt x="9" y="45"/>
                      </a:lnTo>
                      <a:lnTo>
                        <a:pt x="0" y="94"/>
                      </a:lnTo>
                      <a:lnTo>
                        <a:pt x="0" y="137"/>
                      </a:lnTo>
                      <a:lnTo>
                        <a:pt x="0" y="200"/>
                      </a:lnTo>
                      <a:lnTo>
                        <a:pt x="191" y="200"/>
                      </a:lnTo>
                      <a:lnTo>
                        <a:pt x="181" y="81"/>
                      </a:lnTo>
                      <a:lnTo>
                        <a:pt x="157" y="30"/>
                      </a:lnTo>
                      <a:lnTo>
                        <a:pt x="126" y="9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40404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5" name="Freeform 787"/>
                <p:cNvSpPr>
                  <a:spLocks noChangeArrowheads="1"/>
                </p:cNvSpPr>
                <p:nvPr/>
              </p:nvSpPr>
              <p:spPr bwMode="auto">
                <a:xfrm>
                  <a:off x="1227" y="3477"/>
                  <a:ext cx="429" cy="264"/>
                </a:xfrm>
                <a:custGeom>
                  <a:avLst/>
                  <a:gdLst>
                    <a:gd name="T0" fmla="*/ 0 w 860"/>
                    <a:gd name="T1" fmla="*/ 0 h 791"/>
                    <a:gd name="T2" fmla="*/ 860 w 860"/>
                    <a:gd name="T3" fmla="*/ 764 h 791"/>
                    <a:gd name="T4" fmla="*/ 849 w 860"/>
                    <a:gd name="T5" fmla="*/ 777 h 791"/>
                    <a:gd name="T6" fmla="*/ 838 w 860"/>
                    <a:gd name="T7" fmla="*/ 791 h 791"/>
                    <a:gd name="T8" fmla="*/ 0 w 860"/>
                    <a:gd name="T9" fmla="*/ 0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0" h="791">
                      <a:moveTo>
                        <a:pt x="0" y="0"/>
                      </a:moveTo>
                      <a:lnTo>
                        <a:pt x="860" y="764"/>
                      </a:lnTo>
                      <a:lnTo>
                        <a:pt x="849" y="777"/>
                      </a:lnTo>
                      <a:lnTo>
                        <a:pt x="838" y="7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6" name="Freeform 788"/>
                <p:cNvSpPr>
                  <a:spLocks noChangeArrowheads="1"/>
                </p:cNvSpPr>
                <p:nvPr/>
              </p:nvSpPr>
              <p:spPr bwMode="auto">
                <a:xfrm>
                  <a:off x="1521" y="3650"/>
                  <a:ext cx="141" cy="122"/>
                </a:xfrm>
                <a:custGeom>
                  <a:avLst/>
                  <a:gdLst>
                    <a:gd name="T0" fmla="*/ 4 w 281"/>
                    <a:gd name="T1" fmla="*/ 95 h 366"/>
                    <a:gd name="T2" fmla="*/ 24 w 281"/>
                    <a:gd name="T3" fmla="*/ 62 h 366"/>
                    <a:gd name="T4" fmla="*/ 54 w 281"/>
                    <a:gd name="T5" fmla="*/ 43 h 366"/>
                    <a:gd name="T6" fmla="*/ 78 w 281"/>
                    <a:gd name="T7" fmla="*/ 42 h 366"/>
                    <a:gd name="T8" fmla="*/ 128 w 281"/>
                    <a:gd name="T9" fmla="*/ 43 h 366"/>
                    <a:gd name="T10" fmla="*/ 132 w 281"/>
                    <a:gd name="T11" fmla="*/ 0 h 366"/>
                    <a:gd name="T12" fmla="*/ 281 w 281"/>
                    <a:gd name="T13" fmla="*/ 130 h 366"/>
                    <a:gd name="T14" fmla="*/ 272 w 281"/>
                    <a:gd name="T15" fmla="*/ 179 h 366"/>
                    <a:gd name="T16" fmla="*/ 228 w 281"/>
                    <a:gd name="T17" fmla="*/ 170 h 366"/>
                    <a:gd name="T18" fmla="*/ 191 w 281"/>
                    <a:gd name="T19" fmla="*/ 184 h 366"/>
                    <a:gd name="T20" fmla="*/ 158 w 281"/>
                    <a:gd name="T21" fmla="*/ 210 h 366"/>
                    <a:gd name="T22" fmla="*/ 150 w 281"/>
                    <a:gd name="T23" fmla="*/ 232 h 366"/>
                    <a:gd name="T24" fmla="*/ 149 w 281"/>
                    <a:gd name="T25" fmla="*/ 295 h 366"/>
                    <a:gd name="T26" fmla="*/ 149 w 281"/>
                    <a:gd name="T27" fmla="*/ 338 h 366"/>
                    <a:gd name="T28" fmla="*/ 150 w 281"/>
                    <a:gd name="T29" fmla="*/ 366 h 366"/>
                    <a:gd name="T30" fmla="*/ 0 w 281"/>
                    <a:gd name="T31" fmla="*/ 229 h 366"/>
                    <a:gd name="T32" fmla="*/ 0 w 281"/>
                    <a:gd name="T33" fmla="*/ 139 h 366"/>
                    <a:gd name="T34" fmla="*/ 4 w 281"/>
                    <a:gd name="T35" fmla="*/ 95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81" h="366">
                      <a:moveTo>
                        <a:pt x="4" y="95"/>
                      </a:moveTo>
                      <a:lnTo>
                        <a:pt x="24" y="62"/>
                      </a:lnTo>
                      <a:lnTo>
                        <a:pt x="54" y="43"/>
                      </a:lnTo>
                      <a:lnTo>
                        <a:pt x="78" y="42"/>
                      </a:lnTo>
                      <a:lnTo>
                        <a:pt x="128" y="43"/>
                      </a:lnTo>
                      <a:lnTo>
                        <a:pt x="132" y="0"/>
                      </a:lnTo>
                      <a:lnTo>
                        <a:pt x="281" y="130"/>
                      </a:lnTo>
                      <a:lnTo>
                        <a:pt x="272" y="179"/>
                      </a:lnTo>
                      <a:lnTo>
                        <a:pt x="228" y="170"/>
                      </a:lnTo>
                      <a:lnTo>
                        <a:pt x="191" y="184"/>
                      </a:lnTo>
                      <a:lnTo>
                        <a:pt x="158" y="210"/>
                      </a:lnTo>
                      <a:lnTo>
                        <a:pt x="150" y="232"/>
                      </a:lnTo>
                      <a:lnTo>
                        <a:pt x="149" y="295"/>
                      </a:lnTo>
                      <a:lnTo>
                        <a:pt x="149" y="338"/>
                      </a:lnTo>
                      <a:lnTo>
                        <a:pt x="150" y="366"/>
                      </a:lnTo>
                      <a:lnTo>
                        <a:pt x="0" y="229"/>
                      </a:lnTo>
                      <a:lnTo>
                        <a:pt x="0" y="139"/>
                      </a:lnTo>
                      <a:lnTo>
                        <a:pt x="4" y="95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7" name="Line 789"/>
                <p:cNvSpPr>
                  <a:spLocks noChangeShapeType="1"/>
                </p:cNvSpPr>
                <p:nvPr/>
              </p:nvSpPr>
              <p:spPr bwMode="auto">
                <a:xfrm>
                  <a:off x="1586" y="3665"/>
                  <a:ext cx="76" cy="44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8" name="Freeform 790"/>
                <p:cNvSpPr>
                  <a:spLocks noChangeArrowheads="1"/>
                </p:cNvSpPr>
                <p:nvPr/>
              </p:nvSpPr>
              <p:spPr bwMode="auto">
                <a:xfrm>
                  <a:off x="1242" y="3486"/>
                  <a:ext cx="111" cy="96"/>
                </a:xfrm>
                <a:custGeom>
                  <a:avLst/>
                  <a:gdLst>
                    <a:gd name="T0" fmla="*/ 10 w 222"/>
                    <a:gd name="T1" fmla="*/ 98 h 289"/>
                    <a:gd name="T2" fmla="*/ 27 w 222"/>
                    <a:gd name="T3" fmla="*/ 64 h 289"/>
                    <a:gd name="T4" fmla="*/ 53 w 222"/>
                    <a:gd name="T5" fmla="*/ 45 h 289"/>
                    <a:gd name="T6" fmla="*/ 81 w 222"/>
                    <a:gd name="T7" fmla="*/ 41 h 289"/>
                    <a:gd name="T8" fmla="*/ 131 w 222"/>
                    <a:gd name="T9" fmla="*/ 42 h 289"/>
                    <a:gd name="T10" fmla="*/ 135 w 222"/>
                    <a:gd name="T11" fmla="*/ 0 h 289"/>
                    <a:gd name="T12" fmla="*/ 222 w 222"/>
                    <a:gd name="T13" fmla="*/ 80 h 289"/>
                    <a:gd name="T14" fmla="*/ 218 w 222"/>
                    <a:gd name="T15" fmla="*/ 120 h 289"/>
                    <a:gd name="T16" fmla="*/ 190 w 222"/>
                    <a:gd name="T17" fmla="*/ 118 h 289"/>
                    <a:gd name="T18" fmla="*/ 168 w 222"/>
                    <a:gd name="T19" fmla="*/ 116 h 289"/>
                    <a:gd name="T20" fmla="*/ 135 w 222"/>
                    <a:gd name="T21" fmla="*/ 125 h 289"/>
                    <a:gd name="T22" fmla="*/ 118 w 222"/>
                    <a:gd name="T23" fmla="*/ 137 h 289"/>
                    <a:gd name="T24" fmla="*/ 102 w 222"/>
                    <a:gd name="T25" fmla="*/ 161 h 289"/>
                    <a:gd name="T26" fmla="*/ 98 w 222"/>
                    <a:gd name="T27" fmla="*/ 192 h 289"/>
                    <a:gd name="T28" fmla="*/ 93 w 222"/>
                    <a:gd name="T29" fmla="*/ 289 h 289"/>
                    <a:gd name="T30" fmla="*/ 0 w 222"/>
                    <a:gd name="T31" fmla="*/ 197 h 289"/>
                    <a:gd name="T32" fmla="*/ 4 w 222"/>
                    <a:gd name="T33" fmla="*/ 138 h 289"/>
                    <a:gd name="T34" fmla="*/ 10 w 222"/>
                    <a:gd name="T35" fmla="*/ 9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22" h="289">
                      <a:moveTo>
                        <a:pt x="10" y="98"/>
                      </a:moveTo>
                      <a:lnTo>
                        <a:pt x="27" y="64"/>
                      </a:lnTo>
                      <a:lnTo>
                        <a:pt x="53" y="45"/>
                      </a:lnTo>
                      <a:lnTo>
                        <a:pt x="81" y="41"/>
                      </a:lnTo>
                      <a:lnTo>
                        <a:pt x="131" y="42"/>
                      </a:lnTo>
                      <a:lnTo>
                        <a:pt x="135" y="0"/>
                      </a:lnTo>
                      <a:lnTo>
                        <a:pt x="222" y="80"/>
                      </a:lnTo>
                      <a:lnTo>
                        <a:pt x="218" y="120"/>
                      </a:lnTo>
                      <a:lnTo>
                        <a:pt x="190" y="118"/>
                      </a:lnTo>
                      <a:lnTo>
                        <a:pt x="168" y="116"/>
                      </a:lnTo>
                      <a:lnTo>
                        <a:pt x="135" y="125"/>
                      </a:lnTo>
                      <a:lnTo>
                        <a:pt x="118" y="137"/>
                      </a:lnTo>
                      <a:lnTo>
                        <a:pt x="102" y="161"/>
                      </a:lnTo>
                      <a:lnTo>
                        <a:pt x="98" y="192"/>
                      </a:lnTo>
                      <a:lnTo>
                        <a:pt x="93" y="289"/>
                      </a:lnTo>
                      <a:lnTo>
                        <a:pt x="0" y="197"/>
                      </a:lnTo>
                      <a:lnTo>
                        <a:pt x="4" y="138"/>
                      </a:lnTo>
                      <a:lnTo>
                        <a:pt x="10" y="98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29" name="Freeform 791"/>
                <p:cNvSpPr>
                  <a:spLocks noChangeArrowheads="1"/>
                </p:cNvSpPr>
                <p:nvPr/>
              </p:nvSpPr>
              <p:spPr bwMode="auto">
                <a:xfrm>
                  <a:off x="1456" y="3626"/>
                  <a:ext cx="64" cy="62"/>
                </a:xfrm>
                <a:custGeom>
                  <a:avLst/>
                  <a:gdLst>
                    <a:gd name="T0" fmla="*/ 128 w 128"/>
                    <a:gd name="T1" fmla="*/ 5 h 186"/>
                    <a:gd name="T2" fmla="*/ 59 w 128"/>
                    <a:gd name="T3" fmla="*/ 0 h 186"/>
                    <a:gd name="T4" fmla="*/ 30 w 128"/>
                    <a:gd name="T5" fmla="*/ 14 h 186"/>
                    <a:gd name="T6" fmla="*/ 9 w 128"/>
                    <a:gd name="T7" fmla="*/ 40 h 186"/>
                    <a:gd name="T8" fmla="*/ 0 w 128"/>
                    <a:gd name="T9" fmla="*/ 89 h 186"/>
                    <a:gd name="T10" fmla="*/ 0 w 128"/>
                    <a:gd name="T11" fmla="*/ 186 h 186"/>
                    <a:gd name="T12" fmla="*/ 0 w 128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8" h="186">
                      <a:moveTo>
                        <a:pt x="128" y="5"/>
                      </a:moveTo>
                      <a:lnTo>
                        <a:pt x="59" y="0"/>
                      </a:lnTo>
                      <a:lnTo>
                        <a:pt x="30" y="14"/>
                      </a:lnTo>
                      <a:lnTo>
                        <a:pt x="9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0" name="Freeform 792"/>
                <p:cNvSpPr>
                  <a:spLocks noChangeArrowheads="1"/>
                </p:cNvSpPr>
                <p:nvPr/>
              </p:nvSpPr>
              <p:spPr bwMode="auto">
                <a:xfrm>
                  <a:off x="1440" y="3615"/>
                  <a:ext cx="63" cy="61"/>
                </a:xfrm>
                <a:custGeom>
                  <a:avLst/>
                  <a:gdLst>
                    <a:gd name="T0" fmla="*/ 126 w 126"/>
                    <a:gd name="T1" fmla="*/ 3 h 185"/>
                    <a:gd name="T2" fmla="*/ 59 w 126"/>
                    <a:gd name="T3" fmla="*/ 0 h 185"/>
                    <a:gd name="T4" fmla="*/ 24 w 126"/>
                    <a:gd name="T5" fmla="*/ 15 h 185"/>
                    <a:gd name="T6" fmla="*/ 9 w 126"/>
                    <a:gd name="T7" fmla="*/ 39 h 185"/>
                    <a:gd name="T8" fmla="*/ 0 w 126"/>
                    <a:gd name="T9" fmla="*/ 88 h 185"/>
                    <a:gd name="T10" fmla="*/ 0 w 126"/>
                    <a:gd name="T11" fmla="*/ 185 h 185"/>
                    <a:gd name="T12" fmla="*/ 0 w 126"/>
                    <a:gd name="T13" fmla="*/ 180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6" h="185">
                      <a:moveTo>
                        <a:pt x="126" y="3"/>
                      </a:moveTo>
                      <a:lnTo>
                        <a:pt x="59" y="0"/>
                      </a:lnTo>
                      <a:lnTo>
                        <a:pt x="24" y="15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5"/>
                      </a:lnTo>
                      <a:lnTo>
                        <a:pt x="0" y="180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1" name="Freeform 793"/>
                <p:cNvSpPr>
                  <a:spLocks noChangeArrowheads="1"/>
                </p:cNvSpPr>
                <p:nvPr/>
              </p:nvSpPr>
              <p:spPr bwMode="auto">
                <a:xfrm>
                  <a:off x="1422" y="3604"/>
                  <a:ext cx="64" cy="62"/>
                </a:xfrm>
                <a:custGeom>
                  <a:avLst/>
                  <a:gdLst>
                    <a:gd name="T0" fmla="*/ 127 w 127"/>
                    <a:gd name="T1" fmla="*/ 5 h 185"/>
                    <a:gd name="T2" fmla="*/ 59 w 127"/>
                    <a:gd name="T3" fmla="*/ 0 h 185"/>
                    <a:gd name="T4" fmla="*/ 30 w 127"/>
                    <a:gd name="T5" fmla="*/ 14 h 185"/>
                    <a:gd name="T6" fmla="*/ 9 w 127"/>
                    <a:gd name="T7" fmla="*/ 39 h 185"/>
                    <a:gd name="T8" fmla="*/ 0 w 127"/>
                    <a:gd name="T9" fmla="*/ 88 h 185"/>
                    <a:gd name="T10" fmla="*/ 0 w 127"/>
                    <a:gd name="T11" fmla="*/ 185 h 185"/>
                    <a:gd name="T12" fmla="*/ 0 w 127"/>
                    <a:gd name="T13" fmla="*/ 18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5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0" y="14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5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2" name="Freeform 794"/>
                <p:cNvSpPr>
                  <a:spLocks noChangeArrowheads="1"/>
                </p:cNvSpPr>
                <p:nvPr/>
              </p:nvSpPr>
              <p:spPr bwMode="auto">
                <a:xfrm>
                  <a:off x="1401" y="3594"/>
                  <a:ext cx="64" cy="62"/>
                </a:xfrm>
                <a:custGeom>
                  <a:avLst/>
                  <a:gdLst>
                    <a:gd name="T0" fmla="*/ 127 w 127"/>
                    <a:gd name="T1" fmla="*/ 5 h 186"/>
                    <a:gd name="T2" fmla="*/ 59 w 127"/>
                    <a:gd name="T3" fmla="*/ 0 h 186"/>
                    <a:gd name="T4" fmla="*/ 32 w 127"/>
                    <a:gd name="T5" fmla="*/ 10 h 186"/>
                    <a:gd name="T6" fmla="*/ 9 w 127"/>
                    <a:gd name="T7" fmla="*/ 39 h 186"/>
                    <a:gd name="T8" fmla="*/ 0 w 127"/>
                    <a:gd name="T9" fmla="*/ 88 h 186"/>
                    <a:gd name="T10" fmla="*/ 0 w 127"/>
                    <a:gd name="T11" fmla="*/ 186 h 186"/>
                    <a:gd name="T12" fmla="*/ 0 w 127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2" y="10"/>
                      </a:lnTo>
                      <a:lnTo>
                        <a:pt x="9" y="39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3" name="Freeform 795"/>
                <p:cNvSpPr>
                  <a:spLocks noChangeArrowheads="1"/>
                </p:cNvSpPr>
                <p:nvPr/>
              </p:nvSpPr>
              <p:spPr bwMode="auto">
                <a:xfrm>
                  <a:off x="1383" y="3583"/>
                  <a:ext cx="64" cy="62"/>
                </a:xfrm>
                <a:custGeom>
                  <a:avLst/>
                  <a:gdLst>
                    <a:gd name="T0" fmla="*/ 128 w 128"/>
                    <a:gd name="T1" fmla="*/ 4 h 186"/>
                    <a:gd name="T2" fmla="*/ 59 w 128"/>
                    <a:gd name="T3" fmla="*/ 0 h 186"/>
                    <a:gd name="T4" fmla="*/ 32 w 128"/>
                    <a:gd name="T5" fmla="*/ 13 h 186"/>
                    <a:gd name="T6" fmla="*/ 9 w 128"/>
                    <a:gd name="T7" fmla="*/ 40 h 186"/>
                    <a:gd name="T8" fmla="*/ 0 w 128"/>
                    <a:gd name="T9" fmla="*/ 88 h 186"/>
                    <a:gd name="T10" fmla="*/ 0 w 128"/>
                    <a:gd name="T11" fmla="*/ 186 h 186"/>
                    <a:gd name="T12" fmla="*/ 0 w 128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8" h="186">
                      <a:moveTo>
                        <a:pt x="128" y="4"/>
                      </a:moveTo>
                      <a:lnTo>
                        <a:pt x="59" y="0"/>
                      </a:lnTo>
                      <a:lnTo>
                        <a:pt x="32" y="13"/>
                      </a:lnTo>
                      <a:lnTo>
                        <a:pt x="9" y="40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4" name="Freeform 796"/>
                <p:cNvSpPr>
                  <a:spLocks noChangeArrowheads="1"/>
                </p:cNvSpPr>
                <p:nvPr/>
              </p:nvSpPr>
              <p:spPr bwMode="auto">
                <a:xfrm>
                  <a:off x="1365" y="3570"/>
                  <a:ext cx="63" cy="62"/>
                </a:xfrm>
                <a:custGeom>
                  <a:avLst/>
                  <a:gdLst>
                    <a:gd name="T0" fmla="*/ 126 w 126"/>
                    <a:gd name="T1" fmla="*/ 4 h 186"/>
                    <a:gd name="T2" fmla="*/ 58 w 126"/>
                    <a:gd name="T3" fmla="*/ 0 h 186"/>
                    <a:gd name="T4" fmla="*/ 31 w 126"/>
                    <a:gd name="T5" fmla="*/ 14 h 186"/>
                    <a:gd name="T6" fmla="*/ 8 w 126"/>
                    <a:gd name="T7" fmla="*/ 40 h 186"/>
                    <a:gd name="T8" fmla="*/ 0 w 126"/>
                    <a:gd name="T9" fmla="*/ 89 h 186"/>
                    <a:gd name="T10" fmla="*/ 0 w 126"/>
                    <a:gd name="T11" fmla="*/ 186 h 186"/>
                    <a:gd name="T12" fmla="*/ 0 w 126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6" h="186">
                      <a:moveTo>
                        <a:pt x="126" y="4"/>
                      </a:moveTo>
                      <a:lnTo>
                        <a:pt x="58" y="0"/>
                      </a:lnTo>
                      <a:lnTo>
                        <a:pt x="31" y="14"/>
                      </a:lnTo>
                      <a:lnTo>
                        <a:pt x="8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5" name="Freeform 797"/>
                <p:cNvSpPr>
                  <a:spLocks noChangeArrowheads="1"/>
                </p:cNvSpPr>
                <p:nvPr/>
              </p:nvSpPr>
              <p:spPr bwMode="auto">
                <a:xfrm>
                  <a:off x="1349" y="3558"/>
                  <a:ext cx="64" cy="62"/>
                </a:xfrm>
                <a:custGeom>
                  <a:avLst/>
                  <a:gdLst>
                    <a:gd name="T0" fmla="*/ 127 w 127"/>
                    <a:gd name="T1" fmla="*/ 5 h 186"/>
                    <a:gd name="T2" fmla="*/ 59 w 127"/>
                    <a:gd name="T3" fmla="*/ 0 h 186"/>
                    <a:gd name="T4" fmla="*/ 33 w 127"/>
                    <a:gd name="T5" fmla="*/ 16 h 186"/>
                    <a:gd name="T6" fmla="*/ 9 w 127"/>
                    <a:gd name="T7" fmla="*/ 40 h 186"/>
                    <a:gd name="T8" fmla="*/ 0 w 127"/>
                    <a:gd name="T9" fmla="*/ 89 h 186"/>
                    <a:gd name="T10" fmla="*/ 0 w 127"/>
                    <a:gd name="T11" fmla="*/ 186 h 186"/>
                    <a:gd name="T12" fmla="*/ 0 w 127"/>
                    <a:gd name="T13" fmla="*/ 182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5"/>
                      </a:moveTo>
                      <a:lnTo>
                        <a:pt x="59" y="0"/>
                      </a:lnTo>
                      <a:lnTo>
                        <a:pt x="33" y="16"/>
                      </a:lnTo>
                      <a:lnTo>
                        <a:pt x="9" y="40"/>
                      </a:lnTo>
                      <a:lnTo>
                        <a:pt x="0" y="89"/>
                      </a:lnTo>
                      <a:lnTo>
                        <a:pt x="0" y="186"/>
                      </a:lnTo>
                      <a:lnTo>
                        <a:pt x="0" y="182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6" name="Freeform 798"/>
                <p:cNvSpPr>
                  <a:spLocks noChangeArrowheads="1"/>
                </p:cNvSpPr>
                <p:nvPr/>
              </p:nvSpPr>
              <p:spPr bwMode="auto">
                <a:xfrm>
                  <a:off x="1331" y="3550"/>
                  <a:ext cx="63" cy="62"/>
                </a:xfrm>
                <a:custGeom>
                  <a:avLst/>
                  <a:gdLst>
                    <a:gd name="T0" fmla="*/ 127 w 127"/>
                    <a:gd name="T1" fmla="*/ 4 h 186"/>
                    <a:gd name="T2" fmla="*/ 59 w 127"/>
                    <a:gd name="T3" fmla="*/ 0 h 186"/>
                    <a:gd name="T4" fmla="*/ 32 w 127"/>
                    <a:gd name="T5" fmla="*/ 13 h 186"/>
                    <a:gd name="T6" fmla="*/ 10 w 127"/>
                    <a:gd name="T7" fmla="*/ 39 h 186"/>
                    <a:gd name="T8" fmla="*/ 0 w 127"/>
                    <a:gd name="T9" fmla="*/ 88 h 186"/>
                    <a:gd name="T10" fmla="*/ 0 w 127"/>
                    <a:gd name="T11" fmla="*/ 186 h 186"/>
                    <a:gd name="T12" fmla="*/ 0 w 127"/>
                    <a:gd name="T13" fmla="*/ 180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7" h="186">
                      <a:moveTo>
                        <a:pt x="127" y="4"/>
                      </a:moveTo>
                      <a:lnTo>
                        <a:pt x="59" y="0"/>
                      </a:lnTo>
                      <a:lnTo>
                        <a:pt x="32" y="13"/>
                      </a:lnTo>
                      <a:lnTo>
                        <a:pt x="10" y="39"/>
                      </a:lnTo>
                      <a:lnTo>
                        <a:pt x="0" y="88"/>
                      </a:lnTo>
                      <a:lnTo>
                        <a:pt x="0" y="186"/>
                      </a:lnTo>
                      <a:lnTo>
                        <a:pt x="0" y="180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7" name="Freeform 799"/>
                <p:cNvSpPr>
                  <a:spLocks noChangeArrowheads="1"/>
                </p:cNvSpPr>
                <p:nvPr/>
              </p:nvSpPr>
              <p:spPr bwMode="auto">
                <a:xfrm>
                  <a:off x="1308" y="3501"/>
                  <a:ext cx="47" cy="25"/>
                </a:xfrm>
                <a:custGeom>
                  <a:avLst/>
                  <a:gdLst>
                    <a:gd name="T0" fmla="*/ 0 w 96"/>
                    <a:gd name="T1" fmla="*/ 0 h 74"/>
                    <a:gd name="T2" fmla="*/ 89 w 96"/>
                    <a:gd name="T3" fmla="*/ 74 h 74"/>
                    <a:gd name="T4" fmla="*/ 96 w 96"/>
                    <a:gd name="T5" fmla="*/ 74 h 74"/>
                    <a:gd name="T6" fmla="*/ 93 w 96"/>
                    <a:gd name="T7" fmla="*/ 7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6" h="74">
                      <a:moveTo>
                        <a:pt x="0" y="0"/>
                      </a:moveTo>
                      <a:lnTo>
                        <a:pt x="89" y="74"/>
                      </a:lnTo>
                      <a:lnTo>
                        <a:pt x="96" y="74"/>
                      </a:lnTo>
                      <a:lnTo>
                        <a:pt x="93" y="74"/>
                      </a:lnTo>
                    </a:path>
                  </a:pathLst>
                </a:custGeom>
                <a:solidFill>
                  <a:schemeClr val="bg2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8" name="Oval 800"/>
                <p:cNvSpPr>
                  <a:spLocks noChangeArrowheads="1"/>
                </p:cNvSpPr>
                <p:nvPr/>
              </p:nvSpPr>
              <p:spPr bwMode="auto">
                <a:xfrm>
                  <a:off x="1339" y="3772"/>
                  <a:ext cx="78" cy="26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39" name="Oval 801"/>
                <p:cNvSpPr>
                  <a:spLocks noChangeArrowheads="1"/>
                </p:cNvSpPr>
                <p:nvPr/>
              </p:nvSpPr>
              <p:spPr bwMode="auto">
                <a:xfrm>
                  <a:off x="1432" y="3771"/>
                  <a:ext cx="78" cy="25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40" name="Freeform 802"/>
                <p:cNvSpPr>
                  <a:spLocks noChangeArrowheads="1"/>
                </p:cNvSpPr>
                <p:nvPr/>
              </p:nvSpPr>
              <p:spPr bwMode="auto">
                <a:xfrm>
                  <a:off x="1511" y="3785"/>
                  <a:ext cx="94" cy="8"/>
                </a:xfrm>
                <a:custGeom>
                  <a:avLst/>
                  <a:gdLst>
                    <a:gd name="T0" fmla="*/ 0 w 188"/>
                    <a:gd name="T1" fmla="*/ 25 h 25"/>
                    <a:gd name="T2" fmla="*/ 6 w 188"/>
                    <a:gd name="T3" fmla="*/ 0 h 25"/>
                    <a:gd name="T4" fmla="*/ 175 w 188"/>
                    <a:gd name="T5" fmla="*/ 0 h 25"/>
                    <a:gd name="T6" fmla="*/ 188 w 188"/>
                    <a:gd name="T7" fmla="*/ 19 h 25"/>
                    <a:gd name="T8" fmla="*/ 0 w 188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25">
                      <a:moveTo>
                        <a:pt x="0" y="25"/>
                      </a:moveTo>
                      <a:lnTo>
                        <a:pt x="6" y="0"/>
                      </a:lnTo>
                      <a:lnTo>
                        <a:pt x="175" y="0"/>
                      </a:lnTo>
                      <a:lnTo>
                        <a:pt x="188" y="19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41" name="Oval 803"/>
                <p:cNvSpPr>
                  <a:spLocks noChangeArrowheads="1"/>
                </p:cNvSpPr>
                <p:nvPr/>
              </p:nvSpPr>
              <p:spPr bwMode="auto">
                <a:xfrm>
                  <a:off x="1338" y="3767"/>
                  <a:ext cx="78" cy="27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42" name="Oval 804"/>
                <p:cNvSpPr>
                  <a:spLocks noChangeArrowheads="1"/>
                </p:cNvSpPr>
                <p:nvPr/>
              </p:nvSpPr>
              <p:spPr bwMode="auto">
                <a:xfrm>
                  <a:off x="1431" y="3766"/>
                  <a:ext cx="77" cy="25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2178543" name="Text Box 213"/>
            <p:cNvSpPr txBox="1">
              <a:spLocks noChangeArrowheads="1"/>
            </p:cNvSpPr>
            <p:nvPr/>
          </p:nvSpPr>
          <p:spPr bwMode="auto">
            <a:xfrm>
              <a:off x="8459087" y="4275447"/>
              <a:ext cx="4651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grpSp>
          <p:nvGrpSpPr>
            <p:cNvPr id="2178544" name="组合 540"/>
            <p:cNvGrpSpPr>
              <a:grpSpLocks/>
            </p:cNvGrpSpPr>
            <p:nvPr/>
          </p:nvGrpSpPr>
          <p:grpSpPr bwMode="auto">
            <a:xfrm rot="349158">
              <a:off x="4941673" y="4331119"/>
              <a:ext cx="3117907" cy="315945"/>
              <a:chOff x="3930267" y="1037543"/>
              <a:chExt cx="2228854" cy="230188"/>
            </a:xfrm>
          </p:grpSpPr>
          <p:sp>
            <p:nvSpPr>
              <p:cNvPr id="2178545" name="AutoShape 212"/>
              <p:cNvSpPr>
                <a:spLocks noChangeArrowheads="1"/>
              </p:cNvSpPr>
              <p:nvPr/>
            </p:nvSpPr>
            <p:spPr bwMode="auto">
              <a:xfrm>
                <a:off x="5315819" y="1118602"/>
                <a:ext cx="843302" cy="88530"/>
              </a:xfrm>
              <a:prstGeom prst="rightArrow">
                <a:avLst>
                  <a:gd name="adj1" fmla="val 50000"/>
                  <a:gd name="adj2" fmla="val 72368"/>
                </a:avLst>
              </a:prstGeom>
              <a:solidFill>
                <a:srgbClr val="C00000"/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546" name="Rectangle 210"/>
              <p:cNvSpPr>
                <a:spLocks noChangeArrowheads="1"/>
              </p:cNvSpPr>
              <p:nvPr/>
            </p:nvSpPr>
            <p:spPr bwMode="auto">
              <a:xfrm>
                <a:off x="3930267" y="1037543"/>
                <a:ext cx="1366407" cy="23018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 algn="ctr"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78547" name="Text Box 207"/>
            <p:cNvSpPr txBox="1">
              <a:spLocks noChangeArrowheads="1"/>
            </p:cNvSpPr>
            <p:nvPr/>
          </p:nvSpPr>
          <p:spPr bwMode="auto">
            <a:xfrm>
              <a:off x="8459087" y="388106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业务员</a:t>
              </a:r>
            </a:p>
          </p:txBody>
        </p:sp>
        <p:sp>
          <p:nvSpPr>
            <p:cNvPr id="2178548" name="矩形 504"/>
            <p:cNvSpPr>
              <a:spLocks noChangeArrowheads="1"/>
            </p:cNvSpPr>
            <p:nvPr/>
          </p:nvSpPr>
          <p:spPr bwMode="auto">
            <a:xfrm rot="355772">
              <a:off x="6534323" y="4353889"/>
              <a:ext cx="301924" cy="29851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178549" name="组合 515"/>
            <p:cNvGrpSpPr>
              <a:grpSpLocks/>
            </p:cNvGrpSpPr>
            <p:nvPr/>
          </p:nvGrpSpPr>
          <p:grpSpPr bwMode="auto">
            <a:xfrm>
              <a:off x="1914443" y="4109848"/>
              <a:ext cx="805871" cy="198282"/>
              <a:chOff x="1914443" y="4003494"/>
              <a:chExt cx="805871" cy="198282"/>
            </a:xfrm>
          </p:grpSpPr>
          <p:grpSp>
            <p:nvGrpSpPr>
              <p:cNvPr id="2178550" name="组合 990"/>
              <p:cNvGrpSpPr>
                <a:grpSpLocks/>
              </p:cNvGrpSpPr>
              <p:nvPr/>
            </p:nvGrpSpPr>
            <p:grpSpPr bwMode="auto">
              <a:xfrm>
                <a:off x="1914443" y="4003494"/>
                <a:ext cx="805871" cy="198282"/>
                <a:chOff x="1691680" y="1052736"/>
                <a:chExt cx="576064" cy="144016"/>
              </a:xfrm>
            </p:grpSpPr>
            <p:sp>
              <p:nvSpPr>
                <p:cNvPr id="2178551" name="矩形 496"/>
                <p:cNvSpPr>
                  <a:spLocks noChangeArrowheads="1"/>
                </p:cNvSpPr>
                <p:nvPr/>
              </p:nvSpPr>
              <p:spPr bwMode="auto">
                <a:xfrm>
                  <a:off x="1691680" y="1052736"/>
                  <a:ext cx="360239" cy="144016"/>
                </a:xfrm>
                <a:prstGeom prst="rect">
                  <a:avLst/>
                </a:prstGeom>
                <a:solidFill>
                  <a:srgbClr val="D9D9D9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2178552" name="直接箭头连接符 988"/>
                <p:cNvCxnSpPr>
                  <a:cxnSpLocks noChangeShapeType="1"/>
                  <a:stCxn id="2178551" idx="3"/>
                </p:cNvCxnSpPr>
                <p:nvPr/>
              </p:nvCxnSpPr>
              <p:spPr bwMode="auto">
                <a:xfrm>
                  <a:off x="2051720" y="1124744"/>
                  <a:ext cx="216024" cy="0"/>
                </a:xfrm>
                <a:prstGeom prst="straightConnector1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178553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78554" name="圆角矩形标注 514"/>
            <p:cNvSpPr>
              <a:spLocks noChangeArrowheads="1"/>
            </p:cNvSpPr>
            <p:nvPr/>
          </p:nvSpPr>
          <p:spPr bwMode="auto">
            <a:xfrm>
              <a:off x="7058250" y="3449631"/>
              <a:ext cx="1305377" cy="372598"/>
            </a:xfrm>
            <a:prstGeom prst="wedgeRoundRectCallout">
              <a:avLst>
                <a:gd name="adj1" fmla="val -77218"/>
                <a:gd name="adj2" fmla="val 217574"/>
                <a:gd name="adj3" fmla="val 1666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78555" name="Text Box 48"/>
            <p:cNvSpPr txBox="1">
              <a:spLocks noChangeArrowheads="1"/>
            </p:cNvSpPr>
            <p:nvPr/>
          </p:nvSpPr>
          <p:spPr bwMode="auto">
            <a:xfrm>
              <a:off x="7007913" y="3423277"/>
              <a:ext cx="147347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从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到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  <a:endParaRPr lang="zh-CN" altLang="en-US" sz="2000" b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grpSp>
          <p:nvGrpSpPr>
            <p:cNvPr id="2178556" name="组合 518"/>
            <p:cNvGrpSpPr>
              <a:grpSpLocks/>
            </p:cNvGrpSpPr>
            <p:nvPr/>
          </p:nvGrpSpPr>
          <p:grpSpPr bwMode="auto">
            <a:xfrm>
              <a:off x="1679321" y="3416948"/>
              <a:ext cx="1473481" cy="777878"/>
              <a:chOff x="1523474" y="570583"/>
              <a:chExt cx="1054747" cy="565792"/>
            </a:xfrm>
          </p:grpSpPr>
          <p:grpSp>
            <p:nvGrpSpPr>
              <p:cNvPr id="2178557" name="组合 516"/>
              <p:cNvGrpSpPr>
                <a:grpSpLocks/>
              </p:cNvGrpSpPr>
              <p:nvPr/>
            </p:nvGrpSpPr>
            <p:grpSpPr bwMode="auto">
              <a:xfrm>
                <a:off x="1523474" y="570583"/>
                <a:ext cx="1054747" cy="322650"/>
                <a:chOff x="1593653" y="548680"/>
                <a:chExt cx="1014417" cy="322650"/>
              </a:xfrm>
            </p:grpSpPr>
            <p:sp>
              <p:nvSpPr>
                <p:cNvPr id="2178558" name="圆角矩形标注 515"/>
                <p:cNvSpPr>
                  <a:spLocks noChangeArrowheads="1"/>
                </p:cNvSpPr>
                <p:nvPr/>
              </p:nvSpPr>
              <p:spPr bwMode="auto">
                <a:xfrm>
                  <a:off x="1619672" y="576470"/>
                  <a:ext cx="964502" cy="294860"/>
                </a:xfrm>
                <a:prstGeom prst="wedgeRoundRectCallout">
                  <a:avLst>
                    <a:gd name="adj1" fmla="val -9139"/>
                    <a:gd name="adj2" fmla="val 50139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 sz="20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78559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593653" y="548680"/>
                  <a:ext cx="1014417" cy="2910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从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1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 </a:t>
                  </a:r>
                  <a:r>
                    <a:rPr lang="zh-CN" altLang="en-US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到 </a:t>
                  </a:r>
                  <a:r>
                    <a:rPr lang="en-US" altLang="zh-CN" sz="2000" b="1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H</a:t>
                  </a:r>
                  <a:r>
                    <a:rPr lang="en-US" altLang="zh-CN" sz="2000" b="1" baseline="-25000">
                      <a:solidFill>
                        <a:srgbClr val="000099"/>
                      </a:solidFill>
                      <a:ea typeface="黑体" panose="02010609060101010101" pitchFamily="49" charset="-122"/>
                    </a:rPr>
                    <a:t>2</a:t>
                  </a:r>
                  <a:endParaRPr lang="zh-CN" altLang="en-US" sz="2000" b="1" baseline="-25000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2178560" name="下箭头 517"/>
              <p:cNvSpPr>
                <a:spLocks noChangeArrowheads="1"/>
              </p:cNvSpPr>
              <p:nvPr/>
            </p:nvSpPr>
            <p:spPr bwMode="auto">
              <a:xfrm>
                <a:off x="1962200" y="895401"/>
                <a:ext cx="89519" cy="240974"/>
              </a:xfrm>
              <a:prstGeom prst="downArrow">
                <a:avLst>
                  <a:gd name="adj1" fmla="val 50000"/>
                  <a:gd name="adj2" fmla="val 127715"/>
                </a:avLst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178561" name="组合 516"/>
            <p:cNvGrpSpPr>
              <a:grpSpLocks/>
            </p:cNvGrpSpPr>
            <p:nvPr/>
          </p:nvGrpSpPr>
          <p:grpSpPr bwMode="auto">
            <a:xfrm rot="353826">
              <a:off x="5609925" y="4319820"/>
              <a:ext cx="503948" cy="198282"/>
              <a:chOff x="1914444" y="4003494"/>
              <a:chExt cx="503948" cy="198282"/>
            </a:xfrm>
          </p:grpSpPr>
          <p:sp>
            <p:nvSpPr>
              <p:cNvPr id="2178562" name="矩形 519"/>
              <p:cNvSpPr>
                <a:spLocks noChangeArrowheads="1"/>
              </p:cNvSpPr>
              <p:nvPr/>
            </p:nvSpPr>
            <p:spPr bwMode="auto">
              <a:xfrm>
                <a:off x="1914444" y="4003494"/>
                <a:ext cx="503948" cy="198282"/>
              </a:xfrm>
              <a:prstGeom prst="rect">
                <a:avLst/>
              </a:prstGeom>
              <a:solidFill>
                <a:srgbClr val="D9D9D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78563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2178564" name="矩形 522"/>
          <p:cNvSpPr>
            <a:spLocks noChangeArrowheads="1"/>
          </p:cNvSpPr>
          <p:nvPr/>
        </p:nvSpPr>
        <p:spPr bwMode="auto">
          <a:xfrm>
            <a:off x="776288" y="1268413"/>
            <a:ext cx="8785225" cy="1584325"/>
          </a:xfrm>
          <a:prstGeom prst="rect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110000"/>
              </a:lnSpc>
            </a:pP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若公司总部的主机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H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要和某外地业务员的主机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H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进行安全通信，</a:t>
            </a:r>
            <a:r>
              <a:rPr lang="zh-CN" altLang="en-US" sz="2800" b="1">
                <a:solidFill>
                  <a:srgbClr val="000066"/>
                </a:solidFill>
                <a:ea typeface="黑体" panose="02010609060101010101" pitchFamily="49" charset="-122"/>
              </a:rPr>
              <a:t>需要在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公司总部的路由器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R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和外地业务员的主机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H</a:t>
            </a:r>
            <a:r>
              <a:rPr lang="en-US" altLang="zh-CN" sz="2800" b="1" baseline="-25000">
                <a:solidFill>
                  <a:srgbClr val="000066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建立安全关联</a:t>
            </a:r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 SA</a:t>
            </a:r>
            <a:r>
              <a:rPr lang="zh-CN" altLang="en-US" sz="2800" b="1">
                <a:solidFill>
                  <a:srgbClr val="000066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78565" name="灯片编号占位符 51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B547BA-043F-4AB4-A2B9-1EE404485414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2178566" name="页脚占位符 51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0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marL="838200" indent="-838200" algn="ctr"/>
            <a:r>
              <a:rPr lang="zh-CN" altLang="en-US" smtClean="0">
                <a:ea typeface="黑体" panose="02010609060101010101" pitchFamily="49" charset="-122"/>
              </a:rPr>
              <a:t>安全关联 </a:t>
            </a:r>
            <a:r>
              <a:rPr lang="en-US" altLang="zh-CN" smtClean="0">
                <a:ea typeface="黑体" panose="02010609060101010101" pitchFamily="49" charset="-122"/>
              </a:rPr>
              <a:t>SA </a:t>
            </a:r>
            <a:r>
              <a:rPr lang="zh-CN" altLang="zh-CN" smtClean="0">
                <a:ea typeface="黑体" panose="02010609060101010101" pitchFamily="49" charset="-122"/>
              </a:rPr>
              <a:t>状态信息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8009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smtClean="0">
                <a:ea typeface="黑体" panose="02010609060101010101" pitchFamily="49" charset="-122"/>
              </a:rPr>
              <a:t>(1) </a:t>
            </a:r>
            <a:r>
              <a:rPr lang="zh-CN" altLang="zh-CN" sz="2800" smtClean="0">
                <a:ea typeface="黑体" panose="02010609060101010101" pitchFamily="49" charset="-122"/>
              </a:rPr>
              <a:t>一个</a:t>
            </a:r>
            <a:r>
              <a:rPr lang="en-US" altLang="zh-CN" sz="2800" smtClean="0">
                <a:ea typeface="黑体" panose="02010609060101010101" pitchFamily="49" charset="-122"/>
              </a:rPr>
              <a:t> 32 </a:t>
            </a:r>
            <a:r>
              <a:rPr lang="zh-CN" altLang="zh-CN" sz="2800" smtClean="0">
                <a:ea typeface="黑体" panose="02010609060101010101" pitchFamily="49" charset="-122"/>
              </a:rPr>
              <a:t>位的连接标识符，称为安全参数索引</a:t>
            </a:r>
            <a:r>
              <a:rPr lang="en-US" altLang="zh-CN" sz="2800" smtClean="0">
                <a:ea typeface="黑体" panose="02010609060101010101" pitchFamily="49" charset="-122"/>
              </a:rPr>
              <a:t> SPI (Security Parameter Index)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(2) </a:t>
            </a:r>
            <a:r>
              <a:rPr lang="zh-CN" altLang="zh-CN" sz="2800" smtClean="0">
                <a:ea typeface="黑体" panose="02010609060101010101" pitchFamily="49" charset="-122"/>
              </a:rPr>
              <a:t>安全关联</a:t>
            </a:r>
            <a:r>
              <a:rPr lang="en-US" altLang="zh-CN" sz="2800" smtClean="0">
                <a:ea typeface="黑体" panose="02010609060101010101" pitchFamily="49" charset="-122"/>
              </a:rPr>
              <a:t> SA </a:t>
            </a:r>
            <a:r>
              <a:rPr lang="zh-CN" altLang="zh-CN" sz="2800" smtClean="0">
                <a:ea typeface="黑体" panose="02010609060101010101" pitchFamily="49" charset="-122"/>
              </a:rPr>
              <a:t>的源点和终点的</a:t>
            </a:r>
            <a:r>
              <a:rPr lang="en-US" altLang="zh-CN" sz="2800" smtClean="0">
                <a:ea typeface="黑体" panose="02010609060101010101" pitchFamily="49" charset="-122"/>
              </a:rPr>
              <a:t> IP </a:t>
            </a:r>
            <a:r>
              <a:rPr lang="zh-CN" altLang="zh-CN" sz="2800" smtClean="0">
                <a:ea typeface="黑体" panose="02010609060101010101" pitchFamily="49" charset="-122"/>
              </a:rPr>
              <a:t>地址（</a:t>
            </a:r>
            <a:r>
              <a:rPr lang="zh-CN" altLang="en-US" sz="2800" smtClean="0">
                <a:ea typeface="黑体" panose="02010609060101010101" pitchFamily="49" charset="-122"/>
              </a:rPr>
              <a:t>例如</a:t>
            </a:r>
            <a:r>
              <a:rPr lang="zh-CN" altLang="zh-CN" sz="2800" smtClean="0">
                <a:ea typeface="黑体" panose="02010609060101010101" pitchFamily="49" charset="-122"/>
              </a:rPr>
              <a:t>路由器</a:t>
            </a:r>
            <a:r>
              <a:rPr lang="en-US" altLang="zh-CN" sz="2800" smtClean="0">
                <a:ea typeface="黑体" panose="02010609060101010101" pitchFamily="49" charset="-122"/>
              </a:rPr>
              <a:t> 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1 </a:t>
            </a:r>
            <a:r>
              <a:rPr lang="zh-CN" altLang="zh-CN" sz="2800" smtClean="0">
                <a:ea typeface="黑体" panose="02010609060101010101" pitchFamily="49" charset="-122"/>
              </a:rPr>
              <a:t>和</a:t>
            </a:r>
            <a:r>
              <a:rPr lang="en-US" altLang="zh-CN" sz="2800" smtClean="0">
                <a:ea typeface="黑体" panose="02010609060101010101" pitchFamily="49" charset="-122"/>
              </a:rPr>
              <a:t> R</a:t>
            </a:r>
            <a:r>
              <a:rPr lang="en-US" altLang="zh-CN" sz="2800" baseline="-25000" smtClean="0">
                <a:ea typeface="黑体" panose="02010609060101010101" pitchFamily="49" charset="-122"/>
              </a:rPr>
              <a:t>2 </a:t>
            </a:r>
            <a:r>
              <a:rPr lang="zh-CN" altLang="zh-CN" sz="2800" smtClean="0">
                <a:ea typeface="黑体" panose="02010609060101010101" pitchFamily="49" charset="-122"/>
              </a:rPr>
              <a:t>的</a:t>
            </a:r>
            <a:r>
              <a:rPr lang="en-US" altLang="zh-CN" sz="2800" smtClean="0">
                <a:ea typeface="黑体" panose="02010609060101010101" pitchFamily="49" charset="-122"/>
              </a:rPr>
              <a:t> IP </a:t>
            </a:r>
            <a:r>
              <a:rPr lang="zh-CN" altLang="zh-CN" sz="2800" smtClean="0">
                <a:ea typeface="黑体" panose="02010609060101010101" pitchFamily="49" charset="-122"/>
              </a:rPr>
              <a:t>地址）。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(3) </a:t>
            </a:r>
            <a:r>
              <a:rPr lang="zh-CN" altLang="zh-CN" sz="2800" smtClean="0">
                <a:ea typeface="黑体" panose="02010609060101010101" pitchFamily="49" charset="-122"/>
              </a:rPr>
              <a:t>所使用的加密类型（例如，</a:t>
            </a:r>
            <a:r>
              <a:rPr lang="en-US" altLang="zh-CN" sz="2800" smtClean="0">
                <a:ea typeface="黑体" panose="02010609060101010101" pitchFamily="49" charset="-122"/>
              </a:rPr>
              <a:t>DES </a:t>
            </a:r>
            <a:r>
              <a:rPr lang="zh-CN" altLang="zh-CN" sz="2800" smtClean="0">
                <a:ea typeface="黑体" panose="02010609060101010101" pitchFamily="49" charset="-122"/>
              </a:rPr>
              <a:t>或</a:t>
            </a:r>
            <a:r>
              <a:rPr lang="en-US" altLang="zh-CN" sz="2800" smtClean="0">
                <a:ea typeface="黑体" panose="02010609060101010101" pitchFamily="49" charset="-122"/>
              </a:rPr>
              <a:t> AES</a:t>
            </a:r>
            <a:r>
              <a:rPr lang="zh-CN" altLang="zh-CN" sz="2800" smtClean="0">
                <a:ea typeface="黑体" panose="02010609060101010101" pitchFamily="49" charset="-122"/>
              </a:rPr>
              <a:t>）。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(4) </a:t>
            </a:r>
            <a:r>
              <a:rPr lang="zh-CN" altLang="zh-CN" sz="2800" smtClean="0">
                <a:ea typeface="黑体" panose="02010609060101010101" pitchFamily="49" charset="-122"/>
              </a:rPr>
              <a:t>加密的密钥。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(5) </a:t>
            </a:r>
            <a:r>
              <a:rPr lang="zh-CN" altLang="zh-CN" sz="2800" smtClean="0">
                <a:ea typeface="黑体" panose="02010609060101010101" pitchFamily="49" charset="-122"/>
              </a:rPr>
              <a:t>完整性检查的类型（例如，使用报文摘要</a:t>
            </a:r>
            <a:r>
              <a:rPr lang="en-US" altLang="zh-CN" sz="2800" smtClean="0">
                <a:ea typeface="黑体" panose="02010609060101010101" pitchFamily="49" charset="-122"/>
              </a:rPr>
              <a:t> MD5 </a:t>
            </a:r>
            <a:r>
              <a:rPr lang="zh-CN" altLang="zh-CN" sz="2800" smtClean="0">
                <a:ea typeface="黑体" panose="02010609060101010101" pitchFamily="49" charset="-122"/>
              </a:rPr>
              <a:t>或</a:t>
            </a:r>
            <a:r>
              <a:rPr lang="en-US" altLang="zh-CN" sz="2800" smtClean="0">
                <a:ea typeface="黑体" panose="02010609060101010101" pitchFamily="49" charset="-122"/>
              </a:rPr>
              <a:t> SHA-1 </a:t>
            </a:r>
            <a:r>
              <a:rPr lang="zh-CN" altLang="zh-CN" sz="2800" smtClean="0">
                <a:ea typeface="黑体" panose="02010609060101010101" pitchFamily="49" charset="-122"/>
              </a:rPr>
              <a:t>的报文鉴别码</a:t>
            </a:r>
            <a:r>
              <a:rPr lang="en-US" altLang="zh-CN" sz="2800" smtClean="0">
                <a:ea typeface="黑体" panose="02010609060101010101" pitchFamily="49" charset="-122"/>
              </a:rPr>
              <a:t> MAC</a:t>
            </a:r>
            <a:r>
              <a:rPr lang="zh-CN" altLang="zh-CN" sz="2800" smtClean="0">
                <a:ea typeface="黑体" panose="02010609060101010101" pitchFamily="49" charset="-122"/>
              </a:rPr>
              <a:t>）。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(6) </a:t>
            </a:r>
            <a:r>
              <a:rPr lang="zh-CN" altLang="zh-CN" sz="2800" smtClean="0">
                <a:ea typeface="黑体" panose="02010609060101010101" pitchFamily="49" charset="-122"/>
              </a:rPr>
              <a:t>鉴别使用的密钥。</a:t>
            </a:r>
          </a:p>
        </p:txBody>
      </p:sp>
      <p:sp>
        <p:nvSpPr>
          <p:cNvPr id="2180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00E5B3-6EDF-4DA1-9851-922FC6E7EBA1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21801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2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 IP </a:t>
            </a:r>
            <a:r>
              <a:rPr lang="zh-CN" altLang="zh-CN" smtClean="0">
                <a:ea typeface="黑体" panose="02010609060101010101" pitchFamily="49" charset="-122"/>
              </a:rPr>
              <a:t>安全数据报的格式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grpSp>
        <p:nvGrpSpPr>
          <p:cNvPr id="2181122" name="组合 60"/>
          <p:cNvGrpSpPr>
            <a:grpSpLocks/>
          </p:cNvGrpSpPr>
          <p:nvPr/>
        </p:nvGrpSpPr>
        <p:grpSpPr bwMode="auto">
          <a:xfrm>
            <a:off x="415925" y="1933575"/>
            <a:ext cx="9144000" cy="1527175"/>
            <a:chOff x="488211" y="1141073"/>
            <a:chExt cx="9143628" cy="1527804"/>
          </a:xfrm>
        </p:grpSpPr>
        <p:sp>
          <p:nvSpPr>
            <p:cNvPr id="2181123" name="矩形 4"/>
            <p:cNvSpPr>
              <a:spLocks noChangeArrowheads="1"/>
            </p:cNvSpPr>
            <p:nvPr/>
          </p:nvSpPr>
          <p:spPr bwMode="auto">
            <a:xfrm>
              <a:off x="2308926" y="1666390"/>
              <a:ext cx="7322913" cy="610275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24" name="Text Box 48"/>
            <p:cNvSpPr txBox="1">
              <a:spLocks noChangeArrowheads="1"/>
            </p:cNvSpPr>
            <p:nvPr/>
          </p:nvSpPr>
          <p:spPr bwMode="auto">
            <a:xfrm>
              <a:off x="1208584" y="2276665"/>
              <a:ext cx="1238405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协议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= 50</a:t>
              </a:r>
            </a:p>
          </p:txBody>
        </p:sp>
        <p:sp>
          <p:nvSpPr>
            <p:cNvPr id="2181125" name="Line 67"/>
            <p:cNvSpPr>
              <a:spLocks noChangeShapeType="1"/>
            </p:cNvSpPr>
            <p:nvPr/>
          </p:nvSpPr>
          <p:spPr bwMode="auto">
            <a:xfrm flipV="1">
              <a:off x="1316616" y="1437115"/>
              <a:ext cx="8315223" cy="1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26" name="Text Box 68"/>
            <p:cNvSpPr txBox="1">
              <a:spLocks noChangeArrowheads="1"/>
            </p:cNvSpPr>
            <p:nvPr/>
          </p:nvSpPr>
          <p:spPr bwMode="auto">
            <a:xfrm>
              <a:off x="4292072" y="1141073"/>
              <a:ext cx="2101088" cy="498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安全数据报</a:t>
              </a:r>
            </a:p>
          </p:txBody>
        </p:sp>
        <p:sp>
          <p:nvSpPr>
            <p:cNvPr id="2181127" name="Line 66"/>
            <p:cNvSpPr>
              <a:spLocks noChangeShapeType="1"/>
            </p:cNvSpPr>
            <p:nvPr/>
          </p:nvSpPr>
          <p:spPr bwMode="auto">
            <a:xfrm flipH="1">
              <a:off x="1316616" y="1283703"/>
              <a:ext cx="0" cy="2899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28" name="Text Box 68"/>
            <p:cNvSpPr txBox="1">
              <a:spLocks noChangeArrowheads="1"/>
            </p:cNvSpPr>
            <p:nvPr/>
          </p:nvSpPr>
          <p:spPr bwMode="auto">
            <a:xfrm>
              <a:off x="1326496" y="1666390"/>
              <a:ext cx="982641" cy="686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新的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algn="ctr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首部</a:t>
              </a:r>
            </a:p>
          </p:txBody>
        </p:sp>
        <p:sp>
          <p:nvSpPr>
            <p:cNvPr id="2181129" name="TextBox 43"/>
            <p:cNvSpPr txBox="1">
              <a:spLocks noChangeArrowheads="1"/>
            </p:cNvSpPr>
            <p:nvPr/>
          </p:nvSpPr>
          <p:spPr bwMode="auto">
            <a:xfrm>
              <a:off x="1259432" y="1669762"/>
              <a:ext cx="413028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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0" name="Text Box 68"/>
            <p:cNvSpPr txBox="1">
              <a:spLocks noChangeArrowheads="1"/>
            </p:cNvSpPr>
            <p:nvPr/>
          </p:nvSpPr>
          <p:spPr bwMode="auto">
            <a:xfrm>
              <a:off x="3459083" y="1814744"/>
              <a:ext cx="4990644" cy="421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IP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安   全   数   据   报   的   有   效   载   荷</a:t>
              </a:r>
            </a:p>
          </p:txBody>
        </p:sp>
        <p:sp>
          <p:nvSpPr>
            <p:cNvPr id="2181131" name="Rectangle 56"/>
            <p:cNvSpPr>
              <a:spLocks noChangeArrowheads="1"/>
            </p:cNvSpPr>
            <p:nvPr/>
          </p:nvSpPr>
          <p:spPr bwMode="auto">
            <a:xfrm>
              <a:off x="1316616" y="1666390"/>
              <a:ext cx="8315223" cy="610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2" name="Line 66"/>
            <p:cNvSpPr>
              <a:spLocks noChangeShapeType="1"/>
            </p:cNvSpPr>
            <p:nvPr/>
          </p:nvSpPr>
          <p:spPr bwMode="auto">
            <a:xfrm flipH="1">
              <a:off x="9631839" y="1298876"/>
              <a:ext cx="0" cy="2899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3" name="右箭头 56"/>
            <p:cNvSpPr>
              <a:spLocks noChangeArrowheads="1"/>
            </p:cNvSpPr>
            <p:nvPr/>
          </p:nvSpPr>
          <p:spPr bwMode="auto">
            <a:xfrm flipH="1">
              <a:off x="669091" y="1895665"/>
              <a:ext cx="647525" cy="151726"/>
            </a:xfrm>
            <a:prstGeom prst="rightArrow">
              <a:avLst>
                <a:gd name="adj1" fmla="val 50000"/>
                <a:gd name="adj2" fmla="val 124060"/>
              </a:avLst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4" name="Text Box 48"/>
            <p:cNvSpPr txBox="1">
              <a:spLocks noChangeArrowheads="1"/>
            </p:cNvSpPr>
            <p:nvPr/>
          </p:nvSpPr>
          <p:spPr bwMode="auto">
            <a:xfrm>
              <a:off x="488211" y="1196752"/>
              <a:ext cx="72037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发送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在前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181135" name="组合 61"/>
          <p:cNvGrpSpPr>
            <a:grpSpLocks/>
          </p:cNvGrpSpPr>
          <p:nvPr/>
        </p:nvGrpSpPr>
        <p:grpSpPr bwMode="auto">
          <a:xfrm>
            <a:off x="1930400" y="3068638"/>
            <a:ext cx="7631113" cy="3529012"/>
            <a:chOff x="2002823" y="2276665"/>
            <a:chExt cx="7630697" cy="3528599"/>
          </a:xfrm>
        </p:grpSpPr>
        <p:sp>
          <p:nvSpPr>
            <p:cNvPr id="2181136" name="任意多边形 5"/>
            <p:cNvSpPr>
              <a:spLocks noChangeArrowheads="1"/>
            </p:cNvSpPr>
            <p:nvPr/>
          </p:nvSpPr>
          <p:spPr bwMode="auto">
            <a:xfrm>
              <a:off x="5808921" y="4019827"/>
              <a:ext cx="2975249" cy="465292"/>
            </a:xfrm>
            <a:custGeom>
              <a:avLst/>
              <a:gdLst>
                <a:gd name="T0" fmla="*/ 1090720 w 2808808"/>
                <a:gd name="T1" fmla="*/ 0 h 426447"/>
                <a:gd name="T2" fmla="*/ 0 w 2808808"/>
                <a:gd name="T3" fmla="*/ 418246 h 426447"/>
                <a:gd name="T4" fmla="*/ 2808808 w 2808808"/>
                <a:gd name="T5" fmla="*/ 426447 h 426447"/>
                <a:gd name="T6" fmla="*/ 1951814 w 2808808"/>
                <a:gd name="T7" fmla="*/ 0 h 426447"/>
                <a:gd name="T8" fmla="*/ 1090720 w 2808808"/>
                <a:gd name="T9" fmla="*/ 0 h 426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8808" h="426447">
                  <a:moveTo>
                    <a:pt x="1090720" y="0"/>
                  </a:moveTo>
                  <a:lnTo>
                    <a:pt x="0" y="418246"/>
                  </a:lnTo>
                  <a:lnTo>
                    <a:pt x="2808808" y="426447"/>
                  </a:lnTo>
                  <a:lnTo>
                    <a:pt x="1951814" y="0"/>
                  </a:lnTo>
                  <a:lnTo>
                    <a:pt x="1090720" y="0"/>
                  </a:lnTo>
                  <a:close/>
                </a:path>
              </a:pathLst>
            </a:custGeom>
            <a:gradFill rotWithShape="1">
              <a:gsLst>
                <a:gs pos="0">
                  <a:srgbClr val="A3A3C2"/>
                </a:gs>
                <a:gs pos="14999">
                  <a:srgbClr val="CCCCCC"/>
                </a:gs>
                <a:gs pos="100000">
                  <a:srgbClr val="FFC000"/>
                </a:gs>
              </a:gsLst>
              <a:lin ang="162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7" name="任意多边形 6"/>
            <p:cNvSpPr>
              <a:spLocks noChangeArrowheads="1"/>
            </p:cNvSpPr>
            <p:nvPr/>
          </p:nvSpPr>
          <p:spPr bwMode="auto">
            <a:xfrm>
              <a:off x="2009551" y="4016455"/>
              <a:ext cx="2970203" cy="468664"/>
            </a:xfrm>
            <a:custGeom>
              <a:avLst/>
              <a:gdLst>
                <a:gd name="T0" fmla="*/ 274320 w 2804160"/>
                <a:gd name="T1" fmla="*/ 0 h 441960"/>
                <a:gd name="T2" fmla="*/ 0 w 2804160"/>
                <a:gd name="T3" fmla="*/ 441960 h 441960"/>
                <a:gd name="T4" fmla="*/ 2804160 w 2804160"/>
                <a:gd name="T5" fmla="*/ 434340 h 441960"/>
                <a:gd name="T6" fmla="*/ 1440180 w 2804160"/>
                <a:gd name="T7" fmla="*/ 7620 h 441960"/>
                <a:gd name="T8" fmla="*/ 274320 w 2804160"/>
                <a:gd name="T9" fmla="*/ 0 h 441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4160" h="441960">
                  <a:moveTo>
                    <a:pt x="274320" y="0"/>
                  </a:moveTo>
                  <a:lnTo>
                    <a:pt x="0" y="441960"/>
                  </a:lnTo>
                  <a:lnTo>
                    <a:pt x="2804160" y="434340"/>
                  </a:lnTo>
                  <a:lnTo>
                    <a:pt x="1440180" y="7620"/>
                  </a:lnTo>
                  <a:lnTo>
                    <a:pt x="274320" y="0"/>
                  </a:lnTo>
                  <a:close/>
                </a:path>
              </a:pathLst>
            </a:custGeom>
            <a:gradFill rotWithShape="1">
              <a:gsLst>
                <a:gs pos="0">
                  <a:srgbClr val="C2C2D6"/>
                </a:gs>
                <a:gs pos="14999">
                  <a:srgbClr val="DAD0A8"/>
                </a:gs>
                <a:gs pos="100000">
                  <a:srgbClr val="FFFF66"/>
                </a:gs>
              </a:gsLst>
              <a:lin ang="162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8" name="Line 51"/>
            <p:cNvSpPr>
              <a:spLocks noChangeShapeType="1"/>
            </p:cNvSpPr>
            <p:nvPr/>
          </p:nvSpPr>
          <p:spPr bwMode="auto">
            <a:xfrm flipH="1">
              <a:off x="7877636" y="2443563"/>
              <a:ext cx="0" cy="9811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39" name="Line 53"/>
            <p:cNvSpPr>
              <a:spLocks noChangeShapeType="1"/>
            </p:cNvSpPr>
            <p:nvPr/>
          </p:nvSpPr>
          <p:spPr bwMode="auto">
            <a:xfrm>
              <a:off x="3528289" y="2812763"/>
              <a:ext cx="1682" cy="610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40" name="Line 54"/>
            <p:cNvSpPr>
              <a:spLocks noChangeShapeType="1"/>
            </p:cNvSpPr>
            <p:nvPr/>
          </p:nvSpPr>
          <p:spPr bwMode="auto">
            <a:xfrm>
              <a:off x="3529972" y="2891998"/>
              <a:ext cx="43476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41" name="Text Box 15"/>
            <p:cNvSpPr txBox="1">
              <a:spLocks noChangeArrowheads="1"/>
            </p:cNvSpPr>
            <p:nvPr/>
          </p:nvSpPr>
          <p:spPr bwMode="auto">
            <a:xfrm>
              <a:off x="5066544" y="2684639"/>
              <a:ext cx="1346843" cy="397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rgbClr val="0000FF"/>
                  </a:solidFill>
                  <a:ea typeface="黑体" panose="02010609060101010101" pitchFamily="49" charset="-122"/>
                </a:rPr>
                <a:t>加密的部分</a:t>
              </a:r>
            </a:p>
          </p:txBody>
        </p:sp>
        <p:sp>
          <p:nvSpPr>
            <p:cNvPr id="2181142" name="Line 55"/>
            <p:cNvSpPr>
              <a:spLocks noChangeShapeType="1"/>
            </p:cNvSpPr>
            <p:nvPr/>
          </p:nvSpPr>
          <p:spPr bwMode="auto">
            <a:xfrm flipV="1">
              <a:off x="2308926" y="2531227"/>
              <a:ext cx="55687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43" name="Text Box 40"/>
            <p:cNvSpPr txBox="1">
              <a:spLocks noChangeArrowheads="1"/>
            </p:cNvSpPr>
            <p:nvPr/>
          </p:nvSpPr>
          <p:spPr bwMode="auto">
            <a:xfrm>
              <a:off x="4432474" y="2366014"/>
              <a:ext cx="1346843" cy="397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rgbClr val="FF0000"/>
                  </a:solidFill>
                  <a:ea typeface="黑体" panose="02010609060101010101" pitchFamily="49" charset="-122"/>
                </a:rPr>
                <a:t>鉴别的部分</a:t>
              </a:r>
            </a:p>
          </p:txBody>
        </p:sp>
        <p:sp>
          <p:nvSpPr>
            <p:cNvPr id="2181144" name="Rectangle 57"/>
            <p:cNvSpPr>
              <a:spLocks noChangeArrowheads="1"/>
            </p:cNvSpPr>
            <p:nvPr/>
          </p:nvSpPr>
          <p:spPr bwMode="auto">
            <a:xfrm>
              <a:off x="2002823" y="4471633"/>
              <a:ext cx="2975248" cy="881077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45" name="Text Box 59"/>
            <p:cNvSpPr txBox="1">
              <a:spLocks noChangeArrowheads="1"/>
            </p:cNvSpPr>
            <p:nvPr/>
          </p:nvSpPr>
          <p:spPr bwMode="auto">
            <a:xfrm>
              <a:off x="2537662" y="4541058"/>
              <a:ext cx="22172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安全参数索引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SPI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46" name="Rectangle 62"/>
            <p:cNvSpPr>
              <a:spLocks noChangeArrowheads="1"/>
            </p:cNvSpPr>
            <p:nvPr/>
          </p:nvSpPr>
          <p:spPr bwMode="auto">
            <a:xfrm>
              <a:off x="5817331" y="4471633"/>
              <a:ext cx="2975248" cy="84123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>
              <a:off x="2309194" y="2276665"/>
              <a:ext cx="0" cy="1223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2000" b="1" noProof="1">
                <a:ln>
                  <a:solidFill>
                    <a:schemeClr val="tx1"/>
                  </a:solidFill>
                  <a:prstDash val="dash"/>
                </a:ln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7" name="Line 69"/>
            <p:cNvSpPr>
              <a:spLocks noChangeShapeType="1"/>
            </p:cNvSpPr>
            <p:nvPr/>
          </p:nvSpPr>
          <p:spPr bwMode="auto">
            <a:xfrm flipH="1">
              <a:off x="9631932" y="2276665"/>
              <a:ext cx="1588" cy="1223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2000" b="1" noProof="1">
                <a:ln>
                  <a:solidFill>
                    <a:schemeClr val="tx1"/>
                  </a:solidFill>
                  <a:prstDash val="dash"/>
                </a:ln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cxnSp>
          <p:nvCxnSpPr>
            <p:cNvPr id="2181149" name="直接连接符 32"/>
            <p:cNvCxnSpPr>
              <a:cxnSpLocks noChangeShapeType="1"/>
              <a:stCxn id="2181144" idx="1"/>
              <a:endCxn id="2181144" idx="3"/>
            </p:cNvCxnSpPr>
            <p:nvPr/>
          </p:nvCxnSpPr>
          <p:spPr bwMode="auto">
            <a:xfrm>
              <a:off x="2002823" y="4912172"/>
              <a:ext cx="2975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81150" name="Text Box 63"/>
            <p:cNvSpPr txBox="1">
              <a:spLocks noChangeArrowheads="1"/>
            </p:cNvSpPr>
            <p:nvPr/>
          </p:nvSpPr>
          <p:spPr bwMode="auto">
            <a:xfrm>
              <a:off x="3013634" y="4973106"/>
              <a:ext cx="8418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序号</a:t>
              </a:r>
            </a:p>
          </p:txBody>
        </p:sp>
        <p:sp>
          <p:nvSpPr>
            <p:cNvPr id="2181151" name="Text Box 63"/>
            <p:cNvSpPr txBox="1">
              <a:spLocks noChangeArrowheads="1"/>
            </p:cNvSpPr>
            <p:nvPr/>
          </p:nvSpPr>
          <p:spPr bwMode="auto">
            <a:xfrm>
              <a:off x="2990087" y="5405154"/>
              <a:ext cx="9396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 32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2181152" name="Text Box 63"/>
            <p:cNvSpPr txBox="1">
              <a:spLocks noChangeArrowheads="1"/>
            </p:cNvSpPr>
            <p:nvPr/>
          </p:nvSpPr>
          <p:spPr bwMode="auto">
            <a:xfrm>
              <a:off x="5741646" y="4549182"/>
              <a:ext cx="84189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填充</a:t>
              </a:r>
            </a:p>
          </p:txBody>
        </p:sp>
        <p:sp>
          <p:nvSpPr>
            <p:cNvPr id="2181153" name="Text Box 63"/>
            <p:cNvSpPr txBox="1">
              <a:spLocks noChangeArrowheads="1"/>
            </p:cNvSpPr>
            <p:nvPr/>
          </p:nvSpPr>
          <p:spPr bwMode="auto">
            <a:xfrm>
              <a:off x="6572495" y="4994245"/>
              <a:ext cx="1180663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填充长度</a:t>
              </a:r>
            </a:p>
          </p:txBody>
        </p:sp>
        <p:sp>
          <p:nvSpPr>
            <p:cNvPr id="2181154" name="Text Box 63"/>
            <p:cNvSpPr txBox="1">
              <a:spLocks noChangeArrowheads="1"/>
            </p:cNvSpPr>
            <p:nvPr/>
          </p:nvSpPr>
          <p:spPr bwMode="auto">
            <a:xfrm>
              <a:off x="7536214" y="4982443"/>
              <a:ext cx="1426918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下一个首部</a:t>
              </a:r>
            </a:p>
          </p:txBody>
        </p:sp>
        <p:sp>
          <p:nvSpPr>
            <p:cNvPr id="2181155" name="任意多边形 48"/>
            <p:cNvSpPr>
              <a:spLocks noChangeArrowheads="1"/>
            </p:cNvSpPr>
            <p:nvPr/>
          </p:nvSpPr>
          <p:spPr bwMode="auto">
            <a:xfrm>
              <a:off x="6580905" y="5033018"/>
              <a:ext cx="2211674" cy="274793"/>
            </a:xfrm>
            <a:custGeom>
              <a:avLst/>
              <a:gdLst>
                <a:gd name="T0" fmla="*/ 0 w 2021522"/>
                <a:gd name="T1" fmla="*/ 258328 h 258328"/>
                <a:gd name="T2" fmla="*/ 4101 w 2021522"/>
                <a:gd name="T3" fmla="*/ 4100 h 258328"/>
                <a:gd name="T4" fmla="*/ 2021522 w 2021522"/>
                <a:gd name="T5" fmla="*/ 0 h 258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1522" h="258328">
                  <a:moveTo>
                    <a:pt x="0" y="258328"/>
                  </a:moveTo>
                  <a:lnTo>
                    <a:pt x="4101" y="4100"/>
                  </a:lnTo>
                  <a:lnTo>
                    <a:pt x="202152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2181156" name="直接连接符 51"/>
            <p:cNvCxnSpPr>
              <a:cxnSpLocks noChangeShapeType="1"/>
              <a:stCxn id="2181144" idx="1"/>
              <a:endCxn id="2181144" idx="3"/>
            </p:cNvCxnSpPr>
            <p:nvPr/>
          </p:nvCxnSpPr>
          <p:spPr bwMode="auto">
            <a:xfrm flipH="1">
              <a:off x="7628717" y="5039762"/>
              <a:ext cx="1682" cy="271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81157" name="Text Box 63"/>
            <p:cNvSpPr txBox="1">
              <a:spLocks noChangeArrowheads="1"/>
            </p:cNvSpPr>
            <p:nvPr/>
          </p:nvSpPr>
          <p:spPr bwMode="auto">
            <a:xfrm>
              <a:off x="6733956" y="4714395"/>
              <a:ext cx="781561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  8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2181158" name="Text Box 63"/>
            <p:cNvSpPr txBox="1">
              <a:spLocks noChangeArrowheads="1"/>
            </p:cNvSpPr>
            <p:nvPr/>
          </p:nvSpPr>
          <p:spPr bwMode="auto">
            <a:xfrm>
              <a:off x="7813724" y="4741368"/>
              <a:ext cx="781561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  8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sp>
          <p:nvSpPr>
            <p:cNvPr id="2181159" name="Text Box 63"/>
            <p:cNvSpPr txBox="1">
              <a:spLocks noChangeArrowheads="1"/>
            </p:cNvSpPr>
            <p:nvPr/>
          </p:nvSpPr>
          <p:spPr bwMode="auto">
            <a:xfrm>
              <a:off x="6705214" y="5405154"/>
              <a:ext cx="9396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 32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位</a:t>
              </a:r>
            </a:p>
          </p:txBody>
        </p:sp>
        <p:cxnSp>
          <p:nvCxnSpPr>
            <p:cNvPr id="2181160" name="直接连接符 46"/>
            <p:cNvCxnSpPr>
              <a:cxnSpLocks noChangeShapeType="1"/>
              <a:stCxn id="2181144" idx="1"/>
              <a:endCxn id="2181144" idx="3"/>
            </p:cNvCxnSpPr>
            <p:nvPr/>
          </p:nvCxnSpPr>
          <p:spPr bwMode="auto">
            <a:xfrm>
              <a:off x="6962692" y="3043723"/>
              <a:ext cx="0" cy="38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81161" name="Line 54"/>
            <p:cNvSpPr>
              <a:spLocks noChangeShapeType="1"/>
            </p:cNvSpPr>
            <p:nvPr/>
          </p:nvSpPr>
          <p:spPr bwMode="auto">
            <a:xfrm>
              <a:off x="3529972" y="3195449"/>
              <a:ext cx="3432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62" name="Text Box 15"/>
            <p:cNvSpPr txBox="1">
              <a:spLocks noChangeArrowheads="1"/>
            </p:cNvSpPr>
            <p:nvPr/>
          </p:nvSpPr>
          <p:spPr bwMode="auto">
            <a:xfrm>
              <a:off x="4350785" y="3007372"/>
              <a:ext cx="1868460" cy="370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b="1">
                  <a:solidFill>
                    <a:srgbClr val="C00000"/>
                  </a:solidFill>
                  <a:ea typeface="黑体" panose="02010609060101010101" pitchFamily="49" charset="-122"/>
                </a:rPr>
                <a:t>ESP </a:t>
              </a:r>
              <a:r>
                <a:rPr lang="zh-CN" altLang="en-US" b="1">
                  <a:solidFill>
                    <a:srgbClr val="C00000"/>
                  </a:solidFill>
                  <a:ea typeface="黑体" panose="02010609060101010101" pitchFamily="49" charset="-122"/>
                </a:rPr>
                <a:t>的有效载荷</a:t>
              </a:r>
            </a:p>
          </p:txBody>
        </p:sp>
        <p:sp>
          <p:nvSpPr>
            <p:cNvPr id="2181163" name="Text Box 48"/>
            <p:cNvSpPr txBox="1">
              <a:spLocks noChangeArrowheads="1"/>
            </p:cNvSpPr>
            <p:nvPr/>
          </p:nvSpPr>
          <p:spPr bwMode="auto">
            <a:xfrm>
              <a:off x="7938034" y="5395039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grpSp>
          <p:nvGrpSpPr>
            <p:cNvPr id="2181164" name="组合 59"/>
            <p:cNvGrpSpPr>
              <a:grpSpLocks/>
            </p:cNvGrpSpPr>
            <p:nvPr/>
          </p:nvGrpSpPr>
          <p:grpSpPr bwMode="auto">
            <a:xfrm>
              <a:off x="2288704" y="3396065"/>
              <a:ext cx="7343135" cy="688055"/>
              <a:chOff x="2288704" y="3396065"/>
              <a:chExt cx="7343135" cy="688055"/>
            </a:xfrm>
          </p:grpSpPr>
          <p:sp>
            <p:nvSpPr>
              <p:cNvPr id="2181165" name="Rectangle 10"/>
              <p:cNvSpPr>
                <a:spLocks noChangeArrowheads="1"/>
              </p:cNvSpPr>
              <p:nvPr/>
            </p:nvSpPr>
            <p:spPr bwMode="auto">
              <a:xfrm>
                <a:off x="2308926" y="3401122"/>
                <a:ext cx="1219364" cy="610275"/>
              </a:xfrm>
              <a:prstGeom prst="rect">
                <a:avLst/>
              </a:prstGeom>
              <a:solidFill>
                <a:srgbClr val="FFFF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ESP </a:t>
                </a:r>
              </a:p>
              <a:p>
                <a:pPr algn="ctr" eaLnBrk="0" hangingPunct="0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首部</a:t>
                </a:r>
              </a:p>
            </p:txBody>
          </p:sp>
          <p:sp>
            <p:nvSpPr>
              <p:cNvPr id="2181166" name="Rectangle 2"/>
              <p:cNvSpPr>
                <a:spLocks noChangeArrowheads="1"/>
              </p:cNvSpPr>
              <p:nvPr/>
            </p:nvSpPr>
            <p:spPr bwMode="auto">
              <a:xfrm>
                <a:off x="3528289" y="3401122"/>
                <a:ext cx="3434402" cy="6102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81167" name="Rectangle 18"/>
              <p:cNvSpPr>
                <a:spLocks noChangeArrowheads="1"/>
              </p:cNvSpPr>
              <p:nvPr/>
            </p:nvSpPr>
            <p:spPr bwMode="auto">
              <a:xfrm>
                <a:off x="7877636" y="3401122"/>
                <a:ext cx="1754203" cy="610275"/>
              </a:xfrm>
              <a:prstGeom prst="rect">
                <a:avLst/>
              </a:prstGeom>
              <a:solidFill>
                <a:srgbClr val="66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报文鉴别码</a:t>
                </a:r>
                <a:endParaRPr lang="en-US" altLang="zh-CN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algn="ctr" eaLnBrk="0" hangingPunct="0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MAC</a:t>
                </a:r>
              </a:p>
            </p:txBody>
          </p:sp>
          <p:sp>
            <p:nvSpPr>
              <p:cNvPr id="2181168" name="Rectangle 38"/>
              <p:cNvSpPr>
                <a:spLocks noChangeArrowheads="1"/>
              </p:cNvSpPr>
              <p:nvPr/>
            </p:nvSpPr>
            <p:spPr bwMode="auto">
              <a:xfrm>
                <a:off x="6962692" y="3401122"/>
                <a:ext cx="914944" cy="610275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ESP </a:t>
                </a:r>
              </a:p>
              <a:p>
                <a:pPr algn="ctr" eaLnBrk="0" hangingPunct="0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尾部</a:t>
                </a:r>
              </a:p>
            </p:txBody>
          </p:sp>
          <p:sp>
            <p:nvSpPr>
              <p:cNvPr id="2181169" name="Rectangle 56"/>
              <p:cNvSpPr>
                <a:spLocks noChangeArrowheads="1"/>
              </p:cNvSpPr>
              <p:nvPr/>
            </p:nvSpPr>
            <p:spPr bwMode="auto">
              <a:xfrm>
                <a:off x="2308926" y="3401122"/>
                <a:ext cx="7322913" cy="61027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81170" name="Text Box 68"/>
              <p:cNvSpPr txBox="1">
                <a:spLocks noChangeArrowheads="1"/>
              </p:cNvSpPr>
              <p:nvPr/>
            </p:nvSpPr>
            <p:spPr bwMode="auto">
              <a:xfrm>
                <a:off x="4676760" y="3397750"/>
                <a:ext cx="2035591" cy="686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原始的 </a:t>
                </a:r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数据报</a:t>
                </a:r>
                <a:endParaRPr lang="en-US" altLang="zh-CN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algn="ctr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的有效载荷</a:t>
                </a:r>
              </a:p>
            </p:txBody>
          </p:sp>
          <p:sp>
            <p:nvSpPr>
              <p:cNvPr id="2181171" name="Text Box 68"/>
              <p:cNvSpPr txBox="1">
                <a:spLocks noChangeArrowheads="1"/>
              </p:cNvSpPr>
              <p:nvPr/>
            </p:nvSpPr>
            <p:spPr bwMode="auto">
              <a:xfrm>
                <a:off x="3518829" y="3396065"/>
                <a:ext cx="982641" cy="686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原始的</a:t>
                </a:r>
                <a:endParaRPr lang="en-US" altLang="zh-CN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  <a:p>
                <a:pPr algn="ctr"/>
                <a:r>
                  <a:rPr lang="en-US" altLang="zh-CN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IP </a:t>
                </a:r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</a:rPr>
                  <a:t>首部</a:t>
                </a:r>
              </a:p>
            </p:txBody>
          </p:sp>
          <p:cxnSp>
            <p:nvCxnSpPr>
              <p:cNvPr id="2181172" name="直接连接符 38"/>
              <p:cNvCxnSpPr>
                <a:cxnSpLocks noChangeShapeType="1"/>
                <a:stCxn id="2181144" idx="1"/>
                <a:endCxn id="2181144" idx="3"/>
              </p:cNvCxnSpPr>
              <p:nvPr/>
            </p:nvCxnSpPr>
            <p:spPr bwMode="auto">
              <a:xfrm>
                <a:off x="4503781" y="3397750"/>
                <a:ext cx="0" cy="6136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81173" name="TextBox 40"/>
              <p:cNvSpPr txBox="1">
                <a:spLocks noChangeArrowheads="1"/>
              </p:cNvSpPr>
              <p:nvPr/>
            </p:nvSpPr>
            <p:spPr bwMode="auto">
              <a:xfrm>
                <a:off x="6844228" y="3402809"/>
                <a:ext cx="413028" cy="392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  <a:sym typeface="Wingdings" panose="05000000000000000000" pitchFamily="2" charset="2"/>
                  </a:rPr>
                  <a:t>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81174" name="TextBox 42"/>
              <p:cNvSpPr txBox="1">
                <a:spLocks noChangeArrowheads="1"/>
              </p:cNvSpPr>
              <p:nvPr/>
            </p:nvSpPr>
            <p:spPr bwMode="auto">
              <a:xfrm>
                <a:off x="2288704" y="3414609"/>
                <a:ext cx="413028" cy="392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  <a:sym typeface="Wingdings" panose="05000000000000000000" pitchFamily="2" charset="2"/>
                  </a:rPr>
                  <a:t>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81175" name="TextBox 43"/>
              <p:cNvSpPr txBox="1">
                <a:spLocks noChangeArrowheads="1"/>
              </p:cNvSpPr>
              <p:nvPr/>
            </p:nvSpPr>
            <p:spPr bwMode="auto">
              <a:xfrm>
                <a:off x="7833320" y="3397750"/>
                <a:ext cx="413028" cy="392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b="1">
                    <a:solidFill>
                      <a:srgbClr val="000099"/>
                    </a:solidFill>
                    <a:ea typeface="黑体" panose="02010609060101010101" pitchFamily="49" charset="-122"/>
                    <a:sym typeface="Wingdings" panose="05000000000000000000" pitchFamily="2" charset="2"/>
                  </a:rPr>
                  <a:t></a:t>
                </a:r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181176" name="矩形 51"/>
              <p:cNvSpPr>
                <a:spLocks noChangeArrowheads="1"/>
              </p:cNvSpPr>
              <p:nvPr/>
            </p:nvSpPr>
            <p:spPr bwMode="auto">
              <a:xfrm>
                <a:off x="3529972" y="3414609"/>
                <a:ext cx="3432720" cy="6102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181177" name="TextBox 41"/>
            <p:cNvSpPr txBox="1">
              <a:spLocks noChangeArrowheads="1"/>
            </p:cNvSpPr>
            <p:nvPr/>
          </p:nvSpPr>
          <p:spPr bwMode="auto">
            <a:xfrm>
              <a:off x="4808691" y="2708920"/>
              <a:ext cx="413028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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81178" name="TextBox 43"/>
            <p:cNvSpPr txBox="1">
              <a:spLocks noChangeArrowheads="1"/>
            </p:cNvSpPr>
            <p:nvPr/>
          </p:nvSpPr>
          <p:spPr bwMode="auto">
            <a:xfrm>
              <a:off x="4160912" y="2354214"/>
              <a:ext cx="413028" cy="39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</a:t>
              </a:r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181179" name="矩形 62"/>
          <p:cNvSpPr>
            <a:spLocks noChangeArrowheads="1"/>
          </p:cNvSpPr>
          <p:nvPr/>
        </p:nvSpPr>
        <p:spPr bwMode="auto">
          <a:xfrm>
            <a:off x="1938338" y="1196975"/>
            <a:ext cx="6584950" cy="647700"/>
          </a:xfrm>
          <a:prstGeom prst="rect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0" hangingPunct="0">
              <a:lnSpc>
                <a:spcPct val="110000"/>
              </a:lnSpc>
            </a:pPr>
            <a:r>
              <a:rPr lang="zh-CN" altLang="en-US" sz="3200" b="1">
                <a:solidFill>
                  <a:srgbClr val="000066"/>
                </a:solidFill>
                <a:ea typeface="黑体" panose="02010609060101010101" pitchFamily="49" charset="-122"/>
              </a:rPr>
              <a:t>隧道方式下的 </a:t>
            </a:r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IP </a:t>
            </a:r>
            <a:r>
              <a:rPr lang="zh-CN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安全数据报的格式</a:t>
            </a:r>
            <a:endParaRPr lang="zh-CN" altLang="en-US" sz="3200" b="1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181180" name="灯片编号占位符 5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D3997B-2823-4910-A15D-D35F573977B9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2181181" name="页脚占位符 63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1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3. IPsec </a:t>
            </a:r>
            <a:r>
              <a:rPr lang="zh-CN" altLang="en-US" dirty="0" smtClean="0">
                <a:ea typeface="黑体" panose="02010609060101010101" pitchFamily="49" charset="-122"/>
              </a:rPr>
              <a:t>的其他构件 </a:t>
            </a:r>
          </a:p>
        </p:txBody>
      </p:sp>
      <p:sp>
        <p:nvSpPr>
          <p:cNvPr id="21831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安全关联数据库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SAD </a:t>
            </a:r>
            <a:r>
              <a:rPr lang="en-US" altLang="zh-CN" u="sng" dirty="0" smtClean="0">
                <a:ea typeface="黑体" panose="02010609060101010101" pitchFamily="49" charset="-122"/>
              </a:rPr>
              <a:t>(Security Association Database) </a:t>
            </a:r>
            <a:r>
              <a:rPr lang="zh-CN" altLang="en-US" u="sng" dirty="0" smtClean="0">
                <a:ea typeface="黑体" panose="02010609060101010101" pitchFamily="49" charset="-122"/>
              </a:rPr>
              <a:t> </a:t>
            </a:r>
            <a:endParaRPr lang="en-US" altLang="zh-CN" u="sng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存放</a:t>
            </a:r>
            <a:r>
              <a:rPr lang="en-US" altLang="zh-CN" dirty="0" smtClean="0">
                <a:ea typeface="黑体" panose="02010609060101010101" pitchFamily="49" charset="-122"/>
              </a:rPr>
              <a:t>SA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安全策略数据库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SPD </a:t>
            </a:r>
            <a:r>
              <a:rPr lang="en-US" altLang="zh-CN" u="sng" dirty="0" smtClean="0">
                <a:ea typeface="黑体" panose="02010609060101010101" pitchFamily="49" charset="-122"/>
              </a:rPr>
              <a:t>(Security Policy Database) </a:t>
            </a: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指明什么样的数据报需要进行</a:t>
            </a:r>
            <a:r>
              <a:rPr lang="en-US" altLang="zh-CN" dirty="0" smtClean="0">
                <a:ea typeface="黑体" panose="02010609060101010101" pitchFamily="49" charset="-122"/>
              </a:rPr>
              <a:t> IPsec </a:t>
            </a:r>
            <a:r>
              <a:rPr lang="zh-CN" altLang="zh-CN" dirty="0" smtClean="0">
                <a:ea typeface="黑体" panose="02010609060101010101" pitchFamily="49" charset="-122"/>
              </a:rPr>
              <a:t>处理。</a:t>
            </a:r>
            <a:endParaRPr lang="zh-CN" altLang="en-US" dirty="0" smtClean="0">
              <a:ea typeface="黑体" panose="02010609060101010101" pitchFamily="49" charset="-122"/>
            </a:endParaRPr>
          </a:p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互联网密钥交换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IKE </a:t>
            </a:r>
            <a:r>
              <a:rPr lang="en-US" altLang="zh-CN" u="sng" dirty="0" smtClean="0">
                <a:ea typeface="黑体" panose="02010609060101010101" pitchFamily="49" charset="-122"/>
              </a:rPr>
              <a:t>(Internet Key Exchange)</a:t>
            </a:r>
            <a:r>
              <a:rPr lang="zh-CN" altLang="en-US" sz="3600" u="sng" dirty="0" smtClean="0">
                <a:ea typeface="黑体" panose="02010609060101010101" pitchFamily="49" charset="-122"/>
              </a:rPr>
              <a:t> </a:t>
            </a:r>
            <a:endParaRPr lang="en-US" altLang="zh-CN" sz="3600" u="sng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为</a:t>
            </a:r>
            <a:r>
              <a:rPr lang="en-US" altLang="zh-CN" dirty="0" smtClean="0">
                <a:ea typeface="黑体" panose="02010609060101010101" pitchFamily="49" charset="-122"/>
              </a:rPr>
              <a:t>IP</a:t>
            </a:r>
            <a:r>
              <a:rPr lang="zh-CN" altLang="zh-CN" dirty="0" smtClean="0">
                <a:ea typeface="黑体" panose="02010609060101010101" pitchFamily="49" charset="-122"/>
              </a:rPr>
              <a:t>安全数据报创建安全关联</a:t>
            </a:r>
            <a:r>
              <a:rPr lang="en-US" altLang="zh-CN" dirty="0" smtClean="0">
                <a:ea typeface="黑体" panose="02010609060101010101" pitchFamily="49" charset="-122"/>
              </a:rPr>
              <a:t>SA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831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1EBD6C-CD00-4681-851F-3CEFAFBB4A3E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218317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2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互联网密钥交换 </a:t>
            </a:r>
            <a:r>
              <a:rPr lang="en-US" altLang="zh-CN" smtClean="0">
                <a:ea typeface="黑体" panose="02010609060101010101" pitchFamily="49" charset="-122"/>
              </a:rPr>
              <a:t>IKE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8521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smtClean="0">
                <a:ea typeface="黑体" panose="02010609060101010101" pitchFamily="49" charset="-122"/>
              </a:rPr>
              <a:t>IKE </a:t>
            </a:r>
            <a:r>
              <a:rPr lang="zh-CN" altLang="zh-CN" sz="2800" dirty="0" smtClean="0">
                <a:ea typeface="黑体" panose="02010609060101010101" pitchFamily="49" charset="-122"/>
              </a:rPr>
              <a:t>是个非常复杂的协议，在</a:t>
            </a:r>
            <a:r>
              <a:rPr lang="en-US" altLang="zh-CN" sz="2800" dirty="0" smtClean="0">
                <a:ea typeface="黑体" panose="02010609060101010101" pitchFamily="49" charset="-122"/>
              </a:rPr>
              <a:t>2014</a:t>
            </a:r>
            <a:r>
              <a:rPr lang="zh-CN" altLang="zh-CN" sz="2800" dirty="0" smtClean="0">
                <a:ea typeface="黑体" panose="02010609060101010101" pitchFamily="49" charset="-122"/>
              </a:rPr>
              <a:t>年</a:t>
            </a:r>
            <a:r>
              <a:rPr lang="en-US" altLang="zh-CN" sz="2800" dirty="0" smtClean="0">
                <a:ea typeface="黑体" panose="02010609060101010101" pitchFamily="49" charset="-122"/>
              </a:rPr>
              <a:t>10</a:t>
            </a:r>
            <a:r>
              <a:rPr lang="zh-CN" altLang="zh-CN" sz="2800" dirty="0" smtClean="0">
                <a:ea typeface="黑体" panose="02010609060101010101" pitchFamily="49" charset="-122"/>
              </a:rPr>
              <a:t>月已成为互联网的正式标准</a:t>
            </a:r>
            <a:r>
              <a:rPr lang="en-US" altLang="zh-CN" sz="2800" dirty="0" smtClean="0">
                <a:ea typeface="黑体" panose="02010609060101010101" pitchFamily="49" charset="-122"/>
              </a:rPr>
              <a:t> [RFC 7296]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以另外三个协议为基础：</a:t>
            </a:r>
          </a:p>
          <a:p>
            <a:pPr lvl="1"/>
            <a:r>
              <a:rPr lang="en-US" altLang="zh-CN" sz="2400" dirty="0" smtClean="0">
                <a:ea typeface="黑体" panose="02010609060101010101" pitchFamily="49" charset="-122"/>
              </a:rPr>
              <a:t>(1) </a:t>
            </a:r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Oakley</a:t>
            </a:r>
            <a:r>
              <a:rPr lang="en-US" altLang="zh-CN" sz="2400" dirty="0" smtClean="0">
                <a:ea typeface="黑体" panose="02010609060101010101" pitchFamily="49" charset="-122"/>
              </a:rPr>
              <a:t>——</a:t>
            </a:r>
            <a:r>
              <a:rPr lang="zh-CN" altLang="zh-CN" sz="2400" dirty="0" smtClean="0">
                <a:ea typeface="黑体" panose="02010609060101010101" pitchFamily="49" charset="-122"/>
              </a:rPr>
              <a:t>是密钥生成协议</a:t>
            </a:r>
            <a:r>
              <a:rPr lang="en-US" altLang="zh-CN" sz="2400" dirty="0" smtClean="0">
                <a:ea typeface="黑体" panose="02010609060101010101" pitchFamily="49" charset="-122"/>
              </a:rPr>
              <a:t>[RFC 2412]</a:t>
            </a:r>
            <a:r>
              <a:rPr lang="zh-CN" altLang="zh-CN" sz="2400" dirty="0" smtClean="0">
                <a:ea typeface="黑体" panose="02010609060101010101" pitchFamily="49" charset="-122"/>
              </a:rPr>
              <a:t>。</a:t>
            </a:r>
          </a:p>
          <a:p>
            <a:pPr lvl="1"/>
            <a:r>
              <a:rPr lang="en-US" altLang="zh-CN" sz="2400" dirty="0" smtClean="0">
                <a:ea typeface="黑体" panose="02010609060101010101" pitchFamily="49" charset="-122"/>
              </a:rPr>
              <a:t>(2) </a:t>
            </a:r>
            <a:r>
              <a:rPr lang="zh-CN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安全密钥交换机制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SKEME </a:t>
            </a:r>
            <a:r>
              <a:rPr lang="en-US" altLang="zh-CN" sz="2400" u="sng" dirty="0" smtClean="0">
                <a:ea typeface="黑体" panose="02010609060101010101" pitchFamily="49" charset="-122"/>
              </a:rPr>
              <a:t>(Secure Key Exchange Mechanism) </a:t>
            </a:r>
            <a:r>
              <a:rPr lang="en-US" altLang="zh-CN" sz="2400" dirty="0" smtClean="0">
                <a:ea typeface="黑体" panose="02010609060101010101" pitchFamily="49" charset="-122"/>
              </a:rPr>
              <a:t>——</a:t>
            </a:r>
            <a:r>
              <a:rPr lang="zh-CN" altLang="zh-CN" sz="2400" dirty="0" smtClean="0">
                <a:ea typeface="黑体" panose="02010609060101010101" pitchFamily="49" charset="-122"/>
              </a:rPr>
              <a:t>是用于密钥交换的协议。它利用公钥加密来实现密钥交换协议中的实体鉴别。</a:t>
            </a:r>
          </a:p>
          <a:p>
            <a:pPr lvl="1"/>
            <a:r>
              <a:rPr lang="en-US" altLang="zh-CN" sz="2400" dirty="0" smtClean="0">
                <a:ea typeface="黑体" panose="02010609060101010101" pitchFamily="49" charset="-122"/>
              </a:rPr>
              <a:t>(3) </a:t>
            </a:r>
            <a:r>
              <a:rPr lang="zh-CN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互联网安全关联和密钥管理协议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ISAKMP </a:t>
            </a:r>
            <a:r>
              <a:rPr lang="en-US" altLang="zh-CN" sz="2400" u="sng" dirty="0" smtClean="0">
                <a:ea typeface="黑体" panose="02010609060101010101" pitchFamily="49" charset="-122"/>
              </a:rPr>
              <a:t>(Internet Secure Association and Key Management Mechanism) </a:t>
            </a:r>
            <a:r>
              <a:rPr lang="en-US" altLang="zh-CN" sz="2400" dirty="0" smtClean="0">
                <a:ea typeface="黑体" panose="02010609060101010101" pitchFamily="49" charset="-122"/>
              </a:rPr>
              <a:t>——</a:t>
            </a:r>
            <a:r>
              <a:rPr lang="zh-CN" altLang="zh-CN" sz="2400" dirty="0" smtClean="0">
                <a:ea typeface="黑体" panose="02010609060101010101" pitchFamily="49" charset="-122"/>
              </a:rPr>
              <a:t>用于实现</a:t>
            </a:r>
            <a:r>
              <a:rPr lang="en-US" altLang="zh-CN" sz="2400" dirty="0" smtClean="0">
                <a:ea typeface="黑体" panose="02010609060101010101" pitchFamily="49" charset="-122"/>
              </a:rPr>
              <a:t>IKE</a:t>
            </a:r>
            <a:r>
              <a:rPr lang="zh-CN" altLang="zh-CN" sz="2400" dirty="0" smtClean="0">
                <a:ea typeface="黑体" panose="02010609060101010101" pitchFamily="49" charset="-122"/>
              </a:rPr>
              <a:t>中定义的密钥交换，使</a:t>
            </a:r>
            <a:r>
              <a:rPr lang="en-US" altLang="zh-CN" sz="2400" dirty="0" smtClean="0">
                <a:ea typeface="黑体" panose="02010609060101010101" pitchFamily="49" charset="-122"/>
              </a:rPr>
              <a:t>IKE</a:t>
            </a:r>
            <a:r>
              <a:rPr lang="zh-CN" altLang="zh-CN" sz="2400" dirty="0" smtClean="0">
                <a:ea typeface="黑体" panose="02010609060101010101" pitchFamily="49" charset="-122"/>
              </a:rPr>
              <a:t>的交换能够以标准化、格式化的报文创建安全关联</a:t>
            </a:r>
            <a:r>
              <a:rPr lang="en-US" altLang="zh-CN" sz="2400" dirty="0" smtClean="0">
                <a:ea typeface="黑体" panose="02010609060101010101" pitchFamily="49" charset="-122"/>
              </a:rPr>
              <a:t> SA</a:t>
            </a:r>
            <a:r>
              <a:rPr lang="zh-CN" altLang="zh-CN" sz="2400" dirty="0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852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16BA7C-1211-4A1D-8036-371F74E78D95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21852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2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7.6.2  </a:t>
            </a:r>
            <a:r>
              <a:rPr lang="zh-CN" altLang="en-US" dirty="0" smtClean="0">
                <a:ea typeface="黑体" panose="02010609060101010101" pitchFamily="49" charset="-122"/>
              </a:rPr>
              <a:t>运输层安全协议</a:t>
            </a:r>
            <a:endParaRPr lang="zh-CN" altLang="en-US" sz="4000" dirty="0" smtClean="0">
              <a:ea typeface="黑体" panose="02010609060101010101" pitchFamily="49" charset="-122"/>
            </a:endParaRPr>
          </a:p>
        </p:txBody>
      </p:sp>
      <p:sp>
        <p:nvSpPr>
          <p:cNvPr id="714756" name="Rectangle 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	</a:t>
            </a:r>
            <a:r>
              <a:rPr lang="zh-CN" altLang="en-US" dirty="0" smtClean="0">
                <a:ea typeface="黑体" panose="02010609060101010101" pitchFamily="49" charset="-122"/>
              </a:rPr>
              <a:t>现在广泛使用的有以下两个协议： </a:t>
            </a:r>
          </a:p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安全套接字层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SSL </a:t>
            </a:r>
            <a:r>
              <a:rPr lang="en-US" altLang="zh-CN" u="sng" dirty="0" smtClean="0">
                <a:ea typeface="黑体" panose="02010609060101010101" pitchFamily="49" charset="-122"/>
              </a:rPr>
              <a:t>(Secure Socket Layer) </a:t>
            </a:r>
          </a:p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运输层安全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TLS </a:t>
            </a:r>
            <a:r>
              <a:rPr lang="en-US" altLang="zh-CN" u="sng" dirty="0" smtClean="0">
                <a:ea typeface="黑体" panose="02010609060101010101" pitchFamily="49" charset="-122"/>
              </a:rPr>
              <a:t>(Transport Layer Security) </a:t>
            </a:r>
            <a:r>
              <a:rPr lang="zh-CN" altLang="en-US" dirty="0" smtClean="0">
                <a:ea typeface="黑体" panose="02010609060101010101" pitchFamily="49" charset="-122"/>
              </a:rPr>
              <a:t> 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872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C12A15-A295-4238-BDB3-C99FAE87EC85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  <p:sp>
        <p:nvSpPr>
          <p:cNvPr id="21872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31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</a:t>
            </a:r>
            <a:r>
              <a:rPr lang="zh-CN" altLang="en-US" smtClean="0">
                <a:ea typeface="黑体" panose="02010609060101010101" pitchFamily="49" charset="-122"/>
              </a:rPr>
              <a:t>和 </a:t>
            </a:r>
            <a:r>
              <a:rPr lang="en-US" altLang="zh-CN" smtClean="0">
                <a:ea typeface="黑体" panose="02010609060101010101" pitchFamily="49" charset="-122"/>
              </a:rPr>
              <a:t>TLS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89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安全套接层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SSL </a:t>
            </a:r>
            <a:r>
              <a:rPr lang="zh-CN" altLang="en-US" sz="2800" dirty="0" smtClean="0">
                <a:ea typeface="黑体" panose="02010609060101010101" pitchFamily="49" charset="-122"/>
              </a:rPr>
              <a:t>由</a:t>
            </a:r>
            <a:r>
              <a:rPr lang="en-US" altLang="zh-CN" sz="2800" dirty="0" smtClean="0">
                <a:ea typeface="黑体" panose="02010609060101010101" pitchFamily="49" charset="-122"/>
              </a:rPr>
              <a:t>Netscape</a:t>
            </a:r>
            <a:r>
              <a:rPr lang="zh-CN" altLang="en-US" sz="2800" dirty="0" smtClean="0">
                <a:ea typeface="黑体" panose="02010609060101010101" pitchFamily="49" charset="-122"/>
              </a:rPr>
              <a:t>于</a:t>
            </a:r>
            <a:r>
              <a:rPr lang="en-US" altLang="zh-CN" sz="2800" dirty="0" smtClean="0">
                <a:ea typeface="黑体" panose="02010609060101010101" pitchFamily="49" charset="-122"/>
              </a:rPr>
              <a:t>1994</a:t>
            </a:r>
            <a:r>
              <a:rPr lang="zh-CN" altLang="en-US" sz="2800" dirty="0" smtClean="0">
                <a:ea typeface="黑体" panose="02010609060101010101" pitchFamily="49" charset="-122"/>
              </a:rPr>
              <a:t>年开发，</a:t>
            </a:r>
            <a:r>
              <a:rPr lang="zh-CN" altLang="zh-CN" sz="2800" dirty="0" smtClean="0">
                <a:ea typeface="黑体" panose="02010609060101010101" pitchFamily="49" charset="-122"/>
              </a:rPr>
              <a:t>广泛应用于基于</a:t>
            </a:r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万维网</a:t>
            </a:r>
            <a:r>
              <a:rPr lang="zh-CN" altLang="zh-CN" sz="2800" dirty="0" smtClean="0">
                <a:ea typeface="黑体" panose="02010609060101010101" pitchFamily="49" charset="-122"/>
              </a:rPr>
              <a:t>的各种网络应用（但不限于万维网应用）。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SSL </a:t>
            </a:r>
            <a:r>
              <a:rPr lang="zh-CN" altLang="zh-CN" sz="2800" dirty="0" smtClean="0">
                <a:ea typeface="黑体" panose="02010609060101010101" pitchFamily="49" charset="-122"/>
              </a:rPr>
              <a:t>作用在端系统应用层的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HTTP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运输层之间</a:t>
            </a:r>
            <a:r>
              <a:rPr lang="zh-CN" altLang="zh-CN" sz="2800" dirty="0" smtClean="0">
                <a:ea typeface="黑体" panose="02010609060101010101" pitchFamily="49" charset="-122"/>
              </a:rPr>
              <a:t>，在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TCP </a:t>
            </a:r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49" charset="-122"/>
              </a:rPr>
              <a:t>之上</a:t>
            </a:r>
            <a:r>
              <a:rPr lang="zh-CN" altLang="zh-CN" sz="2800" dirty="0" smtClean="0">
                <a:ea typeface="黑体" panose="02010609060101010101" pitchFamily="49" charset="-122"/>
              </a:rPr>
              <a:t>建立起一个安全通道，为通过</a:t>
            </a:r>
            <a:r>
              <a:rPr lang="en-US" altLang="zh-CN" sz="2800" dirty="0" smtClean="0">
                <a:ea typeface="黑体" panose="02010609060101010101" pitchFamily="49" charset="-122"/>
              </a:rPr>
              <a:t> TCP </a:t>
            </a:r>
            <a:r>
              <a:rPr lang="zh-CN" altLang="zh-CN" sz="2800" dirty="0" smtClean="0">
                <a:ea typeface="黑体" panose="02010609060101010101" pitchFamily="49" charset="-122"/>
              </a:rPr>
              <a:t>传输的应用层数据提供安全保障。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1996</a:t>
            </a:r>
            <a:r>
              <a:rPr lang="zh-CN" altLang="en-US" sz="2800" dirty="0" smtClean="0">
                <a:ea typeface="黑体" panose="02010609060101010101" pitchFamily="49" charset="-122"/>
              </a:rPr>
              <a:t>年发布 </a:t>
            </a:r>
            <a:r>
              <a:rPr lang="en-US" altLang="zh-CN" sz="2800" dirty="0" smtClean="0">
                <a:ea typeface="黑体" panose="02010609060101010101" pitchFamily="49" charset="-122"/>
              </a:rPr>
              <a:t>SSL 3.0</a:t>
            </a:r>
            <a:r>
              <a:rPr lang="zh-CN" altLang="en-US" sz="2800" dirty="0" smtClean="0">
                <a:ea typeface="黑体" panose="02010609060101010101" pitchFamily="49" charset="-122"/>
              </a:rPr>
              <a:t>，成为 </a:t>
            </a:r>
            <a:r>
              <a:rPr lang="en-US" altLang="zh-CN" sz="2800" dirty="0" smtClean="0">
                <a:ea typeface="黑体" panose="02010609060101010101" pitchFamily="49" charset="-122"/>
              </a:rPr>
              <a:t>Web </a:t>
            </a:r>
            <a:r>
              <a:rPr lang="zh-CN" altLang="en-US" sz="2800" dirty="0" smtClean="0">
                <a:ea typeface="黑体" panose="02010609060101010101" pitchFamily="49" charset="-122"/>
              </a:rPr>
              <a:t>安全的事实标准。</a:t>
            </a: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1999</a:t>
            </a:r>
            <a:r>
              <a:rPr lang="zh-CN" altLang="en-US" sz="2800" dirty="0" smtClean="0">
                <a:ea typeface="黑体" panose="02010609060101010101" pitchFamily="49" charset="-122"/>
              </a:rPr>
              <a:t>年，</a:t>
            </a:r>
            <a:r>
              <a:rPr lang="en-US" altLang="zh-CN" sz="2800" dirty="0" smtClean="0">
                <a:ea typeface="黑体" panose="02010609060101010101" pitchFamily="49" charset="-122"/>
              </a:rPr>
              <a:t>IETF </a:t>
            </a:r>
            <a:r>
              <a:rPr lang="zh-CN" altLang="en-US" sz="2800" dirty="0" smtClean="0">
                <a:ea typeface="黑体" panose="02010609060101010101" pitchFamily="49" charset="-122"/>
              </a:rPr>
              <a:t>在 </a:t>
            </a:r>
            <a:r>
              <a:rPr lang="en-US" altLang="zh-CN" sz="2800" dirty="0" smtClean="0">
                <a:ea typeface="黑体" panose="02010609060101010101" pitchFamily="49" charset="-122"/>
              </a:rPr>
              <a:t>SSL 3.0 </a:t>
            </a:r>
            <a:r>
              <a:rPr lang="zh-CN" altLang="en-US" sz="2800" dirty="0" smtClean="0">
                <a:ea typeface="黑体" panose="02010609060101010101" pitchFamily="49" charset="-122"/>
              </a:rPr>
              <a:t>基础上推出了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传输层安全标准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TLS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sz="2800" dirty="0" smtClean="0">
                <a:ea typeface="黑体" panose="02010609060101010101" pitchFamily="49" charset="-122"/>
              </a:rPr>
              <a:t>为所有基于</a:t>
            </a:r>
            <a:r>
              <a:rPr lang="en-US" altLang="zh-CN" sz="2800" dirty="0" smtClean="0">
                <a:ea typeface="黑体" panose="02010609060101010101" pitchFamily="49" charset="-122"/>
              </a:rPr>
              <a:t> TCP </a:t>
            </a:r>
            <a:r>
              <a:rPr lang="zh-CN" altLang="zh-CN" sz="2800" dirty="0" smtClean="0">
                <a:ea typeface="黑体" panose="02010609060101010101" pitchFamily="49" charset="-122"/>
              </a:rPr>
              <a:t>的网络应用提供安全数据传输服务。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2189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76C54F-586E-4AEE-92C5-FDB3CD4CD06A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  <p:sp>
        <p:nvSpPr>
          <p:cNvPr id="2189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/ TLS </a:t>
            </a:r>
            <a:r>
              <a:rPr lang="zh-CN" altLang="en-US" smtClean="0">
                <a:ea typeface="黑体" panose="02010609060101010101" pitchFamily="49" charset="-122"/>
              </a:rPr>
              <a:t>的位置 </a:t>
            </a:r>
          </a:p>
        </p:txBody>
      </p:sp>
      <p:sp>
        <p:nvSpPr>
          <p:cNvPr id="2191362" name="Text Box 9"/>
          <p:cNvSpPr txBox="1">
            <a:spLocks noChangeArrowheads="1"/>
          </p:cNvSpPr>
          <p:nvPr/>
        </p:nvSpPr>
        <p:spPr bwMode="auto">
          <a:xfrm>
            <a:off x="776288" y="4941888"/>
            <a:ext cx="8929687" cy="1200150"/>
          </a:xfrm>
          <a:prstGeom prst="rect">
            <a:avLst/>
          </a:prstGeom>
          <a:solidFill>
            <a:srgbClr val="FFFF66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/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在发送方，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SSL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接收应用层的数据，对数据进行加密，然后把加了密的数据送往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TCP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套接字。在接收方，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SSL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从 </a:t>
            </a:r>
            <a:r>
              <a:rPr lang="en-US" altLang="zh-CN" sz="2400" b="1">
                <a:solidFill>
                  <a:srgbClr val="000066"/>
                </a:solidFill>
                <a:ea typeface="黑体" panose="02010609060101010101" pitchFamily="49" charset="-122"/>
              </a:rPr>
              <a:t>TCP </a:t>
            </a:r>
            <a:r>
              <a:rPr lang="zh-CN" altLang="en-US" sz="2400" b="1">
                <a:solidFill>
                  <a:srgbClr val="000066"/>
                </a:solidFill>
                <a:ea typeface="黑体" panose="02010609060101010101" pitchFamily="49" charset="-122"/>
              </a:rPr>
              <a:t>套接字读取数据，解密后把数据交给应用层。 </a:t>
            </a:r>
          </a:p>
        </p:txBody>
      </p:sp>
      <p:sp>
        <p:nvSpPr>
          <p:cNvPr id="2191363" name="Freeform 10"/>
          <p:cNvSpPr>
            <a:spLocks noChangeArrowheads="1"/>
          </p:cNvSpPr>
          <p:nvPr/>
        </p:nvSpPr>
        <p:spPr bwMode="auto">
          <a:xfrm>
            <a:off x="2228850" y="3706813"/>
            <a:ext cx="4878388" cy="503237"/>
          </a:xfrm>
          <a:custGeom>
            <a:avLst/>
            <a:gdLst>
              <a:gd name="T0" fmla="*/ 0 w 2903"/>
              <a:gd name="T1" fmla="*/ 0 h 317"/>
              <a:gd name="T2" fmla="*/ 0 w 2903"/>
              <a:gd name="T3" fmla="*/ 317 h 317"/>
              <a:gd name="T4" fmla="*/ 2903 w 2903"/>
              <a:gd name="T5" fmla="*/ 317 h 317"/>
              <a:gd name="T6" fmla="*/ 2903 w 290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03" h="317">
                <a:moveTo>
                  <a:pt x="0" y="0"/>
                </a:moveTo>
                <a:lnTo>
                  <a:pt x="0" y="317"/>
                </a:lnTo>
                <a:lnTo>
                  <a:pt x="2903" y="317"/>
                </a:lnTo>
                <a:lnTo>
                  <a:pt x="290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191364" name="Object 11"/>
          <p:cNvGraphicFramePr>
            <a:graphicFrameLocks noChangeAspect="1"/>
          </p:cNvGraphicFramePr>
          <p:nvPr/>
        </p:nvGraphicFramePr>
        <p:xfrm>
          <a:off x="3716338" y="3684588"/>
          <a:ext cx="239395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26" r:id="rId4" imgW="1687068" imgH="964692" progId="Visio.Drawing.6">
                  <p:embed/>
                </p:oleObj>
              </mc:Choice>
              <mc:Fallback>
                <p:oleObj r:id="rId4" imgW="1687068" imgH="964692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3684588"/>
                        <a:ext cx="239395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365" name="Rectangle 12"/>
          <p:cNvSpPr>
            <a:spLocks noChangeArrowheads="1"/>
          </p:cNvSpPr>
          <p:nvPr/>
        </p:nvSpPr>
        <p:spPr bwMode="auto">
          <a:xfrm>
            <a:off x="4186238" y="4041775"/>
            <a:ext cx="1300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互联网</a:t>
            </a:r>
          </a:p>
        </p:txBody>
      </p:sp>
      <p:sp>
        <p:nvSpPr>
          <p:cNvPr id="2191366" name="Rectangle 14"/>
          <p:cNvSpPr>
            <a:spLocks noChangeArrowheads="1"/>
          </p:cNvSpPr>
          <p:nvPr/>
        </p:nvSpPr>
        <p:spPr bwMode="auto">
          <a:xfrm>
            <a:off x="1323975" y="1341438"/>
            <a:ext cx="2403475" cy="2365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67" name="Rectangle 15"/>
          <p:cNvSpPr>
            <a:spLocks noChangeArrowheads="1"/>
          </p:cNvSpPr>
          <p:nvPr/>
        </p:nvSpPr>
        <p:spPr bwMode="auto">
          <a:xfrm>
            <a:off x="1341438" y="2600325"/>
            <a:ext cx="2374900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191368" name="Group 16"/>
          <p:cNvGrpSpPr>
            <a:grpSpLocks/>
          </p:cNvGrpSpPr>
          <p:nvPr/>
        </p:nvGrpSpPr>
        <p:grpSpPr bwMode="auto">
          <a:xfrm>
            <a:off x="2214563" y="2613025"/>
            <a:ext cx="473075" cy="458788"/>
            <a:chOff x="1539" y="933"/>
            <a:chExt cx="323" cy="348"/>
          </a:xfrm>
        </p:grpSpPr>
        <p:sp>
          <p:nvSpPr>
            <p:cNvPr id="2191369" name="Rectangle 17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91370" name="Rectangle 18"/>
            <p:cNvSpPr>
              <a:spLocks noChangeArrowheads="1"/>
            </p:cNvSpPr>
            <p:nvPr/>
          </p:nvSpPr>
          <p:spPr bwMode="auto">
            <a:xfrm>
              <a:off x="1539" y="933"/>
              <a:ext cx="323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</a:p>
          </p:txBody>
        </p:sp>
      </p:grpSp>
      <p:grpSp>
        <p:nvGrpSpPr>
          <p:cNvPr id="2191371" name="Group 19"/>
          <p:cNvGrpSpPr>
            <a:grpSpLocks/>
          </p:cNvGrpSpPr>
          <p:nvPr/>
        </p:nvGrpSpPr>
        <p:grpSpPr bwMode="auto">
          <a:xfrm>
            <a:off x="1617663" y="1363663"/>
            <a:ext cx="2146300" cy="396875"/>
            <a:chOff x="1395" y="350"/>
            <a:chExt cx="1471" cy="302"/>
          </a:xfrm>
        </p:grpSpPr>
        <p:sp>
          <p:nvSpPr>
            <p:cNvPr id="2191372" name="Rectangle 20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91373" name="Rectangle 21"/>
            <p:cNvSpPr>
              <a:spLocks noChangeArrowheads="1"/>
            </p:cNvSpPr>
            <p:nvPr/>
          </p:nvSpPr>
          <p:spPr bwMode="auto">
            <a:xfrm>
              <a:off x="1395" y="350"/>
              <a:ext cx="147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应用层（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HTTP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2191374" name="Rectangle 22"/>
          <p:cNvSpPr>
            <a:spLocks noChangeArrowheads="1"/>
          </p:cNvSpPr>
          <p:nvPr/>
        </p:nvSpPr>
        <p:spPr bwMode="auto">
          <a:xfrm>
            <a:off x="1673225" y="3155950"/>
            <a:ext cx="18415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网络接口层</a:t>
            </a:r>
          </a:p>
        </p:txBody>
      </p:sp>
      <p:sp>
        <p:nvSpPr>
          <p:cNvPr id="2191375" name="Line 23"/>
          <p:cNvSpPr>
            <a:spLocks noChangeShapeType="1"/>
          </p:cNvSpPr>
          <p:nvPr/>
        </p:nvSpPr>
        <p:spPr bwMode="auto">
          <a:xfrm>
            <a:off x="1322388" y="2989263"/>
            <a:ext cx="2414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76" name="Rectangle 24"/>
          <p:cNvSpPr>
            <a:spLocks noChangeArrowheads="1"/>
          </p:cNvSpPr>
          <p:nvPr/>
        </p:nvSpPr>
        <p:spPr bwMode="auto">
          <a:xfrm>
            <a:off x="1319213" y="1722438"/>
            <a:ext cx="2408237" cy="40005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77" name="Rectangle 25"/>
          <p:cNvSpPr>
            <a:spLocks noChangeArrowheads="1"/>
          </p:cNvSpPr>
          <p:nvPr/>
        </p:nvSpPr>
        <p:spPr bwMode="auto">
          <a:xfrm>
            <a:off x="2092325" y="2203450"/>
            <a:ext cx="7985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TCP</a:t>
            </a:r>
          </a:p>
        </p:txBody>
      </p:sp>
      <p:sp>
        <p:nvSpPr>
          <p:cNvPr id="2191378" name="Line 26"/>
          <p:cNvSpPr>
            <a:spLocks noChangeShapeType="1"/>
          </p:cNvSpPr>
          <p:nvPr/>
        </p:nvSpPr>
        <p:spPr bwMode="auto">
          <a:xfrm>
            <a:off x="1322388" y="2554288"/>
            <a:ext cx="239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79" name="Rectangle 27"/>
          <p:cNvSpPr>
            <a:spLocks noChangeArrowheads="1"/>
          </p:cNvSpPr>
          <p:nvPr/>
        </p:nvSpPr>
        <p:spPr bwMode="auto">
          <a:xfrm>
            <a:off x="1973263" y="1741488"/>
            <a:ext cx="14446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SSL/TLS</a:t>
            </a:r>
          </a:p>
        </p:txBody>
      </p:sp>
      <p:sp>
        <p:nvSpPr>
          <p:cNvPr id="2191380" name="Line 28"/>
          <p:cNvSpPr>
            <a:spLocks noChangeShapeType="1"/>
          </p:cNvSpPr>
          <p:nvPr/>
        </p:nvSpPr>
        <p:spPr bwMode="auto">
          <a:xfrm>
            <a:off x="1322388" y="2125663"/>
            <a:ext cx="239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81" name="Rectangle 30"/>
          <p:cNvSpPr>
            <a:spLocks noChangeArrowheads="1"/>
          </p:cNvSpPr>
          <p:nvPr/>
        </p:nvSpPr>
        <p:spPr bwMode="auto">
          <a:xfrm>
            <a:off x="5816600" y="1341438"/>
            <a:ext cx="2401888" cy="2365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82" name="Rectangle 31"/>
          <p:cNvSpPr>
            <a:spLocks noChangeArrowheads="1"/>
          </p:cNvSpPr>
          <p:nvPr/>
        </p:nvSpPr>
        <p:spPr bwMode="auto">
          <a:xfrm>
            <a:off x="5834063" y="2600325"/>
            <a:ext cx="2374900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191383" name="Group 32"/>
          <p:cNvGrpSpPr>
            <a:grpSpLocks/>
          </p:cNvGrpSpPr>
          <p:nvPr/>
        </p:nvGrpSpPr>
        <p:grpSpPr bwMode="auto">
          <a:xfrm>
            <a:off x="6707188" y="2613025"/>
            <a:ext cx="473075" cy="458788"/>
            <a:chOff x="1539" y="933"/>
            <a:chExt cx="323" cy="348"/>
          </a:xfrm>
        </p:grpSpPr>
        <p:sp>
          <p:nvSpPr>
            <p:cNvPr id="2191384" name="Rectangle 33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91385" name="Rectangle 34"/>
            <p:cNvSpPr>
              <a:spLocks noChangeArrowheads="1"/>
            </p:cNvSpPr>
            <p:nvPr/>
          </p:nvSpPr>
          <p:spPr bwMode="auto">
            <a:xfrm>
              <a:off x="1539" y="933"/>
              <a:ext cx="323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IP</a:t>
              </a:r>
            </a:p>
          </p:txBody>
        </p:sp>
      </p:grpSp>
      <p:grpSp>
        <p:nvGrpSpPr>
          <p:cNvPr id="2191386" name="Group 35"/>
          <p:cNvGrpSpPr>
            <a:grpSpLocks/>
          </p:cNvGrpSpPr>
          <p:nvPr/>
        </p:nvGrpSpPr>
        <p:grpSpPr bwMode="auto">
          <a:xfrm>
            <a:off x="6110288" y="1363663"/>
            <a:ext cx="2144712" cy="396875"/>
            <a:chOff x="1395" y="350"/>
            <a:chExt cx="1471" cy="302"/>
          </a:xfrm>
        </p:grpSpPr>
        <p:sp>
          <p:nvSpPr>
            <p:cNvPr id="2191387" name="Rectangle 36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91388" name="Rectangle 37"/>
            <p:cNvSpPr>
              <a:spLocks noChangeArrowheads="1"/>
            </p:cNvSpPr>
            <p:nvPr/>
          </p:nvSpPr>
          <p:spPr bwMode="auto">
            <a:xfrm>
              <a:off x="1395" y="350"/>
              <a:ext cx="147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应用层（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HTTP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2191389" name="Rectangle 38"/>
          <p:cNvSpPr>
            <a:spLocks noChangeArrowheads="1"/>
          </p:cNvSpPr>
          <p:nvPr/>
        </p:nvSpPr>
        <p:spPr bwMode="auto">
          <a:xfrm>
            <a:off x="6165850" y="3155950"/>
            <a:ext cx="18415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网络接口层</a:t>
            </a:r>
          </a:p>
        </p:txBody>
      </p:sp>
      <p:sp>
        <p:nvSpPr>
          <p:cNvPr id="2191390" name="Line 39"/>
          <p:cNvSpPr>
            <a:spLocks noChangeShapeType="1"/>
          </p:cNvSpPr>
          <p:nvPr/>
        </p:nvSpPr>
        <p:spPr bwMode="auto">
          <a:xfrm>
            <a:off x="5815013" y="2989263"/>
            <a:ext cx="2414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91" name="Rectangle 40"/>
          <p:cNvSpPr>
            <a:spLocks noChangeArrowheads="1"/>
          </p:cNvSpPr>
          <p:nvPr/>
        </p:nvSpPr>
        <p:spPr bwMode="auto">
          <a:xfrm>
            <a:off x="5811838" y="1722438"/>
            <a:ext cx="2406650" cy="40005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92" name="Rectangle 41"/>
          <p:cNvSpPr>
            <a:spLocks noChangeArrowheads="1"/>
          </p:cNvSpPr>
          <p:nvPr/>
        </p:nvSpPr>
        <p:spPr bwMode="auto">
          <a:xfrm>
            <a:off x="6584950" y="2203450"/>
            <a:ext cx="7985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TCP</a:t>
            </a:r>
          </a:p>
        </p:txBody>
      </p:sp>
      <p:sp>
        <p:nvSpPr>
          <p:cNvPr id="2191393" name="Line 42"/>
          <p:cNvSpPr>
            <a:spLocks noChangeShapeType="1"/>
          </p:cNvSpPr>
          <p:nvPr/>
        </p:nvSpPr>
        <p:spPr bwMode="auto">
          <a:xfrm>
            <a:off x="5815013" y="2554288"/>
            <a:ext cx="239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94" name="Rectangle 43"/>
          <p:cNvSpPr>
            <a:spLocks noChangeArrowheads="1"/>
          </p:cNvSpPr>
          <p:nvPr/>
        </p:nvSpPr>
        <p:spPr bwMode="auto">
          <a:xfrm>
            <a:off x="6464300" y="1741488"/>
            <a:ext cx="1446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SSL/TLS</a:t>
            </a:r>
          </a:p>
        </p:txBody>
      </p:sp>
      <p:sp>
        <p:nvSpPr>
          <p:cNvPr id="2191395" name="Line 44"/>
          <p:cNvSpPr>
            <a:spLocks noChangeShapeType="1"/>
          </p:cNvSpPr>
          <p:nvPr/>
        </p:nvSpPr>
        <p:spPr bwMode="auto">
          <a:xfrm>
            <a:off x="5815013" y="2125663"/>
            <a:ext cx="2398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139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9F3E4C-3D37-44C0-9A5A-72454FA8D9EE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2191397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40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</a:t>
            </a:r>
            <a:r>
              <a:rPr lang="zh-CN" altLang="en-US" smtClean="0">
                <a:ea typeface="黑体" panose="02010609060101010101" pitchFamily="49" charset="-122"/>
              </a:rPr>
              <a:t>和 </a:t>
            </a:r>
            <a:r>
              <a:rPr lang="en-US" altLang="zh-CN" smtClean="0">
                <a:ea typeface="黑体" panose="02010609060101010101" pitchFamily="49" charset="-122"/>
              </a:rPr>
              <a:t>TLS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93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SSL / TLS</a:t>
            </a:r>
            <a:r>
              <a:rPr lang="zh-CN" altLang="en-US" dirty="0" smtClean="0">
                <a:ea typeface="黑体" panose="02010609060101010101" pitchFamily="49" charset="-122"/>
              </a:rPr>
              <a:t>建立在可靠的 </a:t>
            </a:r>
            <a:r>
              <a:rPr lang="en-US" altLang="zh-CN" dirty="0" smtClean="0">
                <a:ea typeface="黑体" panose="02010609060101010101" pitchFamily="49" charset="-122"/>
              </a:rPr>
              <a:t>TCP </a:t>
            </a:r>
            <a:r>
              <a:rPr lang="zh-CN" altLang="en-US" dirty="0" smtClean="0">
                <a:ea typeface="黑体" panose="02010609060101010101" pitchFamily="49" charset="-122"/>
              </a:rPr>
              <a:t>之上，与应用层协议独立无关。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SSL / TLS </a:t>
            </a:r>
            <a:r>
              <a:rPr lang="zh-CN" altLang="en-US" dirty="0" smtClean="0">
                <a:ea typeface="黑体" panose="02010609060101010101" pitchFamily="49" charset="-122"/>
              </a:rPr>
              <a:t>已被所有常用的浏览器和万维网服务器所支持。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SSL / TLS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基本目标：</a:t>
            </a:r>
            <a:r>
              <a:rPr lang="zh-CN" altLang="en-US" dirty="0" smtClean="0">
                <a:ea typeface="黑体" panose="02010609060101010101" pitchFamily="49" charset="-122"/>
              </a:rPr>
              <a:t>实现两个应用实体之间的安全可靠通信。</a:t>
            </a:r>
          </a:p>
        </p:txBody>
      </p:sp>
      <p:sp>
        <p:nvSpPr>
          <p:cNvPr id="21934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5BADCA-BE35-40A5-BD1E-401DF010253C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219341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45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</a:t>
            </a:r>
            <a:r>
              <a:rPr lang="zh-CN" altLang="en-US" smtClean="0">
                <a:ea typeface="黑体" panose="02010609060101010101" pitchFamily="49" charset="-122"/>
              </a:rPr>
              <a:t>和 </a:t>
            </a:r>
            <a:r>
              <a:rPr lang="en-US" altLang="zh-CN" smtClean="0">
                <a:ea typeface="黑体" panose="02010609060101010101" pitchFamily="49" charset="-122"/>
              </a:rPr>
              <a:t>TLS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2195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应用层使用</a:t>
            </a:r>
            <a:r>
              <a:rPr lang="en-US" altLang="zh-CN" dirty="0" smtClean="0">
                <a:ea typeface="黑体" panose="02010609060101010101" pitchFamily="49" charset="-122"/>
              </a:rPr>
              <a:t> SSL </a:t>
            </a:r>
            <a:r>
              <a:rPr lang="zh-CN" altLang="zh-CN" dirty="0" smtClean="0">
                <a:ea typeface="黑体" panose="02010609060101010101" pitchFamily="49" charset="-122"/>
              </a:rPr>
              <a:t>最多的就是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HTTP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zh-CN" dirty="0" smtClean="0">
                <a:ea typeface="黑体" panose="02010609060101010101" pitchFamily="49" charset="-122"/>
              </a:rPr>
              <a:t>但</a:t>
            </a:r>
            <a:r>
              <a:rPr lang="en-US" altLang="zh-CN" dirty="0" smtClean="0">
                <a:ea typeface="黑体" panose="02010609060101010101" pitchFamily="49" charset="-122"/>
              </a:rPr>
              <a:t> SSL </a:t>
            </a:r>
            <a:r>
              <a:rPr lang="zh-CN" altLang="zh-CN" dirty="0" smtClean="0">
                <a:ea typeface="黑体" panose="02010609060101010101" pitchFamily="49" charset="-122"/>
              </a:rPr>
              <a:t>并非仅用于</a:t>
            </a:r>
            <a:r>
              <a:rPr lang="en-US" altLang="zh-CN" dirty="0" smtClean="0">
                <a:ea typeface="黑体" panose="02010609060101010101" pitchFamily="49" charset="-122"/>
              </a:rPr>
              <a:t> HTTP</a:t>
            </a:r>
            <a:r>
              <a:rPr lang="zh-CN" altLang="zh-CN" dirty="0" smtClean="0">
                <a:ea typeface="黑体" panose="02010609060101010101" pitchFamily="49" charset="-122"/>
              </a:rPr>
              <a:t>，而是可用于任何应用层的协议。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应用程序</a:t>
            </a:r>
            <a:r>
              <a:rPr lang="en-US" altLang="zh-CN" dirty="0" smtClean="0">
                <a:ea typeface="黑体" panose="02010609060101010101" pitchFamily="49" charset="-122"/>
              </a:rPr>
              <a:t> HTTP </a:t>
            </a:r>
            <a:r>
              <a:rPr lang="zh-CN" altLang="zh-CN" dirty="0" smtClean="0">
                <a:ea typeface="黑体" panose="02010609060101010101" pitchFamily="49" charset="-122"/>
              </a:rPr>
              <a:t>调用</a:t>
            </a:r>
            <a:r>
              <a:rPr lang="en-US" altLang="zh-CN" dirty="0" smtClean="0">
                <a:ea typeface="黑体" panose="02010609060101010101" pitchFamily="49" charset="-122"/>
              </a:rPr>
              <a:t> SSL </a:t>
            </a:r>
            <a:r>
              <a:rPr lang="zh-CN" altLang="zh-CN" dirty="0" smtClean="0">
                <a:ea typeface="黑体" panose="02010609060101010101" pitchFamily="49" charset="-122"/>
              </a:rPr>
              <a:t>对整个网页进行加密</a:t>
            </a:r>
            <a:r>
              <a:rPr lang="zh-CN" altLang="en-US" dirty="0" smtClean="0">
                <a:ea typeface="黑体" panose="02010609060101010101" pitchFamily="49" charset="-122"/>
              </a:rPr>
              <a:t>时，</a:t>
            </a:r>
            <a:r>
              <a:rPr lang="zh-CN" altLang="zh-CN" dirty="0" smtClean="0">
                <a:ea typeface="黑体" panose="02010609060101010101" pitchFamily="49" charset="-122"/>
              </a:rPr>
              <a:t>网页上会提示用户，在网址栏原来显示</a:t>
            </a:r>
            <a:r>
              <a:rPr lang="en-US" altLang="zh-CN" dirty="0" smtClean="0">
                <a:ea typeface="黑体" panose="02010609060101010101" pitchFamily="49" charset="-122"/>
              </a:rPr>
              <a:t> http </a:t>
            </a:r>
            <a:r>
              <a:rPr lang="zh-CN" altLang="zh-CN" dirty="0" smtClean="0">
                <a:ea typeface="黑体" panose="02010609060101010101" pitchFamily="49" charset="-122"/>
              </a:rPr>
              <a:t>的地方，现在变成了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https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r>
              <a:rPr lang="zh-CN" altLang="zh-CN" dirty="0" smtClean="0">
                <a:ea typeface="黑体" panose="02010609060101010101" pitchFamily="49" charset="-122"/>
              </a:rPr>
              <a:t>在</a:t>
            </a:r>
            <a:r>
              <a:rPr lang="en-US" altLang="zh-CN" dirty="0" smtClean="0">
                <a:ea typeface="黑体" panose="02010609060101010101" pitchFamily="49" charset="-122"/>
              </a:rPr>
              <a:t> http </a:t>
            </a:r>
            <a:r>
              <a:rPr lang="zh-CN" altLang="zh-CN" dirty="0" smtClean="0">
                <a:ea typeface="黑体" panose="02010609060101010101" pitchFamily="49" charset="-122"/>
              </a:rPr>
              <a:t>后面加上的</a:t>
            </a:r>
            <a:r>
              <a:rPr lang="en-US" altLang="zh-CN" dirty="0" smtClean="0">
                <a:ea typeface="黑体" panose="02010609060101010101" pitchFamily="49" charset="-122"/>
              </a:rPr>
              <a:t>s</a:t>
            </a:r>
            <a:r>
              <a:rPr lang="zh-CN" altLang="zh-CN" dirty="0" smtClean="0">
                <a:ea typeface="黑体" panose="02010609060101010101" pitchFamily="49" charset="-122"/>
              </a:rPr>
              <a:t>代表</a:t>
            </a:r>
            <a:r>
              <a:rPr lang="en-US" altLang="zh-CN" dirty="0" smtClean="0">
                <a:ea typeface="黑体" panose="02010609060101010101" pitchFamily="49" charset="-122"/>
              </a:rPr>
              <a:t> security</a:t>
            </a:r>
            <a:r>
              <a:rPr lang="zh-CN" altLang="zh-CN" dirty="0" smtClean="0">
                <a:ea typeface="黑体" panose="02010609060101010101" pitchFamily="49" charset="-122"/>
              </a:rPr>
              <a:t>，表明现在使用的是提供安全服务的</a:t>
            </a:r>
            <a:r>
              <a:rPr lang="en-US" altLang="zh-CN" dirty="0" smtClean="0">
                <a:ea typeface="黑体" panose="02010609060101010101" pitchFamily="49" charset="-122"/>
              </a:rPr>
              <a:t> HTTP </a:t>
            </a:r>
            <a:r>
              <a:rPr lang="zh-CN" altLang="zh-CN" dirty="0" smtClean="0">
                <a:ea typeface="黑体" panose="02010609060101010101" pitchFamily="49" charset="-122"/>
              </a:rPr>
              <a:t>协议（</a:t>
            </a:r>
            <a:r>
              <a:rPr lang="en-US" altLang="zh-CN" dirty="0" smtClean="0">
                <a:ea typeface="黑体" panose="02010609060101010101" pitchFamily="49" charset="-122"/>
              </a:rPr>
              <a:t>TCP </a:t>
            </a:r>
            <a:r>
              <a:rPr lang="zh-CN" altLang="zh-CN" dirty="0" smtClean="0">
                <a:ea typeface="黑体" panose="02010609060101010101" pitchFamily="49" charset="-122"/>
              </a:rPr>
              <a:t>的</a:t>
            </a:r>
            <a:r>
              <a:rPr lang="en-US" altLang="zh-CN" dirty="0" smtClean="0">
                <a:ea typeface="黑体" panose="02010609060101010101" pitchFamily="49" charset="-122"/>
              </a:rPr>
              <a:t> HTTPS </a:t>
            </a:r>
            <a:r>
              <a:rPr lang="zh-CN" altLang="zh-CN" dirty="0" smtClean="0">
                <a:ea typeface="黑体" panose="02010609060101010101" pitchFamily="49" charset="-122"/>
              </a:rPr>
              <a:t>端口号是</a:t>
            </a:r>
            <a:r>
              <a:rPr lang="en-US" altLang="zh-CN" dirty="0" smtClean="0">
                <a:ea typeface="黑体" panose="02010609060101010101" pitchFamily="49" charset="-122"/>
              </a:rPr>
              <a:t> 443</a:t>
            </a:r>
            <a:r>
              <a:rPr lang="zh-CN" altLang="zh-CN" dirty="0" smtClean="0">
                <a:ea typeface="黑体" panose="02010609060101010101" pitchFamily="49" charset="-122"/>
              </a:rPr>
              <a:t>，而不是平时使用的端口号</a:t>
            </a:r>
            <a:r>
              <a:rPr lang="en-US" altLang="zh-CN" dirty="0" smtClean="0">
                <a:ea typeface="黑体" panose="02010609060101010101" pitchFamily="49" charset="-122"/>
              </a:rPr>
              <a:t> 80</a:t>
            </a:r>
            <a:r>
              <a:rPr lang="zh-CN" altLang="zh-CN" dirty="0" smtClean="0">
                <a:ea typeface="黑体" panose="02010609060101010101" pitchFamily="49" charset="-122"/>
              </a:rPr>
              <a:t>）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954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978196-3BDA-4BB5-A407-A2B47D42B639}" type="slidenum">
              <a:rPr lang="zh-CN" altLang="en-US" smtClean="0"/>
              <a:pPr eaLnBrk="1" hangingPunct="1"/>
              <a:t>39</a:t>
            </a:fld>
            <a:endParaRPr lang="en-US" altLang="zh-CN" smtClean="0"/>
          </a:p>
        </p:txBody>
      </p:sp>
      <p:sp>
        <p:nvSpPr>
          <p:cNvPr id="21954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50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SSL </a:t>
            </a:r>
            <a:r>
              <a:rPr lang="zh-CN" altLang="zh-CN" dirty="0" smtClean="0">
                <a:ea typeface="黑体" panose="02010609060101010101" pitchFamily="49" charset="-122"/>
              </a:rPr>
              <a:t>提供的安全服务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9750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(1)	SSL 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服务器鉴别，</a:t>
            </a:r>
            <a:r>
              <a:rPr lang="zh-CN" altLang="zh-CN" dirty="0" smtClean="0">
                <a:ea typeface="黑体" panose="02010609060101010101" pitchFamily="49" charset="-122"/>
              </a:rPr>
              <a:t>允许用户证实服务器的身份。支持</a:t>
            </a:r>
            <a:r>
              <a:rPr lang="en-US" altLang="zh-CN" dirty="0" smtClean="0">
                <a:ea typeface="黑体" panose="02010609060101010101" pitchFamily="49" charset="-122"/>
              </a:rPr>
              <a:t> SSL </a:t>
            </a:r>
            <a:r>
              <a:rPr lang="zh-CN" altLang="zh-CN" dirty="0" smtClean="0">
                <a:ea typeface="黑体" panose="02010609060101010101" pitchFamily="49" charset="-122"/>
              </a:rPr>
              <a:t>的客户端通过验证来自服务器的证书，来鉴别服务器的真实身份并获得服务器的公钥。</a:t>
            </a: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(2)	SSL 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客户鉴别</a:t>
            </a:r>
            <a:r>
              <a:rPr lang="zh-CN" altLang="zh-CN" dirty="0" smtClean="0">
                <a:ea typeface="黑体" panose="02010609060101010101" pitchFamily="49" charset="-122"/>
              </a:rPr>
              <a:t>，</a:t>
            </a:r>
            <a:r>
              <a:rPr lang="en-US" altLang="zh-CN" dirty="0" smtClean="0">
                <a:ea typeface="黑体" panose="02010609060101010101" pitchFamily="49" charset="-122"/>
              </a:rPr>
              <a:t>SSL </a:t>
            </a:r>
            <a:r>
              <a:rPr lang="zh-CN" altLang="zh-CN" dirty="0" smtClean="0">
                <a:ea typeface="黑体" panose="02010609060101010101" pitchFamily="49" charset="-122"/>
              </a:rPr>
              <a:t>的可选安全服务，允许服务器证实客户的身份。</a:t>
            </a: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(3)	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加密的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SSL 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会话，</a:t>
            </a:r>
            <a:r>
              <a:rPr lang="zh-CN" altLang="zh-CN" dirty="0" smtClean="0">
                <a:ea typeface="黑体" panose="02010609060101010101" pitchFamily="49" charset="-122"/>
              </a:rPr>
              <a:t>对客户和服务器间发送的所有报文进行加密，并检测报文是否被篡改。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19750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804725-8132-4FB1-89E5-9059F5C248E9}" type="slidenum">
              <a:rPr lang="zh-CN" altLang="en-US" smtClean="0"/>
              <a:pPr eaLnBrk="1" hangingPunct="1"/>
              <a:t>40</a:t>
            </a:fld>
            <a:endParaRPr lang="en-US" altLang="zh-CN" smtClean="0"/>
          </a:p>
        </p:txBody>
      </p:sp>
      <p:sp>
        <p:nvSpPr>
          <p:cNvPr id="219750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55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</a:t>
            </a:r>
            <a:r>
              <a:rPr lang="zh-CN" altLang="en-US" smtClean="0">
                <a:ea typeface="黑体" panose="02010609060101010101" pitchFamily="49" charset="-122"/>
              </a:rPr>
              <a:t>安全会话建立过程</a:t>
            </a:r>
          </a:p>
        </p:txBody>
      </p:sp>
      <p:sp>
        <p:nvSpPr>
          <p:cNvPr id="2199554" name="Line 582"/>
          <p:cNvSpPr>
            <a:spLocks noChangeShapeType="1"/>
          </p:cNvSpPr>
          <p:nvPr/>
        </p:nvSpPr>
        <p:spPr bwMode="auto">
          <a:xfrm flipV="1">
            <a:off x="3421063" y="2887663"/>
            <a:ext cx="38703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555" name="Text Box 456"/>
          <p:cNvSpPr txBox="1">
            <a:spLocks noChangeArrowheads="1"/>
          </p:cNvSpPr>
          <p:nvPr/>
        </p:nvSpPr>
        <p:spPr bwMode="auto">
          <a:xfrm>
            <a:off x="2000250" y="1527175"/>
            <a:ext cx="1206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浏览器 </a:t>
            </a:r>
            <a:r>
              <a:rPr lang="en-US" altLang="zh-CN" sz="2000" b="1">
                <a:solidFill>
                  <a:srgbClr val="C00000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2199556" name="Text Box 484"/>
          <p:cNvSpPr txBox="1">
            <a:spLocks noChangeArrowheads="1"/>
          </p:cNvSpPr>
          <p:nvPr/>
        </p:nvSpPr>
        <p:spPr bwMode="auto">
          <a:xfrm>
            <a:off x="7534275" y="1566863"/>
            <a:ext cx="1214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服务器 </a:t>
            </a:r>
            <a:r>
              <a:rPr lang="en-US" altLang="zh-CN" sz="2000" b="1">
                <a:solidFill>
                  <a:srgbClr val="C00000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199557" name="Line 515"/>
          <p:cNvSpPr>
            <a:spLocks noChangeShapeType="1"/>
          </p:cNvSpPr>
          <p:nvPr/>
        </p:nvSpPr>
        <p:spPr bwMode="auto">
          <a:xfrm flipV="1">
            <a:off x="3409950" y="2341563"/>
            <a:ext cx="38703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558" name="Rectangle 516"/>
          <p:cNvSpPr>
            <a:spLocks noChangeArrowheads="1"/>
          </p:cNvSpPr>
          <p:nvPr/>
        </p:nvSpPr>
        <p:spPr bwMode="auto">
          <a:xfrm>
            <a:off x="4227513" y="2151063"/>
            <a:ext cx="2238375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支持的加密算法</a:t>
            </a:r>
            <a:endParaRPr lang="zh-CN" altLang="en-US" sz="2000" b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2199559" name="Picture 5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70713" y="1382713"/>
            <a:ext cx="574675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99560" name="Group 551"/>
          <p:cNvGrpSpPr>
            <a:grpSpLocks/>
          </p:cNvGrpSpPr>
          <p:nvPr/>
        </p:nvGrpSpPr>
        <p:grpSpPr bwMode="auto">
          <a:xfrm>
            <a:off x="3171825" y="1476375"/>
            <a:ext cx="609600" cy="536575"/>
            <a:chOff x="717" y="1446"/>
            <a:chExt cx="274" cy="237"/>
          </a:xfrm>
        </p:grpSpPr>
        <p:sp>
          <p:nvSpPr>
            <p:cNvPr id="2199561" name="Arc 552"/>
            <p:cNvSpPr>
              <a:spLocks noChangeArrowheads="1"/>
            </p:cNvSpPr>
            <p:nvPr/>
          </p:nvSpPr>
          <p:spPr bwMode="auto">
            <a:xfrm>
              <a:off x="930" y="1618"/>
              <a:ext cx="58" cy="39"/>
            </a:xfrm>
            <a:custGeom>
              <a:avLst/>
              <a:gdLst>
                <a:gd name="T0" fmla="*/ -1 w 38273"/>
                <a:gd name="T1" fmla="*/ 7867 h 35142"/>
                <a:gd name="T2" fmla="*/ 16673 w 38273"/>
                <a:gd name="T3" fmla="*/ 0 h 35142"/>
                <a:gd name="T4" fmla="*/ 38273 w 38273"/>
                <a:gd name="T5" fmla="*/ 21600 h 35142"/>
                <a:gd name="T6" fmla="*/ 33500 w 38273"/>
                <a:gd name="T7" fmla="*/ 35141 h 35142"/>
                <a:gd name="T8" fmla="*/ -1 w 38273"/>
                <a:gd name="T9" fmla="*/ 7867 h 35142"/>
                <a:gd name="T10" fmla="*/ 16673 w 38273"/>
                <a:gd name="T11" fmla="*/ 0 h 35142"/>
                <a:gd name="T12" fmla="*/ 38273 w 38273"/>
                <a:gd name="T13" fmla="*/ 21600 h 35142"/>
                <a:gd name="T14" fmla="*/ 33500 w 38273"/>
                <a:gd name="T15" fmla="*/ 35141 h 35142"/>
                <a:gd name="T16" fmla="*/ 16673 w 38273"/>
                <a:gd name="T17" fmla="*/ 21600 h 35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73" h="35142" fill="none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</a:path>
                <a:path w="38273" h="35142" stroke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  <a:lnTo>
                    <a:pt x="16673" y="21600"/>
                  </a:lnTo>
                  <a:close/>
                </a:path>
              </a:pathLst>
            </a:custGeom>
            <a:noFill/>
            <a:ln w="4763">
              <a:solidFill>
                <a:srgbClr val="49493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2" name="Arc 553"/>
            <p:cNvSpPr>
              <a:spLocks noChangeArrowheads="1"/>
            </p:cNvSpPr>
            <p:nvPr/>
          </p:nvSpPr>
          <p:spPr bwMode="auto">
            <a:xfrm>
              <a:off x="929" y="1618"/>
              <a:ext cx="55" cy="36"/>
            </a:xfrm>
            <a:custGeom>
              <a:avLst/>
              <a:gdLst>
                <a:gd name="T0" fmla="*/ 0 w 38146"/>
                <a:gd name="T1" fmla="*/ 7715 h 34928"/>
                <a:gd name="T2" fmla="*/ 16546 w 38146"/>
                <a:gd name="T3" fmla="*/ 0 h 34928"/>
                <a:gd name="T4" fmla="*/ 38146 w 38146"/>
                <a:gd name="T5" fmla="*/ 21600 h 34928"/>
                <a:gd name="T6" fmla="*/ 33543 w 38146"/>
                <a:gd name="T7" fmla="*/ 34927 h 34928"/>
                <a:gd name="T8" fmla="*/ 0 w 38146"/>
                <a:gd name="T9" fmla="*/ 7715 h 34928"/>
                <a:gd name="T10" fmla="*/ 16546 w 38146"/>
                <a:gd name="T11" fmla="*/ 0 h 34928"/>
                <a:gd name="T12" fmla="*/ 38146 w 38146"/>
                <a:gd name="T13" fmla="*/ 21600 h 34928"/>
                <a:gd name="T14" fmla="*/ 33543 w 38146"/>
                <a:gd name="T15" fmla="*/ 34927 h 34928"/>
                <a:gd name="T16" fmla="*/ 16546 w 38146"/>
                <a:gd name="T17" fmla="*/ 21600 h 34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46" h="34928" fill="none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</a:path>
                <a:path w="38146" h="34928" stroke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  <a:lnTo>
                    <a:pt x="16546" y="21600"/>
                  </a:lnTo>
                  <a:close/>
                </a:path>
              </a:pathLst>
            </a:custGeom>
            <a:noFill/>
            <a:ln w="4763">
              <a:solidFill>
                <a:srgbClr val="DBDBC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3" name="Freeform 554"/>
            <p:cNvSpPr>
              <a:spLocks noChangeArrowheads="1"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4" name="Freeform 555"/>
            <p:cNvSpPr>
              <a:spLocks noChangeArrowheads="1"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5" name="Rectangle 556"/>
            <p:cNvSpPr>
              <a:spLocks noChangeArrowheads="1"/>
            </p:cNvSpPr>
            <p:nvPr/>
          </p:nvSpPr>
          <p:spPr bwMode="auto">
            <a:xfrm>
              <a:off x="751" y="1617"/>
              <a:ext cx="180" cy="31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6" name="Rectangle 557"/>
            <p:cNvSpPr>
              <a:spLocks noChangeArrowheads="1"/>
            </p:cNvSpPr>
            <p:nvPr/>
          </p:nvSpPr>
          <p:spPr bwMode="auto">
            <a:xfrm>
              <a:off x="752" y="1618"/>
              <a:ext cx="178" cy="29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7" name="Freeform 558"/>
            <p:cNvSpPr>
              <a:spLocks noChangeArrowheads="1"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8" name="Freeform 559"/>
            <p:cNvSpPr>
              <a:spLocks noChangeArrowheads="1"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69" name="Freeform 560"/>
            <p:cNvSpPr>
              <a:spLocks noChangeArrowheads="1"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0" name="Freeform 561"/>
            <p:cNvSpPr>
              <a:spLocks noChangeArrowheads="1"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1" name="Freeform 562"/>
            <p:cNvSpPr>
              <a:spLocks noChangeArrowheads="1"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2" name="Freeform 563"/>
            <p:cNvSpPr>
              <a:spLocks noChangeArrowheads="1"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3" name="Rectangle 564"/>
            <p:cNvSpPr>
              <a:spLocks noChangeArrowheads="1"/>
            </p:cNvSpPr>
            <p:nvPr/>
          </p:nvSpPr>
          <p:spPr bwMode="auto">
            <a:xfrm>
              <a:off x="752" y="1466"/>
              <a:ext cx="181" cy="140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4" name="Rectangle 565"/>
            <p:cNvSpPr>
              <a:spLocks noChangeArrowheads="1"/>
            </p:cNvSpPr>
            <p:nvPr/>
          </p:nvSpPr>
          <p:spPr bwMode="auto">
            <a:xfrm>
              <a:off x="768" y="1485"/>
              <a:ext cx="149" cy="10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5" name="Freeform 566"/>
            <p:cNvSpPr>
              <a:spLocks noChangeArrowheads="1"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6" name="Freeform 567"/>
            <p:cNvSpPr>
              <a:spLocks noChangeArrowheads="1"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7" name="Freeform 568"/>
            <p:cNvSpPr>
              <a:spLocks noChangeArrowheads="1"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8" name="Freeform 569"/>
            <p:cNvSpPr>
              <a:spLocks noChangeArrowheads="1"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79" name="Freeform 570"/>
            <p:cNvSpPr>
              <a:spLocks noChangeArrowheads="1"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0" name="Freeform 571"/>
            <p:cNvSpPr>
              <a:spLocks noChangeArrowheads="1"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1" name="Rectangle 572"/>
            <p:cNvSpPr>
              <a:spLocks noChangeArrowheads="1"/>
            </p:cNvSpPr>
            <p:nvPr/>
          </p:nvSpPr>
          <p:spPr bwMode="auto">
            <a:xfrm>
              <a:off x="717" y="1677"/>
              <a:ext cx="195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2" name="Rectangle 573"/>
            <p:cNvSpPr>
              <a:spLocks noChangeArrowheads="1"/>
            </p:cNvSpPr>
            <p:nvPr/>
          </p:nvSpPr>
          <p:spPr bwMode="auto">
            <a:xfrm>
              <a:off x="718" y="1678"/>
              <a:ext cx="193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3" name="Freeform 574"/>
            <p:cNvSpPr>
              <a:spLocks noChangeArrowheads="1"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4" name="Freeform 575"/>
            <p:cNvSpPr>
              <a:spLocks noChangeArrowheads="1"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5" name="Freeform 576"/>
            <p:cNvSpPr>
              <a:spLocks noChangeArrowheads="1"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6" name="Freeform 577"/>
            <p:cNvSpPr>
              <a:spLocks noChangeArrowheads="1"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7" name="Rectangle 578"/>
            <p:cNvSpPr>
              <a:spLocks noChangeArrowheads="1"/>
            </p:cNvSpPr>
            <p:nvPr/>
          </p:nvSpPr>
          <p:spPr bwMode="auto">
            <a:xfrm>
              <a:off x="950" y="1674"/>
              <a:ext cx="28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588" name="Rectangle 579"/>
            <p:cNvSpPr>
              <a:spLocks noChangeArrowheads="1"/>
            </p:cNvSpPr>
            <p:nvPr/>
          </p:nvSpPr>
          <p:spPr bwMode="auto">
            <a:xfrm>
              <a:off x="951" y="1675"/>
              <a:ext cx="26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</p:grpSp>
      <p:sp>
        <p:nvSpPr>
          <p:cNvPr id="2199589" name="Rectangle 580"/>
          <p:cNvSpPr>
            <a:spLocks noChangeArrowheads="1"/>
          </p:cNvSpPr>
          <p:nvPr/>
        </p:nvSpPr>
        <p:spPr bwMode="auto">
          <a:xfrm>
            <a:off x="4222750" y="2679700"/>
            <a:ext cx="2246313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选定的加密算法</a:t>
            </a:r>
            <a:endParaRPr lang="zh-CN" altLang="en-US" sz="2000" b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9590" name="Line 583"/>
          <p:cNvSpPr>
            <a:spLocks noChangeShapeType="1"/>
          </p:cNvSpPr>
          <p:nvPr/>
        </p:nvSpPr>
        <p:spPr bwMode="auto">
          <a:xfrm flipV="1">
            <a:off x="3421063" y="3430588"/>
            <a:ext cx="38703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591" name="Rectangle 581"/>
          <p:cNvSpPr>
            <a:spLocks noChangeArrowheads="1"/>
          </p:cNvSpPr>
          <p:nvPr/>
        </p:nvSpPr>
        <p:spPr bwMode="auto">
          <a:xfrm>
            <a:off x="4346575" y="3222625"/>
            <a:ext cx="2012950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 B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的数字证书  </a:t>
            </a:r>
            <a:endParaRPr lang="zh-CN" altLang="en-US" sz="2000" b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9592" name="Line 584"/>
          <p:cNvSpPr>
            <a:spLocks noChangeShapeType="1"/>
          </p:cNvSpPr>
          <p:nvPr/>
        </p:nvSpPr>
        <p:spPr bwMode="auto">
          <a:xfrm flipV="1">
            <a:off x="3411538" y="4090988"/>
            <a:ext cx="38703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593" name="Rectangle 585"/>
          <p:cNvSpPr>
            <a:spLocks noChangeArrowheads="1"/>
          </p:cNvSpPr>
          <p:nvPr/>
        </p:nvSpPr>
        <p:spPr bwMode="auto">
          <a:xfrm>
            <a:off x="3803650" y="3898900"/>
            <a:ext cx="3092450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用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的公钥加密的秘密数</a:t>
            </a:r>
            <a:endParaRPr lang="zh-CN" altLang="en-US" sz="2000" b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99594" name="Line 586"/>
          <p:cNvSpPr>
            <a:spLocks noChangeShapeType="1"/>
          </p:cNvSpPr>
          <p:nvPr/>
        </p:nvSpPr>
        <p:spPr bwMode="auto">
          <a:xfrm flipV="1">
            <a:off x="3413125" y="4773613"/>
            <a:ext cx="38703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595" name="Rectangle 587"/>
          <p:cNvSpPr>
            <a:spLocks noChangeArrowheads="1"/>
          </p:cNvSpPr>
          <p:nvPr/>
        </p:nvSpPr>
        <p:spPr bwMode="auto">
          <a:xfrm>
            <a:off x="4090988" y="4567238"/>
            <a:ext cx="2508250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会话密钥的产生完成</a:t>
            </a:r>
          </a:p>
        </p:txBody>
      </p:sp>
      <p:sp>
        <p:nvSpPr>
          <p:cNvPr id="2199596" name="AutoShape 588"/>
          <p:cNvSpPr>
            <a:spLocks noChangeArrowheads="1"/>
          </p:cNvSpPr>
          <p:nvPr/>
        </p:nvSpPr>
        <p:spPr bwMode="auto">
          <a:xfrm>
            <a:off x="3435350" y="5138738"/>
            <a:ext cx="3843338" cy="569912"/>
          </a:xfrm>
          <a:prstGeom prst="leftRightArrow">
            <a:avLst>
              <a:gd name="adj1" fmla="val 61676"/>
              <a:gd name="adj2" fmla="val 18327"/>
            </a:avLst>
          </a:prstGeom>
          <a:solidFill>
            <a:srgbClr val="66FF66"/>
          </a:soli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数据传输（用会话密钥加密）</a:t>
            </a:r>
          </a:p>
        </p:txBody>
      </p:sp>
      <p:sp>
        <p:nvSpPr>
          <p:cNvPr id="2199597" name="Text Box 589"/>
          <p:cNvSpPr txBox="1">
            <a:spLocks noChangeArrowheads="1"/>
          </p:cNvSpPr>
          <p:nvPr/>
        </p:nvSpPr>
        <p:spPr bwMode="auto">
          <a:xfrm>
            <a:off x="884238" y="2276475"/>
            <a:ext cx="1766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b="1">
              <a:ea typeface="黑体" panose="02010609060101010101" pitchFamily="49" charset="-122"/>
            </a:endParaRPr>
          </a:p>
        </p:txBody>
      </p:sp>
      <p:sp>
        <p:nvSpPr>
          <p:cNvPr id="2199598" name="Text Box 590"/>
          <p:cNvSpPr txBox="1">
            <a:spLocks noChangeArrowheads="1"/>
          </p:cNvSpPr>
          <p:nvPr/>
        </p:nvSpPr>
        <p:spPr bwMode="auto">
          <a:xfrm>
            <a:off x="947738" y="2393950"/>
            <a:ext cx="2301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000" b="1">
                <a:ea typeface="黑体" panose="02010609060101010101" pitchFamily="49" charset="-122"/>
              </a:rPr>
              <a:t>协商加密算法</a:t>
            </a:r>
          </a:p>
        </p:txBody>
      </p:sp>
      <p:sp>
        <p:nvSpPr>
          <p:cNvPr id="2199599" name="Text Box 591"/>
          <p:cNvSpPr txBox="1">
            <a:spLocks noChangeArrowheads="1"/>
          </p:cNvSpPr>
          <p:nvPr/>
        </p:nvSpPr>
        <p:spPr bwMode="auto">
          <a:xfrm>
            <a:off x="406400" y="3068638"/>
            <a:ext cx="2962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用 </a:t>
            </a:r>
            <a:r>
              <a:rPr lang="en-US" altLang="zh-CN" sz="2000" b="1">
                <a:ea typeface="黑体" panose="02010609060101010101" pitchFamily="49" charset="-122"/>
              </a:rPr>
              <a:t>CA </a:t>
            </a:r>
            <a:r>
              <a:rPr lang="zh-CN" altLang="en-US" sz="2000" b="1">
                <a:ea typeface="黑体" panose="02010609060101010101" pitchFamily="49" charset="-122"/>
              </a:rPr>
              <a:t>发布的公钥</a:t>
            </a:r>
          </a:p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鉴别 </a:t>
            </a:r>
            <a:r>
              <a:rPr lang="en-US" altLang="zh-CN" sz="2000" b="1">
                <a:ea typeface="黑体" panose="02010609060101010101" pitchFamily="49" charset="-122"/>
              </a:rPr>
              <a:t>B </a:t>
            </a:r>
            <a:r>
              <a:rPr lang="zh-CN" altLang="en-US" sz="2000" b="1">
                <a:ea typeface="黑体" panose="02010609060101010101" pitchFamily="49" charset="-122"/>
              </a:rPr>
              <a:t>的证书</a:t>
            </a:r>
          </a:p>
        </p:txBody>
      </p:sp>
      <p:sp>
        <p:nvSpPr>
          <p:cNvPr id="2199600" name="Text Box 592"/>
          <p:cNvSpPr txBox="1">
            <a:spLocks noChangeArrowheads="1"/>
          </p:cNvSpPr>
          <p:nvPr/>
        </p:nvSpPr>
        <p:spPr bwMode="auto">
          <a:xfrm>
            <a:off x="558800" y="3781425"/>
            <a:ext cx="28098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产生秘密数</a:t>
            </a:r>
          </a:p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用秘密数产生</a:t>
            </a:r>
          </a:p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会话密钥</a:t>
            </a:r>
          </a:p>
        </p:txBody>
      </p:sp>
      <p:sp>
        <p:nvSpPr>
          <p:cNvPr id="2199601" name="Text Box 593"/>
          <p:cNvSpPr txBox="1">
            <a:spLocks noChangeArrowheads="1"/>
          </p:cNvSpPr>
          <p:nvPr/>
        </p:nvSpPr>
        <p:spPr bwMode="auto">
          <a:xfrm>
            <a:off x="7399338" y="4376738"/>
            <a:ext cx="2017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用秘密数</a:t>
            </a:r>
          </a:p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产生会话密钥</a:t>
            </a:r>
          </a:p>
        </p:txBody>
      </p:sp>
      <p:sp>
        <p:nvSpPr>
          <p:cNvPr id="2199602" name="Text Box 594"/>
          <p:cNvSpPr txBox="1">
            <a:spLocks noChangeArrowheads="1"/>
          </p:cNvSpPr>
          <p:nvPr/>
        </p:nvSpPr>
        <p:spPr bwMode="auto">
          <a:xfrm>
            <a:off x="7426325" y="2419350"/>
            <a:ext cx="1919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ea typeface="黑体" panose="02010609060101010101" pitchFamily="49" charset="-122"/>
              </a:rPr>
              <a:t>协商加密算法</a:t>
            </a:r>
          </a:p>
        </p:txBody>
      </p:sp>
      <p:grpSp>
        <p:nvGrpSpPr>
          <p:cNvPr id="2199603" name="Group 596"/>
          <p:cNvGrpSpPr>
            <a:grpSpLocks/>
          </p:cNvGrpSpPr>
          <p:nvPr/>
        </p:nvGrpSpPr>
        <p:grpSpPr bwMode="auto">
          <a:xfrm>
            <a:off x="3409950" y="2119313"/>
            <a:ext cx="4181475" cy="4141787"/>
            <a:chOff x="1691" y="1266"/>
            <a:chExt cx="2308" cy="2043"/>
          </a:xfrm>
        </p:grpSpPr>
        <p:sp>
          <p:nvSpPr>
            <p:cNvPr id="2199604" name="Line 512"/>
            <p:cNvSpPr>
              <a:spLocks noChangeShapeType="1"/>
            </p:cNvSpPr>
            <p:nvPr/>
          </p:nvSpPr>
          <p:spPr bwMode="auto">
            <a:xfrm rot="16200000" flipH="1">
              <a:off x="744" y="2228"/>
              <a:ext cx="1895" cy="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605" name="Line 513"/>
            <p:cNvSpPr>
              <a:spLocks noChangeShapeType="1"/>
            </p:cNvSpPr>
            <p:nvPr/>
          </p:nvSpPr>
          <p:spPr bwMode="auto">
            <a:xfrm rot="16200000" flipH="1">
              <a:off x="2876" y="2224"/>
              <a:ext cx="191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ea typeface="黑体" panose="02010609060101010101" pitchFamily="49" charset="-122"/>
              </a:endParaRPr>
            </a:p>
          </p:txBody>
        </p:sp>
        <p:sp>
          <p:nvSpPr>
            <p:cNvPr id="2199606" name="Text Box 530"/>
            <p:cNvSpPr txBox="1">
              <a:spLocks noChangeArrowheads="1"/>
            </p:cNvSpPr>
            <p:nvPr/>
          </p:nvSpPr>
          <p:spPr bwMode="auto">
            <a:xfrm>
              <a:off x="1711" y="3106"/>
              <a:ext cx="14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  <a:endParaRPr lang="en-US" altLang="zh-CN" sz="2000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199607" name="Text Box 595"/>
            <p:cNvSpPr txBox="1">
              <a:spLocks noChangeArrowheads="1"/>
            </p:cNvSpPr>
            <p:nvPr/>
          </p:nvSpPr>
          <p:spPr bwMode="auto">
            <a:xfrm>
              <a:off x="3850" y="3112"/>
              <a:ext cx="14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  <a:endParaRPr lang="en-US" altLang="zh-CN" sz="2000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199608" name="Text Box 597"/>
          <p:cNvSpPr txBox="1">
            <a:spLocks noChangeArrowheads="1"/>
          </p:cNvSpPr>
          <p:nvPr/>
        </p:nvSpPr>
        <p:spPr bwMode="auto">
          <a:xfrm>
            <a:off x="3074988" y="106045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ea typeface="黑体" panose="02010609060101010101" pitchFamily="49" charset="-122"/>
              </a:rPr>
              <a:t>顾客</a:t>
            </a:r>
          </a:p>
        </p:txBody>
      </p:sp>
      <p:sp>
        <p:nvSpPr>
          <p:cNvPr id="2199609" name="TextBox 57"/>
          <p:cNvSpPr txBox="1">
            <a:spLocks noChangeArrowheads="1"/>
          </p:cNvSpPr>
          <p:nvPr/>
        </p:nvSpPr>
        <p:spPr bwMode="auto">
          <a:xfrm>
            <a:off x="3413125" y="1958975"/>
            <a:ext cx="676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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0" name="TextBox 58"/>
          <p:cNvSpPr txBox="1">
            <a:spLocks noChangeArrowheads="1"/>
          </p:cNvSpPr>
          <p:nvPr/>
        </p:nvSpPr>
        <p:spPr bwMode="auto">
          <a:xfrm>
            <a:off x="6869113" y="2511425"/>
            <a:ext cx="45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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1" name="TextBox 59"/>
          <p:cNvSpPr txBox="1">
            <a:spLocks noChangeArrowheads="1"/>
          </p:cNvSpPr>
          <p:nvPr/>
        </p:nvSpPr>
        <p:spPr bwMode="auto">
          <a:xfrm>
            <a:off x="415925" y="3040063"/>
            <a:ext cx="676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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2" name="TextBox 60"/>
          <p:cNvSpPr txBox="1">
            <a:spLocks noChangeArrowheads="1"/>
          </p:cNvSpPr>
          <p:nvPr/>
        </p:nvSpPr>
        <p:spPr bwMode="auto">
          <a:xfrm>
            <a:off x="6859588" y="3054350"/>
            <a:ext cx="45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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3" name="TextBox 61"/>
          <p:cNvSpPr txBox="1">
            <a:spLocks noChangeArrowheads="1"/>
          </p:cNvSpPr>
          <p:nvPr/>
        </p:nvSpPr>
        <p:spPr bwMode="auto">
          <a:xfrm>
            <a:off x="6850063" y="4365625"/>
            <a:ext cx="458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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4" name="TextBox 62"/>
          <p:cNvSpPr txBox="1">
            <a:spLocks noChangeArrowheads="1"/>
          </p:cNvSpPr>
          <p:nvPr/>
        </p:nvSpPr>
        <p:spPr bwMode="auto">
          <a:xfrm>
            <a:off x="3368675" y="3692525"/>
            <a:ext cx="676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5" name="TextBox 61"/>
          <p:cNvSpPr txBox="1">
            <a:spLocks noChangeArrowheads="1"/>
          </p:cNvSpPr>
          <p:nvPr/>
        </p:nvSpPr>
        <p:spPr bwMode="auto">
          <a:xfrm>
            <a:off x="5181600" y="4941888"/>
            <a:ext cx="458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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19961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70642A-DDCC-4315-A160-ABD1B32E6D40}" type="slidenum">
              <a:rPr lang="zh-CN" altLang="en-US" smtClean="0"/>
              <a:pPr eaLnBrk="1" hangingPunct="1"/>
              <a:t>41</a:t>
            </a:fld>
            <a:endParaRPr lang="en-US" altLang="zh-CN" smtClean="0"/>
          </a:p>
        </p:txBody>
      </p:sp>
      <p:sp>
        <p:nvSpPr>
          <p:cNvPr id="2199617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01" name="Rectangle 4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SSL </a:t>
            </a:r>
            <a:r>
              <a:rPr lang="zh-CN" altLang="en-US" smtClean="0">
                <a:ea typeface="黑体" panose="02010609060101010101" pitchFamily="49" charset="-122"/>
              </a:rPr>
              <a:t>安全会话建立过程</a:t>
            </a:r>
          </a:p>
        </p:txBody>
      </p:sp>
      <p:sp>
        <p:nvSpPr>
          <p:cNvPr id="2201602" name="内容占位符 1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(1) 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协商加密算法。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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浏览器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向服务器</a:t>
            </a:r>
            <a:r>
              <a:rPr lang="en-US" altLang="zh-CN" sz="2400" smtClean="0">
                <a:ea typeface="黑体" panose="02010609060101010101" pitchFamily="49" charset="-122"/>
              </a:rPr>
              <a:t> B </a:t>
            </a:r>
            <a:r>
              <a:rPr lang="zh-CN" altLang="zh-CN" sz="2400" smtClean="0">
                <a:ea typeface="黑体" panose="02010609060101010101" pitchFamily="49" charset="-122"/>
              </a:rPr>
              <a:t>发送浏览器的</a:t>
            </a:r>
            <a:r>
              <a:rPr lang="en-US" altLang="zh-CN" sz="2400" smtClean="0">
                <a:ea typeface="黑体" panose="02010609060101010101" pitchFamily="49" charset="-122"/>
              </a:rPr>
              <a:t> SSL </a:t>
            </a:r>
            <a:r>
              <a:rPr lang="zh-CN" altLang="zh-CN" sz="2400" smtClean="0">
                <a:ea typeface="黑体" panose="02010609060101010101" pitchFamily="49" charset="-122"/>
              </a:rPr>
              <a:t>版本号和一些可选的加密算法。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</a:t>
            </a:r>
            <a:r>
              <a:rPr lang="en-US" altLang="zh-CN" sz="2400" smtClean="0">
                <a:ea typeface="黑体" panose="02010609060101010101" pitchFamily="49" charset="-122"/>
              </a:rPr>
              <a:t>  B </a:t>
            </a:r>
            <a:r>
              <a:rPr lang="zh-CN" altLang="zh-CN" sz="2400" smtClean="0">
                <a:ea typeface="黑体" panose="02010609060101010101" pitchFamily="49" charset="-122"/>
              </a:rPr>
              <a:t>从中选定自己所支持的算法（如</a:t>
            </a:r>
            <a:r>
              <a:rPr lang="en-US" altLang="zh-CN" sz="2400" smtClean="0">
                <a:ea typeface="黑体" panose="02010609060101010101" pitchFamily="49" charset="-122"/>
              </a:rPr>
              <a:t>RSA</a:t>
            </a:r>
            <a:r>
              <a:rPr lang="zh-CN" altLang="zh-CN" sz="2400" smtClean="0">
                <a:ea typeface="黑体" panose="02010609060101010101" pitchFamily="49" charset="-122"/>
              </a:rPr>
              <a:t>），并告知</a:t>
            </a:r>
            <a:r>
              <a:rPr lang="en-US" altLang="zh-CN" sz="2400" smtClean="0">
                <a:ea typeface="黑体" panose="02010609060101010101" pitchFamily="49" charset="-122"/>
              </a:rPr>
              <a:t> A</a:t>
            </a:r>
            <a:r>
              <a:rPr lang="zh-CN" altLang="zh-CN" sz="24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(2) 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服务器鉴别。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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服务器</a:t>
            </a:r>
            <a:r>
              <a:rPr lang="en-US" altLang="zh-CN" sz="2400" smtClean="0">
                <a:ea typeface="黑体" panose="02010609060101010101" pitchFamily="49" charset="-122"/>
              </a:rPr>
              <a:t> B </a:t>
            </a:r>
            <a:r>
              <a:rPr lang="zh-CN" altLang="zh-CN" sz="2400" smtClean="0">
                <a:ea typeface="黑体" panose="02010609060101010101" pitchFamily="49" charset="-122"/>
              </a:rPr>
              <a:t>向浏览器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发送包含其</a:t>
            </a:r>
            <a:r>
              <a:rPr lang="en-US" altLang="zh-CN" sz="2400" smtClean="0">
                <a:ea typeface="黑体" panose="02010609060101010101" pitchFamily="49" charset="-122"/>
              </a:rPr>
              <a:t> RSA </a:t>
            </a:r>
            <a:r>
              <a:rPr lang="zh-CN" altLang="zh-CN" sz="2400" smtClean="0">
                <a:ea typeface="黑体" panose="02010609060101010101" pitchFamily="49" charset="-122"/>
              </a:rPr>
              <a:t>公钥的数字证书。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</a:t>
            </a:r>
            <a:r>
              <a:rPr lang="en-US" altLang="zh-CN" sz="2400" smtClean="0">
                <a:ea typeface="黑体" panose="02010609060101010101" pitchFamily="49" charset="-122"/>
              </a:rPr>
              <a:t>  A </a:t>
            </a:r>
            <a:r>
              <a:rPr lang="zh-CN" altLang="zh-CN" sz="2400" smtClean="0">
                <a:ea typeface="黑体" panose="02010609060101010101" pitchFamily="49" charset="-122"/>
              </a:rPr>
              <a:t>使用该证书的认证机构</a:t>
            </a:r>
            <a:r>
              <a:rPr lang="en-US" altLang="zh-CN" sz="2400" smtClean="0">
                <a:ea typeface="黑体" panose="02010609060101010101" pitchFamily="49" charset="-122"/>
              </a:rPr>
              <a:t> CA </a:t>
            </a:r>
            <a:r>
              <a:rPr lang="zh-CN" altLang="zh-CN" sz="2400" smtClean="0">
                <a:ea typeface="黑体" panose="02010609060101010101" pitchFamily="49" charset="-122"/>
              </a:rPr>
              <a:t>的公开发布的</a:t>
            </a:r>
            <a:r>
              <a:rPr lang="en-US" altLang="zh-CN" sz="2400" smtClean="0">
                <a:ea typeface="黑体" panose="02010609060101010101" pitchFamily="49" charset="-122"/>
              </a:rPr>
              <a:t>RSA</a:t>
            </a:r>
            <a:r>
              <a:rPr lang="zh-CN" altLang="zh-CN" sz="2400" smtClean="0">
                <a:ea typeface="黑体" panose="02010609060101010101" pitchFamily="49" charset="-122"/>
              </a:rPr>
              <a:t>公钥对该证书进行验证。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(3) 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会话密钥计算。</a:t>
            </a:r>
            <a:r>
              <a:rPr lang="zh-CN" altLang="zh-CN" sz="2400" smtClean="0">
                <a:ea typeface="黑体" panose="02010609060101010101" pitchFamily="49" charset="-122"/>
              </a:rPr>
              <a:t>由浏览器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随机产生一个秘密数。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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用服务器</a:t>
            </a:r>
            <a:r>
              <a:rPr lang="en-US" altLang="zh-CN" sz="2400" smtClean="0">
                <a:ea typeface="黑体" panose="02010609060101010101" pitchFamily="49" charset="-122"/>
              </a:rPr>
              <a:t> B </a:t>
            </a:r>
            <a:r>
              <a:rPr lang="zh-CN" altLang="zh-CN" sz="2400" smtClean="0">
                <a:ea typeface="黑体" panose="02010609060101010101" pitchFamily="49" charset="-122"/>
              </a:rPr>
              <a:t>的</a:t>
            </a:r>
            <a:r>
              <a:rPr lang="en-US" altLang="zh-CN" sz="2400" smtClean="0">
                <a:ea typeface="黑体" panose="02010609060101010101" pitchFamily="49" charset="-122"/>
              </a:rPr>
              <a:t> RSA </a:t>
            </a:r>
            <a:r>
              <a:rPr lang="zh-CN" altLang="zh-CN" sz="2400" smtClean="0">
                <a:ea typeface="黑体" panose="02010609060101010101" pitchFamily="49" charset="-122"/>
              </a:rPr>
              <a:t>公钥进行加密后发送给</a:t>
            </a:r>
            <a:r>
              <a:rPr lang="en-US" altLang="zh-CN" sz="2400" smtClean="0">
                <a:ea typeface="黑体" panose="02010609060101010101" pitchFamily="49" charset="-122"/>
              </a:rPr>
              <a:t> B</a:t>
            </a:r>
            <a:r>
              <a:rPr lang="zh-CN" altLang="zh-CN" sz="2400" smtClean="0">
                <a:ea typeface="黑体" panose="02010609060101010101" pitchFamily="49" charset="-122"/>
              </a:rPr>
              <a:t>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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双方根据协商的算法产生共享的对称会话密钥。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(4) 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安全数据传输。</a:t>
            </a:r>
            <a:r>
              <a:rPr lang="en-US" altLang="zh-CN" sz="2400" smtClean="0">
                <a:ea typeface="黑体" panose="02010609060101010101" pitchFamily="49" charset="-122"/>
                <a:sym typeface="Wingdings" panose="05000000000000000000" pitchFamily="2" charset="2"/>
              </a:rPr>
              <a:t>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zh-CN" altLang="zh-CN" sz="2400" smtClean="0">
                <a:ea typeface="黑体" panose="02010609060101010101" pitchFamily="49" charset="-122"/>
              </a:rPr>
              <a:t>双方用会话密钥加密和解密它们之间传送的数据并验证其完整性。</a:t>
            </a:r>
          </a:p>
          <a:p>
            <a:endParaRPr lang="zh-CN" altLang="en-US" sz="2400" smtClean="0">
              <a:ea typeface="黑体" panose="02010609060101010101" pitchFamily="49" charset="-122"/>
            </a:endParaRPr>
          </a:p>
        </p:txBody>
      </p:sp>
      <p:sp>
        <p:nvSpPr>
          <p:cNvPr id="220160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CCED29-D0CF-4086-B638-5EC251D65DB4}" type="slidenum">
              <a:rPr lang="zh-CN" altLang="en-US" smtClean="0"/>
              <a:pPr eaLnBrk="1" hangingPunct="1"/>
              <a:t>42</a:t>
            </a:fld>
            <a:endParaRPr lang="en-US" altLang="zh-CN" smtClean="0"/>
          </a:p>
        </p:txBody>
      </p:sp>
      <p:sp>
        <p:nvSpPr>
          <p:cNvPr id="2201604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7.6.3  </a:t>
            </a:r>
            <a:r>
              <a:rPr lang="zh-CN" altLang="en-US" smtClean="0">
                <a:ea typeface="黑体" panose="02010609060101010101" pitchFamily="49" charset="-122"/>
              </a:rPr>
              <a:t>应用层的安全协议 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22036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本</a:t>
            </a:r>
            <a:r>
              <a:rPr lang="zh-CN" altLang="zh-CN" dirty="0" smtClean="0">
                <a:ea typeface="黑体" panose="02010609060101010101" pitchFamily="49" charset="-122"/>
              </a:rPr>
              <a:t>节仅讨论应用层中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有关电子邮件的安全协议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发送电子邮件是个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即时的行为</a:t>
            </a:r>
            <a:r>
              <a:rPr lang="zh-CN" altLang="zh-CN" dirty="0" smtClean="0">
                <a:ea typeface="黑体" panose="02010609060101010101" pitchFamily="49" charset="-122"/>
              </a:rPr>
              <a:t>。</a:t>
            </a:r>
            <a:r>
              <a:rPr lang="zh-CN" altLang="en-US" dirty="0" smtClean="0">
                <a:ea typeface="黑体" panose="02010609060101010101" pitchFamily="49" charset="-122"/>
              </a:rPr>
              <a:t>发送方 </a:t>
            </a:r>
            <a:r>
              <a:rPr lang="en-US" altLang="zh-CN" dirty="0" smtClean="0">
                <a:ea typeface="黑体" panose="02010609060101010101" pitchFamily="49" charset="-122"/>
              </a:rPr>
              <a:t>A </a:t>
            </a:r>
            <a:r>
              <a:rPr lang="zh-CN" altLang="zh-CN" dirty="0" smtClean="0">
                <a:ea typeface="黑体" panose="02010609060101010101" pitchFamily="49" charset="-122"/>
              </a:rPr>
              <a:t>和</a:t>
            </a:r>
            <a:r>
              <a:rPr lang="zh-CN" altLang="en-US" dirty="0" smtClean="0">
                <a:ea typeface="黑体" panose="02010609060101010101" pitchFamily="49" charset="-122"/>
              </a:rPr>
              <a:t>接收方 </a:t>
            </a:r>
            <a:r>
              <a:rPr lang="en-US" altLang="zh-CN" dirty="0" smtClean="0">
                <a:ea typeface="黑体" panose="02010609060101010101" pitchFamily="49" charset="-122"/>
              </a:rPr>
              <a:t>B </a:t>
            </a:r>
            <a:r>
              <a:rPr lang="zh-CN" altLang="zh-CN" dirty="0" smtClean="0">
                <a:ea typeface="黑体" panose="02010609060101010101" pitchFamily="49" charset="-122"/>
              </a:rPr>
              <a:t>并不会为此而建立任何会话。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电子邮件安全协议就应当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为每种加密操作定义相应的算法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，以及密钥管理、鉴别、完整性保护等方法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2036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51E738-11C9-4A01-8CFB-98B6E63ABE62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22036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6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PGP (Pretty Good Privacy)</a:t>
            </a:r>
          </a:p>
        </p:txBody>
      </p:sp>
      <p:sp>
        <p:nvSpPr>
          <p:cNvPr id="66662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PGP (Pretty Good Privacy) 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是一个完整的电子邮件安全软件包</a:t>
            </a:r>
            <a:r>
              <a:rPr lang="zh-CN" altLang="en-US" dirty="0" smtClean="0">
                <a:ea typeface="黑体" panose="02010609060101010101" pitchFamily="49" charset="-122"/>
              </a:rPr>
              <a:t>，包括加密、鉴别、电子签名和压缩等技术。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PGP </a:t>
            </a:r>
            <a:r>
              <a:rPr lang="zh-CN" altLang="en-US" dirty="0" smtClean="0">
                <a:ea typeface="黑体" panose="02010609060101010101" pitchFamily="49" charset="-122"/>
              </a:rPr>
              <a:t>并没有使用什么新的概念，它只是将现有的一些算法如 </a:t>
            </a:r>
            <a:r>
              <a:rPr lang="en-US" altLang="zh-CN" dirty="0" smtClean="0">
                <a:ea typeface="黑体" panose="02010609060101010101" pitchFamily="49" charset="-122"/>
              </a:rPr>
              <a:t>MD5</a:t>
            </a:r>
            <a:r>
              <a:rPr lang="zh-CN" altLang="en-US" dirty="0" smtClean="0">
                <a:ea typeface="黑体" panose="02010609060101010101" pitchFamily="49" charset="-122"/>
              </a:rPr>
              <a:t>，</a:t>
            </a:r>
            <a:r>
              <a:rPr lang="en-US" altLang="zh-CN" dirty="0" smtClean="0">
                <a:ea typeface="黑体" panose="02010609060101010101" pitchFamily="49" charset="-122"/>
              </a:rPr>
              <a:t>RSA</a:t>
            </a:r>
            <a:r>
              <a:rPr lang="zh-CN" altLang="en-US" dirty="0" smtClean="0">
                <a:ea typeface="黑体" panose="02010609060101010101" pitchFamily="49" charset="-122"/>
              </a:rPr>
              <a:t>，以及 </a:t>
            </a:r>
            <a:r>
              <a:rPr lang="en-US" altLang="zh-CN" dirty="0" smtClean="0">
                <a:ea typeface="黑体" panose="02010609060101010101" pitchFamily="49" charset="-122"/>
              </a:rPr>
              <a:t>IDEA </a:t>
            </a:r>
            <a:r>
              <a:rPr lang="zh-CN" altLang="en-US" dirty="0" smtClean="0">
                <a:ea typeface="黑体" panose="02010609060101010101" pitchFamily="49" charset="-122"/>
              </a:rPr>
              <a:t>等综合在一起而已。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虽然 </a:t>
            </a:r>
            <a:r>
              <a:rPr lang="en-US" altLang="zh-CN" dirty="0" smtClean="0">
                <a:ea typeface="黑体" panose="02010609060101010101" pitchFamily="49" charset="-122"/>
              </a:rPr>
              <a:t>PGP </a:t>
            </a:r>
            <a:r>
              <a:rPr lang="zh-CN" altLang="en-US" dirty="0" smtClean="0">
                <a:ea typeface="黑体" panose="02010609060101010101" pitchFamily="49" charset="-122"/>
              </a:rPr>
              <a:t>已被广泛使用，但 </a:t>
            </a:r>
            <a:r>
              <a:rPr lang="en-US" altLang="zh-CN" dirty="0" smtClean="0">
                <a:ea typeface="黑体" panose="02010609060101010101" pitchFamily="49" charset="-122"/>
              </a:rPr>
              <a:t>PGP </a:t>
            </a:r>
            <a:r>
              <a:rPr lang="zh-CN" altLang="en-US" dirty="0" smtClean="0">
                <a:ea typeface="黑体" panose="02010609060101010101" pitchFamily="49" charset="-122"/>
              </a:rPr>
              <a:t>并不是互联网的正式标准。</a:t>
            </a:r>
            <a:r>
              <a:rPr lang="zh-CN" altLang="en-US" sz="3600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2056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803383-2812-48C9-A2D5-42A873C787B7}" type="slidenum">
              <a:rPr lang="zh-CN" altLang="en-US" smtClean="0"/>
              <a:pPr eaLnBrk="1" hangingPunct="1"/>
              <a:t>44</a:t>
            </a:fld>
            <a:endParaRPr lang="en-US" altLang="zh-CN" smtClean="0"/>
          </a:p>
        </p:txBody>
      </p:sp>
      <p:sp>
        <p:nvSpPr>
          <p:cNvPr id="22057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PGP </a:t>
            </a:r>
            <a:r>
              <a:rPr lang="zh-CN" altLang="en-US" smtClean="0">
                <a:ea typeface="黑体" panose="02010609060101010101" pitchFamily="49" charset="-122"/>
              </a:rPr>
              <a:t>工作原理</a:t>
            </a:r>
          </a:p>
        </p:txBody>
      </p:sp>
      <p:sp>
        <p:nvSpPr>
          <p:cNvPr id="2207746" name="Text Box 55"/>
          <p:cNvSpPr txBox="1">
            <a:spLocks noChangeArrowheads="1"/>
          </p:cNvSpPr>
          <p:nvPr/>
        </p:nvSpPr>
        <p:spPr bwMode="auto">
          <a:xfrm>
            <a:off x="415925" y="1724025"/>
            <a:ext cx="9345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zh-CN" altLang="zh-CN" sz="2400" b="1">
                <a:ea typeface="黑体" panose="02010609060101010101" pitchFamily="49" charset="-122"/>
              </a:rPr>
              <a:t>假定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向</a:t>
            </a:r>
            <a:r>
              <a:rPr lang="en-US" altLang="zh-CN" sz="2400" b="1">
                <a:ea typeface="黑体" panose="02010609060101010101" pitchFamily="49" charset="-122"/>
              </a:rPr>
              <a:t> B </a:t>
            </a:r>
            <a:r>
              <a:rPr lang="zh-CN" altLang="zh-CN" sz="2400" b="1">
                <a:ea typeface="黑体" panose="02010609060101010101" pitchFamily="49" charset="-122"/>
              </a:rPr>
              <a:t>发送电子邮件明文</a:t>
            </a:r>
            <a:r>
              <a:rPr lang="en-US" altLang="zh-CN" sz="2400" b="1">
                <a:ea typeface="黑体" panose="02010609060101010101" pitchFamily="49" charset="-122"/>
              </a:rPr>
              <a:t> X</a:t>
            </a:r>
            <a:r>
              <a:rPr lang="zh-CN" altLang="zh-CN" sz="2400" b="1">
                <a:ea typeface="黑体" panose="02010609060101010101" pitchFamily="49" charset="-122"/>
              </a:rPr>
              <a:t>，</a:t>
            </a:r>
            <a:r>
              <a:rPr lang="zh-CN" altLang="en-US" sz="2400" b="1">
                <a:ea typeface="黑体" panose="02010609060101010101" pitchFamily="49" charset="-122"/>
              </a:rPr>
              <a:t>使用 </a:t>
            </a:r>
            <a:r>
              <a:rPr lang="en-US" altLang="zh-CN" sz="2400" b="1">
                <a:ea typeface="黑体" panose="02010609060101010101" pitchFamily="49" charset="-122"/>
              </a:rPr>
              <a:t>PGP </a:t>
            </a:r>
            <a:r>
              <a:rPr lang="zh-CN" altLang="zh-CN" sz="2400" b="1">
                <a:ea typeface="黑体" panose="02010609060101010101" pitchFamily="49" charset="-122"/>
              </a:rPr>
              <a:t>进行加密。</a:t>
            </a:r>
            <a:endParaRPr lang="en-US" altLang="zh-CN" sz="24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A </a:t>
            </a:r>
            <a:r>
              <a:rPr lang="zh-CN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有三个密钥：</a:t>
            </a:r>
            <a:r>
              <a:rPr lang="en-US" altLang="zh-CN" sz="2400" b="1">
                <a:ea typeface="黑体" panose="02010609060101010101" pitchFamily="49" charset="-122"/>
              </a:rPr>
              <a:t>A </a:t>
            </a:r>
            <a:r>
              <a:rPr lang="zh-CN" altLang="zh-CN" sz="2400" b="1">
                <a:ea typeface="黑体" panose="02010609060101010101" pitchFamily="49" charset="-122"/>
              </a:rPr>
              <a:t>的私钥、</a:t>
            </a:r>
            <a:r>
              <a:rPr lang="en-US" altLang="zh-CN" sz="2400" b="1">
                <a:ea typeface="黑体" panose="02010609060101010101" pitchFamily="49" charset="-122"/>
              </a:rPr>
              <a:t>B </a:t>
            </a:r>
            <a:r>
              <a:rPr lang="zh-CN" altLang="zh-CN" sz="2400" b="1">
                <a:ea typeface="黑体" panose="02010609060101010101" pitchFamily="49" charset="-122"/>
              </a:rPr>
              <a:t>的公钥和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生成的一次性密钥。</a:t>
            </a:r>
            <a:endParaRPr lang="en-US" altLang="zh-CN" sz="24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B </a:t>
            </a:r>
            <a:r>
              <a:rPr lang="zh-CN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有两个密钥：</a:t>
            </a:r>
            <a:r>
              <a:rPr lang="en-US" altLang="zh-CN" sz="2400" b="1">
                <a:ea typeface="黑体" panose="02010609060101010101" pitchFamily="49" charset="-122"/>
              </a:rPr>
              <a:t>B </a:t>
            </a:r>
            <a:r>
              <a:rPr lang="zh-CN" altLang="zh-CN" sz="2400" b="1">
                <a:ea typeface="黑体" panose="02010609060101010101" pitchFamily="49" charset="-122"/>
              </a:rPr>
              <a:t>的私钥和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的公钥。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207747" name="矩形 2"/>
          <p:cNvSpPr>
            <a:spLocks noChangeArrowheads="1"/>
          </p:cNvSpPr>
          <p:nvPr/>
        </p:nvSpPr>
        <p:spPr bwMode="auto">
          <a:xfrm>
            <a:off x="415925" y="1125538"/>
            <a:ext cx="9345613" cy="522287"/>
          </a:xfrm>
          <a:prstGeom prst="rect">
            <a:avLst/>
          </a:prstGeom>
          <a:solidFill>
            <a:srgbClr val="FFFF66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/>
            <a:r>
              <a:rPr lang="en-US" altLang="zh-CN" sz="2800" b="1" dirty="0">
                <a:solidFill>
                  <a:srgbClr val="000066"/>
                </a:solidFill>
                <a:ea typeface="黑体" panose="02010609060101010101" pitchFamily="49" charset="-122"/>
              </a:rPr>
              <a:t>PGP </a:t>
            </a:r>
            <a:r>
              <a:rPr lang="zh-CN" altLang="zh-CN" sz="2800" b="1" dirty="0">
                <a:solidFill>
                  <a:srgbClr val="000066"/>
                </a:solidFill>
                <a:ea typeface="黑体" panose="02010609060101010101" pitchFamily="49" charset="-122"/>
              </a:rPr>
              <a:t>提供电子邮件的安全性、发送方鉴别和报文完整性。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207748" name="Line 5"/>
          <p:cNvSpPr>
            <a:spLocks noChangeShapeType="1"/>
          </p:cNvSpPr>
          <p:nvPr/>
        </p:nvSpPr>
        <p:spPr bwMode="auto">
          <a:xfrm>
            <a:off x="6702425" y="4752975"/>
            <a:ext cx="5032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49" name="Line 6"/>
          <p:cNvSpPr>
            <a:spLocks noChangeShapeType="1"/>
          </p:cNvSpPr>
          <p:nvPr/>
        </p:nvSpPr>
        <p:spPr bwMode="auto">
          <a:xfrm>
            <a:off x="1497013" y="5343525"/>
            <a:ext cx="4365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0" name="Text Box 7"/>
          <p:cNvSpPr txBox="1">
            <a:spLocks noChangeArrowheads="1"/>
          </p:cNvSpPr>
          <p:nvPr/>
        </p:nvSpPr>
        <p:spPr bwMode="auto">
          <a:xfrm>
            <a:off x="1712913" y="5865813"/>
            <a:ext cx="1204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的私钥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1" name="Rectangle 8"/>
          <p:cNvSpPr>
            <a:spLocks noChangeArrowheads="1"/>
          </p:cNvSpPr>
          <p:nvPr/>
        </p:nvSpPr>
        <p:spPr bwMode="auto">
          <a:xfrm>
            <a:off x="941388" y="3800475"/>
            <a:ext cx="750887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2207752" name="Rectangle 9"/>
          <p:cNvSpPr>
            <a:spLocks noChangeArrowheads="1"/>
          </p:cNvSpPr>
          <p:nvPr/>
        </p:nvSpPr>
        <p:spPr bwMode="auto">
          <a:xfrm>
            <a:off x="941388" y="4486275"/>
            <a:ext cx="750887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散列</a:t>
            </a:r>
          </a:p>
        </p:txBody>
      </p:sp>
      <p:sp>
        <p:nvSpPr>
          <p:cNvPr id="2207753" name="Rectangle 10"/>
          <p:cNvSpPr>
            <a:spLocks noChangeArrowheads="1"/>
          </p:cNvSpPr>
          <p:nvPr/>
        </p:nvSpPr>
        <p:spPr bwMode="auto">
          <a:xfrm>
            <a:off x="1073150" y="5168900"/>
            <a:ext cx="495300" cy="346075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H</a:t>
            </a:r>
          </a:p>
        </p:txBody>
      </p:sp>
      <p:sp>
        <p:nvSpPr>
          <p:cNvPr id="2207754" name="Line 11"/>
          <p:cNvSpPr>
            <a:spLocks noChangeShapeType="1"/>
          </p:cNvSpPr>
          <p:nvPr/>
        </p:nvSpPr>
        <p:spPr bwMode="auto">
          <a:xfrm>
            <a:off x="1311275" y="4143375"/>
            <a:ext cx="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5" name="Line 12"/>
          <p:cNvSpPr>
            <a:spLocks noChangeShapeType="1"/>
          </p:cNvSpPr>
          <p:nvPr/>
        </p:nvSpPr>
        <p:spPr bwMode="auto">
          <a:xfrm>
            <a:off x="1311275" y="4816475"/>
            <a:ext cx="0" cy="341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6" name="Rectangle 13"/>
          <p:cNvSpPr>
            <a:spLocks noChangeArrowheads="1"/>
          </p:cNvSpPr>
          <p:nvPr/>
        </p:nvSpPr>
        <p:spPr bwMode="auto">
          <a:xfrm>
            <a:off x="5700713" y="3800475"/>
            <a:ext cx="750887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加密</a:t>
            </a:r>
          </a:p>
        </p:txBody>
      </p:sp>
      <p:sp>
        <p:nvSpPr>
          <p:cNvPr id="2207757" name="Rectangle 14"/>
          <p:cNvSpPr>
            <a:spLocks noChangeArrowheads="1"/>
          </p:cNvSpPr>
          <p:nvPr/>
        </p:nvSpPr>
        <p:spPr bwMode="auto">
          <a:xfrm>
            <a:off x="3103563" y="5170488"/>
            <a:ext cx="360362" cy="34607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8" name="Line 15"/>
          <p:cNvSpPr>
            <a:spLocks noChangeShapeType="1"/>
          </p:cNvSpPr>
          <p:nvPr/>
        </p:nvSpPr>
        <p:spPr bwMode="auto">
          <a:xfrm>
            <a:off x="2676525" y="5343525"/>
            <a:ext cx="4349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59" name="Line 16"/>
          <p:cNvSpPr>
            <a:spLocks noChangeShapeType="1"/>
          </p:cNvSpPr>
          <p:nvPr/>
        </p:nvSpPr>
        <p:spPr bwMode="auto">
          <a:xfrm flipV="1">
            <a:off x="2332038" y="5514975"/>
            <a:ext cx="0" cy="344488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0" name="Text Box 17"/>
          <p:cNvSpPr txBox="1">
            <a:spLocks noChangeArrowheads="1"/>
          </p:cNvSpPr>
          <p:nvPr/>
        </p:nvSpPr>
        <p:spPr bwMode="auto">
          <a:xfrm>
            <a:off x="631825" y="5549900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报文摘要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1" name="Text Box 18"/>
          <p:cNvSpPr txBox="1">
            <a:spLocks noChangeArrowheads="1"/>
          </p:cNvSpPr>
          <p:nvPr/>
        </p:nvSpPr>
        <p:spPr bwMode="auto">
          <a:xfrm>
            <a:off x="3478213" y="4486275"/>
            <a:ext cx="1474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报文鉴别码</a:t>
            </a:r>
          </a:p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MAC</a:t>
            </a:r>
            <a:endParaRPr lang="en-US" altLang="zh-CN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2" name="Text Box 19"/>
          <p:cNvSpPr txBox="1">
            <a:spLocks noChangeArrowheads="1"/>
          </p:cNvSpPr>
          <p:nvPr/>
        </p:nvSpPr>
        <p:spPr bwMode="auto">
          <a:xfrm>
            <a:off x="3052763" y="37258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2207763" name="Line 20"/>
          <p:cNvSpPr>
            <a:spLocks noChangeShapeType="1"/>
          </p:cNvSpPr>
          <p:nvPr/>
        </p:nvSpPr>
        <p:spPr bwMode="auto">
          <a:xfrm flipV="1">
            <a:off x="3298825" y="4143375"/>
            <a:ext cx="0" cy="1027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4" name="Line 21"/>
          <p:cNvSpPr>
            <a:spLocks noChangeShapeType="1"/>
          </p:cNvSpPr>
          <p:nvPr/>
        </p:nvSpPr>
        <p:spPr bwMode="auto">
          <a:xfrm>
            <a:off x="1692275" y="3971925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5" name="Rectangle 22"/>
          <p:cNvSpPr>
            <a:spLocks noChangeArrowheads="1"/>
          </p:cNvSpPr>
          <p:nvPr/>
        </p:nvSpPr>
        <p:spPr bwMode="auto">
          <a:xfrm>
            <a:off x="3921125" y="3800475"/>
            <a:ext cx="360363" cy="34607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6" name="Rectangle 23"/>
          <p:cNvSpPr>
            <a:spLocks noChangeArrowheads="1"/>
          </p:cNvSpPr>
          <p:nvPr/>
        </p:nvSpPr>
        <p:spPr bwMode="auto">
          <a:xfrm>
            <a:off x="4281488" y="3800475"/>
            <a:ext cx="750887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2207767" name="Line 24"/>
          <p:cNvSpPr>
            <a:spLocks noChangeShapeType="1"/>
          </p:cNvSpPr>
          <p:nvPr/>
        </p:nvSpPr>
        <p:spPr bwMode="auto">
          <a:xfrm>
            <a:off x="3463925" y="3981450"/>
            <a:ext cx="446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8" name="Line 25"/>
          <p:cNvSpPr>
            <a:spLocks noChangeShapeType="1"/>
          </p:cNvSpPr>
          <p:nvPr/>
        </p:nvSpPr>
        <p:spPr bwMode="auto">
          <a:xfrm flipH="1">
            <a:off x="3279775" y="5086350"/>
            <a:ext cx="584200" cy="257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69" name="Line 26"/>
          <p:cNvSpPr>
            <a:spLocks noChangeShapeType="1"/>
          </p:cNvSpPr>
          <p:nvPr/>
        </p:nvSpPr>
        <p:spPr bwMode="auto">
          <a:xfrm flipH="1" flipV="1">
            <a:off x="4100513" y="4002088"/>
            <a:ext cx="11430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70" name="Rectangle 27"/>
          <p:cNvSpPr>
            <a:spLocks noChangeArrowheads="1"/>
          </p:cNvSpPr>
          <p:nvPr/>
        </p:nvSpPr>
        <p:spPr bwMode="auto">
          <a:xfrm>
            <a:off x="5089525" y="4554538"/>
            <a:ext cx="1592263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rIns="0" anchor="ctr"/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一次性密钥</a:t>
            </a:r>
          </a:p>
        </p:txBody>
      </p:sp>
      <p:sp>
        <p:nvSpPr>
          <p:cNvPr id="2207771" name="Rectangle 28"/>
          <p:cNvSpPr>
            <a:spLocks noChangeArrowheads="1"/>
          </p:cNvSpPr>
          <p:nvPr/>
        </p:nvSpPr>
        <p:spPr bwMode="auto">
          <a:xfrm>
            <a:off x="1943100" y="5170488"/>
            <a:ext cx="750888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加密</a:t>
            </a:r>
          </a:p>
        </p:txBody>
      </p:sp>
      <p:sp>
        <p:nvSpPr>
          <p:cNvPr id="2207772" name="Line 30"/>
          <p:cNvSpPr>
            <a:spLocks noChangeShapeType="1"/>
          </p:cNvSpPr>
          <p:nvPr/>
        </p:nvSpPr>
        <p:spPr bwMode="auto">
          <a:xfrm flipV="1">
            <a:off x="6091238" y="4176713"/>
            <a:ext cx="0" cy="35401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73" name="Line 31"/>
          <p:cNvSpPr>
            <a:spLocks noChangeShapeType="1"/>
          </p:cNvSpPr>
          <p:nvPr/>
        </p:nvSpPr>
        <p:spPr bwMode="auto">
          <a:xfrm>
            <a:off x="5032375" y="3981450"/>
            <a:ext cx="668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74" name="Text Box 32"/>
          <p:cNvSpPr txBox="1">
            <a:spLocks noChangeArrowheads="1"/>
          </p:cNvSpPr>
          <p:nvPr/>
        </p:nvSpPr>
        <p:spPr bwMode="auto">
          <a:xfrm>
            <a:off x="7070725" y="5330825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的公钥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2207775" name="Picture 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147844" y="5404644"/>
            <a:ext cx="47466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7776" name="Line 34"/>
          <p:cNvSpPr>
            <a:spLocks noChangeShapeType="1"/>
          </p:cNvSpPr>
          <p:nvPr/>
        </p:nvSpPr>
        <p:spPr bwMode="auto">
          <a:xfrm flipV="1">
            <a:off x="7593013" y="4926013"/>
            <a:ext cx="0" cy="36036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77" name="Text Box 35"/>
          <p:cNvSpPr txBox="1">
            <a:spLocks noChangeArrowheads="1"/>
          </p:cNvSpPr>
          <p:nvPr/>
        </p:nvSpPr>
        <p:spPr bwMode="auto">
          <a:xfrm>
            <a:off x="7372350" y="3673475"/>
            <a:ext cx="4603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2207778" name="Line 36"/>
          <p:cNvSpPr>
            <a:spLocks noChangeShapeType="1"/>
          </p:cNvSpPr>
          <p:nvPr/>
        </p:nvSpPr>
        <p:spPr bwMode="auto">
          <a:xfrm>
            <a:off x="6451600" y="3971925"/>
            <a:ext cx="974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79" name="Line 37"/>
          <p:cNvSpPr>
            <a:spLocks noChangeShapeType="1"/>
          </p:cNvSpPr>
          <p:nvPr/>
        </p:nvSpPr>
        <p:spPr bwMode="auto">
          <a:xfrm>
            <a:off x="7740650" y="3981450"/>
            <a:ext cx="549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80" name="Line 38"/>
          <p:cNvSpPr>
            <a:spLocks noChangeShapeType="1"/>
          </p:cNvSpPr>
          <p:nvPr/>
        </p:nvSpPr>
        <p:spPr bwMode="auto">
          <a:xfrm flipV="1">
            <a:off x="7583488" y="4175125"/>
            <a:ext cx="0" cy="36195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81" name="Rectangle 39"/>
          <p:cNvSpPr>
            <a:spLocks noChangeArrowheads="1"/>
          </p:cNvSpPr>
          <p:nvPr/>
        </p:nvSpPr>
        <p:spPr bwMode="auto">
          <a:xfrm>
            <a:off x="7205663" y="4554538"/>
            <a:ext cx="750887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加密</a:t>
            </a:r>
          </a:p>
        </p:txBody>
      </p:sp>
      <p:grpSp>
        <p:nvGrpSpPr>
          <p:cNvPr id="2207782" name="Group 40"/>
          <p:cNvGrpSpPr>
            <a:grpSpLocks/>
          </p:cNvGrpSpPr>
          <p:nvPr/>
        </p:nvGrpSpPr>
        <p:grpSpPr bwMode="auto">
          <a:xfrm>
            <a:off x="8297863" y="3848100"/>
            <a:ext cx="490537" cy="247650"/>
            <a:chOff x="2736" y="3648"/>
            <a:chExt cx="432" cy="240"/>
          </a:xfrm>
        </p:grpSpPr>
        <p:grpSp>
          <p:nvGrpSpPr>
            <p:cNvPr id="2207783" name="Group 41"/>
            <p:cNvGrpSpPr>
              <a:grpSpLocks/>
            </p:cNvGrpSpPr>
            <p:nvPr/>
          </p:nvGrpSpPr>
          <p:grpSpPr bwMode="auto">
            <a:xfrm>
              <a:off x="2736" y="3648"/>
              <a:ext cx="432" cy="240"/>
              <a:chOff x="2592" y="3504"/>
              <a:chExt cx="576" cy="384"/>
            </a:xfrm>
          </p:grpSpPr>
          <p:sp>
            <p:nvSpPr>
              <p:cNvPr id="2207784" name="Rectangle 42"/>
              <p:cNvSpPr>
                <a:spLocks noChangeArrowheads="1"/>
              </p:cNvSpPr>
              <p:nvPr/>
            </p:nvSpPr>
            <p:spPr bwMode="auto">
              <a:xfrm>
                <a:off x="2592" y="3504"/>
                <a:ext cx="576" cy="38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07785" name="Freeform 43"/>
              <p:cNvSpPr>
                <a:spLocks noChangeArrowheads="1"/>
              </p:cNvSpPr>
              <p:nvPr/>
            </p:nvSpPr>
            <p:spPr bwMode="auto">
              <a:xfrm>
                <a:off x="2592" y="3504"/>
                <a:ext cx="576" cy="240"/>
              </a:xfrm>
              <a:custGeom>
                <a:avLst/>
                <a:gdLst>
                  <a:gd name="T0" fmla="*/ 0 w 576"/>
                  <a:gd name="T1" fmla="*/ 0 h 240"/>
                  <a:gd name="T2" fmla="*/ 288 w 576"/>
                  <a:gd name="T3" fmla="*/ 240 h 240"/>
                  <a:gd name="T4" fmla="*/ 576 w 576"/>
                  <a:gd name="T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240">
                    <a:moveTo>
                      <a:pt x="0" y="0"/>
                    </a:moveTo>
                    <a:lnTo>
                      <a:pt x="288" y="240"/>
                    </a:lnTo>
                    <a:lnTo>
                      <a:pt x="576" y="0"/>
                    </a:lnTo>
                  </a:path>
                </a:pathLst>
              </a:custGeom>
              <a:solidFill>
                <a:schemeClr val="bg1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07786" name="Line 44"/>
              <p:cNvSpPr>
                <a:spLocks noChangeShapeType="1"/>
              </p:cNvSpPr>
              <p:nvPr/>
            </p:nvSpPr>
            <p:spPr bwMode="auto">
              <a:xfrm flipV="1">
                <a:off x="2592" y="3704"/>
                <a:ext cx="232" cy="1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07787" name="Line 45"/>
              <p:cNvSpPr>
                <a:spLocks noChangeShapeType="1"/>
              </p:cNvSpPr>
              <p:nvPr/>
            </p:nvSpPr>
            <p:spPr bwMode="auto">
              <a:xfrm flipH="1" flipV="1">
                <a:off x="2936" y="3704"/>
                <a:ext cx="232" cy="1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207788" name="Line 46"/>
            <p:cNvSpPr>
              <a:spLocks noChangeShapeType="1"/>
            </p:cNvSpPr>
            <p:nvPr/>
          </p:nvSpPr>
          <p:spPr bwMode="auto">
            <a:xfrm>
              <a:off x="2736" y="3648"/>
              <a:ext cx="4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pic>
        <p:nvPicPr>
          <p:cNvPr id="2207789" name="Picture 4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788" y="3630613"/>
            <a:ext cx="2508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7790" name="Text Box 51"/>
          <p:cNvSpPr txBox="1">
            <a:spLocks noChangeArrowheads="1"/>
          </p:cNvSpPr>
          <p:nvPr/>
        </p:nvSpPr>
        <p:spPr bwMode="auto">
          <a:xfrm>
            <a:off x="560388" y="3727450"/>
            <a:ext cx="371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2207791" name="Text Box 52"/>
          <p:cNvSpPr txBox="1">
            <a:spLocks noChangeArrowheads="1"/>
          </p:cNvSpPr>
          <p:nvPr/>
        </p:nvSpPr>
        <p:spPr bwMode="auto">
          <a:xfrm>
            <a:off x="990600" y="338455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邮件</a:t>
            </a:r>
          </a:p>
        </p:txBody>
      </p:sp>
      <p:sp>
        <p:nvSpPr>
          <p:cNvPr id="2207792" name="AutoShape 53"/>
          <p:cNvSpPr>
            <a:spLocks noChangeArrowheads="1"/>
          </p:cNvSpPr>
          <p:nvPr/>
        </p:nvSpPr>
        <p:spPr bwMode="auto">
          <a:xfrm>
            <a:off x="8958263" y="3887788"/>
            <a:ext cx="668337" cy="169862"/>
          </a:xfrm>
          <a:prstGeom prst="rightArrow">
            <a:avLst>
              <a:gd name="adj1" fmla="val 50000"/>
              <a:gd name="adj2" fmla="val 100860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07793" name="Text Box 54"/>
          <p:cNvSpPr txBox="1">
            <a:spLocks noChangeArrowheads="1"/>
          </p:cNvSpPr>
          <p:nvPr/>
        </p:nvSpPr>
        <p:spPr bwMode="auto">
          <a:xfrm>
            <a:off x="8940800" y="3487738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发送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207794" name="组合 1"/>
          <p:cNvGrpSpPr>
            <a:grpSpLocks/>
          </p:cNvGrpSpPr>
          <p:nvPr/>
        </p:nvGrpSpPr>
        <p:grpSpPr bwMode="auto">
          <a:xfrm>
            <a:off x="2936875" y="5834063"/>
            <a:ext cx="342900" cy="474662"/>
            <a:chOff x="2936775" y="5445223"/>
            <a:chExt cx="342903" cy="475823"/>
          </a:xfrm>
        </p:grpSpPr>
        <p:sp>
          <p:nvSpPr>
            <p:cNvPr id="2207795" name="Rectangle 50"/>
            <p:cNvSpPr>
              <a:spLocks noChangeArrowheads="1"/>
            </p:cNvSpPr>
            <p:nvPr/>
          </p:nvSpPr>
          <p:spPr bwMode="auto">
            <a:xfrm>
              <a:off x="2936775" y="5445223"/>
              <a:ext cx="342903" cy="47582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2207796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915080" y="5565357"/>
              <a:ext cx="405620" cy="218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207797" name="Picture 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92057" y="4672806"/>
            <a:ext cx="4746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7798" name="矩形 4"/>
          <p:cNvSpPr>
            <a:spLocks noChangeArrowheads="1"/>
          </p:cNvSpPr>
          <p:nvPr/>
        </p:nvSpPr>
        <p:spPr bwMode="auto">
          <a:xfrm>
            <a:off x="2603500" y="2997200"/>
            <a:ext cx="4811713" cy="522288"/>
          </a:xfrm>
          <a:prstGeom prst="rect">
            <a:avLst/>
          </a:prstGeom>
          <a:solidFill>
            <a:srgbClr val="66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zh-CN" sz="2800" b="1">
                <a:ea typeface="黑体" panose="02010609060101010101" pitchFamily="49" charset="-122"/>
              </a:rPr>
              <a:t>在发送方</a:t>
            </a:r>
            <a:r>
              <a:rPr lang="en-US" altLang="zh-CN" sz="2800" b="1">
                <a:ea typeface="黑体" panose="02010609060101010101" pitchFamily="49" charset="-122"/>
              </a:rPr>
              <a:t> A </a:t>
            </a:r>
            <a:r>
              <a:rPr lang="zh-CN" altLang="zh-CN" sz="2800" b="1">
                <a:ea typeface="黑体" panose="02010609060101010101" pitchFamily="49" charset="-122"/>
              </a:rPr>
              <a:t>的</a:t>
            </a:r>
            <a:r>
              <a:rPr lang="en-US" altLang="zh-CN" sz="2800" b="1">
                <a:ea typeface="黑体" panose="02010609060101010101" pitchFamily="49" charset="-122"/>
              </a:rPr>
              <a:t> PGP </a:t>
            </a:r>
            <a:r>
              <a:rPr lang="zh-CN" altLang="zh-CN" sz="2800" b="1">
                <a:ea typeface="黑体" panose="02010609060101010101" pitchFamily="49" charset="-122"/>
              </a:rPr>
              <a:t>处理过程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sp>
        <p:nvSpPr>
          <p:cNvPr id="220779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435394-1CDF-4251-A5F5-D3635D91E7ED}" type="slidenum">
              <a:rPr lang="zh-CN" altLang="en-US" smtClean="0"/>
              <a:pPr eaLnBrk="1" hangingPunct="1"/>
              <a:t>45</a:t>
            </a:fld>
            <a:endParaRPr lang="en-US" altLang="zh-CN" smtClean="0"/>
          </a:p>
        </p:txBody>
      </p:sp>
      <p:sp>
        <p:nvSpPr>
          <p:cNvPr id="2207800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79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发送方</a:t>
            </a:r>
            <a:r>
              <a:rPr lang="en-US" altLang="zh-CN" smtClean="0">
                <a:ea typeface="黑体" panose="02010609060101010101" pitchFamily="49" charset="-122"/>
              </a:rPr>
              <a:t> A </a:t>
            </a:r>
            <a:r>
              <a:rPr lang="zh-CN" altLang="zh-CN" smtClean="0">
                <a:ea typeface="黑体" panose="02010609060101010101" pitchFamily="49" charset="-122"/>
              </a:rPr>
              <a:t>的</a:t>
            </a:r>
            <a:r>
              <a:rPr lang="zh-CN" altLang="en-US" smtClean="0">
                <a:ea typeface="黑体" panose="02010609060101010101" pitchFamily="49" charset="-122"/>
              </a:rPr>
              <a:t>工作</a:t>
            </a:r>
          </a:p>
        </p:txBody>
      </p:sp>
      <p:sp>
        <p:nvSpPr>
          <p:cNvPr id="220979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smtClean="0">
                <a:ea typeface="黑体" panose="02010609060101010101" pitchFamily="49" charset="-122"/>
              </a:rPr>
              <a:t>(1) </a:t>
            </a:r>
            <a:r>
              <a:rPr lang="zh-CN" altLang="zh-CN" sz="2800" smtClean="0">
                <a:ea typeface="黑体" panose="02010609060101010101" pitchFamily="49" charset="-122"/>
              </a:rPr>
              <a:t>对明文邮件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X </a:t>
            </a:r>
            <a:r>
              <a:rPr lang="zh-CN" altLang="zh-CN" sz="2800" smtClean="0">
                <a:ea typeface="黑体" panose="02010609060101010101" pitchFamily="49" charset="-122"/>
              </a:rPr>
              <a:t>进行</a:t>
            </a:r>
            <a:r>
              <a:rPr lang="en-US" altLang="zh-CN" sz="2800" smtClean="0">
                <a:ea typeface="黑体" panose="02010609060101010101" pitchFamily="49" charset="-122"/>
              </a:rPr>
              <a:t> MD5 </a:t>
            </a:r>
            <a:r>
              <a:rPr lang="zh-CN" altLang="zh-CN" sz="2800" smtClean="0">
                <a:ea typeface="黑体" panose="02010609060101010101" pitchFamily="49" charset="-122"/>
              </a:rPr>
              <a:t>运算，得出</a:t>
            </a:r>
            <a:r>
              <a:rPr lang="en-US" altLang="zh-CN" sz="2800" smtClean="0">
                <a:ea typeface="黑体" panose="02010609060101010101" pitchFamily="49" charset="-122"/>
              </a:rPr>
              <a:t> MD5 </a:t>
            </a:r>
            <a:r>
              <a:rPr lang="zh-CN" altLang="zh-CN" sz="2800" smtClean="0">
                <a:ea typeface="黑体" panose="02010609060101010101" pitchFamily="49" charset="-122"/>
              </a:rPr>
              <a:t>报文摘要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H</a:t>
            </a:r>
            <a:r>
              <a:rPr lang="zh-CN" altLang="zh-CN" sz="2800" smtClean="0">
                <a:ea typeface="黑体" panose="02010609060101010101" pitchFamily="49" charset="-122"/>
              </a:rPr>
              <a:t>。用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的私钥对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H </a:t>
            </a:r>
            <a:r>
              <a:rPr lang="zh-CN" altLang="zh-CN" sz="2800" smtClean="0">
                <a:ea typeface="黑体" panose="02010609060101010101" pitchFamily="49" charset="-122"/>
              </a:rPr>
              <a:t>进行加密（即数字签名），得出报文鉴别码</a:t>
            </a:r>
            <a:r>
              <a:rPr lang="en-US" altLang="zh-CN" sz="2800" smtClean="0">
                <a:ea typeface="黑体" panose="02010609060101010101" pitchFamily="49" charset="-122"/>
              </a:rPr>
              <a:t> MAC</a:t>
            </a:r>
            <a:r>
              <a:rPr lang="zh-CN" altLang="zh-CN" sz="2800" smtClean="0">
                <a:ea typeface="黑体" panose="02010609060101010101" pitchFamily="49" charset="-122"/>
              </a:rPr>
              <a:t>，把它拼接在明文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X </a:t>
            </a:r>
            <a:r>
              <a:rPr lang="zh-CN" altLang="zh-CN" sz="2800" smtClean="0">
                <a:ea typeface="黑体" panose="02010609060101010101" pitchFamily="49" charset="-122"/>
              </a:rPr>
              <a:t>后面，得到扩展的邮件</a:t>
            </a:r>
            <a:r>
              <a:rPr lang="en-US" altLang="zh-CN" sz="2800" smtClean="0">
                <a:ea typeface="黑体" panose="02010609060101010101" pitchFamily="49" charset="-122"/>
              </a:rPr>
              <a:t> (</a:t>
            </a:r>
            <a:r>
              <a:rPr lang="en-US" altLang="zh-CN" sz="2800" i="1" smtClean="0">
                <a:ea typeface="黑体" panose="02010609060101010101" pitchFamily="49" charset="-122"/>
              </a:rPr>
              <a:t>X</a:t>
            </a:r>
            <a:r>
              <a:rPr lang="en-US" altLang="zh-CN" sz="2800" smtClean="0">
                <a:ea typeface="黑体" panose="02010609060101010101" pitchFamily="49" charset="-122"/>
              </a:rPr>
              <a:t>, MAC)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(2) </a:t>
            </a:r>
            <a:r>
              <a:rPr lang="zh-CN" altLang="zh-CN" sz="2800" smtClean="0">
                <a:ea typeface="黑体" panose="02010609060101010101" pitchFamily="49" charset="-122"/>
              </a:rPr>
              <a:t>使用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自己生成的一次性密钥对扩展的邮件</a:t>
            </a:r>
            <a:r>
              <a:rPr lang="en-US" altLang="zh-CN" sz="2800" smtClean="0">
                <a:ea typeface="黑体" panose="02010609060101010101" pitchFamily="49" charset="-122"/>
              </a:rPr>
              <a:t> (</a:t>
            </a:r>
            <a:r>
              <a:rPr lang="en-US" altLang="zh-CN" sz="2800" i="1" smtClean="0">
                <a:ea typeface="黑体" panose="02010609060101010101" pitchFamily="49" charset="-122"/>
              </a:rPr>
              <a:t>X</a:t>
            </a:r>
            <a:r>
              <a:rPr lang="en-US" altLang="zh-CN" sz="2800" smtClean="0">
                <a:ea typeface="黑体" panose="02010609060101010101" pitchFamily="49" charset="-122"/>
              </a:rPr>
              <a:t>, MAC)</a:t>
            </a:r>
            <a:r>
              <a:rPr lang="zh-CN" altLang="zh-CN" sz="2800" smtClean="0">
                <a:ea typeface="黑体" panose="02010609060101010101" pitchFamily="49" charset="-122"/>
              </a:rPr>
              <a:t>进行加密。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(3) </a:t>
            </a:r>
            <a:r>
              <a:rPr lang="zh-CN" altLang="zh-CN" sz="2800" smtClean="0">
                <a:ea typeface="黑体" panose="02010609060101010101" pitchFamily="49" charset="-122"/>
              </a:rPr>
              <a:t>用</a:t>
            </a:r>
            <a:r>
              <a:rPr lang="en-US" altLang="zh-CN" sz="2800" smtClean="0">
                <a:ea typeface="黑体" panose="02010609060101010101" pitchFamily="49" charset="-122"/>
              </a:rPr>
              <a:t> B </a:t>
            </a:r>
            <a:r>
              <a:rPr lang="zh-CN" altLang="zh-CN" sz="2800" smtClean="0">
                <a:ea typeface="黑体" panose="02010609060101010101" pitchFamily="49" charset="-122"/>
              </a:rPr>
              <a:t>的公钥对</a:t>
            </a:r>
            <a:r>
              <a:rPr lang="en-US" altLang="zh-CN" sz="2800" smtClean="0">
                <a:ea typeface="黑体" panose="02010609060101010101" pitchFamily="49" charset="-122"/>
              </a:rPr>
              <a:t> A </a:t>
            </a:r>
            <a:r>
              <a:rPr lang="zh-CN" altLang="zh-CN" sz="2800" smtClean="0">
                <a:ea typeface="黑体" panose="02010609060101010101" pitchFamily="49" charset="-122"/>
              </a:rPr>
              <a:t>生成的一次性密钥进行加密。</a:t>
            </a:r>
          </a:p>
          <a:p>
            <a:r>
              <a:rPr lang="en-US" altLang="zh-CN" sz="2800" smtClean="0">
                <a:ea typeface="黑体" panose="02010609060101010101" pitchFamily="49" charset="-122"/>
              </a:rPr>
              <a:t>(4) </a:t>
            </a:r>
            <a:r>
              <a:rPr lang="zh-CN" altLang="zh-CN" sz="2800" smtClean="0">
                <a:ea typeface="黑体" panose="02010609060101010101" pitchFamily="49" charset="-122"/>
              </a:rPr>
              <a:t>把加了密的一次性密钥和加了密的扩展的邮件发送给</a:t>
            </a:r>
            <a:r>
              <a:rPr lang="en-US" altLang="zh-CN" sz="2800" smtClean="0">
                <a:ea typeface="黑体" panose="02010609060101010101" pitchFamily="49" charset="-122"/>
              </a:rPr>
              <a:t> B</a:t>
            </a:r>
            <a:r>
              <a:rPr lang="zh-CN" altLang="zh-CN" sz="2800" smtClean="0">
                <a:ea typeface="黑体" panose="02010609060101010101" pitchFamily="49" charset="-122"/>
              </a:rPr>
              <a:t>。</a:t>
            </a:r>
            <a:endParaRPr lang="zh-CN" altLang="en-US" sz="2800" smtClean="0">
              <a:ea typeface="黑体" panose="02010609060101010101" pitchFamily="49" charset="-122"/>
            </a:endParaRPr>
          </a:p>
        </p:txBody>
      </p:sp>
      <p:sp>
        <p:nvSpPr>
          <p:cNvPr id="22097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0E09D5-5C68-4349-A300-7E801251BE68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sp>
        <p:nvSpPr>
          <p:cNvPr id="220979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PGP </a:t>
            </a:r>
            <a:r>
              <a:rPr lang="zh-CN" altLang="en-US" smtClean="0">
                <a:ea typeface="黑体" panose="02010609060101010101" pitchFamily="49" charset="-122"/>
              </a:rPr>
              <a:t>工作原理</a:t>
            </a:r>
          </a:p>
        </p:txBody>
      </p:sp>
      <p:sp>
        <p:nvSpPr>
          <p:cNvPr id="2211842" name="Text Box 55"/>
          <p:cNvSpPr txBox="1">
            <a:spLocks noChangeArrowheads="1"/>
          </p:cNvSpPr>
          <p:nvPr/>
        </p:nvSpPr>
        <p:spPr bwMode="auto">
          <a:xfrm>
            <a:off x="415925" y="1724025"/>
            <a:ext cx="9345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zh-CN" altLang="zh-CN" sz="2400" b="1">
                <a:ea typeface="黑体" panose="02010609060101010101" pitchFamily="49" charset="-122"/>
              </a:rPr>
              <a:t>假定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向</a:t>
            </a:r>
            <a:r>
              <a:rPr lang="en-US" altLang="zh-CN" sz="2400" b="1">
                <a:ea typeface="黑体" panose="02010609060101010101" pitchFamily="49" charset="-122"/>
              </a:rPr>
              <a:t> B </a:t>
            </a:r>
            <a:r>
              <a:rPr lang="zh-CN" altLang="zh-CN" sz="2400" b="1">
                <a:ea typeface="黑体" panose="02010609060101010101" pitchFamily="49" charset="-122"/>
              </a:rPr>
              <a:t>发送电子邮件明文</a:t>
            </a:r>
            <a:r>
              <a:rPr lang="en-US" altLang="zh-CN" sz="2400" b="1">
                <a:ea typeface="黑体" panose="02010609060101010101" pitchFamily="49" charset="-122"/>
              </a:rPr>
              <a:t> X</a:t>
            </a:r>
            <a:r>
              <a:rPr lang="zh-CN" altLang="zh-CN" sz="2400" b="1">
                <a:ea typeface="黑体" panose="02010609060101010101" pitchFamily="49" charset="-122"/>
              </a:rPr>
              <a:t>，</a:t>
            </a:r>
            <a:r>
              <a:rPr lang="zh-CN" altLang="en-US" sz="2400" b="1">
                <a:ea typeface="黑体" panose="02010609060101010101" pitchFamily="49" charset="-122"/>
              </a:rPr>
              <a:t>使用 </a:t>
            </a:r>
            <a:r>
              <a:rPr lang="en-US" altLang="zh-CN" sz="2400" b="1">
                <a:ea typeface="黑体" panose="02010609060101010101" pitchFamily="49" charset="-122"/>
              </a:rPr>
              <a:t>PGP </a:t>
            </a:r>
            <a:r>
              <a:rPr lang="zh-CN" altLang="zh-CN" sz="2400" b="1">
                <a:ea typeface="黑体" panose="02010609060101010101" pitchFamily="49" charset="-122"/>
              </a:rPr>
              <a:t>进行加密。</a:t>
            </a:r>
            <a:endParaRPr lang="en-US" altLang="zh-CN" sz="24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A</a:t>
            </a:r>
            <a:r>
              <a:rPr lang="zh-CN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有三个密钥：</a:t>
            </a:r>
            <a:r>
              <a:rPr lang="en-US" altLang="zh-CN" sz="2400" b="1">
                <a:ea typeface="黑体" panose="02010609060101010101" pitchFamily="49" charset="-122"/>
              </a:rPr>
              <a:t>A </a:t>
            </a:r>
            <a:r>
              <a:rPr lang="zh-CN" altLang="zh-CN" sz="2400" b="1">
                <a:ea typeface="黑体" panose="02010609060101010101" pitchFamily="49" charset="-122"/>
              </a:rPr>
              <a:t>的私钥、</a:t>
            </a:r>
            <a:r>
              <a:rPr lang="en-US" altLang="zh-CN" sz="2400" b="1">
                <a:ea typeface="黑体" panose="02010609060101010101" pitchFamily="49" charset="-122"/>
              </a:rPr>
              <a:t>B </a:t>
            </a:r>
            <a:r>
              <a:rPr lang="zh-CN" altLang="zh-CN" sz="2400" b="1">
                <a:ea typeface="黑体" panose="02010609060101010101" pitchFamily="49" charset="-122"/>
              </a:rPr>
              <a:t>的公钥和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生成的一次性密钥。</a:t>
            </a:r>
            <a:endParaRPr lang="en-US" altLang="zh-CN" sz="2400" b="1">
              <a:ea typeface="黑体" panose="02010609060101010101" pitchFamily="49" charset="-122"/>
            </a:endParaRPr>
          </a:p>
          <a:p>
            <a:pPr algn="just" eaLnBrk="0" hangingPunct="0"/>
            <a:r>
              <a:rPr lang="en-US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  <a:r>
              <a:rPr lang="zh-CN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有两个密钥：</a:t>
            </a:r>
            <a:r>
              <a:rPr lang="en-US" altLang="zh-CN" sz="2400" b="1">
                <a:ea typeface="黑体" panose="02010609060101010101" pitchFamily="49" charset="-122"/>
              </a:rPr>
              <a:t>B </a:t>
            </a:r>
            <a:r>
              <a:rPr lang="zh-CN" altLang="zh-CN" sz="2400" b="1">
                <a:ea typeface="黑体" panose="02010609060101010101" pitchFamily="49" charset="-122"/>
              </a:rPr>
              <a:t>的私钥和</a:t>
            </a:r>
            <a:r>
              <a:rPr lang="en-US" altLang="zh-CN" sz="2400" b="1">
                <a:ea typeface="黑体" panose="02010609060101010101" pitchFamily="49" charset="-122"/>
              </a:rPr>
              <a:t> A </a:t>
            </a:r>
            <a:r>
              <a:rPr lang="zh-CN" altLang="zh-CN" sz="2400" b="1">
                <a:ea typeface="黑体" panose="02010609060101010101" pitchFamily="49" charset="-122"/>
              </a:rPr>
              <a:t>的公钥。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211843" name="矩形 2"/>
          <p:cNvSpPr>
            <a:spLocks noChangeArrowheads="1"/>
          </p:cNvSpPr>
          <p:nvPr/>
        </p:nvSpPr>
        <p:spPr bwMode="auto">
          <a:xfrm>
            <a:off x="415925" y="1125538"/>
            <a:ext cx="9345613" cy="522287"/>
          </a:xfrm>
          <a:prstGeom prst="rect">
            <a:avLst/>
          </a:prstGeom>
          <a:solidFill>
            <a:srgbClr val="FFFF66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/>
            <a:r>
              <a:rPr lang="en-US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PGP </a:t>
            </a:r>
            <a:r>
              <a:rPr lang="zh-CN" altLang="zh-CN" sz="2800" b="1">
                <a:solidFill>
                  <a:srgbClr val="000066"/>
                </a:solidFill>
                <a:ea typeface="黑体" panose="02010609060101010101" pitchFamily="49" charset="-122"/>
              </a:rPr>
              <a:t>提供电子邮件的安全性、发送方鉴别和报文完整性。</a:t>
            </a:r>
            <a:endParaRPr lang="zh-CN" altLang="en-US" sz="2800" b="1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211844" name="矩形 4"/>
          <p:cNvSpPr>
            <a:spLocks noChangeArrowheads="1"/>
          </p:cNvSpPr>
          <p:nvPr/>
        </p:nvSpPr>
        <p:spPr bwMode="auto">
          <a:xfrm>
            <a:off x="2603500" y="2997200"/>
            <a:ext cx="4838700" cy="522288"/>
          </a:xfrm>
          <a:prstGeom prst="rect">
            <a:avLst/>
          </a:prstGeom>
          <a:solidFill>
            <a:srgbClr val="FFCC00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zh-CN" sz="2800" b="1">
                <a:ea typeface="黑体" panose="02010609060101010101" pitchFamily="49" charset="-122"/>
              </a:rPr>
              <a:t>在</a:t>
            </a:r>
            <a:r>
              <a:rPr lang="zh-CN" altLang="en-US" sz="2800" b="1">
                <a:ea typeface="黑体" panose="02010609060101010101" pitchFamily="49" charset="-122"/>
              </a:rPr>
              <a:t>接收</a:t>
            </a:r>
            <a:r>
              <a:rPr lang="zh-CN" altLang="zh-CN" sz="2800" b="1">
                <a:ea typeface="黑体" panose="02010609060101010101" pitchFamily="49" charset="-122"/>
              </a:rPr>
              <a:t>方</a:t>
            </a:r>
            <a:r>
              <a:rPr lang="en-US" altLang="zh-CN" sz="2800" b="1">
                <a:ea typeface="黑体" panose="02010609060101010101" pitchFamily="49" charset="-122"/>
              </a:rPr>
              <a:t> B </a:t>
            </a:r>
            <a:r>
              <a:rPr lang="zh-CN" altLang="zh-CN" sz="2800" b="1">
                <a:ea typeface="黑体" panose="02010609060101010101" pitchFamily="49" charset="-122"/>
              </a:rPr>
              <a:t>的</a:t>
            </a:r>
            <a:r>
              <a:rPr lang="en-US" altLang="zh-CN" sz="2800" b="1">
                <a:ea typeface="黑体" panose="02010609060101010101" pitchFamily="49" charset="-122"/>
              </a:rPr>
              <a:t> PGP </a:t>
            </a:r>
            <a:r>
              <a:rPr lang="zh-CN" altLang="zh-CN" sz="2800" b="1">
                <a:ea typeface="黑体" panose="02010609060101010101" pitchFamily="49" charset="-122"/>
              </a:rPr>
              <a:t>处理过程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sp>
        <p:nvSpPr>
          <p:cNvPr id="2211845" name="Line 114"/>
          <p:cNvSpPr>
            <a:spLocks noChangeShapeType="1"/>
          </p:cNvSpPr>
          <p:nvPr/>
        </p:nvSpPr>
        <p:spPr bwMode="auto">
          <a:xfrm flipH="1">
            <a:off x="8288338" y="5978525"/>
            <a:ext cx="4333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46" name="Line 66"/>
          <p:cNvSpPr>
            <a:spLocks noChangeShapeType="1"/>
          </p:cNvSpPr>
          <p:nvPr/>
        </p:nvSpPr>
        <p:spPr bwMode="auto">
          <a:xfrm>
            <a:off x="7265988" y="5988050"/>
            <a:ext cx="463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47" name="Text Box 18"/>
          <p:cNvSpPr txBox="1">
            <a:spLocks noChangeArrowheads="1"/>
          </p:cNvSpPr>
          <p:nvPr/>
        </p:nvSpPr>
        <p:spPr bwMode="auto">
          <a:xfrm>
            <a:off x="5003800" y="5119688"/>
            <a:ext cx="1317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的公钥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48" name="Rectangle 52"/>
          <p:cNvSpPr>
            <a:spLocks noChangeArrowheads="1"/>
          </p:cNvSpPr>
          <p:nvPr/>
        </p:nvSpPr>
        <p:spPr bwMode="auto">
          <a:xfrm>
            <a:off x="8193088" y="5133975"/>
            <a:ext cx="1441450" cy="3825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MD5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运算</a:t>
            </a:r>
          </a:p>
        </p:txBody>
      </p:sp>
      <p:sp>
        <p:nvSpPr>
          <p:cNvPr id="2211849" name="Line 55"/>
          <p:cNvSpPr>
            <a:spLocks noChangeShapeType="1"/>
          </p:cNvSpPr>
          <p:nvPr/>
        </p:nvSpPr>
        <p:spPr bwMode="auto">
          <a:xfrm>
            <a:off x="7083425" y="5486400"/>
            <a:ext cx="0" cy="33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50" name="Line 59"/>
          <p:cNvSpPr>
            <a:spLocks noChangeShapeType="1"/>
          </p:cNvSpPr>
          <p:nvPr/>
        </p:nvSpPr>
        <p:spPr bwMode="auto">
          <a:xfrm rot="5400000" flipV="1">
            <a:off x="6506369" y="5174456"/>
            <a:ext cx="0" cy="30638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51" name="Rectangle 65"/>
          <p:cNvSpPr>
            <a:spLocks noChangeArrowheads="1"/>
          </p:cNvSpPr>
          <p:nvPr/>
        </p:nvSpPr>
        <p:spPr bwMode="auto">
          <a:xfrm>
            <a:off x="7535863" y="3870325"/>
            <a:ext cx="374650" cy="344488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52" name="Rectangle 64"/>
          <p:cNvSpPr>
            <a:spLocks noChangeArrowheads="1"/>
          </p:cNvSpPr>
          <p:nvPr/>
        </p:nvSpPr>
        <p:spPr bwMode="auto">
          <a:xfrm>
            <a:off x="7910513" y="3870325"/>
            <a:ext cx="782637" cy="341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2211853" name="Rectangle 69"/>
          <p:cNvSpPr>
            <a:spLocks noChangeArrowheads="1"/>
          </p:cNvSpPr>
          <p:nvPr/>
        </p:nvSpPr>
        <p:spPr bwMode="auto">
          <a:xfrm>
            <a:off x="4186238" y="4522788"/>
            <a:ext cx="1630362" cy="35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rIns="0" anchor="ctr"/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一次性密钥</a:t>
            </a:r>
          </a:p>
        </p:txBody>
      </p:sp>
      <p:sp>
        <p:nvSpPr>
          <p:cNvPr id="2211854" name="Line 72"/>
          <p:cNvSpPr>
            <a:spLocks noChangeShapeType="1"/>
          </p:cNvSpPr>
          <p:nvPr/>
        </p:nvSpPr>
        <p:spPr bwMode="auto">
          <a:xfrm flipH="1" flipV="1">
            <a:off x="4892675" y="4229100"/>
            <a:ext cx="1588" cy="28892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55" name="Text Box 76"/>
          <p:cNvSpPr txBox="1">
            <a:spLocks noChangeArrowheads="1"/>
          </p:cNvSpPr>
          <p:nvPr/>
        </p:nvSpPr>
        <p:spPr bwMode="auto">
          <a:xfrm>
            <a:off x="3657600" y="5837238"/>
            <a:ext cx="1330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的私钥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56" name="Line 81"/>
          <p:cNvSpPr>
            <a:spLocks noChangeShapeType="1"/>
          </p:cNvSpPr>
          <p:nvPr/>
        </p:nvSpPr>
        <p:spPr bwMode="auto">
          <a:xfrm flipV="1">
            <a:off x="1782763" y="4719638"/>
            <a:ext cx="91598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211857" name="Group 85"/>
          <p:cNvGrpSpPr>
            <a:grpSpLocks/>
          </p:cNvGrpSpPr>
          <p:nvPr/>
        </p:nvGrpSpPr>
        <p:grpSpPr bwMode="auto">
          <a:xfrm>
            <a:off x="1268413" y="4597400"/>
            <a:ext cx="509587" cy="246063"/>
            <a:chOff x="2736" y="3648"/>
            <a:chExt cx="432" cy="240"/>
          </a:xfrm>
        </p:grpSpPr>
        <p:grpSp>
          <p:nvGrpSpPr>
            <p:cNvPr id="2211858" name="Group 86"/>
            <p:cNvGrpSpPr>
              <a:grpSpLocks/>
            </p:cNvGrpSpPr>
            <p:nvPr/>
          </p:nvGrpSpPr>
          <p:grpSpPr bwMode="auto">
            <a:xfrm>
              <a:off x="2736" y="3648"/>
              <a:ext cx="432" cy="240"/>
              <a:chOff x="2592" y="3504"/>
              <a:chExt cx="576" cy="384"/>
            </a:xfrm>
          </p:grpSpPr>
          <p:sp>
            <p:nvSpPr>
              <p:cNvPr id="2211859" name="Rectangle 87"/>
              <p:cNvSpPr>
                <a:spLocks noChangeArrowheads="1"/>
              </p:cNvSpPr>
              <p:nvPr/>
            </p:nvSpPr>
            <p:spPr bwMode="auto">
              <a:xfrm>
                <a:off x="2592" y="3504"/>
                <a:ext cx="576" cy="38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11860" name="Freeform 88"/>
              <p:cNvSpPr>
                <a:spLocks noChangeArrowheads="1"/>
              </p:cNvSpPr>
              <p:nvPr/>
            </p:nvSpPr>
            <p:spPr bwMode="auto">
              <a:xfrm>
                <a:off x="2592" y="3504"/>
                <a:ext cx="576" cy="240"/>
              </a:xfrm>
              <a:custGeom>
                <a:avLst/>
                <a:gdLst>
                  <a:gd name="T0" fmla="*/ 0 w 576"/>
                  <a:gd name="T1" fmla="*/ 0 h 240"/>
                  <a:gd name="T2" fmla="*/ 288 w 576"/>
                  <a:gd name="T3" fmla="*/ 240 h 240"/>
                  <a:gd name="T4" fmla="*/ 576 w 576"/>
                  <a:gd name="T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240">
                    <a:moveTo>
                      <a:pt x="0" y="0"/>
                    </a:moveTo>
                    <a:lnTo>
                      <a:pt x="288" y="240"/>
                    </a:lnTo>
                    <a:lnTo>
                      <a:pt x="576" y="0"/>
                    </a:lnTo>
                  </a:path>
                </a:pathLst>
              </a:custGeom>
              <a:solidFill>
                <a:schemeClr val="bg1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11861" name="Line 89"/>
              <p:cNvSpPr>
                <a:spLocks noChangeShapeType="1"/>
              </p:cNvSpPr>
              <p:nvPr/>
            </p:nvSpPr>
            <p:spPr bwMode="auto">
              <a:xfrm flipV="1">
                <a:off x="2592" y="3704"/>
                <a:ext cx="232" cy="1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211862" name="Line 90"/>
              <p:cNvSpPr>
                <a:spLocks noChangeShapeType="1"/>
              </p:cNvSpPr>
              <p:nvPr/>
            </p:nvSpPr>
            <p:spPr bwMode="auto">
              <a:xfrm flipH="1" flipV="1">
                <a:off x="2936" y="3704"/>
                <a:ext cx="232" cy="1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211863" name="Line 91"/>
            <p:cNvSpPr>
              <a:spLocks noChangeShapeType="1"/>
            </p:cNvSpPr>
            <p:nvPr/>
          </p:nvSpPr>
          <p:spPr bwMode="auto">
            <a:xfrm>
              <a:off x="2736" y="3648"/>
              <a:ext cx="4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pic>
        <p:nvPicPr>
          <p:cNvPr id="2211864" name="Picture 92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4381500"/>
            <a:ext cx="260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1865" name="Rectangle 97"/>
          <p:cNvSpPr>
            <a:spLocks noChangeArrowheads="1"/>
          </p:cNvSpPr>
          <p:nvPr/>
        </p:nvSpPr>
        <p:spPr bwMode="auto">
          <a:xfrm>
            <a:off x="1782763" y="3640138"/>
            <a:ext cx="1563687" cy="741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加密的</a:t>
            </a:r>
            <a:endParaRPr lang="en-US" altLang="zh-CN" sz="20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扩展的邮件</a:t>
            </a:r>
          </a:p>
        </p:txBody>
      </p:sp>
      <p:sp>
        <p:nvSpPr>
          <p:cNvPr id="2211866" name="Line 99"/>
          <p:cNvSpPr>
            <a:spLocks noChangeShapeType="1"/>
          </p:cNvSpPr>
          <p:nvPr/>
        </p:nvSpPr>
        <p:spPr bwMode="auto">
          <a:xfrm>
            <a:off x="2690813" y="4381500"/>
            <a:ext cx="0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67" name="Rectangle 101"/>
          <p:cNvSpPr>
            <a:spLocks noChangeArrowheads="1"/>
          </p:cNvSpPr>
          <p:nvPr/>
        </p:nvSpPr>
        <p:spPr bwMode="auto">
          <a:xfrm>
            <a:off x="4495800" y="3868738"/>
            <a:ext cx="781050" cy="341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解密</a:t>
            </a:r>
          </a:p>
        </p:txBody>
      </p:sp>
      <p:sp>
        <p:nvSpPr>
          <p:cNvPr id="2211868" name="Line 102"/>
          <p:cNvSpPr>
            <a:spLocks noChangeShapeType="1"/>
          </p:cNvSpPr>
          <p:nvPr/>
        </p:nvSpPr>
        <p:spPr bwMode="auto">
          <a:xfrm>
            <a:off x="3346450" y="4040188"/>
            <a:ext cx="1130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69" name="Freeform 103"/>
          <p:cNvSpPr>
            <a:spLocks noChangeArrowheads="1"/>
          </p:cNvSpPr>
          <p:nvPr/>
        </p:nvSpPr>
        <p:spPr bwMode="auto">
          <a:xfrm flipV="1">
            <a:off x="4535488" y="4878388"/>
            <a:ext cx="349250" cy="438150"/>
          </a:xfrm>
          <a:custGeom>
            <a:avLst/>
            <a:gdLst>
              <a:gd name="T0" fmla="*/ 0 w 182"/>
              <a:gd name="T1" fmla="*/ 0 h 272"/>
              <a:gd name="T2" fmla="*/ 182 w 182"/>
              <a:gd name="T3" fmla="*/ 0 h 272"/>
              <a:gd name="T4" fmla="*/ 182 w 182"/>
              <a:gd name="T5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" h="272">
                <a:moveTo>
                  <a:pt x="0" y="0"/>
                </a:moveTo>
                <a:lnTo>
                  <a:pt x="182" y="0"/>
                </a:lnTo>
                <a:lnTo>
                  <a:pt x="182" y="27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0" name="Line 104"/>
          <p:cNvSpPr>
            <a:spLocks noChangeShapeType="1"/>
          </p:cNvSpPr>
          <p:nvPr/>
        </p:nvSpPr>
        <p:spPr bwMode="auto">
          <a:xfrm>
            <a:off x="5267325" y="4041775"/>
            <a:ext cx="2249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1" name="Rectangle 96"/>
          <p:cNvSpPr>
            <a:spLocks noChangeArrowheads="1"/>
          </p:cNvSpPr>
          <p:nvPr/>
        </p:nvSpPr>
        <p:spPr bwMode="auto">
          <a:xfrm>
            <a:off x="1782763" y="5116513"/>
            <a:ext cx="1563687" cy="373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加密的密钥</a:t>
            </a:r>
          </a:p>
        </p:txBody>
      </p:sp>
      <p:sp>
        <p:nvSpPr>
          <p:cNvPr id="2211872" name="Line 105"/>
          <p:cNvSpPr>
            <a:spLocks noChangeShapeType="1"/>
          </p:cNvSpPr>
          <p:nvPr/>
        </p:nvSpPr>
        <p:spPr bwMode="auto">
          <a:xfrm flipV="1">
            <a:off x="4264025" y="5486400"/>
            <a:ext cx="0" cy="3175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3" name="Line 80"/>
          <p:cNvSpPr>
            <a:spLocks noChangeShapeType="1"/>
          </p:cNvSpPr>
          <p:nvPr/>
        </p:nvSpPr>
        <p:spPr bwMode="auto">
          <a:xfrm>
            <a:off x="3346450" y="5327650"/>
            <a:ext cx="520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4" name="Rectangle 73"/>
          <p:cNvSpPr>
            <a:spLocks noChangeArrowheads="1"/>
          </p:cNvSpPr>
          <p:nvPr/>
        </p:nvSpPr>
        <p:spPr bwMode="auto">
          <a:xfrm>
            <a:off x="3867150" y="5146675"/>
            <a:ext cx="781050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解密</a:t>
            </a:r>
          </a:p>
        </p:txBody>
      </p:sp>
      <p:sp>
        <p:nvSpPr>
          <p:cNvPr id="2211875" name="Rectangle 106"/>
          <p:cNvSpPr>
            <a:spLocks noChangeArrowheads="1"/>
          </p:cNvSpPr>
          <p:nvPr/>
        </p:nvSpPr>
        <p:spPr bwMode="auto">
          <a:xfrm>
            <a:off x="6686550" y="5146675"/>
            <a:ext cx="782638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解密</a:t>
            </a:r>
          </a:p>
        </p:txBody>
      </p:sp>
      <p:sp>
        <p:nvSpPr>
          <p:cNvPr id="2211876" name="Freeform 107"/>
          <p:cNvSpPr>
            <a:spLocks noChangeArrowheads="1"/>
          </p:cNvSpPr>
          <p:nvPr/>
        </p:nvSpPr>
        <p:spPr bwMode="auto">
          <a:xfrm>
            <a:off x="7083425" y="4210050"/>
            <a:ext cx="608013" cy="936625"/>
          </a:xfrm>
          <a:custGeom>
            <a:avLst/>
            <a:gdLst>
              <a:gd name="T0" fmla="*/ 363 w 363"/>
              <a:gd name="T1" fmla="*/ 0 h 363"/>
              <a:gd name="T2" fmla="*/ 363 w 363"/>
              <a:gd name="T3" fmla="*/ 136 h 363"/>
              <a:gd name="T4" fmla="*/ 0 w 363"/>
              <a:gd name="T5" fmla="*/ 136 h 363"/>
              <a:gd name="T6" fmla="*/ 0 w 363"/>
              <a:gd name="T7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3" h="363">
                <a:moveTo>
                  <a:pt x="363" y="0"/>
                </a:moveTo>
                <a:lnTo>
                  <a:pt x="363" y="136"/>
                </a:lnTo>
                <a:lnTo>
                  <a:pt x="0" y="136"/>
                </a:lnTo>
                <a:lnTo>
                  <a:pt x="0" y="363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7" name="Freeform 108"/>
          <p:cNvSpPr>
            <a:spLocks noChangeArrowheads="1"/>
          </p:cNvSpPr>
          <p:nvPr/>
        </p:nvSpPr>
        <p:spPr bwMode="auto">
          <a:xfrm flipH="1">
            <a:off x="8348663" y="4210050"/>
            <a:ext cx="558800" cy="936625"/>
          </a:xfrm>
          <a:custGeom>
            <a:avLst/>
            <a:gdLst>
              <a:gd name="T0" fmla="*/ 363 w 363"/>
              <a:gd name="T1" fmla="*/ 0 h 363"/>
              <a:gd name="T2" fmla="*/ 363 w 363"/>
              <a:gd name="T3" fmla="*/ 136 h 363"/>
              <a:gd name="T4" fmla="*/ 0 w 363"/>
              <a:gd name="T5" fmla="*/ 136 h 363"/>
              <a:gd name="T6" fmla="*/ 0 w 363"/>
              <a:gd name="T7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3" h="363">
                <a:moveTo>
                  <a:pt x="363" y="0"/>
                </a:moveTo>
                <a:lnTo>
                  <a:pt x="363" y="136"/>
                </a:lnTo>
                <a:lnTo>
                  <a:pt x="0" y="136"/>
                </a:lnTo>
                <a:lnTo>
                  <a:pt x="0" y="363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78" name="Rectangle 109"/>
          <p:cNvSpPr>
            <a:spLocks noChangeArrowheads="1"/>
          </p:cNvSpPr>
          <p:nvPr/>
        </p:nvSpPr>
        <p:spPr bwMode="auto">
          <a:xfrm>
            <a:off x="6840538" y="5813425"/>
            <a:ext cx="503237" cy="3429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H</a:t>
            </a:r>
          </a:p>
        </p:txBody>
      </p:sp>
      <p:sp>
        <p:nvSpPr>
          <p:cNvPr id="2211879" name="Text Box 110"/>
          <p:cNvSpPr txBox="1">
            <a:spLocks noChangeArrowheads="1"/>
          </p:cNvSpPr>
          <p:nvPr/>
        </p:nvSpPr>
        <p:spPr bwMode="auto">
          <a:xfrm>
            <a:off x="6511925" y="6170613"/>
            <a:ext cx="133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报文摘要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0" name="Line 111"/>
          <p:cNvSpPr>
            <a:spLocks noChangeShapeType="1"/>
          </p:cNvSpPr>
          <p:nvPr/>
        </p:nvSpPr>
        <p:spPr bwMode="auto">
          <a:xfrm>
            <a:off x="8910638" y="5537200"/>
            <a:ext cx="0" cy="33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1" name="Rectangle 112"/>
          <p:cNvSpPr>
            <a:spLocks noChangeArrowheads="1"/>
          </p:cNvSpPr>
          <p:nvPr/>
        </p:nvSpPr>
        <p:spPr bwMode="auto">
          <a:xfrm>
            <a:off x="8685213" y="5851525"/>
            <a:ext cx="660400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H(X)</a:t>
            </a:r>
          </a:p>
        </p:txBody>
      </p:sp>
      <p:sp>
        <p:nvSpPr>
          <p:cNvPr id="2211882" name="Text Box 113"/>
          <p:cNvSpPr txBox="1">
            <a:spLocks noChangeArrowheads="1"/>
          </p:cNvSpPr>
          <p:nvPr/>
        </p:nvSpPr>
        <p:spPr bwMode="auto">
          <a:xfrm>
            <a:off x="8339138" y="6170613"/>
            <a:ext cx="1331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报文摘要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3" name="Text Box 115"/>
          <p:cNvSpPr txBox="1">
            <a:spLocks noChangeArrowheads="1"/>
          </p:cNvSpPr>
          <p:nvPr/>
        </p:nvSpPr>
        <p:spPr bwMode="auto">
          <a:xfrm>
            <a:off x="7650163" y="5815013"/>
            <a:ext cx="768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比较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4" name="AutoShape 116"/>
          <p:cNvSpPr>
            <a:spLocks noChangeArrowheads="1"/>
          </p:cNvSpPr>
          <p:nvPr/>
        </p:nvSpPr>
        <p:spPr bwMode="auto">
          <a:xfrm>
            <a:off x="539750" y="4630738"/>
            <a:ext cx="695325" cy="169862"/>
          </a:xfrm>
          <a:prstGeom prst="rightArrow">
            <a:avLst>
              <a:gd name="adj1" fmla="val 50000"/>
              <a:gd name="adj2" fmla="val 100252"/>
            </a:avLst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5" name="Text Box 117"/>
          <p:cNvSpPr txBox="1">
            <a:spLocks noChangeArrowheads="1"/>
          </p:cNvSpPr>
          <p:nvPr/>
        </p:nvSpPr>
        <p:spPr bwMode="auto">
          <a:xfrm>
            <a:off x="415925" y="4208463"/>
            <a:ext cx="768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接收</a:t>
            </a:r>
            <a:endParaRPr lang="zh-CN" altLang="en-US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6" name="Text Box 124"/>
          <p:cNvSpPr txBox="1">
            <a:spLocks noChangeArrowheads="1"/>
          </p:cNvSpPr>
          <p:nvPr/>
        </p:nvSpPr>
        <p:spPr bwMode="auto">
          <a:xfrm>
            <a:off x="6091238" y="4181475"/>
            <a:ext cx="842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MAC</a:t>
            </a:r>
            <a:endParaRPr lang="en-US" altLang="zh-CN" sz="2000" b="1" i="1" baseline="-2500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11887" name="Line 125"/>
          <p:cNvSpPr>
            <a:spLocks noChangeShapeType="1"/>
          </p:cNvSpPr>
          <p:nvPr/>
        </p:nvSpPr>
        <p:spPr bwMode="auto">
          <a:xfrm flipV="1">
            <a:off x="6840538" y="4011613"/>
            <a:ext cx="8890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2211888" name="组合 106"/>
          <p:cNvGrpSpPr>
            <a:grpSpLocks/>
          </p:cNvGrpSpPr>
          <p:nvPr/>
        </p:nvGrpSpPr>
        <p:grpSpPr bwMode="auto">
          <a:xfrm>
            <a:off x="4826000" y="5761038"/>
            <a:ext cx="342900" cy="476250"/>
            <a:chOff x="2936775" y="5445223"/>
            <a:chExt cx="342903" cy="475823"/>
          </a:xfrm>
        </p:grpSpPr>
        <p:sp>
          <p:nvSpPr>
            <p:cNvPr id="2211889" name="Rectangle 50"/>
            <p:cNvSpPr>
              <a:spLocks noChangeArrowheads="1"/>
            </p:cNvSpPr>
            <p:nvPr/>
          </p:nvSpPr>
          <p:spPr bwMode="auto">
            <a:xfrm>
              <a:off x="2936775" y="5445223"/>
              <a:ext cx="342903" cy="47582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2211890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915080" y="5565357"/>
              <a:ext cx="405620" cy="218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211891" name="Picture 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426870" y="4596606"/>
            <a:ext cx="4746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1892" name="Picture 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34088" y="5162550"/>
            <a:ext cx="4762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189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26A13D-260C-4364-8D4E-0471930BD88B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221189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88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接收方 </a:t>
            </a:r>
            <a:r>
              <a:rPr lang="en-US" altLang="zh-CN" smtClean="0">
                <a:ea typeface="黑体" panose="02010609060101010101" pitchFamily="49" charset="-122"/>
              </a:rPr>
              <a:t>B </a:t>
            </a:r>
            <a:r>
              <a:rPr lang="zh-CN" altLang="zh-CN" smtClean="0">
                <a:ea typeface="黑体" panose="02010609060101010101" pitchFamily="49" charset="-122"/>
              </a:rPr>
              <a:t>的</a:t>
            </a:r>
            <a:r>
              <a:rPr lang="zh-CN" altLang="en-US" smtClean="0">
                <a:ea typeface="黑体" panose="02010609060101010101" pitchFamily="49" charset="-122"/>
              </a:rPr>
              <a:t>工作</a:t>
            </a:r>
          </a:p>
        </p:txBody>
      </p:sp>
      <p:sp>
        <p:nvSpPr>
          <p:cNvPr id="221389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400" smtClean="0">
                <a:ea typeface="黑体" panose="02010609060101010101" pitchFamily="49" charset="-122"/>
              </a:rPr>
              <a:t>(1) </a:t>
            </a:r>
            <a:r>
              <a:rPr lang="zh-CN" altLang="zh-CN" sz="2400" smtClean="0">
                <a:ea typeface="黑体" panose="02010609060101010101" pitchFamily="49" charset="-122"/>
              </a:rPr>
              <a:t>把被加密的一次性密钥和被加密的扩展报文</a:t>
            </a:r>
            <a:r>
              <a:rPr lang="en-US" altLang="zh-CN" sz="2400" smtClean="0">
                <a:ea typeface="黑体" panose="02010609060101010101" pitchFamily="49" charset="-122"/>
              </a:rPr>
              <a:t> (</a:t>
            </a:r>
            <a:r>
              <a:rPr lang="en-US" altLang="zh-CN" sz="2400" i="1" smtClean="0">
                <a:ea typeface="黑体" panose="02010609060101010101" pitchFamily="49" charset="-122"/>
              </a:rPr>
              <a:t>X</a:t>
            </a:r>
            <a:r>
              <a:rPr lang="en-US" altLang="zh-CN" sz="2400" smtClean="0">
                <a:ea typeface="黑体" panose="02010609060101010101" pitchFamily="49" charset="-122"/>
              </a:rPr>
              <a:t>, MAC) </a:t>
            </a:r>
            <a:r>
              <a:rPr lang="zh-CN" altLang="zh-CN" sz="2400" smtClean="0">
                <a:ea typeface="黑体" panose="02010609060101010101" pitchFamily="49" charset="-122"/>
              </a:rPr>
              <a:t>分离开。</a:t>
            </a:r>
          </a:p>
          <a:p>
            <a:r>
              <a:rPr lang="en-US" altLang="zh-CN" sz="2400" smtClean="0">
                <a:ea typeface="黑体" panose="02010609060101010101" pitchFamily="49" charset="-122"/>
              </a:rPr>
              <a:t>(2) </a:t>
            </a:r>
            <a:r>
              <a:rPr lang="zh-CN" altLang="zh-CN" sz="2400" smtClean="0">
                <a:ea typeface="黑体" panose="02010609060101010101" pitchFamily="49" charset="-122"/>
              </a:rPr>
              <a:t>用</a:t>
            </a:r>
            <a:r>
              <a:rPr lang="en-US" altLang="zh-CN" sz="2400" smtClean="0">
                <a:ea typeface="黑体" panose="02010609060101010101" pitchFamily="49" charset="-122"/>
              </a:rPr>
              <a:t> B </a:t>
            </a:r>
            <a:r>
              <a:rPr lang="zh-CN" altLang="zh-CN" sz="2400" smtClean="0">
                <a:ea typeface="黑体" panose="02010609060101010101" pitchFamily="49" charset="-122"/>
              </a:rPr>
              <a:t>自己的私钥解出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的一次性密钥。</a:t>
            </a:r>
          </a:p>
          <a:p>
            <a:r>
              <a:rPr lang="en-US" altLang="zh-CN" sz="2400" smtClean="0">
                <a:ea typeface="黑体" panose="02010609060101010101" pitchFamily="49" charset="-122"/>
              </a:rPr>
              <a:t>(3) </a:t>
            </a:r>
            <a:r>
              <a:rPr lang="zh-CN" altLang="zh-CN" sz="2400" smtClean="0">
                <a:ea typeface="黑体" panose="02010609060101010101" pitchFamily="49" charset="-122"/>
              </a:rPr>
              <a:t>用解出的一次性密钥对报文进行解密，然后分离出明文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X </a:t>
            </a:r>
            <a:r>
              <a:rPr lang="zh-CN" altLang="zh-CN" sz="2400" smtClean="0">
                <a:ea typeface="黑体" panose="02010609060101010101" pitchFamily="49" charset="-122"/>
              </a:rPr>
              <a:t>和</a:t>
            </a:r>
            <a:r>
              <a:rPr lang="en-US" altLang="zh-CN" sz="2400" smtClean="0">
                <a:ea typeface="黑体" panose="02010609060101010101" pitchFamily="49" charset="-122"/>
              </a:rPr>
              <a:t> MAC</a:t>
            </a:r>
            <a:r>
              <a:rPr lang="zh-CN" altLang="zh-CN" sz="240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400" smtClean="0">
                <a:ea typeface="黑体" panose="02010609060101010101" pitchFamily="49" charset="-122"/>
              </a:rPr>
              <a:t>(4) </a:t>
            </a:r>
            <a:r>
              <a:rPr lang="zh-CN" altLang="zh-CN" sz="2400" smtClean="0">
                <a:ea typeface="黑体" panose="02010609060101010101" pitchFamily="49" charset="-122"/>
              </a:rPr>
              <a:t>用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的公钥对</a:t>
            </a:r>
            <a:r>
              <a:rPr lang="en-US" altLang="zh-CN" sz="2400" smtClean="0">
                <a:ea typeface="黑体" panose="02010609060101010101" pitchFamily="49" charset="-122"/>
              </a:rPr>
              <a:t> MAC </a:t>
            </a:r>
            <a:r>
              <a:rPr lang="zh-CN" altLang="zh-CN" sz="2400" smtClean="0">
                <a:ea typeface="黑体" panose="02010609060101010101" pitchFamily="49" charset="-122"/>
              </a:rPr>
              <a:t>进行解密（即签名核实），得出报文摘要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H</a:t>
            </a:r>
            <a:r>
              <a:rPr lang="zh-CN" altLang="zh-CN" sz="2400" smtClean="0">
                <a:ea typeface="黑体" panose="02010609060101010101" pitchFamily="49" charset="-122"/>
              </a:rPr>
              <a:t>。这个报文摘要就是</a:t>
            </a:r>
            <a:r>
              <a:rPr lang="en-US" altLang="zh-CN" sz="2400" smtClean="0">
                <a:ea typeface="黑体" panose="02010609060101010101" pitchFamily="49" charset="-122"/>
              </a:rPr>
              <a:t> A </a:t>
            </a:r>
            <a:r>
              <a:rPr lang="zh-CN" altLang="zh-CN" sz="2400" smtClean="0">
                <a:ea typeface="黑体" panose="02010609060101010101" pitchFamily="49" charset="-122"/>
              </a:rPr>
              <a:t>原先用明文邮件</a:t>
            </a:r>
            <a:r>
              <a:rPr lang="en-US" altLang="zh-CN" sz="2400" smtClean="0">
                <a:ea typeface="黑体" panose="02010609060101010101" pitchFamily="49" charset="-122"/>
              </a:rPr>
              <a:t> X </a:t>
            </a:r>
            <a:r>
              <a:rPr lang="zh-CN" altLang="zh-CN" sz="2400" smtClean="0">
                <a:ea typeface="黑体" panose="02010609060101010101" pitchFamily="49" charset="-122"/>
              </a:rPr>
              <a:t>通过</a:t>
            </a:r>
            <a:r>
              <a:rPr lang="en-US" altLang="zh-CN" sz="2400" smtClean="0">
                <a:ea typeface="黑体" panose="02010609060101010101" pitchFamily="49" charset="-122"/>
              </a:rPr>
              <a:t> MD5 </a:t>
            </a:r>
            <a:r>
              <a:rPr lang="zh-CN" altLang="zh-CN" sz="2400" smtClean="0">
                <a:ea typeface="黑体" panose="02010609060101010101" pitchFamily="49" charset="-122"/>
              </a:rPr>
              <a:t>运算生成的那个报文摘要。</a:t>
            </a:r>
          </a:p>
          <a:p>
            <a:r>
              <a:rPr lang="en-US" altLang="zh-CN" sz="2400" smtClean="0">
                <a:ea typeface="黑体" panose="02010609060101010101" pitchFamily="49" charset="-122"/>
              </a:rPr>
              <a:t>(5) </a:t>
            </a:r>
            <a:r>
              <a:rPr lang="zh-CN" altLang="zh-CN" sz="2400" smtClean="0">
                <a:ea typeface="黑体" panose="02010609060101010101" pitchFamily="49" charset="-122"/>
              </a:rPr>
              <a:t>对分离出的明文邮件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X </a:t>
            </a:r>
            <a:r>
              <a:rPr lang="zh-CN" altLang="zh-CN" sz="2400" smtClean="0">
                <a:ea typeface="黑体" panose="02010609060101010101" pitchFamily="49" charset="-122"/>
              </a:rPr>
              <a:t>进行</a:t>
            </a:r>
            <a:r>
              <a:rPr lang="en-US" altLang="zh-CN" sz="2400" smtClean="0">
                <a:ea typeface="黑体" panose="02010609060101010101" pitchFamily="49" charset="-122"/>
              </a:rPr>
              <a:t> MD5 </a:t>
            </a:r>
            <a:r>
              <a:rPr lang="zh-CN" altLang="zh-CN" sz="2400" smtClean="0">
                <a:ea typeface="黑体" panose="02010609060101010101" pitchFamily="49" charset="-122"/>
              </a:rPr>
              <a:t>报文摘要运算，得出另一个报文摘要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H</a:t>
            </a:r>
            <a:r>
              <a:rPr lang="en-US" altLang="zh-CN" sz="2400" smtClean="0">
                <a:ea typeface="黑体" panose="02010609060101010101" pitchFamily="49" charset="-122"/>
              </a:rPr>
              <a:t>(</a:t>
            </a:r>
            <a:r>
              <a:rPr lang="en-US" altLang="zh-CN" sz="2400" i="1" smtClean="0">
                <a:ea typeface="黑体" panose="02010609060101010101" pitchFamily="49" charset="-122"/>
              </a:rPr>
              <a:t>X</a:t>
            </a:r>
            <a:r>
              <a:rPr lang="en-US" altLang="zh-CN" sz="2400" smtClean="0">
                <a:ea typeface="黑体" panose="02010609060101010101" pitchFamily="49" charset="-122"/>
              </a:rPr>
              <a:t>)</a:t>
            </a:r>
            <a:r>
              <a:rPr lang="zh-CN" altLang="zh-CN" sz="2400" smtClean="0">
                <a:ea typeface="黑体" panose="02010609060101010101" pitchFamily="49" charset="-122"/>
              </a:rPr>
              <a:t>。把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H</a:t>
            </a:r>
            <a:r>
              <a:rPr lang="en-US" altLang="zh-CN" sz="2400" smtClean="0">
                <a:ea typeface="黑体" panose="02010609060101010101" pitchFamily="49" charset="-122"/>
              </a:rPr>
              <a:t>(</a:t>
            </a:r>
            <a:r>
              <a:rPr lang="en-US" altLang="zh-CN" sz="2400" i="1" smtClean="0">
                <a:ea typeface="黑体" panose="02010609060101010101" pitchFamily="49" charset="-122"/>
              </a:rPr>
              <a:t>X</a:t>
            </a:r>
            <a:r>
              <a:rPr lang="en-US" altLang="zh-CN" sz="2400" smtClean="0">
                <a:ea typeface="黑体" panose="02010609060101010101" pitchFamily="49" charset="-122"/>
              </a:rPr>
              <a:t>) </a:t>
            </a:r>
            <a:r>
              <a:rPr lang="zh-CN" altLang="zh-CN" sz="2400" smtClean="0">
                <a:ea typeface="黑体" panose="02010609060101010101" pitchFamily="49" charset="-122"/>
              </a:rPr>
              <a:t>和前面得出的</a:t>
            </a:r>
            <a:r>
              <a:rPr lang="en-US" altLang="zh-CN" sz="2400" smtClean="0">
                <a:ea typeface="黑体" panose="02010609060101010101" pitchFamily="49" charset="-122"/>
              </a:rPr>
              <a:t> </a:t>
            </a:r>
            <a:r>
              <a:rPr lang="en-US" altLang="zh-CN" sz="2400" i="1" smtClean="0">
                <a:ea typeface="黑体" panose="02010609060101010101" pitchFamily="49" charset="-122"/>
              </a:rPr>
              <a:t>H </a:t>
            </a:r>
            <a:r>
              <a:rPr lang="zh-CN" altLang="zh-CN" sz="2400" smtClean="0">
                <a:ea typeface="黑体" panose="02010609060101010101" pitchFamily="49" charset="-122"/>
              </a:rPr>
              <a:t>进行比较，是否和一样。如一样，则对邮件的发送方的鉴别就通过了，报文的完整性也得到肯定。</a:t>
            </a:r>
          </a:p>
          <a:p>
            <a:endParaRPr lang="zh-CN" altLang="en-US" sz="2400" smtClean="0">
              <a:ea typeface="黑体" panose="02010609060101010101" pitchFamily="49" charset="-122"/>
            </a:endParaRPr>
          </a:p>
        </p:txBody>
      </p:sp>
      <p:sp>
        <p:nvSpPr>
          <p:cNvPr id="221389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3F35FF-2B54-4363-99C5-634096B222DF}" type="slidenum">
              <a:rPr lang="zh-CN" altLang="en-US" smtClean="0"/>
              <a:pPr eaLnBrk="1" hangingPunct="1"/>
              <a:t>48</a:t>
            </a:fld>
            <a:endParaRPr lang="en-US" altLang="zh-CN" smtClean="0"/>
          </a:p>
        </p:txBody>
      </p:sp>
      <p:sp>
        <p:nvSpPr>
          <p:cNvPr id="221389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9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7.7  </a:t>
            </a:r>
            <a:r>
              <a:rPr lang="zh-CN" altLang="zh-CN" sz="4000" smtClean="0">
                <a:ea typeface="黑体" panose="02010609060101010101" pitchFamily="49" charset="-122"/>
              </a:rPr>
              <a:t>系统安全：防火墙与入侵检测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2159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7.7.1  </a:t>
            </a:r>
            <a:r>
              <a:rPr lang="zh-CN" altLang="zh-CN" smtClean="0">
                <a:ea typeface="黑体" panose="02010609060101010101" pitchFamily="49" charset="-122"/>
              </a:rPr>
              <a:t>防火墙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7.7.2  </a:t>
            </a:r>
            <a:r>
              <a:rPr lang="zh-CN" altLang="zh-CN" smtClean="0">
                <a:ea typeface="黑体" panose="02010609060101010101" pitchFamily="49" charset="-122"/>
              </a:rPr>
              <a:t>入侵检测系统</a:t>
            </a:r>
          </a:p>
        </p:txBody>
      </p:sp>
      <p:sp>
        <p:nvSpPr>
          <p:cNvPr id="22159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ABB99A-65B1-4A3F-9B9F-9FF0D003B067}" type="slidenum">
              <a:rPr lang="zh-CN" altLang="en-US" smtClean="0"/>
              <a:pPr eaLnBrk="1" hangingPunct="1"/>
              <a:t>49</a:t>
            </a:fld>
            <a:endParaRPr lang="en-US" altLang="zh-CN" smtClean="0"/>
          </a:p>
        </p:txBody>
      </p:sp>
      <p:sp>
        <p:nvSpPr>
          <p:cNvPr id="221594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9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7.7.1  </a:t>
            </a:r>
            <a:r>
              <a:rPr lang="zh-CN" altLang="zh-CN" smtClean="0">
                <a:ea typeface="黑体" panose="02010609060101010101" pitchFamily="49" charset="-122"/>
              </a:rPr>
              <a:t>防火墙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62566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防火墙</a:t>
            </a:r>
            <a:r>
              <a:rPr lang="zh-CN" altLang="en-US" dirty="0" smtClean="0">
                <a:ea typeface="黑体" panose="02010609060101010101" pitchFamily="49" charset="-122"/>
              </a:rPr>
              <a:t>是由软件、硬件构成的系统，是一种特殊编程的路由器，用来在两个网络之间实施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访问控制策略。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访问控制策略是由使用防火墙的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单位自行制订</a:t>
            </a:r>
            <a:r>
              <a:rPr lang="zh-CN" altLang="en-US" dirty="0" smtClean="0">
                <a:ea typeface="黑体" panose="02010609060101010101" pitchFamily="49" charset="-122"/>
              </a:rPr>
              <a:t>的，为的是可以最适合本单位的需要。</a:t>
            </a:r>
          </a:p>
          <a:p>
            <a:pPr>
              <a:lnSpc>
                <a:spcPct val="100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防火墙内的网络称为“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可信的网络</a:t>
            </a:r>
            <a:r>
              <a:rPr lang="zh-CN" altLang="en-US" dirty="0" smtClean="0">
                <a:ea typeface="黑体" panose="02010609060101010101" pitchFamily="49" charset="-122"/>
              </a:rPr>
              <a:t>”</a:t>
            </a:r>
            <a:r>
              <a:rPr lang="en-US" altLang="zh-CN" dirty="0" smtClean="0">
                <a:ea typeface="黑体" panose="02010609060101010101" pitchFamily="49" charset="-122"/>
              </a:rPr>
              <a:t>(trusted network)</a:t>
            </a:r>
            <a:r>
              <a:rPr lang="zh-CN" altLang="en-US" dirty="0" smtClean="0">
                <a:ea typeface="黑体" panose="02010609060101010101" pitchFamily="49" charset="-122"/>
              </a:rPr>
              <a:t>，而将外部的因特网称为“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不可信的网络</a:t>
            </a:r>
            <a:r>
              <a:rPr lang="zh-CN" altLang="en-US" dirty="0" smtClean="0">
                <a:ea typeface="黑体" panose="02010609060101010101" pitchFamily="49" charset="-122"/>
              </a:rPr>
              <a:t>”</a:t>
            </a:r>
            <a:r>
              <a:rPr lang="en-US" altLang="zh-CN" dirty="0" smtClean="0">
                <a:ea typeface="黑体" panose="02010609060101010101" pitchFamily="49" charset="-122"/>
              </a:rPr>
              <a:t>(untrusted network)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防火墙可用来解决内联网和外联网的安全问题。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2169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400738-5A19-4447-B71E-A7149CDE5B0D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22169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防火墙在互连网络中的位置 </a:t>
            </a:r>
          </a:p>
        </p:txBody>
      </p:sp>
      <p:sp>
        <p:nvSpPr>
          <p:cNvPr id="2219010" name="AutoShape 34"/>
          <p:cNvSpPr>
            <a:spLocks noChangeArrowheads="1"/>
          </p:cNvSpPr>
          <p:nvPr/>
        </p:nvSpPr>
        <p:spPr bwMode="auto">
          <a:xfrm>
            <a:off x="3048000" y="2247900"/>
            <a:ext cx="4292600" cy="2209800"/>
          </a:xfrm>
          <a:prstGeom prst="cube">
            <a:avLst>
              <a:gd name="adj" fmla="val 11935"/>
            </a:avLst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11" name="Line 35"/>
          <p:cNvSpPr>
            <a:spLocks noChangeShapeType="1"/>
          </p:cNvSpPr>
          <p:nvPr/>
        </p:nvSpPr>
        <p:spPr bwMode="auto">
          <a:xfrm>
            <a:off x="6515100" y="3543300"/>
            <a:ext cx="132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pic>
        <p:nvPicPr>
          <p:cNvPr id="2219012" name="Picture 3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3009900"/>
            <a:ext cx="18986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9013" name="Line 37"/>
          <p:cNvSpPr>
            <a:spLocks noChangeShapeType="1"/>
          </p:cNvSpPr>
          <p:nvPr/>
        </p:nvSpPr>
        <p:spPr bwMode="auto">
          <a:xfrm>
            <a:off x="3460750" y="4076700"/>
            <a:ext cx="1403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14" name="Line 38"/>
          <p:cNvSpPr>
            <a:spLocks noChangeShapeType="1"/>
          </p:cNvSpPr>
          <p:nvPr/>
        </p:nvSpPr>
        <p:spPr bwMode="auto">
          <a:xfrm rot="-5400000">
            <a:off x="3556000" y="39243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15" name="Line 39"/>
          <p:cNvSpPr>
            <a:spLocks noChangeShapeType="1"/>
          </p:cNvSpPr>
          <p:nvPr/>
        </p:nvSpPr>
        <p:spPr bwMode="auto">
          <a:xfrm rot="-5400000">
            <a:off x="4546600" y="39243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grpSp>
        <p:nvGrpSpPr>
          <p:cNvPr id="2219016" name="Group 40"/>
          <p:cNvGrpSpPr>
            <a:grpSpLocks/>
          </p:cNvGrpSpPr>
          <p:nvPr/>
        </p:nvGrpSpPr>
        <p:grpSpPr bwMode="auto">
          <a:xfrm>
            <a:off x="5029200" y="3619500"/>
            <a:ext cx="1403350" cy="457200"/>
            <a:chOff x="1440" y="1872"/>
            <a:chExt cx="816" cy="192"/>
          </a:xfrm>
        </p:grpSpPr>
        <p:sp>
          <p:nvSpPr>
            <p:cNvPr id="2219017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219018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219019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33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219020" name="Line 44"/>
          <p:cNvSpPr>
            <a:spLocks noChangeShapeType="1"/>
          </p:cNvSpPr>
          <p:nvPr/>
        </p:nvSpPr>
        <p:spPr bwMode="auto">
          <a:xfrm>
            <a:off x="2717800" y="3619500"/>
            <a:ext cx="66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21" name="Text Box 45"/>
          <p:cNvSpPr txBox="1">
            <a:spLocks noChangeArrowheads="1"/>
          </p:cNvSpPr>
          <p:nvPr/>
        </p:nvSpPr>
        <p:spPr bwMode="auto">
          <a:xfrm>
            <a:off x="8001000" y="3357563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3399"/>
                </a:solidFill>
                <a:ea typeface="黑体" panose="02010609060101010101" pitchFamily="49" charset="-122"/>
              </a:rPr>
              <a:t>内联网</a:t>
            </a:r>
          </a:p>
        </p:txBody>
      </p:sp>
      <p:sp>
        <p:nvSpPr>
          <p:cNvPr id="2219022" name="Oval 46"/>
          <p:cNvSpPr>
            <a:spLocks noChangeArrowheads="1"/>
          </p:cNvSpPr>
          <p:nvPr/>
        </p:nvSpPr>
        <p:spPr bwMode="auto">
          <a:xfrm>
            <a:off x="7423150" y="2476500"/>
            <a:ext cx="2063750" cy="1905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23" name="Text Box 47"/>
          <p:cNvSpPr txBox="1">
            <a:spLocks noChangeArrowheads="1"/>
          </p:cNvSpPr>
          <p:nvPr/>
        </p:nvSpPr>
        <p:spPr bwMode="auto">
          <a:xfrm>
            <a:off x="7788275" y="2692400"/>
            <a:ext cx="1347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可信的网络</a:t>
            </a:r>
          </a:p>
        </p:txBody>
      </p:sp>
      <p:sp>
        <p:nvSpPr>
          <p:cNvPr id="2219024" name="Text Box 48"/>
          <p:cNvSpPr txBox="1">
            <a:spLocks noChangeArrowheads="1"/>
          </p:cNvSpPr>
          <p:nvPr/>
        </p:nvSpPr>
        <p:spPr bwMode="auto">
          <a:xfrm>
            <a:off x="939800" y="2489200"/>
            <a:ext cx="1577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不可信的网络</a:t>
            </a:r>
          </a:p>
        </p:txBody>
      </p:sp>
      <p:sp>
        <p:nvSpPr>
          <p:cNvPr id="2219025" name="Text Box 49"/>
          <p:cNvSpPr txBox="1">
            <a:spLocks noChangeArrowheads="1"/>
          </p:cNvSpPr>
          <p:nvPr/>
        </p:nvSpPr>
        <p:spPr bwMode="auto">
          <a:xfrm>
            <a:off x="3230563" y="2628900"/>
            <a:ext cx="1114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分组过滤</a:t>
            </a:r>
          </a:p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路由器</a:t>
            </a:r>
          </a:p>
        </p:txBody>
      </p:sp>
      <p:sp>
        <p:nvSpPr>
          <p:cNvPr id="2219026" name="Text Box 50"/>
          <p:cNvSpPr txBox="1">
            <a:spLocks noChangeArrowheads="1"/>
          </p:cNvSpPr>
          <p:nvPr/>
        </p:nvSpPr>
        <p:spPr bwMode="auto">
          <a:xfrm>
            <a:off x="5764213" y="2628900"/>
            <a:ext cx="1114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分组过滤</a:t>
            </a:r>
          </a:p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路由器</a:t>
            </a:r>
          </a:p>
        </p:txBody>
      </p:sp>
      <p:sp>
        <p:nvSpPr>
          <p:cNvPr id="2219027" name="Text Box 51"/>
          <p:cNvSpPr txBox="1">
            <a:spLocks noChangeArrowheads="1"/>
          </p:cNvSpPr>
          <p:nvPr/>
        </p:nvSpPr>
        <p:spPr bwMode="auto">
          <a:xfrm>
            <a:off x="4451350" y="2781300"/>
            <a:ext cx="1114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应用网关</a:t>
            </a:r>
          </a:p>
        </p:txBody>
      </p:sp>
      <p:sp>
        <p:nvSpPr>
          <p:cNvPr id="2219028" name="Text Box 52"/>
          <p:cNvSpPr txBox="1">
            <a:spLocks noChangeArrowheads="1"/>
          </p:cNvSpPr>
          <p:nvPr/>
        </p:nvSpPr>
        <p:spPr bwMode="auto">
          <a:xfrm>
            <a:off x="3368675" y="4076700"/>
            <a:ext cx="1114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外局域网</a:t>
            </a:r>
          </a:p>
        </p:txBody>
      </p:sp>
      <p:sp>
        <p:nvSpPr>
          <p:cNvPr id="2219029" name="Text Box 53"/>
          <p:cNvSpPr txBox="1">
            <a:spLocks noChangeArrowheads="1"/>
          </p:cNvSpPr>
          <p:nvPr/>
        </p:nvSpPr>
        <p:spPr bwMode="auto">
          <a:xfrm>
            <a:off x="5186363" y="4076700"/>
            <a:ext cx="1114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3399"/>
                </a:solidFill>
                <a:ea typeface="黑体" panose="02010609060101010101" pitchFamily="49" charset="-122"/>
              </a:rPr>
              <a:t>内局域网</a:t>
            </a:r>
          </a:p>
        </p:txBody>
      </p:sp>
      <p:sp>
        <p:nvSpPr>
          <p:cNvPr id="2219030" name="Text Box 54"/>
          <p:cNvSpPr txBox="1">
            <a:spLocks noChangeArrowheads="1"/>
          </p:cNvSpPr>
          <p:nvPr/>
        </p:nvSpPr>
        <p:spPr bwMode="auto">
          <a:xfrm>
            <a:off x="4737100" y="1866900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防火墙</a:t>
            </a:r>
          </a:p>
        </p:txBody>
      </p:sp>
      <p:pic>
        <p:nvPicPr>
          <p:cNvPr id="2219031" name="Picture 5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925" y="3429000"/>
            <a:ext cx="742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9032" name="Picture 5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3378200"/>
            <a:ext cx="742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19033" name="Group 57"/>
          <p:cNvGrpSpPr>
            <a:grpSpLocks/>
          </p:cNvGrpSpPr>
          <p:nvPr/>
        </p:nvGrpSpPr>
        <p:grpSpPr bwMode="auto">
          <a:xfrm>
            <a:off x="4616450" y="3162300"/>
            <a:ext cx="660400" cy="609600"/>
            <a:chOff x="2256" y="1488"/>
            <a:chExt cx="384" cy="384"/>
          </a:xfrm>
        </p:grpSpPr>
        <p:sp>
          <p:nvSpPr>
            <p:cNvPr id="2219034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219035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12" cy="233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3399"/>
                  </a:solidFill>
                  <a:ea typeface="黑体" panose="02010609060101010101" pitchFamily="49" charset="-122"/>
                </a:rPr>
                <a:t>G</a:t>
              </a:r>
            </a:p>
          </p:txBody>
        </p:sp>
      </p:grpSp>
      <p:graphicFrame>
        <p:nvGraphicFramePr>
          <p:cNvPr id="2219036" name="Object 60"/>
          <p:cNvGraphicFramePr>
            <a:graphicFrameLocks noChangeAspect="1"/>
          </p:cNvGraphicFramePr>
          <p:nvPr/>
        </p:nvGraphicFramePr>
        <p:xfrm>
          <a:off x="488950" y="2857500"/>
          <a:ext cx="23939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072" r:id="rId6" imgW="1687068" imgH="964692" progId="Visio.Drawing.6">
                  <p:embed/>
                </p:oleObj>
              </mc:Choice>
              <mc:Fallback>
                <p:oleObj r:id="rId6" imgW="1687068" imgH="964692" progId="Visio.Drawing.6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857500"/>
                        <a:ext cx="239395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9037" name="Text Box 61"/>
          <p:cNvSpPr txBox="1">
            <a:spLocks noChangeArrowheads="1"/>
          </p:cNvSpPr>
          <p:nvPr/>
        </p:nvSpPr>
        <p:spPr bwMode="auto">
          <a:xfrm>
            <a:off x="1208088" y="3343275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3399"/>
                </a:solidFill>
                <a:ea typeface="黑体" panose="02010609060101010101" pitchFamily="49" charset="-122"/>
              </a:rPr>
              <a:t>互联网</a:t>
            </a:r>
          </a:p>
        </p:txBody>
      </p:sp>
      <p:sp>
        <p:nvSpPr>
          <p:cNvPr id="2219038" name="Line 62"/>
          <p:cNvSpPr>
            <a:spLocks noChangeShapeType="1"/>
          </p:cNvSpPr>
          <p:nvPr/>
        </p:nvSpPr>
        <p:spPr bwMode="auto">
          <a:xfrm flipH="1">
            <a:off x="3082925" y="2060575"/>
            <a:ext cx="140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39" name="Text Box 63"/>
          <p:cNvSpPr txBox="1">
            <a:spLocks noChangeArrowheads="1"/>
          </p:cNvSpPr>
          <p:nvPr/>
        </p:nvSpPr>
        <p:spPr bwMode="auto">
          <a:xfrm>
            <a:off x="7324725" y="1868488"/>
            <a:ext cx="1731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3399"/>
                </a:solidFill>
                <a:ea typeface="黑体" panose="02010609060101010101" pitchFamily="49" charset="-122"/>
              </a:rPr>
              <a:t>防火墙的里面</a:t>
            </a:r>
          </a:p>
        </p:txBody>
      </p:sp>
      <p:sp>
        <p:nvSpPr>
          <p:cNvPr id="2219040" name="Text Box 64"/>
          <p:cNvSpPr txBox="1">
            <a:spLocks noChangeArrowheads="1"/>
          </p:cNvSpPr>
          <p:nvPr/>
        </p:nvSpPr>
        <p:spPr bwMode="auto">
          <a:xfrm>
            <a:off x="1281113" y="1844675"/>
            <a:ext cx="1731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3399"/>
                </a:solidFill>
                <a:ea typeface="黑体" panose="02010609060101010101" pitchFamily="49" charset="-122"/>
              </a:rPr>
              <a:t>防火墙的外面</a:t>
            </a:r>
          </a:p>
        </p:txBody>
      </p:sp>
      <p:sp>
        <p:nvSpPr>
          <p:cNvPr id="2219041" name="AutoShape 65"/>
          <p:cNvSpPr>
            <a:spLocks noChangeArrowheads="1"/>
          </p:cNvSpPr>
          <p:nvPr/>
        </p:nvSpPr>
        <p:spPr bwMode="auto">
          <a:xfrm>
            <a:off x="4486275" y="1773238"/>
            <a:ext cx="5149850" cy="28797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21904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490AAC-5AE0-46E1-B630-9E8F7B2DB365}" type="slidenum">
              <a:rPr lang="zh-CN" altLang="en-US" smtClean="0"/>
              <a:pPr eaLnBrk="1" hangingPunct="1"/>
              <a:t>51</a:t>
            </a:fld>
            <a:endParaRPr lang="en-US" altLang="zh-CN" smtClean="0"/>
          </a:p>
        </p:txBody>
      </p:sp>
      <p:sp>
        <p:nvSpPr>
          <p:cNvPr id="2219043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0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防火墙的功能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防火墙的功能有两个：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阻止</a:t>
            </a:r>
            <a:r>
              <a:rPr lang="zh-CN" altLang="en-US" smtClean="0">
                <a:ea typeface="黑体" panose="02010609060101010101" pitchFamily="49" charset="-122"/>
              </a:rPr>
              <a:t>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允许。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“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阻止</a:t>
            </a:r>
            <a:r>
              <a:rPr lang="zh-CN" altLang="en-US" smtClean="0">
                <a:ea typeface="黑体" panose="02010609060101010101" pitchFamily="49" charset="-122"/>
              </a:rPr>
              <a:t>”就是阻止某种类型的通信量通过防火墙（从外部网络到内部网络，或反过来）。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“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允许</a:t>
            </a:r>
            <a:r>
              <a:rPr lang="zh-CN" altLang="en-US" smtClean="0">
                <a:ea typeface="黑体" panose="02010609060101010101" pitchFamily="49" charset="-122"/>
              </a:rPr>
              <a:t>”的功能与“阻止”恰好相反。</a:t>
            </a:r>
          </a:p>
          <a:p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防火墙必须能够识别通信量的各种类型。不过在大多数情况下防火墙的主要功能是“阻止”。</a:t>
            </a:r>
          </a:p>
        </p:txBody>
      </p:sp>
      <p:sp>
        <p:nvSpPr>
          <p:cNvPr id="22210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492C63-7E7F-4B85-8E39-397D9D576DE6}" type="slidenum">
              <a:rPr lang="zh-CN" altLang="en-US" smtClean="0"/>
              <a:pPr eaLnBrk="1" hangingPunct="1"/>
              <a:t>52</a:t>
            </a:fld>
            <a:endParaRPr lang="en-US" altLang="zh-CN" smtClean="0"/>
          </a:p>
        </p:txBody>
      </p:sp>
      <p:sp>
        <p:nvSpPr>
          <p:cNvPr id="22210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1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49" charset="-122"/>
              </a:rPr>
              <a:t>防火墙技术一般分为两类 </a:t>
            </a:r>
          </a:p>
        </p:txBody>
      </p:sp>
      <p:sp>
        <p:nvSpPr>
          <p:cNvPr id="22231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分组过滤路由器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是一种具有分组过滤功能的路由器</a:t>
            </a:r>
            <a:r>
              <a:rPr lang="zh-CN" altLang="zh-CN" dirty="0" smtClean="0">
                <a:ea typeface="黑体" panose="02010609060101010101" pitchFamily="49" charset="-122"/>
              </a:rPr>
              <a:t>，它根据过滤规则对进出内部网络的分组执行转发或者丢弃（即过滤）。过滤规则基于分组的网络层或运输层首部的信息，例如：源</a:t>
            </a:r>
            <a:r>
              <a:rPr lang="en-US" altLang="zh-CN" dirty="0" smtClean="0">
                <a:ea typeface="黑体" panose="02010609060101010101" pitchFamily="49" charset="-122"/>
              </a:rPr>
              <a:t>/</a:t>
            </a:r>
            <a:r>
              <a:rPr lang="zh-CN" altLang="zh-CN" dirty="0" smtClean="0">
                <a:ea typeface="黑体" panose="02010609060101010101" pitchFamily="49" charset="-122"/>
              </a:rPr>
              <a:t>目的</a:t>
            </a:r>
            <a:r>
              <a:rPr lang="en-US" altLang="zh-CN" dirty="0" smtClean="0">
                <a:ea typeface="黑体" panose="02010609060101010101" pitchFamily="49" charset="-122"/>
              </a:rPr>
              <a:t> IP </a:t>
            </a:r>
            <a:r>
              <a:rPr lang="zh-CN" altLang="zh-CN" dirty="0" smtClean="0">
                <a:ea typeface="黑体" panose="02010609060101010101" pitchFamily="49" charset="-122"/>
              </a:rPr>
              <a:t>地址、源</a:t>
            </a:r>
            <a:r>
              <a:rPr lang="en-US" altLang="zh-CN" dirty="0" smtClean="0">
                <a:ea typeface="黑体" panose="02010609060101010101" pitchFamily="49" charset="-122"/>
              </a:rPr>
              <a:t>/</a:t>
            </a:r>
            <a:r>
              <a:rPr lang="zh-CN" altLang="zh-CN" dirty="0" smtClean="0">
                <a:ea typeface="黑体" panose="02010609060101010101" pitchFamily="49" charset="-122"/>
              </a:rPr>
              <a:t>目的端口、协议类型（</a:t>
            </a:r>
            <a:r>
              <a:rPr lang="en-US" altLang="zh-CN" dirty="0" smtClean="0">
                <a:ea typeface="黑体" panose="02010609060101010101" pitchFamily="49" charset="-122"/>
              </a:rPr>
              <a:t>TCP </a:t>
            </a:r>
            <a:r>
              <a:rPr lang="zh-CN" altLang="zh-CN" dirty="0" smtClean="0">
                <a:ea typeface="黑体" panose="02010609060101010101" pitchFamily="49" charset="-122"/>
              </a:rPr>
              <a:t>或</a:t>
            </a:r>
            <a:r>
              <a:rPr lang="en-US" altLang="zh-CN" dirty="0" smtClean="0">
                <a:ea typeface="黑体" panose="02010609060101010101" pitchFamily="49" charset="-122"/>
              </a:rPr>
              <a:t> UDP</a:t>
            </a:r>
            <a:r>
              <a:rPr lang="zh-CN" altLang="zh-CN" dirty="0" smtClean="0">
                <a:ea typeface="黑体" panose="02010609060101010101" pitchFamily="49" charset="-122"/>
              </a:rPr>
              <a:t>）等。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分组过滤可以是无状态的</a:t>
            </a:r>
            <a:r>
              <a:rPr lang="zh-CN" altLang="zh-CN" dirty="0" smtClean="0">
                <a:ea typeface="黑体" panose="02010609060101010101" pitchFamily="49" charset="-122"/>
              </a:rPr>
              <a:t>，即独立地处理每一个分组。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也可以是有状态的</a:t>
            </a:r>
            <a:r>
              <a:rPr lang="zh-CN" altLang="zh-CN" dirty="0" smtClean="0">
                <a:ea typeface="黑体" panose="02010609060101010101" pitchFamily="49" charset="-122"/>
              </a:rPr>
              <a:t>，即要跟踪每个连接或会话的通信状态，并根据这些状态信息来决定是否转发分组。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2231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696979-E327-4705-B443-340382A86BC2}" type="slidenum">
              <a:rPr lang="zh-CN" altLang="en-US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22231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1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防火墙技术一般分为两类 </a:t>
            </a:r>
          </a:p>
        </p:txBody>
      </p:sp>
      <p:sp>
        <p:nvSpPr>
          <p:cNvPr id="22251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应用网关也称为代理服务器</a:t>
            </a:r>
            <a:r>
              <a:rPr lang="en-US" altLang="zh-CN" sz="2800" dirty="0" smtClean="0">
                <a:ea typeface="黑体" panose="02010609060101010101" pitchFamily="49" charset="-122"/>
              </a:rPr>
              <a:t>(proxy server)</a:t>
            </a:r>
          </a:p>
          <a:p>
            <a:pPr lvl="1"/>
            <a:r>
              <a:rPr lang="zh-CN" altLang="zh-CN" sz="2400" dirty="0" smtClean="0">
                <a:ea typeface="黑体" panose="02010609060101010101" pitchFamily="49" charset="-122"/>
              </a:rPr>
              <a:t>它在应用层通信中扮演</a:t>
            </a:r>
            <a:r>
              <a:rPr lang="zh-CN" altLang="zh-CN" sz="24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报文中继</a:t>
            </a:r>
            <a:r>
              <a:rPr lang="zh-CN" altLang="zh-CN" sz="2400" dirty="0" smtClean="0">
                <a:ea typeface="黑体" panose="02010609060101010101" pitchFamily="49" charset="-122"/>
              </a:rPr>
              <a:t>的角色。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 smtClean="0">
                <a:ea typeface="黑体" panose="02010609060101010101" pitchFamily="49" charset="-122"/>
              </a:rPr>
              <a:t>一种网络应用需要一个应用网关，例如 万维网缓存就是一种万维网应用的代理服务器。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 smtClean="0">
                <a:ea typeface="黑体" panose="02010609060101010101" pitchFamily="49" charset="-122"/>
              </a:rPr>
              <a:t>在应用网关中，可以实现</a:t>
            </a:r>
            <a:r>
              <a:rPr lang="zh-CN" altLang="zh-CN" sz="2400" dirty="0" smtClean="0">
                <a:solidFill>
                  <a:srgbClr val="0000FF"/>
                </a:solidFill>
                <a:ea typeface="黑体" panose="02010609060101010101" pitchFamily="49" charset="-122"/>
              </a:rPr>
              <a:t>基于应用层数据的过滤和高层用户鉴别</a:t>
            </a:r>
            <a:r>
              <a:rPr lang="zh-CN" altLang="zh-CN" sz="2400" dirty="0" smtClean="0">
                <a:ea typeface="黑体" panose="02010609060101010101" pitchFamily="49" charset="-122"/>
              </a:rPr>
              <a:t>。</a:t>
            </a:r>
          </a:p>
          <a:p>
            <a:pPr lvl="1"/>
            <a:r>
              <a:rPr lang="zh-CN" altLang="zh-CN" sz="2400" dirty="0" smtClean="0">
                <a:solidFill>
                  <a:srgbClr val="0000FF"/>
                </a:solidFill>
                <a:ea typeface="黑体" panose="02010609060101010101" pitchFamily="49" charset="-122"/>
              </a:rPr>
              <a:t>所有进出网络的应用程序报文都必须通过应用网关。</a:t>
            </a:r>
            <a:endParaRPr lang="en-US" altLang="zh-CN" sz="2400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 smtClean="0">
                <a:ea typeface="黑体" panose="02010609060101010101" pitchFamily="49" charset="-122"/>
              </a:rPr>
              <a:t>应用网关也有一些缺点</a:t>
            </a:r>
            <a:r>
              <a:rPr lang="zh-CN" altLang="en-US" sz="2400" dirty="0" smtClean="0">
                <a:ea typeface="黑体" panose="02010609060101010101" pitchFamily="49" charset="-122"/>
              </a:rPr>
              <a:t>：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lvl="2"/>
            <a:r>
              <a:rPr lang="zh-CN" altLang="zh-CN" sz="2000" dirty="0" smtClean="0">
                <a:ea typeface="黑体" panose="02010609060101010101" pitchFamily="49" charset="-122"/>
              </a:rPr>
              <a:t>首先，每种应用都需要一个不同的应用网关。</a:t>
            </a:r>
            <a:endParaRPr lang="en-US" altLang="zh-CN" sz="2000" dirty="0" smtClean="0">
              <a:ea typeface="黑体" panose="02010609060101010101" pitchFamily="49" charset="-122"/>
            </a:endParaRPr>
          </a:p>
          <a:p>
            <a:pPr lvl="2"/>
            <a:r>
              <a:rPr lang="zh-CN" altLang="zh-CN" sz="2000" dirty="0" smtClean="0">
                <a:ea typeface="黑体" panose="02010609060101010101" pitchFamily="49" charset="-122"/>
              </a:rPr>
              <a:t>其次，在应用层转发和处理报文，处理负担较重。</a:t>
            </a:r>
            <a:endParaRPr lang="en-US" altLang="zh-CN" sz="2000" dirty="0" smtClean="0">
              <a:ea typeface="黑体" panose="02010609060101010101" pitchFamily="49" charset="-122"/>
            </a:endParaRPr>
          </a:p>
          <a:p>
            <a:pPr lvl="2"/>
            <a:r>
              <a:rPr lang="zh-CN" altLang="zh-CN" sz="2000" dirty="0" smtClean="0">
                <a:ea typeface="黑体" panose="02010609060101010101" pitchFamily="49" charset="-122"/>
              </a:rPr>
              <a:t>另外，对应用程序不透明，需要在应用程序客户端配置应用网关地址。</a:t>
            </a:r>
          </a:p>
          <a:p>
            <a:pPr lvl="1"/>
            <a:endParaRPr lang="en-US" altLang="zh-CN" sz="2400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2251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7813DA-40D1-4029-A105-4344538EE54D}" type="slidenum">
              <a:rPr lang="zh-CN" altLang="en-US" smtClean="0"/>
              <a:pPr eaLnBrk="1" hangingPunct="1"/>
              <a:t>54</a:t>
            </a:fld>
            <a:endParaRPr lang="en-US" altLang="zh-CN" smtClean="0"/>
          </a:p>
        </p:txBody>
      </p:sp>
      <p:sp>
        <p:nvSpPr>
          <p:cNvPr id="22251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2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7.7.2  </a:t>
            </a:r>
            <a:r>
              <a:rPr lang="zh-CN" altLang="en-US" smtClean="0">
                <a:ea typeface="黑体" panose="02010609060101010101" pitchFamily="49" charset="-122"/>
              </a:rPr>
              <a:t>入侵检测系统 </a:t>
            </a:r>
          </a:p>
        </p:txBody>
      </p:sp>
      <p:sp>
        <p:nvSpPr>
          <p:cNvPr id="22272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防火墙试图在入侵行为发生之前阻止所有可疑的通信。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入侵检测系统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IDS </a:t>
            </a:r>
            <a:r>
              <a:rPr lang="en-US" altLang="zh-CN" u="sng" dirty="0" smtClean="0">
                <a:ea typeface="黑体" panose="02010609060101010101" pitchFamily="49" charset="-122"/>
              </a:rPr>
              <a:t>(Intrusion Detection System)</a:t>
            </a:r>
            <a:r>
              <a:rPr lang="zh-CN" altLang="en-US" dirty="0" smtClean="0">
                <a:ea typeface="黑体" panose="02010609060101010101" pitchFamily="49" charset="-122"/>
              </a:rPr>
              <a:t>能够在入侵已经开始，但还没有造成危害或在造成更大危害前，及时检测到入侵，以便尽快阻止入侵，把危害降低到最小。  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22272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575264-B389-4E80-820D-B6654D22713F}" type="slidenum">
              <a:rPr lang="zh-CN" altLang="en-US" smtClean="0"/>
              <a:pPr eaLnBrk="1" hangingPunct="1"/>
              <a:t>55</a:t>
            </a:fld>
            <a:endParaRPr lang="en-US" altLang="zh-CN" smtClean="0"/>
          </a:p>
        </p:txBody>
      </p:sp>
      <p:sp>
        <p:nvSpPr>
          <p:cNvPr id="22272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2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7.7.2  </a:t>
            </a:r>
            <a:r>
              <a:rPr lang="zh-CN" altLang="en-US" smtClean="0">
                <a:ea typeface="黑体" panose="02010609060101010101" pitchFamily="49" charset="-122"/>
              </a:rPr>
              <a:t>入侵检测系统 </a:t>
            </a:r>
          </a:p>
        </p:txBody>
      </p:sp>
      <p:sp>
        <p:nvSpPr>
          <p:cNvPr id="22292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IDS </a:t>
            </a:r>
            <a:r>
              <a:rPr lang="zh-CN" altLang="zh-CN" dirty="0" smtClean="0">
                <a:ea typeface="黑体" panose="02010609060101010101" pitchFamily="49" charset="-122"/>
              </a:rPr>
              <a:t>对进入网络的分组执行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深度分组检查，</a:t>
            </a:r>
            <a:r>
              <a:rPr lang="zh-CN" altLang="zh-CN" dirty="0" smtClean="0">
                <a:ea typeface="黑体" panose="02010609060101010101" pitchFamily="49" charset="-122"/>
              </a:rPr>
              <a:t>当观察到可疑分组时，向网络管理员发出告警或执行阻断操作（由于</a:t>
            </a:r>
            <a:r>
              <a:rPr lang="en-US" altLang="zh-CN" dirty="0" smtClean="0">
                <a:ea typeface="黑体" panose="02010609060101010101" pitchFamily="49" charset="-122"/>
              </a:rPr>
              <a:t> IDS </a:t>
            </a:r>
            <a:r>
              <a:rPr lang="zh-CN" altLang="zh-CN" dirty="0" smtClean="0">
                <a:ea typeface="黑体" panose="02010609060101010101" pitchFamily="49" charset="-122"/>
              </a:rPr>
              <a:t>的“误报”率通常较高，多数情况不执行自动阻断）。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IDS </a:t>
            </a:r>
            <a:r>
              <a:rPr lang="zh-CN" altLang="zh-CN" dirty="0" smtClean="0">
                <a:ea typeface="黑体" panose="02010609060101010101" pitchFamily="49" charset="-122"/>
              </a:rPr>
              <a:t>能用于检测多种网络攻击，包括网络映射、端口扫描、</a:t>
            </a:r>
            <a:r>
              <a:rPr lang="en-US" altLang="zh-CN" dirty="0" err="1" smtClean="0">
                <a:ea typeface="黑体" panose="02010609060101010101" pitchFamily="49" charset="-122"/>
              </a:rPr>
              <a:t>DoS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zh-CN" dirty="0" smtClean="0">
                <a:ea typeface="黑体" panose="02010609060101010101" pitchFamily="49" charset="-122"/>
              </a:rPr>
              <a:t>攻击、蠕虫和病毒、系统漏洞攻击等。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2292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20486C-CA38-4137-9AC6-672D69FDA156}" type="slidenum">
              <a:rPr lang="zh-CN" altLang="en-US" smtClean="0"/>
              <a:pPr eaLnBrk="1" hangingPunct="1"/>
              <a:t>56</a:t>
            </a:fld>
            <a:endParaRPr lang="en-US" altLang="zh-CN" smtClean="0"/>
          </a:p>
        </p:txBody>
      </p:sp>
      <p:sp>
        <p:nvSpPr>
          <p:cNvPr id="22292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2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49" charset="-122"/>
              </a:rPr>
              <a:t>两种入侵检测方法</a:t>
            </a:r>
          </a:p>
        </p:txBody>
      </p:sp>
      <p:sp>
        <p:nvSpPr>
          <p:cNvPr id="223129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基于特征的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IDS </a:t>
            </a:r>
            <a:r>
              <a:rPr lang="zh-CN" altLang="en-US" dirty="0" smtClean="0">
                <a:ea typeface="黑体" panose="02010609060101010101" pitchFamily="49" charset="-122"/>
              </a:rPr>
              <a:t>维护一个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所有已知攻击标志性特征的数据库。</a:t>
            </a:r>
            <a:endParaRPr lang="en-US" altLang="zh-CN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这些特征和规则通常由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网络安全专家生成</a:t>
            </a:r>
            <a:r>
              <a:rPr lang="zh-CN" altLang="zh-CN" dirty="0" smtClean="0">
                <a:ea typeface="黑体" panose="02010609060101010101" pitchFamily="49" charset="-122"/>
              </a:rPr>
              <a:t>，机构的网络管理员定制并将其加入到数据库中。</a:t>
            </a:r>
            <a:endParaRPr lang="zh-CN" altLang="en-US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基于特征的 </a:t>
            </a:r>
            <a:r>
              <a:rPr lang="en-US" altLang="zh-CN" dirty="0" smtClean="0">
                <a:ea typeface="黑体" panose="02010609060101010101" pitchFamily="49" charset="-122"/>
              </a:rPr>
              <a:t>IDS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只能检测已知攻击</a:t>
            </a:r>
            <a:r>
              <a:rPr lang="zh-CN" altLang="en-US" dirty="0" smtClean="0">
                <a:ea typeface="黑体" panose="02010609060101010101" pitchFamily="49" charset="-122"/>
              </a:rPr>
              <a:t>，对于未知攻击则束手无策。  </a:t>
            </a:r>
          </a:p>
        </p:txBody>
      </p:sp>
      <p:sp>
        <p:nvSpPr>
          <p:cNvPr id="22312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A6F08A-3A7C-408E-B951-0C0BCF50B509}" type="slidenum">
              <a:rPr lang="zh-CN" altLang="en-US" smtClean="0"/>
              <a:pPr eaLnBrk="1" hangingPunct="1"/>
              <a:t>57</a:t>
            </a:fld>
            <a:endParaRPr lang="en-US" altLang="zh-CN" smtClean="0"/>
          </a:p>
        </p:txBody>
      </p:sp>
      <p:sp>
        <p:nvSpPr>
          <p:cNvPr id="22313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3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两种入侵检测方法 </a:t>
            </a:r>
          </a:p>
        </p:txBody>
      </p:sp>
      <p:sp>
        <p:nvSpPr>
          <p:cNvPr id="223334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基于异常的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IDS </a:t>
            </a:r>
            <a:r>
              <a:rPr lang="zh-CN" altLang="zh-CN" dirty="0" smtClean="0">
                <a:ea typeface="黑体" panose="02010609060101010101" pitchFamily="49" charset="-122"/>
              </a:rPr>
              <a:t>通过观察正常运行的网络流量，学习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正常流量的统计特性和规律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r>
              <a:rPr lang="zh-CN" altLang="zh-CN" dirty="0" smtClean="0">
                <a:ea typeface="黑体" panose="02010609060101010101" pitchFamily="49" charset="-122"/>
              </a:rPr>
              <a:t>当检测到网络中流量某种统计规律不符合正常情况时，则认为可能发生了入侵行为。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2233347" name="矩形 1"/>
          <p:cNvSpPr>
            <a:spLocks noChangeArrowheads="1"/>
          </p:cNvSpPr>
          <p:nvPr/>
        </p:nvSpPr>
        <p:spPr bwMode="auto">
          <a:xfrm>
            <a:off x="992188" y="3573463"/>
            <a:ext cx="8064500" cy="156845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至今为止，大多数部署的</a:t>
            </a:r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 IDS </a:t>
            </a:r>
            <a:r>
              <a:rPr lang="zh-CN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主要是基于特征的，尽管某些</a:t>
            </a:r>
            <a:r>
              <a:rPr lang="en-US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 IDS </a:t>
            </a:r>
            <a:r>
              <a:rPr lang="zh-CN" altLang="zh-CN" sz="3200" b="1">
                <a:solidFill>
                  <a:srgbClr val="000066"/>
                </a:solidFill>
                <a:ea typeface="黑体" panose="02010609060101010101" pitchFamily="49" charset="-122"/>
              </a:rPr>
              <a:t>包括了某些基于异常的特性。</a:t>
            </a:r>
            <a:endParaRPr lang="zh-CN" altLang="en-US" sz="3200" b="1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23334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F1A51F-0629-45F1-8856-5911B615FD94}" type="slidenum">
              <a:rPr lang="zh-CN" altLang="en-US" smtClean="0"/>
              <a:pPr eaLnBrk="1" hangingPunct="1"/>
              <a:t>58</a:t>
            </a:fld>
            <a:endParaRPr lang="en-US" altLang="zh-CN" smtClean="0"/>
          </a:p>
        </p:txBody>
      </p:sp>
      <p:sp>
        <p:nvSpPr>
          <p:cNvPr id="223334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3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7.8  </a:t>
            </a:r>
            <a:r>
              <a:rPr lang="zh-CN" altLang="zh-CN" sz="4000" smtClean="0">
                <a:ea typeface="黑体" panose="02010609060101010101" pitchFamily="49" charset="-122"/>
              </a:rPr>
              <a:t>一些未来的发展方向</a:t>
            </a:r>
            <a:endParaRPr lang="zh-CN" altLang="en-US" sz="4000" smtClean="0">
              <a:ea typeface="黑体" panose="02010609060101010101" pitchFamily="49" charset="-122"/>
            </a:endParaRPr>
          </a:p>
        </p:txBody>
      </p:sp>
      <p:sp>
        <p:nvSpPr>
          <p:cNvPr id="22353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400" smtClean="0">
                <a:ea typeface="黑体" panose="02010609060101010101" pitchFamily="49" charset="-122"/>
              </a:rPr>
              <a:t>网络安全是一个很大的领域。对于有志于这一领域的读者，可在下面几个方向作进一步的研究：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．椭圆曲线密码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(Elliptic Curve Cryptography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，简写为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ECC) 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与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AES </a:t>
            </a:r>
            <a:r>
              <a:rPr lang="en-US" altLang="zh-CN" sz="2400" smtClean="0">
                <a:ea typeface="黑体" panose="02010609060101010101" pitchFamily="49" charset="-122"/>
              </a:rPr>
              <a:t>—— </a:t>
            </a:r>
            <a:r>
              <a:rPr lang="zh-CN" altLang="zh-CN" sz="2400" smtClean="0">
                <a:ea typeface="黑体" panose="02010609060101010101" pitchFamily="49" charset="-122"/>
              </a:rPr>
              <a:t>这一系统现在已广泛用于电子护照中，也是下一代金融系统使用的加密系统。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．移动安全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(Mobile Security) </a:t>
            </a:r>
            <a:r>
              <a:rPr lang="en-US" altLang="zh-CN" sz="2400" smtClean="0">
                <a:ea typeface="黑体" panose="02010609060101010101" pitchFamily="49" charset="-122"/>
              </a:rPr>
              <a:t>—— </a:t>
            </a:r>
            <a:r>
              <a:rPr lang="zh-CN" altLang="zh-CN" sz="2400" smtClean="0">
                <a:ea typeface="黑体" panose="02010609060101010101" pitchFamily="49" charset="-122"/>
              </a:rPr>
              <a:t>移动通信带来的广泛应用（如移动支付，</a:t>
            </a:r>
            <a:r>
              <a:rPr lang="en-US" altLang="zh-CN" sz="2400" smtClean="0">
                <a:ea typeface="黑体" panose="02010609060101010101" pitchFamily="49" charset="-122"/>
              </a:rPr>
              <a:t>Mobile Payment</a:t>
            </a:r>
            <a:r>
              <a:rPr lang="zh-CN" altLang="zh-CN" sz="2400" smtClean="0">
                <a:ea typeface="黑体" panose="02010609060101010101" pitchFamily="49" charset="-122"/>
              </a:rPr>
              <a:t>）向网络安全提出了更高的要求。</a:t>
            </a:r>
          </a:p>
          <a:p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．量子密码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 (Quantum Cryptography) </a:t>
            </a:r>
            <a:r>
              <a:rPr lang="en-US" altLang="zh-CN" sz="2400" smtClean="0">
                <a:ea typeface="黑体" panose="02010609060101010101" pitchFamily="49" charset="-122"/>
              </a:rPr>
              <a:t>—— </a:t>
            </a:r>
            <a:r>
              <a:rPr lang="zh-CN" altLang="zh-CN" sz="2400" smtClean="0">
                <a:ea typeface="黑体" panose="02010609060101010101" pitchFamily="49" charset="-122"/>
              </a:rPr>
              <a:t>量子计算机的到来将使得目前许多使用中的密码技术无效，后量子密码学（</a:t>
            </a:r>
            <a:r>
              <a:rPr lang="en-US" altLang="zh-CN" sz="2400" smtClean="0">
                <a:ea typeface="黑体" panose="02010609060101010101" pitchFamily="49" charset="-122"/>
              </a:rPr>
              <a:t>Post-Quantum Cryptography</a:t>
            </a:r>
            <a:r>
              <a:rPr lang="zh-CN" altLang="zh-CN" sz="2400" smtClean="0">
                <a:ea typeface="黑体" panose="02010609060101010101" pitchFamily="49" charset="-122"/>
              </a:rPr>
              <a:t>）的研究方兴未艾。</a:t>
            </a:r>
          </a:p>
        </p:txBody>
      </p:sp>
      <p:sp>
        <p:nvSpPr>
          <p:cNvPr id="22353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315E47-1421-4AA4-99FE-C43409AAECBE}" type="slidenum">
              <a:rPr lang="zh-CN" altLang="en-US" smtClean="0"/>
              <a:pPr eaLnBrk="1" hangingPunct="1"/>
              <a:t>59</a:t>
            </a:fld>
            <a:endParaRPr lang="en-US" altLang="zh-CN" smtClean="0"/>
          </a:p>
        </p:txBody>
      </p:sp>
      <p:sp>
        <p:nvSpPr>
          <p:cNvPr id="22353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1725</TotalTime>
  <Words>5002</Words>
  <Application>Microsoft Office PowerPoint</Application>
  <PresentationFormat>A4 纸张(210x297 毫米)</PresentationFormat>
  <Paragraphs>676</Paragraphs>
  <Slides>59</Slides>
  <Notes>51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8" baseType="lpstr">
      <vt:lpstr>黑体</vt:lpstr>
      <vt:lpstr>宋体</vt:lpstr>
      <vt:lpstr>Arial</vt:lpstr>
      <vt:lpstr>Symbol</vt:lpstr>
      <vt:lpstr>Times New Roman</vt:lpstr>
      <vt:lpstr>Wingdings</vt:lpstr>
      <vt:lpstr>Wingdings 2</vt:lpstr>
      <vt:lpstr>Presentation</vt:lpstr>
      <vt:lpstr>Microsoft Visio 2000/2002 Drawing</vt:lpstr>
      <vt:lpstr>第 7 章  网络安全</vt:lpstr>
      <vt:lpstr>第 7 章  网络安全</vt:lpstr>
      <vt:lpstr>7.5  密钥分配</vt:lpstr>
      <vt:lpstr>7.5   密钥分配 </vt:lpstr>
      <vt:lpstr>7.5   密钥分配 </vt:lpstr>
      <vt:lpstr>7.5.1  对称密钥的分配</vt:lpstr>
      <vt:lpstr>对称密钥的分配</vt:lpstr>
      <vt:lpstr>对称密钥的分配说明</vt:lpstr>
      <vt:lpstr>对称密钥的分配说明</vt:lpstr>
      <vt:lpstr>Kerberos</vt:lpstr>
      <vt:lpstr>PowerPoint 演示文稿</vt:lpstr>
      <vt:lpstr>Kerberos密钥分配说明</vt:lpstr>
      <vt:lpstr>Kerberos密钥分配说明</vt:lpstr>
      <vt:lpstr>Kerberos密钥分配说明</vt:lpstr>
      <vt:lpstr>Kerberos 使用两个服务器</vt:lpstr>
      <vt:lpstr>7.5.2  公钥的分配</vt:lpstr>
      <vt:lpstr>7.5.2  公钥的分配</vt:lpstr>
      <vt:lpstr>CA 证书</vt:lpstr>
      <vt:lpstr>7.6  互联网使用的安全协议</vt:lpstr>
      <vt:lpstr>7.6.1  网络层安全协议</vt:lpstr>
      <vt:lpstr>7.6.1  网络层安全协议</vt:lpstr>
      <vt:lpstr>1.  IPsec 协议</vt:lpstr>
      <vt:lpstr>IPsec 由三部分组成</vt:lpstr>
      <vt:lpstr>IP 安全数据报有两种工作方式</vt:lpstr>
      <vt:lpstr>IP 安全数据报有两种工作方式</vt:lpstr>
      <vt:lpstr>IP 安全数据报有两种工作方式</vt:lpstr>
      <vt:lpstr>安全关联 SA</vt:lpstr>
      <vt:lpstr>安全关联的特点</vt:lpstr>
      <vt:lpstr>路由器 R1 到 R2 的安全关联 SA</vt:lpstr>
      <vt:lpstr>路由器 R1 到主机 H2 的安全关联 SA</vt:lpstr>
      <vt:lpstr>安全关联 SA 状态信息</vt:lpstr>
      <vt:lpstr>2. IP 安全数据报的格式</vt:lpstr>
      <vt:lpstr>3. IPsec 的其他构件 </vt:lpstr>
      <vt:lpstr>互联网密钥交换 IKE</vt:lpstr>
      <vt:lpstr>7.6.2  运输层安全协议</vt:lpstr>
      <vt:lpstr>SSL 和 TLS</vt:lpstr>
      <vt:lpstr>SSL / TLS 的位置 </vt:lpstr>
      <vt:lpstr>SSL 和 TLS</vt:lpstr>
      <vt:lpstr>SSL 和 TLS</vt:lpstr>
      <vt:lpstr>SSL 提供的安全服务</vt:lpstr>
      <vt:lpstr>SSL 安全会话建立过程</vt:lpstr>
      <vt:lpstr>SSL 安全会话建立过程</vt:lpstr>
      <vt:lpstr>7.6.3  应用层的安全协议 </vt:lpstr>
      <vt:lpstr>PGP (Pretty Good Privacy)</vt:lpstr>
      <vt:lpstr>PGP 工作原理</vt:lpstr>
      <vt:lpstr>发送方 A 的工作</vt:lpstr>
      <vt:lpstr>PGP 工作原理</vt:lpstr>
      <vt:lpstr>接收方 B 的工作</vt:lpstr>
      <vt:lpstr>7.7  系统安全：防火墙与入侵检测</vt:lpstr>
      <vt:lpstr>7.7.1  防火墙</vt:lpstr>
      <vt:lpstr>防火墙在互连网络中的位置 </vt:lpstr>
      <vt:lpstr>防火墙的功能</vt:lpstr>
      <vt:lpstr>防火墙技术一般分为两类 </vt:lpstr>
      <vt:lpstr>防火墙技术一般分为两类 </vt:lpstr>
      <vt:lpstr>7.7.2  入侵检测系统 </vt:lpstr>
      <vt:lpstr>7.7.2  入侵检测系统 </vt:lpstr>
      <vt:lpstr>两种入侵检测方法</vt:lpstr>
      <vt:lpstr>两种入侵检测方法 </vt:lpstr>
      <vt:lpstr>7.8  一些未来的发展方向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74</cp:revision>
  <cp:lastPrinted>2020-04-30T06:44:21Z</cp:lastPrinted>
  <dcterms:created xsi:type="dcterms:W3CDTF">2016-10-01T05:27:00Z</dcterms:created>
  <dcterms:modified xsi:type="dcterms:W3CDTF">2021-01-28T13:03:19Z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
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414" r:id="rId2"/>
    <p:sldId id="415" r:id="rId3"/>
    <p:sldId id="439" r:id="rId4"/>
    <p:sldId id="440" r:id="rId5"/>
    <p:sldId id="441" r:id="rId6"/>
    <p:sldId id="442" r:id="rId7"/>
    <p:sldId id="443" r:id="rId8"/>
    <p:sldId id="444" r:id="rId9"/>
    <p:sldId id="445" r:id="rId10"/>
    <p:sldId id="446" r:id="rId11"/>
    <p:sldId id="447" r:id="rId12"/>
    <p:sldId id="448" r:id="rId13"/>
    <p:sldId id="449" r:id="rId14"/>
    <p:sldId id="450" r:id="rId15"/>
    <p:sldId id="451" r:id="rId16"/>
    <p:sldId id="452" r:id="rId17"/>
    <p:sldId id="453" r:id="rId18"/>
    <p:sldId id="454" r:id="rId19"/>
    <p:sldId id="455" r:id="rId20"/>
    <p:sldId id="456" r:id="rId21"/>
    <p:sldId id="457" r:id="rId22"/>
    <p:sldId id="458" r:id="rId23"/>
    <p:sldId id="459" r:id="rId24"/>
    <p:sldId id="460" r:id="rId25"/>
    <p:sldId id="461" r:id="rId26"/>
    <p:sldId id="462" r:id="rId27"/>
    <p:sldId id="463" r:id="rId28"/>
    <p:sldId id="464" r:id="rId29"/>
    <p:sldId id="465" r:id="rId30"/>
    <p:sldId id="466" r:id="rId31"/>
    <p:sldId id="467" r:id="rId32"/>
    <p:sldId id="468" r:id="rId33"/>
    <p:sldId id="469" r:id="rId34"/>
    <p:sldId id="470" r:id="rId35"/>
    <p:sldId id="471" r:id="rId36"/>
    <p:sldId id="472" r:id="rId37"/>
    <p:sldId id="473" r:id="rId38"/>
    <p:sldId id="474" r:id="rId39"/>
    <p:sldId id="475" r:id="rId40"/>
    <p:sldId id="476" r:id="rId41"/>
    <p:sldId id="477" r:id="rId42"/>
    <p:sldId id="478" r:id="rId43"/>
    <p:sldId id="479" r:id="rId44"/>
    <p:sldId id="480" r:id="rId45"/>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jpe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8.jpe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pPr>
              <a:defRPr/>
            </a:pPr>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pPr>
              <a:defRPr/>
            </a:pPr>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pPr>
              <a:defRPr/>
            </a:pPr>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pPr>
              <a:defRPr/>
            </a:pPr>
            <a:fld id="{ECD9AC07-B801-4477-AB5B-68B072F2955A}"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pPr>
              <a:defRPr/>
            </a:pPr>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pPr>
              <a:defRPr/>
            </a:pPr>
            <a:endParaRPr lang="en-US" altLang="zh-CN"/>
          </a:p>
        </p:txBody>
      </p:sp>
      <p:sp>
        <p:nvSpPr>
          <p:cNvPr id="10244"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endParaRPr lang="en-US" altLang="zh-CN" noProof="0" smtClean="0"/>
          </a:p>
          <a:p>
            <a:pPr lvl="1"/>
            <a:r>
              <a:rPr lang="en-US" altLang="zh-CN" noProof="0" smtClean="0"/>
              <a:t>5656</a:t>
            </a:r>
          </a:p>
          <a:p>
            <a:pPr lvl="2"/>
            <a:r>
              <a:rPr lang="zh-CN" altLang="en-US" noProof="0" smtClean="0"/>
              <a:t>第三级</a:t>
            </a:r>
            <a:endParaRPr lang="en-US" altLang="zh-CN" noProof="0" smtClean="0"/>
          </a:p>
          <a:p>
            <a:pPr lvl="3"/>
            <a:r>
              <a:rPr lang="zh-CN" altLang="en-US" noProof="0" smtClean="0"/>
              <a:t>第四级</a:t>
            </a:r>
            <a:endParaRPr lang="en-US" altLang="zh-CN" noProof="0" smtClean="0"/>
          </a:p>
          <a:p>
            <a:pPr lvl="4"/>
            <a:r>
              <a:rPr lang="zh-CN" altLang="en-US" noProof="0" smtClean="0"/>
              <a:t>第五级</a:t>
            </a:r>
            <a:endParaRPr lang="en-US" altLang="zh-CN" noProof="0"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pPr>
              <a:defRPr/>
            </a:pPr>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pPr>
              <a:defRPr/>
            </a:pPr>
            <a:fld id="{A1F65A09-1A02-4EBA-8090-4EA381A3299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6F7632B-731A-4065-AFDA-49861A355D0B}" type="slidenum">
              <a:rPr altLang="en-US" smtClean="0">
                <a:latin typeface="宋体" panose="02010600030101010101" pitchFamily="2" charset="-122"/>
                <a:ea typeface="宋体" panose="02010600030101010101" pitchFamily="2" charset="-122"/>
              </a:rPr>
              <a:pPr/>
              <a:t>1</a:t>
            </a:fld>
            <a:endParaRPr lang="zh-CN" altLang="zh-CN" smtClean="0">
              <a:latin typeface="宋体" panose="02010600030101010101" pitchFamily="2" charset="-122"/>
            </a:endParaRPr>
          </a:p>
        </p:txBody>
      </p:sp>
      <p:sp>
        <p:nvSpPr>
          <p:cNvPr id="13315" name="Rectangle 2"/>
          <p:cNvSpPr>
            <a:spLocks noGrp="1" noRot="1" noChangeAspect="1" noChangeArrowheads="1" noTextEdit="1"/>
          </p:cNvSpPr>
          <p:nvPr>
            <p:ph type="sldImg" idx="4294967295"/>
          </p:nvPr>
        </p:nvSpPr>
        <p:spPr>
          <a:ln/>
        </p:spPr>
      </p:sp>
      <p:sp>
        <p:nvSpPr>
          <p:cNvPr id="13316" name="Rectangle 3"/>
          <p:cNvSpPr>
            <a:spLocks noGrp="1" noChangeArrowheads="1"/>
          </p:cNvSpPr>
          <p:nvPr>
            <p:ph type="body" idx="4294967295"/>
          </p:nvPr>
        </p:nvSpPr>
        <p:spPr>
          <a:noFill/>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D2EA800-F712-455B-92C3-31B2CB6ABBAE}" type="slidenum">
              <a:rPr altLang="zh-CN" smtClean="0">
                <a:latin typeface="宋体" panose="02010600030101010101" pitchFamily="2" charset="-122"/>
              </a:rPr>
              <a:pPr/>
              <a:t>3</a:t>
            </a:fld>
            <a:endParaRPr lang="zh-CN" altLang="zh-CN" smtClean="0">
              <a:latin typeface="宋体" panose="02010600030101010101" pitchFamily="2" charset="-122"/>
            </a:endParaRPr>
          </a:p>
        </p:txBody>
      </p:sp>
      <p:sp>
        <p:nvSpPr>
          <p:cNvPr id="16387" name="Rectangle 2"/>
          <p:cNvSpPr>
            <a:spLocks noGrp="1" noRot="1" noChangeAspect="1" noChangeArrowheads="1" noTextEdit="1"/>
          </p:cNvSpPr>
          <p:nvPr>
            <p:ph type="sldImg" idx="4294967295"/>
          </p:nvPr>
        </p:nvSpPr>
        <p:spPr>
          <a:ln/>
        </p:spPr>
      </p:sp>
      <p:sp>
        <p:nvSpPr>
          <p:cNvPr id="16388"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749777-67CE-45DF-BEBB-35B522002505}" type="slidenum">
              <a:rPr altLang="zh-CN" smtClean="0">
                <a:latin typeface="宋体" panose="02010600030101010101" pitchFamily="2" charset="-122"/>
              </a:rPr>
              <a:pPr/>
              <a:t>4</a:t>
            </a:fld>
            <a:endParaRPr lang="zh-CN" altLang="zh-CN" smtClean="0">
              <a:latin typeface="宋体" panose="02010600030101010101" pitchFamily="2" charset="-122"/>
            </a:endParaRPr>
          </a:p>
        </p:txBody>
      </p:sp>
      <p:sp>
        <p:nvSpPr>
          <p:cNvPr id="18435" name="Rectangle 2"/>
          <p:cNvSpPr>
            <a:spLocks noGrp="1" noRot="1" noChangeAspect="1" noChangeArrowheads="1" noTextEdit="1"/>
          </p:cNvSpPr>
          <p:nvPr>
            <p:ph type="sldImg" idx="4294967295"/>
          </p:nvPr>
        </p:nvSpPr>
        <p:spPr>
          <a:ln/>
        </p:spPr>
      </p:sp>
      <p:sp>
        <p:nvSpPr>
          <p:cNvPr id="18436"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AFC774A-FD4F-417C-BDA0-409BE96C9C98}" type="slidenum">
              <a:rPr altLang="zh-CN" smtClean="0">
                <a:latin typeface="宋体" panose="02010600030101010101" pitchFamily="2" charset="-122"/>
              </a:rPr>
              <a:pPr/>
              <a:t>5</a:t>
            </a:fld>
            <a:endParaRPr lang="zh-CN" altLang="zh-CN" smtClean="0">
              <a:latin typeface="宋体" panose="02010600030101010101" pitchFamily="2" charset="-122"/>
            </a:endParaRPr>
          </a:p>
        </p:txBody>
      </p:sp>
      <p:sp>
        <p:nvSpPr>
          <p:cNvPr id="20483" name="Rectangle 2"/>
          <p:cNvSpPr>
            <a:spLocks noGrp="1" noRot="1" noChangeAspect="1" noChangeArrowheads="1" noTextEdit="1"/>
          </p:cNvSpPr>
          <p:nvPr>
            <p:ph type="sldImg" idx="4294967295"/>
          </p:nvPr>
        </p:nvSpPr>
        <p:spPr>
          <a:ln/>
        </p:spPr>
      </p:sp>
      <p:sp>
        <p:nvSpPr>
          <p:cNvPr id="20484"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72BFE97-12FC-4FDA-A513-080284043E2E}" type="slidenum">
              <a:rPr altLang="zh-CN" smtClean="0">
                <a:latin typeface="宋体" panose="02010600030101010101" pitchFamily="2" charset="-122"/>
              </a:rPr>
              <a:pPr/>
              <a:t>6</a:t>
            </a:fld>
            <a:endParaRPr lang="zh-CN" altLang="zh-CN" smtClean="0">
              <a:latin typeface="宋体" panose="02010600030101010101" pitchFamily="2" charset="-122"/>
            </a:endParaRPr>
          </a:p>
        </p:txBody>
      </p:sp>
      <p:sp>
        <p:nvSpPr>
          <p:cNvPr id="22531" name="Rectangle 2"/>
          <p:cNvSpPr>
            <a:spLocks noGrp="1" noRot="1" noChangeAspect="1" noChangeArrowheads="1" noTextEdit="1"/>
          </p:cNvSpPr>
          <p:nvPr>
            <p:ph type="sldImg" idx="4294967295"/>
          </p:nvPr>
        </p:nvSpPr>
        <p:spPr>
          <a:ln/>
        </p:spPr>
      </p:sp>
      <p:sp>
        <p:nvSpPr>
          <p:cNvPr id="22532"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28D175-3513-480B-9579-5768A827FED8}" type="slidenum">
              <a:rPr altLang="zh-CN" smtClean="0">
                <a:latin typeface="宋体" panose="02010600030101010101" pitchFamily="2" charset="-122"/>
              </a:rPr>
              <a:pPr/>
              <a:t>7</a:t>
            </a:fld>
            <a:endParaRPr lang="zh-CN" altLang="zh-CN" smtClean="0">
              <a:latin typeface="宋体" panose="02010600030101010101" pitchFamily="2" charset="-122"/>
            </a:endParaRPr>
          </a:p>
        </p:txBody>
      </p:sp>
      <p:sp>
        <p:nvSpPr>
          <p:cNvPr id="24579" name="Rectangle 2"/>
          <p:cNvSpPr>
            <a:spLocks noGrp="1" noRot="1" noChangeAspect="1" noChangeArrowheads="1" noTextEdit="1"/>
          </p:cNvSpPr>
          <p:nvPr>
            <p:ph type="sldImg" idx="4294967295"/>
          </p:nvPr>
        </p:nvSpPr>
        <p:spPr>
          <a:ln/>
        </p:spPr>
      </p:sp>
      <p:sp>
        <p:nvSpPr>
          <p:cNvPr id="24580"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B1CFF6-8D3B-4697-8799-F8423BE5E17B}" type="slidenum">
              <a:rPr altLang="zh-CN" smtClean="0">
                <a:latin typeface="宋体" panose="02010600030101010101" pitchFamily="2" charset="-122"/>
              </a:rPr>
              <a:pPr/>
              <a:t>8</a:t>
            </a:fld>
            <a:endParaRPr lang="zh-CN" altLang="zh-CN" smtClean="0">
              <a:latin typeface="宋体" panose="02010600030101010101" pitchFamily="2" charset="-122"/>
            </a:endParaRPr>
          </a:p>
        </p:txBody>
      </p:sp>
      <p:sp>
        <p:nvSpPr>
          <p:cNvPr id="26627" name="Rectangle 2"/>
          <p:cNvSpPr>
            <a:spLocks noGrp="1" noRot="1" noChangeAspect="1" noChangeArrowheads="1" noTextEdit="1"/>
          </p:cNvSpPr>
          <p:nvPr>
            <p:ph type="sldImg" idx="4294967295"/>
          </p:nvPr>
        </p:nvSpPr>
        <p:spPr>
          <a:ln/>
        </p:spPr>
      </p:sp>
      <p:sp>
        <p:nvSpPr>
          <p:cNvPr id="26628"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3A26F8-A00D-46E8-BD68-97F0E32470E5}" type="slidenum">
              <a:rPr altLang="zh-CN" smtClean="0">
                <a:latin typeface="宋体" panose="02010600030101010101" pitchFamily="2" charset="-122"/>
              </a:rPr>
              <a:pPr/>
              <a:t>9</a:t>
            </a:fld>
            <a:endParaRPr lang="zh-CN" altLang="zh-CN" smtClean="0">
              <a:latin typeface="宋体" panose="02010600030101010101" pitchFamily="2" charset="-122"/>
            </a:endParaRPr>
          </a:p>
        </p:txBody>
      </p:sp>
      <p:sp>
        <p:nvSpPr>
          <p:cNvPr id="28675" name="Rectangle 2"/>
          <p:cNvSpPr>
            <a:spLocks noGrp="1" noRot="1" noChangeAspect="1" noChangeArrowheads="1" noTextEdit="1"/>
          </p:cNvSpPr>
          <p:nvPr>
            <p:ph type="sldImg" idx="4294967295"/>
          </p:nvPr>
        </p:nvSpPr>
        <p:spPr>
          <a:ln/>
        </p:spPr>
      </p:sp>
      <p:sp>
        <p:nvSpPr>
          <p:cNvPr id="28676"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C08287-36C0-42CC-B95C-621F9683A8E9}" type="slidenum">
              <a:rPr altLang="zh-CN" smtClean="0">
                <a:latin typeface="宋体" panose="02010600030101010101" pitchFamily="2" charset="-122"/>
              </a:rPr>
              <a:pPr/>
              <a:t>10</a:t>
            </a:fld>
            <a:endParaRPr lang="zh-CN" altLang="zh-CN" smtClean="0">
              <a:latin typeface="宋体" panose="02010600030101010101" pitchFamily="2" charset="-122"/>
            </a:endParaRPr>
          </a:p>
        </p:txBody>
      </p:sp>
      <p:sp>
        <p:nvSpPr>
          <p:cNvPr id="30723" name="Rectangle 2"/>
          <p:cNvSpPr>
            <a:spLocks noGrp="1" noRot="1" noChangeAspect="1" noChangeArrowheads="1" noTextEdit="1"/>
          </p:cNvSpPr>
          <p:nvPr>
            <p:ph type="sldImg" idx="4294967295"/>
          </p:nvPr>
        </p:nvSpPr>
        <p:spPr>
          <a:ln/>
        </p:spPr>
      </p:sp>
      <p:sp>
        <p:nvSpPr>
          <p:cNvPr id="30724"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561F371-7228-4BA2-819D-9D6A435798DA}" type="slidenum">
              <a:rPr altLang="zh-CN" smtClean="0">
                <a:latin typeface="宋体" panose="02010600030101010101" pitchFamily="2" charset="-122"/>
              </a:rPr>
              <a:pPr/>
              <a:t>12</a:t>
            </a:fld>
            <a:endParaRPr lang="zh-CN" altLang="zh-CN" smtClean="0">
              <a:latin typeface="宋体" panose="02010600030101010101" pitchFamily="2" charset="-122"/>
            </a:endParaRPr>
          </a:p>
        </p:txBody>
      </p:sp>
      <p:sp>
        <p:nvSpPr>
          <p:cNvPr id="33795" name="Rectangle 2"/>
          <p:cNvSpPr>
            <a:spLocks noGrp="1" noRot="1" noChangeAspect="1" noChangeArrowheads="1" noTextEdit="1"/>
          </p:cNvSpPr>
          <p:nvPr>
            <p:ph type="sldImg" idx="4294967295"/>
          </p:nvPr>
        </p:nvSpPr>
        <p:spPr>
          <a:ln/>
        </p:spPr>
      </p:sp>
      <p:sp>
        <p:nvSpPr>
          <p:cNvPr id="33796"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051FE5E-F735-42BE-BA12-7B624F707BF7}" type="slidenum">
              <a:rPr altLang="zh-CN" smtClean="0">
                <a:latin typeface="宋体" panose="02010600030101010101" pitchFamily="2" charset="-122"/>
              </a:rPr>
              <a:pPr/>
              <a:t>13</a:t>
            </a:fld>
            <a:endParaRPr lang="zh-CN" altLang="zh-CN" smtClean="0">
              <a:latin typeface="宋体" panose="02010600030101010101" pitchFamily="2" charset="-122"/>
            </a:endParaRPr>
          </a:p>
        </p:txBody>
      </p:sp>
      <p:sp>
        <p:nvSpPr>
          <p:cNvPr id="35843" name="Rectangle 2"/>
          <p:cNvSpPr>
            <a:spLocks noGrp="1" noRot="1" noChangeAspect="1" noChangeArrowheads="1" noTextEdit="1"/>
          </p:cNvSpPr>
          <p:nvPr>
            <p:ph type="sldImg" idx="4294967295"/>
          </p:nvPr>
        </p:nvSpPr>
        <p:spPr>
          <a:ln/>
        </p:spPr>
      </p:sp>
      <p:sp>
        <p:nvSpPr>
          <p:cNvPr id="35844"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41CFC3F-722F-4263-AC23-2CF93DC9615A}" type="slidenum">
              <a:rPr altLang="zh-CN" smtClean="0">
                <a:latin typeface="宋体" panose="02010600030101010101" pitchFamily="2" charset="-122"/>
              </a:rPr>
              <a:pPr/>
              <a:t>15</a:t>
            </a:fld>
            <a:endParaRPr lang="zh-CN" altLang="zh-CN" smtClean="0">
              <a:latin typeface="宋体" panose="02010600030101010101" pitchFamily="2" charset="-122"/>
            </a:endParaRPr>
          </a:p>
        </p:txBody>
      </p:sp>
      <p:sp>
        <p:nvSpPr>
          <p:cNvPr id="38915" name="Rectangle 2"/>
          <p:cNvSpPr>
            <a:spLocks noGrp="1" noRot="1" noChangeAspect="1" noChangeArrowheads="1" noTextEdit="1"/>
          </p:cNvSpPr>
          <p:nvPr>
            <p:ph type="sldImg" idx="4294967295"/>
          </p:nvPr>
        </p:nvSpPr>
        <p:spPr>
          <a:ln/>
        </p:spPr>
      </p:sp>
      <p:sp>
        <p:nvSpPr>
          <p:cNvPr id="38916"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EE93FBC-C464-4317-B5FD-7A2A7DB92C61}" type="slidenum">
              <a:rPr altLang="zh-CN" smtClean="0">
                <a:latin typeface="宋体" panose="02010600030101010101" pitchFamily="2" charset="-122"/>
              </a:rPr>
              <a:pPr/>
              <a:t>18</a:t>
            </a:fld>
            <a:endParaRPr lang="zh-CN" altLang="zh-CN" smtClean="0">
              <a:latin typeface="宋体" panose="02010600030101010101" pitchFamily="2" charset="-122"/>
            </a:endParaRPr>
          </a:p>
        </p:txBody>
      </p:sp>
      <p:sp>
        <p:nvSpPr>
          <p:cNvPr id="43011" name="Rectangle 2"/>
          <p:cNvSpPr>
            <a:spLocks noGrp="1" noRot="1" noChangeAspect="1" noChangeArrowheads="1" noTextEdit="1"/>
          </p:cNvSpPr>
          <p:nvPr>
            <p:ph type="sldImg" idx="4294967295"/>
          </p:nvPr>
        </p:nvSpPr>
        <p:spPr>
          <a:ln/>
        </p:spPr>
      </p:sp>
      <p:sp>
        <p:nvSpPr>
          <p:cNvPr id="43012"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D46A4B-8998-49B0-B054-66F376851459}" type="slidenum">
              <a:rPr altLang="zh-CN" smtClean="0">
                <a:latin typeface="宋体" panose="02010600030101010101" pitchFamily="2" charset="-122"/>
              </a:rPr>
              <a:pPr/>
              <a:t>20</a:t>
            </a:fld>
            <a:endParaRPr lang="zh-CN" altLang="zh-CN" smtClean="0">
              <a:latin typeface="宋体" panose="02010600030101010101" pitchFamily="2" charset="-122"/>
            </a:endParaRPr>
          </a:p>
        </p:txBody>
      </p:sp>
      <p:sp>
        <p:nvSpPr>
          <p:cNvPr id="46083" name="Rectangle 2"/>
          <p:cNvSpPr>
            <a:spLocks noGrp="1" noRot="1" noChangeAspect="1" noChangeArrowheads="1" noTextEdit="1"/>
          </p:cNvSpPr>
          <p:nvPr>
            <p:ph type="sldImg" idx="4294967295"/>
          </p:nvPr>
        </p:nvSpPr>
        <p:spPr>
          <a:ln/>
        </p:spPr>
      </p:sp>
      <p:sp>
        <p:nvSpPr>
          <p:cNvPr id="46084"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C9EFFB4-ACEF-4C49-BB93-E265C74D3055}" type="slidenum">
              <a:rPr altLang="zh-CN" smtClean="0">
                <a:latin typeface="宋体" panose="02010600030101010101" pitchFamily="2" charset="-122"/>
              </a:rPr>
              <a:pPr/>
              <a:t>21</a:t>
            </a:fld>
            <a:endParaRPr lang="zh-CN" altLang="zh-CN" smtClean="0">
              <a:latin typeface="宋体" panose="02010600030101010101" pitchFamily="2" charset="-122"/>
            </a:endParaRPr>
          </a:p>
        </p:txBody>
      </p:sp>
      <p:sp>
        <p:nvSpPr>
          <p:cNvPr id="48131" name="Rectangle 2"/>
          <p:cNvSpPr>
            <a:spLocks noGrp="1" noRot="1" noChangeAspect="1" noChangeArrowheads="1" noTextEdit="1"/>
          </p:cNvSpPr>
          <p:nvPr>
            <p:ph type="sldImg" idx="4294967295"/>
          </p:nvPr>
        </p:nvSpPr>
        <p:spPr>
          <a:ln/>
        </p:spPr>
      </p:sp>
      <p:sp>
        <p:nvSpPr>
          <p:cNvPr id="48132"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E291FC5-3900-47E3-BB87-D041016E0546}" type="slidenum">
              <a:rPr altLang="zh-CN" smtClean="0">
                <a:latin typeface="宋体" panose="02010600030101010101" pitchFamily="2" charset="-122"/>
              </a:rPr>
              <a:pPr/>
              <a:t>22</a:t>
            </a:fld>
            <a:endParaRPr lang="zh-CN" altLang="zh-CN" smtClean="0">
              <a:latin typeface="宋体" panose="02010600030101010101" pitchFamily="2" charset="-122"/>
            </a:endParaRPr>
          </a:p>
        </p:txBody>
      </p:sp>
      <p:sp>
        <p:nvSpPr>
          <p:cNvPr id="50179" name="Rectangle 2"/>
          <p:cNvSpPr>
            <a:spLocks noGrp="1" noRot="1" noChangeAspect="1" noChangeArrowheads="1" noTextEdit="1"/>
          </p:cNvSpPr>
          <p:nvPr>
            <p:ph type="sldImg" idx="4294967295"/>
          </p:nvPr>
        </p:nvSpPr>
        <p:spPr>
          <a:ln/>
        </p:spPr>
      </p:sp>
      <p:sp>
        <p:nvSpPr>
          <p:cNvPr id="50180"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32644E-8995-432D-808F-F5122A2410CF}" type="slidenum">
              <a:rPr altLang="zh-CN" smtClean="0">
                <a:latin typeface="宋体" panose="02010600030101010101" pitchFamily="2" charset="-122"/>
              </a:rPr>
              <a:pPr/>
              <a:t>23</a:t>
            </a:fld>
            <a:endParaRPr lang="zh-CN" altLang="zh-CN" smtClean="0">
              <a:latin typeface="宋体" panose="02010600030101010101" pitchFamily="2" charset="-122"/>
            </a:endParaRPr>
          </a:p>
        </p:txBody>
      </p:sp>
      <p:sp>
        <p:nvSpPr>
          <p:cNvPr id="52227" name="Rectangle 2"/>
          <p:cNvSpPr>
            <a:spLocks noGrp="1" noRot="1" noChangeAspect="1" noChangeArrowheads="1" noTextEdit="1"/>
          </p:cNvSpPr>
          <p:nvPr>
            <p:ph type="sldImg" idx="4294967295"/>
          </p:nvPr>
        </p:nvSpPr>
        <p:spPr>
          <a:ln/>
        </p:spPr>
      </p:sp>
      <p:sp>
        <p:nvSpPr>
          <p:cNvPr id="52228"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227114B-970D-428C-838C-263E90132234}" type="slidenum">
              <a:rPr altLang="zh-CN" smtClean="0">
                <a:latin typeface="宋体" panose="02010600030101010101" pitchFamily="2" charset="-122"/>
              </a:rPr>
              <a:pPr/>
              <a:t>24</a:t>
            </a:fld>
            <a:endParaRPr lang="zh-CN" altLang="zh-CN" smtClean="0">
              <a:latin typeface="宋体" panose="02010600030101010101" pitchFamily="2" charset="-122"/>
            </a:endParaRPr>
          </a:p>
        </p:txBody>
      </p:sp>
      <p:sp>
        <p:nvSpPr>
          <p:cNvPr id="54275" name="Rectangle 2"/>
          <p:cNvSpPr>
            <a:spLocks noGrp="1" noRot="1" noChangeAspect="1" noChangeArrowheads="1" noTextEdit="1"/>
          </p:cNvSpPr>
          <p:nvPr>
            <p:ph type="sldImg" idx="4294967295"/>
          </p:nvPr>
        </p:nvSpPr>
        <p:spPr>
          <a:ln/>
        </p:spPr>
      </p:sp>
      <p:sp>
        <p:nvSpPr>
          <p:cNvPr id="54276"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6FBBDFC-7ECB-4B8A-B28F-67A02C8476F8}" type="slidenum">
              <a:rPr altLang="zh-CN" smtClean="0">
                <a:latin typeface="宋体" panose="02010600030101010101" pitchFamily="2" charset="-122"/>
              </a:rPr>
              <a:pPr/>
              <a:t>25</a:t>
            </a:fld>
            <a:endParaRPr lang="zh-CN" altLang="zh-CN" smtClean="0">
              <a:latin typeface="宋体" panose="02010600030101010101" pitchFamily="2" charset="-122"/>
            </a:endParaRPr>
          </a:p>
        </p:txBody>
      </p:sp>
      <p:sp>
        <p:nvSpPr>
          <p:cNvPr id="56323" name="Rectangle 2"/>
          <p:cNvSpPr>
            <a:spLocks noGrp="1" noRot="1" noChangeAspect="1" noChangeArrowheads="1" noTextEdit="1"/>
          </p:cNvSpPr>
          <p:nvPr>
            <p:ph type="sldImg" idx="4294967295"/>
          </p:nvPr>
        </p:nvSpPr>
        <p:spPr>
          <a:ln/>
        </p:spPr>
      </p:sp>
      <p:sp>
        <p:nvSpPr>
          <p:cNvPr id="56324"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71AEBE2-ED93-49B4-B327-C08CD42D6FB3}" type="slidenum">
              <a:rPr altLang="zh-CN" smtClean="0">
                <a:latin typeface="宋体" panose="02010600030101010101" pitchFamily="2" charset="-122"/>
              </a:rPr>
              <a:pPr/>
              <a:t>26</a:t>
            </a:fld>
            <a:endParaRPr lang="zh-CN" altLang="zh-CN" smtClean="0">
              <a:latin typeface="宋体" panose="02010600030101010101" pitchFamily="2" charset="-122"/>
            </a:endParaRPr>
          </a:p>
        </p:txBody>
      </p:sp>
      <p:sp>
        <p:nvSpPr>
          <p:cNvPr id="58371" name="Rectangle 2"/>
          <p:cNvSpPr>
            <a:spLocks noGrp="1" noRot="1" noChangeAspect="1" noChangeArrowheads="1" noTextEdit="1"/>
          </p:cNvSpPr>
          <p:nvPr>
            <p:ph type="sldImg" idx="4294967295"/>
          </p:nvPr>
        </p:nvSpPr>
        <p:spPr>
          <a:ln/>
        </p:spPr>
      </p:sp>
      <p:sp>
        <p:nvSpPr>
          <p:cNvPr id="58372"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FCD12E-DE7D-4170-B1C2-8C596B6E8702}" type="slidenum">
              <a:rPr altLang="zh-CN" smtClean="0">
                <a:latin typeface="宋体" panose="02010600030101010101" pitchFamily="2" charset="-122"/>
              </a:rPr>
              <a:pPr/>
              <a:t>27</a:t>
            </a:fld>
            <a:endParaRPr lang="zh-CN" altLang="zh-CN" smtClean="0">
              <a:latin typeface="宋体" panose="02010600030101010101" pitchFamily="2" charset="-122"/>
            </a:endParaRPr>
          </a:p>
        </p:txBody>
      </p:sp>
      <p:sp>
        <p:nvSpPr>
          <p:cNvPr id="60419" name="Rectangle 2"/>
          <p:cNvSpPr>
            <a:spLocks noGrp="1" noRot="1" noChangeAspect="1" noChangeArrowheads="1" noTextEdit="1"/>
          </p:cNvSpPr>
          <p:nvPr>
            <p:ph type="sldImg" idx="4294967295"/>
          </p:nvPr>
        </p:nvSpPr>
        <p:spPr>
          <a:ln/>
        </p:spPr>
      </p:sp>
      <p:sp>
        <p:nvSpPr>
          <p:cNvPr id="60420"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87EE48E-35C2-461C-9758-22F6F65A613E}" type="slidenum">
              <a:rPr altLang="zh-CN" smtClean="0">
                <a:latin typeface="宋体" panose="02010600030101010101" pitchFamily="2" charset="-122"/>
              </a:rPr>
              <a:pPr/>
              <a:t>28</a:t>
            </a:fld>
            <a:endParaRPr lang="zh-CN" altLang="zh-CN" smtClean="0">
              <a:latin typeface="宋体" panose="02010600030101010101" pitchFamily="2" charset="-122"/>
            </a:endParaRPr>
          </a:p>
        </p:txBody>
      </p:sp>
      <p:sp>
        <p:nvSpPr>
          <p:cNvPr id="62467" name="Rectangle 2"/>
          <p:cNvSpPr>
            <a:spLocks noGrp="1" noRot="1" noChangeAspect="1" noChangeArrowheads="1" noTextEdit="1"/>
          </p:cNvSpPr>
          <p:nvPr>
            <p:ph type="sldImg" idx="4294967295"/>
          </p:nvPr>
        </p:nvSpPr>
        <p:spPr>
          <a:ln/>
        </p:spPr>
      </p:sp>
      <p:sp>
        <p:nvSpPr>
          <p:cNvPr id="62468"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129B952-6A1B-4BB9-BABF-D0D807E0ECB9}" type="slidenum">
              <a:rPr altLang="zh-CN" smtClean="0">
                <a:latin typeface="宋体" panose="02010600030101010101" pitchFamily="2" charset="-122"/>
              </a:rPr>
              <a:pPr/>
              <a:t>29</a:t>
            </a:fld>
            <a:endParaRPr lang="zh-CN" altLang="zh-CN" smtClean="0">
              <a:latin typeface="宋体" panose="02010600030101010101" pitchFamily="2" charset="-122"/>
            </a:endParaRPr>
          </a:p>
        </p:txBody>
      </p:sp>
      <p:sp>
        <p:nvSpPr>
          <p:cNvPr id="64515" name="Rectangle 2"/>
          <p:cNvSpPr>
            <a:spLocks noGrp="1" noRot="1" noChangeAspect="1" noChangeArrowheads="1" noTextEdit="1"/>
          </p:cNvSpPr>
          <p:nvPr>
            <p:ph type="sldImg" idx="4294967295"/>
          </p:nvPr>
        </p:nvSpPr>
        <p:spPr>
          <a:ln/>
        </p:spPr>
      </p:sp>
      <p:sp>
        <p:nvSpPr>
          <p:cNvPr id="64516"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196FAE-1C3E-459C-AC04-F28F1F18218E}" type="slidenum">
              <a:rPr altLang="zh-CN" smtClean="0">
                <a:latin typeface="宋体" panose="02010600030101010101" pitchFamily="2" charset="-122"/>
              </a:rPr>
              <a:pPr/>
              <a:t>31</a:t>
            </a:fld>
            <a:endParaRPr lang="zh-CN" altLang="zh-CN" smtClean="0">
              <a:latin typeface="宋体" panose="02010600030101010101" pitchFamily="2" charset="-122"/>
            </a:endParaRPr>
          </a:p>
        </p:txBody>
      </p:sp>
      <p:sp>
        <p:nvSpPr>
          <p:cNvPr id="67587" name="Rectangle 2"/>
          <p:cNvSpPr>
            <a:spLocks noGrp="1" noRot="1" noChangeAspect="1" noChangeArrowheads="1" noTextEdit="1"/>
          </p:cNvSpPr>
          <p:nvPr>
            <p:ph type="sldImg" idx="4294967295"/>
          </p:nvPr>
        </p:nvSpPr>
        <p:spPr>
          <a:ln/>
        </p:spPr>
      </p:sp>
      <p:sp>
        <p:nvSpPr>
          <p:cNvPr id="67588"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2863837-2E0B-4649-82A5-5D2C67BEAEAB}" type="slidenum">
              <a:rPr altLang="zh-CN" smtClean="0">
                <a:latin typeface="宋体" panose="02010600030101010101" pitchFamily="2" charset="-122"/>
              </a:rPr>
              <a:pPr/>
              <a:t>32</a:t>
            </a:fld>
            <a:endParaRPr lang="zh-CN" altLang="zh-CN" smtClean="0">
              <a:latin typeface="宋体" panose="02010600030101010101" pitchFamily="2" charset="-122"/>
            </a:endParaRPr>
          </a:p>
        </p:txBody>
      </p:sp>
      <p:sp>
        <p:nvSpPr>
          <p:cNvPr id="69635" name="Rectangle 2"/>
          <p:cNvSpPr>
            <a:spLocks noGrp="1" noRot="1" noChangeAspect="1" noChangeArrowheads="1" noTextEdit="1"/>
          </p:cNvSpPr>
          <p:nvPr>
            <p:ph type="sldImg" idx="4294967295"/>
          </p:nvPr>
        </p:nvSpPr>
        <p:spPr>
          <a:ln/>
        </p:spPr>
      </p:sp>
      <p:sp>
        <p:nvSpPr>
          <p:cNvPr id="69636"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BC22A09-1C6D-4D9A-B896-15E16FD3C630}" type="slidenum">
              <a:rPr altLang="zh-CN" smtClean="0">
                <a:latin typeface="宋体" panose="02010600030101010101" pitchFamily="2" charset="-122"/>
              </a:rPr>
              <a:pPr/>
              <a:t>33</a:t>
            </a:fld>
            <a:endParaRPr lang="zh-CN" altLang="zh-CN" smtClean="0">
              <a:latin typeface="宋体" panose="02010600030101010101" pitchFamily="2" charset="-122"/>
            </a:endParaRPr>
          </a:p>
        </p:txBody>
      </p:sp>
      <p:sp>
        <p:nvSpPr>
          <p:cNvPr id="71683" name="Rectangle 2"/>
          <p:cNvSpPr>
            <a:spLocks noGrp="1" noRot="1" noChangeAspect="1" noChangeArrowheads="1" noTextEdit="1"/>
          </p:cNvSpPr>
          <p:nvPr>
            <p:ph type="sldImg" idx="4294967295"/>
          </p:nvPr>
        </p:nvSpPr>
        <p:spPr>
          <a:ln/>
        </p:spPr>
      </p:sp>
      <p:sp>
        <p:nvSpPr>
          <p:cNvPr id="71684"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244AA92-05CF-4522-B67B-C40255EDDE60}" type="slidenum">
              <a:rPr altLang="zh-CN" smtClean="0">
                <a:latin typeface="宋体" panose="02010600030101010101" pitchFamily="2" charset="-122"/>
              </a:rPr>
              <a:pPr/>
              <a:t>34</a:t>
            </a:fld>
            <a:endParaRPr lang="zh-CN" altLang="zh-CN" smtClean="0">
              <a:latin typeface="宋体" panose="02010600030101010101" pitchFamily="2" charset="-122"/>
            </a:endParaRPr>
          </a:p>
        </p:txBody>
      </p:sp>
      <p:sp>
        <p:nvSpPr>
          <p:cNvPr id="73731" name="Rectangle 2"/>
          <p:cNvSpPr>
            <a:spLocks noGrp="1" noRot="1" noChangeAspect="1" noChangeArrowheads="1" noTextEdit="1"/>
          </p:cNvSpPr>
          <p:nvPr>
            <p:ph type="sldImg" idx="4294967295"/>
          </p:nvPr>
        </p:nvSpPr>
        <p:spPr>
          <a:ln/>
        </p:spPr>
      </p:sp>
      <p:sp>
        <p:nvSpPr>
          <p:cNvPr id="73732" name="Rectangle 3"/>
          <p:cNvSpPr>
            <a:spLocks noGrp="1" noChangeArrowheads="1"/>
          </p:cNvSpPr>
          <p:nvPr>
            <p:ph type="body" idx="4294967295"/>
          </p:nvPr>
        </p:nvSpPr>
        <p:spPr>
          <a:noFill/>
        </p:spPr>
        <p:txBody>
          <a:bodyPr/>
          <a:lstStyle/>
          <a:p>
            <a:pPr eaLnBrk="1" hangingPunct="1"/>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9AFF4A-842B-46DE-8C73-4596857B342B}"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365570" name="Rectangle 2"/>
          <p:cNvSpPr>
            <a:spLocks noGrp="1" noRot="1" noChangeAspect="1" noChangeArrowheads="1" noTextEdit="1"/>
          </p:cNvSpPr>
          <p:nvPr>
            <p:ph type="sldImg" idx="4294967295"/>
          </p:nvPr>
        </p:nvSpPr>
        <p:spPr>
          <a:ln/>
        </p:spPr>
      </p:sp>
      <p:sp>
        <p:nvSpPr>
          <p:cNvPr id="36557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5340151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4111AE-2556-4392-80D6-EB94B4DE8BB2}"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367618" name="Rectangle 2"/>
          <p:cNvSpPr>
            <a:spLocks noGrp="1" noRot="1" noChangeAspect="1" noChangeArrowheads="1" noTextEdit="1"/>
          </p:cNvSpPr>
          <p:nvPr>
            <p:ph type="sldImg" idx="4294967295"/>
          </p:nvPr>
        </p:nvSpPr>
        <p:spPr>
          <a:ln/>
        </p:spPr>
      </p:sp>
      <p:sp>
        <p:nvSpPr>
          <p:cNvPr id="3676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05741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D99FC2-814B-4E2D-9C4C-03843B5B8BA8}"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369666" name="Rectangle 2"/>
          <p:cNvSpPr>
            <a:spLocks noGrp="1" noRot="1" noChangeAspect="1" noChangeArrowheads="1" noTextEdit="1"/>
          </p:cNvSpPr>
          <p:nvPr>
            <p:ph type="sldImg" idx="4294967295"/>
          </p:nvPr>
        </p:nvSpPr>
        <p:spPr>
          <a:ln/>
        </p:spPr>
      </p:sp>
      <p:sp>
        <p:nvSpPr>
          <p:cNvPr id="3696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189599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77F453-EB74-44DD-B44C-D964EED61AF5}"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371714" name="Rectangle 2"/>
          <p:cNvSpPr>
            <a:spLocks noGrp="1" noRot="1" noChangeAspect="1" noChangeArrowheads="1" noTextEdit="1"/>
          </p:cNvSpPr>
          <p:nvPr>
            <p:ph type="sldImg" idx="4294967295"/>
          </p:nvPr>
        </p:nvSpPr>
        <p:spPr>
          <a:ln/>
        </p:spPr>
      </p:sp>
      <p:sp>
        <p:nvSpPr>
          <p:cNvPr id="37171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5051122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C618FA-F517-42A1-85E6-D941DA1AA4EE}"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373762" name="Rectangle 2"/>
          <p:cNvSpPr>
            <a:spLocks noGrp="1" noRot="1" noChangeAspect="1" noChangeArrowheads="1" noTextEdit="1"/>
          </p:cNvSpPr>
          <p:nvPr>
            <p:ph type="sldImg" idx="4294967295"/>
          </p:nvPr>
        </p:nvSpPr>
        <p:spPr>
          <a:ln/>
        </p:spPr>
      </p:sp>
      <p:sp>
        <p:nvSpPr>
          <p:cNvPr id="37376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132991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80385CF-626F-46EE-80AB-3545E6001250}" type="slidenum">
              <a:rPr lang="en-US" altLang="zh-CN" smtClean="0"/>
              <a:pPr/>
              <a:t>43</a:t>
            </a:fld>
            <a:endParaRPr lang="en-US" altLang="zh-CN" smtClean="0"/>
          </a:p>
        </p:txBody>
      </p:sp>
      <p:sp>
        <p:nvSpPr>
          <p:cNvPr id="375810" name="Rectangle 2"/>
          <p:cNvSpPr>
            <a:spLocks noGrp="1" noRot="1" noChangeAspect="1" noChangeArrowheads="1" noTextEdit="1"/>
          </p:cNvSpPr>
          <p:nvPr>
            <p:ph type="sldImg" idx="4294967295"/>
          </p:nvPr>
        </p:nvSpPr>
        <p:spPr>
          <a:ln/>
        </p:spPr>
      </p:sp>
      <p:sp>
        <p:nvSpPr>
          <p:cNvPr id="37581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912219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r>
              <a:rPr lang="en-US" altLang="zh-CN"/>
              <a:t>ppt课件</a:t>
            </a:r>
          </a:p>
        </p:txBody>
      </p:sp>
      <p:sp>
        <p:nvSpPr>
          <p:cNvPr id="9" name="Rectangle 6"/>
          <p:cNvSpPr>
            <a:spLocks noGrp="1" noChangeArrowheads="1"/>
          </p:cNvSpPr>
          <p:nvPr>
            <p:ph type="sldNum" sz="quarter" idx="12"/>
          </p:nvPr>
        </p:nvSpPr>
        <p:spPr/>
        <p:txBody>
          <a:bodyPr/>
          <a:lstStyle>
            <a:lvl1pPr>
              <a:defRPr/>
            </a:lvl1pPr>
          </a:lstStyle>
          <a:p>
            <a:pPr>
              <a:defRPr/>
            </a:pPr>
            <a:fld id="{9ECD3E50-43AB-4836-800E-D084568873EA}" type="slidenum">
              <a:rPr lang="zh-CN" altLang="en-US"/>
              <a:pPr>
                <a:defRPr/>
              </a:pPr>
              <a:t>‹#›</a:t>
            </a:fld>
            <a:endParaRPr lang="en-US" altLang="zh-CN"/>
          </a:p>
        </p:txBody>
      </p:sp>
    </p:spTree>
    <p:extLst>
      <p:ext uri="{BB962C8B-B14F-4D97-AF65-F5344CB8AC3E}">
        <p14:creationId xmlns:p14="http://schemas.microsoft.com/office/powerpoint/2010/main" val="2342685728"/>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r>
              <a:rPr lang="en-US" altLang="zh-CN"/>
              <a:t>ppt课件</a:t>
            </a:r>
          </a:p>
        </p:txBody>
      </p:sp>
      <p:sp>
        <p:nvSpPr>
          <p:cNvPr id="7" name="灯片编号占位符 5"/>
          <p:cNvSpPr>
            <a:spLocks noGrp="1"/>
          </p:cNvSpPr>
          <p:nvPr>
            <p:ph type="sldNum" sz="quarter" idx="12"/>
          </p:nvPr>
        </p:nvSpPr>
        <p:spPr/>
        <p:txBody>
          <a:bodyPr/>
          <a:lstStyle>
            <a:lvl1pPr>
              <a:defRPr/>
            </a:lvl1pPr>
          </a:lstStyle>
          <a:p>
            <a:pPr>
              <a:defRPr/>
            </a:pPr>
            <a:fld id="{20406D9D-14E9-470F-8F4B-555D11BCF64B}" type="slidenum">
              <a:rPr lang="zh-CN" altLang="en-US"/>
              <a:pPr>
                <a:defRPr/>
              </a:pPr>
              <a:t>‹#›</a:t>
            </a:fld>
            <a:endParaRPr lang="en-US" altLang="zh-CN"/>
          </a:p>
        </p:txBody>
      </p:sp>
    </p:spTree>
    <p:extLst>
      <p:ext uri="{BB962C8B-B14F-4D97-AF65-F5344CB8AC3E}">
        <p14:creationId xmlns:p14="http://schemas.microsoft.com/office/powerpoint/2010/main" val="2737331157"/>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pPr>
              <a:defRPr/>
            </a:pPr>
            <a:fld id="{2DC8ED67-2E1C-4E91-AC03-7097B4EEFB44}" type="slidenum">
              <a:rPr lang="zh-CN" altLang="en-US"/>
              <a:pPr>
                <a:defRPr/>
              </a:pPr>
              <a:t>‹#›</a:t>
            </a:fld>
            <a:endParaRPr lang="en-US" altLang="zh-CN"/>
          </a:p>
        </p:txBody>
      </p:sp>
    </p:spTree>
    <p:extLst>
      <p:ext uri="{BB962C8B-B14F-4D97-AF65-F5344CB8AC3E}">
        <p14:creationId xmlns:p14="http://schemas.microsoft.com/office/powerpoint/2010/main" val="781592112"/>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pPr>
              <a:defRPr/>
            </a:pPr>
            <a:endParaRPr lang="en-US" altLang="zh-CN"/>
          </a:p>
        </p:txBody>
      </p:sp>
      <p:sp>
        <p:nvSpPr>
          <p:cNvPr id="7" name="页脚占位符 5"/>
          <p:cNvSpPr>
            <a:spLocks noGrp="1"/>
          </p:cNvSpPr>
          <p:nvPr>
            <p:ph type="ftr" sz="quarter" idx="11"/>
          </p:nvPr>
        </p:nvSpPr>
        <p:spPr/>
        <p:txBody>
          <a:bodyPr/>
          <a:lstStyle>
            <a:lvl1pPr>
              <a:defRPr/>
            </a:lvl1pPr>
          </a:lstStyle>
          <a:p>
            <a:pPr>
              <a:defRPr/>
            </a:pPr>
            <a:r>
              <a:rPr lang="en-US" altLang="zh-CN"/>
              <a:t>ppt课件</a:t>
            </a:r>
          </a:p>
        </p:txBody>
      </p:sp>
      <p:sp>
        <p:nvSpPr>
          <p:cNvPr id="8" name="灯片编号占位符 6"/>
          <p:cNvSpPr>
            <a:spLocks noGrp="1"/>
          </p:cNvSpPr>
          <p:nvPr>
            <p:ph type="sldNum" sz="quarter" idx="12"/>
          </p:nvPr>
        </p:nvSpPr>
        <p:spPr/>
        <p:txBody>
          <a:bodyPr/>
          <a:lstStyle>
            <a:lvl1pPr>
              <a:defRPr/>
            </a:lvl1pPr>
          </a:lstStyle>
          <a:p>
            <a:pPr>
              <a:defRPr/>
            </a:pPr>
            <a:fld id="{C9F3FD2B-9D3F-4B87-A1D1-A4282F1FF84B}" type="slidenum">
              <a:rPr lang="zh-CN" altLang="en-US"/>
              <a:pPr>
                <a:defRPr/>
              </a:pPr>
              <a:t>‹#›</a:t>
            </a:fld>
            <a:endParaRPr lang="en-US" altLang="zh-CN"/>
          </a:p>
        </p:txBody>
      </p:sp>
    </p:spTree>
    <p:extLst>
      <p:ext uri="{BB962C8B-B14F-4D97-AF65-F5344CB8AC3E}">
        <p14:creationId xmlns:p14="http://schemas.microsoft.com/office/powerpoint/2010/main" val="1859039815"/>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pPr>
              <a:defRPr/>
            </a:pPr>
            <a:endParaRPr lang="en-US" altLang="zh-CN"/>
          </a:p>
        </p:txBody>
      </p:sp>
      <p:sp>
        <p:nvSpPr>
          <p:cNvPr id="9" name="页脚占位符 7"/>
          <p:cNvSpPr>
            <a:spLocks noGrp="1"/>
          </p:cNvSpPr>
          <p:nvPr>
            <p:ph type="ftr" sz="quarter" idx="11"/>
          </p:nvPr>
        </p:nvSpPr>
        <p:spPr/>
        <p:txBody>
          <a:bodyPr/>
          <a:lstStyle>
            <a:lvl1pPr>
              <a:defRPr/>
            </a:lvl1pPr>
          </a:lstStyle>
          <a:p>
            <a:pPr>
              <a:defRPr/>
            </a:pPr>
            <a:r>
              <a:rPr lang="en-US" altLang="zh-CN"/>
              <a:t>ppt课件</a:t>
            </a:r>
          </a:p>
        </p:txBody>
      </p:sp>
      <p:sp>
        <p:nvSpPr>
          <p:cNvPr id="10" name="灯片编号占位符 8"/>
          <p:cNvSpPr>
            <a:spLocks noGrp="1"/>
          </p:cNvSpPr>
          <p:nvPr>
            <p:ph type="sldNum" sz="quarter" idx="12"/>
          </p:nvPr>
        </p:nvSpPr>
        <p:spPr/>
        <p:txBody>
          <a:bodyPr/>
          <a:lstStyle>
            <a:lvl1pPr>
              <a:defRPr/>
            </a:lvl1pPr>
          </a:lstStyle>
          <a:p>
            <a:pPr>
              <a:defRPr/>
            </a:pPr>
            <a:fld id="{764E1F8B-4115-4B77-9D71-DEFE7E51BBED}" type="slidenum">
              <a:rPr lang="zh-CN" altLang="en-US"/>
              <a:pPr>
                <a:defRPr/>
              </a:pPr>
              <a:t>‹#›</a:t>
            </a:fld>
            <a:endParaRPr lang="en-US" altLang="zh-CN"/>
          </a:p>
        </p:txBody>
      </p:sp>
    </p:spTree>
    <p:extLst>
      <p:ext uri="{BB962C8B-B14F-4D97-AF65-F5344CB8AC3E}">
        <p14:creationId xmlns:p14="http://schemas.microsoft.com/office/powerpoint/2010/main" val="3402326589"/>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pPr>
              <a:defRPr/>
            </a:pPr>
            <a:endParaRPr lang="en-US" altLang="zh-CN"/>
          </a:p>
        </p:txBody>
      </p:sp>
      <p:sp>
        <p:nvSpPr>
          <p:cNvPr id="9" name="页脚占位符 7"/>
          <p:cNvSpPr>
            <a:spLocks noGrp="1"/>
          </p:cNvSpPr>
          <p:nvPr>
            <p:ph type="ftr" sz="quarter" idx="11"/>
          </p:nvPr>
        </p:nvSpPr>
        <p:spPr/>
        <p:txBody>
          <a:bodyPr/>
          <a:lstStyle>
            <a:lvl1pPr>
              <a:defRPr/>
            </a:lvl1pPr>
          </a:lstStyle>
          <a:p>
            <a:pPr>
              <a:defRPr/>
            </a:pPr>
            <a:r>
              <a:rPr lang="en-US" altLang="zh-CN"/>
              <a:t>ppt课件</a:t>
            </a:r>
          </a:p>
        </p:txBody>
      </p:sp>
      <p:sp>
        <p:nvSpPr>
          <p:cNvPr id="10" name="灯片编号占位符 8"/>
          <p:cNvSpPr>
            <a:spLocks noGrp="1"/>
          </p:cNvSpPr>
          <p:nvPr>
            <p:ph type="sldNum" sz="quarter" idx="12"/>
          </p:nvPr>
        </p:nvSpPr>
        <p:spPr/>
        <p:txBody>
          <a:bodyPr/>
          <a:lstStyle>
            <a:lvl1pPr>
              <a:defRPr/>
            </a:lvl1pPr>
          </a:lstStyle>
          <a:p>
            <a:pPr>
              <a:defRPr/>
            </a:pPr>
            <a:fld id="{3008A29E-3C92-4AC5-BAAF-CCC2C9468F65}" type="slidenum">
              <a:rPr lang="zh-CN" altLang="en-US"/>
              <a:pPr>
                <a:defRPr/>
              </a:pPr>
              <a:t>‹#›</a:t>
            </a:fld>
            <a:endParaRPr lang="en-US" altLang="zh-CN"/>
          </a:p>
        </p:txBody>
      </p:sp>
    </p:spTree>
    <p:extLst>
      <p:ext uri="{BB962C8B-B14F-4D97-AF65-F5344CB8AC3E}">
        <p14:creationId xmlns:p14="http://schemas.microsoft.com/office/powerpoint/2010/main" val="1045635914"/>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pPr>
              <a:defRPr/>
            </a:pPr>
            <a:endParaRPr lang="en-US" altLang="zh-CN"/>
          </a:p>
        </p:txBody>
      </p:sp>
      <p:sp>
        <p:nvSpPr>
          <p:cNvPr id="5" name="页脚占位符 3"/>
          <p:cNvSpPr>
            <a:spLocks noGrp="1"/>
          </p:cNvSpPr>
          <p:nvPr>
            <p:ph type="ftr" sz="quarter" idx="11"/>
          </p:nvPr>
        </p:nvSpPr>
        <p:spPr/>
        <p:txBody>
          <a:bodyPr/>
          <a:lstStyle>
            <a:lvl1pPr>
              <a:defRPr/>
            </a:lvl1pPr>
          </a:lstStyle>
          <a:p>
            <a:pPr>
              <a:defRPr/>
            </a:pPr>
            <a:r>
              <a:rPr lang="en-US" altLang="zh-CN"/>
              <a:t>ppt课件</a:t>
            </a:r>
          </a:p>
        </p:txBody>
      </p:sp>
      <p:sp>
        <p:nvSpPr>
          <p:cNvPr id="6" name="灯片编号占位符 4"/>
          <p:cNvSpPr>
            <a:spLocks noGrp="1"/>
          </p:cNvSpPr>
          <p:nvPr>
            <p:ph type="sldNum" sz="quarter" idx="12"/>
          </p:nvPr>
        </p:nvSpPr>
        <p:spPr/>
        <p:txBody>
          <a:bodyPr/>
          <a:lstStyle>
            <a:lvl1pPr>
              <a:defRPr/>
            </a:lvl1pPr>
          </a:lstStyle>
          <a:p>
            <a:pPr>
              <a:defRPr/>
            </a:pPr>
            <a:fld id="{C191D8CE-B783-4B91-A66E-E78A5F709967}" type="slidenum">
              <a:rPr lang="zh-CN" altLang="en-US"/>
              <a:pPr>
                <a:defRPr/>
              </a:pPr>
              <a:t>‹#›</a:t>
            </a:fld>
            <a:endParaRPr lang="en-US" altLang="zh-CN"/>
          </a:p>
        </p:txBody>
      </p:sp>
    </p:spTree>
    <p:extLst>
      <p:ext uri="{BB962C8B-B14F-4D97-AF65-F5344CB8AC3E}">
        <p14:creationId xmlns:p14="http://schemas.microsoft.com/office/powerpoint/2010/main" val="2348520092"/>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pPr>
              <a:defRPr/>
            </a:pPr>
            <a:fld id="{F887985C-AE9E-4E92-BCA8-38AB63550AA6}" type="slidenum">
              <a:rPr lang="zh-CN" altLang="en-US"/>
              <a:pPr>
                <a:defRPr/>
              </a:pPr>
              <a:t>‹#›</a:t>
            </a:fld>
            <a:endParaRPr lang="en-US" altLang="zh-CN"/>
          </a:p>
        </p:txBody>
      </p:sp>
    </p:spTree>
    <p:extLst>
      <p:ext uri="{BB962C8B-B14F-4D97-AF65-F5344CB8AC3E}">
        <p14:creationId xmlns:p14="http://schemas.microsoft.com/office/powerpoint/2010/main" val="247393991"/>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pPr>
              <a:defRPr/>
            </a:pPr>
            <a:fld id="{B8B716F8-ECDD-4794-8007-9733B1595C4F}" type="slidenum">
              <a:rPr lang="zh-CN" altLang="en-US"/>
              <a:pPr>
                <a:defRPr/>
              </a:pPr>
              <a:t>‹#›</a:t>
            </a:fld>
            <a:endParaRPr lang="en-US" altLang="zh-CN"/>
          </a:p>
        </p:txBody>
      </p:sp>
    </p:spTree>
    <p:extLst>
      <p:ext uri="{BB962C8B-B14F-4D97-AF65-F5344CB8AC3E}">
        <p14:creationId xmlns:p14="http://schemas.microsoft.com/office/powerpoint/2010/main" val="2841742806"/>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pPr>
              <a:defRPr/>
            </a:pPr>
            <a:fld id="{6EEE0C25-DE6B-43F5-B5CA-74E0667483E2}" type="slidenum">
              <a:rPr lang="zh-CN" altLang="en-US"/>
              <a:pPr>
                <a:defRPr/>
              </a:pPr>
              <a:t>‹#›</a:t>
            </a:fld>
            <a:endParaRPr lang="en-US" altLang="zh-CN"/>
          </a:p>
        </p:txBody>
      </p:sp>
    </p:spTree>
    <p:extLst>
      <p:ext uri="{BB962C8B-B14F-4D97-AF65-F5344CB8AC3E}">
        <p14:creationId xmlns:p14="http://schemas.microsoft.com/office/powerpoint/2010/main" val="2360216750"/>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pPr>
              <a:defRPr/>
            </a:pPr>
            <a:fld id="{814D2F3C-9058-4657-B9CA-A3D61EB9F5DE}" type="slidenum">
              <a:rPr lang="zh-CN" altLang="en-US"/>
              <a:pPr>
                <a:defRPr/>
              </a:pPr>
              <a:t>‹#›</a:t>
            </a:fld>
            <a:endParaRPr lang="en-US" altLang="zh-CN"/>
          </a:p>
        </p:txBody>
      </p:sp>
    </p:spTree>
    <p:extLst>
      <p:ext uri="{BB962C8B-B14F-4D97-AF65-F5344CB8AC3E}">
        <p14:creationId xmlns:p14="http://schemas.microsoft.com/office/powerpoint/2010/main" val="1576815902"/>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pPr>
              <a:defRPr/>
            </a:pPr>
            <a:fld id="{38E2D35E-0C7D-4E28-A3A2-77E2640038A1}" type="slidenum">
              <a:rPr lang="zh-CN" altLang="en-US"/>
              <a:pPr>
                <a:defRPr/>
              </a:pPr>
              <a:t>‹#›</a:t>
            </a:fld>
            <a:endParaRPr lang="en-US" altLang="zh-CN"/>
          </a:p>
        </p:txBody>
      </p:sp>
    </p:spTree>
    <p:extLst>
      <p:ext uri="{BB962C8B-B14F-4D97-AF65-F5344CB8AC3E}">
        <p14:creationId xmlns:p14="http://schemas.microsoft.com/office/powerpoint/2010/main" val="3822692819"/>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pPr>
              <a:defRPr/>
            </a:pPr>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pPr>
              <a:defRPr/>
            </a:pPr>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pPr>
              <a:defRPr/>
            </a:pPr>
            <a:fld id="{698FB51C-3D33-424F-8DDD-1AB9138D67FA}" type="slidenum">
              <a:rPr lang="zh-CN" altLang="en-US"/>
              <a:pPr>
                <a:defRPr/>
              </a:pPr>
              <a:t>‹#›</a:t>
            </a:fld>
            <a:endParaRPr lang="en-US" altLang="zh-CN"/>
          </a:p>
        </p:txBody>
      </p:sp>
    </p:spTree>
    <p:extLst>
      <p:ext uri="{BB962C8B-B14F-4D97-AF65-F5344CB8AC3E}">
        <p14:creationId xmlns:p14="http://schemas.microsoft.com/office/powerpoint/2010/main" val="1817163157"/>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p:nvPr>
        </p:nvSpPr>
        <p:spPr>
          <a:xfrm>
            <a:off x="5029200" y="1196752"/>
            <a:ext cx="4381500" cy="4934173"/>
          </a:xfrm>
        </p:spPr>
        <p:txBody>
          <a:bodyPr/>
          <a:lstStyle/>
          <a:p>
            <a:pPr lvl="0"/>
            <a:r>
              <a:rPr lang="zh-CN" altLang="en-US" noProof="1" smtClean="0"/>
              <a:t>单击图标添加联机映像</a:t>
            </a:r>
            <a:endParaRPr lang="zh-CN" altLang="en-US" noProof="1"/>
          </a:p>
        </p:txBody>
      </p:sp>
      <p:sp>
        <p:nvSpPr>
          <p:cNvPr id="6" name="日期占位符 4"/>
          <p:cNvSpPr>
            <a:spLocks noGrp="1"/>
          </p:cNvSpPr>
          <p:nvPr>
            <p:ph type="dt" sz="half" idx="10"/>
          </p:nvPr>
        </p:nvSpPr>
        <p:spPr>
          <a:xfrm>
            <a:off x="495300" y="6248400"/>
            <a:ext cx="2311400" cy="457200"/>
          </a:xfrm>
        </p:spPr>
        <p:txBody>
          <a:bodyPr/>
          <a:lstStyle>
            <a:lvl1pPr>
              <a:defRPr/>
            </a:lvl1pPr>
          </a:lstStyle>
          <a:p>
            <a:pPr>
              <a:defRPr/>
            </a:pPr>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pPr>
              <a:defRPr/>
            </a:pPr>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pPr>
              <a:defRPr/>
            </a:pPr>
            <a:fld id="{31F0049D-1FBF-4404-8615-348E97C4EF87}" type="slidenum">
              <a:rPr lang="zh-CN" altLang="en-US"/>
              <a:pPr>
                <a:defRPr/>
              </a:pPr>
              <a:t>‹#›</a:t>
            </a:fld>
            <a:endParaRPr lang="en-US" altLang="zh-CN"/>
          </a:p>
        </p:txBody>
      </p:sp>
    </p:spTree>
    <p:extLst>
      <p:ext uri="{BB962C8B-B14F-4D97-AF65-F5344CB8AC3E}">
        <p14:creationId xmlns:p14="http://schemas.microsoft.com/office/powerpoint/2010/main" val="21581057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a:ea typeface="宋体" panose="02010600030101010101" pitchFamily="2" charset="-122"/>
              </a:defRPr>
            </a:lvl1pPr>
          </a:lstStyle>
          <a:p>
            <a:pPr>
              <a:defRPr/>
            </a:pPr>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pPr>
              <a:defRPr/>
            </a:pPr>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pPr>
              <a:defRPr/>
            </a:pPr>
            <a:fld id="{B3E47EC2-7FF6-43E6-A406-A364D4F6795B}" type="slidenum">
              <a:rPr lang="zh-CN" altLang="en-US"/>
              <a:pPr>
                <a:defRPr/>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92" r:id="rId1"/>
    <p:sldLayoutId id="2147483693" r:id="rId2"/>
    <p:sldLayoutId id="2147483686" r:id="rId3"/>
    <p:sldLayoutId id="2147483694" r:id="rId4"/>
    <p:sldLayoutId id="2147483695" r:id="rId5"/>
    <p:sldLayoutId id="2147483696" r:id="rId6"/>
    <p:sldLayoutId id="2147483697" r:id="rId7"/>
    <p:sldLayoutId id="2147483687" r:id="rId8"/>
    <p:sldLayoutId id="2147483688" r:id="rId9"/>
    <p:sldLayoutId id="2147483689" r:id="rId10"/>
    <p:sldLayoutId id="2147483690" r:id="rId11"/>
    <p:sldLayoutId id="2147483691" r:id="rId12"/>
    <p:sldLayoutId id="2147483698" r:id="rId13"/>
    <p:sldLayoutId id="2147483699" r:id="rId14"/>
  </p:sldLayoutIdLst>
  <p:hf/>
  <p:txStyles>
    <p:titleStyle>
      <a:lvl1pPr algn="l" rtl="0" eaLnBrk="0" fontAlgn="base" hangingPunct="0">
        <a:spcBef>
          <a:spcPct val="0"/>
        </a:spcBef>
        <a:spcAft>
          <a:spcPct val="0"/>
        </a:spcAft>
        <a:defRPr sz="4400" b="1">
          <a:solidFill>
            <a:srgbClr val="333399"/>
          </a:solidFill>
          <a:latin typeface="+mn-lt"/>
          <a:ea typeface="黑体" panose="02010609060101010101" pitchFamily="2" charset="-122"/>
          <a:cs typeface="+mj-cs"/>
        </a:defRPr>
      </a:lvl1pPr>
      <a:lvl2pPr algn="l" rtl="0" eaLnBrk="0" fontAlgn="base" hangingPunct="0">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0" fontAlgn="base" hangingPunct="0">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0" fontAlgn="base" hangingPunct="0">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0" fontAlgn="base" hangingPunct="0">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8.jpeg"/><Relationship Id="rId4" Type="http://schemas.openxmlformats.org/officeDocument/2006/relationships/image" Target="../media/image9.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11.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8.jpeg"/><Relationship Id="rId4" Type="http://schemas.openxmlformats.org/officeDocument/2006/relationships/image" Target="../media/image10.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p:txBody>
          <a:bodyPr/>
          <a:lstStyle/>
          <a:p>
            <a:pPr eaLnBrk="1" hangingPunct="1"/>
            <a:r>
              <a:rPr lang="zh-CN" altLang="en-US" smtClean="0">
                <a:latin typeface="Arial" panose="020B0604020202020204" pitchFamily="34" charset="0"/>
                <a:ea typeface="黑体" panose="02010609060101010101" pitchFamily="49" charset="-122"/>
              </a:rPr>
              <a:t>第 </a:t>
            </a:r>
            <a:r>
              <a:rPr lang="en-US" altLang="zh-CN" smtClean="0">
                <a:latin typeface="Arial" panose="020B0604020202020204" pitchFamily="34" charset="0"/>
                <a:ea typeface="黑体" panose="02010609060101010101" pitchFamily="49" charset="-122"/>
              </a:rPr>
              <a:t>2 </a:t>
            </a:r>
            <a:r>
              <a:rPr lang="zh-CN" altLang="en-US" smtClean="0">
                <a:latin typeface="Arial" panose="020B0604020202020204" pitchFamily="34" charset="0"/>
                <a:ea typeface="黑体" panose="02010609060101010101" pitchFamily="49" charset="-122"/>
              </a:rPr>
              <a:t>章  物理层</a:t>
            </a:r>
          </a:p>
        </p:txBody>
      </p:sp>
      <p:sp>
        <p:nvSpPr>
          <p:cNvPr id="12291" name="Rectangle 3"/>
          <p:cNvSpPr>
            <a:spLocks noGrp="1" noChangeArrowheads="1"/>
          </p:cNvSpPr>
          <p:nvPr>
            <p:ph type="subTitle" idx="1"/>
          </p:nvPr>
        </p:nvSpPr>
        <p:spPr/>
        <p:txBody>
          <a:bodyPr/>
          <a:lstStyle/>
          <a:p>
            <a:pPr eaLnBrk="1" hangingPunct="1"/>
            <a:endParaRPr lang="zh-CN" altLang="en-US" smtClean="0">
              <a:latin typeface="黑体" panose="02010609060101010101" pitchFamily="49" charset="-122"/>
              <a:ea typeface="宋体" panose="02010600030101010101" pitchFamily="2" charset="-122"/>
            </a:endParaRPr>
          </a:p>
        </p:txBody>
      </p:sp>
      <p:sp>
        <p:nvSpPr>
          <p:cNvPr id="1229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D75AC45-EE4D-4514-BE4A-72E68A9ACE5E}" type="slidenum">
              <a:rPr altLang="en-US" smtClean="0"/>
              <a:pPr/>
              <a:t>1</a:t>
            </a:fld>
            <a:endParaRPr lang="zh-CN" altLang="zh-CN" smtClean="0"/>
          </a:p>
        </p:txBody>
      </p:sp>
      <p:sp>
        <p:nvSpPr>
          <p:cNvPr id="1229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noChangeArrowheads="1"/>
          </p:cNvSpPr>
          <p:nvPr>
            <p:ph type="title"/>
          </p:nvPr>
        </p:nvSpPr>
        <p:spPr>
          <a:xfrm>
            <a:off x="495300" y="188913"/>
            <a:ext cx="9066213" cy="792162"/>
          </a:xfrm>
        </p:spPr>
        <p:txBody>
          <a:bodyPr/>
          <a:lstStyle/>
          <a:p>
            <a:pPr eaLnBrk="1" hangingPunct="1"/>
            <a:r>
              <a:rPr lang="zh-CN" altLang="zh-CN" smtClean="0">
                <a:ea typeface="黑体" panose="02010609060101010101" pitchFamily="49" charset="-122"/>
              </a:rPr>
              <a:t>第</a:t>
            </a:r>
            <a:r>
              <a:rPr lang="en-US" altLang="zh-CN" smtClean="0">
                <a:ea typeface="黑体" panose="02010609060101010101" pitchFamily="49" charset="-122"/>
              </a:rPr>
              <a:t> 2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物理层</a:t>
            </a:r>
            <a:endParaRPr lang="zh-CN" altLang="en-US" smtClean="0">
              <a:ea typeface="黑体" panose="02010609060101010101" pitchFamily="49" charset="-122"/>
            </a:endParaRPr>
          </a:p>
        </p:txBody>
      </p:sp>
      <p:sp>
        <p:nvSpPr>
          <p:cNvPr id="14339" name="内容占位符 2"/>
          <p:cNvSpPr>
            <a:spLocks noGrp="1" noChangeArrowheads="1"/>
          </p:cNvSpPr>
          <p:nvPr>
            <p:ph idx="1"/>
          </p:nvPr>
        </p:nvSpPr>
        <p:spPr>
          <a:xfrm>
            <a:off x="495300" y="1196975"/>
            <a:ext cx="9066213" cy="4933950"/>
          </a:xfrm>
        </p:spPr>
        <p:txBody>
          <a:bodyPr/>
          <a:lstStyle/>
          <a:p>
            <a:pPr eaLnBrk="1" hangingPunct="1"/>
            <a:r>
              <a:rPr lang="en-US" altLang="zh-CN" dirty="0" smtClean="0">
                <a:ea typeface="黑体" panose="02010609060101010101" pitchFamily="49" charset="-122"/>
              </a:rPr>
              <a:t>2.3  </a:t>
            </a:r>
            <a:r>
              <a:rPr lang="zh-CN" altLang="zh-CN" dirty="0" smtClean="0">
                <a:ea typeface="黑体" panose="02010609060101010101" pitchFamily="49" charset="-122"/>
              </a:rPr>
              <a:t>物理层下面的传输媒体</a:t>
            </a:r>
          </a:p>
          <a:p>
            <a:pPr eaLnBrk="1" hangingPunct="1"/>
            <a:r>
              <a:rPr lang="en-US" altLang="zh-CN" dirty="0" smtClean="0">
                <a:ea typeface="黑体" panose="02010609060101010101" pitchFamily="49" charset="-122"/>
              </a:rPr>
              <a:t>2.4  </a:t>
            </a:r>
            <a:r>
              <a:rPr lang="zh-CN" altLang="zh-CN" dirty="0" smtClean="0">
                <a:ea typeface="黑体" panose="02010609060101010101" pitchFamily="49" charset="-122"/>
              </a:rPr>
              <a:t>信道复用技术</a:t>
            </a:r>
            <a:endParaRPr lang="en-US" altLang="zh-CN" dirty="0" smtClean="0">
              <a:ea typeface="黑体" panose="02010609060101010101" pitchFamily="49" charset="-122"/>
            </a:endParaRPr>
          </a:p>
          <a:p>
            <a:pPr eaLnBrk="1" hangingPunct="1"/>
            <a:r>
              <a:rPr lang="en-US" altLang="zh-CN" dirty="0">
                <a:ea typeface="黑体" panose="02010609060101010101" pitchFamily="49" charset="-122"/>
              </a:rPr>
              <a:t>2.5  </a:t>
            </a:r>
            <a:r>
              <a:rPr lang="zh-CN" altLang="zh-CN" dirty="0">
                <a:ea typeface="黑体" panose="02010609060101010101" pitchFamily="49" charset="-122"/>
              </a:rPr>
              <a:t>数字传输系统</a:t>
            </a:r>
          </a:p>
          <a:p>
            <a:pPr eaLnBrk="1" hangingPunct="1"/>
            <a:endParaRPr lang="zh-CN" altLang="zh-CN" dirty="0" smtClean="0">
              <a:ea typeface="黑体" panose="02010609060101010101" pitchFamily="49" charset="-122"/>
            </a:endParaRPr>
          </a:p>
          <a:p>
            <a:pPr eaLnBrk="1" hangingPunct="1"/>
            <a:endParaRPr lang="zh-CN" altLang="en-US" dirty="0" smtClean="0">
              <a:ea typeface="黑体" panose="02010609060101010101" pitchFamily="49" charset="-122"/>
            </a:endParaRPr>
          </a:p>
        </p:txBody>
      </p:sp>
      <p:sp>
        <p:nvSpPr>
          <p:cNvPr id="1434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5331231-4C54-475C-88F9-BF9C1CFC48F9}" type="slidenum">
              <a:rPr altLang="en-US" smtClean="0"/>
              <a:pPr/>
              <a:t>2</a:t>
            </a:fld>
            <a:endParaRPr lang="zh-CN" altLang="zh-CN" smtClean="0"/>
          </a:p>
        </p:txBody>
      </p:sp>
      <p:sp>
        <p:nvSpPr>
          <p:cNvPr id="1434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  </a:t>
            </a:r>
            <a:r>
              <a:rPr lang="zh-CN" altLang="zh-CN" smtClean="0">
                <a:ea typeface="黑体" panose="02010609060101010101" pitchFamily="49" charset="-122"/>
              </a:rPr>
              <a:t>物理层下面的传输媒体</a:t>
            </a:r>
            <a:endParaRPr lang="zh-CN" altLang="en-US" smtClean="0">
              <a:ea typeface="黑体" panose="02010609060101010101" pitchFamily="49" charset="-122"/>
            </a:endParaRPr>
          </a:p>
        </p:txBody>
      </p:sp>
      <p:sp>
        <p:nvSpPr>
          <p:cNvPr id="15363" name="Rectangle 3"/>
          <p:cNvSpPr>
            <a:spLocks noGrp="1" noChangeArrowheads="1"/>
          </p:cNvSpPr>
          <p:nvPr>
            <p:ph idx="1"/>
          </p:nvPr>
        </p:nvSpPr>
        <p:spPr>
          <a:xfrm>
            <a:off x="495300" y="1196975"/>
            <a:ext cx="9066213" cy="4933950"/>
          </a:xfrm>
        </p:spPr>
        <p:txBody>
          <a:bodyPr/>
          <a:lstStyle/>
          <a:p>
            <a:pPr eaLnBrk="1" hangingPunct="1"/>
            <a:r>
              <a:rPr lang="en-US" altLang="zh-CN" smtClean="0">
                <a:ea typeface="黑体" panose="02010609060101010101" pitchFamily="49" charset="-122"/>
              </a:rPr>
              <a:t>2.3.1  </a:t>
            </a:r>
            <a:r>
              <a:rPr lang="zh-CN" altLang="zh-CN" smtClean="0">
                <a:ea typeface="黑体" panose="02010609060101010101" pitchFamily="49" charset="-122"/>
              </a:rPr>
              <a:t>导引型传输媒体</a:t>
            </a:r>
          </a:p>
          <a:p>
            <a:pPr eaLnBrk="1" hangingPunct="1"/>
            <a:r>
              <a:rPr lang="en-US" altLang="zh-CN" smtClean="0">
                <a:ea typeface="黑体" panose="02010609060101010101" pitchFamily="49" charset="-122"/>
              </a:rPr>
              <a:t>2.3.2  </a:t>
            </a:r>
            <a:r>
              <a:rPr lang="zh-CN" altLang="zh-CN" smtClean="0">
                <a:ea typeface="黑体" panose="02010609060101010101" pitchFamily="49" charset="-122"/>
              </a:rPr>
              <a:t>非导引型传输媒体</a:t>
            </a:r>
          </a:p>
        </p:txBody>
      </p:sp>
      <p:sp>
        <p:nvSpPr>
          <p:cNvPr id="1536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2C17F01-EB81-4BE6-A165-0DF24E6282CE}" type="slidenum">
              <a:rPr altLang="en-US" smtClean="0"/>
              <a:pPr/>
              <a:t>3</a:t>
            </a:fld>
            <a:endParaRPr lang="zh-CN" altLang="zh-CN" smtClean="0"/>
          </a:p>
        </p:txBody>
      </p:sp>
      <p:sp>
        <p:nvSpPr>
          <p:cNvPr id="1536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  </a:t>
            </a:r>
            <a:r>
              <a:rPr lang="zh-CN" altLang="zh-CN" smtClean="0">
                <a:ea typeface="黑体" panose="02010609060101010101" pitchFamily="49" charset="-122"/>
              </a:rPr>
              <a:t>物理层下面的传输媒体</a:t>
            </a:r>
            <a:endParaRPr lang="zh-CN" altLang="en-US" smtClean="0">
              <a:ea typeface="黑体" panose="02010609060101010101" pitchFamily="49" charset="-122"/>
            </a:endParaRPr>
          </a:p>
        </p:txBody>
      </p:sp>
      <p:sp>
        <p:nvSpPr>
          <p:cNvPr id="17411" name="Rectangle 3"/>
          <p:cNvSpPr>
            <a:spLocks noGrp="1" noChangeArrowheads="1"/>
          </p:cNvSpPr>
          <p:nvPr>
            <p:ph idx="1"/>
          </p:nvPr>
        </p:nvSpPr>
        <p:spPr>
          <a:xfrm>
            <a:off x="495300" y="1196975"/>
            <a:ext cx="9066213" cy="4933950"/>
          </a:xfrm>
        </p:spPr>
        <p:txBody>
          <a:bodyPr/>
          <a:lstStyle/>
          <a:p>
            <a:pPr eaLnBrk="1" hangingPunct="1">
              <a:lnSpc>
                <a:spcPct val="100000"/>
              </a:lnSpc>
            </a:pPr>
            <a:r>
              <a:rPr lang="zh-CN" altLang="zh-CN" smtClean="0">
                <a:solidFill>
                  <a:srgbClr val="FF0000"/>
                </a:solidFill>
                <a:ea typeface="黑体" panose="02010609060101010101" pitchFamily="49" charset="-122"/>
              </a:rPr>
              <a:t>传输媒体也称为传输介质或传输媒介，</a:t>
            </a:r>
            <a:r>
              <a:rPr lang="zh-CN" altLang="zh-CN" smtClean="0">
                <a:ea typeface="黑体" panose="02010609060101010101" pitchFamily="49" charset="-122"/>
              </a:rPr>
              <a:t>它就是数据传输系统中在发送器和接收器之间的物理通路</a:t>
            </a:r>
            <a:r>
              <a:rPr lang="zh-CN" altLang="en-US" smtClean="0">
                <a:ea typeface="黑体" panose="02010609060101010101" pitchFamily="49" charset="-122"/>
              </a:rPr>
              <a:t>。</a:t>
            </a:r>
            <a:endParaRPr lang="en-US" altLang="zh-CN" smtClean="0">
              <a:ea typeface="黑体" panose="02010609060101010101" pitchFamily="49" charset="-122"/>
            </a:endParaRPr>
          </a:p>
          <a:p>
            <a:pPr eaLnBrk="1" hangingPunct="1">
              <a:lnSpc>
                <a:spcPct val="100000"/>
              </a:lnSpc>
            </a:pPr>
            <a:r>
              <a:rPr lang="zh-CN" altLang="zh-CN" smtClean="0">
                <a:ea typeface="黑体" panose="02010609060101010101" pitchFamily="49" charset="-122"/>
              </a:rPr>
              <a:t>传输媒体可分为两大类，即导引型传输媒体和非导引型传输媒体</a:t>
            </a:r>
            <a:r>
              <a:rPr lang="zh-CN" altLang="en-US" smtClean="0">
                <a:ea typeface="黑体" panose="02010609060101010101" pitchFamily="49" charset="-122"/>
              </a:rPr>
              <a:t>。</a:t>
            </a:r>
            <a:endParaRPr lang="en-US" altLang="zh-CN" smtClean="0">
              <a:ea typeface="黑体" panose="02010609060101010101" pitchFamily="49" charset="-122"/>
            </a:endParaRPr>
          </a:p>
          <a:p>
            <a:pPr eaLnBrk="1" hangingPunct="1">
              <a:lnSpc>
                <a:spcPct val="100000"/>
              </a:lnSpc>
            </a:pPr>
            <a:r>
              <a:rPr lang="zh-CN" altLang="zh-CN" smtClean="0">
                <a:solidFill>
                  <a:srgbClr val="FF0000"/>
                </a:solidFill>
                <a:ea typeface="黑体" panose="02010609060101010101" pitchFamily="49" charset="-122"/>
              </a:rPr>
              <a:t>在导引型传输媒体中，</a:t>
            </a:r>
            <a:r>
              <a:rPr lang="zh-CN" altLang="zh-CN" smtClean="0">
                <a:ea typeface="黑体" panose="02010609060101010101" pitchFamily="49" charset="-122"/>
              </a:rPr>
              <a:t>电磁波被导引沿着固体媒体（铜线或光纤）传播</a:t>
            </a:r>
            <a:r>
              <a:rPr lang="zh-CN" altLang="en-US" smtClean="0">
                <a:ea typeface="黑体" panose="02010609060101010101" pitchFamily="49" charset="-122"/>
              </a:rPr>
              <a:t>。</a:t>
            </a:r>
            <a:endParaRPr lang="en-US" altLang="zh-CN" smtClean="0">
              <a:ea typeface="黑体" panose="02010609060101010101" pitchFamily="49" charset="-122"/>
            </a:endParaRPr>
          </a:p>
          <a:p>
            <a:pPr eaLnBrk="1" hangingPunct="1">
              <a:lnSpc>
                <a:spcPct val="100000"/>
              </a:lnSpc>
            </a:pPr>
            <a:r>
              <a:rPr lang="zh-CN" altLang="zh-CN" smtClean="0">
                <a:solidFill>
                  <a:srgbClr val="FF0000"/>
                </a:solidFill>
                <a:ea typeface="黑体" panose="02010609060101010101" pitchFamily="49" charset="-122"/>
              </a:rPr>
              <a:t>非导引型传输媒体就是指自由空间</a:t>
            </a:r>
            <a:r>
              <a:rPr lang="zh-CN" altLang="en-US" smtClean="0">
                <a:solidFill>
                  <a:srgbClr val="FF0000"/>
                </a:solidFill>
                <a:ea typeface="黑体" panose="02010609060101010101" pitchFamily="49" charset="-122"/>
              </a:rPr>
              <a:t>。</a:t>
            </a:r>
            <a:r>
              <a:rPr lang="zh-CN" altLang="zh-CN" smtClean="0">
                <a:ea typeface="黑体" panose="02010609060101010101" pitchFamily="49" charset="-122"/>
              </a:rPr>
              <a:t>在非导引型传输媒体中</a:t>
            </a:r>
            <a:r>
              <a:rPr lang="zh-CN" altLang="en-US" smtClean="0">
                <a:ea typeface="黑体" panose="02010609060101010101" pitchFamily="49" charset="-122"/>
              </a:rPr>
              <a:t>，</a:t>
            </a:r>
            <a:r>
              <a:rPr lang="zh-CN" altLang="zh-CN" smtClean="0">
                <a:ea typeface="黑体" panose="02010609060101010101" pitchFamily="49" charset="-122"/>
              </a:rPr>
              <a:t>电磁波的传输常称为无线传输。</a:t>
            </a:r>
          </a:p>
        </p:txBody>
      </p:sp>
      <p:sp>
        <p:nvSpPr>
          <p:cNvPr id="1741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1B15BE2-BCAE-4531-B36B-EFEC617AF565}" type="slidenum">
              <a:rPr altLang="en-US" smtClean="0"/>
              <a:pPr/>
              <a:t>4</a:t>
            </a:fld>
            <a:endParaRPr lang="zh-CN" altLang="zh-CN" smtClean="0"/>
          </a:p>
        </p:txBody>
      </p:sp>
      <p:sp>
        <p:nvSpPr>
          <p:cNvPr id="1741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smtClean="0">
                <a:ea typeface="黑体" panose="02010609060101010101" pitchFamily="49" charset="-122"/>
              </a:rPr>
              <a:t>2.3  </a:t>
            </a:r>
            <a:r>
              <a:rPr lang="zh-CN" altLang="en-US" smtClean="0">
                <a:ea typeface="黑体" panose="02010609060101010101" pitchFamily="49" charset="-122"/>
              </a:rPr>
              <a:t>物理层下面的传输媒体</a:t>
            </a:r>
          </a:p>
        </p:txBody>
      </p:sp>
      <p:sp>
        <p:nvSpPr>
          <p:cNvPr id="19459" name="Line 6"/>
          <p:cNvSpPr>
            <a:spLocks noChangeShapeType="1"/>
          </p:cNvSpPr>
          <p:nvPr/>
        </p:nvSpPr>
        <p:spPr bwMode="auto">
          <a:xfrm>
            <a:off x="6383338" y="2887663"/>
            <a:ext cx="2544762" cy="83820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 name="Rectangle 7"/>
          <p:cNvSpPr>
            <a:spLocks noChangeArrowheads="1"/>
          </p:cNvSpPr>
          <p:nvPr/>
        </p:nvSpPr>
        <p:spPr bwMode="auto">
          <a:xfrm>
            <a:off x="8213725" y="3413125"/>
            <a:ext cx="392113" cy="238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1" name="Line 8"/>
          <p:cNvSpPr>
            <a:spLocks noChangeShapeType="1"/>
          </p:cNvSpPr>
          <p:nvPr/>
        </p:nvSpPr>
        <p:spPr bwMode="auto">
          <a:xfrm flipV="1">
            <a:off x="1304925" y="2887663"/>
            <a:ext cx="1270000" cy="83820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2" name="Rectangle 9"/>
          <p:cNvSpPr>
            <a:spLocks noChangeArrowheads="1"/>
          </p:cNvSpPr>
          <p:nvPr/>
        </p:nvSpPr>
        <p:spPr bwMode="auto">
          <a:xfrm>
            <a:off x="1196975" y="3413125"/>
            <a:ext cx="350838" cy="219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3" name="Line 10"/>
          <p:cNvSpPr>
            <a:spLocks noChangeShapeType="1"/>
          </p:cNvSpPr>
          <p:nvPr/>
        </p:nvSpPr>
        <p:spPr bwMode="auto">
          <a:xfrm>
            <a:off x="2571750" y="370681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4" name="Rectangle 11"/>
          <p:cNvSpPr>
            <a:spLocks noChangeArrowheads="1"/>
          </p:cNvSpPr>
          <p:nvPr/>
        </p:nvSpPr>
        <p:spPr bwMode="auto">
          <a:xfrm>
            <a:off x="2443163" y="4460875"/>
            <a:ext cx="347662" cy="5603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5" name="Line 12"/>
          <p:cNvSpPr>
            <a:spLocks noChangeShapeType="1"/>
          </p:cNvSpPr>
          <p:nvPr/>
        </p:nvSpPr>
        <p:spPr bwMode="auto">
          <a:xfrm>
            <a:off x="1944688" y="3709988"/>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6" name="Rectangle 13"/>
          <p:cNvSpPr>
            <a:spLocks noChangeArrowheads="1"/>
          </p:cNvSpPr>
          <p:nvPr/>
        </p:nvSpPr>
        <p:spPr bwMode="auto">
          <a:xfrm>
            <a:off x="1852613" y="4479925"/>
            <a:ext cx="214312" cy="568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7" name="Rectangle 14"/>
          <p:cNvSpPr>
            <a:spLocks noChangeArrowheads="1"/>
          </p:cNvSpPr>
          <p:nvPr/>
        </p:nvSpPr>
        <p:spPr bwMode="auto">
          <a:xfrm>
            <a:off x="1836738" y="3749675"/>
            <a:ext cx="242887"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68" name="Line 15"/>
          <p:cNvSpPr>
            <a:spLocks noChangeShapeType="1"/>
          </p:cNvSpPr>
          <p:nvPr/>
        </p:nvSpPr>
        <p:spPr bwMode="auto">
          <a:xfrm>
            <a:off x="3209925" y="371316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9" name="Rectangle 16"/>
          <p:cNvSpPr>
            <a:spLocks noChangeArrowheads="1"/>
          </p:cNvSpPr>
          <p:nvPr/>
        </p:nvSpPr>
        <p:spPr bwMode="auto">
          <a:xfrm>
            <a:off x="2765425" y="4102100"/>
            <a:ext cx="903288" cy="2825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70" name="Line 17"/>
          <p:cNvSpPr>
            <a:spLocks noChangeShapeType="1"/>
          </p:cNvSpPr>
          <p:nvPr/>
        </p:nvSpPr>
        <p:spPr bwMode="auto">
          <a:xfrm>
            <a:off x="3843338" y="371951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1" name="Rectangle 18"/>
          <p:cNvSpPr>
            <a:spLocks noChangeArrowheads="1"/>
          </p:cNvSpPr>
          <p:nvPr/>
        </p:nvSpPr>
        <p:spPr bwMode="auto">
          <a:xfrm>
            <a:off x="3695700" y="4487863"/>
            <a:ext cx="288925" cy="496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72" name="Line 19"/>
          <p:cNvSpPr>
            <a:spLocks noChangeShapeType="1"/>
          </p:cNvSpPr>
          <p:nvPr/>
        </p:nvSpPr>
        <p:spPr bwMode="auto">
          <a:xfrm>
            <a:off x="5114925" y="371316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3" name="Rectangle 20"/>
          <p:cNvSpPr>
            <a:spLocks noChangeArrowheads="1"/>
          </p:cNvSpPr>
          <p:nvPr/>
        </p:nvSpPr>
        <p:spPr bwMode="auto">
          <a:xfrm>
            <a:off x="5027613" y="4175125"/>
            <a:ext cx="250825"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474" name="Line 21"/>
          <p:cNvSpPr>
            <a:spLocks noChangeShapeType="1"/>
          </p:cNvSpPr>
          <p:nvPr/>
        </p:nvSpPr>
        <p:spPr bwMode="auto">
          <a:xfrm>
            <a:off x="1296988" y="2506663"/>
            <a:ext cx="8172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5" name="Line 22"/>
          <p:cNvSpPr>
            <a:spLocks noChangeShapeType="1"/>
          </p:cNvSpPr>
          <p:nvPr/>
        </p:nvSpPr>
        <p:spPr bwMode="auto">
          <a:xfrm>
            <a:off x="1317625" y="2887663"/>
            <a:ext cx="8172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6" name="Line 23"/>
          <p:cNvSpPr>
            <a:spLocks noChangeShapeType="1"/>
          </p:cNvSpPr>
          <p:nvPr/>
        </p:nvSpPr>
        <p:spPr bwMode="auto">
          <a:xfrm>
            <a:off x="1292225" y="2506663"/>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7" name="Line 24"/>
          <p:cNvSpPr>
            <a:spLocks noChangeShapeType="1"/>
          </p:cNvSpPr>
          <p:nvPr/>
        </p:nvSpPr>
        <p:spPr bwMode="auto">
          <a:xfrm>
            <a:off x="3686175" y="2511425"/>
            <a:ext cx="0" cy="376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8" name="Line 25"/>
          <p:cNvSpPr>
            <a:spLocks noChangeShapeType="1"/>
          </p:cNvSpPr>
          <p:nvPr/>
        </p:nvSpPr>
        <p:spPr bwMode="auto">
          <a:xfrm>
            <a:off x="2582863" y="2522538"/>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9" name="Line 26"/>
          <p:cNvSpPr>
            <a:spLocks noChangeShapeType="1"/>
          </p:cNvSpPr>
          <p:nvPr/>
        </p:nvSpPr>
        <p:spPr bwMode="auto">
          <a:xfrm>
            <a:off x="5988050" y="2506663"/>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0" name="Line 27"/>
          <p:cNvSpPr>
            <a:spLocks noChangeShapeType="1"/>
          </p:cNvSpPr>
          <p:nvPr/>
        </p:nvSpPr>
        <p:spPr bwMode="auto">
          <a:xfrm>
            <a:off x="8382000" y="2516188"/>
            <a:ext cx="0" cy="3667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1" name="Line 28"/>
          <p:cNvSpPr>
            <a:spLocks noChangeShapeType="1"/>
          </p:cNvSpPr>
          <p:nvPr/>
        </p:nvSpPr>
        <p:spPr bwMode="auto">
          <a:xfrm flipV="1">
            <a:off x="1300163" y="3713163"/>
            <a:ext cx="7637462" cy="47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2" name="Text Box 29"/>
          <p:cNvSpPr txBox="1">
            <a:spLocks noChangeArrowheads="1"/>
          </p:cNvSpPr>
          <p:nvPr/>
        </p:nvSpPr>
        <p:spPr bwMode="auto">
          <a:xfrm>
            <a:off x="2774950" y="2525713"/>
            <a:ext cx="8001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无线电</a:t>
            </a:r>
          </a:p>
        </p:txBody>
      </p:sp>
      <p:sp>
        <p:nvSpPr>
          <p:cNvPr id="19483" name="Text Box 30"/>
          <p:cNvSpPr txBox="1">
            <a:spLocks noChangeArrowheads="1"/>
          </p:cNvSpPr>
          <p:nvPr/>
        </p:nvSpPr>
        <p:spPr bwMode="auto">
          <a:xfrm>
            <a:off x="3838575" y="2525713"/>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微波</a:t>
            </a:r>
          </a:p>
        </p:txBody>
      </p:sp>
      <p:sp>
        <p:nvSpPr>
          <p:cNvPr id="19484" name="Line 31"/>
          <p:cNvSpPr>
            <a:spLocks noChangeShapeType="1"/>
          </p:cNvSpPr>
          <p:nvPr/>
        </p:nvSpPr>
        <p:spPr bwMode="auto">
          <a:xfrm>
            <a:off x="4829175" y="2506663"/>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5" name="Line 32"/>
          <p:cNvSpPr>
            <a:spLocks noChangeShapeType="1"/>
          </p:cNvSpPr>
          <p:nvPr/>
        </p:nvSpPr>
        <p:spPr bwMode="auto">
          <a:xfrm>
            <a:off x="5881688" y="2506663"/>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6" name="Text Box 33"/>
          <p:cNvSpPr txBox="1">
            <a:spLocks noChangeArrowheads="1"/>
          </p:cNvSpPr>
          <p:nvPr/>
        </p:nvSpPr>
        <p:spPr bwMode="auto">
          <a:xfrm>
            <a:off x="4965700" y="2525713"/>
            <a:ext cx="8016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红外线</a:t>
            </a:r>
          </a:p>
        </p:txBody>
      </p:sp>
      <p:sp>
        <p:nvSpPr>
          <p:cNvPr id="19487" name="Text Box 34"/>
          <p:cNvSpPr txBox="1">
            <a:spLocks noChangeArrowheads="1"/>
          </p:cNvSpPr>
          <p:nvPr/>
        </p:nvSpPr>
        <p:spPr bwMode="auto">
          <a:xfrm>
            <a:off x="5254625" y="3040063"/>
            <a:ext cx="8016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可见光</a:t>
            </a:r>
          </a:p>
        </p:txBody>
      </p:sp>
      <p:sp>
        <p:nvSpPr>
          <p:cNvPr id="19488" name="Text Box 35"/>
          <p:cNvSpPr txBox="1">
            <a:spLocks noChangeArrowheads="1"/>
          </p:cNvSpPr>
          <p:nvPr/>
        </p:nvSpPr>
        <p:spPr bwMode="auto">
          <a:xfrm>
            <a:off x="6121400" y="3040063"/>
            <a:ext cx="8016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紫外线</a:t>
            </a:r>
          </a:p>
        </p:txBody>
      </p:sp>
      <p:sp>
        <p:nvSpPr>
          <p:cNvPr id="19489" name="Line 36"/>
          <p:cNvSpPr>
            <a:spLocks noChangeShapeType="1"/>
          </p:cNvSpPr>
          <p:nvPr/>
        </p:nvSpPr>
        <p:spPr bwMode="auto">
          <a:xfrm>
            <a:off x="6397625" y="2506663"/>
            <a:ext cx="0" cy="385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0" name="Text Box 37"/>
          <p:cNvSpPr txBox="1">
            <a:spLocks noChangeArrowheads="1"/>
          </p:cNvSpPr>
          <p:nvPr/>
        </p:nvSpPr>
        <p:spPr bwMode="auto">
          <a:xfrm>
            <a:off x="6892925" y="2525713"/>
            <a:ext cx="7334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X</a:t>
            </a:r>
            <a:r>
              <a:rPr lang="zh-CN" altLang="en-US" sz="1600" b="1">
                <a:solidFill>
                  <a:srgbClr val="000099"/>
                </a:solidFill>
                <a:ea typeface="黑体" panose="02010609060101010101" pitchFamily="49" charset="-122"/>
              </a:rPr>
              <a:t>射线</a:t>
            </a:r>
          </a:p>
        </p:txBody>
      </p:sp>
      <p:sp>
        <p:nvSpPr>
          <p:cNvPr id="19491" name="Text Box 38"/>
          <p:cNvSpPr txBox="1">
            <a:spLocks noChangeArrowheads="1"/>
          </p:cNvSpPr>
          <p:nvPr/>
        </p:nvSpPr>
        <p:spPr bwMode="auto">
          <a:xfrm>
            <a:off x="8543925" y="2493963"/>
            <a:ext cx="2698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sym typeface="Symbol" panose="05050102010706020507" pitchFamily="18" charset="2"/>
              </a:rPr>
              <a:t></a:t>
            </a:r>
          </a:p>
        </p:txBody>
      </p:sp>
      <p:sp>
        <p:nvSpPr>
          <p:cNvPr id="19492" name="Text Box 39"/>
          <p:cNvSpPr txBox="1">
            <a:spLocks noChangeArrowheads="1"/>
          </p:cNvSpPr>
          <p:nvPr/>
        </p:nvSpPr>
        <p:spPr bwMode="auto">
          <a:xfrm>
            <a:off x="8705850" y="2525713"/>
            <a:ext cx="593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射线</a:t>
            </a:r>
          </a:p>
        </p:txBody>
      </p:sp>
      <p:sp>
        <p:nvSpPr>
          <p:cNvPr id="19493" name="Text Box 40"/>
          <p:cNvSpPr txBox="1">
            <a:spLocks noChangeArrowheads="1"/>
          </p:cNvSpPr>
          <p:nvPr/>
        </p:nvSpPr>
        <p:spPr bwMode="auto">
          <a:xfrm>
            <a:off x="1538288" y="3713163"/>
            <a:ext cx="8001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双绞线</a:t>
            </a:r>
          </a:p>
        </p:txBody>
      </p:sp>
      <p:sp>
        <p:nvSpPr>
          <p:cNvPr id="19494" name="Line 41"/>
          <p:cNvSpPr>
            <a:spLocks noChangeShapeType="1"/>
          </p:cNvSpPr>
          <p:nvPr/>
        </p:nvSpPr>
        <p:spPr bwMode="auto">
          <a:xfrm>
            <a:off x="1300163" y="4030663"/>
            <a:ext cx="146526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5" name="Text Box 42"/>
          <p:cNvSpPr txBox="1">
            <a:spLocks noChangeArrowheads="1"/>
          </p:cNvSpPr>
          <p:nvPr/>
        </p:nvSpPr>
        <p:spPr bwMode="auto">
          <a:xfrm>
            <a:off x="2665413" y="4054475"/>
            <a:ext cx="10048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同轴电缆</a:t>
            </a:r>
          </a:p>
        </p:txBody>
      </p:sp>
      <p:sp>
        <p:nvSpPr>
          <p:cNvPr id="19496" name="Line 43"/>
          <p:cNvSpPr>
            <a:spLocks noChangeShapeType="1"/>
          </p:cNvSpPr>
          <p:nvPr/>
        </p:nvSpPr>
        <p:spPr bwMode="auto">
          <a:xfrm>
            <a:off x="1939925" y="4403725"/>
            <a:ext cx="2476500"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7" name="Text Box 44"/>
          <p:cNvSpPr txBox="1">
            <a:spLocks noChangeArrowheads="1"/>
          </p:cNvSpPr>
          <p:nvPr/>
        </p:nvSpPr>
        <p:spPr bwMode="auto">
          <a:xfrm>
            <a:off x="4498975" y="3717925"/>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卫星</a:t>
            </a:r>
          </a:p>
        </p:txBody>
      </p:sp>
      <p:sp>
        <p:nvSpPr>
          <p:cNvPr id="19498" name="Line 45"/>
          <p:cNvSpPr>
            <a:spLocks noChangeShapeType="1"/>
          </p:cNvSpPr>
          <p:nvPr/>
        </p:nvSpPr>
        <p:spPr bwMode="auto">
          <a:xfrm>
            <a:off x="4251325" y="4060825"/>
            <a:ext cx="1238250"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9" name="Text Box 46"/>
          <p:cNvSpPr txBox="1">
            <a:spLocks noChangeArrowheads="1"/>
          </p:cNvSpPr>
          <p:nvPr/>
        </p:nvSpPr>
        <p:spPr bwMode="auto">
          <a:xfrm>
            <a:off x="4660900" y="4137025"/>
            <a:ext cx="10048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地面微波</a:t>
            </a:r>
          </a:p>
        </p:txBody>
      </p:sp>
      <p:sp>
        <p:nvSpPr>
          <p:cNvPr id="19500" name="Line 47"/>
          <p:cNvSpPr>
            <a:spLocks noChangeShapeType="1"/>
          </p:cNvSpPr>
          <p:nvPr/>
        </p:nvSpPr>
        <p:spPr bwMode="auto">
          <a:xfrm>
            <a:off x="4649788" y="4487863"/>
            <a:ext cx="101758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1" name="Text Box 48"/>
          <p:cNvSpPr txBox="1">
            <a:spLocks noChangeArrowheads="1"/>
          </p:cNvSpPr>
          <p:nvPr/>
        </p:nvSpPr>
        <p:spPr bwMode="auto">
          <a:xfrm>
            <a:off x="2187575" y="4519613"/>
            <a:ext cx="8001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  </a:t>
            </a:r>
            <a:r>
              <a:rPr lang="zh-CN" altLang="en-US" sz="1600" b="1">
                <a:solidFill>
                  <a:srgbClr val="000099"/>
                </a:solidFill>
                <a:ea typeface="黑体" panose="02010609060101010101" pitchFamily="49" charset="-122"/>
              </a:rPr>
              <a:t>调幅</a:t>
            </a:r>
          </a:p>
          <a:p>
            <a:pPr>
              <a:lnSpc>
                <a:spcPct val="90000"/>
              </a:lnSpc>
            </a:pPr>
            <a:r>
              <a:rPr lang="zh-CN" altLang="en-US" sz="1600" b="1">
                <a:solidFill>
                  <a:srgbClr val="000099"/>
                </a:solidFill>
                <a:ea typeface="黑体" panose="02010609060101010101" pitchFamily="49" charset="-122"/>
              </a:rPr>
              <a:t>无线电</a:t>
            </a:r>
          </a:p>
        </p:txBody>
      </p:sp>
      <p:sp>
        <p:nvSpPr>
          <p:cNvPr id="19502" name="Text Box 49"/>
          <p:cNvSpPr txBox="1">
            <a:spLocks noChangeArrowheads="1"/>
          </p:cNvSpPr>
          <p:nvPr/>
        </p:nvSpPr>
        <p:spPr bwMode="auto">
          <a:xfrm>
            <a:off x="3343275" y="4467225"/>
            <a:ext cx="8001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  </a:t>
            </a:r>
            <a:r>
              <a:rPr lang="zh-CN" altLang="en-US" sz="1600" b="1">
                <a:solidFill>
                  <a:srgbClr val="000099"/>
                </a:solidFill>
                <a:ea typeface="黑体" panose="02010609060101010101" pitchFamily="49" charset="-122"/>
              </a:rPr>
              <a:t>调频</a:t>
            </a:r>
          </a:p>
          <a:p>
            <a:pPr>
              <a:lnSpc>
                <a:spcPct val="90000"/>
              </a:lnSpc>
            </a:pPr>
            <a:r>
              <a:rPr lang="zh-CN" altLang="en-US" sz="1600" b="1">
                <a:solidFill>
                  <a:srgbClr val="000099"/>
                </a:solidFill>
                <a:ea typeface="黑体" panose="02010609060101010101" pitchFamily="49" charset="-122"/>
              </a:rPr>
              <a:t>无线电</a:t>
            </a:r>
          </a:p>
        </p:txBody>
      </p:sp>
      <p:sp>
        <p:nvSpPr>
          <p:cNvPr id="19503" name="Text Box 50"/>
          <p:cNvSpPr txBox="1">
            <a:spLocks noChangeArrowheads="1"/>
          </p:cNvSpPr>
          <p:nvPr/>
        </p:nvSpPr>
        <p:spPr bwMode="auto">
          <a:xfrm>
            <a:off x="1400175" y="4522788"/>
            <a:ext cx="8001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  </a:t>
            </a:r>
            <a:r>
              <a:rPr lang="zh-CN" altLang="en-US" sz="1600" b="1">
                <a:solidFill>
                  <a:srgbClr val="000099"/>
                </a:solidFill>
                <a:ea typeface="黑体" panose="02010609060101010101" pitchFamily="49" charset="-122"/>
              </a:rPr>
              <a:t>海事</a:t>
            </a:r>
          </a:p>
          <a:p>
            <a:pPr>
              <a:lnSpc>
                <a:spcPct val="90000"/>
              </a:lnSpc>
            </a:pPr>
            <a:r>
              <a:rPr lang="zh-CN" altLang="en-US" sz="1600" b="1">
                <a:solidFill>
                  <a:srgbClr val="000099"/>
                </a:solidFill>
                <a:ea typeface="黑体" panose="02010609060101010101" pitchFamily="49" charset="-122"/>
              </a:rPr>
              <a:t>无线电</a:t>
            </a:r>
          </a:p>
        </p:txBody>
      </p:sp>
      <p:sp>
        <p:nvSpPr>
          <p:cNvPr id="19504" name="Line 51"/>
          <p:cNvSpPr>
            <a:spLocks noChangeShapeType="1"/>
          </p:cNvSpPr>
          <p:nvPr/>
        </p:nvSpPr>
        <p:spPr bwMode="auto">
          <a:xfrm>
            <a:off x="3632200" y="5021263"/>
            <a:ext cx="466725"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5" name="Text Box 52"/>
          <p:cNvSpPr txBox="1">
            <a:spLocks noChangeArrowheads="1"/>
          </p:cNvSpPr>
          <p:nvPr/>
        </p:nvSpPr>
        <p:spPr bwMode="auto">
          <a:xfrm>
            <a:off x="7662863" y="3741738"/>
            <a:ext cx="5953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光纤</a:t>
            </a:r>
          </a:p>
        </p:txBody>
      </p:sp>
      <p:sp>
        <p:nvSpPr>
          <p:cNvPr id="19506" name="Line 53"/>
          <p:cNvSpPr>
            <a:spLocks noChangeShapeType="1"/>
          </p:cNvSpPr>
          <p:nvPr/>
        </p:nvSpPr>
        <p:spPr bwMode="auto">
          <a:xfrm>
            <a:off x="7635875" y="4073525"/>
            <a:ext cx="646113"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7" name="Text Box 54"/>
          <p:cNvSpPr txBox="1">
            <a:spLocks noChangeArrowheads="1"/>
          </p:cNvSpPr>
          <p:nvPr/>
        </p:nvSpPr>
        <p:spPr bwMode="auto">
          <a:xfrm>
            <a:off x="3838575" y="5065713"/>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电视</a:t>
            </a:r>
          </a:p>
        </p:txBody>
      </p:sp>
      <p:sp>
        <p:nvSpPr>
          <p:cNvPr id="19508" name="Line 55"/>
          <p:cNvSpPr>
            <a:spLocks noChangeShapeType="1"/>
          </p:cNvSpPr>
          <p:nvPr/>
        </p:nvSpPr>
        <p:spPr bwMode="auto">
          <a:xfrm flipV="1">
            <a:off x="5737225" y="2659063"/>
            <a:ext cx="206375" cy="45720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9" name="Line 56"/>
          <p:cNvSpPr>
            <a:spLocks noChangeShapeType="1"/>
          </p:cNvSpPr>
          <p:nvPr/>
        </p:nvSpPr>
        <p:spPr bwMode="auto">
          <a:xfrm flipH="1" flipV="1">
            <a:off x="6203950" y="2659063"/>
            <a:ext cx="90488" cy="454025"/>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0" name="Line 57"/>
          <p:cNvSpPr>
            <a:spLocks noChangeShapeType="1"/>
          </p:cNvSpPr>
          <p:nvPr/>
        </p:nvSpPr>
        <p:spPr bwMode="auto">
          <a:xfrm>
            <a:off x="1444625" y="5097463"/>
            <a:ext cx="742950"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1" name="Line 58"/>
          <p:cNvSpPr>
            <a:spLocks noChangeShapeType="1"/>
          </p:cNvSpPr>
          <p:nvPr/>
        </p:nvSpPr>
        <p:spPr bwMode="auto">
          <a:xfrm>
            <a:off x="2352675" y="5097463"/>
            <a:ext cx="495300"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2" name="Line 59"/>
          <p:cNvSpPr>
            <a:spLocks noChangeShapeType="1"/>
          </p:cNvSpPr>
          <p:nvPr/>
        </p:nvSpPr>
        <p:spPr bwMode="auto">
          <a:xfrm>
            <a:off x="3673475" y="5402263"/>
            <a:ext cx="811213"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3" name="Line 60"/>
          <p:cNvSpPr>
            <a:spLocks noChangeShapeType="1"/>
          </p:cNvSpPr>
          <p:nvPr/>
        </p:nvSpPr>
        <p:spPr bwMode="auto">
          <a:xfrm>
            <a:off x="1295400" y="5470525"/>
            <a:ext cx="76469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4" name="Line 61"/>
          <p:cNvSpPr>
            <a:spLocks noChangeShapeType="1"/>
          </p:cNvSpPr>
          <p:nvPr/>
        </p:nvSpPr>
        <p:spPr bwMode="auto">
          <a:xfrm>
            <a:off x="1306513" y="3717925"/>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5" name="Line 62"/>
          <p:cNvSpPr>
            <a:spLocks noChangeShapeType="1"/>
          </p:cNvSpPr>
          <p:nvPr/>
        </p:nvSpPr>
        <p:spPr bwMode="auto">
          <a:xfrm>
            <a:off x="4481513" y="3711575"/>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6" name="Line 63"/>
          <p:cNvSpPr>
            <a:spLocks noChangeShapeType="1"/>
          </p:cNvSpPr>
          <p:nvPr/>
        </p:nvSpPr>
        <p:spPr bwMode="auto">
          <a:xfrm>
            <a:off x="5746750" y="3719513"/>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7" name="Line 64"/>
          <p:cNvSpPr>
            <a:spLocks noChangeShapeType="1"/>
          </p:cNvSpPr>
          <p:nvPr/>
        </p:nvSpPr>
        <p:spPr bwMode="auto">
          <a:xfrm>
            <a:off x="6380163" y="3716338"/>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8" name="Line 65"/>
          <p:cNvSpPr>
            <a:spLocks noChangeShapeType="1"/>
          </p:cNvSpPr>
          <p:nvPr/>
        </p:nvSpPr>
        <p:spPr bwMode="auto">
          <a:xfrm>
            <a:off x="7018338" y="3717925"/>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9" name="Line 66"/>
          <p:cNvSpPr>
            <a:spLocks noChangeShapeType="1"/>
          </p:cNvSpPr>
          <p:nvPr/>
        </p:nvSpPr>
        <p:spPr bwMode="auto">
          <a:xfrm>
            <a:off x="7656513" y="3729038"/>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0" name="Line 67"/>
          <p:cNvSpPr>
            <a:spLocks noChangeShapeType="1"/>
          </p:cNvSpPr>
          <p:nvPr/>
        </p:nvSpPr>
        <p:spPr bwMode="auto">
          <a:xfrm>
            <a:off x="8288338" y="3721100"/>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1" name="Line 68"/>
          <p:cNvSpPr>
            <a:spLocks noChangeShapeType="1"/>
          </p:cNvSpPr>
          <p:nvPr/>
        </p:nvSpPr>
        <p:spPr bwMode="auto">
          <a:xfrm>
            <a:off x="8926513" y="3717925"/>
            <a:ext cx="0" cy="1752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9522" name="Group 69"/>
          <p:cNvGrpSpPr>
            <a:grpSpLocks/>
          </p:cNvGrpSpPr>
          <p:nvPr/>
        </p:nvGrpSpPr>
        <p:grpSpPr bwMode="auto">
          <a:xfrm>
            <a:off x="371475" y="2201863"/>
            <a:ext cx="768350" cy="371475"/>
            <a:chOff x="6" y="352"/>
            <a:chExt cx="447" cy="234"/>
          </a:xfrm>
        </p:grpSpPr>
        <p:sp>
          <p:nvSpPr>
            <p:cNvPr id="19555" name="Text Box 70"/>
            <p:cNvSpPr txBox="1">
              <a:spLocks noChangeArrowheads="1"/>
            </p:cNvSpPr>
            <p:nvPr/>
          </p:nvSpPr>
          <p:spPr bwMode="auto">
            <a:xfrm>
              <a:off x="92" y="353"/>
              <a:ext cx="36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(Hz)</a:t>
              </a:r>
            </a:p>
          </p:txBody>
        </p:sp>
        <p:sp>
          <p:nvSpPr>
            <p:cNvPr id="19556" name="Text Box 71"/>
            <p:cNvSpPr txBox="1">
              <a:spLocks noChangeArrowheads="1"/>
            </p:cNvSpPr>
            <p:nvPr/>
          </p:nvSpPr>
          <p:spPr bwMode="auto">
            <a:xfrm>
              <a:off x="6" y="352"/>
              <a:ext cx="1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a:t>
              </a:r>
            </a:p>
          </p:txBody>
        </p:sp>
      </p:grpSp>
      <p:grpSp>
        <p:nvGrpSpPr>
          <p:cNvPr id="19523" name="Group 72"/>
          <p:cNvGrpSpPr>
            <a:grpSpLocks/>
          </p:cNvGrpSpPr>
          <p:nvPr/>
        </p:nvGrpSpPr>
        <p:grpSpPr bwMode="auto">
          <a:xfrm>
            <a:off x="377825" y="3421063"/>
            <a:ext cx="763588" cy="374650"/>
            <a:chOff x="78" y="1589"/>
            <a:chExt cx="444" cy="236"/>
          </a:xfrm>
        </p:grpSpPr>
        <p:sp>
          <p:nvSpPr>
            <p:cNvPr id="19553" name="Text Box 73"/>
            <p:cNvSpPr txBox="1">
              <a:spLocks noChangeArrowheads="1"/>
            </p:cNvSpPr>
            <p:nvPr/>
          </p:nvSpPr>
          <p:spPr bwMode="auto">
            <a:xfrm>
              <a:off x="124" y="1589"/>
              <a:ext cx="3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 (Hz)</a:t>
              </a:r>
            </a:p>
          </p:txBody>
        </p:sp>
        <p:sp>
          <p:nvSpPr>
            <p:cNvPr id="19554" name="Text Box 74"/>
            <p:cNvSpPr txBox="1">
              <a:spLocks noChangeArrowheads="1"/>
            </p:cNvSpPr>
            <p:nvPr/>
          </p:nvSpPr>
          <p:spPr bwMode="auto">
            <a:xfrm>
              <a:off x="78" y="1592"/>
              <a:ext cx="1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a:t>
              </a:r>
            </a:p>
          </p:txBody>
        </p:sp>
      </p:grpSp>
      <p:sp>
        <p:nvSpPr>
          <p:cNvPr id="19524" name="Line 75"/>
          <p:cNvSpPr>
            <a:spLocks noChangeShapeType="1"/>
          </p:cNvSpPr>
          <p:nvPr/>
        </p:nvSpPr>
        <p:spPr bwMode="auto">
          <a:xfrm>
            <a:off x="1527175" y="54705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5" name="Line 76"/>
          <p:cNvSpPr>
            <a:spLocks noChangeShapeType="1"/>
          </p:cNvSpPr>
          <p:nvPr/>
        </p:nvSpPr>
        <p:spPr bwMode="auto">
          <a:xfrm>
            <a:off x="2146300"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6" name="Line 77"/>
          <p:cNvSpPr>
            <a:spLocks noChangeShapeType="1"/>
          </p:cNvSpPr>
          <p:nvPr/>
        </p:nvSpPr>
        <p:spPr bwMode="auto">
          <a:xfrm>
            <a:off x="2770188" y="5484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7" name="Line 78"/>
          <p:cNvSpPr>
            <a:spLocks noChangeShapeType="1"/>
          </p:cNvSpPr>
          <p:nvPr/>
        </p:nvSpPr>
        <p:spPr bwMode="auto">
          <a:xfrm>
            <a:off x="3414713"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8" name="Line 79"/>
          <p:cNvSpPr>
            <a:spLocks noChangeShapeType="1"/>
          </p:cNvSpPr>
          <p:nvPr/>
        </p:nvSpPr>
        <p:spPr bwMode="auto">
          <a:xfrm>
            <a:off x="4029075"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29" name="Line 80"/>
          <p:cNvSpPr>
            <a:spLocks noChangeShapeType="1"/>
          </p:cNvSpPr>
          <p:nvPr/>
        </p:nvSpPr>
        <p:spPr bwMode="auto">
          <a:xfrm>
            <a:off x="4673600"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0" name="Line 81"/>
          <p:cNvSpPr>
            <a:spLocks noChangeShapeType="1"/>
          </p:cNvSpPr>
          <p:nvPr/>
        </p:nvSpPr>
        <p:spPr bwMode="auto">
          <a:xfrm>
            <a:off x="5313363"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1" name="Line 82"/>
          <p:cNvSpPr>
            <a:spLocks noChangeShapeType="1"/>
          </p:cNvSpPr>
          <p:nvPr/>
        </p:nvSpPr>
        <p:spPr bwMode="auto">
          <a:xfrm>
            <a:off x="5938838" y="54800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2" name="Line 83"/>
          <p:cNvSpPr>
            <a:spLocks noChangeShapeType="1"/>
          </p:cNvSpPr>
          <p:nvPr/>
        </p:nvSpPr>
        <p:spPr bwMode="auto">
          <a:xfrm>
            <a:off x="6588125" y="5484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3" name="Line 84"/>
          <p:cNvSpPr>
            <a:spLocks noChangeShapeType="1"/>
          </p:cNvSpPr>
          <p:nvPr/>
        </p:nvSpPr>
        <p:spPr bwMode="auto">
          <a:xfrm>
            <a:off x="7223125" y="54752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4" name="Line 85"/>
          <p:cNvSpPr>
            <a:spLocks noChangeShapeType="1"/>
          </p:cNvSpPr>
          <p:nvPr/>
        </p:nvSpPr>
        <p:spPr bwMode="auto">
          <a:xfrm>
            <a:off x="7867650" y="5484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5" name="Line 86"/>
          <p:cNvSpPr>
            <a:spLocks noChangeShapeType="1"/>
          </p:cNvSpPr>
          <p:nvPr/>
        </p:nvSpPr>
        <p:spPr bwMode="auto">
          <a:xfrm>
            <a:off x="8507413" y="54752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36" name="Text Box 87"/>
          <p:cNvSpPr txBox="1">
            <a:spLocks noChangeArrowheads="1"/>
          </p:cNvSpPr>
          <p:nvPr/>
        </p:nvSpPr>
        <p:spPr bwMode="auto">
          <a:xfrm>
            <a:off x="1597025" y="5480050"/>
            <a:ext cx="4349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LF</a:t>
            </a:r>
          </a:p>
        </p:txBody>
      </p:sp>
      <p:sp>
        <p:nvSpPr>
          <p:cNvPr id="19537" name="Text Box 88"/>
          <p:cNvSpPr txBox="1">
            <a:spLocks noChangeArrowheads="1"/>
          </p:cNvSpPr>
          <p:nvPr/>
        </p:nvSpPr>
        <p:spPr bwMode="auto">
          <a:xfrm>
            <a:off x="2232025" y="5480050"/>
            <a:ext cx="4810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MF</a:t>
            </a:r>
          </a:p>
        </p:txBody>
      </p:sp>
      <p:sp>
        <p:nvSpPr>
          <p:cNvPr id="19538" name="Text Box 89"/>
          <p:cNvSpPr txBox="1">
            <a:spLocks noChangeArrowheads="1"/>
          </p:cNvSpPr>
          <p:nvPr/>
        </p:nvSpPr>
        <p:spPr bwMode="auto">
          <a:xfrm>
            <a:off x="2867025" y="5480050"/>
            <a:ext cx="457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HF</a:t>
            </a:r>
          </a:p>
        </p:txBody>
      </p:sp>
      <p:sp>
        <p:nvSpPr>
          <p:cNvPr id="19539" name="Text Box 90"/>
          <p:cNvSpPr txBox="1">
            <a:spLocks noChangeArrowheads="1"/>
          </p:cNvSpPr>
          <p:nvPr/>
        </p:nvSpPr>
        <p:spPr bwMode="auto">
          <a:xfrm>
            <a:off x="3429000" y="5480050"/>
            <a:ext cx="593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VHF</a:t>
            </a:r>
          </a:p>
        </p:txBody>
      </p:sp>
      <p:sp>
        <p:nvSpPr>
          <p:cNvPr id="19540" name="Text Box 91"/>
          <p:cNvSpPr txBox="1">
            <a:spLocks noChangeArrowheads="1"/>
          </p:cNvSpPr>
          <p:nvPr/>
        </p:nvSpPr>
        <p:spPr bwMode="auto">
          <a:xfrm>
            <a:off x="4048125" y="5480050"/>
            <a:ext cx="6048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UHF</a:t>
            </a:r>
          </a:p>
        </p:txBody>
      </p:sp>
      <p:sp>
        <p:nvSpPr>
          <p:cNvPr id="19541" name="Text Box 92"/>
          <p:cNvSpPr txBox="1">
            <a:spLocks noChangeArrowheads="1"/>
          </p:cNvSpPr>
          <p:nvPr/>
        </p:nvSpPr>
        <p:spPr bwMode="auto">
          <a:xfrm>
            <a:off x="4662488" y="5480050"/>
            <a:ext cx="593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SHF</a:t>
            </a:r>
          </a:p>
        </p:txBody>
      </p:sp>
      <p:sp>
        <p:nvSpPr>
          <p:cNvPr id="19542" name="Text Box 93"/>
          <p:cNvSpPr txBox="1">
            <a:spLocks noChangeArrowheads="1"/>
          </p:cNvSpPr>
          <p:nvPr/>
        </p:nvSpPr>
        <p:spPr bwMode="auto">
          <a:xfrm>
            <a:off x="5311775" y="5480050"/>
            <a:ext cx="593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EHF</a:t>
            </a:r>
          </a:p>
        </p:txBody>
      </p:sp>
      <p:sp>
        <p:nvSpPr>
          <p:cNvPr id="19543" name="Text Box 94"/>
          <p:cNvSpPr txBox="1">
            <a:spLocks noChangeArrowheads="1"/>
          </p:cNvSpPr>
          <p:nvPr/>
        </p:nvSpPr>
        <p:spPr bwMode="auto">
          <a:xfrm>
            <a:off x="5942013" y="5480050"/>
            <a:ext cx="581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THF</a:t>
            </a:r>
          </a:p>
        </p:txBody>
      </p:sp>
      <p:sp>
        <p:nvSpPr>
          <p:cNvPr id="19544" name="Text Box 95"/>
          <p:cNvSpPr txBox="1">
            <a:spLocks noChangeArrowheads="1"/>
          </p:cNvSpPr>
          <p:nvPr/>
        </p:nvSpPr>
        <p:spPr bwMode="auto">
          <a:xfrm>
            <a:off x="536575" y="5402263"/>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波段</a:t>
            </a:r>
          </a:p>
        </p:txBody>
      </p:sp>
      <p:sp>
        <p:nvSpPr>
          <p:cNvPr id="19545" name="Text Box 96"/>
          <p:cNvSpPr txBox="1">
            <a:spLocks noChangeArrowheads="1"/>
          </p:cNvSpPr>
          <p:nvPr/>
        </p:nvSpPr>
        <p:spPr bwMode="auto">
          <a:xfrm>
            <a:off x="1079500" y="3392488"/>
            <a:ext cx="83359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4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5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6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7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8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9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10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11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12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13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14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15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16</a:t>
            </a:r>
            <a:endParaRPr lang="en-US" altLang="zh-CN" sz="1600" b="1">
              <a:solidFill>
                <a:srgbClr val="000099"/>
              </a:solidFill>
              <a:ea typeface="黑体" panose="02010609060101010101" pitchFamily="49" charset="-122"/>
            </a:endParaRPr>
          </a:p>
        </p:txBody>
      </p:sp>
      <p:sp>
        <p:nvSpPr>
          <p:cNvPr id="19546" name="Text Box 97"/>
          <p:cNvSpPr txBox="1">
            <a:spLocks noChangeArrowheads="1"/>
          </p:cNvSpPr>
          <p:nvPr/>
        </p:nvSpPr>
        <p:spPr bwMode="auto">
          <a:xfrm>
            <a:off x="1114425" y="2170113"/>
            <a:ext cx="8418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0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2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4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6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8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10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12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14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16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18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20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22       </a:t>
            </a:r>
            <a:r>
              <a:rPr lang="en-US" altLang="zh-CN" sz="1600" b="1">
                <a:solidFill>
                  <a:srgbClr val="000099"/>
                </a:solidFill>
                <a:ea typeface="黑体" panose="02010609060101010101" pitchFamily="49" charset="-122"/>
              </a:rPr>
              <a:t>10</a:t>
            </a:r>
            <a:r>
              <a:rPr lang="en-US" altLang="zh-CN" sz="1600" b="1" baseline="30000">
                <a:solidFill>
                  <a:srgbClr val="000099"/>
                </a:solidFill>
                <a:ea typeface="黑体" panose="02010609060101010101" pitchFamily="49" charset="-122"/>
              </a:rPr>
              <a:t>24</a:t>
            </a:r>
            <a:endParaRPr lang="en-US" altLang="zh-CN" sz="1600" b="1">
              <a:solidFill>
                <a:srgbClr val="000099"/>
              </a:solidFill>
              <a:ea typeface="黑体" panose="02010609060101010101" pitchFamily="49" charset="-122"/>
            </a:endParaRPr>
          </a:p>
        </p:txBody>
      </p:sp>
      <p:sp>
        <p:nvSpPr>
          <p:cNvPr id="19547" name="Line 98"/>
          <p:cNvSpPr>
            <a:spLocks noChangeShapeType="1"/>
          </p:cNvSpPr>
          <p:nvPr/>
        </p:nvSpPr>
        <p:spPr bwMode="auto">
          <a:xfrm flipV="1">
            <a:off x="4278313" y="5018088"/>
            <a:ext cx="387350" cy="3175"/>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48" name="Rectangle 99"/>
          <p:cNvSpPr>
            <a:spLocks noChangeArrowheads="1"/>
          </p:cNvSpPr>
          <p:nvPr/>
        </p:nvSpPr>
        <p:spPr bwMode="auto">
          <a:xfrm>
            <a:off x="4416425" y="4487863"/>
            <a:ext cx="90488" cy="4429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19549" name="Text Box 100"/>
          <p:cNvSpPr txBox="1">
            <a:spLocks noChangeArrowheads="1"/>
          </p:cNvSpPr>
          <p:nvPr/>
        </p:nvSpPr>
        <p:spPr bwMode="auto">
          <a:xfrm>
            <a:off x="4081463" y="4483100"/>
            <a:ext cx="8620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  </a:t>
            </a:r>
            <a:r>
              <a:rPr lang="zh-CN" altLang="en-US" sz="1600" b="1">
                <a:solidFill>
                  <a:srgbClr val="000099"/>
                </a:solidFill>
                <a:ea typeface="黑体" panose="02010609060101010101" pitchFamily="49" charset="-122"/>
              </a:rPr>
              <a:t>移动</a:t>
            </a:r>
          </a:p>
          <a:p>
            <a:pPr>
              <a:lnSpc>
                <a:spcPct val="90000"/>
              </a:lnSpc>
            </a:pPr>
            <a:r>
              <a:rPr lang="zh-CN" altLang="en-US" sz="1600" b="1">
                <a:solidFill>
                  <a:srgbClr val="000099"/>
                </a:solidFill>
                <a:ea typeface="黑体" panose="02010609060101010101" pitchFamily="49" charset="-122"/>
              </a:rPr>
              <a:t>无线电 </a:t>
            </a:r>
          </a:p>
        </p:txBody>
      </p:sp>
      <p:sp>
        <p:nvSpPr>
          <p:cNvPr id="19550" name="Rectangle 101"/>
          <p:cNvSpPr>
            <a:spLocks noChangeArrowheads="1"/>
          </p:cNvSpPr>
          <p:nvPr/>
        </p:nvSpPr>
        <p:spPr bwMode="auto">
          <a:xfrm>
            <a:off x="793750" y="1304925"/>
            <a:ext cx="84423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3200" b="1">
                <a:solidFill>
                  <a:srgbClr val="000099"/>
                </a:solidFill>
                <a:ea typeface="黑体" panose="02010609060101010101" pitchFamily="49" charset="-122"/>
              </a:rPr>
              <a:t>电信领域使用的电磁波的频谱：</a:t>
            </a:r>
          </a:p>
        </p:txBody>
      </p:sp>
      <p:sp>
        <p:nvSpPr>
          <p:cNvPr id="195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049897-3413-4684-9BE0-6D5F16B62A30}" type="slidenum">
              <a:rPr altLang="en-US" smtClean="0"/>
              <a:pPr/>
              <a:t>5</a:t>
            </a:fld>
            <a:endParaRPr lang="zh-CN" altLang="zh-CN" smtClean="0"/>
          </a:p>
        </p:txBody>
      </p:sp>
      <p:sp>
        <p:nvSpPr>
          <p:cNvPr id="195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2.3.1  </a:t>
            </a:r>
            <a:r>
              <a:rPr lang="zh-CN" altLang="en-US" smtClean="0">
                <a:ea typeface="黑体" panose="02010609060101010101" pitchFamily="49" charset="-122"/>
              </a:rPr>
              <a:t>导引型传输媒体</a:t>
            </a:r>
          </a:p>
        </p:txBody>
      </p:sp>
      <p:sp>
        <p:nvSpPr>
          <p:cNvPr id="21507" name="Rectangle 3"/>
          <p:cNvSpPr>
            <a:spLocks noGrp="1" noChangeArrowheads="1"/>
          </p:cNvSpPr>
          <p:nvPr>
            <p:ph idx="1"/>
          </p:nvPr>
        </p:nvSpPr>
        <p:spPr>
          <a:xfrm>
            <a:off x="495300" y="1196975"/>
            <a:ext cx="9066213" cy="4933950"/>
          </a:xfrm>
        </p:spPr>
        <p:txBody>
          <a:bodyPr/>
          <a:lstStyle/>
          <a:p>
            <a:pPr eaLnBrk="1" hangingPunct="1"/>
            <a:r>
              <a:rPr lang="zh-CN" altLang="en-US" dirty="0" smtClean="0">
                <a:solidFill>
                  <a:srgbClr val="FF0000"/>
                </a:solidFill>
                <a:ea typeface="黑体" panose="02010609060101010101" pitchFamily="49" charset="-122"/>
              </a:rPr>
              <a:t>双绞线</a:t>
            </a:r>
            <a:endParaRPr lang="en-US" altLang="zh-CN" dirty="0" smtClean="0">
              <a:solidFill>
                <a:srgbClr val="FF0000"/>
              </a:solidFill>
              <a:ea typeface="黑体" panose="02010609060101010101" pitchFamily="49" charset="-122"/>
            </a:endParaRPr>
          </a:p>
          <a:p>
            <a:pPr lvl="1" eaLnBrk="1" hangingPunct="1"/>
            <a:r>
              <a:rPr lang="zh-CN" altLang="zh-CN" dirty="0" smtClean="0">
                <a:ea typeface="黑体" panose="02010609060101010101" pitchFamily="49" charset="-122"/>
              </a:rPr>
              <a:t>最常用的传输媒体</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eaLnBrk="1" hangingPunct="1"/>
            <a:r>
              <a:rPr lang="zh-CN" altLang="zh-CN" dirty="0" smtClean="0">
                <a:solidFill>
                  <a:srgbClr val="0000CC"/>
                </a:solidFill>
                <a:ea typeface="黑体" panose="02010609060101010101" pitchFamily="49" charset="-122"/>
              </a:rPr>
              <a:t>模拟传输</a:t>
            </a:r>
            <a:r>
              <a:rPr lang="zh-CN" altLang="zh-CN" dirty="0" smtClean="0">
                <a:ea typeface="黑体" panose="02010609060101010101" pitchFamily="49" charset="-122"/>
              </a:rPr>
              <a:t>和</a:t>
            </a:r>
            <a:r>
              <a:rPr lang="zh-CN" altLang="zh-CN" dirty="0" smtClean="0">
                <a:solidFill>
                  <a:srgbClr val="0000CC"/>
                </a:solidFill>
                <a:ea typeface="黑体" panose="02010609060101010101" pitchFamily="49" charset="-122"/>
              </a:rPr>
              <a:t>数字传输</a:t>
            </a:r>
            <a:r>
              <a:rPr lang="zh-CN" altLang="zh-CN" dirty="0" smtClean="0">
                <a:ea typeface="黑体" panose="02010609060101010101" pitchFamily="49" charset="-122"/>
              </a:rPr>
              <a:t>都可以使用双绞线，其通信距离一般为几到十几公里。</a:t>
            </a:r>
            <a:endParaRPr lang="zh-CN" altLang="en-US" dirty="0" smtClean="0">
              <a:ea typeface="黑体" panose="02010609060101010101" pitchFamily="49" charset="-122"/>
            </a:endParaRPr>
          </a:p>
          <a:p>
            <a:pPr lvl="1" eaLnBrk="1" hangingPunct="1"/>
            <a:r>
              <a:rPr lang="zh-CN" altLang="en-US" u="sng" dirty="0" smtClean="0">
                <a:solidFill>
                  <a:srgbClr val="FF0000"/>
                </a:solidFill>
                <a:ea typeface="黑体" panose="02010609060101010101" pitchFamily="49" charset="-122"/>
              </a:rPr>
              <a:t>屏蔽双绞线 </a:t>
            </a:r>
            <a:r>
              <a:rPr lang="en-US" altLang="zh-CN" u="sng" dirty="0" smtClean="0">
                <a:solidFill>
                  <a:srgbClr val="FF0000"/>
                </a:solidFill>
                <a:ea typeface="黑体" panose="02010609060101010101" pitchFamily="49" charset="-122"/>
              </a:rPr>
              <a:t>STP </a:t>
            </a:r>
            <a:r>
              <a:rPr lang="en-US" altLang="zh-CN" dirty="0" smtClean="0">
                <a:solidFill>
                  <a:srgbClr val="0000CC"/>
                </a:solidFill>
                <a:ea typeface="黑体" panose="02010609060101010101" pitchFamily="49" charset="-122"/>
              </a:rPr>
              <a:t>(Shielded Twisted Pair)</a:t>
            </a:r>
          </a:p>
          <a:p>
            <a:pPr lvl="2" eaLnBrk="1" hangingPunct="1"/>
            <a:r>
              <a:rPr lang="zh-CN" altLang="en-US" dirty="0" smtClean="0">
                <a:ea typeface="黑体" panose="02010609060101010101" pitchFamily="49" charset="-122"/>
              </a:rPr>
              <a:t>带金属</a:t>
            </a:r>
            <a:r>
              <a:rPr lang="zh-CN" altLang="zh-CN" dirty="0" smtClean="0">
                <a:ea typeface="黑体" panose="02010609060101010101" pitchFamily="49" charset="-122"/>
              </a:rPr>
              <a:t>屏蔽层</a:t>
            </a:r>
            <a:endParaRPr lang="en-US" altLang="zh-CN" dirty="0" smtClean="0">
              <a:solidFill>
                <a:srgbClr val="0000CC"/>
              </a:solidFill>
              <a:ea typeface="黑体" panose="02010609060101010101" pitchFamily="49" charset="-122"/>
            </a:endParaRPr>
          </a:p>
          <a:p>
            <a:pPr lvl="1" eaLnBrk="1" hangingPunct="1"/>
            <a:r>
              <a:rPr lang="zh-CN" altLang="en-US" u="sng" dirty="0" smtClean="0">
                <a:solidFill>
                  <a:srgbClr val="FF0000"/>
                </a:solidFill>
                <a:ea typeface="黑体" panose="02010609060101010101" pitchFamily="49" charset="-122"/>
              </a:rPr>
              <a:t>无屏蔽双绞线 </a:t>
            </a:r>
            <a:r>
              <a:rPr lang="en-US" altLang="zh-CN" u="sng" dirty="0" smtClean="0">
                <a:solidFill>
                  <a:srgbClr val="FF0000"/>
                </a:solidFill>
                <a:ea typeface="黑体" panose="02010609060101010101" pitchFamily="49" charset="-122"/>
              </a:rPr>
              <a:t>UTP </a:t>
            </a:r>
            <a:r>
              <a:rPr lang="en-US" altLang="zh-CN" dirty="0" smtClean="0">
                <a:solidFill>
                  <a:srgbClr val="0000CC"/>
                </a:solidFill>
                <a:ea typeface="黑体" panose="02010609060101010101" pitchFamily="49" charset="-122"/>
              </a:rPr>
              <a:t>(Unshielded Twisted Pair) </a:t>
            </a:r>
          </a:p>
        </p:txBody>
      </p:sp>
      <p:sp>
        <p:nvSpPr>
          <p:cNvPr id="2150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9F93B1E-510F-4D6B-9956-4F43B80E7713}" type="slidenum">
              <a:rPr altLang="en-US" smtClean="0"/>
              <a:pPr/>
              <a:t>6</a:t>
            </a:fld>
            <a:endParaRPr lang="zh-CN" altLang="zh-CN" smtClean="0"/>
          </a:p>
        </p:txBody>
      </p:sp>
      <p:sp>
        <p:nvSpPr>
          <p:cNvPr id="2150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smtClean="0">
                <a:ea typeface="黑体" panose="02010609060101010101" pitchFamily="49" charset="-122"/>
              </a:rPr>
              <a:t>2.3.1  </a:t>
            </a:r>
            <a:r>
              <a:rPr lang="zh-CN" altLang="en-US" smtClean="0">
                <a:ea typeface="黑体" panose="02010609060101010101" pitchFamily="49" charset="-122"/>
              </a:rPr>
              <a:t>导引型传输媒体</a:t>
            </a:r>
          </a:p>
        </p:txBody>
      </p:sp>
      <p:grpSp>
        <p:nvGrpSpPr>
          <p:cNvPr id="23555" name="组合 2"/>
          <p:cNvGrpSpPr>
            <a:grpSpLocks/>
          </p:cNvGrpSpPr>
          <p:nvPr/>
        </p:nvGrpSpPr>
        <p:grpSpPr bwMode="auto">
          <a:xfrm>
            <a:off x="704850" y="1484313"/>
            <a:ext cx="3856038" cy="2016125"/>
            <a:chOff x="1280592" y="1686499"/>
            <a:chExt cx="3279775" cy="1643970"/>
          </a:xfrm>
        </p:grpSpPr>
        <p:pic>
          <p:nvPicPr>
            <p:cNvPr id="23572" name="Picture 4" descr="223b"/>
            <p:cNvPicPr>
              <a:picLocks noChangeAspect="1" noChangeArrowheads="1"/>
            </p:cNvPicPr>
            <p:nvPr/>
          </p:nvPicPr>
          <p:blipFill>
            <a:blip r:embed="rId3">
              <a:extLst>
                <a:ext uri="{28A0092B-C50C-407E-A947-70E740481C1C}">
                  <a14:useLocalDpi xmlns:a14="http://schemas.microsoft.com/office/drawing/2010/main" val="0"/>
                </a:ext>
              </a:extLst>
            </a:blip>
            <a:srcRect t="24692" b="39763"/>
            <a:stretch>
              <a:fillRect/>
            </a:stretch>
          </p:blipFill>
          <p:spPr bwMode="auto">
            <a:xfrm>
              <a:off x="1280592" y="1686499"/>
              <a:ext cx="32797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3" name="Text Box 7"/>
            <p:cNvSpPr txBox="1">
              <a:spLocks noChangeArrowheads="1"/>
            </p:cNvSpPr>
            <p:nvPr/>
          </p:nvSpPr>
          <p:spPr bwMode="auto">
            <a:xfrm>
              <a:off x="3926955" y="2546924"/>
              <a:ext cx="596128"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铜线</a:t>
              </a:r>
            </a:p>
          </p:txBody>
        </p:sp>
        <p:sp>
          <p:nvSpPr>
            <p:cNvPr id="23574" name="Text Box 9"/>
            <p:cNvSpPr txBox="1">
              <a:spLocks noChangeArrowheads="1"/>
            </p:cNvSpPr>
            <p:nvPr/>
          </p:nvSpPr>
          <p:spPr bwMode="auto">
            <a:xfrm>
              <a:off x="1432992" y="2554861"/>
              <a:ext cx="957263" cy="52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pPr>
              <a:r>
                <a:rPr lang="zh-CN" altLang="en-US" sz="2000" b="1">
                  <a:solidFill>
                    <a:srgbClr val="000099"/>
                  </a:solidFill>
                  <a:ea typeface="黑体" panose="02010609060101010101" pitchFamily="49" charset="-122"/>
                </a:rPr>
                <a:t>聚氯乙烯套层</a:t>
              </a:r>
            </a:p>
          </p:txBody>
        </p:sp>
        <p:sp>
          <p:nvSpPr>
            <p:cNvPr id="23575" name="Text Box 13"/>
            <p:cNvSpPr txBox="1">
              <a:spLocks noChangeArrowheads="1"/>
            </p:cNvSpPr>
            <p:nvPr/>
          </p:nvSpPr>
          <p:spPr bwMode="auto">
            <a:xfrm>
              <a:off x="2776017" y="2543749"/>
              <a:ext cx="815654"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绝缘层</a:t>
              </a:r>
            </a:p>
          </p:txBody>
        </p:sp>
        <p:sp>
          <p:nvSpPr>
            <p:cNvPr id="23576" name="Text Box 15"/>
            <p:cNvSpPr txBox="1">
              <a:spLocks noChangeArrowheads="1"/>
            </p:cNvSpPr>
            <p:nvPr/>
          </p:nvSpPr>
          <p:spPr bwMode="auto">
            <a:xfrm>
              <a:off x="2199755" y="3004124"/>
              <a:ext cx="1800111"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ea typeface="黑体" panose="02010609060101010101" pitchFamily="49" charset="-122"/>
                </a:rPr>
                <a:t>(a) </a:t>
              </a:r>
              <a:r>
                <a:rPr lang="zh-CN" altLang="zh-CN" sz="2000" b="1">
                  <a:ea typeface="黑体" panose="02010609060101010101" pitchFamily="49" charset="-122"/>
                </a:rPr>
                <a:t>无屏蔽双绞线</a:t>
              </a:r>
              <a:endParaRPr lang="en-US" altLang="zh-CN" sz="2000" b="1">
                <a:ea typeface="黑体" panose="02010609060101010101" pitchFamily="49" charset="-122"/>
              </a:endParaRPr>
            </a:p>
          </p:txBody>
        </p:sp>
      </p:grpSp>
      <p:grpSp>
        <p:nvGrpSpPr>
          <p:cNvPr id="23556" name="组合 3"/>
          <p:cNvGrpSpPr>
            <a:grpSpLocks/>
          </p:cNvGrpSpPr>
          <p:nvPr/>
        </p:nvGrpSpPr>
        <p:grpSpPr bwMode="auto">
          <a:xfrm>
            <a:off x="5484813" y="1508125"/>
            <a:ext cx="3571875" cy="1979613"/>
            <a:chOff x="5484192" y="1710311"/>
            <a:chExt cx="2997200" cy="1621729"/>
          </a:xfrm>
        </p:grpSpPr>
        <p:pic>
          <p:nvPicPr>
            <p:cNvPr id="23566" name="Picture 5" descr="223"/>
            <p:cNvPicPr>
              <a:picLocks noChangeAspect="1" noChangeArrowheads="1"/>
            </p:cNvPicPr>
            <p:nvPr/>
          </p:nvPicPr>
          <p:blipFill>
            <a:blip r:embed="rId4">
              <a:extLst>
                <a:ext uri="{28A0092B-C50C-407E-A947-70E740481C1C}">
                  <a14:useLocalDpi xmlns:a14="http://schemas.microsoft.com/office/drawing/2010/main" val="0"/>
                </a:ext>
              </a:extLst>
            </a:blip>
            <a:srcRect t="17610" b="41142"/>
            <a:stretch>
              <a:fillRect/>
            </a:stretch>
          </p:blipFill>
          <p:spPr bwMode="auto">
            <a:xfrm>
              <a:off x="5484192" y="1710311"/>
              <a:ext cx="29972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7" name="Text Box 8"/>
            <p:cNvSpPr txBox="1">
              <a:spLocks noChangeArrowheads="1"/>
            </p:cNvSpPr>
            <p:nvPr/>
          </p:nvSpPr>
          <p:spPr bwMode="auto">
            <a:xfrm>
              <a:off x="7860680" y="2534224"/>
              <a:ext cx="587848"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铜线</a:t>
              </a:r>
            </a:p>
          </p:txBody>
        </p:sp>
        <p:sp>
          <p:nvSpPr>
            <p:cNvPr id="23568" name="Text Box 10"/>
            <p:cNvSpPr txBox="1">
              <a:spLocks noChangeArrowheads="1"/>
            </p:cNvSpPr>
            <p:nvPr/>
          </p:nvSpPr>
          <p:spPr bwMode="auto">
            <a:xfrm>
              <a:off x="5484192" y="2510411"/>
              <a:ext cx="1020801" cy="580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聚氯乙烯</a:t>
              </a:r>
            </a:p>
            <a:p>
              <a:pPr eaLnBrk="1" hangingPunct="1"/>
              <a:r>
                <a:rPr lang="zh-CN" altLang="en-US" sz="2000" b="1">
                  <a:solidFill>
                    <a:srgbClr val="000099"/>
                  </a:solidFill>
                  <a:ea typeface="黑体" panose="02010609060101010101" pitchFamily="49" charset="-122"/>
                </a:rPr>
                <a:t>    套层</a:t>
              </a:r>
            </a:p>
          </p:txBody>
        </p:sp>
        <p:sp>
          <p:nvSpPr>
            <p:cNvPr id="23569" name="Text Box 11"/>
            <p:cNvSpPr txBox="1">
              <a:spLocks noChangeArrowheads="1"/>
            </p:cNvSpPr>
            <p:nvPr/>
          </p:nvSpPr>
          <p:spPr bwMode="auto">
            <a:xfrm>
              <a:off x="6563692" y="2513586"/>
              <a:ext cx="804325"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屏蔽层</a:t>
              </a:r>
            </a:p>
          </p:txBody>
        </p:sp>
        <p:sp>
          <p:nvSpPr>
            <p:cNvPr id="23570" name="Text Box 14"/>
            <p:cNvSpPr txBox="1">
              <a:spLocks noChangeArrowheads="1"/>
            </p:cNvSpPr>
            <p:nvPr/>
          </p:nvSpPr>
          <p:spPr bwMode="auto">
            <a:xfrm>
              <a:off x="7212980" y="2534224"/>
              <a:ext cx="804325"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a:solidFill>
                    <a:srgbClr val="000099"/>
                  </a:solidFill>
                  <a:ea typeface="黑体" panose="02010609060101010101" pitchFamily="49" charset="-122"/>
                </a:rPr>
                <a:t>绝缘层</a:t>
              </a:r>
            </a:p>
          </p:txBody>
        </p:sp>
        <p:sp>
          <p:nvSpPr>
            <p:cNvPr id="23571" name="Text Box 16"/>
            <p:cNvSpPr txBox="1">
              <a:spLocks noChangeArrowheads="1"/>
            </p:cNvSpPr>
            <p:nvPr/>
          </p:nvSpPr>
          <p:spPr bwMode="auto">
            <a:xfrm>
              <a:off x="6274767" y="3004124"/>
              <a:ext cx="1570733"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ea typeface="黑体" panose="02010609060101010101" pitchFamily="49" charset="-122"/>
                </a:rPr>
                <a:t>(b) </a:t>
              </a:r>
              <a:r>
                <a:rPr lang="zh-CN" altLang="zh-CN" sz="2000" b="1">
                  <a:ea typeface="黑体" panose="02010609060101010101" pitchFamily="49" charset="-122"/>
                </a:rPr>
                <a:t>屏蔽双绞线</a:t>
              </a:r>
              <a:endParaRPr lang="en-US" altLang="zh-CN" sz="2000" b="1">
                <a:ea typeface="黑体" panose="02010609060101010101" pitchFamily="49" charset="-122"/>
              </a:endParaRPr>
            </a:p>
          </p:txBody>
        </p:sp>
      </p:grpSp>
      <p:grpSp>
        <p:nvGrpSpPr>
          <p:cNvPr id="23557" name="组合 16"/>
          <p:cNvGrpSpPr>
            <a:grpSpLocks/>
          </p:cNvGrpSpPr>
          <p:nvPr/>
        </p:nvGrpSpPr>
        <p:grpSpPr bwMode="auto">
          <a:xfrm>
            <a:off x="2936875" y="3573463"/>
            <a:ext cx="3671888" cy="2055430"/>
            <a:chOff x="3252146" y="4016920"/>
            <a:chExt cx="2981475" cy="1508337"/>
          </a:xfrm>
        </p:grpSpPr>
        <p:pic>
          <p:nvPicPr>
            <p:cNvPr id="23561" name="Picture 19" descr="3UTP"/>
            <p:cNvPicPr>
              <a:picLocks noChangeAspect="1" noChangeArrowheads="1"/>
            </p:cNvPicPr>
            <p:nvPr/>
          </p:nvPicPr>
          <p:blipFill>
            <a:blip r:embed="rId5">
              <a:extLst>
                <a:ext uri="{28A0092B-C50C-407E-A947-70E740481C1C}">
                  <a14:useLocalDpi xmlns:a14="http://schemas.microsoft.com/office/drawing/2010/main" val="0"/>
                </a:ext>
              </a:extLst>
            </a:blip>
            <a:srcRect l="2864" t="5208" r="50562"/>
            <a:stretch>
              <a:fillRect/>
            </a:stretch>
          </p:blipFill>
          <p:spPr bwMode="auto">
            <a:xfrm>
              <a:off x="3446330" y="4175362"/>
              <a:ext cx="2581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2" name="Picture 20" descr="3UTP"/>
            <p:cNvPicPr>
              <a:picLocks noChangeAspect="1" noChangeArrowheads="1"/>
            </p:cNvPicPr>
            <p:nvPr/>
          </p:nvPicPr>
          <p:blipFill>
            <a:blip r:embed="rId5">
              <a:extLst>
                <a:ext uri="{28A0092B-C50C-407E-A947-70E740481C1C}">
                  <a14:useLocalDpi xmlns:a14="http://schemas.microsoft.com/office/drawing/2010/main" val="0"/>
                </a:ext>
              </a:extLst>
            </a:blip>
            <a:srcRect l="50095" r="3209"/>
            <a:stretch>
              <a:fillRect/>
            </a:stretch>
          </p:blipFill>
          <p:spPr bwMode="auto">
            <a:xfrm>
              <a:off x="3438392" y="4771387"/>
              <a:ext cx="2587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3" name="Text Box 22"/>
            <p:cNvSpPr txBox="1">
              <a:spLocks noChangeArrowheads="1"/>
            </p:cNvSpPr>
            <p:nvPr/>
          </p:nvSpPr>
          <p:spPr bwMode="auto">
            <a:xfrm>
              <a:off x="4295642" y="4016920"/>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solidFill>
                    <a:srgbClr val="000099"/>
                  </a:solidFill>
                  <a:ea typeface="黑体" panose="02010609060101010101" pitchFamily="49" charset="-122"/>
                </a:rPr>
                <a:t>3 </a:t>
              </a:r>
              <a:r>
                <a:rPr lang="zh-CN" altLang="en-US" sz="2000" b="1">
                  <a:solidFill>
                    <a:srgbClr val="000099"/>
                  </a:solidFill>
                  <a:ea typeface="黑体" panose="02010609060101010101" pitchFamily="49" charset="-122"/>
                </a:rPr>
                <a:t>类线</a:t>
              </a:r>
            </a:p>
          </p:txBody>
        </p:sp>
        <p:sp>
          <p:nvSpPr>
            <p:cNvPr id="23564" name="Text Box 23"/>
            <p:cNvSpPr txBox="1">
              <a:spLocks noChangeArrowheads="1"/>
            </p:cNvSpPr>
            <p:nvPr/>
          </p:nvSpPr>
          <p:spPr bwMode="auto">
            <a:xfrm>
              <a:off x="4295642" y="4650689"/>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solidFill>
                    <a:srgbClr val="000099"/>
                  </a:solidFill>
                  <a:ea typeface="黑体" panose="02010609060101010101" pitchFamily="49" charset="-122"/>
                </a:rPr>
                <a:t>5 </a:t>
              </a:r>
              <a:r>
                <a:rPr lang="zh-CN" altLang="en-US" sz="2000" b="1">
                  <a:solidFill>
                    <a:srgbClr val="000099"/>
                  </a:solidFill>
                  <a:ea typeface="黑体" panose="02010609060101010101" pitchFamily="49" charset="-122"/>
                </a:rPr>
                <a:t>类线</a:t>
              </a:r>
            </a:p>
          </p:txBody>
        </p:sp>
        <p:sp>
          <p:nvSpPr>
            <p:cNvPr id="23565" name="Text Box 24"/>
            <p:cNvSpPr txBox="1">
              <a:spLocks noChangeArrowheads="1"/>
            </p:cNvSpPr>
            <p:nvPr/>
          </p:nvSpPr>
          <p:spPr bwMode="auto">
            <a:xfrm>
              <a:off x="3252146" y="5231644"/>
              <a:ext cx="2981475" cy="29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000" b="1" dirty="0">
                  <a:ea typeface="黑体" panose="02010609060101010101" pitchFamily="49" charset="-122"/>
                </a:rPr>
                <a:t>(c) </a:t>
              </a:r>
              <a:r>
                <a:rPr lang="zh-CN" altLang="zh-CN" sz="2000" b="1" dirty="0">
                  <a:ea typeface="黑体" panose="02010609060101010101" pitchFamily="49" charset="-122"/>
                </a:rPr>
                <a:t>不同的</a:t>
              </a:r>
              <a:r>
                <a:rPr lang="zh-CN" altLang="zh-CN" sz="2000" b="1" dirty="0">
                  <a:solidFill>
                    <a:srgbClr val="0000CC"/>
                  </a:solidFill>
                  <a:ea typeface="黑体" panose="02010609060101010101" pitchFamily="49" charset="-122"/>
                </a:rPr>
                <a:t>绞合度</a:t>
              </a:r>
              <a:r>
                <a:rPr lang="zh-CN" altLang="zh-CN" sz="2000" b="1" dirty="0">
                  <a:ea typeface="黑体" panose="02010609060101010101" pitchFamily="49" charset="-122"/>
                </a:rPr>
                <a:t>的双绞线</a:t>
              </a:r>
              <a:endParaRPr lang="en-US" altLang="zh-CN" sz="2000" b="1" dirty="0">
                <a:ea typeface="黑体" panose="02010609060101010101" pitchFamily="49" charset="-122"/>
              </a:endParaRPr>
            </a:p>
          </p:txBody>
        </p:sp>
      </p:grpSp>
      <p:sp>
        <p:nvSpPr>
          <p:cNvPr id="23558" name="矩形 17"/>
          <p:cNvSpPr>
            <a:spLocks noChangeArrowheads="1"/>
          </p:cNvSpPr>
          <p:nvPr/>
        </p:nvSpPr>
        <p:spPr bwMode="auto">
          <a:xfrm>
            <a:off x="1928813" y="5848350"/>
            <a:ext cx="59769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双绞线的示意图</a:t>
            </a:r>
            <a:endParaRPr lang="zh-CN" altLang="en-US" sz="2400" b="1">
              <a:ea typeface="黑体" panose="02010609060101010101" pitchFamily="49" charset="-122"/>
            </a:endParaRPr>
          </a:p>
        </p:txBody>
      </p:sp>
      <p:sp>
        <p:nvSpPr>
          <p:cNvPr id="23559" name="灯片编号占位符 2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FDD0E0-A8B4-4847-908C-918677500BC0}" type="slidenum">
              <a:rPr altLang="en-US" smtClean="0"/>
              <a:pPr/>
              <a:t>7</a:t>
            </a:fld>
            <a:endParaRPr lang="zh-CN" altLang="zh-CN" smtClean="0"/>
          </a:p>
        </p:txBody>
      </p:sp>
      <p:sp>
        <p:nvSpPr>
          <p:cNvPr id="23560" name="页脚占位符 2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双绞线标准</a:t>
            </a:r>
          </a:p>
        </p:txBody>
      </p:sp>
      <p:sp>
        <p:nvSpPr>
          <p:cNvPr id="25603" name="Rectangle 3"/>
          <p:cNvSpPr>
            <a:spLocks noGrp="1" noChangeArrowheads="1"/>
          </p:cNvSpPr>
          <p:nvPr>
            <p:ph idx="1"/>
          </p:nvPr>
        </p:nvSpPr>
        <p:spPr>
          <a:xfrm>
            <a:off x="495300" y="1196975"/>
            <a:ext cx="9066213" cy="4933950"/>
          </a:xfrm>
        </p:spPr>
        <p:txBody>
          <a:bodyPr/>
          <a:lstStyle/>
          <a:p>
            <a:pPr eaLnBrk="1" hangingPunct="1"/>
            <a:r>
              <a:rPr lang="en-US" altLang="zh-CN" dirty="0" smtClean="0">
                <a:ea typeface="黑体" panose="02010609060101010101" pitchFamily="49" charset="-122"/>
              </a:rPr>
              <a:t>1991</a:t>
            </a:r>
            <a:r>
              <a:rPr lang="zh-CN" altLang="zh-CN" dirty="0" smtClean="0">
                <a:ea typeface="黑体" panose="02010609060101010101" pitchFamily="49" charset="-122"/>
              </a:rPr>
              <a:t>年，美国电子工业协会</a:t>
            </a:r>
            <a:r>
              <a:rPr lang="en-US" altLang="zh-CN" dirty="0" smtClean="0">
                <a:ea typeface="黑体" panose="02010609060101010101" pitchFamily="49" charset="-122"/>
              </a:rPr>
              <a:t> EIA </a:t>
            </a:r>
            <a:r>
              <a:rPr lang="zh-CN" altLang="zh-CN" dirty="0" smtClean="0">
                <a:ea typeface="黑体" panose="02010609060101010101" pitchFamily="49" charset="-122"/>
              </a:rPr>
              <a:t>和电信行业协会联合发布了一个用于室内传送数据的无屏蔽双绞线和屏蔽双绞线的标准</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EIA/TIA-568</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eaLnBrk="1" hangingPunct="1"/>
            <a:r>
              <a:rPr lang="en-US" altLang="zh-CN" dirty="0" smtClean="0">
                <a:ea typeface="黑体" panose="02010609060101010101" pitchFamily="49" charset="-122"/>
              </a:rPr>
              <a:t>1995</a:t>
            </a:r>
            <a:r>
              <a:rPr lang="zh-CN" altLang="zh-CN" dirty="0" smtClean="0">
                <a:ea typeface="黑体" panose="02010609060101010101" pitchFamily="49" charset="-122"/>
              </a:rPr>
              <a:t>年将布线标准更新为</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EIA/TIA-568-A</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eaLnBrk="1" hangingPunct="1"/>
            <a:r>
              <a:rPr lang="zh-CN" altLang="zh-CN" dirty="0" smtClean="0">
                <a:ea typeface="黑体" panose="02010609060101010101" pitchFamily="49" charset="-122"/>
              </a:rPr>
              <a:t>此标准规定了</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5 </a:t>
            </a:r>
            <a:r>
              <a:rPr lang="zh-CN" altLang="zh-CN" dirty="0" smtClean="0">
                <a:solidFill>
                  <a:srgbClr val="FF0000"/>
                </a:solidFill>
                <a:ea typeface="黑体" panose="02010609060101010101" pitchFamily="49" charset="-122"/>
              </a:rPr>
              <a:t>个种类的</a:t>
            </a:r>
            <a:r>
              <a:rPr lang="en-US" altLang="zh-CN" dirty="0" smtClean="0">
                <a:solidFill>
                  <a:srgbClr val="FF0000"/>
                </a:solidFill>
                <a:ea typeface="黑体" panose="02010609060101010101" pitchFamily="49" charset="-122"/>
              </a:rPr>
              <a:t> UTP </a:t>
            </a:r>
            <a:r>
              <a:rPr lang="zh-CN" altLang="zh-CN" dirty="0" smtClean="0">
                <a:solidFill>
                  <a:srgbClr val="FF0000"/>
                </a:solidFill>
                <a:ea typeface="黑体" panose="02010609060101010101" pitchFamily="49" charset="-122"/>
              </a:rPr>
              <a:t>标准</a:t>
            </a:r>
            <a:r>
              <a:rPr lang="zh-CN" altLang="zh-CN" dirty="0" smtClean="0">
                <a:ea typeface="黑体" panose="02010609060101010101" pitchFamily="49" charset="-122"/>
              </a:rPr>
              <a:t>（从</a:t>
            </a:r>
            <a:r>
              <a:rPr lang="en-US" altLang="zh-CN" dirty="0" smtClean="0">
                <a:ea typeface="黑体" panose="02010609060101010101" pitchFamily="49" charset="-122"/>
              </a:rPr>
              <a:t> 1 </a:t>
            </a:r>
            <a:r>
              <a:rPr lang="zh-CN" altLang="zh-CN" dirty="0" smtClean="0">
                <a:ea typeface="黑体" panose="02010609060101010101" pitchFamily="49" charset="-122"/>
              </a:rPr>
              <a:t>类线到</a:t>
            </a:r>
            <a:r>
              <a:rPr lang="en-US" altLang="zh-CN" dirty="0" smtClean="0">
                <a:ea typeface="黑体" panose="02010609060101010101" pitchFamily="49" charset="-122"/>
              </a:rPr>
              <a:t> 5 </a:t>
            </a:r>
            <a:r>
              <a:rPr lang="zh-CN" altLang="zh-CN" dirty="0" smtClean="0">
                <a:ea typeface="黑体" panose="02010609060101010101" pitchFamily="49" charset="-122"/>
              </a:rPr>
              <a:t>类线）。</a:t>
            </a:r>
            <a:endParaRPr lang="en-US" altLang="zh-CN" dirty="0" smtClean="0">
              <a:ea typeface="黑体" panose="02010609060101010101" pitchFamily="49" charset="-122"/>
            </a:endParaRPr>
          </a:p>
          <a:p>
            <a:pPr eaLnBrk="1" hangingPunct="1"/>
            <a:r>
              <a:rPr lang="zh-CN" altLang="zh-CN" dirty="0" smtClean="0">
                <a:solidFill>
                  <a:srgbClr val="0000CC"/>
                </a:solidFill>
                <a:ea typeface="黑体" panose="02010609060101010101" pitchFamily="49" charset="-122"/>
              </a:rPr>
              <a:t>对传送数据来说，现在最常用的</a:t>
            </a:r>
            <a:r>
              <a:rPr lang="en-US" altLang="zh-CN" dirty="0" smtClean="0">
                <a:solidFill>
                  <a:srgbClr val="0000CC"/>
                </a:solidFill>
                <a:ea typeface="黑体" panose="02010609060101010101" pitchFamily="49" charset="-122"/>
              </a:rPr>
              <a:t> UTP </a:t>
            </a:r>
            <a:r>
              <a:rPr lang="zh-CN" altLang="zh-CN" dirty="0" smtClean="0">
                <a:solidFill>
                  <a:srgbClr val="0000CC"/>
                </a:solidFill>
                <a:ea typeface="黑体" panose="02010609060101010101" pitchFamily="49" charset="-122"/>
              </a:rPr>
              <a:t>是</a:t>
            </a:r>
            <a:r>
              <a:rPr lang="en-US" altLang="zh-CN" dirty="0" smtClean="0">
                <a:solidFill>
                  <a:srgbClr val="0000CC"/>
                </a:solidFill>
                <a:ea typeface="黑体" panose="02010609060101010101" pitchFamily="49" charset="-122"/>
              </a:rPr>
              <a:t>5</a:t>
            </a:r>
            <a:r>
              <a:rPr lang="zh-CN" altLang="zh-CN" dirty="0" smtClean="0">
                <a:solidFill>
                  <a:srgbClr val="0000CC"/>
                </a:solidFill>
                <a:ea typeface="黑体" panose="02010609060101010101" pitchFamily="49" charset="-122"/>
              </a:rPr>
              <a:t>类线（</a:t>
            </a:r>
            <a:r>
              <a:rPr lang="en-US" altLang="zh-CN" dirty="0" smtClean="0">
                <a:solidFill>
                  <a:srgbClr val="0000CC"/>
                </a:solidFill>
                <a:ea typeface="黑体" panose="02010609060101010101" pitchFamily="49" charset="-122"/>
              </a:rPr>
              <a:t>Category 5 </a:t>
            </a:r>
            <a:r>
              <a:rPr lang="zh-CN" altLang="zh-CN" dirty="0" smtClean="0">
                <a:solidFill>
                  <a:srgbClr val="0000CC"/>
                </a:solidFill>
                <a:ea typeface="黑体" panose="02010609060101010101" pitchFamily="49" charset="-122"/>
              </a:rPr>
              <a:t>或</a:t>
            </a:r>
            <a:r>
              <a:rPr lang="en-US" altLang="zh-CN" dirty="0" smtClean="0">
                <a:solidFill>
                  <a:srgbClr val="0000CC"/>
                </a:solidFill>
                <a:ea typeface="黑体" panose="02010609060101010101" pitchFamily="49" charset="-122"/>
              </a:rPr>
              <a:t> CAT5</a:t>
            </a:r>
            <a:r>
              <a:rPr lang="zh-CN" altLang="zh-CN" dirty="0" smtClean="0">
                <a:solidFill>
                  <a:srgbClr val="0000CC"/>
                </a:solidFill>
                <a:ea typeface="黑体" panose="02010609060101010101" pitchFamily="49" charset="-122"/>
              </a:rPr>
              <a:t>）</a:t>
            </a:r>
            <a:r>
              <a:rPr lang="zh-CN" altLang="en-US" dirty="0" smtClean="0">
                <a:solidFill>
                  <a:srgbClr val="0000CC"/>
                </a:solidFill>
                <a:ea typeface="黑体" panose="02010609060101010101" pitchFamily="49" charset="-122"/>
              </a:rPr>
              <a:t>。</a:t>
            </a:r>
            <a:endParaRPr lang="en-US" altLang="zh-CN" dirty="0" smtClean="0">
              <a:solidFill>
                <a:srgbClr val="0000CC"/>
              </a:solidFill>
              <a:ea typeface="黑体" panose="02010609060101010101" pitchFamily="49" charset="-122"/>
            </a:endParaRPr>
          </a:p>
        </p:txBody>
      </p:sp>
      <p:sp>
        <p:nvSpPr>
          <p:cNvPr id="2560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C077EC3-A744-4C50-B973-096501605E48}" type="slidenum">
              <a:rPr altLang="en-US" smtClean="0"/>
              <a:pPr/>
              <a:t>8</a:t>
            </a:fld>
            <a:endParaRPr lang="zh-CN" altLang="zh-CN" smtClean="0"/>
          </a:p>
        </p:txBody>
      </p:sp>
      <p:sp>
        <p:nvSpPr>
          <p:cNvPr id="2560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双绞线标准</a:t>
            </a:r>
          </a:p>
        </p:txBody>
      </p:sp>
      <p:graphicFrame>
        <p:nvGraphicFramePr>
          <p:cNvPr id="3" name="内容占位符 2"/>
          <p:cNvGraphicFramePr>
            <a:graphicFrameLocks noGrp="1"/>
          </p:cNvGraphicFramePr>
          <p:nvPr>
            <p:ph idx="1"/>
          </p:nvPr>
        </p:nvGraphicFramePr>
        <p:xfrm>
          <a:off x="488950" y="1700213"/>
          <a:ext cx="9217024" cy="4300536"/>
        </p:xfrm>
        <a:graphic>
          <a:graphicData uri="http://schemas.openxmlformats.org/drawingml/2006/table">
            <a:tbl>
              <a:tblPr firstRow="1" firstCol="1">
                <a:tableStyleId>{073A0DAA-6AF3-43AB-8588-CEC1D06C72B9}</a:tableStyleId>
              </a:tblPr>
              <a:tblGrid>
                <a:gridCol w="1484108">
                  <a:extLst>
                    <a:ext uri="{9D8B030D-6E8A-4147-A177-3AD203B41FA5}">
                      <a16:colId xmlns:a16="http://schemas.microsoft.com/office/drawing/2014/main" val="20000"/>
                    </a:ext>
                  </a:extLst>
                </a:gridCol>
                <a:gridCol w="139621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888432">
                  <a:extLst>
                    <a:ext uri="{9D8B030D-6E8A-4147-A177-3AD203B41FA5}">
                      <a16:colId xmlns:a16="http://schemas.microsoft.com/office/drawing/2014/main" val="20003"/>
                    </a:ext>
                  </a:extLst>
                </a:gridCol>
              </a:tblGrid>
              <a:tr h="630730">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绞合线类别</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带宽</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线缆特点</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典型应用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9140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a:t>
                      </a:r>
                      <a:endParaRPr lang="zh-CN" sz="2000" b="1">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16 MHz</a:t>
                      </a:r>
                      <a:endParaRPr lang="zh-CN" sz="2000" b="1">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000" b="1">
                          <a:solidFill>
                            <a:schemeClr val="tx1"/>
                          </a:solidFill>
                          <a:effectLst/>
                          <a:latin typeface="+mn-lt"/>
                          <a:ea typeface="黑体" panose="02010609060101010101" pitchFamily="2" charset="-122"/>
                        </a:rPr>
                        <a:t>2</a:t>
                      </a:r>
                      <a:r>
                        <a:rPr lang="zh-CN" sz="2000" b="1">
                          <a:solidFill>
                            <a:schemeClr val="tx1"/>
                          </a:solidFill>
                          <a:effectLst/>
                          <a:latin typeface="+mn-lt"/>
                          <a:ea typeface="黑体" panose="02010609060101010101" pitchFamily="2" charset="-122"/>
                        </a:rPr>
                        <a:t>对</a:t>
                      </a:r>
                      <a:r>
                        <a:rPr lang="en-US" sz="2000" b="1">
                          <a:solidFill>
                            <a:schemeClr val="tx1"/>
                          </a:solidFill>
                          <a:effectLst/>
                          <a:latin typeface="+mn-lt"/>
                          <a:ea typeface="黑体" panose="02010609060101010101" pitchFamily="2" charset="-122"/>
                        </a:rPr>
                        <a:t>4</a:t>
                      </a:r>
                      <a:r>
                        <a:rPr lang="zh-CN" sz="2000" b="1">
                          <a:solidFill>
                            <a:schemeClr val="tx1"/>
                          </a:solidFill>
                          <a:effectLst/>
                          <a:latin typeface="+mn-lt"/>
                          <a:ea typeface="黑体" panose="02010609060101010101" pitchFamily="2" charset="-122"/>
                        </a:rPr>
                        <a:t>芯双绞线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模拟电话；曾用于传统以太网（</a:t>
                      </a:r>
                      <a:r>
                        <a:rPr lang="en-US" sz="2000" b="1">
                          <a:solidFill>
                            <a:schemeClr val="tx1"/>
                          </a:solidFill>
                          <a:effectLst/>
                          <a:latin typeface="+mn-lt"/>
                          <a:ea typeface="黑体" panose="02010609060101010101" pitchFamily="2" charset="-122"/>
                        </a:rPr>
                        <a:t>10 Mbit/s</a:t>
                      </a:r>
                      <a:r>
                        <a:rPr lang="zh-CN" sz="2000" b="1">
                          <a:solidFill>
                            <a:schemeClr val="tx1"/>
                          </a:solidFill>
                          <a:effectLst/>
                          <a:latin typeface="+mn-lt"/>
                          <a:ea typeface="黑体" panose="02010609060101010101" pitchFamily="2" charset="-122"/>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31786">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20 MHz</a:t>
                      </a:r>
                      <a:endParaRPr lang="zh-CN" sz="2000" b="1">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000" b="1">
                          <a:solidFill>
                            <a:schemeClr val="tx1"/>
                          </a:solidFill>
                          <a:effectLst/>
                          <a:latin typeface="+mn-lt"/>
                          <a:ea typeface="黑体" panose="02010609060101010101" pitchFamily="2" charset="-122"/>
                        </a:rPr>
                        <a:t>4</a:t>
                      </a:r>
                      <a:r>
                        <a:rPr lang="zh-CN" sz="2000" b="1">
                          <a:solidFill>
                            <a:schemeClr val="tx1"/>
                          </a:solidFill>
                          <a:effectLst/>
                          <a:latin typeface="+mn-lt"/>
                          <a:ea typeface="黑体" panose="02010609060101010101" pitchFamily="2" charset="-122"/>
                        </a:rPr>
                        <a:t>对</a:t>
                      </a:r>
                      <a:r>
                        <a:rPr lang="en-US" sz="2000" b="1">
                          <a:solidFill>
                            <a:schemeClr val="tx1"/>
                          </a:solidFill>
                          <a:effectLst/>
                          <a:latin typeface="+mn-lt"/>
                          <a:ea typeface="黑体" panose="02010609060101010101" pitchFamily="2" charset="-122"/>
                        </a:rPr>
                        <a:t>8</a:t>
                      </a:r>
                      <a:r>
                        <a:rPr lang="zh-CN" sz="2000" b="1">
                          <a:solidFill>
                            <a:schemeClr val="tx1"/>
                          </a:solidFill>
                          <a:effectLst/>
                          <a:latin typeface="+mn-lt"/>
                          <a:ea typeface="黑体" panose="02010609060101010101" pitchFamily="2" charset="-122"/>
                        </a:rPr>
                        <a:t>芯双绞线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曾用于令牌局域网</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30730">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a:t>
                      </a:r>
                      <a:endParaRPr lang="zh-CN" sz="2000" b="1">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100 MHz</a:t>
                      </a:r>
                      <a:endParaRPr lang="zh-CN" sz="2000" b="1">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与</a:t>
                      </a:r>
                      <a:r>
                        <a:rPr lang="en-US" sz="2000" b="1">
                          <a:solidFill>
                            <a:schemeClr val="tx1"/>
                          </a:solidFill>
                          <a:effectLst/>
                          <a:latin typeface="+mn-lt"/>
                          <a:ea typeface="黑体" panose="02010609060101010101" pitchFamily="2" charset="-122"/>
                        </a:rPr>
                        <a:t>4</a:t>
                      </a:r>
                      <a:r>
                        <a:rPr lang="zh-CN" sz="2000" b="1">
                          <a:solidFill>
                            <a:schemeClr val="tx1"/>
                          </a:solidFill>
                          <a:effectLst/>
                          <a:latin typeface="+mn-lt"/>
                          <a:ea typeface="黑体" panose="02010609060101010101" pitchFamily="2" charset="-122"/>
                        </a:rPr>
                        <a:t>类相比增加了绞合度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传输速率不超过</a:t>
                      </a:r>
                      <a:r>
                        <a:rPr lang="en-US" sz="2000" b="1">
                          <a:solidFill>
                            <a:schemeClr val="tx1"/>
                          </a:solidFill>
                          <a:effectLst/>
                          <a:latin typeface="+mn-lt"/>
                          <a:ea typeface="黑体" panose="02010609060101010101" pitchFamily="2" charset="-122"/>
                        </a:rPr>
                        <a:t>100 Mbit/s</a:t>
                      </a:r>
                      <a:r>
                        <a:rPr lang="zh-CN" sz="2000" b="1">
                          <a:solidFill>
                            <a:schemeClr val="tx1"/>
                          </a:solidFill>
                          <a:effectLst/>
                          <a:latin typeface="+mn-lt"/>
                          <a:ea typeface="黑体" panose="02010609060101010101"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30730">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5E</a:t>
                      </a:r>
                      <a:r>
                        <a:rPr lang="zh-CN" sz="2000" b="1">
                          <a:solidFill>
                            <a:schemeClr val="tx1"/>
                          </a:solidFill>
                          <a:effectLst/>
                          <a:latin typeface="+mn-lt"/>
                          <a:ea typeface="黑体" panose="02010609060101010101" pitchFamily="2" charset="-122"/>
                        </a:rPr>
                        <a:t>（超</a:t>
                      </a:r>
                      <a:r>
                        <a:rPr lang="en-US" sz="2000" b="1">
                          <a:solidFill>
                            <a:schemeClr val="tx1"/>
                          </a:solidFill>
                          <a:effectLst/>
                          <a:latin typeface="+mn-lt"/>
                          <a:ea typeface="黑体" panose="02010609060101010101" pitchFamily="2" charset="-122"/>
                        </a:rPr>
                        <a:t>5</a:t>
                      </a:r>
                      <a:r>
                        <a:rPr lang="zh-CN" sz="2000" b="1">
                          <a:solidFill>
                            <a:schemeClr val="tx1"/>
                          </a:solidFill>
                          <a:effectLst/>
                          <a:latin typeface="+mn-lt"/>
                          <a:ea typeface="黑体" panose="02010609060101010101" pitchFamily="2" charset="-122"/>
                        </a:rPr>
                        <a:t>类）</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125 MHz</a:t>
                      </a:r>
                      <a:endParaRPr lang="zh-CN" sz="2000" b="1">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与</a:t>
                      </a:r>
                      <a:r>
                        <a:rPr lang="en-US" sz="2000" b="1">
                          <a:solidFill>
                            <a:schemeClr val="tx1"/>
                          </a:solidFill>
                          <a:effectLst/>
                          <a:latin typeface="+mn-lt"/>
                          <a:ea typeface="黑体" panose="02010609060101010101" pitchFamily="2" charset="-122"/>
                        </a:rPr>
                        <a:t>5</a:t>
                      </a:r>
                      <a:r>
                        <a:rPr lang="zh-CN" sz="2000" b="1">
                          <a:solidFill>
                            <a:schemeClr val="tx1"/>
                          </a:solidFill>
                          <a:effectLst/>
                          <a:latin typeface="+mn-lt"/>
                          <a:ea typeface="黑体" panose="02010609060101010101" pitchFamily="2" charset="-122"/>
                        </a:rPr>
                        <a:t>类相比衰减更小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传输速率不超过</a:t>
                      </a:r>
                      <a:r>
                        <a:rPr lang="en-US" sz="2000" b="1">
                          <a:solidFill>
                            <a:schemeClr val="tx1"/>
                          </a:solidFill>
                          <a:effectLst/>
                          <a:latin typeface="+mn-lt"/>
                          <a:ea typeface="黑体" panose="02010609060101010101" pitchFamily="2" charset="-122"/>
                        </a:rPr>
                        <a:t>1 Gbit/s</a:t>
                      </a:r>
                      <a:r>
                        <a:rPr lang="zh-CN" sz="2000" b="1">
                          <a:solidFill>
                            <a:schemeClr val="tx1"/>
                          </a:solidFill>
                          <a:effectLst/>
                          <a:latin typeface="+mn-lt"/>
                          <a:ea typeface="黑体" panose="02010609060101010101"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30730">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6</a:t>
                      </a:r>
                      <a:endParaRPr lang="zh-CN" sz="2000" b="1">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250 MHz</a:t>
                      </a:r>
                      <a:endParaRPr lang="zh-CN" sz="2000" b="1">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与</a:t>
                      </a:r>
                      <a:r>
                        <a:rPr lang="en-US" sz="2000" b="1">
                          <a:solidFill>
                            <a:schemeClr val="tx1"/>
                          </a:solidFill>
                          <a:effectLst/>
                          <a:latin typeface="+mn-lt"/>
                          <a:ea typeface="黑体" panose="02010609060101010101" pitchFamily="2" charset="-122"/>
                        </a:rPr>
                        <a:t>5</a:t>
                      </a:r>
                      <a:r>
                        <a:rPr lang="zh-CN" sz="2000" b="1">
                          <a:solidFill>
                            <a:schemeClr val="tx1"/>
                          </a:solidFill>
                          <a:effectLst/>
                          <a:latin typeface="+mn-lt"/>
                          <a:ea typeface="黑体" panose="02010609060101010101" pitchFamily="2" charset="-122"/>
                        </a:rPr>
                        <a:t>类相比改善了串扰等性能</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传输速率高于</a:t>
                      </a:r>
                      <a:r>
                        <a:rPr lang="en-US" sz="2000" b="1">
                          <a:solidFill>
                            <a:schemeClr val="tx1"/>
                          </a:solidFill>
                          <a:effectLst/>
                          <a:latin typeface="+mn-lt"/>
                          <a:ea typeface="黑体" panose="02010609060101010101" pitchFamily="2" charset="-122"/>
                        </a:rPr>
                        <a:t>1 Gbit/s</a:t>
                      </a:r>
                      <a:r>
                        <a:rPr lang="zh-CN" sz="2000" b="1">
                          <a:solidFill>
                            <a:schemeClr val="tx1"/>
                          </a:solidFill>
                          <a:effectLst/>
                          <a:latin typeface="+mn-lt"/>
                          <a:ea typeface="黑体" panose="02010609060101010101"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31786">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7</a:t>
                      </a:r>
                      <a:endParaRPr lang="zh-CN" sz="2000" b="1">
                        <a:solidFill>
                          <a:schemeClr val="tx1"/>
                        </a:solidFill>
                        <a:effectLst/>
                        <a:latin typeface="+mn-lt"/>
                        <a:ea typeface="黑体" panose="02010609060101010101"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600 MHz</a:t>
                      </a:r>
                      <a:endParaRPr lang="zh-CN" sz="2000" b="1">
                        <a:solidFill>
                          <a:schemeClr val="tx1"/>
                        </a:solidFill>
                        <a:effectLst/>
                        <a:latin typeface="+mn-lt"/>
                        <a:ea typeface="黑体" panose="0201060906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anose="02010609060101010101" pitchFamily="2" charset="-122"/>
                        </a:rPr>
                        <a:t>使用屏蔽双绞线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anose="02010609060101010101" pitchFamily="2" charset="-122"/>
                        </a:rPr>
                        <a:t>传输速率高于</a:t>
                      </a:r>
                      <a:r>
                        <a:rPr lang="en-US" sz="2000" b="1" dirty="0">
                          <a:solidFill>
                            <a:schemeClr val="tx1"/>
                          </a:solidFill>
                          <a:effectLst/>
                          <a:latin typeface="+mn-lt"/>
                          <a:ea typeface="黑体" panose="02010609060101010101" pitchFamily="2" charset="-122"/>
                        </a:rPr>
                        <a:t>10 </a:t>
                      </a:r>
                      <a:r>
                        <a:rPr lang="en-US" sz="2000" b="1" dirty="0" err="1">
                          <a:solidFill>
                            <a:schemeClr val="tx1"/>
                          </a:solidFill>
                          <a:effectLst/>
                          <a:latin typeface="+mn-lt"/>
                          <a:ea typeface="黑体" panose="02010609060101010101" pitchFamily="2" charset="-122"/>
                        </a:rPr>
                        <a:t>Gbit</a:t>
                      </a:r>
                      <a:r>
                        <a:rPr lang="en-US" sz="2000" b="1" dirty="0">
                          <a:solidFill>
                            <a:schemeClr val="tx1"/>
                          </a:solidFill>
                          <a:effectLst/>
                          <a:latin typeface="+mn-lt"/>
                          <a:ea typeface="黑体" panose="02010609060101010101" pitchFamily="2" charset="-122"/>
                        </a:rPr>
                        <a:t>/s</a:t>
                      </a:r>
                      <a:r>
                        <a:rPr lang="zh-CN" sz="2000" b="1" dirty="0">
                          <a:solidFill>
                            <a:schemeClr val="tx1"/>
                          </a:solidFill>
                          <a:effectLst/>
                          <a:latin typeface="+mn-lt"/>
                          <a:ea typeface="黑体" panose="02010609060101010101"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27693" name="矩形 3"/>
          <p:cNvSpPr>
            <a:spLocks noChangeArrowheads="1"/>
          </p:cNvSpPr>
          <p:nvPr/>
        </p:nvSpPr>
        <p:spPr bwMode="auto">
          <a:xfrm>
            <a:off x="2679700" y="1239838"/>
            <a:ext cx="5443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常用的绞合线的类别、带宽和典型应用</a:t>
            </a:r>
            <a:endParaRPr lang="zh-CN" altLang="en-US" sz="2400" b="1">
              <a:ea typeface="黑体" panose="02010609060101010101" pitchFamily="49" charset="-122"/>
            </a:endParaRPr>
          </a:p>
        </p:txBody>
      </p:sp>
      <p:sp>
        <p:nvSpPr>
          <p:cNvPr id="2769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E59AF3-BA2C-461C-9ED6-B045A79EF758}" type="slidenum">
              <a:rPr altLang="en-US" smtClean="0"/>
              <a:pPr/>
              <a:t>9</a:t>
            </a:fld>
            <a:endParaRPr lang="zh-CN" altLang="zh-CN" smtClean="0"/>
          </a:p>
        </p:txBody>
      </p:sp>
      <p:sp>
        <p:nvSpPr>
          <p:cNvPr id="27695"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2.3.1  </a:t>
            </a:r>
            <a:r>
              <a:rPr lang="zh-CN" altLang="en-US" smtClean="0">
                <a:ea typeface="黑体" panose="02010609060101010101" pitchFamily="49" charset="-122"/>
              </a:rPr>
              <a:t>导引型传输媒体</a:t>
            </a:r>
          </a:p>
        </p:txBody>
      </p:sp>
      <p:sp>
        <p:nvSpPr>
          <p:cNvPr id="29699" name="Rectangle 3"/>
          <p:cNvSpPr>
            <a:spLocks noGrp="1" noChangeArrowheads="1"/>
          </p:cNvSpPr>
          <p:nvPr>
            <p:ph idx="1"/>
          </p:nvPr>
        </p:nvSpPr>
        <p:spPr>
          <a:xfrm>
            <a:off x="495300" y="1196975"/>
            <a:ext cx="9066213" cy="4933950"/>
          </a:xfrm>
        </p:spPr>
        <p:txBody>
          <a:bodyPr/>
          <a:lstStyle/>
          <a:p>
            <a:pPr eaLnBrk="1" hangingPunct="1">
              <a:lnSpc>
                <a:spcPct val="100000"/>
              </a:lnSpc>
            </a:pPr>
            <a:r>
              <a:rPr lang="zh-CN" altLang="en-US" smtClean="0">
                <a:solidFill>
                  <a:srgbClr val="FF0000"/>
                </a:solidFill>
                <a:ea typeface="黑体" panose="02010609060101010101" pitchFamily="49" charset="-122"/>
              </a:rPr>
              <a:t>同轴电缆</a:t>
            </a:r>
          </a:p>
          <a:p>
            <a:pPr lvl="1" eaLnBrk="1" hangingPunct="1">
              <a:lnSpc>
                <a:spcPct val="100000"/>
              </a:lnSpc>
            </a:pPr>
            <a:r>
              <a:rPr lang="zh-CN" altLang="zh-CN" smtClean="0">
                <a:ea typeface="黑体" panose="02010609060101010101" pitchFamily="49" charset="-122"/>
              </a:rPr>
              <a:t>同轴电缆具有很好的抗干扰特性，被广泛用于传输较高速率的数据</a:t>
            </a:r>
            <a:r>
              <a:rPr lang="zh-CN" altLang="en-US" smtClean="0">
                <a:ea typeface="黑体" panose="02010609060101010101" pitchFamily="49" charset="-122"/>
              </a:rPr>
              <a:t>。</a:t>
            </a:r>
            <a:endParaRPr lang="en-US" altLang="zh-CN" smtClean="0">
              <a:ea typeface="黑体" panose="02010609060101010101" pitchFamily="49" charset="-122"/>
            </a:endParaRPr>
          </a:p>
          <a:p>
            <a:pPr lvl="1" eaLnBrk="1" hangingPunct="1">
              <a:lnSpc>
                <a:spcPct val="100000"/>
              </a:lnSpc>
            </a:pPr>
            <a:r>
              <a:rPr lang="zh-CN" altLang="zh-CN" smtClean="0">
                <a:ea typeface="黑体" panose="02010609060101010101" pitchFamily="49" charset="-122"/>
              </a:rPr>
              <a:t>同轴电缆的带宽取决于电缆的质量</a:t>
            </a:r>
            <a:r>
              <a:rPr lang="zh-CN" altLang="en-US" smtClean="0">
                <a:ea typeface="黑体" panose="02010609060101010101" pitchFamily="49" charset="-122"/>
              </a:rPr>
              <a:t>。</a:t>
            </a:r>
            <a:endParaRPr lang="en-US" altLang="zh-CN" smtClean="0">
              <a:solidFill>
                <a:srgbClr val="0000CC"/>
              </a:solidFill>
              <a:ea typeface="黑体" panose="02010609060101010101" pitchFamily="49" charset="-122"/>
            </a:endParaRPr>
          </a:p>
          <a:p>
            <a:pPr lvl="1" eaLnBrk="1" hangingPunct="1">
              <a:lnSpc>
                <a:spcPct val="100000"/>
              </a:lnSpc>
            </a:pPr>
            <a:r>
              <a:rPr lang="en-US" altLang="zh-CN" smtClean="0">
                <a:solidFill>
                  <a:srgbClr val="FF0000"/>
                </a:solidFill>
                <a:ea typeface="黑体" panose="02010609060101010101" pitchFamily="49" charset="-122"/>
              </a:rPr>
              <a:t>50</a:t>
            </a:r>
            <a:r>
              <a:rPr lang="en-US" altLang="zh-CN" sz="1600" smtClean="0">
                <a:solidFill>
                  <a:srgbClr val="FF0000"/>
                </a:solidFill>
                <a:ea typeface="黑体" panose="02010609060101010101" pitchFamily="49" charset="-122"/>
              </a:rPr>
              <a:t> </a:t>
            </a:r>
            <a:r>
              <a:rPr lang="en-US" altLang="zh-CN" smtClean="0">
                <a:solidFill>
                  <a:srgbClr val="FF0000"/>
                </a:solidFill>
                <a:ea typeface="黑体" panose="02010609060101010101" pitchFamily="49" charset="-122"/>
                <a:sym typeface="Symbol" panose="05050102010706020507" pitchFamily="18" charset="2"/>
              </a:rPr>
              <a:t></a:t>
            </a:r>
            <a:r>
              <a:rPr lang="en-US" altLang="zh-CN" sz="1400" smtClean="0">
                <a:solidFill>
                  <a:srgbClr val="FF0000"/>
                </a:solidFill>
                <a:ea typeface="黑体" panose="02010609060101010101" pitchFamily="49" charset="-122"/>
              </a:rPr>
              <a:t> </a:t>
            </a:r>
            <a:r>
              <a:rPr lang="zh-CN" altLang="en-US" smtClean="0">
                <a:solidFill>
                  <a:srgbClr val="FF0000"/>
                </a:solidFill>
                <a:ea typeface="黑体" panose="02010609060101010101" pitchFamily="49" charset="-122"/>
              </a:rPr>
              <a:t>同轴电缆 </a:t>
            </a:r>
            <a:r>
              <a:rPr lang="en-US" altLang="zh-CN" smtClean="0">
                <a:solidFill>
                  <a:srgbClr val="0000CC"/>
                </a:solidFill>
                <a:ea typeface="黑体" panose="02010609060101010101" pitchFamily="49" charset="-122"/>
              </a:rPr>
              <a:t>—— LAN / </a:t>
            </a:r>
            <a:r>
              <a:rPr lang="zh-CN" altLang="en-US" smtClean="0">
                <a:solidFill>
                  <a:srgbClr val="0000CC"/>
                </a:solidFill>
                <a:ea typeface="黑体" panose="02010609060101010101" pitchFamily="49" charset="-122"/>
              </a:rPr>
              <a:t>数字传输常用</a:t>
            </a:r>
          </a:p>
          <a:p>
            <a:pPr lvl="1" eaLnBrk="1" hangingPunct="1">
              <a:lnSpc>
                <a:spcPct val="100000"/>
              </a:lnSpc>
            </a:pPr>
            <a:r>
              <a:rPr lang="en-US" altLang="zh-CN" smtClean="0">
                <a:solidFill>
                  <a:srgbClr val="FF0000"/>
                </a:solidFill>
                <a:ea typeface="黑体" panose="02010609060101010101" pitchFamily="49" charset="-122"/>
              </a:rPr>
              <a:t>75</a:t>
            </a:r>
            <a:r>
              <a:rPr lang="en-US" altLang="zh-CN" sz="1600" smtClean="0">
                <a:solidFill>
                  <a:srgbClr val="FF0000"/>
                </a:solidFill>
                <a:ea typeface="黑体" panose="02010609060101010101" pitchFamily="49" charset="-122"/>
              </a:rPr>
              <a:t> </a:t>
            </a:r>
            <a:r>
              <a:rPr lang="en-US" altLang="zh-CN" smtClean="0">
                <a:solidFill>
                  <a:srgbClr val="FF0000"/>
                </a:solidFill>
                <a:ea typeface="黑体" panose="02010609060101010101" pitchFamily="49" charset="-122"/>
                <a:sym typeface="Symbol" panose="05050102010706020507" pitchFamily="18" charset="2"/>
              </a:rPr>
              <a:t></a:t>
            </a:r>
            <a:r>
              <a:rPr lang="en-US" altLang="zh-CN" sz="1400" smtClean="0">
                <a:solidFill>
                  <a:srgbClr val="FF0000"/>
                </a:solidFill>
                <a:ea typeface="黑体" panose="02010609060101010101" pitchFamily="49" charset="-122"/>
              </a:rPr>
              <a:t> </a:t>
            </a:r>
            <a:r>
              <a:rPr lang="zh-CN" altLang="en-US" smtClean="0">
                <a:solidFill>
                  <a:srgbClr val="FF0000"/>
                </a:solidFill>
                <a:ea typeface="黑体" panose="02010609060101010101" pitchFamily="49" charset="-122"/>
              </a:rPr>
              <a:t>同轴电缆 </a:t>
            </a:r>
            <a:r>
              <a:rPr lang="en-US" altLang="zh-CN" smtClean="0">
                <a:solidFill>
                  <a:srgbClr val="0000CC"/>
                </a:solidFill>
                <a:ea typeface="黑体" panose="02010609060101010101" pitchFamily="49" charset="-122"/>
              </a:rPr>
              <a:t>—— </a:t>
            </a:r>
            <a:r>
              <a:rPr lang="zh-CN" altLang="en-US" smtClean="0">
                <a:solidFill>
                  <a:srgbClr val="0000CC"/>
                </a:solidFill>
                <a:ea typeface="黑体" panose="02010609060101010101" pitchFamily="49" charset="-122"/>
              </a:rPr>
              <a:t>有线电视 </a:t>
            </a:r>
            <a:r>
              <a:rPr lang="en-US" altLang="zh-CN" smtClean="0">
                <a:solidFill>
                  <a:srgbClr val="0000CC"/>
                </a:solidFill>
                <a:ea typeface="黑体" panose="02010609060101010101" pitchFamily="49" charset="-122"/>
              </a:rPr>
              <a:t>/ </a:t>
            </a:r>
            <a:r>
              <a:rPr lang="zh-CN" altLang="en-US" smtClean="0">
                <a:solidFill>
                  <a:srgbClr val="0000CC"/>
                </a:solidFill>
                <a:ea typeface="黑体" panose="02010609060101010101" pitchFamily="49" charset="-122"/>
              </a:rPr>
              <a:t>模拟传输常用</a:t>
            </a:r>
          </a:p>
        </p:txBody>
      </p:sp>
      <p:grpSp>
        <p:nvGrpSpPr>
          <p:cNvPr id="29700" name="组合 1"/>
          <p:cNvGrpSpPr>
            <a:grpSpLocks/>
          </p:cNvGrpSpPr>
          <p:nvPr/>
        </p:nvGrpSpPr>
        <p:grpSpPr bwMode="auto">
          <a:xfrm>
            <a:off x="2000250" y="4365625"/>
            <a:ext cx="6265863" cy="1389063"/>
            <a:chOff x="2505075" y="4067175"/>
            <a:chExt cx="4972050" cy="1280769"/>
          </a:xfrm>
        </p:grpSpPr>
        <p:pic>
          <p:nvPicPr>
            <p:cNvPr id="29704" name="Picture 3" descr="D:\1xxr\1paper\Cable\222.gif"/>
            <p:cNvPicPr>
              <a:picLocks noChangeAspect="1" noChangeArrowheads="1"/>
            </p:cNvPicPr>
            <p:nvPr/>
          </p:nvPicPr>
          <p:blipFill>
            <a:blip r:embed="rId3">
              <a:extLst>
                <a:ext uri="{28A0092B-C50C-407E-A947-70E740481C1C}">
                  <a14:useLocalDpi xmlns:a14="http://schemas.microsoft.com/office/drawing/2010/main" val="0"/>
                </a:ext>
              </a:extLst>
            </a:blip>
            <a:srcRect t="37741" r="21053" b="25261"/>
            <a:stretch>
              <a:fillRect/>
            </a:stretch>
          </p:blipFill>
          <p:spPr bwMode="auto">
            <a:xfrm>
              <a:off x="2505075" y="4408015"/>
              <a:ext cx="4114800" cy="939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5" name="Text Box 4"/>
            <p:cNvSpPr txBox="1">
              <a:spLocks noChangeArrowheads="1"/>
            </p:cNvSpPr>
            <p:nvPr/>
          </p:nvSpPr>
          <p:spPr bwMode="auto">
            <a:xfrm>
              <a:off x="6645275" y="4699000"/>
              <a:ext cx="831850" cy="36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内导体</a:t>
              </a:r>
            </a:p>
          </p:txBody>
        </p:sp>
        <p:sp>
          <p:nvSpPr>
            <p:cNvPr id="29706" name="Text Box 5"/>
            <p:cNvSpPr txBox="1">
              <a:spLocks noChangeArrowheads="1"/>
            </p:cNvSpPr>
            <p:nvPr/>
          </p:nvSpPr>
          <p:spPr bwMode="auto">
            <a:xfrm>
              <a:off x="4481513" y="4090988"/>
              <a:ext cx="1730376" cy="3686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外导体屏蔽层</a:t>
              </a:r>
            </a:p>
          </p:txBody>
        </p:sp>
        <p:sp>
          <p:nvSpPr>
            <p:cNvPr id="29707" name="Text Box 6"/>
            <p:cNvSpPr txBox="1">
              <a:spLocks noChangeArrowheads="1"/>
            </p:cNvSpPr>
            <p:nvPr/>
          </p:nvSpPr>
          <p:spPr bwMode="auto">
            <a:xfrm>
              <a:off x="6284913" y="4067175"/>
              <a:ext cx="963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绝缘层</a:t>
              </a:r>
            </a:p>
          </p:txBody>
        </p:sp>
        <p:sp>
          <p:nvSpPr>
            <p:cNvPr id="29708" name="Text Box 7"/>
            <p:cNvSpPr txBox="1">
              <a:spLocks noChangeArrowheads="1"/>
            </p:cNvSpPr>
            <p:nvPr/>
          </p:nvSpPr>
          <p:spPr bwMode="auto">
            <a:xfrm>
              <a:off x="2825751" y="4111625"/>
              <a:ext cx="1655762" cy="3686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绝缘保护套层</a:t>
              </a:r>
            </a:p>
          </p:txBody>
        </p:sp>
        <p:sp>
          <p:nvSpPr>
            <p:cNvPr id="29709" name="Rectangle 9"/>
            <p:cNvSpPr>
              <a:spLocks noChangeArrowheads="1"/>
            </p:cNvSpPr>
            <p:nvPr/>
          </p:nvSpPr>
          <p:spPr bwMode="auto">
            <a:xfrm>
              <a:off x="6276975" y="5005105"/>
              <a:ext cx="517525" cy="2762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400" b="1">
                <a:solidFill>
                  <a:srgbClr val="000099"/>
                </a:solidFill>
                <a:ea typeface="黑体" panose="02010609060101010101" pitchFamily="49" charset="-122"/>
              </a:endParaRPr>
            </a:p>
          </p:txBody>
        </p:sp>
      </p:grpSp>
      <p:sp>
        <p:nvSpPr>
          <p:cNvPr id="29701" name="矩形 2"/>
          <p:cNvSpPr>
            <a:spLocks noChangeArrowheads="1"/>
          </p:cNvSpPr>
          <p:nvPr/>
        </p:nvSpPr>
        <p:spPr bwMode="auto">
          <a:xfrm>
            <a:off x="2405063" y="5786438"/>
            <a:ext cx="467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同轴电缆的结构</a:t>
            </a:r>
            <a:endParaRPr lang="zh-CN" altLang="en-US" sz="2400" b="1">
              <a:ea typeface="黑体" panose="02010609060101010101" pitchFamily="49" charset="-122"/>
            </a:endParaRPr>
          </a:p>
        </p:txBody>
      </p:sp>
      <p:sp>
        <p:nvSpPr>
          <p:cNvPr id="29702" name="灯片编号占位符 1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95B007C-9FF7-4DA2-959A-7C466932292B}" type="slidenum">
              <a:rPr altLang="en-US" smtClean="0"/>
              <a:pPr/>
              <a:t>10</a:t>
            </a:fld>
            <a:endParaRPr lang="zh-CN" altLang="zh-CN" smtClean="0"/>
          </a:p>
        </p:txBody>
      </p:sp>
      <p:sp>
        <p:nvSpPr>
          <p:cNvPr id="29703" name="页脚占位符 1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2.3.1  </a:t>
            </a:r>
            <a:r>
              <a:rPr lang="zh-CN" altLang="en-US" smtClean="0">
                <a:ea typeface="黑体" panose="02010609060101010101" pitchFamily="49" charset="-122"/>
              </a:rPr>
              <a:t>导引型传输媒体</a:t>
            </a:r>
          </a:p>
        </p:txBody>
      </p:sp>
      <p:sp>
        <p:nvSpPr>
          <p:cNvPr id="31747" name="内容占位符 2"/>
          <p:cNvSpPr>
            <a:spLocks noGrp="1" noChangeArrowheads="1"/>
          </p:cNvSpPr>
          <p:nvPr>
            <p:ph idx="1"/>
          </p:nvPr>
        </p:nvSpPr>
        <p:spPr>
          <a:xfrm>
            <a:off x="495300" y="1196975"/>
            <a:ext cx="9066213" cy="4933950"/>
          </a:xfrm>
        </p:spPr>
        <p:txBody>
          <a:bodyPr/>
          <a:lstStyle/>
          <a:p>
            <a:pPr eaLnBrk="1" hangingPunct="1"/>
            <a:r>
              <a:rPr lang="zh-CN" altLang="en-US" dirty="0" smtClean="0">
                <a:solidFill>
                  <a:srgbClr val="FF0000"/>
                </a:solidFill>
                <a:ea typeface="黑体" panose="02010609060101010101" pitchFamily="49" charset="-122"/>
              </a:rPr>
              <a:t>光缆</a:t>
            </a:r>
            <a:endParaRPr lang="en-US" altLang="zh-CN" dirty="0" smtClean="0">
              <a:solidFill>
                <a:srgbClr val="FF0000"/>
              </a:solidFill>
              <a:ea typeface="黑体" panose="02010609060101010101" pitchFamily="49" charset="-122"/>
            </a:endParaRPr>
          </a:p>
          <a:p>
            <a:pPr lvl="1" eaLnBrk="1" hangingPunct="1"/>
            <a:r>
              <a:rPr lang="zh-CN" altLang="en-US" dirty="0" smtClean="0">
                <a:ea typeface="黑体" panose="02010609060101010101" pitchFamily="49" charset="-122"/>
              </a:rPr>
              <a:t>由光纤组成，几十上百光纤组成光缆。</a:t>
            </a:r>
            <a:endParaRPr lang="en-US" altLang="zh-CN" dirty="0" smtClean="0">
              <a:ea typeface="黑体" panose="02010609060101010101" pitchFamily="49" charset="-122"/>
            </a:endParaRPr>
          </a:p>
          <a:p>
            <a:pPr lvl="1" eaLnBrk="1" hangingPunct="1"/>
            <a:r>
              <a:rPr lang="zh-CN" altLang="zh-CN" dirty="0">
                <a:ea typeface="黑体" panose="02010609060101010101" pitchFamily="49" charset="-122"/>
              </a:rPr>
              <a:t>光纤是光纤通信的传输媒体</a:t>
            </a:r>
            <a:r>
              <a:rPr lang="zh-CN" altLang="en-US" dirty="0" smtClean="0">
                <a:ea typeface="黑体" panose="02010609060101010101" pitchFamily="49" charset="-122"/>
              </a:rPr>
              <a:t>，透明玻璃拉成细丝，</a:t>
            </a:r>
            <a:r>
              <a:rPr lang="en-US" altLang="zh-CN" dirty="0" smtClean="0">
                <a:ea typeface="黑体" panose="02010609060101010101" pitchFamily="49" charset="-122"/>
              </a:rPr>
              <a:t>8-100</a:t>
            </a:r>
            <a:r>
              <a:rPr lang="zh-CN" altLang="en-US" dirty="0" smtClean="0">
                <a:ea typeface="黑体" panose="02010609060101010101" pitchFamily="49" charset="-122"/>
              </a:rPr>
              <a:t>微米。发送端需要有光源，接收端需要有光检测器。</a:t>
            </a:r>
            <a:endParaRPr lang="en-US" altLang="zh-CN" dirty="0" smtClean="0">
              <a:ea typeface="黑体" panose="02010609060101010101" pitchFamily="49" charset="-122"/>
            </a:endParaRPr>
          </a:p>
          <a:p>
            <a:pPr lvl="1" eaLnBrk="1" hangingPunct="1"/>
            <a:r>
              <a:rPr lang="zh-CN" altLang="zh-CN" dirty="0" smtClean="0">
                <a:ea typeface="黑体" panose="02010609060101010101" pitchFamily="49" charset="-122"/>
              </a:rPr>
              <a:t>由于可见光的频率非常高，约为</a:t>
            </a:r>
            <a:r>
              <a:rPr lang="en-US" altLang="zh-CN" dirty="0" smtClean="0">
                <a:ea typeface="黑体" panose="02010609060101010101" pitchFamily="49" charset="-122"/>
              </a:rPr>
              <a:t> 10</a:t>
            </a:r>
            <a:r>
              <a:rPr lang="en-US" altLang="zh-CN" baseline="30000" dirty="0" smtClean="0">
                <a:ea typeface="黑体" panose="02010609060101010101" pitchFamily="49" charset="-122"/>
              </a:rPr>
              <a:t>8</a:t>
            </a:r>
            <a:r>
              <a:rPr lang="en-US" altLang="zh-CN" dirty="0" smtClean="0">
                <a:ea typeface="黑体" panose="02010609060101010101" pitchFamily="49" charset="-122"/>
              </a:rPr>
              <a:t> MHz </a:t>
            </a:r>
            <a:r>
              <a:rPr lang="zh-CN" altLang="zh-CN" dirty="0" smtClean="0">
                <a:ea typeface="黑体" panose="02010609060101010101" pitchFamily="49" charset="-122"/>
              </a:rPr>
              <a:t>的量级，因此一个光纤通信系统的传输带宽远远大于目前其他各种传输媒体的带宽</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eaLnBrk="1" hangingPunct="1"/>
            <a:endParaRPr lang="zh-CN" altLang="en-US" dirty="0" smtClean="0">
              <a:ea typeface="黑体" panose="02010609060101010101" pitchFamily="49" charset="-122"/>
            </a:endParaRPr>
          </a:p>
        </p:txBody>
      </p:sp>
      <p:sp>
        <p:nvSpPr>
          <p:cNvPr id="31748" name="AutoShape 8" descr="http://img3.imgtn.bdimg.com/it/u=2687704668,3138418309&amp;fm=21&amp;gp=0.jp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31749" name="AutoShape 10" descr="http://img3.imgtn.bdimg.com/it/u=2687704668,3138418309&amp;fm=21&amp;gp=0.jpg"/>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3175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158C3E-105F-4E24-AB11-F2AE1E67A46A}" type="slidenum">
              <a:rPr altLang="en-US" smtClean="0"/>
              <a:pPr/>
              <a:t>11</a:t>
            </a:fld>
            <a:endParaRPr lang="zh-CN" altLang="zh-CN" smtClean="0"/>
          </a:p>
        </p:txBody>
      </p:sp>
      <p:sp>
        <p:nvSpPr>
          <p:cNvPr id="31751"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ctr" eaLnBrk="1" hangingPunct="1"/>
            <a:r>
              <a:rPr lang="zh-CN" altLang="en-US" smtClean="0">
                <a:ea typeface="黑体" panose="02010609060101010101" pitchFamily="49" charset="-122"/>
              </a:rPr>
              <a:t>光线在光纤中的折射 </a:t>
            </a:r>
          </a:p>
        </p:txBody>
      </p:sp>
      <p:grpSp>
        <p:nvGrpSpPr>
          <p:cNvPr id="32771" name="组合 2"/>
          <p:cNvGrpSpPr>
            <a:grpSpLocks/>
          </p:cNvGrpSpPr>
          <p:nvPr/>
        </p:nvGrpSpPr>
        <p:grpSpPr bwMode="auto">
          <a:xfrm>
            <a:off x="776288" y="1268413"/>
            <a:ext cx="8713787" cy="2974975"/>
            <a:chOff x="776536" y="1484784"/>
            <a:chExt cx="8712968" cy="2974836"/>
          </a:xfrm>
        </p:grpSpPr>
        <p:sp>
          <p:nvSpPr>
            <p:cNvPr id="32776" name="Arc 84"/>
            <p:cNvSpPr>
              <a:spLocks noChangeArrowheads="1"/>
            </p:cNvSpPr>
            <p:nvPr/>
          </p:nvSpPr>
          <p:spPr bwMode="auto">
            <a:xfrm rot="9720000">
              <a:off x="3682984" y="3278659"/>
              <a:ext cx="104908" cy="79375"/>
            </a:xfrm>
            <a:custGeom>
              <a:avLst/>
              <a:gdLst>
                <a:gd name="T0" fmla="*/ -5 w 21600"/>
                <a:gd name="T1" fmla="*/ 0 h 21600"/>
                <a:gd name="T2" fmla="*/ 104908 w 21600"/>
                <a:gd name="T3" fmla="*/ 79375 h 21600"/>
                <a:gd name="T4" fmla="*/ -5 w 21600"/>
                <a:gd name="T5" fmla="*/ 0 h 21600"/>
                <a:gd name="T6" fmla="*/ 104908 w 21600"/>
                <a:gd name="T7" fmla="*/ 79375 h 21600"/>
                <a:gd name="T8" fmla="*/ 0 w 21600"/>
                <a:gd name="T9" fmla="*/ 79375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rnd">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2777" name="Group 85"/>
            <p:cNvGrpSpPr>
              <a:grpSpLocks/>
            </p:cNvGrpSpPr>
            <p:nvPr/>
          </p:nvGrpSpPr>
          <p:grpSpPr bwMode="auto">
            <a:xfrm>
              <a:off x="3167047" y="2459508"/>
              <a:ext cx="3190214" cy="488950"/>
              <a:chOff x="292" y="1032"/>
              <a:chExt cx="1732" cy="216"/>
            </a:xfrm>
          </p:grpSpPr>
          <p:grpSp>
            <p:nvGrpSpPr>
              <p:cNvPr id="32814" name="Group 86"/>
              <p:cNvGrpSpPr>
                <a:grpSpLocks/>
              </p:cNvGrpSpPr>
              <p:nvPr/>
            </p:nvGrpSpPr>
            <p:grpSpPr bwMode="auto">
              <a:xfrm>
                <a:off x="292" y="1032"/>
                <a:ext cx="1732" cy="216"/>
                <a:chOff x="292" y="1032"/>
                <a:chExt cx="1732" cy="216"/>
              </a:xfrm>
            </p:grpSpPr>
            <p:sp>
              <p:nvSpPr>
                <p:cNvPr id="32816" name="Line 87"/>
                <p:cNvSpPr>
                  <a:spLocks noChangeShapeType="1"/>
                </p:cNvSpPr>
                <p:nvPr/>
              </p:nvSpPr>
              <p:spPr bwMode="auto">
                <a:xfrm>
                  <a:off x="292" y="1032"/>
                  <a:ext cx="17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7" name="Line 88"/>
                <p:cNvSpPr>
                  <a:spLocks noChangeShapeType="1"/>
                </p:cNvSpPr>
                <p:nvPr/>
              </p:nvSpPr>
              <p:spPr bwMode="auto">
                <a:xfrm>
                  <a:off x="292" y="1248"/>
                  <a:ext cx="17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815" name="Rectangle 89"/>
              <p:cNvSpPr>
                <a:spLocks noChangeArrowheads="1"/>
              </p:cNvSpPr>
              <p:nvPr/>
            </p:nvSpPr>
            <p:spPr bwMode="auto">
              <a:xfrm>
                <a:off x="296" y="1041"/>
                <a:ext cx="1716" cy="198"/>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grpSp>
        <p:grpSp>
          <p:nvGrpSpPr>
            <p:cNvPr id="32778" name="Group 90"/>
            <p:cNvGrpSpPr>
              <a:grpSpLocks/>
            </p:cNvGrpSpPr>
            <p:nvPr/>
          </p:nvGrpSpPr>
          <p:grpSpPr bwMode="auto">
            <a:xfrm>
              <a:off x="3153289" y="3881908"/>
              <a:ext cx="3167856" cy="436562"/>
              <a:chOff x="284" y="1656"/>
              <a:chExt cx="1720" cy="192"/>
            </a:xfrm>
          </p:grpSpPr>
          <p:grpSp>
            <p:nvGrpSpPr>
              <p:cNvPr id="32810" name="Group 91"/>
              <p:cNvGrpSpPr>
                <a:grpSpLocks/>
              </p:cNvGrpSpPr>
              <p:nvPr/>
            </p:nvGrpSpPr>
            <p:grpSpPr bwMode="auto">
              <a:xfrm>
                <a:off x="284" y="1656"/>
                <a:ext cx="1720" cy="192"/>
                <a:chOff x="284" y="1656"/>
                <a:chExt cx="1720" cy="192"/>
              </a:xfrm>
            </p:grpSpPr>
            <p:sp>
              <p:nvSpPr>
                <p:cNvPr id="32812" name="Line 92"/>
                <p:cNvSpPr>
                  <a:spLocks noChangeShapeType="1"/>
                </p:cNvSpPr>
                <p:nvPr/>
              </p:nvSpPr>
              <p:spPr bwMode="auto">
                <a:xfrm>
                  <a:off x="284" y="1656"/>
                  <a:ext cx="17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3" name="Line 93"/>
                <p:cNvSpPr>
                  <a:spLocks noChangeShapeType="1"/>
                </p:cNvSpPr>
                <p:nvPr/>
              </p:nvSpPr>
              <p:spPr bwMode="auto">
                <a:xfrm>
                  <a:off x="284" y="1848"/>
                  <a:ext cx="17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811" name="Rectangle 94"/>
              <p:cNvSpPr>
                <a:spLocks noChangeArrowheads="1"/>
              </p:cNvSpPr>
              <p:nvPr/>
            </p:nvSpPr>
            <p:spPr bwMode="auto">
              <a:xfrm>
                <a:off x="288" y="1664"/>
                <a:ext cx="1704" cy="176"/>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grpSp>
        <p:sp>
          <p:nvSpPr>
            <p:cNvPr id="32779" name="Line 95"/>
            <p:cNvSpPr>
              <a:spLocks noChangeShapeType="1"/>
            </p:cNvSpPr>
            <p:nvPr/>
          </p:nvSpPr>
          <p:spPr bwMode="auto">
            <a:xfrm>
              <a:off x="3808529" y="1930870"/>
              <a:ext cx="0" cy="193198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0" name="Line 96"/>
            <p:cNvSpPr>
              <a:spLocks noChangeShapeType="1"/>
            </p:cNvSpPr>
            <p:nvPr/>
          </p:nvSpPr>
          <p:spPr bwMode="auto">
            <a:xfrm flipV="1">
              <a:off x="3815409" y="2596034"/>
              <a:ext cx="428228" cy="365125"/>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1" name="Line 97"/>
            <p:cNvSpPr>
              <a:spLocks noChangeShapeType="1"/>
            </p:cNvSpPr>
            <p:nvPr/>
          </p:nvSpPr>
          <p:spPr bwMode="auto">
            <a:xfrm flipV="1">
              <a:off x="3492087" y="2951633"/>
              <a:ext cx="316442" cy="749300"/>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2" name="Arc 98"/>
            <p:cNvSpPr>
              <a:spLocks noChangeArrowheads="1"/>
            </p:cNvSpPr>
            <p:nvPr/>
          </p:nvSpPr>
          <p:spPr bwMode="auto">
            <a:xfrm>
              <a:off x="3811970" y="2700809"/>
              <a:ext cx="154781" cy="123825"/>
            </a:xfrm>
            <a:custGeom>
              <a:avLst/>
              <a:gdLst>
                <a:gd name="T0" fmla="*/ -7 w 21600"/>
                <a:gd name="T1" fmla="*/ 0 h 21600"/>
                <a:gd name="T2" fmla="*/ 154781 w 21600"/>
                <a:gd name="T3" fmla="*/ 123825 h 21600"/>
                <a:gd name="T4" fmla="*/ -7 w 21600"/>
                <a:gd name="T5" fmla="*/ 0 h 21600"/>
                <a:gd name="T6" fmla="*/ 154781 w 21600"/>
                <a:gd name="T7" fmla="*/ 123825 h 21600"/>
                <a:gd name="T8" fmla="*/ 0 w 21600"/>
                <a:gd name="T9" fmla="*/ 123825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rnd">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783" name="Line 99"/>
            <p:cNvSpPr>
              <a:spLocks noChangeShapeType="1"/>
            </p:cNvSpPr>
            <p:nvPr/>
          </p:nvSpPr>
          <p:spPr bwMode="auto">
            <a:xfrm>
              <a:off x="5237676" y="1949920"/>
              <a:ext cx="0" cy="193198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4" name="Line 100"/>
            <p:cNvSpPr>
              <a:spLocks noChangeShapeType="1"/>
            </p:cNvSpPr>
            <p:nvPr/>
          </p:nvSpPr>
          <p:spPr bwMode="auto">
            <a:xfrm flipV="1">
              <a:off x="4405297" y="2951634"/>
              <a:ext cx="844418" cy="346075"/>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5" name="Line 101"/>
            <p:cNvSpPr>
              <a:spLocks noChangeShapeType="1"/>
            </p:cNvSpPr>
            <p:nvPr/>
          </p:nvSpPr>
          <p:spPr bwMode="auto">
            <a:xfrm>
              <a:off x="5244555" y="2951633"/>
              <a:ext cx="966523" cy="355600"/>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6" name="Arc 102"/>
            <p:cNvSpPr>
              <a:spLocks noChangeArrowheads="1"/>
            </p:cNvSpPr>
            <p:nvPr/>
          </p:nvSpPr>
          <p:spPr bwMode="auto">
            <a:xfrm rot="9840000">
              <a:off x="4936713" y="3054821"/>
              <a:ext cx="256248" cy="328613"/>
            </a:xfrm>
            <a:custGeom>
              <a:avLst/>
              <a:gdLst>
                <a:gd name="T0" fmla="*/ -12 w 21600"/>
                <a:gd name="T1" fmla="*/ 0 h 21600"/>
                <a:gd name="T2" fmla="*/ 256248 w 21600"/>
                <a:gd name="T3" fmla="*/ 328613 h 21600"/>
                <a:gd name="T4" fmla="*/ -12 w 21600"/>
                <a:gd name="T5" fmla="*/ 0 h 21600"/>
                <a:gd name="T6" fmla="*/ 256248 w 21600"/>
                <a:gd name="T7" fmla="*/ 328613 h 21600"/>
                <a:gd name="T8" fmla="*/ 0 w 21600"/>
                <a:gd name="T9" fmla="*/ 328613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787" name="Freeform 103"/>
            <p:cNvSpPr>
              <a:spLocks noChangeArrowheads="1"/>
            </p:cNvSpPr>
            <p:nvPr/>
          </p:nvSpPr>
          <p:spPr bwMode="auto">
            <a:xfrm>
              <a:off x="3027745" y="2500783"/>
              <a:ext cx="166819" cy="1820862"/>
            </a:xfrm>
            <a:custGeom>
              <a:avLst/>
              <a:gdLst>
                <a:gd name="T0" fmla="*/ 142988 w 91"/>
                <a:gd name="T1" fmla="*/ 0 h 799"/>
                <a:gd name="T2" fmla="*/ 142988 w 91"/>
                <a:gd name="T3" fmla="*/ 41021 h 799"/>
                <a:gd name="T4" fmla="*/ 142988 w 91"/>
                <a:gd name="T5" fmla="*/ 82041 h 799"/>
                <a:gd name="T6" fmla="*/ 109991 w 91"/>
                <a:gd name="T7" fmla="*/ 123062 h 799"/>
                <a:gd name="T8" fmla="*/ 109991 w 91"/>
                <a:gd name="T9" fmla="*/ 164083 h 799"/>
                <a:gd name="T10" fmla="*/ 98991 w 91"/>
                <a:gd name="T11" fmla="*/ 205103 h 799"/>
                <a:gd name="T12" fmla="*/ 98991 w 91"/>
                <a:gd name="T13" fmla="*/ 246124 h 799"/>
                <a:gd name="T14" fmla="*/ 131989 w 91"/>
                <a:gd name="T15" fmla="*/ 287145 h 799"/>
                <a:gd name="T16" fmla="*/ 164986 w 91"/>
                <a:gd name="T17" fmla="*/ 328165 h 799"/>
                <a:gd name="T18" fmla="*/ 164986 w 91"/>
                <a:gd name="T19" fmla="*/ 369186 h 799"/>
                <a:gd name="T20" fmla="*/ 164986 w 91"/>
                <a:gd name="T21" fmla="*/ 410207 h 799"/>
                <a:gd name="T22" fmla="*/ 164986 w 91"/>
                <a:gd name="T23" fmla="*/ 451227 h 799"/>
                <a:gd name="T24" fmla="*/ 153987 w 91"/>
                <a:gd name="T25" fmla="*/ 451227 h 799"/>
                <a:gd name="T26" fmla="*/ 120990 w 91"/>
                <a:gd name="T27" fmla="*/ 478574 h 799"/>
                <a:gd name="T28" fmla="*/ 87992 w 91"/>
                <a:gd name="T29" fmla="*/ 519595 h 799"/>
                <a:gd name="T30" fmla="*/ 65994 w 91"/>
                <a:gd name="T31" fmla="*/ 560616 h 799"/>
                <a:gd name="T32" fmla="*/ 32997 w 91"/>
                <a:gd name="T33" fmla="*/ 587963 h 799"/>
                <a:gd name="T34" fmla="*/ 21998 w 91"/>
                <a:gd name="T35" fmla="*/ 628984 h 799"/>
                <a:gd name="T36" fmla="*/ 21998 w 91"/>
                <a:gd name="T37" fmla="*/ 670004 h 799"/>
                <a:gd name="T38" fmla="*/ 21998 w 91"/>
                <a:gd name="T39" fmla="*/ 711025 h 799"/>
                <a:gd name="T40" fmla="*/ 21998 w 91"/>
                <a:gd name="T41" fmla="*/ 752046 h 799"/>
                <a:gd name="T42" fmla="*/ 0 w 91"/>
                <a:gd name="T43" fmla="*/ 793066 h 799"/>
                <a:gd name="T44" fmla="*/ 0 w 91"/>
                <a:gd name="T45" fmla="*/ 834087 h 799"/>
                <a:gd name="T46" fmla="*/ 0 w 91"/>
                <a:gd name="T47" fmla="*/ 875108 h 799"/>
                <a:gd name="T48" fmla="*/ 0 w 91"/>
                <a:gd name="T49" fmla="*/ 916128 h 799"/>
                <a:gd name="T50" fmla="*/ 0 w 91"/>
                <a:gd name="T51" fmla="*/ 957149 h 799"/>
                <a:gd name="T52" fmla="*/ 0 w 91"/>
                <a:gd name="T53" fmla="*/ 998170 h 799"/>
                <a:gd name="T54" fmla="*/ 32997 w 91"/>
                <a:gd name="T55" fmla="*/ 1025517 h 799"/>
                <a:gd name="T56" fmla="*/ 65994 w 91"/>
                <a:gd name="T57" fmla="*/ 1052864 h 799"/>
                <a:gd name="T58" fmla="*/ 98991 w 91"/>
                <a:gd name="T59" fmla="*/ 1080211 h 799"/>
                <a:gd name="T60" fmla="*/ 109991 w 91"/>
                <a:gd name="T61" fmla="*/ 1121232 h 799"/>
                <a:gd name="T62" fmla="*/ 142988 w 91"/>
                <a:gd name="T63" fmla="*/ 1162252 h 799"/>
                <a:gd name="T64" fmla="*/ 153987 w 91"/>
                <a:gd name="T65" fmla="*/ 1203273 h 799"/>
                <a:gd name="T66" fmla="*/ 164986 w 91"/>
                <a:gd name="T67" fmla="*/ 1244294 h 799"/>
                <a:gd name="T68" fmla="*/ 164986 w 91"/>
                <a:gd name="T69" fmla="*/ 1285314 h 799"/>
                <a:gd name="T70" fmla="*/ 164986 w 91"/>
                <a:gd name="T71" fmla="*/ 1326335 h 799"/>
                <a:gd name="T72" fmla="*/ 164986 w 91"/>
                <a:gd name="T73" fmla="*/ 1367356 h 799"/>
                <a:gd name="T74" fmla="*/ 131989 w 91"/>
                <a:gd name="T75" fmla="*/ 1367356 h 799"/>
                <a:gd name="T76" fmla="*/ 120990 w 91"/>
                <a:gd name="T77" fmla="*/ 1408376 h 799"/>
                <a:gd name="T78" fmla="*/ 109991 w 91"/>
                <a:gd name="T79" fmla="*/ 1449397 h 799"/>
                <a:gd name="T80" fmla="*/ 98991 w 91"/>
                <a:gd name="T81" fmla="*/ 1490418 h 799"/>
                <a:gd name="T82" fmla="*/ 87992 w 91"/>
                <a:gd name="T83" fmla="*/ 1531438 h 799"/>
                <a:gd name="T84" fmla="*/ 87992 w 91"/>
                <a:gd name="T85" fmla="*/ 1572459 h 799"/>
                <a:gd name="T86" fmla="*/ 87992 w 91"/>
                <a:gd name="T87" fmla="*/ 1613480 h 799"/>
                <a:gd name="T88" fmla="*/ 87992 w 91"/>
                <a:gd name="T89" fmla="*/ 1654500 h 799"/>
                <a:gd name="T90" fmla="*/ 87992 w 91"/>
                <a:gd name="T91" fmla="*/ 1695521 h 799"/>
                <a:gd name="T92" fmla="*/ 98991 w 91"/>
                <a:gd name="T93" fmla="*/ 1736542 h 799"/>
                <a:gd name="T94" fmla="*/ 109991 w 91"/>
                <a:gd name="T95" fmla="*/ 1777562 h 799"/>
                <a:gd name="T96" fmla="*/ 131989 w 91"/>
                <a:gd name="T97" fmla="*/ 1818583 h 799"/>
                <a:gd name="T98" fmla="*/ 131989 w 91"/>
                <a:gd name="T99" fmla="*/ 1804910 h 799"/>
                <a:gd name="T100" fmla="*/ 131989 w 91"/>
                <a:gd name="T101" fmla="*/ 1791236 h 7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88" name="Rectangle 104"/>
            <p:cNvSpPr>
              <a:spLocks noChangeArrowheads="1"/>
            </p:cNvSpPr>
            <p:nvPr/>
          </p:nvSpPr>
          <p:spPr bwMode="auto">
            <a:xfrm>
              <a:off x="4835245" y="1484784"/>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折射角</a:t>
              </a:r>
            </a:p>
          </p:txBody>
        </p:sp>
        <p:sp>
          <p:nvSpPr>
            <p:cNvPr id="32789" name="Rectangle 105"/>
            <p:cNvSpPr>
              <a:spLocks noChangeArrowheads="1"/>
            </p:cNvSpPr>
            <p:nvPr/>
          </p:nvSpPr>
          <p:spPr bwMode="auto">
            <a:xfrm>
              <a:off x="3944888" y="3463503"/>
              <a:ext cx="118837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入射角</a:t>
              </a:r>
            </a:p>
          </p:txBody>
        </p:sp>
        <p:sp>
          <p:nvSpPr>
            <p:cNvPr id="32790" name="Line 106"/>
            <p:cNvSpPr>
              <a:spLocks noChangeShapeType="1"/>
            </p:cNvSpPr>
            <p:nvPr/>
          </p:nvSpPr>
          <p:spPr bwMode="auto">
            <a:xfrm>
              <a:off x="5333984" y="2003896"/>
              <a:ext cx="128985" cy="7207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1" name="Line 107"/>
            <p:cNvSpPr>
              <a:spLocks noChangeShapeType="1"/>
            </p:cNvSpPr>
            <p:nvPr/>
          </p:nvSpPr>
          <p:spPr bwMode="auto">
            <a:xfrm flipV="1">
              <a:off x="3896238" y="1959445"/>
              <a:ext cx="1135063" cy="768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2" name="Line 108"/>
            <p:cNvSpPr>
              <a:spLocks noChangeShapeType="1"/>
            </p:cNvSpPr>
            <p:nvPr/>
          </p:nvSpPr>
          <p:spPr bwMode="auto">
            <a:xfrm>
              <a:off x="3728864" y="3356992"/>
              <a:ext cx="323321" cy="2555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3" name="Line 109"/>
            <p:cNvSpPr>
              <a:spLocks noChangeShapeType="1"/>
            </p:cNvSpPr>
            <p:nvPr/>
          </p:nvSpPr>
          <p:spPr bwMode="auto">
            <a:xfrm flipV="1">
              <a:off x="4773332" y="3297709"/>
              <a:ext cx="270008" cy="31908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4" name="Line 110"/>
            <p:cNvSpPr>
              <a:spLocks noChangeShapeType="1"/>
            </p:cNvSpPr>
            <p:nvPr/>
          </p:nvSpPr>
          <p:spPr bwMode="auto">
            <a:xfrm flipV="1">
              <a:off x="6259232" y="3061171"/>
              <a:ext cx="658681" cy="32861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5" name="Line 111"/>
            <p:cNvSpPr>
              <a:spLocks noChangeShapeType="1"/>
            </p:cNvSpPr>
            <p:nvPr/>
          </p:nvSpPr>
          <p:spPr bwMode="auto">
            <a:xfrm flipH="1">
              <a:off x="6104451" y="2029296"/>
              <a:ext cx="543454" cy="7080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6" name="Freeform 112"/>
            <p:cNvSpPr>
              <a:spLocks noChangeArrowheads="1"/>
            </p:cNvSpPr>
            <p:nvPr/>
          </p:nvSpPr>
          <p:spPr bwMode="auto">
            <a:xfrm>
              <a:off x="6343503" y="2473796"/>
              <a:ext cx="24077" cy="493713"/>
            </a:xfrm>
            <a:custGeom>
              <a:avLst/>
              <a:gdLst>
                <a:gd name="T0" fmla="*/ 0 w 13"/>
                <a:gd name="T1" fmla="*/ 0 h 217"/>
                <a:gd name="T2" fmla="*/ 11112 w 13"/>
                <a:gd name="T3" fmla="*/ 40953 h 217"/>
                <a:gd name="T4" fmla="*/ 11112 w 13"/>
                <a:gd name="T5" fmla="*/ 81906 h 217"/>
                <a:gd name="T6" fmla="*/ 11112 w 13"/>
                <a:gd name="T7" fmla="*/ 122859 h 217"/>
                <a:gd name="T8" fmla="*/ 11112 w 13"/>
                <a:gd name="T9" fmla="*/ 163813 h 217"/>
                <a:gd name="T10" fmla="*/ 11112 w 13"/>
                <a:gd name="T11" fmla="*/ 204766 h 217"/>
                <a:gd name="T12" fmla="*/ 0 w 13"/>
                <a:gd name="T13" fmla="*/ 245719 h 217"/>
                <a:gd name="T14" fmla="*/ 0 w 13"/>
                <a:gd name="T15" fmla="*/ 286672 h 217"/>
                <a:gd name="T16" fmla="*/ 0 w 13"/>
                <a:gd name="T17" fmla="*/ 327625 h 217"/>
                <a:gd name="T18" fmla="*/ 0 w 13"/>
                <a:gd name="T19" fmla="*/ 368578 h 217"/>
                <a:gd name="T20" fmla="*/ 0 w 13"/>
                <a:gd name="T21" fmla="*/ 409532 h 217"/>
                <a:gd name="T22" fmla="*/ 11112 w 13"/>
                <a:gd name="T23" fmla="*/ 450485 h 217"/>
                <a:gd name="T24" fmla="*/ 22225 w 13"/>
                <a:gd name="T25" fmla="*/ 491438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97" name="Freeform 113"/>
            <p:cNvSpPr>
              <a:spLocks noChangeArrowheads="1"/>
            </p:cNvSpPr>
            <p:nvPr/>
          </p:nvSpPr>
          <p:spPr bwMode="auto">
            <a:xfrm>
              <a:off x="6310826" y="2951633"/>
              <a:ext cx="89429" cy="919162"/>
            </a:xfrm>
            <a:custGeom>
              <a:avLst/>
              <a:gdLst>
                <a:gd name="T0" fmla="*/ 32851 w 49"/>
                <a:gd name="T1" fmla="*/ 0 h 403"/>
                <a:gd name="T2" fmla="*/ 21901 w 49"/>
                <a:gd name="T3" fmla="*/ 41054 h 403"/>
                <a:gd name="T4" fmla="*/ 21901 w 49"/>
                <a:gd name="T5" fmla="*/ 82109 h 403"/>
                <a:gd name="T6" fmla="*/ 21901 w 49"/>
                <a:gd name="T7" fmla="*/ 123163 h 403"/>
                <a:gd name="T8" fmla="*/ 21901 w 49"/>
                <a:gd name="T9" fmla="*/ 164218 h 403"/>
                <a:gd name="T10" fmla="*/ 43802 w 49"/>
                <a:gd name="T11" fmla="*/ 205272 h 403"/>
                <a:gd name="T12" fmla="*/ 43802 w 49"/>
                <a:gd name="T13" fmla="*/ 246326 h 403"/>
                <a:gd name="T14" fmla="*/ 54752 w 49"/>
                <a:gd name="T15" fmla="*/ 287381 h 403"/>
                <a:gd name="T16" fmla="*/ 65703 w 49"/>
                <a:gd name="T17" fmla="*/ 328435 h 403"/>
                <a:gd name="T18" fmla="*/ 65703 w 49"/>
                <a:gd name="T19" fmla="*/ 369489 h 403"/>
                <a:gd name="T20" fmla="*/ 87604 w 49"/>
                <a:gd name="T21" fmla="*/ 410544 h 403"/>
                <a:gd name="T22" fmla="*/ 87604 w 49"/>
                <a:gd name="T23" fmla="*/ 451598 h 403"/>
                <a:gd name="T24" fmla="*/ 87604 w 49"/>
                <a:gd name="T25" fmla="*/ 492653 h 403"/>
                <a:gd name="T26" fmla="*/ 87604 w 49"/>
                <a:gd name="T27" fmla="*/ 533707 h 403"/>
                <a:gd name="T28" fmla="*/ 87604 w 49"/>
                <a:gd name="T29" fmla="*/ 574761 h 403"/>
                <a:gd name="T30" fmla="*/ 87604 w 49"/>
                <a:gd name="T31" fmla="*/ 615816 h 403"/>
                <a:gd name="T32" fmla="*/ 76653 w 49"/>
                <a:gd name="T33" fmla="*/ 656870 h 403"/>
                <a:gd name="T34" fmla="*/ 65703 w 49"/>
                <a:gd name="T35" fmla="*/ 697924 h 403"/>
                <a:gd name="T36" fmla="*/ 54752 w 49"/>
                <a:gd name="T37" fmla="*/ 738979 h 403"/>
                <a:gd name="T38" fmla="*/ 32851 w 49"/>
                <a:gd name="T39" fmla="*/ 780033 h 403"/>
                <a:gd name="T40" fmla="*/ 21901 w 49"/>
                <a:gd name="T41" fmla="*/ 834772 h 403"/>
                <a:gd name="T42" fmla="*/ 21901 w 49"/>
                <a:gd name="T43" fmla="*/ 875827 h 403"/>
                <a:gd name="T44" fmla="*/ 0 w 49"/>
                <a:gd name="T45" fmla="*/ 916881 h 403"/>
                <a:gd name="T46" fmla="*/ 0 w 49"/>
                <a:gd name="T47" fmla="*/ 916881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98" name="Freeform 114"/>
            <p:cNvSpPr>
              <a:spLocks noChangeArrowheads="1"/>
            </p:cNvSpPr>
            <p:nvPr/>
          </p:nvSpPr>
          <p:spPr bwMode="auto">
            <a:xfrm>
              <a:off x="6288469" y="3867621"/>
              <a:ext cx="24077" cy="454025"/>
            </a:xfrm>
            <a:custGeom>
              <a:avLst/>
              <a:gdLst>
                <a:gd name="T0" fmla="*/ 22225 w 13"/>
                <a:gd name="T1" fmla="*/ 0 h 199"/>
                <a:gd name="T2" fmla="*/ 22225 w 13"/>
                <a:gd name="T3" fmla="*/ 41068 h 199"/>
                <a:gd name="T4" fmla="*/ 22225 w 13"/>
                <a:gd name="T5" fmla="*/ 82135 h 199"/>
                <a:gd name="T6" fmla="*/ 22225 w 13"/>
                <a:gd name="T7" fmla="*/ 123203 h 199"/>
                <a:gd name="T8" fmla="*/ 22225 w 13"/>
                <a:gd name="T9" fmla="*/ 164270 h 199"/>
                <a:gd name="T10" fmla="*/ 22225 w 13"/>
                <a:gd name="T11" fmla="*/ 205338 h 199"/>
                <a:gd name="T12" fmla="*/ 22225 w 13"/>
                <a:gd name="T13" fmla="*/ 246406 h 199"/>
                <a:gd name="T14" fmla="*/ 22225 w 13"/>
                <a:gd name="T15" fmla="*/ 287473 h 199"/>
                <a:gd name="T16" fmla="*/ 22225 w 13"/>
                <a:gd name="T17" fmla="*/ 328541 h 199"/>
                <a:gd name="T18" fmla="*/ 22225 w 13"/>
                <a:gd name="T19" fmla="*/ 369608 h 199"/>
                <a:gd name="T20" fmla="*/ 11112 w 13"/>
                <a:gd name="T21" fmla="*/ 410676 h 199"/>
                <a:gd name="T22" fmla="*/ 0 w 13"/>
                <a:gd name="T23" fmla="*/ 451743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99" name="Arc 115"/>
            <p:cNvSpPr>
              <a:spLocks noChangeArrowheads="1"/>
            </p:cNvSpPr>
            <p:nvPr/>
          </p:nvSpPr>
          <p:spPr bwMode="auto">
            <a:xfrm rot="540000">
              <a:off x="5230797" y="2689696"/>
              <a:ext cx="383514" cy="346075"/>
            </a:xfrm>
            <a:custGeom>
              <a:avLst/>
              <a:gdLst>
                <a:gd name="T0" fmla="*/ -18 w 21600"/>
                <a:gd name="T1" fmla="*/ 0 h 21600"/>
                <a:gd name="T2" fmla="*/ 383514 w 21600"/>
                <a:gd name="T3" fmla="*/ 346075 h 21600"/>
                <a:gd name="T4" fmla="*/ -18 w 21600"/>
                <a:gd name="T5" fmla="*/ 0 h 21600"/>
                <a:gd name="T6" fmla="*/ 383514 w 21600"/>
                <a:gd name="T7" fmla="*/ 346075 h 21600"/>
                <a:gd name="T8" fmla="*/ 0 w 21600"/>
                <a:gd name="T9" fmla="*/ 346075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00" name="Text Box 116"/>
            <p:cNvSpPr txBox="1">
              <a:spLocks noChangeArrowheads="1"/>
            </p:cNvSpPr>
            <p:nvPr/>
          </p:nvSpPr>
          <p:spPr bwMode="auto">
            <a:xfrm>
              <a:off x="6334903" y="1592734"/>
              <a:ext cx="25074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包层</a:t>
              </a:r>
            </a:p>
            <a:p>
              <a:r>
                <a:rPr lang="zh-CN" altLang="en-US" sz="2000" b="1">
                  <a:solidFill>
                    <a:srgbClr val="000099"/>
                  </a:solidFill>
                  <a:ea typeface="黑体" panose="02010609060101010101" pitchFamily="49" charset="-122"/>
                </a:rPr>
                <a:t>（低折射率的媒体）</a:t>
              </a:r>
            </a:p>
          </p:txBody>
        </p:sp>
        <p:sp>
          <p:nvSpPr>
            <p:cNvPr id="32801" name="Line 117"/>
            <p:cNvSpPr>
              <a:spLocks noChangeShapeType="1"/>
            </p:cNvSpPr>
            <p:nvPr/>
          </p:nvSpPr>
          <p:spPr bwMode="auto">
            <a:xfrm flipH="1">
              <a:off x="6082094" y="4045420"/>
              <a:ext cx="706834" cy="10953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2" name="Text Box 118"/>
            <p:cNvSpPr txBox="1">
              <a:spLocks noChangeArrowheads="1"/>
            </p:cNvSpPr>
            <p:nvPr/>
          </p:nvSpPr>
          <p:spPr bwMode="auto">
            <a:xfrm>
              <a:off x="6647905" y="3751734"/>
              <a:ext cx="25074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包层</a:t>
              </a:r>
            </a:p>
            <a:p>
              <a:r>
                <a:rPr lang="zh-CN" altLang="en-US" sz="2000" b="1">
                  <a:solidFill>
                    <a:srgbClr val="000099"/>
                  </a:solidFill>
                  <a:ea typeface="黑体" panose="02010609060101010101" pitchFamily="49" charset="-122"/>
                </a:rPr>
                <a:t>（低折射率的媒体）</a:t>
              </a:r>
            </a:p>
          </p:txBody>
        </p:sp>
        <p:sp>
          <p:nvSpPr>
            <p:cNvPr id="32803" name="Text Box 119"/>
            <p:cNvSpPr txBox="1">
              <a:spLocks noChangeArrowheads="1"/>
            </p:cNvSpPr>
            <p:nvPr/>
          </p:nvSpPr>
          <p:spPr bwMode="auto">
            <a:xfrm>
              <a:off x="6725296" y="2676996"/>
              <a:ext cx="276420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纤芯</a:t>
              </a:r>
            </a:p>
            <a:p>
              <a:r>
                <a:rPr lang="zh-CN" altLang="en-US" sz="2000" b="1">
                  <a:solidFill>
                    <a:srgbClr val="000099"/>
                  </a:solidFill>
                  <a:ea typeface="黑体" panose="02010609060101010101" pitchFamily="49" charset="-122"/>
                </a:rPr>
                <a:t>（高折射率的媒体）            </a:t>
              </a:r>
            </a:p>
          </p:txBody>
        </p:sp>
        <p:sp>
          <p:nvSpPr>
            <p:cNvPr id="32804" name="AutoShape 120"/>
            <p:cNvSpPr>
              <a:spLocks noChangeArrowheads="1"/>
            </p:cNvSpPr>
            <p:nvPr/>
          </p:nvSpPr>
          <p:spPr bwMode="auto">
            <a:xfrm rot="5400000">
              <a:off x="541256" y="2682088"/>
              <a:ext cx="1885950" cy="1415389"/>
            </a:xfrm>
            <a:prstGeom prst="can">
              <a:avLst>
                <a:gd name="adj" fmla="val 29815"/>
              </a:avLst>
            </a:prstGeom>
            <a:gradFill rotWithShape="1">
              <a:gsLst>
                <a:gs pos="0">
                  <a:srgbClr val="2F7676"/>
                </a:gs>
                <a:gs pos="50000">
                  <a:srgbClr val="66FFFF"/>
                </a:gs>
                <a:gs pos="100000">
                  <a:srgbClr val="2F7676"/>
                </a:gs>
              </a:gsLst>
              <a:lin ang="0" scaled="1"/>
            </a:gradFill>
            <a:ln w="12700">
              <a:solidFill>
                <a:srgbClr val="333399"/>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32805" name="AutoShape 121"/>
            <p:cNvSpPr>
              <a:spLocks noChangeArrowheads="1"/>
            </p:cNvSpPr>
            <p:nvPr/>
          </p:nvSpPr>
          <p:spPr bwMode="auto">
            <a:xfrm rot="5400000">
              <a:off x="1828784" y="3062493"/>
              <a:ext cx="901700" cy="708554"/>
            </a:xfrm>
            <a:prstGeom prst="can">
              <a:avLst>
                <a:gd name="adj" fmla="val 27343"/>
              </a:avLst>
            </a:prstGeom>
            <a:solidFill>
              <a:srgbClr val="FFFFFF"/>
            </a:solidFill>
            <a:ln w="12700">
              <a:solidFill>
                <a:srgbClr val="333399"/>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32806" name="Text Box 122"/>
            <p:cNvSpPr txBox="1">
              <a:spLocks noChangeArrowheads="1"/>
            </p:cNvSpPr>
            <p:nvPr/>
          </p:nvSpPr>
          <p:spPr bwMode="auto">
            <a:xfrm>
              <a:off x="1218523" y="148954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包层</a:t>
              </a:r>
            </a:p>
          </p:txBody>
        </p:sp>
        <p:sp>
          <p:nvSpPr>
            <p:cNvPr id="32807" name="Line 123"/>
            <p:cNvSpPr>
              <a:spLocks noChangeShapeType="1"/>
            </p:cNvSpPr>
            <p:nvPr/>
          </p:nvSpPr>
          <p:spPr bwMode="auto">
            <a:xfrm flipH="1">
              <a:off x="1572800" y="2076920"/>
              <a:ext cx="3440" cy="65563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8" name="Text Box 124"/>
            <p:cNvSpPr txBox="1">
              <a:spLocks noChangeArrowheads="1"/>
            </p:cNvSpPr>
            <p:nvPr/>
          </p:nvSpPr>
          <p:spPr bwMode="auto">
            <a:xfrm>
              <a:off x="2191925" y="1857846"/>
              <a:ext cx="7549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纤芯</a:t>
              </a:r>
            </a:p>
          </p:txBody>
        </p:sp>
        <p:sp>
          <p:nvSpPr>
            <p:cNvPr id="32809" name="Line 125"/>
            <p:cNvSpPr>
              <a:spLocks noChangeShapeType="1"/>
            </p:cNvSpPr>
            <p:nvPr/>
          </p:nvSpPr>
          <p:spPr bwMode="auto">
            <a:xfrm flipH="1">
              <a:off x="2186765" y="2295996"/>
              <a:ext cx="270008" cy="87471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772" name="矩形 3"/>
          <p:cNvSpPr>
            <a:spLocks noChangeArrowheads="1"/>
          </p:cNvSpPr>
          <p:nvPr/>
        </p:nvSpPr>
        <p:spPr bwMode="auto">
          <a:xfrm>
            <a:off x="2289175" y="4365625"/>
            <a:ext cx="4862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光线在光纤中的折射</a:t>
            </a:r>
            <a:endParaRPr lang="zh-CN" altLang="en-US" sz="2400" b="1">
              <a:ea typeface="黑体" panose="02010609060101010101" pitchFamily="49" charset="-122"/>
            </a:endParaRPr>
          </a:p>
        </p:txBody>
      </p:sp>
      <p:sp>
        <p:nvSpPr>
          <p:cNvPr id="32773" name="矩形 4"/>
          <p:cNvSpPr>
            <a:spLocks noChangeArrowheads="1"/>
          </p:cNvSpPr>
          <p:nvPr/>
        </p:nvSpPr>
        <p:spPr bwMode="auto">
          <a:xfrm>
            <a:off x="776288" y="4941888"/>
            <a:ext cx="8713787" cy="1384300"/>
          </a:xfrm>
          <a:prstGeom prst="rect">
            <a:avLst/>
          </a:prstGeom>
          <a:solidFill>
            <a:srgbClr val="FFFF66"/>
          </a:solidFill>
          <a:ln w="9525">
            <a:solidFill>
              <a:srgbClr val="000066"/>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zh-CN" sz="2800" b="1" dirty="0">
                <a:solidFill>
                  <a:srgbClr val="000099"/>
                </a:solidFill>
                <a:ea typeface="黑体" panose="02010609060101010101" pitchFamily="49" charset="-122"/>
              </a:rPr>
              <a:t>当光线从高折射率的媒体射向低折射率的媒体时，其折射角将大于入射角。因此，如果</a:t>
            </a:r>
            <a:r>
              <a:rPr lang="zh-CN" altLang="zh-CN" sz="2800" b="1" dirty="0">
                <a:solidFill>
                  <a:srgbClr val="FF0000"/>
                </a:solidFill>
                <a:ea typeface="黑体" panose="02010609060101010101" pitchFamily="49" charset="-122"/>
              </a:rPr>
              <a:t>入射角足够大</a:t>
            </a:r>
            <a:r>
              <a:rPr lang="zh-CN" altLang="zh-CN" sz="2800" b="1" dirty="0">
                <a:solidFill>
                  <a:srgbClr val="000099"/>
                </a:solidFill>
                <a:ea typeface="黑体" panose="02010609060101010101" pitchFamily="49" charset="-122"/>
              </a:rPr>
              <a:t>，就会出现</a:t>
            </a:r>
            <a:r>
              <a:rPr lang="zh-CN" altLang="zh-CN" sz="2800" b="1" dirty="0">
                <a:solidFill>
                  <a:srgbClr val="FF0000"/>
                </a:solidFill>
                <a:ea typeface="黑体" panose="02010609060101010101" pitchFamily="49" charset="-122"/>
              </a:rPr>
              <a:t>全反射</a:t>
            </a:r>
            <a:r>
              <a:rPr lang="zh-CN" altLang="en-US" sz="2800" b="1" dirty="0">
                <a:solidFill>
                  <a:srgbClr val="000099"/>
                </a:solidFill>
                <a:ea typeface="黑体" panose="02010609060101010101" pitchFamily="49" charset="-122"/>
              </a:rPr>
              <a:t>，</a:t>
            </a:r>
            <a:r>
              <a:rPr lang="zh-CN" altLang="zh-CN" sz="2800" b="1" dirty="0">
                <a:solidFill>
                  <a:srgbClr val="000099"/>
                </a:solidFill>
                <a:ea typeface="黑体" panose="02010609060101010101" pitchFamily="49" charset="-122"/>
              </a:rPr>
              <a:t>光也就沿着光纤传输下去</a:t>
            </a:r>
            <a:r>
              <a:rPr lang="zh-CN" altLang="en-US" sz="2800" b="1" dirty="0">
                <a:solidFill>
                  <a:srgbClr val="000099"/>
                </a:solidFill>
                <a:ea typeface="黑体" panose="02010609060101010101" pitchFamily="49" charset="-122"/>
              </a:rPr>
              <a:t>。</a:t>
            </a:r>
          </a:p>
        </p:txBody>
      </p:sp>
      <p:sp>
        <p:nvSpPr>
          <p:cNvPr id="32774"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6375EE5-FBC0-4DB5-A7B9-CB3C33BCB4CF}" type="slidenum">
              <a:rPr altLang="en-US" smtClean="0"/>
              <a:pPr/>
              <a:t>12</a:t>
            </a:fld>
            <a:endParaRPr lang="zh-CN" altLang="zh-CN" smtClean="0"/>
          </a:p>
        </p:txBody>
      </p:sp>
      <p:sp>
        <p:nvSpPr>
          <p:cNvPr id="32775"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eaLnBrk="1" hangingPunct="1"/>
            <a:r>
              <a:rPr lang="zh-CN" altLang="en-US" smtClean="0">
                <a:ea typeface="黑体" panose="02010609060101010101" pitchFamily="49" charset="-122"/>
              </a:rPr>
              <a:t>光纤的工作原理</a:t>
            </a:r>
          </a:p>
        </p:txBody>
      </p:sp>
      <p:grpSp>
        <p:nvGrpSpPr>
          <p:cNvPr id="34819" name="组合 1"/>
          <p:cNvGrpSpPr>
            <a:grpSpLocks/>
          </p:cNvGrpSpPr>
          <p:nvPr/>
        </p:nvGrpSpPr>
        <p:grpSpPr bwMode="auto">
          <a:xfrm>
            <a:off x="981075" y="1268413"/>
            <a:ext cx="7643813" cy="2016125"/>
            <a:chOff x="741231" y="1989139"/>
            <a:chExt cx="7644474" cy="2016125"/>
          </a:xfrm>
        </p:grpSpPr>
        <p:sp>
          <p:nvSpPr>
            <p:cNvPr id="34825" name="Rectangle 3"/>
            <p:cNvSpPr>
              <a:spLocks noChangeArrowheads="1"/>
            </p:cNvSpPr>
            <p:nvPr/>
          </p:nvSpPr>
          <p:spPr bwMode="auto">
            <a:xfrm>
              <a:off x="2884091" y="3170239"/>
              <a:ext cx="5298678" cy="2444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sp>
          <p:nvSpPr>
            <p:cNvPr id="34826" name="Rectangle 4"/>
            <p:cNvSpPr>
              <a:spLocks noChangeArrowheads="1"/>
            </p:cNvSpPr>
            <p:nvPr/>
          </p:nvSpPr>
          <p:spPr bwMode="auto">
            <a:xfrm>
              <a:off x="2884091" y="3414713"/>
              <a:ext cx="5298678" cy="3444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sp>
          <p:nvSpPr>
            <p:cNvPr id="34827" name="Rectangle 5"/>
            <p:cNvSpPr>
              <a:spLocks noChangeArrowheads="1"/>
            </p:cNvSpPr>
            <p:nvPr/>
          </p:nvSpPr>
          <p:spPr bwMode="auto">
            <a:xfrm>
              <a:off x="2884091" y="3759201"/>
              <a:ext cx="5298678" cy="24606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sp>
          <p:nvSpPr>
            <p:cNvPr id="34828" name="AutoShape 6"/>
            <p:cNvSpPr>
              <a:spLocks noChangeArrowheads="1"/>
            </p:cNvSpPr>
            <p:nvPr/>
          </p:nvSpPr>
          <p:spPr bwMode="auto">
            <a:xfrm rot="5400000">
              <a:off x="1524132" y="3116528"/>
              <a:ext cx="835025" cy="942446"/>
            </a:xfrm>
            <a:prstGeom prst="can">
              <a:avLst>
                <a:gd name="adj" fmla="val 26048"/>
              </a:avLst>
            </a:prstGeom>
            <a:gradFill rotWithShape="1">
              <a:gsLst>
                <a:gs pos="0">
                  <a:srgbClr val="666666"/>
                </a:gs>
                <a:gs pos="50000">
                  <a:srgbClr val="DDDDDD"/>
                </a:gs>
                <a:gs pos="100000">
                  <a:srgbClr val="666666"/>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sp>
          <p:nvSpPr>
            <p:cNvPr id="34829" name="AutoShape 7"/>
            <p:cNvSpPr>
              <a:spLocks noChangeArrowheads="1"/>
            </p:cNvSpPr>
            <p:nvPr/>
          </p:nvSpPr>
          <p:spPr bwMode="auto">
            <a:xfrm rot="5400000">
              <a:off x="2299097" y="3351344"/>
              <a:ext cx="344487" cy="471223"/>
            </a:xfrm>
            <a:prstGeom prst="can">
              <a:avLst>
                <a:gd name="adj" fmla="val 20708"/>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宋体" panose="02010600030101010101" pitchFamily="2" charset="-122"/>
              </a:endParaRPr>
            </a:p>
          </p:txBody>
        </p:sp>
        <p:grpSp>
          <p:nvGrpSpPr>
            <p:cNvPr id="34830" name="Group 8"/>
            <p:cNvGrpSpPr>
              <a:grpSpLocks/>
            </p:cNvGrpSpPr>
            <p:nvPr/>
          </p:nvGrpSpPr>
          <p:grpSpPr bwMode="auto">
            <a:xfrm>
              <a:off x="2884091" y="3170239"/>
              <a:ext cx="5298678" cy="835025"/>
              <a:chOff x="912" y="912"/>
              <a:chExt cx="4608" cy="816"/>
            </a:xfrm>
          </p:grpSpPr>
          <p:sp>
            <p:nvSpPr>
              <p:cNvPr id="34837" name="Line 9"/>
              <p:cNvSpPr>
                <a:spLocks noChangeShapeType="1"/>
              </p:cNvSpPr>
              <p:nvPr/>
            </p:nvSpPr>
            <p:spPr bwMode="auto">
              <a:xfrm>
                <a:off x="912" y="912"/>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8" name="Line 10"/>
              <p:cNvSpPr>
                <a:spLocks noChangeShapeType="1"/>
              </p:cNvSpPr>
              <p:nvPr/>
            </p:nvSpPr>
            <p:spPr bwMode="auto">
              <a:xfrm>
                <a:off x="912" y="1152"/>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9" name="Line 11"/>
              <p:cNvSpPr>
                <a:spLocks noChangeShapeType="1"/>
              </p:cNvSpPr>
              <p:nvPr/>
            </p:nvSpPr>
            <p:spPr bwMode="auto">
              <a:xfrm>
                <a:off x="912" y="1488"/>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40" name="Line 12"/>
              <p:cNvSpPr>
                <a:spLocks noChangeShapeType="1"/>
              </p:cNvSpPr>
              <p:nvPr/>
            </p:nvSpPr>
            <p:spPr bwMode="auto">
              <a:xfrm>
                <a:off x="912" y="1728"/>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4831" name="Line 13"/>
            <p:cNvSpPr>
              <a:spLocks noChangeShapeType="1"/>
            </p:cNvSpPr>
            <p:nvPr/>
          </p:nvSpPr>
          <p:spPr bwMode="auto">
            <a:xfrm>
              <a:off x="2777465" y="3584576"/>
              <a:ext cx="5608240" cy="3175"/>
            </a:xfrm>
            <a:prstGeom prst="line">
              <a:avLst/>
            </a:prstGeom>
            <a:noFill/>
            <a:ln w="19050">
              <a:solidFill>
                <a:srgbClr val="333399"/>
              </a:solidFill>
              <a:prstDash val="lg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2" name="Text Box 14"/>
            <p:cNvSpPr txBox="1">
              <a:spLocks noChangeArrowheads="1"/>
            </p:cNvSpPr>
            <p:nvPr/>
          </p:nvSpPr>
          <p:spPr bwMode="auto">
            <a:xfrm>
              <a:off x="2144581" y="1989139"/>
              <a:ext cx="1217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latin typeface="黑体" panose="02010609060101010101" pitchFamily="49" charset="-122"/>
                  <a:ea typeface="黑体" panose="02010609060101010101" pitchFamily="49" charset="-122"/>
                </a:rPr>
                <a:t>高折射率</a:t>
              </a:r>
            </a:p>
            <a:p>
              <a:r>
                <a:rPr lang="en-US" altLang="zh-CN" sz="2000" b="1">
                  <a:solidFill>
                    <a:srgbClr val="000099"/>
                  </a:solidFill>
                  <a:latin typeface="黑体" panose="02010609060101010101" pitchFamily="49" charset="-122"/>
                  <a:ea typeface="黑体" panose="02010609060101010101" pitchFamily="49" charset="-122"/>
                </a:rPr>
                <a:t>(</a:t>
              </a:r>
              <a:r>
                <a:rPr lang="zh-CN" altLang="en-US" sz="2000" b="1">
                  <a:solidFill>
                    <a:srgbClr val="000099"/>
                  </a:solidFill>
                  <a:latin typeface="黑体" panose="02010609060101010101" pitchFamily="49" charset="-122"/>
                  <a:ea typeface="黑体" panose="02010609060101010101" pitchFamily="49" charset="-122"/>
                </a:rPr>
                <a:t>纤芯</a:t>
              </a:r>
              <a:r>
                <a:rPr lang="en-US" altLang="zh-CN" sz="2000" b="1">
                  <a:solidFill>
                    <a:srgbClr val="000099"/>
                  </a:solidFill>
                  <a:latin typeface="黑体" panose="02010609060101010101" pitchFamily="49" charset="-122"/>
                  <a:ea typeface="黑体" panose="02010609060101010101" pitchFamily="49" charset="-122"/>
                </a:rPr>
                <a:t>)</a:t>
              </a:r>
            </a:p>
          </p:txBody>
        </p:sp>
        <p:sp>
          <p:nvSpPr>
            <p:cNvPr id="34833" name="Text Box 15"/>
            <p:cNvSpPr txBox="1">
              <a:spLocks noChangeArrowheads="1"/>
            </p:cNvSpPr>
            <p:nvPr/>
          </p:nvSpPr>
          <p:spPr bwMode="auto">
            <a:xfrm>
              <a:off x="741231" y="1989139"/>
              <a:ext cx="1217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latin typeface="黑体" panose="02010609060101010101" pitchFamily="49" charset="-122"/>
                  <a:ea typeface="黑体" panose="02010609060101010101" pitchFamily="49" charset="-122"/>
                </a:rPr>
                <a:t>低折射率</a:t>
              </a:r>
            </a:p>
            <a:p>
              <a:r>
                <a:rPr lang="en-US" altLang="zh-CN" sz="2000" b="1">
                  <a:solidFill>
                    <a:srgbClr val="000099"/>
                  </a:solidFill>
                  <a:latin typeface="黑体" panose="02010609060101010101" pitchFamily="49" charset="-122"/>
                  <a:ea typeface="黑体" panose="02010609060101010101" pitchFamily="49" charset="-122"/>
                </a:rPr>
                <a:t>(</a:t>
              </a:r>
              <a:r>
                <a:rPr lang="zh-CN" altLang="en-US" sz="2000" b="1">
                  <a:solidFill>
                    <a:srgbClr val="000099"/>
                  </a:solidFill>
                  <a:latin typeface="黑体" panose="02010609060101010101" pitchFamily="49" charset="-122"/>
                  <a:ea typeface="黑体" panose="02010609060101010101" pitchFamily="49" charset="-122"/>
                </a:rPr>
                <a:t>包层</a:t>
              </a:r>
              <a:r>
                <a:rPr lang="en-US" altLang="zh-CN" sz="2000" b="1">
                  <a:solidFill>
                    <a:srgbClr val="000099"/>
                  </a:solidFill>
                  <a:latin typeface="黑体" panose="02010609060101010101" pitchFamily="49" charset="-122"/>
                  <a:ea typeface="黑体" panose="02010609060101010101" pitchFamily="49" charset="-122"/>
                </a:rPr>
                <a:t>)</a:t>
              </a:r>
            </a:p>
          </p:txBody>
        </p:sp>
        <p:sp>
          <p:nvSpPr>
            <p:cNvPr id="34834" name="Line 16"/>
            <p:cNvSpPr>
              <a:spLocks noChangeShapeType="1"/>
            </p:cNvSpPr>
            <p:nvPr/>
          </p:nvSpPr>
          <p:spPr bwMode="auto">
            <a:xfrm flipH="1">
              <a:off x="2529814" y="2708275"/>
              <a:ext cx="239051" cy="70643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5" name="Line 17"/>
            <p:cNvSpPr>
              <a:spLocks noChangeShapeType="1"/>
            </p:cNvSpPr>
            <p:nvPr/>
          </p:nvSpPr>
          <p:spPr bwMode="auto">
            <a:xfrm>
              <a:off x="1520296" y="2636838"/>
              <a:ext cx="421350" cy="5334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6" name="Text Box 18"/>
            <p:cNvSpPr txBox="1">
              <a:spLocks noChangeArrowheads="1"/>
            </p:cNvSpPr>
            <p:nvPr/>
          </p:nvSpPr>
          <p:spPr bwMode="auto">
            <a:xfrm>
              <a:off x="3002756" y="2733676"/>
              <a:ext cx="4830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latin typeface="黑体" panose="02010609060101010101" pitchFamily="49" charset="-122"/>
                  <a:ea typeface="黑体" panose="02010609060101010101" pitchFamily="49" charset="-122"/>
                </a:rPr>
                <a:t>光线在纤芯中传输的方式是不断地全反射</a:t>
              </a:r>
            </a:p>
          </p:txBody>
        </p:sp>
      </p:grpSp>
      <p:sp>
        <p:nvSpPr>
          <p:cNvPr id="122899" name="Freeform 19"/>
          <p:cNvSpPr>
            <a:spLocks noChangeArrowheads="1"/>
          </p:cNvSpPr>
          <p:nvPr/>
        </p:nvSpPr>
        <p:spPr bwMode="auto">
          <a:xfrm>
            <a:off x="3152775" y="2695575"/>
            <a:ext cx="5276850" cy="342900"/>
          </a:xfrm>
          <a:custGeom>
            <a:avLst/>
            <a:gdLst>
              <a:gd name="T0" fmla="*/ 0 w 4302"/>
              <a:gd name="T1" fmla="*/ 110218 h 336"/>
              <a:gd name="T2" fmla="*/ 471016 w 4302"/>
              <a:gd name="T3" fmla="*/ 0 h 336"/>
              <a:gd name="T4" fmla="*/ 1913502 w 4302"/>
              <a:gd name="T5" fmla="*/ 342900 h 336"/>
              <a:gd name="T6" fmla="*/ 3363348 w 4302"/>
              <a:gd name="T7" fmla="*/ 0 h 336"/>
              <a:gd name="T8" fmla="*/ 4805834 w 4302"/>
              <a:gd name="T9" fmla="*/ 336777 h 336"/>
              <a:gd name="T10" fmla="*/ 5276850 w 4302"/>
              <a:gd name="T11" fmla="*/ 208189 h 3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02" h="336">
                <a:moveTo>
                  <a:pt x="0" y="108"/>
                </a:moveTo>
                <a:lnTo>
                  <a:pt x="384" y="0"/>
                </a:lnTo>
                <a:lnTo>
                  <a:pt x="1560" y="336"/>
                </a:lnTo>
                <a:lnTo>
                  <a:pt x="2742" y="0"/>
                </a:lnTo>
                <a:lnTo>
                  <a:pt x="3918" y="330"/>
                </a:lnTo>
                <a:lnTo>
                  <a:pt x="4302" y="204"/>
                </a:lnTo>
              </a:path>
            </a:pathLst>
          </a:custGeom>
          <a:noFill/>
          <a:ln w="57150">
            <a:solidFill>
              <a:srgbClr val="000099"/>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1" name="矩形 21"/>
          <p:cNvSpPr>
            <a:spLocks noChangeArrowheads="1"/>
          </p:cNvSpPr>
          <p:nvPr/>
        </p:nvSpPr>
        <p:spPr bwMode="auto">
          <a:xfrm>
            <a:off x="2144713" y="3573463"/>
            <a:ext cx="5502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光波在纤芯中的传播</a:t>
            </a:r>
            <a:endParaRPr lang="zh-CN" altLang="en-US" sz="2400" b="1">
              <a:ea typeface="黑体" panose="02010609060101010101" pitchFamily="49" charset="-122"/>
            </a:endParaRPr>
          </a:p>
        </p:txBody>
      </p:sp>
      <p:sp>
        <p:nvSpPr>
          <p:cNvPr id="34822" name="矩形 2"/>
          <p:cNvSpPr>
            <a:spLocks noChangeArrowheads="1"/>
          </p:cNvSpPr>
          <p:nvPr/>
        </p:nvSpPr>
        <p:spPr bwMode="auto">
          <a:xfrm>
            <a:off x="849313" y="4275138"/>
            <a:ext cx="8640762" cy="954087"/>
          </a:xfrm>
          <a:prstGeom prst="rect">
            <a:avLst/>
          </a:prstGeom>
          <a:solidFill>
            <a:srgbClr val="FFFF66"/>
          </a:solidFill>
          <a:ln w="9525">
            <a:solidFill>
              <a:srgbClr val="000066"/>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zh-CN" sz="2800" b="1" dirty="0">
                <a:solidFill>
                  <a:srgbClr val="000099"/>
                </a:solidFill>
                <a:ea typeface="黑体" panose="02010609060101010101" pitchFamily="49" charset="-122"/>
              </a:rPr>
              <a:t>只要从纤芯中射到纤芯表面的光线的</a:t>
            </a:r>
            <a:r>
              <a:rPr lang="zh-CN" altLang="zh-CN" sz="2800" b="1" dirty="0">
                <a:solidFill>
                  <a:srgbClr val="FF0000"/>
                </a:solidFill>
                <a:ea typeface="黑体" panose="02010609060101010101" pitchFamily="49" charset="-122"/>
              </a:rPr>
              <a:t>入射角大于某个临界角度</a:t>
            </a:r>
            <a:r>
              <a:rPr lang="zh-CN" altLang="zh-CN" sz="2800" b="1" dirty="0">
                <a:solidFill>
                  <a:srgbClr val="000099"/>
                </a:solidFill>
                <a:ea typeface="黑体" panose="02010609060101010101" pitchFamily="49" charset="-122"/>
              </a:rPr>
              <a:t>，就可产生全反射</a:t>
            </a:r>
            <a:r>
              <a:rPr lang="zh-CN" altLang="en-US" sz="2800" b="1" dirty="0">
                <a:solidFill>
                  <a:srgbClr val="000099"/>
                </a:solidFill>
                <a:ea typeface="黑体" panose="02010609060101010101" pitchFamily="49" charset="-122"/>
              </a:rPr>
              <a:t>。</a:t>
            </a:r>
          </a:p>
        </p:txBody>
      </p:sp>
      <p:sp>
        <p:nvSpPr>
          <p:cNvPr id="348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97DD67-E9C7-42F0-9F8F-640575715AD7}" type="slidenum">
              <a:rPr altLang="en-US" smtClean="0"/>
              <a:pPr/>
              <a:t>13</a:t>
            </a:fld>
            <a:endParaRPr lang="zh-CN" altLang="zh-CN" smtClean="0"/>
          </a:p>
        </p:txBody>
      </p:sp>
      <p:sp>
        <p:nvSpPr>
          <p:cNvPr id="348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899"/>
                                        </p:tgtEl>
                                        <p:attrNameLst>
                                          <p:attrName>style.visibility</p:attrName>
                                        </p:attrNameLst>
                                      </p:cBhvr>
                                      <p:to>
                                        <p:strVal val="visible"/>
                                      </p:to>
                                    </p:set>
                                    <p:animEffect transition="in" filter="wipe(left)">
                                      <p:cBhvr>
                                        <p:cTn id="7" dur="2000"/>
                                        <p:tgtEl>
                                          <p:spTgt spid="122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多模光纤与单模光纤</a:t>
            </a:r>
          </a:p>
        </p:txBody>
      </p:sp>
      <p:sp>
        <p:nvSpPr>
          <p:cNvPr id="36867" name="内容占位符 2"/>
          <p:cNvSpPr>
            <a:spLocks noGrp="1" noChangeArrowheads="1"/>
          </p:cNvSpPr>
          <p:nvPr>
            <p:ph idx="1"/>
          </p:nvPr>
        </p:nvSpPr>
        <p:spPr>
          <a:xfrm>
            <a:off x="495300" y="1196975"/>
            <a:ext cx="9066213" cy="4933950"/>
          </a:xfrm>
        </p:spPr>
        <p:txBody>
          <a:bodyPr/>
          <a:lstStyle/>
          <a:p>
            <a:pPr eaLnBrk="1" hangingPunct="1"/>
            <a:r>
              <a:rPr lang="zh-CN" altLang="zh-CN" sz="2800" dirty="0" smtClean="0">
                <a:solidFill>
                  <a:srgbClr val="FF0000"/>
                </a:solidFill>
                <a:ea typeface="黑体" panose="02010609060101010101" pitchFamily="49" charset="-122"/>
              </a:rPr>
              <a:t>多模光纤</a:t>
            </a:r>
            <a:r>
              <a:rPr lang="en-US" altLang="zh-CN" sz="2800" dirty="0" smtClean="0">
                <a:solidFill>
                  <a:srgbClr val="FF0000"/>
                </a:solidFill>
                <a:ea typeface="黑体" panose="02010609060101010101" pitchFamily="49" charset="-122"/>
              </a:rPr>
              <a:t> </a:t>
            </a:r>
          </a:p>
          <a:p>
            <a:pPr marL="457200" lvl="1" indent="0" eaLnBrk="1" hangingPunct="1">
              <a:buFont typeface="Wingdings" panose="05000000000000000000" pitchFamily="2" charset="2"/>
              <a:buNone/>
            </a:pPr>
            <a:r>
              <a:rPr lang="zh-CN" altLang="zh-CN" dirty="0" smtClean="0">
                <a:ea typeface="黑体" panose="02010609060101010101" pitchFamily="49" charset="-122"/>
              </a:rPr>
              <a:t>可以存在</a:t>
            </a:r>
            <a:r>
              <a:rPr lang="zh-CN" altLang="zh-CN" dirty="0" smtClean="0">
                <a:solidFill>
                  <a:srgbClr val="0000CC"/>
                </a:solidFill>
                <a:ea typeface="黑体" panose="02010609060101010101" pitchFamily="49" charset="-122"/>
              </a:rPr>
              <a:t>多条不同角度入射的光线</a:t>
            </a:r>
            <a:r>
              <a:rPr lang="zh-CN" altLang="zh-CN" dirty="0" smtClean="0">
                <a:ea typeface="黑体" panose="02010609060101010101" pitchFamily="49" charset="-122"/>
              </a:rPr>
              <a:t>在一条光纤中传输。这种光纤就称为</a:t>
            </a:r>
            <a:r>
              <a:rPr lang="zh-CN" altLang="zh-CN" dirty="0" smtClean="0">
                <a:solidFill>
                  <a:srgbClr val="0000CC"/>
                </a:solidFill>
                <a:ea typeface="黑体" panose="02010609060101010101" pitchFamily="49" charset="-122"/>
              </a:rPr>
              <a:t>多模光纤</a:t>
            </a:r>
            <a:r>
              <a:rPr lang="zh-CN" altLang="en-US" dirty="0" smtClean="0">
                <a:solidFill>
                  <a:srgbClr val="0000CC"/>
                </a:solidFill>
                <a:ea typeface="黑体" panose="02010609060101010101" pitchFamily="49" charset="-122"/>
              </a:rPr>
              <a:t>。</a:t>
            </a:r>
            <a:endParaRPr lang="en-US" altLang="zh-CN" dirty="0" smtClean="0">
              <a:solidFill>
                <a:srgbClr val="0000CC"/>
              </a:solidFill>
              <a:ea typeface="黑体" panose="02010609060101010101" pitchFamily="49" charset="-122"/>
            </a:endParaRPr>
          </a:p>
          <a:p>
            <a:pPr marL="457200" lvl="1" indent="0" algn="r" eaLnBrk="1" hangingPunct="1">
              <a:buFont typeface="Wingdings" panose="05000000000000000000" pitchFamily="2" charset="2"/>
              <a:buNone/>
            </a:pPr>
            <a:r>
              <a:rPr lang="en-US" altLang="zh-CN" dirty="0" smtClean="0">
                <a:ea typeface="黑体" panose="02010609060101010101" pitchFamily="49" charset="-122"/>
              </a:rPr>
              <a:t>——</a:t>
            </a:r>
            <a:r>
              <a:rPr lang="zh-CN" altLang="en-US" dirty="0" smtClean="0">
                <a:ea typeface="黑体" panose="02010609060101010101" pitchFamily="49" charset="-122"/>
              </a:rPr>
              <a:t>光脉冲加宽易失真，适合近距离</a:t>
            </a:r>
            <a:endParaRPr lang="en-US" altLang="zh-CN" dirty="0" smtClean="0">
              <a:ea typeface="黑体" panose="02010609060101010101" pitchFamily="49" charset="-122"/>
            </a:endParaRPr>
          </a:p>
          <a:p>
            <a:pPr eaLnBrk="1" hangingPunct="1"/>
            <a:r>
              <a:rPr lang="zh-CN" altLang="zh-CN" sz="2800" dirty="0" smtClean="0">
                <a:solidFill>
                  <a:srgbClr val="FF0000"/>
                </a:solidFill>
                <a:ea typeface="黑体" panose="02010609060101010101" pitchFamily="49" charset="-122"/>
              </a:rPr>
              <a:t>单模光纤</a:t>
            </a:r>
            <a:endParaRPr lang="en-US" altLang="zh-CN" sz="2800" dirty="0" smtClean="0">
              <a:solidFill>
                <a:srgbClr val="FF0000"/>
              </a:solidFill>
              <a:ea typeface="黑体" panose="02010609060101010101" pitchFamily="49" charset="-122"/>
            </a:endParaRPr>
          </a:p>
          <a:p>
            <a:pPr marL="457200" lvl="1" indent="0" eaLnBrk="1" hangingPunct="1">
              <a:buFont typeface="Wingdings" panose="05000000000000000000" pitchFamily="2" charset="2"/>
              <a:buNone/>
            </a:pPr>
            <a:r>
              <a:rPr lang="zh-CN" altLang="zh-CN" dirty="0" smtClean="0">
                <a:ea typeface="黑体" panose="02010609060101010101" pitchFamily="49" charset="-122"/>
              </a:rPr>
              <a:t>若光纤的</a:t>
            </a:r>
            <a:r>
              <a:rPr lang="zh-CN" altLang="zh-CN" dirty="0" smtClean="0">
                <a:solidFill>
                  <a:srgbClr val="0000CC"/>
                </a:solidFill>
                <a:ea typeface="黑体" panose="02010609060101010101" pitchFamily="49" charset="-122"/>
              </a:rPr>
              <a:t>直径减小到只有一个光的波长</a:t>
            </a:r>
            <a:r>
              <a:rPr lang="zh-CN" altLang="zh-CN" dirty="0" smtClean="0">
                <a:ea typeface="黑体" panose="02010609060101010101" pitchFamily="49" charset="-122"/>
              </a:rPr>
              <a:t>，则光纤就像一根波导那样，它可使光线一直向前传播，而不会产生多次反射。这样的光纤称为</a:t>
            </a:r>
            <a:r>
              <a:rPr lang="zh-CN" altLang="zh-CN" dirty="0" smtClean="0">
                <a:solidFill>
                  <a:srgbClr val="0000CC"/>
                </a:solidFill>
                <a:ea typeface="黑体" panose="02010609060101010101" pitchFamily="49" charset="-122"/>
              </a:rPr>
              <a:t>单模光纤</a:t>
            </a:r>
            <a:r>
              <a:rPr lang="zh-CN" altLang="en-US" dirty="0" smtClean="0">
                <a:solidFill>
                  <a:srgbClr val="0000CC"/>
                </a:solidFill>
                <a:ea typeface="黑体" panose="02010609060101010101" pitchFamily="49" charset="-122"/>
              </a:rPr>
              <a:t>。</a:t>
            </a:r>
            <a:endParaRPr lang="en-US" altLang="zh-CN" dirty="0" smtClean="0">
              <a:solidFill>
                <a:srgbClr val="0000CC"/>
              </a:solidFill>
              <a:ea typeface="黑体" panose="02010609060101010101" pitchFamily="49" charset="-122"/>
            </a:endParaRPr>
          </a:p>
          <a:p>
            <a:pPr marL="457200" lvl="1" indent="0" algn="r" eaLnBrk="1" hangingPunct="1">
              <a:buNone/>
            </a:pPr>
            <a:r>
              <a:rPr lang="en-US" altLang="zh-CN" dirty="0" smtClean="0">
                <a:ea typeface="黑体" panose="02010609060101010101" pitchFamily="49" charset="-122"/>
              </a:rPr>
              <a:t>——</a:t>
            </a:r>
            <a:r>
              <a:rPr lang="zh-CN" altLang="en-US" dirty="0" smtClean="0">
                <a:ea typeface="黑体" panose="02010609060101010101" pitchFamily="49" charset="-122"/>
              </a:rPr>
              <a:t>不易</a:t>
            </a:r>
            <a:r>
              <a:rPr lang="zh-CN" altLang="en-US" dirty="0">
                <a:ea typeface="黑体" panose="02010609060101010101" pitchFamily="49" charset="-122"/>
              </a:rPr>
              <a:t>失真</a:t>
            </a:r>
            <a:r>
              <a:rPr lang="zh-CN" altLang="en-US" dirty="0" smtClean="0">
                <a:ea typeface="黑体" panose="02010609060101010101" pitchFamily="49" charset="-122"/>
              </a:rPr>
              <a:t>，可达</a:t>
            </a:r>
            <a:r>
              <a:rPr lang="en-US" altLang="zh-CN" dirty="0" smtClean="0">
                <a:ea typeface="黑体" panose="02010609060101010101" pitchFamily="49" charset="-122"/>
              </a:rPr>
              <a:t>100Gbit/s</a:t>
            </a:r>
            <a:r>
              <a:rPr lang="zh-CN" altLang="en-US" dirty="0" smtClean="0">
                <a:ea typeface="黑体" panose="02010609060101010101" pitchFamily="49" charset="-122"/>
              </a:rPr>
              <a:t>，</a:t>
            </a:r>
            <a:r>
              <a:rPr lang="en-US" altLang="zh-CN" dirty="0" smtClean="0">
                <a:ea typeface="黑体" panose="02010609060101010101" pitchFamily="49" charset="-122"/>
              </a:rPr>
              <a:t>100km</a:t>
            </a:r>
            <a:endParaRPr lang="en-US" altLang="zh-CN" dirty="0">
              <a:ea typeface="黑体" panose="02010609060101010101" pitchFamily="49" charset="-122"/>
            </a:endParaRPr>
          </a:p>
          <a:p>
            <a:pPr marL="457200" lvl="1" indent="0" eaLnBrk="1" hangingPunct="1">
              <a:buFont typeface="Wingdings" panose="05000000000000000000" pitchFamily="2" charset="2"/>
              <a:buNone/>
            </a:pPr>
            <a:endParaRPr lang="zh-CN" altLang="en-US" dirty="0" smtClean="0">
              <a:solidFill>
                <a:srgbClr val="0000CC"/>
              </a:solidFill>
              <a:ea typeface="黑体" panose="02010609060101010101" pitchFamily="49" charset="-122"/>
            </a:endParaRPr>
          </a:p>
        </p:txBody>
      </p:sp>
      <p:sp>
        <p:nvSpPr>
          <p:cNvPr id="36868"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73C9DF-DAF4-4DB0-8CDE-BA68B9106755}" type="slidenum">
              <a:rPr altLang="en-US" smtClean="0"/>
              <a:pPr/>
              <a:t>14</a:t>
            </a:fld>
            <a:endParaRPr lang="zh-CN" altLang="zh-CN" smtClean="0"/>
          </a:p>
        </p:txBody>
      </p:sp>
      <p:sp>
        <p:nvSpPr>
          <p:cNvPr id="36869"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9"/>
          <p:cNvSpPr>
            <a:spLocks noGrp="1" noChangeArrowheads="1"/>
          </p:cNvSpPr>
          <p:nvPr>
            <p:ph type="title"/>
          </p:nvPr>
        </p:nvSpPr>
        <p:spPr/>
        <p:txBody>
          <a:bodyPr/>
          <a:lstStyle/>
          <a:p>
            <a:pPr algn="ctr" eaLnBrk="1" hangingPunct="1"/>
            <a:r>
              <a:rPr lang="zh-CN" altLang="en-US" smtClean="0">
                <a:ea typeface="黑体" panose="02010609060101010101" pitchFamily="49" charset="-122"/>
              </a:rPr>
              <a:t>多模光纤与单模光纤</a:t>
            </a:r>
          </a:p>
        </p:txBody>
      </p:sp>
      <p:grpSp>
        <p:nvGrpSpPr>
          <p:cNvPr id="116738" name="Group 2"/>
          <p:cNvGrpSpPr>
            <a:grpSpLocks/>
          </p:cNvGrpSpPr>
          <p:nvPr/>
        </p:nvGrpSpPr>
        <p:grpSpPr bwMode="auto">
          <a:xfrm>
            <a:off x="212725" y="3789363"/>
            <a:ext cx="9709150" cy="1550987"/>
            <a:chOff x="71" y="2709"/>
            <a:chExt cx="5645" cy="977"/>
          </a:xfrm>
        </p:grpSpPr>
        <p:grpSp>
          <p:nvGrpSpPr>
            <p:cNvPr id="37918" name="Group 3"/>
            <p:cNvGrpSpPr>
              <a:grpSpLocks/>
            </p:cNvGrpSpPr>
            <p:nvPr/>
          </p:nvGrpSpPr>
          <p:grpSpPr bwMode="auto">
            <a:xfrm>
              <a:off x="682" y="3158"/>
              <a:ext cx="4476" cy="528"/>
              <a:chOff x="682" y="3072"/>
              <a:chExt cx="4476" cy="528"/>
            </a:xfrm>
          </p:grpSpPr>
          <p:sp>
            <p:nvSpPr>
              <p:cNvPr id="37935" name="Rectangle 4"/>
              <p:cNvSpPr>
                <a:spLocks noChangeArrowheads="1"/>
              </p:cNvSpPr>
              <p:nvPr/>
            </p:nvSpPr>
            <p:spPr bwMode="auto">
              <a:xfrm>
                <a:off x="768" y="3168"/>
                <a:ext cx="4320" cy="336"/>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grpSp>
            <p:nvGrpSpPr>
              <p:cNvPr id="37936" name="Group 5"/>
              <p:cNvGrpSpPr>
                <a:grpSpLocks/>
              </p:cNvGrpSpPr>
              <p:nvPr/>
            </p:nvGrpSpPr>
            <p:grpSpPr bwMode="auto">
              <a:xfrm>
                <a:off x="682" y="3072"/>
                <a:ext cx="4476" cy="528"/>
                <a:chOff x="682" y="3072"/>
                <a:chExt cx="4476" cy="528"/>
              </a:xfrm>
            </p:grpSpPr>
            <p:sp>
              <p:nvSpPr>
                <p:cNvPr id="37937" name="Rectangle 6"/>
                <p:cNvSpPr>
                  <a:spLocks noChangeArrowheads="1"/>
                </p:cNvSpPr>
                <p:nvPr/>
              </p:nvSpPr>
              <p:spPr bwMode="auto">
                <a:xfrm>
                  <a:off x="768" y="3072"/>
                  <a:ext cx="4320" cy="24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38" name="Rectangle 7"/>
                <p:cNvSpPr>
                  <a:spLocks noChangeArrowheads="1"/>
                </p:cNvSpPr>
                <p:nvPr/>
              </p:nvSpPr>
              <p:spPr bwMode="auto">
                <a:xfrm>
                  <a:off x="768" y="3360"/>
                  <a:ext cx="4320" cy="24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39" name="Line 8"/>
                <p:cNvSpPr>
                  <a:spLocks noChangeShapeType="1"/>
                </p:cNvSpPr>
                <p:nvPr/>
              </p:nvSpPr>
              <p:spPr bwMode="auto">
                <a:xfrm>
                  <a:off x="768" y="3072"/>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40" name="Line 9"/>
                <p:cNvSpPr>
                  <a:spLocks noChangeShapeType="1"/>
                </p:cNvSpPr>
                <p:nvPr/>
              </p:nvSpPr>
              <p:spPr bwMode="auto">
                <a:xfrm>
                  <a:off x="768" y="3312"/>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41" name="Line 10"/>
                <p:cNvSpPr>
                  <a:spLocks noChangeShapeType="1"/>
                </p:cNvSpPr>
                <p:nvPr/>
              </p:nvSpPr>
              <p:spPr bwMode="auto">
                <a:xfrm>
                  <a:off x="768" y="3360"/>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42" name="Line 11"/>
                <p:cNvSpPr>
                  <a:spLocks noChangeShapeType="1"/>
                </p:cNvSpPr>
                <p:nvPr/>
              </p:nvSpPr>
              <p:spPr bwMode="auto">
                <a:xfrm>
                  <a:off x="768" y="3600"/>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43" name="Line 12"/>
                <p:cNvSpPr>
                  <a:spLocks noChangeShapeType="1"/>
                </p:cNvSpPr>
                <p:nvPr/>
              </p:nvSpPr>
              <p:spPr bwMode="auto">
                <a:xfrm>
                  <a:off x="682" y="3333"/>
                  <a:ext cx="4476" cy="3"/>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37919" name="Group 13"/>
            <p:cNvGrpSpPr>
              <a:grpSpLocks/>
            </p:cNvGrpSpPr>
            <p:nvPr/>
          </p:nvGrpSpPr>
          <p:grpSpPr bwMode="auto">
            <a:xfrm>
              <a:off x="71" y="2840"/>
              <a:ext cx="5645" cy="818"/>
              <a:chOff x="71" y="2930"/>
              <a:chExt cx="5645" cy="818"/>
            </a:xfrm>
          </p:grpSpPr>
          <p:grpSp>
            <p:nvGrpSpPr>
              <p:cNvPr id="37921" name="Group 14"/>
              <p:cNvGrpSpPr>
                <a:grpSpLocks/>
              </p:cNvGrpSpPr>
              <p:nvPr/>
            </p:nvGrpSpPr>
            <p:grpSpPr bwMode="auto">
              <a:xfrm>
                <a:off x="71" y="2930"/>
                <a:ext cx="704" cy="818"/>
                <a:chOff x="71" y="2930"/>
                <a:chExt cx="704" cy="818"/>
              </a:xfrm>
            </p:grpSpPr>
            <p:grpSp>
              <p:nvGrpSpPr>
                <p:cNvPr id="37929" name="Group 15"/>
                <p:cNvGrpSpPr>
                  <a:grpSpLocks/>
                </p:cNvGrpSpPr>
                <p:nvPr/>
              </p:nvGrpSpPr>
              <p:grpSpPr bwMode="auto">
                <a:xfrm>
                  <a:off x="158" y="3220"/>
                  <a:ext cx="480" cy="528"/>
                  <a:chOff x="240" y="2448"/>
                  <a:chExt cx="480" cy="528"/>
                </a:xfrm>
              </p:grpSpPr>
              <p:grpSp>
                <p:nvGrpSpPr>
                  <p:cNvPr id="37931" name="Group 16"/>
                  <p:cNvGrpSpPr>
                    <a:grpSpLocks/>
                  </p:cNvGrpSpPr>
                  <p:nvPr/>
                </p:nvGrpSpPr>
                <p:grpSpPr bwMode="auto">
                  <a:xfrm>
                    <a:off x="240" y="2448"/>
                    <a:ext cx="480" cy="528"/>
                    <a:chOff x="240" y="2448"/>
                    <a:chExt cx="672" cy="672"/>
                  </a:xfrm>
                </p:grpSpPr>
                <p:sp>
                  <p:nvSpPr>
                    <p:cNvPr id="37933" name="Rectangle 17"/>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34" name="Line 18"/>
                    <p:cNvSpPr>
                      <a:spLocks noChangeShapeType="1"/>
                    </p:cNvSpPr>
                    <p:nvPr/>
                  </p:nvSpPr>
                  <p:spPr bwMode="auto">
                    <a:xfrm>
                      <a:off x="576" y="2448"/>
                      <a:ext cx="0" cy="672"/>
                    </a:xfrm>
                    <a:prstGeom prst="line">
                      <a:avLst/>
                    </a:prstGeom>
                    <a:noFill/>
                    <a:ln w="63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7932" name="Freeform 19"/>
                  <p:cNvSpPr>
                    <a:spLocks noChangeArrowheads="1"/>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7930" name="Text Box 20"/>
                <p:cNvSpPr txBox="1">
                  <a:spLocks noChangeArrowheads="1"/>
                </p:cNvSpPr>
                <p:nvPr/>
              </p:nvSpPr>
              <p:spPr bwMode="auto">
                <a:xfrm>
                  <a:off x="71" y="2930"/>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输入脉冲</a:t>
                  </a:r>
                </a:p>
              </p:txBody>
            </p:sp>
          </p:grpSp>
          <p:grpSp>
            <p:nvGrpSpPr>
              <p:cNvPr id="37922" name="Group 21"/>
              <p:cNvGrpSpPr>
                <a:grpSpLocks/>
              </p:cNvGrpSpPr>
              <p:nvPr/>
            </p:nvGrpSpPr>
            <p:grpSpPr bwMode="auto">
              <a:xfrm>
                <a:off x="5012" y="2947"/>
                <a:ext cx="704" cy="801"/>
                <a:chOff x="5012" y="2947"/>
                <a:chExt cx="704" cy="801"/>
              </a:xfrm>
            </p:grpSpPr>
            <p:sp>
              <p:nvSpPr>
                <p:cNvPr id="37923" name="Text Box 22"/>
                <p:cNvSpPr txBox="1">
                  <a:spLocks noChangeArrowheads="1"/>
                </p:cNvSpPr>
                <p:nvPr/>
              </p:nvSpPr>
              <p:spPr bwMode="auto">
                <a:xfrm>
                  <a:off x="5012" y="2947"/>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输出脉冲</a:t>
                  </a:r>
                </a:p>
              </p:txBody>
            </p:sp>
            <p:grpSp>
              <p:nvGrpSpPr>
                <p:cNvPr id="37924" name="Group 23"/>
                <p:cNvGrpSpPr>
                  <a:grpSpLocks/>
                </p:cNvGrpSpPr>
                <p:nvPr/>
              </p:nvGrpSpPr>
              <p:grpSpPr bwMode="auto">
                <a:xfrm>
                  <a:off x="5148" y="3220"/>
                  <a:ext cx="480" cy="528"/>
                  <a:chOff x="240" y="2448"/>
                  <a:chExt cx="480" cy="528"/>
                </a:xfrm>
              </p:grpSpPr>
              <p:grpSp>
                <p:nvGrpSpPr>
                  <p:cNvPr id="37925" name="Group 24"/>
                  <p:cNvGrpSpPr>
                    <a:grpSpLocks/>
                  </p:cNvGrpSpPr>
                  <p:nvPr/>
                </p:nvGrpSpPr>
                <p:grpSpPr bwMode="auto">
                  <a:xfrm>
                    <a:off x="240" y="2448"/>
                    <a:ext cx="480" cy="528"/>
                    <a:chOff x="240" y="2448"/>
                    <a:chExt cx="672" cy="672"/>
                  </a:xfrm>
                </p:grpSpPr>
                <p:sp>
                  <p:nvSpPr>
                    <p:cNvPr id="37927" name="Rectangle 25"/>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28" name="Line 26"/>
                    <p:cNvSpPr>
                      <a:spLocks noChangeShapeType="1"/>
                    </p:cNvSpPr>
                    <p:nvPr/>
                  </p:nvSpPr>
                  <p:spPr bwMode="auto">
                    <a:xfrm>
                      <a:off x="576" y="2448"/>
                      <a:ext cx="0" cy="672"/>
                    </a:xfrm>
                    <a:prstGeom prst="line">
                      <a:avLst/>
                    </a:prstGeom>
                    <a:noFill/>
                    <a:ln w="63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7926" name="Freeform 27"/>
                  <p:cNvSpPr>
                    <a:spLocks noChangeArrowheads="1"/>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grpSp>
        <p:sp>
          <p:nvSpPr>
            <p:cNvPr id="37920" name="Text Box 28"/>
            <p:cNvSpPr txBox="1">
              <a:spLocks noChangeArrowheads="1"/>
            </p:cNvSpPr>
            <p:nvPr/>
          </p:nvSpPr>
          <p:spPr bwMode="auto">
            <a:xfrm>
              <a:off x="2381" y="2709"/>
              <a:ext cx="118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3600" b="1">
                  <a:solidFill>
                    <a:srgbClr val="0000CC"/>
                  </a:solidFill>
                  <a:ea typeface="黑体" panose="02010609060101010101" pitchFamily="49" charset="-122"/>
                </a:rPr>
                <a:t>单模光纤</a:t>
              </a:r>
            </a:p>
          </p:txBody>
        </p:sp>
      </p:grpSp>
      <p:sp>
        <p:nvSpPr>
          <p:cNvPr id="116766" name="Freeform 30"/>
          <p:cNvSpPr>
            <a:spLocks noChangeArrowheads="1"/>
          </p:cNvSpPr>
          <p:nvPr/>
        </p:nvSpPr>
        <p:spPr bwMode="auto">
          <a:xfrm>
            <a:off x="1493838" y="2514600"/>
            <a:ext cx="7326312" cy="533400"/>
          </a:xfrm>
          <a:custGeom>
            <a:avLst/>
            <a:gdLst>
              <a:gd name="T0" fmla="*/ 0 w 4260"/>
              <a:gd name="T1" fmla="*/ 238125 h 336"/>
              <a:gd name="T2" fmla="*/ 1145381 w 4260"/>
              <a:gd name="T3" fmla="*/ 0 h 336"/>
              <a:gd name="T4" fmla="*/ 3972718 w 4260"/>
              <a:gd name="T5" fmla="*/ 533400 h 336"/>
              <a:gd name="T6" fmla="*/ 6769100 w 4260"/>
              <a:gd name="T7" fmla="*/ 0 h 336"/>
              <a:gd name="T8" fmla="*/ 7326312 w 4260"/>
              <a:gd name="T9" fmla="*/ 11430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60" h="336">
                <a:moveTo>
                  <a:pt x="0" y="150"/>
                </a:moveTo>
                <a:lnTo>
                  <a:pt x="666" y="0"/>
                </a:lnTo>
                <a:lnTo>
                  <a:pt x="2310" y="336"/>
                </a:lnTo>
                <a:lnTo>
                  <a:pt x="3936" y="0"/>
                </a:lnTo>
                <a:lnTo>
                  <a:pt x="4260" y="72"/>
                </a:lnTo>
              </a:path>
            </a:pathLst>
          </a:custGeom>
          <a:noFill/>
          <a:ln w="38100">
            <a:solidFill>
              <a:srgbClr val="C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893" name="Rectangle 31"/>
          <p:cNvSpPr>
            <a:spLocks noChangeArrowheads="1"/>
          </p:cNvSpPr>
          <p:nvPr/>
        </p:nvSpPr>
        <p:spPr bwMode="auto">
          <a:xfrm>
            <a:off x="1377950" y="2143125"/>
            <a:ext cx="7429500" cy="3810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894" name="Rectangle 32"/>
          <p:cNvSpPr>
            <a:spLocks noChangeArrowheads="1"/>
          </p:cNvSpPr>
          <p:nvPr/>
        </p:nvSpPr>
        <p:spPr bwMode="auto">
          <a:xfrm>
            <a:off x="1395413" y="3055938"/>
            <a:ext cx="7429500" cy="3810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grpSp>
        <p:nvGrpSpPr>
          <p:cNvPr id="37895" name="Group 33"/>
          <p:cNvGrpSpPr>
            <a:grpSpLocks/>
          </p:cNvGrpSpPr>
          <p:nvPr/>
        </p:nvGrpSpPr>
        <p:grpSpPr bwMode="auto">
          <a:xfrm>
            <a:off x="1395413" y="2141538"/>
            <a:ext cx="7429500" cy="1295400"/>
            <a:chOff x="912" y="912"/>
            <a:chExt cx="4608" cy="816"/>
          </a:xfrm>
        </p:grpSpPr>
        <p:sp>
          <p:nvSpPr>
            <p:cNvPr id="37914" name="Line 34"/>
            <p:cNvSpPr>
              <a:spLocks noChangeShapeType="1"/>
            </p:cNvSpPr>
            <p:nvPr/>
          </p:nvSpPr>
          <p:spPr bwMode="auto">
            <a:xfrm>
              <a:off x="912" y="912"/>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5" name="Line 35"/>
            <p:cNvSpPr>
              <a:spLocks noChangeShapeType="1"/>
            </p:cNvSpPr>
            <p:nvPr/>
          </p:nvSpPr>
          <p:spPr bwMode="auto">
            <a:xfrm>
              <a:off x="912" y="1152"/>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6" name="Line 36"/>
            <p:cNvSpPr>
              <a:spLocks noChangeShapeType="1"/>
            </p:cNvSpPr>
            <p:nvPr/>
          </p:nvSpPr>
          <p:spPr bwMode="auto">
            <a:xfrm>
              <a:off x="912" y="1488"/>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7" name="Line 37"/>
            <p:cNvSpPr>
              <a:spLocks noChangeShapeType="1"/>
            </p:cNvSpPr>
            <p:nvPr/>
          </p:nvSpPr>
          <p:spPr bwMode="auto">
            <a:xfrm>
              <a:off x="912" y="1728"/>
              <a:ext cx="4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7896" name="Line 38"/>
          <p:cNvSpPr>
            <a:spLocks noChangeShapeType="1"/>
          </p:cNvSpPr>
          <p:nvPr/>
        </p:nvSpPr>
        <p:spPr bwMode="auto">
          <a:xfrm>
            <a:off x="1246188" y="2784475"/>
            <a:ext cx="7697787" cy="4763"/>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16775" name="Group 39"/>
          <p:cNvGrpSpPr>
            <a:grpSpLocks/>
          </p:cNvGrpSpPr>
          <p:nvPr/>
        </p:nvGrpSpPr>
        <p:grpSpPr bwMode="auto">
          <a:xfrm>
            <a:off x="212725" y="1936750"/>
            <a:ext cx="9709150" cy="1271588"/>
            <a:chOff x="71" y="1305"/>
            <a:chExt cx="5645" cy="801"/>
          </a:xfrm>
        </p:grpSpPr>
        <p:grpSp>
          <p:nvGrpSpPr>
            <p:cNvPr id="37904" name="Group 40"/>
            <p:cNvGrpSpPr>
              <a:grpSpLocks/>
            </p:cNvGrpSpPr>
            <p:nvPr/>
          </p:nvGrpSpPr>
          <p:grpSpPr bwMode="auto">
            <a:xfrm>
              <a:off x="71" y="1313"/>
              <a:ext cx="704" cy="793"/>
              <a:chOff x="71" y="1313"/>
              <a:chExt cx="704" cy="793"/>
            </a:xfrm>
          </p:grpSpPr>
          <p:sp>
            <p:nvSpPr>
              <p:cNvPr id="37910" name="Rectangle 41"/>
              <p:cNvSpPr>
                <a:spLocks noChangeArrowheads="1"/>
              </p:cNvSpPr>
              <p:nvPr/>
            </p:nvSpPr>
            <p:spPr bwMode="auto">
              <a:xfrm>
                <a:off x="177" y="1578"/>
                <a:ext cx="480" cy="528"/>
              </a:xfrm>
              <a:prstGeom prst="rect">
                <a:avLst/>
              </a:prstGeom>
              <a:solidFill>
                <a:srgbClr val="FFFFFF"/>
              </a:solidFill>
              <a:ln w="9525">
                <a:solidFill>
                  <a:srgbClr val="3333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11" name="Line 42"/>
              <p:cNvSpPr>
                <a:spLocks noChangeShapeType="1"/>
              </p:cNvSpPr>
              <p:nvPr/>
            </p:nvSpPr>
            <p:spPr bwMode="auto">
              <a:xfrm>
                <a:off x="417" y="1578"/>
                <a:ext cx="0" cy="528"/>
              </a:xfrm>
              <a:prstGeom prst="line">
                <a:avLst/>
              </a:prstGeom>
              <a:noFill/>
              <a:ln w="63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2" name="Freeform 43"/>
              <p:cNvSpPr>
                <a:spLocks noChangeArrowheads="1"/>
              </p:cNvSpPr>
              <p:nvPr/>
            </p:nvSpPr>
            <p:spPr bwMode="auto">
              <a:xfrm>
                <a:off x="177" y="158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913" name="Text Box 44"/>
              <p:cNvSpPr txBox="1">
                <a:spLocks noChangeArrowheads="1"/>
              </p:cNvSpPr>
              <p:nvPr/>
            </p:nvSpPr>
            <p:spPr bwMode="auto">
              <a:xfrm>
                <a:off x="71" y="1313"/>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输入脉冲</a:t>
                </a:r>
              </a:p>
            </p:txBody>
          </p:sp>
        </p:grpSp>
        <p:grpSp>
          <p:nvGrpSpPr>
            <p:cNvPr id="37905" name="Group 45"/>
            <p:cNvGrpSpPr>
              <a:grpSpLocks/>
            </p:cNvGrpSpPr>
            <p:nvPr/>
          </p:nvGrpSpPr>
          <p:grpSpPr bwMode="auto">
            <a:xfrm>
              <a:off x="5012" y="1305"/>
              <a:ext cx="704" cy="801"/>
              <a:chOff x="5012" y="1305"/>
              <a:chExt cx="704" cy="801"/>
            </a:xfrm>
          </p:grpSpPr>
          <p:sp>
            <p:nvSpPr>
              <p:cNvPr id="37906" name="Rectangle 46"/>
              <p:cNvSpPr>
                <a:spLocks noChangeArrowheads="1"/>
              </p:cNvSpPr>
              <p:nvPr/>
            </p:nvSpPr>
            <p:spPr bwMode="auto">
              <a:xfrm>
                <a:off x="5110" y="1578"/>
                <a:ext cx="476" cy="528"/>
              </a:xfrm>
              <a:prstGeom prst="rect">
                <a:avLst/>
              </a:prstGeom>
              <a:solidFill>
                <a:srgbClr val="FFFFFF"/>
              </a:solidFill>
              <a:ln w="9525">
                <a:solidFill>
                  <a:srgbClr val="3333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CC"/>
                  </a:solidFill>
                  <a:ea typeface="黑体" panose="02010609060101010101" pitchFamily="49" charset="-122"/>
                </a:endParaRPr>
              </a:p>
            </p:txBody>
          </p:sp>
          <p:sp>
            <p:nvSpPr>
              <p:cNvPr id="37907" name="Line 47"/>
              <p:cNvSpPr>
                <a:spLocks noChangeShapeType="1"/>
              </p:cNvSpPr>
              <p:nvPr/>
            </p:nvSpPr>
            <p:spPr bwMode="auto">
              <a:xfrm>
                <a:off x="5348" y="1578"/>
                <a:ext cx="0" cy="528"/>
              </a:xfrm>
              <a:prstGeom prst="line">
                <a:avLst/>
              </a:prstGeom>
              <a:noFill/>
              <a:ln w="6350">
                <a:solidFill>
                  <a:srgbClr val="333399"/>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8" name="Freeform 48"/>
              <p:cNvSpPr>
                <a:spLocks noChangeArrowheads="1"/>
              </p:cNvSpPr>
              <p:nvPr/>
            </p:nvSpPr>
            <p:spPr bwMode="auto">
              <a:xfrm>
                <a:off x="5108" y="1726"/>
                <a:ext cx="480" cy="222"/>
              </a:xfrm>
              <a:custGeom>
                <a:avLst/>
                <a:gdLst>
                  <a:gd name="T0" fmla="*/ 0 w 678"/>
                  <a:gd name="T1" fmla="*/ 220 h 283"/>
                  <a:gd name="T2" fmla="*/ 62 w 678"/>
                  <a:gd name="T3" fmla="*/ 191 h 283"/>
                  <a:gd name="T4" fmla="*/ 106 w 678"/>
                  <a:gd name="T5" fmla="*/ 151 h 283"/>
                  <a:gd name="T6" fmla="*/ 142 w 678"/>
                  <a:gd name="T7" fmla="*/ 102 h 283"/>
                  <a:gd name="T8" fmla="*/ 183 w 678"/>
                  <a:gd name="T9" fmla="*/ 34 h 283"/>
                  <a:gd name="T10" fmla="*/ 240 w 678"/>
                  <a:gd name="T11" fmla="*/ 1 h 283"/>
                  <a:gd name="T12" fmla="*/ 302 w 678"/>
                  <a:gd name="T13" fmla="*/ 29 h 283"/>
                  <a:gd name="T14" fmla="*/ 348 w 678"/>
                  <a:gd name="T15" fmla="*/ 109 h 283"/>
                  <a:gd name="T16" fmla="*/ 374 w 678"/>
                  <a:gd name="T17" fmla="*/ 149 h 283"/>
                  <a:gd name="T18" fmla="*/ 418 w 678"/>
                  <a:gd name="T19" fmla="*/ 187 h 283"/>
                  <a:gd name="T20" fmla="*/ 480 w 678"/>
                  <a:gd name="T21" fmla="*/ 222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909" name="Text Box 49"/>
              <p:cNvSpPr txBox="1">
                <a:spLocks noChangeArrowheads="1"/>
              </p:cNvSpPr>
              <p:nvPr/>
            </p:nvSpPr>
            <p:spPr bwMode="auto">
              <a:xfrm>
                <a:off x="5012" y="1305"/>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输出脉冲</a:t>
                </a:r>
              </a:p>
            </p:txBody>
          </p:sp>
        </p:grpSp>
      </p:grpSp>
      <p:sp>
        <p:nvSpPr>
          <p:cNvPr id="116786" name="Line 50"/>
          <p:cNvSpPr>
            <a:spLocks noChangeShapeType="1"/>
          </p:cNvSpPr>
          <p:nvPr/>
        </p:nvSpPr>
        <p:spPr bwMode="auto">
          <a:xfrm flipV="1">
            <a:off x="1411288" y="4921250"/>
            <a:ext cx="7531100" cy="11113"/>
          </a:xfrm>
          <a:prstGeom prst="line">
            <a:avLst/>
          </a:prstGeom>
          <a:noFill/>
          <a:ln w="38100">
            <a:solidFill>
              <a:srgbClr val="0000CC"/>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16787" name="Freeform 51"/>
          <p:cNvSpPr>
            <a:spLocks noChangeArrowheads="1"/>
          </p:cNvSpPr>
          <p:nvPr/>
        </p:nvSpPr>
        <p:spPr bwMode="auto">
          <a:xfrm>
            <a:off x="1377950" y="2514600"/>
            <a:ext cx="7421563" cy="523875"/>
          </a:xfrm>
          <a:custGeom>
            <a:avLst/>
            <a:gdLst>
              <a:gd name="T0" fmla="*/ 0 w 4316"/>
              <a:gd name="T1" fmla="*/ 203200 h 330"/>
              <a:gd name="T2" fmla="*/ 746283 w 4316"/>
              <a:gd name="T3" fmla="*/ 0 h 330"/>
              <a:gd name="T4" fmla="*/ 2727201 w 4316"/>
              <a:gd name="T5" fmla="*/ 523875 h 330"/>
              <a:gd name="T6" fmla="*/ 4708119 w 4316"/>
              <a:gd name="T7" fmla="*/ 0 h 330"/>
              <a:gd name="T8" fmla="*/ 6781892 w 4316"/>
              <a:gd name="T9" fmla="*/ 523875 h 330"/>
              <a:gd name="T10" fmla="*/ 7421563 w 4316"/>
              <a:gd name="T11" fmla="*/ 323850 h 3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16" h="330">
                <a:moveTo>
                  <a:pt x="0" y="128"/>
                </a:moveTo>
                <a:lnTo>
                  <a:pt x="434" y="0"/>
                </a:lnTo>
                <a:lnTo>
                  <a:pt x="1586" y="330"/>
                </a:lnTo>
                <a:lnTo>
                  <a:pt x="2738" y="0"/>
                </a:lnTo>
                <a:lnTo>
                  <a:pt x="3944" y="330"/>
                </a:lnTo>
                <a:lnTo>
                  <a:pt x="4316" y="204"/>
                </a:lnTo>
              </a:path>
            </a:pathLst>
          </a:custGeom>
          <a:noFill/>
          <a:ln w="38100">
            <a:solidFill>
              <a:srgbClr val="C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00" name="Text Box 52"/>
          <p:cNvSpPr txBox="1">
            <a:spLocks noChangeArrowheads="1"/>
          </p:cNvSpPr>
          <p:nvPr/>
        </p:nvSpPr>
        <p:spPr bwMode="auto">
          <a:xfrm>
            <a:off x="4186238" y="1412875"/>
            <a:ext cx="20304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3600" b="1">
                <a:solidFill>
                  <a:srgbClr val="0000CC"/>
                </a:solidFill>
                <a:ea typeface="黑体" panose="02010609060101010101" pitchFamily="49" charset="-122"/>
              </a:rPr>
              <a:t>多模光纤</a:t>
            </a:r>
          </a:p>
        </p:txBody>
      </p:sp>
      <p:sp>
        <p:nvSpPr>
          <p:cNvPr id="37901" name="矩形 1"/>
          <p:cNvSpPr>
            <a:spLocks noChangeArrowheads="1"/>
          </p:cNvSpPr>
          <p:nvPr/>
        </p:nvSpPr>
        <p:spPr bwMode="auto">
          <a:xfrm>
            <a:off x="2071688" y="5589588"/>
            <a:ext cx="6265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多模光纤</a:t>
            </a:r>
            <a:r>
              <a:rPr lang="en-US" altLang="zh-CN" sz="2400" b="1">
                <a:ea typeface="黑体" panose="02010609060101010101" pitchFamily="49" charset="-122"/>
              </a:rPr>
              <a:t>(a) </a:t>
            </a:r>
            <a:r>
              <a:rPr lang="zh-CN" altLang="zh-CN" sz="2400" b="1">
                <a:ea typeface="黑体" panose="02010609060101010101" pitchFamily="49" charset="-122"/>
              </a:rPr>
              <a:t>和</a:t>
            </a:r>
            <a:r>
              <a:rPr lang="en-US" altLang="zh-CN" sz="2400" b="1">
                <a:ea typeface="黑体" panose="02010609060101010101" pitchFamily="49" charset="-122"/>
              </a:rPr>
              <a:t> </a:t>
            </a:r>
            <a:r>
              <a:rPr lang="zh-CN" altLang="zh-CN" sz="2400" b="1">
                <a:ea typeface="黑体" panose="02010609060101010101" pitchFamily="49" charset="-122"/>
              </a:rPr>
              <a:t>单模光纤</a:t>
            </a:r>
            <a:r>
              <a:rPr lang="en-US" altLang="zh-CN" sz="2400" b="1">
                <a:ea typeface="黑体" panose="02010609060101010101" pitchFamily="49" charset="-122"/>
              </a:rPr>
              <a:t>(b) </a:t>
            </a:r>
            <a:r>
              <a:rPr lang="zh-CN" altLang="zh-CN" sz="2400" b="1">
                <a:ea typeface="黑体" panose="02010609060101010101" pitchFamily="49" charset="-122"/>
              </a:rPr>
              <a:t>的比较</a:t>
            </a:r>
            <a:endParaRPr lang="zh-CN" altLang="en-US" sz="2400" b="1">
              <a:ea typeface="黑体" panose="02010609060101010101" pitchFamily="49" charset="-122"/>
            </a:endParaRPr>
          </a:p>
        </p:txBody>
      </p:sp>
      <p:sp>
        <p:nvSpPr>
          <p:cNvPr id="3790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C9798C-19AD-44D4-9716-F9574D500FEF}" type="slidenum">
              <a:rPr altLang="en-US" smtClean="0"/>
              <a:pPr/>
              <a:t>15</a:t>
            </a:fld>
            <a:endParaRPr lang="zh-CN" altLang="zh-CN" smtClean="0"/>
          </a:p>
        </p:txBody>
      </p:sp>
      <p:sp>
        <p:nvSpPr>
          <p:cNvPr id="3790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16775"/>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8" fill="hold" nodeType="afterEffect">
                                  <p:stCondLst>
                                    <p:cond delay="0"/>
                                  </p:stCondLst>
                                  <p:childTnLst>
                                    <p:set>
                                      <p:cBhvr>
                                        <p:cTn id="9" dur="1" fill="hold">
                                          <p:stCondLst>
                                            <p:cond delay="0"/>
                                          </p:stCondLst>
                                        </p:cTn>
                                        <p:tgtEl>
                                          <p:spTgt spid="116787"/>
                                        </p:tgtEl>
                                        <p:attrNameLst>
                                          <p:attrName>style.visibility</p:attrName>
                                        </p:attrNameLst>
                                      </p:cBhvr>
                                      <p:to>
                                        <p:strVal val="visible"/>
                                      </p:to>
                                    </p:set>
                                    <p:animEffect transition="in" filter="wipe(left)">
                                      <p:cBhvr>
                                        <p:cTn id="10" dur="2000"/>
                                        <p:tgtEl>
                                          <p:spTgt spid="116787"/>
                                        </p:tgtEl>
                                      </p:cBhvr>
                                    </p:animEffect>
                                  </p:childTnLst>
                                </p:cTn>
                              </p:par>
                              <p:par>
                                <p:cTn id="11" presetID="22" presetClass="entr" presetSubtype="8" fill="hold" nodeType="withEffect">
                                  <p:stCondLst>
                                    <p:cond delay="0"/>
                                  </p:stCondLst>
                                  <p:childTnLst>
                                    <p:set>
                                      <p:cBhvr>
                                        <p:cTn id="12" dur="1" fill="hold">
                                          <p:stCondLst>
                                            <p:cond delay="0"/>
                                          </p:stCondLst>
                                        </p:cTn>
                                        <p:tgtEl>
                                          <p:spTgt spid="116766"/>
                                        </p:tgtEl>
                                        <p:attrNameLst>
                                          <p:attrName>style.visibility</p:attrName>
                                        </p:attrNameLst>
                                      </p:cBhvr>
                                      <p:to>
                                        <p:strVal val="visible"/>
                                      </p:to>
                                    </p:set>
                                    <p:animEffect transition="in" filter="wipe(left)">
                                      <p:cBhvr>
                                        <p:cTn id="13" dur="2000"/>
                                        <p:tgtEl>
                                          <p:spTgt spid="11676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16738"/>
                                        </p:tgtEl>
                                        <p:attrNameLst>
                                          <p:attrName>style.visibility</p:attrName>
                                        </p:attrNameLst>
                                      </p:cBhvr>
                                      <p:to>
                                        <p:strVal val="visible"/>
                                      </p:to>
                                    </p:set>
                                  </p:childTnLst>
                                </p:cTn>
                              </p:par>
                            </p:childTnLst>
                          </p:cTn>
                        </p:par>
                        <p:par>
                          <p:cTn id="18" fill="hold" nodeType="afterGroup">
                            <p:stCondLst>
                              <p:cond delay="1"/>
                            </p:stCondLst>
                            <p:childTnLst>
                              <p:par>
                                <p:cTn id="19" presetID="22" presetClass="entr" presetSubtype="8" fill="hold" nodeType="afterEffect">
                                  <p:stCondLst>
                                    <p:cond delay="0"/>
                                  </p:stCondLst>
                                  <p:childTnLst>
                                    <p:set>
                                      <p:cBhvr>
                                        <p:cTn id="20" dur="1" fill="hold">
                                          <p:stCondLst>
                                            <p:cond delay="0"/>
                                          </p:stCondLst>
                                        </p:cTn>
                                        <p:tgtEl>
                                          <p:spTgt spid="116786"/>
                                        </p:tgtEl>
                                        <p:attrNameLst>
                                          <p:attrName>style.visibility</p:attrName>
                                        </p:attrNameLst>
                                      </p:cBhvr>
                                      <p:to>
                                        <p:strVal val="visible"/>
                                      </p:to>
                                    </p:set>
                                    <p:animEffect transition="in" filter="wipe(left)">
                                      <p:cBhvr>
                                        <p:cTn id="21" dur="2000"/>
                                        <p:tgtEl>
                                          <p:spTgt spid="11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光纤通信中使用的光波的波段</a:t>
            </a:r>
          </a:p>
        </p:txBody>
      </p:sp>
      <p:sp>
        <p:nvSpPr>
          <p:cNvPr id="39939" name="内容占位符 2"/>
          <p:cNvSpPr>
            <a:spLocks noGrp="1" noChangeArrowheads="1"/>
          </p:cNvSpPr>
          <p:nvPr>
            <p:ph idx="1"/>
          </p:nvPr>
        </p:nvSpPr>
        <p:spPr>
          <a:xfrm>
            <a:off x="495300" y="1196975"/>
            <a:ext cx="9066213" cy="4933950"/>
          </a:xfrm>
        </p:spPr>
        <p:txBody>
          <a:bodyPr/>
          <a:lstStyle/>
          <a:p>
            <a:pPr eaLnBrk="1" hangingPunct="1"/>
            <a:r>
              <a:rPr lang="zh-CN" altLang="zh-CN" dirty="0" smtClean="0">
                <a:ea typeface="黑体" panose="02010609060101010101" pitchFamily="49" charset="-122"/>
              </a:rPr>
              <a:t>常用的三个波段的中心分别位于</a:t>
            </a:r>
            <a:r>
              <a:rPr lang="en-US" altLang="zh-CN" dirty="0" smtClean="0">
                <a:ea typeface="黑体" panose="02010609060101010101" pitchFamily="49" charset="-122"/>
              </a:rPr>
              <a:t> </a:t>
            </a:r>
            <a:r>
              <a:rPr lang="en-US" altLang="zh-CN" dirty="0" smtClean="0">
                <a:solidFill>
                  <a:srgbClr val="0000CC"/>
                </a:solidFill>
                <a:ea typeface="黑体" panose="02010609060101010101" pitchFamily="49" charset="-122"/>
              </a:rPr>
              <a:t>850 nm, 1300 nm </a:t>
            </a:r>
            <a:r>
              <a:rPr lang="zh-CN" altLang="zh-CN" dirty="0" smtClean="0">
                <a:solidFill>
                  <a:srgbClr val="0000CC"/>
                </a:solidFill>
                <a:ea typeface="黑体" panose="02010609060101010101" pitchFamily="49" charset="-122"/>
              </a:rPr>
              <a:t>和</a:t>
            </a:r>
            <a:r>
              <a:rPr lang="en-US" altLang="zh-CN" dirty="0" smtClean="0">
                <a:solidFill>
                  <a:srgbClr val="0000CC"/>
                </a:solidFill>
                <a:ea typeface="黑体" panose="02010609060101010101" pitchFamily="49" charset="-122"/>
              </a:rPr>
              <a:t> 1550 nm</a:t>
            </a:r>
            <a:r>
              <a:rPr lang="zh-CN" altLang="en-US" dirty="0" smtClean="0">
                <a:solidFill>
                  <a:srgbClr val="0000CC"/>
                </a:solidFill>
                <a:ea typeface="黑体" panose="02010609060101010101" pitchFamily="49" charset="-122"/>
              </a:rPr>
              <a:t>。</a:t>
            </a:r>
            <a:endParaRPr lang="en-US" altLang="zh-CN" dirty="0" smtClean="0">
              <a:solidFill>
                <a:srgbClr val="0000CC"/>
              </a:solidFill>
              <a:ea typeface="黑体" panose="02010609060101010101" pitchFamily="49" charset="-122"/>
            </a:endParaRPr>
          </a:p>
          <a:p>
            <a:pPr eaLnBrk="1" hangingPunct="1"/>
            <a:r>
              <a:rPr lang="zh-CN" altLang="zh-CN" dirty="0" smtClean="0">
                <a:ea typeface="黑体" panose="02010609060101010101" pitchFamily="49" charset="-122"/>
              </a:rPr>
              <a:t>所有这三个波段都具有</a:t>
            </a:r>
            <a:r>
              <a:rPr lang="en-US" altLang="zh-CN" dirty="0" smtClean="0">
                <a:ea typeface="黑体" panose="02010609060101010101" pitchFamily="49" charset="-122"/>
              </a:rPr>
              <a:t> </a:t>
            </a:r>
            <a:r>
              <a:rPr lang="en-US" altLang="zh-CN" dirty="0" smtClean="0">
                <a:solidFill>
                  <a:srgbClr val="0000CC"/>
                </a:solidFill>
                <a:ea typeface="黑体" panose="02010609060101010101" pitchFamily="49" charset="-122"/>
              </a:rPr>
              <a:t>25000~30000 GHz </a:t>
            </a:r>
            <a:r>
              <a:rPr lang="zh-CN" altLang="zh-CN" dirty="0" smtClean="0">
                <a:solidFill>
                  <a:srgbClr val="0000CC"/>
                </a:solidFill>
                <a:ea typeface="黑体" panose="02010609060101010101" pitchFamily="49" charset="-122"/>
              </a:rPr>
              <a:t>的带宽，</a:t>
            </a:r>
            <a:r>
              <a:rPr lang="zh-CN" altLang="zh-CN" dirty="0" smtClean="0">
                <a:ea typeface="黑体" panose="02010609060101010101" pitchFamily="49" charset="-122"/>
              </a:rPr>
              <a:t>可见光纤的通信容量非常大</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marL="0" indent="0" algn="r" eaLnBrk="1" hangingPunct="1">
              <a:buNone/>
            </a:pPr>
            <a:r>
              <a:rPr lang="en-US" altLang="zh-CN" dirty="0" smtClean="0">
                <a:solidFill>
                  <a:srgbClr val="FF0000"/>
                </a:solidFill>
                <a:ea typeface="黑体" panose="02010609060101010101" pitchFamily="49" charset="-122"/>
              </a:rPr>
              <a:t>——</a:t>
            </a:r>
            <a:r>
              <a:rPr lang="zh-CN" altLang="en-US" dirty="0" smtClean="0">
                <a:solidFill>
                  <a:srgbClr val="FF0000"/>
                </a:solidFill>
                <a:ea typeface="黑体" panose="02010609060101010101" pitchFamily="49" charset="-122"/>
              </a:rPr>
              <a:t>广泛用于主干网</a:t>
            </a:r>
            <a:endParaRPr lang="en-US" altLang="zh-CN" dirty="0" smtClean="0">
              <a:solidFill>
                <a:srgbClr val="FF0000"/>
              </a:solidFill>
              <a:ea typeface="黑体" panose="02010609060101010101" pitchFamily="49" charset="-122"/>
            </a:endParaRPr>
          </a:p>
          <a:p>
            <a:pPr eaLnBrk="1" hangingPunct="1"/>
            <a:endParaRPr lang="zh-CN" altLang="en-US" dirty="0" smtClean="0">
              <a:ea typeface="黑体" panose="02010609060101010101" pitchFamily="49" charset="-122"/>
            </a:endParaRPr>
          </a:p>
        </p:txBody>
      </p:sp>
      <p:sp>
        <p:nvSpPr>
          <p:cNvPr id="3994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7189F1-A49F-4661-99F2-D0B7982A93B5}" type="slidenum">
              <a:rPr altLang="en-US" smtClean="0"/>
              <a:pPr/>
              <a:t>16</a:t>
            </a:fld>
            <a:endParaRPr lang="zh-CN" altLang="zh-CN" smtClean="0"/>
          </a:p>
        </p:txBody>
      </p:sp>
      <p:sp>
        <p:nvSpPr>
          <p:cNvPr id="3994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光纤优点</a:t>
            </a:r>
          </a:p>
        </p:txBody>
      </p:sp>
      <p:sp>
        <p:nvSpPr>
          <p:cNvPr id="40963" name="内容占位符 2"/>
          <p:cNvSpPr>
            <a:spLocks noGrp="1" noChangeArrowheads="1"/>
          </p:cNvSpPr>
          <p:nvPr>
            <p:ph idx="1"/>
          </p:nvPr>
        </p:nvSpPr>
        <p:spPr>
          <a:xfrm>
            <a:off x="495300" y="1196975"/>
            <a:ext cx="9066213" cy="4933950"/>
          </a:xfrm>
        </p:spPr>
        <p:txBody>
          <a:bodyPr/>
          <a:lstStyle/>
          <a:p>
            <a:pPr marL="0" indent="0" eaLnBrk="1" hangingPunct="1">
              <a:buNone/>
            </a:pPr>
            <a:r>
              <a:rPr lang="en-US" altLang="zh-CN" dirty="0" smtClean="0">
                <a:ea typeface="黑体" panose="02010609060101010101" pitchFamily="49" charset="-122"/>
              </a:rPr>
              <a:t>(1) </a:t>
            </a:r>
            <a:r>
              <a:rPr lang="zh-CN" altLang="zh-CN" dirty="0" smtClean="0">
                <a:ea typeface="黑体" panose="02010609060101010101" pitchFamily="49" charset="-122"/>
              </a:rPr>
              <a:t>通信容量非常大</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marL="0" indent="0" eaLnBrk="1" hangingPunct="1">
              <a:buNone/>
            </a:pPr>
            <a:r>
              <a:rPr lang="en-US" altLang="zh-CN" dirty="0" smtClean="0">
                <a:ea typeface="黑体" panose="02010609060101010101" pitchFamily="49" charset="-122"/>
              </a:rPr>
              <a:t>(2) </a:t>
            </a:r>
            <a:r>
              <a:rPr lang="zh-CN" altLang="zh-CN" dirty="0" smtClean="0">
                <a:ea typeface="黑体" panose="02010609060101010101" pitchFamily="49" charset="-122"/>
              </a:rPr>
              <a:t>传输损耗小，中继距离长。</a:t>
            </a:r>
          </a:p>
          <a:p>
            <a:pPr marL="0" indent="0" eaLnBrk="1" hangingPunct="1">
              <a:buNone/>
            </a:pPr>
            <a:r>
              <a:rPr lang="en-US" altLang="zh-CN" dirty="0" smtClean="0">
                <a:ea typeface="黑体" panose="02010609060101010101" pitchFamily="49" charset="-122"/>
              </a:rPr>
              <a:t>(2) </a:t>
            </a:r>
            <a:r>
              <a:rPr lang="zh-CN" altLang="zh-CN" dirty="0" smtClean="0">
                <a:ea typeface="黑体" panose="02010609060101010101" pitchFamily="49" charset="-122"/>
              </a:rPr>
              <a:t>抗雷电和电磁干扰性能好。</a:t>
            </a:r>
          </a:p>
          <a:p>
            <a:pPr marL="0" indent="0" eaLnBrk="1" hangingPunct="1">
              <a:buNone/>
            </a:pPr>
            <a:r>
              <a:rPr lang="en-US" altLang="zh-CN" dirty="0" smtClean="0">
                <a:ea typeface="黑体" panose="02010609060101010101" pitchFamily="49" charset="-122"/>
              </a:rPr>
              <a:t>(3) </a:t>
            </a:r>
            <a:r>
              <a:rPr lang="zh-CN" altLang="zh-CN" dirty="0" smtClean="0">
                <a:ea typeface="黑体" panose="02010609060101010101" pitchFamily="49" charset="-122"/>
              </a:rPr>
              <a:t>无串音干扰，保密性好。</a:t>
            </a:r>
          </a:p>
          <a:p>
            <a:pPr marL="0" indent="0" eaLnBrk="1" hangingPunct="1">
              <a:buNone/>
            </a:pPr>
            <a:r>
              <a:rPr lang="en-US" altLang="zh-CN" dirty="0" smtClean="0">
                <a:ea typeface="黑体" panose="02010609060101010101" pitchFamily="49" charset="-122"/>
              </a:rPr>
              <a:t>(4) </a:t>
            </a:r>
            <a:r>
              <a:rPr lang="zh-CN" altLang="zh-CN" dirty="0" smtClean="0">
                <a:ea typeface="黑体" panose="02010609060101010101" pitchFamily="49" charset="-122"/>
              </a:rPr>
              <a:t>体积小，重量轻。</a:t>
            </a:r>
            <a:endParaRPr lang="zh-CN" altLang="en-US" dirty="0" smtClean="0">
              <a:ea typeface="黑体" panose="02010609060101010101" pitchFamily="49" charset="-122"/>
            </a:endParaRPr>
          </a:p>
        </p:txBody>
      </p:sp>
      <p:sp>
        <p:nvSpPr>
          <p:cNvPr id="4096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B67FEC0-2956-4B00-B280-563E378955A8}" type="slidenum">
              <a:rPr altLang="en-US" smtClean="0"/>
              <a:pPr/>
              <a:t>17</a:t>
            </a:fld>
            <a:endParaRPr lang="zh-CN" altLang="zh-CN" smtClean="0"/>
          </a:p>
        </p:txBody>
      </p:sp>
      <p:sp>
        <p:nvSpPr>
          <p:cNvPr id="40965"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2.3.2  </a:t>
            </a:r>
            <a:r>
              <a:rPr lang="zh-CN" altLang="en-US" smtClean="0">
                <a:ea typeface="黑体" panose="02010609060101010101" pitchFamily="49" charset="-122"/>
              </a:rPr>
              <a:t>非导引型传输媒体 </a:t>
            </a:r>
          </a:p>
        </p:txBody>
      </p:sp>
      <p:sp>
        <p:nvSpPr>
          <p:cNvPr id="46083" name="Rectangle 3"/>
          <p:cNvSpPr>
            <a:spLocks noGrp="1" noChangeArrowheads="1"/>
          </p:cNvSpPr>
          <p:nvPr>
            <p:ph idx="1"/>
          </p:nvPr>
        </p:nvSpPr>
        <p:spPr>
          <a:xfrm>
            <a:off x="495300" y="1196975"/>
            <a:ext cx="9066213" cy="4933950"/>
          </a:xfrm>
        </p:spPr>
        <p:txBody>
          <a:bodyPr/>
          <a:lstStyle/>
          <a:p>
            <a:pPr eaLnBrk="1" hangingPunct="1"/>
            <a:r>
              <a:rPr lang="zh-CN" altLang="zh-CN" dirty="0" smtClean="0">
                <a:ea typeface="黑体" panose="02010609060101010101" pitchFamily="49" charset="-122"/>
              </a:rPr>
              <a:t>将自由空间称为“非导引型传输媒体”。</a:t>
            </a:r>
            <a:endParaRPr lang="en-US" altLang="zh-CN" dirty="0" smtClean="0">
              <a:ea typeface="黑体" panose="02010609060101010101" pitchFamily="49" charset="-122"/>
            </a:endParaRPr>
          </a:p>
          <a:p>
            <a:pPr eaLnBrk="1" hangingPunct="1"/>
            <a:r>
              <a:rPr lang="zh-CN" altLang="en-US" dirty="0" smtClean="0">
                <a:ea typeface="黑体" panose="02010609060101010101" pitchFamily="49" charset="-122"/>
              </a:rPr>
              <a:t>无线传输所使用的频段很广。</a:t>
            </a:r>
          </a:p>
          <a:p>
            <a:pPr eaLnBrk="1" hangingPunct="1"/>
            <a:r>
              <a:rPr lang="zh-CN" altLang="en-US" dirty="0" smtClean="0">
                <a:solidFill>
                  <a:srgbClr val="FF0000"/>
                </a:solidFill>
                <a:ea typeface="黑体" panose="02010609060101010101" pitchFamily="49" charset="-122"/>
              </a:rPr>
              <a:t>短波通信</a:t>
            </a:r>
            <a:r>
              <a:rPr lang="zh-CN" altLang="zh-CN" dirty="0" smtClean="0">
                <a:ea typeface="黑体" panose="02010609060101010101" pitchFamily="49" charset="-122"/>
              </a:rPr>
              <a:t>（即高频通信）</a:t>
            </a:r>
            <a:r>
              <a:rPr lang="zh-CN" altLang="en-US" dirty="0" smtClean="0">
                <a:ea typeface="黑体" panose="02010609060101010101" pitchFamily="49" charset="-122"/>
              </a:rPr>
              <a:t>主要是靠电离层的反射，但短波信道的通信质量较差，传输速率低。</a:t>
            </a:r>
          </a:p>
          <a:p>
            <a:pPr eaLnBrk="1" hangingPunct="1"/>
            <a:r>
              <a:rPr lang="zh-CN" altLang="en-US" dirty="0" smtClean="0">
                <a:solidFill>
                  <a:srgbClr val="FF0000"/>
                </a:solidFill>
                <a:ea typeface="黑体" panose="02010609060101010101" pitchFamily="49" charset="-122"/>
              </a:rPr>
              <a:t>微波</a:t>
            </a:r>
            <a:r>
              <a:rPr lang="zh-CN" altLang="en-US" dirty="0" smtClean="0">
                <a:ea typeface="黑体" panose="02010609060101010101" pitchFamily="49" charset="-122"/>
              </a:rPr>
              <a:t>在空间主要是直线传播。传统微波通信有两种方式： </a:t>
            </a:r>
          </a:p>
          <a:p>
            <a:pPr lvl="1" eaLnBrk="1" hangingPunct="1"/>
            <a:r>
              <a:rPr lang="zh-CN" altLang="en-US" dirty="0" smtClean="0">
                <a:solidFill>
                  <a:srgbClr val="0000CC"/>
                </a:solidFill>
                <a:ea typeface="黑体" panose="02010609060101010101" pitchFamily="49" charset="-122"/>
              </a:rPr>
              <a:t>地面微波接力通信：</a:t>
            </a:r>
            <a:r>
              <a:rPr lang="zh-CN" altLang="en-US" dirty="0" smtClean="0">
                <a:ea typeface="黑体" panose="02010609060101010101" pitchFamily="49" charset="-122"/>
              </a:rPr>
              <a:t>长距离地面需中继站接力</a:t>
            </a:r>
          </a:p>
          <a:p>
            <a:pPr lvl="1" eaLnBrk="1" hangingPunct="1"/>
            <a:r>
              <a:rPr lang="zh-CN" altLang="en-US" dirty="0" smtClean="0">
                <a:solidFill>
                  <a:srgbClr val="0000CC"/>
                </a:solidFill>
                <a:ea typeface="黑体" panose="02010609060101010101" pitchFamily="49" charset="-122"/>
              </a:rPr>
              <a:t>卫星通信：</a:t>
            </a:r>
            <a:r>
              <a:rPr lang="zh-CN" altLang="en-US" dirty="0" smtClean="0">
                <a:ea typeface="黑体" panose="02010609060101010101" pitchFamily="49" charset="-122"/>
              </a:rPr>
              <a:t>卫星接力，但时延大  </a:t>
            </a:r>
          </a:p>
        </p:txBody>
      </p:sp>
      <p:sp>
        <p:nvSpPr>
          <p:cNvPr id="4198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40C318-B0E7-4E62-B1BB-7B5B41007965}" type="slidenum">
              <a:rPr altLang="en-US" smtClean="0"/>
              <a:pPr/>
              <a:t>18</a:t>
            </a:fld>
            <a:endParaRPr lang="zh-CN" altLang="zh-CN" smtClean="0"/>
          </a:p>
        </p:txBody>
      </p:sp>
      <p:sp>
        <p:nvSpPr>
          <p:cNvPr id="4198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p:txBody>
          <a:bodyPr/>
          <a:lstStyle/>
          <a:p>
            <a:pPr eaLnBrk="1" hangingPunct="1"/>
            <a:r>
              <a:rPr lang="en-US" altLang="zh-CN" dirty="0" smtClean="0">
                <a:ea typeface="黑体" panose="02010609060101010101" pitchFamily="49" charset="-122"/>
              </a:rPr>
              <a:t>  </a:t>
            </a:r>
            <a:r>
              <a:rPr lang="zh-CN" altLang="en-US" dirty="0" smtClean="0">
                <a:solidFill>
                  <a:srgbClr val="FF0000"/>
                </a:solidFill>
                <a:ea typeface="黑体" panose="02010609060101010101" pitchFamily="49" charset="-122"/>
              </a:rPr>
              <a:t>无线局域网</a:t>
            </a:r>
            <a:r>
              <a:rPr lang="zh-CN" altLang="en-US" dirty="0" smtClean="0">
                <a:ea typeface="黑体" panose="02010609060101010101" pitchFamily="49" charset="-122"/>
              </a:rPr>
              <a:t>使用的 </a:t>
            </a:r>
            <a:r>
              <a:rPr lang="en-US" altLang="zh-CN" dirty="0" smtClean="0">
                <a:ea typeface="黑体" panose="02010609060101010101" pitchFamily="49" charset="-122"/>
              </a:rPr>
              <a:t>ISM </a:t>
            </a:r>
            <a:r>
              <a:rPr lang="zh-CN" altLang="en-US" dirty="0" smtClean="0">
                <a:ea typeface="黑体" panose="02010609060101010101" pitchFamily="49" charset="-122"/>
              </a:rPr>
              <a:t>频段 </a:t>
            </a:r>
          </a:p>
        </p:txBody>
      </p:sp>
      <p:grpSp>
        <p:nvGrpSpPr>
          <p:cNvPr id="44035" name="组合 3"/>
          <p:cNvGrpSpPr>
            <a:grpSpLocks/>
          </p:cNvGrpSpPr>
          <p:nvPr/>
        </p:nvGrpSpPr>
        <p:grpSpPr bwMode="auto">
          <a:xfrm>
            <a:off x="508000" y="2895665"/>
            <a:ext cx="9077325" cy="2952750"/>
            <a:chOff x="507339" y="3213083"/>
            <a:chExt cx="9078126" cy="2952221"/>
          </a:xfrm>
        </p:grpSpPr>
        <p:sp>
          <p:nvSpPr>
            <p:cNvPr id="44040" name="Text Box 5"/>
            <p:cNvSpPr txBox="1">
              <a:spLocks noChangeArrowheads="1"/>
            </p:cNvSpPr>
            <p:nvPr/>
          </p:nvSpPr>
          <p:spPr bwMode="auto">
            <a:xfrm>
              <a:off x="507339" y="3213083"/>
              <a:ext cx="9054171"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en-US" altLang="zh-CN" sz="2400" b="1">
                  <a:solidFill>
                    <a:srgbClr val="000099"/>
                  </a:solidFill>
                  <a:ea typeface="黑体" panose="02010609060101010101" pitchFamily="49" charset="-122"/>
                </a:rPr>
                <a:t>                26                      83.5                                    125</a:t>
              </a:r>
            </a:p>
            <a:p>
              <a:pPr>
                <a:lnSpc>
                  <a:spcPct val="85000"/>
                </a:lnSpc>
              </a:pPr>
              <a:r>
                <a:rPr lang="zh-CN" altLang="en-US" sz="2400" b="1">
                  <a:solidFill>
                    <a:srgbClr val="000099"/>
                  </a:solidFill>
                  <a:ea typeface="黑体" panose="02010609060101010101" pitchFamily="49" charset="-122"/>
                </a:rPr>
                <a:t>频带       </a:t>
              </a:r>
              <a:r>
                <a:rPr lang="en-US" altLang="zh-CN" sz="2400" b="1">
                  <a:solidFill>
                    <a:srgbClr val="000099"/>
                  </a:solidFill>
                  <a:ea typeface="黑体" panose="02010609060101010101" pitchFamily="49" charset="-122"/>
                </a:rPr>
                <a:t>MHz                    MHz                                    MHz</a:t>
              </a:r>
            </a:p>
          </p:txBody>
        </p:sp>
        <p:sp>
          <p:nvSpPr>
            <p:cNvPr id="44041" name="Text Box 6"/>
            <p:cNvSpPr txBox="1">
              <a:spLocks noChangeArrowheads="1"/>
            </p:cNvSpPr>
            <p:nvPr/>
          </p:nvSpPr>
          <p:spPr bwMode="auto">
            <a:xfrm>
              <a:off x="507339" y="5445107"/>
              <a:ext cx="9078126"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zh-CN" altLang="en-US" sz="2400" b="1">
                  <a:solidFill>
                    <a:srgbClr val="000099"/>
                  </a:solidFill>
                  <a:ea typeface="黑体" panose="02010609060101010101" pitchFamily="49" charset="-122"/>
                </a:rPr>
                <a:t>频率    </a:t>
              </a:r>
              <a:r>
                <a:rPr lang="en-US" altLang="zh-CN" sz="2400" b="1">
                  <a:solidFill>
                    <a:srgbClr val="000099"/>
                  </a:solidFill>
                  <a:ea typeface="黑体" panose="02010609060101010101" pitchFamily="49" charset="-122"/>
                </a:rPr>
                <a:t>902    928       2.4            2.4835          5.725               5.850</a:t>
              </a:r>
            </a:p>
            <a:p>
              <a:pPr>
                <a:lnSpc>
                  <a:spcPct val="85000"/>
                </a:lnSpc>
              </a:pPr>
              <a:r>
                <a:rPr lang="en-US" altLang="zh-CN" sz="2400" b="1">
                  <a:solidFill>
                    <a:srgbClr val="000099"/>
                  </a:solidFill>
                  <a:ea typeface="黑体" panose="02010609060101010101" pitchFamily="49" charset="-122"/>
                </a:rPr>
                <a:t>           MHz   MHz     GHz             GHz            GHz                 GHz</a:t>
              </a:r>
            </a:p>
          </p:txBody>
        </p:sp>
        <p:sp>
          <p:nvSpPr>
            <p:cNvPr id="44042" name="Line 7"/>
            <p:cNvSpPr>
              <a:spLocks noChangeShapeType="1"/>
            </p:cNvSpPr>
            <p:nvPr/>
          </p:nvSpPr>
          <p:spPr bwMode="auto">
            <a:xfrm>
              <a:off x="1396471" y="4062395"/>
              <a:ext cx="801422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3" name="Line 8"/>
            <p:cNvSpPr>
              <a:spLocks noChangeShapeType="1"/>
            </p:cNvSpPr>
            <p:nvPr/>
          </p:nvSpPr>
          <p:spPr bwMode="auto">
            <a:xfrm>
              <a:off x="1396471" y="5356207"/>
              <a:ext cx="801422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4" name="Rectangle 9"/>
            <p:cNvSpPr>
              <a:spLocks noChangeArrowheads="1"/>
            </p:cNvSpPr>
            <p:nvPr/>
          </p:nvSpPr>
          <p:spPr bwMode="auto">
            <a:xfrm>
              <a:off x="1792023" y="4062395"/>
              <a:ext cx="693077" cy="1293812"/>
            </a:xfrm>
            <a:prstGeom prst="rect">
              <a:avLst/>
            </a:prstGeom>
            <a:solidFill>
              <a:srgbClr val="B2B2B2"/>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44045" name="Rectangle 10"/>
            <p:cNvSpPr>
              <a:spLocks noChangeArrowheads="1"/>
            </p:cNvSpPr>
            <p:nvPr/>
          </p:nvSpPr>
          <p:spPr bwMode="auto">
            <a:xfrm>
              <a:off x="3769783" y="4062395"/>
              <a:ext cx="1485900" cy="1293812"/>
            </a:xfrm>
            <a:prstGeom prst="rect">
              <a:avLst/>
            </a:prstGeom>
            <a:solidFill>
              <a:srgbClr val="B2B2B2"/>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44046" name="Rectangle 11"/>
            <p:cNvSpPr>
              <a:spLocks noChangeArrowheads="1"/>
            </p:cNvSpPr>
            <p:nvPr/>
          </p:nvSpPr>
          <p:spPr bwMode="auto">
            <a:xfrm>
              <a:off x="7035669" y="4062395"/>
              <a:ext cx="2079228" cy="1293812"/>
            </a:xfrm>
            <a:prstGeom prst="rect">
              <a:avLst/>
            </a:prstGeom>
            <a:solidFill>
              <a:srgbClr val="B2B2B2"/>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sz="2000" b="1">
                <a:solidFill>
                  <a:srgbClr val="000099"/>
                </a:solidFill>
                <a:ea typeface="黑体" panose="02010609060101010101" pitchFamily="49" charset="-122"/>
              </a:endParaRPr>
            </a:p>
          </p:txBody>
        </p:sp>
        <p:sp>
          <p:nvSpPr>
            <p:cNvPr id="44047" name="Line 12"/>
            <p:cNvSpPr>
              <a:spLocks noChangeShapeType="1"/>
            </p:cNvSpPr>
            <p:nvPr/>
          </p:nvSpPr>
          <p:spPr bwMode="auto">
            <a:xfrm>
              <a:off x="1792023" y="3933807"/>
              <a:ext cx="693077"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48" name="Line 13"/>
            <p:cNvSpPr>
              <a:spLocks noChangeShapeType="1"/>
            </p:cNvSpPr>
            <p:nvPr/>
          </p:nvSpPr>
          <p:spPr bwMode="auto">
            <a:xfrm>
              <a:off x="3769783" y="3933807"/>
              <a:ext cx="14859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49" name="Line 14"/>
            <p:cNvSpPr>
              <a:spLocks noChangeShapeType="1"/>
            </p:cNvSpPr>
            <p:nvPr/>
          </p:nvSpPr>
          <p:spPr bwMode="auto">
            <a:xfrm>
              <a:off x="7035669" y="3933807"/>
              <a:ext cx="207922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50" name="Text Box 15"/>
            <p:cNvSpPr txBox="1">
              <a:spLocks noChangeArrowheads="1"/>
            </p:cNvSpPr>
            <p:nvPr/>
          </p:nvSpPr>
          <p:spPr bwMode="auto">
            <a:xfrm>
              <a:off x="2925366" y="3735370"/>
              <a:ext cx="44114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sym typeface="Symbol" panose="05050102010706020507" pitchFamily="18" charset="2"/>
                </a:rPr>
                <a:t></a:t>
              </a:r>
            </a:p>
          </p:txBody>
        </p:sp>
        <p:sp>
          <p:nvSpPr>
            <p:cNvPr id="44051" name="Text Box 16"/>
            <p:cNvSpPr txBox="1">
              <a:spLocks noChangeArrowheads="1"/>
            </p:cNvSpPr>
            <p:nvPr/>
          </p:nvSpPr>
          <p:spPr bwMode="auto">
            <a:xfrm>
              <a:off x="2904729" y="4991082"/>
              <a:ext cx="44114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sym typeface="Symbol" panose="05050102010706020507" pitchFamily="18" charset="2"/>
                </a:rPr>
                <a:t></a:t>
              </a:r>
            </a:p>
          </p:txBody>
        </p:sp>
        <p:sp>
          <p:nvSpPr>
            <p:cNvPr id="44052" name="Text Box 17"/>
            <p:cNvSpPr txBox="1">
              <a:spLocks noChangeArrowheads="1"/>
            </p:cNvSpPr>
            <p:nvPr/>
          </p:nvSpPr>
          <p:spPr bwMode="auto">
            <a:xfrm>
              <a:off x="5890287" y="3706795"/>
              <a:ext cx="44114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sym typeface="Symbol" panose="05050102010706020507" pitchFamily="18" charset="2"/>
                </a:rPr>
                <a:t></a:t>
              </a:r>
            </a:p>
          </p:txBody>
        </p:sp>
        <p:sp>
          <p:nvSpPr>
            <p:cNvPr id="44053" name="Text Box 18"/>
            <p:cNvSpPr txBox="1">
              <a:spLocks noChangeArrowheads="1"/>
            </p:cNvSpPr>
            <p:nvPr/>
          </p:nvSpPr>
          <p:spPr bwMode="auto">
            <a:xfrm>
              <a:off x="5919523" y="5021245"/>
              <a:ext cx="44114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sym typeface="Symbol" panose="05050102010706020507" pitchFamily="18" charset="2"/>
                </a:rPr>
                <a:t></a:t>
              </a:r>
            </a:p>
          </p:txBody>
        </p:sp>
      </p:grpSp>
      <p:sp>
        <p:nvSpPr>
          <p:cNvPr id="44036" name="矩形 2"/>
          <p:cNvSpPr>
            <a:spLocks noChangeArrowheads="1"/>
          </p:cNvSpPr>
          <p:nvPr/>
        </p:nvSpPr>
        <p:spPr bwMode="auto">
          <a:xfrm>
            <a:off x="508000" y="1196975"/>
            <a:ext cx="9053513" cy="1569660"/>
          </a:xfrm>
          <a:prstGeom prst="rect">
            <a:avLst/>
          </a:prstGeom>
          <a:solidFill>
            <a:srgbClr val="66FF66"/>
          </a:solidFill>
          <a:ln w="9525">
            <a:solidFill>
              <a:srgbClr val="000066"/>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zh-CN" sz="2400" b="1" dirty="0">
                <a:solidFill>
                  <a:srgbClr val="000066"/>
                </a:solidFill>
                <a:ea typeface="黑体" panose="02010609060101010101" pitchFamily="49" charset="-122"/>
              </a:rPr>
              <a:t>要使用某一段无线电频谱进行通信，通常必须得到本国政府有关无线电频谱管理机构的许可证。但是，也有一些无线电频段是可以自由使用的</a:t>
            </a:r>
            <a:r>
              <a:rPr lang="zh-CN" altLang="en-US" sz="2400" b="1" dirty="0">
                <a:solidFill>
                  <a:srgbClr val="000066"/>
                </a:solidFill>
                <a:ea typeface="黑体" panose="02010609060101010101" pitchFamily="49" charset="-122"/>
              </a:rPr>
              <a:t>。例如：</a:t>
            </a:r>
            <a:r>
              <a:rPr lang="en-US" altLang="zh-CN" sz="2400" b="1" dirty="0" smtClean="0">
                <a:solidFill>
                  <a:srgbClr val="FF0000"/>
                </a:solidFill>
                <a:ea typeface="黑体" panose="02010609060101010101" pitchFamily="49" charset="-122"/>
              </a:rPr>
              <a:t>ISM</a:t>
            </a:r>
            <a:r>
              <a:rPr lang="zh-CN" altLang="en-US" sz="2400" b="1" dirty="0" smtClean="0">
                <a:solidFill>
                  <a:srgbClr val="000066"/>
                </a:solidFill>
                <a:ea typeface="黑体" panose="02010609060101010101" pitchFamily="49" charset="-122"/>
              </a:rPr>
              <a:t>（</a:t>
            </a:r>
            <a:r>
              <a:rPr lang="en-US" altLang="zh-CN" sz="2400" b="1" dirty="0" smtClean="0">
                <a:solidFill>
                  <a:srgbClr val="000066"/>
                </a:solidFill>
                <a:ea typeface="黑体" panose="02010609060101010101" pitchFamily="49" charset="-122"/>
              </a:rPr>
              <a:t>Industrial Scientific and Medical</a:t>
            </a:r>
            <a:r>
              <a:rPr lang="zh-CN" altLang="en-US" sz="2400" b="1" dirty="0" smtClean="0">
                <a:solidFill>
                  <a:srgbClr val="000066"/>
                </a:solidFill>
                <a:ea typeface="黑体" panose="02010609060101010101" pitchFamily="49" charset="-122"/>
              </a:rPr>
              <a:t>）。</a:t>
            </a:r>
            <a:r>
              <a:rPr lang="zh-CN" altLang="zh-CN" sz="2400" b="1" dirty="0">
                <a:solidFill>
                  <a:srgbClr val="000066"/>
                </a:solidFill>
                <a:ea typeface="黑体" panose="02010609060101010101" pitchFamily="49" charset="-122"/>
              </a:rPr>
              <a:t>各国的</a:t>
            </a:r>
            <a:r>
              <a:rPr lang="en-US" altLang="zh-CN" sz="2400" b="1" dirty="0">
                <a:solidFill>
                  <a:srgbClr val="000066"/>
                </a:solidFill>
                <a:ea typeface="黑体" panose="02010609060101010101" pitchFamily="49" charset="-122"/>
              </a:rPr>
              <a:t> ISM </a:t>
            </a:r>
            <a:r>
              <a:rPr lang="zh-CN" altLang="zh-CN" sz="2400" b="1" dirty="0">
                <a:solidFill>
                  <a:srgbClr val="000066"/>
                </a:solidFill>
                <a:ea typeface="黑体" panose="02010609060101010101" pitchFamily="49" charset="-122"/>
              </a:rPr>
              <a:t>标准有可能略有差别</a:t>
            </a:r>
            <a:r>
              <a:rPr lang="zh-CN" altLang="en-US" sz="2400" b="1" dirty="0">
                <a:solidFill>
                  <a:srgbClr val="000066"/>
                </a:solidFill>
                <a:ea typeface="黑体" panose="02010609060101010101" pitchFamily="49" charset="-122"/>
              </a:rPr>
              <a:t>。</a:t>
            </a:r>
          </a:p>
        </p:txBody>
      </p:sp>
      <p:sp>
        <p:nvSpPr>
          <p:cNvPr id="44037" name="矩形 4"/>
          <p:cNvSpPr>
            <a:spLocks noChangeArrowheads="1"/>
          </p:cNvSpPr>
          <p:nvPr/>
        </p:nvSpPr>
        <p:spPr bwMode="auto">
          <a:xfrm>
            <a:off x="2279650" y="5991290"/>
            <a:ext cx="5626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无线局域网使用的</a:t>
            </a:r>
            <a:r>
              <a:rPr lang="en-US" altLang="zh-CN" sz="2400" b="1">
                <a:ea typeface="黑体" panose="02010609060101010101" pitchFamily="49" charset="-122"/>
              </a:rPr>
              <a:t> ISM </a:t>
            </a:r>
            <a:r>
              <a:rPr lang="zh-CN" altLang="zh-CN" sz="2400" b="1">
                <a:ea typeface="黑体" panose="02010609060101010101" pitchFamily="49" charset="-122"/>
              </a:rPr>
              <a:t>频段</a:t>
            </a:r>
            <a:endParaRPr lang="zh-CN" altLang="en-US" sz="2400" b="1">
              <a:ea typeface="黑体" panose="02010609060101010101" pitchFamily="49" charset="-122"/>
            </a:endParaRPr>
          </a:p>
        </p:txBody>
      </p:sp>
      <p:sp>
        <p:nvSpPr>
          <p:cNvPr id="44038"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1FF5C0-C100-42C5-8D50-11B0D01FE239}" type="slidenum">
              <a:rPr altLang="en-US" smtClean="0"/>
              <a:pPr/>
              <a:t>19</a:t>
            </a:fld>
            <a:endParaRPr lang="zh-CN" altLang="zh-CN" smtClean="0"/>
          </a:p>
        </p:txBody>
      </p:sp>
      <p:sp>
        <p:nvSpPr>
          <p:cNvPr id="44039"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95300" y="188913"/>
            <a:ext cx="9066213" cy="792162"/>
          </a:xfrm>
        </p:spPr>
        <p:txBody>
          <a:bodyPr/>
          <a:lstStyle/>
          <a:p>
            <a:pPr eaLnBrk="1" hangingPunct="1"/>
            <a:r>
              <a:rPr lang="en-US" altLang="zh-CN" smtClean="0">
                <a:ea typeface="黑体" panose="02010609060101010101" pitchFamily="49" charset="-122"/>
              </a:rPr>
              <a:t>2.4  </a:t>
            </a:r>
            <a:r>
              <a:rPr lang="zh-CN" altLang="zh-CN" smtClean="0">
                <a:ea typeface="黑体" panose="02010609060101010101" pitchFamily="49" charset="-122"/>
              </a:rPr>
              <a:t>信道复用技术</a:t>
            </a:r>
            <a:endParaRPr lang="zh-CN" altLang="en-US" smtClean="0">
              <a:ea typeface="黑体" panose="02010609060101010101" pitchFamily="49" charset="-122"/>
            </a:endParaRPr>
          </a:p>
        </p:txBody>
      </p:sp>
      <p:sp>
        <p:nvSpPr>
          <p:cNvPr id="45059" name="Rectangle 3"/>
          <p:cNvSpPr>
            <a:spLocks noGrp="1" noChangeArrowheads="1"/>
          </p:cNvSpPr>
          <p:nvPr>
            <p:ph idx="1"/>
          </p:nvPr>
        </p:nvSpPr>
        <p:spPr>
          <a:xfrm>
            <a:off x="495300" y="1196975"/>
            <a:ext cx="9066213" cy="4933950"/>
          </a:xfrm>
        </p:spPr>
        <p:txBody>
          <a:bodyPr/>
          <a:lstStyle/>
          <a:p>
            <a:pPr eaLnBrk="1" hangingPunct="1"/>
            <a:r>
              <a:rPr lang="en-US" altLang="zh-CN" smtClean="0">
                <a:ea typeface="黑体" panose="02010609060101010101" pitchFamily="49" charset="-122"/>
              </a:rPr>
              <a:t>2.4.1  </a:t>
            </a:r>
            <a:r>
              <a:rPr lang="zh-CN" altLang="zh-CN" smtClean="0">
                <a:ea typeface="黑体" panose="02010609060101010101" pitchFamily="49" charset="-122"/>
              </a:rPr>
              <a:t>频分复用、时分复用和统计时分复用</a:t>
            </a:r>
          </a:p>
          <a:p>
            <a:pPr eaLnBrk="1" hangingPunct="1"/>
            <a:r>
              <a:rPr lang="en-US" altLang="zh-CN" smtClean="0">
                <a:ea typeface="黑体" panose="02010609060101010101" pitchFamily="49" charset="-122"/>
              </a:rPr>
              <a:t>2.4.2  </a:t>
            </a:r>
            <a:r>
              <a:rPr lang="zh-CN" altLang="zh-CN" smtClean="0">
                <a:ea typeface="黑体" panose="02010609060101010101" pitchFamily="49" charset="-122"/>
              </a:rPr>
              <a:t>波分复用</a:t>
            </a:r>
          </a:p>
          <a:p>
            <a:pPr eaLnBrk="1" hangingPunct="1"/>
            <a:r>
              <a:rPr lang="en-US" altLang="zh-CN" smtClean="0">
                <a:ea typeface="黑体" panose="02010609060101010101" pitchFamily="49" charset="-122"/>
              </a:rPr>
              <a:t>2.4.3  </a:t>
            </a:r>
            <a:r>
              <a:rPr lang="zh-CN" altLang="zh-CN" smtClean="0">
                <a:ea typeface="黑体" panose="02010609060101010101" pitchFamily="49" charset="-122"/>
              </a:rPr>
              <a:t>码分复用</a:t>
            </a:r>
          </a:p>
        </p:txBody>
      </p:sp>
      <p:sp>
        <p:nvSpPr>
          <p:cNvPr id="4506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952582-F2F1-41D9-B286-4FEB627A0B78}" type="slidenum">
              <a:rPr altLang="en-US" smtClean="0"/>
              <a:pPr/>
              <a:t>20</a:t>
            </a:fld>
            <a:endParaRPr lang="zh-CN" altLang="zh-CN" smtClean="0"/>
          </a:p>
        </p:txBody>
      </p:sp>
      <p:sp>
        <p:nvSpPr>
          <p:cNvPr id="4506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zh-CN" sz="3200" smtClean="0">
                <a:ea typeface="黑体" panose="02010609060101010101" pitchFamily="49" charset="-122"/>
              </a:rPr>
              <a:t>2.4.1  </a:t>
            </a:r>
            <a:r>
              <a:rPr lang="zh-CN" altLang="en-US" sz="3200" smtClean="0">
                <a:ea typeface="黑体" panose="02010609060101010101" pitchFamily="49" charset="-122"/>
              </a:rPr>
              <a:t>频分复用、时分复用和统计时分复用</a:t>
            </a:r>
            <a:r>
              <a:rPr lang="zh-CN" altLang="en-US" sz="4000" smtClean="0">
                <a:ea typeface="黑体" panose="02010609060101010101" pitchFamily="49" charset="-122"/>
              </a:rPr>
              <a:t> </a:t>
            </a:r>
          </a:p>
        </p:txBody>
      </p:sp>
      <p:grpSp>
        <p:nvGrpSpPr>
          <p:cNvPr id="47107" name="组合 4"/>
          <p:cNvGrpSpPr>
            <a:grpSpLocks/>
          </p:cNvGrpSpPr>
          <p:nvPr/>
        </p:nvGrpSpPr>
        <p:grpSpPr bwMode="auto">
          <a:xfrm>
            <a:off x="1443038" y="2279650"/>
            <a:ext cx="7099300" cy="1911350"/>
            <a:chOff x="1442906" y="2204864"/>
            <a:chExt cx="7099300" cy="1912278"/>
          </a:xfrm>
        </p:grpSpPr>
        <p:sp>
          <p:nvSpPr>
            <p:cNvPr id="47148" name="Line 39"/>
            <p:cNvSpPr>
              <a:spLocks noChangeShapeType="1"/>
            </p:cNvSpPr>
            <p:nvPr/>
          </p:nvSpPr>
          <p:spPr bwMode="auto">
            <a:xfrm>
              <a:off x="1840178" y="2546177"/>
              <a:ext cx="63821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49" name="Line 40"/>
            <p:cNvSpPr>
              <a:spLocks noChangeShapeType="1"/>
            </p:cNvSpPr>
            <p:nvPr/>
          </p:nvSpPr>
          <p:spPr bwMode="auto">
            <a:xfrm>
              <a:off x="1840178" y="3039889"/>
              <a:ext cx="63821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0" name="Line 41"/>
            <p:cNvSpPr>
              <a:spLocks noChangeShapeType="1"/>
            </p:cNvSpPr>
            <p:nvPr/>
          </p:nvSpPr>
          <p:spPr bwMode="auto">
            <a:xfrm>
              <a:off x="1840178" y="3533602"/>
              <a:ext cx="63821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1" name="Oval 42"/>
            <p:cNvSpPr>
              <a:spLocks noChangeArrowheads="1"/>
            </p:cNvSpPr>
            <p:nvPr/>
          </p:nvSpPr>
          <p:spPr bwMode="auto">
            <a:xfrm>
              <a:off x="1442906" y="2357265"/>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r>
                <a:rPr lang="en-US" altLang="zh-CN" sz="1600" b="1" baseline="-25000">
                  <a:ea typeface="黑体" panose="02010609060101010101" pitchFamily="49" charset="-122"/>
                </a:rPr>
                <a:t>1</a:t>
              </a:r>
            </a:p>
          </p:txBody>
        </p:sp>
        <p:sp>
          <p:nvSpPr>
            <p:cNvPr id="47152" name="Oval 43"/>
            <p:cNvSpPr>
              <a:spLocks noChangeArrowheads="1"/>
            </p:cNvSpPr>
            <p:nvPr/>
          </p:nvSpPr>
          <p:spPr bwMode="auto">
            <a:xfrm>
              <a:off x="8144934" y="2357265"/>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r>
                <a:rPr lang="en-US" altLang="zh-CN" sz="1600" b="1" baseline="-25000">
                  <a:ea typeface="黑体" panose="02010609060101010101" pitchFamily="49" charset="-122"/>
                </a:rPr>
                <a:t>2</a:t>
              </a:r>
            </a:p>
          </p:txBody>
        </p:sp>
        <p:sp>
          <p:nvSpPr>
            <p:cNvPr id="47153" name="Oval 44"/>
            <p:cNvSpPr>
              <a:spLocks noChangeArrowheads="1"/>
            </p:cNvSpPr>
            <p:nvPr/>
          </p:nvSpPr>
          <p:spPr bwMode="auto">
            <a:xfrm>
              <a:off x="1442906" y="2850978"/>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r>
                <a:rPr lang="en-US" altLang="zh-CN" sz="1600" b="1" baseline="-25000">
                  <a:ea typeface="黑体" panose="02010609060101010101" pitchFamily="49" charset="-122"/>
                </a:rPr>
                <a:t>1</a:t>
              </a:r>
            </a:p>
          </p:txBody>
        </p:sp>
        <p:sp>
          <p:nvSpPr>
            <p:cNvPr id="47154" name="Oval 45"/>
            <p:cNvSpPr>
              <a:spLocks noChangeArrowheads="1"/>
            </p:cNvSpPr>
            <p:nvPr/>
          </p:nvSpPr>
          <p:spPr bwMode="auto">
            <a:xfrm>
              <a:off x="8144934" y="2850978"/>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r>
                <a:rPr lang="en-US" altLang="zh-CN" sz="1600" b="1" baseline="-25000">
                  <a:ea typeface="黑体" panose="02010609060101010101" pitchFamily="49" charset="-122"/>
                </a:rPr>
                <a:t>2</a:t>
              </a:r>
            </a:p>
          </p:txBody>
        </p:sp>
        <p:sp>
          <p:nvSpPr>
            <p:cNvPr id="47155" name="Oval 46"/>
            <p:cNvSpPr>
              <a:spLocks noChangeArrowheads="1"/>
            </p:cNvSpPr>
            <p:nvPr/>
          </p:nvSpPr>
          <p:spPr bwMode="auto">
            <a:xfrm>
              <a:off x="1442906" y="3344690"/>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r>
                <a:rPr lang="en-US" altLang="zh-CN" sz="1600" b="1" baseline="-25000">
                  <a:ea typeface="黑体" panose="02010609060101010101" pitchFamily="49" charset="-122"/>
                </a:rPr>
                <a:t>1</a:t>
              </a:r>
            </a:p>
          </p:txBody>
        </p:sp>
        <p:sp>
          <p:nvSpPr>
            <p:cNvPr id="47156" name="Oval 47"/>
            <p:cNvSpPr>
              <a:spLocks noChangeArrowheads="1"/>
            </p:cNvSpPr>
            <p:nvPr/>
          </p:nvSpPr>
          <p:spPr bwMode="auto">
            <a:xfrm>
              <a:off x="8144934" y="3344690"/>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r>
                <a:rPr lang="en-US" altLang="zh-CN" sz="1600" b="1" baseline="-25000">
                  <a:ea typeface="黑体" panose="02010609060101010101" pitchFamily="49" charset="-122"/>
                </a:rPr>
                <a:t>2</a:t>
              </a:r>
            </a:p>
          </p:txBody>
        </p:sp>
        <p:sp>
          <p:nvSpPr>
            <p:cNvPr id="47157" name="Text Box 60"/>
            <p:cNvSpPr txBox="1">
              <a:spLocks noChangeArrowheads="1"/>
            </p:cNvSpPr>
            <p:nvPr/>
          </p:nvSpPr>
          <p:spPr bwMode="auto">
            <a:xfrm>
              <a:off x="4017434" y="3717032"/>
              <a:ext cx="23743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ea typeface="黑体" panose="02010609060101010101" pitchFamily="49" charset="-122"/>
                </a:rPr>
                <a:t>(a) </a:t>
              </a:r>
              <a:r>
                <a:rPr lang="zh-CN" altLang="en-US" sz="2000" b="1">
                  <a:ea typeface="黑体" panose="02010609060101010101" pitchFamily="49" charset="-122"/>
                </a:rPr>
                <a:t>使用单独的信道</a:t>
              </a:r>
            </a:p>
          </p:txBody>
        </p:sp>
        <p:sp>
          <p:nvSpPr>
            <p:cNvPr id="47158" name="Line 64"/>
            <p:cNvSpPr>
              <a:spLocks noChangeShapeType="1"/>
            </p:cNvSpPr>
            <p:nvPr/>
          </p:nvSpPr>
          <p:spPr bwMode="auto">
            <a:xfrm>
              <a:off x="3676915" y="2431877"/>
              <a:ext cx="239051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159" name="Line 65"/>
            <p:cNvSpPr>
              <a:spLocks noChangeShapeType="1"/>
            </p:cNvSpPr>
            <p:nvPr/>
          </p:nvSpPr>
          <p:spPr bwMode="auto">
            <a:xfrm>
              <a:off x="3676915" y="2912889"/>
              <a:ext cx="239051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160" name="Line 66"/>
            <p:cNvSpPr>
              <a:spLocks noChangeShapeType="1"/>
            </p:cNvSpPr>
            <p:nvPr/>
          </p:nvSpPr>
          <p:spPr bwMode="auto">
            <a:xfrm>
              <a:off x="3676915" y="3417714"/>
              <a:ext cx="239051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161" name="AutoShape 78"/>
            <p:cNvSpPr>
              <a:spLocks noChangeArrowheads="1"/>
            </p:cNvSpPr>
            <p:nvPr/>
          </p:nvSpPr>
          <p:spPr bwMode="auto">
            <a:xfrm>
              <a:off x="4793060" y="3192289"/>
              <a:ext cx="178858" cy="171450"/>
            </a:xfrm>
            <a:custGeom>
              <a:avLst/>
              <a:gdLst>
                <a:gd name="T0" fmla="*/ 0 w 178858"/>
                <a:gd name="T1" fmla="*/ 65487 h 171450"/>
                <a:gd name="T2" fmla="*/ 68318 w 178858"/>
                <a:gd name="T3" fmla="*/ 65488 h 171450"/>
                <a:gd name="T4" fmla="*/ 89429 w 178858"/>
                <a:gd name="T5" fmla="*/ 0 h 171450"/>
                <a:gd name="T6" fmla="*/ 110539 w 178858"/>
                <a:gd name="T7" fmla="*/ 65488 h 171450"/>
                <a:gd name="T8" fmla="*/ 178857 w 178858"/>
                <a:gd name="T9" fmla="*/ 65487 h 171450"/>
                <a:gd name="T10" fmla="*/ 123587 w 178858"/>
                <a:gd name="T11" fmla="*/ 105961 h 171450"/>
                <a:gd name="T12" fmla="*/ 144699 w 178858"/>
                <a:gd name="T13" fmla="*/ 171449 h 171450"/>
                <a:gd name="T14" fmla="*/ 89429 w 178858"/>
                <a:gd name="T15" fmla="*/ 130975 h 171450"/>
                <a:gd name="T16" fmla="*/ 34158 w 178858"/>
                <a:gd name="T17" fmla="*/ 171449 h 171450"/>
                <a:gd name="T18" fmla="*/ 55270 w 178858"/>
                <a:gd name="T19" fmla="*/ 105961 h 1714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8858" h="171450">
                  <a:moveTo>
                    <a:pt x="0" y="65487"/>
                  </a:moveTo>
                  <a:lnTo>
                    <a:pt x="68318" y="65488"/>
                  </a:lnTo>
                  <a:lnTo>
                    <a:pt x="89429" y="0"/>
                  </a:lnTo>
                  <a:lnTo>
                    <a:pt x="110539" y="65488"/>
                  </a:lnTo>
                  <a:lnTo>
                    <a:pt x="178857" y="65487"/>
                  </a:lnTo>
                  <a:lnTo>
                    <a:pt x="123587" y="105961"/>
                  </a:lnTo>
                  <a:lnTo>
                    <a:pt x="144699" y="171449"/>
                  </a:lnTo>
                  <a:lnTo>
                    <a:pt x="89429" y="130975"/>
                  </a:lnTo>
                  <a:lnTo>
                    <a:pt x="34158" y="171449"/>
                  </a:lnTo>
                  <a:lnTo>
                    <a:pt x="55270" y="105961"/>
                  </a:lnTo>
                  <a:lnTo>
                    <a:pt x="0" y="65487"/>
                  </a:lnTo>
                  <a:close/>
                </a:path>
              </a:pathLst>
            </a:custGeom>
            <a:solidFill>
              <a:srgbClr val="FFFF00"/>
            </a:solidFill>
            <a:ln w="9525">
              <a:solidFill>
                <a:srgbClr val="000099"/>
              </a:solidFill>
              <a:miter lim="800000"/>
              <a:headEnd/>
              <a:tailEnd/>
            </a:ln>
          </p:spPr>
          <p:txBody>
            <a:bodyPr wrap="none" anchor="ctr"/>
            <a:lstStyle/>
            <a:p>
              <a:endParaRPr lang="zh-CN" altLang="en-US"/>
            </a:p>
          </p:txBody>
        </p:sp>
        <p:sp>
          <p:nvSpPr>
            <p:cNvPr id="123984" name="Oval 80"/>
            <p:cNvSpPr>
              <a:spLocks noChangeArrowheads="1"/>
            </p:cNvSpPr>
            <p:nvPr/>
          </p:nvSpPr>
          <p:spPr bwMode="auto">
            <a:xfrm>
              <a:off x="1920743" y="2357338"/>
              <a:ext cx="160338" cy="152474"/>
            </a:xfrm>
            <a:prstGeom prst="ellipse">
              <a:avLst/>
            </a:prstGeom>
            <a:solidFill>
              <a:schemeClr val="accent6"/>
            </a:solidFill>
            <a:ln w="9525">
              <a:solidFill>
                <a:srgbClr val="000099"/>
              </a:solidFill>
              <a:round/>
            </a:ln>
            <a:effectLst/>
          </p:spPr>
          <p:txBody>
            <a:bodyPr wrap="none" anchor="ctr"/>
            <a:lstStyle/>
            <a:p>
              <a:pPr eaLnBrk="1" hangingPunct="1">
                <a:defRPr/>
              </a:pPr>
              <a:endParaRPr lang="zh-CN" altLang="en-US" b="1" noProof="1">
                <a:latin typeface="+mn-lt"/>
                <a:ea typeface="黑体" panose="02010609060101010101" pitchFamily="2" charset="-122"/>
              </a:endParaRPr>
            </a:p>
          </p:txBody>
        </p:sp>
        <p:sp>
          <p:nvSpPr>
            <p:cNvPr id="123985" name="Oval 81"/>
            <p:cNvSpPr>
              <a:spLocks noChangeArrowheads="1"/>
            </p:cNvSpPr>
            <p:nvPr/>
          </p:nvSpPr>
          <p:spPr bwMode="auto">
            <a:xfrm>
              <a:off x="4802056" y="2204864"/>
              <a:ext cx="158750" cy="152474"/>
            </a:xfrm>
            <a:prstGeom prst="ellipse">
              <a:avLst/>
            </a:prstGeom>
            <a:solidFill>
              <a:schemeClr val="accent6"/>
            </a:solidFill>
            <a:ln w="9525">
              <a:solidFill>
                <a:srgbClr val="000099"/>
              </a:solidFill>
              <a:round/>
            </a:ln>
            <a:effectLst/>
          </p:spPr>
          <p:txBody>
            <a:bodyPr wrap="none" anchor="ctr"/>
            <a:lstStyle/>
            <a:p>
              <a:pPr eaLnBrk="1" hangingPunct="1">
                <a:defRPr/>
              </a:pPr>
              <a:endParaRPr lang="zh-CN" altLang="en-US" b="1" noProof="1">
                <a:latin typeface="+mn-lt"/>
                <a:ea typeface="黑体" panose="02010609060101010101" pitchFamily="2" charset="-122"/>
              </a:endParaRPr>
            </a:p>
          </p:txBody>
        </p:sp>
        <p:sp>
          <p:nvSpPr>
            <p:cNvPr id="123986" name="Oval 82"/>
            <p:cNvSpPr>
              <a:spLocks noChangeArrowheads="1"/>
            </p:cNvSpPr>
            <p:nvPr/>
          </p:nvSpPr>
          <p:spPr bwMode="auto">
            <a:xfrm>
              <a:off x="7904031" y="2357338"/>
              <a:ext cx="160337" cy="152474"/>
            </a:xfrm>
            <a:prstGeom prst="ellipse">
              <a:avLst/>
            </a:prstGeom>
            <a:solidFill>
              <a:schemeClr val="accent6"/>
            </a:solidFill>
            <a:ln w="9525">
              <a:solidFill>
                <a:srgbClr val="000099"/>
              </a:solidFill>
              <a:round/>
            </a:ln>
            <a:effectLst/>
          </p:spPr>
          <p:txBody>
            <a:bodyPr wrap="none" anchor="ctr"/>
            <a:lstStyle/>
            <a:p>
              <a:pPr eaLnBrk="1" hangingPunct="1">
                <a:defRPr/>
              </a:pPr>
              <a:endParaRPr lang="zh-CN" altLang="en-US" b="1" noProof="1">
                <a:latin typeface="+mn-lt"/>
                <a:ea typeface="黑体" panose="02010609060101010101" pitchFamily="2" charset="-122"/>
              </a:endParaRPr>
            </a:p>
          </p:txBody>
        </p:sp>
        <p:sp>
          <p:nvSpPr>
            <p:cNvPr id="47165" name="Rectangle 83"/>
            <p:cNvSpPr>
              <a:spLocks noChangeArrowheads="1"/>
            </p:cNvSpPr>
            <p:nvPr/>
          </p:nvSpPr>
          <p:spPr bwMode="auto">
            <a:xfrm>
              <a:off x="7904163" y="2887489"/>
              <a:ext cx="127265" cy="122238"/>
            </a:xfrm>
            <a:prstGeom prst="rect">
              <a:avLst/>
            </a:prstGeom>
            <a:solidFill>
              <a:srgbClr val="0000CC"/>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ea typeface="黑体" panose="02010609060101010101" pitchFamily="49" charset="-122"/>
              </a:endParaRPr>
            </a:p>
          </p:txBody>
        </p:sp>
        <p:sp>
          <p:nvSpPr>
            <p:cNvPr id="47166" name="Rectangle 84"/>
            <p:cNvSpPr>
              <a:spLocks noChangeArrowheads="1"/>
            </p:cNvSpPr>
            <p:nvPr/>
          </p:nvSpPr>
          <p:spPr bwMode="auto">
            <a:xfrm>
              <a:off x="1921008" y="2887489"/>
              <a:ext cx="128984" cy="122238"/>
            </a:xfrm>
            <a:prstGeom prst="rect">
              <a:avLst/>
            </a:prstGeom>
            <a:solidFill>
              <a:srgbClr val="0000CC"/>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ea typeface="黑体" panose="02010609060101010101" pitchFamily="49" charset="-122"/>
              </a:endParaRPr>
            </a:p>
          </p:txBody>
        </p:sp>
        <p:sp>
          <p:nvSpPr>
            <p:cNvPr id="47167" name="Rectangle 85"/>
            <p:cNvSpPr>
              <a:spLocks noChangeArrowheads="1"/>
            </p:cNvSpPr>
            <p:nvPr/>
          </p:nvSpPr>
          <p:spPr bwMode="auto">
            <a:xfrm>
              <a:off x="4817137" y="2736678"/>
              <a:ext cx="128984" cy="122237"/>
            </a:xfrm>
            <a:prstGeom prst="rect">
              <a:avLst/>
            </a:prstGeom>
            <a:solidFill>
              <a:srgbClr val="0000CC"/>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ea typeface="黑体" panose="02010609060101010101" pitchFamily="49" charset="-122"/>
              </a:endParaRPr>
            </a:p>
          </p:txBody>
        </p:sp>
        <p:sp>
          <p:nvSpPr>
            <p:cNvPr id="47168" name="AutoShape 86"/>
            <p:cNvSpPr>
              <a:spLocks noChangeArrowheads="1"/>
            </p:cNvSpPr>
            <p:nvPr/>
          </p:nvSpPr>
          <p:spPr bwMode="auto">
            <a:xfrm>
              <a:off x="7905328" y="3309765"/>
              <a:ext cx="178858" cy="169863"/>
            </a:xfrm>
            <a:custGeom>
              <a:avLst/>
              <a:gdLst>
                <a:gd name="T0" fmla="*/ 0 w 178858"/>
                <a:gd name="T1" fmla="*/ 64881 h 169863"/>
                <a:gd name="T2" fmla="*/ 68318 w 178858"/>
                <a:gd name="T3" fmla="*/ 64882 h 169863"/>
                <a:gd name="T4" fmla="*/ 89429 w 178858"/>
                <a:gd name="T5" fmla="*/ 0 h 169863"/>
                <a:gd name="T6" fmla="*/ 110539 w 178858"/>
                <a:gd name="T7" fmla="*/ 64882 h 169863"/>
                <a:gd name="T8" fmla="*/ 178857 w 178858"/>
                <a:gd name="T9" fmla="*/ 64881 h 169863"/>
                <a:gd name="T10" fmla="*/ 123587 w 178858"/>
                <a:gd name="T11" fmla="*/ 104980 h 169863"/>
                <a:gd name="T12" fmla="*/ 144699 w 178858"/>
                <a:gd name="T13" fmla="*/ 169862 h 169863"/>
                <a:gd name="T14" fmla="*/ 89429 w 178858"/>
                <a:gd name="T15" fmla="*/ 129762 h 169863"/>
                <a:gd name="T16" fmla="*/ 34158 w 178858"/>
                <a:gd name="T17" fmla="*/ 169862 h 169863"/>
                <a:gd name="T18" fmla="*/ 55270 w 178858"/>
                <a:gd name="T19" fmla="*/ 104980 h 1698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8858" h="169863">
                  <a:moveTo>
                    <a:pt x="0" y="64881"/>
                  </a:moveTo>
                  <a:lnTo>
                    <a:pt x="68318" y="64882"/>
                  </a:lnTo>
                  <a:lnTo>
                    <a:pt x="89429" y="0"/>
                  </a:lnTo>
                  <a:lnTo>
                    <a:pt x="110539" y="64882"/>
                  </a:lnTo>
                  <a:lnTo>
                    <a:pt x="178857" y="64881"/>
                  </a:lnTo>
                  <a:lnTo>
                    <a:pt x="123587" y="104980"/>
                  </a:lnTo>
                  <a:lnTo>
                    <a:pt x="144699" y="169862"/>
                  </a:lnTo>
                  <a:lnTo>
                    <a:pt x="89429" y="129762"/>
                  </a:lnTo>
                  <a:lnTo>
                    <a:pt x="34158" y="169862"/>
                  </a:lnTo>
                  <a:lnTo>
                    <a:pt x="55270" y="104980"/>
                  </a:lnTo>
                  <a:lnTo>
                    <a:pt x="0" y="64881"/>
                  </a:lnTo>
                  <a:close/>
                </a:path>
              </a:pathLst>
            </a:custGeom>
            <a:solidFill>
              <a:srgbClr val="FFFF00"/>
            </a:solidFill>
            <a:ln w="9525">
              <a:solidFill>
                <a:srgbClr val="000099"/>
              </a:solidFill>
              <a:miter lim="800000"/>
              <a:headEnd/>
              <a:tailEnd/>
            </a:ln>
          </p:spPr>
          <p:txBody>
            <a:bodyPr wrap="none" anchor="ctr"/>
            <a:lstStyle/>
            <a:p>
              <a:endParaRPr lang="zh-CN" altLang="en-US"/>
            </a:p>
          </p:txBody>
        </p:sp>
        <p:sp>
          <p:nvSpPr>
            <p:cNvPr id="47169" name="AutoShape 87"/>
            <p:cNvSpPr>
              <a:spLocks noChangeArrowheads="1"/>
            </p:cNvSpPr>
            <p:nvPr/>
          </p:nvSpPr>
          <p:spPr bwMode="auto">
            <a:xfrm>
              <a:off x="1895211" y="3324052"/>
              <a:ext cx="178858" cy="171450"/>
            </a:xfrm>
            <a:custGeom>
              <a:avLst/>
              <a:gdLst>
                <a:gd name="T0" fmla="*/ 0 w 178858"/>
                <a:gd name="T1" fmla="*/ 65487 h 171450"/>
                <a:gd name="T2" fmla="*/ 68318 w 178858"/>
                <a:gd name="T3" fmla="*/ 65488 h 171450"/>
                <a:gd name="T4" fmla="*/ 89429 w 178858"/>
                <a:gd name="T5" fmla="*/ 0 h 171450"/>
                <a:gd name="T6" fmla="*/ 110539 w 178858"/>
                <a:gd name="T7" fmla="*/ 65488 h 171450"/>
                <a:gd name="T8" fmla="*/ 178857 w 178858"/>
                <a:gd name="T9" fmla="*/ 65487 h 171450"/>
                <a:gd name="T10" fmla="*/ 123587 w 178858"/>
                <a:gd name="T11" fmla="*/ 105961 h 171450"/>
                <a:gd name="T12" fmla="*/ 144699 w 178858"/>
                <a:gd name="T13" fmla="*/ 171449 h 171450"/>
                <a:gd name="T14" fmla="*/ 89429 w 178858"/>
                <a:gd name="T15" fmla="*/ 130975 h 171450"/>
                <a:gd name="T16" fmla="*/ 34158 w 178858"/>
                <a:gd name="T17" fmla="*/ 171449 h 171450"/>
                <a:gd name="T18" fmla="*/ 55270 w 178858"/>
                <a:gd name="T19" fmla="*/ 105961 h 1714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8858" h="171450">
                  <a:moveTo>
                    <a:pt x="0" y="65487"/>
                  </a:moveTo>
                  <a:lnTo>
                    <a:pt x="68318" y="65488"/>
                  </a:lnTo>
                  <a:lnTo>
                    <a:pt x="89429" y="0"/>
                  </a:lnTo>
                  <a:lnTo>
                    <a:pt x="110539" y="65488"/>
                  </a:lnTo>
                  <a:lnTo>
                    <a:pt x="178857" y="65487"/>
                  </a:lnTo>
                  <a:lnTo>
                    <a:pt x="123587" y="105961"/>
                  </a:lnTo>
                  <a:lnTo>
                    <a:pt x="144699" y="171449"/>
                  </a:lnTo>
                  <a:lnTo>
                    <a:pt x="89429" y="130975"/>
                  </a:lnTo>
                  <a:lnTo>
                    <a:pt x="34158" y="171449"/>
                  </a:lnTo>
                  <a:lnTo>
                    <a:pt x="55270" y="105961"/>
                  </a:lnTo>
                  <a:lnTo>
                    <a:pt x="0" y="65487"/>
                  </a:lnTo>
                  <a:close/>
                </a:path>
              </a:pathLst>
            </a:custGeom>
            <a:solidFill>
              <a:srgbClr val="FFFF00"/>
            </a:solidFill>
            <a:ln w="9525">
              <a:solidFill>
                <a:srgbClr val="000099"/>
              </a:solidFill>
              <a:miter lim="800000"/>
              <a:headEnd/>
              <a:tailEnd/>
            </a:ln>
          </p:spPr>
          <p:txBody>
            <a:bodyPr wrap="none" anchor="ctr"/>
            <a:lstStyle/>
            <a:p>
              <a:endParaRPr lang="zh-CN" altLang="en-US"/>
            </a:p>
          </p:txBody>
        </p:sp>
      </p:grpSp>
      <p:grpSp>
        <p:nvGrpSpPr>
          <p:cNvPr id="47108" name="组合 3"/>
          <p:cNvGrpSpPr>
            <a:grpSpLocks/>
          </p:cNvGrpSpPr>
          <p:nvPr/>
        </p:nvGrpSpPr>
        <p:grpSpPr bwMode="auto">
          <a:xfrm>
            <a:off x="1443038" y="4335463"/>
            <a:ext cx="7099300" cy="1479550"/>
            <a:chOff x="1442906" y="4221088"/>
            <a:chExt cx="7099300" cy="1480230"/>
          </a:xfrm>
        </p:grpSpPr>
        <p:sp>
          <p:nvSpPr>
            <p:cNvPr id="47113" name="Text Box 92"/>
            <p:cNvSpPr txBox="1">
              <a:spLocks noChangeArrowheads="1"/>
            </p:cNvSpPr>
            <p:nvPr/>
          </p:nvSpPr>
          <p:spPr bwMode="auto">
            <a:xfrm>
              <a:off x="4518274" y="4421112"/>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a:t>
              </a:r>
            </a:p>
          </p:txBody>
        </p:sp>
        <p:sp>
          <p:nvSpPr>
            <p:cNvPr id="47114" name="Text Box 93"/>
            <p:cNvSpPr txBox="1">
              <a:spLocks noChangeArrowheads="1"/>
            </p:cNvSpPr>
            <p:nvPr/>
          </p:nvSpPr>
          <p:spPr bwMode="auto">
            <a:xfrm>
              <a:off x="4158456" y="4429049"/>
              <a:ext cx="16527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                     )</a:t>
              </a:r>
            </a:p>
          </p:txBody>
        </p:sp>
        <p:sp>
          <p:nvSpPr>
            <p:cNvPr id="47115" name="Text Box 37"/>
            <p:cNvSpPr txBox="1">
              <a:spLocks noChangeArrowheads="1"/>
            </p:cNvSpPr>
            <p:nvPr/>
          </p:nvSpPr>
          <p:spPr bwMode="auto">
            <a:xfrm>
              <a:off x="4925864" y="4421112"/>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a:t>
              </a:r>
            </a:p>
          </p:txBody>
        </p:sp>
        <p:sp>
          <p:nvSpPr>
            <p:cNvPr id="47116" name="Line 38"/>
            <p:cNvSpPr>
              <a:spLocks noChangeShapeType="1"/>
            </p:cNvSpPr>
            <p:nvPr/>
          </p:nvSpPr>
          <p:spPr bwMode="auto">
            <a:xfrm>
              <a:off x="1840178" y="4903712"/>
              <a:ext cx="638214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7" name="Line 48"/>
            <p:cNvSpPr>
              <a:spLocks noChangeShapeType="1"/>
            </p:cNvSpPr>
            <p:nvPr/>
          </p:nvSpPr>
          <p:spPr bwMode="auto">
            <a:xfrm>
              <a:off x="2717271" y="4903712"/>
              <a:ext cx="470879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8" name="Line 49"/>
            <p:cNvSpPr>
              <a:spLocks noChangeShapeType="1"/>
            </p:cNvSpPr>
            <p:nvPr/>
          </p:nvSpPr>
          <p:spPr bwMode="auto">
            <a:xfrm>
              <a:off x="7426061" y="4979912"/>
              <a:ext cx="877094" cy="3794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9" name="Line 50"/>
            <p:cNvSpPr>
              <a:spLocks noChangeShapeType="1"/>
            </p:cNvSpPr>
            <p:nvPr/>
          </p:nvSpPr>
          <p:spPr bwMode="auto">
            <a:xfrm flipH="1">
              <a:off x="7426061" y="4448099"/>
              <a:ext cx="877094" cy="381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0" name="Line 51"/>
            <p:cNvSpPr>
              <a:spLocks noChangeShapeType="1"/>
            </p:cNvSpPr>
            <p:nvPr/>
          </p:nvSpPr>
          <p:spPr bwMode="auto">
            <a:xfrm flipV="1">
              <a:off x="1759347" y="4979912"/>
              <a:ext cx="878813" cy="3794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1" name="Line 52"/>
            <p:cNvSpPr>
              <a:spLocks noChangeShapeType="1"/>
            </p:cNvSpPr>
            <p:nvPr/>
          </p:nvSpPr>
          <p:spPr bwMode="auto">
            <a:xfrm>
              <a:off x="1759347" y="4448099"/>
              <a:ext cx="878813" cy="381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2" name="Oval 53"/>
            <p:cNvSpPr>
              <a:spLocks noChangeArrowheads="1"/>
            </p:cNvSpPr>
            <p:nvPr/>
          </p:nvSpPr>
          <p:spPr bwMode="auto">
            <a:xfrm>
              <a:off x="1442906" y="4221088"/>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r>
                <a:rPr lang="en-US" altLang="zh-CN" sz="1600" b="1" baseline="-25000">
                  <a:ea typeface="黑体" panose="02010609060101010101" pitchFamily="49" charset="-122"/>
                </a:rPr>
                <a:t>1</a:t>
              </a:r>
            </a:p>
          </p:txBody>
        </p:sp>
        <p:sp>
          <p:nvSpPr>
            <p:cNvPr id="47123" name="Oval 54"/>
            <p:cNvSpPr>
              <a:spLocks noChangeArrowheads="1"/>
            </p:cNvSpPr>
            <p:nvPr/>
          </p:nvSpPr>
          <p:spPr bwMode="auto">
            <a:xfrm>
              <a:off x="8144934" y="4221088"/>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r>
                <a:rPr lang="en-US" altLang="zh-CN" sz="1600" b="1" baseline="-25000">
                  <a:ea typeface="黑体" panose="02010609060101010101" pitchFamily="49" charset="-122"/>
                </a:rPr>
                <a:t>2</a:t>
              </a:r>
            </a:p>
          </p:txBody>
        </p:sp>
        <p:sp>
          <p:nvSpPr>
            <p:cNvPr id="47124" name="Oval 55"/>
            <p:cNvSpPr>
              <a:spLocks noChangeArrowheads="1"/>
            </p:cNvSpPr>
            <p:nvPr/>
          </p:nvSpPr>
          <p:spPr bwMode="auto">
            <a:xfrm>
              <a:off x="1442906" y="4703688"/>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r>
                <a:rPr lang="en-US" altLang="zh-CN" sz="1600" b="1" baseline="-25000">
                  <a:ea typeface="黑体" panose="02010609060101010101" pitchFamily="49" charset="-122"/>
                </a:rPr>
                <a:t>1</a:t>
              </a:r>
            </a:p>
          </p:txBody>
        </p:sp>
        <p:sp>
          <p:nvSpPr>
            <p:cNvPr id="47125" name="Oval 56"/>
            <p:cNvSpPr>
              <a:spLocks noChangeArrowheads="1"/>
            </p:cNvSpPr>
            <p:nvPr/>
          </p:nvSpPr>
          <p:spPr bwMode="auto">
            <a:xfrm>
              <a:off x="8144934" y="4703688"/>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r>
                <a:rPr lang="en-US" altLang="zh-CN" sz="1600" b="1" baseline="-25000">
                  <a:ea typeface="黑体" panose="02010609060101010101" pitchFamily="49" charset="-122"/>
                </a:rPr>
                <a:t>2</a:t>
              </a:r>
            </a:p>
          </p:txBody>
        </p:sp>
        <p:sp>
          <p:nvSpPr>
            <p:cNvPr id="47126" name="Oval 57"/>
            <p:cNvSpPr>
              <a:spLocks noChangeArrowheads="1"/>
            </p:cNvSpPr>
            <p:nvPr/>
          </p:nvSpPr>
          <p:spPr bwMode="auto">
            <a:xfrm>
              <a:off x="1442906" y="5208513"/>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r>
                <a:rPr lang="en-US" altLang="zh-CN" sz="1600" b="1" baseline="-25000">
                  <a:ea typeface="黑体" panose="02010609060101010101" pitchFamily="49" charset="-122"/>
                </a:rPr>
                <a:t>1</a:t>
              </a:r>
            </a:p>
          </p:txBody>
        </p:sp>
        <p:sp>
          <p:nvSpPr>
            <p:cNvPr id="47127" name="Oval 58"/>
            <p:cNvSpPr>
              <a:spLocks noChangeArrowheads="1"/>
            </p:cNvSpPr>
            <p:nvPr/>
          </p:nvSpPr>
          <p:spPr bwMode="auto">
            <a:xfrm>
              <a:off x="8144934" y="5208513"/>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r>
                <a:rPr lang="en-US" altLang="zh-CN" sz="1600" b="1" baseline="-25000">
                  <a:ea typeface="黑体" panose="02010609060101010101" pitchFamily="49" charset="-122"/>
                </a:rPr>
                <a:t>2</a:t>
              </a:r>
            </a:p>
          </p:txBody>
        </p:sp>
        <p:sp>
          <p:nvSpPr>
            <p:cNvPr id="47128" name="Text Box 59"/>
            <p:cNvSpPr txBox="1">
              <a:spLocks noChangeArrowheads="1"/>
            </p:cNvSpPr>
            <p:nvPr/>
          </p:nvSpPr>
          <p:spPr bwMode="auto">
            <a:xfrm>
              <a:off x="4328716" y="4929112"/>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C00000"/>
                  </a:solidFill>
                  <a:ea typeface="黑体" panose="02010609060101010101" pitchFamily="49" charset="-122"/>
                </a:rPr>
                <a:t>共享信道</a:t>
              </a:r>
            </a:p>
          </p:txBody>
        </p:sp>
        <p:sp>
          <p:nvSpPr>
            <p:cNvPr id="47129" name="Text Box 61"/>
            <p:cNvSpPr txBox="1">
              <a:spLocks noChangeArrowheads="1"/>
            </p:cNvSpPr>
            <p:nvPr/>
          </p:nvSpPr>
          <p:spPr bwMode="auto">
            <a:xfrm>
              <a:off x="4016896" y="5301208"/>
              <a:ext cx="21307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ea typeface="黑体" panose="02010609060101010101" pitchFamily="49" charset="-122"/>
                </a:rPr>
                <a:t>(b) </a:t>
              </a:r>
              <a:r>
                <a:rPr lang="zh-CN" altLang="en-US" sz="2000" b="1">
                  <a:ea typeface="黑体" panose="02010609060101010101" pitchFamily="49" charset="-122"/>
                </a:rPr>
                <a:t>使用共享信道</a:t>
              </a:r>
            </a:p>
          </p:txBody>
        </p:sp>
        <p:sp>
          <p:nvSpPr>
            <p:cNvPr id="47130" name="Oval 62"/>
            <p:cNvSpPr>
              <a:spLocks noChangeArrowheads="1"/>
            </p:cNvSpPr>
            <p:nvPr/>
          </p:nvSpPr>
          <p:spPr bwMode="auto">
            <a:xfrm>
              <a:off x="2431785" y="4702100"/>
              <a:ext cx="717154" cy="379413"/>
            </a:xfrm>
            <a:prstGeom prst="ellipse">
              <a:avLst/>
            </a:prstGeom>
            <a:solidFill>
              <a:srgbClr val="EAEAEA"/>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ea typeface="黑体" panose="02010609060101010101" pitchFamily="49" charset="-122"/>
                </a:rPr>
                <a:t>复用</a:t>
              </a:r>
            </a:p>
          </p:txBody>
        </p:sp>
        <p:sp>
          <p:nvSpPr>
            <p:cNvPr id="47131" name="Oval 63"/>
            <p:cNvSpPr>
              <a:spLocks noChangeArrowheads="1"/>
            </p:cNvSpPr>
            <p:nvPr/>
          </p:nvSpPr>
          <p:spPr bwMode="auto">
            <a:xfrm>
              <a:off x="7047706" y="4716387"/>
              <a:ext cx="717154" cy="379412"/>
            </a:xfrm>
            <a:prstGeom prst="ellipse">
              <a:avLst/>
            </a:prstGeom>
            <a:solidFill>
              <a:srgbClr val="EAEAEA"/>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ea typeface="黑体" panose="02010609060101010101" pitchFamily="49" charset="-122"/>
                </a:rPr>
                <a:t>分用</a:t>
              </a:r>
            </a:p>
          </p:txBody>
        </p:sp>
        <p:sp>
          <p:nvSpPr>
            <p:cNvPr id="47132" name="Line 67"/>
            <p:cNvSpPr>
              <a:spLocks noChangeShapeType="1"/>
            </p:cNvSpPr>
            <p:nvPr/>
          </p:nvSpPr>
          <p:spPr bwMode="auto">
            <a:xfrm>
              <a:off x="3676915" y="4776712"/>
              <a:ext cx="239051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133" name="Line 68"/>
            <p:cNvSpPr>
              <a:spLocks noChangeShapeType="1"/>
            </p:cNvSpPr>
            <p:nvPr/>
          </p:nvSpPr>
          <p:spPr bwMode="auto">
            <a:xfrm>
              <a:off x="1910689" y="4859262"/>
              <a:ext cx="39899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134" name="Line 69"/>
            <p:cNvSpPr>
              <a:spLocks noChangeShapeType="1"/>
            </p:cNvSpPr>
            <p:nvPr/>
          </p:nvSpPr>
          <p:spPr bwMode="auto">
            <a:xfrm>
              <a:off x="7744222" y="4829099"/>
              <a:ext cx="398992"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135" name="Line 70"/>
            <p:cNvSpPr>
              <a:spLocks noChangeShapeType="1"/>
            </p:cNvSpPr>
            <p:nvPr/>
          </p:nvSpPr>
          <p:spPr bwMode="auto">
            <a:xfrm rot="1484370">
              <a:off x="1979481" y="4554462"/>
              <a:ext cx="39899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136" name="Line 71"/>
            <p:cNvSpPr>
              <a:spLocks noChangeShapeType="1"/>
            </p:cNvSpPr>
            <p:nvPr/>
          </p:nvSpPr>
          <p:spPr bwMode="auto">
            <a:xfrm rot="1484370">
              <a:off x="7802695" y="5171999"/>
              <a:ext cx="39899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137" name="Line 72"/>
            <p:cNvSpPr>
              <a:spLocks noChangeShapeType="1"/>
            </p:cNvSpPr>
            <p:nvPr/>
          </p:nvSpPr>
          <p:spPr bwMode="auto">
            <a:xfrm rot="-1648508">
              <a:off x="1922727" y="5138663"/>
              <a:ext cx="398992" cy="15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138" name="Line 73"/>
            <p:cNvSpPr>
              <a:spLocks noChangeShapeType="1"/>
            </p:cNvSpPr>
            <p:nvPr/>
          </p:nvSpPr>
          <p:spPr bwMode="auto">
            <a:xfrm rot="-1648508">
              <a:off x="7659952" y="4563988"/>
              <a:ext cx="398992" cy="15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78" name="Oval 74"/>
            <p:cNvSpPr>
              <a:spLocks noChangeArrowheads="1"/>
            </p:cNvSpPr>
            <p:nvPr/>
          </p:nvSpPr>
          <p:spPr bwMode="auto">
            <a:xfrm>
              <a:off x="2098543" y="4292558"/>
              <a:ext cx="158750" cy="152470"/>
            </a:xfrm>
            <a:prstGeom prst="ellipse">
              <a:avLst/>
            </a:prstGeom>
            <a:solidFill>
              <a:schemeClr val="accent6"/>
            </a:solidFill>
            <a:ln w="9525">
              <a:solidFill>
                <a:srgbClr val="000099"/>
              </a:solidFill>
              <a:round/>
            </a:ln>
            <a:effectLst/>
          </p:spPr>
          <p:txBody>
            <a:bodyPr wrap="none" anchor="ctr"/>
            <a:lstStyle/>
            <a:p>
              <a:pPr eaLnBrk="1" hangingPunct="1">
                <a:defRPr/>
              </a:pPr>
              <a:endParaRPr lang="zh-CN" altLang="en-US" b="1" noProof="1">
                <a:latin typeface="+mn-lt"/>
                <a:ea typeface="黑体" panose="02010609060101010101" pitchFamily="2" charset="-122"/>
              </a:endParaRPr>
            </a:p>
          </p:txBody>
        </p:sp>
        <p:sp>
          <p:nvSpPr>
            <p:cNvPr id="123979" name="Oval 75"/>
            <p:cNvSpPr>
              <a:spLocks noChangeArrowheads="1"/>
            </p:cNvSpPr>
            <p:nvPr/>
          </p:nvSpPr>
          <p:spPr bwMode="auto">
            <a:xfrm>
              <a:off x="7729406" y="4365616"/>
              <a:ext cx="158750" cy="150882"/>
            </a:xfrm>
            <a:prstGeom prst="ellipse">
              <a:avLst/>
            </a:prstGeom>
            <a:solidFill>
              <a:schemeClr val="accent6"/>
            </a:solidFill>
            <a:ln w="9525">
              <a:solidFill>
                <a:srgbClr val="000099"/>
              </a:solidFill>
              <a:round/>
            </a:ln>
            <a:effectLst/>
          </p:spPr>
          <p:txBody>
            <a:bodyPr wrap="none" anchor="ctr"/>
            <a:lstStyle/>
            <a:p>
              <a:pPr eaLnBrk="1" hangingPunct="1">
                <a:defRPr/>
              </a:pPr>
              <a:endParaRPr lang="zh-CN" altLang="en-US" b="1" noProof="1">
                <a:latin typeface="+mn-lt"/>
                <a:ea typeface="黑体" panose="02010609060101010101" pitchFamily="2" charset="-122"/>
              </a:endParaRPr>
            </a:p>
          </p:txBody>
        </p:sp>
        <p:sp>
          <p:nvSpPr>
            <p:cNvPr id="47141" name="Rectangle 76"/>
            <p:cNvSpPr>
              <a:spLocks noChangeArrowheads="1"/>
            </p:cNvSpPr>
            <p:nvPr/>
          </p:nvSpPr>
          <p:spPr bwMode="auto">
            <a:xfrm>
              <a:off x="2012157" y="4692574"/>
              <a:ext cx="128985" cy="122238"/>
            </a:xfrm>
            <a:prstGeom prst="rect">
              <a:avLst/>
            </a:prstGeom>
            <a:solidFill>
              <a:srgbClr val="0000CC"/>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ea typeface="黑体" panose="02010609060101010101" pitchFamily="49" charset="-122"/>
              </a:endParaRPr>
            </a:p>
          </p:txBody>
        </p:sp>
        <p:sp>
          <p:nvSpPr>
            <p:cNvPr id="47142" name="Rectangle 77"/>
            <p:cNvSpPr>
              <a:spLocks noChangeArrowheads="1"/>
            </p:cNvSpPr>
            <p:nvPr/>
          </p:nvSpPr>
          <p:spPr bwMode="auto">
            <a:xfrm>
              <a:off x="7874927" y="4679874"/>
              <a:ext cx="128984" cy="122238"/>
            </a:xfrm>
            <a:prstGeom prst="rect">
              <a:avLst/>
            </a:prstGeom>
            <a:solidFill>
              <a:srgbClr val="0000CC"/>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ea typeface="黑体" panose="02010609060101010101" pitchFamily="49" charset="-122"/>
              </a:endParaRPr>
            </a:p>
          </p:txBody>
        </p:sp>
        <p:sp>
          <p:nvSpPr>
            <p:cNvPr id="47143" name="AutoShape 79"/>
            <p:cNvSpPr>
              <a:spLocks noChangeArrowheads="1"/>
            </p:cNvSpPr>
            <p:nvPr/>
          </p:nvSpPr>
          <p:spPr bwMode="auto">
            <a:xfrm>
              <a:off x="7919641" y="4962449"/>
              <a:ext cx="178858" cy="171450"/>
            </a:xfrm>
            <a:custGeom>
              <a:avLst/>
              <a:gdLst>
                <a:gd name="T0" fmla="*/ 0 w 178858"/>
                <a:gd name="T1" fmla="*/ 65487 h 171450"/>
                <a:gd name="T2" fmla="*/ 68318 w 178858"/>
                <a:gd name="T3" fmla="*/ 65488 h 171450"/>
                <a:gd name="T4" fmla="*/ 89429 w 178858"/>
                <a:gd name="T5" fmla="*/ 0 h 171450"/>
                <a:gd name="T6" fmla="*/ 110539 w 178858"/>
                <a:gd name="T7" fmla="*/ 65488 h 171450"/>
                <a:gd name="T8" fmla="*/ 178857 w 178858"/>
                <a:gd name="T9" fmla="*/ 65487 h 171450"/>
                <a:gd name="T10" fmla="*/ 123587 w 178858"/>
                <a:gd name="T11" fmla="*/ 105961 h 171450"/>
                <a:gd name="T12" fmla="*/ 144699 w 178858"/>
                <a:gd name="T13" fmla="*/ 171449 h 171450"/>
                <a:gd name="T14" fmla="*/ 89429 w 178858"/>
                <a:gd name="T15" fmla="*/ 130975 h 171450"/>
                <a:gd name="T16" fmla="*/ 34158 w 178858"/>
                <a:gd name="T17" fmla="*/ 171449 h 171450"/>
                <a:gd name="T18" fmla="*/ 55270 w 178858"/>
                <a:gd name="T19" fmla="*/ 105961 h 1714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8858" h="171450">
                  <a:moveTo>
                    <a:pt x="0" y="65487"/>
                  </a:moveTo>
                  <a:lnTo>
                    <a:pt x="68318" y="65488"/>
                  </a:lnTo>
                  <a:lnTo>
                    <a:pt x="89429" y="0"/>
                  </a:lnTo>
                  <a:lnTo>
                    <a:pt x="110539" y="65488"/>
                  </a:lnTo>
                  <a:lnTo>
                    <a:pt x="178857" y="65487"/>
                  </a:lnTo>
                  <a:lnTo>
                    <a:pt x="123587" y="105961"/>
                  </a:lnTo>
                  <a:lnTo>
                    <a:pt x="144699" y="171449"/>
                  </a:lnTo>
                  <a:lnTo>
                    <a:pt x="89429" y="130975"/>
                  </a:lnTo>
                  <a:lnTo>
                    <a:pt x="34158" y="171449"/>
                  </a:lnTo>
                  <a:lnTo>
                    <a:pt x="55270" y="105961"/>
                  </a:lnTo>
                  <a:lnTo>
                    <a:pt x="0" y="65487"/>
                  </a:lnTo>
                  <a:close/>
                </a:path>
              </a:pathLst>
            </a:custGeom>
            <a:solidFill>
              <a:srgbClr val="FFFF00"/>
            </a:solidFill>
            <a:ln w="9525">
              <a:solidFill>
                <a:srgbClr val="000099"/>
              </a:solidFill>
              <a:miter lim="800000"/>
              <a:headEnd/>
              <a:tailEnd/>
            </a:ln>
          </p:spPr>
          <p:txBody>
            <a:bodyPr wrap="none" anchor="ctr"/>
            <a:lstStyle/>
            <a:p>
              <a:endParaRPr lang="zh-CN" altLang="en-US"/>
            </a:p>
          </p:txBody>
        </p:sp>
        <p:sp>
          <p:nvSpPr>
            <p:cNvPr id="47144" name="AutoShape 88"/>
            <p:cNvSpPr>
              <a:spLocks noChangeArrowheads="1"/>
            </p:cNvSpPr>
            <p:nvPr/>
          </p:nvSpPr>
          <p:spPr bwMode="auto">
            <a:xfrm>
              <a:off x="1943364" y="4978325"/>
              <a:ext cx="180579" cy="169863"/>
            </a:xfrm>
            <a:custGeom>
              <a:avLst/>
              <a:gdLst>
                <a:gd name="T0" fmla="*/ 0 w 180579"/>
                <a:gd name="T1" fmla="*/ 64881 h 169863"/>
                <a:gd name="T2" fmla="*/ 68975 w 180579"/>
                <a:gd name="T3" fmla="*/ 64882 h 169863"/>
                <a:gd name="T4" fmla="*/ 90289 w 180579"/>
                <a:gd name="T5" fmla="*/ 0 h 169863"/>
                <a:gd name="T6" fmla="*/ 111603 w 180579"/>
                <a:gd name="T7" fmla="*/ 64882 h 169863"/>
                <a:gd name="T8" fmla="*/ 180578 w 180579"/>
                <a:gd name="T9" fmla="*/ 64881 h 169863"/>
                <a:gd name="T10" fmla="*/ 124776 w 180579"/>
                <a:gd name="T11" fmla="*/ 104980 h 169863"/>
                <a:gd name="T12" fmla="*/ 146091 w 180579"/>
                <a:gd name="T13" fmla="*/ 169862 h 169863"/>
                <a:gd name="T14" fmla="*/ 90289 w 180579"/>
                <a:gd name="T15" fmla="*/ 129762 h 169863"/>
                <a:gd name="T16" fmla="*/ 34487 w 180579"/>
                <a:gd name="T17" fmla="*/ 169862 h 169863"/>
                <a:gd name="T18" fmla="*/ 55802 w 180579"/>
                <a:gd name="T19" fmla="*/ 104980 h 1698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0579" h="169863">
                  <a:moveTo>
                    <a:pt x="0" y="64881"/>
                  </a:moveTo>
                  <a:lnTo>
                    <a:pt x="68975" y="64882"/>
                  </a:lnTo>
                  <a:lnTo>
                    <a:pt x="90289" y="0"/>
                  </a:lnTo>
                  <a:lnTo>
                    <a:pt x="111603" y="64882"/>
                  </a:lnTo>
                  <a:lnTo>
                    <a:pt x="180578" y="64881"/>
                  </a:lnTo>
                  <a:lnTo>
                    <a:pt x="124776" y="104980"/>
                  </a:lnTo>
                  <a:lnTo>
                    <a:pt x="146091" y="169862"/>
                  </a:lnTo>
                  <a:lnTo>
                    <a:pt x="90289" y="129762"/>
                  </a:lnTo>
                  <a:lnTo>
                    <a:pt x="34487" y="169862"/>
                  </a:lnTo>
                  <a:lnTo>
                    <a:pt x="55802" y="104980"/>
                  </a:lnTo>
                  <a:lnTo>
                    <a:pt x="0" y="64881"/>
                  </a:lnTo>
                  <a:close/>
                </a:path>
              </a:pathLst>
            </a:custGeom>
            <a:solidFill>
              <a:srgbClr val="FFFF00"/>
            </a:solidFill>
            <a:ln w="9525">
              <a:solidFill>
                <a:srgbClr val="000099"/>
              </a:solidFill>
              <a:miter lim="800000"/>
              <a:headEnd/>
              <a:tailEnd/>
            </a:ln>
          </p:spPr>
          <p:txBody>
            <a:bodyPr wrap="none" anchor="ctr"/>
            <a:lstStyle/>
            <a:p>
              <a:endParaRPr lang="zh-CN" altLang="en-US"/>
            </a:p>
          </p:txBody>
        </p:sp>
        <p:sp>
          <p:nvSpPr>
            <p:cNvPr id="123993" name="Oval 89"/>
            <p:cNvSpPr>
              <a:spLocks noChangeArrowheads="1"/>
            </p:cNvSpPr>
            <p:nvPr/>
          </p:nvSpPr>
          <p:spPr bwMode="auto">
            <a:xfrm>
              <a:off x="4428993" y="4548263"/>
              <a:ext cx="160338" cy="152470"/>
            </a:xfrm>
            <a:prstGeom prst="ellipse">
              <a:avLst/>
            </a:prstGeom>
            <a:solidFill>
              <a:schemeClr val="accent6"/>
            </a:solidFill>
            <a:ln w="9525">
              <a:solidFill>
                <a:srgbClr val="000099"/>
              </a:solidFill>
              <a:round/>
            </a:ln>
            <a:effectLst/>
          </p:spPr>
          <p:txBody>
            <a:bodyPr wrap="none" anchor="ctr"/>
            <a:lstStyle/>
            <a:p>
              <a:pPr eaLnBrk="1" hangingPunct="1">
                <a:defRPr/>
              </a:pPr>
              <a:endParaRPr lang="zh-CN" altLang="en-US" b="1" noProof="1">
                <a:latin typeface="+mn-lt"/>
                <a:ea typeface="黑体" panose="02010609060101010101" pitchFamily="2" charset="-122"/>
              </a:endParaRPr>
            </a:p>
          </p:txBody>
        </p:sp>
        <p:sp>
          <p:nvSpPr>
            <p:cNvPr id="47146" name="Rectangle 90"/>
            <p:cNvSpPr>
              <a:spLocks noChangeArrowheads="1"/>
            </p:cNvSpPr>
            <p:nvPr/>
          </p:nvSpPr>
          <p:spPr bwMode="auto">
            <a:xfrm>
              <a:off x="4827836" y="4562399"/>
              <a:ext cx="128984" cy="122238"/>
            </a:xfrm>
            <a:prstGeom prst="rect">
              <a:avLst/>
            </a:prstGeom>
            <a:solidFill>
              <a:srgbClr val="0000CC"/>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ea typeface="黑体" panose="02010609060101010101" pitchFamily="49" charset="-122"/>
              </a:endParaRPr>
            </a:p>
          </p:txBody>
        </p:sp>
        <p:sp>
          <p:nvSpPr>
            <p:cNvPr id="47147" name="AutoShape 91"/>
            <p:cNvSpPr>
              <a:spLocks noChangeArrowheads="1"/>
            </p:cNvSpPr>
            <p:nvPr/>
          </p:nvSpPr>
          <p:spPr bwMode="auto">
            <a:xfrm>
              <a:off x="5206190" y="4536999"/>
              <a:ext cx="178858" cy="171450"/>
            </a:xfrm>
            <a:custGeom>
              <a:avLst/>
              <a:gdLst>
                <a:gd name="T0" fmla="*/ 0 w 178858"/>
                <a:gd name="T1" fmla="*/ 65487 h 171450"/>
                <a:gd name="T2" fmla="*/ 68318 w 178858"/>
                <a:gd name="T3" fmla="*/ 65488 h 171450"/>
                <a:gd name="T4" fmla="*/ 89429 w 178858"/>
                <a:gd name="T5" fmla="*/ 0 h 171450"/>
                <a:gd name="T6" fmla="*/ 110539 w 178858"/>
                <a:gd name="T7" fmla="*/ 65488 h 171450"/>
                <a:gd name="T8" fmla="*/ 178857 w 178858"/>
                <a:gd name="T9" fmla="*/ 65487 h 171450"/>
                <a:gd name="T10" fmla="*/ 123587 w 178858"/>
                <a:gd name="T11" fmla="*/ 105961 h 171450"/>
                <a:gd name="T12" fmla="*/ 144699 w 178858"/>
                <a:gd name="T13" fmla="*/ 171449 h 171450"/>
                <a:gd name="T14" fmla="*/ 89429 w 178858"/>
                <a:gd name="T15" fmla="*/ 130975 h 171450"/>
                <a:gd name="T16" fmla="*/ 34158 w 178858"/>
                <a:gd name="T17" fmla="*/ 171449 h 171450"/>
                <a:gd name="T18" fmla="*/ 55270 w 178858"/>
                <a:gd name="T19" fmla="*/ 105961 h 1714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8858" h="171450">
                  <a:moveTo>
                    <a:pt x="0" y="65487"/>
                  </a:moveTo>
                  <a:lnTo>
                    <a:pt x="68318" y="65488"/>
                  </a:lnTo>
                  <a:lnTo>
                    <a:pt x="89429" y="0"/>
                  </a:lnTo>
                  <a:lnTo>
                    <a:pt x="110539" y="65488"/>
                  </a:lnTo>
                  <a:lnTo>
                    <a:pt x="178857" y="65487"/>
                  </a:lnTo>
                  <a:lnTo>
                    <a:pt x="123587" y="105961"/>
                  </a:lnTo>
                  <a:lnTo>
                    <a:pt x="144699" y="171449"/>
                  </a:lnTo>
                  <a:lnTo>
                    <a:pt x="89429" y="130975"/>
                  </a:lnTo>
                  <a:lnTo>
                    <a:pt x="34158" y="171449"/>
                  </a:lnTo>
                  <a:lnTo>
                    <a:pt x="55270" y="105961"/>
                  </a:lnTo>
                  <a:lnTo>
                    <a:pt x="0" y="65487"/>
                  </a:lnTo>
                  <a:close/>
                </a:path>
              </a:pathLst>
            </a:custGeom>
            <a:solidFill>
              <a:srgbClr val="FFFF00"/>
            </a:solidFill>
            <a:ln w="9525">
              <a:solidFill>
                <a:srgbClr val="000099"/>
              </a:solidFill>
              <a:miter lim="800000"/>
              <a:headEnd/>
              <a:tailEnd/>
            </a:ln>
          </p:spPr>
          <p:txBody>
            <a:bodyPr wrap="none" anchor="ctr"/>
            <a:lstStyle/>
            <a:p>
              <a:endParaRPr lang="zh-CN" altLang="en-US"/>
            </a:p>
          </p:txBody>
        </p:sp>
      </p:grpSp>
      <p:sp>
        <p:nvSpPr>
          <p:cNvPr id="47109" name="矩形 1"/>
          <p:cNvSpPr>
            <a:spLocks noChangeArrowheads="1"/>
          </p:cNvSpPr>
          <p:nvPr/>
        </p:nvSpPr>
        <p:spPr bwMode="auto">
          <a:xfrm>
            <a:off x="488950" y="1190625"/>
            <a:ext cx="9144000" cy="904875"/>
          </a:xfrm>
          <a:prstGeom prst="rect">
            <a:avLst/>
          </a:prstGeom>
          <a:solidFill>
            <a:srgbClr val="66FF66"/>
          </a:solidFill>
          <a:ln w="9525">
            <a:solidFill>
              <a:srgbClr val="000066"/>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pPr>
            <a:r>
              <a:rPr lang="zh-CN" altLang="en-US" sz="2400" b="1">
                <a:solidFill>
                  <a:srgbClr val="FF0000"/>
                </a:solidFill>
                <a:ea typeface="黑体" panose="02010609060101010101" pitchFamily="49" charset="-122"/>
              </a:rPr>
              <a:t>复用 </a:t>
            </a:r>
            <a:r>
              <a:rPr lang="en-US" altLang="zh-CN" sz="2400" b="1">
                <a:ea typeface="黑体" panose="02010609060101010101" pitchFamily="49" charset="-122"/>
              </a:rPr>
              <a:t>(multiplexing) </a:t>
            </a:r>
            <a:r>
              <a:rPr lang="zh-CN" altLang="en-US" sz="2400" b="1">
                <a:ea typeface="黑体" panose="02010609060101010101" pitchFamily="49" charset="-122"/>
              </a:rPr>
              <a:t>是通信技术中的基本概念。</a:t>
            </a:r>
            <a:endParaRPr lang="en-US" altLang="zh-CN" sz="2400" b="1">
              <a:ea typeface="黑体" panose="02010609060101010101" pitchFamily="49" charset="-122"/>
            </a:endParaRPr>
          </a:p>
          <a:p>
            <a:pPr>
              <a:lnSpc>
                <a:spcPct val="110000"/>
              </a:lnSpc>
            </a:pPr>
            <a:r>
              <a:rPr lang="zh-CN" altLang="en-US" sz="2400" b="1">
                <a:ea typeface="黑体" panose="02010609060101010101" pitchFamily="49" charset="-122"/>
              </a:rPr>
              <a:t>它允许用户</a:t>
            </a:r>
            <a:r>
              <a:rPr lang="zh-CN" altLang="zh-CN" sz="2400" b="1">
                <a:ea typeface="黑体" panose="02010609060101010101" pitchFamily="49" charset="-122"/>
              </a:rPr>
              <a:t>使用一个</a:t>
            </a:r>
            <a:r>
              <a:rPr lang="zh-CN" altLang="zh-CN" sz="2400" b="1">
                <a:solidFill>
                  <a:srgbClr val="FF0000"/>
                </a:solidFill>
                <a:ea typeface="黑体" panose="02010609060101010101" pitchFamily="49" charset="-122"/>
              </a:rPr>
              <a:t>共享</a:t>
            </a:r>
            <a:r>
              <a:rPr lang="zh-CN" altLang="zh-CN" sz="2400" b="1">
                <a:ea typeface="黑体" panose="02010609060101010101" pitchFamily="49" charset="-122"/>
              </a:rPr>
              <a:t>信道进行通信</a:t>
            </a:r>
            <a:r>
              <a:rPr lang="zh-CN" altLang="en-US" sz="2400" b="1">
                <a:ea typeface="黑体" panose="02010609060101010101" pitchFamily="49" charset="-122"/>
              </a:rPr>
              <a:t>，降低成本，提高利用率。</a:t>
            </a:r>
          </a:p>
        </p:txBody>
      </p:sp>
      <p:sp>
        <p:nvSpPr>
          <p:cNvPr id="47110" name="矩形 2"/>
          <p:cNvSpPr>
            <a:spLocks noChangeArrowheads="1"/>
          </p:cNvSpPr>
          <p:nvPr/>
        </p:nvSpPr>
        <p:spPr bwMode="auto">
          <a:xfrm>
            <a:off x="2360613" y="5991225"/>
            <a:ext cx="5403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复用的示意图</a:t>
            </a:r>
            <a:endParaRPr lang="zh-CN" altLang="en-US" sz="2400" b="1">
              <a:ea typeface="黑体" panose="02010609060101010101" pitchFamily="49" charset="-122"/>
            </a:endParaRPr>
          </a:p>
        </p:txBody>
      </p:sp>
      <p:sp>
        <p:nvSpPr>
          <p:cNvPr id="47111"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1E2993-05FD-4303-AD79-36C388493C83}" type="slidenum">
              <a:rPr altLang="en-US" smtClean="0"/>
              <a:pPr/>
              <a:t>21</a:t>
            </a:fld>
            <a:endParaRPr lang="zh-CN" altLang="zh-CN" smtClean="0"/>
          </a:p>
        </p:txBody>
      </p:sp>
      <p:sp>
        <p:nvSpPr>
          <p:cNvPr id="47112"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95300" y="188913"/>
            <a:ext cx="9066213" cy="1511300"/>
          </a:xfrm>
        </p:spPr>
        <p:txBody>
          <a:bodyPr/>
          <a:lstStyle/>
          <a:p>
            <a:pPr algn="ctr" eaLnBrk="1" hangingPunct="1"/>
            <a:r>
              <a:rPr lang="zh-CN" altLang="en-US" dirty="0" smtClean="0">
                <a:ea typeface="黑体" panose="02010609060101010101" pitchFamily="49" charset="-122"/>
              </a:rPr>
              <a:t>频分复用 </a:t>
            </a:r>
            <a:r>
              <a:rPr lang="en-US" altLang="zh-CN" u="sng" dirty="0" smtClean="0">
                <a:solidFill>
                  <a:srgbClr val="FF0000"/>
                </a:solidFill>
                <a:ea typeface="黑体" panose="02010609060101010101" pitchFamily="49" charset="-122"/>
              </a:rPr>
              <a:t>FDM</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(Frequency Division Multiplexing) </a:t>
            </a:r>
          </a:p>
        </p:txBody>
      </p:sp>
      <p:sp>
        <p:nvSpPr>
          <p:cNvPr id="49155" name="Rectangle 3"/>
          <p:cNvSpPr>
            <a:spLocks noGrp="1" noChangeArrowheads="1"/>
          </p:cNvSpPr>
          <p:nvPr>
            <p:ph idx="1"/>
          </p:nvPr>
        </p:nvSpPr>
        <p:spPr>
          <a:xfrm>
            <a:off x="495300" y="1773238"/>
            <a:ext cx="9066213" cy="4357687"/>
          </a:xfrm>
        </p:spPr>
        <p:txBody>
          <a:bodyPr/>
          <a:lstStyle/>
          <a:p>
            <a:pPr eaLnBrk="1" hangingPunct="1"/>
            <a:r>
              <a:rPr lang="zh-CN" altLang="en-US" sz="2400" smtClean="0">
                <a:ea typeface="黑体" panose="02010609060101010101" pitchFamily="49" charset="-122"/>
              </a:rPr>
              <a:t>将整个带宽分为多份，用户在分配到一定的频带后，在通信过程中自始至终都占用这个频带。</a:t>
            </a:r>
          </a:p>
          <a:p>
            <a:pPr eaLnBrk="1" hangingPunct="1"/>
            <a:r>
              <a:rPr lang="zh-CN" altLang="en-US" sz="2400" smtClean="0">
                <a:solidFill>
                  <a:srgbClr val="FF0000"/>
                </a:solidFill>
                <a:ea typeface="黑体" panose="02010609060101010101" pitchFamily="49" charset="-122"/>
              </a:rPr>
              <a:t>频分复用</a:t>
            </a:r>
            <a:r>
              <a:rPr lang="zh-CN" altLang="en-US" sz="2400" smtClean="0">
                <a:ea typeface="黑体" panose="02010609060101010101" pitchFamily="49" charset="-122"/>
              </a:rPr>
              <a:t>的所有用户在同样的时间</a:t>
            </a:r>
            <a:r>
              <a:rPr lang="zh-CN" altLang="en-US" sz="2400" smtClean="0">
                <a:solidFill>
                  <a:srgbClr val="FF0000"/>
                </a:solidFill>
                <a:ea typeface="黑体" panose="02010609060101010101" pitchFamily="49" charset="-122"/>
              </a:rPr>
              <a:t>占用不同的带宽资源</a:t>
            </a:r>
            <a:r>
              <a:rPr lang="zh-CN" altLang="en-US" sz="2400" smtClean="0">
                <a:ea typeface="黑体" panose="02010609060101010101" pitchFamily="49" charset="-122"/>
              </a:rPr>
              <a:t>（请注意，这里的“带宽”是频率带宽而不是数据的发送速率）。 </a:t>
            </a:r>
          </a:p>
        </p:txBody>
      </p:sp>
      <p:grpSp>
        <p:nvGrpSpPr>
          <p:cNvPr id="49156" name="组合 5"/>
          <p:cNvGrpSpPr>
            <a:grpSpLocks/>
          </p:cNvGrpSpPr>
          <p:nvPr/>
        </p:nvGrpSpPr>
        <p:grpSpPr bwMode="auto">
          <a:xfrm>
            <a:off x="1443038" y="3573463"/>
            <a:ext cx="7519987" cy="2817812"/>
            <a:chOff x="1442906" y="3573016"/>
            <a:chExt cx="7520089" cy="2817604"/>
          </a:xfrm>
        </p:grpSpPr>
        <p:sp>
          <p:nvSpPr>
            <p:cNvPr id="49160" name="Text Box 29"/>
            <p:cNvSpPr txBox="1">
              <a:spLocks noChangeArrowheads="1"/>
            </p:cNvSpPr>
            <p:nvPr/>
          </p:nvSpPr>
          <p:spPr bwMode="auto">
            <a:xfrm>
              <a:off x="1442906" y="3573016"/>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000" b="1">
                  <a:solidFill>
                    <a:srgbClr val="000099"/>
                  </a:solidFill>
                  <a:ea typeface="黑体" panose="02010609060101010101" pitchFamily="49" charset="-122"/>
                </a:rPr>
                <a:t>频率</a:t>
              </a:r>
            </a:p>
          </p:txBody>
        </p:sp>
        <p:sp>
          <p:nvSpPr>
            <p:cNvPr id="49161" name="Text Box 30"/>
            <p:cNvSpPr txBox="1">
              <a:spLocks noChangeArrowheads="1"/>
            </p:cNvSpPr>
            <p:nvPr/>
          </p:nvSpPr>
          <p:spPr bwMode="auto">
            <a:xfrm>
              <a:off x="8265368" y="6021288"/>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000" b="1">
                  <a:solidFill>
                    <a:srgbClr val="000099"/>
                  </a:solidFill>
                  <a:ea typeface="黑体" panose="02010609060101010101" pitchFamily="49" charset="-122"/>
                </a:rPr>
                <a:t>时间</a:t>
              </a:r>
            </a:p>
          </p:txBody>
        </p:sp>
        <p:sp>
          <p:nvSpPr>
            <p:cNvPr id="49162" name="Rectangle 31"/>
            <p:cNvSpPr>
              <a:spLocks noChangeArrowheads="1"/>
            </p:cNvSpPr>
            <p:nvPr/>
          </p:nvSpPr>
          <p:spPr bwMode="auto">
            <a:xfrm>
              <a:off x="2192735" y="3805575"/>
              <a:ext cx="6005513" cy="387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49163" name="Rectangle 32"/>
            <p:cNvSpPr>
              <a:spLocks noChangeArrowheads="1"/>
            </p:cNvSpPr>
            <p:nvPr/>
          </p:nvSpPr>
          <p:spPr bwMode="auto">
            <a:xfrm>
              <a:off x="2192735" y="4192925"/>
              <a:ext cx="6005513" cy="3873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49164" name="Rectangle 34"/>
            <p:cNvSpPr>
              <a:spLocks noChangeArrowheads="1"/>
            </p:cNvSpPr>
            <p:nvPr/>
          </p:nvSpPr>
          <p:spPr bwMode="auto">
            <a:xfrm>
              <a:off x="2192735" y="4967625"/>
              <a:ext cx="6005513" cy="387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49165" name="Rectangle 35"/>
            <p:cNvSpPr>
              <a:spLocks noChangeArrowheads="1"/>
            </p:cNvSpPr>
            <p:nvPr/>
          </p:nvSpPr>
          <p:spPr bwMode="auto">
            <a:xfrm>
              <a:off x="2192735" y="5354975"/>
              <a:ext cx="6005513" cy="387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49166" name="Text Box 36"/>
            <p:cNvSpPr txBox="1">
              <a:spLocks noChangeArrowheads="1"/>
            </p:cNvSpPr>
            <p:nvPr/>
          </p:nvSpPr>
          <p:spPr bwMode="auto">
            <a:xfrm>
              <a:off x="4765544" y="5412125"/>
              <a:ext cx="9140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000" b="1">
                  <a:solidFill>
                    <a:srgbClr val="000099"/>
                  </a:solidFill>
                  <a:ea typeface="黑体" panose="02010609060101010101" pitchFamily="49" charset="-122"/>
                </a:rPr>
                <a:t>频带 </a:t>
              </a:r>
              <a:r>
                <a:rPr lang="en-US" altLang="zh-CN" sz="2000" b="1">
                  <a:solidFill>
                    <a:srgbClr val="000099"/>
                  </a:solidFill>
                  <a:ea typeface="黑体" panose="02010609060101010101" pitchFamily="49" charset="-122"/>
                </a:rPr>
                <a:t>1</a:t>
              </a:r>
            </a:p>
          </p:txBody>
        </p:sp>
        <p:sp>
          <p:nvSpPr>
            <p:cNvPr id="49167" name="Text Box 37"/>
            <p:cNvSpPr txBox="1">
              <a:spLocks noChangeArrowheads="1"/>
            </p:cNvSpPr>
            <p:nvPr/>
          </p:nvSpPr>
          <p:spPr bwMode="auto">
            <a:xfrm>
              <a:off x="4765544" y="5023188"/>
              <a:ext cx="9140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000" b="1">
                  <a:solidFill>
                    <a:srgbClr val="000099"/>
                  </a:solidFill>
                  <a:ea typeface="黑体" panose="02010609060101010101" pitchFamily="49" charset="-122"/>
                </a:rPr>
                <a:t>频带 </a:t>
              </a:r>
              <a:r>
                <a:rPr lang="en-US" altLang="zh-CN" sz="2000" b="1">
                  <a:solidFill>
                    <a:srgbClr val="000099"/>
                  </a:solidFill>
                  <a:ea typeface="黑体" panose="02010609060101010101" pitchFamily="49" charset="-122"/>
                </a:rPr>
                <a:t>2</a:t>
              </a:r>
            </a:p>
          </p:txBody>
        </p:sp>
        <p:sp>
          <p:nvSpPr>
            <p:cNvPr id="49168" name="Text Box 39"/>
            <p:cNvSpPr txBox="1">
              <a:spLocks noChangeArrowheads="1"/>
            </p:cNvSpPr>
            <p:nvPr/>
          </p:nvSpPr>
          <p:spPr bwMode="auto">
            <a:xfrm>
              <a:off x="4915165" y="4015125"/>
              <a:ext cx="543739"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800" b="1">
                  <a:solidFill>
                    <a:srgbClr val="000099"/>
                  </a:solidFill>
                  <a:ea typeface="黑体" panose="02010609060101010101" pitchFamily="49" charset="-122"/>
                  <a:sym typeface="Symbol" panose="05050102010706020507" pitchFamily="18" charset="2"/>
                </a:rPr>
                <a:t></a:t>
              </a:r>
              <a:endParaRPr lang="zh-CN" altLang="zh-CN" sz="2800" b="1">
                <a:solidFill>
                  <a:srgbClr val="000099"/>
                </a:solidFill>
                <a:ea typeface="黑体" panose="02010609060101010101" pitchFamily="49" charset="-122"/>
                <a:sym typeface="Symbol" panose="05050102010706020507" pitchFamily="18" charset="2"/>
              </a:endParaRPr>
            </a:p>
          </p:txBody>
        </p:sp>
        <p:sp>
          <p:nvSpPr>
            <p:cNvPr id="49169" name="Text Box 40"/>
            <p:cNvSpPr txBox="1">
              <a:spLocks noChangeArrowheads="1"/>
            </p:cNvSpPr>
            <p:nvPr/>
          </p:nvSpPr>
          <p:spPr bwMode="auto">
            <a:xfrm>
              <a:off x="4765544" y="3848438"/>
              <a:ext cx="9605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000" b="1">
                  <a:solidFill>
                    <a:srgbClr val="000099"/>
                  </a:solidFill>
                  <a:ea typeface="黑体" panose="02010609060101010101" pitchFamily="49" charset="-122"/>
                </a:rPr>
                <a:t>频带 </a:t>
              </a:r>
              <a:r>
                <a:rPr lang="en-US" altLang="zh-CN" sz="2000" b="1">
                  <a:solidFill>
                    <a:srgbClr val="000099"/>
                  </a:solidFill>
                  <a:ea typeface="黑体" panose="02010609060101010101" pitchFamily="49" charset="-122"/>
                </a:rPr>
                <a:t>n</a:t>
              </a:r>
            </a:p>
          </p:txBody>
        </p:sp>
        <p:sp>
          <p:nvSpPr>
            <p:cNvPr id="49170" name="Line 41"/>
            <p:cNvSpPr>
              <a:spLocks noChangeShapeType="1"/>
            </p:cNvSpPr>
            <p:nvPr/>
          </p:nvSpPr>
          <p:spPr bwMode="auto">
            <a:xfrm rot="-5400000">
              <a:off x="983456" y="4821302"/>
              <a:ext cx="2418555"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71" name="Rectangle 34"/>
            <p:cNvSpPr>
              <a:spLocks noChangeArrowheads="1"/>
            </p:cNvSpPr>
            <p:nvPr/>
          </p:nvSpPr>
          <p:spPr bwMode="auto">
            <a:xfrm>
              <a:off x="2199895" y="4580274"/>
              <a:ext cx="6005513" cy="387351"/>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49172" name="Text Box 38"/>
            <p:cNvSpPr txBox="1">
              <a:spLocks noChangeArrowheads="1"/>
            </p:cNvSpPr>
            <p:nvPr/>
          </p:nvSpPr>
          <p:spPr bwMode="auto">
            <a:xfrm>
              <a:off x="4765544" y="4643844"/>
              <a:ext cx="9140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000" b="1">
                  <a:solidFill>
                    <a:srgbClr val="000099"/>
                  </a:solidFill>
                  <a:ea typeface="黑体" panose="02010609060101010101" pitchFamily="49" charset="-122"/>
                </a:rPr>
                <a:t>频带 </a:t>
              </a:r>
              <a:r>
                <a:rPr lang="en-US" altLang="zh-CN" sz="2000" b="1">
                  <a:solidFill>
                    <a:srgbClr val="000099"/>
                  </a:solidFill>
                  <a:ea typeface="黑体" panose="02010609060101010101" pitchFamily="49" charset="-122"/>
                </a:rPr>
                <a:t>3</a:t>
              </a:r>
            </a:p>
          </p:txBody>
        </p:sp>
        <p:cxnSp>
          <p:nvCxnSpPr>
            <p:cNvPr id="49173" name="直接箭头连接符 4"/>
            <p:cNvCxnSpPr>
              <a:cxnSpLocks noChangeShapeType="1"/>
              <a:stCxn id="49170" idx="0"/>
            </p:cNvCxnSpPr>
            <p:nvPr/>
          </p:nvCxnSpPr>
          <p:spPr bwMode="auto">
            <a:xfrm>
              <a:off x="2192735" y="6030580"/>
              <a:ext cx="6432673" cy="0"/>
            </a:xfrm>
            <a:prstGeom prst="straightConnector1">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cxnSp>
      </p:grpSp>
      <p:sp>
        <p:nvSpPr>
          <p:cNvPr id="49157" name="矩形 6"/>
          <p:cNvSpPr>
            <a:spLocks noChangeArrowheads="1"/>
          </p:cNvSpPr>
          <p:nvPr/>
        </p:nvSpPr>
        <p:spPr bwMode="auto">
          <a:xfrm>
            <a:off x="3800475" y="6092825"/>
            <a:ext cx="302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频分复用</a:t>
            </a:r>
            <a:endParaRPr lang="zh-CN" altLang="en-US" sz="2400" b="1">
              <a:ea typeface="黑体" panose="02010609060101010101" pitchFamily="49" charset="-122"/>
            </a:endParaRPr>
          </a:p>
        </p:txBody>
      </p:sp>
      <p:sp>
        <p:nvSpPr>
          <p:cNvPr id="4915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F06F38B-C9C9-4780-9B40-692BA79088B2}" type="slidenum">
              <a:rPr altLang="en-US" smtClean="0"/>
              <a:pPr/>
              <a:t>22</a:t>
            </a:fld>
            <a:endParaRPr lang="zh-CN" altLang="zh-CN" smtClean="0"/>
          </a:p>
        </p:txBody>
      </p:sp>
      <p:sp>
        <p:nvSpPr>
          <p:cNvPr id="49159"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95300" y="188913"/>
            <a:ext cx="9066213" cy="1511300"/>
          </a:xfrm>
        </p:spPr>
        <p:txBody>
          <a:bodyPr/>
          <a:lstStyle/>
          <a:p>
            <a:pPr algn="ctr" eaLnBrk="1" hangingPunct="1"/>
            <a:r>
              <a:rPr lang="zh-CN" altLang="en-US" dirty="0" smtClean="0">
                <a:ea typeface="黑体" panose="02010609060101010101" pitchFamily="49" charset="-122"/>
              </a:rPr>
              <a:t>时分复用</a:t>
            </a:r>
            <a:r>
              <a:rPr lang="en-US" altLang="zh-CN" u="sng" dirty="0" smtClean="0">
                <a:solidFill>
                  <a:srgbClr val="FF0000"/>
                </a:solidFill>
                <a:ea typeface="黑体" panose="02010609060101010101" pitchFamily="49" charset="-122"/>
              </a:rPr>
              <a:t>TDM</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(Time Division Multiplexing) </a:t>
            </a:r>
          </a:p>
        </p:txBody>
      </p:sp>
      <p:sp>
        <p:nvSpPr>
          <p:cNvPr id="51203" name="Rectangle 3"/>
          <p:cNvSpPr>
            <a:spLocks noGrp="1" noChangeArrowheads="1"/>
          </p:cNvSpPr>
          <p:nvPr>
            <p:ph idx="1"/>
          </p:nvPr>
        </p:nvSpPr>
        <p:spPr>
          <a:xfrm>
            <a:off x="495300" y="1773238"/>
            <a:ext cx="9066213" cy="4357687"/>
          </a:xfrm>
        </p:spPr>
        <p:txBody>
          <a:bodyPr/>
          <a:lstStyle/>
          <a:p>
            <a:pPr eaLnBrk="1" hangingPunct="1"/>
            <a:r>
              <a:rPr lang="zh-CN" altLang="en-US" sz="2800" smtClean="0">
                <a:solidFill>
                  <a:srgbClr val="FF0000"/>
                </a:solidFill>
                <a:ea typeface="黑体" panose="02010609060101010101" pitchFamily="49" charset="-122"/>
              </a:rPr>
              <a:t>时分复用</a:t>
            </a:r>
            <a:r>
              <a:rPr lang="zh-CN" altLang="en-US" sz="2800" smtClean="0">
                <a:ea typeface="黑体" panose="02010609060101010101" pitchFamily="49" charset="-122"/>
              </a:rPr>
              <a:t>则是将时间划分为一段段等长的</a:t>
            </a:r>
            <a:r>
              <a:rPr lang="zh-CN" altLang="en-US" sz="2800" smtClean="0">
                <a:solidFill>
                  <a:srgbClr val="FF0000"/>
                </a:solidFill>
                <a:ea typeface="黑体" panose="02010609060101010101" pitchFamily="49" charset="-122"/>
              </a:rPr>
              <a:t>时分复用帧</a:t>
            </a:r>
            <a:r>
              <a:rPr lang="zh-CN" altLang="en-US" sz="2800" smtClean="0">
                <a:ea typeface="黑体" panose="02010609060101010101" pitchFamily="49" charset="-122"/>
              </a:rPr>
              <a:t>（</a:t>
            </a:r>
            <a:r>
              <a:rPr lang="en-US" altLang="zh-CN" sz="2800" smtClean="0">
                <a:ea typeface="黑体" panose="02010609060101010101" pitchFamily="49" charset="-122"/>
              </a:rPr>
              <a:t>TDM </a:t>
            </a:r>
            <a:r>
              <a:rPr lang="zh-CN" altLang="en-US" sz="2800" smtClean="0">
                <a:ea typeface="黑体" panose="02010609060101010101" pitchFamily="49" charset="-122"/>
              </a:rPr>
              <a:t>帧）。每一个时分复用的用户在每一个 </a:t>
            </a:r>
            <a:r>
              <a:rPr lang="en-US" altLang="zh-CN" sz="2800" smtClean="0">
                <a:ea typeface="黑体" panose="02010609060101010101" pitchFamily="49" charset="-122"/>
              </a:rPr>
              <a:t>TDM </a:t>
            </a:r>
            <a:r>
              <a:rPr lang="zh-CN" altLang="en-US" sz="2800" smtClean="0">
                <a:ea typeface="黑体" panose="02010609060101010101" pitchFamily="49" charset="-122"/>
              </a:rPr>
              <a:t>帧中占用固定序号的时隙。</a:t>
            </a:r>
          </a:p>
          <a:p>
            <a:pPr eaLnBrk="1" hangingPunct="1"/>
            <a:r>
              <a:rPr lang="zh-CN" altLang="en-US" sz="2800" smtClean="0">
                <a:ea typeface="黑体" panose="02010609060101010101" pitchFamily="49" charset="-122"/>
              </a:rPr>
              <a:t>每一个用户所占用的时隙是</a:t>
            </a:r>
            <a:r>
              <a:rPr lang="zh-CN" altLang="en-US" sz="2800" smtClean="0">
                <a:solidFill>
                  <a:srgbClr val="FF0000"/>
                </a:solidFill>
                <a:ea typeface="黑体" panose="02010609060101010101" pitchFamily="49" charset="-122"/>
              </a:rPr>
              <a:t>周期性地出现</a:t>
            </a:r>
            <a:r>
              <a:rPr lang="zh-CN" altLang="en-US" sz="2800" smtClean="0">
                <a:ea typeface="黑体" panose="02010609060101010101" pitchFamily="49" charset="-122"/>
              </a:rPr>
              <a:t>（其周期就是 </a:t>
            </a:r>
            <a:r>
              <a:rPr lang="en-US" altLang="zh-CN" sz="2800" smtClean="0">
                <a:ea typeface="黑体" panose="02010609060101010101" pitchFamily="49" charset="-122"/>
              </a:rPr>
              <a:t>TDM  </a:t>
            </a:r>
            <a:r>
              <a:rPr lang="zh-CN" altLang="en-US" sz="2800" smtClean="0">
                <a:ea typeface="黑体" panose="02010609060101010101" pitchFamily="49" charset="-122"/>
              </a:rPr>
              <a:t>帧的长度）。</a:t>
            </a:r>
          </a:p>
          <a:p>
            <a:pPr eaLnBrk="1" hangingPunct="1"/>
            <a:r>
              <a:rPr lang="en-US" altLang="zh-CN" sz="2800" smtClean="0">
                <a:ea typeface="黑体" panose="02010609060101010101" pitchFamily="49" charset="-122"/>
              </a:rPr>
              <a:t>TDM </a:t>
            </a:r>
            <a:r>
              <a:rPr lang="zh-CN" altLang="en-US" sz="2800" smtClean="0">
                <a:ea typeface="黑体" panose="02010609060101010101" pitchFamily="49" charset="-122"/>
              </a:rPr>
              <a:t>信号也称为</a:t>
            </a:r>
            <a:r>
              <a:rPr lang="zh-CN" altLang="en-US" sz="2800" smtClean="0">
                <a:solidFill>
                  <a:srgbClr val="FF0000"/>
                </a:solidFill>
                <a:ea typeface="黑体" panose="02010609060101010101" pitchFamily="49" charset="-122"/>
              </a:rPr>
              <a:t>等时</a:t>
            </a:r>
            <a:r>
              <a:rPr lang="en-US" altLang="zh-CN" sz="2800" smtClean="0">
                <a:ea typeface="黑体" panose="02010609060101010101" pitchFamily="49" charset="-122"/>
              </a:rPr>
              <a:t>(isochronous)</a:t>
            </a:r>
            <a:r>
              <a:rPr lang="zh-CN" altLang="en-US" sz="2800" smtClean="0">
                <a:ea typeface="黑体" panose="02010609060101010101" pitchFamily="49" charset="-122"/>
              </a:rPr>
              <a:t>信号。</a:t>
            </a:r>
          </a:p>
          <a:p>
            <a:pPr eaLnBrk="1" hangingPunct="1"/>
            <a:r>
              <a:rPr lang="zh-CN" altLang="en-US" sz="2800" smtClean="0">
                <a:solidFill>
                  <a:srgbClr val="0000CC"/>
                </a:solidFill>
                <a:ea typeface="黑体" panose="02010609060101010101" pitchFamily="49" charset="-122"/>
              </a:rPr>
              <a:t>时分复用的所有用户是</a:t>
            </a:r>
            <a:r>
              <a:rPr lang="zh-CN" altLang="en-US" sz="2800" smtClean="0">
                <a:solidFill>
                  <a:srgbClr val="FF0000"/>
                </a:solidFill>
                <a:ea typeface="黑体" panose="02010609060101010101" pitchFamily="49" charset="-122"/>
              </a:rPr>
              <a:t>在不同的时间</a:t>
            </a:r>
            <a:r>
              <a:rPr lang="zh-CN" altLang="en-US" sz="2800" smtClean="0">
                <a:solidFill>
                  <a:srgbClr val="0000CC"/>
                </a:solidFill>
                <a:ea typeface="黑体" panose="02010609060101010101" pitchFamily="49" charset="-122"/>
              </a:rPr>
              <a:t>占用</a:t>
            </a:r>
            <a:r>
              <a:rPr lang="zh-CN" altLang="en-US" sz="2800" smtClean="0">
                <a:solidFill>
                  <a:srgbClr val="FF0000"/>
                </a:solidFill>
                <a:ea typeface="黑体" panose="02010609060101010101" pitchFamily="49" charset="-122"/>
              </a:rPr>
              <a:t>同样的频带宽度。</a:t>
            </a:r>
          </a:p>
        </p:txBody>
      </p:sp>
      <p:sp>
        <p:nvSpPr>
          <p:cNvPr id="5120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B3C160-9228-4BDE-8C5C-120D7D216E27}" type="slidenum">
              <a:rPr altLang="en-US" smtClean="0"/>
              <a:pPr/>
              <a:t>23</a:t>
            </a:fld>
            <a:endParaRPr lang="zh-CN" altLang="zh-CN" smtClean="0"/>
          </a:p>
        </p:txBody>
      </p:sp>
      <p:sp>
        <p:nvSpPr>
          <p:cNvPr id="5120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algn="ctr" eaLnBrk="1" hangingPunct="1"/>
            <a:r>
              <a:rPr lang="zh-CN" altLang="en-US" smtClean="0">
                <a:ea typeface="黑体" panose="02010609060101010101" pitchFamily="49" charset="-122"/>
              </a:rPr>
              <a:t>时分复用</a:t>
            </a:r>
            <a:r>
              <a:rPr lang="en-US" altLang="zh-CN" smtClean="0">
                <a:ea typeface="黑体" panose="02010609060101010101" pitchFamily="49" charset="-122"/>
              </a:rPr>
              <a:t>TDM</a:t>
            </a:r>
            <a:r>
              <a:rPr lang="zh-CN" altLang="en-US" smtClean="0">
                <a:ea typeface="黑体" panose="02010609060101010101" pitchFamily="49" charset="-122"/>
              </a:rPr>
              <a:t> </a:t>
            </a:r>
          </a:p>
        </p:txBody>
      </p:sp>
      <p:sp>
        <p:nvSpPr>
          <p:cNvPr id="53251" name="Line 3"/>
          <p:cNvSpPr>
            <a:spLocks noChangeShapeType="1"/>
          </p:cNvSpPr>
          <p:nvPr/>
        </p:nvSpPr>
        <p:spPr bwMode="auto">
          <a:xfrm flipV="1">
            <a:off x="1598613" y="4930775"/>
            <a:ext cx="6627812" cy="1111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52" name="Text Box 4"/>
          <p:cNvSpPr txBox="1">
            <a:spLocks noChangeArrowheads="1"/>
          </p:cNvSpPr>
          <p:nvPr/>
        </p:nvSpPr>
        <p:spPr bwMode="auto">
          <a:xfrm>
            <a:off x="849313" y="1797050"/>
            <a:ext cx="69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000" b="1">
                <a:solidFill>
                  <a:srgbClr val="000099"/>
                </a:solidFill>
                <a:ea typeface="黑体" panose="02010609060101010101" pitchFamily="49" charset="-122"/>
              </a:rPr>
              <a:t>频率</a:t>
            </a:r>
          </a:p>
        </p:txBody>
      </p:sp>
      <p:sp>
        <p:nvSpPr>
          <p:cNvPr id="53253" name="Text Box 5"/>
          <p:cNvSpPr txBox="1">
            <a:spLocks noChangeArrowheads="1"/>
          </p:cNvSpPr>
          <p:nvPr/>
        </p:nvSpPr>
        <p:spPr bwMode="auto">
          <a:xfrm>
            <a:off x="8226425" y="4721225"/>
            <a:ext cx="696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000" b="1">
                <a:solidFill>
                  <a:srgbClr val="000099"/>
                </a:solidFill>
                <a:ea typeface="黑体" panose="02010609060101010101" pitchFamily="49" charset="-122"/>
              </a:rPr>
              <a:t>时间</a:t>
            </a:r>
          </a:p>
        </p:txBody>
      </p:sp>
      <p:sp>
        <p:nvSpPr>
          <p:cNvPr id="53254" name="Rectangle 6"/>
          <p:cNvSpPr>
            <a:spLocks noChangeArrowheads="1"/>
          </p:cNvSpPr>
          <p:nvPr/>
        </p:nvSpPr>
        <p:spPr bwMode="auto">
          <a:xfrm>
            <a:off x="1911350" y="2420938"/>
            <a:ext cx="311150" cy="18716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B</a:t>
            </a:r>
          </a:p>
        </p:txBody>
      </p:sp>
      <p:sp>
        <p:nvSpPr>
          <p:cNvPr id="53255" name="Rectangle 7"/>
          <p:cNvSpPr>
            <a:spLocks noChangeArrowheads="1"/>
          </p:cNvSpPr>
          <p:nvPr/>
        </p:nvSpPr>
        <p:spPr bwMode="auto">
          <a:xfrm>
            <a:off x="2224088" y="2420938"/>
            <a:ext cx="311150" cy="187166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C</a:t>
            </a:r>
          </a:p>
        </p:txBody>
      </p:sp>
      <p:sp>
        <p:nvSpPr>
          <p:cNvPr id="53256" name="Rectangle 8"/>
          <p:cNvSpPr>
            <a:spLocks noChangeArrowheads="1"/>
          </p:cNvSpPr>
          <p:nvPr/>
        </p:nvSpPr>
        <p:spPr bwMode="auto">
          <a:xfrm>
            <a:off x="2535238" y="2420938"/>
            <a:ext cx="311150" cy="1871662"/>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D</a:t>
            </a:r>
          </a:p>
        </p:txBody>
      </p:sp>
      <p:sp>
        <p:nvSpPr>
          <p:cNvPr id="53257" name="Rectangle 9"/>
          <p:cNvSpPr>
            <a:spLocks noChangeArrowheads="1"/>
          </p:cNvSpPr>
          <p:nvPr/>
        </p:nvSpPr>
        <p:spPr bwMode="auto">
          <a:xfrm>
            <a:off x="3159125" y="2420938"/>
            <a:ext cx="311150" cy="18716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B</a:t>
            </a:r>
          </a:p>
        </p:txBody>
      </p:sp>
      <p:sp>
        <p:nvSpPr>
          <p:cNvPr id="53258" name="Rectangle 10"/>
          <p:cNvSpPr>
            <a:spLocks noChangeArrowheads="1"/>
          </p:cNvSpPr>
          <p:nvPr/>
        </p:nvSpPr>
        <p:spPr bwMode="auto">
          <a:xfrm>
            <a:off x="3471863" y="2420938"/>
            <a:ext cx="311150" cy="187166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C</a:t>
            </a:r>
          </a:p>
        </p:txBody>
      </p:sp>
      <p:sp>
        <p:nvSpPr>
          <p:cNvPr id="53259" name="Rectangle 11"/>
          <p:cNvSpPr>
            <a:spLocks noChangeArrowheads="1"/>
          </p:cNvSpPr>
          <p:nvPr/>
        </p:nvSpPr>
        <p:spPr bwMode="auto">
          <a:xfrm>
            <a:off x="3783013" y="2420938"/>
            <a:ext cx="311150" cy="1871662"/>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D</a:t>
            </a:r>
          </a:p>
        </p:txBody>
      </p:sp>
      <p:sp>
        <p:nvSpPr>
          <p:cNvPr id="53260" name="Rectangle 12"/>
          <p:cNvSpPr>
            <a:spLocks noChangeArrowheads="1"/>
          </p:cNvSpPr>
          <p:nvPr/>
        </p:nvSpPr>
        <p:spPr bwMode="auto">
          <a:xfrm>
            <a:off x="4408488" y="2420938"/>
            <a:ext cx="311150" cy="18716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B</a:t>
            </a:r>
          </a:p>
        </p:txBody>
      </p:sp>
      <p:sp>
        <p:nvSpPr>
          <p:cNvPr id="53261" name="Rectangle 13"/>
          <p:cNvSpPr>
            <a:spLocks noChangeArrowheads="1"/>
          </p:cNvSpPr>
          <p:nvPr/>
        </p:nvSpPr>
        <p:spPr bwMode="auto">
          <a:xfrm>
            <a:off x="4721225" y="2420938"/>
            <a:ext cx="311150" cy="187166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C</a:t>
            </a:r>
          </a:p>
        </p:txBody>
      </p:sp>
      <p:sp>
        <p:nvSpPr>
          <p:cNvPr id="53262" name="Rectangle 14"/>
          <p:cNvSpPr>
            <a:spLocks noChangeArrowheads="1"/>
          </p:cNvSpPr>
          <p:nvPr/>
        </p:nvSpPr>
        <p:spPr bwMode="auto">
          <a:xfrm>
            <a:off x="5032375" y="2420938"/>
            <a:ext cx="311150" cy="1871662"/>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D</a:t>
            </a:r>
          </a:p>
        </p:txBody>
      </p:sp>
      <p:sp>
        <p:nvSpPr>
          <p:cNvPr id="53263" name="Rectangle 15"/>
          <p:cNvSpPr>
            <a:spLocks noChangeArrowheads="1"/>
          </p:cNvSpPr>
          <p:nvPr/>
        </p:nvSpPr>
        <p:spPr bwMode="auto">
          <a:xfrm>
            <a:off x="5656263" y="2420938"/>
            <a:ext cx="311150" cy="18716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B</a:t>
            </a:r>
          </a:p>
        </p:txBody>
      </p:sp>
      <p:sp>
        <p:nvSpPr>
          <p:cNvPr id="53264" name="Rectangle 16"/>
          <p:cNvSpPr>
            <a:spLocks noChangeArrowheads="1"/>
          </p:cNvSpPr>
          <p:nvPr/>
        </p:nvSpPr>
        <p:spPr bwMode="auto">
          <a:xfrm>
            <a:off x="5969000" y="2420938"/>
            <a:ext cx="311150" cy="187166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C</a:t>
            </a:r>
          </a:p>
        </p:txBody>
      </p:sp>
      <p:sp>
        <p:nvSpPr>
          <p:cNvPr id="53265" name="Rectangle 17"/>
          <p:cNvSpPr>
            <a:spLocks noChangeArrowheads="1"/>
          </p:cNvSpPr>
          <p:nvPr/>
        </p:nvSpPr>
        <p:spPr bwMode="auto">
          <a:xfrm>
            <a:off x="6280150" y="2420938"/>
            <a:ext cx="311150" cy="1871662"/>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D</a:t>
            </a:r>
          </a:p>
        </p:txBody>
      </p:sp>
      <p:grpSp>
        <p:nvGrpSpPr>
          <p:cNvPr id="258066" name="Group 18"/>
          <p:cNvGrpSpPr>
            <a:grpSpLocks/>
          </p:cNvGrpSpPr>
          <p:nvPr/>
        </p:nvGrpSpPr>
        <p:grpSpPr bwMode="auto">
          <a:xfrm>
            <a:off x="1600200" y="2420938"/>
            <a:ext cx="4056063" cy="1871662"/>
            <a:chOff x="930" y="1661"/>
            <a:chExt cx="2359" cy="1179"/>
          </a:xfrm>
        </p:grpSpPr>
        <p:sp>
          <p:nvSpPr>
            <p:cNvPr id="53298" name="Rectangle 19"/>
            <p:cNvSpPr>
              <a:spLocks noChangeArrowheads="1"/>
            </p:cNvSpPr>
            <p:nvPr/>
          </p:nvSpPr>
          <p:spPr bwMode="auto">
            <a:xfrm>
              <a:off x="930" y="1661"/>
              <a:ext cx="181" cy="1179"/>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a:t>
              </a:r>
            </a:p>
          </p:txBody>
        </p:sp>
        <p:sp>
          <p:nvSpPr>
            <p:cNvPr id="53299" name="Rectangle 20"/>
            <p:cNvSpPr>
              <a:spLocks noChangeArrowheads="1"/>
            </p:cNvSpPr>
            <p:nvPr/>
          </p:nvSpPr>
          <p:spPr bwMode="auto">
            <a:xfrm>
              <a:off x="1656" y="1661"/>
              <a:ext cx="181" cy="1179"/>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a:t>
              </a:r>
            </a:p>
          </p:txBody>
        </p:sp>
        <p:sp>
          <p:nvSpPr>
            <p:cNvPr id="53300" name="Rectangle 21"/>
            <p:cNvSpPr>
              <a:spLocks noChangeArrowheads="1"/>
            </p:cNvSpPr>
            <p:nvPr/>
          </p:nvSpPr>
          <p:spPr bwMode="auto">
            <a:xfrm>
              <a:off x="2382" y="1661"/>
              <a:ext cx="181" cy="1179"/>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a:t>
              </a:r>
            </a:p>
          </p:txBody>
        </p:sp>
        <p:sp>
          <p:nvSpPr>
            <p:cNvPr id="53301" name="Rectangle 22"/>
            <p:cNvSpPr>
              <a:spLocks noChangeArrowheads="1"/>
            </p:cNvSpPr>
            <p:nvPr/>
          </p:nvSpPr>
          <p:spPr bwMode="auto">
            <a:xfrm>
              <a:off x="3108" y="1661"/>
              <a:ext cx="181" cy="1179"/>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a:t>
              </a:r>
            </a:p>
          </p:txBody>
        </p:sp>
      </p:grpSp>
      <p:sp>
        <p:nvSpPr>
          <p:cNvPr id="53267" name="Line 26"/>
          <p:cNvSpPr>
            <a:spLocks noChangeShapeType="1"/>
          </p:cNvSpPr>
          <p:nvPr/>
        </p:nvSpPr>
        <p:spPr bwMode="auto">
          <a:xfrm flipH="1">
            <a:off x="1754188" y="1989138"/>
            <a:ext cx="1249362" cy="360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8" name="Line 27"/>
          <p:cNvSpPr>
            <a:spLocks noChangeShapeType="1"/>
          </p:cNvSpPr>
          <p:nvPr/>
        </p:nvSpPr>
        <p:spPr bwMode="auto">
          <a:xfrm flipH="1">
            <a:off x="2995613" y="1989138"/>
            <a:ext cx="319087" cy="360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9" name="Line 28"/>
          <p:cNvSpPr>
            <a:spLocks noChangeShapeType="1"/>
          </p:cNvSpPr>
          <p:nvPr/>
        </p:nvSpPr>
        <p:spPr bwMode="auto">
          <a:xfrm>
            <a:off x="3860800" y="1989138"/>
            <a:ext cx="377825" cy="360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0" name="Line 29"/>
          <p:cNvSpPr>
            <a:spLocks noChangeShapeType="1"/>
          </p:cNvSpPr>
          <p:nvPr/>
        </p:nvSpPr>
        <p:spPr bwMode="auto">
          <a:xfrm>
            <a:off x="4405313" y="1989138"/>
            <a:ext cx="1076325" cy="360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58078" name="Group 30"/>
          <p:cNvGrpSpPr>
            <a:grpSpLocks/>
          </p:cNvGrpSpPr>
          <p:nvPr/>
        </p:nvGrpSpPr>
        <p:grpSpPr bwMode="auto">
          <a:xfrm>
            <a:off x="1598613" y="4365625"/>
            <a:ext cx="1247775" cy="512763"/>
            <a:chOff x="930" y="2886"/>
            <a:chExt cx="725" cy="323"/>
          </a:xfrm>
        </p:grpSpPr>
        <p:sp>
          <p:nvSpPr>
            <p:cNvPr id="53296" name="Text Box 31"/>
            <p:cNvSpPr txBox="1">
              <a:spLocks noChangeArrowheads="1"/>
            </p:cNvSpPr>
            <p:nvPr/>
          </p:nvSpPr>
          <p:spPr bwMode="auto">
            <a:xfrm>
              <a:off x="975" y="2976"/>
              <a:ext cx="6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TDM </a:t>
              </a:r>
              <a:r>
                <a:rPr lang="zh-CN" altLang="en-US" sz="2000" b="1">
                  <a:solidFill>
                    <a:srgbClr val="000099"/>
                  </a:solidFill>
                  <a:ea typeface="黑体" panose="02010609060101010101" pitchFamily="49" charset="-122"/>
                </a:rPr>
                <a:t>帧</a:t>
              </a:r>
            </a:p>
          </p:txBody>
        </p:sp>
        <p:sp>
          <p:nvSpPr>
            <p:cNvPr id="53297" name="AutoShape 32"/>
            <p:cNvSpPr>
              <a:spLocks/>
            </p:cNvSpPr>
            <p:nvPr/>
          </p:nvSpPr>
          <p:spPr bwMode="auto">
            <a:xfrm rot="16200000" flipV="1">
              <a:off x="1248" y="2567"/>
              <a:ext cx="90" cy="725"/>
            </a:xfrm>
            <a:prstGeom prst="leftBrace">
              <a:avLst>
                <a:gd name="adj1" fmla="val 67130"/>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grpSp>
      <p:grpSp>
        <p:nvGrpSpPr>
          <p:cNvPr id="258081" name="Group 33"/>
          <p:cNvGrpSpPr>
            <a:grpSpLocks/>
          </p:cNvGrpSpPr>
          <p:nvPr/>
        </p:nvGrpSpPr>
        <p:grpSpPr bwMode="auto">
          <a:xfrm>
            <a:off x="2846388" y="4365625"/>
            <a:ext cx="1246187" cy="512763"/>
            <a:chOff x="1655" y="2886"/>
            <a:chExt cx="725" cy="323"/>
          </a:xfrm>
        </p:grpSpPr>
        <p:sp>
          <p:nvSpPr>
            <p:cNvPr id="53294" name="Text Box 34"/>
            <p:cNvSpPr txBox="1">
              <a:spLocks noChangeArrowheads="1"/>
            </p:cNvSpPr>
            <p:nvPr/>
          </p:nvSpPr>
          <p:spPr bwMode="auto">
            <a:xfrm>
              <a:off x="1700" y="2976"/>
              <a:ext cx="6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TDM </a:t>
              </a:r>
              <a:r>
                <a:rPr lang="zh-CN" altLang="en-US" sz="2000" b="1">
                  <a:solidFill>
                    <a:srgbClr val="000099"/>
                  </a:solidFill>
                  <a:ea typeface="黑体" panose="02010609060101010101" pitchFamily="49" charset="-122"/>
                </a:rPr>
                <a:t>帧</a:t>
              </a:r>
            </a:p>
          </p:txBody>
        </p:sp>
        <p:sp>
          <p:nvSpPr>
            <p:cNvPr id="53295" name="AutoShape 35"/>
            <p:cNvSpPr>
              <a:spLocks/>
            </p:cNvSpPr>
            <p:nvPr/>
          </p:nvSpPr>
          <p:spPr bwMode="auto">
            <a:xfrm rot="16200000" flipV="1">
              <a:off x="1973" y="2567"/>
              <a:ext cx="90" cy="725"/>
            </a:xfrm>
            <a:prstGeom prst="leftBrace">
              <a:avLst>
                <a:gd name="adj1" fmla="val 67130"/>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grpSp>
      <p:grpSp>
        <p:nvGrpSpPr>
          <p:cNvPr id="258084" name="Group 36"/>
          <p:cNvGrpSpPr>
            <a:grpSpLocks/>
          </p:cNvGrpSpPr>
          <p:nvPr/>
        </p:nvGrpSpPr>
        <p:grpSpPr bwMode="auto">
          <a:xfrm>
            <a:off x="4092575" y="4365625"/>
            <a:ext cx="1247775" cy="512763"/>
            <a:chOff x="2380" y="2886"/>
            <a:chExt cx="725" cy="323"/>
          </a:xfrm>
        </p:grpSpPr>
        <p:sp>
          <p:nvSpPr>
            <p:cNvPr id="53292" name="Text Box 37"/>
            <p:cNvSpPr txBox="1">
              <a:spLocks noChangeArrowheads="1"/>
            </p:cNvSpPr>
            <p:nvPr/>
          </p:nvSpPr>
          <p:spPr bwMode="auto">
            <a:xfrm>
              <a:off x="2426" y="2976"/>
              <a:ext cx="6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TDM </a:t>
              </a:r>
              <a:r>
                <a:rPr lang="zh-CN" altLang="en-US" sz="2000" b="1">
                  <a:solidFill>
                    <a:srgbClr val="000099"/>
                  </a:solidFill>
                  <a:ea typeface="黑体" panose="02010609060101010101" pitchFamily="49" charset="-122"/>
                </a:rPr>
                <a:t>帧</a:t>
              </a:r>
            </a:p>
          </p:txBody>
        </p:sp>
        <p:sp>
          <p:nvSpPr>
            <p:cNvPr id="53293" name="AutoShape 38"/>
            <p:cNvSpPr>
              <a:spLocks/>
            </p:cNvSpPr>
            <p:nvPr/>
          </p:nvSpPr>
          <p:spPr bwMode="auto">
            <a:xfrm rot="16200000" flipV="1">
              <a:off x="2698" y="2567"/>
              <a:ext cx="90" cy="725"/>
            </a:xfrm>
            <a:prstGeom prst="leftBrace">
              <a:avLst>
                <a:gd name="adj1" fmla="val 67130"/>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grpSp>
      <p:grpSp>
        <p:nvGrpSpPr>
          <p:cNvPr id="258087" name="Group 39"/>
          <p:cNvGrpSpPr>
            <a:grpSpLocks/>
          </p:cNvGrpSpPr>
          <p:nvPr/>
        </p:nvGrpSpPr>
        <p:grpSpPr bwMode="auto">
          <a:xfrm>
            <a:off x="5340350" y="4365625"/>
            <a:ext cx="1246188" cy="512763"/>
            <a:chOff x="3105" y="2886"/>
            <a:chExt cx="725" cy="323"/>
          </a:xfrm>
        </p:grpSpPr>
        <p:sp>
          <p:nvSpPr>
            <p:cNvPr id="53290" name="Text Box 40"/>
            <p:cNvSpPr txBox="1">
              <a:spLocks noChangeArrowheads="1"/>
            </p:cNvSpPr>
            <p:nvPr/>
          </p:nvSpPr>
          <p:spPr bwMode="auto">
            <a:xfrm>
              <a:off x="3152" y="2976"/>
              <a:ext cx="6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TDM </a:t>
              </a:r>
              <a:r>
                <a:rPr lang="zh-CN" altLang="en-US" sz="2000" b="1">
                  <a:solidFill>
                    <a:srgbClr val="000099"/>
                  </a:solidFill>
                  <a:ea typeface="黑体" panose="02010609060101010101" pitchFamily="49" charset="-122"/>
                </a:rPr>
                <a:t>帧</a:t>
              </a:r>
            </a:p>
          </p:txBody>
        </p:sp>
        <p:sp>
          <p:nvSpPr>
            <p:cNvPr id="53291" name="AutoShape 41"/>
            <p:cNvSpPr>
              <a:spLocks/>
            </p:cNvSpPr>
            <p:nvPr/>
          </p:nvSpPr>
          <p:spPr bwMode="auto">
            <a:xfrm rot="16200000" flipV="1">
              <a:off x="3423" y="2567"/>
              <a:ext cx="90" cy="725"/>
            </a:xfrm>
            <a:prstGeom prst="leftBrace">
              <a:avLst>
                <a:gd name="adj1" fmla="val 67130"/>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grpSp>
      <p:sp>
        <p:nvSpPr>
          <p:cNvPr id="53275" name="Rectangle 42"/>
          <p:cNvSpPr>
            <a:spLocks noChangeArrowheads="1"/>
          </p:cNvSpPr>
          <p:nvPr/>
        </p:nvSpPr>
        <p:spPr bwMode="auto">
          <a:xfrm>
            <a:off x="6994525" y="3105150"/>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t>
            </a:r>
          </a:p>
        </p:txBody>
      </p:sp>
      <p:sp>
        <p:nvSpPr>
          <p:cNvPr id="53276" name="Line 43"/>
          <p:cNvSpPr>
            <a:spLocks noChangeShapeType="1"/>
          </p:cNvSpPr>
          <p:nvPr/>
        </p:nvSpPr>
        <p:spPr bwMode="auto">
          <a:xfrm rot="-5400000">
            <a:off x="114300" y="3452813"/>
            <a:ext cx="2968625"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58092" name="Group 44"/>
          <p:cNvGrpSpPr>
            <a:grpSpLocks/>
          </p:cNvGrpSpPr>
          <p:nvPr/>
        </p:nvGrpSpPr>
        <p:grpSpPr bwMode="auto">
          <a:xfrm>
            <a:off x="6591300" y="4365625"/>
            <a:ext cx="1247775" cy="512763"/>
            <a:chOff x="3105" y="2886"/>
            <a:chExt cx="725" cy="323"/>
          </a:xfrm>
        </p:grpSpPr>
        <p:sp>
          <p:nvSpPr>
            <p:cNvPr id="53288" name="Text Box 45"/>
            <p:cNvSpPr txBox="1">
              <a:spLocks noChangeArrowheads="1"/>
            </p:cNvSpPr>
            <p:nvPr/>
          </p:nvSpPr>
          <p:spPr bwMode="auto">
            <a:xfrm>
              <a:off x="3152" y="2976"/>
              <a:ext cx="6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TDM </a:t>
              </a:r>
              <a:r>
                <a:rPr lang="zh-CN" altLang="en-US" sz="2000" b="1">
                  <a:solidFill>
                    <a:srgbClr val="000099"/>
                  </a:solidFill>
                  <a:ea typeface="黑体" panose="02010609060101010101" pitchFamily="49" charset="-122"/>
                </a:rPr>
                <a:t>帧</a:t>
              </a:r>
            </a:p>
          </p:txBody>
        </p:sp>
        <p:sp>
          <p:nvSpPr>
            <p:cNvPr id="53289" name="AutoShape 46"/>
            <p:cNvSpPr>
              <a:spLocks/>
            </p:cNvSpPr>
            <p:nvPr/>
          </p:nvSpPr>
          <p:spPr bwMode="auto">
            <a:xfrm rot="16200000" flipV="1">
              <a:off x="3423" y="2567"/>
              <a:ext cx="90" cy="725"/>
            </a:xfrm>
            <a:prstGeom prst="leftBrace">
              <a:avLst>
                <a:gd name="adj1" fmla="val 67130"/>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grpSp>
      <p:grpSp>
        <p:nvGrpSpPr>
          <p:cNvPr id="53278" name="Group 52"/>
          <p:cNvGrpSpPr>
            <a:grpSpLocks/>
          </p:cNvGrpSpPr>
          <p:nvPr/>
        </p:nvGrpSpPr>
        <p:grpSpPr bwMode="auto">
          <a:xfrm>
            <a:off x="2846388" y="2276475"/>
            <a:ext cx="4994275" cy="2376488"/>
            <a:chOff x="1655" y="1570"/>
            <a:chExt cx="2904" cy="1497"/>
          </a:xfrm>
        </p:grpSpPr>
        <p:sp>
          <p:nvSpPr>
            <p:cNvPr id="53283" name="Line 47"/>
            <p:cNvSpPr>
              <a:spLocks noChangeShapeType="1"/>
            </p:cNvSpPr>
            <p:nvPr/>
          </p:nvSpPr>
          <p:spPr bwMode="auto">
            <a:xfrm>
              <a:off x="1655" y="1570"/>
              <a:ext cx="0" cy="1497"/>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4" name="Line 48"/>
            <p:cNvSpPr>
              <a:spLocks noChangeShapeType="1"/>
            </p:cNvSpPr>
            <p:nvPr/>
          </p:nvSpPr>
          <p:spPr bwMode="auto">
            <a:xfrm>
              <a:off x="2381" y="1570"/>
              <a:ext cx="0" cy="1497"/>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5" name="Line 49"/>
            <p:cNvSpPr>
              <a:spLocks noChangeShapeType="1"/>
            </p:cNvSpPr>
            <p:nvPr/>
          </p:nvSpPr>
          <p:spPr bwMode="auto">
            <a:xfrm>
              <a:off x="3107" y="1570"/>
              <a:ext cx="0" cy="1497"/>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6" name="Line 50"/>
            <p:cNvSpPr>
              <a:spLocks noChangeShapeType="1"/>
            </p:cNvSpPr>
            <p:nvPr/>
          </p:nvSpPr>
          <p:spPr bwMode="auto">
            <a:xfrm>
              <a:off x="3833" y="1570"/>
              <a:ext cx="0" cy="1497"/>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7" name="Line 51"/>
            <p:cNvSpPr>
              <a:spLocks noChangeShapeType="1"/>
            </p:cNvSpPr>
            <p:nvPr/>
          </p:nvSpPr>
          <p:spPr bwMode="auto">
            <a:xfrm>
              <a:off x="4559" y="1570"/>
              <a:ext cx="0" cy="1497"/>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3279" name="Text Box 53"/>
          <p:cNvSpPr txBox="1">
            <a:spLocks noChangeArrowheads="1"/>
          </p:cNvSpPr>
          <p:nvPr/>
        </p:nvSpPr>
        <p:spPr bwMode="auto">
          <a:xfrm>
            <a:off x="2860675" y="1557338"/>
            <a:ext cx="1731963"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400" b="1">
                <a:solidFill>
                  <a:srgbClr val="C00000"/>
                </a:solidFill>
                <a:ea typeface="黑体" panose="02010609060101010101" pitchFamily="49" charset="-122"/>
              </a:rPr>
              <a:t>周期性出现</a:t>
            </a:r>
          </a:p>
        </p:txBody>
      </p:sp>
      <p:sp>
        <p:nvSpPr>
          <p:cNvPr id="53280" name="矩形 1"/>
          <p:cNvSpPr>
            <a:spLocks noChangeArrowheads="1"/>
          </p:cNvSpPr>
          <p:nvPr/>
        </p:nvSpPr>
        <p:spPr bwMode="auto">
          <a:xfrm>
            <a:off x="2786063" y="5229225"/>
            <a:ext cx="4208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时分复用</a:t>
            </a:r>
            <a:endParaRPr lang="zh-CN" altLang="en-US" sz="2400" b="1">
              <a:ea typeface="黑体" panose="02010609060101010101" pitchFamily="49" charset="-122"/>
            </a:endParaRPr>
          </a:p>
        </p:txBody>
      </p:sp>
      <p:sp>
        <p:nvSpPr>
          <p:cNvPr id="5328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973550-C59A-40CC-8478-7323B991D785}" type="slidenum">
              <a:rPr altLang="en-US" smtClean="0"/>
              <a:pPr/>
              <a:t>24</a:t>
            </a:fld>
            <a:endParaRPr lang="zh-CN" altLang="zh-CN" smtClean="0"/>
          </a:p>
        </p:txBody>
      </p:sp>
      <p:sp>
        <p:nvSpPr>
          <p:cNvPr id="5328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8078"/>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500"/>
                                  </p:stCondLst>
                                  <p:childTnLst>
                                    <p:set>
                                      <p:cBhvr>
                                        <p:cTn id="9" dur="1" fill="hold">
                                          <p:stCondLst>
                                            <p:cond delay="0"/>
                                          </p:stCondLst>
                                        </p:cTn>
                                        <p:tgtEl>
                                          <p:spTgt spid="258081"/>
                                        </p:tgtEl>
                                        <p:attrNameLst>
                                          <p:attrName>style.visibility</p:attrName>
                                        </p:attrNameLst>
                                      </p:cBhvr>
                                      <p:to>
                                        <p:strVal val="visible"/>
                                      </p:to>
                                    </p:set>
                                  </p:childTnLst>
                                </p:cTn>
                              </p:par>
                            </p:childTnLst>
                          </p:cTn>
                        </p:par>
                        <p:par>
                          <p:cTn id="10" fill="hold" nodeType="afterGroup">
                            <p:stCondLst>
                              <p:cond delay="502"/>
                            </p:stCondLst>
                            <p:childTnLst>
                              <p:par>
                                <p:cTn id="11" presetID="1" presetClass="entr" presetSubtype="0" fill="hold" nodeType="afterEffect">
                                  <p:stCondLst>
                                    <p:cond delay="500"/>
                                  </p:stCondLst>
                                  <p:childTnLst>
                                    <p:set>
                                      <p:cBhvr>
                                        <p:cTn id="12" dur="1" fill="hold">
                                          <p:stCondLst>
                                            <p:cond delay="0"/>
                                          </p:stCondLst>
                                        </p:cTn>
                                        <p:tgtEl>
                                          <p:spTgt spid="258084"/>
                                        </p:tgtEl>
                                        <p:attrNameLst>
                                          <p:attrName>style.visibility</p:attrName>
                                        </p:attrNameLst>
                                      </p:cBhvr>
                                      <p:to>
                                        <p:strVal val="visible"/>
                                      </p:to>
                                    </p:set>
                                  </p:childTnLst>
                                </p:cTn>
                              </p:par>
                            </p:childTnLst>
                          </p:cTn>
                        </p:par>
                        <p:par>
                          <p:cTn id="13" fill="hold" nodeType="afterGroup">
                            <p:stCondLst>
                              <p:cond delay="1003"/>
                            </p:stCondLst>
                            <p:childTnLst>
                              <p:par>
                                <p:cTn id="14" presetID="1" presetClass="entr" presetSubtype="0" fill="hold" nodeType="afterEffect">
                                  <p:stCondLst>
                                    <p:cond delay="500"/>
                                  </p:stCondLst>
                                  <p:childTnLst>
                                    <p:set>
                                      <p:cBhvr>
                                        <p:cTn id="15" dur="1" fill="hold">
                                          <p:stCondLst>
                                            <p:cond delay="0"/>
                                          </p:stCondLst>
                                        </p:cTn>
                                        <p:tgtEl>
                                          <p:spTgt spid="258087"/>
                                        </p:tgtEl>
                                        <p:attrNameLst>
                                          <p:attrName>style.visibility</p:attrName>
                                        </p:attrNameLst>
                                      </p:cBhvr>
                                      <p:to>
                                        <p:strVal val="visible"/>
                                      </p:to>
                                    </p:set>
                                  </p:childTnLst>
                                </p:cTn>
                              </p:par>
                            </p:childTnLst>
                          </p:cTn>
                        </p:par>
                        <p:par>
                          <p:cTn id="16" fill="hold" nodeType="afterGroup">
                            <p:stCondLst>
                              <p:cond delay="1504"/>
                            </p:stCondLst>
                            <p:childTnLst>
                              <p:par>
                                <p:cTn id="17" presetID="1" presetClass="entr" presetSubtype="0" fill="hold" nodeType="afterEffect">
                                  <p:stCondLst>
                                    <p:cond delay="500"/>
                                  </p:stCondLst>
                                  <p:childTnLst>
                                    <p:set>
                                      <p:cBhvr>
                                        <p:cTn id="18" dur="1" fill="hold">
                                          <p:stCondLst>
                                            <p:cond delay="0"/>
                                          </p:stCondLst>
                                        </p:cTn>
                                        <p:tgtEl>
                                          <p:spTgt spid="258092"/>
                                        </p:tgtEl>
                                        <p:attrNameLst>
                                          <p:attrName>style.visibility</p:attrName>
                                        </p:attrNameLst>
                                      </p:cBhvr>
                                      <p:to>
                                        <p:strVal val="visible"/>
                                      </p:to>
                                    </p:set>
                                  </p:childTnLst>
                                </p:cTn>
                              </p:par>
                            </p:childTnLst>
                          </p:cTn>
                        </p:par>
                        <p:par>
                          <p:cTn id="19" fill="hold" nodeType="afterGroup">
                            <p:stCondLst>
                              <p:cond delay="2005"/>
                            </p:stCondLst>
                            <p:childTnLst>
                              <p:par>
                                <p:cTn id="20" presetID="35" presetClass="emph" presetSubtype="0" repeatCount="4000" fill="hold" nodeType="afterEffect">
                                  <p:stCondLst>
                                    <p:cond delay="0"/>
                                  </p:stCondLst>
                                  <p:childTnLst>
                                    <p:anim calcmode="discrete" valueType="str">
                                      <p:cBhvr>
                                        <p:cTn id="21" dur="500" fill="hold"/>
                                        <p:tgtEl>
                                          <p:spTgt spid="258066"/>
                                        </p:tgtEl>
                                        <p:attrNameLst>
                                          <p:attrName>style.visibility</p:attrName>
                                        </p:attrNameLst>
                                      </p:cBhvr>
                                      <p:tavLst>
                                        <p:tav tm="0">
                                          <p:val>
                                            <p:strVal val="hidden"/>
                                          </p:val>
                                        </p:tav>
                                        <p:tav tm="50000">
                                          <p:val>
                                            <p:strVal val="visible"/>
                                          </p:val>
                                        </p:tav>
                                      </p:tavLst>
                                    </p:anim>
                                  </p:childTnLst>
                                </p:cTn>
                              </p:par>
                            </p:childTnLst>
                          </p:cTn>
                        </p:par>
                        <p:par>
                          <p:cTn id="22" fill="hold" nodeType="afterGroup">
                            <p:stCondLst>
                              <p:cond delay="4005"/>
                            </p:stCondLst>
                            <p:childTnLst>
                              <p:par>
                                <p:cTn id="23" presetID="1" presetClass="entr" presetSubtype="0" fill="hold" nodeType="afterEffect">
                                  <p:stCondLst>
                                    <p:cond delay="500"/>
                                  </p:stCondLst>
                                  <p:childTnLst>
                                    <p:set>
                                      <p:cBhvr>
                                        <p:cTn id="24" dur="1" fill="hold">
                                          <p:stCondLst>
                                            <p:cond delay="0"/>
                                          </p:stCondLst>
                                        </p:cTn>
                                        <p:tgtEl>
                                          <p:spTgt spid="258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algn="ctr" eaLnBrk="1" hangingPunct="1"/>
            <a:r>
              <a:rPr lang="zh-CN" altLang="en-US" sz="3600" smtClean="0">
                <a:solidFill>
                  <a:srgbClr val="FF0000"/>
                </a:solidFill>
                <a:ea typeface="黑体" panose="02010609060101010101" pitchFamily="49" charset="-122"/>
              </a:rPr>
              <a:t>时分复用可能会造成线路资源的浪费 </a:t>
            </a:r>
          </a:p>
        </p:txBody>
      </p:sp>
      <p:sp>
        <p:nvSpPr>
          <p:cNvPr id="55299" name="Text Box 91"/>
          <p:cNvSpPr txBox="1">
            <a:spLocks noChangeArrowheads="1"/>
          </p:cNvSpPr>
          <p:nvPr/>
        </p:nvSpPr>
        <p:spPr bwMode="auto">
          <a:xfrm>
            <a:off x="852488" y="1196975"/>
            <a:ext cx="8469312" cy="869950"/>
          </a:xfrm>
          <a:prstGeom prst="rect">
            <a:avLst/>
          </a:prstGeom>
          <a:solidFill>
            <a:srgbClr val="66FF33"/>
          </a:solidFill>
          <a:ln w="9525">
            <a:solidFill>
              <a:srgbClr val="000066"/>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pPr>
            <a:r>
              <a:rPr lang="zh-CN" altLang="en-US" sz="2400" b="1" dirty="0">
                <a:solidFill>
                  <a:srgbClr val="000099"/>
                </a:solidFill>
                <a:ea typeface="黑体" panose="02010609060101010101" pitchFamily="49" charset="-122"/>
              </a:rPr>
              <a:t>使用时分复用系统传送计算机数据时，由于</a:t>
            </a:r>
            <a:r>
              <a:rPr lang="zh-CN" altLang="en-US" sz="2400" b="1" dirty="0">
                <a:solidFill>
                  <a:srgbClr val="FF0000"/>
                </a:solidFill>
                <a:ea typeface="黑体" panose="02010609060101010101" pitchFamily="49" charset="-122"/>
              </a:rPr>
              <a:t>计算机数据的突发性质</a:t>
            </a:r>
            <a:r>
              <a:rPr lang="zh-CN" altLang="en-US" sz="2400" b="1" dirty="0">
                <a:solidFill>
                  <a:srgbClr val="000099"/>
                </a:solidFill>
                <a:ea typeface="黑体" panose="02010609060101010101" pitchFamily="49" charset="-122"/>
              </a:rPr>
              <a:t>，用户对分配到的子信道的利用率一般是不高的。</a:t>
            </a:r>
            <a:endParaRPr lang="en-US" altLang="zh-CN" sz="2400" b="1" dirty="0">
              <a:solidFill>
                <a:srgbClr val="000099"/>
              </a:solidFill>
              <a:ea typeface="黑体" panose="02010609060101010101" pitchFamily="49" charset="-122"/>
            </a:endParaRPr>
          </a:p>
        </p:txBody>
      </p:sp>
      <p:grpSp>
        <p:nvGrpSpPr>
          <p:cNvPr id="55300" name="组合 2"/>
          <p:cNvGrpSpPr>
            <a:grpSpLocks/>
          </p:cNvGrpSpPr>
          <p:nvPr/>
        </p:nvGrpSpPr>
        <p:grpSpPr bwMode="auto">
          <a:xfrm>
            <a:off x="265113" y="2349500"/>
            <a:ext cx="9544050" cy="3959225"/>
            <a:chOff x="264700" y="2438197"/>
            <a:chExt cx="9544896" cy="3960440"/>
          </a:xfrm>
        </p:grpSpPr>
        <p:sp>
          <p:nvSpPr>
            <p:cNvPr id="55304" name="Freeform 3"/>
            <p:cNvSpPr>
              <a:spLocks noChangeArrowheads="1"/>
            </p:cNvSpPr>
            <p:nvPr/>
          </p:nvSpPr>
          <p:spPr bwMode="auto">
            <a:xfrm>
              <a:off x="6676084" y="4162221"/>
              <a:ext cx="261408" cy="374650"/>
            </a:xfrm>
            <a:custGeom>
              <a:avLst/>
              <a:gdLst>
                <a:gd name="T0" fmla="*/ 0 w 96"/>
                <a:gd name="T1" fmla="*/ 374650 h 192"/>
                <a:gd name="T2" fmla="*/ 0 w 96"/>
                <a:gd name="T3" fmla="*/ 0 h 192"/>
                <a:gd name="T4" fmla="*/ 261408 w 96"/>
                <a:gd name="T5" fmla="*/ 0 h 192"/>
                <a:gd name="T6" fmla="*/ 261408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p:spPr>
          <p:txBody>
            <a:bodyPr/>
            <a:lstStyle/>
            <a:p>
              <a:endParaRPr lang="zh-CN" altLang="en-US"/>
            </a:p>
          </p:txBody>
        </p:sp>
        <p:sp>
          <p:nvSpPr>
            <p:cNvPr id="55305" name="Freeform 4"/>
            <p:cNvSpPr>
              <a:spLocks noChangeArrowheads="1"/>
            </p:cNvSpPr>
            <p:nvPr/>
          </p:nvSpPr>
          <p:spPr bwMode="auto">
            <a:xfrm>
              <a:off x="7719997" y="4162221"/>
              <a:ext cx="259689" cy="374650"/>
            </a:xfrm>
            <a:custGeom>
              <a:avLst/>
              <a:gdLst>
                <a:gd name="T0" fmla="*/ 0 w 96"/>
                <a:gd name="T1" fmla="*/ 374650 h 192"/>
                <a:gd name="T2" fmla="*/ 0 w 96"/>
                <a:gd name="T3" fmla="*/ 0 h 192"/>
                <a:gd name="T4" fmla="*/ 259689 w 96"/>
                <a:gd name="T5" fmla="*/ 0 h 192"/>
                <a:gd name="T6" fmla="*/ 259689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p:spPr>
          <p:txBody>
            <a:bodyPr/>
            <a:lstStyle/>
            <a:p>
              <a:endParaRPr lang="zh-CN" altLang="en-US"/>
            </a:p>
          </p:txBody>
        </p:sp>
        <p:sp>
          <p:nvSpPr>
            <p:cNvPr id="55306" name="Freeform 5"/>
            <p:cNvSpPr>
              <a:spLocks noChangeArrowheads="1"/>
            </p:cNvSpPr>
            <p:nvPr/>
          </p:nvSpPr>
          <p:spPr bwMode="auto">
            <a:xfrm>
              <a:off x="8241094" y="4162221"/>
              <a:ext cx="261408" cy="374650"/>
            </a:xfrm>
            <a:custGeom>
              <a:avLst/>
              <a:gdLst>
                <a:gd name="T0" fmla="*/ 0 w 96"/>
                <a:gd name="T1" fmla="*/ 374650 h 192"/>
                <a:gd name="T2" fmla="*/ 0 w 96"/>
                <a:gd name="T3" fmla="*/ 0 h 192"/>
                <a:gd name="T4" fmla="*/ 261408 w 96"/>
                <a:gd name="T5" fmla="*/ 0 h 192"/>
                <a:gd name="T6" fmla="*/ 261408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p:spPr>
          <p:txBody>
            <a:bodyPr/>
            <a:lstStyle/>
            <a:p>
              <a:endParaRPr lang="zh-CN" altLang="en-US"/>
            </a:p>
          </p:txBody>
        </p:sp>
        <p:sp>
          <p:nvSpPr>
            <p:cNvPr id="55307" name="Freeform 6"/>
            <p:cNvSpPr>
              <a:spLocks noChangeArrowheads="1"/>
            </p:cNvSpPr>
            <p:nvPr/>
          </p:nvSpPr>
          <p:spPr bwMode="auto">
            <a:xfrm>
              <a:off x="9023599" y="4162221"/>
              <a:ext cx="259689" cy="374650"/>
            </a:xfrm>
            <a:custGeom>
              <a:avLst/>
              <a:gdLst>
                <a:gd name="T0" fmla="*/ 0 w 96"/>
                <a:gd name="T1" fmla="*/ 374650 h 192"/>
                <a:gd name="T2" fmla="*/ 0 w 96"/>
                <a:gd name="T3" fmla="*/ 0 h 192"/>
                <a:gd name="T4" fmla="*/ 259689 w 96"/>
                <a:gd name="T5" fmla="*/ 0 h 192"/>
                <a:gd name="T6" fmla="*/ 259689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66FF33"/>
            </a:solidFill>
            <a:ln w="9525">
              <a:solidFill>
                <a:schemeClr val="tx1"/>
              </a:solidFill>
              <a:round/>
              <a:headEnd/>
              <a:tailEnd/>
            </a:ln>
          </p:spPr>
          <p:txBody>
            <a:bodyPr/>
            <a:lstStyle/>
            <a:p>
              <a:endParaRPr lang="zh-CN" altLang="en-US"/>
            </a:p>
          </p:txBody>
        </p:sp>
        <p:sp>
          <p:nvSpPr>
            <p:cNvPr id="55308" name="Freeform 7"/>
            <p:cNvSpPr>
              <a:spLocks noChangeArrowheads="1"/>
            </p:cNvSpPr>
            <p:nvPr/>
          </p:nvSpPr>
          <p:spPr bwMode="auto">
            <a:xfrm>
              <a:off x="6416395" y="4162221"/>
              <a:ext cx="259689" cy="374650"/>
            </a:xfrm>
            <a:custGeom>
              <a:avLst/>
              <a:gdLst>
                <a:gd name="T0" fmla="*/ 0 w 96"/>
                <a:gd name="T1" fmla="*/ 374650 h 192"/>
                <a:gd name="T2" fmla="*/ 0 w 96"/>
                <a:gd name="T3" fmla="*/ 0 h 192"/>
                <a:gd name="T4" fmla="*/ 259689 w 96"/>
                <a:gd name="T5" fmla="*/ 0 h 192"/>
                <a:gd name="T6" fmla="*/ 259689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66"/>
            </a:solidFill>
            <a:ln w="9525">
              <a:solidFill>
                <a:schemeClr val="tx1"/>
              </a:solidFill>
              <a:round/>
              <a:headEnd/>
              <a:tailEnd/>
            </a:ln>
          </p:spPr>
          <p:txBody>
            <a:bodyPr/>
            <a:lstStyle/>
            <a:p>
              <a:endParaRPr lang="zh-CN" altLang="en-US"/>
            </a:p>
          </p:txBody>
        </p:sp>
        <p:sp>
          <p:nvSpPr>
            <p:cNvPr id="55309" name="Freeform 8"/>
            <p:cNvSpPr>
              <a:spLocks noChangeArrowheads="1"/>
            </p:cNvSpPr>
            <p:nvPr/>
          </p:nvSpPr>
          <p:spPr bwMode="auto">
            <a:xfrm>
              <a:off x="5372482" y="4165397"/>
              <a:ext cx="261408" cy="376237"/>
            </a:xfrm>
            <a:custGeom>
              <a:avLst/>
              <a:gdLst>
                <a:gd name="T0" fmla="*/ 0 w 96"/>
                <a:gd name="T1" fmla="*/ 376237 h 192"/>
                <a:gd name="T2" fmla="*/ 0 w 96"/>
                <a:gd name="T3" fmla="*/ 0 h 192"/>
                <a:gd name="T4" fmla="*/ 261408 w 96"/>
                <a:gd name="T5" fmla="*/ 0 h 192"/>
                <a:gd name="T6" fmla="*/ 261408 w 96"/>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66"/>
            </a:solidFill>
            <a:ln w="9525">
              <a:solidFill>
                <a:schemeClr val="tx1"/>
              </a:solidFill>
              <a:round/>
              <a:headEnd/>
              <a:tailEnd/>
            </a:ln>
          </p:spPr>
          <p:txBody>
            <a:bodyPr/>
            <a:lstStyle/>
            <a:p>
              <a:endParaRPr lang="zh-CN" altLang="en-US"/>
            </a:p>
          </p:txBody>
        </p:sp>
        <p:sp>
          <p:nvSpPr>
            <p:cNvPr id="55310" name="Freeform 9"/>
            <p:cNvSpPr>
              <a:spLocks noChangeArrowheads="1"/>
            </p:cNvSpPr>
            <p:nvPr/>
          </p:nvSpPr>
          <p:spPr bwMode="auto">
            <a:xfrm>
              <a:off x="5112793" y="4165397"/>
              <a:ext cx="259689" cy="376237"/>
            </a:xfrm>
            <a:custGeom>
              <a:avLst/>
              <a:gdLst>
                <a:gd name="T0" fmla="*/ 0 w 96"/>
                <a:gd name="T1" fmla="*/ 376237 h 192"/>
                <a:gd name="T2" fmla="*/ 0 w 96"/>
                <a:gd name="T3" fmla="*/ 0 h 192"/>
                <a:gd name="T4" fmla="*/ 259689 w 96"/>
                <a:gd name="T5" fmla="*/ 0 h 192"/>
                <a:gd name="T6" fmla="*/ 259689 w 96"/>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p:spPr>
          <p:txBody>
            <a:bodyPr/>
            <a:lstStyle/>
            <a:p>
              <a:endParaRPr lang="zh-CN" altLang="en-US"/>
            </a:p>
          </p:txBody>
        </p:sp>
        <p:sp>
          <p:nvSpPr>
            <p:cNvPr id="55311" name="Freeform 10"/>
            <p:cNvSpPr>
              <a:spLocks noChangeArrowheads="1"/>
            </p:cNvSpPr>
            <p:nvPr/>
          </p:nvSpPr>
          <p:spPr bwMode="auto">
            <a:xfrm>
              <a:off x="2677568" y="3033508"/>
              <a:ext cx="608806" cy="376238"/>
            </a:xfrm>
            <a:custGeom>
              <a:avLst/>
              <a:gdLst>
                <a:gd name="T0" fmla="*/ 0 w 1008"/>
                <a:gd name="T1" fmla="*/ 376238 h 192"/>
                <a:gd name="T2" fmla="*/ 0 w 1008"/>
                <a:gd name="T3" fmla="*/ 0 h 192"/>
                <a:gd name="T4" fmla="*/ 608806 w 1008"/>
                <a:gd name="T5" fmla="*/ 0 h 192"/>
                <a:gd name="T6" fmla="*/ 608806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p:spPr>
          <p:txBody>
            <a:bodyPr/>
            <a:lstStyle/>
            <a:p>
              <a:endParaRPr lang="zh-CN" altLang="en-US"/>
            </a:p>
          </p:txBody>
        </p:sp>
        <p:sp>
          <p:nvSpPr>
            <p:cNvPr id="55312" name="Freeform 11"/>
            <p:cNvSpPr>
              <a:spLocks noChangeArrowheads="1"/>
            </p:cNvSpPr>
            <p:nvPr/>
          </p:nvSpPr>
          <p:spPr bwMode="auto">
            <a:xfrm>
              <a:off x="852869" y="3785983"/>
              <a:ext cx="1217613" cy="376238"/>
            </a:xfrm>
            <a:custGeom>
              <a:avLst/>
              <a:gdLst>
                <a:gd name="T0" fmla="*/ 0 w 1008"/>
                <a:gd name="T1" fmla="*/ 376238 h 192"/>
                <a:gd name="T2" fmla="*/ 0 w 1008"/>
                <a:gd name="T3" fmla="*/ 0 h 192"/>
                <a:gd name="T4" fmla="*/ 1217613 w 1008"/>
                <a:gd name="T5" fmla="*/ 0 h 192"/>
                <a:gd name="T6" fmla="*/ 1217613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66"/>
            </a:solidFill>
            <a:ln w="9525">
              <a:solidFill>
                <a:schemeClr val="tx1"/>
              </a:solidFill>
              <a:round/>
              <a:headEnd/>
              <a:tailEnd/>
            </a:ln>
          </p:spPr>
          <p:txBody>
            <a:bodyPr/>
            <a:lstStyle/>
            <a:p>
              <a:endParaRPr lang="zh-CN" altLang="en-US"/>
            </a:p>
          </p:txBody>
        </p:sp>
        <p:sp>
          <p:nvSpPr>
            <p:cNvPr id="55313" name="Freeform 12"/>
            <p:cNvSpPr>
              <a:spLocks noChangeArrowheads="1"/>
            </p:cNvSpPr>
            <p:nvPr/>
          </p:nvSpPr>
          <p:spPr bwMode="auto">
            <a:xfrm>
              <a:off x="1461675" y="4536872"/>
              <a:ext cx="1215892" cy="376237"/>
            </a:xfrm>
            <a:custGeom>
              <a:avLst/>
              <a:gdLst>
                <a:gd name="T0" fmla="*/ 0 w 1008"/>
                <a:gd name="T1" fmla="*/ 376237 h 192"/>
                <a:gd name="T2" fmla="*/ 0 w 1008"/>
                <a:gd name="T3" fmla="*/ 0 h 192"/>
                <a:gd name="T4" fmla="*/ 1215892 w 1008"/>
                <a:gd name="T5" fmla="*/ 0 h 192"/>
                <a:gd name="T6" fmla="*/ 1215892 w 1008"/>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p:spPr>
          <p:txBody>
            <a:bodyPr/>
            <a:lstStyle/>
            <a:p>
              <a:endParaRPr lang="zh-CN" altLang="en-US"/>
            </a:p>
          </p:txBody>
        </p:sp>
        <p:sp>
          <p:nvSpPr>
            <p:cNvPr id="55314" name="Freeform 13"/>
            <p:cNvSpPr>
              <a:spLocks noChangeArrowheads="1"/>
            </p:cNvSpPr>
            <p:nvPr/>
          </p:nvSpPr>
          <p:spPr bwMode="auto">
            <a:xfrm>
              <a:off x="2677568" y="5289347"/>
              <a:ext cx="608806" cy="376237"/>
            </a:xfrm>
            <a:custGeom>
              <a:avLst/>
              <a:gdLst>
                <a:gd name="T0" fmla="*/ 0 w 1008"/>
                <a:gd name="T1" fmla="*/ 376237 h 192"/>
                <a:gd name="T2" fmla="*/ 0 w 1008"/>
                <a:gd name="T3" fmla="*/ 0 h 192"/>
                <a:gd name="T4" fmla="*/ 608806 w 1008"/>
                <a:gd name="T5" fmla="*/ 0 h 192"/>
                <a:gd name="T6" fmla="*/ 608806 w 1008"/>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66FF33"/>
            </a:solidFill>
            <a:ln w="9525">
              <a:solidFill>
                <a:schemeClr val="tx1"/>
              </a:solidFill>
              <a:round/>
              <a:headEnd/>
              <a:tailEnd/>
            </a:ln>
          </p:spPr>
          <p:txBody>
            <a:bodyPr/>
            <a:lstStyle/>
            <a:p>
              <a:endParaRPr lang="zh-CN" altLang="en-US"/>
            </a:p>
          </p:txBody>
        </p:sp>
        <p:sp>
          <p:nvSpPr>
            <p:cNvPr id="55315" name="Text Box 14"/>
            <p:cNvSpPr txBox="1">
              <a:spLocks noChangeArrowheads="1"/>
            </p:cNvSpPr>
            <p:nvPr/>
          </p:nvSpPr>
          <p:spPr bwMode="auto">
            <a:xfrm>
              <a:off x="390245" y="3011284"/>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5316" name="Text Box 15"/>
            <p:cNvSpPr txBox="1">
              <a:spLocks noChangeArrowheads="1"/>
            </p:cNvSpPr>
            <p:nvPr/>
          </p:nvSpPr>
          <p:spPr bwMode="auto">
            <a:xfrm>
              <a:off x="390245" y="3763759"/>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5317" name="Text Box 16"/>
            <p:cNvSpPr txBox="1">
              <a:spLocks noChangeArrowheads="1"/>
            </p:cNvSpPr>
            <p:nvPr/>
          </p:nvSpPr>
          <p:spPr bwMode="auto">
            <a:xfrm>
              <a:off x="390244" y="4516234"/>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5318" name="Text Box 17"/>
            <p:cNvSpPr txBox="1">
              <a:spLocks noChangeArrowheads="1"/>
            </p:cNvSpPr>
            <p:nvPr/>
          </p:nvSpPr>
          <p:spPr bwMode="auto">
            <a:xfrm>
              <a:off x="390244" y="5268709"/>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p>
          </p:txBody>
        </p:sp>
        <p:sp>
          <p:nvSpPr>
            <p:cNvPr id="55319" name="Line 18"/>
            <p:cNvSpPr>
              <a:spLocks noChangeShapeType="1"/>
            </p:cNvSpPr>
            <p:nvPr/>
          </p:nvSpPr>
          <p:spPr bwMode="auto">
            <a:xfrm>
              <a:off x="4937374" y="4536871"/>
              <a:ext cx="4607322"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20" name="Line 19"/>
            <p:cNvSpPr>
              <a:spLocks noChangeShapeType="1"/>
            </p:cNvSpPr>
            <p:nvPr/>
          </p:nvSpPr>
          <p:spPr bwMode="auto">
            <a:xfrm>
              <a:off x="5633890" y="4443209"/>
              <a:ext cx="0" cy="93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1" name="Text Box 20"/>
            <p:cNvSpPr txBox="1">
              <a:spLocks noChangeArrowheads="1"/>
            </p:cNvSpPr>
            <p:nvPr/>
          </p:nvSpPr>
          <p:spPr bwMode="auto">
            <a:xfrm>
              <a:off x="2808272" y="2995409"/>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5322" name="Text Box 21"/>
            <p:cNvSpPr txBox="1">
              <a:spLocks noChangeArrowheads="1"/>
            </p:cNvSpPr>
            <p:nvPr/>
          </p:nvSpPr>
          <p:spPr bwMode="auto">
            <a:xfrm>
              <a:off x="8208417" y="4147934"/>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5323" name="Text Box 22"/>
            <p:cNvSpPr txBox="1">
              <a:spLocks noChangeArrowheads="1"/>
            </p:cNvSpPr>
            <p:nvPr/>
          </p:nvSpPr>
          <p:spPr bwMode="auto">
            <a:xfrm>
              <a:off x="5329486" y="414793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5324" name="Text Box 23"/>
            <p:cNvSpPr txBox="1">
              <a:spLocks noChangeArrowheads="1"/>
            </p:cNvSpPr>
            <p:nvPr/>
          </p:nvSpPr>
          <p:spPr bwMode="auto">
            <a:xfrm>
              <a:off x="964655" y="3782809"/>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5325" name="Text Box 24"/>
            <p:cNvSpPr txBox="1">
              <a:spLocks noChangeArrowheads="1"/>
            </p:cNvSpPr>
            <p:nvPr/>
          </p:nvSpPr>
          <p:spPr bwMode="auto">
            <a:xfrm>
              <a:off x="2214944" y="4506709"/>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5326" name="Text Box 25"/>
            <p:cNvSpPr txBox="1">
              <a:spLocks noChangeArrowheads="1"/>
            </p:cNvSpPr>
            <p:nvPr/>
          </p:nvSpPr>
          <p:spPr bwMode="auto">
            <a:xfrm>
              <a:off x="2772157" y="5263947"/>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p>
          </p:txBody>
        </p:sp>
        <p:sp>
          <p:nvSpPr>
            <p:cNvPr id="55327" name="Text Box 26"/>
            <p:cNvSpPr txBox="1">
              <a:spLocks noChangeArrowheads="1"/>
            </p:cNvSpPr>
            <p:nvPr/>
          </p:nvSpPr>
          <p:spPr bwMode="auto">
            <a:xfrm>
              <a:off x="6380280" y="414793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5328" name="Text Box 27"/>
            <p:cNvSpPr txBox="1">
              <a:spLocks noChangeArrowheads="1"/>
            </p:cNvSpPr>
            <p:nvPr/>
          </p:nvSpPr>
          <p:spPr bwMode="auto">
            <a:xfrm>
              <a:off x="6633088" y="4147934"/>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5329" name="Text Box 28"/>
            <p:cNvSpPr txBox="1">
              <a:spLocks noChangeArrowheads="1"/>
            </p:cNvSpPr>
            <p:nvPr/>
          </p:nvSpPr>
          <p:spPr bwMode="auto">
            <a:xfrm>
              <a:off x="5083557" y="4147934"/>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5330" name="Text Box 29"/>
            <p:cNvSpPr txBox="1">
              <a:spLocks noChangeArrowheads="1"/>
            </p:cNvSpPr>
            <p:nvPr/>
          </p:nvSpPr>
          <p:spPr bwMode="auto">
            <a:xfrm>
              <a:off x="3525425" y="3011284"/>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5331" name="Text Box 30"/>
            <p:cNvSpPr txBox="1">
              <a:spLocks noChangeArrowheads="1"/>
            </p:cNvSpPr>
            <p:nvPr/>
          </p:nvSpPr>
          <p:spPr bwMode="auto">
            <a:xfrm>
              <a:off x="3525425" y="3781222"/>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5332" name="Text Box 31"/>
            <p:cNvSpPr txBox="1">
              <a:spLocks noChangeArrowheads="1"/>
            </p:cNvSpPr>
            <p:nvPr/>
          </p:nvSpPr>
          <p:spPr bwMode="auto">
            <a:xfrm>
              <a:off x="3525425" y="4551159"/>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5333" name="Text Box 32"/>
            <p:cNvSpPr txBox="1">
              <a:spLocks noChangeArrowheads="1"/>
            </p:cNvSpPr>
            <p:nvPr/>
          </p:nvSpPr>
          <p:spPr bwMode="auto">
            <a:xfrm>
              <a:off x="3525425" y="5321097"/>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5334" name="Text Box 33"/>
            <p:cNvSpPr txBox="1">
              <a:spLocks noChangeArrowheads="1"/>
            </p:cNvSpPr>
            <p:nvPr/>
          </p:nvSpPr>
          <p:spPr bwMode="auto">
            <a:xfrm>
              <a:off x="9522338" y="4454421"/>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5335" name="Line 34"/>
            <p:cNvSpPr>
              <a:spLocks noChangeShapeType="1"/>
            </p:cNvSpPr>
            <p:nvPr/>
          </p:nvSpPr>
          <p:spPr bwMode="auto">
            <a:xfrm>
              <a:off x="7458588" y="4443209"/>
              <a:ext cx="0" cy="93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6" name="Line 35"/>
            <p:cNvSpPr>
              <a:spLocks noChangeShapeType="1"/>
            </p:cNvSpPr>
            <p:nvPr/>
          </p:nvSpPr>
          <p:spPr bwMode="auto">
            <a:xfrm>
              <a:off x="1461675" y="4066971"/>
              <a:ext cx="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7" name="Line 36"/>
            <p:cNvSpPr>
              <a:spLocks noChangeShapeType="1"/>
            </p:cNvSpPr>
            <p:nvPr/>
          </p:nvSpPr>
          <p:spPr bwMode="auto">
            <a:xfrm>
              <a:off x="2070482" y="4819446"/>
              <a:ext cx="0" cy="93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8" name="Line 37"/>
            <p:cNvSpPr>
              <a:spLocks noChangeShapeType="1"/>
            </p:cNvSpPr>
            <p:nvPr/>
          </p:nvSpPr>
          <p:spPr bwMode="auto">
            <a:xfrm>
              <a:off x="2677567" y="4066971"/>
              <a:ext cx="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9" name="Line 38"/>
            <p:cNvSpPr>
              <a:spLocks noChangeShapeType="1"/>
            </p:cNvSpPr>
            <p:nvPr/>
          </p:nvSpPr>
          <p:spPr bwMode="auto">
            <a:xfrm>
              <a:off x="1461675" y="5571921"/>
              <a:ext cx="0" cy="93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0" name="Line 39"/>
            <p:cNvSpPr>
              <a:spLocks noChangeShapeType="1"/>
            </p:cNvSpPr>
            <p:nvPr/>
          </p:nvSpPr>
          <p:spPr bwMode="auto">
            <a:xfrm>
              <a:off x="3286374" y="4819446"/>
              <a:ext cx="0" cy="93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1" name="Line 40"/>
            <p:cNvSpPr>
              <a:spLocks noChangeShapeType="1"/>
            </p:cNvSpPr>
            <p:nvPr/>
          </p:nvSpPr>
          <p:spPr bwMode="auto">
            <a:xfrm>
              <a:off x="2677567" y="5571921"/>
              <a:ext cx="0" cy="93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2" name="Line 41"/>
            <p:cNvSpPr>
              <a:spLocks noChangeShapeType="1"/>
            </p:cNvSpPr>
            <p:nvPr/>
          </p:nvSpPr>
          <p:spPr bwMode="auto">
            <a:xfrm>
              <a:off x="5112792" y="4632122"/>
              <a:ext cx="0" cy="187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3" name="Line 42"/>
            <p:cNvSpPr>
              <a:spLocks noChangeShapeType="1"/>
            </p:cNvSpPr>
            <p:nvPr/>
          </p:nvSpPr>
          <p:spPr bwMode="auto">
            <a:xfrm>
              <a:off x="6154986" y="4632122"/>
              <a:ext cx="0" cy="187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4" name="Line 43"/>
            <p:cNvSpPr>
              <a:spLocks noChangeShapeType="1"/>
            </p:cNvSpPr>
            <p:nvPr/>
          </p:nvSpPr>
          <p:spPr bwMode="auto">
            <a:xfrm>
              <a:off x="7197180" y="4632122"/>
              <a:ext cx="0" cy="187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5" name="Line 44"/>
            <p:cNvSpPr>
              <a:spLocks noChangeShapeType="1"/>
            </p:cNvSpPr>
            <p:nvPr/>
          </p:nvSpPr>
          <p:spPr bwMode="auto">
            <a:xfrm>
              <a:off x="8241094" y="4632122"/>
              <a:ext cx="0" cy="187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6" name="Line 45"/>
            <p:cNvSpPr>
              <a:spLocks noChangeShapeType="1"/>
            </p:cNvSpPr>
            <p:nvPr/>
          </p:nvSpPr>
          <p:spPr bwMode="auto">
            <a:xfrm>
              <a:off x="5112793" y="4725783"/>
              <a:ext cx="1042194"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47" name="Line 46"/>
            <p:cNvSpPr>
              <a:spLocks noChangeShapeType="1"/>
            </p:cNvSpPr>
            <p:nvPr/>
          </p:nvSpPr>
          <p:spPr bwMode="auto">
            <a:xfrm>
              <a:off x="6154987" y="4725783"/>
              <a:ext cx="1042194"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48" name="Line 47"/>
            <p:cNvSpPr>
              <a:spLocks noChangeShapeType="1"/>
            </p:cNvSpPr>
            <p:nvPr/>
          </p:nvSpPr>
          <p:spPr bwMode="auto">
            <a:xfrm>
              <a:off x="7197181" y="4725783"/>
              <a:ext cx="1043914"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49" name="Text Box 48"/>
            <p:cNvSpPr txBox="1">
              <a:spLocks noChangeArrowheads="1"/>
            </p:cNvSpPr>
            <p:nvPr/>
          </p:nvSpPr>
          <p:spPr bwMode="auto">
            <a:xfrm>
              <a:off x="6416394" y="5446509"/>
              <a:ext cx="2297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 </a:t>
              </a:r>
              <a:r>
                <a:rPr lang="zh-CN" altLang="en-US" sz="2400" b="1">
                  <a:solidFill>
                    <a:srgbClr val="000099"/>
                  </a:solidFill>
                  <a:ea typeface="黑体" panose="02010609060101010101" pitchFamily="49" charset="-122"/>
                </a:rPr>
                <a:t>个时分复用帧</a:t>
              </a:r>
            </a:p>
          </p:txBody>
        </p:sp>
        <p:sp>
          <p:nvSpPr>
            <p:cNvPr id="55350" name="Text Box 49"/>
            <p:cNvSpPr txBox="1">
              <a:spLocks noChangeArrowheads="1"/>
            </p:cNvSpPr>
            <p:nvPr/>
          </p:nvSpPr>
          <p:spPr bwMode="auto">
            <a:xfrm>
              <a:off x="5372482" y="4674984"/>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55351" name="Line 50"/>
            <p:cNvSpPr>
              <a:spLocks noChangeShapeType="1"/>
            </p:cNvSpPr>
            <p:nvPr/>
          </p:nvSpPr>
          <p:spPr bwMode="auto">
            <a:xfrm>
              <a:off x="3712883" y="3463721"/>
              <a:ext cx="1138502" cy="69850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52" name="Line 51"/>
            <p:cNvSpPr>
              <a:spLocks noChangeShapeType="1"/>
            </p:cNvSpPr>
            <p:nvPr/>
          </p:nvSpPr>
          <p:spPr bwMode="auto">
            <a:xfrm>
              <a:off x="3712883" y="4184446"/>
              <a:ext cx="1050793" cy="16510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53" name="Line 52"/>
            <p:cNvSpPr>
              <a:spLocks noChangeShapeType="1"/>
            </p:cNvSpPr>
            <p:nvPr/>
          </p:nvSpPr>
          <p:spPr bwMode="auto">
            <a:xfrm flipV="1">
              <a:off x="3790274" y="4536871"/>
              <a:ext cx="973402" cy="366712"/>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54" name="Line 53"/>
            <p:cNvSpPr>
              <a:spLocks noChangeShapeType="1"/>
            </p:cNvSpPr>
            <p:nvPr/>
          </p:nvSpPr>
          <p:spPr bwMode="auto">
            <a:xfrm flipV="1">
              <a:off x="3807471" y="4725783"/>
              <a:ext cx="1043913" cy="846138"/>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55" name="Text Box 54"/>
            <p:cNvSpPr txBox="1">
              <a:spLocks noChangeArrowheads="1"/>
            </p:cNvSpPr>
            <p:nvPr/>
          </p:nvSpPr>
          <p:spPr bwMode="auto">
            <a:xfrm>
              <a:off x="3790273" y="4976609"/>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④</a:t>
              </a:r>
            </a:p>
          </p:txBody>
        </p:sp>
        <p:sp>
          <p:nvSpPr>
            <p:cNvPr id="55356" name="Text Box 55"/>
            <p:cNvSpPr txBox="1">
              <a:spLocks noChangeArrowheads="1"/>
            </p:cNvSpPr>
            <p:nvPr/>
          </p:nvSpPr>
          <p:spPr bwMode="auto">
            <a:xfrm>
              <a:off x="3712882" y="4471784"/>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③</a:t>
              </a:r>
            </a:p>
          </p:txBody>
        </p:sp>
        <p:sp>
          <p:nvSpPr>
            <p:cNvPr id="55357" name="Text Box 56"/>
            <p:cNvSpPr txBox="1">
              <a:spLocks noChangeArrowheads="1"/>
            </p:cNvSpPr>
            <p:nvPr/>
          </p:nvSpPr>
          <p:spPr bwMode="auto">
            <a:xfrm>
              <a:off x="3712882" y="3824084"/>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②</a:t>
              </a:r>
            </a:p>
          </p:txBody>
        </p:sp>
        <p:sp>
          <p:nvSpPr>
            <p:cNvPr id="55358" name="Text Box 57"/>
            <p:cNvSpPr txBox="1">
              <a:spLocks noChangeArrowheads="1"/>
            </p:cNvSpPr>
            <p:nvPr/>
          </p:nvSpPr>
          <p:spPr bwMode="auto">
            <a:xfrm>
              <a:off x="3867663" y="3247821"/>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①</a:t>
              </a:r>
            </a:p>
          </p:txBody>
        </p:sp>
        <p:sp>
          <p:nvSpPr>
            <p:cNvPr id="55359" name="Freeform 58"/>
            <p:cNvSpPr>
              <a:spLocks noChangeArrowheads="1"/>
            </p:cNvSpPr>
            <p:nvPr/>
          </p:nvSpPr>
          <p:spPr bwMode="auto">
            <a:xfrm>
              <a:off x="852870" y="3033508"/>
              <a:ext cx="608806" cy="376238"/>
            </a:xfrm>
            <a:custGeom>
              <a:avLst/>
              <a:gdLst>
                <a:gd name="T0" fmla="*/ 0 w 1008"/>
                <a:gd name="T1" fmla="*/ 376238 h 192"/>
                <a:gd name="T2" fmla="*/ 0 w 1008"/>
                <a:gd name="T3" fmla="*/ 0 h 192"/>
                <a:gd name="T4" fmla="*/ 608806 w 1008"/>
                <a:gd name="T5" fmla="*/ 0 h 192"/>
                <a:gd name="T6" fmla="*/ 608806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p:spPr>
          <p:txBody>
            <a:bodyPr/>
            <a:lstStyle/>
            <a:p>
              <a:endParaRPr lang="zh-CN" altLang="en-US"/>
            </a:p>
          </p:txBody>
        </p:sp>
        <p:sp>
          <p:nvSpPr>
            <p:cNvPr id="55360" name="Line 59"/>
            <p:cNvSpPr>
              <a:spLocks noChangeShapeType="1"/>
            </p:cNvSpPr>
            <p:nvPr/>
          </p:nvSpPr>
          <p:spPr bwMode="auto">
            <a:xfrm>
              <a:off x="3286374" y="4066971"/>
              <a:ext cx="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1" name="Line 60"/>
            <p:cNvSpPr>
              <a:spLocks noChangeShapeType="1"/>
            </p:cNvSpPr>
            <p:nvPr/>
          </p:nvSpPr>
          <p:spPr bwMode="auto">
            <a:xfrm>
              <a:off x="852869" y="5552871"/>
              <a:ext cx="0" cy="93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2" name="Text Box 61"/>
            <p:cNvSpPr txBox="1">
              <a:spLocks noChangeArrowheads="1"/>
            </p:cNvSpPr>
            <p:nvPr/>
          </p:nvSpPr>
          <p:spPr bwMode="auto">
            <a:xfrm>
              <a:off x="964655" y="2992233"/>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5363" name="Text Box 62"/>
            <p:cNvSpPr txBox="1">
              <a:spLocks noChangeArrowheads="1"/>
            </p:cNvSpPr>
            <p:nvPr/>
          </p:nvSpPr>
          <p:spPr bwMode="auto">
            <a:xfrm>
              <a:off x="1602698" y="4494009"/>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5364" name="Text Box 63"/>
            <p:cNvSpPr txBox="1">
              <a:spLocks noChangeArrowheads="1"/>
            </p:cNvSpPr>
            <p:nvPr/>
          </p:nvSpPr>
          <p:spPr bwMode="auto">
            <a:xfrm>
              <a:off x="1631934" y="378598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5365" name="Line 64"/>
            <p:cNvSpPr>
              <a:spLocks noChangeShapeType="1"/>
            </p:cNvSpPr>
            <p:nvPr/>
          </p:nvSpPr>
          <p:spPr bwMode="auto">
            <a:xfrm>
              <a:off x="5893578" y="4443209"/>
              <a:ext cx="0" cy="93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6" name="Line 65"/>
            <p:cNvSpPr>
              <a:spLocks noChangeShapeType="1"/>
            </p:cNvSpPr>
            <p:nvPr/>
          </p:nvSpPr>
          <p:spPr bwMode="auto">
            <a:xfrm>
              <a:off x="6154986" y="4443209"/>
              <a:ext cx="0" cy="93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7" name="Line 66"/>
            <p:cNvSpPr>
              <a:spLocks noChangeShapeType="1"/>
            </p:cNvSpPr>
            <p:nvPr/>
          </p:nvSpPr>
          <p:spPr bwMode="auto">
            <a:xfrm>
              <a:off x="8241094" y="4725783"/>
              <a:ext cx="1042194"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68" name="Line 67"/>
            <p:cNvSpPr>
              <a:spLocks noChangeShapeType="1"/>
            </p:cNvSpPr>
            <p:nvPr/>
          </p:nvSpPr>
          <p:spPr bwMode="auto">
            <a:xfrm>
              <a:off x="9283288" y="4632122"/>
              <a:ext cx="0" cy="187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9" name="Line 68"/>
            <p:cNvSpPr>
              <a:spLocks noChangeShapeType="1"/>
            </p:cNvSpPr>
            <p:nvPr/>
          </p:nvSpPr>
          <p:spPr bwMode="auto">
            <a:xfrm>
              <a:off x="8762190" y="4443209"/>
              <a:ext cx="0" cy="93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0" name="Line 69"/>
            <p:cNvSpPr>
              <a:spLocks noChangeShapeType="1"/>
            </p:cNvSpPr>
            <p:nvPr/>
          </p:nvSpPr>
          <p:spPr bwMode="auto">
            <a:xfrm>
              <a:off x="7197180" y="4443209"/>
              <a:ext cx="0" cy="93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1" name="Text Box 70"/>
            <p:cNvSpPr txBox="1">
              <a:spLocks noChangeArrowheads="1"/>
            </p:cNvSpPr>
            <p:nvPr/>
          </p:nvSpPr>
          <p:spPr bwMode="auto">
            <a:xfrm>
              <a:off x="7697640" y="4147934"/>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5372" name="Text Box 71"/>
            <p:cNvSpPr txBox="1">
              <a:spLocks noChangeArrowheads="1"/>
            </p:cNvSpPr>
            <p:nvPr/>
          </p:nvSpPr>
          <p:spPr bwMode="auto">
            <a:xfrm>
              <a:off x="8980605" y="414793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p>
          </p:txBody>
        </p:sp>
        <p:sp>
          <p:nvSpPr>
            <p:cNvPr id="55373" name="Text Box 72"/>
            <p:cNvSpPr txBox="1">
              <a:spLocks noChangeArrowheads="1"/>
            </p:cNvSpPr>
            <p:nvPr/>
          </p:nvSpPr>
          <p:spPr bwMode="auto">
            <a:xfrm>
              <a:off x="3800872" y="2712833"/>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C00000"/>
                  </a:solidFill>
                  <a:ea typeface="黑体" panose="02010609060101010101" pitchFamily="49" charset="-122"/>
                </a:rPr>
                <a:t>时分复用</a:t>
              </a:r>
            </a:p>
          </p:txBody>
        </p:sp>
        <p:sp>
          <p:nvSpPr>
            <p:cNvPr id="55374" name="Text Box 73"/>
            <p:cNvSpPr txBox="1">
              <a:spLocks noChangeArrowheads="1"/>
            </p:cNvSpPr>
            <p:nvPr/>
          </p:nvSpPr>
          <p:spPr bwMode="auto">
            <a:xfrm>
              <a:off x="6416395" y="4674984"/>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p>
          </p:txBody>
        </p:sp>
        <p:sp>
          <p:nvSpPr>
            <p:cNvPr id="55375" name="Text Box 74"/>
            <p:cNvSpPr txBox="1">
              <a:spLocks noChangeArrowheads="1"/>
            </p:cNvSpPr>
            <p:nvPr/>
          </p:nvSpPr>
          <p:spPr bwMode="auto">
            <a:xfrm>
              <a:off x="7510182" y="4674984"/>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p>
          </p:txBody>
        </p:sp>
        <p:sp>
          <p:nvSpPr>
            <p:cNvPr id="55376" name="Text Box 75"/>
            <p:cNvSpPr txBox="1">
              <a:spLocks noChangeArrowheads="1"/>
            </p:cNvSpPr>
            <p:nvPr/>
          </p:nvSpPr>
          <p:spPr bwMode="auto">
            <a:xfrm>
              <a:off x="8552376" y="4674984"/>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p>
          </p:txBody>
        </p:sp>
        <p:sp>
          <p:nvSpPr>
            <p:cNvPr id="55377" name="Line 76"/>
            <p:cNvSpPr>
              <a:spLocks noChangeShapeType="1"/>
            </p:cNvSpPr>
            <p:nvPr/>
          </p:nvSpPr>
          <p:spPr bwMode="auto">
            <a:xfrm>
              <a:off x="5719880" y="5071858"/>
              <a:ext cx="1303602" cy="376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8" name="Line 77"/>
            <p:cNvSpPr>
              <a:spLocks noChangeShapeType="1"/>
            </p:cNvSpPr>
            <p:nvPr/>
          </p:nvSpPr>
          <p:spPr bwMode="auto">
            <a:xfrm>
              <a:off x="6676084" y="5071858"/>
              <a:ext cx="521096" cy="376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9" name="Line 78"/>
            <p:cNvSpPr>
              <a:spLocks noChangeShapeType="1"/>
            </p:cNvSpPr>
            <p:nvPr/>
          </p:nvSpPr>
          <p:spPr bwMode="auto">
            <a:xfrm flipH="1">
              <a:off x="7284890" y="5071858"/>
              <a:ext cx="435107" cy="376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0" name="Line 79"/>
            <p:cNvSpPr>
              <a:spLocks noChangeShapeType="1"/>
            </p:cNvSpPr>
            <p:nvPr/>
          </p:nvSpPr>
          <p:spPr bwMode="auto">
            <a:xfrm flipV="1">
              <a:off x="7458589" y="5071858"/>
              <a:ext cx="1303602" cy="376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1" name="Text Box 80"/>
            <p:cNvSpPr txBox="1">
              <a:spLocks noChangeArrowheads="1"/>
            </p:cNvSpPr>
            <p:nvPr/>
          </p:nvSpPr>
          <p:spPr bwMode="auto">
            <a:xfrm>
              <a:off x="264700" y="2438197"/>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用户</a:t>
              </a:r>
            </a:p>
          </p:txBody>
        </p:sp>
        <p:sp>
          <p:nvSpPr>
            <p:cNvPr id="55382" name="Line 81"/>
            <p:cNvSpPr>
              <a:spLocks noChangeShapeType="1"/>
            </p:cNvSpPr>
            <p:nvPr/>
          </p:nvSpPr>
          <p:spPr bwMode="auto">
            <a:xfrm>
              <a:off x="766880" y="3409746"/>
              <a:ext cx="2866892"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83" name="Line 82"/>
            <p:cNvSpPr>
              <a:spLocks noChangeShapeType="1"/>
            </p:cNvSpPr>
            <p:nvPr/>
          </p:nvSpPr>
          <p:spPr bwMode="auto">
            <a:xfrm>
              <a:off x="766880" y="4162221"/>
              <a:ext cx="2866892"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84" name="Line 83"/>
            <p:cNvSpPr>
              <a:spLocks noChangeShapeType="1"/>
            </p:cNvSpPr>
            <p:nvPr/>
          </p:nvSpPr>
          <p:spPr bwMode="auto">
            <a:xfrm>
              <a:off x="766880" y="4913108"/>
              <a:ext cx="2866892"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85" name="Line 84"/>
            <p:cNvSpPr>
              <a:spLocks noChangeShapeType="1"/>
            </p:cNvSpPr>
            <p:nvPr/>
          </p:nvSpPr>
          <p:spPr bwMode="auto">
            <a:xfrm>
              <a:off x="766880" y="5665583"/>
              <a:ext cx="2866892"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55386" name="Group 85"/>
            <p:cNvGrpSpPr>
              <a:grpSpLocks/>
            </p:cNvGrpSpPr>
            <p:nvPr/>
          </p:nvGrpSpPr>
          <p:grpSpPr bwMode="auto">
            <a:xfrm>
              <a:off x="5116232" y="3968546"/>
              <a:ext cx="4171293" cy="1079500"/>
              <a:chOff x="1655" y="1570"/>
              <a:chExt cx="2919" cy="1497"/>
            </a:xfrm>
          </p:grpSpPr>
          <p:sp>
            <p:nvSpPr>
              <p:cNvPr id="55388" name="Line 86"/>
              <p:cNvSpPr>
                <a:spLocks noChangeShapeType="1"/>
              </p:cNvSpPr>
              <p:nvPr/>
            </p:nvSpPr>
            <p:spPr bwMode="auto">
              <a:xfrm>
                <a:off x="1655" y="1570"/>
                <a:ext cx="0" cy="1497"/>
              </a:xfrm>
              <a:prstGeom prst="line">
                <a:avLst/>
              </a:prstGeom>
              <a:noFill/>
              <a:ln w="28575">
                <a:solidFill>
                  <a:srgbClr val="0000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9" name="Line 87"/>
              <p:cNvSpPr>
                <a:spLocks noChangeShapeType="1"/>
              </p:cNvSpPr>
              <p:nvPr/>
            </p:nvSpPr>
            <p:spPr bwMode="auto">
              <a:xfrm>
                <a:off x="2381" y="1570"/>
                <a:ext cx="0" cy="1497"/>
              </a:xfrm>
              <a:prstGeom prst="line">
                <a:avLst/>
              </a:prstGeom>
              <a:noFill/>
              <a:ln w="28575">
                <a:solidFill>
                  <a:srgbClr val="0000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0" name="Line 88"/>
              <p:cNvSpPr>
                <a:spLocks noChangeShapeType="1"/>
              </p:cNvSpPr>
              <p:nvPr/>
            </p:nvSpPr>
            <p:spPr bwMode="auto">
              <a:xfrm>
                <a:off x="3107" y="1570"/>
                <a:ext cx="0" cy="1497"/>
              </a:xfrm>
              <a:prstGeom prst="line">
                <a:avLst/>
              </a:prstGeom>
              <a:noFill/>
              <a:ln w="28575">
                <a:solidFill>
                  <a:srgbClr val="0000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1" name="Line 89"/>
              <p:cNvSpPr>
                <a:spLocks noChangeShapeType="1"/>
              </p:cNvSpPr>
              <p:nvPr/>
            </p:nvSpPr>
            <p:spPr bwMode="auto">
              <a:xfrm>
                <a:off x="3833" y="1570"/>
                <a:ext cx="0" cy="1497"/>
              </a:xfrm>
              <a:prstGeom prst="line">
                <a:avLst/>
              </a:prstGeom>
              <a:noFill/>
              <a:ln w="28575">
                <a:solidFill>
                  <a:srgbClr val="0000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2" name="Line 90"/>
              <p:cNvSpPr>
                <a:spLocks noChangeShapeType="1"/>
              </p:cNvSpPr>
              <p:nvPr/>
            </p:nvSpPr>
            <p:spPr bwMode="auto">
              <a:xfrm>
                <a:off x="4574" y="1570"/>
                <a:ext cx="0" cy="1497"/>
              </a:xfrm>
              <a:prstGeom prst="line">
                <a:avLst/>
              </a:prstGeom>
              <a:noFill/>
              <a:ln w="28575">
                <a:solidFill>
                  <a:srgbClr val="0000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87" name="矩形 1"/>
            <p:cNvSpPr>
              <a:spLocks noChangeArrowheads="1"/>
            </p:cNvSpPr>
            <p:nvPr/>
          </p:nvSpPr>
          <p:spPr bwMode="auto">
            <a:xfrm>
              <a:off x="1766365" y="5936972"/>
              <a:ext cx="69958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时分复用可能会造成线路资源的浪费</a:t>
              </a:r>
              <a:endParaRPr lang="zh-CN" altLang="en-US" sz="2400" b="1">
                <a:ea typeface="黑体" panose="02010609060101010101" pitchFamily="49" charset="-122"/>
              </a:endParaRPr>
            </a:p>
          </p:txBody>
        </p:sp>
      </p:grpSp>
      <p:sp>
        <p:nvSpPr>
          <p:cNvPr id="55301" name="矩形 3"/>
          <p:cNvSpPr>
            <a:spLocks noChangeArrowheads="1"/>
          </p:cNvSpPr>
          <p:nvPr/>
        </p:nvSpPr>
        <p:spPr bwMode="auto">
          <a:xfrm>
            <a:off x="5518150" y="2565400"/>
            <a:ext cx="4043363" cy="11080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zh-CN" sz="2200" b="1">
                <a:ea typeface="黑体" panose="02010609060101010101" pitchFamily="49" charset="-122"/>
              </a:rPr>
              <a:t>当某用户暂时无数据发送时，在时分复用帧中分配给该用户的时隙只能处于空闲状态</a:t>
            </a:r>
            <a:r>
              <a:rPr lang="zh-CN" altLang="en-US" sz="2200" b="1">
                <a:ea typeface="黑体" panose="02010609060101010101" pitchFamily="49" charset="-122"/>
              </a:rPr>
              <a:t>。</a:t>
            </a:r>
          </a:p>
        </p:txBody>
      </p:sp>
      <p:sp>
        <p:nvSpPr>
          <p:cNvPr id="55302"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A59D77C-9AD3-47DB-83F2-D93ADD4F0A5B}" type="slidenum">
              <a:rPr altLang="en-US" smtClean="0"/>
              <a:pPr/>
              <a:t>25</a:t>
            </a:fld>
            <a:endParaRPr lang="zh-CN" altLang="zh-CN" smtClean="0"/>
          </a:p>
        </p:txBody>
      </p:sp>
      <p:sp>
        <p:nvSpPr>
          <p:cNvPr id="55303"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95300" y="188913"/>
            <a:ext cx="9066213" cy="1511300"/>
          </a:xfrm>
        </p:spPr>
        <p:txBody>
          <a:bodyPr/>
          <a:lstStyle/>
          <a:p>
            <a:pPr algn="ctr" eaLnBrk="1" hangingPunct="1"/>
            <a:r>
              <a:rPr lang="zh-CN" altLang="en-US" dirty="0" smtClean="0">
                <a:ea typeface="黑体" panose="02010609060101010101" pitchFamily="49" charset="-122"/>
              </a:rPr>
              <a:t>统计时分复用</a:t>
            </a:r>
            <a:r>
              <a:rPr lang="zh-CN" altLang="en-US" sz="3200" dirty="0" smtClean="0">
                <a:ea typeface="黑体" panose="02010609060101010101" pitchFamily="49" charset="-122"/>
              </a:rPr>
              <a:t> </a:t>
            </a:r>
            <a:r>
              <a:rPr lang="en-US" altLang="zh-CN" u="sng" dirty="0" smtClean="0">
                <a:solidFill>
                  <a:srgbClr val="FF0000"/>
                </a:solidFill>
                <a:ea typeface="黑体" panose="02010609060101010101" pitchFamily="49" charset="-122"/>
              </a:rPr>
              <a:t>STDM</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(Statistic TDM)  </a:t>
            </a:r>
          </a:p>
        </p:txBody>
      </p:sp>
      <p:sp>
        <p:nvSpPr>
          <p:cNvPr id="57347" name="矩形 1"/>
          <p:cNvSpPr>
            <a:spLocks noChangeArrowheads="1"/>
          </p:cNvSpPr>
          <p:nvPr/>
        </p:nvSpPr>
        <p:spPr bwMode="auto">
          <a:xfrm>
            <a:off x="6248400" y="1982788"/>
            <a:ext cx="3313113" cy="144621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200" b="1">
                <a:ea typeface="黑体" panose="02010609060101010101" pitchFamily="49" charset="-122"/>
              </a:rPr>
              <a:t>STDM </a:t>
            </a:r>
            <a:r>
              <a:rPr lang="zh-CN" altLang="zh-CN" sz="2200" b="1">
                <a:ea typeface="黑体" panose="02010609060101010101" pitchFamily="49" charset="-122"/>
              </a:rPr>
              <a:t>帧</a:t>
            </a:r>
            <a:r>
              <a:rPr lang="zh-CN" altLang="zh-CN" sz="2200" b="1">
                <a:solidFill>
                  <a:srgbClr val="FF0000"/>
                </a:solidFill>
                <a:ea typeface="黑体" panose="02010609060101010101" pitchFamily="49" charset="-122"/>
              </a:rPr>
              <a:t>不是固定分配</a:t>
            </a:r>
            <a:r>
              <a:rPr lang="zh-CN" altLang="zh-CN" sz="2200" b="1">
                <a:ea typeface="黑体" panose="02010609060101010101" pitchFamily="49" charset="-122"/>
              </a:rPr>
              <a:t>时隙，而是</a:t>
            </a:r>
            <a:r>
              <a:rPr lang="zh-CN" altLang="zh-CN" sz="2200" b="1">
                <a:solidFill>
                  <a:srgbClr val="FF0000"/>
                </a:solidFill>
                <a:ea typeface="黑体" panose="02010609060101010101" pitchFamily="49" charset="-122"/>
              </a:rPr>
              <a:t>按需动态地</a:t>
            </a:r>
            <a:r>
              <a:rPr lang="zh-CN" altLang="zh-CN" sz="2200" b="1">
                <a:ea typeface="黑体" panose="02010609060101010101" pitchFamily="49" charset="-122"/>
              </a:rPr>
              <a:t>分配时隙。因此统计时分复用可以提高线路的利用率</a:t>
            </a:r>
            <a:r>
              <a:rPr lang="zh-CN" altLang="en-US" sz="2200" b="1">
                <a:ea typeface="黑体" panose="02010609060101010101" pitchFamily="49" charset="-122"/>
              </a:rPr>
              <a:t>。</a:t>
            </a:r>
          </a:p>
        </p:txBody>
      </p:sp>
      <p:grpSp>
        <p:nvGrpSpPr>
          <p:cNvPr id="57348" name="组合 3"/>
          <p:cNvGrpSpPr>
            <a:grpSpLocks/>
          </p:cNvGrpSpPr>
          <p:nvPr/>
        </p:nvGrpSpPr>
        <p:grpSpPr bwMode="auto">
          <a:xfrm>
            <a:off x="631825" y="1989138"/>
            <a:ext cx="8929688" cy="4319587"/>
            <a:chOff x="632520" y="1988840"/>
            <a:chExt cx="8928992" cy="4320480"/>
          </a:xfrm>
        </p:grpSpPr>
        <p:sp>
          <p:nvSpPr>
            <p:cNvPr id="57351" name="Freeform 85"/>
            <p:cNvSpPr>
              <a:spLocks noChangeArrowheads="1"/>
            </p:cNvSpPr>
            <p:nvPr/>
          </p:nvSpPr>
          <p:spPr bwMode="auto">
            <a:xfrm>
              <a:off x="7556161" y="3919539"/>
              <a:ext cx="292365" cy="403225"/>
            </a:xfrm>
            <a:custGeom>
              <a:avLst/>
              <a:gdLst>
                <a:gd name="T0" fmla="*/ 0 w 96"/>
                <a:gd name="T1" fmla="*/ 403225 h 192"/>
                <a:gd name="T2" fmla="*/ 0 w 96"/>
                <a:gd name="T3" fmla="*/ 0 h 192"/>
                <a:gd name="T4" fmla="*/ 292365 w 96"/>
                <a:gd name="T5" fmla="*/ 0 h 192"/>
                <a:gd name="T6" fmla="*/ 29236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p:spPr>
          <p:txBody>
            <a:bodyPr/>
            <a:lstStyle/>
            <a:p>
              <a:endParaRPr lang="zh-CN" altLang="en-US"/>
            </a:p>
          </p:txBody>
        </p:sp>
        <p:sp>
          <p:nvSpPr>
            <p:cNvPr id="57352" name="Freeform 86"/>
            <p:cNvSpPr>
              <a:spLocks noChangeArrowheads="1"/>
            </p:cNvSpPr>
            <p:nvPr/>
          </p:nvSpPr>
          <p:spPr bwMode="auto">
            <a:xfrm>
              <a:off x="8730778" y="3919539"/>
              <a:ext cx="292365" cy="403225"/>
            </a:xfrm>
            <a:custGeom>
              <a:avLst/>
              <a:gdLst>
                <a:gd name="T0" fmla="*/ 0 w 96"/>
                <a:gd name="T1" fmla="*/ 403225 h 192"/>
                <a:gd name="T2" fmla="*/ 0 w 96"/>
                <a:gd name="T3" fmla="*/ 0 h 192"/>
                <a:gd name="T4" fmla="*/ 292365 w 96"/>
                <a:gd name="T5" fmla="*/ 0 h 192"/>
                <a:gd name="T6" fmla="*/ 29236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p:spPr>
          <p:txBody>
            <a:bodyPr/>
            <a:lstStyle/>
            <a:p>
              <a:endParaRPr lang="zh-CN" altLang="en-US"/>
            </a:p>
          </p:txBody>
        </p:sp>
        <p:sp>
          <p:nvSpPr>
            <p:cNvPr id="57353" name="Freeform 87"/>
            <p:cNvSpPr>
              <a:spLocks noChangeArrowheads="1"/>
            </p:cNvSpPr>
            <p:nvPr/>
          </p:nvSpPr>
          <p:spPr bwMode="auto">
            <a:xfrm>
              <a:off x="8338665" y="3919539"/>
              <a:ext cx="294085" cy="403225"/>
            </a:xfrm>
            <a:custGeom>
              <a:avLst/>
              <a:gdLst>
                <a:gd name="T0" fmla="*/ 0 w 96"/>
                <a:gd name="T1" fmla="*/ 403225 h 192"/>
                <a:gd name="T2" fmla="*/ 0 w 96"/>
                <a:gd name="T3" fmla="*/ 0 h 192"/>
                <a:gd name="T4" fmla="*/ 294085 w 96"/>
                <a:gd name="T5" fmla="*/ 0 h 192"/>
                <a:gd name="T6" fmla="*/ 29408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66FF33"/>
            </a:solidFill>
            <a:ln w="9525">
              <a:solidFill>
                <a:schemeClr val="tx1"/>
              </a:solidFill>
              <a:round/>
              <a:headEnd/>
              <a:tailEnd/>
            </a:ln>
          </p:spPr>
          <p:txBody>
            <a:bodyPr/>
            <a:lstStyle/>
            <a:p>
              <a:endParaRPr lang="zh-CN" altLang="en-US"/>
            </a:p>
          </p:txBody>
        </p:sp>
        <p:sp>
          <p:nvSpPr>
            <p:cNvPr id="57354" name="Freeform 88"/>
            <p:cNvSpPr>
              <a:spLocks noChangeArrowheads="1"/>
            </p:cNvSpPr>
            <p:nvPr/>
          </p:nvSpPr>
          <p:spPr bwMode="auto">
            <a:xfrm>
              <a:off x="7946553" y="3919539"/>
              <a:ext cx="294085" cy="403225"/>
            </a:xfrm>
            <a:custGeom>
              <a:avLst/>
              <a:gdLst>
                <a:gd name="T0" fmla="*/ 0 w 96"/>
                <a:gd name="T1" fmla="*/ 403225 h 192"/>
                <a:gd name="T2" fmla="*/ 0 w 96"/>
                <a:gd name="T3" fmla="*/ 0 h 192"/>
                <a:gd name="T4" fmla="*/ 294085 w 96"/>
                <a:gd name="T5" fmla="*/ 0 h 192"/>
                <a:gd name="T6" fmla="*/ 29408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p:spPr>
          <p:txBody>
            <a:bodyPr/>
            <a:lstStyle/>
            <a:p>
              <a:endParaRPr lang="zh-CN" altLang="en-US"/>
            </a:p>
          </p:txBody>
        </p:sp>
        <p:sp>
          <p:nvSpPr>
            <p:cNvPr id="57355" name="Freeform 89"/>
            <p:cNvSpPr>
              <a:spLocks noChangeArrowheads="1"/>
            </p:cNvSpPr>
            <p:nvPr/>
          </p:nvSpPr>
          <p:spPr bwMode="auto">
            <a:xfrm>
              <a:off x="7164048" y="3919539"/>
              <a:ext cx="294084" cy="403225"/>
            </a:xfrm>
            <a:custGeom>
              <a:avLst/>
              <a:gdLst>
                <a:gd name="T0" fmla="*/ 0 w 96"/>
                <a:gd name="T1" fmla="*/ 403225 h 192"/>
                <a:gd name="T2" fmla="*/ 0 w 96"/>
                <a:gd name="T3" fmla="*/ 0 h 192"/>
                <a:gd name="T4" fmla="*/ 294084 w 96"/>
                <a:gd name="T5" fmla="*/ 0 h 192"/>
                <a:gd name="T6" fmla="*/ 294084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66"/>
            </a:solidFill>
            <a:ln w="9525">
              <a:solidFill>
                <a:schemeClr val="tx1"/>
              </a:solidFill>
              <a:round/>
              <a:headEnd/>
              <a:tailEnd/>
            </a:ln>
          </p:spPr>
          <p:txBody>
            <a:bodyPr/>
            <a:lstStyle/>
            <a:p>
              <a:endParaRPr lang="zh-CN" altLang="en-US"/>
            </a:p>
          </p:txBody>
        </p:sp>
        <p:sp>
          <p:nvSpPr>
            <p:cNvPr id="57356" name="Freeform 90"/>
            <p:cNvSpPr>
              <a:spLocks noChangeArrowheads="1"/>
            </p:cNvSpPr>
            <p:nvPr/>
          </p:nvSpPr>
          <p:spPr bwMode="auto">
            <a:xfrm>
              <a:off x="6771935" y="3919539"/>
              <a:ext cx="294084" cy="403225"/>
            </a:xfrm>
            <a:custGeom>
              <a:avLst/>
              <a:gdLst>
                <a:gd name="T0" fmla="*/ 0 w 96"/>
                <a:gd name="T1" fmla="*/ 403225 h 192"/>
                <a:gd name="T2" fmla="*/ 0 w 96"/>
                <a:gd name="T3" fmla="*/ 0 h 192"/>
                <a:gd name="T4" fmla="*/ 294084 w 96"/>
                <a:gd name="T5" fmla="*/ 0 h 192"/>
                <a:gd name="T6" fmla="*/ 294084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66"/>
            </a:solidFill>
            <a:ln w="9525">
              <a:solidFill>
                <a:schemeClr val="tx1"/>
              </a:solidFill>
              <a:round/>
              <a:headEnd/>
              <a:tailEnd/>
            </a:ln>
          </p:spPr>
          <p:txBody>
            <a:bodyPr/>
            <a:lstStyle/>
            <a:p>
              <a:endParaRPr lang="zh-CN" altLang="en-US"/>
            </a:p>
          </p:txBody>
        </p:sp>
        <p:sp>
          <p:nvSpPr>
            <p:cNvPr id="57357" name="Freeform 91"/>
            <p:cNvSpPr>
              <a:spLocks noChangeArrowheads="1"/>
            </p:cNvSpPr>
            <p:nvPr/>
          </p:nvSpPr>
          <p:spPr bwMode="auto">
            <a:xfrm>
              <a:off x="6381542" y="3919539"/>
              <a:ext cx="292365" cy="403225"/>
            </a:xfrm>
            <a:custGeom>
              <a:avLst/>
              <a:gdLst>
                <a:gd name="T0" fmla="*/ 0 w 96"/>
                <a:gd name="T1" fmla="*/ 403225 h 192"/>
                <a:gd name="T2" fmla="*/ 0 w 96"/>
                <a:gd name="T3" fmla="*/ 0 h 192"/>
                <a:gd name="T4" fmla="*/ 292365 w 96"/>
                <a:gd name="T5" fmla="*/ 0 h 192"/>
                <a:gd name="T6" fmla="*/ 29236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p:spPr>
          <p:txBody>
            <a:bodyPr/>
            <a:lstStyle/>
            <a:p>
              <a:endParaRPr lang="zh-CN" altLang="en-US"/>
            </a:p>
          </p:txBody>
        </p:sp>
        <p:sp>
          <p:nvSpPr>
            <p:cNvPr id="57358" name="Text Box 92"/>
            <p:cNvSpPr txBox="1">
              <a:spLocks noChangeArrowheads="1"/>
            </p:cNvSpPr>
            <p:nvPr/>
          </p:nvSpPr>
          <p:spPr bwMode="auto">
            <a:xfrm>
              <a:off x="632520" y="2036764"/>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用户</a:t>
              </a:r>
            </a:p>
          </p:txBody>
        </p:sp>
        <p:sp>
          <p:nvSpPr>
            <p:cNvPr id="57359" name="Freeform 93"/>
            <p:cNvSpPr>
              <a:spLocks noChangeArrowheads="1"/>
            </p:cNvSpPr>
            <p:nvPr/>
          </p:nvSpPr>
          <p:spPr bwMode="auto">
            <a:xfrm>
              <a:off x="3368710" y="2711451"/>
              <a:ext cx="686196" cy="403225"/>
            </a:xfrm>
            <a:custGeom>
              <a:avLst/>
              <a:gdLst>
                <a:gd name="T0" fmla="*/ 0 w 1008"/>
                <a:gd name="T1" fmla="*/ 403225 h 192"/>
                <a:gd name="T2" fmla="*/ 0 w 1008"/>
                <a:gd name="T3" fmla="*/ 0 h 192"/>
                <a:gd name="T4" fmla="*/ 686196 w 1008"/>
                <a:gd name="T5" fmla="*/ 0 h 192"/>
                <a:gd name="T6" fmla="*/ 686196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p:spPr>
          <p:txBody>
            <a:bodyPr/>
            <a:lstStyle/>
            <a:p>
              <a:endParaRPr lang="zh-CN" altLang="en-US"/>
            </a:p>
          </p:txBody>
        </p:sp>
        <p:sp>
          <p:nvSpPr>
            <p:cNvPr id="57360" name="Freeform 94"/>
            <p:cNvSpPr>
              <a:spLocks noChangeArrowheads="1"/>
            </p:cNvSpPr>
            <p:nvPr/>
          </p:nvSpPr>
          <p:spPr bwMode="auto">
            <a:xfrm>
              <a:off x="1313558" y="3517900"/>
              <a:ext cx="1370675" cy="401638"/>
            </a:xfrm>
            <a:custGeom>
              <a:avLst/>
              <a:gdLst>
                <a:gd name="T0" fmla="*/ 0 w 1008"/>
                <a:gd name="T1" fmla="*/ 401638 h 192"/>
                <a:gd name="T2" fmla="*/ 0 w 1008"/>
                <a:gd name="T3" fmla="*/ 0 h 192"/>
                <a:gd name="T4" fmla="*/ 1370675 w 1008"/>
                <a:gd name="T5" fmla="*/ 0 h 192"/>
                <a:gd name="T6" fmla="*/ 1370675 w 1008"/>
                <a:gd name="T7" fmla="*/ 4016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66"/>
            </a:solidFill>
            <a:ln w="9525">
              <a:solidFill>
                <a:schemeClr val="tx1"/>
              </a:solidFill>
              <a:round/>
              <a:headEnd/>
              <a:tailEnd/>
            </a:ln>
          </p:spPr>
          <p:txBody>
            <a:bodyPr/>
            <a:lstStyle/>
            <a:p>
              <a:endParaRPr lang="zh-CN" altLang="en-US"/>
            </a:p>
          </p:txBody>
        </p:sp>
        <p:sp>
          <p:nvSpPr>
            <p:cNvPr id="57361" name="Freeform 95"/>
            <p:cNvSpPr>
              <a:spLocks noChangeArrowheads="1"/>
            </p:cNvSpPr>
            <p:nvPr/>
          </p:nvSpPr>
          <p:spPr bwMode="auto">
            <a:xfrm>
              <a:off x="1998035" y="4322764"/>
              <a:ext cx="1370675" cy="403225"/>
            </a:xfrm>
            <a:custGeom>
              <a:avLst/>
              <a:gdLst>
                <a:gd name="T0" fmla="*/ 0 w 1008"/>
                <a:gd name="T1" fmla="*/ 403225 h 192"/>
                <a:gd name="T2" fmla="*/ 0 w 1008"/>
                <a:gd name="T3" fmla="*/ 0 h 192"/>
                <a:gd name="T4" fmla="*/ 1370675 w 1008"/>
                <a:gd name="T5" fmla="*/ 0 h 192"/>
                <a:gd name="T6" fmla="*/ 1370675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p:spPr>
          <p:txBody>
            <a:bodyPr/>
            <a:lstStyle/>
            <a:p>
              <a:endParaRPr lang="zh-CN" altLang="en-US"/>
            </a:p>
          </p:txBody>
        </p:sp>
        <p:sp>
          <p:nvSpPr>
            <p:cNvPr id="57362" name="Freeform 96"/>
            <p:cNvSpPr>
              <a:spLocks noChangeArrowheads="1"/>
            </p:cNvSpPr>
            <p:nvPr/>
          </p:nvSpPr>
          <p:spPr bwMode="auto">
            <a:xfrm>
              <a:off x="2684233" y="5127626"/>
              <a:ext cx="684477" cy="403225"/>
            </a:xfrm>
            <a:custGeom>
              <a:avLst/>
              <a:gdLst>
                <a:gd name="T0" fmla="*/ 0 w 1008"/>
                <a:gd name="T1" fmla="*/ 403225 h 192"/>
                <a:gd name="T2" fmla="*/ 0 w 1008"/>
                <a:gd name="T3" fmla="*/ 0 h 192"/>
                <a:gd name="T4" fmla="*/ 684477 w 1008"/>
                <a:gd name="T5" fmla="*/ 0 h 192"/>
                <a:gd name="T6" fmla="*/ 684477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66FF33"/>
            </a:solidFill>
            <a:ln w="9525">
              <a:solidFill>
                <a:schemeClr val="tx1"/>
              </a:solidFill>
              <a:round/>
              <a:headEnd/>
              <a:tailEnd/>
            </a:ln>
          </p:spPr>
          <p:txBody>
            <a:bodyPr/>
            <a:lstStyle/>
            <a:p>
              <a:endParaRPr lang="zh-CN" altLang="en-US"/>
            </a:p>
          </p:txBody>
        </p:sp>
        <p:sp>
          <p:nvSpPr>
            <p:cNvPr id="57363" name="Text Box 97"/>
            <p:cNvSpPr txBox="1">
              <a:spLocks noChangeArrowheads="1"/>
            </p:cNvSpPr>
            <p:nvPr/>
          </p:nvSpPr>
          <p:spPr bwMode="auto">
            <a:xfrm>
              <a:off x="735708" y="2674939"/>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7364" name="Text Box 98"/>
            <p:cNvSpPr txBox="1">
              <a:spLocks noChangeArrowheads="1"/>
            </p:cNvSpPr>
            <p:nvPr/>
          </p:nvSpPr>
          <p:spPr bwMode="auto">
            <a:xfrm>
              <a:off x="735708" y="3479800"/>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7365" name="Text Box 99"/>
            <p:cNvSpPr txBox="1">
              <a:spLocks noChangeArrowheads="1"/>
            </p:cNvSpPr>
            <p:nvPr/>
          </p:nvSpPr>
          <p:spPr bwMode="auto">
            <a:xfrm>
              <a:off x="735708" y="4286251"/>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7366" name="Text Box 100"/>
            <p:cNvSpPr txBox="1">
              <a:spLocks noChangeArrowheads="1"/>
            </p:cNvSpPr>
            <p:nvPr/>
          </p:nvSpPr>
          <p:spPr bwMode="auto">
            <a:xfrm>
              <a:off x="735708" y="5091114"/>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p>
          </p:txBody>
        </p:sp>
        <p:sp>
          <p:nvSpPr>
            <p:cNvPr id="57367" name="Line 101"/>
            <p:cNvSpPr>
              <a:spLocks noChangeShapeType="1"/>
            </p:cNvSpPr>
            <p:nvPr/>
          </p:nvSpPr>
          <p:spPr bwMode="auto">
            <a:xfrm>
              <a:off x="6087459" y="4322763"/>
              <a:ext cx="3229769"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368" name="Text Box 102"/>
            <p:cNvSpPr txBox="1">
              <a:spLocks noChangeArrowheads="1"/>
            </p:cNvSpPr>
            <p:nvPr/>
          </p:nvSpPr>
          <p:spPr bwMode="auto">
            <a:xfrm>
              <a:off x="3516612" y="2695576"/>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7369" name="Text Box 105"/>
            <p:cNvSpPr txBox="1">
              <a:spLocks noChangeArrowheads="1"/>
            </p:cNvSpPr>
            <p:nvPr/>
          </p:nvSpPr>
          <p:spPr bwMode="auto">
            <a:xfrm>
              <a:off x="1518214" y="350361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7370" name="Text Box 106"/>
            <p:cNvSpPr txBox="1">
              <a:spLocks noChangeArrowheads="1"/>
            </p:cNvSpPr>
            <p:nvPr/>
          </p:nvSpPr>
          <p:spPr bwMode="auto">
            <a:xfrm>
              <a:off x="2847612" y="4298951"/>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7371" name="Text Box 107"/>
            <p:cNvSpPr txBox="1">
              <a:spLocks noChangeArrowheads="1"/>
            </p:cNvSpPr>
            <p:nvPr/>
          </p:nvSpPr>
          <p:spPr bwMode="auto">
            <a:xfrm>
              <a:off x="2851052" y="5127626"/>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p>
          </p:txBody>
        </p:sp>
        <p:sp>
          <p:nvSpPr>
            <p:cNvPr id="57372" name="Text Box 111"/>
            <p:cNvSpPr txBox="1">
              <a:spLocks noChangeArrowheads="1"/>
            </p:cNvSpPr>
            <p:nvPr/>
          </p:nvSpPr>
          <p:spPr bwMode="auto">
            <a:xfrm>
              <a:off x="4323193" y="2751139"/>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7373" name="Text Box 112"/>
            <p:cNvSpPr txBox="1">
              <a:spLocks noChangeArrowheads="1"/>
            </p:cNvSpPr>
            <p:nvPr/>
          </p:nvSpPr>
          <p:spPr bwMode="auto">
            <a:xfrm>
              <a:off x="4323193" y="3575051"/>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7374" name="Text Box 113"/>
            <p:cNvSpPr txBox="1">
              <a:spLocks noChangeArrowheads="1"/>
            </p:cNvSpPr>
            <p:nvPr/>
          </p:nvSpPr>
          <p:spPr bwMode="auto">
            <a:xfrm>
              <a:off x="4323193" y="4400551"/>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7375" name="Text Box 114"/>
            <p:cNvSpPr txBox="1">
              <a:spLocks noChangeArrowheads="1"/>
            </p:cNvSpPr>
            <p:nvPr/>
          </p:nvSpPr>
          <p:spPr bwMode="auto">
            <a:xfrm>
              <a:off x="4323193" y="5224464"/>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7376" name="Text Box 115"/>
            <p:cNvSpPr txBox="1">
              <a:spLocks noChangeArrowheads="1"/>
            </p:cNvSpPr>
            <p:nvPr/>
          </p:nvSpPr>
          <p:spPr bwMode="auto">
            <a:xfrm>
              <a:off x="9274254" y="4191471"/>
              <a:ext cx="2872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a:t>
              </a:r>
            </a:p>
          </p:txBody>
        </p:sp>
        <p:sp>
          <p:nvSpPr>
            <p:cNvPr id="57377" name="Line 116"/>
            <p:cNvSpPr>
              <a:spLocks noChangeShapeType="1"/>
            </p:cNvSpPr>
            <p:nvPr/>
          </p:nvSpPr>
          <p:spPr bwMode="auto">
            <a:xfrm>
              <a:off x="1998035" y="3819526"/>
              <a:ext cx="0" cy="100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8" name="Line 117"/>
            <p:cNvSpPr>
              <a:spLocks noChangeShapeType="1"/>
            </p:cNvSpPr>
            <p:nvPr/>
          </p:nvSpPr>
          <p:spPr bwMode="auto">
            <a:xfrm>
              <a:off x="2684232" y="4624388"/>
              <a:ext cx="0" cy="10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9" name="Line 118"/>
            <p:cNvSpPr>
              <a:spLocks noChangeShapeType="1"/>
            </p:cNvSpPr>
            <p:nvPr/>
          </p:nvSpPr>
          <p:spPr bwMode="auto">
            <a:xfrm>
              <a:off x="3368709" y="3819526"/>
              <a:ext cx="0" cy="100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0" name="Line 119"/>
            <p:cNvSpPr>
              <a:spLocks noChangeShapeType="1"/>
            </p:cNvSpPr>
            <p:nvPr/>
          </p:nvSpPr>
          <p:spPr bwMode="auto">
            <a:xfrm>
              <a:off x="1998035" y="5430838"/>
              <a:ext cx="0" cy="100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1" name="Line 120"/>
            <p:cNvSpPr>
              <a:spLocks noChangeShapeType="1"/>
            </p:cNvSpPr>
            <p:nvPr/>
          </p:nvSpPr>
          <p:spPr bwMode="auto">
            <a:xfrm>
              <a:off x="4054906" y="4624388"/>
              <a:ext cx="0" cy="10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2" name="Line 121"/>
            <p:cNvSpPr>
              <a:spLocks noChangeShapeType="1"/>
            </p:cNvSpPr>
            <p:nvPr/>
          </p:nvSpPr>
          <p:spPr bwMode="auto">
            <a:xfrm>
              <a:off x="4054906" y="5430838"/>
              <a:ext cx="0" cy="100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3" name="Line 122"/>
            <p:cNvSpPr>
              <a:spLocks noChangeShapeType="1"/>
            </p:cNvSpPr>
            <p:nvPr/>
          </p:nvSpPr>
          <p:spPr bwMode="auto">
            <a:xfrm>
              <a:off x="6283514" y="4424364"/>
              <a:ext cx="0" cy="200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4" name="Line 123"/>
            <p:cNvSpPr>
              <a:spLocks noChangeShapeType="1"/>
            </p:cNvSpPr>
            <p:nvPr/>
          </p:nvSpPr>
          <p:spPr bwMode="auto">
            <a:xfrm>
              <a:off x="7066019" y="4424364"/>
              <a:ext cx="0" cy="200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5" name="Line 124"/>
            <p:cNvSpPr>
              <a:spLocks noChangeShapeType="1"/>
            </p:cNvSpPr>
            <p:nvPr/>
          </p:nvSpPr>
          <p:spPr bwMode="auto">
            <a:xfrm>
              <a:off x="7848525" y="4424364"/>
              <a:ext cx="0" cy="200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6" name="Line 125"/>
            <p:cNvSpPr>
              <a:spLocks noChangeShapeType="1"/>
            </p:cNvSpPr>
            <p:nvPr/>
          </p:nvSpPr>
          <p:spPr bwMode="auto">
            <a:xfrm>
              <a:off x="6283514" y="4524375"/>
              <a:ext cx="78250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387" name="Line 126"/>
            <p:cNvSpPr>
              <a:spLocks noChangeShapeType="1"/>
            </p:cNvSpPr>
            <p:nvPr/>
          </p:nvSpPr>
          <p:spPr bwMode="auto">
            <a:xfrm>
              <a:off x="7066019" y="4524375"/>
              <a:ext cx="782506"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388" name="Line 127"/>
            <p:cNvSpPr>
              <a:spLocks noChangeShapeType="1"/>
            </p:cNvSpPr>
            <p:nvPr/>
          </p:nvSpPr>
          <p:spPr bwMode="auto">
            <a:xfrm>
              <a:off x="7848525" y="4524375"/>
              <a:ext cx="78422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389" name="Text Box 128"/>
            <p:cNvSpPr txBox="1">
              <a:spLocks noChangeArrowheads="1"/>
            </p:cNvSpPr>
            <p:nvPr/>
          </p:nvSpPr>
          <p:spPr bwMode="auto">
            <a:xfrm>
              <a:off x="6537176" y="5301208"/>
              <a:ext cx="21018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 </a:t>
              </a:r>
              <a:r>
                <a:rPr lang="zh-CN" altLang="en-US" sz="2400" b="1">
                  <a:solidFill>
                    <a:srgbClr val="000099"/>
                  </a:solidFill>
                  <a:ea typeface="黑体" panose="02010609060101010101" pitchFamily="49" charset="-122"/>
                </a:rPr>
                <a:t>个 </a:t>
              </a:r>
              <a:r>
                <a:rPr lang="en-US" altLang="zh-CN" sz="2400" b="1">
                  <a:solidFill>
                    <a:srgbClr val="000099"/>
                  </a:solidFill>
                  <a:ea typeface="黑体" panose="02010609060101010101" pitchFamily="49" charset="-122"/>
                </a:rPr>
                <a:t>STDM </a:t>
              </a:r>
              <a:r>
                <a:rPr lang="zh-CN" altLang="en-US" sz="2400" b="1">
                  <a:solidFill>
                    <a:srgbClr val="000099"/>
                  </a:solidFill>
                  <a:ea typeface="黑体" panose="02010609060101010101" pitchFamily="49" charset="-122"/>
                </a:rPr>
                <a:t>帧</a:t>
              </a:r>
            </a:p>
          </p:txBody>
        </p:sp>
        <p:sp>
          <p:nvSpPr>
            <p:cNvPr id="57390" name="Text Box 129"/>
            <p:cNvSpPr txBox="1">
              <a:spLocks noChangeArrowheads="1"/>
            </p:cNvSpPr>
            <p:nvPr/>
          </p:nvSpPr>
          <p:spPr bwMode="auto">
            <a:xfrm>
              <a:off x="6402180" y="4479503"/>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57391" name="Line 130"/>
            <p:cNvSpPr>
              <a:spLocks noChangeShapeType="1"/>
            </p:cNvSpPr>
            <p:nvPr/>
          </p:nvSpPr>
          <p:spPr bwMode="auto">
            <a:xfrm>
              <a:off x="4660254" y="3111500"/>
              <a:ext cx="1257167" cy="808038"/>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392" name="Line 131"/>
            <p:cNvSpPr>
              <a:spLocks noChangeShapeType="1"/>
            </p:cNvSpPr>
            <p:nvPr/>
          </p:nvSpPr>
          <p:spPr bwMode="auto">
            <a:xfrm>
              <a:off x="4737644" y="3903664"/>
              <a:ext cx="1081750" cy="217487"/>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393" name="Line 132"/>
            <p:cNvSpPr>
              <a:spLocks noChangeShapeType="1"/>
            </p:cNvSpPr>
            <p:nvPr/>
          </p:nvSpPr>
          <p:spPr bwMode="auto">
            <a:xfrm flipV="1">
              <a:off x="4737644" y="4322763"/>
              <a:ext cx="1081750" cy="373062"/>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394" name="Line 133"/>
            <p:cNvSpPr>
              <a:spLocks noChangeShapeType="1"/>
            </p:cNvSpPr>
            <p:nvPr/>
          </p:nvSpPr>
          <p:spPr bwMode="auto">
            <a:xfrm flipV="1">
              <a:off x="4660254" y="4524376"/>
              <a:ext cx="1257167" cy="96361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395" name="Text Box 134"/>
            <p:cNvSpPr txBox="1">
              <a:spLocks noChangeArrowheads="1"/>
            </p:cNvSpPr>
            <p:nvPr/>
          </p:nvSpPr>
          <p:spPr bwMode="auto">
            <a:xfrm>
              <a:off x="4737644" y="4840289"/>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④</a:t>
              </a:r>
            </a:p>
          </p:txBody>
        </p:sp>
        <p:sp>
          <p:nvSpPr>
            <p:cNvPr id="57396" name="Text Box 135"/>
            <p:cNvSpPr txBox="1">
              <a:spLocks noChangeArrowheads="1"/>
            </p:cNvSpPr>
            <p:nvPr/>
          </p:nvSpPr>
          <p:spPr bwMode="auto">
            <a:xfrm>
              <a:off x="4660254" y="4191001"/>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③</a:t>
              </a:r>
            </a:p>
          </p:txBody>
        </p:sp>
        <p:sp>
          <p:nvSpPr>
            <p:cNvPr id="57397" name="Text Box 136"/>
            <p:cNvSpPr txBox="1">
              <a:spLocks noChangeArrowheads="1"/>
            </p:cNvSpPr>
            <p:nvPr/>
          </p:nvSpPr>
          <p:spPr bwMode="auto">
            <a:xfrm>
              <a:off x="4660254" y="3543301"/>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②</a:t>
              </a:r>
            </a:p>
          </p:txBody>
        </p:sp>
        <p:sp>
          <p:nvSpPr>
            <p:cNvPr id="57398" name="Text Box 137"/>
            <p:cNvSpPr txBox="1">
              <a:spLocks noChangeArrowheads="1"/>
            </p:cNvSpPr>
            <p:nvPr/>
          </p:nvSpPr>
          <p:spPr bwMode="auto">
            <a:xfrm>
              <a:off x="4815035" y="2895601"/>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①</a:t>
              </a:r>
            </a:p>
          </p:txBody>
        </p:sp>
        <p:sp>
          <p:nvSpPr>
            <p:cNvPr id="57399" name="Freeform 138"/>
            <p:cNvSpPr>
              <a:spLocks noChangeArrowheads="1"/>
            </p:cNvSpPr>
            <p:nvPr/>
          </p:nvSpPr>
          <p:spPr bwMode="auto">
            <a:xfrm>
              <a:off x="1313558" y="2711451"/>
              <a:ext cx="684477" cy="403225"/>
            </a:xfrm>
            <a:custGeom>
              <a:avLst/>
              <a:gdLst>
                <a:gd name="T0" fmla="*/ 0 w 1008"/>
                <a:gd name="T1" fmla="*/ 403225 h 192"/>
                <a:gd name="T2" fmla="*/ 0 w 1008"/>
                <a:gd name="T3" fmla="*/ 0 h 192"/>
                <a:gd name="T4" fmla="*/ 684477 w 1008"/>
                <a:gd name="T5" fmla="*/ 0 h 192"/>
                <a:gd name="T6" fmla="*/ 684477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p:spPr>
          <p:txBody>
            <a:bodyPr/>
            <a:lstStyle/>
            <a:p>
              <a:endParaRPr lang="zh-CN" altLang="en-US"/>
            </a:p>
          </p:txBody>
        </p:sp>
        <p:sp>
          <p:nvSpPr>
            <p:cNvPr id="57400" name="Line 139"/>
            <p:cNvSpPr>
              <a:spLocks noChangeShapeType="1"/>
            </p:cNvSpPr>
            <p:nvPr/>
          </p:nvSpPr>
          <p:spPr bwMode="auto">
            <a:xfrm>
              <a:off x="4054906" y="3819526"/>
              <a:ext cx="0" cy="100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1" name="Line 140"/>
            <p:cNvSpPr>
              <a:spLocks noChangeShapeType="1"/>
            </p:cNvSpPr>
            <p:nvPr/>
          </p:nvSpPr>
          <p:spPr bwMode="auto">
            <a:xfrm>
              <a:off x="1411586" y="5430838"/>
              <a:ext cx="0" cy="100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2" name="Text Box 141"/>
            <p:cNvSpPr txBox="1">
              <a:spLocks noChangeArrowheads="1"/>
            </p:cNvSpPr>
            <p:nvPr/>
          </p:nvSpPr>
          <p:spPr bwMode="auto">
            <a:xfrm>
              <a:off x="1485537" y="2679701"/>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7403" name="Text Box 142"/>
            <p:cNvSpPr txBox="1">
              <a:spLocks noChangeArrowheads="1"/>
            </p:cNvSpPr>
            <p:nvPr/>
          </p:nvSpPr>
          <p:spPr bwMode="auto">
            <a:xfrm>
              <a:off x="2157976" y="4286251"/>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7404" name="Text Box 143"/>
            <p:cNvSpPr txBox="1">
              <a:spLocks noChangeArrowheads="1"/>
            </p:cNvSpPr>
            <p:nvPr/>
          </p:nvSpPr>
          <p:spPr bwMode="auto">
            <a:xfrm>
              <a:off x="2190652" y="3506789"/>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7405" name="Line 144"/>
            <p:cNvSpPr>
              <a:spLocks noChangeShapeType="1"/>
            </p:cNvSpPr>
            <p:nvPr/>
          </p:nvSpPr>
          <p:spPr bwMode="auto">
            <a:xfrm>
              <a:off x="7164048" y="4222751"/>
              <a:ext cx="0" cy="100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6" name="Line 145"/>
            <p:cNvSpPr>
              <a:spLocks noChangeShapeType="1"/>
            </p:cNvSpPr>
            <p:nvPr/>
          </p:nvSpPr>
          <p:spPr bwMode="auto">
            <a:xfrm>
              <a:off x="7458132" y="4222751"/>
              <a:ext cx="0" cy="100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7" name="Line 146"/>
            <p:cNvSpPr>
              <a:spLocks noChangeShapeType="1"/>
            </p:cNvSpPr>
            <p:nvPr/>
          </p:nvSpPr>
          <p:spPr bwMode="auto">
            <a:xfrm>
              <a:off x="8632750" y="4424364"/>
              <a:ext cx="0" cy="200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8" name="Line 147"/>
            <p:cNvSpPr>
              <a:spLocks noChangeShapeType="1"/>
            </p:cNvSpPr>
            <p:nvPr/>
          </p:nvSpPr>
          <p:spPr bwMode="auto">
            <a:xfrm>
              <a:off x="8632750" y="4222751"/>
              <a:ext cx="0" cy="100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9" name="Text Box 103"/>
            <p:cNvSpPr txBox="1">
              <a:spLocks noChangeArrowheads="1"/>
            </p:cNvSpPr>
            <p:nvPr/>
          </p:nvSpPr>
          <p:spPr bwMode="auto">
            <a:xfrm>
              <a:off x="8704981" y="3903664"/>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7410" name="Text Box 104"/>
            <p:cNvSpPr txBox="1">
              <a:spLocks noChangeArrowheads="1"/>
            </p:cNvSpPr>
            <p:nvPr/>
          </p:nvSpPr>
          <p:spPr bwMode="auto">
            <a:xfrm>
              <a:off x="6747859" y="390366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7411" name="Text Box 108"/>
            <p:cNvSpPr txBox="1">
              <a:spLocks noChangeArrowheads="1"/>
            </p:cNvSpPr>
            <p:nvPr/>
          </p:nvSpPr>
          <p:spPr bwMode="auto">
            <a:xfrm>
              <a:off x="7115894" y="390366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p>
          </p:txBody>
        </p:sp>
        <p:sp>
          <p:nvSpPr>
            <p:cNvPr id="57412" name="Text Box 109"/>
            <p:cNvSpPr txBox="1">
              <a:spLocks noChangeArrowheads="1"/>
            </p:cNvSpPr>
            <p:nvPr/>
          </p:nvSpPr>
          <p:spPr bwMode="auto">
            <a:xfrm>
              <a:off x="7506286" y="3903664"/>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7413" name="Text Box 110"/>
            <p:cNvSpPr txBox="1">
              <a:spLocks noChangeArrowheads="1"/>
            </p:cNvSpPr>
            <p:nvPr/>
          </p:nvSpPr>
          <p:spPr bwMode="auto">
            <a:xfrm>
              <a:off x="6348867" y="3903664"/>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p>
          </p:txBody>
        </p:sp>
        <p:sp>
          <p:nvSpPr>
            <p:cNvPr id="57414" name="Text Box 148"/>
            <p:cNvSpPr txBox="1">
              <a:spLocks noChangeArrowheads="1"/>
            </p:cNvSpPr>
            <p:nvPr/>
          </p:nvSpPr>
          <p:spPr bwMode="auto">
            <a:xfrm>
              <a:off x="7910437" y="3903664"/>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p>
          </p:txBody>
        </p:sp>
        <p:sp>
          <p:nvSpPr>
            <p:cNvPr id="57415" name="Text Box 149"/>
            <p:cNvSpPr txBox="1">
              <a:spLocks noChangeArrowheads="1"/>
            </p:cNvSpPr>
            <p:nvPr/>
          </p:nvSpPr>
          <p:spPr bwMode="auto">
            <a:xfrm>
              <a:off x="8290511" y="3903664"/>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p>
          </p:txBody>
        </p:sp>
        <p:sp>
          <p:nvSpPr>
            <p:cNvPr id="57416" name="Freeform 150"/>
            <p:cNvSpPr>
              <a:spLocks noChangeArrowheads="1"/>
            </p:cNvSpPr>
            <p:nvPr/>
          </p:nvSpPr>
          <p:spPr bwMode="auto">
            <a:xfrm>
              <a:off x="6283515" y="3919539"/>
              <a:ext cx="98028" cy="403225"/>
            </a:xfrm>
            <a:custGeom>
              <a:avLst/>
              <a:gdLst>
                <a:gd name="T0" fmla="*/ 0 w 48"/>
                <a:gd name="T1" fmla="*/ 403225 h 192"/>
                <a:gd name="T2" fmla="*/ 0 w 48"/>
                <a:gd name="T3" fmla="*/ 0 h 192"/>
                <a:gd name="T4" fmla="*/ 98028 w 48"/>
                <a:gd name="T5" fmla="*/ 0 h 192"/>
                <a:gd name="T6" fmla="*/ 9802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17" name="Freeform 151"/>
            <p:cNvSpPr>
              <a:spLocks noChangeArrowheads="1"/>
            </p:cNvSpPr>
            <p:nvPr/>
          </p:nvSpPr>
          <p:spPr bwMode="auto">
            <a:xfrm>
              <a:off x="6673906" y="3919539"/>
              <a:ext cx="98029" cy="403225"/>
            </a:xfrm>
            <a:custGeom>
              <a:avLst/>
              <a:gdLst>
                <a:gd name="T0" fmla="*/ 0 w 48"/>
                <a:gd name="T1" fmla="*/ 403225 h 192"/>
                <a:gd name="T2" fmla="*/ 0 w 48"/>
                <a:gd name="T3" fmla="*/ 0 h 192"/>
                <a:gd name="T4" fmla="*/ 98029 w 48"/>
                <a:gd name="T5" fmla="*/ 0 h 192"/>
                <a:gd name="T6" fmla="*/ 98029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18" name="Freeform 152"/>
            <p:cNvSpPr>
              <a:spLocks noChangeArrowheads="1"/>
            </p:cNvSpPr>
            <p:nvPr/>
          </p:nvSpPr>
          <p:spPr bwMode="auto">
            <a:xfrm>
              <a:off x="7066019" y="3919539"/>
              <a:ext cx="98029" cy="403225"/>
            </a:xfrm>
            <a:custGeom>
              <a:avLst/>
              <a:gdLst>
                <a:gd name="T0" fmla="*/ 0 w 48"/>
                <a:gd name="T1" fmla="*/ 403225 h 192"/>
                <a:gd name="T2" fmla="*/ 0 w 48"/>
                <a:gd name="T3" fmla="*/ 0 h 192"/>
                <a:gd name="T4" fmla="*/ 98029 w 48"/>
                <a:gd name="T5" fmla="*/ 0 h 192"/>
                <a:gd name="T6" fmla="*/ 98029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19" name="Freeform 153"/>
            <p:cNvSpPr>
              <a:spLocks noChangeArrowheads="1"/>
            </p:cNvSpPr>
            <p:nvPr/>
          </p:nvSpPr>
          <p:spPr bwMode="auto">
            <a:xfrm>
              <a:off x="7458131" y="3919539"/>
              <a:ext cx="98029" cy="403225"/>
            </a:xfrm>
            <a:custGeom>
              <a:avLst/>
              <a:gdLst>
                <a:gd name="T0" fmla="*/ 0 w 48"/>
                <a:gd name="T1" fmla="*/ 403225 h 192"/>
                <a:gd name="T2" fmla="*/ 0 w 48"/>
                <a:gd name="T3" fmla="*/ 0 h 192"/>
                <a:gd name="T4" fmla="*/ 98029 w 48"/>
                <a:gd name="T5" fmla="*/ 0 h 192"/>
                <a:gd name="T6" fmla="*/ 98029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20" name="Freeform 154"/>
            <p:cNvSpPr>
              <a:spLocks noChangeArrowheads="1"/>
            </p:cNvSpPr>
            <p:nvPr/>
          </p:nvSpPr>
          <p:spPr bwMode="auto">
            <a:xfrm>
              <a:off x="7848525" y="3919539"/>
              <a:ext cx="98028" cy="403225"/>
            </a:xfrm>
            <a:custGeom>
              <a:avLst/>
              <a:gdLst>
                <a:gd name="T0" fmla="*/ 0 w 48"/>
                <a:gd name="T1" fmla="*/ 403225 h 192"/>
                <a:gd name="T2" fmla="*/ 0 w 48"/>
                <a:gd name="T3" fmla="*/ 0 h 192"/>
                <a:gd name="T4" fmla="*/ 98028 w 48"/>
                <a:gd name="T5" fmla="*/ 0 h 192"/>
                <a:gd name="T6" fmla="*/ 9802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21" name="Freeform 155"/>
            <p:cNvSpPr>
              <a:spLocks noChangeArrowheads="1"/>
            </p:cNvSpPr>
            <p:nvPr/>
          </p:nvSpPr>
          <p:spPr bwMode="auto">
            <a:xfrm>
              <a:off x="8240638" y="3919539"/>
              <a:ext cx="98028" cy="403225"/>
            </a:xfrm>
            <a:custGeom>
              <a:avLst/>
              <a:gdLst>
                <a:gd name="T0" fmla="*/ 0 w 48"/>
                <a:gd name="T1" fmla="*/ 403225 h 192"/>
                <a:gd name="T2" fmla="*/ 0 w 48"/>
                <a:gd name="T3" fmla="*/ 0 h 192"/>
                <a:gd name="T4" fmla="*/ 98028 w 48"/>
                <a:gd name="T5" fmla="*/ 0 h 192"/>
                <a:gd name="T6" fmla="*/ 9802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22" name="Freeform 156"/>
            <p:cNvSpPr>
              <a:spLocks noChangeArrowheads="1"/>
            </p:cNvSpPr>
            <p:nvPr/>
          </p:nvSpPr>
          <p:spPr bwMode="auto">
            <a:xfrm>
              <a:off x="8632750" y="3919539"/>
              <a:ext cx="98028" cy="403225"/>
            </a:xfrm>
            <a:custGeom>
              <a:avLst/>
              <a:gdLst>
                <a:gd name="T0" fmla="*/ 0 w 48"/>
                <a:gd name="T1" fmla="*/ 403225 h 192"/>
                <a:gd name="T2" fmla="*/ 0 w 48"/>
                <a:gd name="T3" fmla="*/ 0 h 192"/>
                <a:gd name="T4" fmla="*/ 98028 w 48"/>
                <a:gd name="T5" fmla="*/ 0 h 192"/>
                <a:gd name="T6" fmla="*/ 9802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23" name="Text Box 157"/>
            <p:cNvSpPr txBox="1">
              <a:spLocks noChangeArrowheads="1"/>
            </p:cNvSpPr>
            <p:nvPr/>
          </p:nvSpPr>
          <p:spPr bwMode="auto">
            <a:xfrm>
              <a:off x="7164048" y="4479503"/>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p>
          </p:txBody>
        </p:sp>
        <p:sp>
          <p:nvSpPr>
            <p:cNvPr id="57424" name="Text Box 158"/>
            <p:cNvSpPr txBox="1">
              <a:spLocks noChangeArrowheads="1"/>
            </p:cNvSpPr>
            <p:nvPr/>
          </p:nvSpPr>
          <p:spPr bwMode="auto">
            <a:xfrm>
              <a:off x="7925915" y="4479503"/>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p>
          </p:txBody>
        </p:sp>
        <p:sp>
          <p:nvSpPr>
            <p:cNvPr id="57425" name="Text Box 159"/>
            <p:cNvSpPr txBox="1">
              <a:spLocks noChangeArrowheads="1"/>
            </p:cNvSpPr>
            <p:nvPr/>
          </p:nvSpPr>
          <p:spPr bwMode="auto">
            <a:xfrm>
              <a:off x="4583940" y="1988840"/>
              <a:ext cx="173721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C00000"/>
                  </a:solidFill>
                  <a:ea typeface="黑体" panose="02010609060101010101" pitchFamily="49" charset="-122"/>
                </a:rPr>
                <a:t>统计</a:t>
              </a:r>
              <a:endParaRPr lang="en-US" altLang="zh-CN" sz="2800" b="1">
                <a:solidFill>
                  <a:srgbClr val="C00000"/>
                </a:solidFill>
                <a:ea typeface="黑体" panose="02010609060101010101" pitchFamily="49" charset="-122"/>
              </a:endParaRPr>
            </a:p>
            <a:p>
              <a:r>
                <a:rPr lang="zh-CN" altLang="en-US" sz="2800" b="1">
                  <a:solidFill>
                    <a:srgbClr val="C00000"/>
                  </a:solidFill>
                  <a:ea typeface="黑体" panose="02010609060101010101" pitchFamily="49" charset="-122"/>
                </a:rPr>
                <a:t>时分复用</a:t>
              </a:r>
            </a:p>
          </p:txBody>
        </p:sp>
        <p:sp>
          <p:nvSpPr>
            <p:cNvPr id="57426" name="Line 160"/>
            <p:cNvSpPr>
              <a:spLocks noChangeShapeType="1"/>
            </p:cNvSpPr>
            <p:nvPr/>
          </p:nvSpPr>
          <p:spPr bwMode="auto">
            <a:xfrm>
              <a:off x="6673907" y="4826000"/>
              <a:ext cx="686197" cy="5032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7" name="Line 161"/>
            <p:cNvSpPr>
              <a:spLocks noChangeShapeType="1"/>
            </p:cNvSpPr>
            <p:nvPr/>
          </p:nvSpPr>
          <p:spPr bwMode="auto">
            <a:xfrm>
              <a:off x="7458132" y="4826000"/>
              <a:ext cx="0" cy="5032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8" name="Line 162"/>
            <p:cNvSpPr>
              <a:spLocks noChangeShapeType="1"/>
            </p:cNvSpPr>
            <p:nvPr/>
          </p:nvSpPr>
          <p:spPr bwMode="auto">
            <a:xfrm flipH="1">
              <a:off x="7654188" y="4826000"/>
              <a:ext cx="488421" cy="5032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9" name="Line 163"/>
            <p:cNvSpPr>
              <a:spLocks noChangeShapeType="1"/>
            </p:cNvSpPr>
            <p:nvPr/>
          </p:nvSpPr>
          <p:spPr bwMode="auto">
            <a:xfrm>
              <a:off x="1215531" y="3114675"/>
              <a:ext cx="3229769"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430" name="Line 164"/>
            <p:cNvSpPr>
              <a:spLocks noChangeShapeType="1"/>
            </p:cNvSpPr>
            <p:nvPr/>
          </p:nvSpPr>
          <p:spPr bwMode="auto">
            <a:xfrm>
              <a:off x="1215531" y="3919538"/>
              <a:ext cx="3229769"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431" name="Line 165"/>
            <p:cNvSpPr>
              <a:spLocks noChangeShapeType="1"/>
            </p:cNvSpPr>
            <p:nvPr/>
          </p:nvSpPr>
          <p:spPr bwMode="auto">
            <a:xfrm>
              <a:off x="1215531" y="4725988"/>
              <a:ext cx="3229769"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432" name="Line 166"/>
            <p:cNvSpPr>
              <a:spLocks noChangeShapeType="1"/>
            </p:cNvSpPr>
            <p:nvPr/>
          </p:nvSpPr>
          <p:spPr bwMode="auto">
            <a:xfrm>
              <a:off x="1215531" y="5530850"/>
              <a:ext cx="3229769"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7433" name="Line 170"/>
            <p:cNvSpPr>
              <a:spLocks noChangeShapeType="1"/>
            </p:cNvSpPr>
            <p:nvPr/>
          </p:nvSpPr>
          <p:spPr bwMode="auto">
            <a:xfrm>
              <a:off x="6276635" y="3614738"/>
              <a:ext cx="0" cy="1079500"/>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4" name="Line 171"/>
            <p:cNvSpPr>
              <a:spLocks noChangeShapeType="1"/>
            </p:cNvSpPr>
            <p:nvPr/>
          </p:nvSpPr>
          <p:spPr bwMode="auto">
            <a:xfrm>
              <a:off x="7060860" y="3614738"/>
              <a:ext cx="0" cy="1079500"/>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5" name="Line 172"/>
            <p:cNvSpPr>
              <a:spLocks noChangeShapeType="1"/>
            </p:cNvSpPr>
            <p:nvPr/>
          </p:nvSpPr>
          <p:spPr bwMode="auto">
            <a:xfrm>
              <a:off x="7845085" y="3614738"/>
              <a:ext cx="0" cy="1079500"/>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6" name="Line 173"/>
            <p:cNvSpPr>
              <a:spLocks noChangeShapeType="1"/>
            </p:cNvSpPr>
            <p:nvPr/>
          </p:nvSpPr>
          <p:spPr bwMode="auto">
            <a:xfrm>
              <a:off x="8627590" y="3614738"/>
              <a:ext cx="0" cy="1079500"/>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7" name="矩形 2"/>
            <p:cNvSpPr>
              <a:spLocks noChangeArrowheads="1"/>
            </p:cNvSpPr>
            <p:nvPr/>
          </p:nvSpPr>
          <p:spPr bwMode="auto">
            <a:xfrm>
              <a:off x="2615613" y="5847655"/>
              <a:ext cx="51609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统计时分复用的工作原理</a:t>
              </a:r>
              <a:endParaRPr lang="zh-CN" altLang="en-US" sz="2400" b="1">
                <a:ea typeface="黑体" panose="02010609060101010101" pitchFamily="49" charset="-122"/>
              </a:endParaRPr>
            </a:p>
          </p:txBody>
        </p:sp>
      </p:grpSp>
      <p:sp>
        <p:nvSpPr>
          <p:cNvPr id="57349"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B6B650D-F4CC-40CB-A105-392E6A56C1B1}" type="slidenum">
              <a:rPr altLang="en-US" smtClean="0"/>
              <a:pPr/>
              <a:t>26</a:t>
            </a:fld>
            <a:endParaRPr lang="zh-CN" altLang="zh-CN" smtClean="0"/>
          </a:p>
        </p:txBody>
      </p:sp>
      <p:sp>
        <p:nvSpPr>
          <p:cNvPr id="57350"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Grp="1" noChangeArrowheads="1"/>
          </p:cNvSpPr>
          <p:nvPr>
            <p:ph type="title"/>
          </p:nvPr>
        </p:nvSpPr>
        <p:spPr>
          <a:xfrm>
            <a:off x="495300" y="188913"/>
            <a:ext cx="9066213" cy="1439862"/>
          </a:xfrm>
        </p:spPr>
        <p:txBody>
          <a:bodyPr/>
          <a:lstStyle/>
          <a:p>
            <a:pPr eaLnBrk="1" hangingPunct="1"/>
            <a:r>
              <a:rPr lang="en-US" altLang="zh-CN" dirty="0" smtClean="0">
                <a:ea typeface="黑体" panose="02010609060101010101" pitchFamily="49" charset="-122"/>
              </a:rPr>
              <a:t>2.4.2   </a:t>
            </a:r>
            <a:r>
              <a:rPr lang="zh-CN" altLang="en-US" dirty="0" smtClean="0">
                <a:ea typeface="黑体" panose="02010609060101010101" pitchFamily="49" charset="-122"/>
              </a:rPr>
              <a:t>波分复用 </a:t>
            </a:r>
            <a:r>
              <a:rPr lang="en-US" altLang="zh-CN" u="sng" dirty="0" smtClean="0">
                <a:solidFill>
                  <a:srgbClr val="FF0000"/>
                </a:solidFill>
                <a:ea typeface="黑体" panose="02010609060101010101" pitchFamily="49" charset="-122"/>
              </a:rPr>
              <a:t>WDM</a:t>
            </a:r>
            <a:r>
              <a:rPr lang="en-US" altLang="zh-CN" sz="4000" dirty="0" smtClean="0">
                <a:ea typeface="黑体" panose="02010609060101010101" pitchFamily="49" charset="-122"/>
              </a:rPr>
              <a:t/>
            </a:r>
            <a:br>
              <a:rPr lang="en-US" altLang="zh-CN" sz="4000" dirty="0" smtClean="0">
                <a:ea typeface="黑体" panose="02010609060101010101" pitchFamily="49" charset="-122"/>
              </a:rPr>
            </a:br>
            <a:r>
              <a:rPr lang="en-US" altLang="zh-CN" sz="4000" dirty="0" smtClean="0">
                <a:ea typeface="黑体" panose="02010609060101010101" pitchFamily="49" charset="-122"/>
              </a:rPr>
              <a:t>(Wavelength Division Multiplexing)  </a:t>
            </a:r>
          </a:p>
        </p:txBody>
      </p:sp>
      <p:sp>
        <p:nvSpPr>
          <p:cNvPr id="59395" name="矩形 1"/>
          <p:cNvSpPr>
            <a:spLocks noChangeArrowheads="1"/>
          </p:cNvSpPr>
          <p:nvPr/>
        </p:nvSpPr>
        <p:spPr bwMode="auto">
          <a:xfrm>
            <a:off x="2000250" y="1628775"/>
            <a:ext cx="6356350" cy="954088"/>
          </a:xfrm>
          <a:prstGeom prst="rect">
            <a:avLst/>
          </a:prstGeom>
          <a:solidFill>
            <a:srgbClr val="FFFF00"/>
          </a:solidFill>
          <a:ln w="9525">
            <a:solidFill>
              <a:srgbClr val="000099"/>
            </a:solidFill>
            <a:round/>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ea typeface="黑体" panose="02010609060101010101" pitchFamily="49" charset="-122"/>
              </a:rPr>
              <a:t>波分复用就是光的频分复用。</a:t>
            </a:r>
            <a:r>
              <a:rPr lang="zh-CN" altLang="zh-CN" sz="2800" b="1">
                <a:ea typeface="黑体" panose="02010609060101010101" pitchFamily="49" charset="-122"/>
              </a:rPr>
              <a:t>使用一根光纤来同时传输多个光载波信号</a:t>
            </a:r>
            <a:r>
              <a:rPr lang="zh-CN" altLang="en-US" sz="2800" b="1">
                <a:ea typeface="黑体" panose="02010609060101010101" pitchFamily="49" charset="-122"/>
              </a:rPr>
              <a:t>。</a:t>
            </a:r>
          </a:p>
        </p:txBody>
      </p:sp>
      <p:grpSp>
        <p:nvGrpSpPr>
          <p:cNvPr id="59396" name="组合 3"/>
          <p:cNvGrpSpPr>
            <a:grpSpLocks/>
          </p:cNvGrpSpPr>
          <p:nvPr/>
        </p:nvGrpSpPr>
        <p:grpSpPr bwMode="auto">
          <a:xfrm>
            <a:off x="293688" y="2133600"/>
            <a:ext cx="9580562" cy="4267200"/>
            <a:chOff x="293307" y="2132856"/>
            <a:chExt cx="9580377" cy="4268326"/>
          </a:xfrm>
        </p:grpSpPr>
        <p:sp>
          <p:nvSpPr>
            <p:cNvPr id="59399" name="Text Box 2"/>
            <p:cNvSpPr txBox="1">
              <a:spLocks noChangeArrowheads="1"/>
            </p:cNvSpPr>
            <p:nvPr/>
          </p:nvSpPr>
          <p:spPr bwMode="auto">
            <a:xfrm flipH="1">
              <a:off x="7446995" y="2780928"/>
              <a:ext cx="2270173"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15000"/>
                </a:lnSpc>
              </a:pPr>
              <a:r>
                <a:rPr lang="en-US" altLang="zh-CN" sz="2000" b="1">
                  <a:solidFill>
                    <a:srgbClr val="000099"/>
                  </a:solidFill>
                  <a:ea typeface="黑体" panose="02010609060101010101" pitchFamily="49" charset="-122"/>
                </a:rPr>
                <a:t> 1550 nm           0 </a:t>
              </a:r>
            </a:p>
            <a:p>
              <a:pPr>
                <a:lnSpc>
                  <a:spcPct val="115000"/>
                </a:lnSpc>
              </a:pPr>
              <a:r>
                <a:rPr lang="en-US" altLang="zh-CN" sz="2000" b="1">
                  <a:solidFill>
                    <a:srgbClr val="000099"/>
                  </a:solidFill>
                  <a:ea typeface="黑体" panose="02010609060101010101" pitchFamily="49" charset="-122"/>
                </a:rPr>
                <a:t> 1551 nm           1</a:t>
              </a:r>
            </a:p>
            <a:p>
              <a:pPr>
                <a:lnSpc>
                  <a:spcPct val="115000"/>
                </a:lnSpc>
              </a:pPr>
              <a:r>
                <a:rPr lang="en-US" altLang="zh-CN" sz="2000" b="1">
                  <a:solidFill>
                    <a:srgbClr val="000099"/>
                  </a:solidFill>
                  <a:ea typeface="黑体" panose="02010609060101010101" pitchFamily="49" charset="-122"/>
                </a:rPr>
                <a:t> 1552 nm           2</a:t>
              </a:r>
            </a:p>
            <a:p>
              <a:pPr>
                <a:lnSpc>
                  <a:spcPct val="115000"/>
                </a:lnSpc>
              </a:pPr>
              <a:r>
                <a:rPr lang="en-US" altLang="zh-CN" sz="2000" b="1">
                  <a:solidFill>
                    <a:srgbClr val="000099"/>
                  </a:solidFill>
                  <a:ea typeface="黑体" panose="02010609060101010101" pitchFamily="49" charset="-122"/>
                </a:rPr>
                <a:t> 1553 nm           3</a:t>
              </a:r>
            </a:p>
            <a:p>
              <a:pPr>
                <a:lnSpc>
                  <a:spcPct val="115000"/>
                </a:lnSpc>
              </a:pPr>
              <a:r>
                <a:rPr lang="en-US" altLang="zh-CN" sz="2000" b="1">
                  <a:solidFill>
                    <a:srgbClr val="000099"/>
                  </a:solidFill>
                  <a:ea typeface="黑体" panose="02010609060101010101" pitchFamily="49" charset="-122"/>
                </a:rPr>
                <a:t> 1554 nm           4</a:t>
              </a:r>
            </a:p>
            <a:p>
              <a:pPr>
                <a:lnSpc>
                  <a:spcPct val="115000"/>
                </a:lnSpc>
              </a:pPr>
              <a:r>
                <a:rPr lang="en-US" altLang="zh-CN" sz="2000" b="1">
                  <a:solidFill>
                    <a:srgbClr val="000099"/>
                  </a:solidFill>
                  <a:ea typeface="黑体" panose="02010609060101010101" pitchFamily="49" charset="-122"/>
                </a:rPr>
                <a:t> 1555 nm           5</a:t>
              </a:r>
            </a:p>
            <a:p>
              <a:pPr>
                <a:lnSpc>
                  <a:spcPct val="115000"/>
                </a:lnSpc>
              </a:pPr>
              <a:r>
                <a:rPr lang="en-US" altLang="zh-CN" sz="2000" b="1">
                  <a:solidFill>
                    <a:srgbClr val="000099"/>
                  </a:solidFill>
                  <a:ea typeface="黑体" panose="02010609060101010101" pitchFamily="49" charset="-122"/>
                </a:rPr>
                <a:t> 1556 nm           6</a:t>
              </a:r>
            </a:p>
            <a:p>
              <a:pPr>
                <a:lnSpc>
                  <a:spcPct val="115000"/>
                </a:lnSpc>
              </a:pPr>
              <a:r>
                <a:rPr lang="en-US" altLang="zh-CN" sz="2000" b="1">
                  <a:solidFill>
                    <a:srgbClr val="000099"/>
                  </a:solidFill>
                  <a:ea typeface="黑体" panose="02010609060101010101" pitchFamily="49" charset="-122"/>
                </a:rPr>
                <a:t> 1557 nm           7</a:t>
              </a:r>
            </a:p>
          </p:txBody>
        </p:sp>
        <p:sp>
          <p:nvSpPr>
            <p:cNvPr id="59400" name="Text Box 3"/>
            <p:cNvSpPr txBox="1">
              <a:spLocks noChangeArrowheads="1"/>
            </p:cNvSpPr>
            <p:nvPr/>
          </p:nvSpPr>
          <p:spPr bwMode="auto">
            <a:xfrm>
              <a:off x="332217" y="2817440"/>
              <a:ext cx="248177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15000"/>
                </a:lnSpc>
              </a:pPr>
              <a:r>
                <a:rPr lang="en-US" altLang="zh-CN" sz="2000" b="1">
                  <a:solidFill>
                    <a:srgbClr val="000099"/>
                  </a:solidFill>
                  <a:ea typeface="黑体" panose="02010609060101010101" pitchFamily="49" charset="-122"/>
                </a:rPr>
                <a:t>0            1550 nm    </a:t>
              </a:r>
            </a:p>
            <a:p>
              <a:pPr>
                <a:lnSpc>
                  <a:spcPct val="115000"/>
                </a:lnSpc>
              </a:pPr>
              <a:r>
                <a:rPr lang="en-US" altLang="zh-CN" sz="2000" b="1">
                  <a:solidFill>
                    <a:srgbClr val="000099"/>
                  </a:solidFill>
                  <a:ea typeface="黑体" panose="02010609060101010101" pitchFamily="49" charset="-122"/>
                </a:rPr>
                <a:t>1            1551 nm  </a:t>
              </a:r>
            </a:p>
            <a:p>
              <a:pPr>
                <a:lnSpc>
                  <a:spcPct val="115000"/>
                </a:lnSpc>
              </a:pPr>
              <a:r>
                <a:rPr lang="en-US" altLang="zh-CN" sz="2000" b="1">
                  <a:solidFill>
                    <a:srgbClr val="000099"/>
                  </a:solidFill>
                  <a:ea typeface="黑体" panose="02010609060101010101" pitchFamily="49" charset="-122"/>
                </a:rPr>
                <a:t>2            1552 nm  </a:t>
              </a:r>
            </a:p>
            <a:p>
              <a:pPr>
                <a:lnSpc>
                  <a:spcPct val="115000"/>
                </a:lnSpc>
              </a:pPr>
              <a:r>
                <a:rPr lang="en-US" altLang="zh-CN" sz="2000" b="1">
                  <a:solidFill>
                    <a:srgbClr val="000099"/>
                  </a:solidFill>
                  <a:ea typeface="黑体" panose="02010609060101010101" pitchFamily="49" charset="-122"/>
                </a:rPr>
                <a:t>3            1553 nm  </a:t>
              </a:r>
            </a:p>
            <a:p>
              <a:pPr>
                <a:lnSpc>
                  <a:spcPct val="115000"/>
                </a:lnSpc>
              </a:pPr>
              <a:r>
                <a:rPr lang="en-US" altLang="zh-CN" sz="2000" b="1">
                  <a:solidFill>
                    <a:srgbClr val="000099"/>
                  </a:solidFill>
                  <a:ea typeface="黑体" panose="02010609060101010101" pitchFamily="49" charset="-122"/>
                </a:rPr>
                <a:t>4            1554 nm  </a:t>
              </a:r>
            </a:p>
            <a:p>
              <a:pPr>
                <a:lnSpc>
                  <a:spcPct val="115000"/>
                </a:lnSpc>
              </a:pPr>
              <a:r>
                <a:rPr lang="en-US" altLang="zh-CN" sz="2000" b="1">
                  <a:solidFill>
                    <a:srgbClr val="000099"/>
                  </a:solidFill>
                  <a:ea typeface="黑体" panose="02010609060101010101" pitchFamily="49" charset="-122"/>
                </a:rPr>
                <a:t>5            1555 nm  </a:t>
              </a:r>
            </a:p>
            <a:p>
              <a:pPr>
                <a:lnSpc>
                  <a:spcPct val="115000"/>
                </a:lnSpc>
              </a:pPr>
              <a:r>
                <a:rPr lang="en-US" altLang="zh-CN" sz="2000" b="1">
                  <a:solidFill>
                    <a:srgbClr val="000099"/>
                  </a:solidFill>
                  <a:ea typeface="黑体" panose="02010609060101010101" pitchFamily="49" charset="-122"/>
                </a:rPr>
                <a:t>6            1556 nm  </a:t>
              </a:r>
            </a:p>
            <a:p>
              <a:pPr>
                <a:lnSpc>
                  <a:spcPct val="115000"/>
                </a:lnSpc>
              </a:pPr>
              <a:r>
                <a:rPr lang="en-US" altLang="zh-CN" sz="2000" b="1">
                  <a:solidFill>
                    <a:srgbClr val="000099"/>
                  </a:solidFill>
                  <a:ea typeface="黑体" panose="02010609060101010101" pitchFamily="49" charset="-122"/>
                </a:rPr>
                <a:t>7            1557 nm  </a:t>
              </a:r>
            </a:p>
          </p:txBody>
        </p:sp>
        <p:sp>
          <p:nvSpPr>
            <p:cNvPr id="59401" name="Text Box 6"/>
            <p:cNvSpPr txBox="1">
              <a:spLocks noChangeArrowheads="1"/>
            </p:cNvSpPr>
            <p:nvPr/>
          </p:nvSpPr>
          <p:spPr bwMode="auto">
            <a:xfrm>
              <a:off x="293307" y="5754851"/>
              <a:ext cx="1491341" cy="646331"/>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8 </a:t>
              </a:r>
              <a:r>
                <a:rPr lang="en-US" altLang="zh-CN" b="1">
                  <a:solidFill>
                    <a:srgbClr val="000099"/>
                  </a:solidFill>
                  <a:ea typeface="黑体" panose="02010609060101010101" pitchFamily="49" charset="-122"/>
                  <a:sym typeface="Symbol" panose="05050102010706020507" pitchFamily="18" charset="2"/>
                </a:rPr>
                <a:t> </a:t>
              </a:r>
              <a:r>
                <a:rPr lang="en-US" altLang="zh-CN" b="1">
                  <a:solidFill>
                    <a:srgbClr val="000099"/>
                  </a:solidFill>
                  <a:ea typeface="黑体" panose="02010609060101010101" pitchFamily="49" charset="-122"/>
                </a:rPr>
                <a:t>2.5 Gb/s</a:t>
              </a:r>
            </a:p>
            <a:p>
              <a:r>
                <a:rPr lang="en-US" altLang="zh-CN" b="1">
                  <a:solidFill>
                    <a:srgbClr val="000099"/>
                  </a:solidFill>
                  <a:ea typeface="黑体" panose="02010609060101010101" pitchFamily="49" charset="-122"/>
                </a:rPr>
                <a:t>1310 nm</a:t>
              </a:r>
            </a:p>
          </p:txBody>
        </p:sp>
        <p:sp>
          <p:nvSpPr>
            <p:cNvPr id="59402" name="Line 7"/>
            <p:cNvSpPr>
              <a:spLocks noChangeShapeType="1"/>
            </p:cNvSpPr>
            <p:nvPr/>
          </p:nvSpPr>
          <p:spPr bwMode="auto">
            <a:xfrm>
              <a:off x="7584578" y="3192089"/>
              <a:ext cx="2264966"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03" name="Line 8"/>
            <p:cNvSpPr>
              <a:spLocks noChangeShapeType="1"/>
            </p:cNvSpPr>
            <p:nvPr/>
          </p:nvSpPr>
          <p:spPr bwMode="auto">
            <a:xfrm>
              <a:off x="7584578" y="3542927"/>
              <a:ext cx="2264966"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04" name="Line 9"/>
            <p:cNvSpPr>
              <a:spLocks noChangeShapeType="1"/>
            </p:cNvSpPr>
            <p:nvPr/>
          </p:nvSpPr>
          <p:spPr bwMode="auto">
            <a:xfrm>
              <a:off x="7584578" y="3892177"/>
              <a:ext cx="2264966"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05" name="Line 10"/>
            <p:cNvSpPr>
              <a:spLocks noChangeShapeType="1"/>
            </p:cNvSpPr>
            <p:nvPr/>
          </p:nvSpPr>
          <p:spPr bwMode="auto">
            <a:xfrm>
              <a:off x="7584578" y="4244602"/>
              <a:ext cx="2264966"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06" name="Line 11"/>
            <p:cNvSpPr>
              <a:spLocks noChangeShapeType="1"/>
            </p:cNvSpPr>
            <p:nvPr/>
          </p:nvSpPr>
          <p:spPr bwMode="auto">
            <a:xfrm>
              <a:off x="7584578" y="4593852"/>
              <a:ext cx="2264966"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07" name="Line 12"/>
            <p:cNvSpPr>
              <a:spLocks noChangeShapeType="1"/>
            </p:cNvSpPr>
            <p:nvPr/>
          </p:nvSpPr>
          <p:spPr bwMode="auto">
            <a:xfrm>
              <a:off x="7584578" y="4946277"/>
              <a:ext cx="2264966"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08" name="Line 13"/>
            <p:cNvSpPr>
              <a:spLocks noChangeShapeType="1"/>
            </p:cNvSpPr>
            <p:nvPr/>
          </p:nvSpPr>
          <p:spPr bwMode="auto">
            <a:xfrm>
              <a:off x="7584578" y="5295527"/>
              <a:ext cx="2264966"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09" name="Line 14"/>
            <p:cNvSpPr>
              <a:spLocks noChangeShapeType="1"/>
            </p:cNvSpPr>
            <p:nvPr/>
          </p:nvSpPr>
          <p:spPr bwMode="auto">
            <a:xfrm>
              <a:off x="7584578" y="5647952"/>
              <a:ext cx="2264966"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0" name="Line 15"/>
            <p:cNvSpPr>
              <a:spLocks noChangeShapeType="1"/>
            </p:cNvSpPr>
            <p:nvPr/>
          </p:nvSpPr>
          <p:spPr bwMode="auto">
            <a:xfrm>
              <a:off x="332218" y="3192089"/>
              <a:ext cx="2264965"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1" name="Line 16"/>
            <p:cNvSpPr>
              <a:spLocks noChangeShapeType="1"/>
            </p:cNvSpPr>
            <p:nvPr/>
          </p:nvSpPr>
          <p:spPr bwMode="auto">
            <a:xfrm>
              <a:off x="332218" y="3542927"/>
              <a:ext cx="2264965"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2" name="Line 17"/>
            <p:cNvSpPr>
              <a:spLocks noChangeShapeType="1"/>
            </p:cNvSpPr>
            <p:nvPr/>
          </p:nvSpPr>
          <p:spPr bwMode="auto">
            <a:xfrm>
              <a:off x="332218" y="3892177"/>
              <a:ext cx="2264965"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3" name="Line 18"/>
            <p:cNvSpPr>
              <a:spLocks noChangeShapeType="1"/>
            </p:cNvSpPr>
            <p:nvPr/>
          </p:nvSpPr>
          <p:spPr bwMode="auto">
            <a:xfrm>
              <a:off x="332218" y="4244602"/>
              <a:ext cx="2264965"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4" name="Line 19"/>
            <p:cNvSpPr>
              <a:spLocks noChangeShapeType="1"/>
            </p:cNvSpPr>
            <p:nvPr/>
          </p:nvSpPr>
          <p:spPr bwMode="auto">
            <a:xfrm>
              <a:off x="332218" y="4593852"/>
              <a:ext cx="2264965"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5" name="Line 20"/>
            <p:cNvSpPr>
              <a:spLocks noChangeShapeType="1"/>
            </p:cNvSpPr>
            <p:nvPr/>
          </p:nvSpPr>
          <p:spPr bwMode="auto">
            <a:xfrm>
              <a:off x="332218" y="4946277"/>
              <a:ext cx="2264965"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6" name="Line 21"/>
            <p:cNvSpPr>
              <a:spLocks noChangeShapeType="1"/>
            </p:cNvSpPr>
            <p:nvPr/>
          </p:nvSpPr>
          <p:spPr bwMode="auto">
            <a:xfrm>
              <a:off x="332218" y="5295527"/>
              <a:ext cx="2264965"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7" name="Line 22"/>
            <p:cNvSpPr>
              <a:spLocks noChangeShapeType="1"/>
            </p:cNvSpPr>
            <p:nvPr/>
          </p:nvSpPr>
          <p:spPr bwMode="auto">
            <a:xfrm>
              <a:off x="332218" y="5647952"/>
              <a:ext cx="2264965" cy="0"/>
            </a:xfrm>
            <a:prstGeom prst="line">
              <a:avLst/>
            </a:prstGeom>
            <a:noFill/>
            <a:ln w="28575">
              <a:solidFill>
                <a:srgbClr val="333399"/>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59418" name="Line 23"/>
            <p:cNvSpPr>
              <a:spLocks noChangeShapeType="1"/>
            </p:cNvSpPr>
            <p:nvPr/>
          </p:nvSpPr>
          <p:spPr bwMode="auto">
            <a:xfrm>
              <a:off x="2650497" y="4414464"/>
              <a:ext cx="487389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9" name="AutoShape 24"/>
            <p:cNvSpPr>
              <a:spLocks noChangeArrowheads="1"/>
            </p:cNvSpPr>
            <p:nvPr/>
          </p:nvSpPr>
          <p:spPr bwMode="auto">
            <a:xfrm rot="5400000">
              <a:off x="3580174" y="4249695"/>
              <a:ext cx="354013" cy="321601"/>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0" name="Rectangle 25"/>
            <p:cNvSpPr>
              <a:spLocks noChangeArrowheads="1"/>
            </p:cNvSpPr>
            <p:nvPr/>
          </p:nvSpPr>
          <p:spPr bwMode="auto">
            <a:xfrm>
              <a:off x="824078" y="3095252"/>
              <a:ext cx="538294" cy="1968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1" name="Rectangle 26"/>
            <p:cNvSpPr>
              <a:spLocks noChangeArrowheads="1"/>
            </p:cNvSpPr>
            <p:nvPr/>
          </p:nvSpPr>
          <p:spPr bwMode="auto">
            <a:xfrm>
              <a:off x="824078" y="3444502"/>
              <a:ext cx="538294" cy="195262"/>
            </a:xfrm>
            <a:prstGeom prst="rect">
              <a:avLst/>
            </a:prstGeom>
            <a:solidFill>
              <a:srgbClr val="CCFF99"/>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2" name="Rectangle 27"/>
            <p:cNvSpPr>
              <a:spLocks noChangeArrowheads="1"/>
            </p:cNvSpPr>
            <p:nvPr/>
          </p:nvSpPr>
          <p:spPr bwMode="auto">
            <a:xfrm>
              <a:off x="824078" y="3795340"/>
              <a:ext cx="538294" cy="195263"/>
            </a:xfrm>
            <a:prstGeom prst="rect">
              <a:avLst/>
            </a:prstGeom>
            <a:solidFill>
              <a:srgbClr val="CCCC00"/>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3" name="Rectangle 28"/>
            <p:cNvSpPr>
              <a:spLocks noChangeArrowheads="1"/>
            </p:cNvSpPr>
            <p:nvPr/>
          </p:nvSpPr>
          <p:spPr bwMode="auto">
            <a:xfrm>
              <a:off x="824078" y="4146177"/>
              <a:ext cx="538294" cy="195262"/>
            </a:xfrm>
            <a:prstGeom prst="rect">
              <a:avLst/>
            </a:prstGeom>
            <a:solidFill>
              <a:srgbClr val="00CCFF"/>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4" name="Rectangle 29"/>
            <p:cNvSpPr>
              <a:spLocks noChangeArrowheads="1"/>
            </p:cNvSpPr>
            <p:nvPr/>
          </p:nvSpPr>
          <p:spPr bwMode="auto">
            <a:xfrm>
              <a:off x="824078" y="4497015"/>
              <a:ext cx="538294" cy="195263"/>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5" name="Rectangle 30"/>
            <p:cNvSpPr>
              <a:spLocks noChangeArrowheads="1"/>
            </p:cNvSpPr>
            <p:nvPr/>
          </p:nvSpPr>
          <p:spPr bwMode="auto">
            <a:xfrm>
              <a:off x="824078" y="4847852"/>
              <a:ext cx="538294" cy="195262"/>
            </a:xfrm>
            <a:prstGeom prst="rect">
              <a:avLst/>
            </a:prstGeom>
            <a:solidFill>
              <a:srgbClr val="00CC00"/>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6" name="Rectangle 31"/>
            <p:cNvSpPr>
              <a:spLocks noChangeArrowheads="1"/>
            </p:cNvSpPr>
            <p:nvPr/>
          </p:nvSpPr>
          <p:spPr bwMode="auto">
            <a:xfrm>
              <a:off x="824078" y="5198690"/>
              <a:ext cx="538294" cy="195263"/>
            </a:xfrm>
            <a:prstGeom prst="rect">
              <a:avLst/>
            </a:prstGeom>
            <a:solidFill>
              <a:srgbClr val="FF00FF"/>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7" name="Rectangle 32"/>
            <p:cNvSpPr>
              <a:spLocks noChangeArrowheads="1"/>
            </p:cNvSpPr>
            <p:nvPr/>
          </p:nvSpPr>
          <p:spPr bwMode="auto">
            <a:xfrm>
              <a:off x="824078" y="5547939"/>
              <a:ext cx="538294" cy="196850"/>
            </a:xfrm>
            <a:prstGeom prst="rect">
              <a:avLst/>
            </a:prstGeom>
            <a:solidFill>
              <a:srgbClr val="3399FF"/>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28" name="Text Box 33"/>
            <p:cNvSpPr txBox="1">
              <a:spLocks noChangeArrowheads="1"/>
            </p:cNvSpPr>
            <p:nvPr/>
          </p:nvSpPr>
          <p:spPr bwMode="auto">
            <a:xfrm>
              <a:off x="3828553" y="3368303"/>
              <a:ext cx="110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20 Gb/s</a:t>
              </a:r>
            </a:p>
          </p:txBody>
        </p:sp>
        <p:sp>
          <p:nvSpPr>
            <p:cNvPr id="59429" name="AutoShape 34"/>
            <p:cNvSpPr>
              <a:spLocks noChangeArrowheads="1"/>
            </p:cNvSpPr>
            <p:nvPr/>
          </p:nvSpPr>
          <p:spPr bwMode="auto">
            <a:xfrm rot="-5400000">
              <a:off x="1138799" y="4150013"/>
              <a:ext cx="3240087" cy="540015"/>
            </a:xfrm>
            <a:custGeom>
              <a:avLst/>
              <a:gdLst>
                <a:gd name="T0" fmla="*/ 0 w 21600"/>
                <a:gd name="T1" fmla="*/ 0 h 21600"/>
                <a:gd name="T2" fmla="*/ 361210 w 21600"/>
                <a:gd name="T3" fmla="*/ 540015 h 21600"/>
                <a:gd name="T4" fmla="*/ 2878877 w 21600"/>
                <a:gd name="T5" fmla="*/ 540015 h 21600"/>
                <a:gd name="T6" fmla="*/ 3240087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408" y="21600"/>
                  </a:lnTo>
                  <a:lnTo>
                    <a:pt x="19192" y="21600"/>
                  </a:lnTo>
                  <a:lnTo>
                    <a:pt x="21600" y="0"/>
                  </a:lnTo>
                  <a:lnTo>
                    <a:pt x="0" y="0"/>
                  </a:lnTo>
                  <a:close/>
                </a:path>
              </a:pathLst>
            </a:custGeom>
            <a:solidFill>
              <a:srgbClr val="CCCC00"/>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59430" name="AutoShape 35"/>
            <p:cNvSpPr>
              <a:spLocks noChangeArrowheads="1"/>
            </p:cNvSpPr>
            <p:nvPr/>
          </p:nvSpPr>
          <p:spPr bwMode="auto">
            <a:xfrm rot="5400000" flipH="1">
              <a:off x="5695387" y="4150874"/>
              <a:ext cx="3240087" cy="538294"/>
            </a:xfrm>
            <a:custGeom>
              <a:avLst/>
              <a:gdLst>
                <a:gd name="T0" fmla="*/ 0 w 21600"/>
                <a:gd name="T1" fmla="*/ 0 h 21600"/>
                <a:gd name="T2" fmla="*/ 361210 w 21600"/>
                <a:gd name="T3" fmla="*/ 538294 h 21600"/>
                <a:gd name="T4" fmla="*/ 2878877 w 21600"/>
                <a:gd name="T5" fmla="*/ 538294 h 21600"/>
                <a:gd name="T6" fmla="*/ 3240087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408" y="21600"/>
                  </a:lnTo>
                  <a:lnTo>
                    <a:pt x="19192" y="21600"/>
                  </a:lnTo>
                  <a:lnTo>
                    <a:pt x="21600" y="0"/>
                  </a:lnTo>
                  <a:lnTo>
                    <a:pt x="0" y="0"/>
                  </a:lnTo>
                  <a:close/>
                </a:path>
              </a:pathLst>
            </a:custGeom>
            <a:solidFill>
              <a:srgbClr val="FF9999"/>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59431" name="Rectangle 36"/>
            <p:cNvSpPr>
              <a:spLocks noChangeArrowheads="1"/>
            </p:cNvSpPr>
            <p:nvPr/>
          </p:nvSpPr>
          <p:spPr bwMode="auto">
            <a:xfrm>
              <a:off x="8788432" y="3095252"/>
              <a:ext cx="538295" cy="1968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32" name="Rectangle 37"/>
            <p:cNvSpPr>
              <a:spLocks noChangeArrowheads="1"/>
            </p:cNvSpPr>
            <p:nvPr/>
          </p:nvSpPr>
          <p:spPr bwMode="auto">
            <a:xfrm>
              <a:off x="8788432" y="3444502"/>
              <a:ext cx="538295" cy="195262"/>
            </a:xfrm>
            <a:prstGeom prst="rect">
              <a:avLst/>
            </a:prstGeom>
            <a:solidFill>
              <a:srgbClr val="CCFF99"/>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33" name="Rectangle 38"/>
            <p:cNvSpPr>
              <a:spLocks noChangeArrowheads="1"/>
            </p:cNvSpPr>
            <p:nvPr/>
          </p:nvSpPr>
          <p:spPr bwMode="auto">
            <a:xfrm>
              <a:off x="8788432" y="3795340"/>
              <a:ext cx="538295" cy="195263"/>
            </a:xfrm>
            <a:prstGeom prst="rect">
              <a:avLst/>
            </a:prstGeom>
            <a:solidFill>
              <a:srgbClr val="CCCC00"/>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34" name="Rectangle 39"/>
            <p:cNvSpPr>
              <a:spLocks noChangeArrowheads="1"/>
            </p:cNvSpPr>
            <p:nvPr/>
          </p:nvSpPr>
          <p:spPr bwMode="auto">
            <a:xfrm>
              <a:off x="8788432" y="4146177"/>
              <a:ext cx="538295" cy="195262"/>
            </a:xfrm>
            <a:prstGeom prst="rect">
              <a:avLst/>
            </a:prstGeom>
            <a:solidFill>
              <a:srgbClr val="00CCFF"/>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35" name="Rectangle 40"/>
            <p:cNvSpPr>
              <a:spLocks noChangeArrowheads="1"/>
            </p:cNvSpPr>
            <p:nvPr/>
          </p:nvSpPr>
          <p:spPr bwMode="auto">
            <a:xfrm>
              <a:off x="8788432" y="4497015"/>
              <a:ext cx="538295" cy="195263"/>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36" name="Rectangle 41"/>
            <p:cNvSpPr>
              <a:spLocks noChangeArrowheads="1"/>
            </p:cNvSpPr>
            <p:nvPr/>
          </p:nvSpPr>
          <p:spPr bwMode="auto">
            <a:xfrm>
              <a:off x="8788432" y="4847852"/>
              <a:ext cx="538295" cy="195262"/>
            </a:xfrm>
            <a:prstGeom prst="rect">
              <a:avLst/>
            </a:prstGeom>
            <a:solidFill>
              <a:srgbClr val="00CC00"/>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37" name="Rectangle 42"/>
            <p:cNvSpPr>
              <a:spLocks noChangeArrowheads="1"/>
            </p:cNvSpPr>
            <p:nvPr/>
          </p:nvSpPr>
          <p:spPr bwMode="auto">
            <a:xfrm>
              <a:off x="8788432" y="5198690"/>
              <a:ext cx="538295" cy="195263"/>
            </a:xfrm>
            <a:prstGeom prst="rect">
              <a:avLst/>
            </a:prstGeom>
            <a:solidFill>
              <a:srgbClr val="FF00FF"/>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38" name="Rectangle 43"/>
            <p:cNvSpPr>
              <a:spLocks noChangeArrowheads="1"/>
            </p:cNvSpPr>
            <p:nvPr/>
          </p:nvSpPr>
          <p:spPr bwMode="auto">
            <a:xfrm>
              <a:off x="8788432" y="5547939"/>
              <a:ext cx="538295" cy="196850"/>
            </a:xfrm>
            <a:prstGeom prst="rect">
              <a:avLst/>
            </a:prstGeom>
            <a:solidFill>
              <a:srgbClr val="3399FF"/>
            </a:solid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39" name="AutoShape 44"/>
            <p:cNvSpPr>
              <a:spLocks noChangeArrowheads="1"/>
            </p:cNvSpPr>
            <p:nvPr/>
          </p:nvSpPr>
          <p:spPr bwMode="auto">
            <a:xfrm rot="5400000">
              <a:off x="4853680" y="4250555"/>
              <a:ext cx="354013" cy="319881"/>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40" name="AutoShape 45"/>
            <p:cNvSpPr>
              <a:spLocks noChangeArrowheads="1"/>
            </p:cNvSpPr>
            <p:nvPr/>
          </p:nvSpPr>
          <p:spPr bwMode="auto">
            <a:xfrm rot="5400000">
              <a:off x="6166741" y="4249695"/>
              <a:ext cx="354013" cy="321601"/>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59441" name="Line 46"/>
            <p:cNvSpPr>
              <a:spLocks noChangeShapeType="1"/>
            </p:cNvSpPr>
            <p:nvPr/>
          </p:nvSpPr>
          <p:spPr bwMode="auto">
            <a:xfrm flipH="1">
              <a:off x="4210347" y="3782639"/>
              <a:ext cx="139304" cy="62230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2" name="Text Box 47"/>
            <p:cNvSpPr txBox="1">
              <a:spLocks noChangeArrowheads="1"/>
            </p:cNvSpPr>
            <p:nvPr/>
          </p:nvSpPr>
          <p:spPr bwMode="auto">
            <a:xfrm>
              <a:off x="2516352" y="3881065"/>
              <a:ext cx="4411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复</a:t>
              </a:r>
            </a:p>
            <a:p>
              <a:r>
                <a:rPr lang="zh-CN" altLang="en-US" sz="2000" b="1">
                  <a:solidFill>
                    <a:srgbClr val="000099"/>
                  </a:solidFill>
                  <a:ea typeface="黑体" panose="02010609060101010101" pitchFamily="49" charset="-122"/>
                </a:rPr>
                <a:t>用</a:t>
              </a:r>
            </a:p>
            <a:p>
              <a:r>
                <a:rPr lang="zh-CN" altLang="en-US" sz="2000" b="1">
                  <a:solidFill>
                    <a:srgbClr val="000099"/>
                  </a:solidFill>
                  <a:ea typeface="黑体" panose="02010609060101010101" pitchFamily="49" charset="-122"/>
                </a:rPr>
                <a:t>器</a:t>
              </a:r>
            </a:p>
          </p:txBody>
        </p:sp>
        <p:sp>
          <p:nvSpPr>
            <p:cNvPr id="59443" name="Text Box 48"/>
            <p:cNvSpPr txBox="1">
              <a:spLocks noChangeArrowheads="1"/>
            </p:cNvSpPr>
            <p:nvPr/>
          </p:nvSpPr>
          <p:spPr bwMode="auto">
            <a:xfrm>
              <a:off x="7077240" y="3881065"/>
              <a:ext cx="4411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分</a:t>
              </a:r>
            </a:p>
            <a:p>
              <a:r>
                <a:rPr lang="zh-CN" altLang="en-US" sz="2000" b="1">
                  <a:solidFill>
                    <a:srgbClr val="000099"/>
                  </a:solidFill>
                  <a:ea typeface="黑体" panose="02010609060101010101" pitchFamily="49" charset="-122"/>
                </a:rPr>
                <a:t>用</a:t>
              </a:r>
            </a:p>
            <a:p>
              <a:r>
                <a:rPr lang="zh-CN" altLang="en-US" sz="2000" b="1">
                  <a:solidFill>
                    <a:srgbClr val="000099"/>
                  </a:solidFill>
                  <a:ea typeface="黑体" panose="02010609060101010101" pitchFamily="49" charset="-122"/>
                </a:rPr>
                <a:t>器</a:t>
              </a:r>
            </a:p>
          </p:txBody>
        </p:sp>
        <p:sp>
          <p:nvSpPr>
            <p:cNvPr id="59444" name="Text Box 49"/>
            <p:cNvSpPr txBox="1">
              <a:spLocks noChangeArrowheads="1"/>
            </p:cNvSpPr>
            <p:nvPr/>
          </p:nvSpPr>
          <p:spPr bwMode="auto">
            <a:xfrm>
              <a:off x="5104638" y="3468314"/>
              <a:ext cx="8710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EDFA</a:t>
              </a:r>
            </a:p>
          </p:txBody>
        </p:sp>
        <p:sp>
          <p:nvSpPr>
            <p:cNvPr id="59445" name="Line 50"/>
            <p:cNvSpPr>
              <a:spLocks noChangeShapeType="1"/>
            </p:cNvSpPr>
            <p:nvPr/>
          </p:nvSpPr>
          <p:spPr bwMode="auto">
            <a:xfrm flipH="1">
              <a:off x="5061644" y="3879477"/>
              <a:ext cx="474663" cy="43180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6" name="Line 51"/>
            <p:cNvSpPr>
              <a:spLocks noChangeShapeType="1"/>
            </p:cNvSpPr>
            <p:nvPr/>
          </p:nvSpPr>
          <p:spPr bwMode="auto">
            <a:xfrm>
              <a:off x="3703009" y="4665289"/>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7" name="Line 52"/>
            <p:cNvSpPr>
              <a:spLocks noChangeShapeType="1"/>
            </p:cNvSpPr>
            <p:nvPr/>
          </p:nvSpPr>
          <p:spPr bwMode="auto">
            <a:xfrm>
              <a:off x="4996292" y="4665289"/>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8" name="Line 53"/>
            <p:cNvSpPr>
              <a:spLocks noChangeShapeType="1"/>
            </p:cNvSpPr>
            <p:nvPr/>
          </p:nvSpPr>
          <p:spPr bwMode="auto">
            <a:xfrm>
              <a:off x="3699569" y="4762127"/>
              <a:ext cx="1295003"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9" name="Text Box 54"/>
            <p:cNvSpPr txBox="1">
              <a:spLocks noChangeArrowheads="1"/>
            </p:cNvSpPr>
            <p:nvPr/>
          </p:nvSpPr>
          <p:spPr bwMode="auto">
            <a:xfrm>
              <a:off x="3720206" y="4746253"/>
              <a:ext cx="10534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120 km</a:t>
              </a:r>
            </a:p>
          </p:txBody>
        </p:sp>
        <p:sp>
          <p:nvSpPr>
            <p:cNvPr id="59450" name="Text Box 55"/>
            <p:cNvSpPr txBox="1">
              <a:spLocks noChangeArrowheads="1"/>
            </p:cNvSpPr>
            <p:nvPr/>
          </p:nvSpPr>
          <p:spPr bwMode="auto">
            <a:xfrm>
              <a:off x="409607" y="2132856"/>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光调制器</a:t>
              </a:r>
            </a:p>
          </p:txBody>
        </p:sp>
        <p:sp>
          <p:nvSpPr>
            <p:cNvPr id="59451" name="Line 56"/>
            <p:cNvSpPr>
              <a:spLocks noChangeShapeType="1"/>
            </p:cNvSpPr>
            <p:nvPr/>
          </p:nvSpPr>
          <p:spPr bwMode="auto">
            <a:xfrm>
              <a:off x="1136576" y="2582907"/>
              <a:ext cx="0" cy="512345"/>
            </a:xfrm>
            <a:prstGeom prst="line">
              <a:avLst/>
            </a:prstGeom>
            <a:noFill/>
            <a:ln w="952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52" name="Text Box 57"/>
            <p:cNvSpPr txBox="1">
              <a:spLocks noChangeArrowheads="1"/>
            </p:cNvSpPr>
            <p:nvPr/>
          </p:nvSpPr>
          <p:spPr bwMode="auto">
            <a:xfrm>
              <a:off x="8344512" y="2132856"/>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光解调器</a:t>
              </a:r>
            </a:p>
          </p:txBody>
        </p:sp>
        <p:sp>
          <p:nvSpPr>
            <p:cNvPr id="59453" name="Line 58"/>
            <p:cNvSpPr>
              <a:spLocks noChangeShapeType="1"/>
            </p:cNvSpPr>
            <p:nvPr/>
          </p:nvSpPr>
          <p:spPr bwMode="auto">
            <a:xfrm>
              <a:off x="8985448" y="2582907"/>
              <a:ext cx="0" cy="512345"/>
            </a:xfrm>
            <a:prstGeom prst="line">
              <a:avLst/>
            </a:prstGeom>
            <a:noFill/>
            <a:ln w="952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54" name="Text Box 6"/>
            <p:cNvSpPr txBox="1">
              <a:spLocks noChangeArrowheads="1"/>
            </p:cNvSpPr>
            <p:nvPr/>
          </p:nvSpPr>
          <p:spPr bwMode="auto">
            <a:xfrm>
              <a:off x="8382343" y="5754851"/>
              <a:ext cx="1491341" cy="646331"/>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8 </a:t>
              </a:r>
              <a:r>
                <a:rPr lang="en-US" altLang="zh-CN" b="1">
                  <a:solidFill>
                    <a:srgbClr val="000099"/>
                  </a:solidFill>
                  <a:ea typeface="黑体" panose="02010609060101010101" pitchFamily="49" charset="-122"/>
                  <a:sym typeface="Symbol" panose="05050102010706020507" pitchFamily="18" charset="2"/>
                </a:rPr>
                <a:t> </a:t>
              </a:r>
              <a:r>
                <a:rPr lang="en-US" altLang="zh-CN" b="1">
                  <a:solidFill>
                    <a:srgbClr val="000099"/>
                  </a:solidFill>
                  <a:ea typeface="黑体" panose="02010609060101010101" pitchFamily="49" charset="-122"/>
                </a:rPr>
                <a:t>2.5 Gb/s</a:t>
              </a:r>
            </a:p>
            <a:p>
              <a:r>
                <a:rPr lang="en-US" altLang="zh-CN" b="1">
                  <a:solidFill>
                    <a:srgbClr val="000099"/>
                  </a:solidFill>
                  <a:ea typeface="黑体" panose="02010609060101010101" pitchFamily="49" charset="-122"/>
                </a:rPr>
                <a:t>1310 nm</a:t>
              </a:r>
            </a:p>
          </p:txBody>
        </p:sp>
        <p:sp>
          <p:nvSpPr>
            <p:cNvPr id="59455" name="矩形 2"/>
            <p:cNvSpPr>
              <a:spLocks noChangeArrowheads="1"/>
            </p:cNvSpPr>
            <p:nvPr/>
          </p:nvSpPr>
          <p:spPr bwMode="auto">
            <a:xfrm>
              <a:off x="3028851" y="5775647"/>
              <a:ext cx="4017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sz="2400" b="1">
                  <a:ea typeface="黑体" panose="02010609060101010101" pitchFamily="49" charset="-122"/>
                </a:rPr>
                <a:t>波分复用的概念</a:t>
              </a:r>
              <a:endParaRPr lang="zh-CN" altLang="en-US" sz="2400" b="1">
                <a:ea typeface="黑体" panose="02010609060101010101" pitchFamily="49" charset="-122"/>
              </a:endParaRPr>
            </a:p>
          </p:txBody>
        </p:sp>
      </p:grpSp>
      <p:sp>
        <p:nvSpPr>
          <p:cNvPr id="59397"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F4AA96-DF23-46C2-BA69-DDBB1C9D2359}" type="slidenum">
              <a:rPr altLang="en-US" smtClean="0"/>
              <a:pPr/>
              <a:t>27</a:t>
            </a:fld>
            <a:endParaRPr lang="zh-CN" altLang="zh-CN" smtClean="0"/>
          </a:p>
        </p:txBody>
      </p:sp>
      <p:sp>
        <p:nvSpPr>
          <p:cNvPr id="59398"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95300" y="188913"/>
            <a:ext cx="9066213" cy="1511300"/>
          </a:xfrm>
        </p:spPr>
        <p:txBody>
          <a:bodyPr/>
          <a:lstStyle/>
          <a:p>
            <a:pPr eaLnBrk="1" hangingPunct="1"/>
            <a:r>
              <a:rPr lang="en-US" altLang="zh-CN" dirty="0" smtClean="0">
                <a:ea typeface="黑体" panose="02010609060101010101" pitchFamily="49" charset="-122"/>
              </a:rPr>
              <a:t>2.4.3   </a:t>
            </a:r>
            <a:r>
              <a:rPr lang="zh-CN" altLang="en-US" dirty="0" smtClean="0">
                <a:ea typeface="黑体" panose="02010609060101010101" pitchFamily="49" charset="-122"/>
              </a:rPr>
              <a:t>码分复用 </a:t>
            </a:r>
            <a:r>
              <a:rPr lang="en-US" altLang="zh-CN" u="sng" dirty="0" smtClean="0">
                <a:solidFill>
                  <a:srgbClr val="FF0000"/>
                </a:solidFill>
                <a:ea typeface="黑体" panose="02010609060101010101" pitchFamily="49" charset="-122"/>
              </a:rPr>
              <a:t>CDM</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(Code Division Multiplexing)  </a:t>
            </a:r>
          </a:p>
        </p:txBody>
      </p:sp>
      <p:sp>
        <p:nvSpPr>
          <p:cNvPr id="142339" name="Rectangle 3"/>
          <p:cNvSpPr>
            <a:spLocks noGrp="1" noChangeArrowheads="1"/>
          </p:cNvSpPr>
          <p:nvPr>
            <p:ph idx="1"/>
          </p:nvPr>
        </p:nvSpPr>
        <p:spPr>
          <a:xfrm>
            <a:off x="495300" y="1844675"/>
            <a:ext cx="9066213" cy="4286250"/>
          </a:xfrm>
        </p:spPr>
        <p:txBody>
          <a:bodyPr/>
          <a:lstStyle/>
          <a:p>
            <a:pPr eaLnBrk="1" hangingPunct="1"/>
            <a:r>
              <a:rPr lang="zh-CN" altLang="en-US" sz="2800" dirty="0" smtClean="0">
                <a:ea typeface="黑体" panose="02010609060101010101" pitchFamily="49" charset="-122"/>
              </a:rPr>
              <a:t>常用的名词是</a:t>
            </a:r>
            <a:r>
              <a:rPr lang="zh-CN" altLang="en-US" sz="2800" u="sng" dirty="0" smtClean="0">
                <a:solidFill>
                  <a:srgbClr val="FF0000"/>
                </a:solidFill>
                <a:ea typeface="黑体" panose="02010609060101010101" pitchFamily="49" charset="-122"/>
              </a:rPr>
              <a:t>码分多址</a:t>
            </a:r>
            <a:r>
              <a:rPr lang="zh-CN" altLang="en-US" sz="2800" u="sng" dirty="0" smtClean="0">
                <a:ea typeface="黑体" panose="02010609060101010101" pitchFamily="49" charset="-122"/>
              </a:rPr>
              <a:t> </a:t>
            </a:r>
            <a:r>
              <a:rPr lang="en-US" altLang="zh-CN" sz="2800" u="sng" dirty="0" smtClean="0">
                <a:solidFill>
                  <a:srgbClr val="FF0000"/>
                </a:solidFill>
                <a:ea typeface="黑体" panose="02010609060101010101" pitchFamily="49" charset="-122"/>
              </a:rPr>
              <a:t>CDMA </a:t>
            </a:r>
          </a:p>
          <a:p>
            <a:pPr eaLnBrk="1" hangingPunct="1">
              <a:buFont typeface="Wingdings" panose="05000000000000000000" pitchFamily="2" charset="2"/>
              <a:buNone/>
            </a:pPr>
            <a:r>
              <a:rPr lang="en-US" altLang="zh-CN" sz="2800" dirty="0" smtClean="0">
                <a:ea typeface="黑体" panose="02010609060101010101" pitchFamily="49" charset="-122"/>
              </a:rPr>
              <a:t>    (Code Division Multiple Access)</a:t>
            </a:r>
            <a:r>
              <a:rPr lang="zh-CN" altLang="en-US" sz="2800" dirty="0" smtClean="0">
                <a:ea typeface="黑体" panose="02010609060101010101" pitchFamily="49" charset="-122"/>
              </a:rPr>
              <a:t>。</a:t>
            </a:r>
          </a:p>
          <a:p>
            <a:pPr eaLnBrk="1" hangingPunct="1"/>
            <a:r>
              <a:rPr lang="zh-CN" altLang="en-US" sz="2800" dirty="0" smtClean="0">
                <a:ea typeface="黑体" panose="02010609060101010101" pitchFamily="49" charset="-122"/>
              </a:rPr>
              <a:t>各用户使用经过特殊挑选的不同码型，因此彼此不会造成干扰。</a:t>
            </a:r>
          </a:p>
          <a:p>
            <a:pPr eaLnBrk="1" hangingPunct="1"/>
            <a:r>
              <a:rPr lang="zh-CN" altLang="en-US" sz="2800" dirty="0" smtClean="0">
                <a:ea typeface="黑体" panose="02010609060101010101" pitchFamily="49" charset="-122"/>
              </a:rPr>
              <a:t>这种系统发送的信号有很强的抗干扰能力，其频谱类似于白噪声，不易被敌人发现。 </a:t>
            </a:r>
          </a:p>
        </p:txBody>
      </p:sp>
      <p:sp>
        <p:nvSpPr>
          <p:cNvPr id="6144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4AE21AD-8319-4F9A-B634-A036DD064053}" type="slidenum">
              <a:rPr altLang="en-US" smtClean="0"/>
              <a:pPr/>
              <a:t>28</a:t>
            </a:fld>
            <a:endParaRPr lang="zh-CN" altLang="zh-CN" smtClean="0"/>
          </a:p>
        </p:txBody>
      </p:sp>
      <p:sp>
        <p:nvSpPr>
          <p:cNvPr id="6144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95300" y="188913"/>
            <a:ext cx="9066213" cy="792162"/>
          </a:xfrm>
        </p:spPr>
        <p:txBody>
          <a:bodyPr/>
          <a:lstStyle/>
          <a:p>
            <a:pPr algn="ctr" eaLnBrk="1" hangingPunct="1"/>
            <a:r>
              <a:rPr lang="zh-CN" altLang="en-US" dirty="0" smtClean="0">
                <a:ea typeface="黑体" panose="02010609060101010101" pitchFamily="49" charset="-122"/>
              </a:rPr>
              <a:t>码片序列</a:t>
            </a:r>
            <a:r>
              <a:rPr lang="en-US" altLang="zh-CN" dirty="0" smtClean="0">
                <a:ea typeface="黑体" panose="02010609060101010101" pitchFamily="49" charset="-122"/>
              </a:rPr>
              <a:t>(chip sequence) </a:t>
            </a:r>
          </a:p>
        </p:txBody>
      </p:sp>
      <p:sp>
        <p:nvSpPr>
          <p:cNvPr id="151555" name="Rectangle 3"/>
          <p:cNvSpPr>
            <a:spLocks noGrp="1" noChangeArrowheads="1"/>
          </p:cNvSpPr>
          <p:nvPr>
            <p:ph idx="1"/>
          </p:nvPr>
        </p:nvSpPr>
        <p:spPr>
          <a:xfrm>
            <a:off x="495300" y="1196975"/>
            <a:ext cx="9066213" cy="4933950"/>
          </a:xfrm>
        </p:spPr>
        <p:txBody>
          <a:bodyPr/>
          <a:lstStyle/>
          <a:p>
            <a:pPr eaLnBrk="1" hangingPunct="1">
              <a:lnSpc>
                <a:spcPct val="100000"/>
              </a:lnSpc>
            </a:pPr>
            <a:r>
              <a:rPr lang="zh-CN" altLang="en-US" smtClean="0">
                <a:ea typeface="黑体" panose="02010609060101010101" pitchFamily="49" charset="-122"/>
              </a:rPr>
              <a:t>每一个比特时间划分为 </a:t>
            </a:r>
            <a:r>
              <a:rPr lang="en-US" altLang="zh-CN" i="1" smtClean="0">
                <a:ea typeface="黑体" panose="02010609060101010101" pitchFamily="49" charset="-122"/>
              </a:rPr>
              <a:t>m </a:t>
            </a:r>
            <a:r>
              <a:rPr lang="zh-CN" altLang="en-US" smtClean="0">
                <a:ea typeface="黑体" panose="02010609060101010101" pitchFamily="49" charset="-122"/>
              </a:rPr>
              <a:t>个短的间隔，称为</a:t>
            </a:r>
            <a:r>
              <a:rPr lang="zh-CN" altLang="en-US" smtClean="0">
                <a:solidFill>
                  <a:srgbClr val="FF0000"/>
                </a:solidFill>
                <a:ea typeface="黑体" panose="02010609060101010101" pitchFamily="49" charset="-122"/>
              </a:rPr>
              <a:t>码片 </a:t>
            </a:r>
            <a:r>
              <a:rPr lang="en-US" altLang="zh-CN" smtClean="0">
                <a:ea typeface="黑体" panose="02010609060101010101" pitchFamily="49" charset="-122"/>
              </a:rPr>
              <a:t>(chip)</a:t>
            </a:r>
            <a:r>
              <a:rPr lang="zh-CN" altLang="en-US" smtClean="0">
                <a:ea typeface="黑体" panose="02010609060101010101" pitchFamily="49" charset="-122"/>
              </a:rPr>
              <a:t>。</a:t>
            </a:r>
            <a:endParaRPr lang="en-US" altLang="zh-CN" smtClean="0">
              <a:ea typeface="黑体" panose="02010609060101010101" pitchFamily="49" charset="-122"/>
            </a:endParaRPr>
          </a:p>
          <a:p>
            <a:pPr eaLnBrk="1" hangingPunct="1">
              <a:lnSpc>
                <a:spcPct val="100000"/>
              </a:lnSpc>
            </a:pPr>
            <a:r>
              <a:rPr lang="zh-CN" altLang="en-US" smtClean="0">
                <a:ea typeface="黑体" panose="02010609060101010101" pitchFamily="49" charset="-122"/>
              </a:rPr>
              <a:t>每个站被指派一个唯一的 </a:t>
            </a:r>
            <a:r>
              <a:rPr lang="en-US" altLang="zh-CN" i="1" smtClean="0">
                <a:ea typeface="黑体" panose="02010609060101010101" pitchFamily="49" charset="-122"/>
              </a:rPr>
              <a:t>m</a:t>
            </a:r>
            <a:r>
              <a:rPr lang="en-US" altLang="zh-CN" smtClean="0">
                <a:ea typeface="黑体" panose="02010609060101010101" pitchFamily="49" charset="-122"/>
              </a:rPr>
              <a:t> bit </a:t>
            </a:r>
            <a:r>
              <a:rPr lang="zh-CN" altLang="en-US" smtClean="0">
                <a:solidFill>
                  <a:srgbClr val="FF0000"/>
                </a:solidFill>
                <a:ea typeface="黑体" panose="02010609060101010101" pitchFamily="49" charset="-122"/>
              </a:rPr>
              <a:t>码片序列</a:t>
            </a:r>
            <a:r>
              <a:rPr lang="zh-CN" altLang="en-US" smtClean="0">
                <a:ea typeface="黑体" panose="02010609060101010101" pitchFamily="49" charset="-122"/>
              </a:rPr>
              <a:t>。</a:t>
            </a:r>
          </a:p>
          <a:p>
            <a:pPr lvl="1" eaLnBrk="1" hangingPunct="1">
              <a:lnSpc>
                <a:spcPct val="100000"/>
              </a:lnSpc>
            </a:pPr>
            <a:r>
              <a:rPr lang="zh-CN" altLang="en-US" smtClean="0">
                <a:solidFill>
                  <a:srgbClr val="0000CC"/>
                </a:solidFill>
                <a:ea typeface="黑体" panose="02010609060101010101" pitchFamily="49" charset="-122"/>
              </a:rPr>
              <a:t>如发送比特 </a:t>
            </a:r>
            <a:r>
              <a:rPr lang="en-US" altLang="zh-CN" smtClean="0">
                <a:solidFill>
                  <a:srgbClr val="0000CC"/>
                </a:solidFill>
                <a:ea typeface="黑体" panose="02010609060101010101" pitchFamily="49" charset="-122"/>
              </a:rPr>
              <a:t>1</a:t>
            </a:r>
            <a:r>
              <a:rPr lang="zh-CN" altLang="en-US" smtClean="0">
                <a:solidFill>
                  <a:srgbClr val="0000CC"/>
                </a:solidFill>
                <a:ea typeface="黑体" panose="02010609060101010101" pitchFamily="49" charset="-122"/>
              </a:rPr>
              <a:t>，则发送自己的 </a:t>
            </a:r>
            <a:r>
              <a:rPr lang="en-US" altLang="zh-CN" i="1" smtClean="0">
                <a:solidFill>
                  <a:srgbClr val="0000CC"/>
                </a:solidFill>
                <a:ea typeface="黑体" panose="02010609060101010101" pitchFamily="49" charset="-122"/>
              </a:rPr>
              <a:t>m</a:t>
            </a:r>
            <a:r>
              <a:rPr lang="en-US" altLang="zh-CN" smtClean="0">
                <a:solidFill>
                  <a:srgbClr val="0000CC"/>
                </a:solidFill>
                <a:ea typeface="黑体" panose="02010609060101010101" pitchFamily="49" charset="-122"/>
              </a:rPr>
              <a:t> bit </a:t>
            </a:r>
            <a:r>
              <a:rPr lang="zh-CN" altLang="en-US" smtClean="0">
                <a:solidFill>
                  <a:srgbClr val="0000CC"/>
                </a:solidFill>
                <a:ea typeface="黑体" panose="02010609060101010101" pitchFamily="49" charset="-122"/>
              </a:rPr>
              <a:t>码片序列。</a:t>
            </a:r>
          </a:p>
          <a:p>
            <a:pPr lvl="1" eaLnBrk="1" hangingPunct="1">
              <a:lnSpc>
                <a:spcPct val="100000"/>
              </a:lnSpc>
            </a:pPr>
            <a:r>
              <a:rPr lang="zh-CN" altLang="en-US" smtClean="0">
                <a:solidFill>
                  <a:srgbClr val="0000CC"/>
                </a:solidFill>
                <a:ea typeface="黑体" panose="02010609060101010101" pitchFamily="49" charset="-122"/>
              </a:rPr>
              <a:t>如发送比特 </a:t>
            </a:r>
            <a:r>
              <a:rPr lang="en-US" altLang="zh-CN" smtClean="0">
                <a:solidFill>
                  <a:srgbClr val="0000CC"/>
                </a:solidFill>
                <a:ea typeface="黑体" panose="02010609060101010101" pitchFamily="49" charset="-122"/>
              </a:rPr>
              <a:t>0</a:t>
            </a:r>
            <a:r>
              <a:rPr lang="zh-CN" altLang="en-US" smtClean="0">
                <a:solidFill>
                  <a:srgbClr val="0000CC"/>
                </a:solidFill>
                <a:ea typeface="黑体" panose="02010609060101010101" pitchFamily="49" charset="-122"/>
              </a:rPr>
              <a:t>，则发送该码片序列的二进制反码。 </a:t>
            </a:r>
          </a:p>
          <a:p>
            <a:pPr eaLnBrk="1" hangingPunct="1">
              <a:lnSpc>
                <a:spcPct val="100000"/>
              </a:lnSpc>
            </a:pPr>
            <a:r>
              <a:rPr lang="zh-CN" altLang="en-US" smtClean="0">
                <a:ea typeface="黑体" panose="02010609060101010101" pitchFamily="49" charset="-122"/>
              </a:rPr>
              <a:t>例如，</a:t>
            </a:r>
            <a:r>
              <a:rPr lang="en-US" altLang="zh-CN" smtClean="0">
                <a:ea typeface="黑体" panose="02010609060101010101" pitchFamily="49" charset="-122"/>
              </a:rPr>
              <a:t>S </a:t>
            </a:r>
            <a:r>
              <a:rPr lang="zh-CN" altLang="en-US" smtClean="0">
                <a:ea typeface="黑体" panose="02010609060101010101" pitchFamily="49" charset="-122"/>
              </a:rPr>
              <a:t>站的 </a:t>
            </a:r>
            <a:r>
              <a:rPr lang="en-US" altLang="zh-CN" smtClean="0">
                <a:ea typeface="黑体" panose="02010609060101010101" pitchFamily="49" charset="-122"/>
              </a:rPr>
              <a:t>8 bit </a:t>
            </a:r>
            <a:r>
              <a:rPr lang="zh-CN" altLang="en-US" smtClean="0">
                <a:ea typeface="黑体" panose="02010609060101010101" pitchFamily="49" charset="-122"/>
              </a:rPr>
              <a:t>码片序列是 </a:t>
            </a:r>
            <a:r>
              <a:rPr lang="en-US" altLang="zh-CN" smtClean="0">
                <a:ea typeface="黑体" panose="02010609060101010101" pitchFamily="49" charset="-122"/>
              </a:rPr>
              <a:t>00011011</a:t>
            </a:r>
            <a:r>
              <a:rPr lang="zh-CN" altLang="en-US" smtClean="0">
                <a:ea typeface="黑体" panose="02010609060101010101" pitchFamily="49" charset="-122"/>
              </a:rPr>
              <a:t>。</a:t>
            </a:r>
          </a:p>
          <a:p>
            <a:pPr lvl="1" eaLnBrk="1" hangingPunct="1">
              <a:lnSpc>
                <a:spcPct val="100000"/>
              </a:lnSpc>
            </a:pPr>
            <a:r>
              <a:rPr lang="zh-CN" altLang="en-US" smtClean="0">
                <a:solidFill>
                  <a:srgbClr val="0000CC"/>
                </a:solidFill>
                <a:ea typeface="黑体" panose="02010609060101010101" pitchFamily="49" charset="-122"/>
              </a:rPr>
              <a:t>发送比特 </a:t>
            </a:r>
            <a:r>
              <a:rPr lang="en-US" altLang="zh-CN" smtClean="0">
                <a:solidFill>
                  <a:srgbClr val="0000CC"/>
                </a:solidFill>
                <a:ea typeface="黑体" panose="02010609060101010101" pitchFamily="49" charset="-122"/>
              </a:rPr>
              <a:t>1 </a:t>
            </a:r>
            <a:r>
              <a:rPr lang="zh-CN" altLang="en-US" smtClean="0">
                <a:solidFill>
                  <a:srgbClr val="0000CC"/>
                </a:solidFill>
                <a:ea typeface="黑体" panose="02010609060101010101" pitchFamily="49" charset="-122"/>
              </a:rPr>
              <a:t>时，就发送序列 </a:t>
            </a:r>
            <a:r>
              <a:rPr lang="en-US" altLang="zh-CN" smtClean="0">
                <a:solidFill>
                  <a:srgbClr val="0000CC"/>
                </a:solidFill>
                <a:ea typeface="黑体" panose="02010609060101010101" pitchFamily="49" charset="-122"/>
              </a:rPr>
              <a:t>00011011</a:t>
            </a:r>
            <a:r>
              <a:rPr lang="zh-CN" altLang="en-US" smtClean="0">
                <a:solidFill>
                  <a:srgbClr val="0000CC"/>
                </a:solidFill>
                <a:ea typeface="黑体" panose="02010609060101010101" pitchFamily="49" charset="-122"/>
              </a:rPr>
              <a:t>，</a:t>
            </a:r>
          </a:p>
          <a:p>
            <a:pPr lvl="1" eaLnBrk="1" hangingPunct="1">
              <a:lnSpc>
                <a:spcPct val="100000"/>
              </a:lnSpc>
            </a:pPr>
            <a:r>
              <a:rPr lang="zh-CN" altLang="en-US" smtClean="0">
                <a:solidFill>
                  <a:srgbClr val="0000CC"/>
                </a:solidFill>
                <a:ea typeface="黑体" panose="02010609060101010101" pitchFamily="49" charset="-122"/>
              </a:rPr>
              <a:t>发送比特 </a:t>
            </a:r>
            <a:r>
              <a:rPr lang="en-US" altLang="zh-CN" smtClean="0">
                <a:solidFill>
                  <a:srgbClr val="0000CC"/>
                </a:solidFill>
                <a:ea typeface="黑体" panose="02010609060101010101" pitchFamily="49" charset="-122"/>
              </a:rPr>
              <a:t>0 </a:t>
            </a:r>
            <a:r>
              <a:rPr lang="zh-CN" altLang="en-US" smtClean="0">
                <a:solidFill>
                  <a:srgbClr val="0000CC"/>
                </a:solidFill>
                <a:ea typeface="黑体" panose="02010609060101010101" pitchFamily="49" charset="-122"/>
              </a:rPr>
              <a:t>时，就发送序列 </a:t>
            </a:r>
            <a:r>
              <a:rPr lang="en-US" altLang="zh-CN" smtClean="0">
                <a:solidFill>
                  <a:srgbClr val="0000CC"/>
                </a:solidFill>
                <a:ea typeface="黑体" panose="02010609060101010101" pitchFamily="49" charset="-122"/>
              </a:rPr>
              <a:t>11100100</a:t>
            </a:r>
            <a:r>
              <a:rPr lang="zh-CN" altLang="en-US" smtClean="0">
                <a:solidFill>
                  <a:srgbClr val="0000CC"/>
                </a:solidFill>
                <a:ea typeface="黑体" panose="02010609060101010101" pitchFamily="49" charset="-122"/>
              </a:rPr>
              <a:t>。</a:t>
            </a:r>
          </a:p>
          <a:p>
            <a:pPr eaLnBrk="1" hangingPunct="1">
              <a:lnSpc>
                <a:spcPct val="100000"/>
              </a:lnSpc>
            </a:pPr>
            <a:r>
              <a:rPr lang="en-US" altLang="zh-CN" smtClean="0">
                <a:ea typeface="黑体" panose="02010609060101010101" pitchFamily="49" charset="-122"/>
              </a:rPr>
              <a:t>S </a:t>
            </a:r>
            <a:r>
              <a:rPr lang="zh-CN" altLang="en-US" smtClean="0">
                <a:ea typeface="黑体" panose="02010609060101010101" pitchFamily="49" charset="-122"/>
              </a:rPr>
              <a:t>站的码片序列：</a:t>
            </a:r>
            <a:r>
              <a:rPr lang="en-US" altLang="zh-CN" smtClean="0">
                <a:ea typeface="黑体" panose="02010609060101010101" pitchFamily="49" charset="-122"/>
              </a:rPr>
              <a:t>(–1 –1 –1 +1 +1 –1 +1 +1)     </a:t>
            </a:r>
          </a:p>
        </p:txBody>
      </p:sp>
      <p:sp>
        <p:nvSpPr>
          <p:cNvPr id="6349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87A1AE-B598-4E1B-9701-8D7F6684124B}" type="slidenum">
              <a:rPr altLang="en-US" smtClean="0"/>
              <a:pPr/>
              <a:t>29</a:t>
            </a:fld>
            <a:endParaRPr lang="zh-CN" altLang="zh-CN" smtClean="0"/>
          </a:p>
        </p:txBody>
      </p:sp>
      <p:sp>
        <p:nvSpPr>
          <p:cNvPr id="6349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555">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码片序列实现了扩频</a:t>
            </a:r>
          </a:p>
        </p:txBody>
      </p:sp>
      <p:sp>
        <p:nvSpPr>
          <p:cNvPr id="65539" name="内容占位符 2"/>
          <p:cNvSpPr>
            <a:spLocks noGrp="1" noChangeArrowheads="1"/>
          </p:cNvSpPr>
          <p:nvPr>
            <p:ph idx="1"/>
          </p:nvPr>
        </p:nvSpPr>
        <p:spPr>
          <a:xfrm>
            <a:off x="495300" y="1196975"/>
            <a:ext cx="9066213" cy="4933950"/>
          </a:xfrm>
        </p:spPr>
        <p:txBody>
          <a:bodyPr/>
          <a:lstStyle/>
          <a:p>
            <a:pPr eaLnBrk="1" hangingPunct="1"/>
            <a:r>
              <a:rPr lang="zh-CN" altLang="zh-CN" sz="2800" smtClean="0">
                <a:ea typeface="黑体" panose="02010609060101010101" pitchFamily="49" charset="-122"/>
              </a:rPr>
              <a:t>假定</a:t>
            </a:r>
            <a:r>
              <a:rPr lang="en-US" altLang="zh-CN" sz="2800" smtClean="0">
                <a:ea typeface="黑体" panose="02010609060101010101" pitchFamily="49" charset="-122"/>
              </a:rPr>
              <a:t>S</a:t>
            </a:r>
            <a:r>
              <a:rPr lang="zh-CN" altLang="zh-CN" sz="2800" smtClean="0">
                <a:ea typeface="黑体" panose="02010609060101010101" pitchFamily="49" charset="-122"/>
              </a:rPr>
              <a:t>站要发送信息的数据率为</a:t>
            </a:r>
            <a:r>
              <a:rPr lang="en-US" altLang="zh-CN" sz="2800" smtClean="0">
                <a:ea typeface="黑体" panose="02010609060101010101" pitchFamily="49" charset="-122"/>
              </a:rPr>
              <a:t> </a:t>
            </a:r>
            <a:r>
              <a:rPr lang="en-US" altLang="zh-CN" sz="2800" i="1" smtClean="0">
                <a:solidFill>
                  <a:srgbClr val="0000FF"/>
                </a:solidFill>
                <a:ea typeface="黑体" panose="02010609060101010101" pitchFamily="49" charset="-122"/>
              </a:rPr>
              <a:t>b</a:t>
            </a:r>
            <a:r>
              <a:rPr lang="en-US" altLang="zh-CN" sz="2800" smtClean="0">
                <a:ea typeface="黑体" panose="02010609060101010101" pitchFamily="49" charset="-122"/>
              </a:rPr>
              <a:t> bit/s</a:t>
            </a:r>
            <a:r>
              <a:rPr lang="zh-CN" altLang="zh-CN" sz="2800" smtClean="0">
                <a:ea typeface="黑体" panose="02010609060101010101" pitchFamily="49" charset="-122"/>
              </a:rPr>
              <a:t>。由于每一个比特要转换成</a:t>
            </a:r>
            <a:r>
              <a:rPr lang="en-US" altLang="zh-CN" sz="2800" smtClean="0">
                <a:ea typeface="黑体" panose="02010609060101010101" pitchFamily="49" charset="-122"/>
              </a:rPr>
              <a:t> </a:t>
            </a:r>
            <a:r>
              <a:rPr lang="en-US" altLang="zh-CN" sz="2800" i="1" smtClean="0">
                <a:ea typeface="黑体" panose="02010609060101010101" pitchFamily="49" charset="-122"/>
              </a:rPr>
              <a:t>m </a:t>
            </a:r>
            <a:r>
              <a:rPr lang="zh-CN" altLang="zh-CN" sz="2800" smtClean="0">
                <a:ea typeface="黑体" panose="02010609060101010101" pitchFamily="49" charset="-122"/>
              </a:rPr>
              <a:t>个比特的码片，因此</a:t>
            </a:r>
            <a:r>
              <a:rPr lang="en-US" altLang="zh-CN" sz="2800" smtClean="0">
                <a:ea typeface="黑体" panose="02010609060101010101" pitchFamily="49" charset="-122"/>
              </a:rPr>
              <a:t> S </a:t>
            </a:r>
            <a:r>
              <a:rPr lang="zh-CN" altLang="zh-CN" sz="2800" smtClean="0">
                <a:ea typeface="黑体" panose="02010609060101010101" pitchFamily="49" charset="-122"/>
              </a:rPr>
              <a:t>站实际上发送的数据率提高到</a:t>
            </a:r>
            <a:r>
              <a:rPr lang="en-US" altLang="zh-CN" sz="2800" smtClean="0">
                <a:ea typeface="黑体" panose="02010609060101010101" pitchFamily="49" charset="-122"/>
              </a:rPr>
              <a:t> </a:t>
            </a:r>
            <a:r>
              <a:rPr lang="en-US" altLang="zh-CN" sz="2800" i="1" smtClean="0">
                <a:solidFill>
                  <a:srgbClr val="0000FF"/>
                </a:solidFill>
                <a:ea typeface="黑体" panose="02010609060101010101" pitchFamily="49" charset="-122"/>
              </a:rPr>
              <a:t>mb</a:t>
            </a:r>
            <a:r>
              <a:rPr lang="en-US" altLang="zh-CN" sz="2800" smtClean="0">
                <a:ea typeface="黑体" panose="02010609060101010101" pitchFamily="49" charset="-122"/>
              </a:rPr>
              <a:t> bit/s</a:t>
            </a:r>
            <a:r>
              <a:rPr lang="zh-CN" altLang="zh-CN" sz="2800" smtClean="0">
                <a:ea typeface="黑体" panose="02010609060101010101" pitchFamily="49" charset="-122"/>
              </a:rPr>
              <a:t>，同时</a:t>
            </a:r>
            <a:r>
              <a:rPr lang="en-US" altLang="zh-CN" sz="2800" smtClean="0">
                <a:ea typeface="黑体" panose="02010609060101010101" pitchFamily="49" charset="-122"/>
              </a:rPr>
              <a:t> S </a:t>
            </a:r>
            <a:r>
              <a:rPr lang="zh-CN" altLang="zh-CN" sz="2800" smtClean="0">
                <a:ea typeface="黑体" panose="02010609060101010101" pitchFamily="49" charset="-122"/>
              </a:rPr>
              <a:t>站所占用的频带宽度也提高到原来数值的</a:t>
            </a:r>
            <a:r>
              <a:rPr lang="en-US" altLang="zh-CN" sz="2800" smtClean="0">
                <a:ea typeface="黑体" panose="02010609060101010101" pitchFamily="49" charset="-122"/>
              </a:rPr>
              <a:t> </a:t>
            </a:r>
            <a:r>
              <a:rPr lang="en-US" altLang="zh-CN" sz="2800" i="1" smtClean="0">
                <a:ea typeface="黑体" panose="02010609060101010101" pitchFamily="49" charset="-122"/>
              </a:rPr>
              <a:t>m </a:t>
            </a:r>
            <a:r>
              <a:rPr lang="zh-CN" altLang="zh-CN" sz="2800" smtClean="0">
                <a:ea typeface="黑体" panose="02010609060101010101" pitchFamily="49" charset="-122"/>
              </a:rPr>
              <a:t>倍。</a:t>
            </a:r>
            <a:endParaRPr lang="en-US" altLang="zh-CN" sz="2800" smtClean="0">
              <a:ea typeface="黑体" panose="02010609060101010101" pitchFamily="49" charset="-122"/>
            </a:endParaRPr>
          </a:p>
          <a:p>
            <a:pPr eaLnBrk="1" hangingPunct="1"/>
            <a:r>
              <a:rPr lang="zh-CN" altLang="zh-CN" sz="2800" smtClean="0">
                <a:ea typeface="黑体" panose="02010609060101010101" pitchFamily="49" charset="-122"/>
              </a:rPr>
              <a:t>这种通信方式是</a:t>
            </a:r>
            <a:r>
              <a:rPr lang="zh-CN" altLang="zh-CN" sz="2800" smtClean="0">
                <a:solidFill>
                  <a:srgbClr val="FF0000"/>
                </a:solidFill>
                <a:ea typeface="黑体" panose="02010609060101010101" pitchFamily="49" charset="-122"/>
              </a:rPr>
              <a:t>扩频</a:t>
            </a:r>
            <a:r>
              <a:rPr lang="en-US" altLang="zh-CN" sz="2800" smtClean="0">
                <a:ea typeface="黑体" panose="02010609060101010101" pitchFamily="49" charset="-122"/>
              </a:rPr>
              <a:t>(spread spectrum)</a:t>
            </a:r>
            <a:r>
              <a:rPr lang="zh-CN" altLang="zh-CN" sz="2800" smtClean="0">
                <a:ea typeface="黑体" panose="02010609060101010101" pitchFamily="49" charset="-122"/>
              </a:rPr>
              <a:t>通信中的一种。</a:t>
            </a:r>
            <a:endParaRPr lang="en-US" altLang="zh-CN" sz="2800" smtClean="0">
              <a:ea typeface="黑体" panose="02010609060101010101" pitchFamily="49" charset="-122"/>
            </a:endParaRPr>
          </a:p>
          <a:p>
            <a:pPr eaLnBrk="1" hangingPunct="1"/>
            <a:r>
              <a:rPr lang="zh-CN" altLang="zh-CN" sz="2800" smtClean="0">
                <a:ea typeface="黑体" panose="02010609060101010101" pitchFamily="49" charset="-122"/>
              </a:rPr>
              <a:t>扩频通信通常有两大类</a:t>
            </a:r>
            <a:r>
              <a:rPr lang="zh-CN" altLang="en-US" sz="2800" smtClean="0">
                <a:ea typeface="黑体" panose="02010609060101010101" pitchFamily="49" charset="-122"/>
              </a:rPr>
              <a:t>：</a:t>
            </a:r>
            <a:endParaRPr lang="en-US" altLang="zh-CN" sz="2800" smtClean="0">
              <a:ea typeface="黑体" panose="02010609060101010101" pitchFamily="49" charset="-122"/>
            </a:endParaRPr>
          </a:p>
          <a:p>
            <a:pPr lvl="1" eaLnBrk="1" hangingPunct="1"/>
            <a:r>
              <a:rPr lang="zh-CN" altLang="zh-CN" sz="2400" smtClean="0">
                <a:ea typeface="黑体" panose="02010609060101010101" pitchFamily="49" charset="-122"/>
              </a:rPr>
              <a:t>一种是</a:t>
            </a:r>
            <a:r>
              <a:rPr lang="zh-CN" altLang="zh-CN" sz="2400" smtClean="0">
                <a:solidFill>
                  <a:srgbClr val="FF0000"/>
                </a:solidFill>
                <a:ea typeface="黑体" panose="02010609060101010101" pitchFamily="49" charset="-122"/>
              </a:rPr>
              <a:t>直接序列扩频</a:t>
            </a:r>
            <a:r>
              <a:rPr lang="en-US" altLang="zh-CN" sz="2400" smtClean="0">
                <a:solidFill>
                  <a:srgbClr val="FF0000"/>
                </a:solidFill>
                <a:ea typeface="黑体" panose="02010609060101010101" pitchFamily="49" charset="-122"/>
              </a:rPr>
              <a:t>DSSS </a:t>
            </a:r>
            <a:r>
              <a:rPr lang="en-US" altLang="zh-CN" sz="2400" smtClean="0">
                <a:ea typeface="黑体" panose="02010609060101010101" pitchFamily="49" charset="-122"/>
              </a:rPr>
              <a:t>(Direct Sequence Spread Spectrum)</a:t>
            </a:r>
            <a:r>
              <a:rPr lang="zh-CN" altLang="zh-CN" sz="2400" smtClean="0">
                <a:ea typeface="黑体" panose="02010609060101010101" pitchFamily="49" charset="-122"/>
              </a:rPr>
              <a:t>，如上面讲的使用码片序列就是这一类。</a:t>
            </a:r>
            <a:endParaRPr lang="en-US" altLang="zh-CN" sz="2400" smtClean="0">
              <a:ea typeface="黑体" panose="02010609060101010101" pitchFamily="49" charset="-122"/>
            </a:endParaRPr>
          </a:p>
          <a:p>
            <a:pPr lvl="1" eaLnBrk="1" hangingPunct="1"/>
            <a:r>
              <a:rPr lang="zh-CN" altLang="zh-CN" sz="2400" smtClean="0">
                <a:ea typeface="黑体" panose="02010609060101010101" pitchFamily="49" charset="-122"/>
              </a:rPr>
              <a:t>另一种是</a:t>
            </a:r>
            <a:r>
              <a:rPr lang="zh-CN" altLang="zh-CN" sz="2400" smtClean="0">
                <a:solidFill>
                  <a:srgbClr val="FF0000"/>
                </a:solidFill>
                <a:ea typeface="黑体" panose="02010609060101010101" pitchFamily="49" charset="-122"/>
              </a:rPr>
              <a:t>跳频扩频</a:t>
            </a:r>
            <a:r>
              <a:rPr lang="en-US" altLang="zh-CN" sz="2400" smtClean="0">
                <a:solidFill>
                  <a:srgbClr val="FF0000"/>
                </a:solidFill>
                <a:ea typeface="黑体" panose="02010609060101010101" pitchFamily="49" charset="-122"/>
              </a:rPr>
              <a:t>FHSS </a:t>
            </a:r>
            <a:r>
              <a:rPr lang="en-US" altLang="zh-CN" sz="2400" smtClean="0">
                <a:ea typeface="黑体" panose="02010609060101010101" pitchFamily="49" charset="-122"/>
              </a:rPr>
              <a:t>(Frequency Hopping Spread Spectrum)</a:t>
            </a:r>
            <a:r>
              <a:rPr lang="zh-CN" altLang="zh-CN" sz="2400" smtClean="0">
                <a:ea typeface="黑体" panose="02010609060101010101" pitchFamily="49" charset="-122"/>
              </a:rPr>
              <a:t>。</a:t>
            </a:r>
            <a:endParaRPr lang="zh-CN" altLang="en-US" sz="2400" smtClean="0">
              <a:ea typeface="黑体" panose="02010609060101010101" pitchFamily="49" charset="-122"/>
            </a:endParaRPr>
          </a:p>
        </p:txBody>
      </p:sp>
      <p:sp>
        <p:nvSpPr>
          <p:cNvPr id="6554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4401FA2-C248-4660-9571-00FD24AFC715}" type="slidenum">
              <a:rPr altLang="en-US" smtClean="0"/>
              <a:pPr/>
              <a:t>30</a:t>
            </a:fld>
            <a:endParaRPr lang="zh-CN" altLang="zh-CN" smtClean="0"/>
          </a:p>
        </p:txBody>
      </p:sp>
      <p:sp>
        <p:nvSpPr>
          <p:cNvPr id="6554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495300" y="188913"/>
            <a:ext cx="9066213" cy="792162"/>
          </a:xfrm>
        </p:spPr>
        <p:txBody>
          <a:bodyPr/>
          <a:lstStyle/>
          <a:p>
            <a:pPr algn="ctr" eaLnBrk="1" hangingPunct="1"/>
            <a:r>
              <a:rPr lang="en-US" altLang="zh-CN" smtClean="0">
                <a:ea typeface="黑体" panose="02010609060101010101" pitchFamily="49" charset="-122"/>
              </a:rPr>
              <a:t>CDMA </a:t>
            </a:r>
            <a:r>
              <a:rPr lang="zh-CN" altLang="en-US" smtClean="0">
                <a:ea typeface="黑体" panose="02010609060101010101" pitchFamily="49" charset="-122"/>
              </a:rPr>
              <a:t>的重要特点</a:t>
            </a:r>
          </a:p>
        </p:txBody>
      </p:sp>
      <p:sp>
        <p:nvSpPr>
          <p:cNvPr id="152579" name="Rectangle 3"/>
          <p:cNvSpPr>
            <a:spLocks noGrp="1" noChangeArrowheads="1"/>
          </p:cNvSpPr>
          <p:nvPr>
            <p:ph idx="1"/>
          </p:nvPr>
        </p:nvSpPr>
        <p:spPr>
          <a:xfrm>
            <a:off x="495300" y="1196975"/>
            <a:ext cx="9066213" cy="4933950"/>
          </a:xfrm>
        </p:spPr>
        <p:txBody>
          <a:bodyPr/>
          <a:lstStyle/>
          <a:p>
            <a:pPr eaLnBrk="1" hangingPunct="1"/>
            <a:r>
              <a:rPr lang="zh-CN" altLang="en-US" smtClean="0">
                <a:ea typeface="黑体" panose="02010609060101010101" pitchFamily="49" charset="-122"/>
              </a:rPr>
              <a:t>每个站分配的码片序列不仅</a:t>
            </a:r>
            <a:r>
              <a:rPr lang="zh-CN" altLang="en-US" smtClean="0">
                <a:solidFill>
                  <a:srgbClr val="FF0000"/>
                </a:solidFill>
                <a:ea typeface="黑体" panose="02010609060101010101" pitchFamily="49" charset="-122"/>
              </a:rPr>
              <a:t>必须各不相同，</a:t>
            </a:r>
            <a:r>
              <a:rPr lang="zh-CN" altLang="en-US" smtClean="0">
                <a:ea typeface="黑体" panose="02010609060101010101" pitchFamily="49" charset="-122"/>
              </a:rPr>
              <a:t>并且还</a:t>
            </a:r>
            <a:r>
              <a:rPr lang="zh-CN" altLang="en-US" smtClean="0">
                <a:solidFill>
                  <a:srgbClr val="FF0000"/>
                </a:solidFill>
                <a:ea typeface="黑体" panose="02010609060101010101" pitchFamily="49" charset="-122"/>
              </a:rPr>
              <a:t>必须互相正交 </a:t>
            </a:r>
            <a:r>
              <a:rPr lang="en-US" altLang="zh-CN" smtClean="0">
                <a:ea typeface="黑体" panose="02010609060101010101" pitchFamily="49" charset="-122"/>
              </a:rPr>
              <a:t>(orthogonal)</a:t>
            </a:r>
            <a:r>
              <a:rPr lang="zh-CN" altLang="en-US" smtClean="0">
                <a:ea typeface="黑体" panose="02010609060101010101" pitchFamily="49" charset="-122"/>
              </a:rPr>
              <a:t>。</a:t>
            </a:r>
          </a:p>
          <a:p>
            <a:pPr eaLnBrk="1" hangingPunct="1"/>
            <a:r>
              <a:rPr lang="zh-CN" altLang="en-US" smtClean="0">
                <a:ea typeface="黑体" panose="02010609060101010101" pitchFamily="49" charset="-122"/>
              </a:rPr>
              <a:t>在实用的系统中是使用</a:t>
            </a:r>
            <a:r>
              <a:rPr lang="zh-CN" altLang="en-US" smtClean="0">
                <a:solidFill>
                  <a:srgbClr val="FF0000"/>
                </a:solidFill>
                <a:ea typeface="黑体" panose="02010609060101010101" pitchFamily="49" charset="-122"/>
              </a:rPr>
              <a:t>伪随机码序列。</a:t>
            </a:r>
            <a:r>
              <a:rPr lang="zh-CN" altLang="en-US" smtClean="0">
                <a:ea typeface="黑体" panose="02010609060101010101" pitchFamily="49" charset="-122"/>
              </a:rPr>
              <a:t> </a:t>
            </a:r>
          </a:p>
        </p:txBody>
      </p:sp>
      <p:sp>
        <p:nvSpPr>
          <p:cNvPr id="6656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A2D152C-DB1C-4A68-AD89-2BAC4E7D22F0}" type="slidenum">
              <a:rPr altLang="en-US" smtClean="0"/>
              <a:pPr/>
              <a:t>31</a:t>
            </a:fld>
            <a:endParaRPr lang="zh-CN" altLang="zh-CN" smtClean="0"/>
          </a:p>
        </p:txBody>
      </p:sp>
      <p:sp>
        <p:nvSpPr>
          <p:cNvPr id="6656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5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码片序列的正交关系 </a:t>
            </a:r>
          </a:p>
        </p:txBody>
      </p:sp>
      <p:sp>
        <p:nvSpPr>
          <p:cNvPr id="68611" name="Rectangle 3"/>
          <p:cNvSpPr>
            <a:spLocks noGrp="1" noChangeArrowheads="1"/>
          </p:cNvSpPr>
          <p:nvPr>
            <p:ph idx="1"/>
          </p:nvPr>
        </p:nvSpPr>
        <p:spPr>
          <a:xfrm>
            <a:off x="495300" y="1196975"/>
            <a:ext cx="9066213" cy="4933950"/>
          </a:xfrm>
        </p:spPr>
        <p:txBody>
          <a:bodyPr/>
          <a:lstStyle/>
          <a:p>
            <a:pPr eaLnBrk="1" hangingPunct="1"/>
            <a:r>
              <a:rPr lang="zh-CN" altLang="en-US" smtClean="0">
                <a:ea typeface="黑体" panose="02010609060101010101" pitchFamily="49" charset="-122"/>
              </a:rPr>
              <a:t>令向量 </a:t>
            </a:r>
            <a:r>
              <a:rPr lang="en-US" altLang="zh-CN" smtClean="0">
                <a:ea typeface="黑体" panose="02010609060101010101" pitchFamily="49" charset="-122"/>
              </a:rPr>
              <a:t>S </a:t>
            </a:r>
            <a:r>
              <a:rPr lang="zh-CN" altLang="en-US" smtClean="0">
                <a:ea typeface="黑体" panose="02010609060101010101" pitchFamily="49" charset="-122"/>
              </a:rPr>
              <a:t>表示站 </a:t>
            </a:r>
            <a:r>
              <a:rPr lang="en-US" altLang="zh-CN" smtClean="0">
                <a:ea typeface="黑体" panose="02010609060101010101" pitchFamily="49" charset="-122"/>
              </a:rPr>
              <a:t>S </a:t>
            </a:r>
            <a:r>
              <a:rPr lang="zh-CN" altLang="en-US" smtClean="0">
                <a:ea typeface="黑体" panose="02010609060101010101" pitchFamily="49" charset="-122"/>
              </a:rPr>
              <a:t>的码片向量，令 </a:t>
            </a:r>
            <a:r>
              <a:rPr lang="en-US" altLang="zh-CN" smtClean="0">
                <a:ea typeface="黑体" panose="02010609060101010101" pitchFamily="49" charset="-122"/>
              </a:rPr>
              <a:t>T </a:t>
            </a:r>
            <a:r>
              <a:rPr lang="zh-CN" altLang="en-US" smtClean="0">
                <a:ea typeface="黑体" panose="02010609060101010101" pitchFamily="49" charset="-122"/>
              </a:rPr>
              <a:t>表示其他任何站的码片向量。 </a:t>
            </a:r>
          </a:p>
          <a:p>
            <a:pPr eaLnBrk="1" hangingPunct="1"/>
            <a:r>
              <a:rPr lang="zh-CN" altLang="en-US" smtClean="0">
                <a:ea typeface="黑体" panose="02010609060101010101" pitchFamily="49" charset="-122"/>
              </a:rPr>
              <a:t>两个不同站的码片序列正交，就是向量 </a:t>
            </a:r>
            <a:r>
              <a:rPr lang="en-US" altLang="zh-CN" smtClean="0">
                <a:ea typeface="黑体" panose="02010609060101010101" pitchFamily="49" charset="-122"/>
              </a:rPr>
              <a:t>S </a:t>
            </a:r>
            <a:r>
              <a:rPr lang="zh-CN" altLang="en-US" smtClean="0">
                <a:ea typeface="黑体" panose="02010609060101010101" pitchFamily="49" charset="-122"/>
              </a:rPr>
              <a:t>和</a:t>
            </a:r>
            <a:r>
              <a:rPr lang="en-US" altLang="zh-CN" smtClean="0">
                <a:ea typeface="黑体" panose="02010609060101010101" pitchFamily="49" charset="-122"/>
              </a:rPr>
              <a:t>T </a:t>
            </a:r>
            <a:r>
              <a:rPr lang="zh-CN" altLang="en-US" smtClean="0">
                <a:ea typeface="黑体" panose="02010609060101010101" pitchFamily="49" charset="-122"/>
              </a:rPr>
              <a:t>的规格化</a:t>
            </a:r>
            <a:r>
              <a:rPr lang="zh-CN" altLang="en-US" smtClean="0">
                <a:solidFill>
                  <a:srgbClr val="FF0000"/>
                </a:solidFill>
                <a:ea typeface="黑体" panose="02010609060101010101" pitchFamily="49" charset="-122"/>
              </a:rPr>
              <a:t>内积 </a:t>
            </a:r>
            <a:r>
              <a:rPr lang="en-US" altLang="zh-CN" smtClean="0">
                <a:ea typeface="黑体" panose="02010609060101010101" pitchFamily="49" charset="-122"/>
              </a:rPr>
              <a:t>(inner product)</a:t>
            </a:r>
            <a:r>
              <a:rPr lang="zh-CN" altLang="en-US" smtClean="0">
                <a:ea typeface="黑体" panose="02010609060101010101" pitchFamily="49" charset="-122"/>
              </a:rPr>
              <a:t> 等于 </a:t>
            </a:r>
            <a:r>
              <a:rPr lang="en-US" altLang="zh-CN" smtClean="0">
                <a:ea typeface="黑体" panose="02010609060101010101" pitchFamily="49" charset="-122"/>
              </a:rPr>
              <a:t>0</a:t>
            </a:r>
            <a:r>
              <a:rPr lang="zh-CN" altLang="en-US" smtClean="0">
                <a:ea typeface="黑体" panose="02010609060101010101" pitchFamily="49" charset="-122"/>
              </a:rPr>
              <a:t>： </a:t>
            </a:r>
          </a:p>
        </p:txBody>
      </p:sp>
      <p:sp>
        <p:nvSpPr>
          <p:cNvPr id="68612" name="Rectangle 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68613" name="Rectangle 6"/>
          <p:cNvSpPr>
            <a:spLocks noChangeArrowheads="1"/>
          </p:cNvSpPr>
          <p:nvPr/>
        </p:nvSpPr>
        <p:spPr bwMode="auto">
          <a:xfrm>
            <a:off x="0" y="30543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68614" name="Object 7"/>
          <p:cNvGraphicFramePr>
            <a:graphicFrameLocks noChangeAspect="1"/>
          </p:cNvGraphicFramePr>
          <p:nvPr/>
        </p:nvGraphicFramePr>
        <p:xfrm>
          <a:off x="3081338" y="3644900"/>
          <a:ext cx="3948112" cy="1223963"/>
        </p:xfrm>
        <a:graphic>
          <a:graphicData uri="http://schemas.openxmlformats.org/presentationml/2006/ole">
            <mc:AlternateContent xmlns:mc="http://schemas.openxmlformats.org/markup-compatibility/2006">
              <mc:Choice xmlns:v="urn:schemas-microsoft-com:vml" Requires="v">
                <p:oleObj spid="_x0000_s68641" r:id="rId4" imgW="1282700" imgH="431800" progId="Equation.3">
                  <p:embed/>
                </p:oleObj>
              </mc:Choice>
              <mc:Fallback>
                <p:oleObj r:id="rId4" imgW="1282700" imgH="4318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1338" y="3644900"/>
                        <a:ext cx="3948112" cy="1223963"/>
                      </a:xfrm>
                      <a:prstGeom prst="rect">
                        <a:avLst/>
                      </a:prstGeom>
                      <a:solidFill>
                        <a:srgbClr val="FFFF00"/>
                      </a:solidFill>
                      <a:ln w="9525">
                        <a:solidFill>
                          <a:srgbClr val="000099"/>
                        </a:solidFill>
                        <a:miter lim="800000"/>
                        <a:headEnd/>
                        <a:tailEnd/>
                      </a:ln>
                    </p:spPr>
                  </p:pic>
                </p:oleObj>
              </mc:Fallback>
            </mc:AlternateContent>
          </a:graphicData>
        </a:graphic>
      </p:graphicFrame>
      <p:sp>
        <p:nvSpPr>
          <p:cNvPr id="686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9BA8A6E-E2CC-4543-A3BA-3A9FEFFB0353}" type="slidenum">
              <a:rPr altLang="en-US" smtClean="0"/>
              <a:pPr/>
              <a:t>32</a:t>
            </a:fld>
            <a:endParaRPr lang="zh-CN" altLang="zh-CN" smtClean="0"/>
          </a:p>
        </p:txBody>
      </p:sp>
      <p:sp>
        <p:nvSpPr>
          <p:cNvPr id="686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95300" y="188913"/>
            <a:ext cx="9066213" cy="792162"/>
          </a:xfrm>
        </p:spPr>
        <p:txBody>
          <a:bodyPr/>
          <a:lstStyle/>
          <a:p>
            <a:pPr algn="ctr" eaLnBrk="1" hangingPunct="1"/>
            <a:r>
              <a:rPr lang="zh-CN" altLang="en-US" smtClean="0">
                <a:ea typeface="黑体" panose="02010609060101010101" pitchFamily="49" charset="-122"/>
              </a:rPr>
              <a:t>正交关系的另一个重要特性 </a:t>
            </a:r>
          </a:p>
        </p:txBody>
      </p:sp>
      <p:sp>
        <p:nvSpPr>
          <p:cNvPr id="157699" name="Rectangle 3"/>
          <p:cNvSpPr>
            <a:spLocks noGrp="1" noChangeArrowheads="1"/>
          </p:cNvSpPr>
          <p:nvPr>
            <p:ph idx="1"/>
          </p:nvPr>
        </p:nvSpPr>
        <p:spPr>
          <a:xfrm>
            <a:off x="495300" y="1196975"/>
            <a:ext cx="9066213" cy="4933950"/>
          </a:xfrm>
        </p:spPr>
        <p:txBody>
          <a:bodyPr/>
          <a:lstStyle/>
          <a:p>
            <a:pPr eaLnBrk="1" hangingPunct="1">
              <a:lnSpc>
                <a:spcPct val="90000"/>
              </a:lnSpc>
            </a:pPr>
            <a:r>
              <a:rPr lang="zh-CN" altLang="en-US" smtClean="0">
                <a:ea typeface="黑体" panose="02010609060101010101" pitchFamily="49" charset="-122"/>
              </a:rPr>
              <a:t>任何一个码片向量和该码片向量自己的规格化内积都是 </a:t>
            </a:r>
            <a:r>
              <a:rPr lang="en-US" altLang="zh-CN" smtClean="0">
                <a:ea typeface="黑体" panose="02010609060101010101" pitchFamily="49" charset="-122"/>
              </a:rPr>
              <a:t>1 </a:t>
            </a:r>
            <a:r>
              <a:rPr lang="zh-CN" altLang="en-US" smtClean="0">
                <a:ea typeface="黑体" panose="02010609060101010101" pitchFamily="49" charset="-122"/>
              </a:rPr>
              <a:t>。</a:t>
            </a:r>
          </a:p>
          <a:p>
            <a:pPr eaLnBrk="1" hangingPunct="1">
              <a:lnSpc>
                <a:spcPct val="90000"/>
              </a:lnSpc>
            </a:pPr>
            <a:endParaRPr lang="zh-CN" altLang="en-US" smtClean="0">
              <a:ea typeface="黑体" panose="02010609060101010101" pitchFamily="49" charset="-122"/>
            </a:endParaRPr>
          </a:p>
          <a:p>
            <a:pPr eaLnBrk="1" hangingPunct="1">
              <a:lnSpc>
                <a:spcPct val="90000"/>
              </a:lnSpc>
            </a:pPr>
            <a:endParaRPr lang="zh-CN" altLang="en-US" smtClean="0">
              <a:ea typeface="黑体" panose="02010609060101010101" pitchFamily="49" charset="-122"/>
            </a:endParaRPr>
          </a:p>
          <a:p>
            <a:pPr eaLnBrk="1" hangingPunct="1">
              <a:lnSpc>
                <a:spcPct val="90000"/>
              </a:lnSpc>
            </a:pPr>
            <a:endParaRPr lang="zh-CN" altLang="en-US" smtClean="0">
              <a:ea typeface="黑体" panose="02010609060101010101" pitchFamily="49" charset="-122"/>
            </a:endParaRPr>
          </a:p>
          <a:p>
            <a:pPr eaLnBrk="1" hangingPunct="1">
              <a:lnSpc>
                <a:spcPct val="90000"/>
              </a:lnSpc>
            </a:pPr>
            <a:r>
              <a:rPr lang="zh-CN" altLang="en-US" smtClean="0">
                <a:ea typeface="黑体" panose="02010609060101010101" pitchFamily="49" charset="-122"/>
              </a:rPr>
              <a:t>一个码片向量和该码片反码的向量的规格化内积值是 </a:t>
            </a:r>
            <a:r>
              <a:rPr lang="en-US" altLang="zh-CN" smtClean="0">
                <a:ea typeface="黑体" panose="02010609060101010101" pitchFamily="49" charset="-122"/>
              </a:rPr>
              <a:t>–1</a:t>
            </a:r>
            <a:r>
              <a:rPr lang="zh-CN" altLang="en-US" smtClean="0">
                <a:ea typeface="黑体" panose="02010609060101010101" pitchFamily="49" charset="-122"/>
              </a:rPr>
              <a:t>。 </a:t>
            </a:r>
          </a:p>
        </p:txBody>
      </p:sp>
      <p:sp>
        <p:nvSpPr>
          <p:cNvPr id="70660" name="Rectangle 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70661" name="Rectangle 6"/>
          <p:cNvSpPr>
            <a:spLocks noChangeArrowheads="1"/>
          </p:cNvSpPr>
          <p:nvPr/>
        </p:nvSpPr>
        <p:spPr bwMode="auto">
          <a:xfrm>
            <a:off x="0" y="30543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70662" name="Rectangle 8"/>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70663" name="Object 7"/>
          <p:cNvGraphicFramePr>
            <a:graphicFrameLocks noChangeAspect="1"/>
          </p:cNvGraphicFramePr>
          <p:nvPr/>
        </p:nvGraphicFramePr>
        <p:xfrm>
          <a:off x="920750" y="2282825"/>
          <a:ext cx="8135938" cy="1160463"/>
        </p:xfrm>
        <a:graphic>
          <a:graphicData uri="http://schemas.openxmlformats.org/presentationml/2006/ole">
            <mc:AlternateContent xmlns:mc="http://schemas.openxmlformats.org/markup-compatibility/2006">
              <mc:Choice xmlns:v="urn:schemas-microsoft-com:vml" Requires="v">
                <p:oleObj spid="_x0000_s70690" r:id="rId4" imgW="2781300" imgH="431800" progId="Equation.3">
                  <p:embed/>
                </p:oleObj>
              </mc:Choice>
              <mc:Fallback>
                <p:oleObj r:id="rId4" imgW="2781300" imgH="4318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750" y="2282825"/>
                        <a:ext cx="8135938" cy="11604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55E36C-F441-4217-87EE-CBD1A4A32799}" type="slidenum">
              <a:rPr altLang="en-US" smtClean="0"/>
              <a:pPr/>
              <a:t>33</a:t>
            </a:fld>
            <a:endParaRPr lang="zh-CN" altLang="zh-CN" smtClean="0"/>
          </a:p>
        </p:txBody>
      </p:sp>
      <p:sp>
        <p:nvSpPr>
          <p:cNvPr id="7066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title"/>
          </p:nvPr>
        </p:nvSpPr>
        <p:spPr/>
        <p:txBody>
          <a:bodyPr/>
          <a:lstStyle/>
          <a:p>
            <a:pPr algn="ctr" eaLnBrk="1" hangingPunct="1"/>
            <a:r>
              <a:rPr lang="en-US" altLang="zh-CN" smtClean="0">
                <a:ea typeface="黑体" panose="02010609060101010101" pitchFamily="49" charset="-122"/>
              </a:rPr>
              <a:t>CDMA </a:t>
            </a:r>
            <a:r>
              <a:rPr lang="zh-CN" altLang="en-US" smtClean="0">
                <a:ea typeface="黑体" panose="02010609060101010101" pitchFamily="49" charset="-122"/>
              </a:rPr>
              <a:t>的工作原理 </a:t>
            </a:r>
          </a:p>
        </p:txBody>
      </p:sp>
      <p:sp>
        <p:nvSpPr>
          <p:cNvPr id="72707" name="Rectangle 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72708" name="Rectangle 6"/>
          <p:cNvSpPr>
            <a:spLocks noChangeArrowheads="1"/>
          </p:cNvSpPr>
          <p:nvPr/>
        </p:nvSpPr>
        <p:spPr bwMode="auto">
          <a:xfrm>
            <a:off x="130175" y="2509838"/>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72709" name="Rectangle 7"/>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72710" name="Line 10"/>
          <p:cNvSpPr>
            <a:spLocks noChangeShapeType="1"/>
          </p:cNvSpPr>
          <p:nvPr/>
        </p:nvSpPr>
        <p:spPr bwMode="auto">
          <a:xfrm>
            <a:off x="3746500" y="2098675"/>
            <a:ext cx="169703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2711" name="Text Box 11"/>
          <p:cNvSpPr txBox="1">
            <a:spLocks noChangeArrowheads="1"/>
          </p:cNvSpPr>
          <p:nvPr/>
        </p:nvSpPr>
        <p:spPr bwMode="auto">
          <a:xfrm>
            <a:off x="1182688" y="2286000"/>
            <a:ext cx="22161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en-US" altLang="zh-CN" sz="2000" b="1">
                <a:solidFill>
                  <a:srgbClr val="000099"/>
                </a:solidFill>
                <a:ea typeface="黑体" panose="02010609060101010101" pitchFamily="49" charset="-122"/>
              </a:rPr>
              <a:t>S </a:t>
            </a:r>
            <a:r>
              <a:rPr lang="zh-CN" altLang="en-US" sz="2000" b="1">
                <a:solidFill>
                  <a:srgbClr val="000099"/>
                </a:solidFill>
                <a:ea typeface="黑体" panose="02010609060101010101" pitchFamily="49" charset="-122"/>
              </a:rPr>
              <a:t>站的码片序列 </a:t>
            </a:r>
            <a:r>
              <a:rPr lang="en-US" altLang="zh-CN" sz="2000" b="1">
                <a:solidFill>
                  <a:srgbClr val="000099"/>
                </a:solidFill>
                <a:ea typeface="黑体" panose="02010609060101010101" pitchFamily="49" charset="-122"/>
              </a:rPr>
              <a:t>S</a:t>
            </a:r>
          </a:p>
        </p:txBody>
      </p:sp>
      <p:sp>
        <p:nvSpPr>
          <p:cNvPr id="72712" name="Line 12"/>
          <p:cNvSpPr>
            <a:spLocks noChangeShapeType="1"/>
          </p:cNvSpPr>
          <p:nvPr/>
        </p:nvSpPr>
        <p:spPr bwMode="auto">
          <a:xfrm>
            <a:off x="3748088" y="1398588"/>
            <a:ext cx="0" cy="43338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3" name="Line 13"/>
          <p:cNvSpPr>
            <a:spLocks noChangeShapeType="1"/>
          </p:cNvSpPr>
          <p:nvPr/>
        </p:nvSpPr>
        <p:spPr bwMode="auto">
          <a:xfrm>
            <a:off x="5457825" y="1398588"/>
            <a:ext cx="0" cy="43338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4" name="Line 14"/>
          <p:cNvSpPr>
            <a:spLocks noChangeShapeType="1"/>
          </p:cNvSpPr>
          <p:nvPr/>
        </p:nvSpPr>
        <p:spPr bwMode="auto">
          <a:xfrm>
            <a:off x="7167563" y="1398588"/>
            <a:ext cx="0" cy="43338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5" name="Line 15"/>
          <p:cNvSpPr>
            <a:spLocks noChangeShapeType="1"/>
          </p:cNvSpPr>
          <p:nvPr/>
        </p:nvSpPr>
        <p:spPr bwMode="auto">
          <a:xfrm>
            <a:off x="8877300" y="1398588"/>
            <a:ext cx="0" cy="43338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6" name="Freeform 16"/>
          <p:cNvSpPr>
            <a:spLocks noChangeArrowheads="1"/>
          </p:cNvSpPr>
          <p:nvPr/>
        </p:nvSpPr>
        <p:spPr bwMode="auto">
          <a:xfrm>
            <a:off x="3748088" y="2330450"/>
            <a:ext cx="1709737" cy="319088"/>
          </a:xfrm>
          <a:custGeom>
            <a:avLst/>
            <a:gdLst>
              <a:gd name="T0" fmla="*/ 0 w 768"/>
              <a:gd name="T1" fmla="*/ 156288 h 196"/>
              <a:gd name="T2" fmla="*/ 0 w 768"/>
              <a:gd name="T3" fmla="*/ 319088 h 196"/>
              <a:gd name="T4" fmla="*/ 641151 w 768"/>
              <a:gd name="T5" fmla="*/ 312576 h 196"/>
              <a:gd name="T6" fmla="*/ 641151 w 768"/>
              <a:gd name="T7" fmla="*/ 0 h 196"/>
              <a:gd name="T8" fmla="*/ 1068586 w 768"/>
              <a:gd name="T9" fmla="*/ 0 h 196"/>
              <a:gd name="T10" fmla="*/ 1068586 w 768"/>
              <a:gd name="T11" fmla="*/ 312576 h 196"/>
              <a:gd name="T12" fmla="*/ 1282303 w 768"/>
              <a:gd name="T13" fmla="*/ 312576 h 196"/>
              <a:gd name="T14" fmla="*/ 1282303 w 768"/>
              <a:gd name="T15" fmla="*/ 0 h 196"/>
              <a:gd name="T16" fmla="*/ 1709737 w 768"/>
              <a:gd name="T17" fmla="*/ 0 h 196"/>
              <a:gd name="T18" fmla="*/ 1709737 w 768"/>
              <a:gd name="T19" fmla="*/ 156288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72717" name="Freeform 17"/>
          <p:cNvSpPr>
            <a:spLocks noChangeArrowheads="1"/>
          </p:cNvSpPr>
          <p:nvPr/>
        </p:nvSpPr>
        <p:spPr bwMode="auto">
          <a:xfrm>
            <a:off x="5457825" y="2330450"/>
            <a:ext cx="1709738" cy="319088"/>
          </a:xfrm>
          <a:custGeom>
            <a:avLst/>
            <a:gdLst>
              <a:gd name="T0" fmla="*/ 0 w 768"/>
              <a:gd name="T1" fmla="*/ 156288 h 196"/>
              <a:gd name="T2" fmla="*/ 0 w 768"/>
              <a:gd name="T3" fmla="*/ 319088 h 196"/>
              <a:gd name="T4" fmla="*/ 641152 w 768"/>
              <a:gd name="T5" fmla="*/ 312576 h 196"/>
              <a:gd name="T6" fmla="*/ 641152 w 768"/>
              <a:gd name="T7" fmla="*/ 0 h 196"/>
              <a:gd name="T8" fmla="*/ 1068586 w 768"/>
              <a:gd name="T9" fmla="*/ 0 h 196"/>
              <a:gd name="T10" fmla="*/ 1068586 w 768"/>
              <a:gd name="T11" fmla="*/ 312576 h 196"/>
              <a:gd name="T12" fmla="*/ 1282304 w 768"/>
              <a:gd name="T13" fmla="*/ 312576 h 196"/>
              <a:gd name="T14" fmla="*/ 1282304 w 768"/>
              <a:gd name="T15" fmla="*/ 0 h 196"/>
              <a:gd name="T16" fmla="*/ 1709738 w 768"/>
              <a:gd name="T17" fmla="*/ 0 h 196"/>
              <a:gd name="T18" fmla="*/ 1709738 w 768"/>
              <a:gd name="T19" fmla="*/ 156288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72718" name="Freeform 18"/>
          <p:cNvSpPr>
            <a:spLocks noChangeArrowheads="1"/>
          </p:cNvSpPr>
          <p:nvPr/>
        </p:nvSpPr>
        <p:spPr bwMode="auto">
          <a:xfrm>
            <a:off x="3748088" y="3421063"/>
            <a:ext cx="1709737" cy="311150"/>
          </a:xfrm>
          <a:custGeom>
            <a:avLst/>
            <a:gdLst>
              <a:gd name="T0" fmla="*/ 0 w 768"/>
              <a:gd name="T1" fmla="*/ 155575 h 192"/>
              <a:gd name="T2" fmla="*/ 0 w 768"/>
              <a:gd name="T3" fmla="*/ 311150 h 192"/>
              <a:gd name="T4" fmla="*/ 427434 w 768"/>
              <a:gd name="T5" fmla="*/ 311150 h 192"/>
              <a:gd name="T6" fmla="*/ 427434 w 768"/>
              <a:gd name="T7" fmla="*/ 0 h 192"/>
              <a:gd name="T8" fmla="*/ 641151 w 768"/>
              <a:gd name="T9" fmla="*/ 0 h 192"/>
              <a:gd name="T10" fmla="*/ 641151 w 768"/>
              <a:gd name="T11" fmla="*/ 311150 h 192"/>
              <a:gd name="T12" fmla="*/ 854869 w 768"/>
              <a:gd name="T13" fmla="*/ 311150 h 192"/>
              <a:gd name="T14" fmla="*/ 854869 w 768"/>
              <a:gd name="T15" fmla="*/ 0 h 192"/>
              <a:gd name="T16" fmla="*/ 1496020 w 768"/>
              <a:gd name="T17" fmla="*/ 0 h 192"/>
              <a:gd name="T18" fmla="*/ 1496020 w 768"/>
              <a:gd name="T19" fmla="*/ 311150 h 192"/>
              <a:gd name="T20" fmla="*/ 1709737 w 768"/>
              <a:gd name="T21" fmla="*/ 311150 h 192"/>
              <a:gd name="T22" fmla="*/ 1709737 w 768"/>
              <a:gd name="T23" fmla="*/ 155575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a:solidFill>
              <a:schemeClr val="tx1"/>
            </a:solidFill>
            <a:round/>
            <a:headEnd/>
            <a:tailEnd/>
          </a:ln>
        </p:spPr>
        <p:txBody>
          <a:bodyPr/>
          <a:lstStyle/>
          <a:p>
            <a:endParaRPr lang="zh-CN" altLang="en-US"/>
          </a:p>
        </p:txBody>
      </p:sp>
      <p:sp>
        <p:nvSpPr>
          <p:cNvPr id="72719" name="Freeform 19"/>
          <p:cNvSpPr>
            <a:spLocks noChangeArrowheads="1"/>
          </p:cNvSpPr>
          <p:nvPr/>
        </p:nvSpPr>
        <p:spPr bwMode="auto">
          <a:xfrm>
            <a:off x="5457825" y="3421063"/>
            <a:ext cx="1709738" cy="311150"/>
          </a:xfrm>
          <a:custGeom>
            <a:avLst/>
            <a:gdLst>
              <a:gd name="T0" fmla="*/ 0 w 768"/>
              <a:gd name="T1" fmla="*/ 155575 h 192"/>
              <a:gd name="T2" fmla="*/ 0 w 768"/>
              <a:gd name="T3" fmla="*/ 311150 h 192"/>
              <a:gd name="T4" fmla="*/ 427435 w 768"/>
              <a:gd name="T5" fmla="*/ 311150 h 192"/>
              <a:gd name="T6" fmla="*/ 427435 w 768"/>
              <a:gd name="T7" fmla="*/ 0 h 192"/>
              <a:gd name="T8" fmla="*/ 641152 w 768"/>
              <a:gd name="T9" fmla="*/ 0 h 192"/>
              <a:gd name="T10" fmla="*/ 641152 w 768"/>
              <a:gd name="T11" fmla="*/ 311150 h 192"/>
              <a:gd name="T12" fmla="*/ 854869 w 768"/>
              <a:gd name="T13" fmla="*/ 311150 h 192"/>
              <a:gd name="T14" fmla="*/ 854869 w 768"/>
              <a:gd name="T15" fmla="*/ 0 h 192"/>
              <a:gd name="T16" fmla="*/ 1496021 w 768"/>
              <a:gd name="T17" fmla="*/ 0 h 192"/>
              <a:gd name="T18" fmla="*/ 1496021 w 768"/>
              <a:gd name="T19" fmla="*/ 311150 h 192"/>
              <a:gd name="T20" fmla="*/ 1709738 w 768"/>
              <a:gd name="T21" fmla="*/ 311150 h 192"/>
              <a:gd name="T22" fmla="*/ 1709738 w 768"/>
              <a:gd name="T23" fmla="*/ 155575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a:solidFill>
              <a:schemeClr val="tx1"/>
            </a:solidFill>
            <a:round/>
            <a:headEnd/>
            <a:tailEnd/>
          </a:ln>
        </p:spPr>
        <p:txBody>
          <a:bodyPr/>
          <a:lstStyle/>
          <a:p>
            <a:endParaRPr lang="zh-CN" altLang="en-US"/>
          </a:p>
        </p:txBody>
      </p:sp>
      <p:sp>
        <p:nvSpPr>
          <p:cNvPr id="72720" name="Freeform 20"/>
          <p:cNvSpPr>
            <a:spLocks noChangeArrowheads="1"/>
          </p:cNvSpPr>
          <p:nvPr/>
        </p:nvSpPr>
        <p:spPr bwMode="auto">
          <a:xfrm flipV="1">
            <a:off x="7167563" y="3421063"/>
            <a:ext cx="1709737" cy="311150"/>
          </a:xfrm>
          <a:custGeom>
            <a:avLst/>
            <a:gdLst>
              <a:gd name="T0" fmla="*/ 0 w 768"/>
              <a:gd name="T1" fmla="*/ 155575 h 192"/>
              <a:gd name="T2" fmla="*/ 0 w 768"/>
              <a:gd name="T3" fmla="*/ 311150 h 192"/>
              <a:gd name="T4" fmla="*/ 427434 w 768"/>
              <a:gd name="T5" fmla="*/ 311150 h 192"/>
              <a:gd name="T6" fmla="*/ 427434 w 768"/>
              <a:gd name="T7" fmla="*/ 0 h 192"/>
              <a:gd name="T8" fmla="*/ 641151 w 768"/>
              <a:gd name="T9" fmla="*/ 0 h 192"/>
              <a:gd name="T10" fmla="*/ 641151 w 768"/>
              <a:gd name="T11" fmla="*/ 311150 h 192"/>
              <a:gd name="T12" fmla="*/ 854869 w 768"/>
              <a:gd name="T13" fmla="*/ 311150 h 192"/>
              <a:gd name="T14" fmla="*/ 854869 w 768"/>
              <a:gd name="T15" fmla="*/ 0 h 192"/>
              <a:gd name="T16" fmla="*/ 1496020 w 768"/>
              <a:gd name="T17" fmla="*/ 0 h 192"/>
              <a:gd name="T18" fmla="*/ 1496020 w 768"/>
              <a:gd name="T19" fmla="*/ 311150 h 192"/>
              <a:gd name="T20" fmla="*/ 1709737 w 768"/>
              <a:gd name="T21" fmla="*/ 311150 h 192"/>
              <a:gd name="T22" fmla="*/ 1709737 w 768"/>
              <a:gd name="T23" fmla="*/ 155575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66FFFF"/>
          </a:solidFill>
          <a:ln w="19050">
            <a:solidFill>
              <a:schemeClr val="tx1"/>
            </a:solidFill>
            <a:round/>
            <a:headEnd/>
            <a:tailEnd/>
          </a:ln>
        </p:spPr>
        <p:txBody>
          <a:bodyPr/>
          <a:lstStyle/>
          <a:p>
            <a:endParaRPr lang="zh-CN" altLang="en-US"/>
          </a:p>
        </p:txBody>
      </p:sp>
      <p:sp>
        <p:nvSpPr>
          <p:cNvPr id="72721" name="Freeform 21"/>
          <p:cNvSpPr>
            <a:spLocks noChangeArrowheads="1"/>
          </p:cNvSpPr>
          <p:nvPr/>
        </p:nvSpPr>
        <p:spPr bwMode="auto">
          <a:xfrm>
            <a:off x="3748088" y="5194300"/>
            <a:ext cx="1709737" cy="312738"/>
          </a:xfrm>
          <a:custGeom>
            <a:avLst/>
            <a:gdLst>
              <a:gd name="T0" fmla="*/ 0 w 768"/>
              <a:gd name="T1" fmla="*/ 156369 h 192"/>
              <a:gd name="T2" fmla="*/ 0 w 768"/>
              <a:gd name="T3" fmla="*/ 0 h 192"/>
              <a:gd name="T4" fmla="*/ 427434 w 768"/>
              <a:gd name="T5" fmla="*/ 0 h 192"/>
              <a:gd name="T6" fmla="*/ 427434 w 768"/>
              <a:gd name="T7" fmla="*/ 312738 h 192"/>
              <a:gd name="T8" fmla="*/ 854869 w 768"/>
              <a:gd name="T9" fmla="*/ 312738 h 192"/>
              <a:gd name="T10" fmla="*/ 854869 w 768"/>
              <a:gd name="T11" fmla="*/ 0 h 192"/>
              <a:gd name="T12" fmla="*/ 1068586 w 768"/>
              <a:gd name="T13" fmla="*/ 0 h 192"/>
              <a:gd name="T14" fmla="*/ 1068586 w 768"/>
              <a:gd name="T15" fmla="*/ 312738 h 192"/>
              <a:gd name="T16" fmla="*/ 1282303 w 768"/>
              <a:gd name="T17" fmla="*/ 312738 h 192"/>
              <a:gd name="T18" fmla="*/ 1282303 w 768"/>
              <a:gd name="T19" fmla="*/ 0 h 192"/>
              <a:gd name="T20" fmla="*/ 1496020 w 768"/>
              <a:gd name="T21" fmla="*/ 0 h 192"/>
              <a:gd name="T22" fmla="*/ 1496020 w 768"/>
              <a:gd name="T23" fmla="*/ 312738 h 192"/>
              <a:gd name="T24" fmla="*/ 1709737 w 768"/>
              <a:gd name="T25" fmla="*/ 312738 h 192"/>
              <a:gd name="T26" fmla="*/ 1709737 w 768"/>
              <a:gd name="T27" fmla="*/ 151482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808000"/>
          </a:solidFill>
          <a:ln w="19050">
            <a:solidFill>
              <a:schemeClr val="tx1"/>
            </a:solidFill>
            <a:round/>
            <a:headEnd/>
            <a:tailEnd/>
          </a:ln>
        </p:spPr>
        <p:txBody>
          <a:bodyPr/>
          <a:lstStyle/>
          <a:p>
            <a:endParaRPr lang="zh-CN" altLang="en-US"/>
          </a:p>
        </p:txBody>
      </p:sp>
      <p:sp>
        <p:nvSpPr>
          <p:cNvPr id="72722" name="Freeform 22"/>
          <p:cNvSpPr>
            <a:spLocks noChangeArrowheads="1"/>
          </p:cNvSpPr>
          <p:nvPr/>
        </p:nvSpPr>
        <p:spPr bwMode="auto">
          <a:xfrm>
            <a:off x="5457825" y="5194300"/>
            <a:ext cx="1709738" cy="312738"/>
          </a:xfrm>
          <a:custGeom>
            <a:avLst/>
            <a:gdLst>
              <a:gd name="T0" fmla="*/ 0 w 768"/>
              <a:gd name="T1" fmla="*/ 156369 h 192"/>
              <a:gd name="T2" fmla="*/ 0 w 768"/>
              <a:gd name="T3" fmla="*/ 0 h 192"/>
              <a:gd name="T4" fmla="*/ 427435 w 768"/>
              <a:gd name="T5" fmla="*/ 0 h 192"/>
              <a:gd name="T6" fmla="*/ 427435 w 768"/>
              <a:gd name="T7" fmla="*/ 312738 h 192"/>
              <a:gd name="T8" fmla="*/ 854869 w 768"/>
              <a:gd name="T9" fmla="*/ 312738 h 192"/>
              <a:gd name="T10" fmla="*/ 854869 w 768"/>
              <a:gd name="T11" fmla="*/ 0 h 192"/>
              <a:gd name="T12" fmla="*/ 1068586 w 768"/>
              <a:gd name="T13" fmla="*/ 0 h 192"/>
              <a:gd name="T14" fmla="*/ 1068586 w 768"/>
              <a:gd name="T15" fmla="*/ 312738 h 192"/>
              <a:gd name="T16" fmla="*/ 1282304 w 768"/>
              <a:gd name="T17" fmla="*/ 312738 h 192"/>
              <a:gd name="T18" fmla="*/ 1282304 w 768"/>
              <a:gd name="T19" fmla="*/ 0 h 192"/>
              <a:gd name="T20" fmla="*/ 1496021 w 768"/>
              <a:gd name="T21" fmla="*/ 0 h 192"/>
              <a:gd name="T22" fmla="*/ 1496021 w 768"/>
              <a:gd name="T23" fmla="*/ 312738 h 192"/>
              <a:gd name="T24" fmla="*/ 1709738 w 768"/>
              <a:gd name="T25" fmla="*/ 312738 h 192"/>
              <a:gd name="T26" fmla="*/ 1709738 w 768"/>
              <a:gd name="T27" fmla="*/ 151482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808000"/>
          </a:solidFill>
          <a:ln w="19050">
            <a:solidFill>
              <a:schemeClr val="tx1"/>
            </a:solidFill>
            <a:round/>
            <a:headEnd/>
            <a:tailEnd/>
          </a:ln>
        </p:spPr>
        <p:txBody>
          <a:bodyPr/>
          <a:lstStyle/>
          <a:p>
            <a:endParaRPr lang="zh-CN" altLang="en-US"/>
          </a:p>
        </p:txBody>
      </p:sp>
      <p:sp>
        <p:nvSpPr>
          <p:cNvPr id="72723" name="Freeform 23"/>
          <p:cNvSpPr>
            <a:spLocks noChangeArrowheads="1"/>
          </p:cNvSpPr>
          <p:nvPr/>
        </p:nvSpPr>
        <p:spPr bwMode="auto">
          <a:xfrm flipV="1">
            <a:off x="7167563" y="5194300"/>
            <a:ext cx="1709737" cy="312738"/>
          </a:xfrm>
          <a:custGeom>
            <a:avLst/>
            <a:gdLst>
              <a:gd name="T0" fmla="*/ 0 w 768"/>
              <a:gd name="T1" fmla="*/ 156369 h 192"/>
              <a:gd name="T2" fmla="*/ 0 w 768"/>
              <a:gd name="T3" fmla="*/ 0 h 192"/>
              <a:gd name="T4" fmla="*/ 427434 w 768"/>
              <a:gd name="T5" fmla="*/ 0 h 192"/>
              <a:gd name="T6" fmla="*/ 427434 w 768"/>
              <a:gd name="T7" fmla="*/ 312738 h 192"/>
              <a:gd name="T8" fmla="*/ 854869 w 768"/>
              <a:gd name="T9" fmla="*/ 312738 h 192"/>
              <a:gd name="T10" fmla="*/ 854869 w 768"/>
              <a:gd name="T11" fmla="*/ 0 h 192"/>
              <a:gd name="T12" fmla="*/ 1068586 w 768"/>
              <a:gd name="T13" fmla="*/ 0 h 192"/>
              <a:gd name="T14" fmla="*/ 1068586 w 768"/>
              <a:gd name="T15" fmla="*/ 312738 h 192"/>
              <a:gd name="T16" fmla="*/ 1282303 w 768"/>
              <a:gd name="T17" fmla="*/ 312738 h 192"/>
              <a:gd name="T18" fmla="*/ 1282303 w 768"/>
              <a:gd name="T19" fmla="*/ 0 h 192"/>
              <a:gd name="T20" fmla="*/ 1496020 w 768"/>
              <a:gd name="T21" fmla="*/ 0 h 192"/>
              <a:gd name="T22" fmla="*/ 1496020 w 768"/>
              <a:gd name="T23" fmla="*/ 312738 h 192"/>
              <a:gd name="T24" fmla="*/ 1709737 w 768"/>
              <a:gd name="T25" fmla="*/ 312738 h 192"/>
              <a:gd name="T26" fmla="*/ 1709737 w 768"/>
              <a:gd name="T27" fmla="*/ 151482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FF9900"/>
          </a:solidFill>
          <a:ln w="19050">
            <a:solidFill>
              <a:schemeClr val="tx1"/>
            </a:solidFill>
            <a:round/>
            <a:headEnd/>
            <a:tailEnd/>
          </a:ln>
        </p:spPr>
        <p:txBody>
          <a:bodyPr/>
          <a:lstStyle/>
          <a:p>
            <a:endParaRPr lang="zh-CN" altLang="en-US"/>
          </a:p>
        </p:txBody>
      </p:sp>
      <p:sp>
        <p:nvSpPr>
          <p:cNvPr id="72724" name="Freeform 24"/>
          <p:cNvSpPr>
            <a:spLocks noChangeArrowheads="1"/>
          </p:cNvSpPr>
          <p:nvPr/>
        </p:nvSpPr>
        <p:spPr bwMode="auto">
          <a:xfrm>
            <a:off x="3748088" y="4665663"/>
            <a:ext cx="5129212" cy="314325"/>
          </a:xfrm>
          <a:custGeom>
            <a:avLst/>
            <a:gdLst>
              <a:gd name="T0" fmla="*/ 0 w 2827"/>
              <a:gd name="T1" fmla="*/ 155542 h 194"/>
              <a:gd name="T2" fmla="*/ 0 w 2827"/>
              <a:gd name="T3" fmla="*/ 0 h 194"/>
              <a:gd name="T4" fmla="*/ 3421894 w 2827"/>
              <a:gd name="T5" fmla="*/ 3240 h 194"/>
              <a:gd name="T6" fmla="*/ 3421894 w 2827"/>
              <a:gd name="T7" fmla="*/ 314325 h 194"/>
              <a:gd name="T8" fmla="*/ 5127398 w 2827"/>
              <a:gd name="T9" fmla="*/ 311085 h 194"/>
              <a:gd name="T10" fmla="*/ 5129212 w 2827"/>
              <a:gd name="T11" fmla="*/ 155542 h 1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27" h="194">
                <a:moveTo>
                  <a:pt x="0" y="96"/>
                </a:moveTo>
                <a:lnTo>
                  <a:pt x="0" y="0"/>
                </a:lnTo>
                <a:lnTo>
                  <a:pt x="1886" y="2"/>
                </a:lnTo>
                <a:lnTo>
                  <a:pt x="1886" y="194"/>
                </a:lnTo>
                <a:lnTo>
                  <a:pt x="2826" y="192"/>
                </a:lnTo>
                <a:lnTo>
                  <a:pt x="2827" y="96"/>
                </a:lnTo>
              </a:path>
            </a:pathLst>
          </a:custGeom>
          <a:solidFill>
            <a:srgbClr val="FFFF00"/>
          </a:solidFill>
          <a:ln w="19050">
            <a:solidFill>
              <a:schemeClr val="tx1"/>
            </a:solidFill>
            <a:round/>
            <a:headEnd/>
            <a:tailEnd/>
          </a:ln>
        </p:spPr>
        <p:txBody>
          <a:bodyPr/>
          <a:lstStyle/>
          <a:p>
            <a:endParaRPr lang="zh-CN" altLang="en-US"/>
          </a:p>
        </p:txBody>
      </p:sp>
      <p:sp>
        <p:nvSpPr>
          <p:cNvPr id="72725" name="Freeform 25"/>
          <p:cNvSpPr>
            <a:spLocks noChangeArrowheads="1"/>
          </p:cNvSpPr>
          <p:nvPr/>
        </p:nvSpPr>
        <p:spPr bwMode="auto">
          <a:xfrm>
            <a:off x="3748088" y="1630363"/>
            <a:ext cx="5129212" cy="312737"/>
          </a:xfrm>
          <a:custGeom>
            <a:avLst/>
            <a:gdLst>
              <a:gd name="T0" fmla="*/ 0 w 2304"/>
              <a:gd name="T1" fmla="*/ 156369 h 192"/>
              <a:gd name="T2" fmla="*/ 0 w 2304"/>
              <a:gd name="T3" fmla="*/ 0 h 192"/>
              <a:gd name="T4" fmla="*/ 3419475 w 2304"/>
              <a:gd name="T5" fmla="*/ 0 h 192"/>
              <a:gd name="T6" fmla="*/ 3419475 w 2304"/>
              <a:gd name="T7" fmla="*/ 312737 h 192"/>
              <a:gd name="T8" fmla="*/ 5129212 w 2304"/>
              <a:gd name="T9" fmla="*/ 312737 h 192"/>
              <a:gd name="T10" fmla="*/ 5129212 w 2304"/>
              <a:gd name="T11" fmla="*/ 156369 h 1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04" h="192">
                <a:moveTo>
                  <a:pt x="0" y="96"/>
                </a:moveTo>
                <a:lnTo>
                  <a:pt x="0" y="0"/>
                </a:lnTo>
                <a:lnTo>
                  <a:pt x="1536" y="0"/>
                </a:lnTo>
                <a:lnTo>
                  <a:pt x="1536" y="192"/>
                </a:lnTo>
                <a:lnTo>
                  <a:pt x="2304" y="192"/>
                </a:lnTo>
                <a:lnTo>
                  <a:pt x="2304" y="96"/>
                </a:lnTo>
              </a:path>
            </a:pathLst>
          </a:custGeom>
          <a:solidFill>
            <a:srgbClr val="FFFF00"/>
          </a:solidFill>
          <a:ln w="19050">
            <a:solidFill>
              <a:schemeClr val="tx1"/>
            </a:solidFill>
            <a:round/>
            <a:headEnd/>
            <a:tailEnd/>
          </a:ln>
        </p:spPr>
        <p:txBody>
          <a:bodyPr/>
          <a:lstStyle/>
          <a:p>
            <a:endParaRPr lang="zh-CN" altLang="en-US"/>
          </a:p>
        </p:txBody>
      </p:sp>
      <p:sp>
        <p:nvSpPr>
          <p:cNvPr id="72726" name="Line 26"/>
          <p:cNvSpPr>
            <a:spLocks noChangeShapeType="1"/>
          </p:cNvSpPr>
          <p:nvPr/>
        </p:nvSpPr>
        <p:spPr bwMode="auto">
          <a:xfrm>
            <a:off x="5457825" y="1514475"/>
            <a:ext cx="0" cy="155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27" name="Text Box 27"/>
          <p:cNvSpPr txBox="1">
            <a:spLocks noChangeArrowheads="1"/>
          </p:cNvSpPr>
          <p:nvPr/>
        </p:nvSpPr>
        <p:spPr bwMode="auto">
          <a:xfrm>
            <a:off x="4391025" y="1300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2728" name="Line 28"/>
          <p:cNvSpPr>
            <a:spLocks noChangeShapeType="1"/>
          </p:cNvSpPr>
          <p:nvPr/>
        </p:nvSpPr>
        <p:spPr bwMode="auto">
          <a:xfrm>
            <a:off x="3579813" y="3575050"/>
            <a:ext cx="5724525"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2729" name="Line 29"/>
          <p:cNvSpPr>
            <a:spLocks noChangeShapeType="1"/>
          </p:cNvSpPr>
          <p:nvPr/>
        </p:nvSpPr>
        <p:spPr bwMode="auto">
          <a:xfrm>
            <a:off x="3579813" y="4821238"/>
            <a:ext cx="57245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2730" name="Line 30"/>
          <p:cNvSpPr>
            <a:spLocks noChangeShapeType="1"/>
          </p:cNvSpPr>
          <p:nvPr/>
        </p:nvSpPr>
        <p:spPr bwMode="auto">
          <a:xfrm flipV="1">
            <a:off x="3579813" y="5351463"/>
            <a:ext cx="5724525" cy="14287"/>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2731" name="Freeform 31"/>
          <p:cNvSpPr>
            <a:spLocks noChangeArrowheads="1"/>
          </p:cNvSpPr>
          <p:nvPr/>
        </p:nvSpPr>
        <p:spPr bwMode="auto">
          <a:xfrm>
            <a:off x="3748088" y="3887788"/>
            <a:ext cx="1709737" cy="622300"/>
          </a:xfrm>
          <a:custGeom>
            <a:avLst/>
            <a:gdLst>
              <a:gd name="T0" fmla="*/ 0 w 768"/>
              <a:gd name="T1" fmla="*/ 311150 h 384"/>
              <a:gd name="T2" fmla="*/ 0 w 768"/>
              <a:gd name="T3" fmla="*/ 622300 h 384"/>
              <a:gd name="T4" fmla="*/ 427434 w 768"/>
              <a:gd name="T5" fmla="*/ 622300 h 384"/>
              <a:gd name="T6" fmla="*/ 427434 w 768"/>
              <a:gd name="T7" fmla="*/ 311150 h 384"/>
              <a:gd name="T8" fmla="*/ 854869 w 768"/>
              <a:gd name="T9" fmla="*/ 311150 h 384"/>
              <a:gd name="T10" fmla="*/ 854869 w 768"/>
              <a:gd name="T11" fmla="*/ 0 h 384"/>
              <a:gd name="T12" fmla="*/ 1068586 w 768"/>
              <a:gd name="T13" fmla="*/ 0 h 384"/>
              <a:gd name="T14" fmla="*/ 1068586 w 768"/>
              <a:gd name="T15" fmla="*/ 311150 h 384"/>
              <a:gd name="T16" fmla="*/ 1282303 w 768"/>
              <a:gd name="T17" fmla="*/ 311150 h 384"/>
              <a:gd name="T18" fmla="*/ 1282303 w 768"/>
              <a:gd name="T19" fmla="*/ 0 h 384"/>
              <a:gd name="T20" fmla="*/ 1496020 w 768"/>
              <a:gd name="T21" fmla="*/ 0 h 384"/>
              <a:gd name="T22" fmla="*/ 1496020 w 768"/>
              <a:gd name="T23" fmla="*/ 311150 h 384"/>
              <a:gd name="T24" fmla="*/ 1709737 w 768"/>
              <a:gd name="T25" fmla="*/ 311150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a:solidFill>
              <a:schemeClr val="tx1"/>
            </a:solidFill>
            <a:round/>
            <a:headEnd/>
            <a:tailEnd/>
          </a:ln>
        </p:spPr>
        <p:txBody>
          <a:bodyPr/>
          <a:lstStyle/>
          <a:p>
            <a:endParaRPr lang="zh-CN" altLang="en-US"/>
          </a:p>
        </p:txBody>
      </p:sp>
      <p:sp>
        <p:nvSpPr>
          <p:cNvPr id="72732" name="Freeform 32"/>
          <p:cNvSpPr>
            <a:spLocks noChangeArrowheads="1"/>
          </p:cNvSpPr>
          <p:nvPr/>
        </p:nvSpPr>
        <p:spPr bwMode="auto">
          <a:xfrm>
            <a:off x="5457825" y="3887788"/>
            <a:ext cx="1709738" cy="622300"/>
          </a:xfrm>
          <a:custGeom>
            <a:avLst/>
            <a:gdLst>
              <a:gd name="T0" fmla="*/ 0 w 768"/>
              <a:gd name="T1" fmla="*/ 311150 h 384"/>
              <a:gd name="T2" fmla="*/ 0 w 768"/>
              <a:gd name="T3" fmla="*/ 622300 h 384"/>
              <a:gd name="T4" fmla="*/ 427435 w 768"/>
              <a:gd name="T5" fmla="*/ 622300 h 384"/>
              <a:gd name="T6" fmla="*/ 427435 w 768"/>
              <a:gd name="T7" fmla="*/ 311150 h 384"/>
              <a:gd name="T8" fmla="*/ 854869 w 768"/>
              <a:gd name="T9" fmla="*/ 311150 h 384"/>
              <a:gd name="T10" fmla="*/ 854869 w 768"/>
              <a:gd name="T11" fmla="*/ 0 h 384"/>
              <a:gd name="T12" fmla="*/ 1068586 w 768"/>
              <a:gd name="T13" fmla="*/ 0 h 384"/>
              <a:gd name="T14" fmla="*/ 1068586 w 768"/>
              <a:gd name="T15" fmla="*/ 311150 h 384"/>
              <a:gd name="T16" fmla="*/ 1282304 w 768"/>
              <a:gd name="T17" fmla="*/ 311150 h 384"/>
              <a:gd name="T18" fmla="*/ 1282304 w 768"/>
              <a:gd name="T19" fmla="*/ 0 h 384"/>
              <a:gd name="T20" fmla="*/ 1496021 w 768"/>
              <a:gd name="T21" fmla="*/ 0 h 384"/>
              <a:gd name="T22" fmla="*/ 1496021 w 768"/>
              <a:gd name="T23" fmla="*/ 311150 h 384"/>
              <a:gd name="T24" fmla="*/ 1709738 w 768"/>
              <a:gd name="T25" fmla="*/ 311150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a:solidFill>
              <a:schemeClr val="tx1"/>
            </a:solidFill>
            <a:round/>
            <a:headEnd/>
            <a:tailEnd/>
          </a:ln>
        </p:spPr>
        <p:txBody>
          <a:bodyPr/>
          <a:lstStyle/>
          <a:p>
            <a:endParaRPr lang="zh-CN" altLang="en-US"/>
          </a:p>
        </p:txBody>
      </p:sp>
      <p:sp>
        <p:nvSpPr>
          <p:cNvPr id="72733" name="Freeform 33"/>
          <p:cNvSpPr>
            <a:spLocks noChangeArrowheads="1"/>
          </p:cNvSpPr>
          <p:nvPr/>
        </p:nvSpPr>
        <p:spPr bwMode="auto">
          <a:xfrm flipV="1">
            <a:off x="7167563" y="3887788"/>
            <a:ext cx="1709737" cy="622300"/>
          </a:xfrm>
          <a:custGeom>
            <a:avLst/>
            <a:gdLst>
              <a:gd name="T0" fmla="*/ 0 w 768"/>
              <a:gd name="T1" fmla="*/ 311150 h 384"/>
              <a:gd name="T2" fmla="*/ 0 w 768"/>
              <a:gd name="T3" fmla="*/ 622300 h 384"/>
              <a:gd name="T4" fmla="*/ 427434 w 768"/>
              <a:gd name="T5" fmla="*/ 622300 h 384"/>
              <a:gd name="T6" fmla="*/ 427434 w 768"/>
              <a:gd name="T7" fmla="*/ 311150 h 384"/>
              <a:gd name="T8" fmla="*/ 854869 w 768"/>
              <a:gd name="T9" fmla="*/ 311150 h 384"/>
              <a:gd name="T10" fmla="*/ 854869 w 768"/>
              <a:gd name="T11" fmla="*/ 0 h 384"/>
              <a:gd name="T12" fmla="*/ 1068586 w 768"/>
              <a:gd name="T13" fmla="*/ 0 h 384"/>
              <a:gd name="T14" fmla="*/ 1068586 w 768"/>
              <a:gd name="T15" fmla="*/ 311150 h 384"/>
              <a:gd name="T16" fmla="*/ 1282303 w 768"/>
              <a:gd name="T17" fmla="*/ 311150 h 384"/>
              <a:gd name="T18" fmla="*/ 1282303 w 768"/>
              <a:gd name="T19" fmla="*/ 0 h 384"/>
              <a:gd name="T20" fmla="*/ 1496020 w 768"/>
              <a:gd name="T21" fmla="*/ 0 h 384"/>
              <a:gd name="T22" fmla="*/ 1496020 w 768"/>
              <a:gd name="T23" fmla="*/ 311150 h 384"/>
              <a:gd name="T24" fmla="*/ 1709737 w 768"/>
              <a:gd name="T25" fmla="*/ 311150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CC00FF"/>
          </a:solidFill>
          <a:ln w="19050">
            <a:solidFill>
              <a:schemeClr val="tx1"/>
            </a:solidFill>
            <a:round/>
            <a:headEnd/>
            <a:tailEnd/>
          </a:ln>
        </p:spPr>
        <p:txBody>
          <a:bodyPr/>
          <a:lstStyle/>
          <a:p>
            <a:endParaRPr lang="zh-CN" altLang="en-US"/>
          </a:p>
        </p:txBody>
      </p:sp>
      <p:sp>
        <p:nvSpPr>
          <p:cNvPr id="72734" name="Line 34"/>
          <p:cNvSpPr>
            <a:spLocks noChangeShapeType="1"/>
          </p:cNvSpPr>
          <p:nvPr/>
        </p:nvSpPr>
        <p:spPr bwMode="auto">
          <a:xfrm>
            <a:off x="3579813" y="4197350"/>
            <a:ext cx="5724525"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2735" name="Line 35"/>
          <p:cNvSpPr>
            <a:spLocks noChangeShapeType="1"/>
          </p:cNvSpPr>
          <p:nvPr/>
        </p:nvSpPr>
        <p:spPr bwMode="auto">
          <a:xfrm>
            <a:off x="3602038" y="1787525"/>
            <a:ext cx="57023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2736" name="Text Box 36"/>
          <p:cNvSpPr txBox="1">
            <a:spLocks noChangeArrowheads="1"/>
          </p:cNvSpPr>
          <p:nvPr/>
        </p:nvSpPr>
        <p:spPr bwMode="auto">
          <a:xfrm>
            <a:off x="6111875" y="1300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2737" name="Text Box 37"/>
          <p:cNvSpPr txBox="1">
            <a:spLocks noChangeArrowheads="1"/>
          </p:cNvSpPr>
          <p:nvPr/>
        </p:nvSpPr>
        <p:spPr bwMode="auto">
          <a:xfrm>
            <a:off x="7826375" y="1300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2738" name="Text Box 38"/>
          <p:cNvSpPr txBox="1">
            <a:spLocks noChangeArrowheads="1"/>
          </p:cNvSpPr>
          <p:nvPr/>
        </p:nvSpPr>
        <p:spPr bwMode="auto">
          <a:xfrm>
            <a:off x="9305925" y="152876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a:t>
            </a:r>
          </a:p>
        </p:txBody>
      </p:sp>
      <p:sp>
        <p:nvSpPr>
          <p:cNvPr id="72739" name="Text Box 39"/>
          <p:cNvSpPr txBox="1">
            <a:spLocks noChangeArrowheads="1"/>
          </p:cNvSpPr>
          <p:nvPr/>
        </p:nvSpPr>
        <p:spPr bwMode="auto">
          <a:xfrm>
            <a:off x="9305925" y="22415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a:t>
            </a:r>
          </a:p>
        </p:txBody>
      </p:sp>
      <p:sp>
        <p:nvSpPr>
          <p:cNvPr id="72740" name="Text Box 40"/>
          <p:cNvSpPr txBox="1">
            <a:spLocks noChangeArrowheads="1"/>
          </p:cNvSpPr>
          <p:nvPr/>
        </p:nvSpPr>
        <p:spPr bwMode="auto">
          <a:xfrm>
            <a:off x="9305925" y="33464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a:t>
            </a:r>
          </a:p>
        </p:txBody>
      </p:sp>
      <p:sp>
        <p:nvSpPr>
          <p:cNvPr id="72741" name="Text Box 41"/>
          <p:cNvSpPr txBox="1">
            <a:spLocks noChangeArrowheads="1"/>
          </p:cNvSpPr>
          <p:nvPr/>
        </p:nvSpPr>
        <p:spPr bwMode="auto">
          <a:xfrm>
            <a:off x="9305925" y="395446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a:t>
            </a:r>
          </a:p>
        </p:txBody>
      </p:sp>
      <p:sp>
        <p:nvSpPr>
          <p:cNvPr id="72742" name="Text Box 42"/>
          <p:cNvSpPr txBox="1">
            <a:spLocks noChangeArrowheads="1"/>
          </p:cNvSpPr>
          <p:nvPr/>
        </p:nvSpPr>
        <p:spPr bwMode="auto">
          <a:xfrm>
            <a:off x="9305925" y="457676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a:t>
            </a:r>
          </a:p>
        </p:txBody>
      </p:sp>
      <p:sp>
        <p:nvSpPr>
          <p:cNvPr id="72743" name="Text Box 43"/>
          <p:cNvSpPr txBox="1">
            <a:spLocks noChangeArrowheads="1"/>
          </p:cNvSpPr>
          <p:nvPr/>
        </p:nvSpPr>
        <p:spPr bwMode="auto">
          <a:xfrm>
            <a:off x="9305925" y="510540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a:t>
            </a:r>
          </a:p>
        </p:txBody>
      </p:sp>
      <p:sp>
        <p:nvSpPr>
          <p:cNvPr id="72744" name="Rectangle 44"/>
          <p:cNvSpPr>
            <a:spLocks noChangeArrowheads="1"/>
          </p:cNvSpPr>
          <p:nvPr/>
        </p:nvSpPr>
        <p:spPr bwMode="auto">
          <a:xfrm>
            <a:off x="4037013" y="1943100"/>
            <a:ext cx="1146175" cy="273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72745" name="Text Box 45"/>
          <p:cNvSpPr txBox="1">
            <a:spLocks noChangeArrowheads="1"/>
          </p:cNvSpPr>
          <p:nvPr/>
        </p:nvSpPr>
        <p:spPr bwMode="auto">
          <a:xfrm>
            <a:off x="4025900" y="1846263"/>
            <a:ext cx="1255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i="1">
                <a:solidFill>
                  <a:srgbClr val="000099"/>
                </a:solidFill>
                <a:ea typeface="黑体" panose="02010609060101010101" pitchFamily="49" charset="-122"/>
              </a:rPr>
              <a:t>m</a:t>
            </a:r>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个码片</a:t>
            </a:r>
          </a:p>
        </p:txBody>
      </p:sp>
      <p:sp>
        <p:nvSpPr>
          <p:cNvPr id="72746" name="Freeform 46"/>
          <p:cNvSpPr>
            <a:spLocks noChangeArrowheads="1"/>
          </p:cNvSpPr>
          <p:nvPr/>
        </p:nvSpPr>
        <p:spPr bwMode="auto">
          <a:xfrm>
            <a:off x="3748088" y="2870200"/>
            <a:ext cx="1709737" cy="317500"/>
          </a:xfrm>
          <a:custGeom>
            <a:avLst/>
            <a:gdLst>
              <a:gd name="T0" fmla="*/ 0 w 768"/>
              <a:gd name="T1" fmla="*/ 155510 h 196"/>
              <a:gd name="T2" fmla="*/ 0 w 768"/>
              <a:gd name="T3" fmla="*/ 317500 h 196"/>
              <a:gd name="T4" fmla="*/ 641151 w 768"/>
              <a:gd name="T5" fmla="*/ 311020 h 196"/>
              <a:gd name="T6" fmla="*/ 641151 w 768"/>
              <a:gd name="T7" fmla="*/ 0 h 196"/>
              <a:gd name="T8" fmla="*/ 1068586 w 768"/>
              <a:gd name="T9" fmla="*/ 0 h 196"/>
              <a:gd name="T10" fmla="*/ 1068586 w 768"/>
              <a:gd name="T11" fmla="*/ 311020 h 196"/>
              <a:gd name="T12" fmla="*/ 1282303 w 768"/>
              <a:gd name="T13" fmla="*/ 311020 h 196"/>
              <a:gd name="T14" fmla="*/ 1282303 w 768"/>
              <a:gd name="T15" fmla="*/ 0 h 196"/>
              <a:gd name="T16" fmla="*/ 1709737 w 768"/>
              <a:gd name="T17" fmla="*/ 0 h 196"/>
              <a:gd name="T18" fmla="*/ 1709737 w 768"/>
              <a:gd name="T19" fmla="*/ 155510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72747" name="Freeform 47"/>
          <p:cNvSpPr>
            <a:spLocks noChangeArrowheads="1"/>
          </p:cNvSpPr>
          <p:nvPr/>
        </p:nvSpPr>
        <p:spPr bwMode="auto">
          <a:xfrm>
            <a:off x="5457825" y="2870200"/>
            <a:ext cx="1709738" cy="317500"/>
          </a:xfrm>
          <a:custGeom>
            <a:avLst/>
            <a:gdLst>
              <a:gd name="T0" fmla="*/ 0 w 768"/>
              <a:gd name="T1" fmla="*/ 155510 h 196"/>
              <a:gd name="T2" fmla="*/ 0 w 768"/>
              <a:gd name="T3" fmla="*/ 317500 h 196"/>
              <a:gd name="T4" fmla="*/ 641152 w 768"/>
              <a:gd name="T5" fmla="*/ 311020 h 196"/>
              <a:gd name="T6" fmla="*/ 641152 w 768"/>
              <a:gd name="T7" fmla="*/ 0 h 196"/>
              <a:gd name="T8" fmla="*/ 1068586 w 768"/>
              <a:gd name="T9" fmla="*/ 0 h 196"/>
              <a:gd name="T10" fmla="*/ 1068586 w 768"/>
              <a:gd name="T11" fmla="*/ 311020 h 196"/>
              <a:gd name="T12" fmla="*/ 1282304 w 768"/>
              <a:gd name="T13" fmla="*/ 311020 h 196"/>
              <a:gd name="T14" fmla="*/ 1282304 w 768"/>
              <a:gd name="T15" fmla="*/ 0 h 196"/>
              <a:gd name="T16" fmla="*/ 1709738 w 768"/>
              <a:gd name="T17" fmla="*/ 0 h 196"/>
              <a:gd name="T18" fmla="*/ 1709738 w 768"/>
              <a:gd name="T19" fmla="*/ 155510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72748" name="Freeform 48"/>
          <p:cNvSpPr>
            <a:spLocks noChangeArrowheads="1"/>
          </p:cNvSpPr>
          <p:nvPr/>
        </p:nvSpPr>
        <p:spPr bwMode="auto">
          <a:xfrm flipV="1">
            <a:off x="7167563" y="2870200"/>
            <a:ext cx="1709737" cy="317500"/>
          </a:xfrm>
          <a:custGeom>
            <a:avLst/>
            <a:gdLst>
              <a:gd name="T0" fmla="*/ 0 w 768"/>
              <a:gd name="T1" fmla="*/ 155510 h 196"/>
              <a:gd name="T2" fmla="*/ 0 w 768"/>
              <a:gd name="T3" fmla="*/ 317500 h 196"/>
              <a:gd name="T4" fmla="*/ 641151 w 768"/>
              <a:gd name="T5" fmla="*/ 311020 h 196"/>
              <a:gd name="T6" fmla="*/ 641151 w 768"/>
              <a:gd name="T7" fmla="*/ 0 h 196"/>
              <a:gd name="T8" fmla="*/ 1068586 w 768"/>
              <a:gd name="T9" fmla="*/ 0 h 196"/>
              <a:gd name="T10" fmla="*/ 1068586 w 768"/>
              <a:gd name="T11" fmla="*/ 311020 h 196"/>
              <a:gd name="T12" fmla="*/ 1282303 w 768"/>
              <a:gd name="T13" fmla="*/ 311020 h 196"/>
              <a:gd name="T14" fmla="*/ 1282303 w 768"/>
              <a:gd name="T15" fmla="*/ 0 h 196"/>
              <a:gd name="T16" fmla="*/ 1709737 w 768"/>
              <a:gd name="T17" fmla="*/ 0 h 196"/>
              <a:gd name="T18" fmla="*/ 1709737 w 768"/>
              <a:gd name="T19" fmla="*/ 155510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rgbClr val="FF6699"/>
          </a:solidFill>
          <a:ln w="19050">
            <a:solidFill>
              <a:schemeClr val="tx1"/>
            </a:solidFill>
            <a:round/>
            <a:headEnd/>
            <a:tailEnd/>
          </a:ln>
        </p:spPr>
        <p:txBody>
          <a:bodyPr/>
          <a:lstStyle/>
          <a:p>
            <a:endParaRPr lang="zh-CN" altLang="en-US"/>
          </a:p>
        </p:txBody>
      </p:sp>
      <p:sp>
        <p:nvSpPr>
          <p:cNvPr id="72749" name="Line 49"/>
          <p:cNvSpPr>
            <a:spLocks noChangeShapeType="1"/>
          </p:cNvSpPr>
          <p:nvPr/>
        </p:nvSpPr>
        <p:spPr bwMode="auto">
          <a:xfrm flipV="1">
            <a:off x="3579813" y="3025775"/>
            <a:ext cx="5724525" cy="635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2750" name="Text Box 50"/>
          <p:cNvSpPr txBox="1">
            <a:spLocks noChangeArrowheads="1"/>
          </p:cNvSpPr>
          <p:nvPr/>
        </p:nvSpPr>
        <p:spPr bwMode="auto">
          <a:xfrm>
            <a:off x="9305925" y="2778125"/>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a:t>
            </a:r>
          </a:p>
        </p:txBody>
      </p:sp>
      <p:sp>
        <p:nvSpPr>
          <p:cNvPr id="72751" name="Freeform 51"/>
          <p:cNvSpPr>
            <a:spLocks noChangeArrowheads="1"/>
          </p:cNvSpPr>
          <p:nvPr/>
        </p:nvSpPr>
        <p:spPr bwMode="auto">
          <a:xfrm>
            <a:off x="7172325" y="2330450"/>
            <a:ext cx="1709738" cy="319088"/>
          </a:xfrm>
          <a:custGeom>
            <a:avLst/>
            <a:gdLst>
              <a:gd name="T0" fmla="*/ 0 w 768"/>
              <a:gd name="T1" fmla="*/ 156288 h 196"/>
              <a:gd name="T2" fmla="*/ 0 w 768"/>
              <a:gd name="T3" fmla="*/ 319088 h 196"/>
              <a:gd name="T4" fmla="*/ 641152 w 768"/>
              <a:gd name="T5" fmla="*/ 312576 h 196"/>
              <a:gd name="T6" fmla="*/ 641152 w 768"/>
              <a:gd name="T7" fmla="*/ 0 h 196"/>
              <a:gd name="T8" fmla="*/ 1068586 w 768"/>
              <a:gd name="T9" fmla="*/ 0 h 196"/>
              <a:gd name="T10" fmla="*/ 1068586 w 768"/>
              <a:gd name="T11" fmla="*/ 312576 h 196"/>
              <a:gd name="T12" fmla="*/ 1282304 w 768"/>
              <a:gd name="T13" fmla="*/ 312576 h 196"/>
              <a:gd name="T14" fmla="*/ 1282304 w 768"/>
              <a:gd name="T15" fmla="*/ 0 h 196"/>
              <a:gd name="T16" fmla="*/ 1709738 w 768"/>
              <a:gd name="T17" fmla="*/ 0 h 196"/>
              <a:gd name="T18" fmla="*/ 1709738 w 768"/>
              <a:gd name="T19" fmla="*/ 156288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a:solidFill>
              <a:schemeClr val="tx1"/>
            </a:solidFill>
            <a:round/>
            <a:headEnd/>
            <a:tailEnd/>
          </a:ln>
        </p:spPr>
        <p:txBody>
          <a:bodyPr/>
          <a:lstStyle/>
          <a:p>
            <a:endParaRPr lang="zh-CN" altLang="en-US"/>
          </a:p>
        </p:txBody>
      </p:sp>
      <p:sp>
        <p:nvSpPr>
          <p:cNvPr id="72752" name="Line 52"/>
          <p:cNvSpPr>
            <a:spLocks noChangeShapeType="1"/>
          </p:cNvSpPr>
          <p:nvPr/>
        </p:nvSpPr>
        <p:spPr bwMode="auto">
          <a:xfrm>
            <a:off x="3602038" y="2487613"/>
            <a:ext cx="57023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2753" name="Text Box 53"/>
          <p:cNvSpPr txBox="1">
            <a:spLocks noChangeArrowheads="1"/>
          </p:cNvSpPr>
          <p:nvPr/>
        </p:nvSpPr>
        <p:spPr bwMode="auto">
          <a:xfrm>
            <a:off x="1182688" y="2765425"/>
            <a:ext cx="2311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S </a:t>
            </a:r>
            <a:r>
              <a:rPr lang="zh-CN" altLang="en-US" sz="2000" b="1">
                <a:solidFill>
                  <a:srgbClr val="000099"/>
                </a:solidFill>
                <a:ea typeface="黑体" panose="02010609060101010101" pitchFamily="49" charset="-122"/>
              </a:rPr>
              <a:t>站发送的信号 </a:t>
            </a:r>
            <a:r>
              <a:rPr lang="en-US" altLang="zh-CN" sz="2000" b="1">
                <a:solidFill>
                  <a:srgbClr val="000099"/>
                </a:solidFill>
                <a:ea typeface="黑体" panose="02010609060101010101" pitchFamily="49" charset="-122"/>
              </a:rPr>
              <a:t>S</a:t>
            </a:r>
            <a:r>
              <a:rPr lang="en-US" altLang="zh-CN" sz="2000" b="1" baseline="-25000">
                <a:solidFill>
                  <a:srgbClr val="000099"/>
                </a:solidFill>
                <a:ea typeface="黑体" panose="02010609060101010101" pitchFamily="49" charset="-122"/>
              </a:rPr>
              <a:t>x</a:t>
            </a:r>
          </a:p>
        </p:txBody>
      </p:sp>
      <p:sp>
        <p:nvSpPr>
          <p:cNvPr id="72754" name="Text Box 54"/>
          <p:cNvSpPr txBox="1">
            <a:spLocks noChangeArrowheads="1"/>
          </p:cNvSpPr>
          <p:nvPr/>
        </p:nvSpPr>
        <p:spPr bwMode="auto">
          <a:xfrm>
            <a:off x="1182688" y="3316288"/>
            <a:ext cx="2282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 </a:t>
            </a:r>
            <a:r>
              <a:rPr lang="zh-CN" altLang="en-US" sz="2000" b="1">
                <a:solidFill>
                  <a:srgbClr val="000099"/>
                </a:solidFill>
                <a:ea typeface="黑体" panose="02010609060101010101" pitchFamily="49" charset="-122"/>
              </a:rPr>
              <a:t>站发送的信号 </a:t>
            </a:r>
            <a:r>
              <a:rPr lang="en-US" altLang="zh-CN" sz="2000" b="1">
                <a:solidFill>
                  <a:srgbClr val="000099"/>
                </a:solidFill>
                <a:ea typeface="黑体" panose="02010609060101010101" pitchFamily="49" charset="-122"/>
              </a:rPr>
              <a:t>T</a:t>
            </a:r>
            <a:r>
              <a:rPr lang="en-US" altLang="zh-CN" sz="2000" b="1" baseline="-25000">
                <a:solidFill>
                  <a:srgbClr val="000099"/>
                </a:solidFill>
                <a:ea typeface="黑体" panose="02010609060101010101" pitchFamily="49" charset="-122"/>
              </a:rPr>
              <a:t>x</a:t>
            </a:r>
          </a:p>
        </p:txBody>
      </p:sp>
      <p:sp>
        <p:nvSpPr>
          <p:cNvPr id="72755" name="Text Box 55"/>
          <p:cNvSpPr txBox="1">
            <a:spLocks noChangeArrowheads="1"/>
          </p:cNvSpPr>
          <p:nvPr/>
        </p:nvSpPr>
        <p:spPr bwMode="auto">
          <a:xfrm>
            <a:off x="871538" y="3954463"/>
            <a:ext cx="2611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总的发送信号 </a:t>
            </a:r>
            <a:r>
              <a:rPr lang="en-US" altLang="zh-CN" sz="2000" b="1">
                <a:solidFill>
                  <a:srgbClr val="000099"/>
                </a:solidFill>
                <a:ea typeface="黑体" panose="02010609060101010101" pitchFamily="49" charset="-122"/>
              </a:rPr>
              <a:t>S</a:t>
            </a:r>
            <a:r>
              <a:rPr lang="en-US" altLang="zh-CN" sz="2000" b="1" baseline="-25000">
                <a:solidFill>
                  <a:srgbClr val="000099"/>
                </a:solidFill>
                <a:ea typeface="黑体" panose="02010609060101010101" pitchFamily="49" charset="-122"/>
              </a:rPr>
              <a:t>x</a:t>
            </a:r>
            <a:r>
              <a:rPr lang="en-US" altLang="zh-CN" sz="2000" b="1">
                <a:solidFill>
                  <a:srgbClr val="000099"/>
                </a:solidFill>
                <a:ea typeface="黑体" panose="02010609060101010101" pitchFamily="49" charset="-122"/>
              </a:rPr>
              <a:t> + T</a:t>
            </a:r>
            <a:r>
              <a:rPr lang="en-US" altLang="zh-CN" sz="2000" b="1" baseline="-25000">
                <a:solidFill>
                  <a:srgbClr val="000099"/>
                </a:solidFill>
                <a:ea typeface="黑体" panose="02010609060101010101" pitchFamily="49" charset="-122"/>
              </a:rPr>
              <a:t>x</a:t>
            </a:r>
          </a:p>
        </p:txBody>
      </p:sp>
      <p:sp>
        <p:nvSpPr>
          <p:cNvPr id="72756" name="Text Box 56"/>
          <p:cNvSpPr txBox="1">
            <a:spLocks noChangeArrowheads="1"/>
          </p:cNvSpPr>
          <p:nvPr/>
        </p:nvSpPr>
        <p:spPr bwMode="auto">
          <a:xfrm>
            <a:off x="1260475" y="4575175"/>
            <a:ext cx="2239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规格化内积 </a:t>
            </a:r>
            <a:r>
              <a:rPr lang="en-US" altLang="zh-CN" sz="2000" b="1">
                <a:solidFill>
                  <a:srgbClr val="000099"/>
                </a:solidFill>
                <a:ea typeface="黑体" panose="02010609060101010101" pitchFamily="49" charset="-122"/>
              </a:rPr>
              <a:t>S</a:t>
            </a:r>
            <a:r>
              <a:rPr lang="en-US" altLang="zh-CN" sz="2000" b="1">
                <a:solidFill>
                  <a:srgbClr val="000099"/>
                </a:solidFill>
                <a:ea typeface="黑体" panose="02010609060101010101" pitchFamily="49" charset="-122"/>
                <a:sym typeface="Symbol" panose="05050102010706020507" pitchFamily="18" charset="2"/>
              </a:rPr>
              <a:t> </a:t>
            </a:r>
            <a:r>
              <a:rPr lang="en-US" altLang="zh-CN" sz="2000" b="1">
                <a:solidFill>
                  <a:srgbClr val="000099"/>
                </a:solidFill>
                <a:ea typeface="黑体" panose="02010609060101010101" pitchFamily="49" charset="-122"/>
                <a:sym typeface="Wingdings" panose="05000000000000000000" pitchFamily="2" charset="2"/>
              </a:rPr>
              <a:t> </a:t>
            </a:r>
            <a:r>
              <a:rPr lang="en-US" altLang="zh-CN" sz="2000" b="1">
                <a:solidFill>
                  <a:srgbClr val="000099"/>
                </a:solidFill>
                <a:ea typeface="黑体" panose="02010609060101010101" pitchFamily="49" charset="-122"/>
              </a:rPr>
              <a:t>S</a:t>
            </a:r>
            <a:r>
              <a:rPr lang="en-US" altLang="zh-CN" sz="2000" b="1" baseline="-25000">
                <a:solidFill>
                  <a:srgbClr val="000099"/>
                </a:solidFill>
                <a:ea typeface="黑体" panose="02010609060101010101" pitchFamily="49" charset="-122"/>
              </a:rPr>
              <a:t>x</a:t>
            </a:r>
          </a:p>
        </p:txBody>
      </p:sp>
      <p:sp>
        <p:nvSpPr>
          <p:cNvPr id="72757" name="Text Box 57"/>
          <p:cNvSpPr txBox="1">
            <a:spLocks noChangeArrowheads="1"/>
          </p:cNvSpPr>
          <p:nvPr/>
        </p:nvSpPr>
        <p:spPr bwMode="auto">
          <a:xfrm>
            <a:off x="1260475" y="5106988"/>
            <a:ext cx="2225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规格化内积 </a:t>
            </a:r>
            <a:r>
              <a:rPr lang="en-US" altLang="zh-CN" sz="2000" b="1">
                <a:solidFill>
                  <a:srgbClr val="000099"/>
                </a:solidFill>
                <a:ea typeface="黑体" panose="02010609060101010101" pitchFamily="49" charset="-122"/>
              </a:rPr>
              <a:t>S</a:t>
            </a:r>
            <a:r>
              <a:rPr lang="en-US" altLang="zh-CN" sz="2000" b="1">
                <a:solidFill>
                  <a:srgbClr val="000099"/>
                </a:solidFill>
                <a:ea typeface="黑体" panose="02010609060101010101" pitchFamily="49" charset="-122"/>
                <a:sym typeface="Symbol" panose="05050102010706020507" pitchFamily="18" charset="2"/>
              </a:rPr>
              <a:t> </a:t>
            </a:r>
            <a:r>
              <a:rPr lang="en-US" altLang="zh-CN" sz="2000" b="1">
                <a:solidFill>
                  <a:srgbClr val="000099"/>
                </a:solidFill>
                <a:ea typeface="黑体" panose="02010609060101010101" pitchFamily="49" charset="-122"/>
                <a:sym typeface="Wingdings" panose="05000000000000000000" pitchFamily="2" charset="2"/>
              </a:rPr>
              <a:t> </a:t>
            </a:r>
            <a:r>
              <a:rPr lang="en-US" altLang="zh-CN" sz="2000" b="1">
                <a:solidFill>
                  <a:srgbClr val="000099"/>
                </a:solidFill>
                <a:ea typeface="黑体" panose="02010609060101010101" pitchFamily="49" charset="-122"/>
              </a:rPr>
              <a:t>T</a:t>
            </a:r>
            <a:r>
              <a:rPr lang="en-US" altLang="zh-CN" sz="2000" b="1" baseline="-25000">
                <a:solidFill>
                  <a:srgbClr val="000099"/>
                </a:solidFill>
                <a:ea typeface="黑体" panose="02010609060101010101" pitchFamily="49" charset="-122"/>
              </a:rPr>
              <a:t>x</a:t>
            </a:r>
          </a:p>
        </p:txBody>
      </p:sp>
      <p:sp>
        <p:nvSpPr>
          <p:cNvPr id="72758" name="Line 58"/>
          <p:cNvSpPr>
            <a:spLocks noChangeShapeType="1"/>
          </p:cNvSpPr>
          <p:nvPr/>
        </p:nvSpPr>
        <p:spPr bwMode="auto">
          <a:xfrm flipV="1">
            <a:off x="3602038" y="4821238"/>
            <a:ext cx="5659437"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59" name="Text Box 59"/>
          <p:cNvSpPr txBox="1">
            <a:spLocks noChangeArrowheads="1"/>
          </p:cNvSpPr>
          <p:nvPr/>
        </p:nvSpPr>
        <p:spPr bwMode="auto">
          <a:xfrm>
            <a:off x="1657350" y="1436688"/>
            <a:ext cx="1733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数据码元比特</a:t>
            </a:r>
          </a:p>
        </p:txBody>
      </p:sp>
      <p:sp>
        <p:nvSpPr>
          <p:cNvPr id="72760" name="Text Box 60"/>
          <p:cNvSpPr txBox="1">
            <a:spLocks noChangeArrowheads="1"/>
          </p:cNvSpPr>
          <p:nvPr/>
        </p:nvSpPr>
        <p:spPr bwMode="auto">
          <a:xfrm>
            <a:off x="396875" y="2524125"/>
            <a:ext cx="4429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发</a:t>
            </a:r>
          </a:p>
          <a:p>
            <a:r>
              <a:rPr lang="zh-CN" altLang="en-US" sz="2000" b="1">
                <a:solidFill>
                  <a:srgbClr val="000099"/>
                </a:solidFill>
                <a:ea typeface="黑体" panose="02010609060101010101" pitchFamily="49" charset="-122"/>
              </a:rPr>
              <a:t>送</a:t>
            </a:r>
          </a:p>
          <a:p>
            <a:r>
              <a:rPr lang="zh-CN" altLang="en-US" sz="2000" b="1">
                <a:solidFill>
                  <a:srgbClr val="000099"/>
                </a:solidFill>
                <a:ea typeface="黑体" panose="02010609060101010101" pitchFamily="49" charset="-122"/>
              </a:rPr>
              <a:t>端</a:t>
            </a:r>
          </a:p>
        </p:txBody>
      </p:sp>
      <p:sp>
        <p:nvSpPr>
          <p:cNvPr id="72761" name="Text Box 61"/>
          <p:cNvSpPr txBox="1">
            <a:spLocks noChangeArrowheads="1"/>
          </p:cNvSpPr>
          <p:nvPr/>
        </p:nvSpPr>
        <p:spPr bwMode="auto">
          <a:xfrm>
            <a:off x="550863" y="4540250"/>
            <a:ext cx="4429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接</a:t>
            </a:r>
          </a:p>
          <a:p>
            <a:r>
              <a:rPr lang="zh-CN" altLang="en-US" sz="2000" b="1">
                <a:solidFill>
                  <a:srgbClr val="000099"/>
                </a:solidFill>
                <a:ea typeface="黑体" panose="02010609060101010101" pitchFamily="49" charset="-122"/>
              </a:rPr>
              <a:t>收</a:t>
            </a:r>
          </a:p>
          <a:p>
            <a:r>
              <a:rPr lang="zh-CN" altLang="en-US" sz="2000" b="1">
                <a:solidFill>
                  <a:srgbClr val="000099"/>
                </a:solidFill>
                <a:ea typeface="黑体" panose="02010609060101010101" pitchFamily="49" charset="-122"/>
              </a:rPr>
              <a:t>端</a:t>
            </a:r>
          </a:p>
        </p:txBody>
      </p:sp>
      <p:sp>
        <p:nvSpPr>
          <p:cNvPr id="72762" name="AutoShape 62"/>
          <p:cNvSpPr>
            <a:spLocks/>
          </p:cNvSpPr>
          <p:nvPr/>
        </p:nvSpPr>
        <p:spPr bwMode="auto">
          <a:xfrm>
            <a:off x="871538" y="1516063"/>
            <a:ext cx="155575" cy="3024187"/>
          </a:xfrm>
          <a:prstGeom prst="leftBracket">
            <a:avLst>
              <a:gd name="adj" fmla="val 175489"/>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72763" name="AutoShape 63"/>
          <p:cNvSpPr>
            <a:spLocks/>
          </p:cNvSpPr>
          <p:nvPr/>
        </p:nvSpPr>
        <p:spPr bwMode="auto">
          <a:xfrm>
            <a:off x="1104900" y="4684713"/>
            <a:ext cx="84138" cy="792162"/>
          </a:xfrm>
          <a:prstGeom prst="leftBracket">
            <a:avLst>
              <a:gd name="adj" fmla="val 8499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zh-CN" altLang="en-US" b="1">
              <a:solidFill>
                <a:srgbClr val="000099"/>
              </a:solidFill>
              <a:ea typeface="黑体" panose="02010609060101010101" pitchFamily="49" charset="-122"/>
            </a:endParaRPr>
          </a:p>
        </p:txBody>
      </p:sp>
      <p:sp>
        <p:nvSpPr>
          <p:cNvPr id="7276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93188C-6520-43B4-B8CB-F9D5B1FDF13A}" type="slidenum">
              <a:rPr altLang="en-US" smtClean="0"/>
              <a:pPr/>
              <a:t>34</a:t>
            </a:fld>
            <a:endParaRPr lang="zh-CN" altLang="zh-CN" smtClean="0"/>
          </a:p>
        </p:txBody>
      </p:sp>
      <p:sp>
        <p:nvSpPr>
          <p:cNvPr id="7276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t>ppt</a:t>
            </a:r>
            <a:r>
              <a:rPr lang="zh-CN" altLang="zh-CN" smtClean="0"/>
              <a:t>课件</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5"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2.5  </a:t>
            </a:r>
            <a:r>
              <a:rPr lang="zh-CN" altLang="en-US" dirty="0" smtClean="0">
                <a:ea typeface="黑体" panose="02010609060101010101" pitchFamily="49" charset="-122"/>
              </a:rPr>
              <a:t>数字传输系统</a:t>
            </a:r>
            <a:endParaRPr lang="zh-CN" altLang="en-US" sz="4800" dirty="0" smtClean="0">
              <a:ea typeface="黑体" panose="02010609060101010101" pitchFamily="49" charset="-122"/>
            </a:endParaRPr>
          </a:p>
        </p:txBody>
      </p:sp>
      <p:sp>
        <p:nvSpPr>
          <p:cNvPr id="364546" name="Rectangle 3"/>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在早期电话网中，从市话局到用户电话机的用户线是采用最廉价的双绞线电缆，而长途干线采用的是频分复用</a:t>
            </a:r>
            <a:r>
              <a:rPr lang="en-US" altLang="zh-CN" sz="2800" dirty="0" smtClean="0">
                <a:ea typeface="黑体" panose="02010609060101010101" pitchFamily="49" charset="-122"/>
              </a:rPr>
              <a:t> FDM </a:t>
            </a:r>
            <a:r>
              <a:rPr lang="zh-CN" altLang="zh-CN" sz="2800" dirty="0" smtClean="0">
                <a:ea typeface="黑体" panose="02010609060101010101" pitchFamily="49" charset="-122"/>
              </a:rPr>
              <a:t>的模拟传输方式</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solidFill>
                  <a:srgbClr val="0000CC"/>
                </a:solidFill>
                <a:ea typeface="黑体" panose="02010609060101010101" pitchFamily="49" charset="-122"/>
              </a:rPr>
              <a:t>与模拟通信相比，数字通信无论是</a:t>
            </a:r>
            <a:r>
              <a:rPr lang="zh-CN" altLang="en-US" sz="2800" dirty="0" smtClean="0">
                <a:solidFill>
                  <a:srgbClr val="0000CC"/>
                </a:solidFill>
                <a:ea typeface="黑体" panose="02010609060101010101" pitchFamily="49" charset="-122"/>
              </a:rPr>
              <a:t>在</a:t>
            </a:r>
            <a:r>
              <a:rPr lang="zh-CN" altLang="zh-CN" sz="2800" dirty="0" smtClean="0">
                <a:solidFill>
                  <a:srgbClr val="0000CC"/>
                </a:solidFill>
                <a:ea typeface="黑体" panose="02010609060101010101" pitchFamily="49" charset="-122"/>
              </a:rPr>
              <a:t>传输质量上还是经济上都有明显的优势</a:t>
            </a:r>
            <a:r>
              <a:rPr lang="zh-CN" altLang="en-US" sz="2800" dirty="0" smtClean="0">
                <a:solidFill>
                  <a:srgbClr val="0000CC"/>
                </a:solidFill>
                <a:ea typeface="黑体" panose="02010609060101010101" pitchFamily="49" charset="-122"/>
              </a:rPr>
              <a:t>。</a:t>
            </a:r>
            <a:endParaRPr lang="en-US" altLang="zh-CN" sz="2800" dirty="0" smtClean="0">
              <a:solidFill>
                <a:srgbClr val="0000CC"/>
              </a:solidFill>
              <a:ea typeface="黑体" panose="02010609060101010101" pitchFamily="49" charset="-122"/>
            </a:endParaRPr>
          </a:p>
          <a:p>
            <a:r>
              <a:rPr lang="zh-CN" altLang="zh-CN" sz="2800" dirty="0" smtClean="0">
                <a:ea typeface="黑体" panose="02010609060101010101" pitchFamily="49" charset="-122"/>
              </a:rPr>
              <a:t>目前，长途干线大都采用时分复用</a:t>
            </a:r>
            <a:r>
              <a:rPr lang="en-US" altLang="zh-CN" sz="2800" dirty="0" smtClean="0">
                <a:ea typeface="黑体" panose="02010609060101010101" pitchFamily="49" charset="-122"/>
              </a:rPr>
              <a:t> PCM </a:t>
            </a:r>
            <a:r>
              <a:rPr lang="zh-CN" altLang="zh-CN" sz="2800" dirty="0" smtClean="0">
                <a:ea typeface="黑体" panose="02010609060101010101" pitchFamily="49" charset="-122"/>
              </a:rPr>
              <a:t>的数字传输方式。</a:t>
            </a:r>
            <a:endParaRPr lang="en-US" altLang="zh-CN" sz="2800" dirty="0" smtClean="0">
              <a:ea typeface="黑体" panose="02010609060101010101" pitchFamily="49" charset="-122"/>
            </a:endParaRPr>
          </a:p>
          <a:p>
            <a:r>
              <a:rPr lang="zh-CN" altLang="en-US" sz="2800" dirty="0" smtClean="0">
                <a:solidFill>
                  <a:srgbClr val="FF0000"/>
                </a:solidFill>
                <a:ea typeface="黑体" panose="02010609060101010101" pitchFamily="49" charset="-122"/>
              </a:rPr>
              <a:t>脉码调制 </a:t>
            </a:r>
            <a:r>
              <a:rPr lang="en-US" altLang="zh-CN" sz="2800" dirty="0" smtClean="0">
                <a:solidFill>
                  <a:srgbClr val="FF0000"/>
                </a:solidFill>
                <a:ea typeface="黑体" panose="02010609060101010101" pitchFamily="49" charset="-122"/>
              </a:rPr>
              <a:t>PCM </a:t>
            </a:r>
            <a:r>
              <a:rPr lang="zh-CN" altLang="en-US" sz="2800" dirty="0" smtClean="0">
                <a:ea typeface="黑体" panose="02010609060101010101" pitchFamily="49" charset="-122"/>
              </a:rPr>
              <a:t>体制最初是为了在电话局之间的中继线上传送多路的电话。</a:t>
            </a:r>
          </a:p>
        </p:txBody>
      </p:sp>
      <p:sp>
        <p:nvSpPr>
          <p:cNvPr id="3645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66E8B0E-8AF8-4E18-ADBA-95B31D1AF6E3}" type="slidenum">
              <a:rPr lang="zh-CN" altLang="en-US" smtClean="0"/>
              <a:pPr eaLnBrk="1" hangingPunct="1"/>
              <a:t>35</a:t>
            </a:fld>
            <a:endParaRPr lang="en-US" altLang="zh-CN" smtClean="0"/>
          </a:p>
        </p:txBody>
      </p:sp>
      <p:sp>
        <p:nvSpPr>
          <p:cNvPr id="3645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0350540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561818" y="136525"/>
            <a:ext cx="7772400" cy="857250"/>
          </a:xfrm>
        </p:spPr>
        <p:txBody>
          <a:bodyPr/>
          <a:lstStyle/>
          <a:p>
            <a:pPr algn="l" eaLnBrk="1" hangingPunct="1">
              <a:defRPr/>
            </a:pPr>
            <a:r>
              <a:rPr lang="zh-CN" altLang="en-US" dirty="0" smtClean="0">
                <a:ea typeface="黑体" panose="02010609060101010101" pitchFamily="49" charset="-122"/>
              </a:rPr>
              <a:t>补充</a:t>
            </a:r>
            <a:r>
              <a:rPr lang="en-US" altLang="zh-CN" dirty="0" smtClean="0">
                <a:ea typeface="黑体" panose="02010609060101010101" pitchFamily="49" charset="-122"/>
              </a:rPr>
              <a:t>  </a:t>
            </a:r>
            <a:r>
              <a:rPr lang="zh-CN" altLang="zh-CN" dirty="0" smtClean="0">
                <a:ea typeface="黑体" panose="02010609060101010101" pitchFamily="49" charset="-122"/>
              </a:rPr>
              <a:t>脉冲编码调制</a:t>
            </a:r>
            <a:r>
              <a:rPr lang="en-US" altLang="zh-CN" dirty="0" smtClean="0">
                <a:ea typeface="黑体" panose="02010609060101010101" pitchFamily="49" charset="-122"/>
              </a:rPr>
              <a:t>PCM</a:t>
            </a:r>
            <a:endParaRPr lang="zh-CN" altLang="en-US" dirty="0">
              <a:ea typeface="黑体" panose="02010609060101010101" pitchFamily="49" charset="-122"/>
            </a:endParaRPr>
          </a:p>
        </p:txBody>
      </p:sp>
      <p:sp>
        <p:nvSpPr>
          <p:cNvPr id="17" name="内容占位符 16"/>
          <p:cNvSpPr>
            <a:spLocks noGrp="1"/>
          </p:cNvSpPr>
          <p:nvPr>
            <p:ph idx="1"/>
          </p:nvPr>
        </p:nvSpPr>
        <p:spPr>
          <a:xfrm>
            <a:off x="706439" y="1279525"/>
            <a:ext cx="8639175" cy="439578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zh-CN" altLang="en-US" sz="2800" u="sng" dirty="0" smtClean="0">
                <a:solidFill>
                  <a:srgbClr val="FF0000"/>
                </a:solidFill>
                <a:ea typeface="黑体" panose="02010609060101010101" pitchFamily="49" charset="-122"/>
              </a:rPr>
              <a:t>脉冲编码调制</a:t>
            </a:r>
            <a:r>
              <a:rPr lang="en-US" altLang="zh-CN" sz="2800" u="sng" dirty="0">
                <a:solidFill>
                  <a:srgbClr val="FF0000"/>
                </a:solidFill>
                <a:ea typeface="黑体" panose="02010609060101010101" pitchFamily="49" charset="-122"/>
              </a:rPr>
              <a:t>PCM</a:t>
            </a:r>
            <a:r>
              <a:rPr lang="en-US" altLang="zh-CN" sz="2800" dirty="0">
                <a:solidFill>
                  <a:srgbClr val="0000CC"/>
                </a:solidFill>
                <a:ea typeface="黑体" panose="02010609060101010101" pitchFamily="49" charset="-122"/>
              </a:rPr>
              <a:t>(Pulse Code Modulation)</a:t>
            </a:r>
            <a:r>
              <a:rPr lang="zh-CN" altLang="en-US" sz="2800" dirty="0">
                <a:ea typeface="黑体" panose="02010609060101010101" pitchFamily="49" charset="-122"/>
              </a:rPr>
              <a:t>：</a:t>
            </a:r>
            <a:r>
              <a:rPr lang="zh-CN" altLang="en-US" sz="2800" dirty="0">
                <a:solidFill>
                  <a:srgbClr val="FF0000"/>
                </a:solidFill>
                <a:ea typeface="黑体" panose="02010609060101010101" pitchFamily="49" charset="-122"/>
              </a:rPr>
              <a:t>模拟数据数字化</a:t>
            </a:r>
            <a:r>
              <a:rPr lang="zh-CN" altLang="en-US" sz="2800" dirty="0">
                <a:ea typeface="黑体" panose="02010609060101010101" pitchFamily="49" charset="-122"/>
              </a:rPr>
              <a:t>的主要方法，</a:t>
            </a:r>
            <a:r>
              <a:rPr lang="zh-CN" altLang="zh-CN" sz="2800" dirty="0">
                <a:ea typeface="黑体" panose="02010609060101010101" pitchFamily="49" charset="-122"/>
              </a:rPr>
              <a:t>典型应用是语音信号的数字化。</a:t>
            </a:r>
            <a:endParaRPr lang="en-US" altLang="zh-CN" sz="2800" dirty="0">
              <a:ea typeface="黑体" panose="02010609060101010101" pitchFamily="49" charset="-122"/>
            </a:endParaRPr>
          </a:p>
          <a:p>
            <a:pPr marL="0" indent="0">
              <a:buNone/>
            </a:pPr>
            <a:r>
              <a:rPr lang="zh-CN" altLang="en-US" sz="2800" dirty="0">
                <a:ea typeface="黑体" panose="02010609060101010101" pitchFamily="49" charset="-122"/>
              </a:rPr>
              <a:t>模拟语音信号</a:t>
            </a:r>
            <a:r>
              <a:rPr lang="en-US" altLang="zh-CN" sz="2800" dirty="0">
                <a:ea typeface="黑体" panose="02010609060101010101" pitchFamily="49" charset="-122"/>
              </a:rPr>
              <a:t>-》</a:t>
            </a:r>
            <a:r>
              <a:rPr lang="zh-CN" altLang="en-US" sz="2800" dirty="0">
                <a:ea typeface="黑体" panose="02010609060101010101" pitchFamily="49" charset="-122"/>
              </a:rPr>
              <a:t>发送端</a:t>
            </a:r>
            <a:r>
              <a:rPr lang="en-US" altLang="zh-CN" sz="2800" dirty="0">
                <a:ea typeface="黑体" panose="02010609060101010101" pitchFamily="49" charset="-122"/>
              </a:rPr>
              <a:t>-》</a:t>
            </a:r>
            <a:r>
              <a:rPr lang="zh-CN" altLang="en-US" sz="2800" dirty="0">
                <a:ea typeface="黑体" panose="02010609060101010101" pitchFamily="49" charset="-122"/>
              </a:rPr>
              <a:t>数字信号</a:t>
            </a:r>
            <a:r>
              <a:rPr lang="en-US" altLang="zh-CN" sz="2800" dirty="0">
                <a:ea typeface="黑体" panose="02010609060101010101" pitchFamily="49" charset="-122"/>
              </a:rPr>
              <a:t>-》</a:t>
            </a:r>
            <a:r>
              <a:rPr lang="zh-CN" altLang="en-US" sz="2800" dirty="0">
                <a:ea typeface="黑体" panose="02010609060101010101" pitchFamily="49" charset="-122"/>
              </a:rPr>
              <a:t>接收端</a:t>
            </a:r>
            <a:r>
              <a:rPr lang="en-US" altLang="zh-CN" sz="2800" dirty="0">
                <a:ea typeface="黑体" panose="02010609060101010101" pitchFamily="49" charset="-122"/>
              </a:rPr>
              <a:t>-》</a:t>
            </a:r>
            <a:r>
              <a:rPr lang="zh-CN" altLang="en-US" sz="2800" dirty="0">
                <a:ea typeface="黑体" panose="02010609060101010101" pitchFamily="49" charset="-122"/>
              </a:rPr>
              <a:t>模拟语音信号</a:t>
            </a:r>
            <a:endParaRPr lang="en-US" altLang="zh-CN" sz="2800" dirty="0">
              <a:ea typeface="黑体" panose="02010609060101010101" pitchFamily="49" charset="-122"/>
            </a:endParaRPr>
          </a:p>
          <a:p>
            <a:pPr marL="0" indent="0">
              <a:buNone/>
            </a:pPr>
            <a:r>
              <a:rPr lang="en-US" altLang="zh-CN" sz="2800" dirty="0">
                <a:ea typeface="黑体" panose="02010609060101010101" pitchFamily="49" charset="-122"/>
              </a:rPr>
              <a:t>          </a:t>
            </a:r>
            <a:r>
              <a:rPr lang="en-US" altLang="zh-CN" sz="2800" dirty="0" smtClean="0">
                <a:ea typeface="黑体" panose="02010609060101010101" pitchFamily="49" charset="-122"/>
              </a:rPr>
              <a:t>               </a:t>
            </a:r>
            <a:r>
              <a:rPr lang="en-US" altLang="zh-CN" sz="2800" dirty="0">
                <a:solidFill>
                  <a:srgbClr val="0000CC"/>
                </a:solidFill>
                <a:ea typeface="黑体" panose="02010609060101010101" pitchFamily="49" charset="-122"/>
              </a:rPr>
              <a:t>PCM</a:t>
            </a:r>
            <a:r>
              <a:rPr lang="zh-CN" altLang="en-US" sz="2800" dirty="0">
                <a:solidFill>
                  <a:srgbClr val="0000CC"/>
                </a:solidFill>
                <a:ea typeface="黑体" panose="02010609060101010101" pitchFamily="49" charset="-122"/>
              </a:rPr>
              <a:t>编码器            </a:t>
            </a:r>
            <a:r>
              <a:rPr lang="en-US" altLang="zh-CN" sz="2800" dirty="0">
                <a:solidFill>
                  <a:srgbClr val="0000CC"/>
                </a:solidFill>
                <a:ea typeface="黑体" panose="02010609060101010101" pitchFamily="49" charset="-122"/>
              </a:rPr>
              <a:t>PCM</a:t>
            </a:r>
            <a:r>
              <a:rPr lang="zh-CN" altLang="en-US" sz="2800" dirty="0">
                <a:solidFill>
                  <a:srgbClr val="0000CC"/>
                </a:solidFill>
                <a:ea typeface="黑体" panose="02010609060101010101" pitchFamily="49" charset="-122"/>
              </a:rPr>
              <a:t>解码器</a:t>
            </a:r>
          </a:p>
          <a:p>
            <a:r>
              <a:rPr lang="zh-CN" altLang="en-US" sz="2800" dirty="0">
                <a:ea typeface="黑体" panose="02010609060101010101" pitchFamily="49" charset="-122"/>
              </a:rPr>
              <a:t>          </a:t>
            </a:r>
          </a:p>
        </p:txBody>
      </p:sp>
      <p:sp>
        <p:nvSpPr>
          <p:cNvPr id="54277"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74F6B2A-D39E-4E2A-90EC-A653AF16F479}" type="slidenum">
              <a:rPr lang="zh-CN" altLang="en-US" sz="1400"/>
              <a:pPr>
                <a:spcBef>
                  <a:spcPct val="0"/>
                </a:spcBef>
                <a:buFontTx/>
                <a:buNone/>
              </a:pPr>
              <a:t>36</a:t>
            </a:fld>
            <a:endParaRPr lang="en-US" altLang="zh-CN" sz="1400"/>
          </a:p>
        </p:txBody>
      </p:sp>
      <p:sp>
        <p:nvSpPr>
          <p:cNvPr id="54278" name="Rectangle 2"/>
          <p:cNvSpPr>
            <a:spLocks noChangeArrowheads="1"/>
          </p:cNvSpPr>
          <p:nvPr/>
        </p:nvSpPr>
        <p:spPr bwMode="auto">
          <a:xfrm>
            <a:off x="381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solidFill>
                <a:schemeClr val="accent2"/>
              </a:solidFill>
              <a:latin typeface="Arial" panose="020B0604020202020204" pitchFamily="34" charset="0"/>
              <a:ea typeface="华文行楷" panose="02010800040101010101" pitchFamily="2" charset="-122"/>
            </a:endParaRPr>
          </a:p>
        </p:txBody>
      </p:sp>
      <p:graphicFrame>
        <p:nvGraphicFramePr>
          <p:cNvPr id="54279" name="Object 1" descr="蓝色面巾纸"/>
          <p:cNvGraphicFramePr>
            <a:graphicFrameLocks noChangeAspect="1"/>
          </p:cNvGraphicFramePr>
          <p:nvPr>
            <p:extLst/>
          </p:nvPr>
        </p:nvGraphicFramePr>
        <p:xfrm>
          <a:off x="706439" y="4221162"/>
          <a:ext cx="8497887" cy="2592388"/>
        </p:xfrm>
        <a:graphic>
          <a:graphicData uri="http://schemas.openxmlformats.org/presentationml/2006/ole">
            <mc:AlternateContent xmlns:mc="http://schemas.openxmlformats.org/markup-compatibility/2006">
              <mc:Choice xmlns:v="urn:schemas-microsoft-com:vml" Requires="v">
                <p:oleObj spid="_x0000_s74777" name="Visio" r:id="rId3" imgW="4812873" imgH="1474551" progId="Visio.Drawing.11">
                  <p:embed/>
                </p:oleObj>
              </mc:Choice>
              <mc:Fallback>
                <p:oleObj name="Visio" r:id="rId3" imgW="4812873" imgH="1474551" progId="Visio.Drawing.11">
                  <p:embed/>
                  <p:pic>
                    <p:nvPicPr>
                      <p:cNvPr id="54279" name="Object 1" descr="蓝色面巾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439" y="4221162"/>
                        <a:ext cx="8497887" cy="2592388"/>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9461536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561818" y="1198529"/>
            <a:ext cx="7989887" cy="13795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10000"/>
              </a:lnSpc>
              <a:spcBef>
                <a:spcPts val="600"/>
              </a:spcBef>
              <a:buClr>
                <a:srgbClr val="333399"/>
              </a:buClr>
              <a:buSzPct val="75000"/>
              <a:buFont typeface="Wingdings" panose="05000000000000000000" pitchFamily="2" charset="2"/>
              <a:buNone/>
            </a:pPr>
            <a:r>
              <a:rPr lang="zh-CN" altLang="zh-CN" sz="2800" dirty="0" smtClean="0">
                <a:solidFill>
                  <a:schemeClr val="tx1"/>
                </a:solidFill>
                <a:ea typeface="黑体" panose="02010609060101010101" pitchFamily="49" charset="-122"/>
                <a:cs typeface="+mn-cs"/>
              </a:rPr>
              <a:t>脉冲编码调制</a:t>
            </a:r>
            <a:r>
              <a:rPr lang="zh-CN" altLang="zh-CN" sz="2800" dirty="0">
                <a:solidFill>
                  <a:schemeClr val="tx1"/>
                </a:solidFill>
                <a:ea typeface="黑体" panose="02010609060101010101" pitchFamily="49" charset="-122"/>
                <a:cs typeface="+mn-cs"/>
              </a:rPr>
              <a:t>的工作过程</a:t>
            </a:r>
            <a:r>
              <a:rPr lang="zh-CN" altLang="en-US" sz="2800" dirty="0">
                <a:solidFill>
                  <a:schemeClr val="tx1"/>
                </a:solidFill>
                <a:ea typeface="黑体" panose="02010609060101010101" pitchFamily="49" charset="-122"/>
                <a:cs typeface="+mn-cs"/>
              </a:rPr>
              <a:t>：</a:t>
            </a:r>
            <a:r>
              <a:rPr lang="zh-CN" altLang="zh-CN" sz="2800" dirty="0">
                <a:solidFill>
                  <a:srgbClr val="0000CC"/>
                </a:solidFill>
                <a:ea typeface="黑体" panose="02010609060101010101" pitchFamily="49" charset="-122"/>
                <a:cs typeface="+mn-cs"/>
              </a:rPr>
              <a:t>采样</a:t>
            </a:r>
            <a:r>
              <a:rPr lang="zh-CN" altLang="zh-CN" sz="2800" dirty="0">
                <a:solidFill>
                  <a:schemeClr val="tx1"/>
                </a:solidFill>
                <a:ea typeface="黑体" panose="02010609060101010101" pitchFamily="49" charset="-122"/>
                <a:cs typeface="+mn-cs"/>
              </a:rPr>
              <a:t>、</a:t>
            </a:r>
            <a:r>
              <a:rPr lang="zh-CN" altLang="zh-CN" sz="2800" dirty="0">
                <a:solidFill>
                  <a:srgbClr val="0000CC"/>
                </a:solidFill>
                <a:ea typeface="黑体" panose="02010609060101010101" pitchFamily="49" charset="-122"/>
                <a:cs typeface="+mn-cs"/>
              </a:rPr>
              <a:t>量化</a:t>
            </a:r>
            <a:r>
              <a:rPr lang="zh-CN" altLang="zh-CN" sz="2800" dirty="0">
                <a:solidFill>
                  <a:schemeClr val="tx1"/>
                </a:solidFill>
                <a:ea typeface="黑体" panose="02010609060101010101" pitchFamily="49" charset="-122"/>
                <a:cs typeface="+mn-cs"/>
              </a:rPr>
              <a:t>与</a:t>
            </a:r>
            <a:r>
              <a:rPr lang="zh-CN" altLang="zh-CN" sz="2800" dirty="0">
                <a:solidFill>
                  <a:srgbClr val="0000CC"/>
                </a:solidFill>
                <a:ea typeface="黑体" panose="02010609060101010101" pitchFamily="49" charset="-122"/>
                <a:cs typeface="+mn-cs"/>
              </a:rPr>
              <a:t>编码</a:t>
            </a:r>
            <a:endParaRPr lang="zh-CN" altLang="en-US" sz="2800" dirty="0">
              <a:solidFill>
                <a:srgbClr val="0000CC"/>
              </a:solidFill>
              <a:ea typeface="黑体" panose="02010609060101010101" pitchFamily="49" charset="-122"/>
              <a:cs typeface="+mn-cs"/>
            </a:endParaRPr>
          </a:p>
        </p:txBody>
      </p:sp>
      <p:sp>
        <p:nvSpPr>
          <p:cNvPr id="17" name="内容占位符 16"/>
          <p:cNvSpPr>
            <a:spLocks noGrp="1"/>
          </p:cNvSpPr>
          <p:nvPr>
            <p:ph idx="1"/>
          </p:nvPr>
        </p:nvSpPr>
        <p:spPr>
          <a:xfrm>
            <a:off x="1101725" y="2067686"/>
            <a:ext cx="7772400" cy="439578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None/>
            </a:pPr>
            <a:r>
              <a:rPr lang="en-US" altLang="zh-CN" sz="2200" dirty="0">
                <a:ea typeface="黑体" panose="02010609060101010101" pitchFamily="49" charset="-122"/>
              </a:rPr>
              <a:t>                                                      </a:t>
            </a:r>
            <a:r>
              <a:rPr lang="zh-CN" altLang="en-US" sz="2200" dirty="0">
                <a:ea typeface="黑体" panose="02010609060101010101" pitchFamily="49" charset="-122"/>
              </a:rPr>
              <a:t>（</a:t>
            </a:r>
            <a:r>
              <a:rPr lang="en-US" altLang="zh-CN" sz="2200" dirty="0">
                <a:ea typeface="黑体" panose="02010609060101010101" pitchFamily="49" charset="-122"/>
              </a:rPr>
              <a:t>1</a:t>
            </a:r>
            <a:r>
              <a:rPr lang="zh-CN" altLang="en-US" sz="2200" dirty="0">
                <a:ea typeface="黑体" panose="02010609060101010101" pitchFamily="49" charset="-122"/>
              </a:rPr>
              <a:t>）</a:t>
            </a:r>
            <a:r>
              <a:rPr lang="zh-CN" altLang="en-US" sz="2200" dirty="0">
                <a:solidFill>
                  <a:srgbClr val="0000CC"/>
                </a:solidFill>
                <a:ea typeface="黑体" panose="02010609060101010101" pitchFamily="49" charset="-122"/>
              </a:rPr>
              <a:t>采样</a:t>
            </a:r>
            <a:r>
              <a:rPr lang="zh-CN" altLang="en-US" sz="2200" dirty="0">
                <a:ea typeface="黑体" panose="02010609060101010101" pitchFamily="49" charset="-122"/>
              </a:rPr>
              <a:t>：</a:t>
            </a:r>
            <a:endParaRPr lang="en-US" altLang="zh-CN" sz="2200" dirty="0">
              <a:ea typeface="黑体" panose="02010609060101010101" pitchFamily="49" charset="-122"/>
            </a:endParaRPr>
          </a:p>
          <a:p>
            <a:pPr>
              <a:buNone/>
            </a:pPr>
            <a:r>
              <a:rPr lang="en-US" altLang="zh-CN" sz="2200" dirty="0">
                <a:ea typeface="黑体" panose="02010609060101010101" pitchFamily="49" charset="-122"/>
              </a:rPr>
              <a:t>                                                        </a:t>
            </a:r>
            <a:r>
              <a:rPr lang="zh-CN" altLang="en-US" sz="2200" dirty="0">
                <a:ea typeface="黑体" panose="02010609060101010101" pitchFamily="49" charset="-122"/>
              </a:rPr>
              <a:t>隔一定时间间隔将电平连续                                               变化的模拟信号电平幅度</a:t>
            </a:r>
            <a:endParaRPr lang="en-US" altLang="zh-CN" sz="2200" dirty="0">
              <a:ea typeface="黑体" panose="02010609060101010101" pitchFamily="49" charset="-122"/>
            </a:endParaRPr>
          </a:p>
          <a:p>
            <a:pPr>
              <a:buNone/>
            </a:pPr>
            <a:r>
              <a:rPr lang="en-US" altLang="zh-CN" sz="2200" dirty="0">
                <a:ea typeface="黑体" panose="02010609060101010101" pitchFamily="49" charset="-122"/>
              </a:rPr>
              <a:t>                                                        </a:t>
            </a:r>
            <a:r>
              <a:rPr lang="zh-CN" altLang="en-US" sz="2200" dirty="0">
                <a:ea typeface="黑体" panose="02010609060101010101" pitchFamily="49" charset="-122"/>
              </a:rPr>
              <a:t>取出作为测量幅度样本。</a:t>
            </a:r>
            <a:endParaRPr lang="en-US" altLang="zh-CN" sz="2200" dirty="0">
              <a:ea typeface="黑体" panose="02010609060101010101" pitchFamily="49" charset="-122"/>
            </a:endParaRPr>
          </a:p>
          <a:p>
            <a:pPr>
              <a:buNone/>
            </a:pPr>
            <a:endParaRPr lang="en-US" altLang="zh-CN" sz="2200" dirty="0">
              <a:ea typeface="黑体" panose="02010609060101010101" pitchFamily="49" charset="-122"/>
            </a:endParaRPr>
          </a:p>
          <a:p>
            <a:pPr>
              <a:buNone/>
            </a:pPr>
            <a:endParaRPr lang="en-US" altLang="zh-CN" sz="2200" dirty="0">
              <a:ea typeface="黑体" panose="02010609060101010101" pitchFamily="49" charset="-122"/>
            </a:endParaRPr>
          </a:p>
          <a:p>
            <a:pPr>
              <a:buNone/>
            </a:pPr>
            <a:r>
              <a:rPr lang="zh-CN" altLang="en-US" sz="2200" dirty="0">
                <a:ea typeface="黑体" panose="02010609060101010101" pitchFamily="49" charset="-122"/>
              </a:rPr>
              <a:t>（</a:t>
            </a:r>
            <a:r>
              <a:rPr lang="en-US" altLang="zh-CN" sz="2200" dirty="0">
                <a:ea typeface="黑体" panose="02010609060101010101" pitchFamily="49" charset="-122"/>
              </a:rPr>
              <a:t>2</a:t>
            </a:r>
            <a:r>
              <a:rPr lang="zh-CN" altLang="en-US" sz="2200" dirty="0">
                <a:ea typeface="黑体" panose="02010609060101010101" pitchFamily="49" charset="-122"/>
              </a:rPr>
              <a:t>）</a:t>
            </a:r>
            <a:r>
              <a:rPr lang="zh-CN" altLang="en-US" sz="2200" dirty="0">
                <a:solidFill>
                  <a:srgbClr val="0000CC"/>
                </a:solidFill>
                <a:ea typeface="黑体" panose="02010609060101010101" pitchFamily="49" charset="-122"/>
              </a:rPr>
              <a:t>量化</a:t>
            </a:r>
            <a:r>
              <a:rPr lang="zh-CN" altLang="en-US" sz="2200" dirty="0">
                <a:ea typeface="黑体" panose="02010609060101010101" pitchFamily="49" charset="-122"/>
              </a:rPr>
              <a:t>：将样本幅度按量</a:t>
            </a:r>
            <a:endParaRPr lang="en-US" altLang="zh-CN" sz="2200" dirty="0">
              <a:ea typeface="黑体" panose="02010609060101010101" pitchFamily="49" charset="-122"/>
            </a:endParaRPr>
          </a:p>
          <a:p>
            <a:pPr>
              <a:buNone/>
            </a:pPr>
            <a:r>
              <a:rPr lang="zh-CN" altLang="en-US" sz="2200" dirty="0">
                <a:ea typeface="黑体" panose="02010609060101010101" pitchFamily="49" charset="-122"/>
              </a:rPr>
              <a:t>化级取值的过程。</a:t>
            </a:r>
            <a:endParaRPr lang="en-US" altLang="zh-CN" sz="2200" dirty="0">
              <a:ea typeface="黑体" panose="02010609060101010101" pitchFamily="49" charset="-122"/>
            </a:endParaRPr>
          </a:p>
          <a:p>
            <a:pPr>
              <a:buNone/>
            </a:pPr>
            <a:r>
              <a:rPr lang="zh-CN" altLang="en-US" sz="2200" dirty="0">
                <a:ea typeface="黑体" panose="02010609060101010101" pitchFamily="49" charset="-122"/>
              </a:rPr>
              <a:t>（</a:t>
            </a:r>
            <a:r>
              <a:rPr lang="en-US" altLang="zh-CN" sz="2200" dirty="0">
                <a:ea typeface="黑体" panose="02010609060101010101" pitchFamily="49" charset="-122"/>
              </a:rPr>
              <a:t>3</a:t>
            </a:r>
            <a:r>
              <a:rPr lang="zh-CN" altLang="en-US" sz="2200" dirty="0">
                <a:ea typeface="黑体" panose="02010609060101010101" pitchFamily="49" charset="-122"/>
              </a:rPr>
              <a:t>）</a:t>
            </a:r>
            <a:r>
              <a:rPr lang="zh-CN" altLang="en-US" sz="2200" dirty="0">
                <a:solidFill>
                  <a:srgbClr val="0000CC"/>
                </a:solidFill>
                <a:ea typeface="黑体" panose="02010609060101010101" pitchFamily="49" charset="-122"/>
              </a:rPr>
              <a:t>编码</a:t>
            </a:r>
            <a:r>
              <a:rPr lang="zh-CN" altLang="en-US" sz="2200" dirty="0">
                <a:ea typeface="黑体" panose="02010609060101010101" pitchFamily="49" charset="-122"/>
              </a:rPr>
              <a:t>：用相应二进制代</a:t>
            </a:r>
            <a:endParaRPr lang="en-US" altLang="zh-CN" sz="2200" dirty="0">
              <a:ea typeface="黑体" panose="02010609060101010101" pitchFamily="49" charset="-122"/>
            </a:endParaRPr>
          </a:p>
          <a:p>
            <a:pPr>
              <a:buNone/>
            </a:pPr>
            <a:r>
              <a:rPr lang="zh-CN" altLang="en-US" sz="2200" dirty="0">
                <a:ea typeface="黑体" panose="02010609060101010101" pitchFamily="49" charset="-122"/>
              </a:rPr>
              <a:t>码表示量化后的样本量级。</a:t>
            </a:r>
            <a:r>
              <a:rPr lang="en-US" altLang="zh-CN" sz="2200" dirty="0">
                <a:ea typeface="黑体" panose="02010609060101010101" pitchFamily="49" charset="-122"/>
              </a:rPr>
              <a:t>                                           </a:t>
            </a:r>
            <a:endParaRPr lang="zh-CN" altLang="en-US" sz="2200" dirty="0">
              <a:ea typeface="黑体" panose="02010609060101010101" pitchFamily="49" charset="-122"/>
            </a:endParaRPr>
          </a:p>
        </p:txBody>
      </p:sp>
      <p:sp>
        <p:nvSpPr>
          <p:cNvPr id="55301" name="灯片编号占位符 4"/>
          <p:cNvSpPr>
            <a:spLocks noGrp="1"/>
          </p:cNvSpPr>
          <p:nvPr>
            <p:ph type="sldNum" sz="quarter" idx="12"/>
          </p:nvPr>
        </p:nvSpPr>
        <p:spPr>
          <a:xfrm>
            <a:off x="7099300" y="6572100"/>
            <a:ext cx="2311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46E95BB-B0D3-4843-B82D-837EBF79044F}" type="slidenum">
              <a:rPr lang="zh-CN" altLang="en-US" sz="1400"/>
              <a:pPr>
                <a:spcBef>
                  <a:spcPct val="0"/>
                </a:spcBef>
                <a:buFontTx/>
                <a:buNone/>
              </a:pPr>
              <a:t>37</a:t>
            </a:fld>
            <a:endParaRPr lang="en-US" altLang="zh-CN" sz="1400"/>
          </a:p>
        </p:txBody>
      </p:sp>
      <p:sp>
        <p:nvSpPr>
          <p:cNvPr id="55302" name="Rectangle 2"/>
          <p:cNvSpPr>
            <a:spLocks noChangeArrowheads="1"/>
          </p:cNvSpPr>
          <p:nvPr/>
        </p:nvSpPr>
        <p:spPr bwMode="auto">
          <a:xfrm>
            <a:off x="381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solidFill>
                <a:schemeClr val="accent2"/>
              </a:solidFill>
              <a:latin typeface="Arial" panose="020B0604020202020204" pitchFamily="34" charset="0"/>
              <a:ea typeface="华文行楷" panose="02010800040101010101" pitchFamily="2" charset="-122"/>
            </a:endParaRPr>
          </a:p>
        </p:txBody>
      </p:sp>
      <p:graphicFrame>
        <p:nvGraphicFramePr>
          <p:cNvPr id="55303" name="Object 1" descr="蓝色面巾纸"/>
          <p:cNvGraphicFramePr>
            <a:graphicFrameLocks noChangeAspect="1"/>
          </p:cNvGraphicFramePr>
          <p:nvPr>
            <p:extLst/>
          </p:nvPr>
        </p:nvGraphicFramePr>
        <p:xfrm>
          <a:off x="993775" y="1916874"/>
          <a:ext cx="4319588" cy="2709862"/>
        </p:xfrm>
        <a:graphic>
          <a:graphicData uri="http://schemas.openxmlformats.org/presentationml/2006/ole">
            <mc:AlternateContent xmlns:mc="http://schemas.openxmlformats.org/markup-compatibility/2006">
              <mc:Choice xmlns:v="urn:schemas-microsoft-com:vml" Requires="v">
                <p:oleObj spid="_x0000_s75824" name="Visio" r:id="rId3" imgW="2694778" imgH="1723126" progId="Visio.Drawing.11">
                  <p:embed/>
                </p:oleObj>
              </mc:Choice>
              <mc:Fallback>
                <p:oleObj name="Visio" r:id="rId3" imgW="2694778" imgH="1723126" progId="Visio.Drawing.11">
                  <p:embed/>
                  <p:pic>
                    <p:nvPicPr>
                      <p:cNvPr id="55303" name="Object 1" descr="蓝色面巾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3775" y="1916874"/>
                        <a:ext cx="4319588" cy="2709862"/>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4" name="Rectangle 4"/>
          <p:cNvSpPr>
            <a:spLocks noChangeArrowheads="1"/>
          </p:cNvSpPr>
          <p:nvPr/>
        </p:nvSpPr>
        <p:spPr bwMode="auto">
          <a:xfrm>
            <a:off x="381001" y="-22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400"/>
          </a:p>
        </p:txBody>
      </p:sp>
      <p:graphicFrame>
        <p:nvGraphicFramePr>
          <p:cNvPr id="55305" name="Object 3" descr="蓝色面巾纸"/>
          <p:cNvGraphicFramePr>
            <a:graphicFrameLocks noChangeAspect="1"/>
          </p:cNvGraphicFramePr>
          <p:nvPr>
            <p:extLst/>
          </p:nvPr>
        </p:nvGraphicFramePr>
        <p:xfrm>
          <a:off x="5240338" y="3834575"/>
          <a:ext cx="3879850" cy="2808287"/>
        </p:xfrm>
        <a:graphic>
          <a:graphicData uri="http://schemas.openxmlformats.org/presentationml/2006/ole">
            <mc:AlternateContent xmlns:mc="http://schemas.openxmlformats.org/markup-compatibility/2006">
              <mc:Choice xmlns:v="urn:schemas-microsoft-com:vml" Requires="v">
                <p:oleObj spid="_x0000_s75825" name="Visio" r:id="rId6" imgW="2904437" imgH="2104348" progId="Visio.Drawing.11">
                  <p:embed/>
                </p:oleObj>
              </mc:Choice>
              <mc:Fallback>
                <p:oleObj name="Visio" r:id="rId6" imgW="2904437" imgH="2104348" progId="Visio.Drawing.11">
                  <p:embed/>
                  <p:pic>
                    <p:nvPicPr>
                      <p:cNvPr id="55305" name="Object 3" descr="蓝色面巾纸"/>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0338" y="3834575"/>
                        <a:ext cx="3879850" cy="2808287"/>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标题 15"/>
          <p:cNvSpPr txBox="1">
            <a:spLocks/>
          </p:cNvSpPr>
          <p:nvPr/>
        </p:nvSpPr>
        <p:spPr bwMode="auto">
          <a:xfrm>
            <a:off x="561818" y="136525"/>
            <a:ext cx="7772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pPr>
              <a:defRPr/>
            </a:pPr>
            <a:r>
              <a:rPr lang="zh-CN" altLang="en-US" kern="0" dirty="0" smtClean="0">
                <a:ea typeface="黑体" panose="02010609060101010101" pitchFamily="49" charset="-122"/>
              </a:rPr>
              <a:t>补充</a:t>
            </a:r>
            <a:r>
              <a:rPr lang="en-US" altLang="zh-CN" kern="0" dirty="0" smtClean="0">
                <a:ea typeface="黑体" panose="02010609060101010101" pitchFamily="49" charset="-122"/>
              </a:rPr>
              <a:t>  </a:t>
            </a:r>
            <a:r>
              <a:rPr lang="zh-CN" altLang="zh-CN" kern="0" dirty="0" smtClean="0">
                <a:ea typeface="黑体" panose="02010609060101010101" pitchFamily="49" charset="-122"/>
              </a:rPr>
              <a:t>脉冲编码调制</a:t>
            </a:r>
            <a:r>
              <a:rPr lang="en-US" altLang="zh-CN" kern="0" dirty="0" smtClean="0">
                <a:ea typeface="黑体" panose="02010609060101010101" pitchFamily="49" charset="-122"/>
              </a:rPr>
              <a:t>PCM</a:t>
            </a:r>
            <a:endParaRPr lang="zh-CN" altLang="en-US" kern="0" dirty="0">
              <a:ea typeface="黑体" panose="02010609060101010101" pitchFamily="49" charset="-122"/>
            </a:endParaRPr>
          </a:p>
        </p:txBody>
      </p:sp>
    </p:spTree>
    <p:extLst>
      <p:ext uri="{BB962C8B-B14F-4D97-AF65-F5344CB8AC3E}">
        <p14:creationId xmlns:p14="http://schemas.microsoft.com/office/powerpoint/2010/main" val="58471276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黑体" panose="02010609060101010101" pitchFamily="49" charset="-122"/>
              </a:rPr>
              <a:t>补充</a:t>
            </a:r>
            <a:r>
              <a:rPr lang="en-US" altLang="zh-CN" dirty="0">
                <a:ea typeface="黑体" panose="02010609060101010101" pitchFamily="49" charset="-122"/>
              </a:rPr>
              <a:t>  </a:t>
            </a:r>
            <a:r>
              <a:rPr lang="zh-CN" altLang="zh-CN" dirty="0">
                <a:ea typeface="黑体" panose="02010609060101010101" pitchFamily="49" charset="-122"/>
              </a:rPr>
              <a:t>脉冲编码调制</a:t>
            </a:r>
            <a:r>
              <a:rPr lang="en-US" altLang="zh-CN" dirty="0" smtClean="0">
                <a:ea typeface="黑体" panose="02010609060101010101" pitchFamily="49" charset="-122"/>
              </a:rPr>
              <a:t>PCM</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solidFill>
                  <a:srgbClr val="0000CC"/>
                </a:solidFill>
              </a:rPr>
              <a:t>1</a:t>
            </a:r>
            <a:r>
              <a:rPr lang="zh-CN" altLang="en-US" dirty="0" smtClean="0">
                <a:solidFill>
                  <a:srgbClr val="0000CC"/>
                </a:solidFill>
              </a:rPr>
              <a:t>路</a:t>
            </a:r>
            <a:r>
              <a:rPr lang="en-US" altLang="zh-CN" dirty="0" smtClean="0">
                <a:solidFill>
                  <a:srgbClr val="0000CC"/>
                </a:solidFill>
              </a:rPr>
              <a:t>PCM</a:t>
            </a:r>
            <a:r>
              <a:rPr lang="zh-CN" altLang="en-US" dirty="0" smtClean="0"/>
              <a:t>：每秒采用</a:t>
            </a:r>
            <a:r>
              <a:rPr lang="en-US" altLang="zh-CN" dirty="0" smtClean="0"/>
              <a:t>8000</a:t>
            </a:r>
            <a:r>
              <a:rPr lang="zh-CN" altLang="en-US" dirty="0" smtClean="0"/>
              <a:t>次，每次</a:t>
            </a:r>
            <a:r>
              <a:rPr lang="en-US" altLang="zh-CN" dirty="0" smtClean="0"/>
              <a:t>8</a:t>
            </a:r>
            <a:r>
              <a:rPr lang="zh-CN" altLang="en-US" dirty="0" smtClean="0"/>
              <a:t>比特（</a:t>
            </a:r>
            <a:r>
              <a:rPr lang="en-US" altLang="zh-CN" dirty="0" smtClean="0"/>
              <a:t>7</a:t>
            </a:r>
            <a:r>
              <a:rPr lang="zh-CN" altLang="en-US" dirty="0" smtClean="0"/>
              <a:t>位数据</a:t>
            </a:r>
            <a:r>
              <a:rPr lang="en-US" altLang="zh-CN" dirty="0" smtClean="0"/>
              <a:t>1</a:t>
            </a:r>
            <a:r>
              <a:rPr lang="zh-CN" altLang="en-US" dirty="0" smtClean="0"/>
              <a:t>位控制，</a:t>
            </a:r>
            <a:r>
              <a:rPr lang="en-US" altLang="zh-CN" dirty="0" smtClean="0"/>
              <a:t>128</a:t>
            </a:r>
            <a:r>
              <a:rPr lang="zh-CN" altLang="en-US" dirty="0" smtClean="0"/>
              <a:t>个量化级），则速率为：</a:t>
            </a:r>
            <a:endParaRPr lang="en-US" altLang="zh-CN" dirty="0" smtClean="0"/>
          </a:p>
          <a:p>
            <a:pPr marL="0" indent="0">
              <a:buNone/>
            </a:pPr>
            <a:r>
              <a:rPr lang="en-US" altLang="zh-CN" dirty="0"/>
              <a:t> </a:t>
            </a:r>
            <a:r>
              <a:rPr lang="en-US" altLang="zh-CN" dirty="0" smtClean="0"/>
              <a:t>                 8</a:t>
            </a:r>
            <a:r>
              <a:rPr lang="zh-CN" altLang="en-US" dirty="0" smtClean="0"/>
              <a:t>*</a:t>
            </a:r>
            <a:r>
              <a:rPr lang="en-US" altLang="zh-CN" dirty="0" smtClean="0"/>
              <a:t>8000=</a:t>
            </a:r>
            <a:r>
              <a:rPr lang="en-US" altLang="zh-CN" dirty="0" smtClean="0">
                <a:solidFill>
                  <a:srgbClr val="FF0000"/>
                </a:solidFill>
              </a:rPr>
              <a:t>64kbps</a:t>
            </a:r>
          </a:p>
          <a:p>
            <a:pPr marL="0" indent="0">
              <a:buNone/>
            </a:pPr>
            <a:r>
              <a:rPr lang="zh-CN" altLang="en-US" dirty="0">
                <a:solidFill>
                  <a:srgbClr val="FF0000"/>
                </a:solidFill>
                <a:ea typeface="黑体" panose="02010609060101010101" pitchFamily="49" charset="-122"/>
              </a:rPr>
              <a:t>脉码调制 </a:t>
            </a:r>
            <a:r>
              <a:rPr lang="en-US" altLang="zh-CN" dirty="0">
                <a:solidFill>
                  <a:srgbClr val="FF0000"/>
                </a:solidFill>
                <a:ea typeface="黑体" panose="02010609060101010101" pitchFamily="49" charset="-122"/>
              </a:rPr>
              <a:t>PCM </a:t>
            </a:r>
            <a:r>
              <a:rPr lang="zh-CN" altLang="en-US" dirty="0" smtClean="0">
                <a:ea typeface="黑体" panose="02010609060101010101" pitchFamily="49" charset="-122"/>
              </a:rPr>
              <a:t>体制是</a:t>
            </a:r>
            <a:r>
              <a:rPr lang="zh-CN" altLang="en-US" dirty="0">
                <a:ea typeface="黑体" panose="02010609060101010101" pitchFamily="49" charset="-122"/>
              </a:rPr>
              <a:t>为了在电话局之间的中继线上传送多路的</a:t>
            </a:r>
            <a:r>
              <a:rPr lang="zh-CN" altLang="en-US" dirty="0" smtClean="0">
                <a:ea typeface="黑体" panose="02010609060101010101" pitchFamily="49" charset="-122"/>
              </a:rPr>
              <a:t>电话。</a:t>
            </a:r>
            <a:endParaRPr lang="zh-CN" altLang="en-US" dirty="0">
              <a:ea typeface="黑体" panose="02010609060101010101" pitchFamily="49" charset="-122"/>
            </a:endParaRPr>
          </a:p>
          <a:p>
            <a:pPr marL="0" indent="0">
              <a:buNone/>
            </a:pP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38</a:t>
            </a:fld>
            <a:endParaRPr lang="en-US" altLang="zh-CN"/>
          </a:p>
        </p:txBody>
      </p:sp>
    </p:spTree>
    <p:extLst>
      <p:ext uri="{BB962C8B-B14F-4D97-AF65-F5344CB8AC3E}">
        <p14:creationId xmlns:p14="http://schemas.microsoft.com/office/powerpoint/2010/main" val="1398050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2.5  </a:t>
            </a:r>
            <a:r>
              <a:rPr lang="zh-CN" altLang="en-US" smtClean="0">
                <a:ea typeface="黑体" panose="02010609060101010101" pitchFamily="49" charset="-122"/>
              </a:rPr>
              <a:t>数字传输系统</a:t>
            </a:r>
            <a:endParaRPr lang="zh-CN" altLang="en-US" sz="4800" smtClean="0">
              <a:ea typeface="黑体" panose="02010609060101010101" pitchFamily="49" charset="-122"/>
            </a:endParaRPr>
          </a:p>
        </p:txBody>
      </p:sp>
      <p:sp>
        <p:nvSpPr>
          <p:cNvPr id="366594" name="Rectangle 3"/>
          <p:cNvSpPr>
            <a:spLocks noGrp="1" noChangeArrowheads="1"/>
          </p:cNvSpPr>
          <p:nvPr>
            <p:ph idx="1"/>
          </p:nvPr>
        </p:nvSpPr>
        <p:spPr>
          <a:xfrm>
            <a:off x="495300" y="1196975"/>
            <a:ext cx="9066213" cy="4933950"/>
          </a:xfrm>
        </p:spPr>
        <p:txBody>
          <a:bodyPr/>
          <a:lstStyle/>
          <a:p>
            <a:r>
              <a:rPr lang="zh-CN" altLang="en-US" sz="2600" dirty="0" smtClean="0">
                <a:ea typeface="黑体" panose="02010609060101010101" pitchFamily="49" charset="-122"/>
              </a:rPr>
              <a:t>由于历史上的原因，</a:t>
            </a:r>
            <a:r>
              <a:rPr lang="en-US" altLang="zh-CN" sz="2600" dirty="0" smtClean="0">
                <a:ea typeface="黑体" panose="02010609060101010101" pitchFamily="49" charset="-122"/>
              </a:rPr>
              <a:t>PCM </a:t>
            </a:r>
            <a:r>
              <a:rPr lang="zh-CN" altLang="en-US" sz="2600" dirty="0" smtClean="0">
                <a:ea typeface="黑体" panose="02010609060101010101" pitchFamily="49" charset="-122"/>
              </a:rPr>
              <a:t>有两个互不兼容的国际标准：</a:t>
            </a:r>
            <a:endParaRPr lang="en-US" altLang="zh-CN" sz="2600" dirty="0" smtClean="0">
              <a:ea typeface="黑体" panose="02010609060101010101" pitchFamily="49" charset="-122"/>
            </a:endParaRPr>
          </a:p>
          <a:p>
            <a:pPr lvl="1"/>
            <a:r>
              <a:rPr lang="zh-CN" altLang="en-US" sz="2600" dirty="0" smtClean="0">
                <a:ea typeface="黑体" panose="02010609060101010101" pitchFamily="49" charset="-122"/>
              </a:rPr>
              <a:t>北美的 </a:t>
            </a:r>
            <a:r>
              <a:rPr lang="en-US" altLang="zh-CN" sz="2600" dirty="0" smtClean="0">
                <a:ea typeface="黑体" panose="02010609060101010101" pitchFamily="49" charset="-122"/>
              </a:rPr>
              <a:t>24 </a:t>
            </a:r>
            <a:r>
              <a:rPr lang="zh-CN" altLang="en-US" sz="2600" dirty="0" smtClean="0">
                <a:ea typeface="黑体" panose="02010609060101010101" pitchFamily="49" charset="-122"/>
              </a:rPr>
              <a:t>路 </a:t>
            </a:r>
            <a:r>
              <a:rPr lang="en-US" altLang="zh-CN" sz="2600" dirty="0" smtClean="0">
                <a:ea typeface="黑体" panose="02010609060101010101" pitchFamily="49" charset="-122"/>
              </a:rPr>
              <a:t>PCM</a:t>
            </a:r>
            <a:r>
              <a:rPr lang="zh-CN" altLang="en-US" sz="2600" dirty="0" smtClean="0">
                <a:ea typeface="黑体" panose="02010609060101010101" pitchFamily="49" charset="-122"/>
              </a:rPr>
              <a:t>（简称为 </a:t>
            </a:r>
            <a:r>
              <a:rPr lang="en-US" altLang="zh-CN" sz="2600" dirty="0" smtClean="0">
                <a:solidFill>
                  <a:srgbClr val="0000CC"/>
                </a:solidFill>
                <a:ea typeface="黑体" panose="02010609060101010101" pitchFamily="49" charset="-122"/>
              </a:rPr>
              <a:t>T1</a:t>
            </a:r>
            <a:r>
              <a:rPr lang="zh-CN" altLang="en-US" sz="2600" dirty="0" smtClean="0">
                <a:ea typeface="黑体" panose="02010609060101010101" pitchFamily="49" charset="-122"/>
              </a:rPr>
              <a:t>）</a:t>
            </a:r>
            <a:endParaRPr lang="en-US" altLang="zh-CN" sz="2600" dirty="0" smtClean="0">
              <a:ea typeface="黑体" panose="02010609060101010101" pitchFamily="49" charset="-122"/>
            </a:endParaRPr>
          </a:p>
          <a:p>
            <a:pPr marL="457200" lvl="1" indent="0">
              <a:buNone/>
            </a:pPr>
            <a:r>
              <a:rPr lang="zh-CN" altLang="en-US" sz="2600" dirty="0" smtClean="0">
                <a:ea typeface="黑体" panose="02010609060101010101" pitchFamily="49" charset="-122"/>
              </a:rPr>
              <a:t>每信道每次采样</a:t>
            </a:r>
            <a:r>
              <a:rPr lang="en-US" altLang="zh-CN" sz="2600" dirty="0" smtClean="0">
                <a:ea typeface="黑体" panose="02010609060101010101" pitchFamily="49" charset="-122"/>
              </a:rPr>
              <a:t>8bit</a:t>
            </a:r>
            <a:r>
              <a:rPr lang="zh-CN" altLang="en-US" sz="2600" dirty="0" smtClean="0">
                <a:ea typeface="黑体" panose="02010609060101010101" pitchFamily="49" charset="-122"/>
              </a:rPr>
              <a:t>，共</a:t>
            </a:r>
            <a:r>
              <a:rPr lang="en-US" altLang="zh-CN" sz="2600" dirty="0" smtClean="0">
                <a:ea typeface="黑体" panose="02010609060101010101" pitchFamily="49" charset="-122"/>
              </a:rPr>
              <a:t>8</a:t>
            </a:r>
            <a:r>
              <a:rPr lang="zh-CN" altLang="en-US" sz="2600" dirty="0" smtClean="0">
                <a:ea typeface="黑体" panose="02010609060101010101" pitchFamily="49" charset="-122"/>
              </a:rPr>
              <a:t>*</a:t>
            </a:r>
            <a:r>
              <a:rPr lang="en-US" altLang="zh-CN" sz="2600" dirty="0" smtClean="0">
                <a:ea typeface="黑体" panose="02010609060101010101" pitchFamily="49" charset="-122"/>
              </a:rPr>
              <a:t>24=192bit</a:t>
            </a:r>
            <a:r>
              <a:rPr lang="zh-CN" altLang="en-US" sz="2600" dirty="0" smtClean="0">
                <a:ea typeface="黑体" panose="02010609060101010101" pitchFamily="49" charset="-122"/>
              </a:rPr>
              <a:t>，再加上</a:t>
            </a:r>
            <a:r>
              <a:rPr lang="en-US" altLang="zh-CN" sz="2600" dirty="0" smtClean="0">
                <a:ea typeface="黑体" panose="02010609060101010101" pitchFamily="49" charset="-122"/>
              </a:rPr>
              <a:t>1bit</a:t>
            </a:r>
            <a:r>
              <a:rPr lang="zh-CN" altLang="en-US" sz="2600" dirty="0" smtClean="0">
                <a:ea typeface="黑体" panose="02010609060101010101" pitchFamily="49" charset="-122"/>
              </a:rPr>
              <a:t>帧同步，每次采样共</a:t>
            </a:r>
            <a:r>
              <a:rPr lang="en-US" altLang="zh-CN" sz="2600" dirty="0" smtClean="0">
                <a:ea typeface="黑体" panose="02010609060101010101" pitchFamily="49" charset="-122"/>
              </a:rPr>
              <a:t>193bit</a:t>
            </a:r>
            <a:r>
              <a:rPr lang="zh-CN" altLang="en-US" sz="2600" dirty="0" smtClean="0">
                <a:ea typeface="黑体" panose="02010609060101010101" pitchFamily="49" charset="-122"/>
              </a:rPr>
              <a:t>，每秒</a:t>
            </a:r>
            <a:r>
              <a:rPr lang="en-US" altLang="zh-CN" sz="2600" dirty="0" smtClean="0">
                <a:ea typeface="黑体" panose="02010609060101010101" pitchFamily="49" charset="-122"/>
              </a:rPr>
              <a:t>8000</a:t>
            </a:r>
            <a:r>
              <a:rPr lang="zh-CN" altLang="en-US" sz="2600" dirty="0" smtClean="0">
                <a:ea typeface="黑体" panose="02010609060101010101" pitchFamily="49" charset="-122"/>
              </a:rPr>
              <a:t>次采样，则速率为：</a:t>
            </a:r>
            <a:r>
              <a:rPr lang="en-US" altLang="zh-CN" sz="2600" dirty="0" smtClean="0">
                <a:ea typeface="黑体" panose="02010609060101010101" pitchFamily="49" charset="-122"/>
              </a:rPr>
              <a:t>193</a:t>
            </a:r>
            <a:r>
              <a:rPr lang="zh-CN" altLang="en-US" sz="2600" dirty="0" smtClean="0">
                <a:ea typeface="黑体" panose="02010609060101010101" pitchFamily="49" charset="-122"/>
              </a:rPr>
              <a:t>*</a:t>
            </a:r>
            <a:r>
              <a:rPr lang="en-US" altLang="zh-CN" sz="2600" dirty="0" smtClean="0">
                <a:ea typeface="黑体" panose="02010609060101010101" pitchFamily="49" charset="-122"/>
              </a:rPr>
              <a:t>8000=</a:t>
            </a:r>
            <a:r>
              <a:rPr lang="en-US" altLang="zh-CN" sz="2600" dirty="0" smtClean="0">
                <a:solidFill>
                  <a:srgbClr val="0000CC"/>
                </a:solidFill>
                <a:ea typeface="黑体" panose="02010609060101010101" pitchFamily="49" charset="-122"/>
              </a:rPr>
              <a:t>1.544</a:t>
            </a:r>
            <a:r>
              <a:rPr lang="en-US" altLang="zh-CN" sz="2600" dirty="0" smtClean="0">
                <a:ea typeface="黑体" panose="02010609060101010101" pitchFamily="49" charset="-122"/>
              </a:rPr>
              <a:t> </a:t>
            </a:r>
            <a:r>
              <a:rPr lang="en-US" altLang="zh-CN" sz="2600" dirty="0">
                <a:solidFill>
                  <a:srgbClr val="0000CC"/>
                </a:solidFill>
                <a:ea typeface="黑体" panose="02010609060101010101" pitchFamily="49" charset="-122"/>
              </a:rPr>
              <a:t>Mbit/s</a:t>
            </a:r>
            <a:endParaRPr lang="en-US" altLang="zh-CN" sz="2600" dirty="0" smtClean="0">
              <a:solidFill>
                <a:srgbClr val="0000CC"/>
              </a:solidFill>
              <a:ea typeface="黑体" panose="02010609060101010101" pitchFamily="49" charset="-122"/>
            </a:endParaRPr>
          </a:p>
          <a:p>
            <a:pPr lvl="1"/>
            <a:r>
              <a:rPr lang="zh-CN" altLang="en-US" sz="2600" dirty="0" smtClean="0">
                <a:ea typeface="黑体" panose="02010609060101010101" pitchFamily="49" charset="-122"/>
              </a:rPr>
              <a:t>欧洲的 </a:t>
            </a:r>
            <a:r>
              <a:rPr lang="en-US" altLang="zh-CN" sz="2600" dirty="0" smtClean="0">
                <a:ea typeface="黑体" panose="02010609060101010101" pitchFamily="49" charset="-122"/>
              </a:rPr>
              <a:t>30 </a:t>
            </a:r>
            <a:r>
              <a:rPr lang="zh-CN" altLang="en-US" sz="2600" dirty="0" smtClean="0">
                <a:ea typeface="黑体" panose="02010609060101010101" pitchFamily="49" charset="-122"/>
              </a:rPr>
              <a:t>路 </a:t>
            </a:r>
            <a:r>
              <a:rPr lang="en-US" altLang="zh-CN" sz="2600" dirty="0" smtClean="0">
                <a:ea typeface="黑体" panose="02010609060101010101" pitchFamily="49" charset="-122"/>
              </a:rPr>
              <a:t>PCM</a:t>
            </a:r>
            <a:r>
              <a:rPr lang="zh-CN" altLang="en-US" sz="2600" dirty="0" smtClean="0">
                <a:ea typeface="黑体" panose="02010609060101010101" pitchFamily="49" charset="-122"/>
              </a:rPr>
              <a:t>（简称为 </a:t>
            </a:r>
            <a:r>
              <a:rPr lang="en-US" altLang="zh-CN" sz="2600" dirty="0" smtClean="0">
                <a:solidFill>
                  <a:srgbClr val="0000CC"/>
                </a:solidFill>
                <a:ea typeface="黑体" panose="02010609060101010101" pitchFamily="49" charset="-122"/>
              </a:rPr>
              <a:t>E1</a:t>
            </a:r>
            <a:r>
              <a:rPr lang="zh-CN" altLang="en-US" sz="2600" dirty="0" smtClean="0">
                <a:ea typeface="黑体" panose="02010609060101010101" pitchFamily="49" charset="-122"/>
              </a:rPr>
              <a:t>）</a:t>
            </a:r>
            <a:endParaRPr lang="en-US" altLang="zh-CN" sz="2600" dirty="0" smtClean="0">
              <a:ea typeface="黑体" panose="02010609060101010101" pitchFamily="49" charset="-122"/>
            </a:endParaRPr>
          </a:p>
          <a:p>
            <a:pPr marL="457200" lvl="1" indent="0">
              <a:buNone/>
            </a:pPr>
            <a:r>
              <a:rPr lang="en-US" altLang="zh-CN" sz="2600" dirty="0" smtClean="0">
                <a:ea typeface="黑体" panose="02010609060101010101" pitchFamily="49" charset="-122"/>
              </a:rPr>
              <a:t>30</a:t>
            </a:r>
            <a:r>
              <a:rPr lang="zh-CN" altLang="en-US" sz="2600" dirty="0" smtClean="0">
                <a:ea typeface="黑体" panose="02010609060101010101" pitchFamily="49" charset="-122"/>
              </a:rPr>
              <a:t>个语音</a:t>
            </a:r>
            <a:r>
              <a:rPr lang="en-US" altLang="zh-CN" sz="2600" dirty="0" smtClean="0">
                <a:ea typeface="黑体" panose="02010609060101010101" pitchFamily="49" charset="-122"/>
              </a:rPr>
              <a:t>+2</a:t>
            </a:r>
            <a:r>
              <a:rPr lang="zh-CN" altLang="en-US" sz="2600" dirty="0" smtClean="0">
                <a:ea typeface="黑体" panose="02010609060101010101" pitchFamily="49" charset="-122"/>
              </a:rPr>
              <a:t>个控制</a:t>
            </a:r>
            <a:r>
              <a:rPr lang="en-US" altLang="zh-CN" sz="2600" dirty="0" smtClean="0">
                <a:ea typeface="黑体" panose="02010609060101010101" pitchFamily="49" charset="-122"/>
              </a:rPr>
              <a:t>=32</a:t>
            </a:r>
            <a:r>
              <a:rPr lang="zh-CN" altLang="en-US" sz="2600" dirty="0" smtClean="0">
                <a:ea typeface="黑体" panose="02010609060101010101" pitchFamily="49" charset="-122"/>
              </a:rPr>
              <a:t>信道 每信道</a:t>
            </a:r>
            <a:r>
              <a:rPr lang="en-US" altLang="zh-CN" sz="2600" dirty="0" smtClean="0">
                <a:ea typeface="黑体" panose="02010609060101010101" pitchFamily="49" charset="-122"/>
              </a:rPr>
              <a:t>64kbps</a:t>
            </a:r>
            <a:r>
              <a:rPr lang="zh-CN" altLang="en-US" sz="2600" dirty="0" smtClean="0">
                <a:ea typeface="黑体" panose="02010609060101010101" pitchFamily="49" charset="-122"/>
              </a:rPr>
              <a:t>，则速率为：</a:t>
            </a:r>
            <a:r>
              <a:rPr lang="en-US" altLang="zh-CN" sz="2600" dirty="0" smtClean="0">
                <a:ea typeface="黑体" panose="02010609060101010101" pitchFamily="49" charset="-122"/>
              </a:rPr>
              <a:t>64</a:t>
            </a:r>
            <a:r>
              <a:rPr lang="zh-CN" altLang="en-US" sz="2600" dirty="0" smtClean="0">
                <a:ea typeface="黑体" panose="02010609060101010101" pitchFamily="49" charset="-122"/>
              </a:rPr>
              <a:t>*</a:t>
            </a:r>
            <a:r>
              <a:rPr lang="en-US" altLang="zh-CN" sz="2600" dirty="0" smtClean="0">
                <a:ea typeface="黑体" panose="02010609060101010101" pitchFamily="49" charset="-122"/>
              </a:rPr>
              <a:t>32=</a:t>
            </a:r>
            <a:r>
              <a:rPr lang="en-US" altLang="zh-CN" sz="2600" dirty="0" smtClean="0">
                <a:solidFill>
                  <a:srgbClr val="0000CC"/>
                </a:solidFill>
                <a:ea typeface="黑体" panose="02010609060101010101" pitchFamily="49" charset="-122"/>
              </a:rPr>
              <a:t>2.048Mbps</a:t>
            </a:r>
          </a:p>
          <a:p>
            <a:r>
              <a:rPr lang="zh-CN" altLang="en-US" sz="2600" dirty="0" smtClean="0">
                <a:ea typeface="黑体" panose="02010609060101010101" pitchFamily="49" charset="-122"/>
              </a:rPr>
              <a:t>我国采用的是欧洲的 </a:t>
            </a:r>
            <a:r>
              <a:rPr lang="en-US" altLang="zh-CN" sz="2600" dirty="0" smtClean="0">
                <a:ea typeface="黑体" panose="02010609060101010101" pitchFamily="49" charset="-122"/>
              </a:rPr>
              <a:t>E1 </a:t>
            </a:r>
            <a:r>
              <a:rPr lang="zh-CN" altLang="en-US" sz="2600" dirty="0" smtClean="0">
                <a:ea typeface="黑体" panose="02010609060101010101" pitchFamily="49" charset="-122"/>
              </a:rPr>
              <a:t>标准。</a:t>
            </a:r>
          </a:p>
          <a:p>
            <a:r>
              <a:rPr lang="zh-CN" altLang="en-US" sz="2600" dirty="0" smtClean="0">
                <a:ea typeface="黑体" panose="02010609060101010101" pitchFamily="49" charset="-122"/>
              </a:rPr>
              <a:t>当需要有更高的数据率时，可采用复用的方法。   </a:t>
            </a:r>
          </a:p>
        </p:txBody>
      </p:sp>
      <p:sp>
        <p:nvSpPr>
          <p:cNvPr id="366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561CD6-6B69-4FEA-8640-E816F935DAC6}" type="slidenum">
              <a:rPr lang="zh-CN" altLang="en-US" smtClean="0"/>
              <a:pPr eaLnBrk="1" hangingPunct="1"/>
              <a:t>39</a:t>
            </a:fld>
            <a:endParaRPr lang="en-US" altLang="zh-CN" smtClean="0"/>
          </a:p>
        </p:txBody>
      </p:sp>
      <p:sp>
        <p:nvSpPr>
          <p:cNvPr id="366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871724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1" name="Rectangle 2"/>
          <p:cNvSpPr>
            <a:spLocks noGrp="1" noChangeArrowheads="1"/>
          </p:cNvSpPr>
          <p:nvPr>
            <p:ph type="title"/>
          </p:nvPr>
        </p:nvSpPr>
        <p:spPr>
          <a:xfrm>
            <a:off x="495300" y="188913"/>
            <a:ext cx="9066213" cy="792162"/>
          </a:xfrm>
        </p:spPr>
        <p:txBody>
          <a:bodyPr/>
          <a:lstStyle/>
          <a:p>
            <a:pPr algn="ctr"/>
            <a:r>
              <a:rPr lang="zh-CN" altLang="en-US" sz="4000" smtClean="0">
                <a:solidFill>
                  <a:srgbClr val="FF0000"/>
                </a:solidFill>
                <a:ea typeface="黑体" panose="02010609060101010101" pitchFamily="49" charset="-122"/>
              </a:rPr>
              <a:t>旧的数字传输系统存在许多缺点</a:t>
            </a:r>
          </a:p>
        </p:txBody>
      </p:sp>
      <p:sp>
        <p:nvSpPr>
          <p:cNvPr id="368642"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zh-CN" altLang="en-US" dirty="0" smtClean="0">
                <a:ea typeface="黑体" panose="02010609060101010101" pitchFamily="49" charset="-122"/>
              </a:rPr>
              <a:t>最主要的是以下两个方面： </a:t>
            </a:r>
          </a:p>
          <a:p>
            <a:r>
              <a:rPr lang="zh-CN" altLang="en-US" dirty="0" smtClean="0">
                <a:solidFill>
                  <a:srgbClr val="FF0000"/>
                </a:solidFill>
                <a:ea typeface="黑体" panose="02010609060101010101" pitchFamily="49" charset="-122"/>
              </a:rPr>
              <a:t>速率标准不统一</a:t>
            </a:r>
          </a:p>
          <a:p>
            <a:pPr lvl="1"/>
            <a:r>
              <a:rPr lang="zh-CN" altLang="en-US" dirty="0" smtClean="0">
                <a:ea typeface="黑体" panose="02010609060101010101" pitchFamily="49" charset="-122"/>
              </a:rPr>
              <a:t>如果不对高次群的数字传输速率进行标准化，国际范围的</a:t>
            </a:r>
            <a:r>
              <a:rPr lang="zh-CN" altLang="zh-CN" dirty="0" smtClean="0">
                <a:solidFill>
                  <a:srgbClr val="0000FF"/>
                </a:solidFill>
                <a:ea typeface="黑体" panose="02010609060101010101" pitchFamily="49" charset="-122"/>
              </a:rPr>
              <a:t>基于光纤</a:t>
            </a:r>
            <a:r>
              <a:rPr lang="zh-CN" altLang="en-US" dirty="0" smtClean="0">
                <a:solidFill>
                  <a:srgbClr val="0000FF"/>
                </a:solidFill>
                <a:ea typeface="黑体" panose="02010609060101010101" pitchFamily="49" charset="-122"/>
              </a:rPr>
              <a:t>高速数据传输就很难实现。 </a:t>
            </a:r>
            <a:endParaRPr lang="en-US" altLang="zh-CN" dirty="0" smtClean="0">
              <a:solidFill>
                <a:srgbClr val="0000FF"/>
              </a:solidFill>
              <a:ea typeface="黑体" panose="02010609060101010101" pitchFamily="49" charset="-122"/>
            </a:endParaRPr>
          </a:p>
          <a:p>
            <a:r>
              <a:rPr lang="zh-CN" altLang="en-US" dirty="0" smtClean="0">
                <a:solidFill>
                  <a:srgbClr val="FF0000"/>
                </a:solidFill>
                <a:ea typeface="黑体" panose="02010609060101010101" pitchFamily="49" charset="-122"/>
              </a:rPr>
              <a:t>不是同步传输</a:t>
            </a:r>
          </a:p>
          <a:p>
            <a:pPr lvl="1"/>
            <a:r>
              <a:rPr lang="zh-CN" altLang="en-US" dirty="0" smtClean="0">
                <a:ea typeface="黑体" panose="02010609060101010101" pitchFamily="49" charset="-122"/>
              </a:rPr>
              <a:t>在过去相当长的时间，为了节约经费，各国的数字网主要是采用准同步方式。  </a:t>
            </a:r>
            <a:endParaRPr lang="en-US" altLang="zh-CN" dirty="0" smtClean="0">
              <a:ea typeface="黑体" panose="02010609060101010101" pitchFamily="49" charset="-122"/>
            </a:endParaRPr>
          </a:p>
          <a:p>
            <a:pPr lvl="1"/>
            <a:r>
              <a:rPr lang="zh-CN" altLang="zh-CN" dirty="0" smtClean="0">
                <a:ea typeface="黑体" panose="02010609060101010101" pitchFamily="49" charset="-122"/>
              </a:rPr>
              <a:t>当数据传输的速率很高时，</a:t>
            </a:r>
            <a:r>
              <a:rPr lang="zh-CN" altLang="zh-CN" dirty="0" smtClean="0">
                <a:solidFill>
                  <a:srgbClr val="0000FF"/>
                </a:solidFill>
                <a:ea typeface="黑体" panose="02010609060101010101" pitchFamily="49" charset="-122"/>
              </a:rPr>
              <a:t>收发双方的时钟同步就成为很大的问题。</a:t>
            </a:r>
            <a:r>
              <a:rPr lang="zh-CN" altLang="en-US" dirty="0" smtClean="0">
                <a:solidFill>
                  <a:srgbClr val="0000FF"/>
                </a:solidFill>
                <a:ea typeface="黑体" panose="02010609060101010101" pitchFamily="49" charset="-122"/>
              </a:rPr>
              <a:t> </a:t>
            </a:r>
          </a:p>
        </p:txBody>
      </p:sp>
      <p:sp>
        <p:nvSpPr>
          <p:cNvPr id="368643" name="Rectangle 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368644" name="Rectangle 6"/>
          <p:cNvSpPr>
            <a:spLocks noChangeArrowheads="1"/>
          </p:cNvSpPr>
          <p:nvPr/>
        </p:nvSpPr>
        <p:spPr bwMode="auto">
          <a:xfrm>
            <a:off x="0" y="30543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36864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E29C18-72DB-4C4E-9694-6F31362F77BD}" type="slidenum">
              <a:rPr lang="zh-CN" altLang="en-US" smtClean="0"/>
              <a:pPr eaLnBrk="1" hangingPunct="1"/>
              <a:t>40</a:t>
            </a:fld>
            <a:endParaRPr lang="en-US" altLang="zh-CN" smtClean="0"/>
          </a:p>
        </p:txBody>
      </p:sp>
      <p:sp>
        <p:nvSpPr>
          <p:cNvPr id="36864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6836196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同步光纤网 </a:t>
            </a:r>
            <a:r>
              <a:rPr lang="en-US" altLang="zh-CN" smtClean="0">
                <a:ea typeface="黑体" panose="02010609060101010101" pitchFamily="49" charset="-122"/>
              </a:rPr>
              <a:t>SONET</a:t>
            </a:r>
          </a:p>
        </p:txBody>
      </p:sp>
      <p:sp>
        <p:nvSpPr>
          <p:cNvPr id="370690" name="Rectangle 3"/>
          <p:cNvSpPr>
            <a:spLocks noGrp="1" noChangeArrowheads="1"/>
          </p:cNvSpPr>
          <p:nvPr>
            <p:ph idx="1"/>
          </p:nvPr>
        </p:nvSpPr>
        <p:spPr>
          <a:xfrm>
            <a:off x="495300" y="1196974"/>
            <a:ext cx="9066213" cy="5472295"/>
          </a:xfrm>
        </p:spPr>
        <p:txBody>
          <a:bodyPr/>
          <a:lstStyle/>
          <a:p>
            <a:r>
              <a:rPr lang="zh-CN" altLang="en-US" sz="2800" u="sng" dirty="0" smtClean="0">
                <a:solidFill>
                  <a:srgbClr val="FF0000"/>
                </a:solidFill>
                <a:ea typeface="黑体" panose="02010609060101010101" pitchFamily="49" charset="-122"/>
              </a:rPr>
              <a:t>同步光纤网 </a:t>
            </a:r>
            <a:r>
              <a:rPr lang="en-US" altLang="zh-CN" sz="2800" u="sng" dirty="0" smtClean="0">
                <a:solidFill>
                  <a:srgbClr val="FF0000"/>
                </a:solidFill>
                <a:ea typeface="黑体" panose="02010609060101010101" pitchFamily="49" charset="-122"/>
              </a:rPr>
              <a:t>SONET </a:t>
            </a:r>
            <a:r>
              <a:rPr lang="en-US" altLang="zh-CN" sz="2800" dirty="0" smtClean="0">
                <a:ea typeface="黑体" panose="02010609060101010101" pitchFamily="49" charset="-122"/>
              </a:rPr>
              <a:t>(Synchronous Optical Network)  </a:t>
            </a:r>
            <a:r>
              <a:rPr lang="zh-CN" altLang="en-US" sz="2800" dirty="0" smtClean="0">
                <a:ea typeface="黑体" panose="02010609060101010101" pitchFamily="49" charset="-122"/>
              </a:rPr>
              <a:t>的各级时钟都来自一个非常精确的主时钟。 </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SONET </a:t>
            </a:r>
            <a:r>
              <a:rPr lang="zh-CN" altLang="zh-CN" sz="2800" dirty="0" smtClean="0">
                <a:ea typeface="黑体" panose="02010609060101010101" pitchFamily="49" charset="-122"/>
              </a:rPr>
              <a:t>为光纤传输系统定义了同步传输的线路速率等级结构</a:t>
            </a:r>
            <a:endParaRPr lang="en-US" altLang="zh-CN" sz="2800" dirty="0" smtClean="0">
              <a:ea typeface="黑体" panose="02010609060101010101" pitchFamily="49" charset="-122"/>
            </a:endParaRPr>
          </a:p>
          <a:p>
            <a:pPr lvl="1"/>
            <a:r>
              <a:rPr lang="zh-CN" altLang="en-US" sz="2400" dirty="0" smtClean="0">
                <a:ea typeface="黑体" panose="02010609060101010101" pitchFamily="49" charset="-122"/>
              </a:rPr>
              <a:t>对电信信号称为第 </a:t>
            </a:r>
            <a:r>
              <a:rPr lang="en-US" altLang="zh-CN" sz="2400" dirty="0" smtClean="0">
                <a:ea typeface="黑体" panose="02010609060101010101" pitchFamily="49" charset="-122"/>
              </a:rPr>
              <a:t>1 </a:t>
            </a:r>
            <a:r>
              <a:rPr lang="zh-CN" altLang="en-US" sz="2400" dirty="0" smtClean="0">
                <a:ea typeface="黑体" panose="02010609060101010101" pitchFamily="49" charset="-122"/>
              </a:rPr>
              <a:t>级</a:t>
            </a:r>
            <a:r>
              <a:rPr lang="zh-CN" altLang="en-US" sz="2400" dirty="0" smtClean="0">
                <a:solidFill>
                  <a:srgbClr val="FF0000"/>
                </a:solidFill>
                <a:ea typeface="黑体" panose="02010609060101010101" pitchFamily="49" charset="-122"/>
              </a:rPr>
              <a:t>同步传送信号 </a:t>
            </a:r>
            <a:r>
              <a:rPr lang="en-US" altLang="zh-CN" sz="2400" dirty="0" smtClean="0">
                <a:solidFill>
                  <a:srgbClr val="FF0000"/>
                </a:solidFill>
                <a:ea typeface="黑体" panose="02010609060101010101" pitchFamily="49" charset="-122"/>
              </a:rPr>
              <a:t>STS-1</a:t>
            </a:r>
            <a:r>
              <a:rPr lang="en-US" altLang="zh-CN" sz="2400" dirty="0" smtClean="0">
                <a:ea typeface="黑体" panose="02010609060101010101" pitchFamily="49" charset="-122"/>
              </a:rPr>
              <a:t> (Synchronous Transport Signal)</a:t>
            </a:r>
            <a:r>
              <a:rPr lang="zh-CN" altLang="en-US" sz="2400" dirty="0" smtClean="0">
                <a:ea typeface="黑体" panose="02010609060101010101" pitchFamily="49" charset="-122"/>
              </a:rPr>
              <a:t>，其传输速率是 </a:t>
            </a:r>
            <a:r>
              <a:rPr lang="en-US" altLang="zh-CN" sz="2400" dirty="0" smtClean="0">
                <a:solidFill>
                  <a:srgbClr val="FF0000"/>
                </a:solidFill>
                <a:ea typeface="黑体" panose="02010609060101010101" pitchFamily="49" charset="-122"/>
              </a:rPr>
              <a:t>51.84 Mbit/s</a:t>
            </a:r>
            <a:r>
              <a:rPr lang="zh-CN" altLang="en-US" sz="2400" dirty="0" smtClean="0">
                <a:ea typeface="黑体" panose="02010609060101010101" pitchFamily="49" charset="-122"/>
              </a:rPr>
              <a:t>。</a:t>
            </a:r>
            <a:endParaRPr lang="en-US" altLang="zh-CN" sz="2400" dirty="0" smtClean="0">
              <a:ea typeface="黑体" panose="02010609060101010101" pitchFamily="49" charset="-122"/>
            </a:endParaRPr>
          </a:p>
          <a:p>
            <a:pPr marL="457200" lvl="1" indent="0">
              <a:buNone/>
            </a:pPr>
            <a:r>
              <a:rPr lang="en-US" altLang="zh-CN" sz="2400" dirty="0">
                <a:ea typeface="黑体" panose="02010609060101010101" pitchFamily="49" charset="-122"/>
              </a:rPr>
              <a:t> </a:t>
            </a:r>
            <a:r>
              <a:rPr lang="en-US" altLang="zh-CN" sz="2400" dirty="0" smtClean="0">
                <a:ea typeface="黑体" panose="02010609060101010101" pitchFamily="49" charset="-122"/>
              </a:rPr>
              <a:t>   </a:t>
            </a:r>
            <a:r>
              <a:rPr lang="zh-CN" altLang="en-US" sz="2400" dirty="0" smtClean="0">
                <a:ea typeface="黑体" panose="02010609060101010101" pitchFamily="49" charset="-122"/>
              </a:rPr>
              <a:t>复用</a:t>
            </a:r>
            <a:r>
              <a:rPr lang="en-US" altLang="zh-CN" sz="2400" dirty="0" smtClean="0">
                <a:ea typeface="黑体" panose="02010609060101010101" pitchFamily="49" charset="-122"/>
              </a:rPr>
              <a:t>810</a:t>
            </a:r>
            <a:r>
              <a:rPr lang="zh-CN" altLang="en-US" sz="2400" dirty="0" smtClean="0">
                <a:ea typeface="黑体" panose="02010609060101010101" pitchFamily="49" charset="-122"/>
              </a:rPr>
              <a:t>路：</a:t>
            </a:r>
            <a:r>
              <a:rPr lang="en-US" altLang="zh-CN" sz="2400" dirty="0" smtClean="0">
                <a:ea typeface="黑体" panose="02010609060101010101" pitchFamily="49" charset="-122"/>
              </a:rPr>
              <a:t>64</a:t>
            </a:r>
            <a:r>
              <a:rPr lang="zh-CN" altLang="en-US" sz="2400" dirty="0" smtClean="0">
                <a:ea typeface="黑体" panose="02010609060101010101" pitchFamily="49" charset="-122"/>
              </a:rPr>
              <a:t>*</a:t>
            </a:r>
            <a:r>
              <a:rPr lang="en-US" altLang="zh-CN" sz="2400" dirty="0" smtClean="0">
                <a:ea typeface="黑体" panose="02010609060101010101" pitchFamily="49" charset="-122"/>
              </a:rPr>
              <a:t>810=</a:t>
            </a:r>
            <a:r>
              <a:rPr lang="en-US" altLang="zh-CN" sz="2400" dirty="0">
                <a:ea typeface="黑体" panose="02010609060101010101" pitchFamily="49" charset="-122"/>
              </a:rPr>
              <a:t> 51.84 Mbit/s</a:t>
            </a:r>
            <a:endParaRPr lang="zh-CN" altLang="en-US" sz="2400" dirty="0" smtClean="0">
              <a:ea typeface="黑体" panose="02010609060101010101" pitchFamily="49" charset="-122"/>
            </a:endParaRPr>
          </a:p>
          <a:p>
            <a:pPr lvl="1"/>
            <a:r>
              <a:rPr lang="zh-CN" altLang="en-US" sz="2400" dirty="0" smtClean="0">
                <a:ea typeface="黑体" panose="02010609060101010101" pitchFamily="49" charset="-122"/>
              </a:rPr>
              <a:t>对光信号则称为第 </a:t>
            </a:r>
            <a:r>
              <a:rPr lang="en-US" altLang="zh-CN" sz="2400" dirty="0" smtClean="0">
                <a:ea typeface="黑体" panose="02010609060101010101" pitchFamily="49" charset="-122"/>
              </a:rPr>
              <a:t>1 </a:t>
            </a:r>
            <a:r>
              <a:rPr lang="zh-CN" altLang="en-US" sz="2400" dirty="0" smtClean="0">
                <a:ea typeface="黑体" panose="02010609060101010101" pitchFamily="49" charset="-122"/>
              </a:rPr>
              <a:t>级</a:t>
            </a:r>
            <a:r>
              <a:rPr lang="zh-CN" altLang="en-US" sz="2400" dirty="0" smtClean="0">
                <a:solidFill>
                  <a:srgbClr val="FF0000"/>
                </a:solidFill>
                <a:ea typeface="黑体" panose="02010609060101010101" pitchFamily="49" charset="-122"/>
              </a:rPr>
              <a:t>光载波 </a:t>
            </a:r>
            <a:r>
              <a:rPr lang="en-US" altLang="zh-CN" sz="2400" dirty="0" smtClean="0">
                <a:ea typeface="黑体" panose="02010609060101010101" pitchFamily="49" charset="-122"/>
              </a:rPr>
              <a:t>OC-1 (OC </a:t>
            </a:r>
            <a:r>
              <a:rPr lang="zh-CN" altLang="en-US" sz="2400" dirty="0" smtClean="0">
                <a:ea typeface="黑体" panose="02010609060101010101" pitchFamily="49" charset="-122"/>
              </a:rPr>
              <a:t>表示</a:t>
            </a:r>
            <a:r>
              <a:rPr lang="en-US" altLang="zh-CN" sz="2400" dirty="0" smtClean="0">
                <a:ea typeface="黑体" panose="02010609060101010101" pitchFamily="49" charset="-122"/>
              </a:rPr>
              <a:t>Optical Carrier)</a:t>
            </a:r>
            <a:r>
              <a:rPr lang="zh-CN" altLang="en-US" sz="2400" dirty="0" smtClean="0">
                <a:ea typeface="黑体" panose="02010609060101010101" pitchFamily="49" charset="-122"/>
              </a:rPr>
              <a:t>。</a:t>
            </a:r>
            <a:endParaRPr lang="en-US" altLang="zh-CN" sz="2400" dirty="0" smtClean="0">
              <a:ea typeface="黑体" panose="02010609060101010101" pitchFamily="49" charset="-122"/>
            </a:endParaRPr>
          </a:p>
          <a:p>
            <a:r>
              <a:rPr lang="zh-CN" altLang="zh-CN" sz="2800" dirty="0" smtClean="0">
                <a:ea typeface="黑体" panose="02010609060101010101" pitchFamily="49" charset="-122"/>
              </a:rPr>
              <a:t>现已定义了从</a:t>
            </a:r>
            <a:r>
              <a:rPr lang="en-US" altLang="zh-CN" sz="2800" dirty="0" smtClean="0">
                <a:ea typeface="黑体" panose="02010609060101010101" pitchFamily="49" charset="-122"/>
              </a:rPr>
              <a:t> 51.84 Mbit/s (</a:t>
            </a:r>
            <a:r>
              <a:rPr lang="zh-CN" altLang="zh-CN" sz="2800" dirty="0" smtClean="0">
                <a:ea typeface="黑体" panose="02010609060101010101" pitchFamily="49" charset="-122"/>
              </a:rPr>
              <a:t>即</a:t>
            </a:r>
            <a:r>
              <a:rPr lang="en-US" altLang="zh-CN" sz="2800" dirty="0" smtClean="0">
                <a:ea typeface="黑体" panose="02010609060101010101" pitchFamily="49" charset="-122"/>
              </a:rPr>
              <a:t>OC-1) </a:t>
            </a:r>
            <a:r>
              <a:rPr lang="zh-CN" altLang="zh-CN" sz="2800" dirty="0" smtClean="0">
                <a:ea typeface="黑体" panose="02010609060101010101" pitchFamily="49" charset="-122"/>
              </a:rPr>
              <a:t>一直到</a:t>
            </a:r>
            <a:r>
              <a:rPr lang="en-US" altLang="zh-CN" sz="2800" dirty="0" smtClean="0">
                <a:ea typeface="黑体" panose="02010609060101010101" pitchFamily="49" charset="-122"/>
              </a:rPr>
              <a:t> 9953.280 Mbit/s (</a:t>
            </a:r>
            <a:r>
              <a:rPr lang="zh-CN" altLang="zh-CN" sz="2800" dirty="0" smtClean="0">
                <a:ea typeface="黑体" panose="02010609060101010101" pitchFamily="49" charset="-122"/>
              </a:rPr>
              <a:t>即</a:t>
            </a:r>
            <a:r>
              <a:rPr lang="en-US" altLang="zh-CN" sz="2800" dirty="0" smtClean="0">
                <a:ea typeface="黑体" panose="02010609060101010101" pitchFamily="49" charset="-122"/>
              </a:rPr>
              <a:t> OC-192/STS-192) </a:t>
            </a:r>
            <a:r>
              <a:rPr lang="zh-CN" altLang="zh-CN" sz="2800" dirty="0" smtClean="0">
                <a:ea typeface="黑体" panose="02010609060101010101" pitchFamily="49" charset="-122"/>
              </a:rPr>
              <a:t>的标准。</a:t>
            </a:r>
            <a:r>
              <a:rPr lang="zh-CN" altLang="en-US" sz="2800" dirty="0" smtClean="0">
                <a:ea typeface="黑体" panose="02010609060101010101" pitchFamily="49" charset="-122"/>
              </a:rPr>
              <a:t>  </a:t>
            </a:r>
          </a:p>
        </p:txBody>
      </p:sp>
      <p:sp>
        <p:nvSpPr>
          <p:cNvPr id="370691" name="Rectangle 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370692" name="Rectangle 6"/>
          <p:cNvSpPr>
            <a:spLocks noChangeArrowheads="1"/>
          </p:cNvSpPr>
          <p:nvPr/>
        </p:nvSpPr>
        <p:spPr bwMode="auto">
          <a:xfrm>
            <a:off x="0" y="30543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3706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8658E1-4BC9-43AA-8CA7-0F39C8FAACCE}" type="slidenum">
              <a:rPr lang="zh-CN" altLang="en-US" smtClean="0"/>
              <a:pPr eaLnBrk="1" hangingPunct="1"/>
              <a:t>41</a:t>
            </a:fld>
            <a:endParaRPr lang="en-US" altLang="zh-CN" smtClean="0"/>
          </a:p>
        </p:txBody>
      </p:sp>
      <p:sp>
        <p:nvSpPr>
          <p:cNvPr id="3706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76348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
            </a:r>
            <a:br>
              <a:rPr lang="en-US" altLang="zh-CN" smtClean="0">
                <a:ea typeface="黑体" panose="02010609060101010101" pitchFamily="49" charset="-122"/>
              </a:rPr>
            </a:br>
            <a:r>
              <a:rPr lang="zh-CN" altLang="en-US" smtClean="0">
                <a:ea typeface="黑体" panose="02010609060101010101" pitchFamily="49" charset="-122"/>
              </a:rPr>
              <a:t>同步数字系列 </a:t>
            </a:r>
            <a:r>
              <a:rPr lang="en-US" altLang="zh-CN" smtClean="0">
                <a:ea typeface="黑体" panose="02010609060101010101" pitchFamily="49" charset="-122"/>
              </a:rPr>
              <a:t>SDH </a:t>
            </a:r>
          </a:p>
        </p:txBody>
      </p:sp>
      <p:sp>
        <p:nvSpPr>
          <p:cNvPr id="372738"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ITU-T </a:t>
            </a:r>
            <a:r>
              <a:rPr lang="zh-CN" altLang="en-US" dirty="0" smtClean="0">
                <a:ea typeface="黑体" panose="02010609060101010101" pitchFamily="49" charset="-122"/>
              </a:rPr>
              <a:t>以美国标准 </a:t>
            </a:r>
            <a:r>
              <a:rPr lang="en-US" altLang="zh-CN" dirty="0" smtClean="0">
                <a:ea typeface="黑体" panose="02010609060101010101" pitchFamily="49" charset="-122"/>
              </a:rPr>
              <a:t>SONET </a:t>
            </a:r>
            <a:r>
              <a:rPr lang="zh-CN" altLang="en-US" dirty="0" smtClean="0">
                <a:ea typeface="黑体" panose="02010609060101010101" pitchFamily="49" charset="-122"/>
              </a:rPr>
              <a:t>为基础，制订出国际标准</a:t>
            </a:r>
            <a:r>
              <a:rPr lang="zh-CN" altLang="en-US" u="sng" dirty="0" smtClean="0">
                <a:solidFill>
                  <a:srgbClr val="FF0000"/>
                </a:solidFill>
                <a:ea typeface="黑体" panose="02010609060101010101" pitchFamily="49" charset="-122"/>
              </a:rPr>
              <a:t>同步数字系列 </a:t>
            </a:r>
            <a:r>
              <a:rPr lang="en-US" altLang="zh-CN" u="sng" dirty="0" smtClean="0">
                <a:solidFill>
                  <a:srgbClr val="FF0000"/>
                </a:solidFill>
                <a:ea typeface="黑体" panose="02010609060101010101" pitchFamily="49" charset="-122"/>
              </a:rPr>
              <a:t>SDH </a:t>
            </a:r>
            <a:r>
              <a:rPr lang="en-US" altLang="zh-CN" dirty="0" smtClean="0">
                <a:ea typeface="黑体" panose="02010609060101010101" pitchFamily="49" charset="-122"/>
              </a:rPr>
              <a:t>(Synchronous Digital Hierarchy)</a:t>
            </a:r>
            <a:r>
              <a:rPr lang="zh-CN" altLang="en-US" dirty="0" smtClean="0">
                <a:ea typeface="黑体" panose="02010609060101010101" pitchFamily="49" charset="-122"/>
              </a:rPr>
              <a:t>。</a:t>
            </a:r>
          </a:p>
          <a:p>
            <a:r>
              <a:rPr lang="zh-CN" altLang="en-US" dirty="0" smtClean="0">
                <a:ea typeface="黑体" panose="02010609060101010101" pitchFamily="49" charset="-122"/>
              </a:rPr>
              <a:t>一般可认为 </a:t>
            </a:r>
            <a:r>
              <a:rPr lang="en-US" altLang="zh-CN" dirty="0" smtClean="0">
                <a:ea typeface="黑体" panose="02010609060101010101" pitchFamily="49" charset="-122"/>
              </a:rPr>
              <a:t>SDH </a:t>
            </a:r>
            <a:r>
              <a:rPr lang="zh-CN" altLang="en-US" dirty="0" smtClean="0">
                <a:ea typeface="黑体" panose="02010609060101010101" pitchFamily="49" charset="-122"/>
              </a:rPr>
              <a:t>与 </a:t>
            </a:r>
            <a:r>
              <a:rPr lang="en-US" altLang="zh-CN" dirty="0" smtClean="0">
                <a:ea typeface="黑体" panose="02010609060101010101" pitchFamily="49" charset="-122"/>
              </a:rPr>
              <a:t>SONET </a:t>
            </a:r>
            <a:r>
              <a:rPr lang="zh-CN" altLang="en-US" dirty="0" smtClean="0">
                <a:ea typeface="黑体" panose="02010609060101010101" pitchFamily="49" charset="-122"/>
              </a:rPr>
              <a:t>是同义词。</a:t>
            </a:r>
          </a:p>
          <a:p>
            <a:r>
              <a:rPr lang="zh-CN" altLang="zh-CN" dirty="0" smtClean="0">
                <a:solidFill>
                  <a:srgbClr val="FF0000"/>
                </a:solidFill>
                <a:ea typeface="黑体" panose="02010609060101010101" pitchFamily="49" charset="-122"/>
              </a:rPr>
              <a:t>其主要不同点是：</a:t>
            </a:r>
            <a:r>
              <a:rPr lang="en-US" altLang="zh-CN" dirty="0" smtClean="0">
                <a:ea typeface="黑体" panose="02010609060101010101" pitchFamily="49" charset="-122"/>
              </a:rPr>
              <a:t>SDH </a:t>
            </a:r>
            <a:r>
              <a:rPr lang="zh-CN" altLang="en-US" dirty="0" smtClean="0">
                <a:ea typeface="黑体" panose="02010609060101010101" pitchFamily="49" charset="-122"/>
              </a:rPr>
              <a:t>的基本速率为 </a:t>
            </a:r>
            <a:r>
              <a:rPr lang="en-US" altLang="zh-CN" dirty="0" smtClean="0">
                <a:ea typeface="黑体" panose="02010609060101010101" pitchFamily="49" charset="-122"/>
              </a:rPr>
              <a:t>155.52 Mbit/s</a:t>
            </a:r>
            <a:r>
              <a:rPr lang="zh-CN" altLang="en-US" dirty="0" smtClean="0">
                <a:ea typeface="黑体" panose="02010609060101010101" pitchFamily="49" charset="-122"/>
              </a:rPr>
              <a:t>，称为第 </a:t>
            </a:r>
            <a:r>
              <a:rPr lang="en-US" altLang="zh-CN" dirty="0" smtClean="0">
                <a:ea typeface="黑体" panose="02010609060101010101" pitchFamily="49" charset="-122"/>
              </a:rPr>
              <a:t>1 </a:t>
            </a:r>
            <a:r>
              <a:rPr lang="zh-CN" altLang="en-US" dirty="0" smtClean="0">
                <a:ea typeface="黑体" panose="02010609060101010101" pitchFamily="49" charset="-122"/>
              </a:rPr>
              <a:t>级</a:t>
            </a:r>
            <a:r>
              <a:rPr lang="zh-CN" altLang="en-US" dirty="0" smtClean="0">
                <a:solidFill>
                  <a:srgbClr val="0000FF"/>
                </a:solidFill>
                <a:ea typeface="黑体" panose="02010609060101010101" pitchFamily="49" charset="-122"/>
              </a:rPr>
              <a:t>同步传递模块 </a:t>
            </a:r>
            <a:r>
              <a:rPr lang="en-US" altLang="zh-CN" dirty="0" smtClean="0">
                <a:ea typeface="黑体" panose="02010609060101010101" pitchFamily="49" charset="-122"/>
              </a:rPr>
              <a:t>(Synchronous Transfer Module)</a:t>
            </a:r>
            <a:r>
              <a:rPr lang="zh-CN" altLang="en-US" dirty="0" smtClean="0">
                <a:ea typeface="黑体" panose="02010609060101010101" pitchFamily="49" charset="-122"/>
              </a:rPr>
              <a:t>，即 </a:t>
            </a:r>
            <a:r>
              <a:rPr lang="en-US" altLang="zh-CN" dirty="0" smtClean="0">
                <a:ea typeface="黑体" panose="02010609060101010101" pitchFamily="49" charset="-122"/>
              </a:rPr>
              <a:t>STM-1</a:t>
            </a:r>
            <a:r>
              <a:rPr lang="zh-CN" altLang="en-US" dirty="0" smtClean="0">
                <a:ea typeface="黑体" panose="02010609060101010101" pitchFamily="49" charset="-122"/>
              </a:rPr>
              <a:t>，相当于 </a:t>
            </a:r>
            <a:r>
              <a:rPr lang="en-US" altLang="zh-CN" dirty="0" smtClean="0">
                <a:ea typeface="黑体" panose="02010609060101010101" pitchFamily="49" charset="-122"/>
              </a:rPr>
              <a:t>SONET </a:t>
            </a:r>
            <a:r>
              <a:rPr lang="zh-CN" altLang="en-US" dirty="0" smtClean="0">
                <a:ea typeface="黑体" panose="02010609060101010101" pitchFamily="49" charset="-122"/>
              </a:rPr>
              <a:t>体系中的 </a:t>
            </a:r>
            <a:r>
              <a:rPr lang="en-US" altLang="zh-CN" dirty="0" smtClean="0">
                <a:ea typeface="黑体" panose="02010609060101010101" pitchFamily="49" charset="-122"/>
              </a:rPr>
              <a:t>OC-3 </a:t>
            </a:r>
            <a:r>
              <a:rPr lang="zh-CN" altLang="en-US" dirty="0" smtClean="0">
                <a:ea typeface="黑体" panose="02010609060101010101" pitchFamily="49" charset="-122"/>
              </a:rPr>
              <a:t>速率。   </a:t>
            </a:r>
          </a:p>
        </p:txBody>
      </p:sp>
      <p:sp>
        <p:nvSpPr>
          <p:cNvPr id="372739" name="Rectangle 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372740" name="Rectangle 6"/>
          <p:cNvSpPr>
            <a:spLocks noChangeArrowheads="1"/>
          </p:cNvSpPr>
          <p:nvPr/>
        </p:nvSpPr>
        <p:spPr bwMode="auto">
          <a:xfrm>
            <a:off x="0" y="30543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37274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95454B-F314-48CB-9E33-DFEAD1440C5D}" type="slidenum">
              <a:rPr lang="zh-CN" altLang="en-US" smtClean="0"/>
              <a:pPr eaLnBrk="1" hangingPunct="1"/>
              <a:t>42</a:t>
            </a:fld>
            <a:endParaRPr lang="en-US" altLang="zh-CN" smtClean="0"/>
          </a:p>
        </p:txBody>
      </p:sp>
      <p:sp>
        <p:nvSpPr>
          <p:cNvPr id="37274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0825163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305" name="Group 417"/>
          <p:cNvGraphicFramePr>
            <a:graphicFrameLocks noGrp="1"/>
          </p:cNvGraphicFramePr>
          <p:nvPr/>
        </p:nvGraphicFramePr>
        <p:xfrm>
          <a:off x="415925" y="1060450"/>
          <a:ext cx="9296399" cy="5105400"/>
        </p:xfrm>
        <a:graphic>
          <a:graphicData uri="http://schemas.openxmlformats.org/drawingml/2006/table">
            <a:tbl>
              <a:tblPr/>
              <a:tblGrid>
                <a:gridCol w="1781977">
                  <a:extLst>
                    <a:ext uri="{9D8B030D-6E8A-4147-A177-3AD203B41FA5}">
                      <a16:colId xmlns:a16="http://schemas.microsoft.com/office/drawing/2014/main" val="20000"/>
                    </a:ext>
                  </a:extLst>
                </a:gridCol>
                <a:gridCol w="2770849">
                  <a:extLst>
                    <a:ext uri="{9D8B030D-6E8A-4147-A177-3AD203B41FA5}">
                      <a16:colId xmlns:a16="http://schemas.microsoft.com/office/drawing/2014/main" val="20001"/>
                    </a:ext>
                  </a:extLst>
                </a:gridCol>
                <a:gridCol w="1897429">
                  <a:extLst>
                    <a:ext uri="{9D8B030D-6E8A-4147-A177-3AD203B41FA5}">
                      <a16:colId xmlns:a16="http://schemas.microsoft.com/office/drawing/2014/main" val="20002"/>
                    </a:ext>
                  </a:extLst>
                </a:gridCol>
                <a:gridCol w="2846144">
                  <a:extLst>
                    <a:ext uri="{9D8B030D-6E8A-4147-A177-3AD203B41FA5}">
                      <a16:colId xmlns:a16="http://schemas.microsoft.com/office/drawing/2014/main" val="20003"/>
                    </a:ext>
                  </a:extLst>
                </a:gridCol>
              </a:tblGrid>
              <a:tr h="7620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线路速率</a:t>
                      </a: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(Mb/s)</a:t>
                      </a:r>
                      <a:endParaRPr kumimoji="0" lang="en-US" altLang="zh-CN" sz="2200" b="1" i="0" u="none" strike="noStrike" cap="none" normalizeH="0" baseline="0" dirty="0">
                        <a:ln>
                          <a:noFill/>
                        </a:ln>
                        <a:solidFill>
                          <a:srgbClr val="000099"/>
                        </a:solidFill>
                        <a:effectLst/>
                        <a:latin typeface="+mn-lt"/>
                        <a:ea typeface="黑体" panose="02010609060101010101" pitchFamily="2" charset="-122"/>
                      </a:endParaRP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SONET</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符号</a:t>
                      </a:r>
                      <a:endParaRPr kumimoji="0" lang="zh-CN" altLang="en-US" sz="2200" b="1" i="0" u="none" strike="noStrike" cap="none" normalizeH="0" baseline="0" dirty="0">
                        <a:ln>
                          <a:noFill/>
                        </a:ln>
                        <a:solidFill>
                          <a:srgbClr val="000099"/>
                        </a:solidFill>
                        <a:effectLst/>
                        <a:latin typeface="+mn-lt"/>
                        <a:ea typeface="黑体" panose="02010609060101010101" pitchFamily="2" charset="-122"/>
                      </a:endParaRP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ITU-T</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符号</a:t>
                      </a:r>
                      <a:endParaRPr kumimoji="0" lang="zh-CN" altLang="en-US" sz="2200" b="1" i="0" u="none" strike="noStrike" cap="none" normalizeH="0" baseline="0">
                        <a:ln>
                          <a:noFill/>
                        </a:ln>
                        <a:solidFill>
                          <a:srgbClr val="000099"/>
                        </a:solidFill>
                        <a:effectLst/>
                        <a:latin typeface="+mn-lt"/>
                        <a:ea typeface="黑体" panose="02010609060101010101" pitchFamily="2" charset="-122"/>
                      </a:endParaRP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表示线路速率</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的常用近似值</a:t>
                      </a:r>
                      <a:endParaRPr kumimoji="0" lang="zh-CN" altLang="en-US" sz="2200" b="1" i="0" u="none" strike="noStrike" cap="none" normalizeH="0" baseline="0" dirty="0">
                        <a:ln>
                          <a:noFill/>
                        </a:ln>
                        <a:solidFill>
                          <a:srgbClr val="000099"/>
                        </a:solidFill>
                        <a:effectLst/>
                        <a:latin typeface="+mn-lt"/>
                        <a:ea typeface="黑体" panose="02010609060101010101" pitchFamily="2" charset="-122"/>
                      </a:endParaRP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0"/>
                  </a:ext>
                </a:extLst>
              </a:tr>
              <a:tr h="42672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  51.840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OC-1/STS-1</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sym typeface="Symbol" panose="05050102010706020507" pitchFamily="18" charset="2"/>
                        </a:rPr>
                        <a:t></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200" b="1" i="0" u="none" strike="noStrike" cap="none" normalizeH="0" baseline="0">
                        <a:ln>
                          <a:noFill/>
                        </a:ln>
                        <a:solidFill>
                          <a:srgbClr val="000099"/>
                        </a:solidFill>
                        <a:effectLst/>
                        <a:latin typeface="+mn-lt"/>
                        <a:ea typeface="黑体" panose="02010609060101010101" pitchFamily="2" charset="-122"/>
                      </a:endParaRP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72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 155.520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OC-3/STS-3</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STM-1</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155 Mbit/s</a:t>
                      </a: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72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 466.560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OC-9/STS-9</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STM-3</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200" b="1" i="0" u="none" strike="noStrike" cap="none" normalizeH="0" baseline="0" dirty="0">
                        <a:ln>
                          <a:noFill/>
                        </a:ln>
                        <a:solidFill>
                          <a:srgbClr val="000099"/>
                        </a:solidFill>
                        <a:effectLst/>
                        <a:latin typeface="+mn-lt"/>
                        <a:ea typeface="黑体" panose="02010609060101010101" pitchFamily="2" charset="-122"/>
                      </a:endParaRP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72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 622.080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OC-12/STS-12</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STM-4</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622 Mbit/s</a:t>
                      </a: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72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 933.120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OC-18/STS-18</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STM-6</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200" b="1" i="0" u="none" strike="noStrike" cap="none" normalizeH="0" baseline="0" dirty="0">
                        <a:ln>
                          <a:noFill/>
                        </a:ln>
                        <a:solidFill>
                          <a:srgbClr val="000099"/>
                        </a:solidFill>
                        <a:effectLst/>
                        <a:latin typeface="+mn-lt"/>
                        <a:ea typeface="黑体" panose="02010609060101010101" pitchFamily="2" charset="-122"/>
                      </a:endParaRP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72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1244.160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OC-24/STS-24</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STM-8</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200" b="1" i="0" u="none" strike="noStrike" cap="none" normalizeH="0" baseline="0" dirty="0">
                        <a:ln>
                          <a:noFill/>
                        </a:ln>
                        <a:solidFill>
                          <a:srgbClr val="000099"/>
                        </a:solidFill>
                        <a:effectLst/>
                        <a:latin typeface="+mn-lt"/>
                        <a:ea typeface="黑体" panose="02010609060101010101" pitchFamily="2" charset="-122"/>
                      </a:endParaRP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672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2488.320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OC-48/STS-48</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STM-16</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2.5 </a:t>
                      </a:r>
                      <a:r>
                        <a:rPr kumimoji="0" lang="en-US" altLang="zh-CN" sz="2200" b="1" i="0" u="none" strike="noStrike" cap="none" normalizeH="0" baseline="0" dirty="0" err="1">
                          <a:ln>
                            <a:noFill/>
                          </a:ln>
                          <a:solidFill>
                            <a:srgbClr val="000099"/>
                          </a:solidFill>
                          <a:effectLst/>
                          <a:latin typeface="+mn-lt"/>
                          <a:ea typeface="黑体" panose="02010609060101010101" pitchFamily="2" charset="-122"/>
                          <a:cs typeface="Times New Roman" panose="02020603050405020304" pitchFamily="18" charset="0"/>
                        </a:rPr>
                        <a:t>Gbit</a:t>
                      </a:r>
                      <a:r>
                        <a:rPr kumimoji="0" lang="en-US"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/s</a:t>
                      </a: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478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4976.640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OC-96/STS-96</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STM-32</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endParaRP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2672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9953.280</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OC-192/STS-192</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cs typeface="Times New Roman" panose="02020603050405020304" pitchFamily="18" charset="0"/>
                        </a:rPr>
                        <a:t>STM-64</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10 </a:t>
                      </a:r>
                      <a:r>
                        <a:rPr kumimoji="0" lang="en-US" altLang="zh-CN" sz="2200" b="1" i="0" u="none" strike="noStrike" cap="none" normalizeH="0" baseline="0" dirty="0" err="1">
                          <a:ln>
                            <a:noFill/>
                          </a:ln>
                          <a:solidFill>
                            <a:srgbClr val="000099"/>
                          </a:solidFill>
                          <a:effectLst/>
                          <a:latin typeface="+mn-lt"/>
                          <a:ea typeface="黑体" panose="02010609060101010101" pitchFamily="2" charset="-122"/>
                          <a:cs typeface="Times New Roman" panose="02020603050405020304" pitchFamily="18" charset="0"/>
                        </a:rPr>
                        <a:t>Gbit</a:t>
                      </a:r>
                      <a:r>
                        <a:rPr kumimoji="0" lang="en-US" altLang="zh-CN" sz="2200" b="1" i="0" u="none" strike="noStrike" cap="none" normalizeH="0" baseline="0" dirty="0">
                          <a:ln>
                            <a:noFill/>
                          </a:ln>
                          <a:solidFill>
                            <a:srgbClr val="000099"/>
                          </a:solidFill>
                          <a:effectLst/>
                          <a:latin typeface="+mn-lt"/>
                          <a:ea typeface="黑体" panose="02010609060101010101" pitchFamily="2" charset="-122"/>
                          <a:cs typeface="Times New Roman" panose="02020603050405020304" pitchFamily="18" charset="0"/>
                        </a:rPr>
                        <a:t>/s</a:t>
                      </a: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478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rPr>
                        <a:t>39813.120 </a:t>
                      </a:r>
                    </a:p>
                  </a:txBody>
                  <a:tcPr marL="99073" marR="99073"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rPr>
                        <a:t>OC-768/STS-768 </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000099"/>
                          </a:solidFill>
                          <a:effectLst/>
                          <a:latin typeface="+mn-lt"/>
                          <a:ea typeface="黑体" panose="02010609060101010101" pitchFamily="2" charset="-122"/>
                        </a:rPr>
                        <a:t>STM-256 </a:t>
                      </a:r>
                    </a:p>
                  </a:txBody>
                  <a:tcPr marL="99073" marR="99073"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dirty="0">
                          <a:ln>
                            <a:noFill/>
                          </a:ln>
                          <a:solidFill>
                            <a:srgbClr val="000099"/>
                          </a:solidFill>
                          <a:effectLst/>
                          <a:latin typeface="+mn-lt"/>
                          <a:ea typeface="黑体" panose="02010609060101010101" pitchFamily="2" charset="-122"/>
                        </a:rPr>
                        <a:t>40 </a:t>
                      </a:r>
                      <a:r>
                        <a:rPr kumimoji="0" lang="en-US" altLang="zh-CN" sz="2200" b="1" i="0" u="none" strike="noStrike" cap="none" normalizeH="0" baseline="0" dirty="0" err="1">
                          <a:ln>
                            <a:noFill/>
                          </a:ln>
                          <a:solidFill>
                            <a:srgbClr val="000099"/>
                          </a:solidFill>
                          <a:effectLst/>
                          <a:latin typeface="+mn-lt"/>
                          <a:ea typeface="黑体" panose="02010609060101010101" pitchFamily="2" charset="-122"/>
                        </a:rPr>
                        <a:t>Gbit</a:t>
                      </a:r>
                      <a:r>
                        <a:rPr kumimoji="0" lang="en-US" altLang="zh-CN" sz="2200" b="1" i="0" u="none" strike="noStrike" cap="none" normalizeH="0" baseline="0" dirty="0">
                          <a:ln>
                            <a:noFill/>
                          </a:ln>
                          <a:solidFill>
                            <a:srgbClr val="000099"/>
                          </a:solidFill>
                          <a:effectLst/>
                          <a:latin typeface="+mn-lt"/>
                          <a:ea typeface="黑体" panose="02010609060101010101" pitchFamily="2" charset="-122"/>
                        </a:rPr>
                        <a:t>/s </a:t>
                      </a:r>
                    </a:p>
                  </a:txBody>
                  <a:tcPr marL="99073" marR="99073"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74847" name="Text Box 321"/>
          <p:cNvSpPr txBox="1">
            <a:spLocks noChangeArrowheads="1"/>
          </p:cNvSpPr>
          <p:nvPr/>
        </p:nvSpPr>
        <p:spPr bwMode="auto">
          <a:xfrm>
            <a:off x="696913" y="549275"/>
            <a:ext cx="7927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SONET</a:t>
            </a:r>
            <a:r>
              <a:rPr lang="zh-CN" altLang="zh-CN" sz="2400" b="1">
                <a:ea typeface="黑体" panose="02010609060101010101" pitchFamily="49" charset="-122"/>
              </a:rPr>
              <a:t>的</a:t>
            </a:r>
            <a:r>
              <a:rPr lang="en-US" altLang="zh-CN" sz="2400" b="1">
                <a:ea typeface="黑体" panose="02010609060101010101" pitchFamily="49" charset="-122"/>
              </a:rPr>
              <a:t> OC</a:t>
            </a:r>
            <a:r>
              <a:rPr lang="zh-CN" altLang="zh-CN" sz="2400" b="1">
                <a:ea typeface="黑体" panose="02010609060101010101" pitchFamily="49" charset="-122"/>
              </a:rPr>
              <a:t>级</a:t>
            </a:r>
            <a:r>
              <a:rPr lang="en-US" altLang="zh-CN" sz="2400" b="1">
                <a:ea typeface="黑体" panose="02010609060101010101" pitchFamily="49" charset="-122"/>
              </a:rPr>
              <a:t> / STS</a:t>
            </a:r>
            <a:r>
              <a:rPr lang="zh-CN" altLang="zh-CN" sz="2400" b="1">
                <a:ea typeface="黑体" panose="02010609060101010101" pitchFamily="49" charset="-122"/>
              </a:rPr>
              <a:t>级</a:t>
            </a:r>
            <a:r>
              <a:rPr lang="en-US" altLang="zh-CN" sz="2400" b="1">
                <a:ea typeface="黑体" panose="02010609060101010101" pitchFamily="49" charset="-122"/>
              </a:rPr>
              <a:t> </a:t>
            </a:r>
            <a:r>
              <a:rPr lang="zh-CN" altLang="zh-CN" sz="2400" b="1">
                <a:ea typeface="黑体" panose="02010609060101010101" pitchFamily="49" charset="-122"/>
              </a:rPr>
              <a:t>与</a:t>
            </a:r>
            <a:r>
              <a:rPr lang="en-US" altLang="zh-CN" sz="2400" b="1">
                <a:ea typeface="黑体" panose="02010609060101010101" pitchFamily="49" charset="-122"/>
              </a:rPr>
              <a:t>SDH</a:t>
            </a:r>
            <a:r>
              <a:rPr lang="zh-CN" altLang="zh-CN" sz="2400" b="1">
                <a:ea typeface="黑体" panose="02010609060101010101" pitchFamily="49" charset="-122"/>
              </a:rPr>
              <a:t>的</a:t>
            </a:r>
            <a:r>
              <a:rPr lang="en-US" altLang="zh-CN" sz="2400" b="1">
                <a:ea typeface="黑体" panose="02010609060101010101" pitchFamily="49" charset="-122"/>
              </a:rPr>
              <a:t> STM</a:t>
            </a:r>
            <a:r>
              <a:rPr lang="zh-CN" altLang="zh-CN" sz="2400" b="1">
                <a:ea typeface="黑体" panose="02010609060101010101" pitchFamily="49" charset="-122"/>
              </a:rPr>
              <a:t>级</a:t>
            </a:r>
            <a:r>
              <a:rPr lang="en-US" altLang="zh-CN" sz="2400" b="1">
                <a:ea typeface="黑体" panose="02010609060101010101" pitchFamily="49" charset="-122"/>
              </a:rPr>
              <a:t> </a:t>
            </a:r>
            <a:r>
              <a:rPr lang="zh-CN" altLang="zh-CN" sz="2400" b="1">
                <a:ea typeface="黑体" panose="02010609060101010101" pitchFamily="49" charset="-122"/>
              </a:rPr>
              <a:t>的对应关系</a:t>
            </a:r>
            <a:endParaRPr lang="zh-CN" altLang="en-US" sz="2400" b="1">
              <a:ea typeface="黑体" panose="02010609060101010101" pitchFamily="49" charset="-122"/>
            </a:endParaRPr>
          </a:p>
        </p:txBody>
      </p:sp>
      <p:sp>
        <p:nvSpPr>
          <p:cNvPr id="37484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FB1E38A-2CE3-4C27-B0AB-EE381830A1ED}" type="slidenum">
              <a:rPr lang="zh-CN" altLang="en-US" smtClean="0"/>
              <a:pPr/>
              <a:t>43</a:t>
            </a:fld>
            <a:endParaRPr lang="en-US" altLang="zh-CN" smtClean="0"/>
          </a:p>
        </p:txBody>
      </p:sp>
      <p:sp>
        <p:nvSpPr>
          <p:cNvPr id="37484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extLst>
      <p:ext uri="{BB962C8B-B14F-4D97-AF65-F5344CB8AC3E}">
        <p14:creationId xmlns:p14="http://schemas.microsoft.com/office/powerpoint/2010/main" val="23412500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3"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SONET / SDH </a:t>
            </a:r>
            <a:r>
              <a:rPr lang="zh-CN" altLang="en-US" dirty="0" smtClean="0">
                <a:ea typeface="黑体" panose="02010609060101010101" pitchFamily="49" charset="-122"/>
              </a:rPr>
              <a:t>标准的意义</a:t>
            </a:r>
          </a:p>
        </p:txBody>
      </p:sp>
      <p:sp>
        <p:nvSpPr>
          <p:cNvPr id="376834" name="内容占位符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使</a:t>
            </a:r>
            <a:r>
              <a:rPr lang="zh-CN" altLang="zh-CN" dirty="0" smtClean="0">
                <a:ea typeface="黑体" panose="02010609060101010101" pitchFamily="49" charset="-122"/>
              </a:rPr>
              <a:t>不同的数字传输体制在</a:t>
            </a:r>
            <a:r>
              <a:rPr lang="en-US" altLang="zh-CN" dirty="0" smtClean="0">
                <a:ea typeface="黑体" panose="02010609060101010101" pitchFamily="49" charset="-122"/>
              </a:rPr>
              <a:t> STM-1 </a:t>
            </a:r>
            <a:r>
              <a:rPr lang="zh-CN" altLang="zh-CN" dirty="0" smtClean="0">
                <a:ea typeface="黑体" panose="02010609060101010101" pitchFamily="49" charset="-122"/>
              </a:rPr>
              <a:t>等级上获得了统一</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第一次真正实现了数字传输体制上的世界性标准</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已成为公认的新一代理想的传输网体制</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SDH </a:t>
            </a:r>
            <a:r>
              <a:rPr lang="zh-CN" altLang="zh-CN" dirty="0" smtClean="0">
                <a:ea typeface="黑体" panose="02010609060101010101" pitchFamily="49" charset="-122"/>
              </a:rPr>
              <a:t>标准也适合于微波和卫星传输的技术体制。</a:t>
            </a:r>
            <a:endParaRPr lang="zh-CN" altLang="en-US" dirty="0" smtClean="0">
              <a:ea typeface="黑体" panose="02010609060101010101" pitchFamily="49" charset="-122"/>
            </a:endParaRPr>
          </a:p>
        </p:txBody>
      </p:sp>
      <p:sp>
        <p:nvSpPr>
          <p:cNvPr id="3768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759C94-1ED9-4611-84DB-5C236CC1125E}" type="slidenum">
              <a:rPr lang="zh-CN" altLang="en-US" smtClean="0"/>
              <a:pPr eaLnBrk="1" hangingPunct="1"/>
              <a:t>44</a:t>
            </a:fld>
            <a:endParaRPr lang="en-US" altLang="zh-CN" smtClean="0"/>
          </a:p>
        </p:txBody>
      </p:sp>
      <p:sp>
        <p:nvSpPr>
          <p:cNvPr id="3768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680582937"/>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379</TotalTime>
  <Words>3173</Words>
  <Application>Microsoft Office PowerPoint</Application>
  <PresentationFormat>A4 纸张(210x297 毫米)</PresentationFormat>
  <Paragraphs>645</Paragraphs>
  <Slides>44</Slides>
  <Notes>33</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44</vt:i4>
      </vt:variant>
    </vt:vector>
  </HeadingPairs>
  <TitlesOfParts>
    <vt:vector size="54" baseType="lpstr">
      <vt:lpstr>黑体</vt:lpstr>
      <vt:lpstr>华文行楷</vt:lpstr>
      <vt:lpstr>宋体</vt:lpstr>
      <vt:lpstr>Arial</vt:lpstr>
      <vt:lpstr>Symbol</vt:lpstr>
      <vt:lpstr>Times New Roman</vt:lpstr>
      <vt:lpstr>Wingdings</vt:lpstr>
      <vt:lpstr>Presentation</vt:lpstr>
      <vt:lpstr>Equation.3</vt:lpstr>
      <vt:lpstr>Visio</vt:lpstr>
      <vt:lpstr>第 2 章  物理层</vt:lpstr>
      <vt:lpstr>第 2 章  物理层</vt:lpstr>
      <vt:lpstr>2.3  物理层下面的传输媒体</vt:lpstr>
      <vt:lpstr>2.3  物理层下面的传输媒体</vt:lpstr>
      <vt:lpstr>2.3  物理层下面的传输媒体</vt:lpstr>
      <vt:lpstr>2.3.1  导引型传输媒体</vt:lpstr>
      <vt:lpstr>2.3.1  导引型传输媒体</vt:lpstr>
      <vt:lpstr>双绞线标准</vt:lpstr>
      <vt:lpstr>双绞线标准</vt:lpstr>
      <vt:lpstr>2.3.1  导引型传输媒体</vt:lpstr>
      <vt:lpstr>2.3.1  导引型传输媒体</vt:lpstr>
      <vt:lpstr>光线在光纤中的折射 </vt:lpstr>
      <vt:lpstr>光纤的工作原理</vt:lpstr>
      <vt:lpstr>多模光纤与单模光纤</vt:lpstr>
      <vt:lpstr>多模光纤与单模光纤</vt:lpstr>
      <vt:lpstr>光纤通信中使用的光波的波段</vt:lpstr>
      <vt:lpstr>光纤优点</vt:lpstr>
      <vt:lpstr>2.3.2  非导引型传输媒体 </vt:lpstr>
      <vt:lpstr>  无线局域网使用的 ISM 频段 </vt:lpstr>
      <vt:lpstr>2.4  信道复用技术</vt:lpstr>
      <vt:lpstr>2.4.1  频分复用、时分复用和统计时分复用 </vt:lpstr>
      <vt:lpstr>频分复用 FDM (Frequency Division Multiplexing) </vt:lpstr>
      <vt:lpstr>时分复用TDM (Time Division Multiplexing) </vt:lpstr>
      <vt:lpstr>时分复用TDM </vt:lpstr>
      <vt:lpstr>时分复用可能会造成线路资源的浪费 </vt:lpstr>
      <vt:lpstr>统计时分复用 STDM (Statistic TDM)  </vt:lpstr>
      <vt:lpstr>2.4.2   波分复用 WDM (Wavelength Division Multiplexing)  </vt:lpstr>
      <vt:lpstr>2.4.3   码分复用 CDM (Code Division Multiplexing)  </vt:lpstr>
      <vt:lpstr>码片序列(chip sequence) </vt:lpstr>
      <vt:lpstr>码片序列实现了扩频</vt:lpstr>
      <vt:lpstr>CDMA 的重要特点</vt:lpstr>
      <vt:lpstr>码片序列的正交关系 </vt:lpstr>
      <vt:lpstr>正交关系的另一个重要特性 </vt:lpstr>
      <vt:lpstr>CDMA 的工作原理 </vt:lpstr>
      <vt:lpstr>2.5  数字传输系统</vt:lpstr>
      <vt:lpstr>补充  脉冲编码调制PCM</vt:lpstr>
      <vt:lpstr>脉冲编码调制的工作过程：采样、量化与编码</vt:lpstr>
      <vt:lpstr>补充  脉冲编码调制PCM</vt:lpstr>
      <vt:lpstr>2.5  数字传输系统</vt:lpstr>
      <vt:lpstr>旧的数字传输系统存在许多缺点</vt:lpstr>
      <vt:lpstr>同步光纤网 SONET</vt:lpstr>
      <vt:lpstr> 同步数字系列 SDH </vt:lpstr>
      <vt:lpstr>PowerPoint 演示文稿</vt:lpstr>
      <vt:lpstr>SONET / SDH 标准的意义</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77</cp:revision>
  <dcterms:created xsi:type="dcterms:W3CDTF">2016-10-01T05:27:00Z</dcterms:created>
  <dcterms:modified xsi:type="dcterms:W3CDTF">2021-01-12T08:32:25Z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
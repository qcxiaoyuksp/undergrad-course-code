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921" r:id="rId2"/>
    <p:sldId id="922" r:id="rId3"/>
    <p:sldId id="971" r:id="rId4"/>
    <p:sldId id="972" r:id="rId5"/>
    <p:sldId id="973" r:id="rId6"/>
    <p:sldId id="974" r:id="rId7"/>
    <p:sldId id="975" r:id="rId8"/>
    <p:sldId id="976" r:id="rId9"/>
    <p:sldId id="977" r:id="rId10"/>
    <p:sldId id="978" r:id="rId11"/>
    <p:sldId id="979" r:id="rId12"/>
    <p:sldId id="980" r:id="rId13"/>
    <p:sldId id="981" r:id="rId14"/>
    <p:sldId id="982" r:id="rId15"/>
    <p:sldId id="983" r:id="rId16"/>
    <p:sldId id="984" r:id="rId17"/>
    <p:sldId id="985" r:id="rId18"/>
    <p:sldId id="986" r:id="rId19"/>
    <p:sldId id="987" r:id="rId20"/>
    <p:sldId id="988" r:id="rId21"/>
    <p:sldId id="989" r:id="rId22"/>
    <p:sldId id="990" r:id="rId23"/>
    <p:sldId id="991" r:id="rId24"/>
    <p:sldId id="992" r:id="rId25"/>
    <p:sldId id="993" r:id="rId26"/>
    <p:sldId id="994" r:id="rId27"/>
    <p:sldId id="995" r:id="rId28"/>
    <p:sldId id="996" r:id="rId29"/>
    <p:sldId id="997" r:id="rId30"/>
    <p:sldId id="998" r:id="rId31"/>
    <p:sldId id="999" r:id="rId32"/>
    <p:sldId id="1000" r:id="rId33"/>
    <p:sldId id="1001" r:id="rId34"/>
    <p:sldId id="1002" r:id="rId35"/>
    <p:sldId id="1003" r:id="rId36"/>
    <p:sldId id="1004" r:id="rId37"/>
    <p:sldId id="1005" r:id="rId38"/>
    <p:sldId id="1006" r:id="rId39"/>
    <p:sldId id="1007" r:id="rId40"/>
    <p:sldId id="1008" r:id="rId41"/>
    <p:sldId id="1009" r:id="rId42"/>
    <p:sldId id="1010" r:id="rId43"/>
    <p:sldId id="1011" r:id="rId44"/>
    <p:sldId id="1012" r:id="rId45"/>
    <p:sldId id="1013" r:id="rId46"/>
    <p:sldId id="1014" r:id="rId47"/>
    <p:sldId id="1015" r:id="rId48"/>
    <p:sldId id="1016" r:id="rId49"/>
    <p:sldId id="1017" r:id="rId50"/>
    <p:sldId id="1018" r:id="rId51"/>
    <p:sldId id="1019" r:id="rId52"/>
    <p:sldId id="1020" r:id="rId53"/>
    <p:sldId id="1021" r:id="rId54"/>
    <p:sldId id="1022" r:id="rId55"/>
    <p:sldId id="1023" r:id="rId56"/>
  </p:sldIdLst>
  <p:sldSz cx="9906000" cy="6858000" type="A4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000099"/>
    <a:srgbClr val="FFFF66"/>
    <a:srgbClr val="66FF66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014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014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014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2749550" y="525463"/>
            <a:ext cx="37973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30482" y="3330419"/>
            <a:ext cx="7435436" cy="3154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014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E34327-42A0-4EE6-949E-80DFB8CA1CF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476548-CD35-43C0-BB80-B9281B46714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A55B92-4AF4-4982-A040-B87BBFBC04E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736F406D-02D1-41D7-80FC-C5802CFCC408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4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A1A67471-3596-4E44-A9E3-631B731A20BE}" type="slidenum">
              <a:rPr lang="en-US" altLang="zh-CN" smtClean="0"/>
              <a:pPr/>
              <a:t>6</a:t>
            </a:fld>
            <a:endParaRPr lang="en-US" altLang="zh-CN" smtClean="0"/>
          </a:p>
        </p:txBody>
      </p:sp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8C91944D-8B9A-4B8A-8983-DB1CB2DB9DC6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B955FED-6472-4FD8-A21E-F385B6DFEBF3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0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82C6AE-083C-49DE-BF16-8554CBB18AB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FEF8D0-FCCF-41EA-B631-D37B9E19DFED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5ED9FA-430E-4266-A205-0C0F42DDEB1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21B025-E8DF-4F23-AC65-1FB8D50A282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84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9B7FEC-74B3-4E36-BE22-9A49E8F67AE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1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63A055-3DDA-4192-8B6F-A478BB52892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3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3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08AED0-BBBA-47AD-883B-EB72C45AE49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56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56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81D63C-C8C7-4B8C-A0D8-B29C08FF8DD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7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5F5190A-5802-458E-A211-23C55F3C95D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07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07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2F6DFB-2CB8-4270-A1F3-C6B0C46C65C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28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28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541EDB-8B2D-4852-855B-799F8A5EC9C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48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48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CB1E3B-D169-4A06-8219-C351DD0690B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69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69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8C43AF-D443-49BB-926B-B814057085C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89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89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860223-A8FD-49AD-B40B-760E80C048B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110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1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DA3851-A64C-4235-A1BE-6E39CFC29AF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130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30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14FD9D-9ECD-4F3E-A34E-ED329CF86EA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151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51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7FC5186-95DD-4B2B-8D95-0CD375A898A7}" type="slidenum">
              <a:rPr lang="en-US" altLang="zh-CN" smtClean="0"/>
              <a:pPr/>
              <a:t>27</a:t>
            </a:fld>
            <a:endParaRPr lang="en-US" altLang="zh-CN" smtClean="0"/>
          </a:p>
        </p:txBody>
      </p:sp>
      <p:sp>
        <p:nvSpPr>
          <p:cNvPr id="8171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71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BAC92E9-300E-4020-83C4-8F93737CECF2}" type="slidenum">
              <a:rPr lang="en-US" altLang="zh-CN" smtClean="0"/>
              <a:pPr/>
              <a:t>28</a:t>
            </a:fld>
            <a:endParaRPr lang="en-US" altLang="zh-CN" smtClean="0"/>
          </a:p>
        </p:txBody>
      </p:sp>
      <p:sp>
        <p:nvSpPr>
          <p:cNvPr id="8192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2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AC2CA33-923E-4152-83BA-9434831FCFB0}" type="slidenum">
              <a:rPr lang="en-US" altLang="zh-CN" smtClean="0"/>
              <a:pPr/>
              <a:t>29</a:t>
            </a:fld>
            <a:endParaRPr lang="en-US" altLang="zh-CN" smtClean="0"/>
          </a:p>
        </p:txBody>
      </p:sp>
      <p:sp>
        <p:nvSpPr>
          <p:cNvPr id="8212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12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2927C6-3EEE-49DA-91DA-CFE7A2A166F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32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3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E01B9C-58CA-41F9-A6A3-AFE07C788CA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53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8EA395-3FA1-4ACD-A0BC-DA0A3E05E07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7B7264-B539-46AF-84D6-8B8CEAD240C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94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AD0678-6DA1-4248-9C5A-33B6CCAA62C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14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14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0AD70B-128B-4202-8EC3-13A62A4BE75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35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35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272F6F-F6AF-4393-A781-684E4D813E5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55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55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B19E22-B804-4F8B-9B8D-2A6F4B341A5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86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86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6E94B3-B4B3-4647-A9CC-B18BA6AEF3E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17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0B8E03-304A-4C5F-A64C-4D9039A5501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437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37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1E9F6F67-4C72-4C0C-99B6-802A310B6F6C}" type="slidenum">
              <a:rPr lang="en-US" altLang="zh-CN" smtClean="0"/>
              <a:pPr/>
              <a:t>42</a:t>
            </a:fld>
            <a:endParaRPr lang="en-US" altLang="zh-CN" smtClean="0"/>
          </a:p>
        </p:txBody>
      </p:sp>
      <p:sp>
        <p:nvSpPr>
          <p:cNvPr id="8458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58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F64376-5923-4963-97A7-40D1FE593D8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478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78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33E2632-FCAF-4B08-937F-19E5F656BC78}" type="slidenum">
              <a:rPr lang="en-US" altLang="zh-CN" smtClean="0"/>
              <a:pPr/>
              <a:t>44</a:t>
            </a:fld>
            <a:endParaRPr lang="en-US" altLang="zh-CN" smtClean="0"/>
          </a:p>
        </p:txBody>
      </p:sp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12826D-CC2C-4DA9-BEBA-E0BD059C05A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519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19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6056E7-BA2E-4311-9C7D-A5E67C28382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540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40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D47C39-473A-4557-9E34-C727B7E482A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560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60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77C1AE0-28AA-4B90-8A04-7BBFF6DD4B3D}" type="slidenum">
              <a:rPr lang="en-US" altLang="zh-CN" smtClean="0"/>
              <a:pPr/>
              <a:t>48</a:t>
            </a:fld>
            <a:endParaRPr lang="en-US" altLang="zh-CN" smtClean="0"/>
          </a:p>
        </p:txBody>
      </p:sp>
      <p:sp>
        <p:nvSpPr>
          <p:cNvPr id="8581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8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A5AB1E-D3D7-4759-A3C6-EA4877D083A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01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01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007FBB-4B26-4CA5-9127-278E018A532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22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22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28A0AA-5C7C-4FD6-B90C-2F01702FCFF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42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243095-953D-442D-BEE5-8141461B33C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63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63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99D72C-F991-4302-AA31-9A795614B03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E6767A-1D3B-48ED-B2E3-F5FA613702E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704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49" charset="-122"/>
              </a:rPr>
              <a:t>4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章  网络层</a:t>
            </a:r>
          </a:p>
        </p:txBody>
      </p:sp>
      <p:sp>
        <p:nvSpPr>
          <p:cNvPr id="6809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4.2.3-4.2.6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6809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03E797-DCB6-47D1-8B6D-3149BD091FE8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6809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en-US" smtClean="0">
                <a:ea typeface="黑体" panose="02010609060101010101" pitchFamily="49" charset="-122"/>
              </a:rPr>
              <a:t>网络</a:t>
            </a:r>
            <a:r>
              <a:rPr lang="zh-CN" altLang="zh-CN" smtClean="0">
                <a:ea typeface="黑体" panose="02010609060101010101" pitchFamily="49" charset="-122"/>
              </a:rPr>
              <a:t>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6830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4.2  </a:t>
            </a:r>
            <a:r>
              <a:rPr lang="zh-CN" altLang="zh-CN" dirty="0" smtClean="0">
                <a:ea typeface="黑体" panose="02010609060101010101" pitchFamily="49" charset="-122"/>
              </a:rPr>
              <a:t>网际协议</a:t>
            </a:r>
            <a:r>
              <a:rPr lang="en-US" altLang="zh-CN" dirty="0" smtClean="0">
                <a:ea typeface="黑体" panose="02010609060101010101" pitchFamily="49" charset="-122"/>
              </a:rPr>
              <a:t> IP</a:t>
            </a:r>
            <a:endParaRPr lang="zh-CN" altLang="zh-CN" dirty="0" smtClean="0">
              <a:ea typeface="黑体" panose="02010609060101010101" pitchFamily="49" charset="-122"/>
            </a:endParaRPr>
          </a:p>
        </p:txBody>
      </p:sp>
      <p:sp>
        <p:nvSpPr>
          <p:cNvPr id="6830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3C0B59-1926-4796-88E3-866E465222EE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6830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4.2.3  IP </a:t>
            </a:r>
            <a:r>
              <a:rPr lang="zh-CN" altLang="zh-CN" smtClean="0">
                <a:ea typeface="黑体" panose="02010609060101010101" pitchFamily="49" charset="-122"/>
              </a:rPr>
              <a:t>地址与硬件地址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769026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zh-CN" smtClean="0">
                <a:ea typeface="黑体" panose="02010609060101010101" pitchFamily="49" charset="-122"/>
              </a:rPr>
              <a:t>地址与硬件地址</a:t>
            </a:r>
            <a:r>
              <a:rPr lang="zh-CN" altLang="en-US" smtClean="0">
                <a:ea typeface="黑体" panose="02010609060101010101" pitchFamily="49" charset="-122"/>
              </a:rPr>
              <a:t>是不同的地址。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从层次的角度看，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硬件地址（或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物理地址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）</a:t>
            </a:r>
            <a:r>
              <a:rPr lang="zh-CN" altLang="zh-CN" smtClean="0">
                <a:ea typeface="黑体" panose="02010609060101010101" pitchFamily="49" charset="-122"/>
              </a:rPr>
              <a:t>是数据链路层和物理层使用的地址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地址</a:t>
            </a:r>
            <a:r>
              <a:rPr lang="zh-CN" altLang="zh-CN" smtClean="0">
                <a:ea typeface="黑体" panose="02010609060101010101" pitchFamily="49" charset="-122"/>
              </a:rPr>
              <a:t>是网络层和以上各层使用的地址，是一种</a:t>
            </a:r>
            <a:r>
              <a:rPr lang="zh-CN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逻辑地址</a:t>
            </a:r>
            <a:r>
              <a:rPr lang="zh-CN" altLang="zh-CN" smtClean="0">
                <a:ea typeface="黑体" panose="02010609060101010101" pitchFamily="49" charset="-122"/>
              </a:rPr>
              <a:t>（称</a:t>
            </a:r>
            <a:r>
              <a:rPr lang="en-US" altLang="zh-CN" smtClean="0">
                <a:ea typeface="黑体" panose="02010609060101010101" pitchFamily="49" charset="-122"/>
              </a:rPr>
              <a:t> IP </a:t>
            </a:r>
            <a:r>
              <a:rPr lang="zh-CN" altLang="zh-CN" smtClean="0">
                <a:ea typeface="黑体" panose="02010609060101010101" pitchFamily="49" charset="-122"/>
              </a:rPr>
              <a:t>地址是逻辑地址是因为</a:t>
            </a:r>
            <a:r>
              <a:rPr lang="en-US" altLang="zh-CN" smtClean="0">
                <a:ea typeface="黑体" panose="02010609060101010101" pitchFamily="49" charset="-122"/>
              </a:rPr>
              <a:t> IP </a:t>
            </a:r>
            <a:r>
              <a:rPr lang="zh-CN" altLang="zh-CN" smtClean="0">
                <a:ea typeface="黑体" panose="02010609060101010101" pitchFamily="49" charset="-122"/>
              </a:rPr>
              <a:t>地址是用软件实现的）。</a:t>
            </a:r>
          </a:p>
          <a:p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76902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EAB0A2-54B5-484B-9194-1493E34E9D83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76902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4.2.3  IP </a:t>
            </a:r>
            <a:r>
              <a:rPr lang="zh-CN" altLang="zh-CN" smtClean="0">
                <a:ea typeface="黑体" panose="02010609060101010101" pitchFamily="49" charset="-122"/>
              </a:rPr>
              <a:t>地址与硬件地址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771074" name="Line 5"/>
          <p:cNvSpPr>
            <a:spLocks noChangeShapeType="1"/>
          </p:cNvSpPr>
          <p:nvPr/>
        </p:nvSpPr>
        <p:spPr bwMode="auto">
          <a:xfrm>
            <a:off x="1849438" y="4316413"/>
            <a:ext cx="564673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5" name="Line 6"/>
          <p:cNvSpPr>
            <a:spLocks noChangeShapeType="1"/>
          </p:cNvSpPr>
          <p:nvPr/>
        </p:nvSpPr>
        <p:spPr bwMode="auto">
          <a:xfrm>
            <a:off x="2603500" y="3341688"/>
            <a:ext cx="41386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6" name="Line 7"/>
          <p:cNvSpPr>
            <a:spLocks noChangeShapeType="1"/>
          </p:cNvSpPr>
          <p:nvPr/>
        </p:nvSpPr>
        <p:spPr bwMode="auto">
          <a:xfrm>
            <a:off x="3333750" y="2259013"/>
            <a:ext cx="34290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7" name="Rectangle 8"/>
          <p:cNvSpPr>
            <a:spLocks noChangeArrowheads="1"/>
          </p:cNvSpPr>
          <p:nvPr/>
        </p:nvSpPr>
        <p:spPr bwMode="auto">
          <a:xfrm>
            <a:off x="4498975" y="2133600"/>
            <a:ext cx="1128713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8" name="Text Box 9"/>
          <p:cNvSpPr txBox="1">
            <a:spLocks noChangeArrowheads="1"/>
          </p:cNvSpPr>
          <p:nvPr/>
        </p:nvSpPr>
        <p:spPr bwMode="auto">
          <a:xfrm>
            <a:off x="4394200" y="2028825"/>
            <a:ext cx="14986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TCP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报文</a:t>
            </a:r>
          </a:p>
        </p:txBody>
      </p:sp>
      <p:sp>
        <p:nvSpPr>
          <p:cNvPr id="771079" name="Rectangle 10"/>
          <p:cNvSpPr>
            <a:spLocks noChangeArrowheads="1"/>
          </p:cNvSpPr>
          <p:nvPr/>
        </p:nvSpPr>
        <p:spPr bwMode="auto">
          <a:xfrm>
            <a:off x="4156075" y="3238500"/>
            <a:ext cx="1047750" cy="173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0" name="Text Box 11"/>
          <p:cNvSpPr txBox="1">
            <a:spLocks noChangeArrowheads="1"/>
          </p:cNvSpPr>
          <p:nvPr/>
        </p:nvSpPr>
        <p:spPr bwMode="auto">
          <a:xfrm>
            <a:off x="4022725" y="3106738"/>
            <a:ext cx="1482725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771081" name="Rectangle 12"/>
          <p:cNvSpPr>
            <a:spLocks noChangeArrowheads="1"/>
          </p:cNvSpPr>
          <p:nvPr/>
        </p:nvSpPr>
        <p:spPr bwMode="auto">
          <a:xfrm>
            <a:off x="4221163" y="4225925"/>
            <a:ext cx="889000" cy="18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2" name="Text Box 13"/>
          <p:cNvSpPr txBox="1">
            <a:spLocks noChangeArrowheads="1"/>
          </p:cNvSpPr>
          <p:nvPr/>
        </p:nvSpPr>
        <p:spPr bwMode="auto">
          <a:xfrm>
            <a:off x="4114800" y="4079875"/>
            <a:ext cx="1281113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771083" name="Line 18"/>
          <p:cNvSpPr>
            <a:spLocks noChangeShapeType="1"/>
          </p:cNvSpPr>
          <p:nvPr/>
        </p:nvSpPr>
        <p:spPr bwMode="auto">
          <a:xfrm>
            <a:off x="2603500" y="3178175"/>
            <a:ext cx="0" cy="40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4" name="Line 19"/>
          <p:cNvSpPr>
            <a:spLocks noChangeShapeType="1"/>
          </p:cNvSpPr>
          <p:nvPr/>
        </p:nvSpPr>
        <p:spPr bwMode="auto">
          <a:xfrm>
            <a:off x="6742113" y="3178175"/>
            <a:ext cx="0" cy="40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5" name="Line 20"/>
          <p:cNvSpPr>
            <a:spLocks noChangeShapeType="1"/>
          </p:cNvSpPr>
          <p:nvPr/>
        </p:nvSpPr>
        <p:spPr bwMode="auto">
          <a:xfrm>
            <a:off x="3346450" y="2052638"/>
            <a:ext cx="14288" cy="55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6" name="Line 21"/>
          <p:cNvSpPr>
            <a:spLocks noChangeShapeType="1"/>
          </p:cNvSpPr>
          <p:nvPr/>
        </p:nvSpPr>
        <p:spPr bwMode="auto">
          <a:xfrm>
            <a:off x="6742113" y="2052638"/>
            <a:ext cx="0" cy="55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7" name="Line 22"/>
          <p:cNvSpPr>
            <a:spLocks noChangeShapeType="1"/>
          </p:cNvSpPr>
          <p:nvPr/>
        </p:nvSpPr>
        <p:spPr bwMode="auto">
          <a:xfrm flipV="1">
            <a:off x="7138988" y="3359150"/>
            <a:ext cx="24955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8" name="Rectangle 23"/>
          <p:cNvSpPr>
            <a:spLocks noChangeArrowheads="1"/>
          </p:cNvSpPr>
          <p:nvPr/>
        </p:nvSpPr>
        <p:spPr bwMode="auto">
          <a:xfrm>
            <a:off x="3346450" y="1557338"/>
            <a:ext cx="3395663" cy="487362"/>
          </a:xfrm>
          <a:prstGeom prst="rect">
            <a:avLst/>
          </a:prstGeom>
          <a:solidFill>
            <a:srgbClr val="66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9" name="Line 24"/>
          <p:cNvSpPr>
            <a:spLocks noChangeShapeType="1"/>
          </p:cNvSpPr>
          <p:nvPr/>
        </p:nvSpPr>
        <p:spPr bwMode="auto">
          <a:xfrm flipH="1">
            <a:off x="4089400" y="1557338"/>
            <a:ext cx="0" cy="487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0" name="Text Box 25"/>
          <p:cNvSpPr txBox="1">
            <a:spLocks noChangeArrowheads="1"/>
          </p:cNvSpPr>
          <p:nvPr/>
        </p:nvSpPr>
        <p:spPr bwMode="auto">
          <a:xfrm>
            <a:off x="4637088" y="1558925"/>
            <a:ext cx="1730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应用层数据</a:t>
            </a:r>
          </a:p>
        </p:txBody>
      </p:sp>
      <p:sp>
        <p:nvSpPr>
          <p:cNvPr id="771091" name="Text Box 26"/>
          <p:cNvSpPr txBox="1">
            <a:spLocks noChangeArrowheads="1"/>
          </p:cNvSpPr>
          <p:nvPr/>
        </p:nvSpPr>
        <p:spPr bwMode="auto">
          <a:xfrm>
            <a:off x="3319463" y="1560513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首部</a:t>
            </a:r>
          </a:p>
        </p:txBody>
      </p:sp>
      <p:sp>
        <p:nvSpPr>
          <p:cNvPr id="771092" name="Rectangle 27"/>
          <p:cNvSpPr>
            <a:spLocks noChangeArrowheads="1"/>
          </p:cNvSpPr>
          <p:nvPr/>
        </p:nvSpPr>
        <p:spPr bwMode="auto">
          <a:xfrm>
            <a:off x="2603500" y="2611438"/>
            <a:ext cx="4138613" cy="48736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3" name="Line 28"/>
          <p:cNvSpPr>
            <a:spLocks noChangeShapeType="1"/>
          </p:cNvSpPr>
          <p:nvPr/>
        </p:nvSpPr>
        <p:spPr bwMode="auto">
          <a:xfrm>
            <a:off x="3346450" y="2611438"/>
            <a:ext cx="0" cy="487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4" name="Text Box 29"/>
          <p:cNvSpPr txBox="1">
            <a:spLocks noChangeArrowheads="1"/>
          </p:cNvSpPr>
          <p:nvPr/>
        </p:nvSpPr>
        <p:spPr bwMode="auto">
          <a:xfrm>
            <a:off x="2578100" y="2603500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首部</a:t>
            </a:r>
          </a:p>
        </p:txBody>
      </p:sp>
      <p:sp>
        <p:nvSpPr>
          <p:cNvPr id="771095" name="Rectangle 30"/>
          <p:cNvSpPr>
            <a:spLocks noChangeArrowheads="1"/>
          </p:cNvSpPr>
          <p:nvPr/>
        </p:nvSpPr>
        <p:spPr bwMode="auto">
          <a:xfrm>
            <a:off x="1873250" y="3614738"/>
            <a:ext cx="741363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6" name="Rectangle 31"/>
          <p:cNvSpPr>
            <a:spLocks noChangeArrowheads="1"/>
          </p:cNvSpPr>
          <p:nvPr/>
        </p:nvSpPr>
        <p:spPr bwMode="auto">
          <a:xfrm>
            <a:off x="1862138" y="3584575"/>
            <a:ext cx="5622925" cy="487363"/>
          </a:xfrm>
          <a:prstGeom prst="rect">
            <a:avLst/>
          </a:prstGeom>
          <a:solidFill>
            <a:srgbClr val="66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7" name="Line 32"/>
          <p:cNvSpPr>
            <a:spLocks noChangeShapeType="1"/>
          </p:cNvSpPr>
          <p:nvPr/>
        </p:nvSpPr>
        <p:spPr bwMode="auto">
          <a:xfrm>
            <a:off x="2603500" y="3584575"/>
            <a:ext cx="0" cy="487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8" name="Line 33"/>
          <p:cNvSpPr>
            <a:spLocks noChangeShapeType="1"/>
          </p:cNvSpPr>
          <p:nvPr/>
        </p:nvSpPr>
        <p:spPr bwMode="auto">
          <a:xfrm>
            <a:off x="6742113" y="3584575"/>
            <a:ext cx="0" cy="487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9" name="Text Box 34"/>
          <p:cNvSpPr txBox="1">
            <a:spLocks noChangeArrowheads="1"/>
          </p:cNvSpPr>
          <p:nvPr/>
        </p:nvSpPr>
        <p:spPr bwMode="auto">
          <a:xfrm>
            <a:off x="6681788" y="35734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尾部</a:t>
            </a:r>
          </a:p>
        </p:txBody>
      </p:sp>
      <p:sp>
        <p:nvSpPr>
          <p:cNvPr id="771100" name="Text Box 35"/>
          <p:cNvSpPr txBox="1">
            <a:spLocks noChangeArrowheads="1"/>
          </p:cNvSpPr>
          <p:nvPr/>
        </p:nvSpPr>
        <p:spPr bwMode="auto">
          <a:xfrm>
            <a:off x="1851025" y="3579813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首部</a:t>
            </a:r>
          </a:p>
        </p:txBody>
      </p:sp>
      <p:grpSp>
        <p:nvGrpSpPr>
          <p:cNvPr id="218161" name="Group 49"/>
          <p:cNvGrpSpPr>
            <a:grpSpLocks/>
          </p:cNvGrpSpPr>
          <p:nvPr/>
        </p:nvGrpSpPr>
        <p:grpSpPr bwMode="auto">
          <a:xfrm>
            <a:off x="312738" y="2890838"/>
            <a:ext cx="9334500" cy="1820862"/>
            <a:chOff x="182" y="2409"/>
            <a:chExt cx="5428" cy="1147"/>
          </a:xfrm>
        </p:grpSpPr>
        <p:grpSp>
          <p:nvGrpSpPr>
            <p:cNvPr id="771102" name="Group 45"/>
            <p:cNvGrpSpPr>
              <a:grpSpLocks/>
            </p:cNvGrpSpPr>
            <p:nvPr/>
          </p:nvGrpSpPr>
          <p:grpSpPr bwMode="auto">
            <a:xfrm>
              <a:off x="4423" y="2709"/>
              <a:ext cx="1187" cy="847"/>
              <a:chOff x="4423" y="2709"/>
              <a:chExt cx="1187" cy="847"/>
            </a:xfrm>
          </p:grpSpPr>
          <p:sp>
            <p:nvSpPr>
              <p:cNvPr id="771103" name="AutoShape 15"/>
              <p:cNvSpPr>
                <a:spLocks noChangeArrowheads="1"/>
              </p:cNvSpPr>
              <p:nvPr/>
            </p:nvSpPr>
            <p:spPr bwMode="auto">
              <a:xfrm flipV="1">
                <a:off x="4831" y="2709"/>
                <a:ext cx="186" cy="358"/>
              </a:xfrm>
              <a:prstGeom prst="upArrow">
                <a:avLst>
                  <a:gd name="adj1" fmla="val 50000"/>
                  <a:gd name="adj2" fmla="val 81792"/>
                </a:avLst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eaLnBrk="0" hangingPunct="0"/>
                <a:endPara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04" name="Text Box 17"/>
              <p:cNvSpPr txBox="1">
                <a:spLocks noChangeArrowheads="1"/>
              </p:cNvSpPr>
              <p:nvPr/>
            </p:nvSpPr>
            <p:spPr bwMode="auto">
              <a:xfrm>
                <a:off x="4423" y="3033"/>
                <a:ext cx="1187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链路层及以下</a:t>
                </a:r>
              </a:p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使用硬件地址</a:t>
                </a:r>
              </a:p>
            </p:txBody>
          </p:sp>
        </p:grpSp>
        <p:grpSp>
          <p:nvGrpSpPr>
            <p:cNvPr id="771105" name="Group 47"/>
            <p:cNvGrpSpPr>
              <a:grpSpLocks/>
            </p:cNvGrpSpPr>
            <p:nvPr/>
          </p:nvGrpSpPr>
          <p:grpSpPr bwMode="auto">
            <a:xfrm>
              <a:off x="182" y="2409"/>
              <a:ext cx="835" cy="291"/>
              <a:chOff x="182" y="2409"/>
              <a:chExt cx="835" cy="291"/>
            </a:xfrm>
          </p:grpSpPr>
          <p:sp>
            <p:nvSpPr>
              <p:cNvPr id="771106" name="AutoShape 37"/>
              <p:cNvSpPr>
                <a:spLocks noChangeArrowheads="1"/>
              </p:cNvSpPr>
              <p:nvPr/>
            </p:nvSpPr>
            <p:spPr bwMode="auto">
              <a:xfrm>
                <a:off x="182" y="2427"/>
                <a:ext cx="802" cy="273"/>
              </a:xfrm>
              <a:prstGeom prst="wedgeRoundRectCallout">
                <a:avLst>
                  <a:gd name="adj1" fmla="val 72116"/>
                  <a:gd name="adj2" fmla="val 129167"/>
                  <a:gd name="adj3" fmla="val 16667"/>
                </a:avLst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 algn="ctr" eaLnBrk="0" hangingPunct="0"/>
                <a:endParaRPr lang="zh-CN" altLang="zh-CN" sz="24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07" name="Text Box 38"/>
              <p:cNvSpPr txBox="1">
                <a:spLocks noChangeArrowheads="1"/>
              </p:cNvSpPr>
              <p:nvPr/>
            </p:nvSpPr>
            <p:spPr bwMode="auto">
              <a:xfrm>
                <a:off x="190" y="2409"/>
                <a:ext cx="82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硬件地址</a:t>
                </a:r>
              </a:p>
            </p:txBody>
          </p:sp>
        </p:grpSp>
      </p:grpSp>
      <p:grpSp>
        <p:nvGrpSpPr>
          <p:cNvPr id="218160" name="Group 48"/>
          <p:cNvGrpSpPr>
            <a:grpSpLocks/>
          </p:cNvGrpSpPr>
          <p:nvPr/>
        </p:nvGrpSpPr>
        <p:grpSpPr bwMode="auto">
          <a:xfrm>
            <a:off x="1584325" y="1954213"/>
            <a:ext cx="8074025" cy="1412875"/>
            <a:chOff x="921" y="1819"/>
            <a:chExt cx="4695" cy="890"/>
          </a:xfrm>
        </p:grpSpPr>
        <p:grpSp>
          <p:nvGrpSpPr>
            <p:cNvPr id="771109" name="Group 44"/>
            <p:cNvGrpSpPr>
              <a:grpSpLocks/>
            </p:cNvGrpSpPr>
            <p:nvPr/>
          </p:nvGrpSpPr>
          <p:grpSpPr bwMode="auto">
            <a:xfrm>
              <a:off x="4429" y="1854"/>
              <a:ext cx="1187" cy="855"/>
              <a:chOff x="4429" y="1854"/>
              <a:chExt cx="1187" cy="855"/>
            </a:xfrm>
          </p:grpSpPr>
          <p:sp>
            <p:nvSpPr>
              <p:cNvPr id="771110" name="AutoShape 14"/>
              <p:cNvSpPr>
                <a:spLocks noChangeArrowheads="1"/>
              </p:cNvSpPr>
              <p:nvPr/>
            </p:nvSpPr>
            <p:spPr bwMode="auto">
              <a:xfrm>
                <a:off x="4831" y="2352"/>
                <a:ext cx="186" cy="357"/>
              </a:xfrm>
              <a:prstGeom prst="upArrow">
                <a:avLst>
                  <a:gd name="adj1" fmla="val 50000"/>
                  <a:gd name="adj2" fmla="val 69479"/>
                </a:avLst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eaLnBrk="0" hangingPunct="0"/>
                <a:endPara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11" name="Text Box 16"/>
              <p:cNvSpPr txBox="1">
                <a:spLocks noChangeArrowheads="1"/>
              </p:cNvSpPr>
              <p:nvPr/>
            </p:nvSpPr>
            <p:spPr bwMode="auto">
              <a:xfrm>
                <a:off x="4429" y="1854"/>
                <a:ext cx="1187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网络层及以上</a:t>
                </a:r>
              </a:p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使用 </a:t>
                </a:r>
                <a:r>
                  <a:rPr lang="en-US" altLang="zh-CN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 </a:t>
                </a:r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地址</a:t>
                </a:r>
              </a:p>
            </p:txBody>
          </p:sp>
        </p:grpSp>
        <p:grpSp>
          <p:nvGrpSpPr>
            <p:cNvPr id="771112" name="Group 46"/>
            <p:cNvGrpSpPr>
              <a:grpSpLocks/>
            </p:cNvGrpSpPr>
            <p:nvPr/>
          </p:nvGrpSpPr>
          <p:grpSpPr bwMode="auto">
            <a:xfrm>
              <a:off x="921" y="1819"/>
              <a:ext cx="688" cy="291"/>
              <a:chOff x="921" y="1819"/>
              <a:chExt cx="688" cy="291"/>
            </a:xfrm>
          </p:grpSpPr>
          <p:sp>
            <p:nvSpPr>
              <p:cNvPr id="771113" name="AutoShape 40"/>
              <p:cNvSpPr>
                <a:spLocks noChangeArrowheads="1"/>
              </p:cNvSpPr>
              <p:nvPr/>
            </p:nvSpPr>
            <p:spPr bwMode="auto">
              <a:xfrm>
                <a:off x="921" y="1826"/>
                <a:ext cx="654" cy="254"/>
              </a:xfrm>
              <a:prstGeom prst="wedgeRoundRectCallout">
                <a:avLst>
                  <a:gd name="adj1" fmla="val 72171"/>
                  <a:gd name="adj2" fmla="val 129134"/>
                  <a:gd name="adj3" fmla="val 16667"/>
                </a:avLst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 algn="ctr" eaLnBrk="0" hangingPunct="0"/>
                <a:endParaRPr lang="zh-CN" altLang="zh-CN" sz="24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14" name="Text Box 41"/>
              <p:cNvSpPr txBox="1">
                <a:spLocks noChangeArrowheads="1"/>
              </p:cNvSpPr>
              <p:nvPr/>
            </p:nvSpPr>
            <p:spPr bwMode="auto">
              <a:xfrm>
                <a:off x="927" y="1819"/>
                <a:ext cx="68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 </a:t>
                </a:r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地址</a:t>
                </a:r>
              </a:p>
            </p:txBody>
          </p:sp>
        </p:grpSp>
      </p:grpSp>
      <p:sp>
        <p:nvSpPr>
          <p:cNvPr id="771115" name="Rectangle 43"/>
          <p:cNvSpPr>
            <a:spLocks noChangeArrowheads="1"/>
          </p:cNvSpPr>
          <p:nvPr/>
        </p:nvSpPr>
        <p:spPr bwMode="auto">
          <a:xfrm>
            <a:off x="2625725" y="3614738"/>
            <a:ext cx="4090988" cy="4333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116" name="矩形 3"/>
          <p:cNvSpPr>
            <a:spLocks noChangeArrowheads="1"/>
          </p:cNvSpPr>
          <p:nvPr/>
        </p:nvSpPr>
        <p:spPr bwMode="auto">
          <a:xfrm>
            <a:off x="2432050" y="5703888"/>
            <a:ext cx="547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IP </a:t>
            </a:r>
            <a:r>
              <a:rPr lang="zh-CN" altLang="zh-CN" sz="2400" b="1">
                <a:ea typeface="黑体" panose="02010609060101010101" pitchFamily="49" charset="-122"/>
              </a:rPr>
              <a:t>地址与硬件地址的区别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771117" name="矩形 4"/>
          <p:cNvSpPr>
            <a:spLocks noChangeArrowheads="1"/>
          </p:cNvSpPr>
          <p:nvPr/>
        </p:nvSpPr>
        <p:spPr bwMode="auto">
          <a:xfrm>
            <a:off x="344488" y="4437063"/>
            <a:ext cx="3376612" cy="120015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IP </a:t>
            </a:r>
            <a:r>
              <a:rPr lang="zh-CN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地址放在</a:t>
            </a:r>
            <a:r>
              <a:rPr lang="en-US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数据报的首部，而硬件地址则放在</a:t>
            </a:r>
            <a:r>
              <a:rPr lang="en-US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 MAC </a:t>
            </a:r>
            <a:r>
              <a:rPr lang="zh-CN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帧的首部</a:t>
            </a:r>
            <a:r>
              <a:rPr lang="zh-CN" altLang="en-US" sz="2400" b="1">
                <a:solidFill>
                  <a:schemeClr val="bg1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7111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60DC6B-33BA-4016-9332-72E149E79378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771119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1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21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121" name="组合 1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3122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3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4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5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6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7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8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9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0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1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2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3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4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5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6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7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8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3139" name="Picture 1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3140" name="Picture 20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3141" name="Picture 2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3142" name="Picture 2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3143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3144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3145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6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7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8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9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50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53740" name="Text Box 108"/>
          <p:cNvSpPr txBox="1">
            <a:spLocks noChangeArrowheads="1"/>
          </p:cNvSpPr>
          <p:nvPr/>
        </p:nvSpPr>
        <p:spPr bwMode="auto">
          <a:xfrm>
            <a:off x="1906588" y="2133600"/>
            <a:ext cx="5524500" cy="904875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通信的路径：</a:t>
            </a:r>
          </a:p>
          <a:p>
            <a:pPr algn="ctr" eaLnBrk="0" hangingPunct="0">
              <a:lnSpc>
                <a:spcPct val="110000"/>
              </a:lnSpc>
              <a:spcAft>
                <a:spcPct val="30000"/>
              </a:spcAft>
            </a:pP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H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→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经过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转发→再经过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转发→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H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  <a:endParaRPr lang="en-US" altLang="zh-CN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1" name="Arc 109"/>
          <p:cNvSpPr>
            <a:spLocks noChangeArrowheads="1"/>
          </p:cNvSpPr>
          <p:nvPr/>
        </p:nvSpPr>
        <p:spPr bwMode="auto">
          <a:xfrm rot="2655715" flipV="1">
            <a:off x="1008063" y="293688"/>
            <a:ext cx="1716087" cy="1728787"/>
          </a:xfrm>
          <a:custGeom>
            <a:avLst/>
            <a:gdLst>
              <a:gd name="T0" fmla="*/ 0 w 27804"/>
              <a:gd name="T1" fmla="*/ 910 h 26910"/>
              <a:gd name="T2" fmla="*/ 6204 w 27804"/>
              <a:gd name="T3" fmla="*/ 0 h 26910"/>
              <a:gd name="T4" fmla="*/ 27804 w 27804"/>
              <a:gd name="T5" fmla="*/ 21600 h 26910"/>
              <a:gd name="T6" fmla="*/ 27141 w 27804"/>
              <a:gd name="T7" fmla="*/ 26910 h 26910"/>
              <a:gd name="T8" fmla="*/ 0 w 27804"/>
              <a:gd name="T9" fmla="*/ 910 h 26910"/>
              <a:gd name="T10" fmla="*/ 6204 w 27804"/>
              <a:gd name="T11" fmla="*/ 0 h 26910"/>
              <a:gd name="T12" fmla="*/ 27804 w 27804"/>
              <a:gd name="T13" fmla="*/ 21600 h 26910"/>
              <a:gd name="T14" fmla="*/ 27141 w 27804"/>
              <a:gd name="T15" fmla="*/ 26910 h 26910"/>
              <a:gd name="T16" fmla="*/ 6204 w 27804"/>
              <a:gd name="T17" fmla="*/ 21600 h 26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04" h="26910" fill="none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2" name="Arc 110"/>
          <p:cNvSpPr>
            <a:spLocks noChangeArrowheads="1"/>
          </p:cNvSpPr>
          <p:nvPr/>
        </p:nvSpPr>
        <p:spPr bwMode="auto">
          <a:xfrm rot="2655715" flipV="1">
            <a:off x="4017963" y="260350"/>
            <a:ext cx="1716087" cy="1728788"/>
          </a:xfrm>
          <a:custGeom>
            <a:avLst/>
            <a:gdLst>
              <a:gd name="T0" fmla="*/ 0 w 27804"/>
              <a:gd name="T1" fmla="*/ 910 h 26910"/>
              <a:gd name="T2" fmla="*/ 6204 w 27804"/>
              <a:gd name="T3" fmla="*/ 0 h 26910"/>
              <a:gd name="T4" fmla="*/ 27804 w 27804"/>
              <a:gd name="T5" fmla="*/ 21600 h 26910"/>
              <a:gd name="T6" fmla="*/ 27141 w 27804"/>
              <a:gd name="T7" fmla="*/ 26910 h 26910"/>
              <a:gd name="T8" fmla="*/ 0 w 27804"/>
              <a:gd name="T9" fmla="*/ 910 h 26910"/>
              <a:gd name="T10" fmla="*/ 6204 w 27804"/>
              <a:gd name="T11" fmla="*/ 0 h 26910"/>
              <a:gd name="T12" fmla="*/ 27804 w 27804"/>
              <a:gd name="T13" fmla="*/ 21600 h 26910"/>
              <a:gd name="T14" fmla="*/ 27141 w 27804"/>
              <a:gd name="T15" fmla="*/ 26910 h 26910"/>
              <a:gd name="T16" fmla="*/ 6204 w 27804"/>
              <a:gd name="T17" fmla="*/ 21600 h 26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04" h="26910" fill="none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3" name="Arc 111"/>
          <p:cNvSpPr>
            <a:spLocks noChangeArrowheads="1"/>
          </p:cNvSpPr>
          <p:nvPr/>
        </p:nvSpPr>
        <p:spPr bwMode="auto">
          <a:xfrm rot="2655715" flipV="1">
            <a:off x="7027863" y="227013"/>
            <a:ext cx="1716087" cy="1728787"/>
          </a:xfrm>
          <a:custGeom>
            <a:avLst/>
            <a:gdLst>
              <a:gd name="T0" fmla="*/ 0 w 27804"/>
              <a:gd name="T1" fmla="*/ 910 h 26910"/>
              <a:gd name="T2" fmla="*/ 6204 w 27804"/>
              <a:gd name="T3" fmla="*/ 0 h 26910"/>
              <a:gd name="T4" fmla="*/ 27804 w 27804"/>
              <a:gd name="T5" fmla="*/ 21600 h 26910"/>
              <a:gd name="T6" fmla="*/ 27141 w 27804"/>
              <a:gd name="T7" fmla="*/ 26910 h 26910"/>
              <a:gd name="T8" fmla="*/ 0 w 27804"/>
              <a:gd name="T9" fmla="*/ 910 h 26910"/>
              <a:gd name="T10" fmla="*/ 6204 w 27804"/>
              <a:gd name="T11" fmla="*/ 0 h 26910"/>
              <a:gd name="T12" fmla="*/ 27804 w 27804"/>
              <a:gd name="T13" fmla="*/ 21600 h 26910"/>
              <a:gd name="T14" fmla="*/ 27141 w 27804"/>
              <a:gd name="T15" fmla="*/ 26910 h 26910"/>
              <a:gd name="T16" fmla="*/ 6204 w 27804"/>
              <a:gd name="T17" fmla="*/ 21600 h 26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04" h="26910" fill="none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4" name="Text Box 112"/>
          <p:cNvSpPr txBox="1">
            <a:spLocks noChangeArrowheads="1"/>
          </p:cNvSpPr>
          <p:nvPr/>
        </p:nvSpPr>
        <p:spPr bwMode="auto">
          <a:xfrm>
            <a:off x="2552700" y="28575"/>
            <a:ext cx="1474788" cy="447675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3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查找路由表</a:t>
            </a:r>
          </a:p>
        </p:txBody>
      </p:sp>
      <p:sp>
        <p:nvSpPr>
          <p:cNvPr id="453745" name="Text Box 113"/>
          <p:cNvSpPr txBox="1">
            <a:spLocks noChangeArrowheads="1"/>
          </p:cNvSpPr>
          <p:nvPr/>
        </p:nvSpPr>
        <p:spPr bwMode="auto">
          <a:xfrm>
            <a:off x="5440363" y="28575"/>
            <a:ext cx="1474787" cy="447675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3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查找路由表</a:t>
            </a:r>
          </a:p>
        </p:txBody>
      </p:sp>
      <p:sp>
        <p:nvSpPr>
          <p:cNvPr id="77315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76FBC7BD-CE20-44A5-82CF-0FA708515E0A}" type="slidenum">
              <a:rPr lang="zh-CN" altLang="en-US" smtClean="0"/>
              <a:pPr/>
              <a:t>5</a:t>
            </a:fld>
            <a:endParaRPr lang="en-US" altLang="zh-CN" smtClean="0"/>
          </a:p>
        </p:txBody>
      </p:sp>
      <p:sp>
        <p:nvSpPr>
          <p:cNvPr id="77315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5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501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002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003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5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3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8504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9005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6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5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1006"/>
                            </p:stCondLst>
                            <p:childTnLst>
                              <p:par>
                                <p:cTn id="3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740" grpId="0" animBg="1"/>
      <p:bldP spid="453741" grpId="0" animBg="1"/>
      <p:bldP spid="453741" grpId="1" animBg="1"/>
      <p:bldP spid="453742" grpId="0" animBg="1"/>
      <p:bldP spid="453742" grpId="1" animBg="1"/>
      <p:bldP spid="453743" grpId="0" animBg="1"/>
      <p:bldP spid="453743" grpId="1" animBg="1"/>
      <p:bldP spid="453744" grpId="0" animBg="1"/>
      <p:bldP spid="453744" grpId="1" animBg="1"/>
      <p:bldP spid="453745" grpId="0" animBg="1"/>
      <p:bldP spid="45374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169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75170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1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2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3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4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5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6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7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20245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220246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47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48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49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0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1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2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3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75179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5180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75181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182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183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5184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5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6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7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8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9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0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1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2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3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4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5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6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7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8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75199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75200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75201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202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203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5204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5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6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7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8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9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0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1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2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3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4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5215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75216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17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18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75219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20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21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75222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23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24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75225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75226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27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75228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75229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30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75231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32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5233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5234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5235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36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220318" name="Text Box 158"/>
          <p:cNvSpPr txBox="1">
            <a:spLocks noChangeArrowheads="1"/>
          </p:cNvSpPr>
          <p:nvPr/>
        </p:nvSpPr>
        <p:spPr bwMode="auto">
          <a:xfrm>
            <a:off x="2865438" y="44450"/>
            <a:ext cx="5233987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从协议栈的层次上看数据的流动</a:t>
            </a:r>
          </a:p>
        </p:txBody>
      </p:sp>
      <p:sp>
        <p:nvSpPr>
          <p:cNvPr id="220319" name="Line 159"/>
          <p:cNvSpPr>
            <a:spLocks noChangeShapeType="1"/>
          </p:cNvSpPr>
          <p:nvPr/>
        </p:nvSpPr>
        <p:spPr bwMode="auto">
          <a:xfrm>
            <a:off x="508000" y="2708275"/>
            <a:ext cx="0" cy="2665413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1" name="Line 161"/>
          <p:cNvSpPr>
            <a:spLocks noChangeShapeType="1"/>
          </p:cNvSpPr>
          <p:nvPr/>
        </p:nvSpPr>
        <p:spPr bwMode="auto">
          <a:xfrm>
            <a:off x="508000" y="5445125"/>
            <a:ext cx="2027238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3" name="Line 163"/>
          <p:cNvSpPr>
            <a:spLocks noChangeShapeType="1"/>
          </p:cNvSpPr>
          <p:nvPr/>
        </p:nvSpPr>
        <p:spPr bwMode="auto">
          <a:xfrm flipV="1">
            <a:off x="3079750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4" name="Line 164"/>
          <p:cNvSpPr>
            <a:spLocks noChangeShapeType="1"/>
          </p:cNvSpPr>
          <p:nvPr/>
        </p:nvSpPr>
        <p:spPr bwMode="auto">
          <a:xfrm>
            <a:off x="3314700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5" name="Line 165"/>
          <p:cNvSpPr>
            <a:spLocks noChangeShapeType="1"/>
          </p:cNvSpPr>
          <p:nvPr/>
        </p:nvSpPr>
        <p:spPr bwMode="auto">
          <a:xfrm>
            <a:off x="3706813" y="5445125"/>
            <a:ext cx="20272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8" name="Line 168"/>
          <p:cNvSpPr>
            <a:spLocks noChangeShapeType="1"/>
          </p:cNvSpPr>
          <p:nvPr/>
        </p:nvSpPr>
        <p:spPr bwMode="auto">
          <a:xfrm flipV="1">
            <a:off x="5967413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9" name="Line 169"/>
          <p:cNvSpPr>
            <a:spLocks noChangeShapeType="1"/>
          </p:cNvSpPr>
          <p:nvPr/>
        </p:nvSpPr>
        <p:spPr bwMode="auto">
          <a:xfrm>
            <a:off x="6202363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30" name="Line 170"/>
          <p:cNvSpPr>
            <a:spLocks noChangeShapeType="1"/>
          </p:cNvSpPr>
          <p:nvPr/>
        </p:nvSpPr>
        <p:spPr bwMode="auto">
          <a:xfrm>
            <a:off x="6904038" y="5445125"/>
            <a:ext cx="20272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31" name="Line 171"/>
          <p:cNvSpPr>
            <a:spLocks noChangeShapeType="1"/>
          </p:cNvSpPr>
          <p:nvPr/>
        </p:nvSpPr>
        <p:spPr bwMode="auto">
          <a:xfrm flipV="1">
            <a:off x="9086850" y="2779713"/>
            <a:ext cx="0" cy="2665412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775247" name="组合 1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5248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49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0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1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2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3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4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5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6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7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8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9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0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1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2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3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4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5265" name="Picture 1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5266" name="Picture 20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5267" name="Picture 2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5268" name="Picture 2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5269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5270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5271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2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3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4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5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6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77527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BB4D8C7D-2624-4BE8-9E1A-F7EB8A3E4AB2}" type="slidenum">
              <a:rPr lang="zh-CN" altLang="en-US" smtClean="0"/>
              <a:pPr/>
              <a:t>6</a:t>
            </a:fld>
            <a:endParaRPr lang="en-US" altLang="zh-CN" smtClean="0"/>
          </a:p>
        </p:txBody>
      </p:sp>
      <p:sp>
        <p:nvSpPr>
          <p:cNvPr id="77527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2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2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2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22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2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2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22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2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22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318" grpId="0" animBg="1"/>
      <p:bldP spid="220319" grpId="0" animBg="1"/>
      <p:bldP spid="220321" grpId="0" animBg="1"/>
      <p:bldP spid="220323" grpId="0" animBg="1"/>
      <p:bldP spid="220324" grpId="0" animBg="1"/>
      <p:bldP spid="220325" grpId="0" animBg="1"/>
      <p:bldP spid="220328" grpId="0" animBg="1"/>
      <p:bldP spid="220329" grpId="0" animBg="1"/>
      <p:bldP spid="220330" grpId="0" animBg="1"/>
      <p:bldP spid="2203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787" name="Text Box 107"/>
          <p:cNvSpPr txBox="1">
            <a:spLocks noChangeArrowheads="1"/>
          </p:cNvSpPr>
          <p:nvPr/>
        </p:nvSpPr>
        <p:spPr bwMode="auto">
          <a:xfrm>
            <a:off x="2576513" y="44450"/>
            <a:ext cx="5934075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从虚拟的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层上看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数据报的流动</a:t>
            </a:r>
          </a:p>
        </p:txBody>
      </p:sp>
      <p:grpSp>
        <p:nvGrpSpPr>
          <p:cNvPr id="777218" name="组合 110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7219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0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1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2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3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4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5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6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7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8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9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0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1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2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3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4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5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7236" name="Picture 1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7237" name="Picture 20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7238" name="Picture 2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7239" name="Picture 2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7240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7241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7242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3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4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5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6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7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77248" name="组合 140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77249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0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1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2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3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4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5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6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50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209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1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2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3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4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5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6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77258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7259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77260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61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62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7263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4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5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6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7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8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9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0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1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2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3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4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5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6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7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77278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77279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77280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81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82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7283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4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5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6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7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8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9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0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1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2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3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7294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77295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296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297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77298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299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0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77301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302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3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77304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77305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6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77307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77308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9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77310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311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7312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7313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7314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315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455797" name="Line 117"/>
          <p:cNvSpPr>
            <a:spLocks noChangeShapeType="1"/>
          </p:cNvSpPr>
          <p:nvPr/>
        </p:nvSpPr>
        <p:spPr bwMode="auto">
          <a:xfrm>
            <a:off x="661988" y="3500438"/>
            <a:ext cx="25749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5798" name="Line 118"/>
          <p:cNvSpPr>
            <a:spLocks noChangeShapeType="1"/>
          </p:cNvSpPr>
          <p:nvPr/>
        </p:nvSpPr>
        <p:spPr bwMode="auto">
          <a:xfrm>
            <a:off x="3470275" y="3500438"/>
            <a:ext cx="25749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5799" name="Line 119"/>
          <p:cNvSpPr>
            <a:spLocks noChangeShapeType="1"/>
          </p:cNvSpPr>
          <p:nvPr/>
        </p:nvSpPr>
        <p:spPr bwMode="auto">
          <a:xfrm>
            <a:off x="6435725" y="3500438"/>
            <a:ext cx="25749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73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5D304106-34BB-4669-88EF-96C042E4751E}" type="slidenum">
              <a:rPr lang="zh-CN" altLang="en-US" smtClean="0"/>
              <a:pPr/>
              <a:t>7</a:t>
            </a:fld>
            <a:endParaRPr lang="en-US" altLang="zh-CN" smtClean="0"/>
          </a:p>
        </p:txBody>
      </p:sp>
      <p:sp>
        <p:nvSpPr>
          <p:cNvPr id="7773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5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5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5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87" grpId="0" animBg="1"/>
      <p:bldP spid="455797" grpId="0" animBg="1"/>
      <p:bldP spid="455798" grpId="0" animBg="1"/>
      <p:bldP spid="45579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835" name="Text Box 107"/>
          <p:cNvSpPr txBox="1">
            <a:spLocks noChangeArrowheads="1"/>
          </p:cNvSpPr>
          <p:nvPr/>
        </p:nvSpPr>
        <p:spPr bwMode="auto">
          <a:xfrm>
            <a:off x="2952750" y="52388"/>
            <a:ext cx="4448175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在链路上看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帧的流动</a:t>
            </a:r>
          </a:p>
        </p:txBody>
      </p:sp>
      <p:grpSp>
        <p:nvGrpSpPr>
          <p:cNvPr id="779266" name="组合 110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9267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68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69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0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1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2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3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4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5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6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7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8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9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0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1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2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3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9284" name="Picture 1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85" name="Picture 20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86" name="Picture 2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87" name="Picture 2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288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9289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9290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1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2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3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4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5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79296" name="组合 140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79297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8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9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0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1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2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3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4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50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209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1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2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3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4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5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6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79306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9307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79308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09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10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9311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2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3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4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5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6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7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8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9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0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1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2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3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4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5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79326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79327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79328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29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30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9331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2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3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4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5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6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7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8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9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40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41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9342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79343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44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45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79346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47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48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79349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50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51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79352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79353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54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79355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79356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57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79358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59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9360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9361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9362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63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457836" name="Line 108"/>
          <p:cNvSpPr>
            <a:spLocks noChangeShapeType="1"/>
          </p:cNvSpPr>
          <p:nvPr/>
        </p:nvSpPr>
        <p:spPr bwMode="auto">
          <a:xfrm>
            <a:off x="506413" y="5445125"/>
            <a:ext cx="19510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7837" name="Line 109"/>
          <p:cNvSpPr>
            <a:spLocks noChangeShapeType="1"/>
          </p:cNvSpPr>
          <p:nvPr/>
        </p:nvSpPr>
        <p:spPr bwMode="auto">
          <a:xfrm>
            <a:off x="3938588" y="5445125"/>
            <a:ext cx="14049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7838" name="Line 110"/>
          <p:cNvSpPr>
            <a:spLocks noChangeShapeType="1"/>
          </p:cNvSpPr>
          <p:nvPr/>
        </p:nvSpPr>
        <p:spPr bwMode="auto">
          <a:xfrm>
            <a:off x="6746875" y="5445125"/>
            <a:ext cx="233997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93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89DDC81-ADCC-4249-B8AD-927CE6469C33}" type="slidenum">
              <a:rPr lang="zh-CN" altLang="en-US" smtClean="0"/>
              <a:pPr/>
              <a:t>8</a:t>
            </a:fld>
            <a:endParaRPr lang="en-US" altLang="zh-CN" smtClean="0"/>
          </a:p>
        </p:txBody>
      </p:sp>
      <p:sp>
        <p:nvSpPr>
          <p:cNvPr id="7793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5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5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5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835" grpId="0" animBg="1"/>
      <p:bldP spid="457836" grpId="0" animBg="1"/>
      <p:bldP spid="457837" grpId="0" animBg="1"/>
      <p:bldP spid="4578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3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1314" name="Text Box 112"/>
          <p:cNvSpPr txBox="1">
            <a:spLocks noChangeArrowheads="1"/>
          </p:cNvSpPr>
          <p:nvPr/>
        </p:nvSpPr>
        <p:spPr bwMode="auto">
          <a:xfrm>
            <a:off x="514350" y="317500"/>
            <a:ext cx="8918575" cy="1473200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在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层抽象的互联网上只能看到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数据报。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图中的 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→IP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表示从源地址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到目的地址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  <a:endParaRPr lang="en-US" altLang="zh-CN" sz="28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两个路由器的 </a:t>
            </a:r>
            <a:r>
              <a:rPr lang="en-US" altLang="zh-CN" sz="2800" b="1">
                <a:solidFill>
                  <a:srgbClr val="C0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地址并不出现在 </a:t>
            </a:r>
            <a:r>
              <a:rPr lang="en-US" altLang="zh-CN" sz="2800" b="1">
                <a:solidFill>
                  <a:srgbClr val="C0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数据报的首部中。 </a:t>
            </a:r>
          </a:p>
        </p:txBody>
      </p:sp>
      <p:grpSp>
        <p:nvGrpSpPr>
          <p:cNvPr id="781315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81316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17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18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19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0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1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2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3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1325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1326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1327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28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29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1330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1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2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3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4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5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6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7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8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9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0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1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2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3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4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81345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1346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1347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48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49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1350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1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2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3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4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5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6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7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8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9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60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1361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1362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1363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64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1365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1366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67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1368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69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1370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1371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1373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1374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75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76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1377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78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79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1380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81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1382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1383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84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138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4F4AB0-74B1-435F-A12D-1A10AD80B0D5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781386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3362" name="Text Box 112"/>
          <p:cNvSpPr txBox="1">
            <a:spLocks noChangeArrowheads="1"/>
          </p:cNvSpPr>
          <p:nvPr/>
        </p:nvSpPr>
        <p:spPr bwMode="auto">
          <a:xfrm>
            <a:off x="438150" y="849313"/>
            <a:ext cx="9110663" cy="558800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路由器只根据目的站的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地址的网络号进行路由选择。 </a:t>
            </a:r>
          </a:p>
        </p:txBody>
      </p:sp>
      <p:grpSp>
        <p:nvGrpSpPr>
          <p:cNvPr id="783363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83364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5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6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7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8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9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70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71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3373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3374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3375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76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77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3378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79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0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1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2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3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4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5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6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7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8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9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0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1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2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83393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3394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3395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96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97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3398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9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0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1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2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3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4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5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6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7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8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3409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3410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3411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12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3413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3414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15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3416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17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3418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3419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783420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3421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3422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23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24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3425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26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27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3428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29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3430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3431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32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3433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0CC33C-7B5D-4125-8AA4-0BEEE63033B2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783434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09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5410" name="Text Box 112"/>
          <p:cNvSpPr txBox="1">
            <a:spLocks noChangeArrowheads="1"/>
          </p:cNvSpPr>
          <p:nvPr/>
        </p:nvSpPr>
        <p:spPr bwMode="auto">
          <a:xfrm>
            <a:off x="653993" y="188730"/>
            <a:ext cx="8678979" cy="1643527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在具体的物理网络的链路层</a:t>
            </a:r>
          </a:p>
          <a:p>
            <a:pPr algn="ctr" eaLnBrk="0" hangingPunct="0">
              <a:lnSpc>
                <a:spcPct val="12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只能看见 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帧而看不见 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数据报</a:t>
            </a:r>
            <a:endParaRPr lang="en-US" altLang="zh-CN" sz="2800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每</a:t>
            </a:r>
            <a:r>
              <a:rPr lang="zh-CN" altLang="en-US" sz="2800" b="1" dirty="0" smtClean="0">
                <a:solidFill>
                  <a:srgbClr val="C00000"/>
                </a:solidFill>
                <a:ea typeface="黑体" panose="02010609060101010101" pitchFamily="49" charset="-122"/>
              </a:rPr>
              <a:t>一段链路上，帧的源地址和目的地址都要发生变化  </a:t>
            </a:r>
            <a:endParaRPr lang="zh-CN" altLang="en-US" sz="2800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785411" name="组合 1"/>
          <p:cNvGrpSpPr>
            <a:grpSpLocks/>
          </p:cNvGrpSpPr>
          <p:nvPr/>
        </p:nvGrpSpPr>
        <p:grpSpPr bwMode="auto">
          <a:xfrm>
            <a:off x="39688" y="2035175"/>
            <a:ext cx="9882187" cy="3406775"/>
            <a:chOff x="39556" y="2035176"/>
            <a:chExt cx="9881923" cy="3406774"/>
          </a:xfrm>
        </p:grpSpPr>
        <p:sp>
          <p:nvSpPr>
            <p:cNvPr id="785412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3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4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5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6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7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8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9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5421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5422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5423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24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25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5426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27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28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29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0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1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2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3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4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5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6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7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8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9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0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grpSp>
          <p:nvGrpSpPr>
            <p:cNvPr id="785441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5442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43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44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5445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6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7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8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9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0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1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2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3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4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5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660400" y="5592763"/>
            <a:ext cx="8420100" cy="795337"/>
            <a:chOff x="660400" y="5592763"/>
            <a:chExt cx="8420100" cy="794782"/>
          </a:xfrm>
        </p:grpSpPr>
        <p:sp>
          <p:nvSpPr>
            <p:cNvPr id="785457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5458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5459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5460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61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5462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5463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64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5465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66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5467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5468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785469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5470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5471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72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73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5474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75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76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5477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78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5479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5480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81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5482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0F52F2-E82A-473B-8C37-D3256FD75ED8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785483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7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7458" name="Text Box 112"/>
          <p:cNvSpPr txBox="1">
            <a:spLocks noChangeArrowheads="1"/>
          </p:cNvSpPr>
          <p:nvPr/>
        </p:nvSpPr>
        <p:spPr bwMode="auto">
          <a:xfrm>
            <a:off x="1568450" y="115888"/>
            <a:ext cx="7134225" cy="1717675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层抽象的互联网屏蔽了下层很复杂的细节。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在抽象的网络层上讨论问题，就能够使用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统一的、抽象的 </a:t>
            </a:r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地址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研究主机和主机或主机和路由器之间的通信 。</a:t>
            </a:r>
          </a:p>
        </p:txBody>
      </p:sp>
      <p:grpSp>
        <p:nvGrpSpPr>
          <p:cNvPr id="787459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87460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1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2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3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4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5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6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7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7469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7470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7471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72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73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7474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5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6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7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8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9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0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1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2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3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4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5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6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7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8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87489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7490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7491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92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93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7494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5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6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7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8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9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0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1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2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3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4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7505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7506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7507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08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7509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7510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11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7512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13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7514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7515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787516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7517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7518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19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20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7521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22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23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7524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25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7526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7527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28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752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A2BD58-EA2D-4E1F-9CAA-CF4971376FBE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787530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511300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主机 </a:t>
            </a:r>
            <a:r>
              <a:rPr lang="en-US" altLang="zh-CN" smtClean="0">
                <a:ea typeface="黑体" panose="02010609060101010101" pitchFamily="49" charset="-122"/>
              </a:rPr>
              <a:t>H</a:t>
            </a:r>
            <a:r>
              <a:rPr lang="en-US" altLang="zh-CN" baseline="-25000" smtClean="0">
                <a:ea typeface="黑体" panose="02010609060101010101" pitchFamily="49" charset="-122"/>
              </a:rPr>
              <a:t>1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与 </a:t>
            </a:r>
            <a:r>
              <a:rPr lang="en-US" altLang="zh-CN" smtClean="0">
                <a:ea typeface="黑体" panose="02010609060101010101" pitchFamily="49" charset="-122"/>
              </a:rPr>
              <a:t>H</a:t>
            </a:r>
            <a:r>
              <a:rPr lang="en-US" altLang="zh-CN" baseline="-25000" smtClean="0">
                <a:ea typeface="黑体" panose="02010609060101010101" pitchFamily="49" charset="-122"/>
              </a:rPr>
              <a:t>2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通信中使用的</a:t>
            </a:r>
            <a:r>
              <a:rPr lang="en-US" altLang="zh-CN" smtClean="0">
                <a:ea typeface="黑体" panose="02010609060101010101" pitchFamily="49" charset="-122"/>
              </a:rPr>
              <a:t/>
            </a:r>
            <a:br>
              <a:rPr lang="en-US" altLang="zh-CN" smtClean="0">
                <a:ea typeface="黑体" panose="02010609060101010101" pitchFamily="49" charset="-122"/>
              </a:rPr>
            </a:b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zh-CN" altLang="zh-CN" smtClean="0">
                <a:ea typeface="黑体" panose="02010609060101010101" pitchFamily="49" charset="-122"/>
              </a:rPr>
              <a:t>地址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与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硬件地址</a:t>
            </a:r>
            <a:r>
              <a:rPr lang="en-US" altLang="zh-CN" smtClean="0">
                <a:ea typeface="黑体" panose="02010609060101010101" pitchFamily="49" charset="-122"/>
              </a:rPr>
              <a:t>HA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31825" y="2133600"/>
          <a:ext cx="8642351" cy="2951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9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372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 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在网络层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写入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数据报首部的地址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在数据链路层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写入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MAC</a:t>
                      </a: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帧首部的地址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源地址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目的地址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源地址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目的地址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从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到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从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到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4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5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从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到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6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95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7D77F7-DCA3-4802-9B06-C0DD210AB6CA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78954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4.2.4  </a:t>
            </a:r>
            <a:r>
              <a:rPr lang="zh-CN" altLang="zh-CN" smtClean="0">
                <a:ea typeface="黑体" panose="02010609060101010101" pitchFamily="49" charset="-122"/>
              </a:rPr>
              <a:t>地址解析协议</a:t>
            </a:r>
            <a:r>
              <a:rPr lang="en-US" altLang="zh-CN" smtClean="0">
                <a:ea typeface="黑体" panose="02010609060101010101" pitchFamily="49" charset="-122"/>
              </a:rPr>
              <a:t> ARP</a:t>
            </a:r>
          </a:p>
        </p:txBody>
      </p:sp>
      <p:sp>
        <p:nvSpPr>
          <p:cNvPr id="790530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sz="2800" smtClean="0">
                <a:latin typeface="Tahoma" panose="020B0604030504040204" pitchFamily="34" charset="0"/>
                <a:ea typeface="黑体" panose="02010609060101010101" pitchFamily="49" charset="-122"/>
              </a:rPr>
              <a:t>通信时使用了两个地址：</a:t>
            </a:r>
            <a:endParaRPr lang="en-US" altLang="zh-CN" sz="2800" smtClean="0"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地址</a:t>
            </a:r>
            <a:r>
              <a:rPr lang="zh-CN" altLang="en-US" sz="2400" smtClean="0">
                <a:latin typeface="Tahoma" panose="020B0604030504040204" pitchFamily="34" charset="0"/>
                <a:ea typeface="黑体" panose="02010609060101010101" pitchFamily="49" charset="-122"/>
              </a:rPr>
              <a:t>（网络层地址）</a:t>
            </a:r>
            <a:endParaRPr lang="en-US" altLang="zh-CN" sz="2400" smtClean="0"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MAC </a:t>
            </a:r>
            <a:r>
              <a:rPr lang="zh-CN" altLang="en-US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地址</a:t>
            </a:r>
            <a:r>
              <a:rPr lang="zh-CN" altLang="en-US" sz="2400" smtClean="0">
                <a:latin typeface="Tahoma" panose="020B0604030504040204" pitchFamily="34" charset="0"/>
                <a:ea typeface="黑体" panose="02010609060101010101" pitchFamily="49" charset="-122"/>
              </a:rPr>
              <a:t>（数据链路层地址）</a:t>
            </a:r>
            <a:endParaRPr lang="en-US" altLang="zh-CN" sz="240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790531" name="组合 57"/>
          <p:cNvGrpSpPr>
            <a:grpSpLocks/>
          </p:cNvGrpSpPr>
          <p:nvPr/>
        </p:nvGrpSpPr>
        <p:grpSpPr bwMode="auto">
          <a:xfrm>
            <a:off x="1217613" y="2420938"/>
            <a:ext cx="7551737" cy="3960812"/>
            <a:chOff x="1301914" y="2348880"/>
            <a:chExt cx="7551705" cy="3960440"/>
          </a:xfrm>
        </p:grpSpPr>
        <p:sp>
          <p:nvSpPr>
            <p:cNvPr id="790532" name="矩形 52"/>
            <p:cNvSpPr>
              <a:spLocks noChangeArrowheads="1"/>
            </p:cNvSpPr>
            <p:nvPr/>
          </p:nvSpPr>
          <p:spPr bwMode="auto">
            <a:xfrm>
              <a:off x="2981245" y="5847655"/>
              <a:ext cx="41319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ea typeface="黑体" panose="02010609060101010101" pitchFamily="49" charset="-122"/>
                </a:rPr>
                <a:t>每个接口都有两个地址</a:t>
              </a:r>
            </a:p>
          </p:txBody>
        </p:sp>
        <p:pic>
          <p:nvPicPr>
            <p:cNvPr id="790533" name="Picture 5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510" y="4252719"/>
              <a:ext cx="853704" cy="76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0534" name="Picture 5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034" y="2799780"/>
              <a:ext cx="720081" cy="917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0535" name="Picture 5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699" y="4252719"/>
              <a:ext cx="1024445" cy="76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0536" name="矩形 2"/>
            <p:cNvSpPr>
              <a:spLocks noChangeArrowheads="1"/>
            </p:cNvSpPr>
            <p:nvPr/>
          </p:nvSpPr>
          <p:spPr bwMode="auto">
            <a:xfrm>
              <a:off x="5427146" y="2875581"/>
              <a:ext cx="18229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220.168.10.10</a:t>
              </a:r>
              <a:endParaRPr lang="zh-CN" altLang="en-US" sz="20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0537" name="矩形 3"/>
            <p:cNvSpPr>
              <a:spLocks noChangeArrowheads="1"/>
            </p:cNvSpPr>
            <p:nvPr/>
          </p:nvSpPr>
          <p:spPr bwMode="auto">
            <a:xfrm>
              <a:off x="5427146" y="3244914"/>
              <a:ext cx="249459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FF"/>
                  </a:solidFill>
                  <a:ea typeface="宋体" panose="02010600030101010101" pitchFamily="2" charset="-122"/>
                </a:rPr>
                <a:t>00-15-C5-C6-CC-07</a:t>
              </a:r>
              <a:endParaRPr lang="zh-CN" altLang="en-US" sz="2000" b="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0538" name="矩形 49"/>
            <p:cNvSpPr>
              <a:spLocks noChangeArrowheads="1"/>
            </p:cNvSpPr>
            <p:nvPr/>
          </p:nvSpPr>
          <p:spPr bwMode="auto">
            <a:xfrm>
              <a:off x="6435258" y="3923764"/>
              <a:ext cx="16594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220.168.10.20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39" name="矩形 51"/>
            <p:cNvSpPr>
              <a:spLocks noChangeArrowheads="1"/>
            </p:cNvSpPr>
            <p:nvPr/>
          </p:nvSpPr>
          <p:spPr bwMode="auto">
            <a:xfrm>
              <a:off x="6166462" y="5003884"/>
              <a:ext cx="2223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00-15-C5-C8-C4-95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40" name="矩形 53"/>
            <p:cNvSpPr>
              <a:spLocks noChangeArrowheads="1"/>
            </p:cNvSpPr>
            <p:nvPr/>
          </p:nvSpPr>
          <p:spPr bwMode="auto">
            <a:xfrm>
              <a:off x="1705673" y="3923764"/>
              <a:ext cx="16594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220.168.10.16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41" name="矩形 54"/>
            <p:cNvSpPr>
              <a:spLocks noChangeArrowheads="1"/>
            </p:cNvSpPr>
            <p:nvPr/>
          </p:nvSpPr>
          <p:spPr bwMode="auto">
            <a:xfrm>
              <a:off x="1301914" y="5003884"/>
              <a:ext cx="2210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00-15-C5-C6-C8-11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42" name="矩形标注 4"/>
            <p:cNvSpPr>
              <a:spLocks noChangeArrowheads="1"/>
            </p:cNvSpPr>
            <p:nvPr/>
          </p:nvSpPr>
          <p:spPr bwMode="auto">
            <a:xfrm>
              <a:off x="6249144" y="2348880"/>
              <a:ext cx="1081319" cy="378892"/>
            </a:xfrm>
            <a:prstGeom prst="wedgeRectCallout">
              <a:avLst>
                <a:gd name="adj1" fmla="val -47727"/>
                <a:gd name="adj2" fmla="val 100032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宋体" panose="02010600030101010101" pitchFamily="2" charset="-122"/>
                </a:rPr>
                <a:t>IP </a:t>
              </a:r>
              <a:r>
                <a:rPr lang="zh-CN" altLang="en-US" b="1">
                  <a:ea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790543" name="矩形标注 55"/>
            <p:cNvSpPr>
              <a:spLocks noChangeArrowheads="1"/>
            </p:cNvSpPr>
            <p:nvPr/>
          </p:nvSpPr>
          <p:spPr bwMode="auto">
            <a:xfrm>
              <a:off x="7545288" y="2618060"/>
              <a:ext cx="1308331" cy="378892"/>
            </a:xfrm>
            <a:prstGeom prst="wedgeRectCallout">
              <a:avLst>
                <a:gd name="adj1" fmla="val -64019"/>
                <a:gd name="adj2" fmla="val 132278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宋体" panose="02010600030101010101" pitchFamily="2" charset="-122"/>
                </a:rPr>
                <a:t>MAC </a:t>
              </a:r>
              <a:r>
                <a:rPr lang="zh-CN" altLang="en-US" b="1">
                  <a:ea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790544" name="直接箭头连接符 8"/>
            <p:cNvCxnSpPr>
              <a:cxnSpLocks noChangeShapeType="1"/>
            </p:cNvCxnSpPr>
            <p:nvPr/>
          </p:nvCxnSpPr>
          <p:spPr bwMode="auto">
            <a:xfrm flipH="1">
              <a:off x="5090594" y="3068960"/>
              <a:ext cx="38153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790545" name="直接箭头连接符 56"/>
            <p:cNvCxnSpPr>
              <a:cxnSpLocks noChangeShapeType="1"/>
            </p:cNvCxnSpPr>
            <p:nvPr/>
          </p:nvCxnSpPr>
          <p:spPr bwMode="auto">
            <a:xfrm flipH="1">
              <a:off x="5090594" y="3460358"/>
              <a:ext cx="38153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790546" name="椭圆 11"/>
            <p:cNvSpPr>
              <a:spLocks noChangeArrowheads="1"/>
            </p:cNvSpPr>
            <p:nvPr/>
          </p:nvSpPr>
          <p:spPr bwMode="auto">
            <a:xfrm>
              <a:off x="4088904" y="4092887"/>
              <a:ext cx="1800200" cy="10801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b="1">
                  <a:ea typeface="宋体" panose="02010600030101010101" pitchFamily="2" charset="-122"/>
                </a:rPr>
                <a:t>LAN</a:t>
              </a:r>
              <a:endParaRPr lang="zh-CN" altLang="en-US" sz="2400" b="1">
                <a:ea typeface="宋体" panose="02010600030101010101" pitchFamily="2" charset="-122"/>
              </a:endParaRPr>
            </a:p>
          </p:txBody>
        </p:sp>
        <p:cxnSp>
          <p:nvCxnSpPr>
            <p:cNvPr id="790547" name="直接连接符 13"/>
            <p:cNvCxnSpPr>
              <a:cxnSpLocks noChangeShapeType="1"/>
              <a:stCxn id="790535" idx="3"/>
              <a:endCxn id="790546" idx="2"/>
            </p:cNvCxnSpPr>
            <p:nvPr/>
          </p:nvCxnSpPr>
          <p:spPr bwMode="auto">
            <a:xfrm flipV="1">
              <a:off x="3156144" y="4632947"/>
              <a:ext cx="9327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90548" name="直接连接符 15"/>
            <p:cNvCxnSpPr>
              <a:cxnSpLocks noChangeShapeType="1"/>
              <a:stCxn id="790533" idx="1"/>
              <a:endCxn id="790546" idx="6"/>
            </p:cNvCxnSpPr>
            <p:nvPr/>
          </p:nvCxnSpPr>
          <p:spPr bwMode="auto">
            <a:xfrm flipH="1" flipV="1">
              <a:off x="5889104" y="4632947"/>
              <a:ext cx="69040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90549" name="直接连接符 17"/>
            <p:cNvCxnSpPr>
              <a:cxnSpLocks noChangeShapeType="1"/>
              <a:stCxn id="790533" idx="1"/>
              <a:endCxn id="790546" idx="0"/>
            </p:cNvCxnSpPr>
            <p:nvPr/>
          </p:nvCxnSpPr>
          <p:spPr bwMode="auto">
            <a:xfrm>
              <a:off x="4989004" y="3717032"/>
              <a:ext cx="0" cy="3758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0550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FEAA6D-4254-41FC-9C40-1DD117DEF1FA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790551" name="页脚占位符 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地址解析协议</a:t>
            </a:r>
            <a:r>
              <a:rPr lang="en-US" altLang="zh-CN" smtClean="0">
                <a:ea typeface="黑体" panose="02010609060101010101" pitchFamily="49" charset="-122"/>
              </a:rPr>
              <a:t> ARP </a:t>
            </a:r>
            <a:r>
              <a:rPr lang="zh-CN" altLang="en-US" smtClean="0">
                <a:ea typeface="黑体" panose="02010609060101010101" pitchFamily="49" charset="-122"/>
              </a:rPr>
              <a:t>的作用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792578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已经知道了一个机器（主机或路由器）的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IP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地址，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如何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找出其相应的硬件地址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？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地址解析协议</a:t>
            </a:r>
            <a:r>
              <a:rPr lang="en-US" altLang="zh-CN" smtClean="0">
                <a:ea typeface="黑体" panose="02010609060101010101" pitchFamily="49" charset="-122"/>
              </a:rPr>
              <a:t> ARP </a:t>
            </a:r>
            <a:r>
              <a:rPr lang="zh-CN" altLang="zh-CN" smtClean="0">
                <a:ea typeface="黑体" panose="02010609060101010101" pitchFamily="49" charset="-122"/>
              </a:rPr>
              <a:t>就是用来解决这样的问题的。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792579" name="组合 2"/>
          <p:cNvGrpSpPr>
            <a:grpSpLocks/>
          </p:cNvGrpSpPr>
          <p:nvPr/>
        </p:nvGrpSpPr>
        <p:grpSpPr bwMode="auto">
          <a:xfrm>
            <a:off x="631825" y="3100388"/>
            <a:ext cx="6802438" cy="2705100"/>
            <a:chOff x="887867" y="3068960"/>
            <a:chExt cx="6801437" cy="2704366"/>
          </a:xfrm>
        </p:grpSpPr>
        <p:sp>
          <p:nvSpPr>
            <p:cNvPr id="792580" name="Line 16"/>
            <p:cNvSpPr>
              <a:spLocks noChangeShapeType="1"/>
            </p:cNvSpPr>
            <p:nvPr/>
          </p:nvSpPr>
          <p:spPr bwMode="auto">
            <a:xfrm>
              <a:off x="1442906" y="3068960"/>
              <a:ext cx="0" cy="2088233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1" name="Text Box 17"/>
            <p:cNvSpPr txBox="1">
              <a:spLocks noChangeArrowheads="1"/>
            </p:cNvSpPr>
            <p:nvPr/>
          </p:nvSpPr>
          <p:spPr bwMode="auto">
            <a:xfrm>
              <a:off x="887867" y="3872235"/>
              <a:ext cx="111280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792582" name="Rectangle 18"/>
            <p:cNvSpPr>
              <a:spLocks noChangeArrowheads="1"/>
            </p:cNvSpPr>
            <p:nvPr/>
          </p:nvSpPr>
          <p:spPr bwMode="auto">
            <a:xfrm>
              <a:off x="2067190" y="3068961"/>
              <a:ext cx="5622114" cy="198021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ARP</a:t>
              </a:r>
            </a:p>
            <a:p>
              <a:pPr algn="ctr" eaLnBrk="0" hangingPunct="0"/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3" name="Text Box 19"/>
            <p:cNvSpPr txBox="1">
              <a:spLocks noChangeArrowheads="1"/>
            </p:cNvSpPr>
            <p:nvPr/>
          </p:nvSpPr>
          <p:spPr bwMode="auto">
            <a:xfrm>
              <a:off x="6351166" y="3645024"/>
              <a:ext cx="9428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IP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792584" name="Text Box 20"/>
            <p:cNvSpPr txBox="1">
              <a:spLocks noChangeArrowheads="1"/>
            </p:cNvSpPr>
            <p:nvPr/>
          </p:nvSpPr>
          <p:spPr bwMode="auto">
            <a:xfrm>
              <a:off x="6321152" y="5373216"/>
              <a:ext cx="1217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硬件地址</a:t>
              </a:r>
            </a:p>
          </p:txBody>
        </p:sp>
        <p:sp>
          <p:nvSpPr>
            <p:cNvPr id="792585" name="Rectangle 22"/>
            <p:cNvSpPr>
              <a:spLocks noChangeArrowheads="1"/>
            </p:cNvSpPr>
            <p:nvPr/>
          </p:nvSpPr>
          <p:spPr bwMode="auto">
            <a:xfrm>
              <a:off x="3296816" y="3651385"/>
              <a:ext cx="2651919" cy="78572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IP</a:t>
              </a:r>
            </a:p>
          </p:txBody>
        </p:sp>
        <p:sp>
          <p:nvSpPr>
            <p:cNvPr id="792586" name="Rectangle 24"/>
            <p:cNvSpPr>
              <a:spLocks noChangeArrowheads="1"/>
            </p:cNvSpPr>
            <p:nvPr/>
          </p:nvSpPr>
          <p:spPr bwMode="auto">
            <a:xfrm>
              <a:off x="3160977" y="3141985"/>
              <a:ext cx="779066" cy="3095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IGMP</a:t>
              </a:r>
            </a:p>
          </p:txBody>
        </p:sp>
        <p:sp>
          <p:nvSpPr>
            <p:cNvPr id="792587" name="Freeform 25"/>
            <p:cNvSpPr>
              <a:spLocks noChangeArrowheads="1"/>
            </p:cNvSpPr>
            <p:nvPr/>
          </p:nvSpPr>
          <p:spPr bwMode="auto">
            <a:xfrm>
              <a:off x="5950453" y="4077072"/>
              <a:ext cx="1012958" cy="360041"/>
            </a:xfrm>
            <a:custGeom>
              <a:avLst/>
              <a:gdLst>
                <a:gd name="T0" fmla="*/ 0 w 500"/>
                <a:gd name="T1" fmla="*/ 0 h 203"/>
                <a:gd name="T2" fmla="*/ 497 w 500"/>
                <a:gd name="T3" fmla="*/ 0 h 203"/>
                <a:gd name="T4" fmla="*/ 500 w 500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0" h="203">
                  <a:moveTo>
                    <a:pt x="0" y="0"/>
                  </a:moveTo>
                  <a:lnTo>
                    <a:pt x="497" y="0"/>
                  </a:lnTo>
                  <a:lnTo>
                    <a:pt x="500" y="203"/>
                  </a:lnTo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8" name="Line 26"/>
            <p:cNvSpPr>
              <a:spLocks noChangeShapeType="1"/>
            </p:cNvSpPr>
            <p:nvPr/>
          </p:nvSpPr>
          <p:spPr bwMode="auto">
            <a:xfrm>
              <a:off x="6969224" y="4725144"/>
              <a:ext cx="0" cy="648072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9" name="Rectangle 29"/>
            <p:cNvSpPr>
              <a:spLocks noChangeArrowheads="1"/>
            </p:cNvSpPr>
            <p:nvPr/>
          </p:nvSpPr>
          <p:spPr bwMode="auto">
            <a:xfrm>
              <a:off x="2301081" y="3141985"/>
              <a:ext cx="779066" cy="3095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ICMP</a:t>
              </a:r>
            </a:p>
          </p:txBody>
        </p:sp>
        <p:sp>
          <p:nvSpPr>
            <p:cNvPr id="792590" name="Rectangle 30"/>
            <p:cNvSpPr>
              <a:spLocks noChangeArrowheads="1"/>
            </p:cNvSpPr>
            <p:nvPr/>
          </p:nvSpPr>
          <p:spPr bwMode="auto">
            <a:xfrm>
              <a:off x="6506120" y="4437112"/>
              <a:ext cx="895152" cy="43204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ARP</a:t>
              </a:r>
            </a:p>
          </p:txBody>
        </p:sp>
      </p:grpSp>
      <p:sp>
        <p:nvSpPr>
          <p:cNvPr id="792591" name="矩形 3"/>
          <p:cNvSpPr>
            <a:spLocks noChangeArrowheads="1"/>
          </p:cNvSpPr>
          <p:nvPr/>
        </p:nvSpPr>
        <p:spPr bwMode="auto">
          <a:xfrm>
            <a:off x="2333625" y="5805488"/>
            <a:ext cx="4132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ARP </a:t>
            </a:r>
            <a:r>
              <a:rPr lang="zh-CN" altLang="zh-CN" sz="2400" b="1">
                <a:ea typeface="黑体" panose="02010609060101010101" pitchFamily="49" charset="-122"/>
              </a:rPr>
              <a:t>协议的作用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792592" name="矩形 4"/>
          <p:cNvSpPr>
            <a:spLocks noChangeArrowheads="1"/>
          </p:cNvSpPr>
          <p:nvPr/>
        </p:nvSpPr>
        <p:spPr bwMode="auto">
          <a:xfrm>
            <a:off x="7616825" y="3068638"/>
            <a:ext cx="2144713" cy="2530475"/>
          </a:xfrm>
          <a:prstGeom prst="rect">
            <a:avLst/>
          </a:pr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作用：</a:t>
            </a:r>
            <a:endParaRPr lang="en-US" altLang="zh-CN" sz="2400" b="1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从网络层使用的</a:t>
            </a:r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地址，解析出在数据链路层使用的硬件地址</a:t>
            </a: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9259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72FF46-199A-4407-89EC-8CC56F41A898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792594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地址解析协议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要点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97485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不管网络层使用的是什么协议，在实际网络的链路上传送数据帧时，最终还是必须使用硬件地址。 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每一个主机都设有一个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高速缓存 </a:t>
            </a:r>
            <a:r>
              <a:rPr lang="en-US" altLang="zh-CN" smtClean="0">
                <a:ea typeface="黑体" panose="02010609060101010101" pitchFamily="49" charset="-122"/>
              </a:rPr>
              <a:t>(ARP cache)</a:t>
            </a:r>
            <a:r>
              <a:rPr lang="zh-CN" altLang="en-US" smtClean="0">
                <a:ea typeface="黑体" panose="02010609060101010101" pitchFamily="49" charset="-122"/>
              </a:rPr>
              <a:t>，里面有所在的局域网上的各主机和路由器的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地址到硬件地址的映射表。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36675" y="4581525"/>
            <a:ext cx="7432675" cy="1184275"/>
            <a:chOff x="1192732" y="4009802"/>
            <a:chExt cx="7432675" cy="1185462"/>
          </a:xfrm>
        </p:grpSpPr>
        <p:sp>
          <p:nvSpPr>
            <p:cNvPr id="794628" name="Rectangle 4"/>
            <p:cNvSpPr>
              <a:spLocks noChangeArrowheads="1"/>
            </p:cNvSpPr>
            <p:nvPr/>
          </p:nvSpPr>
          <p:spPr bwMode="auto">
            <a:xfrm>
              <a:off x="1192732" y="4009802"/>
              <a:ext cx="7432675" cy="58477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&lt; IP address</a:t>
              </a:r>
              <a:r>
                <a:rPr lang="zh-CN" altLang="en-US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；</a:t>
              </a:r>
              <a:r>
                <a:rPr lang="en-US" altLang="zh-CN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MAC address</a:t>
              </a:r>
              <a:r>
                <a:rPr lang="zh-CN" altLang="en-US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；</a:t>
              </a:r>
              <a:r>
                <a:rPr lang="en-US" altLang="zh-CN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TTL &gt;</a:t>
              </a:r>
            </a:p>
          </p:txBody>
        </p:sp>
        <p:sp>
          <p:nvSpPr>
            <p:cNvPr id="794629" name="Rectangle 5"/>
            <p:cNvSpPr>
              <a:spLocks noChangeArrowheads="1"/>
            </p:cNvSpPr>
            <p:nvPr/>
          </p:nvSpPr>
          <p:spPr bwMode="auto">
            <a:xfrm>
              <a:off x="1421333" y="4585866"/>
              <a:ext cx="7204074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800" b="1">
                  <a:ea typeface="黑体" panose="02010609060101010101" pitchFamily="49" charset="-122"/>
                </a:rPr>
                <a:t>TTL (Time To Live)</a:t>
              </a:r>
              <a:r>
                <a:rPr lang="zh-CN" altLang="en-US" sz="2800" b="1">
                  <a:ea typeface="黑体" panose="02010609060101010101" pitchFamily="49" charset="-122"/>
                </a:rPr>
                <a:t>：地址映射有效时间 。</a:t>
              </a:r>
            </a:p>
          </p:txBody>
        </p:sp>
      </p:grpSp>
      <p:sp>
        <p:nvSpPr>
          <p:cNvPr id="79463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82427C-9EF2-4E82-968C-56F3AE7CEECA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794631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地址解析协议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要点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97485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当主机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欲向本局域网上的某个主机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发送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数据报时，就先在其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高速缓存中查看有无主机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如有，</a:t>
            </a:r>
            <a:r>
              <a:rPr lang="zh-CN" altLang="en-US" smtClean="0">
                <a:ea typeface="黑体" panose="02010609060101010101" pitchFamily="49" charset="-122"/>
              </a:rPr>
              <a:t>就可查出其对应的硬件地址，再将此硬件地址写入 </a:t>
            </a:r>
            <a:r>
              <a:rPr lang="en-US" altLang="zh-CN" smtClean="0">
                <a:ea typeface="黑体" panose="02010609060101010101" pitchFamily="49" charset="-122"/>
              </a:rPr>
              <a:t>MAC </a:t>
            </a:r>
            <a:r>
              <a:rPr lang="zh-CN" altLang="en-US" smtClean="0">
                <a:ea typeface="黑体" panose="02010609060101010101" pitchFamily="49" charset="-122"/>
              </a:rPr>
              <a:t>帧，然后通过局域网将该 </a:t>
            </a:r>
            <a:r>
              <a:rPr lang="en-US" altLang="zh-CN" smtClean="0">
                <a:ea typeface="黑体" panose="02010609060101010101" pitchFamily="49" charset="-122"/>
              </a:rPr>
              <a:t>MAC </a:t>
            </a:r>
            <a:r>
              <a:rPr lang="zh-CN" altLang="en-US" smtClean="0">
                <a:ea typeface="黑体" panose="02010609060101010101" pitchFamily="49" charset="-122"/>
              </a:rPr>
              <a:t>帧发往此硬件地址。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如没有，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zh-CN" smtClean="0">
                <a:ea typeface="黑体" panose="02010609060101010101" pitchFamily="49" charset="-122"/>
              </a:rPr>
              <a:t>进程在本局域网上</a:t>
            </a:r>
            <a:r>
              <a:rPr lang="zh-CN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广播发送</a:t>
            </a:r>
            <a:r>
              <a:rPr lang="zh-CN" altLang="zh-CN" smtClean="0">
                <a:ea typeface="黑体" panose="02010609060101010101" pitchFamily="49" charset="-122"/>
              </a:rPr>
              <a:t>一个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ARP </a:t>
            </a:r>
            <a:r>
              <a:rPr lang="zh-CN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请求分组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  <a:r>
              <a:rPr lang="zh-CN" altLang="zh-CN" smtClean="0">
                <a:ea typeface="黑体" panose="02010609060101010101" pitchFamily="49" charset="-122"/>
              </a:rPr>
              <a:t>收到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ARP </a:t>
            </a:r>
            <a:r>
              <a:rPr lang="zh-CN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响应分组</a:t>
            </a:r>
            <a:r>
              <a:rPr lang="zh-CN" altLang="zh-CN" smtClean="0">
                <a:ea typeface="黑体" panose="02010609060101010101" pitchFamily="49" charset="-122"/>
              </a:rPr>
              <a:t>后，</a:t>
            </a:r>
            <a:r>
              <a:rPr lang="zh-CN" altLang="en-US" smtClean="0">
                <a:ea typeface="黑体" panose="02010609060101010101" pitchFamily="49" charset="-122"/>
              </a:rPr>
              <a:t>将得到的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zh-CN" smtClean="0">
                <a:ea typeface="黑体" panose="02010609060101010101" pitchFamily="49" charset="-122"/>
              </a:rPr>
              <a:t>地址到硬件地址的映射</a:t>
            </a:r>
            <a:r>
              <a:rPr lang="zh-CN" altLang="en-US" smtClean="0">
                <a:ea typeface="黑体" panose="02010609060101010101" pitchFamily="49" charset="-122"/>
              </a:rPr>
              <a:t>写入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zh-CN" smtClean="0">
                <a:ea typeface="黑体" panose="02010609060101010101" pitchFamily="49" charset="-122"/>
              </a:rPr>
              <a:t>高速缓存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96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2A4B7A-C183-49B7-9836-2837B30A260C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796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地址解析协议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要点</a:t>
            </a:r>
          </a:p>
        </p:txBody>
      </p:sp>
      <p:sp>
        <p:nvSpPr>
          <p:cNvPr id="7987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请求分组：</a:t>
            </a:r>
            <a:r>
              <a:rPr lang="zh-CN" altLang="en-US" smtClean="0">
                <a:ea typeface="黑体" panose="02010609060101010101" pitchFamily="49" charset="-122"/>
              </a:rPr>
              <a:t>包含发送方硬件地址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发送方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目标方硬件地址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未知时填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0)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目标方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地址。</a:t>
            </a:r>
          </a:p>
          <a:p>
            <a:pPr>
              <a:spcBef>
                <a:spcPts val="1200"/>
              </a:spcBef>
            </a:pP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本地广播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请求</a:t>
            </a:r>
            <a:r>
              <a:rPr lang="zh-CN" altLang="en-US" smtClean="0">
                <a:ea typeface="黑体" panose="02010609060101010101" pitchFamily="49" charset="-122"/>
              </a:rPr>
              <a:t>（路由器不转发</a:t>
            </a:r>
            <a:r>
              <a:rPr lang="en-US" altLang="zh-CN" smtClean="0">
                <a:ea typeface="黑体" panose="02010609060101010101" pitchFamily="49" charset="-122"/>
              </a:rPr>
              <a:t>ARP</a:t>
            </a:r>
            <a:r>
              <a:rPr lang="zh-CN" altLang="en-US" smtClean="0">
                <a:ea typeface="黑体" panose="02010609060101010101" pitchFamily="49" charset="-122"/>
              </a:rPr>
              <a:t>请求）。</a:t>
            </a:r>
          </a:p>
          <a:p>
            <a:pPr>
              <a:spcBef>
                <a:spcPts val="1200"/>
              </a:spcBef>
            </a:pP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响应分组：</a:t>
            </a:r>
            <a:r>
              <a:rPr lang="zh-CN" altLang="en-US" smtClean="0">
                <a:ea typeface="黑体" panose="02010609060101010101" pitchFamily="49" charset="-122"/>
              </a:rPr>
              <a:t>包含发送方硬件地址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发送方 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zh-CN" altLang="en-US" smtClean="0">
                <a:ea typeface="黑体" panose="02010609060101010101" pitchFamily="49" charset="-122"/>
              </a:rPr>
              <a:t>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目标方硬件地址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目标方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地址。</a:t>
            </a:r>
            <a:endParaRPr lang="zh-CN" altLang="en-US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分组封装在物理网络的帧中传输。</a:t>
            </a:r>
          </a:p>
        </p:txBody>
      </p:sp>
      <p:sp>
        <p:nvSpPr>
          <p:cNvPr id="7987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7E97D5-8E18-4A2C-90F1-EA31C03B312F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7987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5" name="Rectangle 105"/>
          <p:cNvSpPr>
            <a:spLocks noChangeArrowheads="1"/>
          </p:cNvSpPr>
          <p:nvPr/>
        </p:nvSpPr>
        <p:spPr bwMode="auto">
          <a:xfrm>
            <a:off x="-15875" y="0"/>
            <a:ext cx="9921875" cy="3500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219230" name="Group 94"/>
          <p:cNvGrpSpPr/>
          <p:nvPr/>
        </p:nvGrpSpPr>
        <p:grpSpPr bwMode="auto">
          <a:xfrm>
            <a:off x="3996723" y="4794251"/>
            <a:ext cx="1723231" cy="409575"/>
            <a:chOff x="249" y="663"/>
            <a:chExt cx="1002" cy="258"/>
          </a:xfrm>
          <a:solidFill>
            <a:srgbClr val="FF99FF"/>
          </a:solidFill>
        </p:grpSpPr>
        <p:sp>
          <p:nvSpPr>
            <p:cNvPr id="219231" name="AutoShape 95"/>
            <p:cNvSpPr>
              <a:spLocks noChangeArrowheads="1"/>
            </p:cNvSpPr>
            <p:nvPr/>
          </p:nvSpPr>
          <p:spPr bwMode="auto">
            <a:xfrm flipH="1">
              <a:off x="249" y="709"/>
              <a:ext cx="138" cy="139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9232" name="Text Box 96"/>
            <p:cNvSpPr txBox="1">
              <a:spLocks noChangeArrowheads="1"/>
            </p:cNvSpPr>
            <p:nvPr/>
          </p:nvSpPr>
          <p:spPr bwMode="auto">
            <a:xfrm flipH="1">
              <a:off x="386" y="663"/>
              <a:ext cx="865" cy="2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r>
                <a:rPr kumimoji="1" lang="en-US" altLang="zh-CN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ARP </a:t>
              </a:r>
              <a:r>
                <a:rPr kumimoji="1" lang="zh-CN" altLang="en-US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响应</a:t>
              </a:r>
            </a:p>
          </p:txBody>
        </p:sp>
      </p:grpSp>
      <p:sp>
        <p:nvSpPr>
          <p:cNvPr id="799747" name="Line 7"/>
          <p:cNvSpPr>
            <a:spLocks noChangeShapeType="1"/>
          </p:cNvSpPr>
          <p:nvPr/>
        </p:nvSpPr>
        <p:spPr bwMode="auto">
          <a:xfrm rot="5400000">
            <a:off x="2079625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48" name="Line 8"/>
          <p:cNvSpPr>
            <a:spLocks noChangeShapeType="1"/>
          </p:cNvSpPr>
          <p:nvPr/>
        </p:nvSpPr>
        <p:spPr bwMode="auto">
          <a:xfrm rot="5400000">
            <a:off x="4263232" y="2302669"/>
            <a:ext cx="588962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49" name="Line 9"/>
          <p:cNvSpPr>
            <a:spLocks noChangeShapeType="1"/>
          </p:cNvSpPr>
          <p:nvPr/>
        </p:nvSpPr>
        <p:spPr bwMode="auto">
          <a:xfrm rot="5400000">
            <a:off x="6140450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50" name="Line 10"/>
          <p:cNvSpPr>
            <a:spLocks noChangeShapeType="1"/>
          </p:cNvSpPr>
          <p:nvPr/>
        </p:nvSpPr>
        <p:spPr bwMode="auto">
          <a:xfrm rot="5400000">
            <a:off x="8353425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51" name="Line 11"/>
          <p:cNvSpPr>
            <a:spLocks noChangeShapeType="1"/>
          </p:cNvSpPr>
          <p:nvPr/>
        </p:nvSpPr>
        <p:spPr bwMode="auto">
          <a:xfrm rot="5400000">
            <a:off x="663575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799752" name="Picture 1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2459038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53" name="Picture 1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2459038"/>
            <a:ext cx="544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54" name="Picture 1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2459038"/>
            <a:ext cx="544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55" name="Picture 1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50" y="2459038"/>
            <a:ext cx="544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56" name="Line 16"/>
          <p:cNvSpPr>
            <a:spLocks noChangeShapeType="1"/>
          </p:cNvSpPr>
          <p:nvPr/>
        </p:nvSpPr>
        <p:spPr bwMode="auto">
          <a:xfrm>
            <a:off x="131763" y="2017713"/>
            <a:ext cx="9297987" cy="2063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57" name="Text Box 17"/>
          <p:cNvSpPr txBox="1">
            <a:spLocks noChangeArrowheads="1"/>
          </p:cNvSpPr>
          <p:nvPr/>
        </p:nvSpPr>
        <p:spPr bwMode="auto">
          <a:xfrm>
            <a:off x="2589213" y="2528888"/>
            <a:ext cx="369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799758" name="Text Box 18"/>
          <p:cNvSpPr txBox="1">
            <a:spLocks noChangeArrowheads="1"/>
          </p:cNvSpPr>
          <p:nvPr/>
        </p:nvSpPr>
        <p:spPr bwMode="auto">
          <a:xfrm>
            <a:off x="4743450" y="240506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799759" name="Text Box 19"/>
          <p:cNvSpPr txBox="1">
            <a:spLocks noChangeArrowheads="1"/>
          </p:cNvSpPr>
          <p:nvPr/>
        </p:nvSpPr>
        <p:spPr bwMode="auto">
          <a:xfrm>
            <a:off x="1150938" y="240506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99760" name="Text Box 20"/>
          <p:cNvSpPr txBox="1">
            <a:spLocks noChangeArrowheads="1"/>
          </p:cNvSpPr>
          <p:nvPr/>
        </p:nvSpPr>
        <p:spPr bwMode="auto">
          <a:xfrm>
            <a:off x="6627813" y="2528888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799761" name="Text Box 21"/>
          <p:cNvSpPr txBox="1">
            <a:spLocks noChangeArrowheads="1"/>
          </p:cNvSpPr>
          <p:nvPr/>
        </p:nvSpPr>
        <p:spPr bwMode="auto">
          <a:xfrm>
            <a:off x="8848725" y="2405063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Z</a:t>
            </a:r>
          </a:p>
        </p:txBody>
      </p:sp>
      <p:sp>
        <p:nvSpPr>
          <p:cNvPr id="219181" name="Text Box 45"/>
          <p:cNvSpPr txBox="1">
            <a:spLocks noChangeArrowheads="1"/>
          </p:cNvSpPr>
          <p:nvPr/>
        </p:nvSpPr>
        <p:spPr bwMode="auto">
          <a:xfrm>
            <a:off x="960438" y="3789363"/>
            <a:ext cx="2495550" cy="757237"/>
          </a:xfrm>
          <a:prstGeom prst="rect">
            <a:avLst/>
          </a:prstGeom>
          <a:solidFill>
            <a:srgbClr val="66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主机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向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发送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响应分组 </a:t>
            </a:r>
          </a:p>
        </p:txBody>
      </p:sp>
      <p:sp>
        <p:nvSpPr>
          <p:cNvPr id="219182" name="Text Box 46"/>
          <p:cNvSpPr txBox="1">
            <a:spLocks noChangeArrowheads="1"/>
          </p:cNvSpPr>
          <p:nvPr/>
        </p:nvSpPr>
        <p:spPr bwMode="auto">
          <a:xfrm>
            <a:off x="468313" y="219075"/>
            <a:ext cx="2411412" cy="757238"/>
          </a:xfrm>
          <a:prstGeom prst="rect">
            <a:avLst/>
          </a:prstGeom>
          <a:solidFill>
            <a:srgbClr val="66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主机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广播发送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请求分组 </a:t>
            </a:r>
          </a:p>
        </p:txBody>
      </p:sp>
      <p:sp>
        <p:nvSpPr>
          <p:cNvPr id="799764" name="Text Box 48"/>
          <p:cNvSpPr txBox="1">
            <a:spLocks noChangeArrowheads="1"/>
          </p:cNvSpPr>
          <p:nvPr/>
        </p:nvSpPr>
        <p:spPr bwMode="auto">
          <a:xfrm>
            <a:off x="2882900" y="1473200"/>
            <a:ext cx="1309688" cy="40005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799765" name="AutoShape 49"/>
          <p:cNvSpPr>
            <a:spLocks noChangeArrowheads="1"/>
          </p:cNvSpPr>
          <p:nvPr/>
        </p:nvSpPr>
        <p:spPr bwMode="auto">
          <a:xfrm>
            <a:off x="4302125" y="1570038"/>
            <a:ext cx="234950" cy="204787"/>
          </a:xfrm>
          <a:prstGeom prst="rightArrow">
            <a:avLst>
              <a:gd name="adj1" fmla="val 50000"/>
              <a:gd name="adj2" fmla="val 26473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66" name="Text Box 50"/>
          <p:cNvSpPr txBox="1">
            <a:spLocks noChangeArrowheads="1"/>
          </p:cNvSpPr>
          <p:nvPr/>
        </p:nvSpPr>
        <p:spPr bwMode="auto">
          <a:xfrm>
            <a:off x="4967288" y="1473200"/>
            <a:ext cx="1309687" cy="40005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799767" name="AutoShape 51"/>
          <p:cNvSpPr>
            <a:spLocks noChangeArrowheads="1"/>
          </p:cNvSpPr>
          <p:nvPr/>
        </p:nvSpPr>
        <p:spPr bwMode="auto">
          <a:xfrm>
            <a:off x="6353175" y="1595438"/>
            <a:ext cx="234950" cy="220662"/>
          </a:xfrm>
          <a:prstGeom prst="rightArrow">
            <a:avLst>
              <a:gd name="adj1" fmla="val 50000"/>
              <a:gd name="adj2" fmla="val 24928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68" name="Text Box 52"/>
          <p:cNvSpPr txBox="1">
            <a:spLocks noChangeArrowheads="1"/>
          </p:cNvSpPr>
          <p:nvPr/>
        </p:nvSpPr>
        <p:spPr bwMode="auto">
          <a:xfrm>
            <a:off x="7010400" y="1473200"/>
            <a:ext cx="1309688" cy="40005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799769" name="AutoShape 53"/>
          <p:cNvSpPr>
            <a:spLocks noChangeArrowheads="1"/>
          </p:cNvSpPr>
          <p:nvPr/>
        </p:nvSpPr>
        <p:spPr bwMode="auto">
          <a:xfrm>
            <a:off x="8418513" y="1558925"/>
            <a:ext cx="236537" cy="220663"/>
          </a:xfrm>
          <a:prstGeom prst="rightArrow">
            <a:avLst>
              <a:gd name="adj1" fmla="val 50000"/>
              <a:gd name="adj2" fmla="val 25096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219229" name="Group 93"/>
          <p:cNvGrpSpPr/>
          <p:nvPr/>
        </p:nvGrpSpPr>
        <p:grpSpPr bwMode="auto">
          <a:xfrm>
            <a:off x="559229" y="1485901"/>
            <a:ext cx="1723231" cy="409575"/>
            <a:chOff x="249" y="663"/>
            <a:chExt cx="1002" cy="258"/>
          </a:xfrm>
          <a:solidFill>
            <a:srgbClr val="FF99FF"/>
          </a:solidFill>
        </p:grpSpPr>
        <p:sp>
          <p:nvSpPr>
            <p:cNvPr id="219141" name="AutoShape 5"/>
            <p:cNvSpPr>
              <a:spLocks noChangeArrowheads="1"/>
            </p:cNvSpPr>
            <p:nvPr/>
          </p:nvSpPr>
          <p:spPr bwMode="auto">
            <a:xfrm flipH="1">
              <a:off x="249" y="709"/>
              <a:ext cx="138" cy="139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9190" name="Text Box 54"/>
            <p:cNvSpPr txBox="1">
              <a:spLocks noChangeArrowheads="1"/>
            </p:cNvSpPr>
            <p:nvPr/>
          </p:nvSpPr>
          <p:spPr bwMode="auto">
            <a:xfrm flipH="1">
              <a:off x="386" y="663"/>
              <a:ext cx="865" cy="2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ARP </a:t>
              </a:r>
              <a:r>
                <a:rPr kumimoji="1" lang="zh-CN" altLang="en-US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请求</a:t>
              </a:r>
            </a:p>
          </p:txBody>
        </p:sp>
      </p:grpSp>
      <p:sp>
        <p:nvSpPr>
          <p:cNvPr id="799771" name="Text Box 55"/>
          <p:cNvSpPr txBox="1">
            <a:spLocks noChangeArrowheads="1"/>
          </p:cNvSpPr>
          <p:nvPr/>
        </p:nvSpPr>
        <p:spPr bwMode="auto">
          <a:xfrm>
            <a:off x="2413000" y="2241550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209.0.0.5</a:t>
            </a:r>
          </a:p>
        </p:txBody>
      </p:sp>
      <p:sp>
        <p:nvSpPr>
          <p:cNvPr id="799772" name="Text Box 56"/>
          <p:cNvSpPr txBox="1">
            <a:spLocks noChangeArrowheads="1"/>
          </p:cNvSpPr>
          <p:nvPr/>
        </p:nvSpPr>
        <p:spPr bwMode="auto">
          <a:xfrm>
            <a:off x="6391275" y="2135188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</a:t>
            </a:r>
          </a:p>
        </p:txBody>
      </p:sp>
      <p:sp>
        <p:nvSpPr>
          <p:cNvPr id="799773" name="Text Box 57"/>
          <p:cNvSpPr txBox="1">
            <a:spLocks noChangeArrowheads="1"/>
          </p:cNvSpPr>
          <p:nvPr/>
        </p:nvSpPr>
        <p:spPr bwMode="auto">
          <a:xfrm>
            <a:off x="1184275" y="2960688"/>
            <a:ext cx="2436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00-00-C0-15-AD-18</a:t>
            </a:r>
          </a:p>
        </p:txBody>
      </p:sp>
      <p:sp>
        <p:nvSpPr>
          <p:cNvPr id="219194" name="Text Box 58"/>
          <p:cNvSpPr txBox="1">
            <a:spLocks noChangeArrowheads="1"/>
          </p:cNvSpPr>
          <p:nvPr/>
        </p:nvSpPr>
        <p:spPr bwMode="auto">
          <a:xfrm>
            <a:off x="5094288" y="6237288"/>
            <a:ext cx="2465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08-00-2B-00-EE-0A</a:t>
            </a:r>
          </a:p>
        </p:txBody>
      </p:sp>
      <p:sp>
        <p:nvSpPr>
          <p:cNvPr id="799775" name="AutoShape 59"/>
          <p:cNvSpPr>
            <a:spLocks noChangeArrowheads="1"/>
          </p:cNvSpPr>
          <p:nvPr/>
        </p:nvSpPr>
        <p:spPr bwMode="auto">
          <a:xfrm>
            <a:off x="3435350" y="592138"/>
            <a:ext cx="6103938" cy="661987"/>
          </a:xfrm>
          <a:prstGeom prst="wedgeRoundRectCallout">
            <a:avLst>
              <a:gd name="adj1" fmla="val -51181"/>
              <a:gd name="adj2" fmla="val 85972"/>
              <a:gd name="adj3" fmla="val 16667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endParaRPr lang="zh-CN" altLang="zh-CN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76" name="Text Box 60"/>
          <p:cNvSpPr txBox="1">
            <a:spLocks noChangeArrowheads="1"/>
          </p:cNvSpPr>
          <p:nvPr/>
        </p:nvSpPr>
        <p:spPr bwMode="auto">
          <a:xfrm>
            <a:off x="3511550" y="558800"/>
            <a:ext cx="58848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我是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209.0.0.5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，硬件地址是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00-00-C0-15-AD-18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我想知道主机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的硬件地址</a:t>
            </a:r>
          </a:p>
        </p:txBody>
      </p:sp>
      <p:sp>
        <p:nvSpPr>
          <p:cNvPr id="799777" name="AutoShape 61"/>
          <p:cNvSpPr>
            <a:spLocks noChangeArrowheads="1"/>
          </p:cNvSpPr>
          <p:nvPr/>
        </p:nvSpPr>
        <p:spPr bwMode="auto">
          <a:xfrm>
            <a:off x="5248275" y="3933825"/>
            <a:ext cx="4217988" cy="727075"/>
          </a:xfrm>
          <a:prstGeom prst="wedgeRoundRectCallout">
            <a:avLst>
              <a:gd name="adj1" fmla="val -44574"/>
              <a:gd name="adj2" fmla="val 81657"/>
              <a:gd name="adj3" fmla="val 16667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endParaRPr lang="zh-CN" altLang="zh-CN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78" name="Text Box 62"/>
          <p:cNvSpPr txBox="1">
            <a:spLocks noChangeArrowheads="1"/>
          </p:cNvSpPr>
          <p:nvPr/>
        </p:nvSpPr>
        <p:spPr bwMode="auto">
          <a:xfrm>
            <a:off x="5318125" y="3933825"/>
            <a:ext cx="42211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我是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硬件地址是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08-00-2B-00-EE-0A</a:t>
            </a:r>
          </a:p>
        </p:txBody>
      </p:sp>
      <p:pic>
        <p:nvPicPr>
          <p:cNvPr id="799779" name="Picture 6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8" y="2459038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80" name="Line 74"/>
          <p:cNvSpPr>
            <a:spLocks noChangeShapeType="1"/>
          </p:cNvSpPr>
          <p:nvPr/>
        </p:nvSpPr>
        <p:spPr bwMode="auto">
          <a:xfrm rot="5400000">
            <a:off x="1955800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1" name="Line 75"/>
          <p:cNvSpPr>
            <a:spLocks noChangeShapeType="1"/>
          </p:cNvSpPr>
          <p:nvPr/>
        </p:nvSpPr>
        <p:spPr bwMode="auto">
          <a:xfrm rot="5400000">
            <a:off x="4139406" y="5612607"/>
            <a:ext cx="588963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2" name="Line 76"/>
          <p:cNvSpPr>
            <a:spLocks noChangeShapeType="1"/>
          </p:cNvSpPr>
          <p:nvPr/>
        </p:nvSpPr>
        <p:spPr bwMode="auto">
          <a:xfrm rot="5400000">
            <a:off x="6016625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3" name="Line 77"/>
          <p:cNvSpPr>
            <a:spLocks noChangeShapeType="1"/>
          </p:cNvSpPr>
          <p:nvPr/>
        </p:nvSpPr>
        <p:spPr bwMode="auto">
          <a:xfrm rot="5400000">
            <a:off x="8229600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4" name="Line 78"/>
          <p:cNvSpPr>
            <a:spLocks noChangeShapeType="1"/>
          </p:cNvSpPr>
          <p:nvPr/>
        </p:nvSpPr>
        <p:spPr bwMode="auto">
          <a:xfrm rot="5400000">
            <a:off x="538162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799785" name="Picture 7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5768975"/>
            <a:ext cx="54451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86" name="Picture 8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5768975"/>
            <a:ext cx="5429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87" name="Picture 8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88" y="5768975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88" name="Picture 8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5768975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89" name="Line 83"/>
          <p:cNvSpPr>
            <a:spLocks noChangeShapeType="1"/>
          </p:cNvSpPr>
          <p:nvPr/>
        </p:nvSpPr>
        <p:spPr bwMode="auto">
          <a:xfrm>
            <a:off x="6350" y="5327650"/>
            <a:ext cx="9299575" cy="20638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90" name="Text Box 84"/>
          <p:cNvSpPr txBox="1">
            <a:spLocks noChangeArrowheads="1"/>
          </p:cNvSpPr>
          <p:nvPr/>
        </p:nvSpPr>
        <p:spPr bwMode="auto">
          <a:xfrm>
            <a:off x="2463800" y="5838825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799791" name="Text Box 85"/>
          <p:cNvSpPr txBox="1">
            <a:spLocks noChangeArrowheads="1"/>
          </p:cNvSpPr>
          <p:nvPr/>
        </p:nvSpPr>
        <p:spPr bwMode="auto">
          <a:xfrm>
            <a:off x="4619625" y="57150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799792" name="Text Box 86"/>
          <p:cNvSpPr txBox="1">
            <a:spLocks noChangeArrowheads="1"/>
          </p:cNvSpPr>
          <p:nvPr/>
        </p:nvSpPr>
        <p:spPr bwMode="auto">
          <a:xfrm>
            <a:off x="1027113" y="57150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99793" name="Text Box 87"/>
          <p:cNvSpPr txBox="1">
            <a:spLocks noChangeArrowheads="1"/>
          </p:cNvSpPr>
          <p:nvPr/>
        </p:nvSpPr>
        <p:spPr bwMode="auto">
          <a:xfrm>
            <a:off x="6503988" y="5838825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799794" name="Text Box 88"/>
          <p:cNvSpPr txBox="1">
            <a:spLocks noChangeArrowheads="1"/>
          </p:cNvSpPr>
          <p:nvPr/>
        </p:nvSpPr>
        <p:spPr bwMode="auto">
          <a:xfrm>
            <a:off x="8724900" y="5715000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Z</a:t>
            </a:r>
          </a:p>
        </p:txBody>
      </p:sp>
      <p:sp>
        <p:nvSpPr>
          <p:cNvPr id="799795" name="Text Box 89"/>
          <p:cNvSpPr txBox="1">
            <a:spLocks noChangeArrowheads="1"/>
          </p:cNvSpPr>
          <p:nvPr/>
        </p:nvSpPr>
        <p:spPr bwMode="auto">
          <a:xfrm>
            <a:off x="2289175" y="5551488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209.0.0.5</a:t>
            </a:r>
          </a:p>
        </p:txBody>
      </p:sp>
      <p:sp>
        <p:nvSpPr>
          <p:cNvPr id="799796" name="Text Box 90"/>
          <p:cNvSpPr txBox="1">
            <a:spLocks noChangeArrowheads="1"/>
          </p:cNvSpPr>
          <p:nvPr/>
        </p:nvSpPr>
        <p:spPr bwMode="auto">
          <a:xfrm>
            <a:off x="6267450" y="5445125"/>
            <a:ext cx="125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</a:t>
            </a:r>
          </a:p>
        </p:txBody>
      </p:sp>
      <p:sp>
        <p:nvSpPr>
          <p:cNvPr id="799797" name="Text Box 91"/>
          <p:cNvSpPr txBox="1">
            <a:spLocks noChangeArrowheads="1"/>
          </p:cNvSpPr>
          <p:nvPr/>
        </p:nvSpPr>
        <p:spPr bwMode="auto">
          <a:xfrm>
            <a:off x="1265238" y="6270625"/>
            <a:ext cx="2436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00-00-C0-15-AD-18</a:t>
            </a:r>
          </a:p>
        </p:txBody>
      </p:sp>
      <p:pic>
        <p:nvPicPr>
          <p:cNvPr id="799798" name="Picture 9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5768975"/>
            <a:ext cx="54451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9233" name="Freeform 97"/>
          <p:cNvSpPr>
            <a:spLocks noChangeArrowheads="1"/>
          </p:cNvSpPr>
          <p:nvPr/>
        </p:nvSpPr>
        <p:spPr bwMode="auto">
          <a:xfrm>
            <a:off x="2354263" y="2095500"/>
            <a:ext cx="2105025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4" name="Freeform 98"/>
          <p:cNvSpPr>
            <a:spLocks noChangeArrowheads="1"/>
          </p:cNvSpPr>
          <p:nvPr/>
        </p:nvSpPr>
        <p:spPr bwMode="auto">
          <a:xfrm>
            <a:off x="2352675" y="2095500"/>
            <a:ext cx="3979863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7" name="Freeform 101"/>
          <p:cNvSpPr>
            <a:spLocks noChangeArrowheads="1"/>
          </p:cNvSpPr>
          <p:nvPr/>
        </p:nvSpPr>
        <p:spPr bwMode="auto">
          <a:xfrm>
            <a:off x="2352675" y="2095500"/>
            <a:ext cx="6319838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8" name="Freeform 102"/>
          <p:cNvSpPr>
            <a:spLocks noChangeArrowheads="1"/>
          </p:cNvSpPr>
          <p:nvPr/>
        </p:nvSpPr>
        <p:spPr bwMode="auto">
          <a:xfrm flipH="1">
            <a:off x="871538" y="2095500"/>
            <a:ext cx="1481137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9" name="Freeform 103"/>
          <p:cNvSpPr>
            <a:spLocks noChangeArrowheads="1"/>
          </p:cNvSpPr>
          <p:nvPr/>
        </p:nvSpPr>
        <p:spPr bwMode="auto">
          <a:xfrm flipH="1">
            <a:off x="2206625" y="5407025"/>
            <a:ext cx="3979863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80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72C7C5-83A0-4E8A-95B4-77ACD26F7931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79980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1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35" presetClass="emph" presetSubtype="0" repeatCount="4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21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21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8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21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81" grpId="0" animBg="1"/>
      <p:bldP spid="219182" grpId="0" animBg="1"/>
      <p:bldP spid="219194" grpId="0"/>
      <p:bldP spid="219233" grpId="0" animBg="1"/>
      <p:bldP spid="219234" grpId="0" animBg="1"/>
      <p:bldP spid="219237" grpId="0" animBg="1"/>
      <p:bldP spid="219238" grpId="0" animBg="1"/>
      <p:bldP spid="2192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高速缓存的作用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342900" lvl="1" indent="-342900">
              <a:buClr>
                <a:srgbClr val="333399"/>
              </a:buClr>
              <a:buSzPct val="75000"/>
            </a:pP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存放最近获得的 </a:t>
            </a:r>
            <a:r>
              <a:rPr lang="en-US" altLang="zh-CN" sz="320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地址到 </a:t>
            </a:r>
            <a:r>
              <a:rPr lang="en-US" altLang="zh-CN" sz="3200" smtClean="0">
                <a:solidFill>
                  <a:srgbClr val="FF0000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地址的绑定，以减少 </a:t>
            </a:r>
            <a:r>
              <a:rPr lang="en-US" altLang="zh-CN" sz="3200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广播的数量。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为了减少网络上的通信量，主机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在发送其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请求分组时，就将自己的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地址到硬件地址的映射写入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请求分组。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当主机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收到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的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请求分组时，就将主机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的这一地址映射写入主机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自己的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高速缓存中。这对主机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以后向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发送数据报时就更方便了。 </a:t>
            </a:r>
          </a:p>
        </p:txBody>
      </p:sp>
      <p:sp>
        <p:nvSpPr>
          <p:cNvPr id="801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FBAD87-A0C4-4D02-93D8-C8C7BD43278A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8017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应当注意的问题</a:t>
            </a:r>
            <a:endParaRPr lang="zh-CN" altLang="en-US" sz="3600" smtClean="0">
              <a:ea typeface="黑体" panose="02010609060101010101" pitchFamily="49" charset="-122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是解决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同一个局域网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上的主机或路由器的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IP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地址和硬件地址的映射问题。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如果所要找的主机和源主机不在同一个局域网上，那么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就要通过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找到一个位于本局域网上的某个路由器的硬件地址，</a:t>
            </a:r>
            <a:r>
              <a:rPr lang="zh-CN" altLang="en-US" smtClean="0">
                <a:ea typeface="黑体" panose="02010609060101010101" pitchFamily="49" charset="-122"/>
              </a:rPr>
              <a:t>然后把分组发送给这个路由器，让这个路由器把分组转发给下一个网络。剩下的工作就由下一个网络来做。</a:t>
            </a:r>
          </a:p>
        </p:txBody>
      </p:sp>
      <p:sp>
        <p:nvSpPr>
          <p:cNvPr id="8038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B738D7-6662-4F0B-B49F-333D935552D0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8038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应当注意的问题（续）</a:t>
            </a:r>
            <a:endParaRPr lang="zh-CN" altLang="en-US" sz="3600" smtClean="0">
              <a:ea typeface="黑体" panose="02010609060101010101" pitchFamily="49" charset="-122"/>
            </a:endParaRPr>
          </a:p>
        </p:txBody>
      </p:sp>
      <p:sp>
        <p:nvSpPr>
          <p:cNvPr id="46387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从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地址到硬件地址的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解析是自动进行</a:t>
            </a:r>
            <a:r>
              <a:rPr lang="zh-CN" altLang="en-US" smtClean="0">
                <a:ea typeface="黑体" panose="02010609060101010101" pitchFamily="49" charset="-122"/>
              </a:rPr>
              <a:t>的，主机的用户对这种地址解析过程是不知道的。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只要主机或路由器要和本网络上的另一个已知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地址的主机或路由器进行通信，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协议就会自动地将该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地址解析为链路层所需要的硬件地址。  </a:t>
            </a:r>
          </a:p>
        </p:txBody>
      </p:sp>
      <p:sp>
        <p:nvSpPr>
          <p:cNvPr id="8058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57B961-79F8-4FAF-A124-A9B36C7DD6AE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8058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使用 </a:t>
            </a:r>
            <a:r>
              <a:rPr lang="en-US" altLang="zh-CN" sz="4000" smtClean="0">
                <a:ea typeface="黑体" panose="02010609060101010101" pitchFamily="49" charset="-122"/>
              </a:rPr>
              <a:t>ARP </a:t>
            </a:r>
            <a:r>
              <a:rPr lang="zh-CN" altLang="en-US" sz="4000" smtClean="0">
                <a:ea typeface="黑体" panose="02010609060101010101" pitchFamily="49" charset="-122"/>
              </a:rPr>
              <a:t>的四种典型情况 </a:t>
            </a:r>
          </a:p>
        </p:txBody>
      </p:sp>
      <p:grpSp>
        <p:nvGrpSpPr>
          <p:cNvPr id="807938" name="组合 2"/>
          <p:cNvGrpSpPr>
            <a:grpSpLocks/>
          </p:cNvGrpSpPr>
          <p:nvPr/>
        </p:nvGrpSpPr>
        <p:grpSpPr bwMode="auto">
          <a:xfrm>
            <a:off x="704850" y="1700213"/>
            <a:ext cx="8640763" cy="2038350"/>
            <a:chOff x="1356026" y="1812432"/>
            <a:chExt cx="6915630" cy="1472875"/>
          </a:xfrm>
        </p:grpSpPr>
        <p:grpSp>
          <p:nvGrpSpPr>
            <p:cNvPr id="807939" name="Group 244"/>
            <p:cNvGrpSpPr>
              <a:grpSpLocks/>
            </p:cNvGrpSpPr>
            <p:nvPr/>
          </p:nvGrpSpPr>
          <p:grpSpPr bwMode="auto">
            <a:xfrm>
              <a:off x="1812118" y="2193107"/>
              <a:ext cx="1231900" cy="863600"/>
              <a:chOff x="912" y="768"/>
              <a:chExt cx="2400" cy="1584"/>
            </a:xfrm>
          </p:grpSpPr>
          <p:sp>
            <p:nvSpPr>
              <p:cNvPr id="807940" name="Oval 245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1" name="Oval 246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2" name="Oval 247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3" name="Oval 248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4" name="Oval 249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5" name="Oval 250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6" name="Oval 251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7" name="Oval 252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8" name="Oval 253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07949" name="Group 254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07950" name="Oval 255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1" name="Oval 256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2" name="Oval 257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3" name="Oval 258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4" name="Oval 259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5" name="Oval 260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6" name="Oval 261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7" name="Oval 262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8" name="Oval 263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07959" name="Line 95"/>
            <p:cNvSpPr>
              <a:spLocks noChangeShapeType="1"/>
            </p:cNvSpPr>
            <p:nvPr/>
          </p:nvSpPr>
          <p:spPr bwMode="auto">
            <a:xfrm flipV="1">
              <a:off x="3044018" y="2588394"/>
              <a:ext cx="4810125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07960" name="Group 284"/>
            <p:cNvGrpSpPr>
              <a:grpSpLocks/>
            </p:cNvGrpSpPr>
            <p:nvPr/>
          </p:nvGrpSpPr>
          <p:grpSpPr bwMode="auto">
            <a:xfrm>
              <a:off x="6917518" y="2218507"/>
              <a:ext cx="1231900" cy="863600"/>
              <a:chOff x="912" y="768"/>
              <a:chExt cx="2400" cy="1584"/>
            </a:xfrm>
          </p:grpSpPr>
          <p:sp>
            <p:nvSpPr>
              <p:cNvPr id="807961" name="Oval 285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2" name="Oval 286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3" name="Oval 287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4" name="Oval 288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5" name="Oval 289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6" name="Oval 290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7" name="Oval 291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8" name="Oval 292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9" name="Oval 293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07970" name="Group 294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07971" name="Oval 295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2" name="Oval 296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3" name="Oval 297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4" name="Oval 298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5" name="Oval 299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6" name="Oval 300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7" name="Oval 301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8" name="Oval 302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9" name="Oval 303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807980" name="Group 264"/>
            <p:cNvGrpSpPr>
              <a:grpSpLocks/>
            </p:cNvGrpSpPr>
            <p:nvPr/>
          </p:nvGrpSpPr>
          <p:grpSpPr bwMode="auto">
            <a:xfrm>
              <a:off x="4402918" y="2193107"/>
              <a:ext cx="1231900" cy="863600"/>
              <a:chOff x="912" y="768"/>
              <a:chExt cx="2400" cy="1584"/>
            </a:xfrm>
          </p:grpSpPr>
          <p:sp>
            <p:nvSpPr>
              <p:cNvPr id="807981" name="Oval 265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2" name="Oval 266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3" name="Oval 267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4" name="Oval 268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5" name="Oval 269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6" name="Oval 270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7" name="Oval 271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8" name="Oval 272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9" name="Oval 273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07990" name="Group 274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07991" name="Oval 275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2" name="Oval 276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3" name="Oval 277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4" name="Oval 278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5" name="Oval 279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6" name="Oval 280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7" name="Oval 281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8" name="Oval 282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9" name="Oval 283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08000" name="Text Box 96"/>
            <p:cNvSpPr txBox="1">
              <a:spLocks noChangeArrowheads="1"/>
            </p:cNvSpPr>
            <p:nvPr/>
          </p:nvSpPr>
          <p:spPr bwMode="auto">
            <a:xfrm>
              <a:off x="2118699" y="2512334"/>
              <a:ext cx="600669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08001" name="Text Box 98"/>
            <p:cNvSpPr txBox="1">
              <a:spLocks noChangeArrowheads="1"/>
            </p:cNvSpPr>
            <p:nvPr/>
          </p:nvSpPr>
          <p:spPr bwMode="auto">
            <a:xfrm>
              <a:off x="7285638" y="2489243"/>
              <a:ext cx="600669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08002" name="Text Box 99"/>
            <p:cNvSpPr txBox="1">
              <a:spLocks noChangeArrowheads="1"/>
            </p:cNvSpPr>
            <p:nvPr/>
          </p:nvSpPr>
          <p:spPr bwMode="auto">
            <a:xfrm>
              <a:off x="4764687" y="2489243"/>
              <a:ext cx="600669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pic>
          <p:nvPicPr>
            <p:cNvPr id="808003" name="Picture 23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5018" y="2428057"/>
              <a:ext cx="695325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004" name="Text Box 235"/>
            <p:cNvSpPr txBox="1">
              <a:spLocks noChangeArrowheads="1"/>
            </p:cNvSpPr>
            <p:nvPr/>
          </p:nvSpPr>
          <p:spPr bwMode="auto">
            <a:xfrm>
              <a:off x="6176156" y="2080394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C00000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4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05" name="Text Box 237"/>
            <p:cNvSpPr txBox="1">
              <a:spLocks noChangeArrowheads="1"/>
            </p:cNvSpPr>
            <p:nvPr/>
          </p:nvSpPr>
          <p:spPr bwMode="auto">
            <a:xfrm>
              <a:off x="3526618" y="2089919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C00000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4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06" name="Text Box 325"/>
            <p:cNvSpPr txBox="1">
              <a:spLocks noChangeArrowheads="1"/>
            </p:cNvSpPr>
            <p:nvPr/>
          </p:nvSpPr>
          <p:spPr bwMode="auto">
            <a:xfrm>
              <a:off x="1356026" y="1886719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808007" name="Picture 327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956" y="2405832"/>
              <a:ext cx="695325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008" name="Oval 333"/>
            <p:cNvSpPr>
              <a:spLocks noChangeArrowheads="1"/>
            </p:cNvSpPr>
            <p:nvPr/>
          </p:nvSpPr>
          <p:spPr bwMode="auto">
            <a:xfrm>
              <a:off x="4225118" y="2559819"/>
              <a:ext cx="71438" cy="714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09" name="Oval 335"/>
            <p:cNvSpPr>
              <a:spLocks noChangeArrowheads="1"/>
            </p:cNvSpPr>
            <p:nvPr/>
          </p:nvSpPr>
          <p:spPr bwMode="auto">
            <a:xfrm>
              <a:off x="3156731" y="2567757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10" name="Oval 337"/>
            <p:cNvSpPr>
              <a:spLocks noChangeArrowheads="1"/>
            </p:cNvSpPr>
            <p:nvPr/>
          </p:nvSpPr>
          <p:spPr bwMode="auto">
            <a:xfrm>
              <a:off x="6817506" y="2570932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11" name="Oval 338"/>
            <p:cNvSpPr>
              <a:spLocks noChangeArrowheads="1"/>
            </p:cNvSpPr>
            <p:nvPr/>
          </p:nvSpPr>
          <p:spPr bwMode="auto">
            <a:xfrm>
              <a:off x="5823731" y="2567757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808012" name="Picture 34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468" y="2026419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8013" name="Picture 34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6581" y="2872557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8014" name="Picture 3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8256" y="1935932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8015" name="Picture 35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2081" y="2007369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016" name="Text Box 351"/>
            <p:cNvSpPr txBox="1">
              <a:spLocks noChangeArrowheads="1"/>
            </p:cNvSpPr>
            <p:nvPr/>
          </p:nvSpPr>
          <p:spPr bwMode="auto">
            <a:xfrm>
              <a:off x="1643363" y="2799532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08017" name="Text Box 352"/>
            <p:cNvSpPr txBox="1">
              <a:spLocks noChangeArrowheads="1"/>
            </p:cNvSpPr>
            <p:nvPr/>
          </p:nvSpPr>
          <p:spPr bwMode="auto">
            <a:xfrm>
              <a:off x="4871471" y="1812432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08018" name="Text Box 353"/>
            <p:cNvSpPr txBox="1">
              <a:spLocks noChangeArrowheads="1"/>
            </p:cNvSpPr>
            <p:nvPr/>
          </p:nvSpPr>
          <p:spPr bwMode="auto">
            <a:xfrm>
              <a:off x="7522463" y="1916557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80801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B77C5F-B62A-4A06-9A6E-A810AC2734C0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808020" name="页脚占位符 8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使用 </a:t>
            </a:r>
            <a:r>
              <a:rPr lang="en-US" altLang="zh-CN" sz="4000" smtClean="0">
                <a:ea typeface="黑体" panose="02010609060101010101" pitchFamily="49" charset="-122"/>
              </a:rPr>
              <a:t>ARP </a:t>
            </a:r>
            <a:r>
              <a:rPr lang="zh-CN" altLang="en-US" sz="4000" smtClean="0">
                <a:ea typeface="黑体" panose="02010609060101010101" pitchFamily="49" charset="-122"/>
              </a:rPr>
              <a:t>的四种典型情况 </a:t>
            </a:r>
          </a:p>
        </p:txBody>
      </p:sp>
      <p:sp>
        <p:nvSpPr>
          <p:cNvPr id="8099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数据报发送到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本网络上的另一个主机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目的主机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 </a:t>
            </a:r>
          </a:p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数据报发送到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另一个网络上的一个主机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找到本网络上的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一个路由器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的硬件地址。剩下的工作由这个路由器来完成。 </a:t>
            </a:r>
          </a:p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数据报转发到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本网络上的一个主机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目的主机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 </a:t>
            </a:r>
          </a:p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数据报转发到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另一个网络上的一个主机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找到本网络上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另一个路由器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的硬件地址。剩下的工作由这个路由器来完成。 </a:t>
            </a:r>
          </a:p>
        </p:txBody>
      </p:sp>
      <p:sp>
        <p:nvSpPr>
          <p:cNvPr id="8099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2A522F-EA10-46D6-A10C-E3D81F7E0877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8099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en-US" sz="3200" dirty="0" smtClean="0">
                <a:ea typeface="黑体" panose="02010609060101010101" pitchFamily="49" charset="-122"/>
              </a:rPr>
              <a:t>为什么我们</a:t>
            </a:r>
            <a:r>
              <a:rPr lang="zh-CN" altLang="en-US" sz="3200" dirty="0" smtClean="0">
                <a:ea typeface="黑体" panose="02010609060101010101" pitchFamily="49" charset="-122"/>
              </a:rPr>
              <a:t>不直接使用硬件地址进行通信？ 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600" dirty="0" smtClean="0">
                <a:ea typeface="黑体" panose="02010609060101010101" pitchFamily="49" charset="-122"/>
              </a:rPr>
              <a:t>由于全世界存在着各式各样的网络，它们使用不同的硬件地址。要使这些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异构网络</a:t>
            </a:r>
            <a:r>
              <a:rPr lang="zh-CN" altLang="en-US" sz="2600" dirty="0" smtClean="0">
                <a:ea typeface="黑体" panose="02010609060101010101" pitchFamily="49" charset="-122"/>
              </a:rPr>
              <a:t>能够互相通信就必须进行非常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复杂的硬件地址转换</a:t>
            </a:r>
            <a:r>
              <a:rPr lang="zh-CN" altLang="en-US" sz="2600" dirty="0" smtClean="0">
                <a:ea typeface="黑体" panose="02010609060101010101" pitchFamily="49" charset="-122"/>
              </a:rPr>
              <a:t>工作，因此几乎是不可能的事。</a:t>
            </a:r>
          </a:p>
          <a:p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编址把这个复杂问题解决了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r>
              <a:rPr lang="zh-CN" altLang="zh-CN" sz="2600" dirty="0" smtClean="0">
                <a:ea typeface="黑体" panose="02010609060101010101" pitchFamily="49" charset="-122"/>
              </a:rPr>
              <a:t>连接到互联网的主机只需各自拥有一个唯一的</a:t>
            </a:r>
            <a:r>
              <a:rPr lang="en-US" altLang="zh-CN" sz="2600" dirty="0" smtClean="0">
                <a:ea typeface="黑体" panose="02010609060101010101" pitchFamily="49" charset="-122"/>
              </a:rPr>
              <a:t> IP </a:t>
            </a:r>
            <a:r>
              <a:rPr lang="zh-CN" altLang="zh-CN" sz="2600" dirty="0" smtClean="0">
                <a:ea typeface="黑体" panose="02010609060101010101" pitchFamily="49" charset="-122"/>
              </a:rPr>
              <a:t>地址，它们之间的通信就像连接在同一个网络上那样简单方便，因为上述的调用</a:t>
            </a:r>
            <a:r>
              <a:rPr lang="en-US" altLang="zh-CN" sz="2600" dirty="0" smtClean="0">
                <a:ea typeface="黑体" panose="02010609060101010101" pitchFamily="49" charset="-122"/>
              </a:rPr>
              <a:t> ARP </a:t>
            </a:r>
            <a:r>
              <a:rPr lang="zh-CN" altLang="zh-CN" sz="2600" dirty="0" smtClean="0">
                <a:ea typeface="黑体" panose="02010609060101010101" pitchFamily="49" charset="-122"/>
              </a:rPr>
              <a:t>的复杂过程都是由计算机软件自动进行的，对用户来说是看不见这种调用过程的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因此，在虚拟的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网络上用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地址进行通信给广大的计算机用户带来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了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很大的方便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8120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0288CB-6F0C-458A-B77F-31BA24CDE00A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  <p:sp>
        <p:nvSpPr>
          <p:cNvPr id="8120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4.2.5  IP </a:t>
            </a:r>
            <a:r>
              <a:rPr lang="zh-CN" altLang="en-US" smtClean="0">
                <a:ea typeface="黑体" panose="02010609060101010101" pitchFamily="49" charset="-122"/>
              </a:rPr>
              <a:t>数据报的格式 </a:t>
            </a:r>
          </a:p>
        </p:txBody>
      </p:sp>
      <p:sp>
        <p:nvSpPr>
          <p:cNvPr id="814082" name="Rectangle 4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一个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数据报由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首部</a:t>
            </a:r>
            <a:r>
              <a:rPr lang="zh-CN" altLang="en-US" dirty="0" smtClean="0">
                <a:ea typeface="黑体" panose="02010609060101010101" pitchFamily="49" charset="-122"/>
              </a:rPr>
              <a:t>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数据</a:t>
            </a:r>
            <a:r>
              <a:rPr lang="zh-CN" altLang="en-US" dirty="0" smtClean="0">
                <a:ea typeface="黑体" panose="02010609060101010101" pitchFamily="49" charset="-122"/>
              </a:rPr>
              <a:t>两部分组成。</a:t>
            </a:r>
          </a:p>
          <a:p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首部的前一部分是固定长度，共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20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字节，是所有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数据报必须具有的。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在首部的固定部分的后面是一些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可选字段</a:t>
            </a:r>
            <a:r>
              <a:rPr lang="zh-CN" altLang="en-US" dirty="0" smtClean="0">
                <a:ea typeface="黑体" panose="02010609060101010101" pitchFamily="49" charset="-122"/>
              </a:rPr>
              <a:t>，其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长度是可变</a:t>
            </a:r>
            <a:r>
              <a:rPr lang="zh-CN" altLang="en-US" dirty="0" smtClean="0">
                <a:ea typeface="黑体" panose="02010609060101010101" pitchFamily="49" charset="-122"/>
              </a:rPr>
              <a:t>的。 </a:t>
            </a:r>
          </a:p>
        </p:txBody>
      </p:sp>
      <p:sp>
        <p:nvSpPr>
          <p:cNvPr id="8140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A3E18F-791C-4244-B6FB-94C5ACADC9CE}" type="slidenum">
              <a:rPr lang="zh-CN" altLang="en-US" smtClean="0"/>
              <a:pPr eaLnBrk="1" hangingPunct="1"/>
              <a:t>26</a:t>
            </a:fld>
            <a:endParaRPr lang="en-US" altLang="zh-CN" smtClean="0"/>
          </a:p>
        </p:txBody>
      </p:sp>
      <p:sp>
        <p:nvSpPr>
          <p:cNvPr id="81408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29" name="Rectangle 45"/>
          <p:cNvSpPr>
            <a:spLocks noChangeArrowheads="1"/>
          </p:cNvSpPr>
          <p:nvPr/>
        </p:nvSpPr>
        <p:spPr bwMode="auto">
          <a:xfrm>
            <a:off x="631825" y="1998663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16130" name="Rectangle 54"/>
          <p:cNvSpPr>
            <a:spLocks noChangeArrowheads="1"/>
          </p:cNvSpPr>
          <p:nvPr/>
        </p:nvSpPr>
        <p:spPr bwMode="auto">
          <a:xfrm>
            <a:off x="508000" y="3654425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16131" name="Line 6"/>
          <p:cNvSpPr>
            <a:spLocks noChangeShapeType="1"/>
          </p:cNvSpPr>
          <p:nvPr/>
        </p:nvSpPr>
        <p:spPr bwMode="auto">
          <a:xfrm>
            <a:off x="2490788" y="5911850"/>
            <a:ext cx="5870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2" name="Rectangle 8"/>
          <p:cNvSpPr>
            <a:spLocks noChangeArrowheads="1"/>
          </p:cNvSpPr>
          <p:nvPr/>
        </p:nvSpPr>
        <p:spPr bwMode="auto">
          <a:xfrm>
            <a:off x="3351213" y="1597025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3" name="Rectangle 90"/>
          <p:cNvSpPr>
            <a:spLocks noChangeArrowheads="1"/>
          </p:cNvSpPr>
          <p:nvPr/>
        </p:nvSpPr>
        <p:spPr bwMode="auto">
          <a:xfrm>
            <a:off x="2457450" y="5221288"/>
            <a:ext cx="1560513" cy="4492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4" name="Rectangle 10"/>
          <p:cNvSpPr>
            <a:spLocks noChangeArrowheads="1"/>
          </p:cNvSpPr>
          <p:nvPr/>
        </p:nvSpPr>
        <p:spPr bwMode="auto">
          <a:xfrm>
            <a:off x="1231900" y="1587500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5" name="Rectangle 11"/>
          <p:cNvSpPr>
            <a:spLocks noChangeArrowheads="1"/>
          </p:cNvSpPr>
          <p:nvPr/>
        </p:nvSpPr>
        <p:spPr bwMode="auto">
          <a:xfrm>
            <a:off x="1246188" y="4241800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6" name="Line 12"/>
          <p:cNvSpPr>
            <a:spLocks noChangeShapeType="1"/>
          </p:cNvSpPr>
          <p:nvPr/>
        </p:nvSpPr>
        <p:spPr bwMode="auto">
          <a:xfrm>
            <a:off x="1225550" y="20383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7" name="Line 13"/>
          <p:cNvSpPr>
            <a:spLocks noChangeShapeType="1"/>
          </p:cNvSpPr>
          <p:nvPr/>
        </p:nvSpPr>
        <p:spPr bwMode="auto">
          <a:xfrm>
            <a:off x="1225550" y="2481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8" name="Line 14"/>
          <p:cNvSpPr>
            <a:spLocks noChangeShapeType="1"/>
          </p:cNvSpPr>
          <p:nvPr/>
        </p:nvSpPr>
        <p:spPr bwMode="auto">
          <a:xfrm>
            <a:off x="1225550" y="29257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9" name="Line 15"/>
          <p:cNvSpPr>
            <a:spLocks noChangeShapeType="1"/>
          </p:cNvSpPr>
          <p:nvPr/>
        </p:nvSpPr>
        <p:spPr bwMode="auto">
          <a:xfrm>
            <a:off x="1225550" y="33639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0" name="Line 16"/>
          <p:cNvSpPr>
            <a:spLocks noChangeShapeType="1"/>
          </p:cNvSpPr>
          <p:nvPr/>
        </p:nvSpPr>
        <p:spPr bwMode="auto">
          <a:xfrm>
            <a:off x="1225550" y="38084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1" name="Line 17"/>
          <p:cNvSpPr>
            <a:spLocks noChangeShapeType="1"/>
          </p:cNvSpPr>
          <p:nvPr/>
        </p:nvSpPr>
        <p:spPr bwMode="auto">
          <a:xfrm>
            <a:off x="22748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2" name="Line 18"/>
          <p:cNvSpPr>
            <a:spLocks noChangeShapeType="1"/>
          </p:cNvSpPr>
          <p:nvPr/>
        </p:nvSpPr>
        <p:spPr bwMode="auto">
          <a:xfrm>
            <a:off x="33416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3" name="Line 19"/>
          <p:cNvSpPr>
            <a:spLocks noChangeShapeType="1"/>
          </p:cNvSpPr>
          <p:nvPr/>
        </p:nvSpPr>
        <p:spPr bwMode="auto">
          <a:xfrm>
            <a:off x="3341688" y="2490788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4" name="Line 20"/>
          <p:cNvSpPr>
            <a:spLocks noChangeShapeType="1"/>
          </p:cNvSpPr>
          <p:nvPr/>
        </p:nvSpPr>
        <p:spPr bwMode="auto">
          <a:xfrm>
            <a:off x="5478463" y="1595438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5" name="Line 21"/>
          <p:cNvSpPr>
            <a:spLocks noChangeShapeType="1"/>
          </p:cNvSpPr>
          <p:nvPr/>
        </p:nvSpPr>
        <p:spPr bwMode="auto">
          <a:xfrm flipV="1">
            <a:off x="7615238" y="3803650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6" name="Line 22"/>
          <p:cNvSpPr>
            <a:spLocks noChangeShapeType="1"/>
          </p:cNvSpPr>
          <p:nvPr/>
        </p:nvSpPr>
        <p:spPr bwMode="auto">
          <a:xfrm>
            <a:off x="6348413" y="2047875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7" name="Rectangle 23"/>
          <p:cNvSpPr>
            <a:spLocks noChangeArrowheads="1"/>
          </p:cNvSpPr>
          <p:nvPr/>
        </p:nvSpPr>
        <p:spPr bwMode="auto">
          <a:xfrm>
            <a:off x="1169988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16148" name="Rectangle 24"/>
          <p:cNvSpPr>
            <a:spLocks noChangeArrowheads="1"/>
          </p:cNvSpPr>
          <p:nvPr/>
        </p:nvSpPr>
        <p:spPr bwMode="auto">
          <a:xfrm>
            <a:off x="2182813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16149" name="Rectangle 25"/>
          <p:cNvSpPr>
            <a:spLocks noChangeArrowheads="1"/>
          </p:cNvSpPr>
          <p:nvPr/>
        </p:nvSpPr>
        <p:spPr bwMode="auto">
          <a:xfrm>
            <a:off x="3260725" y="1208088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16150" name="Rectangle 26"/>
          <p:cNvSpPr>
            <a:spLocks noChangeArrowheads="1"/>
          </p:cNvSpPr>
          <p:nvPr/>
        </p:nvSpPr>
        <p:spPr bwMode="auto">
          <a:xfrm>
            <a:off x="53736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16151" name="Rectangle 27"/>
          <p:cNvSpPr>
            <a:spLocks noChangeArrowheads="1"/>
          </p:cNvSpPr>
          <p:nvPr/>
        </p:nvSpPr>
        <p:spPr bwMode="auto">
          <a:xfrm>
            <a:off x="62372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16152" name="Rectangle 28"/>
          <p:cNvSpPr>
            <a:spLocks noChangeArrowheads="1"/>
          </p:cNvSpPr>
          <p:nvPr/>
        </p:nvSpPr>
        <p:spPr bwMode="auto">
          <a:xfrm>
            <a:off x="7510463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16153" name="Rectangle 29"/>
          <p:cNvSpPr>
            <a:spLocks noChangeArrowheads="1"/>
          </p:cNvSpPr>
          <p:nvPr/>
        </p:nvSpPr>
        <p:spPr bwMode="auto">
          <a:xfrm>
            <a:off x="9366250" y="1208088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16154" name="Rectangle 30"/>
          <p:cNvSpPr>
            <a:spLocks noChangeArrowheads="1"/>
          </p:cNvSpPr>
          <p:nvPr/>
        </p:nvSpPr>
        <p:spPr bwMode="auto">
          <a:xfrm>
            <a:off x="1331913" y="1622425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16155" name="Rectangle 31"/>
          <p:cNvSpPr>
            <a:spLocks noChangeArrowheads="1"/>
          </p:cNvSpPr>
          <p:nvPr/>
        </p:nvSpPr>
        <p:spPr bwMode="auto">
          <a:xfrm>
            <a:off x="5543550" y="209867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16156" name="Rectangle 32"/>
          <p:cNvSpPr>
            <a:spLocks noChangeArrowheads="1"/>
          </p:cNvSpPr>
          <p:nvPr/>
        </p:nvSpPr>
        <p:spPr bwMode="auto">
          <a:xfrm>
            <a:off x="1544638" y="2503488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16157" name="Rectangle 33"/>
          <p:cNvSpPr>
            <a:spLocks noChangeArrowheads="1"/>
          </p:cNvSpPr>
          <p:nvPr/>
        </p:nvSpPr>
        <p:spPr bwMode="auto">
          <a:xfrm>
            <a:off x="3852863" y="2503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16158" name="Rectangle 34"/>
          <p:cNvSpPr>
            <a:spLocks noChangeArrowheads="1"/>
          </p:cNvSpPr>
          <p:nvPr/>
        </p:nvSpPr>
        <p:spPr bwMode="auto">
          <a:xfrm>
            <a:off x="2784475" y="209867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16159" name="Rectangle 35"/>
          <p:cNvSpPr>
            <a:spLocks noChangeArrowheads="1"/>
          </p:cNvSpPr>
          <p:nvPr/>
        </p:nvSpPr>
        <p:spPr bwMode="auto">
          <a:xfrm>
            <a:off x="3663950" y="1622425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16160" name="Rectangle 36"/>
          <p:cNvSpPr>
            <a:spLocks noChangeArrowheads="1"/>
          </p:cNvSpPr>
          <p:nvPr/>
        </p:nvSpPr>
        <p:spPr bwMode="auto">
          <a:xfrm>
            <a:off x="7050088" y="1622425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16161" name="Rectangle 37"/>
          <p:cNvSpPr>
            <a:spLocks noChangeArrowheads="1"/>
          </p:cNvSpPr>
          <p:nvPr/>
        </p:nvSpPr>
        <p:spPr bwMode="auto">
          <a:xfrm>
            <a:off x="7343775" y="20986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16162" name="Rectangle 38"/>
          <p:cNvSpPr>
            <a:spLocks noChangeArrowheads="1"/>
          </p:cNvSpPr>
          <p:nvPr/>
        </p:nvSpPr>
        <p:spPr bwMode="auto">
          <a:xfrm>
            <a:off x="8128000" y="383222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16163" name="Rectangle 39"/>
          <p:cNvSpPr>
            <a:spLocks noChangeArrowheads="1"/>
          </p:cNvSpPr>
          <p:nvPr/>
        </p:nvSpPr>
        <p:spPr bwMode="auto">
          <a:xfrm>
            <a:off x="6419850" y="2503488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16164" name="Rectangle 40"/>
          <p:cNvSpPr>
            <a:spLocks noChangeArrowheads="1"/>
          </p:cNvSpPr>
          <p:nvPr/>
        </p:nvSpPr>
        <p:spPr bwMode="auto">
          <a:xfrm>
            <a:off x="4784725" y="29622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16165" name="Rectangle 41"/>
          <p:cNvSpPr>
            <a:spLocks noChangeArrowheads="1"/>
          </p:cNvSpPr>
          <p:nvPr/>
        </p:nvSpPr>
        <p:spPr bwMode="auto">
          <a:xfrm>
            <a:off x="4506913" y="3403600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16166" name="Rectangle 42"/>
          <p:cNvSpPr>
            <a:spLocks noChangeArrowheads="1"/>
          </p:cNvSpPr>
          <p:nvPr/>
        </p:nvSpPr>
        <p:spPr bwMode="auto">
          <a:xfrm>
            <a:off x="2414588" y="3832225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16167" name="Rectangle 43"/>
          <p:cNvSpPr>
            <a:spLocks noChangeArrowheads="1"/>
          </p:cNvSpPr>
          <p:nvPr/>
        </p:nvSpPr>
        <p:spPr bwMode="auto">
          <a:xfrm>
            <a:off x="658813" y="1193800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16168" name="Rectangle 44"/>
          <p:cNvSpPr>
            <a:spLocks noChangeArrowheads="1"/>
          </p:cNvSpPr>
          <p:nvPr/>
        </p:nvSpPr>
        <p:spPr bwMode="auto">
          <a:xfrm>
            <a:off x="2170113" y="1603375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16169" name="Group 46"/>
          <p:cNvGrpSpPr>
            <a:grpSpLocks/>
          </p:cNvGrpSpPr>
          <p:nvPr/>
        </p:nvGrpSpPr>
        <p:grpSpPr bwMode="auto">
          <a:xfrm>
            <a:off x="1158875" y="3973513"/>
            <a:ext cx="142875" cy="69850"/>
            <a:chOff x="833" y="3024"/>
            <a:chExt cx="78" cy="51"/>
          </a:xfrm>
        </p:grpSpPr>
        <p:sp>
          <p:nvSpPr>
            <p:cNvPr id="816170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1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2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16173" name="Group 50"/>
          <p:cNvGrpSpPr>
            <a:grpSpLocks/>
          </p:cNvGrpSpPr>
          <p:nvPr/>
        </p:nvGrpSpPr>
        <p:grpSpPr bwMode="auto">
          <a:xfrm>
            <a:off x="9682163" y="3983038"/>
            <a:ext cx="142875" cy="66675"/>
            <a:chOff x="5432" y="3030"/>
            <a:chExt cx="78" cy="51"/>
          </a:xfrm>
        </p:grpSpPr>
        <p:sp>
          <p:nvSpPr>
            <p:cNvPr id="816174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5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6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6177" name="Rectangle 75"/>
          <p:cNvSpPr>
            <a:spLocks noChangeArrowheads="1"/>
          </p:cNvSpPr>
          <p:nvPr/>
        </p:nvSpPr>
        <p:spPr bwMode="auto">
          <a:xfrm>
            <a:off x="4129088" y="4375150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6178" name="Rectangle 80"/>
          <p:cNvSpPr>
            <a:spLocks noChangeArrowheads="1"/>
          </p:cNvSpPr>
          <p:nvPr/>
        </p:nvSpPr>
        <p:spPr bwMode="auto">
          <a:xfrm>
            <a:off x="4017963" y="5221288"/>
            <a:ext cx="4314825" cy="44926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79" name="Rectangle 82"/>
          <p:cNvSpPr>
            <a:spLocks noChangeArrowheads="1"/>
          </p:cNvSpPr>
          <p:nvPr/>
        </p:nvSpPr>
        <p:spPr bwMode="auto">
          <a:xfrm>
            <a:off x="4635500" y="523875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6180" name="Rectangle 83"/>
          <p:cNvSpPr>
            <a:spLocks noChangeArrowheads="1"/>
          </p:cNvSpPr>
          <p:nvPr/>
        </p:nvSpPr>
        <p:spPr bwMode="auto">
          <a:xfrm>
            <a:off x="2690813" y="5238750"/>
            <a:ext cx="91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</a:t>
            </a:r>
          </a:p>
        </p:txBody>
      </p:sp>
      <p:sp>
        <p:nvSpPr>
          <p:cNvPr id="816181" name="Rectangle 85"/>
          <p:cNvSpPr>
            <a:spLocks noChangeArrowheads="1"/>
          </p:cNvSpPr>
          <p:nvPr/>
        </p:nvSpPr>
        <p:spPr bwMode="auto">
          <a:xfrm>
            <a:off x="4637088" y="5707063"/>
            <a:ext cx="1263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379998" name="Group 94"/>
          <p:cNvGrpSpPr>
            <a:grpSpLocks/>
          </p:cNvGrpSpPr>
          <p:nvPr/>
        </p:nvGrpSpPr>
        <p:grpSpPr bwMode="auto">
          <a:xfrm>
            <a:off x="266700" y="1566863"/>
            <a:ext cx="438150" cy="2663825"/>
            <a:chOff x="111" y="845"/>
            <a:chExt cx="255" cy="1678"/>
          </a:xfrm>
        </p:grpSpPr>
        <p:sp>
          <p:nvSpPr>
            <p:cNvPr id="81618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8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grpSp>
        <p:nvGrpSpPr>
          <p:cNvPr id="379997" name="Group 93"/>
          <p:cNvGrpSpPr>
            <a:grpSpLocks/>
          </p:cNvGrpSpPr>
          <p:nvPr/>
        </p:nvGrpSpPr>
        <p:grpSpPr bwMode="auto">
          <a:xfrm>
            <a:off x="1209675" y="1566863"/>
            <a:ext cx="8553450" cy="4102100"/>
            <a:chOff x="703" y="845"/>
            <a:chExt cx="4974" cy="2584"/>
          </a:xfrm>
        </p:grpSpPr>
        <p:sp>
          <p:nvSpPr>
            <p:cNvPr id="816186" name="Rectangle 91"/>
            <p:cNvSpPr>
              <a:spLocks noChangeArrowheads="1"/>
            </p:cNvSpPr>
            <p:nvPr/>
          </p:nvSpPr>
          <p:spPr bwMode="auto">
            <a:xfrm>
              <a:off x="703" y="845"/>
              <a:ext cx="4974" cy="1678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87" name="Rectangle 92"/>
            <p:cNvSpPr>
              <a:spLocks noChangeArrowheads="1"/>
            </p:cNvSpPr>
            <p:nvPr/>
          </p:nvSpPr>
          <p:spPr bwMode="auto">
            <a:xfrm>
              <a:off x="1426" y="3145"/>
              <a:ext cx="915" cy="2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6188" name="AutoShape 97"/>
          <p:cNvSpPr>
            <a:spLocks/>
          </p:cNvSpPr>
          <p:nvPr/>
        </p:nvSpPr>
        <p:spPr bwMode="auto">
          <a:xfrm>
            <a:off x="998538" y="1638300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816189" name="Group 100"/>
          <p:cNvGrpSpPr>
            <a:grpSpLocks/>
          </p:cNvGrpSpPr>
          <p:nvPr/>
        </p:nvGrpSpPr>
        <p:grpSpPr bwMode="auto">
          <a:xfrm>
            <a:off x="1782763" y="5741988"/>
            <a:ext cx="1209675" cy="855662"/>
            <a:chOff x="1037" y="3475"/>
            <a:chExt cx="703" cy="539"/>
          </a:xfrm>
        </p:grpSpPr>
        <p:sp>
          <p:nvSpPr>
            <p:cNvPr id="816190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31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91" name="Rectangle 99"/>
            <p:cNvSpPr>
              <a:spLocks noChangeArrowheads="1"/>
            </p:cNvSpPr>
            <p:nvPr/>
          </p:nvSpPr>
          <p:spPr bwMode="auto">
            <a:xfrm>
              <a:off x="1037" y="3764"/>
              <a:ext cx="7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</p:grpSp>
      <p:sp>
        <p:nvSpPr>
          <p:cNvPr id="816192" name="矩形 1"/>
          <p:cNvSpPr>
            <a:spLocks noChangeArrowheads="1"/>
          </p:cNvSpPr>
          <p:nvPr/>
        </p:nvSpPr>
        <p:spPr bwMode="auto">
          <a:xfrm>
            <a:off x="1890713" y="252413"/>
            <a:ext cx="6446837" cy="584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数据报由首部和数据两部分组成</a:t>
            </a:r>
          </a:p>
        </p:txBody>
      </p:sp>
      <p:sp>
        <p:nvSpPr>
          <p:cNvPr id="81619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CE14501-889C-4F5D-A8A2-ECAB9EC4254A}" type="slidenum">
              <a:rPr lang="zh-CN" altLang="en-US" smtClean="0"/>
              <a:pPr/>
              <a:t>27</a:t>
            </a:fld>
            <a:endParaRPr lang="en-US" altLang="zh-CN" smtClean="0"/>
          </a:p>
        </p:txBody>
      </p:sp>
      <p:sp>
        <p:nvSpPr>
          <p:cNvPr id="816194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37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7" name="Rectangle 45"/>
          <p:cNvSpPr>
            <a:spLocks noChangeArrowheads="1"/>
          </p:cNvSpPr>
          <p:nvPr/>
        </p:nvSpPr>
        <p:spPr bwMode="auto">
          <a:xfrm>
            <a:off x="631825" y="1998663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18178" name="Rectangle 54"/>
          <p:cNvSpPr>
            <a:spLocks noChangeArrowheads="1"/>
          </p:cNvSpPr>
          <p:nvPr/>
        </p:nvSpPr>
        <p:spPr bwMode="auto">
          <a:xfrm>
            <a:off x="508000" y="3654425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18179" name="Line 6"/>
          <p:cNvSpPr>
            <a:spLocks noChangeShapeType="1"/>
          </p:cNvSpPr>
          <p:nvPr/>
        </p:nvSpPr>
        <p:spPr bwMode="auto">
          <a:xfrm>
            <a:off x="2490788" y="5911850"/>
            <a:ext cx="5870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0" name="Rectangle 8"/>
          <p:cNvSpPr>
            <a:spLocks noChangeArrowheads="1"/>
          </p:cNvSpPr>
          <p:nvPr/>
        </p:nvSpPr>
        <p:spPr bwMode="auto">
          <a:xfrm>
            <a:off x="3351213" y="1597025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1" name="Rectangle 90"/>
          <p:cNvSpPr>
            <a:spLocks noChangeArrowheads="1"/>
          </p:cNvSpPr>
          <p:nvPr/>
        </p:nvSpPr>
        <p:spPr bwMode="auto">
          <a:xfrm>
            <a:off x="2457450" y="5221288"/>
            <a:ext cx="1560513" cy="4492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2" name="Rectangle 10"/>
          <p:cNvSpPr>
            <a:spLocks noChangeArrowheads="1"/>
          </p:cNvSpPr>
          <p:nvPr/>
        </p:nvSpPr>
        <p:spPr bwMode="auto">
          <a:xfrm>
            <a:off x="1231900" y="1587500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3" name="Rectangle 11"/>
          <p:cNvSpPr>
            <a:spLocks noChangeArrowheads="1"/>
          </p:cNvSpPr>
          <p:nvPr/>
        </p:nvSpPr>
        <p:spPr bwMode="auto">
          <a:xfrm>
            <a:off x="1246188" y="4241800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4" name="Line 12"/>
          <p:cNvSpPr>
            <a:spLocks noChangeShapeType="1"/>
          </p:cNvSpPr>
          <p:nvPr/>
        </p:nvSpPr>
        <p:spPr bwMode="auto">
          <a:xfrm>
            <a:off x="1225550" y="20383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5" name="Line 13"/>
          <p:cNvSpPr>
            <a:spLocks noChangeShapeType="1"/>
          </p:cNvSpPr>
          <p:nvPr/>
        </p:nvSpPr>
        <p:spPr bwMode="auto">
          <a:xfrm>
            <a:off x="1225550" y="2481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6" name="Line 14"/>
          <p:cNvSpPr>
            <a:spLocks noChangeShapeType="1"/>
          </p:cNvSpPr>
          <p:nvPr/>
        </p:nvSpPr>
        <p:spPr bwMode="auto">
          <a:xfrm>
            <a:off x="1225550" y="29257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7" name="Line 15"/>
          <p:cNvSpPr>
            <a:spLocks noChangeShapeType="1"/>
          </p:cNvSpPr>
          <p:nvPr/>
        </p:nvSpPr>
        <p:spPr bwMode="auto">
          <a:xfrm>
            <a:off x="1225550" y="33639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8" name="Line 16"/>
          <p:cNvSpPr>
            <a:spLocks noChangeShapeType="1"/>
          </p:cNvSpPr>
          <p:nvPr/>
        </p:nvSpPr>
        <p:spPr bwMode="auto">
          <a:xfrm>
            <a:off x="1225550" y="38084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9" name="Line 17"/>
          <p:cNvSpPr>
            <a:spLocks noChangeShapeType="1"/>
          </p:cNvSpPr>
          <p:nvPr/>
        </p:nvSpPr>
        <p:spPr bwMode="auto">
          <a:xfrm>
            <a:off x="22748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0" name="Line 18"/>
          <p:cNvSpPr>
            <a:spLocks noChangeShapeType="1"/>
          </p:cNvSpPr>
          <p:nvPr/>
        </p:nvSpPr>
        <p:spPr bwMode="auto">
          <a:xfrm>
            <a:off x="33416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1" name="Line 19"/>
          <p:cNvSpPr>
            <a:spLocks noChangeShapeType="1"/>
          </p:cNvSpPr>
          <p:nvPr/>
        </p:nvSpPr>
        <p:spPr bwMode="auto">
          <a:xfrm>
            <a:off x="3341688" y="2490788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2" name="Line 20"/>
          <p:cNvSpPr>
            <a:spLocks noChangeShapeType="1"/>
          </p:cNvSpPr>
          <p:nvPr/>
        </p:nvSpPr>
        <p:spPr bwMode="auto">
          <a:xfrm>
            <a:off x="5478463" y="1595438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3" name="Line 21"/>
          <p:cNvSpPr>
            <a:spLocks noChangeShapeType="1"/>
          </p:cNvSpPr>
          <p:nvPr/>
        </p:nvSpPr>
        <p:spPr bwMode="auto">
          <a:xfrm flipV="1">
            <a:off x="7615238" y="3803650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4" name="Line 22"/>
          <p:cNvSpPr>
            <a:spLocks noChangeShapeType="1"/>
          </p:cNvSpPr>
          <p:nvPr/>
        </p:nvSpPr>
        <p:spPr bwMode="auto">
          <a:xfrm>
            <a:off x="6348413" y="2047875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5" name="Rectangle 23"/>
          <p:cNvSpPr>
            <a:spLocks noChangeArrowheads="1"/>
          </p:cNvSpPr>
          <p:nvPr/>
        </p:nvSpPr>
        <p:spPr bwMode="auto">
          <a:xfrm>
            <a:off x="1169988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18196" name="Rectangle 24"/>
          <p:cNvSpPr>
            <a:spLocks noChangeArrowheads="1"/>
          </p:cNvSpPr>
          <p:nvPr/>
        </p:nvSpPr>
        <p:spPr bwMode="auto">
          <a:xfrm>
            <a:off x="2182813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18197" name="Rectangle 25"/>
          <p:cNvSpPr>
            <a:spLocks noChangeArrowheads="1"/>
          </p:cNvSpPr>
          <p:nvPr/>
        </p:nvSpPr>
        <p:spPr bwMode="auto">
          <a:xfrm>
            <a:off x="3260725" y="1208088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18198" name="Rectangle 26"/>
          <p:cNvSpPr>
            <a:spLocks noChangeArrowheads="1"/>
          </p:cNvSpPr>
          <p:nvPr/>
        </p:nvSpPr>
        <p:spPr bwMode="auto">
          <a:xfrm>
            <a:off x="53736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18199" name="Rectangle 27"/>
          <p:cNvSpPr>
            <a:spLocks noChangeArrowheads="1"/>
          </p:cNvSpPr>
          <p:nvPr/>
        </p:nvSpPr>
        <p:spPr bwMode="auto">
          <a:xfrm>
            <a:off x="62372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18200" name="Rectangle 28"/>
          <p:cNvSpPr>
            <a:spLocks noChangeArrowheads="1"/>
          </p:cNvSpPr>
          <p:nvPr/>
        </p:nvSpPr>
        <p:spPr bwMode="auto">
          <a:xfrm>
            <a:off x="7510463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18201" name="Rectangle 29"/>
          <p:cNvSpPr>
            <a:spLocks noChangeArrowheads="1"/>
          </p:cNvSpPr>
          <p:nvPr/>
        </p:nvSpPr>
        <p:spPr bwMode="auto">
          <a:xfrm>
            <a:off x="9366250" y="1208088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18202" name="Rectangle 30"/>
          <p:cNvSpPr>
            <a:spLocks noChangeArrowheads="1"/>
          </p:cNvSpPr>
          <p:nvPr/>
        </p:nvSpPr>
        <p:spPr bwMode="auto">
          <a:xfrm>
            <a:off x="1331913" y="1622425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18203" name="Rectangle 31"/>
          <p:cNvSpPr>
            <a:spLocks noChangeArrowheads="1"/>
          </p:cNvSpPr>
          <p:nvPr/>
        </p:nvSpPr>
        <p:spPr bwMode="auto">
          <a:xfrm>
            <a:off x="5543550" y="209867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18204" name="Rectangle 32"/>
          <p:cNvSpPr>
            <a:spLocks noChangeArrowheads="1"/>
          </p:cNvSpPr>
          <p:nvPr/>
        </p:nvSpPr>
        <p:spPr bwMode="auto">
          <a:xfrm>
            <a:off x="1544638" y="2503488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18205" name="Rectangle 33"/>
          <p:cNvSpPr>
            <a:spLocks noChangeArrowheads="1"/>
          </p:cNvSpPr>
          <p:nvPr/>
        </p:nvSpPr>
        <p:spPr bwMode="auto">
          <a:xfrm>
            <a:off x="3852863" y="2503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18206" name="Rectangle 34"/>
          <p:cNvSpPr>
            <a:spLocks noChangeArrowheads="1"/>
          </p:cNvSpPr>
          <p:nvPr/>
        </p:nvSpPr>
        <p:spPr bwMode="auto">
          <a:xfrm>
            <a:off x="2784475" y="209867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18207" name="Rectangle 35"/>
          <p:cNvSpPr>
            <a:spLocks noChangeArrowheads="1"/>
          </p:cNvSpPr>
          <p:nvPr/>
        </p:nvSpPr>
        <p:spPr bwMode="auto">
          <a:xfrm>
            <a:off x="3663950" y="1622425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18208" name="Rectangle 36"/>
          <p:cNvSpPr>
            <a:spLocks noChangeArrowheads="1"/>
          </p:cNvSpPr>
          <p:nvPr/>
        </p:nvSpPr>
        <p:spPr bwMode="auto">
          <a:xfrm>
            <a:off x="7050088" y="1622425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18209" name="Rectangle 37"/>
          <p:cNvSpPr>
            <a:spLocks noChangeArrowheads="1"/>
          </p:cNvSpPr>
          <p:nvPr/>
        </p:nvSpPr>
        <p:spPr bwMode="auto">
          <a:xfrm>
            <a:off x="7343775" y="20986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18210" name="Rectangle 38"/>
          <p:cNvSpPr>
            <a:spLocks noChangeArrowheads="1"/>
          </p:cNvSpPr>
          <p:nvPr/>
        </p:nvSpPr>
        <p:spPr bwMode="auto">
          <a:xfrm>
            <a:off x="8128000" y="383222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18211" name="Rectangle 39"/>
          <p:cNvSpPr>
            <a:spLocks noChangeArrowheads="1"/>
          </p:cNvSpPr>
          <p:nvPr/>
        </p:nvSpPr>
        <p:spPr bwMode="auto">
          <a:xfrm>
            <a:off x="6419850" y="2503488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18212" name="Rectangle 40"/>
          <p:cNvSpPr>
            <a:spLocks noChangeArrowheads="1"/>
          </p:cNvSpPr>
          <p:nvPr/>
        </p:nvSpPr>
        <p:spPr bwMode="auto">
          <a:xfrm>
            <a:off x="4784725" y="29622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18213" name="Rectangle 41"/>
          <p:cNvSpPr>
            <a:spLocks noChangeArrowheads="1"/>
          </p:cNvSpPr>
          <p:nvPr/>
        </p:nvSpPr>
        <p:spPr bwMode="auto">
          <a:xfrm>
            <a:off x="4506913" y="3403600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18214" name="Rectangle 42"/>
          <p:cNvSpPr>
            <a:spLocks noChangeArrowheads="1"/>
          </p:cNvSpPr>
          <p:nvPr/>
        </p:nvSpPr>
        <p:spPr bwMode="auto">
          <a:xfrm>
            <a:off x="2414588" y="3832225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18215" name="Rectangle 43"/>
          <p:cNvSpPr>
            <a:spLocks noChangeArrowheads="1"/>
          </p:cNvSpPr>
          <p:nvPr/>
        </p:nvSpPr>
        <p:spPr bwMode="auto">
          <a:xfrm>
            <a:off x="658813" y="1193800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18216" name="Rectangle 44"/>
          <p:cNvSpPr>
            <a:spLocks noChangeArrowheads="1"/>
          </p:cNvSpPr>
          <p:nvPr/>
        </p:nvSpPr>
        <p:spPr bwMode="auto">
          <a:xfrm>
            <a:off x="2170113" y="1603375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18217" name="Group 46"/>
          <p:cNvGrpSpPr>
            <a:grpSpLocks/>
          </p:cNvGrpSpPr>
          <p:nvPr/>
        </p:nvGrpSpPr>
        <p:grpSpPr bwMode="auto">
          <a:xfrm>
            <a:off x="1158875" y="3973513"/>
            <a:ext cx="142875" cy="69850"/>
            <a:chOff x="833" y="3024"/>
            <a:chExt cx="78" cy="51"/>
          </a:xfrm>
        </p:grpSpPr>
        <p:sp>
          <p:nvSpPr>
            <p:cNvPr id="818218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19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20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18221" name="Group 50"/>
          <p:cNvGrpSpPr>
            <a:grpSpLocks/>
          </p:cNvGrpSpPr>
          <p:nvPr/>
        </p:nvGrpSpPr>
        <p:grpSpPr bwMode="auto">
          <a:xfrm>
            <a:off x="9682163" y="3983038"/>
            <a:ext cx="142875" cy="66675"/>
            <a:chOff x="5432" y="3030"/>
            <a:chExt cx="78" cy="51"/>
          </a:xfrm>
        </p:grpSpPr>
        <p:sp>
          <p:nvSpPr>
            <p:cNvPr id="818222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23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24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8225" name="Rectangle 75"/>
          <p:cNvSpPr>
            <a:spLocks noChangeArrowheads="1"/>
          </p:cNvSpPr>
          <p:nvPr/>
        </p:nvSpPr>
        <p:spPr bwMode="auto">
          <a:xfrm>
            <a:off x="4129088" y="4375150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8226" name="Rectangle 80"/>
          <p:cNvSpPr>
            <a:spLocks noChangeArrowheads="1"/>
          </p:cNvSpPr>
          <p:nvPr/>
        </p:nvSpPr>
        <p:spPr bwMode="auto">
          <a:xfrm>
            <a:off x="4017963" y="5221288"/>
            <a:ext cx="4314825" cy="44926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227" name="Rectangle 82"/>
          <p:cNvSpPr>
            <a:spLocks noChangeArrowheads="1"/>
          </p:cNvSpPr>
          <p:nvPr/>
        </p:nvSpPr>
        <p:spPr bwMode="auto">
          <a:xfrm>
            <a:off x="4635500" y="523875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8228" name="Rectangle 83"/>
          <p:cNvSpPr>
            <a:spLocks noChangeArrowheads="1"/>
          </p:cNvSpPr>
          <p:nvPr/>
        </p:nvSpPr>
        <p:spPr bwMode="auto">
          <a:xfrm>
            <a:off x="2690813" y="5238750"/>
            <a:ext cx="91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</a:t>
            </a:r>
          </a:p>
        </p:txBody>
      </p:sp>
      <p:sp>
        <p:nvSpPr>
          <p:cNvPr id="818229" name="Rectangle 85"/>
          <p:cNvSpPr>
            <a:spLocks noChangeArrowheads="1"/>
          </p:cNvSpPr>
          <p:nvPr/>
        </p:nvSpPr>
        <p:spPr bwMode="auto">
          <a:xfrm>
            <a:off x="4637088" y="5707063"/>
            <a:ext cx="1263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379998" name="Group 94"/>
          <p:cNvGrpSpPr>
            <a:grpSpLocks/>
          </p:cNvGrpSpPr>
          <p:nvPr/>
        </p:nvGrpSpPr>
        <p:grpSpPr bwMode="auto">
          <a:xfrm>
            <a:off x="266700" y="1566863"/>
            <a:ext cx="438150" cy="2663825"/>
            <a:chOff x="111" y="845"/>
            <a:chExt cx="255" cy="1678"/>
          </a:xfrm>
        </p:grpSpPr>
        <p:sp>
          <p:nvSpPr>
            <p:cNvPr id="81823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3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grpSp>
        <p:nvGrpSpPr>
          <p:cNvPr id="379997" name="Group 93"/>
          <p:cNvGrpSpPr>
            <a:grpSpLocks/>
          </p:cNvGrpSpPr>
          <p:nvPr/>
        </p:nvGrpSpPr>
        <p:grpSpPr bwMode="auto">
          <a:xfrm>
            <a:off x="1209675" y="1566863"/>
            <a:ext cx="8553450" cy="4102100"/>
            <a:chOff x="703" y="845"/>
            <a:chExt cx="4974" cy="2584"/>
          </a:xfrm>
        </p:grpSpPr>
        <p:sp>
          <p:nvSpPr>
            <p:cNvPr id="818234" name="Rectangle 91"/>
            <p:cNvSpPr>
              <a:spLocks noChangeArrowheads="1"/>
            </p:cNvSpPr>
            <p:nvPr/>
          </p:nvSpPr>
          <p:spPr bwMode="auto">
            <a:xfrm>
              <a:off x="703" y="845"/>
              <a:ext cx="4974" cy="1427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35" name="Rectangle 92"/>
            <p:cNvSpPr>
              <a:spLocks noChangeArrowheads="1"/>
            </p:cNvSpPr>
            <p:nvPr/>
          </p:nvSpPr>
          <p:spPr bwMode="auto">
            <a:xfrm>
              <a:off x="1426" y="3145"/>
              <a:ext cx="915" cy="2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8236" name="AutoShape 97"/>
          <p:cNvSpPr>
            <a:spLocks/>
          </p:cNvSpPr>
          <p:nvPr/>
        </p:nvSpPr>
        <p:spPr bwMode="auto">
          <a:xfrm>
            <a:off x="998538" y="1638300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818237" name="Group 100"/>
          <p:cNvGrpSpPr>
            <a:grpSpLocks/>
          </p:cNvGrpSpPr>
          <p:nvPr/>
        </p:nvGrpSpPr>
        <p:grpSpPr bwMode="auto">
          <a:xfrm>
            <a:off x="1782763" y="5741988"/>
            <a:ext cx="1209675" cy="855662"/>
            <a:chOff x="1037" y="3475"/>
            <a:chExt cx="703" cy="539"/>
          </a:xfrm>
        </p:grpSpPr>
        <p:sp>
          <p:nvSpPr>
            <p:cNvPr id="818238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31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39" name="Rectangle 99"/>
            <p:cNvSpPr>
              <a:spLocks noChangeArrowheads="1"/>
            </p:cNvSpPr>
            <p:nvPr/>
          </p:nvSpPr>
          <p:spPr bwMode="auto">
            <a:xfrm>
              <a:off x="1037" y="3764"/>
              <a:ext cx="7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</p:grpSp>
      <p:sp>
        <p:nvSpPr>
          <p:cNvPr id="818240" name="矩形 1"/>
          <p:cNvSpPr>
            <a:spLocks noChangeArrowheads="1"/>
          </p:cNvSpPr>
          <p:nvPr/>
        </p:nvSpPr>
        <p:spPr bwMode="auto">
          <a:xfrm>
            <a:off x="1716088" y="231775"/>
            <a:ext cx="6902450" cy="954088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首部的前一部分是固定长度，共 </a:t>
            </a: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20 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字节，是所有 </a:t>
            </a: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数据报必须具有的。</a:t>
            </a:r>
          </a:p>
        </p:txBody>
      </p:sp>
      <p:sp>
        <p:nvSpPr>
          <p:cNvPr id="81824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4B1072EE-8740-4DE1-974E-4458C7544514}" type="slidenum">
              <a:rPr lang="zh-CN" altLang="en-US" smtClean="0"/>
              <a:pPr/>
              <a:t>28</a:t>
            </a:fld>
            <a:endParaRPr lang="en-US" altLang="zh-CN" smtClean="0"/>
          </a:p>
        </p:txBody>
      </p:sp>
      <p:sp>
        <p:nvSpPr>
          <p:cNvPr id="818242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37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5" name="Rectangle 45"/>
          <p:cNvSpPr>
            <a:spLocks noChangeArrowheads="1"/>
          </p:cNvSpPr>
          <p:nvPr/>
        </p:nvSpPr>
        <p:spPr bwMode="auto">
          <a:xfrm>
            <a:off x="631825" y="2001838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0226" name="Rectangle 54"/>
          <p:cNvSpPr>
            <a:spLocks noChangeArrowheads="1"/>
          </p:cNvSpPr>
          <p:nvPr/>
        </p:nvSpPr>
        <p:spPr bwMode="auto">
          <a:xfrm>
            <a:off x="508000" y="3657600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0227" name="Line 6"/>
          <p:cNvSpPr>
            <a:spLocks noChangeShapeType="1"/>
          </p:cNvSpPr>
          <p:nvPr/>
        </p:nvSpPr>
        <p:spPr bwMode="auto">
          <a:xfrm>
            <a:off x="2490788" y="5915025"/>
            <a:ext cx="5870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28" name="Rectangle 8"/>
          <p:cNvSpPr>
            <a:spLocks noChangeArrowheads="1"/>
          </p:cNvSpPr>
          <p:nvPr/>
        </p:nvSpPr>
        <p:spPr bwMode="auto">
          <a:xfrm>
            <a:off x="3351213" y="1600200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29" name="Rectangle 90"/>
          <p:cNvSpPr>
            <a:spLocks noChangeArrowheads="1"/>
          </p:cNvSpPr>
          <p:nvPr/>
        </p:nvSpPr>
        <p:spPr bwMode="auto">
          <a:xfrm>
            <a:off x="2457450" y="5224463"/>
            <a:ext cx="1560513" cy="4492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0" name="Rectangle 10"/>
          <p:cNvSpPr>
            <a:spLocks noChangeArrowheads="1"/>
          </p:cNvSpPr>
          <p:nvPr/>
        </p:nvSpPr>
        <p:spPr bwMode="auto">
          <a:xfrm>
            <a:off x="1231900" y="1590675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1" name="Rectangle 11"/>
          <p:cNvSpPr>
            <a:spLocks noChangeArrowheads="1"/>
          </p:cNvSpPr>
          <p:nvPr/>
        </p:nvSpPr>
        <p:spPr bwMode="auto">
          <a:xfrm>
            <a:off x="1246188" y="4244975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2" name="Line 12"/>
          <p:cNvSpPr>
            <a:spLocks noChangeShapeType="1"/>
          </p:cNvSpPr>
          <p:nvPr/>
        </p:nvSpPr>
        <p:spPr bwMode="auto">
          <a:xfrm>
            <a:off x="1225550" y="20415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3" name="Line 13"/>
          <p:cNvSpPr>
            <a:spLocks noChangeShapeType="1"/>
          </p:cNvSpPr>
          <p:nvPr/>
        </p:nvSpPr>
        <p:spPr bwMode="auto">
          <a:xfrm>
            <a:off x="1225550" y="24844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4" name="Line 14"/>
          <p:cNvSpPr>
            <a:spLocks noChangeShapeType="1"/>
          </p:cNvSpPr>
          <p:nvPr/>
        </p:nvSpPr>
        <p:spPr bwMode="auto">
          <a:xfrm>
            <a:off x="1225550" y="29289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5" name="Line 15"/>
          <p:cNvSpPr>
            <a:spLocks noChangeShapeType="1"/>
          </p:cNvSpPr>
          <p:nvPr/>
        </p:nvSpPr>
        <p:spPr bwMode="auto">
          <a:xfrm>
            <a:off x="1225550" y="33670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6" name="Line 16"/>
          <p:cNvSpPr>
            <a:spLocks noChangeShapeType="1"/>
          </p:cNvSpPr>
          <p:nvPr/>
        </p:nvSpPr>
        <p:spPr bwMode="auto">
          <a:xfrm>
            <a:off x="1225550" y="38115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7" name="Line 17"/>
          <p:cNvSpPr>
            <a:spLocks noChangeShapeType="1"/>
          </p:cNvSpPr>
          <p:nvPr/>
        </p:nvSpPr>
        <p:spPr bwMode="auto">
          <a:xfrm>
            <a:off x="22748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8" name="Line 18"/>
          <p:cNvSpPr>
            <a:spLocks noChangeShapeType="1"/>
          </p:cNvSpPr>
          <p:nvPr/>
        </p:nvSpPr>
        <p:spPr bwMode="auto">
          <a:xfrm>
            <a:off x="33416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9" name="Line 19"/>
          <p:cNvSpPr>
            <a:spLocks noChangeShapeType="1"/>
          </p:cNvSpPr>
          <p:nvPr/>
        </p:nvSpPr>
        <p:spPr bwMode="auto">
          <a:xfrm>
            <a:off x="3341688" y="2493963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0" name="Line 20"/>
          <p:cNvSpPr>
            <a:spLocks noChangeShapeType="1"/>
          </p:cNvSpPr>
          <p:nvPr/>
        </p:nvSpPr>
        <p:spPr bwMode="auto">
          <a:xfrm>
            <a:off x="5478463" y="1598613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1" name="Line 21"/>
          <p:cNvSpPr>
            <a:spLocks noChangeShapeType="1"/>
          </p:cNvSpPr>
          <p:nvPr/>
        </p:nvSpPr>
        <p:spPr bwMode="auto">
          <a:xfrm flipV="1">
            <a:off x="7615238" y="3806825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2" name="Line 22"/>
          <p:cNvSpPr>
            <a:spLocks noChangeShapeType="1"/>
          </p:cNvSpPr>
          <p:nvPr/>
        </p:nvSpPr>
        <p:spPr bwMode="auto">
          <a:xfrm>
            <a:off x="6348413" y="2051050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3" name="Rectangle 23"/>
          <p:cNvSpPr>
            <a:spLocks noChangeArrowheads="1"/>
          </p:cNvSpPr>
          <p:nvPr/>
        </p:nvSpPr>
        <p:spPr bwMode="auto">
          <a:xfrm>
            <a:off x="1169988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0244" name="Rectangle 24"/>
          <p:cNvSpPr>
            <a:spLocks noChangeArrowheads="1"/>
          </p:cNvSpPr>
          <p:nvPr/>
        </p:nvSpPr>
        <p:spPr bwMode="auto">
          <a:xfrm>
            <a:off x="2182813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0245" name="Rectangle 25"/>
          <p:cNvSpPr>
            <a:spLocks noChangeArrowheads="1"/>
          </p:cNvSpPr>
          <p:nvPr/>
        </p:nvSpPr>
        <p:spPr bwMode="auto">
          <a:xfrm>
            <a:off x="3260725" y="12112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0246" name="Rectangle 26"/>
          <p:cNvSpPr>
            <a:spLocks noChangeArrowheads="1"/>
          </p:cNvSpPr>
          <p:nvPr/>
        </p:nvSpPr>
        <p:spPr bwMode="auto">
          <a:xfrm>
            <a:off x="53736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0247" name="Rectangle 27"/>
          <p:cNvSpPr>
            <a:spLocks noChangeArrowheads="1"/>
          </p:cNvSpPr>
          <p:nvPr/>
        </p:nvSpPr>
        <p:spPr bwMode="auto">
          <a:xfrm>
            <a:off x="62372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0248" name="Rectangle 28"/>
          <p:cNvSpPr>
            <a:spLocks noChangeArrowheads="1"/>
          </p:cNvSpPr>
          <p:nvPr/>
        </p:nvSpPr>
        <p:spPr bwMode="auto">
          <a:xfrm>
            <a:off x="7510463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0249" name="Rectangle 29"/>
          <p:cNvSpPr>
            <a:spLocks noChangeArrowheads="1"/>
          </p:cNvSpPr>
          <p:nvPr/>
        </p:nvSpPr>
        <p:spPr bwMode="auto">
          <a:xfrm>
            <a:off x="9366250" y="1211263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0250" name="Rectangle 30"/>
          <p:cNvSpPr>
            <a:spLocks noChangeArrowheads="1"/>
          </p:cNvSpPr>
          <p:nvPr/>
        </p:nvSpPr>
        <p:spPr bwMode="auto">
          <a:xfrm>
            <a:off x="1331913" y="1625600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0251" name="Rectangle 31"/>
          <p:cNvSpPr>
            <a:spLocks noChangeArrowheads="1"/>
          </p:cNvSpPr>
          <p:nvPr/>
        </p:nvSpPr>
        <p:spPr bwMode="auto">
          <a:xfrm>
            <a:off x="5543550" y="210185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0252" name="Rectangle 32"/>
          <p:cNvSpPr>
            <a:spLocks noChangeArrowheads="1"/>
          </p:cNvSpPr>
          <p:nvPr/>
        </p:nvSpPr>
        <p:spPr bwMode="auto">
          <a:xfrm>
            <a:off x="1544638" y="2506663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0253" name="Rectangle 33"/>
          <p:cNvSpPr>
            <a:spLocks noChangeArrowheads="1"/>
          </p:cNvSpPr>
          <p:nvPr/>
        </p:nvSpPr>
        <p:spPr bwMode="auto">
          <a:xfrm>
            <a:off x="3852863" y="250666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0254" name="Rectangle 34"/>
          <p:cNvSpPr>
            <a:spLocks noChangeArrowheads="1"/>
          </p:cNvSpPr>
          <p:nvPr/>
        </p:nvSpPr>
        <p:spPr bwMode="auto">
          <a:xfrm>
            <a:off x="2784475" y="210185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0255" name="Rectangle 35"/>
          <p:cNvSpPr>
            <a:spLocks noChangeArrowheads="1"/>
          </p:cNvSpPr>
          <p:nvPr/>
        </p:nvSpPr>
        <p:spPr bwMode="auto">
          <a:xfrm>
            <a:off x="3663950" y="1625600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0256" name="Rectangle 36"/>
          <p:cNvSpPr>
            <a:spLocks noChangeArrowheads="1"/>
          </p:cNvSpPr>
          <p:nvPr/>
        </p:nvSpPr>
        <p:spPr bwMode="auto">
          <a:xfrm>
            <a:off x="7050088" y="1625600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0257" name="Rectangle 37"/>
          <p:cNvSpPr>
            <a:spLocks noChangeArrowheads="1"/>
          </p:cNvSpPr>
          <p:nvPr/>
        </p:nvSpPr>
        <p:spPr bwMode="auto">
          <a:xfrm>
            <a:off x="7343775" y="21018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0258" name="Rectangle 38"/>
          <p:cNvSpPr>
            <a:spLocks noChangeArrowheads="1"/>
          </p:cNvSpPr>
          <p:nvPr/>
        </p:nvSpPr>
        <p:spPr bwMode="auto">
          <a:xfrm>
            <a:off x="8128000" y="38354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0259" name="Rectangle 39"/>
          <p:cNvSpPr>
            <a:spLocks noChangeArrowheads="1"/>
          </p:cNvSpPr>
          <p:nvPr/>
        </p:nvSpPr>
        <p:spPr bwMode="auto">
          <a:xfrm>
            <a:off x="6419850" y="2506663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0260" name="Rectangle 40"/>
          <p:cNvSpPr>
            <a:spLocks noChangeArrowheads="1"/>
          </p:cNvSpPr>
          <p:nvPr/>
        </p:nvSpPr>
        <p:spPr bwMode="auto">
          <a:xfrm>
            <a:off x="4784725" y="29654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0261" name="Rectangle 41"/>
          <p:cNvSpPr>
            <a:spLocks noChangeArrowheads="1"/>
          </p:cNvSpPr>
          <p:nvPr/>
        </p:nvSpPr>
        <p:spPr bwMode="auto">
          <a:xfrm>
            <a:off x="4506913" y="3406775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0262" name="Rectangle 42"/>
          <p:cNvSpPr>
            <a:spLocks noChangeArrowheads="1"/>
          </p:cNvSpPr>
          <p:nvPr/>
        </p:nvSpPr>
        <p:spPr bwMode="auto">
          <a:xfrm>
            <a:off x="2414588" y="3835400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0263" name="Rectangle 43"/>
          <p:cNvSpPr>
            <a:spLocks noChangeArrowheads="1"/>
          </p:cNvSpPr>
          <p:nvPr/>
        </p:nvSpPr>
        <p:spPr bwMode="auto">
          <a:xfrm>
            <a:off x="658813" y="1196975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0264" name="Rectangle 44"/>
          <p:cNvSpPr>
            <a:spLocks noChangeArrowheads="1"/>
          </p:cNvSpPr>
          <p:nvPr/>
        </p:nvSpPr>
        <p:spPr bwMode="auto">
          <a:xfrm>
            <a:off x="2170113" y="1606550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0265" name="Group 46"/>
          <p:cNvGrpSpPr>
            <a:grpSpLocks/>
          </p:cNvGrpSpPr>
          <p:nvPr/>
        </p:nvGrpSpPr>
        <p:grpSpPr bwMode="auto">
          <a:xfrm>
            <a:off x="1158875" y="3976688"/>
            <a:ext cx="142875" cy="69850"/>
            <a:chOff x="833" y="3024"/>
            <a:chExt cx="78" cy="51"/>
          </a:xfrm>
        </p:grpSpPr>
        <p:sp>
          <p:nvSpPr>
            <p:cNvPr id="820266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67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68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0269" name="Group 50"/>
          <p:cNvGrpSpPr>
            <a:grpSpLocks/>
          </p:cNvGrpSpPr>
          <p:nvPr/>
        </p:nvGrpSpPr>
        <p:grpSpPr bwMode="auto">
          <a:xfrm>
            <a:off x="9682163" y="3986213"/>
            <a:ext cx="142875" cy="66675"/>
            <a:chOff x="5432" y="3030"/>
            <a:chExt cx="78" cy="51"/>
          </a:xfrm>
        </p:grpSpPr>
        <p:sp>
          <p:nvSpPr>
            <p:cNvPr id="820270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71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72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0273" name="Rectangle 75"/>
          <p:cNvSpPr>
            <a:spLocks noChangeArrowheads="1"/>
          </p:cNvSpPr>
          <p:nvPr/>
        </p:nvSpPr>
        <p:spPr bwMode="auto">
          <a:xfrm>
            <a:off x="4129088" y="4378325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20274" name="Rectangle 80"/>
          <p:cNvSpPr>
            <a:spLocks noChangeArrowheads="1"/>
          </p:cNvSpPr>
          <p:nvPr/>
        </p:nvSpPr>
        <p:spPr bwMode="auto">
          <a:xfrm>
            <a:off x="4017963" y="5224463"/>
            <a:ext cx="4314825" cy="44926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75" name="Rectangle 82"/>
          <p:cNvSpPr>
            <a:spLocks noChangeArrowheads="1"/>
          </p:cNvSpPr>
          <p:nvPr/>
        </p:nvSpPr>
        <p:spPr bwMode="auto">
          <a:xfrm>
            <a:off x="4635500" y="5241925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20276" name="Rectangle 83"/>
          <p:cNvSpPr>
            <a:spLocks noChangeArrowheads="1"/>
          </p:cNvSpPr>
          <p:nvPr/>
        </p:nvSpPr>
        <p:spPr bwMode="auto">
          <a:xfrm>
            <a:off x="2690813" y="5241925"/>
            <a:ext cx="91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</a:t>
            </a:r>
          </a:p>
        </p:txBody>
      </p:sp>
      <p:sp>
        <p:nvSpPr>
          <p:cNvPr id="820277" name="Rectangle 85"/>
          <p:cNvSpPr>
            <a:spLocks noChangeArrowheads="1"/>
          </p:cNvSpPr>
          <p:nvPr/>
        </p:nvSpPr>
        <p:spPr bwMode="auto">
          <a:xfrm>
            <a:off x="4637088" y="5710238"/>
            <a:ext cx="1263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379998" name="Group 94"/>
          <p:cNvGrpSpPr>
            <a:grpSpLocks/>
          </p:cNvGrpSpPr>
          <p:nvPr/>
        </p:nvGrpSpPr>
        <p:grpSpPr bwMode="auto">
          <a:xfrm>
            <a:off x="266700" y="1570038"/>
            <a:ext cx="438150" cy="2663825"/>
            <a:chOff x="111" y="845"/>
            <a:chExt cx="255" cy="1678"/>
          </a:xfrm>
        </p:grpSpPr>
        <p:sp>
          <p:nvSpPr>
            <p:cNvPr id="820279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80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grpSp>
        <p:nvGrpSpPr>
          <p:cNvPr id="379997" name="Group 93"/>
          <p:cNvGrpSpPr>
            <a:grpSpLocks/>
          </p:cNvGrpSpPr>
          <p:nvPr/>
        </p:nvGrpSpPr>
        <p:grpSpPr bwMode="auto">
          <a:xfrm>
            <a:off x="1209675" y="3811588"/>
            <a:ext cx="8553450" cy="1860550"/>
            <a:chOff x="703" y="2257"/>
            <a:chExt cx="4974" cy="1172"/>
          </a:xfrm>
        </p:grpSpPr>
        <p:sp>
          <p:nvSpPr>
            <p:cNvPr id="820282" name="Rectangle 91"/>
            <p:cNvSpPr>
              <a:spLocks noChangeArrowheads="1"/>
            </p:cNvSpPr>
            <p:nvPr/>
          </p:nvSpPr>
          <p:spPr bwMode="auto">
            <a:xfrm>
              <a:off x="703" y="2257"/>
              <a:ext cx="4974" cy="265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83" name="Rectangle 92"/>
            <p:cNvSpPr>
              <a:spLocks noChangeArrowheads="1"/>
            </p:cNvSpPr>
            <p:nvPr/>
          </p:nvSpPr>
          <p:spPr bwMode="auto">
            <a:xfrm>
              <a:off x="1426" y="3145"/>
              <a:ext cx="915" cy="2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0284" name="AutoShape 97"/>
          <p:cNvSpPr>
            <a:spLocks/>
          </p:cNvSpPr>
          <p:nvPr/>
        </p:nvSpPr>
        <p:spPr bwMode="auto">
          <a:xfrm>
            <a:off x="998538" y="1641475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820285" name="Group 100"/>
          <p:cNvGrpSpPr>
            <a:grpSpLocks/>
          </p:cNvGrpSpPr>
          <p:nvPr/>
        </p:nvGrpSpPr>
        <p:grpSpPr bwMode="auto">
          <a:xfrm>
            <a:off x="1782763" y="5745163"/>
            <a:ext cx="1209675" cy="855662"/>
            <a:chOff x="1037" y="3475"/>
            <a:chExt cx="703" cy="539"/>
          </a:xfrm>
        </p:grpSpPr>
        <p:sp>
          <p:nvSpPr>
            <p:cNvPr id="820286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31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87" name="Rectangle 99"/>
            <p:cNvSpPr>
              <a:spLocks noChangeArrowheads="1"/>
            </p:cNvSpPr>
            <p:nvPr/>
          </p:nvSpPr>
          <p:spPr bwMode="auto">
            <a:xfrm>
              <a:off x="1037" y="3764"/>
              <a:ext cx="7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</p:grpSp>
      <p:sp>
        <p:nvSpPr>
          <p:cNvPr id="820288" name="矩形 1"/>
          <p:cNvSpPr>
            <a:spLocks noChangeArrowheads="1"/>
          </p:cNvSpPr>
          <p:nvPr/>
        </p:nvSpPr>
        <p:spPr bwMode="auto">
          <a:xfrm>
            <a:off x="2274888" y="252413"/>
            <a:ext cx="5853112" cy="584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可选字段，其长度是可变的</a:t>
            </a:r>
          </a:p>
        </p:txBody>
      </p:sp>
      <p:sp>
        <p:nvSpPr>
          <p:cNvPr id="82028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172B460-3723-4454-A3FF-E40DE61003FC}" type="slidenum">
              <a:rPr lang="zh-CN" altLang="en-US" smtClean="0"/>
              <a:pPr/>
              <a:t>29</a:t>
            </a:fld>
            <a:endParaRPr lang="en-US" altLang="zh-CN" smtClean="0"/>
          </a:p>
        </p:txBody>
      </p:sp>
      <p:sp>
        <p:nvSpPr>
          <p:cNvPr id="820290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37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3" name="Rectangle 45"/>
          <p:cNvSpPr>
            <a:spLocks noChangeArrowheads="1"/>
          </p:cNvSpPr>
          <p:nvPr/>
        </p:nvSpPr>
        <p:spPr bwMode="auto">
          <a:xfrm>
            <a:off x="631825" y="2022475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2274" name="Rectangle 54"/>
          <p:cNvSpPr>
            <a:spLocks noChangeArrowheads="1"/>
          </p:cNvSpPr>
          <p:nvPr/>
        </p:nvSpPr>
        <p:spPr bwMode="auto">
          <a:xfrm>
            <a:off x="508000" y="36782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2275" name="Rectangle 8"/>
          <p:cNvSpPr>
            <a:spLocks noChangeArrowheads="1"/>
          </p:cNvSpPr>
          <p:nvPr/>
        </p:nvSpPr>
        <p:spPr bwMode="auto">
          <a:xfrm>
            <a:off x="3351213" y="16208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6" name="Rectangle 10"/>
          <p:cNvSpPr>
            <a:spLocks noChangeArrowheads="1"/>
          </p:cNvSpPr>
          <p:nvPr/>
        </p:nvSpPr>
        <p:spPr bwMode="auto">
          <a:xfrm>
            <a:off x="1231900" y="16113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7" name="Rectangle 11"/>
          <p:cNvSpPr>
            <a:spLocks noChangeArrowheads="1"/>
          </p:cNvSpPr>
          <p:nvPr/>
        </p:nvSpPr>
        <p:spPr bwMode="auto">
          <a:xfrm>
            <a:off x="1246188" y="42656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8" name="Line 12"/>
          <p:cNvSpPr>
            <a:spLocks noChangeShapeType="1"/>
          </p:cNvSpPr>
          <p:nvPr/>
        </p:nvSpPr>
        <p:spPr bwMode="auto">
          <a:xfrm>
            <a:off x="1225550" y="20621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9" name="Line 13"/>
          <p:cNvSpPr>
            <a:spLocks noChangeShapeType="1"/>
          </p:cNvSpPr>
          <p:nvPr/>
        </p:nvSpPr>
        <p:spPr bwMode="auto">
          <a:xfrm>
            <a:off x="1225550" y="25050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0" name="Line 14"/>
          <p:cNvSpPr>
            <a:spLocks noChangeShapeType="1"/>
          </p:cNvSpPr>
          <p:nvPr/>
        </p:nvSpPr>
        <p:spPr bwMode="auto">
          <a:xfrm>
            <a:off x="1225550" y="29495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1" name="Line 15"/>
          <p:cNvSpPr>
            <a:spLocks noChangeShapeType="1"/>
          </p:cNvSpPr>
          <p:nvPr/>
        </p:nvSpPr>
        <p:spPr bwMode="auto">
          <a:xfrm>
            <a:off x="1225550" y="33877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2" name="Line 16"/>
          <p:cNvSpPr>
            <a:spLocks noChangeShapeType="1"/>
          </p:cNvSpPr>
          <p:nvPr/>
        </p:nvSpPr>
        <p:spPr bwMode="auto">
          <a:xfrm>
            <a:off x="1225550" y="38322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3" name="Line 17"/>
          <p:cNvSpPr>
            <a:spLocks noChangeShapeType="1"/>
          </p:cNvSpPr>
          <p:nvPr/>
        </p:nvSpPr>
        <p:spPr bwMode="auto">
          <a:xfrm>
            <a:off x="22748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4" name="Line 18"/>
          <p:cNvSpPr>
            <a:spLocks noChangeShapeType="1"/>
          </p:cNvSpPr>
          <p:nvPr/>
        </p:nvSpPr>
        <p:spPr bwMode="auto">
          <a:xfrm>
            <a:off x="33416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5" name="Line 19"/>
          <p:cNvSpPr>
            <a:spLocks noChangeShapeType="1"/>
          </p:cNvSpPr>
          <p:nvPr/>
        </p:nvSpPr>
        <p:spPr bwMode="auto">
          <a:xfrm>
            <a:off x="3341688" y="25146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6" name="Line 20"/>
          <p:cNvSpPr>
            <a:spLocks noChangeShapeType="1"/>
          </p:cNvSpPr>
          <p:nvPr/>
        </p:nvSpPr>
        <p:spPr bwMode="auto">
          <a:xfrm>
            <a:off x="5478463" y="16192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7" name="Line 21"/>
          <p:cNvSpPr>
            <a:spLocks noChangeShapeType="1"/>
          </p:cNvSpPr>
          <p:nvPr/>
        </p:nvSpPr>
        <p:spPr bwMode="auto">
          <a:xfrm flipV="1">
            <a:off x="7615238" y="38274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8" name="Line 22"/>
          <p:cNvSpPr>
            <a:spLocks noChangeShapeType="1"/>
          </p:cNvSpPr>
          <p:nvPr/>
        </p:nvSpPr>
        <p:spPr bwMode="auto">
          <a:xfrm>
            <a:off x="6348413" y="20716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9" name="Rectangle 23"/>
          <p:cNvSpPr>
            <a:spLocks noChangeArrowheads="1"/>
          </p:cNvSpPr>
          <p:nvPr/>
        </p:nvSpPr>
        <p:spPr bwMode="auto">
          <a:xfrm>
            <a:off x="1169988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2290" name="Rectangle 24"/>
          <p:cNvSpPr>
            <a:spLocks noChangeArrowheads="1"/>
          </p:cNvSpPr>
          <p:nvPr/>
        </p:nvSpPr>
        <p:spPr bwMode="auto">
          <a:xfrm>
            <a:off x="2182813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2291" name="Rectangle 25"/>
          <p:cNvSpPr>
            <a:spLocks noChangeArrowheads="1"/>
          </p:cNvSpPr>
          <p:nvPr/>
        </p:nvSpPr>
        <p:spPr bwMode="auto">
          <a:xfrm>
            <a:off x="3260725" y="12319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2292" name="Rectangle 26"/>
          <p:cNvSpPr>
            <a:spLocks noChangeArrowheads="1"/>
          </p:cNvSpPr>
          <p:nvPr/>
        </p:nvSpPr>
        <p:spPr bwMode="auto">
          <a:xfrm>
            <a:off x="53736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2293" name="Rectangle 27"/>
          <p:cNvSpPr>
            <a:spLocks noChangeArrowheads="1"/>
          </p:cNvSpPr>
          <p:nvPr/>
        </p:nvSpPr>
        <p:spPr bwMode="auto">
          <a:xfrm>
            <a:off x="62372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2294" name="Rectangle 28"/>
          <p:cNvSpPr>
            <a:spLocks noChangeArrowheads="1"/>
          </p:cNvSpPr>
          <p:nvPr/>
        </p:nvSpPr>
        <p:spPr bwMode="auto">
          <a:xfrm>
            <a:off x="7510463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2295" name="Rectangle 29"/>
          <p:cNvSpPr>
            <a:spLocks noChangeArrowheads="1"/>
          </p:cNvSpPr>
          <p:nvPr/>
        </p:nvSpPr>
        <p:spPr bwMode="auto">
          <a:xfrm>
            <a:off x="9366250" y="1231900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2296" name="Rectangle 30"/>
          <p:cNvSpPr>
            <a:spLocks noChangeArrowheads="1"/>
          </p:cNvSpPr>
          <p:nvPr/>
        </p:nvSpPr>
        <p:spPr bwMode="auto">
          <a:xfrm>
            <a:off x="1331913" y="1646238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2297" name="Rectangle 31"/>
          <p:cNvSpPr>
            <a:spLocks noChangeArrowheads="1"/>
          </p:cNvSpPr>
          <p:nvPr/>
        </p:nvSpPr>
        <p:spPr bwMode="auto">
          <a:xfrm>
            <a:off x="5543550" y="21224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2298" name="Rectangle 32"/>
          <p:cNvSpPr>
            <a:spLocks noChangeArrowheads="1"/>
          </p:cNvSpPr>
          <p:nvPr/>
        </p:nvSpPr>
        <p:spPr bwMode="auto">
          <a:xfrm>
            <a:off x="1544638" y="2527300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2299" name="Rectangle 33"/>
          <p:cNvSpPr>
            <a:spLocks noChangeArrowheads="1"/>
          </p:cNvSpPr>
          <p:nvPr/>
        </p:nvSpPr>
        <p:spPr bwMode="auto">
          <a:xfrm>
            <a:off x="3852863" y="25273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2300" name="Rectangle 34"/>
          <p:cNvSpPr>
            <a:spLocks noChangeArrowheads="1"/>
          </p:cNvSpPr>
          <p:nvPr/>
        </p:nvSpPr>
        <p:spPr bwMode="auto">
          <a:xfrm>
            <a:off x="2784475" y="2122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2301" name="Rectangle 35"/>
          <p:cNvSpPr>
            <a:spLocks noChangeArrowheads="1"/>
          </p:cNvSpPr>
          <p:nvPr/>
        </p:nvSpPr>
        <p:spPr bwMode="auto">
          <a:xfrm>
            <a:off x="3663950" y="1646238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2302" name="Rectangle 36"/>
          <p:cNvSpPr>
            <a:spLocks noChangeArrowheads="1"/>
          </p:cNvSpPr>
          <p:nvPr/>
        </p:nvSpPr>
        <p:spPr bwMode="auto">
          <a:xfrm>
            <a:off x="7050088" y="1646238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2303" name="Rectangle 37"/>
          <p:cNvSpPr>
            <a:spLocks noChangeArrowheads="1"/>
          </p:cNvSpPr>
          <p:nvPr/>
        </p:nvSpPr>
        <p:spPr bwMode="auto">
          <a:xfrm>
            <a:off x="7343775" y="21224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2304" name="Rectangle 38"/>
          <p:cNvSpPr>
            <a:spLocks noChangeArrowheads="1"/>
          </p:cNvSpPr>
          <p:nvPr/>
        </p:nvSpPr>
        <p:spPr bwMode="auto">
          <a:xfrm>
            <a:off x="8128000" y="385603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2305" name="Rectangle 39"/>
          <p:cNvSpPr>
            <a:spLocks noChangeArrowheads="1"/>
          </p:cNvSpPr>
          <p:nvPr/>
        </p:nvSpPr>
        <p:spPr bwMode="auto">
          <a:xfrm>
            <a:off x="6419850" y="2527300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2306" name="Rectangle 40"/>
          <p:cNvSpPr>
            <a:spLocks noChangeArrowheads="1"/>
          </p:cNvSpPr>
          <p:nvPr/>
        </p:nvSpPr>
        <p:spPr bwMode="auto">
          <a:xfrm>
            <a:off x="4784725" y="29860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2307" name="Rectangle 41"/>
          <p:cNvSpPr>
            <a:spLocks noChangeArrowheads="1"/>
          </p:cNvSpPr>
          <p:nvPr/>
        </p:nvSpPr>
        <p:spPr bwMode="auto">
          <a:xfrm>
            <a:off x="4506913" y="3427413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2308" name="Rectangle 42"/>
          <p:cNvSpPr>
            <a:spLocks noChangeArrowheads="1"/>
          </p:cNvSpPr>
          <p:nvPr/>
        </p:nvSpPr>
        <p:spPr bwMode="auto">
          <a:xfrm>
            <a:off x="2414588" y="3856038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2309" name="Rectangle 43"/>
          <p:cNvSpPr>
            <a:spLocks noChangeArrowheads="1"/>
          </p:cNvSpPr>
          <p:nvPr/>
        </p:nvSpPr>
        <p:spPr bwMode="auto">
          <a:xfrm>
            <a:off x="658813" y="1217613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2310" name="Rectangle 44"/>
          <p:cNvSpPr>
            <a:spLocks noChangeArrowheads="1"/>
          </p:cNvSpPr>
          <p:nvPr/>
        </p:nvSpPr>
        <p:spPr bwMode="auto">
          <a:xfrm>
            <a:off x="2170113" y="1627188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2311" name="Group 46"/>
          <p:cNvGrpSpPr>
            <a:grpSpLocks/>
          </p:cNvGrpSpPr>
          <p:nvPr/>
        </p:nvGrpSpPr>
        <p:grpSpPr bwMode="auto">
          <a:xfrm>
            <a:off x="1158875" y="3997325"/>
            <a:ext cx="142875" cy="69850"/>
            <a:chOff x="833" y="3024"/>
            <a:chExt cx="78" cy="51"/>
          </a:xfrm>
        </p:grpSpPr>
        <p:sp>
          <p:nvSpPr>
            <p:cNvPr id="822312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3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4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2315" name="Group 50"/>
          <p:cNvGrpSpPr>
            <a:grpSpLocks/>
          </p:cNvGrpSpPr>
          <p:nvPr/>
        </p:nvGrpSpPr>
        <p:grpSpPr bwMode="auto">
          <a:xfrm>
            <a:off x="9682163" y="4006850"/>
            <a:ext cx="142875" cy="66675"/>
            <a:chOff x="5432" y="3030"/>
            <a:chExt cx="78" cy="51"/>
          </a:xfrm>
        </p:grpSpPr>
        <p:sp>
          <p:nvSpPr>
            <p:cNvPr id="822316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7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8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2319" name="Rectangle 75"/>
          <p:cNvSpPr>
            <a:spLocks noChangeArrowheads="1"/>
          </p:cNvSpPr>
          <p:nvPr/>
        </p:nvSpPr>
        <p:spPr bwMode="auto">
          <a:xfrm>
            <a:off x="4129088" y="4398963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2320" name="Group 94"/>
          <p:cNvGrpSpPr>
            <a:grpSpLocks/>
          </p:cNvGrpSpPr>
          <p:nvPr/>
        </p:nvGrpSpPr>
        <p:grpSpPr bwMode="auto">
          <a:xfrm>
            <a:off x="266700" y="1590675"/>
            <a:ext cx="438150" cy="2663825"/>
            <a:chOff x="111" y="845"/>
            <a:chExt cx="255" cy="1678"/>
          </a:xfrm>
        </p:grpSpPr>
        <p:sp>
          <p:nvSpPr>
            <p:cNvPr id="82232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2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2323" name="AutoShape 97"/>
          <p:cNvSpPr>
            <a:spLocks/>
          </p:cNvSpPr>
          <p:nvPr/>
        </p:nvSpPr>
        <p:spPr bwMode="auto">
          <a:xfrm>
            <a:off x="998538" y="16621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7" name="Group 90"/>
          <p:cNvGrpSpPr>
            <a:grpSpLocks/>
          </p:cNvGrpSpPr>
          <p:nvPr/>
        </p:nvGrpSpPr>
        <p:grpSpPr bwMode="auto">
          <a:xfrm>
            <a:off x="1209675" y="1590675"/>
            <a:ext cx="5619750" cy="4430713"/>
            <a:chOff x="703" y="845"/>
            <a:chExt cx="3268" cy="2791"/>
          </a:xfrm>
        </p:grpSpPr>
        <p:sp>
          <p:nvSpPr>
            <p:cNvPr id="822325" name="Text Box 85"/>
            <p:cNvSpPr txBox="1">
              <a:spLocks noChangeArrowheads="1"/>
            </p:cNvSpPr>
            <p:nvPr/>
          </p:nvSpPr>
          <p:spPr bwMode="auto">
            <a:xfrm>
              <a:off x="884" y="3113"/>
              <a:ext cx="308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版本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位，指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协议的版本。</a:t>
              </a:r>
            </a:p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目前的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协议版本号为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(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即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IPv4)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。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26" name="Rectangle 89"/>
            <p:cNvSpPr>
              <a:spLocks noChangeArrowheads="1"/>
            </p:cNvSpPr>
            <p:nvPr/>
          </p:nvSpPr>
          <p:spPr bwMode="auto">
            <a:xfrm>
              <a:off x="703" y="845"/>
              <a:ext cx="635" cy="31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2327" name="标题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232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A39E95-1EAF-44DA-AE89-A9240945A55A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  <p:sp>
        <p:nvSpPr>
          <p:cNvPr id="822329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1" name="Rectangle 45"/>
          <p:cNvSpPr>
            <a:spLocks noChangeArrowheads="1"/>
          </p:cNvSpPr>
          <p:nvPr/>
        </p:nvSpPr>
        <p:spPr bwMode="auto">
          <a:xfrm>
            <a:off x="631825" y="2060575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4322" name="Rectangle 54"/>
          <p:cNvSpPr>
            <a:spLocks noChangeArrowheads="1"/>
          </p:cNvSpPr>
          <p:nvPr/>
        </p:nvSpPr>
        <p:spPr bwMode="auto">
          <a:xfrm>
            <a:off x="508000" y="37163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4323" name="Rectangle 8"/>
          <p:cNvSpPr>
            <a:spLocks noChangeArrowheads="1"/>
          </p:cNvSpPr>
          <p:nvPr/>
        </p:nvSpPr>
        <p:spPr bwMode="auto">
          <a:xfrm>
            <a:off x="3351213" y="16589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4" name="Rectangle 10"/>
          <p:cNvSpPr>
            <a:spLocks noChangeArrowheads="1"/>
          </p:cNvSpPr>
          <p:nvPr/>
        </p:nvSpPr>
        <p:spPr bwMode="auto">
          <a:xfrm>
            <a:off x="1231900" y="16494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5" name="Rectangle 11"/>
          <p:cNvSpPr>
            <a:spLocks noChangeArrowheads="1"/>
          </p:cNvSpPr>
          <p:nvPr/>
        </p:nvSpPr>
        <p:spPr bwMode="auto">
          <a:xfrm>
            <a:off x="1246188" y="43037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6" name="Line 12"/>
          <p:cNvSpPr>
            <a:spLocks noChangeShapeType="1"/>
          </p:cNvSpPr>
          <p:nvPr/>
        </p:nvSpPr>
        <p:spPr bwMode="auto">
          <a:xfrm>
            <a:off x="1225550" y="2100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7" name="Line 13"/>
          <p:cNvSpPr>
            <a:spLocks noChangeShapeType="1"/>
          </p:cNvSpPr>
          <p:nvPr/>
        </p:nvSpPr>
        <p:spPr bwMode="auto">
          <a:xfrm>
            <a:off x="1225550" y="25431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8" name="Line 14"/>
          <p:cNvSpPr>
            <a:spLocks noChangeShapeType="1"/>
          </p:cNvSpPr>
          <p:nvPr/>
        </p:nvSpPr>
        <p:spPr bwMode="auto">
          <a:xfrm>
            <a:off x="1225550" y="29876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9" name="Line 15"/>
          <p:cNvSpPr>
            <a:spLocks noChangeShapeType="1"/>
          </p:cNvSpPr>
          <p:nvPr/>
        </p:nvSpPr>
        <p:spPr bwMode="auto">
          <a:xfrm>
            <a:off x="1225550" y="34258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0" name="Line 16"/>
          <p:cNvSpPr>
            <a:spLocks noChangeShapeType="1"/>
          </p:cNvSpPr>
          <p:nvPr/>
        </p:nvSpPr>
        <p:spPr bwMode="auto">
          <a:xfrm>
            <a:off x="1225550" y="38703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1" name="Line 17"/>
          <p:cNvSpPr>
            <a:spLocks noChangeShapeType="1"/>
          </p:cNvSpPr>
          <p:nvPr/>
        </p:nvSpPr>
        <p:spPr bwMode="auto">
          <a:xfrm>
            <a:off x="22748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2" name="Line 18"/>
          <p:cNvSpPr>
            <a:spLocks noChangeShapeType="1"/>
          </p:cNvSpPr>
          <p:nvPr/>
        </p:nvSpPr>
        <p:spPr bwMode="auto">
          <a:xfrm>
            <a:off x="33416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3" name="Line 19"/>
          <p:cNvSpPr>
            <a:spLocks noChangeShapeType="1"/>
          </p:cNvSpPr>
          <p:nvPr/>
        </p:nvSpPr>
        <p:spPr bwMode="auto">
          <a:xfrm>
            <a:off x="3341688" y="25527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4" name="Line 20"/>
          <p:cNvSpPr>
            <a:spLocks noChangeShapeType="1"/>
          </p:cNvSpPr>
          <p:nvPr/>
        </p:nvSpPr>
        <p:spPr bwMode="auto">
          <a:xfrm>
            <a:off x="5478463" y="16573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5" name="Line 21"/>
          <p:cNvSpPr>
            <a:spLocks noChangeShapeType="1"/>
          </p:cNvSpPr>
          <p:nvPr/>
        </p:nvSpPr>
        <p:spPr bwMode="auto">
          <a:xfrm flipV="1">
            <a:off x="7615238" y="38655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6" name="Line 22"/>
          <p:cNvSpPr>
            <a:spLocks noChangeShapeType="1"/>
          </p:cNvSpPr>
          <p:nvPr/>
        </p:nvSpPr>
        <p:spPr bwMode="auto">
          <a:xfrm>
            <a:off x="6348413" y="21097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7" name="Rectangle 23"/>
          <p:cNvSpPr>
            <a:spLocks noChangeArrowheads="1"/>
          </p:cNvSpPr>
          <p:nvPr/>
        </p:nvSpPr>
        <p:spPr bwMode="auto">
          <a:xfrm>
            <a:off x="1169988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4338" name="Rectangle 24"/>
          <p:cNvSpPr>
            <a:spLocks noChangeArrowheads="1"/>
          </p:cNvSpPr>
          <p:nvPr/>
        </p:nvSpPr>
        <p:spPr bwMode="auto">
          <a:xfrm>
            <a:off x="2182813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4339" name="Rectangle 25"/>
          <p:cNvSpPr>
            <a:spLocks noChangeArrowheads="1"/>
          </p:cNvSpPr>
          <p:nvPr/>
        </p:nvSpPr>
        <p:spPr bwMode="auto">
          <a:xfrm>
            <a:off x="3260725" y="1270000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4340" name="Rectangle 26"/>
          <p:cNvSpPr>
            <a:spLocks noChangeArrowheads="1"/>
          </p:cNvSpPr>
          <p:nvPr/>
        </p:nvSpPr>
        <p:spPr bwMode="auto">
          <a:xfrm>
            <a:off x="53736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4341" name="Rectangle 27"/>
          <p:cNvSpPr>
            <a:spLocks noChangeArrowheads="1"/>
          </p:cNvSpPr>
          <p:nvPr/>
        </p:nvSpPr>
        <p:spPr bwMode="auto">
          <a:xfrm>
            <a:off x="62372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4342" name="Rectangle 28"/>
          <p:cNvSpPr>
            <a:spLocks noChangeArrowheads="1"/>
          </p:cNvSpPr>
          <p:nvPr/>
        </p:nvSpPr>
        <p:spPr bwMode="auto">
          <a:xfrm>
            <a:off x="7510463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4343" name="Rectangle 29"/>
          <p:cNvSpPr>
            <a:spLocks noChangeArrowheads="1"/>
          </p:cNvSpPr>
          <p:nvPr/>
        </p:nvSpPr>
        <p:spPr bwMode="auto">
          <a:xfrm>
            <a:off x="9366250" y="1270000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4344" name="Rectangle 30"/>
          <p:cNvSpPr>
            <a:spLocks noChangeArrowheads="1"/>
          </p:cNvSpPr>
          <p:nvPr/>
        </p:nvSpPr>
        <p:spPr bwMode="auto">
          <a:xfrm>
            <a:off x="1331913" y="1684338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4345" name="Rectangle 31"/>
          <p:cNvSpPr>
            <a:spLocks noChangeArrowheads="1"/>
          </p:cNvSpPr>
          <p:nvPr/>
        </p:nvSpPr>
        <p:spPr bwMode="auto">
          <a:xfrm>
            <a:off x="5543550" y="2160588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4346" name="Rectangle 32"/>
          <p:cNvSpPr>
            <a:spLocks noChangeArrowheads="1"/>
          </p:cNvSpPr>
          <p:nvPr/>
        </p:nvSpPr>
        <p:spPr bwMode="auto">
          <a:xfrm>
            <a:off x="1544638" y="2565400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4347" name="Rectangle 33"/>
          <p:cNvSpPr>
            <a:spLocks noChangeArrowheads="1"/>
          </p:cNvSpPr>
          <p:nvPr/>
        </p:nvSpPr>
        <p:spPr bwMode="auto">
          <a:xfrm>
            <a:off x="3852863" y="2565400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4348" name="Rectangle 34"/>
          <p:cNvSpPr>
            <a:spLocks noChangeArrowheads="1"/>
          </p:cNvSpPr>
          <p:nvPr/>
        </p:nvSpPr>
        <p:spPr bwMode="auto">
          <a:xfrm>
            <a:off x="2784475" y="216058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4349" name="Rectangle 35"/>
          <p:cNvSpPr>
            <a:spLocks noChangeArrowheads="1"/>
          </p:cNvSpPr>
          <p:nvPr/>
        </p:nvSpPr>
        <p:spPr bwMode="auto">
          <a:xfrm>
            <a:off x="3663950" y="1684338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4350" name="Rectangle 36"/>
          <p:cNvSpPr>
            <a:spLocks noChangeArrowheads="1"/>
          </p:cNvSpPr>
          <p:nvPr/>
        </p:nvSpPr>
        <p:spPr bwMode="auto">
          <a:xfrm>
            <a:off x="7050088" y="1684338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4351" name="Rectangle 37"/>
          <p:cNvSpPr>
            <a:spLocks noChangeArrowheads="1"/>
          </p:cNvSpPr>
          <p:nvPr/>
        </p:nvSpPr>
        <p:spPr bwMode="auto">
          <a:xfrm>
            <a:off x="7343775" y="21605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4352" name="Rectangle 38"/>
          <p:cNvSpPr>
            <a:spLocks noChangeArrowheads="1"/>
          </p:cNvSpPr>
          <p:nvPr/>
        </p:nvSpPr>
        <p:spPr bwMode="auto">
          <a:xfrm>
            <a:off x="8128000" y="389413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4353" name="Rectangle 39"/>
          <p:cNvSpPr>
            <a:spLocks noChangeArrowheads="1"/>
          </p:cNvSpPr>
          <p:nvPr/>
        </p:nvSpPr>
        <p:spPr bwMode="auto">
          <a:xfrm>
            <a:off x="6419850" y="2565400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4354" name="Rectangle 40"/>
          <p:cNvSpPr>
            <a:spLocks noChangeArrowheads="1"/>
          </p:cNvSpPr>
          <p:nvPr/>
        </p:nvSpPr>
        <p:spPr bwMode="auto">
          <a:xfrm>
            <a:off x="4784725" y="30241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4355" name="Rectangle 41"/>
          <p:cNvSpPr>
            <a:spLocks noChangeArrowheads="1"/>
          </p:cNvSpPr>
          <p:nvPr/>
        </p:nvSpPr>
        <p:spPr bwMode="auto">
          <a:xfrm>
            <a:off x="4506913" y="3465513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4356" name="Rectangle 42"/>
          <p:cNvSpPr>
            <a:spLocks noChangeArrowheads="1"/>
          </p:cNvSpPr>
          <p:nvPr/>
        </p:nvSpPr>
        <p:spPr bwMode="auto">
          <a:xfrm>
            <a:off x="2414588" y="3894138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4357" name="Rectangle 43"/>
          <p:cNvSpPr>
            <a:spLocks noChangeArrowheads="1"/>
          </p:cNvSpPr>
          <p:nvPr/>
        </p:nvSpPr>
        <p:spPr bwMode="auto">
          <a:xfrm>
            <a:off x="658813" y="1255713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4358" name="Rectangle 44"/>
          <p:cNvSpPr>
            <a:spLocks noChangeArrowheads="1"/>
          </p:cNvSpPr>
          <p:nvPr/>
        </p:nvSpPr>
        <p:spPr bwMode="auto">
          <a:xfrm>
            <a:off x="2170113" y="1665288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4359" name="Group 46"/>
          <p:cNvGrpSpPr>
            <a:grpSpLocks/>
          </p:cNvGrpSpPr>
          <p:nvPr/>
        </p:nvGrpSpPr>
        <p:grpSpPr bwMode="auto">
          <a:xfrm>
            <a:off x="1158875" y="4035425"/>
            <a:ext cx="142875" cy="69850"/>
            <a:chOff x="833" y="3024"/>
            <a:chExt cx="78" cy="51"/>
          </a:xfrm>
        </p:grpSpPr>
        <p:sp>
          <p:nvSpPr>
            <p:cNvPr id="824360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1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2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4363" name="Group 50"/>
          <p:cNvGrpSpPr>
            <a:grpSpLocks/>
          </p:cNvGrpSpPr>
          <p:nvPr/>
        </p:nvGrpSpPr>
        <p:grpSpPr bwMode="auto">
          <a:xfrm>
            <a:off x="9682163" y="4044950"/>
            <a:ext cx="142875" cy="66675"/>
            <a:chOff x="5432" y="3030"/>
            <a:chExt cx="78" cy="51"/>
          </a:xfrm>
        </p:grpSpPr>
        <p:sp>
          <p:nvSpPr>
            <p:cNvPr id="824364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5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6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4367" name="Rectangle 75"/>
          <p:cNvSpPr>
            <a:spLocks noChangeArrowheads="1"/>
          </p:cNvSpPr>
          <p:nvPr/>
        </p:nvSpPr>
        <p:spPr bwMode="auto">
          <a:xfrm>
            <a:off x="4129088" y="4437063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4368" name="Group 94"/>
          <p:cNvGrpSpPr>
            <a:grpSpLocks/>
          </p:cNvGrpSpPr>
          <p:nvPr/>
        </p:nvGrpSpPr>
        <p:grpSpPr bwMode="auto">
          <a:xfrm>
            <a:off x="266700" y="1628775"/>
            <a:ext cx="438150" cy="2663825"/>
            <a:chOff x="111" y="845"/>
            <a:chExt cx="255" cy="1678"/>
          </a:xfrm>
        </p:grpSpPr>
        <p:sp>
          <p:nvSpPr>
            <p:cNvPr id="824369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70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4371" name="AutoShape 97"/>
          <p:cNvSpPr>
            <a:spLocks/>
          </p:cNvSpPr>
          <p:nvPr/>
        </p:nvSpPr>
        <p:spPr bwMode="auto">
          <a:xfrm>
            <a:off x="998538" y="17002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Group 79"/>
          <p:cNvGrpSpPr>
            <a:grpSpLocks/>
          </p:cNvGrpSpPr>
          <p:nvPr/>
        </p:nvGrpSpPr>
        <p:grpSpPr bwMode="auto">
          <a:xfrm>
            <a:off x="1665288" y="1628775"/>
            <a:ext cx="5791200" cy="4824413"/>
            <a:chOff x="968" y="845"/>
            <a:chExt cx="3368" cy="3039"/>
          </a:xfrm>
        </p:grpSpPr>
        <p:sp>
          <p:nvSpPr>
            <p:cNvPr id="824373" name="Text Box 74"/>
            <p:cNvSpPr txBox="1">
              <a:spLocks noChangeArrowheads="1"/>
            </p:cNvSpPr>
            <p:nvPr/>
          </p:nvSpPr>
          <p:spPr bwMode="auto">
            <a:xfrm>
              <a:off x="968" y="3128"/>
              <a:ext cx="336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首部长度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位，可表示的最大数值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是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15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个单位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(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一个单位为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)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，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因此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的首部长度的最大值是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60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字节。</a:t>
              </a:r>
            </a:p>
          </p:txBody>
        </p:sp>
        <p:sp>
          <p:nvSpPr>
            <p:cNvPr id="824374" name="Rectangle 78"/>
            <p:cNvSpPr>
              <a:spLocks noChangeArrowheads="1"/>
            </p:cNvSpPr>
            <p:nvPr/>
          </p:nvSpPr>
          <p:spPr bwMode="auto">
            <a:xfrm>
              <a:off x="1303" y="845"/>
              <a:ext cx="658" cy="31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437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437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E7C547-FB5C-45A3-9A7A-34BC97BA2A1C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  <p:sp>
        <p:nvSpPr>
          <p:cNvPr id="82437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69" name="Rectangle 45"/>
          <p:cNvSpPr>
            <a:spLocks noChangeArrowheads="1"/>
          </p:cNvSpPr>
          <p:nvPr/>
        </p:nvSpPr>
        <p:spPr bwMode="auto">
          <a:xfrm>
            <a:off x="631825" y="2035175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6370" name="Rectangle 54"/>
          <p:cNvSpPr>
            <a:spLocks noChangeArrowheads="1"/>
          </p:cNvSpPr>
          <p:nvPr/>
        </p:nvSpPr>
        <p:spPr bwMode="auto">
          <a:xfrm>
            <a:off x="508000" y="36909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6371" name="Rectangle 8"/>
          <p:cNvSpPr>
            <a:spLocks noChangeArrowheads="1"/>
          </p:cNvSpPr>
          <p:nvPr/>
        </p:nvSpPr>
        <p:spPr bwMode="auto">
          <a:xfrm>
            <a:off x="3351213" y="16335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2" name="Rectangle 10"/>
          <p:cNvSpPr>
            <a:spLocks noChangeArrowheads="1"/>
          </p:cNvSpPr>
          <p:nvPr/>
        </p:nvSpPr>
        <p:spPr bwMode="auto">
          <a:xfrm>
            <a:off x="1231900" y="16240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3" name="Rectangle 11"/>
          <p:cNvSpPr>
            <a:spLocks noChangeArrowheads="1"/>
          </p:cNvSpPr>
          <p:nvPr/>
        </p:nvSpPr>
        <p:spPr bwMode="auto">
          <a:xfrm>
            <a:off x="1246188" y="42783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4" name="Line 12"/>
          <p:cNvSpPr>
            <a:spLocks noChangeShapeType="1"/>
          </p:cNvSpPr>
          <p:nvPr/>
        </p:nvSpPr>
        <p:spPr bwMode="auto">
          <a:xfrm>
            <a:off x="1225550" y="20748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5" name="Line 13"/>
          <p:cNvSpPr>
            <a:spLocks noChangeShapeType="1"/>
          </p:cNvSpPr>
          <p:nvPr/>
        </p:nvSpPr>
        <p:spPr bwMode="auto">
          <a:xfrm>
            <a:off x="1225550" y="25177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6" name="Line 14"/>
          <p:cNvSpPr>
            <a:spLocks noChangeShapeType="1"/>
          </p:cNvSpPr>
          <p:nvPr/>
        </p:nvSpPr>
        <p:spPr bwMode="auto">
          <a:xfrm>
            <a:off x="1225550" y="29622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7" name="Line 15"/>
          <p:cNvSpPr>
            <a:spLocks noChangeShapeType="1"/>
          </p:cNvSpPr>
          <p:nvPr/>
        </p:nvSpPr>
        <p:spPr bwMode="auto">
          <a:xfrm>
            <a:off x="1225550" y="34004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8" name="Line 16"/>
          <p:cNvSpPr>
            <a:spLocks noChangeShapeType="1"/>
          </p:cNvSpPr>
          <p:nvPr/>
        </p:nvSpPr>
        <p:spPr bwMode="auto">
          <a:xfrm>
            <a:off x="1225550" y="38449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9" name="Line 17"/>
          <p:cNvSpPr>
            <a:spLocks noChangeShapeType="1"/>
          </p:cNvSpPr>
          <p:nvPr/>
        </p:nvSpPr>
        <p:spPr bwMode="auto">
          <a:xfrm>
            <a:off x="2274888" y="16319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0" name="Line 18"/>
          <p:cNvSpPr>
            <a:spLocks noChangeShapeType="1"/>
          </p:cNvSpPr>
          <p:nvPr/>
        </p:nvSpPr>
        <p:spPr bwMode="auto">
          <a:xfrm>
            <a:off x="3341688" y="16319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1" name="Line 19"/>
          <p:cNvSpPr>
            <a:spLocks noChangeShapeType="1"/>
          </p:cNvSpPr>
          <p:nvPr/>
        </p:nvSpPr>
        <p:spPr bwMode="auto">
          <a:xfrm>
            <a:off x="3341688" y="25273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2" name="Line 20"/>
          <p:cNvSpPr>
            <a:spLocks noChangeShapeType="1"/>
          </p:cNvSpPr>
          <p:nvPr/>
        </p:nvSpPr>
        <p:spPr bwMode="auto">
          <a:xfrm>
            <a:off x="5478463" y="16319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3" name="Line 21"/>
          <p:cNvSpPr>
            <a:spLocks noChangeShapeType="1"/>
          </p:cNvSpPr>
          <p:nvPr/>
        </p:nvSpPr>
        <p:spPr bwMode="auto">
          <a:xfrm flipV="1">
            <a:off x="7615238" y="38401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4" name="Line 22"/>
          <p:cNvSpPr>
            <a:spLocks noChangeShapeType="1"/>
          </p:cNvSpPr>
          <p:nvPr/>
        </p:nvSpPr>
        <p:spPr bwMode="auto">
          <a:xfrm>
            <a:off x="6348413" y="20843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5" name="Rectangle 23"/>
          <p:cNvSpPr>
            <a:spLocks noChangeArrowheads="1"/>
          </p:cNvSpPr>
          <p:nvPr/>
        </p:nvSpPr>
        <p:spPr bwMode="auto">
          <a:xfrm>
            <a:off x="1169988" y="12446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6386" name="Rectangle 24"/>
          <p:cNvSpPr>
            <a:spLocks noChangeArrowheads="1"/>
          </p:cNvSpPr>
          <p:nvPr/>
        </p:nvSpPr>
        <p:spPr bwMode="auto">
          <a:xfrm>
            <a:off x="2182813" y="12446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6387" name="Rectangle 25"/>
          <p:cNvSpPr>
            <a:spLocks noChangeArrowheads="1"/>
          </p:cNvSpPr>
          <p:nvPr/>
        </p:nvSpPr>
        <p:spPr bwMode="auto">
          <a:xfrm>
            <a:off x="3260725" y="1244600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6388" name="Rectangle 26"/>
          <p:cNvSpPr>
            <a:spLocks noChangeArrowheads="1"/>
          </p:cNvSpPr>
          <p:nvPr/>
        </p:nvSpPr>
        <p:spPr bwMode="auto">
          <a:xfrm>
            <a:off x="5373688" y="12446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6389" name="Rectangle 27"/>
          <p:cNvSpPr>
            <a:spLocks noChangeArrowheads="1"/>
          </p:cNvSpPr>
          <p:nvPr/>
        </p:nvSpPr>
        <p:spPr bwMode="auto">
          <a:xfrm>
            <a:off x="6237288" y="12446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6390" name="Rectangle 28"/>
          <p:cNvSpPr>
            <a:spLocks noChangeArrowheads="1"/>
          </p:cNvSpPr>
          <p:nvPr/>
        </p:nvSpPr>
        <p:spPr bwMode="auto">
          <a:xfrm>
            <a:off x="7510463" y="12446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6391" name="Rectangle 29"/>
          <p:cNvSpPr>
            <a:spLocks noChangeArrowheads="1"/>
          </p:cNvSpPr>
          <p:nvPr/>
        </p:nvSpPr>
        <p:spPr bwMode="auto">
          <a:xfrm>
            <a:off x="9366250" y="1244600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6392" name="Rectangle 30"/>
          <p:cNvSpPr>
            <a:spLocks noChangeArrowheads="1"/>
          </p:cNvSpPr>
          <p:nvPr/>
        </p:nvSpPr>
        <p:spPr bwMode="auto">
          <a:xfrm>
            <a:off x="1331913" y="1658938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6393" name="Rectangle 31"/>
          <p:cNvSpPr>
            <a:spLocks noChangeArrowheads="1"/>
          </p:cNvSpPr>
          <p:nvPr/>
        </p:nvSpPr>
        <p:spPr bwMode="auto">
          <a:xfrm>
            <a:off x="5543550" y="2135188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6394" name="Rectangle 32"/>
          <p:cNvSpPr>
            <a:spLocks noChangeArrowheads="1"/>
          </p:cNvSpPr>
          <p:nvPr/>
        </p:nvSpPr>
        <p:spPr bwMode="auto">
          <a:xfrm>
            <a:off x="1544638" y="2540000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6395" name="Rectangle 33"/>
          <p:cNvSpPr>
            <a:spLocks noChangeArrowheads="1"/>
          </p:cNvSpPr>
          <p:nvPr/>
        </p:nvSpPr>
        <p:spPr bwMode="auto">
          <a:xfrm>
            <a:off x="3852863" y="2540000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6396" name="Rectangle 34"/>
          <p:cNvSpPr>
            <a:spLocks noChangeArrowheads="1"/>
          </p:cNvSpPr>
          <p:nvPr/>
        </p:nvSpPr>
        <p:spPr bwMode="auto">
          <a:xfrm>
            <a:off x="2784475" y="213518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6397" name="Rectangle 35"/>
          <p:cNvSpPr>
            <a:spLocks noChangeArrowheads="1"/>
          </p:cNvSpPr>
          <p:nvPr/>
        </p:nvSpPr>
        <p:spPr bwMode="auto">
          <a:xfrm>
            <a:off x="3663950" y="1658938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6398" name="Rectangle 36"/>
          <p:cNvSpPr>
            <a:spLocks noChangeArrowheads="1"/>
          </p:cNvSpPr>
          <p:nvPr/>
        </p:nvSpPr>
        <p:spPr bwMode="auto">
          <a:xfrm>
            <a:off x="7050088" y="1658938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6399" name="Rectangle 37"/>
          <p:cNvSpPr>
            <a:spLocks noChangeArrowheads="1"/>
          </p:cNvSpPr>
          <p:nvPr/>
        </p:nvSpPr>
        <p:spPr bwMode="auto">
          <a:xfrm>
            <a:off x="7343775" y="21351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6400" name="Rectangle 38"/>
          <p:cNvSpPr>
            <a:spLocks noChangeArrowheads="1"/>
          </p:cNvSpPr>
          <p:nvPr/>
        </p:nvSpPr>
        <p:spPr bwMode="auto">
          <a:xfrm>
            <a:off x="8128000" y="386873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6401" name="Rectangle 39"/>
          <p:cNvSpPr>
            <a:spLocks noChangeArrowheads="1"/>
          </p:cNvSpPr>
          <p:nvPr/>
        </p:nvSpPr>
        <p:spPr bwMode="auto">
          <a:xfrm>
            <a:off x="6419850" y="2540000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6402" name="Rectangle 40"/>
          <p:cNvSpPr>
            <a:spLocks noChangeArrowheads="1"/>
          </p:cNvSpPr>
          <p:nvPr/>
        </p:nvSpPr>
        <p:spPr bwMode="auto">
          <a:xfrm>
            <a:off x="4784725" y="29987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6403" name="Rectangle 41"/>
          <p:cNvSpPr>
            <a:spLocks noChangeArrowheads="1"/>
          </p:cNvSpPr>
          <p:nvPr/>
        </p:nvSpPr>
        <p:spPr bwMode="auto">
          <a:xfrm>
            <a:off x="4506913" y="3440113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6404" name="Rectangle 42"/>
          <p:cNvSpPr>
            <a:spLocks noChangeArrowheads="1"/>
          </p:cNvSpPr>
          <p:nvPr/>
        </p:nvSpPr>
        <p:spPr bwMode="auto">
          <a:xfrm>
            <a:off x="2414588" y="3868738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6405" name="Rectangle 43"/>
          <p:cNvSpPr>
            <a:spLocks noChangeArrowheads="1"/>
          </p:cNvSpPr>
          <p:nvPr/>
        </p:nvSpPr>
        <p:spPr bwMode="auto">
          <a:xfrm>
            <a:off x="658813" y="1230313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6406" name="Rectangle 44"/>
          <p:cNvSpPr>
            <a:spLocks noChangeArrowheads="1"/>
          </p:cNvSpPr>
          <p:nvPr/>
        </p:nvSpPr>
        <p:spPr bwMode="auto">
          <a:xfrm>
            <a:off x="2170113" y="1639888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6407" name="Group 46"/>
          <p:cNvGrpSpPr>
            <a:grpSpLocks/>
          </p:cNvGrpSpPr>
          <p:nvPr/>
        </p:nvGrpSpPr>
        <p:grpSpPr bwMode="auto">
          <a:xfrm>
            <a:off x="1158875" y="4010025"/>
            <a:ext cx="142875" cy="69850"/>
            <a:chOff x="833" y="3024"/>
            <a:chExt cx="78" cy="51"/>
          </a:xfrm>
        </p:grpSpPr>
        <p:sp>
          <p:nvSpPr>
            <p:cNvPr id="826408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09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0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6411" name="Group 50"/>
          <p:cNvGrpSpPr>
            <a:grpSpLocks/>
          </p:cNvGrpSpPr>
          <p:nvPr/>
        </p:nvGrpSpPr>
        <p:grpSpPr bwMode="auto">
          <a:xfrm>
            <a:off x="9682163" y="4019550"/>
            <a:ext cx="142875" cy="66675"/>
            <a:chOff x="5432" y="3030"/>
            <a:chExt cx="78" cy="51"/>
          </a:xfrm>
        </p:grpSpPr>
        <p:sp>
          <p:nvSpPr>
            <p:cNvPr id="826412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3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4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6415" name="Rectangle 75"/>
          <p:cNvSpPr>
            <a:spLocks noChangeArrowheads="1"/>
          </p:cNvSpPr>
          <p:nvPr/>
        </p:nvSpPr>
        <p:spPr bwMode="auto">
          <a:xfrm>
            <a:off x="4129088" y="4411663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6416" name="Group 94"/>
          <p:cNvGrpSpPr>
            <a:grpSpLocks/>
          </p:cNvGrpSpPr>
          <p:nvPr/>
        </p:nvGrpSpPr>
        <p:grpSpPr bwMode="auto">
          <a:xfrm>
            <a:off x="266700" y="1603375"/>
            <a:ext cx="438150" cy="2663825"/>
            <a:chOff x="111" y="845"/>
            <a:chExt cx="255" cy="1678"/>
          </a:xfrm>
        </p:grpSpPr>
        <p:sp>
          <p:nvSpPr>
            <p:cNvPr id="826417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8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6419" name="AutoShape 97"/>
          <p:cNvSpPr>
            <a:spLocks/>
          </p:cNvSpPr>
          <p:nvPr/>
        </p:nvSpPr>
        <p:spPr bwMode="auto">
          <a:xfrm>
            <a:off x="998538" y="16748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80"/>
          <p:cNvGrpSpPr>
            <a:grpSpLocks/>
          </p:cNvGrpSpPr>
          <p:nvPr/>
        </p:nvGrpSpPr>
        <p:grpSpPr bwMode="auto">
          <a:xfrm>
            <a:off x="1716088" y="1603375"/>
            <a:ext cx="7065962" cy="5065713"/>
            <a:chOff x="998" y="845"/>
            <a:chExt cx="4108" cy="3191"/>
          </a:xfrm>
        </p:grpSpPr>
        <p:sp>
          <p:nvSpPr>
            <p:cNvPr id="826421" name="Text Box 74"/>
            <p:cNvSpPr txBox="1">
              <a:spLocks noChangeArrowheads="1"/>
            </p:cNvSpPr>
            <p:nvPr/>
          </p:nvSpPr>
          <p:spPr bwMode="auto">
            <a:xfrm>
              <a:off x="998" y="3008"/>
              <a:ext cx="4108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区分服务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位，用来获得更好的服务。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在旧标准中叫做服务类型，但实际上一直未被使用过。</a:t>
              </a:r>
            </a:p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1998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年这个字段改名为区分服务。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只有在使用区分服务（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DiffServ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）时，这个字段才起作用。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在一般的情况下都不使用这个字段 </a:t>
              </a:r>
            </a:p>
          </p:txBody>
        </p:sp>
        <p:sp>
          <p:nvSpPr>
            <p:cNvPr id="826422" name="Rectangle 76"/>
            <p:cNvSpPr>
              <a:spLocks noChangeArrowheads="1"/>
            </p:cNvSpPr>
            <p:nvPr/>
          </p:nvSpPr>
          <p:spPr bwMode="auto">
            <a:xfrm>
              <a:off x="1950" y="845"/>
              <a:ext cx="1248" cy="31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642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642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301AFD-E372-4465-9A70-E7204975ED93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82642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7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8418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8419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0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1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2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3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4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5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6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7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8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9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0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1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2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3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8434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8435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8436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8437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8438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8439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8440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8441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8442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8443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8444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8445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8446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8447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8448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8449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8450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8451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8452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8453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8454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8455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28456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57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58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8459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28460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61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62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8463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8464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28465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66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8467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Group 80"/>
          <p:cNvGrpSpPr>
            <a:grpSpLocks/>
          </p:cNvGrpSpPr>
          <p:nvPr/>
        </p:nvGrpSpPr>
        <p:grpSpPr bwMode="auto">
          <a:xfrm>
            <a:off x="2017713" y="1581150"/>
            <a:ext cx="7770812" cy="4800600"/>
            <a:chOff x="1173" y="845"/>
            <a:chExt cx="4519" cy="3024"/>
          </a:xfrm>
        </p:grpSpPr>
        <p:sp>
          <p:nvSpPr>
            <p:cNvPr id="828469" name="Text Box 74"/>
            <p:cNvSpPr txBox="1">
              <a:spLocks noChangeArrowheads="1"/>
            </p:cNvSpPr>
            <p:nvPr/>
          </p:nvSpPr>
          <p:spPr bwMode="auto">
            <a:xfrm>
              <a:off x="1173" y="3113"/>
              <a:ext cx="4303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总长度</a:t>
              </a:r>
              <a:r>
                <a:rPr lang="en-US" altLang="zh-CN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位，指首部和数据之和的长度，</a:t>
              </a:r>
            </a:p>
            <a:p>
              <a:pPr algn="ctr" eaLnBrk="0" hangingPunct="0"/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单位为</a:t>
              </a:r>
              <a:r>
                <a:rPr lang="zh-CN" altLang="en-US" sz="24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字节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，因此数据报的最大长度为 </a:t>
              </a:r>
              <a:r>
                <a:rPr lang="en-US" altLang="zh-CN" sz="24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65535 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字节。</a:t>
              </a:r>
            </a:p>
            <a:p>
              <a:pPr algn="ctr" eaLnBrk="0" hangingPunct="0"/>
              <a:r>
                <a:rPr lang="zh-CN" altLang="en-US" sz="24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总长度必须不超过</a:t>
              </a:r>
              <a:r>
                <a:rPr lang="zh-CN" altLang="en-US" sz="2400" b="1" u="sng" dirty="0">
                  <a:solidFill>
                    <a:srgbClr val="C00000"/>
                  </a:solidFill>
                  <a:ea typeface="黑体" panose="02010609060101010101" pitchFamily="49" charset="-122"/>
                </a:rPr>
                <a:t>最大传送单元 </a:t>
              </a:r>
              <a:r>
                <a:rPr lang="en-US" altLang="zh-CN" sz="2400" b="1" u="sng" dirty="0">
                  <a:solidFill>
                    <a:srgbClr val="C00000"/>
                  </a:solidFill>
                  <a:ea typeface="黑体" panose="02010609060101010101" pitchFamily="49" charset="-122"/>
                </a:rPr>
                <a:t>MTU</a:t>
              </a:r>
              <a:r>
                <a:rPr lang="zh-CN" altLang="en-US" sz="24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。 </a:t>
              </a:r>
            </a:p>
          </p:txBody>
        </p:sp>
        <p:sp>
          <p:nvSpPr>
            <p:cNvPr id="828470" name="Rectangle 79"/>
            <p:cNvSpPr>
              <a:spLocks noChangeArrowheads="1"/>
            </p:cNvSpPr>
            <p:nvPr/>
          </p:nvSpPr>
          <p:spPr bwMode="auto">
            <a:xfrm>
              <a:off x="3208" y="845"/>
              <a:ext cx="2484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8471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847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A72E08-7817-405A-AA96-FE57C36AFDC1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  <p:sp>
        <p:nvSpPr>
          <p:cNvPr id="828473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5" name="Rectangle 45"/>
          <p:cNvSpPr>
            <a:spLocks noChangeArrowheads="1"/>
          </p:cNvSpPr>
          <p:nvPr/>
        </p:nvSpPr>
        <p:spPr bwMode="auto">
          <a:xfrm>
            <a:off x="631825" y="2022475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30466" name="Rectangle 54"/>
          <p:cNvSpPr>
            <a:spLocks noChangeArrowheads="1"/>
          </p:cNvSpPr>
          <p:nvPr/>
        </p:nvSpPr>
        <p:spPr bwMode="auto">
          <a:xfrm>
            <a:off x="508000" y="36782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30467" name="Rectangle 8"/>
          <p:cNvSpPr>
            <a:spLocks noChangeArrowheads="1"/>
          </p:cNvSpPr>
          <p:nvPr/>
        </p:nvSpPr>
        <p:spPr bwMode="auto">
          <a:xfrm>
            <a:off x="3351213" y="16208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68" name="Rectangle 10"/>
          <p:cNvSpPr>
            <a:spLocks noChangeArrowheads="1"/>
          </p:cNvSpPr>
          <p:nvPr/>
        </p:nvSpPr>
        <p:spPr bwMode="auto">
          <a:xfrm>
            <a:off x="1231900" y="16113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69" name="Rectangle 11"/>
          <p:cNvSpPr>
            <a:spLocks noChangeArrowheads="1"/>
          </p:cNvSpPr>
          <p:nvPr/>
        </p:nvSpPr>
        <p:spPr bwMode="auto">
          <a:xfrm>
            <a:off x="1246188" y="42656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0" name="Line 12"/>
          <p:cNvSpPr>
            <a:spLocks noChangeShapeType="1"/>
          </p:cNvSpPr>
          <p:nvPr/>
        </p:nvSpPr>
        <p:spPr bwMode="auto">
          <a:xfrm>
            <a:off x="1225550" y="20621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1" name="Line 13"/>
          <p:cNvSpPr>
            <a:spLocks noChangeShapeType="1"/>
          </p:cNvSpPr>
          <p:nvPr/>
        </p:nvSpPr>
        <p:spPr bwMode="auto">
          <a:xfrm>
            <a:off x="1225550" y="25050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2" name="Line 14"/>
          <p:cNvSpPr>
            <a:spLocks noChangeShapeType="1"/>
          </p:cNvSpPr>
          <p:nvPr/>
        </p:nvSpPr>
        <p:spPr bwMode="auto">
          <a:xfrm>
            <a:off x="1225550" y="29495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3" name="Line 15"/>
          <p:cNvSpPr>
            <a:spLocks noChangeShapeType="1"/>
          </p:cNvSpPr>
          <p:nvPr/>
        </p:nvSpPr>
        <p:spPr bwMode="auto">
          <a:xfrm>
            <a:off x="1225550" y="33877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4" name="Line 16"/>
          <p:cNvSpPr>
            <a:spLocks noChangeShapeType="1"/>
          </p:cNvSpPr>
          <p:nvPr/>
        </p:nvSpPr>
        <p:spPr bwMode="auto">
          <a:xfrm>
            <a:off x="1225550" y="38322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5" name="Line 17"/>
          <p:cNvSpPr>
            <a:spLocks noChangeShapeType="1"/>
          </p:cNvSpPr>
          <p:nvPr/>
        </p:nvSpPr>
        <p:spPr bwMode="auto">
          <a:xfrm>
            <a:off x="22748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6" name="Line 18"/>
          <p:cNvSpPr>
            <a:spLocks noChangeShapeType="1"/>
          </p:cNvSpPr>
          <p:nvPr/>
        </p:nvSpPr>
        <p:spPr bwMode="auto">
          <a:xfrm>
            <a:off x="33416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7" name="Line 19"/>
          <p:cNvSpPr>
            <a:spLocks noChangeShapeType="1"/>
          </p:cNvSpPr>
          <p:nvPr/>
        </p:nvSpPr>
        <p:spPr bwMode="auto">
          <a:xfrm>
            <a:off x="3341688" y="25146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8" name="Line 20"/>
          <p:cNvSpPr>
            <a:spLocks noChangeShapeType="1"/>
          </p:cNvSpPr>
          <p:nvPr/>
        </p:nvSpPr>
        <p:spPr bwMode="auto">
          <a:xfrm>
            <a:off x="5478463" y="16192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9" name="Line 21"/>
          <p:cNvSpPr>
            <a:spLocks noChangeShapeType="1"/>
          </p:cNvSpPr>
          <p:nvPr/>
        </p:nvSpPr>
        <p:spPr bwMode="auto">
          <a:xfrm flipV="1">
            <a:off x="7615238" y="38274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80" name="Line 22"/>
          <p:cNvSpPr>
            <a:spLocks noChangeShapeType="1"/>
          </p:cNvSpPr>
          <p:nvPr/>
        </p:nvSpPr>
        <p:spPr bwMode="auto">
          <a:xfrm>
            <a:off x="6348413" y="20716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81" name="Rectangle 23"/>
          <p:cNvSpPr>
            <a:spLocks noChangeArrowheads="1"/>
          </p:cNvSpPr>
          <p:nvPr/>
        </p:nvSpPr>
        <p:spPr bwMode="auto">
          <a:xfrm>
            <a:off x="1169988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30482" name="Rectangle 24"/>
          <p:cNvSpPr>
            <a:spLocks noChangeArrowheads="1"/>
          </p:cNvSpPr>
          <p:nvPr/>
        </p:nvSpPr>
        <p:spPr bwMode="auto">
          <a:xfrm>
            <a:off x="2182813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30483" name="Rectangle 25"/>
          <p:cNvSpPr>
            <a:spLocks noChangeArrowheads="1"/>
          </p:cNvSpPr>
          <p:nvPr/>
        </p:nvSpPr>
        <p:spPr bwMode="auto">
          <a:xfrm>
            <a:off x="3260725" y="12319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30484" name="Rectangle 26"/>
          <p:cNvSpPr>
            <a:spLocks noChangeArrowheads="1"/>
          </p:cNvSpPr>
          <p:nvPr/>
        </p:nvSpPr>
        <p:spPr bwMode="auto">
          <a:xfrm>
            <a:off x="53736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30485" name="Rectangle 27"/>
          <p:cNvSpPr>
            <a:spLocks noChangeArrowheads="1"/>
          </p:cNvSpPr>
          <p:nvPr/>
        </p:nvSpPr>
        <p:spPr bwMode="auto">
          <a:xfrm>
            <a:off x="62372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30486" name="Rectangle 28"/>
          <p:cNvSpPr>
            <a:spLocks noChangeArrowheads="1"/>
          </p:cNvSpPr>
          <p:nvPr/>
        </p:nvSpPr>
        <p:spPr bwMode="auto">
          <a:xfrm>
            <a:off x="7510463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30487" name="Rectangle 29"/>
          <p:cNvSpPr>
            <a:spLocks noChangeArrowheads="1"/>
          </p:cNvSpPr>
          <p:nvPr/>
        </p:nvSpPr>
        <p:spPr bwMode="auto">
          <a:xfrm>
            <a:off x="9366250" y="1231900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30488" name="Rectangle 30"/>
          <p:cNvSpPr>
            <a:spLocks noChangeArrowheads="1"/>
          </p:cNvSpPr>
          <p:nvPr/>
        </p:nvSpPr>
        <p:spPr bwMode="auto">
          <a:xfrm>
            <a:off x="1331913" y="1646238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30489" name="Rectangle 31"/>
          <p:cNvSpPr>
            <a:spLocks noChangeArrowheads="1"/>
          </p:cNvSpPr>
          <p:nvPr/>
        </p:nvSpPr>
        <p:spPr bwMode="auto">
          <a:xfrm>
            <a:off x="5543550" y="21224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30490" name="Rectangle 32"/>
          <p:cNvSpPr>
            <a:spLocks noChangeArrowheads="1"/>
          </p:cNvSpPr>
          <p:nvPr/>
        </p:nvSpPr>
        <p:spPr bwMode="auto">
          <a:xfrm>
            <a:off x="1544638" y="2527300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30491" name="Rectangle 33"/>
          <p:cNvSpPr>
            <a:spLocks noChangeArrowheads="1"/>
          </p:cNvSpPr>
          <p:nvPr/>
        </p:nvSpPr>
        <p:spPr bwMode="auto">
          <a:xfrm>
            <a:off x="3852863" y="25273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30492" name="Rectangle 34"/>
          <p:cNvSpPr>
            <a:spLocks noChangeArrowheads="1"/>
          </p:cNvSpPr>
          <p:nvPr/>
        </p:nvSpPr>
        <p:spPr bwMode="auto">
          <a:xfrm>
            <a:off x="2784475" y="2122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30493" name="Rectangle 35"/>
          <p:cNvSpPr>
            <a:spLocks noChangeArrowheads="1"/>
          </p:cNvSpPr>
          <p:nvPr/>
        </p:nvSpPr>
        <p:spPr bwMode="auto">
          <a:xfrm>
            <a:off x="3663950" y="1646238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30494" name="Rectangle 36"/>
          <p:cNvSpPr>
            <a:spLocks noChangeArrowheads="1"/>
          </p:cNvSpPr>
          <p:nvPr/>
        </p:nvSpPr>
        <p:spPr bwMode="auto">
          <a:xfrm>
            <a:off x="7050088" y="1646238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30495" name="Rectangle 37"/>
          <p:cNvSpPr>
            <a:spLocks noChangeArrowheads="1"/>
          </p:cNvSpPr>
          <p:nvPr/>
        </p:nvSpPr>
        <p:spPr bwMode="auto">
          <a:xfrm>
            <a:off x="7343775" y="21224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30496" name="Rectangle 38"/>
          <p:cNvSpPr>
            <a:spLocks noChangeArrowheads="1"/>
          </p:cNvSpPr>
          <p:nvPr/>
        </p:nvSpPr>
        <p:spPr bwMode="auto">
          <a:xfrm>
            <a:off x="8128000" y="385603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30497" name="Rectangle 39"/>
          <p:cNvSpPr>
            <a:spLocks noChangeArrowheads="1"/>
          </p:cNvSpPr>
          <p:nvPr/>
        </p:nvSpPr>
        <p:spPr bwMode="auto">
          <a:xfrm>
            <a:off x="6419850" y="2527300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30498" name="Rectangle 40"/>
          <p:cNvSpPr>
            <a:spLocks noChangeArrowheads="1"/>
          </p:cNvSpPr>
          <p:nvPr/>
        </p:nvSpPr>
        <p:spPr bwMode="auto">
          <a:xfrm>
            <a:off x="4784725" y="29860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30499" name="Rectangle 41"/>
          <p:cNvSpPr>
            <a:spLocks noChangeArrowheads="1"/>
          </p:cNvSpPr>
          <p:nvPr/>
        </p:nvSpPr>
        <p:spPr bwMode="auto">
          <a:xfrm>
            <a:off x="4506913" y="3427413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30500" name="Rectangle 42"/>
          <p:cNvSpPr>
            <a:spLocks noChangeArrowheads="1"/>
          </p:cNvSpPr>
          <p:nvPr/>
        </p:nvSpPr>
        <p:spPr bwMode="auto">
          <a:xfrm>
            <a:off x="2414588" y="3856038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30501" name="Rectangle 43"/>
          <p:cNvSpPr>
            <a:spLocks noChangeArrowheads="1"/>
          </p:cNvSpPr>
          <p:nvPr/>
        </p:nvSpPr>
        <p:spPr bwMode="auto">
          <a:xfrm>
            <a:off x="658813" y="1217613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30502" name="Rectangle 44"/>
          <p:cNvSpPr>
            <a:spLocks noChangeArrowheads="1"/>
          </p:cNvSpPr>
          <p:nvPr/>
        </p:nvSpPr>
        <p:spPr bwMode="auto">
          <a:xfrm>
            <a:off x="2170113" y="1627188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30503" name="Group 46"/>
          <p:cNvGrpSpPr>
            <a:grpSpLocks/>
          </p:cNvGrpSpPr>
          <p:nvPr/>
        </p:nvGrpSpPr>
        <p:grpSpPr bwMode="auto">
          <a:xfrm>
            <a:off x="1158875" y="3997325"/>
            <a:ext cx="142875" cy="69850"/>
            <a:chOff x="833" y="3024"/>
            <a:chExt cx="78" cy="51"/>
          </a:xfrm>
        </p:grpSpPr>
        <p:sp>
          <p:nvSpPr>
            <p:cNvPr id="830504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05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06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30507" name="Group 50"/>
          <p:cNvGrpSpPr>
            <a:grpSpLocks/>
          </p:cNvGrpSpPr>
          <p:nvPr/>
        </p:nvGrpSpPr>
        <p:grpSpPr bwMode="auto">
          <a:xfrm>
            <a:off x="9682163" y="4006850"/>
            <a:ext cx="142875" cy="66675"/>
            <a:chOff x="5432" y="3030"/>
            <a:chExt cx="78" cy="51"/>
          </a:xfrm>
        </p:grpSpPr>
        <p:sp>
          <p:nvSpPr>
            <p:cNvPr id="830508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09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10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30511" name="Rectangle 75"/>
          <p:cNvSpPr>
            <a:spLocks noChangeArrowheads="1"/>
          </p:cNvSpPr>
          <p:nvPr/>
        </p:nvSpPr>
        <p:spPr bwMode="auto">
          <a:xfrm>
            <a:off x="4129088" y="4398963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30512" name="Group 94"/>
          <p:cNvGrpSpPr>
            <a:grpSpLocks/>
          </p:cNvGrpSpPr>
          <p:nvPr/>
        </p:nvGrpSpPr>
        <p:grpSpPr bwMode="auto">
          <a:xfrm>
            <a:off x="266700" y="1590675"/>
            <a:ext cx="438150" cy="2663825"/>
            <a:chOff x="111" y="845"/>
            <a:chExt cx="255" cy="1678"/>
          </a:xfrm>
        </p:grpSpPr>
        <p:sp>
          <p:nvSpPr>
            <p:cNvPr id="83051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1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30515" name="AutoShape 97"/>
          <p:cNvSpPr>
            <a:spLocks/>
          </p:cNvSpPr>
          <p:nvPr/>
        </p:nvSpPr>
        <p:spPr bwMode="auto">
          <a:xfrm>
            <a:off x="998538" y="16621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7"/>
          <p:cNvGrpSpPr>
            <a:grpSpLocks/>
          </p:cNvGrpSpPr>
          <p:nvPr/>
        </p:nvGrpSpPr>
        <p:grpSpPr bwMode="auto">
          <a:xfrm>
            <a:off x="1209675" y="2038350"/>
            <a:ext cx="6661150" cy="3983038"/>
            <a:chOff x="703" y="1127"/>
            <a:chExt cx="3874" cy="2509"/>
          </a:xfrm>
        </p:grpSpPr>
        <p:sp>
          <p:nvSpPr>
            <p:cNvPr id="830517" name="Text Box 74"/>
            <p:cNvSpPr txBox="1">
              <a:spLocks noChangeArrowheads="1"/>
            </p:cNvSpPr>
            <p:nvPr/>
          </p:nvSpPr>
          <p:spPr bwMode="auto">
            <a:xfrm>
              <a:off x="738" y="3113"/>
              <a:ext cx="383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标识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(identification) 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它是一个计数器，用来产生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数据报的标识。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830518" name="Rectangle 76"/>
            <p:cNvSpPr>
              <a:spLocks noChangeArrowheads="1"/>
            </p:cNvSpPr>
            <p:nvPr/>
          </p:nvSpPr>
          <p:spPr bwMode="auto">
            <a:xfrm>
              <a:off x="703" y="1127"/>
              <a:ext cx="2484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3051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3052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21E38C-0ABD-4EC0-BCD0-5A62AD7944B6}" type="slidenum">
              <a:rPr lang="zh-CN" altLang="en-US" smtClean="0"/>
              <a:pPr eaLnBrk="1" hangingPunct="1"/>
              <a:t>34</a:t>
            </a:fld>
            <a:endParaRPr lang="en-US" altLang="zh-CN" smtClean="0"/>
          </a:p>
        </p:txBody>
      </p:sp>
      <p:sp>
        <p:nvSpPr>
          <p:cNvPr id="83052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3" name="Rectangle 45"/>
          <p:cNvSpPr>
            <a:spLocks noChangeArrowheads="1"/>
          </p:cNvSpPr>
          <p:nvPr/>
        </p:nvSpPr>
        <p:spPr bwMode="auto">
          <a:xfrm>
            <a:off x="631825" y="2022475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32514" name="Rectangle 54"/>
          <p:cNvSpPr>
            <a:spLocks noChangeArrowheads="1"/>
          </p:cNvSpPr>
          <p:nvPr/>
        </p:nvSpPr>
        <p:spPr bwMode="auto">
          <a:xfrm>
            <a:off x="508000" y="36782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32515" name="Rectangle 8"/>
          <p:cNvSpPr>
            <a:spLocks noChangeArrowheads="1"/>
          </p:cNvSpPr>
          <p:nvPr/>
        </p:nvSpPr>
        <p:spPr bwMode="auto">
          <a:xfrm>
            <a:off x="3351213" y="16208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6" name="Rectangle 10"/>
          <p:cNvSpPr>
            <a:spLocks noChangeArrowheads="1"/>
          </p:cNvSpPr>
          <p:nvPr/>
        </p:nvSpPr>
        <p:spPr bwMode="auto">
          <a:xfrm>
            <a:off x="1231900" y="16113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7" name="Rectangle 11"/>
          <p:cNvSpPr>
            <a:spLocks noChangeArrowheads="1"/>
          </p:cNvSpPr>
          <p:nvPr/>
        </p:nvSpPr>
        <p:spPr bwMode="auto">
          <a:xfrm>
            <a:off x="1246188" y="42656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8" name="Line 12"/>
          <p:cNvSpPr>
            <a:spLocks noChangeShapeType="1"/>
          </p:cNvSpPr>
          <p:nvPr/>
        </p:nvSpPr>
        <p:spPr bwMode="auto">
          <a:xfrm>
            <a:off x="1225550" y="20621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9" name="Line 13"/>
          <p:cNvSpPr>
            <a:spLocks noChangeShapeType="1"/>
          </p:cNvSpPr>
          <p:nvPr/>
        </p:nvSpPr>
        <p:spPr bwMode="auto">
          <a:xfrm>
            <a:off x="1225550" y="25050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0" name="Line 14"/>
          <p:cNvSpPr>
            <a:spLocks noChangeShapeType="1"/>
          </p:cNvSpPr>
          <p:nvPr/>
        </p:nvSpPr>
        <p:spPr bwMode="auto">
          <a:xfrm>
            <a:off x="1225550" y="29495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1" name="Line 15"/>
          <p:cNvSpPr>
            <a:spLocks noChangeShapeType="1"/>
          </p:cNvSpPr>
          <p:nvPr/>
        </p:nvSpPr>
        <p:spPr bwMode="auto">
          <a:xfrm>
            <a:off x="1225550" y="33877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2" name="Line 16"/>
          <p:cNvSpPr>
            <a:spLocks noChangeShapeType="1"/>
          </p:cNvSpPr>
          <p:nvPr/>
        </p:nvSpPr>
        <p:spPr bwMode="auto">
          <a:xfrm>
            <a:off x="1225550" y="38322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3" name="Line 17"/>
          <p:cNvSpPr>
            <a:spLocks noChangeShapeType="1"/>
          </p:cNvSpPr>
          <p:nvPr/>
        </p:nvSpPr>
        <p:spPr bwMode="auto">
          <a:xfrm>
            <a:off x="22748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4" name="Line 18"/>
          <p:cNvSpPr>
            <a:spLocks noChangeShapeType="1"/>
          </p:cNvSpPr>
          <p:nvPr/>
        </p:nvSpPr>
        <p:spPr bwMode="auto">
          <a:xfrm>
            <a:off x="33416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5" name="Line 19"/>
          <p:cNvSpPr>
            <a:spLocks noChangeShapeType="1"/>
          </p:cNvSpPr>
          <p:nvPr/>
        </p:nvSpPr>
        <p:spPr bwMode="auto">
          <a:xfrm>
            <a:off x="3341688" y="25146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6" name="Line 20"/>
          <p:cNvSpPr>
            <a:spLocks noChangeShapeType="1"/>
          </p:cNvSpPr>
          <p:nvPr/>
        </p:nvSpPr>
        <p:spPr bwMode="auto">
          <a:xfrm>
            <a:off x="5478463" y="16192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7" name="Line 21"/>
          <p:cNvSpPr>
            <a:spLocks noChangeShapeType="1"/>
          </p:cNvSpPr>
          <p:nvPr/>
        </p:nvSpPr>
        <p:spPr bwMode="auto">
          <a:xfrm flipV="1">
            <a:off x="7615238" y="38274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8" name="Line 22"/>
          <p:cNvSpPr>
            <a:spLocks noChangeShapeType="1"/>
          </p:cNvSpPr>
          <p:nvPr/>
        </p:nvSpPr>
        <p:spPr bwMode="auto">
          <a:xfrm>
            <a:off x="6348413" y="20716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9" name="Rectangle 23"/>
          <p:cNvSpPr>
            <a:spLocks noChangeArrowheads="1"/>
          </p:cNvSpPr>
          <p:nvPr/>
        </p:nvSpPr>
        <p:spPr bwMode="auto">
          <a:xfrm>
            <a:off x="1169988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32530" name="Rectangle 24"/>
          <p:cNvSpPr>
            <a:spLocks noChangeArrowheads="1"/>
          </p:cNvSpPr>
          <p:nvPr/>
        </p:nvSpPr>
        <p:spPr bwMode="auto">
          <a:xfrm>
            <a:off x="2182813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32531" name="Rectangle 25"/>
          <p:cNvSpPr>
            <a:spLocks noChangeArrowheads="1"/>
          </p:cNvSpPr>
          <p:nvPr/>
        </p:nvSpPr>
        <p:spPr bwMode="auto">
          <a:xfrm>
            <a:off x="3260725" y="12319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32532" name="Rectangle 26"/>
          <p:cNvSpPr>
            <a:spLocks noChangeArrowheads="1"/>
          </p:cNvSpPr>
          <p:nvPr/>
        </p:nvSpPr>
        <p:spPr bwMode="auto">
          <a:xfrm>
            <a:off x="53736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32533" name="Rectangle 27"/>
          <p:cNvSpPr>
            <a:spLocks noChangeArrowheads="1"/>
          </p:cNvSpPr>
          <p:nvPr/>
        </p:nvSpPr>
        <p:spPr bwMode="auto">
          <a:xfrm>
            <a:off x="62372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32534" name="Rectangle 28"/>
          <p:cNvSpPr>
            <a:spLocks noChangeArrowheads="1"/>
          </p:cNvSpPr>
          <p:nvPr/>
        </p:nvSpPr>
        <p:spPr bwMode="auto">
          <a:xfrm>
            <a:off x="7510463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32535" name="Rectangle 29"/>
          <p:cNvSpPr>
            <a:spLocks noChangeArrowheads="1"/>
          </p:cNvSpPr>
          <p:nvPr/>
        </p:nvSpPr>
        <p:spPr bwMode="auto">
          <a:xfrm>
            <a:off x="9366250" y="1231900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32536" name="Rectangle 30"/>
          <p:cNvSpPr>
            <a:spLocks noChangeArrowheads="1"/>
          </p:cNvSpPr>
          <p:nvPr/>
        </p:nvSpPr>
        <p:spPr bwMode="auto">
          <a:xfrm>
            <a:off x="1331913" y="1646238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32537" name="Rectangle 31"/>
          <p:cNvSpPr>
            <a:spLocks noChangeArrowheads="1"/>
          </p:cNvSpPr>
          <p:nvPr/>
        </p:nvSpPr>
        <p:spPr bwMode="auto">
          <a:xfrm>
            <a:off x="5543550" y="21224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32538" name="Rectangle 32"/>
          <p:cNvSpPr>
            <a:spLocks noChangeArrowheads="1"/>
          </p:cNvSpPr>
          <p:nvPr/>
        </p:nvSpPr>
        <p:spPr bwMode="auto">
          <a:xfrm>
            <a:off x="1544638" y="2527300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32539" name="Rectangle 33"/>
          <p:cNvSpPr>
            <a:spLocks noChangeArrowheads="1"/>
          </p:cNvSpPr>
          <p:nvPr/>
        </p:nvSpPr>
        <p:spPr bwMode="auto">
          <a:xfrm>
            <a:off x="3852863" y="25273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32540" name="Rectangle 34"/>
          <p:cNvSpPr>
            <a:spLocks noChangeArrowheads="1"/>
          </p:cNvSpPr>
          <p:nvPr/>
        </p:nvSpPr>
        <p:spPr bwMode="auto">
          <a:xfrm>
            <a:off x="2784475" y="2122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32541" name="Rectangle 35"/>
          <p:cNvSpPr>
            <a:spLocks noChangeArrowheads="1"/>
          </p:cNvSpPr>
          <p:nvPr/>
        </p:nvSpPr>
        <p:spPr bwMode="auto">
          <a:xfrm>
            <a:off x="3663950" y="1646238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32542" name="Rectangle 36"/>
          <p:cNvSpPr>
            <a:spLocks noChangeArrowheads="1"/>
          </p:cNvSpPr>
          <p:nvPr/>
        </p:nvSpPr>
        <p:spPr bwMode="auto">
          <a:xfrm>
            <a:off x="7050088" y="1646238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32543" name="Rectangle 37"/>
          <p:cNvSpPr>
            <a:spLocks noChangeArrowheads="1"/>
          </p:cNvSpPr>
          <p:nvPr/>
        </p:nvSpPr>
        <p:spPr bwMode="auto">
          <a:xfrm>
            <a:off x="7343775" y="21224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32544" name="Rectangle 38"/>
          <p:cNvSpPr>
            <a:spLocks noChangeArrowheads="1"/>
          </p:cNvSpPr>
          <p:nvPr/>
        </p:nvSpPr>
        <p:spPr bwMode="auto">
          <a:xfrm>
            <a:off x="8128000" y="385603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32545" name="Rectangle 39"/>
          <p:cNvSpPr>
            <a:spLocks noChangeArrowheads="1"/>
          </p:cNvSpPr>
          <p:nvPr/>
        </p:nvSpPr>
        <p:spPr bwMode="auto">
          <a:xfrm>
            <a:off x="6419850" y="2527300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32546" name="Rectangle 40"/>
          <p:cNvSpPr>
            <a:spLocks noChangeArrowheads="1"/>
          </p:cNvSpPr>
          <p:nvPr/>
        </p:nvSpPr>
        <p:spPr bwMode="auto">
          <a:xfrm>
            <a:off x="4784725" y="29860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32547" name="Rectangle 41"/>
          <p:cNvSpPr>
            <a:spLocks noChangeArrowheads="1"/>
          </p:cNvSpPr>
          <p:nvPr/>
        </p:nvSpPr>
        <p:spPr bwMode="auto">
          <a:xfrm>
            <a:off x="4506913" y="3427413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32548" name="Rectangle 42"/>
          <p:cNvSpPr>
            <a:spLocks noChangeArrowheads="1"/>
          </p:cNvSpPr>
          <p:nvPr/>
        </p:nvSpPr>
        <p:spPr bwMode="auto">
          <a:xfrm>
            <a:off x="2414588" y="3856038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32549" name="Rectangle 43"/>
          <p:cNvSpPr>
            <a:spLocks noChangeArrowheads="1"/>
          </p:cNvSpPr>
          <p:nvPr/>
        </p:nvSpPr>
        <p:spPr bwMode="auto">
          <a:xfrm>
            <a:off x="658813" y="1217613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32550" name="Rectangle 44"/>
          <p:cNvSpPr>
            <a:spLocks noChangeArrowheads="1"/>
          </p:cNvSpPr>
          <p:nvPr/>
        </p:nvSpPr>
        <p:spPr bwMode="auto">
          <a:xfrm>
            <a:off x="2170113" y="1627188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32551" name="Group 46"/>
          <p:cNvGrpSpPr>
            <a:grpSpLocks/>
          </p:cNvGrpSpPr>
          <p:nvPr/>
        </p:nvGrpSpPr>
        <p:grpSpPr bwMode="auto">
          <a:xfrm>
            <a:off x="1158875" y="3997325"/>
            <a:ext cx="142875" cy="69850"/>
            <a:chOff x="833" y="3024"/>
            <a:chExt cx="78" cy="51"/>
          </a:xfrm>
        </p:grpSpPr>
        <p:sp>
          <p:nvSpPr>
            <p:cNvPr id="832552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3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4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32555" name="Group 50"/>
          <p:cNvGrpSpPr>
            <a:grpSpLocks/>
          </p:cNvGrpSpPr>
          <p:nvPr/>
        </p:nvGrpSpPr>
        <p:grpSpPr bwMode="auto">
          <a:xfrm>
            <a:off x="9682163" y="4006850"/>
            <a:ext cx="142875" cy="66675"/>
            <a:chOff x="5432" y="3030"/>
            <a:chExt cx="78" cy="51"/>
          </a:xfrm>
        </p:grpSpPr>
        <p:sp>
          <p:nvSpPr>
            <p:cNvPr id="832556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7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8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32559" name="Rectangle 75"/>
          <p:cNvSpPr>
            <a:spLocks noChangeArrowheads="1"/>
          </p:cNvSpPr>
          <p:nvPr/>
        </p:nvSpPr>
        <p:spPr bwMode="auto">
          <a:xfrm>
            <a:off x="4129088" y="4398963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32560" name="Group 94"/>
          <p:cNvGrpSpPr>
            <a:grpSpLocks/>
          </p:cNvGrpSpPr>
          <p:nvPr/>
        </p:nvGrpSpPr>
        <p:grpSpPr bwMode="auto">
          <a:xfrm>
            <a:off x="266700" y="1590675"/>
            <a:ext cx="438150" cy="2663825"/>
            <a:chOff x="111" y="845"/>
            <a:chExt cx="255" cy="1678"/>
          </a:xfrm>
        </p:grpSpPr>
        <p:sp>
          <p:nvSpPr>
            <p:cNvPr id="83256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6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32563" name="AutoShape 97"/>
          <p:cNvSpPr>
            <a:spLocks/>
          </p:cNvSpPr>
          <p:nvPr/>
        </p:nvSpPr>
        <p:spPr bwMode="auto">
          <a:xfrm>
            <a:off x="998538" y="16621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1706563" y="2057400"/>
            <a:ext cx="7078662" cy="4668838"/>
            <a:chOff x="1706970" y="1808163"/>
            <a:chExt cx="7077579" cy="4669407"/>
          </a:xfrm>
        </p:grpSpPr>
        <p:sp>
          <p:nvSpPr>
            <p:cNvPr id="832565" name="Text Box 73"/>
            <p:cNvSpPr txBox="1">
              <a:spLocks noChangeArrowheads="1"/>
            </p:cNvSpPr>
            <p:nvPr/>
          </p:nvSpPr>
          <p:spPr bwMode="auto">
            <a:xfrm>
              <a:off x="1706970" y="4784799"/>
              <a:ext cx="7077579" cy="1692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标志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(flag) ——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位，目前只有前两位有意义。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标志字段的最低位是 </a:t>
              </a:r>
              <a:r>
                <a:rPr lang="en-US" altLang="zh-CN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MF (More Fragment)</a:t>
              </a:r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。</a:t>
              </a:r>
            </a:p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MF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1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表示后面“还有分片”。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MF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0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表示最后一个分片。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标志字段中间的一位是 </a:t>
              </a:r>
              <a:r>
                <a:rPr lang="en-US" altLang="zh-CN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DF (Don't Fragment) </a:t>
              </a:r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只有当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DF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0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时才允许分片。 </a:t>
              </a:r>
            </a:p>
          </p:txBody>
        </p:sp>
        <p:sp>
          <p:nvSpPr>
            <p:cNvPr id="832566" name="Rectangle 74"/>
            <p:cNvSpPr>
              <a:spLocks noChangeArrowheads="1"/>
            </p:cNvSpPr>
            <p:nvPr/>
          </p:nvSpPr>
          <p:spPr bwMode="auto">
            <a:xfrm>
              <a:off x="5499894" y="1808163"/>
              <a:ext cx="856456" cy="4873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3256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3256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DBB4BF-7E85-47F1-9F3A-1961770BF7DE}" type="slidenum">
              <a:rPr lang="zh-CN" altLang="en-US" smtClean="0"/>
              <a:pPr eaLnBrk="1" hangingPunct="1"/>
              <a:t>35</a:t>
            </a:fld>
            <a:endParaRPr lang="en-US" altLang="zh-CN" smtClean="0"/>
          </a:p>
        </p:txBody>
      </p:sp>
      <p:sp>
        <p:nvSpPr>
          <p:cNvPr id="83256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1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34562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34563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4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5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6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7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8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9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0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1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2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3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4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5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6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7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34578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34579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34580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34581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34582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34583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34584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34585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34586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34587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34588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34589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34590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34591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34592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34593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34594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34595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34596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34597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34598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34599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34600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1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2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34603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34604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5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6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34607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34608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34609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10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34611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8"/>
          <p:cNvGrpSpPr>
            <a:grpSpLocks/>
          </p:cNvGrpSpPr>
          <p:nvPr/>
        </p:nvGrpSpPr>
        <p:grpSpPr bwMode="auto">
          <a:xfrm>
            <a:off x="2660650" y="2012950"/>
            <a:ext cx="7067550" cy="4295775"/>
            <a:chOff x="1547" y="1117"/>
            <a:chExt cx="4110" cy="2706"/>
          </a:xfrm>
        </p:grpSpPr>
        <p:sp>
          <p:nvSpPr>
            <p:cNvPr id="834613" name="Text Box 74"/>
            <p:cNvSpPr txBox="1">
              <a:spLocks noChangeArrowheads="1"/>
            </p:cNvSpPr>
            <p:nvPr/>
          </p:nvSpPr>
          <p:spPr bwMode="auto">
            <a:xfrm>
              <a:off x="1547" y="3067"/>
              <a:ext cx="400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片偏移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13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位，指出：较长的分组在分片后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某片在原分组中的相对位置。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片偏移以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个字节为偏移单位。</a:t>
              </a:r>
            </a:p>
          </p:txBody>
        </p:sp>
        <p:sp>
          <p:nvSpPr>
            <p:cNvPr id="834614" name="Rectangle 75"/>
            <p:cNvSpPr>
              <a:spLocks noChangeArrowheads="1"/>
            </p:cNvSpPr>
            <p:nvPr/>
          </p:nvSpPr>
          <p:spPr bwMode="auto">
            <a:xfrm>
              <a:off x="3696" y="1117"/>
              <a:ext cx="1961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3461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3461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7F0125-98C9-4440-B721-B804966970B4}" type="slidenum">
              <a:rPr lang="zh-CN" altLang="en-US" smtClean="0"/>
              <a:pPr eaLnBrk="1" hangingPunct="1"/>
              <a:t>36</a:t>
            </a:fld>
            <a:endParaRPr lang="en-US" altLang="zh-CN" smtClean="0"/>
          </a:p>
        </p:txBody>
      </p:sp>
      <p:sp>
        <p:nvSpPr>
          <p:cNvPr id="83461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【例</a:t>
            </a:r>
            <a:r>
              <a:rPr lang="en-US" altLang="zh-CN" smtClean="0">
                <a:ea typeface="黑体" panose="02010609060101010101" pitchFamily="49" charset="-122"/>
              </a:rPr>
              <a:t>4-1</a:t>
            </a:r>
            <a:r>
              <a:rPr lang="zh-CN" altLang="zh-CN" smtClean="0">
                <a:ea typeface="黑体" panose="02010609060101010101" pitchFamily="49" charset="-122"/>
              </a:rPr>
              <a:t>】</a:t>
            </a:r>
            <a:r>
              <a:rPr lang="en-US" altLang="zh-CN" smtClean="0">
                <a:ea typeface="黑体" panose="02010609060101010101" pitchFamily="49" charset="-122"/>
              </a:rPr>
              <a:t> IP </a:t>
            </a:r>
            <a:r>
              <a:rPr lang="zh-CN" altLang="en-US" smtClean="0">
                <a:ea typeface="黑体" panose="02010609060101010101" pitchFamily="49" charset="-122"/>
              </a:rPr>
              <a:t>数据报分片</a:t>
            </a:r>
          </a:p>
        </p:txBody>
      </p:sp>
      <p:sp>
        <p:nvSpPr>
          <p:cNvPr id="8366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dirty="0" smtClean="0">
                <a:ea typeface="黑体" panose="02010609060101010101" pitchFamily="49" charset="-122"/>
              </a:rPr>
              <a:t>一数据报的总长度</a:t>
            </a:r>
            <a:r>
              <a:rPr lang="zh-CN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为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 3820 </a:t>
            </a:r>
            <a:r>
              <a:rPr lang="zh-CN" altLang="zh-CN" dirty="0" smtClean="0">
                <a:ea typeface="黑体" panose="02010609060101010101" pitchFamily="49" charset="-122"/>
              </a:rPr>
              <a:t>字节，其数据部分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zh-CN" dirty="0" smtClean="0">
                <a:ea typeface="黑体" panose="02010609060101010101" pitchFamily="49" charset="-122"/>
              </a:rPr>
              <a:t>长度为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3800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字节（使用固定首部），需要分片为长度不超过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1420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字节的数据报片。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 smtClean="0">
                <a:ea typeface="黑体" panose="02010609060101010101" pitchFamily="49" charset="-122"/>
              </a:rPr>
              <a:t>因固定首部长度为</a:t>
            </a:r>
            <a:r>
              <a:rPr lang="en-US" altLang="zh-CN" dirty="0" smtClean="0">
                <a:ea typeface="黑体" panose="02010609060101010101" pitchFamily="49" charset="-122"/>
              </a:rPr>
              <a:t> 20 </a:t>
            </a:r>
            <a:r>
              <a:rPr lang="zh-CN" altLang="zh-CN" dirty="0" smtClean="0">
                <a:ea typeface="黑体" panose="02010609060101010101" pitchFamily="49" charset="-122"/>
              </a:rPr>
              <a:t>字节，因此每个数据报片的数据部分长度不能超过</a:t>
            </a:r>
            <a:r>
              <a:rPr lang="en-US" altLang="zh-CN" dirty="0" smtClean="0">
                <a:ea typeface="黑体" panose="02010609060101010101" pitchFamily="49" charset="-122"/>
              </a:rPr>
              <a:t> 1400 </a:t>
            </a:r>
            <a:r>
              <a:rPr lang="zh-CN" altLang="zh-CN" dirty="0" smtClean="0">
                <a:ea typeface="黑体" panose="02010609060101010101" pitchFamily="49" charset="-122"/>
              </a:rPr>
              <a:t>字节。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 smtClean="0">
                <a:ea typeface="黑体" panose="02010609060101010101" pitchFamily="49" charset="-122"/>
              </a:rPr>
              <a:t>于是分为</a:t>
            </a:r>
            <a:r>
              <a:rPr lang="en-US" altLang="zh-CN" dirty="0" smtClean="0">
                <a:ea typeface="黑体" panose="02010609060101010101" pitchFamily="49" charset="-122"/>
              </a:rPr>
              <a:t> 3 </a:t>
            </a:r>
            <a:r>
              <a:rPr lang="zh-CN" altLang="zh-CN" dirty="0" smtClean="0">
                <a:ea typeface="黑体" panose="02010609060101010101" pitchFamily="49" charset="-122"/>
              </a:rPr>
              <a:t>个数据报片，其数据部分的长度分别为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1400</a:t>
            </a:r>
            <a:r>
              <a:rPr lang="zh-CN" altLang="en-US" dirty="0" smtClean="0"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1400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和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1000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字节。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原始数据报首部被复制为各数据报片的首部，但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必须修改有关字段的值。</a:t>
            </a:r>
            <a:endParaRPr lang="zh-CN" altLang="en-US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8366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B8374E-EFFC-488D-964A-6DE8CD26AB1D}" type="slidenum">
              <a:rPr lang="zh-CN" altLang="en-US" smtClean="0"/>
              <a:pPr eaLnBrk="1" hangingPunct="1"/>
              <a:t>37</a:t>
            </a:fld>
            <a:endParaRPr lang="en-US" altLang="zh-CN" smtClean="0"/>
          </a:p>
        </p:txBody>
      </p:sp>
      <p:sp>
        <p:nvSpPr>
          <p:cNvPr id="8366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344488" y="2379663"/>
            <a:ext cx="4754562" cy="3527425"/>
            <a:chOff x="344488" y="2380134"/>
            <a:chExt cx="4755225" cy="3526755"/>
          </a:xfrm>
        </p:grpSpPr>
        <p:sp>
          <p:nvSpPr>
            <p:cNvPr id="837634" name="Text Box 5"/>
            <p:cNvSpPr txBox="1">
              <a:spLocks noChangeArrowheads="1"/>
            </p:cNvSpPr>
            <p:nvPr/>
          </p:nvSpPr>
          <p:spPr bwMode="auto">
            <a:xfrm>
              <a:off x="704528" y="5445224"/>
              <a:ext cx="21018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= 0/8 = 0</a:t>
              </a:r>
            </a:p>
          </p:txBody>
        </p:sp>
        <p:sp>
          <p:nvSpPr>
            <p:cNvPr id="837635" name="Rectangle 11"/>
            <p:cNvSpPr>
              <a:spLocks noChangeArrowheads="1"/>
            </p:cNvSpPr>
            <p:nvPr/>
          </p:nvSpPr>
          <p:spPr bwMode="auto">
            <a:xfrm>
              <a:off x="1295534" y="3869208"/>
              <a:ext cx="1900369" cy="46355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6" name="Line 12"/>
            <p:cNvSpPr>
              <a:spLocks noChangeShapeType="1"/>
            </p:cNvSpPr>
            <p:nvPr/>
          </p:nvSpPr>
          <p:spPr bwMode="auto">
            <a:xfrm>
              <a:off x="148471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7" name="Line 13"/>
            <p:cNvSpPr>
              <a:spLocks noChangeShapeType="1"/>
            </p:cNvSpPr>
            <p:nvPr/>
          </p:nvSpPr>
          <p:spPr bwMode="auto">
            <a:xfrm>
              <a:off x="16756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8" name="Line 14"/>
            <p:cNvSpPr>
              <a:spLocks noChangeShapeType="1"/>
            </p:cNvSpPr>
            <p:nvPr/>
          </p:nvSpPr>
          <p:spPr bwMode="auto">
            <a:xfrm>
              <a:off x="18665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9" name="Line 15"/>
            <p:cNvSpPr>
              <a:spLocks noChangeShapeType="1"/>
            </p:cNvSpPr>
            <p:nvPr/>
          </p:nvSpPr>
          <p:spPr bwMode="auto">
            <a:xfrm>
              <a:off x="30050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0" name="Line 21"/>
            <p:cNvSpPr>
              <a:spLocks noChangeShapeType="1"/>
            </p:cNvSpPr>
            <p:nvPr/>
          </p:nvSpPr>
          <p:spPr bwMode="auto">
            <a:xfrm flipV="1">
              <a:off x="3101314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1" name="Text Box 30"/>
            <p:cNvSpPr txBox="1">
              <a:spLocks noChangeArrowheads="1"/>
            </p:cNvSpPr>
            <p:nvPr/>
          </p:nvSpPr>
          <p:spPr bwMode="auto">
            <a:xfrm>
              <a:off x="2681685" y="4586759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1399</a:t>
              </a:r>
            </a:p>
          </p:txBody>
        </p:sp>
        <p:sp>
          <p:nvSpPr>
            <p:cNvPr id="837642" name="Text Box 33"/>
            <p:cNvSpPr txBox="1">
              <a:spLocks noChangeArrowheads="1"/>
            </p:cNvSpPr>
            <p:nvPr/>
          </p:nvSpPr>
          <p:spPr bwMode="auto">
            <a:xfrm>
              <a:off x="990013" y="5072534"/>
              <a:ext cx="16786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数据报片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37643" name="Rectangle 36"/>
            <p:cNvSpPr>
              <a:spLocks noChangeArrowheads="1"/>
            </p:cNvSpPr>
            <p:nvPr/>
          </p:nvSpPr>
          <p:spPr bwMode="auto">
            <a:xfrm>
              <a:off x="344488" y="3869208"/>
              <a:ext cx="951045" cy="4635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4" name="Line 39"/>
            <p:cNvSpPr>
              <a:spLocks noChangeShapeType="1"/>
            </p:cNvSpPr>
            <p:nvPr/>
          </p:nvSpPr>
          <p:spPr bwMode="auto">
            <a:xfrm flipV="1">
              <a:off x="1295534" y="2380134"/>
              <a:ext cx="1900369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5" name="Line 40"/>
            <p:cNvSpPr>
              <a:spLocks noChangeShapeType="1"/>
            </p:cNvSpPr>
            <p:nvPr/>
          </p:nvSpPr>
          <p:spPr bwMode="auto">
            <a:xfrm flipV="1">
              <a:off x="3195903" y="2380134"/>
              <a:ext cx="1903810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6" name="Text Box 59"/>
            <p:cNvSpPr txBox="1">
              <a:spLocks noChangeArrowheads="1"/>
            </p:cNvSpPr>
            <p:nvPr/>
          </p:nvSpPr>
          <p:spPr bwMode="auto">
            <a:xfrm>
              <a:off x="344488" y="3869209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37647" name="Line 62"/>
            <p:cNvSpPr>
              <a:spLocks noChangeShapeType="1"/>
            </p:cNvSpPr>
            <p:nvPr/>
          </p:nvSpPr>
          <p:spPr bwMode="auto">
            <a:xfrm flipV="1">
              <a:off x="1384962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8" name="Text Box 63"/>
            <p:cNvSpPr txBox="1">
              <a:spLocks noChangeArrowheads="1"/>
            </p:cNvSpPr>
            <p:nvPr/>
          </p:nvSpPr>
          <p:spPr bwMode="auto">
            <a:xfrm>
              <a:off x="564621" y="4626446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641725" y="2379663"/>
            <a:ext cx="3360738" cy="3527425"/>
            <a:chOff x="3641329" y="2380134"/>
            <a:chExt cx="3360473" cy="3526755"/>
          </a:xfrm>
        </p:grpSpPr>
        <p:sp>
          <p:nvSpPr>
            <p:cNvPr id="837650" name="Text Box 17"/>
            <p:cNvSpPr txBox="1">
              <a:spLocks noChangeArrowheads="1"/>
            </p:cNvSpPr>
            <p:nvPr/>
          </p:nvSpPr>
          <p:spPr bwMode="auto">
            <a:xfrm>
              <a:off x="3653972" y="5445224"/>
              <a:ext cx="29594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= 1400/8 = 175</a:t>
              </a:r>
            </a:p>
          </p:txBody>
        </p:sp>
        <p:sp>
          <p:nvSpPr>
            <p:cNvPr id="837651" name="Line 22"/>
            <p:cNvSpPr>
              <a:spLocks noChangeShapeType="1"/>
            </p:cNvSpPr>
            <p:nvPr/>
          </p:nvSpPr>
          <p:spPr bwMode="auto">
            <a:xfrm flipV="1">
              <a:off x="4717918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2" name="Line 23"/>
            <p:cNvSpPr>
              <a:spLocks noChangeShapeType="1"/>
            </p:cNvSpPr>
            <p:nvPr/>
          </p:nvSpPr>
          <p:spPr bwMode="auto">
            <a:xfrm flipV="1">
              <a:off x="6430831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3" name="Text Box 26"/>
            <p:cNvSpPr txBox="1">
              <a:spLocks noChangeArrowheads="1"/>
            </p:cNvSpPr>
            <p:nvPr/>
          </p:nvSpPr>
          <p:spPr bwMode="auto">
            <a:xfrm>
              <a:off x="4298289" y="4608984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1400</a:t>
              </a:r>
            </a:p>
          </p:txBody>
        </p:sp>
        <p:sp>
          <p:nvSpPr>
            <p:cNvPr id="837654" name="Text Box 29"/>
            <p:cNvSpPr txBox="1">
              <a:spLocks noChangeArrowheads="1"/>
            </p:cNvSpPr>
            <p:nvPr/>
          </p:nvSpPr>
          <p:spPr bwMode="auto">
            <a:xfrm>
              <a:off x="6007763" y="4586759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2799</a:t>
              </a:r>
            </a:p>
          </p:txBody>
        </p:sp>
        <p:sp>
          <p:nvSpPr>
            <p:cNvPr id="837655" name="Rectangle 41"/>
            <p:cNvSpPr>
              <a:spLocks noChangeArrowheads="1"/>
            </p:cNvSpPr>
            <p:nvPr/>
          </p:nvSpPr>
          <p:spPr bwMode="auto">
            <a:xfrm>
              <a:off x="4625050" y="3869208"/>
              <a:ext cx="1900369" cy="46355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6" name="Line 42"/>
            <p:cNvSpPr>
              <a:spLocks noChangeShapeType="1"/>
            </p:cNvSpPr>
            <p:nvPr/>
          </p:nvSpPr>
          <p:spPr bwMode="auto">
            <a:xfrm>
              <a:off x="4814227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7" name="Line 43"/>
            <p:cNvSpPr>
              <a:spLocks noChangeShapeType="1"/>
            </p:cNvSpPr>
            <p:nvPr/>
          </p:nvSpPr>
          <p:spPr bwMode="auto">
            <a:xfrm>
              <a:off x="50034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8" name="Line 44"/>
            <p:cNvSpPr>
              <a:spLocks noChangeShapeType="1"/>
            </p:cNvSpPr>
            <p:nvPr/>
          </p:nvSpPr>
          <p:spPr bwMode="auto">
            <a:xfrm>
              <a:off x="519430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9" name="Line 45"/>
            <p:cNvSpPr>
              <a:spLocks noChangeShapeType="1"/>
            </p:cNvSpPr>
            <p:nvPr/>
          </p:nvSpPr>
          <p:spPr bwMode="auto">
            <a:xfrm>
              <a:off x="6334522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0" name="Rectangle 46"/>
            <p:cNvSpPr>
              <a:spLocks noChangeArrowheads="1"/>
            </p:cNvSpPr>
            <p:nvPr/>
          </p:nvSpPr>
          <p:spPr bwMode="auto">
            <a:xfrm>
              <a:off x="3674004" y="3869208"/>
              <a:ext cx="951045" cy="4635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1" name="Line 47"/>
            <p:cNvSpPr>
              <a:spLocks noChangeShapeType="1"/>
            </p:cNvSpPr>
            <p:nvPr/>
          </p:nvSpPr>
          <p:spPr bwMode="auto">
            <a:xfrm flipV="1">
              <a:off x="4625049" y="2380134"/>
              <a:ext cx="47466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2" name="Line 48"/>
            <p:cNvSpPr>
              <a:spLocks noChangeShapeType="1"/>
            </p:cNvSpPr>
            <p:nvPr/>
          </p:nvSpPr>
          <p:spPr bwMode="auto">
            <a:xfrm flipV="1">
              <a:off x="6525419" y="2380134"/>
              <a:ext cx="47638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3" name="Text Box 60"/>
            <p:cNvSpPr txBox="1">
              <a:spLocks noChangeArrowheads="1"/>
            </p:cNvSpPr>
            <p:nvPr/>
          </p:nvSpPr>
          <p:spPr bwMode="auto">
            <a:xfrm>
              <a:off x="3641329" y="3869209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37664" name="Text Box 64"/>
            <p:cNvSpPr txBox="1">
              <a:spLocks noChangeArrowheads="1"/>
            </p:cNvSpPr>
            <p:nvPr/>
          </p:nvSpPr>
          <p:spPr bwMode="auto">
            <a:xfrm>
              <a:off x="4254178" y="5067770"/>
              <a:ext cx="16786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数据报片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6897688" y="2379663"/>
            <a:ext cx="2959100" cy="3527425"/>
            <a:chOff x="6897216" y="2380134"/>
            <a:chExt cx="2959465" cy="3526755"/>
          </a:xfrm>
        </p:grpSpPr>
        <p:sp>
          <p:nvSpPr>
            <p:cNvPr id="837666" name="Text Box 18"/>
            <p:cNvSpPr txBox="1">
              <a:spLocks noChangeArrowheads="1"/>
            </p:cNvSpPr>
            <p:nvPr/>
          </p:nvSpPr>
          <p:spPr bwMode="auto">
            <a:xfrm>
              <a:off x="6897216" y="5445224"/>
              <a:ext cx="29594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= 2800/8 = 350</a:t>
              </a:r>
            </a:p>
          </p:txBody>
        </p:sp>
        <p:sp>
          <p:nvSpPr>
            <p:cNvPr id="837667" name="Line 24"/>
            <p:cNvSpPr>
              <a:spLocks noChangeShapeType="1"/>
            </p:cNvSpPr>
            <p:nvPr/>
          </p:nvSpPr>
          <p:spPr bwMode="auto">
            <a:xfrm flipV="1">
              <a:off x="8126545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8" name="Line 25"/>
            <p:cNvSpPr>
              <a:spLocks noChangeShapeType="1"/>
            </p:cNvSpPr>
            <p:nvPr/>
          </p:nvSpPr>
          <p:spPr bwMode="auto">
            <a:xfrm flipV="1">
              <a:off x="9380273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9" name="Text Box 27"/>
            <p:cNvSpPr txBox="1">
              <a:spLocks noChangeArrowheads="1"/>
            </p:cNvSpPr>
            <p:nvPr/>
          </p:nvSpPr>
          <p:spPr bwMode="auto">
            <a:xfrm>
              <a:off x="7722394" y="4608984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2800</a:t>
              </a:r>
            </a:p>
          </p:txBody>
        </p:sp>
        <p:sp>
          <p:nvSpPr>
            <p:cNvPr id="837670" name="Text Box 28"/>
            <p:cNvSpPr txBox="1">
              <a:spLocks noChangeArrowheads="1"/>
            </p:cNvSpPr>
            <p:nvPr/>
          </p:nvSpPr>
          <p:spPr bwMode="auto">
            <a:xfrm>
              <a:off x="8960644" y="4586759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3799</a:t>
              </a:r>
            </a:p>
          </p:txBody>
        </p:sp>
        <p:sp>
          <p:nvSpPr>
            <p:cNvPr id="837671" name="Rectangle 49"/>
            <p:cNvSpPr>
              <a:spLocks noChangeArrowheads="1"/>
            </p:cNvSpPr>
            <p:nvPr/>
          </p:nvSpPr>
          <p:spPr bwMode="auto">
            <a:xfrm>
              <a:off x="8047436" y="3869208"/>
              <a:ext cx="1427427" cy="46355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2" name="Line 50"/>
            <p:cNvSpPr>
              <a:spLocks noChangeShapeType="1"/>
            </p:cNvSpPr>
            <p:nvPr/>
          </p:nvSpPr>
          <p:spPr bwMode="auto">
            <a:xfrm>
              <a:off x="8238331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3" name="Line 51"/>
            <p:cNvSpPr>
              <a:spLocks noChangeShapeType="1"/>
            </p:cNvSpPr>
            <p:nvPr/>
          </p:nvSpPr>
          <p:spPr bwMode="auto">
            <a:xfrm>
              <a:off x="8429229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4" name="Line 52"/>
            <p:cNvSpPr>
              <a:spLocks noChangeShapeType="1"/>
            </p:cNvSpPr>
            <p:nvPr/>
          </p:nvSpPr>
          <p:spPr bwMode="auto">
            <a:xfrm>
              <a:off x="862012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5" name="Line 53"/>
            <p:cNvSpPr>
              <a:spLocks noChangeShapeType="1"/>
            </p:cNvSpPr>
            <p:nvPr/>
          </p:nvSpPr>
          <p:spPr bwMode="auto">
            <a:xfrm>
              <a:off x="928568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6" name="Rectangle 54"/>
            <p:cNvSpPr>
              <a:spLocks noChangeArrowheads="1"/>
            </p:cNvSpPr>
            <p:nvPr/>
          </p:nvSpPr>
          <p:spPr bwMode="auto">
            <a:xfrm>
              <a:off x="7098110" y="3869208"/>
              <a:ext cx="949325" cy="4635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7" name="Line 55"/>
            <p:cNvSpPr>
              <a:spLocks noChangeShapeType="1"/>
            </p:cNvSpPr>
            <p:nvPr/>
          </p:nvSpPr>
          <p:spPr bwMode="auto">
            <a:xfrm flipH="1" flipV="1">
              <a:off x="8429229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8" name="Line 56"/>
            <p:cNvSpPr>
              <a:spLocks noChangeShapeType="1"/>
            </p:cNvSpPr>
            <p:nvPr/>
          </p:nvSpPr>
          <p:spPr bwMode="auto">
            <a:xfrm flipH="1" flipV="1">
              <a:off x="7001802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9" name="Text Box 61"/>
            <p:cNvSpPr txBox="1">
              <a:spLocks noChangeArrowheads="1"/>
            </p:cNvSpPr>
            <p:nvPr/>
          </p:nvSpPr>
          <p:spPr bwMode="auto">
            <a:xfrm>
              <a:off x="7065433" y="3869209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37680" name="Text Box 65"/>
            <p:cNvSpPr txBox="1">
              <a:spLocks noChangeArrowheads="1"/>
            </p:cNvSpPr>
            <p:nvPr/>
          </p:nvSpPr>
          <p:spPr bwMode="auto">
            <a:xfrm>
              <a:off x="7450799" y="5067770"/>
              <a:ext cx="16786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数据报片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</p:grpSp>
      <p:grpSp>
        <p:nvGrpSpPr>
          <p:cNvPr id="837681" name="组合 2"/>
          <p:cNvGrpSpPr>
            <a:grpSpLocks/>
          </p:cNvGrpSpPr>
          <p:nvPr/>
        </p:nvGrpSpPr>
        <p:grpSpPr bwMode="auto">
          <a:xfrm>
            <a:off x="855663" y="1484313"/>
            <a:ext cx="8945562" cy="1589087"/>
            <a:chOff x="855338" y="1484784"/>
            <a:chExt cx="8946531" cy="1589147"/>
          </a:xfrm>
        </p:grpSpPr>
        <p:sp>
          <p:nvSpPr>
            <p:cNvPr id="837682" name="Rectangle 4"/>
            <p:cNvSpPr>
              <a:spLocks noChangeArrowheads="1"/>
            </p:cNvSpPr>
            <p:nvPr/>
          </p:nvSpPr>
          <p:spPr bwMode="auto">
            <a:xfrm>
              <a:off x="3195902" y="1916583"/>
              <a:ext cx="5233327" cy="4635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3" name="Rectangle 6"/>
            <p:cNvSpPr>
              <a:spLocks noChangeArrowheads="1"/>
            </p:cNvSpPr>
            <p:nvPr/>
          </p:nvSpPr>
          <p:spPr bwMode="auto">
            <a:xfrm>
              <a:off x="2244858" y="1916583"/>
              <a:ext cx="6184371" cy="46355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4" name="Line 7"/>
            <p:cNvSpPr>
              <a:spLocks noChangeShapeType="1"/>
            </p:cNvSpPr>
            <p:nvPr/>
          </p:nvSpPr>
          <p:spPr bwMode="auto">
            <a:xfrm>
              <a:off x="3386800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5" name="Line 8"/>
            <p:cNvSpPr>
              <a:spLocks noChangeShapeType="1"/>
            </p:cNvSpPr>
            <p:nvPr/>
          </p:nvSpPr>
          <p:spPr bwMode="auto">
            <a:xfrm>
              <a:off x="3577696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6" name="Line 9"/>
            <p:cNvSpPr>
              <a:spLocks noChangeShapeType="1"/>
            </p:cNvSpPr>
            <p:nvPr/>
          </p:nvSpPr>
          <p:spPr bwMode="auto">
            <a:xfrm>
              <a:off x="3768593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7" name="Line 10"/>
            <p:cNvSpPr>
              <a:spLocks noChangeShapeType="1"/>
            </p:cNvSpPr>
            <p:nvPr/>
          </p:nvSpPr>
          <p:spPr bwMode="auto">
            <a:xfrm>
              <a:off x="8238331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8" name="Text Box 16"/>
            <p:cNvSpPr txBox="1">
              <a:spLocks noChangeArrowheads="1"/>
            </p:cNvSpPr>
            <p:nvPr/>
          </p:nvSpPr>
          <p:spPr bwMode="auto">
            <a:xfrm>
              <a:off x="8455025" y="1810221"/>
              <a:ext cx="1346844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= 0/8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= 0</a:t>
              </a:r>
            </a:p>
          </p:txBody>
        </p:sp>
        <p:sp>
          <p:nvSpPr>
            <p:cNvPr id="837689" name="Line 19"/>
            <p:cNvSpPr>
              <a:spLocks noChangeShapeType="1"/>
            </p:cNvSpPr>
            <p:nvPr/>
          </p:nvSpPr>
          <p:spPr bwMode="auto">
            <a:xfrm flipV="1">
              <a:off x="831744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0" name="Line 20"/>
            <p:cNvSpPr>
              <a:spLocks noChangeShapeType="1"/>
            </p:cNvSpPr>
            <p:nvPr/>
          </p:nvSpPr>
          <p:spPr bwMode="auto">
            <a:xfrm flipV="1">
              <a:off x="328705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1" name="Text Box 31"/>
            <p:cNvSpPr txBox="1">
              <a:spLocks noChangeArrowheads="1"/>
            </p:cNvSpPr>
            <p:nvPr/>
          </p:nvSpPr>
          <p:spPr bwMode="auto">
            <a:xfrm>
              <a:off x="7913291" y="2634134"/>
              <a:ext cx="75533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3799</a:t>
              </a:r>
            </a:p>
          </p:txBody>
        </p:sp>
        <p:sp>
          <p:nvSpPr>
            <p:cNvPr id="837692" name="Text Box 32"/>
            <p:cNvSpPr txBox="1">
              <a:spLocks noChangeArrowheads="1"/>
            </p:cNvSpPr>
            <p:nvPr/>
          </p:nvSpPr>
          <p:spPr bwMode="auto">
            <a:xfrm>
              <a:off x="855338" y="1737196"/>
              <a:ext cx="121058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需分片的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837693" name="Rectangle 76"/>
            <p:cNvSpPr>
              <a:spLocks noChangeArrowheads="1"/>
            </p:cNvSpPr>
            <p:nvPr/>
          </p:nvSpPr>
          <p:spPr bwMode="auto">
            <a:xfrm>
              <a:off x="2267215" y="1934045"/>
              <a:ext cx="925248" cy="414835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4" name="Text Box 34"/>
            <p:cNvSpPr txBox="1">
              <a:spLocks noChangeArrowheads="1"/>
            </p:cNvSpPr>
            <p:nvPr/>
          </p:nvSpPr>
          <p:spPr bwMode="auto">
            <a:xfrm>
              <a:off x="2344606" y="1948770"/>
              <a:ext cx="697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</a:t>
              </a:r>
            </a:p>
          </p:txBody>
        </p:sp>
        <p:sp>
          <p:nvSpPr>
            <p:cNvPr id="837695" name="Line 35"/>
            <p:cNvSpPr>
              <a:spLocks noChangeShapeType="1"/>
            </p:cNvSpPr>
            <p:nvPr/>
          </p:nvSpPr>
          <p:spPr bwMode="auto">
            <a:xfrm>
              <a:off x="31959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6" name="Line 37"/>
            <p:cNvSpPr>
              <a:spLocks noChangeShapeType="1"/>
            </p:cNvSpPr>
            <p:nvPr/>
          </p:nvSpPr>
          <p:spPr bwMode="auto">
            <a:xfrm>
              <a:off x="509971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7" name="Line 38"/>
            <p:cNvSpPr>
              <a:spLocks noChangeShapeType="1"/>
            </p:cNvSpPr>
            <p:nvPr/>
          </p:nvSpPr>
          <p:spPr bwMode="auto">
            <a:xfrm>
              <a:off x="70018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8" name="Line 57"/>
            <p:cNvSpPr>
              <a:spLocks noChangeShapeType="1"/>
            </p:cNvSpPr>
            <p:nvPr/>
          </p:nvSpPr>
          <p:spPr bwMode="auto">
            <a:xfrm>
              <a:off x="3178705" y="1691158"/>
              <a:ext cx="52316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9" name="Text Box 58"/>
            <p:cNvSpPr txBox="1">
              <a:spLocks noChangeArrowheads="1"/>
            </p:cNvSpPr>
            <p:nvPr/>
          </p:nvSpPr>
          <p:spPr bwMode="auto">
            <a:xfrm>
              <a:off x="4150387" y="1484784"/>
              <a:ext cx="2770310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数据部分共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3800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837700" name="Line 66"/>
            <p:cNvSpPr>
              <a:spLocks noChangeShapeType="1"/>
            </p:cNvSpPr>
            <p:nvPr/>
          </p:nvSpPr>
          <p:spPr bwMode="auto">
            <a:xfrm flipV="1">
              <a:off x="517710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1" name="Text Box 67"/>
            <p:cNvSpPr txBox="1">
              <a:spLocks noChangeArrowheads="1"/>
            </p:cNvSpPr>
            <p:nvPr/>
          </p:nvSpPr>
          <p:spPr bwMode="auto">
            <a:xfrm>
              <a:off x="4757474" y="2653184"/>
              <a:ext cx="75533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1400</a:t>
              </a:r>
            </a:p>
          </p:txBody>
        </p:sp>
        <p:sp>
          <p:nvSpPr>
            <p:cNvPr id="837702" name="Line 68"/>
            <p:cNvSpPr>
              <a:spLocks noChangeShapeType="1"/>
            </p:cNvSpPr>
            <p:nvPr/>
          </p:nvSpPr>
          <p:spPr bwMode="auto">
            <a:xfrm flipV="1">
              <a:off x="708091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3" name="Text Box 69"/>
            <p:cNvSpPr txBox="1">
              <a:spLocks noChangeArrowheads="1"/>
            </p:cNvSpPr>
            <p:nvPr/>
          </p:nvSpPr>
          <p:spPr bwMode="auto">
            <a:xfrm>
              <a:off x="6676761" y="2653184"/>
              <a:ext cx="75533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2800</a:t>
              </a:r>
            </a:p>
          </p:txBody>
        </p:sp>
        <p:sp>
          <p:nvSpPr>
            <p:cNvPr id="837704" name="Line 70"/>
            <p:cNvSpPr>
              <a:spLocks noChangeShapeType="1"/>
            </p:cNvSpPr>
            <p:nvPr/>
          </p:nvSpPr>
          <p:spPr bwMode="auto">
            <a:xfrm>
              <a:off x="7190979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5" name="Line 71"/>
            <p:cNvSpPr>
              <a:spLocks noChangeShapeType="1"/>
            </p:cNvSpPr>
            <p:nvPr/>
          </p:nvSpPr>
          <p:spPr bwMode="auto">
            <a:xfrm>
              <a:off x="5290608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6" name="Text Box 72"/>
            <p:cNvSpPr txBox="1">
              <a:spLocks noChangeArrowheads="1"/>
            </p:cNvSpPr>
            <p:nvPr/>
          </p:nvSpPr>
          <p:spPr bwMode="auto">
            <a:xfrm>
              <a:off x="2468431" y="2673821"/>
              <a:ext cx="914033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</p:grpSp>
      <p:sp>
        <p:nvSpPr>
          <p:cNvPr id="837707" name="Rectangle 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【</a:t>
            </a:r>
            <a:r>
              <a:rPr lang="zh-CN" altLang="en-US" smtClean="0">
                <a:ea typeface="黑体" panose="02010609060101010101" pitchFamily="49" charset="-122"/>
              </a:rPr>
              <a:t>例</a:t>
            </a:r>
            <a:r>
              <a:rPr lang="en-US" altLang="zh-CN" smtClean="0">
                <a:ea typeface="黑体" panose="02010609060101010101" pitchFamily="49" charset="-122"/>
              </a:rPr>
              <a:t>4-1】 IP </a:t>
            </a:r>
            <a:r>
              <a:rPr lang="zh-CN" altLang="en-US" smtClean="0">
                <a:ea typeface="黑体" panose="02010609060101010101" pitchFamily="49" charset="-122"/>
              </a:rPr>
              <a:t>数据报分片</a:t>
            </a:r>
          </a:p>
        </p:txBody>
      </p:sp>
      <p:sp>
        <p:nvSpPr>
          <p:cNvPr id="837708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BD0A9A-B6AD-4447-871A-06332BD741C9}" type="slidenum">
              <a:rPr lang="zh-CN" altLang="en-US" smtClean="0"/>
              <a:pPr eaLnBrk="1" hangingPunct="1"/>
              <a:t>38</a:t>
            </a:fld>
            <a:endParaRPr lang="en-US" altLang="zh-CN" smtClean="0"/>
          </a:p>
        </p:txBody>
      </p:sp>
      <p:sp>
        <p:nvSpPr>
          <p:cNvPr id="837709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【例</a:t>
            </a:r>
            <a:r>
              <a:rPr lang="en-US" altLang="zh-CN" smtClean="0">
                <a:ea typeface="黑体" panose="02010609060101010101" pitchFamily="49" charset="-122"/>
              </a:rPr>
              <a:t>4-1</a:t>
            </a:r>
            <a:r>
              <a:rPr lang="zh-CN" altLang="zh-CN" smtClean="0">
                <a:ea typeface="黑体" panose="02010609060101010101" pitchFamily="49" charset="-122"/>
              </a:rPr>
              <a:t>】</a:t>
            </a:r>
            <a:r>
              <a:rPr lang="en-US" altLang="zh-CN" smtClean="0">
                <a:ea typeface="黑体" panose="02010609060101010101" pitchFamily="49" charset="-122"/>
              </a:rPr>
              <a:t> IP </a:t>
            </a:r>
            <a:r>
              <a:rPr lang="zh-CN" altLang="en-US" smtClean="0">
                <a:ea typeface="黑体" panose="02010609060101010101" pitchFamily="49" charset="-122"/>
              </a:rPr>
              <a:t>数据报分片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88950" y="1989138"/>
          <a:ext cx="9217023" cy="316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 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总长度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标识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MF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DF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片偏移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原始数据报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6700" algn="l"/>
                        </a:tabLs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3820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数据报片</a:t>
                      </a:r>
                      <a:r>
                        <a:rPr lang="en-US" sz="28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rgbClr val="C00000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1420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数据报片</a:t>
                      </a: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C00000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1420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175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数据报片</a:t>
                      </a: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</a:t>
                      </a:r>
                      <a:endParaRPr lang="zh-CN" sz="2800" b="1" dirty="0">
                        <a:solidFill>
                          <a:srgbClr val="C00000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+mn-cs"/>
                        </a:rPr>
                        <a:t>1020</a:t>
                      </a:r>
                      <a:endParaRPr lang="zh-CN" sz="2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350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9726" name="Rectangle 1"/>
          <p:cNvSpPr>
            <a:spLocks noChangeArrowheads="1"/>
          </p:cNvSpPr>
          <p:nvPr/>
        </p:nvSpPr>
        <p:spPr bwMode="auto">
          <a:xfrm>
            <a:off x="1354138" y="1455738"/>
            <a:ext cx="7561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ea typeface="黑体" panose="02010609060101010101" pitchFamily="49" charset="-122"/>
              </a:rPr>
              <a:t>数据报首部中与分片有关的字段中的数值</a:t>
            </a:r>
          </a:p>
        </p:txBody>
      </p:sp>
      <p:sp>
        <p:nvSpPr>
          <p:cNvPr id="83972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EE39DF-7B85-4D97-8950-DDF7BA31A60F}" type="slidenum">
              <a:rPr lang="zh-CN" altLang="en-US" smtClean="0"/>
              <a:pPr eaLnBrk="1" hangingPunct="1"/>
              <a:t>39</a:t>
            </a:fld>
            <a:endParaRPr lang="en-US" altLang="zh-CN" smtClean="0"/>
          </a:p>
        </p:txBody>
      </p:sp>
      <p:sp>
        <p:nvSpPr>
          <p:cNvPr id="839728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5" name="Rectangle 45"/>
          <p:cNvSpPr>
            <a:spLocks noChangeArrowheads="1"/>
          </p:cNvSpPr>
          <p:nvPr/>
        </p:nvSpPr>
        <p:spPr bwMode="auto">
          <a:xfrm>
            <a:off x="631825" y="2001838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40706" name="Rectangle 54"/>
          <p:cNvSpPr>
            <a:spLocks noChangeArrowheads="1"/>
          </p:cNvSpPr>
          <p:nvPr/>
        </p:nvSpPr>
        <p:spPr bwMode="auto">
          <a:xfrm>
            <a:off x="508000" y="3657600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40707" name="Rectangle 8"/>
          <p:cNvSpPr>
            <a:spLocks noChangeArrowheads="1"/>
          </p:cNvSpPr>
          <p:nvPr/>
        </p:nvSpPr>
        <p:spPr bwMode="auto">
          <a:xfrm>
            <a:off x="3351213" y="1600200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08" name="Rectangle 10"/>
          <p:cNvSpPr>
            <a:spLocks noChangeArrowheads="1"/>
          </p:cNvSpPr>
          <p:nvPr/>
        </p:nvSpPr>
        <p:spPr bwMode="auto">
          <a:xfrm>
            <a:off x="1231900" y="1590675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09" name="Rectangle 11"/>
          <p:cNvSpPr>
            <a:spLocks noChangeArrowheads="1"/>
          </p:cNvSpPr>
          <p:nvPr/>
        </p:nvSpPr>
        <p:spPr bwMode="auto">
          <a:xfrm>
            <a:off x="1246188" y="4244975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0" name="Line 12"/>
          <p:cNvSpPr>
            <a:spLocks noChangeShapeType="1"/>
          </p:cNvSpPr>
          <p:nvPr/>
        </p:nvSpPr>
        <p:spPr bwMode="auto">
          <a:xfrm>
            <a:off x="1225550" y="20415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1" name="Line 13"/>
          <p:cNvSpPr>
            <a:spLocks noChangeShapeType="1"/>
          </p:cNvSpPr>
          <p:nvPr/>
        </p:nvSpPr>
        <p:spPr bwMode="auto">
          <a:xfrm>
            <a:off x="1225550" y="24844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2" name="Line 14"/>
          <p:cNvSpPr>
            <a:spLocks noChangeShapeType="1"/>
          </p:cNvSpPr>
          <p:nvPr/>
        </p:nvSpPr>
        <p:spPr bwMode="auto">
          <a:xfrm>
            <a:off x="1225550" y="29289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3" name="Line 15"/>
          <p:cNvSpPr>
            <a:spLocks noChangeShapeType="1"/>
          </p:cNvSpPr>
          <p:nvPr/>
        </p:nvSpPr>
        <p:spPr bwMode="auto">
          <a:xfrm>
            <a:off x="1225550" y="33670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4" name="Line 16"/>
          <p:cNvSpPr>
            <a:spLocks noChangeShapeType="1"/>
          </p:cNvSpPr>
          <p:nvPr/>
        </p:nvSpPr>
        <p:spPr bwMode="auto">
          <a:xfrm>
            <a:off x="1225550" y="38115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5" name="Line 17"/>
          <p:cNvSpPr>
            <a:spLocks noChangeShapeType="1"/>
          </p:cNvSpPr>
          <p:nvPr/>
        </p:nvSpPr>
        <p:spPr bwMode="auto">
          <a:xfrm>
            <a:off x="22748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6" name="Line 18"/>
          <p:cNvSpPr>
            <a:spLocks noChangeShapeType="1"/>
          </p:cNvSpPr>
          <p:nvPr/>
        </p:nvSpPr>
        <p:spPr bwMode="auto">
          <a:xfrm>
            <a:off x="33416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7" name="Line 19"/>
          <p:cNvSpPr>
            <a:spLocks noChangeShapeType="1"/>
          </p:cNvSpPr>
          <p:nvPr/>
        </p:nvSpPr>
        <p:spPr bwMode="auto">
          <a:xfrm>
            <a:off x="3341688" y="2493963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8" name="Line 20"/>
          <p:cNvSpPr>
            <a:spLocks noChangeShapeType="1"/>
          </p:cNvSpPr>
          <p:nvPr/>
        </p:nvSpPr>
        <p:spPr bwMode="auto">
          <a:xfrm>
            <a:off x="5478463" y="1598613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9" name="Line 21"/>
          <p:cNvSpPr>
            <a:spLocks noChangeShapeType="1"/>
          </p:cNvSpPr>
          <p:nvPr/>
        </p:nvSpPr>
        <p:spPr bwMode="auto">
          <a:xfrm flipV="1">
            <a:off x="7615238" y="3806825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20" name="Line 22"/>
          <p:cNvSpPr>
            <a:spLocks noChangeShapeType="1"/>
          </p:cNvSpPr>
          <p:nvPr/>
        </p:nvSpPr>
        <p:spPr bwMode="auto">
          <a:xfrm>
            <a:off x="6348413" y="2051050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21" name="Rectangle 23"/>
          <p:cNvSpPr>
            <a:spLocks noChangeArrowheads="1"/>
          </p:cNvSpPr>
          <p:nvPr/>
        </p:nvSpPr>
        <p:spPr bwMode="auto">
          <a:xfrm>
            <a:off x="1169988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40722" name="Rectangle 24"/>
          <p:cNvSpPr>
            <a:spLocks noChangeArrowheads="1"/>
          </p:cNvSpPr>
          <p:nvPr/>
        </p:nvSpPr>
        <p:spPr bwMode="auto">
          <a:xfrm>
            <a:off x="2182813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40723" name="Rectangle 25"/>
          <p:cNvSpPr>
            <a:spLocks noChangeArrowheads="1"/>
          </p:cNvSpPr>
          <p:nvPr/>
        </p:nvSpPr>
        <p:spPr bwMode="auto">
          <a:xfrm>
            <a:off x="3260725" y="12112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40724" name="Rectangle 26"/>
          <p:cNvSpPr>
            <a:spLocks noChangeArrowheads="1"/>
          </p:cNvSpPr>
          <p:nvPr/>
        </p:nvSpPr>
        <p:spPr bwMode="auto">
          <a:xfrm>
            <a:off x="53736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40725" name="Rectangle 27"/>
          <p:cNvSpPr>
            <a:spLocks noChangeArrowheads="1"/>
          </p:cNvSpPr>
          <p:nvPr/>
        </p:nvSpPr>
        <p:spPr bwMode="auto">
          <a:xfrm>
            <a:off x="62372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40726" name="Rectangle 28"/>
          <p:cNvSpPr>
            <a:spLocks noChangeArrowheads="1"/>
          </p:cNvSpPr>
          <p:nvPr/>
        </p:nvSpPr>
        <p:spPr bwMode="auto">
          <a:xfrm>
            <a:off x="7510463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40727" name="Rectangle 29"/>
          <p:cNvSpPr>
            <a:spLocks noChangeArrowheads="1"/>
          </p:cNvSpPr>
          <p:nvPr/>
        </p:nvSpPr>
        <p:spPr bwMode="auto">
          <a:xfrm>
            <a:off x="9366250" y="1211263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40728" name="Rectangle 30"/>
          <p:cNvSpPr>
            <a:spLocks noChangeArrowheads="1"/>
          </p:cNvSpPr>
          <p:nvPr/>
        </p:nvSpPr>
        <p:spPr bwMode="auto">
          <a:xfrm>
            <a:off x="1331913" y="1625600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40729" name="Rectangle 31"/>
          <p:cNvSpPr>
            <a:spLocks noChangeArrowheads="1"/>
          </p:cNvSpPr>
          <p:nvPr/>
        </p:nvSpPr>
        <p:spPr bwMode="auto">
          <a:xfrm>
            <a:off x="5543550" y="210185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40730" name="Rectangle 32"/>
          <p:cNvSpPr>
            <a:spLocks noChangeArrowheads="1"/>
          </p:cNvSpPr>
          <p:nvPr/>
        </p:nvSpPr>
        <p:spPr bwMode="auto">
          <a:xfrm>
            <a:off x="1544638" y="2506663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40731" name="Rectangle 33"/>
          <p:cNvSpPr>
            <a:spLocks noChangeArrowheads="1"/>
          </p:cNvSpPr>
          <p:nvPr/>
        </p:nvSpPr>
        <p:spPr bwMode="auto">
          <a:xfrm>
            <a:off x="3852863" y="250666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40732" name="Rectangle 34"/>
          <p:cNvSpPr>
            <a:spLocks noChangeArrowheads="1"/>
          </p:cNvSpPr>
          <p:nvPr/>
        </p:nvSpPr>
        <p:spPr bwMode="auto">
          <a:xfrm>
            <a:off x="2784475" y="210185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40733" name="Rectangle 35"/>
          <p:cNvSpPr>
            <a:spLocks noChangeArrowheads="1"/>
          </p:cNvSpPr>
          <p:nvPr/>
        </p:nvSpPr>
        <p:spPr bwMode="auto">
          <a:xfrm>
            <a:off x="3663950" y="1625600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40734" name="Rectangle 36"/>
          <p:cNvSpPr>
            <a:spLocks noChangeArrowheads="1"/>
          </p:cNvSpPr>
          <p:nvPr/>
        </p:nvSpPr>
        <p:spPr bwMode="auto">
          <a:xfrm>
            <a:off x="7050088" y="1625600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40735" name="Rectangle 37"/>
          <p:cNvSpPr>
            <a:spLocks noChangeArrowheads="1"/>
          </p:cNvSpPr>
          <p:nvPr/>
        </p:nvSpPr>
        <p:spPr bwMode="auto">
          <a:xfrm>
            <a:off x="7343775" y="21018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40736" name="Rectangle 38"/>
          <p:cNvSpPr>
            <a:spLocks noChangeArrowheads="1"/>
          </p:cNvSpPr>
          <p:nvPr/>
        </p:nvSpPr>
        <p:spPr bwMode="auto">
          <a:xfrm>
            <a:off x="8128000" y="38354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40737" name="Rectangle 39"/>
          <p:cNvSpPr>
            <a:spLocks noChangeArrowheads="1"/>
          </p:cNvSpPr>
          <p:nvPr/>
        </p:nvSpPr>
        <p:spPr bwMode="auto">
          <a:xfrm>
            <a:off x="6419850" y="2506663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40738" name="Rectangle 40"/>
          <p:cNvSpPr>
            <a:spLocks noChangeArrowheads="1"/>
          </p:cNvSpPr>
          <p:nvPr/>
        </p:nvSpPr>
        <p:spPr bwMode="auto">
          <a:xfrm>
            <a:off x="4784725" y="29654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40739" name="Rectangle 41"/>
          <p:cNvSpPr>
            <a:spLocks noChangeArrowheads="1"/>
          </p:cNvSpPr>
          <p:nvPr/>
        </p:nvSpPr>
        <p:spPr bwMode="auto">
          <a:xfrm>
            <a:off x="4506913" y="3406775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40740" name="Rectangle 42"/>
          <p:cNvSpPr>
            <a:spLocks noChangeArrowheads="1"/>
          </p:cNvSpPr>
          <p:nvPr/>
        </p:nvSpPr>
        <p:spPr bwMode="auto">
          <a:xfrm>
            <a:off x="2414588" y="3835400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40741" name="Rectangle 43"/>
          <p:cNvSpPr>
            <a:spLocks noChangeArrowheads="1"/>
          </p:cNvSpPr>
          <p:nvPr/>
        </p:nvSpPr>
        <p:spPr bwMode="auto">
          <a:xfrm>
            <a:off x="658813" y="1196975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0742" name="Rectangle 44"/>
          <p:cNvSpPr>
            <a:spLocks noChangeArrowheads="1"/>
          </p:cNvSpPr>
          <p:nvPr/>
        </p:nvSpPr>
        <p:spPr bwMode="auto">
          <a:xfrm>
            <a:off x="2170113" y="1606550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40743" name="Group 46"/>
          <p:cNvGrpSpPr>
            <a:grpSpLocks/>
          </p:cNvGrpSpPr>
          <p:nvPr/>
        </p:nvGrpSpPr>
        <p:grpSpPr bwMode="auto">
          <a:xfrm>
            <a:off x="1158875" y="3976688"/>
            <a:ext cx="142875" cy="69850"/>
            <a:chOff x="833" y="3024"/>
            <a:chExt cx="78" cy="51"/>
          </a:xfrm>
        </p:grpSpPr>
        <p:sp>
          <p:nvSpPr>
            <p:cNvPr id="840744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45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46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40747" name="Group 50"/>
          <p:cNvGrpSpPr>
            <a:grpSpLocks/>
          </p:cNvGrpSpPr>
          <p:nvPr/>
        </p:nvGrpSpPr>
        <p:grpSpPr bwMode="auto">
          <a:xfrm>
            <a:off x="9682163" y="3986213"/>
            <a:ext cx="142875" cy="66675"/>
            <a:chOff x="5432" y="3030"/>
            <a:chExt cx="78" cy="51"/>
          </a:xfrm>
        </p:grpSpPr>
        <p:sp>
          <p:nvSpPr>
            <p:cNvPr id="840748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49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50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0751" name="Rectangle 75"/>
          <p:cNvSpPr>
            <a:spLocks noChangeArrowheads="1"/>
          </p:cNvSpPr>
          <p:nvPr/>
        </p:nvSpPr>
        <p:spPr bwMode="auto">
          <a:xfrm>
            <a:off x="4129088" y="4378325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40752" name="Group 94"/>
          <p:cNvGrpSpPr>
            <a:grpSpLocks/>
          </p:cNvGrpSpPr>
          <p:nvPr/>
        </p:nvGrpSpPr>
        <p:grpSpPr bwMode="auto">
          <a:xfrm>
            <a:off x="266700" y="1570038"/>
            <a:ext cx="438150" cy="2663825"/>
            <a:chOff x="111" y="845"/>
            <a:chExt cx="255" cy="1678"/>
          </a:xfrm>
        </p:grpSpPr>
        <p:sp>
          <p:nvSpPr>
            <p:cNvPr id="84075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5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40755" name="AutoShape 97"/>
          <p:cNvSpPr>
            <a:spLocks/>
          </p:cNvSpPr>
          <p:nvPr/>
        </p:nvSpPr>
        <p:spPr bwMode="auto">
          <a:xfrm>
            <a:off x="998538" y="1641475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1144588" y="2466975"/>
            <a:ext cx="6932612" cy="3494088"/>
            <a:chOff x="1144243" y="2238376"/>
            <a:chExt cx="6932988" cy="3494880"/>
          </a:xfrm>
        </p:grpSpPr>
        <p:sp>
          <p:nvSpPr>
            <p:cNvPr id="840757" name="Text Box 74"/>
            <p:cNvSpPr txBox="1">
              <a:spLocks noChangeArrowheads="1"/>
            </p:cNvSpPr>
            <p:nvPr/>
          </p:nvSpPr>
          <p:spPr bwMode="auto">
            <a:xfrm>
              <a:off x="1144243" y="4902259"/>
              <a:ext cx="693298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生存时间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位，记为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TTL (Time To Live)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，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指示数据报在网络中可通过的路由器数的最大值。</a:t>
              </a:r>
            </a:p>
          </p:txBody>
        </p:sp>
        <p:sp>
          <p:nvSpPr>
            <p:cNvPr id="840758" name="Rectangle 75"/>
            <p:cNvSpPr>
              <a:spLocks noChangeArrowheads="1"/>
            </p:cNvSpPr>
            <p:nvPr/>
          </p:nvSpPr>
          <p:spPr bwMode="auto">
            <a:xfrm>
              <a:off x="1209014" y="2238376"/>
              <a:ext cx="2117063" cy="481013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40759" name="标题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4076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F87DA8-E4F6-40FA-9193-5A260853AE19}" type="slidenum">
              <a:rPr lang="zh-CN" altLang="en-US" smtClean="0"/>
              <a:pPr eaLnBrk="1" hangingPunct="1"/>
              <a:t>40</a:t>
            </a:fld>
            <a:endParaRPr lang="en-US" altLang="zh-CN" smtClean="0"/>
          </a:p>
        </p:txBody>
      </p:sp>
      <p:sp>
        <p:nvSpPr>
          <p:cNvPr id="84076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3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42754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42755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6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7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8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9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0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1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2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3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4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5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6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7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8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9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42770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42771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42772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42773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42774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42775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42776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42777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42778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42779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42780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42781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42782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42783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42784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42785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42786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42787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42788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42789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2790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42791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42792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3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4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42795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42796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7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8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2799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42800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4280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80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42803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7"/>
          <p:cNvGrpSpPr>
            <a:grpSpLocks/>
          </p:cNvGrpSpPr>
          <p:nvPr/>
        </p:nvGrpSpPr>
        <p:grpSpPr bwMode="auto">
          <a:xfrm>
            <a:off x="1333500" y="2478088"/>
            <a:ext cx="8266113" cy="3830637"/>
            <a:chOff x="775" y="1410"/>
            <a:chExt cx="4807" cy="2413"/>
          </a:xfrm>
        </p:grpSpPr>
        <p:sp>
          <p:nvSpPr>
            <p:cNvPr id="842805" name="Text Box 74"/>
            <p:cNvSpPr txBox="1">
              <a:spLocks noChangeArrowheads="1"/>
            </p:cNvSpPr>
            <p:nvPr/>
          </p:nvSpPr>
          <p:spPr bwMode="auto">
            <a:xfrm>
              <a:off x="775" y="3067"/>
              <a:ext cx="480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协议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位，指出此数据报携带的数据使用何种协议，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以便目的主机的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层将数据部分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上交给那个处理过程</a:t>
              </a:r>
            </a:p>
          </p:txBody>
        </p:sp>
        <p:sp>
          <p:nvSpPr>
            <p:cNvPr id="842806" name="Rectangle 75"/>
            <p:cNvSpPr>
              <a:spLocks noChangeArrowheads="1"/>
            </p:cNvSpPr>
            <p:nvPr/>
          </p:nvSpPr>
          <p:spPr bwMode="auto">
            <a:xfrm>
              <a:off x="1971" y="1410"/>
              <a:ext cx="1227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4280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4280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27A997-2404-4DAA-9872-81EE5A652E57}" type="slidenum">
              <a:rPr lang="zh-CN" altLang="en-US" smtClean="0"/>
              <a:pPr eaLnBrk="1" hangingPunct="1"/>
              <a:t>41</a:t>
            </a:fld>
            <a:endParaRPr lang="en-US" altLang="zh-CN" smtClean="0"/>
          </a:p>
        </p:txBody>
      </p:sp>
      <p:sp>
        <p:nvSpPr>
          <p:cNvPr id="84280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1" name="Rectangle 4"/>
          <p:cNvSpPr>
            <a:spLocks noChangeArrowheads="1"/>
          </p:cNvSpPr>
          <p:nvPr/>
        </p:nvSpPr>
        <p:spPr bwMode="auto">
          <a:xfrm>
            <a:off x="342900" y="2133600"/>
            <a:ext cx="9363075" cy="62865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zh-CN" sz="32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2" name="Rectangle 5"/>
          <p:cNvSpPr>
            <a:spLocks noChangeArrowheads="1"/>
          </p:cNvSpPr>
          <p:nvPr/>
        </p:nvSpPr>
        <p:spPr bwMode="auto">
          <a:xfrm>
            <a:off x="342900" y="2762250"/>
            <a:ext cx="9363075" cy="1743075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3" name="Rectangle 11"/>
          <p:cNvSpPr>
            <a:spLocks noChangeArrowheads="1"/>
          </p:cNvSpPr>
          <p:nvPr/>
        </p:nvSpPr>
        <p:spPr bwMode="auto">
          <a:xfrm>
            <a:off x="1919288" y="3390900"/>
            <a:ext cx="6208712" cy="487363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4" name="Rectangle 6"/>
          <p:cNvSpPr>
            <a:spLocks noChangeArrowheads="1"/>
          </p:cNvSpPr>
          <p:nvPr/>
        </p:nvSpPr>
        <p:spPr bwMode="auto">
          <a:xfrm>
            <a:off x="1958975" y="3425825"/>
            <a:ext cx="1350963" cy="44608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5" name="Text Box 7"/>
          <p:cNvSpPr txBox="1">
            <a:spLocks noChangeArrowheads="1"/>
          </p:cNvSpPr>
          <p:nvPr/>
        </p:nvSpPr>
        <p:spPr bwMode="auto">
          <a:xfrm>
            <a:off x="560388" y="2216150"/>
            <a:ext cx="1112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844806" name="Text Box 8"/>
          <p:cNvSpPr txBox="1">
            <a:spLocks noChangeArrowheads="1"/>
          </p:cNvSpPr>
          <p:nvPr/>
        </p:nvSpPr>
        <p:spPr bwMode="auto">
          <a:xfrm>
            <a:off x="560388" y="3255963"/>
            <a:ext cx="1112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844807" name="Line 9"/>
          <p:cNvSpPr>
            <a:spLocks noChangeShapeType="1"/>
          </p:cNvSpPr>
          <p:nvPr/>
        </p:nvSpPr>
        <p:spPr bwMode="auto">
          <a:xfrm>
            <a:off x="3309938" y="33909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8" name="Text Box 10"/>
          <p:cNvSpPr txBox="1">
            <a:spLocks noChangeArrowheads="1"/>
          </p:cNvSpPr>
          <p:nvPr/>
        </p:nvSpPr>
        <p:spPr bwMode="auto">
          <a:xfrm>
            <a:off x="2195513" y="3382963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首部</a:t>
            </a:r>
          </a:p>
        </p:txBody>
      </p:sp>
      <p:sp>
        <p:nvSpPr>
          <p:cNvPr id="844809" name="Rectangle 13"/>
          <p:cNvSpPr>
            <a:spLocks noChangeArrowheads="1"/>
          </p:cNvSpPr>
          <p:nvPr/>
        </p:nvSpPr>
        <p:spPr bwMode="auto">
          <a:xfrm>
            <a:off x="4608513" y="2273300"/>
            <a:ext cx="1111250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0" name="Text Box 14"/>
          <p:cNvSpPr txBox="1">
            <a:spLocks noChangeArrowheads="1"/>
          </p:cNvSpPr>
          <p:nvPr/>
        </p:nvSpPr>
        <p:spPr bwMode="auto">
          <a:xfrm>
            <a:off x="4778375" y="2239963"/>
            <a:ext cx="69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TCP</a:t>
            </a:r>
          </a:p>
        </p:txBody>
      </p:sp>
      <p:sp>
        <p:nvSpPr>
          <p:cNvPr id="844811" name="Rectangle 15"/>
          <p:cNvSpPr>
            <a:spLocks noChangeArrowheads="1"/>
          </p:cNvSpPr>
          <p:nvPr/>
        </p:nvSpPr>
        <p:spPr bwMode="auto">
          <a:xfrm>
            <a:off x="5997575" y="2273300"/>
            <a:ext cx="1112838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2" name="Text Box 16"/>
          <p:cNvSpPr txBox="1">
            <a:spLocks noChangeArrowheads="1"/>
          </p:cNvSpPr>
          <p:nvPr/>
        </p:nvSpPr>
        <p:spPr bwMode="auto">
          <a:xfrm>
            <a:off x="6143625" y="2273300"/>
            <a:ext cx="728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UDP</a:t>
            </a:r>
          </a:p>
        </p:txBody>
      </p:sp>
      <p:sp>
        <p:nvSpPr>
          <p:cNvPr id="844813" name="Rectangle 17"/>
          <p:cNvSpPr>
            <a:spLocks noChangeArrowheads="1"/>
          </p:cNvSpPr>
          <p:nvPr/>
        </p:nvSpPr>
        <p:spPr bwMode="auto">
          <a:xfrm>
            <a:off x="2289175" y="2892425"/>
            <a:ext cx="1112838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4" name="Text Box 18"/>
          <p:cNvSpPr txBox="1">
            <a:spLocks noChangeArrowheads="1"/>
          </p:cNvSpPr>
          <p:nvPr/>
        </p:nvSpPr>
        <p:spPr bwMode="auto">
          <a:xfrm>
            <a:off x="2382838" y="2857500"/>
            <a:ext cx="825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ICMP</a:t>
            </a:r>
          </a:p>
        </p:txBody>
      </p:sp>
      <p:sp>
        <p:nvSpPr>
          <p:cNvPr id="844815" name="Rectangle 19"/>
          <p:cNvSpPr>
            <a:spLocks noChangeArrowheads="1"/>
          </p:cNvSpPr>
          <p:nvPr/>
        </p:nvSpPr>
        <p:spPr bwMode="auto">
          <a:xfrm>
            <a:off x="3587750" y="2892425"/>
            <a:ext cx="1111250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6" name="Text Box 20"/>
          <p:cNvSpPr txBox="1">
            <a:spLocks noChangeArrowheads="1"/>
          </p:cNvSpPr>
          <p:nvPr/>
        </p:nvSpPr>
        <p:spPr bwMode="auto">
          <a:xfrm>
            <a:off x="3683000" y="2857500"/>
            <a:ext cx="838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IGMP</a:t>
            </a:r>
          </a:p>
        </p:txBody>
      </p:sp>
      <p:sp>
        <p:nvSpPr>
          <p:cNvPr id="844817" name="Rectangle 21"/>
          <p:cNvSpPr>
            <a:spLocks noChangeArrowheads="1"/>
          </p:cNvSpPr>
          <p:nvPr/>
        </p:nvSpPr>
        <p:spPr bwMode="auto">
          <a:xfrm>
            <a:off x="7442200" y="2892425"/>
            <a:ext cx="1111250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8" name="Text Box 22"/>
          <p:cNvSpPr txBox="1">
            <a:spLocks noChangeArrowheads="1"/>
          </p:cNvSpPr>
          <p:nvPr/>
        </p:nvSpPr>
        <p:spPr bwMode="auto">
          <a:xfrm>
            <a:off x="7537450" y="2857500"/>
            <a:ext cx="882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OSPF</a:t>
            </a:r>
          </a:p>
        </p:txBody>
      </p:sp>
      <p:sp>
        <p:nvSpPr>
          <p:cNvPr id="478233" name="Line 25"/>
          <p:cNvSpPr>
            <a:spLocks noChangeShapeType="1"/>
          </p:cNvSpPr>
          <p:nvPr/>
        </p:nvSpPr>
        <p:spPr bwMode="auto">
          <a:xfrm flipV="1">
            <a:off x="6091238" y="2622550"/>
            <a:ext cx="463550" cy="976313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5" name="Line 27"/>
          <p:cNvSpPr>
            <a:spLocks noChangeShapeType="1"/>
          </p:cNvSpPr>
          <p:nvPr/>
        </p:nvSpPr>
        <p:spPr bwMode="auto">
          <a:xfrm flipH="1" flipV="1">
            <a:off x="5162550" y="2622550"/>
            <a:ext cx="939800" cy="99695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6" name="Line 28"/>
          <p:cNvSpPr>
            <a:spLocks noChangeShapeType="1"/>
          </p:cNvSpPr>
          <p:nvPr/>
        </p:nvSpPr>
        <p:spPr bwMode="auto">
          <a:xfrm flipH="1" flipV="1">
            <a:off x="4722813" y="3175000"/>
            <a:ext cx="1412875" cy="46355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7" name="Line 29"/>
          <p:cNvSpPr>
            <a:spLocks noChangeShapeType="1"/>
          </p:cNvSpPr>
          <p:nvPr/>
        </p:nvSpPr>
        <p:spPr bwMode="auto">
          <a:xfrm flipH="1" flipV="1">
            <a:off x="3116263" y="3255963"/>
            <a:ext cx="3016250" cy="373062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8" name="Line 30"/>
          <p:cNvSpPr>
            <a:spLocks noChangeShapeType="1"/>
          </p:cNvSpPr>
          <p:nvPr/>
        </p:nvSpPr>
        <p:spPr bwMode="auto">
          <a:xfrm flipV="1">
            <a:off x="6118225" y="3173413"/>
            <a:ext cx="1295400" cy="44767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24" name="Text Box 31"/>
          <p:cNvSpPr txBox="1">
            <a:spLocks noChangeArrowheads="1"/>
          </p:cNvSpPr>
          <p:nvPr/>
        </p:nvSpPr>
        <p:spPr bwMode="auto">
          <a:xfrm>
            <a:off x="3463925" y="3463925"/>
            <a:ext cx="1428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数 据 部 分</a:t>
            </a:r>
          </a:p>
        </p:txBody>
      </p:sp>
      <p:sp>
        <p:nvSpPr>
          <p:cNvPr id="844825" name="Line 32"/>
          <p:cNvSpPr>
            <a:spLocks noChangeShapeType="1"/>
          </p:cNvSpPr>
          <p:nvPr/>
        </p:nvSpPr>
        <p:spPr bwMode="auto">
          <a:xfrm>
            <a:off x="1919288" y="4156075"/>
            <a:ext cx="6208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26" name="Text Box 33"/>
          <p:cNvSpPr txBox="1">
            <a:spLocks noChangeArrowheads="1"/>
          </p:cNvSpPr>
          <p:nvPr/>
        </p:nvSpPr>
        <p:spPr bwMode="auto">
          <a:xfrm>
            <a:off x="4327525" y="3927475"/>
            <a:ext cx="1266825" cy="4000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478246" name="Group 38"/>
          <p:cNvGrpSpPr>
            <a:grpSpLocks/>
          </p:cNvGrpSpPr>
          <p:nvPr/>
        </p:nvGrpSpPr>
        <p:grpSpPr bwMode="auto">
          <a:xfrm>
            <a:off x="2878138" y="3644900"/>
            <a:ext cx="4954587" cy="2016125"/>
            <a:chOff x="1632" y="2296"/>
            <a:chExt cx="2881" cy="1270"/>
          </a:xfrm>
        </p:grpSpPr>
        <p:sp>
          <p:nvSpPr>
            <p:cNvPr id="844828" name="Rectangle 34"/>
            <p:cNvSpPr>
              <a:spLocks noChangeArrowheads="1"/>
            </p:cNvSpPr>
            <p:nvPr/>
          </p:nvSpPr>
          <p:spPr bwMode="auto">
            <a:xfrm>
              <a:off x="1632" y="2296"/>
              <a:ext cx="227" cy="10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4829" name="AutoShape 35"/>
            <p:cNvSpPr>
              <a:spLocks noChangeArrowheads="1"/>
            </p:cNvSpPr>
            <p:nvPr/>
          </p:nvSpPr>
          <p:spPr bwMode="auto">
            <a:xfrm>
              <a:off x="2344" y="3033"/>
              <a:ext cx="2169" cy="506"/>
            </a:xfrm>
            <a:prstGeom prst="wedgeRoundRectCallout">
              <a:avLst>
                <a:gd name="adj1" fmla="val -78315"/>
                <a:gd name="adj2" fmla="val -177773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zh-CN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4830" name="Text Box 36"/>
            <p:cNvSpPr txBox="1">
              <a:spLocks noChangeArrowheads="1"/>
            </p:cNvSpPr>
            <p:nvPr/>
          </p:nvSpPr>
          <p:spPr bwMode="auto">
            <a:xfrm>
              <a:off x="2426" y="3043"/>
              <a:ext cx="200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协议字段指出应将数据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部分交给哪一个进程</a:t>
              </a:r>
            </a:p>
          </p:txBody>
        </p:sp>
      </p:grpSp>
      <p:sp>
        <p:nvSpPr>
          <p:cNvPr id="844831" name="矩形 31"/>
          <p:cNvSpPr>
            <a:spLocks noChangeArrowheads="1"/>
          </p:cNvSpPr>
          <p:nvPr/>
        </p:nvSpPr>
        <p:spPr bwMode="auto">
          <a:xfrm>
            <a:off x="1127125" y="476250"/>
            <a:ext cx="7497763" cy="1077913"/>
          </a:xfrm>
          <a:prstGeom prst="rect">
            <a:avLst/>
          </a:prstGeom>
          <a:solidFill>
            <a:srgbClr val="66FF66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协议支持多种协议，</a:t>
            </a:r>
            <a:endParaRPr lang="en-US" altLang="zh-CN" sz="3200" b="1">
              <a:solidFill>
                <a:srgbClr val="000066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数据报可以封装多种协议 </a:t>
            </a:r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PDU</a:t>
            </a: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84483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88DBDA47-AF5A-4639-9DBB-71546DAB891B}" type="slidenum">
              <a:rPr lang="zh-CN" altLang="en-US" smtClean="0"/>
              <a:pPr/>
              <a:t>42</a:t>
            </a:fld>
            <a:endParaRPr lang="en-US" altLang="zh-CN" smtClean="0"/>
          </a:p>
        </p:txBody>
      </p:sp>
      <p:sp>
        <p:nvSpPr>
          <p:cNvPr id="844833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7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7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7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33" grpId="0" animBg="1"/>
      <p:bldP spid="478235" grpId="0" animBg="1"/>
      <p:bldP spid="478236" grpId="0" animBg="1"/>
      <p:bldP spid="478237" grpId="0" animBg="1"/>
      <p:bldP spid="4782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49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46850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46851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2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3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4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5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6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7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8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9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0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1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2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3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4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5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46866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46867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46868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46869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46870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46871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46872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46873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46874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46875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46876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46877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46878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46879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46880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46881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46882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46883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46884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46885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6886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46887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46888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89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0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46891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46892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3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4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6895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46896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46897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8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46899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Group 77"/>
          <p:cNvGrpSpPr>
            <a:grpSpLocks/>
          </p:cNvGrpSpPr>
          <p:nvPr/>
        </p:nvGrpSpPr>
        <p:grpSpPr bwMode="auto">
          <a:xfrm>
            <a:off x="2465388" y="2478088"/>
            <a:ext cx="7265987" cy="3830637"/>
            <a:chOff x="1434" y="1410"/>
            <a:chExt cx="4224" cy="2413"/>
          </a:xfrm>
        </p:grpSpPr>
        <p:sp>
          <p:nvSpPr>
            <p:cNvPr id="846901" name="Text Box 74"/>
            <p:cNvSpPr txBox="1">
              <a:spLocks noChangeArrowheads="1"/>
            </p:cNvSpPr>
            <p:nvPr/>
          </p:nvSpPr>
          <p:spPr bwMode="auto">
            <a:xfrm>
              <a:off x="1434" y="3067"/>
              <a:ext cx="404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首部检验和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</a:t>
              </a: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只检验数据报的首部，</a:t>
              </a:r>
            </a:p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不检验数据部分。这里不采用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CRC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检验码而采用简单的计算方法。 </a:t>
              </a:r>
            </a:p>
          </p:txBody>
        </p:sp>
        <p:sp>
          <p:nvSpPr>
            <p:cNvPr id="846902" name="Rectangle 75"/>
            <p:cNvSpPr>
              <a:spLocks noChangeArrowheads="1"/>
            </p:cNvSpPr>
            <p:nvPr/>
          </p:nvSpPr>
          <p:spPr bwMode="auto">
            <a:xfrm>
              <a:off x="3195" y="1410"/>
              <a:ext cx="2463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4690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4690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72F158-A8FB-4CE1-9CA0-3B9B90CCAE76}" type="slidenum">
              <a:rPr lang="zh-CN" altLang="en-US" smtClean="0"/>
              <a:pPr eaLnBrk="1" hangingPunct="1"/>
              <a:t>43</a:t>
            </a:fld>
            <a:endParaRPr lang="en-US" altLang="zh-CN" smtClean="0"/>
          </a:p>
        </p:txBody>
      </p:sp>
      <p:sp>
        <p:nvSpPr>
          <p:cNvPr id="84690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7" name="Rectangle 66"/>
          <p:cNvSpPr>
            <a:spLocks noChangeArrowheads="1"/>
          </p:cNvSpPr>
          <p:nvPr/>
        </p:nvSpPr>
        <p:spPr bwMode="auto">
          <a:xfrm>
            <a:off x="4083050" y="5262563"/>
            <a:ext cx="1901825" cy="87153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898" name="Text Box 4"/>
          <p:cNvSpPr txBox="1">
            <a:spLocks noChangeArrowheads="1"/>
          </p:cNvSpPr>
          <p:nvPr/>
        </p:nvSpPr>
        <p:spPr bwMode="auto">
          <a:xfrm>
            <a:off x="722313" y="763588"/>
            <a:ext cx="2495550" cy="406400"/>
          </a:xfrm>
          <a:prstGeom prst="rect">
            <a:avLst/>
          </a:prstGeom>
          <a:solidFill>
            <a:srgbClr val="99FF33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发送端</a:t>
            </a:r>
          </a:p>
        </p:txBody>
      </p:sp>
      <p:sp>
        <p:nvSpPr>
          <p:cNvPr id="848899" name="Text Box 5"/>
          <p:cNvSpPr txBox="1">
            <a:spLocks noChangeArrowheads="1"/>
          </p:cNvSpPr>
          <p:nvPr/>
        </p:nvSpPr>
        <p:spPr bwMode="auto">
          <a:xfrm>
            <a:off x="6727825" y="763588"/>
            <a:ext cx="2417763" cy="406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接收端</a:t>
            </a:r>
          </a:p>
        </p:txBody>
      </p:sp>
      <p:sp>
        <p:nvSpPr>
          <p:cNvPr id="848900" name="Rectangle 6"/>
          <p:cNvSpPr>
            <a:spLocks noChangeArrowheads="1"/>
          </p:cNvSpPr>
          <p:nvPr/>
        </p:nvSpPr>
        <p:spPr bwMode="auto">
          <a:xfrm>
            <a:off x="1749425" y="1387475"/>
            <a:ext cx="1463675" cy="2968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01" name="Text Box 7"/>
          <p:cNvSpPr txBox="1">
            <a:spLocks noChangeArrowheads="1"/>
          </p:cNvSpPr>
          <p:nvPr/>
        </p:nvSpPr>
        <p:spPr bwMode="auto">
          <a:xfrm>
            <a:off x="1003300" y="1327150"/>
            <a:ext cx="655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48902" name="Rectangle 8"/>
          <p:cNvSpPr>
            <a:spLocks noChangeArrowheads="1"/>
          </p:cNvSpPr>
          <p:nvPr/>
        </p:nvSpPr>
        <p:spPr bwMode="auto">
          <a:xfrm>
            <a:off x="1749425" y="1804988"/>
            <a:ext cx="1463675" cy="2952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03" name="Text Box 9"/>
          <p:cNvSpPr txBox="1">
            <a:spLocks noChangeArrowheads="1"/>
          </p:cNvSpPr>
          <p:nvPr/>
        </p:nvSpPr>
        <p:spPr bwMode="auto">
          <a:xfrm>
            <a:off x="1003300" y="1743075"/>
            <a:ext cx="655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grpSp>
        <p:nvGrpSpPr>
          <p:cNvPr id="481347" name="Group 67"/>
          <p:cNvGrpSpPr>
            <a:grpSpLocks/>
          </p:cNvGrpSpPr>
          <p:nvPr/>
        </p:nvGrpSpPr>
        <p:grpSpPr bwMode="auto">
          <a:xfrm>
            <a:off x="722313" y="2338388"/>
            <a:ext cx="2490787" cy="400050"/>
            <a:chOff x="295" y="1111"/>
            <a:chExt cx="1448" cy="252"/>
          </a:xfrm>
        </p:grpSpPr>
        <p:sp>
          <p:nvSpPr>
            <p:cNvPr id="848905" name="Rectangle 10"/>
            <p:cNvSpPr>
              <a:spLocks noChangeArrowheads="1"/>
            </p:cNvSpPr>
            <p:nvPr/>
          </p:nvSpPr>
          <p:spPr bwMode="auto">
            <a:xfrm>
              <a:off x="892" y="1158"/>
              <a:ext cx="851" cy="18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置为全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48906" name="Text Box 11"/>
            <p:cNvSpPr txBox="1">
              <a:spLocks noChangeArrowheads="1"/>
            </p:cNvSpPr>
            <p:nvPr/>
          </p:nvSpPr>
          <p:spPr bwMode="auto">
            <a:xfrm>
              <a:off x="295" y="1111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</p:grpSp>
      <p:sp>
        <p:nvSpPr>
          <p:cNvPr id="848907" name="Rectangle 12"/>
          <p:cNvSpPr>
            <a:spLocks noChangeArrowheads="1"/>
          </p:cNvSpPr>
          <p:nvPr/>
        </p:nvSpPr>
        <p:spPr bwMode="auto">
          <a:xfrm>
            <a:off x="1749425" y="3021013"/>
            <a:ext cx="1463675" cy="2968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08" name="Text Box 13"/>
          <p:cNvSpPr txBox="1">
            <a:spLocks noChangeArrowheads="1"/>
          </p:cNvSpPr>
          <p:nvPr/>
        </p:nvSpPr>
        <p:spPr bwMode="auto">
          <a:xfrm>
            <a:off x="1003300" y="2960688"/>
            <a:ext cx="669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</a:p>
        </p:txBody>
      </p:sp>
      <p:grpSp>
        <p:nvGrpSpPr>
          <p:cNvPr id="481348" name="Group 68"/>
          <p:cNvGrpSpPr>
            <a:grpSpLocks/>
          </p:cNvGrpSpPr>
          <p:nvPr/>
        </p:nvGrpSpPr>
        <p:grpSpPr bwMode="auto">
          <a:xfrm>
            <a:off x="500063" y="3551238"/>
            <a:ext cx="2713037" cy="708025"/>
            <a:chOff x="166" y="1875"/>
            <a:chExt cx="1577" cy="446"/>
          </a:xfrm>
        </p:grpSpPr>
        <p:sp>
          <p:nvSpPr>
            <p:cNvPr id="848910" name="Rectangle 14"/>
            <p:cNvSpPr>
              <a:spLocks noChangeArrowheads="1"/>
            </p:cNvSpPr>
            <p:nvPr/>
          </p:nvSpPr>
          <p:spPr bwMode="auto">
            <a:xfrm>
              <a:off x="892" y="2000"/>
              <a:ext cx="851" cy="1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11" name="Text Box 15"/>
            <p:cNvSpPr txBox="1">
              <a:spLocks noChangeArrowheads="1"/>
            </p:cNvSpPr>
            <p:nvPr/>
          </p:nvSpPr>
          <p:spPr bwMode="auto">
            <a:xfrm>
              <a:off x="166" y="1875"/>
              <a:ext cx="70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反码算术</a:t>
              </a:r>
            </a:p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运算求和</a:t>
              </a:r>
            </a:p>
          </p:txBody>
        </p:sp>
      </p:grpSp>
      <p:sp>
        <p:nvSpPr>
          <p:cNvPr id="848912" name="Text Box 19"/>
          <p:cNvSpPr txBox="1">
            <a:spLocks noChangeArrowheads="1"/>
          </p:cNvSpPr>
          <p:nvPr/>
        </p:nvSpPr>
        <p:spPr bwMode="auto">
          <a:xfrm>
            <a:off x="2133600" y="2019300"/>
            <a:ext cx="439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13" name="Text Box 20"/>
          <p:cNvSpPr txBox="1">
            <a:spLocks noChangeArrowheads="1"/>
          </p:cNvSpPr>
          <p:nvPr/>
        </p:nvSpPr>
        <p:spPr bwMode="auto">
          <a:xfrm>
            <a:off x="2116138" y="260985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14" name="Line 21"/>
          <p:cNvSpPr>
            <a:spLocks noChangeShapeType="1"/>
          </p:cNvSpPr>
          <p:nvPr/>
        </p:nvSpPr>
        <p:spPr bwMode="auto">
          <a:xfrm>
            <a:off x="819150" y="3454400"/>
            <a:ext cx="292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49" name="Group 69"/>
          <p:cNvGrpSpPr>
            <a:grpSpLocks/>
          </p:cNvGrpSpPr>
          <p:nvPr/>
        </p:nvGrpSpPr>
        <p:grpSpPr bwMode="auto">
          <a:xfrm>
            <a:off x="1530350" y="4151313"/>
            <a:ext cx="1082675" cy="501650"/>
            <a:chOff x="765" y="2253"/>
            <a:chExt cx="629" cy="316"/>
          </a:xfrm>
        </p:grpSpPr>
        <p:sp>
          <p:nvSpPr>
            <p:cNvPr id="848916" name="AutoShape 18"/>
            <p:cNvSpPr>
              <a:spLocks noChangeArrowheads="1"/>
            </p:cNvSpPr>
            <p:nvPr/>
          </p:nvSpPr>
          <p:spPr bwMode="auto">
            <a:xfrm>
              <a:off x="1293" y="2253"/>
              <a:ext cx="101" cy="316"/>
            </a:xfrm>
            <a:prstGeom prst="downArrow">
              <a:avLst>
                <a:gd name="adj1" fmla="val 50000"/>
                <a:gd name="adj2" fmla="val 7821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8917" name="Text Box 22"/>
            <p:cNvSpPr txBox="1">
              <a:spLocks noChangeArrowheads="1"/>
            </p:cNvSpPr>
            <p:nvPr/>
          </p:nvSpPr>
          <p:spPr bwMode="auto">
            <a:xfrm>
              <a:off x="765" y="2264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取反码</a:t>
              </a:r>
            </a:p>
          </p:txBody>
        </p:sp>
      </p:grpSp>
      <p:sp>
        <p:nvSpPr>
          <p:cNvPr id="848918" name="AutoShape 23"/>
          <p:cNvSpPr>
            <a:spLocks/>
          </p:cNvSpPr>
          <p:nvPr/>
        </p:nvSpPr>
        <p:spPr bwMode="auto">
          <a:xfrm>
            <a:off x="644525" y="1401763"/>
            <a:ext cx="174625" cy="1931987"/>
          </a:xfrm>
          <a:prstGeom prst="leftBrace">
            <a:avLst>
              <a:gd name="adj1" fmla="val 9988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19" name="Text Box 24"/>
          <p:cNvSpPr txBox="1">
            <a:spLocks noChangeArrowheads="1"/>
          </p:cNvSpPr>
          <p:nvPr/>
        </p:nvSpPr>
        <p:spPr bwMode="auto">
          <a:xfrm>
            <a:off x="215900" y="1597025"/>
            <a:ext cx="43973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据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报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</p:txBody>
      </p:sp>
      <p:sp>
        <p:nvSpPr>
          <p:cNvPr id="848920" name="Rectangle 25"/>
          <p:cNvSpPr>
            <a:spLocks noChangeArrowheads="1"/>
          </p:cNvSpPr>
          <p:nvPr/>
        </p:nvSpPr>
        <p:spPr bwMode="auto">
          <a:xfrm>
            <a:off x="4090988" y="4508500"/>
            <a:ext cx="1893887" cy="7429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1" name="Rectangle 26"/>
          <p:cNvSpPr>
            <a:spLocks noChangeArrowheads="1"/>
          </p:cNvSpPr>
          <p:nvPr/>
        </p:nvSpPr>
        <p:spPr bwMode="auto">
          <a:xfrm>
            <a:off x="5049838" y="4814888"/>
            <a:ext cx="927100" cy="1349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2" name="Text Box 27"/>
          <p:cNvSpPr txBox="1">
            <a:spLocks noChangeArrowheads="1"/>
          </p:cNvSpPr>
          <p:nvPr/>
        </p:nvSpPr>
        <p:spPr bwMode="auto">
          <a:xfrm>
            <a:off x="4449763" y="4122738"/>
            <a:ext cx="1266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848923" name="Line 28"/>
          <p:cNvSpPr>
            <a:spLocks noChangeShapeType="1"/>
          </p:cNvSpPr>
          <p:nvPr/>
        </p:nvSpPr>
        <p:spPr bwMode="auto">
          <a:xfrm>
            <a:off x="4090988" y="4656138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4" name="Line 29"/>
          <p:cNvSpPr>
            <a:spLocks noChangeShapeType="1"/>
          </p:cNvSpPr>
          <p:nvPr/>
        </p:nvSpPr>
        <p:spPr bwMode="auto">
          <a:xfrm>
            <a:off x="4090988" y="4806950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5" name="Line 30"/>
          <p:cNvSpPr>
            <a:spLocks noChangeShapeType="1"/>
          </p:cNvSpPr>
          <p:nvPr/>
        </p:nvSpPr>
        <p:spPr bwMode="auto">
          <a:xfrm>
            <a:off x="4090988" y="4954588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6" name="Line 31"/>
          <p:cNvSpPr>
            <a:spLocks noChangeShapeType="1"/>
          </p:cNvSpPr>
          <p:nvPr/>
        </p:nvSpPr>
        <p:spPr bwMode="auto">
          <a:xfrm>
            <a:off x="4090988" y="5102225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7" name="Line 32"/>
          <p:cNvSpPr>
            <a:spLocks noChangeShapeType="1"/>
          </p:cNvSpPr>
          <p:nvPr/>
        </p:nvSpPr>
        <p:spPr bwMode="auto">
          <a:xfrm>
            <a:off x="4090988" y="5251450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8" name="Line 33"/>
          <p:cNvSpPr>
            <a:spLocks noChangeShapeType="1"/>
          </p:cNvSpPr>
          <p:nvPr/>
        </p:nvSpPr>
        <p:spPr bwMode="auto">
          <a:xfrm>
            <a:off x="5038725" y="4508500"/>
            <a:ext cx="0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9" name="Line 34"/>
          <p:cNvSpPr>
            <a:spLocks noChangeShapeType="1"/>
          </p:cNvSpPr>
          <p:nvPr/>
        </p:nvSpPr>
        <p:spPr bwMode="auto">
          <a:xfrm>
            <a:off x="4606925" y="4806950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0" name="Line 35"/>
          <p:cNvSpPr>
            <a:spLocks noChangeShapeType="1"/>
          </p:cNvSpPr>
          <p:nvPr/>
        </p:nvSpPr>
        <p:spPr bwMode="auto">
          <a:xfrm>
            <a:off x="4606925" y="4508500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1" name="Line 36"/>
          <p:cNvSpPr>
            <a:spLocks noChangeShapeType="1"/>
          </p:cNvSpPr>
          <p:nvPr/>
        </p:nvSpPr>
        <p:spPr bwMode="auto">
          <a:xfrm>
            <a:off x="4351338" y="4508500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2" name="Line 37"/>
          <p:cNvSpPr>
            <a:spLocks noChangeShapeType="1"/>
          </p:cNvSpPr>
          <p:nvPr/>
        </p:nvSpPr>
        <p:spPr bwMode="auto">
          <a:xfrm>
            <a:off x="5183188" y="4656138"/>
            <a:ext cx="0" cy="150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3" name="Line 38"/>
          <p:cNvSpPr>
            <a:spLocks noChangeShapeType="1"/>
          </p:cNvSpPr>
          <p:nvPr/>
        </p:nvSpPr>
        <p:spPr bwMode="auto">
          <a:xfrm>
            <a:off x="5468938" y="5102225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51" name="Group 71"/>
          <p:cNvGrpSpPr>
            <a:grpSpLocks/>
          </p:cNvGrpSpPr>
          <p:nvPr/>
        </p:nvGrpSpPr>
        <p:grpSpPr bwMode="auto">
          <a:xfrm>
            <a:off x="765175" y="4660900"/>
            <a:ext cx="2447925" cy="400050"/>
            <a:chOff x="320" y="2574"/>
            <a:chExt cx="1423" cy="252"/>
          </a:xfrm>
        </p:grpSpPr>
        <p:sp>
          <p:nvSpPr>
            <p:cNvPr id="848935" name="Rectangle 16"/>
            <p:cNvSpPr>
              <a:spLocks noChangeArrowheads="1"/>
            </p:cNvSpPr>
            <p:nvPr/>
          </p:nvSpPr>
          <p:spPr bwMode="auto">
            <a:xfrm>
              <a:off x="892" y="2619"/>
              <a:ext cx="851" cy="18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36" name="Text Box 17"/>
            <p:cNvSpPr txBox="1">
              <a:spLocks noChangeArrowheads="1"/>
            </p:cNvSpPr>
            <p:nvPr/>
          </p:nvSpPr>
          <p:spPr bwMode="auto">
            <a:xfrm>
              <a:off x="320" y="2574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</p:grpSp>
      <p:sp>
        <p:nvSpPr>
          <p:cNvPr id="481319" name="Line 39"/>
          <p:cNvSpPr>
            <a:spLocks noChangeShapeType="1"/>
          </p:cNvSpPr>
          <p:nvPr/>
        </p:nvSpPr>
        <p:spPr bwMode="auto">
          <a:xfrm>
            <a:off x="3232150" y="4892675"/>
            <a:ext cx="23225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8" name="Rectangle 40"/>
          <p:cNvSpPr>
            <a:spLocks noChangeArrowheads="1"/>
          </p:cNvSpPr>
          <p:nvPr/>
        </p:nvSpPr>
        <p:spPr bwMode="auto">
          <a:xfrm>
            <a:off x="7667625" y="1387475"/>
            <a:ext cx="1463675" cy="2968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39" name="Text Box 41"/>
          <p:cNvSpPr txBox="1">
            <a:spLocks noChangeArrowheads="1"/>
          </p:cNvSpPr>
          <p:nvPr/>
        </p:nvSpPr>
        <p:spPr bwMode="auto">
          <a:xfrm>
            <a:off x="6918325" y="1327150"/>
            <a:ext cx="657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48940" name="Rectangle 42"/>
          <p:cNvSpPr>
            <a:spLocks noChangeArrowheads="1"/>
          </p:cNvSpPr>
          <p:nvPr/>
        </p:nvSpPr>
        <p:spPr bwMode="auto">
          <a:xfrm>
            <a:off x="7667625" y="1804988"/>
            <a:ext cx="1463675" cy="2952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41" name="Text Box 43"/>
          <p:cNvSpPr txBox="1">
            <a:spLocks noChangeArrowheads="1"/>
          </p:cNvSpPr>
          <p:nvPr/>
        </p:nvSpPr>
        <p:spPr bwMode="auto">
          <a:xfrm>
            <a:off x="6918325" y="1743075"/>
            <a:ext cx="657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grpSp>
        <p:nvGrpSpPr>
          <p:cNvPr id="481353" name="Group 73"/>
          <p:cNvGrpSpPr>
            <a:grpSpLocks/>
          </p:cNvGrpSpPr>
          <p:nvPr/>
        </p:nvGrpSpPr>
        <p:grpSpPr bwMode="auto">
          <a:xfrm>
            <a:off x="6670675" y="2324100"/>
            <a:ext cx="2460625" cy="400050"/>
            <a:chOff x="3754" y="1102"/>
            <a:chExt cx="1430" cy="252"/>
          </a:xfrm>
        </p:grpSpPr>
        <p:sp>
          <p:nvSpPr>
            <p:cNvPr id="848943" name="Rectangle 44"/>
            <p:cNvSpPr>
              <a:spLocks noChangeArrowheads="1"/>
            </p:cNvSpPr>
            <p:nvPr/>
          </p:nvSpPr>
          <p:spPr bwMode="auto">
            <a:xfrm>
              <a:off x="4333" y="1158"/>
              <a:ext cx="851" cy="18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44" name="Text Box 45"/>
            <p:cNvSpPr txBox="1">
              <a:spLocks noChangeArrowheads="1"/>
            </p:cNvSpPr>
            <p:nvPr/>
          </p:nvSpPr>
          <p:spPr bwMode="auto">
            <a:xfrm>
              <a:off x="3754" y="1102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</p:grpSp>
      <p:sp>
        <p:nvSpPr>
          <p:cNvPr id="848945" name="Rectangle 46"/>
          <p:cNvSpPr>
            <a:spLocks noChangeArrowheads="1"/>
          </p:cNvSpPr>
          <p:nvPr/>
        </p:nvSpPr>
        <p:spPr bwMode="auto">
          <a:xfrm>
            <a:off x="7667625" y="3021013"/>
            <a:ext cx="1463675" cy="2968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46" name="Text Box 47"/>
          <p:cNvSpPr txBox="1">
            <a:spLocks noChangeArrowheads="1"/>
          </p:cNvSpPr>
          <p:nvPr/>
        </p:nvSpPr>
        <p:spPr bwMode="auto">
          <a:xfrm>
            <a:off x="6918325" y="2960688"/>
            <a:ext cx="671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</a:p>
        </p:txBody>
      </p:sp>
      <p:grpSp>
        <p:nvGrpSpPr>
          <p:cNvPr id="481354" name="Group 74"/>
          <p:cNvGrpSpPr>
            <a:grpSpLocks/>
          </p:cNvGrpSpPr>
          <p:nvPr/>
        </p:nvGrpSpPr>
        <p:grpSpPr bwMode="auto">
          <a:xfrm>
            <a:off x="6416675" y="3551238"/>
            <a:ext cx="2714625" cy="708025"/>
            <a:chOff x="3606" y="1875"/>
            <a:chExt cx="1578" cy="446"/>
          </a:xfrm>
        </p:grpSpPr>
        <p:sp>
          <p:nvSpPr>
            <p:cNvPr id="848948" name="Rectangle 48"/>
            <p:cNvSpPr>
              <a:spLocks noChangeArrowheads="1"/>
            </p:cNvSpPr>
            <p:nvPr/>
          </p:nvSpPr>
          <p:spPr bwMode="auto">
            <a:xfrm>
              <a:off x="4333" y="2000"/>
              <a:ext cx="851" cy="1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49" name="Text Box 49"/>
            <p:cNvSpPr txBox="1">
              <a:spLocks noChangeArrowheads="1"/>
            </p:cNvSpPr>
            <p:nvPr/>
          </p:nvSpPr>
          <p:spPr bwMode="auto">
            <a:xfrm>
              <a:off x="3606" y="1875"/>
              <a:ext cx="70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反码算术</a:t>
              </a:r>
            </a:p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运算求和</a:t>
              </a:r>
            </a:p>
          </p:txBody>
        </p:sp>
      </p:grpSp>
      <p:grpSp>
        <p:nvGrpSpPr>
          <p:cNvPr id="481356" name="Group 76"/>
          <p:cNvGrpSpPr>
            <a:grpSpLocks/>
          </p:cNvGrpSpPr>
          <p:nvPr/>
        </p:nvGrpSpPr>
        <p:grpSpPr bwMode="auto">
          <a:xfrm>
            <a:off x="6958013" y="4660900"/>
            <a:ext cx="2173287" cy="400050"/>
            <a:chOff x="3921" y="2574"/>
            <a:chExt cx="1263" cy="252"/>
          </a:xfrm>
        </p:grpSpPr>
        <p:sp>
          <p:nvSpPr>
            <p:cNvPr id="848951" name="Rectangle 50"/>
            <p:cNvSpPr>
              <a:spLocks noChangeArrowheads="1"/>
            </p:cNvSpPr>
            <p:nvPr/>
          </p:nvSpPr>
          <p:spPr bwMode="auto">
            <a:xfrm>
              <a:off x="4333" y="2619"/>
              <a:ext cx="851" cy="18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52" name="Text Box 51"/>
            <p:cNvSpPr txBox="1">
              <a:spLocks noChangeArrowheads="1"/>
            </p:cNvSpPr>
            <p:nvPr/>
          </p:nvSpPr>
          <p:spPr bwMode="auto">
            <a:xfrm>
              <a:off x="3921" y="2574"/>
              <a:ext cx="4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结果</a:t>
              </a:r>
            </a:p>
          </p:txBody>
        </p:sp>
      </p:grpSp>
      <p:sp>
        <p:nvSpPr>
          <p:cNvPr id="848953" name="Text Box 53"/>
          <p:cNvSpPr txBox="1">
            <a:spLocks noChangeArrowheads="1"/>
          </p:cNvSpPr>
          <p:nvPr/>
        </p:nvSpPr>
        <p:spPr bwMode="auto">
          <a:xfrm>
            <a:off x="8050213" y="20193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54" name="Text Box 54"/>
          <p:cNvSpPr txBox="1">
            <a:spLocks noChangeArrowheads="1"/>
          </p:cNvSpPr>
          <p:nvPr/>
        </p:nvSpPr>
        <p:spPr bwMode="auto">
          <a:xfrm>
            <a:off x="8032750" y="260985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55" name="Line 55"/>
          <p:cNvSpPr>
            <a:spLocks noChangeShapeType="1"/>
          </p:cNvSpPr>
          <p:nvPr/>
        </p:nvSpPr>
        <p:spPr bwMode="auto">
          <a:xfrm>
            <a:off x="6864350" y="3454400"/>
            <a:ext cx="2798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55" name="Group 75"/>
          <p:cNvGrpSpPr>
            <a:grpSpLocks/>
          </p:cNvGrpSpPr>
          <p:nvPr/>
        </p:nvGrpSpPr>
        <p:grpSpPr bwMode="auto">
          <a:xfrm>
            <a:off x="7351713" y="4151313"/>
            <a:ext cx="1174750" cy="501650"/>
            <a:chOff x="4150" y="2253"/>
            <a:chExt cx="683" cy="316"/>
          </a:xfrm>
        </p:grpSpPr>
        <p:sp>
          <p:nvSpPr>
            <p:cNvPr id="848957" name="AutoShape 52"/>
            <p:cNvSpPr>
              <a:spLocks noChangeArrowheads="1"/>
            </p:cNvSpPr>
            <p:nvPr/>
          </p:nvSpPr>
          <p:spPr bwMode="auto">
            <a:xfrm>
              <a:off x="4733" y="2253"/>
              <a:ext cx="100" cy="316"/>
            </a:xfrm>
            <a:prstGeom prst="downArrow">
              <a:avLst>
                <a:gd name="adj1" fmla="val 50000"/>
                <a:gd name="adj2" fmla="val 79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8958" name="Text Box 56"/>
            <p:cNvSpPr txBox="1">
              <a:spLocks noChangeArrowheads="1"/>
            </p:cNvSpPr>
            <p:nvPr/>
          </p:nvSpPr>
          <p:spPr bwMode="auto">
            <a:xfrm>
              <a:off x="4150" y="2264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取反码</a:t>
              </a:r>
            </a:p>
          </p:txBody>
        </p:sp>
      </p:grpSp>
      <p:sp>
        <p:nvSpPr>
          <p:cNvPr id="848959" name="AutoShape 57"/>
          <p:cNvSpPr>
            <a:spLocks/>
          </p:cNvSpPr>
          <p:nvPr/>
        </p:nvSpPr>
        <p:spPr bwMode="auto">
          <a:xfrm>
            <a:off x="6648450" y="1401763"/>
            <a:ext cx="173038" cy="1931987"/>
          </a:xfrm>
          <a:prstGeom prst="leftBrace">
            <a:avLst>
              <a:gd name="adj1" fmla="val 10079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zh-CN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60" name="Text Box 58"/>
          <p:cNvSpPr txBox="1">
            <a:spLocks noChangeArrowheads="1"/>
          </p:cNvSpPr>
          <p:nvPr/>
        </p:nvSpPr>
        <p:spPr bwMode="auto">
          <a:xfrm>
            <a:off x="4435475" y="5476875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数据部分</a:t>
            </a:r>
          </a:p>
        </p:txBody>
      </p:sp>
      <p:sp>
        <p:nvSpPr>
          <p:cNvPr id="848961" name="AutoShape 59"/>
          <p:cNvSpPr>
            <a:spLocks/>
          </p:cNvSpPr>
          <p:nvPr/>
        </p:nvSpPr>
        <p:spPr bwMode="auto">
          <a:xfrm>
            <a:off x="5984875" y="4522788"/>
            <a:ext cx="174625" cy="742950"/>
          </a:xfrm>
          <a:prstGeom prst="rightBrace">
            <a:avLst>
              <a:gd name="adj1" fmla="val 3838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62" name="Freeform 60"/>
          <p:cNvSpPr>
            <a:spLocks noChangeArrowheads="1"/>
          </p:cNvSpPr>
          <p:nvPr/>
        </p:nvSpPr>
        <p:spPr bwMode="auto">
          <a:xfrm>
            <a:off x="6159500" y="2366963"/>
            <a:ext cx="490538" cy="2525712"/>
          </a:xfrm>
          <a:custGeom>
            <a:avLst/>
            <a:gdLst>
              <a:gd name="T0" fmla="*/ 0 w 464"/>
              <a:gd name="T1" fmla="*/ 1624 h 1624"/>
              <a:gd name="T2" fmla="*/ 56 w 464"/>
              <a:gd name="T3" fmla="*/ 1624 h 1624"/>
              <a:gd name="T4" fmla="*/ 56 w 464"/>
              <a:gd name="T5" fmla="*/ 0 h 1624"/>
              <a:gd name="T6" fmla="*/ 464 w 464"/>
              <a:gd name="T7" fmla="*/ 0 h 1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4" h="1624">
                <a:moveTo>
                  <a:pt x="0" y="1624"/>
                </a:moveTo>
                <a:lnTo>
                  <a:pt x="56" y="1624"/>
                </a:lnTo>
                <a:lnTo>
                  <a:pt x="56" y="0"/>
                </a:lnTo>
                <a:lnTo>
                  <a:pt x="464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57" name="Group 77"/>
          <p:cNvGrpSpPr>
            <a:grpSpLocks/>
          </p:cNvGrpSpPr>
          <p:nvPr/>
        </p:nvGrpSpPr>
        <p:grpSpPr bwMode="auto">
          <a:xfrm>
            <a:off x="7165975" y="5135563"/>
            <a:ext cx="2682875" cy="1389062"/>
            <a:chOff x="4042" y="2873"/>
            <a:chExt cx="1560" cy="875"/>
          </a:xfrm>
        </p:grpSpPr>
        <p:sp>
          <p:nvSpPr>
            <p:cNvPr id="848964" name="AutoShape 61"/>
            <p:cNvSpPr>
              <a:spLocks noChangeArrowheads="1"/>
            </p:cNvSpPr>
            <p:nvPr/>
          </p:nvSpPr>
          <p:spPr bwMode="auto">
            <a:xfrm>
              <a:off x="4742" y="2873"/>
              <a:ext cx="101" cy="316"/>
            </a:xfrm>
            <a:prstGeom prst="downArrow">
              <a:avLst>
                <a:gd name="adj1" fmla="val 50000"/>
                <a:gd name="adj2" fmla="val 7821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8965" name="Rectangle 62"/>
            <p:cNvSpPr>
              <a:spLocks noChangeArrowheads="1"/>
            </p:cNvSpPr>
            <p:nvPr/>
          </p:nvSpPr>
          <p:spPr bwMode="auto">
            <a:xfrm>
              <a:off x="4042" y="3235"/>
              <a:ext cx="1560" cy="513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若结果为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0,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则保留；</a:t>
              </a:r>
            </a:p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否则，丢弃该数据报</a:t>
              </a:r>
            </a:p>
          </p:txBody>
        </p:sp>
      </p:grpSp>
      <p:grpSp>
        <p:nvGrpSpPr>
          <p:cNvPr id="481352" name="Group 72"/>
          <p:cNvGrpSpPr>
            <a:grpSpLocks/>
          </p:cNvGrpSpPr>
          <p:nvPr/>
        </p:nvGrpSpPr>
        <p:grpSpPr bwMode="auto">
          <a:xfrm>
            <a:off x="1201738" y="5462588"/>
            <a:ext cx="3125787" cy="708025"/>
            <a:chOff x="574" y="3079"/>
            <a:chExt cx="1817" cy="446"/>
          </a:xfrm>
        </p:grpSpPr>
        <p:sp>
          <p:nvSpPr>
            <p:cNvPr id="848967" name="Text Box 63"/>
            <p:cNvSpPr txBox="1">
              <a:spLocks noChangeArrowheads="1"/>
            </p:cNvSpPr>
            <p:nvPr/>
          </p:nvSpPr>
          <p:spPr bwMode="auto">
            <a:xfrm>
              <a:off x="574" y="3079"/>
              <a:ext cx="145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数据部分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不参与检验和的计算</a:t>
              </a:r>
            </a:p>
          </p:txBody>
        </p:sp>
        <p:sp>
          <p:nvSpPr>
            <p:cNvPr id="848968" name="Line 64"/>
            <p:cNvSpPr>
              <a:spLocks noChangeShapeType="1"/>
            </p:cNvSpPr>
            <p:nvPr/>
          </p:nvSpPr>
          <p:spPr bwMode="auto">
            <a:xfrm>
              <a:off x="2020" y="3266"/>
              <a:ext cx="3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8969" name="矩形 73"/>
          <p:cNvSpPr>
            <a:spLocks noChangeArrowheads="1"/>
          </p:cNvSpPr>
          <p:nvPr/>
        </p:nvSpPr>
        <p:spPr bwMode="auto">
          <a:xfrm>
            <a:off x="317500" y="96838"/>
            <a:ext cx="8380413" cy="461962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  <a:r>
              <a:rPr lang="zh-CN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首部检验和的计算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采用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  <a:r>
              <a:rPr lang="zh-CN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二进制反码求和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84897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D00C15AE-41E9-45AD-92A9-01A51851B86D}" type="slidenum">
              <a:rPr lang="zh-CN" altLang="en-US" smtClean="0"/>
              <a:pPr/>
              <a:t>44</a:t>
            </a:fld>
            <a:endParaRPr lang="en-US" altLang="zh-CN" smtClean="0"/>
          </a:p>
        </p:txBody>
      </p:sp>
      <p:sp>
        <p:nvSpPr>
          <p:cNvPr id="848971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4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4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8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48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48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48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1000" fill="hold"/>
                                        <p:tgtEl>
                                          <p:spTgt spid="4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48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5" name="Rectangle 45"/>
          <p:cNvSpPr>
            <a:spLocks noChangeArrowheads="1"/>
          </p:cNvSpPr>
          <p:nvPr/>
        </p:nvSpPr>
        <p:spPr bwMode="auto">
          <a:xfrm>
            <a:off x="631825" y="2060575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50946" name="Rectangle 54"/>
          <p:cNvSpPr>
            <a:spLocks noChangeArrowheads="1"/>
          </p:cNvSpPr>
          <p:nvPr/>
        </p:nvSpPr>
        <p:spPr bwMode="auto">
          <a:xfrm>
            <a:off x="508000" y="37163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50947" name="Rectangle 8"/>
          <p:cNvSpPr>
            <a:spLocks noChangeArrowheads="1"/>
          </p:cNvSpPr>
          <p:nvPr/>
        </p:nvSpPr>
        <p:spPr bwMode="auto">
          <a:xfrm>
            <a:off x="3351213" y="16589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48" name="Rectangle 10"/>
          <p:cNvSpPr>
            <a:spLocks noChangeArrowheads="1"/>
          </p:cNvSpPr>
          <p:nvPr/>
        </p:nvSpPr>
        <p:spPr bwMode="auto">
          <a:xfrm>
            <a:off x="1231900" y="16494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49" name="Rectangle 11"/>
          <p:cNvSpPr>
            <a:spLocks noChangeArrowheads="1"/>
          </p:cNvSpPr>
          <p:nvPr/>
        </p:nvSpPr>
        <p:spPr bwMode="auto">
          <a:xfrm>
            <a:off x="1246188" y="43037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0" name="Line 12"/>
          <p:cNvSpPr>
            <a:spLocks noChangeShapeType="1"/>
          </p:cNvSpPr>
          <p:nvPr/>
        </p:nvSpPr>
        <p:spPr bwMode="auto">
          <a:xfrm>
            <a:off x="1225550" y="2100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1" name="Line 13"/>
          <p:cNvSpPr>
            <a:spLocks noChangeShapeType="1"/>
          </p:cNvSpPr>
          <p:nvPr/>
        </p:nvSpPr>
        <p:spPr bwMode="auto">
          <a:xfrm>
            <a:off x="1225550" y="25431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2" name="Line 14"/>
          <p:cNvSpPr>
            <a:spLocks noChangeShapeType="1"/>
          </p:cNvSpPr>
          <p:nvPr/>
        </p:nvSpPr>
        <p:spPr bwMode="auto">
          <a:xfrm>
            <a:off x="1225550" y="29876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3" name="Line 15"/>
          <p:cNvSpPr>
            <a:spLocks noChangeShapeType="1"/>
          </p:cNvSpPr>
          <p:nvPr/>
        </p:nvSpPr>
        <p:spPr bwMode="auto">
          <a:xfrm>
            <a:off x="1225550" y="34258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4" name="Line 16"/>
          <p:cNvSpPr>
            <a:spLocks noChangeShapeType="1"/>
          </p:cNvSpPr>
          <p:nvPr/>
        </p:nvSpPr>
        <p:spPr bwMode="auto">
          <a:xfrm>
            <a:off x="1225550" y="38703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5" name="Line 17"/>
          <p:cNvSpPr>
            <a:spLocks noChangeShapeType="1"/>
          </p:cNvSpPr>
          <p:nvPr/>
        </p:nvSpPr>
        <p:spPr bwMode="auto">
          <a:xfrm>
            <a:off x="22748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6" name="Line 18"/>
          <p:cNvSpPr>
            <a:spLocks noChangeShapeType="1"/>
          </p:cNvSpPr>
          <p:nvPr/>
        </p:nvSpPr>
        <p:spPr bwMode="auto">
          <a:xfrm>
            <a:off x="33416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7" name="Line 19"/>
          <p:cNvSpPr>
            <a:spLocks noChangeShapeType="1"/>
          </p:cNvSpPr>
          <p:nvPr/>
        </p:nvSpPr>
        <p:spPr bwMode="auto">
          <a:xfrm>
            <a:off x="3341688" y="25527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8" name="Line 20"/>
          <p:cNvSpPr>
            <a:spLocks noChangeShapeType="1"/>
          </p:cNvSpPr>
          <p:nvPr/>
        </p:nvSpPr>
        <p:spPr bwMode="auto">
          <a:xfrm>
            <a:off x="5478463" y="16573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9" name="Line 21"/>
          <p:cNvSpPr>
            <a:spLocks noChangeShapeType="1"/>
          </p:cNvSpPr>
          <p:nvPr/>
        </p:nvSpPr>
        <p:spPr bwMode="auto">
          <a:xfrm flipV="1">
            <a:off x="7615238" y="38655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60" name="Line 22"/>
          <p:cNvSpPr>
            <a:spLocks noChangeShapeType="1"/>
          </p:cNvSpPr>
          <p:nvPr/>
        </p:nvSpPr>
        <p:spPr bwMode="auto">
          <a:xfrm>
            <a:off x="6348413" y="21097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61" name="Rectangle 23"/>
          <p:cNvSpPr>
            <a:spLocks noChangeArrowheads="1"/>
          </p:cNvSpPr>
          <p:nvPr/>
        </p:nvSpPr>
        <p:spPr bwMode="auto">
          <a:xfrm>
            <a:off x="1169988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50962" name="Rectangle 24"/>
          <p:cNvSpPr>
            <a:spLocks noChangeArrowheads="1"/>
          </p:cNvSpPr>
          <p:nvPr/>
        </p:nvSpPr>
        <p:spPr bwMode="auto">
          <a:xfrm>
            <a:off x="2182813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50963" name="Rectangle 25"/>
          <p:cNvSpPr>
            <a:spLocks noChangeArrowheads="1"/>
          </p:cNvSpPr>
          <p:nvPr/>
        </p:nvSpPr>
        <p:spPr bwMode="auto">
          <a:xfrm>
            <a:off x="3260725" y="1270000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50964" name="Rectangle 26"/>
          <p:cNvSpPr>
            <a:spLocks noChangeArrowheads="1"/>
          </p:cNvSpPr>
          <p:nvPr/>
        </p:nvSpPr>
        <p:spPr bwMode="auto">
          <a:xfrm>
            <a:off x="53736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50965" name="Rectangle 27"/>
          <p:cNvSpPr>
            <a:spLocks noChangeArrowheads="1"/>
          </p:cNvSpPr>
          <p:nvPr/>
        </p:nvSpPr>
        <p:spPr bwMode="auto">
          <a:xfrm>
            <a:off x="62372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50966" name="Rectangle 28"/>
          <p:cNvSpPr>
            <a:spLocks noChangeArrowheads="1"/>
          </p:cNvSpPr>
          <p:nvPr/>
        </p:nvSpPr>
        <p:spPr bwMode="auto">
          <a:xfrm>
            <a:off x="7510463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50967" name="Rectangle 29"/>
          <p:cNvSpPr>
            <a:spLocks noChangeArrowheads="1"/>
          </p:cNvSpPr>
          <p:nvPr/>
        </p:nvSpPr>
        <p:spPr bwMode="auto">
          <a:xfrm>
            <a:off x="9366250" y="1270000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50968" name="Rectangle 30"/>
          <p:cNvSpPr>
            <a:spLocks noChangeArrowheads="1"/>
          </p:cNvSpPr>
          <p:nvPr/>
        </p:nvSpPr>
        <p:spPr bwMode="auto">
          <a:xfrm>
            <a:off x="1331913" y="1684338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50969" name="Rectangle 31"/>
          <p:cNvSpPr>
            <a:spLocks noChangeArrowheads="1"/>
          </p:cNvSpPr>
          <p:nvPr/>
        </p:nvSpPr>
        <p:spPr bwMode="auto">
          <a:xfrm>
            <a:off x="5543550" y="2160588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50970" name="Rectangle 32"/>
          <p:cNvSpPr>
            <a:spLocks noChangeArrowheads="1"/>
          </p:cNvSpPr>
          <p:nvPr/>
        </p:nvSpPr>
        <p:spPr bwMode="auto">
          <a:xfrm>
            <a:off x="1544638" y="2565400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50971" name="Rectangle 33"/>
          <p:cNvSpPr>
            <a:spLocks noChangeArrowheads="1"/>
          </p:cNvSpPr>
          <p:nvPr/>
        </p:nvSpPr>
        <p:spPr bwMode="auto">
          <a:xfrm>
            <a:off x="3852863" y="2565400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50972" name="Rectangle 34"/>
          <p:cNvSpPr>
            <a:spLocks noChangeArrowheads="1"/>
          </p:cNvSpPr>
          <p:nvPr/>
        </p:nvSpPr>
        <p:spPr bwMode="auto">
          <a:xfrm>
            <a:off x="2784475" y="216058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50973" name="Rectangle 35"/>
          <p:cNvSpPr>
            <a:spLocks noChangeArrowheads="1"/>
          </p:cNvSpPr>
          <p:nvPr/>
        </p:nvSpPr>
        <p:spPr bwMode="auto">
          <a:xfrm>
            <a:off x="3663950" y="1684338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50974" name="Rectangle 36"/>
          <p:cNvSpPr>
            <a:spLocks noChangeArrowheads="1"/>
          </p:cNvSpPr>
          <p:nvPr/>
        </p:nvSpPr>
        <p:spPr bwMode="auto">
          <a:xfrm>
            <a:off x="7050088" y="1684338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50975" name="Rectangle 37"/>
          <p:cNvSpPr>
            <a:spLocks noChangeArrowheads="1"/>
          </p:cNvSpPr>
          <p:nvPr/>
        </p:nvSpPr>
        <p:spPr bwMode="auto">
          <a:xfrm>
            <a:off x="7343775" y="21605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50976" name="Rectangle 38"/>
          <p:cNvSpPr>
            <a:spLocks noChangeArrowheads="1"/>
          </p:cNvSpPr>
          <p:nvPr/>
        </p:nvSpPr>
        <p:spPr bwMode="auto">
          <a:xfrm>
            <a:off x="8128000" y="389413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50977" name="Rectangle 39"/>
          <p:cNvSpPr>
            <a:spLocks noChangeArrowheads="1"/>
          </p:cNvSpPr>
          <p:nvPr/>
        </p:nvSpPr>
        <p:spPr bwMode="auto">
          <a:xfrm>
            <a:off x="6419850" y="2565400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50978" name="Rectangle 40"/>
          <p:cNvSpPr>
            <a:spLocks noChangeArrowheads="1"/>
          </p:cNvSpPr>
          <p:nvPr/>
        </p:nvSpPr>
        <p:spPr bwMode="auto">
          <a:xfrm>
            <a:off x="4784725" y="30241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50979" name="Rectangle 41"/>
          <p:cNvSpPr>
            <a:spLocks noChangeArrowheads="1"/>
          </p:cNvSpPr>
          <p:nvPr/>
        </p:nvSpPr>
        <p:spPr bwMode="auto">
          <a:xfrm>
            <a:off x="4506913" y="3465513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50980" name="Rectangle 42"/>
          <p:cNvSpPr>
            <a:spLocks noChangeArrowheads="1"/>
          </p:cNvSpPr>
          <p:nvPr/>
        </p:nvSpPr>
        <p:spPr bwMode="auto">
          <a:xfrm>
            <a:off x="2414588" y="3894138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50981" name="Rectangle 43"/>
          <p:cNvSpPr>
            <a:spLocks noChangeArrowheads="1"/>
          </p:cNvSpPr>
          <p:nvPr/>
        </p:nvSpPr>
        <p:spPr bwMode="auto">
          <a:xfrm>
            <a:off x="658813" y="1255713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50982" name="Rectangle 44"/>
          <p:cNvSpPr>
            <a:spLocks noChangeArrowheads="1"/>
          </p:cNvSpPr>
          <p:nvPr/>
        </p:nvSpPr>
        <p:spPr bwMode="auto">
          <a:xfrm>
            <a:off x="2170113" y="1665288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50983" name="Group 46"/>
          <p:cNvGrpSpPr>
            <a:grpSpLocks/>
          </p:cNvGrpSpPr>
          <p:nvPr/>
        </p:nvGrpSpPr>
        <p:grpSpPr bwMode="auto">
          <a:xfrm>
            <a:off x="1158875" y="4035425"/>
            <a:ext cx="142875" cy="69850"/>
            <a:chOff x="833" y="3024"/>
            <a:chExt cx="78" cy="51"/>
          </a:xfrm>
        </p:grpSpPr>
        <p:sp>
          <p:nvSpPr>
            <p:cNvPr id="850984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85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86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50987" name="Group 50"/>
          <p:cNvGrpSpPr>
            <a:grpSpLocks/>
          </p:cNvGrpSpPr>
          <p:nvPr/>
        </p:nvGrpSpPr>
        <p:grpSpPr bwMode="auto">
          <a:xfrm>
            <a:off x="9682163" y="4044950"/>
            <a:ext cx="142875" cy="66675"/>
            <a:chOff x="5432" y="3030"/>
            <a:chExt cx="78" cy="51"/>
          </a:xfrm>
        </p:grpSpPr>
        <p:sp>
          <p:nvSpPr>
            <p:cNvPr id="850988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89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90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50991" name="Rectangle 75"/>
          <p:cNvSpPr>
            <a:spLocks noChangeArrowheads="1"/>
          </p:cNvSpPr>
          <p:nvPr/>
        </p:nvSpPr>
        <p:spPr bwMode="auto">
          <a:xfrm>
            <a:off x="4129088" y="4437063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50992" name="Group 94"/>
          <p:cNvGrpSpPr>
            <a:grpSpLocks/>
          </p:cNvGrpSpPr>
          <p:nvPr/>
        </p:nvGrpSpPr>
        <p:grpSpPr bwMode="auto">
          <a:xfrm>
            <a:off x="266700" y="1628775"/>
            <a:ext cx="438150" cy="2663825"/>
            <a:chOff x="111" y="845"/>
            <a:chExt cx="255" cy="1678"/>
          </a:xfrm>
        </p:grpSpPr>
        <p:sp>
          <p:nvSpPr>
            <p:cNvPr id="85099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9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50995" name="AutoShape 97"/>
          <p:cNvSpPr>
            <a:spLocks/>
          </p:cNvSpPr>
          <p:nvPr/>
        </p:nvSpPr>
        <p:spPr bwMode="auto">
          <a:xfrm>
            <a:off x="998538" y="17002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7"/>
          <p:cNvGrpSpPr>
            <a:grpSpLocks/>
          </p:cNvGrpSpPr>
          <p:nvPr/>
        </p:nvGrpSpPr>
        <p:grpSpPr bwMode="auto">
          <a:xfrm>
            <a:off x="1209675" y="2995613"/>
            <a:ext cx="8520113" cy="2665412"/>
            <a:chOff x="703" y="1706"/>
            <a:chExt cx="4955" cy="1679"/>
          </a:xfrm>
        </p:grpSpPr>
        <p:sp>
          <p:nvSpPr>
            <p:cNvPr id="850997" name="Text Box 74"/>
            <p:cNvSpPr txBox="1">
              <a:spLocks noChangeArrowheads="1"/>
            </p:cNvSpPr>
            <p:nvPr/>
          </p:nvSpPr>
          <p:spPr bwMode="auto">
            <a:xfrm>
              <a:off x="1175" y="3094"/>
              <a:ext cx="264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源地址和目的地址都各占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850998" name="Rectangle 75"/>
            <p:cNvSpPr>
              <a:spLocks noChangeArrowheads="1"/>
            </p:cNvSpPr>
            <p:nvPr/>
          </p:nvSpPr>
          <p:spPr bwMode="auto">
            <a:xfrm>
              <a:off x="703" y="1706"/>
              <a:ext cx="4955" cy="545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5099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5100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BFFD801-99DC-498A-B35C-FE2B8553ECA5}" type="slidenum">
              <a:rPr lang="zh-CN" altLang="en-US" smtClean="0"/>
              <a:pPr eaLnBrk="1" hangingPunct="1"/>
              <a:t>45</a:t>
            </a:fld>
            <a:endParaRPr lang="en-US" altLang="zh-CN" smtClean="0"/>
          </a:p>
        </p:txBody>
      </p:sp>
      <p:sp>
        <p:nvSpPr>
          <p:cNvPr id="85100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3" name="Rectangle 21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  IP </a:t>
            </a:r>
            <a:r>
              <a:rPr lang="zh-CN" altLang="en-US" smtClean="0">
                <a:ea typeface="黑体" panose="02010609060101010101" pitchFamily="49" charset="-122"/>
              </a:rPr>
              <a:t>数据报首部的可变部分 </a:t>
            </a:r>
          </a:p>
        </p:txBody>
      </p:sp>
      <p:sp>
        <p:nvSpPr>
          <p:cNvPr id="251093" name="Rectangle 21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首部的可变部分就是一个选项字段，用来支持排错、测量以及安全等措施，内容很丰富。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选项字段的长度可变，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从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1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个字节到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40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个字节不等，</a:t>
            </a:r>
            <a:r>
              <a:rPr lang="zh-CN" altLang="en-US" smtClean="0">
                <a:ea typeface="黑体" panose="02010609060101010101" pitchFamily="49" charset="-122"/>
              </a:rPr>
              <a:t>取决于所选择的项目。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增加首部的可变部分是为了增加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数据报的功能，但这同时也使得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数据报的首部长度成为可变的。这就增加了每一个路由器处理数据报的开销。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实际上这些选项很少被使用。</a:t>
            </a:r>
          </a:p>
        </p:txBody>
      </p:sp>
      <p:sp>
        <p:nvSpPr>
          <p:cNvPr id="8529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AF0BFEA-A277-4DA3-8A4A-DDD4C8F727E1}" type="slidenum">
              <a:rPr lang="zh-CN" altLang="en-US" smtClean="0"/>
              <a:pPr eaLnBrk="1" hangingPunct="1"/>
              <a:t>46</a:t>
            </a:fld>
            <a:endParaRPr lang="en-US" altLang="zh-CN" smtClean="0"/>
          </a:p>
        </p:txBody>
      </p:sp>
      <p:sp>
        <p:nvSpPr>
          <p:cNvPr id="8529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09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1" name="Rectangle 45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4.2.6  IP </a:t>
            </a:r>
            <a:r>
              <a:rPr lang="zh-CN" altLang="en-US" smtClean="0">
                <a:ea typeface="黑体" panose="02010609060101010101" pitchFamily="49" charset="-122"/>
              </a:rPr>
              <a:t>层转发分组的流程 </a:t>
            </a:r>
          </a:p>
        </p:txBody>
      </p:sp>
      <p:sp>
        <p:nvSpPr>
          <p:cNvPr id="855042" name="Rectangle 49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假设：有四个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类网络通过三个路由器连接在一起。每一个网络上都可能有成千上万个主机。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可以想像，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若按目的主机号来制作路由表，</a:t>
            </a:r>
            <a:r>
              <a:rPr lang="zh-CN" altLang="zh-CN" smtClean="0">
                <a:ea typeface="黑体" panose="02010609060101010101" pitchFamily="49" charset="-122"/>
              </a:rPr>
              <a:t>每一个路由表就有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万个项目，即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万行</a:t>
            </a:r>
            <a:r>
              <a:rPr lang="zh-CN" altLang="en-US" smtClean="0">
                <a:ea typeface="黑体" panose="02010609060101010101" pitchFamily="49" charset="-122"/>
              </a:rPr>
              <a:t>（</a:t>
            </a:r>
            <a:r>
              <a:rPr lang="zh-CN" altLang="zh-CN" smtClean="0">
                <a:ea typeface="黑体" panose="02010609060101010101" pitchFamily="49" charset="-122"/>
              </a:rPr>
              <a:t>每一行对应于一台主机</a:t>
            </a:r>
            <a:r>
              <a:rPr lang="zh-CN" altLang="en-US" smtClean="0">
                <a:ea typeface="黑体" panose="02010609060101010101" pitchFamily="49" charset="-122"/>
              </a:rPr>
              <a:t>），则所得出的路由表就会过于庞大。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但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若按主机所在的网络地址来制作路由表，</a:t>
            </a:r>
            <a:r>
              <a:rPr lang="zh-CN" altLang="en-US" smtClean="0">
                <a:ea typeface="黑体" panose="02010609060101010101" pitchFamily="49" charset="-122"/>
              </a:rPr>
              <a:t>那么每一个路由器中的路由表就只包含 </a:t>
            </a:r>
            <a:r>
              <a:rPr lang="en-US" altLang="zh-CN" smtClean="0">
                <a:ea typeface="黑体" panose="02010609060101010101" pitchFamily="49" charset="-122"/>
              </a:rPr>
              <a:t>4 </a:t>
            </a:r>
            <a:r>
              <a:rPr lang="zh-CN" altLang="en-US" smtClean="0">
                <a:ea typeface="黑体" panose="02010609060101010101" pitchFamily="49" charset="-122"/>
              </a:rPr>
              <a:t>个项目（</a:t>
            </a:r>
            <a:r>
              <a:rPr lang="zh-CN" altLang="zh-CN" smtClean="0">
                <a:ea typeface="黑体" panose="02010609060101010101" pitchFamily="49" charset="-122"/>
              </a:rPr>
              <a:t>每一行对应于一个网络</a:t>
            </a:r>
            <a:r>
              <a:rPr lang="zh-CN" altLang="en-US" smtClean="0">
                <a:ea typeface="黑体" panose="02010609060101010101" pitchFamily="49" charset="-122"/>
              </a:rPr>
              <a:t>），这样就可使路由表大大简化。 </a:t>
            </a:r>
          </a:p>
        </p:txBody>
      </p:sp>
      <p:sp>
        <p:nvSpPr>
          <p:cNvPr id="8550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24FAFF-049A-457D-8715-545E8B2F24D9}" type="slidenum">
              <a:rPr lang="zh-CN" altLang="en-US" smtClean="0"/>
              <a:pPr eaLnBrk="1" hangingPunct="1"/>
              <a:t>47</a:t>
            </a:fld>
            <a:endParaRPr lang="en-US" altLang="zh-CN" smtClean="0"/>
          </a:p>
        </p:txBody>
      </p:sp>
      <p:sp>
        <p:nvSpPr>
          <p:cNvPr id="8550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459" name="Text Box 155"/>
          <p:cNvSpPr txBox="1">
            <a:spLocks noChangeArrowheads="1"/>
          </p:cNvSpPr>
          <p:nvPr/>
        </p:nvSpPr>
        <p:spPr bwMode="auto">
          <a:xfrm>
            <a:off x="1516063" y="196850"/>
            <a:ext cx="6677025" cy="1039813"/>
          </a:xfrm>
          <a:prstGeom prst="rect">
            <a:avLst/>
          </a:prstGeom>
          <a:solidFill>
            <a:srgbClr val="FFCC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在路由表中，对每一条路由，最主要的是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（目的网络地址，下一跳地址） </a:t>
            </a:r>
          </a:p>
        </p:txBody>
      </p:sp>
      <p:grpSp>
        <p:nvGrpSpPr>
          <p:cNvPr id="857090" name="组合 1"/>
          <p:cNvGrpSpPr>
            <a:grpSpLocks/>
          </p:cNvGrpSpPr>
          <p:nvPr/>
        </p:nvGrpSpPr>
        <p:grpSpPr bwMode="auto">
          <a:xfrm>
            <a:off x="84138" y="1477963"/>
            <a:ext cx="9837737" cy="5119687"/>
            <a:chOff x="84344" y="1477964"/>
            <a:chExt cx="9837208" cy="5120090"/>
          </a:xfrm>
        </p:grpSpPr>
        <p:sp>
          <p:nvSpPr>
            <p:cNvPr id="857091" name="Freeform 4"/>
            <p:cNvSpPr>
              <a:spLocks noChangeArrowheads="1"/>
            </p:cNvSpPr>
            <p:nvPr/>
          </p:nvSpPr>
          <p:spPr bwMode="auto">
            <a:xfrm>
              <a:off x="2349310" y="2401889"/>
              <a:ext cx="5458619" cy="1027111"/>
            </a:xfrm>
            <a:custGeom>
              <a:avLst/>
              <a:gdLst>
                <a:gd name="T0" fmla="*/ 0 w 3024"/>
                <a:gd name="T1" fmla="*/ 636 h 636"/>
                <a:gd name="T2" fmla="*/ 1520 w 3024"/>
                <a:gd name="T3" fmla="*/ 0 h 636"/>
                <a:gd name="T4" fmla="*/ 3024 w 3024"/>
                <a:gd name="T5" fmla="*/ 636 h 636"/>
                <a:gd name="T6" fmla="*/ 0 w 3024"/>
                <a:gd name="T7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24" h="636">
                  <a:moveTo>
                    <a:pt x="0" y="636"/>
                  </a:moveTo>
                  <a:lnTo>
                    <a:pt x="1520" y="0"/>
                  </a:lnTo>
                  <a:lnTo>
                    <a:pt x="3024" y="636"/>
                  </a:lnTo>
                  <a:lnTo>
                    <a:pt x="0" y="636"/>
                  </a:lnTo>
                  <a:close/>
                </a:path>
              </a:pathLst>
            </a:custGeom>
            <a:gradFill rotWithShape="1">
              <a:gsLst>
                <a:gs pos="0">
                  <a:srgbClr val="D1D17D"/>
                </a:gs>
                <a:gs pos="100000">
                  <a:srgbClr val="FFFF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57092" name="Group 5"/>
            <p:cNvGrpSpPr>
              <a:grpSpLocks/>
            </p:cNvGrpSpPr>
            <p:nvPr/>
          </p:nvGrpSpPr>
          <p:grpSpPr bwMode="auto">
            <a:xfrm>
              <a:off x="84344" y="1855788"/>
              <a:ext cx="1379273" cy="914400"/>
              <a:chOff x="912" y="768"/>
              <a:chExt cx="2400" cy="1584"/>
            </a:xfrm>
          </p:grpSpPr>
          <p:sp>
            <p:nvSpPr>
              <p:cNvPr id="857093" name="Oval 6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4" name="Oval 7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5" name="Oval 8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6" name="Oval 9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7" name="Oval 10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8" name="Oval 11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9" name="Oval 12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00" name="Oval 13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01" name="Oval 14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02" name="Group 15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03" name="Oval 16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4" name="Oval 17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5" name="Oval 18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6" name="Oval 19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7" name="Oval 20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8" name="Oval 21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9" name="Oval 22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10" name="Oval 23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11" name="Oval 24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57112" name="Line 25"/>
            <p:cNvSpPr>
              <a:spLocks noChangeShapeType="1"/>
            </p:cNvSpPr>
            <p:nvPr/>
          </p:nvSpPr>
          <p:spPr bwMode="auto">
            <a:xfrm>
              <a:off x="1463616" y="2286000"/>
              <a:ext cx="7321154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57113" name="Group 26"/>
            <p:cNvGrpSpPr>
              <a:grpSpLocks/>
            </p:cNvGrpSpPr>
            <p:nvPr/>
          </p:nvGrpSpPr>
          <p:grpSpPr bwMode="auto">
            <a:xfrm>
              <a:off x="8542279" y="1855788"/>
              <a:ext cx="1379273" cy="914400"/>
              <a:chOff x="912" y="768"/>
              <a:chExt cx="2400" cy="1584"/>
            </a:xfrm>
          </p:grpSpPr>
          <p:sp>
            <p:nvSpPr>
              <p:cNvPr id="857114" name="Oval 2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5" name="Oval 2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6" name="Oval 2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7" name="Oval 3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8" name="Oval 3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9" name="Oval 3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20" name="Oval 3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21" name="Oval 3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22" name="Oval 3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23" name="Group 3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24" name="Oval 3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5" name="Oval 3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6" name="Oval 3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7" name="Oval 4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8" name="Oval 4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9" name="Oval 4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30" name="Oval 4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31" name="Oval 4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32" name="Oval 4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857133" name="Group 46"/>
            <p:cNvGrpSpPr>
              <a:grpSpLocks/>
            </p:cNvGrpSpPr>
            <p:nvPr/>
          </p:nvGrpSpPr>
          <p:grpSpPr bwMode="auto">
            <a:xfrm>
              <a:off x="5818129" y="1890714"/>
              <a:ext cx="1379273" cy="915987"/>
              <a:chOff x="912" y="768"/>
              <a:chExt cx="2400" cy="1584"/>
            </a:xfrm>
          </p:grpSpPr>
          <p:sp>
            <p:nvSpPr>
              <p:cNvPr id="857134" name="Oval 4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5" name="Oval 4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6" name="Oval 4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7" name="Oval 5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8" name="Oval 5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9" name="Oval 5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40" name="Oval 5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41" name="Oval 5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42" name="Oval 5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43" name="Group 5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44" name="Oval 5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5" name="Oval 5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6" name="Oval 5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7" name="Oval 6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8" name="Oval 6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9" name="Oval 6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50" name="Oval 6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51" name="Oval 6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52" name="Oval 6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857153" name="Group 66"/>
            <p:cNvGrpSpPr>
              <a:grpSpLocks/>
            </p:cNvGrpSpPr>
            <p:nvPr/>
          </p:nvGrpSpPr>
          <p:grpSpPr bwMode="auto">
            <a:xfrm>
              <a:off x="2983912" y="1855788"/>
              <a:ext cx="1379273" cy="914400"/>
              <a:chOff x="912" y="768"/>
              <a:chExt cx="2400" cy="1584"/>
            </a:xfrm>
          </p:grpSpPr>
          <p:sp>
            <p:nvSpPr>
              <p:cNvPr id="857154" name="Oval 6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5" name="Oval 6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6" name="Oval 6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7" name="Oval 7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8" name="Oval 7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9" name="Oval 7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60" name="Oval 7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61" name="Oval 7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62" name="Oval 7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63" name="Group 7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64" name="Oval 7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5" name="Oval 7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6" name="Oval 7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7" name="Oval 8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8" name="Oval 8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9" name="Oval 8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70" name="Oval 8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71" name="Oval 8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72" name="Oval 8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57173" name="Text Box 86"/>
            <p:cNvSpPr txBox="1">
              <a:spLocks noChangeArrowheads="1"/>
            </p:cNvSpPr>
            <p:nvPr/>
          </p:nvSpPr>
          <p:spPr bwMode="auto">
            <a:xfrm>
              <a:off x="216768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2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10.0.0.0</a:t>
              </a:r>
            </a:p>
          </p:txBody>
        </p:sp>
        <p:sp>
          <p:nvSpPr>
            <p:cNvPr id="857174" name="Text Box 87"/>
            <p:cNvSpPr txBox="1">
              <a:spLocks noChangeArrowheads="1"/>
            </p:cNvSpPr>
            <p:nvPr/>
          </p:nvSpPr>
          <p:spPr bwMode="auto">
            <a:xfrm>
              <a:off x="8784770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40.0.0.0</a:t>
              </a:r>
            </a:p>
          </p:txBody>
        </p:sp>
        <p:sp>
          <p:nvSpPr>
            <p:cNvPr id="857175" name="Text Box 88"/>
            <p:cNvSpPr txBox="1">
              <a:spLocks noChangeArrowheads="1"/>
            </p:cNvSpPr>
            <p:nvPr/>
          </p:nvSpPr>
          <p:spPr bwMode="auto">
            <a:xfrm>
              <a:off x="5969470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2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30.0.0.0</a:t>
              </a:r>
            </a:p>
          </p:txBody>
        </p:sp>
        <p:sp>
          <p:nvSpPr>
            <p:cNvPr id="857176" name="Text Box 89"/>
            <p:cNvSpPr txBox="1">
              <a:spLocks noChangeArrowheads="1"/>
            </p:cNvSpPr>
            <p:nvPr/>
          </p:nvSpPr>
          <p:spPr bwMode="auto">
            <a:xfrm>
              <a:off x="3135254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20.0.0.0</a:t>
              </a:r>
            </a:p>
          </p:txBody>
        </p:sp>
        <p:sp>
          <p:nvSpPr>
            <p:cNvPr id="857177" name="Text Box 90"/>
            <p:cNvSpPr txBox="1">
              <a:spLocks noChangeArrowheads="1"/>
            </p:cNvSpPr>
            <p:nvPr/>
          </p:nvSpPr>
          <p:spPr bwMode="auto">
            <a:xfrm>
              <a:off x="902964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10.0.0.4</a:t>
              </a:r>
            </a:p>
          </p:txBody>
        </p:sp>
        <p:sp>
          <p:nvSpPr>
            <p:cNvPr id="857178" name="Text Box 91"/>
            <p:cNvSpPr txBox="1">
              <a:spLocks noChangeArrowheads="1"/>
            </p:cNvSpPr>
            <p:nvPr/>
          </p:nvSpPr>
          <p:spPr bwMode="auto">
            <a:xfrm>
              <a:off x="7897358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40.0.0.4</a:t>
              </a:r>
            </a:p>
          </p:txBody>
        </p:sp>
        <p:sp>
          <p:nvSpPr>
            <p:cNvPr id="857179" name="Text Box 92"/>
            <p:cNvSpPr txBox="1">
              <a:spLocks noChangeArrowheads="1"/>
            </p:cNvSpPr>
            <p:nvPr/>
          </p:nvSpPr>
          <p:spPr bwMode="auto">
            <a:xfrm>
              <a:off x="5238560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30.0.0.2</a:t>
              </a:r>
            </a:p>
          </p:txBody>
        </p:sp>
        <p:sp>
          <p:nvSpPr>
            <p:cNvPr id="857180" name="Text Box 93"/>
            <p:cNvSpPr txBox="1">
              <a:spLocks noChangeArrowheads="1"/>
            </p:cNvSpPr>
            <p:nvPr/>
          </p:nvSpPr>
          <p:spPr bwMode="auto">
            <a:xfrm>
              <a:off x="3883364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20.0.0.9</a:t>
              </a:r>
            </a:p>
          </p:txBody>
        </p:sp>
        <p:sp>
          <p:nvSpPr>
            <p:cNvPr id="857181" name="Text Box 94"/>
            <p:cNvSpPr txBox="1">
              <a:spLocks noChangeArrowheads="1"/>
            </p:cNvSpPr>
            <p:nvPr/>
          </p:nvSpPr>
          <p:spPr bwMode="auto">
            <a:xfrm>
              <a:off x="2228924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20.0.0.7</a:t>
              </a:r>
            </a:p>
          </p:txBody>
        </p:sp>
        <p:sp>
          <p:nvSpPr>
            <p:cNvPr id="857182" name="Line 95"/>
            <p:cNvSpPr>
              <a:spLocks noChangeShapeType="1"/>
            </p:cNvSpPr>
            <p:nvPr/>
          </p:nvSpPr>
          <p:spPr bwMode="auto">
            <a:xfrm>
              <a:off x="1633876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3" name="Line 96"/>
            <p:cNvSpPr>
              <a:spLocks noChangeShapeType="1"/>
            </p:cNvSpPr>
            <p:nvPr/>
          </p:nvSpPr>
          <p:spPr bwMode="auto">
            <a:xfrm>
              <a:off x="2827411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4" name="Line 97"/>
            <p:cNvSpPr>
              <a:spLocks noChangeShapeType="1"/>
            </p:cNvSpPr>
            <p:nvPr/>
          </p:nvSpPr>
          <p:spPr bwMode="auto">
            <a:xfrm>
              <a:off x="7262753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5" name="Line 98"/>
            <p:cNvSpPr>
              <a:spLocks noChangeShapeType="1"/>
            </p:cNvSpPr>
            <p:nvPr/>
          </p:nvSpPr>
          <p:spPr bwMode="auto">
            <a:xfrm>
              <a:off x="4619434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6" name="Line 99"/>
            <p:cNvSpPr>
              <a:spLocks noChangeShapeType="1"/>
            </p:cNvSpPr>
            <p:nvPr/>
          </p:nvSpPr>
          <p:spPr bwMode="auto">
            <a:xfrm>
              <a:off x="8458009" y="1860550"/>
              <a:ext cx="0" cy="4032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7" name="Line 100"/>
            <p:cNvSpPr>
              <a:spLocks noChangeShapeType="1"/>
            </p:cNvSpPr>
            <p:nvPr/>
          </p:nvSpPr>
          <p:spPr bwMode="auto">
            <a:xfrm>
              <a:off x="5728699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8" name="Rectangle 101"/>
            <p:cNvSpPr>
              <a:spLocks noChangeArrowheads="1"/>
            </p:cNvSpPr>
            <p:nvPr/>
          </p:nvSpPr>
          <p:spPr bwMode="auto">
            <a:xfrm>
              <a:off x="2349310" y="3429000"/>
              <a:ext cx="5458619" cy="17780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9" name="Line 102"/>
            <p:cNvSpPr>
              <a:spLocks noChangeShapeType="1"/>
            </p:cNvSpPr>
            <p:nvPr/>
          </p:nvSpPr>
          <p:spPr bwMode="auto">
            <a:xfrm>
              <a:off x="2349310" y="3914775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0" name="Text Box 103"/>
            <p:cNvSpPr txBox="1">
              <a:spLocks noChangeArrowheads="1"/>
            </p:cNvSpPr>
            <p:nvPr/>
          </p:nvSpPr>
          <p:spPr bwMode="auto">
            <a:xfrm>
              <a:off x="2361347" y="3452813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目的主机所在的网络</a:t>
              </a:r>
            </a:p>
          </p:txBody>
        </p:sp>
        <p:sp>
          <p:nvSpPr>
            <p:cNvPr id="857191" name="Text Box 104"/>
            <p:cNvSpPr txBox="1">
              <a:spLocks noChangeArrowheads="1"/>
            </p:cNvSpPr>
            <p:nvPr/>
          </p:nvSpPr>
          <p:spPr bwMode="auto">
            <a:xfrm>
              <a:off x="5646149" y="3448050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下一跳地址</a:t>
              </a:r>
            </a:p>
          </p:txBody>
        </p:sp>
        <p:sp>
          <p:nvSpPr>
            <p:cNvPr id="857192" name="Line 105"/>
            <p:cNvSpPr>
              <a:spLocks noChangeShapeType="1"/>
            </p:cNvSpPr>
            <p:nvPr/>
          </p:nvSpPr>
          <p:spPr bwMode="auto">
            <a:xfrm>
              <a:off x="5078618" y="3429000"/>
              <a:ext cx="0" cy="177800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3" name="Line 106"/>
            <p:cNvSpPr>
              <a:spLocks noChangeShapeType="1"/>
            </p:cNvSpPr>
            <p:nvPr/>
          </p:nvSpPr>
          <p:spPr bwMode="auto">
            <a:xfrm>
              <a:off x="2349310" y="4237037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4" name="Line 107"/>
            <p:cNvSpPr>
              <a:spLocks noChangeShapeType="1"/>
            </p:cNvSpPr>
            <p:nvPr/>
          </p:nvSpPr>
          <p:spPr bwMode="auto">
            <a:xfrm>
              <a:off x="2349310" y="4560887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5" name="Line 108"/>
            <p:cNvSpPr>
              <a:spLocks noChangeShapeType="1"/>
            </p:cNvSpPr>
            <p:nvPr/>
          </p:nvSpPr>
          <p:spPr bwMode="auto">
            <a:xfrm>
              <a:off x="2349310" y="4884737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6" name="Text Box 109"/>
            <p:cNvSpPr txBox="1">
              <a:spLocks noChangeArrowheads="1"/>
            </p:cNvSpPr>
            <p:nvPr/>
          </p:nvSpPr>
          <p:spPr bwMode="auto">
            <a:xfrm>
              <a:off x="3087099" y="386397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20.0.0.0</a:t>
              </a:r>
            </a:p>
          </p:txBody>
        </p:sp>
        <p:sp>
          <p:nvSpPr>
            <p:cNvPr id="857197" name="Text Box 110"/>
            <p:cNvSpPr txBox="1">
              <a:spLocks noChangeArrowheads="1"/>
            </p:cNvSpPr>
            <p:nvPr/>
          </p:nvSpPr>
          <p:spPr bwMode="auto">
            <a:xfrm>
              <a:off x="3087099" y="4178300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30.0.0.0</a:t>
              </a:r>
            </a:p>
          </p:txBody>
        </p:sp>
        <p:sp>
          <p:nvSpPr>
            <p:cNvPr id="857198" name="Text Box 111"/>
            <p:cNvSpPr txBox="1">
              <a:spLocks noChangeArrowheads="1"/>
            </p:cNvSpPr>
            <p:nvPr/>
          </p:nvSpPr>
          <p:spPr bwMode="auto">
            <a:xfrm>
              <a:off x="3087099" y="452437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10.0.0.0</a:t>
              </a:r>
            </a:p>
          </p:txBody>
        </p:sp>
        <p:sp>
          <p:nvSpPr>
            <p:cNvPr id="857199" name="Text Box 112"/>
            <p:cNvSpPr txBox="1">
              <a:spLocks noChangeArrowheads="1"/>
            </p:cNvSpPr>
            <p:nvPr/>
          </p:nvSpPr>
          <p:spPr bwMode="auto">
            <a:xfrm>
              <a:off x="3087099" y="4822825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40.0.0.0</a:t>
              </a:r>
            </a:p>
          </p:txBody>
        </p:sp>
        <p:sp>
          <p:nvSpPr>
            <p:cNvPr id="857200" name="Text Box 113"/>
            <p:cNvSpPr txBox="1">
              <a:spLocks noChangeArrowheads="1"/>
            </p:cNvSpPr>
            <p:nvPr/>
          </p:nvSpPr>
          <p:spPr bwMode="auto">
            <a:xfrm>
              <a:off x="5747618" y="451167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20.0.0.7</a:t>
              </a:r>
            </a:p>
          </p:txBody>
        </p:sp>
        <p:sp>
          <p:nvSpPr>
            <p:cNvPr id="857201" name="Text Box 114"/>
            <p:cNvSpPr txBox="1">
              <a:spLocks noChangeArrowheads="1"/>
            </p:cNvSpPr>
            <p:nvPr/>
          </p:nvSpPr>
          <p:spPr bwMode="auto">
            <a:xfrm>
              <a:off x="5747618" y="483552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30.0.0.1</a:t>
              </a:r>
            </a:p>
          </p:txBody>
        </p:sp>
        <p:sp>
          <p:nvSpPr>
            <p:cNvPr id="857202" name="Text Box 115"/>
            <p:cNvSpPr txBox="1">
              <a:spLocks noChangeArrowheads="1"/>
            </p:cNvSpPr>
            <p:nvPr/>
          </p:nvSpPr>
          <p:spPr bwMode="auto">
            <a:xfrm>
              <a:off x="5271235" y="4205287"/>
              <a:ext cx="22509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直接交付，接口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57203" name="Text Box 116"/>
            <p:cNvSpPr txBox="1">
              <a:spLocks noChangeArrowheads="1"/>
            </p:cNvSpPr>
            <p:nvPr/>
          </p:nvSpPr>
          <p:spPr bwMode="auto">
            <a:xfrm>
              <a:off x="5271235" y="3860801"/>
              <a:ext cx="22509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直接交付，接口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7204" name="Text Box 117"/>
            <p:cNvSpPr txBox="1">
              <a:spLocks noChangeArrowheads="1"/>
            </p:cNvSpPr>
            <p:nvPr/>
          </p:nvSpPr>
          <p:spPr bwMode="auto">
            <a:xfrm>
              <a:off x="3542845" y="2924944"/>
              <a:ext cx="29209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的路由表</a:t>
              </a:r>
            </a:p>
          </p:txBody>
        </p:sp>
        <p:sp>
          <p:nvSpPr>
            <p:cNvPr id="857205" name="Text Box 118"/>
            <p:cNvSpPr txBox="1">
              <a:spLocks noChangeArrowheads="1"/>
            </p:cNvSpPr>
            <p:nvPr/>
          </p:nvSpPr>
          <p:spPr bwMode="auto">
            <a:xfrm>
              <a:off x="6617833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30.0.0.1</a:t>
              </a:r>
            </a:p>
          </p:txBody>
        </p:sp>
        <p:sp>
          <p:nvSpPr>
            <p:cNvPr id="857206" name="Line 121"/>
            <p:cNvSpPr>
              <a:spLocks noChangeShapeType="1"/>
            </p:cNvSpPr>
            <p:nvPr/>
          </p:nvSpPr>
          <p:spPr bwMode="auto">
            <a:xfrm flipV="1">
              <a:off x="130778" y="6181254"/>
              <a:ext cx="9520767" cy="15875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07" name="Rectangle 122"/>
            <p:cNvSpPr>
              <a:spLocks noChangeArrowheads="1"/>
            </p:cNvSpPr>
            <p:nvPr/>
          </p:nvSpPr>
          <p:spPr bwMode="auto">
            <a:xfrm>
              <a:off x="7887039" y="5458941"/>
              <a:ext cx="999198" cy="27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08" name="Text Box 123"/>
            <p:cNvSpPr txBox="1">
              <a:spLocks noChangeArrowheads="1"/>
            </p:cNvSpPr>
            <p:nvPr/>
          </p:nvSpPr>
          <p:spPr bwMode="auto">
            <a:xfrm>
              <a:off x="980356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10.0.0.4</a:t>
              </a:r>
            </a:p>
          </p:txBody>
        </p:sp>
        <p:sp>
          <p:nvSpPr>
            <p:cNvPr id="857209" name="Text Box 124"/>
            <p:cNvSpPr txBox="1">
              <a:spLocks noChangeArrowheads="1"/>
            </p:cNvSpPr>
            <p:nvPr/>
          </p:nvSpPr>
          <p:spPr bwMode="auto">
            <a:xfrm>
              <a:off x="8009143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40.0.0.4</a:t>
              </a:r>
            </a:p>
          </p:txBody>
        </p:sp>
        <p:sp>
          <p:nvSpPr>
            <p:cNvPr id="857210" name="Text Box 125"/>
            <p:cNvSpPr txBox="1">
              <a:spLocks noChangeArrowheads="1"/>
            </p:cNvSpPr>
            <p:nvPr/>
          </p:nvSpPr>
          <p:spPr bwMode="auto">
            <a:xfrm>
              <a:off x="5193845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30.0.0.2</a:t>
              </a:r>
            </a:p>
          </p:txBody>
        </p:sp>
        <p:sp>
          <p:nvSpPr>
            <p:cNvPr id="857211" name="Text Box 126"/>
            <p:cNvSpPr txBox="1">
              <a:spLocks noChangeArrowheads="1"/>
            </p:cNvSpPr>
            <p:nvPr/>
          </p:nvSpPr>
          <p:spPr bwMode="auto">
            <a:xfrm>
              <a:off x="3788774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20.0.0.9</a:t>
              </a:r>
            </a:p>
          </p:txBody>
        </p:sp>
        <p:sp>
          <p:nvSpPr>
            <p:cNvPr id="857212" name="Text Box 127"/>
            <p:cNvSpPr txBox="1">
              <a:spLocks noChangeArrowheads="1"/>
            </p:cNvSpPr>
            <p:nvPr/>
          </p:nvSpPr>
          <p:spPr bwMode="auto">
            <a:xfrm>
              <a:off x="2385424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20.0.0.7</a:t>
              </a:r>
            </a:p>
          </p:txBody>
        </p:sp>
        <p:sp>
          <p:nvSpPr>
            <p:cNvPr id="857213" name="Line 128"/>
            <p:cNvSpPr>
              <a:spLocks noChangeShapeType="1"/>
            </p:cNvSpPr>
            <p:nvPr/>
          </p:nvSpPr>
          <p:spPr bwMode="auto">
            <a:xfrm>
              <a:off x="1633876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4" name="Line 129"/>
            <p:cNvSpPr>
              <a:spLocks noChangeShapeType="1"/>
            </p:cNvSpPr>
            <p:nvPr/>
          </p:nvSpPr>
          <p:spPr bwMode="auto">
            <a:xfrm>
              <a:off x="2913401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5" name="Line 130"/>
            <p:cNvSpPr>
              <a:spLocks noChangeShapeType="1"/>
            </p:cNvSpPr>
            <p:nvPr/>
          </p:nvSpPr>
          <p:spPr bwMode="auto">
            <a:xfrm>
              <a:off x="7262753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6" name="Line 131"/>
            <p:cNvSpPr>
              <a:spLocks noChangeShapeType="1"/>
            </p:cNvSpPr>
            <p:nvPr/>
          </p:nvSpPr>
          <p:spPr bwMode="auto">
            <a:xfrm>
              <a:off x="4449174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7" name="Line 132"/>
            <p:cNvSpPr>
              <a:spLocks noChangeShapeType="1"/>
            </p:cNvSpPr>
            <p:nvPr/>
          </p:nvSpPr>
          <p:spPr bwMode="auto">
            <a:xfrm>
              <a:off x="8542278" y="5755804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8" name="Line 133"/>
            <p:cNvSpPr>
              <a:spLocks noChangeShapeType="1"/>
            </p:cNvSpPr>
            <p:nvPr/>
          </p:nvSpPr>
          <p:spPr bwMode="auto">
            <a:xfrm>
              <a:off x="5728699" y="5793903"/>
              <a:ext cx="0" cy="404812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9" name="Text Box 134"/>
            <p:cNvSpPr txBox="1">
              <a:spLocks noChangeArrowheads="1"/>
            </p:cNvSpPr>
            <p:nvPr/>
          </p:nvSpPr>
          <p:spPr bwMode="auto">
            <a:xfrm>
              <a:off x="6573118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30.0.0.1</a:t>
              </a:r>
            </a:p>
          </p:txBody>
        </p:sp>
        <p:sp>
          <p:nvSpPr>
            <p:cNvPr id="857220" name="Text Box 135"/>
            <p:cNvSpPr txBox="1">
              <a:spLocks noChangeArrowheads="1"/>
            </p:cNvSpPr>
            <p:nvPr/>
          </p:nvSpPr>
          <p:spPr bwMode="auto">
            <a:xfrm>
              <a:off x="8884518" y="5747866"/>
              <a:ext cx="88838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9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857221" name="Text Box 136"/>
            <p:cNvSpPr txBox="1">
              <a:spLocks noChangeArrowheads="1"/>
            </p:cNvSpPr>
            <p:nvPr/>
          </p:nvSpPr>
          <p:spPr bwMode="auto">
            <a:xfrm>
              <a:off x="6096735" y="5747866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57222" name="Text Box 137"/>
            <p:cNvSpPr txBox="1">
              <a:spLocks noChangeArrowheads="1"/>
            </p:cNvSpPr>
            <p:nvPr/>
          </p:nvSpPr>
          <p:spPr bwMode="auto">
            <a:xfrm>
              <a:off x="3253919" y="5747866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57223" name="Text Box 138"/>
            <p:cNvSpPr txBox="1">
              <a:spLocks noChangeArrowheads="1"/>
            </p:cNvSpPr>
            <p:nvPr/>
          </p:nvSpPr>
          <p:spPr bwMode="auto">
            <a:xfrm>
              <a:off x="184091" y="5747866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857224" name="Picture 13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0124" y="2103438"/>
              <a:ext cx="777346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7225" name="Text Box 140"/>
            <p:cNvSpPr txBox="1">
              <a:spLocks noChangeArrowheads="1"/>
            </p:cNvSpPr>
            <p:nvPr/>
          </p:nvSpPr>
          <p:spPr bwMode="auto">
            <a:xfrm>
              <a:off x="4946195" y="169703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26" name="Text Box 141"/>
            <p:cNvSpPr txBox="1">
              <a:spLocks noChangeArrowheads="1"/>
            </p:cNvSpPr>
            <p:nvPr/>
          </p:nvSpPr>
          <p:spPr bwMode="auto">
            <a:xfrm>
              <a:off x="7703021" y="169703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27" name="Text Box 142"/>
            <p:cNvSpPr txBox="1">
              <a:spLocks noChangeArrowheads="1"/>
            </p:cNvSpPr>
            <p:nvPr/>
          </p:nvSpPr>
          <p:spPr bwMode="auto">
            <a:xfrm>
              <a:off x="2003631" y="169703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28" name="Text Box 146"/>
            <p:cNvSpPr txBox="1">
              <a:spLocks noChangeArrowheads="1"/>
            </p:cNvSpPr>
            <p:nvPr/>
          </p:nvSpPr>
          <p:spPr bwMode="auto">
            <a:xfrm>
              <a:off x="4407899" y="2232026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7229" name="Text Box 147"/>
            <p:cNvSpPr txBox="1">
              <a:spLocks noChangeArrowheads="1"/>
            </p:cNvSpPr>
            <p:nvPr/>
          </p:nvSpPr>
          <p:spPr bwMode="auto">
            <a:xfrm>
              <a:off x="5503408" y="2238375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857230" name="Picture 14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1539" y="2081213"/>
              <a:ext cx="77906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1" name="Picture 1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4926" y="2087563"/>
              <a:ext cx="77734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2" name="Picture 15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3524" y="5995515"/>
              <a:ext cx="777346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3" name="Picture 15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588" y="6003453"/>
              <a:ext cx="77734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4" name="Picture 1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8724" y="6009803"/>
              <a:ext cx="77734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7235" name="Text Box 143"/>
            <p:cNvSpPr txBox="1">
              <a:spLocks noChangeArrowheads="1"/>
            </p:cNvSpPr>
            <p:nvPr/>
          </p:nvSpPr>
          <p:spPr bwMode="auto">
            <a:xfrm>
              <a:off x="4789693" y="559705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36" name="Text Box 145"/>
            <p:cNvSpPr txBox="1">
              <a:spLocks noChangeArrowheads="1"/>
            </p:cNvSpPr>
            <p:nvPr/>
          </p:nvSpPr>
          <p:spPr bwMode="auto">
            <a:xfrm>
              <a:off x="7646268" y="559705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37" name="Text Box 144"/>
            <p:cNvSpPr txBox="1">
              <a:spLocks noChangeArrowheads="1"/>
            </p:cNvSpPr>
            <p:nvPr/>
          </p:nvSpPr>
          <p:spPr bwMode="auto">
            <a:xfrm>
              <a:off x="2060385" y="559705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38" name="Text Box 146"/>
            <p:cNvSpPr txBox="1">
              <a:spLocks noChangeArrowheads="1"/>
            </p:cNvSpPr>
            <p:nvPr/>
          </p:nvSpPr>
          <p:spPr bwMode="auto">
            <a:xfrm>
              <a:off x="4407899" y="6191595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7239" name="Text Box 147"/>
            <p:cNvSpPr txBox="1">
              <a:spLocks noChangeArrowheads="1"/>
            </p:cNvSpPr>
            <p:nvPr/>
          </p:nvSpPr>
          <p:spPr bwMode="auto">
            <a:xfrm>
              <a:off x="5503408" y="6197944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85724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D37E949-31C1-4376-A392-126FAFB29FB8}" type="slidenum">
              <a:rPr lang="zh-CN" altLang="en-US" smtClean="0"/>
              <a:pPr/>
              <a:t>48</a:t>
            </a:fld>
            <a:endParaRPr lang="en-US" altLang="zh-CN" smtClean="0"/>
          </a:p>
        </p:txBody>
      </p:sp>
      <p:sp>
        <p:nvSpPr>
          <p:cNvPr id="85724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8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45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查找路由表</a:t>
            </a:r>
          </a:p>
        </p:txBody>
      </p:sp>
      <p:sp>
        <p:nvSpPr>
          <p:cNvPr id="85913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黑体" panose="02010609060101010101" pitchFamily="49" charset="-122"/>
              </a:rPr>
              <a:t>	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根据目的网络地址</a:t>
            </a:r>
            <a:r>
              <a:rPr lang="zh-CN" altLang="en-US" smtClean="0">
                <a:ea typeface="黑体" panose="02010609060101010101" pitchFamily="49" charset="-122"/>
              </a:rPr>
              <a:t>就能确定下一跳路由器，这样做的结果是：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数据报最终一定可以找到目的主机所在目的网络上的路由器（可能要通过多次的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间接交付</a:t>
            </a:r>
            <a:r>
              <a:rPr lang="zh-CN" altLang="en-US" smtClean="0">
                <a:ea typeface="黑体" panose="02010609060101010101" pitchFamily="49" charset="-122"/>
              </a:rPr>
              <a:t>）。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只有到达最后一个路由器时，才试图向目的主机进行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直接交付。 </a:t>
            </a:r>
          </a:p>
        </p:txBody>
      </p:sp>
      <p:sp>
        <p:nvSpPr>
          <p:cNvPr id="8591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C70FAE-F413-4C4B-85B3-4E6155D6AA0F}" type="slidenum">
              <a:rPr lang="zh-CN" altLang="en-US" smtClean="0"/>
              <a:pPr eaLnBrk="1" hangingPunct="1"/>
              <a:t>49</a:t>
            </a:fld>
            <a:endParaRPr lang="en-US" altLang="zh-CN" smtClean="0"/>
          </a:p>
        </p:txBody>
      </p:sp>
      <p:sp>
        <p:nvSpPr>
          <p:cNvPr id="85914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5" name="Rectangle 4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特定主机路由 </a:t>
            </a:r>
          </a:p>
        </p:txBody>
      </p:sp>
      <p:sp>
        <p:nvSpPr>
          <p:cNvPr id="395306" name="Rectangle 4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虽然互联网所有的分组转发都是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基于目的主机所在的网络，</a:t>
            </a:r>
            <a:r>
              <a:rPr lang="zh-CN" altLang="zh-CN" smtClean="0">
                <a:ea typeface="黑体" panose="02010609060101010101" pitchFamily="49" charset="-122"/>
              </a:rPr>
              <a:t>但在大多数情况下都允许有这样的特例，即</a:t>
            </a:r>
            <a:r>
              <a:rPr lang="zh-CN" altLang="en-US" smtClean="0">
                <a:ea typeface="黑体" panose="02010609060101010101" pitchFamily="49" charset="-122"/>
              </a:rPr>
              <a:t>为</a:t>
            </a:r>
            <a:r>
              <a:rPr lang="zh-CN" altLang="zh-CN" smtClean="0">
                <a:ea typeface="黑体" panose="02010609060101010101" pitchFamily="49" charset="-122"/>
              </a:rPr>
              <a:t>特定的目的主机指明一个路由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ea typeface="黑体" panose="02010609060101010101" pitchFamily="49" charset="-122"/>
              </a:rPr>
              <a:t>采用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特定主机路由</a:t>
            </a:r>
            <a:r>
              <a:rPr lang="zh-CN" altLang="en-US" smtClean="0">
                <a:ea typeface="黑体" panose="02010609060101010101" pitchFamily="49" charset="-122"/>
              </a:rPr>
              <a:t>可使网络管理人员能更方便地控制网络和测试网络，同时也可在需要考虑某种安全问题时采用这种特定主机路由。 </a:t>
            </a:r>
          </a:p>
        </p:txBody>
      </p:sp>
      <p:sp>
        <p:nvSpPr>
          <p:cNvPr id="86118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88" name="Rectangle 3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89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0" name="Rectangle 5"/>
          <p:cNvSpPr>
            <a:spLocks noChangeArrowheads="1"/>
          </p:cNvSpPr>
          <p:nvPr/>
        </p:nvSpPr>
        <p:spPr bwMode="auto">
          <a:xfrm>
            <a:off x="0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1" name="Rectangle 7"/>
          <p:cNvSpPr>
            <a:spLocks noChangeArrowheads="1"/>
          </p:cNvSpPr>
          <p:nvPr/>
        </p:nvSpPr>
        <p:spPr bwMode="auto">
          <a:xfrm>
            <a:off x="0" y="30781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FFCD61-FFB1-4FD4-99BD-054862F40ABC}" type="slidenum">
              <a:rPr lang="zh-CN" altLang="en-US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86119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默认路由 </a:t>
            </a:r>
            <a:r>
              <a:rPr lang="en-US" altLang="zh-CN" smtClean="0">
                <a:ea typeface="黑体" panose="02010609060101010101" pitchFamily="49" charset="-122"/>
              </a:rPr>
              <a:t>(default route)</a:t>
            </a:r>
          </a:p>
        </p:txBody>
      </p:sp>
      <p:sp>
        <p:nvSpPr>
          <p:cNvPr id="8632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路由器还可采用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默认路由</a:t>
            </a:r>
            <a:r>
              <a:rPr lang="zh-CN" altLang="en-US" smtClean="0">
                <a:ea typeface="黑体" panose="02010609060101010101" pitchFamily="49" charset="-122"/>
              </a:rPr>
              <a:t>以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减少路由表所占用的空间和搜索路由表所用的时间。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这种转发方式在一个网络只有很少的对外连接时是很有用的。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默认路由在主机发送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数据报时往往更能显示出它的好处。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如果一个主机连接在一个小网络上，而这个网络只用一个路由器和互联网连接，那么在这种情况下使用默认路由是非常合适的。 </a:t>
            </a:r>
          </a:p>
        </p:txBody>
      </p:sp>
      <p:sp>
        <p:nvSpPr>
          <p:cNvPr id="8632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F8D250-AB00-4A46-AE5A-387078A45956}" type="slidenum">
              <a:rPr lang="zh-CN" altLang="en-US" smtClean="0"/>
              <a:pPr eaLnBrk="1" hangingPunct="1"/>
              <a:t>51</a:t>
            </a:fld>
            <a:endParaRPr lang="en-US" altLang="zh-CN" smtClean="0"/>
          </a:p>
        </p:txBody>
      </p:sp>
      <p:sp>
        <p:nvSpPr>
          <p:cNvPr id="8632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1" name="Line 4"/>
          <p:cNvSpPr>
            <a:spLocks noChangeShapeType="1"/>
          </p:cNvSpPr>
          <p:nvPr/>
        </p:nvSpPr>
        <p:spPr bwMode="auto">
          <a:xfrm flipV="1">
            <a:off x="5557838" y="3008313"/>
            <a:ext cx="749300" cy="373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2" name="Line 5"/>
          <p:cNvSpPr>
            <a:spLocks noChangeShapeType="1"/>
          </p:cNvSpPr>
          <p:nvPr/>
        </p:nvSpPr>
        <p:spPr bwMode="auto">
          <a:xfrm flipV="1">
            <a:off x="5024438" y="3473450"/>
            <a:ext cx="428625" cy="373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3" name="Line 6"/>
          <p:cNvSpPr>
            <a:spLocks noChangeShapeType="1"/>
          </p:cNvSpPr>
          <p:nvPr/>
        </p:nvSpPr>
        <p:spPr bwMode="auto">
          <a:xfrm flipV="1">
            <a:off x="5365750" y="4084638"/>
            <a:ext cx="1225550" cy="22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4" name="Line 7"/>
          <p:cNvSpPr>
            <a:spLocks noChangeShapeType="1"/>
          </p:cNvSpPr>
          <p:nvPr/>
        </p:nvSpPr>
        <p:spPr bwMode="auto">
          <a:xfrm flipH="1">
            <a:off x="3959225" y="4217988"/>
            <a:ext cx="639763" cy="652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5" name="Line 8"/>
          <p:cNvSpPr>
            <a:spLocks noChangeShapeType="1"/>
          </p:cNvSpPr>
          <p:nvPr/>
        </p:nvSpPr>
        <p:spPr bwMode="auto">
          <a:xfrm>
            <a:off x="5026025" y="4310063"/>
            <a:ext cx="319088" cy="652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6" name="Line 9"/>
          <p:cNvSpPr>
            <a:spLocks noChangeShapeType="1"/>
          </p:cNvSpPr>
          <p:nvPr/>
        </p:nvSpPr>
        <p:spPr bwMode="auto">
          <a:xfrm flipV="1">
            <a:off x="3530600" y="4125913"/>
            <a:ext cx="855663" cy="92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865287" name="Picture 2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3994150"/>
            <a:ext cx="5572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5288" name="Text Box 31"/>
          <p:cNvSpPr txBox="1">
            <a:spLocks noChangeArrowheads="1"/>
          </p:cNvSpPr>
          <p:nvPr/>
        </p:nvSpPr>
        <p:spPr bwMode="auto">
          <a:xfrm>
            <a:off x="5837238" y="361950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865289" name="Object 32"/>
          <p:cNvGraphicFramePr>
            <a:graphicFrameLocks noChangeAspect="1"/>
          </p:cNvGraphicFramePr>
          <p:nvPr/>
        </p:nvGraphicFramePr>
        <p:xfrm>
          <a:off x="6519863" y="3335338"/>
          <a:ext cx="3306762" cy="196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329" r:id="rId5" imgW="1646640" imgH="938520" progId="">
                  <p:embed/>
                </p:oleObj>
              </mc:Choice>
              <mc:Fallback>
                <p:oleObj r:id="rId5" imgW="1646640" imgH="93852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3335338"/>
                        <a:ext cx="3306762" cy="196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90" name="Text Box 33"/>
          <p:cNvSpPr txBox="1">
            <a:spLocks noChangeArrowheads="1"/>
          </p:cNvSpPr>
          <p:nvPr/>
        </p:nvSpPr>
        <p:spPr bwMode="auto">
          <a:xfrm>
            <a:off x="7588250" y="397986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互联网</a:t>
            </a:r>
            <a:endParaRPr lang="zh-CN" altLang="en-US" sz="2400" b="1" baseline="-2500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865291" name="Picture 34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4775200"/>
            <a:ext cx="48736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5292" name="Text Box 40"/>
          <p:cNvSpPr txBox="1">
            <a:spLocks noChangeArrowheads="1"/>
          </p:cNvSpPr>
          <p:nvPr/>
        </p:nvSpPr>
        <p:spPr bwMode="auto">
          <a:xfrm>
            <a:off x="987425" y="291465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路由表</a:t>
            </a:r>
            <a:endParaRPr lang="zh-CN" altLang="en-US" sz="2400" b="1" baseline="-2500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93" name="Freeform 41"/>
          <p:cNvSpPr>
            <a:spLocks noChangeArrowheads="1"/>
          </p:cNvSpPr>
          <p:nvPr/>
        </p:nvSpPr>
        <p:spPr bwMode="auto">
          <a:xfrm>
            <a:off x="2720975" y="3425825"/>
            <a:ext cx="688975" cy="1462088"/>
          </a:xfrm>
          <a:custGeom>
            <a:avLst/>
            <a:gdLst>
              <a:gd name="T0" fmla="*/ 4 w 368"/>
              <a:gd name="T1" fmla="*/ 0 h 524"/>
              <a:gd name="T2" fmla="*/ 368 w 368"/>
              <a:gd name="T3" fmla="*/ 256 h 524"/>
              <a:gd name="T4" fmla="*/ 367 w 368"/>
              <a:gd name="T5" fmla="*/ 277 h 524"/>
              <a:gd name="T6" fmla="*/ 0 w 368"/>
              <a:gd name="T7" fmla="*/ 524 h 524"/>
              <a:gd name="T8" fmla="*/ 4 w 368"/>
              <a:gd name="T9" fmla="*/ 0 h 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" h="524">
                <a:moveTo>
                  <a:pt x="4" y="0"/>
                </a:moveTo>
                <a:lnTo>
                  <a:pt x="368" y="256"/>
                </a:lnTo>
                <a:lnTo>
                  <a:pt x="367" y="277"/>
                </a:lnTo>
                <a:lnTo>
                  <a:pt x="0" y="524"/>
                </a:lnTo>
                <a:lnTo>
                  <a:pt x="4" y="0"/>
                </a:lnTo>
                <a:close/>
              </a:path>
            </a:pathLst>
          </a:custGeom>
          <a:gradFill rotWithShape="1">
            <a:gsLst>
              <a:gs pos="0">
                <a:srgbClr val="FFFF66"/>
              </a:gs>
              <a:gs pos="100000">
                <a:srgbClr val="A6A6A6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865294" name="Picture 42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3" y="3846513"/>
            <a:ext cx="4889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5295" name="Picture 43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913" y="4683125"/>
            <a:ext cx="4889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83084" name="Group 44"/>
          <p:cNvGrpSpPr/>
          <p:nvPr/>
        </p:nvGrpSpPr>
        <p:grpSpPr bwMode="auto">
          <a:xfrm>
            <a:off x="5773341" y="2637383"/>
            <a:ext cx="1183217" cy="701675"/>
            <a:chOff x="1776" y="2768"/>
            <a:chExt cx="1824" cy="736"/>
          </a:xfrm>
          <a:solidFill>
            <a:schemeClr val="bg1">
              <a:lumMod val="75000"/>
            </a:schemeClr>
          </a:solidFill>
        </p:grpSpPr>
        <p:grpSp>
          <p:nvGrpSpPr>
            <p:cNvPr id="983085" name="Group 45"/>
            <p:cNvGrpSpPr/>
            <p:nvPr/>
          </p:nvGrpSpPr>
          <p:grpSpPr bwMode="auto">
            <a:xfrm>
              <a:off x="1787" y="2783"/>
              <a:ext cx="1813" cy="721"/>
              <a:chOff x="1787" y="2783"/>
              <a:chExt cx="1813" cy="721"/>
            </a:xfrm>
            <a:grpFill/>
          </p:grpSpPr>
          <p:sp>
            <p:nvSpPr>
              <p:cNvPr id="983086" name="Oval 46"/>
              <p:cNvSpPr>
                <a:spLocks noChangeArrowheads="1"/>
              </p:cNvSpPr>
              <p:nvPr/>
            </p:nvSpPr>
            <p:spPr bwMode="auto">
              <a:xfrm>
                <a:off x="2413" y="2783"/>
                <a:ext cx="780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87" name="Oval 47"/>
              <p:cNvSpPr>
                <a:spLocks noChangeArrowheads="1"/>
              </p:cNvSpPr>
              <p:nvPr/>
            </p:nvSpPr>
            <p:spPr bwMode="auto">
              <a:xfrm>
                <a:off x="1974" y="2863"/>
                <a:ext cx="593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88" name="Oval 48"/>
              <p:cNvSpPr>
                <a:spLocks noChangeArrowheads="1"/>
              </p:cNvSpPr>
              <p:nvPr/>
            </p:nvSpPr>
            <p:spPr bwMode="auto">
              <a:xfrm>
                <a:off x="1787" y="3045"/>
                <a:ext cx="396" cy="2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89" name="Oval 49"/>
              <p:cNvSpPr>
                <a:spLocks noChangeArrowheads="1"/>
              </p:cNvSpPr>
              <p:nvPr/>
            </p:nvSpPr>
            <p:spPr bwMode="auto">
              <a:xfrm>
                <a:off x="1908" y="3154"/>
                <a:ext cx="604" cy="2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0" name="Oval 50"/>
              <p:cNvSpPr>
                <a:spLocks noChangeArrowheads="1"/>
              </p:cNvSpPr>
              <p:nvPr/>
            </p:nvSpPr>
            <p:spPr bwMode="auto">
              <a:xfrm>
                <a:off x="2347" y="3198"/>
                <a:ext cx="912" cy="3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1" name="Oval 51"/>
              <p:cNvSpPr>
                <a:spLocks noChangeArrowheads="1"/>
              </p:cNvSpPr>
              <p:nvPr/>
            </p:nvSpPr>
            <p:spPr bwMode="auto">
              <a:xfrm>
                <a:off x="2941" y="2870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2" name="Oval 52"/>
              <p:cNvSpPr>
                <a:spLocks noChangeArrowheads="1"/>
              </p:cNvSpPr>
              <p:nvPr/>
            </p:nvSpPr>
            <p:spPr bwMode="auto">
              <a:xfrm>
                <a:off x="3029" y="3023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3" name="Oval 53"/>
              <p:cNvSpPr>
                <a:spLocks noChangeArrowheads="1"/>
              </p:cNvSpPr>
              <p:nvPr/>
            </p:nvSpPr>
            <p:spPr bwMode="auto">
              <a:xfrm>
                <a:off x="2974" y="3074"/>
                <a:ext cx="571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4" name="Oval 54"/>
              <p:cNvSpPr>
                <a:spLocks noChangeArrowheads="1"/>
              </p:cNvSpPr>
              <p:nvPr/>
            </p:nvSpPr>
            <p:spPr bwMode="auto">
              <a:xfrm>
                <a:off x="2117" y="2957"/>
                <a:ext cx="1175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83095" name="Oval 55"/>
            <p:cNvSpPr>
              <a:spLocks noChangeArrowheads="1"/>
            </p:cNvSpPr>
            <p:nvPr/>
          </p:nvSpPr>
          <p:spPr bwMode="auto">
            <a:xfrm>
              <a:off x="2402" y="2768"/>
              <a:ext cx="780" cy="29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6" name="Oval 56"/>
            <p:cNvSpPr>
              <a:spLocks noChangeArrowheads="1"/>
            </p:cNvSpPr>
            <p:nvPr/>
          </p:nvSpPr>
          <p:spPr bwMode="auto">
            <a:xfrm>
              <a:off x="1963" y="2848"/>
              <a:ext cx="593" cy="29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7" name="Oval 57"/>
            <p:cNvSpPr>
              <a:spLocks noChangeArrowheads="1"/>
            </p:cNvSpPr>
            <p:nvPr/>
          </p:nvSpPr>
          <p:spPr bwMode="auto">
            <a:xfrm>
              <a:off x="1776" y="3030"/>
              <a:ext cx="396" cy="23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8" name="Oval 58"/>
            <p:cNvSpPr>
              <a:spLocks noChangeArrowheads="1"/>
            </p:cNvSpPr>
            <p:nvPr/>
          </p:nvSpPr>
          <p:spPr bwMode="auto">
            <a:xfrm>
              <a:off x="1897" y="3140"/>
              <a:ext cx="604" cy="25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9" name="Oval 59"/>
            <p:cNvSpPr>
              <a:spLocks noChangeArrowheads="1"/>
            </p:cNvSpPr>
            <p:nvPr/>
          </p:nvSpPr>
          <p:spPr bwMode="auto">
            <a:xfrm>
              <a:off x="2336" y="3183"/>
              <a:ext cx="912" cy="3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0" name="Oval 60"/>
            <p:cNvSpPr>
              <a:spLocks noChangeArrowheads="1"/>
            </p:cNvSpPr>
            <p:nvPr/>
          </p:nvSpPr>
          <p:spPr bwMode="auto">
            <a:xfrm>
              <a:off x="2930" y="2855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1" name="Oval 61"/>
            <p:cNvSpPr>
              <a:spLocks noChangeArrowheads="1"/>
            </p:cNvSpPr>
            <p:nvPr/>
          </p:nvSpPr>
          <p:spPr bwMode="auto">
            <a:xfrm>
              <a:off x="3018" y="3008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2" name="Oval 62"/>
            <p:cNvSpPr>
              <a:spLocks noChangeArrowheads="1"/>
            </p:cNvSpPr>
            <p:nvPr/>
          </p:nvSpPr>
          <p:spPr bwMode="auto">
            <a:xfrm>
              <a:off x="2963" y="3059"/>
              <a:ext cx="571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3" name="Oval 63"/>
            <p:cNvSpPr>
              <a:spLocks noChangeArrowheads="1"/>
            </p:cNvSpPr>
            <p:nvPr/>
          </p:nvSpPr>
          <p:spPr bwMode="auto">
            <a:xfrm>
              <a:off x="2106" y="2943"/>
              <a:ext cx="1175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865297" name="Text Box 64"/>
          <p:cNvSpPr txBox="1">
            <a:spLocks noChangeArrowheads="1"/>
          </p:cNvSpPr>
          <p:nvPr/>
        </p:nvSpPr>
        <p:spPr bwMode="auto">
          <a:xfrm>
            <a:off x="6081713" y="2727325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pic>
        <p:nvPicPr>
          <p:cNvPr id="865298" name="Picture 6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3289300"/>
            <a:ext cx="5588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5299" name="Text Box 66"/>
          <p:cNvSpPr txBox="1">
            <a:spLocks noChangeArrowheads="1"/>
          </p:cNvSpPr>
          <p:nvPr/>
        </p:nvSpPr>
        <p:spPr bwMode="auto">
          <a:xfrm>
            <a:off x="4981575" y="2874963"/>
            <a:ext cx="465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865300" name="Text Box 69"/>
          <p:cNvSpPr txBox="1">
            <a:spLocks noChangeArrowheads="1"/>
          </p:cNvSpPr>
          <p:nvPr/>
        </p:nvSpPr>
        <p:spPr bwMode="auto">
          <a:xfrm>
            <a:off x="776288" y="1211263"/>
            <a:ext cx="4775200" cy="1570037"/>
          </a:xfrm>
          <a:prstGeom prst="rect">
            <a:avLst/>
          </a:prstGeom>
          <a:solidFill>
            <a:srgbClr val="66FF66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只要目的网络不是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和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，</a:t>
            </a:r>
            <a:endParaRPr lang="en-US" altLang="zh-CN" sz="2400" b="1">
              <a:solidFill>
                <a:srgbClr val="000066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就一律选择默认路由，</a:t>
            </a:r>
          </a:p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把数据报先间接交付路由器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，</a:t>
            </a:r>
          </a:p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让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再转发给下一个路由器。 </a:t>
            </a:r>
          </a:p>
        </p:txBody>
      </p:sp>
      <p:sp>
        <p:nvSpPr>
          <p:cNvPr id="86530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默认路由举例</a:t>
            </a:r>
          </a:p>
        </p:txBody>
      </p:sp>
      <p:grpSp>
        <p:nvGrpSpPr>
          <p:cNvPr id="68" name="Group 44"/>
          <p:cNvGrpSpPr/>
          <p:nvPr/>
        </p:nvGrpSpPr>
        <p:grpSpPr bwMode="auto">
          <a:xfrm>
            <a:off x="4089597" y="3572419"/>
            <a:ext cx="1439467" cy="917947"/>
            <a:chOff x="1776" y="2768"/>
            <a:chExt cx="1824" cy="736"/>
          </a:xfrm>
          <a:solidFill>
            <a:schemeClr val="bg1">
              <a:lumMod val="75000"/>
            </a:schemeClr>
          </a:solidFill>
        </p:grpSpPr>
        <p:grpSp>
          <p:nvGrpSpPr>
            <p:cNvPr id="69" name="Group 45"/>
            <p:cNvGrpSpPr/>
            <p:nvPr/>
          </p:nvGrpSpPr>
          <p:grpSpPr bwMode="auto">
            <a:xfrm>
              <a:off x="1787" y="2783"/>
              <a:ext cx="1813" cy="721"/>
              <a:chOff x="1787" y="2783"/>
              <a:chExt cx="1813" cy="721"/>
            </a:xfrm>
            <a:grpFill/>
          </p:grpSpPr>
          <p:sp>
            <p:nvSpPr>
              <p:cNvPr id="79" name="Oval 46"/>
              <p:cNvSpPr>
                <a:spLocks noChangeArrowheads="1"/>
              </p:cNvSpPr>
              <p:nvPr/>
            </p:nvSpPr>
            <p:spPr bwMode="auto">
              <a:xfrm>
                <a:off x="2413" y="2783"/>
                <a:ext cx="780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0" name="Oval 47"/>
              <p:cNvSpPr>
                <a:spLocks noChangeArrowheads="1"/>
              </p:cNvSpPr>
              <p:nvPr/>
            </p:nvSpPr>
            <p:spPr bwMode="auto">
              <a:xfrm>
                <a:off x="1974" y="2863"/>
                <a:ext cx="593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1" name="Oval 48"/>
              <p:cNvSpPr>
                <a:spLocks noChangeArrowheads="1"/>
              </p:cNvSpPr>
              <p:nvPr/>
            </p:nvSpPr>
            <p:spPr bwMode="auto">
              <a:xfrm>
                <a:off x="1787" y="3045"/>
                <a:ext cx="396" cy="2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2" name="Oval 49"/>
              <p:cNvSpPr>
                <a:spLocks noChangeArrowheads="1"/>
              </p:cNvSpPr>
              <p:nvPr/>
            </p:nvSpPr>
            <p:spPr bwMode="auto">
              <a:xfrm>
                <a:off x="1908" y="3154"/>
                <a:ext cx="604" cy="2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3" name="Oval 50"/>
              <p:cNvSpPr>
                <a:spLocks noChangeArrowheads="1"/>
              </p:cNvSpPr>
              <p:nvPr/>
            </p:nvSpPr>
            <p:spPr bwMode="auto">
              <a:xfrm>
                <a:off x="2347" y="3198"/>
                <a:ext cx="912" cy="3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4" name="Oval 51"/>
              <p:cNvSpPr>
                <a:spLocks noChangeArrowheads="1"/>
              </p:cNvSpPr>
              <p:nvPr/>
            </p:nvSpPr>
            <p:spPr bwMode="auto">
              <a:xfrm>
                <a:off x="2941" y="2870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5" name="Oval 52"/>
              <p:cNvSpPr>
                <a:spLocks noChangeArrowheads="1"/>
              </p:cNvSpPr>
              <p:nvPr/>
            </p:nvSpPr>
            <p:spPr bwMode="auto">
              <a:xfrm>
                <a:off x="3029" y="3023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6" name="Oval 53"/>
              <p:cNvSpPr>
                <a:spLocks noChangeArrowheads="1"/>
              </p:cNvSpPr>
              <p:nvPr/>
            </p:nvSpPr>
            <p:spPr bwMode="auto">
              <a:xfrm>
                <a:off x="2974" y="3074"/>
                <a:ext cx="571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7" name="Oval 54"/>
              <p:cNvSpPr>
                <a:spLocks noChangeArrowheads="1"/>
              </p:cNvSpPr>
              <p:nvPr/>
            </p:nvSpPr>
            <p:spPr bwMode="auto">
              <a:xfrm>
                <a:off x="2117" y="2957"/>
                <a:ext cx="1175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0" name="Oval 55"/>
            <p:cNvSpPr>
              <a:spLocks noChangeArrowheads="1"/>
            </p:cNvSpPr>
            <p:nvPr/>
          </p:nvSpPr>
          <p:spPr bwMode="auto">
            <a:xfrm>
              <a:off x="2402" y="2768"/>
              <a:ext cx="780" cy="29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1" name="Oval 56"/>
            <p:cNvSpPr>
              <a:spLocks noChangeArrowheads="1"/>
            </p:cNvSpPr>
            <p:nvPr/>
          </p:nvSpPr>
          <p:spPr bwMode="auto">
            <a:xfrm>
              <a:off x="1963" y="2848"/>
              <a:ext cx="593" cy="29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2" name="Oval 57"/>
            <p:cNvSpPr>
              <a:spLocks noChangeArrowheads="1"/>
            </p:cNvSpPr>
            <p:nvPr/>
          </p:nvSpPr>
          <p:spPr bwMode="auto">
            <a:xfrm>
              <a:off x="1776" y="3030"/>
              <a:ext cx="396" cy="23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3" name="Oval 58"/>
            <p:cNvSpPr>
              <a:spLocks noChangeArrowheads="1"/>
            </p:cNvSpPr>
            <p:nvPr/>
          </p:nvSpPr>
          <p:spPr bwMode="auto">
            <a:xfrm>
              <a:off x="1897" y="3140"/>
              <a:ext cx="604" cy="25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4" name="Oval 59"/>
            <p:cNvSpPr>
              <a:spLocks noChangeArrowheads="1"/>
            </p:cNvSpPr>
            <p:nvPr/>
          </p:nvSpPr>
          <p:spPr bwMode="auto">
            <a:xfrm>
              <a:off x="2336" y="3183"/>
              <a:ext cx="912" cy="3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5" name="Oval 60"/>
            <p:cNvSpPr>
              <a:spLocks noChangeArrowheads="1"/>
            </p:cNvSpPr>
            <p:nvPr/>
          </p:nvSpPr>
          <p:spPr bwMode="auto">
            <a:xfrm>
              <a:off x="2930" y="2855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6" name="Oval 61"/>
            <p:cNvSpPr>
              <a:spLocks noChangeArrowheads="1"/>
            </p:cNvSpPr>
            <p:nvPr/>
          </p:nvSpPr>
          <p:spPr bwMode="auto">
            <a:xfrm>
              <a:off x="3018" y="3008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7" name="Oval 62"/>
            <p:cNvSpPr>
              <a:spLocks noChangeArrowheads="1"/>
            </p:cNvSpPr>
            <p:nvPr/>
          </p:nvSpPr>
          <p:spPr bwMode="auto">
            <a:xfrm>
              <a:off x="2963" y="3059"/>
              <a:ext cx="571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8" name="Oval 63"/>
            <p:cNvSpPr>
              <a:spLocks noChangeArrowheads="1"/>
            </p:cNvSpPr>
            <p:nvPr/>
          </p:nvSpPr>
          <p:spPr bwMode="auto">
            <a:xfrm>
              <a:off x="2106" y="2943"/>
              <a:ext cx="1175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865303" name="Text Box 30"/>
          <p:cNvSpPr txBox="1">
            <a:spLocks noChangeArrowheads="1"/>
          </p:cNvSpPr>
          <p:nvPr/>
        </p:nvSpPr>
        <p:spPr bwMode="auto">
          <a:xfrm>
            <a:off x="4598988" y="3813175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65304" name="矩形 2"/>
          <p:cNvSpPr>
            <a:spLocks noChangeArrowheads="1"/>
          </p:cNvSpPr>
          <p:nvPr/>
        </p:nvSpPr>
        <p:spPr bwMode="auto">
          <a:xfrm>
            <a:off x="2144713" y="5516563"/>
            <a:ext cx="6494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路由器</a:t>
            </a:r>
            <a:r>
              <a:rPr lang="en-US" altLang="zh-CN" sz="2400" b="1">
                <a:ea typeface="黑体" panose="02010609060101010101" pitchFamily="49" charset="-122"/>
              </a:rPr>
              <a:t> R</a:t>
            </a:r>
            <a:r>
              <a:rPr lang="en-US" altLang="zh-CN" sz="2400" b="1" baseline="-25000">
                <a:ea typeface="黑体" panose="02010609060101010101" pitchFamily="49" charset="-122"/>
              </a:rPr>
              <a:t>1 </a:t>
            </a:r>
            <a:r>
              <a:rPr lang="zh-CN" altLang="zh-CN" sz="2400" b="1">
                <a:ea typeface="黑体" panose="02010609060101010101" pitchFamily="49" charset="-122"/>
              </a:rPr>
              <a:t>充当网络</a:t>
            </a:r>
            <a:r>
              <a:rPr lang="en-US" altLang="zh-CN" sz="2400" b="1">
                <a:ea typeface="黑体" panose="02010609060101010101" pitchFamily="49" charset="-122"/>
              </a:rPr>
              <a:t> N</a:t>
            </a:r>
            <a:r>
              <a:rPr lang="en-US" altLang="zh-CN" sz="2400" b="1" baseline="-25000">
                <a:ea typeface="黑体" panose="02010609060101010101" pitchFamily="49" charset="-122"/>
              </a:rPr>
              <a:t>1 </a:t>
            </a:r>
            <a:r>
              <a:rPr lang="zh-CN" altLang="zh-CN" sz="2400" b="1">
                <a:ea typeface="黑体" panose="02010609060101010101" pitchFamily="49" charset="-122"/>
              </a:rPr>
              <a:t>的默认路由器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865305" name="Rectangle 36"/>
          <p:cNvSpPr>
            <a:spLocks noChangeArrowheads="1"/>
          </p:cNvSpPr>
          <p:nvPr/>
        </p:nvSpPr>
        <p:spPr bwMode="auto">
          <a:xfrm>
            <a:off x="374650" y="3430588"/>
            <a:ext cx="2346325" cy="1436687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06" name="Text Box 35"/>
          <p:cNvSpPr txBox="1">
            <a:spLocks noChangeArrowheads="1"/>
          </p:cNvSpPr>
          <p:nvPr/>
        </p:nvSpPr>
        <p:spPr bwMode="auto">
          <a:xfrm>
            <a:off x="374650" y="3357563"/>
            <a:ext cx="21812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目的网络  下一跳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    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直接 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1000" b="1">
                <a:solidFill>
                  <a:srgbClr val="000099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 R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默认        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65307" name="Line 37"/>
          <p:cNvSpPr>
            <a:spLocks noChangeShapeType="1"/>
          </p:cNvSpPr>
          <p:nvPr/>
        </p:nvSpPr>
        <p:spPr bwMode="auto">
          <a:xfrm>
            <a:off x="374650" y="3795713"/>
            <a:ext cx="234632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08" name="Line 38"/>
          <p:cNvSpPr>
            <a:spLocks noChangeShapeType="1"/>
          </p:cNvSpPr>
          <p:nvPr/>
        </p:nvSpPr>
        <p:spPr bwMode="auto">
          <a:xfrm>
            <a:off x="374650" y="4160838"/>
            <a:ext cx="2346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09" name="Line 39"/>
          <p:cNvSpPr>
            <a:spLocks noChangeShapeType="1"/>
          </p:cNvSpPr>
          <p:nvPr/>
        </p:nvSpPr>
        <p:spPr bwMode="auto">
          <a:xfrm>
            <a:off x="1654175" y="3430588"/>
            <a:ext cx="4763" cy="141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10" name="Line 67"/>
          <p:cNvSpPr>
            <a:spLocks noChangeShapeType="1"/>
          </p:cNvSpPr>
          <p:nvPr/>
        </p:nvSpPr>
        <p:spPr bwMode="auto">
          <a:xfrm>
            <a:off x="374650" y="4497388"/>
            <a:ext cx="2346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E6350C-A56D-4DB9-A789-00F6E2BFF434}" type="slidenum">
              <a:rPr lang="zh-CN" altLang="en-US" smtClean="0"/>
              <a:pPr eaLnBrk="1" hangingPunct="1"/>
              <a:t>52</a:t>
            </a:fld>
            <a:endParaRPr lang="en-US" altLang="zh-CN" smtClean="0"/>
          </a:p>
        </p:txBody>
      </p:sp>
      <p:sp>
        <p:nvSpPr>
          <p:cNvPr id="8653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29" name="Rectangle 6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必须强调指出 </a:t>
            </a:r>
          </a:p>
        </p:txBody>
      </p:sp>
      <p:sp>
        <p:nvSpPr>
          <p:cNvPr id="397319" name="Rectangle 7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algn="just"/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en-US" altLang="zh-CN" sz="20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数据报的首部中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没有</a:t>
            </a:r>
            <a:r>
              <a:rPr lang="zh-CN" altLang="en-US" smtClean="0">
                <a:ea typeface="黑体" panose="02010609060101010101" pitchFamily="49" charset="-122"/>
              </a:rPr>
              <a:t>地方可以用来指明“下一跳路由器的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地址”。</a:t>
            </a:r>
          </a:p>
          <a:p>
            <a:pPr algn="just"/>
            <a:r>
              <a:rPr lang="zh-CN" altLang="en-US" smtClean="0">
                <a:ea typeface="黑体" panose="02010609060101010101" pitchFamily="49" charset="-122"/>
              </a:rPr>
              <a:t>当路由器收到待转发的数据报，不是将下一跳路由器的</a:t>
            </a:r>
            <a:r>
              <a:rPr lang="zh-CN" altLang="en-US" sz="1800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en-US" altLang="zh-CN" sz="20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地址填入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数据报，而是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送交下层</a:t>
            </a:r>
            <a:r>
              <a:rPr lang="zh-CN" altLang="en-US" smtClean="0">
                <a:ea typeface="黑体" panose="02010609060101010101" pitchFamily="49" charset="-122"/>
              </a:rPr>
              <a:t>的网络接口软件。</a:t>
            </a:r>
          </a:p>
          <a:p>
            <a:pPr algn="just"/>
            <a:r>
              <a:rPr lang="zh-CN" altLang="en-US" smtClean="0">
                <a:ea typeface="黑体" panose="02010609060101010101" pitchFamily="49" charset="-122"/>
              </a:rPr>
              <a:t>网络接口软件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使用</a:t>
            </a:r>
            <a:r>
              <a:rPr lang="zh-CN" altLang="en-US" sz="1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</a:t>
            </a:r>
            <a:r>
              <a:rPr lang="en-US" altLang="zh-CN" sz="1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负责将下一跳路由器的 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en-US" altLang="zh-CN" sz="20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地址转换成硬件地址，并将此硬件地址放在链路层的</a:t>
            </a:r>
            <a:r>
              <a:rPr lang="zh-CN" altLang="en-US" sz="2000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MAC</a:t>
            </a:r>
            <a:r>
              <a:rPr lang="en-US" altLang="zh-CN" sz="18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帧的首部，然后根据这个硬件地址找到下一跳路由器。  </a:t>
            </a:r>
          </a:p>
        </p:txBody>
      </p:sp>
      <p:sp>
        <p:nvSpPr>
          <p:cNvPr id="86733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2" name="Rectangle 3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3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4" name="Rectangle 5"/>
          <p:cNvSpPr>
            <a:spLocks noChangeArrowheads="1"/>
          </p:cNvSpPr>
          <p:nvPr/>
        </p:nvSpPr>
        <p:spPr bwMode="auto">
          <a:xfrm>
            <a:off x="0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5" name="Rectangle 8"/>
          <p:cNvSpPr>
            <a:spLocks noChangeArrowheads="1"/>
          </p:cNvSpPr>
          <p:nvPr/>
        </p:nvSpPr>
        <p:spPr bwMode="auto">
          <a:xfrm>
            <a:off x="0" y="30781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429D38-50E6-42AA-9B04-C810EA3C1243}" type="slidenum">
              <a:rPr lang="zh-CN" altLang="en-US" smtClean="0"/>
              <a:pPr eaLnBrk="1" hangingPunct="1"/>
              <a:t>53</a:t>
            </a:fld>
            <a:endParaRPr lang="en-US" altLang="zh-CN" smtClean="0"/>
          </a:p>
        </p:txBody>
      </p:sp>
      <p:sp>
        <p:nvSpPr>
          <p:cNvPr id="86733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78" name="Rectangle 3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79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0" name="Rectangle 5"/>
          <p:cNvSpPr>
            <a:spLocks noChangeArrowheads="1"/>
          </p:cNvSpPr>
          <p:nvPr/>
        </p:nvSpPr>
        <p:spPr bwMode="auto">
          <a:xfrm>
            <a:off x="0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1" name="Rectangle 6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路由器分组转发算法 </a:t>
            </a:r>
          </a:p>
        </p:txBody>
      </p:sp>
      <p:sp>
        <p:nvSpPr>
          <p:cNvPr id="869382" name="Rectangle 7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  <a:ln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(1) </a:t>
            </a:r>
            <a:r>
              <a:rPr lang="zh-CN" altLang="en-US" sz="2400" smtClean="0">
                <a:ea typeface="黑体" panose="02010609060101010101" pitchFamily="49" charset="-122"/>
              </a:rPr>
              <a:t>从数据报的首部提取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目的主机的</a:t>
            </a:r>
            <a:r>
              <a:rPr lang="zh-CN" altLang="en-US" sz="16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16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地址</a:t>
            </a:r>
            <a:r>
              <a:rPr lang="zh-CN" altLang="en-US" sz="14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D, </a:t>
            </a:r>
            <a:r>
              <a:rPr lang="zh-CN" altLang="en-US" sz="2400" smtClean="0">
                <a:ea typeface="黑体" panose="02010609060101010101" pitchFamily="49" charset="-122"/>
              </a:rPr>
              <a:t>得出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目的网络地址为</a:t>
            </a:r>
            <a:r>
              <a:rPr lang="zh-CN" altLang="en-US" sz="14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(2) </a:t>
            </a:r>
            <a:r>
              <a:rPr lang="zh-CN" altLang="en-US" sz="2400" smtClean="0">
                <a:ea typeface="黑体" panose="02010609060101010101" pitchFamily="49" charset="-122"/>
              </a:rPr>
              <a:t>若网络</a:t>
            </a:r>
            <a:r>
              <a:rPr lang="zh-CN" altLang="en-US" sz="12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N </a:t>
            </a:r>
            <a:r>
              <a:rPr lang="zh-CN" altLang="en-US" sz="2400" smtClean="0">
                <a:ea typeface="黑体" panose="02010609060101010101" pitchFamily="49" charset="-122"/>
              </a:rPr>
              <a:t>与此路由器直接相连，则把数据报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直接交付</a:t>
            </a:r>
            <a:r>
              <a:rPr lang="zh-CN" altLang="en-US" sz="2400" smtClean="0">
                <a:ea typeface="黑体" panose="02010609060101010101" pitchFamily="49" charset="-122"/>
              </a:rPr>
              <a:t>目的主机</a:t>
            </a:r>
            <a:r>
              <a:rPr lang="zh-CN" altLang="en-US" sz="12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D</a:t>
            </a:r>
            <a:r>
              <a:rPr lang="zh-CN" altLang="en-US" sz="2400" smtClean="0">
                <a:ea typeface="黑体" panose="02010609060101010101" pitchFamily="49" charset="-122"/>
              </a:rPr>
              <a:t>；否则是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间接交付，</a:t>
            </a:r>
            <a:r>
              <a:rPr lang="zh-CN" altLang="en-US" sz="2400" smtClean="0">
                <a:ea typeface="黑体" panose="02010609060101010101" pitchFamily="49" charset="-122"/>
              </a:rPr>
              <a:t>执行</a:t>
            </a:r>
            <a:r>
              <a:rPr lang="en-US" altLang="zh-CN" sz="2400" smtClean="0">
                <a:ea typeface="黑体" panose="02010609060101010101" pitchFamily="49" charset="-122"/>
              </a:rPr>
              <a:t>(3)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(3) </a:t>
            </a:r>
            <a:r>
              <a:rPr lang="zh-CN" altLang="en-US" sz="2400" smtClean="0">
                <a:ea typeface="黑体" panose="02010609060101010101" pitchFamily="49" charset="-122"/>
              </a:rPr>
              <a:t>若路由表中有目的地址为 </a:t>
            </a:r>
            <a:r>
              <a:rPr lang="en-US" altLang="zh-CN" sz="2400" i="1" smtClean="0">
                <a:ea typeface="黑体" panose="02010609060101010101" pitchFamily="49" charset="-122"/>
              </a:rPr>
              <a:t>D </a:t>
            </a:r>
            <a:r>
              <a:rPr lang="zh-CN" altLang="en-US" sz="2400" smtClean="0">
                <a:ea typeface="黑体" panose="02010609060101010101" pitchFamily="49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特定主机路由，</a:t>
            </a:r>
            <a:r>
              <a:rPr lang="zh-CN" altLang="en-US" sz="2400" smtClean="0">
                <a:ea typeface="黑体" panose="02010609060101010101" pitchFamily="49" charset="-122"/>
              </a:rPr>
              <a:t>则把数据报传送给路由表中所指明的下一跳路由器；否则，执行</a:t>
            </a:r>
            <a:r>
              <a:rPr lang="en-US" altLang="zh-CN" sz="2400" smtClean="0">
                <a:ea typeface="黑体" panose="02010609060101010101" pitchFamily="49" charset="-122"/>
              </a:rPr>
              <a:t>(4)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(4) </a:t>
            </a:r>
            <a:r>
              <a:rPr lang="zh-CN" altLang="en-US" sz="2400" smtClean="0">
                <a:ea typeface="黑体" panose="02010609060101010101" pitchFamily="49" charset="-122"/>
              </a:rPr>
              <a:t>若路由表中有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到达网络 </a:t>
            </a:r>
            <a:r>
              <a:rPr lang="en-US" altLang="zh-CN" sz="2400" i="1" smtClean="0">
                <a:solidFill>
                  <a:srgbClr val="FF0000"/>
                </a:solidFill>
                <a:ea typeface="黑体" panose="02010609060101010101" pitchFamily="49" charset="-122"/>
              </a:rPr>
              <a:t>N 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的路由，</a:t>
            </a:r>
            <a:r>
              <a:rPr lang="zh-CN" altLang="en-US" sz="2400" smtClean="0">
                <a:ea typeface="黑体" panose="02010609060101010101" pitchFamily="49" charset="-122"/>
              </a:rPr>
              <a:t>则把数据报传送给路由表指明的下一跳路由器；否则，执行</a:t>
            </a:r>
            <a:r>
              <a:rPr lang="en-US" altLang="zh-CN" sz="2400" smtClean="0">
                <a:ea typeface="黑体" panose="02010609060101010101" pitchFamily="49" charset="-122"/>
              </a:rPr>
              <a:t>(5)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(5) </a:t>
            </a:r>
            <a:r>
              <a:rPr lang="zh-CN" altLang="en-US" sz="2400" smtClean="0">
                <a:ea typeface="黑体" panose="02010609060101010101" pitchFamily="49" charset="-122"/>
              </a:rPr>
              <a:t>若路由表中有一个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默认路由，</a:t>
            </a:r>
            <a:r>
              <a:rPr lang="zh-CN" altLang="en-US" sz="2400" smtClean="0">
                <a:ea typeface="黑体" panose="02010609060101010101" pitchFamily="49" charset="-122"/>
              </a:rPr>
              <a:t>则把数据报传送给路由表中所指明的默认路由器；否则，执行</a:t>
            </a:r>
            <a:r>
              <a:rPr lang="en-US" altLang="zh-CN" sz="2400" smtClean="0">
                <a:ea typeface="黑体" panose="02010609060101010101" pitchFamily="49" charset="-122"/>
              </a:rPr>
              <a:t>(6)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(6)  </a:t>
            </a:r>
            <a:r>
              <a:rPr lang="zh-CN" altLang="en-US" sz="2400" smtClean="0">
                <a:ea typeface="黑体" panose="02010609060101010101" pitchFamily="49" charset="-122"/>
              </a:rPr>
              <a:t>报告转发分组出错。 </a:t>
            </a:r>
          </a:p>
        </p:txBody>
      </p:sp>
      <p:sp>
        <p:nvSpPr>
          <p:cNvPr id="869383" name="Rectangle 8"/>
          <p:cNvSpPr>
            <a:spLocks noChangeArrowheads="1"/>
          </p:cNvSpPr>
          <p:nvPr/>
        </p:nvSpPr>
        <p:spPr bwMode="auto">
          <a:xfrm>
            <a:off x="0" y="30781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7E7695-ECFF-4F4C-BC43-421D0EEB1F26}" type="slidenum">
              <a:rPr lang="zh-CN" altLang="en-US" smtClean="0"/>
              <a:pPr eaLnBrk="1" hangingPunct="1"/>
              <a:t>54</a:t>
            </a:fld>
            <a:endParaRPr lang="en-US" altLang="zh-CN" smtClean="0"/>
          </a:p>
        </p:txBody>
      </p:sp>
      <p:sp>
        <p:nvSpPr>
          <p:cNvPr id="86938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关于路由表</a:t>
            </a:r>
          </a:p>
        </p:txBody>
      </p:sp>
      <p:sp>
        <p:nvSpPr>
          <p:cNvPr id="87142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路由表没有给分组指明到某个网络的完整路径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路由表指出，到某个网络应当先到某个路由器（即下一跳路由器）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在到达下一跳路由器后，再继续查找其路由表，知道再下一步应当到哪一个路由器。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这样一步一步地查找下去，直到最后到达目的网络。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87142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DB84B9-2A29-410C-BE95-401B05760320}" type="slidenum">
              <a:rPr lang="zh-CN" altLang="en-US" smtClean="0"/>
              <a:pPr eaLnBrk="1" hangingPunct="1"/>
              <a:t>55</a:t>
            </a:fld>
            <a:endParaRPr lang="en-US" altLang="zh-CN" smtClean="0"/>
          </a:p>
        </p:txBody>
      </p:sp>
      <p:sp>
        <p:nvSpPr>
          <p:cNvPr id="87142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68</TotalTime>
  <Words>5032</Words>
  <Application>Microsoft Office PowerPoint</Application>
  <PresentationFormat>A4 纸张(210x297 毫米)</PresentationFormat>
  <Paragraphs>1300</Paragraphs>
  <Slides>55</Slides>
  <Notes>49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55</vt:i4>
      </vt:variant>
    </vt:vector>
  </HeadingPairs>
  <TitlesOfParts>
    <vt:vector size="63" baseType="lpstr">
      <vt:lpstr>黑体</vt:lpstr>
      <vt:lpstr>宋体</vt:lpstr>
      <vt:lpstr>Arial</vt:lpstr>
      <vt:lpstr>Symbol</vt:lpstr>
      <vt:lpstr>Tahoma</vt:lpstr>
      <vt:lpstr>Times New Roman</vt:lpstr>
      <vt:lpstr>Wingdings</vt:lpstr>
      <vt:lpstr>Presentation</vt:lpstr>
      <vt:lpstr>第 4 章  网络层</vt:lpstr>
      <vt:lpstr>第 4 章  网络层</vt:lpstr>
      <vt:lpstr>4.2.3  IP 地址与硬件地址</vt:lpstr>
      <vt:lpstr>4.2.3  IP 地址与硬件地址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主机 H1 与 H2 通信中使用的 IP地址 与 硬件地址HA</vt:lpstr>
      <vt:lpstr>4.2.4  地址解析协议 ARP</vt:lpstr>
      <vt:lpstr>地址解析协议 ARP 的作用</vt:lpstr>
      <vt:lpstr>地址解析协议 ARP 要点</vt:lpstr>
      <vt:lpstr>地址解析协议 ARP 要点</vt:lpstr>
      <vt:lpstr>地址解析协议 ARP 要点</vt:lpstr>
      <vt:lpstr>PowerPoint 演示文稿</vt:lpstr>
      <vt:lpstr>ARP 高速缓存的作用</vt:lpstr>
      <vt:lpstr>应当注意的问题</vt:lpstr>
      <vt:lpstr>应当注意的问题（续）</vt:lpstr>
      <vt:lpstr>使用 ARP 的四种典型情况 </vt:lpstr>
      <vt:lpstr>使用 ARP 的四种典型情况 </vt:lpstr>
      <vt:lpstr>为什么我们不直接使用硬件地址进行通信？ </vt:lpstr>
      <vt:lpstr>4.2.5  IP 数据报的格式 </vt:lpstr>
      <vt:lpstr>PowerPoint 演示文稿</vt:lpstr>
      <vt:lpstr>PowerPoint 演示文稿</vt:lpstr>
      <vt:lpstr>PowerPoint 演示文稿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【例4-1】 IP 数据报分片</vt:lpstr>
      <vt:lpstr>【例4-1】 IP 数据报分片</vt:lpstr>
      <vt:lpstr>【例4-1】 IP 数据报分片</vt:lpstr>
      <vt:lpstr>1.  IP 数据报首部的固定部分中的各字段 </vt:lpstr>
      <vt:lpstr>1.  IP 数据报首部的固定部分中的各字段 </vt:lpstr>
      <vt:lpstr>PowerPoint 演示文稿</vt:lpstr>
      <vt:lpstr>1.  IP 数据报首部的固定部分中的各字段 </vt:lpstr>
      <vt:lpstr>PowerPoint 演示文稿</vt:lpstr>
      <vt:lpstr>1.  IP 数据报首部的固定部分中的各字段 </vt:lpstr>
      <vt:lpstr>2.  IP 数据报首部的可变部分 </vt:lpstr>
      <vt:lpstr>4.2.6  IP 层转发分组的流程 </vt:lpstr>
      <vt:lpstr>PowerPoint 演示文稿</vt:lpstr>
      <vt:lpstr>查找路由表</vt:lpstr>
      <vt:lpstr>特定主机路由 </vt:lpstr>
      <vt:lpstr>默认路由 (default route)</vt:lpstr>
      <vt:lpstr>默认路由举例</vt:lpstr>
      <vt:lpstr>必须强调指出 </vt:lpstr>
      <vt:lpstr>路由器分组转发算法 </vt:lpstr>
      <vt:lpstr>关于路由表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59</cp:revision>
  <cp:lastPrinted>2020-03-23T11:40:12Z</cp:lastPrinted>
  <dcterms:created xsi:type="dcterms:W3CDTF">2016-10-01T05:27:00Z</dcterms:created>
  <dcterms:modified xsi:type="dcterms:W3CDTF">2021-01-21T12:54:32Z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
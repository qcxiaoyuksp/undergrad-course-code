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handoutMasterIdLst>
    <p:handoutMasterId r:id="rId63"/>
  </p:handoutMasterIdLst>
  <p:sldIdLst>
    <p:sldId id="1956" r:id="rId2"/>
    <p:sldId id="1957" r:id="rId3"/>
    <p:sldId id="2066" r:id="rId4"/>
    <p:sldId id="2067" r:id="rId5"/>
    <p:sldId id="2068" r:id="rId6"/>
    <p:sldId id="2069" r:id="rId7"/>
    <p:sldId id="2070" r:id="rId8"/>
    <p:sldId id="2071" r:id="rId9"/>
    <p:sldId id="2072" r:id="rId10"/>
    <p:sldId id="2073" r:id="rId11"/>
    <p:sldId id="2074" r:id="rId12"/>
    <p:sldId id="2075" r:id="rId13"/>
    <p:sldId id="2076" r:id="rId14"/>
    <p:sldId id="2077" r:id="rId15"/>
    <p:sldId id="2078" r:id="rId16"/>
    <p:sldId id="2079" r:id="rId17"/>
    <p:sldId id="2080" r:id="rId18"/>
    <p:sldId id="2081" r:id="rId19"/>
    <p:sldId id="2082" r:id="rId20"/>
    <p:sldId id="2083" r:id="rId21"/>
    <p:sldId id="2084" r:id="rId22"/>
    <p:sldId id="2085" r:id="rId23"/>
    <p:sldId id="2086" r:id="rId24"/>
    <p:sldId id="2087" r:id="rId25"/>
    <p:sldId id="2088" r:id="rId26"/>
    <p:sldId id="2089" r:id="rId27"/>
    <p:sldId id="2090" r:id="rId28"/>
    <p:sldId id="2091" r:id="rId29"/>
    <p:sldId id="2092" r:id="rId30"/>
    <p:sldId id="2093" r:id="rId31"/>
    <p:sldId id="2094" r:id="rId32"/>
    <p:sldId id="2095" r:id="rId33"/>
    <p:sldId id="2096" r:id="rId34"/>
    <p:sldId id="2097" r:id="rId35"/>
    <p:sldId id="2098" r:id="rId36"/>
    <p:sldId id="2099" r:id="rId37"/>
    <p:sldId id="2100" r:id="rId38"/>
    <p:sldId id="2101" r:id="rId39"/>
    <p:sldId id="2102" r:id="rId40"/>
    <p:sldId id="2103" r:id="rId41"/>
    <p:sldId id="2104" r:id="rId42"/>
    <p:sldId id="2105" r:id="rId43"/>
    <p:sldId id="2106" r:id="rId44"/>
    <p:sldId id="2107" r:id="rId45"/>
    <p:sldId id="2108" r:id="rId46"/>
    <p:sldId id="2109" r:id="rId47"/>
    <p:sldId id="2110" r:id="rId48"/>
    <p:sldId id="2111" r:id="rId49"/>
    <p:sldId id="2112" r:id="rId50"/>
    <p:sldId id="2113" r:id="rId51"/>
    <p:sldId id="2114" r:id="rId52"/>
    <p:sldId id="2115" r:id="rId53"/>
    <p:sldId id="2116" r:id="rId54"/>
    <p:sldId id="2117" r:id="rId55"/>
    <p:sldId id="2118" r:id="rId56"/>
    <p:sldId id="2119" r:id="rId57"/>
    <p:sldId id="2120" r:id="rId58"/>
    <p:sldId id="2121" r:id="rId59"/>
    <p:sldId id="2122" r:id="rId60"/>
    <p:sldId id="2123" r:id="rId61"/>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DD3D4F-8AFC-4693-A6E9-41E1313FB157}"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288194" name="Rectangle 2"/>
          <p:cNvSpPr>
            <a:spLocks noGrp="1" noRot="1" noChangeAspect="1" noChangeArrowheads="1" noTextEdit="1"/>
          </p:cNvSpPr>
          <p:nvPr>
            <p:ph type="sldImg" idx="4294967295"/>
          </p:nvPr>
        </p:nvSpPr>
        <p:spPr>
          <a:ln/>
        </p:spPr>
      </p:sp>
      <p:sp>
        <p:nvSpPr>
          <p:cNvPr id="1288195"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A941FA-6F51-48EB-8F78-66EBBE6B3324}"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1485826" name="Rectangle 2"/>
          <p:cNvSpPr>
            <a:spLocks noGrp="1" noRot="1" noChangeAspect="1" noChangeArrowheads="1" noTextEdit="1"/>
          </p:cNvSpPr>
          <p:nvPr>
            <p:ph type="sldImg" idx="4294967295"/>
          </p:nvPr>
        </p:nvSpPr>
        <p:spPr>
          <a:ln/>
        </p:spPr>
      </p:sp>
      <p:sp>
        <p:nvSpPr>
          <p:cNvPr id="1485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7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866791-96CA-4CA9-B849-79E180CF4E34}"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1487874" name="Rectangle 2"/>
          <p:cNvSpPr>
            <a:spLocks noGrp="1" noRot="1" noChangeAspect="1" noChangeArrowheads="1" noTextEdit="1"/>
          </p:cNvSpPr>
          <p:nvPr>
            <p:ph type="sldImg" idx="4294967295"/>
          </p:nvPr>
        </p:nvSpPr>
        <p:spPr>
          <a:ln/>
        </p:spPr>
      </p:sp>
      <p:sp>
        <p:nvSpPr>
          <p:cNvPr id="1487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70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1EFB0BA-08EF-47DE-A527-5AE6F1F64618}"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1497090" name="Rectangle 2"/>
          <p:cNvSpPr>
            <a:spLocks noGrp="1" noRot="1" noChangeAspect="1" noChangeArrowheads="1" noTextEdit="1"/>
          </p:cNvSpPr>
          <p:nvPr>
            <p:ph type="sldImg" idx="4294967295"/>
          </p:nvPr>
        </p:nvSpPr>
        <p:spPr>
          <a:ln/>
        </p:spPr>
      </p:sp>
      <p:sp>
        <p:nvSpPr>
          <p:cNvPr id="14970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9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4A32193-7E23-4134-9E47-D8848129DD76}" type="slidenum">
              <a:rPr lang="en-US" altLang="zh-CN" smtClean="0">
                <a:latin typeface="Arial" panose="020B0604020202020204" pitchFamily="34" charset="0"/>
              </a:rPr>
              <a:pPr/>
              <a:t>33</a:t>
            </a:fld>
            <a:endParaRPr lang="en-US" altLang="zh-CN" smtClean="0">
              <a:latin typeface="Arial" panose="020B0604020202020204" pitchFamily="34" charset="0"/>
            </a:endParaRPr>
          </a:p>
        </p:txBody>
      </p:sp>
      <p:sp>
        <p:nvSpPr>
          <p:cNvPr id="1519618" name="Rectangle 2"/>
          <p:cNvSpPr>
            <a:spLocks noGrp="1" noRot="1" noChangeAspect="1" noChangeArrowheads="1" noTextEdit="1"/>
          </p:cNvSpPr>
          <p:nvPr>
            <p:ph type="sldImg" idx="4294967295"/>
          </p:nvPr>
        </p:nvSpPr>
        <p:spPr>
          <a:ln/>
        </p:spPr>
      </p:sp>
      <p:sp>
        <p:nvSpPr>
          <p:cNvPr id="15196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1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37BADD2-59D6-46EA-9045-986A4DB7E7D5}" type="slidenum">
              <a:rPr lang="en-US" altLang="zh-CN" smtClean="0">
                <a:latin typeface="Arial" panose="020B0604020202020204" pitchFamily="34" charset="0"/>
              </a:rPr>
              <a:pPr/>
              <a:t>34</a:t>
            </a:fld>
            <a:endParaRPr lang="en-US" altLang="zh-CN" smtClean="0">
              <a:latin typeface="Arial" panose="020B0604020202020204" pitchFamily="34" charset="0"/>
            </a:endParaRPr>
          </a:p>
        </p:txBody>
      </p:sp>
      <p:sp>
        <p:nvSpPr>
          <p:cNvPr id="1521666" name="Rectangle 2"/>
          <p:cNvSpPr>
            <a:spLocks noGrp="1" noRot="1" noChangeAspect="1" noChangeArrowheads="1" noTextEdit="1"/>
          </p:cNvSpPr>
          <p:nvPr>
            <p:ph type="sldImg" idx="4294967295"/>
          </p:nvPr>
        </p:nvSpPr>
        <p:spPr>
          <a:ln/>
        </p:spPr>
      </p:sp>
      <p:sp>
        <p:nvSpPr>
          <p:cNvPr id="15216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3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27155EF-FBD1-4CD3-A242-5926F5677116}" type="slidenum">
              <a:rPr lang="en-US" altLang="zh-CN" smtClean="0">
                <a:latin typeface="Arial" panose="020B0604020202020204" pitchFamily="34" charset="0"/>
              </a:rPr>
              <a:pPr/>
              <a:t>35</a:t>
            </a:fld>
            <a:endParaRPr lang="en-US" altLang="zh-CN" smtClean="0">
              <a:latin typeface="Arial" panose="020B0604020202020204" pitchFamily="34" charset="0"/>
            </a:endParaRPr>
          </a:p>
        </p:txBody>
      </p:sp>
      <p:sp>
        <p:nvSpPr>
          <p:cNvPr id="1523714" name="Rectangle 2"/>
          <p:cNvSpPr>
            <a:spLocks noGrp="1" noRot="1" noChangeAspect="1" noChangeArrowheads="1" noTextEdit="1"/>
          </p:cNvSpPr>
          <p:nvPr>
            <p:ph type="sldImg" idx="4294967295"/>
          </p:nvPr>
        </p:nvSpPr>
        <p:spPr>
          <a:ln/>
        </p:spPr>
      </p:sp>
      <p:sp>
        <p:nvSpPr>
          <p:cNvPr id="15237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47B5EBE-C6E3-407A-9561-99B304EAAF11}" type="slidenum">
              <a:rPr lang="en-US" altLang="zh-CN" smtClean="0">
                <a:latin typeface="Arial" panose="020B0604020202020204" pitchFamily="34" charset="0"/>
              </a:rPr>
              <a:pPr/>
              <a:t>36</a:t>
            </a:fld>
            <a:endParaRPr lang="en-US" altLang="zh-CN" smtClean="0">
              <a:latin typeface="Arial" panose="020B0604020202020204" pitchFamily="34" charset="0"/>
            </a:endParaRPr>
          </a:p>
        </p:txBody>
      </p:sp>
      <p:sp>
        <p:nvSpPr>
          <p:cNvPr id="1525762" name="Rectangle 2"/>
          <p:cNvSpPr>
            <a:spLocks noGrp="1" noRot="1" noChangeAspect="1" noChangeArrowheads="1" noTextEdit="1"/>
          </p:cNvSpPr>
          <p:nvPr>
            <p:ph type="sldImg" idx="4294967295"/>
          </p:nvPr>
        </p:nvSpPr>
        <p:spPr>
          <a:ln/>
        </p:spPr>
      </p:sp>
      <p:sp>
        <p:nvSpPr>
          <p:cNvPr id="15257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6628DF8-2344-49AE-BF51-D22001A32106}" type="slidenum">
              <a:rPr lang="en-US" altLang="zh-CN" smtClean="0">
                <a:latin typeface="Arial" panose="020B0604020202020204" pitchFamily="34" charset="0"/>
              </a:rPr>
              <a:pPr/>
              <a:t>37</a:t>
            </a:fld>
            <a:endParaRPr lang="en-US" altLang="zh-CN" smtClean="0">
              <a:latin typeface="Arial" panose="020B0604020202020204" pitchFamily="34" charset="0"/>
            </a:endParaRPr>
          </a:p>
        </p:txBody>
      </p:sp>
      <p:sp>
        <p:nvSpPr>
          <p:cNvPr id="1527810" name="Rectangle 2"/>
          <p:cNvSpPr>
            <a:spLocks noGrp="1" noRot="1" noChangeAspect="1" noChangeArrowheads="1" noTextEdit="1"/>
          </p:cNvSpPr>
          <p:nvPr>
            <p:ph type="sldImg" idx="4294967295"/>
          </p:nvPr>
        </p:nvSpPr>
        <p:spPr>
          <a:ln/>
        </p:spPr>
      </p:sp>
      <p:sp>
        <p:nvSpPr>
          <p:cNvPr id="15278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9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BE80CD9-F7FD-4E44-BD32-8F413C1902D8}" type="slidenum">
              <a:rPr lang="en-US" altLang="zh-CN" smtClean="0">
                <a:latin typeface="Arial" panose="020B0604020202020204" pitchFamily="34" charset="0"/>
              </a:rPr>
              <a:pPr/>
              <a:t>38</a:t>
            </a:fld>
            <a:endParaRPr lang="en-US" altLang="zh-CN" smtClean="0">
              <a:latin typeface="Arial" panose="020B0604020202020204" pitchFamily="34" charset="0"/>
            </a:endParaRPr>
          </a:p>
        </p:txBody>
      </p:sp>
      <p:sp>
        <p:nvSpPr>
          <p:cNvPr id="1529858" name="Rectangle 2"/>
          <p:cNvSpPr>
            <a:spLocks noGrp="1" noRot="1" noChangeAspect="1" noChangeArrowheads="1" noTextEdit="1"/>
          </p:cNvSpPr>
          <p:nvPr>
            <p:ph type="sldImg" idx="4294967295"/>
          </p:nvPr>
        </p:nvSpPr>
        <p:spPr>
          <a:ln/>
        </p:spPr>
      </p:sp>
      <p:sp>
        <p:nvSpPr>
          <p:cNvPr id="15298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19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08BA516-7188-4DE5-ACB1-267542482C6F}" type="slidenum">
              <a:rPr lang="en-US" altLang="zh-CN" smtClean="0">
                <a:latin typeface="Arial" panose="020B0604020202020204" pitchFamily="34" charset="0"/>
              </a:rPr>
              <a:pPr/>
              <a:t>39</a:t>
            </a:fld>
            <a:endParaRPr lang="en-US" altLang="zh-CN" smtClean="0">
              <a:latin typeface="Arial" panose="020B0604020202020204" pitchFamily="34" charset="0"/>
            </a:endParaRPr>
          </a:p>
        </p:txBody>
      </p:sp>
      <p:sp>
        <p:nvSpPr>
          <p:cNvPr id="1531906" name="Rectangle 2"/>
          <p:cNvSpPr>
            <a:spLocks noGrp="1" noRot="1" noChangeAspect="1" noChangeArrowheads="1" noTextEdit="1"/>
          </p:cNvSpPr>
          <p:nvPr>
            <p:ph type="sldImg" idx="4294967295"/>
          </p:nvPr>
        </p:nvSpPr>
        <p:spPr>
          <a:ln/>
        </p:spPr>
      </p:sp>
      <p:sp>
        <p:nvSpPr>
          <p:cNvPr id="15319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3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9213D8-6518-4C04-9582-F2BC6E7C0FD5}" type="slidenum">
              <a:rPr lang="en-US" altLang="zh-CN" smtClean="0"/>
              <a:pPr eaLnBrk="1" hangingPunct="1"/>
              <a:t>40</a:t>
            </a:fld>
            <a:endParaRPr lang="en-US" altLang="zh-CN" smtClean="0"/>
          </a:p>
        </p:txBody>
      </p:sp>
      <p:sp>
        <p:nvSpPr>
          <p:cNvPr id="1533954" name="Rectangle 2"/>
          <p:cNvSpPr>
            <a:spLocks noGrp="1" noRot="1" noChangeAspect="1" noChangeArrowheads="1" noTextEdit="1"/>
          </p:cNvSpPr>
          <p:nvPr>
            <p:ph type="sldImg" idx="4294967295"/>
          </p:nvPr>
        </p:nvSpPr>
        <p:spPr>
          <a:ln/>
        </p:spPr>
      </p:sp>
      <p:sp>
        <p:nvSpPr>
          <p:cNvPr id="15339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3886971-CC55-4F09-A0CF-93F90AFF9E28}" type="slidenum">
              <a:rPr lang="en-US" altLang="zh-CN" smtClean="0">
                <a:latin typeface="Arial" panose="020B0604020202020204" pitchFamily="34" charset="0"/>
              </a:rPr>
              <a:pPr/>
              <a:t>41</a:t>
            </a:fld>
            <a:endParaRPr lang="en-US" altLang="zh-CN" smtClean="0">
              <a:latin typeface="Arial" panose="020B0604020202020204" pitchFamily="34" charset="0"/>
            </a:endParaRPr>
          </a:p>
        </p:txBody>
      </p:sp>
      <p:sp>
        <p:nvSpPr>
          <p:cNvPr id="1536002" name="Rectangle 2"/>
          <p:cNvSpPr>
            <a:spLocks noGrp="1" noRot="1" noChangeAspect="1" noChangeArrowheads="1" noTextEdit="1"/>
          </p:cNvSpPr>
          <p:nvPr>
            <p:ph type="sldImg" idx="4294967295"/>
          </p:nvPr>
        </p:nvSpPr>
        <p:spPr>
          <a:ln/>
        </p:spPr>
      </p:sp>
      <p:sp>
        <p:nvSpPr>
          <p:cNvPr id="15360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38C48B6-6EF3-46C0-9042-F62AFB035298}" type="slidenum">
              <a:rPr lang="en-US" altLang="zh-CN" smtClean="0">
                <a:latin typeface="Arial" panose="020B0604020202020204" pitchFamily="34" charset="0"/>
              </a:rPr>
              <a:pPr/>
              <a:t>42</a:t>
            </a:fld>
            <a:endParaRPr lang="en-US" altLang="zh-CN" smtClean="0">
              <a:latin typeface="Arial" panose="020B0604020202020204" pitchFamily="34" charset="0"/>
            </a:endParaRPr>
          </a:p>
        </p:txBody>
      </p:sp>
      <p:sp>
        <p:nvSpPr>
          <p:cNvPr id="1538050" name="Rectangle 2"/>
          <p:cNvSpPr>
            <a:spLocks noGrp="1" noRot="1" noChangeAspect="1" noChangeArrowheads="1" noTextEdit="1"/>
          </p:cNvSpPr>
          <p:nvPr>
            <p:ph type="sldImg" idx="4294967295"/>
          </p:nvPr>
        </p:nvSpPr>
        <p:spPr>
          <a:ln/>
        </p:spPr>
      </p:sp>
      <p:sp>
        <p:nvSpPr>
          <p:cNvPr id="15380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0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F9079CB-6C48-45A7-9DA4-9032B824A17C}" type="slidenum">
              <a:rPr lang="en-US" altLang="zh-CN" smtClean="0">
                <a:latin typeface="Arial" panose="020B0604020202020204" pitchFamily="34" charset="0"/>
              </a:rPr>
              <a:pPr/>
              <a:t>43</a:t>
            </a:fld>
            <a:endParaRPr lang="en-US" altLang="zh-CN" smtClean="0">
              <a:latin typeface="Arial" panose="020B0604020202020204" pitchFamily="34" charset="0"/>
            </a:endParaRPr>
          </a:p>
        </p:txBody>
      </p:sp>
      <p:sp>
        <p:nvSpPr>
          <p:cNvPr id="1540098" name="Rectangle 2"/>
          <p:cNvSpPr>
            <a:spLocks noGrp="1" noRot="1" noChangeAspect="1" noChangeArrowheads="1" noTextEdit="1"/>
          </p:cNvSpPr>
          <p:nvPr>
            <p:ph type="sldImg" idx="4294967295"/>
          </p:nvPr>
        </p:nvSpPr>
        <p:spPr>
          <a:ln/>
        </p:spPr>
      </p:sp>
      <p:sp>
        <p:nvSpPr>
          <p:cNvPr id="15400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2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AABC738-EA36-491B-8081-FC6F3AE661AA}" type="slidenum">
              <a:rPr lang="en-US" altLang="zh-CN" smtClean="0">
                <a:latin typeface="Arial" panose="020B0604020202020204" pitchFamily="34" charset="0"/>
              </a:rPr>
              <a:pPr/>
              <a:t>44</a:t>
            </a:fld>
            <a:endParaRPr lang="en-US" altLang="zh-CN" smtClean="0">
              <a:latin typeface="Arial" panose="020B0604020202020204" pitchFamily="34" charset="0"/>
            </a:endParaRPr>
          </a:p>
        </p:txBody>
      </p:sp>
      <p:sp>
        <p:nvSpPr>
          <p:cNvPr id="1542146" name="Rectangle 2"/>
          <p:cNvSpPr>
            <a:spLocks noGrp="1" noRot="1" noChangeAspect="1" noChangeArrowheads="1" noTextEdit="1"/>
          </p:cNvSpPr>
          <p:nvPr>
            <p:ph type="sldImg" idx="4294967295"/>
          </p:nvPr>
        </p:nvSpPr>
        <p:spPr>
          <a:ln/>
        </p:spPr>
      </p:sp>
      <p:sp>
        <p:nvSpPr>
          <p:cNvPr id="15421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4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C79097-F83C-4583-B9D9-492D38B5B3BD}" type="slidenum">
              <a:rPr lang="en-US" altLang="zh-CN" smtClean="0"/>
              <a:pPr eaLnBrk="1" hangingPunct="1"/>
              <a:t>45</a:t>
            </a:fld>
            <a:endParaRPr lang="en-US" altLang="zh-CN" smtClean="0"/>
          </a:p>
        </p:txBody>
      </p:sp>
      <p:sp>
        <p:nvSpPr>
          <p:cNvPr id="1544194" name="Rectangle 2"/>
          <p:cNvSpPr>
            <a:spLocks noGrp="1" noRot="1" noChangeAspect="1" noChangeArrowheads="1" noTextEdit="1"/>
          </p:cNvSpPr>
          <p:nvPr>
            <p:ph type="sldImg" idx="4294967295"/>
          </p:nvPr>
        </p:nvSpPr>
        <p:spPr>
          <a:ln/>
        </p:spPr>
      </p:sp>
      <p:sp>
        <p:nvSpPr>
          <p:cNvPr id="15441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C79611-D09F-4DBE-B60C-55C7A0D52B1A}" type="slidenum">
              <a:rPr lang="en-US" altLang="zh-CN" smtClean="0"/>
              <a:pPr eaLnBrk="1" hangingPunct="1"/>
              <a:t>46</a:t>
            </a:fld>
            <a:endParaRPr lang="en-US" altLang="zh-CN" smtClean="0"/>
          </a:p>
        </p:txBody>
      </p:sp>
      <p:sp>
        <p:nvSpPr>
          <p:cNvPr id="1546242" name="Rectangle 2"/>
          <p:cNvSpPr>
            <a:spLocks noGrp="1" noRot="1" noChangeAspect="1" noChangeArrowheads="1" noTextEdit="1"/>
          </p:cNvSpPr>
          <p:nvPr>
            <p:ph type="sldImg" idx="4294967295"/>
          </p:nvPr>
        </p:nvSpPr>
        <p:spPr>
          <a:ln/>
        </p:spPr>
      </p:sp>
      <p:sp>
        <p:nvSpPr>
          <p:cNvPr id="15462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8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170DFC9-695C-4D46-8803-4F1CCB3D70DC}" type="slidenum">
              <a:rPr lang="en-US" altLang="zh-CN" smtClean="0">
                <a:latin typeface="Arial" panose="020B0604020202020204" pitchFamily="34" charset="0"/>
              </a:rPr>
              <a:pPr/>
              <a:t>47</a:t>
            </a:fld>
            <a:endParaRPr lang="en-US" altLang="zh-CN" smtClean="0">
              <a:latin typeface="Arial" panose="020B0604020202020204" pitchFamily="34" charset="0"/>
            </a:endParaRPr>
          </a:p>
        </p:txBody>
      </p:sp>
      <p:sp>
        <p:nvSpPr>
          <p:cNvPr id="1548290" name="Rectangle 2"/>
          <p:cNvSpPr>
            <a:spLocks noGrp="1" noRot="1" noChangeAspect="1" noChangeArrowheads="1" noTextEdit="1"/>
          </p:cNvSpPr>
          <p:nvPr>
            <p:ph type="sldImg" idx="4294967295"/>
          </p:nvPr>
        </p:nvSpPr>
        <p:spPr>
          <a:ln/>
        </p:spPr>
      </p:sp>
      <p:sp>
        <p:nvSpPr>
          <p:cNvPr id="15482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0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8ADD80-7CFB-4322-A2BF-185EA9C5E3D5}" type="slidenum">
              <a:rPr lang="en-US" altLang="zh-CN" smtClean="0"/>
              <a:pPr eaLnBrk="1" hangingPunct="1"/>
              <a:t>48</a:t>
            </a:fld>
            <a:endParaRPr lang="en-US" altLang="zh-CN" smtClean="0"/>
          </a:p>
        </p:txBody>
      </p:sp>
      <p:sp>
        <p:nvSpPr>
          <p:cNvPr id="1550338" name="Rectangle 2"/>
          <p:cNvSpPr>
            <a:spLocks noGrp="1" noRot="1" noChangeAspect="1" noChangeArrowheads="1" noTextEdit="1"/>
          </p:cNvSpPr>
          <p:nvPr>
            <p:ph type="sldImg" idx="4294967295"/>
          </p:nvPr>
        </p:nvSpPr>
        <p:spPr>
          <a:ln/>
        </p:spPr>
      </p:sp>
      <p:sp>
        <p:nvSpPr>
          <p:cNvPr id="15503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2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44D4B20-6E73-4344-8E9A-1AA16029A529}" type="slidenum">
              <a:rPr lang="en-US" altLang="zh-CN" smtClean="0">
                <a:latin typeface="Arial" panose="020B0604020202020204" pitchFamily="34" charset="0"/>
              </a:rPr>
              <a:pPr/>
              <a:t>49</a:t>
            </a:fld>
            <a:endParaRPr lang="en-US" altLang="zh-CN" smtClean="0">
              <a:latin typeface="Arial" panose="020B0604020202020204" pitchFamily="34" charset="0"/>
            </a:endParaRPr>
          </a:p>
        </p:txBody>
      </p:sp>
      <p:sp>
        <p:nvSpPr>
          <p:cNvPr id="1552386" name="Rectangle 2"/>
          <p:cNvSpPr>
            <a:spLocks noGrp="1" noRot="1" noChangeAspect="1" noChangeArrowheads="1" noTextEdit="1"/>
          </p:cNvSpPr>
          <p:nvPr>
            <p:ph type="sldImg" idx="4294967295"/>
          </p:nvPr>
        </p:nvSpPr>
        <p:spPr>
          <a:ln/>
        </p:spPr>
      </p:sp>
      <p:sp>
        <p:nvSpPr>
          <p:cNvPr id="15523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3D07D1-7AA9-4CD7-A8EF-3181239F03B3}" type="slidenum">
              <a:rPr lang="en-US" altLang="zh-CN" smtClean="0">
                <a:latin typeface="宋体" panose="02010600030101010101" pitchFamily="2" charset="-122"/>
              </a:rPr>
              <a:pPr eaLnBrk="1" hangingPunct="1"/>
              <a:t>52</a:t>
            </a:fld>
            <a:endParaRPr lang="en-US" altLang="zh-CN" smtClean="0">
              <a:latin typeface="宋体" panose="02010600030101010101" pitchFamily="2" charset="-122"/>
            </a:endParaRPr>
          </a:p>
        </p:txBody>
      </p:sp>
      <p:sp>
        <p:nvSpPr>
          <p:cNvPr id="1556482" name="Rectangle 2"/>
          <p:cNvSpPr>
            <a:spLocks noGrp="1" noRot="1" noChangeAspect="1" noChangeArrowheads="1" noTextEdit="1"/>
          </p:cNvSpPr>
          <p:nvPr>
            <p:ph type="sldImg" idx="4294967295"/>
          </p:nvPr>
        </p:nvSpPr>
        <p:spPr>
          <a:ln/>
        </p:spPr>
      </p:sp>
      <p:sp>
        <p:nvSpPr>
          <p:cNvPr id="15564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2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E88EE0-3C04-433F-A9B7-68072E39DBB1}" type="slidenum">
              <a:rPr lang="en-US" altLang="zh-CN" smtClean="0">
                <a:latin typeface="宋体" panose="02010600030101010101" pitchFamily="2" charset="-122"/>
              </a:rPr>
              <a:pPr eaLnBrk="1" hangingPunct="1"/>
              <a:t>57</a:t>
            </a:fld>
            <a:endParaRPr lang="en-US" altLang="zh-CN" smtClean="0">
              <a:latin typeface="宋体" panose="02010600030101010101" pitchFamily="2" charset="-122"/>
            </a:endParaRPr>
          </a:p>
        </p:txBody>
      </p:sp>
      <p:sp>
        <p:nvSpPr>
          <p:cNvPr id="1562626" name="Rectangle 2"/>
          <p:cNvSpPr>
            <a:spLocks noGrp="1" noRot="1" noChangeAspect="1" noChangeArrowheads="1" noTextEdit="1"/>
          </p:cNvSpPr>
          <p:nvPr>
            <p:ph type="sldImg" idx="4294967295"/>
          </p:nvPr>
        </p:nvSpPr>
        <p:spPr>
          <a:ln/>
        </p:spPr>
      </p:sp>
      <p:sp>
        <p:nvSpPr>
          <p:cNvPr id="1562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4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8043A5-6632-4F75-93C5-5119671257BC}" type="slidenum">
              <a:rPr lang="en-US" altLang="zh-CN" smtClean="0">
                <a:latin typeface="宋体" panose="02010600030101010101" pitchFamily="2" charset="-122"/>
              </a:rPr>
              <a:pPr eaLnBrk="1" hangingPunct="1"/>
              <a:t>58</a:t>
            </a:fld>
            <a:endParaRPr lang="en-US" altLang="zh-CN" smtClean="0">
              <a:latin typeface="宋体" panose="02010600030101010101" pitchFamily="2" charset="-122"/>
            </a:endParaRPr>
          </a:p>
        </p:txBody>
      </p:sp>
      <p:sp>
        <p:nvSpPr>
          <p:cNvPr id="1564674" name="Rectangle 2"/>
          <p:cNvSpPr>
            <a:spLocks noGrp="1" noRot="1" noChangeAspect="1" noChangeArrowheads="1" noTextEdit="1"/>
          </p:cNvSpPr>
          <p:nvPr>
            <p:ph type="sldImg" idx="4294967295"/>
          </p:nvPr>
        </p:nvSpPr>
        <p:spPr>
          <a:ln/>
        </p:spPr>
      </p:sp>
      <p:sp>
        <p:nvSpPr>
          <p:cNvPr id="1564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DCFF37-BB50-48D7-A89F-D09C50DFD6F2}" type="slidenum">
              <a:rPr lang="en-US" altLang="zh-CN" smtClean="0">
                <a:latin typeface="宋体" panose="02010600030101010101" pitchFamily="2" charset="-122"/>
              </a:rPr>
              <a:pPr eaLnBrk="1" hangingPunct="1"/>
              <a:t>59</a:t>
            </a:fld>
            <a:endParaRPr lang="en-US" altLang="zh-CN" smtClean="0">
              <a:latin typeface="宋体" panose="02010600030101010101" pitchFamily="2" charset="-122"/>
            </a:endParaRPr>
          </a:p>
        </p:txBody>
      </p:sp>
      <p:sp>
        <p:nvSpPr>
          <p:cNvPr id="1566722" name="Rectangle 2"/>
          <p:cNvSpPr>
            <a:spLocks noGrp="1" noRot="1" noChangeAspect="1" noChangeArrowheads="1" noTextEdit="1"/>
          </p:cNvSpPr>
          <p:nvPr>
            <p:ph type="sldImg" idx="4294967295"/>
          </p:nvPr>
        </p:nvSpPr>
        <p:spPr>
          <a:ln/>
        </p:spPr>
      </p:sp>
      <p:sp>
        <p:nvSpPr>
          <p:cNvPr id="15667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169" name="Rectangle 2"/>
          <p:cNvSpPr>
            <a:spLocks noGrp="1" noChangeArrowheads="1"/>
          </p:cNvSpPr>
          <p:nvPr>
            <p:ph type="ctrTitle"/>
          </p:nvPr>
        </p:nvSpPr>
        <p:spPr/>
        <p:txBody>
          <a:bodyPr/>
          <a:lstStyle/>
          <a:p>
            <a:r>
              <a:rPr lang="zh-CN" altLang="en-US" smtClean="0">
                <a:latin typeface="Arial" panose="020B0604020202020204" pitchFamily="34" charset="0"/>
                <a:ea typeface="黑体" panose="02010609060101010101" pitchFamily="49" charset="-122"/>
              </a:rPr>
              <a:t>第 </a:t>
            </a:r>
            <a:r>
              <a:rPr lang="en-US" altLang="zh-CN" smtClean="0">
                <a:latin typeface="Arial" panose="020B0604020202020204" pitchFamily="34" charset="0"/>
                <a:ea typeface="黑体" panose="02010609060101010101" pitchFamily="49" charset="-122"/>
              </a:rPr>
              <a:t>5 </a:t>
            </a:r>
            <a:r>
              <a:rPr lang="zh-CN" altLang="en-US" smtClean="0">
                <a:latin typeface="Arial" panose="020B0604020202020204" pitchFamily="34" charset="0"/>
                <a:ea typeface="黑体" panose="02010609060101010101" pitchFamily="49" charset="-122"/>
              </a:rPr>
              <a:t>章  运输层</a:t>
            </a:r>
          </a:p>
        </p:txBody>
      </p:sp>
      <p:sp>
        <p:nvSpPr>
          <p:cNvPr id="1287170"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5.7-5.8</a:t>
            </a:r>
            <a:endParaRPr lang="zh-CN" altLang="en-US" dirty="0" smtClean="0">
              <a:latin typeface="黑体" panose="02010609060101010101" pitchFamily="49" charset="-122"/>
              <a:ea typeface="宋体" panose="02010600030101010101" pitchFamily="2" charset="-122"/>
            </a:endParaRPr>
          </a:p>
        </p:txBody>
      </p:sp>
      <p:sp>
        <p:nvSpPr>
          <p:cNvPr id="12871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45DFF6-F5DA-465C-B287-F18645B4BE58}" type="slidenum">
              <a:rPr lang="zh-CN" altLang="en-US" smtClean="0"/>
              <a:pPr eaLnBrk="1" hangingPunct="1"/>
              <a:t>1</a:t>
            </a:fld>
            <a:endParaRPr lang="en-US" altLang="zh-CN" smtClean="0"/>
          </a:p>
        </p:txBody>
      </p:sp>
      <p:sp>
        <p:nvSpPr>
          <p:cNvPr id="12871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217"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5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en-US" smtClean="0">
                <a:ea typeface="黑体" panose="02010609060101010101" pitchFamily="49" charset="-122"/>
              </a:rPr>
              <a:t>运输</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1289218" name="内容占位符 2"/>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5.7  TCP </a:t>
            </a:r>
            <a:r>
              <a:rPr lang="zh-CN" altLang="zh-CN" sz="2800" dirty="0" smtClean="0">
                <a:ea typeface="黑体" panose="02010609060101010101" pitchFamily="49" charset="-122"/>
              </a:rPr>
              <a:t>的流量控制</a:t>
            </a:r>
          </a:p>
          <a:p>
            <a:r>
              <a:rPr lang="en-US" altLang="zh-CN" sz="2800" dirty="0" smtClean="0">
                <a:ea typeface="黑体" panose="02010609060101010101" pitchFamily="49" charset="-122"/>
              </a:rPr>
              <a:t>5.8  TCP </a:t>
            </a:r>
            <a:r>
              <a:rPr lang="zh-CN" altLang="zh-CN" sz="2800" smtClean="0">
                <a:ea typeface="黑体" panose="02010609060101010101" pitchFamily="49" charset="-122"/>
              </a:rPr>
              <a:t>的拥塞控制</a:t>
            </a:r>
            <a:endParaRPr lang="zh-CN" altLang="zh-CN" sz="2800" dirty="0" smtClean="0">
              <a:ea typeface="黑体" panose="02010609060101010101" pitchFamily="49" charset="-122"/>
            </a:endParaRPr>
          </a:p>
        </p:txBody>
      </p:sp>
      <p:sp>
        <p:nvSpPr>
          <p:cNvPr id="12892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9FFB69-87C2-430A-9CCD-5067B2933901}" type="slidenum">
              <a:rPr lang="zh-CN" altLang="en-US" smtClean="0"/>
              <a:pPr eaLnBrk="1" hangingPunct="1"/>
              <a:t>2</a:t>
            </a:fld>
            <a:endParaRPr lang="en-US" altLang="zh-CN" smtClean="0"/>
          </a:p>
        </p:txBody>
      </p:sp>
      <p:sp>
        <p:nvSpPr>
          <p:cNvPr id="12892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5.7  TCP </a:t>
            </a:r>
            <a:r>
              <a:rPr lang="zh-CN" altLang="zh-CN" smtClean="0">
                <a:ea typeface="黑体" panose="02010609060101010101" pitchFamily="49" charset="-122"/>
              </a:rPr>
              <a:t>的流量控制</a:t>
            </a:r>
          </a:p>
        </p:txBody>
      </p:sp>
      <p:sp>
        <p:nvSpPr>
          <p:cNvPr id="1484802"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5.7.1  </a:t>
            </a:r>
            <a:r>
              <a:rPr lang="zh-CN" altLang="zh-CN" smtClean="0">
                <a:ea typeface="黑体" panose="02010609060101010101" pitchFamily="49" charset="-122"/>
              </a:rPr>
              <a:t>利用滑动窗口实现流量控制</a:t>
            </a:r>
          </a:p>
          <a:p>
            <a:r>
              <a:rPr lang="en-US" altLang="zh-CN" smtClean="0">
                <a:ea typeface="黑体" panose="02010609060101010101" pitchFamily="49" charset="-122"/>
              </a:rPr>
              <a:t>5.7.2  TCP </a:t>
            </a:r>
            <a:r>
              <a:rPr lang="zh-CN" altLang="zh-CN" smtClean="0">
                <a:ea typeface="黑体" panose="02010609060101010101" pitchFamily="49" charset="-122"/>
              </a:rPr>
              <a:t>的传输效率</a:t>
            </a:r>
          </a:p>
        </p:txBody>
      </p:sp>
      <p:sp>
        <p:nvSpPr>
          <p:cNvPr id="14848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610650-FC45-400F-8F1E-AF75F2FEE850}" type="slidenum">
              <a:rPr lang="zh-CN" altLang="en-US" smtClean="0"/>
              <a:pPr eaLnBrk="1" hangingPunct="1"/>
              <a:t>3</a:t>
            </a:fld>
            <a:endParaRPr lang="en-US" altLang="zh-CN" smtClean="0"/>
          </a:p>
        </p:txBody>
      </p:sp>
      <p:sp>
        <p:nvSpPr>
          <p:cNvPr id="14848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684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5.7.1  </a:t>
            </a:r>
            <a:r>
              <a:rPr lang="zh-CN" altLang="en-US" smtClean="0">
                <a:ea typeface="黑体" panose="02010609060101010101" pitchFamily="49" charset="-122"/>
              </a:rPr>
              <a:t>利用滑动窗口实现流量控制</a:t>
            </a:r>
          </a:p>
        </p:txBody>
      </p:sp>
      <p:sp>
        <p:nvSpPr>
          <p:cNvPr id="1486850"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一般说来，我们总是希望数据传输得更快一些。但如果发送方把数据发送得过快，接收方就可能来不及接收，这就会造成数据的丢失。</a:t>
            </a:r>
          </a:p>
          <a:p>
            <a:r>
              <a:rPr lang="zh-CN" altLang="en-US" smtClean="0">
                <a:solidFill>
                  <a:srgbClr val="FF0000"/>
                </a:solidFill>
                <a:ea typeface="黑体" panose="02010609060101010101" pitchFamily="49" charset="-122"/>
              </a:rPr>
              <a:t>流量控制</a:t>
            </a:r>
            <a:r>
              <a:rPr lang="zh-CN" altLang="en-US" smtClean="0">
                <a:solidFill>
                  <a:schemeClr val="hlink"/>
                </a:solidFill>
                <a:ea typeface="黑体" panose="02010609060101010101" pitchFamily="49" charset="-122"/>
              </a:rPr>
              <a:t> </a:t>
            </a:r>
            <a:r>
              <a:rPr lang="en-US" altLang="zh-CN" smtClean="0">
                <a:ea typeface="黑体" panose="02010609060101010101" pitchFamily="49" charset="-122"/>
              </a:rPr>
              <a:t>(flow control) </a:t>
            </a:r>
            <a:r>
              <a:rPr lang="zh-CN" altLang="en-US" smtClean="0">
                <a:ea typeface="黑体" panose="02010609060101010101" pitchFamily="49" charset="-122"/>
              </a:rPr>
              <a:t>就是让发送方的发送速率不要太快，既要让接收方来得及接收，也不要使网络发生拥塞。</a:t>
            </a:r>
          </a:p>
          <a:p>
            <a:pPr>
              <a:spcAft>
                <a:spcPct val="10000"/>
              </a:spcAft>
            </a:pPr>
            <a:r>
              <a:rPr lang="zh-CN" altLang="en-US" smtClean="0">
                <a:ea typeface="黑体" panose="02010609060101010101" pitchFamily="49" charset="-122"/>
              </a:rPr>
              <a:t>利用</a:t>
            </a:r>
            <a:r>
              <a:rPr lang="zh-CN" altLang="en-US" smtClean="0">
                <a:solidFill>
                  <a:srgbClr val="FF0000"/>
                </a:solidFill>
                <a:ea typeface="黑体" panose="02010609060101010101" pitchFamily="49" charset="-122"/>
              </a:rPr>
              <a:t>滑动窗口机制</a:t>
            </a:r>
            <a:r>
              <a:rPr lang="zh-CN" altLang="en-US" smtClean="0">
                <a:ea typeface="黑体" panose="02010609060101010101" pitchFamily="49" charset="-122"/>
              </a:rPr>
              <a:t>可以很方便地在 </a:t>
            </a:r>
            <a:r>
              <a:rPr lang="en-US" altLang="zh-CN" smtClean="0">
                <a:ea typeface="黑体" panose="02010609060101010101" pitchFamily="49" charset="-122"/>
              </a:rPr>
              <a:t>TCP </a:t>
            </a:r>
            <a:r>
              <a:rPr lang="zh-CN" altLang="en-US" smtClean="0">
                <a:ea typeface="黑体" panose="02010609060101010101" pitchFamily="49" charset="-122"/>
              </a:rPr>
              <a:t>连接上实现流量控制。 </a:t>
            </a:r>
          </a:p>
        </p:txBody>
      </p:sp>
      <p:sp>
        <p:nvSpPr>
          <p:cNvPr id="1486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052629-796E-4A0C-9113-46404CDB6210}" type="slidenum">
              <a:rPr lang="zh-CN" altLang="en-US" smtClean="0"/>
              <a:pPr eaLnBrk="1" hangingPunct="1"/>
              <a:t>4</a:t>
            </a:fld>
            <a:endParaRPr lang="en-US" altLang="zh-CN" smtClean="0"/>
          </a:p>
        </p:txBody>
      </p:sp>
      <p:sp>
        <p:nvSpPr>
          <p:cNvPr id="1486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8897" name="Line 4"/>
          <p:cNvSpPr>
            <a:spLocks noChangeShapeType="1"/>
          </p:cNvSpPr>
          <p:nvPr/>
        </p:nvSpPr>
        <p:spPr bwMode="auto">
          <a:xfrm>
            <a:off x="3919538" y="2279650"/>
            <a:ext cx="0" cy="413226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8898" name="Line 5"/>
          <p:cNvSpPr>
            <a:spLocks noChangeShapeType="1"/>
          </p:cNvSpPr>
          <p:nvPr/>
        </p:nvSpPr>
        <p:spPr bwMode="auto">
          <a:xfrm>
            <a:off x="450850" y="2438400"/>
            <a:ext cx="3457575"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899" name="Rectangle 6"/>
          <p:cNvSpPr>
            <a:spLocks noChangeArrowheads="1"/>
          </p:cNvSpPr>
          <p:nvPr/>
        </p:nvSpPr>
        <p:spPr bwMode="auto">
          <a:xfrm>
            <a:off x="1017588" y="2116138"/>
            <a:ext cx="17033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seq = 1, DATA</a:t>
            </a:r>
          </a:p>
        </p:txBody>
      </p:sp>
      <p:sp>
        <p:nvSpPr>
          <p:cNvPr id="1488900" name="Line 7"/>
          <p:cNvSpPr>
            <a:spLocks noChangeShapeType="1"/>
          </p:cNvSpPr>
          <p:nvPr/>
        </p:nvSpPr>
        <p:spPr bwMode="auto">
          <a:xfrm>
            <a:off x="452438" y="4989513"/>
            <a:ext cx="3451225"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01" name="Rectangle 8"/>
          <p:cNvSpPr>
            <a:spLocks noChangeArrowheads="1"/>
          </p:cNvSpPr>
          <p:nvPr/>
        </p:nvSpPr>
        <p:spPr bwMode="auto">
          <a:xfrm>
            <a:off x="1017588" y="4643438"/>
            <a:ext cx="196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seq = 201, DATA</a:t>
            </a:r>
          </a:p>
        </p:txBody>
      </p:sp>
      <p:sp>
        <p:nvSpPr>
          <p:cNvPr id="1488902" name="Line 9"/>
          <p:cNvSpPr>
            <a:spLocks noChangeShapeType="1"/>
          </p:cNvSpPr>
          <p:nvPr/>
        </p:nvSpPr>
        <p:spPr bwMode="auto">
          <a:xfrm>
            <a:off x="454025" y="4570413"/>
            <a:ext cx="3448050"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03" name="Rectangle 10"/>
          <p:cNvSpPr>
            <a:spLocks noChangeArrowheads="1"/>
          </p:cNvSpPr>
          <p:nvPr/>
        </p:nvSpPr>
        <p:spPr bwMode="auto">
          <a:xfrm>
            <a:off x="1017588" y="4225925"/>
            <a:ext cx="196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seq = 401, DATA</a:t>
            </a:r>
          </a:p>
        </p:txBody>
      </p:sp>
      <p:sp>
        <p:nvSpPr>
          <p:cNvPr id="1488904" name="Line 11"/>
          <p:cNvSpPr>
            <a:spLocks noChangeShapeType="1"/>
          </p:cNvSpPr>
          <p:nvPr/>
        </p:nvSpPr>
        <p:spPr bwMode="auto">
          <a:xfrm>
            <a:off x="447675" y="4135438"/>
            <a:ext cx="3462338"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05" name="Rectangle 12"/>
          <p:cNvSpPr>
            <a:spLocks noChangeArrowheads="1"/>
          </p:cNvSpPr>
          <p:nvPr/>
        </p:nvSpPr>
        <p:spPr bwMode="auto">
          <a:xfrm>
            <a:off x="1017588" y="3781425"/>
            <a:ext cx="196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seq = 301, DATA</a:t>
            </a:r>
          </a:p>
        </p:txBody>
      </p:sp>
      <p:sp>
        <p:nvSpPr>
          <p:cNvPr id="1488906" name="Line 13"/>
          <p:cNvSpPr>
            <a:spLocks noChangeShapeType="1"/>
          </p:cNvSpPr>
          <p:nvPr/>
        </p:nvSpPr>
        <p:spPr bwMode="auto">
          <a:xfrm>
            <a:off x="449263" y="2857500"/>
            <a:ext cx="3459162"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07" name="Rectangle 14"/>
          <p:cNvSpPr>
            <a:spLocks noChangeArrowheads="1"/>
          </p:cNvSpPr>
          <p:nvPr/>
        </p:nvSpPr>
        <p:spPr bwMode="auto">
          <a:xfrm>
            <a:off x="1017588" y="2519363"/>
            <a:ext cx="196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seq = 101, DATA</a:t>
            </a:r>
          </a:p>
        </p:txBody>
      </p:sp>
      <p:sp>
        <p:nvSpPr>
          <p:cNvPr id="1488908" name="Line 15"/>
          <p:cNvSpPr>
            <a:spLocks noChangeShapeType="1"/>
          </p:cNvSpPr>
          <p:nvPr/>
        </p:nvSpPr>
        <p:spPr bwMode="auto">
          <a:xfrm>
            <a:off x="444500" y="3300413"/>
            <a:ext cx="2322513"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09" name="Rectangle 16"/>
          <p:cNvSpPr>
            <a:spLocks noChangeArrowheads="1"/>
          </p:cNvSpPr>
          <p:nvPr/>
        </p:nvSpPr>
        <p:spPr bwMode="auto">
          <a:xfrm>
            <a:off x="1017588" y="2979738"/>
            <a:ext cx="196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seq = 201, DATA</a:t>
            </a:r>
          </a:p>
        </p:txBody>
      </p:sp>
      <p:sp>
        <p:nvSpPr>
          <p:cNvPr id="1488910" name="Line 17"/>
          <p:cNvSpPr>
            <a:spLocks noChangeShapeType="1"/>
          </p:cNvSpPr>
          <p:nvPr/>
        </p:nvSpPr>
        <p:spPr bwMode="auto">
          <a:xfrm>
            <a:off x="450850" y="5846763"/>
            <a:ext cx="3455988"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11" name="Rectangle 18"/>
          <p:cNvSpPr>
            <a:spLocks noChangeArrowheads="1"/>
          </p:cNvSpPr>
          <p:nvPr/>
        </p:nvSpPr>
        <p:spPr bwMode="auto">
          <a:xfrm>
            <a:off x="1095375" y="5530850"/>
            <a:ext cx="19637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seq = 501, DATA</a:t>
            </a:r>
          </a:p>
        </p:txBody>
      </p:sp>
      <p:sp>
        <p:nvSpPr>
          <p:cNvPr id="1488912" name="Line 19"/>
          <p:cNvSpPr>
            <a:spLocks noChangeShapeType="1"/>
          </p:cNvSpPr>
          <p:nvPr/>
        </p:nvSpPr>
        <p:spPr bwMode="auto">
          <a:xfrm flipH="1">
            <a:off x="419100" y="3725863"/>
            <a:ext cx="3519488" cy="0"/>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13" name="Rectangle 20"/>
          <p:cNvSpPr>
            <a:spLocks noChangeArrowheads="1"/>
          </p:cNvSpPr>
          <p:nvPr/>
        </p:nvSpPr>
        <p:spPr bwMode="auto">
          <a:xfrm flipH="1">
            <a:off x="552450" y="3403600"/>
            <a:ext cx="36941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ACK = 1, ack = 201, </a:t>
            </a:r>
            <a:r>
              <a:rPr lang="en-US" altLang="zh-CN" b="1">
                <a:solidFill>
                  <a:srgbClr val="FF0000"/>
                </a:solidFill>
                <a:ea typeface="黑体" panose="02010609060101010101" pitchFamily="49" charset="-122"/>
              </a:rPr>
              <a:t>rwnd = 300</a:t>
            </a:r>
          </a:p>
        </p:txBody>
      </p:sp>
      <p:sp>
        <p:nvSpPr>
          <p:cNvPr id="1488914" name="Line 21"/>
          <p:cNvSpPr>
            <a:spLocks noChangeShapeType="1"/>
          </p:cNvSpPr>
          <p:nvPr/>
        </p:nvSpPr>
        <p:spPr bwMode="auto">
          <a:xfrm flipH="1">
            <a:off x="431800" y="6276975"/>
            <a:ext cx="3495675" cy="0"/>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15" name="Rectangle 22"/>
          <p:cNvSpPr>
            <a:spLocks noChangeArrowheads="1"/>
          </p:cNvSpPr>
          <p:nvPr/>
        </p:nvSpPr>
        <p:spPr bwMode="auto">
          <a:xfrm flipH="1">
            <a:off x="550863" y="5954713"/>
            <a:ext cx="3305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ACK = 1, ack = 601, </a:t>
            </a:r>
            <a:r>
              <a:rPr lang="en-US" altLang="zh-CN" b="1">
                <a:solidFill>
                  <a:srgbClr val="FF0000"/>
                </a:solidFill>
                <a:ea typeface="黑体" panose="02010609060101010101" pitchFamily="49" charset="-122"/>
              </a:rPr>
              <a:t>rwnd = 0</a:t>
            </a:r>
          </a:p>
        </p:txBody>
      </p:sp>
      <p:sp>
        <p:nvSpPr>
          <p:cNvPr id="1488916" name="Line 23"/>
          <p:cNvSpPr>
            <a:spLocks noChangeShapeType="1"/>
          </p:cNvSpPr>
          <p:nvPr/>
        </p:nvSpPr>
        <p:spPr bwMode="auto">
          <a:xfrm flipH="1">
            <a:off x="414338" y="5418138"/>
            <a:ext cx="3524250" cy="0"/>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17" name="Rectangle 24"/>
          <p:cNvSpPr>
            <a:spLocks noChangeArrowheads="1"/>
          </p:cNvSpPr>
          <p:nvPr/>
        </p:nvSpPr>
        <p:spPr bwMode="auto">
          <a:xfrm flipH="1">
            <a:off x="471488" y="5103813"/>
            <a:ext cx="36941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ACK = 1, ack = 501, </a:t>
            </a:r>
            <a:r>
              <a:rPr lang="en-US" altLang="zh-CN" b="1">
                <a:solidFill>
                  <a:srgbClr val="FF0000"/>
                </a:solidFill>
                <a:ea typeface="黑体" panose="02010609060101010101" pitchFamily="49" charset="-122"/>
              </a:rPr>
              <a:t>rwnd = 100</a:t>
            </a:r>
          </a:p>
        </p:txBody>
      </p:sp>
      <p:sp>
        <p:nvSpPr>
          <p:cNvPr id="1488918" name="Rectangle 25"/>
          <p:cNvSpPr>
            <a:spLocks noChangeArrowheads="1"/>
          </p:cNvSpPr>
          <p:nvPr/>
        </p:nvSpPr>
        <p:spPr bwMode="auto">
          <a:xfrm>
            <a:off x="238125" y="1916113"/>
            <a:ext cx="36830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a:t>
            </a:r>
          </a:p>
        </p:txBody>
      </p:sp>
      <p:sp>
        <p:nvSpPr>
          <p:cNvPr id="1488919" name="Rectangle 26"/>
          <p:cNvSpPr>
            <a:spLocks noChangeArrowheads="1"/>
          </p:cNvSpPr>
          <p:nvPr/>
        </p:nvSpPr>
        <p:spPr bwMode="auto">
          <a:xfrm>
            <a:off x="3716338" y="1916113"/>
            <a:ext cx="36988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a:t>
            </a:r>
          </a:p>
        </p:txBody>
      </p:sp>
      <p:sp>
        <p:nvSpPr>
          <p:cNvPr id="1488920" name="Rectangle 27"/>
          <p:cNvSpPr>
            <a:spLocks noChangeArrowheads="1"/>
          </p:cNvSpPr>
          <p:nvPr/>
        </p:nvSpPr>
        <p:spPr bwMode="auto">
          <a:xfrm>
            <a:off x="4041775" y="3525838"/>
            <a:ext cx="4387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FF"/>
                </a:solidFill>
                <a:ea typeface="黑体" panose="02010609060101010101" pitchFamily="49" charset="-122"/>
              </a:rPr>
              <a:t>允许 </a:t>
            </a:r>
            <a:r>
              <a:rPr lang="en-US" altLang="zh-CN" b="1">
                <a:solidFill>
                  <a:srgbClr val="0000FF"/>
                </a:solidFill>
                <a:ea typeface="黑体" panose="02010609060101010101" pitchFamily="49" charset="-122"/>
              </a:rPr>
              <a:t>A </a:t>
            </a:r>
            <a:r>
              <a:rPr lang="zh-CN" altLang="en-US" b="1">
                <a:solidFill>
                  <a:srgbClr val="0000FF"/>
                </a:solidFill>
                <a:ea typeface="黑体" panose="02010609060101010101" pitchFamily="49" charset="-122"/>
              </a:rPr>
              <a:t>发送序号 </a:t>
            </a:r>
            <a:r>
              <a:rPr lang="en-US" altLang="zh-CN" b="1">
                <a:solidFill>
                  <a:srgbClr val="0000FF"/>
                </a:solidFill>
                <a:ea typeface="黑体" panose="02010609060101010101" pitchFamily="49" charset="-122"/>
              </a:rPr>
              <a:t>201 </a:t>
            </a:r>
            <a:r>
              <a:rPr lang="zh-CN" altLang="en-US" b="1">
                <a:solidFill>
                  <a:srgbClr val="0000FF"/>
                </a:solidFill>
                <a:ea typeface="黑体" panose="02010609060101010101" pitchFamily="49" charset="-122"/>
              </a:rPr>
              <a:t>至 </a:t>
            </a:r>
            <a:r>
              <a:rPr lang="en-US" altLang="zh-CN" b="1">
                <a:solidFill>
                  <a:srgbClr val="0000FF"/>
                </a:solidFill>
                <a:ea typeface="黑体" panose="02010609060101010101" pitchFamily="49" charset="-122"/>
              </a:rPr>
              <a:t>500  </a:t>
            </a:r>
            <a:r>
              <a:rPr lang="zh-CN" altLang="en-US" b="1">
                <a:solidFill>
                  <a:srgbClr val="0000FF"/>
                </a:solidFill>
                <a:ea typeface="黑体" panose="02010609060101010101" pitchFamily="49" charset="-122"/>
              </a:rPr>
              <a:t>共 </a:t>
            </a:r>
            <a:r>
              <a:rPr lang="en-US" altLang="zh-CN" b="1">
                <a:solidFill>
                  <a:srgbClr val="0000FF"/>
                </a:solidFill>
                <a:ea typeface="黑体" panose="02010609060101010101" pitchFamily="49" charset="-122"/>
              </a:rPr>
              <a:t>300 </a:t>
            </a:r>
            <a:r>
              <a:rPr lang="zh-CN" altLang="en-US" b="1">
                <a:solidFill>
                  <a:srgbClr val="0000FF"/>
                </a:solidFill>
                <a:ea typeface="黑体" panose="02010609060101010101" pitchFamily="49" charset="-122"/>
              </a:rPr>
              <a:t>字节</a:t>
            </a:r>
          </a:p>
        </p:txBody>
      </p:sp>
      <p:sp>
        <p:nvSpPr>
          <p:cNvPr id="1488921" name="Rectangle 28"/>
          <p:cNvSpPr>
            <a:spLocks noChangeArrowheads="1"/>
          </p:cNvSpPr>
          <p:nvPr/>
        </p:nvSpPr>
        <p:spPr bwMode="auto">
          <a:xfrm>
            <a:off x="4041775" y="2651125"/>
            <a:ext cx="490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dirty="0">
                <a:solidFill>
                  <a:srgbClr val="0000FF"/>
                </a:solidFill>
                <a:ea typeface="黑体" panose="02010609060101010101" pitchFamily="49" charset="-122"/>
              </a:rPr>
              <a:t>A </a:t>
            </a:r>
            <a:r>
              <a:rPr lang="zh-CN" altLang="en-US" b="1" dirty="0">
                <a:solidFill>
                  <a:srgbClr val="0000FF"/>
                </a:solidFill>
                <a:ea typeface="黑体" panose="02010609060101010101" pitchFamily="49" charset="-122"/>
              </a:rPr>
              <a:t>发送了序号 </a:t>
            </a:r>
            <a:r>
              <a:rPr lang="en-US" altLang="zh-CN" b="1" dirty="0">
                <a:solidFill>
                  <a:srgbClr val="0000FF"/>
                </a:solidFill>
                <a:ea typeface="黑体" panose="02010609060101010101" pitchFamily="49" charset="-122"/>
              </a:rPr>
              <a:t>101 </a:t>
            </a:r>
            <a:r>
              <a:rPr lang="zh-CN" altLang="en-US" b="1" dirty="0">
                <a:solidFill>
                  <a:srgbClr val="0000FF"/>
                </a:solidFill>
                <a:ea typeface="黑体" panose="02010609060101010101" pitchFamily="49" charset="-122"/>
              </a:rPr>
              <a:t>至 </a:t>
            </a:r>
            <a:r>
              <a:rPr lang="en-US" altLang="zh-CN" b="1" dirty="0">
                <a:solidFill>
                  <a:srgbClr val="0000FF"/>
                </a:solidFill>
                <a:ea typeface="黑体" panose="02010609060101010101" pitchFamily="49" charset="-122"/>
              </a:rPr>
              <a:t>200</a:t>
            </a:r>
            <a:r>
              <a:rPr lang="zh-CN" altLang="en-US" b="1" dirty="0">
                <a:solidFill>
                  <a:srgbClr val="0000FF"/>
                </a:solidFill>
                <a:ea typeface="黑体" panose="02010609060101010101" pitchFamily="49" charset="-122"/>
              </a:rPr>
              <a:t>，还能发送 </a:t>
            </a:r>
            <a:r>
              <a:rPr lang="en-US" altLang="zh-CN" b="1" dirty="0">
                <a:solidFill>
                  <a:srgbClr val="0000FF"/>
                </a:solidFill>
                <a:ea typeface="黑体" panose="02010609060101010101" pitchFamily="49" charset="-122"/>
              </a:rPr>
              <a:t>200 </a:t>
            </a:r>
            <a:r>
              <a:rPr lang="zh-CN" altLang="en-US" b="1" dirty="0">
                <a:solidFill>
                  <a:srgbClr val="0000FF"/>
                </a:solidFill>
                <a:ea typeface="黑体" panose="02010609060101010101" pitchFamily="49" charset="-122"/>
              </a:rPr>
              <a:t>字节</a:t>
            </a:r>
          </a:p>
        </p:txBody>
      </p:sp>
      <p:sp>
        <p:nvSpPr>
          <p:cNvPr id="1488922" name="Rectangle 29"/>
          <p:cNvSpPr>
            <a:spLocks noChangeArrowheads="1"/>
          </p:cNvSpPr>
          <p:nvPr/>
        </p:nvSpPr>
        <p:spPr bwMode="auto">
          <a:xfrm>
            <a:off x="4041775" y="3937000"/>
            <a:ext cx="5830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FF"/>
                </a:solidFill>
                <a:ea typeface="黑体" panose="02010609060101010101" pitchFamily="49" charset="-122"/>
              </a:rPr>
              <a:t>A </a:t>
            </a:r>
            <a:r>
              <a:rPr lang="zh-CN" altLang="en-US" b="1">
                <a:solidFill>
                  <a:srgbClr val="0000FF"/>
                </a:solidFill>
                <a:ea typeface="黑体" panose="02010609060101010101" pitchFamily="49" charset="-122"/>
              </a:rPr>
              <a:t>发送了序号 </a:t>
            </a:r>
            <a:r>
              <a:rPr lang="en-US" altLang="zh-CN" b="1">
                <a:solidFill>
                  <a:srgbClr val="0000FF"/>
                </a:solidFill>
                <a:ea typeface="黑体" panose="02010609060101010101" pitchFamily="49" charset="-122"/>
              </a:rPr>
              <a:t>301 </a:t>
            </a:r>
            <a:r>
              <a:rPr lang="zh-CN" altLang="en-US" b="1">
                <a:solidFill>
                  <a:srgbClr val="0000FF"/>
                </a:solidFill>
                <a:ea typeface="黑体" panose="02010609060101010101" pitchFamily="49" charset="-122"/>
              </a:rPr>
              <a:t>至 </a:t>
            </a:r>
            <a:r>
              <a:rPr lang="en-US" altLang="zh-CN" b="1">
                <a:solidFill>
                  <a:srgbClr val="0000FF"/>
                </a:solidFill>
                <a:ea typeface="黑体" panose="02010609060101010101" pitchFamily="49" charset="-122"/>
              </a:rPr>
              <a:t>400</a:t>
            </a:r>
            <a:r>
              <a:rPr lang="zh-CN" altLang="en-US" b="1">
                <a:solidFill>
                  <a:srgbClr val="0000FF"/>
                </a:solidFill>
                <a:ea typeface="黑体" panose="02010609060101010101" pitchFamily="49" charset="-122"/>
              </a:rPr>
              <a:t>，还能再发送 </a:t>
            </a:r>
            <a:r>
              <a:rPr lang="en-US" altLang="zh-CN" b="1">
                <a:solidFill>
                  <a:srgbClr val="0000FF"/>
                </a:solidFill>
                <a:ea typeface="黑体" panose="02010609060101010101" pitchFamily="49" charset="-122"/>
              </a:rPr>
              <a:t>100 </a:t>
            </a:r>
            <a:r>
              <a:rPr lang="zh-CN" altLang="en-US" b="1">
                <a:solidFill>
                  <a:srgbClr val="0000FF"/>
                </a:solidFill>
                <a:ea typeface="黑体" panose="02010609060101010101" pitchFamily="49" charset="-122"/>
              </a:rPr>
              <a:t>字节新数据</a:t>
            </a:r>
          </a:p>
        </p:txBody>
      </p:sp>
      <p:sp>
        <p:nvSpPr>
          <p:cNvPr id="1488923" name="Rectangle 30"/>
          <p:cNvSpPr>
            <a:spLocks noChangeArrowheads="1"/>
          </p:cNvSpPr>
          <p:nvPr/>
        </p:nvSpPr>
        <p:spPr bwMode="auto">
          <a:xfrm>
            <a:off x="4041775" y="2236788"/>
            <a:ext cx="46450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FF"/>
                </a:solidFill>
                <a:ea typeface="黑体" panose="02010609060101010101" pitchFamily="49" charset="-122"/>
              </a:rPr>
              <a:t>A </a:t>
            </a:r>
            <a:r>
              <a:rPr lang="zh-CN" altLang="en-US" b="1">
                <a:solidFill>
                  <a:srgbClr val="0000FF"/>
                </a:solidFill>
                <a:ea typeface="黑体" panose="02010609060101010101" pitchFamily="49" charset="-122"/>
              </a:rPr>
              <a:t>发送了序号 </a:t>
            </a:r>
            <a:r>
              <a:rPr lang="en-US" altLang="zh-CN" b="1">
                <a:solidFill>
                  <a:srgbClr val="0000FF"/>
                </a:solidFill>
                <a:ea typeface="黑体" panose="02010609060101010101" pitchFamily="49" charset="-122"/>
              </a:rPr>
              <a:t>1 </a:t>
            </a:r>
            <a:r>
              <a:rPr lang="zh-CN" altLang="en-US" b="1">
                <a:solidFill>
                  <a:srgbClr val="0000FF"/>
                </a:solidFill>
                <a:ea typeface="黑体" panose="02010609060101010101" pitchFamily="49" charset="-122"/>
              </a:rPr>
              <a:t>至 </a:t>
            </a:r>
            <a:r>
              <a:rPr lang="en-US" altLang="zh-CN" b="1">
                <a:solidFill>
                  <a:srgbClr val="0000FF"/>
                </a:solidFill>
                <a:ea typeface="黑体" panose="02010609060101010101" pitchFamily="49" charset="-122"/>
              </a:rPr>
              <a:t>100</a:t>
            </a:r>
            <a:r>
              <a:rPr lang="zh-CN" altLang="en-US" b="1">
                <a:solidFill>
                  <a:srgbClr val="0000FF"/>
                </a:solidFill>
                <a:ea typeface="黑体" panose="02010609060101010101" pitchFamily="49" charset="-122"/>
              </a:rPr>
              <a:t>，还能发送 </a:t>
            </a:r>
            <a:r>
              <a:rPr lang="en-US" altLang="zh-CN" b="1">
                <a:solidFill>
                  <a:srgbClr val="0000FF"/>
                </a:solidFill>
                <a:ea typeface="黑体" panose="02010609060101010101" pitchFamily="49" charset="-122"/>
              </a:rPr>
              <a:t>300 </a:t>
            </a:r>
            <a:r>
              <a:rPr lang="zh-CN" altLang="en-US" b="1">
                <a:solidFill>
                  <a:srgbClr val="0000FF"/>
                </a:solidFill>
                <a:ea typeface="黑体" panose="02010609060101010101" pitchFamily="49" charset="-122"/>
              </a:rPr>
              <a:t>字节</a:t>
            </a:r>
          </a:p>
        </p:txBody>
      </p:sp>
      <p:sp>
        <p:nvSpPr>
          <p:cNvPr id="1488924" name="Rectangle 31"/>
          <p:cNvSpPr>
            <a:spLocks noChangeArrowheads="1"/>
          </p:cNvSpPr>
          <p:nvPr/>
        </p:nvSpPr>
        <p:spPr bwMode="auto">
          <a:xfrm>
            <a:off x="4041775" y="4376738"/>
            <a:ext cx="5086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FF"/>
                </a:solidFill>
                <a:ea typeface="黑体" panose="02010609060101010101" pitchFamily="49" charset="-122"/>
              </a:rPr>
              <a:t>A </a:t>
            </a:r>
            <a:r>
              <a:rPr lang="zh-CN" altLang="en-US" b="1">
                <a:solidFill>
                  <a:srgbClr val="0000FF"/>
                </a:solidFill>
                <a:ea typeface="黑体" panose="02010609060101010101" pitchFamily="49" charset="-122"/>
              </a:rPr>
              <a:t>发送了序号 </a:t>
            </a:r>
            <a:r>
              <a:rPr lang="en-US" altLang="zh-CN" b="1">
                <a:solidFill>
                  <a:srgbClr val="0000FF"/>
                </a:solidFill>
                <a:ea typeface="黑体" panose="02010609060101010101" pitchFamily="49" charset="-122"/>
              </a:rPr>
              <a:t>401 </a:t>
            </a:r>
            <a:r>
              <a:rPr lang="zh-CN" altLang="en-US" b="1">
                <a:solidFill>
                  <a:srgbClr val="0000FF"/>
                </a:solidFill>
                <a:ea typeface="黑体" panose="02010609060101010101" pitchFamily="49" charset="-122"/>
              </a:rPr>
              <a:t>至 </a:t>
            </a:r>
            <a:r>
              <a:rPr lang="en-US" altLang="zh-CN" b="1">
                <a:solidFill>
                  <a:srgbClr val="0000FF"/>
                </a:solidFill>
                <a:ea typeface="黑体" panose="02010609060101010101" pitchFamily="49" charset="-122"/>
              </a:rPr>
              <a:t>500</a:t>
            </a:r>
            <a:r>
              <a:rPr lang="zh-CN" altLang="en-US" b="1">
                <a:solidFill>
                  <a:srgbClr val="0000FF"/>
                </a:solidFill>
                <a:ea typeface="黑体" panose="02010609060101010101" pitchFamily="49" charset="-122"/>
              </a:rPr>
              <a:t>，不能再发送新数据了</a:t>
            </a:r>
          </a:p>
        </p:txBody>
      </p:sp>
      <p:sp>
        <p:nvSpPr>
          <p:cNvPr id="1488925" name="Rectangle 32"/>
          <p:cNvSpPr>
            <a:spLocks noChangeArrowheads="1"/>
          </p:cNvSpPr>
          <p:nvPr/>
        </p:nvSpPr>
        <p:spPr bwMode="auto">
          <a:xfrm>
            <a:off x="4041775" y="4803775"/>
            <a:ext cx="4589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FF"/>
                </a:solidFill>
                <a:ea typeface="黑体" panose="02010609060101010101" pitchFamily="49" charset="-122"/>
              </a:rPr>
              <a:t>A </a:t>
            </a:r>
            <a:r>
              <a:rPr lang="zh-CN" altLang="en-US" b="1">
                <a:solidFill>
                  <a:srgbClr val="0000FF"/>
                </a:solidFill>
                <a:ea typeface="黑体" panose="02010609060101010101" pitchFamily="49" charset="-122"/>
              </a:rPr>
              <a:t>超时重传旧的数据，但不能发送新的数据</a:t>
            </a:r>
          </a:p>
        </p:txBody>
      </p:sp>
      <p:sp>
        <p:nvSpPr>
          <p:cNvPr id="1488926" name="Rectangle 33"/>
          <p:cNvSpPr>
            <a:spLocks noChangeArrowheads="1"/>
          </p:cNvSpPr>
          <p:nvPr/>
        </p:nvSpPr>
        <p:spPr bwMode="auto">
          <a:xfrm>
            <a:off x="4041775" y="5218113"/>
            <a:ext cx="45418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FF"/>
                </a:solidFill>
                <a:ea typeface="黑体" panose="02010609060101010101" pitchFamily="49" charset="-122"/>
              </a:rPr>
              <a:t>允许 </a:t>
            </a:r>
            <a:r>
              <a:rPr lang="en-US" altLang="zh-CN" b="1">
                <a:solidFill>
                  <a:srgbClr val="0000FF"/>
                </a:solidFill>
                <a:ea typeface="黑体" panose="02010609060101010101" pitchFamily="49" charset="-122"/>
              </a:rPr>
              <a:t>A </a:t>
            </a:r>
            <a:r>
              <a:rPr lang="zh-CN" altLang="en-US" b="1">
                <a:solidFill>
                  <a:srgbClr val="0000FF"/>
                </a:solidFill>
                <a:ea typeface="黑体" panose="02010609060101010101" pitchFamily="49" charset="-122"/>
              </a:rPr>
              <a:t>发送序号 </a:t>
            </a:r>
            <a:r>
              <a:rPr lang="en-US" altLang="zh-CN" b="1">
                <a:solidFill>
                  <a:srgbClr val="0000FF"/>
                </a:solidFill>
                <a:ea typeface="黑体" panose="02010609060101010101" pitchFamily="49" charset="-122"/>
              </a:rPr>
              <a:t>501 </a:t>
            </a:r>
            <a:r>
              <a:rPr lang="zh-CN" altLang="en-US" b="1">
                <a:solidFill>
                  <a:srgbClr val="0000FF"/>
                </a:solidFill>
                <a:ea typeface="黑体" panose="02010609060101010101" pitchFamily="49" charset="-122"/>
              </a:rPr>
              <a:t>至 </a:t>
            </a:r>
            <a:r>
              <a:rPr lang="en-US" altLang="zh-CN" b="1">
                <a:solidFill>
                  <a:srgbClr val="0000FF"/>
                </a:solidFill>
                <a:ea typeface="黑体" panose="02010609060101010101" pitchFamily="49" charset="-122"/>
              </a:rPr>
              <a:t>600 </a:t>
            </a:r>
            <a:r>
              <a:rPr lang="zh-CN" altLang="en-US" b="1">
                <a:solidFill>
                  <a:srgbClr val="0000FF"/>
                </a:solidFill>
                <a:ea typeface="黑体" panose="02010609060101010101" pitchFamily="49" charset="-122"/>
              </a:rPr>
              <a:t>共 </a:t>
            </a:r>
            <a:r>
              <a:rPr lang="en-US" altLang="zh-CN" b="1">
                <a:solidFill>
                  <a:srgbClr val="0000FF"/>
                </a:solidFill>
                <a:ea typeface="黑体" panose="02010609060101010101" pitchFamily="49" charset="-122"/>
              </a:rPr>
              <a:t>100 </a:t>
            </a:r>
            <a:r>
              <a:rPr lang="zh-CN" altLang="en-US" b="1">
                <a:solidFill>
                  <a:srgbClr val="0000FF"/>
                </a:solidFill>
                <a:ea typeface="黑体" panose="02010609060101010101" pitchFamily="49" charset="-122"/>
              </a:rPr>
              <a:t>字节</a:t>
            </a:r>
          </a:p>
        </p:txBody>
      </p:sp>
      <p:sp>
        <p:nvSpPr>
          <p:cNvPr id="1488927" name="Rectangle 34"/>
          <p:cNvSpPr>
            <a:spLocks noChangeArrowheads="1"/>
          </p:cNvSpPr>
          <p:nvPr/>
        </p:nvSpPr>
        <p:spPr bwMode="auto">
          <a:xfrm>
            <a:off x="4041775" y="5648325"/>
            <a:ext cx="4387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FF"/>
                </a:solidFill>
                <a:ea typeface="黑体" panose="02010609060101010101" pitchFamily="49" charset="-122"/>
              </a:rPr>
              <a:t>A </a:t>
            </a:r>
            <a:r>
              <a:rPr lang="zh-CN" altLang="en-US" b="1">
                <a:solidFill>
                  <a:srgbClr val="0000FF"/>
                </a:solidFill>
                <a:ea typeface="黑体" panose="02010609060101010101" pitchFamily="49" charset="-122"/>
              </a:rPr>
              <a:t>发送了序号 </a:t>
            </a:r>
            <a:r>
              <a:rPr lang="en-US" altLang="zh-CN" b="1">
                <a:solidFill>
                  <a:srgbClr val="0000FF"/>
                </a:solidFill>
                <a:ea typeface="黑体" panose="02010609060101010101" pitchFamily="49" charset="-122"/>
              </a:rPr>
              <a:t>501 </a:t>
            </a:r>
            <a:r>
              <a:rPr lang="zh-CN" altLang="en-US" b="1">
                <a:solidFill>
                  <a:srgbClr val="0000FF"/>
                </a:solidFill>
                <a:ea typeface="黑体" panose="02010609060101010101" pitchFamily="49" charset="-122"/>
              </a:rPr>
              <a:t>至 </a:t>
            </a:r>
            <a:r>
              <a:rPr lang="en-US" altLang="zh-CN" b="1">
                <a:solidFill>
                  <a:srgbClr val="0000FF"/>
                </a:solidFill>
                <a:ea typeface="黑体" panose="02010609060101010101" pitchFamily="49" charset="-122"/>
              </a:rPr>
              <a:t>600</a:t>
            </a:r>
            <a:r>
              <a:rPr lang="zh-CN" altLang="en-US" b="1">
                <a:solidFill>
                  <a:srgbClr val="0000FF"/>
                </a:solidFill>
                <a:ea typeface="黑体" panose="02010609060101010101" pitchFamily="49" charset="-122"/>
              </a:rPr>
              <a:t>，不能再发送了</a:t>
            </a:r>
          </a:p>
        </p:txBody>
      </p:sp>
      <p:sp>
        <p:nvSpPr>
          <p:cNvPr id="1488928" name="Rectangle 35"/>
          <p:cNvSpPr>
            <a:spLocks noChangeArrowheads="1"/>
          </p:cNvSpPr>
          <p:nvPr/>
        </p:nvSpPr>
        <p:spPr bwMode="auto">
          <a:xfrm>
            <a:off x="4041775" y="6094413"/>
            <a:ext cx="5622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FF"/>
                </a:solidFill>
                <a:ea typeface="黑体" panose="02010609060101010101" pitchFamily="49" charset="-122"/>
              </a:rPr>
              <a:t>不允许 </a:t>
            </a:r>
            <a:r>
              <a:rPr lang="en-US" altLang="zh-CN" b="1">
                <a:solidFill>
                  <a:srgbClr val="0000FF"/>
                </a:solidFill>
                <a:ea typeface="黑体" panose="02010609060101010101" pitchFamily="49" charset="-122"/>
              </a:rPr>
              <a:t>A </a:t>
            </a:r>
            <a:r>
              <a:rPr lang="zh-CN" altLang="en-US" b="1">
                <a:solidFill>
                  <a:srgbClr val="0000FF"/>
                </a:solidFill>
                <a:ea typeface="黑体" panose="02010609060101010101" pitchFamily="49" charset="-122"/>
              </a:rPr>
              <a:t>再发送（到序号 </a:t>
            </a:r>
            <a:r>
              <a:rPr lang="en-US" altLang="zh-CN" b="1">
                <a:solidFill>
                  <a:srgbClr val="0000FF"/>
                </a:solidFill>
                <a:ea typeface="黑体" panose="02010609060101010101" pitchFamily="49" charset="-122"/>
              </a:rPr>
              <a:t>600 </a:t>
            </a:r>
            <a:r>
              <a:rPr lang="zh-CN" altLang="en-US" b="1">
                <a:solidFill>
                  <a:srgbClr val="0000FF"/>
                </a:solidFill>
                <a:ea typeface="黑体" panose="02010609060101010101" pitchFamily="49" charset="-122"/>
              </a:rPr>
              <a:t>为止的数据都收到了）</a:t>
            </a:r>
          </a:p>
        </p:txBody>
      </p:sp>
      <p:sp>
        <p:nvSpPr>
          <p:cNvPr id="1488929" name="AutoShape 36"/>
          <p:cNvSpPr>
            <a:spLocks noChangeArrowheads="1"/>
          </p:cNvSpPr>
          <p:nvPr/>
        </p:nvSpPr>
        <p:spPr bwMode="auto">
          <a:xfrm>
            <a:off x="2957513" y="2924175"/>
            <a:ext cx="1260475" cy="547688"/>
          </a:xfrm>
          <a:prstGeom prst="irregularSeal1">
            <a:avLst/>
          </a:prstGeom>
          <a:solidFill>
            <a:srgbClr val="FF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8930" name="Rectangle 37"/>
          <p:cNvSpPr>
            <a:spLocks noChangeArrowheads="1"/>
          </p:cNvSpPr>
          <p:nvPr/>
        </p:nvSpPr>
        <p:spPr bwMode="auto">
          <a:xfrm>
            <a:off x="3201988" y="3019425"/>
            <a:ext cx="876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丢失！</a:t>
            </a:r>
          </a:p>
        </p:txBody>
      </p:sp>
      <p:sp>
        <p:nvSpPr>
          <p:cNvPr id="1488931" name="Line 38"/>
          <p:cNvSpPr>
            <a:spLocks noChangeShapeType="1"/>
          </p:cNvSpPr>
          <p:nvPr/>
        </p:nvSpPr>
        <p:spPr bwMode="auto">
          <a:xfrm>
            <a:off x="415925" y="2279650"/>
            <a:ext cx="0" cy="413226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8932" name="Rectangle 39"/>
          <p:cNvSpPr>
            <a:spLocks noGrp="1" noChangeArrowheads="1"/>
          </p:cNvSpPr>
          <p:nvPr>
            <p:ph type="title"/>
          </p:nvPr>
        </p:nvSpPr>
        <p:spPr/>
        <p:txBody>
          <a:bodyPr/>
          <a:lstStyle/>
          <a:p>
            <a:pPr algn="ctr"/>
            <a:r>
              <a:rPr lang="zh-CN" altLang="zh-CN" sz="4000" smtClean="0">
                <a:ea typeface="黑体" panose="02010609060101010101" pitchFamily="49" charset="-122"/>
              </a:rPr>
              <a:t>利用可变窗口进行流量控制举例</a:t>
            </a:r>
            <a:endParaRPr lang="zh-CN" altLang="en-US" sz="4000" smtClean="0">
              <a:ea typeface="黑体" panose="02010609060101010101" pitchFamily="49" charset="-122"/>
            </a:endParaRPr>
          </a:p>
        </p:txBody>
      </p:sp>
      <p:sp>
        <p:nvSpPr>
          <p:cNvPr id="1488933" name="Text Box 40"/>
          <p:cNvSpPr txBox="1">
            <a:spLocks noChangeArrowheads="1"/>
          </p:cNvSpPr>
          <p:nvPr/>
        </p:nvSpPr>
        <p:spPr bwMode="auto">
          <a:xfrm>
            <a:off x="611188" y="1127125"/>
            <a:ext cx="9015412" cy="83026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400" b="1">
                <a:solidFill>
                  <a:srgbClr val="000099"/>
                </a:solidFill>
                <a:ea typeface="黑体" panose="02010609060101010101" pitchFamily="49" charset="-122"/>
              </a:rPr>
              <a:t>A </a:t>
            </a:r>
            <a:r>
              <a:rPr lang="zh-CN" altLang="en-US" sz="2400" b="1">
                <a:solidFill>
                  <a:srgbClr val="000099"/>
                </a:solidFill>
                <a:ea typeface="黑体" panose="02010609060101010101" pitchFamily="49" charset="-122"/>
              </a:rPr>
              <a:t>向 </a:t>
            </a:r>
            <a:r>
              <a:rPr lang="en-US" altLang="zh-CN" sz="2400" b="1">
                <a:solidFill>
                  <a:srgbClr val="000099"/>
                </a:solidFill>
                <a:ea typeface="黑体" panose="02010609060101010101" pitchFamily="49" charset="-122"/>
              </a:rPr>
              <a:t>B </a:t>
            </a:r>
            <a:r>
              <a:rPr lang="zh-CN" altLang="en-US" sz="2400" b="1">
                <a:solidFill>
                  <a:srgbClr val="000099"/>
                </a:solidFill>
                <a:ea typeface="黑体" panose="02010609060101010101" pitchFamily="49" charset="-122"/>
              </a:rPr>
              <a:t>发送数据。在连接建立时，</a:t>
            </a:r>
            <a:r>
              <a:rPr lang="en-US" altLang="zh-CN" sz="2400" b="1">
                <a:solidFill>
                  <a:srgbClr val="000099"/>
                </a:solidFill>
                <a:ea typeface="黑体" panose="02010609060101010101" pitchFamily="49" charset="-122"/>
              </a:rPr>
              <a:t>B </a:t>
            </a:r>
            <a:r>
              <a:rPr lang="zh-CN" altLang="en-US" sz="2400" b="1">
                <a:solidFill>
                  <a:srgbClr val="000099"/>
                </a:solidFill>
                <a:ea typeface="黑体" panose="02010609060101010101" pitchFamily="49" charset="-122"/>
              </a:rPr>
              <a:t>告诉 </a:t>
            </a:r>
            <a:r>
              <a:rPr lang="en-US" altLang="zh-CN" sz="2400" b="1">
                <a:solidFill>
                  <a:srgbClr val="000099"/>
                </a:solidFill>
                <a:ea typeface="黑体" panose="02010609060101010101" pitchFamily="49" charset="-122"/>
              </a:rPr>
              <a:t>A</a:t>
            </a:r>
            <a:r>
              <a:rPr lang="zh-CN" altLang="en-US" sz="2400" b="1">
                <a:solidFill>
                  <a:srgbClr val="000099"/>
                </a:solidFill>
                <a:ea typeface="黑体" panose="02010609060101010101" pitchFamily="49" charset="-122"/>
              </a:rPr>
              <a:t>：</a:t>
            </a:r>
            <a:endParaRPr lang="en-US" altLang="zh-CN" sz="2400" b="1">
              <a:solidFill>
                <a:srgbClr val="000099"/>
              </a:solidFill>
              <a:ea typeface="黑体" panose="02010609060101010101" pitchFamily="49" charset="-122"/>
            </a:endParaRPr>
          </a:p>
          <a:p>
            <a:pPr eaLnBrk="0" hangingPunct="0"/>
            <a:r>
              <a:rPr lang="zh-CN" altLang="en-US" sz="2400" b="1">
                <a:solidFill>
                  <a:srgbClr val="000099"/>
                </a:solidFill>
                <a:ea typeface="黑体" panose="02010609060101010101" pitchFamily="49" charset="-122"/>
              </a:rPr>
              <a:t>“我的接收窗口 </a:t>
            </a:r>
            <a:r>
              <a:rPr lang="en-US" altLang="zh-CN" sz="2400" b="1">
                <a:solidFill>
                  <a:srgbClr val="000099"/>
                </a:solidFill>
                <a:ea typeface="黑体" panose="02010609060101010101" pitchFamily="49" charset="-122"/>
              </a:rPr>
              <a:t>rwnd = 400</a:t>
            </a:r>
            <a:r>
              <a:rPr lang="zh-CN" altLang="en-US" sz="2400" b="1">
                <a:solidFill>
                  <a:srgbClr val="000099"/>
                </a:solidFill>
                <a:ea typeface="黑体" panose="02010609060101010101" pitchFamily="49" charset="-122"/>
              </a:rPr>
              <a:t>（字节）”。</a:t>
            </a:r>
          </a:p>
        </p:txBody>
      </p:sp>
      <p:sp>
        <p:nvSpPr>
          <p:cNvPr id="148893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421315-99CA-4738-8365-7476091E8BA1}" type="slidenum">
              <a:rPr lang="zh-CN" altLang="en-US" smtClean="0"/>
              <a:pPr eaLnBrk="1" hangingPunct="1"/>
              <a:t>5</a:t>
            </a:fld>
            <a:endParaRPr lang="en-US" altLang="zh-CN" smtClean="0"/>
          </a:p>
        </p:txBody>
      </p:sp>
      <p:sp>
        <p:nvSpPr>
          <p:cNvPr id="148893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
        <p:nvSpPr>
          <p:cNvPr id="41" name="Rectangle 28"/>
          <p:cNvSpPr>
            <a:spLocks noChangeArrowheads="1"/>
          </p:cNvSpPr>
          <p:nvPr/>
        </p:nvSpPr>
        <p:spPr bwMode="auto">
          <a:xfrm>
            <a:off x="4016922" y="3062287"/>
            <a:ext cx="3923576"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dirty="0">
                <a:solidFill>
                  <a:srgbClr val="0000FF"/>
                </a:solidFill>
                <a:ea typeface="黑体" panose="02010609060101010101" pitchFamily="49" charset="-122"/>
              </a:rPr>
              <a:t>A </a:t>
            </a:r>
            <a:r>
              <a:rPr lang="zh-CN" altLang="en-US" b="1" dirty="0">
                <a:solidFill>
                  <a:srgbClr val="0000FF"/>
                </a:solidFill>
                <a:ea typeface="黑体" panose="02010609060101010101" pitchFamily="49" charset="-122"/>
              </a:rPr>
              <a:t>发送了序号 </a:t>
            </a:r>
            <a:r>
              <a:rPr lang="en-US" altLang="zh-CN" b="1" dirty="0" smtClean="0">
                <a:solidFill>
                  <a:srgbClr val="0000FF"/>
                </a:solidFill>
                <a:ea typeface="黑体" panose="02010609060101010101" pitchFamily="49" charset="-122"/>
              </a:rPr>
              <a:t>201 </a:t>
            </a:r>
            <a:r>
              <a:rPr lang="zh-CN" altLang="en-US" b="1" dirty="0">
                <a:solidFill>
                  <a:srgbClr val="0000FF"/>
                </a:solidFill>
                <a:ea typeface="黑体" panose="02010609060101010101" pitchFamily="49" charset="-122"/>
              </a:rPr>
              <a:t>至 </a:t>
            </a:r>
            <a:r>
              <a:rPr lang="en-US" altLang="zh-CN" b="1" dirty="0" smtClean="0">
                <a:solidFill>
                  <a:srgbClr val="0000FF"/>
                </a:solidFill>
                <a:ea typeface="黑体" panose="02010609060101010101" pitchFamily="49" charset="-122"/>
              </a:rPr>
              <a:t>300</a:t>
            </a:r>
            <a:r>
              <a:rPr lang="zh-CN" altLang="en-US" b="1" smtClean="0">
                <a:solidFill>
                  <a:srgbClr val="0000FF"/>
                </a:solidFill>
                <a:ea typeface="黑体" panose="02010609060101010101" pitchFamily="49" charset="-122"/>
              </a:rPr>
              <a:t>，但丢失了</a:t>
            </a:r>
            <a:endParaRPr lang="zh-CN" altLang="en-US" b="1" dirty="0">
              <a:solidFill>
                <a:srgbClr val="0000FF"/>
              </a:solidFill>
              <a:ea typeface="黑体" panose="02010609060101010101" pitchFamily="49"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9921"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可能发生死锁</a:t>
            </a:r>
          </a:p>
        </p:txBody>
      </p:sp>
      <p:sp>
        <p:nvSpPr>
          <p:cNvPr id="1489922" name="Rectangle 3"/>
          <p:cNvSpPr>
            <a:spLocks noGrp="1" noChangeArrowheads="1"/>
          </p:cNvSpPr>
          <p:nvPr>
            <p:ph idx="1"/>
          </p:nvPr>
        </p:nvSpPr>
        <p:spPr>
          <a:xfrm>
            <a:off x="495300" y="1196975"/>
            <a:ext cx="9066213" cy="4933950"/>
          </a:xfrm>
        </p:spPr>
        <p:txBody>
          <a:bodyPr/>
          <a:lstStyle/>
          <a:p>
            <a:r>
              <a:rPr lang="en-US" altLang="zh-CN" sz="2800" dirty="0" smtClean="0">
                <a:solidFill>
                  <a:srgbClr val="0000FF"/>
                </a:solidFill>
                <a:ea typeface="黑体" panose="02010609060101010101" pitchFamily="49" charset="-122"/>
              </a:rPr>
              <a:t>B </a:t>
            </a:r>
            <a:r>
              <a:rPr lang="zh-CN" altLang="zh-CN" sz="2800" dirty="0" smtClean="0">
                <a:solidFill>
                  <a:srgbClr val="0000FF"/>
                </a:solidFill>
                <a:ea typeface="黑体" panose="02010609060101010101" pitchFamily="49" charset="-122"/>
              </a:rPr>
              <a:t>向</a:t>
            </a:r>
            <a:r>
              <a:rPr lang="en-US" altLang="zh-CN" sz="2800" dirty="0" smtClean="0">
                <a:solidFill>
                  <a:srgbClr val="0000FF"/>
                </a:solidFill>
                <a:ea typeface="黑体" panose="02010609060101010101" pitchFamily="49" charset="-122"/>
              </a:rPr>
              <a:t> A </a:t>
            </a:r>
            <a:r>
              <a:rPr lang="zh-CN" altLang="zh-CN" sz="2800" dirty="0" smtClean="0">
                <a:ea typeface="黑体" panose="02010609060101010101" pitchFamily="49" charset="-122"/>
              </a:rPr>
              <a:t>发送了</a:t>
            </a:r>
            <a:r>
              <a:rPr lang="zh-CN" altLang="zh-CN" sz="2800" dirty="0" smtClean="0">
                <a:solidFill>
                  <a:srgbClr val="0000FF"/>
                </a:solidFill>
                <a:ea typeface="黑体" panose="02010609060101010101" pitchFamily="49" charset="-122"/>
              </a:rPr>
              <a:t>零窗口</a:t>
            </a:r>
            <a:r>
              <a:rPr lang="zh-CN" altLang="zh-CN" sz="2800" dirty="0" smtClean="0">
                <a:ea typeface="黑体" panose="02010609060101010101" pitchFamily="49" charset="-122"/>
              </a:rPr>
              <a:t>的报文段后不久，</a:t>
            </a:r>
            <a:r>
              <a:rPr lang="en-US" altLang="zh-CN" sz="2800" dirty="0" smtClean="0">
                <a:solidFill>
                  <a:srgbClr val="0000FF"/>
                </a:solidFill>
                <a:ea typeface="黑体" panose="02010609060101010101" pitchFamily="49" charset="-122"/>
              </a:rPr>
              <a:t>B</a:t>
            </a:r>
            <a:r>
              <a:rPr lang="en-US" altLang="zh-CN" sz="2800" dirty="0" smtClean="0">
                <a:ea typeface="黑体" panose="02010609060101010101" pitchFamily="49" charset="-122"/>
              </a:rPr>
              <a:t> </a:t>
            </a:r>
            <a:r>
              <a:rPr lang="zh-CN" altLang="zh-CN" sz="2800" dirty="0" smtClean="0">
                <a:ea typeface="黑体" panose="02010609060101010101" pitchFamily="49" charset="-122"/>
              </a:rPr>
              <a:t>的接收缓存</a:t>
            </a:r>
            <a:r>
              <a:rPr lang="zh-CN" altLang="zh-CN" sz="2800" dirty="0" smtClean="0">
                <a:solidFill>
                  <a:srgbClr val="0000FF"/>
                </a:solidFill>
                <a:ea typeface="黑体" panose="02010609060101010101" pitchFamily="49" charset="-122"/>
              </a:rPr>
              <a:t>又有</a:t>
            </a:r>
            <a:r>
              <a:rPr lang="zh-CN" altLang="zh-CN" sz="2800" dirty="0" smtClean="0">
                <a:ea typeface="黑体" panose="02010609060101010101" pitchFamily="49" charset="-122"/>
              </a:rPr>
              <a:t>了一些</a:t>
            </a:r>
            <a:r>
              <a:rPr lang="zh-CN" altLang="zh-CN" sz="2800" dirty="0" smtClean="0">
                <a:solidFill>
                  <a:srgbClr val="0000FF"/>
                </a:solidFill>
                <a:ea typeface="黑体" panose="02010609060101010101" pitchFamily="49" charset="-122"/>
              </a:rPr>
              <a:t>存储空间</a:t>
            </a:r>
            <a:r>
              <a:rPr lang="zh-CN" altLang="zh-CN" sz="2800" dirty="0" smtClean="0">
                <a:ea typeface="黑体" panose="02010609060101010101" pitchFamily="49" charset="-122"/>
              </a:rPr>
              <a:t>。于是</a:t>
            </a:r>
            <a:r>
              <a:rPr lang="en-US" altLang="zh-CN" sz="2800" dirty="0" smtClean="0">
                <a:ea typeface="黑体" panose="02010609060101010101" pitchFamily="49" charset="-122"/>
              </a:rPr>
              <a:t> B </a:t>
            </a:r>
            <a:r>
              <a:rPr lang="zh-CN" altLang="zh-CN" sz="2800" dirty="0" smtClean="0">
                <a:solidFill>
                  <a:srgbClr val="0000FF"/>
                </a:solidFill>
                <a:ea typeface="黑体" panose="02010609060101010101" pitchFamily="49" charset="-122"/>
              </a:rPr>
              <a:t>向</a:t>
            </a:r>
            <a:r>
              <a:rPr lang="en-US" altLang="zh-CN" sz="2800" dirty="0" smtClean="0">
                <a:solidFill>
                  <a:srgbClr val="0000FF"/>
                </a:solidFill>
                <a:ea typeface="黑体" panose="02010609060101010101" pitchFamily="49" charset="-122"/>
              </a:rPr>
              <a:t> A </a:t>
            </a:r>
            <a:r>
              <a:rPr lang="zh-CN" altLang="zh-CN" sz="2800" dirty="0" smtClean="0">
                <a:solidFill>
                  <a:srgbClr val="0000FF"/>
                </a:solidFill>
                <a:ea typeface="黑体" panose="02010609060101010101" pitchFamily="49" charset="-122"/>
              </a:rPr>
              <a:t>发送</a:t>
            </a:r>
            <a:r>
              <a:rPr lang="zh-CN" altLang="zh-CN" sz="2800" dirty="0" smtClean="0">
                <a:ea typeface="黑体" panose="02010609060101010101" pitchFamily="49" charset="-122"/>
              </a:rPr>
              <a:t>了</a:t>
            </a:r>
            <a:r>
              <a:rPr lang="en-US" altLang="zh-CN" sz="2800" dirty="0" smtClean="0">
                <a:ea typeface="黑体" panose="02010609060101010101" pitchFamily="49" charset="-122"/>
              </a:rPr>
              <a:t> </a:t>
            </a:r>
            <a:r>
              <a:rPr lang="en-US" altLang="zh-CN" sz="2800" dirty="0" err="1" smtClean="0">
                <a:solidFill>
                  <a:srgbClr val="0000FF"/>
                </a:solidFill>
                <a:ea typeface="黑体" panose="02010609060101010101" pitchFamily="49" charset="-122"/>
              </a:rPr>
              <a:t>rwnd</a:t>
            </a:r>
            <a:r>
              <a:rPr lang="en-US" altLang="zh-CN" sz="2800" dirty="0" smtClean="0">
                <a:solidFill>
                  <a:srgbClr val="0000FF"/>
                </a:solidFill>
                <a:ea typeface="黑体" panose="02010609060101010101" pitchFamily="49" charset="-122"/>
              </a:rPr>
              <a:t> = 400 </a:t>
            </a:r>
            <a:r>
              <a:rPr lang="zh-CN" altLang="zh-CN" sz="2800" dirty="0" smtClean="0">
                <a:ea typeface="黑体" panose="02010609060101010101" pitchFamily="49" charset="-122"/>
              </a:rPr>
              <a:t>的报文段。</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但</a:t>
            </a:r>
            <a:r>
              <a:rPr lang="zh-CN" altLang="zh-CN" sz="2800" dirty="0" smtClean="0">
                <a:ea typeface="黑体" panose="02010609060101010101" pitchFamily="49" charset="-122"/>
              </a:rPr>
              <a:t>这个报文段在传送过程中</a:t>
            </a:r>
            <a:r>
              <a:rPr lang="zh-CN" altLang="zh-CN" sz="2800" dirty="0" smtClean="0">
                <a:solidFill>
                  <a:srgbClr val="FF0000"/>
                </a:solidFill>
                <a:ea typeface="黑体" panose="02010609060101010101" pitchFamily="49" charset="-122"/>
              </a:rPr>
              <a:t>丢失</a:t>
            </a:r>
            <a:r>
              <a:rPr lang="zh-CN" altLang="zh-CN" sz="2800" dirty="0" smtClean="0">
                <a:ea typeface="黑体" panose="02010609060101010101" pitchFamily="49" charset="-122"/>
              </a:rPr>
              <a:t>了。</a:t>
            </a:r>
            <a:r>
              <a:rPr lang="en-US" altLang="zh-CN" sz="2800" dirty="0" smtClean="0">
                <a:solidFill>
                  <a:srgbClr val="0000FF"/>
                </a:solidFill>
                <a:ea typeface="黑体" panose="02010609060101010101" pitchFamily="49" charset="-122"/>
              </a:rPr>
              <a:t>A</a:t>
            </a:r>
            <a:r>
              <a:rPr lang="en-US" altLang="zh-CN" sz="2800" dirty="0" smtClean="0">
                <a:ea typeface="黑体" panose="02010609060101010101" pitchFamily="49" charset="-122"/>
              </a:rPr>
              <a:t> </a:t>
            </a:r>
            <a:r>
              <a:rPr lang="zh-CN" altLang="zh-CN" sz="2800" dirty="0" smtClean="0">
                <a:ea typeface="黑体" panose="02010609060101010101" pitchFamily="49" charset="-122"/>
              </a:rPr>
              <a:t>一直</a:t>
            </a:r>
            <a:r>
              <a:rPr lang="zh-CN" altLang="zh-CN" sz="2800" dirty="0" smtClean="0">
                <a:solidFill>
                  <a:srgbClr val="0000FF"/>
                </a:solidFill>
                <a:ea typeface="黑体" panose="02010609060101010101" pitchFamily="49" charset="-122"/>
              </a:rPr>
              <a:t>等</a:t>
            </a:r>
            <a:r>
              <a:rPr lang="zh-CN" altLang="zh-CN" sz="2800" dirty="0" smtClean="0">
                <a:ea typeface="黑体" panose="02010609060101010101" pitchFamily="49" charset="-122"/>
              </a:rPr>
              <a:t>待收到</a:t>
            </a:r>
            <a:r>
              <a:rPr lang="en-US" altLang="zh-CN" sz="2800" dirty="0" smtClean="0">
                <a:ea typeface="黑体" panose="02010609060101010101" pitchFamily="49" charset="-122"/>
              </a:rPr>
              <a:t> </a:t>
            </a:r>
            <a:r>
              <a:rPr lang="en-US" altLang="zh-CN" sz="2800" dirty="0" smtClean="0">
                <a:solidFill>
                  <a:srgbClr val="0000FF"/>
                </a:solidFill>
                <a:ea typeface="黑体" panose="02010609060101010101" pitchFamily="49" charset="-122"/>
              </a:rPr>
              <a:t>B </a:t>
            </a:r>
            <a:r>
              <a:rPr lang="zh-CN" altLang="zh-CN" sz="2800" dirty="0" smtClean="0">
                <a:ea typeface="黑体" panose="02010609060101010101" pitchFamily="49" charset="-122"/>
              </a:rPr>
              <a:t>发送的非零窗口的通知，而</a:t>
            </a:r>
            <a:r>
              <a:rPr lang="en-US" altLang="zh-CN" sz="2800" dirty="0" smtClean="0">
                <a:ea typeface="黑体" panose="02010609060101010101" pitchFamily="49" charset="-122"/>
              </a:rPr>
              <a:t> </a:t>
            </a:r>
            <a:r>
              <a:rPr lang="en-US" altLang="zh-CN" sz="2800" dirty="0" smtClean="0">
                <a:solidFill>
                  <a:srgbClr val="0000FF"/>
                </a:solidFill>
                <a:ea typeface="黑体" panose="02010609060101010101" pitchFamily="49" charset="-122"/>
              </a:rPr>
              <a:t>B</a:t>
            </a:r>
            <a:r>
              <a:rPr lang="en-US" altLang="zh-CN" sz="2800" dirty="0" smtClean="0">
                <a:ea typeface="黑体" panose="02010609060101010101" pitchFamily="49" charset="-122"/>
              </a:rPr>
              <a:t> </a:t>
            </a:r>
            <a:r>
              <a:rPr lang="zh-CN" altLang="zh-CN" sz="2800" dirty="0" smtClean="0">
                <a:ea typeface="黑体" panose="02010609060101010101" pitchFamily="49" charset="-122"/>
              </a:rPr>
              <a:t>也一直</a:t>
            </a:r>
            <a:r>
              <a:rPr lang="zh-CN" altLang="zh-CN" sz="2800" dirty="0" smtClean="0">
                <a:solidFill>
                  <a:srgbClr val="0000FF"/>
                </a:solidFill>
                <a:ea typeface="黑体" panose="02010609060101010101" pitchFamily="49" charset="-122"/>
              </a:rPr>
              <a:t>等</a:t>
            </a:r>
            <a:r>
              <a:rPr lang="zh-CN" altLang="zh-CN" sz="2800" dirty="0" smtClean="0">
                <a:ea typeface="黑体" panose="02010609060101010101" pitchFamily="49" charset="-122"/>
              </a:rPr>
              <a:t>待</a:t>
            </a:r>
            <a:r>
              <a:rPr lang="en-US" altLang="zh-CN" sz="2800" dirty="0" smtClean="0">
                <a:ea typeface="黑体" panose="02010609060101010101" pitchFamily="49" charset="-122"/>
              </a:rPr>
              <a:t> </a:t>
            </a:r>
            <a:r>
              <a:rPr lang="en-US" altLang="zh-CN" sz="2800" dirty="0" smtClean="0">
                <a:solidFill>
                  <a:srgbClr val="0000FF"/>
                </a:solidFill>
                <a:ea typeface="黑体" panose="02010609060101010101" pitchFamily="49" charset="-122"/>
              </a:rPr>
              <a:t>A</a:t>
            </a:r>
            <a:r>
              <a:rPr lang="en-US" altLang="zh-CN" sz="2800" dirty="0" smtClean="0">
                <a:ea typeface="黑体" panose="02010609060101010101" pitchFamily="49" charset="-122"/>
              </a:rPr>
              <a:t> </a:t>
            </a:r>
            <a:r>
              <a:rPr lang="zh-CN" altLang="zh-CN" sz="2800" dirty="0" smtClean="0">
                <a:ea typeface="黑体" panose="02010609060101010101" pitchFamily="49" charset="-122"/>
              </a:rPr>
              <a:t>发送的数据。</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如果没有其他措施，这种</a:t>
            </a:r>
            <a:r>
              <a:rPr lang="zh-CN" altLang="zh-CN" sz="2800" dirty="0" smtClean="0">
                <a:solidFill>
                  <a:srgbClr val="FF0000"/>
                </a:solidFill>
                <a:ea typeface="黑体" panose="02010609060101010101" pitchFamily="49" charset="-122"/>
              </a:rPr>
              <a:t>互相等待的死锁</a:t>
            </a:r>
            <a:r>
              <a:rPr lang="zh-CN" altLang="zh-CN" sz="2800" dirty="0" smtClean="0">
                <a:ea typeface="黑体" panose="02010609060101010101" pitchFamily="49" charset="-122"/>
              </a:rPr>
              <a:t>局面将一直延续下去。</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为了解决这个问题，</a:t>
            </a:r>
            <a:r>
              <a:rPr lang="en-US" altLang="zh-CN" sz="2800" dirty="0" smtClean="0">
                <a:ea typeface="黑体" panose="02010609060101010101" pitchFamily="49" charset="-122"/>
              </a:rPr>
              <a:t>TCP </a:t>
            </a:r>
            <a:r>
              <a:rPr lang="zh-CN" altLang="zh-CN" sz="2800" dirty="0" smtClean="0">
                <a:ea typeface="黑体" panose="02010609060101010101" pitchFamily="49" charset="-122"/>
              </a:rPr>
              <a:t>为每一个连接设有一个</a:t>
            </a:r>
            <a:r>
              <a:rPr lang="zh-CN" altLang="zh-CN" sz="2800" dirty="0" smtClean="0">
                <a:solidFill>
                  <a:srgbClr val="FF0000"/>
                </a:solidFill>
                <a:ea typeface="黑体" panose="02010609060101010101" pitchFamily="49" charset="-122"/>
              </a:rPr>
              <a:t>持续计时器</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(persistence timer)</a:t>
            </a:r>
            <a:r>
              <a:rPr lang="zh-CN" altLang="en-US" sz="2800" dirty="0" smtClean="0">
                <a:ea typeface="黑体" panose="02010609060101010101" pitchFamily="49" charset="-122"/>
              </a:rPr>
              <a:t>。</a:t>
            </a:r>
          </a:p>
        </p:txBody>
      </p:sp>
      <p:sp>
        <p:nvSpPr>
          <p:cNvPr id="14899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FA4C1F-7BF3-44AF-9C73-8D4A66D9F655}" type="slidenum">
              <a:rPr lang="zh-CN" altLang="en-US" smtClean="0"/>
              <a:pPr eaLnBrk="1" hangingPunct="1"/>
              <a:t>6</a:t>
            </a:fld>
            <a:endParaRPr lang="en-US" altLang="zh-CN" smtClean="0"/>
          </a:p>
        </p:txBody>
      </p:sp>
      <p:sp>
        <p:nvSpPr>
          <p:cNvPr id="14899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094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持续计时器</a:t>
            </a:r>
          </a:p>
        </p:txBody>
      </p:sp>
      <p:sp>
        <p:nvSpPr>
          <p:cNvPr id="1490946" name="Rectangle 3"/>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TCP </a:t>
            </a:r>
            <a:r>
              <a:rPr lang="zh-CN" altLang="en-US" sz="2800" dirty="0" smtClean="0">
                <a:ea typeface="黑体" panose="02010609060101010101" pitchFamily="49" charset="-122"/>
              </a:rPr>
              <a:t>为每一个连接设有一个</a:t>
            </a:r>
            <a:r>
              <a:rPr lang="zh-CN" altLang="en-US" sz="2800" dirty="0" smtClean="0">
                <a:solidFill>
                  <a:srgbClr val="FF0000"/>
                </a:solidFill>
                <a:ea typeface="黑体" panose="02010609060101010101" pitchFamily="49" charset="-122"/>
              </a:rPr>
              <a:t>持续计时器  </a:t>
            </a:r>
            <a:r>
              <a:rPr lang="en-US" altLang="zh-CN" sz="2800" dirty="0" smtClean="0">
                <a:ea typeface="黑体" panose="02010609060101010101" pitchFamily="49" charset="-122"/>
              </a:rPr>
              <a:t>(persistence timer) </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只要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连接的一方收到对方的</a:t>
            </a:r>
            <a:r>
              <a:rPr lang="zh-CN" altLang="en-US" sz="2800" dirty="0" smtClean="0">
                <a:solidFill>
                  <a:srgbClr val="FF0000"/>
                </a:solidFill>
                <a:ea typeface="黑体" panose="02010609060101010101" pitchFamily="49" charset="-122"/>
              </a:rPr>
              <a:t>零窗口</a:t>
            </a:r>
            <a:r>
              <a:rPr lang="zh-CN" altLang="en-US" sz="2800" dirty="0" smtClean="0">
                <a:ea typeface="黑体" panose="02010609060101010101" pitchFamily="49" charset="-122"/>
              </a:rPr>
              <a:t>通知，就</a:t>
            </a:r>
            <a:r>
              <a:rPr lang="zh-CN" altLang="en-US" sz="2800" dirty="0" smtClean="0">
                <a:solidFill>
                  <a:srgbClr val="FF0000"/>
                </a:solidFill>
                <a:ea typeface="黑体" panose="02010609060101010101" pitchFamily="49" charset="-122"/>
              </a:rPr>
              <a:t>启动该持续计时器</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若持续计时器设置的时间</a:t>
            </a:r>
            <a:r>
              <a:rPr lang="zh-CN" altLang="en-US" sz="2800" dirty="0" smtClean="0">
                <a:solidFill>
                  <a:srgbClr val="FF0000"/>
                </a:solidFill>
                <a:ea typeface="黑体" panose="02010609060101010101" pitchFamily="49" charset="-122"/>
              </a:rPr>
              <a:t>到期</a:t>
            </a:r>
            <a:r>
              <a:rPr lang="zh-CN" altLang="en-US" sz="2800" dirty="0" smtClean="0">
                <a:ea typeface="黑体" panose="02010609060101010101" pitchFamily="49" charset="-122"/>
              </a:rPr>
              <a:t>，就</a:t>
            </a:r>
            <a:r>
              <a:rPr lang="zh-CN" altLang="en-US" sz="2800" dirty="0" smtClean="0">
                <a:solidFill>
                  <a:srgbClr val="FF0000"/>
                </a:solidFill>
                <a:ea typeface="黑体" panose="02010609060101010101" pitchFamily="49" charset="-122"/>
              </a:rPr>
              <a:t>发送</a:t>
            </a:r>
            <a:r>
              <a:rPr lang="zh-CN" altLang="en-US" sz="2800" dirty="0" smtClean="0">
                <a:ea typeface="黑体" panose="02010609060101010101" pitchFamily="49" charset="-122"/>
              </a:rPr>
              <a:t>一个</a:t>
            </a:r>
            <a:r>
              <a:rPr lang="zh-CN" altLang="en-US" sz="2800" dirty="0" smtClean="0">
                <a:solidFill>
                  <a:srgbClr val="FF0000"/>
                </a:solidFill>
                <a:ea typeface="黑体" panose="02010609060101010101" pitchFamily="49" charset="-122"/>
              </a:rPr>
              <a:t>零窗口探测报文段</a:t>
            </a:r>
            <a:r>
              <a:rPr lang="zh-CN" altLang="en-US" sz="2800" dirty="0" smtClean="0">
                <a:ea typeface="黑体" panose="02010609060101010101" pitchFamily="49" charset="-122"/>
              </a:rPr>
              <a:t>（仅携带 </a:t>
            </a:r>
            <a:r>
              <a:rPr lang="en-US" altLang="zh-CN" sz="2800" dirty="0" smtClean="0">
                <a:ea typeface="黑体" panose="02010609060101010101" pitchFamily="49" charset="-122"/>
              </a:rPr>
              <a:t>1 </a:t>
            </a:r>
            <a:r>
              <a:rPr lang="zh-CN" altLang="en-US" sz="2800" dirty="0" smtClean="0">
                <a:ea typeface="黑体" panose="02010609060101010101" pitchFamily="49" charset="-122"/>
              </a:rPr>
              <a:t>字节的数据），而</a:t>
            </a:r>
            <a:r>
              <a:rPr lang="zh-CN" altLang="en-US" sz="2800" dirty="0" smtClean="0">
                <a:solidFill>
                  <a:srgbClr val="FF0000"/>
                </a:solidFill>
                <a:ea typeface="黑体" panose="02010609060101010101" pitchFamily="49" charset="-122"/>
              </a:rPr>
              <a:t>对方</a:t>
            </a:r>
            <a:r>
              <a:rPr lang="zh-CN" altLang="en-US" sz="2800" dirty="0" smtClean="0">
                <a:ea typeface="黑体" panose="02010609060101010101" pitchFamily="49" charset="-122"/>
              </a:rPr>
              <a:t>就在</a:t>
            </a:r>
            <a:r>
              <a:rPr lang="zh-CN" altLang="en-US" sz="2800" dirty="0" smtClean="0">
                <a:solidFill>
                  <a:srgbClr val="FF0000"/>
                </a:solidFill>
                <a:ea typeface="黑体" panose="02010609060101010101" pitchFamily="49" charset="-122"/>
              </a:rPr>
              <a:t>确认</a:t>
            </a:r>
            <a:r>
              <a:rPr lang="zh-CN" altLang="en-US" sz="2800" dirty="0" smtClean="0">
                <a:ea typeface="黑体" panose="02010609060101010101" pitchFamily="49" charset="-122"/>
              </a:rPr>
              <a:t>这个探测报文段时给出了</a:t>
            </a:r>
            <a:r>
              <a:rPr lang="zh-CN" altLang="en-US" sz="2800" dirty="0" smtClean="0">
                <a:solidFill>
                  <a:srgbClr val="FF0000"/>
                </a:solidFill>
                <a:ea typeface="黑体" panose="02010609060101010101" pitchFamily="49" charset="-122"/>
              </a:rPr>
              <a:t>现在的窗口值</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若窗口仍然是</a:t>
            </a:r>
            <a:r>
              <a:rPr lang="zh-CN" altLang="en-US" sz="2800" dirty="0" smtClean="0">
                <a:solidFill>
                  <a:srgbClr val="0000FF"/>
                </a:solidFill>
                <a:ea typeface="黑体" panose="02010609060101010101" pitchFamily="49" charset="-122"/>
              </a:rPr>
              <a:t>零</a:t>
            </a:r>
            <a:r>
              <a:rPr lang="zh-CN" altLang="en-US" sz="2800" dirty="0" smtClean="0">
                <a:ea typeface="黑体" panose="02010609060101010101" pitchFamily="49" charset="-122"/>
              </a:rPr>
              <a:t>，则收到这个报文段的一方就</a:t>
            </a:r>
            <a:r>
              <a:rPr lang="zh-CN" altLang="en-US" sz="2800" dirty="0" smtClean="0">
                <a:solidFill>
                  <a:srgbClr val="0000FF"/>
                </a:solidFill>
                <a:ea typeface="黑体" panose="02010609060101010101" pitchFamily="49" charset="-122"/>
              </a:rPr>
              <a:t>重新设置持续计时器</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若窗口</a:t>
            </a:r>
            <a:r>
              <a:rPr lang="zh-CN" altLang="en-US" sz="2800" dirty="0" smtClean="0">
                <a:solidFill>
                  <a:srgbClr val="0000FF"/>
                </a:solidFill>
                <a:ea typeface="黑体" panose="02010609060101010101" pitchFamily="49" charset="-122"/>
              </a:rPr>
              <a:t>不是零</a:t>
            </a:r>
            <a:r>
              <a:rPr lang="zh-CN" altLang="en-US" sz="2800" dirty="0" smtClean="0">
                <a:ea typeface="黑体" panose="02010609060101010101" pitchFamily="49" charset="-122"/>
              </a:rPr>
              <a:t>，则死锁的</a:t>
            </a:r>
            <a:r>
              <a:rPr lang="zh-CN" altLang="en-US" sz="2800" dirty="0" smtClean="0">
                <a:solidFill>
                  <a:srgbClr val="0000FF"/>
                </a:solidFill>
                <a:ea typeface="黑体" panose="02010609060101010101" pitchFamily="49" charset="-122"/>
              </a:rPr>
              <a:t>僵局</a:t>
            </a:r>
            <a:r>
              <a:rPr lang="zh-CN" altLang="en-US" sz="2800" dirty="0" smtClean="0">
                <a:ea typeface="黑体" panose="02010609060101010101" pitchFamily="49" charset="-122"/>
              </a:rPr>
              <a:t>就可以</a:t>
            </a:r>
            <a:r>
              <a:rPr lang="zh-CN" altLang="en-US" sz="2800" dirty="0" smtClean="0">
                <a:solidFill>
                  <a:srgbClr val="0000FF"/>
                </a:solidFill>
                <a:ea typeface="黑体" panose="02010609060101010101" pitchFamily="49" charset="-122"/>
              </a:rPr>
              <a:t>打破</a:t>
            </a:r>
            <a:r>
              <a:rPr lang="zh-CN" altLang="en-US" sz="2800" dirty="0" smtClean="0">
                <a:ea typeface="黑体" panose="02010609060101010101" pitchFamily="49" charset="-122"/>
              </a:rPr>
              <a:t>了。 </a:t>
            </a:r>
          </a:p>
        </p:txBody>
      </p:sp>
      <p:sp>
        <p:nvSpPr>
          <p:cNvPr id="1490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A781D43-7A4D-433E-9FB8-E41BE9EA1E38}" type="slidenum">
              <a:rPr lang="zh-CN" altLang="en-US" smtClean="0"/>
              <a:pPr eaLnBrk="1" hangingPunct="1"/>
              <a:t>7</a:t>
            </a:fld>
            <a:endParaRPr lang="en-US" altLang="zh-CN" smtClean="0"/>
          </a:p>
        </p:txBody>
      </p:sp>
      <p:sp>
        <p:nvSpPr>
          <p:cNvPr id="1490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19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5.7.2  </a:t>
            </a:r>
            <a:r>
              <a:rPr lang="zh-CN" altLang="en-US" smtClean="0">
                <a:ea typeface="黑体" panose="02010609060101010101" pitchFamily="49" charset="-122"/>
              </a:rPr>
              <a:t>必须考虑传输效率</a:t>
            </a:r>
          </a:p>
        </p:txBody>
      </p:sp>
      <p:sp>
        <p:nvSpPr>
          <p:cNvPr id="1491970"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可以用不同的机制来控制 </a:t>
            </a:r>
            <a:r>
              <a:rPr lang="en-US" altLang="zh-CN" sz="2800" dirty="0" smtClean="0">
                <a:solidFill>
                  <a:srgbClr val="FF0000"/>
                </a:solidFill>
                <a:ea typeface="黑体" panose="02010609060101010101" pitchFamily="49" charset="-122"/>
              </a:rPr>
              <a:t>TCP </a:t>
            </a:r>
            <a:r>
              <a:rPr lang="zh-CN" altLang="en-US" sz="2800" dirty="0" smtClean="0">
                <a:solidFill>
                  <a:srgbClr val="FF0000"/>
                </a:solidFill>
                <a:ea typeface="黑体" panose="02010609060101010101" pitchFamily="49" charset="-122"/>
              </a:rPr>
              <a:t>报文段</a:t>
            </a:r>
            <a:r>
              <a:rPr lang="zh-CN" altLang="en-US" sz="2800" dirty="0" smtClean="0">
                <a:ea typeface="黑体" panose="02010609060101010101" pitchFamily="49" charset="-122"/>
              </a:rPr>
              <a:t>的</a:t>
            </a:r>
            <a:r>
              <a:rPr lang="zh-CN" altLang="en-US" sz="2800" dirty="0" smtClean="0">
                <a:solidFill>
                  <a:srgbClr val="FF0000"/>
                </a:solidFill>
                <a:ea typeface="黑体" panose="02010609060101010101" pitchFamily="49" charset="-122"/>
              </a:rPr>
              <a:t>发送时机</a:t>
            </a:r>
            <a:r>
              <a:rPr lang="en-US" altLang="zh-CN" sz="2800" dirty="0" smtClean="0">
                <a:ea typeface="黑体" panose="02010609060101010101" pitchFamily="49" charset="-122"/>
              </a:rPr>
              <a:t>:</a:t>
            </a:r>
          </a:p>
          <a:p>
            <a:pPr lvl="1"/>
            <a:r>
              <a:rPr lang="zh-CN" altLang="en-US" sz="2400" dirty="0" smtClean="0">
                <a:solidFill>
                  <a:srgbClr val="0000FF"/>
                </a:solidFill>
                <a:ea typeface="黑体" panose="02010609060101010101" pitchFamily="49" charset="-122"/>
              </a:rPr>
              <a:t>第一种机制</a:t>
            </a:r>
            <a:r>
              <a:rPr lang="zh-CN" altLang="en-US" sz="2400" dirty="0" smtClean="0">
                <a:ea typeface="黑体" panose="02010609060101010101" pitchFamily="49" charset="-122"/>
              </a:rPr>
              <a:t>是 </a:t>
            </a:r>
            <a:r>
              <a:rPr lang="en-US" altLang="zh-CN" sz="2400" dirty="0" smtClean="0">
                <a:ea typeface="黑体" panose="02010609060101010101" pitchFamily="49" charset="-122"/>
              </a:rPr>
              <a:t>TCP </a:t>
            </a:r>
            <a:r>
              <a:rPr lang="zh-CN" altLang="en-US" sz="2400" dirty="0" smtClean="0">
                <a:ea typeface="黑体" panose="02010609060101010101" pitchFamily="49" charset="-122"/>
              </a:rPr>
              <a:t>维持一个变量，它等于</a:t>
            </a:r>
            <a:r>
              <a:rPr lang="zh-CN" altLang="en-US" sz="2400" dirty="0" smtClean="0">
                <a:solidFill>
                  <a:srgbClr val="0000FF"/>
                </a:solidFill>
                <a:ea typeface="黑体" panose="02010609060101010101" pitchFamily="49" charset="-122"/>
              </a:rPr>
              <a:t>最大报文段长度 </a:t>
            </a:r>
            <a:r>
              <a:rPr lang="en-US" altLang="zh-CN" sz="2400" dirty="0" smtClean="0">
                <a:ea typeface="黑体" panose="02010609060101010101" pitchFamily="49" charset="-122"/>
              </a:rPr>
              <a:t>MSS</a:t>
            </a:r>
            <a:r>
              <a:rPr lang="zh-CN" altLang="en-US" sz="2400" dirty="0" smtClean="0">
                <a:ea typeface="黑体" panose="02010609060101010101" pitchFamily="49" charset="-122"/>
              </a:rPr>
              <a:t>。只要</a:t>
            </a:r>
            <a:r>
              <a:rPr lang="zh-CN" altLang="en-US" sz="2400" dirty="0" smtClean="0">
                <a:solidFill>
                  <a:srgbClr val="0000FF"/>
                </a:solidFill>
                <a:ea typeface="黑体" panose="02010609060101010101" pitchFamily="49" charset="-122"/>
              </a:rPr>
              <a:t>缓存</a:t>
            </a:r>
            <a:r>
              <a:rPr lang="zh-CN" altLang="en-US" sz="2400" dirty="0" smtClean="0">
                <a:ea typeface="黑体" panose="02010609060101010101" pitchFamily="49" charset="-122"/>
              </a:rPr>
              <a:t>中存放的数据达到 </a:t>
            </a:r>
            <a:r>
              <a:rPr lang="en-US" altLang="zh-CN" sz="2400" dirty="0" smtClean="0">
                <a:ea typeface="黑体" panose="02010609060101010101" pitchFamily="49" charset="-122"/>
              </a:rPr>
              <a:t>MSS </a:t>
            </a:r>
            <a:r>
              <a:rPr lang="zh-CN" altLang="en-US" sz="2400" dirty="0" smtClean="0">
                <a:ea typeface="黑体" panose="02010609060101010101" pitchFamily="49" charset="-122"/>
              </a:rPr>
              <a:t>字节时，就组装成一个 </a:t>
            </a:r>
            <a:r>
              <a:rPr lang="en-US" altLang="zh-CN" sz="2400" dirty="0" smtClean="0">
                <a:ea typeface="黑体" panose="02010609060101010101" pitchFamily="49" charset="-122"/>
              </a:rPr>
              <a:t>TCP </a:t>
            </a:r>
            <a:r>
              <a:rPr lang="zh-CN" altLang="en-US" sz="2400" dirty="0" smtClean="0">
                <a:ea typeface="黑体" panose="02010609060101010101" pitchFamily="49" charset="-122"/>
              </a:rPr>
              <a:t>报文段发送出去。</a:t>
            </a:r>
          </a:p>
          <a:p>
            <a:pPr lvl="1"/>
            <a:r>
              <a:rPr lang="zh-CN" altLang="en-US" sz="2400" dirty="0" smtClean="0">
                <a:solidFill>
                  <a:srgbClr val="0000FF"/>
                </a:solidFill>
                <a:ea typeface="黑体" panose="02010609060101010101" pitchFamily="49" charset="-122"/>
              </a:rPr>
              <a:t>第二种机制</a:t>
            </a:r>
            <a:r>
              <a:rPr lang="zh-CN" altLang="en-US" sz="2400" dirty="0" smtClean="0">
                <a:ea typeface="黑体" panose="02010609060101010101" pitchFamily="49" charset="-122"/>
              </a:rPr>
              <a:t>是由发送方的</a:t>
            </a:r>
            <a:r>
              <a:rPr lang="zh-CN" altLang="en-US" sz="2400" dirty="0" smtClean="0">
                <a:solidFill>
                  <a:srgbClr val="0000FF"/>
                </a:solidFill>
                <a:ea typeface="黑体" panose="02010609060101010101" pitchFamily="49" charset="-122"/>
              </a:rPr>
              <a:t>应用进程</a:t>
            </a:r>
            <a:r>
              <a:rPr lang="zh-CN" altLang="en-US" sz="2400" dirty="0" smtClean="0">
                <a:ea typeface="黑体" panose="02010609060101010101" pitchFamily="49" charset="-122"/>
              </a:rPr>
              <a:t>指明要求发送报文段，即 </a:t>
            </a:r>
            <a:r>
              <a:rPr lang="en-US" altLang="zh-CN" sz="2400" dirty="0" smtClean="0">
                <a:ea typeface="黑体" panose="02010609060101010101" pitchFamily="49" charset="-122"/>
              </a:rPr>
              <a:t>TCP </a:t>
            </a:r>
            <a:r>
              <a:rPr lang="zh-CN" altLang="en-US" sz="2400" dirty="0" smtClean="0">
                <a:ea typeface="黑体" panose="02010609060101010101" pitchFamily="49" charset="-122"/>
              </a:rPr>
              <a:t>支持的</a:t>
            </a:r>
            <a:r>
              <a:rPr lang="zh-CN" altLang="en-US" sz="2400" dirty="0" smtClean="0">
                <a:solidFill>
                  <a:srgbClr val="0000FF"/>
                </a:solidFill>
                <a:ea typeface="黑体" panose="02010609060101010101" pitchFamily="49" charset="-122"/>
              </a:rPr>
              <a:t>推送 </a:t>
            </a:r>
            <a:r>
              <a:rPr lang="en-US" altLang="zh-CN" sz="2400" dirty="0" smtClean="0">
                <a:ea typeface="黑体" panose="02010609060101010101" pitchFamily="49" charset="-122"/>
              </a:rPr>
              <a:t>(push)</a:t>
            </a:r>
            <a:r>
              <a:rPr lang="zh-CN" altLang="en-US" sz="2400" dirty="0" smtClean="0">
                <a:ea typeface="黑体" panose="02010609060101010101" pitchFamily="49" charset="-122"/>
              </a:rPr>
              <a:t>操作。</a:t>
            </a:r>
          </a:p>
          <a:p>
            <a:pPr lvl="1"/>
            <a:r>
              <a:rPr lang="zh-CN" altLang="en-US" sz="2400" dirty="0" smtClean="0">
                <a:solidFill>
                  <a:srgbClr val="0000FF"/>
                </a:solidFill>
                <a:ea typeface="黑体" panose="02010609060101010101" pitchFamily="49" charset="-122"/>
              </a:rPr>
              <a:t>第三种机制</a:t>
            </a:r>
            <a:r>
              <a:rPr lang="zh-CN" altLang="en-US" sz="2400" dirty="0" smtClean="0">
                <a:ea typeface="黑体" panose="02010609060101010101" pitchFamily="49" charset="-122"/>
              </a:rPr>
              <a:t>是发送方的一个</a:t>
            </a:r>
            <a:r>
              <a:rPr lang="zh-CN" altLang="en-US" sz="2400" dirty="0" smtClean="0">
                <a:solidFill>
                  <a:srgbClr val="0000FF"/>
                </a:solidFill>
                <a:ea typeface="黑体" panose="02010609060101010101" pitchFamily="49" charset="-122"/>
              </a:rPr>
              <a:t>计时器</a:t>
            </a:r>
            <a:r>
              <a:rPr lang="zh-CN" altLang="en-US" sz="2400" dirty="0" smtClean="0">
                <a:ea typeface="黑体" panose="02010609060101010101" pitchFamily="49" charset="-122"/>
              </a:rPr>
              <a:t>期限到了，这时就把当前已有的缓存数据装入报文段（但长度不能超过 </a:t>
            </a:r>
            <a:r>
              <a:rPr lang="en-US" altLang="zh-CN" sz="2400" dirty="0" smtClean="0">
                <a:ea typeface="黑体" panose="02010609060101010101" pitchFamily="49" charset="-122"/>
              </a:rPr>
              <a:t>MSS</a:t>
            </a:r>
            <a:r>
              <a:rPr lang="zh-CN" altLang="en-US" sz="2400" dirty="0" smtClean="0">
                <a:ea typeface="黑体" panose="02010609060101010101" pitchFamily="49" charset="-122"/>
              </a:rPr>
              <a:t>）发送出去。</a:t>
            </a:r>
            <a:endParaRPr lang="en-US" altLang="zh-CN" sz="2400" dirty="0" smtClean="0">
              <a:ea typeface="黑体" panose="02010609060101010101" pitchFamily="49" charset="-122"/>
            </a:endParaRPr>
          </a:p>
          <a:p>
            <a:r>
              <a:rPr lang="zh-CN" altLang="zh-CN" sz="2800" dirty="0" smtClean="0">
                <a:ea typeface="黑体" panose="02010609060101010101" pitchFamily="49" charset="-122"/>
              </a:rPr>
              <a:t>如何控制</a:t>
            </a:r>
            <a:r>
              <a:rPr lang="en-US" altLang="zh-CN" sz="2800" dirty="0" smtClean="0">
                <a:ea typeface="黑体" panose="02010609060101010101" pitchFamily="49" charset="-122"/>
              </a:rPr>
              <a:t> TCP </a:t>
            </a:r>
            <a:r>
              <a:rPr lang="zh-CN" altLang="zh-CN" sz="2800" dirty="0" smtClean="0">
                <a:ea typeface="黑体" panose="02010609060101010101" pitchFamily="49" charset="-122"/>
              </a:rPr>
              <a:t>发送报文段的时机仍然是一个较为复杂的问题。</a:t>
            </a:r>
            <a:endParaRPr lang="zh-CN" altLang="en-US" sz="2800" dirty="0" smtClean="0">
              <a:ea typeface="黑体" panose="02010609060101010101" pitchFamily="49" charset="-122"/>
            </a:endParaRPr>
          </a:p>
        </p:txBody>
      </p:sp>
      <p:sp>
        <p:nvSpPr>
          <p:cNvPr id="1491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B7ED01-7619-4D71-B54C-D27457643062}" type="slidenum">
              <a:rPr lang="zh-CN" altLang="en-US" smtClean="0"/>
              <a:pPr eaLnBrk="1" hangingPunct="1"/>
              <a:t>8</a:t>
            </a:fld>
            <a:endParaRPr lang="en-US" altLang="zh-CN" smtClean="0"/>
          </a:p>
        </p:txBody>
      </p:sp>
      <p:sp>
        <p:nvSpPr>
          <p:cNvPr id="1491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29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发送方</a:t>
            </a:r>
            <a:r>
              <a:rPr lang="zh-CN" altLang="zh-CN" smtClean="0">
                <a:ea typeface="黑体" panose="02010609060101010101" pitchFamily="49" charset="-122"/>
              </a:rPr>
              <a:t>糊涂窗口综合症</a:t>
            </a:r>
            <a:endParaRPr lang="en-US" altLang="zh-CN" smtClean="0">
              <a:ea typeface="黑体" panose="02010609060101010101" pitchFamily="49" charset="-122"/>
            </a:endParaRPr>
          </a:p>
        </p:txBody>
      </p:sp>
      <p:sp>
        <p:nvSpPr>
          <p:cNvPr id="1492994" name="Rectangle 3"/>
          <p:cNvSpPr>
            <a:spLocks noGrp="1" noChangeArrowheads="1"/>
          </p:cNvSpPr>
          <p:nvPr>
            <p:ph idx="1"/>
          </p:nvPr>
        </p:nvSpPr>
        <p:spPr>
          <a:xfrm>
            <a:off x="495300" y="1196975"/>
            <a:ext cx="9066213" cy="4933950"/>
          </a:xfrm>
        </p:spPr>
        <p:txBody>
          <a:bodyPr/>
          <a:lstStyle/>
          <a:p>
            <a:r>
              <a:rPr lang="zh-CN" altLang="en-GB" dirty="0" smtClean="0">
                <a:ea typeface="黑体" panose="02010609060101010101" pitchFamily="49" charset="-122"/>
              </a:rPr>
              <a:t>发送方 </a:t>
            </a:r>
            <a:r>
              <a:rPr lang="en-GB" altLang="zh-CN" dirty="0" smtClean="0">
                <a:ea typeface="黑体" panose="02010609060101010101" pitchFamily="49" charset="-122"/>
              </a:rPr>
              <a:t>TCP </a:t>
            </a:r>
            <a:r>
              <a:rPr lang="zh-CN" altLang="en-GB" dirty="0" smtClean="0">
                <a:ea typeface="黑体" panose="02010609060101010101" pitchFamily="49" charset="-122"/>
              </a:rPr>
              <a:t>每次接收到</a:t>
            </a:r>
            <a:r>
              <a:rPr lang="zh-CN" altLang="en-GB" dirty="0" smtClean="0">
                <a:solidFill>
                  <a:srgbClr val="0000FF"/>
                </a:solidFill>
                <a:ea typeface="黑体" panose="02010609060101010101" pitchFamily="49" charset="-122"/>
              </a:rPr>
              <a:t>一字节</a:t>
            </a:r>
            <a:r>
              <a:rPr lang="zh-CN" altLang="en-GB" dirty="0" smtClean="0">
                <a:ea typeface="黑体" panose="02010609060101010101" pitchFamily="49" charset="-122"/>
              </a:rPr>
              <a:t>的数据后就发送</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这样，发送一个字节需要</a:t>
            </a:r>
            <a:r>
              <a:rPr lang="zh-CN" altLang="zh-CN" dirty="0" smtClean="0">
                <a:ea typeface="黑体" panose="02010609060101010101" pitchFamily="49" charset="-122"/>
              </a:rPr>
              <a:t>形成</a:t>
            </a:r>
            <a:r>
              <a:rPr lang="en-US" altLang="zh-CN" dirty="0" smtClean="0">
                <a:ea typeface="黑体" panose="02010609060101010101" pitchFamily="49" charset="-122"/>
              </a:rPr>
              <a:t> </a:t>
            </a:r>
            <a:r>
              <a:rPr lang="en-US" altLang="zh-CN" dirty="0" smtClean="0">
                <a:solidFill>
                  <a:srgbClr val="0000FF"/>
                </a:solidFill>
                <a:ea typeface="黑体" panose="02010609060101010101" pitchFamily="49" charset="-122"/>
              </a:rPr>
              <a:t>41 </a:t>
            </a:r>
            <a:r>
              <a:rPr lang="zh-CN" altLang="zh-CN" dirty="0" smtClean="0">
                <a:ea typeface="黑体" panose="02010609060101010101" pitchFamily="49" charset="-122"/>
              </a:rPr>
              <a:t>字节长的</a:t>
            </a:r>
            <a:r>
              <a:rPr lang="en-US" altLang="zh-CN" dirty="0" smtClean="0">
                <a:ea typeface="黑体" panose="02010609060101010101" pitchFamily="49" charset="-122"/>
              </a:rPr>
              <a:t> IP </a:t>
            </a:r>
            <a:r>
              <a:rPr lang="zh-CN" altLang="zh-CN" dirty="0" smtClean="0">
                <a:ea typeface="黑体" panose="02010609060101010101" pitchFamily="49" charset="-122"/>
              </a:rPr>
              <a:t>数据报。</a:t>
            </a:r>
            <a:r>
              <a:rPr lang="zh-CN" altLang="en-US" dirty="0" smtClean="0">
                <a:ea typeface="黑体" panose="02010609060101010101" pitchFamily="49" charset="-122"/>
              </a:rPr>
              <a:t>若接收方</a:t>
            </a:r>
            <a:r>
              <a:rPr lang="zh-CN" altLang="en-US" dirty="0" smtClean="0">
                <a:solidFill>
                  <a:srgbClr val="0000FF"/>
                </a:solidFill>
                <a:ea typeface="黑体" panose="02010609060101010101" pitchFamily="49" charset="-122"/>
              </a:rPr>
              <a:t>确认</a:t>
            </a:r>
            <a:r>
              <a:rPr lang="zh-CN" altLang="en-US" dirty="0" smtClean="0">
                <a:ea typeface="黑体" panose="02010609060101010101" pitchFamily="49" charset="-122"/>
              </a:rPr>
              <a:t>，并</a:t>
            </a:r>
            <a:r>
              <a:rPr lang="zh-CN" altLang="en-US" dirty="0" smtClean="0">
                <a:solidFill>
                  <a:srgbClr val="0000FF"/>
                </a:solidFill>
                <a:ea typeface="黑体" panose="02010609060101010101" pitchFamily="49" charset="-122"/>
              </a:rPr>
              <a:t>回送</a:t>
            </a:r>
            <a:r>
              <a:rPr lang="zh-CN" altLang="en-US" dirty="0" smtClean="0">
                <a:ea typeface="黑体" panose="02010609060101010101" pitchFamily="49" charset="-122"/>
              </a:rPr>
              <a:t>这一字节，</a:t>
            </a:r>
            <a:r>
              <a:rPr lang="zh-CN" altLang="zh-CN" dirty="0" smtClean="0">
                <a:ea typeface="黑体" panose="02010609060101010101" pitchFamily="49" charset="-122"/>
              </a:rPr>
              <a:t>就需传送总长度为</a:t>
            </a:r>
            <a:r>
              <a:rPr lang="en-US" altLang="zh-CN" dirty="0" smtClean="0">
                <a:ea typeface="黑体" panose="02010609060101010101" pitchFamily="49" charset="-122"/>
              </a:rPr>
              <a:t> 162 </a:t>
            </a:r>
            <a:r>
              <a:rPr lang="zh-CN" altLang="zh-CN" dirty="0" smtClean="0">
                <a:ea typeface="黑体" panose="02010609060101010101" pitchFamily="49" charset="-122"/>
              </a:rPr>
              <a:t>字节共</a:t>
            </a:r>
            <a:r>
              <a:rPr lang="en-US" altLang="zh-CN" dirty="0" smtClean="0">
                <a:ea typeface="黑体" panose="02010609060101010101" pitchFamily="49" charset="-122"/>
              </a:rPr>
              <a:t> 4 </a:t>
            </a:r>
            <a:r>
              <a:rPr lang="zh-CN" altLang="zh-CN" dirty="0" smtClean="0">
                <a:ea typeface="黑体" panose="02010609060101010101" pitchFamily="49" charset="-122"/>
              </a:rPr>
              <a:t>个报文段。</a:t>
            </a:r>
            <a:r>
              <a:rPr lang="zh-CN" altLang="en-US" dirty="0" smtClean="0">
                <a:ea typeface="黑体" panose="02010609060101010101" pitchFamily="49" charset="-122"/>
              </a:rPr>
              <a:t>效率很低。</a:t>
            </a:r>
            <a:endParaRPr lang="en-US" altLang="zh-CN" dirty="0" smtClean="0">
              <a:ea typeface="黑体" panose="02010609060101010101" pitchFamily="49" charset="-122"/>
            </a:endParaRPr>
          </a:p>
          <a:p>
            <a:r>
              <a:rPr lang="zh-CN" altLang="en-US" dirty="0" smtClean="0">
                <a:solidFill>
                  <a:srgbClr val="FF0000"/>
                </a:solidFill>
                <a:ea typeface="黑体" panose="02010609060101010101" pitchFamily="49" charset="-122"/>
              </a:rPr>
              <a:t>解决方法：</a:t>
            </a:r>
            <a:r>
              <a:rPr lang="zh-CN" altLang="zh-CN" dirty="0" smtClean="0">
                <a:ea typeface="黑体" panose="02010609060101010101" pitchFamily="49" charset="-122"/>
              </a:rPr>
              <a:t>使用</a:t>
            </a:r>
            <a:r>
              <a:rPr lang="en-US" altLang="zh-CN" dirty="0" smtClean="0">
                <a:ea typeface="黑体" panose="02010609060101010101" pitchFamily="49" charset="-122"/>
              </a:rPr>
              <a:t> Nagle </a:t>
            </a:r>
            <a:r>
              <a:rPr lang="zh-CN" altLang="zh-CN" dirty="0" smtClean="0">
                <a:ea typeface="黑体" panose="02010609060101010101" pitchFamily="49" charset="-122"/>
              </a:rPr>
              <a:t>算法</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a:endParaRPr lang="en-GB" altLang="zh-CN" dirty="0" smtClean="0">
              <a:ea typeface="黑体" panose="02010609060101010101" pitchFamily="49" charset="-122"/>
            </a:endParaRPr>
          </a:p>
        </p:txBody>
      </p:sp>
      <p:sp>
        <p:nvSpPr>
          <p:cNvPr id="14929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1DA27C-48BB-4A9A-9B99-4F5C4E482703}" type="slidenum">
              <a:rPr lang="zh-CN" altLang="en-US" smtClean="0"/>
              <a:pPr eaLnBrk="1" hangingPunct="1"/>
              <a:t>9</a:t>
            </a:fld>
            <a:endParaRPr lang="en-US" altLang="zh-CN" smtClean="0"/>
          </a:p>
        </p:txBody>
      </p:sp>
      <p:sp>
        <p:nvSpPr>
          <p:cNvPr id="14929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4017"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Nagle</a:t>
            </a:r>
            <a:r>
              <a:rPr lang="zh-CN" altLang="zh-CN" smtClean="0">
                <a:ea typeface="黑体" panose="02010609060101010101" pitchFamily="49" charset="-122"/>
              </a:rPr>
              <a:t>算法</a:t>
            </a:r>
            <a:endParaRPr lang="zh-CN" altLang="en-US" smtClean="0">
              <a:ea typeface="黑体" panose="02010609060101010101" pitchFamily="49" charset="-122"/>
            </a:endParaRPr>
          </a:p>
        </p:txBody>
      </p:sp>
      <p:sp>
        <p:nvSpPr>
          <p:cNvPr id="1494018" name="内容占位符 2"/>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若发送应用进程把要发送的数据逐个字节地送到</a:t>
            </a:r>
            <a:r>
              <a:rPr lang="en-US" altLang="zh-CN" sz="2800" dirty="0" smtClean="0">
                <a:ea typeface="黑体" panose="02010609060101010101" pitchFamily="49" charset="-122"/>
              </a:rPr>
              <a:t> TCP </a:t>
            </a:r>
            <a:r>
              <a:rPr lang="zh-CN" altLang="zh-CN" sz="2800" dirty="0" smtClean="0">
                <a:ea typeface="黑体" panose="02010609060101010101" pitchFamily="49" charset="-122"/>
              </a:rPr>
              <a:t>的发送缓存，则发送方就把</a:t>
            </a:r>
            <a:r>
              <a:rPr lang="zh-CN" altLang="zh-CN" sz="2800" dirty="0" smtClean="0">
                <a:solidFill>
                  <a:srgbClr val="0000FF"/>
                </a:solidFill>
                <a:ea typeface="黑体" panose="02010609060101010101" pitchFamily="49" charset="-122"/>
              </a:rPr>
              <a:t>第一个数据字节先发送</a:t>
            </a:r>
            <a:r>
              <a:rPr lang="zh-CN" altLang="zh-CN" sz="2800" dirty="0" smtClean="0">
                <a:ea typeface="黑体" panose="02010609060101010101" pitchFamily="49" charset="-122"/>
              </a:rPr>
              <a:t>出去，把后面到达的数据字节都缓存起来。</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当发送方收到对第一个数据字符的</a:t>
            </a:r>
            <a:r>
              <a:rPr lang="zh-CN" altLang="zh-CN" sz="2800" dirty="0" smtClean="0">
                <a:solidFill>
                  <a:srgbClr val="0000FF"/>
                </a:solidFill>
                <a:ea typeface="黑体" panose="02010609060101010101" pitchFamily="49" charset="-122"/>
              </a:rPr>
              <a:t>确认后</a:t>
            </a:r>
            <a:r>
              <a:rPr lang="zh-CN" altLang="zh-CN" sz="2800" dirty="0" smtClean="0">
                <a:ea typeface="黑体" panose="02010609060101010101" pitchFamily="49" charset="-122"/>
              </a:rPr>
              <a:t>，再把发送</a:t>
            </a:r>
            <a:r>
              <a:rPr lang="zh-CN" altLang="zh-CN" sz="2800" dirty="0" smtClean="0">
                <a:solidFill>
                  <a:srgbClr val="0000FF"/>
                </a:solidFill>
                <a:ea typeface="黑体" panose="02010609060101010101" pitchFamily="49" charset="-122"/>
              </a:rPr>
              <a:t>缓存中的所有数据组装成一个报文段发送出去</a:t>
            </a:r>
            <a:r>
              <a:rPr lang="zh-CN" altLang="zh-CN" sz="2800" dirty="0" smtClean="0">
                <a:ea typeface="黑体" panose="02010609060101010101" pitchFamily="49" charset="-122"/>
              </a:rPr>
              <a:t>，同时继续对随后到达的数据进行缓存。</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只有在</a:t>
            </a:r>
            <a:r>
              <a:rPr lang="zh-CN" altLang="zh-CN" sz="2800" dirty="0" smtClean="0">
                <a:solidFill>
                  <a:srgbClr val="0000FF"/>
                </a:solidFill>
                <a:ea typeface="黑体" panose="02010609060101010101" pitchFamily="49" charset="-122"/>
              </a:rPr>
              <a:t>收到</a:t>
            </a:r>
            <a:r>
              <a:rPr lang="zh-CN" altLang="zh-CN" sz="2800" dirty="0" smtClean="0">
                <a:ea typeface="黑体" panose="02010609060101010101" pitchFamily="49" charset="-122"/>
              </a:rPr>
              <a:t>对前一个报文段的</a:t>
            </a:r>
            <a:r>
              <a:rPr lang="zh-CN" altLang="zh-CN" sz="2800" dirty="0" smtClean="0">
                <a:solidFill>
                  <a:srgbClr val="0000FF"/>
                </a:solidFill>
                <a:ea typeface="黑体" panose="02010609060101010101" pitchFamily="49" charset="-122"/>
              </a:rPr>
              <a:t>确认</a:t>
            </a:r>
            <a:r>
              <a:rPr lang="zh-CN" altLang="zh-CN" sz="2800" dirty="0" smtClean="0">
                <a:ea typeface="黑体" panose="02010609060101010101" pitchFamily="49" charset="-122"/>
              </a:rPr>
              <a:t>后才</a:t>
            </a:r>
            <a:r>
              <a:rPr lang="zh-CN" altLang="zh-CN" sz="2800" dirty="0" smtClean="0">
                <a:solidFill>
                  <a:srgbClr val="0000FF"/>
                </a:solidFill>
                <a:ea typeface="黑体" panose="02010609060101010101" pitchFamily="49" charset="-122"/>
              </a:rPr>
              <a:t>继续发送</a:t>
            </a:r>
            <a:r>
              <a:rPr lang="zh-CN" altLang="zh-CN" sz="2800" dirty="0" smtClean="0">
                <a:ea typeface="黑体" panose="02010609060101010101" pitchFamily="49" charset="-122"/>
              </a:rPr>
              <a:t>下一个报文段。</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当到达的</a:t>
            </a:r>
            <a:r>
              <a:rPr lang="zh-CN" altLang="zh-CN" sz="2800" dirty="0" smtClean="0">
                <a:solidFill>
                  <a:srgbClr val="0000FF"/>
                </a:solidFill>
                <a:ea typeface="黑体" panose="02010609060101010101" pitchFamily="49" charset="-122"/>
              </a:rPr>
              <a:t>数据已达到发送窗口大小的一半或已达到报文段的最大长度</a:t>
            </a:r>
            <a:r>
              <a:rPr lang="zh-CN" altLang="zh-CN" sz="2800" dirty="0" smtClean="0">
                <a:ea typeface="黑体" panose="02010609060101010101" pitchFamily="49" charset="-122"/>
              </a:rPr>
              <a:t>时，就立即发送一个报文段。</a:t>
            </a:r>
            <a:endParaRPr lang="zh-CN" altLang="en-US" sz="2800" dirty="0" smtClean="0">
              <a:ea typeface="黑体" panose="02010609060101010101" pitchFamily="49" charset="-122"/>
            </a:endParaRPr>
          </a:p>
        </p:txBody>
      </p:sp>
      <p:sp>
        <p:nvSpPr>
          <p:cNvPr id="14940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EBE028-C115-409D-B771-EF12E5757659}" type="slidenum">
              <a:rPr lang="zh-CN" altLang="en-US" smtClean="0"/>
              <a:pPr eaLnBrk="1" hangingPunct="1"/>
              <a:t>10</a:t>
            </a:fld>
            <a:endParaRPr lang="en-US" altLang="zh-CN" smtClean="0"/>
          </a:p>
        </p:txBody>
      </p:sp>
      <p:sp>
        <p:nvSpPr>
          <p:cNvPr id="14940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接收方</a:t>
            </a:r>
            <a:r>
              <a:rPr lang="zh-CN" altLang="zh-CN" smtClean="0">
                <a:ea typeface="黑体" panose="02010609060101010101" pitchFamily="49" charset="-122"/>
              </a:rPr>
              <a:t>糊涂窗口综合症</a:t>
            </a:r>
            <a:endParaRPr lang="en-US" altLang="zh-CN" smtClean="0">
              <a:ea typeface="黑体" panose="02010609060101010101" pitchFamily="49" charset="-122"/>
            </a:endParaRPr>
          </a:p>
        </p:txBody>
      </p:sp>
      <p:sp>
        <p:nvSpPr>
          <p:cNvPr id="1495042" name="Rectangle 3"/>
          <p:cNvSpPr>
            <a:spLocks noGrp="1" noChangeArrowheads="1"/>
          </p:cNvSpPr>
          <p:nvPr>
            <p:ph idx="1"/>
          </p:nvPr>
        </p:nvSpPr>
        <p:spPr>
          <a:xfrm>
            <a:off x="495300" y="1196975"/>
            <a:ext cx="9066213" cy="4933950"/>
          </a:xfrm>
        </p:spPr>
        <p:txBody>
          <a:bodyPr/>
          <a:lstStyle/>
          <a:p>
            <a:r>
              <a:rPr lang="zh-CN" altLang="en-GB" sz="2600" dirty="0" smtClean="0">
                <a:ea typeface="黑体" panose="02010609060101010101" pitchFamily="49" charset="-122"/>
              </a:rPr>
              <a:t>当接收方的 </a:t>
            </a:r>
            <a:r>
              <a:rPr lang="en-GB" altLang="zh-CN" sz="2600" dirty="0" smtClean="0">
                <a:solidFill>
                  <a:srgbClr val="0000FF"/>
                </a:solidFill>
                <a:ea typeface="黑体" panose="02010609060101010101" pitchFamily="49" charset="-122"/>
              </a:rPr>
              <a:t>TCP </a:t>
            </a:r>
            <a:r>
              <a:rPr lang="zh-CN" altLang="en-GB" sz="2600" dirty="0" smtClean="0">
                <a:solidFill>
                  <a:srgbClr val="0000FF"/>
                </a:solidFill>
                <a:ea typeface="黑体" panose="02010609060101010101" pitchFamily="49" charset="-122"/>
              </a:rPr>
              <a:t>缓冲区已满</a:t>
            </a:r>
            <a:r>
              <a:rPr lang="zh-CN" altLang="en-GB" sz="2600" dirty="0" smtClean="0">
                <a:ea typeface="黑体" panose="02010609060101010101" pitchFamily="49" charset="-122"/>
              </a:rPr>
              <a:t>，接收方会向发送方发送窗口大小为 </a:t>
            </a:r>
            <a:r>
              <a:rPr lang="en-GB" altLang="zh-CN" sz="2600" dirty="0" smtClean="0">
                <a:solidFill>
                  <a:srgbClr val="0000FF"/>
                </a:solidFill>
                <a:ea typeface="黑体" panose="02010609060101010101" pitchFamily="49" charset="-122"/>
              </a:rPr>
              <a:t>0</a:t>
            </a:r>
            <a:r>
              <a:rPr lang="en-GB" altLang="zh-CN" sz="2600" dirty="0" smtClean="0">
                <a:ea typeface="黑体" panose="02010609060101010101" pitchFamily="49" charset="-122"/>
              </a:rPr>
              <a:t> </a:t>
            </a:r>
            <a:r>
              <a:rPr lang="zh-CN" altLang="en-GB" sz="2600" dirty="0" smtClean="0">
                <a:ea typeface="黑体" panose="02010609060101010101" pitchFamily="49" charset="-122"/>
              </a:rPr>
              <a:t>的</a:t>
            </a:r>
            <a:r>
              <a:rPr lang="zh-CN" altLang="en-US" sz="2600" dirty="0" smtClean="0">
                <a:ea typeface="黑体" panose="02010609060101010101" pitchFamily="49" charset="-122"/>
              </a:rPr>
              <a:t>报文。</a:t>
            </a:r>
            <a:endParaRPr lang="en-US" altLang="zh-CN" sz="2600" dirty="0" smtClean="0">
              <a:ea typeface="黑体" panose="02010609060101010101" pitchFamily="49" charset="-122"/>
            </a:endParaRPr>
          </a:p>
          <a:p>
            <a:r>
              <a:rPr lang="zh-CN" altLang="en-US" sz="2600" dirty="0" smtClean="0">
                <a:ea typeface="黑体" panose="02010609060101010101" pitchFamily="49" charset="-122"/>
              </a:rPr>
              <a:t>若</a:t>
            </a:r>
            <a:r>
              <a:rPr lang="zh-CN" altLang="en-GB" sz="2600" dirty="0" smtClean="0">
                <a:ea typeface="黑体" panose="02010609060101010101" pitchFamily="49" charset="-122"/>
              </a:rPr>
              <a:t>此时</a:t>
            </a:r>
            <a:r>
              <a:rPr lang="zh-CN" altLang="en-GB" sz="2600" dirty="0" smtClean="0">
                <a:solidFill>
                  <a:srgbClr val="0000FF"/>
                </a:solidFill>
                <a:ea typeface="黑体" panose="02010609060101010101" pitchFamily="49" charset="-122"/>
              </a:rPr>
              <a:t>接收方的应用进程</a:t>
            </a:r>
            <a:r>
              <a:rPr lang="zh-CN" altLang="en-GB" sz="2600" dirty="0" smtClean="0">
                <a:ea typeface="黑体" panose="02010609060101010101" pitchFamily="49" charset="-122"/>
              </a:rPr>
              <a:t>以交互方式</a:t>
            </a:r>
            <a:r>
              <a:rPr lang="zh-CN" altLang="en-GB" sz="2600" dirty="0" smtClean="0">
                <a:solidFill>
                  <a:srgbClr val="0000FF"/>
                </a:solidFill>
                <a:ea typeface="黑体" panose="02010609060101010101" pitchFamily="49" charset="-122"/>
              </a:rPr>
              <a:t>每次只读取一个字节</a:t>
            </a:r>
            <a:r>
              <a:rPr lang="zh-CN" altLang="en-GB" sz="2600" dirty="0" smtClean="0">
                <a:ea typeface="黑体" panose="02010609060101010101" pitchFamily="49" charset="-122"/>
              </a:rPr>
              <a:t>，于是接收方又</a:t>
            </a:r>
            <a:r>
              <a:rPr lang="zh-CN" altLang="en-GB" sz="2600" dirty="0" smtClean="0">
                <a:solidFill>
                  <a:srgbClr val="0000FF"/>
                </a:solidFill>
                <a:ea typeface="黑体" panose="02010609060101010101" pitchFamily="49" charset="-122"/>
              </a:rPr>
              <a:t>发送窗口</a:t>
            </a:r>
            <a:r>
              <a:rPr lang="zh-CN" altLang="en-GB" sz="2600" dirty="0" smtClean="0">
                <a:ea typeface="黑体" panose="02010609060101010101" pitchFamily="49" charset="-122"/>
              </a:rPr>
              <a:t>大小为</a:t>
            </a:r>
            <a:r>
              <a:rPr lang="zh-CN" altLang="en-GB" sz="2600" dirty="0" smtClean="0">
                <a:solidFill>
                  <a:srgbClr val="0000FF"/>
                </a:solidFill>
                <a:ea typeface="黑体" panose="02010609060101010101" pitchFamily="49" charset="-122"/>
              </a:rPr>
              <a:t>一个字节的更新</a:t>
            </a:r>
            <a:r>
              <a:rPr lang="zh-CN" altLang="en-US" sz="2600" dirty="0" smtClean="0">
                <a:ea typeface="黑体" panose="02010609060101010101" pitchFamily="49" charset="-122"/>
              </a:rPr>
              <a:t>报文</a:t>
            </a:r>
            <a:r>
              <a:rPr lang="zh-CN" altLang="en-GB" sz="2600" dirty="0" smtClean="0">
                <a:ea typeface="黑体" panose="02010609060101010101" pitchFamily="49" charset="-122"/>
              </a:rPr>
              <a:t>，发送方应邀发送一个字节的数据</a:t>
            </a:r>
            <a:r>
              <a:rPr lang="zh-CN" altLang="en-US" sz="2600" dirty="0" smtClean="0">
                <a:ea typeface="黑体" panose="02010609060101010101" pitchFamily="49" charset="-122"/>
              </a:rPr>
              <a:t>（</a:t>
            </a:r>
            <a:r>
              <a:rPr lang="zh-CN" altLang="zh-CN" sz="2800" dirty="0" smtClean="0">
                <a:ea typeface="黑体" panose="02010609060101010101" pitchFamily="49" charset="-122"/>
              </a:rPr>
              <a:t>发送的</a:t>
            </a:r>
            <a:r>
              <a:rPr lang="en-US" altLang="zh-CN" sz="2800" dirty="0" smtClean="0">
                <a:ea typeface="黑体" panose="02010609060101010101" pitchFamily="49" charset="-122"/>
              </a:rPr>
              <a:t> IP </a:t>
            </a:r>
            <a:r>
              <a:rPr lang="zh-CN" altLang="zh-CN" sz="2800" dirty="0" smtClean="0">
                <a:ea typeface="黑体" panose="02010609060101010101" pitchFamily="49" charset="-122"/>
              </a:rPr>
              <a:t>数据报是</a:t>
            </a:r>
            <a:r>
              <a:rPr lang="en-US" altLang="zh-CN" sz="2800" dirty="0" smtClean="0">
                <a:ea typeface="黑体" panose="02010609060101010101" pitchFamily="49" charset="-122"/>
              </a:rPr>
              <a:t> 41 </a:t>
            </a:r>
            <a:r>
              <a:rPr lang="zh-CN" altLang="zh-CN" sz="2800" dirty="0" smtClean="0">
                <a:ea typeface="黑体" panose="02010609060101010101" pitchFamily="49" charset="-122"/>
              </a:rPr>
              <a:t>字节长</a:t>
            </a:r>
            <a:r>
              <a:rPr lang="zh-CN" altLang="en-US" sz="2800" dirty="0" smtClean="0">
                <a:ea typeface="黑体" panose="02010609060101010101" pitchFamily="49" charset="-122"/>
              </a:rPr>
              <a:t>），</a:t>
            </a:r>
            <a:r>
              <a:rPr lang="zh-CN" altLang="en-GB" sz="2600" dirty="0" smtClean="0">
                <a:ea typeface="黑体" panose="02010609060101010101" pitchFamily="49" charset="-122"/>
              </a:rPr>
              <a:t>于是</a:t>
            </a:r>
            <a:r>
              <a:rPr lang="zh-CN" altLang="en-US" sz="2600" dirty="0" smtClean="0">
                <a:ea typeface="黑体" panose="02010609060101010101" pitchFamily="49" charset="-122"/>
              </a:rPr>
              <a:t>接收</a:t>
            </a:r>
            <a:r>
              <a:rPr lang="zh-CN" altLang="en-GB" sz="2600" dirty="0" smtClean="0">
                <a:ea typeface="黑体" panose="02010609060101010101" pitchFamily="49" charset="-122"/>
              </a:rPr>
              <a:t>窗口又满了，</a:t>
            </a:r>
            <a:r>
              <a:rPr lang="zh-CN" altLang="en-US" sz="2600" dirty="0" smtClean="0">
                <a:ea typeface="黑体" panose="02010609060101010101" pitchFamily="49" charset="-122"/>
              </a:rPr>
              <a:t>如此</a:t>
            </a:r>
            <a:r>
              <a:rPr lang="zh-CN" altLang="en-GB" sz="2600" dirty="0" smtClean="0">
                <a:ea typeface="黑体" panose="02010609060101010101" pitchFamily="49" charset="-122"/>
              </a:rPr>
              <a:t>循环往复</a:t>
            </a:r>
            <a:r>
              <a:rPr lang="zh-CN" altLang="en-US" sz="2600" dirty="0" smtClean="0">
                <a:ea typeface="黑体" panose="02010609060101010101" pitchFamily="49" charset="-122"/>
              </a:rPr>
              <a:t>。</a:t>
            </a:r>
            <a:endParaRPr lang="en-GB" altLang="zh-CN" sz="2600" dirty="0" smtClean="0">
              <a:ea typeface="黑体" panose="02010609060101010101" pitchFamily="49" charset="-122"/>
            </a:endParaRPr>
          </a:p>
          <a:p>
            <a:r>
              <a:rPr lang="zh-CN" altLang="en-US" sz="2800" dirty="0" smtClean="0">
                <a:solidFill>
                  <a:srgbClr val="FF0000"/>
                </a:solidFill>
                <a:ea typeface="黑体" panose="02010609060101010101" pitchFamily="49" charset="-122"/>
              </a:rPr>
              <a:t>解决方法：</a:t>
            </a:r>
            <a:r>
              <a:rPr lang="zh-CN" altLang="zh-CN" sz="2600" dirty="0" smtClean="0">
                <a:ea typeface="黑体" panose="02010609060101010101" pitchFamily="49" charset="-122"/>
              </a:rPr>
              <a:t>让接收方等待一段时间，使得或者接收缓存已有足够空间容纳一个</a:t>
            </a:r>
            <a:r>
              <a:rPr lang="zh-CN" altLang="zh-CN" sz="2600" dirty="0" smtClean="0">
                <a:solidFill>
                  <a:srgbClr val="0000FF"/>
                </a:solidFill>
                <a:ea typeface="黑体" panose="02010609060101010101" pitchFamily="49" charset="-122"/>
              </a:rPr>
              <a:t>最长的报文段</a:t>
            </a:r>
            <a:r>
              <a:rPr lang="zh-CN" altLang="zh-CN" sz="2600" dirty="0" smtClean="0">
                <a:ea typeface="黑体" panose="02010609060101010101" pitchFamily="49" charset="-122"/>
              </a:rPr>
              <a:t>，或者等到</a:t>
            </a:r>
            <a:r>
              <a:rPr lang="zh-CN" altLang="zh-CN" sz="2600" dirty="0" smtClean="0">
                <a:solidFill>
                  <a:srgbClr val="0000FF"/>
                </a:solidFill>
                <a:ea typeface="黑体" panose="02010609060101010101" pitchFamily="49" charset="-122"/>
              </a:rPr>
              <a:t>接收缓存已有一半空闲</a:t>
            </a:r>
            <a:r>
              <a:rPr lang="zh-CN" altLang="zh-CN" sz="2600" dirty="0" smtClean="0">
                <a:ea typeface="黑体" panose="02010609060101010101" pitchFamily="49" charset="-122"/>
              </a:rPr>
              <a:t>的空间。只要出现这两种情况之一，</a:t>
            </a:r>
            <a:r>
              <a:rPr lang="zh-CN" altLang="zh-CN" sz="2600" dirty="0" smtClean="0">
                <a:solidFill>
                  <a:srgbClr val="0000FF"/>
                </a:solidFill>
                <a:ea typeface="黑体" panose="02010609060101010101" pitchFamily="49" charset="-122"/>
              </a:rPr>
              <a:t>接收方</a:t>
            </a:r>
            <a:r>
              <a:rPr lang="zh-CN" altLang="zh-CN" sz="2600" dirty="0" smtClean="0">
                <a:ea typeface="黑体" panose="02010609060101010101" pitchFamily="49" charset="-122"/>
              </a:rPr>
              <a:t>就发出确认报文，并</a:t>
            </a:r>
            <a:r>
              <a:rPr lang="zh-CN" altLang="zh-CN" sz="2600" dirty="0" smtClean="0">
                <a:solidFill>
                  <a:srgbClr val="0000FF"/>
                </a:solidFill>
                <a:ea typeface="黑体" panose="02010609060101010101" pitchFamily="49" charset="-122"/>
              </a:rPr>
              <a:t>向发送方通知当前的窗口大小</a:t>
            </a:r>
            <a:r>
              <a:rPr lang="zh-CN" altLang="zh-CN" sz="2600" dirty="0" smtClean="0">
                <a:ea typeface="黑体" panose="02010609060101010101" pitchFamily="49" charset="-122"/>
              </a:rPr>
              <a:t>。</a:t>
            </a:r>
            <a:endParaRPr lang="en-GB" altLang="zh-CN" sz="2600" dirty="0" smtClean="0">
              <a:ea typeface="黑体" panose="02010609060101010101" pitchFamily="49" charset="-122"/>
            </a:endParaRPr>
          </a:p>
        </p:txBody>
      </p:sp>
      <p:sp>
        <p:nvSpPr>
          <p:cNvPr id="14950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3E0CA1-8497-480A-A7BC-1043438FD78E}" type="slidenum">
              <a:rPr lang="zh-CN" altLang="en-US" smtClean="0"/>
              <a:pPr eaLnBrk="1" hangingPunct="1"/>
              <a:t>11</a:t>
            </a:fld>
            <a:endParaRPr lang="en-US" altLang="zh-CN" smtClean="0"/>
          </a:p>
        </p:txBody>
      </p:sp>
      <p:sp>
        <p:nvSpPr>
          <p:cNvPr id="14950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60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5.8  TCP </a:t>
            </a:r>
            <a:r>
              <a:rPr lang="zh-CN" altLang="zh-CN" smtClean="0">
                <a:ea typeface="黑体" panose="02010609060101010101" pitchFamily="49" charset="-122"/>
              </a:rPr>
              <a:t>的拥塞控制</a:t>
            </a:r>
          </a:p>
        </p:txBody>
      </p:sp>
      <p:sp>
        <p:nvSpPr>
          <p:cNvPr id="1496066"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5.8.1  </a:t>
            </a:r>
            <a:r>
              <a:rPr lang="zh-CN" altLang="zh-CN" smtClean="0">
                <a:ea typeface="黑体" panose="02010609060101010101" pitchFamily="49" charset="-122"/>
              </a:rPr>
              <a:t>拥塞控制的一般原理</a:t>
            </a:r>
          </a:p>
          <a:p>
            <a:r>
              <a:rPr lang="en-US" altLang="zh-CN" smtClean="0">
                <a:ea typeface="黑体" panose="02010609060101010101" pitchFamily="49" charset="-122"/>
              </a:rPr>
              <a:t>5.8.2  TCP </a:t>
            </a:r>
            <a:r>
              <a:rPr lang="zh-CN" altLang="zh-CN" smtClean="0">
                <a:ea typeface="黑体" panose="02010609060101010101" pitchFamily="49" charset="-122"/>
              </a:rPr>
              <a:t>的拥塞控制方法</a:t>
            </a:r>
          </a:p>
          <a:p>
            <a:r>
              <a:rPr lang="en-US" altLang="zh-CN" smtClean="0">
                <a:ea typeface="黑体" panose="02010609060101010101" pitchFamily="49" charset="-122"/>
              </a:rPr>
              <a:t>5.8.3  </a:t>
            </a:r>
            <a:r>
              <a:rPr lang="zh-CN" altLang="zh-CN" smtClean="0">
                <a:ea typeface="黑体" panose="02010609060101010101" pitchFamily="49" charset="-122"/>
              </a:rPr>
              <a:t>主动队列管理</a:t>
            </a:r>
            <a:r>
              <a:rPr lang="en-US" altLang="zh-CN" smtClean="0">
                <a:ea typeface="黑体" panose="02010609060101010101" pitchFamily="49" charset="-122"/>
              </a:rPr>
              <a:t> AQM</a:t>
            </a:r>
            <a:endParaRPr lang="zh-CN" altLang="zh-CN" smtClean="0">
              <a:ea typeface="黑体" panose="02010609060101010101" pitchFamily="49" charset="-122"/>
            </a:endParaRPr>
          </a:p>
        </p:txBody>
      </p:sp>
      <p:sp>
        <p:nvSpPr>
          <p:cNvPr id="14960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CF1A0E-D443-46DF-BA00-0218B64F50EB}" type="slidenum">
              <a:rPr lang="zh-CN" altLang="en-US" smtClean="0"/>
              <a:pPr eaLnBrk="1" hangingPunct="1"/>
              <a:t>12</a:t>
            </a:fld>
            <a:endParaRPr lang="en-US" altLang="zh-CN" smtClean="0"/>
          </a:p>
        </p:txBody>
      </p:sp>
      <p:sp>
        <p:nvSpPr>
          <p:cNvPr id="14960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11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5.8.1  </a:t>
            </a:r>
            <a:r>
              <a:rPr lang="zh-CN" altLang="zh-CN" smtClean="0">
                <a:ea typeface="黑体" panose="02010609060101010101" pitchFamily="49" charset="-122"/>
              </a:rPr>
              <a:t>拥塞控制的一般原理</a:t>
            </a:r>
            <a:endParaRPr lang="zh-CN" altLang="en-US" smtClean="0">
              <a:ea typeface="黑体" panose="02010609060101010101" pitchFamily="49" charset="-122"/>
            </a:endParaRPr>
          </a:p>
        </p:txBody>
      </p:sp>
      <p:sp>
        <p:nvSpPr>
          <p:cNvPr id="1498114" name="内容占位符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在某段时间，若对网络中某资源的需求超过了该资源所能提供的可用部分，网络的性能就要变坏。这种现象称为</a:t>
            </a:r>
            <a:r>
              <a:rPr lang="zh-CN" altLang="en-US" smtClean="0">
                <a:solidFill>
                  <a:srgbClr val="FF0000"/>
                </a:solidFill>
                <a:ea typeface="黑体" panose="02010609060101010101" pitchFamily="49" charset="-122"/>
              </a:rPr>
              <a:t>拥塞 </a:t>
            </a:r>
            <a:r>
              <a:rPr lang="en-US" altLang="zh-CN" smtClean="0">
                <a:solidFill>
                  <a:srgbClr val="FF0000"/>
                </a:solidFill>
                <a:ea typeface="黑体" panose="02010609060101010101" pitchFamily="49" charset="-122"/>
              </a:rPr>
              <a:t>(congestion)</a:t>
            </a:r>
            <a:r>
              <a:rPr lang="zh-CN" altLang="en-US" smtClean="0">
                <a:solidFill>
                  <a:srgbClr val="FF0000"/>
                </a:solidFill>
                <a:ea typeface="黑体" panose="02010609060101010101" pitchFamily="49" charset="-122"/>
              </a:rPr>
              <a:t>。</a:t>
            </a:r>
          </a:p>
          <a:p>
            <a:r>
              <a:rPr lang="zh-CN" altLang="en-US" smtClean="0">
                <a:ea typeface="黑体" panose="02010609060101010101" pitchFamily="49" charset="-122"/>
              </a:rPr>
              <a:t>若网络中有许多资源同时产生拥塞，网络的性能就要明显变坏，整个网络的吞吐量将随输入负荷的增大而下降。</a:t>
            </a:r>
            <a:endParaRPr lang="en-US" altLang="zh-CN" smtClean="0">
              <a:ea typeface="黑体" panose="02010609060101010101" pitchFamily="49" charset="-122"/>
            </a:endParaRPr>
          </a:p>
          <a:p>
            <a:r>
              <a:rPr lang="zh-CN" altLang="en-US" smtClean="0">
                <a:ea typeface="黑体" panose="02010609060101010101" pitchFamily="49" charset="-122"/>
              </a:rPr>
              <a:t>出现拥塞的</a:t>
            </a:r>
            <a:r>
              <a:rPr lang="zh-CN" altLang="en-US" smtClean="0">
                <a:solidFill>
                  <a:srgbClr val="FF0000"/>
                </a:solidFill>
                <a:ea typeface="黑体" panose="02010609060101010101" pitchFamily="49" charset="-122"/>
              </a:rPr>
              <a:t>原因：</a:t>
            </a:r>
          </a:p>
          <a:p>
            <a:endParaRPr lang="zh-CN" altLang="en-US" smtClean="0">
              <a:ea typeface="黑体" panose="02010609060101010101" pitchFamily="49" charset="-122"/>
            </a:endParaRPr>
          </a:p>
          <a:p>
            <a:endParaRPr lang="zh-CN" altLang="en-US" smtClean="0">
              <a:ea typeface="黑体" panose="02010609060101010101" pitchFamily="49" charset="-122"/>
            </a:endParaRPr>
          </a:p>
        </p:txBody>
      </p:sp>
      <p:sp>
        <p:nvSpPr>
          <p:cNvPr id="1498115" name="Rectangle 3"/>
          <p:cNvSpPr>
            <a:spLocks noChangeArrowheads="1"/>
          </p:cNvSpPr>
          <p:nvPr/>
        </p:nvSpPr>
        <p:spPr bwMode="auto">
          <a:xfrm>
            <a:off x="938213" y="5251450"/>
            <a:ext cx="8335962" cy="841375"/>
          </a:xfrm>
          <a:prstGeom prst="rect">
            <a:avLst/>
          </a:prstGeom>
          <a:solidFill>
            <a:srgbClr val="FFFF66"/>
          </a:solidFill>
          <a:ln w="9525">
            <a:solidFill>
              <a:schemeClr val="tx1"/>
            </a:solidFill>
            <a:miter lim="800000"/>
            <a:headEnd/>
            <a:tailEnd/>
          </a:ln>
          <a:effectLst>
            <a:outerShdw dist="35921" sx="999" sy="999" algn="ctr" rotWithShape="0">
              <a:schemeClr val="bg2"/>
            </a:outerShdw>
          </a:effectLst>
        </p:spPr>
        <p:txBody>
          <a:bodyPr wrap="none" anchor="ctr"/>
          <a:lstStyle/>
          <a:p>
            <a:pPr eaLnBrk="0" hangingPunct="0"/>
            <a:r>
              <a:rPr lang="zh-CN" altLang="en-US" sz="3200" b="1">
                <a:solidFill>
                  <a:srgbClr val="000099"/>
                </a:solidFill>
                <a:ea typeface="黑体" panose="02010609060101010101" pitchFamily="49" charset="-122"/>
              </a:rPr>
              <a:t>   ∑对资源需求  </a:t>
            </a:r>
            <a:r>
              <a:rPr lang="en-US" altLang="zh-CN" sz="3200" b="1">
                <a:solidFill>
                  <a:srgbClr val="000099"/>
                </a:solidFill>
                <a:ea typeface="黑体" panose="02010609060101010101" pitchFamily="49" charset="-122"/>
              </a:rPr>
              <a:t>&gt; </a:t>
            </a:r>
            <a:r>
              <a:rPr lang="zh-CN" altLang="en-US" sz="3200" b="1">
                <a:solidFill>
                  <a:srgbClr val="000099"/>
                </a:solidFill>
                <a:ea typeface="黑体" panose="02010609060101010101" pitchFamily="49" charset="-122"/>
              </a:rPr>
              <a:t>可用资源                 </a:t>
            </a:r>
            <a:r>
              <a:rPr lang="en-US" altLang="zh-CN" sz="3200" b="1">
                <a:solidFill>
                  <a:srgbClr val="000099"/>
                </a:solidFill>
                <a:ea typeface="黑体" panose="02010609060101010101" pitchFamily="49" charset="-122"/>
              </a:rPr>
              <a:t>(5-7)</a:t>
            </a:r>
          </a:p>
        </p:txBody>
      </p:sp>
      <p:sp>
        <p:nvSpPr>
          <p:cNvPr id="1498116"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09C9045-63B9-4B50-BB5A-99F27BA2E62E}" type="slidenum">
              <a:rPr lang="zh-CN" altLang="en-US" smtClean="0"/>
              <a:pPr eaLnBrk="1" hangingPunct="1"/>
              <a:t>13</a:t>
            </a:fld>
            <a:endParaRPr lang="en-US" altLang="zh-CN" smtClean="0"/>
          </a:p>
        </p:txBody>
      </p:sp>
      <p:sp>
        <p:nvSpPr>
          <p:cNvPr id="1498117"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9137" name="标题 1"/>
          <p:cNvSpPr>
            <a:spLocks noGrp="1" noChangeArrowheads="1"/>
          </p:cNvSpPr>
          <p:nvPr>
            <p:ph type="title"/>
          </p:nvPr>
        </p:nvSpPr>
        <p:spPr>
          <a:xfrm>
            <a:off x="495300" y="188913"/>
            <a:ext cx="9066213" cy="792162"/>
          </a:xfrm>
        </p:spPr>
        <p:txBody>
          <a:bodyPr/>
          <a:lstStyle/>
          <a:p>
            <a:pPr algn="ctr"/>
            <a:r>
              <a:rPr lang="zh-CN" altLang="en-US" smtClean="0">
                <a:solidFill>
                  <a:srgbClr val="FF0000"/>
                </a:solidFill>
                <a:ea typeface="黑体" panose="02010609060101010101" pitchFamily="49" charset="-122"/>
              </a:rPr>
              <a:t>增加资源能解决拥塞吗？</a:t>
            </a:r>
          </a:p>
        </p:txBody>
      </p:sp>
      <p:sp>
        <p:nvSpPr>
          <p:cNvPr id="1499138" name="内容占位符 2"/>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不能</a:t>
            </a:r>
            <a:r>
              <a:rPr lang="zh-CN" altLang="zh-CN" smtClean="0">
                <a:solidFill>
                  <a:srgbClr val="FF0000"/>
                </a:solidFill>
                <a:ea typeface="黑体" panose="02010609060101010101" pitchFamily="49" charset="-122"/>
              </a:rPr>
              <a:t>。</a:t>
            </a:r>
            <a:r>
              <a:rPr lang="zh-CN" altLang="zh-CN" smtClean="0">
                <a:ea typeface="黑体" panose="02010609060101010101" pitchFamily="49" charset="-122"/>
              </a:rPr>
              <a:t>这是因为网络拥塞是一个非常复杂的问题。简单地采用上述做法，在许多情况下，不但不能解决拥塞问题，而且还可能使网络的性能更坏。</a:t>
            </a:r>
            <a:endParaRPr lang="en-US" altLang="zh-CN" smtClean="0">
              <a:ea typeface="黑体" panose="02010609060101010101" pitchFamily="49" charset="-122"/>
            </a:endParaRPr>
          </a:p>
          <a:p>
            <a:r>
              <a:rPr lang="zh-CN" altLang="zh-CN" smtClean="0">
                <a:ea typeface="黑体" panose="02010609060101010101" pitchFamily="49" charset="-122"/>
              </a:rPr>
              <a:t>网络拥塞往往是由许多因素引起的。例如</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en-US" smtClean="0">
                <a:ea typeface="黑体" panose="02010609060101010101" pitchFamily="49" charset="-122"/>
              </a:rPr>
              <a:t>增大缓存，但未提高</a:t>
            </a:r>
            <a:r>
              <a:rPr lang="zh-CN" altLang="zh-CN" smtClean="0">
                <a:ea typeface="黑体" panose="02010609060101010101" pitchFamily="49" charset="-122"/>
              </a:rPr>
              <a:t>输出链路的容量和处理机的速度，排队等待时间将会大大增加</a:t>
            </a:r>
            <a:r>
              <a:rPr lang="zh-CN" altLang="en-US" smtClean="0">
                <a:ea typeface="黑体" panose="02010609060101010101" pitchFamily="49" charset="-122"/>
              </a:rPr>
              <a:t>，引起大量超时重传，</a:t>
            </a:r>
            <a:r>
              <a:rPr lang="zh-CN" altLang="zh-CN" smtClean="0">
                <a:ea typeface="黑体" panose="02010609060101010101" pitchFamily="49" charset="-122"/>
              </a:rPr>
              <a:t>解决不了网络拥塞</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en-US" smtClean="0">
                <a:ea typeface="黑体" panose="02010609060101010101" pitchFamily="49" charset="-122"/>
              </a:rPr>
              <a:t>提高</a:t>
            </a:r>
            <a:r>
              <a:rPr lang="zh-CN" altLang="zh-CN" smtClean="0">
                <a:ea typeface="黑体" panose="02010609060101010101" pitchFamily="49" charset="-122"/>
              </a:rPr>
              <a:t>处理机处理的速率</a:t>
            </a:r>
            <a:r>
              <a:rPr lang="zh-CN" altLang="en-US" smtClean="0">
                <a:ea typeface="黑体" panose="02010609060101010101" pitchFamily="49" charset="-122"/>
              </a:rPr>
              <a:t>会</a:t>
            </a:r>
            <a:r>
              <a:rPr lang="zh-CN" altLang="zh-CN" smtClean="0">
                <a:ea typeface="黑体" panose="02010609060101010101" pitchFamily="49" charset="-122"/>
              </a:rPr>
              <a:t>会将瓶颈转移到其他地方</a:t>
            </a:r>
            <a:r>
              <a:rPr lang="zh-CN" altLang="en-US" smtClean="0">
                <a:ea typeface="黑体" panose="02010609060101010101" pitchFamily="49" charset="-122"/>
              </a:rPr>
              <a:t>；</a:t>
            </a:r>
            <a:endParaRPr lang="en-US" altLang="zh-CN" smtClean="0">
              <a:ea typeface="黑体" panose="02010609060101010101" pitchFamily="49" charset="-122"/>
            </a:endParaRPr>
          </a:p>
          <a:p>
            <a:pPr lvl="1"/>
            <a:endParaRPr lang="en-US" altLang="zh-CN" smtClean="0">
              <a:ea typeface="黑体" panose="02010609060101010101" pitchFamily="49" charset="-122"/>
            </a:endParaRPr>
          </a:p>
          <a:p>
            <a:pPr lvl="1"/>
            <a:endParaRPr lang="zh-CN" altLang="en-US" smtClean="0">
              <a:ea typeface="黑体" panose="02010609060101010101" pitchFamily="49" charset="-122"/>
            </a:endParaRPr>
          </a:p>
        </p:txBody>
      </p:sp>
      <p:sp>
        <p:nvSpPr>
          <p:cNvPr id="149913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8FFF49-B077-4270-A5F6-A8278ECA2B31}" type="slidenum">
              <a:rPr lang="zh-CN" altLang="en-US" smtClean="0"/>
              <a:pPr eaLnBrk="1" hangingPunct="1"/>
              <a:t>14</a:t>
            </a:fld>
            <a:endParaRPr lang="en-US" altLang="zh-CN" smtClean="0"/>
          </a:p>
        </p:txBody>
      </p:sp>
      <p:sp>
        <p:nvSpPr>
          <p:cNvPr id="149914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61"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拥塞常常趋于恶化</a:t>
            </a:r>
            <a:endParaRPr lang="zh-CN" altLang="en-US" smtClean="0">
              <a:ea typeface="黑体" panose="02010609060101010101" pitchFamily="49" charset="-122"/>
            </a:endParaRPr>
          </a:p>
        </p:txBody>
      </p:sp>
      <p:sp>
        <p:nvSpPr>
          <p:cNvPr id="1500162"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如果一个路由器没有足够的缓存空间，它就会丢弃一些新到的分组。</a:t>
            </a:r>
            <a:endParaRPr lang="en-US" altLang="zh-CN" smtClean="0">
              <a:ea typeface="黑体" panose="02010609060101010101" pitchFamily="49" charset="-122"/>
            </a:endParaRPr>
          </a:p>
          <a:p>
            <a:r>
              <a:rPr lang="zh-CN" altLang="zh-CN" smtClean="0">
                <a:ea typeface="黑体" panose="02010609060101010101" pitchFamily="49" charset="-122"/>
              </a:rPr>
              <a:t>但当分组被丢弃时，发送这一分组的源点就会重传这一分组，甚至可能还要重传多次。这样会引起更多的分组流入网络和被网络中的路由器丢弃。</a:t>
            </a:r>
            <a:endParaRPr lang="en-US" altLang="zh-CN" smtClean="0">
              <a:ea typeface="黑体" panose="02010609060101010101" pitchFamily="49" charset="-122"/>
            </a:endParaRPr>
          </a:p>
          <a:p>
            <a:r>
              <a:rPr lang="zh-CN" altLang="zh-CN" smtClean="0">
                <a:solidFill>
                  <a:srgbClr val="0000FF"/>
                </a:solidFill>
                <a:ea typeface="黑体" panose="02010609060101010101" pitchFamily="49" charset="-122"/>
              </a:rPr>
              <a:t>可见拥塞引起的重传并不会缓解网络的拥塞，反而会加剧网络的拥塞。</a:t>
            </a:r>
            <a:endParaRPr lang="zh-CN" altLang="en-US" smtClean="0">
              <a:solidFill>
                <a:srgbClr val="0000FF"/>
              </a:solidFill>
              <a:ea typeface="黑体" panose="02010609060101010101" pitchFamily="49" charset="-122"/>
            </a:endParaRPr>
          </a:p>
        </p:txBody>
      </p:sp>
      <p:sp>
        <p:nvSpPr>
          <p:cNvPr id="150016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38DAA8-60B8-48D2-A460-4D1E8CC6ACB7}" type="slidenum">
              <a:rPr lang="zh-CN" altLang="en-US" smtClean="0"/>
              <a:pPr eaLnBrk="1" hangingPunct="1"/>
              <a:t>15</a:t>
            </a:fld>
            <a:endParaRPr lang="en-US" altLang="zh-CN" smtClean="0"/>
          </a:p>
        </p:txBody>
      </p:sp>
      <p:sp>
        <p:nvSpPr>
          <p:cNvPr id="150016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11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拥塞控制与流量控制的区别 </a:t>
            </a:r>
          </a:p>
        </p:txBody>
      </p:sp>
      <p:sp>
        <p:nvSpPr>
          <p:cNvPr id="2236419" name="Rectangle 3"/>
          <p:cNvSpPr>
            <a:spLocks noGrp="1" noChangeArrowheads="1"/>
          </p:cNvSpPr>
          <p:nvPr>
            <p:ph idx="1"/>
          </p:nvPr>
        </p:nvSpPr>
        <p:spPr>
          <a:xfrm>
            <a:off x="495300" y="1196975"/>
            <a:ext cx="9066213" cy="4933950"/>
          </a:xfrm>
        </p:spPr>
        <p:txBody>
          <a:bodyPr/>
          <a:lstStyle/>
          <a:p>
            <a:r>
              <a:rPr lang="zh-CN" altLang="zh-CN" smtClean="0">
                <a:solidFill>
                  <a:srgbClr val="FF0000"/>
                </a:solidFill>
                <a:ea typeface="黑体" panose="02010609060101010101" pitchFamily="49" charset="-122"/>
              </a:rPr>
              <a:t>拥塞控制</a:t>
            </a:r>
            <a:r>
              <a:rPr lang="zh-CN" altLang="zh-CN" smtClean="0">
                <a:ea typeface="黑体" panose="02010609060101010101" pitchFamily="49" charset="-122"/>
              </a:rPr>
              <a:t>就是防止过多的数据注入到网络中，使网络中的路由器或链路不致过载。</a:t>
            </a:r>
            <a:endParaRPr lang="en-US" altLang="zh-CN" smtClean="0">
              <a:ea typeface="黑体" panose="02010609060101010101" pitchFamily="49" charset="-122"/>
            </a:endParaRPr>
          </a:p>
          <a:p>
            <a:r>
              <a:rPr lang="zh-CN" altLang="zh-CN" smtClean="0">
                <a:solidFill>
                  <a:srgbClr val="0000FF"/>
                </a:solidFill>
                <a:ea typeface="黑体" panose="02010609060101010101" pitchFamily="49" charset="-122"/>
              </a:rPr>
              <a:t>拥塞控制所要做的都有一个前提，就是网络能够承受现有的网络负荷。</a:t>
            </a:r>
            <a:endParaRPr lang="zh-CN" altLang="en-US" smtClean="0">
              <a:solidFill>
                <a:srgbClr val="0000FF"/>
              </a:solidFill>
              <a:ea typeface="黑体" panose="02010609060101010101" pitchFamily="49" charset="-122"/>
            </a:endParaRPr>
          </a:p>
          <a:p>
            <a:r>
              <a:rPr lang="zh-CN" altLang="en-US" smtClean="0">
                <a:solidFill>
                  <a:srgbClr val="FF0000"/>
                </a:solidFill>
                <a:ea typeface="黑体" panose="02010609060101010101" pitchFamily="49" charset="-122"/>
              </a:rPr>
              <a:t>拥塞控制</a:t>
            </a:r>
            <a:r>
              <a:rPr lang="zh-CN" altLang="en-US" smtClean="0">
                <a:ea typeface="黑体" panose="02010609060101010101" pitchFamily="49" charset="-122"/>
              </a:rPr>
              <a:t>是一个全局性的过程，涉及到所有的主机、所有的路由器，以及与降低网络传输性能有关的所有因素。 </a:t>
            </a:r>
          </a:p>
        </p:txBody>
      </p:sp>
      <p:sp>
        <p:nvSpPr>
          <p:cNvPr id="15011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D86AA5-53AA-4587-B1B8-62D564511455}" type="slidenum">
              <a:rPr lang="zh-CN" altLang="en-US" smtClean="0"/>
              <a:pPr eaLnBrk="1" hangingPunct="1"/>
              <a:t>16</a:t>
            </a:fld>
            <a:endParaRPr lang="en-US" altLang="zh-CN" smtClean="0"/>
          </a:p>
        </p:txBody>
      </p:sp>
      <p:sp>
        <p:nvSpPr>
          <p:cNvPr id="15011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36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64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22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拥塞控制与流量控制的区别 </a:t>
            </a:r>
          </a:p>
        </p:txBody>
      </p:sp>
      <p:sp>
        <p:nvSpPr>
          <p:cNvPr id="2236419" name="Rectangle 3"/>
          <p:cNvSpPr>
            <a:spLocks noGrp="1" noChangeArrowheads="1"/>
          </p:cNvSpPr>
          <p:nvPr>
            <p:ph idx="1"/>
          </p:nvPr>
        </p:nvSpPr>
        <p:spPr>
          <a:xfrm>
            <a:off x="495300" y="1196975"/>
            <a:ext cx="9066213" cy="4933950"/>
          </a:xfrm>
        </p:spPr>
        <p:txBody>
          <a:bodyPr/>
          <a:lstStyle/>
          <a:p>
            <a:r>
              <a:rPr lang="zh-CN" altLang="zh-CN" smtClean="0">
                <a:solidFill>
                  <a:srgbClr val="0000FF"/>
                </a:solidFill>
                <a:ea typeface="黑体" panose="02010609060101010101" pitchFamily="49" charset="-122"/>
              </a:rPr>
              <a:t>流量控制</a:t>
            </a:r>
            <a:r>
              <a:rPr lang="zh-CN" altLang="zh-CN" smtClean="0">
                <a:ea typeface="黑体" panose="02010609060101010101" pitchFamily="49" charset="-122"/>
              </a:rPr>
              <a:t>往往指点对点通信量的控制，是个端到端的问题（接收端控制发送端）。</a:t>
            </a:r>
            <a:endParaRPr lang="en-US" altLang="zh-CN" smtClean="0">
              <a:ea typeface="黑体" panose="02010609060101010101" pitchFamily="49" charset="-122"/>
            </a:endParaRPr>
          </a:p>
          <a:p>
            <a:r>
              <a:rPr lang="zh-CN" altLang="zh-CN" smtClean="0">
                <a:solidFill>
                  <a:srgbClr val="0000FF"/>
                </a:solidFill>
                <a:ea typeface="黑体" panose="02010609060101010101" pitchFamily="49" charset="-122"/>
              </a:rPr>
              <a:t>流量控制</a:t>
            </a:r>
            <a:r>
              <a:rPr lang="zh-CN" altLang="zh-CN" smtClean="0">
                <a:ea typeface="黑体" panose="02010609060101010101" pitchFamily="49" charset="-122"/>
              </a:rPr>
              <a:t>所要做的就是抑制发送端发送数据的速率，以便使接收端来得及接收。</a:t>
            </a:r>
            <a:r>
              <a:rPr lang="zh-CN" altLang="en-US" smtClean="0">
                <a:ea typeface="黑体" panose="02010609060101010101" pitchFamily="49" charset="-122"/>
              </a:rPr>
              <a:t> </a:t>
            </a:r>
          </a:p>
        </p:txBody>
      </p:sp>
      <p:sp>
        <p:nvSpPr>
          <p:cNvPr id="1502211" name="矩形 1"/>
          <p:cNvSpPr>
            <a:spLocks noChangeArrowheads="1"/>
          </p:cNvSpPr>
          <p:nvPr/>
        </p:nvSpPr>
        <p:spPr bwMode="auto">
          <a:xfrm>
            <a:off x="849313" y="3716338"/>
            <a:ext cx="8496300" cy="1947862"/>
          </a:xfrm>
          <a:prstGeom prst="rect">
            <a:avLst/>
          </a:prstGeom>
          <a:solidFill>
            <a:srgbClr val="FFFF66"/>
          </a:solidFill>
          <a:ln w="9525">
            <a:solidFill>
              <a:schemeClr val="tx1"/>
            </a:solidFill>
            <a:round/>
            <a:headEnd/>
            <a:tailEnd/>
          </a:ln>
        </p:spPr>
        <p:txBody>
          <a:bodyPr>
            <a:spAutoFit/>
          </a:bodyPr>
          <a:lstStyle/>
          <a:p>
            <a:pPr eaLnBrk="0" hangingPunct="0">
              <a:lnSpc>
                <a:spcPct val="110000"/>
              </a:lnSpc>
            </a:pPr>
            <a:r>
              <a:rPr lang="zh-CN" altLang="zh-CN" sz="2800" b="1" dirty="0">
                <a:solidFill>
                  <a:srgbClr val="000099"/>
                </a:solidFill>
                <a:ea typeface="黑体" panose="02010609060101010101" pitchFamily="49" charset="-122"/>
              </a:rPr>
              <a:t>拥塞控制和流量控制之所以常常被弄混，是因为某些拥塞控制算法是向发送端发送控制报文，并告诉发送端，网络已出现麻烦，必须</a:t>
            </a:r>
            <a:r>
              <a:rPr lang="zh-CN" altLang="zh-CN" sz="2800" b="1" dirty="0">
                <a:solidFill>
                  <a:srgbClr val="FF0000"/>
                </a:solidFill>
                <a:ea typeface="黑体" panose="02010609060101010101" pitchFamily="49" charset="-122"/>
              </a:rPr>
              <a:t>放慢发送速率</a:t>
            </a:r>
            <a:r>
              <a:rPr lang="zh-CN" altLang="zh-CN" sz="2800" b="1" dirty="0">
                <a:solidFill>
                  <a:srgbClr val="000099"/>
                </a:solidFill>
                <a:ea typeface="黑体" panose="02010609060101010101" pitchFamily="49" charset="-122"/>
              </a:rPr>
              <a:t>。这点又和流量控制是很相似的。</a:t>
            </a:r>
            <a:endParaRPr lang="zh-CN" altLang="en-US" sz="2800" b="1" dirty="0">
              <a:solidFill>
                <a:srgbClr val="000099"/>
              </a:solidFill>
              <a:ea typeface="黑体" panose="02010609060101010101" pitchFamily="49" charset="-122"/>
            </a:endParaRPr>
          </a:p>
        </p:txBody>
      </p:sp>
      <p:sp>
        <p:nvSpPr>
          <p:cNvPr id="150221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2A0A2E-7012-4C1D-9597-D387B1EF07C9}" type="slidenum">
              <a:rPr lang="zh-CN" altLang="en-US" smtClean="0"/>
              <a:pPr eaLnBrk="1" hangingPunct="1"/>
              <a:t>17</a:t>
            </a:fld>
            <a:endParaRPr lang="en-US" altLang="zh-CN" smtClean="0"/>
          </a:p>
        </p:txBody>
      </p:sp>
      <p:sp>
        <p:nvSpPr>
          <p:cNvPr id="150221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364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364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641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3233" name="Rectangle 2"/>
          <p:cNvSpPr>
            <a:spLocks noGrp="1" noChangeArrowheads="1"/>
          </p:cNvSpPr>
          <p:nvPr>
            <p:ph type="title"/>
          </p:nvPr>
        </p:nvSpPr>
        <p:spPr/>
        <p:txBody>
          <a:bodyPr/>
          <a:lstStyle/>
          <a:p>
            <a:pPr algn="ctr"/>
            <a:r>
              <a:rPr lang="zh-CN" altLang="en-US" smtClean="0">
                <a:ea typeface="黑体" panose="02010609060101010101" pitchFamily="49" charset="-122"/>
              </a:rPr>
              <a:t>拥塞控制所起的作用 </a:t>
            </a:r>
          </a:p>
        </p:txBody>
      </p:sp>
      <p:sp>
        <p:nvSpPr>
          <p:cNvPr id="1503234" name="Line 3"/>
          <p:cNvSpPr>
            <a:spLocks noChangeShapeType="1"/>
          </p:cNvSpPr>
          <p:nvPr/>
        </p:nvSpPr>
        <p:spPr bwMode="auto">
          <a:xfrm rot="-5400000">
            <a:off x="-621506" y="3464719"/>
            <a:ext cx="3481388"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03235" name="Text Box 4"/>
          <p:cNvSpPr txBox="1">
            <a:spLocks noChangeArrowheads="1"/>
          </p:cNvSpPr>
          <p:nvPr/>
        </p:nvSpPr>
        <p:spPr bwMode="auto">
          <a:xfrm>
            <a:off x="7758113" y="5241925"/>
            <a:ext cx="1731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latin typeface="Tahoma" panose="020B0604030504040204" pitchFamily="34" charset="0"/>
                <a:ea typeface="黑体" panose="02010609060101010101" pitchFamily="49" charset="-122"/>
              </a:rPr>
              <a:t>提供的负载</a:t>
            </a:r>
          </a:p>
        </p:txBody>
      </p:sp>
      <p:sp>
        <p:nvSpPr>
          <p:cNvPr id="1503236" name="Text Box 5"/>
          <p:cNvSpPr txBox="1">
            <a:spLocks noChangeArrowheads="1"/>
          </p:cNvSpPr>
          <p:nvPr/>
        </p:nvSpPr>
        <p:spPr bwMode="auto">
          <a:xfrm>
            <a:off x="1119188" y="1524000"/>
            <a:ext cx="1112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latin typeface="Tahoma" panose="020B0604030504040204" pitchFamily="34" charset="0"/>
                <a:ea typeface="黑体" panose="02010609060101010101" pitchFamily="49" charset="-122"/>
              </a:rPr>
              <a:t>吞吐量</a:t>
            </a:r>
          </a:p>
        </p:txBody>
      </p:sp>
      <p:grpSp>
        <p:nvGrpSpPr>
          <p:cNvPr id="2237446" name="Group 6"/>
          <p:cNvGrpSpPr>
            <a:grpSpLocks/>
          </p:cNvGrpSpPr>
          <p:nvPr/>
        </p:nvGrpSpPr>
        <p:grpSpPr bwMode="auto">
          <a:xfrm>
            <a:off x="1119188" y="2355850"/>
            <a:ext cx="7019925" cy="2849563"/>
            <a:chOff x="651" y="1764"/>
            <a:chExt cx="4082" cy="1795"/>
          </a:xfrm>
        </p:grpSpPr>
        <p:sp>
          <p:nvSpPr>
            <p:cNvPr id="1503238" name="Line 7"/>
            <p:cNvSpPr>
              <a:spLocks noChangeShapeType="1"/>
            </p:cNvSpPr>
            <p:nvPr/>
          </p:nvSpPr>
          <p:spPr bwMode="auto">
            <a:xfrm flipV="1">
              <a:off x="651" y="2077"/>
              <a:ext cx="1925" cy="148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03239" name="Line 8"/>
            <p:cNvSpPr>
              <a:spLocks noChangeShapeType="1"/>
            </p:cNvSpPr>
            <p:nvPr/>
          </p:nvSpPr>
          <p:spPr bwMode="auto">
            <a:xfrm>
              <a:off x="2576" y="2077"/>
              <a:ext cx="2157"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03240" name="Text Box 9"/>
            <p:cNvSpPr txBox="1">
              <a:spLocks noChangeArrowheads="1"/>
            </p:cNvSpPr>
            <p:nvPr/>
          </p:nvSpPr>
          <p:spPr bwMode="auto">
            <a:xfrm>
              <a:off x="2901" y="1764"/>
              <a:ext cx="13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FF0000"/>
                  </a:solidFill>
                  <a:latin typeface="Tahoma" panose="020B0604030504040204" pitchFamily="34" charset="0"/>
                  <a:ea typeface="黑体" panose="02010609060101010101" pitchFamily="49" charset="-122"/>
                </a:rPr>
                <a:t>理想的拥塞控制</a:t>
              </a:r>
            </a:p>
          </p:txBody>
        </p:sp>
      </p:grpSp>
      <p:sp>
        <p:nvSpPr>
          <p:cNvPr id="1503241" name="Rectangle 10"/>
          <p:cNvSpPr>
            <a:spLocks noChangeArrowheads="1"/>
          </p:cNvSpPr>
          <p:nvPr/>
        </p:nvSpPr>
        <p:spPr bwMode="auto">
          <a:xfrm>
            <a:off x="4794250" y="5300663"/>
            <a:ext cx="695325" cy="2936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grpSp>
        <p:nvGrpSpPr>
          <p:cNvPr id="2237451" name="Group 11"/>
          <p:cNvGrpSpPr>
            <a:grpSpLocks/>
          </p:cNvGrpSpPr>
          <p:nvPr/>
        </p:nvGrpSpPr>
        <p:grpSpPr bwMode="auto">
          <a:xfrm>
            <a:off x="1119188" y="2965450"/>
            <a:ext cx="7121525" cy="2239963"/>
            <a:chOff x="651" y="2148"/>
            <a:chExt cx="4141" cy="1411"/>
          </a:xfrm>
        </p:grpSpPr>
        <p:sp>
          <p:nvSpPr>
            <p:cNvPr id="1503243" name="Freeform 12"/>
            <p:cNvSpPr>
              <a:spLocks noChangeArrowheads="1"/>
            </p:cNvSpPr>
            <p:nvPr/>
          </p:nvSpPr>
          <p:spPr bwMode="auto">
            <a:xfrm>
              <a:off x="651" y="2422"/>
              <a:ext cx="4141" cy="1137"/>
            </a:xfrm>
            <a:custGeom>
              <a:avLst/>
              <a:gdLst>
                <a:gd name="T0" fmla="*/ 0 w 2581"/>
                <a:gd name="T1" fmla="*/ 921 h 921"/>
                <a:gd name="T2" fmla="*/ 876 w 2581"/>
                <a:gd name="T3" fmla="*/ 345 h 921"/>
                <a:gd name="T4" fmla="*/ 1248 w 2581"/>
                <a:gd name="T5" fmla="*/ 183 h 921"/>
                <a:gd name="T6" fmla="*/ 1584 w 2581"/>
                <a:gd name="T7" fmla="*/ 105 h 921"/>
                <a:gd name="T8" fmla="*/ 1890 w 2581"/>
                <a:gd name="T9" fmla="*/ 63 h 921"/>
                <a:gd name="T10" fmla="*/ 2232 w 2581"/>
                <a:gd name="T11" fmla="*/ 21 h 921"/>
                <a:gd name="T12" fmla="*/ 2538 w 2581"/>
                <a:gd name="T13" fmla="*/ 3 h 921"/>
                <a:gd name="T14" fmla="*/ 2490 w 2581"/>
                <a:gd name="T15" fmla="*/ 3 h 9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571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nvGrpSpPr>
            <p:cNvPr id="1503244" name="Group 13"/>
            <p:cNvGrpSpPr>
              <a:grpSpLocks/>
            </p:cNvGrpSpPr>
            <p:nvPr/>
          </p:nvGrpSpPr>
          <p:grpSpPr bwMode="auto">
            <a:xfrm>
              <a:off x="2499" y="2148"/>
              <a:ext cx="1367" cy="415"/>
              <a:chOff x="2499" y="2148"/>
              <a:chExt cx="1367" cy="415"/>
            </a:xfrm>
          </p:grpSpPr>
          <p:sp>
            <p:nvSpPr>
              <p:cNvPr id="1503245" name="Text Box 14"/>
              <p:cNvSpPr txBox="1">
                <a:spLocks noChangeArrowheads="1"/>
              </p:cNvSpPr>
              <p:nvPr/>
            </p:nvSpPr>
            <p:spPr bwMode="auto">
              <a:xfrm>
                <a:off x="2499" y="2148"/>
                <a:ext cx="13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333399"/>
                    </a:solidFill>
                    <a:latin typeface="Tahoma" panose="020B0604030504040204" pitchFamily="34" charset="0"/>
                    <a:ea typeface="黑体" panose="02010609060101010101" pitchFamily="49" charset="-122"/>
                  </a:rPr>
                  <a:t>实际的拥塞控制</a:t>
                </a:r>
              </a:p>
            </p:txBody>
          </p:sp>
          <p:sp>
            <p:nvSpPr>
              <p:cNvPr id="1503246" name="Line 15"/>
              <p:cNvSpPr>
                <a:spLocks noChangeShapeType="1"/>
              </p:cNvSpPr>
              <p:nvPr/>
            </p:nvSpPr>
            <p:spPr bwMode="auto">
              <a:xfrm>
                <a:off x="3016" y="2387"/>
                <a:ext cx="100" cy="17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sp>
        <p:nvSpPr>
          <p:cNvPr id="1503247" name="Line 16"/>
          <p:cNvSpPr>
            <a:spLocks noChangeShapeType="1"/>
          </p:cNvSpPr>
          <p:nvPr/>
        </p:nvSpPr>
        <p:spPr bwMode="auto">
          <a:xfrm>
            <a:off x="1119188" y="5205413"/>
            <a:ext cx="7551737"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03248" name="Text Box 17"/>
          <p:cNvSpPr txBox="1">
            <a:spLocks noChangeArrowheads="1"/>
          </p:cNvSpPr>
          <p:nvPr/>
        </p:nvSpPr>
        <p:spPr bwMode="auto">
          <a:xfrm>
            <a:off x="704850" y="4983163"/>
            <a:ext cx="379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333399"/>
                </a:solidFill>
                <a:latin typeface="Tahoma" panose="020B0604030504040204" pitchFamily="34" charset="0"/>
                <a:ea typeface="黑体" panose="02010609060101010101" pitchFamily="49" charset="-122"/>
              </a:rPr>
              <a:t>0</a:t>
            </a:r>
          </a:p>
        </p:txBody>
      </p:sp>
      <p:grpSp>
        <p:nvGrpSpPr>
          <p:cNvPr id="2237458" name="Group 18"/>
          <p:cNvGrpSpPr>
            <a:grpSpLocks/>
          </p:cNvGrpSpPr>
          <p:nvPr/>
        </p:nvGrpSpPr>
        <p:grpSpPr bwMode="auto">
          <a:xfrm>
            <a:off x="5826125" y="4168775"/>
            <a:ext cx="3743325" cy="1073150"/>
            <a:chOff x="3388" y="2906"/>
            <a:chExt cx="2176" cy="676"/>
          </a:xfrm>
        </p:grpSpPr>
        <p:grpSp>
          <p:nvGrpSpPr>
            <p:cNvPr id="1503250" name="Group 19"/>
            <p:cNvGrpSpPr>
              <a:grpSpLocks/>
            </p:cNvGrpSpPr>
            <p:nvPr/>
          </p:nvGrpSpPr>
          <p:grpSpPr bwMode="auto">
            <a:xfrm>
              <a:off x="3429" y="2906"/>
              <a:ext cx="2135" cy="624"/>
              <a:chOff x="3429" y="2906"/>
              <a:chExt cx="2135" cy="624"/>
            </a:xfrm>
          </p:grpSpPr>
          <p:sp>
            <p:nvSpPr>
              <p:cNvPr id="1503251" name="Text Box 20"/>
              <p:cNvSpPr txBox="1">
                <a:spLocks noChangeArrowheads="1"/>
              </p:cNvSpPr>
              <p:nvPr/>
            </p:nvSpPr>
            <p:spPr bwMode="auto">
              <a:xfrm>
                <a:off x="3833" y="2906"/>
                <a:ext cx="173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C00000"/>
                    </a:solidFill>
                    <a:latin typeface="Tahoma" panose="020B0604030504040204" pitchFamily="34" charset="0"/>
                    <a:ea typeface="黑体" panose="02010609060101010101" pitchFamily="49" charset="-122"/>
                  </a:rPr>
                  <a:t>死锁（吞吐量 </a:t>
                </a:r>
                <a:r>
                  <a:rPr lang="en-US" altLang="zh-CN" sz="2400" b="1">
                    <a:solidFill>
                      <a:srgbClr val="C00000"/>
                    </a:solidFill>
                    <a:latin typeface="Tahoma" panose="020B0604030504040204" pitchFamily="34" charset="0"/>
                    <a:ea typeface="黑体" panose="02010609060101010101" pitchFamily="49" charset="-122"/>
                  </a:rPr>
                  <a:t>= 0</a:t>
                </a:r>
                <a:r>
                  <a:rPr lang="zh-CN" altLang="en-US" sz="2400" b="1">
                    <a:solidFill>
                      <a:srgbClr val="C00000"/>
                    </a:solidFill>
                    <a:latin typeface="Tahoma" panose="020B0604030504040204" pitchFamily="34" charset="0"/>
                    <a:ea typeface="黑体" panose="02010609060101010101" pitchFamily="49" charset="-122"/>
                  </a:rPr>
                  <a:t>）</a:t>
                </a:r>
              </a:p>
            </p:txBody>
          </p:sp>
          <p:sp>
            <p:nvSpPr>
              <p:cNvPr id="1503252" name="Line 21"/>
              <p:cNvSpPr>
                <a:spLocks noChangeShapeType="1"/>
              </p:cNvSpPr>
              <p:nvPr/>
            </p:nvSpPr>
            <p:spPr bwMode="auto">
              <a:xfrm flipH="1">
                <a:off x="3429" y="3144"/>
                <a:ext cx="457" cy="386"/>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sp>
          <p:nvSpPr>
            <p:cNvPr id="1503253" name="Oval 22"/>
            <p:cNvSpPr>
              <a:spLocks noChangeArrowheads="1"/>
            </p:cNvSpPr>
            <p:nvPr/>
          </p:nvSpPr>
          <p:spPr bwMode="auto">
            <a:xfrm>
              <a:off x="3388" y="3522"/>
              <a:ext cx="63" cy="60"/>
            </a:xfrm>
            <a:prstGeom prst="ellipse">
              <a:avLst/>
            </a:prstGeom>
            <a:solidFill>
              <a:srgbClr val="FF0066"/>
            </a:solidFill>
            <a:ln w="9525">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grpSp>
      <p:grpSp>
        <p:nvGrpSpPr>
          <p:cNvPr id="2237463" name="Group 23"/>
          <p:cNvGrpSpPr>
            <a:grpSpLocks/>
          </p:cNvGrpSpPr>
          <p:nvPr/>
        </p:nvGrpSpPr>
        <p:grpSpPr bwMode="auto">
          <a:xfrm>
            <a:off x="1119188" y="3586163"/>
            <a:ext cx="6632575" cy="2290762"/>
            <a:chOff x="651" y="2544"/>
            <a:chExt cx="3856" cy="1443"/>
          </a:xfrm>
        </p:grpSpPr>
        <p:sp>
          <p:nvSpPr>
            <p:cNvPr id="1503255" name="Line 24"/>
            <p:cNvSpPr>
              <a:spLocks noChangeShapeType="1"/>
            </p:cNvSpPr>
            <p:nvPr/>
          </p:nvSpPr>
          <p:spPr bwMode="auto">
            <a:xfrm>
              <a:off x="2585" y="3737"/>
              <a:ext cx="84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solidFill>
                  <a:srgbClr val="000099"/>
                </a:solidFill>
                <a:ea typeface="宋体" panose="02010600030101010101" pitchFamily="2" charset="-122"/>
              </a:endParaRPr>
            </a:p>
          </p:txBody>
        </p:sp>
        <p:sp>
          <p:nvSpPr>
            <p:cNvPr id="1503256" name="Line 25"/>
            <p:cNvSpPr>
              <a:spLocks noChangeShapeType="1"/>
            </p:cNvSpPr>
            <p:nvPr/>
          </p:nvSpPr>
          <p:spPr bwMode="auto">
            <a:xfrm>
              <a:off x="1633" y="3737"/>
              <a:ext cx="943"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solidFill>
                  <a:srgbClr val="000099"/>
                </a:solidFill>
                <a:ea typeface="宋体" panose="02010600030101010101" pitchFamily="2" charset="-122"/>
              </a:endParaRPr>
            </a:p>
          </p:txBody>
        </p:sp>
        <p:grpSp>
          <p:nvGrpSpPr>
            <p:cNvPr id="1503257" name="Group 26"/>
            <p:cNvGrpSpPr>
              <a:grpSpLocks/>
            </p:cNvGrpSpPr>
            <p:nvPr/>
          </p:nvGrpSpPr>
          <p:grpSpPr bwMode="auto">
            <a:xfrm>
              <a:off x="651" y="2544"/>
              <a:ext cx="3856" cy="1443"/>
              <a:chOff x="651" y="2544"/>
              <a:chExt cx="3856" cy="1443"/>
            </a:xfrm>
          </p:grpSpPr>
          <p:grpSp>
            <p:nvGrpSpPr>
              <p:cNvPr id="1503258" name="Group 27"/>
              <p:cNvGrpSpPr>
                <a:grpSpLocks/>
              </p:cNvGrpSpPr>
              <p:nvPr/>
            </p:nvGrpSpPr>
            <p:grpSpPr bwMode="auto">
              <a:xfrm>
                <a:off x="651" y="2544"/>
                <a:ext cx="3856" cy="1252"/>
                <a:chOff x="651" y="2544"/>
                <a:chExt cx="3856" cy="1252"/>
              </a:xfrm>
            </p:grpSpPr>
            <p:sp>
              <p:nvSpPr>
                <p:cNvPr id="1503259" name="Freeform 28"/>
                <p:cNvSpPr>
                  <a:spLocks noChangeArrowheads="1"/>
                </p:cNvSpPr>
                <p:nvPr/>
              </p:nvSpPr>
              <p:spPr bwMode="auto">
                <a:xfrm>
                  <a:off x="651" y="2595"/>
                  <a:ext cx="2773" cy="964"/>
                </a:xfrm>
                <a:custGeom>
                  <a:avLst/>
                  <a:gdLst>
                    <a:gd name="T0" fmla="*/ 0 w 1728"/>
                    <a:gd name="T1" fmla="*/ 781 h 781"/>
                    <a:gd name="T2" fmla="*/ 750 w 1728"/>
                    <a:gd name="T3" fmla="*/ 151 h 781"/>
                    <a:gd name="T4" fmla="*/ 1080 w 1728"/>
                    <a:gd name="T5" fmla="*/ 19 h 781"/>
                    <a:gd name="T6" fmla="*/ 1314 w 1728"/>
                    <a:gd name="T7" fmla="*/ 37 h 781"/>
                    <a:gd name="T8" fmla="*/ 1488 w 1728"/>
                    <a:gd name="T9" fmla="*/ 175 h 781"/>
                    <a:gd name="T10" fmla="*/ 1602 w 1728"/>
                    <a:gd name="T11" fmla="*/ 367 h 781"/>
                    <a:gd name="T12" fmla="*/ 1686 w 1728"/>
                    <a:gd name="T13" fmla="*/ 589 h 781"/>
                    <a:gd name="T14" fmla="*/ 1728 w 1728"/>
                    <a:gd name="T15" fmla="*/ 781 h 7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a:solidFill>
                    <a:srgbClr val="00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solidFill>
                      <a:srgbClr val="000099"/>
                    </a:solidFill>
                    <a:ea typeface="宋体" panose="02010600030101010101" pitchFamily="2" charset="-122"/>
                  </a:endParaRPr>
                </a:p>
              </p:txBody>
            </p:sp>
            <p:sp>
              <p:nvSpPr>
                <p:cNvPr id="1503260" name="Line 29"/>
                <p:cNvSpPr>
                  <a:spLocks noChangeShapeType="1"/>
                </p:cNvSpPr>
                <p:nvPr/>
              </p:nvSpPr>
              <p:spPr bwMode="auto">
                <a:xfrm>
                  <a:off x="2576" y="2611"/>
                  <a:ext cx="0" cy="94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solidFill>
                      <a:srgbClr val="000099"/>
                    </a:solidFill>
                    <a:ea typeface="宋体" panose="02010600030101010101" pitchFamily="2" charset="-122"/>
                  </a:endParaRPr>
                </a:p>
              </p:txBody>
            </p:sp>
            <p:sp>
              <p:nvSpPr>
                <p:cNvPr id="1503261" name="Text Box 30"/>
                <p:cNvSpPr txBox="1">
                  <a:spLocks noChangeArrowheads="1"/>
                </p:cNvSpPr>
                <p:nvPr/>
              </p:nvSpPr>
              <p:spPr bwMode="auto">
                <a:xfrm>
                  <a:off x="3500" y="2544"/>
                  <a:ext cx="100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latin typeface="Tahoma" panose="020B0604030504040204" pitchFamily="34" charset="0"/>
                      <a:ea typeface="黑体" panose="02010609060101010101" pitchFamily="49" charset="-122"/>
                    </a:rPr>
                    <a:t>无拥塞控制</a:t>
                  </a:r>
                </a:p>
              </p:txBody>
            </p:sp>
            <p:sp>
              <p:nvSpPr>
                <p:cNvPr id="1503262" name="Line 31"/>
                <p:cNvSpPr>
                  <a:spLocks noChangeShapeType="1"/>
                </p:cNvSpPr>
                <p:nvPr/>
              </p:nvSpPr>
              <p:spPr bwMode="auto">
                <a:xfrm flipH="1">
                  <a:off x="3125" y="2759"/>
                  <a:ext cx="453" cy="14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solidFill>
                      <a:srgbClr val="000099"/>
                    </a:solidFill>
                    <a:ea typeface="宋体" panose="02010600030101010101" pitchFamily="2" charset="-122"/>
                  </a:endParaRPr>
                </a:p>
              </p:txBody>
            </p:sp>
            <p:sp>
              <p:nvSpPr>
                <p:cNvPr id="1503263" name="Line 32"/>
                <p:cNvSpPr>
                  <a:spLocks noChangeShapeType="1"/>
                </p:cNvSpPr>
                <p:nvPr/>
              </p:nvSpPr>
              <p:spPr bwMode="auto">
                <a:xfrm>
                  <a:off x="1619" y="2848"/>
                  <a:ext cx="0" cy="71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solidFill>
                      <a:srgbClr val="000099"/>
                    </a:solidFill>
                    <a:ea typeface="宋体" panose="02010600030101010101" pitchFamily="2" charset="-122"/>
                  </a:endParaRPr>
                </a:p>
              </p:txBody>
            </p:sp>
            <p:sp>
              <p:nvSpPr>
                <p:cNvPr id="1503264" name="Line 33"/>
                <p:cNvSpPr>
                  <a:spLocks noChangeShapeType="1"/>
                </p:cNvSpPr>
                <p:nvPr/>
              </p:nvSpPr>
              <p:spPr bwMode="auto">
                <a:xfrm>
                  <a:off x="2576" y="3559"/>
                  <a:ext cx="0" cy="2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solidFill>
                      <a:srgbClr val="000099"/>
                    </a:solidFill>
                    <a:ea typeface="宋体" panose="02010600030101010101" pitchFamily="2" charset="-122"/>
                  </a:endParaRPr>
                </a:p>
              </p:txBody>
            </p:sp>
            <p:sp>
              <p:nvSpPr>
                <p:cNvPr id="1503265" name="Line 34"/>
                <p:cNvSpPr>
                  <a:spLocks noChangeShapeType="1"/>
                </p:cNvSpPr>
                <p:nvPr/>
              </p:nvSpPr>
              <p:spPr bwMode="auto">
                <a:xfrm>
                  <a:off x="3424" y="3559"/>
                  <a:ext cx="0" cy="2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solidFill>
                      <a:srgbClr val="000099"/>
                    </a:solidFill>
                    <a:ea typeface="宋体" panose="02010600030101010101" pitchFamily="2" charset="-122"/>
                  </a:endParaRPr>
                </a:p>
              </p:txBody>
            </p:sp>
            <p:sp>
              <p:nvSpPr>
                <p:cNvPr id="1503266" name="Line 35"/>
                <p:cNvSpPr>
                  <a:spLocks noChangeShapeType="1"/>
                </p:cNvSpPr>
                <p:nvPr/>
              </p:nvSpPr>
              <p:spPr bwMode="auto">
                <a:xfrm>
                  <a:off x="1619" y="3559"/>
                  <a:ext cx="0" cy="2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solidFill>
                      <a:srgbClr val="000099"/>
                    </a:solidFill>
                    <a:ea typeface="宋体" panose="02010600030101010101" pitchFamily="2" charset="-122"/>
                  </a:endParaRPr>
                </a:p>
              </p:txBody>
            </p:sp>
          </p:grpSp>
          <p:sp>
            <p:nvSpPr>
              <p:cNvPr id="1503267" name="Text Box 36"/>
              <p:cNvSpPr txBox="1">
                <a:spLocks noChangeArrowheads="1"/>
              </p:cNvSpPr>
              <p:nvPr/>
            </p:nvSpPr>
            <p:spPr bwMode="auto">
              <a:xfrm>
                <a:off x="2748" y="3589"/>
                <a:ext cx="408"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49" charset="-122"/>
                  </a:rPr>
                  <a:t>拥塞</a:t>
                </a:r>
              </a:p>
            </p:txBody>
          </p:sp>
          <p:sp>
            <p:nvSpPr>
              <p:cNvPr id="1503268" name="Text Box 37"/>
              <p:cNvSpPr txBox="1">
                <a:spLocks noChangeArrowheads="1"/>
              </p:cNvSpPr>
              <p:nvPr/>
            </p:nvSpPr>
            <p:spPr bwMode="auto">
              <a:xfrm>
                <a:off x="1850" y="3619"/>
                <a:ext cx="408" cy="3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zh-CN" altLang="en-US" sz="2000" b="1">
                    <a:solidFill>
                      <a:srgbClr val="000099"/>
                    </a:solidFill>
                    <a:latin typeface="Tahoma" panose="020B0604030504040204" pitchFamily="34" charset="0"/>
                    <a:ea typeface="黑体" panose="02010609060101010101" pitchFamily="49" charset="-122"/>
                  </a:rPr>
                  <a:t>轻度</a:t>
                </a:r>
              </a:p>
              <a:p>
                <a:pPr>
                  <a:lnSpc>
                    <a:spcPct val="80000"/>
                  </a:lnSpc>
                </a:pPr>
                <a:r>
                  <a:rPr lang="zh-CN" altLang="en-US" sz="2000" b="1">
                    <a:solidFill>
                      <a:srgbClr val="000099"/>
                    </a:solidFill>
                    <a:latin typeface="Tahoma" panose="020B0604030504040204" pitchFamily="34" charset="0"/>
                    <a:ea typeface="黑体" panose="02010609060101010101" pitchFamily="49" charset="-122"/>
                  </a:rPr>
                  <a:t>拥塞</a:t>
                </a:r>
              </a:p>
            </p:txBody>
          </p:sp>
        </p:grpSp>
      </p:grpSp>
      <p:sp>
        <p:nvSpPr>
          <p:cNvPr id="150326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05B9196-A02D-4013-93DE-054238038EB8}" type="slidenum">
              <a:rPr lang="zh-CN" altLang="en-US" smtClean="0"/>
              <a:pPr eaLnBrk="1" hangingPunct="1"/>
              <a:t>18</a:t>
            </a:fld>
            <a:endParaRPr lang="en-US" altLang="zh-CN" smtClean="0"/>
          </a:p>
        </p:txBody>
      </p:sp>
      <p:sp>
        <p:nvSpPr>
          <p:cNvPr id="150327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374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3745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374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37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42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拥塞控制的一般原理 </a:t>
            </a:r>
          </a:p>
        </p:txBody>
      </p:sp>
      <p:sp>
        <p:nvSpPr>
          <p:cNvPr id="771075"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实践证明，</a:t>
            </a:r>
            <a:r>
              <a:rPr lang="zh-CN" altLang="en-US" smtClean="0">
                <a:ea typeface="黑体" panose="02010609060101010101" pitchFamily="49" charset="-122"/>
              </a:rPr>
              <a:t>拥塞控制是很难设计的，因为它是一个</a:t>
            </a:r>
            <a:r>
              <a:rPr lang="zh-CN" altLang="en-US" smtClean="0">
                <a:solidFill>
                  <a:srgbClr val="FF0000"/>
                </a:solidFill>
                <a:ea typeface="黑体" panose="02010609060101010101" pitchFamily="49" charset="-122"/>
              </a:rPr>
              <a:t>动态</a:t>
            </a:r>
            <a:r>
              <a:rPr lang="zh-CN" altLang="en-US" smtClean="0">
                <a:ea typeface="黑体" panose="02010609060101010101" pitchFamily="49" charset="-122"/>
              </a:rPr>
              <a:t>的（而不是静态的）</a:t>
            </a:r>
            <a:r>
              <a:rPr lang="zh-CN" altLang="en-US" smtClean="0">
                <a:solidFill>
                  <a:srgbClr val="FF0000"/>
                </a:solidFill>
                <a:ea typeface="黑体" panose="02010609060101010101" pitchFamily="49" charset="-122"/>
              </a:rPr>
              <a:t>问题</a:t>
            </a:r>
            <a:r>
              <a:rPr lang="zh-CN" altLang="en-US" smtClean="0">
                <a:ea typeface="黑体" panose="02010609060101010101" pitchFamily="49" charset="-122"/>
              </a:rPr>
              <a:t>。</a:t>
            </a:r>
          </a:p>
          <a:p>
            <a:r>
              <a:rPr lang="zh-CN" altLang="en-US" smtClean="0">
                <a:ea typeface="黑体" panose="02010609060101010101" pitchFamily="49" charset="-122"/>
              </a:rPr>
              <a:t>当前网络正朝着高速化的方向发展，这很容易出现缓存不够大而造成分组的丢失。</a:t>
            </a:r>
            <a:r>
              <a:rPr lang="zh-CN" altLang="en-US" smtClean="0">
                <a:solidFill>
                  <a:srgbClr val="FF0000"/>
                </a:solidFill>
                <a:ea typeface="黑体" panose="02010609060101010101" pitchFamily="49" charset="-122"/>
              </a:rPr>
              <a:t>但分组的丢失是网络发生拥塞的征兆而不是原因。</a:t>
            </a:r>
          </a:p>
          <a:p>
            <a:r>
              <a:rPr lang="zh-CN" altLang="en-US" smtClean="0">
                <a:solidFill>
                  <a:srgbClr val="0000FF"/>
                </a:solidFill>
                <a:ea typeface="黑体" panose="02010609060101010101" pitchFamily="49" charset="-122"/>
              </a:rPr>
              <a:t>在许多情况下，甚至正是拥塞控制本身成为引起网络性能恶化甚至发生死锁的原因。</a:t>
            </a:r>
            <a:r>
              <a:rPr lang="zh-CN" altLang="en-US" smtClean="0">
                <a:ea typeface="黑体" panose="02010609060101010101" pitchFamily="49" charset="-122"/>
              </a:rPr>
              <a:t>这点应特别引起重视。 </a:t>
            </a:r>
          </a:p>
        </p:txBody>
      </p:sp>
      <p:sp>
        <p:nvSpPr>
          <p:cNvPr id="15042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2B7081-B894-492D-9949-C45F4D8FB6BC}" type="slidenum">
              <a:rPr lang="zh-CN" altLang="en-US" smtClean="0"/>
              <a:pPr eaLnBrk="1" hangingPunct="1"/>
              <a:t>19</a:t>
            </a:fld>
            <a:endParaRPr lang="en-US" altLang="zh-CN" smtClean="0"/>
          </a:p>
        </p:txBody>
      </p:sp>
      <p:sp>
        <p:nvSpPr>
          <p:cNvPr id="15042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10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1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开环控制和闭环控制 </a:t>
            </a:r>
          </a:p>
        </p:txBody>
      </p:sp>
      <p:sp>
        <p:nvSpPr>
          <p:cNvPr id="772099"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开环控制</a:t>
            </a:r>
            <a:r>
              <a:rPr lang="zh-CN" altLang="en-US" smtClean="0">
                <a:ea typeface="黑体" panose="02010609060101010101" pitchFamily="49" charset="-122"/>
              </a:rPr>
              <a:t>方法就是在设计网络时事先将有关发生拥塞的因素考虑周到，力求网络在工作时不产生拥塞。 </a:t>
            </a:r>
          </a:p>
          <a:p>
            <a:r>
              <a:rPr lang="zh-CN" altLang="en-US" smtClean="0">
                <a:solidFill>
                  <a:srgbClr val="FF0000"/>
                </a:solidFill>
                <a:ea typeface="黑体" panose="02010609060101010101" pitchFamily="49" charset="-122"/>
              </a:rPr>
              <a:t>闭环控制方法</a:t>
            </a:r>
            <a:r>
              <a:rPr lang="zh-CN" altLang="en-US" smtClean="0">
                <a:ea typeface="黑体" panose="02010609060101010101" pitchFamily="49" charset="-122"/>
              </a:rPr>
              <a:t>是基于反馈环路的概念。属于闭环控制的有以下几种措施： </a:t>
            </a:r>
          </a:p>
          <a:p>
            <a:pPr lvl="1"/>
            <a:r>
              <a:rPr lang="en-US" altLang="zh-CN" smtClean="0">
                <a:ea typeface="黑体" panose="02010609060101010101" pitchFamily="49" charset="-122"/>
              </a:rPr>
              <a:t>(1) </a:t>
            </a:r>
            <a:r>
              <a:rPr lang="zh-CN" altLang="en-US" smtClean="0">
                <a:ea typeface="黑体" panose="02010609060101010101" pitchFamily="49" charset="-122"/>
              </a:rPr>
              <a:t>监测网络系统以便检测到拥塞在何时、何处发生。</a:t>
            </a:r>
          </a:p>
          <a:p>
            <a:pPr lvl="1"/>
            <a:r>
              <a:rPr lang="en-US" altLang="zh-CN" smtClean="0">
                <a:ea typeface="黑体" panose="02010609060101010101" pitchFamily="49" charset="-122"/>
              </a:rPr>
              <a:t>(2) </a:t>
            </a:r>
            <a:r>
              <a:rPr lang="zh-CN" altLang="en-US" smtClean="0">
                <a:ea typeface="黑体" panose="02010609060101010101" pitchFamily="49" charset="-122"/>
              </a:rPr>
              <a:t>将拥塞发生的信息传送到可采取行动的地方。</a:t>
            </a:r>
          </a:p>
          <a:p>
            <a:pPr lvl="1"/>
            <a:r>
              <a:rPr lang="en-US" altLang="zh-CN" smtClean="0">
                <a:ea typeface="黑体" panose="02010609060101010101" pitchFamily="49" charset="-122"/>
              </a:rPr>
              <a:t>(3) </a:t>
            </a:r>
            <a:r>
              <a:rPr lang="zh-CN" altLang="en-US" smtClean="0">
                <a:ea typeface="黑体" panose="02010609060101010101" pitchFamily="49" charset="-122"/>
              </a:rPr>
              <a:t>调整网络系统的运行以解决出现的问题。</a:t>
            </a:r>
          </a:p>
        </p:txBody>
      </p:sp>
      <p:sp>
        <p:nvSpPr>
          <p:cNvPr id="15052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A7FEDB4-0927-4324-A02A-694B8BF5B6EB}" type="slidenum">
              <a:rPr lang="zh-CN" altLang="en-US" smtClean="0"/>
              <a:pPr eaLnBrk="1" hangingPunct="1"/>
              <a:t>20</a:t>
            </a:fld>
            <a:endParaRPr lang="en-US" altLang="zh-CN" smtClean="0"/>
          </a:p>
        </p:txBody>
      </p:sp>
      <p:sp>
        <p:nvSpPr>
          <p:cNvPr id="15052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209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209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209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20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6305"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监测网络的拥塞</a:t>
            </a:r>
            <a:r>
              <a:rPr lang="zh-CN" altLang="en-US" smtClean="0">
                <a:ea typeface="黑体" panose="02010609060101010101" pitchFamily="49" charset="-122"/>
              </a:rPr>
              <a:t>的指标</a:t>
            </a:r>
          </a:p>
        </p:txBody>
      </p:sp>
      <p:sp>
        <p:nvSpPr>
          <p:cNvPr id="1506306"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主要指标</a:t>
            </a:r>
            <a:r>
              <a:rPr lang="zh-CN" altLang="en-US" smtClean="0">
                <a:ea typeface="黑体" panose="02010609060101010101" pitchFamily="49" charset="-122"/>
              </a:rPr>
              <a:t>有：</a:t>
            </a:r>
            <a:endParaRPr lang="en-US" altLang="zh-CN" smtClean="0">
              <a:ea typeface="黑体" panose="02010609060101010101" pitchFamily="49" charset="-122"/>
            </a:endParaRPr>
          </a:p>
          <a:p>
            <a:pPr lvl="1"/>
            <a:r>
              <a:rPr lang="zh-CN" altLang="zh-CN" smtClean="0">
                <a:ea typeface="黑体" panose="02010609060101010101" pitchFamily="49" charset="-122"/>
              </a:rPr>
              <a:t>由于缺少缓存空间而被丢弃的分组的百分数</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平均队列长度</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超时重传的分组数</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平均分组时延</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分组时延的标准差，等等。</a:t>
            </a:r>
            <a:endParaRPr lang="en-US" altLang="zh-CN" smtClean="0">
              <a:ea typeface="黑体" panose="02010609060101010101" pitchFamily="49" charset="-122"/>
            </a:endParaRPr>
          </a:p>
          <a:p>
            <a:r>
              <a:rPr lang="zh-CN" altLang="zh-CN" smtClean="0">
                <a:ea typeface="黑体" panose="02010609060101010101" pitchFamily="49" charset="-122"/>
              </a:rPr>
              <a:t>上述这些指标的上升都标志着拥塞的增长。</a:t>
            </a:r>
            <a:endParaRPr lang="zh-CN" altLang="en-US" smtClean="0">
              <a:ea typeface="黑体" panose="02010609060101010101" pitchFamily="49" charset="-122"/>
            </a:endParaRPr>
          </a:p>
        </p:txBody>
      </p:sp>
      <p:sp>
        <p:nvSpPr>
          <p:cNvPr id="150630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B54D5D-7E16-44D8-B4BE-8CC988A96338}" type="slidenum">
              <a:rPr lang="zh-CN" altLang="en-US" smtClean="0"/>
              <a:pPr eaLnBrk="1" hangingPunct="1"/>
              <a:t>21</a:t>
            </a:fld>
            <a:endParaRPr lang="en-US" altLang="zh-CN" smtClean="0"/>
          </a:p>
        </p:txBody>
      </p:sp>
      <p:sp>
        <p:nvSpPr>
          <p:cNvPr id="150630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732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5.8.2  TCP </a:t>
            </a:r>
            <a:r>
              <a:rPr lang="zh-CN" altLang="zh-CN" smtClean="0">
                <a:ea typeface="黑体" panose="02010609060101010101" pitchFamily="49" charset="-122"/>
              </a:rPr>
              <a:t>的拥塞控制方法</a:t>
            </a:r>
          </a:p>
        </p:txBody>
      </p:sp>
      <p:sp>
        <p:nvSpPr>
          <p:cNvPr id="1507330" name="Rectangle 3"/>
          <p:cNvSpPr>
            <a:spLocks noGrp="1" noChangeArrowheads="1"/>
          </p:cNvSpPr>
          <p:nvPr>
            <p:ph type="body" idx="1"/>
          </p:nvPr>
        </p:nvSpPr>
        <p:spPr>
          <a:xfrm>
            <a:off x="495300" y="1196975"/>
            <a:ext cx="9066213" cy="4933950"/>
          </a:xfrm>
        </p:spPr>
        <p:txBody>
          <a:bodyPr/>
          <a:lstStyle/>
          <a:p>
            <a:r>
              <a:rPr lang="en-US" altLang="zh-CN" sz="2800" dirty="0" smtClean="0">
                <a:ea typeface="黑体" panose="02010609060101010101" pitchFamily="49" charset="-122"/>
              </a:rPr>
              <a:t>TCP </a:t>
            </a:r>
            <a:r>
              <a:rPr lang="zh-CN" altLang="en-US" sz="2800" dirty="0" smtClean="0">
                <a:ea typeface="黑体" panose="02010609060101010101" pitchFamily="49" charset="-122"/>
              </a:rPr>
              <a:t>采用</a:t>
            </a:r>
            <a:r>
              <a:rPr lang="zh-CN" altLang="en-US" sz="2800" dirty="0" smtClean="0">
                <a:solidFill>
                  <a:srgbClr val="FF0000"/>
                </a:solidFill>
                <a:ea typeface="黑体" panose="02010609060101010101" pitchFamily="49" charset="-122"/>
              </a:rPr>
              <a:t>基于窗口的方法</a:t>
            </a:r>
            <a:r>
              <a:rPr lang="zh-CN" altLang="en-US" sz="2800" dirty="0" smtClean="0">
                <a:ea typeface="黑体" panose="02010609060101010101" pitchFamily="49" charset="-122"/>
              </a:rPr>
              <a:t>进行拥塞控制。该方法属于闭环控制方法。</a:t>
            </a:r>
          </a:p>
          <a:p>
            <a:r>
              <a:rPr lang="en-US" altLang="zh-CN" sz="2800" dirty="0" smtClean="0">
                <a:ea typeface="黑体" panose="02010609060101010101" pitchFamily="49" charset="-122"/>
              </a:rPr>
              <a:t>TCP</a:t>
            </a:r>
            <a:r>
              <a:rPr lang="zh-CN" altLang="en-US" sz="2800" dirty="0" smtClean="0">
                <a:ea typeface="黑体" panose="02010609060101010101" pitchFamily="49" charset="-122"/>
              </a:rPr>
              <a:t>发送方维持一个</a:t>
            </a:r>
            <a:r>
              <a:rPr lang="zh-CN" altLang="en-US" sz="2800" u="sng" dirty="0" smtClean="0">
                <a:solidFill>
                  <a:srgbClr val="FF0000"/>
                </a:solidFill>
                <a:ea typeface="黑体" panose="02010609060101010101" pitchFamily="49" charset="-122"/>
              </a:rPr>
              <a:t>拥塞窗口 </a:t>
            </a:r>
            <a:r>
              <a:rPr lang="en-US" altLang="zh-CN" sz="2800" u="sng" dirty="0" smtClean="0">
                <a:solidFill>
                  <a:srgbClr val="FF0000"/>
                </a:solidFill>
                <a:ea typeface="黑体" panose="02010609060101010101" pitchFamily="49" charset="-122"/>
              </a:rPr>
              <a:t>CWND</a:t>
            </a:r>
            <a:r>
              <a:rPr lang="en-US" altLang="zh-CN" sz="2800" u="sng" dirty="0" smtClean="0">
                <a:solidFill>
                  <a:srgbClr val="0000FF"/>
                </a:solidFill>
                <a:ea typeface="黑体" panose="02010609060101010101" pitchFamily="49" charset="-122"/>
              </a:rPr>
              <a:t> </a:t>
            </a:r>
            <a:r>
              <a:rPr lang="en-US" altLang="zh-CN" sz="2800" u="sng" dirty="0" smtClean="0">
                <a:ea typeface="黑体" panose="02010609060101010101" pitchFamily="49" charset="-122"/>
              </a:rPr>
              <a:t>(Congestion Window)</a:t>
            </a:r>
            <a:endParaRPr lang="zh-CN" altLang="en-US" sz="2800" u="sng" dirty="0" smtClean="0">
              <a:ea typeface="黑体" panose="02010609060101010101" pitchFamily="49" charset="-122"/>
            </a:endParaRPr>
          </a:p>
          <a:p>
            <a:pPr lvl="1"/>
            <a:r>
              <a:rPr lang="zh-CN" altLang="zh-CN" sz="2400" dirty="0" smtClean="0">
                <a:ea typeface="黑体" panose="02010609060101010101" pitchFamily="49" charset="-122"/>
              </a:rPr>
              <a:t>拥塞窗口的大小取决于网络的拥塞程度，并且动态地在变化。</a:t>
            </a:r>
            <a:endParaRPr lang="zh-CN" altLang="en-US" sz="2400" dirty="0" smtClean="0">
              <a:ea typeface="黑体" panose="02010609060101010101" pitchFamily="49" charset="-122"/>
            </a:endParaRPr>
          </a:p>
          <a:p>
            <a:pPr lvl="1"/>
            <a:r>
              <a:rPr lang="zh-CN" altLang="en-US" sz="2400" dirty="0" smtClean="0">
                <a:ea typeface="黑体" panose="02010609060101010101" pitchFamily="49" charset="-122"/>
              </a:rPr>
              <a:t>发送端利用</a:t>
            </a:r>
            <a:r>
              <a:rPr lang="zh-CN" altLang="en-US" sz="2400" dirty="0" smtClean="0">
                <a:solidFill>
                  <a:srgbClr val="FF0000"/>
                </a:solidFill>
                <a:ea typeface="黑体" panose="02010609060101010101" pitchFamily="49" charset="-122"/>
              </a:rPr>
              <a:t>拥塞窗口</a:t>
            </a:r>
            <a:r>
              <a:rPr lang="zh-CN" altLang="en-US" sz="2400" dirty="0" smtClean="0">
                <a:ea typeface="黑体" panose="02010609060101010101" pitchFamily="49" charset="-122"/>
              </a:rPr>
              <a:t>根据网络的拥塞情况调整发送的数据量。</a:t>
            </a:r>
            <a:endParaRPr lang="en-US" altLang="zh-CN" sz="2400" dirty="0" smtClean="0">
              <a:ea typeface="黑体" panose="02010609060101010101" pitchFamily="49" charset="-122"/>
            </a:endParaRPr>
          </a:p>
          <a:p>
            <a:pPr marL="457200" lvl="1" indent="0">
              <a:buNone/>
            </a:pPr>
            <a:r>
              <a:rPr lang="zh-CN" altLang="en-US" sz="2400" dirty="0" smtClean="0">
                <a:ea typeface="黑体" panose="02010609060101010101" pitchFamily="49" charset="-122"/>
              </a:rPr>
              <a:t>    所以</a:t>
            </a:r>
            <a:r>
              <a:rPr lang="zh-CN" altLang="en-US" sz="2400" dirty="0" smtClean="0">
                <a:ea typeface="黑体" panose="02010609060101010101" pitchFamily="49" charset="-122"/>
              </a:rPr>
              <a:t>，</a:t>
            </a:r>
            <a:r>
              <a:rPr lang="zh-CN" altLang="en-US" sz="2400" dirty="0" smtClean="0">
                <a:solidFill>
                  <a:srgbClr val="0000FF"/>
                </a:solidFill>
                <a:ea typeface="黑体" panose="02010609060101010101" pitchFamily="49" charset="-122"/>
              </a:rPr>
              <a:t>发送窗口</a:t>
            </a:r>
            <a:r>
              <a:rPr lang="zh-CN" altLang="en-US" sz="2400" dirty="0" smtClean="0">
                <a:ea typeface="黑体" panose="02010609060101010101" pitchFamily="49" charset="-122"/>
              </a:rPr>
              <a:t>大小不仅</a:t>
            </a:r>
            <a:r>
              <a:rPr lang="zh-CN" altLang="en-US" sz="2400" dirty="0" smtClean="0">
                <a:solidFill>
                  <a:srgbClr val="0000FF"/>
                </a:solidFill>
                <a:ea typeface="黑体" panose="02010609060101010101" pitchFamily="49" charset="-122"/>
              </a:rPr>
              <a:t>取决于</a:t>
            </a:r>
            <a:r>
              <a:rPr lang="zh-CN" altLang="en-US" sz="2400" dirty="0" smtClean="0">
                <a:ea typeface="黑体" panose="02010609060101010101" pitchFamily="49" charset="-122"/>
              </a:rPr>
              <a:t>接收方公告的</a:t>
            </a:r>
            <a:r>
              <a:rPr lang="zh-CN" altLang="en-US" sz="2400" dirty="0" smtClean="0">
                <a:solidFill>
                  <a:srgbClr val="0000FF"/>
                </a:solidFill>
                <a:ea typeface="黑体" panose="02010609060101010101" pitchFamily="49" charset="-122"/>
              </a:rPr>
              <a:t>接收窗口</a:t>
            </a:r>
            <a:r>
              <a:rPr lang="zh-CN" altLang="en-US" sz="2400" dirty="0" smtClean="0">
                <a:ea typeface="黑体" panose="02010609060101010101" pitchFamily="49" charset="-122"/>
              </a:rPr>
              <a:t>，还取决于网络的</a:t>
            </a:r>
            <a:r>
              <a:rPr lang="zh-CN" altLang="en-US" sz="2400" dirty="0" smtClean="0">
                <a:solidFill>
                  <a:srgbClr val="0000FF"/>
                </a:solidFill>
                <a:ea typeface="黑体" panose="02010609060101010101" pitchFamily="49" charset="-122"/>
              </a:rPr>
              <a:t>拥塞状况</a:t>
            </a:r>
            <a:r>
              <a:rPr lang="zh-CN" altLang="en-US" sz="2400" dirty="0" smtClean="0">
                <a:ea typeface="黑体" panose="02010609060101010101" pitchFamily="49" charset="-122"/>
              </a:rPr>
              <a:t>，所以真正的发送窗口值为：</a:t>
            </a:r>
          </a:p>
        </p:txBody>
      </p:sp>
      <p:sp>
        <p:nvSpPr>
          <p:cNvPr id="1507331" name="Rectangle 4"/>
          <p:cNvSpPr>
            <a:spLocks noChangeArrowheads="1"/>
          </p:cNvSpPr>
          <p:nvPr/>
        </p:nvSpPr>
        <p:spPr bwMode="auto">
          <a:xfrm>
            <a:off x="488950" y="5233988"/>
            <a:ext cx="9163050" cy="566737"/>
          </a:xfrm>
          <a:prstGeom prst="rect">
            <a:avLst/>
          </a:prstGeom>
          <a:solidFill>
            <a:srgbClr val="FFCC00"/>
          </a:solidFill>
          <a:ln w="9525">
            <a:solidFill>
              <a:schemeClr val="tx1"/>
            </a:solidFill>
            <a:round/>
            <a:headEnd/>
            <a:tailEnd/>
          </a:ln>
        </p:spPr>
        <p:txBody>
          <a:bodyPr anchor="ctr">
            <a:spAutoFit/>
          </a:bodyPr>
          <a:lstStyle/>
          <a:p>
            <a:pPr algn="ctr" eaLnBrk="0" hangingPunct="0">
              <a:lnSpc>
                <a:spcPct val="110000"/>
              </a:lnSpc>
            </a:pPr>
            <a:r>
              <a:rPr lang="zh-CN" altLang="en-US" sz="2800" b="1">
                <a:solidFill>
                  <a:srgbClr val="000099"/>
                </a:solidFill>
                <a:ea typeface="黑体" panose="02010609060101010101" pitchFamily="49" charset="-122"/>
              </a:rPr>
              <a:t>真正的发送窗口值 </a:t>
            </a:r>
            <a:r>
              <a:rPr lang="en-US" altLang="zh-CN" sz="2800" b="1">
                <a:solidFill>
                  <a:srgbClr val="000099"/>
                </a:solidFill>
                <a:ea typeface="黑体" panose="02010609060101010101" pitchFamily="49" charset="-122"/>
              </a:rPr>
              <a:t>=</a:t>
            </a:r>
            <a:r>
              <a:rPr lang="zh-CN" altLang="en-US" sz="2800" b="1">
                <a:solidFill>
                  <a:srgbClr val="000099"/>
                </a:solidFill>
                <a:ea typeface="黑体" panose="02010609060101010101" pitchFamily="49" charset="-122"/>
              </a:rPr>
              <a:t> </a:t>
            </a:r>
            <a:r>
              <a:rPr lang="en-US" altLang="zh-CN" sz="2800" b="1">
                <a:solidFill>
                  <a:srgbClr val="000099"/>
                </a:solidFill>
                <a:ea typeface="黑体" panose="02010609060101010101" pitchFamily="49" charset="-122"/>
              </a:rPr>
              <a:t>Min(</a:t>
            </a:r>
            <a:r>
              <a:rPr lang="zh-CN" altLang="en-US" sz="2800" b="1">
                <a:solidFill>
                  <a:srgbClr val="000099"/>
                </a:solidFill>
                <a:ea typeface="黑体" panose="02010609060101010101" pitchFamily="49" charset="-122"/>
              </a:rPr>
              <a:t>公告窗口值，拥塞窗口值</a:t>
            </a:r>
            <a:r>
              <a:rPr lang="en-US" altLang="zh-CN" sz="2800" b="1">
                <a:solidFill>
                  <a:srgbClr val="000099"/>
                </a:solidFill>
                <a:ea typeface="黑体" panose="02010609060101010101" pitchFamily="49" charset="-122"/>
              </a:rPr>
              <a:t>)</a:t>
            </a:r>
          </a:p>
        </p:txBody>
      </p:sp>
      <p:sp>
        <p:nvSpPr>
          <p:cNvPr id="150733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A245AC-71A2-420B-A43B-16A53ECA0AF3}" type="slidenum">
              <a:rPr lang="zh-CN" altLang="en-US" smtClean="0"/>
              <a:pPr eaLnBrk="1" hangingPunct="1"/>
              <a:t>22</a:t>
            </a:fld>
            <a:endParaRPr lang="en-US" altLang="zh-CN" smtClean="0"/>
          </a:p>
        </p:txBody>
      </p:sp>
      <p:sp>
        <p:nvSpPr>
          <p:cNvPr id="150733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8353"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控制拥塞窗口的原则</a:t>
            </a:r>
            <a:endParaRPr lang="zh-CN" altLang="en-US" smtClean="0">
              <a:ea typeface="黑体" panose="02010609060101010101" pitchFamily="49" charset="-122"/>
            </a:endParaRPr>
          </a:p>
        </p:txBody>
      </p:sp>
      <p:sp>
        <p:nvSpPr>
          <p:cNvPr id="1508354" name="Rectangle 3"/>
          <p:cNvSpPr>
            <a:spLocks noGrp="1" noChangeArrowheads="1"/>
          </p:cNvSpPr>
          <p:nvPr>
            <p:ph type="body" idx="1"/>
          </p:nvPr>
        </p:nvSpPr>
        <p:spPr>
          <a:xfrm>
            <a:off x="495300" y="1196975"/>
            <a:ext cx="9066213" cy="4933950"/>
          </a:xfrm>
        </p:spPr>
        <p:txBody>
          <a:bodyPr/>
          <a:lstStyle/>
          <a:p>
            <a:r>
              <a:rPr lang="zh-CN" altLang="zh-CN" dirty="0" smtClean="0">
                <a:ea typeface="黑体" panose="02010609060101010101" pitchFamily="49" charset="-122"/>
              </a:rPr>
              <a:t>只要网络</a:t>
            </a:r>
            <a:r>
              <a:rPr lang="zh-CN" altLang="zh-CN" dirty="0" smtClean="0">
                <a:solidFill>
                  <a:srgbClr val="0000FF"/>
                </a:solidFill>
                <a:ea typeface="黑体" panose="02010609060101010101" pitchFamily="49" charset="-122"/>
              </a:rPr>
              <a:t>没有</a:t>
            </a:r>
            <a:r>
              <a:rPr lang="zh-CN" altLang="zh-CN" dirty="0" smtClean="0">
                <a:ea typeface="黑体" panose="02010609060101010101" pitchFamily="49" charset="-122"/>
              </a:rPr>
              <a:t>出现</a:t>
            </a:r>
            <a:r>
              <a:rPr lang="zh-CN" altLang="zh-CN" dirty="0" smtClean="0">
                <a:solidFill>
                  <a:srgbClr val="0000FF"/>
                </a:solidFill>
                <a:ea typeface="黑体" panose="02010609060101010101" pitchFamily="49" charset="-122"/>
              </a:rPr>
              <a:t>拥塞</a:t>
            </a:r>
            <a:r>
              <a:rPr lang="zh-CN" altLang="zh-CN" dirty="0" smtClean="0">
                <a:ea typeface="黑体" panose="02010609060101010101" pitchFamily="49" charset="-122"/>
              </a:rPr>
              <a:t>，拥塞窗口就可以再</a:t>
            </a:r>
            <a:r>
              <a:rPr lang="zh-CN" altLang="zh-CN" dirty="0" smtClean="0">
                <a:solidFill>
                  <a:srgbClr val="0000FF"/>
                </a:solidFill>
                <a:ea typeface="黑体" panose="02010609060101010101" pitchFamily="49" charset="-122"/>
              </a:rPr>
              <a:t>增大</a:t>
            </a:r>
            <a:r>
              <a:rPr lang="zh-CN" altLang="zh-CN" dirty="0" smtClean="0">
                <a:ea typeface="黑体" panose="02010609060101010101" pitchFamily="49" charset="-122"/>
              </a:rPr>
              <a:t>一些，以便把更多的分组发送出去，这样就可以提高网络的利用率。</a:t>
            </a:r>
            <a:endParaRPr lang="en-US" altLang="zh-CN" dirty="0" smtClean="0">
              <a:ea typeface="黑体" panose="02010609060101010101" pitchFamily="49" charset="-122"/>
            </a:endParaRPr>
          </a:p>
          <a:p>
            <a:r>
              <a:rPr lang="zh-CN" altLang="zh-CN" dirty="0" smtClean="0">
                <a:ea typeface="黑体" panose="02010609060101010101" pitchFamily="49" charset="-122"/>
              </a:rPr>
              <a:t>但只要网络</a:t>
            </a:r>
            <a:r>
              <a:rPr lang="zh-CN" altLang="zh-CN" dirty="0" smtClean="0">
                <a:solidFill>
                  <a:srgbClr val="0000FF"/>
                </a:solidFill>
                <a:ea typeface="黑体" panose="02010609060101010101" pitchFamily="49" charset="-122"/>
              </a:rPr>
              <a:t>出现拥塞</a:t>
            </a:r>
            <a:r>
              <a:rPr lang="zh-CN" altLang="zh-CN" dirty="0" smtClean="0">
                <a:ea typeface="黑体" panose="02010609060101010101" pitchFamily="49" charset="-122"/>
              </a:rPr>
              <a:t>或有可能出现拥塞，就必须把拥塞窗口</a:t>
            </a:r>
            <a:r>
              <a:rPr lang="zh-CN" altLang="zh-CN" dirty="0" smtClean="0">
                <a:solidFill>
                  <a:srgbClr val="0000FF"/>
                </a:solidFill>
                <a:ea typeface="黑体" panose="02010609060101010101" pitchFamily="49" charset="-122"/>
              </a:rPr>
              <a:t>减小</a:t>
            </a:r>
            <a:r>
              <a:rPr lang="zh-CN" altLang="zh-CN" dirty="0" smtClean="0">
                <a:ea typeface="黑体" panose="02010609060101010101" pitchFamily="49" charset="-122"/>
              </a:rPr>
              <a:t>一些，以减少注入到网络中的分组数，以便缓解网络出现的拥塞。</a:t>
            </a:r>
            <a:endParaRPr lang="zh-CN" altLang="en-US" dirty="0" smtClean="0">
              <a:ea typeface="黑体" panose="02010609060101010101" pitchFamily="49" charset="-122"/>
            </a:endParaRPr>
          </a:p>
        </p:txBody>
      </p:sp>
      <p:sp>
        <p:nvSpPr>
          <p:cNvPr id="15083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E104012-590D-4C5B-9568-00064445388C}" type="slidenum">
              <a:rPr lang="zh-CN" altLang="en-US" smtClean="0"/>
              <a:pPr eaLnBrk="1" hangingPunct="1"/>
              <a:t>23</a:t>
            </a:fld>
            <a:endParaRPr lang="en-US" altLang="zh-CN" smtClean="0"/>
          </a:p>
        </p:txBody>
      </p:sp>
      <p:sp>
        <p:nvSpPr>
          <p:cNvPr id="15083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93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拥塞的判断</a:t>
            </a:r>
          </a:p>
        </p:txBody>
      </p:sp>
      <p:sp>
        <p:nvSpPr>
          <p:cNvPr id="1509378" name="Rectangle 3"/>
          <p:cNvSpPr>
            <a:spLocks noGrp="1" noChangeArrowheads="1"/>
          </p:cNvSpPr>
          <p:nvPr>
            <p:ph type="body"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重传定时器超时</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现在通信线路的传输质量一般都很好，因传输出</a:t>
            </a:r>
            <a:r>
              <a:rPr lang="zh-CN" altLang="zh-CN" dirty="0" smtClean="0">
                <a:solidFill>
                  <a:srgbClr val="0000FF"/>
                </a:solidFill>
                <a:ea typeface="黑体" panose="02010609060101010101" pitchFamily="49" charset="-122"/>
              </a:rPr>
              <a:t>差错而丢弃分组的概率是很小</a:t>
            </a:r>
            <a:r>
              <a:rPr lang="zh-CN" altLang="zh-CN" dirty="0" smtClean="0">
                <a:ea typeface="黑体" panose="02010609060101010101" pitchFamily="49" charset="-122"/>
              </a:rPr>
              <a:t>的（远小于</a:t>
            </a:r>
            <a:r>
              <a:rPr lang="en-US" altLang="zh-CN" dirty="0" smtClean="0">
                <a:ea typeface="黑体" panose="02010609060101010101" pitchFamily="49" charset="-122"/>
              </a:rPr>
              <a:t> 1 %</a:t>
            </a:r>
            <a:r>
              <a:rPr lang="zh-CN" altLang="zh-CN" dirty="0" smtClean="0">
                <a:ea typeface="黑体" panose="02010609060101010101" pitchFamily="49" charset="-122"/>
              </a:rPr>
              <a:t>）。只要出现了超时，就可以猜想网络可能出现了拥塞。</a:t>
            </a:r>
            <a:endParaRPr lang="en-US" altLang="zh-CN" dirty="0" smtClean="0">
              <a:ea typeface="黑体" panose="02010609060101010101" pitchFamily="49" charset="-122"/>
            </a:endParaRPr>
          </a:p>
          <a:p>
            <a:r>
              <a:rPr lang="zh-CN" altLang="en-US" dirty="0" smtClean="0">
                <a:solidFill>
                  <a:srgbClr val="FF0000"/>
                </a:solidFill>
                <a:ea typeface="黑体" panose="02010609060101010101" pitchFamily="49" charset="-122"/>
              </a:rPr>
              <a:t>收到三个相同（重复）的 </a:t>
            </a:r>
            <a:r>
              <a:rPr lang="en-US" altLang="zh-CN" dirty="0" smtClean="0">
                <a:solidFill>
                  <a:srgbClr val="FF0000"/>
                </a:solidFill>
                <a:ea typeface="黑体" panose="02010609060101010101" pitchFamily="49" charset="-122"/>
              </a:rPr>
              <a:t>ACK</a:t>
            </a:r>
          </a:p>
          <a:p>
            <a:pPr lvl="1"/>
            <a:r>
              <a:rPr lang="zh-CN" altLang="zh-CN" dirty="0" smtClean="0">
                <a:solidFill>
                  <a:srgbClr val="0000FF"/>
                </a:solidFill>
                <a:ea typeface="黑体" panose="02010609060101010101" pitchFamily="49" charset="-122"/>
              </a:rPr>
              <a:t>个别报文段</a:t>
            </a:r>
            <a:r>
              <a:rPr lang="zh-CN" altLang="zh-CN" dirty="0" smtClean="0">
                <a:ea typeface="黑体" panose="02010609060101010101" pitchFamily="49" charset="-122"/>
              </a:rPr>
              <a:t>会在网络中丢失，</a:t>
            </a:r>
            <a:r>
              <a:rPr lang="zh-CN" altLang="en-US" dirty="0" smtClean="0">
                <a:ea typeface="黑体" panose="02010609060101010101" pitchFamily="49" charset="-122"/>
              </a:rPr>
              <a:t>预示可能会出现拥塞（</a:t>
            </a:r>
            <a:r>
              <a:rPr lang="zh-CN" altLang="zh-CN" dirty="0" smtClean="0">
                <a:solidFill>
                  <a:srgbClr val="0000FF"/>
                </a:solidFill>
                <a:ea typeface="黑体" panose="02010609060101010101" pitchFamily="49" charset="-122"/>
              </a:rPr>
              <a:t>实际未发生拥塞</a:t>
            </a:r>
            <a:r>
              <a:rPr lang="zh-CN" altLang="en-US" dirty="0" smtClean="0">
                <a:ea typeface="黑体" panose="02010609060101010101" pitchFamily="49" charset="-122"/>
              </a:rPr>
              <a:t>），因此可以尽快采取控制措施，避免拥塞。</a:t>
            </a:r>
            <a:endParaRPr lang="en-US" altLang="zh-CN" dirty="0" smtClean="0">
              <a:ea typeface="黑体" panose="02010609060101010101" pitchFamily="49" charset="-122"/>
            </a:endParaRPr>
          </a:p>
        </p:txBody>
      </p:sp>
      <p:sp>
        <p:nvSpPr>
          <p:cNvPr id="15093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0A452B-51F8-45BA-9B93-2711047A0B8C}" type="slidenum">
              <a:rPr lang="zh-CN" altLang="en-US" smtClean="0"/>
              <a:pPr eaLnBrk="1" hangingPunct="1"/>
              <a:t>24</a:t>
            </a:fld>
            <a:endParaRPr lang="en-US" altLang="zh-CN" smtClean="0"/>
          </a:p>
        </p:txBody>
      </p:sp>
      <p:sp>
        <p:nvSpPr>
          <p:cNvPr id="15093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040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a:t>
            </a:r>
            <a:r>
              <a:rPr lang="zh-CN" altLang="en-US" smtClean="0">
                <a:ea typeface="黑体" panose="02010609060101010101" pitchFamily="49" charset="-122"/>
              </a:rPr>
              <a:t>拥塞控制算法</a:t>
            </a:r>
          </a:p>
        </p:txBody>
      </p:sp>
      <p:sp>
        <p:nvSpPr>
          <p:cNvPr id="1510402" name="Rectangle 3"/>
          <p:cNvSpPr>
            <a:spLocks noGrp="1" noChangeArrowheads="1"/>
          </p:cNvSpPr>
          <p:nvPr>
            <p:ph type="body" idx="1"/>
          </p:nvPr>
        </p:nvSpPr>
        <p:spPr>
          <a:xfrm>
            <a:off x="495300" y="1196975"/>
            <a:ext cx="9066213" cy="4933950"/>
          </a:xfrm>
        </p:spPr>
        <p:txBody>
          <a:bodyPr/>
          <a:lstStyle/>
          <a:p>
            <a:r>
              <a:rPr lang="zh-CN" altLang="zh-CN" smtClean="0">
                <a:ea typeface="黑体" panose="02010609060101010101" pitchFamily="49" charset="-122"/>
              </a:rPr>
              <a:t>四种</a:t>
            </a:r>
            <a:r>
              <a:rPr lang="zh-CN" altLang="en-US" smtClean="0">
                <a:ea typeface="黑体" panose="02010609060101010101" pitchFamily="49" charset="-122"/>
              </a:rPr>
              <a:t>（</a:t>
            </a:r>
            <a:r>
              <a:rPr lang="en-US" altLang="zh-CN" smtClean="0">
                <a:ea typeface="黑体" panose="02010609060101010101" pitchFamily="49" charset="-122"/>
              </a:rPr>
              <a:t> RFC 5681</a:t>
            </a:r>
            <a:r>
              <a:rPr lang="zh-CN" altLang="zh-CN" smtClean="0">
                <a:ea typeface="黑体" panose="02010609060101010101" pitchFamily="49" charset="-122"/>
              </a:rPr>
              <a:t>） </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慢开始</a:t>
            </a:r>
            <a:r>
              <a:rPr lang="en-US" altLang="zh-CN" smtClean="0">
                <a:ea typeface="黑体" panose="02010609060101010101" pitchFamily="49" charset="-122"/>
              </a:rPr>
              <a:t> (slow-start)</a:t>
            </a:r>
          </a:p>
          <a:p>
            <a:pPr lvl="1"/>
            <a:r>
              <a:rPr lang="zh-CN" altLang="zh-CN" smtClean="0">
                <a:ea typeface="黑体" panose="02010609060101010101" pitchFamily="49" charset="-122"/>
              </a:rPr>
              <a:t>拥塞避免</a:t>
            </a:r>
            <a:r>
              <a:rPr lang="en-US" altLang="zh-CN" smtClean="0">
                <a:ea typeface="黑体" panose="02010609060101010101" pitchFamily="49" charset="-122"/>
              </a:rPr>
              <a:t> (congestion avoidance)</a:t>
            </a:r>
          </a:p>
          <a:p>
            <a:pPr lvl="1"/>
            <a:r>
              <a:rPr lang="zh-CN" altLang="zh-CN" smtClean="0">
                <a:ea typeface="黑体" panose="02010609060101010101" pitchFamily="49" charset="-122"/>
              </a:rPr>
              <a:t>快重传</a:t>
            </a:r>
            <a:r>
              <a:rPr lang="en-US" altLang="zh-CN" smtClean="0">
                <a:ea typeface="黑体" panose="02010609060101010101" pitchFamily="49" charset="-122"/>
              </a:rPr>
              <a:t> (fast retransmit)</a:t>
            </a:r>
          </a:p>
          <a:p>
            <a:pPr lvl="1"/>
            <a:r>
              <a:rPr lang="zh-CN" altLang="zh-CN" smtClean="0">
                <a:ea typeface="黑体" panose="02010609060101010101" pitchFamily="49" charset="-122"/>
              </a:rPr>
              <a:t>快恢复</a:t>
            </a:r>
            <a:r>
              <a:rPr lang="en-US" altLang="zh-CN" smtClean="0">
                <a:ea typeface="黑体" panose="02010609060101010101" pitchFamily="49" charset="-122"/>
              </a:rPr>
              <a:t> (fast recovery)</a:t>
            </a:r>
            <a:endParaRPr lang="zh-CN" altLang="en-US" smtClean="0">
              <a:ea typeface="黑体" panose="02010609060101010101" pitchFamily="49" charset="-122"/>
            </a:endParaRPr>
          </a:p>
        </p:txBody>
      </p:sp>
      <p:sp>
        <p:nvSpPr>
          <p:cNvPr id="15104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B78709-53B3-46ED-9B8B-BD1F72EB7F32}" type="slidenum">
              <a:rPr lang="zh-CN" altLang="en-US" smtClean="0"/>
              <a:pPr eaLnBrk="1" hangingPunct="1"/>
              <a:t>25</a:t>
            </a:fld>
            <a:endParaRPr lang="en-US" altLang="zh-CN" smtClean="0"/>
          </a:p>
        </p:txBody>
      </p:sp>
      <p:sp>
        <p:nvSpPr>
          <p:cNvPr id="15104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14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慢开始 </a:t>
            </a:r>
            <a:r>
              <a:rPr lang="en-US" altLang="zh-CN" smtClean="0">
                <a:ea typeface="黑体" panose="02010609060101010101" pitchFamily="49" charset="-122"/>
              </a:rPr>
              <a:t>(Slow start)</a:t>
            </a:r>
          </a:p>
        </p:txBody>
      </p:sp>
      <p:sp>
        <p:nvSpPr>
          <p:cNvPr id="1511426" name="Rectangle 3"/>
          <p:cNvSpPr>
            <a:spLocks noGrp="1" noChangeArrowheads="1"/>
          </p:cNvSpPr>
          <p:nvPr>
            <p:ph type="body" idx="1"/>
          </p:nvPr>
        </p:nvSpPr>
        <p:spPr>
          <a:xfrm>
            <a:off x="495300" y="1196975"/>
            <a:ext cx="9066213" cy="4933950"/>
          </a:xfrm>
        </p:spPr>
        <p:txBody>
          <a:bodyPr/>
          <a:lstStyle/>
          <a:p>
            <a:r>
              <a:rPr lang="zh-CN" altLang="en-US" sz="2800" dirty="0" smtClean="0">
                <a:ea typeface="黑体" panose="02010609060101010101" pitchFamily="49" charset="-122"/>
              </a:rPr>
              <a:t>用来确定网络的负载能力。</a:t>
            </a:r>
            <a:endParaRPr lang="en-US" altLang="zh-CN" sz="2800" dirty="0" smtClean="0">
              <a:ea typeface="黑体" panose="02010609060101010101" pitchFamily="49" charset="-122"/>
            </a:endParaRPr>
          </a:p>
          <a:p>
            <a:r>
              <a:rPr lang="zh-CN" altLang="zh-CN" sz="2800" dirty="0" smtClean="0">
                <a:solidFill>
                  <a:srgbClr val="FF0000"/>
                </a:solidFill>
                <a:ea typeface="黑体" panose="02010609060101010101" pitchFamily="49" charset="-122"/>
              </a:rPr>
              <a:t>算法的思路</a:t>
            </a:r>
            <a:r>
              <a:rPr lang="zh-CN" altLang="en-US" sz="2800" dirty="0" smtClean="0">
                <a:solidFill>
                  <a:srgbClr val="FF0000"/>
                </a:solidFill>
                <a:ea typeface="黑体" panose="02010609060101010101" pitchFamily="49" charset="-122"/>
              </a:rPr>
              <a:t>：</a:t>
            </a:r>
            <a:r>
              <a:rPr lang="zh-CN" altLang="zh-CN" sz="2800" dirty="0" smtClean="0">
                <a:solidFill>
                  <a:srgbClr val="FF0000"/>
                </a:solidFill>
                <a:ea typeface="黑体" panose="02010609060101010101" pitchFamily="49" charset="-122"/>
              </a:rPr>
              <a:t>由小到大逐渐增大拥塞窗口数值</a:t>
            </a:r>
            <a:r>
              <a:rPr lang="zh-CN" altLang="en-US" sz="2800" dirty="0" smtClean="0">
                <a:solidFill>
                  <a:srgbClr val="FF0000"/>
                </a:solidFill>
                <a:ea typeface="黑体" panose="02010609060101010101" pitchFamily="49" charset="-122"/>
              </a:rPr>
              <a:t>。</a:t>
            </a:r>
            <a:endParaRPr lang="en-US" altLang="zh-CN" sz="2800" dirty="0" smtClean="0">
              <a:solidFill>
                <a:srgbClr val="FF0000"/>
              </a:solidFill>
              <a:ea typeface="黑体" panose="02010609060101010101" pitchFamily="49" charset="-122"/>
            </a:endParaRPr>
          </a:p>
          <a:p>
            <a:r>
              <a:rPr lang="zh-CN" altLang="zh-CN" sz="2800" dirty="0" smtClean="0">
                <a:solidFill>
                  <a:srgbClr val="0000FF"/>
                </a:solidFill>
                <a:ea typeface="黑体" panose="02010609060101010101" pitchFamily="49" charset="-122"/>
              </a:rPr>
              <a:t>初始拥塞窗口</a:t>
            </a:r>
            <a:r>
              <a:rPr lang="en-US" altLang="zh-CN" sz="2800" dirty="0" smtClean="0">
                <a:solidFill>
                  <a:srgbClr val="0000FF"/>
                </a:solidFill>
                <a:ea typeface="黑体" panose="02010609060101010101" pitchFamily="49" charset="-122"/>
              </a:rPr>
              <a:t> </a:t>
            </a:r>
            <a:r>
              <a:rPr lang="en-US" altLang="zh-CN" sz="2800" dirty="0" err="1" smtClean="0">
                <a:solidFill>
                  <a:srgbClr val="0000FF"/>
                </a:solidFill>
                <a:ea typeface="黑体" panose="02010609060101010101" pitchFamily="49" charset="-122"/>
              </a:rPr>
              <a:t>cwnd</a:t>
            </a:r>
            <a:r>
              <a:rPr lang="en-US" altLang="zh-CN" sz="2800" dirty="0" smtClean="0">
                <a:solidFill>
                  <a:srgbClr val="0000FF"/>
                </a:solidFill>
                <a:ea typeface="黑体" panose="02010609060101010101" pitchFamily="49" charset="-122"/>
              </a:rPr>
              <a:t> </a:t>
            </a:r>
            <a:r>
              <a:rPr lang="zh-CN" altLang="en-US" sz="2800" dirty="0" smtClean="0">
                <a:solidFill>
                  <a:srgbClr val="0000FF"/>
                </a:solidFill>
                <a:ea typeface="黑体" panose="02010609060101010101" pitchFamily="49" charset="-122"/>
              </a:rPr>
              <a:t>设置：</a:t>
            </a:r>
            <a:endParaRPr lang="en-US" altLang="zh-CN" sz="2800" dirty="0" smtClean="0">
              <a:solidFill>
                <a:srgbClr val="0000FF"/>
              </a:solidFill>
              <a:ea typeface="黑体" panose="02010609060101010101" pitchFamily="49" charset="-122"/>
            </a:endParaRPr>
          </a:p>
          <a:p>
            <a:pPr lvl="1"/>
            <a:r>
              <a:rPr lang="zh-CN" altLang="zh-CN" sz="2400" dirty="0" smtClean="0">
                <a:ea typeface="黑体" panose="02010609060101010101" pitchFamily="49" charset="-122"/>
              </a:rPr>
              <a:t>旧的规定</a:t>
            </a:r>
            <a:r>
              <a:rPr lang="zh-CN" altLang="en-US" sz="2400" dirty="0" smtClean="0">
                <a:ea typeface="黑体" panose="02010609060101010101" pitchFamily="49" charset="-122"/>
              </a:rPr>
              <a:t>：</a:t>
            </a:r>
            <a:r>
              <a:rPr lang="zh-CN" altLang="zh-CN" sz="2400" dirty="0" smtClean="0">
                <a:ea typeface="黑体" panose="02010609060101010101" pitchFamily="49" charset="-122"/>
              </a:rPr>
              <a:t>在刚刚开始发送报文段时，先把初始拥塞窗口</a:t>
            </a:r>
            <a:r>
              <a:rPr lang="en-US" altLang="zh-CN" sz="2400" dirty="0" err="1" smtClean="0">
                <a:ea typeface="黑体" panose="02010609060101010101" pitchFamily="49" charset="-122"/>
              </a:rPr>
              <a:t>cwnd</a:t>
            </a:r>
            <a:r>
              <a:rPr lang="en-US" altLang="zh-CN" sz="2400" dirty="0" smtClean="0">
                <a:ea typeface="黑体" panose="02010609060101010101" pitchFamily="49" charset="-122"/>
              </a:rPr>
              <a:t> </a:t>
            </a:r>
            <a:r>
              <a:rPr lang="zh-CN" altLang="zh-CN" sz="2400" dirty="0" smtClean="0">
                <a:ea typeface="黑体" panose="02010609060101010101" pitchFamily="49" charset="-122"/>
              </a:rPr>
              <a:t>设置</a:t>
            </a:r>
            <a:r>
              <a:rPr lang="zh-CN" altLang="zh-CN" sz="2400" dirty="0" smtClean="0">
                <a:solidFill>
                  <a:srgbClr val="0000FF"/>
                </a:solidFill>
                <a:ea typeface="黑体" panose="02010609060101010101" pitchFamily="49" charset="-122"/>
              </a:rPr>
              <a:t>为</a:t>
            </a:r>
            <a:r>
              <a:rPr lang="en-US" altLang="zh-CN" sz="2400" dirty="0" smtClean="0">
                <a:solidFill>
                  <a:srgbClr val="0000FF"/>
                </a:solidFill>
                <a:ea typeface="黑体" panose="02010609060101010101" pitchFamily="49" charset="-122"/>
              </a:rPr>
              <a:t> 1 </a:t>
            </a:r>
            <a:r>
              <a:rPr lang="zh-CN" altLang="zh-CN" sz="2400" dirty="0" smtClean="0">
                <a:solidFill>
                  <a:srgbClr val="0000FF"/>
                </a:solidFill>
                <a:ea typeface="黑体" panose="02010609060101010101" pitchFamily="49" charset="-122"/>
              </a:rPr>
              <a:t>至</a:t>
            </a:r>
            <a:r>
              <a:rPr lang="en-US" altLang="zh-CN" sz="2400" dirty="0" smtClean="0">
                <a:solidFill>
                  <a:srgbClr val="0000FF"/>
                </a:solidFill>
                <a:ea typeface="黑体" panose="02010609060101010101" pitchFamily="49" charset="-122"/>
              </a:rPr>
              <a:t> 2 </a:t>
            </a:r>
            <a:r>
              <a:rPr lang="zh-CN" altLang="zh-CN" sz="2400" dirty="0" smtClean="0">
                <a:solidFill>
                  <a:srgbClr val="0000FF"/>
                </a:solidFill>
                <a:ea typeface="黑体" panose="02010609060101010101" pitchFamily="49" charset="-122"/>
              </a:rPr>
              <a:t>个发送方的最大报文段</a:t>
            </a:r>
            <a:r>
              <a:rPr lang="en-US" altLang="zh-CN" sz="2400" dirty="0" smtClean="0">
                <a:solidFill>
                  <a:srgbClr val="0000FF"/>
                </a:solidFill>
                <a:ea typeface="黑体" panose="02010609060101010101" pitchFamily="49" charset="-122"/>
              </a:rPr>
              <a:t> SMSS (Sender Maximum Segment Size) </a:t>
            </a:r>
            <a:r>
              <a:rPr lang="zh-CN" altLang="zh-CN" sz="2400" dirty="0" smtClean="0">
                <a:solidFill>
                  <a:srgbClr val="0000FF"/>
                </a:solidFill>
                <a:ea typeface="黑体" panose="02010609060101010101" pitchFamily="49" charset="-122"/>
              </a:rPr>
              <a:t>的数值</a:t>
            </a:r>
            <a:r>
              <a:rPr lang="zh-CN" altLang="en-US" sz="2400" dirty="0" smtClean="0">
                <a:solidFill>
                  <a:srgbClr val="0000FF"/>
                </a:solidFill>
                <a:ea typeface="黑体" panose="02010609060101010101" pitchFamily="49" charset="-122"/>
              </a:rPr>
              <a:t>。</a:t>
            </a:r>
            <a:endParaRPr lang="en-US" altLang="zh-CN" sz="2400" dirty="0" smtClean="0">
              <a:solidFill>
                <a:srgbClr val="0000FF"/>
              </a:solidFill>
              <a:ea typeface="黑体" panose="02010609060101010101" pitchFamily="49" charset="-122"/>
            </a:endParaRPr>
          </a:p>
          <a:p>
            <a:pPr lvl="1"/>
            <a:r>
              <a:rPr lang="zh-CN" altLang="zh-CN" sz="2400" dirty="0" smtClean="0">
                <a:ea typeface="黑体" panose="02010609060101010101" pitchFamily="49" charset="-122"/>
              </a:rPr>
              <a:t>新的</a:t>
            </a:r>
            <a:r>
              <a:rPr lang="en-US" altLang="zh-CN" sz="2400" dirty="0" smtClean="0">
                <a:ea typeface="黑体" panose="02010609060101010101" pitchFamily="49" charset="-122"/>
              </a:rPr>
              <a:t> RFC 5681 </a:t>
            </a:r>
            <a:r>
              <a:rPr lang="zh-CN" altLang="zh-CN" sz="2400" dirty="0" smtClean="0">
                <a:ea typeface="黑体" panose="02010609060101010101" pitchFamily="49" charset="-122"/>
              </a:rPr>
              <a:t>把初始拥塞窗口</a:t>
            </a:r>
            <a:r>
              <a:rPr lang="en-US" altLang="zh-CN" sz="2400" dirty="0" smtClean="0">
                <a:ea typeface="黑体" panose="02010609060101010101" pitchFamily="49" charset="-122"/>
              </a:rPr>
              <a:t> </a:t>
            </a:r>
            <a:r>
              <a:rPr lang="en-US" altLang="zh-CN" sz="2400" dirty="0" err="1" smtClean="0">
                <a:ea typeface="黑体" panose="02010609060101010101" pitchFamily="49" charset="-122"/>
              </a:rPr>
              <a:t>cwnd</a:t>
            </a:r>
            <a:r>
              <a:rPr lang="en-US" altLang="zh-CN" sz="2400" dirty="0" smtClean="0">
                <a:ea typeface="黑体" panose="02010609060101010101" pitchFamily="49" charset="-122"/>
              </a:rPr>
              <a:t> </a:t>
            </a:r>
            <a:r>
              <a:rPr lang="zh-CN" altLang="zh-CN" sz="2400" dirty="0" smtClean="0">
                <a:ea typeface="黑体" panose="02010609060101010101" pitchFamily="49" charset="-122"/>
              </a:rPr>
              <a:t>设置为</a:t>
            </a:r>
            <a:r>
              <a:rPr lang="zh-CN" altLang="zh-CN" sz="2400" dirty="0" smtClean="0">
                <a:solidFill>
                  <a:srgbClr val="0000FF"/>
                </a:solidFill>
                <a:ea typeface="黑体" panose="02010609060101010101" pitchFamily="49" charset="-122"/>
              </a:rPr>
              <a:t>不超过</a:t>
            </a:r>
            <a:r>
              <a:rPr lang="en-US" altLang="zh-CN" sz="2400" dirty="0" smtClean="0">
                <a:solidFill>
                  <a:srgbClr val="0000FF"/>
                </a:solidFill>
                <a:ea typeface="黑体" panose="02010609060101010101" pitchFamily="49" charset="-122"/>
              </a:rPr>
              <a:t>2</a:t>
            </a:r>
            <a:r>
              <a:rPr lang="zh-CN" altLang="zh-CN" sz="2400" dirty="0" smtClean="0">
                <a:solidFill>
                  <a:srgbClr val="0000FF"/>
                </a:solidFill>
                <a:ea typeface="黑体" panose="02010609060101010101" pitchFamily="49" charset="-122"/>
              </a:rPr>
              <a:t>至</a:t>
            </a:r>
            <a:r>
              <a:rPr lang="en-US" altLang="zh-CN" sz="2400" dirty="0" smtClean="0">
                <a:solidFill>
                  <a:srgbClr val="0000FF"/>
                </a:solidFill>
                <a:ea typeface="黑体" panose="02010609060101010101" pitchFamily="49" charset="-122"/>
              </a:rPr>
              <a:t>4</a:t>
            </a:r>
            <a:r>
              <a:rPr lang="zh-CN" altLang="zh-CN" sz="2400" dirty="0" smtClean="0">
                <a:solidFill>
                  <a:srgbClr val="0000FF"/>
                </a:solidFill>
                <a:ea typeface="黑体" panose="02010609060101010101" pitchFamily="49" charset="-122"/>
              </a:rPr>
              <a:t>个</a:t>
            </a:r>
            <a:r>
              <a:rPr lang="en-US" altLang="zh-CN" sz="2400" dirty="0" smtClean="0">
                <a:solidFill>
                  <a:srgbClr val="0000FF"/>
                </a:solidFill>
                <a:ea typeface="黑体" panose="02010609060101010101" pitchFamily="49" charset="-122"/>
              </a:rPr>
              <a:t>SMSS </a:t>
            </a:r>
            <a:r>
              <a:rPr lang="zh-CN" altLang="zh-CN" sz="2400" dirty="0" smtClean="0">
                <a:solidFill>
                  <a:srgbClr val="0000FF"/>
                </a:solidFill>
                <a:ea typeface="黑体" panose="02010609060101010101" pitchFamily="49" charset="-122"/>
              </a:rPr>
              <a:t>的数值</a:t>
            </a:r>
            <a:r>
              <a:rPr lang="zh-CN" altLang="zh-CN" sz="2400" dirty="0" smtClean="0">
                <a:ea typeface="黑体" panose="02010609060101010101" pitchFamily="49" charset="-122"/>
              </a:rPr>
              <a:t>。</a:t>
            </a:r>
            <a:endParaRPr lang="en-US" altLang="zh-CN" sz="2400" dirty="0" smtClean="0">
              <a:ea typeface="黑体" panose="02010609060101010101" pitchFamily="49" charset="-122"/>
            </a:endParaRPr>
          </a:p>
          <a:p>
            <a:r>
              <a:rPr lang="zh-CN" altLang="zh-CN" sz="2800" dirty="0" smtClean="0">
                <a:solidFill>
                  <a:srgbClr val="0000FF"/>
                </a:solidFill>
                <a:ea typeface="黑体" panose="02010609060101010101" pitchFamily="49" charset="-122"/>
              </a:rPr>
              <a:t>慢开始门限</a:t>
            </a:r>
            <a:r>
              <a:rPr lang="en-US" altLang="zh-CN" sz="2800" dirty="0" smtClean="0">
                <a:solidFill>
                  <a:srgbClr val="0000FF"/>
                </a:solidFill>
                <a:ea typeface="黑体" panose="02010609060101010101" pitchFamily="49" charset="-122"/>
              </a:rPr>
              <a:t> </a:t>
            </a:r>
            <a:r>
              <a:rPr lang="en-US" altLang="zh-CN" sz="2800" dirty="0" err="1" smtClean="0">
                <a:solidFill>
                  <a:srgbClr val="0000FF"/>
                </a:solidFill>
                <a:ea typeface="黑体" panose="02010609060101010101" pitchFamily="49" charset="-122"/>
              </a:rPr>
              <a:t>ssthresh</a:t>
            </a:r>
            <a:r>
              <a:rPr lang="zh-CN" altLang="en-US" sz="2800" dirty="0" smtClean="0">
                <a:solidFill>
                  <a:srgbClr val="0000FF"/>
                </a:solidFill>
                <a:ea typeface="黑体" panose="02010609060101010101" pitchFamily="49" charset="-122"/>
              </a:rPr>
              <a:t>（状态变量）</a:t>
            </a:r>
            <a:r>
              <a:rPr lang="zh-CN" altLang="en-US" sz="2800" dirty="0" smtClean="0">
                <a:ea typeface="黑体" panose="02010609060101010101" pitchFamily="49" charset="-122"/>
              </a:rPr>
              <a:t>：</a:t>
            </a:r>
            <a:r>
              <a:rPr lang="zh-CN" altLang="zh-CN" sz="2800" dirty="0" smtClean="0">
                <a:ea typeface="黑体" panose="02010609060101010101" pitchFamily="49" charset="-122"/>
              </a:rPr>
              <a:t>防止拥塞窗口</a:t>
            </a:r>
            <a:r>
              <a:rPr lang="en-US" altLang="zh-CN" sz="2800" dirty="0" err="1" smtClean="0">
                <a:ea typeface="黑体" panose="02010609060101010101" pitchFamily="49" charset="-122"/>
              </a:rPr>
              <a:t>cwnd</a:t>
            </a:r>
            <a:r>
              <a:rPr lang="en-US" altLang="zh-CN" sz="2800" dirty="0" smtClean="0">
                <a:ea typeface="黑体" panose="02010609060101010101" pitchFamily="49" charset="-122"/>
              </a:rPr>
              <a:t> </a:t>
            </a:r>
            <a:r>
              <a:rPr lang="zh-CN" altLang="zh-CN" sz="2800" dirty="0" smtClean="0">
                <a:ea typeface="黑体" panose="02010609060101010101" pitchFamily="49" charset="-122"/>
              </a:rPr>
              <a:t>增长过大引起网络拥塞</a:t>
            </a:r>
            <a:r>
              <a:rPr lang="zh-CN" altLang="en-US" sz="2800" dirty="0" smtClean="0">
                <a:ea typeface="黑体" panose="02010609060101010101" pitchFamily="49" charset="-122"/>
              </a:rPr>
              <a:t>。</a:t>
            </a:r>
          </a:p>
        </p:txBody>
      </p:sp>
      <p:sp>
        <p:nvSpPr>
          <p:cNvPr id="15114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404DEF9-F473-4A7C-9D8B-AC042096803A}" type="slidenum">
              <a:rPr lang="zh-CN" altLang="en-US" smtClean="0"/>
              <a:pPr eaLnBrk="1" hangingPunct="1"/>
              <a:t>26</a:t>
            </a:fld>
            <a:endParaRPr lang="en-US" altLang="zh-CN" smtClean="0"/>
          </a:p>
        </p:txBody>
      </p:sp>
      <p:sp>
        <p:nvSpPr>
          <p:cNvPr id="15114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244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慢开始 </a:t>
            </a:r>
            <a:r>
              <a:rPr lang="en-US" altLang="zh-CN" smtClean="0">
                <a:ea typeface="黑体" panose="02010609060101010101" pitchFamily="49" charset="-122"/>
              </a:rPr>
              <a:t>(Slow start)</a:t>
            </a:r>
          </a:p>
        </p:txBody>
      </p:sp>
      <p:sp>
        <p:nvSpPr>
          <p:cNvPr id="1512450" name="Rectangle 3"/>
          <p:cNvSpPr>
            <a:spLocks noGrp="1" noChangeArrowheads="1"/>
          </p:cNvSpPr>
          <p:nvPr>
            <p:ph type="body" idx="1"/>
          </p:nvPr>
        </p:nvSpPr>
        <p:spPr>
          <a:xfrm>
            <a:off x="495300" y="1196975"/>
            <a:ext cx="9066213" cy="4933950"/>
          </a:xfrm>
        </p:spPr>
        <p:txBody>
          <a:bodyPr/>
          <a:lstStyle/>
          <a:p>
            <a:r>
              <a:rPr lang="zh-CN" altLang="zh-CN" sz="2600" dirty="0" smtClean="0">
                <a:solidFill>
                  <a:srgbClr val="0000FF"/>
                </a:solidFill>
                <a:ea typeface="黑体" panose="02010609060101010101" pitchFamily="49" charset="-122"/>
              </a:rPr>
              <a:t>拥塞窗口</a:t>
            </a:r>
            <a:r>
              <a:rPr lang="en-US" altLang="zh-CN" sz="2600" dirty="0" smtClean="0">
                <a:solidFill>
                  <a:srgbClr val="0000FF"/>
                </a:solidFill>
                <a:ea typeface="黑体" panose="02010609060101010101" pitchFamily="49" charset="-122"/>
              </a:rPr>
              <a:t> </a:t>
            </a:r>
            <a:r>
              <a:rPr lang="en-US" altLang="zh-CN" sz="2600" dirty="0" err="1" smtClean="0">
                <a:solidFill>
                  <a:srgbClr val="0000FF"/>
                </a:solidFill>
                <a:ea typeface="黑体" panose="02010609060101010101" pitchFamily="49" charset="-122"/>
              </a:rPr>
              <a:t>cwnd</a:t>
            </a:r>
            <a:r>
              <a:rPr lang="en-US" altLang="zh-CN" sz="2600" dirty="0" smtClean="0">
                <a:solidFill>
                  <a:srgbClr val="0000FF"/>
                </a:solidFill>
                <a:ea typeface="黑体" panose="02010609060101010101" pitchFamily="49" charset="-122"/>
              </a:rPr>
              <a:t>  </a:t>
            </a:r>
            <a:r>
              <a:rPr lang="zh-CN" altLang="en-US" sz="2600" dirty="0" smtClean="0">
                <a:solidFill>
                  <a:srgbClr val="0000FF"/>
                </a:solidFill>
                <a:ea typeface="黑体" panose="02010609060101010101" pitchFamily="49" charset="-122"/>
              </a:rPr>
              <a:t>控制方法</a:t>
            </a:r>
            <a:r>
              <a:rPr lang="zh-CN" altLang="en-US" sz="2600" dirty="0" smtClean="0">
                <a:ea typeface="黑体" panose="02010609060101010101" pitchFamily="49" charset="-122"/>
              </a:rPr>
              <a:t>：</a:t>
            </a:r>
            <a:r>
              <a:rPr lang="zh-CN" altLang="zh-CN" sz="2600" dirty="0" smtClean="0">
                <a:ea typeface="黑体" panose="02010609060101010101" pitchFamily="49" charset="-122"/>
              </a:rPr>
              <a:t>在每收到一个</a:t>
            </a:r>
            <a:r>
              <a:rPr lang="zh-CN" altLang="zh-CN" sz="2600" dirty="0" smtClean="0">
                <a:solidFill>
                  <a:srgbClr val="FF0000"/>
                </a:solidFill>
                <a:ea typeface="黑体" panose="02010609060101010101" pitchFamily="49" charset="-122"/>
              </a:rPr>
              <a:t>对新的报文段的确认</a:t>
            </a:r>
            <a:r>
              <a:rPr lang="zh-CN" altLang="zh-CN" sz="2600" dirty="0" smtClean="0">
                <a:ea typeface="黑体" panose="02010609060101010101" pitchFamily="49" charset="-122"/>
              </a:rPr>
              <a:t>后，可以把拥塞窗口</a:t>
            </a:r>
            <a:r>
              <a:rPr lang="zh-CN" altLang="zh-CN" sz="2600" dirty="0" smtClean="0">
                <a:solidFill>
                  <a:srgbClr val="0000FF"/>
                </a:solidFill>
                <a:ea typeface="黑体" panose="02010609060101010101" pitchFamily="49" charset="-122"/>
              </a:rPr>
              <a:t>增加</a:t>
            </a:r>
            <a:r>
              <a:rPr lang="zh-CN" altLang="zh-CN" sz="2600" dirty="0" smtClean="0">
                <a:ea typeface="黑体" panose="02010609060101010101" pitchFamily="49" charset="-122"/>
              </a:rPr>
              <a:t>最多</a:t>
            </a:r>
            <a:r>
              <a:rPr lang="zh-CN" altLang="zh-CN" sz="2600" dirty="0" smtClean="0">
                <a:solidFill>
                  <a:srgbClr val="0000FF"/>
                </a:solidFill>
                <a:ea typeface="黑体" panose="02010609060101010101" pitchFamily="49" charset="-122"/>
              </a:rPr>
              <a:t>一个</a:t>
            </a:r>
            <a:r>
              <a:rPr lang="en-US" altLang="zh-CN" sz="2600" dirty="0" smtClean="0">
                <a:ea typeface="黑体" panose="02010609060101010101" pitchFamily="49" charset="-122"/>
              </a:rPr>
              <a:t> SMSS </a:t>
            </a:r>
            <a:r>
              <a:rPr lang="zh-CN" altLang="zh-CN" sz="2600" dirty="0" smtClean="0">
                <a:ea typeface="黑体" panose="02010609060101010101" pitchFamily="49" charset="-122"/>
              </a:rPr>
              <a:t>的数值。</a:t>
            </a:r>
            <a:endParaRPr lang="en-US" altLang="zh-CN" sz="2600" dirty="0" smtClean="0">
              <a:ea typeface="黑体" panose="02010609060101010101" pitchFamily="49" charset="-122"/>
            </a:endParaRPr>
          </a:p>
          <a:p>
            <a:endParaRPr lang="en-US" altLang="zh-CN" sz="2600" dirty="0" smtClean="0">
              <a:ea typeface="黑体" panose="02010609060101010101" pitchFamily="49" charset="-122"/>
            </a:endParaRPr>
          </a:p>
          <a:p>
            <a:endParaRPr lang="en-US" altLang="zh-CN" sz="2600" dirty="0" smtClean="0">
              <a:ea typeface="黑体" panose="02010609060101010101" pitchFamily="49" charset="-122"/>
            </a:endParaRPr>
          </a:p>
          <a:p>
            <a:r>
              <a:rPr lang="zh-CN" altLang="zh-CN" sz="2600" dirty="0" smtClean="0">
                <a:ea typeface="黑体" panose="02010609060101010101" pitchFamily="49" charset="-122"/>
              </a:rPr>
              <a:t>其中</a:t>
            </a:r>
            <a:r>
              <a:rPr lang="en-US" altLang="zh-CN" sz="2600" dirty="0" smtClean="0">
                <a:ea typeface="黑体" panose="02010609060101010101" pitchFamily="49" charset="-122"/>
              </a:rPr>
              <a:t> </a:t>
            </a:r>
            <a:r>
              <a:rPr lang="en-US" altLang="zh-CN" sz="2600" i="1" dirty="0" smtClean="0">
                <a:ea typeface="黑体" panose="02010609060101010101" pitchFamily="49" charset="-122"/>
              </a:rPr>
              <a:t>N </a:t>
            </a:r>
            <a:r>
              <a:rPr lang="zh-CN" altLang="zh-CN" sz="2600" dirty="0" smtClean="0">
                <a:ea typeface="黑体" panose="02010609060101010101" pitchFamily="49" charset="-122"/>
              </a:rPr>
              <a:t>是原先未被确认的、但现在被刚收到的确认报文段所确认的字节数。</a:t>
            </a:r>
            <a:endParaRPr lang="en-US" altLang="zh-CN" sz="2600" dirty="0" smtClean="0">
              <a:ea typeface="黑体" panose="02010609060101010101" pitchFamily="49" charset="-122"/>
            </a:endParaRPr>
          </a:p>
          <a:p>
            <a:r>
              <a:rPr lang="zh-CN" altLang="zh-CN" sz="2600" dirty="0" smtClean="0">
                <a:ea typeface="黑体" panose="02010609060101010101" pitchFamily="49" charset="-122"/>
              </a:rPr>
              <a:t>不难看出，当</a:t>
            </a:r>
            <a:r>
              <a:rPr lang="en-US" altLang="zh-CN" sz="2600" dirty="0" smtClean="0">
                <a:ea typeface="黑体" panose="02010609060101010101" pitchFamily="49" charset="-122"/>
              </a:rPr>
              <a:t> </a:t>
            </a:r>
            <a:r>
              <a:rPr lang="en-US" altLang="zh-CN" sz="2600" i="1" dirty="0" smtClean="0">
                <a:ea typeface="黑体" panose="02010609060101010101" pitchFamily="49" charset="-122"/>
              </a:rPr>
              <a:t>N</a:t>
            </a:r>
            <a:r>
              <a:rPr lang="en-US" altLang="zh-CN" sz="2600" dirty="0" smtClean="0">
                <a:ea typeface="黑体" panose="02010609060101010101" pitchFamily="49" charset="-122"/>
              </a:rPr>
              <a:t> &lt; SMSS </a:t>
            </a:r>
            <a:r>
              <a:rPr lang="zh-CN" altLang="zh-CN" sz="2600" dirty="0" smtClean="0">
                <a:ea typeface="黑体" panose="02010609060101010101" pitchFamily="49" charset="-122"/>
              </a:rPr>
              <a:t>时，拥塞窗口每次的增加量要小于</a:t>
            </a:r>
            <a:r>
              <a:rPr lang="en-US" altLang="zh-CN" sz="2600" dirty="0" smtClean="0">
                <a:ea typeface="黑体" panose="02010609060101010101" pitchFamily="49" charset="-122"/>
              </a:rPr>
              <a:t> SMSS</a:t>
            </a:r>
            <a:r>
              <a:rPr lang="zh-CN" altLang="zh-CN" sz="2600" dirty="0" smtClean="0">
                <a:ea typeface="黑体" panose="02010609060101010101" pitchFamily="49" charset="-122"/>
              </a:rPr>
              <a:t>。</a:t>
            </a:r>
          </a:p>
          <a:p>
            <a:r>
              <a:rPr lang="zh-CN" altLang="zh-CN" sz="2600" dirty="0" smtClean="0">
                <a:ea typeface="黑体" panose="02010609060101010101" pitchFamily="49" charset="-122"/>
              </a:rPr>
              <a:t>用这样的方法逐步增大发送方的拥塞窗口</a:t>
            </a:r>
            <a:r>
              <a:rPr lang="en-US" altLang="zh-CN" sz="2600" dirty="0" smtClean="0">
                <a:ea typeface="黑体" panose="02010609060101010101" pitchFamily="49" charset="-122"/>
              </a:rPr>
              <a:t> </a:t>
            </a:r>
            <a:r>
              <a:rPr lang="en-US" altLang="zh-CN" sz="2600" dirty="0" err="1" smtClean="0">
                <a:ea typeface="黑体" panose="02010609060101010101" pitchFamily="49" charset="-122"/>
              </a:rPr>
              <a:t>cwnd</a:t>
            </a:r>
            <a:r>
              <a:rPr lang="zh-CN" altLang="zh-CN" sz="2600" dirty="0" smtClean="0">
                <a:ea typeface="黑体" panose="02010609060101010101" pitchFamily="49" charset="-122"/>
              </a:rPr>
              <a:t>，可以使分组注入到网络的速率更加合理。</a:t>
            </a:r>
            <a:endParaRPr lang="en-US" altLang="zh-CN" sz="2600" dirty="0" smtClean="0">
              <a:ea typeface="黑体" panose="02010609060101010101" pitchFamily="49" charset="-122"/>
            </a:endParaRPr>
          </a:p>
          <a:p>
            <a:endParaRPr lang="en-US" altLang="zh-CN" sz="2600" dirty="0" smtClean="0">
              <a:ea typeface="黑体" panose="02010609060101010101" pitchFamily="49" charset="-122"/>
            </a:endParaRPr>
          </a:p>
        </p:txBody>
      </p:sp>
      <p:sp>
        <p:nvSpPr>
          <p:cNvPr id="1512451" name="矩形 1"/>
          <p:cNvSpPr>
            <a:spLocks noChangeArrowheads="1"/>
          </p:cNvSpPr>
          <p:nvPr/>
        </p:nvSpPr>
        <p:spPr bwMode="auto">
          <a:xfrm>
            <a:off x="631825" y="2276475"/>
            <a:ext cx="9001125" cy="647700"/>
          </a:xfrm>
          <a:prstGeom prst="rect">
            <a:avLst/>
          </a:prstGeom>
          <a:solidFill>
            <a:srgbClr val="FFFF66"/>
          </a:solidFill>
          <a:ln w="9525">
            <a:solidFill>
              <a:schemeClr val="tx1"/>
            </a:solidFill>
            <a:round/>
            <a:headEnd/>
            <a:tailEnd/>
          </a:ln>
        </p:spPr>
        <p:txBody>
          <a:bodyPr anchor="ctr"/>
          <a:lstStyle/>
          <a:p>
            <a:pPr algn="ctr" eaLnBrk="0" hangingPunct="0">
              <a:lnSpc>
                <a:spcPct val="110000"/>
              </a:lnSpc>
            </a:pPr>
            <a:r>
              <a:rPr lang="zh-CN" altLang="zh-CN" sz="2800" b="1" dirty="0">
                <a:solidFill>
                  <a:srgbClr val="000099"/>
                </a:solidFill>
                <a:ea typeface="黑体" panose="02010609060101010101" pitchFamily="49" charset="-122"/>
              </a:rPr>
              <a:t>拥塞窗口</a:t>
            </a:r>
            <a:r>
              <a:rPr lang="en-US" altLang="zh-CN" sz="2800" b="1" dirty="0" err="1">
                <a:solidFill>
                  <a:srgbClr val="000099"/>
                </a:solidFill>
                <a:ea typeface="黑体" panose="02010609060101010101" pitchFamily="49" charset="-122"/>
              </a:rPr>
              <a:t>cwnd</a:t>
            </a:r>
            <a:r>
              <a:rPr lang="zh-CN" altLang="zh-CN" sz="2800" b="1" dirty="0">
                <a:solidFill>
                  <a:srgbClr val="000099"/>
                </a:solidFill>
                <a:ea typeface="黑体" panose="02010609060101010101" pitchFamily="49" charset="-122"/>
              </a:rPr>
              <a:t>每次的增加量</a:t>
            </a:r>
            <a:r>
              <a:rPr lang="en-US" altLang="zh-CN" sz="2800" b="1" dirty="0">
                <a:solidFill>
                  <a:srgbClr val="000099"/>
                </a:solidFill>
                <a:ea typeface="黑体" panose="02010609060101010101" pitchFamily="49" charset="-122"/>
              </a:rPr>
              <a:t> = min (N, SMSS)       (5-8)</a:t>
            </a:r>
            <a:endParaRPr lang="zh-CN" altLang="zh-CN" sz="2800" b="1" dirty="0">
              <a:solidFill>
                <a:srgbClr val="000099"/>
              </a:solidFill>
              <a:ea typeface="黑体" panose="02010609060101010101" pitchFamily="49" charset="-122"/>
            </a:endParaRPr>
          </a:p>
        </p:txBody>
      </p:sp>
      <p:sp>
        <p:nvSpPr>
          <p:cNvPr id="151245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8BA42E8-B221-4B70-9411-6376A3EA5CB6}" type="slidenum">
              <a:rPr lang="zh-CN" altLang="en-US" smtClean="0"/>
              <a:pPr eaLnBrk="1" hangingPunct="1"/>
              <a:t>27</a:t>
            </a:fld>
            <a:endParaRPr lang="en-US" altLang="zh-CN" smtClean="0"/>
          </a:p>
        </p:txBody>
      </p:sp>
      <p:sp>
        <p:nvSpPr>
          <p:cNvPr id="151245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3438525" y="2735263"/>
            <a:ext cx="5969000" cy="11049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5" name="Rectangle 3"/>
          <p:cNvSpPr>
            <a:spLocks noChangeArrowheads="1"/>
          </p:cNvSpPr>
          <p:nvPr/>
        </p:nvSpPr>
        <p:spPr bwMode="auto">
          <a:xfrm>
            <a:off x="3448050" y="3933825"/>
            <a:ext cx="5969000" cy="1714500"/>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6" name="Rectangle 4"/>
          <p:cNvSpPr>
            <a:spLocks noChangeArrowheads="1"/>
          </p:cNvSpPr>
          <p:nvPr/>
        </p:nvSpPr>
        <p:spPr bwMode="auto">
          <a:xfrm>
            <a:off x="3435350" y="1739900"/>
            <a:ext cx="5969000" cy="8255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7" name="Text Box 5"/>
          <p:cNvSpPr txBox="1">
            <a:spLocks noChangeArrowheads="1"/>
          </p:cNvSpPr>
          <p:nvPr/>
        </p:nvSpPr>
        <p:spPr bwMode="auto">
          <a:xfrm>
            <a:off x="2927350" y="1087438"/>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3333CC"/>
                </a:solidFill>
                <a:latin typeface="Arial" panose="020B0604020202020204" pitchFamily="34" charset="0"/>
                <a:ea typeface="黑体" panose="02010609060101010101" pitchFamily="2" charset="-122"/>
              </a:rPr>
              <a:t>发送方</a:t>
            </a:r>
          </a:p>
        </p:txBody>
      </p:sp>
      <p:sp>
        <p:nvSpPr>
          <p:cNvPr id="8" name="Text Box 6"/>
          <p:cNvSpPr txBox="1">
            <a:spLocks noChangeArrowheads="1"/>
          </p:cNvSpPr>
          <p:nvPr/>
        </p:nvSpPr>
        <p:spPr bwMode="auto">
          <a:xfrm>
            <a:off x="6240463" y="1085850"/>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3333CC"/>
                </a:solidFill>
                <a:latin typeface="Arial" panose="020B0604020202020204" pitchFamily="34" charset="0"/>
                <a:ea typeface="黑体" panose="02010609060101010101" pitchFamily="2" charset="-122"/>
              </a:rPr>
              <a:t>接收方</a:t>
            </a:r>
          </a:p>
        </p:txBody>
      </p:sp>
      <p:sp>
        <p:nvSpPr>
          <p:cNvPr id="9" name="Text Box 7"/>
          <p:cNvSpPr txBox="1">
            <a:spLocks noChangeArrowheads="1"/>
          </p:cNvSpPr>
          <p:nvPr/>
        </p:nvSpPr>
        <p:spPr bwMode="auto">
          <a:xfrm>
            <a:off x="2352675" y="1501775"/>
            <a:ext cx="1068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3333CC"/>
                </a:solidFill>
                <a:latin typeface="Arial" panose="020B0604020202020204" pitchFamily="34" charset="0"/>
                <a:ea typeface="黑体" panose="02010609060101010101" pitchFamily="2" charset="-122"/>
              </a:rPr>
              <a:t>发送 </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1</a:t>
            </a:r>
          </a:p>
        </p:txBody>
      </p:sp>
      <p:sp>
        <p:nvSpPr>
          <p:cNvPr id="10" name="Line 8"/>
          <p:cNvSpPr>
            <a:spLocks noChangeShapeType="1"/>
          </p:cNvSpPr>
          <p:nvPr/>
        </p:nvSpPr>
        <p:spPr bwMode="auto">
          <a:xfrm>
            <a:off x="3438525" y="1771650"/>
            <a:ext cx="3309938" cy="319088"/>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1" name="Line 9"/>
          <p:cNvSpPr>
            <a:spLocks noChangeShapeType="1"/>
          </p:cNvSpPr>
          <p:nvPr/>
        </p:nvSpPr>
        <p:spPr bwMode="auto">
          <a:xfrm>
            <a:off x="3438525" y="2760663"/>
            <a:ext cx="3309938" cy="319087"/>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2" name="Line 10"/>
          <p:cNvSpPr>
            <a:spLocks noChangeShapeType="1"/>
          </p:cNvSpPr>
          <p:nvPr/>
        </p:nvSpPr>
        <p:spPr bwMode="auto">
          <a:xfrm flipH="1">
            <a:off x="3438525" y="2227263"/>
            <a:ext cx="3309938" cy="31908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3" name="Text Box 11"/>
          <p:cNvSpPr txBox="1">
            <a:spLocks noChangeArrowheads="1"/>
          </p:cNvSpPr>
          <p:nvPr/>
        </p:nvSpPr>
        <p:spPr bwMode="auto">
          <a:xfrm>
            <a:off x="6667500" y="2024063"/>
            <a:ext cx="1138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000" kern="0">
                <a:solidFill>
                  <a:srgbClr val="3333CC"/>
                </a:solidFill>
                <a:latin typeface="Arial" panose="020B0604020202020204" pitchFamily="34" charset="0"/>
                <a:ea typeface="黑体" panose="02010609060101010101" pitchFamily="2" charset="-122"/>
              </a:rPr>
              <a:t> </a:t>
            </a:r>
            <a:r>
              <a:rPr kumimoji="0" lang="zh-CN" altLang="en-US" sz="2000" kern="0">
                <a:solidFill>
                  <a:srgbClr val="3333CC"/>
                </a:solidFill>
                <a:latin typeface="Arial" panose="020B0604020202020204" pitchFamily="34" charset="0"/>
                <a:ea typeface="黑体" panose="02010609060101010101" pitchFamily="2" charset="-122"/>
              </a:rPr>
              <a:t>确认 </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1</a:t>
            </a:r>
            <a:endParaRPr kumimoji="0" lang="en-US" altLang="zh-CN" sz="2000" kern="0">
              <a:solidFill>
                <a:srgbClr val="3333CC"/>
              </a:solidFill>
              <a:latin typeface="Arial" panose="020B0604020202020204" pitchFamily="34" charset="0"/>
              <a:ea typeface="黑体" panose="02010609060101010101" pitchFamily="2" charset="-122"/>
            </a:endParaRPr>
          </a:p>
        </p:txBody>
      </p:sp>
      <p:sp>
        <p:nvSpPr>
          <p:cNvPr id="14" name="Line 12"/>
          <p:cNvSpPr>
            <a:spLocks noChangeShapeType="1"/>
          </p:cNvSpPr>
          <p:nvPr/>
        </p:nvSpPr>
        <p:spPr bwMode="auto">
          <a:xfrm>
            <a:off x="3438525" y="5773738"/>
            <a:ext cx="3309938" cy="319087"/>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5" name="Line 13"/>
          <p:cNvSpPr>
            <a:spLocks noChangeShapeType="1"/>
          </p:cNvSpPr>
          <p:nvPr/>
        </p:nvSpPr>
        <p:spPr bwMode="auto">
          <a:xfrm flipH="1">
            <a:off x="3438525" y="4356100"/>
            <a:ext cx="3309938" cy="319088"/>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grpSp>
        <p:nvGrpSpPr>
          <p:cNvPr id="1513485" name="Group 14"/>
          <p:cNvGrpSpPr>
            <a:grpSpLocks/>
          </p:cNvGrpSpPr>
          <p:nvPr/>
        </p:nvGrpSpPr>
        <p:grpSpPr bwMode="auto">
          <a:xfrm>
            <a:off x="3438525" y="1614488"/>
            <a:ext cx="3309938" cy="4872037"/>
            <a:chOff x="2042" y="674"/>
            <a:chExt cx="1569" cy="2711"/>
          </a:xfrm>
        </p:grpSpPr>
        <p:sp>
          <p:nvSpPr>
            <p:cNvPr id="17" name="Line 15"/>
            <p:cNvSpPr>
              <a:spLocks noChangeShapeType="1"/>
            </p:cNvSpPr>
            <p:nvPr/>
          </p:nvSpPr>
          <p:spPr bwMode="auto">
            <a:xfrm>
              <a:off x="2042" y="674"/>
              <a:ext cx="0" cy="27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8" name="Line 16"/>
            <p:cNvSpPr>
              <a:spLocks noChangeShapeType="1"/>
            </p:cNvSpPr>
            <p:nvPr/>
          </p:nvSpPr>
          <p:spPr bwMode="auto">
            <a:xfrm>
              <a:off x="3611" y="674"/>
              <a:ext cx="0" cy="27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grpSp>
      <p:sp>
        <p:nvSpPr>
          <p:cNvPr id="19" name="Text Box 17"/>
          <p:cNvSpPr txBox="1">
            <a:spLocks noChangeArrowheads="1"/>
          </p:cNvSpPr>
          <p:nvPr/>
        </p:nvSpPr>
        <p:spPr bwMode="auto">
          <a:xfrm>
            <a:off x="1949450" y="2565400"/>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3333CC"/>
                </a:solidFill>
                <a:latin typeface="Arial" panose="020B0604020202020204" pitchFamily="34" charset="0"/>
                <a:ea typeface="黑体" panose="02010609060101010101" pitchFamily="2" charset="-122"/>
              </a:rPr>
              <a:t>发送 </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2</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3</a:t>
            </a:r>
          </a:p>
        </p:txBody>
      </p:sp>
      <p:sp>
        <p:nvSpPr>
          <p:cNvPr id="20" name="Line 18"/>
          <p:cNvSpPr>
            <a:spLocks noChangeShapeType="1"/>
          </p:cNvSpPr>
          <p:nvPr/>
        </p:nvSpPr>
        <p:spPr bwMode="auto">
          <a:xfrm>
            <a:off x="3438525" y="3079750"/>
            <a:ext cx="3309938" cy="319088"/>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21" name="Text Box 19"/>
          <p:cNvSpPr txBox="1">
            <a:spLocks noChangeArrowheads="1"/>
          </p:cNvSpPr>
          <p:nvPr/>
        </p:nvSpPr>
        <p:spPr bwMode="auto">
          <a:xfrm>
            <a:off x="6667500" y="2960688"/>
            <a:ext cx="1635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000" kern="0">
                <a:solidFill>
                  <a:srgbClr val="3333CC"/>
                </a:solidFill>
                <a:latin typeface="Arial" panose="020B0604020202020204" pitchFamily="34" charset="0"/>
                <a:ea typeface="黑体" panose="02010609060101010101" pitchFamily="2" charset="-122"/>
              </a:rPr>
              <a:t> </a:t>
            </a:r>
            <a:r>
              <a:rPr kumimoji="0" lang="zh-CN" altLang="en-US" sz="2000" kern="0">
                <a:solidFill>
                  <a:srgbClr val="3333CC"/>
                </a:solidFill>
                <a:latin typeface="Arial" panose="020B0604020202020204" pitchFamily="34" charset="0"/>
                <a:ea typeface="黑体" panose="02010609060101010101" pitchFamily="2" charset="-122"/>
              </a:rPr>
              <a:t>确认 </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2</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3 </a:t>
            </a:r>
            <a:endParaRPr kumimoji="0" lang="en-US" altLang="zh-CN" sz="2000" kern="0">
              <a:solidFill>
                <a:srgbClr val="3333CC"/>
              </a:solidFill>
              <a:latin typeface="Arial" panose="020B0604020202020204" pitchFamily="34" charset="0"/>
              <a:ea typeface="黑体" panose="02010609060101010101" pitchFamily="2" charset="-122"/>
            </a:endParaRPr>
          </a:p>
        </p:txBody>
      </p:sp>
      <p:sp>
        <p:nvSpPr>
          <p:cNvPr id="22" name="Line 20"/>
          <p:cNvSpPr>
            <a:spLocks noChangeShapeType="1"/>
          </p:cNvSpPr>
          <p:nvPr/>
        </p:nvSpPr>
        <p:spPr bwMode="auto">
          <a:xfrm flipH="1">
            <a:off x="3438525" y="3187700"/>
            <a:ext cx="3309938" cy="319088"/>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23" name="Line 21"/>
          <p:cNvSpPr>
            <a:spLocks noChangeShapeType="1"/>
          </p:cNvSpPr>
          <p:nvPr/>
        </p:nvSpPr>
        <p:spPr bwMode="auto">
          <a:xfrm flipH="1">
            <a:off x="3438525" y="3506788"/>
            <a:ext cx="3309938" cy="31908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24" name="Text Box 22"/>
          <p:cNvSpPr txBox="1">
            <a:spLocks noChangeArrowheads="1"/>
          </p:cNvSpPr>
          <p:nvPr/>
        </p:nvSpPr>
        <p:spPr bwMode="auto">
          <a:xfrm>
            <a:off x="1895475" y="3679825"/>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3333CC"/>
                </a:solidFill>
                <a:latin typeface="Arial" panose="020B0604020202020204" pitchFamily="34" charset="0"/>
                <a:ea typeface="黑体" panose="02010609060101010101" pitchFamily="2" charset="-122"/>
              </a:rPr>
              <a:t>发送 </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4</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7</a:t>
            </a:r>
          </a:p>
        </p:txBody>
      </p:sp>
      <p:sp>
        <p:nvSpPr>
          <p:cNvPr id="25" name="Text Box 23"/>
          <p:cNvSpPr txBox="1">
            <a:spLocks noChangeArrowheads="1"/>
          </p:cNvSpPr>
          <p:nvPr/>
        </p:nvSpPr>
        <p:spPr bwMode="auto">
          <a:xfrm>
            <a:off x="6667500" y="4149725"/>
            <a:ext cx="1635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000" kern="0">
                <a:solidFill>
                  <a:srgbClr val="3333CC"/>
                </a:solidFill>
                <a:latin typeface="Arial" panose="020B0604020202020204" pitchFamily="34" charset="0"/>
                <a:ea typeface="黑体" panose="02010609060101010101" pitchFamily="2" charset="-122"/>
              </a:rPr>
              <a:t> </a:t>
            </a:r>
            <a:r>
              <a:rPr kumimoji="0" lang="zh-CN" altLang="en-US" sz="2000" kern="0">
                <a:solidFill>
                  <a:srgbClr val="3333CC"/>
                </a:solidFill>
                <a:latin typeface="Arial" panose="020B0604020202020204" pitchFamily="34" charset="0"/>
                <a:ea typeface="黑体" panose="02010609060101010101" pitchFamily="2" charset="-122"/>
              </a:rPr>
              <a:t>确认 </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4</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7 </a:t>
            </a:r>
            <a:endParaRPr kumimoji="0" lang="en-US" altLang="zh-CN" sz="2000" kern="0">
              <a:solidFill>
                <a:srgbClr val="3333CC"/>
              </a:solidFill>
              <a:latin typeface="Arial" panose="020B0604020202020204" pitchFamily="34" charset="0"/>
              <a:ea typeface="黑体" panose="02010609060101010101" pitchFamily="2" charset="-122"/>
            </a:endParaRPr>
          </a:p>
        </p:txBody>
      </p:sp>
      <p:sp>
        <p:nvSpPr>
          <p:cNvPr id="26" name="Line 24"/>
          <p:cNvSpPr>
            <a:spLocks noChangeShapeType="1"/>
          </p:cNvSpPr>
          <p:nvPr/>
        </p:nvSpPr>
        <p:spPr bwMode="auto">
          <a:xfrm flipH="1">
            <a:off x="3438525" y="4675188"/>
            <a:ext cx="3309938" cy="320675"/>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27" name="Line 25"/>
          <p:cNvSpPr>
            <a:spLocks noChangeShapeType="1"/>
          </p:cNvSpPr>
          <p:nvPr/>
        </p:nvSpPr>
        <p:spPr bwMode="auto">
          <a:xfrm flipH="1">
            <a:off x="3438525" y="4995863"/>
            <a:ext cx="3309938" cy="31908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28" name="Line 26"/>
          <p:cNvSpPr>
            <a:spLocks noChangeShapeType="1"/>
          </p:cNvSpPr>
          <p:nvPr/>
        </p:nvSpPr>
        <p:spPr bwMode="auto">
          <a:xfrm flipH="1">
            <a:off x="3438525" y="5314950"/>
            <a:ext cx="3309938" cy="319088"/>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29" name="Text Box 27"/>
          <p:cNvSpPr txBox="1">
            <a:spLocks noChangeArrowheads="1"/>
          </p:cNvSpPr>
          <p:nvPr/>
        </p:nvSpPr>
        <p:spPr bwMode="auto">
          <a:xfrm>
            <a:off x="515938" y="1509713"/>
            <a:ext cx="1285875" cy="406400"/>
          </a:xfrm>
          <a:prstGeom prst="rect">
            <a:avLst/>
          </a:prstGeom>
          <a:solidFill>
            <a:srgbClr val="FFFF99"/>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000" kern="0">
                <a:solidFill>
                  <a:srgbClr val="3333CC"/>
                </a:solidFill>
                <a:latin typeface="Arial" panose="020B0604020202020204" pitchFamily="34" charset="0"/>
                <a:ea typeface="黑体" panose="02010609060101010101" pitchFamily="2" charset="-122"/>
              </a:rPr>
              <a:t>cwnd = 1 </a:t>
            </a:r>
          </a:p>
        </p:txBody>
      </p:sp>
      <p:sp>
        <p:nvSpPr>
          <p:cNvPr id="30" name="Text Box 28"/>
          <p:cNvSpPr txBox="1">
            <a:spLocks noChangeArrowheads="1"/>
          </p:cNvSpPr>
          <p:nvPr/>
        </p:nvSpPr>
        <p:spPr bwMode="auto">
          <a:xfrm>
            <a:off x="515938" y="2586038"/>
            <a:ext cx="1285875" cy="406400"/>
          </a:xfrm>
          <a:prstGeom prst="rect">
            <a:avLst/>
          </a:prstGeom>
          <a:solidFill>
            <a:srgbClr val="FFCCFF"/>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000" kern="0">
                <a:solidFill>
                  <a:srgbClr val="3333CC"/>
                </a:solidFill>
                <a:latin typeface="Arial" panose="020B0604020202020204" pitchFamily="34" charset="0"/>
                <a:ea typeface="黑体" panose="02010609060101010101" pitchFamily="2" charset="-122"/>
              </a:rPr>
              <a:t>cwnd = 2 </a:t>
            </a:r>
          </a:p>
        </p:txBody>
      </p:sp>
      <p:sp>
        <p:nvSpPr>
          <p:cNvPr id="31" name="Text Box 29"/>
          <p:cNvSpPr txBox="1">
            <a:spLocks noChangeArrowheads="1"/>
          </p:cNvSpPr>
          <p:nvPr/>
        </p:nvSpPr>
        <p:spPr bwMode="auto">
          <a:xfrm>
            <a:off x="515938" y="3679825"/>
            <a:ext cx="1285875" cy="406400"/>
          </a:xfrm>
          <a:prstGeom prst="rect">
            <a:avLst/>
          </a:prstGeom>
          <a:solidFill>
            <a:srgbClr val="99FF33"/>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000" kern="0">
                <a:solidFill>
                  <a:srgbClr val="3333CC"/>
                </a:solidFill>
                <a:latin typeface="Arial" panose="020B0604020202020204" pitchFamily="34" charset="0"/>
                <a:ea typeface="黑体" panose="02010609060101010101" pitchFamily="2" charset="-122"/>
              </a:rPr>
              <a:t>cwnd = 4 </a:t>
            </a:r>
          </a:p>
        </p:txBody>
      </p:sp>
      <p:sp>
        <p:nvSpPr>
          <p:cNvPr id="32" name="Text Box 30"/>
          <p:cNvSpPr txBox="1">
            <a:spLocks noChangeArrowheads="1"/>
          </p:cNvSpPr>
          <p:nvPr/>
        </p:nvSpPr>
        <p:spPr bwMode="auto">
          <a:xfrm>
            <a:off x="1811338" y="5661025"/>
            <a:ext cx="1611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3333CC"/>
                </a:solidFill>
                <a:latin typeface="Arial" panose="020B0604020202020204" pitchFamily="34" charset="0"/>
                <a:ea typeface="黑体" panose="02010609060101010101" pitchFamily="2" charset="-122"/>
              </a:rPr>
              <a:t>发送 </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8</a:t>
            </a:r>
            <a:r>
              <a:rPr kumimoji="0" lang="en-US" altLang="zh-CN" sz="2000" kern="0">
                <a:solidFill>
                  <a:srgbClr val="3333CC"/>
                </a:solidFill>
                <a:latin typeface="Arial" panose="020B0604020202020204" pitchFamily="34" charset="0"/>
                <a:ea typeface="黑体" panose="02010609060101010101" pitchFamily="2" charset="-122"/>
              </a:rPr>
              <a:t>~M</a:t>
            </a:r>
            <a:r>
              <a:rPr kumimoji="0" lang="en-US" altLang="zh-CN" sz="2000" kern="0" baseline="-25000">
                <a:solidFill>
                  <a:srgbClr val="3333CC"/>
                </a:solidFill>
                <a:latin typeface="Arial" panose="020B0604020202020204" pitchFamily="34" charset="0"/>
                <a:ea typeface="黑体" panose="02010609060101010101" pitchFamily="2" charset="-122"/>
              </a:rPr>
              <a:t>15</a:t>
            </a:r>
          </a:p>
        </p:txBody>
      </p:sp>
      <p:sp>
        <p:nvSpPr>
          <p:cNvPr id="33" name="Text Box 31"/>
          <p:cNvSpPr txBox="1">
            <a:spLocks noChangeArrowheads="1"/>
          </p:cNvSpPr>
          <p:nvPr/>
        </p:nvSpPr>
        <p:spPr bwMode="auto">
          <a:xfrm>
            <a:off x="515938" y="5661025"/>
            <a:ext cx="133191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folHlink"/>
                </a:solidFill>
                <a:miter lim="800000"/>
                <a:headEnd/>
                <a:tailEnd/>
              </a14:hiddenLine>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000" kern="0" dirty="0" err="1">
                <a:solidFill>
                  <a:srgbClr val="3333CC"/>
                </a:solidFill>
                <a:latin typeface="Arial" panose="020B0604020202020204" pitchFamily="34" charset="0"/>
                <a:ea typeface="黑体" panose="02010609060101010101" pitchFamily="2" charset="-122"/>
              </a:rPr>
              <a:t>cwnd</a:t>
            </a:r>
            <a:r>
              <a:rPr kumimoji="0" lang="en-US" altLang="zh-CN" sz="2000" kern="0" dirty="0">
                <a:solidFill>
                  <a:srgbClr val="3333CC"/>
                </a:solidFill>
                <a:latin typeface="Arial" panose="020B0604020202020204" pitchFamily="34" charset="0"/>
                <a:ea typeface="黑体" panose="02010609060101010101" pitchFamily="2" charset="-122"/>
              </a:rPr>
              <a:t> = 8 </a:t>
            </a:r>
          </a:p>
        </p:txBody>
      </p:sp>
      <p:sp>
        <p:nvSpPr>
          <p:cNvPr id="34" name="Text Box 32"/>
          <p:cNvSpPr txBox="1">
            <a:spLocks noChangeArrowheads="1"/>
          </p:cNvSpPr>
          <p:nvPr/>
        </p:nvSpPr>
        <p:spPr bwMode="auto">
          <a:xfrm rot="5400000">
            <a:off x="4914900" y="5994401"/>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800" kern="0">
                <a:solidFill>
                  <a:srgbClr val="3333CC"/>
                </a:solidFill>
                <a:latin typeface="Arial" panose="020B0604020202020204" pitchFamily="34" charset="0"/>
                <a:ea typeface="黑体" panose="02010609060101010101" pitchFamily="2" charset="-122"/>
              </a:rPr>
              <a:t>…</a:t>
            </a:r>
          </a:p>
        </p:txBody>
      </p:sp>
      <p:sp>
        <p:nvSpPr>
          <p:cNvPr id="35" name="Line 33"/>
          <p:cNvSpPr>
            <a:spLocks noChangeShapeType="1"/>
          </p:cNvSpPr>
          <p:nvPr/>
        </p:nvSpPr>
        <p:spPr bwMode="auto">
          <a:xfrm>
            <a:off x="3438525" y="3932238"/>
            <a:ext cx="3309938" cy="319087"/>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36" name="Line 34"/>
          <p:cNvSpPr>
            <a:spLocks noChangeShapeType="1"/>
          </p:cNvSpPr>
          <p:nvPr/>
        </p:nvSpPr>
        <p:spPr bwMode="auto">
          <a:xfrm>
            <a:off x="3438525" y="4251325"/>
            <a:ext cx="3309938" cy="319088"/>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37" name="Line 35"/>
          <p:cNvSpPr>
            <a:spLocks noChangeShapeType="1"/>
          </p:cNvSpPr>
          <p:nvPr/>
        </p:nvSpPr>
        <p:spPr bwMode="auto">
          <a:xfrm>
            <a:off x="3438525" y="4570413"/>
            <a:ext cx="3309938" cy="319087"/>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38" name="Line 36"/>
          <p:cNvSpPr>
            <a:spLocks noChangeShapeType="1"/>
          </p:cNvSpPr>
          <p:nvPr/>
        </p:nvSpPr>
        <p:spPr bwMode="auto">
          <a:xfrm>
            <a:off x="3438525" y="4889500"/>
            <a:ext cx="3309938" cy="319088"/>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39" name="Text Box 39"/>
          <p:cNvSpPr txBox="1">
            <a:spLocks noChangeArrowheads="1"/>
          </p:cNvSpPr>
          <p:nvPr/>
        </p:nvSpPr>
        <p:spPr bwMode="auto">
          <a:xfrm>
            <a:off x="1352550" y="106363"/>
            <a:ext cx="6994525" cy="955675"/>
          </a:xfrm>
          <a:prstGeom prst="rect">
            <a:avLst/>
          </a:prstGeom>
          <a:solidFill>
            <a:srgbClr val="FFFF66"/>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sz="2800" b="1">
                <a:solidFill>
                  <a:srgbClr val="000099"/>
                </a:solidFill>
                <a:ea typeface="黑体" panose="02010609060101010101" pitchFamily="49" charset="-122"/>
              </a:rPr>
              <a:t>发送方每收到一个对新报文段的确认</a:t>
            </a:r>
          </a:p>
          <a:p>
            <a:pPr algn="ctr" eaLnBrk="1" hangingPunct="1"/>
            <a:r>
              <a:rPr lang="zh-CN" altLang="en-US" sz="2800" b="1">
                <a:solidFill>
                  <a:srgbClr val="000099"/>
                </a:solidFill>
                <a:ea typeface="黑体" panose="02010609060101010101" pitchFamily="49" charset="-122"/>
              </a:rPr>
              <a:t>（重传的不算在内）就使 </a:t>
            </a:r>
            <a:r>
              <a:rPr lang="en-US" altLang="zh-CN" sz="2800" b="1">
                <a:solidFill>
                  <a:srgbClr val="000099"/>
                </a:solidFill>
                <a:ea typeface="黑体" panose="02010609060101010101" pitchFamily="49" charset="-122"/>
              </a:rPr>
              <a:t>cwnd </a:t>
            </a:r>
            <a:r>
              <a:rPr lang="zh-CN" altLang="en-US" sz="2800" b="1">
                <a:solidFill>
                  <a:srgbClr val="000099"/>
                </a:solidFill>
                <a:ea typeface="黑体" panose="02010609060101010101" pitchFamily="49" charset="-122"/>
              </a:rPr>
              <a:t>加 </a:t>
            </a:r>
            <a:r>
              <a:rPr lang="en-US" altLang="zh-CN" sz="2800" b="1">
                <a:solidFill>
                  <a:srgbClr val="000099"/>
                </a:solidFill>
                <a:ea typeface="黑体" panose="02010609060101010101" pitchFamily="49" charset="-122"/>
              </a:rPr>
              <a:t>1</a:t>
            </a:r>
            <a:r>
              <a:rPr lang="zh-CN" altLang="en-US" sz="2800" b="1">
                <a:solidFill>
                  <a:srgbClr val="000099"/>
                </a:solidFill>
                <a:ea typeface="黑体" panose="02010609060101010101" pitchFamily="49" charset="-122"/>
              </a:rPr>
              <a:t>。 </a:t>
            </a:r>
          </a:p>
        </p:txBody>
      </p:sp>
      <p:sp>
        <p:nvSpPr>
          <p:cNvPr id="40" name="Text Box 40"/>
          <p:cNvSpPr txBox="1">
            <a:spLocks noChangeArrowheads="1"/>
          </p:cNvSpPr>
          <p:nvPr/>
        </p:nvSpPr>
        <p:spPr bwMode="auto">
          <a:xfrm>
            <a:off x="8364538" y="1930400"/>
            <a:ext cx="90646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3333CC"/>
                </a:solidFill>
                <a:latin typeface="Arial" panose="020B0604020202020204" pitchFamily="34" charset="0"/>
                <a:ea typeface="黑体" panose="02010609060101010101" pitchFamily="2" charset="-122"/>
              </a:rPr>
              <a:t>轮次 </a:t>
            </a:r>
            <a:r>
              <a:rPr kumimoji="0" lang="en-US" altLang="zh-CN" sz="2000" kern="0">
                <a:solidFill>
                  <a:srgbClr val="3333CC"/>
                </a:solidFill>
                <a:latin typeface="Arial" panose="020B0604020202020204" pitchFamily="34" charset="0"/>
                <a:ea typeface="黑体" panose="02010609060101010101" pitchFamily="2" charset="-122"/>
              </a:rPr>
              <a:t>1</a:t>
            </a:r>
          </a:p>
        </p:txBody>
      </p:sp>
      <p:sp>
        <p:nvSpPr>
          <p:cNvPr id="41" name="Text Box 41"/>
          <p:cNvSpPr txBox="1">
            <a:spLocks noChangeArrowheads="1"/>
          </p:cNvSpPr>
          <p:nvPr/>
        </p:nvSpPr>
        <p:spPr bwMode="auto">
          <a:xfrm>
            <a:off x="8364538" y="2960688"/>
            <a:ext cx="90646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3333CC"/>
                </a:solidFill>
                <a:latin typeface="Arial" panose="020B0604020202020204" pitchFamily="34" charset="0"/>
                <a:ea typeface="黑体" panose="02010609060101010101" pitchFamily="2" charset="-122"/>
              </a:rPr>
              <a:t>轮次 </a:t>
            </a:r>
            <a:r>
              <a:rPr kumimoji="0" lang="en-US" altLang="zh-CN" sz="2000" kern="0">
                <a:solidFill>
                  <a:srgbClr val="3333CC"/>
                </a:solidFill>
                <a:latin typeface="Arial" panose="020B0604020202020204" pitchFamily="34" charset="0"/>
                <a:ea typeface="黑体" panose="02010609060101010101" pitchFamily="2" charset="-122"/>
              </a:rPr>
              <a:t>2</a:t>
            </a:r>
          </a:p>
        </p:txBody>
      </p:sp>
      <p:sp>
        <p:nvSpPr>
          <p:cNvPr id="42" name="Text Box 42"/>
          <p:cNvSpPr txBox="1">
            <a:spLocks noChangeArrowheads="1"/>
          </p:cNvSpPr>
          <p:nvPr/>
        </p:nvSpPr>
        <p:spPr bwMode="auto">
          <a:xfrm>
            <a:off x="8364538" y="4616450"/>
            <a:ext cx="90646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3333CC"/>
                </a:solidFill>
                <a:latin typeface="Arial" panose="020B0604020202020204" pitchFamily="34" charset="0"/>
                <a:ea typeface="黑体" panose="02010609060101010101" pitchFamily="2" charset="-122"/>
              </a:rPr>
              <a:t>轮次 </a:t>
            </a:r>
            <a:r>
              <a:rPr kumimoji="0" lang="en-US" altLang="zh-CN" sz="2000" kern="0">
                <a:solidFill>
                  <a:srgbClr val="3333CC"/>
                </a:solidFill>
                <a:latin typeface="Arial" panose="020B0604020202020204" pitchFamily="34" charset="0"/>
                <a:ea typeface="黑体" panose="02010609060101010101" pitchFamily="2" charset="-122"/>
              </a:rPr>
              <a:t>3</a:t>
            </a:r>
          </a:p>
        </p:txBody>
      </p:sp>
      <p:sp>
        <p:nvSpPr>
          <p:cNvPr id="43" name="Text Box 43"/>
          <p:cNvSpPr txBox="1">
            <a:spLocks noChangeArrowheads="1"/>
          </p:cNvSpPr>
          <p:nvPr/>
        </p:nvSpPr>
        <p:spPr bwMode="auto">
          <a:xfrm>
            <a:off x="515938" y="4865688"/>
            <a:ext cx="2781300" cy="708025"/>
          </a:xfrm>
          <a:prstGeom prst="rect">
            <a:avLst/>
          </a:prstGeom>
          <a:solidFill>
            <a:srgbClr val="FFCF01"/>
          </a:solidFill>
          <a:ln w="1905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sz="2000" kern="0" dirty="0">
                <a:solidFill>
                  <a:srgbClr val="000000"/>
                </a:solidFill>
                <a:ea typeface="黑体" panose="02010609060101010101" pitchFamily="2" charset="-122"/>
              </a:rPr>
              <a:t>窗口大小按指数增加，不慢！</a:t>
            </a:r>
          </a:p>
        </p:txBody>
      </p:sp>
      <p:sp>
        <p:nvSpPr>
          <p:cNvPr id="44" name="矩形 43"/>
          <p:cNvSpPr>
            <a:spLocks noChangeArrowheads="1"/>
          </p:cNvSpPr>
          <p:nvPr/>
        </p:nvSpPr>
        <p:spPr bwMode="auto">
          <a:xfrm>
            <a:off x="515938" y="4149725"/>
            <a:ext cx="2781300" cy="708025"/>
          </a:xfrm>
          <a:prstGeom prst="rect">
            <a:avLst/>
          </a:prstGeom>
          <a:solidFill>
            <a:srgbClr val="000099"/>
          </a:solidFill>
          <a:ln w="19050">
            <a:solidFill>
              <a:srgbClr val="333399"/>
            </a:solidFill>
            <a:miter lim="800000"/>
            <a:headEnd/>
            <a:tailEnd/>
          </a:ln>
        </p:spPr>
        <p:txBody>
          <a:bodyPr>
            <a:spAutoFit/>
          </a:bodyPr>
          <a:lstStyle/>
          <a:p>
            <a:r>
              <a:rPr lang="zh-CN" altLang="zh-CN" sz="2000" b="1">
                <a:solidFill>
                  <a:schemeClr val="bg1"/>
                </a:solidFill>
                <a:latin typeface="Tahoma" panose="020B0604030504040204" pitchFamily="34" charset="0"/>
                <a:ea typeface="黑体" panose="02010609060101010101" pitchFamily="49" charset="-122"/>
              </a:rPr>
              <a:t>每经过一个传输轮次，拥塞窗口就加倍。</a:t>
            </a:r>
            <a:endParaRPr lang="zh-CN" altLang="en-US" sz="2000" b="1">
              <a:solidFill>
                <a:schemeClr val="bg1"/>
              </a:solidFill>
              <a:latin typeface="Tahoma" panose="020B0604030504040204" pitchFamily="34" charset="0"/>
              <a:ea typeface="黑体" panose="02010609060101010101" pitchFamily="49" charset="-122"/>
            </a:endParaRPr>
          </a:p>
        </p:txBody>
      </p:sp>
      <p:sp>
        <p:nvSpPr>
          <p:cNvPr id="1513514" name="灯片编号占位符 4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4628336-3A8B-4DA8-A701-AB2F2BAB214A}" type="slidenum">
              <a:rPr lang="zh-CN" altLang="en-US" smtClean="0"/>
              <a:pPr/>
              <a:t>28</a:t>
            </a:fld>
            <a:endParaRPr lang="en-US" altLang="zh-CN" smtClean="0"/>
          </a:p>
        </p:txBody>
      </p:sp>
      <p:sp>
        <p:nvSpPr>
          <p:cNvPr id="1513515" name="页脚占位符 4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up)">
                                      <p:cBhvr>
                                        <p:cTn id="7" dur="1000"/>
                                        <p:tgtEl>
                                          <p:spTgt spid="44"/>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up)">
                                      <p:cBhvr>
                                        <p:cTn id="11" dur="1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449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传输轮次</a:t>
            </a:r>
            <a:endParaRPr lang="en-US" altLang="zh-CN" smtClean="0">
              <a:ea typeface="黑体" panose="02010609060101010101" pitchFamily="49" charset="-122"/>
            </a:endParaRPr>
          </a:p>
        </p:txBody>
      </p:sp>
      <p:sp>
        <p:nvSpPr>
          <p:cNvPr id="1514498"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使用慢开始算法后，每经过一个</a:t>
            </a:r>
            <a:r>
              <a:rPr lang="zh-CN" altLang="en-US" sz="2800" smtClean="0">
                <a:solidFill>
                  <a:srgbClr val="FF0000"/>
                </a:solidFill>
                <a:ea typeface="黑体" panose="02010609060101010101" pitchFamily="49" charset="-122"/>
              </a:rPr>
              <a:t>传输轮次 </a:t>
            </a:r>
            <a:r>
              <a:rPr lang="en-US" altLang="zh-CN" sz="2800" smtClean="0">
                <a:ea typeface="黑体" panose="02010609060101010101" pitchFamily="49" charset="-122"/>
              </a:rPr>
              <a:t>(transmission round)</a:t>
            </a:r>
            <a:r>
              <a:rPr lang="zh-CN" altLang="en-US" sz="2800" smtClean="0">
                <a:ea typeface="黑体" panose="02010609060101010101" pitchFamily="49" charset="-122"/>
              </a:rPr>
              <a:t>，拥塞窗口 </a:t>
            </a:r>
            <a:r>
              <a:rPr lang="en-US" altLang="zh-CN" sz="2800" smtClean="0">
                <a:ea typeface="黑体" panose="02010609060101010101" pitchFamily="49" charset="-122"/>
              </a:rPr>
              <a:t>cwnd </a:t>
            </a:r>
            <a:r>
              <a:rPr lang="zh-CN" altLang="en-US" sz="2800" smtClean="0">
                <a:ea typeface="黑体" panose="02010609060101010101" pitchFamily="49" charset="-122"/>
              </a:rPr>
              <a:t>就加倍。 </a:t>
            </a:r>
          </a:p>
          <a:p>
            <a:r>
              <a:rPr lang="zh-CN" altLang="en-US" sz="2800" smtClean="0">
                <a:ea typeface="黑体" panose="02010609060101010101" pitchFamily="49" charset="-122"/>
              </a:rPr>
              <a:t>一个传输轮次所经历的时间其实就是往返时间 </a:t>
            </a:r>
            <a:r>
              <a:rPr lang="en-US" altLang="zh-CN" sz="2800" smtClean="0">
                <a:ea typeface="黑体" panose="02010609060101010101" pitchFamily="49" charset="-122"/>
              </a:rPr>
              <a:t>RTT</a:t>
            </a:r>
            <a:r>
              <a:rPr lang="zh-CN" altLang="en-US" sz="2800" smtClean="0">
                <a:ea typeface="黑体" panose="02010609060101010101" pitchFamily="49" charset="-122"/>
              </a:rPr>
              <a:t>。</a:t>
            </a:r>
          </a:p>
          <a:p>
            <a:r>
              <a:rPr lang="zh-CN" altLang="en-US" sz="2800" smtClean="0">
                <a:ea typeface="黑体" panose="02010609060101010101" pitchFamily="49" charset="-122"/>
              </a:rPr>
              <a:t>“</a:t>
            </a:r>
            <a:r>
              <a:rPr lang="zh-CN" altLang="en-US" sz="2800" smtClean="0">
                <a:solidFill>
                  <a:srgbClr val="FF0000"/>
                </a:solidFill>
                <a:ea typeface="黑体" panose="02010609060101010101" pitchFamily="49" charset="-122"/>
              </a:rPr>
              <a:t>传输轮次</a:t>
            </a:r>
            <a:r>
              <a:rPr lang="zh-CN" altLang="en-US" sz="2800" smtClean="0">
                <a:ea typeface="黑体" panose="02010609060101010101" pitchFamily="49" charset="-122"/>
              </a:rPr>
              <a:t>”更加强调：把拥塞窗口 </a:t>
            </a:r>
            <a:r>
              <a:rPr lang="en-US" altLang="zh-CN" sz="2800" smtClean="0">
                <a:ea typeface="黑体" panose="02010609060101010101" pitchFamily="49" charset="-122"/>
              </a:rPr>
              <a:t>cwnd </a:t>
            </a:r>
            <a:r>
              <a:rPr lang="zh-CN" altLang="en-US" sz="2800" smtClean="0">
                <a:ea typeface="黑体" panose="02010609060101010101" pitchFamily="49" charset="-122"/>
              </a:rPr>
              <a:t>所允许发送的报文段都连续发送出去，并收到了对已发送的最后一个字节的确认。</a:t>
            </a:r>
          </a:p>
          <a:p>
            <a:r>
              <a:rPr lang="zh-CN" altLang="en-US" sz="2800" smtClean="0">
                <a:ea typeface="黑体" panose="02010609060101010101" pitchFamily="49" charset="-122"/>
              </a:rPr>
              <a:t>例如，拥塞窗口 </a:t>
            </a:r>
            <a:r>
              <a:rPr lang="en-US" altLang="zh-CN" sz="2800" smtClean="0">
                <a:ea typeface="黑体" panose="02010609060101010101" pitchFamily="49" charset="-122"/>
              </a:rPr>
              <a:t>cwnd = 4</a:t>
            </a:r>
            <a:r>
              <a:rPr lang="zh-CN" altLang="en-US" sz="2800" smtClean="0">
                <a:ea typeface="黑体" panose="02010609060101010101" pitchFamily="49" charset="-122"/>
              </a:rPr>
              <a:t>，这时的往返时间 </a:t>
            </a:r>
            <a:r>
              <a:rPr lang="en-US" altLang="zh-CN" sz="2800" smtClean="0">
                <a:ea typeface="黑体" panose="02010609060101010101" pitchFamily="49" charset="-122"/>
              </a:rPr>
              <a:t>RTT </a:t>
            </a:r>
            <a:r>
              <a:rPr lang="zh-CN" altLang="en-US" sz="2800" smtClean="0">
                <a:ea typeface="黑体" panose="02010609060101010101" pitchFamily="49" charset="-122"/>
              </a:rPr>
              <a:t>就是发送方连续发送 </a:t>
            </a:r>
            <a:r>
              <a:rPr lang="en-US" altLang="zh-CN" sz="2800" smtClean="0">
                <a:ea typeface="黑体" panose="02010609060101010101" pitchFamily="49" charset="-122"/>
              </a:rPr>
              <a:t>4 </a:t>
            </a:r>
            <a:r>
              <a:rPr lang="zh-CN" altLang="en-US" sz="2800" smtClean="0">
                <a:ea typeface="黑体" panose="02010609060101010101" pitchFamily="49" charset="-122"/>
              </a:rPr>
              <a:t>个报文段，并收到这 </a:t>
            </a:r>
            <a:r>
              <a:rPr lang="en-US" altLang="zh-CN" sz="2800" smtClean="0">
                <a:ea typeface="黑体" panose="02010609060101010101" pitchFamily="49" charset="-122"/>
              </a:rPr>
              <a:t>4 </a:t>
            </a:r>
            <a:r>
              <a:rPr lang="zh-CN" altLang="en-US" sz="2800" smtClean="0">
                <a:ea typeface="黑体" panose="02010609060101010101" pitchFamily="49" charset="-122"/>
              </a:rPr>
              <a:t>个报文段的确认，总共经历的时间。 </a:t>
            </a:r>
          </a:p>
        </p:txBody>
      </p:sp>
      <p:sp>
        <p:nvSpPr>
          <p:cNvPr id="15144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BF7611-409D-43AC-BC48-38AFE5D7F995}" type="slidenum">
              <a:rPr lang="zh-CN" altLang="en-US" smtClean="0"/>
              <a:pPr eaLnBrk="1" hangingPunct="1"/>
              <a:t>29</a:t>
            </a:fld>
            <a:endParaRPr lang="en-US" altLang="zh-CN" smtClean="0"/>
          </a:p>
        </p:txBody>
      </p:sp>
      <p:sp>
        <p:nvSpPr>
          <p:cNvPr id="15145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21" name="Rectangle 2"/>
          <p:cNvSpPr>
            <a:spLocks noGrp="1" noChangeArrowheads="1"/>
          </p:cNvSpPr>
          <p:nvPr>
            <p:ph type="title"/>
          </p:nvPr>
        </p:nvSpPr>
        <p:spPr>
          <a:xfrm>
            <a:off x="495300" y="188913"/>
            <a:ext cx="8561388" cy="792162"/>
          </a:xfrm>
        </p:spPr>
        <p:txBody>
          <a:bodyPr/>
          <a:lstStyle/>
          <a:p>
            <a:pPr algn="ctr"/>
            <a:r>
              <a:rPr lang="zh-CN" altLang="en-US" sz="4000" smtClean="0">
                <a:ea typeface="黑体" panose="02010609060101010101" pitchFamily="49" charset="-122"/>
              </a:rPr>
              <a:t>设置慢开始门限状态变量 </a:t>
            </a:r>
            <a:r>
              <a:rPr lang="en-US" altLang="zh-CN" sz="4000" smtClean="0">
                <a:ea typeface="黑体" panose="02010609060101010101" pitchFamily="49" charset="-122"/>
              </a:rPr>
              <a:t>ssthresh</a:t>
            </a:r>
          </a:p>
        </p:txBody>
      </p:sp>
      <p:sp>
        <p:nvSpPr>
          <p:cNvPr id="151552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慢开始门限 </a:t>
            </a:r>
            <a:r>
              <a:rPr lang="en-US" altLang="zh-CN" smtClean="0">
                <a:ea typeface="黑体" panose="02010609060101010101" pitchFamily="49" charset="-122"/>
              </a:rPr>
              <a:t>ssthresh </a:t>
            </a:r>
            <a:r>
              <a:rPr lang="zh-CN" altLang="en-US" smtClean="0">
                <a:ea typeface="黑体" panose="02010609060101010101" pitchFamily="49" charset="-122"/>
              </a:rPr>
              <a:t>的用法如下：</a:t>
            </a:r>
          </a:p>
          <a:p>
            <a:pPr lvl="1"/>
            <a:r>
              <a:rPr lang="zh-CN" altLang="en-US" smtClean="0">
                <a:ea typeface="黑体" panose="02010609060101010101" pitchFamily="49" charset="-122"/>
              </a:rPr>
              <a:t>当 </a:t>
            </a:r>
            <a:r>
              <a:rPr lang="en-US" altLang="zh-CN" smtClean="0">
                <a:ea typeface="黑体" panose="02010609060101010101" pitchFamily="49" charset="-122"/>
              </a:rPr>
              <a:t>cwnd &lt; ssthresh </a:t>
            </a:r>
            <a:r>
              <a:rPr lang="zh-CN" altLang="en-US" smtClean="0">
                <a:ea typeface="黑体" panose="02010609060101010101" pitchFamily="49" charset="-122"/>
              </a:rPr>
              <a:t>时，使用慢开始算法。</a:t>
            </a:r>
          </a:p>
          <a:p>
            <a:pPr lvl="1"/>
            <a:r>
              <a:rPr lang="zh-CN" altLang="en-US" smtClean="0">
                <a:ea typeface="黑体" panose="02010609060101010101" pitchFamily="49" charset="-122"/>
              </a:rPr>
              <a:t>当 </a:t>
            </a:r>
            <a:r>
              <a:rPr lang="en-US" altLang="zh-CN" smtClean="0">
                <a:ea typeface="黑体" panose="02010609060101010101" pitchFamily="49" charset="-122"/>
              </a:rPr>
              <a:t>cwnd &gt; ssthresh </a:t>
            </a:r>
            <a:r>
              <a:rPr lang="zh-CN" altLang="en-US" smtClean="0">
                <a:ea typeface="黑体" panose="02010609060101010101" pitchFamily="49" charset="-122"/>
              </a:rPr>
              <a:t>时，停止使用慢开始算法而改用</a:t>
            </a:r>
            <a:r>
              <a:rPr lang="zh-CN" altLang="en-US" smtClean="0">
                <a:solidFill>
                  <a:srgbClr val="FF0000"/>
                </a:solidFill>
                <a:ea typeface="黑体" panose="02010609060101010101" pitchFamily="49" charset="-122"/>
              </a:rPr>
              <a:t>拥塞避免算法。</a:t>
            </a:r>
          </a:p>
          <a:p>
            <a:pPr lvl="1"/>
            <a:r>
              <a:rPr lang="zh-CN" altLang="en-US" smtClean="0">
                <a:ea typeface="黑体" panose="02010609060101010101" pitchFamily="49" charset="-122"/>
              </a:rPr>
              <a:t>当 </a:t>
            </a:r>
            <a:r>
              <a:rPr lang="en-US" altLang="zh-CN" smtClean="0">
                <a:ea typeface="黑体" panose="02010609060101010101" pitchFamily="49" charset="-122"/>
              </a:rPr>
              <a:t>cwnd = ssthresh </a:t>
            </a:r>
            <a:r>
              <a:rPr lang="zh-CN" altLang="en-US" smtClean="0">
                <a:ea typeface="黑体" panose="02010609060101010101" pitchFamily="49" charset="-122"/>
              </a:rPr>
              <a:t>时，既可使用慢开始算法，也可使用拥塞避免算法。</a:t>
            </a:r>
          </a:p>
        </p:txBody>
      </p:sp>
      <p:sp>
        <p:nvSpPr>
          <p:cNvPr id="15155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BFE1AC8-D3DE-491A-AFE8-21B8DCBD0F69}" type="slidenum">
              <a:rPr lang="zh-CN" altLang="en-US" smtClean="0"/>
              <a:pPr eaLnBrk="1" hangingPunct="1"/>
              <a:t>30</a:t>
            </a:fld>
            <a:endParaRPr lang="en-US" altLang="zh-CN" smtClean="0"/>
          </a:p>
        </p:txBody>
      </p:sp>
      <p:sp>
        <p:nvSpPr>
          <p:cNvPr id="15155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54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拥塞避免算法</a:t>
            </a:r>
            <a:endParaRPr lang="en-US" altLang="zh-CN" smtClean="0">
              <a:ea typeface="黑体" panose="02010609060101010101" pitchFamily="49" charset="-122"/>
            </a:endParaRPr>
          </a:p>
        </p:txBody>
      </p:sp>
      <p:sp>
        <p:nvSpPr>
          <p:cNvPr id="1516546" name="Rectangle 3"/>
          <p:cNvSpPr>
            <a:spLocks noGrp="1" noChangeArrowheads="1"/>
          </p:cNvSpPr>
          <p:nvPr>
            <p:ph idx="1"/>
          </p:nvPr>
        </p:nvSpPr>
        <p:spPr>
          <a:xfrm>
            <a:off x="495300" y="1196975"/>
            <a:ext cx="9066213" cy="4933950"/>
          </a:xfrm>
        </p:spPr>
        <p:txBody>
          <a:bodyPr/>
          <a:lstStyle/>
          <a:p>
            <a:r>
              <a:rPr lang="zh-CN" altLang="en-US" smtClean="0">
                <a:solidFill>
                  <a:srgbClr val="0000FF"/>
                </a:solidFill>
                <a:ea typeface="黑体" panose="02010609060101010101" pitchFamily="49" charset="-122"/>
              </a:rPr>
              <a:t>思路：</a:t>
            </a:r>
            <a:r>
              <a:rPr lang="zh-CN" altLang="en-US" smtClean="0">
                <a:ea typeface="黑体" panose="02010609060101010101" pitchFamily="49" charset="-122"/>
              </a:rPr>
              <a:t>让拥塞窗口 </a:t>
            </a:r>
            <a:r>
              <a:rPr lang="en-US" altLang="zh-CN" smtClean="0">
                <a:ea typeface="黑体" panose="02010609060101010101" pitchFamily="49" charset="-122"/>
              </a:rPr>
              <a:t>cwnd </a:t>
            </a:r>
            <a:r>
              <a:rPr lang="zh-CN" altLang="en-US" smtClean="0">
                <a:solidFill>
                  <a:srgbClr val="FF0000"/>
                </a:solidFill>
                <a:ea typeface="黑体" panose="02010609060101010101" pitchFamily="49" charset="-122"/>
              </a:rPr>
              <a:t>缓慢地增大，</a:t>
            </a:r>
            <a:r>
              <a:rPr lang="zh-CN" altLang="en-US" smtClean="0">
                <a:ea typeface="黑体" panose="02010609060101010101" pitchFamily="49" charset="-122"/>
              </a:rPr>
              <a:t>即每经过一个往返时间 </a:t>
            </a:r>
            <a:r>
              <a:rPr lang="en-US" altLang="zh-CN" smtClean="0">
                <a:ea typeface="黑体" panose="02010609060101010101" pitchFamily="49" charset="-122"/>
              </a:rPr>
              <a:t>RTT </a:t>
            </a:r>
            <a:r>
              <a:rPr lang="zh-CN" altLang="en-US" smtClean="0">
                <a:ea typeface="黑体" panose="02010609060101010101" pitchFamily="49" charset="-122"/>
              </a:rPr>
              <a:t>就把发送方的拥塞窗口 </a:t>
            </a:r>
            <a:r>
              <a:rPr lang="en-US" altLang="zh-CN" smtClean="0">
                <a:ea typeface="黑体" panose="02010609060101010101" pitchFamily="49" charset="-122"/>
              </a:rPr>
              <a:t>cwnd </a:t>
            </a:r>
            <a:r>
              <a:rPr lang="zh-CN" altLang="en-US" smtClean="0">
                <a:ea typeface="黑体" panose="02010609060101010101" pitchFamily="49" charset="-122"/>
              </a:rPr>
              <a:t>加 </a:t>
            </a:r>
            <a:r>
              <a:rPr lang="en-US" altLang="zh-CN" smtClean="0">
                <a:ea typeface="黑体" panose="02010609060101010101" pitchFamily="49" charset="-122"/>
              </a:rPr>
              <a:t>1</a:t>
            </a:r>
            <a:r>
              <a:rPr lang="zh-CN" altLang="en-US" smtClean="0">
                <a:ea typeface="黑体" panose="02010609060101010101" pitchFamily="49" charset="-122"/>
              </a:rPr>
              <a:t>，而不是加倍，使拥塞窗口 </a:t>
            </a:r>
            <a:r>
              <a:rPr lang="en-US" altLang="zh-CN" smtClean="0">
                <a:ea typeface="黑体" panose="02010609060101010101" pitchFamily="49" charset="-122"/>
              </a:rPr>
              <a:t>cwnd </a:t>
            </a:r>
            <a:r>
              <a:rPr lang="zh-CN" altLang="en-US" smtClean="0">
                <a:solidFill>
                  <a:srgbClr val="FF0000"/>
                </a:solidFill>
                <a:ea typeface="黑体" panose="02010609060101010101" pitchFamily="49" charset="-122"/>
              </a:rPr>
              <a:t>按线性规律缓慢增长。</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因此在拥塞避免阶段就有“</a:t>
            </a:r>
            <a:r>
              <a:rPr lang="zh-CN" altLang="zh-CN" smtClean="0">
                <a:solidFill>
                  <a:srgbClr val="FF0000"/>
                </a:solidFill>
                <a:ea typeface="黑体" panose="02010609060101010101" pitchFamily="49" charset="-122"/>
              </a:rPr>
              <a:t>加法增大</a:t>
            </a:r>
            <a:r>
              <a:rPr lang="zh-CN" altLang="zh-CN" smtClean="0">
                <a:ea typeface="黑体" panose="02010609060101010101" pitchFamily="49" charset="-122"/>
              </a:rPr>
              <a:t>”</a:t>
            </a:r>
            <a:r>
              <a:rPr lang="en-US" altLang="zh-CN" smtClean="0">
                <a:ea typeface="黑体" panose="02010609060101010101" pitchFamily="49" charset="-122"/>
              </a:rPr>
              <a:t>  (Additive Increase) </a:t>
            </a:r>
            <a:r>
              <a:rPr lang="zh-CN" altLang="zh-CN" smtClean="0">
                <a:ea typeface="黑体" panose="02010609060101010101" pitchFamily="49" charset="-122"/>
              </a:rPr>
              <a:t>的特点。这表明在拥塞避免阶段，拥塞窗口</a:t>
            </a:r>
            <a:r>
              <a:rPr lang="en-US" altLang="zh-CN" smtClean="0">
                <a:ea typeface="黑体" panose="02010609060101010101" pitchFamily="49" charset="-122"/>
              </a:rPr>
              <a:t> cwnd </a:t>
            </a:r>
            <a:r>
              <a:rPr lang="zh-CN" altLang="zh-CN" smtClean="0">
                <a:ea typeface="黑体" panose="02010609060101010101" pitchFamily="49" charset="-122"/>
              </a:rPr>
              <a:t>按线性规律缓慢增长，比慢开始算法的拥塞窗口增长速率缓慢得多。</a:t>
            </a:r>
            <a:endParaRPr lang="zh-CN" altLang="en-US" smtClean="0">
              <a:solidFill>
                <a:srgbClr val="FF0000"/>
              </a:solidFill>
              <a:ea typeface="黑体" panose="02010609060101010101" pitchFamily="49" charset="-122"/>
            </a:endParaRPr>
          </a:p>
        </p:txBody>
      </p:sp>
      <p:sp>
        <p:nvSpPr>
          <p:cNvPr id="15165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A262E0-E1E4-44E1-9D6D-A6162FA4C641}" type="slidenum">
              <a:rPr lang="zh-CN" altLang="en-US" smtClean="0"/>
              <a:pPr eaLnBrk="1" hangingPunct="1"/>
              <a:t>31</a:t>
            </a:fld>
            <a:endParaRPr lang="en-US" altLang="zh-CN" smtClean="0"/>
          </a:p>
        </p:txBody>
      </p:sp>
      <p:sp>
        <p:nvSpPr>
          <p:cNvPr id="15165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756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当网络出现拥塞时</a:t>
            </a:r>
          </a:p>
        </p:txBody>
      </p:sp>
      <p:sp>
        <p:nvSpPr>
          <p:cNvPr id="1517570"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无论在慢开始阶段还是在拥塞避免阶段，只要发送方判断网络出现拥塞（</a:t>
            </a:r>
            <a:r>
              <a:rPr lang="zh-CN" altLang="en-US" smtClean="0">
                <a:solidFill>
                  <a:srgbClr val="FF0000"/>
                </a:solidFill>
                <a:ea typeface="黑体" panose="02010609060101010101" pitchFamily="49" charset="-122"/>
              </a:rPr>
              <a:t>重传定时器超时</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en-US" altLang="zh-CN" smtClean="0">
                <a:solidFill>
                  <a:srgbClr val="0000FF"/>
                </a:solidFill>
                <a:ea typeface="黑体" panose="02010609060101010101" pitchFamily="49" charset="-122"/>
              </a:rPr>
              <a:t>s</a:t>
            </a:r>
            <a:r>
              <a:rPr lang="en-US" altLang="zh-TW" smtClean="0">
                <a:solidFill>
                  <a:srgbClr val="0000FF"/>
                </a:solidFill>
                <a:ea typeface="黑体" panose="02010609060101010101" pitchFamily="49" charset="-122"/>
              </a:rPr>
              <a:t>sthresh = </a:t>
            </a:r>
            <a:r>
              <a:rPr lang="en-US" altLang="zh-CN" smtClean="0">
                <a:solidFill>
                  <a:srgbClr val="0000FF"/>
                </a:solidFill>
                <a:ea typeface="黑体" panose="02010609060101010101" pitchFamily="49" charset="-122"/>
              </a:rPr>
              <a:t>max(</a:t>
            </a:r>
            <a:r>
              <a:rPr lang="en-US" altLang="zh-TW" smtClean="0">
                <a:solidFill>
                  <a:srgbClr val="0000FF"/>
                </a:solidFill>
                <a:ea typeface="黑体" panose="02010609060101010101" pitchFamily="49" charset="-122"/>
              </a:rPr>
              <a:t>cwnd/2</a:t>
            </a:r>
            <a:r>
              <a:rPr lang="zh-CN" altLang="en-US" smtClean="0">
                <a:solidFill>
                  <a:srgbClr val="0000FF"/>
                </a:solidFill>
                <a:ea typeface="黑体" panose="02010609060101010101" pitchFamily="49" charset="-122"/>
              </a:rPr>
              <a:t>，</a:t>
            </a:r>
            <a:r>
              <a:rPr lang="en-US" altLang="zh-CN" smtClean="0">
                <a:solidFill>
                  <a:srgbClr val="0000FF"/>
                </a:solidFill>
                <a:ea typeface="黑体" panose="02010609060101010101" pitchFamily="49" charset="-122"/>
              </a:rPr>
              <a:t>2)</a:t>
            </a:r>
          </a:p>
          <a:p>
            <a:pPr lvl="1"/>
            <a:r>
              <a:rPr lang="en-US" altLang="zh-TW" smtClean="0">
                <a:solidFill>
                  <a:srgbClr val="0000FF"/>
                </a:solidFill>
                <a:ea typeface="黑体" panose="02010609060101010101" pitchFamily="49" charset="-122"/>
              </a:rPr>
              <a:t>cwnd = 1</a:t>
            </a:r>
          </a:p>
          <a:p>
            <a:pPr lvl="1"/>
            <a:r>
              <a:rPr lang="zh-CN" altLang="en-US" smtClean="0">
                <a:solidFill>
                  <a:srgbClr val="0000FF"/>
                </a:solidFill>
                <a:ea typeface="黑体" panose="02010609060101010101" pitchFamily="49" charset="-122"/>
              </a:rPr>
              <a:t>执行慢开始算法</a:t>
            </a:r>
          </a:p>
          <a:p>
            <a:r>
              <a:rPr lang="zh-CN" altLang="en-US" smtClean="0">
                <a:ea typeface="黑体" panose="02010609060101010101" pitchFamily="49" charset="-122"/>
              </a:rPr>
              <a:t>这样做的目的就是要迅速减少主机发送到网络中的分组数，使得发生拥塞的路由器有足够时间把队列中积压的分组处理完毕。 </a:t>
            </a:r>
          </a:p>
        </p:txBody>
      </p:sp>
      <p:sp>
        <p:nvSpPr>
          <p:cNvPr id="15175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E38811-0EFB-4D3F-A7BE-F1F01F6FEA73}" type="slidenum">
              <a:rPr lang="zh-CN" altLang="en-US" smtClean="0"/>
              <a:pPr eaLnBrk="1" hangingPunct="1"/>
              <a:t>32</a:t>
            </a:fld>
            <a:endParaRPr lang="en-US" altLang="zh-CN" smtClean="0"/>
          </a:p>
        </p:txBody>
      </p:sp>
      <p:sp>
        <p:nvSpPr>
          <p:cNvPr id="15175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sp>
        <p:nvSpPr>
          <p:cNvPr id="111" name="Text Box 6"/>
          <p:cNvSpPr txBox="1">
            <a:spLocks noChangeArrowheads="1"/>
          </p:cNvSpPr>
          <p:nvPr/>
        </p:nvSpPr>
        <p:spPr bwMode="auto">
          <a:xfrm>
            <a:off x="739775" y="4243388"/>
            <a:ext cx="876776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当 </a:t>
            </a:r>
            <a:r>
              <a:rPr kumimoji="0" lang="en-US" altLang="zh-CN" sz="2800" kern="0" dirty="0">
                <a:solidFill>
                  <a:srgbClr val="000099"/>
                </a:solidFill>
                <a:latin typeface="Arial" panose="020B0604020202020204" pitchFamily="34" charset="0"/>
                <a:ea typeface="黑体" panose="02010609060101010101" pitchFamily="2" charset="-122"/>
              </a:rPr>
              <a:t>TCP </a:t>
            </a:r>
            <a:r>
              <a:rPr kumimoji="0" lang="zh-CN" altLang="en-US" sz="2800" kern="0" dirty="0">
                <a:solidFill>
                  <a:srgbClr val="000099"/>
                </a:solidFill>
                <a:latin typeface="Arial" panose="020B0604020202020204" pitchFamily="34" charset="0"/>
                <a:ea typeface="黑体" panose="02010609060101010101" pitchFamily="2" charset="-122"/>
              </a:rPr>
              <a:t>连接进行初始化时，将拥塞窗口置为 </a:t>
            </a:r>
            <a:r>
              <a:rPr kumimoji="0" lang="en-US" altLang="zh-CN" sz="2800" kern="0" dirty="0">
                <a:solidFill>
                  <a:srgbClr val="000099"/>
                </a:solidFill>
                <a:latin typeface="Arial" panose="020B0604020202020204" pitchFamily="34" charset="0"/>
                <a:ea typeface="黑体" panose="02010609060101010101" pitchFamily="2" charset="-122"/>
              </a:rPr>
              <a:t>1</a:t>
            </a:r>
            <a:r>
              <a:rPr kumimoji="0" lang="zh-CN" altLang="en-US" sz="2800" kern="0" dirty="0">
                <a:solidFill>
                  <a:srgbClr val="000099"/>
                </a:solidFill>
                <a:latin typeface="Arial" panose="020B0604020202020204" pitchFamily="34" charset="0"/>
                <a:ea typeface="黑体" panose="02010609060101010101" pitchFamily="2" charset="-122"/>
              </a:rPr>
              <a:t>。图中的窗口单位不使用字节而使用报文段。</a:t>
            </a:r>
          </a:p>
        </p:txBody>
      </p:sp>
      <p:sp>
        <p:nvSpPr>
          <p:cNvPr id="112" name="Text Box 7"/>
          <p:cNvSpPr txBox="1">
            <a:spLocks noChangeArrowheads="1"/>
          </p:cNvSpPr>
          <p:nvPr/>
        </p:nvSpPr>
        <p:spPr bwMode="auto">
          <a:xfrm>
            <a:off x="739775" y="5219700"/>
            <a:ext cx="90376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00099"/>
                </a:solidFill>
                <a:ea typeface="黑体" panose="02010609060101010101" pitchFamily="49" charset="-122"/>
              </a:rPr>
              <a:t>慢开始门限的初始值设置为 </a:t>
            </a:r>
            <a:r>
              <a:rPr lang="en-US" altLang="zh-CN" sz="2800" b="1">
                <a:solidFill>
                  <a:srgbClr val="000099"/>
                </a:solidFill>
                <a:ea typeface="黑体" panose="02010609060101010101" pitchFamily="49" charset="-122"/>
              </a:rPr>
              <a:t>16 </a:t>
            </a:r>
            <a:r>
              <a:rPr lang="zh-CN" altLang="en-US" sz="2800" b="1">
                <a:solidFill>
                  <a:srgbClr val="000099"/>
                </a:solidFill>
                <a:ea typeface="黑体" panose="02010609060101010101" pitchFamily="49" charset="-122"/>
              </a:rPr>
              <a:t>个报文段，即 </a:t>
            </a:r>
            <a:endParaRPr lang="en-US" altLang="zh-CN" sz="2800" b="1">
              <a:solidFill>
                <a:srgbClr val="000099"/>
              </a:solidFill>
              <a:ea typeface="黑体" panose="02010609060101010101" pitchFamily="49" charset="-122"/>
            </a:endParaRPr>
          </a:p>
          <a:p>
            <a:r>
              <a:rPr lang="en-US" altLang="zh-CN" sz="2800" b="1">
                <a:solidFill>
                  <a:srgbClr val="000099"/>
                </a:solidFill>
                <a:ea typeface="黑体" panose="02010609060101010101" pitchFamily="49" charset="-122"/>
              </a:rPr>
              <a:t>ssthresh = 16</a:t>
            </a:r>
            <a:r>
              <a:rPr lang="zh-CN" altLang="en-US" sz="2800" b="1">
                <a:solidFill>
                  <a:srgbClr val="000099"/>
                </a:solidFill>
                <a:ea typeface="黑体" panose="02010609060101010101" pitchFamily="49" charset="-122"/>
              </a:rPr>
              <a:t>。</a:t>
            </a:r>
          </a:p>
        </p:txBody>
      </p:sp>
      <p:grpSp>
        <p:nvGrpSpPr>
          <p:cNvPr id="1518596" name="组合 1"/>
          <p:cNvGrpSpPr>
            <a:grpSpLocks/>
          </p:cNvGrpSpPr>
          <p:nvPr/>
        </p:nvGrpSpPr>
        <p:grpSpPr bwMode="auto">
          <a:xfrm>
            <a:off x="273050" y="836613"/>
            <a:ext cx="9536113" cy="3321050"/>
            <a:chOff x="274141" y="840152"/>
            <a:chExt cx="9316681" cy="3133914"/>
          </a:xfrm>
        </p:grpSpPr>
        <p:sp>
          <p:nvSpPr>
            <p:cNvPr id="103" name="Text Box 140"/>
            <p:cNvSpPr txBox="1">
              <a:spLocks noChangeArrowheads="1"/>
            </p:cNvSpPr>
            <p:nvPr/>
          </p:nvSpPr>
          <p:spPr bwMode="auto">
            <a:xfrm>
              <a:off x="4759548" y="980968"/>
              <a:ext cx="1129107"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884049" y="3640001"/>
              <a:ext cx="6211638" cy="4495"/>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882498" y="1160734"/>
              <a:ext cx="1550" cy="2483762"/>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12042" y="3568095"/>
              <a:ext cx="0" cy="764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41585"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569578"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797571"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27114"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255107"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484650"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12643"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3940636"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170179"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398172"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627716"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855708"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083701" y="3568095"/>
              <a:ext cx="0" cy="764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313245"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541237"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769230"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5998774"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226766"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456310"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684303"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6912295"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884049" y="3262493"/>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884049" y="2881989"/>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884049" y="2501485"/>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884049" y="2119484"/>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884049" y="1738980"/>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884049" y="1358476"/>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197345" y="3589067"/>
              <a:ext cx="30709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654881" y="3589067"/>
              <a:ext cx="305541"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12417" y="3589067"/>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582362" y="3589067"/>
              <a:ext cx="305541"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3963901"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458660"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889830"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347366"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820412"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277949"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723077" y="3596558"/>
              <a:ext cx="429619"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778583" y="3589067"/>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17282" y="3439263"/>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9" name="Text Box 91"/>
            <p:cNvSpPr txBox="1">
              <a:spLocks noChangeArrowheads="1"/>
            </p:cNvSpPr>
            <p:nvPr/>
          </p:nvSpPr>
          <p:spPr bwMode="auto">
            <a:xfrm>
              <a:off x="1617282" y="3058759"/>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50" name="Text Box 92"/>
            <p:cNvSpPr txBox="1">
              <a:spLocks noChangeArrowheads="1"/>
            </p:cNvSpPr>
            <p:nvPr/>
          </p:nvSpPr>
          <p:spPr bwMode="auto">
            <a:xfrm>
              <a:off x="1617282" y="2690239"/>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02510" y="2321720"/>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02510" y="1953200"/>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02510" y="1572696"/>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02510" y="1192193"/>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21498" y="2844539"/>
              <a:ext cx="8995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293505" y="3225043"/>
              <a:ext cx="8840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45275" y="3472220"/>
              <a:ext cx="89956"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54655" y="3406306"/>
              <a:ext cx="89956"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751042" y="2079036"/>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2979034" y="1977169"/>
              <a:ext cx="88406"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07027" y="1887286"/>
              <a:ext cx="89956"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669216" y="1695536"/>
              <a:ext cx="89956"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436571" y="1791411"/>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898760" y="1601160"/>
              <a:ext cx="88405"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122100" y="1511277"/>
              <a:ext cx="88405"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574983" y="1306044"/>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350092" y="1400422"/>
              <a:ext cx="89956" cy="89883"/>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08051" y="1358476"/>
              <a:ext cx="2813461" cy="2175164"/>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097237" y="3443757"/>
              <a:ext cx="1189595"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51916" y="840152"/>
              <a:ext cx="188598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6895235" y="1762949"/>
              <a:ext cx="115392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60047" y="1282075"/>
              <a:ext cx="190769" cy="20313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60047" y="2119484"/>
              <a:ext cx="837524"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60047" y="1352484"/>
              <a:ext cx="2680077" cy="5992"/>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237247" y="3415294"/>
              <a:ext cx="1445505" cy="1528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6" name="Line 167"/>
            <p:cNvSpPr>
              <a:spLocks noChangeShapeType="1"/>
            </p:cNvSpPr>
            <p:nvPr/>
          </p:nvSpPr>
          <p:spPr bwMode="auto">
            <a:xfrm>
              <a:off x="1350515" y="3376345"/>
              <a:ext cx="533534" cy="15130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7990220" y="1917247"/>
              <a:ext cx="1600602" cy="783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4141" y="1861820"/>
              <a:ext cx="1251634" cy="66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387738" y="2149445"/>
              <a:ext cx="215585"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795973" y="2309735"/>
              <a:ext cx="1189594"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037172" y="3391325"/>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266716" y="3205567"/>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798323" y="3463232"/>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502463" y="2837048"/>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5973959" y="2353179"/>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645528" y="2077539"/>
              <a:ext cx="8995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197298" y="2252810"/>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425290" y="2162927"/>
              <a:ext cx="89956"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1977107" y="2499988"/>
              <a:ext cx="4038727"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18682" name="直接连接符 115"/>
            <p:cNvCxnSpPr>
              <a:cxnSpLocks noChangeShapeType="1"/>
            </p:cNvCxnSpPr>
            <p:nvPr/>
          </p:nvCxnSpPr>
          <p:spPr bwMode="auto">
            <a:xfrm>
              <a:off x="4626992" y="1348606"/>
              <a:ext cx="228600" cy="2138363"/>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04437" y="1750964"/>
              <a:ext cx="432721" cy="347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741313" y="2456544"/>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846402" y="2108997"/>
              <a:ext cx="1861165" cy="140217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449354" y="1013925"/>
              <a:ext cx="358275" cy="2891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18687" name="直接连接符 119"/>
            <p:cNvCxnSpPr>
              <a:cxnSpLocks noChangeShapeType="1"/>
            </p:cNvCxnSpPr>
            <p:nvPr/>
          </p:nvCxnSpPr>
          <p:spPr bwMode="auto">
            <a:xfrm flipH="1">
              <a:off x="6909817" y="2902769"/>
              <a:ext cx="1587" cy="655637"/>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18688" name="直接连接符 121"/>
            <p:cNvCxnSpPr>
              <a:cxnSpLocks noChangeShapeType="1"/>
            </p:cNvCxnSpPr>
            <p:nvPr/>
          </p:nvCxnSpPr>
          <p:spPr bwMode="auto">
            <a:xfrm>
              <a:off x="1993329" y="2886894"/>
              <a:ext cx="5545138"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6867318" y="2846036"/>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366730" y="3485703"/>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135635" y="3490196"/>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151145" y="3593562"/>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605580" y="3497687"/>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18694" name="直接连接符 134"/>
            <p:cNvCxnSpPr>
              <a:cxnSpLocks noChangeShapeType="1"/>
              <a:stCxn id="295" idx="4"/>
              <a:endCxn id="299" idx="3"/>
            </p:cNvCxnSpPr>
            <p:nvPr/>
          </p:nvCxnSpPr>
          <p:spPr bwMode="auto">
            <a:xfrm>
              <a:off x="6706617" y="2109019"/>
              <a:ext cx="200025" cy="785812"/>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683927" y="1948707"/>
              <a:ext cx="1088781" cy="347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29403" y="1439371"/>
              <a:ext cx="1188043"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421813" y="2117985"/>
              <a:ext cx="494759" cy="49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53180" y="3443757"/>
              <a:ext cx="2517226" cy="11984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572633" y="1716509"/>
              <a:ext cx="494759" cy="49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0" name="Line 167"/>
            <p:cNvSpPr>
              <a:spLocks noChangeShapeType="1"/>
            </p:cNvSpPr>
            <p:nvPr/>
          </p:nvSpPr>
          <p:spPr bwMode="auto">
            <a:xfrm>
              <a:off x="4472619" y="3365859"/>
              <a:ext cx="372233" cy="134824"/>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1" name="矩形 151"/>
            <p:cNvSpPr>
              <a:spLocks noChangeArrowheads="1"/>
            </p:cNvSpPr>
            <p:nvPr/>
          </p:nvSpPr>
          <p:spPr bwMode="auto">
            <a:xfrm>
              <a:off x="7078250" y="3443757"/>
              <a:ext cx="594021" cy="107859"/>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18702" name="直接连接符 153"/>
            <p:cNvCxnSpPr>
              <a:cxnSpLocks noChangeShapeType="1"/>
              <a:stCxn id="295" idx="4"/>
              <a:endCxn id="299" idx="3"/>
            </p:cNvCxnSpPr>
            <p:nvPr/>
          </p:nvCxnSpPr>
          <p:spPr bwMode="auto">
            <a:xfrm flipV="1">
              <a:off x="5774754" y="2532881"/>
              <a:ext cx="11113" cy="9842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18703" name="直接连接符 157"/>
            <p:cNvCxnSpPr>
              <a:cxnSpLocks noChangeShapeType="1"/>
              <a:stCxn id="295" idx="4"/>
              <a:endCxn id="299" idx="3"/>
            </p:cNvCxnSpPr>
            <p:nvPr/>
          </p:nvCxnSpPr>
          <p:spPr bwMode="auto">
            <a:xfrm flipV="1">
              <a:off x="6682804" y="2177281"/>
              <a:ext cx="11113" cy="143510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18704" name="直接连接符 141"/>
            <p:cNvCxnSpPr>
              <a:cxnSpLocks noChangeShapeType="1"/>
              <a:stCxn id="295" idx="4"/>
              <a:endCxn id="299" idx="3"/>
            </p:cNvCxnSpPr>
            <p:nvPr/>
          </p:nvCxnSpPr>
          <p:spPr bwMode="auto">
            <a:xfrm flipV="1">
              <a:off x="6847904" y="2386831"/>
              <a:ext cx="1219200" cy="52863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554397" y="2556914"/>
              <a:ext cx="8840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092208" y="2745668"/>
              <a:ext cx="8840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326405" y="2652789"/>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645528" y="2870005"/>
              <a:ext cx="494760" cy="492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790145" y="2438568"/>
              <a:ext cx="89956"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18710" name="直接连接符 117"/>
            <p:cNvCxnSpPr>
              <a:cxnSpLocks noChangeShapeType="1"/>
              <a:stCxn id="295" idx="4"/>
              <a:endCxn id="299" idx="3"/>
            </p:cNvCxnSpPr>
            <p:nvPr/>
          </p:nvCxnSpPr>
          <p:spPr bwMode="auto">
            <a:xfrm flipH="1">
              <a:off x="4625404" y="1472431"/>
              <a:ext cx="4763" cy="20764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18711" name="直接连接符 119"/>
            <p:cNvCxnSpPr>
              <a:cxnSpLocks noChangeShapeType="1"/>
              <a:stCxn id="295" idx="4"/>
              <a:endCxn id="299" idx="3"/>
            </p:cNvCxnSpPr>
            <p:nvPr/>
          </p:nvCxnSpPr>
          <p:spPr bwMode="auto">
            <a:xfrm>
              <a:off x="2796604" y="2229669"/>
              <a:ext cx="0" cy="1306512"/>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79" name="Text Box 209"/>
            <p:cNvSpPr txBox="1">
              <a:spLocks noChangeArrowheads="1"/>
            </p:cNvSpPr>
            <p:nvPr/>
          </p:nvSpPr>
          <p:spPr bwMode="auto">
            <a:xfrm>
              <a:off x="409076" y="3033293"/>
              <a:ext cx="1067068" cy="377508"/>
            </a:xfrm>
            <a:prstGeom prst="rect">
              <a:avLst/>
            </a:prstGeom>
            <a:solidFill>
              <a:srgbClr val="FFFF66"/>
            </a:solidFill>
            <a:ln w="9525">
              <a:solidFill>
                <a:srgbClr val="000000"/>
              </a:solidFill>
              <a:miter lim="800000"/>
            </a:ln>
            <a:effectLst>
              <a:outerShdw dist="53882" dir="2700000" algn="ctr" rotWithShape="0">
                <a:srgbClr val="808080"/>
              </a:outerShdw>
            </a:effectLst>
          </p:spPr>
          <p:txBody>
            <a:bodyPr>
              <a:spAutoFit/>
            </a:bodyPr>
            <a:lstStyle/>
            <a:p>
              <a:pPr algn="ctr" fontAlgn="auto">
                <a:spcBef>
                  <a:spcPts val="0"/>
                </a:spcBef>
                <a:spcAft>
                  <a:spcPts val="0"/>
                </a:spcAft>
                <a:defRPr/>
              </a:pPr>
              <a:r>
                <a:rPr lang="zh-CN" altLang="en-US" sz="2000" b="1" kern="0" dirty="0">
                  <a:solidFill>
                    <a:sysClr val="windowText" lastClr="000000"/>
                  </a:solidFill>
                  <a:ea typeface="宋体" panose="02010600030101010101" pitchFamily="2" charset="-122"/>
                </a:rPr>
                <a:t>慢开始</a:t>
              </a:r>
            </a:p>
          </p:txBody>
        </p:sp>
        <p:sp>
          <p:nvSpPr>
            <p:cNvPr id="292" name="Text Box 209"/>
            <p:cNvSpPr txBox="1">
              <a:spLocks noChangeArrowheads="1"/>
            </p:cNvSpPr>
            <p:nvPr/>
          </p:nvSpPr>
          <p:spPr bwMode="auto">
            <a:xfrm>
              <a:off x="3436571" y="3012320"/>
              <a:ext cx="1067068" cy="377508"/>
            </a:xfrm>
            <a:prstGeom prst="rect">
              <a:avLst/>
            </a:prstGeom>
            <a:solidFill>
              <a:srgbClr val="FFFF66"/>
            </a:solidFill>
            <a:ln w="9525">
              <a:solidFill>
                <a:srgbClr val="000000"/>
              </a:solidFill>
              <a:miter lim="800000"/>
            </a:ln>
            <a:effectLst>
              <a:outerShdw dist="53882" dir="2700000" algn="ctr" rotWithShape="0">
                <a:srgbClr val="808080"/>
              </a:outerShdw>
            </a:effectLst>
          </p:spPr>
          <p:txBody>
            <a:bodyPr>
              <a:spAutoFit/>
            </a:bodyPr>
            <a:lstStyle/>
            <a:p>
              <a:pPr algn="ctr" fontAlgn="auto">
                <a:spcBef>
                  <a:spcPts val="0"/>
                </a:spcBef>
                <a:spcAft>
                  <a:spcPts val="0"/>
                </a:spcAft>
                <a:defRPr/>
              </a:pPr>
              <a:r>
                <a:rPr lang="zh-CN" altLang="en-US" sz="2000" b="1" kern="0" dirty="0">
                  <a:solidFill>
                    <a:sysClr val="windowText" lastClr="000000"/>
                  </a:solidFill>
                  <a:ea typeface="宋体" panose="02010600030101010101" pitchFamily="2" charset="-122"/>
                </a:rPr>
                <a:t>慢开始</a:t>
              </a:r>
            </a:p>
          </p:txBody>
        </p:sp>
      </p:grpSp>
      <p:sp>
        <p:nvSpPr>
          <p:cNvPr id="151871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E9A5C9B-ECE1-4617-B64D-EB8E74B393A3}" type="slidenum">
              <a:rPr lang="zh-CN" altLang="en-US" smtClean="0"/>
              <a:pPr/>
              <a:t>33</a:t>
            </a:fld>
            <a:endParaRPr lang="en-US" altLang="zh-CN" smtClean="0"/>
          </a:p>
        </p:txBody>
      </p:sp>
      <p:sp>
        <p:nvSpPr>
          <p:cNvPr id="151871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20642" name="组合 1"/>
          <p:cNvGrpSpPr>
            <a:grpSpLocks/>
          </p:cNvGrpSpPr>
          <p:nvPr/>
        </p:nvGrpSpPr>
        <p:grpSpPr bwMode="auto">
          <a:xfrm>
            <a:off x="273050" y="836613"/>
            <a:ext cx="9536113" cy="3321050"/>
            <a:chOff x="274141" y="840152"/>
            <a:chExt cx="9316681" cy="3133914"/>
          </a:xfrm>
        </p:grpSpPr>
        <p:sp>
          <p:nvSpPr>
            <p:cNvPr id="103" name="Text Box 140"/>
            <p:cNvSpPr txBox="1">
              <a:spLocks noChangeArrowheads="1"/>
            </p:cNvSpPr>
            <p:nvPr/>
          </p:nvSpPr>
          <p:spPr bwMode="auto">
            <a:xfrm>
              <a:off x="4759548" y="980968"/>
              <a:ext cx="1129107"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884049" y="3640001"/>
              <a:ext cx="6211638" cy="4495"/>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882498" y="1160734"/>
              <a:ext cx="1550" cy="2483762"/>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12042" y="3568095"/>
              <a:ext cx="0" cy="764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41585"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569578"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797571"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27114"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255107"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484650"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12643"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3940636"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170179"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398172"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627716"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855708"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083701" y="3568095"/>
              <a:ext cx="0" cy="764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313245"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541237"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769230"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5998774"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226766"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456310"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684303"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6912295" y="3491695"/>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884049" y="3262493"/>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884049" y="2881989"/>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884049" y="2501485"/>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884049" y="2119484"/>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884049" y="1738980"/>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884049" y="1358476"/>
              <a:ext cx="22799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197345" y="3589067"/>
              <a:ext cx="30709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654881" y="3589067"/>
              <a:ext cx="305541"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12417" y="3589067"/>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582362" y="3589067"/>
              <a:ext cx="305541"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3963901"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458660"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889830"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347366"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820412"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277949" y="3589067"/>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723077" y="3596558"/>
              <a:ext cx="429619"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778583" y="3589067"/>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17282" y="3439263"/>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9" name="Text Box 91"/>
            <p:cNvSpPr txBox="1">
              <a:spLocks noChangeArrowheads="1"/>
            </p:cNvSpPr>
            <p:nvPr/>
          </p:nvSpPr>
          <p:spPr bwMode="auto">
            <a:xfrm>
              <a:off x="1617282" y="3058759"/>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50" name="Text Box 92"/>
            <p:cNvSpPr txBox="1">
              <a:spLocks noChangeArrowheads="1"/>
            </p:cNvSpPr>
            <p:nvPr/>
          </p:nvSpPr>
          <p:spPr bwMode="auto">
            <a:xfrm>
              <a:off x="1617282" y="2690239"/>
              <a:ext cx="30554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02510" y="2321720"/>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02510" y="1953200"/>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02510" y="1572696"/>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02510" y="1192193"/>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21498" y="2844539"/>
              <a:ext cx="8995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293505" y="3225043"/>
              <a:ext cx="8840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45275" y="3472220"/>
              <a:ext cx="89956"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54655" y="3406306"/>
              <a:ext cx="89956"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751042" y="2079036"/>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2979034" y="1977169"/>
              <a:ext cx="88406"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07027" y="1887286"/>
              <a:ext cx="89956"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669216" y="1695536"/>
              <a:ext cx="89956"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436571" y="1791411"/>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898760" y="1601160"/>
              <a:ext cx="88405"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122100" y="1511277"/>
              <a:ext cx="88405"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574983" y="1306044"/>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350092" y="1400422"/>
              <a:ext cx="89956" cy="89883"/>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08051" y="1358476"/>
              <a:ext cx="2813461" cy="2175164"/>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097237" y="3443757"/>
              <a:ext cx="1189595"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51916" y="840152"/>
              <a:ext cx="188598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6895235" y="1762949"/>
              <a:ext cx="1153922"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60047" y="1282075"/>
              <a:ext cx="190769" cy="20313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60047" y="2119484"/>
              <a:ext cx="837524"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60047" y="1352484"/>
              <a:ext cx="2680077" cy="5992"/>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237247" y="3415294"/>
              <a:ext cx="1445505" cy="1528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6" name="Line 167"/>
            <p:cNvSpPr>
              <a:spLocks noChangeShapeType="1"/>
            </p:cNvSpPr>
            <p:nvPr/>
          </p:nvSpPr>
          <p:spPr bwMode="auto">
            <a:xfrm>
              <a:off x="1350515" y="3376345"/>
              <a:ext cx="533534" cy="15130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7990220" y="1917247"/>
              <a:ext cx="1600602" cy="783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4141" y="1861820"/>
              <a:ext cx="1251634" cy="66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387738" y="2149445"/>
              <a:ext cx="215585"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795973" y="2309735"/>
              <a:ext cx="1189594"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037172" y="3391325"/>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266716" y="3205567"/>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798323" y="3463232"/>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502463" y="2837048"/>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5973959" y="2353179"/>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645528" y="2077539"/>
              <a:ext cx="8995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197298" y="2252810"/>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425290" y="2162927"/>
              <a:ext cx="89956"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1977107" y="2499988"/>
              <a:ext cx="4038727"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0728" name="直接连接符 115"/>
            <p:cNvCxnSpPr>
              <a:cxnSpLocks noChangeShapeType="1"/>
            </p:cNvCxnSpPr>
            <p:nvPr/>
          </p:nvCxnSpPr>
          <p:spPr bwMode="auto">
            <a:xfrm>
              <a:off x="4626992" y="1348606"/>
              <a:ext cx="228600" cy="2138363"/>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04437" y="1750964"/>
              <a:ext cx="432721" cy="347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741313" y="2456544"/>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846402" y="2108997"/>
              <a:ext cx="1861165" cy="140217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449354" y="1013925"/>
              <a:ext cx="358275" cy="2891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20733" name="直接连接符 119"/>
            <p:cNvCxnSpPr>
              <a:cxnSpLocks noChangeShapeType="1"/>
            </p:cNvCxnSpPr>
            <p:nvPr/>
          </p:nvCxnSpPr>
          <p:spPr bwMode="auto">
            <a:xfrm flipH="1">
              <a:off x="6909817" y="2902769"/>
              <a:ext cx="1587" cy="655637"/>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0734" name="直接连接符 121"/>
            <p:cNvCxnSpPr>
              <a:cxnSpLocks noChangeShapeType="1"/>
            </p:cNvCxnSpPr>
            <p:nvPr/>
          </p:nvCxnSpPr>
          <p:spPr bwMode="auto">
            <a:xfrm>
              <a:off x="1993329" y="2886894"/>
              <a:ext cx="5545138"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6867318" y="2846036"/>
              <a:ext cx="88405" cy="88385"/>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366730" y="3485703"/>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135635" y="3490196"/>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151145" y="3593562"/>
              <a:ext cx="431170"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605580" y="3497687"/>
              <a:ext cx="0" cy="15280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0740" name="直接连接符 134"/>
            <p:cNvCxnSpPr>
              <a:cxnSpLocks noChangeShapeType="1"/>
              <a:stCxn id="295" idx="4"/>
              <a:endCxn id="299" idx="3"/>
            </p:cNvCxnSpPr>
            <p:nvPr/>
          </p:nvCxnSpPr>
          <p:spPr bwMode="auto">
            <a:xfrm>
              <a:off x="6706617" y="2109019"/>
              <a:ext cx="200025" cy="785812"/>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683927" y="1948707"/>
              <a:ext cx="1088781" cy="347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29403" y="1439371"/>
              <a:ext cx="1188043" cy="37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421813" y="2117985"/>
              <a:ext cx="494759" cy="49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53180" y="3443757"/>
              <a:ext cx="2517226" cy="11984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572633" y="1716509"/>
              <a:ext cx="494759" cy="49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0" name="Line 167"/>
            <p:cNvSpPr>
              <a:spLocks noChangeShapeType="1"/>
            </p:cNvSpPr>
            <p:nvPr/>
          </p:nvSpPr>
          <p:spPr bwMode="auto">
            <a:xfrm>
              <a:off x="4472619" y="3365859"/>
              <a:ext cx="372233" cy="134824"/>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1" name="矩形 151"/>
            <p:cNvSpPr>
              <a:spLocks noChangeArrowheads="1"/>
            </p:cNvSpPr>
            <p:nvPr/>
          </p:nvSpPr>
          <p:spPr bwMode="auto">
            <a:xfrm>
              <a:off x="7078250" y="3443757"/>
              <a:ext cx="594021" cy="107859"/>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20748" name="直接连接符 153"/>
            <p:cNvCxnSpPr>
              <a:cxnSpLocks noChangeShapeType="1"/>
              <a:stCxn id="295" idx="4"/>
              <a:endCxn id="299" idx="3"/>
            </p:cNvCxnSpPr>
            <p:nvPr/>
          </p:nvCxnSpPr>
          <p:spPr bwMode="auto">
            <a:xfrm flipV="1">
              <a:off x="5774754" y="2532881"/>
              <a:ext cx="11113" cy="9842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0749" name="直接连接符 157"/>
            <p:cNvCxnSpPr>
              <a:cxnSpLocks noChangeShapeType="1"/>
              <a:stCxn id="295" idx="4"/>
              <a:endCxn id="299" idx="3"/>
            </p:cNvCxnSpPr>
            <p:nvPr/>
          </p:nvCxnSpPr>
          <p:spPr bwMode="auto">
            <a:xfrm flipV="1">
              <a:off x="6682804" y="2177281"/>
              <a:ext cx="11113" cy="143510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0750" name="直接连接符 141"/>
            <p:cNvCxnSpPr>
              <a:cxnSpLocks noChangeShapeType="1"/>
              <a:stCxn id="295" idx="4"/>
              <a:endCxn id="299" idx="3"/>
            </p:cNvCxnSpPr>
            <p:nvPr/>
          </p:nvCxnSpPr>
          <p:spPr bwMode="auto">
            <a:xfrm flipV="1">
              <a:off x="6847904" y="2386831"/>
              <a:ext cx="1219200" cy="52863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554397" y="2556914"/>
              <a:ext cx="8840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092208" y="2745668"/>
              <a:ext cx="88406" cy="8838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326405" y="2652789"/>
              <a:ext cx="88405"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645528" y="2870005"/>
              <a:ext cx="494760" cy="492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790145" y="2438568"/>
              <a:ext cx="89956" cy="8988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0756" name="直接连接符 117"/>
            <p:cNvCxnSpPr>
              <a:cxnSpLocks noChangeShapeType="1"/>
              <a:stCxn id="295" idx="4"/>
              <a:endCxn id="299" idx="3"/>
            </p:cNvCxnSpPr>
            <p:nvPr/>
          </p:nvCxnSpPr>
          <p:spPr bwMode="auto">
            <a:xfrm flipH="1">
              <a:off x="4625404" y="1472431"/>
              <a:ext cx="4763" cy="20764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0757" name="直接连接符 119"/>
            <p:cNvCxnSpPr>
              <a:cxnSpLocks noChangeShapeType="1"/>
              <a:stCxn id="295" idx="4"/>
              <a:endCxn id="299" idx="3"/>
            </p:cNvCxnSpPr>
            <p:nvPr/>
          </p:nvCxnSpPr>
          <p:spPr bwMode="auto">
            <a:xfrm>
              <a:off x="2796604" y="2229669"/>
              <a:ext cx="0" cy="1306512"/>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79" name="Text Box 209"/>
            <p:cNvSpPr txBox="1">
              <a:spLocks noChangeArrowheads="1"/>
            </p:cNvSpPr>
            <p:nvPr/>
          </p:nvSpPr>
          <p:spPr bwMode="auto">
            <a:xfrm>
              <a:off x="409076" y="3033293"/>
              <a:ext cx="1067068" cy="377508"/>
            </a:xfrm>
            <a:prstGeom prst="rect">
              <a:avLst/>
            </a:prstGeom>
            <a:solidFill>
              <a:srgbClr val="FFFF66"/>
            </a:solidFill>
            <a:ln w="9525">
              <a:solidFill>
                <a:srgbClr val="000000"/>
              </a:solidFill>
              <a:miter lim="800000"/>
            </a:ln>
            <a:effectLst>
              <a:outerShdw dist="53882" dir="2700000" algn="ctr" rotWithShape="0">
                <a:srgbClr val="808080"/>
              </a:outerShdw>
            </a:effectLst>
          </p:spPr>
          <p:txBody>
            <a:bodyPr>
              <a:spAutoFit/>
            </a:bodyPr>
            <a:lstStyle/>
            <a:p>
              <a:pPr algn="ctr" fontAlgn="auto">
                <a:spcBef>
                  <a:spcPts val="0"/>
                </a:spcBef>
                <a:spcAft>
                  <a:spcPts val="0"/>
                </a:spcAft>
                <a:defRPr/>
              </a:pPr>
              <a:r>
                <a:rPr lang="zh-CN" altLang="en-US" sz="2000" b="1" kern="0" dirty="0">
                  <a:solidFill>
                    <a:sysClr val="windowText" lastClr="000000"/>
                  </a:solidFill>
                  <a:ea typeface="宋体" panose="02010600030101010101" pitchFamily="2" charset="-122"/>
                </a:rPr>
                <a:t>慢开始</a:t>
              </a:r>
            </a:p>
          </p:txBody>
        </p:sp>
        <p:sp>
          <p:nvSpPr>
            <p:cNvPr id="292" name="Text Box 209"/>
            <p:cNvSpPr txBox="1">
              <a:spLocks noChangeArrowheads="1"/>
            </p:cNvSpPr>
            <p:nvPr/>
          </p:nvSpPr>
          <p:spPr bwMode="auto">
            <a:xfrm>
              <a:off x="3436571" y="3012320"/>
              <a:ext cx="1067068" cy="377508"/>
            </a:xfrm>
            <a:prstGeom prst="rect">
              <a:avLst/>
            </a:prstGeom>
            <a:solidFill>
              <a:srgbClr val="FFFF66"/>
            </a:solidFill>
            <a:ln w="9525">
              <a:solidFill>
                <a:srgbClr val="000000"/>
              </a:solidFill>
              <a:miter lim="800000"/>
            </a:ln>
            <a:effectLst>
              <a:outerShdw dist="53882" dir="2700000" algn="ctr" rotWithShape="0">
                <a:srgbClr val="808080"/>
              </a:outerShdw>
            </a:effectLst>
          </p:spPr>
          <p:txBody>
            <a:bodyPr>
              <a:spAutoFit/>
            </a:bodyPr>
            <a:lstStyle/>
            <a:p>
              <a:pPr algn="ctr" fontAlgn="auto">
                <a:spcBef>
                  <a:spcPts val="0"/>
                </a:spcBef>
                <a:spcAft>
                  <a:spcPts val="0"/>
                </a:spcAft>
                <a:defRPr/>
              </a:pPr>
              <a:r>
                <a:rPr lang="zh-CN" altLang="en-US" sz="2000" b="1" kern="0" dirty="0">
                  <a:solidFill>
                    <a:sysClr val="windowText" lastClr="000000"/>
                  </a:solidFill>
                  <a:ea typeface="宋体" panose="02010600030101010101" pitchFamily="2" charset="-122"/>
                </a:rPr>
                <a:t>慢开始</a:t>
              </a:r>
            </a:p>
          </p:txBody>
        </p:sp>
      </p:grpSp>
      <p:sp>
        <p:nvSpPr>
          <p:cNvPr id="1520760" name="Text Box 4"/>
          <p:cNvSpPr txBox="1">
            <a:spLocks noChangeArrowheads="1"/>
          </p:cNvSpPr>
          <p:nvPr/>
        </p:nvSpPr>
        <p:spPr bwMode="auto">
          <a:xfrm>
            <a:off x="842963" y="4360863"/>
            <a:ext cx="864711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00099"/>
                </a:solidFill>
                <a:ea typeface="黑体" panose="02010609060101010101" pitchFamily="49" charset="-122"/>
              </a:rPr>
              <a:t>发送端的发送窗口不能超过拥塞窗口 </a:t>
            </a:r>
            <a:r>
              <a:rPr lang="en-US" altLang="zh-CN" sz="2800" b="1">
                <a:solidFill>
                  <a:srgbClr val="000099"/>
                </a:solidFill>
                <a:ea typeface="黑体" panose="02010609060101010101" pitchFamily="49" charset="-122"/>
              </a:rPr>
              <a:t>cwnd </a:t>
            </a:r>
            <a:r>
              <a:rPr lang="zh-CN" altLang="en-US" sz="2800" b="1">
                <a:solidFill>
                  <a:srgbClr val="000099"/>
                </a:solidFill>
                <a:ea typeface="黑体" panose="02010609060101010101" pitchFamily="49" charset="-122"/>
              </a:rPr>
              <a:t>和接收端窗口 </a:t>
            </a:r>
            <a:r>
              <a:rPr lang="en-US" altLang="zh-CN" sz="2800" b="1">
                <a:solidFill>
                  <a:srgbClr val="000099"/>
                </a:solidFill>
                <a:ea typeface="黑体" panose="02010609060101010101" pitchFamily="49" charset="-122"/>
              </a:rPr>
              <a:t>rwnd </a:t>
            </a:r>
            <a:r>
              <a:rPr lang="zh-CN" altLang="en-US" sz="2800" b="1">
                <a:solidFill>
                  <a:srgbClr val="000099"/>
                </a:solidFill>
                <a:ea typeface="黑体" panose="02010609060101010101" pitchFamily="49" charset="-122"/>
              </a:rPr>
              <a:t>中的最小值。我们假定接收端窗口足够大，因此现在发送窗口的数值等于拥塞窗口的数值。</a:t>
            </a:r>
          </a:p>
        </p:txBody>
      </p:sp>
      <p:sp>
        <p:nvSpPr>
          <p:cNvPr id="152076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7A1CA19-974E-4F39-9D96-C3B90978A024}" type="slidenum">
              <a:rPr lang="zh-CN" altLang="en-US" smtClean="0"/>
              <a:pPr/>
              <a:t>34</a:t>
            </a:fld>
            <a:endParaRPr lang="en-US" altLang="zh-CN" smtClean="0"/>
          </a:p>
        </p:txBody>
      </p:sp>
      <p:sp>
        <p:nvSpPr>
          <p:cNvPr id="152076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sp>
        <p:nvSpPr>
          <p:cNvPr id="123" name="Text Box 4"/>
          <p:cNvSpPr txBox="1">
            <a:spLocks noChangeArrowheads="1"/>
          </p:cNvSpPr>
          <p:nvPr/>
        </p:nvSpPr>
        <p:spPr bwMode="auto">
          <a:xfrm>
            <a:off x="842963" y="4365625"/>
            <a:ext cx="86471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在执行</a:t>
            </a:r>
            <a:r>
              <a:rPr kumimoji="0" lang="zh-CN" altLang="en-US" sz="2800" kern="0" dirty="0">
                <a:solidFill>
                  <a:srgbClr val="FF0000"/>
                </a:solidFill>
                <a:latin typeface="Arial" panose="020B0604020202020204" pitchFamily="34" charset="0"/>
                <a:ea typeface="黑体" panose="02010609060101010101" pitchFamily="2" charset="-122"/>
              </a:rPr>
              <a:t>慢开始</a:t>
            </a:r>
            <a:r>
              <a:rPr kumimoji="0" lang="zh-CN" altLang="en-US" sz="2800" kern="0" dirty="0">
                <a:solidFill>
                  <a:srgbClr val="000099"/>
                </a:solidFill>
                <a:latin typeface="Arial" panose="020B0604020202020204" pitchFamily="34" charset="0"/>
                <a:ea typeface="黑体" panose="02010609060101010101" pitchFamily="2" charset="-122"/>
              </a:rPr>
              <a:t>算法时，拥塞窗口 </a:t>
            </a:r>
            <a:r>
              <a:rPr kumimoji="0" lang="en-US" altLang="zh-CN" sz="2800" kern="0" dirty="0" err="1">
                <a:solidFill>
                  <a:srgbClr val="000099"/>
                </a:solidFill>
                <a:latin typeface="Arial" panose="020B0604020202020204" pitchFamily="34" charset="0"/>
                <a:ea typeface="黑体" panose="02010609060101010101" pitchFamily="2" charset="-122"/>
              </a:rPr>
              <a:t>cwnd</a:t>
            </a:r>
            <a:r>
              <a:rPr kumimoji="0" lang="en-US" altLang="zh-CN" sz="2800" kern="0" dirty="0">
                <a:solidFill>
                  <a:srgbClr val="000099"/>
                </a:solidFill>
                <a:latin typeface="Arial" panose="020B0604020202020204" pitchFamily="34" charset="0"/>
                <a:ea typeface="黑体" panose="02010609060101010101" pitchFamily="2" charset="-122"/>
              </a:rPr>
              <a:t>=1</a:t>
            </a:r>
            <a:r>
              <a:rPr kumimoji="0" lang="zh-CN" altLang="en-US" sz="2800" kern="0" dirty="0">
                <a:solidFill>
                  <a:srgbClr val="000099"/>
                </a:solidFill>
                <a:latin typeface="Arial" panose="020B0604020202020204" pitchFamily="34" charset="0"/>
                <a:ea typeface="黑体" panose="02010609060101010101" pitchFamily="2" charset="-122"/>
              </a:rPr>
              <a:t>，发送第一个报文段</a:t>
            </a:r>
            <a:r>
              <a:rPr kumimoji="0" lang="zh-CN" altLang="en-US" sz="2800" kern="0" noProof="1">
                <a:solidFill>
                  <a:srgbClr val="000099"/>
                </a:solidFill>
                <a:latin typeface="Arial" panose="020B0604020202020204" pitchFamily="34" charset="0"/>
                <a:ea typeface="黑体" panose="02010609060101010101" pitchFamily="2" charset="-122"/>
              </a:rPr>
              <a:t>。</a:t>
            </a:r>
            <a:endParaRPr kumimoji="0" lang="zh-CN" altLang="en-US" sz="2800" kern="0" dirty="0">
              <a:solidFill>
                <a:srgbClr val="000099"/>
              </a:solidFill>
              <a:latin typeface="Arial" panose="020B0604020202020204" pitchFamily="34" charset="0"/>
              <a:ea typeface="黑体" panose="02010609060101010101" pitchFamily="2" charset="-122"/>
            </a:endParaRPr>
          </a:p>
        </p:txBody>
      </p:sp>
      <p:grpSp>
        <p:nvGrpSpPr>
          <p:cNvPr id="1522691" name="组合 125"/>
          <p:cNvGrpSpPr>
            <a:grpSpLocks/>
          </p:cNvGrpSpPr>
          <p:nvPr/>
        </p:nvGrpSpPr>
        <p:grpSpPr bwMode="auto">
          <a:xfrm>
            <a:off x="273050" y="836613"/>
            <a:ext cx="9536113" cy="3321050"/>
            <a:chOff x="272479" y="836711"/>
            <a:chExt cx="9536759" cy="3321087"/>
          </a:xfrm>
        </p:grpSpPr>
        <p:sp>
          <p:nvSpPr>
            <p:cNvPr id="127"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28"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29"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0"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1"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2"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3"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4"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5"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6"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7"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8"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39"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0"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1"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2"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3"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4"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5"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6"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7"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8"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49"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0"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1"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2"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3"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4"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5"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6"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7"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8"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159"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160"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161"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162"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163"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164"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165"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166"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167"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168"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169"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170"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171"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172"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173"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174"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175"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176"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177"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78"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79"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0"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1"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2"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3"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4"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5"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6"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7"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8"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89"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90"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91"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192"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193"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194"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95"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96"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97"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98"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199"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0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0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0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22"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23"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24"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2776"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26"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327"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28"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29"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22781"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2782"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332"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33"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34"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35"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36"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2788" name="直接连接符 134"/>
            <p:cNvCxnSpPr>
              <a:cxnSpLocks noChangeShapeType="1"/>
              <a:stCxn id="328" idx="4"/>
              <a:endCxn id="332"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38"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39"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40"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41"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42"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44"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22795" name="直接连接符 153"/>
            <p:cNvCxnSpPr>
              <a:cxnSpLocks noChangeShapeType="1"/>
              <a:stCxn id="328" idx="4"/>
              <a:endCxn id="332"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2796" name="直接连接符 157"/>
            <p:cNvCxnSpPr>
              <a:cxnSpLocks noChangeShapeType="1"/>
              <a:stCxn id="328" idx="4"/>
              <a:endCxn id="332"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2797" name="直接连接符 141"/>
            <p:cNvCxnSpPr>
              <a:cxnSpLocks noChangeShapeType="1"/>
              <a:stCxn id="328" idx="4"/>
              <a:endCxn id="332"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48"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49"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50"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51"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52"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2803" name="直接连接符 117"/>
            <p:cNvCxnSpPr>
              <a:cxnSpLocks noChangeShapeType="1"/>
              <a:stCxn id="328" idx="4"/>
              <a:endCxn id="332"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2804" name="直接连接符 119"/>
            <p:cNvCxnSpPr>
              <a:cxnSpLocks noChangeShapeType="1"/>
              <a:stCxn id="328" idx="4"/>
              <a:endCxn id="332"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5" name="Line 167"/>
          <p:cNvSpPr>
            <a:spLocks noChangeShapeType="1"/>
          </p:cNvSpPr>
          <p:nvPr/>
        </p:nvSpPr>
        <p:spPr bwMode="auto">
          <a:xfrm>
            <a:off x="1443038" y="3343275"/>
            <a:ext cx="414337" cy="301625"/>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2280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7A1A113-F67A-450B-85D7-1F35DF0D8404}" type="slidenum">
              <a:rPr lang="zh-CN" altLang="en-US" smtClean="0"/>
              <a:pPr/>
              <a:t>35</a:t>
            </a:fld>
            <a:endParaRPr lang="en-US" altLang="zh-CN" smtClean="0"/>
          </a:p>
        </p:txBody>
      </p:sp>
      <p:sp>
        <p:nvSpPr>
          <p:cNvPr id="152280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24738" name="组合 2"/>
          <p:cNvGrpSpPr>
            <a:grpSpLocks/>
          </p:cNvGrpSpPr>
          <p:nvPr/>
        </p:nvGrpSpPr>
        <p:grpSpPr bwMode="auto">
          <a:xfrm>
            <a:off x="273050" y="836613"/>
            <a:ext cx="9536113" cy="3321050"/>
            <a:chOff x="272479" y="836711"/>
            <a:chExt cx="9536759" cy="3321087"/>
          </a:xfrm>
        </p:grpSpPr>
        <p:sp>
          <p:nvSpPr>
            <p:cNvPr id="103"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50"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4822"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24827"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4828"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4834" name="直接连接符 134"/>
            <p:cNvCxnSpPr>
              <a:cxnSpLocks noChangeShapeType="1"/>
              <a:stCxn id="295" idx="4"/>
              <a:endCxn id="299"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1"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24841" name="直接连接符 153"/>
            <p:cNvCxnSpPr>
              <a:cxnSpLocks noChangeShapeType="1"/>
              <a:stCxn id="295" idx="4"/>
              <a:endCxn id="299"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4842" name="直接连接符 157"/>
            <p:cNvCxnSpPr>
              <a:cxnSpLocks noChangeShapeType="1"/>
              <a:stCxn id="295" idx="4"/>
              <a:endCxn id="299"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4843" name="直接连接符 141"/>
            <p:cNvCxnSpPr>
              <a:cxnSpLocks noChangeShapeType="1"/>
              <a:stCxn id="295" idx="4"/>
              <a:endCxn id="299"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4849" name="直接连接符 117"/>
            <p:cNvCxnSpPr>
              <a:cxnSpLocks noChangeShapeType="1"/>
              <a:stCxn id="295" idx="4"/>
              <a:endCxn id="299"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4850" name="直接连接符 119"/>
            <p:cNvCxnSpPr>
              <a:cxnSpLocks noChangeShapeType="1"/>
              <a:stCxn id="295" idx="4"/>
              <a:endCxn id="299"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000000"/>
                  </a:solidFill>
                </a:rPr>
                <a:t>4</a:t>
              </a:r>
            </a:p>
          </p:txBody>
        </p:sp>
      </p:grpSp>
      <p:sp>
        <p:nvSpPr>
          <p:cNvPr id="276" name="Line 167"/>
          <p:cNvSpPr>
            <a:spLocks noChangeShapeType="1"/>
          </p:cNvSpPr>
          <p:nvPr/>
        </p:nvSpPr>
        <p:spPr bwMode="auto">
          <a:xfrm>
            <a:off x="1631950" y="3187700"/>
            <a:ext cx="441325" cy="327025"/>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24853" name="Text Box 5"/>
          <p:cNvSpPr txBox="1">
            <a:spLocks noChangeArrowheads="1"/>
          </p:cNvSpPr>
          <p:nvPr/>
        </p:nvSpPr>
        <p:spPr bwMode="auto">
          <a:xfrm>
            <a:off x="842963" y="4365625"/>
            <a:ext cx="86471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a:solidFill>
                  <a:srgbClr val="000099"/>
                </a:solidFill>
                <a:ea typeface="黑体" panose="02010609060101010101" pitchFamily="49" charset="-122"/>
              </a:rPr>
              <a:t>发送方每收到一个对新报文段的确认</a:t>
            </a:r>
            <a:r>
              <a:rPr lang="en-US" altLang="zh-CN" sz="2800" b="1">
                <a:solidFill>
                  <a:srgbClr val="000099"/>
                </a:solidFill>
                <a:ea typeface="黑体" panose="02010609060101010101" pitchFamily="49" charset="-122"/>
              </a:rPr>
              <a:t> ACK</a:t>
            </a:r>
            <a:r>
              <a:rPr lang="zh-CN" altLang="zh-CN" sz="2800" b="1">
                <a:solidFill>
                  <a:srgbClr val="000099"/>
                </a:solidFill>
                <a:ea typeface="黑体" panose="02010609060101010101" pitchFamily="49" charset="-122"/>
              </a:rPr>
              <a:t>，就把拥塞窗口值加</a:t>
            </a:r>
            <a:r>
              <a:rPr lang="en-US" altLang="zh-CN" sz="2800" b="1">
                <a:solidFill>
                  <a:srgbClr val="000099"/>
                </a:solidFill>
                <a:ea typeface="黑体" panose="02010609060101010101" pitchFamily="49" charset="-122"/>
              </a:rPr>
              <a:t> 1</a:t>
            </a:r>
            <a:r>
              <a:rPr lang="zh-CN" altLang="zh-CN" sz="2800" b="1">
                <a:solidFill>
                  <a:srgbClr val="000099"/>
                </a:solidFill>
                <a:ea typeface="黑体" panose="02010609060101010101" pitchFamily="49" charset="-122"/>
              </a:rPr>
              <a:t>，然后开始下一轮的传输（请注意，横坐标是传输轮次，不是时间）。因此拥塞窗口</a:t>
            </a:r>
            <a:r>
              <a:rPr lang="en-US" altLang="zh-CN" sz="2800" b="1">
                <a:solidFill>
                  <a:srgbClr val="000099"/>
                </a:solidFill>
                <a:ea typeface="黑体" panose="02010609060101010101" pitchFamily="49" charset="-122"/>
              </a:rPr>
              <a:t> cwnd </a:t>
            </a:r>
            <a:r>
              <a:rPr lang="zh-CN" altLang="zh-CN" sz="2800" b="1">
                <a:solidFill>
                  <a:srgbClr val="000099"/>
                </a:solidFill>
                <a:ea typeface="黑体" panose="02010609060101010101" pitchFamily="49" charset="-122"/>
              </a:rPr>
              <a:t>随着传输轮次按指数规律增长。</a:t>
            </a:r>
            <a:endParaRPr lang="zh-CN" altLang="en-US" sz="2800" b="1">
              <a:solidFill>
                <a:srgbClr val="000099"/>
              </a:solidFill>
              <a:ea typeface="黑体" panose="02010609060101010101" pitchFamily="49" charset="-122"/>
            </a:endParaRPr>
          </a:p>
        </p:txBody>
      </p:sp>
      <p:sp>
        <p:nvSpPr>
          <p:cNvPr id="152485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6A07E82-28E2-46CD-94E6-39F1CB662968}" type="slidenum">
              <a:rPr lang="zh-CN" altLang="en-US" smtClean="0"/>
              <a:pPr/>
              <a:t>36</a:t>
            </a:fld>
            <a:endParaRPr lang="en-US" altLang="zh-CN" smtClean="0"/>
          </a:p>
        </p:txBody>
      </p:sp>
      <p:sp>
        <p:nvSpPr>
          <p:cNvPr id="152485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26786" name="组合 2"/>
          <p:cNvGrpSpPr>
            <a:grpSpLocks/>
          </p:cNvGrpSpPr>
          <p:nvPr/>
        </p:nvGrpSpPr>
        <p:grpSpPr bwMode="auto">
          <a:xfrm>
            <a:off x="273050" y="836613"/>
            <a:ext cx="9536113" cy="3321050"/>
            <a:chOff x="272479" y="836711"/>
            <a:chExt cx="9536759" cy="3321087"/>
          </a:xfrm>
        </p:grpSpPr>
        <p:sp>
          <p:nvSpPr>
            <p:cNvPr id="103"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50"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6870"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26875"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6876"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6882" name="直接连接符 134"/>
            <p:cNvCxnSpPr>
              <a:cxnSpLocks noChangeShapeType="1"/>
              <a:stCxn id="295" idx="4"/>
              <a:endCxn id="299"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1"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26889" name="直接连接符 153"/>
            <p:cNvCxnSpPr>
              <a:cxnSpLocks noChangeShapeType="1"/>
              <a:stCxn id="295" idx="4"/>
              <a:endCxn id="299"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6890" name="直接连接符 157"/>
            <p:cNvCxnSpPr>
              <a:cxnSpLocks noChangeShapeType="1"/>
              <a:stCxn id="295" idx="4"/>
              <a:endCxn id="299"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6891" name="直接连接符 141"/>
            <p:cNvCxnSpPr>
              <a:cxnSpLocks noChangeShapeType="1"/>
              <a:stCxn id="295" idx="4"/>
              <a:endCxn id="299"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6897" name="直接连接符 117"/>
            <p:cNvCxnSpPr>
              <a:cxnSpLocks noChangeShapeType="1"/>
              <a:stCxn id="295" idx="4"/>
              <a:endCxn id="299"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6898" name="直接连接符 119"/>
            <p:cNvCxnSpPr>
              <a:cxnSpLocks noChangeShapeType="1"/>
              <a:stCxn id="295" idx="4"/>
              <a:endCxn id="299"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000000"/>
                  </a:solidFill>
                </a:rPr>
                <a:t>4</a:t>
              </a:r>
            </a:p>
          </p:txBody>
        </p:sp>
      </p:grpSp>
      <p:sp>
        <p:nvSpPr>
          <p:cNvPr id="276" name="Line 167"/>
          <p:cNvSpPr>
            <a:spLocks noChangeShapeType="1"/>
          </p:cNvSpPr>
          <p:nvPr/>
        </p:nvSpPr>
        <p:spPr bwMode="auto">
          <a:xfrm>
            <a:off x="1903413" y="3030538"/>
            <a:ext cx="441325" cy="327025"/>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26901" name="Text Box 5"/>
          <p:cNvSpPr txBox="1">
            <a:spLocks noChangeArrowheads="1"/>
          </p:cNvSpPr>
          <p:nvPr/>
        </p:nvSpPr>
        <p:spPr bwMode="auto">
          <a:xfrm>
            <a:off x="842963" y="4365625"/>
            <a:ext cx="86471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a:solidFill>
                  <a:srgbClr val="000099"/>
                </a:solidFill>
                <a:ea typeface="黑体" panose="02010609060101010101" pitchFamily="49" charset="-122"/>
              </a:rPr>
              <a:t>发送方每收到一个对新报文段的确认</a:t>
            </a:r>
            <a:r>
              <a:rPr lang="en-US" altLang="zh-CN" sz="2800" b="1">
                <a:solidFill>
                  <a:srgbClr val="000099"/>
                </a:solidFill>
                <a:ea typeface="黑体" panose="02010609060101010101" pitchFamily="49" charset="-122"/>
              </a:rPr>
              <a:t> ACK</a:t>
            </a:r>
            <a:r>
              <a:rPr lang="zh-CN" altLang="zh-CN" sz="2800" b="1">
                <a:solidFill>
                  <a:srgbClr val="000099"/>
                </a:solidFill>
                <a:ea typeface="黑体" panose="02010609060101010101" pitchFamily="49" charset="-122"/>
              </a:rPr>
              <a:t>，就把拥塞窗口值加</a:t>
            </a:r>
            <a:r>
              <a:rPr lang="en-US" altLang="zh-CN" sz="2800" b="1">
                <a:solidFill>
                  <a:srgbClr val="000099"/>
                </a:solidFill>
                <a:ea typeface="黑体" panose="02010609060101010101" pitchFamily="49" charset="-122"/>
              </a:rPr>
              <a:t> 1</a:t>
            </a:r>
            <a:r>
              <a:rPr lang="zh-CN" altLang="zh-CN" sz="2800" b="1">
                <a:solidFill>
                  <a:srgbClr val="000099"/>
                </a:solidFill>
                <a:ea typeface="黑体" panose="02010609060101010101" pitchFamily="49" charset="-122"/>
              </a:rPr>
              <a:t>，然后开始下一轮的传输（请注意，横坐标是传输轮次，不是时间）。因此拥塞窗口</a:t>
            </a:r>
            <a:r>
              <a:rPr lang="en-US" altLang="zh-CN" sz="2800" b="1">
                <a:solidFill>
                  <a:srgbClr val="000099"/>
                </a:solidFill>
                <a:ea typeface="黑体" panose="02010609060101010101" pitchFamily="49" charset="-122"/>
              </a:rPr>
              <a:t> cwnd </a:t>
            </a:r>
            <a:r>
              <a:rPr lang="zh-CN" altLang="zh-CN" sz="2800" b="1">
                <a:solidFill>
                  <a:srgbClr val="000099"/>
                </a:solidFill>
                <a:ea typeface="黑体" panose="02010609060101010101" pitchFamily="49" charset="-122"/>
              </a:rPr>
              <a:t>随着传输轮次按指数规律增长。</a:t>
            </a:r>
            <a:endParaRPr lang="zh-CN" altLang="en-US" sz="2800" b="1">
              <a:solidFill>
                <a:srgbClr val="000099"/>
              </a:solidFill>
              <a:ea typeface="黑体" panose="02010609060101010101" pitchFamily="49" charset="-122"/>
            </a:endParaRPr>
          </a:p>
        </p:txBody>
      </p:sp>
      <p:sp>
        <p:nvSpPr>
          <p:cNvPr id="152690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D118480-88B0-4FDE-B87E-4E13BDFF2AE4}" type="slidenum">
              <a:rPr lang="zh-CN" altLang="en-US" smtClean="0"/>
              <a:pPr/>
              <a:t>37</a:t>
            </a:fld>
            <a:endParaRPr lang="en-US" altLang="zh-CN" smtClean="0"/>
          </a:p>
        </p:txBody>
      </p:sp>
      <p:sp>
        <p:nvSpPr>
          <p:cNvPr id="152690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28834" name="组合 2"/>
          <p:cNvGrpSpPr>
            <a:grpSpLocks/>
          </p:cNvGrpSpPr>
          <p:nvPr/>
        </p:nvGrpSpPr>
        <p:grpSpPr bwMode="auto">
          <a:xfrm>
            <a:off x="273050" y="836613"/>
            <a:ext cx="9536113" cy="3321050"/>
            <a:chOff x="272479" y="836711"/>
            <a:chExt cx="9536759" cy="3321087"/>
          </a:xfrm>
        </p:grpSpPr>
        <p:sp>
          <p:nvSpPr>
            <p:cNvPr id="103"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50"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8918"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28923"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8924"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8930" name="直接连接符 134"/>
            <p:cNvCxnSpPr>
              <a:cxnSpLocks noChangeShapeType="1"/>
              <a:stCxn id="295" idx="4"/>
              <a:endCxn id="299"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1"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28937" name="直接连接符 153"/>
            <p:cNvCxnSpPr>
              <a:cxnSpLocks noChangeShapeType="1"/>
              <a:stCxn id="295" idx="4"/>
              <a:endCxn id="299"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8938" name="直接连接符 157"/>
            <p:cNvCxnSpPr>
              <a:cxnSpLocks noChangeShapeType="1"/>
              <a:stCxn id="295" idx="4"/>
              <a:endCxn id="299"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8939" name="直接连接符 141"/>
            <p:cNvCxnSpPr>
              <a:cxnSpLocks noChangeShapeType="1"/>
              <a:stCxn id="295" idx="4"/>
              <a:endCxn id="299"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28945" name="直接连接符 117"/>
            <p:cNvCxnSpPr>
              <a:cxnSpLocks noChangeShapeType="1"/>
              <a:stCxn id="295" idx="4"/>
              <a:endCxn id="299"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28946" name="直接连接符 119"/>
            <p:cNvCxnSpPr>
              <a:cxnSpLocks noChangeShapeType="1"/>
              <a:stCxn id="295" idx="4"/>
              <a:endCxn id="299"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000000"/>
                  </a:solidFill>
                </a:rPr>
                <a:t>4</a:t>
              </a:r>
            </a:p>
          </p:txBody>
        </p:sp>
      </p:grpSp>
      <p:sp>
        <p:nvSpPr>
          <p:cNvPr id="276" name="Line 167"/>
          <p:cNvSpPr>
            <a:spLocks noChangeShapeType="1"/>
          </p:cNvSpPr>
          <p:nvPr/>
        </p:nvSpPr>
        <p:spPr bwMode="auto">
          <a:xfrm>
            <a:off x="2136775" y="2670175"/>
            <a:ext cx="439738" cy="327025"/>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28949" name="Text Box 5"/>
          <p:cNvSpPr txBox="1">
            <a:spLocks noChangeArrowheads="1"/>
          </p:cNvSpPr>
          <p:nvPr/>
        </p:nvSpPr>
        <p:spPr bwMode="auto">
          <a:xfrm>
            <a:off x="842963" y="4365625"/>
            <a:ext cx="86471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a:solidFill>
                  <a:srgbClr val="000099"/>
                </a:solidFill>
                <a:ea typeface="黑体" panose="02010609060101010101" pitchFamily="49" charset="-122"/>
              </a:rPr>
              <a:t>发送方每收到一个对新报文段的确认</a:t>
            </a:r>
            <a:r>
              <a:rPr lang="en-US" altLang="zh-CN" sz="2800" b="1">
                <a:solidFill>
                  <a:srgbClr val="000099"/>
                </a:solidFill>
                <a:ea typeface="黑体" panose="02010609060101010101" pitchFamily="49" charset="-122"/>
              </a:rPr>
              <a:t> ACK</a:t>
            </a:r>
            <a:r>
              <a:rPr lang="zh-CN" altLang="zh-CN" sz="2800" b="1">
                <a:solidFill>
                  <a:srgbClr val="000099"/>
                </a:solidFill>
                <a:ea typeface="黑体" panose="02010609060101010101" pitchFamily="49" charset="-122"/>
              </a:rPr>
              <a:t>，就把拥塞窗口值加</a:t>
            </a:r>
            <a:r>
              <a:rPr lang="en-US" altLang="zh-CN" sz="2800" b="1">
                <a:solidFill>
                  <a:srgbClr val="000099"/>
                </a:solidFill>
                <a:ea typeface="黑体" panose="02010609060101010101" pitchFamily="49" charset="-122"/>
              </a:rPr>
              <a:t> 1</a:t>
            </a:r>
            <a:r>
              <a:rPr lang="zh-CN" altLang="zh-CN" sz="2800" b="1">
                <a:solidFill>
                  <a:srgbClr val="000099"/>
                </a:solidFill>
                <a:ea typeface="黑体" panose="02010609060101010101" pitchFamily="49" charset="-122"/>
              </a:rPr>
              <a:t>，然后开始下一轮的传输（请注意，横坐标是传输轮次，不是时间）。因此拥塞窗口</a:t>
            </a:r>
            <a:r>
              <a:rPr lang="en-US" altLang="zh-CN" sz="2800" b="1">
                <a:solidFill>
                  <a:srgbClr val="000099"/>
                </a:solidFill>
                <a:ea typeface="黑体" panose="02010609060101010101" pitchFamily="49" charset="-122"/>
              </a:rPr>
              <a:t> cwnd </a:t>
            </a:r>
            <a:r>
              <a:rPr lang="zh-CN" altLang="zh-CN" sz="2800" b="1">
                <a:solidFill>
                  <a:srgbClr val="000099"/>
                </a:solidFill>
                <a:ea typeface="黑体" panose="02010609060101010101" pitchFamily="49" charset="-122"/>
              </a:rPr>
              <a:t>随着传输轮次按指数规律增长。</a:t>
            </a:r>
            <a:endParaRPr lang="zh-CN" altLang="en-US" sz="2800" b="1">
              <a:solidFill>
                <a:srgbClr val="000099"/>
              </a:solidFill>
              <a:ea typeface="黑体" panose="02010609060101010101" pitchFamily="49" charset="-122"/>
            </a:endParaRPr>
          </a:p>
        </p:txBody>
      </p:sp>
      <p:sp>
        <p:nvSpPr>
          <p:cNvPr id="152895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1213BBA-01BA-43BB-AE19-1D88A7509B71}" type="slidenum">
              <a:rPr lang="zh-CN" altLang="en-US" smtClean="0"/>
              <a:pPr/>
              <a:t>38</a:t>
            </a:fld>
            <a:endParaRPr lang="en-US" altLang="zh-CN" smtClean="0"/>
          </a:p>
        </p:txBody>
      </p:sp>
      <p:sp>
        <p:nvSpPr>
          <p:cNvPr id="152895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30882" name="组合 2"/>
          <p:cNvGrpSpPr>
            <a:grpSpLocks/>
          </p:cNvGrpSpPr>
          <p:nvPr/>
        </p:nvGrpSpPr>
        <p:grpSpPr bwMode="auto">
          <a:xfrm>
            <a:off x="273050" y="836613"/>
            <a:ext cx="9536113" cy="3321050"/>
            <a:chOff x="272479" y="836711"/>
            <a:chExt cx="9536759" cy="3321087"/>
          </a:xfrm>
        </p:grpSpPr>
        <p:sp>
          <p:nvSpPr>
            <p:cNvPr id="103"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50"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0966"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30971"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0972"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0978" name="直接连接符 134"/>
            <p:cNvCxnSpPr>
              <a:cxnSpLocks noChangeShapeType="1"/>
              <a:stCxn id="295" idx="4"/>
              <a:endCxn id="299"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1"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30985" name="直接连接符 153"/>
            <p:cNvCxnSpPr>
              <a:cxnSpLocks noChangeShapeType="1"/>
              <a:stCxn id="295" idx="4"/>
              <a:endCxn id="299"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0986" name="直接连接符 157"/>
            <p:cNvCxnSpPr>
              <a:cxnSpLocks noChangeShapeType="1"/>
              <a:stCxn id="295" idx="4"/>
              <a:endCxn id="299"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0987" name="直接连接符 141"/>
            <p:cNvCxnSpPr>
              <a:cxnSpLocks noChangeShapeType="1"/>
              <a:stCxn id="295" idx="4"/>
              <a:endCxn id="299"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0993" name="直接连接符 117"/>
            <p:cNvCxnSpPr>
              <a:cxnSpLocks noChangeShapeType="1"/>
              <a:stCxn id="295" idx="4"/>
              <a:endCxn id="299"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0994" name="直接连接符 119"/>
            <p:cNvCxnSpPr>
              <a:cxnSpLocks noChangeShapeType="1"/>
              <a:stCxn id="295" idx="4"/>
              <a:endCxn id="299"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000000"/>
                  </a:solidFill>
                </a:rPr>
                <a:t>4</a:t>
              </a:r>
            </a:p>
          </p:txBody>
        </p:sp>
      </p:grpSp>
      <p:sp>
        <p:nvSpPr>
          <p:cNvPr id="276" name="Line 167"/>
          <p:cNvSpPr>
            <a:spLocks noChangeShapeType="1"/>
          </p:cNvSpPr>
          <p:nvPr/>
        </p:nvSpPr>
        <p:spPr bwMode="auto">
          <a:xfrm>
            <a:off x="2352675" y="1878013"/>
            <a:ext cx="439738" cy="327025"/>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30997" name="Text Box 4"/>
          <p:cNvSpPr txBox="1">
            <a:spLocks noChangeArrowheads="1"/>
          </p:cNvSpPr>
          <p:nvPr/>
        </p:nvSpPr>
        <p:spPr bwMode="auto">
          <a:xfrm>
            <a:off x="842963" y="4292600"/>
            <a:ext cx="8647112"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a:solidFill>
                  <a:srgbClr val="000099"/>
                </a:solidFill>
                <a:ea typeface="黑体" panose="02010609060101010101" pitchFamily="49" charset="-122"/>
              </a:rPr>
              <a:t>当拥塞窗口</a:t>
            </a:r>
            <a:r>
              <a:rPr lang="en-US" altLang="zh-CN" sz="2800" b="1">
                <a:solidFill>
                  <a:srgbClr val="000099"/>
                </a:solidFill>
                <a:ea typeface="黑体" panose="02010609060101010101" pitchFamily="49" charset="-122"/>
              </a:rPr>
              <a:t> cwnd </a:t>
            </a:r>
            <a:r>
              <a:rPr lang="zh-CN" altLang="zh-CN" sz="2800" b="1">
                <a:solidFill>
                  <a:srgbClr val="000099"/>
                </a:solidFill>
                <a:ea typeface="黑体" panose="02010609060101010101" pitchFamily="49" charset="-122"/>
              </a:rPr>
              <a:t>增长到慢开始门限值</a:t>
            </a:r>
            <a:r>
              <a:rPr lang="en-US" altLang="zh-CN" sz="2800" b="1">
                <a:solidFill>
                  <a:srgbClr val="000099"/>
                </a:solidFill>
                <a:ea typeface="黑体" panose="02010609060101010101" pitchFamily="49" charset="-122"/>
              </a:rPr>
              <a:t>s sthresh </a:t>
            </a:r>
            <a:r>
              <a:rPr lang="zh-CN" altLang="zh-CN" sz="2800" b="1">
                <a:solidFill>
                  <a:srgbClr val="000099"/>
                </a:solidFill>
                <a:ea typeface="黑体" panose="02010609060101010101" pitchFamily="49" charset="-122"/>
              </a:rPr>
              <a:t>时（图中的点</a:t>
            </a:r>
            <a:r>
              <a:rPr lang="en-US" altLang="zh-CN" sz="2800" b="1">
                <a:solidFill>
                  <a:srgbClr val="000099"/>
                </a:solidFill>
                <a:ea typeface="黑体" panose="02010609060101010101" pitchFamily="49" charset="-122"/>
                <a:sym typeface="Wingdings" panose="05000000000000000000" pitchFamily="2" charset="2"/>
              </a:rPr>
              <a:t></a:t>
            </a:r>
            <a:r>
              <a:rPr lang="zh-CN" altLang="zh-CN" sz="2800" b="1">
                <a:solidFill>
                  <a:srgbClr val="000099"/>
                </a:solidFill>
                <a:ea typeface="黑体" panose="02010609060101010101" pitchFamily="49" charset="-122"/>
              </a:rPr>
              <a:t>，此时拥塞窗口</a:t>
            </a:r>
            <a:r>
              <a:rPr lang="en-US" altLang="zh-CN" sz="2800" b="1">
                <a:solidFill>
                  <a:srgbClr val="000099"/>
                </a:solidFill>
                <a:ea typeface="黑体" panose="02010609060101010101" pitchFamily="49" charset="-122"/>
              </a:rPr>
              <a:t>cwnd = 16</a:t>
            </a:r>
            <a:r>
              <a:rPr lang="zh-CN" altLang="zh-CN" sz="2800" b="1">
                <a:solidFill>
                  <a:srgbClr val="000099"/>
                </a:solidFill>
                <a:ea typeface="黑体" panose="02010609060101010101" pitchFamily="49" charset="-122"/>
              </a:rPr>
              <a:t>），就改为执行</a:t>
            </a:r>
            <a:r>
              <a:rPr lang="zh-CN" altLang="zh-CN" sz="2800" b="1">
                <a:solidFill>
                  <a:srgbClr val="FF0000"/>
                </a:solidFill>
                <a:ea typeface="黑体" panose="02010609060101010101" pitchFamily="49" charset="-122"/>
              </a:rPr>
              <a:t>拥塞避免</a:t>
            </a:r>
            <a:r>
              <a:rPr lang="zh-CN" altLang="zh-CN" sz="2800" b="1">
                <a:solidFill>
                  <a:srgbClr val="000099"/>
                </a:solidFill>
                <a:ea typeface="黑体" panose="02010609060101010101" pitchFamily="49" charset="-122"/>
              </a:rPr>
              <a:t>算法，拥塞窗口</a:t>
            </a:r>
            <a:r>
              <a:rPr lang="zh-CN" altLang="zh-CN" sz="2800" b="1">
                <a:solidFill>
                  <a:srgbClr val="FF0000"/>
                </a:solidFill>
                <a:ea typeface="黑体" panose="02010609060101010101" pitchFamily="49" charset="-122"/>
              </a:rPr>
              <a:t>按线性规律增长。</a:t>
            </a:r>
            <a:endParaRPr lang="zh-CN" altLang="en-US" sz="2800" b="1">
              <a:solidFill>
                <a:srgbClr val="FF0000"/>
              </a:solidFill>
              <a:ea typeface="黑体" panose="02010609060101010101" pitchFamily="49" charset="-122"/>
            </a:endParaRPr>
          </a:p>
        </p:txBody>
      </p:sp>
      <p:sp>
        <p:nvSpPr>
          <p:cNvPr id="153099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9827DB5-241C-4A81-BE3F-BAF4C80DF8F5}" type="slidenum">
              <a:rPr lang="zh-CN" altLang="en-US" smtClean="0"/>
              <a:pPr/>
              <a:t>39</a:t>
            </a:fld>
            <a:endParaRPr lang="en-US" altLang="zh-CN" smtClean="0"/>
          </a:p>
        </p:txBody>
      </p:sp>
      <p:sp>
        <p:nvSpPr>
          <p:cNvPr id="153099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2929" name="Rectangle 2"/>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1532930" name="Rectangle 3"/>
          <p:cNvSpPr>
            <a:spLocks noChangeArrowheads="1"/>
          </p:cNvSpPr>
          <p:nvPr/>
        </p:nvSpPr>
        <p:spPr bwMode="auto">
          <a:xfrm>
            <a:off x="0" y="30543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1532931" name="Rectangle 4"/>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1532932" name="Rectangle 5"/>
          <p:cNvSpPr>
            <a:spLocks noChangeArrowheads="1"/>
          </p:cNvSpPr>
          <p:nvPr/>
        </p:nvSpPr>
        <p:spPr bwMode="auto">
          <a:xfrm>
            <a:off x="0" y="30591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1532933"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必须强调指出 </a:t>
            </a:r>
          </a:p>
        </p:txBody>
      </p:sp>
      <p:sp>
        <p:nvSpPr>
          <p:cNvPr id="2295815" name="Rectangle 7"/>
          <p:cNvSpPr>
            <a:spLocks noGrp="1" noChangeArrowheads="1"/>
          </p:cNvSpPr>
          <p:nvPr>
            <p:ph type="body" idx="1"/>
          </p:nvPr>
        </p:nvSpPr>
        <p:spPr>
          <a:xfrm>
            <a:off x="495300" y="1196975"/>
            <a:ext cx="9066213" cy="4933950"/>
          </a:xfrm>
        </p:spPr>
        <p:txBody>
          <a:bodyPr/>
          <a:lstStyle/>
          <a:p>
            <a:pPr algn="just">
              <a:spcBef>
                <a:spcPts val="1200"/>
              </a:spcBef>
            </a:pPr>
            <a:r>
              <a:rPr lang="en-US" altLang="zh-CN" smtClean="0">
                <a:ea typeface="黑体" panose="02010609060101010101" pitchFamily="49" charset="-122"/>
              </a:rPr>
              <a:t>“</a:t>
            </a:r>
            <a:r>
              <a:rPr lang="zh-CN" altLang="en-US" smtClean="0">
                <a:ea typeface="黑体" panose="02010609060101010101" pitchFamily="49" charset="-122"/>
              </a:rPr>
              <a:t>拥塞避免”并非指完全能够避免了拥塞。利用以上的措施要完全避免网络拥塞还是不可能的。</a:t>
            </a:r>
          </a:p>
          <a:p>
            <a:pPr algn="just">
              <a:spcBef>
                <a:spcPts val="1200"/>
              </a:spcBef>
            </a:pPr>
            <a:r>
              <a:rPr lang="zh-CN" altLang="en-US" smtClean="0">
                <a:ea typeface="黑体" panose="02010609060101010101" pitchFamily="49" charset="-122"/>
              </a:rPr>
              <a:t>“拥塞避免”是说在拥塞避免阶段把拥塞窗口控制为按线性规律增长，</a:t>
            </a:r>
            <a:r>
              <a:rPr lang="zh-CN" altLang="en-US" smtClean="0">
                <a:solidFill>
                  <a:srgbClr val="FF0000"/>
                </a:solidFill>
                <a:ea typeface="黑体" panose="02010609060101010101" pitchFamily="49" charset="-122"/>
              </a:rPr>
              <a:t>使网络比较不容易出现拥塞。</a:t>
            </a:r>
            <a:r>
              <a:rPr lang="zh-CN" altLang="en-US" smtClean="0">
                <a:ea typeface="黑体" panose="02010609060101010101" pitchFamily="49" charset="-122"/>
              </a:rPr>
              <a:t> </a:t>
            </a:r>
          </a:p>
        </p:txBody>
      </p:sp>
      <p:sp>
        <p:nvSpPr>
          <p:cNvPr id="1532935" name="Rectangle 8"/>
          <p:cNvSpPr>
            <a:spLocks noChangeArrowheads="1"/>
          </p:cNvSpPr>
          <p:nvPr/>
        </p:nvSpPr>
        <p:spPr bwMode="auto">
          <a:xfrm>
            <a:off x="0" y="30781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1532936" name="Rectangle 9"/>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153293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F4FD99-C7E3-4CDD-8AB3-109CB7EA892C}" type="slidenum">
              <a:rPr lang="zh-CN" altLang="en-US" smtClean="0"/>
              <a:pPr eaLnBrk="1" hangingPunct="1"/>
              <a:t>40</a:t>
            </a:fld>
            <a:endParaRPr lang="en-US" altLang="zh-CN" smtClean="0"/>
          </a:p>
        </p:txBody>
      </p:sp>
      <p:sp>
        <p:nvSpPr>
          <p:cNvPr id="153293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958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34978" name="组合 2"/>
          <p:cNvGrpSpPr>
            <a:grpSpLocks/>
          </p:cNvGrpSpPr>
          <p:nvPr/>
        </p:nvGrpSpPr>
        <p:grpSpPr bwMode="auto">
          <a:xfrm>
            <a:off x="273050" y="836613"/>
            <a:ext cx="9536113" cy="3321050"/>
            <a:chOff x="272479" y="836711"/>
            <a:chExt cx="9536759" cy="3321087"/>
          </a:xfrm>
        </p:grpSpPr>
        <p:sp>
          <p:nvSpPr>
            <p:cNvPr id="103"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50"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5062"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35067"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5068"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5074" name="直接连接符 134"/>
            <p:cNvCxnSpPr>
              <a:cxnSpLocks noChangeShapeType="1"/>
              <a:stCxn id="295" idx="4"/>
              <a:endCxn id="299"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1"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35081" name="直接连接符 153"/>
            <p:cNvCxnSpPr>
              <a:cxnSpLocks noChangeShapeType="1"/>
              <a:stCxn id="295" idx="4"/>
              <a:endCxn id="299"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5082" name="直接连接符 157"/>
            <p:cNvCxnSpPr>
              <a:cxnSpLocks noChangeShapeType="1"/>
              <a:stCxn id="295" idx="4"/>
              <a:endCxn id="299"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5083" name="直接连接符 141"/>
            <p:cNvCxnSpPr>
              <a:cxnSpLocks noChangeShapeType="1"/>
              <a:stCxn id="295" idx="4"/>
              <a:endCxn id="299"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5089" name="直接连接符 117"/>
            <p:cNvCxnSpPr>
              <a:cxnSpLocks noChangeShapeType="1"/>
              <a:stCxn id="295" idx="4"/>
              <a:endCxn id="299"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5090" name="直接连接符 119"/>
            <p:cNvCxnSpPr>
              <a:cxnSpLocks noChangeShapeType="1"/>
              <a:stCxn id="295" idx="4"/>
              <a:endCxn id="299"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000000"/>
                  </a:solidFill>
                </a:rPr>
                <a:t>4</a:t>
              </a:r>
            </a:p>
          </p:txBody>
        </p:sp>
      </p:grpSp>
      <p:sp>
        <p:nvSpPr>
          <p:cNvPr id="276" name="Line 167"/>
          <p:cNvSpPr>
            <a:spLocks noChangeShapeType="1"/>
          </p:cNvSpPr>
          <p:nvPr/>
        </p:nvSpPr>
        <p:spPr bwMode="auto">
          <a:xfrm>
            <a:off x="4224338" y="1014413"/>
            <a:ext cx="441325" cy="327025"/>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35093" name="Text Box 101"/>
          <p:cNvSpPr txBox="1">
            <a:spLocks noChangeArrowheads="1"/>
          </p:cNvSpPr>
          <p:nvPr/>
        </p:nvSpPr>
        <p:spPr bwMode="auto">
          <a:xfrm>
            <a:off x="842963" y="4292600"/>
            <a:ext cx="86550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a:solidFill>
                  <a:srgbClr val="000099"/>
                </a:solidFill>
                <a:ea typeface="黑体" panose="02010609060101010101" pitchFamily="49" charset="-122"/>
              </a:rPr>
              <a:t>当拥塞窗口</a:t>
            </a:r>
            <a:r>
              <a:rPr lang="en-US" altLang="zh-CN" sz="2800" b="1">
                <a:solidFill>
                  <a:srgbClr val="000099"/>
                </a:solidFill>
                <a:ea typeface="黑体" panose="02010609060101010101" pitchFamily="49" charset="-122"/>
              </a:rPr>
              <a:t> cwnd = 24 </a:t>
            </a:r>
            <a:r>
              <a:rPr lang="zh-CN" altLang="zh-CN" sz="2800" b="1">
                <a:solidFill>
                  <a:srgbClr val="000099"/>
                </a:solidFill>
                <a:ea typeface="黑体" panose="02010609060101010101" pitchFamily="49" charset="-122"/>
              </a:rPr>
              <a:t>时，网络出现了</a:t>
            </a:r>
            <a:r>
              <a:rPr lang="zh-CN" altLang="zh-CN" sz="2800" b="1">
                <a:solidFill>
                  <a:srgbClr val="FF0000"/>
                </a:solidFill>
                <a:ea typeface="黑体" panose="02010609060101010101" pitchFamily="49" charset="-122"/>
              </a:rPr>
              <a:t>超时</a:t>
            </a:r>
            <a:r>
              <a:rPr lang="zh-CN" altLang="zh-CN" sz="2800" b="1">
                <a:solidFill>
                  <a:srgbClr val="000099"/>
                </a:solidFill>
                <a:ea typeface="黑体" panose="02010609060101010101" pitchFamily="49" charset="-122"/>
              </a:rPr>
              <a:t>（图中的点</a:t>
            </a:r>
            <a:r>
              <a:rPr lang="en-US" altLang="zh-CN" sz="2800" b="1">
                <a:solidFill>
                  <a:srgbClr val="000099"/>
                </a:solidFill>
                <a:ea typeface="黑体" panose="02010609060101010101" pitchFamily="49" charset="-122"/>
                <a:sym typeface="Wingdings" panose="05000000000000000000" pitchFamily="2" charset="2"/>
              </a:rPr>
              <a:t></a:t>
            </a:r>
            <a:r>
              <a:rPr lang="zh-CN" altLang="zh-CN" sz="2800" b="1">
                <a:solidFill>
                  <a:srgbClr val="000099"/>
                </a:solidFill>
                <a:ea typeface="黑体" panose="02010609060101010101" pitchFamily="49" charset="-122"/>
              </a:rPr>
              <a:t>），发送方判断为网络拥塞。于是</a:t>
            </a:r>
            <a:r>
              <a:rPr lang="zh-CN" altLang="zh-CN" sz="2800" b="1">
                <a:solidFill>
                  <a:srgbClr val="FF0000"/>
                </a:solidFill>
                <a:ea typeface="黑体" panose="02010609060101010101" pitchFamily="49" charset="-122"/>
              </a:rPr>
              <a:t>调整门限值</a:t>
            </a:r>
            <a:r>
              <a:rPr lang="en-US" altLang="zh-CN" sz="2800" b="1">
                <a:solidFill>
                  <a:srgbClr val="FF0000"/>
                </a:solidFill>
                <a:ea typeface="黑体" panose="02010609060101010101" pitchFamily="49" charset="-122"/>
              </a:rPr>
              <a:t> </a:t>
            </a:r>
            <a:r>
              <a:rPr lang="en-US" altLang="zh-CN" sz="2800" b="1">
                <a:solidFill>
                  <a:srgbClr val="000099"/>
                </a:solidFill>
                <a:ea typeface="黑体" panose="02010609060101010101" pitchFamily="49" charset="-122"/>
              </a:rPr>
              <a:t>ssthresh = cwnd / 2 = 12</a:t>
            </a:r>
            <a:r>
              <a:rPr lang="zh-CN" altLang="zh-CN" sz="2800" b="1">
                <a:solidFill>
                  <a:srgbClr val="000099"/>
                </a:solidFill>
                <a:ea typeface="黑体" panose="02010609060101010101" pitchFamily="49" charset="-122"/>
              </a:rPr>
              <a:t>，同时设置拥塞窗口</a:t>
            </a:r>
            <a:r>
              <a:rPr lang="en-US" altLang="zh-CN" sz="2800" b="1">
                <a:solidFill>
                  <a:srgbClr val="000099"/>
                </a:solidFill>
                <a:ea typeface="黑体" panose="02010609060101010101" pitchFamily="49" charset="-122"/>
              </a:rPr>
              <a:t> cwnd = 1</a:t>
            </a:r>
            <a:r>
              <a:rPr lang="zh-CN" altLang="zh-CN" sz="2800" b="1">
                <a:solidFill>
                  <a:srgbClr val="000099"/>
                </a:solidFill>
                <a:ea typeface="黑体" panose="02010609060101010101" pitchFamily="49" charset="-122"/>
              </a:rPr>
              <a:t>，进入</a:t>
            </a:r>
            <a:r>
              <a:rPr lang="zh-CN" altLang="zh-CN" sz="2800" b="1">
                <a:solidFill>
                  <a:srgbClr val="FF0000"/>
                </a:solidFill>
                <a:ea typeface="黑体" panose="02010609060101010101" pitchFamily="49" charset="-122"/>
              </a:rPr>
              <a:t>慢开始</a:t>
            </a:r>
            <a:r>
              <a:rPr lang="zh-CN" altLang="zh-CN" sz="2800" b="1">
                <a:solidFill>
                  <a:srgbClr val="000099"/>
                </a:solidFill>
                <a:ea typeface="黑体" panose="02010609060101010101" pitchFamily="49" charset="-122"/>
              </a:rPr>
              <a:t>阶段。</a:t>
            </a:r>
          </a:p>
        </p:txBody>
      </p:sp>
      <p:sp>
        <p:nvSpPr>
          <p:cNvPr id="153509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FB4E0E8-982F-4596-9DDA-F6036114CBB0}" type="slidenum">
              <a:rPr lang="zh-CN" altLang="en-US" smtClean="0"/>
              <a:pPr/>
              <a:t>41</a:t>
            </a:fld>
            <a:endParaRPr lang="en-US" altLang="zh-CN" smtClean="0"/>
          </a:p>
        </p:txBody>
      </p:sp>
      <p:sp>
        <p:nvSpPr>
          <p:cNvPr id="153509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37026" name="组合 2"/>
          <p:cNvGrpSpPr>
            <a:grpSpLocks/>
          </p:cNvGrpSpPr>
          <p:nvPr/>
        </p:nvGrpSpPr>
        <p:grpSpPr bwMode="auto">
          <a:xfrm>
            <a:off x="273050" y="836613"/>
            <a:ext cx="9536113" cy="3321050"/>
            <a:chOff x="272479" y="836711"/>
            <a:chExt cx="9536759" cy="3321087"/>
          </a:xfrm>
        </p:grpSpPr>
        <p:sp>
          <p:nvSpPr>
            <p:cNvPr id="103"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50"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7110"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37115"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7116"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7122" name="直接连接符 134"/>
            <p:cNvCxnSpPr>
              <a:cxnSpLocks noChangeShapeType="1"/>
              <a:stCxn id="295" idx="4"/>
              <a:endCxn id="299"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1"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37129" name="直接连接符 153"/>
            <p:cNvCxnSpPr>
              <a:cxnSpLocks noChangeShapeType="1"/>
              <a:stCxn id="295" idx="4"/>
              <a:endCxn id="299"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7130" name="直接连接符 157"/>
            <p:cNvCxnSpPr>
              <a:cxnSpLocks noChangeShapeType="1"/>
              <a:stCxn id="295" idx="4"/>
              <a:endCxn id="299"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7131" name="直接连接符 141"/>
            <p:cNvCxnSpPr>
              <a:cxnSpLocks noChangeShapeType="1"/>
              <a:stCxn id="295" idx="4"/>
              <a:endCxn id="299"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7137" name="直接连接符 117"/>
            <p:cNvCxnSpPr>
              <a:cxnSpLocks noChangeShapeType="1"/>
              <a:stCxn id="295" idx="4"/>
              <a:endCxn id="299"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7138" name="直接连接符 119"/>
            <p:cNvCxnSpPr>
              <a:cxnSpLocks noChangeShapeType="1"/>
              <a:stCxn id="295" idx="4"/>
              <a:endCxn id="299"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000000"/>
                  </a:solidFill>
                </a:rPr>
                <a:t>4</a:t>
              </a:r>
            </a:p>
          </p:txBody>
        </p:sp>
      </p:grpSp>
      <p:sp>
        <p:nvSpPr>
          <p:cNvPr id="276" name="Line 167"/>
          <p:cNvSpPr>
            <a:spLocks noChangeShapeType="1"/>
          </p:cNvSpPr>
          <p:nvPr/>
        </p:nvSpPr>
        <p:spPr bwMode="auto">
          <a:xfrm>
            <a:off x="4448175" y="3317875"/>
            <a:ext cx="441325" cy="327025"/>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37141" name="Text Box 101"/>
          <p:cNvSpPr txBox="1">
            <a:spLocks noChangeArrowheads="1"/>
          </p:cNvSpPr>
          <p:nvPr/>
        </p:nvSpPr>
        <p:spPr bwMode="auto">
          <a:xfrm>
            <a:off x="842963" y="4292600"/>
            <a:ext cx="86550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a:solidFill>
                  <a:srgbClr val="000099"/>
                </a:solidFill>
                <a:ea typeface="黑体" panose="02010609060101010101" pitchFamily="49" charset="-122"/>
              </a:rPr>
              <a:t>当拥塞窗口</a:t>
            </a:r>
            <a:r>
              <a:rPr lang="en-US" altLang="zh-CN" sz="2800" b="1">
                <a:solidFill>
                  <a:srgbClr val="000099"/>
                </a:solidFill>
                <a:ea typeface="黑体" panose="02010609060101010101" pitchFamily="49" charset="-122"/>
              </a:rPr>
              <a:t> cwnd = 24 </a:t>
            </a:r>
            <a:r>
              <a:rPr lang="zh-CN" altLang="zh-CN" sz="2800" b="1">
                <a:solidFill>
                  <a:srgbClr val="000099"/>
                </a:solidFill>
                <a:ea typeface="黑体" panose="02010609060101010101" pitchFamily="49" charset="-122"/>
              </a:rPr>
              <a:t>时，网络出现了</a:t>
            </a:r>
            <a:r>
              <a:rPr lang="zh-CN" altLang="zh-CN" sz="2800" b="1">
                <a:solidFill>
                  <a:srgbClr val="FF0000"/>
                </a:solidFill>
                <a:ea typeface="黑体" panose="02010609060101010101" pitchFamily="49" charset="-122"/>
              </a:rPr>
              <a:t>超时</a:t>
            </a:r>
            <a:r>
              <a:rPr lang="zh-CN" altLang="zh-CN" sz="2800" b="1">
                <a:solidFill>
                  <a:srgbClr val="000099"/>
                </a:solidFill>
                <a:ea typeface="黑体" panose="02010609060101010101" pitchFamily="49" charset="-122"/>
              </a:rPr>
              <a:t>（图中的点</a:t>
            </a:r>
            <a:r>
              <a:rPr lang="en-US" altLang="zh-CN" sz="2800" b="1">
                <a:solidFill>
                  <a:srgbClr val="000099"/>
                </a:solidFill>
                <a:ea typeface="黑体" panose="02010609060101010101" pitchFamily="49" charset="-122"/>
                <a:sym typeface="Wingdings" panose="05000000000000000000" pitchFamily="2" charset="2"/>
              </a:rPr>
              <a:t></a:t>
            </a:r>
            <a:r>
              <a:rPr lang="zh-CN" altLang="zh-CN" sz="2800" b="1">
                <a:solidFill>
                  <a:srgbClr val="000099"/>
                </a:solidFill>
                <a:ea typeface="黑体" panose="02010609060101010101" pitchFamily="49" charset="-122"/>
              </a:rPr>
              <a:t>），发送方判断为网络拥塞。于是</a:t>
            </a:r>
            <a:r>
              <a:rPr lang="zh-CN" altLang="zh-CN" sz="2800" b="1">
                <a:solidFill>
                  <a:srgbClr val="FF0000"/>
                </a:solidFill>
                <a:ea typeface="黑体" panose="02010609060101010101" pitchFamily="49" charset="-122"/>
              </a:rPr>
              <a:t>调整门限值</a:t>
            </a:r>
            <a:r>
              <a:rPr lang="en-US" altLang="zh-CN" sz="2800" b="1">
                <a:solidFill>
                  <a:srgbClr val="FF0000"/>
                </a:solidFill>
                <a:ea typeface="黑体" panose="02010609060101010101" pitchFamily="49" charset="-122"/>
              </a:rPr>
              <a:t> </a:t>
            </a:r>
            <a:r>
              <a:rPr lang="en-US" altLang="zh-CN" sz="2800" b="1">
                <a:solidFill>
                  <a:srgbClr val="000099"/>
                </a:solidFill>
                <a:ea typeface="黑体" panose="02010609060101010101" pitchFamily="49" charset="-122"/>
              </a:rPr>
              <a:t>ssthresh = cwnd / 2 = 12</a:t>
            </a:r>
            <a:r>
              <a:rPr lang="zh-CN" altLang="zh-CN" sz="2800" b="1">
                <a:solidFill>
                  <a:srgbClr val="000099"/>
                </a:solidFill>
                <a:ea typeface="黑体" panose="02010609060101010101" pitchFamily="49" charset="-122"/>
              </a:rPr>
              <a:t>，同时设置拥塞窗口</a:t>
            </a:r>
            <a:r>
              <a:rPr lang="en-US" altLang="zh-CN" sz="2800" b="1">
                <a:solidFill>
                  <a:srgbClr val="000099"/>
                </a:solidFill>
                <a:ea typeface="黑体" panose="02010609060101010101" pitchFamily="49" charset="-122"/>
              </a:rPr>
              <a:t> cwnd = 1</a:t>
            </a:r>
            <a:r>
              <a:rPr lang="zh-CN" altLang="zh-CN" sz="2800" b="1">
                <a:solidFill>
                  <a:srgbClr val="000099"/>
                </a:solidFill>
                <a:ea typeface="黑体" panose="02010609060101010101" pitchFamily="49" charset="-122"/>
              </a:rPr>
              <a:t>，进入</a:t>
            </a:r>
            <a:r>
              <a:rPr lang="zh-CN" altLang="zh-CN" sz="2800" b="1">
                <a:solidFill>
                  <a:srgbClr val="FF0000"/>
                </a:solidFill>
                <a:ea typeface="黑体" panose="02010609060101010101" pitchFamily="49" charset="-122"/>
              </a:rPr>
              <a:t>慢开始</a:t>
            </a:r>
            <a:r>
              <a:rPr lang="zh-CN" altLang="zh-CN" sz="2800" b="1">
                <a:solidFill>
                  <a:srgbClr val="000099"/>
                </a:solidFill>
                <a:ea typeface="黑体" panose="02010609060101010101" pitchFamily="49" charset="-122"/>
              </a:rPr>
              <a:t>阶段。</a:t>
            </a:r>
          </a:p>
        </p:txBody>
      </p:sp>
      <p:sp>
        <p:nvSpPr>
          <p:cNvPr id="153714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196B644-2DFB-4E00-95FC-B3241684D991}" type="slidenum">
              <a:rPr lang="zh-CN" altLang="en-US" smtClean="0"/>
              <a:pPr/>
              <a:t>42</a:t>
            </a:fld>
            <a:endParaRPr lang="en-US" altLang="zh-CN" smtClean="0"/>
          </a:p>
        </p:txBody>
      </p:sp>
      <p:sp>
        <p:nvSpPr>
          <p:cNvPr id="153714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39074" name="组合 2"/>
          <p:cNvGrpSpPr>
            <a:grpSpLocks/>
          </p:cNvGrpSpPr>
          <p:nvPr/>
        </p:nvGrpSpPr>
        <p:grpSpPr bwMode="auto">
          <a:xfrm>
            <a:off x="273050" y="836613"/>
            <a:ext cx="9536113" cy="3321050"/>
            <a:chOff x="272479" y="836711"/>
            <a:chExt cx="9536759" cy="3321087"/>
          </a:xfrm>
        </p:grpSpPr>
        <p:sp>
          <p:nvSpPr>
            <p:cNvPr id="103"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50"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9158"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39163"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9164"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9170" name="直接连接符 134"/>
            <p:cNvCxnSpPr>
              <a:cxnSpLocks noChangeShapeType="1"/>
              <a:stCxn id="295" idx="4"/>
              <a:endCxn id="299"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1"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39177" name="直接连接符 153"/>
            <p:cNvCxnSpPr>
              <a:cxnSpLocks noChangeShapeType="1"/>
              <a:stCxn id="295" idx="4"/>
              <a:endCxn id="299"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9178" name="直接连接符 157"/>
            <p:cNvCxnSpPr>
              <a:cxnSpLocks noChangeShapeType="1"/>
              <a:stCxn id="295" idx="4"/>
              <a:endCxn id="299"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9179" name="直接连接符 141"/>
            <p:cNvCxnSpPr>
              <a:cxnSpLocks noChangeShapeType="1"/>
              <a:stCxn id="295" idx="4"/>
              <a:endCxn id="299"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39185" name="直接连接符 117"/>
            <p:cNvCxnSpPr>
              <a:cxnSpLocks noChangeShapeType="1"/>
              <a:stCxn id="295" idx="4"/>
              <a:endCxn id="299"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39186" name="直接连接符 119"/>
            <p:cNvCxnSpPr>
              <a:cxnSpLocks noChangeShapeType="1"/>
              <a:stCxn id="295" idx="4"/>
              <a:endCxn id="299"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000000"/>
                  </a:solidFill>
                </a:rPr>
                <a:t>4</a:t>
              </a:r>
            </a:p>
          </p:txBody>
        </p:sp>
      </p:grpSp>
      <p:sp>
        <p:nvSpPr>
          <p:cNvPr id="276" name="Line 167"/>
          <p:cNvSpPr>
            <a:spLocks noChangeShapeType="1"/>
          </p:cNvSpPr>
          <p:nvPr/>
        </p:nvSpPr>
        <p:spPr bwMode="auto">
          <a:xfrm flipH="1" flipV="1">
            <a:off x="5940425" y="2586038"/>
            <a:ext cx="307975" cy="469900"/>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39189" name="Text Box 101"/>
          <p:cNvSpPr txBox="1">
            <a:spLocks noChangeArrowheads="1"/>
          </p:cNvSpPr>
          <p:nvPr/>
        </p:nvSpPr>
        <p:spPr bwMode="auto">
          <a:xfrm>
            <a:off x="842963" y="4292600"/>
            <a:ext cx="86550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a:solidFill>
                  <a:srgbClr val="000099"/>
                </a:solidFill>
                <a:ea typeface="黑体" panose="02010609060101010101" pitchFamily="49" charset="-122"/>
              </a:rPr>
              <a:t>按照慢开始算法，发送方每收到一个对新报文段的确认</a:t>
            </a:r>
            <a:r>
              <a:rPr lang="en-US" altLang="zh-CN" sz="2800" b="1">
                <a:solidFill>
                  <a:srgbClr val="000099"/>
                </a:solidFill>
                <a:ea typeface="黑体" panose="02010609060101010101" pitchFamily="49" charset="-122"/>
              </a:rPr>
              <a:t>ACK</a:t>
            </a:r>
            <a:r>
              <a:rPr lang="zh-CN" altLang="zh-CN" sz="2800" b="1">
                <a:solidFill>
                  <a:srgbClr val="000099"/>
                </a:solidFill>
                <a:ea typeface="黑体" panose="02010609060101010101" pitchFamily="49" charset="-122"/>
              </a:rPr>
              <a:t>，就把拥塞窗口值加</a:t>
            </a:r>
            <a:r>
              <a:rPr lang="en-US" altLang="zh-CN" sz="2800" b="1">
                <a:solidFill>
                  <a:srgbClr val="000099"/>
                </a:solidFill>
                <a:ea typeface="黑体" panose="02010609060101010101" pitchFamily="49" charset="-122"/>
              </a:rPr>
              <a:t>1</a:t>
            </a:r>
            <a:r>
              <a:rPr lang="zh-CN" altLang="zh-CN" sz="2800" b="1">
                <a:solidFill>
                  <a:srgbClr val="000099"/>
                </a:solidFill>
                <a:ea typeface="黑体" panose="02010609060101010101" pitchFamily="49" charset="-122"/>
              </a:rPr>
              <a:t>。</a:t>
            </a:r>
            <a:endParaRPr lang="en-US" altLang="zh-CN" sz="2800" b="1">
              <a:solidFill>
                <a:srgbClr val="000099"/>
              </a:solidFill>
              <a:ea typeface="黑体" panose="02010609060101010101" pitchFamily="49" charset="-122"/>
            </a:endParaRPr>
          </a:p>
          <a:p>
            <a:r>
              <a:rPr lang="zh-CN" altLang="zh-CN" sz="2800" b="1">
                <a:solidFill>
                  <a:srgbClr val="000099"/>
                </a:solidFill>
                <a:ea typeface="黑体" panose="02010609060101010101" pitchFamily="49" charset="-122"/>
              </a:rPr>
              <a:t>当拥塞窗口</a:t>
            </a:r>
            <a:r>
              <a:rPr lang="en-US" altLang="zh-CN" sz="2800" b="1">
                <a:solidFill>
                  <a:srgbClr val="000099"/>
                </a:solidFill>
                <a:ea typeface="黑体" panose="02010609060101010101" pitchFamily="49" charset="-122"/>
              </a:rPr>
              <a:t>cwnd = ssthresh = 12</a:t>
            </a:r>
            <a:r>
              <a:rPr lang="zh-CN" altLang="zh-CN" sz="2800" b="1">
                <a:solidFill>
                  <a:srgbClr val="000099"/>
                </a:solidFill>
                <a:ea typeface="黑体" panose="02010609060101010101" pitchFamily="49" charset="-122"/>
              </a:rPr>
              <a:t>时（图中的点</a:t>
            </a:r>
            <a:r>
              <a:rPr lang="en-US" altLang="zh-CN" sz="2800" b="1">
                <a:solidFill>
                  <a:srgbClr val="000099"/>
                </a:solidFill>
                <a:ea typeface="黑体" panose="02010609060101010101" pitchFamily="49" charset="-122"/>
                <a:sym typeface="Wingdings" panose="05000000000000000000" pitchFamily="2" charset="2"/>
              </a:rPr>
              <a:t></a:t>
            </a:r>
            <a:r>
              <a:rPr lang="zh-CN" altLang="zh-CN" sz="2800" b="1">
                <a:solidFill>
                  <a:srgbClr val="000099"/>
                </a:solidFill>
                <a:ea typeface="黑体" panose="02010609060101010101" pitchFamily="49" charset="-122"/>
              </a:rPr>
              <a:t>，这是新的</a:t>
            </a:r>
            <a:r>
              <a:rPr lang="en-US" altLang="zh-CN" sz="2800" b="1">
                <a:solidFill>
                  <a:srgbClr val="000099"/>
                </a:solidFill>
                <a:ea typeface="黑体" panose="02010609060101010101" pitchFamily="49" charset="-122"/>
              </a:rPr>
              <a:t>ssthresh</a:t>
            </a:r>
            <a:r>
              <a:rPr lang="zh-CN" altLang="zh-CN" sz="2800" b="1">
                <a:solidFill>
                  <a:srgbClr val="000099"/>
                </a:solidFill>
                <a:ea typeface="黑体" panose="02010609060101010101" pitchFamily="49" charset="-122"/>
              </a:rPr>
              <a:t>值），改为执行</a:t>
            </a:r>
            <a:r>
              <a:rPr lang="zh-CN" altLang="zh-CN" sz="2800" b="1">
                <a:solidFill>
                  <a:srgbClr val="FF0000"/>
                </a:solidFill>
                <a:ea typeface="黑体" panose="02010609060101010101" pitchFamily="49" charset="-122"/>
              </a:rPr>
              <a:t>拥塞避免</a:t>
            </a:r>
            <a:r>
              <a:rPr lang="zh-CN" altLang="zh-CN" sz="2800" b="1">
                <a:solidFill>
                  <a:srgbClr val="000099"/>
                </a:solidFill>
                <a:ea typeface="黑体" panose="02010609060101010101" pitchFamily="49" charset="-122"/>
              </a:rPr>
              <a:t>算法，拥塞窗口</a:t>
            </a:r>
            <a:r>
              <a:rPr lang="zh-CN" altLang="zh-CN" sz="2800" b="1">
                <a:solidFill>
                  <a:srgbClr val="FF0000"/>
                </a:solidFill>
                <a:ea typeface="黑体" panose="02010609060101010101" pitchFamily="49" charset="-122"/>
              </a:rPr>
              <a:t>按线性规律增大。</a:t>
            </a:r>
          </a:p>
        </p:txBody>
      </p:sp>
      <p:sp>
        <p:nvSpPr>
          <p:cNvPr id="153919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5719C7B-58C3-44C9-A702-36F8BDB98EDA}" type="slidenum">
              <a:rPr lang="zh-CN" altLang="en-US" smtClean="0"/>
              <a:pPr/>
              <a:t>43</a:t>
            </a:fld>
            <a:endParaRPr lang="en-US" altLang="zh-CN" smtClean="0"/>
          </a:p>
        </p:txBody>
      </p:sp>
      <p:sp>
        <p:nvSpPr>
          <p:cNvPr id="153919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41122" name="组合 2"/>
          <p:cNvGrpSpPr>
            <a:grpSpLocks/>
          </p:cNvGrpSpPr>
          <p:nvPr/>
        </p:nvGrpSpPr>
        <p:grpSpPr bwMode="auto">
          <a:xfrm>
            <a:off x="273050" y="836613"/>
            <a:ext cx="9536113" cy="3321050"/>
            <a:chOff x="272479" y="836711"/>
            <a:chExt cx="9536759" cy="3321087"/>
          </a:xfrm>
        </p:grpSpPr>
        <p:sp>
          <p:nvSpPr>
            <p:cNvPr id="103"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50"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41206"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41211"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41212"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41218" name="直接连接符 134"/>
            <p:cNvCxnSpPr>
              <a:cxnSpLocks noChangeShapeType="1"/>
              <a:stCxn id="295" idx="4"/>
              <a:endCxn id="299"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1"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41225" name="直接连接符 153"/>
            <p:cNvCxnSpPr>
              <a:cxnSpLocks noChangeShapeType="1"/>
              <a:stCxn id="295" idx="4"/>
              <a:endCxn id="299"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41226" name="直接连接符 157"/>
            <p:cNvCxnSpPr>
              <a:cxnSpLocks noChangeShapeType="1"/>
              <a:stCxn id="295" idx="4"/>
              <a:endCxn id="299"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41227" name="直接连接符 141"/>
            <p:cNvCxnSpPr>
              <a:cxnSpLocks noChangeShapeType="1"/>
              <a:stCxn id="295" idx="4"/>
              <a:endCxn id="299"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41233" name="直接连接符 117"/>
            <p:cNvCxnSpPr>
              <a:cxnSpLocks noChangeShapeType="1"/>
              <a:stCxn id="295" idx="4"/>
              <a:endCxn id="299"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41234" name="直接连接符 119"/>
            <p:cNvCxnSpPr>
              <a:cxnSpLocks noChangeShapeType="1"/>
              <a:stCxn id="295" idx="4"/>
              <a:endCxn id="299"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000000"/>
                  </a:solidFill>
                </a:rPr>
                <a:t>4</a:t>
              </a:r>
            </a:p>
          </p:txBody>
        </p:sp>
      </p:grpSp>
      <p:sp>
        <p:nvSpPr>
          <p:cNvPr id="276" name="Line 167"/>
          <p:cNvSpPr>
            <a:spLocks noChangeShapeType="1"/>
          </p:cNvSpPr>
          <p:nvPr/>
        </p:nvSpPr>
        <p:spPr bwMode="auto">
          <a:xfrm flipV="1">
            <a:off x="6569075" y="2227263"/>
            <a:ext cx="236538" cy="481012"/>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41237" name="Text Box 101"/>
          <p:cNvSpPr txBox="1">
            <a:spLocks noChangeArrowheads="1"/>
          </p:cNvSpPr>
          <p:nvPr/>
        </p:nvSpPr>
        <p:spPr bwMode="auto">
          <a:xfrm>
            <a:off x="842963" y="4292600"/>
            <a:ext cx="86550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a:solidFill>
                  <a:srgbClr val="000099"/>
                </a:solidFill>
                <a:ea typeface="黑体" panose="02010609060101010101" pitchFamily="49" charset="-122"/>
              </a:rPr>
              <a:t>当拥塞窗口</a:t>
            </a:r>
            <a:r>
              <a:rPr lang="en-US" altLang="zh-CN" sz="2800" b="1">
                <a:solidFill>
                  <a:srgbClr val="000099"/>
                </a:solidFill>
                <a:ea typeface="黑体" panose="02010609060101010101" pitchFamily="49" charset="-122"/>
              </a:rPr>
              <a:t>cwnd = 16</a:t>
            </a:r>
            <a:r>
              <a:rPr lang="zh-CN" altLang="zh-CN" sz="2800" b="1">
                <a:solidFill>
                  <a:srgbClr val="000099"/>
                </a:solidFill>
                <a:ea typeface="黑体" panose="02010609060101010101" pitchFamily="49" charset="-122"/>
              </a:rPr>
              <a:t>时（图中的点</a:t>
            </a:r>
            <a:r>
              <a:rPr lang="en-US" altLang="zh-CN" sz="2800" b="1">
                <a:solidFill>
                  <a:srgbClr val="000099"/>
                </a:solidFill>
                <a:ea typeface="黑体" panose="02010609060101010101" pitchFamily="49" charset="-122"/>
                <a:sym typeface="Wingdings" panose="05000000000000000000" pitchFamily="2" charset="2"/>
              </a:rPr>
              <a:t></a:t>
            </a:r>
            <a:r>
              <a:rPr lang="zh-CN" altLang="zh-CN" sz="2800" b="1">
                <a:solidFill>
                  <a:srgbClr val="000099"/>
                </a:solidFill>
                <a:ea typeface="黑体" panose="02010609060101010101" pitchFamily="49" charset="-122"/>
              </a:rPr>
              <a:t>），出现了一个新的情况，就是发送方一连收到</a:t>
            </a:r>
            <a:r>
              <a:rPr lang="en-US" altLang="zh-CN" sz="2800" b="1">
                <a:solidFill>
                  <a:srgbClr val="000099"/>
                </a:solidFill>
                <a:ea typeface="黑体" panose="02010609060101010101" pitchFamily="49" charset="-122"/>
              </a:rPr>
              <a:t> 3 </a:t>
            </a:r>
            <a:r>
              <a:rPr lang="zh-CN" altLang="zh-CN" sz="2800" b="1">
                <a:solidFill>
                  <a:srgbClr val="000099"/>
                </a:solidFill>
                <a:ea typeface="黑体" panose="02010609060101010101" pitchFamily="49" charset="-122"/>
              </a:rPr>
              <a:t>个对同一个报文段的重复确认（图中记为</a:t>
            </a:r>
            <a:r>
              <a:rPr lang="en-US" altLang="zh-CN" sz="2800" b="1">
                <a:solidFill>
                  <a:srgbClr val="000099"/>
                </a:solidFill>
                <a:ea typeface="黑体" panose="02010609060101010101" pitchFamily="49" charset="-122"/>
              </a:rPr>
              <a:t>3-ACK</a:t>
            </a:r>
            <a:r>
              <a:rPr lang="zh-CN" altLang="zh-CN" sz="2800" b="1">
                <a:solidFill>
                  <a:srgbClr val="000099"/>
                </a:solidFill>
                <a:ea typeface="黑体" panose="02010609060101010101" pitchFamily="49" charset="-122"/>
              </a:rPr>
              <a:t>）。</a:t>
            </a:r>
            <a:r>
              <a:rPr lang="zh-CN" altLang="en-US" sz="2800" b="1">
                <a:solidFill>
                  <a:srgbClr val="000099"/>
                </a:solidFill>
                <a:ea typeface="黑体" panose="02010609060101010101" pitchFamily="49" charset="-122"/>
              </a:rPr>
              <a:t>发送方改为执行</a:t>
            </a:r>
            <a:r>
              <a:rPr lang="zh-CN" altLang="en-US" sz="2800" b="1">
                <a:solidFill>
                  <a:srgbClr val="FF0000"/>
                </a:solidFill>
                <a:ea typeface="黑体" panose="02010609060101010101" pitchFamily="49" charset="-122"/>
              </a:rPr>
              <a:t>快重传和快恢复算法。</a:t>
            </a:r>
            <a:endParaRPr lang="en-US" altLang="zh-CN" sz="2800" b="1">
              <a:solidFill>
                <a:srgbClr val="FF0000"/>
              </a:solidFill>
              <a:ea typeface="黑体" panose="02010609060101010101" pitchFamily="49" charset="-122"/>
            </a:endParaRPr>
          </a:p>
        </p:txBody>
      </p:sp>
      <p:sp>
        <p:nvSpPr>
          <p:cNvPr id="154123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22FD1B6-E26E-4F6B-80BC-086B231D369E}" type="slidenum">
              <a:rPr lang="zh-CN" altLang="en-US" smtClean="0"/>
              <a:pPr/>
              <a:t>44</a:t>
            </a:fld>
            <a:endParaRPr lang="en-US" altLang="zh-CN" smtClean="0"/>
          </a:p>
        </p:txBody>
      </p:sp>
      <p:sp>
        <p:nvSpPr>
          <p:cNvPr id="154123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16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快重传算法</a:t>
            </a:r>
          </a:p>
        </p:txBody>
      </p:sp>
      <p:sp>
        <p:nvSpPr>
          <p:cNvPr id="1543170"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采用</a:t>
            </a:r>
            <a:r>
              <a:rPr lang="zh-CN" altLang="zh-CN" u="sng" dirty="0" smtClean="0">
                <a:solidFill>
                  <a:srgbClr val="FF0000"/>
                </a:solidFill>
                <a:ea typeface="黑体" panose="02010609060101010101" pitchFamily="49" charset="-122"/>
              </a:rPr>
              <a:t>快重传</a:t>
            </a:r>
            <a:r>
              <a:rPr lang="en-US" altLang="zh-CN" u="sng" dirty="0" smtClean="0">
                <a:solidFill>
                  <a:srgbClr val="FF0000"/>
                </a:solidFill>
                <a:ea typeface="黑体" panose="02010609060101010101" pitchFamily="49" charset="-122"/>
              </a:rPr>
              <a:t>FR</a:t>
            </a:r>
            <a:r>
              <a:rPr lang="en-US" altLang="zh-CN" u="sng" dirty="0" smtClean="0">
                <a:ea typeface="黑体" panose="02010609060101010101" pitchFamily="49" charset="-122"/>
              </a:rPr>
              <a:t> (Fast Retransmission) </a:t>
            </a:r>
            <a:r>
              <a:rPr lang="zh-CN" altLang="zh-CN" dirty="0" smtClean="0">
                <a:ea typeface="黑体" panose="02010609060101010101" pitchFamily="49" charset="-122"/>
              </a:rPr>
              <a:t>算法可以让发送方</a:t>
            </a:r>
            <a:r>
              <a:rPr lang="zh-CN" altLang="zh-CN" dirty="0" smtClean="0">
                <a:solidFill>
                  <a:srgbClr val="FF0000"/>
                </a:solidFill>
                <a:ea typeface="黑体" panose="02010609060101010101" pitchFamily="49" charset="-122"/>
              </a:rPr>
              <a:t>尽早知道发生了个别报文段的丢失。</a:t>
            </a:r>
            <a:endParaRPr lang="en-US" altLang="zh-CN" dirty="0" smtClean="0">
              <a:solidFill>
                <a:srgbClr val="FF0000"/>
              </a:solidFill>
              <a:ea typeface="黑体" panose="02010609060101010101" pitchFamily="49" charset="-122"/>
            </a:endParaRPr>
          </a:p>
          <a:p>
            <a:r>
              <a:rPr lang="zh-CN" altLang="en-US" dirty="0" smtClean="0">
                <a:solidFill>
                  <a:srgbClr val="FF0000"/>
                </a:solidFill>
                <a:ea typeface="黑体" panose="02010609060101010101" pitchFamily="49" charset="-122"/>
              </a:rPr>
              <a:t>快重传 </a:t>
            </a:r>
            <a:endParaRPr lang="en-US" altLang="zh-CN" dirty="0" smtClean="0">
              <a:solidFill>
                <a:srgbClr val="FF0000"/>
              </a:solidFill>
              <a:ea typeface="黑体" panose="02010609060101010101" pitchFamily="49" charset="-122"/>
            </a:endParaRPr>
          </a:p>
          <a:p>
            <a:pPr marL="0" indent="0">
              <a:buNone/>
            </a:pPr>
            <a:r>
              <a:rPr lang="en-US" altLang="zh-CN" dirty="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      </a:t>
            </a:r>
            <a:r>
              <a:rPr lang="zh-CN" altLang="en-US" dirty="0" smtClean="0">
                <a:ea typeface="黑体" panose="02010609060101010101" pitchFamily="49" charset="-122"/>
              </a:rPr>
              <a:t>算法</a:t>
            </a:r>
            <a:r>
              <a:rPr lang="zh-CN" altLang="zh-CN" dirty="0" smtClean="0">
                <a:ea typeface="黑体" panose="02010609060101010101" pitchFamily="49" charset="-122"/>
              </a:rPr>
              <a:t>首先要求接收方不要等待自己发送数据时才进行捎带确认，而是要</a:t>
            </a:r>
            <a:r>
              <a:rPr lang="zh-CN" altLang="zh-CN" dirty="0" smtClean="0">
                <a:solidFill>
                  <a:srgbClr val="0000FF"/>
                </a:solidFill>
                <a:ea typeface="黑体" panose="02010609060101010101" pitchFamily="49" charset="-122"/>
              </a:rPr>
              <a:t>立即发送确认</a:t>
            </a:r>
            <a:r>
              <a:rPr lang="zh-CN" altLang="zh-CN" dirty="0" smtClean="0">
                <a:ea typeface="黑体" panose="02010609060101010101" pitchFamily="49" charset="-122"/>
              </a:rPr>
              <a:t>，即使收到了失序的报文段也要立即发出对</a:t>
            </a:r>
            <a:r>
              <a:rPr lang="zh-CN" altLang="zh-CN" dirty="0" smtClean="0">
                <a:solidFill>
                  <a:srgbClr val="0000FF"/>
                </a:solidFill>
                <a:ea typeface="黑体" panose="02010609060101010101" pitchFamily="49" charset="-122"/>
              </a:rPr>
              <a:t>已收到的报文段</a:t>
            </a:r>
            <a:r>
              <a:rPr lang="zh-CN" altLang="zh-CN" dirty="0" smtClean="0">
                <a:ea typeface="黑体" panose="02010609060101010101" pitchFamily="49" charset="-122"/>
              </a:rPr>
              <a:t>的重复确认。</a:t>
            </a:r>
            <a:endParaRPr lang="en-US" altLang="zh-CN" dirty="0" smtClean="0">
              <a:ea typeface="黑体" panose="02010609060101010101" pitchFamily="49" charset="-122"/>
            </a:endParaRPr>
          </a:p>
        </p:txBody>
      </p:sp>
      <p:sp>
        <p:nvSpPr>
          <p:cNvPr id="15431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07A4B5B-0C09-4BC9-8EF0-EA82E31E2DA1}" type="slidenum">
              <a:rPr lang="zh-CN" altLang="en-US" smtClean="0"/>
              <a:pPr eaLnBrk="1" hangingPunct="1"/>
              <a:t>45</a:t>
            </a:fld>
            <a:endParaRPr lang="en-US" altLang="zh-CN" smtClean="0"/>
          </a:p>
        </p:txBody>
      </p:sp>
      <p:sp>
        <p:nvSpPr>
          <p:cNvPr id="15431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52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快重传算法</a:t>
            </a:r>
          </a:p>
        </p:txBody>
      </p:sp>
      <p:sp>
        <p:nvSpPr>
          <p:cNvPr id="1545218" name="Rectangle 3"/>
          <p:cNvSpPr>
            <a:spLocks noGrp="1" noChangeArrowheads="1"/>
          </p:cNvSpPr>
          <p:nvPr>
            <p:ph idx="1"/>
          </p:nvPr>
        </p:nvSpPr>
        <p:spPr>
          <a:xfrm>
            <a:off x="495300" y="1196975"/>
            <a:ext cx="9066213" cy="4933950"/>
          </a:xfrm>
        </p:spPr>
        <p:txBody>
          <a:bodyPr/>
          <a:lstStyle/>
          <a:p>
            <a:r>
              <a:rPr lang="zh-CN" altLang="zh-CN" smtClean="0">
                <a:solidFill>
                  <a:srgbClr val="FF0000"/>
                </a:solidFill>
                <a:ea typeface="黑体" panose="02010609060101010101" pitchFamily="49" charset="-122"/>
              </a:rPr>
              <a:t>发送方只要一连收到三个重复确认，</a:t>
            </a:r>
            <a:r>
              <a:rPr lang="zh-CN" altLang="zh-CN" smtClean="0">
                <a:ea typeface="黑体" panose="02010609060101010101" pitchFamily="49" charset="-122"/>
              </a:rPr>
              <a:t>就知道接收方确实没有收到报文段，因而应当</a:t>
            </a:r>
            <a:r>
              <a:rPr lang="zh-CN" altLang="zh-CN" smtClean="0">
                <a:solidFill>
                  <a:srgbClr val="FF0000"/>
                </a:solidFill>
                <a:ea typeface="黑体" panose="02010609060101010101" pitchFamily="49" charset="-122"/>
              </a:rPr>
              <a:t>立即进行重传（即“快重传”），</a:t>
            </a:r>
            <a:r>
              <a:rPr lang="zh-CN" altLang="zh-CN" smtClean="0">
                <a:ea typeface="黑体" panose="02010609060101010101" pitchFamily="49" charset="-122"/>
              </a:rPr>
              <a:t>这样就不会出现超时，发送方也不就会误认为出现了网络拥塞。</a:t>
            </a:r>
            <a:endParaRPr lang="en-US" altLang="zh-CN" smtClean="0">
              <a:ea typeface="黑体" panose="02010609060101010101" pitchFamily="49" charset="-122"/>
            </a:endParaRPr>
          </a:p>
          <a:p>
            <a:r>
              <a:rPr lang="zh-CN" altLang="zh-CN" smtClean="0">
                <a:ea typeface="黑体" panose="02010609060101010101" pitchFamily="49" charset="-122"/>
              </a:rPr>
              <a:t>使用快重传可以使整个网络的吞吐量提高约</a:t>
            </a:r>
            <a:r>
              <a:rPr lang="en-US" altLang="zh-CN" smtClean="0">
                <a:ea typeface="黑体" panose="02010609060101010101" pitchFamily="49" charset="-122"/>
              </a:rPr>
              <a:t>20%</a:t>
            </a:r>
            <a:r>
              <a:rPr lang="zh-CN" altLang="zh-CN" smtClean="0">
                <a:ea typeface="黑体" panose="02010609060101010101" pitchFamily="49" charset="-122"/>
              </a:rPr>
              <a:t>。</a:t>
            </a:r>
            <a:r>
              <a:rPr lang="zh-CN" altLang="en-US" smtClean="0">
                <a:ea typeface="黑体" panose="02010609060101010101" pitchFamily="49" charset="-122"/>
              </a:rPr>
              <a:t> </a:t>
            </a:r>
          </a:p>
        </p:txBody>
      </p:sp>
      <p:sp>
        <p:nvSpPr>
          <p:cNvPr id="1545219" name="矩形 1"/>
          <p:cNvSpPr>
            <a:spLocks noChangeArrowheads="1"/>
          </p:cNvSpPr>
          <p:nvPr/>
        </p:nvSpPr>
        <p:spPr bwMode="auto">
          <a:xfrm>
            <a:off x="849313" y="4684713"/>
            <a:ext cx="8567737" cy="1128712"/>
          </a:xfrm>
          <a:prstGeom prst="rect">
            <a:avLst/>
          </a:prstGeom>
          <a:solidFill>
            <a:srgbClr val="66FF66"/>
          </a:solidFill>
          <a:ln w="9525">
            <a:solidFill>
              <a:schemeClr val="tx1"/>
            </a:solidFill>
            <a:round/>
            <a:headEnd/>
            <a:tailEnd/>
          </a:ln>
        </p:spPr>
        <p:txBody>
          <a:bodyPr>
            <a:spAutoFit/>
          </a:bodyPr>
          <a:lstStyle/>
          <a:p>
            <a:pPr algn="just">
              <a:lnSpc>
                <a:spcPct val="110000"/>
              </a:lnSpc>
            </a:pPr>
            <a:r>
              <a:rPr lang="zh-CN" altLang="en-US" sz="3200" b="1">
                <a:ea typeface="黑体" panose="02010609060101010101" pitchFamily="49" charset="-122"/>
              </a:rPr>
              <a:t>不难看出，快重传并非取消重传计时器，而是在某些情况下可</a:t>
            </a:r>
            <a:r>
              <a:rPr lang="zh-CN" altLang="en-US" sz="3200" b="1">
                <a:solidFill>
                  <a:srgbClr val="FF0000"/>
                </a:solidFill>
                <a:ea typeface="黑体" panose="02010609060101010101" pitchFamily="49" charset="-122"/>
              </a:rPr>
              <a:t>更早地重传</a:t>
            </a:r>
            <a:r>
              <a:rPr lang="zh-CN" altLang="en-US" sz="3200" b="1">
                <a:ea typeface="黑体" panose="02010609060101010101" pitchFamily="49" charset="-122"/>
              </a:rPr>
              <a:t>丢失的报文段。 </a:t>
            </a:r>
          </a:p>
        </p:txBody>
      </p:sp>
      <p:sp>
        <p:nvSpPr>
          <p:cNvPr id="154522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EF6628-F6AD-431A-A454-CA7B3075E7B8}" type="slidenum">
              <a:rPr lang="zh-CN" altLang="en-US" smtClean="0"/>
              <a:pPr eaLnBrk="1" hangingPunct="1"/>
              <a:t>46</a:t>
            </a:fld>
            <a:endParaRPr lang="en-US" altLang="zh-CN" smtClean="0"/>
          </a:p>
        </p:txBody>
      </p:sp>
      <p:sp>
        <p:nvSpPr>
          <p:cNvPr id="154522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2"/>
          <p:cNvSpPr txBox="1">
            <a:spLocks noChangeArrowheads="1"/>
          </p:cNvSpPr>
          <p:nvPr/>
        </p:nvSpPr>
        <p:spPr bwMode="auto">
          <a:xfrm>
            <a:off x="1208088" y="152400"/>
            <a:ext cx="7397750" cy="585788"/>
          </a:xfrm>
          <a:prstGeom prst="rect">
            <a:avLst/>
          </a:prstGeom>
          <a:solidFill>
            <a:srgbClr val="FFFF99"/>
          </a:solidFill>
          <a:ln>
            <a:solidFill>
              <a:srgbClr val="3333CC"/>
            </a:solidFill>
            <a:miter lim="800000"/>
          </a:ln>
          <a:effectLst>
            <a:outerShdw dist="35921" dir="2700000" algn="ctr" rotWithShape="0">
              <a:srgbClr val="1C1C1C"/>
            </a:outerShdw>
          </a:effec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4000" kern="0" dirty="0">
                <a:solidFill>
                  <a:srgbClr val="000099"/>
                </a:solidFill>
                <a:latin typeface="Tahoma" panose="020B0604030504040204"/>
                <a:ea typeface="黑体" panose="02010609060101010101" pitchFamily="2" charset="-122"/>
              </a:rPr>
              <a:t>快重传举例</a:t>
            </a:r>
          </a:p>
        </p:txBody>
      </p:sp>
      <p:sp>
        <p:nvSpPr>
          <p:cNvPr id="51" name="Text Box 3"/>
          <p:cNvSpPr txBox="1">
            <a:spLocks noChangeArrowheads="1"/>
          </p:cNvSpPr>
          <p:nvPr/>
        </p:nvSpPr>
        <p:spPr bwMode="auto">
          <a:xfrm>
            <a:off x="3590925" y="1052513"/>
            <a:ext cx="8747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a:solidFill>
                  <a:srgbClr val="000099"/>
                </a:solidFill>
                <a:ea typeface="黑体" panose="02010609060101010101" pitchFamily="2" charset="-122"/>
              </a:rPr>
              <a:t>发送方</a:t>
            </a:r>
          </a:p>
        </p:txBody>
      </p:sp>
      <p:sp>
        <p:nvSpPr>
          <p:cNvPr id="52" name="Text Box 4"/>
          <p:cNvSpPr txBox="1">
            <a:spLocks noChangeArrowheads="1"/>
          </p:cNvSpPr>
          <p:nvPr/>
        </p:nvSpPr>
        <p:spPr bwMode="auto">
          <a:xfrm>
            <a:off x="6881813" y="1114425"/>
            <a:ext cx="874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a:solidFill>
                  <a:srgbClr val="000099"/>
                </a:solidFill>
                <a:ea typeface="黑体" panose="02010609060101010101" pitchFamily="2" charset="-122"/>
              </a:rPr>
              <a:t>接收方</a:t>
            </a:r>
          </a:p>
        </p:txBody>
      </p:sp>
      <p:sp>
        <p:nvSpPr>
          <p:cNvPr id="53" name="Text Box 5"/>
          <p:cNvSpPr txBox="1">
            <a:spLocks noChangeArrowheads="1"/>
          </p:cNvSpPr>
          <p:nvPr/>
        </p:nvSpPr>
        <p:spPr bwMode="auto">
          <a:xfrm>
            <a:off x="3076575" y="1474788"/>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a:solidFill>
                  <a:srgbClr val="000099"/>
                </a:solidFill>
                <a:ea typeface="黑体" panose="02010609060101010101" pitchFamily="2" charset="-122"/>
              </a:rPr>
              <a:t>发送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1</a:t>
            </a:r>
          </a:p>
        </p:txBody>
      </p:sp>
      <p:sp>
        <p:nvSpPr>
          <p:cNvPr id="54" name="Line 6"/>
          <p:cNvSpPr>
            <a:spLocks noChangeShapeType="1"/>
          </p:cNvSpPr>
          <p:nvPr/>
        </p:nvSpPr>
        <p:spPr bwMode="auto">
          <a:xfrm>
            <a:off x="4054475" y="1724025"/>
            <a:ext cx="3400425"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55" name="Line 7"/>
          <p:cNvSpPr>
            <a:spLocks noChangeShapeType="1"/>
          </p:cNvSpPr>
          <p:nvPr/>
        </p:nvSpPr>
        <p:spPr bwMode="auto">
          <a:xfrm flipH="1">
            <a:off x="4054475" y="2160588"/>
            <a:ext cx="3400425" cy="314325"/>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56" name="Text Box 8"/>
          <p:cNvSpPr txBox="1">
            <a:spLocks noChangeArrowheads="1"/>
          </p:cNvSpPr>
          <p:nvPr/>
        </p:nvSpPr>
        <p:spPr bwMode="auto">
          <a:xfrm>
            <a:off x="7353300" y="1979613"/>
            <a:ext cx="1079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1800" kern="0">
                <a:solidFill>
                  <a:srgbClr val="000099"/>
                </a:solidFill>
                <a:ea typeface="黑体" panose="02010609060101010101" pitchFamily="2" charset="-122"/>
              </a:rPr>
              <a:t> </a:t>
            </a:r>
            <a:r>
              <a:rPr kumimoji="0" lang="zh-CN" altLang="en-US" sz="1800" kern="0">
                <a:solidFill>
                  <a:srgbClr val="000099"/>
                </a:solidFill>
                <a:ea typeface="黑体" panose="02010609060101010101" pitchFamily="2" charset="-122"/>
              </a:rPr>
              <a:t>确认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1</a:t>
            </a:r>
            <a:endParaRPr kumimoji="0" lang="en-US" altLang="zh-CN" sz="1800" kern="0">
              <a:solidFill>
                <a:srgbClr val="000099"/>
              </a:solidFill>
              <a:ea typeface="黑体" panose="02010609060101010101" pitchFamily="2" charset="-122"/>
            </a:endParaRPr>
          </a:p>
        </p:txBody>
      </p:sp>
      <p:sp>
        <p:nvSpPr>
          <p:cNvPr id="57" name="Text Box 9"/>
          <p:cNvSpPr txBox="1">
            <a:spLocks noChangeArrowheads="1"/>
          </p:cNvSpPr>
          <p:nvPr/>
        </p:nvSpPr>
        <p:spPr bwMode="auto">
          <a:xfrm>
            <a:off x="4060825" y="5599113"/>
            <a:ext cx="279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1800" i="1" kern="0">
                <a:solidFill>
                  <a:srgbClr val="000099"/>
                </a:solidFill>
                <a:ea typeface="黑体" panose="02010609060101010101" pitchFamily="2" charset="-122"/>
              </a:rPr>
              <a:t>t</a:t>
            </a:r>
          </a:p>
        </p:txBody>
      </p:sp>
      <p:grpSp>
        <p:nvGrpSpPr>
          <p:cNvPr id="1547273" name="Group 10"/>
          <p:cNvGrpSpPr>
            <a:grpSpLocks/>
          </p:cNvGrpSpPr>
          <p:nvPr/>
        </p:nvGrpSpPr>
        <p:grpSpPr bwMode="auto">
          <a:xfrm>
            <a:off x="4054475" y="1570038"/>
            <a:ext cx="3400425" cy="4346575"/>
            <a:chOff x="1607" y="677"/>
            <a:chExt cx="1640" cy="2728"/>
          </a:xfrm>
        </p:grpSpPr>
        <p:sp>
          <p:nvSpPr>
            <p:cNvPr id="59" name="Line 11"/>
            <p:cNvSpPr>
              <a:spLocks noChangeShapeType="1"/>
            </p:cNvSpPr>
            <p:nvPr/>
          </p:nvSpPr>
          <p:spPr bwMode="auto">
            <a:xfrm>
              <a:off x="1607" y="677"/>
              <a:ext cx="0" cy="272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60" name="Line 12"/>
            <p:cNvSpPr>
              <a:spLocks noChangeShapeType="1"/>
            </p:cNvSpPr>
            <p:nvPr/>
          </p:nvSpPr>
          <p:spPr bwMode="auto">
            <a:xfrm>
              <a:off x="3247" y="677"/>
              <a:ext cx="0" cy="272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grpSp>
      <p:sp>
        <p:nvSpPr>
          <p:cNvPr id="61" name="Text Box 13"/>
          <p:cNvSpPr txBox="1">
            <a:spLocks noChangeArrowheads="1"/>
          </p:cNvSpPr>
          <p:nvPr/>
        </p:nvSpPr>
        <p:spPr bwMode="auto">
          <a:xfrm>
            <a:off x="7353300" y="2471738"/>
            <a:ext cx="14954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1800" kern="0">
                <a:solidFill>
                  <a:srgbClr val="000099"/>
                </a:solidFill>
                <a:ea typeface="黑体" panose="02010609060101010101" pitchFamily="2" charset="-122"/>
              </a:rPr>
              <a:t> </a:t>
            </a:r>
            <a:r>
              <a:rPr kumimoji="0" lang="zh-CN" altLang="en-US" sz="1800" kern="0">
                <a:solidFill>
                  <a:srgbClr val="000099"/>
                </a:solidFill>
                <a:ea typeface="黑体" panose="02010609060101010101" pitchFamily="2" charset="-122"/>
              </a:rPr>
              <a:t>确认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2 </a:t>
            </a:r>
            <a:endParaRPr kumimoji="0" lang="en-US" altLang="zh-CN" sz="1800" kern="0">
              <a:solidFill>
                <a:srgbClr val="000099"/>
              </a:solidFill>
              <a:ea typeface="黑体" panose="02010609060101010101" pitchFamily="2" charset="-122"/>
            </a:endParaRPr>
          </a:p>
        </p:txBody>
      </p:sp>
      <p:sp>
        <p:nvSpPr>
          <p:cNvPr id="62" name="Line 14"/>
          <p:cNvSpPr>
            <a:spLocks noChangeShapeType="1"/>
          </p:cNvSpPr>
          <p:nvPr/>
        </p:nvSpPr>
        <p:spPr bwMode="auto">
          <a:xfrm flipH="1">
            <a:off x="4054475" y="2684463"/>
            <a:ext cx="3400425" cy="312737"/>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63" name="Line 15"/>
          <p:cNvSpPr>
            <a:spLocks noChangeShapeType="1"/>
          </p:cNvSpPr>
          <p:nvPr/>
        </p:nvSpPr>
        <p:spPr bwMode="auto">
          <a:xfrm flipH="1">
            <a:off x="4054475" y="3729038"/>
            <a:ext cx="3400425" cy="31115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64" name="Line 16"/>
          <p:cNvSpPr>
            <a:spLocks noChangeShapeType="1"/>
          </p:cNvSpPr>
          <p:nvPr/>
        </p:nvSpPr>
        <p:spPr bwMode="auto">
          <a:xfrm flipH="1">
            <a:off x="4054475" y="4248150"/>
            <a:ext cx="3400425" cy="314325"/>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65" name="Line 17"/>
          <p:cNvSpPr>
            <a:spLocks noChangeShapeType="1"/>
          </p:cNvSpPr>
          <p:nvPr/>
        </p:nvSpPr>
        <p:spPr bwMode="auto">
          <a:xfrm flipH="1">
            <a:off x="4054475" y="4767263"/>
            <a:ext cx="3400425" cy="315912"/>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66" name="Text Box 18"/>
          <p:cNvSpPr txBox="1">
            <a:spLocks noChangeArrowheads="1"/>
          </p:cNvSpPr>
          <p:nvPr/>
        </p:nvSpPr>
        <p:spPr bwMode="auto">
          <a:xfrm>
            <a:off x="3076575" y="1978025"/>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a:solidFill>
                  <a:srgbClr val="000099"/>
                </a:solidFill>
                <a:ea typeface="黑体" panose="02010609060101010101" pitchFamily="2" charset="-122"/>
              </a:rPr>
              <a:t>发送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2</a:t>
            </a:r>
          </a:p>
        </p:txBody>
      </p:sp>
      <p:sp>
        <p:nvSpPr>
          <p:cNvPr id="67" name="Text Box 19"/>
          <p:cNvSpPr txBox="1">
            <a:spLocks noChangeArrowheads="1"/>
          </p:cNvSpPr>
          <p:nvPr/>
        </p:nvSpPr>
        <p:spPr bwMode="auto">
          <a:xfrm>
            <a:off x="3076575" y="2487613"/>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a:solidFill>
                  <a:srgbClr val="000099"/>
                </a:solidFill>
                <a:ea typeface="黑体" panose="02010609060101010101" pitchFamily="2" charset="-122"/>
              </a:rPr>
              <a:t>发送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3</a:t>
            </a:r>
          </a:p>
        </p:txBody>
      </p:sp>
      <p:sp>
        <p:nvSpPr>
          <p:cNvPr id="68" name="Text Box 20"/>
          <p:cNvSpPr txBox="1">
            <a:spLocks noChangeArrowheads="1"/>
          </p:cNvSpPr>
          <p:nvPr/>
        </p:nvSpPr>
        <p:spPr bwMode="auto">
          <a:xfrm>
            <a:off x="3076575" y="2994025"/>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a:solidFill>
                  <a:srgbClr val="000099"/>
                </a:solidFill>
                <a:ea typeface="黑体" panose="02010609060101010101" pitchFamily="2" charset="-122"/>
              </a:rPr>
              <a:t>发送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4</a:t>
            </a:r>
          </a:p>
        </p:txBody>
      </p:sp>
      <p:sp>
        <p:nvSpPr>
          <p:cNvPr id="69" name="Line 21"/>
          <p:cNvSpPr>
            <a:spLocks noChangeShapeType="1"/>
          </p:cNvSpPr>
          <p:nvPr/>
        </p:nvSpPr>
        <p:spPr bwMode="auto">
          <a:xfrm>
            <a:off x="4054475" y="3308350"/>
            <a:ext cx="3400425"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70" name="Text Box 22"/>
          <p:cNvSpPr txBox="1">
            <a:spLocks noChangeArrowheads="1"/>
          </p:cNvSpPr>
          <p:nvPr/>
        </p:nvSpPr>
        <p:spPr bwMode="auto">
          <a:xfrm>
            <a:off x="5789613" y="2698750"/>
            <a:ext cx="663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000" kern="0">
                <a:solidFill>
                  <a:srgbClr val="000099"/>
                </a:solidFill>
                <a:ea typeface="黑体" panose="02010609060101010101" pitchFamily="2" charset="-122"/>
              </a:rPr>
              <a:t>   </a:t>
            </a:r>
            <a:r>
              <a:rPr kumimoji="0" lang="zh-CN" altLang="en-US" sz="2000" kern="0">
                <a:solidFill>
                  <a:srgbClr val="000099"/>
                </a:solidFill>
                <a:ea typeface="黑体" panose="02010609060101010101" pitchFamily="2" charset="-122"/>
              </a:rPr>
              <a:t>？</a:t>
            </a:r>
          </a:p>
        </p:txBody>
      </p:sp>
      <p:sp>
        <p:nvSpPr>
          <p:cNvPr id="71" name="Text Box 23"/>
          <p:cNvSpPr txBox="1">
            <a:spLocks noChangeArrowheads="1"/>
          </p:cNvSpPr>
          <p:nvPr/>
        </p:nvSpPr>
        <p:spPr bwMode="auto">
          <a:xfrm>
            <a:off x="3076575" y="3541713"/>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a:solidFill>
                  <a:srgbClr val="000099"/>
                </a:solidFill>
                <a:ea typeface="黑体" panose="02010609060101010101" pitchFamily="2" charset="-122"/>
              </a:rPr>
              <a:t>发送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5</a:t>
            </a:r>
          </a:p>
        </p:txBody>
      </p:sp>
      <p:sp>
        <p:nvSpPr>
          <p:cNvPr id="72" name="Text Box 24"/>
          <p:cNvSpPr txBox="1">
            <a:spLocks noChangeArrowheads="1"/>
          </p:cNvSpPr>
          <p:nvPr/>
        </p:nvSpPr>
        <p:spPr bwMode="auto">
          <a:xfrm>
            <a:off x="3076575" y="4062413"/>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a:solidFill>
                  <a:srgbClr val="000099"/>
                </a:solidFill>
                <a:ea typeface="黑体" panose="02010609060101010101" pitchFamily="2" charset="-122"/>
              </a:rPr>
              <a:t>发送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6</a:t>
            </a:r>
          </a:p>
        </p:txBody>
      </p:sp>
      <p:sp>
        <p:nvSpPr>
          <p:cNvPr id="73" name="Text Box 25"/>
          <p:cNvSpPr txBox="1">
            <a:spLocks noChangeArrowheads="1"/>
          </p:cNvSpPr>
          <p:nvPr/>
        </p:nvSpPr>
        <p:spPr bwMode="auto">
          <a:xfrm>
            <a:off x="7353300" y="3438525"/>
            <a:ext cx="1584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1800" kern="0">
                <a:solidFill>
                  <a:srgbClr val="000099"/>
                </a:solidFill>
                <a:ea typeface="黑体" panose="02010609060101010101" pitchFamily="2" charset="-122"/>
              </a:rPr>
              <a:t> </a:t>
            </a:r>
            <a:r>
              <a:rPr kumimoji="0" lang="zh-CN" altLang="en-US" sz="1800" kern="0">
                <a:solidFill>
                  <a:srgbClr val="000099"/>
                </a:solidFill>
                <a:ea typeface="黑体" panose="02010609060101010101" pitchFamily="2" charset="-122"/>
              </a:rPr>
              <a:t>重复确认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2 </a:t>
            </a:r>
            <a:endParaRPr kumimoji="0" lang="en-US" altLang="zh-CN" sz="1800" kern="0">
              <a:solidFill>
                <a:srgbClr val="000099"/>
              </a:solidFill>
              <a:ea typeface="黑体" panose="02010609060101010101" pitchFamily="2" charset="-122"/>
            </a:endParaRPr>
          </a:p>
        </p:txBody>
      </p:sp>
      <p:grpSp>
        <p:nvGrpSpPr>
          <p:cNvPr id="74" name="Group 26"/>
          <p:cNvGrpSpPr>
            <a:grpSpLocks/>
          </p:cNvGrpSpPr>
          <p:nvPr/>
        </p:nvGrpSpPr>
        <p:grpSpPr bwMode="auto">
          <a:xfrm>
            <a:off x="4054475" y="5073650"/>
            <a:ext cx="3400425" cy="533400"/>
            <a:chOff x="2471" y="3290"/>
            <a:chExt cx="2142" cy="336"/>
          </a:xfrm>
        </p:grpSpPr>
        <p:sp>
          <p:nvSpPr>
            <p:cNvPr id="75" name="Line 27"/>
            <p:cNvSpPr>
              <a:spLocks noChangeShapeType="1"/>
            </p:cNvSpPr>
            <p:nvPr/>
          </p:nvSpPr>
          <p:spPr bwMode="auto">
            <a:xfrm>
              <a:off x="2471" y="3427"/>
              <a:ext cx="2142" cy="199"/>
            </a:xfrm>
            <a:prstGeom prst="line">
              <a:avLst/>
            </a:prstGeom>
            <a:noFill/>
            <a:ln w="38100">
              <a:solidFill>
                <a:srgbClr val="99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76" name="Text Box 28"/>
            <p:cNvSpPr txBox="1">
              <a:spLocks noChangeArrowheads="1"/>
            </p:cNvSpPr>
            <p:nvPr/>
          </p:nvSpPr>
          <p:spPr bwMode="auto">
            <a:xfrm rot="275181">
              <a:off x="3181" y="3290"/>
              <a:ext cx="10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2000" kern="0">
                  <a:solidFill>
                    <a:srgbClr val="000099"/>
                  </a:solidFill>
                  <a:ea typeface="黑体" panose="02010609060101010101" pitchFamily="2" charset="-122"/>
                </a:rPr>
                <a:t>立即重传 </a:t>
              </a:r>
              <a:r>
                <a:rPr kumimoji="0" lang="en-US" altLang="zh-CN" sz="2000" kern="0">
                  <a:solidFill>
                    <a:srgbClr val="000099"/>
                  </a:solidFill>
                  <a:ea typeface="黑体" panose="02010609060101010101" pitchFamily="2" charset="-122"/>
                </a:rPr>
                <a:t>M</a:t>
              </a:r>
              <a:r>
                <a:rPr kumimoji="0" lang="en-US" altLang="zh-CN" sz="2000" kern="0" baseline="-25000">
                  <a:solidFill>
                    <a:srgbClr val="000099"/>
                  </a:solidFill>
                  <a:ea typeface="黑体" panose="02010609060101010101" pitchFamily="2" charset="-122"/>
                </a:rPr>
                <a:t>3</a:t>
              </a:r>
            </a:p>
          </p:txBody>
        </p:sp>
      </p:grpSp>
      <p:sp>
        <p:nvSpPr>
          <p:cNvPr id="77" name="Text Box 29"/>
          <p:cNvSpPr txBox="1">
            <a:spLocks noChangeArrowheads="1"/>
          </p:cNvSpPr>
          <p:nvPr/>
        </p:nvSpPr>
        <p:spPr bwMode="auto">
          <a:xfrm>
            <a:off x="7353300" y="3992563"/>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1800" kern="0">
                <a:solidFill>
                  <a:srgbClr val="000099"/>
                </a:solidFill>
                <a:ea typeface="黑体" panose="02010609060101010101" pitchFamily="2" charset="-122"/>
              </a:rPr>
              <a:t> </a:t>
            </a:r>
            <a:r>
              <a:rPr kumimoji="0" lang="zh-CN" altLang="en-US" sz="1800" kern="0">
                <a:solidFill>
                  <a:srgbClr val="000099"/>
                </a:solidFill>
                <a:ea typeface="黑体" panose="02010609060101010101" pitchFamily="2" charset="-122"/>
              </a:rPr>
              <a:t>重复确认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2 </a:t>
            </a:r>
            <a:endParaRPr kumimoji="0" lang="en-US" altLang="zh-CN" sz="1800" kern="0">
              <a:solidFill>
                <a:srgbClr val="000099"/>
              </a:solidFill>
              <a:ea typeface="黑体" panose="02010609060101010101" pitchFamily="2" charset="-122"/>
            </a:endParaRPr>
          </a:p>
        </p:txBody>
      </p:sp>
      <p:sp>
        <p:nvSpPr>
          <p:cNvPr id="78" name="Text Box 30"/>
          <p:cNvSpPr txBox="1">
            <a:spLocks noChangeArrowheads="1"/>
          </p:cNvSpPr>
          <p:nvPr/>
        </p:nvSpPr>
        <p:spPr bwMode="auto">
          <a:xfrm>
            <a:off x="7353300" y="4514850"/>
            <a:ext cx="1584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1800" kern="0">
                <a:solidFill>
                  <a:srgbClr val="000099"/>
                </a:solidFill>
                <a:ea typeface="黑体" panose="02010609060101010101" pitchFamily="2" charset="-122"/>
              </a:rPr>
              <a:t> </a:t>
            </a:r>
            <a:r>
              <a:rPr kumimoji="0" lang="zh-CN" altLang="en-US" sz="1800" kern="0">
                <a:solidFill>
                  <a:srgbClr val="000099"/>
                </a:solidFill>
                <a:ea typeface="黑体" panose="02010609060101010101" pitchFamily="2" charset="-122"/>
              </a:rPr>
              <a:t>重复确认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2 </a:t>
            </a:r>
            <a:endParaRPr kumimoji="0" lang="en-US" altLang="zh-CN" sz="1800" kern="0">
              <a:solidFill>
                <a:srgbClr val="000099"/>
              </a:solidFill>
              <a:ea typeface="黑体" panose="02010609060101010101" pitchFamily="2" charset="-122"/>
            </a:endParaRPr>
          </a:p>
        </p:txBody>
      </p:sp>
      <p:sp>
        <p:nvSpPr>
          <p:cNvPr id="79" name="Text Box 31"/>
          <p:cNvSpPr txBox="1">
            <a:spLocks noChangeArrowheads="1"/>
          </p:cNvSpPr>
          <p:nvPr/>
        </p:nvSpPr>
        <p:spPr bwMode="auto">
          <a:xfrm>
            <a:off x="7445375" y="5599113"/>
            <a:ext cx="279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1800" i="1" kern="0">
                <a:solidFill>
                  <a:srgbClr val="000099"/>
                </a:solidFill>
                <a:ea typeface="黑体" panose="02010609060101010101" pitchFamily="2" charset="-122"/>
              </a:rPr>
              <a:t>t</a:t>
            </a:r>
          </a:p>
        </p:txBody>
      </p:sp>
      <p:sp>
        <p:nvSpPr>
          <p:cNvPr id="80" name="Line 32"/>
          <p:cNvSpPr>
            <a:spLocks noChangeShapeType="1"/>
          </p:cNvSpPr>
          <p:nvPr/>
        </p:nvSpPr>
        <p:spPr bwMode="auto">
          <a:xfrm>
            <a:off x="4060825" y="4873625"/>
            <a:ext cx="3398838"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81" name="Text Box 33"/>
          <p:cNvSpPr txBox="1">
            <a:spLocks noChangeArrowheads="1"/>
          </p:cNvSpPr>
          <p:nvPr/>
        </p:nvSpPr>
        <p:spPr bwMode="auto">
          <a:xfrm>
            <a:off x="3076575" y="4616450"/>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a:solidFill>
                  <a:srgbClr val="000099"/>
                </a:solidFill>
                <a:ea typeface="黑体" panose="02010609060101010101" pitchFamily="2" charset="-122"/>
              </a:rPr>
              <a:t>发送 </a:t>
            </a:r>
            <a:r>
              <a:rPr kumimoji="0" lang="en-US" altLang="zh-CN" sz="1800" kern="0">
                <a:solidFill>
                  <a:srgbClr val="000099"/>
                </a:solidFill>
                <a:ea typeface="黑体" panose="02010609060101010101" pitchFamily="2" charset="-122"/>
              </a:rPr>
              <a:t>M</a:t>
            </a:r>
            <a:r>
              <a:rPr kumimoji="0" lang="en-US" altLang="zh-CN" sz="1800" kern="0" baseline="-25000">
                <a:solidFill>
                  <a:srgbClr val="000099"/>
                </a:solidFill>
                <a:ea typeface="黑体" panose="02010609060101010101" pitchFamily="2" charset="-122"/>
              </a:rPr>
              <a:t>7</a:t>
            </a:r>
          </a:p>
        </p:txBody>
      </p:sp>
      <p:grpSp>
        <p:nvGrpSpPr>
          <p:cNvPr id="82" name="Group 34"/>
          <p:cNvGrpSpPr>
            <a:grpSpLocks/>
          </p:cNvGrpSpPr>
          <p:nvPr/>
        </p:nvGrpSpPr>
        <p:grpSpPr bwMode="auto">
          <a:xfrm>
            <a:off x="442913" y="3871913"/>
            <a:ext cx="3584575" cy="1349375"/>
            <a:chOff x="340" y="2508"/>
            <a:chExt cx="2114" cy="850"/>
          </a:xfrm>
        </p:grpSpPr>
        <p:grpSp>
          <p:nvGrpSpPr>
            <p:cNvPr id="1547298" name="Group 35"/>
            <p:cNvGrpSpPr>
              <a:grpSpLocks/>
            </p:cNvGrpSpPr>
            <p:nvPr/>
          </p:nvGrpSpPr>
          <p:grpSpPr bwMode="auto">
            <a:xfrm>
              <a:off x="1729" y="2635"/>
              <a:ext cx="725" cy="666"/>
              <a:chOff x="1257" y="1749"/>
              <a:chExt cx="817" cy="460"/>
            </a:xfrm>
          </p:grpSpPr>
          <p:sp>
            <p:nvSpPr>
              <p:cNvPr id="85" name="Line 36"/>
              <p:cNvSpPr>
                <a:spLocks noChangeShapeType="1"/>
              </p:cNvSpPr>
              <p:nvPr/>
            </p:nvSpPr>
            <p:spPr bwMode="auto">
              <a:xfrm>
                <a:off x="1257" y="1749"/>
                <a:ext cx="817" cy="0"/>
              </a:xfrm>
              <a:prstGeom prst="line">
                <a:avLst/>
              </a:prstGeom>
              <a:noFill/>
              <a:ln w="28575">
                <a:solidFill>
                  <a:srgbClr val="3333CC"/>
                </a:solidFill>
                <a:prstDash val="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86" name="Line 37"/>
              <p:cNvSpPr>
                <a:spLocks noChangeShapeType="1"/>
              </p:cNvSpPr>
              <p:nvPr/>
            </p:nvSpPr>
            <p:spPr bwMode="auto">
              <a:xfrm>
                <a:off x="1257" y="1979"/>
                <a:ext cx="817" cy="0"/>
              </a:xfrm>
              <a:prstGeom prst="line">
                <a:avLst/>
              </a:prstGeom>
              <a:noFill/>
              <a:ln w="28575">
                <a:solidFill>
                  <a:srgbClr val="3333CC"/>
                </a:solidFill>
                <a:prstDash val="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87" name="Line 38"/>
              <p:cNvSpPr>
                <a:spLocks noChangeShapeType="1"/>
              </p:cNvSpPr>
              <p:nvPr/>
            </p:nvSpPr>
            <p:spPr bwMode="auto">
              <a:xfrm>
                <a:off x="1257" y="2209"/>
                <a:ext cx="817" cy="0"/>
              </a:xfrm>
              <a:prstGeom prst="line">
                <a:avLst/>
              </a:prstGeom>
              <a:noFill/>
              <a:ln w="28575">
                <a:solidFill>
                  <a:srgbClr val="3333CC"/>
                </a:solidFill>
                <a:prstDash val="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grpSp>
        <p:sp>
          <p:nvSpPr>
            <p:cNvPr id="84" name="Text Box 39"/>
            <p:cNvSpPr txBox="1">
              <a:spLocks noChangeArrowheads="1"/>
            </p:cNvSpPr>
            <p:nvPr/>
          </p:nvSpPr>
          <p:spPr bwMode="auto">
            <a:xfrm>
              <a:off x="340" y="2508"/>
              <a:ext cx="1389" cy="850"/>
            </a:xfrm>
            <a:prstGeom prst="rect">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endParaRPr kumimoji="0" lang="en-US" altLang="zh-CN" sz="900" kern="0">
                <a:solidFill>
                  <a:srgbClr val="000099"/>
                </a:solidFill>
                <a:ea typeface="黑体" panose="02010609060101010101" pitchFamily="2" charset="-122"/>
              </a:endParaRPr>
            </a:p>
            <a:p>
              <a:pPr eaLnBrk="1" fontAlgn="auto" hangingPunct="1">
                <a:spcBef>
                  <a:spcPts val="0"/>
                </a:spcBef>
                <a:spcAft>
                  <a:spcPts val="0"/>
                </a:spcAft>
                <a:defRPr/>
              </a:pPr>
              <a:r>
                <a:rPr kumimoji="0" lang="zh-CN" altLang="en-US" sz="2000" kern="0">
                  <a:solidFill>
                    <a:srgbClr val="000099"/>
                  </a:solidFill>
                  <a:ea typeface="黑体" panose="02010609060101010101" pitchFamily="2" charset="-122"/>
                </a:rPr>
                <a:t>收到三个连续的</a:t>
              </a:r>
            </a:p>
            <a:p>
              <a:pPr eaLnBrk="1" fontAlgn="auto" hangingPunct="1">
                <a:spcBef>
                  <a:spcPts val="0"/>
                </a:spcBef>
                <a:spcAft>
                  <a:spcPts val="0"/>
                </a:spcAft>
                <a:defRPr/>
              </a:pPr>
              <a:r>
                <a:rPr kumimoji="0" lang="zh-CN" altLang="en-US" sz="2000" kern="0">
                  <a:solidFill>
                    <a:srgbClr val="000099"/>
                  </a:solidFill>
                  <a:ea typeface="黑体" panose="02010609060101010101" pitchFamily="2" charset="-122"/>
                </a:rPr>
                <a:t>对 </a:t>
              </a:r>
              <a:r>
                <a:rPr kumimoji="0" lang="en-US" altLang="zh-CN" sz="2000" kern="0">
                  <a:solidFill>
                    <a:srgbClr val="000099"/>
                  </a:solidFill>
                  <a:ea typeface="黑体" panose="02010609060101010101" pitchFamily="2" charset="-122"/>
                </a:rPr>
                <a:t>M</a:t>
              </a:r>
              <a:r>
                <a:rPr kumimoji="0" lang="en-US" altLang="zh-CN" sz="2000" kern="0" baseline="-25000">
                  <a:solidFill>
                    <a:srgbClr val="000099"/>
                  </a:solidFill>
                  <a:ea typeface="黑体" panose="02010609060101010101" pitchFamily="2" charset="-122"/>
                </a:rPr>
                <a:t>2</a:t>
              </a:r>
              <a:r>
                <a:rPr kumimoji="0" lang="en-US" altLang="zh-CN" sz="2000" kern="0">
                  <a:solidFill>
                    <a:srgbClr val="000099"/>
                  </a:solidFill>
                  <a:ea typeface="黑体" panose="02010609060101010101" pitchFamily="2" charset="-122"/>
                </a:rPr>
                <a:t> </a:t>
              </a:r>
              <a:r>
                <a:rPr kumimoji="0" lang="zh-CN" altLang="en-US" sz="2000" kern="0">
                  <a:solidFill>
                    <a:srgbClr val="000099"/>
                  </a:solidFill>
                  <a:ea typeface="黑体" panose="02010609060101010101" pitchFamily="2" charset="-122"/>
                </a:rPr>
                <a:t>的重复确认</a:t>
              </a:r>
            </a:p>
            <a:p>
              <a:pPr eaLnBrk="1" fontAlgn="auto" hangingPunct="1">
                <a:spcBef>
                  <a:spcPct val="20000"/>
                </a:spcBef>
                <a:spcAft>
                  <a:spcPts val="0"/>
                </a:spcAft>
                <a:defRPr/>
              </a:pPr>
              <a:r>
                <a:rPr kumimoji="0" lang="zh-CN" altLang="en-US" sz="2000" kern="0">
                  <a:solidFill>
                    <a:srgbClr val="000099"/>
                  </a:solidFill>
                  <a:ea typeface="黑体" panose="02010609060101010101" pitchFamily="2" charset="-122"/>
                </a:rPr>
                <a:t>立即重传 </a:t>
              </a:r>
              <a:r>
                <a:rPr kumimoji="0" lang="en-US" altLang="zh-CN" sz="2000" kern="0">
                  <a:solidFill>
                    <a:srgbClr val="000099"/>
                  </a:solidFill>
                  <a:ea typeface="黑体" panose="02010609060101010101" pitchFamily="2" charset="-122"/>
                </a:rPr>
                <a:t>M</a:t>
              </a:r>
              <a:r>
                <a:rPr kumimoji="0" lang="en-US" altLang="zh-CN" sz="2000" kern="0" baseline="-25000">
                  <a:solidFill>
                    <a:srgbClr val="000099"/>
                  </a:solidFill>
                  <a:ea typeface="黑体" panose="02010609060101010101" pitchFamily="2" charset="-122"/>
                </a:rPr>
                <a:t>3</a:t>
              </a:r>
            </a:p>
            <a:p>
              <a:pPr eaLnBrk="1" fontAlgn="auto" hangingPunct="1">
                <a:spcBef>
                  <a:spcPts val="0"/>
                </a:spcBef>
                <a:spcAft>
                  <a:spcPts val="0"/>
                </a:spcAft>
                <a:defRPr/>
              </a:pPr>
              <a:endParaRPr kumimoji="0" lang="en-US" altLang="zh-CN" sz="900" kern="0">
                <a:solidFill>
                  <a:srgbClr val="000099"/>
                </a:solidFill>
                <a:ea typeface="黑体" panose="02010609060101010101" pitchFamily="2" charset="-122"/>
              </a:endParaRPr>
            </a:p>
          </p:txBody>
        </p:sp>
      </p:grpSp>
      <p:sp>
        <p:nvSpPr>
          <p:cNvPr id="88" name="AutoShape 40"/>
          <p:cNvSpPr>
            <a:spLocks noChangeArrowheads="1"/>
          </p:cNvSpPr>
          <p:nvPr/>
        </p:nvSpPr>
        <p:spPr bwMode="auto">
          <a:xfrm>
            <a:off x="5797550" y="2416175"/>
            <a:ext cx="871538" cy="1096963"/>
          </a:xfrm>
          <a:prstGeom prst="irregularSeal1">
            <a:avLst/>
          </a:prstGeom>
          <a:solidFill>
            <a:srgbClr val="FFC000"/>
          </a:solidFill>
          <a:ln w="9525">
            <a:solidFill>
              <a:srgbClr val="FF0000"/>
            </a:solidFill>
            <a:miter lim="800000"/>
          </a:ln>
          <a:effectLst/>
        </p:spPr>
        <p:txBody>
          <a:bodyPr wrap="none" anchor="ctr"/>
          <a:lstStyle/>
          <a:p>
            <a:pPr fontAlgn="auto">
              <a:spcBef>
                <a:spcPts val="0"/>
              </a:spcBef>
              <a:spcAft>
                <a:spcPts val="0"/>
              </a:spcAft>
              <a:defRPr/>
            </a:pPr>
            <a:endParaRPr lang="zh-CN" altLang="en-US" kern="0">
              <a:solidFill>
                <a:srgbClr val="000099"/>
              </a:solidFill>
            </a:endParaRPr>
          </a:p>
        </p:txBody>
      </p:sp>
      <p:sp>
        <p:nvSpPr>
          <p:cNvPr id="89" name="Text Box 41"/>
          <p:cNvSpPr txBox="1">
            <a:spLocks noChangeArrowheads="1"/>
          </p:cNvSpPr>
          <p:nvPr/>
        </p:nvSpPr>
        <p:spPr bwMode="auto">
          <a:xfrm>
            <a:off x="5868988" y="2698750"/>
            <a:ext cx="64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zh-CN" altLang="en-US" sz="1800" kern="0" dirty="0">
                <a:solidFill>
                  <a:srgbClr val="000099"/>
                </a:solidFill>
                <a:ea typeface="黑体" panose="02010609060101010101" pitchFamily="2" charset="-122"/>
              </a:rPr>
              <a:t>丢失</a:t>
            </a:r>
          </a:p>
        </p:txBody>
      </p:sp>
      <p:sp>
        <p:nvSpPr>
          <p:cNvPr id="90" name="Line 42"/>
          <p:cNvSpPr>
            <a:spLocks noChangeShapeType="1"/>
          </p:cNvSpPr>
          <p:nvPr/>
        </p:nvSpPr>
        <p:spPr bwMode="auto">
          <a:xfrm>
            <a:off x="4054475" y="2268538"/>
            <a:ext cx="3400425"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91" name="Line 43"/>
          <p:cNvSpPr>
            <a:spLocks noChangeShapeType="1"/>
          </p:cNvSpPr>
          <p:nvPr/>
        </p:nvSpPr>
        <p:spPr bwMode="auto">
          <a:xfrm>
            <a:off x="4054475" y="2787650"/>
            <a:ext cx="1830388" cy="15875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92" name="Line 44"/>
          <p:cNvSpPr>
            <a:spLocks noChangeShapeType="1"/>
          </p:cNvSpPr>
          <p:nvPr/>
        </p:nvSpPr>
        <p:spPr bwMode="auto">
          <a:xfrm>
            <a:off x="4060825" y="3829050"/>
            <a:ext cx="3398838" cy="315913"/>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93" name="Line 45"/>
          <p:cNvSpPr>
            <a:spLocks noChangeShapeType="1"/>
          </p:cNvSpPr>
          <p:nvPr/>
        </p:nvSpPr>
        <p:spPr bwMode="auto">
          <a:xfrm>
            <a:off x="4060825" y="4351338"/>
            <a:ext cx="3398838"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rgbClr val="000099"/>
              </a:solidFill>
            </a:endParaRPr>
          </a:p>
        </p:txBody>
      </p:sp>
      <p:sp>
        <p:nvSpPr>
          <p:cNvPr id="154730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E75DD54-D1B3-4226-9723-4CD760697E26}" type="slidenum">
              <a:rPr lang="zh-CN" altLang="en-US" smtClean="0"/>
              <a:pPr/>
              <a:t>47</a:t>
            </a:fld>
            <a:endParaRPr lang="en-US" altLang="zh-CN" smtClean="0"/>
          </a:p>
        </p:txBody>
      </p:sp>
      <p:sp>
        <p:nvSpPr>
          <p:cNvPr id="154731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right)">
                                      <p:cBhvr>
                                        <p:cTn id="7" dur="1000"/>
                                        <p:tgtEl>
                                          <p:spTgt spid="82"/>
                                        </p:tgtEl>
                                      </p:cBhvr>
                                    </p:animEffect>
                                  </p:childTnLst>
                                </p:cTn>
                              </p:par>
                            </p:childTnLst>
                          </p:cTn>
                        </p:par>
                        <p:par>
                          <p:cTn id="8" fill="hold" nodeType="afterGroup">
                            <p:stCondLst>
                              <p:cond delay="1000"/>
                            </p:stCondLst>
                            <p:childTnLst>
                              <p:par>
                                <p:cTn id="9" presetID="22" presetClass="entr" presetSubtype="8" fill="hold" nodeType="afterEffect">
                                  <p:stCondLst>
                                    <p:cond delay="500"/>
                                  </p:stCondLst>
                                  <p:childTnLst>
                                    <p:set>
                                      <p:cBhvr>
                                        <p:cTn id="10" dur="1" fill="hold">
                                          <p:stCondLst>
                                            <p:cond delay="0"/>
                                          </p:stCondLst>
                                        </p:cTn>
                                        <p:tgtEl>
                                          <p:spTgt spid="74"/>
                                        </p:tgtEl>
                                        <p:attrNameLst>
                                          <p:attrName>style.visibility</p:attrName>
                                        </p:attrNameLst>
                                      </p:cBhvr>
                                      <p:to>
                                        <p:strVal val="visible"/>
                                      </p:to>
                                    </p:set>
                                    <p:animEffect transition="in" filter="wipe(left)">
                                      <p:cBhvr>
                                        <p:cTn id="11" dur="10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931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快恢复算法</a:t>
            </a:r>
          </a:p>
        </p:txBody>
      </p:sp>
      <p:sp>
        <p:nvSpPr>
          <p:cNvPr id="117765" name="Rectangle 3"/>
          <p:cNvSpPr>
            <a:spLocks noGrp="1" noChangeArrowheads="1"/>
          </p:cNvSpPr>
          <p:nvPr>
            <p:ph type="body" idx="1"/>
          </p:nvPr>
        </p:nvSpPr>
        <p:spPr>
          <a:xfrm>
            <a:off x="495300" y="1196975"/>
            <a:ext cx="9066213" cy="4933950"/>
          </a:xfrm>
        </p:spPr>
        <p:txBody>
          <a:bodyPr/>
          <a:lstStyle/>
          <a:p>
            <a:r>
              <a:rPr lang="zh-CN" altLang="en-US" dirty="0" smtClean="0">
                <a:ea typeface="黑体" panose="02010609060101010101" pitchFamily="49" charset="-122"/>
              </a:rPr>
              <a:t>当发送端收到连续三个重复的确认时，由于发送方现在认为网络很可能没有发生拥塞，因此现在</a:t>
            </a:r>
            <a:r>
              <a:rPr lang="zh-CN" altLang="en-US" dirty="0" smtClean="0">
                <a:solidFill>
                  <a:srgbClr val="FF0000"/>
                </a:solidFill>
                <a:ea typeface="黑体" panose="02010609060101010101" pitchFamily="49" charset="-122"/>
              </a:rPr>
              <a:t>不执行慢开始算法，</a:t>
            </a:r>
            <a:r>
              <a:rPr lang="zh-CN" altLang="en-US" dirty="0" smtClean="0">
                <a:ea typeface="黑体" panose="02010609060101010101" pitchFamily="49" charset="-122"/>
              </a:rPr>
              <a:t>而是执行</a:t>
            </a:r>
            <a:r>
              <a:rPr lang="zh-CN" altLang="en-US" dirty="0" smtClean="0">
                <a:solidFill>
                  <a:srgbClr val="FF0000"/>
                </a:solidFill>
                <a:ea typeface="黑体" panose="02010609060101010101" pitchFamily="49" charset="-122"/>
              </a:rPr>
              <a:t>快恢复算法 </a:t>
            </a:r>
            <a:r>
              <a:rPr lang="en-US" altLang="zh-CN" dirty="0" smtClean="0">
                <a:ea typeface="黑体" panose="02010609060101010101" pitchFamily="49" charset="-122"/>
              </a:rPr>
              <a:t>FR (Fast Recovery) </a:t>
            </a:r>
            <a:r>
              <a:rPr lang="zh-CN" altLang="en-US" dirty="0" smtClean="0">
                <a:ea typeface="黑体" panose="02010609060101010101" pitchFamily="49" charset="-122"/>
              </a:rPr>
              <a:t>算法：</a:t>
            </a:r>
            <a:endParaRPr lang="en-US" altLang="zh-CN" dirty="0" smtClean="0">
              <a:ea typeface="黑体" panose="02010609060101010101" pitchFamily="49" charset="-122"/>
            </a:endParaRPr>
          </a:p>
          <a:p>
            <a:pPr>
              <a:buFont typeface="Wingdings" panose="05000000000000000000" pitchFamily="2" charset="2"/>
              <a:buNone/>
            </a:pPr>
            <a:r>
              <a:rPr lang="en-US" altLang="zh-CN" sz="2800" dirty="0" smtClean="0">
                <a:solidFill>
                  <a:srgbClr val="0000FF"/>
                </a:solidFill>
                <a:ea typeface="黑体" panose="02010609060101010101" pitchFamily="49" charset="-122"/>
              </a:rPr>
              <a:t>	(1</a:t>
            </a:r>
            <a:r>
              <a:rPr lang="en-US" altLang="zh-CN" sz="2800" dirty="0" smtClean="0">
                <a:solidFill>
                  <a:srgbClr val="FF0000"/>
                </a:solidFill>
                <a:ea typeface="黑体" panose="02010609060101010101" pitchFamily="49" charset="-122"/>
              </a:rPr>
              <a:t>) </a:t>
            </a:r>
            <a:r>
              <a:rPr lang="zh-CN" altLang="en-US" sz="2800" dirty="0" smtClean="0">
                <a:solidFill>
                  <a:srgbClr val="FF0000"/>
                </a:solidFill>
                <a:ea typeface="黑体" panose="02010609060101010101" pitchFamily="49" charset="-122"/>
              </a:rPr>
              <a:t>慢开始门限 </a:t>
            </a:r>
            <a:r>
              <a:rPr lang="en-US" altLang="zh-CN" sz="2800" dirty="0" err="1" smtClean="0">
                <a:solidFill>
                  <a:srgbClr val="FF0000"/>
                </a:solidFill>
                <a:ea typeface="黑体" panose="02010609060101010101" pitchFamily="49" charset="-122"/>
              </a:rPr>
              <a:t>ssthresh</a:t>
            </a:r>
            <a:r>
              <a:rPr lang="en-US" altLang="zh-CN" sz="2800" dirty="0" smtClean="0">
                <a:solidFill>
                  <a:srgbClr val="FF0000"/>
                </a:solidFill>
                <a:ea typeface="黑体" panose="02010609060101010101" pitchFamily="49" charset="-122"/>
              </a:rPr>
              <a:t> </a:t>
            </a:r>
            <a:r>
              <a:rPr lang="en-US" altLang="zh-CN" sz="2800" dirty="0" smtClean="0">
                <a:solidFill>
                  <a:srgbClr val="0000FF"/>
                </a:solidFill>
                <a:ea typeface="黑体" panose="02010609060101010101" pitchFamily="49" charset="-122"/>
              </a:rPr>
              <a:t>= </a:t>
            </a:r>
            <a:r>
              <a:rPr lang="zh-CN" altLang="en-US" sz="2800" dirty="0" smtClean="0">
                <a:solidFill>
                  <a:srgbClr val="0000FF"/>
                </a:solidFill>
                <a:ea typeface="黑体" panose="02010609060101010101" pitchFamily="49" charset="-122"/>
              </a:rPr>
              <a:t>当前拥塞窗口 </a:t>
            </a:r>
            <a:r>
              <a:rPr lang="en-US" altLang="zh-CN" sz="2800" dirty="0" err="1" smtClean="0">
                <a:solidFill>
                  <a:srgbClr val="0000FF"/>
                </a:solidFill>
                <a:ea typeface="黑体" panose="02010609060101010101" pitchFamily="49" charset="-122"/>
              </a:rPr>
              <a:t>cwnd</a:t>
            </a:r>
            <a:r>
              <a:rPr lang="en-US" altLang="zh-CN" sz="2800" dirty="0" smtClean="0">
                <a:solidFill>
                  <a:srgbClr val="0000FF"/>
                </a:solidFill>
                <a:ea typeface="黑体" panose="02010609060101010101" pitchFamily="49" charset="-122"/>
              </a:rPr>
              <a:t> / 2 </a:t>
            </a:r>
            <a:r>
              <a:rPr lang="zh-CN" altLang="en-US" sz="2800" dirty="0" smtClean="0">
                <a:solidFill>
                  <a:srgbClr val="0000FF"/>
                </a:solidFill>
                <a:ea typeface="黑体" panose="02010609060101010101" pitchFamily="49" charset="-122"/>
              </a:rPr>
              <a:t>；</a:t>
            </a:r>
            <a:endParaRPr lang="en-US" altLang="zh-CN" sz="2800" dirty="0" smtClean="0">
              <a:solidFill>
                <a:srgbClr val="0000FF"/>
              </a:solidFill>
              <a:ea typeface="黑体" panose="02010609060101010101" pitchFamily="49" charset="-122"/>
            </a:endParaRPr>
          </a:p>
          <a:p>
            <a:pPr>
              <a:buFont typeface="Wingdings" panose="05000000000000000000" pitchFamily="2" charset="2"/>
              <a:buNone/>
            </a:pPr>
            <a:r>
              <a:rPr lang="en-US" altLang="zh-CN" sz="2800" dirty="0" smtClean="0">
                <a:solidFill>
                  <a:srgbClr val="0000FF"/>
                </a:solidFill>
                <a:ea typeface="黑体" panose="02010609060101010101" pitchFamily="49" charset="-122"/>
              </a:rPr>
              <a:t>	(2) </a:t>
            </a:r>
            <a:r>
              <a:rPr lang="zh-CN" altLang="en-US" sz="2800" dirty="0" smtClean="0">
                <a:solidFill>
                  <a:srgbClr val="FF0000"/>
                </a:solidFill>
                <a:ea typeface="黑体" panose="02010609060101010101" pitchFamily="49" charset="-122"/>
              </a:rPr>
              <a:t>新拥塞窗口 </a:t>
            </a:r>
            <a:r>
              <a:rPr lang="en-US" altLang="zh-CN" sz="2800" dirty="0" err="1" smtClean="0">
                <a:solidFill>
                  <a:srgbClr val="FF0000"/>
                </a:solidFill>
                <a:ea typeface="黑体" panose="02010609060101010101" pitchFamily="49" charset="-122"/>
              </a:rPr>
              <a:t>cwnd</a:t>
            </a:r>
            <a:r>
              <a:rPr lang="en-US" altLang="zh-CN" sz="2800" dirty="0" smtClean="0">
                <a:solidFill>
                  <a:srgbClr val="FF0000"/>
                </a:solidFill>
                <a:ea typeface="黑体" panose="02010609060101010101" pitchFamily="49" charset="-122"/>
              </a:rPr>
              <a:t> </a:t>
            </a:r>
            <a:r>
              <a:rPr lang="en-US" altLang="zh-CN" sz="2800" dirty="0" smtClean="0">
                <a:solidFill>
                  <a:srgbClr val="0000FF"/>
                </a:solidFill>
                <a:ea typeface="黑体" panose="02010609060101010101" pitchFamily="49" charset="-122"/>
              </a:rPr>
              <a:t>= </a:t>
            </a:r>
            <a:r>
              <a:rPr lang="zh-CN" altLang="en-US" sz="2800" dirty="0" smtClean="0">
                <a:solidFill>
                  <a:srgbClr val="0000FF"/>
                </a:solidFill>
                <a:ea typeface="黑体" panose="02010609060101010101" pitchFamily="49" charset="-122"/>
              </a:rPr>
              <a:t>慢开始门限 </a:t>
            </a:r>
            <a:r>
              <a:rPr lang="en-US" altLang="zh-CN" sz="2800" dirty="0" err="1" smtClean="0">
                <a:solidFill>
                  <a:srgbClr val="0000FF"/>
                </a:solidFill>
                <a:ea typeface="黑体" panose="02010609060101010101" pitchFamily="49" charset="-122"/>
              </a:rPr>
              <a:t>ssthresh</a:t>
            </a:r>
            <a:r>
              <a:rPr lang="en-US" altLang="zh-CN" sz="2800" dirty="0" smtClean="0">
                <a:solidFill>
                  <a:srgbClr val="0000FF"/>
                </a:solidFill>
                <a:ea typeface="黑体" panose="02010609060101010101" pitchFamily="49" charset="-122"/>
              </a:rPr>
              <a:t> </a:t>
            </a:r>
            <a:r>
              <a:rPr lang="zh-CN" altLang="en-US" sz="2800" dirty="0" smtClean="0">
                <a:solidFill>
                  <a:srgbClr val="0000FF"/>
                </a:solidFill>
                <a:ea typeface="黑体" panose="02010609060101010101" pitchFamily="49" charset="-122"/>
              </a:rPr>
              <a:t>；</a:t>
            </a:r>
            <a:endParaRPr lang="en-US" altLang="zh-CN" sz="2800" dirty="0" smtClean="0">
              <a:solidFill>
                <a:srgbClr val="0000FF"/>
              </a:solidFill>
              <a:ea typeface="黑体" panose="02010609060101010101" pitchFamily="49" charset="-122"/>
            </a:endParaRPr>
          </a:p>
          <a:p>
            <a:pPr>
              <a:buFont typeface="Wingdings" panose="05000000000000000000" pitchFamily="2" charset="2"/>
              <a:buNone/>
            </a:pPr>
            <a:r>
              <a:rPr lang="en-US" altLang="zh-CN" sz="2800" dirty="0" smtClean="0">
                <a:solidFill>
                  <a:srgbClr val="0000FF"/>
                </a:solidFill>
                <a:ea typeface="黑体" panose="02010609060101010101" pitchFamily="49" charset="-122"/>
              </a:rPr>
              <a:t>(3) </a:t>
            </a:r>
            <a:r>
              <a:rPr lang="zh-CN" altLang="en-US" sz="2800" dirty="0" smtClean="0">
                <a:solidFill>
                  <a:srgbClr val="0000FF"/>
                </a:solidFill>
                <a:ea typeface="黑体" panose="02010609060101010101" pitchFamily="49" charset="-122"/>
              </a:rPr>
              <a:t>开始执行</a:t>
            </a:r>
            <a:r>
              <a:rPr lang="zh-CN" altLang="en-US" sz="2800" dirty="0" smtClean="0">
                <a:solidFill>
                  <a:srgbClr val="FF0000"/>
                </a:solidFill>
                <a:ea typeface="黑体" panose="02010609060101010101" pitchFamily="49" charset="-122"/>
              </a:rPr>
              <a:t>拥塞避免算法</a:t>
            </a:r>
            <a:r>
              <a:rPr lang="zh-CN" altLang="en-US" sz="2800" dirty="0" smtClean="0">
                <a:solidFill>
                  <a:srgbClr val="0000FF"/>
                </a:solidFill>
                <a:ea typeface="黑体" panose="02010609060101010101" pitchFamily="49" charset="-122"/>
              </a:rPr>
              <a:t>，使拥塞窗口缓慢地线性增大。 </a:t>
            </a:r>
          </a:p>
        </p:txBody>
      </p:sp>
      <p:sp>
        <p:nvSpPr>
          <p:cNvPr id="1549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605D7E-3B4D-4330-A221-72E9EDD05165}" type="slidenum">
              <a:rPr lang="zh-CN" altLang="en-US" smtClean="0"/>
              <a:pPr eaLnBrk="1" hangingPunct="1"/>
              <a:t>48</a:t>
            </a:fld>
            <a:endParaRPr lang="en-US" altLang="zh-CN" smtClean="0"/>
          </a:p>
        </p:txBody>
      </p:sp>
      <p:sp>
        <p:nvSpPr>
          <p:cNvPr id="1549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3"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a:solidFill>
                  <a:srgbClr val="333399"/>
                </a:solidFill>
                <a:latin typeface="Tahoma" panose="020B0604030504040204"/>
                <a:ea typeface="黑体" panose="02010609060101010101" pitchFamily="2" charset="-122"/>
              </a:rPr>
              <a:t>慢开始和拥塞避免算法的实现举例 </a:t>
            </a:r>
          </a:p>
        </p:txBody>
      </p:sp>
      <p:grpSp>
        <p:nvGrpSpPr>
          <p:cNvPr id="1551362" name="组合 2"/>
          <p:cNvGrpSpPr>
            <a:grpSpLocks/>
          </p:cNvGrpSpPr>
          <p:nvPr/>
        </p:nvGrpSpPr>
        <p:grpSpPr bwMode="auto">
          <a:xfrm>
            <a:off x="273050" y="836613"/>
            <a:ext cx="9536113" cy="3321050"/>
            <a:chOff x="272479" y="836711"/>
            <a:chExt cx="9536759" cy="3321087"/>
          </a:xfrm>
        </p:grpSpPr>
        <p:sp>
          <p:nvSpPr>
            <p:cNvPr id="103" name="Text Box 140"/>
            <p:cNvSpPr txBox="1">
              <a:spLocks noChangeArrowheads="1"/>
            </p:cNvSpPr>
            <p:nvPr/>
          </p:nvSpPr>
          <p:spPr bwMode="auto">
            <a:xfrm>
              <a:off x="4863840" y="985938"/>
              <a:ext cx="115577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FF0000"/>
                  </a:solidFill>
                </a:rPr>
                <a:t>超时</a:t>
              </a:r>
            </a:p>
          </p:txBody>
        </p:sp>
        <p:sp>
          <p:nvSpPr>
            <p:cNvPr id="104" name="Line 2"/>
            <p:cNvSpPr>
              <a:spLocks noChangeShapeType="1"/>
            </p:cNvSpPr>
            <p:nvPr/>
          </p:nvSpPr>
          <p:spPr bwMode="auto">
            <a:xfrm flipV="1">
              <a:off x="1920416" y="3803781"/>
              <a:ext cx="6358369" cy="4763"/>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5" name="Line 3"/>
            <p:cNvSpPr>
              <a:spLocks noChangeShapeType="1"/>
            </p:cNvSpPr>
            <p:nvPr/>
          </p:nvSpPr>
          <p:spPr bwMode="auto">
            <a:xfrm>
              <a:off x="1918829" y="1176440"/>
              <a:ext cx="1587" cy="2632104"/>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06" name="Line 4"/>
            <p:cNvSpPr>
              <a:spLocks noChangeShapeType="1"/>
            </p:cNvSpPr>
            <p:nvPr/>
          </p:nvSpPr>
          <p:spPr bwMode="auto">
            <a:xfrm>
              <a:off x="2153794"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8" name="Line 5"/>
            <p:cNvSpPr>
              <a:spLocks noChangeShapeType="1"/>
            </p:cNvSpPr>
            <p:nvPr/>
          </p:nvSpPr>
          <p:spPr bwMode="auto">
            <a:xfrm>
              <a:off x="2388760"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09" name="Line 6"/>
            <p:cNvSpPr>
              <a:spLocks noChangeShapeType="1"/>
            </p:cNvSpPr>
            <p:nvPr/>
          </p:nvSpPr>
          <p:spPr bwMode="auto">
            <a:xfrm>
              <a:off x="262213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0" name="Line 7"/>
            <p:cNvSpPr>
              <a:spLocks noChangeShapeType="1"/>
            </p:cNvSpPr>
            <p:nvPr/>
          </p:nvSpPr>
          <p:spPr bwMode="auto">
            <a:xfrm>
              <a:off x="28555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1" name="Line 8"/>
            <p:cNvSpPr>
              <a:spLocks noChangeShapeType="1"/>
            </p:cNvSpPr>
            <p:nvPr/>
          </p:nvSpPr>
          <p:spPr bwMode="auto">
            <a:xfrm>
              <a:off x="30904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2" name="Line 9"/>
            <p:cNvSpPr>
              <a:spLocks noChangeShapeType="1"/>
            </p:cNvSpPr>
            <p:nvPr/>
          </p:nvSpPr>
          <p:spPr bwMode="auto">
            <a:xfrm>
              <a:off x="33238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3" name="Line 10"/>
            <p:cNvSpPr>
              <a:spLocks noChangeShapeType="1"/>
            </p:cNvSpPr>
            <p:nvPr/>
          </p:nvSpPr>
          <p:spPr bwMode="auto">
            <a:xfrm>
              <a:off x="355882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4" name="Line 11"/>
            <p:cNvSpPr>
              <a:spLocks noChangeShapeType="1"/>
            </p:cNvSpPr>
            <p:nvPr/>
          </p:nvSpPr>
          <p:spPr bwMode="auto">
            <a:xfrm>
              <a:off x="3792205"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5" name="Line 12"/>
            <p:cNvSpPr>
              <a:spLocks noChangeShapeType="1"/>
            </p:cNvSpPr>
            <p:nvPr/>
          </p:nvSpPr>
          <p:spPr bwMode="auto">
            <a:xfrm>
              <a:off x="40255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6" name="Line 13"/>
            <p:cNvSpPr>
              <a:spLocks noChangeShapeType="1"/>
            </p:cNvSpPr>
            <p:nvPr/>
          </p:nvSpPr>
          <p:spPr bwMode="auto">
            <a:xfrm>
              <a:off x="426054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7" name="Line 14"/>
            <p:cNvSpPr>
              <a:spLocks noChangeShapeType="1"/>
            </p:cNvSpPr>
            <p:nvPr/>
          </p:nvSpPr>
          <p:spPr bwMode="auto">
            <a:xfrm>
              <a:off x="4493928"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8" name="Line 15"/>
            <p:cNvSpPr>
              <a:spLocks noChangeShapeType="1"/>
            </p:cNvSpPr>
            <p:nvPr/>
          </p:nvSpPr>
          <p:spPr bwMode="auto">
            <a:xfrm>
              <a:off x="47288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19" name="Line 16"/>
            <p:cNvSpPr>
              <a:spLocks noChangeShapeType="1"/>
            </p:cNvSpPr>
            <p:nvPr/>
          </p:nvSpPr>
          <p:spPr bwMode="auto">
            <a:xfrm>
              <a:off x="4962272"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0" name="Line 17"/>
            <p:cNvSpPr>
              <a:spLocks noChangeShapeType="1"/>
            </p:cNvSpPr>
            <p:nvPr/>
          </p:nvSpPr>
          <p:spPr bwMode="auto">
            <a:xfrm>
              <a:off x="5195650" y="3727580"/>
              <a:ext cx="0" cy="809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1" name="Line 18"/>
            <p:cNvSpPr>
              <a:spLocks noChangeShapeType="1"/>
            </p:cNvSpPr>
            <p:nvPr/>
          </p:nvSpPr>
          <p:spPr bwMode="auto">
            <a:xfrm>
              <a:off x="5430616"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2" name="Line 19"/>
            <p:cNvSpPr>
              <a:spLocks noChangeShapeType="1"/>
            </p:cNvSpPr>
            <p:nvPr/>
          </p:nvSpPr>
          <p:spPr bwMode="auto">
            <a:xfrm>
              <a:off x="5663994"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3" name="Line 20"/>
            <p:cNvSpPr>
              <a:spLocks noChangeShapeType="1"/>
            </p:cNvSpPr>
            <p:nvPr/>
          </p:nvSpPr>
          <p:spPr bwMode="auto">
            <a:xfrm>
              <a:off x="589737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4" name="Line 21"/>
            <p:cNvSpPr>
              <a:spLocks noChangeShapeType="1"/>
            </p:cNvSpPr>
            <p:nvPr/>
          </p:nvSpPr>
          <p:spPr bwMode="auto">
            <a:xfrm>
              <a:off x="61323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5" name="Line 22"/>
            <p:cNvSpPr>
              <a:spLocks noChangeShapeType="1"/>
            </p:cNvSpPr>
            <p:nvPr/>
          </p:nvSpPr>
          <p:spPr bwMode="auto">
            <a:xfrm>
              <a:off x="6365717"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6" name="Line 23"/>
            <p:cNvSpPr>
              <a:spLocks noChangeShapeType="1"/>
            </p:cNvSpPr>
            <p:nvPr/>
          </p:nvSpPr>
          <p:spPr bwMode="auto">
            <a:xfrm>
              <a:off x="6600683"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7" name="Line 24"/>
            <p:cNvSpPr>
              <a:spLocks noChangeShapeType="1"/>
            </p:cNvSpPr>
            <p:nvPr/>
          </p:nvSpPr>
          <p:spPr bwMode="auto">
            <a:xfrm>
              <a:off x="6834061"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28" name="Line 25"/>
            <p:cNvSpPr>
              <a:spLocks noChangeShapeType="1"/>
            </p:cNvSpPr>
            <p:nvPr/>
          </p:nvSpPr>
          <p:spPr bwMode="auto">
            <a:xfrm>
              <a:off x="7067439" y="364661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0" name="Line 40"/>
            <p:cNvSpPr>
              <a:spLocks noChangeShapeType="1"/>
            </p:cNvSpPr>
            <p:nvPr/>
          </p:nvSpPr>
          <p:spPr bwMode="auto">
            <a:xfrm>
              <a:off x="1920416" y="340372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1" name="Line 41"/>
            <p:cNvSpPr>
              <a:spLocks noChangeShapeType="1"/>
            </p:cNvSpPr>
            <p:nvPr/>
          </p:nvSpPr>
          <p:spPr bwMode="auto">
            <a:xfrm>
              <a:off x="1920416" y="3000497"/>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2" name="Line 42"/>
            <p:cNvSpPr>
              <a:spLocks noChangeShapeType="1"/>
            </p:cNvSpPr>
            <p:nvPr/>
          </p:nvSpPr>
          <p:spPr bwMode="auto">
            <a:xfrm>
              <a:off x="1920416" y="2597268"/>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3" name="Line 43"/>
            <p:cNvSpPr>
              <a:spLocks noChangeShapeType="1"/>
            </p:cNvSpPr>
            <p:nvPr/>
          </p:nvSpPr>
          <p:spPr bwMode="auto">
            <a:xfrm>
              <a:off x="1920416" y="2192451"/>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4" name="Line 44"/>
            <p:cNvSpPr>
              <a:spLocks noChangeShapeType="1"/>
            </p:cNvSpPr>
            <p:nvPr/>
          </p:nvSpPr>
          <p:spPr bwMode="auto">
            <a:xfrm>
              <a:off x="1920416" y="178922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5" name="Line 45"/>
            <p:cNvSpPr>
              <a:spLocks noChangeShapeType="1"/>
            </p:cNvSpPr>
            <p:nvPr/>
          </p:nvSpPr>
          <p:spPr bwMode="auto">
            <a:xfrm>
              <a:off x="1920416" y="1385992"/>
              <a:ext cx="2333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36" name="Text Box 77"/>
            <p:cNvSpPr txBox="1">
              <a:spLocks noChangeArrowheads="1"/>
            </p:cNvSpPr>
            <p:nvPr/>
          </p:nvSpPr>
          <p:spPr bwMode="auto">
            <a:xfrm>
              <a:off x="2241112" y="3749805"/>
              <a:ext cx="314346"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a:t>
              </a:r>
            </a:p>
          </p:txBody>
        </p:sp>
        <p:sp>
          <p:nvSpPr>
            <p:cNvPr id="237" name="Text Box 78"/>
            <p:cNvSpPr txBox="1">
              <a:spLocks noChangeArrowheads="1"/>
            </p:cNvSpPr>
            <p:nvPr/>
          </p:nvSpPr>
          <p:spPr bwMode="auto">
            <a:xfrm>
              <a:off x="2709457"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4</a:t>
              </a:r>
            </a:p>
          </p:txBody>
        </p:sp>
        <p:sp>
          <p:nvSpPr>
            <p:cNvPr id="238" name="Text Box 79"/>
            <p:cNvSpPr txBox="1">
              <a:spLocks noChangeArrowheads="1"/>
            </p:cNvSpPr>
            <p:nvPr/>
          </p:nvSpPr>
          <p:spPr bwMode="auto">
            <a:xfrm>
              <a:off x="3177801"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6</a:t>
              </a:r>
            </a:p>
          </p:txBody>
        </p:sp>
        <p:sp>
          <p:nvSpPr>
            <p:cNvPr id="239" name="Text Box 80"/>
            <p:cNvSpPr txBox="1">
              <a:spLocks noChangeArrowheads="1"/>
            </p:cNvSpPr>
            <p:nvPr/>
          </p:nvSpPr>
          <p:spPr bwMode="auto">
            <a:xfrm>
              <a:off x="3658846" y="3749805"/>
              <a:ext cx="31275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40" name="Text Box 81"/>
            <p:cNvSpPr txBox="1">
              <a:spLocks noChangeArrowheads="1"/>
            </p:cNvSpPr>
            <p:nvPr/>
          </p:nvSpPr>
          <p:spPr bwMode="auto">
            <a:xfrm>
              <a:off x="404939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10</a:t>
              </a:r>
            </a:p>
          </p:txBody>
        </p:sp>
        <p:sp>
          <p:nvSpPr>
            <p:cNvPr id="241" name="Text Box 82"/>
            <p:cNvSpPr txBox="1">
              <a:spLocks noChangeArrowheads="1"/>
            </p:cNvSpPr>
            <p:nvPr/>
          </p:nvSpPr>
          <p:spPr bwMode="auto">
            <a:xfrm>
              <a:off x="45558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42" name="Text Box 83"/>
            <p:cNvSpPr txBox="1">
              <a:spLocks noChangeArrowheads="1"/>
            </p:cNvSpPr>
            <p:nvPr/>
          </p:nvSpPr>
          <p:spPr bwMode="auto">
            <a:xfrm>
              <a:off x="4997199"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14</a:t>
              </a:r>
            </a:p>
          </p:txBody>
        </p:sp>
        <p:sp>
          <p:nvSpPr>
            <p:cNvPr id="243" name="Text Box 84"/>
            <p:cNvSpPr txBox="1">
              <a:spLocks noChangeArrowheads="1"/>
            </p:cNvSpPr>
            <p:nvPr/>
          </p:nvSpPr>
          <p:spPr bwMode="auto">
            <a:xfrm>
              <a:off x="546554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44" name="Text Box 85"/>
            <p:cNvSpPr txBox="1">
              <a:spLocks noChangeArrowheads="1"/>
            </p:cNvSpPr>
            <p:nvPr/>
          </p:nvSpPr>
          <p:spPr bwMode="auto">
            <a:xfrm>
              <a:off x="5949764"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18</a:t>
              </a:r>
            </a:p>
          </p:txBody>
        </p:sp>
        <p:sp>
          <p:nvSpPr>
            <p:cNvPr id="245" name="Text Box 86"/>
            <p:cNvSpPr txBox="1">
              <a:spLocks noChangeArrowheads="1"/>
            </p:cNvSpPr>
            <p:nvPr/>
          </p:nvSpPr>
          <p:spPr bwMode="auto">
            <a:xfrm>
              <a:off x="6418108" y="374980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46" name="Text Box 87"/>
            <p:cNvSpPr txBox="1">
              <a:spLocks noChangeArrowheads="1"/>
            </p:cNvSpPr>
            <p:nvPr/>
          </p:nvSpPr>
          <p:spPr bwMode="auto">
            <a:xfrm>
              <a:off x="6873751" y="3757744"/>
              <a:ext cx="439768"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22</a:t>
              </a:r>
            </a:p>
          </p:txBody>
        </p:sp>
        <p:sp>
          <p:nvSpPr>
            <p:cNvPr id="247" name="Text Box 89"/>
            <p:cNvSpPr txBox="1">
              <a:spLocks noChangeArrowheads="1"/>
            </p:cNvSpPr>
            <p:nvPr/>
          </p:nvSpPr>
          <p:spPr bwMode="auto">
            <a:xfrm>
              <a:off x="1812458" y="374980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48" name="Text Box 90"/>
            <p:cNvSpPr txBox="1">
              <a:spLocks noChangeArrowheads="1"/>
            </p:cNvSpPr>
            <p:nvPr/>
          </p:nvSpPr>
          <p:spPr bwMode="auto">
            <a:xfrm>
              <a:off x="1647347" y="359105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0</a:t>
              </a:r>
            </a:p>
          </p:txBody>
        </p:sp>
        <p:sp>
          <p:nvSpPr>
            <p:cNvPr id="250" name="Text Box 92"/>
            <p:cNvSpPr txBox="1">
              <a:spLocks noChangeArrowheads="1"/>
            </p:cNvSpPr>
            <p:nvPr/>
          </p:nvSpPr>
          <p:spPr bwMode="auto">
            <a:xfrm>
              <a:off x="1647347" y="2797295"/>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8</a:t>
              </a:r>
            </a:p>
          </p:txBody>
        </p:sp>
        <p:sp>
          <p:nvSpPr>
            <p:cNvPr id="251" name="Text Box 93"/>
            <p:cNvSpPr txBox="1">
              <a:spLocks noChangeArrowheads="1"/>
            </p:cNvSpPr>
            <p:nvPr/>
          </p:nvSpPr>
          <p:spPr bwMode="auto">
            <a:xfrm>
              <a:off x="1529864" y="2406765"/>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12</a:t>
              </a:r>
            </a:p>
          </p:txBody>
        </p:sp>
        <p:sp>
          <p:nvSpPr>
            <p:cNvPr id="252" name="Text Box 94"/>
            <p:cNvSpPr txBox="1">
              <a:spLocks noChangeArrowheads="1"/>
            </p:cNvSpPr>
            <p:nvPr/>
          </p:nvSpPr>
          <p:spPr bwMode="auto">
            <a:xfrm>
              <a:off x="1529864" y="2016236"/>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16</a:t>
              </a:r>
            </a:p>
          </p:txBody>
        </p:sp>
        <p:sp>
          <p:nvSpPr>
            <p:cNvPr id="253" name="Text Box 95"/>
            <p:cNvSpPr txBox="1">
              <a:spLocks noChangeArrowheads="1"/>
            </p:cNvSpPr>
            <p:nvPr/>
          </p:nvSpPr>
          <p:spPr bwMode="auto">
            <a:xfrm>
              <a:off x="1529864" y="161300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20</a:t>
              </a:r>
            </a:p>
          </p:txBody>
        </p:sp>
        <p:sp>
          <p:nvSpPr>
            <p:cNvPr id="254" name="Text Box 96"/>
            <p:cNvSpPr txBox="1">
              <a:spLocks noChangeArrowheads="1"/>
            </p:cNvSpPr>
            <p:nvPr/>
          </p:nvSpPr>
          <p:spPr bwMode="auto">
            <a:xfrm>
              <a:off x="1529864" y="1209777"/>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255" name="Oval 102"/>
            <p:cNvSpPr>
              <a:spLocks noChangeArrowheads="1"/>
            </p:cNvSpPr>
            <p:nvPr/>
          </p:nvSpPr>
          <p:spPr bwMode="auto">
            <a:xfrm>
              <a:off x="2572923" y="2960810"/>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6" name="Oval 103"/>
            <p:cNvSpPr>
              <a:spLocks noChangeArrowheads="1"/>
            </p:cNvSpPr>
            <p:nvPr/>
          </p:nvSpPr>
          <p:spPr bwMode="auto">
            <a:xfrm>
              <a:off x="2339544" y="3364039"/>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7" name="Oval 104"/>
            <p:cNvSpPr>
              <a:spLocks noChangeArrowheads="1"/>
            </p:cNvSpPr>
            <p:nvPr/>
          </p:nvSpPr>
          <p:spPr bwMode="auto">
            <a:xfrm>
              <a:off x="1880726" y="3625979"/>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8" name="Oval 105"/>
            <p:cNvSpPr>
              <a:spLocks noChangeArrowheads="1"/>
            </p:cNvSpPr>
            <p:nvPr/>
          </p:nvSpPr>
          <p:spPr bwMode="auto">
            <a:xfrm>
              <a:off x="2095052" y="3556128"/>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59" name="Oval 106"/>
            <p:cNvSpPr>
              <a:spLocks noChangeArrowheads="1"/>
            </p:cNvSpPr>
            <p:nvPr/>
          </p:nvSpPr>
          <p:spPr bwMode="auto">
            <a:xfrm>
              <a:off x="2807889" y="2149588"/>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0" name="Oval 107"/>
            <p:cNvSpPr>
              <a:spLocks noChangeArrowheads="1"/>
            </p:cNvSpPr>
            <p:nvPr/>
          </p:nvSpPr>
          <p:spPr bwMode="auto">
            <a:xfrm>
              <a:off x="3041267" y="2041636"/>
              <a:ext cx="90494"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1" name="Oval 108"/>
            <p:cNvSpPr>
              <a:spLocks noChangeArrowheads="1"/>
            </p:cNvSpPr>
            <p:nvPr/>
          </p:nvSpPr>
          <p:spPr bwMode="auto">
            <a:xfrm>
              <a:off x="3274645" y="1946385"/>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2" name="Oval 109"/>
            <p:cNvSpPr>
              <a:spLocks noChangeArrowheads="1"/>
            </p:cNvSpPr>
            <p:nvPr/>
          </p:nvSpPr>
          <p:spPr bwMode="auto">
            <a:xfrm>
              <a:off x="3747752" y="1743183"/>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3" name="Oval 110"/>
            <p:cNvSpPr>
              <a:spLocks noChangeArrowheads="1"/>
            </p:cNvSpPr>
            <p:nvPr/>
          </p:nvSpPr>
          <p:spPr bwMode="auto">
            <a:xfrm>
              <a:off x="3509611" y="184478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4" name="Oval 113"/>
            <p:cNvSpPr>
              <a:spLocks noChangeArrowheads="1"/>
            </p:cNvSpPr>
            <p:nvPr/>
          </p:nvSpPr>
          <p:spPr bwMode="auto">
            <a:xfrm>
              <a:off x="3982718" y="1643170"/>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5" name="Oval 114"/>
            <p:cNvSpPr>
              <a:spLocks noChangeArrowheads="1"/>
            </p:cNvSpPr>
            <p:nvPr/>
          </p:nvSpPr>
          <p:spPr bwMode="auto">
            <a:xfrm>
              <a:off x="4211334" y="1547919"/>
              <a:ext cx="90493"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6" name="Oval 116"/>
            <p:cNvSpPr>
              <a:spLocks noChangeArrowheads="1"/>
            </p:cNvSpPr>
            <p:nvPr/>
          </p:nvSpPr>
          <p:spPr bwMode="auto">
            <a:xfrm>
              <a:off x="4674915" y="1330429"/>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7" name="Oval 117"/>
            <p:cNvSpPr>
              <a:spLocks noChangeArrowheads="1"/>
            </p:cNvSpPr>
            <p:nvPr/>
          </p:nvSpPr>
          <p:spPr bwMode="auto">
            <a:xfrm>
              <a:off x="4444712" y="1430443"/>
              <a:ext cx="92081" cy="95251"/>
            </a:xfrm>
            <a:prstGeom prst="ellipse">
              <a:avLst/>
            </a:prstGeom>
            <a:solidFill>
              <a:srgbClr val="0000FF"/>
            </a:solidFill>
            <a:ln w="2857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8" name="Freeform 118"/>
            <p:cNvSpPr/>
            <p:nvPr/>
          </p:nvSpPr>
          <p:spPr bwMode="auto">
            <a:xfrm>
              <a:off x="1842623" y="1385992"/>
              <a:ext cx="2879920" cy="2305076"/>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69" name="Text Box 134"/>
            <p:cNvSpPr txBox="1">
              <a:spLocks noChangeArrowheads="1"/>
            </p:cNvSpPr>
            <p:nvPr/>
          </p:nvSpPr>
          <p:spPr bwMode="auto">
            <a:xfrm>
              <a:off x="8280371" y="3595817"/>
              <a:ext cx="121769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a:solidFill>
                    <a:srgbClr val="000000"/>
                  </a:solidFill>
                </a:rPr>
                <a:t>传输轮次</a:t>
              </a:r>
            </a:p>
          </p:txBody>
        </p:sp>
        <p:sp>
          <p:nvSpPr>
            <p:cNvPr id="270" name="Text Box 135"/>
            <p:cNvSpPr txBox="1">
              <a:spLocks noChangeArrowheads="1"/>
            </p:cNvSpPr>
            <p:nvPr/>
          </p:nvSpPr>
          <p:spPr bwMode="auto">
            <a:xfrm>
              <a:off x="966264" y="836711"/>
              <a:ext cx="1930531"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00"/>
                  </a:solidFill>
                </a:rPr>
                <a:t>拥塞窗口  </a:t>
              </a:r>
              <a:r>
                <a:rPr lang="en-US" altLang="zh-CN" sz="2000" b="1" kern="0" dirty="0" err="1">
                  <a:solidFill>
                    <a:srgbClr val="000000"/>
                  </a:solidFill>
                </a:rPr>
                <a:t>cwnd</a:t>
              </a:r>
              <a:endParaRPr lang="en-US" altLang="zh-CN" sz="2000" b="1" kern="0" dirty="0">
                <a:solidFill>
                  <a:srgbClr val="000000"/>
                </a:solidFill>
              </a:endParaRPr>
            </a:p>
          </p:txBody>
        </p:sp>
        <p:sp>
          <p:nvSpPr>
            <p:cNvPr id="271" name="Text Box 140"/>
            <p:cNvSpPr txBox="1">
              <a:spLocks noChangeArrowheads="1"/>
            </p:cNvSpPr>
            <p:nvPr/>
          </p:nvSpPr>
          <p:spPr bwMode="auto">
            <a:xfrm>
              <a:off x="7049976" y="1814622"/>
              <a:ext cx="1181180"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FF0000"/>
                  </a:solidFill>
                </a:rPr>
                <a:t>3-ACK</a:t>
              </a:r>
              <a:endParaRPr lang="zh-CN" altLang="en-US" sz="2000" b="1" kern="0" dirty="0">
                <a:solidFill>
                  <a:srgbClr val="FF0000"/>
                </a:solidFill>
              </a:endParaRPr>
            </a:p>
          </p:txBody>
        </p:sp>
        <p:sp>
          <p:nvSpPr>
            <p:cNvPr id="272" name="Rectangle 160"/>
            <p:cNvSpPr>
              <a:spLocks noChangeArrowheads="1"/>
            </p:cNvSpPr>
            <p:nvPr/>
          </p:nvSpPr>
          <p:spPr bwMode="auto">
            <a:xfrm>
              <a:off x="1998209" y="1305028"/>
              <a:ext cx="195275" cy="21526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3" name="Line 156"/>
            <p:cNvSpPr>
              <a:spLocks noChangeShapeType="1"/>
            </p:cNvSpPr>
            <p:nvPr/>
          </p:nvSpPr>
          <p:spPr bwMode="auto">
            <a:xfrm>
              <a:off x="1998209" y="2192451"/>
              <a:ext cx="857308"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4" name="Line 146"/>
            <p:cNvSpPr>
              <a:spLocks noChangeShapeType="1"/>
            </p:cNvSpPr>
            <p:nvPr/>
          </p:nvSpPr>
          <p:spPr bwMode="auto">
            <a:xfrm flipV="1">
              <a:off x="1998209" y="1379642"/>
              <a:ext cx="2743386"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5" name="Rectangle 162"/>
            <p:cNvSpPr>
              <a:spLocks noChangeArrowheads="1"/>
            </p:cNvSpPr>
            <p:nvPr/>
          </p:nvSpPr>
          <p:spPr bwMode="auto">
            <a:xfrm>
              <a:off x="5352823" y="3565653"/>
              <a:ext cx="1479650" cy="1619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77" name="Text Box 203"/>
            <p:cNvSpPr txBox="1">
              <a:spLocks noChangeArrowheads="1"/>
            </p:cNvSpPr>
            <p:nvPr/>
          </p:nvSpPr>
          <p:spPr bwMode="auto">
            <a:xfrm>
              <a:off x="8170827" y="1978136"/>
              <a:ext cx="1638411" cy="8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b="1" kern="0" dirty="0">
                  <a:solidFill>
                    <a:srgbClr val="0000FF"/>
                  </a:solidFill>
                </a:rPr>
                <a:t>TCP Reno </a:t>
              </a:r>
            </a:p>
            <a:p>
              <a:pPr algn="ctr" eaLnBrk="1" fontAlgn="auto" hangingPunct="1">
                <a:spcBef>
                  <a:spcPts val="0"/>
                </a:spcBef>
                <a:spcAft>
                  <a:spcPts val="0"/>
                </a:spcAft>
                <a:defRPr/>
              </a:pPr>
              <a:r>
                <a:rPr lang="zh-CN" altLang="en-US" b="1" kern="0" dirty="0">
                  <a:solidFill>
                    <a:srgbClr val="0000FF"/>
                  </a:solidFill>
                </a:rPr>
                <a:t>版本</a:t>
              </a:r>
            </a:p>
          </p:txBody>
        </p:sp>
        <p:sp>
          <p:nvSpPr>
            <p:cNvPr id="278" name="Text Box 205"/>
            <p:cNvSpPr txBox="1">
              <a:spLocks noChangeArrowheads="1"/>
            </p:cNvSpPr>
            <p:nvPr/>
          </p:nvSpPr>
          <p:spPr bwMode="auto">
            <a:xfrm>
              <a:off x="272479" y="1919398"/>
              <a:ext cx="1281200" cy="70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en-US" altLang="zh-CN" sz="2000" b="1" kern="0" dirty="0" err="1">
                  <a:solidFill>
                    <a:srgbClr val="C00000"/>
                  </a:solidFill>
                </a:rPr>
                <a:t>ssthresh</a:t>
              </a:r>
              <a:endParaRPr lang="en-US" altLang="zh-CN" sz="2000" b="1" kern="0" dirty="0">
                <a:solidFill>
                  <a:srgbClr val="C00000"/>
                </a:solidFill>
              </a:endParaRPr>
            </a:p>
            <a:p>
              <a:pPr algn="ctr" eaLnBrk="1" fontAlgn="auto" hangingPunct="1">
                <a:spcBef>
                  <a:spcPts val="0"/>
                </a:spcBef>
                <a:spcAft>
                  <a:spcPts val="0"/>
                </a:spcAft>
                <a:defRPr/>
              </a:pPr>
              <a:r>
                <a:rPr lang="zh-CN" altLang="en-US" sz="2000" b="1" kern="0" dirty="0">
                  <a:solidFill>
                    <a:srgbClr val="C00000"/>
                  </a:solidFill>
                </a:rPr>
                <a:t> 的初始值</a:t>
              </a:r>
            </a:p>
          </p:txBody>
        </p:sp>
        <p:sp>
          <p:nvSpPr>
            <p:cNvPr id="280" name="Line 215"/>
            <p:cNvSpPr>
              <a:spLocks noChangeShapeType="1"/>
            </p:cNvSpPr>
            <p:nvPr/>
          </p:nvSpPr>
          <p:spPr bwMode="auto">
            <a:xfrm flipV="1">
              <a:off x="1412381" y="2224201"/>
              <a:ext cx="220678"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81" name="Text Box 206"/>
            <p:cNvSpPr txBox="1">
              <a:spLocks noChangeArrowheads="1"/>
            </p:cNvSpPr>
            <p:nvPr/>
          </p:nvSpPr>
          <p:spPr bwMode="auto">
            <a:xfrm rot="20245475">
              <a:off x="6948369" y="2394065"/>
              <a:ext cx="1217694"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282" name="Oval 125"/>
            <p:cNvSpPr>
              <a:spLocks noChangeArrowheads="1"/>
            </p:cNvSpPr>
            <p:nvPr/>
          </p:nvSpPr>
          <p:spPr bwMode="auto">
            <a:xfrm>
              <a:off x="5148022" y="3540253"/>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3" name="Oval 126"/>
            <p:cNvSpPr>
              <a:spLocks noChangeArrowheads="1"/>
            </p:cNvSpPr>
            <p:nvPr/>
          </p:nvSpPr>
          <p:spPr bwMode="auto">
            <a:xfrm>
              <a:off x="5382988" y="3343401"/>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4" name="Oval 127"/>
            <p:cNvSpPr>
              <a:spLocks noChangeArrowheads="1"/>
            </p:cNvSpPr>
            <p:nvPr/>
          </p:nvSpPr>
          <p:spPr bwMode="auto">
            <a:xfrm>
              <a:off x="4903531" y="3616454"/>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5" name="Oval 128"/>
            <p:cNvSpPr>
              <a:spLocks noChangeArrowheads="1"/>
            </p:cNvSpPr>
            <p:nvPr/>
          </p:nvSpPr>
          <p:spPr bwMode="auto">
            <a:xfrm>
              <a:off x="5624305" y="2952872"/>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6" name="Oval 129"/>
            <p:cNvSpPr>
              <a:spLocks noChangeArrowheads="1"/>
            </p:cNvSpPr>
            <p:nvPr/>
          </p:nvSpPr>
          <p:spPr bwMode="auto">
            <a:xfrm>
              <a:off x="6106937" y="2440104"/>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7" name="Oval 130"/>
            <p:cNvSpPr>
              <a:spLocks noChangeArrowheads="1"/>
            </p:cNvSpPr>
            <p:nvPr/>
          </p:nvSpPr>
          <p:spPr bwMode="auto">
            <a:xfrm>
              <a:off x="6794371" y="2148001"/>
              <a:ext cx="92081"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8" name="Oval 131"/>
            <p:cNvSpPr>
              <a:spLocks noChangeArrowheads="1"/>
            </p:cNvSpPr>
            <p:nvPr/>
          </p:nvSpPr>
          <p:spPr bwMode="auto">
            <a:xfrm>
              <a:off x="6335553" y="2333740"/>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89" name="Oval 132"/>
            <p:cNvSpPr>
              <a:spLocks noChangeArrowheads="1"/>
            </p:cNvSpPr>
            <p:nvPr/>
          </p:nvSpPr>
          <p:spPr bwMode="auto">
            <a:xfrm>
              <a:off x="6568931" y="2238489"/>
              <a:ext cx="92081"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0" name="Line 147"/>
            <p:cNvSpPr>
              <a:spLocks noChangeShapeType="1"/>
            </p:cNvSpPr>
            <p:nvPr/>
          </p:nvSpPr>
          <p:spPr bwMode="auto">
            <a:xfrm rot="10800000">
              <a:off x="2015672" y="2595681"/>
              <a:ext cx="413413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51446" name="直接连接符 115"/>
            <p:cNvCxnSpPr>
              <a:cxnSpLocks noChangeShapeType="1"/>
            </p:cNvCxnSpPr>
            <p:nvPr/>
          </p:nvCxnSpPr>
          <p:spPr bwMode="auto">
            <a:xfrm>
              <a:off x="4728153" y="1375532"/>
              <a:ext cx="234000" cy="226607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459" y="1801922"/>
              <a:ext cx="442943"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sp>
          <p:nvSpPr>
            <p:cNvPr id="294" name="Oval 129"/>
            <p:cNvSpPr>
              <a:spLocks noChangeArrowheads="1"/>
            </p:cNvSpPr>
            <p:nvPr/>
          </p:nvSpPr>
          <p:spPr bwMode="auto">
            <a:xfrm>
              <a:off x="5868796" y="2549642"/>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295" name="任意多边形 134"/>
            <p:cNvSpPr/>
            <p:nvPr/>
          </p:nvSpPr>
          <p:spPr bwMode="auto">
            <a:xfrm>
              <a:off x="4952746" y="2181338"/>
              <a:ext cx="1905129" cy="1485917"/>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296" name="Rectangle 161"/>
            <p:cNvSpPr>
              <a:spLocks noChangeArrowheads="1"/>
            </p:cNvSpPr>
            <p:nvPr/>
          </p:nvSpPr>
          <p:spPr bwMode="auto">
            <a:xfrm>
              <a:off x="4546319" y="1020863"/>
              <a:ext cx="366738" cy="306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defRPr/>
              </a:pPr>
              <a:r>
                <a:rPr lang="en-US" altLang="zh-CN" sz="2800" b="1" kern="0" dirty="0">
                  <a:solidFill>
                    <a:sysClr val="windowText" lastClr="000000"/>
                  </a:solidFill>
                  <a:sym typeface="Wingdings" panose="05000000000000000000" pitchFamily="2" charset="2"/>
                </a:rPr>
                <a:t></a:t>
              </a:r>
              <a:endParaRPr lang="zh-CN" altLang="en-US" sz="2800" b="1" kern="0" dirty="0">
                <a:solidFill>
                  <a:sysClr val="windowText" lastClr="000000"/>
                </a:solidFill>
              </a:endParaRPr>
            </a:p>
          </p:txBody>
        </p:sp>
        <p:cxnSp>
          <p:nvCxnSpPr>
            <p:cNvPr id="1551451" name="直接连接符 119"/>
            <p:cNvCxnSpPr>
              <a:cxnSpLocks noChangeShapeType="1"/>
            </p:cNvCxnSpPr>
            <p:nvPr/>
          </p:nvCxnSpPr>
          <p:spPr bwMode="auto">
            <a:xfrm flipH="1">
              <a:off x="7064902" y="3022518"/>
              <a:ext cx="1624" cy="69479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51452" name="直接连接符 121"/>
            <p:cNvCxnSpPr>
              <a:cxnSpLocks noChangeShapeType="1"/>
            </p:cNvCxnSpPr>
            <p:nvPr/>
          </p:nvCxnSpPr>
          <p:spPr bwMode="auto">
            <a:xfrm>
              <a:off x="2032278" y="3005695"/>
              <a:ext cx="56761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99" name="Oval 130"/>
            <p:cNvSpPr>
              <a:spLocks noChangeArrowheads="1"/>
            </p:cNvSpPr>
            <p:nvPr/>
          </p:nvSpPr>
          <p:spPr bwMode="auto">
            <a:xfrm>
              <a:off x="7021399" y="2962397"/>
              <a:ext cx="90493" cy="93664"/>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0" name="Line 24"/>
            <p:cNvSpPr>
              <a:spLocks noChangeShapeType="1"/>
            </p:cNvSpPr>
            <p:nvPr/>
          </p:nvSpPr>
          <p:spPr bwMode="auto">
            <a:xfrm>
              <a:off x="7532609" y="36402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1" name="Line 22"/>
            <p:cNvSpPr>
              <a:spLocks noChangeShapeType="1"/>
            </p:cNvSpPr>
            <p:nvPr/>
          </p:nvSpPr>
          <p:spPr bwMode="auto">
            <a:xfrm>
              <a:off x="7296055" y="3645029"/>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02" name="Text Box 87"/>
            <p:cNvSpPr txBox="1">
              <a:spLocks noChangeArrowheads="1"/>
            </p:cNvSpPr>
            <p:nvPr/>
          </p:nvSpPr>
          <p:spPr bwMode="auto">
            <a:xfrm>
              <a:off x="7311931" y="3754569"/>
              <a:ext cx="441355"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a:solidFill>
                    <a:srgbClr val="000000"/>
                  </a:solidFill>
                </a:rPr>
                <a:t>24</a:t>
              </a:r>
            </a:p>
          </p:txBody>
        </p:sp>
        <p:sp>
          <p:nvSpPr>
            <p:cNvPr id="303" name="Line 22"/>
            <p:cNvSpPr>
              <a:spLocks noChangeShapeType="1"/>
            </p:cNvSpPr>
            <p:nvPr/>
          </p:nvSpPr>
          <p:spPr bwMode="auto">
            <a:xfrm>
              <a:off x="7777100" y="3652967"/>
              <a:ext cx="0" cy="1619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51458" name="直接连接符 134"/>
            <p:cNvCxnSpPr>
              <a:cxnSpLocks noChangeShapeType="1"/>
              <a:stCxn id="295" idx="4"/>
              <a:endCxn id="299" idx="3"/>
            </p:cNvCxnSpPr>
            <p:nvPr/>
          </p:nvCxnSpPr>
          <p:spPr bwMode="auto">
            <a:xfrm>
              <a:off x="6856903" y="2181361"/>
              <a:ext cx="204750" cy="83274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05" name="Text Box 206"/>
            <p:cNvSpPr txBox="1">
              <a:spLocks noChangeArrowheads="1"/>
            </p:cNvSpPr>
            <p:nvPr/>
          </p:nvSpPr>
          <p:spPr bwMode="auto">
            <a:xfrm rot="20070649">
              <a:off x="5810054" y="2011474"/>
              <a:ext cx="1114500" cy="36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800" b="1" kern="0" dirty="0">
                  <a:solidFill>
                    <a:srgbClr val="000000"/>
                  </a:solidFill>
                </a:rPr>
                <a:t>拥塞避免</a:t>
              </a:r>
            </a:p>
          </p:txBody>
        </p:sp>
        <p:sp>
          <p:nvSpPr>
            <p:cNvPr id="306" name="Text Box 206"/>
            <p:cNvSpPr txBox="1">
              <a:spLocks noChangeArrowheads="1"/>
            </p:cNvSpPr>
            <p:nvPr/>
          </p:nvSpPr>
          <p:spPr bwMode="auto">
            <a:xfrm rot="20205303">
              <a:off x="2990463" y="1471718"/>
              <a:ext cx="1216107"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000" b="1" kern="0">
                  <a:solidFill>
                    <a:srgbClr val="000000"/>
                  </a:solidFill>
                </a:rPr>
                <a:t>拥塞避免</a:t>
              </a:r>
            </a:p>
          </p:txBody>
        </p:sp>
        <p:sp>
          <p:nvSpPr>
            <p:cNvPr id="307" name="TextBox 147"/>
            <p:cNvSpPr txBox="1">
              <a:spLocks noChangeArrowheads="1"/>
            </p:cNvSpPr>
            <p:nvPr/>
          </p:nvSpPr>
          <p:spPr bwMode="auto">
            <a:xfrm>
              <a:off x="5541749" y="2190863"/>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08" name="矩形 150"/>
            <p:cNvSpPr>
              <a:spLocks noChangeArrowheads="1"/>
            </p:cNvSpPr>
            <p:nvPr/>
          </p:nvSpPr>
          <p:spPr bwMode="auto">
            <a:xfrm>
              <a:off x="2298266" y="3595817"/>
              <a:ext cx="2576688" cy="1270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sp>
          <p:nvSpPr>
            <p:cNvPr id="309" name="TextBox 148"/>
            <p:cNvSpPr txBox="1">
              <a:spLocks noChangeArrowheads="1"/>
            </p:cNvSpPr>
            <p:nvPr/>
          </p:nvSpPr>
          <p:spPr bwMode="auto">
            <a:xfrm>
              <a:off x="6719754" y="1765408"/>
              <a:ext cx="506446" cy="5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a:solidFill>
                    <a:srgbClr val="000000"/>
                  </a:solidFill>
                  <a:sym typeface="Wingdings" panose="05000000000000000000" pitchFamily="2" charset="2"/>
                </a:rPr>
                <a:t></a:t>
              </a:r>
              <a:endParaRPr lang="zh-CN" altLang="en-US" sz="2800" b="1" kern="0">
                <a:solidFill>
                  <a:srgbClr val="000000"/>
                </a:solidFill>
              </a:endParaRPr>
            </a:p>
          </p:txBody>
        </p:sp>
        <p:sp>
          <p:nvSpPr>
            <p:cNvPr id="311" name="矩形 151"/>
            <p:cNvSpPr>
              <a:spLocks noChangeArrowheads="1"/>
            </p:cNvSpPr>
            <p:nvPr/>
          </p:nvSpPr>
          <p:spPr bwMode="auto">
            <a:xfrm>
              <a:off x="7237314" y="3595817"/>
              <a:ext cx="608053" cy="114301"/>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400" b="1" kern="0">
                <a:solidFill>
                  <a:sysClr val="windowText" lastClr="000000"/>
                </a:solidFill>
              </a:endParaRPr>
            </a:p>
          </p:txBody>
        </p:sp>
        <p:cxnSp>
          <p:nvCxnSpPr>
            <p:cNvPr id="1551465" name="直接连接符 153"/>
            <p:cNvCxnSpPr>
              <a:cxnSpLocks noChangeShapeType="1"/>
              <a:stCxn id="295" idx="4"/>
              <a:endCxn id="299" idx="3"/>
            </p:cNvCxnSpPr>
            <p:nvPr/>
          </p:nvCxnSpPr>
          <p:spPr bwMode="auto">
            <a:xfrm flipV="1">
              <a:off x="5903027" y="2630538"/>
              <a:ext cx="11376" cy="1043034"/>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51466" name="直接连接符 157"/>
            <p:cNvCxnSpPr>
              <a:cxnSpLocks noChangeShapeType="1"/>
              <a:stCxn id="295" idx="4"/>
              <a:endCxn id="299" idx="3"/>
            </p:cNvCxnSpPr>
            <p:nvPr/>
          </p:nvCxnSpPr>
          <p:spPr bwMode="auto">
            <a:xfrm flipV="1">
              <a:off x="6832527" y="2253700"/>
              <a:ext cx="11376" cy="1520811"/>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51467" name="直接连接符 141"/>
            <p:cNvCxnSpPr>
              <a:cxnSpLocks noChangeShapeType="1"/>
              <a:stCxn id="295" idx="4"/>
              <a:endCxn id="299" idx="3"/>
            </p:cNvCxnSpPr>
            <p:nvPr/>
          </p:nvCxnSpPr>
          <p:spPr bwMode="auto">
            <a:xfrm flipV="1">
              <a:off x="7001527" y="2475765"/>
              <a:ext cx="1248000" cy="5602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315" name="Oval 202"/>
            <p:cNvSpPr>
              <a:spLocks noChangeArrowheads="1"/>
            </p:cNvSpPr>
            <p:nvPr/>
          </p:nvSpPr>
          <p:spPr bwMode="auto">
            <a:xfrm>
              <a:off x="7724709" y="2656006"/>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6" name="Oval 130"/>
            <p:cNvSpPr>
              <a:spLocks noChangeArrowheads="1"/>
            </p:cNvSpPr>
            <p:nvPr/>
          </p:nvSpPr>
          <p:spPr bwMode="auto">
            <a:xfrm>
              <a:off x="7251602" y="2856033"/>
              <a:ext cx="90494" cy="93663"/>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7" name="Oval 130"/>
            <p:cNvSpPr>
              <a:spLocks noChangeArrowheads="1"/>
            </p:cNvSpPr>
            <p:nvPr/>
          </p:nvSpPr>
          <p:spPr bwMode="auto">
            <a:xfrm>
              <a:off x="7491331" y="2757607"/>
              <a:ext cx="90493"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318" name="TextBox 149"/>
            <p:cNvSpPr txBox="1">
              <a:spLocks noChangeArrowheads="1"/>
            </p:cNvSpPr>
            <p:nvPr/>
          </p:nvSpPr>
          <p:spPr bwMode="auto">
            <a:xfrm>
              <a:off x="6794371" y="2987797"/>
              <a:ext cx="506447" cy="52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2800" b="1" kern="0" dirty="0">
                  <a:solidFill>
                    <a:srgbClr val="000000"/>
                  </a:solidFill>
                  <a:sym typeface="Wingdings" panose="05000000000000000000" pitchFamily="2" charset="2"/>
                </a:rPr>
                <a:t></a:t>
              </a:r>
              <a:endParaRPr lang="zh-CN" altLang="en-US" sz="2800" b="1" kern="0" dirty="0">
                <a:solidFill>
                  <a:srgbClr val="000000"/>
                </a:solidFill>
              </a:endParaRPr>
            </a:p>
          </p:txBody>
        </p:sp>
        <p:sp>
          <p:nvSpPr>
            <p:cNvPr id="319" name="Oval 202"/>
            <p:cNvSpPr>
              <a:spLocks noChangeArrowheads="1"/>
            </p:cNvSpPr>
            <p:nvPr/>
          </p:nvSpPr>
          <p:spPr bwMode="auto">
            <a:xfrm>
              <a:off x="7966025" y="2530592"/>
              <a:ext cx="92081" cy="95251"/>
            </a:xfrm>
            <a:prstGeom prst="ellipse">
              <a:avLst/>
            </a:prstGeom>
            <a:solidFill>
              <a:srgbClr val="0000FF"/>
            </a:solidFill>
            <a:ln w="9525">
              <a:solidFill>
                <a:srgbClr val="0000FF"/>
              </a:solidFill>
              <a:round/>
            </a:ln>
          </p:spPr>
          <p:txBody>
            <a:bodyPr wrap="none" anchor="ctr"/>
            <a:lstStyle/>
            <a:p>
              <a:pPr fontAlgn="auto">
                <a:spcBef>
                  <a:spcPts val="0"/>
                </a:spcBef>
                <a:spcAft>
                  <a:spcPts val="0"/>
                </a:spcAft>
                <a:defRPr/>
              </a:pPr>
              <a:endParaRPr lang="zh-CN" altLang="en-US" sz="2400" b="1" kern="0">
                <a:solidFill>
                  <a:sysClr val="windowText" lastClr="000000"/>
                </a:solidFill>
              </a:endParaRPr>
            </a:p>
          </p:txBody>
        </p:sp>
        <p:cxnSp>
          <p:nvCxnSpPr>
            <p:cNvPr id="1551473" name="直接连接符 117"/>
            <p:cNvCxnSpPr>
              <a:cxnSpLocks noChangeShapeType="1"/>
              <a:stCxn id="295" idx="4"/>
              <a:endCxn id="299" idx="3"/>
            </p:cNvCxnSpPr>
            <p:nvPr/>
          </p:nvCxnSpPr>
          <p:spPr bwMode="auto">
            <a:xfrm flipH="1">
              <a:off x="4726527" y="1506753"/>
              <a:ext cx="4876" cy="220046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51474" name="直接连接符 119"/>
            <p:cNvCxnSpPr>
              <a:cxnSpLocks noChangeShapeType="1"/>
              <a:stCxn id="295" idx="4"/>
              <a:endCxn id="299" idx="3"/>
            </p:cNvCxnSpPr>
            <p:nvPr/>
          </p:nvCxnSpPr>
          <p:spPr bwMode="auto">
            <a:xfrm>
              <a:off x="2854527" y="2309217"/>
              <a:ext cx="0" cy="138454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347" y="3187824"/>
              <a:ext cx="312759" cy="4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2000" b="1" kern="0" dirty="0">
                  <a:solidFill>
                    <a:srgbClr val="000000"/>
                  </a:solidFill>
                </a:rPr>
                <a:t>4</a:t>
              </a:r>
            </a:p>
          </p:txBody>
        </p:sp>
      </p:grpSp>
      <p:sp>
        <p:nvSpPr>
          <p:cNvPr id="276" name="Line 167"/>
          <p:cNvSpPr>
            <a:spLocks noChangeShapeType="1"/>
          </p:cNvSpPr>
          <p:nvPr/>
        </p:nvSpPr>
        <p:spPr bwMode="auto">
          <a:xfrm>
            <a:off x="6608763" y="2774950"/>
            <a:ext cx="400050" cy="222250"/>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endParaRPr>
          </a:p>
        </p:txBody>
      </p:sp>
      <p:sp>
        <p:nvSpPr>
          <p:cNvPr id="1551477" name="Text Box 101"/>
          <p:cNvSpPr txBox="1">
            <a:spLocks noChangeArrowheads="1"/>
          </p:cNvSpPr>
          <p:nvPr/>
        </p:nvSpPr>
        <p:spPr bwMode="auto">
          <a:xfrm>
            <a:off x="842963" y="4292600"/>
            <a:ext cx="86550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a:solidFill>
                  <a:srgbClr val="000099"/>
                </a:solidFill>
                <a:ea typeface="黑体" panose="02010609060101010101" pitchFamily="49" charset="-122"/>
              </a:rPr>
              <a:t>因此，在图的点</a:t>
            </a:r>
            <a:r>
              <a:rPr lang="en-US" altLang="zh-CN" sz="2800" b="1">
                <a:solidFill>
                  <a:srgbClr val="000099"/>
                </a:solidFill>
                <a:ea typeface="黑体" panose="02010609060101010101" pitchFamily="49" charset="-122"/>
                <a:sym typeface="Wingdings" panose="05000000000000000000" pitchFamily="2" charset="2"/>
              </a:rPr>
              <a:t></a:t>
            </a:r>
            <a:r>
              <a:rPr lang="zh-CN" altLang="zh-CN" sz="2800" b="1">
                <a:solidFill>
                  <a:srgbClr val="000099"/>
                </a:solidFill>
                <a:ea typeface="黑体" panose="02010609060101010101" pitchFamily="49" charset="-122"/>
              </a:rPr>
              <a:t>，发送方知道现在只是丢失了个别的报文段。于是</a:t>
            </a:r>
            <a:r>
              <a:rPr lang="zh-CN" altLang="zh-CN" sz="2800" b="1">
                <a:solidFill>
                  <a:srgbClr val="FF0000"/>
                </a:solidFill>
                <a:ea typeface="黑体" panose="02010609060101010101" pitchFamily="49" charset="-122"/>
              </a:rPr>
              <a:t>不启动慢开始，而是执行快恢复算法。</a:t>
            </a:r>
            <a:r>
              <a:rPr lang="zh-CN" altLang="zh-CN" sz="2800" b="1">
                <a:solidFill>
                  <a:srgbClr val="000099"/>
                </a:solidFill>
                <a:ea typeface="黑体" panose="02010609060101010101" pitchFamily="49" charset="-122"/>
              </a:rPr>
              <a:t>这时，发送方调整门限值</a:t>
            </a:r>
            <a:r>
              <a:rPr lang="en-US" altLang="zh-CN" sz="2800" b="1">
                <a:solidFill>
                  <a:srgbClr val="000099"/>
                </a:solidFill>
                <a:ea typeface="黑体" panose="02010609060101010101" pitchFamily="49" charset="-122"/>
              </a:rPr>
              <a:t>ssthresh = cwnd / 2 = 8</a:t>
            </a:r>
            <a:r>
              <a:rPr lang="zh-CN" altLang="zh-CN" sz="2800" b="1">
                <a:solidFill>
                  <a:srgbClr val="000099"/>
                </a:solidFill>
                <a:ea typeface="黑体" panose="02010609060101010101" pitchFamily="49" charset="-122"/>
              </a:rPr>
              <a:t>，同时设置拥塞窗口</a:t>
            </a:r>
            <a:r>
              <a:rPr lang="en-US" altLang="zh-CN" sz="2800" b="1">
                <a:solidFill>
                  <a:srgbClr val="000099"/>
                </a:solidFill>
                <a:ea typeface="黑体" panose="02010609060101010101" pitchFamily="49" charset="-122"/>
              </a:rPr>
              <a:t>cwnd = ssthresh = 8</a:t>
            </a:r>
            <a:r>
              <a:rPr lang="zh-CN" altLang="zh-CN" sz="2800" b="1">
                <a:solidFill>
                  <a:srgbClr val="000099"/>
                </a:solidFill>
                <a:ea typeface="黑体" panose="02010609060101010101" pitchFamily="49" charset="-122"/>
              </a:rPr>
              <a:t>（见图中的点</a:t>
            </a:r>
            <a:r>
              <a:rPr lang="en-US" altLang="zh-CN" sz="2800" b="1">
                <a:solidFill>
                  <a:srgbClr val="000099"/>
                </a:solidFill>
                <a:ea typeface="黑体" panose="02010609060101010101" pitchFamily="49" charset="-122"/>
                <a:sym typeface="Wingdings" panose="05000000000000000000" pitchFamily="2" charset="2"/>
              </a:rPr>
              <a:t></a:t>
            </a:r>
            <a:r>
              <a:rPr lang="zh-CN" altLang="zh-CN" sz="2800" b="1">
                <a:solidFill>
                  <a:srgbClr val="000099"/>
                </a:solidFill>
                <a:ea typeface="黑体" panose="02010609060101010101" pitchFamily="49" charset="-122"/>
              </a:rPr>
              <a:t>），并开始执行拥塞避免算法。</a:t>
            </a:r>
            <a:endParaRPr lang="en-US" altLang="zh-CN" sz="2800" b="1">
              <a:solidFill>
                <a:srgbClr val="000099"/>
              </a:solidFill>
              <a:ea typeface="黑体" panose="02010609060101010101" pitchFamily="49" charset="-122"/>
            </a:endParaRPr>
          </a:p>
        </p:txBody>
      </p:sp>
      <p:sp>
        <p:nvSpPr>
          <p:cNvPr id="155147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4EE2907-59BE-40C9-8BEC-BCC048908557}" type="slidenum">
              <a:rPr lang="zh-CN" altLang="en-US" smtClean="0"/>
              <a:pPr/>
              <a:t>49</a:t>
            </a:fld>
            <a:endParaRPr lang="en-US" altLang="zh-CN" smtClean="0"/>
          </a:p>
        </p:txBody>
      </p:sp>
      <p:sp>
        <p:nvSpPr>
          <p:cNvPr id="155147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340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加法增大，乘法减小 </a:t>
            </a:r>
            <a:r>
              <a:rPr lang="en-US" altLang="zh-CN" smtClean="0">
                <a:ea typeface="黑体" panose="02010609060101010101" pitchFamily="49" charset="-122"/>
              </a:rPr>
              <a:t>(AIMD)</a:t>
            </a:r>
            <a:endParaRPr lang="zh-CN" altLang="en-US" smtClean="0">
              <a:ea typeface="黑体" panose="02010609060101010101" pitchFamily="49" charset="-122"/>
            </a:endParaRPr>
          </a:p>
        </p:txBody>
      </p:sp>
      <p:sp>
        <p:nvSpPr>
          <p:cNvPr id="1553410"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可以看出，在拥塞避免阶段，拥塞窗口是按照线性规律增大的。这常称为</a:t>
            </a:r>
            <a:r>
              <a:rPr lang="zh-CN" altLang="en-US" u="sng" dirty="0" smtClean="0">
                <a:solidFill>
                  <a:srgbClr val="FF0000"/>
                </a:solidFill>
                <a:ea typeface="黑体" panose="02010609060101010101" pitchFamily="49" charset="-122"/>
              </a:rPr>
              <a:t>“</a:t>
            </a:r>
            <a:r>
              <a:rPr lang="zh-CN" altLang="zh-CN" u="sng" dirty="0" smtClean="0">
                <a:solidFill>
                  <a:srgbClr val="FF0000"/>
                </a:solidFill>
                <a:ea typeface="黑体" panose="02010609060101010101" pitchFamily="49" charset="-122"/>
              </a:rPr>
              <a:t>加法增大</a:t>
            </a:r>
            <a:r>
              <a:rPr lang="zh-CN" altLang="en-US" u="sng" dirty="0" smtClean="0">
                <a:solidFill>
                  <a:srgbClr val="FF0000"/>
                </a:solidFill>
                <a:ea typeface="黑体" panose="02010609060101010101" pitchFamily="49" charset="-122"/>
              </a:rPr>
              <a:t>”</a:t>
            </a:r>
            <a:r>
              <a:rPr lang="en-US" altLang="zh-CN" u="sng" dirty="0" smtClean="0">
                <a:solidFill>
                  <a:srgbClr val="FF0000"/>
                </a:solidFill>
                <a:ea typeface="黑体" panose="02010609060101010101" pitchFamily="49" charset="-122"/>
              </a:rPr>
              <a:t> </a:t>
            </a:r>
            <a:r>
              <a:rPr lang="en-US" altLang="zh-CN" u="sng" dirty="0" smtClean="0">
                <a:ea typeface="黑体" panose="02010609060101010101" pitchFamily="49" charset="-122"/>
              </a:rPr>
              <a:t>AI (Additive Increase)</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当</a:t>
            </a:r>
            <a:r>
              <a:rPr lang="zh-CN" altLang="zh-CN" dirty="0" smtClean="0">
                <a:ea typeface="黑体" panose="02010609060101010101" pitchFamily="49" charset="-122"/>
              </a:rPr>
              <a:t>出现超时或</a:t>
            </a:r>
            <a:r>
              <a:rPr lang="en-US" altLang="zh-CN" dirty="0" smtClean="0">
                <a:ea typeface="黑体" panose="02010609060101010101" pitchFamily="49" charset="-122"/>
              </a:rPr>
              <a:t>3</a:t>
            </a:r>
            <a:r>
              <a:rPr lang="zh-CN" altLang="zh-CN" dirty="0" smtClean="0">
                <a:ea typeface="黑体" panose="02010609060101010101" pitchFamily="49" charset="-122"/>
              </a:rPr>
              <a:t>个重复的确认</a:t>
            </a:r>
            <a:r>
              <a:rPr lang="zh-CN" altLang="en-US" dirty="0" smtClean="0">
                <a:ea typeface="黑体" panose="02010609060101010101" pitchFamily="49" charset="-122"/>
              </a:rPr>
              <a:t>时</a:t>
            </a:r>
            <a:r>
              <a:rPr lang="zh-CN" altLang="zh-CN" dirty="0" smtClean="0">
                <a:ea typeface="黑体" panose="02010609060101010101" pitchFamily="49" charset="-122"/>
              </a:rPr>
              <a:t>，就要把门限值设置为当前拥塞窗口值的一半，并大大减小拥塞窗口的数值。这常称为</a:t>
            </a:r>
            <a:r>
              <a:rPr lang="zh-CN" altLang="zh-CN" u="sng" dirty="0" smtClean="0">
                <a:solidFill>
                  <a:srgbClr val="FF0000"/>
                </a:solidFill>
                <a:ea typeface="黑体" panose="02010609060101010101" pitchFamily="49" charset="-122"/>
              </a:rPr>
              <a:t>“乘法减小”</a:t>
            </a:r>
            <a:r>
              <a:rPr lang="en-US" altLang="zh-CN" u="sng" dirty="0" smtClean="0">
                <a:ea typeface="黑体" panose="02010609060101010101" pitchFamily="49" charset="-122"/>
              </a:rPr>
              <a:t>MD (Multiplicative Decrease)</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二者合在一起就是所谓的</a:t>
            </a:r>
            <a:r>
              <a:rPr lang="en-US" altLang="zh-CN" dirty="0" smtClean="0">
                <a:ea typeface="黑体" panose="02010609060101010101" pitchFamily="49" charset="-122"/>
              </a:rPr>
              <a:t> </a:t>
            </a:r>
            <a:r>
              <a:rPr lang="en-US" altLang="zh-CN" u="sng" dirty="0" smtClean="0">
                <a:solidFill>
                  <a:srgbClr val="FF0000"/>
                </a:solidFill>
                <a:ea typeface="黑体" panose="02010609060101010101" pitchFamily="49" charset="-122"/>
              </a:rPr>
              <a:t>AIMD </a:t>
            </a:r>
            <a:r>
              <a:rPr lang="zh-CN" altLang="zh-CN" dirty="0" smtClean="0">
                <a:ea typeface="黑体" panose="02010609060101010101" pitchFamily="49" charset="-122"/>
              </a:rPr>
              <a:t>算法。</a:t>
            </a:r>
            <a:endParaRPr lang="zh-CN" altLang="en-US" dirty="0" smtClean="0">
              <a:ea typeface="黑体" panose="02010609060101010101" pitchFamily="49" charset="-122"/>
            </a:endParaRPr>
          </a:p>
        </p:txBody>
      </p:sp>
      <p:sp>
        <p:nvSpPr>
          <p:cNvPr id="15534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1B8BD7-6919-4BA4-BBDC-361D7E11A44F}" type="slidenum">
              <a:rPr lang="zh-CN" altLang="en-US" smtClean="0"/>
              <a:pPr eaLnBrk="1" hangingPunct="1"/>
              <a:t>50</a:t>
            </a:fld>
            <a:endParaRPr lang="en-US" altLang="zh-CN" smtClean="0"/>
          </a:p>
        </p:txBody>
      </p:sp>
      <p:sp>
        <p:nvSpPr>
          <p:cNvPr id="15534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4433" name="标题 1"/>
          <p:cNvSpPr>
            <a:spLocks noGrp="1" noChangeArrowheads="1"/>
          </p:cNvSpPr>
          <p:nvPr>
            <p:ph type="title"/>
          </p:nvPr>
        </p:nvSpPr>
        <p:spPr/>
        <p:txBody>
          <a:bodyPr/>
          <a:lstStyle/>
          <a:p>
            <a:pPr algn="ctr"/>
            <a:r>
              <a:rPr lang="en-US" altLang="zh-CN" smtClean="0">
                <a:ea typeface="黑体" panose="02010609060101010101" pitchFamily="49" charset="-122"/>
              </a:rPr>
              <a:t>TCP</a:t>
            </a:r>
            <a:r>
              <a:rPr lang="zh-CN" altLang="zh-CN" smtClean="0">
                <a:ea typeface="黑体" panose="02010609060101010101" pitchFamily="49" charset="-122"/>
              </a:rPr>
              <a:t>拥塞控制流程图</a:t>
            </a:r>
            <a:endParaRPr lang="zh-CN" altLang="en-US" smtClean="0">
              <a:ea typeface="黑体" panose="02010609060101010101" pitchFamily="49" charset="-122"/>
            </a:endParaRPr>
          </a:p>
        </p:txBody>
      </p:sp>
      <p:cxnSp>
        <p:nvCxnSpPr>
          <p:cNvPr id="7" name="直接箭头连接符 6"/>
          <p:cNvCxnSpPr/>
          <p:nvPr/>
        </p:nvCxnSpPr>
        <p:spPr>
          <a:xfrm>
            <a:off x="5005388" y="1668463"/>
            <a:ext cx="0" cy="500062"/>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554435" name="TextBox 31"/>
          <p:cNvSpPr txBox="1">
            <a:spLocks noChangeArrowheads="1"/>
          </p:cNvSpPr>
          <p:nvPr/>
        </p:nvSpPr>
        <p:spPr bwMode="auto">
          <a:xfrm>
            <a:off x="4394200" y="1206500"/>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连接建立</a:t>
            </a:r>
          </a:p>
        </p:txBody>
      </p:sp>
      <p:cxnSp>
        <p:nvCxnSpPr>
          <p:cNvPr id="10" name="直接箭头连接符 9"/>
          <p:cNvCxnSpPr/>
          <p:nvPr/>
        </p:nvCxnSpPr>
        <p:spPr>
          <a:xfrm flipH="1">
            <a:off x="5022850" y="3451225"/>
            <a:ext cx="1588" cy="86360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554437" name="AutoShape 5"/>
          <p:cNvSpPr>
            <a:spLocks noChangeArrowheads="1"/>
          </p:cNvSpPr>
          <p:nvPr/>
        </p:nvSpPr>
        <p:spPr bwMode="auto">
          <a:xfrm>
            <a:off x="2809875" y="4314825"/>
            <a:ext cx="4392613" cy="1169988"/>
          </a:xfrm>
          <a:prstGeom prst="flowChartProcess">
            <a:avLst/>
          </a:prstGeom>
          <a:solidFill>
            <a:srgbClr val="FFCC00"/>
          </a:solidFill>
          <a:ln w="9525">
            <a:solidFill>
              <a:schemeClr val="tx1"/>
            </a:solidFill>
            <a:miter lim="800000"/>
            <a:headEnd/>
            <a:tailEnd/>
          </a:ln>
        </p:spPr>
        <p:txBody>
          <a:bodyPr wrap="none" anchor="ctr"/>
          <a:lstStyle/>
          <a:p>
            <a:pPr algn="ctr" eaLnBrk="0" hangingPunct="0"/>
            <a:endParaRPr lang="zh-CN" altLang="zh-CN" sz="1600" b="1">
              <a:ea typeface="宋体" panose="02010600030101010101" pitchFamily="2" charset="-122"/>
            </a:endParaRPr>
          </a:p>
        </p:txBody>
      </p:sp>
      <p:sp>
        <p:nvSpPr>
          <p:cNvPr id="1554438" name="TextBox 65"/>
          <p:cNvSpPr txBox="1">
            <a:spLocks noChangeArrowheads="1"/>
          </p:cNvSpPr>
          <p:nvPr/>
        </p:nvSpPr>
        <p:spPr bwMode="auto">
          <a:xfrm>
            <a:off x="560388" y="1433513"/>
            <a:ext cx="2214562" cy="646112"/>
          </a:xfrm>
          <a:prstGeom prst="rect">
            <a:avLst/>
          </a:prstGeom>
          <a:solidFill>
            <a:srgbClr val="66FF66"/>
          </a:solidFill>
          <a:ln w="12700">
            <a:solidFill>
              <a:schemeClr val="tx1"/>
            </a:solidFill>
            <a:miter lim="800000"/>
            <a:headEnd/>
            <a:tailEnd/>
          </a:ln>
        </p:spPr>
        <p:txBody>
          <a:bodyPr>
            <a:spAutoFit/>
          </a:bodyPr>
          <a:lstStyle/>
          <a:p>
            <a:pPr algn="ctr"/>
            <a:r>
              <a:rPr lang="en-US" altLang="zh-CN" b="1">
                <a:latin typeface="Times New Roman" panose="02020603050405020304" pitchFamily="18" charset="0"/>
                <a:ea typeface="宋体" panose="02010600030101010101" pitchFamily="2" charset="-122"/>
              </a:rPr>
              <a:t>ssthresh = cwnd / 2</a:t>
            </a:r>
          </a:p>
          <a:p>
            <a:pPr algn="ctr"/>
            <a:r>
              <a:rPr lang="en-US" altLang="zh-CN" b="1">
                <a:latin typeface="Times New Roman" panose="02020603050405020304" pitchFamily="18" charset="0"/>
                <a:ea typeface="宋体" panose="02010600030101010101" pitchFamily="2" charset="-122"/>
              </a:rPr>
              <a:t>cwnd = 1</a:t>
            </a:r>
            <a:endParaRPr lang="zh-CN" altLang="en-US" b="1">
              <a:latin typeface="Times New Roman" panose="02020603050405020304" pitchFamily="18" charset="0"/>
              <a:ea typeface="宋体" panose="02010600030101010101" pitchFamily="2" charset="-122"/>
            </a:endParaRPr>
          </a:p>
        </p:txBody>
      </p:sp>
      <p:cxnSp>
        <p:nvCxnSpPr>
          <p:cNvPr id="17" name="肘形连接符 16"/>
          <p:cNvCxnSpPr>
            <a:stCxn id="1554451" idx="1"/>
            <a:endCxn id="1554438" idx="2"/>
          </p:cNvCxnSpPr>
          <p:nvPr/>
        </p:nvCxnSpPr>
        <p:spPr>
          <a:xfrm rot="10800000">
            <a:off x="1668463" y="2079625"/>
            <a:ext cx="1141412" cy="706438"/>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8" name="肘形连接符 17"/>
          <p:cNvCxnSpPr>
            <a:stCxn id="1554437" idx="1"/>
            <a:endCxn id="1554438" idx="2"/>
          </p:cNvCxnSpPr>
          <p:nvPr/>
        </p:nvCxnSpPr>
        <p:spPr>
          <a:xfrm rot="10800000">
            <a:off x="1668463" y="2079625"/>
            <a:ext cx="1141412" cy="28194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54441" name="TextBox 36"/>
          <p:cNvSpPr txBox="1">
            <a:spLocks noChangeArrowheads="1"/>
          </p:cNvSpPr>
          <p:nvPr/>
        </p:nvSpPr>
        <p:spPr bwMode="auto">
          <a:xfrm>
            <a:off x="7491413" y="3594100"/>
            <a:ext cx="2214562" cy="646113"/>
          </a:xfrm>
          <a:prstGeom prst="rect">
            <a:avLst/>
          </a:prstGeom>
          <a:solidFill>
            <a:srgbClr val="66FF66"/>
          </a:solidFill>
          <a:ln w="9525">
            <a:solidFill>
              <a:schemeClr val="tx1"/>
            </a:solidFill>
            <a:miter lim="800000"/>
            <a:headEnd/>
            <a:tailEnd/>
          </a:ln>
        </p:spPr>
        <p:txBody>
          <a:bodyPr>
            <a:spAutoFit/>
          </a:bodyPr>
          <a:lstStyle/>
          <a:p>
            <a:pPr algn="ctr"/>
            <a:r>
              <a:rPr lang="en-US" altLang="zh-CN" b="1">
                <a:latin typeface="Times New Roman" panose="02020603050405020304" pitchFamily="18" charset="0"/>
                <a:ea typeface="宋体" panose="02010600030101010101" pitchFamily="2" charset="-122"/>
              </a:rPr>
              <a:t>ssthresh = cwnd / 2</a:t>
            </a:r>
          </a:p>
          <a:p>
            <a:pPr algn="ctr"/>
            <a:r>
              <a:rPr lang="en-US" altLang="zh-CN" b="1">
                <a:latin typeface="Times New Roman" panose="02020603050405020304" pitchFamily="18" charset="0"/>
                <a:ea typeface="宋体" panose="02010600030101010101" pitchFamily="2" charset="-122"/>
              </a:rPr>
              <a:t>cwnd = ssthresh</a:t>
            </a:r>
            <a:endParaRPr lang="zh-CN" altLang="en-US" b="1">
              <a:latin typeface="Times New Roman" panose="02020603050405020304" pitchFamily="18" charset="0"/>
              <a:ea typeface="宋体" panose="02010600030101010101" pitchFamily="2" charset="-122"/>
            </a:endParaRPr>
          </a:p>
        </p:txBody>
      </p:sp>
      <p:cxnSp>
        <p:nvCxnSpPr>
          <p:cNvPr id="21" name="直接箭头连接符 20"/>
          <p:cNvCxnSpPr>
            <a:stCxn id="1554441" idx="1"/>
            <a:endCxn id="1554438" idx="2"/>
          </p:cNvCxnSpPr>
          <p:nvPr/>
        </p:nvCxnSpPr>
        <p:spPr>
          <a:xfrm flipH="1">
            <a:off x="5022850" y="3917950"/>
            <a:ext cx="2468563" cy="0"/>
          </a:xfrm>
          <a:prstGeom prst="straightConnector1">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2" name="肘形连接符 21"/>
          <p:cNvCxnSpPr>
            <a:stCxn id="1554454" idx="3"/>
            <a:endCxn id="1554441" idx="2"/>
          </p:cNvCxnSpPr>
          <p:nvPr/>
        </p:nvCxnSpPr>
        <p:spPr>
          <a:xfrm flipV="1">
            <a:off x="7261225" y="4240213"/>
            <a:ext cx="1336675" cy="576262"/>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3" name="肘形连接符 105"/>
          <p:cNvCxnSpPr>
            <a:stCxn id="1554454" idx="3"/>
            <a:endCxn id="1554441" idx="0"/>
          </p:cNvCxnSpPr>
          <p:nvPr/>
        </p:nvCxnSpPr>
        <p:spPr>
          <a:xfrm>
            <a:off x="7202488" y="2730500"/>
            <a:ext cx="1395412" cy="863600"/>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554454" idx="3"/>
            <a:endCxn id="1554441" idx="0"/>
          </p:cNvCxnSpPr>
          <p:nvPr/>
        </p:nvCxnSpPr>
        <p:spPr>
          <a:xfrm>
            <a:off x="5022850" y="5483225"/>
            <a:ext cx="4763" cy="466725"/>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554446" name="TextBox 114"/>
          <p:cNvSpPr txBox="1">
            <a:spLocks noChangeArrowheads="1"/>
          </p:cNvSpPr>
          <p:nvPr/>
        </p:nvSpPr>
        <p:spPr bwMode="auto">
          <a:xfrm>
            <a:off x="4322763" y="5848350"/>
            <a:ext cx="1422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连接终止</a:t>
            </a:r>
          </a:p>
        </p:txBody>
      </p:sp>
      <p:sp>
        <p:nvSpPr>
          <p:cNvPr id="27" name="AutoShape 5"/>
          <p:cNvSpPr>
            <a:spLocks noChangeArrowheads="1"/>
          </p:cNvSpPr>
          <p:nvPr/>
        </p:nvSpPr>
        <p:spPr bwMode="auto">
          <a:xfrm>
            <a:off x="2809875" y="2154238"/>
            <a:ext cx="4392613" cy="1296987"/>
          </a:xfrm>
          <a:prstGeom prst="flowChartProcess">
            <a:avLst/>
          </a:prstGeom>
          <a:solidFill>
            <a:srgbClr val="FFFF66"/>
          </a:solidFill>
          <a:ln w="12700">
            <a:solidFill>
              <a:schemeClr val="tx1"/>
            </a:solidFill>
            <a:miter lim="800000"/>
          </a:ln>
          <a:effectLst>
            <a:outerShdw blurRad="50800" dist="38100" dir="2700000" algn="tl" rotWithShape="0">
              <a:prstClr val="black">
                <a:alpha val="40000"/>
              </a:prstClr>
            </a:outerShdw>
          </a:effectLst>
        </p:spPr>
        <p:txBody>
          <a:bodyPr wrap="none" anchor="ctr"/>
          <a:lstStyle/>
          <a:p>
            <a:pPr algn="ctr">
              <a:defRPr/>
            </a:pPr>
            <a:endParaRPr lang="zh-CN" altLang="zh-CN" sz="1600" b="1" noProof="1">
              <a:effectLst>
                <a:outerShdw blurRad="38100" dist="38100" dir="2700000" algn="tl">
                  <a:srgbClr val="000000">
                    <a:alpha val="43137"/>
                  </a:srgbClr>
                </a:outerShdw>
              </a:effectLst>
            </a:endParaRPr>
          </a:p>
        </p:txBody>
      </p:sp>
      <p:sp>
        <p:nvSpPr>
          <p:cNvPr id="1554448" name="Text Box 15"/>
          <p:cNvSpPr txBox="1">
            <a:spLocks noChangeArrowheads="1"/>
          </p:cNvSpPr>
          <p:nvPr/>
        </p:nvSpPr>
        <p:spPr bwMode="auto">
          <a:xfrm>
            <a:off x="4448175" y="2154238"/>
            <a:ext cx="1112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FF0000"/>
                </a:solidFill>
                <a:ea typeface="黑体" panose="02010609060101010101" pitchFamily="49" charset="-122"/>
              </a:rPr>
              <a:t>慢开始</a:t>
            </a:r>
          </a:p>
        </p:txBody>
      </p:sp>
      <p:sp>
        <p:nvSpPr>
          <p:cNvPr id="1554449" name="Text Box 16"/>
          <p:cNvSpPr txBox="1">
            <a:spLocks noChangeArrowheads="1"/>
          </p:cNvSpPr>
          <p:nvPr/>
        </p:nvSpPr>
        <p:spPr bwMode="auto">
          <a:xfrm>
            <a:off x="3800475" y="2505075"/>
            <a:ext cx="2387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b="1">
                <a:ea typeface="黑体" panose="02010609060101010101" pitchFamily="49" charset="-122"/>
              </a:rPr>
              <a:t>拥塞窗口 </a:t>
            </a:r>
            <a:r>
              <a:rPr lang="en-US" altLang="zh-CN" b="1">
                <a:ea typeface="黑体" panose="02010609060101010101" pitchFamily="49" charset="-122"/>
              </a:rPr>
              <a:t>cwnd =</a:t>
            </a:r>
            <a:r>
              <a:rPr lang="zh-CN" altLang="en-US" b="1">
                <a:ea typeface="黑体" panose="02010609060101010101" pitchFamily="49" charset="-122"/>
              </a:rPr>
              <a:t> </a:t>
            </a:r>
            <a:r>
              <a:rPr lang="en-US" altLang="zh-CN" b="1">
                <a:ea typeface="黑体" panose="02010609060101010101" pitchFamily="49" charset="-122"/>
              </a:rPr>
              <a:t>1 </a:t>
            </a:r>
            <a:endParaRPr lang="zh-CN" altLang="en-US" b="1">
              <a:ea typeface="黑体" panose="02010609060101010101" pitchFamily="49" charset="-122"/>
            </a:endParaRPr>
          </a:p>
          <a:p>
            <a:pPr algn="ctr"/>
            <a:r>
              <a:rPr lang="zh-CN" altLang="en-US" b="1">
                <a:ea typeface="黑体" panose="02010609060101010101" pitchFamily="49" charset="-122"/>
              </a:rPr>
              <a:t>按指数规律增大</a:t>
            </a:r>
            <a:endParaRPr lang="en-US" altLang="zh-CN" b="1" u="sng">
              <a:ea typeface="黑体" panose="02010609060101010101" pitchFamily="49" charset="-122"/>
              <a:sym typeface="Symbol" panose="05050102010706020507" pitchFamily="18" charset="2"/>
            </a:endParaRPr>
          </a:p>
        </p:txBody>
      </p:sp>
      <p:sp>
        <p:nvSpPr>
          <p:cNvPr id="1554450" name="TextBox 25"/>
          <p:cNvSpPr txBox="1">
            <a:spLocks noChangeArrowheads="1"/>
          </p:cNvSpPr>
          <p:nvPr/>
        </p:nvSpPr>
        <p:spPr bwMode="auto">
          <a:xfrm>
            <a:off x="6188075" y="2443163"/>
            <a:ext cx="1073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b="1">
                <a:solidFill>
                  <a:srgbClr val="0000FF"/>
                </a:solidFill>
                <a:ea typeface="黑体" panose="02010609060101010101" pitchFamily="49" charset="-122"/>
              </a:rPr>
              <a:t>3 </a:t>
            </a:r>
            <a:r>
              <a:rPr lang="zh-CN" altLang="en-US" b="1">
                <a:solidFill>
                  <a:srgbClr val="0000FF"/>
                </a:solidFill>
                <a:ea typeface="黑体" panose="02010609060101010101" pitchFamily="49" charset="-122"/>
              </a:rPr>
              <a:t>个重复</a:t>
            </a:r>
            <a:endParaRPr lang="en-US" altLang="zh-CN" b="1">
              <a:solidFill>
                <a:srgbClr val="0000FF"/>
              </a:solidFill>
              <a:ea typeface="黑体" panose="02010609060101010101" pitchFamily="49" charset="-122"/>
            </a:endParaRPr>
          </a:p>
          <a:p>
            <a:pPr algn="ctr"/>
            <a:r>
              <a:rPr lang="zh-CN" altLang="en-US" b="1">
                <a:solidFill>
                  <a:srgbClr val="0000FF"/>
                </a:solidFill>
                <a:ea typeface="黑体" panose="02010609060101010101" pitchFamily="49" charset="-122"/>
              </a:rPr>
              <a:t>的 </a:t>
            </a:r>
            <a:r>
              <a:rPr lang="en-US" altLang="zh-CN" b="1">
                <a:solidFill>
                  <a:srgbClr val="0000FF"/>
                </a:solidFill>
                <a:ea typeface="黑体" panose="02010609060101010101" pitchFamily="49" charset="-122"/>
              </a:rPr>
              <a:t>ACK</a:t>
            </a:r>
            <a:endParaRPr lang="zh-CN" altLang="en-US" b="1">
              <a:solidFill>
                <a:srgbClr val="0000FF"/>
              </a:solidFill>
              <a:ea typeface="黑体" panose="02010609060101010101" pitchFamily="49" charset="-122"/>
            </a:endParaRPr>
          </a:p>
        </p:txBody>
      </p:sp>
      <p:sp>
        <p:nvSpPr>
          <p:cNvPr id="1554451" name="TextBox 26"/>
          <p:cNvSpPr txBox="1">
            <a:spLocks noChangeArrowheads="1"/>
          </p:cNvSpPr>
          <p:nvPr/>
        </p:nvSpPr>
        <p:spPr bwMode="auto">
          <a:xfrm>
            <a:off x="2809875" y="2586038"/>
            <a:ext cx="700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FF"/>
                </a:solidFill>
                <a:ea typeface="黑体" panose="02010609060101010101" pitchFamily="49" charset="-122"/>
              </a:rPr>
              <a:t>超时</a:t>
            </a:r>
          </a:p>
        </p:txBody>
      </p:sp>
      <p:sp>
        <p:nvSpPr>
          <p:cNvPr id="1554452" name="TextBox 32"/>
          <p:cNvSpPr txBox="1">
            <a:spLocks noChangeArrowheads="1"/>
          </p:cNvSpPr>
          <p:nvPr/>
        </p:nvSpPr>
        <p:spPr bwMode="auto">
          <a:xfrm>
            <a:off x="4337050" y="3114675"/>
            <a:ext cx="17907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FF"/>
                </a:solidFill>
                <a:ea typeface="宋体" panose="02010600030101010101" pitchFamily="2" charset="-122"/>
              </a:rPr>
              <a:t>cwnd </a:t>
            </a:r>
            <a:r>
              <a:rPr lang="en-US" altLang="zh-CN" sz="1600" b="1">
                <a:solidFill>
                  <a:srgbClr val="0000FF"/>
                </a:solidFill>
                <a:ea typeface="宋体" panose="02010600030101010101" pitchFamily="2" charset="-122"/>
                <a:sym typeface="Symbol" panose="05050102010706020507" pitchFamily="18" charset="2"/>
              </a:rPr>
              <a:t> ssthresh</a:t>
            </a:r>
            <a:endParaRPr lang="zh-CN" altLang="en-US" sz="1600" b="1">
              <a:solidFill>
                <a:srgbClr val="0000FF"/>
              </a:solidFill>
              <a:ea typeface="宋体" panose="02010600030101010101" pitchFamily="2" charset="-122"/>
            </a:endParaRPr>
          </a:p>
        </p:txBody>
      </p:sp>
      <p:sp>
        <p:nvSpPr>
          <p:cNvPr id="1554453" name="Text Box 15"/>
          <p:cNvSpPr txBox="1">
            <a:spLocks noChangeArrowheads="1"/>
          </p:cNvSpPr>
          <p:nvPr/>
        </p:nvSpPr>
        <p:spPr bwMode="auto">
          <a:xfrm>
            <a:off x="4305300" y="4314825"/>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FF0000"/>
                </a:solidFill>
                <a:ea typeface="黑体" panose="02010609060101010101" pitchFamily="49" charset="-122"/>
              </a:rPr>
              <a:t>拥塞避免</a:t>
            </a:r>
          </a:p>
        </p:txBody>
      </p:sp>
      <p:sp>
        <p:nvSpPr>
          <p:cNvPr id="1554454" name="TextBox 41"/>
          <p:cNvSpPr txBox="1">
            <a:spLocks noChangeArrowheads="1"/>
          </p:cNvSpPr>
          <p:nvPr/>
        </p:nvSpPr>
        <p:spPr bwMode="auto">
          <a:xfrm>
            <a:off x="6188075" y="4492625"/>
            <a:ext cx="10731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b="1">
                <a:solidFill>
                  <a:srgbClr val="0000FF"/>
                </a:solidFill>
                <a:ea typeface="黑体" panose="02010609060101010101" pitchFamily="49" charset="-122"/>
              </a:rPr>
              <a:t>3 </a:t>
            </a:r>
            <a:r>
              <a:rPr lang="zh-CN" altLang="en-US" b="1">
                <a:solidFill>
                  <a:srgbClr val="0000FF"/>
                </a:solidFill>
                <a:ea typeface="黑体" panose="02010609060101010101" pitchFamily="49" charset="-122"/>
              </a:rPr>
              <a:t>个重复</a:t>
            </a:r>
            <a:endParaRPr lang="en-US" altLang="zh-CN" b="1">
              <a:solidFill>
                <a:srgbClr val="0000FF"/>
              </a:solidFill>
              <a:ea typeface="黑体" panose="02010609060101010101" pitchFamily="49" charset="-122"/>
            </a:endParaRPr>
          </a:p>
          <a:p>
            <a:pPr algn="ctr"/>
            <a:r>
              <a:rPr lang="zh-CN" altLang="en-US" b="1">
                <a:solidFill>
                  <a:srgbClr val="0000FF"/>
                </a:solidFill>
                <a:ea typeface="黑体" panose="02010609060101010101" pitchFamily="49" charset="-122"/>
              </a:rPr>
              <a:t>的 </a:t>
            </a:r>
            <a:r>
              <a:rPr lang="en-US" altLang="zh-CN" b="1">
                <a:solidFill>
                  <a:srgbClr val="0000FF"/>
                </a:solidFill>
                <a:ea typeface="黑体" panose="02010609060101010101" pitchFamily="49" charset="-122"/>
              </a:rPr>
              <a:t>ACK</a:t>
            </a:r>
            <a:endParaRPr lang="zh-CN" altLang="en-US" b="1">
              <a:solidFill>
                <a:srgbClr val="0000FF"/>
              </a:solidFill>
              <a:ea typeface="黑体" panose="02010609060101010101" pitchFamily="49" charset="-122"/>
            </a:endParaRPr>
          </a:p>
        </p:txBody>
      </p:sp>
      <p:sp>
        <p:nvSpPr>
          <p:cNvPr id="1554455" name="TextBox 42"/>
          <p:cNvSpPr txBox="1">
            <a:spLocks noChangeArrowheads="1"/>
          </p:cNvSpPr>
          <p:nvPr/>
        </p:nvSpPr>
        <p:spPr bwMode="auto">
          <a:xfrm>
            <a:off x="2822575" y="4624388"/>
            <a:ext cx="700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FF"/>
                </a:solidFill>
                <a:ea typeface="黑体" panose="02010609060101010101" pitchFamily="49" charset="-122"/>
              </a:rPr>
              <a:t>超时</a:t>
            </a:r>
          </a:p>
        </p:txBody>
      </p:sp>
      <p:sp>
        <p:nvSpPr>
          <p:cNvPr id="1554456" name="Text Box 16"/>
          <p:cNvSpPr txBox="1">
            <a:spLocks noChangeArrowheads="1"/>
          </p:cNvSpPr>
          <p:nvPr/>
        </p:nvSpPr>
        <p:spPr bwMode="auto">
          <a:xfrm>
            <a:off x="4159250" y="4724400"/>
            <a:ext cx="18732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b="1">
                <a:ea typeface="黑体" panose="02010609060101010101" pitchFamily="49" charset="-122"/>
              </a:rPr>
              <a:t>拥塞窗口 </a:t>
            </a:r>
            <a:r>
              <a:rPr lang="en-US" altLang="zh-CN" b="1">
                <a:ea typeface="黑体" panose="02010609060101010101" pitchFamily="49" charset="-122"/>
              </a:rPr>
              <a:t>cwnd </a:t>
            </a:r>
            <a:endParaRPr lang="zh-CN" altLang="en-US" b="1">
              <a:ea typeface="黑体" panose="02010609060101010101" pitchFamily="49" charset="-122"/>
            </a:endParaRPr>
          </a:p>
          <a:p>
            <a:pPr algn="ctr"/>
            <a:r>
              <a:rPr lang="zh-CN" altLang="en-US" b="1">
                <a:ea typeface="黑体" panose="02010609060101010101" pitchFamily="49" charset="-122"/>
              </a:rPr>
              <a:t>按线性规律增大</a:t>
            </a:r>
            <a:endParaRPr lang="en-US" altLang="zh-CN" b="1" u="sng">
              <a:ea typeface="黑体" panose="02010609060101010101" pitchFamily="49" charset="-122"/>
              <a:sym typeface="Symbol" panose="05050102010706020507" pitchFamily="18" charset="2"/>
            </a:endParaRPr>
          </a:p>
        </p:txBody>
      </p:sp>
      <p:grpSp>
        <p:nvGrpSpPr>
          <p:cNvPr id="1554457" name="组合 50"/>
          <p:cNvGrpSpPr>
            <a:grpSpLocks/>
          </p:cNvGrpSpPr>
          <p:nvPr/>
        </p:nvGrpSpPr>
        <p:grpSpPr bwMode="auto">
          <a:xfrm>
            <a:off x="2774950" y="1757363"/>
            <a:ext cx="1169988" cy="396875"/>
            <a:chOff x="2775421" y="1756578"/>
            <a:chExt cx="1169467" cy="397560"/>
          </a:xfrm>
        </p:grpSpPr>
        <p:cxnSp>
          <p:nvCxnSpPr>
            <p:cNvPr id="1554458" name="直接连接符 45"/>
            <p:cNvCxnSpPr>
              <a:cxnSpLocks noChangeShapeType="1"/>
              <a:stCxn id="1554438" idx="3"/>
              <a:endCxn id="1554441" idx="0"/>
            </p:cNvCxnSpPr>
            <p:nvPr/>
          </p:nvCxnSpPr>
          <p:spPr bwMode="auto">
            <a:xfrm flipV="1">
              <a:off x="2775421" y="1756578"/>
              <a:ext cx="1169467" cy="1"/>
            </a:xfrm>
            <a:prstGeom prst="line">
              <a:avLst/>
            </a:prstGeom>
            <a:noFill/>
            <a:ln w="19050">
              <a:solidFill>
                <a:schemeClr val="tx1"/>
              </a:solidFill>
              <a:round/>
              <a:headEnd/>
              <a:tailEnd/>
            </a:ln>
          </p:spPr>
        </p:cxnSp>
        <p:cxnSp>
          <p:nvCxnSpPr>
            <p:cNvPr id="48" name="直接箭头连接符 47"/>
            <p:cNvCxnSpPr>
              <a:stCxn id="1554438" idx="3"/>
              <a:endCxn id="1554441" idx="0"/>
            </p:cNvCxnSpPr>
            <p:nvPr/>
          </p:nvCxnSpPr>
          <p:spPr bwMode="auto">
            <a:xfrm>
              <a:off x="3944888" y="1756578"/>
              <a:ext cx="0" cy="39756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sp>
        <p:nvSpPr>
          <p:cNvPr id="1554460" name="灯片编号占位符 2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8AB319-9CEE-4025-B9F6-D0AF63790525}" type="slidenum">
              <a:rPr lang="zh-CN" altLang="en-US" smtClean="0"/>
              <a:pPr eaLnBrk="1" hangingPunct="1"/>
              <a:t>51</a:t>
            </a:fld>
            <a:endParaRPr lang="en-US" altLang="zh-CN" smtClean="0"/>
          </a:p>
        </p:txBody>
      </p:sp>
      <p:sp>
        <p:nvSpPr>
          <p:cNvPr id="1554461" name="页脚占位符 2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5457"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发送窗口的上限值</a:t>
            </a:r>
          </a:p>
        </p:txBody>
      </p:sp>
      <p:sp>
        <p:nvSpPr>
          <p:cNvPr id="801796" name="Rectangle 4"/>
          <p:cNvSpPr>
            <a:spLocks noGrp="1" noChangeArrowheads="1"/>
          </p:cNvSpPr>
          <p:nvPr>
            <p:ph idx="1"/>
          </p:nvPr>
        </p:nvSpPr>
        <p:spPr>
          <a:xfrm>
            <a:off x="495300" y="1196975"/>
            <a:ext cx="9066213" cy="4933950"/>
          </a:xfrm>
        </p:spPr>
        <p:txBody>
          <a:bodyPr/>
          <a:lstStyle/>
          <a:p>
            <a:pPr algn="just">
              <a:lnSpc>
                <a:spcPct val="100000"/>
              </a:lnSpc>
            </a:pPr>
            <a:r>
              <a:rPr lang="zh-CN" altLang="en-US" sz="2800" smtClean="0">
                <a:ea typeface="黑体" panose="02010609060101010101" pitchFamily="49" charset="-122"/>
              </a:rPr>
              <a:t>发送方的发送窗口的上限值应当取为接收方窗口 </a:t>
            </a:r>
            <a:r>
              <a:rPr lang="en-US" altLang="zh-CN" sz="2800" smtClean="0">
                <a:ea typeface="黑体" panose="02010609060101010101" pitchFamily="49" charset="-122"/>
              </a:rPr>
              <a:t>rwnd </a:t>
            </a:r>
            <a:r>
              <a:rPr lang="zh-CN" altLang="en-US" sz="2800" smtClean="0">
                <a:ea typeface="黑体" panose="02010609060101010101" pitchFamily="49" charset="-122"/>
              </a:rPr>
              <a:t>和拥塞窗口 </a:t>
            </a:r>
            <a:r>
              <a:rPr lang="en-US" altLang="zh-CN" sz="2800" smtClean="0">
                <a:ea typeface="黑体" panose="02010609060101010101" pitchFamily="49" charset="-122"/>
              </a:rPr>
              <a:t>cwnd </a:t>
            </a:r>
            <a:r>
              <a:rPr lang="zh-CN" altLang="en-US" sz="2800" smtClean="0">
                <a:ea typeface="黑体" panose="02010609060101010101" pitchFamily="49" charset="-122"/>
              </a:rPr>
              <a:t>这两个变量中较小的一个，即应按以下公式确定：</a:t>
            </a:r>
          </a:p>
          <a:p>
            <a:pPr algn="just">
              <a:lnSpc>
                <a:spcPct val="100000"/>
              </a:lnSpc>
            </a:pPr>
            <a:endParaRPr lang="en-US" altLang="zh-CN" sz="2800" smtClean="0">
              <a:ea typeface="黑体" panose="02010609060101010101" pitchFamily="49" charset="-122"/>
            </a:endParaRPr>
          </a:p>
          <a:p>
            <a:pPr algn="just">
              <a:lnSpc>
                <a:spcPct val="100000"/>
              </a:lnSpc>
            </a:pPr>
            <a:endParaRPr lang="en-US" altLang="zh-CN" sz="1000" smtClean="0">
              <a:ea typeface="黑体" panose="02010609060101010101" pitchFamily="49" charset="-122"/>
            </a:endParaRPr>
          </a:p>
          <a:p>
            <a:pPr algn="just">
              <a:lnSpc>
                <a:spcPct val="100000"/>
              </a:lnSpc>
            </a:pPr>
            <a:r>
              <a:rPr lang="zh-CN" altLang="en-US" sz="2800" smtClean="0">
                <a:ea typeface="黑体" panose="02010609060101010101" pitchFamily="49" charset="-122"/>
              </a:rPr>
              <a:t>当 </a:t>
            </a:r>
            <a:r>
              <a:rPr lang="en-US" altLang="zh-CN" sz="2800" smtClean="0">
                <a:ea typeface="黑体" panose="02010609060101010101" pitchFamily="49" charset="-122"/>
              </a:rPr>
              <a:t>rwnd &lt; cwnd </a:t>
            </a:r>
            <a:r>
              <a:rPr lang="zh-CN" altLang="en-US" sz="2800" smtClean="0">
                <a:ea typeface="黑体" panose="02010609060101010101" pitchFamily="49" charset="-122"/>
              </a:rPr>
              <a:t>时，是接收方的接收能力限制发送窗口的最大值。</a:t>
            </a:r>
          </a:p>
          <a:p>
            <a:pPr algn="just">
              <a:lnSpc>
                <a:spcPct val="100000"/>
              </a:lnSpc>
            </a:pPr>
            <a:r>
              <a:rPr lang="zh-CN" altLang="en-US" sz="2800" smtClean="0">
                <a:ea typeface="黑体" panose="02010609060101010101" pitchFamily="49" charset="-122"/>
              </a:rPr>
              <a:t>当 </a:t>
            </a:r>
            <a:r>
              <a:rPr lang="en-US" altLang="zh-CN" sz="2800" smtClean="0">
                <a:ea typeface="黑体" panose="02010609060101010101" pitchFamily="49" charset="-122"/>
              </a:rPr>
              <a:t>cwnd &lt; rwnd </a:t>
            </a:r>
            <a:r>
              <a:rPr lang="zh-CN" altLang="en-US" sz="2800" smtClean="0">
                <a:ea typeface="黑体" panose="02010609060101010101" pitchFamily="49" charset="-122"/>
              </a:rPr>
              <a:t>时，则是网络的拥塞限制发送窗口的最大值。 </a:t>
            </a:r>
          </a:p>
        </p:txBody>
      </p:sp>
      <p:sp>
        <p:nvSpPr>
          <p:cNvPr id="1555459" name="Rectangle 2"/>
          <p:cNvSpPr>
            <a:spLocks noChangeArrowheads="1"/>
          </p:cNvSpPr>
          <p:nvPr/>
        </p:nvSpPr>
        <p:spPr bwMode="auto">
          <a:xfrm>
            <a:off x="704850" y="2636838"/>
            <a:ext cx="8928100" cy="647700"/>
          </a:xfrm>
          <a:prstGeom prst="rect">
            <a:avLst/>
          </a:prstGeom>
          <a:solidFill>
            <a:srgbClr val="FFFF66"/>
          </a:solidFill>
          <a:ln w="9525">
            <a:solidFill>
              <a:schemeClr val="tx1"/>
            </a:solidFill>
            <a:miter lim="800000"/>
            <a:headEnd/>
            <a:tailEnd/>
          </a:ln>
          <a:effectLst>
            <a:outerShdw dist="35921" sx="999" sy="999" algn="ctr" rotWithShape="0">
              <a:schemeClr val="bg2"/>
            </a:outerShdw>
          </a:effectLst>
        </p:spPr>
        <p:txBody>
          <a:bodyPr wrap="none" anchor="ctr"/>
          <a:lstStyle/>
          <a:p>
            <a:pPr algn="ctr" eaLnBrk="0" hangingPunct="0"/>
            <a:r>
              <a:rPr lang="zh-CN" altLang="en-US" sz="2800" b="1">
                <a:solidFill>
                  <a:srgbClr val="000099"/>
                </a:solidFill>
                <a:ea typeface="黑体" panose="02010609060101010101" pitchFamily="49" charset="-122"/>
              </a:rPr>
              <a:t>发送窗口的上限值 </a:t>
            </a:r>
            <a:r>
              <a:rPr lang="zh-CN" altLang="en-US" sz="2800" b="1">
                <a:solidFill>
                  <a:srgbClr val="000099"/>
                </a:solidFill>
                <a:ea typeface="黑体" panose="02010609060101010101" pitchFamily="49" charset="-122"/>
                <a:sym typeface="Symbol" panose="05050102010706020507" pitchFamily="18" charset="2"/>
              </a:rPr>
              <a:t></a:t>
            </a:r>
            <a:r>
              <a:rPr lang="zh-CN" altLang="en-US" sz="2800" b="1">
                <a:solidFill>
                  <a:srgbClr val="000099"/>
                </a:solidFill>
                <a:ea typeface="黑体" panose="02010609060101010101" pitchFamily="49" charset="-122"/>
              </a:rPr>
              <a:t> </a:t>
            </a:r>
            <a:r>
              <a:rPr lang="en-US" altLang="zh-CN" sz="2800" b="1">
                <a:solidFill>
                  <a:srgbClr val="000099"/>
                </a:solidFill>
                <a:ea typeface="黑体" panose="02010609060101010101" pitchFamily="49" charset="-122"/>
              </a:rPr>
              <a:t>Min [rwnd, cwnd]                (5-9)</a:t>
            </a:r>
          </a:p>
        </p:txBody>
      </p:sp>
      <p:sp>
        <p:nvSpPr>
          <p:cNvPr id="2" name="矩形 1"/>
          <p:cNvSpPr>
            <a:spLocks noChangeArrowheads="1"/>
          </p:cNvSpPr>
          <p:nvPr/>
        </p:nvSpPr>
        <p:spPr bwMode="auto">
          <a:xfrm>
            <a:off x="776288" y="5229225"/>
            <a:ext cx="8785225" cy="1000125"/>
          </a:xfrm>
          <a:prstGeom prst="rect">
            <a:avLst/>
          </a:prstGeom>
          <a:solidFill>
            <a:srgbClr val="66FF66"/>
          </a:solidFill>
          <a:ln w="9525">
            <a:solidFill>
              <a:schemeClr val="tx1"/>
            </a:solidFill>
            <a:round/>
            <a:headEnd/>
            <a:tailEnd/>
          </a:ln>
        </p:spPr>
        <p:txBody>
          <a:bodyPr>
            <a:spAutoFit/>
          </a:bodyPr>
          <a:lstStyle/>
          <a:p>
            <a:pPr>
              <a:lnSpc>
                <a:spcPct val="110000"/>
              </a:lnSpc>
            </a:pPr>
            <a:r>
              <a:rPr lang="zh-CN" altLang="zh-CN" sz="2800" b="1">
                <a:solidFill>
                  <a:srgbClr val="000099"/>
                </a:solidFill>
                <a:ea typeface="黑体" panose="02010609060101010101" pitchFamily="49" charset="-122"/>
              </a:rPr>
              <a:t>也就是说，</a:t>
            </a:r>
            <a:r>
              <a:rPr lang="en-US" altLang="zh-CN" sz="2800" b="1">
                <a:solidFill>
                  <a:srgbClr val="000099"/>
                </a:solidFill>
                <a:ea typeface="黑体" panose="02010609060101010101" pitchFamily="49" charset="-122"/>
              </a:rPr>
              <a:t>rwnd </a:t>
            </a:r>
            <a:r>
              <a:rPr lang="zh-CN" altLang="zh-CN" sz="2800" b="1">
                <a:solidFill>
                  <a:srgbClr val="000099"/>
                </a:solidFill>
                <a:ea typeface="黑体" panose="02010609060101010101" pitchFamily="49" charset="-122"/>
              </a:rPr>
              <a:t>和</a:t>
            </a:r>
            <a:r>
              <a:rPr lang="en-US" altLang="zh-CN" sz="2800" b="1">
                <a:solidFill>
                  <a:srgbClr val="000099"/>
                </a:solidFill>
                <a:ea typeface="黑体" panose="02010609060101010101" pitchFamily="49" charset="-122"/>
              </a:rPr>
              <a:t> cwnd </a:t>
            </a:r>
            <a:r>
              <a:rPr lang="zh-CN" altLang="zh-CN" sz="2800" b="1">
                <a:solidFill>
                  <a:srgbClr val="000099"/>
                </a:solidFill>
                <a:ea typeface="黑体" panose="02010609060101010101" pitchFamily="49" charset="-122"/>
              </a:rPr>
              <a:t>中数值较小的一个，控制了发送方发送数据的速率。</a:t>
            </a:r>
          </a:p>
        </p:txBody>
      </p:sp>
      <p:sp>
        <p:nvSpPr>
          <p:cNvPr id="155546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1FBC9FF-B452-49EC-91D0-1A7148831EA4}" type="slidenum">
              <a:rPr lang="zh-CN" altLang="en-US" smtClean="0"/>
              <a:pPr eaLnBrk="1" hangingPunct="1"/>
              <a:t>52</a:t>
            </a:fld>
            <a:endParaRPr lang="en-US" altLang="zh-CN" smtClean="0"/>
          </a:p>
        </p:txBody>
      </p:sp>
      <p:sp>
        <p:nvSpPr>
          <p:cNvPr id="155546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1796">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1796">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6" grpId="0" build="p"/>
      <p:bldP spid="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750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5.8.3  </a:t>
            </a:r>
            <a:r>
              <a:rPr lang="zh-CN" altLang="zh-CN" smtClean="0">
                <a:ea typeface="黑体" panose="02010609060101010101" pitchFamily="49" charset="-122"/>
              </a:rPr>
              <a:t>主动队列管理</a:t>
            </a:r>
            <a:r>
              <a:rPr lang="en-US" altLang="zh-CN" smtClean="0">
                <a:ea typeface="黑体" panose="02010609060101010101" pitchFamily="49" charset="-122"/>
              </a:rPr>
              <a:t> AQM</a:t>
            </a:r>
            <a:endParaRPr lang="zh-CN" altLang="en-US" smtClean="0">
              <a:ea typeface="黑体" panose="02010609060101010101" pitchFamily="49" charset="-122"/>
            </a:endParaRPr>
          </a:p>
        </p:txBody>
      </p:sp>
      <p:sp>
        <p:nvSpPr>
          <p:cNvPr id="1557506" name="内容占位符 2"/>
          <p:cNvSpPr>
            <a:spLocks noGrp="1" noChangeArrowheads="1"/>
          </p:cNvSpPr>
          <p:nvPr>
            <p:ph idx="1"/>
          </p:nvPr>
        </p:nvSpPr>
        <p:spPr>
          <a:xfrm>
            <a:off x="495300" y="1196975"/>
            <a:ext cx="9066213" cy="4933950"/>
          </a:xfrm>
        </p:spPr>
        <p:txBody>
          <a:bodyPr/>
          <a:lstStyle/>
          <a:p>
            <a:r>
              <a:rPr lang="en-US" altLang="zh-CN" dirty="0" smtClean="0">
                <a:solidFill>
                  <a:srgbClr val="0000FF"/>
                </a:solidFill>
                <a:ea typeface="黑体" panose="02010609060101010101" pitchFamily="49" charset="-122"/>
              </a:rPr>
              <a:t>TCP </a:t>
            </a:r>
            <a:r>
              <a:rPr lang="zh-CN" altLang="zh-CN" dirty="0" smtClean="0">
                <a:solidFill>
                  <a:srgbClr val="0000FF"/>
                </a:solidFill>
                <a:ea typeface="黑体" panose="02010609060101010101" pitchFamily="49" charset="-122"/>
              </a:rPr>
              <a:t>拥塞控制和网络层采取的策略</a:t>
            </a:r>
            <a:r>
              <a:rPr lang="zh-CN" altLang="en-US" dirty="0" smtClean="0">
                <a:solidFill>
                  <a:srgbClr val="0000FF"/>
                </a:solidFill>
                <a:ea typeface="黑体" panose="02010609060101010101" pitchFamily="49" charset="-122"/>
              </a:rPr>
              <a:t>有密切</a:t>
            </a:r>
            <a:r>
              <a:rPr lang="zh-CN" altLang="zh-CN" dirty="0" smtClean="0">
                <a:solidFill>
                  <a:srgbClr val="0000FF"/>
                </a:solidFill>
                <a:ea typeface="黑体" panose="02010609060101010101" pitchFamily="49" charset="-122"/>
              </a:rPr>
              <a:t>联系</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重传会使</a:t>
            </a:r>
            <a:r>
              <a:rPr lang="en-US" altLang="zh-CN" dirty="0" smtClean="0">
                <a:ea typeface="黑体" panose="02010609060101010101" pitchFamily="49" charset="-122"/>
              </a:rPr>
              <a:t> TCP </a:t>
            </a:r>
            <a:r>
              <a:rPr lang="zh-CN" altLang="zh-CN" dirty="0" smtClean="0">
                <a:ea typeface="黑体" panose="02010609060101010101" pitchFamily="49" charset="-122"/>
              </a:rPr>
              <a:t>连接的发送端认为在网络中发生了拥塞。于是在</a:t>
            </a:r>
            <a:r>
              <a:rPr lang="en-US" altLang="zh-CN" dirty="0" smtClean="0">
                <a:ea typeface="黑体" panose="02010609060101010101" pitchFamily="49" charset="-122"/>
              </a:rPr>
              <a:t> TCP </a:t>
            </a:r>
            <a:r>
              <a:rPr lang="zh-CN" altLang="zh-CN" dirty="0" smtClean="0">
                <a:ea typeface="黑体" panose="02010609060101010101" pitchFamily="49" charset="-122"/>
              </a:rPr>
              <a:t>的发送端就采取了拥塞控制措施，但实际上网络并没有发生拥塞。</a:t>
            </a:r>
          </a:p>
          <a:p>
            <a:r>
              <a:rPr lang="zh-CN" altLang="zh-CN" dirty="0" smtClean="0">
                <a:ea typeface="黑体" panose="02010609060101010101" pitchFamily="49" charset="-122"/>
              </a:rPr>
              <a:t>网络层的策略对</a:t>
            </a:r>
            <a:r>
              <a:rPr lang="en-US" altLang="zh-CN" dirty="0" smtClean="0">
                <a:ea typeface="黑体" panose="02010609060101010101" pitchFamily="49" charset="-122"/>
              </a:rPr>
              <a:t> TCP </a:t>
            </a:r>
            <a:r>
              <a:rPr lang="zh-CN" altLang="zh-CN" dirty="0" smtClean="0">
                <a:ea typeface="黑体" panose="02010609060101010101" pitchFamily="49" charset="-122"/>
              </a:rPr>
              <a:t>拥塞控制</a:t>
            </a:r>
            <a:r>
              <a:rPr lang="zh-CN" altLang="zh-CN" dirty="0" smtClean="0">
                <a:solidFill>
                  <a:srgbClr val="FF0000"/>
                </a:solidFill>
                <a:ea typeface="黑体" panose="02010609060101010101" pitchFamily="49" charset="-122"/>
              </a:rPr>
              <a:t>影响最大</a:t>
            </a:r>
            <a:r>
              <a:rPr lang="zh-CN" altLang="zh-CN" dirty="0" smtClean="0">
                <a:ea typeface="黑体" panose="02010609060101010101" pitchFamily="49" charset="-122"/>
              </a:rPr>
              <a:t>的就是</a:t>
            </a:r>
            <a:r>
              <a:rPr lang="zh-CN" altLang="zh-CN" dirty="0" smtClean="0">
                <a:solidFill>
                  <a:srgbClr val="FF0000"/>
                </a:solidFill>
                <a:ea typeface="黑体" panose="02010609060101010101" pitchFamily="49" charset="-122"/>
              </a:rPr>
              <a:t>路由器的分组丢弃策略</a:t>
            </a:r>
            <a:r>
              <a:rPr lang="zh-CN" altLang="zh-CN" dirty="0" smtClean="0">
                <a:ea typeface="黑体" panose="02010609060101010101" pitchFamily="49" charset="-122"/>
              </a:rPr>
              <a:t>。</a:t>
            </a:r>
            <a:endParaRPr lang="zh-CN" altLang="en-US" dirty="0" smtClean="0">
              <a:ea typeface="黑体" panose="02010609060101010101" pitchFamily="49" charset="-122"/>
            </a:endParaRPr>
          </a:p>
        </p:txBody>
      </p:sp>
      <p:sp>
        <p:nvSpPr>
          <p:cNvPr id="155750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13BCD5-A98F-48A1-AD81-B582C12CE62A}" type="slidenum">
              <a:rPr lang="zh-CN" altLang="en-US" smtClean="0"/>
              <a:pPr eaLnBrk="1" hangingPunct="1"/>
              <a:t>53</a:t>
            </a:fld>
            <a:endParaRPr lang="en-US" altLang="zh-CN" smtClean="0"/>
          </a:p>
        </p:txBody>
      </p:sp>
      <p:sp>
        <p:nvSpPr>
          <p:cNvPr id="155750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852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a:t>
            </a:r>
            <a:r>
              <a:rPr lang="zh-CN" altLang="zh-CN" smtClean="0">
                <a:ea typeface="黑体" panose="02010609060101010101" pitchFamily="49" charset="-122"/>
              </a:rPr>
              <a:t>先进先出”</a:t>
            </a:r>
            <a:r>
              <a:rPr lang="en-US" altLang="zh-CN" smtClean="0">
                <a:ea typeface="黑体" panose="02010609060101010101" pitchFamily="49" charset="-122"/>
              </a:rPr>
              <a:t>FIFO </a:t>
            </a:r>
            <a:r>
              <a:rPr lang="zh-CN" altLang="en-US" smtClean="0">
                <a:ea typeface="黑体" panose="02010609060101010101" pitchFamily="49" charset="-122"/>
              </a:rPr>
              <a:t>处理</a:t>
            </a:r>
            <a:r>
              <a:rPr lang="zh-CN" altLang="zh-CN" smtClean="0">
                <a:ea typeface="黑体" panose="02010609060101010101" pitchFamily="49" charset="-122"/>
              </a:rPr>
              <a:t>规则</a:t>
            </a:r>
            <a:endParaRPr lang="zh-CN" altLang="en-US" smtClean="0">
              <a:ea typeface="黑体" panose="02010609060101010101" pitchFamily="49" charset="-122"/>
            </a:endParaRPr>
          </a:p>
        </p:txBody>
      </p:sp>
      <p:sp>
        <p:nvSpPr>
          <p:cNvPr id="1558530" name="内容占位符 2"/>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路由器的队列通常都是按照</a:t>
            </a:r>
            <a:r>
              <a:rPr lang="zh-CN" altLang="zh-CN" sz="2800" u="sng" dirty="0" smtClean="0">
                <a:solidFill>
                  <a:srgbClr val="FF0000"/>
                </a:solidFill>
                <a:ea typeface="黑体" panose="02010609060101010101" pitchFamily="49" charset="-122"/>
              </a:rPr>
              <a:t>“先进先出”</a:t>
            </a:r>
            <a:r>
              <a:rPr lang="en-US" altLang="zh-CN" sz="2800" u="sng" dirty="0" smtClean="0">
                <a:ea typeface="黑体" panose="02010609060101010101" pitchFamily="49" charset="-122"/>
              </a:rPr>
              <a:t>FIFO (First In First Out) </a:t>
            </a:r>
            <a:r>
              <a:rPr lang="zh-CN" altLang="zh-CN" sz="2800" dirty="0" smtClean="0">
                <a:ea typeface="黑体" panose="02010609060101010101" pitchFamily="49" charset="-122"/>
              </a:rPr>
              <a:t>的规则处理到来的分组。</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当队列已满时，以后再到达的所有分组（如果能够继续排队，这些分组都将排在队列的尾部）将都被丢弃。这就叫做</a:t>
            </a:r>
            <a:r>
              <a:rPr lang="zh-CN" altLang="zh-CN" sz="2800" dirty="0" smtClean="0">
                <a:solidFill>
                  <a:srgbClr val="FF0000"/>
                </a:solidFill>
                <a:ea typeface="黑体" panose="02010609060101010101" pitchFamily="49" charset="-122"/>
              </a:rPr>
              <a:t>尾部丢弃策略</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(tail-drop policy)</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路由器的尾部丢弃往往会导致</a:t>
            </a:r>
            <a:r>
              <a:rPr lang="zh-CN" altLang="zh-CN" sz="2800" dirty="0" smtClean="0">
                <a:solidFill>
                  <a:srgbClr val="0000FF"/>
                </a:solidFill>
                <a:ea typeface="黑体" panose="02010609060101010101" pitchFamily="49" charset="-122"/>
              </a:rPr>
              <a:t>一连串分组</a:t>
            </a:r>
            <a:r>
              <a:rPr lang="zh-CN" altLang="zh-CN" sz="2800" dirty="0" smtClean="0">
                <a:ea typeface="黑体" panose="02010609060101010101" pitchFamily="49" charset="-122"/>
              </a:rPr>
              <a:t>的</a:t>
            </a:r>
            <a:r>
              <a:rPr lang="zh-CN" altLang="zh-CN" sz="2800" dirty="0" smtClean="0">
                <a:solidFill>
                  <a:srgbClr val="0000FF"/>
                </a:solidFill>
                <a:ea typeface="黑体" panose="02010609060101010101" pitchFamily="49" charset="-122"/>
              </a:rPr>
              <a:t>丢失</a:t>
            </a:r>
            <a:r>
              <a:rPr lang="zh-CN" altLang="zh-CN" sz="2800" dirty="0" smtClean="0">
                <a:ea typeface="黑体" panose="02010609060101010101" pitchFamily="49" charset="-122"/>
              </a:rPr>
              <a:t>，这就使发送方出现超时重传，使</a:t>
            </a:r>
            <a:r>
              <a:rPr lang="en-US" altLang="zh-CN" sz="2800" dirty="0" smtClean="0">
                <a:ea typeface="黑体" panose="02010609060101010101" pitchFamily="49" charset="-122"/>
              </a:rPr>
              <a:t> TCP </a:t>
            </a:r>
            <a:r>
              <a:rPr lang="zh-CN" altLang="zh-CN" sz="2800" dirty="0" smtClean="0">
                <a:ea typeface="黑体" panose="02010609060101010101" pitchFamily="49" charset="-122"/>
              </a:rPr>
              <a:t>进入</a:t>
            </a:r>
            <a:r>
              <a:rPr lang="zh-CN" altLang="zh-CN" sz="2800" dirty="0" smtClean="0">
                <a:solidFill>
                  <a:srgbClr val="0000FF"/>
                </a:solidFill>
                <a:ea typeface="黑体" panose="02010609060101010101" pitchFamily="49" charset="-122"/>
              </a:rPr>
              <a:t>拥塞控制的慢开始</a:t>
            </a:r>
            <a:r>
              <a:rPr lang="zh-CN" altLang="zh-CN" sz="2800" dirty="0" smtClean="0">
                <a:ea typeface="黑体" panose="02010609060101010101" pitchFamily="49" charset="-122"/>
              </a:rPr>
              <a:t>状态，结果使</a:t>
            </a:r>
            <a:r>
              <a:rPr lang="en-US" altLang="zh-CN" sz="2800" dirty="0" smtClean="0">
                <a:ea typeface="黑体" panose="02010609060101010101" pitchFamily="49" charset="-122"/>
              </a:rPr>
              <a:t> TCP </a:t>
            </a:r>
            <a:r>
              <a:rPr lang="zh-CN" altLang="zh-CN" sz="2800" dirty="0" smtClean="0">
                <a:ea typeface="黑体" panose="02010609060101010101" pitchFamily="49" charset="-122"/>
              </a:rPr>
              <a:t>连接的发送方突然把数据的发送</a:t>
            </a:r>
            <a:r>
              <a:rPr lang="zh-CN" altLang="zh-CN" sz="2800" dirty="0" smtClean="0">
                <a:solidFill>
                  <a:srgbClr val="0000FF"/>
                </a:solidFill>
                <a:ea typeface="黑体" panose="02010609060101010101" pitchFamily="49" charset="-122"/>
              </a:rPr>
              <a:t>速率降低到很小</a:t>
            </a:r>
            <a:r>
              <a:rPr lang="zh-CN" altLang="zh-CN" sz="2800" dirty="0" smtClean="0">
                <a:ea typeface="黑体" panose="02010609060101010101" pitchFamily="49" charset="-122"/>
              </a:rPr>
              <a:t>的数值。</a:t>
            </a:r>
            <a:endParaRPr lang="en-US" altLang="zh-CN" sz="2800" dirty="0" smtClean="0">
              <a:ea typeface="黑体" panose="02010609060101010101" pitchFamily="49" charset="-122"/>
            </a:endParaRPr>
          </a:p>
          <a:p>
            <a:endParaRPr lang="zh-CN" altLang="en-US" sz="2800" dirty="0" smtClean="0">
              <a:ea typeface="黑体" panose="02010609060101010101" pitchFamily="49" charset="-122"/>
            </a:endParaRPr>
          </a:p>
        </p:txBody>
      </p:sp>
      <p:sp>
        <p:nvSpPr>
          <p:cNvPr id="155853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A4A7D7-11E9-4371-A84D-DDCEDA336084}" type="slidenum">
              <a:rPr lang="zh-CN" altLang="en-US" smtClean="0"/>
              <a:pPr eaLnBrk="1" hangingPunct="1"/>
              <a:t>54</a:t>
            </a:fld>
            <a:endParaRPr lang="en-US" altLang="zh-CN" smtClean="0"/>
          </a:p>
        </p:txBody>
      </p:sp>
      <p:sp>
        <p:nvSpPr>
          <p:cNvPr id="155853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3"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全局同步</a:t>
            </a:r>
            <a:endParaRPr lang="zh-CN" altLang="en-US" smtClean="0">
              <a:ea typeface="黑体" panose="02010609060101010101" pitchFamily="49" charset="-122"/>
            </a:endParaRPr>
          </a:p>
        </p:txBody>
      </p:sp>
      <p:sp>
        <p:nvSpPr>
          <p:cNvPr id="1559554" name="内容占位符 2"/>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更为严重的是，在网络中通常有</a:t>
            </a:r>
            <a:r>
              <a:rPr lang="zh-CN" altLang="zh-CN" sz="2800" dirty="0" smtClean="0">
                <a:solidFill>
                  <a:srgbClr val="0000FF"/>
                </a:solidFill>
                <a:ea typeface="黑体" panose="02010609060101010101" pitchFamily="49" charset="-122"/>
              </a:rPr>
              <a:t>很多的</a:t>
            </a:r>
            <a:r>
              <a:rPr lang="en-US" altLang="zh-CN" sz="2800" dirty="0" smtClean="0">
                <a:solidFill>
                  <a:srgbClr val="0000FF"/>
                </a:solidFill>
                <a:ea typeface="黑体" panose="02010609060101010101" pitchFamily="49" charset="-122"/>
              </a:rPr>
              <a:t> TCP </a:t>
            </a:r>
            <a:r>
              <a:rPr lang="zh-CN" altLang="zh-CN" sz="2800" dirty="0" smtClean="0">
                <a:solidFill>
                  <a:srgbClr val="0000FF"/>
                </a:solidFill>
                <a:ea typeface="黑体" panose="02010609060101010101" pitchFamily="49" charset="-122"/>
              </a:rPr>
              <a:t>连接</a:t>
            </a:r>
            <a:r>
              <a:rPr lang="zh-CN" altLang="en-US" sz="2800" dirty="0" smtClean="0">
                <a:ea typeface="黑体" panose="02010609060101010101" pitchFamily="49" charset="-122"/>
              </a:rPr>
              <a:t>，</a:t>
            </a:r>
            <a:r>
              <a:rPr lang="zh-CN" altLang="zh-CN" sz="2800" dirty="0" smtClean="0">
                <a:ea typeface="黑体" panose="02010609060101010101" pitchFamily="49" charset="-122"/>
              </a:rPr>
              <a:t>这些连接</a:t>
            </a:r>
            <a:r>
              <a:rPr lang="zh-CN" altLang="en-US" sz="2800" dirty="0" smtClean="0">
                <a:ea typeface="黑体" panose="02010609060101010101" pitchFamily="49" charset="-122"/>
              </a:rPr>
              <a:t>中</a:t>
            </a:r>
            <a:r>
              <a:rPr lang="zh-CN" altLang="zh-CN" sz="2800" dirty="0" smtClean="0">
                <a:ea typeface="黑体" panose="02010609060101010101" pitchFamily="49" charset="-122"/>
              </a:rPr>
              <a:t>的报文段通常是复用在网络层的</a:t>
            </a:r>
            <a:r>
              <a:rPr lang="en-US" altLang="zh-CN" sz="2800" dirty="0" smtClean="0">
                <a:ea typeface="黑体" panose="02010609060101010101" pitchFamily="49" charset="-122"/>
              </a:rPr>
              <a:t> IP </a:t>
            </a:r>
            <a:r>
              <a:rPr lang="zh-CN" altLang="zh-CN" sz="2800" dirty="0" smtClean="0">
                <a:ea typeface="黑体" panose="02010609060101010101" pitchFamily="49" charset="-122"/>
              </a:rPr>
              <a:t>数据报中传送</a:t>
            </a:r>
            <a:r>
              <a:rPr lang="zh-CN" altLang="en-US" sz="2800" dirty="0" smtClean="0">
                <a:ea typeface="黑体" panose="02010609060101010101" pitchFamily="49" charset="-122"/>
              </a:rPr>
              <a:t>的</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在这种情况下，若发生了路由器中的尾部丢弃，就可能会同时影响到很多条</a:t>
            </a:r>
            <a:r>
              <a:rPr lang="en-US" altLang="zh-CN" sz="2800" dirty="0" smtClean="0">
                <a:ea typeface="黑体" panose="02010609060101010101" pitchFamily="49" charset="-122"/>
              </a:rPr>
              <a:t> TCP </a:t>
            </a:r>
            <a:r>
              <a:rPr lang="zh-CN" altLang="zh-CN" sz="2800" dirty="0" smtClean="0">
                <a:ea typeface="黑体" panose="02010609060101010101" pitchFamily="49" charset="-122"/>
              </a:rPr>
              <a:t>连接，结果使这许多</a:t>
            </a:r>
            <a:r>
              <a:rPr lang="en-US" altLang="zh-CN" sz="2800" dirty="0" smtClean="0">
                <a:ea typeface="黑体" panose="02010609060101010101" pitchFamily="49" charset="-122"/>
              </a:rPr>
              <a:t> TCP </a:t>
            </a:r>
            <a:r>
              <a:rPr lang="zh-CN" altLang="zh-CN" sz="2800" dirty="0" smtClean="0">
                <a:ea typeface="黑体" panose="02010609060101010101" pitchFamily="49" charset="-122"/>
              </a:rPr>
              <a:t>连接在同一时间突然都</a:t>
            </a:r>
            <a:r>
              <a:rPr lang="zh-CN" altLang="zh-CN" sz="2800" dirty="0" smtClean="0">
                <a:solidFill>
                  <a:srgbClr val="0000FF"/>
                </a:solidFill>
                <a:ea typeface="黑体" panose="02010609060101010101" pitchFamily="49" charset="-122"/>
              </a:rPr>
              <a:t>进入到慢开始状态</a:t>
            </a:r>
            <a:r>
              <a:rPr lang="zh-CN" altLang="zh-CN" sz="2800" dirty="0" smtClean="0">
                <a:ea typeface="黑体" panose="02010609060101010101" pitchFamily="49" charset="-122"/>
              </a:rPr>
              <a:t>。这在</a:t>
            </a:r>
            <a:r>
              <a:rPr lang="en-US" altLang="zh-CN" sz="2800" dirty="0" smtClean="0">
                <a:ea typeface="黑体" panose="02010609060101010101" pitchFamily="49" charset="-122"/>
              </a:rPr>
              <a:t> TCP </a:t>
            </a:r>
            <a:r>
              <a:rPr lang="zh-CN" altLang="zh-CN" sz="2800" dirty="0" smtClean="0">
                <a:ea typeface="黑体" panose="02010609060101010101" pitchFamily="49" charset="-122"/>
              </a:rPr>
              <a:t>的术语中称为</a:t>
            </a:r>
            <a:r>
              <a:rPr lang="zh-CN" altLang="zh-CN" sz="2800" dirty="0" smtClean="0">
                <a:solidFill>
                  <a:srgbClr val="FF0000"/>
                </a:solidFill>
                <a:ea typeface="黑体" panose="02010609060101010101" pitchFamily="49" charset="-122"/>
              </a:rPr>
              <a:t>全局同步</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(global </a:t>
            </a:r>
            <a:r>
              <a:rPr lang="en-US" altLang="zh-CN" sz="2800" dirty="0" err="1" smtClean="0">
                <a:ea typeface="黑体" panose="02010609060101010101" pitchFamily="49" charset="-122"/>
              </a:rPr>
              <a:t>syncronization</a:t>
            </a:r>
            <a:r>
              <a:rPr lang="en-US" altLang="zh-CN" sz="2800" dirty="0" smtClean="0">
                <a:ea typeface="黑体" panose="02010609060101010101" pitchFamily="49" charset="-122"/>
              </a:rPr>
              <a:t>)</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全局同步使得</a:t>
            </a:r>
            <a:r>
              <a:rPr lang="zh-CN" altLang="zh-CN" sz="2800" dirty="0" smtClean="0">
                <a:solidFill>
                  <a:srgbClr val="0000FF"/>
                </a:solidFill>
                <a:ea typeface="黑体" panose="02010609060101010101" pitchFamily="49" charset="-122"/>
              </a:rPr>
              <a:t>全网的通信量突然下降</a:t>
            </a:r>
            <a:r>
              <a:rPr lang="zh-CN" altLang="zh-CN" sz="2800" dirty="0" smtClean="0">
                <a:ea typeface="黑体" panose="02010609060101010101" pitchFamily="49" charset="-122"/>
              </a:rPr>
              <a:t>了很多，而在网络恢复正常后，其通信量又突然增大很多。</a:t>
            </a:r>
          </a:p>
        </p:txBody>
      </p:sp>
      <p:sp>
        <p:nvSpPr>
          <p:cNvPr id="155955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755EA98-76EE-4592-9661-CDFEB45275B9}" type="slidenum">
              <a:rPr lang="zh-CN" altLang="en-US" smtClean="0"/>
              <a:pPr eaLnBrk="1" hangingPunct="1"/>
              <a:t>55</a:t>
            </a:fld>
            <a:endParaRPr lang="en-US" altLang="zh-CN" smtClean="0"/>
          </a:p>
        </p:txBody>
      </p:sp>
      <p:sp>
        <p:nvSpPr>
          <p:cNvPr id="155955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0577"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主动队列管理</a:t>
            </a:r>
            <a:r>
              <a:rPr lang="en-US" altLang="zh-CN" smtClean="0">
                <a:ea typeface="黑体" panose="02010609060101010101" pitchFamily="49" charset="-122"/>
              </a:rPr>
              <a:t>AQM</a:t>
            </a:r>
            <a:endParaRPr lang="zh-CN" altLang="en-US" smtClean="0">
              <a:ea typeface="黑体" panose="02010609060101010101" pitchFamily="49" charset="-122"/>
            </a:endParaRPr>
          </a:p>
        </p:txBody>
      </p:sp>
      <p:sp>
        <p:nvSpPr>
          <p:cNvPr id="1560578" name="内容占位符 2"/>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1998</a:t>
            </a:r>
            <a:r>
              <a:rPr lang="zh-CN" altLang="zh-CN" sz="2800" dirty="0" smtClean="0">
                <a:ea typeface="黑体" panose="02010609060101010101" pitchFamily="49" charset="-122"/>
              </a:rPr>
              <a:t>年提出了</a:t>
            </a:r>
            <a:r>
              <a:rPr lang="zh-CN" altLang="zh-CN" sz="2800" u="sng" dirty="0" smtClean="0">
                <a:solidFill>
                  <a:srgbClr val="FF0000"/>
                </a:solidFill>
                <a:ea typeface="黑体" panose="02010609060101010101" pitchFamily="49" charset="-122"/>
              </a:rPr>
              <a:t>主动队列管理</a:t>
            </a:r>
            <a:r>
              <a:rPr lang="en-US" altLang="zh-CN" sz="2800" u="sng" dirty="0" smtClean="0">
                <a:solidFill>
                  <a:srgbClr val="FF0000"/>
                </a:solidFill>
                <a:ea typeface="黑体" panose="02010609060101010101" pitchFamily="49" charset="-122"/>
              </a:rPr>
              <a:t> AQM (Active Queue Management)</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所谓“</a:t>
            </a:r>
            <a:r>
              <a:rPr lang="zh-CN" altLang="zh-CN" sz="2800" dirty="0" smtClean="0">
                <a:solidFill>
                  <a:srgbClr val="FF0000"/>
                </a:solidFill>
                <a:ea typeface="黑体" panose="02010609060101010101" pitchFamily="49" charset="-122"/>
              </a:rPr>
              <a:t>主动</a:t>
            </a:r>
            <a:r>
              <a:rPr lang="zh-CN" altLang="zh-CN" sz="2800" dirty="0" smtClean="0">
                <a:ea typeface="黑体" panose="02010609060101010101" pitchFamily="49" charset="-122"/>
              </a:rPr>
              <a:t>”就是不要等到路由器的队列长度已经达到最大值时才不得不丢弃后面到达的分组。这样就太被动了。应当在</a:t>
            </a:r>
            <a:r>
              <a:rPr lang="zh-CN" altLang="zh-CN" sz="2800" dirty="0" smtClean="0">
                <a:solidFill>
                  <a:srgbClr val="FF0000"/>
                </a:solidFill>
                <a:ea typeface="黑体" panose="02010609060101010101" pitchFamily="49" charset="-122"/>
              </a:rPr>
              <a:t>队列长度达到某个值得警惕的数值</a:t>
            </a:r>
            <a:r>
              <a:rPr lang="zh-CN" altLang="zh-CN" sz="2800" dirty="0" smtClean="0">
                <a:ea typeface="黑体" panose="02010609060101010101" pitchFamily="49" charset="-122"/>
              </a:rPr>
              <a:t>时（即当网络拥塞有了某些拥塞征兆时），就</a:t>
            </a:r>
            <a:r>
              <a:rPr lang="zh-CN" altLang="zh-CN" sz="2800" dirty="0" smtClean="0">
                <a:solidFill>
                  <a:srgbClr val="FF0000"/>
                </a:solidFill>
                <a:ea typeface="黑体" panose="02010609060101010101" pitchFamily="49" charset="-122"/>
              </a:rPr>
              <a:t>主动丢弃</a:t>
            </a:r>
            <a:r>
              <a:rPr lang="zh-CN" altLang="zh-CN" sz="2800" dirty="0" smtClean="0">
                <a:ea typeface="黑体" panose="02010609060101010101" pitchFamily="49" charset="-122"/>
              </a:rPr>
              <a:t>到达的分组。</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AQM </a:t>
            </a:r>
            <a:r>
              <a:rPr lang="zh-CN" altLang="zh-CN" sz="2800" dirty="0" smtClean="0">
                <a:ea typeface="黑体" panose="02010609060101010101" pitchFamily="49" charset="-122"/>
              </a:rPr>
              <a:t>可以有不同实现方法，其中曾流行多年的就是</a:t>
            </a:r>
            <a:r>
              <a:rPr lang="zh-CN" altLang="zh-CN" sz="2800" u="sng" dirty="0" smtClean="0">
                <a:solidFill>
                  <a:srgbClr val="FF0000"/>
                </a:solidFill>
                <a:ea typeface="黑体" panose="02010609060101010101" pitchFamily="49" charset="-122"/>
              </a:rPr>
              <a:t>随机早期检测</a:t>
            </a:r>
            <a:r>
              <a:rPr lang="en-US" altLang="zh-CN" sz="2800" u="sng" dirty="0" smtClean="0">
                <a:solidFill>
                  <a:srgbClr val="FF0000"/>
                </a:solidFill>
                <a:ea typeface="黑体" panose="02010609060101010101" pitchFamily="49" charset="-122"/>
              </a:rPr>
              <a:t> RED</a:t>
            </a:r>
            <a:r>
              <a:rPr lang="en-US" altLang="zh-CN" sz="2800" u="sng" dirty="0" smtClean="0">
                <a:ea typeface="黑体" panose="02010609060101010101" pitchFamily="49" charset="-122"/>
              </a:rPr>
              <a:t> (Random Early Detection)</a:t>
            </a:r>
            <a:r>
              <a:rPr lang="zh-CN" altLang="zh-CN" sz="2800" dirty="0" smtClean="0">
                <a:ea typeface="黑体" panose="02010609060101010101" pitchFamily="49" charset="-122"/>
              </a:rPr>
              <a:t>。</a:t>
            </a:r>
            <a:endParaRPr lang="zh-CN" altLang="en-US" sz="2800" dirty="0" smtClean="0">
              <a:ea typeface="黑体" panose="02010609060101010101" pitchFamily="49" charset="-122"/>
            </a:endParaRPr>
          </a:p>
        </p:txBody>
      </p:sp>
      <p:sp>
        <p:nvSpPr>
          <p:cNvPr id="156057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C2F2B0B-7FE8-4BFD-9783-F3DF6415DCA3}" type="slidenum">
              <a:rPr lang="zh-CN" altLang="en-US" smtClean="0"/>
              <a:pPr eaLnBrk="1" hangingPunct="1"/>
              <a:t>56</a:t>
            </a:fld>
            <a:endParaRPr lang="en-US" altLang="zh-CN" smtClean="0"/>
          </a:p>
        </p:txBody>
      </p:sp>
      <p:sp>
        <p:nvSpPr>
          <p:cNvPr id="156058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60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随机早期检测 </a:t>
            </a:r>
            <a:r>
              <a:rPr lang="en-US" altLang="zh-CN" smtClean="0">
                <a:ea typeface="黑体" panose="02010609060101010101" pitchFamily="49" charset="-122"/>
              </a:rPr>
              <a:t>RED</a:t>
            </a:r>
          </a:p>
        </p:txBody>
      </p:sp>
      <p:sp>
        <p:nvSpPr>
          <p:cNvPr id="1561602"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使路由器的队列维持两个参数：</a:t>
            </a:r>
            <a:r>
              <a:rPr lang="zh-CN" altLang="en-US" sz="2800" dirty="0" smtClean="0">
                <a:solidFill>
                  <a:srgbClr val="0000FF"/>
                </a:solidFill>
                <a:ea typeface="黑体" panose="02010609060101010101" pitchFamily="49" charset="-122"/>
              </a:rPr>
              <a:t>队列长度最小门限 </a:t>
            </a:r>
            <a:r>
              <a:rPr lang="en-US" altLang="zh-CN" sz="2800" dirty="0" err="1" smtClean="0">
                <a:solidFill>
                  <a:srgbClr val="0000FF"/>
                </a:solidFill>
                <a:ea typeface="黑体" panose="02010609060101010101" pitchFamily="49" charset="-122"/>
              </a:rPr>
              <a:t>TH</a:t>
            </a:r>
            <a:r>
              <a:rPr lang="en-US" altLang="zh-CN" sz="2800" baseline="-25000" dirty="0" err="1" smtClean="0">
                <a:solidFill>
                  <a:srgbClr val="0000FF"/>
                </a:solidFill>
                <a:ea typeface="黑体" panose="02010609060101010101" pitchFamily="49" charset="-122"/>
              </a:rPr>
              <a:t>min</a:t>
            </a:r>
            <a:r>
              <a:rPr lang="en-US" altLang="zh-CN" sz="2800" dirty="0" smtClean="0">
                <a:ea typeface="黑体" panose="02010609060101010101" pitchFamily="49" charset="-122"/>
              </a:rPr>
              <a:t> </a:t>
            </a:r>
            <a:r>
              <a:rPr lang="zh-CN" altLang="en-US" sz="2800" dirty="0" smtClean="0">
                <a:ea typeface="黑体" panose="02010609060101010101" pitchFamily="49" charset="-122"/>
              </a:rPr>
              <a:t>和</a:t>
            </a:r>
            <a:r>
              <a:rPr lang="zh-CN" altLang="en-US" sz="2800" dirty="0" smtClean="0">
                <a:solidFill>
                  <a:srgbClr val="0000FF"/>
                </a:solidFill>
                <a:ea typeface="黑体" panose="02010609060101010101" pitchFamily="49" charset="-122"/>
              </a:rPr>
              <a:t>最大门限 </a:t>
            </a:r>
            <a:r>
              <a:rPr lang="en-US" altLang="zh-CN" sz="2800" dirty="0" err="1" smtClean="0">
                <a:solidFill>
                  <a:srgbClr val="0000FF"/>
                </a:solidFill>
                <a:ea typeface="黑体" panose="02010609060101010101" pitchFamily="49" charset="-122"/>
              </a:rPr>
              <a:t>Th</a:t>
            </a:r>
            <a:r>
              <a:rPr lang="en-US" altLang="zh-CN" sz="2800" baseline="-25000" dirty="0" err="1" smtClean="0">
                <a:solidFill>
                  <a:srgbClr val="0000FF"/>
                </a:solidFill>
                <a:ea typeface="黑体" panose="02010609060101010101" pitchFamily="49" charset="-122"/>
              </a:rPr>
              <a:t>max</a:t>
            </a:r>
            <a:r>
              <a:rPr lang="en-US" altLang="zh-CN" sz="2800" dirty="0" smtClean="0">
                <a:solidFill>
                  <a:srgbClr val="0000FF"/>
                </a:solidFill>
                <a:ea typeface="黑体" panose="02010609060101010101" pitchFamily="49" charset="-122"/>
              </a:rPr>
              <a:t> </a:t>
            </a:r>
            <a:r>
              <a:rPr lang="zh-CN" altLang="en-US" sz="2800" dirty="0" smtClean="0">
                <a:ea typeface="黑体" panose="02010609060101010101" pitchFamily="49" charset="-122"/>
              </a:rPr>
              <a:t>。</a:t>
            </a:r>
          </a:p>
          <a:p>
            <a:r>
              <a:rPr lang="en-US" altLang="zh-CN" sz="2800" dirty="0" smtClean="0">
                <a:ea typeface="黑体" panose="02010609060101010101" pitchFamily="49" charset="-122"/>
              </a:rPr>
              <a:t>RED </a:t>
            </a:r>
            <a:r>
              <a:rPr lang="zh-CN" altLang="en-US" sz="2800" dirty="0" smtClean="0">
                <a:ea typeface="黑体" panose="02010609060101010101" pitchFamily="49" charset="-122"/>
              </a:rPr>
              <a:t>对每一个到达的分组都先计算</a:t>
            </a:r>
            <a:r>
              <a:rPr lang="zh-CN" altLang="en-US" sz="2800" dirty="0" smtClean="0">
                <a:solidFill>
                  <a:srgbClr val="0000FF"/>
                </a:solidFill>
                <a:ea typeface="黑体" panose="02010609060101010101" pitchFamily="49" charset="-122"/>
              </a:rPr>
              <a:t>平均队列长度 </a:t>
            </a:r>
            <a:r>
              <a:rPr lang="en-US" altLang="zh-CN" sz="2800" dirty="0" smtClean="0">
                <a:solidFill>
                  <a:srgbClr val="0000FF"/>
                </a:solidFill>
                <a:ea typeface="黑体" panose="02010609060101010101" pitchFamily="49" charset="-122"/>
              </a:rPr>
              <a:t>L</a:t>
            </a:r>
            <a:r>
              <a:rPr lang="en-US" altLang="zh-CN" sz="2800" baseline="-25000" dirty="0" smtClean="0">
                <a:solidFill>
                  <a:srgbClr val="0000FF"/>
                </a:solidFill>
                <a:ea typeface="黑体" panose="02010609060101010101" pitchFamily="49" charset="-122"/>
              </a:rPr>
              <a:t>AV</a:t>
            </a:r>
            <a:r>
              <a:rPr lang="en-US" altLang="zh-CN" sz="2800" dirty="0" smtClean="0">
                <a:solidFill>
                  <a:srgbClr val="0000FF"/>
                </a:solidFill>
                <a:ea typeface="黑体" panose="02010609060101010101" pitchFamily="49" charset="-122"/>
              </a:rPr>
              <a:t> </a:t>
            </a:r>
            <a:r>
              <a:rPr lang="zh-CN" altLang="en-US" sz="2800" dirty="0" smtClean="0">
                <a:ea typeface="黑体" panose="02010609060101010101" pitchFamily="49" charset="-122"/>
              </a:rPr>
              <a:t>。</a:t>
            </a:r>
          </a:p>
          <a:p>
            <a:r>
              <a:rPr lang="en-US" altLang="zh-CN" sz="2800" dirty="0" smtClean="0">
                <a:ea typeface="黑体" panose="02010609060101010101" pitchFamily="49" charset="-122"/>
              </a:rPr>
              <a:t>(1) </a:t>
            </a:r>
            <a:r>
              <a:rPr lang="zh-CN" altLang="en-US" sz="2800" dirty="0" smtClean="0">
                <a:ea typeface="黑体" panose="02010609060101010101" pitchFamily="49" charset="-122"/>
              </a:rPr>
              <a:t>若平均队列长度</a:t>
            </a:r>
            <a:r>
              <a:rPr lang="zh-CN" altLang="en-US" sz="2800" dirty="0" smtClean="0">
                <a:solidFill>
                  <a:srgbClr val="FF0000"/>
                </a:solidFill>
                <a:ea typeface="黑体" panose="02010609060101010101" pitchFamily="49" charset="-122"/>
              </a:rPr>
              <a:t>小于</a:t>
            </a:r>
            <a:r>
              <a:rPr lang="zh-CN" altLang="en-US" sz="2800" dirty="0" smtClean="0">
                <a:ea typeface="黑体" panose="02010609060101010101" pitchFamily="49" charset="-122"/>
              </a:rPr>
              <a:t>最小门限 </a:t>
            </a:r>
            <a:r>
              <a:rPr lang="en-US" altLang="zh-CN" sz="2800" dirty="0" err="1" smtClean="0">
                <a:ea typeface="黑体" panose="02010609060101010101" pitchFamily="49" charset="-122"/>
              </a:rPr>
              <a:t>TH</a:t>
            </a:r>
            <a:r>
              <a:rPr lang="en-US" altLang="zh-CN" sz="2800" baseline="-25000" dirty="0" err="1" smtClean="0">
                <a:ea typeface="黑体" panose="02010609060101010101" pitchFamily="49" charset="-122"/>
              </a:rPr>
              <a:t>min</a:t>
            </a:r>
            <a:r>
              <a:rPr lang="zh-CN" altLang="en-US" sz="2800" dirty="0" smtClean="0">
                <a:ea typeface="黑体" panose="02010609060101010101" pitchFamily="49" charset="-122"/>
              </a:rPr>
              <a:t>，则将新到达的分组放入队列进行排队。</a:t>
            </a:r>
          </a:p>
          <a:p>
            <a:r>
              <a:rPr lang="en-US" altLang="zh-CN" sz="2800" dirty="0" smtClean="0">
                <a:ea typeface="黑体" panose="02010609060101010101" pitchFamily="49" charset="-122"/>
              </a:rPr>
              <a:t>(2) </a:t>
            </a:r>
            <a:r>
              <a:rPr lang="zh-CN" altLang="en-US" sz="2800" dirty="0" smtClean="0">
                <a:ea typeface="黑体" panose="02010609060101010101" pitchFamily="49" charset="-122"/>
              </a:rPr>
              <a:t>若平均队列长度</a:t>
            </a:r>
            <a:r>
              <a:rPr lang="zh-CN" altLang="en-US" sz="2800" dirty="0" smtClean="0">
                <a:solidFill>
                  <a:srgbClr val="FF0000"/>
                </a:solidFill>
                <a:ea typeface="黑体" panose="02010609060101010101" pitchFamily="49" charset="-122"/>
              </a:rPr>
              <a:t>超过</a:t>
            </a:r>
            <a:r>
              <a:rPr lang="zh-CN" altLang="en-US" sz="2800" dirty="0" smtClean="0">
                <a:ea typeface="黑体" panose="02010609060101010101" pitchFamily="49" charset="-122"/>
              </a:rPr>
              <a:t>最大门限 </a:t>
            </a:r>
            <a:r>
              <a:rPr lang="en-US" altLang="zh-CN" sz="2800" dirty="0" err="1" smtClean="0">
                <a:ea typeface="黑体" panose="02010609060101010101" pitchFamily="49" charset="-122"/>
              </a:rPr>
              <a:t>TH</a:t>
            </a:r>
            <a:r>
              <a:rPr lang="en-US" altLang="zh-CN" sz="2800" baseline="-25000" dirty="0" err="1" smtClean="0">
                <a:ea typeface="黑体" panose="02010609060101010101" pitchFamily="49" charset="-122"/>
              </a:rPr>
              <a:t>max</a:t>
            </a:r>
            <a:r>
              <a:rPr lang="zh-CN" altLang="en-US" sz="2800" dirty="0" smtClean="0">
                <a:ea typeface="黑体" panose="02010609060101010101" pitchFamily="49" charset="-122"/>
              </a:rPr>
              <a:t>，则将新到达的分组丢弃。</a:t>
            </a:r>
          </a:p>
          <a:p>
            <a:r>
              <a:rPr lang="en-US" altLang="zh-CN" sz="2800" dirty="0" smtClean="0">
                <a:ea typeface="黑体" panose="02010609060101010101" pitchFamily="49" charset="-122"/>
              </a:rPr>
              <a:t>(3) </a:t>
            </a:r>
            <a:r>
              <a:rPr lang="zh-CN" altLang="en-US" sz="2800" dirty="0" smtClean="0">
                <a:ea typeface="黑体" panose="02010609060101010101" pitchFamily="49" charset="-122"/>
              </a:rPr>
              <a:t>若平均队列长度在最小门限 </a:t>
            </a:r>
            <a:r>
              <a:rPr lang="en-US" altLang="zh-CN" sz="2800" dirty="0" err="1" smtClean="0">
                <a:ea typeface="黑体" panose="02010609060101010101" pitchFamily="49" charset="-122"/>
              </a:rPr>
              <a:t>TH</a:t>
            </a:r>
            <a:r>
              <a:rPr lang="en-US" altLang="zh-CN" sz="2800" baseline="-25000" dirty="0" err="1" smtClean="0">
                <a:ea typeface="黑体" panose="02010609060101010101" pitchFamily="49" charset="-122"/>
              </a:rPr>
              <a:t>min</a:t>
            </a:r>
            <a:r>
              <a:rPr lang="en-US" altLang="zh-CN" sz="2800" dirty="0" smtClean="0">
                <a:ea typeface="黑体" panose="02010609060101010101" pitchFamily="49" charset="-122"/>
              </a:rPr>
              <a:t> </a:t>
            </a:r>
            <a:r>
              <a:rPr lang="zh-CN" altLang="en-US" sz="2800" dirty="0" smtClean="0">
                <a:ea typeface="黑体" panose="02010609060101010101" pitchFamily="49" charset="-122"/>
              </a:rPr>
              <a:t>和最大门限</a:t>
            </a:r>
            <a:r>
              <a:rPr lang="en-US" altLang="zh-CN" sz="2800" dirty="0" err="1" smtClean="0">
                <a:ea typeface="黑体" panose="02010609060101010101" pitchFamily="49" charset="-122"/>
              </a:rPr>
              <a:t>TH</a:t>
            </a:r>
            <a:r>
              <a:rPr lang="en-US" altLang="zh-CN" sz="2800" baseline="-25000" dirty="0" err="1" smtClean="0">
                <a:ea typeface="黑体" panose="02010609060101010101" pitchFamily="49" charset="-122"/>
              </a:rPr>
              <a:t>max</a:t>
            </a:r>
            <a:r>
              <a:rPr lang="en-US" altLang="zh-CN" sz="2800" dirty="0" smtClean="0">
                <a:ea typeface="黑体" panose="02010609060101010101" pitchFamily="49" charset="-122"/>
              </a:rPr>
              <a:t> </a:t>
            </a:r>
            <a:r>
              <a:rPr lang="zh-CN" altLang="en-US" sz="2800" dirty="0" smtClean="0">
                <a:ea typeface="黑体" panose="02010609060101010101" pitchFamily="49" charset="-122"/>
              </a:rPr>
              <a:t>之间，则按照某一</a:t>
            </a:r>
            <a:r>
              <a:rPr lang="zh-CN" altLang="en-US" sz="2800" dirty="0" smtClean="0">
                <a:solidFill>
                  <a:srgbClr val="FF0000"/>
                </a:solidFill>
                <a:ea typeface="黑体" panose="02010609060101010101" pitchFamily="49" charset="-122"/>
              </a:rPr>
              <a:t>概率 </a:t>
            </a:r>
            <a:r>
              <a:rPr lang="en-US" altLang="zh-CN" sz="2800" dirty="0" smtClean="0">
                <a:solidFill>
                  <a:srgbClr val="FF0000"/>
                </a:solidFill>
                <a:ea typeface="黑体" panose="02010609060101010101" pitchFamily="49" charset="-122"/>
              </a:rPr>
              <a:t>p</a:t>
            </a:r>
            <a:r>
              <a:rPr lang="en-US" altLang="zh-CN" sz="2800" dirty="0" smtClean="0">
                <a:ea typeface="黑体" panose="02010609060101010101" pitchFamily="49" charset="-122"/>
              </a:rPr>
              <a:t> </a:t>
            </a:r>
            <a:r>
              <a:rPr lang="zh-CN" altLang="en-US" sz="2800" dirty="0" smtClean="0">
                <a:ea typeface="黑体" panose="02010609060101010101" pitchFamily="49" charset="-122"/>
              </a:rPr>
              <a:t>将新到达的分组丢弃。</a:t>
            </a:r>
          </a:p>
        </p:txBody>
      </p:sp>
      <p:sp>
        <p:nvSpPr>
          <p:cNvPr id="15616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6018BB-6D26-4A31-BF0E-242B3127BC8C}" type="slidenum">
              <a:rPr lang="zh-CN" altLang="en-US" smtClean="0"/>
              <a:pPr eaLnBrk="1" hangingPunct="1"/>
              <a:t>57</a:t>
            </a:fld>
            <a:endParaRPr lang="en-US" altLang="zh-CN" smtClean="0"/>
          </a:p>
        </p:txBody>
      </p:sp>
      <p:sp>
        <p:nvSpPr>
          <p:cNvPr id="15616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3649" name="Rectangle 2"/>
          <p:cNvSpPr>
            <a:spLocks noGrp="1" noChangeArrowheads="1"/>
          </p:cNvSpPr>
          <p:nvPr>
            <p:ph type="title"/>
          </p:nvPr>
        </p:nvSpPr>
        <p:spPr/>
        <p:txBody>
          <a:bodyPr/>
          <a:lstStyle/>
          <a:p>
            <a:pPr algn="ctr"/>
            <a:r>
              <a:rPr lang="zh-CN" altLang="en-US" smtClean="0">
                <a:ea typeface="黑体" panose="02010609060101010101" pitchFamily="49" charset="-122"/>
              </a:rPr>
              <a:t>随机早期检测 </a:t>
            </a:r>
            <a:r>
              <a:rPr lang="en-US" altLang="zh-CN" smtClean="0">
                <a:ea typeface="黑体" panose="02010609060101010101" pitchFamily="49" charset="-122"/>
              </a:rPr>
              <a:t>RED</a:t>
            </a:r>
            <a:endParaRPr lang="zh-CN" altLang="en-US" smtClean="0">
              <a:ea typeface="黑体" panose="02010609060101010101" pitchFamily="49" charset="-122"/>
            </a:endParaRPr>
          </a:p>
        </p:txBody>
      </p:sp>
      <p:sp>
        <p:nvSpPr>
          <p:cNvPr id="1563650" name="Rectangle 35"/>
          <p:cNvSpPr>
            <a:spLocks noChangeArrowheads="1"/>
          </p:cNvSpPr>
          <p:nvPr/>
        </p:nvSpPr>
        <p:spPr bwMode="auto">
          <a:xfrm>
            <a:off x="2952750" y="2058988"/>
            <a:ext cx="3438525" cy="3013075"/>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563651" name="Rectangle 34"/>
          <p:cNvSpPr>
            <a:spLocks noChangeArrowheads="1"/>
          </p:cNvSpPr>
          <p:nvPr/>
        </p:nvSpPr>
        <p:spPr bwMode="auto">
          <a:xfrm>
            <a:off x="6394450" y="2057400"/>
            <a:ext cx="1023938" cy="24765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563652" name="Rectangle 33"/>
          <p:cNvSpPr>
            <a:spLocks noChangeArrowheads="1"/>
          </p:cNvSpPr>
          <p:nvPr/>
        </p:nvSpPr>
        <p:spPr bwMode="auto">
          <a:xfrm>
            <a:off x="1676400" y="2057400"/>
            <a:ext cx="1276350" cy="34448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563653" name="Rectangle 4"/>
          <p:cNvSpPr>
            <a:spLocks noChangeArrowheads="1"/>
          </p:cNvSpPr>
          <p:nvPr/>
        </p:nvSpPr>
        <p:spPr bwMode="auto">
          <a:xfrm>
            <a:off x="4975225" y="2757488"/>
            <a:ext cx="2446338" cy="1276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563654" name="Freeform 5"/>
          <p:cNvSpPr>
            <a:spLocks noChangeArrowheads="1"/>
          </p:cNvSpPr>
          <p:nvPr/>
        </p:nvSpPr>
        <p:spPr bwMode="auto">
          <a:xfrm>
            <a:off x="1947863" y="2757488"/>
            <a:ext cx="5473700" cy="1276350"/>
          </a:xfrm>
          <a:custGeom>
            <a:avLst/>
            <a:gdLst>
              <a:gd name="T0" fmla="*/ 0 w 1920"/>
              <a:gd name="T1" fmla="*/ 0 h 528"/>
              <a:gd name="T2" fmla="*/ 1920 w 1920"/>
              <a:gd name="T3" fmla="*/ 0 h 528"/>
              <a:gd name="T4" fmla="*/ 1920 w 1920"/>
              <a:gd name="T5" fmla="*/ 528 h 528"/>
              <a:gd name="T6" fmla="*/ 0 w 1920"/>
              <a:gd name="T7" fmla="*/ 528 h 528"/>
            </a:gdLst>
            <a:ahLst/>
            <a:cxnLst>
              <a:cxn ang="0">
                <a:pos x="T0" y="T1"/>
              </a:cxn>
              <a:cxn ang="0">
                <a:pos x="T2" y="T3"/>
              </a:cxn>
              <a:cxn ang="0">
                <a:pos x="T4" y="T5"/>
              </a:cxn>
              <a:cxn ang="0">
                <a:pos x="T6" y="T7"/>
              </a:cxn>
            </a:cxnLst>
            <a:rect l="0" t="0" r="r" b="b"/>
            <a:pathLst>
              <a:path w="1920" h="528">
                <a:moveTo>
                  <a:pt x="0" y="0"/>
                </a:moveTo>
                <a:lnTo>
                  <a:pt x="1920" y="0"/>
                </a:lnTo>
                <a:lnTo>
                  <a:pt x="1920" y="528"/>
                </a:lnTo>
                <a:lnTo>
                  <a:pt x="0" y="528"/>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55" name="Line 6"/>
          <p:cNvSpPr>
            <a:spLocks noChangeShapeType="1"/>
          </p:cNvSpPr>
          <p:nvPr/>
        </p:nvSpPr>
        <p:spPr bwMode="auto">
          <a:xfrm>
            <a:off x="7073900" y="2757488"/>
            <a:ext cx="0" cy="1276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56" name="Line 7"/>
          <p:cNvSpPr>
            <a:spLocks noChangeShapeType="1"/>
          </p:cNvSpPr>
          <p:nvPr/>
        </p:nvSpPr>
        <p:spPr bwMode="auto">
          <a:xfrm>
            <a:off x="6724650" y="2757488"/>
            <a:ext cx="0" cy="1276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57" name="Line 8"/>
          <p:cNvSpPr>
            <a:spLocks noChangeShapeType="1"/>
          </p:cNvSpPr>
          <p:nvPr/>
        </p:nvSpPr>
        <p:spPr bwMode="auto">
          <a:xfrm>
            <a:off x="6373813" y="2290763"/>
            <a:ext cx="0" cy="2032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58" name="Line 9"/>
          <p:cNvSpPr>
            <a:spLocks noChangeShapeType="1"/>
          </p:cNvSpPr>
          <p:nvPr/>
        </p:nvSpPr>
        <p:spPr bwMode="auto">
          <a:xfrm>
            <a:off x="6024563" y="2757488"/>
            <a:ext cx="0" cy="1276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59" name="Line 10"/>
          <p:cNvSpPr>
            <a:spLocks noChangeShapeType="1"/>
          </p:cNvSpPr>
          <p:nvPr/>
        </p:nvSpPr>
        <p:spPr bwMode="auto">
          <a:xfrm>
            <a:off x="5675313" y="2757488"/>
            <a:ext cx="0" cy="1276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60" name="Line 11"/>
          <p:cNvSpPr>
            <a:spLocks noChangeShapeType="1"/>
          </p:cNvSpPr>
          <p:nvPr/>
        </p:nvSpPr>
        <p:spPr bwMode="auto">
          <a:xfrm>
            <a:off x="5324475" y="2757488"/>
            <a:ext cx="0" cy="1276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61" name="Line 12"/>
          <p:cNvSpPr>
            <a:spLocks noChangeShapeType="1"/>
          </p:cNvSpPr>
          <p:nvPr/>
        </p:nvSpPr>
        <p:spPr bwMode="auto">
          <a:xfrm>
            <a:off x="2965450" y="2309813"/>
            <a:ext cx="0" cy="316071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62" name="AutoShape 13"/>
          <p:cNvSpPr>
            <a:spLocks noChangeArrowheads="1"/>
          </p:cNvSpPr>
          <p:nvPr/>
        </p:nvSpPr>
        <p:spPr bwMode="auto">
          <a:xfrm>
            <a:off x="7305675" y="3105150"/>
            <a:ext cx="1049338" cy="465138"/>
          </a:xfrm>
          <a:prstGeom prst="rightArrow">
            <a:avLst>
              <a:gd name="adj1" fmla="val 50000"/>
              <a:gd name="adj2" fmla="val 52054"/>
            </a:avLst>
          </a:prstGeom>
          <a:solidFill>
            <a:srgbClr val="C00000"/>
          </a:solidFill>
          <a:ln w="9525">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563663" name="Text Box 14"/>
          <p:cNvSpPr txBox="1">
            <a:spLocks noChangeArrowheads="1"/>
          </p:cNvSpPr>
          <p:nvPr/>
        </p:nvSpPr>
        <p:spPr bwMode="auto">
          <a:xfrm>
            <a:off x="8302625" y="2986088"/>
            <a:ext cx="9540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从队首</a:t>
            </a:r>
          </a:p>
          <a:p>
            <a:pPr algn="ctr" eaLnBrk="0" hangingPunct="0"/>
            <a:r>
              <a:rPr lang="zh-CN" altLang="en-US" sz="2000" b="1">
                <a:solidFill>
                  <a:srgbClr val="000099"/>
                </a:solidFill>
                <a:ea typeface="黑体" panose="02010609060101010101" pitchFamily="49" charset="-122"/>
              </a:rPr>
              <a:t>发送</a:t>
            </a:r>
          </a:p>
        </p:txBody>
      </p:sp>
      <p:sp>
        <p:nvSpPr>
          <p:cNvPr id="1563664" name="Line 15"/>
          <p:cNvSpPr>
            <a:spLocks noChangeShapeType="1"/>
          </p:cNvSpPr>
          <p:nvPr/>
        </p:nvSpPr>
        <p:spPr bwMode="auto">
          <a:xfrm>
            <a:off x="4975225" y="2757488"/>
            <a:ext cx="0" cy="1276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65" name="Text Box 16"/>
          <p:cNvSpPr txBox="1">
            <a:spLocks noChangeArrowheads="1"/>
          </p:cNvSpPr>
          <p:nvPr/>
        </p:nvSpPr>
        <p:spPr bwMode="auto">
          <a:xfrm>
            <a:off x="7596188" y="4325938"/>
            <a:ext cx="2116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最小门限 </a:t>
            </a:r>
            <a:r>
              <a:rPr lang="en-US" altLang="zh-CN" sz="2000" b="1">
                <a:solidFill>
                  <a:srgbClr val="000099"/>
                </a:solidFill>
                <a:ea typeface="黑体" panose="02010609060101010101" pitchFamily="49" charset="-122"/>
              </a:rPr>
              <a:t>TH</a:t>
            </a:r>
            <a:r>
              <a:rPr lang="en-US" altLang="zh-CN" sz="2000" b="1" baseline="-25000">
                <a:solidFill>
                  <a:srgbClr val="000099"/>
                </a:solidFill>
                <a:ea typeface="黑体" panose="02010609060101010101" pitchFamily="49" charset="-122"/>
              </a:rPr>
              <a:t>min</a:t>
            </a:r>
          </a:p>
        </p:txBody>
      </p:sp>
      <p:sp>
        <p:nvSpPr>
          <p:cNvPr id="1563666" name="Text Box 17"/>
          <p:cNvSpPr txBox="1">
            <a:spLocks noChangeArrowheads="1"/>
          </p:cNvSpPr>
          <p:nvPr/>
        </p:nvSpPr>
        <p:spPr bwMode="auto">
          <a:xfrm>
            <a:off x="4244975" y="5260975"/>
            <a:ext cx="1935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最大门限 </a:t>
            </a:r>
            <a:r>
              <a:rPr lang="en-US" altLang="zh-CN" sz="2000" b="1">
                <a:solidFill>
                  <a:srgbClr val="000099"/>
                </a:solidFill>
                <a:ea typeface="黑体" panose="02010609060101010101" pitchFamily="49" charset="-122"/>
              </a:rPr>
              <a:t>TH</a:t>
            </a:r>
            <a:r>
              <a:rPr lang="en-US" altLang="zh-CN" sz="2000" b="1" baseline="-25000">
                <a:solidFill>
                  <a:srgbClr val="000099"/>
                </a:solidFill>
                <a:ea typeface="黑体" panose="02010609060101010101" pitchFamily="49" charset="-122"/>
              </a:rPr>
              <a:t>min</a:t>
            </a:r>
          </a:p>
        </p:txBody>
      </p:sp>
      <p:sp>
        <p:nvSpPr>
          <p:cNvPr id="1563667" name="AutoShape 18"/>
          <p:cNvSpPr>
            <a:spLocks noChangeArrowheads="1"/>
          </p:cNvSpPr>
          <p:nvPr/>
        </p:nvSpPr>
        <p:spPr bwMode="auto">
          <a:xfrm>
            <a:off x="1714500" y="3138488"/>
            <a:ext cx="2146300" cy="431800"/>
          </a:xfrm>
          <a:prstGeom prst="rightArrow">
            <a:avLst>
              <a:gd name="adj1" fmla="val 50000"/>
              <a:gd name="adj2" fmla="val 114692"/>
            </a:avLst>
          </a:prstGeom>
          <a:solidFill>
            <a:schemeClr val="accent2"/>
          </a:solidFill>
          <a:ln w="9525">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563668" name="Text Box 19"/>
          <p:cNvSpPr txBox="1">
            <a:spLocks noChangeArrowheads="1"/>
          </p:cNvSpPr>
          <p:nvPr/>
        </p:nvSpPr>
        <p:spPr bwMode="auto">
          <a:xfrm>
            <a:off x="815975" y="2941638"/>
            <a:ext cx="696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分组</a:t>
            </a:r>
          </a:p>
          <a:p>
            <a:pPr algn="ctr" eaLnBrk="0" hangingPunct="0"/>
            <a:r>
              <a:rPr lang="zh-CN" altLang="en-US" sz="2000" b="1">
                <a:solidFill>
                  <a:srgbClr val="000099"/>
                </a:solidFill>
                <a:ea typeface="黑体" panose="02010609060101010101" pitchFamily="49" charset="-122"/>
              </a:rPr>
              <a:t>到达</a:t>
            </a:r>
          </a:p>
        </p:txBody>
      </p:sp>
      <p:sp>
        <p:nvSpPr>
          <p:cNvPr id="1563669" name="Text Box 20"/>
          <p:cNvSpPr txBox="1">
            <a:spLocks noChangeArrowheads="1"/>
          </p:cNvSpPr>
          <p:nvPr/>
        </p:nvSpPr>
        <p:spPr bwMode="auto">
          <a:xfrm>
            <a:off x="5102225" y="4686300"/>
            <a:ext cx="21510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平均队列长度 </a:t>
            </a:r>
            <a:r>
              <a:rPr lang="en-US" altLang="zh-CN" sz="2000" b="1" i="1">
                <a:solidFill>
                  <a:srgbClr val="000099"/>
                </a:solidFill>
                <a:ea typeface="黑体" panose="02010609060101010101" pitchFamily="49" charset="-122"/>
              </a:rPr>
              <a:t>L</a:t>
            </a:r>
            <a:r>
              <a:rPr lang="en-US" altLang="zh-CN" sz="2000" b="1" baseline="-25000">
                <a:solidFill>
                  <a:srgbClr val="000099"/>
                </a:solidFill>
                <a:ea typeface="黑体" panose="02010609060101010101" pitchFamily="49" charset="-122"/>
              </a:rPr>
              <a:t>av</a:t>
            </a:r>
          </a:p>
        </p:txBody>
      </p:sp>
      <p:sp>
        <p:nvSpPr>
          <p:cNvPr id="1563670" name="Line 21"/>
          <p:cNvSpPr>
            <a:spLocks noChangeShapeType="1"/>
          </p:cNvSpPr>
          <p:nvPr/>
        </p:nvSpPr>
        <p:spPr bwMode="auto">
          <a:xfrm>
            <a:off x="7421563" y="2295525"/>
            <a:ext cx="0" cy="4619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71" name="Text Box 22"/>
          <p:cNvSpPr txBox="1">
            <a:spLocks noChangeArrowheads="1"/>
          </p:cNvSpPr>
          <p:nvPr/>
        </p:nvSpPr>
        <p:spPr bwMode="auto">
          <a:xfrm>
            <a:off x="6491288" y="2308225"/>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排队</a:t>
            </a:r>
          </a:p>
        </p:txBody>
      </p:sp>
      <p:sp>
        <p:nvSpPr>
          <p:cNvPr id="1563672" name="Text Box 23"/>
          <p:cNvSpPr txBox="1">
            <a:spLocks noChangeArrowheads="1"/>
          </p:cNvSpPr>
          <p:nvPr/>
        </p:nvSpPr>
        <p:spPr bwMode="auto">
          <a:xfrm>
            <a:off x="2093913" y="230822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丢弃</a:t>
            </a:r>
          </a:p>
        </p:txBody>
      </p:sp>
      <p:sp>
        <p:nvSpPr>
          <p:cNvPr id="1563673" name="Text Box 24"/>
          <p:cNvSpPr txBox="1">
            <a:spLocks noChangeArrowheads="1"/>
          </p:cNvSpPr>
          <p:nvPr/>
        </p:nvSpPr>
        <p:spPr bwMode="auto">
          <a:xfrm>
            <a:off x="3730625" y="2309813"/>
            <a:ext cx="1773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以概率</a:t>
            </a:r>
            <a:r>
              <a:rPr lang="zh-CN" altLang="en-US" sz="2000" b="1" i="1">
                <a:solidFill>
                  <a:srgbClr val="000099"/>
                </a:solidFill>
                <a:ea typeface="黑体" panose="02010609060101010101" pitchFamily="49" charset="-122"/>
              </a:rPr>
              <a:t> </a:t>
            </a:r>
            <a:r>
              <a:rPr lang="en-US" altLang="zh-CN" sz="2000" b="1" i="1">
                <a:solidFill>
                  <a:srgbClr val="000099"/>
                </a:solidFill>
                <a:ea typeface="黑体" panose="02010609060101010101" pitchFamily="49" charset="-122"/>
              </a:rPr>
              <a:t>p</a:t>
            </a:r>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丢弃</a:t>
            </a:r>
          </a:p>
        </p:txBody>
      </p:sp>
      <p:sp>
        <p:nvSpPr>
          <p:cNvPr id="1563674" name="Line 25"/>
          <p:cNvSpPr>
            <a:spLocks noChangeShapeType="1"/>
          </p:cNvSpPr>
          <p:nvPr/>
        </p:nvSpPr>
        <p:spPr bwMode="auto">
          <a:xfrm>
            <a:off x="4991100" y="4703763"/>
            <a:ext cx="2411413" cy="0"/>
          </a:xfrm>
          <a:prstGeom prst="line">
            <a:avLst/>
          </a:prstGeom>
          <a:noFill/>
          <a:ln w="28575">
            <a:solidFill>
              <a:srgbClr val="0000FF"/>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75" name="Line 26"/>
          <p:cNvSpPr>
            <a:spLocks noChangeShapeType="1"/>
          </p:cNvSpPr>
          <p:nvPr/>
        </p:nvSpPr>
        <p:spPr bwMode="auto">
          <a:xfrm flipH="1">
            <a:off x="7421563" y="4076700"/>
            <a:ext cx="14287" cy="150971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76" name="Line 27"/>
          <p:cNvSpPr>
            <a:spLocks noChangeShapeType="1"/>
          </p:cNvSpPr>
          <p:nvPr/>
        </p:nvSpPr>
        <p:spPr bwMode="auto">
          <a:xfrm>
            <a:off x="4981575" y="4067175"/>
            <a:ext cx="0" cy="8699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77" name="Line 28"/>
          <p:cNvSpPr>
            <a:spLocks noChangeShapeType="1"/>
          </p:cNvSpPr>
          <p:nvPr/>
        </p:nvSpPr>
        <p:spPr bwMode="auto">
          <a:xfrm>
            <a:off x="6370638" y="4227513"/>
            <a:ext cx="1090612" cy="0"/>
          </a:xfrm>
          <a:prstGeom prst="line">
            <a:avLst/>
          </a:prstGeom>
          <a:noFill/>
          <a:ln w="28575">
            <a:solidFill>
              <a:srgbClr val="0000FF"/>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78" name="Line 29"/>
          <p:cNvSpPr>
            <a:spLocks noChangeShapeType="1"/>
          </p:cNvSpPr>
          <p:nvPr/>
        </p:nvSpPr>
        <p:spPr bwMode="auto">
          <a:xfrm>
            <a:off x="2974975" y="5253038"/>
            <a:ext cx="4437063" cy="0"/>
          </a:xfrm>
          <a:prstGeom prst="line">
            <a:avLst/>
          </a:prstGeom>
          <a:noFill/>
          <a:ln w="28575">
            <a:solidFill>
              <a:srgbClr val="0000FF"/>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79" name="Line 30"/>
          <p:cNvSpPr>
            <a:spLocks noChangeShapeType="1"/>
          </p:cNvSpPr>
          <p:nvPr/>
        </p:nvSpPr>
        <p:spPr bwMode="auto">
          <a:xfrm flipH="1" flipV="1">
            <a:off x="6877050" y="4246563"/>
            <a:ext cx="706438" cy="2381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3680" name="矩形 1"/>
          <p:cNvSpPr>
            <a:spLocks noChangeArrowheads="1"/>
          </p:cNvSpPr>
          <p:nvPr/>
        </p:nvSpPr>
        <p:spPr bwMode="auto">
          <a:xfrm>
            <a:off x="560388" y="1196975"/>
            <a:ext cx="86963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3200" b="1">
                <a:ea typeface="黑体" panose="02010609060101010101" pitchFamily="49" charset="-122"/>
              </a:rPr>
              <a:t>RED </a:t>
            </a:r>
            <a:r>
              <a:rPr lang="zh-CN" altLang="en-US" sz="3200" b="1">
                <a:ea typeface="黑体" panose="02010609060101010101" pitchFamily="49" charset="-122"/>
              </a:rPr>
              <a:t>将路由器的到达队列划分成为三个区域： </a:t>
            </a:r>
          </a:p>
        </p:txBody>
      </p:sp>
      <p:sp>
        <p:nvSpPr>
          <p:cNvPr id="156368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1FE5A6-B616-4E7B-8755-76BFC53232B2}" type="slidenum">
              <a:rPr lang="zh-CN" altLang="en-US" smtClean="0"/>
              <a:pPr eaLnBrk="1" hangingPunct="1"/>
              <a:t>58</a:t>
            </a:fld>
            <a:endParaRPr lang="en-US" altLang="zh-CN" smtClean="0"/>
          </a:p>
        </p:txBody>
      </p:sp>
      <p:sp>
        <p:nvSpPr>
          <p:cNvPr id="156368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5697" name="Rectangle 2"/>
          <p:cNvSpPr>
            <a:spLocks noGrp="1" noChangeArrowheads="1"/>
          </p:cNvSpPr>
          <p:nvPr>
            <p:ph type="title"/>
          </p:nvPr>
        </p:nvSpPr>
        <p:spPr>
          <a:xfrm>
            <a:off x="495300" y="188913"/>
            <a:ext cx="9066213" cy="792162"/>
          </a:xfrm>
        </p:spPr>
        <p:txBody>
          <a:bodyPr/>
          <a:lstStyle/>
          <a:p>
            <a:pPr algn="ctr"/>
            <a:r>
              <a:rPr lang="zh-CN" altLang="en-US" sz="3600" smtClean="0">
                <a:ea typeface="黑体" panose="02010609060101010101" pitchFamily="49" charset="-122"/>
              </a:rPr>
              <a:t>丢弃概率</a:t>
            </a:r>
            <a:r>
              <a:rPr lang="zh-CN" altLang="en-US" sz="1800" smtClean="0">
                <a:ea typeface="黑体" panose="02010609060101010101" pitchFamily="49" charset="-122"/>
              </a:rPr>
              <a:t> </a:t>
            </a:r>
            <a:r>
              <a:rPr lang="en-US" altLang="zh-CN" sz="3600" i="1" smtClean="0">
                <a:ea typeface="黑体" panose="02010609060101010101" pitchFamily="49" charset="-122"/>
              </a:rPr>
              <a:t>p </a:t>
            </a:r>
            <a:r>
              <a:rPr lang="zh-CN" altLang="en-US" sz="3600" smtClean="0">
                <a:ea typeface="黑体" panose="02010609060101010101" pitchFamily="49" charset="-122"/>
              </a:rPr>
              <a:t>与</a:t>
            </a:r>
            <a:r>
              <a:rPr lang="zh-CN" altLang="en-US" sz="2000" smtClean="0">
                <a:ea typeface="黑体" panose="02010609060101010101" pitchFamily="49" charset="-122"/>
              </a:rPr>
              <a:t> </a:t>
            </a:r>
            <a:r>
              <a:rPr lang="en-US" altLang="zh-CN" sz="3600" smtClean="0">
                <a:ea typeface="黑体" panose="02010609060101010101" pitchFamily="49" charset="-122"/>
              </a:rPr>
              <a:t>TH</a:t>
            </a:r>
            <a:r>
              <a:rPr lang="en-US" altLang="zh-CN" sz="3600" baseline="-25000" smtClean="0">
                <a:ea typeface="黑体" panose="02010609060101010101" pitchFamily="49" charset="-122"/>
              </a:rPr>
              <a:t>min </a:t>
            </a:r>
            <a:r>
              <a:rPr lang="zh-CN" altLang="en-US" sz="3600" smtClean="0">
                <a:ea typeface="黑体" panose="02010609060101010101" pitchFamily="49" charset="-122"/>
              </a:rPr>
              <a:t>和</a:t>
            </a:r>
            <a:r>
              <a:rPr lang="zh-CN" altLang="en-US" sz="2000" smtClean="0">
                <a:ea typeface="黑体" panose="02010609060101010101" pitchFamily="49" charset="-122"/>
              </a:rPr>
              <a:t> </a:t>
            </a:r>
            <a:r>
              <a:rPr lang="en-US" altLang="zh-CN" sz="3600" smtClean="0">
                <a:ea typeface="黑体" panose="02010609060101010101" pitchFamily="49" charset="-122"/>
              </a:rPr>
              <a:t>Th</a:t>
            </a:r>
            <a:r>
              <a:rPr lang="en-US" altLang="zh-CN" sz="3600" baseline="-25000" smtClean="0">
                <a:ea typeface="黑体" panose="02010609060101010101" pitchFamily="49" charset="-122"/>
              </a:rPr>
              <a:t>max </a:t>
            </a:r>
            <a:r>
              <a:rPr lang="zh-CN" altLang="en-US" sz="3600" smtClean="0">
                <a:ea typeface="黑体" panose="02010609060101010101" pitchFamily="49" charset="-122"/>
              </a:rPr>
              <a:t>的关系 </a:t>
            </a:r>
          </a:p>
        </p:txBody>
      </p:sp>
      <p:sp>
        <p:nvSpPr>
          <p:cNvPr id="1565698" name="Rectangle 20"/>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当 </a:t>
            </a:r>
            <a:r>
              <a:rPr lang="en-US" altLang="zh-CN" sz="2800" i="1" smtClean="0">
                <a:ea typeface="黑体" panose="02010609060101010101" pitchFamily="49" charset="-122"/>
              </a:rPr>
              <a:t>L</a:t>
            </a:r>
            <a:r>
              <a:rPr lang="en-US" altLang="zh-CN" sz="2800" baseline="-25000" smtClean="0">
                <a:ea typeface="黑体" panose="02010609060101010101" pitchFamily="49" charset="-122"/>
              </a:rPr>
              <a:t>AV</a:t>
            </a:r>
            <a:r>
              <a:rPr lang="en-US" altLang="zh-CN" sz="2800" smtClean="0">
                <a:ea typeface="黑体" panose="02010609060101010101" pitchFamily="49" charset="-122"/>
              </a:rPr>
              <a:t> </a:t>
            </a:r>
            <a:r>
              <a:rPr lang="en-US" altLang="zh-CN" sz="2800" smtClean="0">
                <a:ea typeface="黑体" panose="02010609060101010101" pitchFamily="49" charset="-122"/>
                <a:sym typeface="Symbol" panose="05050102010706020507" pitchFamily="18" charset="2"/>
              </a:rPr>
              <a:t> </a:t>
            </a:r>
            <a:r>
              <a:rPr lang="en-US" altLang="zh-CN" sz="2800" smtClean="0">
                <a:ea typeface="黑体" panose="02010609060101010101" pitchFamily="49" charset="-122"/>
              </a:rPr>
              <a:t>Th</a:t>
            </a:r>
            <a:r>
              <a:rPr lang="en-US" altLang="zh-CN" sz="2800" baseline="-25000" smtClean="0">
                <a:ea typeface="黑体" panose="02010609060101010101" pitchFamily="49" charset="-122"/>
              </a:rPr>
              <a:t>min </a:t>
            </a:r>
            <a:r>
              <a:rPr lang="zh-CN" altLang="en-US" sz="2800" smtClean="0">
                <a:ea typeface="黑体" panose="02010609060101010101" pitchFamily="49" charset="-122"/>
              </a:rPr>
              <a:t>时，丢弃概率 </a:t>
            </a:r>
            <a:r>
              <a:rPr lang="en-US" altLang="zh-CN" sz="2800" i="1" smtClean="0">
                <a:ea typeface="黑体" panose="02010609060101010101" pitchFamily="49" charset="-122"/>
              </a:rPr>
              <a:t>p</a:t>
            </a:r>
            <a:r>
              <a:rPr lang="en-US" altLang="zh-CN" sz="2800" smtClean="0">
                <a:ea typeface="黑体" panose="02010609060101010101" pitchFamily="49" charset="-122"/>
              </a:rPr>
              <a:t> = 0</a:t>
            </a:r>
            <a:r>
              <a:rPr lang="zh-CN" altLang="en-US" sz="2800" smtClean="0">
                <a:ea typeface="黑体" panose="02010609060101010101" pitchFamily="49" charset="-122"/>
              </a:rPr>
              <a:t>。</a:t>
            </a:r>
          </a:p>
          <a:p>
            <a:r>
              <a:rPr lang="zh-CN" altLang="en-US" sz="2800" smtClean="0">
                <a:ea typeface="黑体" panose="02010609060101010101" pitchFamily="49" charset="-122"/>
              </a:rPr>
              <a:t>当 </a:t>
            </a:r>
            <a:r>
              <a:rPr lang="en-US" altLang="zh-CN" sz="2800" i="1" smtClean="0">
                <a:ea typeface="黑体" panose="02010609060101010101" pitchFamily="49" charset="-122"/>
              </a:rPr>
              <a:t>L</a:t>
            </a:r>
            <a:r>
              <a:rPr lang="en-US" altLang="zh-CN" sz="2800" baseline="-25000" smtClean="0">
                <a:ea typeface="黑体" panose="02010609060101010101" pitchFamily="49" charset="-122"/>
              </a:rPr>
              <a:t>AV</a:t>
            </a:r>
            <a:r>
              <a:rPr lang="en-US" altLang="zh-CN" sz="2800" smtClean="0">
                <a:ea typeface="黑体" panose="02010609060101010101" pitchFamily="49" charset="-122"/>
              </a:rPr>
              <a:t> </a:t>
            </a:r>
            <a:r>
              <a:rPr lang="en-US" altLang="zh-CN" sz="2800" smtClean="0">
                <a:ea typeface="黑体" panose="02010609060101010101" pitchFamily="49" charset="-122"/>
                <a:sym typeface="Symbol" panose="05050102010706020507" pitchFamily="18" charset="2"/>
              </a:rPr>
              <a:t></a:t>
            </a:r>
            <a:r>
              <a:rPr lang="en-US" altLang="zh-CN" sz="2800" smtClean="0">
                <a:ea typeface="黑体" panose="02010609060101010101" pitchFamily="49" charset="-122"/>
              </a:rPr>
              <a:t>Th</a:t>
            </a:r>
            <a:r>
              <a:rPr lang="en-US" altLang="zh-CN" sz="2800" baseline="-25000" smtClean="0">
                <a:ea typeface="黑体" panose="02010609060101010101" pitchFamily="49" charset="-122"/>
              </a:rPr>
              <a:t>max </a:t>
            </a:r>
            <a:r>
              <a:rPr lang="zh-CN" altLang="en-US" sz="2800" smtClean="0">
                <a:ea typeface="黑体" panose="02010609060101010101" pitchFamily="49" charset="-122"/>
              </a:rPr>
              <a:t>时，丢弃概率 </a:t>
            </a:r>
            <a:r>
              <a:rPr lang="en-US" altLang="zh-CN" sz="2800" i="1" smtClean="0">
                <a:ea typeface="黑体" panose="02010609060101010101" pitchFamily="49" charset="-122"/>
              </a:rPr>
              <a:t>p</a:t>
            </a:r>
            <a:r>
              <a:rPr lang="en-US" altLang="zh-CN" sz="2800" smtClean="0">
                <a:ea typeface="黑体" panose="02010609060101010101" pitchFamily="49" charset="-122"/>
              </a:rPr>
              <a:t> = 1</a:t>
            </a:r>
            <a:r>
              <a:rPr lang="zh-CN" altLang="en-US" sz="2800" smtClean="0">
                <a:ea typeface="黑体" panose="02010609060101010101" pitchFamily="49" charset="-122"/>
              </a:rPr>
              <a:t>。</a:t>
            </a:r>
          </a:p>
          <a:p>
            <a:r>
              <a:rPr lang="zh-CN" altLang="en-US" sz="2800" smtClean="0">
                <a:ea typeface="黑体" panose="02010609060101010101" pitchFamily="49" charset="-122"/>
              </a:rPr>
              <a:t>当 </a:t>
            </a:r>
            <a:r>
              <a:rPr lang="en-US" altLang="zh-CN" sz="2800" smtClean="0">
                <a:ea typeface="黑体" panose="02010609060101010101" pitchFamily="49" charset="-122"/>
              </a:rPr>
              <a:t>TH</a:t>
            </a:r>
            <a:r>
              <a:rPr lang="en-US" altLang="zh-CN" sz="2800" baseline="-25000" smtClean="0">
                <a:ea typeface="黑体" panose="02010609060101010101" pitchFamily="49" charset="-122"/>
              </a:rPr>
              <a:t>min</a:t>
            </a:r>
            <a:r>
              <a:rPr lang="en-US" altLang="zh-CN" sz="2800" smtClean="0">
                <a:ea typeface="黑体" panose="02010609060101010101" pitchFamily="49" charset="-122"/>
              </a:rPr>
              <a:t> </a:t>
            </a:r>
            <a:r>
              <a:rPr lang="en-US" altLang="zh-CN" sz="2800" smtClean="0">
                <a:ea typeface="黑体" panose="02010609060101010101" pitchFamily="49" charset="-122"/>
                <a:sym typeface="Symbol" panose="05050102010706020507" pitchFamily="18" charset="2"/>
              </a:rPr>
              <a:t></a:t>
            </a:r>
            <a:r>
              <a:rPr lang="en-US" altLang="zh-CN" sz="2800" smtClean="0">
                <a:ea typeface="黑体" panose="02010609060101010101" pitchFamily="49" charset="-122"/>
              </a:rPr>
              <a:t> </a:t>
            </a:r>
            <a:r>
              <a:rPr lang="en-US" altLang="zh-CN" sz="2800" i="1" smtClean="0">
                <a:ea typeface="黑体" panose="02010609060101010101" pitchFamily="49" charset="-122"/>
              </a:rPr>
              <a:t>L</a:t>
            </a:r>
            <a:r>
              <a:rPr lang="en-US" altLang="zh-CN" sz="2800" baseline="-25000" smtClean="0">
                <a:ea typeface="黑体" panose="02010609060101010101" pitchFamily="49" charset="-122"/>
              </a:rPr>
              <a:t>AV</a:t>
            </a:r>
            <a:r>
              <a:rPr lang="en-US" altLang="zh-CN" sz="2800" smtClean="0">
                <a:ea typeface="黑体" panose="02010609060101010101" pitchFamily="49" charset="-122"/>
              </a:rPr>
              <a:t> </a:t>
            </a:r>
            <a:r>
              <a:rPr lang="en-US" altLang="zh-CN" sz="2800" smtClean="0">
                <a:ea typeface="黑体" panose="02010609060101010101" pitchFamily="49" charset="-122"/>
                <a:sym typeface="Symbol" panose="05050102010706020507" pitchFamily="18" charset="2"/>
              </a:rPr>
              <a:t></a:t>
            </a:r>
            <a:r>
              <a:rPr lang="en-US" altLang="zh-CN" sz="2800" smtClean="0">
                <a:ea typeface="黑体" panose="02010609060101010101" pitchFamily="49" charset="-122"/>
              </a:rPr>
              <a:t> TH</a:t>
            </a:r>
            <a:r>
              <a:rPr lang="en-US" altLang="zh-CN" sz="2800" baseline="-25000" smtClean="0">
                <a:ea typeface="黑体" panose="02010609060101010101" pitchFamily="49" charset="-122"/>
              </a:rPr>
              <a:t>max</a:t>
            </a:r>
            <a:r>
              <a:rPr lang="zh-CN" altLang="en-US" sz="2800" smtClean="0">
                <a:ea typeface="黑体" panose="02010609060101010101" pitchFamily="49" charset="-122"/>
              </a:rPr>
              <a:t>时，</a:t>
            </a:r>
            <a:r>
              <a:rPr lang="zh-CN" altLang="en-US" sz="2800" i="1" smtClean="0">
                <a:ea typeface="黑体" panose="02010609060101010101" pitchFamily="49" charset="-122"/>
              </a:rPr>
              <a:t> </a:t>
            </a:r>
            <a:r>
              <a:rPr lang="zh-CN" altLang="en-US" sz="2800" smtClean="0">
                <a:ea typeface="黑体" panose="02010609060101010101" pitchFamily="49" charset="-122"/>
              </a:rPr>
              <a:t> </a:t>
            </a:r>
            <a:r>
              <a:rPr lang="en-US" altLang="zh-CN" sz="2800" smtClean="0">
                <a:ea typeface="黑体" panose="02010609060101010101" pitchFamily="49" charset="-122"/>
              </a:rPr>
              <a:t>0 </a:t>
            </a:r>
            <a:r>
              <a:rPr lang="en-US" altLang="zh-CN" sz="2800" smtClean="0">
                <a:ea typeface="黑体" panose="02010609060101010101" pitchFamily="49" charset="-122"/>
                <a:sym typeface="Symbol" panose="05050102010706020507" pitchFamily="18" charset="2"/>
              </a:rPr>
              <a:t></a:t>
            </a:r>
            <a:r>
              <a:rPr lang="en-US" altLang="zh-CN" sz="2800" smtClean="0">
                <a:ea typeface="黑体" panose="02010609060101010101" pitchFamily="49" charset="-122"/>
              </a:rPr>
              <a:t> </a:t>
            </a:r>
            <a:r>
              <a:rPr lang="en-US" altLang="zh-CN" sz="2800" i="1" smtClean="0">
                <a:ea typeface="黑体" panose="02010609060101010101" pitchFamily="49" charset="-122"/>
              </a:rPr>
              <a:t>p </a:t>
            </a:r>
            <a:r>
              <a:rPr lang="en-US" altLang="zh-CN" sz="2800" smtClean="0">
                <a:ea typeface="黑体" panose="02010609060101010101" pitchFamily="49" charset="-122"/>
                <a:sym typeface="Symbol" panose="05050102010706020507" pitchFamily="18" charset="2"/>
              </a:rPr>
              <a:t></a:t>
            </a:r>
            <a:r>
              <a:rPr lang="en-US" altLang="zh-CN" sz="2800" smtClean="0">
                <a:ea typeface="黑体" panose="02010609060101010101" pitchFamily="49" charset="-122"/>
              </a:rPr>
              <a:t> 1 </a:t>
            </a:r>
            <a:r>
              <a:rPr lang="zh-CN" altLang="en-US" sz="2800" smtClean="0">
                <a:ea typeface="黑体" panose="02010609060101010101" pitchFamily="49" charset="-122"/>
              </a:rPr>
              <a:t>。</a:t>
            </a:r>
          </a:p>
        </p:txBody>
      </p:sp>
      <p:sp>
        <p:nvSpPr>
          <p:cNvPr id="1565699" name="Line 4"/>
          <p:cNvSpPr>
            <a:spLocks noChangeShapeType="1"/>
          </p:cNvSpPr>
          <p:nvPr/>
        </p:nvSpPr>
        <p:spPr bwMode="auto">
          <a:xfrm>
            <a:off x="1042988" y="5883275"/>
            <a:ext cx="843915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5700" name="Line 5"/>
          <p:cNvSpPr>
            <a:spLocks noChangeShapeType="1"/>
          </p:cNvSpPr>
          <p:nvPr/>
        </p:nvSpPr>
        <p:spPr bwMode="auto">
          <a:xfrm rot="-5400000">
            <a:off x="95250" y="4935538"/>
            <a:ext cx="189547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5701" name="Text Box 6"/>
          <p:cNvSpPr txBox="1">
            <a:spLocks noChangeArrowheads="1"/>
          </p:cNvSpPr>
          <p:nvPr/>
        </p:nvSpPr>
        <p:spPr bwMode="auto">
          <a:xfrm>
            <a:off x="2266950" y="5908675"/>
            <a:ext cx="1935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最小门限 </a:t>
            </a:r>
            <a:r>
              <a:rPr lang="en-US" altLang="zh-CN" sz="2000" b="1">
                <a:solidFill>
                  <a:srgbClr val="000099"/>
                </a:solidFill>
                <a:ea typeface="黑体" panose="02010609060101010101" pitchFamily="49" charset="-122"/>
              </a:rPr>
              <a:t>TH</a:t>
            </a:r>
            <a:r>
              <a:rPr lang="en-US" altLang="zh-CN" sz="2000" b="1" baseline="-25000">
                <a:solidFill>
                  <a:srgbClr val="000099"/>
                </a:solidFill>
                <a:ea typeface="黑体" panose="02010609060101010101" pitchFamily="49" charset="-122"/>
              </a:rPr>
              <a:t>min</a:t>
            </a:r>
          </a:p>
        </p:txBody>
      </p:sp>
      <p:sp>
        <p:nvSpPr>
          <p:cNvPr id="1565702" name="Text Box 7"/>
          <p:cNvSpPr txBox="1">
            <a:spLocks noChangeArrowheads="1"/>
          </p:cNvSpPr>
          <p:nvPr/>
        </p:nvSpPr>
        <p:spPr bwMode="auto">
          <a:xfrm>
            <a:off x="5310188" y="5876925"/>
            <a:ext cx="197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最大门限 </a:t>
            </a:r>
            <a:r>
              <a:rPr lang="en-US" altLang="zh-CN" sz="2000" b="1">
                <a:solidFill>
                  <a:srgbClr val="000099"/>
                </a:solidFill>
                <a:ea typeface="黑体" panose="02010609060101010101" pitchFamily="49" charset="-122"/>
              </a:rPr>
              <a:t>TH</a:t>
            </a:r>
            <a:r>
              <a:rPr lang="en-US" altLang="zh-CN" sz="2000" b="1" baseline="-25000">
                <a:solidFill>
                  <a:srgbClr val="000099"/>
                </a:solidFill>
                <a:ea typeface="黑体" panose="02010609060101010101" pitchFamily="49" charset="-122"/>
              </a:rPr>
              <a:t>max</a:t>
            </a:r>
          </a:p>
        </p:txBody>
      </p:sp>
      <p:sp>
        <p:nvSpPr>
          <p:cNvPr id="1565703" name="Text Box 8"/>
          <p:cNvSpPr txBox="1">
            <a:spLocks noChangeArrowheads="1"/>
          </p:cNvSpPr>
          <p:nvPr/>
        </p:nvSpPr>
        <p:spPr bwMode="auto">
          <a:xfrm>
            <a:off x="7589838" y="5441950"/>
            <a:ext cx="2149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平均队列长度 </a:t>
            </a:r>
            <a:r>
              <a:rPr lang="en-US" altLang="zh-CN" sz="2000" b="1" i="1">
                <a:solidFill>
                  <a:srgbClr val="000099"/>
                </a:solidFill>
                <a:ea typeface="黑体" panose="02010609060101010101" pitchFamily="49" charset="-122"/>
              </a:rPr>
              <a:t>L</a:t>
            </a:r>
            <a:r>
              <a:rPr lang="en-US" altLang="zh-CN" sz="2000" b="1" baseline="-25000">
                <a:solidFill>
                  <a:srgbClr val="000099"/>
                </a:solidFill>
                <a:ea typeface="黑体" panose="02010609060101010101" pitchFamily="49" charset="-122"/>
              </a:rPr>
              <a:t>av</a:t>
            </a:r>
          </a:p>
        </p:txBody>
      </p:sp>
      <p:sp>
        <p:nvSpPr>
          <p:cNvPr id="1565704" name="Text Box 9"/>
          <p:cNvSpPr txBox="1">
            <a:spLocks noChangeArrowheads="1"/>
          </p:cNvSpPr>
          <p:nvPr/>
        </p:nvSpPr>
        <p:spPr bwMode="auto">
          <a:xfrm>
            <a:off x="1165225" y="3963988"/>
            <a:ext cx="1993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分组丢弃概率</a:t>
            </a:r>
            <a:r>
              <a:rPr lang="zh-CN" altLang="en-US" sz="2000" b="1" i="1">
                <a:solidFill>
                  <a:srgbClr val="000099"/>
                </a:solidFill>
                <a:ea typeface="黑体" panose="02010609060101010101" pitchFamily="49" charset="-122"/>
              </a:rPr>
              <a:t> </a:t>
            </a:r>
            <a:r>
              <a:rPr lang="en-US" altLang="zh-CN" sz="2000" b="1" i="1">
                <a:solidFill>
                  <a:srgbClr val="000099"/>
                </a:solidFill>
                <a:ea typeface="黑体" panose="02010609060101010101" pitchFamily="49" charset="-122"/>
              </a:rPr>
              <a:t>p</a:t>
            </a:r>
          </a:p>
        </p:txBody>
      </p:sp>
      <p:sp>
        <p:nvSpPr>
          <p:cNvPr id="1565705" name="Line 10"/>
          <p:cNvSpPr>
            <a:spLocks noChangeShapeType="1"/>
          </p:cNvSpPr>
          <p:nvPr/>
        </p:nvSpPr>
        <p:spPr bwMode="auto">
          <a:xfrm>
            <a:off x="6546850" y="5408613"/>
            <a:ext cx="0" cy="474662"/>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5706" name="Line 11"/>
          <p:cNvSpPr>
            <a:spLocks noChangeShapeType="1"/>
          </p:cNvSpPr>
          <p:nvPr/>
        </p:nvSpPr>
        <p:spPr bwMode="auto">
          <a:xfrm>
            <a:off x="3489325" y="5803900"/>
            <a:ext cx="0" cy="79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5707" name="Line 12"/>
          <p:cNvSpPr>
            <a:spLocks noChangeShapeType="1"/>
          </p:cNvSpPr>
          <p:nvPr/>
        </p:nvSpPr>
        <p:spPr bwMode="auto">
          <a:xfrm rot="-5400000">
            <a:off x="1104107" y="4321969"/>
            <a:ext cx="0" cy="1222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5708" name="Freeform 13"/>
          <p:cNvSpPr>
            <a:spLocks noChangeArrowheads="1"/>
          </p:cNvSpPr>
          <p:nvPr/>
        </p:nvSpPr>
        <p:spPr bwMode="auto">
          <a:xfrm>
            <a:off x="3489325" y="4383088"/>
            <a:ext cx="5749925" cy="1500187"/>
          </a:xfrm>
          <a:custGeom>
            <a:avLst/>
            <a:gdLst>
              <a:gd name="T0" fmla="*/ 0 w 2256"/>
              <a:gd name="T1" fmla="*/ 912 h 912"/>
              <a:gd name="T2" fmla="*/ 1200 w 2256"/>
              <a:gd name="T3" fmla="*/ 624 h 912"/>
              <a:gd name="T4" fmla="*/ 1200 w 2256"/>
              <a:gd name="T5" fmla="*/ 0 h 912"/>
              <a:gd name="T6" fmla="*/ 2256 w 2256"/>
              <a:gd name="T7" fmla="*/ 0 h 912"/>
            </a:gdLst>
            <a:ahLst/>
            <a:cxnLst>
              <a:cxn ang="0">
                <a:pos x="T0" y="T1"/>
              </a:cxn>
              <a:cxn ang="0">
                <a:pos x="T2" y="T3"/>
              </a:cxn>
              <a:cxn ang="0">
                <a:pos x="T4" y="T5"/>
              </a:cxn>
              <a:cxn ang="0">
                <a:pos x="T6" y="T7"/>
              </a:cxn>
            </a:cxnLst>
            <a:rect l="0" t="0" r="r" b="b"/>
            <a:pathLst>
              <a:path w="2256" h="912">
                <a:moveTo>
                  <a:pt x="0" y="912"/>
                </a:moveTo>
                <a:lnTo>
                  <a:pt x="1200" y="624"/>
                </a:lnTo>
                <a:lnTo>
                  <a:pt x="1200" y="0"/>
                </a:lnTo>
                <a:lnTo>
                  <a:pt x="2256" y="0"/>
                </a:lnTo>
              </a:path>
            </a:pathLst>
          </a:custGeom>
          <a:noFill/>
          <a:ln w="571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5709" name="Text Box 14"/>
          <p:cNvSpPr txBox="1">
            <a:spLocks noChangeArrowheads="1"/>
          </p:cNvSpPr>
          <p:nvPr/>
        </p:nvSpPr>
        <p:spPr bwMode="auto">
          <a:xfrm>
            <a:off x="431800" y="4092575"/>
            <a:ext cx="539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1.0</a:t>
            </a:r>
            <a:endParaRPr lang="en-US" altLang="zh-CN" sz="2000" b="1" i="1">
              <a:solidFill>
                <a:srgbClr val="000099"/>
              </a:solidFill>
              <a:ea typeface="黑体" panose="02010609060101010101" pitchFamily="49" charset="-122"/>
            </a:endParaRPr>
          </a:p>
        </p:txBody>
      </p:sp>
      <p:sp>
        <p:nvSpPr>
          <p:cNvPr id="1565710" name="Text Box 15"/>
          <p:cNvSpPr txBox="1">
            <a:spLocks noChangeArrowheads="1"/>
          </p:cNvSpPr>
          <p:nvPr/>
        </p:nvSpPr>
        <p:spPr bwMode="auto">
          <a:xfrm>
            <a:off x="584200" y="55610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0</a:t>
            </a:r>
            <a:endParaRPr lang="en-US" altLang="zh-CN" sz="2000" b="1" i="1">
              <a:solidFill>
                <a:srgbClr val="000099"/>
              </a:solidFill>
              <a:ea typeface="黑体" panose="02010609060101010101" pitchFamily="49" charset="-122"/>
            </a:endParaRPr>
          </a:p>
        </p:txBody>
      </p:sp>
      <p:sp>
        <p:nvSpPr>
          <p:cNvPr id="1565711" name="Line 16"/>
          <p:cNvSpPr>
            <a:spLocks noChangeShapeType="1"/>
          </p:cNvSpPr>
          <p:nvPr/>
        </p:nvSpPr>
        <p:spPr bwMode="auto">
          <a:xfrm>
            <a:off x="1042988" y="5408613"/>
            <a:ext cx="5503862"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565712" name="Text Box 17"/>
          <p:cNvSpPr txBox="1">
            <a:spLocks noChangeArrowheads="1"/>
          </p:cNvSpPr>
          <p:nvPr/>
        </p:nvSpPr>
        <p:spPr bwMode="auto">
          <a:xfrm>
            <a:off x="328613" y="5099050"/>
            <a:ext cx="682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黑体" panose="02010609060101010101" pitchFamily="49" charset="-122"/>
              </a:rPr>
              <a:t>p</a:t>
            </a:r>
            <a:r>
              <a:rPr lang="en-US" altLang="zh-CN" sz="2000" b="1" baseline="-25000">
                <a:solidFill>
                  <a:srgbClr val="000099"/>
                </a:solidFill>
                <a:ea typeface="黑体" panose="02010609060101010101" pitchFamily="49" charset="-122"/>
              </a:rPr>
              <a:t>max</a:t>
            </a:r>
            <a:endParaRPr lang="en-US" altLang="zh-CN" sz="2000" b="1" i="1" baseline="-25000">
              <a:solidFill>
                <a:srgbClr val="000099"/>
              </a:solidFill>
              <a:ea typeface="黑体" panose="02010609060101010101" pitchFamily="49" charset="-122"/>
            </a:endParaRPr>
          </a:p>
        </p:txBody>
      </p:sp>
      <p:sp>
        <p:nvSpPr>
          <p:cNvPr id="1565713" name="矩形 1"/>
          <p:cNvSpPr>
            <a:spLocks noChangeArrowheads="1"/>
          </p:cNvSpPr>
          <p:nvPr/>
        </p:nvSpPr>
        <p:spPr bwMode="auto">
          <a:xfrm>
            <a:off x="747713" y="2852738"/>
            <a:ext cx="8734425" cy="1019175"/>
          </a:xfrm>
          <a:prstGeom prst="rect">
            <a:avLst/>
          </a:prstGeom>
          <a:solidFill>
            <a:srgbClr val="FFFF66"/>
          </a:solidFill>
          <a:ln w="9525">
            <a:solidFill>
              <a:schemeClr val="tx1"/>
            </a:solidFill>
            <a:miter lim="800000"/>
            <a:headEnd/>
            <a:tailEnd/>
          </a:ln>
          <a:effectLst>
            <a:outerShdw dist="35921" sx="999" sy="999" algn="ctr" rotWithShape="0">
              <a:schemeClr val="bg2"/>
            </a:outerShdw>
          </a:effectLst>
        </p:spPr>
        <p:txBody>
          <a:bodyPr anchor="ctr"/>
          <a:lstStyle/>
          <a:p>
            <a:pPr eaLnBrk="0" hangingPunct="0"/>
            <a:r>
              <a:rPr lang="zh-CN" altLang="zh-CN" sz="2400" b="1" dirty="0">
                <a:solidFill>
                  <a:srgbClr val="000099"/>
                </a:solidFill>
                <a:ea typeface="黑体" panose="02010609060101010101" pitchFamily="49" charset="-122"/>
              </a:rPr>
              <a:t>在</a:t>
            </a:r>
            <a:r>
              <a:rPr lang="en-US" altLang="zh-CN" sz="2400" b="1" dirty="0">
                <a:solidFill>
                  <a:srgbClr val="000099"/>
                </a:solidFill>
                <a:ea typeface="黑体" panose="02010609060101010101" pitchFamily="49" charset="-122"/>
              </a:rPr>
              <a:t> RED </a:t>
            </a:r>
            <a:r>
              <a:rPr lang="zh-CN" altLang="zh-CN" sz="2400" b="1" dirty="0">
                <a:solidFill>
                  <a:srgbClr val="000099"/>
                </a:solidFill>
                <a:ea typeface="黑体" panose="02010609060101010101" pitchFamily="49" charset="-122"/>
              </a:rPr>
              <a:t>的操作中，最难处理的就是</a:t>
            </a:r>
            <a:r>
              <a:rPr lang="zh-CN" altLang="zh-CN" sz="2400" b="1" dirty="0">
                <a:solidFill>
                  <a:srgbClr val="FF0000"/>
                </a:solidFill>
                <a:ea typeface="黑体" panose="02010609060101010101" pitchFamily="49" charset="-122"/>
              </a:rPr>
              <a:t>丢弃概率</a:t>
            </a:r>
            <a:r>
              <a:rPr lang="en-US" altLang="zh-CN" sz="2400" b="1" dirty="0">
                <a:solidFill>
                  <a:srgbClr val="FF0000"/>
                </a:solidFill>
                <a:ea typeface="黑体" panose="02010609060101010101" pitchFamily="49" charset="-122"/>
              </a:rPr>
              <a:t> p </a:t>
            </a:r>
            <a:r>
              <a:rPr lang="zh-CN" altLang="zh-CN" sz="2400" b="1" dirty="0">
                <a:solidFill>
                  <a:srgbClr val="FF0000"/>
                </a:solidFill>
                <a:ea typeface="黑体" panose="02010609060101010101" pitchFamily="49" charset="-122"/>
              </a:rPr>
              <a:t>的选择</a:t>
            </a:r>
            <a:r>
              <a:rPr lang="zh-CN" altLang="zh-CN" sz="2400" b="1" dirty="0">
                <a:solidFill>
                  <a:srgbClr val="000099"/>
                </a:solidFill>
                <a:ea typeface="黑体" panose="02010609060101010101" pitchFamily="49" charset="-122"/>
              </a:rPr>
              <a:t>，因为</a:t>
            </a:r>
            <a:r>
              <a:rPr lang="en-US" altLang="zh-CN" sz="2400" b="1" dirty="0">
                <a:solidFill>
                  <a:srgbClr val="000099"/>
                </a:solidFill>
                <a:ea typeface="黑体" panose="02010609060101010101" pitchFamily="49" charset="-122"/>
              </a:rPr>
              <a:t> p </a:t>
            </a:r>
            <a:r>
              <a:rPr lang="zh-CN" altLang="zh-CN" sz="2400" b="1" dirty="0">
                <a:solidFill>
                  <a:srgbClr val="FF0000"/>
                </a:solidFill>
                <a:ea typeface="黑体" panose="02010609060101010101" pitchFamily="49" charset="-122"/>
              </a:rPr>
              <a:t>并不是个常数</a:t>
            </a:r>
            <a:r>
              <a:rPr lang="zh-CN" altLang="zh-CN" sz="2400" b="1" dirty="0">
                <a:solidFill>
                  <a:srgbClr val="000099"/>
                </a:solidFill>
                <a:ea typeface="黑体" panose="02010609060101010101" pitchFamily="49" charset="-122"/>
              </a:rPr>
              <a:t>。</a:t>
            </a:r>
            <a:r>
              <a:rPr lang="zh-CN" altLang="en-US" sz="2400" b="1" dirty="0">
                <a:solidFill>
                  <a:srgbClr val="000099"/>
                </a:solidFill>
                <a:ea typeface="黑体" panose="02010609060101010101" pitchFamily="49" charset="-122"/>
              </a:rPr>
              <a:t>例如，按线性规律变化，从 </a:t>
            </a:r>
            <a:r>
              <a:rPr lang="en-US" altLang="zh-CN" sz="2400" b="1" dirty="0">
                <a:solidFill>
                  <a:srgbClr val="000099"/>
                </a:solidFill>
                <a:ea typeface="黑体" panose="02010609060101010101" pitchFamily="49" charset="-122"/>
              </a:rPr>
              <a:t>0 </a:t>
            </a:r>
            <a:r>
              <a:rPr lang="zh-CN" altLang="en-US" sz="2400" b="1" dirty="0">
                <a:solidFill>
                  <a:srgbClr val="000099"/>
                </a:solidFill>
                <a:ea typeface="黑体" panose="02010609060101010101" pitchFamily="49" charset="-122"/>
              </a:rPr>
              <a:t>变到 </a:t>
            </a:r>
            <a:r>
              <a:rPr lang="en-US" altLang="zh-CN" sz="2400" b="1" dirty="0" err="1">
                <a:solidFill>
                  <a:srgbClr val="000099"/>
                </a:solidFill>
                <a:ea typeface="黑体" panose="02010609060101010101" pitchFamily="49" charset="-122"/>
              </a:rPr>
              <a:t>p</a:t>
            </a:r>
            <a:r>
              <a:rPr lang="en-US" altLang="zh-CN" sz="2400" b="1" baseline="-25000" dirty="0" err="1">
                <a:solidFill>
                  <a:srgbClr val="000099"/>
                </a:solidFill>
                <a:ea typeface="黑体" panose="02010609060101010101" pitchFamily="49" charset="-122"/>
              </a:rPr>
              <a:t>max</a:t>
            </a:r>
            <a:r>
              <a:rPr lang="zh-CN" altLang="en-US" sz="2400" b="1" dirty="0">
                <a:solidFill>
                  <a:srgbClr val="000099"/>
                </a:solidFill>
                <a:ea typeface="黑体" panose="02010609060101010101" pitchFamily="49" charset="-122"/>
              </a:rPr>
              <a:t>。</a:t>
            </a:r>
          </a:p>
        </p:txBody>
      </p:sp>
      <p:sp>
        <p:nvSpPr>
          <p:cNvPr id="156571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2F48EF-01F3-4017-A9EA-AE6E0FB23D55}" type="slidenum">
              <a:rPr lang="zh-CN" altLang="en-US" smtClean="0"/>
              <a:pPr eaLnBrk="1" hangingPunct="1"/>
              <a:t>59</a:t>
            </a:fld>
            <a:endParaRPr lang="en-US" altLang="zh-CN" smtClean="0"/>
          </a:p>
        </p:txBody>
      </p:sp>
      <p:sp>
        <p:nvSpPr>
          <p:cNvPr id="156571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5"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随机早期检测 </a:t>
            </a:r>
            <a:r>
              <a:rPr lang="en-US" altLang="zh-CN" smtClean="0">
                <a:ea typeface="黑体" panose="02010609060101010101" pitchFamily="49" charset="-122"/>
              </a:rPr>
              <a:t>RED</a:t>
            </a:r>
            <a:endParaRPr lang="zh-CN" altLang="en-US" smtClean="0">
              <a:ea typeface="黑体" panose="02010609060101010101" pitchFamily="49" charset="-122"/>
            </a:endParaRPr>
          </a:p>
        </p:txBody>
      </p:sp>
      <p:sp>
        <p:nvSpPr>
          <p:cNvPr id="1567746"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多年的实践证明，</a:t>
            </a:r>
            <a:r>
              <a:rPr lang="en-US" altLang="zh-CN" smtClean="0">
                <a:solidFill>
                  <a:srgbClr val="FF0000"/>
                </a:solidFill>
                <a:ea typeface="黑体" panose="02010609060101010101" pitchFamily="49" charset="-122"/>
              </a:rPr>
              <a:t>RED </a:t>
            </a:r>
            <a:r>
              <a:rPr lang="zh-CN" altLang="zh-CN" smtClean="0">
                <a:solidFill>
                  <a:srgbClr val="FF0000"/>
                </a:solidFill>
                <a:ea typeface="黑体" panose="02010609060101010101" pitchFamily="49" charset="-122"/>
              </a:rPr>
              <a:t>的使用效果并不太理想。</a:t>
            </a:r>
            <a:endParaRPr lang="en-US" altLang="zh-CN" smtClean="0">
              <a:solidFill>
                <a:srgbClr val="FF0000"/>
              </a:solidFill>
              <a:ea typeface="黑体" panose="02010609060101010101" pitchFamily="49" charset="-122"/>
            </a:endParaRPr>
          </a:p>
          <a:p>
            <a:r>
              <a:rPr lang="en-US" altLang="zh-CN" smtClean="0">
                <a:ea typeface="黑体" panose="02010609060101010101" pitchFamily="49" charset="-122"/>
              </a:rPr>
              <a:t>2015</a:t>
            </a:r>
            <a:r>
              <a:rPr lang="zh-CN" altLang="zh-CN" smtClean="0">
                <a:ea typeface="黑体" panose="02010609060101010101" pitchFamily="49" charset="-122"/>
              </a:rPr>
              <a:t>年公布的</a:t>
            </a:r>
            <a:r>
              <a:rPr lang="en-US" altLang="zh-CN" smtClean="0">
                <a:ea typeface="黑体" panose="02010609060101010101" pitchFamily="49" charset="-122"/>
              </a:rPr>
              <a:t> RFC 7567 </a:t>
            </a:r>
            <a:r>
              <a:rPr lang="zh-CN" altLang="zh-CN" smtClean="0">
                <a:ea typeface="黑体" panose="02010609060101010101" pitchFamily="49" charset="-122"/>
              </a:rPr>
              <a:t>已经把</a:t>
            </a:r>
            <a:r>
              <a:rPr lang="en-US" altLang="zh-CN" smtClean="0">
                <a:ea typeface="黑体" panose="02010609060101010101" pitchFamily="49" charset="-122"/>
              </a:rPr>
              <a:t> RFC 2309</a:t>
            </a:r>
            <a:r>
              <a:rPr lang="zh-CN" altLang="zh-CN" smtClean="0">
                <a:ea typeface="黑体" panose="02010609060101010101" pitchFamily="49" charset="-122"/>
              </a:rPr>
              <a:t>列为陈旧的，并且不再推荐使用</a:t>
            </a:r>
            <a:r>
              <a:rPr lang="en-US" altLang="zh-CN" smtClean="0">
                <a:ea typeface="黑体" panose="02010609060101010101" pitchFamily="49" charset="-122"/>
              </a:rPr>
              <a:t> RED</a:t>
            </a:r>
            <a:r>
              <a:rPr lang="zh-CN" altLang="zh-CN"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对路由器进行主动队列管理</a:t>
            </a:r>
            <a:r>
              <a:rPr lang="en-US" altLang="zh-CN" smtClean="0">
                <a:ea typeface="黑体" panose="02010609060101010101" pitchFamily="49" charset="-122"/>
              </a:rPr>
              <a:t> AQM </a:t>
            </a:r>
            <a:r>
              <a:rPr lang="zh-CN" altLang="zh-CN" smtClean="0">
                <a:ea typeface="黑体" panose="02010609060101010101" pitchFamily="49" charset="-122"/>
              </a:rPr>
              <a:t>仍是必要的。</a:t>
            </a:r>
            <a:endParaRPr lang="en-US" altLang="zh-CN" smtClean="0">
              <a:ea typeface="黑体" panose="02010609060101010101" pitchFamily="49" charset="-122"/>
            </a:endParaRPr>
          </a:p>
          <a:p>
            <a:r>
              <a:rPr lang="en-US" altLang="zh-CN" smtClean="0">
                <a:solidFill>
                  <a:srgbClr val="FF0000"/>
                </a:solidFill>
                <a:ea typeface="黑体" panose="02010609060101010101" pitchFamily="49" charset="-122"/>
              </a:rPr>
              <a:t>AQM </a:t>
            </a:r>
            <a:r>
              <a:rPr lang="zh-CN" altLang="zh-CN" smtClean="0">
                <a:solidFill>
                  <a:srgbClr val="FF0000"/>
                </a:solidFill>
                <a:ea typeface="黑体" panose="02010609060101010101" pitchFamily="49" charset="-122"/>
              </a:rPr>
              <a:t>实际上就是对路由器中的分组排队进行智能管理，而不是简单地把队列的尾部丢弃。</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现在已经有几种不同的算法来代替旧的</a:t>
            </a:r>
            <a:r>
              <a:rPr lang="en-US" altLang="zh-CN" smtClean="0">
                <a:ea typeface="黑体" panose="02010609060101010101" pitchFamily="49" charset="-122"/>
              </a:rPr>
              <a:t> RED</a:t>
            </a:r>
            <a:r>
              <a:rPr lang="zh-CN" altLang="zh-CN" smtClean="0">
                <a:ea typeface="黑体" panose="02010609060101010101" pitchFamily="49" charset="-122"/>
              </a:rPr>
              <a:t>，但都还在实验阶段。</a:t>
            </a:r>
            <a:endParaRPr lang="zh-CN" altLang="en-US" smtClean="0">
              <a:ea typeface="黑体" panose="02010609060101010101" pitchFamily="49" charset="-122"/>
            </a:endParaRPr>
          </a:p>
        </p:txBody>
      </p:sp>
      <p:sp>
        <p:nvSpPr>
          <p:cNvPr id="15677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6C985D-14BE-457E-9BE9-4B2265569929}" type="slidenum">
              <a:rPr lang="zh-CN" altLang="en-US" smtClean="0"/>
              <a:pPr eaLnBrk="1" hangingPunct="1"/>
              <a:t>60</a:t>
            </a:fld>
            <a:endParaRPr lang="en-US" altLang="zh-CN" smtClean="0"/>
          </a:p>
        </p:txBody>
      </p:sp>
      <p:sp>
        <p:nvSpPr>
          <p:cNvPr id="15677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177</TotalTime>
  <Words>5551</Words>
  <Application>Microsoft Office PowerPoint</Application>
  <PresentationFormat>A4 纸张(210x297 毫米)</PresentationFormat>
  <Paragraphs>931</Paragraphs>
  <Slides>60</Slides>
  <Notes>25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60</vt:i4>
      </vt:variant>
    </vt:vector>
  </HeadingPairs>
  <TitlesOfParts>
    <vt:vector size="68" baseType="lpstr">
      <vt:lpstr>黑体</vt:lpstr>
      <vt:lpstr>宋体</vt:lpstr>
      <vt:lpstr>Arial</vt:lpstr>
      <vt:lpstr>Symbol</vt:lpstr>
      <vt:lpstr>Tahoma</vt:lpstr>
      <vt:lpstr>Times New Roman</vt:lpstr>
      <vt:lpstr>Wingdings</vt:lpstr>
      <vt:lpstr>Presentation</vt:lpstr>
      <vt:lpstr>第 5 章  运输层</vt:lpstr>
      <vt:lpstr>第 5 章  运输层</vt:lpstr>
      <vt:lpstr>5.7  TCP 的流量控制</vt:lpstr>
      <vt:lpstr>5.7.1  利用滑动窗口实现流量控制</vt:lpstr>
      <vt:lpstr>利用可变窗口进行流量控制举例</vt:lpstr>
      <vt:lpstr>可能发生死锁</vt:lpstr>
      <vt:lpstr>持续计时器</vt:lpstr>
      <vt:lpstr>5.7.2  必须考虑传输效率</vt:lpstr>
      <vt:lpstr>发送方糊涂窗口综合症</vt:lpstr>
      <vt:lpstr>Nagle算法</vt:lpstr>
      <vt:lpstr>接收方糊涂窗口综合症</vt:lpstr>
      <vt:lpstr>5.8  TCP 的拥塞控制</vt:lpstr>
      <vt:lpstr>5.8.1  拥塞控制的一般原理</vt:lpstr>
      <vt:lpstr>增加资源能解决拥塞吗？</vt:lpstr>
      <vt:lpstr>拥塞常常趋于恶化</vt:lpstr>
      <vt:lpstr>拥塞控制与流量控制的区别 </vt:lpstr>
      <vt:lpstr>拥塞控制与流量控制的区别 </vt:lpstr>
      <vt:lpstr>拥塞控制所起的作用 </vt:lpstr>
      <vt:lpstr>拥塞控制的一般原理 </vt:lpstr>
      <vt:lpstr>开环控制和闭环控制 </vt:lpstr>
      <vt:lpstr>监测网络的拥塞的指标</vt:lpstr>
      <vt:lpstr>5.8.2  TCP 的拥塞控制方法</vt:lpstr>
      <vt:lpstr>控制拥塞窗口的原则</vt:lpstr>
      <vt:lpstr>拥塞的判断</vt:lpstr>
      <vt:lpstr>TCP拥塞控制算法</vt:lpstr>
      <vt:lpstr>慢开始 (Slow start)</vt:lpstr>
      <vt:lpstr>慢开始 (Slow start)</vt:lpstr>
      <vt:lpstr>PowerPoint 演示文稿</vt:lpstr>
      <vt:lpstr>传输轮次</vt:lpstr>
      <vt:lpstr>设置慢开始门限状态变量 ssthresh</vt:lpstr>
      <vt:lpstr>拥塞避免算法</vt:lpstr>
      <vt:lpstr>当网络出现拥塞时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必须强调指出 </vt:lpstr>
      <vt:lpstr>PowerPoint 演示文稿</vt:lpstr>
      <vt:lpstr>PowerPoint 演示文稿</vt:lpstr>
      <vt:lpstr>PowerPoint 演示文稿</vt:lpstr>
      <vt:lpstr>PowerPoint 演示文稿</vt:lpstr>
      <vt:lpstr>快重传算法</vt:lpstr>
      <vt:lpstr>快重传算法</vt:lpstr>
      <vt:lpstr>PowerPoint 演示文稿</vt:lpstr>
      <vt:lpstr>快恢复算法</vt:lpstr>
      <vt:lpstr>PowerPoint 演示文稿</vt:lpstr>
      <vt:lpstr>加法增大，乘法减小 (AIMD)</vt:lpstr>
      <vt:lpstr>TCP拥塞控制流程图</vt:lpstr>
      <vt:lpstr>发送窗口的上限值</vt:lpstr>
      <vt:lpstr>5.8.3  主动队列管理 AQM</vt:lpstr>
      <vt:lpstr>“先进先出”FIFO 处理规则</vt:lpstr>
      <vt:lpstr>全局同步</vt:lpstr>
      <vt:lpstr>主动队列管理AQM</vt:lpstr>
      <vt:lpstr>随机早期检测 RED</vt:lpstr>
      <vt:lpstr>随机早期检测 RED</vt:lpstr>
      <vt:lpstr>丢弃概率 p 与 THmin 和 Thmax 的关系 </vt:lpstr>
      <vt:lpstr>随机早期检测 RED</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80</cp:revision>
  <cp:lastPrinted>2020-04-16T07:01:26Z</cp:lastPrinted>
  <dcterms:created xsi:type="dcterms:W3CDTF">2016-10-01T05:27:00Z</dcterms:created>
  <dcterms:modified xsi:type="dcterms:W3CDTF">2021-01-25T04:13:35Z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